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3.xml" ContentType="application/vnd.openxmlformats-officedocument.theme+xml"/>
  <Override PartName="/ppt/slideLayouts/slideLayout17.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aveSubsetFonts="1">
  <p:sldMasterIdLst>
    <p:sldMasterId id="2147483872" r:id="rId4"/>
    <p:sldMasterId id="2147483874" r:id="rId5"/>
    <p:sldMasterId id="2147483885" r:id="rId6"/>
    <p:sldMasterId id="2147483891" r:id="rId7"/>
  </p:sldMasterIdLst>
  <p:notesMasterIdLst>
    <p:notesMasterId r:id="rId82"/>
  </p:notesMasterIdLst>
  <p:handoutMasterIdLst>
    <p:handoutMasterId r:id="rId83"/>
  </p:handoutMasterIdLst>
  <p:sldIdLst>
    <p:sldId id="256" r:id="rId8"/>
    <p:sldId id="257" r:id="rId9"/>
    <p:sldId id="258" r:id="rId10"/>
    <p:sldId id="259" r:id="rId11"/>
    <p:sldId id="260" r:id="rId12"/>
    <p:sldId id="280" r:id="rId13"/>
    <p:sldId id="264" r:id="rId14"/>
    <p:sldId id="265" r:id="rId15"/>
    <p:sldId id="266" r:id="rId16"/>
    <p:sldId id="267" r:id="rId17"/>
    <p:sldId id="269" r:id="rId18"/>
    <p:sldId id="270" r:id="rId19"/>
    <p:sldId id="272" r:id="rId20"/>
    <p:sldId id="273" r:id="rId21"/>
    <p:sldId id="348" r:id="rId22"/>
    <p:sldId id="275" r:id="rId23"/>
    <p:sldId id="277" r:id="rId24"/>
    <p:sldId id="278" r:id="rId25"/>
    <p:sldId id="279" r:id="rId26"/>
    <p:sldId id="281" r:id="rId27"/>
    <p:sldId id="283" r:id="rId28"/>
    <p:sldId id="284" r:id="rId29"/>
    <p:sldId id="286" r:id="rId30"/>
    <p:sldId id="287" r:id="rId31"/>
    <p:sldId id="288" r:id="rId32"/>
    <p:sldId id="289" r:id="rId33"/>
    <p:sldId id="290" r:id="rId34"/>
    <p:sldId id="291" r:id="rId35"/>
    <p:sldId id="292" r:id="rId36"/>
    <p:sldId id="293" r:id="rId37"/>
    <p:sldId id="294" r:id="rId38"/>
    <p:sldId id="295" r:id="rId39"/>
    <p:sldId id="296" r:id="rId40"/>
    <p:sldId id="297" r:id="rId41"/>
    <p:sldId id="298" r:id="rId42"/>
    <p:sldId id="299" r:id="rId43"/>
    <p:sldId id="300" r:id="rId44"/>
    <p:sldId id="301" r:id="rId45"/>
    <p:sldId id="302" r:id="rId46"/>
    <p:sldId id="303" r:id="rId47"/>
    <p:sldId id="304" r:id="rId48"/>
    <p:sldId id="305" r:id="rId49"/>
    <p:sldId id="306" r:id="rId50"/>
    <p:sldId id="307" r:id="rId51"/>
    <p:sldId id="326" r:id="rId52"/>
    <p:sldId id="347" r:id="rId53"/>
    <p:sldId id="310" r:id="rId54"/>
    <p:sldId id="311" r:id="rId55"/>
    <p:sldId id="327" r:id="rId56"/>
    <p:sldId id="328" r:id="rId57"/>
    <p:sldId id="329" r:id="rId58"/>
    <p:sldId id="330" r:id="rId59"/>
    <p:sldId id="315" r:id="rId60"/>
    <p:sldId id="316" r:id="rId61"/>
    <p:sldId id="317" r:id="rId62"/>
    <p:sldId id="318" r:id="rId63"/>
    <p:sldId id="331" r:id="rId64"/>
    <p:sldId id="319" r:id="rId65"/>
    <p:sldId id="333" r:id="rId66"/>
    <p:sldId id="320" r:id="rId67"/>
    <p:sldId id="335" r:id="rId68"/>
    <p:sldId id="322" r:id="rId69"/>
    <p:sldId id="323" r:id="rId70"/>
    <p:sldId id="324" r:id="rId71"/>
    <p:sldId id="341" r:id="rId72"/>
    <p:sldId id="340" r:id="rId73"/>
    <p:sldId id="342" r:id="rId74"/>
    <p:sldId id="343" r:id="rId75"/>
    <p:sldId id="344" r:id="rId76"/>
    <p:sldId id="345" r:id="rId77"/>
    <p:sldId id="346" r:id="rId78"/>
    <p:sldId id="336" r:id="rId79"/>
    <p:sldId id="337" r:id="rId80"/>
    <p:sldId id="338" r:id="rId81"/>
  </p:sldIdLst>
  <p:sldSz cx="12192000" cy="6858000"/>
  <p:notesSz cx="7010400" cy="9296400"/>
  <p:defaultTex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3" pos="3840">
          <p15:clr>
            <a:srgbClr val="A4A3A4"/>
          </p15:clr>
        </p15:guide>
        <p15:guide id="4" orient="horz" pos="2341" userDrawn="1">
          <p15:clr>
            <a:srgbClr val="A4A3A4"/>
          </p15:clr>
        </p15:guide>
      </p15:sldGuideLst>
    </p:ext>
    <p:ext uri="{2D200454-40CA-4A62-9FC3-DE9A4176ACB9}">
      <p15:notesGuideLst xmlns:p15="http://schemas.microsoft.com/office/powerpoint/2012/main">
        <p15:guide id="1" orient="horz" userDrawn="1">
          <p15:clr>
            <a:srgbClr val="A4A3A4"/>
          </p15:clr>
        </p15:guide>
        <p15:guide id="2" pos="2208"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uyueyuezjhw" initials="l" lastIdx="398" clrIdx="0">
    <p:extLst>
      <p:ext uri="{19B8F6BF-5375-455C-9EA6-DF929625EA0E}">
        <p15:presenceInfo xmlns:p15="http://schemas.microsoft.com/office/powerpoint/2012/main" userId="S-1-5-21-147214757-305610072-1517763936-4736116"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EE9EE"/>
    <a:srgbClr val="56C4D2"/>
    <a:srgbClr val="30B5C5"/>
    <a:srgbClr val="FEEEC1"/>
    <a:srgbClr val="FCC800"/>
    <a:srgbClr val="ED6D00"/>
    <a:srgbClr val="FAD3BB"/>
    <a:srgbClr val="E5F2DE"/>
    <a:srgbClr val="62B230"/>
    <a:srgbClr val="81C15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72833802-FEF1-4C79-8D5D-14CF1EAF98D9}">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53" autoAdjust="0"/>
    <p:restoredTop sz="80854" autoAdjust="0"/>
  </p:normalViewPr>
  <p:slideViewPr>
    <p:cSldViewPr snapToGrid="0" snapToObjects="1">
      <p:cViewPr varScale="1">
        <p:scale>
          <a:sx n="103" d="100"/>
          <a:sy n="103" d="100"/>
        </p:scale>
        <p:origin x="72" y="264"/>
      </p:cViewPr>
      <p:guideLst>
        <p:guide pos="3840"/>
        <p:guide orient="horz" pos="2341"/>
      </p:guideLst>
    </p:cSldViewPr>
  </p:slideViewPr>
  <p:outlineViewPr>
    <p:cViewPr>
      <p:scale>
        <a:sx n="33" d="100"/>
        <a:sy n="33" d="100"/>
      </p:scale>
      <p:origin x="0" y="0"/>
    </p:cViewPr>
  </p:outlineViewPr>
  <p:notesTextViewPr>
    <p:cViewPr>
      <p:scale>
        <a:sx n="1" d="1"/>
        <a:sy n="1" d="1"/>
      </p:scale>
      <p:origin x="0" y="0"/>
    </p:cViewPr>
  </p:notesTextViewPr>
  <p:sorterViewPr>
    <p:cViewPr>
      <p:scale>
        <a:sx n="66" d="100"/>
        <a:sy n="66" d="100"/>
      </p:scale>
      <p:origin x="0" y="0"/>
    </p:cViewPr>
  </p:sorterViewPr>
  <p:notesViewPr>
    <p:cSldViewPr snapToGrid="0" snapToObjects="1">
      <p:cViewPr>
        <p:scale>
          <a:sx n="100" d="100"/>
          <a:sy n="100" d="100"/>
        </p:scale>
        <p:origin x="3420" y="-852"/>
      </p:cViewPr>
      <p:guideLst>
        <p:guide orient="horz"/>
        <p:guide pos="2208"/>
      </p:guideLst>
    </p:cSldViewPr>
  </p:notesViewPr>
  <p:gridSpacing cx="72000" cy="72000"/>
</p:viewPr>
</file>

<file path=ppt/_rels/presentation.xml.rels><?xml version="1.0" encoding="UTF-8" standalone="yes"?>
<Relationships xmlns="http://schemas.openxmlformats.org/package/2006/relationships"><Relationship Id="rId26" Type="http://schemas.openxmlformats.org/officeDocument/2006/relationships/slide" Target="slides/slide19.xml"/><Relationship Id="rId21" Type="http://schemas.openxmlformats.org/officeDocument/2006/relationships/slide" Target="slides/slide14.xml"/><Relationship Id="rId42" Type="http://schemas.openxmlformats.org/officeDocument/2006/relationships/slide" Target="slides/slide35.xml"/><Relationship Id="rId47" Type="http://schemas.openxmlformats.org/officeDocument/2006/relationships/slide" Target="slides/slide40.xml"/><Relationship Id="rId63" Type="http://schemas.openxmlformats.org/officeDocument/2006/relationships/slide" Target="slides/slide56.xml"/><Relationship Id="rId68" Type="http://schemas.openxmlformats.org/officeDocument/2006/relationships/slide" Target="slides/slide61.xml"/><Relationship Id="rId84" Type="http://schemas.openxmlformats.org/officeDocument/2006/relationships/commentAuthors" Target="commentAuthors.xml"/><Relationship Id="rId16" Type="http://schemas.openxmlformats.org/officeDocument/2006/relationships/slide" Target="slides/slide9.xml"/><Relationship Id="rId11" Type="http://schemas.openxmlformats.org/officeDocument/2006/relationships/slide" Target="slides/slide4.xml"/><Relationship Id="rId32" Type="http://schemas.openxmlformats.org/officeDocument/2006/relationships/slide" Target="slides/slide25.xml"/><Relationship Id="rId37" Type="http://schemas.openxmlformats.org/officeDocument/2006/relationships/slide" Target="slides/slide30.xml"/><Relationship Id="rId53" Type="http://schemas.openxmlformats.org/officeDocument/2006/relationships/slide" Target="slides/slide46.xml"/><Relationship Id="rId58" Type="http://schemas.openxmlformats.org/officeDocument/2006/relationships/slide" Target="slides/slide51.xml"/><Relationship Id="rId74" Type="http://schemas.openxmlformats.org/officeDocument/2006/relationships/slide" Target="slides/slide67.xml"/><Relationship Id="rId79" Type="http://schemas.openxmlformats.org/officeDocument/2006/relationships/slide" Target="slides/slide72.xml"/><Relationship Id="rId5" Type="http://schemas.openxmlformats.org/officeDocument/2006/relationships/slideMaster" Target="slideMasters/slideMaster2.xml"/><Relationship Id="rId19" Type="http://schemas.openxmlformats.org/officeDocument/2006/relationships/slide" Target="slides/slide1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slide" Target="slides/slide28.xml"/><Relationship Id="rId43" Type="http://schemas.openxmlformats.org/officeDocument/2006/relationships/slide" Target="slides/slide36.xml"/><Relationship Id="rId48" Type="http://schemas.openxmlformats.org/officeDocument/2006/relationships/slide" Target="slides/slide41.xml"/><Relationship Id="rId56" Type="http://schemas.openxmlformats.org/officeDocument/2006/relationships/slide" Target="slides/slide49.xml"/><Relationship Id="rId64" Type="http://schemas.openxmlformats.org/officeDocument/2006/relationships/slide" Target="slides/slide57.xml"/><Relationship Id="rId69" Type="http://schemas.openxmlformats.org/officeDocument/2006/relationships/slide" Target="slides/slide62.xml"/><Relationship Id="rId77" Type="http://schemas.openxmlformats.org/officeDocument/2006/relationships/slide" Target="slides/slide70.xml"/><Relationship Id="rId8" Type="http://schemas.openxmlformats.org/officeDocument/2006/relationships/slide" Target="slides/slide1.xml"/><Relationship Id="rId51" Type="http://schemas.openxmlformats.org/officeDocument/2006/relationships/slide" Target="slides/slide44.xml"/><Relationship Id="rId72" Type="http://schemas.openxmlformats.org/officeDocument/2006/relationships/slide" Target="slides/slide65.xml"/><Relationship Id="rId80" Type="http://schemas.openxmlformats.org/officeDocument/2006/relationships/slide" Target="slides/slide73.xml"/><Relationship Id="rId85" Type="http://schemas.openxmlformats.org/officeDocument/2006/relationships/presProps" Target="presProps.xml"/><Relationship Id="rId3" Type="http://schemas.openxmlformats.org/officeDocument/2006/relationships/customXml" Target="../customXml/item3.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slide" Target="slides/slide26.xml"/><Relationship Id="rId38" Type="http://schemas.openxmlformats.org/officeDocument/2006/relationships/slide" Target="slides/slide31.xml"/><Relationship Id="rId46" Type="http://schemas.openxmlformats.org/officeDocument/2006/relationships/slide" Target="slides/slide39.xml"/><Relationship Id="rId59" Type="http://schemas.openxmlformats.org/officeDocument/2006/relationships/slide" Target="slides/slide52.xml"/><Relationship Id="rId67" Type="http://schemas.openxmlformats.org/officeDocument/2006/relationships/slide" Target="slides/slide60.xml"/><Relationship Id="rId20" Type="http://schemas.openxmlformats.org/officeDocument/2006/relationships/slide" Target="slides/slide13.xml"/><Relationship Id="rId41" Type="http://schemas.openxmlformats.org/officeDocument/2006/relationships/slide" Target="slides/slide34.xml"/><Relationship Id="rId54" Type="http://schemas.openxmlformats.org/officeDocument/2006/relationships/slide" Target="slides/slide47.xml"/><Relationship Id="rId62" Type="http://schemas.openxmlformats.org/officeDocument/2006/relationships/slide" Target="slides/slide55.xml"/><Relationship Id="rId70" Type="http://schemas.openxmlformats.org/officeDocument/2006/relationships/slide" Target="slides/slide63.xml"/><Relationship Id="rId75" Type="http://schemas.openxmlformats.org/officeDocument/2006/relationships/slide" Target="slides/slide68.xml"/><Relationship Id="rId83" Type="http://schemas.openxmlformats.org/officeDocument/2006/relationships/handoutMaster" Target="handoutMasters/handoutMaster1.xml"/><Relationship Id="rId88"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slide" Target="slides/slide29.xml"/><Relationship Id="rId49" Type="http://schemas.openxmlformats.org/officeDocument/2006/relationships/slide" Target="slides/slide42.xml"/><Relationship Id="rId57" Type="http://schemas.openxmlformats.org/officeDocument/2006/relationships/slide" Target="slides/slide50.xml"/><Relationship Id="rId10" Type="http://schemas.openxmlformats.org/officeDocument/2006/relationships/slide" Target="slides/slide3.xml"/><Relationship Id="rId31" Type="http://schemas.openxmlformats.org/officeDocument/2006/relationships/slide" Target="slides/slide24.xml"/><Relationship Id="rId44" Type="http://schemas.openxmlformats.org/officeDocument/2006/relationships/slide" Target="slides/slide37.xml"/><Relationship Id="rId52" Type="http://schemas.openxmlformats.org/officeDocument/2006/relationships/slide" Target="slides/slide45.xml"/><Relationship Id="rId60" Type="http://schemas.openxmlformats.org/officeDocument/2006/relationships/slide" Target="slides/slide53.xml"/><Relationship Id="rId65" Type="http://schemas.openxmlformats.org/officeDocument/2006/relationships/slide" Target="slides/slide58.xml"/><Relationship Id="rId73" Type="http://schemas.openxmlformats.org/officeDocument/2006/relationships/slide" Target="slides/slide66.xml"/><Relationship Id="rId78" Type="http://schemas.openxmlformats.org/officeDocument/2006/relationships/slide" Target="slides/slide71.xml"/><Relationship Id="rId81" Type="http://schemas.openxmlformats.org/officeDocument/2006/relationships/slide" Target="slides/slide74.xml"/><Relationship Id="rId86"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2.xml"/><Relationship Id="rId13" Type="http://schemas.openxmlformats.org/officeDocument/2006/relationships/slide" Target="slides/slide6.xml"/><Relationship Id="rId18" Type="http://schemas.openxmlformats.org/officeDocument/2006/relationships/slide" Target="slides/slide11.xml"/><Relationship Id="rId39" Type="http://schemas.openxmlformats.org/officeDocument/2006/relationships/slide" Target="slides/slide32.xml"/><Relationship Id="rId34" Type="http://schemas.openxmlformats.org/officeDocument/2006/relationships/slide" Target="slides/slide27.xml"/><Relationship Id="rId50" Type="http://schemas.openxmlformats.org/officeDocument/2006/relationships/slide" Target="slides/slide43.xml"/><Relationship Id="rId55" Type="http://schemas.openxmlformats.org/officeDocument/2006/relationships/slide" Target="slides/slide48.xml"/><Relationship Id="rId76" Type="http://schemas.openxmlformats.org/officeDocument/2006/relationships/slide" Target="slides/slide69.xml"/><Relationship Id="rId7" Type="http://schemas.openxmlformats.org/officeDocument/2006/relationships/slideMaster" Target="slideMasters/slideMaster4.xml"/><Relationship Id="rId71" Type="http://schemas.openxmlformats.org/officeDocument/2006/relationships/slide" Target="slides/slide64.xml"/><Relationship Id="rId2" Type="http://schemas.openxmlformats.org/officeDocument/2006/relationships/customXml" Target="../customXml/item2.xml"/><Relationship Id="rId29" Type="http://schemas.openxmlformats.org/officeDocument/2006/relationships/slide" Target="slides/slide22.xml"/><Relationship Id="rId24" Type="http://schemas.openxmlformats.org/officeDocument/2006/relationships/slide" Target="slides/slide17.xml"/><Relationship Id="rId40" Type="http://schemas.openxmlformats.org/officeDocument/2006/relationships/slide" Target="slides/slide33.xml"/><Relationship Id="rId45" Type="http://schemas.openxmlformats.org/officeDocument/2006/relationships/slide" Target="slides/slide38.xml"/><Relationship Id="rId66" Type="http://schemas.openxmlformats.org/officeDocument/2006/relationships/slide" Target="slides/slide59.xml"/><Relationship Id="rId87" Type="http://schemas.openxmlformats.org/officeDocument/2006/relationships/theme" Target="theme/theme1.xml"/><Relationship Id="rId61" Type="http://schemas.openxmlformats.org/officeDocument/2006/relationships/slide" Target="slides/slide54.xml"/><Relationship Id="rId82"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xmlns="" id="{8CC198DB-AFBD-584A-8986-364FF2B03F46}"/>
              </a:ext>
            </a:extLst>
          </p:cNvPr>
          <p:cNvSpPr>
            <a:spLocks noGrp="1"/>
          </p:cNvSpPr>
          <p:nvPr>
            <p:ph type="hdr" sz="quarter"/>
          </p:nvPr>
        </p:nvSpPr>
        <p:spPr>
          <a:xfrm>
            <a:off x="0" y="0"/>
            <a:ext cx="3037840" cy="466435"/>
          </a:xfrm>
          <a:prstGeom prst="rect">
            <a:avLst/>
          </a:prstGeom>
        </p:spPr>
        <p:txBody>
          <a:bodyPr vert="horz" lIns="91440" tIns="45720" rIns="91440" bIns="45720" rtlCol="0"/>
          <a:lstStyle>
            <a:lvl1pPr algn="l">
              <a:defRPr sz="1200"/>
            </a:lvl1pPr>
          </a:lstStyle>
          <a:p>
            <a:endParaRPr lang="en-US" dirty="0">
              <a:latin typeface="Huawei Sans" panose="020C0503030203020204" pitchFamily="34" charset="0"/>
            </a:endParaRPr>
          </a:p>
        </p:txBody>
      </p:sp>
      <p:sp>
        <p:nvSpPr>
          <p:cNvPr id="3" name="Date Placeholder 2">
            <a:extLst>
              <a:ext uri="{FF2B5EF4-FFF2-40B4-BE49-F238E27FC236}">
                <a16:creationId xmlns:a16="http://schemas.microsoft.com/office/drawing/2014/main" xmlns="" id="{AD01315C-523F-A043-8029-B9921497126E}"/>
              </a:ext>
            </a:extLst>
          </p:cNvPr>
          <p:cNvSpPr>
            <a:spLocks noGrp="1"/>
          </p:cNvSpPr>
          <p:nvPr>
            <p:ph type="dt" sz="quarter" idx="1"/>
          </p:nvPr>
        </p:nvSpPr>
        <p:spPr>
          <a:xfrm>
            <a:off x="3970938" y="0"/>
            <a:ext cx="3037840" cy="466435"/>
          </a:xfrm>
          <a:prstGeom prst="rect">
            <a:avLst/>
          </a:prstGeom>
        </p:spPr>
        <p:txBody>
          <a:bodyPr vert="horz" lIns="91440" tIns="45720" rIns="91440" bIns="45720" rtlCol="0"/>
          <a:lstStyle>
            <a:lvl1pPr algn="r">
              <a:defRPr sz="1200"/>
            </a:lvl1pPr>
          </a:lstStyle>
          <a:p>
            <a:fld id="{E8CF71B8-DF2A-2E41-BE66-2E18A767DA8A}" type="datetimeFigureOut">
              <a:rPr lang="en-US" smtClean="0">
                <a:latin typeface="Huawei Sans" panose="020C0503030203020204" pitchFamily="34" charset="0"/>
              </a:rPr>
              <a:t>10/13/2021</a:t>
            </a:fld>
            <a:endParaRPr lang="en-US" dirty="0">
              <a:latin typeface="Huawei Sans" panose="020C0503030203020204" pitchFamily="34" charset="0"/>
            </a:endParaRPr>
          </a:p>
        </p:txBody>
      </p:sp>
      <p:sp>
        <p:nvSpPr>
          <p:cNvPr id="4" name="Footer Placeholder 3">
            <a:extLst>
              <a:ext uri="{FF2B5EF4-FFF2-40B4-BE49-F238E27FC236}">
                <a16:creationId xmlns:a16="http://schemas.microsoft.com/office/drawing/2014/main" xmlns="" id="{B9601424-70F4-1643-8E3A-557A0258D6B6}"/>
              </a:ext>
            </a:extLst>
          </p:cNvPr>
          <p:cNvSpPr>
            <a:spLocks noGrp="1"/>
          </p:cNvSpPr>
          <p:nvPr>
            <p:ph type="ftr" sz="quarter" idx="2"/>
          </p:nvPr>
        </p:nvSpPr>
        <p:spPr>
          <a:xfrm>
            <a:off x="0" y="8829968"/>
            <a:ext cx="3037840" cy="466434"/>
          </a:xfrm>
          <a:prstGeom prst="rect">
            <a:avLst/>
          </a:prstGeom>
        </p:spPr>
        <p:txBody>
          <a:bodyPr vert="horz" lIns="91440" tIns="45720" rIns="91440" bIns="45720" rtlCol="0" anchor="b"/>
          <a:lstStyle>
            <a:lvl1pPr algn="l">
              <a:defRPr sz="1200"/>
            </a:lvl1pPr>
          </a:lstStyle>
          <a:p>
            <a:endParaRPr lang="en-US" dirty="0">
              <a:latin typeface="Huawei Sans" panose="020C0503030203020204" pitchFamily="34" charset="0"/>
            </a:endParaRPr>
          </a:p>
        </p:txBody>
      </p:sp>
      <p:sp>
        <p:nvSpPr>
          <p:cNvPr id="5" name="Slide Number Placeholder 4">
            <a:extLst>
              <a:ext uri="{FF2B5EF4-FFF2-40B4-BE49-F238E27FC236}">
                <a16:creationId xmlns:a16="http://schemas.microsoft.com/office/drawing/2014/main" xmlns="" id="{E85BF48A-FF5C-8145-95A7-EE66A87C73DF}"/>
              </a:ext>
            </a:extLst>
          </p:cNvPr>
          <p:cNvSpPr>
            <a:spLocks noGrp="1"/>
          </p:cNvSpPr>
          <p:nvPr>
            <p:ph type="sldNum" sz="quarter" idx="3"/>
          </p:nvPr>
        </p:nvSpPr>
        <p:spPr>
          <a:xfrm>
            <a:off x="3970938" y="8829968"/>
            <a:ext cx="3037840" cy="466434"/>
          </a:xfrm>
          <a:prstGeom prst="rect">
            <a:avLst/>
          </a:prstGeom>
        </p:spPr>
        <p:txBody>
          <a:bodyPr vert="horz" lIns="91440" tIns="45720" rIns="91440" bIns="45720" rtlCol="0" anchor="b"/>
          <a:lstStyle>
            <a:lvl1pPr algn="r">
              <a:defRPr sz="1200"/>
            </a:lvl1pPr>
          </a:lstStyle>
          <a:p>
            <a:fld id="{A35F0CC5-85BE-A64A-BD47-54C66F7E93E3}" type="slidenum">
              <a:rPr lang="en-US" smtClean="0">
                <a:latin typeface="Huawei Sans" panose="020C0503030203020204" pitchFamily="34" charset="0"/>
              </a:rPr>
              <a:t>‹#›</a:t>
            </a:fld>
            <a:endParaRPr lang="en-US" dirty="0">
              <a:latin typeface="Huawei Sans" panose="020C0503030203020204" pitchFamily="34" charset="0"/>
            </a:endParaRPr>
          </a:p>
        </p:txBody>
      </p:sp>
    </p:spTree>
    <p:extLst>
      <p:ext uri="{BB962C8B-B14F-4D97-AF65-F5344CB8AC3E}">
        <p14:creationId xmlns:p14="http://schemas.microsoft.com/office/powerpoint/2010/main" val="401909529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731838" y="717550"/>
            <a:ext cx="5580062" cy="3125788"/>
          </a:xfrm>
          <a:prstGeom prst="rect">
            <a:avLst/>
          </a:prstGeom>
          <a:noFill/>
          <a:ln w="12700">
            <a:solidFill>
              <a:prstClr val="black"/>
            </a:solidFill>
          </a:ln>
        </p:spPr>
        <p:txBody>
          <a:bodyPr vert="horz" lIns="91440" tIns="45720" rIns="91440" bIns="45720" rtlCol="0" anchor="ctr"/>
          <a:lstStyle/>
          <a:p>
            <a:pPr marL="0" lvl="0"/>
            <a:endParaRPr lang="en-US"/>
          </a:p>
        </p:txBody>
      </p:sp>
      <p:sp>
        <p:nvSpPr>
          <p:cNvPr id="5" name="Notes Placeholder 4"/>
          <p:cNvSpPr>
            <a:spLocks noGrp="1"/>
          </p:cNvSpPr>
          <p:nvPr>
            <p:ph type="body" sz="quarter" idx="3"/>
          </p:nvPr>
        </p:nvSpPr>
        <p:spPr>
          <a:xfrm>
            <a:off x="731838" y="4310765"/>
            <a:ext cx="5580062" cy="4784070"/>
          </a:xfrm>
          <a:prstGeom prst="rect">
            <a:avLst/>
          </a:prstGeom>
        </p:spPr>
        <p:txBody>
          <a:bodyPr vert="horz" lIns="97200" tIns="45720" rIns="97200" bIns="45720" rtlCol="0"/>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744632111"/>
      </p:ext>
    </p:extLst>
  </p:cSld>
  <p:clrMap bg1="lt1" tx1="dk1" bg2="lt2" tx2="dk2" accent1="accent1" accent2="accent2" accent3="accent3" accent4="accent4" accent5="accent5" accent6="accent6" hlink="hlink" folHlink="folHlink"/>
  <p:notesStyle>
    <a:lvl1pPr marL="180000" indent="-180000" algn="l" defTabSz="1219304" rtl="0" eaLnBrk="1" fontAlgn="ctr" latinLnBrk="0" hangingPunct="1">
      <a:lnSpc>
        <a:spcPct val="125000"/>
      </a:lnSpc>
      <a:spcAft>
        <a:spcPts val="600"/>
      </a:spcAft>
      <a:buFont typeface="Huawei Sans" panose="020C0503030203020204" pitchFamily="34" charset="0"/>
      <a:buChar char="•"/>
      <a:defRPr lang="en-US" sz="1100" kern="1200" baseline="0">
        <a:solidFill>
          <a:schemeClr val="tx1"/>
        </a:solidFill>
        <a:latin typeface="Huawei Sans" panose="020C0503030203020204" pitchFamily="34" charset="0"/>
        <a:ea typeface="方正兰亭黑简体" panose="02000000000000000000" pitchFamily="2" charset="-122"/>
        <a:cs typeface="+mn-cs"/>
      </a:defRPr>
    </a:lvl1pPr>
    <a:lvl2pPr marL="540000" indent="-180000" algn="l" defTabSz="1219304" rtl="0" eaLnBrk="1" fontAlgn="ctr" latinLnBrk="0" hangingPunct="1">
      <a:lnSpc>
        <a:spcPct val="125000"/>
      </a:lnSpc>
      <a:spcAft>
        <a:spcPts val="600"/>
      </a:spcAft>
      <a:buClrTx/>
      <a:buFont typeface="Huawei Sans" panose="020C0503030203020204" pitchFamily="34" charset="0"/>
      <a:buChar char="▫"/>
      <a:defRPr sz="1100" kern="1200" baseline="0">
        <a:solidFill>
          <a:schemeClr val="tx1"/>
        </a:solidFill>
        <a:latin typeface="Huawei Sans" panose="020C0503030203020204" pitchFamily="34" charset="0"/>
        <a:ea typeface="方正兰亭黑简体" panose="02000000000000000000" pitchFamily="2" charset="-122"/>
        <a:cs typeface="+mn-cs"/>
      </a:defRPr>
    </a:lvl2pPr>
    <a:lvl3pPr marL="900000" indent="-180000" algn="l" defTabSz="1219304" rtl="0" eaLnBrk="1" fontAlgn="ctr" latinLnBrk="0" hangingPunct="1">
      <a:lnSpc>
        <a:spcPct val="125000"/>
      </a:lnSpc>
      <a:spcAft>
        <a:spcPts val="600"/>
      </a:spcAft>
      <a:buFont typeface="微软雅黑" panose="020B0503020204020204" pitchFamily="34" charset="-122"/>
      <a:buChar char="▪"/>
      <a:defRPr sz="1100" kern="1200" baseline="0">
        <a:solidFill>
          <a:schemeClr val="tx1"/>
        </a:solidFill>
        <a:latin typeface="Huawei Sans" panose="020C0503030203020204" pitchFamily="34" charset="0"/>
        <a:ea typeface="方正兰亭黑简体" panose="02000000000000000000" pitchFamily="2" charset="-122"/>
        <a:cs typeface="+mn-cs"/>
      </a:defRPr>
    </a:lvl3pPr>
    <a:lvl4pPr marL="1260000" indent="-180000" algn="l" defTabSz="1219304" rtl="0" eaLnBrk="1" fontAlgn="ctr" latinLnBrk="0" hangingPunct="1">
      <a:lnSpc>
        <a:spcPct val="125000"/>
      </a:lnSpc>
      <a:spcAft>
        <a:spcPts val="600"/>
      </a:spcAft>
      <a:buFont typeface="Huawei Sans" panose="020C0503030203020204" pitchFamily="34" charset="0"/>
      <a:buChar char="−"/>
      <a:defRPr sz="1100" kern="1200" baseline="0">
        <a:solidFill>
          <a:schemeClr val="tx1"/>
        </a:solidFill>
        <a:latin typeface="Huawei Sans" panose="020C0503030203020204" pitchFamily="34" charset="0"/>
        <a:ea typeface="方正兰亭黑简体" panose="02000000000000000000" pitchFamily="2" charset="-122"/>
        <a:cs typeface="+mn-cs"/>
      </a:defRPr>
    </a:lvl4pPr>
    <a:lvl5pPr marL="1620000" indent="-180000" algn="l" defTabSz="1219304" rtl="0" eaLnBrk="1" fontAlgn="ctr" latinLnBrk="0" hangingPunct="1">
      <a:lnSpc>
        <a:spcPct val="125000"/>
      </a:lnSpc>
      <a:spcAft>
        <a:spcPts val="600"/>
      </a:spcAft>
      <a:buFont typeface="Huawei Sans" panose="020C0503030203020204" pitchFamily="34" charset="0"/>
      <a:buChar char="~"/>
      <a:defRPr sz="1100" kern="1200" baseline="0">
        <a:solidFill>
          <a:schemeClr val="tx1"/>
        </a:solidFill>
        <a:latin typeface="Huawei Sans" panose="020C0503030203020204" pitchFamily="34" charset="0"/>
        <a:ea typeface="方正兰亭黑简体" panose="02000000000000000000" pitchFamily="2" charset="-122"/>
        <a:cs typeface="+mn-cs"/>
      </a:defRPr>
    </a:lvl5pPr>
    <a:lvl6pPr marL="3048261" algn="l" defTabSz="1219304" rtl="0" eaLnBrk="1" latinLnBrk="0" hangingPunct="1">
      <a:defRPr sz="1600" kern="1200">
        <a:solidFill>
          <a:schemeClr val="tx1"/>
        </a:solidFill>
        <a:latin typeface="+mn-lt"/>
        <a:ea typeface="+mn-ea"/>
        <a:cs typeface="+mn-cs"/>
      </a:defRPr>
    </a:lvl6pPr>
    <a:lvl7pPr marL="3657913" algn="l" defTabSz="1219304" rtl="0" eaLnBrk="1" latinLnBrk="0" hangingPunct="1">
      <a:defRPr sz="1600" kern="1200">
        <a:solidFill>
          <a:schemeClr val="tx1"/>
        </a:solidFill>
        <a:latin typeface="+mn-lt"/>
        <a:ea typeface="+mn-ea"/>
        <a:cs typeface="+mn-cs"/>
      </a:defRPr>
    </a:lvl7pPr>
    <a:lvl8pPr marL="4267566" algn="l" defTabSz="1219304" rtl="0" eaLnBrk="1" latinLnBrk="0" hangingPunct="1">
      <a:defRPr sz="1600" kern="1200">
        <a:solidFill>
          <a:schemeClr val="tx1"/>
        </a:solidFill>
        <a:latin typeface="+mn-lt"/>
        <a:ea typeface="+mn-ea"/>
        <a:cs typeface="+mn-cs"/>
      </a:defRPr>
    </a:lvl8pPr>
    <a:lvl9pPr marL="4877219" algn="l" defTabSz="1219304" rtl="0" eaLnBrk="1" latinLnBrk="0" hangingPunct="1">
      <a:defRPr sz="1600" kern="1200">
        <a:solidFill>
          <a:schemeClr val="tx1"/>
        </a:solidFill>
        <a:latin typeface="+mn-lt"/>
        <a:ea typeface="+mn-ea"/>
        <a:cs typeface="+mn-cs"/>
      </a:defRPr>
    </a:lvl9pPr>
  </p:notesStyle>
  <p:extLst mod="1">
    <p:ext uri="{620B2872-D7B9-4A21-9093-7833F8D536E1}">
      <p15:sldGuideLst xmlns:p15="http://schemas.microsoft.com/office/powerpoint/2012/main">
        <p15:guide id="2" orient="horz" pos="2704" userDrawn="1">
          <p15:clr>
            <a:srgbClr val="F26B43"/>
          </p15:clr>
        </p15:guide>
        <p15:guide id="3" orient="horz" pos="459" userDrawn="1">
          <p15:clr>
            <a:srgbClr val="F26B43"/>
          </p15:clr>
        </p15:guide>
        <p15:guide id="4" orient="horz" pos="2432" userDrawn="1">
          <p15:clr>
            <a:srgbClr val="F26B43"/>
          </p15:clr>
        </p15:guide>
        <p15:guide id="7" pos="461" userDrawn="1">
          <p15:clr>
            <a:srgbClr val="F26B43"/>
          </p15:clr>
        </p15:guide>
        <p15:guide id="9" pos="2207" userDrawn="1">
          <p15:clr>
            <a:srgbClr val="F26B43"/>
          </p15:clr>
        </p15:guide>
        <p15:guide id="10" pos="3976" userDrawn="1">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幻灯片图像占位符 7"/>
          <p:cNvSpPr>
            <a:spLocks noGrp="1" noRot="1" noChangeAspect="1"/>
          </p:cNvSpPr>
          <p:nvPr>
            <p:ph type="sldImg"/>
          </p:nvPr>
        </p:nvSpPr>
        <p:spPr>
          <a:xfrm>
            <a:off x="742950" y="717550"/>
            <a:ext cx="5557838" cy="3125788"/>
          </a:xfrm>
        </p:spPr>
      </p:sp>
      <p:sp>
        <p:nvSpPr>
          <p:cNvPr id="9" name="备注占位符 8"/>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40129805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幻灯片图像占位符 16"/>
          <p:cNvSpPr>
            <a:spLocks noGrp="1" noRot="1" noChangeAspect="1"/>
          </p:cNvSpPr>
          <p:nvPr>
            <p:ph type="sldImg"/>
          </p:nvPr>
        </p:nvSpPr>
        <p:spPr>
          <a:xfrm>
            <a:off x="742950" y="717550"/>
            <a:ext cx="5557838" cy="3125788"/>
          </a:xfrm>
        </p:spPr>
      </p:sp>
      <p:sp>
        <p:nvSpPr>
          <p:cNvPr id="18" name="备注占位符 17"/>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8659770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幻灯片图像占位符 5"/>
          <p:cNvSpPr>
            <a:spLocks noGrp="1" noRot="1" noChangeAspect="1"/>
          </p:cNvSpPr>
          <p:nvPr>
            <p:ph type="sldImg"/>
          </p:nvPr>
        </p:nvSpPr>
        <p:spPr>
          <a:xfrm>
            <a:off x="742950" y="717550"/>
            <a:ext cx="5557838" cy="3125788"/>
          </a:xfrm>
        </p:spPr>
      </p:sp>
      <p:sp>
        <p:nvSpPr>
          <p:cNvPr id="7" name="备注占位符 6"/>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8859480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幻灯片图像占位符 5"/>
          <p:cNvSpPr>
            <a:spLocks noGrp="1" noRot="1" noChangeAspect="1"/>
          </p:cNvSpPr>
          <p:nvPr>
            <p:ph type="sldImg"/>
          </p:nvPr>
        </p:nvSpPr>
        <p:spPr>
          <a:xfrm>
            <a:off x="742950" y="717550"/>
            <a:ext cx="5557838" cy="3125788"/>
          </a:xfrm>
        </p:spPr>
      </p:sp>
      <p:sp>
        <p:nvSpPr>
          <p:cNvPr id="7" name="备注占位符 6"/>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58139316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幻灯片图像占位符 5"/>
          <p:cNvSpPr>
            <a:spLocks noGrp="1" noRot="1" noChangeAspect="1"/>
          </p:cNvSpPr>
          <p:nvPr>
            <p:ph type="sldImg"/>
          </p:nvPr>
        </p:nvSpPr>
        <p:spPr>
          <a:xfrm>
            <a:off x="742950" y="717550"/>
            <a:ext cx="5557838" cy="3125788"/>
          </a:xfrm>
        </p:spPr>
      </p:sp>
      <p:sp>
        <p:nvSpPr>
          <p:cNvPr id="7" name="备注占位符 6"/>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19631966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en-US" altLang="zh-CN" smtClean="0"/>
              <a:t>MSP</a:t>
            </a:r>
            <a:r>
              <a:rPr lang="zh-CN" altLang="en-US" smtClean="0"/>
              <a:t>（</a:t>
            </a:r>
            <a:r>
              <a:rPr lang="en-US" altLang="zh-CN" smtClean="0"/>
              <a:t>Managed Service Provider</a:t>
            </a:r>
            <a:r>
              <a:rPr lang="zh-CN" altLang="en-US" smtClean="0"/>
              <a:t>，管理服务提供商）：交付和管理基于网络的服务、应用及设备。服务对象包括企业、住宅区或其他服务供应商。</a:t>
            </a:r>
            <a:endParaRPr lang="en-US" altLang="zh-CN" smtClean="0"/>
          </a:p>
          <a:p>
            <a:r>
              <a:rPr lang="zh-CN" altLang="en-US" smtClean="0"/>
              <a:t>永久</a:t>
            </a:r>
            <a:r>
              <a:rPr lang="en-US" altLang="zh-CN" smtClean="0"/>
              <a:t>License+SnS</a:t>
            </a:r>
            <a:r>
              <a:rPr lang="zh-CN" altLang="en-US" smtClean="0"/>
              <a:t>：在</a:t>
            </a:r>
            <a:r>
              <a:rPr lang="en-US" altLang="zh-CN" smtClean="0"/>
              <a:t>License</a:t>
            </a:r>
            <a:r>
              <a:rPr lang="zh-CN" altLang="en-US" smtClean="0"/>
              <a:t>销售的基础上，将软件补丁、软件升级（含升级版本的新特性）、远程支持等打包在一起组成</a:t>
            </a:r>
            <a:r>
              <a:rPr lang="en-US" altLang="zh-CN" smtClean="0"/>
              <a:t>SnS</a:t>
            </a:r>
            <a:r>
              <a:rPr lang="zh-CN" altLang="en-US" smtClean="0"/>
              <a:t>年费，周期性付费的一种购买模式。在首次销售时，客户除了要购买</a:t>
            </a:r>
            <a:r>
              <a:rPr lang="en-US" altLang="zh-CN" smtClean="0"/>
              <a:t>License</a:t>
            </a:r>
            <a:r>
              <a:rPr lang="zh-CN" altLang="en-US" smtClean="0"/>
              <a:t>之外，需要绑定购买一定期限的</a:t>
            </a:r>
            <a:r>
              <a:rPr lang="en-US" altLang="zh-CN" smtClean="0"/>
              <a:t>SnS</a:t>
            </a:r>
            <a:r>
              <a:rPr lang="zh-CN" altLang="en-US" smtClean="0"/>
              <a:t>年费。在</a:t>
            </a:r>
            <a:r>
              <a:rPr lang="en-US" altLang="zh-CN" smtClean="0"/>
              <a:t>SnS</a:t>
            </a:r>
            <a:r>
              <a:rPr lang="zh-CN" altLang="en-US" smtClean="0"/>
              <a:t>年费到期后，如果客户不续签</a:t>
            </a:r>
            <a:r>
              <a:rPr lang="en-US" altLang="zh-CN" smtClean="0"/>
              <a:t>SnS</a:t>
            </a:r>
            <a:r>
              <a:rPr lang="zh-CN" altLang="en-US" smtClean="0"/>
              <a:t>年费，客户只能维持使用当前版本所提供的</a:t>
            </a:r>
            <a:r>
              <a:rPr lang="en-US" altLang="zh-CN" smtClean="0"/>
              <a:t>License</a:t>
            </a:r>
            <a:r>
              <a:rPr lang="zh-CN" altLang="en-US" smtClean="0"/>
              <a:t>功能，不能再享用</a:t>
            </a:r>
            <a:r>
              <a:rPr lang="en-US" altLang="zh-CN" smtClean="0"/>
              <a:t>SnS</a:t>
            </a:r>
            <a:r>
              <a:rPr lang="zh-CN" altLang="en-US" smtClean="0"/>
              <a:t>年费提供的业务功能。</a:t>
            </a:r>
            <a:endParaRPr lang="en-US" altLang="zh-CN" smtClean="0"/>
          </a:p>
          <a:p>
            <a:r>
              <a:rPr lang="en-US" altLang="zh-CN" smtClean="0"/>
              <a:t>SaaS</a:t>
            </a:r>
            <a:r>
              <a:rPr lang="zh-CN" altLang="en-US" smtClean="0"/>
              <a:t>模式：基于</a:t>
            </a:r>
            <a:r>
              <a:rPr lang="en-US" altLang="zh-CN" smtClean="0"/>
              <a:t>SaaS</a:t>
            </a:r>
            <a:r>
              <a:rPr lang="zh-CN" altLang="en-US" smtClean="0"/>
              <a:t>模式时，</a:t>
            </a:r>
            <a:r>
              <a:rPr lang="en-US" altLang="zh-CN" smtClean="0"/>
              <a:t>MSP</a:t>
            </a:r>
            <a:r>
              <a:rPr lang="zh-CN" altLang="en-US" smtClean="0"/>
              <a:t>承担硬件基础设施的部署或者租赁、硬件和软件的运维和管理，客户只需以云服务的方式使用软件，并按使用量周期性付费。</a:t>
            </a:r>
            <a:endParaRPr lang="en-US" altLang="zh-CN" smtClean="0"/>
          </a:p>
          <a:p>
            <a:r>
              <a:rPr lang="en-US" altLang="zh-CN" smtClean="0"/>
              <a:t>TBL</a:t>
            </a:r>
            <a:r>
              <a:rPr lang="zh-CN" altLang="en-US" smtClean="0"/>
              <a:t>（</a:t>
            </a:r>
            <a:r>
              <a:rPr lang="en-US" altLang="zh-CN" smtClean="0"/>
              <a:t>Term Based License</a:t>
            </a:r>
            <a:r>
              <a:rPr lang="zh-CN" altLang="en-US" smtClean="0"/>
              <a:t>，订阅</a:t>
            </a:r>
            <a:r>
              <a:rPr lang="en-US" altLang="zh-CN" smtClean="0"/>
              <a:t>)</a:t>
            </a:r>
            <a:r>
              <a:rPr lang="zh-CN" altLang="en-US" smtClean="0"/>
              <a:t>： 订阅模式与永久</a:t>
            </a:r>
            <a:r>
              <a:rPr lang="en-US" altLang="zh-CN" smtClean="0"/>
              <a:t>License+SnS</a:t>
            </a:r>
            <a:r>
              <a:rPr lang="zh-CN" altLang="en-US" smtClean="0"/>
              <a:t>年费模式的区别是，在订阅模式下客户购买的</a:t>
            </a:r>
            <a:r>
              <a:rPr lang="en-US" altLang="zh-CN" smtClean="0"/>
              <a:t>License</a:t>
            </a:r>
            <a:r>
              <a:rPr lang="zh-CN" altLang="en-US" smtClean="0"/>
              <a:t>受使用期限约束，如果到期后不再续订，客户就不再拥有对该软件产品的一切使用权。</a:t>
            </a:r>
            <a:endParaRPr lang="en-US" altLang="zh-CN" smtClean="0"/>
          </a:p>
          <a:p>
            <a:r>
              <a:rPr lang="en-US" altLang="zh-CN" smtClean="0"/>
              <a:t>SnS</a:t>
            </a:r>
            <a:r>
              <a:rPr lang="zh-CN" altLang="en-US" smtClean="0"/>
              <a:t>（</a:t>
            </a:r>
            <a:r>
              <a:rPr lang="en-US" altLang="zh-CN" smtClean="0"/>
              <a:t>Subscription and Support</a:t>
            </a:r>
            <a:r>
              <a:rPr lang="zh-CN" altLang="en-US" smtClean="0"/>
              <a:t>，软件订保年费）：软件年费</a:t>
            </a:r>
            <a:r>
              <a:rPr lang="en-US" altLang="zh-CN" smtClean="0"/>
              <a:t>SnS</a:t>
            </a:r>
            <a:r>
              <a:rPr lang="zh-CN" altLang="en-US" smtClean="0"/>
              <a:t>的商业模式主要包括“软件支持”和“软件订阅”两部分，软件年费</a:t>
            </a:r>
            <a:r>
              <a:rPr lang="en-US" altLang="zh-CN" smtClean="0"/>
              <a:t>SnS</a:t>
            </a:r>
            <a:r>
              <a:rPr lang="zh-CN" altLang="en-US" smtClean="0"/>
              <a:t>与软件</a:t>
            </a:r>
            <a:r>
              <a:rPr lang="en-US" altLang="zh-CN" smtClean="0"/>
              <a:t>License</a:t>
            </a:r>
            <a:r>
              <a:rPr lang="zh-CN" altLang="en-US" smtClean="0"/>
              <a:t>一起构成了完整的软件收费模式。 </a:t>
            </a:r>
            <a:endParaRPr lang="en-US" altLang="zh-CN" smtClean="0"/>
          </a:p>
          <a:p>
            <a:r>
              <a:rPr lang="zh-CN" altLang="en-US" smtClean="0"/>
              <a:t>说明：本课程以本地部署场景为例。</a:t>
            </a:r>
            <a:endParaRPr lang="en-US" altLang="zh-CN" dirty="0" smtClean="0"/>
          </a:p>
        </p:txBody>
      </p:sp>
      <p:sp>
        <p:nvSpPr>
          <p:cNvPr id="4" name="幻灯片图像占位符 3"/>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13270760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64905857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en-US" altLang="zh-CN" smtClean="0"/>
              <a:t>Fabric</a:t>
            </a:r>
            <a:r>
              <a:rPr lang="zh-CN" altLang="en-US" smtClean="0"/>
              <a:t>组网中，对</a:t>
            </a:r>
            <a:r>
              <a:rPr lang="en-US" altLang="zh-CN" smtClean="0"/>
              <a:t>VXLAN</a:t>
            </a:r>
            <a:r>
              <a:rPr lang="zh-CN" altLang="en-US" smtClean="0"/>
              <a:t>隧道端点</a:t>
            </a:r>
            <a:r>
              <a:rPr lang="en-US" altLang="zh-CN" smtClean="0"/>
              <a:t>VTEP</a:t>
            </a:r>
            <a:r>
              <a:rPr lang="zh-CN" altLang="en-US" smtClean="0"/>
              <a:t>（</a:t>
            </a:r>
            <a:r>
              <a:rPr lang="en-US" altLang="zh-CN" smtClean="0"/>
              <a:t>VXLAN Tunnel Endpoints</a:t>
            </a:r>
            <a:r>
              <a:rPr lang="zh-CN" altLang="en-US" smtClean="0"/>
              <a:t>）做了进一步的角色划分：</a:t>
            </a:r>
          </a:p>
          <a:p>
            <a:pPr lvl="1"/>
            <a:r>
              <a:rPr lang="en-US" altLang="zh-CN" smtClean="0"/>
              <a:t>Border</a:t>
            </a:r>
            <a:r>
              <a:rPr lang="zh-CN" altLang="en-US" smtClean="0"/>
              <a:t>：</a:t>
            </a:r>
            <a:r>
              <a:rPr lang="en-US" altLang="zh-CN" smtClean="0"/>
              <a:t>Fabric</a:t>
            </a:r>
            <a:r>
              <a:rPr lang="zh-CN" altLang="en-US" smtClean="0"/>
              <a:t>网络的边界网关节点，对应实体为物理网络设备，提供</a:t>
            </a:r>
            <a:r>
              <a:rPr lang="en-US" altLang="zh-CN" smtClean="0"/>
              <a:t>Fabric</a:t>
            </a:r>
            <a:r>
              <a:rPr lang="zh-CN" altLang="en-US" smtClean="0"/>
              <a:t>网络与外部网络间的数据转发。一般将支持</a:t>
            </a:r>
            <a:r>
              <a:rPr lang="en-US" altLang="zh-CN" smtClean="0"/>
              <a:t>VXLAN</a:t>
            </a:r>
            <a:r>
              <a:rPr lang="zh-CN" altLang="en-US" smtClean="0"/>
              <a:t>的核心交换机作为</a:t>
            </a:r>
            <a:r>
              <a:rPr lang="en-US" altLang="zh-CN" smtClean="0"/>
              <a:t>Border</a:t>
            </a:r>
            <a:r>
              <a:rPr lang="zh-CN" altLang="en-US" smtClean="0"/>
              <a:t>。</a:t>
            </a:r>
          </a:p>
          <a:p>
            <a:pPr lvl="1"/>
            <a:r>
              <a:rPr lang="en-US" altLang="zh-CN" smtClean="0"/>
              <a:t>Edge</a:t>
            </a:r>
            <a:r>
              <a:rPr lang="zh-CN" altLang="en-US" smtClean="0"/>
              <a:t>：</a:t>
            </a:r>
            <a:r>
              <a:rPr lang="en-US" altLang="zh-CN" smtClean="0"/>
              <a:t>Fabric</a:t>
            </a:r>
            <a:r>
              <a:rPr lang="zh-CN" altLang="en-US" smtClean="0"/>
              <a:t>网络的边缘节点，对应实体为物理网络设备，接入用户的流量从这里进入</a:t>
            </a:r>
            <a:r>
              <a:rPr lang="en-US" altLang="zh-CN" smtClean="0"/>
              <a:t>Fabric</a:t>
            </a:r>
            <a:r>
              <a:rPr lang="zh-CN" altLang="en-US" smtClean="0"/>
              <a:t>网络。一般将支持</a:t>
            </a:r>
            <a:r>
              <a:rPr lang="en-US" altLang="zh-CN" smtClean="0"/>
              <a:t>VXLAN</a:t>
            </a:r>
            <a:r>
              <a:rPr lang="zh-CN" altLang="en-US" smtClean="0"/>
              <a:t>的接入交换机或汇聚交换机作为</a:t>
            </a:r>
            <a:r>
              <a:rPr lang="en-US" altLang="zh-CN" smtClean="0"/>
              <a:t>Edge</a:t>
            </a:r>
            <a:r>
              <a:rPr lang="zh-CN" altLang="en-US" smtClean="0"/>
              <a:t>。</a:t>
            </a:r>
          </a:p>
          <a:p>
            <a:endParaRPr lang="zh-CN" altLang="en-US" dirty="0" smtClean="0"/>
          </a:p>
        </p:txBody>
      </p:sp>
      <p:sp>
        <p:nvSpPr>
          <p:cNvPr id="4" name="幻灯片图像占位符 3"/>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213496132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21149620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49649847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smtClean="0"/>
              <a:t>说明：本实验中，</a:t>
            </a:r>
            <a:r>
              <a:rPr lang="en-US" altLang="zh-CN" smtClean="0"/>
              <a:t>Border</a:t>
            </a:r>
            <a:r>
              <a:rPr lang="zh-CN" altLang="en-US" smtClean="0"/>
              <a:t>部署随板</a:t>
            </a:r>
            <a:r>
              <a:rPr lang="en-US" altLang="zh-CN" smtClean="0"/>
              <a:t>AC</a:t>
            </a:r>
            <a:r>
              <a:rPr lang="zh-CN" altLang="en-US" smtClean="0"/>
              <a:t>，对</a:t>
            </a:r>
            <a:r>
              <a:rPr lang="en-US" altLang="zh-CN" smtClean="0"/>
              <a:t>AP</a:t>
            </a:r>
            <a:r>
              <a:rPr lang="zh-CN" altLang="en-US" smtClean="0"/>
              <a:t>进行管控，且</a:t>
            </a:r>
            <a:r>
              <a:rPr lang="en-US" altLang="zh-CN" smtClean="0"/>
              <a:t>Border</a:t>
            </a:r>
            <a:r>
              <a:rPr lang="zh-CN" altLang="en-US" smtClean="0"/>
              <a:t>作为</a:t>
            </a:r>
            <a:r>
              <a:rPr lang="en-US" altLang="zh-CN" smtClean="0"/>
              <a:t>AP</a:t>
            </a:r>
            <a:r>
              <a:rPr lang="zh-CN" altLang="en-US" smtClean="0"/>
              <a:t>的</a:t>
            </a:r>
            <a:r>
              <a:rPr lang="en-US" altLang="zh-CN" smtClean="0"/>
              <a:t>DHCP</a:t>
            </a:r>
            <a:r>
              <a:rPr lang="zh-CN" altLang="en-US" smtClean="0"/>
              <a:t>服务器，为</a:t>
            </a:r>
            <a:r>
              <a:rPr lang="en-US" altLang="zh-CN" smtClean="0"/>
              <a:t>AP</a:t>
            </a:r>
            <a:r>
              <a:rPr lang="zh-CN" altLang="en-US" smtClean="0"/>
              <a:t>分配</a:t>
            </a:r>
            <a:r>
              <a:rPr lang="en-US" altLang="zh-CN" smtClean="0"/>
              <a:t>IP</a:t>
            </a:r>
            <a:r>
              <a:rPr lang="zh-CN" altLang="en-US" smtClean="0"/>
              <a:t>地址。</a:t>
            </a:r>
            <a:endParaRPr lang="zh-CN" altLang="en-US" dirty="0"/>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289610514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18533540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smtClean="0"/>
              <a:t>策略控制矩阵：</a:t>
            </a:r>
            <a:endParaRPr lang="en-US" altLang="zh-CN" smtClean="0"/>
          </a:p>
          <a:p>
            <a:pPr lvl="1"/>
            <a:r>
              <a:rPr lang="zh-CN" altLang="en-US" smtClean="0"/>
              <a:t>销售人员和市场人员不能互访，仅市场的有线人员可以与</a:t>
            </a:r>
            <a:r>
              <a:rPr lang="en-US" altLang="zh-CN" smtClean="0"/>
              <a:t>RD</a:t>
            </a:r>
            <a:r>
              <a:rPr lang="zh-CN" altLang="en-US" smtClean="0"/>
              <a:t>人员互访。</a:t>
            </a:r>
            <a:endParaRPr lang="en-US" altLang="zh-CN" smtClean="0"/>
          </a:p>
          <a:p>
            <a:pPr lvl="1"/>
            <a:r>
              <a:rPr lang="en-US" altLang="zh-CN" smtClean="0"/>
              <a:t>RD</a:t>
            </a:r>
            <a:r>
              <a:rPr lang="zh-CN" altLang="en-US" smtClean="0"/>
              <a:t>无法访问</a:t>
            </a:r>
            <a:r>
              <a:rPr lang="en-US" altLang="zh-CN" smtClean="0"/>
              <a:t>E_mail</a:t>
            </a:r>
            <a:r>
              <a:rPr lang="zh-CN" altLang="en-US" smtClean="0"/>
              <a:t>资源组。</a:t>
            </a:r>
          </a:p>
          <a:p>
            <a:pPr lvl="1"/>
            <a:r>
              <a:rPr lang="zh-CN" altLang="en-US" smtClean="0"/>
              <a:t>对于策略矩阵我们应只放通需要通信的，其余全保持禁止。</a:t>
            </a:r>
            <a:endParaRPr lang="zh-CN" altLang="en-US" dirty="0" smtClean="0"/>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261921781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408775370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43819861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49667861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endParaRPr lang="zh-CN" altLang="en-US" dirty="0"/>
          </a:p>
        </p:txBody>
      </p:sp>
      <p:sp>
        <p:nvSpPr>
          <p:cNvPr id="7" name="幻灯片图像占位符 6"/>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204835819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39775" y="717550"/>
            <a:ext cx="5556250" cy="3125788"/>
          </a:xfrm>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375886047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94258370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64314567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153096781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dirty="0" smtClean="0"/>
              <a:t>创建站点：</a:t>
            </a:r>
            <a:endParaRPr lang="en-US" altLang="zh-CN" dirty="0" smtClean="0"/>
          </a:p>
          <a:p>
            <a:pPr lvl="1"/>
            <a:r>
              <a:rPr lang="zh-CN" altLang="en-US" dirty="0" smtClean="0"/>
              <a:t>为了便于用户管理设备和提升业务部署效率，同一个租户下，同一个网络的设备可以规划到一个站点中。</a:t>
            </a:r>
          </a:p>
          <a:p>
            <a:pPr lvl="1"/>
            <a:r>
              <a:rPr lang="zh-CN" altLang="en-US" dirty="0" smtClean="0"/>
              <a:t>在</a:t>
            </a:r>
            <a:r>
              <a:rPr lang="en-US" altLang="zh-CN" dirty="0" err="1" smtClean="0"/>
              <a:t>iMaster</a:t>
            </a:r>
            <a:r>
              <a:rPr lang="en-US" altLang="zh-CN" dirty="0" smtClean="0"/>
              <a:t> NCE-Campus</a:t>
            </a:r>
            <a:r>
              <a:rPr lang="zh-CN" altLang="en-US" dirty="0" smtClean="0"/>
              <a:t>中创建站点，以便进行统一运维管理。创建站点当前支持如下两种方式：</a:t>
            </a:r>
          </a:p>
          <a:p>
            <a:pPr lvl="2"/>
            <a:r>
              <a:rPr lang="zh-CN" altLang="en-US" dirty="0" smtClean="0"/>
              <a:t>单个创建：对于添加少量站点的场景，可以单个创建。</a:t>
            </a:r>
          </a:p>
          <a:p>
            <a:pPr lvl="2"/>
            <a:r>
              <a:rPr lang="zh-CN" altLang="en-US" dirty="0" smtClean="0"/>
              <a:t>批量创建：对于添加大量站点的场景，可以批量创建。</a:t>
            </a:r>
          </a:p>
          <a:p>
            <a:r>
              <a:rPr lang="zh-CN" altLang="en-US" dirty="0" smtClean="0"/>
              <a:t>添加设备：</a:t>
            </a:r>
            <a:endParaRPr lang="en-US" altLang="zh-CN" dirty="0" smtClean="0"/>
          </a:p>
          <a:p>
            <a:pPr lvl="1"/>
            <a:r>
              <a:rPr lang="en-US" altLang="zh-CN" dirty="0" smtClean="0"/>
              <a:t>VXLAN</a:t>
            </a:r>
            <a:r>
              <a:rPr lang="zh-CN" altLang="en-US" dirty="0" smtClean="0"/>
              <a:t>虚拟化园区网络中管理的设备类型通常选择</a:t>
            </a:r>
            <a:r>
              <a:rPr lang="en-US" altLang="zh-CN" dirty="0" smtClean="0"/>
              <a:t>LSW</a:t>
            </a:r>
            <a:r>
              <a:rPr lang="zh-CN" altLang="en-US" dirty="0" smtClean="0"/>
              <a:t>（交换机）和</a:t>
            </a:r>
            <a:r>
              <a:rPr lang="en-US" altLang="zh-CN" dirty="0" smtClean="0"/>
              <a:t>WAC</a:t>
            </a:r>
            <a:r>
              <a:rPr lang="zh-CN" altLang="en-US" dirty="0" smtClean="0"/>
              <a:t>（无线控制器）。</a:t>
            </a:r>
            <a:endParaRPr lang="en-US" altLang="zh-CN" dirty="0" smtClean="0"/>
          </a:p>
          <a:p>
            <a:pPr lvl="1"/>
            <a:r>
              <a:rPr lang="zh-CN" altLang="en-US" dirty="0" smtClean="0"/>
              <a:t>若是手工添加设备，支撑“通过型号添加”和“通过</a:t>
            </a:r>
            <a:r>
              <a:rPr lang="en-US" altLang="zh-CN" dirty="0" smtClean="0"/>
              <a:t>ESN</a:t>
            </a:r>
            <a:r>
              <a:rPr lang="zh-CN" altLang="en-US" dirty="0" smtClean="0"/>
              <a:t>添加”两种方式。</a:t>
            </a:r>
            <a:endParaRPr lang="en-US" altLang="zh-CN" dirty="0" smtClean="0"/>
          </a:p>
          <a:p>
            <a:pPr lvl="1"/>
            <a:r>
              <a:rPr lang="zh-CN" altLang="en-US" dirty="0" smtClean="0"/>
              <a:t>大中型虚拟化园区网络中，</a:t>
            </a:r>
            <a:r>
              <a:rPr lang="en-US" altLang="zh-CN" dirty="0" smtClean="0"/>
              <a:t>WLAN</a:t>
            </a:r>
            <a:r>
              <a:rPr lang="zh-CN" altLang="en-US" dirty="0" smtClean="0"/>
              <a:t>一般采用</a:t>
            </a:r>
            <a:r>
              <a:rPr lang="en-US" altLang="zh-CN" dirty="0" err="1" smtClean="0"/>
              <a:t>AC+Fit</a:t>
            </a:r>
            <a:r>
              <a:rPr lang="en-US" altLang="zh-CN" dirty="0" smtClean="0"/>
              <a:t> AP</a:t>
            </a:r>
            <a:r>
              <a:rPr lang="zh-CN" altLang="en-US" dirty="0" smtClean="0"/>
              <a:t>架构，</a:t>
            </a:r>
            <a:r>
              <a:rPr lang="en-US" altLang="zh-CN" dirty="0" smtClean="0"/>
              <a:t>Fit AP</a:t>
            </a:r>
            <a:r>
              <a:rPr lang="zh-CN" altLang="en-US" dirty="0" smtClean="0"/>
              <a:t>由</a:t>
            </a:r>
            <a:r>
              <a:rPr lang="en-US" altLang="zh-CN" dirty="0" smtClean="0"/>
              <a:t>AC</a:t>
            </a:r>
            <a:r>
              <a:rPr lang="zh-CN" altLang="en-US" dirty="0" smtClean="0"/>
              <a:t>进行统一配置管理。随板</a:t>
            </a:r>
            <a:r>
              <a:rPr lang="en-US" altLang="zh-CN" dirty="0" smtClean="0"/>
              <a:t>AC</a:t>
            </a:r>
            <a:r>
              <a:rPr lang="zh-CN" altLang="en-US" dirty="0" smtClean="0"/>
              <a:t>被</a:t>
            </a:r>
            <a:r>
              <a:rPr lang="en-US" altLang="zh-CN" dirty="0" err="1" smtClean="0"/>
              <a:t>iMaster</a:t>
            </a:r>
            <a:r>
              <a:rPr lang="en-US" altLang="zh-CN" dirty="0" smtClean="0"/>
              <a:t> NCE-Campus</a:t>
            </a:r>
            <a:r>
              <a:rPr lang="zh-CN" altLang="en-US" dirty="0" smtClean="0"/>
              <a:t>纳管后，可以直接在</a:t>
            </a:r>
            <a:r>
              <a:rPr lang="en-US" altLang="zh-CN" dirty="0" err="1" smtClean="0"/>
              <a:t>iMaster</a:t>
            </a:r>
            <a:r>
              <a:rPr lang="en-US" altLang="zh-CN" dirty="0" smtClean="0"/>
              <a:t> NCE-Campus</a:t>
            </a:r>
            <a:r>
              <a:rPr lang="zh-CN" altLang="en-US" dirty="0" smtClean="0"/>
              <a:t>上跳转到</a:t>
            </a:r>
            <a:r>
              <a:rPr lang="en-US" altLang="zh-CN" dirty="0" smtClean="0"/>
              <a:t>AC</a:t>
            </a:r>
            <a:r>
              <a:rPr lang="zh-CN" altLang="en-US" dirty="0" smtClean="0"/>
              <a:t>的</a:t>
            </a:r>
            <a:r>
              <a:rPr lang="en-US" altLang="zh-CN" dirty="0" smtClean="0"/>
              <a:t>Web</a:t>
            </a:r>
            <a:r>
              <a:rPr lang="zh-CN" altLang="en-US" dirty="0" smtClean="0"/>
              <a:t>网管界面对</a:t>
            </a:r>
            <a:r>
              <a:rPr lang="en-US" altLang="zh-CN" dirty="0" smtClean="0"/>
              <a:t>Fit AP</a:t>
            </a:r>
            <a:r>
              <a:rPr lang="zh-CN" altLang="en-US" dirty="0" smtClean="0"/>
              <a:t>进行管理。</a:t>
            </a:r>
            <a:endParaRPr lang="zh-CN" altLang="en-US" dirty="0"/>
          </a:p>
        </p:txBody>
      </p:sp>
      <p:sp>
        <p:nvSpPr>
          <p:cNvPr id="4" name="幻灯片图像占位符 3"/>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123760825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smtClean="0">
                <a:sym typeface="Huawei Sans" panose="020C0503030203020204" pitchFamily="34" charset="0"/>
              </a:rPr>
              <a:t>设备即插即用：</a:t>
            </a:r>
            <a:endParaRPr lang="en-US" altLang="zh-CN" smtClean="0">
              <a:sym typeface="Huawei Sans" panose="020C0503030203020204" pitchFamily="34" charset="0"/>
            </a:endParaRPr>
          </a:p>
          <a:p>
            <a:pPr lvl="1"/>
            <a:r>
              <a:rPr lang="zh-CN" altLang="en-US" smtClean="0">
                <a:sym typeface="Huawei Sans" panose="020C0503030203020204" pitchFamily="34" charset="0"/>
              </a:rPr>
              <a:t>用户痛点：传统的网络开局方式需要工程师在现场对网络设备进行逐台调试，配置工作量大，效率低下。</a:t>
            </a:r>
            <a:endParaRPr lang="en-US" altLang="zh-CN" smtClean="0">
              <a:sym typeface="Huawei Sans" panose="020C0503030203020204" pitchFamily="34" charset="0"/>
            </a:endParaRPr>
          </a:p>
          <a:p>
            <a:pPr lvl="1"/>
            <a:r>
              <a:rPr lang="zh-CN" altLang="en-US" smtClean="0">
                <a:sym typeface="Huawei Sans" panose="020C0503030203020204" pitchFamily="34" charset="0"/>
              </a:rPr>
              <a:t>解决方案：</a:t>
            </a:r>
            <a:endParaRPr lang="en-US" altLang="zh-CN" smtClean="0">
              <a:sym typeface="Huawei Sans" panose="020C0503030203020204" pitchFamily="34" charset="0"/>
            </a:endParaRPr>
          </a:p>
          <a:p>
            <a:pPr lvl="2"/>
            <a:r>
              <a:rPr lang="zh-CN" altLang="en-US" smtClean="0">
                <a:sym typeface="Huawei Sans" panose="020C0503030203020204" pitchFamily="34" charset="0"/>
              </a:rPr>
              <a:t>本实验将展示</a:t>
            </a:r>
            <a:r>
              <a:rPr lang="en-US" altLang="zh-CN" smtClean="0">
                <a:sym typeface="Huawei Sans" panose="020C0503030203020204" pitchFamily="34" charset="0"/>
              </a:rPr>
              <a:t>CloudCampus</a:t>
            </a:r>
            <a:r>
              <a:rPr lang="zh-CN" altLang="en-US" smtClean="0">
                <a:sym typeface="Huawei Sans" panose="020C0503030203020204" pitchFamily="34" charset="0"/>
              </a:rPr>
              <a:t>解决方案的网络设备即插即用特性（采用</a:t>
            </a:r>
            <a:r>
              <a:rPr lang="en-US" altLang="zh-CN" smtClean="0">
                <a:sym typeface="Huawei Sans" panose="020C0503030203020204" pitchFamily="34" charset="0"/>
              </a:rPr>
              <a:t>DHCP Option</a:t>
            </a:r>
            <a:r>
              <a:rPr lang="zh-CN" altLang="en-US" smtClean="0">
                <a:sym typeface="Huawei Sans" panose="020C0503030203020204" pitchFamily="34" charset="0"/>
              </a:rPr>
              <a:t>方案实现交换机的即插即用，在本例中，需要提前在</a:t>
            </a:r>
            <a:r>
              <a:rPr lang="en-US" altLang="zh-CN" smtClean="0">
                <a:sym typeface="Huawei Sans" panose="020C0503030203020204" pitchFamily="34" charset="0"/>
              </a:rPr>
              <a:t>AR3</a:t>
            </a:r>
            <a:r>
              <a:rPr lang="zh-CN" altLang="en-US" smtClean="0">
                <a:sym typeface="Huawei Sans" panose="020C0503030203020204" pitchFamily="34" charset="0"/>
              </a:rPr>
              <a:t>路由器上完成</a:t>
            </a:r>
            <a:r>
              <a:rPr lang="en-US" altLang="zh-CN" smtClean="0">
                <a:sym typeface="Huawei Sans" panose="020C0503030203020204" pitchFamily="34" charset="0"/>
              </a:rPr>
              <a:t>DHCP</a:t>
            </a:r>
            <a:r>
              <a:rPr lang="zh-CN" altLang="en-US" smtClean="0">
                <a:sym typeface="Huawei Sans" panose="020C0503030203020204" pitchFamily="34" charset="0"/>
              </a:rPr>
              <a:t>服务及相关参数的配置）。</a:t>
            </a:r>
            <a:endParaRPr lang="en-US" altLang="zh-CN" smtClean="0">
              <a:sym typeface="Huawei Sans" panose="020C0503030203020204" pitchFamily="34" charset="0"/>
            </a:endParaRPr>
          </a:p>
          <a:p>
            <a:pPr lvl="2"/>
            <a:r>
              <a:rPr lang="zh-CN" altLang="en-US" smtClean="0">
                <a:sym typeface="Huawei Sans" panose="020C0503030203020204" pitchFamily="34" charset="0"/>
              </a:rPr>
              <a:t>通过本步骤，园区中的交换机可以直接以出厂状态完成开局配置，并被</a:t>
            </a:r>
            <a:r>
              <a:rPr lang="en-US" altLang="zh-CN" smtClean="0">
                <a:sym typeface="Huawei Sans" panose="020C0503030203020204" pitchFamily="34" charset="0"/>
              </a:rPr>
              <a:t>iMaster NCE-Campus</a:t>
            </a:r>
            <a:r>
              <a:rPr lang="zh-CN" altLang="en-US" smtClean="0">
                <a:sym typeface="Huawei Sans" panose="020C0503030203020204" pitchFamily="34" charset="0"/>
              </a:rPr>
              <a:t>纳管，大大降低了用户的配置工作量。</a:t>
            </a:r>
            <a:endParaRPr lang="en-US" altLang="zh-CN" dirty="0" smtClean="0">
              <a:sym typeface="Huawei Sans" panose="020C0503030203020204" pitchFamily="34" charset="0"/>
            </a:endParaRPr>
          </a:p>
        </p:txBody>
      </p:sp>
      <p:sp>
        <p:nvSpPr>
          <p:cNvPr id="4" name="幻灯片图像占位符 3"/>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349619512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dirty="0" smtClean="0">
              <a:effectLst/>
            </a:endParaRPr>
          </a:p>
        </p:txBody>
      </p:sp>
    </p:spTree>
    <p:extLst>
      <p:ext uri="{BB962C8B-B14F-4D97-AF65-F5344CB8AC3E}">
        <p14:creationId xmlns:p14="http://schemas.microsoft.com/office/powerpoint/2010/main" val="50498693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en-US" altLang="zh-CN" smtClean="0"/>
              <a:t>Fabric</a:t>
            </a:r>
            <a:r>
              <a:rPr lang="zh-CN" altLang="en-US" smtClean="0"/>
              <a:t>全局资源池参数说明：</a:t>
            </a:r>
          </a:p>
          <a:p>
            <a:pPr lvl="1"/>
            <a:r>
              <a:rPr lang="en-US" altLang="zh-CN" smtClean="0"/>
              <a:t>VLAN</a:t>
            </a:r>
            <a:r>
              <a:rPr lang="zh-CN" altLang="en-US" smtClean="0"/>
              <a:t>：当用户需要配置外部网络互联</a:t>
            </a:r>
            <a:r>
              <a:rPr lang="en-US" altLang="zh-CN" smtClean="0"/>
              <a:t>VLAN</a:t>
            </a:r>
            <a:r>
              <a:rPr lang="zh-CN" altLang="en-US" smtClean="0"/>
              <a:t>、网络服务资源互联</a:t>
            </a:r>
            <a:r>
              <a:rPr lang="en-US" altLang="zh-CN" smtClean="0"/>
              <a:t>VLAN</a:t>
            </a:r>
            <a:r>
              <a:rPr lang="zh-CN" altLang="en-US" smtClean="0"/>
              <a:t>、策略联动管理</a:t>
            </a:r>
            <a:r>
              <a:rPr lang="en-US" altLang="zh-CN" smtClean="0"/>
              <a:t>VLAN</a:t>
            </a:r>
            <a:r>
              <a:rPr lang="zh-CN" altLang="en-US" smtClean="0"/>
              <a:t>、接入</a:t>
            </a:r>
            <a:r>
              <a:rPr lang="en-US" altLang="zh-CN" smtClean="0"/>
              <a:t>VN</a:t>
            </a:r>
            <a:r>
              <a:rPr lang="zh-CN" altLang="en-US" smtClean="0"/>
              <a:t>接入</a:t>
            </a:r>
            <a:r>
              <a:rPr lang="en-US" altLang="zh-CN" smtClean="0"/>
              <a:t>VLAN</a:t>
            </a:r>
            <a:r>
              <a:rPr lang="zh-CN" altLang="en-US" smtClean="0"/>
              <a:t>时，配置业务</a:t>
            </a:r>
            <a:r>
              <a:rPr lang="en-US" altLang="zh-CN" smtClean="0"/>
              <a:t>VLAN</a:t>
            </a:r>
            <a:r>
              <a:rPr lang="zh-CN" altLang="en-US" smtClean="0"/>
              <a:t>池。</a:t>
            </a:r>
            <a:endParaRPr lang="en-US" altLang="zh-CN" smtClean="0"/>
          </a:p>
          <a:p>
            <a:pPr lvl="1"/>
            <a:r>
              <a:rPr lang="zh-CN" altLang="en-US" smtClean="0"/>
              <a:t>桥接广播域（</a:t>
            </a:r>
            <a:r>
              <a:rPr lang="en-US" altLang="zh-CN" smtClean="0"/>
              <a:t>BD</a:t>
            </a:r>
            <a:r>
              <a:rPr lang="zh-CN" altLang="en-US" smtClean="0"/>
              <a:t>）：在</a:t>
            </a:r>
            <a:r>
              <a:rPr lang="en-US" altLang="zh-CN" smtClean="0"/>
              <a:t>VXLAN</a:t>
            </a:r>
            <a:r>
              <a:rPr lang="zh-CN" altLang="en-US" smtClean="0"/>
              <a:t>网络中，将虚拟广播域</a:t>
            </a:r>
            <a:r>
              <a:rPr lang="en-US" altLang="zh-CN" smtClean="0"/>
              <a:t>VN</a:t>
            </a:r>
            <a:r>
              <a:rPr lang="zh-CN" altLang="en-US" smtClean="0"/>
              <a:t>对应的</a:t>
            </a:r>
            <a:r>
              <a:rPr lang="en-US" altLang="zh-CN" smtClean="0"/>
              <a:t>VNI</a:t>
            </a:r>
            <a:r>
              <a:rPr lang="zh-CN" altLang="en-US" smtClean="0"/>
              <a:t>以</a:t>
            </a:r>
            <a:r>
              <a:rPr lang="en-US" altLang="zh-CN" smtClean="0"/>
              <a:t>1:1</a:t>
            </a:r>
            <a:r>
              <a:rPr lang="zh-CN" altLang="en-US" smtClean="0"/>
              <a:t>方式映射到桥接广播域</a:t>
            </a:r>
            <a:r>
              <a:rPr lang="en-US" altLang="zh-CN" smtClean="0"/>
              <a:t>BD</a:t>
            </a:r>
            <a:r>
              <a:rPr lang="zh-CN" altLang="en-US" smtClean="0"/>
              <a:t>，</a:t>
            </a:r>
            <a:r>
              <a:rPr lang="en-US" altLang="zh-CN" smtClean="0"/>
              <a:t>BD</a:t>
            </a:r>
            <a:r>
              <a:rPr lang="zh-CN" altLang="en-US" smtClean="0"/>
              <a:t>成为</a:t>
            </a:r>
            <a:r>
              <a:rPr lang="en-US" altLang="zh-CN" smtClean="0"/>
              <a:t>VXLAN</a:t>
            </a:r>
            <a:r>
              <a:rPr lang="zh-CN" altLang="en-US" smtClean="0"/>
              <a:t>网络的实体，通过</a:t>
            </a:r>
            <a:r>
              <a:rPr lang="en-US" altLang="zh-CN" smtClean="0"/>
              <a:t>BD</a:t>
            </a:r>
            <a:r>
              <a:rPr lang="zh-CN" altLang="en-US" smtClean="0"/>
              <a:t>转发流量。即</a:t>
            </a:r>
            <a:r>
              <a:rPr lang="en-US" altLang="zh-CN" smtClean="0"/>
              <a:t>BD</a:t>
            </a:r>
            <a:r>
              <a:rPr lang="zh-CN" altLang="en-US" smtClean="0"/>
              <a:t>是</a:t>
            </a:r>
            <a:r>
              <a:rPr lang="en-US" altLang="zh-CN" smtClean="0"/>
              <a:t>VXLAN</a:t>
            </a:r>
            <a:r>
              <a:rPr lang="zh-CN" altLang="en-US" smtClean="0"/>
              <a:t>网络中转发数据报文的二层广播域。</a:t>
            </a:r>
          </a:p>
          <a:p>
            <a:pPr lvl="1"/>
            <a:r>
              <a:rPr lang="en-US" altLang="zh-CN" smtClean="0"/>
              <a:t>VXLAN</a:t>
            </a:r>
            <a:r>
              <a:rPr lang="zh-CN" altLang="en-US" smtClean="0"/>
              <a:t>网络标识（</a:t>
            </a:r>
            <a:r>
              <a:rPr lang="en-US" altLang="zh-CN" smtClean="0"/>
              <a:t>VNI</a:t>
            </a:r>
            <a:r>
              <a:rPr lang="zh-CN" altLang="en-US" smtClean="0"/>
              <a:t>）：</a:t>
            </a:r>
            <a:r>
              <a:rPr lang="en-US" altLang="zh-CN" smtClean="0"/>
              <a:t>VXLAN</a:t>
            </a:r>
            <a:r>
              <a:rPr lang="zh-CN" altLang="en-US" smtClean="0"/>
              <a:t>网络标识类似</a:t>
            </a:r>
            <a:r>
              <a:rPr lang="en-US" altLang="zh-CN" smtClean="0"/>
              <a:t>VLAN ID</a:t>
            </a:r>
            <a:r>
              <a:rPr lang="zh-CN" altLang="en-US" smtClean="0"/>
              <a:t>，用于区分</a:t>
            </a:r>
            <a:r>
              <a:rPr lang="en-US" altLang="zh-CN" smtClean="0"/>
              <a:t>VXLAN</a:t>
            </a:r>
            <a:r>
              <a:rPr lang="zh-CN" altLang="en-US" smtClean="0"/>
              <a:t>隔离域。</a:t>
            </a:r>
            <a:endParaRPr lang="zh-CN" altLang="en-US" dirty="0" smtClean="0"/>
          </a:p>
        </p:txBody>
      </p:sp>
      <p:sp>
        <p:nvSpPr>
          <p:cNvPr id="4" name="幻灯片图像占位符 3"/>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245624837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endParaRPr lang="zh-CN" altLang="en-US" dirty="0" smtClean="0"/>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188490952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en-US" altLang="zh-CN" smtClean="0"/>
              <a:t>Underlay</a:t>
            </a:r>
            <a:r>
              <a:rPr lang="zh-CN" altLang="en-US" smtClean="0"/>
              <a:t>自动化资源池参数说明：</a:t>
            </a:r>
            <a:endParaRPr lang="en-US" altLang="zh-CN" smtClean="0"/>
          </a:p>
          <a:p>
            <a:pPr lvl="1"/>
            <a:r>
              <a:rPr lang="zh-CN" altLang="en-US" smtClean="0"/>
              <a:t>互联</a:t>
            </a:r>
            <a:r>
              <a:rPr lang="en-US" altLang="zh-CN" smtClean="0"/>
              <a:t>VLAN</a:t>
            </a:r>
            <a:r>
              <a:rPr lang="zh-CN" altLang="en-US" smtClean="0"/>
              <a:t>：当</a:t>
            </a:r>
            <a:r>
              <a:rPr lang="en-US" altLang="zh-CN" smtClean="0"/>
              <a:t>Fabric</a:t>
            </a:r>
            <a:r>
              <a:rPr lang="zh-CN" altLang="en-US" smtClean="0"/>
              <a:t>内</a:t>
            </a:r>
            <a:r>
              <a:rPr lang="en-US" altLang="zh-CN" smtClean="0"/>
              <a:t>Border</a:t>
            </a:r>
            <a:r>
              <a:rPr lang="zh-CN" altLang="en-US" smtClean="0"/>
              <a:t>和</a:t>
            </a:r>
            <a:r>
              <a:rPr lang="en-US" altLang="zh-CN" smtClean="0"/>
              <a:t>Edge</a:t>
            </a:r>
            <a:r>
              <a:rPr lang="zh-CN" altLang="en-US" smtClean="0"/>
              <a:t>设备需要</a:t>
            </a:r>
            <a:r>
              <a:rPr lang="en-US" altLang="zh-CN" smtClean="0"/>
              <a:t>Underlay</a:t>
            </a:r>
            <a:r>
              <a:rPr lang="zh-CN" altLang="en-US" smtClean="0"/>
              <a:t>互联时，配置互联</a:t>
            </a:r>
            <a:r>
              <a:rPr lang="en-US" altLang="zh-CN" smtClean="0"/>
              <a:t>VLAN</a:t>
            </a:r>
            <a:r>
              <a:rPr lang="zh-CN" altLang="en-US" smtClean="0"/>
              <a:t>池。</a:t>
            </a:r>
            <a:endParaRPr lang="en-US" altLang="zh-CN" smtClean="0"/>
          </a:p>
          <a:p>
            <a:pPr lvl="1"/>
            <a:r>
              <a:rPr lang="zh-CN" altLang="en-US" smtClean="0"/>
              <a:t>互联</a:t>
            </a:r>
            <a:r>
              <a:rPr lang="en-US" altLang="zh-CN" smtClean="0"/>
              <a:t>IP</a:t>
            </a:r>
            <a:r>
              <a:rPr lang="zh-CN" altLang="en-US" smtClean="0"/>
              <a:t>：当</a:t>
            </a:r>
            <a:r>
              <a:rPr lang="en-US" altLang="zh-CN" smtClean="0"/>
              <a:t>Fabric</a:t>
            </a:r>
            <a:r>
              <a:rPr lang="zh-CN" altLang="en-US" smtClean="0"/>
              <a:t>内</a:t>
            </a:r>
            <a:r>
              <a:rPr lang="en-US" altLang="zh-CN" smtClean="0"/>
              <a:t>Border</a:t>
            </a:r>
            <a:r>
              <a:rPr lang="zh-CN" altLang="en-US" smtClean="0"/>
              <a:t>和</a:t>
            </a:r>
            <a:r>
              <a:rPr lang="en-US" altLang="zh-CN" smtClean="0"/>
              <a:t>Edge</a:t>
            </a:r>
            <a:r>
              <a:rPr lang="zh-CN" altLang="en-US" smtClean="0"/>
              <a:t>设备需要</a:t>
            </a:r>
            <a:r>
              <a:rPr lang="en-US" altLang="zh-CN" smtClean="0"/>
              <a:t>Underlay</a:t>
            </a:r>
            <a:r>
              <a:rPr lang="zh-CN" altLang="en-US" smtClean="0"/>
              <a:t>互联时，配置互联</a:t>
            </a:r>
            <a:r>
              <a:rPr lang="en-US" altLang="zh-CN" smtClean="0"/>
              <a:t>IP</a:t>
            </a:r>
            <a:r>
              <a:rPr lang="zh-CN" altLang="en-US" smtClean="0"/>
              <a:t>池。</a:t>
            </a:r>
            <a:endParaRPr lang="en-US" altLang="zh-CN" smtClean="0"/>
          </a:p>
          <a:p>
            <a:pPr lvl="1"/>
            <a:r>
              <a:rPr lang="zh-CN" altLang="en-US" smtClean="0"/>
              <a:t>环回口</a:t>
            </a:r>
            <a:r>
              <a:rPr lang="en-US" altLang="zh-CN" smtClean="0"/>
              <a:t>IP</a:t>
            </a:r>
            <a:r>
              <a:rPr lang="zh-CN" altLang="en-US" smtClean="0"/>
              <a:t>：</a:t>
            </a:r>
            <a:r>
              <a:rPr lang="en-US" altLang="zh-CN" smtClean="0"/>
              <a:t>Fabric</a:t>
            </a:r>
            <a:r>
              <a:rPr lang="zh-CN" altLang="en-US" smtClean="0"/>
              <a:t>内需要自动配置路由域时，配置环回口</a:t>
            </a:r>
            <a:r>
              <a:rPr lang="en-US" altLang="zh-CN" smtClean="0"/>
              <a:t>IP</a:t>
            </a:r>
            <a:r>
              <a:rPr lang="zh-CN" altLang="en-US" smtClean="0"/>
              <a:t>地址池。</a:t>
            </a:r>
            <a:endParaRPr lang="en-US" altLang="zh-CN" dirty="0" smtClean="0"/>
          </a:p>
        </p:txBody>
      </p:sp>
      <p:sp>
        <p:nvSpPr>
          <p:cNvPr id="4" name="幻灯片图像占位符 3"/>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348367595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424123046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65776127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92381129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297305925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en-US" altLang="zh-CN" smtClean="0"/>
              <a:t>Fabric</a:t>
            </a:r>
            <a:r>
              <a:rPr lang="zh-CN" altLang="en-US" smtClean="0"/>
              <a:t>网络由一组核心</a:t>
            </a:r>
            <a:r>
              <a:rPr lang="en-US" altLang="zh-CN" smtClean="0"/>
              <a:t>-</a:t>
            </a:r>
            <a:r>
              <a:rPr lang="zh-CN" altLang="en-US" smtClean="0"/>
              <a:t>汇聚</a:t>
            </a:r>
            <a:r>
              <a:rPr lang="en-US" altLang="zh-CN" smtClean="0"/>
              <a:t>-</a:t>
            </a:r>
            <a:r>
              <a:rPr lang="zh-CN" altLang="en-US" smtClean="0"/>
              <a:t>接入节点设备互联组成，实现一台接入设备可以同时接入不同的网络业务，节省了成本，并提高了网络设备的利用效率。</a:t>
            </a:r>
          </a:p>
          <a:p>
            <a:r>
              <a:rPr lang="zh-CN" altLang="en-US" smtClean="0"/>
              <a:t>虚拟化园区网络通过</a:t>
            </a:r>
            <a:r>
              <a:rPr lang="en-US" altLang="zh-CN" smtClean="0"/>
              <a:t>Overlay</a:t>
            </a:r>
            <a:r>
              <a:rPr lang="zh-CN" altLang="en-US" smtClean="0"/>
              <a:t>虚拟化技术（</a:t>
            </a:r>
            <a:r>
              <a:rPr lang="en-US" altLang="zh-CN" smtClean="0"/>
              <a:t>VXLAN</a:t>
            </a:r>
            <a:r>
              <a:rPr lang="zh-CN" altLang="en-US" smtClean="0"/>
              <a:t>），实现多个虚拟网络统一承载在同一个</a:t>
            </a:r>
            <a:r>
              <a:rPr lang="en-US" altLang="zh-CN" smtClean="0"/>
              <a:t>Fabric</a:t>
            </a:r>
            <a:r>
              <a:rPr lang="zh-CN" altLang="en-US" smtClean="0"/>
              <a:t>网络上，并能够支持业务的灵活部署。</a:t>
            </a:r>
          </a:p>
          <a:p>
            <a:r>
              <a:rPr lang="zh-CN" altLang="en-US" smtClean="0"/>
              <a:t>组网类型，即</a:t>
            </a:r>
            <a:r>
              <a:rPr lang="en-US" altLang="zh-CN" smtClean="0"/>
              <a:t>Fabric</a:t>
            </a:r>
            <a:r>
              <a:rPr lang="zh-CN" altLang="en-US" smtClean="0"/>
              <a:t>的组网部署模式：</a:t>
            </a:r>
          </a:p>
          <a:p>
            <a:pPr lvl="1"/>
            <a:r>
              <a:rPr lang="zh-CN" altLang="en-US" smtClean="0"/>
              <a:t>集中式：</a:t>
            </a:r>
            <a:r>
              <a:rPr lang="en-US" altLang="zh-CN" smtClean="0"/>
              <a:t>Fabric</a:t>
            </a:r>
            <a:r>
              <a:rPr lang="zh-CN" altLang="en-US" smtClean="0"/>
              <a:t>中网关设备是集中的，访问外网和内网的流量都经过集中式的网关。此时，只有边界网关节点可以作为网关。</a:t>
            </a:r>
          </a:p>
          <a:p>
            <a:pPr lvl="1"/>
            <a:r>
              <a:rPr lang="zh-CN" altLang="en-US" smtClean="0"/>
              <a:t>分布式：</a:t>
            </a:r>
            <a:r>
              <a:rPr lang="en-US" altLang="zh-CN" smtClean="0"/>
              <a:t>Fabric</a:t>
            </a:r>
            <a:r>
              <a:rPr lang="zh-CN" altLang="en-US" smtClean="0"/>
              <a:t>中网关设备是分布式的，访问外网和内网的流量经过不同的网关。此时，边界网关节点、边缘节点都可以作为网关。</a:t>
            </a:r>
            <a:endParaRPr lang="en-US" altLang="zh-CN" smtClean="0"/>
          </a:p>
          <a:p>
            <a:pPr lvl="0"/>
            <a:r>
              <a:rPr lang="en-US" altLang="zh-CN" smtClean="0"/>
              <a:t>iMaster NCE-Campus</a:t>
            </a:r>
            <a:r>
              <a:rPr lang="zh-CN" altLang="en-US" smtClean="0"/>
              <a:t>支持指定</a:t>
            </a:r>
            <a:r>
              <a:rPr lang="en-US" altLang="zh-CN" smtClean="0"/>
              <a:t>BGP</a:t>
            </a:r>
            <a:r>
              <a:rPr lang="zh-CN" altLang="en-US" smtClean="0"/>
              <a:t>路由反射器，并在</a:t>
            </a:r>
            <a:r>
              <a:rPr lang="en-US" altLang="zh-CN" smtClean="0"/>
              <a:t>Fabric</a:t>
            </a:r>
            <a:r>
              <a:rPr lang="zh-CN" altLang="en-US" smtClean="0"/>
              <a:t>内所有的边缘节点设备上自动化部署</a:t>
            </a:r>
            <a:r>
              <a:rPr lang="en-US" altLang="zh-CN" smtClean="0"/>
              <a:t>BGP EVPN</a:t>
            </a:r>
            <a:r>
              <a:rPr lang="zh-CN" altLang="en-US" smtClean="0"/>
              <a:t>配置。</a:t>
            </a:r>
            <a:endParaRPr lang="en-US" altLang="zh-CN" smtClean="0"/>
          </a:p>
          <a:p>
            <a:pPr lvl="1"/>
            <a:r>
              <a:rPr lang="en-US" altLang="zh-CN" smtClean="0"/>
              <a:t>AS</a:t>
            </a:r>
            <a:r>
              <a:rPr lang="zh-CN" altLang="en-US" smtClean="0"/>
              <a:t>号：指定该</a:t>
            </a:r>
            <a:r>
              <a:rPr lang="en-US" altLang="zh-CN" smtClean="0"/>
              <a:t>Fabric</a:t>
            </a:r>
            <a:r>
              <a:rPr lang="zh-CN" altLang="en-US" smtClean="0"/>
              <a:t>网络中</a:t>
            </a:r>
            <a:r>
              <a:rPr lang="en-US" altLang="zh-CN" smtClean="0"/>
              <a:t>BGP</a:t>
            </a:r>
            <a:r>
              <a:rPr lang="zh-CN" altLang="en-US" smtClean="0"/>
              <a:t>协议的</a:t>
            </a:r>
            <a:r>
              <a:rPr lang="en-US" altLang="zh-CN" smtClean="0"/>
              <a:t>AS</a:t>
            </a:r>
            <a:r>
              <a:rPr lang="zh-CN" altLang="en-US" smtClean="0"/>
              <a:t>号。</a:t>
            </a:r>
            <a:endParaRPr lang="en-US" altLang="zh-CN" smtClean="0"/>
          </a:p>
          <a:p>
            <a:pPr lvl="1"/>
            <a:r>
              <a:rPr lang="zh-CN" altLang="en-US" smtClean="0"/>
              <a:t>反射器集群</a:t>
            </a:r>
            <a:r>
              <a:rPr lang="en-US" altLang="zh-CN" smtClean="0"/>
              <a:t>ID</a:t>
            </a:r>
            <a:r>
              <a:rPr lang="zh-CN" altLang="en-US" smtClean="0"/>
              <a:t>：路由反射器的集群</a:t>
            </a:r>
            <a:r>
              <a:rPr lang="en-US" altLang="zh-CN" smtClean="0"/>
              <a:t>ID</a:t>
            </a:r>
            <a:r>
              <a:rPr lang="zh-CN" altLang="en-US" smtClean="0"/>
              <a:t>。如果</a:t>
            </a:r>
            <a:r>
              <a:rPr lang="en-US" altLang="zh-CN" smtClean="0"/>
              <a:t>Fabric</a:t>
            </a:r>
            <a:r>
              <a:rPr lang="zh-CN" altLang="en-US" smtClean="0"/>
              <a:t>网络中存在多个路由反射器，如双</a:t>
            </a:r>
            <a:r>
              <a:rPr lang="en-US" altLang="zh-CN" smtClean="0"/>
              <a:t>Border</a:t>
            </a:r>
            <a:r>
              <a:rPr lang="zh-CN" altLang="en-US" smtClean="0"/>
              <a:t>组网中配置了两个路由反射器，此时需要配置反射器集群</a:t>
            </a:r>
            <a:r>
              <a:rPr lang="en-US" altLang="zh-CN" smtClean="0"/>
              <a:t>ID</a:t>
            </a:r>
            <a:r>
              <a:rPr lang="zh-CN" altLang="en-US" smtClean="0"/>
              <a:t>，防止</a:t>
            </a:r>
            <a:r>
              <a:rPr lang="en-US" altLang="zh-CN" smtClean="0"/>
              <a:t>BGP</a:t>
            </a:r>
            <a:r>
              <a:rPr lang="zh-CN" altLang="en-US" smtClean="0"/>
              <a:t>路由环路。取值为</a:t>
            </a:r>
            <a:r>
              <a:rPr lang="en-US" altLang="zh-CN" smtClean="0"/>
              <a:t>1-4294967295</a:t>
            </a:r>
            <a:r>
              <a:rPr lang="zh-CN" altLang="en-US" smtClean="0"/>
              <a:t>的整数或</a:t>
            </a:r>
            <a:r>
              <a:rPr lang="en-US" altLang="zh-CN" smtClean="0"/>
              <a:t>IPv4</a:t>
            </a:r>
            <a:r>
              <a:rPr lang="zh-CN" altLang="en-US" smtClean="0"/>
              <a:t>地址。</a:t>
            </a:r>
            <a:endParaRPr lang="zh-CN" altLang="en-US" dirty="0" smtClean="0"/>
          </a:p>
        </p:txBody>
      </p:sp>
      <p:sp>
        <p:nvSpPr>
          <p:cNvPr id="4" name="幻灯片图像占位符 3"/>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99982718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smtClean="0"/>
              <a:t>角色：指定设备在</a:t>
            </a:r>
            <a:r>
              <a:rPr lang="en-US" altLang="zh-CN" smtClean="0"/>
              <a:t>Fabric</a:t>
            </a:r>
            <a:r>
              <a:rPr lang="zh-CN" altLang="en-US" smtClean="0"/>
              <a:t>网络中所属的角色，包含边界网关节点、边缘节点、扩展节点。缺省为扩展节点。</a:t>
            </a:r>
            <a:endParaRPr lang="en-US" altLang="zh-CN" smtClean="0"/>
          </a:p>
          <a:p>
            <a:r>
              <a:rPr lang="zh-CN" altLang="en-US" smtClean="0"/>
              <a:t>路由反射器：在</a:t>
            </a:r>
            <a:r>
              <a:rPr lang="en-US" altLang="zh-CN" smtClean="0"/>
              <a:t>Fabric</a:t>
            </a:r>
            <a:r>
              <a:rPr lang="zh-CN" altLang="en-US" smtClean="0"/>
              <a:t>组网中，一般选择</a:t>
            </a:r>
            <a:r>
              <a:rPr lang="en-US" altLang="zh-CN" smtClean="0"/>
              <a:t>Border</a:t>
            </a:r>
            <a:r>
              <a:rPr lang="zh-CN" altLang="en-US" smtClean="0"/>
              <a:t>设备作为路由反射器，简化</a:t>
            </a:r>
            <a:r>
              <a:rPr lang="en-US" altLang="zh-CN" smtClean="0"/>
              <a:t>IBGP</a:t>
            </a:r>
            <a:r>
              <a:rPr lang="zh-CN" altLang="en-US" smtClean="0"/>
              <a:t>全互联的需求，也可以减轻网络和</a:t>
            </a:r>
            <a:r>
              <a:rPr lang="en-US" altLang="zh-CN" smtClean="0"/>
              <a:t>CPU</a:t>
            </a:r>
            <a:r>
              <a:rPr lang="zh-CN" altLang="en-US" smtClean="0"/>
              <a:t>的负担。</a:t>
            </a:r>
            <a:endParaRPr lang="zh-CN" altLang="en-US" dirty="0" smtClean="0"/>
          </a:p>
        </p:txBody>
      </p:sp>
      <p:sp>
        <p:nvSpPr>
          <p:cNvPr id="4" name="幻灯片图像占位符 3"/>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68618074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smtClean="0"/>
              <a:t>自动配置路由域：开启该功能后，自动配置</a:t>
            </a:r>
            <a:r>
              <a:rPr lang="en-US" altLang="zh-CN" smtClean="0"/>
              <a:t>Underlay</a:t>
            </a:r>
            <a:r>
              <a:rPr lang="zh-CN" altLang="en-US" smtClean="0"/>
              <a:t>网络。用户可以指定自动配置路由域的站点，并指定</a:t>
            </a:r>
            <a:r>
              <a:rPr lang="en-US" altLang="zh-CN" smtClean="0"/>
              <a:t>OSPF</a:t>
            </a:r>
            <a:r>
              <a:rPr lang="zh-CN" altLang="en-US" smtClean="0"/>
              <a:t>路由参数，当前支持的参数如下：</a:t>
            </a:r>
          </a:p>
          <a:p>
            <a:pPr lvl="1"/>
            <a:r>
              <a:rPr lang="zh-CN" altLang="en-US" smtClean="0"/>
              <a:t>域：单域为所有设备均属于</a:t>
            </a:r>
            <a:r>
              <a:rPr lang="en-US" altLang="zh-CN" smtClean="0"/>
              <a:t>Area 0</a:t>
            </a:r>
            <a:r>
              <a:rPr lang="zh-CN" altLang="en-US" smtClean="0"/>
              <a:t>；多域指所有</a:t>
            </a:r>
            <a:r>
              <a:rPr lang="en-US" altLang="zh-CN" smtClean="0"/>
              <a:t>Edge</a:t>
            </a:r>
            <a:r>
              <a:rPr lang="zh-CN" altLang="en-US" smtClean="0"/>
              <a:t>节点位于不同的非骨干区域，</a:t>
            </a:r>
            <a:r>
              <a:rPr lang="en-US" altLang="zh-CN" smtClean="0"/>
              <a:t>Border</a:t>
            </a:r>
            <a:r>
              <a:rPr lang="zh-CN" altLang="en-US" smtClean="0"/>
              <a:t>节点之间通过骨干区域（</a:t>
            </a:r>
            <a:r>
              <a:rPr lang="en-US" altLang="zh-CN" smtClean="0"/>
              <a:t>Area 0</a:t>
            </a:r>
            <a:r>
              <a:rPr lang="zh-CN" altLang="en-US" smtClean="0"/>
              <a:t>）互联。</a:t>
            </a:r>
          </a:p>
          <a:p>
            <a:pPr lvl="1"/>
            <a:r>
              <a:rPr lang="zh-CN" altLang="en-US" smtClean="0"/>
              <a:t>网络类型：指定</a:t>
            </a:r>
            <a:r>
              <a:rPr lang="en-US" altLang="zh-CN" smtClean="0"/>
              <a:t>OSPF</a:t>
            </a:r>
            <a:r>
              <a:rPr lang="zh-CN" altLang="en-US" smtClean="0"/>
              <a:t>的网络类型，可以选择</a:t>
            </a:r>
            <a:r>
              <a:rPr lang="en-US" altLang="zh-CN" smtClean="0"/>
              <a:t>broadcast</a:t>
            </a:r>
            <a:r>
              <a:rPr lang="zh-CN" altLang="en-US" smtClean="0"/>
              <a:t>、</a:t>
            </a:r>
            <a:r>
              <a:rPr lang="en-US" altLang="zh-CN" smtClean="0"/>
              <a:t>P2MP</a:t>
            </a:r>
            <a:r>
              <a:rPr lang="zh-CN" altLang="en-US" smtClean="0"/>
              <a:t>或者</a:t>
            </a:r>
            <a:r>
              <a:rPr lang="en-US" altLang="zh-CN" smtClean="0"/>
              <a:t>P2P</a:t>
            </a:r>
            <a:r>
              <a:rPr lang="zh-CN" altLang="en-US" smtClean="0"/>
              <a:t>。</a:t>
            </a:r>
          </a:p>
          <a:p>
            <a:pPr lvl="1"/>
            <a:r>
              <a:rPr lang="zh-CN" altLang="en-US" smtClean="0"/>
              <a:t>加密：设置相邻设备之间的加密方式，可以选择</a:t>
            </a:r>
            <a:r>
              <a:rPr lang="en-US" altLang="zh-CN" smtClean="0"/>
              <a:t>HMAC-SHA256</a:t>
            </a:r>
            <a:r>
              <a:rPr lang="zh-CN" altLang="en-US" smtClean="0"/>
              <a:t>、</a:t>
            </a:r>
            <a:r>
              <a:rPr lang="en-US" altLang="zh-CN" smtClean="0"/>
              <a:t>MD5</a:t>
            </a:r>
            <a:r>
              <a:rPr lang="zh-CN" altLang="en-US" smtClean="0"/>
              <a:t>或者无。</a:t>
            </a:r>
            <a:endParaRPr lang="en-US" altLang="zh-CN" smtClean="0"/>
          </a:p>
          <a:p>
            <a:pPr lvl="1"/>
            <a:r>
              <a:rPr lang="en-US" altLang="zh-CN" smtClean="0"/>
              <a:t>Key</a:t>
            </a:r>
            <a:r>
              <a:rPr lang="zh-CN" altLang="en-US" smtClean="0"/>
              <a:t>：接口密文验证的验证字标识符，必须与对端的验证字标识符一致。整数形式，取值范围是</a:t>
            </a:r>
            <a:r>
              <a:rPr lang="en-US" altLang="zh-CN" smtClean="0"/>
              <a:t>1</a:t>
            </a:r>
            <a:r>
              <a:rPr lang="zh-CN" altLang="en-US" smtClean="0"/>
              <a:t>～</a:t>
            </a:r>
            <a:r>
              <a:rPr lang="en-US" altLang="zh-CN" smtClean="0"/>
              <a:t>255</a:t>
            </a:r>
            <a:r>
              <a:rPr lang="zh-CN" altLang="en-US" smtClean="0"/>
              <a:t>。</a:t>
            </a:r>
          </a:p>
          <a:p>
            <a:pPr lvl="1"/>
            <a:r>
              <a:rPr lang="zh-CN" altLang="en-US" smtClean="0"/>
              <a:t>密码：指定密文验证字，字符串格式，不支持空格，长度为</a:t>
            </a:r>
            <a:r>
              <a:rPr lang="en-US" altLang="zh-CN" smtClean="0"/>
              <a:t>1</a:t>
            </a:r>
            <a:r>
              <a:rPr lang="zh-CN" altLang="en-US" smtClean="0"/>
              <a:t>～</a:t>
            </a:r>
            <a:r>
              <a:rPr lang="en-US" altLang="zh-CN" smtClean="0"/>
              <a:t>255</a:t>
            </a:r>
            <a:r>
              <a:rPr lang="zh-CN" altLang="en-US" smtClean="0"/>
              <a:t>。</a:t>
            </a:r>
          </a:p>
          <a:p>
            <a:pPr lvl="1"/>
            <a:r>
              <a:rPr lang="zh-CN" altLang="en-US" smtClean="0"/>
              <a:t>确认密码：确认密文验证字。</a:t>
            </a:r>
          </a:p>
          <a:p>
            <a:pPr lvl="1"/>
            <a:r>
              <a:rPr lang="en-US" altLang="zh-CN" smtClean="0"/>
              <a:t>OSPF</a:t>
            </a:r>
            <a:r>
              <a:rPr lang="zh-CN" altLang="en-US" smtClean="0"/>
              <a:t>平滑启动：开启</a:t>
            </a:r>
            <a:r>
              <a:rPr lang="en-US" altLang="zh-CN" smtClean="0"/>
              <a:t>OSPF GR</a:t>
            </a:r>
            <a:r>
              <a:rPr lang="zh-CN" altLang="en-US" smtClean="0"/>
              <a:t>功能。</a:t>
            </a:r>
            <a:endParaRPr lang="en-US" altLang="zh-CN" smtClean="0">
              <a:sym typeface="Huawei Sans" panose="020C0503030203020204" pitchFamily="34" charset="0"/>
            </a:endParaRPr>
          </a:p>
          <a:p>
            <a:endParaRPr lang="zh-CN" altLang="en-US" dirty="0"/>
          </a:p>
        </p:txBody>
      </p:sp>
      <p:sp>
        <p:nvSpPr>
          <p:cNvPr id="4" name="幻灯片图像占位符 3"/>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60838655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smtClean="0"/>
              <a:t>完成</a:t>
            </a:r>
            <a:r>
              <a:rPr lang="en-US" altLang="zh-CN" smtClean="0"/>
              <a:t>Fabric</a:t>
            </a:r>
            <a:r>
              <a:rPr lang="zh-CN" altLang="en-US" smtClean="0"/>
              <a:t>创建后，可实现</a:t>
            </a:r>
            <a:r>
              <a:rPr lang="en-US" altLang="zh-CN" smtClean="0"/>
              <a:t>Underlay</a:t>
            </a:r>
            <a:r>
              <a:rPr lang="zh-CN" altLang="en-US" smtClean="0"/>
              <a:t>网络的自动部署，实现建立</a:t>
            </a:r>
            <a:r>
              <a:rPr lang="en-US" altLang="zh-CN" smtClean="0"/>
              <a:t>Fabric BGP-EVPN</a:t>
            </a:r>
            <a:r>
              <a:rPr lang="zh-CN" altLang="en-US" smtClean="0"/>
              <a:t>所需的</a:t>
            </a:r>
            <a:r>
              <a:rPr lang="en-US" altLang="zh-CN" smtClean="0"/>
              <a:t>VLANIF</a:t>
            </a:r>
            <a:r>
              <a:rPr lang="zh-CN" altLang="en-US" smtClean="0"/>
              <a:t>接口、</a:t>
            </a:r>
            <a:r>
              <a:rPr lang="en-US" altLang="zh-CN" smtClean="0"/>
              <a:t>Loopback</a:t>
            </a:r>
            <a:r>
              <a:rPr lang="zh-CN" altLang="en-US" smtClean="0"/>
              <a:t>接口、</a:t>
            </a:r>
            <a:r>
              <a:rPr lang="en-US" altLang="zh-CN" smtClean="0"/>
              <a:t>VTEP IP</a:t>
            </a:r>
            <a:r>
              <a:rPr lang="zh-CN" altLang="en-US" smtClean="0"/>
              <a:t>、路由等配置的自动发放。</a:t>
            </a:r>
            <a:r>
              <a:rPr lang="en-US" altLang="zh-CN" smtClean="0"/>
              <a:t>iMaster NCE-Campus</a:t>
            </a:r>
            <a:r>
              <a:rPr lang="zh-CN" altLang="en-US" smtClean="0"/>
              <a:t>会从</a:t>
            </a:r>
            <a:r>
              <a:rPr lang="en-US" altLang="zh-CN" smtClean="0"/>
              <a:t>Fabric</a:t>
            </a:r>
            <a:r>
              <a:rPr lang="zh-CN" altLang="en-US" smtClean="0"/>
              <a:t>全局资源池和</a:t>
            </a:r>
            <a:r>
              <a:rPr lang="en-US" altLang="zh-CN" smtClean="0"/>
              <a:t>Underlay</a:t>
            </a:r>
            <a:r>
              <a:rPr lang="zh-CN" altLang="en-US" smtClean="0"/>
              <a:t>自动化资源池内自动分配相关资源给设备。</a:t>
            </a:r>
          </a:p>
          <a:p>
            <a:endParaRPr lang="zh-CN" altLang="en-US" dirty="0"/>
          </a:p>
        </p:txBody>
      </p:sp>
      <p:sp>
        <p:nvSpPr>
          <p:cNvPr id="4" name="幻灯片图像占位符 3"/>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114029160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214256230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82710985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dirty="0" smtClean="0"/>
              <a:t>说明：“连接</a:t>
            </a:r>
            <a:r>
              <a:rPr lang="en-US" altLang="zh-CN" dirty="0" smtClean="0"/>
              <a:t>Internet</a:t>
            </a:r>
            <a:r>
              <a:rPr lang="zh-CN" altLang="en-US" dirty="0" smtClean="0"/>
              <a:t>”开关若被激活，则意味着控制器将使用一条默认路由来引导流量去往对应的外部网络。如果该开关不激活，则用户需要指定具体的路由前缀。</a:t>
            </a:r>
            <a:endParaRPr lang="zh-CN" altLang="en-US" dirty="0"/>
          </a:p>
        </p:txBody>
      </p:sp>
      <p:sp>
        <p:nvSpPr>
          <p:cNvPr id="4" name="幻灯片图像占位符 3"/>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126581901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smtClean="0"/>
              <a:t>互联信息：</a:t>
            </a:r>
            <a:endParaRPr lang="en-US" altLang="zh-CN" smtClean="0"/>
          </a:p>
          <a:p>
            <a:pPr lvl="1"/>
            <a:r>
              <a:rPr lang="zh-CN" altLang="en-US" smtClean="0"/>
              <a:t>选择连接外部网络的</a:t>
            </a:r>
            <a:r>
              <a:rPr lang="en-US" altLang="zh-CN" smtClean="0"/>
              <a:t>Border</a:t>
            </a:r>
            <a:r>
              <a:rPr lang="zh-CN" altLang="en-US" smtClean="0"/>
              <a:t>设备，选择去往外部网络的接口、互联地址、互联</a:t>
            </a:r>
            <a:r>
              <a:rPr lang="en-US" altLang="zh-CN" smtClean="0"/>
              <a:t>VLAN</a:t>
            </a:r>
            <a:r>
              <a:rPr lang="zh-CN" altLang="en-US" smtClean="0"/>
              <a:t>等。</a:t>
            </a:r>
            <a:endParaRPr lang="en-US" altLang="zh-CN" smtClean="0"/>
          </a:p>
          <a:p>
            <a:pPr lvl="1"/>
            <a:r>
              <a:rPr lang="zh-CN" altLang="en-US" smtClean="0"/>
              <a:t>注意：此时配置的互联地址，不能与</a:t>
            </a:r>
            <a:r>
              <a:rPr lang="en-US" altLang="zh-CN" smtClean="0"/>
              <a:t>Underlay</a:t>
            </a:r>
            <a:r>
              <a:rPr lang="zh-CN" altLang="en-US" smtClean="0"/>
              <a:t>自动化资源池冲突。此时配置的互联</a:t>
            </a:r>
            <a:r>
              <a:rPr lang="en-US" altLang="zh-CN" smtClean="0"/>
              <a:t>VLAN</a:t>
            </a:r>
            <a:r>
              <a:rPr lang="zh-CN" altLang="en-US" smtClean="0"/>
              <a:t>，属于</a:t>
            </a:r>
            <a:r>
              <a:rPr lang="en-US" altLang="zh-CN" smtClean="0"/>
              <a:t>Fabric</a:t>
            </a:r>
            <a:r>
              <a:rPr lang="zh-CN" altLang="en-US" smtClean="0"/>
              <a:t>全局资源池。</a:t>
            </a:r>
            <a:endParaRPr lang="en-US" altLang="zh-CN" smtClean="0"/>
          </a:p>
          <a:p>
            <a:r>
              <a:rPr lang="zh-CN" altLang="en-US" smtClean="0"/>
              <a:t>路由信息：</a:t>
            </a:r>
            <a:endParaRPr lang="en-US" altLang="zh-CN" smtClean="0"/>
          </a:p>
          <a:p>
            <a:pPr lvl="1"/>
            <a:r>
              <a:rPr lang="zh-CN" altLang="en-US" smtClean="0"/>
              <a:t>点击“应用”后，控制器将会为</a:t>
            </a:r>
            <a:r>
              <a:rPr lang="en-US" altLang="zh-CN" smtClean="0"/>
              <a:t>Border</a:t>
            </a:r>
            <a:r>
              <a:rPr lang="zh-CN" altLang="en-US" smtClean="0"/>
              <a:t>设备创建去往外部网络的静态路由（当且仅当该外部网络被虚拟网络调用时，静态路由才会下发到</a:t>
            </a:r>
            <a:r>
              <a:rPr lang="en-US" altLang="zh-CN" smtClean="0"/>
              <a:t>Border</a:t>
            </a:r>
            <a:r>
              <a:rPr lang="zh-CN" altLang="en-US" smtClean="0"/>
              <a:t>上）。</a:t>
            </a:r>
            <a:endParaRPr lang="zh-CN" altLang="en-US" dirty="0"/>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320602969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402097551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dirty="0" smtClean="0"/>
              <a:t>服务器配置：</a:t>
            </a:r>
            <a:endParaRPr lang="en-US" altLang="zh-CN" dirty="0" smtClean="0"/>
          </a:p>
          <a:p>
            <a:pPr lvl="1"/>
            <a:r>
              <a:rPr lang="zh-CN" altLang="en-US" dirty="0" smtClean="0"/>
              <a:t>服务器类型：该网络服务资源所关联的服务器资源。在本例中，我们所定义的网络服务资源是</a:t>
            </a:r>
            <a:r>
              <a:rPr lang="en-US" altLang="zh-CN" dirty="0" smtClean="0"/>
              <a:t>DHCP</a:t>
            </a:r>
            <a:r>
              <a:rPr lang="zh-CN" altLang="en-US" dirty="0" smtClean="0"/>
              <a:t>服务器和</a:t>
            </a:r>
            <a:r>
              <a:rPr lang="en-US" altLang="zh-CN" dirty="0" smtClean="0"/>
              <a:t>E-mail</a:t>
            </a:r>
            <a:r>
              <a:rPr lang="zh-CN" altLang="en-US" dirty="0" smtClean="0"/>
              <a:t>服务器。</a:t>
            </a:r>
          </a:p>
          <a:p>
            <a:pPr lvl="1"/>
            <a:r>
              <a:rPr lang="en-US" altLang="zh-CN" dirty="0" smtClean="0"/>
              <a:t>DHCP</a:t>
            </a:r>
            <a:r>
              <a:rPr lang="zh-CN" altLang="en-US" dirty="0" smtClean="0"/>
              <a:t>服务器：配置网络中的</a:t>
            </a:r>
            <a:r>
              <a:rPr lang="en-US" altLang="zh-CN" dirty="0" smtClean="0"/>
              <a:t>DHCP</a:t>
            </a:r>
            <a:r>
              <a:rPr lang="zh-CN" altLang="en-US" dirty="0" smtClean="0"/>
              <a:t>服务器地址，包括</a:t>
            </a:r>
            <a:r>
              <a:rPr lang="en-US" altLang="zh-CN" dirty="0" smtClean="0"/>
              <a:t>IPv4</a:t>
            </a:r>
            <a:r>
              <a:rPr lang="zh-CN" altLang="en-US" dirty="0" smtClean="0"/>
              <a:t>及</a:t>
            </a:r>
            <a:r>
              <a:rPr lang="en-US" altLang="zh-CN" dirty="0" smtClean="0"/>
              <a:t>IPv6</a:t>
            </a:r>
            <a:r>
              <a:rPr lang="zh-CN" altLang="en-US" dirty="0" smtClean="0"/>
              <a:t>地址。</a:t>
            </a:r>
          </a:p>
          <a:p>
            <a:pPr lvl="1"/>
            <a:r>
              <a:rPr lang="zh-CN" altLang="en-US" dirty="0" smtClean="0"/>
              <a:t>服务器互通源地址池：如果</a:t>
            </a:r>
            <a:r>
              <a:rPr lang="en-US" altLang="zh-CN" dirty="0" smtClean="0"/>
              <a:t>DHCP</a:t>
            </a:r>
            <a:r>
              <a:rPr lang="zh-CN" altLang="en-US" dirty="0" smtClean="0"/>
              <a:t>服务器中配置了</a:t>
            </a:r>
            <a:r>
              <a:rPr lang="en-US" altLang="zh-CN" dirty="0" smtClean="0"/>
              <a:t>IPv6</a:t>
            </a:r>
            <a:r>
              <a:rPr lang="zh-CN" altLang="en-US" dirty="0" smtClean="0"/>
              <a:t>地址池，此处必须配置，如果</a:t>
            </a:r>
            <a:r>
              <a:rPr lang="en-US" altLang="zh-CN" dirty="0" smtClean="0"/>
              <a:t>DHCP</a:t>
            </a:r>
            <a:r>
              <a:rPr lang="zh-CN" altLang="en-US" dirty="0" smtClean="0"/>
              <a:t>服务器仅配置了</a:t>
            </a:r>
            <a:r>
              <a:rPr lang="en-US" altLang="zh-CN" dirty="0" smtClean="0"/>
              <a:t>IPv4</a:t>
            </a:r>
            <a:r>
              <a:rPr lang="zh-CN" altLang="en-US" dirty="0" smtClean="0"/>
              <a:t>地址，则此处可以不用配置。</a:t>
            </a:r>
            <a:endParaRPr lang="zh-CN" altLang="en-US" dirty="0"/>
          </a:p>
        </p:txBody>
      </p:sp>
      <p:sp>
        <p:nvSpPr>
          <p:cNvPr id="4" name="幻灯片图像占位符 3"/>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280380583"/>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dirty="0" smtClean="0"/>
              <a:t>设备配置：</a:t>
            </a:r>
            <a:endParaRPr lang="en-US" altLang="zh-CN" dirty="0" smtClean="0"/>
          </a:p>
          <a:p>
            <a:pPr lvl="1"/>
            <a:r>
              <a:rPr lang="zh-CN" altLang="en-US" dirty="0" smtClean="0"/>
              <a:t>场景：如果选择“直连交换机”，则</a:t>
            </a:r>
            <a:r>
              <a:rPr lang="en-US" altLang="zh-CN" dirty="0" smtClean="0"/>
              <a:t>Border</a:t>
            </a:r>
            <a:r>
              <a:rPr lang="zh-CN" altLang="en-US" dirty="0" smtClean="0"/>
              <a:t>将互联端口以</a:t>
            </a:r>
            <a:r>
              <a:rPr lang="en-US" altLang="zh-CN" dirty="0" smtClean="0"/>
              <a:t>Tagged</a:t>
            </a:r>
            <a:r>
              <a:rPr lang="zh-CN" altLang="en-US" dirty="0" smtClean="0"/>
              <a:t>方式加入互联</a:t>
            </a:r>
            <a:r>
              <a:rPr lang="en-US" altLang="zh-CN" dirty="0" smtClean="0"/>
              <a:t>VLAN</a:t>
            </a:r>
            <a:r>
              <a:rPr lang="zh-CN" altLang="en-US" dirty="0" smtClean="0"/>
              <a:t>，连接网络资源；如果选择“直连服务器”，则交换机将互联端口以</a:t>
            </a:r>
            <a:r>
              <a:rPr lang="en-US" altLang="zh-CN" dirty="0" smtClean="0"/>
              <a:t>Untagged</a:t>
            </a:r>
            <a:r>
              <a:rPr lang="zh-CN" altLang="en-US" dirty="0" smtClean="0"/>
              <a:t>方式加入互联</a:t>
            </a:r>
            <a:r>
              <a:rPr lang="en-US" altLang="zh-CN" dirty="0" smtClean="0"/>
              <a:t>VLAN</a:t>
            </a:r>
            <a:r>
              <a:rPr lang="zh-CN" altLang="en-US" dirty="0" smtClean="0"/>
              <a:t>。</a:t>
            </a:r>
            <a:endParaRPr lang="en-US" altLang="zh-CN" dirty="0" smtClean="0"/>
          </a:p>
          <a:p>
            <a:pPr lvl="1"/>
            <a:r>
              <a:rPr lang="zh-CN" altLang="en-US" dirty="0" smtClean="0"/>
              <a:t>互联设备：选择核心交换机</a:t>
            </a:r>
            <a:r>
              <a:rPr lang="en-US" altLang="zh-CN" dirty="0" smtClean="0"/>
              <a:t>Border</a:t>
            </a:r>
            <a:r>
              <a:rPr lang="zh-CN" altLang="en-US" dirty="0" smtClean="0"/>
              <a:t>。该设备将作为边界网关，连接</a:t>
            </a:r>
            <a:r>
              <a:rPr lang="en-US" altLang="zh-CN" dirty="0" smtClean="0"/>
              <a:t>Fabric</a:t>
            </a:r>
            <a:r>
              <a:rPr lang="zh-CN" altLang="en-US" dirty="0" smtClean="0"/>
              <a:t>网络，以及网络外部的服务资源。</a:t>
            </a:r>
          </a:p>
          <a:p>
            <a:pPr lvl="1"/>
            <a:r>
              <a:rPr lang="zh-CN" altLang="en-US" dirty="0" smtClean="0"/>
              <a:t>互联端口：选择核心交换机</a:t>
            </a:r>
            <a:r>
              <a:rPr lang="en-US" altLang="zh-CN" dirty="0" smtClean="0"/>
              <a:t>Border</a:t>
            </a:r>
            <a:r>
              <a:rPr lang="zh-CN" altLang="en-US" dirty="0" smtClean="0"/>
              <a:t>上去往网络服务资源的接口。</a:t>
            </a:r>
          </a:p>
          <a:p>
            <a:pPr lvl="1"/>
            <a:r>
              <a:rPr lang="zh-CN" altLang="en-US" dirty="0" smtClean="0"/>
              <a:t>互联</a:t>
            </a:r>
            <a:r>
              <a:rPr lang="en-US" altLang="zh-CN" dirty="0" smtClean="0"/>
              <a:t>VLAN</a:t>
            </a:r>
            <a:r>
              <a:rPr lang="zh-CN" altLang="en-US" dirty="0" smtClean="0"/>
              <a:t>：选择核心交换机</a:t>
            </a:r>
            <a:r>
              <a:rPr lang="en-US" altLang="zh-CN" dirty="0" smtClean="0"/>
              <a:t>Border</a:t>
            </a:r>
            <a:r>
              <a:rPr lang="zh-CN" altLang="en-US" dirty="0" smtClean="0"/>
              <a:t>上去往网络服务资源的</a:t>
            </a:r>
            <a:r>
              <a:rPr lang="en-US" altLang="zh-CN" dirty="0" smtClean="0"/>
              <a:t>VLAN</a:t>
            </a:r>
            <a:r>
              <a:rPr lang="zh-CN" altLang="en-US" dirty="0" smtClean="0"/>
              <a:t>。</a:t>
            </a:r>
          </a:p>
          <a:p>
            <a:pPr lvl="1"/>
            <a:r>
              <a:rPr lang="zh-CN" altLang="en-US" dirty="0" smtClean="0"/>
              <a:t>互联</a:t>
            </a:r>
            <a:r>
              <a:rPr lang="en-US" altLang="zh-CN" dirty="0" smtClean="0"/>
              <a:t>IPv4</a:t>
            </a:r>
            <a:r>
              <a:rPr lang="zh-CN" altLang="en-US" dirty="0" smtClean="0"/>
              <a:t>或互联</a:t>
            </a:r>
            <a:r>
              <a:rPr lang="en-US" altLang="zh-CN" dirty="0" smtClean="0"/>
              <a:t>IPv6</a:t>
            </a:r>
            <a:r>
              <a:rPr lang="zh-CN" altLang="en-US" dirty="0" smtClean="0"/>
              <a:t>：核心交换机上，用于连接网络服务资源所在网络的本地接口地址。</a:t>
            </a:r>
          </a:p>
          <a:p>
            <a:pPr lvl="1"/>
            <a:r>
              <a:rPr lang="zh-CN" altLang="en-US" dirty="0" smtClean="0"/>
              <a:t>对端</a:t>
            </a:r>
            <a:r>
              <a:rPr lang="en-US" altLang="zh-CN" dirty="0" smtClean="0"/>
              <a:t>IPv4</a:t>
            </a:r>
            <a:r>
              <a:rPr lang="zh-CN" altLang="en-US" dirty="0" smtClean="0"/>
              <a:t>或对端</a:t>
            </a:r>
            <a:r>
              <a:rPr lang="en-US" altLang="zh-CN" dirty="0" smtClean="0"/>
              <a:t>IPv6</a:t>
            </a:r>
            <a:r>
              <a:rPr lang="zh-CN" altLang="en-US" dirty="0" smtClean="0"/>
              <a:t>：对端设备的地址。</a:t>
            </a:r>
          </a:p>
          <a:p>
            <a:pPr lvl="1"/>
            <a:r>
              <a:rPr lang="zh-CN" altLang="en-US" dirty="0" smtClean="0"/>
              <a:t>掩码：网络掩码。</a:t>
            </a:r>
          </a:p>
          <a:p>
            <a:pPr lvl="0"/>
            <a:r>
              <a:rPr lang="zh-CN" altLang="en-US" dirty="0" smtClean="0"/>
              <a:t>注意：此时配置的互联地址，不能与</a:t>
            </a:r>
            <a:r>
              <a:rPr lang="en-US" altLang="zh-CN" dirty="0" smtClean="0"/>
              <a:t>Underlay</a:t>
            </a:r>
            <a:r>
              <a:rPr lang="zh-CN" altLang="en-US" dirty="0" smtClean="0"/>
              <a:t>自动化资源池冲突。此时配置的互联</a:t>
            </a:r>
            <a:r>
              <a:rPr lang="en-US" altLang="zh-CN" dirty="0" smtClean="0"/>
              <a:t>VLAN</a:t>
            </a:r>
            <a:r>
              <a:rPr lang="zh-CN" altLang="en-US" dirty="0" smtClean="0"/>
              <a:t>，属于</a:t>
            </a:r>
            <a:r>
              <a:rPr lang="en-US" altLang="zh-CN" dirty="0" smtClean="0"/>
              <a:t>Fabric</a:t>
            </a:r>
            <a:r>
              <a:rPr lang="zh-CN" altLang="en-US" dirty="0" smtClean="0"/>
              <a:t>全局资源池。</a:t>
            </a:r>
          </a:p>
          <a:p>
            <a:pPr lvl="0"/>
            <a:endParaRPr lang="zh-CN" altLang="en-US" dirty="0"/>
          </a:p>
        </p:txBody>
      </p:sp>
      <p:sp>
        <p:nvSpPr>
          <p:cNvPr id="4" name="幻灯片图像占位符 3"/>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594322955"/>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05752405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smtClean="0"/>
              <a:t>策略联动：</a:t>
            </a:r>
            <a:endParaRPr lang="en-US" altLang="zh-CN" smtClean="0"/>
          </a:p>
          <a:p>
            <a:pPr lvl="1"/>
            <a:r>
              <a:rPr lang="zh-CN" altLang="en-US" smtClean="0"/>
              <a:t>配置策略联动管理</a:t>
            </a:r>
            <a:r>
              <a:rPr lang="en-US" altLang="zh-CN" smtClean="0"/>
              <a:t>VLAN</a:t>
            </a:r>
            <a:r>
              <a:rPr lang="zh-CN" altLang="en-US" smtClean="0"/>
              <a:t>和策略联动管理</a:t>
            </a:r>
            <a:r>
              <a:rPr lang="en-US" altLang="zh-CN" smtClean="0"/>
              <a:t>IP</a:t>
            </a:r>
            <a:r>
              <a:rPr lang="zh-CN" altLang="en-US" smtClean="0"/>
              <a:t>。</a:t>
            </a:r>
            <a:endParaRPr lang="en-US" altLang="zh-CN" smtClean="0"/>
          </a:p>
          <a:p>
            <a:pPr lvl="1"/>
            <a:r>
              <a:rPr lang="zh-CN" altLang="en-US" smtClean="0"/>
              <a:t>此时配置的管理</a:t>
            </a:r>
            <a:r>
              <a:rPr lang="en-US" altLang="zh-CN" smtClean="0"/>
              <a:t>IP</a:t>
            </a:r>
            <a:r>
              <a:rPr lang="zh-CN" altLang="en-US" smtClean="0"/>
              <a:t>，不能与</a:t>
            </a:r>
            <a:r>
              <a:rPr lang="en-US" altLang="zh-CN" smtClean="0"/>
              <a:t>Underlay</a:t>
            </a:r>
            <a:r>
              <a:rPr lang="zh-CN" altLang="en-US" smtClean="0"/>
              <a:t>自动化资源池冲突。此时配置的管理</a:t>
            </a:r>
            <a:r>
              <a:rPr lang="en-US" altLang="zh-CN" smtClean="0"/>
              <a:t>VLAN</a:t>
            </a:r>
            <a:r>
              <a:rPr lang="zh-CN" altLang="en-US" smtClean="0"/>
              <a:t>，属于</a:t>
            </a:r>
            <a:r>
              <a:rPr lang="en-US" altLang="zh-CN" smtClean="0"/>
              <a:t>Fabric</a:t>
            </a:r>
            <a:r>
              <a:rPr lang="zh-CN" altLang="en-US" smtClean="0"/>
              <a:t>全局资源池。</a:t>
            </a:r>
            <a:endParaRPr lang="zh-CN" altLang="en-US" dirty="0"/>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385275482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337832120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354966728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843090535"/>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2704094687"/>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134480078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19350768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smtClean="0"/>
              <a:t>用户接入配置维护的是当前</a:t>
            </a:r>
            <a:r>
              <a:rPr lang="en-US" altLang="zh-CN" smtClean="0"/>
              <a:t>VN</a:t>
            </a:r>
            <a:r>
              <a:rPr lang="zh-CN" altLang="en-US" smtClean="0"/>
              <a:t>的接入点。</a:t>
            </a:r>
            <a:endParaRPr lang="en-US" altLang="zh-CN" smtClean="0"/>
          </a:p>
          <a:p>
            <a:pPr lvl="0"/>
            <a:r>
              <a:rPr lang="zh-CN" altLang="en-US" smtClean="0"/>
              <a:t>用户有线接入：由于希望</a:t>
            </a:r>
            <a:r>
              <a:rPr lang="en-US" altLang="zh-CN" smtClean="0"/>
              <a:t>OA</a:t>
            </a:r>
            <a:r>
              <a:rPr lang="zh-CN" altLang="en-US" smtClean="0"/>
              <a:t>虚拟网络的有线用户能够从</a:t>
            </a:r>
            <a:r>
              <a:rPr lang="en-US" altLang="zh-CN" smtClean="0"/>
              <a:t>ACC_1</a:t>
            </a:r>
            <a:r>
              <a:rPr lang="zh-CN" altLang="en-US" smtClean="0"/>
              <a:t>和</a:t>
            </a:r>
            <a:r>
              <a:rPr lang="en-US" altLang="zh-CN" smtClean="0"/>
              <a:t>ACC_2</a:t>
            </a:r>
            <a:r>
              <a:rPr lang="zh-CN" altLang="en-US" smtClean="0"/>
              <a:t>接入进来，并且都需要进行认证，因此配置用户有线接入时选择这两台交换机相应开启了认证的接口。</a:t>
            </a:r>
          </a:p>
          <a:p>
            <a:pPr lvl="2"/>
            <a:endParaRPr lang="zh-CN" altLang="en-US" dirty="0"/>
          </a:p>
        </p:txBody>
      </p:sp>
      <p:sp>
        <p:nvSpPr>
          <p:cNvPr id="4" name="幻灯片图像占位符 3"/>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3692415480"/>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smtClean="0"/>
              <a:t>用户无线接入：在无线接入配置中选择</a:t>
            </a:r>
            <a:r>
              <a:rPr lang="en-US" altLang="zh-CN" smtClean="0"/>
              <a:t>Border</a:t>
            </a:r>
            <a:r>
              <a:rPr lang="zh-CN" altLang="en-US" smtClean="0"/>
              <a:t>，</a:t>
            </a:r>
            <a:r>
              <a:rPr lang="en-US" altLang="zh-CN" smtClean="0"/>
              <a:t>Border</a:t>
            </a:r>
            <a:r>
              <a:rPr lang="zh-CN" altLang="en-US" smtClean="0"/>
              <a:t>是一台具备随板</a:t>
            </a:r>
            <a:r>
              <a:rPr lang="en-US" altLang="zh-CN" smtClean="0"/>
              <a:t>AC</a:t>
            </a:r>
            <a:r>
              <a:rPr lang="zh-CN" altLang="en-US" smtClean="0"/>
              <a:t>功能的交换机，它将通过</a:t>
            </a:r>
            <a:r>
              <a:rPr lang="en-US" altLang="zh-CN" smtClean="0"/>
              <a:t>AC</a:t>
            </a:r>
            <a:r>
              <a:rPr lang="zh-CN" altLang="en-US" smtClean="0"/>
              <a:t>管理下面的</a:t>
            </a:r>
            <a:r>
              <a:rPr lang="en-US" altLang="zh-CN" smtClean="0"/>
              <a:t>AP</a:t>
            </a:r>
            <a:r>
              <a:rPr lang="zh-CN" altLang="en-US" smtClean="0"/>
              <a:t>设备，提供无线接入。</a:t>
            </a:r>
            <a:endParaRPr lang="zh-CN" altLang="en-US" dirty="0" smtClean="0"/>
          </a:p>
        </p:txBody>
      </p:sp>
      <p:sp>
        <p:nvSpPr>
          <p:cNvPr id="4" name="幻灯片图像占位符 3"/>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2513390699"/>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133523811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4249630045"/>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17064615"/>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134083066"/>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3607043860"/>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81917697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备注占位符 4"/>
          <p:cNvSpPr>
            <a:spLocks noGrp="1"/>
          </p:cNvSpPr>
          <p:nvPr>
            <p:ph type="body" idx="1"/>
          </p:nvPr>
        </p:nvSpPr>
        <p:spPr/>
        <p:txBody>
          <a:bodyPr/>
          <a:lstStyle/>
          <a:p>
            <a:r>
              <a:rPr lang="zh-CN" altLang="en-US" smtClean="0"/>
              <a:t>当一个源安全组存在到多个目的组的策略时，需要通过优先级区分对不同策略的匹配顺序，比如目的组为资源组的时候，由于目的地址可能存在重复，所以需要通过手动调整策略的优先级实现对某策略的优先匹配。</a:t>
            </a:r>
          </a:p>
          <a:p>
            <a:endParaRPr lang="zh-CN" altLang="en-US" dirty="0"/>
          </a:p>
        </p:txBody>
      </p:sp>
      <p:sp>
        <p:nvSpPr>
          <p:cNvPr id="3" name="幻灯片图像占位符 2"/>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1125072122"/>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428380737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smtClean="0"/>
              <a:t>以用户“</a:t>
            </a:r>
            <a:r>
              <a:rPr lang="en-US" altLang="zh-CN" smtClean="0"/>
              <a:t>kris</a:t>
            </a:r>
            <a:r>
              <a:rPr lang="zh-CN" altLang="en-US" smtClean="0"/>
              <a:t>”为例（</a:t>
            </a:r>
            <a:r>
              <a:rPr lang="en-US" altLang="zh-CN" smtClean="0"/>
              <a:t>RD</a:t>
            </a:r>
            <a:r>
              <a:rPr lang="zh-CN" altLang="en-US" smtClean="0"/>
              <a:t>用户），取消勾选“下次登录修改密码”，以及对于</a:t>
            </a:r>
            <a:r>
              <a:rPr lang="en-US" altLang="zh-CN" smtClean="0"/>
              <a:t>RD</a:t>
            </a:r>
            <a:r>
              <a:rPr lang="zh-CN" altLang="en-US" smtClean="0"/>
              <a:t>内的用户，无需使用</a:t>
            </a:r>
            <a:r>
              <a:rPr lang="en-US" altLang="zh-CN" smtClean="0"/>
              <a:t>Portal</a:t>
            </a:r>
            <a:r>
              <a:rPr lang="zh-CN" altLang="en-US" smtClean="0"/>
              <a:t>认证，在“允许登录方式”中取消勾选</a:t>
            </a:r>
            <a:r>
              <a:rPr lang="en-US" altLang="zh-CN" smtClean="0"/>
              <a:t>Portal</a:t>
            </a:r>
            <a:r>
              <a:rPr lang="zh-CN" altLang="en-US" smtClean="0"/>
              <a:t>。</a:t>
            </a:r>
            <a:endParaRPr lang="zh-CN" altLang="en-US" dirty="0"/>
          </a:p>
        </p:txBody>
      </p:sp>
      <p:sp>
        <p:nvSpPr>
          <p:cNvPr id="4" name="幻灯片图像占位符 3"/>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2990741282"/>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dirty="0" smtClean="0"/>
          </a:p>
        </p:txBody>
      </p:sp>
    </p:spTree>
    <p:extLst>
      <p:ext uri="{BB962C8B-B14F-4D97-AF65-F5344CB8AC3E}">
        <p14:creationId xmlns:p14="http://schemas.microsoft.com/office/powerpoint/2010/main" val="3211716812"/>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smtClean="0"/>
              <a:t>配置授权结果后，还需要与创建的站点进行绑定。</a:t>
            </a:r>
            <a:endParaRPr lang="en-US" altLang="zh-CN" smtClean="0"/>
          </a:p>
          <a:p>
            <a:r>
              <a:rPr lang="en-US" altLang="zh-CN" smtClean="0"/>
              <a:t>iMaster NCE-Campus</a:t>
            </a:r>
            <a:r>
              <a:rPr lang="zh-CN" altLang="en-US" smtClean="0"/>
              <a:t>存在缺省授权结果允许接入和拒绝接入，缺省模板绑定所有站点，不可修改和删除。</a:t>
            </a:r>
          </a:p>
          <a:p>
            <a:endParaRPr lang="zh-CN" altLang="en-US" dirty="0"/>
          </a:p>
        </p:txBody>
      </p:sp>
      <p:sp>
        <p:nvSpPr>
          <p:cNvPr id="4" name="幻灯片图像占位符 3"/>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793221068"/>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pPr lvl="0"/>
            <a:r>
              <a:rPr lang="zh-CN" altLang="en-US" smtClean="0"/>
              <a:t>授权规则所定义的是各种条件，当满足这些条件时，用户将获得相应的授权结果（即终端用户认证通过后具备哪些权限由授权结果指定）。</a:t>
            </a:r>
            <a:endParaRPr lang="en-US" altLang="zh-CN" smtClean="0"/>
          </a:p>
          <a:p>
            <a:r>
              <a:rPr lang="en-US" altLang="zh-CN" smtClean="0"/>
              <a:t>iMaster NCE-Campus</a:t>
            </a:r>
            <a:r>
              <a:rPr lang="zh-CN" altLang="en-US" smtClean="0"/>
              <a:t>存在缺省授权规则</a:t>
            </a:r>
            <a:r>
              <a:rPr lang="en-US" altLang="zh-CN" smtClean="0"/>
              <a:t>Default</a:t>
            </a:r>
            <a:r>
              <a:rPr lang="zh-CN" altLang="en-US" smtClean="0"/>
              <a:t>，授权结果为拒绝接入，缺省模板支持修改，可以修改为其他授权结果。</a:t>
            </a:r>
            <a:endParaRPr lang="zh-CN" altLang="en-US" dirty="0" smtClean="0"/>
          </a:p>
        </p:txBody>
      </p:sp>
      <p:sp>
        <p:nvSpPr>
          <p:cNvPr id="4" name="幻灯片图像占位符 3"/>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3433551926"/>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544310977"/>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endParaRPr lang="zh-CN" altLang="en-US" dirty="0"/>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1464272114"/>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endParaRPr lang="zh-CN" altLang="en-US" dirty="0"/>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305416215"/>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endParaRPr lang="zh-CN" altLang="en-US" dirty="0"/>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2481673644"/>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smtClean="0"/>
              <a:t>如图，以销售人员的无线业务为例。</a:t>
            </a:r>
            <a:endParaRPr lang="zh-CN" altLang="en-US" dirty="0"/>
          </a:p>
        </p:txBody>
      </p:sp>
      <p:sp>
        <p:nvSpPr>
          <p:cNvPr id="4" name="幻灯片图像占位符 3"/>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238450287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endParaRPr lang="zh-CN" altLang="en-US" dirty="0"/>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29542261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endParaRPr lang="zh-CN" altLang="en-US" dirty="0"/>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3329775490"/>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pPr marL="228600" indent="-228600">
              <a:buFont typeface="+mj-lt"/>
              <a:buAutoNum type="arabicPeriod"/>
            </a:pPr>
            <a:r>
              <a:rPr lang="zh-CN" altLang="en-US" dirty="0" smtClean="0"/>
              <a:t>单个创建和批量创建。</a:t>
            </a:r>
            <a:endParaRPr lang="en-US" altLang="zh-CN" dirty="0" smtClean="0"/>
          </a:p>
          <a:p>
            <a:pPr lvl="1"/>
            <a:r>
              <a:rPr lang="zh-CN" altLang="en-US" dirty="0" smtClean="0"/>
              <a:t>单个创建：对于添加少量站点的场景，可以单个创建。</a:t>
            </a:r>
            <a:endParaRPr lang="en-US" altLang="zh-CN" dirty="0" smtClean="0"/>
          </a:p>
          <a:p>
            <a:pPr lvl="1"/>
            <a:r>
              <a:rPr lang="zh-CN" altLang="en-US" dirty="0" smtClean="0"/>
              <a:t>批量创建：对于添加大量站点的场景，可以批量创建。</a:t>
            </a:r>
          </a:p>
          <a:p>
            <a:pPr marL="228600" indent="-228600">
              <a:buFont typeface="+mj-lt"/>
              <a:buAutoNum type="arabicPeriod"/>
            </a:pPr>
            <a:r>
              <a:rPr lang="en-US" altLang="zh-CN" dirty="0" smtClean="0"/>
              <a:t>ACD</a:t>
            </a:r>
          </a:p>
          <a:p>
            <a:endParaRPr lang="zh-CN" altLang="en-US" dirty="0"/>
          </a:p>
        </p:txBody>
      </p:sp>
      <p:sp>
        <p:nvSpPr>
          <p:cNvPr id="7" name="幻灯片图像占位符 6"/>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743651918"/>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799167120"/>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36241668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2#总标题">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21"/>
            <a:ext cx="12192000" cy="5602224"/>
          </a:xfrm>
          <a:prstGeom prst="rect">
            <a:avLst/>
          </a:prstGeom>
          <a:ln>
            <a:noFill/>
            <a:prstDash val="dash"/>
          </a:ln>
        </p:spPr>
      </p:pic>
      <p:sp>
        <p:nvSpPr>
          <p:cNvPr id="8" name="L 形 7"/>
          <p:cNvSpPr/>
          <p:nvPr userDrawn="1"/>
        </p:nvSpPr>
        <p:spPr>
          <a:xfrm rot="16200000" flipH="1">
            <a:off x="6634196" y="2578036"/>
            <a:ext cx="701032" cy="717656"/>
          </a:xfrm>
          <a:prstGeom prst="corner">
            <a:avLst>
              <a:gd name="adj1" fmla="val 3243"/>
              <a:gd name="adj2" fmla="val 3048"/>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900" baseline="0">
              <a:latin typeface="Huawei Sans" panose="020C0503030203020204" pitchFamily="34" charset="0"/>
              <a:ea typeface="方正兰亭黑简体" panose="02000000000000000000" pitchFamily="2" charset="-122"/>
            </a:endParaRPr>
          </a:p>
        </p:txBody>
      </p:sp>
      <p:sp>
        <p:nvSpPr>
          <p:cNvPr id="9" name="Title 1">
            <a:extLst>
              <a:ext uri="{FF2B5EF4-FFF2-40B4-BE49-F238E27FC236}">
                <a16:creationId xmlns="" xmlns:a16="http://schemas.microsoft.com/office/drawing/2014/main" id="{8227DEE9-8BE9-0D49-BF96-9E83C5312E00}"/>
              </a:ext>
            </a:extLst>
          </p:cNvPr>
          <p:cNvSpPr>
            <a:spLocks noGrp="1"/>
          </p:cNvSpPr>
          <p:nvPr>
            <p:ph type="ctrTitle" hasCustomPrompt="1"/>
          </p:nvPr>
        </p:nvSpPr>
        <p:spPr>
          <a:xfrm>
            <a:off x="916560" y="907092"/>
            <a:ext cx="8125839" cy="690255"/>
          </a:xfrm>
          <a:prstGeom prst="rect">
            <a:avLst/>
          </a:prstGeom>
          <a:ln>
            <a:noFill/>
            <a:prstDash val="dash"/>
          </a:ln>
        </p:spPr>
        <p:txBody>
          <a:bodyPr lIns="0" tIns="0" rIns="0" bIns="0" anchor="t">
            <a:normAutofit/>
          </a:bodyPr>
          <a:lstStyle>
            <a:lvl1pPr>
              <a:defRPr lang="en-US" sz="3200" b="0" i="0" baseline="0" dirty="0">
                <a:latin typeface="Huawei Sans" panose="020C0503030203020204" pitchFamily="34" charset="0"/>
                <a:ea typeface="方正兰亭黑简体" panose="02000000000000000000" pitchFamily="2" charset="-122"/>
              </a:defRPr>
            </a:lvl1pPr>
          </a:lstStyle>
          <a:p>
            <a:pPr lvl="0" defTabSz="914034">
              <a:lnSpc>
                <a:spcPts val="3439"/>
              </a:lnSpc>
            </a:pPr>
            <a:r>
              <a:rPr lang="zh-CN" altLang="en-US" dirty="0"/>
              <a:t>单击此处添加标题</a:t>
            </a:r>
            <a:endParaRPr lang="en-US" dirty="0"/>
          </a:p>
        </p:txBody>
      </p:sp>
      <p:sp>
        <p:nvSpPr>
          <p:cNvPr id="10" name="Text Placeholder 5">
            <a:extLst>
              <a:ext uri="{FF2B5EF4-FFF2-40B4-BE49-F238E27FC236}">
                <a16:creationId xmlns="" xmlns:a16="http://schemas.microsoft.com/office/drawing/2014/main" id="{2F43DA98-D48D-6947-95EF-BA3B05E68822}"/>
              </a:ext>
            </a:extLst>
          </p:cNvPr>
          <p:cNvSpPr>
            <a:spLocks noGrp="1"/>
          </p:cNvSpPr>
          <p:nvPr>
            <p:ph type="body" sz="quarter" idx="10" hasCustomPrompt="1"/>
          </p:nvPr>
        </p:nvSpPr>
        <p:spPr>
          <a:xfrm>
            <a:off x="916561" y="1949372"/>
            <a:ext cx="8125840" cy="643926"/>
          </a:xfrm>
          <a:prstGeom prst="rect">
            <a:avLst/>
          </a:prstGeom>
        </p:spPr>
        <p:txBody>
          <a:bodyPr vert="horz" lIns="0" tIns="0" rIns="0" bIns="0" rtlCol="0">
            <a:noAutofit/>
          </a:bodyPr>
          <a:lstStyle>
            <a:lvl1pPr marL="228600" indent="-228600" fontAlgn="base">
              <a:buNone/>
              <a:defRPr lang="en-US" sz="1400" baseline="0" dirty="0">
                <a:latin typeface="Huawei Sans" panose="020C0503030203020204" pitchFamily="34" charset="0"/>
                <a:ea typeface="方正兰亭黑简体" panose="02000000000000000000" pitchFamily="2" charset="-122"/>
                <a:cs typeface="Huawei Sans" panose="020C0503030203020204" pitchFamily="34" charset="0"/>
              </a:defRPr>
            </a:lvl1pPr>
          </a:lstStyle>
          <a:p>
            <a:pPr marL="0" lvl="0" indent="0">
              <a:lnSpc>
                <a:spcPct val="100000"/>
              </a:lnSpc>
              <a:spcBef>
                <a:spcPts val="0"/>
              </a:spcBef>
            </a:pPr>
            <a:r>
              <a:rPr lang="zh-CN" altLang="en-US" dirty="0" smtClean="0"/>
              <a:t>单击此处添加文本</a:t>
            </a:r>
            <a:endParaRPr lang="en-US" dirty="0"/>
          </a:p>
        </p:txBody>
      </p:sp>
    </p:spTree>
    <p:extLst>
      <p:ext uri="{BB962C8B-B14F-4D97-AF65-F5344CB8AC3E}">
        <p14:creationId xmlns:p14="http://schemas.microsoft.com/office/powerpoint/2010/main" val="1391813821"/>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1#修订记录">
    <p:spTree>
      <p:nvGrpSpPr>
        <p:cNvPr id="1" name=""/>
        <p:cNvGrpSpPr/>
        <p:nvPr/>
      </p:nvGrpSpPr>
      <p:grpSpPr>
        <a:xfrm>
          <a:off x="0" y="0"/>
          <a:ext cx="0" cy="0"/>
          <a:chOff x="0" y="0"/>
          <a:chExt cx="0" cy="0"/>
        </a:xfrm>
      </p:grpSpPr>
      <p:graphicFrame>
        <p:nvGraphicFramePr>
          <p:cNvPr id="3" name="Group 3"/>
          <p:cNvGraphicFramePr>
            <a:graphicFrameLocks noGrp="1"/>
          </p:cNvGraphicFramePr>
          <p:nvPr userDrawn="1">
            <p:extLst/>
          </p:nvPr>
        </p:nvGraphicFramePr>
        <p:xfrm>
          <a:off x="1007140" y="1398424"/>
          <a:ext cx="10194260" cy="1082675"/>
        </p:xfrm>
        <a:graphic>
          <a:graphicData uri="http://schemas.openxmlformats.org/drawingml/2006/table">
            <a:tbl>
              <a:tblPr/>
              <a:tblGrid>
                <a:gridCol w="3119031">
                  <a:extLst>
                    <a:ext uri="{9D8B030D-6E8A-4147-A177-3AD203B41FA5}">
                      <a16:colId xmlns="" xmlns:a16="http://schemas.microsoft.com/office/drawing/2014/main" val="20000"/>
                    </a:ext>
                  </a:extLst>
                </a:gridCol>
                <a:gridCol w="1967450">
                  <a:extLst>
                    <a:ext uri="{9D8B030D-6E8A-4147-A177-3AD203B41FA5}">
                      <a16:colId xmlns="" xmlns:a16="http://schemas.microsoft.com/office/drawing/2014/main" val="20001"/>
                    </a:ext>
                  </a:extLst>
                </a:gridCol>
                <a:gridCol w="3023155">
                  <a:extLst>
                    <a:ext uri="{9D8B030D-6E8A-4147-A177-3AD203B41FA5}">
                      <a16:colId xmlns="" xmlns:a16="http://schemas.microsoft.com/office/drawing/2014/main" val="20002"/>
                    </a:ext>
                  </a:extLst>
                </a:gridCol>
                <a:gridCol w="2084624">
                  <a:extLst>
                    <a:ext uri="{9D8B030D-6E8A-4147-A177-3AD203B41FA5}">
                      <a16:colId xmlns="" xmlns:a16="http://schemas.microsoft.com/office/drawing/2014/main" val="20003"/>
                    </a:ext>
                  </a:extLst>
                </a:gridCol>
              </a:tblGrid>
              <a:tr h="5778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课程编码</a:t>
                      </a:r>
                    </a:p>
                  </a:txBody>
                  <a:tcPr marL="102659" marR="102659" marT="40053" marB="40053"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适用产品</a:t>
                      </a:r>
                    </a:p>
                  </a:txBody>
                  <a:tcPr marL="102659" marR="102659" marT="40053" marB="4005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产品版本</a:t>
                      </a:r>
                    </a:p>
                  </a:txBody>
                  <a:tcPr marL="102659" marR="102659" marT="40053" marB="4005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课程版本</a:t>
                      </a:r>
                      <a:endParaRPr kumimoji="1" lang="en-US" altLang="zh-CN"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2659" marR="102659" marT="40053" marB="40053"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0"/>
                  </a:ext>
                </a:extLst>
              </a:tr>
              <a:tr h="504825">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1"/>
                  </a:ext>
                </a:extLst>
              </a:tr>
            </a:tbl>
          </a:graphicData>
        </a:graphic>
      </p:graphicFrame>
      <p:graphicFrame>
        <p:nvGraphicFramePr>
          <p:cNvPr id="4" name="Group 21"/>
          <p:cNvGraphicFramePr>
            <a:graphicFrameLocks noGrp="1"/>
          </p:cNvGraphicFramePr>
          <p:nvPr userDrawn="1">
            <p:extLst/>
          </p:nvPr>
        </p:nvGraphicFramePr>
        <p:xfrm>
          <a:off x="1007140" y="2920836"/>
          <a:ext cx="10177327" cy="2549525"/>
        </p:xfrm>
        <a:graphic>
          <a:graphicData uri="http://schemas.openxmlformats.org/drawingml/2006/table">
            <a:tbl>
              <a:tblPr/>
              <a:tblGrid>
                <a:gridCol w="3119030">
                  <a:extLst>
                    <a:ext uri="{9D8B030D-6E8A-4147-A177-3AD203B41FA5}">
                      <a16:colId xmlns="" xmlns:a16="http://schemas.microsoft.com/office/drawing/2014/main" val="20000"/>
                    </a:ext>
                  </a:extLst>
                </a:gridCol>
                <a:gridCol w="1967450">
                  <a:extLst>
                    <a:ext uri="{9D8B030D-6E8A-4147-A177-3AD203B41FA5}">
                      <a16:colId xmlns="" xmlns:a16="http://schemas.microsoft.com/office/drawing/2014/main" val="20001"/>
                    </a:ext>
                  </a:extLst>
                </a:gridCol>
                <a:gridCol w="3023155">
                  <a:extLst>
                    <a:ext uri="{9D8B030D-6E8A-4147-A177-3AD203B41FA5}">
                      <a16:colId xmlns="" xmlns:a16="http://schemas.microsoft.com/office/drawing/2014/main" val="20002"/>
                    </a:ext>
                  </a:extLst>
                </a:gridCol>
                <a:gridCol w="2067692">
                  <a:extLst>
                    <a:ext uri="{9D8B030D-6E8A-4147-A177-3AD203B41FA5}">
                      <a16:colId xmlns="" xmlns:a16="http://schemas.microsoft.com/office/drawing/2014/main" val="20003"/>
                    </a:ext>
                  </a:extLst>
                </a:gridCol>
              </a:tblGrid>
              <a:tr h="5778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作者</a:t>
                      </a:r>
                      <a:r>
                        <a:rPr kumimoji="1" lang="en-US" altLang="zh-CN"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a:t>
                      </a: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工号</a:t>
                      </a:r>
                    </a:p>
                  </a:txBody>
                  <a:tcPr marL="102659" marR="102659" marT="40053" marB="40053"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时间</a:t>
                      </a:r>
                    </a:p>
                  </a:txBody>
                  <a:tcPr marL="102659" marR="102659" marT="40053" marB="4005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审核人</a:t>
                      </a:r>
                      <a:r>
                        <a:rPr kumimoji="1" lang="en-US" altLang="zh-CN"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a:t>
                      </a: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工号</a:t>
                      </a:r>
                    </a:p>
                  </a:txBody>
                  <a:tcPr marL="102659" marR="102659" marT="40053" marB="4005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zh-CN"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新开发/优化</a:t>
                      </a:r>
                      <a:endPar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2659" marR="102659" marT="40053" marB="40053"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0"/>
                  </a:ext>
                </a:extLst>
              </a:tr>
              <a:tr h="504825">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1"/>
                  </a:ext>
                </a:extLst>
              </a:tr>
              <a:tr h="4889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2"/>
                  </a:ext>
                </a:extLst>
              </a:tr>
              <a:tr h="4889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3"/>
                  </a:ext>
                </a:extLst>
              </a:tr>
              <a:tr h="4889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4"/>
                  </a:ext>
                </a:extLst>
              </a:tr>
            </a:tbl>
          </a:graphicData>
        </a:graphic>
      </p:graphicFrame>
      <p:sp>
        <p:nvSpPr>
          <p:cNvPr id="5" name="文本占位符 7"/>
          <p:cNvSpPr>
            <a:spLocks noGrp="1"/>
          </p:cNvSpPr>
          <p:nvPr>
            <p:ph type="body" sz="quarter" idx="17" hasCustomPrompt="1"/>
          </p:nvPr>
        </p:nvSpPr>
        <p:spPr>
          <a:xfrm>
            <a:off x="1007139" y="1969626"/>
            <a:ext cx="3119030" cy="504887"/>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课程编码</a:t>
            </a:r>
          </a:p>
        </p:txBody>
      </p:sp>
      <p:sp>
        <p:nvSpPr>
          <p:cNvPr id="6" name="文本占位符 7"/>
          <p:cNvSpPr>
            <a:spLocks noGrp="1"/>
          </p:cNvSpPr>
          <p:nvPr>
            <p:ph type="body" sz="quarter" idx="18" hasCustomPrompt="1"/>
          </p:nvPr>
        </p:nvSpPr>
        <p:spPr>
          <a:xfrm>
            <a:off x="4126170" y="1969626"/>
            <a:ext cx="1967450" cy="504887"/>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适用的产品</a:t>
            </a:r>
          </a:p>
        </p:txBody>
      </p:sp>
      <p:sp>
        <p:nvSpPr>
          <p:cNvPr id="7" name="文本占位符 7"/>
          <p:cNvSpPr>
            <a:spLocks noGrp="1"/>
          </p:cNvSpPr>
          <p:nvPr>
            <p:ph type="body" sz="quarter" idx="19" hasCustomPrompt="1"/>
          </p:nvPr>
        </p:nvSpPr>
        <p:spPr>
          <a:xfrm>
            <a:off x="6093619" y="1969626"/>
            <a:ext cx="3023155" cy="504887"/>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en-US" altLang="zh-CN" dirty="0"/>
              <a:t>V5R2</a:t>
            </a:r>
            <a:endParaRPr lang="zh-CN" altLang="en-US" dirty="0"/>
          </a:p>
        </p:txBody>
      </p:sp>
      <p:sp>
        <p:nvSpPr>
          <p:cNvPr id="8" name="文本占位符 7"/>
          <p:cNvSpPr>
            <a:spLocks noGrp="1"/>
          </p:cNvSpPr>
          <p:nvPr>
            <p:ph type="body" sz="quarter" idx="20" hasCustomPrompt="1"/>
          </p:nvPr>
        </p:nvSpPr>
        <p:spPr>
          <a:xfrm>
            <a:off x="9116775" y="1969626"/>
            <a:ext cx="2084625" cy="504887"/>
          </a:xfrm>
          <a:prstGeom prst="rect">
            <a:avLst/>
          </a:prstGeom>
        </p:spPr>
        <p:txBody>
          <a:bodyPr anchor="ctr"/>
          <a:lstStyle>
            <a:lvl1pPr algn="ctr">
              <a:lnSpc>
                <a:spcPct val="100000"/>
              </a:lnSpc>
              <a:buNone/>
              <a:defRPr lang="zh-CN" altLang="en-US" sz="1599" kern="1200" baseline="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en-US" altLang="zh-CN" dirty="0" smtClean="0"/>
              <a:t>V1.0</a:t>
            </a:r>
            <a:endParaRPr lang="zh-CN" altLang="en-US" dirty="0"/>
          </a:p>
        </p:txBody>
      </p:sp>
      <p:sp>
        <p:nvSpPr>
          <p:cNvPr id="9" name="文本占位符 7"/>
          <p:cNvSpPr>
            <a:spLocks noGrp="1"/>
          </p:cNvSpPr>
          <p:nvPr>
            <p:ph type="body" sz="quarter" idx="13" hasCustomPrompt="1"/>
          </p:nvPr>
        </p:nvSpPr>
        <p:spPr>
          <a:xfrm>
            <a:off x="1007042" y="3517796"/>
            <a:ext cx="3119128"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10" name="文本占位符 7"/>
          <p:cNvSpPr>
            <a:spLocks noGrp="1"/>
          </p:cNvSpPr>
          <p:nvPr>
            <p:ph type="body" sz="quarter" idx="14" hasCustomPrompt="1"/>
          </p:nvPr>
        </p:nvSpPr>
        <p:spPr>
          <a:xfrm>
            <a:off x="4126170" y="3517796"/>
            <a:ext cx="1967450"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en-US" altLang="zh-CN" dirty="0" smtClean="0"/>
              <a:t>2019.01.25</a:t>
            </a:r>
            <a:endParaRPr lang="zh-CN" altLang="en-US" dirty="0"/>
          </a:p>
        </p:txBody>
      </p:sp>
      <p:sp>
        <p:nvSpPr>
          <p:cNvPr id="11" name="文本占位符 7"/>
          <p:cNvSpPr>
            <a:spLocks noGrp="1"/>
          </p:cNvSpPr>
          <p:nvPr>
            <p:ph type="body" sz="quarter" idx="15" hasCustomPrompt="1"/>
          </p:nvPr>
        </p:nvSpPr>
        <p:spPr>
          <a:xfrm>
            <a:off x="6093619" y="3517796"/>
            <a:ext cx="3023155"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12" name="文本占位符 7"/>
          <p:cNvSpPr>
            <a:spLocks noGrp="1"/>
          </p:cNvSpPr>
          <p:nvPr>
            <p:ph type="body" sz="quarter" idx="16" hasCustomPrompt="1"/>
          </p:nvPr>
        </p:nvSpPr>
        <p:spPr>
          <a:xfrm>
            <a:off x="9116775" y="3481792"/>
            <a:ext cx="2056050" cy="504056"/>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新开发</a:t>
            </a:r>
          </a:p>
        </p:txBody>
      </p:sp>
      <p:sp>
        <p:nvSpPr>
          <p:cNvPr id="13" name="Rectangle 2"/>
          <p:cNvSpPr>
            <a:spLocks noChangeArrowheads="1"/>
          </p:cNvSpPr>
          <p:nvPr userDrawn="1"/>
        </p:nvSpPr>
        <p:spPr bwMode="auto">
          <a:xfrm>
            <a:off x="952130" y="368661"/>
            <a:ext cx="2802144" cy="479425"/>
          </a:xfrm>
          <a:prstGeom prst="rect">
            <a:avLst/>
          </a:prstGeom>
          <a:noFill/>
          <a:ln w="9525">
            <a:noFill/>
            <a:miter lim="800000"/>
            <a:headEnd/>
            <a:tailEnd/>
          </a:ln>
        </p:spPr>
        <p:txBody>
          <a:bodyPr lIns="78227" tIns="39112" rIns="78227" bIns="39112" anchor="ctr"/>
          <a:lstStyle/>
          <a:p>
            <a:pPr algn="l" defTabSz="1001223" rtl="0" eaLnBrk="0" fontAlgn="ctr" hangingPunct="0">
              <a:spcBef>
                <a:spcPct val="0"/>
              </a:spcBef>
              <a:spcAft>
                <a:spcPct val="0"/>
              </a:spcAft>
            </a:pPr>
            <a:r>
              <a:rPr lang="zh-CN" altLang="en-US" sz="3499" b="0" kern="1200" baseline="0" dirty="0">
                <a:solidFill>
                  <a:schemeClr val="tx1">
                    <a:lumMod val="75000"/>
                    <a:lumOff val="25000"/>
                  </a:schemeClr>
                </a:solidFill>
                <a:latin typeface="Huawei Sans" panose="020C0503030203020204" pitchFamily="34" charset="0"/>
                <a:ea typeface="方正兰亭黑简体" panose="02000000000000000000" pitchFamily="2" charset="-122"/>
                <a:cs typeface="Huawei Sans" panose="020C0503030203020204" pitchFamily="34" charset="0"/>
              </a:rPr>
              <a:t>修订记录</a:t>
            </a:r>
          </a:p>
        </p:txBody>
      </p:sp>
      <p:sp>
        <p:nvSpPr>
          <p:cNvPr id="14" name="Text Box 58"/>
          <p:cNvSpPr txBox="1">
            <a:spLocks noChangeArrowheads="1"/>
          </p:cNvSpPr>
          <p:nvPr userDrawn="1"/>
        </p:nvSpPr>
        <p:spPr bwMode="auto">
          <a:xfrm>
            <a:off x="8900835" y="296652"/>
            <a:ext cx="2771225" cy="707886"/>
          </a:xfrm>
          <a:prstGeom prst="rect">
            <a:avLst/>
          </a:prstGeom>
          <a:noFill/>
          <a:ln w="9525" algn="ctr">
            <a:noFill/>
            <a:miter lim="800000"/>
            <a:headEnd/>
            <a:tailEnd/>
          </a:ln>
        </p:spPr>
        <p:txBody>
          <a:bodyPr wrap="square">
            <a:spAutoFit/>
          </a:bodyPr>
          <a:lstStyle/>
          <a:p>
            <a:pPr fontAlgn="ctr">
              <a:spcBef>
                <a:spcPct val="50000"/>
              </a:spcBef>
            </a:pPr>
            <a:r>
              <a:rPr lang="zh-CN" altLang="en-US" sz="3998" i="0" baseline="0" dirty="0">
                <a:solidFill>
                  <a:schemeClr val="bg2">
                    <a:lumMod val="50000"/>
                  </a:schemeClr>
                </a:solidFill>
                <a:latin typeface="Huawei Sans" panose="020C0503030203020204" pitchFamily="34" charset="0"/>
                <a:ea typeface="方正兰亭黑简体" panose="02000000000000000000" pitchFamily="2" charset="-122"/>
                <a:cs typeface="Huawei Sans" panose="020C0503030203020204" pitchFamily="34" charset="0"/>
              </a:rPr>
              <a:t>本页不打印</a:t>
            </a:r>
          </a:p>
        </p:txBody>
      </p:sp>
      <p:sp>
        <p:nvSpPr>
          <p:cNvPr id="15" name="文本占位符 7"/>
          <p:cNvSpPr>
            <a:spLocks noGrp="1"/>
          </p:cNvSpPr>
          <p:nvPr>
            <p:ph type="body" sz="quarter" idx="21" hasCustomPrompt="1"/>
          </p:nvPr>
        </p:nvSpPr>
        <p:spPr>
          <a:xfrm>
            <a:off x="1007042" y="4021852"/>
            <a:ext cx="3119128"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16" name="文本占位符 7"/>
          <p:cNvSpPr>
            <a:spLocks noGrp="1"/>
          </p:cNvSpPr>
          <p:nvPr>
            <p:ph type="body" sz="quarter" idx="22" hasCustomPrompt="1"/>
          </p:nvPr>
        </p:nvSpPr>
        <p:spPr>
          <a:xfrm>
            <a:off x="4126170" y="4021852"/>
            <a:ext cx="1967450"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en-US" altLang="zh-CN" dirty="0" smtClean="0"/>
              <a:t>2019.01.25</a:t>
            </a:r>
            <a:endParaRPr lang="zh-CN" altLang="en-US" dirty="0"/>
          </a:p>
        </p:txBody>
      </p:sp>
      <p:sp>
        <p:nvSpPr>
          <p:cNvPr id="17" name="文本占位符 7"/>
          <p:cNvSpPr>
            <a:spLocks noGrp="1"/>
          </p:cNvSpPr>
          <p:nvPr>
            <p:ph type="body" sz="quarter" idx="23" hasCustomPrompt="1"/>
          </p:nvPr>
        </p:nvSpPr>
        <p:spPr>
          <a:xfrm>
            <a:off x="6093619" y="4021852"/>
            <a:ext cx="3023155"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18" name="文本占位符 7"/>
          <p:cNvSpPr>
            <a:spLocks noGrp="1"/>
          </p:cNvSpPr>
          <p:nvPr>
            <p:ph type="body" sz="quarter" idx="24" hasCustomPrompt="1"/>
          </p:nvPr>
        </p:nvSpPr>
        <p:spPr>
          <a:xfrm>
            <a:off x="9116775" y="3985848"/>
            <a:ext cx="2084625" cy="504056"/>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优化</a:t>
            </a:r>
          </a:p>
        </p:txBody>
      </p:sp>
      <p:sp>
        <p:nvSpPr>
          <p:cNvPr id="19" name="文本占位符 7"/>
          <p:cNvSpPr>
            <a:spLocks noGrp="1"/>
          </p:cNvSpPr>
          <p:nvPr>
            <p:ph type="body" sz="quarter" idx="25" hasCustomPrompt="1"/>
          </p:nvPr>
        </p:nvSpPr>
        <p:spPr>
          <a:xfrm>
            <a:off x="1007042" y="4489904"/>
            <a:ext cx="3119128"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20" name="文本占位符 7"/>
          <p:cNvSpPr>
            <a:spLocks noGrp="1"/>
          </p:cNvSpPr>
          <p:nvPr>
            <p:ph type="body" sz="quarter" idx="26" hasCustomPrompt="1"/>
          </p:nvPr>
        </p:nvSpPr>
        <p:spPr>
          <a:xfrm>
            <a:off x="4126170" y="4489904"/>
            <a:ext cx="1967450"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en-US" altLang="zh-CN" dirty="0" smtClean="0"/>
              <a:t>2019.01.25</a:t>
            </a:r>
            <a:endParaRPr lang="zh-CN" altLang="en-US" dirty="0"/>
          </a:p>
        </p:txBody>
      </p:sp>
      <p:sp>
        <p:nvSpPr>
          <p:cNvPr id="21" name="文本占位符 7"/>
          <p:cNvSpPr>
            <a:spLocks noGrp="1"/>
          </p:cNvSpPr>
          <p:nvPr>
            <p:ph type="body" sz="quarter" idx="27" hasCustomPrompt="1"/>
          </p:nvPr>
        </p:nvSpPr>
        <p:spPr>
          <a:xfrm>
            <a:off x="6093619" y="4489904"/>
            <a:ext cx="3023155"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22" name="文本占位符 7"/>
          <p:cNvSpPr>
            <a:spLocks noGrp="1"/>
          </p:cNvSpPr>
          <p:nvPr>
            <p:ph type="body" sz="quarter" idx="28" hasCustomPrompt="1"/>
          </p:nvPr>
        </p:nvSpPr>
        <p:spPr>
          <a:xfrm>
            <a:off x="9116775" y="4489904"/>
            <a:ext cx="2056050"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优化</a:t>
            </a:r>
          </a:p>
        </p:txBody>
      </p:sp>
      <p:sp>
        <p:nvSpPr>
          <p:cNvPr id="23" name="文本占位符 7"/>
          <p:cNvSpPr>
            <a:spLocks noGrp="1"/>
          </p:cNvSpPr>
          <p:nvPr>
            <p:ph type="body" sz="quarter" idx="29" hasCustomPrompt="1"/>
          </p:nvPr>
        </p:nvSpPr>
        <p:spPr>
          <a:xfrm>
            <a:off x="1007042" y="4999074"/>
            <a:ext cx="3119128"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24" name="文本占位符 7"/>
          <p:cNvSpPr>
            <a:spLocks noGrp="1"/>
          </p:cNvSpPr>
          <p:nvPr>
            <p:ph type="body" sz="quarter" idx="30" hasCustomPrompt="1"/>
          </p:nvPr>
        </p:nvSpPr>
        <p:spPr>
          <a:xfrm>
            <a:off x="4126170" y="4999074"/>
            <a:ext cx="1967450" cy="468052"/>
          </a:xfrm>
          <a:prstGeom prst="rect">
            <a:avLst/>
          </a:prstGeom>
        </p:spPr>
        <p:txBody>
          <a:bodyPr anchor="ctr"/>
          <a:lstStyle>
            <a:lvl1pPr algn="ctr" fontAlgn="base">
              <a:lnSpc>
                <a:spcPct val="100000"/>
              </a:lnSpc>
              <a:buNone/>
              <a:defRPr lang="zh-CN" altLang="en-US" sz="1599" kern="1200" baseline="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en-US" altLang="zh-CN" dirty="0" smtClean="0"/>
              <a:t>2019.01.25</a:t>
            </a:r>
            <a:endParaRPr lang="zh-CN" altLang="en-US" dirty="0"/>
          </a:p>
        </p:txBody>
      </p:sp>
      <p:sp>
        <p:nvSpPr>
          <p:cNvPr id="25" name="文本占位符 7"/>
          <p:cNvSpPr>
            <a:spLocks noGrp="1"/>
          </p:cNvSpPr>
          <p:nvPr>
            <p:ph type="body" sz="quarter" idx="31" hasCustomPrompt="1"/>
          </p:nvPr>
        </p:nvSpPr>
        <p:spPr>
          <a:xfrm>
            <a:off x="6093619" y="4999074"/>
            <a:ext cx="3023155"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26" name="文本占位符 7"/>
          <p:cNvSpPr>
            <a:spLocks noGrp="1"/>
          </p:cNvSpPr>
          <p:nvPr>
            <p:ph type="body" sz="quarter" idx="32" hasCustomPrompt="1"/>
          </p:nvPr>
        </p:nvSpPr>
        <p:spPr>
          <a:xfrm>
            <a:off x="9116775" y="4999074"/>
            <a:ext cx="2084625"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优化</a:t>
            </a:r>
          </a:p>
        </p:txBody>
      </p:sp>
    </p:spTree>
    <p:extLst>
      <p:ext uri="{BB962C8B-B14F-4D97-AF65-F5344CB8AC3E}">
        <p14:creationId xmlns:p14="http://schemas.microsoft.com/office/powerpoint/2010/main" val="800252647"/>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3#前言">
    <p:bg bwMode="gray">
      <p:bgPr>
        <a:solidFill>
          <a:srgbClr val="EBEBEB"/>
        </a:solidFill>
        <a:effectLst/>
      </p:bgPr>
    </p:bg>
    <p:spTree>
      <p:nvGrpSpPr>
        <p:cNvPr id="1" name=""/>
        <p:cNvGrpSpPr/>
        <p:nvPr/>
      </p:nvGrpSpPr>
      <p:grpSpPr>
        <a:xfrm>
          <a:off x="0" y="0"/>
          <a:ext cx="0" cy="0"/>
          <a:chOff x="0" y="0"/>
          <a:chExt cx="0" cy="0"/>
        </a:xfrm>
      </p:grpSpPr>
      <p:sp>
        <p:nvSpPr>
          <p:cNvPr id="15" name="文本占位符 6"/>
          <p:cNvSpPr>
            <a:spLocks noGrp="1"/>
          </p:cNvSpPr>
          <p:nvPr>
            <p:ph type="body" sz="quarter" idx="10" hasCustomPrompt="1"/>
          </p:nvPr>
        </p:nvSpPr>
        <p:spPr>
          <a:xfrm>
            <a:off x="1019174" y="1844675"/>
            <a:ext cx="10153651" cy="4082668"/>
          </a:xfrm>
          <a:prstGeom prst="rect">
            <a:avLst/>
          </a:prstGeom>
        </p:spPr>
        <p:txBody>
          <a:bodyPr/>
          <a:lstStyle>
            <a:lvl1pPr marL="302279" indent="-302279" algn="just" fontAlgn="auto">
              <a:buClrTx/>
              <a:buSzPct val="50000"/>
              <a:buFont typeface="Wingdings" panose="05000000000000000000" pitchFamily="2" charset="2"/>
              <a:buChar char="l"/>
              <a:defRPr baseline="0">
                <a:latin typeface="Huawei Sans" panose="020C0503030203020204" pitchFamily="34" charset="0"/>
                <a:ea typeface="方正兰亭黑简体" panose="02000000000000000000" pitchFamily="2" charset="-122"/>
                <a:cs typeface="Huawei Sans" panose="020C0503030203020204" pitchFamily="34" charset="0"/>
              </a:defRPr>
            </a:lvl1pPr>
            <a:lvl2pPr marL="654938" indent="-251899" fontAlgn="auto">
              <a:buClrTx/>
              <a:buSzPct val="50000"/>
              <a:buFont typeface="Wingdings" panose="05000000000000000000" pitchFamily="2" charset="2"/>
              <a:buChar char="p"/>
              <a:defRPr baseline="0">
                <a:solidFill>
                  <a:schemeClr val="tx1"/>
                </a:solidFill>
                <a:latin typeface="Huawei Sans" panose="020C0503030203020204" pitchFamily="34" charset="0"/>
                <a:ea typeface="方正兰亭黑简体" panose="02000000000000000000" pitchFamily="2" charset="-122"/>
              </a:defRPr>
            </a:lvl2pPr>
            <a:lvl3pPr marL="1003998" indent="-201519" fontAlgn="auto">
              <a:buSzPct val="50000"/>
              <a:buFont typeface="Wingdings" panose="05000000000000000000" pitchFamily="2" charset="2"/>
              <a:buChar char="n"/>
              <a:defRPr lang="zh-CN" altLang="en-US" baseline="0" dirty="0" smtClean="0">
                <a:solidFill>
                  <a:schemeClr val="tx1"/>
                </a:solidFill>
                <a:latin typeface="Huawei Sans" panose="020C0503030203020204" pitchFamily="34" charset="0"/>
                <a:ea typeface="方正兰亭黑简体" panose="02000000000000000000" pitchFamily="2" charset="-122"/>
              </a:defRPr>
            </a:lvl3pPr>
            <a:lvl4pPr fontAlgn="auto">
              <a:defRPr baseline="0">
                <a:latin typeface="Huawei Sans" panose="020C0503030203020204" pitchFamily="34" charset="0"/>
                <a:ea typeface="方正兰亭黑简体" panose="02000000000000000000" pitchFamily="2" charset="-122"/>
              </a:defRPr>
            </a:lvl4pPr>
            <a:lvl5pPr marL="1802879" indent="-201519" fontAlgn="auto">
              <a:buClrTx/>
              <a:buFont typeface="Huawei Sans" panose="020C0503030203020204" pitchFamily="34" charset="0"/>
              <a:buChar char="~"/>
              <a:defRPr baseline="0">
                <a:latin typeface="Huawei Sans" panose="020C0503030203020204" pitchFamily="34" charset="0"/>
                <a:ea typeface="方正兰亭黑简体" panose="02000000000000000000" pitchFamily="2" charset="-122"/>
              </a:defRPr>
            </a:lvl5pPr>
          </a:lstStyle>
          <a:p>
            <a:pPr eaLnBrk="1" hangingPunct="1"/>
            <a:r>
              <a:rPr lang="zh-CN" altLang="en-US" dirty="0"/>
              <a:t>本章主要讲述</a:t>
            </a:r>
            <a:r>
              <a:rPr lang="en-US" altLang="zh-CN" dirty="0"/>
              <a:t>...</a:t>
            </a:r>
          </a:p>
          <a:p>
            <a:pPr lvl="1"/>
            <a:r>
              <a:rPr lang="zh-CN" altLang="en-US" dirty="0"/>
              <a:t>第二</a:t>
            </a:r>
            <a:r>
              <a:rPr lang="zh-CN" altLang="en-US" dirty="0" smtClean="0"/>
              <a:t>级</a:t>
            </a:r>
            <a:endParaRPr lang="zh-CN" altLang="en-US" dirty="0"/>
          </a:p>
          <a:p>
            <a:pPr lvl="2"/>
            <a:r>
              <a:rPr lang="zh-CN" altLang="en-US" dirty="0"/>
              <a:t>第三级</a:t>
            </a:r>
          </a:p>
          <a:p>
            <a:pPr lvl="3"/>
            <a:r>
              <a:rPr lang="zh-CN" altLang="en-US" dirty="0"/>
              <a:t>第四级</a:t>
            </a:r>
          </a:p>
          <a:p>
            <a:pPr lvl="4"/>
            <a:r>
              <a:rPr lang="zh-CN" altLang="en-US" dirty="0"/>
              <a:t>第五级</a:t>
            </a:r>
          </a:p>
          <a:p>
            <a:pPr eaLnBrk="1" hangingPunct="1"/>
            <a:endParaRPr lang="en-US" altLang="zh-CN" dirty="0"/>
          </a:p>
        </p:txBody>
      </p:sp>
      <p:cxnSp>
        <p:nvCxnSpPr>
          <p:cNvPr id="14" name="直线连接符 14">
            <a:extLst>
              <a:ext uri="{FF2B5EF4-FFF2-40B4-BE49-F238E27FC236}">
                <a16:creationId xmlns="" xmlns:a16="http://schemas.microsoft.com/office/drawing/2014/main" id="{C79E9F57-49BC-DC4A-B843-36D48051C848}"/>
              </a:ext>
            </a:extLst>
          </p:cNvPr>
          <p:cNvCxnSpPr>
            <a:cxnSpLocks/>
          </p:cNvCxnSpPr>
          <p:nvPr userDrawn="1"/>
        </p:nvCxnSpPr>
        <p:spPr>
          <a:xfrm flipH="1">
            <a:off x="1029918" y="1349255"/>
            <a:ext cx="885967"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27" name="文本框 16">
            <a:extLst>
              <a:ext uri="{FF2B5EF4-FFF2-40B4-BE49-F238E27FC236}">
                <a16:creationId xmlns="" xmlns:a16="http://schemas.microsoft.com/office/drawing/2014/main" id="{568EC886-2612-1F43-AB51-21A76A078357}"/>
              </a:ext>
            </a:extLst>
          </p:cNvPr>
          <p:cNvSpPr txBox="1"/>
          <p:nvPr userDrawn="1"/>
        </p:nvSpPr>
        <p:spPr>
          <a:xfrm>
            <a:off x="918916" y="630373"/>
            <a:ext cx="1117614" cy="651845"/>
          </a:xfrm>
          <a:prstGeom prst="rect">
            <a:avLst/>
          </a:prstGeom>
          <a:noFill/>
        </p:spPr>
        <p:txBody>
          <a:bodyPr wrap="none" rtlCol="0">
            <a:spAutoFit/>
          </a:bodyPr>
          <a:lstStyle/>
          <a:p>
            <a:r>
              <a:rPr kumimoji="1" lang="zh-CN" altLang="en-US" sz="3636" baseline="0" dirty="0" smtClean="0">
                <a:solidFill>
                  <a:schemeClr val="tx1"/>
                </a:solidFill>
                <a:latin typeface="Huawei Sans" panose="020C0503030203020204" pitchFamily="34" charset="0"/>
                <a:ea typeface="方正兰亭黑简体" panose="02000000000000000000" pitchFamily="2" charset="-122"/>
                <a:cs typeface="Microsoft YaHei" charset="-122"/>
              </a:rPr>
              <a:t>前言</a:t>
            </a:r>
            <a:endParaRPr kumimoji="1" lang="zh-CN" altLang="en-US" sz="3636" baseline="0" dirty="0">
              <a:solidFill>
                <a:schemeClr val="tx1"/>
              </a:solidFill>
              <a:latin typeface="Huawei Sans" panose="020C0503030203020204" pitchFamily="34" charset="0"/>
              <a:ea typeface="方正兰亭黑简体" panose="02000000000000000000" pitchFamily="2" charset="-122"/>
              <a:cs typeface="Microsoft YaHei" charset="-122"/>
            </a:endParaRPr>
          </a:p>
        </p:txBody>
      </p:sp>
    </p:spTree>
    <p:extLst>
      <p:ext uri="{BB962C8B-B14F-4D97-AF65-F5344CB8AC3E}">
        <p14:creationId xmlns:p14="http://schemas.microsoft.com/office/powerpoint/2010/main" val="4191700454"/>
      </p:ext>
    </p:extLst>
  </p:cSld>
  <p:clrMapOvr>
    <a:masterClrMapping/>
  </p:clrMapOvr>
  <p:timing>
    <p:tnLst>
      <p:par>
        <p:cTn id="1" dur="indefinite" restart="never" nodeType="tmRoot"/>
      </p:par>
    </p:tnLst>
  </p:timing>
  <p:extLst mod="1">
    <p:ext uri="{DCECCB84-F9BA-43D5-87BE-67443E8EF086}">
      <p15:sldGuideLst xmlns:p15="http://schemas.microsoft.com/office/powerpoint/2012/main">
        <p15:guide id="1" pos="642">
          <p15:clr>
            <a:srgbClr val="FBAE40"/>
          </p15:clr>
        </p15:guide>
        <p15:guide id="2" pos="7038">
          <p15:clr>
            <a:srgbClr val="FBAE40"/>
          </p15:clr>
        </p15:guide>
        <p15:guide id="3" orient="horz" pos="1162">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4#目标">
    <p:bg bwMode="gray">
      <p:bgPr>
        <a:solidFill>
          <a:srgbClr val="EBEBEB"/>
        </a:solidFill>
        <a:effectLst/>
      </p:bgPr>
    </p:bg>
    <p:spTree>
      <p:nvGrpSpPr>
        <p:cNvPr id="1" name=""/>
        <p:cNvGrpSpPr/>
        <p:nvPr/>
      </p:nvGrpSpPr>
      <p:grpSpPr>
        <a:xfrm>
          <a:off x="0" y="0"/>
          <a:ext cx="0" cy="0"/>
          <a:chOff x="0" y="0"/>
          <a:chExt cx="0" cy="0"/>
        </a:xfrm>
      </p:grpSpPr>
      <p:sp>
        <p:nvSpPr>
          <p:cNvPr id="15" name="文本占位符 6"/>
          <p:cNvSpPr>
            <a:spLocks noGrp="1"/>
          </p:cNvSpPr>
          <p:nvPr>
            <p:ph type="body" sz="quarter" idx="10" hasCustomPrompt="1"/>
          </p:nvPr>
        </p:nvSpPr>
        <p:spPr>
          <a:xfrm>
            <a:off x="1019174" y="1844675"/>
            <a:ext cx="10153651" cy="4082668"/>
          </a:xfrm>
          <a:prstGeom prst="rect">
            <a:avLst/>
          </a:prstGeom>
        </p:spPr>
        <p:txBody>
          <a:bodyPr/>
          <a:lstStyle>
            <a:lvl1pPr marL="302279" indent="-302279" algn="just" eaLnBrk="1" fontAlgn="auto" hangingPunct="1">
              <a:buClrTx/>
              <a:buSzPct val="50000"/>
              <a:buFont typeface="Wingdings" panose="05000000000000000000" pitchFamily="2" charset="2"/>
              <a:buChar char="l"/>
              <a:defRPr baseline="0">
                <a:latin typeface="Huawei Sans" panose="020C0503030203020204" pitchFamily="34" charset="0"/>
                <a:ea typeface="方正兰亭黑简体" panose="02000000000000000000" pitchFamily="2" charset="-122"/>
                <a:cs typeface="Huawei Sans" panose="020C0503030203020204" pitchFamily="34" charset="0"/>
              </a:defRPr>
            </a:lvl1pPr>
            <a:lvl2pPr marL="654938" indent="-251899" fontAlgn="auto">
              <a:buClrTx/>
              <a:buSzPct val="50000"/>
              <a:buFont typeface="Wingdings" panose="05000000000000000000" pitchFamily="2" charset="2"/>
              <a:buChar char="p"/>
              <a:defRPr baseline="0">
                <a:solidFill>
                  <a:schemeClr val="tx1"/>
                </a:solidFill>
                <a:latin typeface="Huawei Sans" panose="020C0503030203020204" pitchFamily="34" charset="0"/>
                <a:ea typeface="方正兰亭黑简体" panose="02000000000000000000" pitchFamily="2" charset="-122"/>
              </a:defRPr>
            </a:lvl2pPr>
            <a:lvl3pPr marL="1003998" indent="-201519" fontAlgn="auto">
              <a:buSzPct val="50000"/>
              <a:buFont typeface="Wingdings" panose="05000000000000000000" pitchFamily="2" charset="2"/>
              <a:buChar char="n"/>
              <a:defRPr lang="zh-CN" altLang="en-US" baseline="0" dirty="0" smtClean="0">
                <a:solidFill>
                  <a:schemeClr val="tx1"/>
                </a:solidFill>
                <a:latin typeface="Huawei Sans" panose="020C0503030203020204" pitchFamily="34" charset="0"/>
                <a:ea typeface="方正兰亭黑简体" panose="02000000000000000000" pitchFamily="2" charset="-122"/>
              </a:defRPr>
            </a:lvl3pPr>
            <a:lvl4pPr fontAlgn="auto">
              <a:defRPr baseline="0">
                <a:latin typeface="Huawei Sans" panose="020C0503030203020204" pitchFamily="34" charset="0"/>
                <a:ea typeface="方正兰亭黑简体" panose="02000000000000000000" pitchFamily="2" charset="-122"/>
              </a:defRPr>
            </a:lvl4pPr>
            <a:lvl5pPr marL="1802879" indent="-201519" fontAlgn="auto">
              <a:buClrTx/>
              <a:buFont typeface="Huawei Sans" panose="020C0503030203020204" pitchFamily="34" charset="0"/>
              <a:buChar char="~"/>
              <a:defRPr baseline="0">
                <a:latin typeface="Huawei Sans" panose="020C0503030203020204" pitchFamily="34" charset="0"/>
                <a:ea typeface="方正兰亭黑简体" panose="02000000000000000000" pitchFamily="2" charset="-122"/>
              </a:defRPr>
            </a:lvl5pPr>
          </a:lstStyle>
          <a:p>
            <a:pPr eaLnBrk="1" hangingPunct="1"/>
            <a:r>
              <a:rPr lang="zh-CN" altLang="en-US" dirty="0" smtClean="0"/>
              <a:t>学完本课程后，您将能够：</a:t>
            </a:r>
            <a:endParaRPr lang="en-US" altLang="zh-CN" dirty="0" smtClean="0"/>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p>
          <a:p>
            <a:pPr eaLnBrk="1" hangingPunct="1"/>
            <a:endParaRPr lang="en-US" altLang="zh-CN" dirty="0"/>
          </a:p>
        </p:txBody>
      </p:sp>
      <p:cxnSp>
        <p:nvCxnSpPr>
          <p:cNvPr id="14" name="直线连接符 14">
            <a:extLst>
              <a:ext uri="{FF2B5EF4-FFF2-40B4-BE49-F238E27FC236}">
                <a16:creationId xmlns="" xmlns:a16="http://schemas.microsoft.com/office/drawing/2014/main" id="{C79E9F57-49BC-DC4A-B843-36D48051C848}"/>
              </a:ext>
            </a:extLst>
          </p:cNvPr>
          <p:cNvCxnSpPr>
            <a:cxnSpLocks/>
          </p:cNvCxnSpPr>
          <p:nvPr userDrawn="1"/>
        </p:nvCxnSpPr>
        <p:spPr>
          <a:xfrm flipH="1">
            <a:off x="1029918" y="1349255"/>
            <a:ext cx="885967"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27" name="文本框 16">
            <a:extLst>
              <a:ext uri="{FF2B5EF4-FFF2-40B4-BE49-F238E27FC236}">
                <a16:creationId xmlns="" xmlns:a16="http://schemas.microsoft.com/office/drawing/2014/main" id="{568EC886-2612-1F43-AB51-21A76A078357}"/>
              </a:ext>
            </a:extLst>
          </p:cNvPr>
          <p:cNvSpPr txBox="1"/>
          <p:nvPr userDrawn="1"/>
        </p:nvSpPr>
        <p:spPr>
          <a:xfrm>
            <a:off x="918916" y="630373"/>
            <a:ext cx="1120820" cy="652486"/>
          </a:xfrm>
          <a:prstGeom prst="rect">
            <a:avLst/>
          </a:prstGeom>
          <a:noFill/>
        </p:spPr>
        <p:txBody>
          <a:bodyPr wrap="none" rtlCol="0">
            <a:spAutoFit/>
          </a:bodyPr>
          <a:lstStyle/>
          <a:p>
            <a:pPr defTabSz="1001223" eaLnBrk="0" fontAlgn="ctr" hangingPunct="0"/>
            <a:r>
              <a:rPr lang="zh-CN" altLang="en-US" sz="3640" b="0" baseline="0" dirty="0" smtClean="0">
                <a:solidFill>
                  <a:schemeClr val="tx1">
                    <a:lumMod val="75000"/>
                    <a:lumOff val="25000"/>
                  </a:schemeClr>
                </a:solidFill>
                <a:latin typeface="Huawei Sans" panose="020C0503030203020204" pitchFamily="34" charset="0"/>
                <a:ea typeface="方正兰亭黑简体" panose="02000000000000000000" pitchFamily="2" charset="-122"/>
                <a:cs typeface="Huawei Sans" panose="020C0503030203020204" pitchFamily="34" charset="0"/>
              </a:rPr>
              <a:t>目标</a:t>
            </a:r>
            <a:endParaRPr lang="en-US" altLang="zh-CN" sz="3640" b="0" baseline="0" dirty="0">
              <a:solidFill>
                <a:schemeClr val="tx1">
                  <a:lumMod val="75000"/>
                  <a:lumOff val="25000"/>
                </a:schemeClr>
              </a:solidFill>
              <a:latin typeface="Huawei Sans" panose="020C0503030203020204" pitchFamily="34" charset="0"/>
              <a:ea typeface="方正兰亭黑简体" panose="02000000000000000000" pitchFamily="2" charset="-122"/>
              <a:cs typeface="Huawei Sans" panose="020C0503030203020204" pitchFamily="34" charset="0"/>
            </a:endParaRPr>
          </a:p>
        </p:txBody>
      </p:sp>
    </p:spTree>
    <p:extLst>
      <p:ext uri="{BB962C8B-B14F-4D97-AF65-F5344CB8AC3E}">
        <p14:creationId xmlns:p14="http://schemas.microsoft.com/office/powerpoint/2010/main" val="46285438"/>
      </p:ext>
    </p:extLst>
  </p:cSld>
  <p:clrMapOvr>
    <a:masterClrMapping/>
  </p:clrMapOvr>
  <p:timing>
    <p:tnLst>
      <p:par>
        <p:cTn id="1" dur="indefinite" restart="never" nodeType="tmRoot"/>
      </p:par>
    </p:tnLst>
  </p:timing>
  <p:extLst mod="1">
    <p:ext uri="{DCECCB84-F9BA-43D5-87BE-67443E8EF086}">
      <p15:sldGuideLst xmlns:p15="http://schemas.microsoft.com/office/powerpoint/2012/main">
        <p15:guide id="1" pos="642">
          <p15:clr>
            <a:srgbClr val="FBAE40"/>
          </p15:clr>
        </p15:guide>
        <p15:guide id="2" pos="7038">
          <p15:clr>
            <a:srgbClr val="FBAE40"/>
          </p15:clr>
        </p15:guide>
        <p15:guide id="3" orient="horz" pos="1162">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5#目录">
    <p:bg bwMode="gray">
      <p:bgPr>
        <a:solidFill>
          <a:srgbClr val="EBEBEB"/>
        </a:solidFill>
        <a:effectLst/>
      </p:bgPr>
    </p:bg>
    <p:spTree>
      <p:nvGrpSpPr>
        <p:cNvPr id="1" name=""/>
        <p:cNvGrpSpPr/>
        <p:nvPr/>
      </p:nvGrpSpPr>
      <p:grpSpPr>
        <a:xfrm>
          <a:off x="0" y="0"/>
          <a:ext cx="0" cy="0"/>
          <a:chOff x="0" y="0"/>
          <a:chExt cx="0" cy="0"/>
        </a:xfrm>
      </p:grpSpPr>
      <p:sp>
        <p:nvSpPr>
          <p:cNvPr id="29" name="文本占位符 6"/>
          <p:cNvSpPr>
            <a:spLocks noGrp="1"/>
          </p:cNvSpPr>
          <p:nvPr>
            <p:ph type="body" sz="quarter" idx="10" hasCustomPrompt="1"/>
          </p:nvPr>
        </p:nvSpPr>
        <p:spPr>
          <a:xfrm>
            <a:off x="1019175" y="1844675"/>
            <a:ext cx="10153650" cy="4068811"/>
          </a:xfrm>
          <a:prstGeom prst="rect">
            <a:avLst/>
          </a:prstGeom>
        </p:spPr>
        <p:txBody>
          <a:bodyPr/>
          <a:lstStyle>
            <a:lvl1pPr marL="457017" marR="0" indent="-457017" algn="just" defTabSz="801367" rtl="0" eaLnBrk="1" fontAlgn="auto" latinLnBrk="0" hangingPunct="1">
              <a:lnSpc>
                <a:spcPct val="140000"/>
              </a:lnSpc>
              <a:spcBef>
                <a:spcPct val="30000"/>
              </a:spcBef>
              <a:spcAft>
                <a:spcPct val="0"/>
              </a:spcAft>
              <a:buClrTx/>
              <a:buSzPct val="100000"/>
              <a:buFont typeface="+mj-lt"/>
              <a:buAutoNum type="arabicPeriod"/>
              <a:tabLst/>
              <a:defRPr baseline="0">
                <a:latin typeface="Huawei Sans" panose="020C0503030203020204" pitchFamily="34" charset="0"/>
                <a:ea typeface="方正兰亭黑简体" panose="02000000000000000000" pitchFamily="2" charset="-122"/>
                <a:cs typeface="Huawei Sans" panose="020C0503030203020204" pitchFamily="34" charset="0"/>
              </a:defRPr>
            </a:lvl1pPr>
            <a:lvl2pPr fontAlgn="auto">
              <a:buClrTx/>
              <a:buSzPct val="100000"/>
              <a:buFont typeface="Huawei Sans" panose="020C0503030203020204" pitchFamily="34" charset="0"/>
              <a:buChar char="▫"/>
              <a:defRPr baseline="0">
                <a:latin typeface="Huawei Sans" panose="020C0503030203020204" pitchFamily="34" charset="0"/>
                <a:ea typeface="方正兰亭黑简体" panose="02000000000000000000" pitchFamily="2" charset="-122"/>
              </a:defRPr>
            </a:lvl2pPr>
            <a:lvl3pPr>
              <a:defRPr/>
            </a:lvl3pPr>
            <a:lvl5pPr>
              <a:buNone/>
              <a:defRPr/>
            </a:lvl5pPr>
          </a:lstStyle>
          <a:p>
            <a:pPr marL="457200" indent="-457200">
              <a:buSzPct val="100000"/>
              <a:buFont typeface="+mj-lt"/>
              <a:buAutoNum type="arabicPeriod"/>
            </a:pPr>
            <a:r>
              <a:rPr lang="zh-CN" altLang="en-US" dirty="0"/>
              <a:t>一级目录一</a:t>
            </a:r>
            <a:endParaRPr lang="en-US" altLang="zh-CN" dirty="0"/>
          </a:p>
          <a:p>
            <a:pPr marL="653788" lvl="1" indent="-457017">
              <a:buSzPct val="100000"/>
              <a:buFont typeface="+mj-lt"/>
              <a:buAutoNum type="arabicPeriod"/>
            </a:pPr>
            <a:endParaRPr lang="en-US" altLang="zh-CN" dirty="0"/>
          </a:p>
          <a:p>
            <a:pPr marL="457200" indent="-457200">
              <a:buSzPct val="100000"/>
              <a:buFont typeface="+mj-lt"/>
              <a:buAutoNum type="arabicPeriod"/>
            </a:pPr>
            <a:r>
              <a:rPr lang="zh-CN" altLang="en-US" dirty="0"/>
              <a:t>一级目录二</a:t>
            </a:r>
            <a:endParaRPr lang="en-US" altLang="zh-CN" dirty="0"/>
          </a:p>
          <a:p>
            <a:pPr marL="457200" indent="-457200">
              <a:buSzPct val="100000"/>
              <a:buFont typeface="+mj-lt"/>
              <a:buAutoNum type="arabicPeriod"/>
            </a:pPr>
            <a:r>
              <a:rPr lang="zh-CN" altLang="en-US" dirty="0"/>
              <a:t>一级目录三</a:t>
            </a:r>
            <a:endParaRPr lang="en-US" altLang="zh-CN" dirty="0"/>
          </a:p>
          <a:p>
            <a:pPr marL="457200" indent="-457200">
              <a:buSzPct val="100000"/>
              <a:buFont typeface="+mj-lt"/>
              <a:buAutoNum type="arabicPeriod"/>
            </a:pPr>
            <a:r>
              <a:rPr lang="zh-CN" altLang="en-US" dirty="0"/>
              <a:t>一级目录四</a:t>
            </a:r>
            <a:endParaRPr lang="en-US" altLang="zh-CN" dirty="0"/>
          </a:p>
          <a:p>
            <a:endParaRPr lang="zh-CN" altLang="en-US" dirty="0"/>
          </a:p>
        </p:txBody>
      </p:sp>
      <p:cxnSp>
        <p:nvCxnSpPr>
          <p:cNvPr id="28" name="直线连接符 14">
            <a:extLst>
              <a:ext uri="{FF2B5EF4-FFF2-40B4-BE49-F238E27FC236}">
                <a16:creationId xmlns="" xmlns:a16="http://schemas.microsoft.com/office/drawing/2014/main" id="{C79E9F57-49BC-DC4A-B843-36D48051C848}"/>
              </a:ext>
            </a:extLst>
          </p:cNvPr>
          <p:cNvCxnSpPr>
            <a:cxnSpLocks/>
          </p:cNvCxnSpPr>
          <p:nvPr userDrawn="1"/>
        </p:nvCxnSpPr>
        <p:spPr>
          <a:xfrm flipH="1">
            <a:off x="1029918" y="1349255"/>
            <a:ext cx="885967"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30" name="文本框 16">
            <a:extLst>
              <a:ext uri="{FF2B5EF4-FFF2-40B4-BE49-F238E27FC236}">
                <a16:creationId xmlns="" xmlns:a16="http://schemas.microsoft.com/office/drawing/2014/main" id="{568EC886-2612-1F43-AB51-21A76A078357}"/>
              </a:ext>
            </a:extLst>
          </p:cNvPr>
          <p:cNvSpPr txBox="1"/>
          <p:nvPr userDrawn="1"/>
        </p:nvSpPr>
        <p:spPr>
          <a:xfrm>
            <a:off x="918916" y="630373"/>
            <a:ext cx="1147485" cy="653509"/>
          </a:xfrm>
          <a:prstGeom prst="rect">
            <a:avLst/>
          </a:prstGeom>
          <a:noFill/>
        </p:spPr>
        <p:txBody>
          <a:bodyPr wrap="none" rtlCol="0">
            <a:spAutoFit/>
          </a:bodyPr>
          <a:lstStyle>
            <a:defPPr>
              <a:defRPr lang="en-US"/>
            </a:defPPr>
            <a:lvl1pPr defTabSz="1001223" eaLnBrk="0" fontAlgn="ctr" hangingPunct="0">
              <a:defRPr sz="3640" b="0" baseline="0">
                <a:solidFill>
                  <a:schemeClr val="tx1">
                    <a:lumMod val="75000"/>
                    <a:lumOff val="25000"/>
                  </a:schemeClr>
                </a:solidFill>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目录</a:t>
            </a:r>
          </a:p>
        </p:txBody>
      </p:sp>
    </p:spTree>
    <p:extLst>
      <p:ext uri="{BB962C8B-B14F-4D97-AF65-F5344CB8AC3E}">
        <p14:creationId xmlns:p14="http://schemas.microsoft.com/office/powerpoint/2010/main" val="3525239466"/>
      </p:ext>
    </p:extLst>
  </p:cSld>
  <p:clrMapOvr>
    <a:masterClrMapping/>
  </p:clrMapOvr>
  <p:timing>
    <p:tnLst>
      <p:par>
        <p:cTn id="1" dur="indefinite" restart="never" nodeType="tmRoot"/>
      </p:par>
    </p:tnLst>
  </p:timing>
  <p:extLst mod="1">
    <p:ext uri="{DCECCB84-F9BA-43D5-87BE-67443E8EF086}">
      <p15:sldGuideLst xmlns:p15="http://schemas.microsoft.com/office/powerpoint/2012/main">
        <p15:guide id="1" pos="642">
          <p15:clr>
            <a:srgbClr val="FBAE40"/>
          </p15:clr>
        </p15:guide>
        <p15:guide id="2" pos="7038">
          <p15:clr>
            <a:srgbClr val="FBAE40"/>
          </p15:clr>
        </p15:guide>
        <p15:guide id="3" orient="horz" pos="1162">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6#本节概述和学习目标(可选)">
    <p:bg>
      <p:bgPr>
        <a:solidFill>
          <a:srgbClr val="EBEBEB"/>
        </a:solidFill>
        <a:effectLst/>
      </p:bgPr>
    </p:bg>
    <p:spTree>
      <p:nvGrpSpPr>
        <p:cNvPr id="1" name=""/>
        <p:cNvGrpSpPr/>
        <p:nvPr/>
      </p:nvGrpSpPr>
      <p:grpSpPr>
        <a:xfrm>
          <a:off x="0" y="0"/>
          <a:ext cx="0" cy="0"/>
          <a:chOff x="0" y="0"/>
          <a:chExt cx="0" cy="0"/>
        </a:xfrm>
      </p:grpSpPr>
      <p:sp>
        <p:nvSpPr>
          <p:cNvPr id="15" name="文本占位符 6"/>
          <p:cNvSpPr>
            <a:spLocks noGrp="1"/>
          </p:cNvSpPr>
          <p:nvPr>
            <p:ph type="body" sz="quarter" idx="10"/>
          </p:nvPr>
        </p:nvSpPr>
        <p:spPr>
          <a:xfrm>
            <a:off x="1019174" y="1844675"/>
            <a:ext cx="10153651" cy="4082668"/>
          </a:xfrm>
          <a:prstGeom prst="rect">
            <a:avLst/>
          </a:prstGeom>
        </p:spPr>
        <p:txBody>
          <a:bodyPr/>
          <a:lstStyle>
            <a:lvl1pPr marL="302279" indent="-302279" algn="just" fontAlgn="ctr">
              <a:buClrTx/>
              <a:buSzPct val="50000"/>
              <a:buFont typeface="Wingdings" panose="05000000000000000000" pitchFamily="2" charset="2"/>
              <a:buChar char="l"/>
              <a:defRPr baseline="0">
                <a:latin typeface="Huawei Sans" panose="020C0503030203020204" pitchFamily="34" charset="0"/>
                <a:ea typeface="方正兰亭黑简体" panose="02000000000000000000" pitchFamily="2" charset="-122"/>
                <a:cs typeface="Huawei Sans" panose="020C0503030203020204" pitchFamily="34" charset="0"/>
              </a:defRPr>
            </a:lvl1pPr>
            <a:lvl2pPr marL="654938" indent="-251899" fontAlgn="ctr">
              <a:buClrTx/>
              <a:buSzPct val="50000"/>
              <a:buFont typeface="Wingdings" panose="05000000000000000000" pitchFamily="2" charset="2"/>
              <a:buChar char="p"/>
              <a:defRPr baseline="0">
                <a:solidFill>
                  <a:schemeClr val="tx1"/>
                </a:solidFill>
                <a:latin typeface="Huawei Sans" panose="020C0503030203020204" pitchFamily="34" charset="0"/>
                <a:ea typeface="方正兰亭黑简体" panose="02000000000000000000" pitchFamily="2" charset="-122"/>
              </a:defRPr>
            </a:lvl2pPr>
            <a:lvl3pPr marL="1003998" indent="-201519" fontAlgn="ctr">
              <a:buSzPct val="50000"/>
              <a:buFont typeface="Wingdings" panose="05000000000000000000" pitchFamily="2" charset="2"/>
              <a:buChar char="n"/>
              <a:defRPr lang="zh-CN" altLang="en-US" baseline="0" dirty="0" smtClean="0">
                <a:solidFill>
                  <a:schemeClr val="tx1"/>
                </a:solidFill>
                <a:latin typeface="Huawei Sans" panose="020C0503030203020204" pitchFamily="34" charset="0"/>
                <a:ea typeface="方正兰亭黑简体" panose="02000000000000000000" pitchFamily="2" charset="-122"/>
              </a:defRPr>
            </a:lvl3pPr>
            <a:lvl4pPr fontAlgn="ctr">
              <a:defRPr baseline="0">
                <a:latin typeface="Huawei Sans" panose="020C0503030203020204" pitchFamily="34" charset="0"/>
                <a:ea typeface="方正兰亭黑简体" panose="02000000000000000000" pitchFamily="2" charset="-122"/>
              </a:defRPr>
            </a:lvl4pPr>
            <a:lvl5pPr marL="1802879" indent="-201519" fontAlgn="ctr">
              <a:buClrTx/>
              <a:buFont typeface="Huawei Sans" panose="020C0503030203020204" pitchFamily="34" charset="0"/>
              <a:buChar char="~"/>
              <a:defRPr baseline="0">
                <a:latin typeface="Huawei Sans" panose="020C0503030203020204" pitchFamily="34" charset="0"/>
                <a:ea typeface="方正兰亭黑简体" panose="02000000000000000000" pitchFamily="2" charset="-122"/>
              </a:defRPr>
            </a:lvl5pPr>
          </a:lstStyle>
          <a:p>
            <a:pPr lvl="0"/>
            <a:r>
              <a:rPr lang="zh-CN" altLang="en-US" dirty="0" smtClean="0"/>
              <a:t>单击此处编辑母版文本样式</a:t>
            </a:r>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p>
          <a:p>
            <a:pPr eaLnBrk="1" hangingPunct="1"/>
            <a:endParaRPr lang="en-US" altLang="zh-CN" dirty="0"/>
          </a:p>
        </p:txBody>
      </p:sp>
      <p:cxnSp>
        <p:nvCxnSpPr>
          <p:cNvPr id="14" name="直线连接符 14">
            <a:extLst>
              <a:ext uri="{FF2B5EF4-FFF2-40B4-BE49-F238E27FC236}">
                <a16:creationId xmlns="" xmlns:a16="http://schemas.microsoft.com/office/drawing/2014/main" id="{C79E9F57-49BC-DC4A-B843-36D48051C848}"/>
              </a:ext>
            </a:extLst>
          </p:cNvPr>
          <p:cNvCxnSpPr>
            <a:cxnSpLocks/>
          </p:cNvCxnSpPr>
          <p:nvPr userDrawn="1"/>
        </p:nvCxnSpPr>
        <p:spPr>
          <a:xfrm flipH="1">
            <a:off x="1029917" y="1349255"/>
            <a:ext cx="4140000"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27" name="文本框 16">
            <a:extLst>
              <a:ext uri="{FF2B5EF4-FFF2-40B4-BE49-F238E27FC236}">
                <a16:creationId xmlns="" xmlns:a16="http://schemas.microsoft.com/office/drawing/2014/main" id="{568EC886-2612-1F43-AB51-21A76A078357}"/>
              </a:ext>
            </a:extLst>
          </p:cNvPr>
          <p:cNvSpPr txBox="1"/>
          <p:nvPr userDrawn="1"/>
        </p:nvSpPr>
        <p:spPr>
          <a:xfrm>
            <a:off x="918916" y="630373"/>
            <a:ext cx="4397358" cy="652486"/>
          </a:xfrm>
          <a:prstGeom prst="rect">
            <a:avLst/>
          </a:prstGeom>
          <a:noFill/>
        </p:spPr>
        <p:txBody>
          <a:bodyPr wrap="none" rtlCol="0">
            <a:spAutoFit/>
          </a:bodyPr>
          <a:lstStyle/>
          <a:p>
            <a:pPr defTabSz="1001223" eaLnBrk="0" fontAlgn="ctr" hangingPunct="0"/>
            <a:r>
              <a:rPr lang="zh-CN" altLang="en-US" sz="3640" b="0" baseline="0" dirty="0" smtClean="0">
                <a:solidFill>
                  <a:schemeClr val="tx1">
                    <a:lumMod val="75000"/>
                    <a:lumOff val="25000"/>
                  </a:schemeClr>
                </a:solidFill>
                <a:latin typeface="Huawei Sans" panose="020C0503030203020204" pitchFamily="34" charset="0"/>
                <a:ea typeface="方正兰亭黑简体" panose="02000000000000000000" pitchFamily="2" charset="-122"/>
                <a:cs typeface="Huawei Sans" panose="020C0503030203020204" pitchFamily="34" charset="0"/>
              </a:rPr>
              <a:t>本节概述和学习目标</a:t>
            </a:r>
            <a:endParaRPr lang="zh-CN" altLang="en-US" sz="3640" b="0" baseline="0" dirty="0">
              <a:solidFill>
                <a:schemeClr val="tx1">
                  <a:lumMod val="75000"/>
                  <a:lumOff val="25000"/>
                </a:schemeClr>
              </a:solidFill>
              <a:latin typeface="Huawei Sans" panose="020C0503030203020204" pitchFamily="34" charset="0"/>
              <a:ea typeface="方正兰亭黑简体" panose="02000000000000000000" pitchFamily="2" charset="-122"/>
              <a:cs typeface="Huawei Sans" panose="020C0503030203020204" pitchFamily="34" charset="0"/>
            </a:endParaRPr>
          </a:p>
        </p:txBody>
      </p:sp>
    </p:spTree>
    <p:extLst>
      <p:ext uri="{BB962C8B-B14F-4D97-AF65-F5344CB8AC3E}">
        <p14:creationId xmlns:p14="http://schemas.microsoft.com/office/powerpoint/2010/main" val="1036787055"/>
      </p:ext>
    </p:extLst>
  </p:cSld>
  <p:clrMapOvr>
    <a:masterClrMapping/>
  </p:clrMapOvr>
  <p:timing>
    <p:tnLst>
      <p:par>
        <p:cTn id="1" dur="indefinite" restart="never" nodeType="tmRoot"/>
      </p:par>
    </p:tnLst>
  </p:timing>
  <p:extLst mod="1">
    <p:ext uri="{DCECCB84-F9BA-43D5-87BE-67443E8EF086}">
      <p15:sldGuideLst xmlns:p15="http://schemas.microsoft.com/office/powerpoint/2012/main">
        <p15:guide id="1" pos="642">
          <p15:clr>
            <a:srgbClr val="FBAE40"/>
          </p15:clr>
        </p15:guide>
        <p15:guide id="2" pos="7038">
          <p15:clr>
            <a:srgbClr val="FBAE40"/>
          </p15:clr>
        </p15:guide>
        <p15:guide id="3" orient="horz" pos="1162">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10#思考题">
    <p:spTree>
      <p:nvGrpSpPr>
        <p:cNvPr id="1" name=""/>
        <p:cNvGrpSpPr/>
        <p:nvPr/>
      </p:nvGrpSpPr>
      <p:grpSpPr>
        <a:xfrm>
          <a:off x="0" y="0"/>
          <a:ext cx="0" cy="0"/>
          <a:chOff x="0" y="0"/>
          <a:chExt cx="0" cy="0"/>
        </a:xfrm>
      </p:grpSpPr>
      <p:sp>
        <p:nvSpPr>
          <p:cNvPr id="4" name="文本占位符 6"/>
          <p:cNvSpPr>
            <a:spLocks noGrp="1"/>
          </p:cNvSpPr>
          <p:nvPr>
            <p:ph type="body" sz="quarter" idx="10" hasCustomPrompt="1"/>
          </p:nvPr>
        </p:nvSpPr>
        <p:spPr>
          <a:xfrm>
            <a:off x="1019176" y="1844675"/>
            <a:ext cx="10153650" cy="4068812"/>
          </a:xfrm>
          <a:prstGeom prst="rect">
            <a:avLst/>
          </a:prstGeom>
        </p:spPr>
        <p:txBody>
          <a:bodyPr/>
          <a:lstStyle>
            <a:lvl1pPr marL="457200" marR="0" indent="-457200" algn="just" defTabSz="801688" rtl="0" eaLnBrk="1" fontAlgn="auto" latinLnBrk="0" hangingPunct="1">
              <a:lnSpc>
                <a:spcPct val="140000"/>
              </a:lnSpc>
              <a:spcBef>
                <a:spcPct val="30000"/>
              </a:spcBef>
              <a:spcAft>
                <a:spcPct val="0"/>
              </a:spcAft>
              <a:buClr>
                <a:schemeClr val="tx1"/>
              </a:buClr>
              <a:buSzPct val="100000"/>
              <a:buFont typeface="+mj-lt"/>
              <a:buAutoNum type="arabicPeriod"/>
              <a:tabLst/>
              <a:defRPr sz="2000" baseline="0">
                <a:latin typeface="Huawei Sans" panose="020C0503030203020204" pitchFamily="34" charset="0"/>
                <a:ea typeface="方正兰亭黑简体" panose="02000000000000000000" pitchFamily="2" charset="-122"/>
                <a:cs typeface="Huawei Sans" panose="020C0503030203020204" pitchFamily="34" charset="0"/>
              </a:defRPr>
            </a:lvl1pPr>
            <a:lvl2pPr marL="744537" indent="-342900" algn="just" fontAlgn="ctr">
              <a:buSzPct val="100000"/>
              <a:buFont typeface="+mj-lt"/>
              <a:buAutoNum type="alphaUcPeriod"/>
              <a:defRPr sz="1800" baseline="0">
                <a:latin typeface="Huawei Sans" panose="020C0503030203020204" pitchFamily="34" charset="0"/>
              </a:defRPr>
            </a:lvl2pPr>
            <a:lvl3pPr>
              <a:defRPr/>
            </a:lvl3pPr>
            <a:lvl5pPr>
              <a:buNone/>
              <a:defRPr/>
            </a:lvl5pPr>
          </a:lstStyle>
          <a:p>
            <a:r>
              <a:rPr lang="zh-CN" altLang="en-US" dirty="0" smtClean="0"/>
              <a:t>此</a:t>
            </a:r>
            <a:r>
              <a:rPr lang="zh-CN" altLang="en-US" dirty="0"/>
              <a:t>版式用于</a:t>
            </a:r>
            <a:r>
              <a:rPr lang="zh-CN" altLang="en-US" dirty="0" smtClean="0"/>
              <a:t>思考题具体格式</a:t>
            </a:r>
            <a:endParaRPr lang="en-US" altLang="zh-CN" dirty="0" smtClean="0"/>
          </a:p>
        </p:txBody>
      </p:sp>
      <p:cxnSp>
        <p:nvCxnSpPr>
          <p:cNvPr id="24" name="直线连接符 14">
            <a:extLst>
              <a:ext uri="{FF2B5EF4-FFF2-40B4-BE49-F238E27FC236}">
                <a16:creationId xmlns="" xmlns:a16="http://schemas.microsoft.com/office/drawing/2014/main" id="{C79E9F57-49BC-DC4A-B843-36D48051C848}"/>
              </a:ext>
            </a:extLst>
          </p:cNvPr>
          <p:cNvCxnSpPr>
            <a:cxnSpLocks/>
          </p:cNvCxnSpPr>
          <p:nvPr userDrawn="1"/>
        </p:nvCxnSpPr>
        <p:spPr>
          <a:xfrm flipH="1">
            <a:off x="1029917" y="1349255"/>
            <a:ext cx="1368000"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25" name="文本框 16">
            <a:extLst>
              <a:ext uri="{FF2B5EF4-FFF2-40B4-BE49-F238E27FC236}">
                <a16:creationId xmlns="" xmlns:a16="http://schemas.microsoft.com/office/drawing/2014/main" id="{568EC886-2612-1F43-AB51-21A76A078357}"/>
              </a:ext>
            </a:extLst>
          </p:cNvPr>
          <p:cNvSpPr txBox="1"/>
          <p:nvPr userDrawn="1"/>
        </p:nvSpPr>
        <p:spPr>
          <a:xfrm>
            <a:off x="918916" y="630373"/>
            <a:ext cx="1584088" cy="651845"/>
          </a:xfrm>
          <a:prstGeom prst="rect">
            <a:avLst/>
          </a:prstGeom>
          <a:noFill/>
        </p:spPr>
        <p:txBody>
          <a:bodyPr wrap="none" rtlCol="0">
            <a:spAutoFit/>
          </a:bodyPr>
          <a:lstStyle/>
          <a:p>
            <a:r>
              <a:rPr kumimoji="1" lang="zh-CN" altLang="en-US" sz="3636" baseline="0" dirty="0" smtClean="0">
                <a:solidFill>
                  <a:schemeClr val="tx1"/>
                </a:solidFill>
                <a:latin typeface="Huawei Sans" panose="020C0503030203020204" pitchFamily="34" charset="0"/>
                <a:ea typeface="方正兰亭黑简体" panose="02000000000000000000" pitchFamily="2" charset="-122"/>
                <a:cs typeface="Microsoft YaHei" charset="-122"/>
              </a:rPr>
              <a:t>思考题</a:t>
            </a:r>
            <a:endParaRPr kumimoji="1" lang="zh-CN" altLang="en-US" sz="3636" baseline="0" dirty="0">
              <a:solidFill>
                <a:schemeClr val="tx1"/>
              </a:solidFill>
              <a:latin typeface="Huawei Sans" panose="020C0503030203020204" pitchFamily="34" charset="0"/>
              <a:ea typeface="方正兰亭黑简体" panose="02000000000000000000" pitchFamily="2" charset="-122"/>
              <a:cs typeface="Microsoft YaHei" charset="-122"/>
            </a:endParaRPr>
          </a:p>
        </p:txBody>
      </p:sp>
    </p:spTree>
    <p:extLst>
      <p:ext uri="{BB962C8B-B14F-4D97-AF65-F5344CB8AC3E}">
        <p14:creationId xmlns:p14="http://schemas.microsoft.com/office/powerpoint/2010/main" val="3557104670"/>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11#本节小结（可选）">
    <p:spTree>
      <p:nvGrpSpPr>
        <p:cNvPr id="1" name=""/>
        <p:cNvGrpSpPr/>
        <p:nvPr/>
      </p:nvGrpSpPr>
      <p:grpSpPr>
        <a:xfrm>
          <a:off x="0" y="0"/>
          <a:ext cx="0" cy="0"/>
          <a:chOff x="0" y="0"/>
          <a:chExt cx="0" cy="0"/>
        </a:xfrm>
      </p:grpSpPr>
      <p:sp>
        <p:nvSpPr>
          <p:cNvPr id="10" name="内容占位符 6"/>
          <p:cNvSpPr>
            <a:spLocks noGrp="1"/>
          </p:cNvSpPr>
          <p:nvPr>
            <p:ph sz="quarter" idx="10" hasCustomPrompt="1"/>
          </p:nvPr>
        </p:nvSpPr>
        <p:spPr>
          <a:xfrm>
            <a:off x="1019175" y="1844675"/>
            <a:ext cx="10153650" cy="4082880"/>
          </a:xfrm>
          <a:prstGeom prst="rect">
            <a:avLst/>
          </a:prstGeom>
        </p:spPr>
        <p:txBody>
          <a:bodyPr/>
          <a:lstStyle>
            <a:lvl1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1pPr>
            <a:lvl2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2pPr>
            <a:lvl3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3pPr>
            <a:lvl4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4pPr>
            <a:lvl5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5pPr>
          </a:lstStyle>
          <a:p>
            <a:pPr lvl="0"/>
            <a:r>
              <a:rPr lang="zh-CN" altLang="en-US" dirty="0" smtClean="0"/>
              <a:t>此版式用于每一节的小结</a:t>
            </a:r>
          </a:p>
          <a:p>
            <a:pPr lvl="1"/>
            <a:r>
              <a:rPr lang="zh-CN" altLang="en-US" dirty="0" smtClean="0"/>
              <a:t>第二</a:t>
            </a:r>
            <a:r>
              <a:rPr lang="zh-CN" altLang="en-US" dirty="0"/>
              <a:t>级</a:t>
            </a:r>
          </a:p>
          <a:p>
            <a:pPr lvl="2"/>
            <a:r>
              <a:rPr lang="zh-CN" altLang="en-US" dirty="0"/>
              <a:t>第三级</a:t>
            </a:r>
          </a:p>
          <a:p>
            <a:pPr lvl="3"/>
            <a:r>
              <a:rPr lang="zh-CN" altLang="en-US" dirty="0"/>
              <a:t>第四级</a:t>
            </a:r>
          </a:p>
          <a:p>
            <a:pPr lvl="4"/>
            <a:r>
              <a:rPr lang="zh-CN" altLang="en-US" dirty="0"/>
              <a:t>第五级</a:t>
            </a:r>
          </a:p>
        </p:txBody>
      </p:sp>
      <p:cxnSp>
        <p:nvCxnSpPr>
          <p:cNvPr id="11" name="直线连接符 14">
            <a:extLst>
              <a:ext uri="{FF2B5EF4-FFF2-40B4-BE49-F238E27FC236}">
                <a16:creationId xmlns="" xmlns:a16="http://schemas.microsoft.com/office/drawing/2014/main" id="{C79E9F57-49BC-DC4A-B843-36D48051C848}"/>
              </a:ext>
            </a:extLst>
          </p:cNvPr>
          <p:cNvCxnSpPr>
            <a:cxnSpLocks/>
          </p:cNvCxnSpPr>
          <p:nvPr userDrawn="1"/>
        </p:nvCxnSpPr>
        <p:spPr>
          <a:xfrm flipH="1">
            <a:off x="1029917" y="1349255"/>
            <a:ext cx="1800000"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12" name="文本框 16">
            <a:extLst>
              <a:ext uri="{FF2B5EF4-FFF2-40B4-BE49-F238E27FC236}">
                <a16:creationId xmlns="" xmlns:a16="http://schemas.microsoft.com/office/drawing/2014/main" id="{568EC886-2612-1F43-AB51-21A76A078357}"/>
              </a:ext>
            </a:extLst>
          </p:cNvPr>
          <p:cNvSpPr txBox="1"/>
          <p:nvPr userDrawn="1"/>
        </p:nvSpPr>
        <p:spPr>
          <a:xfrm>
            <a:off x="918916" y="630373"/>
            <a:ext cx="2050561" cy="651845"/>
          </a:xfrm>
          <a:prstGeom prst="rect">
            <a:avLst/>
          </a:prstGeom>
          <a:noFill/>
        </p:spPr>
        <p:txBody>
          <a:bodyPr wrap="none" rtlCol="0">
            <a:spAutoFit/>
          </a:bodyPr>
          <a:lstStyle/>
          <a:p>
            <a:r>
              <a:rPr kumimoji="1" lang="zh-CN" altLang="en-US" sz="3636" baseline="0" dirty="0" smtClean="0">
                <a:solidFill>
                  <a:schemeClr val="tx1"/>
                </a:solidFill>
                <a:latin typeface="Huawei Sans" panose="020C0503030203020204" pitchFamily="34" charset="0"/>
                <a:ea typeface="方正兰亭黑简体" panose="02000000000000000000" pitchFamily="2" charset="-122"/>
                <a:cs typeface="Microsoft YaHei" charset="-122"/>
              </a:rPr>
              <a:t>本节小结</a:t>
            </a:r>
            <a:endParaRPr kumimoji="1" lang="zh-CN" altLang="en-US" sz="3636" baseline="0" dirty="0">
              <a:solidFill>
                <a:schemeClr val="tx1"/>
              </a:solidFill>
              <a:latin typeface="Huawei Sans" panose="020C0503030203020204" pitchFamily="34" charset="0"/>
              <a:ea typeface="方正兰亭黑简体" panose="02000000000000000000" pitchFamily="2" charset="-122"/>
              <a:cs typeface="Microsoft YaHei" charset="-122"/>
            </a:endParaRPr>
          </a:p>
        </p:txBody>
      </p:sp>
    </p:spTree>
    <p:extLst>
      <p:ext uri="{BB962C8B-B14F-4D97-AF65-F5344CB8AC3E}">
        <p14:creationId xmlns:p14="http://schemas.microsoft.com/office/powerpoint/2010/main" val="3295293137"/>
      </p:ext>
    </p:extLst>
  </p:cSld>
  <p:clrMapOvr>
    <a:masterClrMapping/>
  </p:clrMapOvr>
  <p:timing>
    <p:tnLst>
      <p:par>
        <p:cTn id="1" dur="indefinite" restart="never" nodeType="tmRoot"/>
      </p:par>
    </p:tnLst>
  </p:timing>
  <p:extLst mod="1">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12#本章总结">
    <p:spTree>
      <p:nvGrpSpPr>
        <p:cNvPr id="1" name=""/>
        <p:cNvGrpSpPr/>
        <p:nvPr/>
      </p:nvGrpSpPr>
      <p:grpSpPr>
        <a:xfrm>
          <a:off x="0" y="0"/>
          <a:ext cx="0" cy="0"/>
          <a:chOff x="0" y="0"/>
          <a:chExt cx="0" cy="0"/>
        </a:xfrm>
      </p:grpSpPr>
      <p:sp>
        <p:nvSpPr>
          <p:cNvPr id="10" name="内容占位符 6"/>
          <p:cNvSpPr>
            <a:spLocks noGrp="1"/>
          </p:cNvSpPr>
          <p:nvPr>
            <p:ph sz="quarter" idx="10"/>
          </p:nvPr>
        </p:nvSpPr>
        <p:spPr>
          <a:xfrm>
            <a:off x="1019175" y="1844675"/>
            <a:ext cx="10153650" cy="4082880"/>
          </a:xfrm>
          <a:prstGeom prst="rect">
            <a:avLst/>
          </a:prstGeom>
        </p:spPr>
        <p:txBody>
          <a:bodyPr/>
          <a:lstStyle>
            <a:lvl1pPr algn="just" fontAlgn="auto">
              <a:buClrTx/>
              <a:defRPr baseline="0">
                <a:latin typeface="Huawei Sans" panose="020C0503030203020204" pitchFamily="34" charset="0"/>
                <a:ea typeface="方正兰亭黑简体" panose="02000000000000000000" pitchFamily="2" charset="-122"/>
                <a:cs typeface="Huawei Sans" panose="020C0503030203020204" pitchFamily="34" charset="0"/>
              </a:defRPr>
            </a:lvl1pPr>
            <a:lvl2pPr algn="just" fontAlgn="auto">
              <a:buClrTx/>
              <a:defRPr baseline="0">
                <a:latin typeface="Huawei Sans" panose="020C0503030203020204" pitchFamily="34" charset="0"/>
                <a:ea typeface="方正兰亭黑简体" panose="02000000000000000000" pitchFamily="2" charset="-122"/>
                <a:cs typeface="Huawei Sans" panose="020C0503030203020204" pitchFamily="34" charset="0"/>
              </a:defRPr>
            </a:lvl2pPr>
            <a:lvl3pPr algn="just" fontAlgn="auto">
              <a:buClrTx/>
              <a:defRPr baseline="0">
                <a:latin typeface="Huawei Sans" panose="020C0503030203020204" pitchFamily="34" charset="0"/>
                <a:ea typeface="方正兰亭黑简体" panose="02000000000000000000" pitchFamily="2" charset="-122"/>
                <a:cs typeface="Huawei Sans" panose="020C0503030203020204" pitchFamily="34" charset="0"/>
              </a:defRPr>
            </a:lvl3pPr>
            <a:lvl4pPr algn="just" fontAlgn="auto">
              <a:buClrTx/>
              <a:defRPr baseline="0">
                <a:latin typeface="Huawei Sans" panose="020C0503030203020204" pitchFamily="34" charset="0"/>
                <a:ea typeface="方正兰亭黑简体" panose="02000000000000000000" pitchFamily="2" charset="-122"/>
                <a:cs typeface="Huawei Sans" panose="020C0503030203020204" pitchFamily="34" charset="0"/>
              </a:defRPr>
            </a:lvl4pPr>
            <a:lvl5pPr algn="just" fontAlgn="auto">
              <a:buClrTx/>
              <a:defRPr baseline="0">
                <a:latin typeface="Huawei Sans" panose="020C0503030203020204" pitchFamily="34" charset="0"/>
                <a:ea typeface="方正兰亭黑简体" panose="02000000000000000000" pitchFamily="2" charset="-122"/>
                <a:cs typeface="Huawei Sans" panose="020C0503030203020204" pitchFamily="34" charset="0"/>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cxnSp>
        <p:nvCxnSpPr>
          <p:cNvPr id="9" name="直线连接符 14">
            <a:extLst>
              <a:ext uri="{FF2B5EF4-FFF2-40B4-BE49-F238E27FC236}">
                <a16:creationId xmlns="" xmlns:a16="http://schemas.microsoft.com/office/drawing/2014/main" id="{C79E9F57-49BC-DC4A-B843-36D48051C848}"/>
              </a:ext>
            </a:extLst>
          </p:cNvPr>
          <p:cNvCxnSpPr>
            <a:cxnSpLocks/>
          </p:cNvCxnSpPr>
          <p:nvPr userDrawn="1"/>
        </p:nvCxnSpPr>
        <p:spPr>
          <a:xfrm flipH="1">
            <a:off x="1029917" y="1349255"/>
            <a:ext cx="1800000"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11" name="文本框 16">
            <a:extLst>
              <a:ext uri="{FF2B5EF4-FFF2-40B4-BE49-F238E27FC236}">
                <a16:creationId xmlns="" xmlns:a16="http://schemas.microsoft.com/office/drawing/2014/main" id="{568EC886-2612-1F43-AB51-21A76A078357}"/>
              </a:ext>
            </a:extLst>
          </p:cNvPr>
          <p:cNvSpPr txBox="1"/>
          <p:nvPr userDrawn="1"/>
        </p:nvSpPr>
        <p:spPr>
          <a:xfrm>
            <a:off x="918916" y="630373"/>
            <a:ext cx="2050561" cy="651845"/>
          </a:xfrm>
          <a:prstGeom prst="rect">
            <a:avLst/>
          </a:prstGeom>
          <a:noFill/>
        </p:spPr>
        <p:txBody>
          <a:bodyPr wrap="none" rtlCol="0">
            <a:spAutoFit/>
          </a:bodyPr>
          <a:lstStyle/>
          <a:p>
            <a:r>
              <a:rPr kumimoji="1" lang="zh-CN" altLang="en-US" sz="3636" baseline="0" dirty="0" smtClean="0">
                <a:solidFill>
                  <a:schemeClr val="tx1"/>
                </a:solidFill>
                <a:latin typeface="Huawei Sans" panose="020C0503030203020204" pitchFamily="34" charset="0"/>
                <a:ea typeface="方正兰亭黑简体" panose="02000000000000000000" pitchFamily="2" charset="-122"/>
                <a:cs typeface="Microsoft YaHei" charset="-122"/>
              </a:rPr>
              <a:t>本章总结</a:t>
            </a:r>
            <a:endParaRPr kumimoji="1" lang="zh-CN" altLang="en-US" sz="3636" baseline="0" dirty="0">
              <a:solidFill>
                <a:schemeClr val="tx1"/>
              </a:solidFill>
              <a:latin typeface="Huawei Sans" panose="020C0503030203020204" pitchFamily="34" charset="0"/>
              <a:ea typeface="方正兰亭黑简体" panose="02000000000000000000" pitchFamily="2" charset="-122"/>
              <a:cs typeface="Microsoft YaHei" charset="-122"/>
            </a:endParaRPr>
          </a:p>
        </p:txBody>
      </p:sp>
    </p:spTree>
    <p:extLst>
      <p:ext uri="{BB962C8B-B14F-4D97-AF65-F5344CB8AC3E}">
        <p14:creationId xmlns:p14="http://schemas.microsoft.com/office/powerpoint/2010/main" val="1733786734"/>
      </p:ext>
    </p:extLst>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13#更多信息(可选)">
    <p:spTree>
      <p:nvGrpSpPr>
        <p:cNvPr id="1" name=""/>
        <p:cNvGrpSpPr/>
        <p:nvPr/>
      </p:nvGrpSpPr>
      <p:grpSpPr>
        <a:xfrm>
          <a:off x="0" y="0"/>
          <a:ext cx="0" cy="0"/>
          <a:chOff x="0" y="0"/>
          <a:chExt cx="0" cy="0"/>
        </a:xfrm>
      </p:grpSpPr>
      <p:sp>
        <p:nvSpPr>
          <p:cNvPr id="3" name="文本占位符 6"/>
          <p:cNvSpPr>
            <a:spLocks noGrp="1"/>
          </p:cNvSpPr>
          <p:nvPr>
            <p:ph type="body" sz="quarter" idx="10" hasCustomPrompt="1"/>
          </p:nvPr>
        </p:nvSpPr>
        <p:spPr>
          <a:xfrm>
            <a:off x="1019175" y="1844675"/>
            <a:ext cx="10153650" cy="4082880"/>
          </a:xfrm>
          <a:prstGeom prst="rect">
            <a:avLst/>
          </a:prstGeom>
        </p:spPr>
        <p:txBody>
          <a:bodyPr/>
          <a:lstStyle>
            <a:lvl1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1pPr>
            <a:lvl5pPr>
              <a:buNone/>
              <a:defRPr/>
            </a:lvl5pPr>
          </a:lstStyle>
          <a:p>
            <a:r>
              <a:rPr lang="zh-CN" altLang="en-US" dirty="0"/>
              <a:t>此版式用于提供给学员更多学习信息。</a:t>
            </a:r>
          </a:p>
        </p:txBody>
      </p:sp>
      <p:cxnSp>
        <p:nvCxnSpPr>
          <p:cNvPr id="12" name="直线连接符 14">
            <a:extLst>
              <a:ext uri="{FF2B5EF4-FFF2-40B4-BE49-F238E27FC236}">
                <a16:creationId xmlns="" xmlns:a16="http://schemas.microsoft.com/office/drawing/2014/main" id="{C79E9F57-49BC-DC4A-B843-36D48051C848}"/>
              </a:ext>
            </a:extLst>
          </p:cNvPr>
          <p:cNvCxnSpPr>
            <a:cxnSpLocks/>
          </p:cNvCxnSpPr>
          <p:nvPr userDrawn="1"/>
        </p:nvCxnSpPr>
        <p:spPr>
          <a:xfrm flipH="1">
            <a:off x="1029917" y="1349255"/>
            <a:ext cx="1800000"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13" name="文本框 16">
            <a:extLst>
              <a:ext uri="{FF2B5EF4-FFF2-40B4-BE49-F238E27FC236}">
                <a16:creationId xmlns="" xmlns:a16="http://schemas.microsoft.com/office/drawing/2014/main" id="{568EC886-2612-1F43-AB51-21A76A078357}"/>
              </a:ext>
            </a:extLst>
          </p:cNvPr>
          <p:cNvSpPr txBox="1"/>
          <p:nvPr userDrawn="1"/>
        </p:nvSpPr>
        <p:spPr>
          <a:xfrm>
            <a:off x="918916" y="630373"/>
            <a:ext cx="2050561" cy="651845"/>
          </a:xfrm>
          <a:prstGeom prst="rect">
            <a:avLst/>
          </a:prstGeom>
          <a:noFill/>
        </p:spPr>
        <p:txBody>
          <a:bodyPr wrap="none" rtlCol="0">
            <a:spAutoFit/>
          </a:bodyPr>
          <a:lstStyle/>
          <a:p>
            <a:r>
              <a:rPr kumimoji="1" lang="zh-CN" altLang="en-US" sz="3636" baseline="0" dirty="0" smtClean="0">
                <a:solidFill>
                  <a:schemeClr val="tx1"/>
                </a:solidFill>
                <a:latin typeface="Huawei Sans" panose="020C0503030203020204" pitchFamily="34" charset="0"/>
                <a:ea typeface="方正兰亭黑简体" panose="02000000000000000000" pitchFamily="2" charset="-122"/>
                <a:cs typeface="Microsoft YaHei" charset="-122"/>
              </a:rPr>
              <a:t>更多信息</a:t>
            </a:r>
            <a:endParaRPr kumimoji="1" lang="zh-CN" altLang="en-US" sz="3636" baseline="0" dirty="0">
              <a:solidFill>
                <a:schemeClr val="tx1"/>
              </a:solidFill>
              <a:latin typeface="Huawei Sans" panose="020C0503030203020204" pitchFamily="34" charset="0"/>
              <a:ea typeface="方正兰亭黑简体" panose="02000000000000000000" pitchFamily="2" charset="-122"/>
              <a:cs typeface="Microsoft YaHei" charset="-122"/>
            </a:endParaRPr>
          </a:p>
        </p:txBody>
      </p:sp>
    </p:spTree>
    <p:extLst>
      <p:ext uri="{BB962C8B-B14F-4D97-AF65-F5344CB8AC3E}">
        <p14:creationId xmlns:p14="http://schemas.microsoft.com/office/powerpoint/2010/main" val="1051668388"/>
      </p:ext>
    </p:extLst>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14#学习推荐(可选)">
    <p:spTree>
      <p:nvGrpSpPr>
        <p:cNvPr id="1" name=""/>
        <p:cNvGrpSpPr/>
        <p:nvPr/>
      </p:nvGrpSpPr>
      <p:grpSpPr>
        <a:xfrm>
          <a:off x="0" y="0"/>
          <a:ext cx="0" cy="0"/>
          <a:chOff x="0" y="0"/>
          <a:chExt cx="0" cy="0"/>
        </a:xfrm>
      </p:grpSpPr>
      <p:sp>
        <p:nvSpPr>
          <p:cNvPr id="3" name="文本占位符 6"/>
          <p:cNvSpPr>
            <a:spLocks noGrp="1"/>
          </p:cNvSpPr>
          <p:nvPr>
            <p:ph type="body" sz="quarter" idx="10"/>
          </p:nvPr>
        </p:nvSpPr>
        <p:spPr>
          <a:xfrm>
            <a:off x="1019175" y="1844675"/>
            <a:ext cx="10153650" cy="4082880"/>
          </a:xfrm>
          <a:prstGeom prst="rect">
            <a:avLst/>
          </a:prstGeom>
        </p:spPr>
        <p:txBody>
          <a:bodyPr/>
          <a:lstStyle>
            <a:lvl1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1pPr>
          </a:lstStyle>
          <a:p>
            <a:endParaRPr lang="zh-CN" altLang="en-US" dirty="0"/>
          </a:p>
        </p:txBody>
      </p:sp>
      <p:cxnSp>
        <p:nvCxnSpPr>
          <p:cNvPr id="14" name="直线连接符 14">
            <a:extLst>
              <a:ext uri="{FF2B5EF4-FFF2-40B4-BE49-F238E27FC236}">
                <a16:creationId xmlns="" xmlns:a16="http://schemas.microsoft.com/office/drawing/2014/main" id="{C79E9F57-49BC-DC4A-B843-36D48051C848}"/>
              </a:ext>
            </a:extLst>
          </p:cNvPr>
          <p:cNvCxnSpPr>
            <a:cxnSpLocks/>
          </p:cNvCxnSpPr>
          <p:nvPr userDrawn="1"/>
        </p:nvCxnSpPr>
        <p:spPr>
          <a:xfrm flipH="1">
            <a:off x="1029917" y="1349255"/>
            <a:ext cx="1800000"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15" name="文本框 16">
            <a:extLst>
              <a:ext uri="{FF2B5EF4-FFF2-40B4-BE49-F238E27FC236}">
                <a16:creationId xmlns="" xmlns:a16="http://schemas.microsoft.com/office/drawing/2014/main" id="{568EC886-2612-1F43-AB51-21A76A078357}"/>
              </a:ext>
            </a:extLst>
          </p:cNvPr>
          <p:cNvSpPr txBox="1"/>
          <p:nvPr userDrawn="1"/>
        </p:nvSpPr>
        <p:spPr>
          <a:xfrm>
            <a:off x="918916" y="630373"/>
            <a:ext cx="2050561" cy="651845"/>
          </a:xfrm>
          <a:prstGeom prst="rect">
            <a:avLst/>
          </a:prstGeom>
          <a:noFill/>
        </p:spPr>
        <p:txBody>
          <a:bodyPr wrap="none" rtlCol="0">
            <a:spAutoFit/>
          </a:bodyPr>
          <a:lstStyle/>
          <a:p>
            <a:r>
              <a:rPr kumimoji="1" lang="zh-CN" altLang="en-US" sz="3636" baseline="0" dirty="0" smtClean="0">
                <a:solidFill>
                  <a:schemeClr val="tx1"/>
                </a:solidFill>
                <a:latin typeface="Huawei Sans" panose="020C0503030203020204" pitchFamily="34" charset="0"/>
                <a:ea typeface="方正兰亭黑简体" panose="02000000000000000000" pitchFamily="2" charset="-122"/>
                <a:cs typeface="Microsoft YaHei" charset="-122"/>
              </a:rPr>
              <a:t>学习推荐</a:t>
            </a:r>
            <a:endParaRPr kumimoji="1" lang="zh-CN" altLang="en-US" sz="3636" baseline="0" dirty="0">
              <a:solidFill>
                <a:schemeClr val="tx1"/>
              </a:solidFill>
              <a:latin typeface="Huawei Sans" panose="020C0503030203020204" pitchFamily="34" charset="0"/>
              <a:ea typeface="方正兰亭黑简体" panose="02000000000000000000" pitchFamily="2" charset="-122"/>
              <a:cs typeface="Microsoft YaHei" charset="-122"/>
            </a:endParaRPr>
          </a:p>
        </p:txBody>
      </p:sp>
    </p:spTree>
    <p:extLst>
      <p:ext uri="{BB962C8B-B14F-4D97-AF65-F5344CB8AC3E}">
        <p14:creationId xmlns:p14="http://schemas.microsoft.com/office/powerpoint/2010/main" val="4259767845"/>
      </p:ext>
    </p:extLst>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7#标题和内容">
    <p:spTree>
      <p:nvGrpSpPr>
        <p:cNvPr id="1" name=""/>
        <p:cNvGrpSpPr/>
        <p:nvPr/>
      </p:nvGrpSpPr>
      <p:grpSpPr>
        <a:xfrm>
          <a:off x="0" y="0"/>
          <a:ext cx="0" cy="0"/>
          <a:chOff x="0" y="0"/>
          <a:chExt cx="0" cy="0"/>
        </a:xfrm>
      </p:grpSpPr>
      <p:sp>
        <p:nvSpPr>
          <p:cNvPr id="3" name="标题 1"/>
          <p:cNvSpPr>
            <a:spLocks noGrp="1"/>
          </p:cNvSpPr>
          <p:nvPr>
            <p:ph type="title"/>
          </p:nvPr>
        </p:nvSpPr>
        <p:spPr>
          <a:xfrm>
            <a:off x="455612" y="447468"/>
            <a:ext cx="11293475" cy="1001920"/>
          </a:xfrm>
          <a:prstGeom prst="rect">
            <a:avLst/>
          </a:prstGeom>
        </p:spPr>
        <p:txBody>
          <a:bodyPr lIns="0" tIns="0" rIns="0" bIns="0" anchor="t">
            <a:normAutofit/>
          </a:bodyPr>
          <a:lstStyle>
            <a:lvl1pPr>
              <a:defRPr lang="zh-CN" altLang="en-US" baseline="0" dirty="0">
                <a:latin typeface="Huawei Sans" panose="020C0503030203020204" pitchFamily="34" charset="0"/>
                <a:ea typeface="方正兰亭黑简体" panose="02000000000000000000" pitchFamily="2" charset="-122"/>
              </a:defRPr>
            </a:lvl1pPr>
          </a:lstStyle>
          <a:p>
            <a:pPr marL="0" lvl="0" indent="0" defTabSz="1187798">
              <a:lnSpc>
                <a:spcPts val="3430"/>
              </a:lnSpc>
              <a:spcBef>
                <a:spcPts val="0"/>
              </a:spcBef>
              <a:buFont typeface="Arial" panose="020B0604020202020204" pitchFamily="34" charset="0"/>
            </a:pPr>
            <a:r>
              <a:rPr lang="zh-CN" altLang="en-US" dirty="0" smtClean="0"/>
              <a:t>单击</a:t>
            </a:r>
            <a:r>
              <a:rPr lang="zh-CN" altLang="en-US" dirty="0"/>
              <a:t>此处编辑母版标题样式</a:t>
            </a:r>
          </a:p>
        </p:txBody>
      </p:sp>
      <p:sp>
        <p:nvSpPr>
          <p:cNvPr id="9" name="文本占位符 6"/>
          <p:cNvSpPr>
            <a:spLocks noGrp="1"/>
          </p:cNvSpPr>
          <p:nvPr>
            <p:ph type="body" sz="quarter" idx="10" hasCustomPrompt="1"/>
          </p:nvPr>
        </p:nvSpPr>
        <p:spPr>
          <a:xfrm>
            <a:off x="455612" y="1484312"/>
            <a:ext cx="11293476" cy="4443243"/>
          </a:xfrm>
          <a:prstGeom prst="rect">
            <a:avLst/>
          </a:prstGeom>
        </p:spPr>
        <p:txBody>
          <a:bodyPr/>
          <a:lstStyle>
            <a:lvl1pPr algn="just" fontAlgn="auto">
              <a:buClrTx/>
              <a:defRPr baseline="0">
                <a:latin typeface="Huawei Sans" panose="020C0503030203020204" pitchFamily="34" charset="0"/>
                <a:ea typeface="方正兰亭黑简体" panose="02000000000000000000" pitchFamily="2" charset="-122"/>
                <a:cs typeface="Huawei Sans" panose="020C0503030203020204" pitchFamily="34" charset="0"/>
              </a:defRPr>
            </a:lvl1pPr>
          </a:lstStyle>
          <a:p>
            <a:r>
              <a:rPr lang="zh-CN" altLang="en-US" dirty="0"/>
              <a:t>单击此处输入文字</a:t>
            </a:r>
          </a:p>
        </p:txBody>
      </p:sp>
    </p:spTree>
    <p:extLst>
      <p:ext uri="{BB962C8B-B14F-4D97-AF65-F5344CB8AC3E}">
        <p14:creationId xmlns:p14="http://schemas.microsoft.com/office/powerpoint/2010/main" val="2649862490"/>
      </p:ext>
    </p:extLst>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7*#标题和内容（一行标题）">
    <p:spTree>
      <p:nvGrpSpPr>
        <p:cNvPr id="1" name=""/>
        <p:cNvGrpSpPr/>
        <p:nvPr/>
      </p:nvGrpSpPr>
      <p:grpSpPr>
        <a:xfrm>
          <a:off x="0" y="0"/>
          <a:ext cx="0" cy="0"/>
          <a:chOff x="0" y="0"/>
          <a:chExt cx="0" cy="0"/>
        </a:xfrm>
      </p:grpSpPr>
      <p:sp>
        <p:nvSpPr>
          <p:cNvPr id="3" name="标题 1"/>
          <p:cNvSpPr>
            <a:spLocks noGrp="1"/>
          </p:cNvSpPr>
          <p:nvPr>
            <p:ph type="title"/>
          </p:nvPr>
        </p:nvSpPr>
        <p:spPr>
          <a:xfrm>
            <a:off x="455613" y="447468"/>
            <a:ext cx="11293474" cy="485982"/>
          </a:xfrm>
          <a:prstGeom prst="rect">
            <a:avLst/>
          </a:prstGeom>
        </p:spPr>
        <p:txBody>
          <a:bodyPr lIns="0" tIns="0" rIns="0" bIns="0" anchor="t">
            <a:normAutofit/>
          </a:bodyPr>
          <a:lstStyle>
            <a:lvl1pPr>
              <a:defRPr lang="zh-CN" altLang="en-US" baseline="0" dirty="0">
                <a:latin typeface="Huawei Sans" panose="020C0503030203020204" pitchFamily="34" charset="0"/>
                <a:ea typeface="方正兰亭黑简体" panose="02000000000000000000" pitchFamily="2" charset="-122"/>
              </a:defRPr>
            </a:lvl1pPr>
          </a:lstStyle>
          <a:p>
            <a:pPr marL="0" lvl="0" indent="0" defTabSz="1187798">
              <a:lnSpc>
                <a:spcPts val="3430"/>
              </a:lnSpc>
              <a:spcBef>
                <a:spcPts val="0"/>
              </a:spcBef>
              <a:buFont typeface="Arial" panose="020B0604020202020204" pitchFamily="34" charset="0"/>
            </a:pPr>
            <a:r>
              <a:rPr lang="zh-CN" altLang="en-US" dirty="0" smtClean="0"/>
              <a:t>单击</a:t>
            </a:r>
            <a:r>
              <a:rPr lang="zh-CN" altLang="en-US" dirty="0"/>
              <a:t>此处编辑母版标题样式</a:t>
            </a:r>
          </a:p>
        </p:txBody>
      </p:sp>
      <p:sp>
        <p:nvSpPr>
          <p:cNvPr id="9" name="文本占位符 6"/>
          <p:cNvSpPr>
            <a:spLocks noGrp="1"/>
          </p:cNvSpPr>
          <p:nvPr>
            <p:ph type="body" sz="quarter" idx="10" hasCustomPrompt="1"/>
          </p:nvPr>
        </p:nvSpPr>
        <p:spPr>
          <a:xfrm>
            <a:off x="455612" y="1047750"/>
            <a:ext cx="11293475" cy="4879805"/>
          </a:xfrm>
          <a:prstGeom prst="rect">
            <a:avLst/>
          </a:prstGeom>
        </p:spPr>
        <p:txBody>
          <a:bodyPr/>
          <a:lstStyle>
            <a:lvl1pPr algn="just" fontAlgn="auto">
              <a:buClrTx/>
              <a:defRPr baseline="0">
                <a:latin typeface="Huawei Sans" panose="020C0503030203020204" pitchFamily="34" charset="0"/>
                <a:ea typeface="方正兰亭黑简体" panose="02000000000000000000" pitchFamily="2" charset="-122"/>
                <a:cs typeface="Huawei Sans" panose="020C0503030203020204" pitchFamily="34" charset="0"/>
              </a:defRPr>
            </a:lvl1pPr>
          </a:lstStyle>
          <a:p>
            <a:r>
              <a:rPr lang="zh-CN" altLang="en-US" dirty="0"/>
              <a:t>单击此处输入文字</a:t>
            </a:r>
          </a:p>
        </p:txBody>
      </p:sp>
    </p:spTree>
    <p:extLst>
      <p:ext uri="{BB962C8B-B14F-4D97-AF65-F5344CB8AC3E}">
        <p14:creationId xmlns:p14="http://schemas.microsoft.com/office/powerpoint/2010/main" val="1288804162"/>
      </p:ext>
    </p:extLst>
  </p:cSld>
  <p:clrMapOvr>
    <a:masterClrMapping/>
  </p:clrMapOvr>
  <p:timing>
    <p:tnLst>
      <p:par>
        <p:cTn id="1" dur="indefinite" restart="never" nodeType="tmRoot"/>
      </p:par>
    </p:tnLst>
  </p:timing>
  <p:extLst mod="1">
    <p:ext uri="{DCECCB84-F9BA-43D5-87BE-67443E8EF086}">
      <p15:sldGuideLst xmlns:p15="http://schemas.microsoft.com/office/powerpoint/2012/main">
        <p15:guide id="1" orient="horz" pos="595">
          <p15:clr>
            <a:srgbClr val="FBAE40"/>
          </p15:clr>
        </p15:guide>
        <p15:guide id="2" orient="horz" pos="663">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8#仅标题（两行标题）">
    <p:spTree>
      <p:nvGrpSpPr>
        <p:cNvPr id="1" name=""/>
        <p:cNvGrpSpPr/>
        <p:nvPr/>
      </p:nvGrpSpPr>
      <p:grpSpPr>
        <a:xfrm>
          <a:off x="0" y="0"/>
          <a:ext cx="0" cy="0"/>
          <a:chOff x="0" y="0"/>
          <a:chExt cx="0" cy="0"/>
        </a:xfrm>
      </p:grpSpPr>
      <p:sp>
        <p:nvSpPr>
          <p:cNvPr id="3" name="标题 1"/>
          <p:cNvSpPr>
            <a:spLocks noGrp="1"/>
          </p:cNvSpPr>
          <p:nvPr>
            <p:ph type="title"/>
          </p:nvPr>
        </p:nvSpPr>
        <p:spPr>
          <a:xfrm>
            <a:off x="455613" y="447468"/>
            <a:ext cx="11293475" cy="1001920"/>
          </a:xfrm>
          <a:prstGeom prst="rect">
            <a:avLst/>
          </a:prstGeom>
        </p:spPr>
        <p:txBody>
          <a:bodyPr lIns="0" tIns="0" rIns="0" bIns="0" anchor="t">
            <a:normAutofit/>
          </a:bodyPr>
          <a:lstStyle>
            <a:lvl1pPr>
              <a:defRPr lang="zh-CN" altLang="en-US" baseline="0" dirty="0"/>
            </a:lvl1pPr>
          </a:lstStyle>
          <a:p>
            <a:pPr marL="0" lvl="0" indent="0" defTabSz="1187798">
              <a:lnSpc>
                <a:spcPts val="3430"/>
              </a:lnSpc>
              <a:spcBef>
                <a:spcPts val="0"/>
              </a:spcBef>
              <a:buFont typeface="Arial" panose="020B0604020202020204" pitchFamily="34" charset="0"/>
            </a:pPr>
            <a:r>
              <a:rPr lang="zh-CN" altLang="en-US" dirty="0" smtClean="0"/>
              <a:t>单击</a:t>
            </a:r>
            <a:r>
              <a:rPr lang="zh-CN" altLang="en-US" dirty="0"/>
              <a:t>此处编辑母版标题样式</a:t>
            </a:r>
          </a:p>
        </p:txBody>
      </p:sp>
    </p:spTree>
    <p:extLst>
      <p:ext uri="{BB962C8B-B14F-4D97-AF65-F5344CB8AC3E}">
        <p14:creationId xmlns:p14="http://schemas.microsoft.com/office/powerpoint/2010/main" val="3851924938"/>
      </p:ext>
    </p:extLst>
  </p:cSld>
  <p:clrMapOvr>
    <a:masterClrMapping/>
  </p:clrMapOvr>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8*#仅标题（一行标题）">
    <p:spTree>
      <p:nvGrpSpPr>
        <p:cNvPr id="1" name=""/>
        <p:cNvGrpSpPr/>
        <p:nvPr/>
      </p:nvGrpSpPr>
      <p:grpSpPr>
        <a:xfrm>
          <a:off x="0" y="0"/>
          <a:ext cx="0" cy="0"/>
          <a:chOff x="0" y="0"/>
          <a:chExt cx="0" cy="0"/>
        </a:xfrm>
      </p:grpSpPr>
      <p:sp>
        <p:nvSpPr>
          <p:cNvPr id="3" name="标题 1"/>
          <p:cNvSpPr>
            <a:spLocks noGrp="1"/>
          </p:cNvSpPr>
          <p:nvPr>
            <p:ph type="title"/>
          </p:nvPr>
        </p:nvSpPr>
        <p:spPr>
          <a:xfrm>
            <a:off x="452438" y="447468"/>
            <a:ext cx="11296649" cy="497095"/>
          </a:xfrm>
          <a:prstGeom prst="rect">
            <a:avLst/>
          </a:prstGeom>
        </p:spPr>
        <p:txBody>
          <a:bodyPr lIns="0" tIns="0" rIns="0" bIns="0" anchor="t">
            <a:normAutofit/>
          </a:bodyPr>
          <a:lstStyle>
            <a:lvl1pPr>
              <a:defRPr lang="zh-CN" altLang="en-US" baseline="0" dirty="0"/>
            </a:lvl1pPr>
          </a:lstStyle>
          <a:p>
            <a:pPr marL="0" lvl="0" indent="0" defTabSz="1187798">
              <a:lnSpc>
                <a:spcPts val="3430"/>
              </a:lnSpc>
              <a:spcBef>
                <a:spcPts val="0"/>
              </a:spcBef>
              <a:buFont typeface="Arial" panose="020B0604020202020204" pitchFamily="34" charset="0"/>
            </a:pPr>
            <a:r>
              <a:rPr lang="zh-CN" altLang="en-US" dirty="0" smtClean="0"/>
              <a:t>单击</a:t>
            </a:r>
            <a:r>
              <a:rPr lang="zh-CN" altLang="en-US" dirty="0"/>
              <a:t>此处编辑母版标题样式</a:t>
            </a:r>
          </a:p>
        </p:txBody>
      </p:sp>
    </p:spTree>
    <p:extLst>
      <p:ext uri="{BB962C8B-B14F-4D97-AF65-F5344CB8AC3E}">
        <p14:creationId xmlns:p14="http://schemas.microsoft.com/office/powerpoint/2010/main" val="99998166"/>
      </p:ext>
    </p:extLst>
  </p:cSld>
  <p:clrMapOvr>
    <a:masterClrMapping/>
  </p:clrMapOvr>
  <p:timing>
    <p:tnLst>
      <p:par>
        <p:cTn id="1" dur="indefinite" restart="never" nodeType="tmRoot"/>
      </p:par>
    </p:tnLst>
  </p:timing>
  <p:extLst mod="1">
    <p:ext uri="{DCECCB84-F9BA-43D5-87BE-67443E8EF086}">
      <p15:sldGuideLst xmlns:p15="http://schemas.microsoft.com/office/powerpoint/2012/main">
        <p15:guide id="1" orient="horz" pos="595">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9#全白背景">
    <p:spTree>
      <p:nvGrpSpPr>
        <p:cNvPr id="1" name=""/>
        <p:cNvGrpSpPr/>
        <p:nvPr/>
      </p:nvGrpSpPr>
      <p:grpSpPr>
        <a:xfrm>
          <a:off x="0" y="0"/>
          <a:ext cx="0" cy="0"/>
          <a:chOff x="0" y="0"/>
          <a:chExt cx="0" cy="0"/>
        </a:xfrm>
      </p:grpSpPr>
    </p:spTree>
    <p:extLst>
      <p:ext uri="{BB962C8B-B14F-4D97-AF65-F5344CB8AC3E}">
        <p14:creationId xmlns:p14="http://schemas.microsoft.com/office/powerpoint/2010/main" val="1734697958"/>
      </p:ext>
    </p:extLst>
  </p:cSld>
  <p:clrMapOvr>
    <a:masterClrMapping/>
  </p:clrMapOvr>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_15#谢谢">
    <p:bg bwMode="gray">
      <p:bgPr>
        <a:solidFill>
          <a:srgbClr val="FFFFFF"/>
        </a:solidFill>
        <a:effectLst/>
      </p:bgPr>
    </p:bg>
    <p:spTree>
      <p:nvGrpSpPr>
        <p:cNvPr id="1" name=""/>
        <p:cNvGrpSpPr/>
        <p:nvPr/>
      </p:nvGrpSpPr>
      <p:grpSpPr>
        <a:xfrm>
          <a:off x="0" y="0"/>
          <a:ext cx="0" cy="0"/>
          <a:chOff x="0" y="0"/>
          <a:chExt cx="0" cy="0"/>
        </a:xfrm>
      </p:grpSpPr>
      <p:sp>
        <p:nvSpPr>
          <p:cNvPr id="3" name="TextBox 3">
            <a:extLst>
              <a:ext uri="{FF2B5EF4-FFF2-40B4-BE49-F238E27FC236}">
                <a16:creationId xmlns:a16="http://schemas.microsoft.com/office/drawing/2014/main" xmlns="" id="{42AF307D-40F4-EC4C-9108-79E948007529}"/>
              </a:ext>
            </a:extLst>
          </p:cNvPr>
          <p:cNvSpPr txBox="1"/>
          <p:nvPr userDrawn="1"/>
        </p:nvSpPr>
        <p:spPr>
          <a:xfrm>
            <a:off x="607486" y="1402064"/>
            <a:ext cx="3921034" cy="854717"/>
          </a:xfrm>
          <a:prstGeom prst="rect">
            <a:avLst/>
          </a:prstGeom>
          <a:noFill/>
        </p:spPr>
        <p:txBody>
          <a:bodyPr wrap="square" rtlCol="0">
            <a:spAutoFit/>
          </a:bodyPr>
          <a:lstStyle/>
          <a:p>
            <a:pPr algn="l"/>
            <a:r>
              <a:rPr lang="en-US" sz="4940" dirty="0" smtClean="0">
                <a:solidFill>
                  <a:schemeClr val="tx1"/>
                </a:solidFill>
              </a:rPr>
              <a:t>Thank you.</a:t>
            </a:r>
            <a:endParaRPr lang="en-US" sz="4940" dirty="0">
              <a:solidFill>
                <a:schemeClr val="tx1"/>
              </a:solidFill>
            </a:endParaRPr>
          </a:p>
        </p:txBody>
      </p:sp>
    </p:spTree>
    <p:extLst>
      <p:ext uri="{BB962C8B-B14F-4D97-AF65-F5344CB8AC3E}">
        <p14:creationId xmlns:p14="http://schemas.microsoft.com/office/powerpoint/2010/main" val="1028299403"/>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3" Type="http://schemas.openxmlformats.org/officeDocument/2006/relationships/slideLayout" Target="../slideLayouts/slideLayout4.xml"/><Relationship Id="rId7" Type="http://schemas.openxmlformats.org/officeDocument/2006/relationships/slideLayout" Target="../slideLayouts/slideLayout8.xml"/><Relationship Id="rId12" Type="http://schemas.openxmlformats.org/officeDocument/2006/relationships/image" Target="../media/image3.png"/><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theme" Target="../theme/theme2.xml"/><Relationship Id="rId5" Type="http://schemas.openxmlformats.org/officeDocument/2006/relationships/slideLayout" Target="../slideLayouts/slideLayout6.xml"/><Relationship Id="rId10" Type="http://schemas.openxmlformats.org/officeDocument/2006/relationships/slideLayout" Target="../slideLayouts/slideLayout11.xml"/><Relationship Id="rId4" Type="http://schemas.openxmlformats.org/officeDocument/2006/relationships/slideLayout" Target="../slideLayouts/slideLayout5.xml"/><Relationship Id="rId9" Type="http://schemas.openxmlformats.org/officeDocument/2006/relationships/slideLayout" Target="../slideLayouts/slideLayout10.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14.xml"/><Relationship Id="rId7" Type="http://schemas.openxmlformats.org/officeDocument/2006/relationships/image" Target="../media/image3.png"/><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theme" Target="../theme/theme3.xml"/><Relationship Id="rId5" Type="http://schemas.openxmlformats.org/officeDocument/2006/relationships/slideLayout" Target="../slideLayouts/slideLayout16.xml"/><Relationship Id="rId4" Type="http://schemas.openxmlformats.org/officeDocument/2006/relationships/slideLayout" Target="../slideLayouts/slideLayout15.xml"/></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4.xml"/><Relationship Id="rId1"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gray">
      <p:bgRef idx="1001">
        <a:schemeClr val="bg1"/>
      </p:bgRef>
    </p:bg>
    <p:spTree>
      <p:nvGrpSpPr>
        <p:cNvPr id="1" name=""/>
        <p:cNvGrpSpPr/>
        <p:nvPr/>
      </p:nvGrpSpPr>
      <p:grpSpPr>
        <a:xfrm>
          <a:off x="0" y="0"/>
          <a:ext cx="0" cy="0"/>
          <a:chOff x="0" y="0"/>
          <a:chExt cx="0" cy="0"/>
        </a:xfrm>
      </p:grpSpPr>
      <p:pic>
        <p:nvPicPr>
          <p:cNvPr id="8" name="图片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203089" y="5976169"/>
            <a:ext cx="2257507" cy="482533"/>
          </a:xfrm>
          <a:prstGeom prst="rect">
            <a:avLst/>
          </a:prstGeom>
        </p:spPr>
      </p:pic>
      <p:grpSp>
        <p:nvGrpSpPr>
          <p:cNvPr id="30" name="Group 87">
            <a:extLst>
              <a:ext uri="{FF2B5EF4-FFF2-40B4-BE49-F238E27FC236}">
                <a16:creationId xmlns="" xmlns:a16="http://schemas.microsoft.com/office/drawing/2014/main" id="{37333705-F8D6-2847-B3CB-F2FAB51E2A3B}"/>
              </a:ext>
            </a:extLst>
          </p:cNvPr>
          <p:cNvGrpSpPr>
            <a:grpSpLocks noChangeAspect="1"/>
          </p:cNvGrpSpPr>
          <p:nvPr userDrawn="1"/>
        </p:nvGrpSpPr>
        <p:grpSpPr>
          <a:xfrm>
            <a:off x="12290471" y="2625389"/>
            <a:ext cx="1963323" cy="4233515"/>
            <a:chOff x="5343885" y="-48857"/>
            <a:chExt cx="3263586" cy="7037279"/>
          </a:xfrm>
        </p:grpSpPr>
        <p:sp>
          <p:nvSpPr>
            <p:cNvPr id="31" name="矩形 13">
              <a:extLst>
                <a:ext uri="{FF2B5EF4-FFF2-40B4-BE49-F238E27FC236}">
                  <a16:creationId xmlns="" xmlns:a16="http://schemas.microsoft.com/office/drawing/2014/main" id="{B14DFA89-D483-CF47-82CC-DD86D7CAB09E}"/>
                </a:ext>
              </a:extLst>
            </p:cNvPr>
            <p:cNvSpPr/>
            <p:nvPr userDrawn="1"/>
          </p:nvSpPr>
          <p:spPr>
            <a:xfrm>
              <a:off x="5356401" y="1934171"/>
              <a:ext cx="791510" cy="664397"/>
            </a:xfrm>
            <a:prstGeom prst="rect">
              <a:avLst/>
            </a:prstGeom>
            <a:solidFill>
              <a:srgbClr val="C4005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RGB</a:t>
              </a:r>
              <a:br>
                <a:rPr kumimoji="1" lang="en-US" altLang="zh-CN" sz="500" b="1" dirty="0">
                  <a:solidFill>
                    <a:schemeClr val="tx2"/>
                  </a:solidFill>
                  <a:latin typeface="Huawei Sans" panose="020C0503030203020204" pitchFamily="34" charset="0"/>
                  <a:ea typeface="Arial" charset="0"/>
                  <a:cs typeface="Huawei Sans" panose="020C0503030203020204" pitchFamily="34" charset="0"/>
                </a:rPr>
              </a:b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196/0/84</a:t>
              </a:r>
            </a:p>
          </p:txBody>
        </p:sp>
        <p:sp>
          <p:nvSpPr>
            <p:cNvPr id="32" name="文本框 15">
              <a:extLst>
                <a:ext uri="{FF2B5EF4-FFF2-40B4-BE49-F238E27FC236}">
                  <a16:creationId xmlns="" xmlns:a16="http://schemas.microsoft.com/office/drawing/2014/main" id="{8223ADA0-340A-794B-93B7-24AFF612A719}"/>
                </a:ext>
              </a:extLst>
            </p:cNvPr>
            <p:cNvSpPr txBox="1"/>
            <p:nvPr userDrawn="1"/>
          </p:nvSpPr>
          <p:spPr>
            <a:xfrm>
              <a:off x="5352723" y="1694497"/>
              <a:ext cx="1052647"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方正兰亭黑简体" panose="02000000000000000000" pitchFamily="2" charset="-122"/>
                  <a:ea typeface="方正兰亭黑简体" panose="02000000000000000000" pitchFamily="2" charset="-122"/>
                </a:rPr>
                <a:t>公司辅助色</a:t>
              </a:r>
            </a:p>
          </p:txBody>
        </p:sp>
        <p:sp>
          <p:nvSpPr>
            <p:cNvPr id="33" name="矩形 13">
              <a:extLst>
                <a:ext uri="{FF2B5EF4-FFF2-40B4-BE49-F238E27FC236}">
                  <a16:creationId xmlns="" xmlns:a16="http://schemas.microsoft.com/office/drawing/2014/main" id="{5F63E0E3-4F22-7948-AB1A-40A84ECA92EC}"/>
                </a:ext>
              </a:extLst>
            </p:cNvPr>
            <p:cNvSpPr/>
            <p:nvPr userDrawn="1"/>
          </p:nvSpPr>
          <p:spPr>
            <a:xfrm>
              <a:off x="6184680" y="1934171"/>
              <a:ext cx="791510" cy="664397"/>
            </a:xfrm>
            <a:prstGeom prst="rect">
              <a:avLst/>
            </a:prstGeom>
            <a:solidFill>
              <a:srgbClr val="CB377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203/55/120</a:t>
              </a:r>
            </a:p>
          </p:txBody>
        </p:sp>
        <p:sp>
          <p:nvSpPr>
            <p:cNvPr id="34" name="矩形 13">
              <a:extLst>
                <a:ext uri="{FF2B5EF4-FFF2-40B4-BE49-F238E27FC236}">
                  <a16:creationId xmlns="" xmlns:a16="http://schemas.microsoft.com/office/drawing/2014/main" id="{29C4A3C6-7C7B-7140-8F73-591E9F49143F}"/>
                </a:ext>
              </a:extLst>
            </p:cNvPr>
            <p:cNvSpPr/>
            <p:nvPr userDrawn="1"/>
          </p:nvSpPr>
          <p:spPr>
            <a:xfrm>
              <a:off x="5356401" y="3403061"/>
              <a:ext cx="791510" cy="664397"/>
            </a:xfrm>
            <a:prstGeom prst="rect">
              <a:avLst/>
            </a:prstGeom>
            <a:solidFill>
              <a:srgbClr val="ED6D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237/109/0</a:t>
              </a:r>
            </a:p>
          </p:txBody>
        </p:sp>
        <p:sp>
          <p:nvSpPr>
            <p:cNvPr id="35" name="矩形 13">
              <a:extLst>
                <a:ext uri="{FF2B5EF4-FFF2-40B4-BE49-F238E27FC236}">
                  <a16:creationId xmlns="" xmlns:a16="http://schemas.microsoft.com/office/drawing/2014/main" id="{BE4C9A8D-46B0-5B40-BC47-DB6C4899227F}"/>
                </a:ext>
              </a:extLst>
            </p:cNvPr>
            <p:cNvSpPr/>
            <p:nvPr userDrawn="1"/>
          </p:nvSpPr>
          <p:spPr>
            <a:xfrm>
              <a:off x="6184680" y="2673360"/>
              <a:ext cx="791510" cy="664397"/>
            </a:xfrm>
            <a:prstGeom prst="rect">
              <a:avLst/>
            </a:prstGeom>
            <a:solidFill>
              <a:srgbClr val="99363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153/54/54</a:t>
              </a:r>
            </a:p>
          </p:txBody>
        </p:sp>
        <p:sp>
          <p:nvSpPr>
            <p:cNvPr id="36" name="矩形 13">
              <a:extLst>
                <a:ext uri="{FF2B5EF4-FFF2-40B4-BE49-F238E27FC236}">
                  <a16:creationId xmlns="" xmlns:a16="http://schemas.microsoft.com/office/drawing/2014/main" id="{612F2ED4-F7A4-9E48-95E1-8D07B3BBE962}"/>
                </a:ext>
              </a:extLst>
            </p:cNvPr>
            <p:cNvSpPr/>
            <p:nvPr userDrawn="1"/>
          </p:nvSpPr>
          <p:spPr>
            <a:xfrm>
              <a:off x="5356401" y="4866463"/>
              <a:ext cx="791510" cy="664397"/>
            </a:xfrm>
            <a:prstGeom prst="rect">
              <a:avLst/>
            </a:prstGeom>
            <a:solidFill>
              <a:srgbClr val="62B23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98/178/48</a:t>
              </a:r>
            </a:p>
          </p:txBody>
        </p:sp>
        <p:sp>
          <p:nvSpPr>
            <p:cNvPr id="37" name="矩形 13">
              <a:extLst>
                <a:ext uri="{FF2B5EF4-FFF2-40B4-BE49-F238E27FC236}">
                  <a16:creationId xmlns="" xmlns:a16="http://schemas.microsoft.com/office/drawing/2014/main" id="{A9E1D476-C288-8945-A68A-1F20C557294B}"/>
                </a:ext>
              </a:extLst>
            </p:cNvPr>
            <p:cNvSpPr/>
            <p:nvPr userDrawn="1"/>
          </p:nvSpPr>
          <p:spPr>
            <a:xfrm>
              <a:off x="6184680" y="3415851"/>
              <a:ext cx="791510" cy="664397"/>
            </a:xfrm>
            <a:prstGeom prst="rect">
              <a:avLst/>
            </a:prstGeom>
            <a:solidFill>
              <a:srgbClr val="F2894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242/137/68</a:t>
              </a:r>
              <a:endParaRPr kumimoji="1" lang="mr-IN" altLang="zh-CN" sz="500" b="1" dirty="0">
                <a:solidFill>
                  <a:srgbClr val="FFFFFF"/>
                </a:solidFill>
                <a:latin typeface="Huawei Sans" panose="020C0503030203020204" pitchFamily="34" charset="0"/>
                <a:ea typeface="Arial" charset="0"/>
                <a:cs typeface="Arial" charset="0"/>
              </a:endParaRPr>
            </a:p>
          </p:txBody>
        </p:sp>
        <p:sp>
          <p:nvSpPr>
            <p:cNvPr id="38" name="矩形 13">
              <a:extLst>
                <a:ext uri="{FF2B5EF4-FFF2-40B4-BE49-F238E27FC236}">
                  <a16:creationId xmlns="" xmlns:a16="http://schemas.microsoft.com/office/drawing/2014/main" id="{42823EBB-E62E-F149-AC9A-09950051F283}"/>
                </a:ext>
              </a:extLst>
            </p:cNvPr>
            <p:cNvSpPr/>
            <p:nvPr userDrawn="1"/>
          </p:nvSpPr>
          <p:spPr>
            <a:xfrm>
              <a:off x="5353240" y="184963"/>
              <a:ext cx="791510" cy="664397"/>
            </a:xfrm>
            <a:prstGeom prst="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PANTONE 185C</a:t>
              </a:r>
            </a:p>
            <a:p>
              <a:pPr algn="ctr">
                <a:lnSpc>
                  <a:spcPts val="620"/>
                </a:lnSpc>
                <a:spcBef>
                  <a:spcPts val="0"/>
                </a:spcBef>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RGB </a:t>
              </a:r>
              <a:br>
                <a:rPr kumimoji="1" lang="en-US" altLang="zh-CN" sz="500" b="1" dirty="0">
                  <a:solidFill>
                    <a:schemeClr val="tx2"/>
                  </a:solidFill>
                  <a:latin typeface="Huawei Sans" panose="020C0503030203020204" pitchFamily="34" charset="0"/>
                  <a:ea typeface="Arial" charset="0"/>
                  <a:cs typeface="Huawei Sans" panose="020C0503030203020204" pitchFamily="34" charset="0"/>
                </a:rPr>
              </a:b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199/0/11  </a:t>
              </a:r>
            </a:p>
          </p:txBody>
        </p:sp>
        <p:sp>
          <p:nvSpPr>
            <p:cNvPr id="39" name="文本框 15">
              <a:extLst>
                <a:ext uri="{FF2B5EF4-FFF2-40B4-BE49-F238E27FC236}">
                  <a16:creationId xmlns="" xmlns:a16="http://schemas.microsoft.com/office/drawing/2014/main" id="{EA01C299-6FF2-3642-AAEC-A1DF62D9C654}"/>
                </a:ext>
              </a:extLst>
            </p:cNvPr>
            <p:cNvSpPr txBox="1"/>
            <p:nvPr userDrawn="1"/>
          </p:nvSpPr>
          <p:spPr>
            <a:xfrm>
              <a:off x="5343885" y="-48857"/>
              <a:ext cx="726488"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方正兰亭黑简体" panose="02000000000000000000" pitchFamily="2" charset="-122"/>
                  <a:ea typeface="方正兰亭黑简体" panose="02000000000000000000" pitchFamily="2" charset="-122"/>
                </a:rPr>
                <a:t>公司色</a:t>
              </a:r>
            </a:p>
          </p:txBody>
        </p:sp>
        <p:sp>
          <p:nvSpPr>
            <p:cNvPr id="40" name="矩形 13">
              <a:extLst>
                <a:ext uri="{FF2B5EF4-FFF2-40B4-BE49-F238E27FC236}">
                  <a16:creationId xmlns="" xmlns:a16="http://schemas.microsoft.com/office/drawing/2014/main" id="{B84AB502-165F-764A-9621-65CA8CBBEAEA}"/>
                </a:ext>
              </a:extLst>
            </p:cNvPr>
            <p:cNvSpPr/>
            <p:nvPr userDrawn="1"/>
          </p:nvSpPr>
          <p:spPr>
            <a:xfrm>
              <a:off x="5352600" y="918047"/>
              <a:ext cx="791510" cy="664397"/>
            </a:xfrm>
            <a:prstGeom prst="rect">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PANTONE 186C</a:t>
              </a:r>
            </a:p>
            <a:p>
              <a:pPr algn="ctr">
                <a:lnSpc>
                  <a:spcPts val="620"/>
                </a:lnSpc>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RGB</a:t>
              </a:r>
              <a:br>
                <a:rPr kumimoji="1" lang="en-US" altLang="zh-CN" sz="500" b="1" dirty="0">
                  <a:solidFill>
                    <a:schemeClr val="tx2"/>
                  </a:solidFill>
                  <a:latin typeface="Huawei Sans" panose="020C0503030203020204" pitchFamily="34" charset="0"/>
                  <a:ea typeface="Arial" charset="0"/>
                  <a:cs typeface="Huawei Sans" panose="020C0503030203020204" pitchFamily="34" charset="0"/>
                </a:rPr>
              </a:b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200/16/46  </a:t>
              </a:r>
            </a:p>
          </p:txBody>
        </p:sp>
        <p:sp>
          <p:nvSpPr>
            <p:cNvPr id="41" name="矩形 13">
              <a:extLst>
                <a:ext uri="{FF2B5EF4-FFF2-40B4-BE49-F238E27FC236}">
                  <a16:creationId xmlns="" xmlns:a16="http://schemas.microsoft.com/office/drawing/2014/main" id="{CB8870E8-3E95-764C-B621-A168E194CC7A}"/>
                </a:ext>
              </a:extLst>
            </p:cNvPr>
            <p:cNvSpPr/>
            <p:nvPr userDrawn="1"/>
          </p:nvSpPr>
          <p:spPr>
            <a:xfrm>
              <a:off x="5354164" y="2665974"/>
              <a:ext cx="791510" cy="664397"/>
            </a:xfrm>
            <a:prstGeom prst="rect">
              <a:avLst/>
            </a:prstGeom>
            <a:solidFill>
              <a:srgbClr val="7F000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127/0/1</a:t>
              </a:r>
            </a:p>
          </p:txBody>
        </p:sp>
        <p:sp>
          <p:nvSpPr>
            <p:cNvPr id="42" name="矩形 13">
              <a:extLst>
                <a:ext uri="{FF2B5EF4-FFF2-40B4-BE49-F238E27FC236}">
                  <a16:creationId xmlns="" xmlns:a16="http://schemas.microsoft.com/office/drawing/2014/main" id="{356EF69A-1936-544F-A95F-0664F4E186D5}"/>
                </a:ext>
              </a:extLst>
            </p:cNvPr>
            <p:cNvSpPr/>
            <p:nvPr userDrawn="1"/>
          </p:nvSpPr>
          <p:spPr>
            <a:xfrm>
              <a:off x="5354164" y="4134866"/>
              <a:ext cx="791510" cy="664397"/>
            </a:xfrm>
            <a:prstGeom prst="rect">
              <a:avLst/>
            </a:prstGeom>
            <a:solidFill>
              <a:srgbClr val="FCC8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52/200/0</a:t>
              </a:r>
            </a:p>
          </p:txBody>
        </p:sp>
        <p:sp>
          <p:nvSpPr>
            <p:cNvPr id="43" name="矩形 13">
              <a:extLst>
                <a:ext uri="{FF2B5EF4-FFF2-40B4-BE49-F238E27FC236}">
                  <a16:creationId xmlns="" xmlns:a16="http://schemas.microsoft.com/office/drawing/2014/main" id="{03EBAB43-95A5-1C4A-8458-B86EB3D51FCA}"/>
                </a:ext>
              </a:extLst>
            </p:cNvPr>
            <p:cNvSpPr/>
            <p:nvPr userDrawn="1"/>
          </p:nvSpPr>
          <p:spPr>
            <a:xfrm>
              <a:off x="5354164" y="5596166"/>
              <a:ext cx="791510" cy="664397"/>
            </a:xfrm>
            <a:prstGeom prst="rect">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48/181/197</a:t>
              </a:r>
            </a:p>
          </p:txBody>
        </p:sp>
        <p:sp>
          <p:nvSpPr>
            <p:cNvPr id="44" name="矩形 13">
              <a:extLst>
                <a:ext uri="{FF2B5EF4-FFF2-40B4-BE49-F238E27FC236}">
                  <a16:creationId xmlns="" xmlns:a16="http://schemas.microsoft.com/office/drawing/2014/main" id="{371A8520-F934-304C-B57F-B49F768694E2}"/>
                </a:ext>
              </a:extLst>
            </p:cNvPr>
            <p:cNvSpPr/>
            <p:nvPr userDrawn="1"/>
          </p:nvSpPr>
          <p:spPr>
            <a:xfrm>
              <a:off x="6194511" y="4866463"/>
              <a:ext cx="791510" cy="664397"/>
            </a:xfrm>
            <a:prstGeom prst="rect">
              <a:avLst/>
            </a:prstGeom>
            <a:solidFill>
              <a:srgbClr val="81C15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129/193/95</a:t>
              </a:r>
            </a:p>
          </p:txBody>
        </p:sp>
        <p:sp>
          <p:nvSpPr>
            <p:cNvPr id="45" name="矩形 13">
              <a:extLst>
                <a:ext uri="{FF2B5EF4-FFF2-40B4-BE49-F238E27FC236}">
                  <a16:creationId xmlns="" xmlns:a16="http://schemas.microsoft.com/office/drawing/2014/main" id="{B83004D7-279B-C14E-9FCF-870FA1B74FDF}"/>
                </a:ext>
              </a:extLst>
            </p:cNvPr>
            <p:cNvSpPr/>
            <p:nvPr userDrawn="1"/>
          </p:nvSpPr>
          <p:spPr>
            <a:xfrm>
              <a:off x="6192274" y="4134866"/>
              <a:ext cx="791510" cy="664397"/>
            </a:xfrm>
            <a:prstGeom prst="rect">
              <a:avLst/>
            </a:prstGeom>
            <a:solidFill>
              <a:srgbClr val="FDD35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253/211/81</a:t>
              </a:r>
            </a:p>
          </p:txBody>
        </p:sp>
        <p:sp>
          <p:nvSpPr>
            <p:cNvPr id="46" name="矩形 13">
              <a:extLst>
                <a:ext uri="{FF2B5EF4-FFF2-40B4-BE49-F238E27FC236}">
                  <a16:creationId xmlns="" xmlns:a16="http://schemas.microsoft.com/office/drawing/2014/main" id="{99635968-4E69-CC41-9D78-6DF253FE3035}"/>
                </a:ext>
              </a:extLst>
            </p:cNvPr>
            <p:cNvSpPr/>
            <p:nvPr userDrawn="1"/>
          </p:nvSpPr>
          <p:spPr>
            <a:xfrm>
              <a:off x="6192274" y="5596166"/>
              <a:ext cx="791510" cy="664397"/>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86/196/210</a:t>
              </a:r>
            </a:p>
          </p:txBody>
        </p:sp>
        <p:sp>
          <p:nvSpPr>
            <p:cNvPr id="47" name="矩形 13">
              <a:extLst>
                <a:ext uri="{FF2B5EF4-FFF2-40B4-BE49-F238E27FC236}">
                  <a16:creationId xmlns="" xmlns:a16="http://schemas.microsoft.com/office/drawing/2014/main" id="{BDBE4949-07B7-F046-AD95-68E4B0C11CCD}"/>
                </a:ext>
              </a:extLst>
            </p:cNvPr>
            <p:cNvSpPr/>
            <p:nvPr/>
          </p:nvSpPr>
          <p:spPr>
            <a:xfrm>
              <a:off x="6186245" y="184963"/>
              <a:ext cx="791510" cy="664397"/>
            </a:xfrm>
            <a:prstGeom prst="rect">
              <a:avLst/>
            </a:prstGeom>
            <a:solidFill>
              <a:srgbClr val="D3394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211/57/65</a:t>
              </a:r>
            </a:p>
          </p:txBody>
        </p:sp>
        <p:sp>
          <p:nvSpPr>
            <p:cNvPr id="48" name="矩形 13">
              <a:extLst>
                <a:ext uri="{FF2B5EF4-FFF2-40B4-BE49-F238E27FC236}">
                  <a16:creationId xmlns="" xmlns:a16="http://schemas.microsoft.com/office/drawing/2014/main" id="{AA9F9E00-6A31-F14B-A2E4-79908835FD14}"/>
                </a:ext>
              </a:extLst>
            </p:cNvPr>
            <p:cNvSpPr/>
            <p:nvPr/>
          </p:nvSpPr>
          <p:spPr>
            <a:xfrm>
              <a:off x="6185604" y="918047"/>
              <a:ext cx="791510" cy="664397"/>
            </a:xfrm>
            <a:prstGeom prst="rect">
              <a:avLst/>
            </a:prstGeom>
            <a:solidFill>
              <a:srgbClr val="D3385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p>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211/56/89</a:t>
              </a:r>
            </a:p>
          </p:txBody>
        </p:sp>
        <p:sp>
          <p:nvSpPr>
            <p:cNvPr id="49" name="矩形 13">
              <a:extLst>
                <a:ext uri="{FF2B5EF4-FFF2-40B4-BE49-F238E27FC236}">
                  <a16:creationId xmlns="" xmlns:a16="http://schemas.microsoft.com/office/drawing/2014/main" id="{38715A31-485E-B744-B409-43F9F04B48F7}"/>
                </a:ext>
              </a:extLst>
            </p:cNvPr>
            <p:cNvSpPr/>
            <p:nvPr/>
          </p:nvSpPr>
          <p:spPr>
            <a:xfrm>
              <a:off x="6996262" y="1934171"/>
              <a:ext cx="791510" cy="664397"/>
            </a:xfrm>
            <a:prstGeom prst="rect">
              <a:avLst/>
            </a:prstGeom>
            <a:solidFill>
              <a:srgbClr val="DD80A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221/128/170</a:t>
              </a:r>
            </a:p>
          </p:txBody>
        </p:sp>
        <p:sp>
          <p:nvSpPr>
            <p:cNvPr id="50" name="矩形 13">
              <a:extLst>
                <a:ext uri="{FF2B5EF4-FFF2-40B4-BE49-F238E27FC236}">
                  <a16:creationId xmlns="" xmlns:a16="http://schemas.microsoft.com/office/drawing/2014/main" id="{4AE1609B-25DD-2C4A-B05B-D18ADBC39C71}"/>
                </a:ext>
              </a:extLst>
            </p:cNvPr>
            <p:cNvSpPr/>
            <p:nvPr/>
          </p:nvSpPr>
          <p:spPr>
            <a:xfrm>
              <a:off x="6996262" y="2673360"/>
              <a:ext cx="791510" cy="664397"/>
            </a:xfrm>
            <a:prstGeom prst="rect">
              <a:avLst/>
            </a:prstGeom>
            <a:solidFill>
              <a:srgbClr val="BF808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191/128/130</a:t>
              </a:r>
            </a:p>
          </p:txBody>
        </p:sp>
        <p:sp>
          <p:nvSpPr>
            <p:cNvPr id="51" name="矩形 13">
              <a:extLst>
                <a:ext uri="{FF2B5EF4-FFF2-40B4-BE49-F238E27FC236}">
                  <a16:creationId xmlns="" xmlns:a16="http://schemas.microsoft.com/office/drawing/2014/main" id="{ECE90F9F-DBBC-0B49-A42C-8B62397E473E}"/>
                </a:ext>
              </a:extLst>
            </p:cNvPr>
            <p:cNvSpPr/>
            <p:nvPr/>
          </p:nvSpPr>
          <p:spPr>
            <a:xfrm>
              <a:off x="6996262" y="3415851"/>
              <a:ext cx="791510" cy="664397"/>
            </a:xfrm>
            <a:prstGeom prst="rect">
              <a:avLst/>
            </a:prstGeom>
            <a:solidFill>
              <a:srgbClr val="F6B78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246/183/140</a:t>
              </a:r>
              <a:endParaRPr kumimoji="1" lang="mr-IN" altLang="zh-CN" sz="500" b="1" dirty="0">
                <a:solidFill>
                  <a:srgbClr val="595757"/>
                </a:solidFill>
                <a:latin typeface="Huawei Sans" panose="020C0503030203020204" pitchFamily="34" charset="0"/>
                <a:ea typeface="Arial" charset="0"/>
                <a:cs typeface="Arial" charset="0"/>
              </a:endParaRPr>
            </a:p>
          </p:txBody>
        </p:sp>
        <p:sp>
          <p:nvSpPr>
            <p:cNvPr id="52" name="矩形 13">
              <a:extLst>
                <a:ext uri="{FF2B5EF4-FFF2-40B4-BE49-F238E27FC236}">
                  <a16:creationId xmlns="" xmlns:a16="http://schemas.microsoft.com/office/drawing/2014/main" id="{D5B387BA-F8B8-B54E-966E-F24E271747C4}"/>
                </a:ext>
              </a:extLst>
            </p:cNvPr>
            <p:cNvSpPr/>
            <p:nvPr/>
          </p:nvSpPr>
          <p:spPr>
            <a:xfrm>
              <a:off x="7006093" y="4866463"/>
              <a:ext cx="791510" cy="664397"/>
            </a:xfrm>
            <a:prstGeom prst="rect">
              <a:avLst/>
            </a:prstGeom>
            <a:solidFill>
              <a:srgbClr val="AFD89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176/216/156</a:t>
              </a:r>
            </a:p>
          </p:txBody>
        </p:sp>
        <p:sp>
          <p:nvSpPr>
            <p:cNvPr id="53" name="矩形 13">
              <a:extLst>
                <a:ext uri="{FF2B5EF4-FFF2-40B4-BE49-F238E27FC236}">
                  <a16:creationId xmlns="" xmlns:a16="http://schemas.microsoft.com/office/drawing/2014/main" id="{E6C9B99E-8C1C-2B49-B82E-3C754B8E5C02}"/>
                </a:ext>
              </a:extLst>
            </p:cNvPr>
            <p:cNvSpPr/>
            <p:nvPr/>
          </p:nvSpPr>
          <p:spPr>
            <a:xfrm>
              <a:off x="7003856" y="4134866"/>
              <a:ext cx="791510" cy="664397"/>
            </a:xfrm>
            <a:prstGeom prst="rect">
              <a:avLst/>
            </a:prstGeom>
            <a:solidFill>
              <a:srgbClr val="FDE39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253/227/181</a:t>
              </a:r>
            </a:p>
          </p:txBody>
        </p:sp>
        <p:sp>
          <p:nvSpPr>
            <p:cNvPr id="54" name="矩形 13">
              <a:extLst>
                <a:ext uri="{FF2B5EF4-FFF2-40B4-BE49-F238E27FC236}">
                  <a16:creationId xmlns="" xmlns:a16="http://schemas.microsoft.com/office/drawing/2014/main" id="{0106BFA2-9DE1-3A42-A6C6-69BCE0FA34F4}"/>
                </a:ext>
              </a:extLst>
            </p:cNvPr>
            <p:cNvSpPr/>
            <p:nvPr/>
          </p:nvSpPr>
          <p:spPr>
            <a:xfrm>
              <a:off x="7003856" y="5596166"/>
              <a:ext cx="791510" cy="664397"/>
            </a:xfrm>
            <a:prstGeom prst="rect">
              <a:avLst/>
            </a:prstGeom>
            <a:solidFill>
              <a:srgbClr val="94DAE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148/218/226</a:t>
              </a:r>
            </a:p>
          </p:txBody>
        </p:sp>
        <p:sp>
          <p:nvSpPr>
            <p:cNvPr id="55" name="矩形 13">
              <a:extLst>
                <a:ext uri="{FF2B5EF4-FFF2-40B4-BE49-F238E27FC236}">
                  <a16:creationId xmlns="" xmlns:a16="http://schemas.microsoft.com/office/drawing/2014/main" id="{F760C1C5-4342-C346-A7D2-D101978EDF66}"/>
                </a:ext>
              </a:extLst>
            </p:cNvPr>
            <p:cNvSpPr/>
            <p:nvPr/>
          </p:nvSpPr>
          <p:spPr>
            <a:xfrm>
              <a:off x="6997826" y="184963"/>
              <a:ext cx="791510" cy="664397"/>
            </a:xfrm>
            <a:prstGeom prst="rect">
              <a:avLst/>
            </a:prstGeom>
            <a:solidFill>
              <a:srgbClr val="E2818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226/129/137</a:t>
              </a:r>
            </a:p>
          </p:txBody>
        </p:sp>
        <p:sp>
          <p:nvSpPr>
            <p:cNvPr id="56" name="矩形 13">
              <a:extLst>
                <a:ext uri="{FF2B5EF4-FFF2-40B4-BE49-F238E27FC236}">
                  <a16:creationId xmlns="" xmlns:a16="http://schemas.microsoft.com/office/drawing/2014/main" id="{5BB50A4A-0B64-7E4C-824C-1EBCA1A992CF}"/>
                </a:ext>
              </a:extLst>
            </p:cNvPr>
            <p:cNvSpPr/>
            <p:nvPr/>
          </p:nvSpPr>
          <p:spPr>
            <a:xfrm>
              <a:off x="6997185" y="918047"/>
              <a:ext cx="791510" cy="664397"/>
            </a:xfrm>
            <a:prstGeom prst="rect">
              <a:avLst/>
            </a:prstGeom>
            <a:solidFill>
              <a:srgbClr val="E2819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226/129/152</a:t>
              </a:r>
            </a:p>
          </p:txBody>
        </p:sp>
        <p:sp>
          <p:nvSpPr>
            <p:cNvPr id="57" name="矩形 13">
              <a:extLst>
                <a:ext uri="{FF2B5EF4-FFF2-40B4-BE49-F238E27FC236}">
                  <a16:creationId xmlns="" xmlns:a16="http://schemas.microsoft.com/office/drawing/2014/main" id="{756A7E25-6C44-8A44-A8C5-61D19BC9EDAF}"/>
                </a:ext>
              </a:extLst>
            </p:cNvPr>
            <p:cNvSpPr/>
            <p:nvPr userDrawn="1"/>
          </p:nvSpPr>
          <p:spPr>
            <a:xfrm>
              <a:off x="7806130" y="1934171"/>
              <a:ext cx="791510" cy="664397"/>
            </a:xfrm>
            <a:prstGeom prst="rect">
              <a:avLst/>
            </a:prstGeom>
            <a:solidFill>
              <a:srgbClr val="EBB3C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235/179/204</a:t>
              </a:r>
            </a:p>
          </p:txBody>
        </p:sp>
        <p:sp>
          <p:nvSpPr>
            <p:cNvPr id="58" name="矩形 13">
              <a:extLst>
                <a:ext uri="{FF2B5EF4-FFF2-40B4-BE49-F238E27FC236}">
                  <a16:creationId xmlns="" xmlns:a16="http://schemas.microsoft.com/office/drawing/2014/main" id="{96588389-39CD-DF4E-B9AC-92091E25724E}"/>
                </a:ext>
              </a:extLst>
            </p:cNvPr>
            <p:cNvSpPr/>
            <p:nvPr/>
          </p:nvSpPr>
          <p:spPr>
            <a:xfrm>
              <a:off x="7806130" y="2673360"/>
              <a:ext cx="791510" cy="664397"/>
            </a:xfrm>
            <a:prstGeom prst="rect">
              <a:avLst/>
            </a:prstGeom>
            <a:solidFill>
              <a:srgbClr val="D8B3B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216/179/179</a:t>
              </a:r>
            </a:p>
          </p:txBody>
        </p:sp>
        <p:sp>
          <p:nvSpPr>
            <p:cNvPr id="59" name="矩形 13">
              <a:extLst>
                <a:ext uri="{FF2B5EF4-FFF2-40B4-BE49-F238E27FC236}">
                  <a16:creationId xmlns="" xmlns:a16="http://schemas.microsoft.com/office/drawing/2014/main" id="{20725C9F-31AE-DB44-B70A-B4ECDEC0BC00}"/>
                </a:ext>
              </a:extLst>
            </p:cNvPr>
            <p:cNvSpPr/>
            <p:nvPr/>
          </p:nvSpPr>
          <p:spPr>
            <a:xfrm>
              <a:off x="7806130" y="3415851"/>
              <a:ext cx="791510" cy="664397"/>
            </a:xfrm>
            <a:prstGeom prst="rect">
              <a:avLst/>
            </a:prstGeom>
            <a:solidFill>
              <a:srgbClr val="FAD3B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250/211/187</a:t>
              </a:r>
              <a:endParaRPr kumimoji="1" lang="mr-IN" altLang="zh-CN" sz="500" b="1" dirty="0">
                <a:solidFill>
                  <a:srgbClr val="595757"/>
                </a:solidFill>
                <a:latin typeface="Huawei Sans" panose="020C0503030203020204" pitchFamily="34" charset="0"/>
                <a:ea typeface="Arial" charset="0"/>
                <a:cs typeface="Arial" charset="0"/>
              </a:endParaRPr>
            </a:p>
          </p:txBody>
        </p:sp>
        <p:sp>
          <p:nvSpPr>
            <p:cNvPr id="60" name="矩形 13">
              <a:extLst>
                <a:ext uri="{FF2B5EF4-FFF2-40B4-BE49-F238E27FC236}">
                  <a16:creationId xmlns="" xmlns:a16="http://schemas.microsoft.com/office/drawing/2014/main" id="{AC5BCC27-B68D-0743-8E0B-E25F8D01C3A4}"/>
                </a:ext>
              </a:extLst>
            </p:cNvPr>
            <p:cNvSpPr/>
            <p:nvPr/>
          </p:nvSpPr>
          <p:spPr>
            <a:xfrm>
              <a:off x="7815961" y="4866463"/>
              <a:ext cx="791510" cy="664397"/>
            </a:xfrm>
            <a:prstGeom prst="rect">
              <a:avLst/>
            </a:prstGeom>
            <a:solidFill>
              <a:srgbClr val="D0E8C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208/232/196</a:t>
              </a:r>
            </a:p>
          </p:txBody>
        </p:sp>
        <p:sp>
          <p:nvSpPr>
            <p:cNvPr id="61" name="矩形 13">
              <a:extLst>
                <a:ext uri="{FF2B5EF4-FFF2-40B4-BE49-F238E27FC236}">
                  <a16:creationId xmlns="" xmlns:a16="http://schemas.microsoft.com/office/drawing/2014/main" id="{51C2E83A-C975-6945-B2FD-5B22BBB53DB7}"/>
                </a:ext>
              </a:extLst>
            </p:cNvPr>
            <p:cNvSpPr/>
            <p:nvPr/>
          </p:nvSpPr>
          <p:spPr>
            <a:xfrm>
              <a:off x="7813724" y="4134866"/>
              <a:ext cx="791510" cy="664397"/>
            </a:xfrm>
            <a:prstGeom prst="rect">
              <a:avLst/>
            </a:prstGeom>
            <a:solidFill>
              <a:srgbClr val="FEEE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254/238/193</a:t>
              </a:r>
            </a:p>
          </p:txBody>
        </p:sp>
        <p:sp>
          <p:nvSpPr>
            <p:cNvPr id="62" name="矩形 13">
              <a:extLst>
                <a:ext uri="{FF2B5EF4-FFF2-40B4-BE49-F238E27FC236}">
                  <a16:creationId xmlns="" xmlns:a16="http://schemas.microsoft.com/office/drawing/2014/main" id="{BEE9A95F-6965-354F-A2C7-2E8C81DDA52F}"/>
                </a:ext>
              </a:extLst>
            </p:cNvPr>
            <p:cNvSpPr/>
            <p:nvPr/>
          </p:nvSpPr>
          <p:spPr>
            <a:xfrm>
              <a:off x="7813724" y="5596166"/>
              <a:ext cx="791510" cy="664397"/>
            </a:xfrm>
            <a:prstGeom prst="rect">
              <a:avLst/>
            </a:prstGeom>
            <a:solidFill>
              <a:srgbClr val="BEE9E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595757"/>
                  </a:solidFill>
                  <a:latin typeface="Huawei Sans" panose="020C0503030203020204" pitchFamily="34" charset="0"/>
                  <a:ea typeface="Arial" charset="0"/>
                  <a:cs typeface="Huawei Sans" panose="020C0503030203020204" pitchFamily="34" charset="0"/>
                </a:rPr>
              </a:b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190/23/238</a:t>
              </a:r>
            </a:p>
          </p:txBody>
        </p:sp>
        <p:sp>
          <p:nvSpPr>
            <p:cNvPr id="63" name="矩形 13">
              <a:extLst>
                <a:ext uri="{FF2B5EF4-FFF2-40B4-BE49-F238E27FC236}">
                  <a16:creationId xmlns="" xmlns:a16="http://schemas.microsoft.com/office/drawing/2014/main" id="{509164EB-3DC4-7A4F-9E7C-06EBC981CD0A}"/>
                </a:ext>
              </a:extLst>
            </p:cNvPr>
            <p:cNvSpPr/>
            <p:nvPr/>
          </p:nvSpPr>
          <p:spPr>
            <a:xfrm>
              <a:off x="7807694" y="184963"/>
              <a:ext cx="791510" cy="664397"/>
            </a:xfrm>
            <a:prstGeom prst="rect">
              <a:avLst/>
            </a:prstGeom>
            <a:solidFill>
              <a:srgbClr val="EEB3B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239/178/184</a:t>
              </a:r>
            </a:p>
          </p:txBody>
        </p:sp>
        <p:sp>
          <p:nvSpPr>
            <p:cNvPr id="64" name="矩形 13">
              <a:extLst>
                <a:ext uri="{FF2B5EF4-FFF2-40B4-BE49-F238E27FC236}">
                  <a16:creationId xmlns="" xmlns:a16="http://schemas.microsoft.com/office/drawing/2014/main" id="{667867DD-D3E6-3040-A7B5-39345C0CE2E3}"/>
                </a:ext>
              </a:extLst>
            </p:cNvPr>
            <p:cNvSpPr/>
            <p:nvPr/>
          </p:nvSpPr>
          <p:spPr>
            <a:xfrm>
              <a:off x="7807054" y="918047"/>
              <a:ext cx="791510" cy="664397"/>
            </a:xfrm>
            <a:prstGeom prst="rect">
              <a:avLst/>
            </a:prstGeom>
            <a:solidFill>
              <a:srgbClr val="EEB3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238/179/193</a:t>
              </a:r>
            </a:p>
          </p:txBody>
        </p:sp>
        <p:sp>
          <p:nvSpPr>
            <p:cNvPr id="65" name="矩形 13">
              <a:extLst>
                <a:ext uri="{FF2B5EF4-FFF2-40B4-BE49-F238E27FC236}">
                  <a16:creationId xmlns="" xmlns:a16="http://schemas.microsoft.com/office/drawing/2014/main" id="{9EE10597-3782-AB46-8453-89FA049C6C46}"/>
                </a:ext>
              </a:extLst>
            </p:cNvPr>
            <p:cNvSpPr/>
            <p:nvPr userDrawn="1"/>
          </p:nvSpPr>
          <p:spPr>
            <a:xfrm>
              <a:off x="5354169" y="6324025"/>
              <a:ext cx="513579" cy="664397"/>
            </a:xfrm>
            <a:prstGeom prst="rect">
              <a:avLst/>
            </a:prstGeom>
            <a:solidFill>
              <a:srgbClr val="22181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35/24/21</a:t>
              </a:r>
            </a:p>
          </p:txBody>
        </p:sp>
        <p:sp>
          <p:nvSpPr>
            <p:cNvPr id="66" name="矩形 13">
              <a:extLst>
                <a:ext uri="{FF2B5EF4-FFF2-40B4-BE49-F238E27FC236}">
                  <a16:creationId xmlns="" xmlns:a16="http://schemas.microsoft.com/office/drawing/2014/main" id="{966B3529-B594-884C-BED0-5887B34BBBB8}"/>
                </a:ext>
              </a:extLst>
            </p:cNvPr>
            <p:cNvSpPr/>
            <p:nvPr userDrawn="1"/>
          </p:nvSpPr>
          <p:spPr>
            <a:xfrm>
              <a:off x="5900626" y="6324025"/>
              <a:ext cx="513579" cy="664397"/>
            </a:xfrm>
            <a:prstGeom prst="rect">
              <a:avLst/>
            </a:prstGeom>
            <a:solidFill>
              <a:srgbClr val="5957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p>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89/87/87</a:t>
              </a:r>
            </a:p>
          </p:txBody>
        </p:sp>
        <p:sp>
          <p:nvSpPr>
            <p:cNvPr id="67" name="矩形 13">
              <a:extLst>
                <a:ext uri="{FF2B5EF4-FFF2-40B4-BE49-F238E27FC236}">
                  <a16:creationId xmlns="" xmlns:a16="http://schemas.microsoft.com/office/drawing/2014/main" id="{0B0545C9-147F-584F-80D2-EF13876D7D33}"/>
                </a:ext>
              </a:extLst>
            </p:cNvPr>
            <p:cNvSpPr/>
            <p:nvPr userDrawn="1"/>
          </p:nvSpPr>
          <p:spPr>
            <a:xfrm>
              <a:off x="6450318" y="6324025"/>
              <a:ext cx="513579" cy="664397"/>
            </a:xfrm>
            <a:prstGeom prst="rect">
              <a:avLst/>
            </a:prstGeom>
            <a:solidFill>
              <a:srgbClr val="88888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p>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137/137/</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137</a:t>
              </a:r>
            </a:p>
          </p:txBody>
        </p:sp>
        <p:sp>
          <p:nvSpPr>
            <p:cNvPr id="68" name="矩形 13">
              <a:extLst>
                <a:ext uri="{FF2B5EF4-FFF2-40B4-BE49-F238E27FC236}">
                  <a16:creationId xmlns="" xmlns:a16="http://schemas.microsoft.com/office/drawing/2014/main" id="{44FD0A0B-0D45-3340-A523-465AC24134BF}"/>
                </a:ext>
              </a:extLst>
            </p:cNvPr>
            <p:cNvSpPr/>
            <p:nvPr userDrawn="1"/>
          </p:nvSpPr>
          <p:spPr>
            <a:xfrm>
              <a:off x="6998296" y="6324025"/>
              <a:ext cx="513579" cy="664397"/>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p>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181/181/</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181</a:t>
              </a:r>
            </a:p>
          </p:txBody>
        </p:sp>
        <p:sp>
          <p:nvSpPr>
            <p:cNvPr id="69" name="矩形 13">
              <a:extLst>
                <a:ext uri="{FF2B5EF4-FFF2-40B4-BE49-F238E27FC236}">
                  <a16:creationId xmlns="" xmlns:a16="http://schemas.microsoft.com/office/drawing/2014/main" id="{2C404A07-276B-3648-BB25-4EDB5905448C}"/>
                </a:ext>
              </a:extLst>
            </p:cNvPr>
            <p:cNvSpPr/>
            <p:nvPr userDrawn="1"/>
          </p:nvSpPr>
          <p:spPr>
            <a:xfrm>
              <a:off x="7541580" y="6324025"/>
              <a:ext cx="513579" cy="664397"/>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221/221/</a:t>
              </a:r>
              <a:br>
                <a:rPr kumimoji="1" lang="en-US" altLang="zh-CN" sz="500" b="1" dirty="0">
                  <a:solidFill>
                    <a:srgbClr val="595757"/>
                  </a:solidFill>
                  <a:latin typeface="Huawei Sans" panose="020C0503030203020204" pitchFamily="34" charset="0"/>
                  <a:ea typeface="Arial" charset="0"/>
                  <a:cs typeface="Huawei Sans" panose="020C0503030203020204" pitchFamily="34" charset="0"/>
                </a:rPr>
              </a:b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221</a:t>
              </a:r>
            </a:p>
          </p:txBody>
        </p:sp>
        <p:sp>
          <p:nvSpPr>
            <p:cNvPr id="70" name="矩形 13">
              <a:extLst>
                <a:ext uri="{FF2B5EF4-FFF2-40B4-BE49-F238E27FC236}">
                  <a16:creationId xmlns="" xmlns:a16="http://schemas.microsoft.com/office/drawing/2014/main" id="{72B0F29C-A346-8946-9B8E-8F1B9DFF7AD0}"/>
                </a:ext>
              </a:extLst>
            </p:cNvPr>
            <p:cNvSpPr/>
            <p:nvPr userDrawn="1"/>
          </p:nvSpPr>
          <p:spPr>
            <a:xfrm>
              <a:off x="8083608" y="6324025"/>
              <a:ext cx="513579" cy="664397"/>
            </a:xfrm>
            <a:prstGeom prst="rect">
              <a:avLst/>
            </a:prstGeom>
            <a:solidFill>
              <a:srgbClr val="FFFFFF"/>
            </a:solidFill>
            <a:ln w="6350">
              <a:solidFill>
                <a:srgbClr val="B5B5B5"/>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a:t>
              </a:r>
            </a:p>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255/255/</a:t>
              </a:r>
              <a:br>
                <a:rPr kumimoji="1" lang="en-US" altLang="zh-CN" sz="500" b="1" dirty="0">
                  <a:solidFill>
                    <a:srgbClr val="595757"/>
                  </a:solidFill>
                  <a:latin typeface="Huawei Sans" panose="020C0503030203020204" pitchFamily="34" charset="0"/>
                  <a:ea typeface="Arial" charset="0"/>
                  <a:cs typeface="Huawei Sans" panose="020C0503030203020204" pitchFamily="34" charset="0"/>
                </a:rPr>
              </a:b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255</a:t>
              </a:r>
            </a:p>
          </p:txBody>
        </p:sp>
      </p:grpSp>
    </p:spTree>
    <p:extLst>
      <p:ext uri="{BB962C8B-B14F-4D97-AF65-F5344CB8AC3E}">
        <p14:creationId xmlns:p14="http://schemas.microsoft.com/office/powerpoint/2010/main" val="4070073675"/>
      </p:ext>
    </p:extLst>
  </p:cSld>
  <p:clrMap bg1="lt1" tx1="dk1" bg2="lt2" tx2="dk2" accent1="accent1" accent2="accent2" accent3="accent3" accent4="accent4" accent5="accent5" accent6="accent6" hlink="hlink" folHlink="folHlink"/>
  <p:sldLayoutIdLst>
    <p:sldLayoutId id="2147483873" r:id="rId1"/>
  </p:sldLayoutIdLst>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0" indent="0" algn="l" defTabSz="914400" rtl="0" eaLnBrk="1" latinLnBrk="0" hangingPunct="1">
        <a:lnSpc>
          <a:spcPct val="90000"/>
        </a:lnSpc>
        <a:spcBef>
          <a:spcPts val="1000"/>
        </a:spcBef>
        <a:buFont typeface="Arial" panose="020B0604020202020204" pitchFamily="34" charset="0"/>
        <a:buNone/>
        <a:defRPr sz="2800" kern="1200" baseline="0">
          <a:solidFill>
            <a:schemeClr val="tx1"/>
          </a:solidFill>
          <a:latin typeface="Huawei Sans" panose="020C0503030203020204" pitchFamily="34" charset="0"/>
          <a:ea typeface="方正兰亭黑简体" panose="02000000000000000000" pitchFamily="2"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3906">
          <p15:clr>
            <a:srgbClr val="F26B43"/>
          </p15:clr>
        </p15:guide>
        <p15:guide id="2" pos="574">
          <p15:clr>
            <a:srgbClr val="F26B43"/>
          </p15:clr>
        </p15:guide>
        <p15:guide id="3" orient="horz" pos="572">
          <p15:clr>
            <a:srgbClr val="F26B43"/>
          </p15:clr>
        </p15:guide>
        <p15:guide id="4" orient="horz" pos="1230">
          <p15:clr>
            <a:srgbClr val="F26B43"/>
          </p15:clr>
        </p15:guide>
        <p15:guide id="5" orient="horz" pos="2160">
          <p15:clr>
            <a:srgbClr val="F26B43"/>
          </p15:clr>
        </p15:guide>
        <p15:guide id="6" pos="384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bwMode="gray">
      <p:bgPr>
        <a:solidFill>
          <a:srgbClr val="EBEBEB"/>
        </a:solidFill>
        <a:effectLst/>
      </p:bgPr>
    </p:bg>
    <p:spTree>
      <p:nvGrpSpPr>
        <p:cNvPr id="1" name=""/>
        <p:cNvGrpSpPr/>
        <p:nvPr/>
      </p:nvGrpSpPr>
      <p:grpSpPr>
        <a:xfrm>
          <a:off x="0" y="0"/>
          <a:ext cx="0" cy="0"/>
          <a:chOff x="0" y="0"/>
          <a:chExt cx="0" cy="0"/>
        </a:xfrm>
      </p:grpSpPr>
      <p:sp>
        <p:nvSpPr>
          <p:cNvPr id="23" name="TextBox 2">
            <a:extLst>
              <a:ext uri="{FF2B5EF4-FFF2-40B4-BE49-F238E27FC236}">
                <a16:creationId xmlns="" xmlns:a16="http://schemas.microsoft.com/office/drawing/2014/main" id="{6785A3D6-1271-D247-9E96-1B376F4BE7BE}"/>
              </a:ext>
            </a:extLst>
          </p:cNvPr>
          <p:cNvSpPr txBox="1"/>
          <p:nvPr userDrawn="1"/>
        </p:nvSpPr>
        <p:spPr>
          <a:xfrm>
            <a:off x="1095467" y="6356939"/>
            <a:ext cx="1463467" cy="242864"/>
          </a:xfrm>
          <a:prstGeom prst="rect">
            <a:avLst/>
          </a:prstGeom>
          <a:noFill/>
        </p:spPr>
        <p:txBody>
          <a:bodyPr wrap="square" rtlCol="0">
            <a:spAutoFit/>
          </a:bodyPr>
          <a:lstStyle/>
          <a:p>
            <a:r>
              <a:rPr lang="en-US" sz="974" b="0" baseline="0" dirty="0">
                <a:solidFill>
                  <a:srgbClr val="1D1D1B"/>
                </a:solidFill>
                <a:latin typeface="Huawei Sans" panose="020C0503030203020204" pitchFamily="34" charset="0"/>
                <a:ea typeface="方正兰亭黑简体" panose="02000000000000000000" pitchFamily="2" charset="-122"/>
                <a:cs typeface="Huawei Sans" panose="020C0503030203020204" pitchFamily="34" charset="0"/>
              </a:rPr>
              <a:t>Huawei Confidential</a:t>
            </a:r>
          </a:p>
        </p:txBody>
      </p:sp>
      <p:sp>
        <p:nvSpPr>
          <p:cNvPr id="24" name="TextBox 3">
            <a:extLst>
              <a:ext uri="{FF2B5EF4-FFF2-40B4-BE49-F238E27FC236}">
                <a16:creationId xmlns="" xmlns:a16="http://schemas.microsoft.com/office/drawing/2014/main" id="{EABEE2EE-BF4D-7A4A-B3C6-9E47668CCD98}"/>
              </a:ext>
            </a:extLst>
          </p:cNvPr>
          <p:cNvSpPr txBox="1"/>
          <p:nvPr userDrawn="1"/>
        </p:nvSpPr>
        <p:spPr>
          <a:xfrm>
            <a:off x="734131" y="6402806"/>
            <a:ext cx="499729" cy="150296"/>
          </a:xfrm>
          <a:prstGeom prst="rect">
            <a:avLst/>
          </a:prstGeom>
          <a:noFill/>
        </p:spPr>
        <p:txBody>
          <a:bodyPr wrap="square" lIns="0" tIns="0" rIns="0" bIns="0" rtlCol="0">
            <a:spAutoFit/>
          </a:bodyPr>
          <a:lstStyle/>
          <a:p>
            <a:pPr marL="0" marR="0" lvl="0" indent="0" algn="l" defTabSz="890849" rtl="0" eaLnBrk="1" fontAlgn="auto" latinLnBrk="0" hangingPunct="1">
              <a:lnSpc>
                <a:spcPct val="100000"/>
              </a:lnSpc>
              <a:spcBef>
                <a:spcPts val="0"/>
              </a:spcBef>
              <a:spcAft>
                <a:spcPts val="0"/>
              </a:spcAft>
              <a:buClrTx/>
              <a:buSzTx/>
              <a:buFontTx/>
              <a:buNone/>
              <a:tabLst/>
              <a:defRPr/>
            </a:pPr>
            <a:fld id="{C3837181-38C6-AD4F-B8BA-B444770388BB}" type="slidenum">
              <a:rPr lang="en-US" sz="974" baseline="0" smtClean="0">
                <a:solidFill>
                  <a:srgbClr val="1D1D1B"/>
                </a:solidFill>
                <a:latin typeface="Huawei Sans" panose="020C0503030203020204" pitchFamily="34" charset="0"/>
                <a:ea typeface="方正兰亭黑简体" panose="02000000000000000000" pitchFamily="2" charset="-122"/>
                <a:cs typeface="Huawei Sans" panose="020C0503030203020204" pitchFamily="34" charset="0"/>
              </a:rPr>
              <a:pPr marL="0" marR="0" lvl="0" indent="0" algn="l" defTabSz="890849" rtl="0" eaLnBrk="1" fontAlgn="auto" latinLnBrk="0" hangingPunct="1">
                <a:lnSpc>
                  <a:spcPct val="100000"/>
                </a:lnSpc>
                <a:spcBef>
                  <a:spcPts val="0"/>
                </a:spcBef>
                <a:spcAft>
                  <a:spcPts val="0"/>
                </a:spcAft>
                <a:buClrTx/>
                <a:buSzTx/>
                <a:buFontTx/>
                <a:buNone/>
                <a:tabLst/>
                <a:defRPr/>
              </a:pPr>
              <a:t>‹#›</a:t>
            </a:fld>
            <a:endParaRPr lang="en-US" sz="974" baseline="0" dirty="0">
              <a:solidFill>
                <a:srgbClr val="1D1D1B"/>
              </a:solidFill>
              <a:latin typeface="Huawei Sans" panose="020C0503030203020204" pitchFamily="34" charset="0"/>
              <a:ea typeface="方正兰亭黑简体" panose="02000000000000000000" pitchFamily="2" charset="-122"/>
              <a:cs typeface="Huawei Sans" panose="020C0503030203020204" pitchFamily="34" charset="0"/>
            </a:endParaRPr>
          </a:p>
        </p:txBody>
      </p:sp>
      <p:pic>
        <p:nvPicPr>
          <p:cNvPr id="25" name="图片 24"/>
          <p:cNvPicPr>
            <a:picLocks noChangeAspect="1"/>
          </p:cNvPicPr>
          <p:nvPr userDrawn="1"/>
        </p:nvPicPr>
        <p:blipFill>
          <a:blip r:embed="rId12" cstate="print">
            <a:extLst>
              <a:ext uri="{28A0092B-C50C-407E-A947-70E740481C1C}">
                <a14:useLocalDpi xmlns:a14="http://schemas.microsoft.com/office/drawing/2010/main" val="0"/>
              </a:ext>
            </a:extLst>
          </a:blip>
          <a:stretch>
            <a:fillRect/>
          </a:stretch>
        </p:blipFill>
        <p:spPr>
          <a:xfrm>
            <a:off x="10195999" y="6319870"/>
            <a:ext cx="1269075" cy="271153"/>
          </a:xfrm>
          <a:prstGeom prst="rect">
            <a:avLst/>
          </a:prstGeom>
        </p:spPr>
      </p:pic>
      <p:grpSp>
        <p:nvGrpSpPr>
          <p:cNvPr id="27" name="Group 87">
            <a:extLst>
              <a:ext uri="{FF2B5EF4-FFF2-40B4-BE49-F238E27FC236}">
                <a16:creationId xmlns="" xmlns:a16="http://schemas.microsoft.com/office/drawing/2014/main" id="{37333705-F8D6-2847-B3CB-F2FAB51E2A3B}"/>
              </a:ext>
            </a:extLst>
          </p:cNvPr>
          <p:cNvGrpSpPr>
            <a:grpSpLocks noChangeAspect="1"/>
          </p:cNvGrpSpPr>
          <p:nvPr userDrawn="1"/>
        </p:nvGrpSpPr>
        <p:grpSpPr>
          <a:xfrm>
            <a:off x="12290471" y="2625389"/>
            <a:ext cx="1963323" cy="4233515"/>
            <a:chOff x="5343885" y="-48857"/>
            <a:chExt cx="3263586" cy="7037279"/>
          </a:xfrm>
        </p:grpSpPr>
        <p:sp>
          <p:nvSpPr>
            <p:cNvPr id="28" name="矩形 13">
              <a:extLst>
                <a:ext uri="{FF2B5EF4-FFF2-40B4-BE49-F238E27FC236}">
                  <a16:creationId xmlns="" xmlns:a16="http://schemas.microsoft.com/office/drawing/2014/main" id="{B14DFA89-D483-CF47-82CC-DD86D7CAB09E}"/>
                </a:ext>
              </a:extLst>
            </p:cNvPr>
            <p:cNvSpPr/>
            <p:nvPr userDrawn="1"/>
          </p:nvSpPr>
          <p:spPr>
            <a:xfrm>
              <a:off x="5356401" y="1934171"/>
              <a:ext cx="791510" cy="664397"/>
            </a:xfrm>
            <a:prstGeom prst="rect">
              <a:avLst/>
            </a:prstGeom>
            <a:solidFill>
              <a:srgbClr val="C4005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RGB</a:t>
              </a:r>
              <a:br>
                <a:rPr kumimoji="1" lang="en-US" altLang="zh-CN" sz="500" b="1" dirty="0">
                  <a:solidFill>
                    <a:schemeClr val="tx2"/>
                  </a:solidFill>
                  <a:latin typeface="Huawei Sans" panose="020C0503030203020204" pitchFamily="34" charset="0"/>
                  <a:ea typeface="Arial" charset="0"/>
                  <a:cs typeface="Huawei Sans" panose="020C0503030203020204" pitchFamily="34" charset="0"/>
                </a:rPr>
              </a:b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196/0/84</a:t>
              </a:r>
            </a:p>
          </p:txBody>
        </p:sp>
        <p:sp>
          <p:nvSpPr>
            <p:cNvPr id="29" name="文本框 15">
              <a:extLst>
                <a:ext uri="{FF2B5EF4-FFF2-40B4-BE49-F238E27FC236}">
                  <a16:creationId xmlns="" xmlns:a16="http://schemas.microsoft.com/office/drawing/2014/main" id="{8223ADA0-340A-794B-93B7-24AFF612A719}"/>
                </a:ext>
              </a:extLst>
            </p:cNvPr>
            <p:cNvSpPr txBox="1"/>
            <p:nvPr userDrawn="1"/>
          </p:nvSpPr>
          <p:spPr>
            <a:xfrm>
              <a:off x="5352723" y="1694497"/>
              <a:ext cx="1052647"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方正兰亭黑简体" panose="02000000000000000000" pitchFamily="2" charset="-122"/>
                  <a:ea typeface="方正兰亭黑简体" panose="02000000000000000000" pitchFamily="2" charset="-122"/>
                </a:rPr>
                <a:t>公司辅助色</a:t>
              </a:r>
            </a:p>
          </p:txBody>
        </p:sp>
        <p:sp>
          <p:nvSpPr>
            <p:cNvPr id="30" name="矩形 13">
              <a:extLst>
                <a:ext uri="{FF2B5EF4-FFF2-40B4-BE49-F238E27FC236}">
                  <a16:creationId xmlns="" xmlns:a16="http://schemas.microsoft.com/office/drawing/2014/main" id="{5F63E0E3-4F22-7948-AB1A-40A84ECA92EC}"/>
                </a:ext>
              </a:extLst>
            </p:cNvPr>
            <p:cNvSpPr/>
            <p:nvPr userDrawn="1"/>
          </p:nvSpPr>
          <p:spPr>
            <a:xfrm>
              <a:off x="6184680" y="1934171"/>
              <a:ext cx="791510" cy="664397"/>
            </a:xfrm>
            <a:prstGeom prst="rect">
              <a:avLst/>
            </a:prstGeom>
            <a:solidFill>
              <a:srgbClr val="CB377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203/55/120</a:t>
              </a:r>
            </a:p>
          </p:txBody>
        </p:sp>
        <p:sp>
          <p:nvSpPr>
            <p:cNvPr id="31" name="矩形 13">
              <a:extLst>
                <a:ext uri="{FF2B5EF4-FFF2-40B4-BE49-F238E27FC236}">
                  <a16:creationId xmlns="" xmlns:a16="http://schemas.microsoft.com/office/drawing/2014/main" id="{29C4A3C6-7C7B-7140-8F73-591E9F49143F}"/>
                </a:ext>
              </a:extLst>
            </p:cNvPr>
            <p:cNvSpPr/>
            <p:nvPr userDrawn="1"/>
          </p:nvSpPr>
          <p:spPr>
            <a:xfrm>
              <a:off x="5356401" y="3403061"/>
              <a:ext cx="791510" cy="664397"/>
            </a:xfrm>
            <a:prstGeom prst="rect">
              <a:avLst/>
            </a:prstGeom>
            <a:solidFill>
              <a:srgbClr val="ED6D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237/109/0</a:t>
              </a:r>
            </a:p>
          </p:txBody>
        </p:sp>
        <p:sp>
          <p:nvSpPr>
            <p:cNvPr id="32" name="矩形 13">
              <a:extLst>
                <a:ext uri="{FF2B5EF4-FFF2-40B4-BE49-F238E27FC236}">
                  <a16:creationId xmlns="" xmlns:a16="http://schemas.microsoft.com/office/drawing/2014/main" id="{BE4C9A8D-46B0-5B40-BC47-DB6C4899227F}"/>
                </a:ext>
              </a:extLst>
            </p:cNvPr>
            <p:cNvSpPr/>
            <p:nvPr userDrawn="1"/>
          </p:nvSpPr>
          <p:spPr>
            <a:xfrm>
              <a:off x="6184680" y="2673360"/>
              <a:ext cx="791510" cy="664397"/>
            </a:xfrm>
            <a:prstGeom prst="rect">
              <a:avLst/>
            </a:prstGeom>
            <a:solidFill>
              <a:srgbClr val="99363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153/54/54</a:t>
              </a:r>
            </a:p>
          </p:txBody>
        </p:sp>
        <p:sp>
          <p:nvSpPr>
            <p:cNvPr id="33" name="矩形 13">
              <a:extLst>
                <a:ext uri="{FF2B5EF4-FFF2-40B4-BE49-F238E27FC236}">
                  <a16:creationId xmlns="" xmlns:a16="http://schemas.microsoft.com/office/drawing/2014/main" id="{612F2ED4-F7A4-9E48-95E1-8D07B3BBE962}"/>
                </a:ext>
              </a:extLst>
            </p:cNvPr>
            <p:cNvSpPr/>
            <p:nvPr userDrawn="1"/>
          </p:nvSpPr>
          <p:spPr>
            <a:xfrm>
              <a:off x="5356401" y="4866463"/>
              <a:ext cx="791510" cy="664397"/>
            </a:xfrm>
            <a:prstGeom prst="rect">
              <a:avLst/>
            </a:prstGeom>
            <a:solidFill>
              <a:srgbClr val="62B23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98/178/48</a:t>
              </a:r>
            </a:p>
          </p:txBody>
        </p:sp>
        <p:sp>
          <p:nvSpPr>
            <p:cNvPr id="34" name="矩形 13">
              <a:extLst>
                <a:ext uri="{FF2B5EF4-FFF2-40B4-BE49-F238E27FC236}">
                  <a16:creationId xmlns="" xmlns:a16="http://schemas.microsoft.com/office/drawing/2014/main" id="{A9E1D476-C288-8945-A68A-1F20C557294B}"/>
                </a:ext>
              </a:extLst>
            </p:cNvPr>
            <p:cNvSpPr/>
            <p:nvPr userDrawn="1"/>
          </p:nvSpPr>
          <p:spPr>
            <a:xfrm>
              <a:off x="6184680" y="3415851"/>
              <a:ext cx="791510" cy="664397"/>
            </a:xfrm>
            <a:prstGeom prst="rect">
              <a:avLst/>
            </a:prstGeom>
            <a:solidFill>
              <a:srgbClr val="F2894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242/137/68</a:t>
              </a:r>
              <a:endParaRPr kumimoji="1" lang="mr-IN" altLang="zh-CN" sz="500" b="1" dirty="0">
                <a:solidFill>
                  <a:srgbClr val="FFFFFF"/>
                </a:solidFill>
                <a:latin typeface="Huawei Sans" panose="020C0503030203020204" pitchFamily="34" charset="0"/>
                <a:ea typeface="Arial" charset="0"/>
                <a:cs typeface="Arial" charset="0"/>
              </a:endParaRPr>
            </a:p>
          </p:txBody>
        </p:sp>
        <p:sp>
          <p:nvSpPr>
            <p:cNvPr id="35" name="矩形 13">
              <a:extLst>
                <a:ext uri="{FF2B5EF4-FFF2-40B4-BE49-F238E27FC236}">
                  <a16:creationId xmlns="" xmlns:a16="http://schemas.microsoft.com/office/drawing/2014/main" id="{42823EBB-E62E-F149-AC9A-09950051F283}"/>
                </a:ext>
              </a:extLst>
            </p:cNvPr>
            <p:cNvSpPr/>
            <p:nvPr userDrawn="1"/>
          </p:nvSpPr>
          <p:spPr>
            <a:xfrm>
              <a:off x="5353240" y="184963"/>
              <a:ext cx="791510" cy="664397"/>
            </a:xfrm>
            <a:prstGeom prst="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PANTONE 185C</a:t>
              </a:r>
            </a:p>
            <a:p>
              <a:pPr algn="ctr">
                <a:lnSpc>
                  <a:spcPts val="620"/>
                </a:lnSpc>
                <a:spcBef>
                  <a:spcPts val="0"/>
                </a:spcBef>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RGB </a:t>
              </a:r>
              <a:br>
                <a:rPr kumimoji="1" lang="en-US" altLang="zh-CN" sz="500" b="1" dirty="0">
                  <a:solidFill>
                    <a:schemeClr val="tx2"/>
                  </a:solidFill>
                  <a:latin typeface="Huawei Sans" panose="020C0503030203020204" pitchFamily="34" charset="0"/>
                  <a:ea typeface="Arial" charset="0"/>
                  <a:cs typeface="Huawei Sans" panose="020C0503030203020204" pitchFamily="34" charset="0"/>
                </a:rPr>
              </a:b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199/0/11  </a:t>
              </a:r>
            </a:p>
          </p:txBody>
        </p:sp>
        <p:sp>
          <p:nvSpPr>
            <p:cNvPr id="36" name="文本框 15">
              <a:extLst>
                <a:ext uri="{FF2B5EF4-FFF2-40B4-BE49-F238E27FC236}">
                  <a16:creationId xmlns="" xmlns:a16="http://schemas.microsoft.com/office/drawing/2014/main" id="{EA01C299-6FF2-3642-AAEC-A1DF62D9C654}"/>
                </a:ext>
              </a:extLst>
            </p:cNvPr>
            <p:cNvSpPr txBox="1"/>
            <p:nvPr userDrawn="1"/>
          </p:nvSpPr>
          <p:spPr>
            <a:xfrm>
              <a:off x="5343885" y="-48857"/>
              <a:ext cx="726488"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方正兰亭黑简体" panose="02000000000000000000" pitchFamily="2" charset="-122"/>
                  <a:ea typeface="方正兰亭黑简体" panose="02000000000000000000" pitchFamily="2" charset="-122"/>
                </a:rPr>
                <a:t>公司色</a:t>
              </a:r>
            </a:p>
          </p:txBody>
        </p:sp>
        <p:sp>
          <p:nvSpPr>
            <p:cNvPr id="37" name="矩形 13">
              <a:extLst>
                <a:ext uri="{FF2B5EF4-FFF2-40B4-BE49-F238E27FC236}">
                  <a16:creationId xmlns="" xmlns:a16="http://schemas.microsoft.com/office/drawing/2014/main" id="{B84AB502-165F-764A-9621-65CA8CBBEAEA}"/>
                </a:ext>
              </a:extLst>
            </p:cNvPr>
            <p:cNvSpPr/>
            <p:nvPr userDrawn="1"/>
          </p:nvSpPr>
          <p:spPr>
            <a:xfrm>
              <a:off x="5352600" y="918047"/>
              <a:ext cx="791510" cy="664397"/>
            </a:xfrm>
            <a:prstGeom prst="rect">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PANTONE 186C</a:t>
              </a:r>
            </a:p>
            <a:p>
              <a:pPr algn="ctr">
                <a:lnSpc>
                  <a:spcPts val="620"/>
                </a:lnSpc>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RGB</a:t>
              </a:r>
              <a:br>
                <a:rPr kumimoji="1" lang="en-US" altLang="zh-CN" sz="500" b="1" dirty="0">
                  <a:solidFill>
                    <a:schemeClr val="tx2"/>
                  </a:solidFill>
                  <a:latin typeface="Huawei Sans" panose="020C0503030203020204" pitchFamily="34" charset="0"/>
                  <a:ea typeface="Arial" charset="0"/>
                  <a:cs typeface="Huawei Sans" panose="020C0503030203020204" pitchFamily="34" charset="0"/>
                </a:rPr>
              </a:b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200/16/46  </a:t>
              </a:r>
            </a:p>
          </p:txBody>
        </p:sp>
        <p:sp>
          <p:nvSpPr>
            <p:cNvPr id="38" name="矩形 13">
              <a:extLst>
                <a:ext uri="{FF2B5EF4-FFF2-40B4-BE49-F238E27FC236}">
                  <a16:creationId xmlns="" xmlns:a16="http://schemas.microsoft.com/office/drawing/2014/main" id="{CB8870E8-3E95-764C-B621-A168E194CC7A}"/>
                </a:ext>
              </a:extLst>
            </p:cNvPr>
            <p:cNvSpPr/>
            <p:nvPr userDrawn="1"/>
          </p:nvSpPr>
          <p:spPr>
            <a:xfrm>
              <a:off x="5354164" y="2665974"/>
              <a:ext cx="791510" cy="664397"/>
            </a:xfrm>
            <a:prstGeom prst="rect">
              <a:avLst/>
            </a:prstGeom>
            <a:solidFill>
              <a:srgbClr val="7F000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127/0/1</a:t>
              </a:r>
            </a:p>
          </p:txBody>
        </p:sp>
        <p:sp>
          <p:nvSpPr>
            <p:cNvPr id="39" name="矩形 13">
              <a:extLst>
                <a:ext uri="{FF2B5EF4-FFF2-40B4-BE49-F238E27FC236}">
                  <a16:creationId xmlns="" xmlns:a16="http://schemas.microsoft.com/office/drawing/2014/main" id="{356EF69A-1936-544F-A95F-0664F4E186D5}"/>
                </a:ext>
              </a:extLst>
            </p:cNvPr>
            <p:cNvSpPr/>
            <p:nvPr userDrawn="1"/>
          </p:nvSpPr>
          <p:spPr>
            <a:xfrm>
              <a:off x="5354164" y="4134866"/>
              <a:ext cx="791510" cy="664397"/>
            </a:xfrm>
            <a:prstGeom prst="rect">
              <a:avLst/>
            </a:prstGeom>
            <a:solidFill>
              <a:srgbClr val="FCC8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52/200/0</a:t>
              </a:r>
            </a:p>
          </p:txBody>
        </p:sp>
        <p:sp>
          <p:nvSpPr>
            <p:cNvPr id="40" name="矩形 13">
              <a:extLst>
                <a:ext uri="{FF2B5EF4-FFF2-40B4-BE49-F238E27FC236}">
                  <a16:creationId xmlns="" xmlns:a16="http://schemas.microsoft.com/office/drawing/2014/main" id="{03EBAB43-95A5-1C4A-8458-B86EB3D51FCA}"/>
                </a:ext>
              </a:extLst>
            </p:cNvPr>
            <p:cNvSpPr/>
            <p:nvPr userDrawn="1"/>
          </p:nvSpPr>
          <p:spPr>
            <a:xfrm>
              <a:off x="5354164" y="5596166"/>
              <a:ext cx="791510" cy="664397"/>
            </a:xfrm>
            <a:prstGeom prst="rect">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48/181/197</a:t>
              </a:r>
            </a:p>
          </p:txBody>
        </p:sp>
        <p:sp>
          <p:nvSpPr>
            <p:cNvPr id="41" name="矩形 13">
              <a:extLst>
                <a:ext uri="{FF2B5EF4-FFF2-40B4-BE49-F238E27FC236}">
                  <a16:creationId xmlns="" xmlns:a16="http://schemas.microsoft.com/office/drawing/2014/main" id="{371A8520-F934-304C-B57F-B49F768694E2}"/>
                </a:ext>
              </a:extLst>
            </p:cNvPr>
            <p:cNvSpPr/>
            <p:nvPr userDrawn="1"/>
          </p:nvSpPr>
          <p:spPr>
            <a:xfrm>
              <a:off x="6194511" y="4866463"/>
              <a:ext cx="791510" cy="664397"/>
            </a:xfrm>
            <a:prstGeom prst="rect">
              <a:avLst/>
            </a:prstGeom>
            <a:solidFill>
              <a:srgbClr val="81C15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129/193/95</a:t>
              </a:r>
            </a:p>
          </p:txBody>
        </p:sp>
        <p:sp>
          <p:nvSpPr>
            <p:cNvPr id="42" name="矩形 13">
              <a:extLst>
                <a:ext uri="{FF2B5EF4-FFF2-40B4-BE49-F238E27FC236}">
                  <a16:creationId xmlns="" xmlns:a16="http://schemas.microsoft.com/office/drawing/2014/main" id="{B83004D7-279B-C14E-9FCF-870FA1B74FDF}"/>
                </a:ext>
              </a:extLst>
            </p:cNvPr>
            <p:cNvSpPr/>
            <p:nvPr userDrawn="1"/>
          </p:nvSpPr>
          <p:spPr>
            <a:xfrm>
              <a:off x="6192274" y="4134866"/>
              <a:ext cx="791510" cy="664397"/>
            </a:xfrm>
            <a:prstGeom prst="rect">
              <a:avLst/>
            </a:prstGeom>
            <a:solidFill>
              <a:srgbClr val="FDD35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253/211/81</a:t>
              </a:r>
            </a:p>
          </p:txBody>
        </p:sp>
        <p:sp>
          <p:nvSpPr>
            <p:cNvPr id="43" name="矩形 13">
              <a:extLst>
                <a:ext uri="{FF2B5EF4-FFF2-40B4-BE49-F238E27FC236}">
                  <a16:creationId xmlns="" xmlns:a16="http://schemas.microsoft.com/office/drawing/2014/main" id="{99635968-4E69-CC41-9D78-6DF253FE3035}"/>
                </a:ext>
              </a:extLst>
            </p:cNvPr>
            <p:cNvSpPr/>
            <p:nvPr userDrawn="1"/>
          </p:nvSpPr>
          <p:spPr>
            <a:xfrm>
              <a:off x="6192274" y="5596166"/>
              <a:ext cx="791510" cy="664397"/>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86/196/210</a:t>
              </a:r>
            </a:p>
          </p:txBody>
        </p:sp>
        <p:sp>
          <p:nvSpPr>
            <p:cNvPr id="44" name="矩形 13">
              <a:extLst>
                <a:ext uri="{FF2B5EF4-FFF2-40B4-BE49-F238E27FC236}">
                  <a16:creationId xmlns="" xmlns:a16="http://schemas.microsoft.com/office/drawing/2014/main" id="{BDBE4949-07B7-F046-AD95-68E4B0C11CCD}"/>
                </a:ext>
              </a:extLst>
            </p:cNvPr>
            <p:cNvSpPr/>
            <p:nvPr/>
          </p:nvSpPr>
          <p:spPr>
            <a:xfrm>
              <a:off x="6186245" y="184963"/>
              <a:ext cx="791510" cy="664397"/>
            </a:xfrm>
            <a:prstGeom prst="rect">
              <a:avLst/>
            </a:prstGeom>
            <a:solidFill>
              <a:srgbClr val="D3394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211/57/65</a:t>
              </a:r>
            </a:p>
          </p:txBody>
        </p:sp>
        <p:sp>
          <p:nvSpPr>
            <p:cNvPr id="65" name="矩形 13">
              <a:extLst>
                <a:ext uri="{FF2B5EF4-FFF2-40B4-BE49-F238E27FC236}">
                  <a16:creationId xmlns="" xmlns:a16="http://schemas.microsoft.com/office/drawing/2014/main" id="{AA9F9E00-6A31-F14B-A2E4-79908835FD14}"/>
                </a:ext>
              </a:extLst>
            </p:cNvPr>
            <p:cNvSpPr/>
            <p:nvPr/>
          </p:nvSpPr>
          <p:spPr>
            <a:xfrm>
              <a:off x="6185604" y="918047"/>
              <a:ext cx="791510" cy="664397"/>
            </a:xfrm>
            <a:prstGeom prst="rect">
              <a:avLst/>
            </a:prstGeom>
            <a:solidFill>
              <a:srgbClr val="D3385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p>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211/56/89</a:t>
              </a:r>
            </a:p>
          </p:txBody>
        </p:sp>
        <p:sp>
          <p:nvSpPr>
            <p:cNvPr id="66" name="矩形 13">
              <a:extLst>
                <a:ext uri="{FF2B5EF4-FFF2-40B4-BE49-F238E27FC236}">
                  <a16:creationId xmlns="" xmlns:a16="http://schemas.microsoft.com/office/drawing/2014/main" id="{38715A31-485E-B744-B409-43F9F04B48F7}"/>
                </a:ext>
              </a:extLst>
            </p:cNvPr>
            <p:cNvSpPr/>
            <p:nvPr/>
          </p:nvSpPr>
          <p:spPr>
            <a:xfrm>
              <a:off x="6996262" y="1934171"/>
              <a:ext cx="791510" cy="664397"/>
            </a:xfrm>
            <a:prstGeom prst="rect">
              <a:avLst/>
            </a:prstGeom>
            <a:solidFill>
              <a:srgbClr val="DD80A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221/128/170</a:t>
              </a:r>
            </a:p>
          </p:txBody>
        </p:sp>
        <p:sp>
          <p:nvSpPr>
            <p:cNvPr id="67" name="矩形 13">
              <a:extLst>
                <a:ext uri="{FF2B5EF4-FFF2-40B4-BE49-F238E27FC236}">
                  <a16:creationId xmlns="" xmlns:a16="http://schemas.microsoft.com/office/drawing/2014/main" id="{4AE1609B-25DD-2C4A-B05B-D18ADBC39C71}"/>
                </a:ext>
              </a:extLst>
            </p:cNvPr>
            <p:cNvSpPr/>
            <p:nvPr/>
          </p:nvSpPr>
          <p:spPr>
            <a:xfrm>
              <a:off x="6996262" y="2673360"/>
              <a:ext cx="791510" cy="664397"/>
            </a:xfrm>
            <a:prstGeom prst="rect">
              <a:avLst/>
            </a:prstGeom>
            <a:solidFill>
              <a:srgbClr val="BF808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191/128/130</a:t>
              </a:r>
            </a:p>
          </p:txBody>
        </p:sp>
        <p:sp>
          <p:nvSpPr>
            <p:cNvPr id="68" name="矩形 13">
              <a:extLst>
                <a:ext uri="{FF2B5EF4-FFF2-40B4-BE49-F238E27FC236}">
                  <a16:creationId xmlns="" xmlns:a16="http://schemas.microsoft.com/office/drawing/2014/main" id="{ECE90F9F-DBBC-0B49-A42C-8B62397E473E}"/>
                </a:ext>
              </a:extLst>
            </p:cNvPr>
            <p:cNvSpPr/>
            <p:nvPr/>
          </p:nvSpPr>
          <p:spPr>
            <a:xfrm>
              <a:off x="6996262" y="3415851"/>
              <a:ext cx="791510" cy="664397"/>
            </a:xfrm>
            <a:prstGeom prst="rect">
              <a:avLst/>
            </a:prstGeom>
            <a:solidFill>
              <a:srgbClr val="F6B78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246/183/140</a:t>
              </a:r>
              <a:endParaRPr kumimoji="1" lang="mr-IN" altLang="zh-CN" sz="500" b="1" dirty="0">
                <a:solidFill>
                  <a:srgbClr val="595757"/>
                </a:solidFill>
                <a:latin typeface="Huawei Sans" panose="020C0503030203020204" pitchFamily="34" charset="0"/>
                <a:ea typeface="Arial" charset="0"/>
                <a:cs typeface="Arial" charset="0"/>
              </a:endParaRPr>
            </a:p>
          </p:txBody>
        </p:sp>
        <p:sp>
          <p:nvSpPr>
            <p:cNvPr id="69" name="矩形 13">
              <a:extLst>
                <a:ext uri="{FF2B5EF4-FFF2-40B4-BE49-F238E27FC236}">
                  <a16:creationId xmlns="" xmlns:a16="http://schemas.microsoft.com/office/drawing/2014/main" id="{D5B387BA-F8B8-B54E-966E-F24E271747C4}"/>
                </a:ext>
              </a:extLst>
            </p:cNvPr>
            <p:cNvSpPr/>
            <p:nvPr/>
          </p:nvSpPr>
          <p:spPr>
            <a:xfrm>
              <a:off x="7006093" y="4866463"/>
              <a:ext cx="791510" cy="664397"/>
            </a:xfrm>
            <a:prstGeom prst="rect">
              <a:avLst/>
            </a:prstGeom>
            <a:solidFill>
              <a:srgbClr val="AFD89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176/216/156</a:t>
              </a:r>
            </a:p>
          </p:txBody>
        </p:sp>
        <p:sp>
          <p:nvSpPr>
            <p:cNvPr id="70" name="矩形 13">
              <a:extLst>
                <a:ext uri="{FF2B5EF4-FFF2-40B4-BE49-F238E27FC236}">
                  <a16:creationId xmlns="" xmlns:a16="http://schemas.microsoft.com/office/drawing/2014/main" id="{E6C9B99E-8C1C-2B49-B82E-3C754B8E5C02}"/>
                </a:ext>
              </a:extLst>
            </p:cNvPr>
            <p:cNvSpPr/>
            <p:nvPr/>
          </p:nvSpPr>
          <p:spPr>
            <a:xfrm>
              <a:off x="7003856" y="4134866"/>
              <a:ext cx="791510" cy="664397"/>
            </a:xfrm>
            <a:prstGeom prst="rect">
              <a:avLst/>
            </a:prstGeom>
            <a:solidFill>
              <a:srgbClr val="FDE39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253/227/181</a:t>
              </a:r>
            </a:p>
          </p:txBody>
        </p:sp>
        <p:sp>
          <p:nvSpPr>
            <p:cNvPr id="71" name="矩形 13">
              <a:extLst>
                <a:ext uri="{FF2B5EF4-FFF2-40B4-BE49-F238E27FC236}">
                  <a16:creationId xmlns="" xmlns:a16="http://schemas.microsoft.com/office/drawing/2014/main" id="{0106BFA2-9DE1-3A42-A6C6-69BCE0FA34F4}"/>
                </a:ext>
              </a:extLst>
            </p:cNvPr>
            <p:cNvSpPr/>
            <p:nvPr/>
          </p:nvSpPr>
          <p:spPr>
            <a:xfrm>
              <a:off x="7003856" y="5596166"/>
              <a:ext cx="791510" cy="664397"/>
            </a:xfrm>
            <a:prstGeom prst="rect">
              <a:avLst/>
            </a:prstGeom>
            <a:solidFill>
              <a:srgbClr val="94DAE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148/218/226</a:t>
              </a:r>
            </a:p>
          </p:txBody>
        </p:sp>
        <p:sp>
          <p:nvSpPr>
            <p:cNvPr id="72" name="矩形 13">
              <a:extLst>
                <a:ext uri="{FF2B5EF4-FFF2-40B4-BE49-F238E27FC236}">
                  <a16:creationId xmlns="" xmlns:a16="http://schemas.microsoft.com/office/drawing/2014/main" id="{F760C1C5-4342-C346-A7D2-D101978EDF66}"/>
                </a:ext>
              </a:extLst>
            </p:cNvPr>
            <p:cNvSpPr/>
            <p:nvPr/>
          </p:nvSpPr>
          <p:spPr>
            <a:xfrm>
              <a:off x="6997826" y="184963"/>
              <a:ext cx="791510" cy="664397"/>
            </a:xfrm>
            <a:prstGeom prst="rect">
              <a:avLst/>
            </a:prstGeom>
            <a:solidFill>
              <a:srgbClr val="E2818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226/129/137</a:t>
              </a:r>
            </a:p>
          </p:txBody>
        </p:sp>
        <p:sp>
          <p:nvSpPr>
            <p:cNvPr id="73" name="矩形 13">
              <a:extLst>
                <a:ext uri="{FF2B5EF4-FFF2-40B4-BE49-F238E27FC236}">
                  <a16:creationId xmlns="" xmlns:a16="http://schemas.microsoft.com/office/drawing/2014/main" id="{5BB50A4A-0B64-7E4C-824C-1EBCA1A992CF}"/>
                </a:ext>
              </a:extLst>
            </p:cNvPr>
            <p:cNvSpPr/>
            <p:nvPr/>
          </p:nvSpPr>
          <p:spPr>
            <a:xfrm>
              <a:off x="6997185" y="918047"/>
              <a:ext cx="791510" cy="664397"/>
            </a:xfrm>
            <a:prstGeom prst="rect">
              <a:avLst/>
            </a:prstGeom>
            <a:solidFill>
              <a:srgbClr val="E2819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226/129/152</a:t>
              </a:r>
            </a:p>
          </p:txBody>
        </p:sp>
        <p:sp>
          <p:nvSpPr>
            <p:cNvPr id="74" name="矩形 13">
              <a:extLst>
                <a:ext uri="{FF2B5EF4-FFF2-40B4-BE49-F238E27FC236}">
                  <a16:creationId xmlns="" xmlns:a16="http://schemas.microsoft.com/office/drawing/2014/main" id="{756A7E25-6C44-8A44-A8C5-61D19BC9EDAF}"/>
                </a:ext>
              </a:extLst>
            </p:cNvPr>
            <p:cNvSpPr/>
            <p:nvPr userDrawn="1"/>
          </p:nvSpPr>
          <p:spPr>
            <a:xfrm>
              <a:off x="7806130" y="1934171"/>
              <a:ext cx="791510" cy="664397"/>
            </a:xfrm>
            <a:prstGeom prst="rect">
              <a:avLst/>
            </a:prstGeom>
            <a:solidFill>
              <a:srgbClr val="EBB3C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235/179/204</a:t>
              </a:r>
            </a:p>
          </p:txBody>
        </p:sp>
        <p:sp>
          <p:nvSpPr>
            <p:cNvPr id="75" name="矩形 13">
              <a:extLst>
                <a:ext uri="{FF2B5EF4-FFF2-40B4-BE49-F238E27FC236}">
                  <a16:creationId xmlns="" xmlns:a16="http://schemas.microsoft.com/office/drawing/2014/main" id="{96588389-39CD-DF4E-B9AC-92091E25724E}"/>
                </a:ext>
              </a:extLst>
            </p:cNvPr>
            <p:cNvSpPr/>
            <p:nvPr/>
          </p:nvSpPr>
          <p:spPr>
            <a:xfrm>
              <a:off x="7806130" y="2673360"/>
              <a:ext cx="791510" cy="664397"/>
            </a:xfrm>
            <a:prstGeom prst="rect">
              <a:avLst/>
            </a:prstGeom>
            <a:solidFill>
              <a:srgbClr val="D8B3B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216/179/179</a:t>
              </a:r>
            </a:p>
          </p:txBody>
        </p:sp>
        <p:sp>
          <p:nvSpPr>
            <p:cNvPr id="76" name="矩形 13">
              <a:extLst>
                <a:ext uri="{FF2B5EF4-FFF2-40B4-BE49-F238E27FC236}">
                  <a16:creationId xmlns="" xmlns:a16="http://schemas.microsoft.com/office/drawing/2014/main" id="{20725C9F-31AE-DB44-B70A-B4ECDEC0BC00}"/>
                </a:ext>
              </a:extLst>
            </p:cNvPr>
            <p:cNvSpPr/>
            <p:nvPr/>
          </p:nvSpPr>
          <p:spPr>
            <a:xfrm>
              <a:off x="7806130" y="3415851"/>
              <a:ext cx="791510" cy="664397"/>
            </a:xfrm>
            <a:prstGeom prst="rect">
              <a:avLst/>
            </a:prstGeom>
            <a:solidFill>
              <a:srgbClr val="FAD3B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250/211/187</a:t>
              </a:r>
              <a:endParaRPr kumimoji="1" lang="mr-IN" altLang="zh-CN" sz="500" b="1" dirty="0">
                <a:solidFill>
                  <a:srgbClr val="595757"/>
                </a:solidFill>
                <a:latin typeface="Huawei Sans" panose="020C0503030203020204" pitchFamily="34" charset="0"/>
                <a:ea typeface="Arial" charset="0"/>
                <a:cs typeface="Arial" charset="0"/>
              </a:endParaRPr>
            </a:p>
          </p:txBody>
        </p:sp>
        <p:sp>
          <p:nvSpPr>
            <p:cNvPr id="77" name="矩形 13">
              <a:extLst>
                <a:ext uri="{FF2B5EF4-FFF2-40B4-BE49-F238E27FC236}">
                  <a16:creationId xmlns="" xmlns:a16="http://schemas.microsoft.com/office/drawing/2014/main" id="{AC5BCC27-B68D-0743-8E0B-E25F8D01C3A4}"/>
                </a:ext>
              </a:extLst>
            </p:cNvPr>
            <p:cNvSpPr/>
            <p:nvPr/>
          </p:nvSpPr>
          <p:spPr>
            <a:xfrm>
              <a:off x="7815961" y="4866463"/>
              <a:ext cx="791510" cy="664397"/>
            </a:xfrm>
            <a:prstGeom prst="rect">
              <a:avLst/>
            </a:prstGeom>
            <a:solidFill>
              <a:srgbClr val="D0E8C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208/232/196</a:t>
              </a:r>
            </a:p>
          </p:txBody>
        </p:sp>
        <p:sp>
          <p:nvSpPr>
            <p:cNvPr id="78" name="矩形 13">
              <a:extLst>
                <a:ext uri="{FF2B5EF4-FFF2-40B4-BE49-F238E27FC236}">
                  <a16:creationId xmlns="" xmlns:a16="http://schemas.microsoft.com/office/drawing/2014/main" id="{51C2E83A-C975-6945-B2FD-5B22BBB53DB7}"/>
                </a:ext>
              </a:extLst>
            </p:cNvPr>
            <p:cNvSpPr/>
            <p:nvPr/>
          </p:nvSpPr>
          <p:spPr>
            <a:xfrm>
              <a:off x="7813724" y="4134866"/>
              <a:ext cx="791510" cy="664397"/>
            </a:xfrm>
            <a:prstGeom prst="rect">
              <a:avLst/>
            </a:prstGeom>
            <a:solidFill>
              <a:srgbClr val="FEEE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254/238/193</a:t>
              </a:r>
            </a:p>
          </p:txBody>
        </p:sp>
        <p:sp>
          <p:nvSpPr>
            <p:cNvPr id="79" name="矩形 13">
              <a:extLst>
                <a:ext uri="{FF2B5EF4-FFF2-40B4-BE49-F238E27FC236}">
                  <a16:creationId xmlns="" xmlns:a16="http://schemas.microsoft.com/office/drawing/2014/main" id="{BEE9A95F-6965-354F-A2C7-2E8C81DDA52F}"/>
                </a:ext>
              </a:extLst>
            </p:cNvPr>
            <p:cNvSpPr/>
            <p:nvPr/>
          </p:nvSpPr>
          <p:spPr>
            <a:xfrm>
              <a:off x="7813724" y="5596166"/>
              <a:ext cx="791510" cy="664397"/>
            </a:xfrm>
            <a:prstGeom prst="rect">
              <a:avLst/>
            </a:prstGeom>
            <a:solidFill>
              <a:srgbClr val="BEE9E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595757"/>
                  </a:solidFill>
                  <a:latin typeface="Huawei Sans" panose="020C0503030203020204" pitchFamily="34" charset="0"/>
                  <a:ea typeface="Arial" charset="0"/>
                  <a:cs typeface="Huawei Sans" panose="020C0503030203020204" pitchFamily="34" charset="0"/>
                </a:rPr>
              </a:b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190/23/238</a:t>
              </a:r>
            </a:p>
          </p:txBody>
        </p:sp>
        <p:sp>
          <p:nvSpPr>
            <p:cNvPr id="80" name="矩形 13">
              <a:extLst>
                <a:ext uri="{FF2B5EF4-FFF2-40B4-BE49-F238E27FC236}">
                  <a16:creationId xmlns="" xmlns:a16="http://schemas.microsoft.com/office/drawing/2014/main" id="{509164EB-3DC4-7A4F-9E7C-06EBC981CD0A}"/>
                </a:ext>
              </a:extLst>
            </p:cNvPr>
            <p:cNvSpPr/>
            <p:nvPr/>
          </p:nvSpPr>
          <p:spPr>
            <a:xfrm>
              <a:off x="7807694" y="184963"/>
              <a:ext cx="791510" cy="664397"/>
            </a:xfrm>
            <a:prstGeom prst="rect">
              <a:avLst/>
            </a:prstGeom>
            <a:solidFill>
              <a:srgbClr val="EEB3B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239/178/184</a:t>
              </a:r>
            </a:p>
          </p:txBody>
        </p:sp>
        <p:sp>
          <p:nvSpPr>
            <p:cNvPr id="81" name="矩形 13">
              <a:extLst>
                <a:ext uri="{FF2B5EF4-FFF2-40B4-BE49-F238E27FC236}">
                  <a16:creationId xmlns="" xmlns:a16="http://schemas.microsoft.com/office/drawing/2014/main" id="{667867DD-D3E6-3040-A7B5-39345C0CE2E3}"/>
                </a:ext>
              </a:extLst>
            </p:cNvPr>
            <p:cNvSpPr/>
            <p:nvPr/>
          </p:nvSpPr>
          <p:spPr>
            <a:xfrm>
              <a:off x="7807054" y="918047"/>
              <a:ext cx="791510" cy="664397"/>
            </a:xfrm>
            <a:prstGeom prst="rect">
              <a:avLst/>
            </a:prstGeom>
            <a:solidFill>
              <a:srgbClr val="EEB3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238/179/193</a:t>
              </a:r>
            </a:p>
          </p:txBody>
        </p:sp>
        <p:sp>
          <p:nvSpPr>
            <p:cNvPr id="82" name="矩形 13">
              <a:extLst>
                <a:ext uri="{FF2B5EF4-FFF2-40B4-BE49-F238E27FC236}">
                  <a16:creationId xmlns="" xmlns:a16="http://schemas.microsoft.com/office/drawing/2014/main" id="{9EE10597-3782-AB46-8453-89FA049C6C46}"/>
                </a:ext>
              </a:extLst>
            </p:cNvPr>
            <p:cNvSpPr/>
            <p:nvPr userDrawn="1"/>
          </p:nvSpPr>
          <p:spPr>
            <a:xfrm>
              <a:off x="5354169" y="6324025"/>
              <a:ext cx="513579" cy="664397"/>
            </a:xfrm>
            <a:prstGeom prst="rect">
              <a:avLst/>
            </a:prstGeom>
            <a:solidFill>
              <a:srgbClr val="22181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35/24/21</a:t>
              </a:r>
            </a:p>
          </p:txBody>
        </p:sp>
        <p:sp>
          <p:nvSpPr>
            <p:cNvPr id="83" name="矩形 13">
              <a:extLst>
                <a:ext uri="{FF2B5EF4-FFF2-40B4-BE49-F238E27FC236}">
                  <a16:creationId xmlns="" xmlns:a16="http://schemas.microsoft.com/office/drawing/2014/main" id="{966B3529-B594-884C-BED0-5887B34BBBB8}"/>
                </a:ext>
              </a:extLst>
            </p:cNvPr>
            <p:cNvSpPr/>
            <p:nvPr userDrawn="1"/>
          </p:nvSpPr>
          <p:spPr>
            <a:xfrm>
              <a:off x="5900626" y="6324025"/>
              <a:ext cx="513579" cy="664397"/>
            </a:xfrm>
            <a:prstGeom prst="rect">
              <a:avLst/>
            </a:prstGeom>
            <a:solidFill>
              <a:srgbClr val="5957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p>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89/87/87</a:t>
              </a:r>
            </a:p>
          </p:txBody>
        </p:sp>
        <p:sp>
          <p:nvSpPr>
            <p:cNvPr id="84" name="矩形 13">
              <a:extLst>
                <a:ext uri="{FF2B5EF4-FFF2-40B4-BE49-F238E27FC236}">
                  <a16:creationId xmlns="" xmlns:a16="http://schemas.microsoft.com/office/drawing/2014/main" id="{0B0545C9-147F-584F-80D2-EF13876D7D33}"/>
                </a:ext>
              </a:extLst>
            </p:cNvPr>
            <p:cNvSpPr/>
            <p:nvPr userDrawn="1"/>
          </p:nvSpPr>
          <p:spPr>
            <a:xfrm>
              <a:off x="6450318" y="6324025"/>
              <a:ext cx="513579" cy="664397"/>
            </a:xfrm>
            <a:prstGeom prst="rect">
              <a:avLst/>
            </a:prstGeom>
            <a:solidFill>
              <a:srgbClr val="88888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p>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137/137/</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137</a:t>
              </a:r>
            </a:p>
          </p:txBody>
        </p:sp>
        <p:sp>
          <p:nvSpPr>
            <p:cNvPr id="85" name="矩形 13">
              <a:extLst>
                <a:ext uri="{FF2B5EF4-FFF2-40B4-BE49-F238E27FC236}">
                  <a16:creationId xmlns="" xmlns:a16="http://schemas.microsoft.com/office/drawing/2014/main" id="{44FD0A0B-0D45-3340-A523-465AC24134BF}"/>
                </a:ext>
              </a:extLst>
            </p:cNvPr>
            <p:cNvSpPr/>
            <p:nvPr userDrawn="1"/>
          </p:nvSpPr>
          <p:spPr>
            <a:xfrm>
              <a:off x="6998296" y="6324025"/>
              <a:ext cx="513579" cy="664397"/>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p>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181/181/</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181</a:t>
              </a:r>
            </a:p>
          </p:txBody>
        </p:sp>
        <p:sp>
          <p:nvSpPr>
            <p:cNvPr id="86" name="矩形 13">
              <a:extLst>
                <a:ext uri="{FF2B5EF4-FFF2-40B4-BE49-F238E27FC236}">
                  <a16:creationId xmlns="" xmlns:a16="http://schemas.microsoft.com/office/drawing/2014/main" id="{2C404A07-276B-3648-BB25-4EDB5905448C}"/>
                </a:ext>
              </a:extLst>
            </p:cNvPr>
            <p:cNvSpPr/>
            <p:nvPr userDrawn="1"/>
          </p:nvSpPr>
          <p:spPr>
            <a:xfrm>
              <a:off x="7541580" y="6324025"/>
              <a:ext cx="513579" cy="664397"/>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221/221/</a:t>
              </a:r>
              <a:br>
                <a:rPr kumimoji="1" lang="en-US" altLang="zh-CN" sz="500" b="1" dirty="0">
                  <a:solidFill>
                    <a:srgbClr val="595757"/>
                  </a:solidFill>
                  <a:latin typeface="Huawei Sans" panose="020C0503030203020204" pitchFamily="34" charset="0"/>
                  <a:ea typeface="Arial" charset="0"/>
                  <a:cs typeface="Huawei Sans" panose="020C0503030203020204" pitchFamily="34" charset="0"/>
                </a:rPr>
              </a:b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221</a:t>
              </a:r>
            </a:p>
          </p:txBody>
        </p:sp>
        <p:sp>
          <p:nvSpPr>
            <p:cNvPr id="87" name="矩形 13">
              <a:extLst>
                <a:ext uri="{FF2B5EF4-FFF2-40B4-BE49-F238E27FC236}">
                  <a16:creationId xmlns="" xmlns:a16="http://schemas.microsoft.com/office/drawing/2014/main" id="{72B0F29C-A346-8946-9B8E-8F1B9DFF7AD0}"/>
                </a:ext>
              </a:extLst>
            </p:cNvPr>
            <p:cNvSpPr/>
            <p:nvPr userDrawn="1"/>
          </p:nvSpPr>
          <p:spPr>
            <a:xfrm>
              <a:off x="8083608" y="6324025"/>
              <a:ext cx="513579" cy="664397"/>
            </a:xfrm>
            <a:prstGeom prst="rect">
              <a:avLst/>
            </a:prstGeom>
            <a:solidFill>
              <a:srgbClr val="FFFFFF"/>
            </a:solidFill>
            <a:ln w="6350">
              <a:solidFill>
                <a:srgbClr val="B5B5B5"/>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a:t>
              </a:r>
            </a:p>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255/255/</a:t>
              </a:r>
              <a:br>
                <a:rPr kumimoji="1" lang="en-US" altLang="zh-CN" sz="500" b="1" dirty="0">
                  <a:solidFill>
                    <a:srgbClr val="595757"/>
                  </a:solidFill>
                  <a:latin typeface="Huawei Sans" panose="020C0503030203020204" pitchFamily="34" charset="0"/>
                  <a:ea typeface="Arial" charset="0"/>
                  <a:cs typeface="Huawei Sans" panose="020C0503030203020204" pitchFamily="34" charset="0"/>
                </a:rPr>
              </a:b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255</a:t>
              </a:r>
            </a:p>
          </p:txBody>
        </p:sp>
      </p:grpSp>
    </p:spTree>
    <p:extLst>
      <p:ext uri="{BB962C8B-B14F-4D97-AF65-F5344CB8AC3E}">
        <p14:creationId xmlns:p14="http://schemas.microsoft.com/office/powerpoint/2010/main" val="3970965524"/>
      </p:ext>
    </p:extLst>
  </p:cSld>
  <p:clrMap bg1="lt1" tx1="dk1" bg2="lt2" tx2="dk2" accent1="accent1" accent2="accent2" accent3="accent3" accent4="accent4" accent5="accent5" accent6="accent6" hlink="hlink" folHlink="folHlink"/>
  <p:sldLayoutIdLst>
    <p:sldLayoutId id="2147483875" r:id="rId1"/>
    <p:sldLayoutId id="2147483876" r:id="rId2"/>
    <p:sldLayoutId id="2147483877" r:id="rId3"/>
    <p:sldLayoutId id="2147483878" r:id="rId4"/>
    <p:sldLayoutId id="2147483879" r:id="rId5"/>
    <p:sldLayoutId id="2147483880" r:id="rId6"/>
    <p:sldLayoutId id="2147483881" r:id="rId7"/>
    <p:sldLayoutId id="2147483882" r:id="rId8"/>
    <p:sldLayoutId id="2147483883" r:id="rId9"/>
    <p:sldLayoutId id="2147483884" r:id="rId10"/>
  </p:sldLayoutIdLst>
  <p:timing>
    <p:tnLst>
      <p:par>
        <p:cTn id="1" dur="indefinite" restart="never" nodeType="tmRoot"/>
      </p:par>
    </p:tnLst>
  </p:timing>
  <p:txStyles>
    <p:titleStyle>
      <a:lvl1pPr algn="l" defTabSz="914034" rtl="0" eaLnBrk="1" fontAlgn="ctr" latinLnBrk="0" hangingPunct="1">
        <a:lnSpc>
          <a:spcPct val="90000"/>
        </a:lnSpc>
        <a:spcBef>
          <a:spcPct val="0"/>
        </a:spcBef>
        <a:buNone/>
        <a:defRPr lang="zh-CN" altLang="en-US" sz="3200" kern="1200" baseline="0" dirty="0">
          <a:solidFill>
            <a:schemeClr val="tx1"/>
          </a:solidFill>
          <a:latin typeface="Huawei Sans" panose="020C0503030203020204" pitchFamily="34" charset="0"/>
          <a:ea typeface="方正兰亭黑简体" panose="02000000000000000000" pitchFamily="2" charset="-122"/>
          <a:cs typeface="+mn-cs"/>
        </a:defRPr>
      </a:lvl1pPr>
    </p:titleStyle>
    <p:bodyStyle>
      <a:lvl1pPr marL="302279" indent="-302279" algn="l" defTabSz="914034" rtl="0" eaLnBrk="1" fontAlgn="ctr" latinLnBrk="0" hangingPunct="1">
        <a:lnSpc>
          <a:spcPct val="140000"/>
        </a:lnSpc>
        <a:spcBef>
          <a:spcPts val="792"/>
        </a:spcBef>
        <a:buSzPct val="50000"/>
        <a:buFont typeface="Wingdings" panose="05000000000000000000" pitchFamily="2" charset="2"/>
        <a:buChar char="l"/>
        <a:defRPr sz="2199" kern="1200">
          <a:solidFill>
            <a:schemeClr val="tx1"/>
          </a:solidFill>
          <a:latin typeface="Huawei Sans" panose="020C0503030203020204" pitchFamily="34" charset="0"/>
          <a:ea typeface="方正兰亭黑简体" panose="02000000000000000000" pitchFamily="2" charset="-122"/>
          <a:cs typeface="+mn-cs"/>
        </a:defRPr>
      </a:lvl1pPr>
      <a:lvl2pPr marL="654938" indent="-251899" algn="l" defTabSz="914034" rtl="0" eaLnBrk="1" fontAlgn="ctr" latinLnBrk="0" hangingPunct="1">
        <a:lnSpc>
          <a:spcPct val="140000"/>
        </a:lnSpc>
        <a:spcBef>
          <a:spcPts val="720"/>
        </a:spcBef>
        <a:buClrTx/>
        <a:buSzPct val="50000"/>
        <a:buFont typeface="Wingdings" panose="05000000000000000000" pitchFamily="2" charset="2"/>
        <a:buChar char="p"/>
        <a:defRPr sz="1999" kern="1200">
          <a:solidFill>
            <a:schemeClr val="tx1"/>
          </a:solidFill>
          <a:latin typeface="Huawei Sans" panose="020C0503030203020204" pitchFamily="34" charset="0"/>
          <a:ea typeface="方正兰亭黑简体" panose="02000000000000000000" pitchFamily="2" charset="-122"/>
          <a:cs typeface="+mn-cs"/>
        </a:defRPr>
      </a:lvl2pPr>
      <a:lvl3pPr marL="1003998" indent="-201519" algn="l" defTabSz="914034" rtl="0" eaLnBrk="1" fontAlgn="ctr" latinLnBrk="0" hangingPunct="1">
        <a:lnSpc>
          <a:spcPct val="140000"/>
        </a:lnSpc>
        <a:spcBef>
          <a:spcPts val="648"/>
        </a:spcBef>
        <a:buClrTx/>
        <a:buSzPct val="50000"/>
        <a:buFont typeface="Wingdings" panose="05000000000000000000" pitchFamily="2" charset="2"/>
        <a:buChar char="n"/>
        <a:defRPr sz="1799" kern="1200">
          <a:solidFill>
            <a:schemeClr val="tx1"/>
          </a:solidFill>
          <a:latin typeface="Huawei Sans" panose="020C0503030203020204" pitchFamily="34" charset="0"/>
          <a:ea typeface="方正兰亭黑简体" panose="02000000000000000000" pitchFamily="2" charset="-122"/>
          <a:cs typeface="+mn-cs"/>
        </a:defRPr>
      </a:lvl3pPr>
      <a:lvl4pPr marL="1399840" indent="-197921" algn="l" defTabSz="914034" rtl="0" eaLnBrk="1" fontAlgn="ctr" latinLnBrk="0" hangingPunct="1">
        <a:lnSpc>
          <a:spcPct val="140000"/>
        </a:lnSpc>
        <a:spcBef>
          <a:spcPts val="576"/>
        </a:spcBef>
        <a:buFont typeface="Huawei Sans" panose="020C0503030203020204" pitchFamily="34" charset="0"/>
        <a:buChar char="−"/>
        <a:defRPr sz="1599" kern="1200">
          <a:solidFill>
            <a:schemeClr val="tx1"/>
          </a:solidFill>
          <a:latin typeface="Huawei Sans" panose="020C0503030203020204" pitchFamily="34" charset="0"/>
          <a:ea typeface="方正兰亭黑简体" panose="02000000000000000000" pitchFamily="2" charset="-122"/>
          <a:cs typeface="+mn-cs"/>
        </a:defRPr>
      </a:lvl4pPr>
      <a:lvl5pPr marL="1802879" indent="-201519" algn="l" defTabSz="914034" rtl="0" eaLnBrk="1" fontAlgn="ctr" latinLnBrk="0" hangingPunct="1">
        <a:lnSpc>
          <a:spcPct val="140000"/>
        </a:lnSpc>
        <a:spcBef>
          <a:spcPts val="576"/>
        </a:spcBef>
        <a:buFont typeface="Huawei Sans" panose="020C0503030203020204" pitchFamily="34" charset="0"/>
        <a:buChar char="~"/>
        <a:defRPr sz="1399" kern="1200">
          <a:solidFill>
            <a:schemeClr val="tx1"/>
          </a:solidFill>
          <a:latin typeface="Huawei Sans" panose="020C0503030203020204" pitchFamily="34" charset="0"/>
          <a:ea typeface="方正兰亭黑简体" panose="02000000000000000000" pitchFamily="2" charset="-122"/>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p:bodyStyle>
    <p:otherStyle>
      <a:defPPr>
        <a:defRPr lang="zh-CN"/>
      </a:defPPr>
      <a:lvl1pPr marL="0" algn="l" defTabSz="914034" rtl="0" eaLnBrk="1" latinLnBrk="0" hangingPunct="1">
        <a:defRPr sz="1799" kern="1200">
          <a:solidFill>
            <a:schemeClr val="tx1"/>
          </a:solidFill>
          <a:latin typeface="+mn-lt"/>
          <a:ea typeface="+mn-ea"/>
          <a:cs typeface="+mn-cs"/>
        </a:defRPr>
      </a:lvl1pPr>
      <a:lvl2pPr marL="457017" algn="l" defTabSz="914034" rtl="0" eaLnBrk="1" latinLnBrk="0" hangingPunct="1">
        <a:defRPr sz="1799" kern="1200">
          <a:solidFill>
            <a:schemeClr val="tx1"/>
          </a:solidFill>
          <a:latin typeface="+mn-lt"/>
          <a:ea typeface="+mn-ea"/>
          <a:cs typeface="+mn-cs"/>
        </a:defRPr>
      </a:lvl2pPr>
      <a:lvl3pPr marL="914034" algn="l" defTabSz="914034" rtl="0" eaLnBrk="1" latinLnBrk="0" hangingPunct="1">
        <a:defRPr sz="1799" kern="1200">
          <a:solidFill>
            <a:schemeClr val="tx1"/>
          </a:solidFill>
          <a:latin typeface="+mn-lt"/>
          <a:ea typeface="+mn-ea"/>
          <a:cs typeface="+mn-cs"/>
        </a:defRPr>
      </a:lvl3pPr>
      <a:lvl4pPr marL="1371051" algn="l" defTabSz="914034" rtl="0" eaLnBrk="1" latinLnBrk="0" hangingPunct="1">
        <a:defRPr sz="1799" kern="1200">
          <a:solidFill>
            <a:schemeClr val="tx1"/>
          </a:solidFill>
          <a:latin typeface="+mn-lt"/>
          <a:ea typeface="+mn-ea"/>
          <a:cs typeface="+mn-cs"/>
        </a:defRPr>
      </a:lvl4pPr>
      <a:lvl5pPr marL="1828068" algn="l" defTabSz="914034" rtl="0" eaLnBrk="1" latinLnBrk="0" hangingPunct="1">
        <a:defRPr sz="1799" kern="1200">
          <a:solidFill>
            <a:schemeClr val="tx1"/>
          </a:solidFill>
          <a:latin typeface="+mn-lt"/>
          <a:ea typeface="+mn-ea"/>
          <a:cs typeface="+mn-cs"/>
        </a:defRPr>
      </a:lvl5pPr>
      <a:lvl6pPr marL="2285086" algn="l" defTabSz="914034" rtl="0" eaLnBrk="1" latinLnBrk="0" hangingPunct="1">
        <a:defRPr sz="1799" kern="1200">
          <a:solidFill>
            <a:schemeClr val="tx1"/>
          </a:solidFill>
          <a:latin typeface="+mn-lt"/>
          <a:ea typeface="+mn-ea"/>
          <a:cs typeface="+mn-cs"/>
        </a:defRPr>
      </a:lvl6pPr>
      <a:lvl7pPr marL="2742103" algn="l" defTabSz="914034" rtl="0" eaLnBrk="1" latinLnBrk="0" hangingPunct="1">
        <a:defRPr sz="1799" kern="1200">
          <a:solidFill>
            <a:schemeClr val="tx1"/>
          </a:solidFill>
          <a:latin typeface="+mn-lt"/>
          <a:ea typeface="+mn-ea"/>
          <a:cs typeface="+mn-cs"/>
        </a:defRPr>
      </a:lvl7pPr>
      <a:lvl8pPr marL="3199120" algn="l" defTabSz="914034" rtl="0" eaLnBrk="1" latinLnBrk="0" hangingPunct="1">
        <a:defRPr sz="1799" kern="1200">
          <a:solidFill>
            <a:schemeClr val="tx1"/>
          </a:solidFill>
          <a:latin typeface="+mn-lt"/>
          <a:ea typeface="+mn-ea"/>
          <a:cs typeface="+mn-cs"/>
        </a:defRPr>
      </a:lvl8pPr>
      <a:lvl9pPr marL="3656137" algn="l" defTabSz="914034" rtl="0" eaLnBrk="1" latinLnBrk="0" hangingPunct="1">
        <a:defRPr sz="1799"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pos="642">
          <p15:clr>
            <a:srgbClr val="F26B43"/>
          </p15:clr>
        </p15:guide>
        <p15:guide id="2" pos="7038">
          <p15:clr>
            <a:srgbClr val="F26B43"/>
          </p15:clr>
        </p15:guide>
        <p15:guide id="4" orient="horz" pos="3906">
          <p15:clr>
            <a:srgbClr val="F26B43"/>
          </p15:clr>
        </p15:guide>
        <p15:guide id="5" orient="horz" pos="1162">
          <p15:clr>
            <a:srgbClr val="F26B43"/>
          </p15:clr>
        </p15:guide>
        <p15:guide id="6" pos="3840">
          <p15:clr>
            <a:srgbClr val="F26B43"/>
          </p15:clr>
        </p15:guide>
        <p15:guide id="7" orient="horz" pos="731">
          <p15:clr>
            <a:srgbClr val="F26B43"/>
          </p15:clr>
        </p15:guide>
        <p15:guide id="8" orient="horz" pos="867">
          <p15:clr>
            <a:srgbClr val="F26B43"/>
          </p15:clr>
        </p15:guide>
        <p15:guide id="9" orient="horz" pos="234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7" name="Rectangle 6"/>
          <p:cNvSpPr>
            <a:spLocks noGrp="1" noChangeArrowheads="1"/>
          </p:cNvSpPr>
          <p:nvPr>
            <p:ph type="title"/>
          </p:nvPr>
        </p:nvSpPr>
        <p:spPr bwMode="auto">
          <a:xfrm>
            <a:off x="457905" y="457499"/>
            <a:ext cx="11291061" cy="980113"/>
          </a:xfrm>
          <a:prstGeom prst="rect">
            <a:avLst/>
          </a:prstGeom>
        </p:spPr>
        <p:txBody>
          <a:bodyPr lIns="0" tIns="0" rIns="0" bIns="0" anchor="t">
            <a:normAutofit/>
          </a:bodyPr>
          <a:lstStyle/>
          <a:p>
            <a:pPr marL="0" lvl="0" indent="0" defTabSz="1187798">
              <a:lnSpc>
                <a:spcPts val="3430"/>
              </a:lnSpc>
              <a:spcBef>
                <a:spcPts val="0"/>
              </a:spcBef>
              <a:buFont typeface="Arial" panose="020B0604020202020204" pitchFamily="34" charset="0"/>
            </a:pPr>
            <a:r>
              <a:rPr lang="zh-CN" altLang="en-US" dirty="0"/>
              <a:t>单击此处编辑母版标题样式</a:t>
            </a:r>
          </a:p>
        </p:txBody>
      </p:sp>
      <p:sp>
        <p:nvSpPr>
          <p:cNvPr id="28" name="Rectangle 57"/>
          <p:cNvSpPr>
            <a:spLocks noGrp="1" noChangeArrowheads="1"/>
          </p:cNvSpPr>
          <p:nvPr>
            <p:ph type="body" idx="1"/>
          </p:nvPr>
        </p:nvSpPr>
        <p:spPr bwMode="auto">
          <a:xfrm>
            <a:off x="455613" y="1484313"/>
            <a:ext cx="11293475" cy="4443760"/>
          </a:xfrm>
          <a:prstGeom prst="rect">
            <a:avLst/>
          </a:prstGeom>
          <a:noFill/>
          <a:ln w="9525">
            <a:noFill/>
            <a:miter lim="800000"/>
            <a:headEnd/>
            <a:tailEnd/>
          </a:ln>
        </p:spPr>
        <p:txBody>
          <a:bodyPr vert="horz" wrap="square" lIns="80141" tIns="40071" rIns="80141" bIns="40071" numCol="1" anchor="t" anchorCtr="0" compatLnSpc="1">
            <a:prstTxWarp prst="textNoShape">
              <a:avLst/>
            </a:prstTxWarp>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23" name="TextBox 2">
            <a:extLst>
              <a:ext uri="{FF2B5EF4-FFF2-40B4-BE49-F238E27FC236}">
                <a16:creationId xmlns="" xmlns:a16="http://schemas.microsoft.com/office/drawing/2014/main" id="{6785A3D6-1271-D247-9E96-1B376F4BE7BE}"/>
              </a:ext>
            </a:extLst>
          </p:cNvPr>
          <p:cNvSpPr txBox="1"/>
          <p:nvPr userDrawn="1"/>
        </p:nvSpPr>
        <p:spPr>
          <a:xfrm>
            <a:off x="1095467" y="6356939"/>
            <a:ext cx="1463467" cy="242864"/>
          </a:xfrm>
          <a:prstGeom prst="rect">
            <a:avLst/>
          </a:prstGeom>
          <a:noFill/>
        </p:spPr>
        <p:txBody>
          <a:bodyPr wrap="square" rtlCol="0">
            <a:spAutoFit/>
          </a:bodyPr>
          <a:lstStyle/>
          <a:p>
            <a:r>
              <a:rPr lang="en-US" sz="974" b="0" baseline="0" dirty="0">
                <a:solidFill>
                  <a:srgbClr val="1D1D1B"/>
                </a:solidFill>
                <a:latin typeface="Huawei Sans" panose="020C0503030203020204" pitchFamily="34" charset="0"/>
                <a:ea typeface="方正兰亭黑简体" panose="02000000000000000000" pitchFamily="2" charset="-122"/>
                <a:cs typeface="Huawei Sans" panose="020C0503030203020204" pitchFamily="34" charset="0"/>
              </a:rPr>
              <a:t>Huawei Confidential</a:t>
            </a:r>
          </a:p>
        </p:txBody>
      </p:sp>
      <p:sp>
        <p:nvSpPr>
          <p:cNvPr id="24" name="TextBox 3">
            <a:extLst>
              <a:ext uri="{FF2B5EF4-FFF2-40B4-BE49-F238E27FC236}">
                <a16:creationId xmlns="" xmlns:a16="http://schemas.microsoft.com/office/drawing/2014/main" id="{EABEE2EE-BF4D-7A4A-B3C6-9E47668CCD98}"/>
              </a:ext>
            </a:extLst>
          </p:cNvPr>
          <p:cNvSpPr txBox="1"/>
          <p:nvPr userDrawn="1"/>
        </p:nvSpPr>
        <p:spPr>
          <a:xfrm>
            <a:off x="734131" y="6402806"/>
            <a:ext cx="499729" cy="150296"/>
          </a:xfrm>
          <a:prstGeom prst="rect">
            <a:avLst/>
          </a:prstGeom>
          <a:noFill/>
        </p:spPr>
        <p:txBody>
          <a:bodyPr wrap="square" lIns="0" tIns="0" rIns="0" bIns="0" rtlCol="0">
            <a:spAutoFit/>
          </a:bodyPr>
          <a:lstStyle/>
          <a:p>
            <a:pPr marL="0" marR="0" lvl="0" indent="0" algn="l" defTabSz="890849" rtl="0" eaLnBrk="1" fontAlgn="auto" latinLnBrk="0" hangingPunct="1">
              <a:lnSpc>
                <a:spcPct val="100000"/>
              </a:lnSpc>
              <a:spcBef>
                <a:spcPts val="0"/>
              </a:spcBef>
              <a:spcAft>
                <a:spcPts val="0"/>
              </a:spcAft>
              <a:buClrTx/>
              <a:buSzTx/>
              <a:buFontTx/>
              <a:buNone/>
              <a:tabLst/>
              <a:defRPr/>
            </a:pPr>
            <a:fld id="{C3837181-38C6-AD4F-B8BA-B444770388BB}" type="slidenum">
              <a:rPr lang="en-US" sz="974" baseline="0" smtClean="0">
                <a:solidFill>
                  <a:srgbClr val="1D1D1B"/>
                </a:solidFill>
                <a:latin typeface="Huawei Sans" panose="020C0503030203020204" pitchFamily="34" charset="0"/>
                <a:ea typeface="方正兰亭黑简体" panose="02000000000000000000" pitchFamily="2" charset="-122"/>
                <a:cs typeface="Huawei Sans" panose="020C0503030203020204" pitchFamily="34" charset="0"/>
              </a:rPr>
              <a:pPr marL="0" marR="0" lvl="0" indent="0" algn="l" defTabSz="890849" rtl="0" eaLnBrk="1" fontAlgn="auto" latinLnBrk="0" hangingPunct="1">
                <a:lnSpc>
                  <a:spcPct val="100000"/>
                </a:lnSpc>
                <a:spcBef>
                  <a:spcPts val="0"/>
                </a:spcBef>
                <a:spcAft>
                  <a:spcPts val="0"/>
                </a:spcAft>
                <a:buClrTx/>
                <a:buSzTx/>
                <a:buFontTx/>
                <a:buNone/>
                <a:tabLst/>
                <a:defRPr/>
              </a:pPr>
              <a:t>‹#›</a:t>
            </a:fld>
            <a:endParaRPr lang="en-US" sz="974" baseline="0" dirty="0">
              <a:solidFill>
                <a:srgbClr val="1D1D1B"/>
              </a:solidFill>
              <a:latin typeface="Huawei Sans" panose="020C0503030203020204" pitchFamily="34" charset="0"/>
              <a:ea typeface="方正兰亭黑简体" panose="02000000000000000000" pitchFamily="2" charset="-122"/>
              <a:cs typeface="Huawei Sans" panose="020C0503030203020204" pitchFamily="34" charset="0"/>
            </a:endParaRPr>
          </a:p>
        </p:txBody>
      </p:sp>
      <p:pic>
        <p:nvPicPr>
          <p:cNvPr id="25" name="图片 24"/>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10195999" y="6319870"/>
            <a:ext cx="1269075" cy="271153"/>
          </a:xfrm>
          <a:prstGeom prst="rect">
            <a:avLst/>
          </a:prstGeom>
        </p:spPr>
      </p:pic>
      <p:grpSp>
        <p:nvGrpSpPr>
          <p:cNvPr id="29" name="Group 87">
            <a:extLst>
              <a:ext uri="{FF2B5EF4-FFF2-40B4-BE49-F238E27FC236}">
                <a16:creationId xmlns="" xmlns:a16="http://schemas.microsoft.com/office/drawing/2014/main" id="{37333705-F8D6-2847-B3CB-F2FAB51E2A3B}"/>
              </a:ext>
            </a:extLst>
          </p:cNvPr>
          <p:cNvGrpSpPr>
            <a:grpSpLocks noChangeAspect="1"/>
          </p:cNvGrpSpPr>
          <p:nvPr userDrawn="1"/>
        </p:nvGrpSpPr>
        <p:grpSpPr>
          <a:xfrm>
            <a:off x="12290471" y="2625389"/>
            <a:ext cx="1963323" cy="4233515"/>
            <a:chOff x="5343885" y="-48857"/>
            <a:chExt cx="3263586" cy="7037279"/>
          </a:xfrm>
        </p:grpSpPr>
        <p:sp>
          <p:nvSpPr>
            <p:cNvPr id="30" name="矩形 13">
              <a:extLst>
                <a:ext uri="{FF2B5EF4-FFF2-40B4-BE49-F238E27FC236}">
                  <a16:creationId xmlns="" xmlns:a16="http://schemas.microsoft.com/office/drawing/2014/main" id="{B14DFA89-D483-CF47-82CC-DD86D7CAB09E}"/>
                </a:ext>
              </a:extLst>
            </p:cNvPr>
            <p:cNvSpPr/>
            <p:nvPr userDrawn="1"/>
          </p:nvSpPr>
          <p:spPr>
            <a:xfrm>
              <a:off x="5356401" y="1934171"/>
              <a:ext cx="791510" cy="664397"/>
            </a:xfrm>
            <a:prstGeom prst="rect">
              <a:avLst/>
            </a:prstGeom>
            <a:solidFill>
              <a:srgbClr val="C4005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RGB</a:t>
              </a:r>
              <a:br>
                <a:rPr kumimoji="1" lang="en-US" altLang="zh-CN" sz="500" b="1" dirty="0">
                  <a:solidFill>
                    <a:schemeClr val="tx2"/>
                  </a:solidFill>
                  <a:latin typeface="Huawei Sans" panose="020C0503030203020204" pitchFamily="34" charset="0"/>
                  <a:ea typeface="Arial" charset="0"/>
                  <a:cs typeface="Huawei Sans" panose="020C0503030203020204" pitchFamily="34" charset="0"/>
                </a:rPr>
              </a:b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196/0/84</a:t>
              </a:r>
            </a:p>
          </p:txBody>
        </p:sp>
        <p:sp>
          <p:nvSpPr>
            <p:cNvPr id="31" name="文本框 15">
              <a:extLst>
                <a:ext uri="{FF2B5EF4-FFF2-40B4-BE49-F238E27FC236}">
                  <a16:creationId xmlns="" xmlns:a16="http://schemas.microsoft.com/office/drawing/2014/main" id="{8223ADA0-340A-794B-93B7-24AFF612A719}"/>
                </a:ext>
              </a:extLst>
            </p:cNvPr>
            <p:cNvSpPr txBox="1"/>
            <p:nvPr userDrawn="1"/>
          </p:nvSpPr>
          <p:spPr>
            <a:xfrm>
              <a:off x="5352723" y="1694497"/>
              <a:ext cx="1052647"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方正兰亭黑简体" panose="02000000000000000000" pitchFamily="2" charset="-122"/>
                  <a:ea typeface="方正兰亭黑简体" panose="02000000000000000000" pitchFamily="2" charset="-122"/>
                </a:rPr>
                <a:t>公司辅助色</a:t>
              </a:r>
            </a:p>
          </p:txBody>
        </p:sp>
        <p:sp>
          <p:nvSpPr>
            <p:cNvPr id="32" name="矩形 13">
              <a:extLst>
                <a:ext uri="{FF2B5EF4-FFF2-40B4-BE49-F238E27FC236}">
                  <a16:creationId xmlns="" xmlns:a16="http://schemas.microsoft.com/office/drawing/2014/main" id="{5F63E0E3-4F22-7948-AB1A-40A84ECA92EC}"/>
                </a:ext>
              </a:extLst>
            </p:cNvPr>
            <p:cNvSpPr/>
            <p:nvPr userDrawn="1"/>
          </p:nvSpPr>
          <p:spPr>
            <a:xfrm>
              <a:off x="6184680" y="1934171"/>
              <a:ext cx="791510" cy="664397"/>
            </a:xfrm>
            <a:prstGeom prst="rect">
              <a:avLst/>
            </a:prstGeom>
            <a:solidFill>
              <a:srgbClr val="CB377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203/55/120</a:t>
              </a:r>
            </a:p>
          </p:txBody>
        </p:sp>
        <p:sp>
          <p:nvSpPr>
            <p:cNvPr id="33" name="矩形 13">
              <a:extLst>
                <a:ext uri="{FF2B5EF4-FFF2-40B4-BE49-F238E27FC236}">
                  <a16:creationId xmlns="" xmlns:a16="http://schemas.microsoft.com/office/drawing/2014/main" id="{29C4A3C6-7C7B-7140-8F73-591E9F49143F}"/>
                </a:ext>
              </a:extLst>
            </p:cNvPr>
            <p:cNvSpPr/>
            <p:nvPr userDrawn="1"/>
          </p:nvSpPr>
          <p:spPr>
            <a:xfrm>
              <a:off x="5356401" y="3403061"/>
              <a:ext cx="791510" cy="664397"/>
            </a:xfrm>
            <a:prstGeom prst="rect">
              <a:avLst/>
            </a:prstGeom>
            <a:solidFill>
              <a:srgbClr val="ED6D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237/109/0</a:t>
              </a:r>
            </a:p>
          </p:txBody>
        </p:sp>
        <p:sp>
          <p:nvSpPr>
            <p:cNvPr id="34" name="矩形 13">
              <a:extLst>
                <a:ext uri="{FF2B5EF4-FFF2-40B4-BE49-F238E27FC236}">
                  <a16:creationId xmlns="" xmlns:a16="http://schemas.microsoft.com/office/drawing/2014/main" id="{BE4C9A8D-46B0-5B40-BC47-DB6C4899227F}"/>
                </a:ext>
              </a:extLst>
            </p:cNvPr>
            <p:cNvSpPr/>
            <p:nvPr userDrawn="1"/>
          </p:nvSpPr>
          <p:spPr>
            <a:xfrm>
              <a:off x="6184680" y="2673360"/>
              <a:ext cx="791510" cy="664397"/>
            </a:xfrm>
            <a:prstGeom prst="rect">
              <a:avLst/>
            </a:prstGeom>
            <a:solidFill>
              <a:srgbClr val="99363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153/54/54</a:t>
              </a:r>
            </a:p>
          </p:txBody>
        </p:sp>
        <p:sp>
          <p:nvSpPr>
            <p:cNvPr id="35" name="矩形 13">
              <a:extLst>
                <a:ext uri="{FF2B5EF4-FFF2-40B4-BE49-F238E27FC236}">
                  <a16:creationId xmlns="" xmlns:a16="http://schemas.microsoft.com/office/drawing/2014/main" id="{612F2ED4-F7A4-9E48-95E1-8D07B3BBE962}"/>
                </a:ext>
              </a:extLst>
            </p:cNvPr>
            <p:cNvSpPr/>
            <p:nvPr userDrawn="1"/>
          </p:nvSpPr>
          <p:spPr>
            <a:xfrm>
              <a:off x="5356401" y="4866463"/>
              <a:ext cx="791510" cy="664397"/>
            </a:xfrm>
            <a:prstGeom prst="rect">
              <a:avLst/>
            </a:prstGeom>
            <a:solidFill>
              <a:srgbClr val="62B23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98/178/48</a:t>
              </a:r>
            </a:p>
          </p:txBody>
        </p:sp>
        <p:sp>
          <p:nvSpPr>
            <p:cNvPr id="36" name="矩形 13">
              <a:extLst>
                <a:ext uri="{FF2B5EF4-FFF2-40B4-BE49-F238E27FC236}">
                  <a16:creationId xmlns="" xmlns:a16="http://schemas.microsoft.com/office/drawing/2014/main" id="{A9E1D476-C288-8945-A68A-1F20C557294B}"/>
                </a:ext>
              </a:extLst>
            </p:cNvPr>
            <p:cNvSpPr/>
            <p:nvPr userDrawn="1"/>
          </p:nvSpPr>
          <p:spPr>
            <a:xfrm>
              <a:off x="6184680" y="3415851"/>
              <a:ext cx="791510" cy="664397"/>
            </a:xfrm>
            <a:prstGeom prst="rect">
              <a:avLst/>
            </a:prstGeom>
            <a:solidFill>
              <a:srgbClr val="F2894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242/137/68</a:t>
              </a:r>
              <a:endParaRPr kumimoji="1" lang="mr-IN" altLang="zh-CN" sz="500" b="1" dirty="0">
                <a:solidFill>
                  <a:srgbClr val="FFFFFF"/>
                </a:solidFill>
                <a:latin typeface="Huawei Sans" panose="020C0503030203020204" pitchFamily="34" charset="0"/>
                <a:ea typeface="Arial" charset="0"/>
                <a:cs typeface="Arial" charset="0"/>
              </a:endParaRPr>
            </a:p>
          </p:txBody>
        </p:sp>
        <p:sp>
          <p:nvSpPr>
            <p:cNvPr id="37" name="矩形 13">
              <a:extLst>
                <a:ext uri="{FF2B5EF4-FFF2-40B4-BE49-F238E27FC236}">
                  <a16:creationId xmlns="" xmlns:a16="http://schemas.microsoft.com/office/drawing/2014/main" id="{42823EBB-E62E-F149-AC9A-09950051F283}"/>
                </a:ext>
              </a:extLst>
            </p:cNvPr>
            <p:cNvSpPr/>
            <p:nvPr userDrawn="1"/>
          </p:nvSpPr>
          <p:spPr>
            <a:xfrm>
              <a:off x="5353240" y="184963"/>
              <a:ext cx="791510" cy="664397"/>
            </a:xfrm>
            <a:prstGeom prst="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PANTONE 185C</a:t>
              </a:r>
            </a:p>
            <a:p>
              <a:pPr algn="ctr">
                <a:lnSpc>
                  <a:spcPts val="620"/>
                </a:lnSpc>
                <a:spcBef>
                  <a:spcPts val="0"/>
                </a:spcBef>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RGB </a:t>
              </a:r>
              <a:br>
                <a:rPr kumimoji="1" lang="en-US" altLang="zh-CN" sz="500" b="1" dirty="0">
                  <a:solidFill>
                    <a:schemeClr val="tx2"/>
                  </a:solidFill>
                  <a:latin typeface="Huawei Sans" panose="020C0503030203020204" pitchFamily="34" charset="0"/>
                  <a:ea typeface="Arial" charset="0"/>
                  <a:cs typeface="Huawei Sans" panose="020C0503030203020204" pitchFamily="34" charset="0"/>
                </a:rPr>
              </a:b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199/0/11  </a:t>
              </a:r>
            </a:p>
          </p:txBody>
        </p:sp>
        <p:sp>
          <p:nvSpPr>
            <p:cNvPr id="38" name="文本框 15">
              <a:extLst>
                <a:ext uri="{FF2B5EF4-FFF2-40B4-BE49-F238E27FC236}">
                  <a16:creationId xmlns="" xmlns:a16="http://schemas.microsoft.com/office/drawing/2014/main" id="{EA01C299-6FF2-3642-AAEC-A1DF62D9C654}"/>
                </a:ext>
              </a:extLst>
            </p:cNvPr>
            <p:cNvSpPr txBox="1"/>
            <p:nvPr userDrawn="1"/>
          </p:nvSpPr>
          <p:spPr>
            <a:xfrm>
              <a:off x="5343885" y="-48857"/>
              <a:ext cx="726488"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方正兰亭黑简体" panose="02000000000000000000" pitchFamily="2" charset="-122"/>
                  <a:ea typeface="方正兰亭黑简体" panose="02000000000000000000" pitchFamily="2" charset="-122"/>
                </a:rPr>
                <a:t>公司色</a:t>
              </a:r>
            </a:p>
          </p:txBody>
        </p:sp>
        <p:sp>
          <p:nvSpPr>
            <p:cNvPr id="39" name="矩形 13">
              <a:extLst>
                <a:ext uri="{FF2B5EF4-FFF2-40B4-BE49-F238E27FC236}">
                  <a16:creationId xmlns="" xmlns:a16="http://schemas.microsoft.com/office/drawing/2014/main" id="{B84AB502-165F-764A-9621-65CA8CBBEAEA}"/>
                </a:ext>
              </a:extLst>
            </p:cNvPr>
            <p:cNvSpPr/>
            <p:nvPr userDrawn="1"/>
          </p:nvSpPr>
          <p:spPr>
            <a:xfrm>
              <a:off x="5352600" y="918047"/>
              <a:ext cx="791510" cy="664397"/>
            </a:xfrm>
            <a:prstGeom prst="rect">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PANTONE 186C</a:t>
              </a:r>
            </a:p>
            <a:p>
              <a:pPr algn="ctr">
                <a:lnSpc>
                  <a:spcPts val="620"/>
                </a:lnSpc>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RGB</a:t>
              </a:r>
              <a:br>
                <a:rPr kumimoji="1" lang="en-US" altLang="zh-CN" sz="500" b="1" dirty="0">
                  <a:solidFill>
                    <a:schemeClr val="tx2"/>
                  </a:solidFill>
                  <a:latin typeface="Huawei Sans" panose="020C0503030203020204" pitchFamily="34" charset="0"/>
                  <a:ea typeface="Arial" charset="0"/>
                  <a:cs typeface="Huawei Sans" panose="020C0503030203020204" pitchFamily="34" charset="0"/>
                </a:rPr>
              </a:b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200/16/46  </a:t>
              </a:r>
            </a:p>
          </p:txBody>
        </p:sp>
        <p:sp>
          <p:nvSpPr>
            <p:cNvPr id="40" name="矩形 13">
              <a:extLst>
                <a:ext uri="{FF2B5EF4-FFF2-40B4-BE49-F238E27FC236}">
                  <a16:creationId xmlns="" xmlns:a16="http://schemas.microsoft.com/office/drawing/2014/main" id="{CB8870E8-3E95-764C-B621-A168E194CC7A}"/>
                </a:ext>
              </a:extLst>
            </p:cNvPr>
            <p:cNvSpPr/>
            <p:nvPr userDrawn="1"/>
          </p:nvSpPr>
          <p:spPr>
            <a:xfrm>
              <a:off x="5354164" y="2665974"/>
              <a:ext cx="791510" cy="664397"/>
            </a:xfrm>
            <a:prstGeom prst="rect">
              <a:avLst/>
            </a:prstGeom>
            <a:solidFill>
              <a:srgbClr val="7F000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127/0/1</a:t>
              </a:r>
            </a:p>
          </p:txBody>
        </p:sp>
        <p:sp>
          <p:nvSpPr>
            <p:cNvPr id="41" name="矩形 13">
              <a:extLst>
                <a:ext uri="{FF2B5EF4-FFF2-40B4-BE49-F238E27FC236}">
                  <a16:creationId xmlns="" xmlns:a16="http://schemas.microsoft.com/office/drawing/2014/main" id="{356EF69A-1936-544F-A95F-0664F4E186D5}"/>
                </a:ext>
              </a:extLst>
            </p:cNvPr>
            <p:cNvSpPr/>
            <p:nvPr userDrawn="1"/>
          </p:nvSpPr>
          <p:spPr>
            <a:xfrm>
              <a:off x="5354164" y="4134866"/>
              <a:ext cx="791510" cy="664397"/>
            </a:xfrm>
            <a:prstGeom prst="rect">
              <a:avLst/>
            </a:prstGeom>
            <a:solidFill>
              <a:srgbClr val="FCC8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52/200/0</a:t>
              </a:r>
            </a:p>
          </p:txBody>
        </p:sp>
        <p:sp>
          <p:nvSpPr>
            <p:cNvPr id="42" name="矩形 13">
              <a:extLst>
                <a:ext uri="{FF2B5EF4-FFF2-40B4-BE49-F238E27FC236}">
                  <a16:creationId xmlns="" xmlns:a16="http://schemas.microsoft.com/office/drawing/2014/main" id="{03EBAB43-95A5-1C4A-8458-B86EB3D51FCA}"/>
                </a:ext>
              </a:extLst>
            </p:cNvPr>
            <p:cNvSpPr/>
            <p:nvPr userDrawn="1"/>
          </p:nvSpPr>
          <p:spPr>
            <a:xfrm>
              <a:off x="5354164" y="5596166"/>
              <a:ext cx="791510" cy="664397"/>
            </a:xfrm>
            <a:prstGeom prst="rect">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48/181/197</a:t>
              </a:r>
            </a:p>
          </p:txBody>
        </p:sp>
        <p:sp>
          <p:nvSpPr>
            <p:cNvPr id="43" name="矩形 13">
              <a:extLst>
                <a:ext uri="{FF2B5EF4-FFF2-40B4-BE49-F238E27FC236}">
                  <a16:creationId xmlns="" xmlns:a16="http://schemas.microsoft.com/office/drawing/2014/main" id="{371A8520-F934-304C-B57F-B49F768694E2}"/>
                </a:ext>
              </a:extLst>
            </p:cNvPr>
            <p:cNvSpPr/>
            <p:nvPr userDrawn="1"/>
          </p:nvSpPr>
          <p:spPr>
            <a:xfrm>
              <a:off x="6194511" y="4866463"/>
              <a:ext cx="791510" cy="664397"/>
            </a:xfrm>
            <a:prstGeom prst="rect">
              <a:avLst/>
            </a:prstGeom>
            <a:solidFill>
              <a:srgbClr val="81C15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129/193/95</a:t>
              </a:r>
            </a:p>
          </p:txBody>
        </p:sp>
        <p:sp>
          <p:nvSpPr>
            <p:cNvPr id="44" name="矩形 13">
              <a:extLst>
                <a:ext uri="{FF2B5EF4-FFF2-40B4-BE49-F238E27FC236}">
                  <a16:creationId xmlns="" xmlns:a16="http://schemas.microsoft.com/office/drawing/2014/main" id="{B83004D7-279B-C14E-9FCF-870FA1B74FDF}"/>
                </a:ext>
              </a:extLst>
            </p:cNvPr>
            <p:cNvSpPr/>
            <p:nvPr userDrawn="1"/>
          </p:nvSpPr>
          <p:spPr>
            <a:xfrm>
              <a:off x="6192274" y="4134866"/>
              <a:ext cx="791510" cy="664397"/>
            </a:xfrm>
            <a:prstGeom prst="rect">
              <a:avLst/>
            </a:prstGeom>
            <a:solidFill>
              <a:srgbClr val="FDD35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253/211/81</a:t>
              </a:r>
            </a:p>
          </p:txBody>
        </p:sp>
        <p:sp>
          <p:nvSpPr>
            <p:cNvPr id="65" name="矩形 13">
              <a:extLst>
                <a:ext uri="{FF2B5EF4-FFF2-40B4-BE49-F238E27FC236}">
                  <a16:creationId xmlns="" xmlns:a16="http://schemas.microsoft.com/office/drawing/2014/main" id="{99635968-4E69-CC41-9D78-6DF253FE3035}"/>
                </a:ext>
              </a:extLst>
            </p:cNvPr>
            <p:cNvSpPr/>
            <p:nvPr userDrawn="1"/>
          </p:nvSpPr>
          <p:spPr>
            <a:xfrm>
              <a:off x="6192274" y="5596166"/>
              <a:ext cx="791510" cy="664397"/>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86/196/210</a:t>
              </a:r>
            </a:p>
          </p:txBody>
        </p:sp>
        <p:sp>
          <p:nvSpPr>
            <p:cNvPr id="66" name="矩形 13">
              <a:extLst>
                <a:ext uri="{FF2B5EF4-FFF2-40B4-BE49-F238E27FC236}">
                  <a16:creationId xmlns="" xmlns:a16="http://schemas.microsoft.com/office/drawing/2014/main" id="{BDBE4949-07B7-F046-AD95-68E4B0C11CCD}"/>
                </a:ext>
              </a:extLst>
            </p:cNvPr>
            <p:cNvSpPr/>
            <p:nvPr/>
          </p:nvSpPr>
          <p:spPr>
            <a:xfrm>
              <a:off x="6186245" y="184963"/>
              <a:ext cx="791510" cy="664397"/>
            </a:xfrm>
            <a:prstGeom prst="rect">
              <a:avLst/>
            </a:prstGeom>
            <a:solidFill>
              <a:srgbClr val="D3394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211/57/65</a:t>
              </a:r>
            </a:p>
          </p:txBody>
        </p:sp>
        <p:sp>
          <p:nvSpPr>
            <p:cNvPr id="67" name="矩形 13">
              <a:extLst>
                <a:ext uri="{FF2B5EF4-FFF2-40B4-BE49-F238E27FC236}">
                  <a16:creationId xmlns="" xmlns:a16="http://schemas.microsoft.com/office/drawing/2014/main" id="{AA9F9E00-6A31-F14B-A2E4-79908835FD14}"/>
                </a:ext>
              </a:extLst>
            </p:cNvPr>
            <p:cNvSpPr/>
            <p:nvPr/>
          </p:nvSpPr>
          <p:spPr>
            <a:xfrm>
              <a:off x="6185604" y="918047"/>
              <a:ext cx="791510" cy="664397"/>
            </a:xfrm>
            <a:prstGeom prst="rect">
              <a:avLst/>
            </a:prstGeom>
            <a:solidFill>
              <a:srgbClr val="D3385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p>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211/56/89</a:t>
              </a:r>
            </a:p>
          </p:txBody>
        </p:sp>
        <p:sp>
          <p:nvSpPr>
            <p:cNvPr id="68" name="矩形 13">
              <a:extLst>
                <a:ext uri="{FF2B5EF4-FFF2-40B4-BE49-F238E27FC236}">
                  <a16:creationId xmlns="" xmlns:a16="http://schemas.microsoft.com/office/drawing/2014/main" id="{38715A31-485E-B744-B409-43F9F04B48F7}"/>
                </a:ext>
              </a:extLst>
            </p:cNvPr>
            <p:cNvSpPr/>
            <p:nvPr/>
          </p:nvSpPr>
          <p:spPr>
            <a:xfrm>
              <a:off x="6996262" y="1934171"/>
              <a:ext cx="791510" cy="664397"/>
            </a:xfrm>
            <a:prstGeom prst="rect">
              <a:avLst/>
            </a:prstGeom>
            <a:solidFill>
              <a:srgbClr val="DD80A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221/128/170</a:t>
              </a:r>
            </a:p>
          </p:txBody>
        </p:sp>
        <p:sp>
          <p:nvSpPr>
            <p:cNvPr id="69" name="矩形 13">
              <a:extLst>
                <a:ext uri="{FF2B5EF4-FFF2-40B4-BE49-F238E27FC236}">
                  <a16:creationId xmlns="" xmlns:a16="http://schemas.microsoft.com/office/drawing/2014/main" id="{4AE1609B-25DD-2C4A-B05B-D18ADBC39C71}"/>
                </a:ext>
              </a:extLst>
            </p:cNvPr>
            <p:cNvSpPr/>
            <p:nvPr/>
          </p:nvSpPr>
          <p:spPr>
            <a:xfrm>
              <a:off x="6996262" y="2673360"/>
              <a:ext cx="791510" cy="664397"/>
            </a:xfrm>
            <a:prstGeom prst="rect">
              <a:avLst/>
            </a:prstGeom>
            <a:solidFill>
              <a:srgbClr val="BF808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191/128/130</a:t>
              </a:r>
            </a:p>
          </p:txBody>
        </p:sp>
        <p:sp>
          <p:nvSpPr>
            <p:cNvPr id="70" name="矩形 13">
              <a:extLst>
                <a:ext uri="{FF2B5EF4-FFF2-40B4-BE49-F238E27FC236}">
                  <a16:creationId xmlns="" xmlns:a16="http://schemas.microsoft.com/office/drawing/2014/main" id="{ECE90F9F-DBBC-0B49-A42C-8B62397E473E}"/>
                </a:ext>
              </a:extLst>
            </p:cNvPr>
            <p:cNvSpPr/>
            <p:nvPr/>
          </p:nvSpPr>
          <p:spPr>
            <a:xfrm>
              <a:off x="6996262" y="3415851"/>
              <a:ext cx="791510" cy="664397"/>
            </a:xfrm>
            <a:prstGeom prst="rect">
              <a:avLst/>
            </a:prstGeom>
            <a:solidFill>
              <a:srgbClr val="F6B78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246/183/140</a:t>
              </a:r>
              <a:endParaRPr kumimoji="1" lang="mr-IN" altLang="zh-CN" sz="500" b="1" dirty="0">
                <a:solidFill>
                  <a:srgbClr val="595757"/>
                </a:solidFill>
                <a:latin typeface="Huawei Sans" panose="020C0503030203020204" pitchFamily="34" charset="0"/>
                <a:ea typeface="Arial" charset="0"/>
                <a:cs typeface="Arial" charset="0"/>
              </a:endParaRPr>
            </a:p>
          </p:txBody>
        </p:sp>
        <p:sp>
          <p:nvSpPr>
            <p:cNvPr id="71" name="矩形 13">
              <a:extLst>
                <a:ext uri="{FF2B5EF4-FFF2-40B4-BE49-F238E27FC236}">
                  <a16:creationId xmlns="" xmlns:a16="http://schemas.microsoft.com/office/drawing/2014/main" id="{D5B387BA-F8B8-B54E-966E-F24E271747C4}"/>
                </a:ext>
              </a:extLst>
            </p:cNvPr>
            <p:cNvSpPr/>
            <p:nvPr/>
          </p:nvSpPr>
          <p:spPr>
            <a:xfrm>
              <a:off x="7006093" y="4866463"/>
              <a:ext cx="791510" cy="664397"/>
            </a:xfrm>
            <a:prstGeom prst="rect">
              <a:avLst/>
            </a:prstGeom>
            <a:solidFill>
              <a:srgbClr val="AFD89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176/216/156</a:t>
              </a:r>
            </a:p>
          </p:txBody>
        </p:sp>
        <p:sp>
          <p:nvSpPr>
            <p:cNvPr id="72" name="矩形 13">
              <a:extLst>
                <a:ext uri="{FF2B5EF4-FFF2-40B4-BE49-F238E27FC236}">
                  <a16:creationId xmlns="" xmlns:a16="http://schemas.microsoft.com/office/drawing/2014/main" id="{E6C9B99E-8C1C-2B49-B82E-3C754B8E5C02}"/>
                </a:ext>
              </a:extLst>
            </p:cNvPr>
            <p:cNvSpPr/>
            <p:nvPr/>
          </p:nvSpPr>
          <p:spPr>
            <a:xfrm>
              <a:off x="7003856" y="4134866"/>
              <a:ext cx="791510" cy="664397"/>
            </a:xfrm>
            <a:prstGeom prst="rect">
              <a:avLst/>
            </a:prstGeom>
            <a:solidFill>
              <a:srgbClr val="FDE39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253/227/181</a:t>
              </a:r>
            </a:p>
          </p:txBody>
        </p:sp>
        <p:sp>
          <p:nvSpPr>
            <p:cNvPr id="73" name="矩形 13">
              <a:extLst>
                <a:ext uri="{FF2B5EF4-FFF2-40B4-BE49-F238E27FC236}">
                  <a16:creationId xmlns="" xmlns:a16="http://schemas.microsoft.com/office/drawing/2014/main" id="{0106BFA2-9DE1-3A42-A6C6-69BCE0FA34F4}"/>
                </a:ext>
              </a:extLst>
            </p:cNvPr>
            <p:cNvSpPr/>
            <p:nvPr/>
          </p:nvSpPr>
          <p:spPr>
            <a:xfrm>
              <a:off x="7003856" y="5596166"/>
              <a:ext cx="791510" cy="664397"/>
            </a:xfrm>
            <a:prstGeom prst="rect">
              <a:avLst/>
            </a:prstGeom>
            <a:solidFill>
              <a:srgbClr val="94DAE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148/218/226</a:t>
              </a:r>
            </a:p>
          </p:txBody>
        </p:sp>
        <p:sp>
          <p:nvSpPr>
            <p:cNvPr id="74" name="矩形 13">
              <a:extLst>
                <a:ext uri="{FF2B5EF4-FFF2-40B4-BE49-F238E27FC236}">
                  <a16:creationId xmlns="" xmlns:a16="http://schemas.microsoft.com/office/drawing/2014/main" id="{F760C1C5-4342-C346-A7D2-D101978EDF66}"/>
                </a:ext>
              </a:extLst>
            </p:cNvPr>
            <p:cNvSpPr/>
            <p:nvPr/>
          </p:nvSpPr>
          <p:spPr>
            <a:xfrm>
              <a:off x="6997826" y="184963"/>
              <a:ext cx="791510" cy="664397"/>
            </a:xfrm>
            <a:prstGeom prst="rect">
              <a:avLst/>
            </a:prstGeom>
            <a:solidFill>
              <a:srgbClr val="E2818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226/129/137</a:t>
              </a:r>
            </a:p>
          </p:txBody>
        </p:sp>
        <p:sp>
          <p:nvSpPr>
            <p:cNvPr id="75" name="矩形 13">
              <a:extLst>
                <a:ext uri="{FF2B5EF4-FFF2-40B4-BE49-F238E27FC236}">
                  <a16:creationId xmlns="" xmlns:a16="http://schemas.microsoft.com/office/drawing/2014/main" id="{5BB50A4A-0B64-7E4C-824C-1EBCA1A992CF}"/>
                </a:ext>
              </a:extLst>
            </p:cNvPr>
            <p:cNvSpPr/>
            <p:nvPr/>
          </p:nvSpPr>
          <p:spPr>
            <a:xfrm>
              <a:off x="6997185" y="918047"/>
              <a:ext cx="791510" cy="664397"/>
            </a:xfrm>
            <a:prstGeom prst="rect">
              <a:avLst/>
            </a:prstGeom>
            <a:solidFill>
              <a:srgbClr val="E2819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226/129/152</a:t>
              </a:r>
            </a:p>
          </p:txBody>
        </p:sp>
        <p:sp>
          <p:nvSpPr>
            <p:cNvPr id="76" name="矩形 13">
              <a:extLst>
                <a:ext uri="{FF2B5EF4-FFF2-40B4-BE49-F238E27FC236}">
                  <a16:creationId xmlns="" xmlns:a16="http://schemas.microsoft.com/office/drawing/2014/main" id="{756A7E25-6C44-8A44-A8C5-61D19BC9EDAF}"/>
                </a:ext>
              </a:extLst>
            </p:cNvPr>
            <p:cNvSpPr/>
            <p:nvPr userDrawn="1"/>
          </p:nvSpPr>
          <p:spPr>
            <a:xfrm>
              <a:off x="7806130" y="1934171"/>
              <a:ext cx="791510" cy="664397"/>
            </a:xfrm>
            <a:prstGeom prst="rect">
              <a:avLst/>
            </a:prstGeom>
            <a:solidFill>
              <a:srgbClr val="EBB3C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235/179/204</a:t>
              </a:r>
            </a:p>
          </p:txBody>
        </p:sp>
        <p:sp>
          <p:nvSpPr>
            <p:cNvPr id="77" name="矩形 13">
              <a:extLst>
                <a:ext uri="{FF2B5EF4-FFF2-40B4-BE49-F238E27FC236}">
                  <a16:creationId xmlns="" xmlns:a16="http://schemas.microsoft.com/office/drawing/2014/main" id="{96588389-39CD-DF4E-B9AC-92091E25724E}"/>
                </a:ext>
              </a:extLst>
            </p:cNvPr>
            <p:cNvSpPr/>
            <p:nvPr/>
          </p:nvSpPr>
          <p:spPr>
            <a:xfrm>
              <a:off x="7806130" y="2673360"/>
              <a:ext cx="791510" cy="664397"/>
            </a:xfrm>
            <a:prstGeom prst="rect">
              <a:avLst/>
            </a:prstGeom>
            <a:solidFill>
              <a:srgbClr val="D8B3B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216/179/179</a:t>
              </a:r>
            </a:p>
          </p:txBody>
        </p:sp>
        <p:sp>
          <p:nvSpPr>
            <p:cNvPr id="78" name="矩形 13">
              <a:extLst>
                <a:ext uri="{FF2B5EF4-FFF2-40B4-BE49-F238E27FC236}">
                  <a16:creationId xmlns="" xmlns:a16="http://schemas.microsoft.com/office/drawing/2014/main" id="{20725C9F-31AE-DB44-B70A-B4ECDEC0BC00}"/>
                </a:ext>
              </a:extLst>
            </p:cNvPr>
            <p:cNvSpPr/>
            <p:nvPr/>
          </p:nvSpPr>
          <p:spPr>
            <a:xfrm>
              <a:off x="7806130" y="3415851"/>
              <a:ext cx="791510" cy="664397"/>
            </a:xfrm>
            <a:prstGeom prst="rect">
              <a:avLst/>
            </a:prstGeom>
            <a:solidFill>
              <a:srgbClr val="FAD3B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250/211/187</a:t>
              </a:r>
              <a:endParaRPr kumimoji="1" lang="mr-IN" altLang="zh-CN" sz="500" b="1" dirty="0">
                <a:solidFill>
                  <a:srgbClr val="595757"/>
                </a:solidFill>
                <a:latin typeface="Huawei Sans" panose="020C0503030203020204" pitchFamily="34" charset="0"/>
                <a:ea typeface="Arial" charset="0"/>
                <a:cs typeface="Arial" charset="0"/>
              </a:endParaRPr>
            </a:p>
          </p:txBody>
        </p:sp>
        <p:sp>
          <p:nvSpPr>
            <p:cNvPr id="79" name="矩形 13">
              <a:extLst>
                <a:ext uri="{FF2B5EF4-FFF2-40B4-BE49-F238E27FC236}">
                  <a16:creationId xmlns="" xmlns:a16="http://schemas.microsoft.com/office/drawing/2014/main" id="{AC5BCC27-B68D-0743-8E0B-E25F8D01C3A4}"/>
                </a:ext>
              </a:extLst>
            </p:cNvPr>
            <p:cNvSpPr/>
            <p:nvPr/>
          </p:nvSpPr>
          <p:spPr>
            <a:xfrm>
              <a:off x="7815961" y="4866463"/>
              <a:ext cx="791510" cy="664397"/>
            </a:xfrm>
            <a:prstGeom prst="rect">
              <a:avLst/>
            </a:prstGeom>
            <a:solidFill>
              <a:srgbClr val="D0E8C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208/232/196</a:t>
              </a:r>
            </a:p>
          </p:txBody>
        </p:sp>
        <p:sp>
          <p:nvSpPr>
            <p:cNvPr id="80" name="矩形 13">
              <a:extLst>
                <a:ext uri="{FF2B5EF4-FFF2-40B4-BE49-F238E27FC236}">
                  <a16:creationId xmlns="" xmlns:a16="http://schemas.microsoft.com/office/drawing/2014/main" id="{51C2E83A-C975-6945-B2FD-5B22BBB53DB7}"/>
                </a:ext>
              </a:extLst>
            </p:cNvPr>
            <p:cNvSpPr/>
            <p:nvPr/>
          </p:nvSpPr>
          <p:spPr>
            <a:xfrm>
              <a:off x="7813724" y="4134866"/>
              <a:ext cx="791510" cy="664397"/>
            </a:xfrm>
            <a:prstGeom prst="rect">
              <a:avLst/>
            </a:prstGeom>
            <a:solidFill>
              <a:srgbClr val="FEEE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254/238/193</a:t>
              </a:r>
            </a:p>
          </p:txBody>
        </p:sp>
        <p:sp>
          <p:nvSpPr>
            <p:cNvPr id="81" name="矩形 13">
              <a:extLst>
                <a:ext uri="{FF2B5EF4-FFF2-40B4-BE49-F238E27FC236}">
                  <a16:creationId xmlns="" xmlns:a16="http://schemas.microsoft.com/office/drawing/2014/main" id="{BEE9A95F-6965-354F-A2C7-2E8C81DDA52F}"/>
                </a:ext>
              </a:extLst>
            </p:cNvPr>
            <p:cNvSpPr/>
            <p:nvPr/>
          </p:nvSpPr>
          <p:spPr>
            <a:xfrm>
              <a:off x="7813724" y="5596166"/>
              <a:ext cx="791510" cy="664397"/>
            </a:xfrm>
            <a:prstGeom prst="rect">
              <a:avLst/>
            </a:prstGeom>
            <a:solidFill>
              <a:srgbClr val="BEE9E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595757"/>
                  </a:solidFill>
                  <a:latin typeface="Huawei Sans" panose="020C0503030203020204" pitchFamily="34" charset="0"/>
                  <a:ea typeface="Arial" charset="0"/>
                  <a:cs typeface="Huawei Sans" panose="020C0503030203020204" pitchFamily="34" charset="0"/>
                </a:rPr>
              </a:b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190/23/238</a:t>
              </a:r>
            </a:p>
          </p:txBody>
        </p:sp>
        <p:sp>
          <p:nvSpPr>
            <p:cNvPr id="82" name="矩形 13">
              <a:extLst>
                <a:ext uri="{FF2B5EF4-FFF2-40B4-BE49-F238E27FC236}">
                  <a16:creationId xmlns="" xmlns:a16="http://schemas.microsoft.com/office/drawing/2014/main" id="{509164EB-3DC4-7A4F-9E7C-06EBC981CD0A}"/>
                </a:ext>
              </a:extLst>
            </p:cNvPr>
            <p:cNvSpPr/>
            <p:nvPr/>
          </p:nvSpPr>
          <p:spPr>
            <a:xfrm>
              <a:off x="7807694" y="184963"/>
              <a:ext cx="791510" cy="664397"/>
            </a:xfrm>
            <a:prstGeom prst="rect">
              <a:avLst/>
            </a:prstGeom>
            <a:solidFill>
              <a:srgbClr val="EEB3B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239/178/184</a:t>
              </a:r>
            </a:p>
          </p:txBody>
        </p:sp>
        <p:sp>
          <p:nvSpPr>
            <p:cNvPr id="83" name="矩形 13">
              <a:extLst>
                <a:ext uri="{FF2B5EF4-FFF2-40B4-BE49-F238E27FC236}">
                  <a16:creationId xmlns="" xmlns:a16="http://schemas.microsoft.com/office/drawing/2014/main" id="{667867DD-D3E6-3040-A7B5-39345C0CE2E3}"/>
                </a:ext>
              </a:extLst>
            </p:cNvPr>
            <p:cNvSpPr/>
            <p:nvPr/>
          </p:nvSpPr>
          <p:spPr>
            <a:xfrm>
              <a:off x="7807054" y="918047"/>
              <a:ext cx="791510" cy="664397"/>
            </a:xfrm>
            <a:prstGeom prst="rect">
              <a:avLst/>
            </a:prstGeom>
            <a:solidFill>
              <a:srgbClr val="EEB3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238/179/193</a:t>
              </a:r>
            </a:p>
          </p:txBody>
        </p:sp>
        <p:sp>
          <p:nvSpPr>
            <p:cNvPr id="84" name="矩形 13">
              <a:extLst>
                <a:ext uri="{FF2B5EF4-FFF2-40B4-BE49-F238E27FC236}">
                  <a16:creationId xmlns="" xmlns:a16="http://schemas.microsoft.com/office/drawing/2014/main" id="{9EE10597-3782-AB46-8453-89FA049C6C46}"/>
                </a:ext>
              </a:extLst>
            </p:cNvPr>
            <p:cNvSpPr/>
            <p:nvPr userDrawn="1"/>
          </p:nvSpPr>
          <p:spPr>
            <a:xfrm>
              <a:off x="5354169" y="6324025"/>
              <a:ext cx="513579" cy="664397"/>
            </a:xfrm>
            <a:prstGeom prst="rect">
              <a:avLst/>
            </a:prstGeom>
            <a:solidFill>
              <a:srgbClr val="22181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35/24/21</a:t>
              </a:r>
            </a:p>
          </p:txBody>
        </p:sp>
        <p:sp>
          <p:nvSpPr>
            <p:cNvPr id="85" name="矩形 13">
              <a:extLst>
                <a:ext uri="{FF2B5EF4-FFF2-40B4-BE49-F238E27FC236}">
                  <a16:creationId xmlns="" xmlns:a16="http://schemas.microsoft.com/office/drawing/2014/main" id="{966B3529-B594-884C-BED0-5887B34BBBB8}"/>
                </a:ext>
              </a:extLst>
            </p:cNvPr>
            <p:cNvSpPr/>
            <p:nvPr userDrawn="1"/>
          </p:nvSpPr>
          <p:spPr>
            <a:xfrm>
              <a:off x="5900626" y="6324025"/>
              <a:ext cx="513579" cy="664397"/>
            </a:xfrm>
            <a:prstGeom prst="rect">
              <a:avLst/>
            </a:prstGeom>
            <a:solidFill>
              <a:srgbClr val="5957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p>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89/87/87</a:t>
              </a:r>
            </a:p>
          </p:txBody>
        </p:sp>
        <p:sp>
          <p:nvSpPr>
            <p:cNvPr id="86" name="矩形 13">
              <a:extLst>
                <a:ext uri="{FF2B5EF4-FFF2-40B4-BE49-F238E27FC236}">
                  <a16:creationId xmlns="" xmlns:a16="http://schemas.microsoft.com/office/drawing/2014/main" id="{0B0545C9-147F-584F-80D2-EF13876D7D33}"/>
                </a:ext>
              </a:extLst>
            </p:cNvPr>
            <p:cNvSpPr/>
            <p:nvPr userDrawn="1"/>
          </p:nvSpPr>
          <p:spPr>
            <a:xfrm>
              <a:off x="6450318" y="6324025"/>
              <a:ext cx="513579" cy="664397"/>
            </a:xfrm>
            <a:prstGeom prst="rect">
              <a:avLst/>
            </a:prstGeom>
            <a:solidFill>
              <a:srgbClr val="88888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p>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137/137/</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137</a:t>
              </a:r>
            </a:p>
          </p:txBody>
        </p:sp>
        <p:sp>
          <p:nvSpPr>
            <p:cNvPr id="87" name="矩形 13">
              <a:extLst>
                <a:ext uri="{FF2B5EF4-FFF2-40B4-BE49-F238E27FC236}">
                  <a16:creationId xmlns="" xmlns:a16="http://schemas.microsoft.com/office/drawing/2014/main" id="{44FD0A0B-0D45-3340-A523-465AC24134BF}"/>
                </a:ext>
              </a:extLst>
            </p:cNvPr>
            <p:cNvSpPr/>
            <p:nvPr userDrawn="1"/>
          </p:nvSpPr>
          <p:spPr>
            <a:xfrm>
              <a:off x="6998296" y="6324025"/>
              <a:ext cx="513579" cy="664397"/>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p>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181/181/</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181</a:t>
              </a:r>
            </a:p>
          </p:txBody>
        </p:sp>
        <p:sp>
          <p:nvSpPr>
            <p:cNvPr id="88" name="矩形 13">
              <a:extLst>
                <a:ext uri="{FF2B5EF4-FFF2-40B4-BE49-F238E27FC236}">
                  <a16:creationId xmlns="" xmlns:a16="http://schemas.microsoft.com/office/drawing/2014/main" id="{2C404A07-276B-3648-BB25-4EDB5905448C}"/>
                </a:ext>
              </a:extLst>
            </p:cNvPr>
            <p:cNvSpPr/>
            <p:nvPr userDrawn="1"/>
          </p:nvSpPr>
          <p:spPr>
            <a:xfrm>
              <a:off x="7541580" y="6324025"/>
              <a:ext cx="513579" cy="664397"/>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221/221/</a:t>
              </a:r>
              <a:br>
                <a:rPr kumimoji="1" lang="en-US" altLang="zh-CN" sz="500" b="1" dirty="0">
                  <a:solidFill>
                    <a:srgbClr val="595757"/>
                  </a:solidFill>
                  <a:latin typeface="Huawei Sans" panose="020C0503030203020204" pitchFamily="34" charset="0"/>
                  <a:ea typeface="Arial" charset="0"/>
                  <a:cs typeface="Huawei Sans" panose="020C0503030203020204" pitchFamily="34" charset="0"/>
                </a:rPr>
              </a:b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221</a:t>
              </a:r>
            </a:p>
          </p:txBody>
        </p:sp>
        <p:sp>
          <p:nvSpPr>
            <p:cNvPr id="89" name="矩形 13">
              <a:extLst>
                <a:ext uri="{FF2B5EF4-FFF2-40B4-BE49-F238E27FC236}">
                  <a16:creationId xmlns="" xmlns:a16="http://schemas.microsoft.com/office/drawing/2014/main" id="{72B0F29C-A346-8946-9B8E-8F1B9DFF7AD0}"/>
                </a:ext>
              </a:extLst>
            </p:cNvPr>
            <p:cNvSpPr/>
            <p:nvPr userDrawn="1"/>
          </p:nvSpPr>
          <p:spPr>
            <a:xfrm>
              <a:off x="8083608" y="6324025"/>
              <a:ext cx="513579" cy="664397"/>
            </a:xfrm>
            <a:prstGeom prst="rect">
              <a:avLst/>
            </a:prstGeom>
            <a:solidFill>
              <a:srgbClr val="FFFFFF"/>
            </a:solidFill>
            <a:ln w="6350">
              <a:solidFill>
                <a:srgbClr val="B5B5B5"/>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a:t>
              </a:r>
            </a:p>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255/255/</a:t>
              </a:r>
              <a:br>
                <a:rPr kumimoji="1" lang="en-US" altLang="zh-CN" sz="500" b="1" dirty="0">
                  <a:solidFill>
                    <a:srgbClr val="595757"/>
                  </a:solidFill>
                  <a:latin typeface="Huawei Sans" panose="020C0503030203020204" pitchFamily="34" charset="0"/>
                  <a:ea typeface="Arial" charset="0"/>
                  <a:cs typeface="Huawei Sans" panose="020C0503030203020204" pitchFamily="34" charset="0"/>
                </a:rPr>
              </a:b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255</a:t>
              </a:r>
            </a:p>
          </p:txBody>
        </p:sp>
      </p:grpSp>
    </p:spTree>
    <p:extLst>
      <p:ext uri="{BB962C8B-B14F-4D97-AF65-F5344CB8AC3E}">
        <p14:creationId xmlns:p14="http://schemas.microsoft.com/office/powerpoint/2010/main" val="3855767675"/>
      </p:ext>
    </p:extLst>
  </p:cSld>
  <p:clrMap bg1="lt1" tx1="dk1" bg2="lt2" tx2="dk2" accent1="accent1" accent2="accent2" accent3="accent3" accent4="accent4" accent5="accent5" accent6="accent6" hlink="hlink" folHlink="folHlink"/>
  <p:sldLayoutIdLst>
    <p:sldLayoutId id="2147483886" r:id="rId1"/>
    <p:sldLayoutId id="2147483887" r:id="rId2"/>
    <p:sldLayoutId id="2147483888" r:id="rId3"/>
    <p:sldLayoutId id="2147483889" r:id="rId4"/>
    <p:sldLayoutId id="2147483890" r:id="rId5"/>
  </p:sldLayoutIdLst>
  <p:timing>
    <p:tnLst>
      <p:par>
        <p:cTn id="1" dur="indefinite" restart="never" nodeType="tmRoot"/>
      </p:par>
    </p:tnLst>
  </p:timing>
  <p:txStyles>
    <p:titleStyle>
      <a:lvl1pPr algn="l" defTabSz="914034" rtl="0" eaLnBrk="1" fontAlgn="base" latinLnBrk="0" hangingPunct="1">
        <a:lnSpc>
          <a:spcPct val="90000"/>
        </a:lnSpc>
        <a:spcBef>
          <a:spcPct val="0"/>
        </a:spcBef>
        <a:buNone/>
        <a:defRPr lang="zh-CN" altLang="en-US" sz="3200" kern="1200" baseline="0" dirty="0">
          <a:solidFill>
            <a:schemeClr val="tx1"/>
          </a:solidFill>
          <a:latin typeface="Huawei Sans" panose="020C0503030203020204" pitchFamily="34" charset="0"/>
          <a:ea typeface="方正兰亭黑简体" panose="02000000000000000000" pitchFamily="2" charset="-122"/>
          <a:cs typeface="+mn-cs"/>
        </a:defRPr>
      </a:lvl1pPr>
    </p:titleStyle>
    <p:bodyStyle>
      <a:lvl1pPr marL="302279" indent="-302279" algn="l" defTabSz="914034" rtl="0" eaLnBrk="1" fontAlgn="auto" latinLnBrk="0" hangingPunct="1">
        <a:lnSpc>
          <a:spcPct val="140000"/>
        </a:lnSpc>
        <a:spcBef>
          <a:spcPts val="792"/>
        </a:spcBef>
        <a:buSzPct val="50000"/>
        <a:buFont typeface="Wingdings" panose="05000000000000000000" pitchFamily="2" charset="2"/>
        <a:buChar char="l"/>
        <a:defRPr sz="2199" kern="1200" baseline="0">
          <a:solidFill>
            <a:schemeClr val="tx1"/>
          </a:solidFill>
          <a:latin typeface="Huawei Sans" panose="020C0503030203020204" pitchFamily="34" charset="0"/>
          <a:ea typeface="方正兰亭黑简体" panose="02000000000000000000" pitchFamily="2" charset="-122"/>
          <a:cs typeface="+mn-cs"/>
        </a:defRPr>
      </a:lvl1pPr>
      <a:lvl2pPr marL="654938" indent="-251899" algn="l" defTabSz="914034" rtl="0" eaLnBrk="1" fontAlgn="auto" latinLnBrk="0" hangingPunct="1">
        <a:lnSpc>
          <a:spcPct val="140000"/>
        </a:lnSpc>
        <a:spcBef>
          <a:spcPts val="720"/>
        </a:spcBef>
        <a:buClrTx/>
        <a:buSzPct val="50000"/>
        <a:buFont typeface="Wingdings" panose="05000000000000000000" pitchFamily="2" charset="2"/>
        <a:buChar char="p"/>
        <a:defRPr sz="1999" kern="1200" baseline="0">
          <a:solidFill>
            <a:schemeClr val="tx1"/>
          </a:solidFill>
          <a:latin typeface="Huawei Sans" panose="020C0503030203020204" pitchFamily="34" charset="0"/>
          <a:ea typeface="方正兰亭黑简体" panose="02000000000000000000" pitchFamily="2" charset="-122"/>
          <a:cs typeface="+mn-cs"/>
        </a:defRPr>
      </a:lvl2pPr>
      <a:lvl3pPr marL="1003998" indent="-201519" algn="l" defTabSz="914034" rtl="0" eaLnBrk="1" fontAlgn="auto" latinLnBrk="0" hangingPunct="1">
        <a:lnSpc>
          <a:spcPct val="140000"/>
        </a:lnSpc>
        <a:spcBef>
          <a:spcPts val="648"/>
        </a:spcBef>
        <a:buClrTx/>
        <a:buSzPct val="50000"/>
        <a:buFont typeface="Wingdings" panose="05000000000000000000" pitchFamily="2" charset="2"/>
        <a:buChar char="n"/>
        <a:defRPr sz="1799" kern="1200" baseline="0">
          <a:solidFill>
            <a:schemeClr val="tx1"/>
          </a:solidFill>
          <a:latin typeface="Huawei Sans" panose="020C0503030203020204" pitchFamily="34" charset="0"/>
          <a:ea typeface="方正兰亭黑简体" panose="02000000000000000000" pitchFamily="2" charset="-122"/>
          <a:cs typeface="+mn-cs"/>
        </a:defRPr>
      </a:lvl3pPr>
      <a:lvl4pPr marL="1399840" indent="-197921" algn="l" defTabSz="914034" rtl="0" eaLnBrk="1" fontAlgn="auto" latinLnBrk="0" hangingPunct="1">
        <a:lnSpc>
          <a:spcPct val="140000"/>
        </a:lnSpc>
        <a:spcBef>
          <a:spcPts val="576"/>
        </a:spcBef>
        <a:buFont typeface="Huawei Sans" panose="020C0503030203020204" pitchFamily="34" charset="0"/>
        <a:buChar char="−"/>
        <a:defRPr sz="1599" kern="1200" baseline="0">
          <a:solidFill>
            <a:schemeClr val="tx1"/>
          </a:solidFill>
          <a:latin typeface="Huawei Sans" panose="020C0503030203020204" pitchFamily="34" charset="0"/>
          <a:ea typeface="方正兰亭黑简体" panose="02000000000000000000" pitchFamily="2" charset="-122"/>
          <a:cs typeface="+mn-cs"/>
        </a:defRPr>
      </a:lvl4pPr>
      <a:lvl5pPr marL="1802879" indent="-201519" algn="l" defTabSz="914034" rtl="0" eaLnBrk="1" fontAlgn="auto" latinLnBrk="0" hangingPunct="1">
        <a:lnSpc>
          <a:spcPct val="140000"/>
        </a:lnSpc>
        <a:spcBef>
          <a:spcPts val="576"/>
        </a:spcBef>
        <a:buFont typeface="Huawei Sans" panose="020C0503030203020204" pitchFamily="34" charset="0"/>
        <a:buChar char="~"/>
        <a:defRPr sz="1399" kern="1200" baseline="0">
          <a:solidFill>
            <a:schemeClr val="tx1"/>
          </a:solidFill>
          <a:latin typeface="Huawei Sans" panose="020C0503030203020204" pitchFamily="34" charset="0"/>
          <a:ea typeface="方正兰亭黑简体" panose="02000000000000000000" pitchFamily="2" charset="-122"/>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p:bodyStyle>
    <p:otherStyle>
      <a:defPPr>
        <a:defRPr lang="zh-CN"/>
      </a:defPPr>
      <a:lvl1pPr marL="0" algn="l" defTabSz="914034" rtl="0" eaLnBrk="1" latinLnBrk="0" hangingPunct="1">
        <a:defRPr sz="1799" kern="1200">
          <a:solidFill>
            <a:schemeClr val="tx1"/>
          </a:solidFill>
          <a:latin typeface="+mn-lt"/>
          <a:ea typeface="+mn-ea"/>
          <a:cs typeface="+mn-cs"/>
        </a:defRPr>
      </a:lvl1pPr>
      <a:lvl2pPr marL="457017" algn="l" defTabSz="914034" rtl="0" eaLnBrk="1" latinLnBrk="0" hangingPunct="1">
        <a:defRPr sz="1799" kern="1200">
          <a:solidFill>
            <a:schemeClr val="tx1"/>
          </a:solidFill>
          <a:latin typeface="+mn-lt"/>
          <a:ea typeface="+mn-ea"/>
          <a:cs typeface="+mn-cs"/>
        </a:defRPr>
      </a:lvl2pPr>
      <a:lvl3pPr marL="914034" algn="l" defTabSz="914034" rtl="0" eaLnBrk="1" latinLnBrk="0" hangingPunct="1">
        <a:defRPr sz="1799" kern="1200">
          <a:solidFill>
            <a:schemeClr val="tx1"/>
          </a:solidFill>
          <a:latin typeface="+mn-lt"/>
          <a:ea typeface="+mn-ea"/>
          <a:cs typeface="+mn-cs"/>
        </a:defRPr>
      </a:lvl3pPr>
      <a:lvl4pPr marL="1371051" algn="l" defTabSz="914034" rtl="0" eaLnBrk="1" latinLnBrk="0" hangingPunct="1">
        <a:defRPr sz="1799" kern="1200">
          <a:solidFill>
            <a:schemeClr val="tx1"/>
          </a:solidFill>
          <a:latin typeface="+mn-lt"/>
          <a:ea typeface="+mn-ea"/>
          <a:cs typeface="+mn-cs"/>
        </a:defRPr>
      </a:lvl4pPr>
      <a:lvl5pPr marL="1828068" algn="l" defTabSz="914034" rtl="0" eaLnBrk="1" latinLnBrk="0" hangingPunct="1">
        <a:defRPr sz="1799" kern="1200">
          <a:solidFill>
            <a:schemeClr val="tx1"/>
          </a:solidFill>
          <a:latin typeface="+mn-lt"/>
          <a:ea typeface="+mn-ea"/>
          <a:cs typeface="+mn-cs"/>
        </a:defRPr>
      </a:lvl5pPr>
      <a:lvl6pPr marL="2285086" algn="l" defTabSz="914034" rtl="0" eaLnBrk="1" latinLnBrk="0" hangingPunct="1">
        <a:defRPr sz="1799" kern="1200">
          <a:solidFill>
            <a:schemeClr val="tx1"/>
          </a:solidFill>
          <a:latin typeface="+mn-lt"/>
          <a:ea typeface="+mn-ea"/>
          <a:cs typeface="+mn-cs"/>
        </a:defRPr>
      </a:lvl6pPr>
      <a:lvl7pPr marL="2742103" algn="l" defTabSz="914034" rtl="0" eaLnBrk="1" latinLnBrk="0" hangingPunct="1">
        <a:defRPr sz="1799" kern="1200">
          <a:solidFill>
            <a:schemeClr val="tx1"/>
          </a:solidFill>
          <a:latin typeface="+mn-lt"/>
          <a:ea typeface="+mn-ea"/>
          <a:cs typeface="+mn-cs"/>
        </a:defRPr>
      </a:lvl7pPr>
      <a:lvl8pPr marL="3199120" algn="l" defTabSz="914034" rtl="0" eaLnBrk="1" latinLnBrk="0" hangingPunct="1">
        <a:defRPr sz="1799" kern="1200">
          <a:solidFill>
            <a:schemeClr val="tx1"/>
          </a:solidFill>
          <a:latin typeface="+mn-lt"/>
          <a:ea typeface="+mn-ea"/>
          <a:cs typeface="+mn-cs"/>
        </a:defRPr>
      </a:lvl8pPr>
      <a:lvl9pPr marL="3656137" algn="l" defTabSz="914034" rtl="0" eaLnBrk="1" latinLnBrk="0" hangingPunct="1">
        <a:defRPr sz="1799"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pos="279">
          <p15:clr>
            <a:srgbClr val="F26B43"/>
          </p15:clr>
        </p15:guide>
        <p15:guide id="2" pos="7401">
          <p15:clr>
            <a:srgbClr val="F26B43"/>
          </p15:clr>
        </p15:guide>
        <p15:guide id="3" orient="horz" pos="2341">
          <p15:clr>
            <a:srgbClr val="F26B43"/>
          </p15:clr>
        </p15:guide>
        <p15:guide id="4" orient="horz" pos="3906">
          <p15:clr>
            <a:srgbClr val="F26B43"/>
          </p15:clr>
        </p15:guide>
        <p15:guide id="5" orient="horz" pos="935">
          <p15:clr>
            <a:srgbClr val="F26B43"/>
          </p15:clr>
        </p15:guide>
        <p15:guide id="6" pos="3840">
          <p15:clr>
            <a:srgbClr val="F26B43"/>
          </p15:clr>
        </p15:guide>
        <p15:guide id="7" orient="horz" pos="278">
          <p15:clr>
            <a:srgbClr val="F26B43"/>
          </p15:clr>
        </p15:guide>
        <p15:guide id="8" orient="horz" pos="913">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grpSp>
        <p:nvGrpSpPr>
          <p:cNvPr id="29" name="Group 87">
            <a:extLst>
              <a:ext uri="{FF2B5EF4-FFF2-40B4-BE49-F238E27FC236}">
                <a16:creationId xmlns:a16="http://schemas.microsoft.com/office/drawing/2014/main" xmlns="" id="{37333705-F8D6-2847-B3CB-F2FAB51E2A3B}"/>
              </a:ext>
            </a:extLst>
          </p:cNvPr>
          <p:cNvGrpSpPr>
            <a:grpSpLocks noChangeAspect="1"/>
          </p:cNvGrpSpPr>
          <p:nvPr userDrawn="1"/>
        </p:nvGrpSpPr>
        <p:grpSpPr>
          <a:xfrm>
            <a:off x="12290471" y="2625389"/>
            <a:ext cx="1963323" cy="4233515"/>
            <a:chOff x="5343885" y="-48857"/>
            <a:chExt cx="3263586" cy="7037279"/>
          </a:xfrm>
        </p:grpSpPr>
        <p:sp>
          <p:nvSpPr>
            <p:cNvPr id="30" name="矩形 13">
              <a:extLst>
                <a:ext uri="{FF2B5EF4-FFF2-40B4-BE49-F238E27FC236}">
                  <a16:creationId xmlns:a16="http://schemas.microsoft.com/office/drawing/2014/main" xmlns="" id="{B14DFA89-D483-CF47-82CC-DD86D7CAB09E}"/>
                </a:ext>
              </a:extLst>
            </p:cNvPr>
            <p:cNvSpPr/>
            <p:nvPr userDrawn="1"/>
          </p:nvSpPr>
          <p:spPr>
            <a:xfrm>
              <a:off x="5356401" y="1934171"/>
              <a:ext cx="791510" cy="664397"/>
            </a:xfrm>
            <a:prstGeom prst="rect">
              <a:avLst/>
            </a:prstGeom>
            <a:solidFill>
              <a:srgbClr val="C4005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charset="0"/>
                  <a:ea typeface="Arial" charset="0"/>
                  <a:cs typeface="Arial" charset="0"/>
                </a:rPr>
                <a:t>RGB</a:t>
              </a:r>
              <a:br>
                <a:rPr kumimoji="1" lang="en-US" altLang="zh-CN" sz="500" b="1" dirty="0">
                  <a:solidFill>
                    <a:schemeClr val="tx2"/>
                  </a:solidFill>
                  <a:latin typeface="Arial" charset="0"/>
                  <a:ea typeface="Arial" charset="0"/>
                  <a:cs typeface="Arial" charset="0"/>
                </a:rPr>
              </a:br>
              <a:r>
                <a:rPr kumimoji="1" lang="en-US" altLang="zh-CN" sz="500" b="1" dirty="0">
                  <a:solidFill>
                    <a:schemeClr val="tx2"/>
                  </a:solidFill>
                  <a:latin typeface="Arial" charset="0"/>
                  <a:ea typeface="Arial" charset="0"/>
                  <a:cs typeface="Arial" charset="0"/>
                </a:rPr>
                <a:t>196/0/84</a:t>
              </a:r>
            </a:p>
          </p:txBody>
        </p:sp>
        <p:sp>
          <p:nvSpPr>
            <p:cNvPr id="31" name="文本框 15">
              <a:extLst>
                <a:ext uri="{FF2B5EF4-FFF2-40B4-BE49-F238E27FC236}">
                  <a16:creationId xmlns:a16="http://schemas.microsoft.com/office/drawing/2014/main" xmlns="" id="{8223ADA0-340A-794B-93B7-24AFF612A719}"/>
                </a:ext>
              </a:extLst>
            </p:cNvPr>
            <p:cNvSpPr txBox="1"/>
            <p:nvPr userDrawn="1"/>
          </p:nvSpPr>
          <p:spPr>
            <a:xfrm>
              <a:off x="5352723" y="1694497"/>
              <a:ext cx="1052647"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Microsoft YaHei" panose="020B0503020204020204" pitchFamily="34" charset="-122"/>
                  <a:ea typeface="Microsoft YaHei" panose="020B0503020204020204" pitchFamily="34" charset="-122"/>
                </a:rPr>
                <a:t>公司辅助色</a:t>
              </a:r>
            </a:p>
          </p:txBody>
        </p:sp>
        <p:sp>
          <p:nvSpPr>
            <p:cNvPr id="32" name="矩形 13">
              <a:extLst>
                <a:ext uri="{FF2B5EF4-FFF2-40B4-BE49-F238E27FC236}">
                  <a16:creationId xmlns:a16="http://schemas.microsoft.com/office/drawing/2014/main" xmlns="" id="{5F63E0E3-4F22-7948-AB1A-40A84ECA92EC}"/>
                </a:ext>
              </a:extLst>
            </p:cNvPr>
            <p:cNvSpPr/>
            <p:nvPr userDrawn="1"/>
          </p:nvSpPr>
          <p:spPr>
            <a:xfrm>
              <a:off x="6184680" y="1934171"/>
              <a:ext cx="791510" cy="664397"/>
            </a:xfrm>
            <a:prstGeom prst="rect">
              <a:avLst/>
            </a:prstGeom>
            <a:solidFill>
              <a:srgbClr val="CB377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203/55/120</a:t>
              </a:r>
            </a:p>
          </p:txBody>
        </p:sp>
        <p:sp>
          <p:nvSpPr>
            <p:cNvPr id="33" name="矩形 13">
              <a:extLst>
                <a:ext uri="{FF2B5EF4-FFF2-40B4-BE49-F238E27FC236}">
                  <a16:creationId xmlns:a16="http://schemas.microsoft.com/office/drawing/2014/main" xmlns="" id="{29C4A3C6-7C7B-7140-8F73-591E9F49143F}"/>
                </a:ext>
              </a:extLst>
            </p:cNvPr>
            <p:cNvSpPr/>
            <p:nvPr userDrawn="1"/>
          </p:nvSpPr>
          <p:spPr>
            <a:xfrm>
              <a:off x="5356401" y="3403061"/>
              <a:ext cx="791510" cy="664397"/>
            </a:xfrm>
            <a:prstGeom prst="rect">
              <a:avLst/>
            </a:prstGeom>
            <a:solidFill>
              <a:srgbClr val="ED6D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237/109/0</a:t>
              </a:r>
            </a:p>
          </p:txBody>
        </p:sp>
        <p:sp>
          <p:nvSpPr>
            <p:cNvPr id="34" name="矩形 13">
              <a:extLst>
                <a:ext uri="{FF2B5EF4-FFF2-40B4-BE49-F238E27FC236}">
                  <a16:creationId xmlns:a16="http://schemas.microsoft.com/office/drawing/2014/main" xmlns="" id="{BE4C9A8D-46B0-5B40-BC47-DB6C4899227F}"/>
                </a:ext>
              </a:extLst>
            </p:cNvPr>
            <p:cNvSpPr/>
            <p:nvPr userDrawn="1"/>
          </p:nvSpPr>
          <p:spPr>
            <a:xfrm>
              <a:off x="6184680" y="2673360"/>
              <a:ext cx="791510" cy="664397"/>
            </a:xfrm>
            <a:prstGeom prst="rect">
              <a:avLst/>
            </a:prstGeom>
            <a:solidFill>
              <a:srgbClr val="99363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153/54/54</a:t>
              </a:r>
            </a:p>
          </p:txBody>
        </p:sp>
        <p:sp>
          <p:nvSpPr>
            <p:cNvPr id="35" name="矩形 13">
              <a:extLst>
                <a:ext uri="{FF2B5EF4-FFF2-40B4-BE49-F238E27FC236}">
                  <a16:creationId xmlns:a16="http://schemas.microsoft.com/office/drawing/2014/main" xmlns="" id="{612F2ED4-F7A4-9E48-95E1-8D07B3BBE962}"/>
                </a:ext>
              </a:extLst>
            </p:cNvPr>
            <p:cNvSpPr/>
            <p:nvPr userDrawn="1"/>
          </p:nvSpPr>
          <p:spPr>
            <a:xfrm>
              <a:off x="5356401" y="4866463"/>
              <a:ext cx="791510" cy="664397"/>
            </a:xfrm>
            <a:prstGeom prst="rect">
              <a:avLst/>
            </a:prstGeom>
            <a:solidFill>
              <a:srgbClr val="62B23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98/178/48</a:t>
              </a:r>
            </a:p>
          </p:txBody>
        </p:sp>
        <p:sp>
          <p:nvSpPr>
            <p:cNvPr id="36" name="矩形 13">
              <a:extLst>
                <a:ext uri="{FF2B5EF4-FFF2-40B4-BE49-F238E27FC236}">
                  <a16:creationId xmlns:a16="http://schemas.microsoft.com/office/drawing/2014/main" xmlns="" id="{A9E1D476-C288-8945-A68A-1F20C557294B}"/>
                </a:ext>
              </a:extLst>
            </p:cNvPr>
            <p:cNvSpPr/>
            <p:nvPr userDrawn="1"/>
          </p:nvSpPr>
          <p:spPr>
            <a:xfrm>
              <a:off x="6184680" y="3415851"/>
              <a:ext cx="791510" cy="664397"/>
            </a:xfrm>
            <a:prstGeom prst="rect">
              <a:avLst/>
            </a:prstGeom>
            <a:solidFill>
              <a:srgbClr val="F2894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242/137/68</a:t>
              </a:r>
              <a:endParaRPr kumimoji="1" lang="mr-IN" altLang="zh-CN" sz="500" b="1" dirty="0">
                <a:solidFill>
                  <a:srgbClr val="FFFFFF"/>
                </a:solidFill>
                <a:latin typeface="Arial" charset="0"/>
                <a:ea typeface="Arial" charset="0"/>
                <a:cs typeface="Arial" charset="0"/>
              </a:endParaRPr>
            </a:p>
          </p:txBody>
        </p:sp>
        <p:sp>
          <p:nvSpPr>
            <p:cNvPr id="37" name="矩形 13">
              <a:extLst>
                <a:ext uri="{FF2B5EF4-FFF2-40B4-BE49-F238E27FC236}">
                  <a16:creationId xmlns:a16="http://schemas.microsoft.com/office/drawing/2014/main" xmlns="" id="{42823EBB-E62E-F149-AC9A-09950051F283}"/>
                </a:ext>
              </a:extLst>
            </p:cNvPr>
            <p:cNvSpPr/>
            <p:nvPr userDrawn="1"/>
          </p:nvSpPr>
          <p:spPr>
            <a:xfrm>
              <a:off x="5353240" y="184963"/>
              <a:ext cx="791510" cy="664397"/>
            </a:xfrm>
            <a:prstGeom prst="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charset="0"/>
                  <a:ea typeface="Arial" charset="0"/>
                  <a:cs typeface="Arial" charset="0"/>
                </a:rPr>
                <a:t>PANTONE 185C</a:t>
              </a:r>
            </a:p>
            <a:p>
              <a:pPr algn="ctr">
                <a:lnSpc>
                  <a:spcPts val="620"/>
                </a:lnSpc>
                <a:spcBef>
                  <a:spcPts val="0"/>
                </a:spcBef>
              </a:pPr>
              <a:r>
                <a:rPr kumimoji="1" lang="en-US" altLang="zh-CN" sz="500" b="1" dirty="0">
                  <a:solidFill>
                    <a:schemeClr val="tx2"/>
                  </a:solidFill>
                  <a:latin typeface="Arial" charset="0"/>
                  <a:ea typeface="Arial" charset="0"/>
                  <a:cs typeface="Arial" charset="0"/>
                </a:rPr>
                <a:t>RGB </a:t>
              </a:r>
              <a:br>
                <a:rPr kumimoji="1" lang="en-US" altLang="zh-CN" sz="500" b="1" dirty="0">
                  <a:solidFill>
                    <a:schemeClr val="tx2"/>
                  </a:solidFill>
                  <a:latin typeface="Arial" charset="0"/>
                  <a:ea typeface="Arial" charset="0"/>
                  <a:cs typeface="Arial" charset="0"/>
                </a:rPr>
              </a:br>
              <a:r>
                <a:rPr kumimoji="1" lang="en-US" altLang="zh-CN" sz="500" b="1" dirty="0">
                  <a:solidFill>
                    <a:schemeClr val="tx2"/>
                  </a:solidFill>
                  <a:latin typeface="Arial" charset="0"/>
                  <a:ea typeface="Arial" charset="0"/>
                  <a:cs typeface="Arial" charset="0"/>
                </a:rPr>
                <a:t>199/0/11  </a:t>
              </a:r>
            </a:p>
          </p:txBody>
        </p:sp>
        <p:sp>
          <p:nvSpPr>
            <p:cNvPr id="38" name="文本框 15">
              <a:extLst>
                <a:ext uri="{FF2B5EF4-FFF2-40B4-BE49-F238E27FC236}">
                  <a16:creationId xmlns:a16="http://schemas.microsoft.com/office/drawing/2014/main" xmlns="" id="{EA01C299-6FF2-3642-AAEC-A1DF62D9C654}"/>
                </a:ext>
              </a:extLst>
            </p:cNvPr>
            <p:cNvSpPr txBox="1"/>
            <p:nvPr userDrawn="1"/>
          </p:nvSpPr>
          <p:spPr>
            <a:xfrm>
              <a:off x="5343885" y="-48857"/>
              <a:ext cx="726488"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Microsoft YaHei" panose="020B0503020204020204" pitchFamily="34" charset="-122"/>
                  <a:ea typeface="Microsoft YaHei" panose="020B0503020204020204" pitchFamily="34" charset="-122"/>
                </a:rPr>
                <a:t>公司色</a:t>
              </a:r>
            </a:p>
          </p:txBody>
        </p:sp>
        <p:sp>
          <p:nvSpPr>
            <p:cNvPr id="39" name="矩形 13">
              <a:extLst>
                <a:ext uri="{FF2B5EF4-FFF2-40B4-BE49-F238E27FC236}">
                  <a16:creationId xmlns:a16="http://schemas.microsoft.com/office/drawing/2014/main" xmlns="" id="{B84AB502-165F-764A-9621-65CA8CBBEAEA}"/>
                </a:ext>
              </a:extLst>
            </p:cNvPr>
            <p:cNvSpPr/>
            <p:nvPr userDrawn="1"/>
          </p:nvSpPr>
          <p:spPr>
            <a:xfrm>
              <a:off x="5352600" y="918047"/>
              <a:ext cx="791510" cy="664397"/>
            </a:xfrm>
            <a:prstGeom prst="rect">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charset="0"/>
                  <a:ea typeface="Arial" charset="0"/>
                  <a:cs typeface="Arial" charset="0"/>
                </a:rPr>
                <a:t>PANTONE 186C</a:t>
              </a:r>
            </a:p>
            <a:p>
              <a:pPr algn="ctr">
                <a:lnSpc>
                  <a:spcPts val="620"/>
                </a:lnSpc>
              </a:pPr>
              <a:r>
                <a:rPr kumimoji="1" lang="en-US" altLang="zh-CN" sz="500" b="1" dirty="0">
                  <a:solidFill>
                    <a:schemeClr val="tx2"/>
                  </a:solidFill>
                  <a:latin typeface="Arial" charset="0"/>
                  <a:ea typeface="Arial" charset="0"/>
                  <a:cs typeface="Arial" charset="0"/>
                </a:rPr>
                <a:t>RGB</a:t>
              </a:r>
              <a:br>
                <a:rPr kumimoji="1" lang="en-US" altLang="zh-CN" sz="500" b="1" dirty="0">
                  <a:solidFill>
                    <a:schemeClr val="tx2"/>
                  </a:solidFill>
                  <a:latin typeface="Arial" charset="0"/>
                  <a:ea typeface="Arial" charset="0"/>
                  <a:cs typeface="Arial" charset="0"/>
                </a:rPr>
              </a:br>
              <a:r>
                <a:rPr kumimoji="1" lang="en-US" altLang="zh-CN" sz="500" b="1" dirty="0">
                  <a:solidFill>
                    <a:schemeClr val="tx2"/>
                  </a:solidFill>
                  <a:latin typeface="Arial" charset="0"/>
                  <a:ea typeface="Arial" charset="0"/>
                  <a:cs typeface="Arial" charset="0"/>
                </a:rPr>
                <a:t>200/16/46  </a:t>
              </a:r>
            </a:p>
          </p:txBody>
        </p:sp>
        <p:sp>
          <p:nvSpPr>
            <p:cNvPr id="40" name="矩形 13">
              <a:extLst>
                <a:ext uri="{FF2B5EF4-FFF2-40B4-BE49-F238E27FC236}">
                  <a16:creationId xmlns:a16="http://schemas.microsoft.com/office/drawing/2014/main" xmlns="" id="{CB8870E8-3E95-764C-B621-A168E194CC7A}"/>
                </a:ext>
              </a:extLst>
            </p:cNvPr>
            <p:cNvSpPr/>
            <p:nvPr userDrawn="1"/>
          </p:nvSpPr>
          <p:spPr>
            <a:xfrm>
              <a:off x="5354164" y="2665974"/>
              <a:ext cx="791510" cy="664397"/>
            </a:xfrm>
            <a:prstGeom prst="rect">
              <a:avLst/>
            </a:prstGeom>
            <a:solidFill>
              <a:srgbClr val="7F000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127/0/1</a:t>
              </a:r>
            </a:p>
          </p:txBody>
        </p:sp>
        <p:sp>
          <p:nvSpPr>
            <p:cNvPr id="41" name="矩形 13">
              <a:extLst>
                <a:ext uri="{FF2B5EF4-FFF2-40B4-BE49-F238E27FC236}">
                  <a16:creationId xmlns:a16="http://schemas.microsoft.com/office/drawing/2014/main" xmlns="" id="{356EF69A-1936-544F-A95F-0664F4E186D5}"/>
                </a:ext>
              </a:extLst>
            </p:cNvPr>
            <p:cNvSpPr/>
            <p:nvPr userDrawn="1"/>
          </p:nvSpPr>
          <p:spPr>
            <a:xfrm>
              <a:off x="5354164" y="4134866"/>
              <a:ext cx="791510" cy="664397"/>
            </a:xfrm>
            <a:prstGeom prst="rect">
              <a:avLst/>
            </a:prstGeom>
            <a:solidFill>
              <a:srgbClr val="FCC8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52/200/0</a:t>
              </a:r>
            </a:p>
          </p:txBody>
        </p:sp>
        <p:sp>
          <p:nvSpPr>
            <p:cNvPr id="42" name="矩形 13">
              <a:extLst>
                <a:ext uri="{FF2B5EF4-FFF2-40B4-BE49-F238E27FC236}">
                  <a16:creationId xmlns:a16="http://schemas.microsoft.com/office/drawing/2014/main" xmlns="" id="{03EBAB43-95A5-1C4A-8458-B86EB3D51FCA}"/>
                </a:ext>
              </a:extLst>
            </p:cNvPr>
            <p:cNvSpPr/>
            <p:nvPr userDrawn="1"/>
          </p:nvSpPr>
          <p:spPr>
            <a:xfrm>
              <a:off x="5354164" y="5596166"/>
              <a:ext cx="791510" cy="664397"/>
            </a:xfrm>
            <a:prstGeom prst="rect">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48/181/197</a:t>
              </a:r>
            </a:p>
          </p:txBody>
        </p:sp>
        <p:sp>
          <p:nvSpPr>
            <p:cNvPr id="43" name="矩形 13">
              <a:extLst>
                <a:ext uri="{FF2B5EF4-FFF2-40B4-BE49-F238E27FC236}">
                  <a16:creationId xmlns:a16="http://schemas.microsoft.com/office/drawing/2014/main" xmlns="" id="{371A8520-F934-304C-B57F-B49F768694E2}"/>
                </a:ext>
              </a:extLst>
            </p:cNvPr>
            <p:cNvSpPr/>
            <p:nvPr userDrawn="1"/>
          </p:nvSpPr>
          <p:spPr>
            <a:xfrm>
              <a:off x="6194511" y="4866463"/>
              <a:ext cx="791510" cy="664397"/>
            </a:xfrm>
            <a:prstGeom prst="rect">
              <a:avLst/>
            </a:prstGeom>
            <a:solidFill>
              <a:srgbClr val="81C15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129/193/95</a:t>
              </a:r>
            </a:p>
          </p:txBody>
        </p:sp>
        <p:sp>
          <p:nvSpPr>
            <p:cNvPr id="44" name="矩形 13">
              <a:extLst>
                <a:ext uri="{FF2B5EF4-FFF2-40B4-BE49-F238E27FC236}">
                  <a16:creationId xmlns:a16="http://schemas.microsoft.com/office/drawing/2014/main" xmlns="" id="{B83004D7-279B-C14E-9FCF-870FA1B74FDF}"/>
                </a:ext>
              </a:extLst>
            </p:cNvPr>
            <p:cNvSpPr/>
            <p:nvPr userDrawn="1"/>
          </p:nvSpPr>
          <p:spPr>
            <a:xfrm>
              <a:off x="6192274" y="4134866"/>
              <a:ext cx="791510" cy="664397"/>
            </a:xfrm>
            <a:prstGeom prst="rect">
              <a:avLst/>
            </a:prstGeom>
            <a:solidFill>
              <a:srgbClr val="FDD35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253/211/81</a:t>
              </a:r>
            </a:p>
          </p:txBody>
        </p:sp>
        <p:sp>
          <p:nvSpPr>
            <p:cNvPr id="45" name="矩形 13">
              <a:extLst>
                <a:ext uri="{FF2B5EF4-FFF2-40B4-BE49-F238E27FC236}">
                  <a16:creationId xmlns:a16="http://schemas.microsoft.com/office/drawing/2014/main" xmlns="" id="{99635968-4E69-CC41-9D78-6DF253FE3035}"/>
                </a:ext>
              </a:extLst>
            </p:cNvPr>
            <p:cNvSpPr/>
            <p:nvPr userDrawn="1"/>
          </p:nvSpPr>
          <p:spPr>
            <a:xfrm>
              <a:off x="6192274" y="5596166"/>
              <a:ext cx="791510" cy="664397"/>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86/196/210</a:t>
              </a:r>
            </a:p>
          </p:txBody>
        </p:sp>
        <p:sp>
          <p:nvSpPr>
            <p:cNvPr id="46" name="矩形 13">
              <a:extLst>
                <a:ext uri="{FF2B5EF4-FFF2-40B4-BE49-F238E27FC236}">
                  <a16:creationId xmlns:a16="http://schemas.microsoft.com/office/drawing/2014/main" xmlns="" id="{BDBE4949-07B7-F046-AD95-68E4B0C11CCD}"/>
                </a:ext>
              </a:extLst>
            </p:cNvPr>
            <p:cNvSpPr/>
            <p:nvPr/>
          </p:nvSpPr>
          <p:spPr>
            <a:xfrm>
              <a:off x="6186245" y="184963"/>
              <a:ext cx="791510" cy="664397"/>
            </a:xfrm>
            <a:prstGeom prst="rect">
              <a:avLst/>
            </a:prstGeom>
            <a:solidFill>
              <a:srgbClr val="D3394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211/57/65</a:t>
              </a:r>
            </a:p>
          </p:txBody>
        </p:sp>
        <p:sp>
          <p:nvSpPr>
            <p:cNvPr id="47" name="矩形 13">
              <a:extLst>
                <a:ext uri="{FF2B5EF4-FFF2-40B4-BE49-F238E27FC236}">
                  <a16:creationId xmlns:a16="http://schemas.microsoft.com/office/drawing/2014/main" xmlns="" id="{AA9F9E00-6A31-F14B-A2E4-79908835FD14}"/>
                </a:ext>
              </a:extLst>
            </p:cNvPr>
            <p:cNvSpPr/>
            <p:nvPr/>
          </p:nvSpPr>
          <p:spPr>
            <a:xfrm>
              <a:off x="6185604" y="918047"/>
              <a:ext cx="791510" cy="664397"/>
            </a:xfrm>
            <a:prstGeom prst="rect">
              <a:avLst/>
            </a:prstGeom>
            <a:solidFill>
              <a:srgbClr val="D3385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p>
            <a:p>
              <a:pPr algn="ctr">
                <a:lnSpc>
                  <a:spcPts val="620"/>
                </a:lnSpc>
              </a:pPr>
              <a:r>
                <a:rPr kumimoji="1" lang="en-US" altLang="zh-CN" sz="500" b="1" dirty="0">
                  <a:solidFill>
                    <a:srgbClr val="FFFFFF"/>
                  </a:solidFill>
                  <a:latin typeface="Arial" charset="0"/>
                  <a:ea typeface="Arial" charset="0"/>
                  <a:cs typeface="Arial" charset="0"/>
                </a:rPr>
                <a:t>211/56/89</a:t>
              </a:r>
            </a:p>
          </p:txBody>
        </p:sp>
        <p:sp>
          <p:nvSpPr>
            <p:cNvPr id="48" name="矩形 13">
              <a:extLst>
                <a:ext uri="{FF2B5EF4-FFF2-40B4-BE49-F238E27FC236}">
                  <a16:creationId xmlns:a16="http://schemas.microsoft.com/office/drawing/2014/main" xmlns="" id="{38715A31-485E-B744-B409-43F9F04B48F7}"/>
                </a:ext>
              </a:extLst>
            </p:cNvPr>
            <p:cNvSpPr/>
            <p:nvPr/>
          </p:nvSpPr>
          <p:spPr>
            <a:xfrm>
              <a:off x="6996262" y="1934171"/>
              <a:ext cx="791510" cy="664397"/>
            </a:xfrm>
            <a:prstGeom prst="rect">
              <a:avLst/>
            </a:prstGeom>
            <a:solidFill>
              <a:srgbClr val="DD80A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221/128/170</a:t>
              </a:r>
            </a:p>
          </p:txBody>
        </p:sp>
        <p:sp>
          <p:nvSpPr>
            <p:cNvPr id="49" name="矩形 13">
              <a:extLst>
                <a:ext uri="{FF2B5EF4-FFF2-40B4-BE49-F238E27FC236}">
                  <a16:creationId xmlns:a16="http://schemas.microsoft.com/office/drawing/2014/main" xmlns="" id="{4AE1609B-25DD-2C4A-B05B-D18ADBC39C71}"/>
                </a:ext>
              </a:extLst>
            </p:cNvPr>
            <p:cNvSpPr/>
            <p:nvPr/>
          </p:nvSpPr>
          <p:spPr>
            <a:xfrm>
              <a:off x="6996262" y="2673360"/>
              <a:ext cx="791510" cy="664397"/>
            </a:xfrm>
            <a:prstGeom prst="rect">
              <a:avLst/>
            </a:prstGeom>
            <a:solidFill>
              <a:srgbClr val="BF808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Arial" charset="0"/>
                  <a:ea typeface="Arial" charset="0"/>
                  <a:cs typeface="Arial" charset="0"/>
                </a:rPr>
                <a:t>RGB 191/128/130</a:t>
              </a:r>
            </a:p>
          </p:txBody>
        </p:sp>
        <p:sp>
          <p:nvSpPr>
            <p:cNvPr id="50" name="矩形 13">
              <a:extLst>
                <a:ext uri="{FF2B5EF4-FFF2-40B4-BE49-F238E27FC236}">
                  <a16:creationId xmlns:a16="http://schemas.microsoft.com/office/drawing/2014/main" xmlns="" id="{ECE90F9F-DBBC-0B49-A42C-8B62397E473E}"/>
                </a:ext>
              </a:extLst>
            </p:cNvPr>
            <p:cNvSpPr/>
            <p:nvPr/>
          </p:nvSpPr>
          <p:spPr>
            <a:xfrm>
              <a:off x="6996262" y="3415851"/>
              <a:ext cx="791510" cy="664397"/>
            </a:xfrm>
            <a:prstGeom prst="rect">
              <a:avLst/>
            </a:prstGeom>
            <a:solidFill>
              <a:srgbClr val="F6B78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246/183/140</a:t>
              </a:r>
              <a:endParaRPr kumimoji="1" lang="mr-IN" altLang="zh-CN" sz="500" b="1" dirty="0">
                <a:solidFill>
                  <a:srgbClr val="595757"/>
                </a:solidFill>
                <a:latin typeface="Arial" charset="0"/>
                <a:ea typeface="Arial" charset="0"/>
                <a:cs typeface="Arial" charset="0"/>
              </a:endParaRPr>
            </a:p>
          </p:txBody>
        </p:sp>
        <p:sp>
          <p:nvSpPr>
            <p:cNvPr id="51" name="矩形 13">
              <a:extLst>
                <a:ext uri="{FF2B5EF4-FFF2-40B4-BE49-F238E27FC236}">
                  <a16:creationId xmlns:a16="http://schemas.microsoft.com/office/drawing/2014/main" xmlns="" id="{D5B387BA-F8B8-B54E-966E-F24E271747C4}"/>
                </a:ext>
              </a:extLst>
            </p:cNvPr>
            <p:cNvSpPr/>
            <p:nvPr/>
          </p:nvSpPr>
          <p:spPr>
            <a:xfrm>
              <a:off x="7006093" y="4866463"/>
              <a:ext cx="791510" cy="664397"/>
            </a:xfrm>
            <a:prstGeom prst="rect">
              <a:avLst/>
            </a:prstGeom>
            <a:solidFill>
              <a:srgbClr val="AFD89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176/216/156</a:t>
              </a:r>
            </a:p>
          </p:txBody>
        </p:sp>
        <p:sp>
          <p:nvSpPr>
            <p:cNvPr id="52" name="矩形 13">
              <a:extLst>
                <a:ext uri="{FF2B5EF4-FFF2-40B4-BE49-F238E27FC236}">
                  <a16:creationId xmlns:a16="http://schemas.microsoft.com/office/drawing/2014/main" xmlns="" id="{E6C9B99E-8C1C-2B49-B82E-3C754B8E5C02}"/>
                </a:ext>
              </a:extLst>
            </p:cNvPr>
            <p:cNvSpPr/>
            <p:nvPr/>
          </p:nvSpPr>
          <p:spPr>
            <a:xfrm>
              <a:off x="7003856" y="4134866"/>
              <a:ext cx="791510" cy="664397"/>
            </a:xfrm>
            <a:prstGeom prst="rect">
              <a:avLst/>
            </a:prstGeom>
            <a:solidFill>
              <a:srgbClr val="FDE39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253/227/181</a:t>
              </a:r>
            </a:p>
          </p:txBody>
        </p:sp>
        <p:sp>
          <p:nvSpPr>
            <p:cNvPr id="53" name="矩形 13">
              <a:extLst>
                <a:ext uri="{FF2B5EF4-FFF2-40B4-BE49-F238E27FC236}">
                  <a16:creationId xmlns:a16="http://schemas.microsoft.com/office/drawing/2014/main" xmlns="" id="{0106BFA2-9DE1-3A42-A6C6-69BCE0FA34F4}"/>
                </a:ext>
              </a:extLst>
            </p:cNvPr>
            <p:cNvSpPr/>
            <p:nvPr/>
          </p:nvSpPr>
          <p:spPr>
            <a:xfrm>
              <a:off x="7003856" y="5596166"/>
              <a:ext cx="791510" cy="664397"/>
            </a:xfrm>
            <a:prstGeom prst="rect">
              <a:avLst/>
            </a:prstGeom>
            <a:solidFill>
              <a:srgbClr val="94DAE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148/218/226</a:t>
              </a:r>
            </a:p>
          </p:txBody>
        </p:sp>
        <p:sp>
          <p:nvSpPr>
            <p:cNvPr id="54" name="矩形 13">
              <a:extLst>
                <a:ext uri="{FF2B5EF4-FFF2-40B4-BE49-F238E27FC236}">
                  <a16:creationId xmlns:a16="http://schemas.microsoft.com/office/drawing/2014/main" xmlns="" id="{F760C1C5-4342-C346-A7D2-D101978EDF66}"/>
                </a:ext>
              </a:extLst>
            </p:cNvPr>
            <p:cNvSpPr/>
            <p:nvPr/>
          </p:nvSpPr>
          <p:spPr>
            <a:xfrm>
              <a:off x="6997826" y="184963"/>
              <a:ext cx="791510" cy="664397"/>
            </a:xfrm>
            <a:prstGeom prst="rect">
              <a:avLst/>
            </a:prstGeom>
            <a:solidFill>
              <a:srgbClr val="E2818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226/129/137</a:t>
              </a:r>
            </a:p>
          </p:txBody>
        </p:sp>
        <p:sp>
          <p:nvSpPr>
            <p:cNvPr id="55" name="矩形 13">
              <a:extLst>
                <a:ext uri="{FF2B5EF4-FFF2-40B4-BE49-F238E27FC236}">
                  <a16:creationId xmlns:a16="http://schemas.microsoft.com/office/drawing/2014/main" xmlns="" id="{5BB50A4A-0B64-7E4C-824C-1EBCA1A992CF}"/>
                </a:ext>
              </a:extLst>
            </p:cNvPr>
            <p:cNvSpPr/>
            <p:nvPr/>
          </p:nvSpPr>
          <p:spPr>
            <a:xfrm>
              <a:off x="6997185" y="918047"/>
              <a:ext cx="791510" cy="664397"/>
            </a:xfrm>
            <a:prstGeom prst="rect">
              <a:avLst/>
            </a:prstGeom>
            <a:solidFill>
              <a:srgbClr val="E2819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226/129/152</a:t>
              </a:r>
            </a:p>
          </p:txBody>
        </p:sp>
        <p:sp>
          <p:nvSpPr>
            <p:cNvPr id="56" name="矩形 13">
              <a:extLst>
                <a:ext uri="{FF2B5EF4-FFF2-40B4-BE49-F238E27FC236}">
                  <a16:creationId xmlns:a16="http://schemas.microsoft.com/office/drawing/2014/main" xmlns="" id="{756A7E25-6C44-8A44-A8C5-61D19BC9EDAF}"/>
                </a:ext>
              </a:extLst>
            </p:cNvPr>
            <p:cNvSpPr/>
            <p:nvPr userDrawn="1"/>
          </p:nvSpPr>
          <p:spPr>
            <a:xfrm>
              <a:off x="7806130" y="1934171"/>
              <a:ext cx="791510" cy="664397"/>
            </a:xfrm>
            <a:prstGeom prst="rect">
              <a:avLst/>
            </a:prstGeom>
            <a:solidFill>
              <a:srgbClr val="EBB3C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235/179/204</a:t>
              </a:r>
            </a:p>
          </p:txBody>
        </p:sp>
        <p:sp>
          <p:nvSpPr>
            <p:cNvPr id="57" name="矩形 13">
              <a:extLst>
                <a:ext uri="{FF2B5EF4-FFF2-40B4-BE49-F238E27FC236}">
                  <a16:creationId xmlns:a16="http://schemas.microsoft.com/office/drawing/2014/main" xmlns="" id="{96588389-39CD-DF4E-B9AC-92091E25724E}"/>
                </a:ext>
              </a:extLst>
            </p:cNvPr>
            <p:cNvSpPr/>
            <p:nvPr/>
          </p:nvSpPr>
          <p:spPr>
            <a:xfrm>
              <a:off x="7806130" y="2673360"/>
              <a:ext cx="791510" cy="664397"/>
            </a:xfrm>
            <a:prstGeom prst="rect">
              <a:avLst/>
            </a:prstGeom>
            <a:solidFill>
              <a:srgbClr val="D8B3B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Arial" charset="0"/>
                  <a:ea typeface="Arial" charset="0"/>
                  <a:cs typeface="Arial" charset="0"/>
                </a:rPr>
                <a:t>RGB 216/179/179</a:t>
              </a:r>
            </a:p>
          </p:txBody>
        </p:sp>
        <p:sp>
          <p:nvSpPr>
            <p:cNvPr id="58" name="矩形 13">
              <a:extLst>
                <a:ext uri="{FF2B5EF4-FFF2-40B4-BE49-F238E27FC236}">
                  <a16:creationId xmlns:a16="http://schemas.microsoft.com/office/drawing/2014/main" xmlns="" id="{20725C9F-31AE-DB44-B70A-B4ECDEC0BC00}"/>
                </a:ext>
              </a:extLst>
            </p:cNvPr>
            <p:cNvSpPr/>
            <p:nvPr/>
          </p:nvSpPr>
          <p:spPr>
            <a:xfrm>
              <a:off x="7806130" y="3415851"/>
              <a:ext cx="791510" cy="664397"/>
            </a:xfrm>
            <a:prstGeom prst="rect">
              <a:avLst/>
            </a:prstGeom>
            <a:solidFill>
              <a:srgbClr val="FAD3B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250/211/187</a:t>
              </a:r>
              <a:endParaRPr kumimoji="1" lang="mr-IN" altLang="zh-CN" sz="500" b="1" dirty="0">
                <a:solidFill>
                  <a:srgbClr val="595757"/>
                </a:solidFill>
                <a:latin typeface="Arial" charset="0"/>
                <a:ea typeface="Arial" charset="0"/>
                <a:cs typeface="Arial" charset="0"/>
              </a:endParaRPr>
            </a:p>
          </p:txBody>
        </p:sp>
        <p:sp>
          <p:nvSpPr>
            <p:cNvPr id="59" name="矩形 13">
              <a:extLst>
                <a:ext uri="{FF2B5EF4-FFF2-40B4-BE49-F238E27FC236}">
                  <a16:creationId xmlns:a16="http://schemas.microsoft.com/office/drawing/2014/main" xmlns="" id="{AC5BCC27-B68D-0743-8E0B-E25F8D01C3A4}"/>
                </a:ext>
              </a:extLst>
            </p:cNvPr>
            <p:cNvSpPr/>
            <p:nvPr/>
          </p:nvSpPr>
          <p:spPr>
            <a:xfrm>
              <a:off x="7815961" y="4866463"/>
              <a:ext cx="791510" cy="664397"/>
            </a:xfrm>
            <a:prstGeom prst="rect">
              <a:avLst/>
            </a:prstGeom>
            <a:solidFill>
              <a:srgbClr val="D0E8C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208/232/196</a:t>
              </a:r>
            </a:p>
          </p:txBody>
        </p:sp>
        <p:sp>
          <p:nvSpPr>
            <p:cNvPr id="60" name="矩形 13">
              <a:extLst>
                <a:ext uri="{FF2B5EF4-FFF2-40B4-BE49-F238E27FC236}">
                  <a16:creationId xmlns:a16="http://schemas.microsoft.com/office/drawing/2014/main" xmlns="" id="{51C2E83A-C975-6945-B2FD-5B22BBB53DB7}"/>
                </a:ext>
              </a:extLst>
            </p:cNvPr>
            <p:cNvSpPr/>
            <p:nvPr/>
          </p:nvSpPr>
          <p:spPr>
            <a:xfrm>
              <a:off x="7813724" y="4134866"/>
              <a:ext cx="791510" cy="664397"/>
            </a:xfrm>
            <a:prstGeom prst="rect">
              <a:avLst/>
            </a:prstGeom>
            <a:solidFill>
              <a:srgbClr val="FEEE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254/238/193</a:t>
              </a:r>
            </a:p>
          </p:txBody>
        </p:sp>
        <p:sp>
          <p:nvSpPr>
            <p:cNvPr id="61" name="矩形 13">
              <a:extLst>
                <a:ext uri="{FF2B5EF4-FFF2-40B4-BE49-F238E27FC236}">
                  <a16:creationId xmlns:a16="http://schemas.microsoft.com/office/drawing/2014/main" xmlns="" id="{BEE9A95F-6965-354F-A2C7-2E8C81DDA52F}"/>
                </a:ext>
              </a:extLst>
            </p:cNvPr>
            <p:cNvSpPr/>
            <p:nvPr/>
          </p:nvSpPr>
          <p:spPr>
            <a:xfrm>
              <a:off x="7813724" y="5596166"/>
              <a:ext cx="791510" cy="664397"/>
            </a:xfrm>
            <a:prstGeom prst="rect">
              <a:avLst/>
            </a:prstGeom>
            <a:solidFill>
              <a:srgbClr val="BEE9E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190/23/238</a:t>
              </a:r>
            </a:p>
          </p:txBody>
        </p:sp>
        <p:sp>
          <p:nvSpPr>
            <p:cNvPr id="62" name="矩形 13">
              <a:extLst>
                <a:ext uri="{FF2B5EF4-FFF2-40B4-BE49-F238E27FC236}">
                  <a16:creationId xmlns:a16="http://schemas.microsoft.com/office/drawing/2014/main" xmlns="" id="{509164EB-3DC4-7A4F-9E7C-06EBC981CD0A}"/>
                </a:ext>
              </a:extLst>
            </p:cNvPr>
            <p:cNvSpPr/>
            <p:nvPr/>
          </p:nvSpPr>
          <p:spPr>
            <a:xfrm>
              <a:off x="7807694" y="184963"/>
              <a:ext cx="791510" cy="664397"/>
            </a:xfrm>
            <a:prstGeom prst="rect">
              <a:avLst/>
            </a:prstGeom>
            <a:solidFill>
              <a:srgbClr val="EEB3B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239/178/184</a:t>
              </a:r>
            </a:p>
          </p:txBody>
        </p:sp>
        <p:sp>
          <p:nvSpPr>
            <p:cNvPr id="63" name="矩形 13">
              <a:extLst>
                <a:ext uri="{FF2B5EF4-FFF2-40B4-BE49-F238E27FC236}">
                  <a16:creationId xmlns:a16="http://schemas.microsoft.com/office/drawing/2014/main" xmlns="" id="{667867DD-D3E6-3040-A7B5-39345C0CE2E3}"/>
                </a:ext>
              </a:extLst>
            </p:cNvPr>
            <p:cNvSpPr/>
            <p:nvPr/>
          </p:nvSpPr>
          <p:spPr>
            <a:xfrm>
              <a:off x="7807054" y="918047"/>
              <a:ext cx="791510" cy="664397"/>
            </a:xfrm>
            <a:prstGeom prst="rect">
              <a:avLst/>
            </a:prstGeom>
            <a:solidFill>
              <a:srgbClr val="EEB3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238/179/193</a:t>
              </a:r>
            </a:p>
          </p:txBody>
        </p:sp>
        <p:sp>
          <p:nvSpPr>
            <p:cNvPr id="64" name="矩形 13">
              <a:extLst>
                <a:ext uri="{FF2B5EF4-FFF2-40B4-BE49-F238E27FC236}">
                  <a16:creationId xmlns:a16="http://schemas.microsoft.com/office/drawing/2014/main" xmlns="" id="{9EE10597-3782-AB46-8453-89FA049C6C46}"/>
                </a:ext>
              </a:extLst>
            </p:cNvPr>
            <p:cNvSpPr/>
            <p:nvPr userDrawn="1"/>
          </p:nvSpPr>
          <p:spPr>
            <a:xfrm>
              <a:off x="5354169" y="6324025"/>
              <a:ext cx="513579" cy="664397"/>
            </a:xfrm>
            <a:prstGeom prst="rect">
              <a:avLst/>
            </a:prstGeom>
            <a:solidFill>
              <a:srgbClr val="22181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35/24/21</a:t>
              </a:r>
            </a:p>
          </p:txBody>
        </p:sp>
        <p:sp>
          <p:nvSpPr>
            <p:cNvPr id="65" name="矩形 13">
              <a:extLst>
                <a:ext uri="{FF2B5EF4-FFF2-40B4-BE49-F238E27FC236}">
                  <a16:creationId xmlns:a16="http://schemas.microsoft.com/office/drawing/2014/main" xmlns="" id="{966B3529-B594-884C-BED0-5887B34BBBB8}"/>
                </a:ext>
              </a:extLst>
            </p:cNvPr>
            <p:cNvSpPr/>
            <p:nvPr userDrawn="1"/>
          </p:nvSpPr>
          <p:spPr>
            <a:xfrm>
              <a:off x="5900626" y="6324025"/>
              <a:ext cx="513579" cy="664397"/>
            </a:xfrm>
            <a:prstGeom prst="rect">
              <a:avLst/>
            </a:prstGeom>
            <a:solidFill>
              <a:srgbClr val="5957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p>
            <a:p>
              <a:pPr algn="ctr">
                <a:lnSpc>
                  <a:spcPts val="620"/>
                </a:lnSpc>
              </a:pPr>
              <a:r>
                <a:rPr kumimoji="1" lang="en-US" altLang="zh-CN" sz="500" b="1" dirty="0">
                  <a:solidFill>
                    <a:srgbClr val="FFFFFF"/>
                  </a:solidFill>
                  <a:latin typeface="Arial" charset="0"/>
                  <a:ea typeface="Arial" charset="0"/>
                  <a:cs typeface="Arial" charset="0"/>
                </a:rPr>
                <a:t>89/87/87</a:t>
              </a:r>
            </a:p>
          </p:txBody>
        </p:sp>
        <p:sp>
          <p:nvSpPr>
            <p:cNvPr id="66" name="矩形 13">
              <a:extLst>
                <a:ext uri="{FF2B5EF4-FFF2-40B4-BE49-F238E27FC236}">
                  <a16:creationId xmlns:a16="http://schemas.microsoft.com/office/drawing/2014/main" xmlns="" id="{0B0545C9-147F-584F-80D2-EF13876D7D33}"/>
                </a:ext>
              </a:extLst>
            </p:cNvPr>
            <p:cNvSpPr/>
            <p:nvPr userDrawn="1"/>
          </p:nvSpPr>
          <p:spPr>
            <a:xfrm>
              <a:off x="6450318" y="6324025"/>
              <a:ext cx="513579" cy="664397"/>
            </a:xfrm>
            <a:prstGeom prst="rect">
              <a:avLst/>
            </a:prstGeom>
            <a:solidFill>
              <a:srgbClr val="88888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p>
            <a:p>
              <a:pPr algn="ctr">
                <a:lnSpc>
                  <a:spcPts val="620"/>
                </a:lnSpc>
              </a:pPr>
              <a:r>
                <a:rPr kumimoji="1" lang="en-US" altLang="zh-CN" sz="500" b="1" dirty="0">
                  <a:solidFill>
                    <a:srgbClr val="FFFFFF"/>
                  </a:solidFill>
                  <a:latin typeface="Arial" charset="0"/>
                  <a:ea typeface="Arial" charset="0"/>
                  <a:cs typeface="Arial" charset="0"/>
                </a:rPr>
                <a:t>137/137/</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137</a:t>
              </a:r>
            </a:p>
          </p:txBody>
        </p:sp>
        <p:sp>
          <p:nvSpPr>
            <p:cNvPr id="67" name="矩形 13">
              <a:extLst>
                <a:ext uri="{FF2B5EF4-FFF2-40B4-BE49-F238E27FC236}">
                  <a16:creationId xmlns:a16="http://schemas.microsoft.com/office/drawing/2014/main" xmlns="" id="{44FD0A0B-0D45-3340-A523-465AC24134BF}"/>
                </a:ext>
              </a:extLst>
            </p:cNvPr>
            <p:cNvSpPr/>
            <p:nvPr userDrawn="1"/>
          </p:nvSpPr>
          <p:spPr>
            <a:xfrm>
              <a:off x="6998296" y="6324025"/>
              <a:ext cx="513579" cy="664397"/>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p>
            <a:p>
              <a:pPr algn="ctr">
                <a:lnSpc>
                  <a:spcPts val="620"/>
                </a:lnSpc>
              </a:pPr>
              <a:r>
                <a:rPr kumimoji="1" lang="en-US" altLang="zh-CN" sz="500" b="1" dirty="0">
                  <a:solidFill>
                    <a:srgbClr val="FFFFFF"/>
                  </a:solidFill>
                  <a:latin typeface="Arial" charset="0"/>
                  <a:ea typeface="Arial" charset="0"/>
                  <a:cs typeface="Arial" charset="0"/>
                </a:rPr>
                <a:t>181/181/</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181</a:t>
              </a:r>
            </a:p>
          </p:txBody>
        </p:sp>
        <p:sp>
          <p:nvSpPr>
            <p:cNvPr id="68" name="矩形 13">
              <a:extLst>
                <a:ext uri="{FF2B5EF4-FFF2-40B4-BE49-F238E27FC236}">
                  <a16:creationId xmlns:a16="http://schemas.microsoft.com/office/drawing/2014/main" xmlns="" id="{2C404A07-276B-3648-BB25-4EDB5905448C}"/>
                </a:ext>
              </a:extLst>
            </p:cNvPr>
            <p:cNvSpPr/>
            <p:nvPr userDrawn="1"/>
          </p:nvSpPr>
          <p:spPr>
            <a:xfrm>
              <a:off x="7541580" y="6324025"/>
              <a:ext cx="513579" cy="664397"/>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221/221/</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221</a:t>
              </a:r>
            </a:p>
          </p:txBody>
        </p:sp>
        <p:sp>
          <p:nvSpPr>
            <p:cNvPr id="69" name="矩形 13">
              <a:extLst>
                <a:ext uri="{FF2B5EF4-FFF2-40B4-BE49-F238E27FC236}">
                  <a16:creationId xmlns:a16="http://schemas.microsoft.com/office/drawing/2014/main" xmlns="" id="{72B0F29C-A346-8946-9B8E-8F1B9DFF7AD0}"/>
                </a:ext>
              </a:extLst>
            </p:cNvPr>
            <p:cNvSpPr/>
            <p:nvPr userDrawn="1"/>
          </p:nvSpPr>
          <p:spPr>
            <a:xfrm>
              <a:off x="8083608" y="6324025"/>
              <a:ext cx="513579" cy="664397"/>
            </a:xfrm>
            <a:prstGeom prst="rect">
              <a:avLst/>
            </a:prstGeom>
            <a:solidFill>
              <a:srgbClr val="FFFFFF"/>
            </a:solidFill>
            <a:ln w="6350">
              <a:solidFill>
                <a:srgbClr val="B5B5B5"/>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a:t>
              </a:r>
            </a:p>
            <a:p>
              <a:pPr algn="ctr">
                <a:lnSpc>
                  <a:spcPts val="620"/>
                </a:lnSpc>
              </a:pPr>
              <a:r>
                <a:rPr kumimoji="1" lang="en-US" altLang="zh-CN" sz="500" b="1" dirty="0">
                  <a:solidFill>
                    <a:srgbClr val="595757"/>
                  </a:solidFill>
                  <a:latin typeface="Arial" charset="0"/>
                  <a:ea typeface="Arial" charset="0"/>
                  <a:cs typeface="Arial" charset="0"/>
                </a:rPr>
                <a:t>255/255/</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255</a:t>
              </a:r>
            </a:p>
          </p:txBody>
        </p:sp>
      </p:grpSp>
      <p:sp>
        <p:nvSpPr>
          <p:cNvPr id="70" name="Title Placeholder 1">
            <a:extLst>
              <a:ext uri="{FF2B5EF4-FFF2-40B4-BE49-F238E27FC236}">
                <a16:creationId xmlns:a16="http://schemas.microsoft.com/office/drawing/2014/main" xmlns="" id="{145F1158-B1AA-8F41-AF0A-FEA0EC1874AC}"/>
              </a:ext>
            </a:extLst>
          </p:cNvPr>
          <p:cNvSpPr>
            <a:spLocks noGrp="1"/>
          </p:cNvSpPr>
          <p:nvPr>
            <p:ph type="title"/>
          </p:nvPr>
        </p:nvSpPr>
        <p:spPr>
          <a:xfrm>
            <a:off x="616573" y="1474269"/>
            <a:ext cx="3984232" cy="2816080"/>
          </a:xfrm>
          <a:prstGeom prst="rect">
            <a:avLst/>
          </a:prstGeom>
        </p:spPr>
        <p:txBody>
          <a:bodyPr vert="horz" lIns="91440" tIns="45720" rIns="91440" bIns="45720" rtlCol="0" anchor="t">
            <a:normAutofit/>
          </a:bodyPr>
          <a:lstStyle/>
          <a:p>
            <a:r>
              <a:rPr lang="en-US" dirty="0"/>
              <a:t>Click to edit Master title style</a:t>
            </a:r>
          </a:p>
        </p:txBody>
      </p:sp>
      <p:sp>
        <p:nvSpPr>
          <p:cNvPr id="71" name="Text Placeholder 1">
            <a:extLst>
              <a:ext uri="{FF2B5EF4-FFF2-40B4-BE49-F238E27FC236}">
                <a16:creationId xmlns:a16="http://schemas.microsoft.com/office/drawing/2014/main" xmlns="" id="{F8FC7CCD-75EB-9C44-BC7D-29679334A8CA}"/>
              </a:ext>
            </a:extLst>
          </p:cNvPr>
          <p:cNvSpPr txBox="1">
            <a:spLocks/>
          </p:cNvSpPr>
          <p:nvPr userDrawn="1"/>
        </p:nvSpPr>
        <p:spPr>
          <a:xfrm>
            <a:off x="7979357" y="2794960"/>
            <a:ext cx="3225168" cy="2029962"/>
          </a:xfrm>
          <a:prstGeom prst="rect">
            <a:avLst/>
          </a:prstGeom>
        </p:spPr>
        <p:txBody>
          <a:bodyPr lIns="0" tIns="0" rIns="0" bIns="0">
            <a:normAutofit/>
          </a:bodyPr>
          <a:lstStyle>
            <a:lvl1pPr marL="0" indent="0" algn="l" defTabSz="914400" rtl="0" eaLnBrk="1" latinLnBrk="0" hangingPunct="1">
              <a:lnSpc>
                <a:spcPct val="90000"/>
              </a:lnSpc>
              <a:spcBef>
                <a:spcPts val="1000"/>
              </a:spcBef>
              <a:buFont typeface="Arial" panose="020B0604020202020204" pitchFamily="34" charset="0"/>
              <a:buNone/>
              <a:defRPr sz="1400" kern="1200">
                <a:solidFill>
                  <a:srgbClr val="FFFFFF"/>
                </a:solidFill>
                <a:latin typeface="Microsoft YaHei" panose="020B0503020204020204" pitchFamily="34" charset="-122"/>
                <a:ea typeface="Microsoft YaHei" panose="020B0503020204020204" pitchFamily="34" charset="-122"/>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ts val="1065"/>
              </a:lnSpc>
            </a:pPr>
            <a:r>
              <a:rPr kumimoji="1" lang="en-US" altLang="zh-CN" sz="850" b="1" baseline="0" dirty="0" smtClean="0">
                <a:solidFill>
                  <a:srgbClr val="1D1D1B"/>
                </a:solidFill>
                <a:latin typeface="+mj-lt"/>
              </a:rPr>
              <a:t>Copyright©2021 </a:t>
            </a:r>
            <a:r>
              <a:rPr kumimoji="1" lang="en-US" altLang="zh-CN" sz="850" b="1" baseline="0" dirty="0">
                <a:solidFill>
                  <a:srgbClr val="1D1D1B"/>
                </a:solidFill>
                <a:latin typeface="+mj-lt"/>
              </a:rPr>
              <a:t>Huawei Technologies Co., Ltd.</a:t>
            </a:r>
            <a:br>
              <a:rPr kumimoji="1" lang="en-US" altLang="zh-CN" sz="850" b="1" baseline="0" dirty="0">
                <a:solidFill>
                  <a:srgbClr val="1D1D1B"/>
                </a:solidFill>
                <a:latin typeface="+mj-lt"/>
              </a:rPr>
            </a:br>
            <a:r>
              <a:rPr kumimoji="1" lang="en-US" altLang="zh-CN" sz="850" b="1" baseline="0" dirty="0">
                <a:solidFill>
                  <a:srgbClr val="1D1D1B"/>
                </a:solidFill>
                <a:latin typeface="+mj-lt"/>
              </a:rPr>
              <a:t>All Rights Reserved.</a:t>
            </a:r>
            <a:r>
              <a:rPr kumimoji="1" lang="en-US" altLang="zh-CN" sz="779" dirty="0">
                <a:solidFill>
                  <a:srgbClr val="1D1D1B"/>
                </a:solidFill>
                <a:latin typeface="+mn-lt"/>
              </a:rPr>
              <a:t/>
            </a:r>
            <a:br>
              <a:rPr kumimoji="1" lang="en-US" altLang="zh-CN" sz="779" dirty="0">
                <a:solidFill>
                  <a:srgbClr val="1D1D1B"/>
                </a:solidFill>
                <a:latin typeface="+mn-lt"/>
              </a:rPr>
            </a:br>
            <a:r>
              <a:rPr kumimoji="1" lang="en-US" altLang="zh-CN" sz="779" dirty="0">
                <a:solidFill>
                  <a:srgbClr val="1D1D1B"/>
                </a:solidFill>
                <a:latin typeface="+mn-lt"/>
              </a:rPr>
              <a:t/>
            </a:r>
            <a:br>
              <a:rPr kumimoji="1" lang="en-US" altLang="zh-CN" sz="779" dirty="0">
                <a:solidFill>
                  <a:srgbClr val="1D1D1B"/>
                </a:solidFill>
                <a:latin typeface="+mn-lt"/>
              </a:rPr>
            </a:br>
            <a:r>
              <a:rPr kumimoji="1" lang="en-US" altLang="zh-CN" sz="850" baseline="0" dirty="0">
                <a:solidFill>
                  <a:srgbClr val="1D1D1B"/>
                </a:solidFill>
                <a:latin typeface="+mn-lt"/>
                <a:cs typeface="Arial" panose="020B0604020202020204" pitchFamily="34" charset="0"/>
              </a:rPr>
              <a:t>The information in this document may contain predictive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statements including, without limitation, statements regarding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the future financial and operating results, future product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portfolio, new technology, etc. There are a number of factors that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could cause actual results and developments to differ materially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from those expressed or implied in the predictive statements.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Therefore, such information is provided for reference purpose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only and constitutes neither an offer nor an acceptance. Huawei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may change the information at any time without notice. </a:t>
            </a:r>
          </a:p>
          <a:p>
            <a:pPr>
              <a:lnSpc>
                <a:spcPts val="1065"/>
              </a:lnSpc>
            </a:pPr>
            <a:endParaRPr kumimoji="1" lang="zh-CN" altLang="en-US" sz="779" dirty="0">
              <a:solidFill>
                <a:srgbClr val="1D1D1B"/>
              </a:solidFill>
              <a:latin typeface="+mn-lt"/>
            </a:endParaRPr>
          </a:p>
        </p:txBody>
      </p:sp>
      <p:sp>
        <p:nvSpPr>
          <p:cNvPr id="72" name="Subtitle 6">
            <a:extLst>
              <a:ext uri="{FF2B5EF4-FFF2-40B4-BE49-F238E27FC236}">
                <a16:creationId xmlns:a16="http://schemas.microsoft.com/office/drawing/2014/main" xmlns="" id="{12B8F806-ABD5-064C-8793-5E22C72554FD}"/>
              </a:ext>
            </a:extLst>
          </p:cNvPr>
          <p:cNvSpPr txBox="1">
            <a:spLocks/>
          </p:cNvSpPr>
          <p:nvPr userDrawn="1"/>
        </p:nvSpPr>
        <p:spPr>
          <a:xfrm>
            <a:off x="7987276" y="1631849"/>
            <a:ext cx="3477701" cy="491114"/>
          </a:xfrm>
          <a:prstGeom prst="rect">
            <a:avLst/>
          </a:prstGeom>
        </p:spPr>
        <p:txBody>
          <a:bodyPr lIns="0" tIns="0" rIns="0" bIns="0">
            <a:normAutofit/>
          </a:bodyPr>
          <a:lstStyle>
            <a:lvl1pPr marL="0" indent="0" algn="l" defTabSz="914400" rtl="0" eaLnBrk="1" latinLnBrk="0" hangingPunct="1">
              <a:lnSpc>
                <a:spcPct val="90000"/>
              </a:lnSpc>
              <a:spcBef>
                <a:spcPts val="1000"/>
              </a:spcBef>
              <a:buFont typeface="Arial" panose="020B0604020202020204" pitchFamily="34" charset="0"/>
              <a:buNone/>
              <a:defRPr sz="1400" kern="1200">
                <a:solidFill>
                  <a:srgbClr val="FFFFFF"/>
                </a:solidFill>
                <a:latin typeface="Microsoft YaHei" panose="020B0503020204020204" pitchFamily="34" charset="-122"/>
                <a:ea typeface="Microsoft YaHei" panose="020B0503020204020204" pitchFamily="34" charset="-122"/>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ts val="1681"/>
              </a:lnSpc>
              <a:spcBef>
                <a:spcPts val="0"/>
              </a:spcBef>
            </a:pPr>
            <a:r>
              <a:rPr kumimoji="1" lang="zh-CN" altLang="en-US" sz="1300" dirty="0">
                <a:solidFill>
                  <a:srgbClr val="1D1D1B"/>
                </a:solidFill>
                <a:latin typeface="Microsoft YaHei" charset="-122"/>
                <a:ea typeface="Microsoft YaHei" charset="-122"/>
                <a:cs typeface="Microsoft YaHei" charset="-122"/>
              </a:rPr>
              <a:t>把数字世界带入每个人、每个家庭、</a:t>
            </a:r>
            <a:r>
              <a:rPr kumimoji="1" lang="en-US" altLang="zh-CN" sz="1300" dirty="0">
                <a:solidFill>
                  <a:srgbClr val="1D1D1B"/>
                </a:solidFill>
                <a:latin typeface="Microsoft YaHei" charset="-122"/>
                <a:ea typeface="Microsoft YaHei" charset="-122"/>
                <a:cs typeface="Microsoft YaHei" charset="-122"/>
              </a:rPr>
              <a:t/>
            </a:r>
            <a:br>
              <a:rPr kumimoji="1" lang="en-US" altLang="zh-CN" sz="1300" dirty="0">
                <a:solidFill>
                  <a:srgbClr val="1D1D1B"/>
                </a:solidFill>
                <a:latin typeface="Microsoft YaHei" charset="-122"/>
                <a:ea typeface="Microsoft YaHei" charset="-122"/>
                <a:cs typeface="Microsoft YaHei" charset="-122"/>
              </a:rPr>
            </a:br>
            <a:r>
              <a:rPr kumimoji="1" lang="zh-CN" altLang="en-US" sz="1300" dirty="0">
                <a:solidFill>
                  <a:srgbClr val="1D1D1B"/>
                </a:solidFill>
                <a:latin typeface="Microsoft YaHei" charset="-122"/>
                <a:ea typeface="Microsoft YaHei" charset="-122"/>
                <a:cs typeface="Microsoft YaHei" charset="-122"/>
              </a:rPr>
              <a:t>每个组织，构建万物互联的智能世界。</a:t>
            </a:r>
          </a:p>
        </p:txBody>
      </p:sp>
      <p:sp>
        <p:nvSpPr>
          <p:cNvPr id="73" name="Subtitle 6">
            <a:extLst>
              <a:ext uri="{FF2B5EF4-FFF2-40B4-BE49-F238E27FC236}">
                <a16:creationId xmlns:a16="http://schemas.microsoft.com/office/drawing/2014/main" xmlns="" id="{F1235B6F-D691-2C40-93D4-EC5427ADDFB0}"/>
              </a:ext>
            </a:extLst>
          </p:cNvPr>
          <p:cNvSpPr txBox="1">
            <a:spLocks/>
          </p:cNvSpPr>
          <p:nvPr userDrawn="1"/>
        </p:nvSpPr>
        <p:spPr>
          <a:xfrm>
            <a:off x="7977672" y="2106124"/>
            <a:ext cx="3481833" cy="582808"/>
          </a:xfrm>
          <a:prstGeom prst="rect">
            <a:avLst/>
          </a:prstGeom>
        </p:spPr>
        <p:txBody>
          <a:bodyPr vert="horz" lIns="0" tIns="0" rIns="0" bIns="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1400" kern="1200">
                <a:solidFill>
                  <a:schemeClr val="tx1"/>
                </a:solidFill>
                <a:latin typeface="Microsoft YaHei" panose="020B0503020204020204" pitchFamily="34" charset="-122"/>
                <a:ea typeface="Microsoft YaHei" panose="020B0503020204020204" pitchFamily="34" charset="-122"/>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ts val="1294"/>
              </a:lnSpc>
            </a:pPr>
            <a:r>
              <a:rPr kumimoji="1" lang="en-US" altLang="zh-CN" sz="1200" dirty="0">
                <a:solidFill>
                  <a:srgbClr val="1D1D1B"/>
                </a:solidFill>
                <a:latin typeface="+mn-lt"/>
                <a:cs typeface="Arial" panose="020B0604020202020204" pitchFamily="34" charset="0"/>
              </a:rPr>
              <a:t>Bring digital to every person, home, and </a:t>
            </a:r>
            <a:br>
              <a:rPr kumimoji="1" lang="en-US" altLang="zh-CN" sz="1200" dirty="0">
                <a:solidFill>
                  <a:srgbClr val="1D1D1B"/>
                </a:solidFill>
                <a:latin typeface="+mn-lt"/>
                <a:cs typeface="Arial" panose="020B0604020202020204" pitchFamily="34" charset="0"/>
              </a:rPr>
            </a:br>
            <a:r>
              <a:rPr kumimoji="1" lang="en-US" altLang="zh-CN" sz="1200" dirty="0">
                <a:solidFill>
                  <a:srgbClr val="1D1D1B"/>
                </a:solidFill>
                <a:latin typeface="+mn-lt"/>
                <a:cs typeface="Arial" panose="020B0604020202020204" pitchFamily="34" charset="0"/>
              </a:rPr>
              <a:t>organization for a fully connected, </a:t>
            </a:r>
            <a:br>
              <a:rPr kumimoji="1" lang="en-US" altLang="zh-CN" sz="1200" dirty="0">
                <a:solidFill>
                  <a:srgbClr val="1D1D1B"/>
                </a:solidFill>
                <a:latin typeface="+mn-lt"/>
                <a:cs typeface="Arial" panose="020B0604020202020204" pitchFamily="34" charset="0"/>
              </a:rPr>
            </a:br>
            <a:r>
              <a:rPr kumimoji="1" lang="en-US" altLang="zh-CN" sz="1200" dirty="0">
                <a:solidFill>
                  <a:srgbClr val="1D1D1B"/>
                </a:solidFill>
                <a:latin typeface="+mn-lt"/>
                <a:cs typeface="Arial" panose="020B0604020202020204" pitchFamily="34" charset="0"/>
              </a:rPr>
              <a:t>intelligent world.</a:t>
            </a:r>
            <a:endParaRPr kumimoji="1" lang="zh-CN" altLang="en-US" sz="1200" dirty="0">
              <a:solidFill>
                <a:srgbClr val="1D1D1B"/>
              </a:solidFill>
              <a:latin typeface="+mn-lt"/>
              <a:ea typeface="Microsoft YaHei" charset="-122"/>
              <a:cs typeface="Microsoft YaHei" charset="-122"/>
            </a:endParaRPr>
          </a:p>
        </p:txBody>
      </p:sp>
      <p:pic>
        <p:nvPicPr>
          <p:cNvPr id="74" name="图片 7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975497" y="5251150"/>
            <a:ext cx="1869596" cy="399462"/>
          </a:xfrm>
          <a:prstGeom prst="rect">
            <a:avLst/>
          </a:prstGeom>
        </p:spPr>
      </p:pic>
    </p:spTree>
    <p:extLst>
      <p:ext uri="{BB962C8B-B14F-4D97-AF65-F5344CB8AC3E}">
        <p14:creationId xmlns:p14="http://schemas.microsoft.com/office/powerpoint/2010/main" val="3019321380"/>
      </p:ext>
    </p:extLst>
  </p:cSld>
  <p:clrMap bg1="lt1" tx1="dk1" bg2="lt2" tx2="dk2" accent1="accent1" accent2="accent2" accent3="accent3" accent4="accent4" accent5="accent5" accent6="accent6" hlink="hlink" folHlink="folHlink"/>
  <p:sldLayoutIdLst>
    <p:sldLayoutId id="2147483892" r:id="rId1"/>
  </p:sldLayoutIdLst>
  <p:timing>
    <p:tnLst>
      <p:par>
        <p:cTn id="1" dur="indefinite" restart="never" nodeType="tmRoot"/>
      </p:par>
    </p:tnLst>
  </p:timing>
  <p:hf hdr="0" ftr="0" dt="0"/>
  <p:txStyles>
    <p:titleStyle>
      <a:lvl1pPr algn="l" defTabSz="1187323" rtl="0" eaLnBrk="1" latinLnBrk="0" hangingPunct="1">
        <a:lnSpc>
          <a:spcPct val="90000"/>
        </a:lnSpc>
        <a:spcBef>
          <a:spcPct val="0"/>
        </a:spcBef>
        <a:buNone/>
        <a:defRPr sz="4998" b="0" kern="1200">
          <a:solidFill>
            <a:schemeClr val="tx1"/>
          </a:solidFill>
          <a:latin typeface="Huawei Sans" panose="020C0503030203020204" pitchFamily="34" charset="0"/>
          <a:ea typeface="方正兰亭黑简体" panose="02000000000000000000" pitchFamily="2" charset="-122"/>
          <a:cs typeface="Huawei Sans" panose="020C0503030203020204" pitchFamily="34" charset="0"/>
        </a:defRPr>
      </a:lvl1pPr>
    </p:titleStyle>
    <p:bodyStyle>
      <a:lvl1pPr marL="0" indent="0" algn="l" defTabSz="1187323" rtl="0" eaLnBrk="1" latinLnBrk="0" hangingPunct="1">
        <a:lnSpc>
          <a:spcPct val="90000"/>
        </a:lnSpc>
        <a:spcBef>
          <a:spcPts val="1298"/>
        </a:spcBef>
        <a:buFont typeface="Arial" panose="020B0604020202020204" pitchFamily="34" charset="0"/>
        <a:buNone/>
        <a:defRPr sz="1818" kern="1200">
          <a:solidFill>
            <a:srgbClr val="FFFFFF"/>
          </a:solidFill>
          <a:latin typeface="Microsoft YaHei" panose="020B0503020204020204" pitchFamily="34" charset="-122"/>
          <a:ea typeface="Microsoft YaHei" panose="020B0503020204020204" pitchFamily="34" charset="-122"/>
          <a:cs typeface="+mn-cs"/>
        </a:defRPr>
      </a:lvl1pPr>
      <a:lvl2pPr marL="593662" indent="0" algn="l" defTabSz="1187323" rtl="0" eaLnBrk="1" latinLnBrk="0" hangingPunct="1">
        <a:lnSpc>
          <a:spcPct val="90000"/>
        </a:lnSpc>
        <a:spcBef>
          <a:spcPts val="650"/>
        </a:spcBef>
        <a:buFont typeface="Arial" panose="020B0604020202020204" pitchFamily="34" charset="0"/>
        <a:buNone/>
        <a:defRPr sz="3117" kern="1200">
          <a:solidFill>
            <a:schemeClr val="tx1"/>
          </a:solidFill>
          <a:latin typeface="+mn-lt"/>
          <a:ea typeface="+mn-ea"/>
          <a:cs typeface="+mn-cs"/>
        </a:defRPr>
      </a:lvl2pPr>
      <a:lvl3pPr marL="1187323" indent="0" algn="l" defTabSz="1187323" rtl="0" eaLnBrk="1" latinLnBrk="0" hangingPunct="1">
        <a:lnSpc>
          <a:spcPct val="90000"/>
        </a:lnSpc>
        <a:spcBef>
          <a:spcPts val="650"/>
        </a:spcBef>
        <a:buFont typeface="Arial" panose="020B0604020202020204" pitchFamily="34" charset="0"/>
        <a:buNone/>
        <a:defRPr sz="2597" kern="1200">
          <a:solidFill>
            <a:schemeClr val="tx1"/>
          </a:solidFill>
          <a:latin typeface="+mn-lt"/>
          <a:ea typeface="+mn-ea"/>
          <a:cs typeface="+mn-cs"/>
        </a:defRPr>
      </a:lvl3pPr>
      <a:lvl4pPr marL="1780986" indent="0" algn="l" defTabSz="1187323" rtl="0" eaLnBrk="1" latinLnBrk="0" hangingPunct="1">
        <a:lnSpc>
          <a:spcPct val="90000"/>
        </a:lnSpc>
        <a:spcBef>
          <a:spcPts val="650"/>
        </a:spcBef>
        <a:buFont typeface="Arial" panose="020B0604020202020204" pitchFamily="34" charset="0"/>
        <a:buNone/>
        <a:defRPr sz="2337" kern="1200">
          <a:solidFill>
            <a:schemeClr val="tx1"/>
          </a:solidFill>
          <a:latin typeface="+mn-lt"/>
          <a:ea typeface="+mn-ea"/>
          <a:cs typeface="+mn-cs"/>
        </a:defRPr>
      </a:lvl4pPr>
      <a:lvl5pPr marL="2374648" indent="0" algn="l" defTabSz="1187323" rtl="0" eaLnBrk="1" latinLnBrk="0" hangingPunct="1">
        <a:lnSpc>
          <a:spcPct val="90000"/>
        </a:lnSpc>
        <a:spcBef>
          <a:spcPts val="650"/>
        </a:spcBef>
        <a:buFont typeface="Arial" panose="020B0604020202020204" pitchFamily="34" charset="0"/>
        <a:buNone/>
        <a:defRPr sz="2337" kern="1200">
          <a:solidFill>
            <a:schemeClr val="tx1"/>
          </a:solidFill>
          <a:latin typeface="+mn-lt"/>
          <a:ea typeface="+mn-ea"/>
          <a:cs typeface="+mn-cs"/>
        </a:defRPr>
      </a:lvl5pPr>
      <a:lvl6pPr marL="3265140" indent="-296831" algn="l" defTabSz="1187323" rtl="0" eaLnBrk="1" latinLnBrk="0" hangingPunct="1">
        <a:lnSpc>
          <a:spcPct val="90000"/>
        </a:lnSpc>
        <a:spcBef>
          <a:spcPts val="650"/>
        </a:spcBef>
        <a:buFont typeface="Arial" panose="020B0604020202020204" pitchFamily="34" charset="0"/>
        <a:buChar char="•"/>
        <a:defRPr sz="2337" kern="1200">
          <a:solidFill>
            <a:schemeClr val="tx1"/>
          </a:solidFill>
          <a:latin typeface="+mn-lt"/>
          <a:ea typeface="+mn-ea"/>
          <a:cs typeface="+mn-cs"/>
        </a:defRPr>
      </a:lvl6pPr>
      <a:lvl7pPr marL="3858802" indent="-296831" algn="l" defTabSz="1187323" rtl="0" eaLnBrk="1" latinLnBrk="0" hangingPunct="1">
        <a:lnSpc>
          <a:spcPct val="90000"/>
        </a:lnSpc>
        <a:spcBef>
          <a:spcPts val="650"/>
        </a:spcBef>
        <a:buFont typeface="Arial" panose="020B0604020202020204" pitchFamily="34" charset="0"/>
        <a:buChar char="•"/>
        <a:defRPr sz="2337" kern="1200">
          <a:solidFill>
            <a:schemeClr val="tx1"/>
          </a:solidFill>
          <a:latin typeface="+mn-lt"/>
          <a:ea typeface="+mn-ea"/>
          <a:cs typeface="+mn-cs"/>
        </a:defRPr>
      </a:lvl7pPr>
      <a:lvl8pPr marL="4452463" indent="-296831" algn="l" defTabSz="1187323" rtl="0" eaLnBrk="1" latinLnBrk="0" hangingPunct="1">
        <a:lnSpc>
          <a:spcPct val="90000"/>
        </a:lnSpc>
        <a:spcBef>
          <a:spcPts val="650"/>
        </a:spcBef>
        <a:buFont typeface="Arial" panose="020B0604020202020204" pitchFamily="34" charset="0"/>
        <a:buChar char="•"/>
        <a:defRPr sz="2337" kern="1200">
          <a:solidFill>
            <a:schemeClr val="tx1"/>
          </a:solidFill>
          <a:latin typeface="+mn-lt"/>
          <a:ea typeface="+mn-ea"/>
          <a:cs typeface="+mn-cs"/>
        </a:defRPr>
      </a:lvl8pPr>
      <a:lvl9pPr marL="5046125" indent="-296831" algn="l" defTabSz="1187323" rtl="0" eaLnBrk="1" latinLnBrk="0" hangingPunct="1">
        <a:lnSpc>
          <a:spcPct val="90000"/>
        </a:lnSpc>
        <a:spcBef>
          <a:spcPts val="650"/>
        </a:spcBef>
        <a:buFont typeface="Arial" panose="020B0604020202020204" pitchFamily="34" charset="0"/>
        <a:buChar char="•"/>
        <a:defRPr sz="2337" kern="1200">
          <a:solidFill>
            <a:schemeClr val="tx1"/>
          </a:solidFill>
          <a:latin typeface="+mn-lt"/>
          <a:ea typeface="+mn-ea"/>
          <a:cs typeface="+mn-cs"/>
        </a:defRPr>
      </a:lvl9pPr>
    </p:bodyStyle>
    <p:otherStyle>
      <a:defPPr>
        <a:defRPr lang="en-US"/>
      </a:defPPr>
      <a:lvl1pPr marL="0" algn="l" defTabSz="1187323" rtl="0" eaLnBrk="1" latinLnBrk="0" hangingPunct="1">
        <a:defRPr sz="2337" kern="1200">
          <a:solidFill>
            <a:schemeClr val="tx1"/>
          </a:solidFill>
          <a:latin typeface="+mn-lt"/>
          <a:ea typeface="+mn-ea"/>
          <a:cs typeface="+mn-cs"/>
        </a:defRPr>
      </a:lvl1pPr>
      <a:lvl2pPr marL="593662" algn="l" defTabSz="1187323" rtl="0" eaLnBrk="1" latinLnBrk="0" hangingPunct="1">
        <a:defRPr sz="2337" kern="1200">
          <a:solidFill>
            <a:schemeClr val="tx1"/>
          </a:solidFill>
          <a:latin typeface="+mn-lt"/>
          <a:ea typeface="+mn-ea"/>
          <a:cs typeface="+mn-cs"/>
        </a:defRPr>
      </a:lvl2pPr>
      <a:lvl3pPr marL="1187323" algn="l" defTabSz="1187323" rtl="0" eaLnBrk="1" latinLnBrk="0" hangingPunct="1">
        <a:defRPr sz="2337" kern="1200">
          <a:solidFill>
            <a:schemeClr val="tx1"/>
          </a:solidFill>
          <a:latin typeface="+mn-lt"/>
          <a:ea typeface="+mn-ea"/>
          <a:cs typeface="+mn-cs"/>
        </a:defRPr>
      </a:lvl3pPr>
      <a:lvl4pPr marL="1780986" algn="l" defTabSz="1187323" rtl="0" eaLnBrk="1" latinLnBrk="0" hangingPunct="1">
        <a:defRPr sz="2337" kern="1200">
          <a:solidFill>
            <a:schemeClr val="tx1"/>
          </a:solidFill>
          <a:latin typeface="+mn-lt"/>
          <a:ea typeface="+mn-ea"/>
          <a:cs typeface="+mn-cs"/>
        </a:defRPr>
      </a:lvl4pPr>
      <a:lvl5pPr marL="2374648" algn="l" defTabSz="1187323" rtl="0" eaLnBrk="1" latinLnBrk="0" hangingPunct="1">
        <a:defRPr sz="2337" kern="1200">
          <a:solidFill>
            <a:schemeClr val="tx1"/>
          </a:solidFill>
          <a:latin typeface="+mn-lt"/>
          <a:ea typeface="+mn-ea"/>
          <a:cs typeface="+mn-cs"/>
        </a:defRPr>
      </a:lvl5pPr>
      <a:lvl6pPr marL="2968309" algn="l" defTabSz="1187323" rtl="0" eaLnBrk="1" latinLnBrk="0" hangingPunct="1">
        <a:defRPr sz="2337" kern="1200">
          <a:solidFill>
            <a:schemeClr val="tx1"/>
          </a:solidFill>
          <a:latin typeface="+mn-lt"/>
          <a:ea typeface="+mn-ea"/>
          <a:cs typeface="+mn-cs"/>
        </a:defRPr>
      </a:lvl6pPr>
      <a:lvl7pPr marL="3561971" algn="l" defTabSz="1187323" rtl="0" eaLnBrk="1" latinLnBrk="0" hangingPunct="1">
        <a:defRPr sz="2337" kern="1200">
          <a:solidFill>
            <a:schemeClr val="tx1"/>
          </a:solidFill>
          <a:latin typeface="+mn-lt"/>
          <a:ea typeface="+mn-ea"/>
          <a:cs typeface="+mn-cs"/>
        </a:defRPr>
      </a:lvl7pPr>
      <a:lvl8pPr marL="4155634" algn="l" defTabSz="1187323" rtl="0" eaLnBrk="1" latinLnBrk="0" hangingPunct="1">
        <a:defRPr sz="2337" kern="1200">
          <a:solidFill>
            <a:schemeClr val="tx1"/>
          </a:solidFill>
          <a:latin typeface="+mn-lt"/>
          <a:ea typeface="+mn-ea"/>
          <a:cs typeface="+mn-cs"/>
        </a:defRPr>
      </a:lvl8pPr>
      <a:lvl9pPr marL="4749295" algn="l" defTabSz="1187323" rtl="0" eaLnBrk="1" latinLnBrk="0" hangingPunct="1">
        <a:defRPr sz="2337"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2161">
          <p15:clr>
            <a:srgbClr val="F26B43"/>
          </p15:clr>
        </p15:guide>
        <p15:guide id="2" pos="3842">
          <p15:clr>
            <a:srgbClr val="F26B43"/>
          </p15:clr>
        </p15:guide>
        <p15:guide id="3" pos="461">
          <p15:clr>
            <a:srgbClr val="F26B43"/>
          </p15:clr>
        </p15:guide>
        <p15:guide id="4" pos="7197">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15.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4.png"/><Relationship Id="rId7"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5.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5.png"/><Relationship Id="rId7"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13.xml"/><Relationship Id="rId6" Type="http://schemas.openxmlformats.org/officeDocument/2006/relationships/image" Target="../media/image11.png"/><Relationship Id="rId5" Type="http://schemas.openxmlformats.org/officeDocument/2006/relationships/image" Target="../media/image9.png"/><Relationship Id="rId4" Type="http://schemas.openxmlformats.org/officeDocument/2006/relationships/image" Target="../media/image8.png"/><Relationship Id="rId9" Type="http://schemas.openxmlformats.org/officeDocument/2006/relationships/image" Target="../media/image4.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5.png"/><Relationship Id="rId7"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15.xml"/><Relationship Id="rId6" Type="http://schemas.openxmlformats.org/officeDocument/2006/relationships/image" Target="../media/image11.png"/><Relationship Id="rId5" Type="http://schemas.openxmlformats.org/officeDocument/2006/relationships/image" Target="../media/image9.png"/><Relationship Id="rId10" Type="http://schemas.openxmlformats.org/officeDocument/2006/relationships/image" Target="../media/image10.png"/><Relationship Id="rId4" Type="http://schemas.openxmlformats.org/officeDocument/2006/relationships/image" Target="../media/image8.png"/><Relationship Id="rId9" Type="http://schemas.openxmlformats.org/officeDocument/2006/relationships/image" Target="../media/image4.png"/></Relationships>
</file>

<file path=ppt/slides/_rels/slide12.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5.png"/><Relationship Id="rId7"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15.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8.png"/><Relationship Id="rId9" Type="http://schemas.openxmlformats.org/officeDocument/2006/relationships/image" Target="../media/image9.png"/></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15.xml"/><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7.xml"/><Relationship Id="rId1" Type="http://schemas.openxmlformats.org/officeDocument/2006/relationships/slideLayout" Target="../slideLayouts/slideLayout15.xml"/><Relationship Id="rId4" Type="http://schemas.openxmlformats.org/officeDocument/2006/relationships/image" Target="../media/image14.png"/></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8.xml"/><Relationship Id="rId1" Type="http://schemas.openxmlformats.org/officeDocument/2006/relationships/slideLayout" Target="../slideLayouts/slideLayout15.xml"/></Relationships>
</file>

<file path=ppt/slides/_rels/slide19.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5.png"/><Relationship Id="rId7" Type="http://schemas.openxmlformats.org/officeDocument/2006/relationships/image" Target="../media/image6.png"/><Relationship Id="rId2" Type="http://schemas.openxmlformats.org/officeDocument/2006/relationships/notesSlide" Target="../notesSlides/notesSlide19.xml"/><Relationship Id="rId1" Type="http://schemas.openxmlformats.org/officeDocument/2006/relationships/slideLayout" Target="../slideLayouts/slideLayout15.xml"/><Relationship Id="rId6" Type="http://schemas.openxmlformats.org/officeDocument/2006/relationships/image" Target="../media/image12.png"/><Relationship Id="rId5" Type="http://schemas.openxmlformats.org/officeDocument/2006/relationships/image" Target="../media/image11.png"/><Relationship Id="rId10" Type="http://schemas.openxmlformats.org/officeDocument/2006/relationships/image" Target="../media/image16.png"/><Relationship Id="rId4" Type="http://schemas.openxmlformats.org/officeDocument/2006/relationships/image" Target="../media/image8.png"/><Relationship Id="rId9" Type="http://schemas.openxmlformats.org/officeDocument/2006/relationships/image" Target="../media/image10.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5.png"/><Relationship Id="rId7" Type="http://schemas.openxmlformats.org/officeDocument/2006/relationships/image" Target="../media/image6.png"/><Relationship Id="rId2" Type="http://schemas.openxmlformats.org/officeDocument/2006/relationships/notesSlide" Target="../notesSlides/notesSlide21.xml"/><Relationship Id="rId1" Type="http://schemas.openxmlformats.org/officeDocument/2006/relationships/slideLayout" Target="../slideLayouts/slideLayout13.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8.png"/><Relationship Id="rId9" Type="http://schemas.openxmlformats.org/officeDocument/2006/relationships/image" Target="../media/image10.png"/></Relationships>
</file>

<file path=ppt/slides/_rels/slide2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2.xml"/><Relationship Id="rId1" Type="http://schemas.openxmlformats.org/officeDocument/2006/relationships/slideLayout" Target="../slideLayouts/slideLayout15.xml"/><Relationship Id="rId4" Type="http://schemas.openxmlformats.org/officeDocument/2006/relationships/image" Target="../media/image18.png"/></Relationships>
</file>

<file path=ppt/slides/_rels/slide23.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5.png"/><Relationship Id="rId7" Type="http://schemas.openxmlformats.org/officeDocument/2006/relationships/image" Target="../media/image4.png"/><Relationship Id="rId2" Type="http://schemas.openxmlformats.org/officeDocument/2006/relationships/notesSlide" Target="../notesSlides/notesSlide23.xml"/><Relationship Id="rId1" Type="http://schemas.openxmlformats.org/officeDocument/2006/relationships/slideLayout" Target="../slideLayouts/slideLayout13.xml"/><Relationship Id="rId6" Type="http://schemas.openxmlformats.org/officeDocument/2006/relationships/image" Target="../media/image6.png"/><Relationship Id="rId5" Type="http://schemas.openxmlformats.org/officeDocument/2006/relationships/image" Target="../media/image9.png"/><Relationship Id="rId4" Type="http://schemas.openxmlformats.org/officeDocument/2006/relationships/image" Target="../media/image8.png"/></Relationships>
</file>

<file path=ppt/slides/_rels/slide24.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3.png"/><Relationship Id="rId2" Type="http://schemas.openxmlformats.org/officeDocument/2006/relationships/notesSlide" Target="../notesSlides/notesSlide24.xml"/><Relationship Id="rId1" Type="http://schemas.openxmlformats.org/officeDocument/2006/relationships/slideLayout" Target="../slideLayouts/slideLayout13.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2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5.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6.xml"/><Relationship Id="rId1" Type="http://schemas.openxmlformats.org/officeDocument/2006/relationships/slideLayout" Target="../slideLayouts/slideLayout13.xml"/><Relationship Id="rId6" Type="http://schemas.openxmlformats.org/officeDocument/2006/relationships/image" Target="../media/image13.png"/><Relationship Id="rId5" Type="http://schemas.openxmlformats.org/officeDocument/2006/relationships/image" Target="../media/image6.png"/><Relationship Id="rId4" Type="http://schemas.openxmlformats.org/officeDocument/2006/relationships/image" Target="../media/image5.png"/></Relationships>
</file>

<file path=ppt/slides/_rels/slide2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7.xml"/><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28.xml"/><Relationship Id="rId1" Type="http://schemas.openxmlformats.org/officeDocument/2006/relationships/slideLayout" Target="../slideLayouts/slideLayout13.xml"/><Relationship Id="rId6" Type="http://schemas.openxmlformats.org/officeDocument/2006/relationships/image" Target="../media/image13.png"/><Relationship Id="rId5" Type="http://schemas.openxmlformats.org/officeDocument/2006/relationships/image" Target="../media/image6.png"/><Relationship Id="rId4" Type="http://schemas.openxmlformats.org/officeDocument/2006/relationships/image" Target="../media/image5.png"/><Relationship Id="rId9" Type="http://schemas.openxmlformats.org/officeDocument/2006/relationships/image" Target="../media/image11.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12.png"/><Relationship Id="rId7" Type="http://schemas.openxmlformats.org/officeDocument/2006/relationships/image" Target="../media/image13.png"/><Relationship Id="rId2" Type="http://schemas.openxmlformats.org/officeDocument/2006/relationships/notesSlide" Target="../notesSlides/notesSlide30.xml"/><Relationship Id="rId1" Type="http://schemas.openxmlformats.org/officeDocument/2006/relationships/slideLayout" Target="../slideLayouts/slideLayout13.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 Id="rId9" Type="http://schemas.openxmlformats.org/officeDocument/2006/relationships/image" Target="../media/image11.pn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21.png"/><Relationship Id="rId7" Type="http://schemas.openxmlformats.org/officeDocument/2006/relationships/image" Target="../media/image13.png"/><Relationship Id="rId2" Type="http://schemas.openxmlformats.org/officeDocument/2006/relationships/notesSlide" Target="../notesSlides/notesSlide32.xml"/><Relationship Id="rId1" Type="http://schemas.openxmlformats.org/officeDocument/2006/relationships/slideLayout" Target="../slideLayouts/slideLayout15.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33.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22.png"/><Relationship Id="rId7" Type="http://schemas.openxmlformats.org/officeDocument/2006/relationships/image" Target="../media/image13.png"/><Relationship Id="rId2" Type="http://schemas.openxmlformats.org/officeDocument/2006/relationships/notesSlide" Target="../notesSlides/notesSlide33.xml"/><Relationship Id="rId1" Type="http://schemas.openxmlformats.org/officeDocument/2006/relationships/slideLayout" Target="../slideLayouts/slideLayout15.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34.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23.png"/><Relationship Id="rId7" Type="http://schemas.openxmlformats.org/officeDocument/2006/relationships/image" Target="../media/image13.png"/><Relationship Id="rId2" Type="http://schemas.openxmlformats.org/officeDocument/2006/relationships/notesSlide" Target="../notesSlides/notesSlide34.xml"/><Relationship Id="rId1" Type="http://schemas.openxmlformats.org/officeDocument/2006/relationships/slideLayout" Target="../slideLayouts/slideLayout15.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35.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24.png"/><Relationship Id="rId7" Type="http://schemas.openxmlformats.org/officeDocument/2006/relationships/image" Target="../media/image13.png"/><Relationship Id="rId2" Type="http://schemas.openxmlformats.org/officeDocument/2006/relationships/notesSlide" Target="../notesSlides/notesSlide35.xml"/><Relationship Id="rId1" Type="http://schemas.openxmlformats.org/officeDocument/2006/relationships/slideLayout" Target="../slideLayouts/slideLayout15.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37.xml"/><Relationship Id="rId1" Type="http://schemas.openxmlformats.org/officeDocument/2006/relationships/slideLayout" Target="../slideLayouts/slideLayout15.xml"/><Relationship Id="rId6" Type="http://schemas.openxmlformats.org/officeDocument/2006/relationships/image" Target="../media/image13.png"/><Relationship Id="rId5" Type="http://schemas.openxmlformats.org/officeDocument/2006/relationships/image" Target="../media/image6.png"/><Relationship Id="rId4" Type="http://schemas.openxmlformats.org/officeDocument/2006/relationships/image" Target="../media/image5.png"/></Relationships>
</file>

<file path=ppt/slides/_rels/slide38.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26.png"/><Relationship Id="rId7" Type="http://schemas.openxmlformats.org/officeDocument/2006/relationships/image" Target="../media/image13.png"/><Relationship Id="rId2" Type="http://schemas.openxmlformats.org/officeDocument/2006/relationships/notesSlide" Target="../notesSlides/notesSlide38.xml"/><Relationship Id="rId1" Type="http://schemas.openxmlformats.org/officeDocument/2006/relationships/slideLayout" Target="../slideLayouts/slideLayout15.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39.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39.xml"/><Relationship Id="rId1" Type="http://schemas.openxmlformats.org/officeDocument/2006/relationships/slideLayout" Target="../slideLayouts/slideLayout15.xml"/><Relationship Id="rId6" Type="http://schemas.openxmlformats.org/officeDocument/2006/relationships/image" Target="../media/image13.png"/><Relationship Id="rId5" Type="http://schemas.openxmlformats.org/officeDocument/2006/relationships/image" Target="../media/image6.png"/><Relationship Id="rId4" Type="http://schemas.openxmlformats.org/officeDocument/2006/relationships/image" Target="../media/image5.png"/><Relationship Id="rId9" Type="http://schemas.openxmlformats.org/officeDocument/2006/relationships/image" Target="../media/image28.png"/></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29.png"/><Relationship Id="rId7" Type="http://schemas.openxmlformats.org/officeDocument/2006/relationships/image" Target="../media/image13.png"/><Relationship Id="rId2" Type="http://schemas.openxmlformats.org/officeDocument/2006/relationships/notesSlide" Target="../notesSlides/notesSlide41.xml"/><Relationship Id="rId1" Type="http://schemas.openxmlformats.org/officeDocument/2006/relationships/slideLayout" Target="../slideLayouts/slideLayout15.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42.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0.png"/><Relationship Id="rId7" Type="http://schemas.openxmlformats.org/officeDocument/2006/relationships/image" Target="../media/image13.png"/><Relationship Id="rId2" Type="http://schemas.openxmlformats.org/officeDocument/2006/relationships/notesSlide" Target="../notesSlides/notesSlide42.xml"/><Relationship Id="rId1" Type="http://schemas.openxmlformats.org/officeDocument/2006/relationships/slideLayout" Target="../slideLayouts/slideLayout15.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12.png"/><Relationship Id="rId7" Type="http://schemas.openxmlformats.org/officeDocument/2006/relationships/image" Target="../media/image13.png"/><Relationship Id="rId2" Type="http://schemas.openxmlformats.org/officeDocument/2006/relationships/notesSlide" Target="../notesSlides/notesSlide44.xml"/><Relationship Id="rId1" Type="http://schemas.openxmlformats.org/officeDocument/2006/relationships/slideLayout" Target="../slideLayouts/slideLayout15.xml"/><Relationship Id="rId6" Type="http://schemas.openxmlformats.org/officeDocument/2006/relationships/image" Target="../media/image6.png"/><Relationship Id="rId11" Type="http://schemas.openxmlformats.org/officeDocument/2006/relationships/image" Target="../media/image32.png"/><Relationship Id="rId5" Type="http://schemas.openxmlformats.org/officeDocument/2006/relationships/image" Target="../media/image5.png"/><Relationship Id="rId10" Type="http://schemas.openxmlformats.org/officeDocument/2006/relationships/image" Target="../media/image31.png"/><Relationship Id="rId4" Type="http://schemas.openxmlformats.org/officeDocument/2006/relationships/image" Target="../media/image4.png"/><Relationship Id="rId9" Type="http://schemas.openxmlformats.org/officeDocument/2006/relationships/image" Target="../media/image11.png"/></Relationships>
</file>

<file path=ppt/slides/_rels/slide45.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33.png"/><Relationship Id="rId7" Type="http://schemas.openxmlformats.org/officeDocument/2006/relationships/image" Target="../media/image5.png"/><Relationship Id="rId2" Type="http://schemas.openxmlformats.org/officeDocument/2006/relationships/notesSlide" Target="../notesSlides/notesSlide45.xml"/><Relationship Id="rId1" Type="http://schemas.openxmlformats.org/officeDocument/2006/relationships/slideLayout" Target="../slideLayouts/slideLayout15.xml"/><Relationship Id="rId6" Type="http://schemas.openxmlformats.org/officeDocument/2006/relationships/image" Target="../media/image4.png"/><Relationship Id="rId11" Type="http://schemas.openxmlformats.org/officeDocument/2006/relationships/image" Target="../media/image11.png"/><Relationship Id="rId5" Type="http://schemas.openxmlformats.org/officeDocument/2006/relationships/image" Target="../media/image12.png"/><Relationship Id="rId10" Type="http://schemas.openxmlformats.org/officeDocument/2006/relationships/image" Target="../media/image8.png"/><Relationship Id="rId4" Type="http://schemas.openxmlformats.org/officeDocument/2006/relationships/image" Target="../media/image34.png"/><Relationship Id="rId9" Type="http://schemas.openxmlformats.org/officeDocument/2006/relationships/image" Target="../media/image13.png"/></Relationships>
</file>

<file path=ppt/slides/_rels/slide46.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5.png"/><Relationship Id="rId7" Type="http://schemas.openxmlformats.org/officeDocument/2006/relationships/image" Target="../media/image6.png"/><Relationship Id="rId2" Type="http://schemas.openxmlformats.org/officeDocument/2006/relationships/notesSlide" Target="../notesSlides/notesSlide46.xml"/><Relationship Id="rId1" Type="http://schemas.openxmlformats.org/officeDocument/2006/relationships/slideLayout" Target="../slideLayouts/slideLayout13.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8.png"/><Relationship Id="rId9" Type="http://schemas.openxmlformats.org/officeDocument/2006/relationships/image" Target="../media/image13.png"/></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5.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3.xml"/></Relationships>
</file>

<file path=ppt/slides/_rels/slide49.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35.png"/><Relationship Id="rId7" Type="http://schemas.openxmlformats.org/officeDocument/2006/relationships/image" Target="../media/image12.png"/><Relationship Id="rId2" Type="http://schemas.openxmlformats.org/officeDocument/2006/relationships/notesSlide" Target="../notesSlides/notesSlide49.xml"/><Relationship Id="rId1" Type="http://schemas.openxmlformats.org/officeDocument/2006/relationships/slideLayout" Target="../slideLayouts/slideLayout15.xml"/><Relationship Id="rId6" Type="http://schemas.openxmlformats.org/officeDocument/2006/relationships/image" Target="../media/image11.png"/><Relationship Id="rId5" Type="http://schemas.openxmlformats.org/officeDocument/2006/relationships/image" Target="../media/image8.png"/><Relationship Id="rId10" Type="http://schemas.openxmlformats.org/officeDocument/2006/relationships/image" Target="../media/image13.png"/><Relationship Id="rId4" Type="http://schemas.openxmlformats.org/officeDocument/2006/relationships/image" Target="../media/image5.png"/><Relationship Id="rId9" Type="http://schemas.openxmlformats.org/officeDocument/2006/relationships/image" Target="../media/image4.png"/></Relationships>
</file>

<file path=ppt/slides/_rels/slide50.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36.png"/><Relationship Id="rId7" Type="http://schemas.openxmlformats.org/officeDocument/2006/relationships/image" Target="../media/image12.png"/><Relationship Id="rId2" Type="http://schemas.openxmlformats.org/officeDocument/2006/relationships/notesSlide" Target="../notesSlides/notesSlide50.xml"/><Relationship Id="rId1" Type="http://schemas.openxmlformats.org/officeDocument/2006/relationships/slideLayout" Target="../slideLayouts/slideLayout15.xml"/><Relationship Id="rId6" Type="http://schemas.openxmlformats.org/officeDocument/2006/relationships/image" Target="../media/image11.png"/><Relationship Id="rId5" Type="http://schemas.openxmlformats.org/officeDocument/2006/relationships/image" Target="../media/image8.png"/><Relationship Id="rId10" Type="http://schemas.openxmlformats.org/officeDocument/2006/relationships/image" Target="../media/image13.png"/><Relationship Id="rId4" Type="http://schemas.openxmlformats.org/officeDocument/2006/relationships/image" Target="../media/image5.png"/><Relationship Id="rId9" Type="http://schemas.openxmlformats.org/officeDocument/2006/relationships/image" Target="../media/image4.png"/></Relationships>
</file>

<file path=ppt/slides/_rels/slide5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37.png"/><Relationship Id="rId7" Type="http://schemas.openxmlformats.org/officeDocument/2006/relationships/image" Target="../media/image12.png"/><Relationship Id="rId2" Type="http://schemas.openxmlformats.org/officeDocument/2006/relationships/notesSlide" Target="../notesSlides/notesSlide51.xml"/><Relationship Id="rId1" Type="http://schemas.openxmlformats.org/officeDocument/2006/relationships/slideLayout" Target="../slideLayouts/slideLayout15.xml"/><Relationship Id="rId6" Type="http://schemas.openxmlformats.org/officeDocument/2006/relationships/image" Target="../media/image11.png"/><Relationship Id="rId11" Type="http://schemas.openxmlformats.org/officeDocument/2006/relationships/image" Target="../media/image38.png"/><Relationship Id="rId5" Type="http://schemas.openxmlformats.org/officeDocument/2006/relationships/image" Target="../media/image8.png"/><Relationship Id="rId10" Type="http://schemas.openxmlformats.org/officeDocument/2006/relationships/image" Target="../media/image13.png"/><Relationship Id="rId4" Type="http://schemas.openxmlformats.org/officeDocument/2006/relationships/image" Target="../media/image5.png"/><Relationship Id="rId9" Type="http://schemas.openxmlformats.org/officeDocument/2006/relationships/image" Target="../media/image4.png"/></Relationships>
</file>

<file path=ppt/slides/_rels/slide52.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5.png"/><Relationship Id="rId7" Type="http://schemas.openxmlformats.org/officeDocument/2006/relationships/image" Target="../media/image6.png"/><Relationship Id="rId2" Type="http://schemas.openxmlformats.org/officeDocument/2006/relationships/notesSlide" Target="../notesSlides/notesSlide52.xml"/><Relationship Id="rId1" Type="http://schemas.openxmlformats.org/officeDocument/2006/relationships/slideLayout" Target="../slideLayouts/slideLayout15.xml"/><Relationship Id="rId6" Type="http://schemas.openxmlformats.org/officeDocument/2006/relationships/image" Target="../media/image12.png"/><Relationship Id="rId11" Type="http://schemas.openxmlformats.org/officeDocument/2006/relationships/image" Target="../media/image40.png"/><Relationship Id="rId5" Type="http://schemas.openxmlformats.org/officeDocument/2006/relationships/image" Target="../media/image11.png"/><Relationship Id="rId10" Type="http://schemas.openxmlformats.org/officeDocument/2006/relationships/image" Target="../media/image39.png"/><Relationship Id="rId4" Type="http://schemas.openxmlformats.org/officeDocument/2006/relationships/image" Target="../media/image8.png"/><Relationship Id="rId9" Type="http://schemas.openxmlformats.org/officeDocument/2006/relationships/image" Target="../media/image13.png"/></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3.xml"/></Relationships>
</file>

<file path=ppt/slides/_rels/slide5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4.xml"/><Relationship Id="rId1" Type="http://schemas.openxmlformats.org/officeDocument/2006/relationships/slideLayout" Target="../slideLayouts/slideLayout15.xml"/><Relationship Id="rId4" Type="http://schemas.openxmlformats.org/officeDocument/2006/relationships/image" Target="../media/image41.png"/></Relationships>
</file>

<file path=ppt/slides/_rels/slide5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5.xml"/><Relationship Id="rId1" Type="http://schemas.openxmlformats.org/officeDocument/2006/relationships/slideLayout" Target="../slideLayouts/slideLayout13.xml"/><Relationship Id="rId4" Type="http://schemas.openxmlformats.org/officeDocument/2006/relationships/image" Target="../media/image11.png"/></Relationships>
</file>

<file path=ppt/slides/_rels/slide5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6.xml"/><Relationship Id="rId1" Type="http://schemas.openxmlformats.org/officeDocument/2006/relationships/slideLayout" Target="../slideLayouts/slideLayout13.xml"/><Relationship Id="rId5" Type="http://schemas.openxmlformats.org/officeDocument/2006/relationships/image" Target="../media/image42.png"/><Relationship Id="rId4" Type="http://schemas.openxmlformats.org/officeDocument/2006/relationships/image" Target="../media/image11.png"/></Relationships>
</file>

<file path=ppt/slides/_rels/slide57.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57.xml"/><Relationship Id="rId1" Type="http://schemas.openxmlformats.org/officeDocument/2006/relationships/slideLayout" Target="../slideLayouts/slideLayout13.xml"/><Relationship Id="rId5" Type="http://schemas.openxmlformats.org/officeDocument/2006/relationships/image" Target="../media/image11.png"/><Relationship Id="rId4" Type="http://schemas.openxmlformats.org/officeDocument/2006/relationships/image" Target="../media/image12.png"/></Relationships>
</file>

<file path=ppt/slides/_rels/slide58.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44.png"/><Relationship Id="rId7" Type="http://schemas.openxmlformats.org/officeDocument/2006/relationships/image" Target="../media/image12.png"/><Relationship Id="rId2" Type="http://schemas.openxmlformats.org/officeDocument/2006/relationships/notesSlide" Target="../notesSlides/notesSlide58.xml"/><Relationship Id="rId1" Type="http://schemas.openxmlformats.org/officeDocument/2006/relationships/slideLayout" Target="../slideLayouts/slideLayout13.xml"/><Relationship Id="rId6" Type="http://schemas.openxmlformats.org/officeDocument/2006/relationships/image" Target="../media/image11.png"/><Relationship Id="rId5" Type="http://schemas.openxmlformats.org/officeDocument/2006/relationships/image" Target="../media/image8.png"/><Relationship Id="rId10" Type="http://schemas.openxmlformats.org/officeDocument/2006/relationships/image" Target="../media/image13.png"/><Relationship Id="rId4" Type="http://schemas.openxmlformats.org/officeDocument/2006/relationships/image" Target="../media/image5.png"/><Relationship Id="rId9" Type="http://schemas.openxmlformats.org/officeDocument/2006/relationships/image" Target="../media/image4.png"/></Relationships>
</file>

<file path=ppt/slides/_rels/slide5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9.xml"/><Relationship Id="rId1" Type="http://schemas.openxmlformats.org/officeDocument/2006/relationships/slideLayout" Target="../slideLayouts/slideLayout13.xml"/><Relationship Id="rId5" Type="http://schemas.openxmlformats.org/officeDocument/2006/relationships/image" Target="../media/image45.png"/><Relationship Id="rId4" Type="http://schemas.openxmlformats.org/officeDocument/2006/relationships/image" Target="../media/image11.png"/></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5.xml"/></Relationships>
</file>

<file path=ppt/slides/_rels/slide61.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61.xml"/><Relationship Id="rId1" Type="http://schemas.openxmlformats.org/officeDocument/2006/relationships/slideLayout" Target="../slideLayouts/slideLayout13.xml"/><Relationship Id="rId4" Type="http://schemas.openxmlformats.org/officeDocument/2006/relationships/image" Target="../media/image47.png"/></Relationships>
</file>

<file path=ppt/slides/_rels/slide62.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62.xml"/><Relationship Id="rId1" Type="http://schemas.openxmlformats.org/officeDocument/2006/relationships/slideLayout" Target="../slideLayouts/slideLayout13.xml"/></Relationships>
</file>

<file path=ppt/slides/_rels/slide63.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63.xml"/><Relationship Id="rId1" Type="http://schemas.openxmlformats.org/officeDocument/2006/relationships/slideLayout" Target="../slideLayouts/slideLayout15.xml"/></Relationships>
</file>

<file path=ppt/slides/_rels/slide64.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64.xml"/><Relationship Id="rId1" Type="http://schemas.openxmlformats.org/officeDocument/2006/relationships/slideLayout" Target="../slideLayouts/slideLayout13.xml"/><Relationship Id="rId5" Type="http://schemas.openxmlformats.org/officeDocument/2006/relationships/image" Target="../media/image52.png"/><Relationship Id="rId4" Type="http://schemas.openxmlformats.org/officeDocument/2006/relationships/image" Target="../media/image51.png"/></Relationships>
</file>

<file path=ppt/slides/_rels/slide65.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5.png"/><Relationship Id="rId7" Type="http://schemas.openxmlformats.org/officeDocument/2006/relationships/image" Target="../media/image6.png"/><Relationship Id="rId2" Type="http://schemas.openxmlformats.org/officeDocument/2006/relationships/notesSlide" Target="../notesSlides/notesSlide65.xml"/><Relationship Id="rId1" Type="http://schemas.openxmlformats.org/officeDocument/2006/relationships/slideLayout" Target="../slideLayouts/slideLayout13.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8.png"/><Relationship Id="rId9" Type="http://schemas.openxmlformats.org/officeDocument/2006/relationships/image" Target="../media/image10.png"/></Relationships>
</file>

<file path=ppt/slides/_rels/slide66.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66.xml"/><Relationship Id="rId1" Type="http://schemas.openxmlformats.org/officeDocument/2006/relationships/slideLayout" Target="../slideLayouts/slideLayout13.xml"/><Relationship Id="rId4" Type="http://schemas.openxmlformats.org/officeDocument/2006/relationships/image" Target="../media/image54.png"/></Relationships>
</file>

<file path=ppt/slides/_rels/slide67.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67.xml"/><Relationship Id="rId1" Type="http://schemas.openxmlformats.org/officeDocument/2006/relationships/slideLayout" Target="../slideLayouts/slideLayout13.xml"/><Relationship Id="rId4" Type="http://schemas.openxmlformats.org/officeDocument/2006/relationships/image" Target="../media/image56.png"/></Relationships>
</file>

<file path=ppt/slides/_rels/slide68.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68.xml"/><Relationship Id="rId1" Type="http://schemas.openxmlformats.org/officeDocument/2006/relationships/slideLayout" Target="../slideLayouts/slideLayout13.xml"/><Relationship Id="rId4" Type="http://schemas.openxmlformats.org/officeDocument/2006/relationships/image" Target="../media/image58.png"/></Relationships>
</file>

<file path=ppt/slides/_rels/slide69.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69.xml"/><Relationship Id="rId1" Type="http://schemas.openxmlformats.org/officeDocument/2006/relationships/slideLayout" Target="../slideLayouts/slideLayout13.xml"/><Relationship Id="rId4" Type="http://schemas.openxmlformats.org/officeDocument/2006/relationships/image" Target="../media/image60.png"/></Relationships>
</file>

<file path=ppt/slides/_rels/slide70.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70.xml"/><Relationship Id="rId1" Type="http://schemas.openxmlformats.org/officeDocument/2006/relationships/slideLayout" Target="../slideLayouts/slideLayout15.xml"/><Relationship Id="rId5" Type="http://schemas.openxmlformats.org/officeDocument/2006/relationships/image" Target="../media/image63.png"/><Relationship Id="rId4" Type="http://schemas.openxmlformats.org/officeDocument/2006/relationships/image" Target="../media/image62.png"/></Relationships>
</file>

<file path=ppt/slides/_rels/slide71.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71.xml"/><Relationship Id="rId1" Type="http://schemas.openxmlformats.org/officeDocument/2006/relationships/slideLayout" Target="../slideLayouts/slideLayout13.xml"/><Relationship Id="rId4" Type="http://schemas.openxmlformats.org/officeDocument/2006/relationships/image" Target="../media/image65.png"/></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9.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0" name="文本占位符 49"/>
          <p:cNvSpPr>
            <a:spLocks noGrp="1"/>
          </p:cNvSpPr>
          <p:nvPr>
            <p:ph type="body" sz="quarter" idx="17"/>
          </p:nvPr>
        </p:nvSpPr>
        <p:spPr/>
        <p:txBody>
          <a:bodyPr/>
          <a:lstStyle/>
          <a:p>
            <a:endParaRPr lang="zh-CN" altLang="en-US" dirty="0"/>
          </a:p>
        </p:txBody>
      </p:sp>
      <p:sp>
        <p:nvSpPr>
          <p:cNvPr id="51" name="文本占位符 50"/>
          <p:cNvSpPr>
            <a:spLocks noGrp="1"/>
          </p:cNvSpPr>
          <p:nvPr>
            <p:ph type="body" sz="quarter" idx="18"/>
          </p:nvPr>
        </p:nvSpPr>
        <p:spPr/>
        <p:txBody>
          <a:bodyPr/>
          <a:lstStyle/>
          <a:p>
            <a:r>
              <a:rPr lang="en-US" altLang="zh-CN" dirty="0" err="1" smtClean="0"/>
              <a:t>Datacom</a:t>
            </a:r>
            <a:endParaRPr lang="zh-CN" altLang="en-US" dirty="0"/>
          </a:p>
        </p:txBody>
      </p:sp>
      <p:sp>
        <p:nvSpPr>
          <p:cNvPr id="52" name="文本占位符 51"/>
          <p:cNvSpPr>
            <a:spLocks noGrp="1"/>
          </p:cNvSpPr>
          <p:nvPr>
            <p:ph type="body" sz="quarter" idx="19"/>
          </p:nvPr>
        </p:nvSpPr>
        <p:spPr/>
        <p:txBody>
          <a:bodyPr/>
          <a:lstStyle/>
          <a:p>
            <a:r>
              <a:rPr lang="zh-CN" altLang="en-US" dirty="0"/>
              <a:t>通用</a:t>
            </a:r>
            <a:endParaRPr lang="zh-CN" altLang="en-US" dirty="0"/>
          </a:p>
        </p:txBody>
      </p:sp>
      <p:sp>
        <p:nvSpPr>
          <p:cNvPr id="53" name="文本占位符 52"/>
          <p:cNvSpPr>
            <a:spLocks noGrp="1"/>
          </p:cNvSpPr>
          <p:nvPr>
            <p:ph type="body" sz="quarter" idx="20"/>
          </p:nvPr>
        </p:nvSpPr>
        <p:spPr/>
        <p:txBody>
          <a:bodyPr/>
          <a:lstStyle/>
          <a:p>
            <a:r>
              <a:rPr lang="en-US" altLang="zh-CN" dirty="0" smtClean="0"/>
              <a:t>V1.0</a:t>
            </a:r>
            <a:endParaRPr lang="zh-CN" altLang="en-US" dirty="0"/>
          </a:p>
        </p:txBody>
      </p:sp>
      <p:sp>
        <p:nvSpPr>
          <p:cNvPr id="46" name="文本占位符 45"/>
          <p:cNvSpPr>
            <a:spLocks noGrp="1"/>
          </p:cNvSpPr>
          <p:nvPr>
            <p:ph type="body" sz="quarter" idx="13"/>
          </p:nvPr>
        </p:nvSpPr>
        <p:spPr/>
        <p:txBody>
          <a:bodyPr/>
          <a:lstStyle/>
          <a:p>
            <a:r>
              <a:rPr lang="zh-CN" altLang="en-US" dirty="0"/>
              <a:t>卢玥玥</a:t>
            </a:r>
            <a:r>
              <a:rPr lang="en-US" altLang="zh-CN" dirty="0" smtClean="0"/>
              <a:t>/WX445705</a:t>
            </a:r>
            <a:endParaRPr lang="en-US" altLang="zh-CN" dirty="0"/>
          </a:p>
        </p:txBody>
      </p:sp>
      <p:sp>
        <p:nvSpPr>
          <p:cNvPr id="47" name="文本占位符 46"/>
          <p:cNvSpPr>
            <a:spLocks noGrp="1"/>
          </p:cNvSpPr>
          <p:nvPr>
            <p:ph type="body" sz="quarter" idx="14"/>
          </p:nvPr>
        </p:nvSpPr>
        <p:spPr/>
        <p:txBody>
          <a:bodyPr/>
          <a:lstStyle/>
          <a:p>
            <a:r>
              <a:rPr lang="en-US" altLang="zh-CN" dirty="0" smtClean="0"/>
              <a:t>2020.09.28</a:t>
            </a:r>
            <a:endParaRPr lang="en-US" altLang="zh-CN" dirty="0"/>
          </a:p>
        </p:txBody>
      </p:sp>
      <p:sp>
        <p:nvSpPr>
          <p:cNvPr id="48" name="文本占位符 47"/>
          <p:cNvSpPr>
            <a:spLocks noGrp="1"/>
          </p:cNvSpPr>
          <p:nvPr>
            <p:ph type="body" sz="quarter" idx="15"/>
          </p:nvPr>
        </p:nvSpPr>
        <p:spPr/>
        <p:txBody>
          <a:bodyPr/>
          <a:lstStyle/>
          <a:p>
            <a:r>
              <a:rPr lang="zh-CN" altLang="en-US" dirty="0"/>
              <a:t>朱仕耿</a:t>
            </a:r>
            <a:r>
              <a:rPr lang="en-US" altLang="zh-CN" dirty="0" smtClean="0"/>
              <a:t>/00261992</a:t>
            </a:r>
            <a:endParaRPr lang="en-US" altLang="zh-CN" dirty="0"/>
          </a:p>
        </p:txBody>
      </p:sp>
      <p:sp>
        <p:nvSpPr>
          <p:cNvPr id="49" name="文本占位符 48"/>
          <p:cNvSpPr>
            <a:spLocks noGrp="1"/>
          </p:cNvSpPr>
          <p:nvPr>
            <p:ph type="body" sz="quarter" idx="16"/>
          </p:nvPr>
        </p:nvSpPr>
        <p:spPr/>
        <p:txBody>
          <a:bodyPr/>
          <a:lstStyle/>
          <a:p>
            <a:r>
              <a:rPr lang="zh-CN" altLang="en-US" dirty="0" smtClean="0"/>
              <a:t>新开发</a:t>
            </a:r>
            <a:endParaRPr lang="zh-CN" altLang="en-US" dirty="0"/>
          </a:p>
        </p:txBody>
      </p:sp>
      <p:sp>
        <p:nvSpPr>
          <p:cNvPr id="54" name="文本占位符 53"/>
          <p:cNvSpPr>
            <a:spLocks noGrp="1"/>
          </p:cNvSpPr>
          <p:nvPr>
            <p:ph type="body" sz="quarter" idx="21"/>
          </p:nvPr>
        </p:nvSpPr>
        <p:spPr/>
        <p:txBody>
          <a:bodyPr/>
          <a:lstStyle/>
          <a:p>
            <a:r>
              <a:rPr lang="zh-CN" altLang="en-US" dirty="0"/>
              <a:t>卢玥玥</a:t>
            </a:r>
            <a:r>
              <a:rPr lang="en-US" altLang="zh-CN" dirty="0"/>
              <a:t>/</a:t>
            </a:r>
            <a:r>
              <a:rPr lang="en-US" altLang="zh-CN" dirty="0" smtClean="0"/>
              <a:t>WX445705</a:t>
            </a:r>
            <a:endParaRPr lang="en-US" altLang="zh-CN" dirty="0"/>
          </a:p>
        </p:txBody>
      </p:sp>
      <p:sp>
        <p:nvSpPr>
          <p:cNvPr id="55" name="文本占位符 54"/>
          <p:cNvSpPr>
            <a:spLocks noGrp="1"/>
          </p:cNvSpPr>
          <p:nvPr>
            <p:ph type="body" sz="quarter" idx="22"/>
          </p:nvPr>
        </p:nvSpPr>
        <p:spPr/>
        <p:txBody>
          <a:bodyPr/>
          <a:lstStyle/>
          <a:p>
            <a:r>
              <a:rPr lang="en-US" altLang="zh-CN" dirty="0" smtClean="0"/>
              <a:t>2021.09.23</a:t>
            </a:r>
            <a:endParaRPr lang="zh-CN" altLang="en-US" dirty="0"/>
          </a:p>
        </p:txBody>
      </p:sp>
      <p:sp>
        <p:nvSpPr>
          <p:cNvPr id="56" name="文本占位符 55"/>
          <p:cNvSpPr>
            <a:spLocks noGrp="1"/>
          </p:cNvSpPr>
          <p:nvPr>
            <p:ph type="body" sz="quarter" idx="23"/>
          </p:nvPr>
        </p:nvSpPr>
        <p:spPr/>
        <p:txBody>
          <a:bodyPr/>
          <a:lstStyle/>
          <a:p>
            <a:r>
              <a:rPr lang="zh-CN" altLang="en-US" dirty="0" smtClean="0"/>
              <a:t>施淼淼</a:t>
            </a:r>
            <a:r>
              <a:rPr lang="en-US" altLang="zh-CN" dirty="0"/>
              <a:t>/</a:t>
            </a:r>
            <a:r>
              <a:rPr lang="en-US" altLang="zh-CN" dirty="0" smtClean="0"/>
              <a:t>WX791350 &amp; </a:t>
            </a:r>
            <a:r>
              <a:rPr lang="zh-CN" altLang="en-US" dirty="0" smtClean="0"/>
              <a:t>吴越</a:t>
            </a:r>
            <a:r>
              <a:rPr lang="en-US" altLang="zh-CN" dirty="0"/>
              <a:t>/WX291773</a:t>
            </a:r>
            <a:endParaRPr lang="zh-CN" altLang="en-US" dirty="0"/>
          </a:p>
        </p:txBody>
      </p:sp>
      <p:sp>
        <p:nvSpPr>
          <p:cNvPr id="57" name="文本占位符 56"/>
          <p:cNvSpPr>
            <a:spLocks noGrp="1"/>
          </p:cNvSpPr>
          <p:nvPr>
            <p:ph type="body" sz="quarter" idx="24"/>
          </p:nvPr>
        </p:nvSpPr>
        <p:spPr/>
        <p:txBody>
          <a:bodyPr/>
          <a:lstStyle/>
          <a:p>
            <a:r>
              <a:rPr lang="zh-CN" altLang="en-US" dirty="0" smtClean="0"/>
              <a:t>优化</a:t>
            </a:r>
            <a:endParaRPr lang="zh-CN" altLang="en-US" dirty="0"/>
          </a:p>
        </p:txBody>
      </p:sp>
      <p:sp>
        <p:nvSpPr>
          <p:cNvPr id="58" name="文本占位符 57"/>
          <p:cNvSpPr>
            <a:spLocks noGrp="1"/>
          </p:cNvSpPr>
          <p:nvPr>
            <p:ph type="body" sz="quarter" idx="25"/>
          </p:nvPr>
        </p:nvSpPr>
        <p:spPr/>
        <p:txBody>
          <a:bodyPr/>
          <a:lstStyle/>
          <a:p>
            <a:endParaRPr lang="zh-CN" altLang="en-US"/>
          </a:p>
        </p:txBody>
      </p:sp>
      <p:sp>
        <p:nvSpPr>
          <p:cNvPr id="59" name="文本占位符 58"/>
          <p:cNvSpPr>
            <a:spLocks noGrp="1"/>
          </p:cNvSpPr>
          <p:nvPr>
            <p:ph type="body" sz="quarter" idx="26"/>
          </p:nvPr>
        </p:nvSpPr>
        <p:spPr/>
        <p:txBody>
          <a:bodyPr/>
          <a:lstStyle/>
          <a:p>
            <a:endParaRPr lang="zh-CN" altLang="en-US"/>
          </a:p>
        </p:txBody>
      </p:sp>
      <p:sp>
        <p:nvSpPr>
          <p:cNvPr id="60" name="文本占位符 59"/>
          <p:cNvSpPr>
            <a:spLocks noGrp="1"/>
          </p:cNvSpPr>
          <p:nvPr>
            <p:ph type="body" sz="quarter" idx="27"/>
          </p:nvPr>
        </p:nvSpPr>
        <p:spPr/>
        <p:txBody>
          <a:bodyPr/>
          <a:lstStyle/>
          <a:p>
            <a:endParaRPr lang="zh-CN" altLang="en-US"/>
          </a:p>
        </p:txBody>
      </p:sp>
      <p:sp>
        <p:nvSpPr>
          <p:cNvPr id="61" name="文本占位符 60"/>
          <p:cNvSpPr>
            <a:spLocks noGrp="1"/>
          </p:cNvSpPr>
          <p:nvPr>
            <p:ph type="body" sz="quarter" idx="28"/>
          </p:nvPr>
        </p:nvSpPr>
        <p:spPr/>
        <p:txBody>
          <a:bodyPr/>
          <a:lstStyle/>
          <a:p>
            <a:endParaRPr lang="zh-CN" altLang="en-US"/>
          </a:p>
        </p:txBody>
      </p:sp>
      <p:sp>
        <p:nvSpPr>
          <p:cNvPr id="62" name="文本占位符 61"/>
          <p:cNvSpPr>
            <a:spLocks noGrp="1"/>
          </p:cNvSpPr>
          <p:nvPr>
            <p:ph type="body" sz="quarter" idx="29"/>
          </p:nvPr>
        </p:nvSpPr>
        <p:spPr/>
        <p:txBody>
          <a:bodyPr/>
          <a:lstStyle/>
          <a:p>
            <a:endParaRPr lang="zh-CN" altLang="en-US"/>
          </a:p>
        </p:txBody>
      </p:sp>
      <p:sp>
        <p:nvSpPr>
          <p:cNvPr id="63" name="文本占位符 62"/>
          <p:cNvSpPr>
            <a:spLocks noGrp="1"/>
          </p:cNvSpPr>
          <p:nvPr>
            <p:ph type="body" sz="quarter" idx="30"/>
          </p:nvPr>
        </p:nvSpPr>
        <p:spPr/>
        <p:txBody>
          <a:bodyPr/>
          <a:lstStyle/>
          <a:p>
            <a:endParaRPr lang="zh-CN" altLang="en-US"/>
          </a:p>
        </p:txBody>
      </p:sp>
      <p:sp>
        <p:nvSpPr>
          <p:cNvPr id="64" name="文本占位符 63"/>
          <p:cNvSpPr>
            <a:spLocks noGrp="1"/>
          </p:cNvSpPr>
          <p:nvPr>
            <p:ph type="body" sz="quarter" idx="31"/>
          </p:nvPr>
        </p:nvSpPr>
        <p:spPr/>
        <p:txBody>
          <a:bodyPr/>
          <a:lstStyle/>
          <a:p>
            <a:endParaRPr lang="zh-CN" altLang="en-US"/>
          </a:p>
        </p:txBody>
      </p:sp>
      <p:sp>
        <p:nvSpPr>
          <p:cNvPr id="65" name="文本占位符 64"/>
          <p:cNvSpPr>
            <a:spLocks noGrp="1"/>
          </p:cNvSpPr>
          <p:nvPr>
            <p:ph type="body" sz="quarter" idx="32"/>
          </p:nvPr>
        </p:nvSpPr>
        <p:spPr/>
        <p:txBody>
          <a:bodyPr/>
          <a:lstStyle/>
          <a:p>
            <a:endParaRPr lang="zh-CN" altLang="en-US"/>
          </a:p>
        </p:txBody>
      </p:sp>
    </p:spTree>
    <p:extLst>
      <p:ext uri="{BB962C8B-B14F-4D97-AF65-F5344CB8AC3E}">
        <p14:creationId xmlns:p14="http://schemas.microsoft.com/office/powerpoint/2010/main" val="114970015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ctrTitle"/>
          </p:nvPr>
        </p:nvSpPr>
        <p:spPr/>
        <p:txBody>
          <a:bodyPr/>
          <a:lstStyle/>
          <a:p>
            <a:r>
              <a:rPr lang="zh-CN" altLang="en-US" dirty="0" smtClean="0"/>
              <a:t>虚拟化园区网络部署指南</a:t>
            </a:r>
            <a:endParaRPr lang="zh-CN" altLang="en-US" dirty="0"/>
          </a:p>
        </p:txBody>
      </p:sp>
    </p:spTree>
    <p:extLst>
      <p:ext uri="{BB962C8B-B14F-4D97-AF65-F5344CB8AC3E}">
        <p14:creationId xmlns:p14="http://schemas.microsoft.com/office/powerpoint/2010/main" val="208028485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a:xfrm>
            <a:off x="1019174" y="1844675"/>
            <a:ext cx="10153651" cy="4199074"/>
          </a:xfrm>
        </p:spPr>
        <p:txBody>
          <a:bodyPr/>
          <a:lstStyle/>
          <a:p>
            <a:r>
              <a:rPr lang="zh-CN" altLang="en-US" sz="2000" dirty="0" smtClean="0"/>
              <a:t>华为</a:t>
            </a:r>
            <a:r>
              <a:rPr lang="en-US" altLang="zh-CN" sz="2000" dirty="0" err="1" smtClean="0"/>
              <a:t>CloudCampus</a:t>
            </a:r>
            <a:r>
              <a:rPr lang="zh-CN" altLang="en-US" sz="2000" dirty="0" smtClean="0"/>
              <a:t>解决方案基于智简网络意图驱动的理念，在云和</a:t>
            </a:r>
            <a:r>
              <a:rPr lang="en-US" altLang="zh-CN" sz="2000" dirty="0" smtClean="0"/>
              <a:t>SDN</a:t>
            </a:r>
            <a:r>
              <a:rPr lang="zh-CN" altLang="en-US" sz="2000" dirty="0" smtClean="0"/>
              <a:t>基础上，引入大数据分析和</a:t>
            </a:r>
            <a:r>
              <a:rPr lang="en-US" altLang="zh-CN" sz="2000" dirty="0" smtClean="0"/>
              <a:t>AI</a:t>
            </a:r>
            <a:r>
              <a:rPr lang="zh-CN" altLang="en-US" sz="2000" dirty="0" smtClean="0"/>
              <a:t>等技术，帮助企业构建一张智能、极简、融合、开放和安全的网络。</a:t>
            </a:r>
          </a:p>
          <a:p>
            <a:r>
              <a:rPr lang="zh-CN" altLang="en-US" sz="2000" dirty="0" smtClean="0"/>
              <a:t>区别于传统园区关注独立的单台设备，虚拟化网络关注全网的整体业务体验，通过</a:t>
            </a:r>
            <a:r>
              <a:rPr lang="en-US" altLang="zh-CN" sz="2000" dirty="0" err="1" smtClean="0"/>
              <a:t>iMaster</a:t>
            </a:r>
            <a:r>
              <a:rPr lang="en-US" altLang="zh-CN" sz="2000" dirty="0" smtClean="0"/>
              <a:t> NCE-Campus</a:t>
            </a:r>
            <a:r>
              <a:rPr lang="zh-CN" altLang="en-US" sz="2000" dirty="0" smtClean="0"/>
              <a:t>和</a:t>
            </a:r>
            <a:r>
              <a:rPr lang="en-US" altLang="zh-CN" sz="2000" dirty="0" smtClean="0"/>
              <a:t>VXLAN</a:t>
            </a:r>
            <a:r>
              <a:rPr lang="zh-CN" altLang="en-US" sz="2000" dirty="0" smtClean="0"/>
              <a:t>技术，实现网络资源能够任意灵活调度。通过虚拟化技术，将物理网络资源进行池化处理，形成可供业务层任意调动的全网资源池，供</a:t>
            </a:r>
            <a:r>
              <a:rPr lang="en-US" altLang="zh-CN" sz="2000" dirty="0" err="1" smtClean="0"/>
              <a:t>iMaster</a:t>
            </a:r>
            <a:r>
              <a:rPr lang="en-US" altLang="zh-CN" sz="2000" dirty="0" smtClean="0"/>
              <a:t> NCE-Campus</a:t>
            </a:r>
            <a:r>
              <a:rPr lang="zh-CN" altLang="en-US" sz="2000" dirty="0" smtClean="0"/>
              <a:t>灵活分配。同时，在一个物理网络上虚拟出多个逻辑上独立的虚拟网络，分别承载多种不同的业务，拥有相对独立的网络资源，做到了业务与网络解耦，方便业务管理。</a:t>
            </a:r>
          </a:p>
          <a:p>
            <a:r>
              <a:rPr lang="zh-CN" altLang="en-US" sz="2000" dirty="0" smtClean="0"/>
              <a:t>本课程将介绍基于</a:t>
            </a:r>
            <a:r>
              <a:rPr lang="en-US" altLang="zh-CN" sz="2000" dirty="0" smtClean="0"/>
              <a:t>VXLAN</a:t>
            </a:r>
            <a:r>
              <a:rPr lang="zh-CN" altLang="en-US" sz="2000" dirty="0" smtClean="0"/>
              <a:t>的虚拟化园区网络方案部署流程及典型部署案例。</a:t>
            </a:r>
            <a:endParaRPr lang="zh-CN" altLang="en-US" sz="2000" dirty="0"/>
          </a:p>
        </p:txBody>
      </p:sp>
    </p:spTree>
    <p:extLst>
      <p:ext uri="{BB962C8B-B14F-4D97-AF65-F5344CB8AC3E}">
        <p14:creationId xmlns:p14="http://schemas.microsoft.com/office/powerpoint/2010/main" val="83051239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p:txBody>
          <a:bodyPr/>
          <a:lstStyle/>
          <a:p>
            <a:r>
              <a:rPr lang="zh-CN" altLang="en-US" dirty="0" smtClean="0">
                <a:sym typeface="Huawei Sans" panose="020C0503030203020204" pitchFamily="34" charset="0"/>
              </a:rPr>
              <a:t>学习完本课程后，您将能够：</a:t>
            </a:r>
            <a:endParaRPr lang="en-US" altLang="zh-CN" dirty="0" smtClean="0">
              <a:sym typeface="Huawei Sans" panose="020C0503030203020204" pitchFamily="34" charset="0"/>
            </a:endParaRPr>
          </a:p>
          <a:p>
            <a:pPr lvl="1"/>
            <a:r>
              <a:rPr lang="zh-CN" altLang="en-US" dirty="0" smtClean="0"/>
              <a:t>描述</a:t>
            </a:r>
            <a:r>
              <a:rPr lang="en-US" altLang="zh-CN" dirty="0" err="1" smtClean="0"/>
              <a:t>CloudCampus</a:t>
            </a:r>
            <a:r>
              <a:rPr lang="zh-CN" altLang="en-US" dirty="0" smtClean="0"/>
              <a:t>虚拟化园区网络方案部署流程</a:t>
            </a:r>
            <a:endParaRPr lang="en-US" altLang="zh-CN" dirty="0" smtClean="0"/>
          </a:p>
          <a:p>
            <a:pPr lvl="1"/>
            <a:r>
              <a:rPr lang="zh-CN" altLang="en-US" dirty="0" smtClean="0"/>
              <a:t>部署典型</a:t>
            </a:r>
            <a:r>
              <a:rPr lang="en-US" altLang="zh-CN" dirty="0" err="1" smtClean="0"/>
              <a:t>CloudCampus</a:t>
            </a:r>
            <a:r>
              <a:rPr lang="zh-CN" altLang="en-US" dirty="0" smtClean="0"/>
              <a:t>虚拟化园区网络方案</a:t>
            </a:r>
            <a:endParaRPr lang="en-US" altLang="zh-CN" dirty="0" smtClean="0"/>
          </a:p>
          <a:p>
            <a:pPr lvl="1"/>
            <a:r>
              <a:rPr lang="zh-CN" altLang="en-US" dirty="0" smtClean="0"/>
              <a:t>配置</a:t>
            </a:r>
            <a:r>
              <a:rPr lang="en-US" altLang="zh-CN" dirty="0" err="1" smtClean="0"/>
              <a:t>iMaster</a:t>
            </a:r>
            <a:r>
              <a:rPr lang="en-US" altLang="zh-CN" dirty="0" smtClean="0"/>
              <a:t> NCE-Campus</a:t>
            </a:r>
            <a:r>
              <a:rPr lang="zh-CN" altLang="en-US" dirty="0" smtClean="0"/>
              <a:t>，完成</a:t>
            </a:r>
            <a:r>
              <a:rPr lang="en-US" altLang="zh-CN" dirty="0" err="1" smtClean="0"/>
              <a:t>CloudCampus</a:t>
            </a:r>
            <a:r>
              <a:rPr lang="zh-CN" altLang="en-US" dirty="0" smtClean="0"/>
              <a:t>虚拟化园区网络管理及维护</a:t>
            </a:r>
            <a:endParaRPr lang="zh-CN" altLang="en-US" dirty="0"/>
          </a:p>
        </p:txBody>
      </p:sp>
    </p:spTree>
    <p:extLst>
      <p:ext uri="{BB962C8B-B14F-4D97-AF65-F5344CB8AC3E}">
        <p14:creationId xmlns:p14="http://schemas.microsoft.com/office/powerpoint/2010/main" val="140518448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bwMode="gray"/>
        <p:txBody>
          <a:bodyPr/>
          <a:lstStyle/>
          <a:p>
            <a:r>
              <a:rPr lang="zh-CN" altLang="en-US" b="1" dirty="0" smtClean="0"/>
              <a:t>虚拟化园区网络部署规划</a:t>
            </a:r>
            <a:endParaRPr lang="en-US" altLang="zh-CN" b="1" dirty="0" smtClean="0"/>
          </a:p>
          <a:p>
            <a:r>
              <a:rPr lang="zh-CN" altLang="en-US" dirty="0" smtClean="0">
                <a:solidFill>
                  <a:schemeClr val="bg1">
                    <a:lumMod val="50000"/>
                  </a:schemeClr>
                </a:solidFill>
              </a:rPr>
              <a:t>虚拟化园区网络部署流程及部署指导</a:t>
            </a:r>
            <a:endParaRPr lang="en-US" altLang="zh-CN" dirty="0" smtClean="0">
              <a:solidFill>
                <a:schemeClr val="bg1">
                  <a:lumMod val="50000"/>
                </a:schemeClr>
              </a:solidFill>
            </a:endParaRPr>
          </a:p>
          <a:p>
            <a:pPr lvl="1"/>
            <a:r>
              <a:rPr lang="zh-CN" altLang="en-US" dirty="0" smtClean="0">
                <a:solidFill>
                  <a:schemeClr val="bg1">
                    <a:lumMod val="50000"/>
                  </a:schemeClr>
                </a:solidFill>
              </a:rPr>
              <a:t>部署流程</a:t>
            </a:r>
          </a:p>
          <a:p>
            <a:pPr lvl="1"/>
            <a:r>
              <a:rPr lang="zh-CN" altLang="en-US" dirty="0" smtClean="0">
                <a:solidFill>
                  <a:schemeClr val="bg1">
                    <a:lumMod val="50000"/>
                  </a:schemeClr>
                </a:solidFill>
              </a:rPr>
              <a:t>部署前的准备</a:t>
            </a:r>
          </a:p>
          <a:p>
            <a:pPr lvl="1"/>
            <a:r>
              <a:rPr lang="zh-CN" altLang="en-US" dirty="0" smtClean="0">
                <a:solidFill>
                  <a:schemeClr val="bg1">
                    <a:lumMod val="50000"/>
                  </a:schemeClr>
                </a:solidFill>
              </a:rPr>
              <a:t>部署指导</a:t>
            </a:r>
          </a:p>
        </p:txBody>
      </p:sp>
    </p:spTree>
    <p:extLst>
      <p:ext uri="{BB962C8B-B14F-4D97-AF65-F5344CB8AC3E}">
        <p14:creationId xmlns:p14="http://schemas.microsoft.com/office/powerpoint/2010/main" val="182566824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en-US" altLang="zh-CN" dirty="0" smtClean="0">
                <a:sym typeface="Huawei Sans" panose="020C0503030203020204" pitchFamily="34" charset="0"/>
              </a:rPr>
              <a:t>CloudCampus</a:t>
            </a:r>
            <a:r>
              <a:rPr lang="zh-CN" altLang="en-US" dirty="0" smtClean="0">
                <a:sym typeface="Huawei Sans" panose="020C0503030203020204" pitchFamily="34" charset="0"/>
              </a:rPr>
              <a:t>的三种部署模式</a:t>
            </a:r>
            <a:endParaRPr lang="zh-CN" altLang="en-US" dirty="0">
              <a:sym typeface="Huawei Sans" panose="020C0503030203020204" pitchFamily="34" charset="0"/>
            </a:endParaRPr>
          </a:p>
        </p:txBody>
      </p:sp>
      <p:sp>
        <p:nvSpPr>
          <p:cNvPr id="3" name="矩形 2"/>
          <p:cNvSpPr/>
          <p:nvPr/>
        </p:nvSpPr>
        <p:spPr bwMode="gray">
          <a:xfrm>
            <a:off x="480826" y="4386779"/>
            <a:ext cx="11247283" cy="455115"/>
          </a:xfrm>
          <a:prstGeom prst="rect">
            <a:avLst/>
          </a:prstGeom>
          <a:gradFill>
            <a:gsLst>
              <a:gs pos="0">
                <a:srgbClr val="E6F6F9"/>
              </a:gs>
              <a:gs pos="100000">
                <a:schemeClr val="bg1">
                  <a:alpha val="0"/>
                </a:schemeClr>
              </a:gs>
            </a:gsLst>
            <a:lin ang="0" scaled="1"/>
          </a:gradFill>
          <a:ln w="9525">
            <a:gradFill flip="none" rotWithShape="1">
              <a:gsLst>
                <a:gs pos="32000">
                  <a:srgbClr val="94DAE2"/>
                </a:gs>
                <a:gs pos="100000">
                  <a:schemeClr val="bg1">
                    <a:alpha val="0"/>
                  </a:schemeClr>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lIns="287916" tIns="45705" rIns="91413" bIns="45705" rtlCol="0" anchor="ctr"/>
          <a:lstStyle/>
          <a:p>
            <a:pPr defTabSz="914400"/>
            <a:endParaRPr lang="zh-CN" altLang="en-US" sz="2000">
              <a:solidFill>
                <a:srgbClr val="007FAC"/>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 name="矩形 3"/>
          <p:cNvSpPr/>
          <p:nvPr/>
        </p:nvSpPr>
        <p:spPr bwMode="gray">
          <a:xfrm>
            <a:off x="531532" y="4265522"/>
            <a:ext cx="1371512" cy="697627"/>
          </a:xfrm>
          <a:prstGeom prst="rect">
            <a:avLst/>
          </a:prstGeom>
        </p:spPr>
        <p:txBody>
          <a:bodyPr wrap="square" anchor="ctr" anchorCtr="0">
            <a:noAutofit/>
          </a:bodyPr>
          <a:lstStyle/>
          <a:p>
            <a:pPr algn="ctr">
              <a:tabLst>
                <a:tab pos="457006" algn="l"/>
              </a:tabLst>
            </a:pPr>
            <a:r>
              <a:rPr lang="zh-CN" altLang="en-US" sz="1400">
                <a:solidFill>
                  <a:srgbClr val="30B5C5"/>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运营主体</a:t>
            </a:r>
          </a:p>
        </p:txBody>
      </p:sp>
      <p:sp>
        <p:nvSpPr>
          <p:cNvPr id="5" name="矩形 4"/>
          <p:cNvSpPr/>
          <p:nvPr/>
        </p:nvSpPr>
        <p:spPr bwMode="gray">
          <a:xfrm>
            <a:off x="1938555" y="4455935"/>
            <a:ext cx="3321069" cy="316800"/>
          </a:xfrm>
          <a:prstGeom prst="rect">
            <a:avLst/>
          </a:prstGeom>
          <a:solidFill>
            <a:schemeClr val="bg1"/>
          </a:solidFill>
          <a:ln w="9525">
            <a:solidFill>
              <a:schemeClr val="bg1">
                <a:lumMod val="75000"/>
              </a:schemeClr>
            </a:solidFill>
          </a:ln>
        </p:spPr>
        <p:txBody>
          <a:bodyPr wrap="square" lIns="144000" tIns="144000" rIns="144000" bIns="144000" anchor="ctr" anchorCtr="0">
            <a:noAutofit/>
          </a:bodyPr>
          <a:lstStyle/>
          <a:p>
            <a:pPr defTabSz="1219170">
              <a:defRPr/>
            </a:pPr>
            <a:r>
              <a:rPr lang="zh-CN" altLang="en-US" sz="1400" kern="0" smtClean="0">
                <a:solidFill>
                  <a:prstClr val="black"/>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客户</a:t>
            </a:r>
            <a:endParaRPr lang="zh-CN" altLang="en-US" sz="1400" kern="0">
              <a:solidFill>
                <a:prstClr val="black"/>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6" name="矩形 5"/>
          <p:cNvSpPr/>
          <p:nvPr/>
        </p:nvSpPr>
        <p:spPr bwMode="gray">
          <a:xfrm>
            <a:off x="8386804" y="4455935"/>
            <a:ext cx="3252580" cy="316800"/>
          </a:xfrm>
          <a:prstGeom prst="rect">
            <a:avLst/>
          </a:prstGeom>
          <a:solidFill>
            <a:schemeClr val="bg1"/>
          </a:solidFill>
          <a:ln w="9525">
            <a:solidFill>
              <a:schemeClr val="bg1">
                <a:lumMod val="75000"/>
              </a:schemeClr>
            </a:solidFill>
          </a:ln>
        </p:spPr>
        <p:txBody>
          <a:bodyPr wrap="square" lIns="144000" tIns="144000" rIns="144000" bIns="144000" anchor="ctr" anchorCtr="0">
            <a:noAutofit/>
          </a:bodyPr>
          <a:lstStyle/>
          <a:p>
            <a:pPr defTabSz="1219170">
              <a:defRPr/>
            </a:pPr>
            <a:r>
              <a:rPr lang="en-US" altLang="zh-CN" sz="1400" kern="0">
                <a:solidFill>
                  <a:prstClr val="black"/>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MSP</a:t>
            </a:r>
            <a:r>
              <a:rPr lang="zh-CN" altLang="en-US" sz="1400" kern="0">
                <a:solidFill>
                  <a:prstClr val="black"/>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、运营商</a:t>
            </a:r>
          </a:p>
        </p:txBody>
      </p:sp>
      <p:sp>
        <p:nvSpPr>
          <p:cNvPr id="7" name="矩形 6"/>
          <p:cNvSpPr/>
          <p:nvPr/>
        </p:nvSpPr>
        <p:spPr bwMode="gray">
          <a:xfrm>
            <a:off x="5348350" y="4455935"/>
            <a:ext cx="2949728" cy="316800"/>
          </a:xfrm>
          <a:prstGeom prst="rect">
            <a:avLst/>
          </a:prstGeom>
          <a:solidFill>
            <a:schemeClr val="bg1"/>
          </a:solidFill>
          <a:ln w="9525">
            <a:solidFill>
              <a:schemeClr val="bg1">
                <a:lumMod val="75000"/>
              </a:schemeClr>
            </a:solidFill>
          </a:ln>
        </p:spPr>
        <p:txBody>
          <a:bodyPr wrap="square" lIns="144000" tIns="144000" rIns="144000" bIns="144000" anchor="ctr" anchorCtr="0">
            <a:noAutofit/>
          </a:bodyPr>
          <a:lstStyle/>
          <a:p>
            <a:pPr defTabSz="1219170">
              <a:defRPr/>
            </a:pPr>
            <a:r>
              <a:rPr lang="zh-CN" altLang="en-US" sz="1400" kern="0">
                <a:solidFill>
                  <a:prstClr val="black"/>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华为</a:t>
            </a:r>
          </a:p>
        </p:txBody>
      </p:sp>
      <p:sp>
        <p:nvSpPr>
          <p:cNvPr id="8" name="矩形 7"/>
          <p:cNvSpPr/>
          <p:nvPr/>
        </p:nvSpPr>
        <p:spPr bwMode="gray">
          <a:xfrm>
            <a:off x="480826" y="3532303"/>
            <a:ext cx="11247283" cy="741270"/>
          </a:xfrm>
          <a:prstGeom prst="rect">
            <a:avLst/>
          </a:prstGeom>
          <a:gradFill>
            <a:gsLst>
              <a:gs pos="0">
                <a:srgbClr val="E6F6F9"/>
              </a:gs>
              <a:gs pos="100000">
                <a:schemeClr val="bg1">
                  <a:alpha val="0"/>
                </a:schemeClr>
              </a:gs>
            </a:gsLst>
            <a:lin ang="0" scaled="1"/>
          </a:gradFill>
          <a:ln w="9525">
            <a:gradFill flip="none" rotWithShape="1">
              <a:gsLst>
                <a:gs pos="32000">
                  <a:srgbClr val="94DAE2"/>
                </a:gs>
                <a:gs pos="100000">
                  <a:schemeClr val="bg1">
                    <a:alpha val="0"/>
                  </a:schemeClr>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lIns="287916" tIns="45705" rIns="91413" bIns="45705" rtlCol="0" anchor="ctr"/>
          <a:lstStyle/>
          <a:p>
            <a:pPr defTabSz="914400"/>
            <a:endParaRPr lang="zh-CN" altLang="en-US" sz="2000">
              <a:solidFill>
                <a:srgbClr val="007FAC"/>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 name="矩形 8"/>
          <p:cNvSpPr/>
          <p:nvPr/>
        </p:nvSpPr>
        <p:spPr bwMode="gray">
          <a:xfrm>
            <a:off x="480826" y="2373486"/>
            <a:ext cx="11247283" cy="1062545"/>
          </a:xfrm>
          <a:prstGeom prst="rect">
            <a:avLst/>
          </a:prstGeom>
          <a:gradFill>
            <a:gsLst>
              <a:gs pos="0">
                <a:srgbClr val="E6F6F9"/>
              </a:gs>
              <a:gs pos="100000">
                <a:schemeClr val="bg1">
                  <a:alpha val="0"/>
                </a:schemeClr>
              </a:gs>
            </a:gsLst>
            <a:lin ang="0" scaled="1"/>
          </a:gradFill>
          <a:ln w="9525">
            <a:gradFill flip="none" rotWithShape="1">
              <a:gsLst>
                <a:gs pos="32000">
                  <a:srgbClr val="94DAE2"/>
                </a:gs>
                <a:gs pos="100000">
                  <a:schemeClr val="bg1">
                    <a:alpha val="0"/>
                  </a:schemeClr>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lIns="287916" tIns="45705" rIns="91413" bIns="45705" rtlCol="0" anchor="ctr"/>
          <a:lstStyle/>
          <a:p>
            <a:pPr defTabSz="914400"/>
            <a:endParaRPr lang="zh-CN" altLang="en-US" sz="2000">
              <a:solidFill>
                <a:srgbClr val="007FAC"/>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 name="矩形 9"/>
          <p:cNvSpPr/>
          <p:nvPr/>
        </p:nvSpPr>
        <p:spPr bwMode="gray">
          <a:xfrm>
            <a:off x="1938555" y="1616608"/>
            <a:ext cx="3321069" cy="648715"/>
          </a:xfrm>
          <a:prstGeom prst="rect">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60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本地部署</a:t>
            </a:r>
          </a:p>
          <a:p>
            <a:pPr algn="ctr"/>
            <a:r>
              <a:rPr lang="en-US" altLang="zh-CN" sz="160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On-Premise</a:t>
            </a:r>
          </a:p>
        </p:txBody>
      </p:sp>
      <p:sp>
        <p:nvSpPr>
          <p:cNvPr id="11" name="矩形 10"/>
          <p:cNvSpPr/>
          <p:nvPr/>
        </p:nvSpPr>
        <p:spPr bwMode="gray">
          <a:xfrm>
            <a:off x="8386804" y="1616608"/>
            <a:ext cx="3252580" cy="648715"/>
          </a:xfrm>
          <a:prstGeom prst="rect">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en-US" altLang="zh-CN" sz="160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MSP</a:t>
            </a:r>
            <a:r>
              <a:rPr lang="zh-CN" altLang="en-US" sz="160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自建云部署</a:t>
            </a:r>
          </a:p>
          <a:p>
            <a:pPr algn="ctr"/>
            <a:r>
              <a:rPr lang="en-US" altLang="zh-CN" sz="160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MSP-owned Cloud</a:t>
            </a:r>
          </a:p>
        </p:txBody>
      </p:sp>
      <p:sp>
        <p:nvSpPr>
          <p:cNvPr id="12" name="矩形 11"/>
          <p:cNvSpPr/>
          <p:nvPr/>
        </p:nvSpPr>
        <p:spPr bwMode="gray">
          <a:xfrm>
            <a:off x="531532" y="2555945"/>
            <a:ext cx="1371512" cy="697627"/>
          </a:xfrm>
          <a:prstGeom prst="rect">
            <a:avLst/>
          </a:prstGeom>
        </p:spPr>
        <p:txBody>
          <a:bodyPr wrap="square" anchor="ctr" anchorCtr="0">
            <a:noAutofit/>
          </a:bodyPr>
          <a:lstStyle/>
          <a:p>
            <a:pPr algn="ctr">
              <a:tabLst>
                <a:tab pos="457006" algn="l"/>
              </a:tabLst>
            </a:pPr>
            <a:r>
              <a:rPr lang="zh-CN" altLang="en-US" sz="1400" smtClean="0">
                <a:solidFill>
                  <a:srgbClr val="30B5C5"/>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场景定义</a:t>
            </a:r>
            <a:endParaRPr lang="zh-CN" altLang="en-US" sz="1400">
              <a:solidFill>
                <a:srgbClr val="30B5C5"/>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13" name="矩形 12"/>
          <p:cNvSpPr/>
          <p:nvPr/>
        </p:nvSpPr>
        <p:spPr bwMode="gray">
          <a:xfrm>
            <a:off x="531532" y="3554125"/>
            <a:ext cx="1371512" cy="697627"/>
          </a:xfrm>
          <a:prstGeom prst="rect">
            <a:avLst/>
          </a:prstGeom>
        </p:spPr>
        <p:txBody>
          <a:bodyPr wrap="square" anchor="ctr" anchorCtr="0">
            <a:noAutofit/>
          </a:bodyPr>
          <a:lstStyle/>
          <a:p>
            <a:pPr algn="ctr">
              <a:tabLst>
                <a:tab pos="457006" algn="l"/>
              </a:tabLst>
            </a:pPr>
            <a:r>
              <a:rPr lang="zh-CN" altLang="en-US" sz="1400" smtClean="0">
                <a:solidFill>
                  <a:srgbClr val="30B5C5"/>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目标客户</a:t>
            </a:r>
            <a:endParaRPr lang="zh-CN" altLang="en-US" sz="1400">
              <a:solidFill>
                <a:srgbClr val="30B5C5"/>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14" name="矩形 13"/>
          <p:cNvSpPr/>
          <p:nvPr/>
        </p:nvSpPr>
        <p:spPr bwMode="gray">
          <a:xfrm>
            <a:off x="5348350" y="1616608"/>
            <a:ext cx="2949728" cy="648715"/>
          </a:xfrm>
          <a:prstGeom prst="rect">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60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华为公有云部署</a:t>
            </a:r>
          </a:p>
          <a:p>
            <a:pPr algn="ctr"/>
            <a:r>
              <a:rPr lang="en-US" altLang="zh-CN" sz="160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Huawei Public Cloud</a:t>
            </a:r>
          </a:p>
        </p:txBody>
      </p:sp>
      <p:sp>
        <p:nvSpPr>
          <p:cNvPr id="15" name="矩形 14"/>
          <p:cNvSpPr/>
          <p:nvPr/>
        </p:nvSpPr>
        <p:spPr bwMode="gray">
          <a:xfrm>
            <a:off x="1938555" y="2452824"/>
            <a:ext cx="3321069" cy="903869"/>
          </a:xfrm>
          <a:prstGeom prst="rect">
            <a:avLst/>
          </a:prstGeom>
          <a:solidFill>
            <a:schemeClr val="bg1"/>
          </a:solidFill>
          <a:ln w="9525">
            <a:solidFill>
              <a:schemeClr val="bg1">
                <a:lumMod val="75000"/>
              </a:schemeClr>
            </a:solidFill>
          </a:ln>
        </p:spPr>
        <p:txBody>
          <a:bodyPr wrap="square" lIns="144000" tIns="144000" rIns="144000" bIns="144000" anchor="ctr" anchorCtr="0">
            <a:noAutofit/>
          </a:bodyPr>
          <a:lstStyle/>
          <a:p>
            <a:pPr algn="just" defTabSz="1219170">
              <a:lnSpc>
                <a:spcPts val="2000"/>
              </a:lnSpc>
              <a:defRPr/>
            </a:pPr>
            <a:r>
              <a:rPr lang="zh-CN" altLang="en-US" sz="1400" kern="0" dirty="0">
                <a:solidFill>
                  <a:srgbClr val="C7000B"/>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客户购买并拥有</a:t>
            </a:r>
            <a:r>
              <a:rPr lang="zh-CN" altLang="en-US" sz="1400" kern="0" dirty="0">
                <a:solidFill>
                  <a:prstClr val="black"/>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控制器、分析器等软件实体，软件可以部署在其数据中心或者公有</a:t>
            </a:r>
            <a:r>
              <a:rPr lang="zh-CN" altLang="en-US" sz="1400" kern="0" dirty="0" smtClean="0">
                <a:solidFill>
                  <a:prstClr val="black"/>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云平台上。</a:t>
            </a:r>
            <a:endParaRPr lang="zh-CN" altLang="en-US" sz="1400" kern="0" dirty="0">
              <a:solidFill>
                <a:prstClr val="black"/>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16" name="矩形 15"/>
          <p:cNvSpPr/>
          <p:nvPr/>
        </p:nvSpPr>
        <p:spPr bwMode="gray">
          <a:xfrm>
            <a:off x="8386804" y="2452824"/>
            <a:ext cx="3252580" cy="903869"/>
          </a:xfrm>
          <a:prstGeom prst="rect">
            <a:avLst/>
          </a:prstGeom>
          <a:solidFill>
            <a:schemeClr val="bg1"/>
          </a:solidFill>
          <a:ln w="9525">
            <a:solidFill>
              <a:schemeClr val="bg1">
                <a:lumMod val="75000"/>
              </a:schemeClr>
            </a:solidFill>
          </a:ln>
        </p:spPr>
        <p:txBody>
          <a:bodyPr wrap="square" lIns="144000" tIns="144000" rIns="144000" bIns="144000" anchor="ctr" anchorCtr="0">
            <a:noAutofit/>
          </a:bodyPr>
          <a:lstStyle/>
          <a:p>
            <a:pPr algn="just" defTabSz="1219170">
              <a:lnSpc>
                <a:spcPts val="2000"/>
              </a:lnSpc>
              <a:defRPr/>
            </a:pPr>
            <a:r>
              <a:rPr lang="en-US" altLang="zh-CN" sz="1400" kern="0" dirty="0">
                <a:solidFill>
                  <a:srgbClr val="C7000B"/>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MSP</a:t>
            </a:r>
            <a:r>
              <a:rPr lang="zh-CN" altLang="en-US" sz="1400" kern="0" dirty="0">
                <a:solidFill>
                  <a:srgbClr val="C7000B"/>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运营，</a:t>
            </a:r>
            <a:r>
              <a:rPr lang="en-US" altLang="zh-CN" sz="1400" kern="0" dirty="0">
                <a:solidFill>
                  <a:srgbClr val="C7000B"/>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MSP</a:t>
            </a:r>
            <a:r>
              <a:rPr lang="zh-CN" altLang="en-US" sz="1400" kern="0" dirty="0">
                <a:solidFill>
                  <a:srgbClr val="C7000B"/>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购买控制器、分析器等软件做运营，</a:t>
            </a:r>
            <a:r>
              <a:rPr lang="zh-CN" altLang="en-US" sz="1400" kern="0" dirty="0">
                <a:solidFill>
                  <a:prstClr val="black"/>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软件可以部署在其数据中心或者公有</a:t>
            </a:r>
            <a:r>
              <a:rPr lang="zh-CN" altLang="en-US" sz="1400" kern="0" dirty="0" smtClean="0">
                <a:solidFill>
                  <a:prstClr val="black"/>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云上。</a:t>
            </a:r>
            <a:endParaRPr lang="en-US" altLang="zh-CN" sz="1400" kern="0" dirty="0">
              <a:solidFill>
                <a:prstClr val="black"/>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17" name="矩形 16"/>
          <p:cNvSpPr/>
          <p:nvPr/>
        </p:nvSpPr>
        <p:spPr bwMode="gray">
          <a:xfrm>
            <a:off x="5348350" y="2452824"/>
            <a:ext cx="2949728" cy="903869"/>
          </a:xfrm>
          <a:prstGeom prst="rect">
            <a:avLst/>
          </a:prstGeom>
          <a:solidFill>
            <a:schemeClr val="bg1"/>
          </a:solidFill>
          <a:ln w="9525">
            <a:solidFill>
              <a:schemeClr val="bg1">
                <a:lumMod val="75000"/>
              </a:schemeClr>
            </a:solidFill>
          </a:ln>
        </p:spPr>
        <p:txBody>
          <a:bodyPr wrap="square" lIns="144000" tIns="144000" rIns="144000" bIns="144000" anchor="ctr" anchorCtr="0">
            <a:noAutofit/>
          </a:bodyPr>
          <a:lstStyle/>
          <a:p>
            <a:pPr algn="just" defTabSz="1219170">
              <a:lnSpc>
                <a:spcPts val="2000"/>
              </a:lnSpc>
              <a:defRPr/>
            </a:pPr>
            <a:r>
              <a:rPr lang="zh-CN" altLang="en-US" sz="1400" kern="0" dirty="0">
                <a:solidFill>
                  <a:srgbClr val="C7000B"/>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华为运营</a:t>
            </a:r>
            <a:r>
              <a:rPr lang="zh-CN" altLang="en-US" sz="1400" kern="0" dirty="0">
                <a:solidFill>
                  <a:prstClr val="black"/>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，客户无需购买控制器分析器，</a:t>
            </a:r>
            <a:r>
              <a:rPr lang="zh-CN" altLang="en-US" sz="1400" kern="0" dirty="0">
                <a:solidFill>
                  <a:srgbClr val="C7000B"/>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客户购买华为的云管理网络服务</a:t>
            </a:r>
            <a:r>
              <a:rPr lang="zh-CN" altLang="en-US" sz="1400" kern="0" dirty="0">
                <a:solidFill>
                  <a:prstClr val="black"/>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来管理其</a:t>
            </a:r>
            <a:r>
              <a:rPr lang="zh-CN" altLang="en-US" sz="1400" kern="0" dirty="0" smtClean="0">
                <a:solidFill>
                  <a:prstClr val="black"/>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网络。</a:t>
            </a:r>
            <a:endParaRPr lang="en-US" altLang="zh-CN" sz="1400" kern="0" dirty="0">
              <a:solidFill>
                <a:prstClr val="black"/>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18" name="矩形 17"/>
          <p:cNvSpPr/>
          <p:nvPr/>
        </p:nvSpPr>
        <p:spPr bwMode="gray">
          <a:xfrm>
            <a:off x="1938555" y="3608065"/>
            <a:ext cx="3321069" cy="589746"/>
          </a:xfrm>
          <a:prstGeom prst="rect">
            <a:avLst/>
          </a:prstGeom>
          <a:solidFill>
            <a:schemeClr val="bg1"/>
          </a:solidFill>
          <a:ln w="9525">
            <a:solidFill>
              <a:schemeClr val="bg1">
                <a:lumMod val="75000"/>
              </a:schemeClr>
            </a:solidFill>
          </a:ln>
        </p:spPr>
        <p:txBody>
          <a:bodyPr wrap="square" lIns="144000" tIns="144000" rIns="144000" bIns="144000" anchor="ctr" anchorCtr="0">
            <a:noAutofit/>
          </a:bodyPr>
          <a:lstStyle/>
          <a:p>
            <a:pPr algn="just" defTabSz="1219170">
              <a:lnSpc>
                <a:spcPts val="2000"/>
              </a:lnSpc>
              <a:defRPr/>
            </a:pPr>
            <a:r>
              <a:rPr lang="zh-CN" altLang="en-US" sz="1400" kern="0" dirty="0">
                <a:solidFill>
                  <a:prstClr val="black"/>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政府、教育、大企业、零售、金融等行业</a:t>
            </a:r>
            <a:r>
              <a:rPr lang="zh-CN" altLang="en-US" sz="1400" kern="0" dirty="0" smtClean="0">
                <a:solidFill>
                  <a:prstClr val="black"/>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客户</a:t>
            </a:r>
            <a:endParaRPr lang="zh-CN" altLang="en-US" sz="1400" kern="0" dirty="0">
              <a:solidFill>
                <a:prstClr val="black"/>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19" name="矩形 18"/>
          <p:cNvSpPr/>
          <p:nvPr/>
        </p:nvSpPr>
        <p:spPr bwMode="gray">
          <a:xfrm>
            <a:off x="8386804" y="3608065"/>
            <a:ext cx="3252580" cy="589746"/>
          </a:xfrm>
          <a:prstGeom prst="rect">
            <a:avLst/>
          </a:prstGeom>
          <a:solidFill>
            <a:schemeClr val="bg1"/>
          </a:solidFill>
          <a:ln w="9525">
            <a:solidFill>
              <a:schemeClr val="bg1">
                <a:lumMod val="75000"/>
              </a:schemeClr>
            </a:solidFill>
          </a:ln>
        </p:spPr>
        <p:txBody>
          <a:bodyPr wrap="square" lIns="144000" tIns="144000" rIns="144000" bIns="144000" anchor="ctr" anchorCtr="0">
            <a:noAutofit/>
          </a:bodyPr>
          <a:lstStyle/>
          <a:p>
            <a:pPr algn="just" defTabSz="1219170">
              <a:lnSpc>
                <a:spcPts val="2000"/>
              </a:lnSpc>
              <a:defRPr/>
            </a:pPr>
            <a:r>
              <a:rPr lang="en-US" altLang="zh-CN" sz="1400" kern="0" dirty="0">
                <a:solidFill>
                  <a:prstClr val="black"/>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MSP</a:t>
            </a:r>
            <a:r>
              <a:rPr lang="zh-CN" altLang="en-US" sz="1400" kern="0" dirty="0">
                <a:solidFill>
                  <a:prstClr val="black"/>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、运营商</a:t>
            </a:r>
          </a:p>
        </p:txBody>
      </p:sp>
      <p:sp>
        <p:nvSpPr>
          <p:cNvPr id="20" name="矩形 19"/>
          <p:cNvSpPr/>
          <p:nvPr/>
        </p:nvSpPr>
        <p:spPr bwMode="gray">
          <a:xfrm>
            <a:off x="5348350" y="3608065"/>
            <a:ext cx="2949728" cy="589746"/>
          </a:xfrm>
          <a:prstGeom prst="rect">
            <a:avLst/>
          </a:prstGeom>
          <a:solidFill>
            <a:schemeClr val="bg1"/>
          </a:solidFill>
          <a:ln w="9525">
            <a:solidFill>
              <a:schemeClr val="bg1">
                <a:lumMod val="75000"/>
              </a:schemeClr>
            </a:solidFill>
          </a:ln>
        </p:spPr>
        <p:txBody>
          <a:bodyPr wrap="square" lIns="144000" tIns="144000" rIns="144000" bIns="144000" anchor="ctr" anchorCtr="0">
            <a:noAutofit/>
          </a:bodyPr>
          <a:lstStyle/>
          <a:p>
            <a:pPr algn="just" defTabSz="1219170">
              <a:lnSpc>
                <a:spcPts val="2000"/>
              </a:lnSpc>
              <a:defRPr/>
            </a:pPr>
            <a:r>
              <a:rPr lang="zh-CN" altLang="en-US" sz="1400" kern="0">
                <a:solidFill>
                  <a:prstClr val="black"/>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政府、教育、大企业、零售、金融等行业客户</a:t>
            </a:r>
          </a:p>
        </p:txBody>
      </p:sp>
      <p:sp>
        <p:nvSpPr>
          <p:cNvPr id="21" name="矩形 20"/>
          <p:cNvSpPr/>
          <p:nvPr/>
        </p:nvSpPr>
        <p:spPr bwMode="gray">
          <a:xfrm>
            <a:off x="480826" y="4954682"/>
            <a:ext cx="11247283" cy="455115"/>
          </a:xfrm>
          <a:prstGeom prst="rect">
            <a:avLst/>
          </a:prstGeom>
          <a:gradFill>
            <a:gsLst>
              <a:gs pos="0">
                <a:srgbClr val="E6F6F9"/>
              </a:gs>
              <a:gs pos="100000">
                <a:schemeClr val="bg1">
                  <a:alpha val="0"/>
                </a:schemeClr>
              </a:gs>
            </a:gsLst>
            <a:lin ang="0" scaled="1"/>
          </a:gradFill>
          <a:ln w="9525">
            <a:gradFill flip="none" rotWithShape="1">
              <a:gsLst>
                <a:gs pos="32000">
                  <a:srgbClr val="94DAE2"/>
                </a:gs>
                <a:gs pos="100000">
                  <a:schemeClr val="bg1">
                    <a:alpha val="0"/>
                  </a:schemeClr>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lIns="287916" tIns="45705" rIns="91413" bIns="45705" rtlCol="0" anchor="ctr"/>
          <a:lstStyle/>
          <a:p>
            <a:pPr defTabSz="914400"/>
            <a:endParaRPr lang="zh-CN" altLang="en-US" sz="2000">
              <a:solidFill>
                <a:srgbClr val="007FAC"/>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2" name="矩形 21"/>
          <p:cNvSpPr/>
          <p:nvPr/>
        </p:nvSpPr>
        <p:spPr bwMode="gray">
          <a:xfrm>
            <a:off x="531532" y="5016203"/>
            <a:ext cx="1371512" cy="332072"/>
          </a:xfrm>
          <a:prstGeom prst="rect">
            <a:avLst/>
          </a:prstGeom>
        </p:spPr>
        <p:txBody>
          <a:bodyPr wrap="square" anchor="ctr" anchorCtr="0">
            <a:noAutofit/>
          </a:bodyPr>
          <a:lstStyle/>
          <a:p>
            <a:pPr algn="ctr">
              <a:tabLst>
                <a:tab pos="457006" algn="l"/>
              </a:tabLst>
            </a:pPr>
            <a:r>
              <a:rPr lang="zh-CN" altLang="en-US" sz="1400">
                <a:solidFill>
                  <a:srgbClr val="30B5C5"/>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软件交易模式</a:t>
            </a:r>
          </a:p>
        </p:txBody>
      </p:sp>
      <p:sp>
        <p:nvSpPr>
          <p:cNvPr id="23" name="矩形 22"/>
          <p:cNvSpPr/>
          <p:nvPr/>
        </p:nvSpPr>
        <p:spPr bwMode="gray">
          <a:xfrm>
            <a:off x="1938555" y="5023838"/>
            <a:ext cx="3321069" cy="316800"/>
          </a:xfrm>
          <a:prstGeom prst="rect">
            <a:avLst/>
          </a:prstGeom>
          <a:solidFill>
            <a:schemeClr val="bg1"/>
          </a:solidFill>
          <a:ln w="9525">
            <a:solidFill>
              <a:schemeClr val="bg1">
                <a:lumMod val="75000"/>
              </a:schemeClr>
            </a:solidFill>
          </a:ln>
        </p:spPr>
        <p:txBody>
          <a:bodyPr wrap="square" lIns="144000" tIns="144000" rIns="144000" bIns="144000" anchor="ctr" anchorCtr="0">
            <a:noAutofit/>
          </a:bodyPr>
          <a:lstStyle/>
          <a:p>
            <a:pPr defTabSz="1219170">
              <a:defRPr/>
            </a:pPr>
            <a:r>
              <a:rPr lang="zh-CN" altLang="en-US" sz="1400" kern="0" dirty="0">
                <a:solidFill>
                  <a:prstClr val="black"/>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永久</a:t>
            </a:r>
            <a:r>
              <a:rPr lang="en-US" altLang="zh-CN" sz="1400" kern="0" dirty="0">
                <a:solidFill>
                  <a:prstClr val="black"/>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License + </a:t>
            </a:r>
            <a:r>
              <a:rPr lang="en-US" altLang="zh-CN" sz="1400" kern="0" dirty="0" err="1" smtClean="0">
                <a:solidFill>
                  <a:prstClr val="black"/>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SnS</a:t>
            </a:r>
            <a:endParaRPr lang="zh-CN" altLang="en-US" sz="1400" kern="0" dirty="0">
              <a:solidFill>
                <a:prstClr val="black"/>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24" name="矩形 23"/>
          <p:cNvSpPr/>
          <p:nvPr/>
        </p:nvSpPr>
        <p:spPr bwMode="gray">
          <a:xfrm>
            <a:off x="8386804" y="5023838"/>
            <a:ext cx="3252580" cy="316800"/>
          </a:xfrm>
          <a:prstGeom prst="rect">
            <a:avLst/>
          </a:prstGeom>
          <a:solidFill>
            <a:schemeClr val="bg1"/>
          </a:solidFill>
          <a:ln w="9525">
            <a:solidFill>
              <a:schemeClr val="bg1">
                <a:lumMod val="75000"/>
              </a:schemeClr>
            </a:solidFill>
          </a:ln>
        </p:spPr>
        <p:txBody>
          <a:bodyPr wrap="square" lIns="144000" tIns="144000" rIns="144000" bIns="144000" anchor="ctr" anchorCtr="0">
            <a:noAutofit/>
          </a:bodyPr>
          <a:lstStyle/>
          <a:p>
            <a:pPr defTabSz="1219170">
              <a:defRPr/>
            </a:pPr>
            <a:r>
              <a:rPr lang="en-US" altLang="zh-CN" sz="1400" kern="0">
                <a:solidFill>
                  <a:prstClr val="black"/>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TBL</a:t>
            </a:r>
            <a:r>
              <a:rPr lang="zh-CN" altLang="en-US" sz="1400" kern="0">
                <a:solidFill>
                  <a:prstClr val="black"/>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订阅模式</a:t>
            </a:r>
          </a:p>
        </p:txBody>
      </p:sp>
      <p:sp>
        <p:nvSpPr>
          <p:cNvPr id="25" name="矩形 24"/>
          <p:cNvSpPr/>
          <p:nvPr/>
        </p:nvSpPr>
        <p:spPr bwMode="gray">
          <a:xfrm>
            <a:off x="5348350" y="5023838"/>
            <a:ext cx="2949728" cy="316800"/>
          </a:xfrm>
          <a:prstGeom prst="rect">
            <a:avLst/>
          </a:prstGeom>
          <a:solidFill>
            <a:schemeClr val="bg1"/>
          </a:solidFill>
          <a:ln w="9525">
            <a:solidFill>
              <a:schemeClr val="bg1">
                <a:lumMod val="75000"/>
              </a:schemeClr>
            </a:solidFill>
          </a:ln>
        </p:spPr>
        <p:txBody>
          <a:bodyPr wrap="square" lIns="144000" tIns="144000" rIns="144000" bIns="144000" anchor="ctr" anchorCtr="0">
            <a:noAutofit/>
          </a:bodyPr>
          <a:lstStyle/>
          <a:p>
            <a:pPr defTabSz="1219170">
              <a:defRPr/>
            </a:pPr>
            <a:r>
              <a:rPr lang="en-US" altLang="zh-CN" sz="1400" kern="0" dirty="0">
                <a:solidFill>
                  <a:prstClr val="black"/>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SaaS</a:t>
            </a:r>
            <a:r>
              <a:rPr lang="zh-CN" altLang="en-US" sz="1400" kern="0" dirty="0">
                <a:solidFill>
                  <a:prstClr val="black"/>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模式</a:t>
            </a:r>
          </a:p>
        </p:txBody>
      </p:sp>
      <p:sp>
        <p:nvSpPr>
          <p:cNvPr id="26" name="Freeform 298"/>
          <p:cNvSpPr>
            <a:spLocks/>
          </p:cNvSpPr>
          <p:nvPr/>
        </p:nvSpPr>
        <p:spPr bwMode="gray">
          <a:xfrm>
            <a:off x="4690775" y="1547449"/>
            <a:ext cx="408808" cy="345018"/>
          </a:xfrm>
          <a:custGeom>
            <a:avLst/>
            <a:gdLst>
              <a:gd name="T0" fmla="*/ 0 w 648"/>
              <a:gd name="T1" fmla="*/ 2147483647 h 618"/>
              <a:gd name="T2" fmla="*/ 2147483647 w 648"/>
              <a:gd name="T3" fmla="*/ 2147483647 h 618"/>
              <a:gd name="T4" fmla="*/ 2147483647 w 648"/>
              <a:gd name="T5" fmla="*/ 2147483647 h 618"/>
              <a:gd name="T6" fmla="*/ 2147483647 w 648"/>
              <a:gd name="T7" fmla="*/ 2147483647 h 618"/>
              <a:gd name="T8" fmla="*/ 2147483647 w 648"/>
              <a:gd name="T9" fmla="*/ 2147483647 h 618"/>
              <a:gd name="T10" fmla="*/ 2147483647 w 648"/>
              <a:gd name="T11" fmla="*/ 2147483647 h 618"/>
              <a:gd name="T12" fmla="*/ 2147483647 w 648"/>
              <a:gd name="T13" fmla="*/ 2147483647 h 618"/>
              <a:gd name="T14" fmla="*/ 2147483647 w 648"/>
              <a:gd name="T15" fmla="*/ 0 h 618"/>
              <a:gd name="T16" fmla="*/ 2147483647 w 648"/>
              <a:gd name="T17" fmla="*/ 2147483647 h 618"/>
              <a:gd name="T18" fmla="*/ 2147483647 w 648"/>
              <a:gd name="T19" fmla="*/ 2147483647 h 618"/>
              <a:gd name="T20" fmla="*/ 2147483647 w 648"/>
              <a:gd name="T21" fmla="*/ 2147483647 h 618"/>
              <a:gd name="T22" fmla="*/ 2147483647 w 648"/>
              <a:gd name="T23" fmla="*/ 2147483647 h 618"/>
              <a:gd name="T24" fmla="*/ 2147483647 w 648"/>
              <a:gd name="T25" fmla="*/ 2147483647 h 618"/>
              <a:gd name="T26" fmla="*/ 2147483647 w 648"/>
              <a:gd name="T27" fmla="*/ 2147483647 h 618"/>
              <a:gd name="T28" fmla="*/ 2147483647 w 648"/>
              <a:gd name="T29" fmla="*/ 2147483647 h 618"/>
              <a:gd name="T30" fmla="*/ 2147483647 w 648"/>
              <a:gd name="T31" fmla="*/ 2147483647 h 618"/>
              <a:gd name="T32" fmla="*/ 0 w 648"/>
              <a:gd name="T33" fmla="*/ 2147483647 h 61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648" h="618">
                <a:moveTo>
                  <a:pt x="0" y="374"/>
                </a:moveTo>
                <a:lnTo>
                  <a:pt x="88" y="320"/>
                </a:lnTo>
                <a:lnTo>
                  <a:pt x="122" y="340"/>
                </a:lnTo>
                <a:lnTo>
                  <a:pt x="184" y="452"/>
                </a:lnTo>
                <a:lnTo>
                  <a:pt x="278" y="316"/>
                </a:lnTo>
                <a:lnTo>
                  <a:pt x="434" y="148"/>
                </a:lnTo>
                <a:lnTo>
                  <a:pt x="534" y="60"/>
                </a:lnTo>
                <a:lnTo>
                  <a:pt x="632" y="0"/>
                </a:lnTo>
                <a:lnTo>
                  <a:pt x="648" y="26"/>
                </a:lnTo>
                <a:lnTo>
                  <a:pt x="566" y="98"/>
                </a:lnTo>
                <a:lnTo>
                  <a:pt x="448" y="230"/>
                </a:lnTo>
                <a:lnTo>
                  <a:pt x="346" y="360"/>
                </a:lnTo>
                <a:lnTo>
                  <a:pt x="234" y="554"/>
                </a:lnTo>
                <a:lnTo>
                  <a:pt x="144" y="618"/>
                </a:lnTo>
                <a:lnTo>
                  <a:pt x="82" y="466"/>
                </a:lnTo>
                <a:lnTo>
                  <a:pt x="42" y="404"/>
                </a:lnTo>
                <a:lnTo>
                  <a:pt x="0" y="374"/>
                </a:lnTo>
                <a:close/>
              </a:path>
            </a:pathLst>
          </a:custGeom>
          <a:solidFill>
            <a:srgbClr val="30B5C5"/>
          </a:solidFill>
          <a:ln>
            <a:noFill/>
          </a:ln>
          <a:effectLst/>
        </p:spPr>
        <p:txBody>
          <a:bodyPr wrap="none" lIns="92382" tIns="46191" rIns="92382" bIns="46191" anchor="ctr"/>
          <a:lstStyle/>
          <a:p>
            <a:endParaRPr lang="zh-CN" altLang="en-US">
              <a:cs typeface="+mn-ea"/>
              <a:sym typeface="+mn-lt"/>
            </a:endParaRPr>
          </a:p>
        </p:txBody>
      </p:sp>
    </p:spTree>
    <p:extLst>
      <p:ext uri="{BB962C8B-B14F-4D97-AF65-F5344CB8AC3E}">
        <p14:creationId xmlns:p14="http://schemas.microsoft.com/office/powerpoint/2010/main" val="42683505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梯形 5"/>
          <p:cNvSpPr/>
          <p:nvPr/>
        </p:nvSpPr>
        <p:spPr bwMode="gray">
          <a:xfrm>
            <a:off x="779002" y="2857162"/>
            <a:ext cx="6050762" cy="1685757"/>
          </a:xfrm>
          <a:prstGeom prst="trapezoid">
            <a:avLst>
              <a:gd name="adj" fmla="val 22961"/>
            </a:avLst>
          </a:prstGeom>
          <a:gradFill flip="none" rotWithShape="1">
            <a:gsLst>
              <a:gs pos="0">
                <a:schemeClr val="bg1"/>
              </a:gs>
              <a:gs pos="100000">
                <a:schemeClr val="bg1">
                  <a:lumMod val="85000"/>
                </a:schemeClr>
              </a:gs>
            </a:gsLst>
            <a:lin ang="5400000" scaled="1"/>
          </a:gradFill>
          <a:ln>
            <a:gradFill flip="none" rotWithShape="1">
              <a:gsLst>
                <a:gs pos="0">
                  <a:schemeClr val="accent1">
                    <a:lumMod val="5000"/>
                    <a:lumOff val="95000"/>
                  </a:schemeClr>
                </a:gs>
                <a:gs pos="100000">
                  <a:schemeClr val="bg1">
                    <a:lumMod val="65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tLang="zh-CN"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2" name="任意多边形 81"/>
          <p:cNvSpPr/>
          <p:nvPr/>
        </p:nvSpPr>
        <p:spPr bwMode="gray">
          <a:xfrm>
            <a:off x="2903395" y="3111072"/>
            <a:ext cx="2339859" cy="1232806"/>
          </a:xfrm>
          <a:custGeom>
            <a:avLst/>
            <a:gdLst>
              <a:gd name="connsiteX0" fmla="*/ 1522976 w 3069379"/>
              <a:gd name="connsiteY0" fmla="*/ 0 h 1667868"/>
              <a:gd name="connsiteX1" fmla="*/ 2105444 w 3069379"/>
              <a:gd name="connsiteY1" fmla="*/ 243498 h 1667868"/>
              <a:gd name="connsiteX2" fmla="*/ 2165457 w 3069379"/>
              <a:gd name="connsiteY2" fmla="*/ 316907 h 1667868"/>
              <a:gd name="connsiteX3" fmla="*/ 2204139 w 3069379"/>
              <a:gd name="connsiteY3" fmla="*/ 313329 h 1667868"/>
              <a:gd name="connsiteX4" fmla="*/ 2688456 w 3069379"/>
              <a:gd name="connsiteY4" fmla="*/ 757688 h 1667868"/>
              <a:gd name="connsiteX5" fmla="*/ 2679008 w 3069379"/>
              <a:gd name="connsiteY5" fmla="*/ 843679 h 1667868"/>
              <a:gd name="connsiteX6" fmla="*/ 2742591 w 3069379"/>
              <a:gd name="connsiteY6" fmla="*/ 850148 h 1667868"/>
              <a:gd name="connsiteX7" fmla="*/ 3069379 w 3069379"/>
              <a:gd name="connsiteY7" fmla="*/ 1254812 h 1667868"/>
              <a:gd name="connsiteX8" fmla="*/ 2742591 w 3069379"/>
              <a:gd name="connsiteY8" fmla="*/ 1659476 h 1667868"/>
              <a:gd name="connsiteX9" fmla="*/ 2727471 w 3069379"/>
              <a:gd name="connsiteY9" fmla="*/ 1661015 h 1667868"/>
              <a:gd name="connsiteX10" fmla="*/ 2727471 w 3069379"/>
              <a:gd name="connsiteY10" fmla="*/ 1667868 h 1667868"/>
              <a:gd name="connsiteX11" fmla="*/ 2660108 w 3069379"/>
              <a:gd name="connsiteY11" fmla="*/ 1667868 h 1667868"/>
              <a:gd name="connsiteX12" fmla="*/ 450197 w 3069379"/>
              <a:gd name="connsiteY12" fmla="*/ 1667868 h 1667868"/>
              <a:gd name="connsiteX13" fmla="*/ 373665 w 3069379"/>
              <a:gd name="connsiteY13" fmla="*/ 1667868 h 1667868"/>
              <a:gd name="connsiteX14" fmla="*/ 373665 w 3069379"/>
              <a:gd name="connsiteY14" fmla="*/ 1660082 h 1667868"/>
              <a:gd name="connsiteX15" fmla="*/ 359467 w 3069379"/>
              <a:gd name="connsiteY15" fmla="*/ 1658637 h 1667868"/>
              <a:gd name="connsiteX16" fmla="*/ 0 w 3069379"/>
              <a:gd name="connsiteY16" fmla="*/ 1213505 h 1667868"/>
              <a:gd name="connsiteX17" fmla="*/ 274960 w 3069379"/>
              <a:gd name="connsiteY17" fmla="*/ 794848 h 1667868"/>
              <a:gd name="connsiteX18" fmla="*/ 303951 w 3069379"/>
              <a:gd name="connsiteY18" fmla="*/ 785765 h 1667868"/>
              <a:gd name="connsiteX19" fmla="*/ 315888 w 3069379"/>
              <a:gd name="connsiteY19" fmla="*/ 677121 h 1667868"/>
              <a:gd name="connsiteX20" fmla="*/ 931587 w 3069379"/>
              <a:gd name="connsiteY20" fmla="*/ 216713 h 1667868"/>
              <a:gd name="connsiteX21" fmla="*/ 968567 w 3069379"/>
              <a:gd name="connsiteY21" fmla="*/ 220133 h 1667868"/>
              <a:gd name="connsiteX22" fmla="*/ 1062419 w 3069379"/>
              <a:gd name="connsiteY22" fmla="*/ 141982 h 1667868"/>
              <a:gd name="connsiteX23" fmla="*/ 1522976 w 3069379"/>
              <a:gd name="connsiteY23" fmla="*/ 0 h 16678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069379" h="1667868">
                <a:moveTo>
                  <a:pt x="1522976" y="0"/>
                </a:moveTo>
                <a:cubicBezTo>
                  <a:pt x="1750444" y="0"/>
                  <a:pt x="1956378" y="93052"/>
                  <a:pt x="2105444" y="243498"/>
                </a:cubicBezTo>
                <a:lnTo>
                  <a:pt x="2165457" y="316907"/>
                </a:lnTo>
                <a:lnTo>
                  <a:pt x="2204139" y="313329"/>
                </a:lnTo>
                <a:cubicBezTo>
                  <a:pt x="2471620" y="313329"/>
                  <a:pt x="2688456" y="512275"/>
                  <a:pt x="2688456" y="757688"/>
                </a:cubicBezTo>
                <a:lnTo>
                  <a:pt x="2679008" y="843679"/>
                </a:lnTo>
                <a:lnTo>
                  <a:pt x="2742591" y="850148"/>
                </a:lnTo>
                <a:cubicBezTo>
                  <a:pt x="2929088" y="888664"/>
                  <a:pt x="3069379" y="1055202"/>
                  <a:pt x="3069379" y="1254812"/>
                </a:cubicBezTo>
                <a:cubicBezTo>
                  <a:pt x="3069379" y="1454421"/>
                  <a:pt x="2929088" y="1620960"/>
                  <a:pt x="2742591" y="1659476"/>
                </a:cubicBezTo>
                <a:lnTo>
                  <a:pt x="2727471" y="1661015"/>
                </a:lnTo>
                <a:lnTo>
                  <a:pt x="2727471" y="1667868"/>
                </a:lnTo>
                <a:lnTo>
                  <a:pt x="2660108" y="1667868"/>
                </a:lnTo>
                <a:lnTo>
                  <a:pt x="450197" y="1667868"/>
                </a:lnTo>
                <a:lnTo>
                  <a:pt x="373665" y="1667868"/>
                </a:lnTo>
                <a:lnTo>
                  <a:pt x="373665" y="1660082"/>
                </a:lnTo>
                <a:lnTo>
                  <a:pt x="359467" y="1658637"/>
                </a:lnTo>
                <a:cubicBezTo>
                  <a:pt x="154319" y="1616269"/>
                  <a:pt x="0" y="1433076"/>
                  <a:pt x="0" y="1213505"/>
                </a:cubicBezTo>
                <a:cubicBezTo>
                  <a:pt x="0" y="1025301"/>
                  <a:pt x="113377" y="863824"/>
                  <a:pt x="274960" y="794848"/>
                </a:cubicBezTo>
                <a:lnTo>
                  <a:pt x="303951" y="785765"/>
                </a:lnTo>
                <a:lnTo>
                  <a:pt x="315888" y="677121"/>
                </a:lnTo>
                <a:cubicBezTo>
                  <a:pt x="374490" y="414367"/>
                  <a:pt x="627881" y="216713"/>
                  <a:pt x="931587" y="216713"/>
                </a:cubicBezTo>
                <a:lnTo>
                  <a:pt x="968567" y="220133"/>
                </a:lnTo>
                <a:lnTo>
                  <a:pt x="1062419" y="141982"/>
                </a:lnTo>
                <a:cubicBezTo>
                  <a:pt x="1193887" y="52342"/>
                  <a:pt x="1352375" y="0"/>
                  <a:pt x="1522976" y="0"/>
                </a:cubicBezTo>
                <a:close/>
              </a:path>
            </a:pathLst>
          </a:custGeom>
          <a:solidFill>
            <a:srgbClr val="E3F6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lt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 name="标题 1"/>
          <p:cNvSpPr>
            <a:spLocks noGrp="1"/>
          </p:cNvSpPr>
          <p:nvPr>
            <p:ph type="title"/>
          </p:nvPr>
        </p:nvSpPr>
        <p:spPr bwMode="gray"/>
        <p:txBody>
          <a:bodyPr/>
          <a:lstStyle/>
          <a:p>
            <a:r>
              <a:rPr lang="zh-CN" altLang="en-US" smtClean="0"/>
              <a:t>知识回顾：虚拟化园区网络架构</a:t>
            </a:r>
            <a:endParaRPr lang="zh-CN" altLang="en-US" dirty="0"/>
          </a:p>
        </p:txBody>
      </p:sp>
      <p:sp>
        <p:nvSpPr>
          <p:cNvPr id="5" name="梯形 4"/>
          <p:cNvSpPr/>
          <p:nvPr/>
        </p:nvSpPr>
        <p:spPr bwMode="gray">
          <a:xfrm>
            <a:off x="779002" y="4548420"/>
            <a:ext cx="6050762" cy="1520276"/>
          </a:xfrm>
          <a:prstGeom prst="trapezoid">
            <a:avLst>
              <a:gd name="adj" fmla="val 22961"/>
            </a:avLst>
          </a:prstGeom>
          <a:gradFill flip="none" rotWithShape="1">
            <a:gsLst>
              <a:gs pos="0">
                <a:schemeClr val="bg1"/>
              </a:gs>
              <a:gs pos="100000">
                <a:schemeClr val="bg1">
                  <a:lumMod val="85000"/>
                </a:schemeClr>
              </a:gs>
            </a:gsLst>
            <a:lin ang="5400000" scaled="1"/>
          </a:gradFill>
          <a:ln>
            <a:gradFill flip="none" rotWithShape="1">
              <a:gsLst>
                <a:gs pos="0">
                  <a:schemeClr val="accent1">
                    <a:lumMod val="5000"/>
                    <a:lumOff val="95000"/>
                  </a:schemeClr>
                </a:gs>
                <a:gs pos="100000">
                  <a:schemeClr val="bg1">
                    <a:lumMod val="65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tLang="zh-CN"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7" name="直接连接符 6"/>
          <p:cNvCxnSpPr/>
          <p:nvPr/>
        </p:nvCxnSpPr>
        <p:spPr bwMode="gray">
          <a:xfrm flipH="1" flipV="1">
            <a:off x="3031930" y="5358511"/>
            <a:ext cx="1283264" cy="366470"/>
          </a:xfrm>
          <a:prstGeom prst="line">
            <a:avLst/>
          </a:prstGeom>
          <a:ln w="952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p:nvCxnSpPr>
        <p:spPr bwMode="gray">
          <a:xfrm flipH="1">
            <a:off x="3057769" y="4820071"/>
            <a:ext cx="1025914" cy="552357"/>
          </a:xfrm>
          <a:prstGeom prst="line">
            <a:avLst/>
          </a:prstGeom>
          <a:ln w="952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nvGrpSpPr>
          <p:cNvPr id="9" name="组合 8"/>
          <p:cNvGrpSpPr/>
          <p:nvPr/>
        </p:nvGrpSpPr>
        <p:grpSpPr bwMode="gray">
          <a:xfrm flipV="1">
            <a:off x="3891430" y="4888811"/>
            <a:ext cx="2450448" cy="839468"/>
            <a:chOff x="3911288" y="4456131"/>
            <a:chExt cx="2450448" cy="674979"/>
          </a:xfrm>
        </p:grpSpPr>
        <p:cxnSp>
          <p:nvCxnSpPr>
            <p:cNvPr id="10" name="直接连接符 9"/>
            <p:cNvCxnSpPr/>
            <p:nvPr/>
          </p:nvCxnSpPr>
          <p:spPr bwMode="gray">
            <a:xfrm>
              <a:off x="4393093" y="4456131"/>
              <a:ext cx="1323508" cy="0"/>
            </a:xfrm>
            <a:prstGeom prst="line">
              <a:avLst/>
            </a:prstGeom>
            <a:ln w="952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bwMode="gray">
            <a:xfrm flipV="1">
              <a:off x="3911288" y="5131110"/>
              <a:ext cx="1582732" cy="0"/>
            </a:xfrm>
            <a:prstGeom prst="line">
              <a:avLst/>
            </a:prstGeom>
            <a:ln w="952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bwMode="gray">
            <a:xfrm>
              <a:off x="5800440" y="4456131"/>
              <a:ext cx="561296" cy="0"/>
            </a:xfrm>
            <a:prstGeom prst="line">
              <a:avLst/>
            </a:prstGeom>
            <a:ln w="952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pic>
        <p:nvPicPr>
          <p:cNvPr id="13" name="图片 87" descr="汇聚交换机.png"/>
          <p:cNvPicPr>
            <a:picLocks noChangeAspect="1"/>
          </p:cNvPicPr>
          <p:nvPr/>
        </p:nvPicPr>
        <p:blipFill>
          <a:blip r:embed="rId3"/>
          <a:stretch>
            <a:fillRect/>
          </a:stretch>
        </p:blipFill>
        <p:spPr bwMode="gray">
          <a:xfrm>
            <a:off x="3769227" y="4779137"/>
            <a:ext cx="343433" cy="280992"/>
          </a:xfrm>
          <a:prstGeom prst="rect">
            <a:avLst/>
          </a:prstGeom>
        </p:spPr>
      </p:pic>
      <p:pic>
        <p:nvPicPr>
          <p:cNvPr id="14" name="图片 87" descr="汇聚交换机.png"/>
          <p:cNvPicPr>
            <a:picLocks noChangeAspect="1"/>
          </p:cNvPicPr>
          <p:nvPr/>
        </p:nvPicPr>
        <p:blipFill>
          <a:blip r:embed="rId3"/>
          <a:stretch>
            <a:fillRect/>
          </a:stretch>
        </p:blipFill>
        <p:spPr bwMode="gray">
          <a:xfrm>
            <a:off x="4113754" y="5574605"/>
            <a:ext cx="343433" cy="280992"/>
          </a:xfrm>
          <a:prstGeom prst="rect">
            <a:avLst/>
          </a:prstGeom>
        </p:spPr>
      </p:pic>
      <p:pic>
        <p:nvPicPr>
          <p:cNvPr id="15" name="图片 76" descr="接入交换机.png"/>
          <p:cNvPicPr>
            <a:picLocks noChangeAspect="1"/>
          </p:cNvPicPr>
          <p:nvPr/>
        </p:nvPicPr>
        <p:blipFill>
          <a:blip r:embed="rId4"/>
          <a:stretch>
            <a:fillRect/>
          </a:stretch>
        </p:blipFill>
        <p:spPr bwMode="gray">
          <a:xfrm>
            <a:off x="5547959" y="5574605"/>
            <a:ext cx="343433" cy="280992"/>
          </a:xfrm>
          <a:prstGeom prst="rect">
            <a:avLst/>
          </a:prstGeom>
        </p:spPr>
      </p:pic>
      <p:pic>
        <p:nvPicPr>
          <p:cNvPr id="16" name="图片 15" descr="接入交换机.png"/>
          <p:cNvPicPr>
            <a:picLocks noChangeAspect="1"/>
          </p:cNvPicPr>
          <p:nvPr/>
        </p:nvPicPr>
        <p:blipFill>
          <a:blip r:embed="rId4"/>
          <a:stretch>
            <a:fillRect/>
          </a:stretch>
        </p:blipFill>
        <p:spPr bwMode="gray">
          <a:xfrm>
            <a:off x="5204526" y="4779137"/>
            <a:ext cx="343433" cy="280992"/>
          </a:xfrm>
          <a:prstGeom prst="rect">
            <a:avLst/>
          </a:prstGeom>
        </p:spPr>
      </p:pic>
      <p:cxnSp>
        <p:nvCxnSpPr>
          <p:cNvPr id="17" name="直接连接符 16"/>
          <p:cNvCxnSpPr/>
          <p:nvPr/>
        </p:nvCxnSpPr>
        <p:spPr bwMode="gray">
          <a:xfrm>
            <a:off x="2280981" y="5358515"/>
            <a:ext cx="796587" cy="0"/>
          </a:xfrm>
          <a:prstGeom prst="line">
            <a:avLst/>
          </a:prstGeom>
          <a:ln w="952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pic>
        <p:nvPicPr>
          <p:cNvPr id="18" name="图片 86" descr="核心交换机.png"/>
          <p:cNvPicPr>
            <a:picLocks noChangeAspect="1"/>
          </p:cNvPicPr>
          <p:nvPr/>
        </p:nvPicPr>
        <p:blipFill>
          <a:blip r:embed="rId5"/>
          <a:stretch>
            <a:fillRect/>
          </a:stretch>
        </p:blipFill>
        <p:spPr bwMode="gray">
          <a:xfrm>
            <a:off x="2880370" y="5222017"/>
            <a:ext cx="343433" cy="280992"/>
          </a:xfrm>
          <a:prstGeom prst="rect">
            <a:avLst/>
          </a:prstGeom>
        </p:spPr>
      </p:pic>
      <p:pic>
        <p:nvPicPr>
          <p:cNvPr id="19" name="图片 9"/>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bwMode="gray">
          <a:xfrm>
            <a:off x="2136426" y="5225346"/>
            <a:ext cx="335297" cy="274335"/>
          </a:xfrm>
          <a:prstGeom prst="rect">
            <a:avLst/>
          </a:prstGeom>
        </p:spPr>
      </p:pic>
      <p:sp>
        <p:nvSpPr>
          <p:cNvPr id="21" name="矩形 20"/>
          <p:cNvSpPr/>
          <p:nvPr/>
        </p:nvSpPr>
        <p:spPr bwMode="gray">
          <a:xfrm>
            <a:off x="889976" y="5746851"/>
            <a:ext cx="2317207" cy="305105"/>
          </a:xfrm>
          <a:prstGeom prst="rect">
            <a:avLst/>
          </a:prstGeom>
        </p:spPr>
        <p:txBody>
          <a:bodyPr wrap="square">
            <a:noAutofit/>
          </a:bodyPr>
          <a:lstStyle/>
          <a:p>
            <a:r>
              <a:rPr lang="en-US" altLang="zh-CN" sz="1400" dirty="0" smtClean="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Underlay</a:t>
            </a:r>
            <a:r>
              <a:rPr lang="zh-CN" altLang="en-US" sz="1400" dirty="0" smtClean="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（物理网络层）</a:t>
            </a:r>
            <a:endPar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2" name="矩形 21"/>
          <p:cNvSpPr/>
          <p:nvPr/>
        </p:nvSpPr>
        <p:spPr bwMode="gray">
          <a:xfrm>
            <a:off x="889976" y="4207378"/>
            <a:ext cx="681597" cy="307777"/>
          </a:xfrm>
          <a:prstGeom prst="rect">
            <a:avLst/>
          </a:prstGeom>
        </p:spPr>
        <p:txBody>
          <a:bodyPr wrap="square">
            <a:noAutofit/>
          </a:bodyPr>
          <a:lstStyle/>
          <a:p>
            <a:r>
              <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Fabric</a:t>
            </a:r>
          </a:p>
        </p:txBody>
      </p:sp>
      <p:pic>
        <p:nvPicPr>
          <p:cNvPr id="48" name="图片 105" descr="AP.png"/>
          <p:cNvPicPr>
            <a:picLocks noChangeAspect="1"/>
          </p:cNvPicPr>
          <p:nvPr/>
        </p:nvPicPr>
        <p:blipFill>
          <a:blip r:embed="rId7"/>
          <a:stretch>
            <a:fillRect/>
          </a:stretch>
        </p:blipFill>
        <p:spPr bwMode="gray">
          <a:xfrm>
            <a:off x="6222783" y="5577934"/>
            <a:ext cx="335297" cy="274335"/>
          </a:xfrm>
          <a:prstGeom prst="rect">
            <a:avLst/>
          </a:prstGeom>
        </p:spPr>
      </p:pic>
      <p:sp>
        <p:nvSpPr>
          <p:cNvPr id="69" name="矩形 68"/>
          <p:cNvSpPr/>
          <p:nvPr/>
        </p:nvSpPr>
        <p:spPr bwMode="gray">
          <a:xfrm>
            <a:off x="2805864" y="4939024"/>
            <a:ext cx="492443" cy="276999"/>
          </a:xfrm>
          <a:prstGeom prst="rect">
            <a:avLst/>
          </a:prstGeom>
        </p:spPr>
        <p:txBody>
          <a:bodyPr wrap="none">
            <a:spAutoFit/>
          </a:bodyPr>
          <a:lstStyle/>
          <a:p>
            <a:r>
              <a:rPr lang="zh-CN" altLang="en-US" sz="1200" dirty="0" smtClean="0">
                <a:latin typeface="Huawei Sans" panose="020C0503030203020204" pitchFamily="34" charset="0"/>
                <a:ea typeface="方正兰亭黑简体" panose="02000000000000000000" pitchFamily="2" charset="-122"/>
                <a:sym typeface="Huawei Sans" panose="020C0503030203020204" pitchFamily="34" charset="0"/>
              </a:rPr>
              <a:t>核心</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0" name="矩形 69"/>
          <p:cNvSpPr/>
          <p:nvPr/>
        </p:nvSpPr>
        <p:spPr bwMode="gray">
          <a:xfrm>
            <a:off x="3702586" y="5081516"/>
            <a:ext cx="492443" cy="276999"/>
          </a:xfrm>
          <a:prstGeom prst="rect">
            <a:avLst/>
          </a:prstGeom>
        </p:spPr>
        <p:txBody>
          <a:bodyPr wrap="none">
            <a:spAutoFit/>
          </a:bodyPr>
          <a:lstStyle/>
          <a:p>
            <a:r>
              <a:rPr lang="zh-CN" altLang="en-US" sz="1200" smtClean="0">
                <a:latin typeface="Huawei Sans" panose="020C0503030203020204" pitchFamily="34" charset="0"/>
                <a:ea typeface="方正兰亭黑简体" panose="02000000000000000000" pitchFamily="2" charset="-122"/>
                <a:sym typeface="Huawei Sans" panose="020C0503030203020204" pitchFamily="34" charset="0"/>
              </a:rPr>
              <a:t>汇聚</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1" name="矩形 70"/>
          <p:cNvSpPr/>
          <p:nvPr/>
        </p:nvSpPr>
        <p:spPr bwMode="gray">
          <a:xfrm>
            <a:off x="3702586" y="5777693"/>
            <a:ext cx="492443" cy="276999"/>
          </a:xfrm>
          <a:prstGeom prst="rect">
            <a:avLst/>
          </a:prstGeom>
        </p:spPr>
        <p:txBody>
          <a:bodyPr wrap="none">
            <a:spAutoFit/>
          </a:bodyPr>
          <a:lstStyle/>
          <a:p>
            <a:r>
              <a:rPr lang="zh-CN" altLang="en-US" sz="1200" smtClean="0">
                <a:latin typeface="Huawei Sans" panose="020C0503030203020204" pitchFamily="34" charset="0"/>
                <a:ea typeface="方正兰亭黑简体" panose="02000000000000000000" pitchFamily="2" charset="-122"/>
                <a:sym typeface="Huawei Sans" panose="020C0503030203020204" pitchFamily="34" charset="0"/>
              </a:rPr>
              <a:t>汇聚</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2" name="矩形 71"/>
          <p:cNvSpPr/>
          <p:nvPr/>
        </p:nvSpPr>
        <p:spPr bwMode="gray">
          <a:xfrm>
            <a:off x="5123774" y="5081516"/>
            <a:ext cx="492443" cy="276999"/>
          </a:xfrm>
          <a:prstGeom prst="rect">
            <a:avLst/>
          </a:prstGeom>
        </p:spPr>
        <p:txBody>
          <a:bodyPr wrap="none">
            <a:spAutoFit/>
          </a:bodyPr>
          <a:lstStyle/>
          <a:p>
            <a:r>
              <a:rPr lang="zh-CN" altLang="en-US" sz="1200" smtClean="0">
                <a:latin typeface="Huawei Sans" panose="020C0503030203020204" pitchFamily="34" charset="0"/>
                <a:ea typeface="方正兰亭黑简体" panose="02000000000000000000" pitchFamily="2" charset="-122"/>
                <a:sym typeface="Huawei Sans" panose="020C0503030203020204" pitchFamily="34" charset="0"/>
              </a:rPr>
              <a:t>接入</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3" name="矩形 72"/>
          <p:cNvSpPr/>
          <p:nvPr/>
        </p:nvSpPr>
        <p:spPr bwMode="gray">
          <a:xfrm>
            <a:off x="5123774" y="5777693"/>
            <a:ext cx="492443" cy="276999"/>
          </a:xfrm>
          <a:prstGeom prst="rect">
            <a:avLst/>
          </a:prstGeom>
        </p:spPr>
        <p:txBody>
          <a:bodyPr wrap="none">
            <a:spAutoFit/>
          </a:bodyPr>
          <a:lstStyle/>
          <a:p>
            <a:r>
              <a:rPr lang="zh-CN" altLang="en-US" sz="1200">
                <a:latin typeface="Huawei Sans" panose="020C0503030203020204" pitchFamily="34" charset="0"/>
                <a:ea typeface="方正兰亭黑简体" panose="02000000000000000000" pitchFamily="2" charset="-122"/>
                <a:sym typeface="Huawei Sans" panose="020C0503030203020204" pitchFamily="34" charset="0"/>
              </a:rPr>
              <a:t>接入</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76" name="图片 86" descr="核心交换机.png"/>
          <p:cNvPicPr>
            <a:picLocks noChangeAspect="1"/>
          </p:cNvPicPr>
          <p:nvPr/>
        </p:nvPicPr>
        <p:blipFill>
          <a:blip r:embed="rId5"/>
          <a:stretch>
            <a:fillRect/>
          </a:stretch>
        </p:blipFill>
        <p:spPr bwMode="gray">
          <a:xfrm>
            <a:off x="2738130" y="3710298"/>
            <a:ext cx="343433" cy="280992"/>
          </a:xfrm>
          <a:prstGeom prst="rect">
            <a:avLst/>
          </a:prstGeom>
        </p:spPr>
      </p:pic>
      <p:cxnSp>
        <p:nvCxnSpPr>
          <p:cNvPr id="77" name="直接连接符 76"/>
          <p:cNvCxnSpPr>
            <a:endCxn id="105" idx="1"/>
          </p:cNvCxnSpPr>
          <p:nvPr/>
        </p:nvCxnSpPr>
        <p:spPr bwMode="gray">
          <a:xfrm flipV="1">
            <a:off x="3081563" y="3407914"/>
            <a:ext cx="1618802" cy="399234"/>
          </a:xfrm>
          <a:prstGeom prst="line">
            <a:avLst/>
          </a:prstGeom>
          <a:ln w="19050">
            <a:solidFill>
              <a:srgbClr val="ED6D00"/>
            </a:solidFill>
            <a:prstDash val="sysDot"/>
            <a:headEnd type="triangle" w="sm" len="med"/>
            <a:tailEnd type="triangle" w="sm" len="med"/>
          </a:ln>
        </p:spPr>
        <p:style>
          <a:lnRef idx="1">
            <a:schemeClr val="accent1"/>
          </a:lnRef>
          <a:fillRef idx="0">
            <a:schemeClr val="accent1"/>
          </a:fillRef>
          <a:effectRef idx="0">
            <a:schemeClr val="accent1"/>
          </a:effectRef>
          <a:fontRef idx="minor">
            <a:schemeClr val="tx1"/>
          </a:fontRef>
        </p:style>
      </p:cxnSp>
      <p:cxnSp>
        <p:nvCxnSpPr>
          <p:cNvPr id="80" name="直接连接符 79"/>
          <p:cNvCxnSpPr>
            <a:stCxn id="76" idx="3"/>
            <a:endCxn id="104" idx="1"/>
          </p:cNvCxnSpPr>
          <p:nvPr/>
        </p:nvCxnSpPr>
        <p:spPr bwMode="gray">
          <a:xfrm>
            <a:off x="3081563" y="3850794"/>
            <a:ext cx="1962235" cy="352588"/>
          </a:xfrm>
          <a:prstGeom prst="line">
            <a:avLst/>
          </a:prstGeom>
          <a:ln w="19050">
            <a:solidFill>
              <a:srgbClr val="ED6D00"/>
            </a:solidFill>
            <a:prstDash val="sysDot"/>
            <a:headEnd type="triangle" w="sm" len="med"/>
            <a:tailEnd type="triangle" w="sm" len="med"/>
          </a:ln>
        </p:spPr>
        <p:style>
          <a:lnRef idx="1">
            <a:schemeClr val="accent1"/>
          </a:lnRef>
          <a:fillRef idx="0">
            <a:schemeClr val="accent1"/>
          </a:fillRef>
          <a:effectRef idx="0">
            <a:schemeClr val="accent1"/>
          </a:effectRef>
          <a:fontRef idx="minor">
            <a:schemeClr val="tx1"/>
          </a:fontRef>
        </p:style>
      </p:cxnSp>
      <p:sp>
        <p:nvSpPr>
          <p:cNvPr id="83" name="矩形 82"/>
          <p:cNvSpPr/>
          <p:nvPr/>
        </p:nvSpPr>
        <p:spPr bwMode="gray">
          <a:xfrm>
            <a:off x="2609203" y="4003238"/>
            <a:ext cx="651140" cy="276999"/>
          </a:xfrm>
          <a:prstGeom prst="rect">
            <a:avLst/>
          </a:prstGeom>
        </p:spPr>
        <p:txBody>
          <a:bodyPr wrap="none">
            <a:spAutoFit/>
          </a:bodyPr>
          <a:lstStyle/>
          <a:p>
            <a:r>
              <a:rPr lang="en-US" altLang="zh-CN" sz="1200" smtClean="0">
                <a:latin typeface="Huawei Sans" panose="020C0503030203020204" pitchFamily="34" charset="0"/>
                <a:ea typeface="方正兰亭黑简体" panose="02000000000000000000" pitchFamily="2" charset="-122"/>
                <a:sym typeface="Huawei Sans" panose="020C0503030203020204" pitchFamily="34" charset="0"/>
              </a:rPr>
              <a:t>Border</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6" name="矩形 85"/>
          <p:cNvSpPr/>
          <p:nvPr/>
        </p:nvSpPr>
        <p:spPr bwMode="gray">
          <a:xfrm rot="20786260">
            <a:off x="3455963" y="3356889"/>
            <a:ext cx="910827" cy="276999"/>
          </a:xfrm>
          <a:prstGeom prst="rect">
            <a:avLst/>
          </a:prstGeom>
        </p:spPr>
        <p:txBody>
          <a:bodyPr wrap="none">
            <a:spAutoFit/>
          </a:bodyPr>
          <a:lstStyle/>
          <a:p>
            <a:r>
              <a:rPr lang="en-US" altLang="zh-CN" sz="1200" smtClean="0">
                <a:solidFill>
                  <a:srgbClr val="ED6D00"/>
                </a:solidFill>
                <a:latin typeface="Huawei Sans" panose="020C0503030203020204" pitchFamily="34" charset="0"/>
                <a:ea typeface="方正兰亭黑简体" panose="02000000000000000000" pitchFamily="2" charset="-122"/>
                <a:sym typeface="Huawei Sans" panose="020C0503030203020204" pitchFamily="34" charset="0"/>
              </a:rPr>
              <a:t>BGP EVPN</a:t>
            </a:r>
            <a:endParaRPr lang="en-US" altLang="zh-CN" sz="1200" dirty="0">
              <a:solidFill>
                <a:srgbClr val="ED6D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7" name="矩形 86"/>
          <p:cNvSpPr/>
          <p:nvPr/>
        </p:nvSpPr>
        <p:spPr bwMode="gray">
          <a:xfrm rot="629115">
            <a:off x="3615802" y="4011620"/>
            <a:ext cx="910827" cy="276999"/>
          </a:xfrm>
          <a:prstGeom prst="rect">
            <a:avLst/>
          </a:prstGeom>
        </p:spPr>
        <p:txBody>
          <a:bodyPr wrap="none">
            <a:spAutoFit/>
          </a:bodyPr>
          <a:lstStyle/>
          <a:p>
            <a:r>
              <a:rPr lang="en-US" altLang="zh-CN" sz="1200" smtClean="0">
                <a:solidFill>
                  <a:srgbClr val="ED6D00"/>
                </a:solidFill>
                <a:latin typeface="Huawei Sans" panose="020C0503030203020204" pitchFamily="34" charset="0"/>
                <a:ea typeface="方正兰亭黑简体" panose="02000000000000000000" pitchFamily="2" charset="-122"/>
                <a:sym typeface="Huawei Sans" panose="020C0503030203020204" pitchFamily="34" charset="0"/>
              </a:rPr>
              <a:t>BGP EVPN</a:t>
            </a:r>
            <a:endParaRPr lang="en-US" altLang="zh-CN" sz="1200" dirty="0">
              <a:solidFill>
                <a:srgbClr val="ED6D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9" name="圆角矩形 88"/>
          <p:cNvSpPr/>
          <p:nvPr/>
        </p:nvSpPr>
        <p:spPr bwMode="gray">
          <a:xfrm>
            <a:off x="1346330" y="3929243"/>
            <a:ext cx="1050459" cy="218361"/>
          </a:xfrm>
          <a:prstGeom prst="roundRect">
            <a:avLst/>
          </a:prstGeom>
          <a:solidFill>
            <a:srgbClr val="ED6D00"/>
          </a:solidFill>
          <a:ln w="12700" cap="flat" cmpd="sng" algn="ctr">
            <a:noFill/>
            <a:prstDash val="sysDot"/>
            <a:round/>
            <a:headEnd type="none" w="med" len="med"/>
            <a:tailEnd type="none" w="med" len="med"/>
          </a:ln>
          <a:extLst/>
        </p:spPr>
        <p:txBody>
          <a:bodyPr vert="horz" wrap="square" lIns="0" tIns="0" rIns="0" bIns="0" numCol="1" rtlCol="0" anchor="ctr" anchorCtr="0" compatLnSpc="1">
            <a:prstTxWarp prst="textNoShape">
              <a:avLst/>
            </a:prstTxWarp>
            <a:noAutofit/>
          </a:bodyPr>
          <a:lstStyle/>
          <a:p>
            <a:pPr algn="ctr">
              <a:buClr>
                <a:srgbClr val="CC9900"/>
              </a:buClr>
            </a:pPr>
            <a:r>
              <a:rPr lang="zh-CN" altLang="en-US" sz="120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外部网络</a:t>
            </a:r>
          </a:p>
        </p:txBody>
      </p:sp>
      <p:sp>
        <p:nvSpPr>
          <p:cNvPr id="90" name="圆角矩形 89"/>
          <p:cNvSpPr/>
          <p:nvPr/>
        </p:nvSpPr>
        <p:spPr bwMode="gray">
          <a:xfrm>
            <a:off x="1143845" y="3450610"/>
            <a:ext cx="1050459" cy="218361"/>
          </a:xfrm>
          <a:prstGeom prst="roundRect">
            <a:avLst/>
          </a:prstGeom>
          <a:solidFill>
            <a:srgbClr val="ED6D00"/>
          </a:solidFill>
          <a:ln w="12700" cap="flat" cmpd="sng" algn="ctr">
            <a:noFill/>
            <a:prstDash val="sysDot"/>
            <a:round/>
            <a:headEnd type="none" w="med" len="med"/>
            <a:tailEnd type="none" w="med" len="med"/>
          </a:ln>
          <a:extLst/>
        </p:spPr>
        <p:txBody>
          <a:bodyPr vert="horz" wrap="square" lIns="0" tIns="0" rIns="0" bIns="0" numCol="1" rtlCol="0" anchor="ctr" anchorCtr="0" compatLnSpc="1">
            <a:prstTxWarp prst="textNoShape">
              <a:avLst/>
            </a:prstTxWarp>
            <a:noAutofit/>
          </a:bodyPr>
          <a:lstStyle/>
          <a:p>
            <a:pPr algn="ctr">
              <a:buClr>
                <a:srgbClr val="CC9900"/>
              </a:buClr>
            </a:pPr>
            <a:r>
              <a:rPr lang="zh-CN" altLang="en-US" sz="1200" smtClea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网络服务资源</a:t>
            </a:r>
            <a:endParaRPr lang="zh-CN" altLang="en-US" sz="120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91" name="直接连接符 90"/>
          <p:cNvCxnSpPr>
            <a:stCxn id="90" idx="3"/>
            <a:endCxn id="76" idx="1"/>
          </p:cNvCxnSpPr>
          <p:nvPr/>
        </p:nvCxnSpPr>
        <p:spPr bwMode="gray">
          <a:xfrm>
            <a:off x="2194304" y="3559791"/>
            <a:ext cx="543826" cy="291003"/>
          </a:xfrm>
          <a:prstGeom prst="line">
            <a:avLst/>
          </a:prstGeom>
          <a:ln w="19050">
            <a:solidFill>
              <a:srgbClr val="ED6D00"/>
            </a:solidFill>
            <a:prstDash val="solid"/>
            <a:headEnd type="triangle" w="sm" len="med"/>
            <a:tailEnd type="triangle" w="sm" len="med"/>
          </a:ln>
        </p:spPr>
        <p:style>
          <a:lnRef idx="1">
            <a:schemeClr val="accent1"/>
          </a:lnRef>
          <a:fillRef idx="0">
            <a:schemeClr val="accent1"/>
          </a:fillRef>
          <a:effectRef idx="0">
            <a:schemeClr val="accent1"/>
          </a:effectRef>
          <a:fontRef idx="minor">
            <a:schemeClr val="tx1"/>
          </a:fontRef>
        </p:style>
      </p:cxnSp>
      <p:cxnSp>
        <p:nvCxnSpPr>
          <p:cNvPr id="94" name="直接连接符 93"/>
          <p:cNvCxnSpPr>
            <a:stCxn id="89" idx="3"/>
            <a:endCxn id="76" idx="1"/>
          </p:cNvCxnSpPr>
          <p:nvPr/>
        </p:nvCxnSpPr>
        <p:spPr bwMode="gray">
          <a:xfrm flipV="1">
            <a:off x="2396789" y="3850794"/>
            <a:ext cx="341341" cy="187630"/>
          </a:xfrm>
          <a:prstGeom prst="line">
            <a:avLst/>
          </a:prstGeom>
          <a:ln w="19050">
            <a:solidFill>
              <a:srgbClr val="ED6D00"/>
            </a:solidFill>
            <a:prstDash val="solid"/>
            <a:headEnd type="triangle" w="sm" len="med"/>
            <a:tailEnd type="triangle" w="sm" len="med"/>
          </a:ln>
        </p:spPr>
        <p:style>
          <a:lnRef idx="1">
            <a:schemeClr val="accent1"/>
          </a:lnRef>
          <a:fillRef idx="0">
            <a:schemeClr val="accent1"/>
          </a:fillRef>
          <a:effectRef idx="0">
            <a:schemeClr val="accent1"/>
          </a:effectRef>
          <a:fontRef idx="minor">
            <a:schemeClr val="tx1"/>
          </a:fontRef>
        </p:style>
      </p:cxnSp>
      <p:pic>
        <p:nvPicPr>
          <p:cNvPr id="104" name="图片 76" descr="接入交换机.png"/>
          <p:cNvPicPr>
            <a:picLocks noChangeAspect="1"/>
          </p:cNvPicPr>
          <p:nvPr/>
        </p:nvPicPr>
        <p:blipFill>
          <a:blip r:embed="rId4"/>
          <a:stretch>
            <a:fillRect/>
          </a:stretch>
        </p:blipFill>
        <p:spPr bwMode="gray">
          <a:xfrm>
            <a:off x="5043798" y="4062886"/>
            <a:ext cx="343433" cy="280992"/>
          </a:xfrm>
          <a:prstGeom prst="rect">
            <a:avLst/>
          </a:prstGeom>
        </p:spPr>
      </p:pic>
      <p:pic>
        <p:nvPicPr>
          <p:cNvPr id="105" name="图片 104" descr="接入交换机.png"/>
          <p:cNvPicPr>
            <a:picLocks noChangeAspect="1"/>
          </p:cNvPicPr>
          <p:nvPr/>
        </p:nvPicPr>
        <p:blipFill>
          <a:blip r:embed="rId4"/>
          <a:stretch>
            <a:fillRect/>
          </a:stretch>
        </p:blipFill>
        <p:spPr bwMode="gray">
          <a:xfrm>
            <a:off x="4700365" y="3267418"/>
            <a:ext cx="343433" cy="280992"/>
          </a:xfrm>
          <a:prstGeom prst="rect">
            <a:avLst/>
          </a:prstGeom>
        </p:spPr>
      </p:pic>
      <p:sp>
        <p:nvSpPr>
          <p:cNvPr id="106" name="矩形 105"/>
          <p:cNvSpPr/>
          <p:nvPr/>
        </p:nvSpPr>
        <p:spPr bwMode="gray">
          <a:xfrm>
            <a:off x="4626794" y="3559791"/>
            <a:ext cx="527709" cy="276999"/>
          </a:xfrm>
          <a:prstGeom prst="rect">
            <a:avLst/>
          </a:prstGeom>
        </p:spPr>
        <p:txBody>
          <a:bodyPr wrap="none">
            <a:spAutoFit/>
          </a:bodyPr>
          <a:lstStyle/>
          <a:p>
            <a:r>
              <a:rPr lang="en-US" altLang="zh-CN" sz="1200" smtClean="0">
                <a:latin typeface="Huawei Sans" panose="020C0503030203020204" pitchFamily="34" charset="0"/>
                <a:ea typeface="方正兰亭黑简体" panose="02000000000000000000" pitchFamily="2" charset="-122"/>
                <a:sym typeface="Huawei Sans" panose="020C0503030203020204" pitchFamily="34" charset="0"/>
              </a:rPr>
              <a:t>Edge</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7" name="矩形 106"/>
          <p:cNvSpPr/>
          <p:nvPr/>
        </p:nvSpPr>
        <p:spPr bwMode="gray">
          <a:xfrm>
            <a:off x="4928727" y="3807148"/>
            <a:ext cx="527709" cy="276999"/>
          </a:xfrm>
          <a:prstGeom prst="rect">
            <a:avLst/>
          </a:prstGeom>
        </p:spPr>
        <p:txBody>
          <a:bodyPr wrap="none">
            <a:spAutoFit/>
          </a:bodyPr>
          <a:lstStyle/>
          <a:p>
            <a:r>
              <a:rPr lang="en-US" altLang="zh-CN" sz="1200" smtClean="0">
                <a:latin typeface="Huawei Sans" panose="020C0503030203020204" pitchFamily="34" charset="0"/>
                <a:ea typeface="方正兰亭黑简体" panose="02000000000000000000" pitchFamily="2" charset="-122"/>
                <a:sym typeface="Huawei Sans" panose="020C0503030203020204" pitchFamily="34" charset="0"/>
              </a:rPr>
              <a:t>Edge</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8" name="圆角矩形 107"/>
          <p:cNvSpPr/>
          <p:nvPr/>
        </p:nvSpPr>
        <p:spPr bwMode="gray">
          <a:xfrm>
            <a:off x="5337388" y="3311135"/>
            <a:ext cx="1050459" cy="218361"/>
          </a:xfrm>
          <a:prstGeom prst="roundRect">
            <a:avLst/>
          </a:prstGeom>
          <a:solidFill>
            <a:srgbClr val="ED6D00"/>
          </a:solidFill>
          <a:ln w="12700" cap="flat" cmpd="sng" algn="ctr">
            <a:noFill/>
            <a:prstDash val="sysDot"/>
            <a:round/>
            <a:headEnd type="none" w="med" len="med"/>
            <a:tailEnd type="none" w="med" len="med"/>
          </a:ln>
          <a:extLst/>
        </p:spPr>
        <p:txBody>
          <a:bodyPr vert="horz" wrap="square" lIns="0" tIns="0" rIns="0" bIns="0" numCol="1" rtlCol="0" anchor="ctr" anchorCtr="0" compatLnSpc="1">
            <a:prstTxWarp prst="textNoShape">
              <a:avLst/>
            </a:prstTxWarp>
            <a:noAutofit/>
          </a:bodyPr>
          <a:lstStyle/>
          <a:p>
            <a:pPr algn="ctr">
              <a:buClr>
                <a:srgbClr val="CC9900"/>
              </a:buClr>
            </a:pPr>
            <a:r>
              <a:rPr lang="zh-CN" altLang="en-US" sz="1200" dirty="0" smtClea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有线接入</a:t>
            </a:r>
            <a:endParaRPr lang="zh-CN" alt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9" name="圆角矩形 108"/>
          <p:cNvSpPr/>
          <p:nvPr/>
        </p:nvSpPr>
        <p:spPr bwMode="gray">
          <a:xfrm>
            <a:off x="5699309" y="4106463"/>
            <a:ext cx="1050459" cy="218361"/>
          </a:xfrm>
          <a:prstGeom prst="roundRect">
            <a:avLst/>
          </a:prstGeom>
          <a:solidFill>
            <a:srgbClr val="ED6D00"/>
          </a:solidFill>
          <a:ln w="12700" cap="flat" cmpd="sng" algn="ctr">
            <a:noFill/>
            <a:prstDash val="sysDot"/>
            <a:round/>
            <a:headEnd type="none" w="med" len="med"/>
            <a:tailEnd type="none" w="med" len="med"/>
          </a:ln>
          <a:extLst/>
        </p:spPr>
        <p:txBody>
          <a:bodyPr vert="horz" wrap="square" lIns="0" tIns="0" rIns="0" bIns="0" numCol="1" rtlCol="0" anchor="ctr" anchorCtr="0" compatLnSpc="1">
            <a:prstTxWarp prst="textNoShape">
              <a:avLst/>
            </a:prstTxWarp>
            <a:noAutofit/>
          </a:bodyPr>
          <a:lstStyle/>
          <a:p>
            <a:pPr algn="ctr">
              <a:buClr>
                <a:srgbClr val="CC9900"/>
              </a:buClr>
            </a:pPr>
            <a:r>
              <a:rPr lang="zh-CN" altLang="en-US" sz="1200" dirty="0" smtClea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无线接入</a:t>
            </a:r>
            <a:endParaRPr lang="zh-CN" alt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10" name="直接连接符 109"/>
          <p:cNvCxnSpPr/>
          <p:nvPr/>
        </p:nvCxnSpPr>
        <p:spPr bwMode="gray">
          <a:xfrm>
            <a:off x="5036485" y="3407430"/>
            <a:ext cx="299104" cy="0"/>
          </a:xfrm>
          <a:prstGeom prst="line">
            <a:avLst/>
          </a:prstGeom>
          <a:ln w="19050">
            <a:solidFill>
              <a:srgbClr val="ED6D00"/>
            </a:solidFill>
            <a:prstDash val="solid"/>
            <a:headEnd type="triangle" w="sm" len="med"/>
            <a:tailEnd type="triangle" w="sm" len="med"/>
          </a:ln>
        </p:spPr>
        <p:style>
          <a:lnRef idx="1">
            <a:schemeClr val="accent1"/>
          </a:lnRef>
          <a:fillRef idx="0">
            <a:schemeClr val="accent1"/>
          </a:fillRef>
          <a:effectRef idx="0">
            <a:schemeClr val="accent1"/>
          </a:effectRef>
          <a:fontRef idx="minor">
            <a:schemeClr val="tx1"/>
          </a:fontRef>
        </p:style>
      </p:cxnSp>
      <p:cxnSp>
        <p:nvCxnSpPr>
          <p:cNvPr id="111" name="直接连接符 110"/>
          <p:cNvCxnSpPr/>
          <p:nvPr/>
        </p:nvCxnSpPr>
        <p:spPr bwMode="gray">
          <a:xfrm>
            <a:off x="5387612" y="4215644"/>
            <a:ext cx="299104" cy="0"/>
          </a:xfrm>
          <a:prstGeom prst="line">
            <a:avLst/>
          </a:prstGeom>
          <a:ln w="19050">
            <a:solidFill>
              <a:srgbClr val="ED6D00"/>
            </a:solidFill>
            <a:prstDash val="solid"/>
            <a:headEnd type="triangle" w="sm" len="med"/>
            <a:tailEnd type="triangle" w="sm" len="med"/>
          </a:ln>
        </p:spPr>
        <p:style>
          <a:lnRef idx="1">
            <a:schemeClr val="accent1"/>
          </a:lnRef>
          <a:fillRef idx="0">
            <a:schemeClr val="accent1"/>
          </a:fillRef>
          <a:effectRef idx="0">
            <a:schemeClr val="accent1"/>
          </a:effectRef>
          <a:fontRef idx="minor">
            <a:schemeClr val="tx1"/>
          </a:fontRef>
        </p:style>
      </p:cxnSp>
      <p:sp>
        <p:nvSpPr>
          <p:cNvPr id="114" name="梯形 113"/>
          <p:cNvSpPr/>
          <p:nvPr/>
        </p:nvSpPr>
        <p:spPr bwMode="gray">
          <a:xfrm>
            <a:off x="779002" y="1335088"/>
            <a:ext cx="6050762" cy="1634927"/>
          </a:xfrm>
          <a:prstGeom prst="trapezoid">
            <a:avLst>
              <a:gd name="adj" fmla="val 22961"/>
            </a:avLst>
          </a:prstGeom>
          <a:gradFill flip="none" rotWithShape="1">
            <a:gsLst>
              <a:gs pos="0">
                <a:schemeClr val="bg1"/>
              </a:gs>
              <a:gs pos="100000">
                <a:schemeClr val="bg1">
                  <a:lumMod val="85000"/>
                </a:schemeClr>
              </a:gs>
            </a:gsLst>
            <a:lin ang="5400000" scaled="1"/>
          </a:gradFill>
          <a:ln>
            <a:gradFill flip="none" rotWithShape="1">
              <a:gsLst>
                <a:gs pos="0">
                  <a:schemeClr val="accent1">
                    <a:lumMod val="5000"/>
                    <a:lumOff val="95000"/>
                  </a:schemeClr>
                </a:gs>
                <a:gs pos="100000">
                  <a:schemeClr val="bg1">
                    <a:lumMod val="65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tLang="zh-CN"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5" name="梯形 114"/>
          <p:cNvSpPr/>
          <p:nvPr/>
        </p:nvSpPr>
        <p:spPr bwMode="gray">
          <a:xfrm>
            <a:off x="1052678" y="1362910"/>
            <a:ext cx="1790622" cy="1209870"/>
          </a:xfrm>
          <a:prstGeom prst="trapezoid">
            <a:avLst>
              <a:gd name="adj" fmla="val 22668"/>
            </a:avLst>
          </a:prstGeom>
          <a:gradFill flip="none" rotWithShape="1">
            <a:gsLst>
              <a:gs pos="0">
                <a:schemeClr val="bg1"/>
              </a:gs>
              <a:gs pos="100000">
                <a:srgbClr val="BEE9EE"/>
              </a:gs>
            </a:gsLst>
            <a:lin ang="5400000" scaled="1"/>
          </a:gradFill>
          <a:ln>
            <a:gradFill flip="none" rotWithShape="1">
              <a:gsLst>
                <a:gs pos="0">
                  <a:schemeClr val="accent1">
                    <a:lumMod val="5000"/>
                    <a:lumOff val="95000"/>
                  </a:schemeClr>
                </a:gs>
                <a:gs pos="100000">
                  <a:srgbClr val="56C4D2"/>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tLang="zh-CN"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6" name="矩形 115"/>
          <p:cNvSpPr/>
          <p:nvPr/>
        </p:nvSpPr>
        <p:spPr bwMode="gray">
          <a:xfrm>
            <a:off x="889976" y="2622602"/>
            <a:ext cx="2218684" cy="305105"/>
          </a:xfrm>
          <a:prstGeom prst="rect">
            <a:avLst/>
          </a:prstGeom>
        </p:spPr>
        <p:txBody>
          <a:bodyPr wrap="square">
            <a:noAutofit/>
          </a:bodyPr>
          <a:lstStyle/>
          <a:p>
            <a:r>
              <a:rPr lang="en-US" altLang="zh-CN" sz="1400" dirty="0" smtClean="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Overlay</a:t>
            </a:r>
            <a:r>
              <a:rPr lang="zh-CN" altLang="en-US" sz="1400" dirty="0" smtClean="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（虚拟网络</a:t>
            </a:r>
            <a:r>
              <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层</a:t>
            </a:r>
            <a:r>
              <a:rPr lang="zh-CN" altLang="en-US" sz="1400" dirty="0" smtClean="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117" name="组合 116"/>
          <p:cNvGrpSpPr/>
          <p:nvPr/>
        </p:nvGrpSpPr>
        <p:grpSpPr bwMode="gray">
          <a:xfrm>
            <a:off x="1488570" y="1518179"/>
            <a:ext cx="556773" cy="629606"/>
            <a:chOff x="7493567" y="5008689"/>
            <a:chExt cx="1283264" cy="956570"/>
          </a:xfrm>
        </p:grpSpPr>
        <p:cxnSp>
          <p:nvCxnSpPr>
            <p:cNvPr id="118" name="直接连接符 117"/>
            <p:cNvCxnSpPr/>
            <p:nvPr/>
          </p:nvCxnSpPr>
          <p:spPr bwMode="gray">
            <a:xfrm flipH="1" flipV="1">
              <a:off x="7493567" y="5598789"/>
              <a:ext cx="1283264" cy="366470"/>
            </a:xfrm>
            <a:prstGeom prst="line">
              <a:avLst/>
            </a:prstGeom>
            <a:ln w="9525">
              <a:solidFill>
                <a:srgbClr val="30B5C5"/>
              </a:solidFill>
            </a:ln>
          </p:spPr>
          <p:style>
            <a:lnRef idx="1">
              <a:schemeClr val="accent1"/>
            </a:lnRef>
            <a:fillRef idx="0">
              <a:schemeClr val="accent1"/>
            </a:fillRef>
            <a:effectRef idx="0">
              <a:schemeClr val="accent1"/>
            </a:effectRef>
            <a:fontRef idx="minor">
              <a:schemeClr val="tx1"/>
            </a:fontRef>
          </p:style>
        </p:cxnSp>
        <p:cxnSp>
          <p:nvCxnSpPr>
            <p:cNvPr id="119" name="直接连接符 118"/>
            <p:cNvCxnSpPr/>
            <p:nvPr/>
          </p:nvCxnSpPr>
          <p:spPr bwMode="gray">
            <a:xfrm flipH="1">
              <a:off x="7588319" y="5008689"/>
              <a:ext cx="847863" cy="456494"/>
            </a:xfrm>
            <a:prstGeom prst="line">
              <a:avLst/>
            </a:prstGeom>
            <a:ln w="9525">
              <a:solidFill>
                <a:srgbClr val="30B5C5"/>
              </a:solidFill>
            </a:ln>
          </p:spPr>
          <p:style>
            <a:lnRef idx="1">
              <a:schemeClr val="accent1"/>
            </a:lnRef>
            <a:fillRef idx="0">
              <a:schemeClr val="accent1"/>
            </a:fillRef>
            <a:effectRef idx="0">
              <a:schemeClr val="accent1"/>
            </a:effectRef>
            <a:fontRef idx="minor">
              <a:schemeClr val="tx1"/>
            </a:fontRef>
          </p:style>
        </p:cxnSp>
      </p:grpSp>
      <p:cxnSp>
        <p:nvCxnSpPr>
          <p:cNvPr id="120" name="直接连接符 119"/>
          <p:cNvCxnSpPr>
            <a:stCxn id="123" idx="3"/>
            <a:endCxn id="124" idx="1"/>
          </p:cNvCxnSpPr>
          <p:nvPr/>
        </p:nvCxnSpPr>
        <p:spPr bwMode="gray">
          <a:xfrm>
            <a:off x="2139259" y="2164728"/>
            <a:ext cx="241810" cy="0"/>
          </a:xfrm>
          <a:prstGeom prst="line">
            <a:avLst/>
          </a:prstGeom>
          <a:ln w="9525">
            <a:solidFill>
              <a:srgbClr val="30B5C5"/>
            </a:solidFill>
          </a:ln>
        </p:spPr>
        <p:style>
          <a:lnRef idx="1">
            <a:schemeClr val="accent1"/>
          </a:lnRef>
          <a:fillRef idx="0">
            <a:schemeClr val="accent1"/>
          </a:fillRef>
          <a:effectRef idx="0">
            <a:schemeClr val="accent1"/>
          </a:effectRef>
          <a:fontRef idx="minor">
            <a:schemeClr val="tx1"/>
          </a:fontRef>
        </p:style>
      </p:cxnSp>
      <p:cxnSp>
        <p:nvCxnSpPr>
          <p:cNvPr id="121" name="直接连接符 120"/>
          <p:cNvCxnSpPr>
            <a:stCxn id="122" idx="3"/>
            <a:endCxn id="125" idx="1"/>
          </p:cNvCxnSpPr>
          <p:nvPr/>
        </p:nvCxnSpPr>
        <p:spPr bwMode="gray">
          <a:xfrm>
            <a:off x="1959865" y="1559248"/>
            <a:ext cx="242904" cy="0"/>
          </a:xfrm>
          <a:prstGeom prst="line">
            <a:avLst/>
          </a:prstGeom>
          <a:ln w="9525">
            <a:solidFill>
              <a:srgbClr val="30B5C5"/>
            </a:solidFill>
          </a:ln>
        </p:spPr>
        <p:style>
          <a:lnRef idx="1">
            <a:schemeClr val="accent1"/>
          </a:lnRef>
          <a:fillRef idx="0">
            <a:schemeClr val="accent1"/>
          </a:fillRef>
          <a:effectRef idx="0">
            <a:schemeClr val="accent1"/>
          </a:effectRef>
          <a:fontRef idx="minor">
            <a:schemeClr val="tx1"/>
          </a:fontRef>
        </p:style>
      </p:cxnSp>
      <p:pic>
        <p:nvPicPr>
          <p:cNvPr id="122" name="图片 87" descr="汇聚交换机.png"/>
          <p:cNvPicPr>
            <a:picLocks noChangeAspect="1"/>
          </p:cNvPicPr>
          <p:nvPr/>
        </p:nvPicPr>
        <p:blipFill>
          <a:blip r:embed="rId3"/>
          <a:stretch>
            <a:fillRect/>
          </a:stretch>
        </p:blipFill>
        <p:spPr bwMode="gray">
          <a:xfrm>
            <a:off x="1725296" y="1463287"/>
            <a:ext cx="234569" cy="191922"/>
          </a:xfrm>
          <a:prstGeom prst="rect">
            <a:avLst/>
          </a:prstGeom>
        </p:spPr>
      </p:pic>
      <p:pic>
        <p:nvPicPr>
          <p:cNvPr id="123" name="图片 87" descr="汇聚交换机.png"/>
          <p:cNvPicPr>
            <a:picLocks noChangeAspect="1"/>
          </p:cNvPicPr>
          <p:nvPr/>
        </p:nvPicPr>
        <p:blipFill>
          <a:blip r:embed="rId3"/>
          <a:stretch>
            <a:fillRect/>
          </a:stretch>
        </p:blipFill>
        <p:spPr bwMode="gray">
          <a:xfrm>
            <a:off x="1904690" y="2068767"/>
            <a:ext cx="234569" cy="191922"/>
          </a:xfrm>
          <a:prstGeom prst="rect">
            <a:avLst/>
          </a:prstGeom>
        </p:spPr>
      </p:pic>
      <p:pic>
        <p:nvPicPr>
          <p:cNvPr id="124" name="图片 76" descr="接入交换机.png"/>
          <p:cNvPicPr>
            <a:picLocks noChangeAspect="1"/>
          </p:cNvPicPr>
          <p:nvPr/>
        </p:nvPicPr>
        <p:blipFill>
          <a:blip r:embed="rId4"/>
          <a:stretch>
            <a:fillRect/>
          </a:stretch>
        </p:blipFill>
        <p:spPr bwMode="gray">
          <a:xfrm>
            <a:off x="2381069" y="2068767"/>
            <a:ext cx="234569" cy="191922"/>
          </a:xfrm>
          <a:prstGeom prst="rect">
            <a:avLst/>
          </a:prstGeom>
        </p:spPr>
      </p:pic>
      <p:pic>
        <p:nvPicPr>
          <p:cNvPr id="125" name="图片 124" descr="接入交换机.png"/>
          <p:cNvPicPr>
            <a:picLocks noChangeAspect="1"/>
          </p:cNvPicPr>
          <p:nvPr/>
        </p:nvPicPr>
        <p:blipFill>
          <a:blip r:embed="rId4"/>
          <a:stretch>
            <a:fillRect/>
          </a:stretch>
        </p:blipFill>
        <p:spPr bwMode="gray">
          <a:xfrm>
            <a:off x="2202769" y="1463287"/>
            <a:ext cx="234569" cy="191922"/>
          </a:xfrm>
          <a:prstGeom prst="rect">
            <a:avLst/>
          </a:prstGeom>
        </p:spPr>
      </p:pic>
      <p:pic>
        <p:nvPicPr>
          <p:cNvPr id="126" name="图片 86" descr="核心交换机.png"/>
          <p:cNvPicPr>
            <a:picLocks noChangeAspect="1"/>
          </p:cNvPicPr>
          <p:nvPr/>
        </p:nvPicPr>
        <p:blipFill>
          <a:blip r:embed="rId5"/>
          <a:stretch>
            <a:fillRect/>
          </a:stretch>
        </p:blipFill>
        <p:spPr bwMode="gray">
          <a:xfrm>
            <a:off x="1342367" y="1780437"/>
            <a:ext cx="234569" cy="191922"/>
          </a:xfrm>
          <a:prstGeom prst="rect">
            <a:avLst/>
          </a:prstGeom>
        </p:spPr>
      </p:pic>
      <p:sp>
        <p:nvSpPr>
          <p:cNvPr id="127" name="矩形 126"/>
          <p:cNvSpPr/>
          <p:nvPr/>
        </p:nvSpPr>
        <p:spPr bwMode="gray">
          <a:xfrm>
            <a:off x="1075747" y="2291604"/>
            <a:ext cx="1744485" cy="274594"/>
          </a:xfrm>
          <a:prstGeom prst="rect">
            <a:avLst/>
          </a:prstGeom>
        </p:spPr>
        <p:txBody>
          <a:bodyPr wrap="square">
            <a:noAutofit/>
          </a:bodyPr>
          <a:lstStyle/>
          <a:p>
            <a:pPr algn="ctr"/>
            <a:r>
              <a:rPr lang="zh-CN" altLang="en-US" sz="1200" dirty="0" smtClean="0">
                <a:latin typeface="Huawei Sans" panose="020C0503030203020204" pitchFamily="34" charset="0"/>
                <a:ea typeface="方正兰亭黑简体" panose="02000000000000000000" pitchFamily="2" charset="-122"/>
                <a:sym typeface="Huawei Sans" panose="020C0503030203020204" pitchFamily="34" charset="0"/>
              </a:rPr>
              <a:t>虚拟网络</a:t>
            </a:r>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1</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8" name="梯形 127"/>
          <p:cNvSpPr/>
          <p:nvPr/>
        </p:nvSpPr>
        <p:spPr bwMode="gray">
          <a:xfrm>
            <a:off x="2925585" y="1362910"/>
            <a:ext cx="1790622" cy="1209870"/>
          </a:xfrm>
          <a:prstGeom prst="trapezoid">
            <a:avLst>
              <a:gd name="adj" fmla="val 22668"/>
            </a:avLst>
          </a:prstGeom>
          <a:gradFill flip="none" rotWithShape="1">
            <a:gsLst>
              <a:gs pos="0">
                <a:schemeClr val="bg1"/>
              </a:gs>
              <a:gs pos="100000">
                <a:srgbClr val="BEE9EE"/>
              </a:gs>
            </a:gsLst>
            <a:lin ang="5400000" scaled="1"/>
          </a:gradFill>
          <a:ln>
            <a:gradFill flip="none" rotWithShape="1">
              <a:gsLst>
                <a:gs pos="0">
                  <a:schemeClr val="accent1">
                    <a:lumMod val="5000"/>
                    <a:lumOff val="95000"/>
                  </a:schemeClr>
                </a:gs>
                <a:gs pos="100000">
                  <a:srgbClr val="56C4D2"/>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tLang="zh-CN"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29" name="直接连接符 128"/>
          <p:cNvCxnSpPr/>
          <p:nvPr/>
        </p:nvCxnSpPr>
        <p:spPr bwMode="gray">
          <a:xfrm flipH="1">
            <a:off x="3402583" y="1518175"/>
            <a:ext cx="367864" cy="300460"/>
          </a:xfrm>
          <a:prstGeom prst="line">
            <a:avLst/>
          </a:prstGeom>
          <a:ln w="9525">
            <a:solidFill>
              <a:srgbClr val="30B5C5"/>
            </a:solidFill>
          </a:ln>
        </p:spPr>
        <p:style>
          <a:lnRef idx="1">
            <a:schemeClr val="accent1"/>
          </a:lnRef>
          <a:fillRef idx="0">
            <a:schemeClr val="accent1"/>
          </a:fillRef>
          <a:effectRef idx="0">
            <a:schemeClr val="accent1"/>
          </a:effectRef>
          <a:fontRef idx="minor">
            <a:schemeClr val="tx1"/>
          </a:fontRef>
        </p:style>
      </p:cxnSp>
      <p:cxnSp>
        <p:nvCxnSpPr>
          <p:cNvPr id="130" name="直接连接符 129"/>
          <p:cNvCxnSpPr>
            <a:stCxn id="131" idx="3"/>
            <a:endCxn id="132" idx="1"/>
          </p:cNvCxnSpPr>
          <p:nvPr/>
        </p:nvCxnSpPr>
        <p:spPr bwMode="gray">
          <a:xfrm>
            <a:off x="3832772" y="1559248"/>
            <a:ext cx="242904" cy="0"/>
          </a:xfrm>
          <a:prstGeom prst="line">
            <a:avLst/>
          </a:prstGeom>
          <a:ln w="9525">
            <a:solidFill>
              <a:srgbClr val="30B5C5"/>
            </a:solidFill>
          </a:ln>
        </p:spPr>
        <p:style>
          <a:lnRef idx="1">
            <a:schemeClr val="accent1"/>
          </a:lnRef>
          <a:fillRef idx="0">
            <a:schemeClr val="accent1"/>
          </a:fillRef>
          <a:effectRef idx="0">
            <a:schemeClr val="accent1"/>
          </a:effectRef>
          <a:fontRef idx="minor">
            <a:schemeClr val="tx1"/>
          </a:fontRef>
        </p:style>
      </p:cxnSp>
      <p:pic>
        <p:nvPicPr>
          <p:cNvPr id="131" name="图片 87" descr="汇聚交换机.png"/>
          <p:cNvPicPr>
            <a:picLocks noChangeAspect="1"/>
          </p:cNvPicPr>
          <p:nvPr/>
        </p:nvPicPr>
        <p:blipFill>
          <a:blip r:embed="rId3"/>
          <a:stretch>
            <a:fillRect/>
          </a:stretch>
        </p:blipFill>
        <p:spPr bwMode="gray">
          <a:xfrm>
            <a:off x="3598203" y="1463287"/>
            <a:ext cx="234569" cy="191922"/>
          </a:xfrm>
          <a:prstGeom prst="rect">
            <a:avLst/>
          </a:prstGeom>
        </p:spPr>
      </p:pic>
      <p:pic>
        <p:nvPicPr>
          <p:cNvPr id="132" name="图片 131" descr="接入交换机.png"/>
          <p:cNvPicPr>
            <a:picLocks noChangeAspect="1"/>
          </p:cNvPicPr>
          <p:nvPr/>
        </p:nvPicPr>
        <p:blipFill>
          <a:blip r:embed="rId4"/>
          <a:stretch>
            <a:fillRect/>
          </a:stretch>
        </p:blipFill>
        <p:spPr bwMode="gray">
          <a:xfrm>
            <a:off x="4075676" y="1463287"/>
            <a:ext cx="234569" cy="191922"/>
          </a:xfrm>
          <a:prstGeom prst="rect">
            <a:avLst/>
          </a:prstGeom>
        </p:spPr>
      </p:pic>
      <p:pic>
        <p:nvPicPr>
          <p:cNvPr id="133" name="图片 86" descr="核心交换机.png"/>
          <p:cNvPicPr>
            <a:picLocks noChangeAspect="1"/>
          </p:cNvPicPr>
          <p:nvPr/>
        </p:nvPicPr>
        <p:blipFill>
          <a:blip r:embed="rId5"/>
          <a:stretch>
            <a:fillRect/>
          </a:stretch>
        </p:blipFill>
        <p:spPr bwMode="gray">
          <a:xfrm>
            <a:off x="3215274" y="1780437"/>
            <a:ext cx="234569" cy="191922"/>
          </a:xfrm>
          <a:prstGeom prst="rect">
            <a:avLst/>
          </a:prstGeom>
        </p:spPr>
      </p:pic>
      <p:sp>
        <p:nvSpPr>
          <p:cNvPr id="134" name="矩形 133"/>
          <p:cNvSpPr/>
          <p:nvPr/>
        </p:nvSpPr>
        <p:spPr bwMode="gray">
          <a:xfrm>
            <a:off x="2948654" y="2291604"/>
            <a:ext cx="1744485" cy="274594"/>
          </a:xfrm>
          <a:prstGeom prst="rect">
            <a:avLst/>
          </a:prstGeom>
        </p:spPr>
        <p:txBody>
          <a:bodyPr wrap="square">
            <a:noAutofit/>
          </a:bodyPr>
          <a:lstStyle/>
          <a:p>
            <a:pPr algn="ctr"/>
            <a:r>
              <a:rPr lang="zh-CN" altLang="en-US" sz="1200" smtClean="0">
                <a:latin typeface="Huawei Sans" panose="020C0503030203020204" pitchFamily="34" charset="0"/>
                <a:ea typeface="方正兰亭黑简体" panose="02000000000000000000" pitchFamily="2" charset="-122"/>
                <a:sym typeface="Huawei Sans" panose="020C0503030203020204" pitchFamily="34" charset="0"/>
              </a:rPr>
              <a:t>虚拟网络</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N</a:t>
            </a:r>
          </a:p>
        </p:txBody>
      </p:sp>
      <p:sp>
        <p:nvSpPr>
          <p:cNvPr id="135" name="梯形 134"/>
          <p:cNvSpPr/>
          <p:nvPr/>
        </p:nvSpPr>
        <p:spPr bwMode="gray">
          <a:xfrm>
            <a:off x="4812504" y="1362910"/>
            <a:ext cx="1790622" cy="1209870"/>
          </a:xfrm>
          <a:prstGeom prst="trapezoid">
            <a:avLst>
              <a:gd name="adj" fmla="val 22668"/>
            </a:avLst>
          </a:prstGeom>
          <a:gradFill flip="none" rotWithShape="1">
            <a:gsLst>
              <a:gs pos="0">
                <a:schemeClr val="bg1"/>
              </a:gs>
              <a:gs pos="100000">
                <a:srgbClr val="BEE9EE"/>
              </a:gs>
            </a:gsLst>
            <a:lin ang="5400000" scaled="1"/>
          </a:gradFill>
          <a:ln>
            <a:gradFill flip="none" rotWithShape="1">
              <a:gsLst>
                <a:gs pos="0">
                  <a:schemeClr val="accent1">
                    <a:lumMod val="5000"/>
                    <a:lumOff val="95000"/>
                  </a:schemeClr>
                </a:gs>
                <a:gs pos="100000">
                  <a:srgbClr val="56C4D2"/>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tLang="zh-CN"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2" name="矩形 141"/>
          <p:cNvSpPr/>
          <p:nvPr/>
        </p:nvSpPr>
        <p:spPr bwMode="gray">
          <a:xfrm>
            <a:off x="1619644" y="1700842"/>
            <a:ext cx="947695" cy="307777"/>
          </a:xfrm>
          <a:prstGeom prst="rect">
            <a:avLst/>
          </a:prstGeom>
        </p:spPr>
        <p:txBody>
          <a:bodyPr wrap="square">
            <a:noAutofit/>
          </a:bodyPr>
          <a:lstStyle/>
          <a:p>
            <a:r>
              <a:rPr lang="en-US" altLang="zh-CN" sz="1200" dirty="0" smtClean="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VRF+VNI</a:t>
            </a:r>
            <a:endParaRPr lang="en-US" altLang="zh-CN" sz="12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3" name="矩形 142"/>
          <p:cNvSpPr/>
          <p:nvPr/>
        </p:nvSpPr>
        <p:spPr bwMode="gray">
          <a:xfrm>
            <a:off x="3499060" y="1700842"/>
            <a:ext cx="947695" cy="307777"/>
          </a:xfrm>
          <a:prstGeom prst="rect">
            <a:avLst/>
          </a:prstGeom>
        </p:spPr>
        <p:txBody>
          <a:bodyPr wrap="square">
            <a:noAutofit/>
          </a:bodyPr>
          <a:lstStyle/>
          <a:p>
            <a:r>
              <a:rPr lang="en-US" altLang="zh-CN" sz="1200" dirty="0" smtClean="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VRF+VNI</a:t>
            </a:r>
            <a:endParaRPr lang="en-US" altLang="zh-CN" sz="12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145" name="Group 3"/>
          <p:cNvGrpSpPr/>
          <p:nvPr/>
        </p:nvGrpSpPr>
        <p:grpSpPr bwMode="gray">
          <a:xfrm>
            <a:off x="2741423" y="1948947"/>
            <a:ext cx="261965" cy="61979"/>
            <a:chOff x="559282" y="6488261"/>
            <a:chExt cx="261965" cy="61979"/>
          </a:xfrm>
          <a:solidFill>
            <a:schemeClr val="bg1">
              <a:lumMod val="50000"/>
            </a:schemeClr>
          </a:solidFill>
        </p:grpSpPr>
        <p:sp>
          <p:nvSpPr>
            <p:cNvPr id="146" name="Oval 1"/>
            <p:cNvSpPr>
              <a:spLocks noChangeAspect="1"/>
            </p:cNvSpPr>
            <p:nvPr/>
          </p:nvSpPr>
          <p:spPr bwMode="gray">
            <a:xfrm>
              <a:off x="759268" y="6488261"/>
              <a:ext cx="61979" cy="619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7" name="Oval 174"/>
            <p:cNvSpPr>
              <a:spLocks noChangeAspect="1"/>
            </p:cNvSpPr>
            <p:nvPr/>
          </p:nvSpPr>
          <p:spPr bwMode="gray">
            <a:xfrm>
              <a:off x="559282" y="6488261"/>
              <a:ext cx="61979" cy="619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8" name="Oval 175"/>
            <p:cNvSpPr>
              <a:spLocks noChangeAspect="1"/>
            </p:cNvSpPr>
            <p:nvPr/>
          </p:nvSpPr>
          <p:spPr bwMode="gray">
            <a:xfrm>
              <a:off x="659275" y="6488261"/>
              <a:ext cx="61979" cy="619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50" name="圆角矩形 149"/>
          <p:cNvSpPr/>
          <p:nvPr/>
        </p:nvSpPr>
        <p:spPr bwMode="gray">
          <a:xfrm>
            <a:off x="4961268" y="1221692"/>
            <a:ext cx="717477" cy="218361"/>
          </a:xfrm>
          <a:prstGeom prst="roundRect">
            <a:avLst/>
          </a:prstGeom>
          <a:solidFill>
            <a:srgbClr val="30B5C5"/>
          </a:solidFill>
          <a:ln w="12700" cap="flat" cmpd="sng" algn="ctr">
            <a:noFill/>
            <a:prstDash val="sysDot"/>
            <a:round/>
            <a:headEnd type="none" w="med" len="med"/>
            <a:tailEnd type="none" w="med" len="med"/>
          </a:ln>
          <a:extLst/>
        </p:spPr>
        <p:txBody>
          <a:bodyPr vert="horz" wrap="square" lIns="0" tIns="0" rIns="0" bIns="0" numCol="1" rtlCol="0" anchor="ctr" anchorCtr="0" compatLnSpc="1">
            <a:prstTxWarp prst="textNoShape">
              <a:avLst/>
            </a:prstTxWarp>
            <a:noAutofit/>
          </a:bodyPr>
          <a:lstStyle/>
          <a:p>
            <a:pPr algn="ctr">
              <a:buClr>
                <a:srgbClr val="CC9900"/>
              </a:buClr>
            </a:pPr>
            <a:r>
              <a:rPr lang="zh-CN" altLang="en-US" sz="1200" smtClea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网络出口</a:t>
            </a:r>
            <a:endParaRPr lang="zh-CN" altLang="en-US" sz="120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51" name="圆角矩形 150"/>
          <p:cNvSpPr/>
          <p:nvPr/>
        </p:nvSpPr>
        <p:spPr bwMode="gray">
          <a:xfrm>
            <a:off x="5370925" y="1698423"/>
            <a:ext cx="717477" cy="218361"/>
          </a:xfrm>
          <a:prstGeom prst="roundRect">
            <a:avLst/>
          </a:prstGeom>
          <a:solidFill>
            <a:srgbClr val="30B5C5"/>
          </a:solidFill>
          <a:ln w="12700" cap="flat" cmpd="sng" algn="ctr">
            <a:noFill/>
            <a:prstDash val="sysDot"/>
            <a:round/>
            <a:headEnd type="none" w="med" len="med"/>
            <a:tailEnd type="none" w="med" len="med"/>
          </a:ln>
          <a:extLst/>
        </p:spPr>
        <p:txBody>
          <a:bodyPr vert="horz" wrap="square" lIns="0" tIns="0" rIns="0" bIns="0" numCol="1" rtlCol="0" anchor="ctr" anchorCtr="0" compatLnSpc="1">
            <a:prstTxWarp prst="textNoShape">
              <a:avLst/>
            </a:prstTxWarp>
            <a:noAutofit/>
          </a:bodyPr>
          <a:lstStyle/>
          <a:p>
            <a:pPr algn="ctr">
              <a:buClr>
                <a:srgbClr val="CC9900"/>
              </a:buClr>
            </a:pPr>
            <a:r>
              <a:rPr lang="en-US" altLang="zh-CN" sz="1200" smtClea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IP/VLAN</a:t>
            </a:r>
            <a:endParaRPr lang="zh-CN" altLang="en-US" sz="120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52" name="圆角矩形 151"/>
          <p:cNvSpPr/>
          <p:nvPr/>
        </p:nvSpPr>
        <p:spPr bwMode="gray">
          <a:xfrm>
            <a:off x="5370925" y="2072079"/>
            <a:ext cx="717477" cy="218361"/>
          </a:xfrm>
          <a:prstGeom prst="roundRect">
            <a:avLst/>
          </a:prstGeom>
          <a:solidFill>
            <a:srgbClr val="30B5C5"/>
          </a:solidFill>
          <a:ln w="12700" cap="flat" cmpd="sng" algn="ctr">
            <a:noFill/>
            <a:prstDash val="sysDot"/>
            <a:round/>
            <a:headEnd type="none" w="med" len="med"/>
            <a:tailEnd type="none" w="med" len="med"/>
          </a:ln>
          <a:extLst/>
        </p:spPr>
        <p:txBody>
          <a:bodyPr vert="horz" wrap="square" lIns="0" tIns="0" rIns="0" bIns="0" numCol="1" rtlCol="0" anchor="ctr" anchorCtr="0" compatLnSpc="1">
            <a:prstTxWarp prst="textNoShape">
              <a:avLst/>
            </a:prstTxWarp>
            <a:noAutofit/>
          </a:bodyPr>
          <a:lstStyle/>
          <a:p>
            <a:pPr algn="ctr">
              <a:buClr>
                <a:srgbClr val="CC9900"/>
              </a:buClr>
            </a:pPr>
            <a:r>
              <a:rPr lang="zh-CN" altLang="en-US" sz="120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接入点</a:t>
            </a:r>
          </a:p>
        </p:txBody>
      </p:sp>
      <p:sp>
        <p:nvSpPr>
          <p:cNvPr id="153" name="圆角矩形 152"/>
          <p:cNvSpPr/>
          <p:nvPr/>
        </p:nvSpPr>
        <p:spPr bwMode="gray">
          <a:xfrm>
            <a:off x="5780582" y="1221692"/>
            <a:ext cx="717477" cy="218361"/>
          </a:xfrm>
          <a:prstGeom prst="roundRect">
            <a:avLst/>
          </a:prstGeom>
          <a:solidFill>
            <a:srgbClr val="30B5C5"/>
          </a:solidFill>
          <a:ln w="12700" cap="flat" cmpd="sng" algn="ctr">
            <a:noFill/>
            <a:prstDash val="sysDot"/>
            <a:round/>
            <a:headEnd type="none" w="med" len="med"/>
            <a:tailEnd type="none" w="med" len="med"/>
          </a:ln>
          <a:extLst/>
        </p:spPr>
        <p:txBody>
          <a:bodyPr vert="horz" wrap="square" lIns="0" tIns="0" rIns="0" bIns="0" numCol="1" rtlCol="0" anchor="ctr" anchorCtr="0" compatLnSpc="1">
            <a:prstTxWarp prst="textNoShape">
              <a:avLst/>
            </a:prstTxWarp>
            <a:noAutofit/>
          </a:bodyPr>
          <a:lstStyle/>
          <a:p>
            <a:pPr algn="ctr">
              <a:buClr>
                <a:srgbClr val="CC9900"/>
              </a:buClr>
            </a:pPr>
            <a:r>
              <a:rPr lang="zh-CN" altLang="en-US" sz="120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网络</a:t>
            </a:r>
            <a:r>
              <a:rPr lang="zh-CN" altLang="en-US" sz="1200" smtClea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服务</a:t>
            </a:r>
            <a:endParaRPr lang="zh-CN" altLang="en-US" sz="120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55" name="直接连接符 154"/>
          <p:cNvCxnSpPr>
            <a:stCxn id="150" idx="2"/>
            <a:endCxn id="151" idx="0"/>
          </p:cNvCxnSpPr>
          <p:nvPr/>
        </p:nvCxnSpPr>
        <p:spPr bwMode="gray">
          <a:xfrm>
            <a:off x="5320007" y="1440053"/>
            <a:ext cx="409657" cy="258370"/>
          </a:xfrm>
          <a:prstGeom prst="line">
            <a:avLst/>
          </a:prstGeom>
          <a:ln>
            <a:solidFill>
              <a:srgbClr val="30B5C5"/>
            </a:solidFill>
          </a:ln>
        </p:spPr>
        <p:style>
          <a:lnRef idx="1">
            <a:schemeClr val="accent1"/>
          </a:lnRef>
          <a:fillRef idx="0">
            <a:schemeClr val="accent1"/>
          </a:fillRef>
          <a:effectRef idx="0">
            <a:schemeClr val="accent1"/>
          </a:effectRef>
          <a:fontRef idx="minor">
            <a:schemeClr val="tx1"/>
          </a:fontRef>
        </p:style>
      </p:cxnSp>
      <p:cxnSp>
        <p:nvCxnSpPr>
          <p:cNvPr id="156" name="直接连接符 155"/>
          <p:cNvCxnSpPr>
            <a:stCxn id="153" idx="2"/>
            <a:endCxn id="151" idx="0"/>
          </p:cNvCxnSpPr>
          <p:nvPr/>
        </p:nvCxnSpPr>
        <p:spPr bwMode="gray">
          <a:xfrm flipH="1">
            <a:off x="5729664" y="1440053"/>
            <a:ext cx="409657" cy="258370"/>
          </a:xfrm>
          <a:prstGeom prst="line">
            <a:avLst/>
          </a:prstGeom>
          <a:ln>
            <a:solidFill>
              <a:srgbClr val="30B5C5"/>
            </a:solidFill>
          </a:ln>
        </p:spPr>
        <p:style>
          <a:lnRef idx="1">
            <a:schemeClr val="accent1"/>
          </a:lnRef>
          <a:fillRef idx="0">
            <a:schemeClr val="accent1"/>
          </a:fillRef>
          <a:effectRef idx="0">
            <a:schemeClr val="accent1"/>
          </a:effectRef>
          <a:fontRef idx="minor">
            <a:schemeClr val="tx1"/>
          </a:fontRef>
        </p:style>
      </p:cxnSp>
      <p:cxnSp>
        <p:nvCxnSpPr>
          <p:cNvPr id="159" name="直接连接符 158"/>
          <p:cNvCxnSpPr>
            <a:stCxn id="151" idx="2"/>
            <a:endCxn id="152" idx="0"/>
          </p:cNvCxnSpPr>
          <p:nvPr/>
        </p:nvCxnSpPr>
        <p:spPr bwMode="gray">
          <a:xfrm>
            <a:off x="5729664" y="1916784"/>
            <a:ext cx="0" cy="155295"/>
          </a:xfrm>
          <a:prstGeom prst="line">
            <a:avLst/>
          </a:prstGeom>
          <a:ln>
            <a:solidFill>
              <a:srgbClr val="30B5C5"/>
            </a:solidFill>
          </a:ln>
        </p:spPr>
        <p:style>
          <a:lnRef idx="1">
            <a:schemeClr val="accent1"/>
          </a:lnRef>
          <a:fillRef idx="0">
            <a:schemeClr val="accent1"/>
          </a:fillRef>
          <a:effectRef idx="0">
            <a:schemeClr val="accent1"/>
          </a:effectRef>
          <a:fontRef idx="minor">
            <a:schemeClr val="tx1"/>
          </a:fontRef>
        </p:style>
      </p:cxnSp>
      <p:sp>
        <p:nvSpPr>
          <p:cNvPr id="162" name="矩形 161"/>
          <p:cNvSpPr/>
          <p:nvPr/>
        </p:nvSpPr>
        <p:spPr bwMode="gray">
          <a:xfrm>
            <a:off x="5185932" y="2305614"/>
            <a:ext cx="1067921" cy="276999"/>
          </a:xfrm>
          <a:prstGeom prst="rect">
            <a:avLst/>
          </a:prstGeom>
        </p:spPr>
        <p:txBody>
          <a:bodyPr wrap="none">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Fabric</a:t>
            </a:r>
            <a:r>
              <a:rPr lang="zh-CN" altLang="en-US" sz="1200" dirty="0" smtClean="0">
                <a:latin typeface="Huawei Sans" panose="020C0503030203020204" pitchFamily="34" charset="0"/>
                <a:ea typeface="方正兰亭黑简体" panose="02000000000000000000" pitchFamily="2" charset="-122"/>
                <a:sym typeface="Huawei Sans" panose="020C0503030203020204" pitchFamily="34" charset="0"/>
              </a:rPr>
              <a:t>实例化</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4" name="矩形 163"/>
          <p:cNvSpPr/>
          <p:nvPr/>
        </p:nvSpPr>
        <p:spPr bwMode="gray">
          <a:xfrm>
            <a:off x="7114270" y="1785280"/>
            <a:ext cx="4589222" cy="3939540"/>
          </a:xfrm>
          <a:prstGeom prst="rect">
            <a:avLst/>
          </a:prstGeom>
        </p:spPr>
        <p:txBody>
          <a:bodyPr wrap="square">
            <a:spAutoFit/>
          </a:bodyPr>
          <a:lstStyle/>
          <a:p>
            <a:pPr marL="179388" indent="-179388" algn="just">
              <a:lnSpc>
                <a:spcPct val="150000"/>
              </a:lnSpc>
              <a:spcAft>
                <a:spcPts val="600"/>
              </a:spcAft>
              <a:buFont typeface="Arial" panose="020B0604020202020204" pitchFamily="34" charset="0"/>
              <a:buChar char="•"/>
            </a:pPr>
            <a:r>
              <a:rPr lang="en-US" altLang="zh-CN" sz="1600" b="1" dirty="0"/>
              <a:t>Underlay</a:t>
            </a:r>
            <a:r>
              <a:rPr lang="zh-CN" altLang="en-US" sz="1600" b="1" dirty="0" smtClean="0"/>
              <a:t>：</a:t>
            </a:r>
            <a:r>
              <a:rPr lang="zh-CN" altLang="en-US" sz="1600" dirty="0" smtClean="0"/>
              <a:t>由</a:t>
            </a:r>
            <a:r>
              <a:rPr lang="zh-CN" altLang="en-US" sz="1600" dirty="0"/>
              <a:t>实体网络设备（如交换机、</a:t>
            </a:r>
            <a:r>
              <a:rPr lang="en-US" altLang="zh-CN" sz="1600" dirty="0" smtClean="0"/>
              <a:t>AP</a:t>
            </a:r>
            <a:r>
              <a:rPr lang="zh-CN" altLang="en-US" sz="1600" dirty="0" smtClean="0"/>
              <a:t>、防火墙、路由器</a:t>
            </a:r>
            <a:r>
              <a:rPr lang="zh-CN" altLang="en-US" sz="1600" dirty="0"/>
              <a:t>等）建立的物理拓扑组网，为园区所有业务提供互联互通的能力，是园区业务数据转发的基础承载网络。</a:t>
            </a:r>
          </a:p>
          <a:p>
            <a:pPr marL="179388" indent="-179388" algn="just">
              <a:lnSpc>
                <a:spcPct val="150000"/>
              </a:lnSpc>
              <a:spcAft>
                <a:spcPts val="600"/>
              </a:spcAft>
              <a:buFont typeface="Arial" panose="020B0604020202020204" pitchFamily="34" charset="0"/>
              <a:buChar char="•"/>
            </a:pPr>
            <a:r>
              <a:rPr lang="en-US" altLang="zh-CN" sz="1600" b="1" dirty="0" smtClean="0"/>
              <a:t>Fabric</a:t>
            </a:r>
            <a:r>
              <a:rPr lang="zh-CN" altLang="en-US" sz="1600" b="1" dirty="0"/>
              <a:t>：</a:t>
            </a:r>
            <a:r>
              <a:rPr lang="zh-CN" altLang="en-US" sz="1600" dirty="0"/>
              <a:t>对</a:t>
            </a:r>
            <a:r>
              <a:rPr lang="en-US" altLang="zh-CN" sz="1600" dirty="0"/>
              <a:t>Underlay</a:t>
            </a:r>
            <a:r>
              <a:rPr lang="zh-CN" altLang="en-US" sz="1600" dirty="0"/>
              <a:t>网络抽象后的资源池化网络。在创建实例化的虚拟网络（</a:t>
            </a:r>
            <a:r>
              <a:rPr lang="en-US" altLang="zh-CN" sz="1600" dirty="0"/>
              <a:t>VN</a:t>
            </a:r>
            <a:r>
              <a:rPr lang="zh-CN" altLang="en-US" sz="1600" dirty="0"/>
              <a:t>）时，可以选取</a:t>
            </a:r>
            <a:r>
              <a:rPr lang="en-US" altLang="zh-CN" sz="1600" dirty="0"/>
              <a:t>Fabric</a:t>
            </a:r>
            <a:r>
              <a:rPr lang="zh-CN" altLang="en-US" sz="1600" dirty="0"/>
              <a:t>中的网络资源。</a:t>
            </a:r>
          </a:p>
          <a:p>
            <a:pPr marL="179388" indent="-179388" algn="just">
              <a:lnSpc>
                <a:spcPct val="150000"/>
              </a:lnSpc>
              <a:spcAft>
                <a:spcPts val="600"/>
              </a:spcAft>
              <a:buFont typeface="Arial" panose="020B0604020202020204" pitchFamily="34" charset="0"/>
              <a:buChar char="•"/>
            </a:pPr>
            <a:r>
              <a:rPr lang="zh-CN" altLang="en-US" sz="1600" b="1" dirty="0" smtClean="0"/>
              <a:t>虚拟</a:t>
            </a:r>
            <a:r>
              <a:rPr lang="zh-CN" altLang="en-US" sz="1600" b="1" dirty="0"/>
              <a:t>网络（</a:t>
            </a:r>
            <a:r>
              <a:rPr lang="en-US" altLang="zh-CN" sz="1600" b="1" dirty="0"/>
              <a:t>VN</a:t>
            </a:r>
            <a:r>
              <a:rPr lang="zh-CN" altLang="en-US" sz="1600" b="1" dirty="0"/>
              <a:t>）</a:t>
            </a:r>
            <a:r>
              <a:rPr lang="zh-CN" altLang="en-US" sz="1600" b="1" dirty="0" smtClean="0"/>
              <a:t>：</a:t>
            </a:r>
            <a:r>
              <a:rPr lang="zh-CN" altLang="en-US" sz="1600" dirty="0" smtClean="0"/>
              <a:t>通过</a:t>
            </a:r>
            <a:r>
              <a:rPr lang="zh-CN" altLang="en-US" sz="1600" dirty="0"/>
              <a:t>将</a:t>
            </a:r>
            <a:r>
              <a:rPr lang="en-US" altLang="zh-CN" sz="1600" dirty="0"/>
              <a:t>Fabric</a:t>
            </a:r>
            <a:r>
              <a:rPr lang="zh-CN" altLang="en-US" sz="1600" dirty="0"/>
              <a:t>实例化，能够构建逻辑上隔离的虚拟网络</a:t>
            </a:r>
            <a:r>
              <a:rPr lang="zh-CN" altLang="en-US" sz="1600" dirty="0" smtClean="0"/>
              <a:t>实例。</a:t>
            </a:r>
            <a:r>
              <a:rPr lang="zh-CN" altLang="en-US" sz="1600" dirty="0"/>
              <a:t>一个</a:t>
            </a:r>
            <a:r>
              <a:rPr lang="en-US" altLang="zh-CN" sz="1600" dirty="0"/>
              <a:t>VN</a:t>
            </a:r>
            <a:r>
              <a:rPr lang="zh-CN" altLang="en-US" sz="1600" dirty="0"/>
              <a:t>对应一个隔离网络（业务网络），比如研发专网。</a:t>
            </a:r>
          </a:p>
        </p:txBody>
      </p:sp>
      <p:sp>
        <p:nvSpPr>
          <p:cNvPr id="81" name="矩形 80"/>
          <p:cNvSpPr/>
          <p:nvPr/>
        </p:nvSpPr>
        <p:spPr bwMode="gray">
          <a:xfrm>
            <a:off x="4365349" y="5183237"/>
            <a:ext cx="619080" cy="307777"/>
          </a:xfrm>
          <a:prstGeom prst="rect">
            <a:avLst/>
          </a:prstGeom>
        </p:spPr>
        <p:txBody>
          <a:bodyPr wrap="square">
            <a:noAutofit/>
          </a:bodyPr>
          <a:lstStyle/>
          <a:p>
            <a:r>
              <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OSPF</a:t>
            </a:r>
          </a:p>
        </p:txBody>
      </p:sp>
      <p:sp>
        <p:nvSpPr>
          <p:cNvPr id="84" name="文本框 83"/>
          <p:cNvSpPr txBox="1"/>
          <p:nvPr/>
        </p:nvSpPr>
        <p:spPr bwMode="gray">
          <a:xfrm>
            <a:off x="3598202" y="3650359"/>
            <a:ext cx="1033430" cy="278383"/>
          </a:xfrm>
          <a:prstGeom prst="rect">
            <a:avLst/>
          </a:prstGeom>
          <a:noFill/>
        </p:spPr>
        <p:txBody>
          <a:bodyPr wrap="square" rtlCol="0">
            <a:noAutofit/>
          </a:bodyPr>
          <a:lstStyle/>
          <a:p>
            <a:pPr algn="ctr" fontAlgn="ctr"/>
            <a:r>
              <a:rPr lang="en-US" altLang="zh-CN" sz="1400" dirty="0" smtClean="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VXLAN </a:t>
            </a:r>
            <a:endParaRPr lang="en-US" altLang="zh-CN" sz="14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212094795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normAutofit/>
          </a:bodyPr>
          <a:lstStyle/>
          <a:p>
            <a:r>
              <a:rPr lang="zh-CN" altLang="en-US" dirty="0" smtClean="0"/>
              <a:t>知识回顾：虚拟化园区网络中的网络节点</a:t>
            </a:r>
            <a:endParaRPr lang="zh-CN" altLang="en-US" dirty="0"/>
          </a:p>
        </p:txBody>
      </p:sp>
      <p:pic>
        <p:nvPicPr>
          <p:cNvPr id="3" name="图片 87" descr="汇聚交换机.png"/>
          <p:cNvPicPr>
            <a:picLocks noChangeAspect="1"/>
          </p:cNvPicPr>
          <p:nvPr/>
        </p:nvPicPr>
        <p:blipFill>
          <a:blip r:embed="rId3"/>
          <a:stretch>
            <a:fillRect/>
          </a:stretch>
        </p:blipFill>
        <p:spPr bwMode="gray">
          <a:xfrm>
            <a:off x="2888961" y="3377395"/>
            <a:ext cx="369473" cy="302297"/>
          </a:xfrm>
          <a:prstGeom prst="rect">
            <a:avLst/>
          </a:prstGeom>
          <a:effectLst/>
        </p:spPr>
      </p:pic>
      <p:sp>
        <p:nvSpPr>
          <p:cNvPr id="4" name="任意多边形 3"/>
          <p:cNvSpPr/>
          <p:nvPr/>
        </p:nvSpPr>
        <p:spPr bwMode="gray">
          <a:xfrm>
            <a:off x="1947969" y="2456990"/>
            <a:ext cx="4092505" cy="2223824"/>
          </a:xfrm>
          <a:custGeom>
            <a:avLst/>
            <a:gdLst>
              <a:gd name="connsiteX0" fmla="*/ 1522976 w 3069379"/>
              <a:gd name="connsiteY0" fmla="*/ 0 h 1667868"/>
              <a:gd name="connsiteX1" fmla="*/ 2105444 w 3069379"/>
              <a:gd name="connsiteY1" fmla="*/ 243498 h 1667868"/>
              <a:gd name="connsiteX2" fmla="*/ 2165457 w 3069379"/>
              <a:gd name="connsiteY2" fmla="*/ 316907 h 1667868"/>
              <a:gd name="connsiteX3" fmla="*/ 2204139 w 3069379"/>
              <a:gd name="connsiteY3" fmla="*/ 313329 h 1667868"/>
              <a:gd name="connsiteX4" fmla="*/ 2688456 w 3069379"/>
              <a:gd name="connsiteY4" fmla="*/ 757688 h 1667868"/>
              <a:gd name="connsiteX5" fmla="*/ 2679008 w 3069379"/>
              <a:gd name="connsiteY5" fmla="*/ 843679 h 1667868"/>
              <a:gd name="connsiteX6" fmla="*/ 2742591 w 3069379"/>
              <a:gd name="connsiteY6" fmla="*/ 850148 h 1667868"/>
              <a:gd name="connsiteX7" fmla="*/ 3069379 w 3069379"/>
              <a:gd name="connsiteY7" fmla="*/ 1254812 h 1667868"/>
              <a:gd name="connsiteX8" fmla="*/ 2742591 w 3069379"/>
              <a:gd name="connsiteY8" fmla="*/ 1659476 h 1667868"/>
              <a:gd name="connsiteX9" fmla="*/ 2727471 w 3069379"/>
              <a:gd name="connsiteY9" fmla="*/ 1661015 h 1667868"/>
              <a:gd name="connsiteX10" fmla="*/ 2727471 w 3069379"/>
              <a:gd name="connsiteY10" fmla="*/ 1667868 h 1667868"/>
              <a:gd name="connsiteX11" fmla="*/ 2660108 w 3069379"/>
              <a:gd name="connsiteY11" fmla="*/ 1667868 h 1667868"/>
              <a:gd name="connsiteX12" fmla="*/ 450197 w 3069379"/>
              <a:gd name="connsiteY12" fmla="*/ 1667868 h 1667868"/>
              <a:gd name="connsiteX13" fmla="*/ 373665 w 3069379"/>
              <a:gd name="connsiteY13" fmla="*/ 1667868 h 1667868"/>
              <a:gd name="connsiteX14" fmla="*/ 373665 w 3069379"/>
              <a:gd name="connsiteY14" fmla="*/ 1660082 h 1667868"/>
              <a:gd name="connsiteX15" fmla="*/ 359467 w 3069379"/>
              <a:gd name="connsiteY15" fmla="*/ 1658637 h 1667868"/>
              <a:gd name="connsiteX16" fmla="*/ 0 w 3069379"/>
              <a:gd name="connsiteY16" fmla="*/ 1213505 h 1667868"/>
              <a:gd name="connsiteX17" fmla="*/ 274960 w 3069379"/>
              <a:gd name="connsiteY17" fmla="*/ 794848 h 1667868"/>
              <a:gd name="connsiteX18" fmla="*/ 303951 w 3069379"/>
              <a:gd name="connsiteY18" fmla="*/ 785765 h 1667868"/>
              <a:gd name="connsiteX19" fmla="*/ 315888 w 3069379"/>
              <a:gd name="connsiteY19" fmla="*/ 677121 h 1667868"/>
              <a:gd name="connsiteX20" fmla="*/ 931587 w 3069379"/>
              <a:gd name="connsiteY20" fmla="*/ 216713 h 1667868"/>
              <a:gd name="connsiteX21" fmla="*/ 968567 w 3069379"/>
              <a:gd name="connsiteY21" fmla="*/ 220133 h 1667868"/>
              <a:gd name="connsiteX22" fmla="*/ 1062419 w 3069379"/>
              <a:gd name="connsiteY22" fmla="*/ 141982 h 1667868"/>
              <a:gd name="connsiteX23" fmla="*/ 1522976 w 3069379"/>
              <a:gd name="connsiteY23" fmla="*/ 0 h 16678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069379" h="1667868">
                <a:moveTo>
                  <a:pt x="1522976" y="0"/>
                </a:moveTo>
                <a:cubicBezTo>
                  <a:pt x="1750444" y="0"/>
                  <a:pt x="1956378" y="93052"/>
                  <a:pt x="2105444" y="243498"/>
                </a:cubicBezTo>
                <a:lnTo>
                  <a:pt x="2165457" y="316907"/>
                </a:lnTo>
                <a:lnTo>
                  <a:pt x="2204139" y="313329"/>
                </a:lnTo>
                <a:cubicBezTo>
                  <a:pt x="2471620" y="313329"/>
                  <a:pt x="2688456" y="512275"/>
                  <a:pt x="2688456" y="757688"/>
                </a:cubicBezTo>
                <a:lnTo>
                  <a:pt x="2679008" y="843679"/>
                </a:lnTo>
                <a:lnTo>
                  <a:pt x="2742591" y="850148"/>
                </a:lnTo>
                <a:cubicBezTo>
                  <a:pt x="2929088" y="888664"/>
                  <a:pt x="3069379" y="1055202"/>
                  <a:pt x="3069379" y="1254812"/>
                </a:cubicBezTo>
                <a:cubicBezTo>
                  <a:pt x="3069379" y="1454421"/>
                  <a:pt x="2929088" y="1620960"/>
                  <a:pt x="2742591" y="1659476"/>
                </a:cubicBezTo>
                <a:lnTo>
                  <a:pt x="2727471" y="1661015"/>
                </a:lnTo>
                <a:lnTo>
                  <a:pt x="2727471" y="1667868"/>
                </a:lnTo>
                <a:lnTo>
                  <a:pt x="2660108" y="1667868"/>
                </a:lnTo>
                <a:lnTo>
                  <a:pt x="450197" y="1667868"/>
                </a:lnTo>
                <a:lnTo>
                  <a:pt x="373665" y="1667868"/>
                </a:lnTo>
                <a:lnTo>
                  <a:pt x="373665" y="1660082"/>
                </a:lnTo>
                <a:lnTo>
                  <a:pt x="359467" y="1658637"/>
                </a:lnTo>
                <a:cubicBezTo>
                  <a:pt x="154319" y="1616269"/>
                  <a:pt x="0" y="1433076"/>
                  <a:pt x="0" y="1213505"/>
                </a:cubicBezTo>
                <a:cubicBezTo>
                  <a:pt x="0" y="1025301"/>
                  <a:pt x="113377" y="863824"/>
                  <a:pt x="274960" y="794848"/>
                </a:cubicBezTo>
                <a:lnTo>
                  <a:pt x="303951" y="785765"/>
                </a:lnTo>
                <a:lnTo>
                  <a:pt x="315888" y="677121"/>
                </a:lnTo>
                <a:cubicBezTo>
                  <a:pt x="374490" y="414367"/>
                  <a:pt x="627881" y="216713"/>
                  <a:pt x="931587" y="216713"/>
                </a:cubicBezTo>
                <a:lnTo>
                  <a:pt x="968567" y="220133"/>
                </a:lnTo>
                <a:lnTo>
                  <a:pt x="1062419" y="141982"/>
                </a:lnTo>
                <a:cubicBezTo>
                  <a:pt x="1193887" y="52342"/>
                  <a:pt x="1352375" y="0"/>
                  <a:pt x="1522976" y="0"/>
                </a:cubicBezTo>
                <a:close/>
              </a:path>
            </a:pathLst>
          </a:custGeom>
          <a:solidFill>
            <a:srgbClr val="E3F6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lt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 name="矩形 4"/>
          <p:cNvSpPr/>
          <p:nvPr/>
        </p:nvSpPr>
        <p:spPr bwMode="gray">
          <a:xfrm>
            <a:off x="6283567" y="1389496"/>
            <a:ext cx="5429008" cy="4278094"/>
          </a:xfrm>
          <a:prstGeom prst="rect">
            <a:avLst/>
          </a:prstGeom>
        </p:spPr>
        <p:txBody>
          <a:bodyPr wrap="square">
            <a:spAutoFit/>
          </a:bodyPr>
          <a:lstStyle/>
          <a:p>
            <a:pPr marL="228600" indent="-228600" algn="just" defTabSz="1218844" hangingPunct="0">
              <a:lnSpc>
                <a:spcPct val="150000"/>
              </a:lnSpc>
              <a:spcAft>
                <a:spcPts val="600"/>
              </a:spcAft>
              <a:buSzPct val="60000"/>
              <a:buFont typeface="Wingdings" panose="05000000000000000000" pitchFamily="2" charset="2"/>
              <a:buChar char="l"/>
              <a:defRPr/>
            </a:pPr>
            <a:r>
              <a:rPr lang="zh-CN" altLang="en-US" sz="1400" b="1"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出口网关：</a:t>
            </a:r>
            <a:r>
              <a:rPr lang="zh-CN" altLang="en-US" sz="140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园区网络的出口设备，可以是</a:t>
            </a:r>
            <a:r>
              <a:rPr lang="en-US" altLang="zh-CN" sz="140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AR</a:t>
            </a:r>
            <a:r>
              <a:rPr lang="zh-CN" altLang="en-US" sz="140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路由器或防火墙。</a:t>
            </a:r>
            <a:endParaRPr lang="en-US" altLang="zh-CN" sz="140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a:p>
            <a:pPr marL="228600" indent="-228600" algn="just" defTabSz="1218844" hangingPunct="0">
              <a:lnSpc>
                <a:spcPct val="150000"/>
              </a:lnSpc>
              <a:spcAft>
                <a:spcPts val="600"/>
              </a:spcAft>
              <a:buSzPct val="60000"/>
              <a:buFont typeface="Wingdings" panose="05000000000000000000" pitchFamily="2" charset="2"/>
              <a:buChar char="l"/>
              <a:defRPr/>
            </a:pPr>
            <a:r>
              <a:rPr lang="zh-CN" altLang="en-US" sz="1400" b="1"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边界网关（</a:t>
            </a:r>
            <a:r>
              <a:rPr lang="en-US" altLang="zh-CN" sz="1400" b="1"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Border</a:t>
            </a:r>
            <a:r>
              <a:rPr lang="zh-CN" altLang="en-US" sz="1400" b="1"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）节点：</a:t>
            </a:r>
            <a:r>
              <a:rPr lang="zh-CN" altLang="en-US" sz="140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用于实现</a:t>
            </a:r>
            <a:r>
              <a:rPr lang="en-US" altLang="zh-CN" sz="140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Fabric</a:t>
            </a:r>
            <a:r>
              <a:rPr lang="zh-CN" altLang="en-US" sz="140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和外部网络之间的互联</a:t>
            </a:r>
            <a:r>
              <a:rPr lang="zh-CN" altLang="en-US" sz="14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互通</a:t>
            </a:r>
            <a:r>
              <a:rPr lang="zh-CN" altLang="en-US" sz="140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。一般</a:t>
            </a:r>
            <a:r>
              <a:rPr lang="zh-CN" altLang="en-US" sz="14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为</a:t>
            </a:r>
            <a:r>
              <a:rPr lang="zh-CN" altLang="en-US" sz="140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核心交换机。</a:t>
            </a:r>
            <a:endParaRPr lang="zh-CN" altLang="en-US" sz="14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a:p>
            <a:pPr marL="228600" indent="-228600" algn="just" defTabSz="1218844" hangingPunct="0">
              <a:lnSpc>
                <a:spcPct val="150000"/>
              </a:lnSpc>
              <a:spcAft>
                <a:spcPts val="600"/>
              </a:spcAft>
              <a:buSzPct val="60000"/>
              <a:buFont typeface="Wingdings" panose="05000000000000000000" pitchFamily="2" charset="2"/>
              <a:buChar char="l"/>
              <a:defRPr/>
            </a:pPr>
            <a:r>
              <a:rPr lang="zh-CN" altLang="en-US" sz="1400" b="1"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边缘（</a:t>
            </a:r>
            <a:r>
              <a:rPr lang="en-US" altLang="zh-CN" sz="1400" b="1"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Edge</a:t>
            </a:r>
            <a:r>
              <a:rPr lang="zh-CN" altLang="en-US" sz="1400" b="1"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）节点：</a:t>
            </a:r>
            <a:r>
              <a:rPr lang="en-US" altLang="zh-CN" sz="140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Fabric</a:t>
            </a:r>
            <a:r>
              <a:rPr lang="zh-CN" altLang="en-US" sz="140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边缘设备，用于连接用户侧设备及</a:t>
            </a:r>
            <a:r>
              <a:rPr lang="en-US" altLang="zh-CN" sz="140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Fabric</a:t>
            </a:r>
            <a:r>
              <a:rPr lang="zh-CN" altLang="en-US" sz="140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。有线用户的数据从边缘节点进入</a:t>
            </a:r>
            <a:r>
              <a:rPr lang="en-US" altLang="zh-CN" sz="140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VXLAN</a:t>
            </a:r>
            <a:r>
              <a:rPr lang="zh-CN" altLang="en-US" sz="140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封装。</a:t>
            </a:r>
            <a:endParaRPr lang="zh-CN" altLang="en-US" sz="14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a:p>
            <a:pPr marL="228600" indent="-228600" algn="just" defTabSz="1218844" hangingPunct="0">
              <a:lnSpc>
                <a:spcPct val="150000"/>
              </a:lnSpc>
              <a:spcAft>
                <a:spcPts val="600"/>
              </a:spcAft>
              <a:buSzPct val="60000"/>
              <a:buFont typeface="Wingdings" panose="05000000000000000000" pitchFamily="2" charset="2"/>
              <a:buChar char="l"/>
              <a:defRPr/>
            </a:pPr>
            <a:r>
              <a:rPr lang="zh-CN" altLang="en-US" sz="1400" b="1"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透传</a:t>
            </a:r>
            <a:r>
              <a:rPr lang="zh-CN" altLang="en-US" sz="1400" b="1"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b="1"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Transparent</a:t>
            </a:r>
            <a:r>
              <a:rPr lang="zh-CN" altLang="en-US" sz="1400" b="1"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）节点：</a:t>
            </a:r>
            <a:r>
              <a:rPr lang="en-US" altLang="zh-CN" sz="140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Fabric</a:t>
            </a:r>
            <a:r>
              <a:rPr lang="zh-CN" altLang="en-US" sz="140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的</a:t>
            </a:r>
            <a:r>
              <a:rPr lang="zh-CN" altLang="en-US" sz="14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透传节点</a:t>
            </a:r>
            <a:r>
              <a:rPr lang="zh-CN" altLang="en-US" sz="140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，无需支持</a:t>
            </a:r>
            <a:r>
              <a:rPr lang="en-US" altLang="zh-CN" sz="140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VXLAN</a:t>
            </a:r>
            <a:r>
              <a:rPr lang="zh-CN" altLang="en-US" sz="140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a:t>
            </a:r>
            <a:endParaRPr lang="zh-CN" altLang="en-US" sz="14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a:p>
            <a:pPr marL="228600" indent="-228600" algn="just" defTabSz="1218844" hangingPunct="0">
              <a:lnSpc>
                <a:spcPct val="150000"/>
              </a:lnSpc>
              <a:spcAft>
                <a:spcPts val="600"/>
              </a:spcAft>
              <a:buSzPct val="60000"/>
              <a:buFont typeface="Wingdings" panose="05000000000000000000" pitchFamily="2" charset="2"/>
              <a:buChar char="l"/>
              <a:defRPr/>
            </a:pPr>
            <a:r>
              <a:rPr lang="zh-CN" altLang="en-US" sz="1400" b="1"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接入节点</a:t>
            </a:r>
            <a:r>
              <a:rPr lang="zh-CN" altLang="en-US" sz="1400" b="1"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a:t>
            </a:r>
            <a:r>
              <a:rPr lang="zh-CN" altLang="en-US" sz="14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包含有线接入节点和无线接入节点，一般就是接入交换机及</a:t>
            </a:r>
            <a:r>
              <a:rPr lang="en-US" altLang="zh-CN" sz="14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AP</a:t>
            </a:r>
            <a:r>
              <a:rPr lang="zh-CN" altLang="en-US" sz="14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设备</a:t>
            </a:r>
            <a:r>
              <a:rPr lang="zh-CN" altLang="en-US" sz="140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。其中，有线</a:t>
            </a:r>
            <a:r>
              <a:rPr lang="zh-CN" altLang="en-US" sz="14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接入节点</a:t>
            </a:r>
            <a:r>
              <a:rPr lang="zh-CN" altLang="en-US" sz="140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可以</a:t>
            </a:r>
            <a:r>
              <a:rPr lang="zh-CN" altLang="en-US" sz="14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和</a:t>
            </a:r>
            <a:r>
              <a:rPr lang="en-US" altLang="zh-CN" sz="14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Edge</a:t>
            </a:r>
            <a:r>
              <a:rPr lang="zh-CN" altLang="en-US" sz="14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节点合一</a:t>
            </a:r>
            <a:r>
              <a:rPr lang="zh-CN" altLang="en-US" sz="140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，即</a:t>
            </a:r>
            <a:r>
              <a:rPr lang="en-US" altLang="zh-CN" sz="140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VXLAN</a:t>
            </a:r>
            <a:r>
              <a:rPr lang="zh-CN" altLang="en-US" sz="140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到接入；另一种组网方式是有线接入节点无需支持</a:t>
            </a:r>
            <a:r>
              <a:rPr lang="en-US" altLang="zh-CN" sz="140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VXLAN</a:t>
            </a:r>
            <a:r>
              <a:rPr lang="zh-CN" altLang="en-US" sz="140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，而汇聚交换机和</a:t>
            </a:r>
            <a:r>
              <a:rPr lang="en-US" altLang="zh-CN" sz="140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Edge</a:t>
            </a:r>
            <a:r>
              <a:rPr lang="zh-CN" altLang="en-US" sz="140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节点合一，即</a:t>
            </a:r>
            <a:r>
              <a:rPr lang="en-US" altLang="zh-CN" sz="140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VXLAN</a:t>
            </a:r>
            <a:r>
              <a:rPr lang="zh-CN" altLang="en-US" sz="140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到汇聚，而有线接入节点与上联的</a:t>
            </a:r>
            <a:r>
              <a:rPr lang="en-US" altLang="zh-CN" sz="140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VXLAN</a:t>
            </a:r>
            <a:r>
              <a:rPr lang="zh-CN" altLang="en-US" sz="140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边缘节点建立策略联动。</a:t>
            </a:r>
            <a:r>
              <a:rPr lang="en-US" altLang="zh-CN" sz="140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 </a:t>
            </a:r>
            <a:endParaRPr lang="zh-CN" altLang="en-US" sz="14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 name="圆角矩形 5"/>
          <p:cNvSpPr/>
          <p:nvPr/>
        </p:nvSpPr>
        <p:spPr bwMode="gray">
          <a:xfrm>
            <a:off x="1947969" y="4727113"/>
            <a:ext cx="4092504" cy="992207"/>
          </a:xfrm>
          <a:prstGeom prst="roundRect">
            <a:avLst/>
          </a:prstGeom>
          <a:solidFill>
            <a:sysClr val="window" lastClr="FFFFFF">
              <a:lumMod val="95000"/>
            </a:sysClr>
          </a:solidFill>
          <a:ln w="12700" cap="flat" cmpd="sng" algn="ctr">
            <a:noFill/>
            <a:prstDash val="solid"/>
            <a:miter lim="800000"/>
          </a:ln>
          <a:effectLst/>
        </p:spPr>
        <p:txBody>
          <a:bodyPr wrap="square" rtlCol="0" anchor="ctr">
            <a:noAutofit/>
          </a:bodyPr>
          <a:lstStyle/>
          <a:p>
            <a:pPr algn="ctr" defTabSz="1219170" fontAlgn="ctr">
              <a:defRPr/>
            </a:pPr>
            <a:endParaRPr lang="en-US" altLang="zh-CN" sz="2400" kern="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7" name="Group 165"/>
          <p:cNvGrpSpPr/>
          <p:nvPr/>
        </p:nvGrpSpPr>
        <p:grpSpPr bwMode="gray">
          <a:xfrm rot="10800000">
            <a:off x="4600736" y="4637264"/>
            <a:ext cx="1001411" cy="575601"/>
            <a:chOff x="-1233037" y="914446"/>
            <a:chExt cx="1573823" cy="778776"/>
          </a:xfrm>
        </p:grpSpPr>
        <p:cxnSp>
          <p:nvCxnSpPr>
            <p:cNvPr id="8" name="Straight Connector 166"/>
            <p:cNvCxnSpPr/>
            <p:nvPr/>
          </p:nvCxnSpPr>
          <p:spPr bwMode="gray">
            <a:xfrm flipH="1" flipV="1">
              <a:off x="-1233037" y="914446"/>
              <a:ext cx="786912" cy="778776"/>
            </a:xfrm>
            <a:prstGeom prst="line">
              <a:avLst/>
            </a:prstGeom>
            <a:noFill/>
            <a:ln w="12700" cap="flat" cmpd="sng" algn="ctr">
              <a:solidFill>
                <a:sysClr val="window" lastClr="FFFFFF">
                  <a:lumMod val="75000"/>
                </a:sysClr>
              </a:solidFill>
              <a:prstDash val="solid"/>
              <a:miter lim="800000"/>
            </a:ln>
            <a:effectLst/>
          </p:spPr>
        </p:cxnSp>
        <p:cxnSp>
          <p:nvCxnSpPr>
            <p:cNvPr id="9" name="Straight Connector 167"/>
            <p:cNvCxnSpPr/>
            <p:nvPr/>
          </p:nvCxnSpPr>
          <p:spPr bwMode="gray">
            <a:xfrm flipV="1">
              <a:off x="-446125" y="914446"/>
              <a:ext cx="786911" cy="778776"/>
            </a:xfrm>
            <a:prstGeom prst="line">
              <a:avLst/>
            </a:prstGeom>
            <a:noFill/>
            <a:ln w="12700" cap="flat" cmpd="sng" algn="ctr">
              <a:solidFill>
                <a:sysClr val="window" lastClr="FFFFFF">
                  <a:lumMod val="75000"/>
                </a:sysClr>
              </a:solidFill>
              <a:prstDash val="solid"/>
              <a:miter lim="800000"/>
            </a:ln>
            <a:effectLst/>
          </p:spPr>
        </p:cxnSp>
      </p:grpSp>
      <p:grpSp>
        <p:nvGrpSpPr>
          <p:cNvPr id="10" name="Group 165"/>
          <p:cNvGrpSpPr/>
          <p:nvPr/>
        </p:nvGrpSpPr>
        <p:grpSpPr bwMode="gray">
          <a:xfrm rot="10800000">
            <a:off x="2463288" y="4637264"/>
            <a:ext cx="1001411" cy="575601"/>
            <a:chOff x="-1233037" y="914446"/>
            <a:chExt cx="1573823" cy="778776"/>
          </a:xfrm>
        </p:grpSpPr>
        <p:cxnSp>
          <p:nvCxnSpPr>
            <p:cNvPr id="11" name="Straight Connector 166"/>
            <p:cNvCxnSpPr/>
            <p:nvPr/>
          </p:nvCxnSpPr>
          <p:spPr bwMode="gray">
            <a:xfrm flipH="1" flipV="1">
              <a:off x="-1233037" y="914446"/>
              <a:ext cx="786912" cy="778776"/>
            </a:xfrm>
            <a:prstGeom prst="line">
              <a:avLst/>
            </a:prstGeom>
            <a:noFill/>
            <a:ln w="12700" cap="flat" cmpd="sng" algn="ctr">
              <a:solidFill>
                <a:sysClr val="window" lastClr="FFFFFF">
                  <a:lumMod val="75000"/>
                </a:sysClr>
              </a:solidFill>
              <a:prstDash val="solid"/>
              <a:miter lim="800000"/>
            </a:ln>
            <a:effectLst/>
          </p:spPr>
        </p:cxnSp>
        <p:cxnSp>
          <p:nvCxnSpPr>
            <p:cNvPr id="12" name="Straight Connector 167"/>
            <p:cNvCxnSpPr/>
            <p:nvPr/>
          </p:nvCxnSpPr>
          <p:spPr bwMode="gray">
            <a:xfrm flipV="1">
              <a:off x="-446125" y="914446"/>
              <a:ext cx="786911" cy="778776"/>
            </a:xfrm>
            <a:prstGeom prst="line">
              <a:avLst/>
            </a:prstGeom>
            <a:noFill/>
            <a:ln w="12700" cap="flat" cmpd="sng" algn="ctr">
              <a:solidFill>
                <a:sysClr val="window" lastClr="FFFFFF">
                  <a:lumMod val="75000"/>
                </a:sysClr>
              </a:solidFill>
              <a:prstDash val="solid"/>
              <a:miter lim="800000"/>
            </a:ln>
            <a:effectLst/>
          </p:spPr>
        </p:cxnSp>
      </p:grpSp>
      <p:pic>
        <p:nvPicPr>
          <p:cNvPr id="16" name="图片 87" descr="汇聚交换机.png"/>
          <p:cNvPicPr>
            <a:picLocks noChangeAspect="1"/>
          </p:cNvPicPr>
          <p:nvPr/>
        </p:nvPicPr>
        <p:blipFill>
          <a:blip r:embed="rId3"/>
          <a:stretch>
            <a:fillRect/>
          </a:stretch>
        </p:blipFill>
        <p:spPr bwMode="gray">
          <a:xfrm>
            <a:off x="2780298" y="4527815"/>
            <a:ext cx="369473" cy="302297"/>
          </a:xfrm>
          <a:prstGeom prst="rect">
            <a:avLst/>
          </a:prstGeom>
        </p:spPr>
      </p:pic>
      <p:pic>
        <p:nvPicPr>
          <p:cNvPr id="17" name="图片 76" descr="接入交换机.png"/>
          <p:cNvPicPr>
            <a:picLocks noChangeAspect="1"/>
          </p:cNvPicPr>
          <p:nvPr/>
        </p:nvPicPr>
        <p:blipFill>
          <a:blip r:embed="rId4"/>
          <a:stretch>
            <a:fillRect/>
          </a:stretch>
        </p:blipFill>
        <p:spPr bwMode="gray">
          <a:xfrm>
            <a:off x="2265434" y="5194054"/>
            <a:ext cx="369473" cy="302297"/>
          </a:xfrm>
          <a:prstGeom prst="rect">
            <a:avLst/>
          </a:prstGeom>
        </p:spPr>
      </p:pic>
      <p:pic>
        <p:nvPicPr>
          <p:cNvPr id="19" name="图片 105" descr="AP.png"/>
          <p:cNvPicPr>
            <a:picLocks noChangeAspect="1"/>
          </p:cNvPicPr>
          <p:nvPr/>
        </p:nvPicPr>
        <p:blipFill>
          <a:blip r:embed="rId5"/>
          <a:stretch>
            <a:fillRect/>
          </a:stretch>
        </p:blipFill>
        <p:spPr bwMode="gray">
          <a:xfrm>
            <a:off x="3295034" y="5193947"/>
            <a:ext cx="366860" cy="300160"/>
          </a:xfrm>
          <a:prstGeom prst="rect">
            <a:avLst/>
          </a:prstGeom>
        </p:spPr>
      </p:pic>
      <p:pic>
        <p:nvPicPr>
          <p:cNvPr id="20" name="图片 87" descr="汇聚交换机.png"/>
          <p:cNvPicPr>
            <a:picLocks noChangeAspect="1"/>
          </p:cNvPicPr>
          <p:nvPr/>
        </p:nvPicPr>
        <p:blipFill>
          <a:blip r:embed="rId3"/>
          <a:stretch>
            <a:fillRect/>
          </a:stretch>
        </p:blipFill>
        <p:spPr bwMode="gray">
          <a:xfrm>
            <a:off x="4924316" y="4527815"/>
            <a:ext cx="369473" cy="302297"/>
          </a:xfrm>
          <a:prstGeom prst="rect">
            <a:avLst/>
          </a:prstGeom>
        </p:spPr>
      </p:pic>
      <p:pic>
        <p:nvPicPr>
          <p:cNvPr id="21" name="图片 76" descr="接入交换机.png"/>
          <p:cNvPicPr>
            <a:picLocks noChangeAspect="1"/>
          </p:cNvPicPr>
          <p:nvPr/>
        </p:nvPicPr>
        <p:blipFill>
          <a:blip r:embed="rId4"/>
          <a:stretch>
            <a:fillRect/>
          </a:stretch>
        </p:blipFill>
        <p:spPr bwMode="gray">
          <a:xfrm>
            <a:off x="4409452" y="5194054"/>
            <a:ext cx="369473" cy="302297"/>
          </a:xfrm>
          <a:prstGeom prst="rect">
            <a:avLst/>
          </a:prstGeom>
        </p:spPr>
      </p:pic>
      <p:pic>
        <p:nvPicPr>
          <p:cNvPr id="22" name="图片 105" descr="AP.png"/>
          <p:cNvPicPr>
            <a:picLocks noChangeAspect="1"/>
          </p:cNvPicPr>
          <p:nvPr/>
        </p:nvPicPr>
        <p:blipFill>
          <a:blip r:embed="rId5"/>
          <a:stretch>
            <a:fillRect/>
          </a:stretch>
        </p:blipFill>
        <p:spPr bwMode="gray">
          <a:xfrm>
            <a:off x="5439051" y="5193947"/>
            <a:ext cx="366860" cy="300160"/>
          </a:xfrm>
          <a:prstGeom prst="rect">
            <a:avLst/>
          </a:prstGeom>
        </p:spPr>
      </p:pic>
      <p:pic>
        <p:nvPicPr>
          <p:cNvPr id="24" name="Picture 2" descr="G:\做的项目\公共\扁平图标切换\更新2015_01_21\oss扁平图标库2015_01_21更新-04.png"/>
          <p:cNvPicPr>
            <a:picLocks noChangeAspect="1" noChangeArrowheads="1"/>
          </p:cNvPicPr>
          <p:nvPr/>
        </p:nvPicPr>
        <p:blipFill>
          <a:blip r:embed="rId6"/>
          <a:stretch>
            <a:fillRect/>
          </a:stretch>
        </p:blipFill>
        <p:spPr bwMode="gray">
          <a:xfrm>
            <a:off x="3786504" y="1740776"/>
            <a:ext cx="369473" cy="302297"/>
          </a:xfrm>
          <a:prstGeom prst="rect">
            <a:avLst/>
          </a:prstGeom>
          <a:noFill/>
        </p:spPr>
      </p:pic>
      <p:sp>
        <p:nvSpPr>
          <p:cNvPr id="25" name="文本框 24"/>
          <p:cNvSpPr txBox="1"/>
          <p:nvPr/>
        </p:nvSpPr>
        <p:spPr bwMode="gray">
          <a:xfrm>
            <a:off x="3210100" y="3416058"/>
            <a:ext cx="1516761" cy="584775"/>
          </a:xfrm>
          <a:prstGeom prst="rect">
            <a:avLst/>
          </a:prstGeom>
          <a:noFill/>
        </p:spPr>
        <p:txBody>
          <a:bodyPr wrap="square" rtlCol="0">
            <a:noAutofit/>
          </a:bodyPr>
          <a:lstStyle/>
          <a:p>
            <a:pPr algn="ctr"/>
            <a:r>
              <a:rPr lang="en-US" altLang="zh-CN" sz="1600" dirty="0" smtClean="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Fabric</a:t>
            </a:r>
            <a:r>
              <a:rPr lang="zh-CN" altLang="en-US" sz="1600" dirty="0" smtClean="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域（</a:t>
            </a:r>
            <a:r>
              <a:rPr lang="en-US" altLang="zh-CN" sz="1600" dirty="0" smtClean="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VXLAN</a:t>
            </a:r>
            <a:r>
              <a:rPr lang="zh-CN" altLang="en-US" sz="1600" dirty="0" smtClean="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27" name="直接箭头连接符 26"/>
          <p:cNvCxnSpPr/>
          <p:nvPr/>
        </p:nvCxnSpPr>
        <p:spPr bwMode="gray">
          <a:xfrm>
            <a:off x="1550750" y="2682438"/>
            <a:ext cx="2275223" cy="0"/>
          </a:xfrm>
          <a:prstGeom prst="straightConnector1">
            <a:avLst/>
          </a:prstGeom>
          <a:noFill/>
          <a:ln w="6350" cap="flat" cmpd="sng" algn="ctr">
            <a:solidFill>
              <a:schemeClr val="bg1">
                <a:lumMod val="75000"/>
              </a:schemeClr>
            </a:solidFill>
            <a:prstDash val="solid"/>
            <a:miter lim="800000"/>
            <a:tailEnd type="triangle"/>
          </a:ln>
          <a:effectLst/>
        </p:spPr>
      </p:cxnSp>
      <p:cxnSp>
        <p:nvCxnSpPr>
          <p:cNvPr id="28" name="直接箭头连接符 27"/>
          <p:cNvCxnSpPr/>
          <p:nvPr/>
        </p:nvCxnSpPr>
        <p:spPr bwMode="gray">
          <a:xfrm>
            <a:off x="1550749" y="3535939"/>
            <a:ext cx="1320091" cy="0"/>
          </a:xfrm>
          <a:prstGeom prst="straightConnector1">
            <a:avLst/>
          </a:prstGeom>
          <a:noFill/>
          <a:ln w="6350" cap="flat" cmpd="sng" algn="ctr">
            <a:solidFill>
              <a:schemeClr val="bg1">
                <a:lumMod val="75000"/>
              </a:schemeClr>
            </a:solidFill>
            <a:prstDash val="solid"/>
            <a:miter lim="800000"/>
            <a:tailEnd type="triangle"/>
          </a:ln>
          <a:effectLst/>
        </p:spPr>
      </p:cxnSp>
      <p:cxnSp>
        <p:nvCxnSpPr>
          <p:cNvPr id="29" name="直接箭头连接符 28"/>
          <p:cNvCxnSpPr/>
          <p:nvPr/>
        </p:nvCxnSpPr>
        <p:spPr bwMode="gray">
          <a:xfrm>
            <a:off x="1550750" y="4607117"/>
            <a:ext cx="1190804" cy="0"/>
          </a:xfrm>
          <a:prstGeom prst="straightConnector1">
            <a:avLst/>
          </a:prstGeom>
          <a:noFill/>
          <a:ln w="6350" cap="flat" cmpd="sng" algn="ctr">
            <a:solidFill>
              <a:schemeClr val="bg1">
                <a:lumMod val="75000"/>
              </a:schemeClr>
            </a:solidFill>
            <a:prstDash val="solid"/>
            <a:miter lim="800000"/>
            <a:tailEnd type="triangle"/>
          </a:ln>
          <a:effectLst/>
        </p:spPr>
      </p:cxnSp>
      <p:cxnSp>
        <p:nvCxnSpPr>
          <p:cNvPr id="30" name="直接箭头连接符 29"/>
          <p:cNvCxnSpPr/>
          <p:nvPr/>
        </p:nvCxnSpPr>
        <p:spPr bwMode="gray">
          <a:xfrm>
            <a:off x="1550750" y="5294119"/>
            <a:ext cx="643233" cy="0"/>
          </a:xfrm>
          <a:prstGeom prst="straightConnector1">
            <a:avLst/>
          </a:prstGeom>
          <a:noFill/>
          <a:ln w="6350" cap="flat" cmpd="sng" algn="ctr">
            <a:solidFill>
              <a:schemeClr val="bg1">
                <a:lumMod val="75000"/>
              </a:schemeClr>
            </a:solidFill>
            <a:prstDash val="solid"/>
            <a:miter lim="800000"/>
            <a:tailEnd type="triangle"/>
          </a:ln>
          <a:effectLst/>
        </p:spPr>
      </p:cxnSp>
      <p:cxnSp>
        <p:nvCxnSpPr>
          <p:cNvPr id="31" name="直接箭头连接符 30"/>
          <p:cNvCxnSpPr/>
          <p:nvPr/>
        </p:nvCxnSpPr>
        <p:spPr bwMode="gray">
          <a:xfrm flipV="1">
            <a:off x="2972402" y="5509803"/>
            <a:ext cx="359585" cy="317164"/>
          </a:xfrm>
          <a:prstGeom prst="straightConnector1">
            <a:avLst/>
          </a:prstGeom>
          <a:noFill/>
          <a:ln w="6350" cap="flat" cmpd="sng" algn="ctr">
            <a:solidFill>
              <a:schemeClr val="bg1">
                <a:lumMod val="75000"/>
              </a:schemeClr>
            </a:solidFill>
            <a:prstDash val="solid"/>
            <a:miter lim="800000"/>
            <a:tailEnd type="triangle"/>
          </a:ln>
          <a:effectLst/>
        </p:spPr>
      </p:cxnSp>
      <p:sp>
        <p:nvSpPr>
          <p:cNvPr id="32" name="文本框 31"/>
          <p:cNvSpPr txBox="1"/>
          <p:nvPr/>
        </p:nvSpPr>
        <p:spPr bwMode="gray">
          <a:xfrm>
            <a:off x="3679487" y="4768250"/>
            <a:ext cx="716996" cy="305105"/>
          </a:xfrm>
          <a:prstGeom prst="rect">
            <a:avLst/>
          </a:prstGeom>
          <a:noFill/>
        </p:spPr>
        <p:txBody>
          <a:bodyPr wrap="square" rtlCol="0">
            <a:noAutofit/>
          </a:bodyPr>
          <a:lstStyle/>
          <a:p>
            <a:pPr algn="ctr" fontAlgn="ctr"/>
            <a:r>
              <a:rPr lang="zh-CN" altLang="en-US" sz="1400" dirty="0">
                <a:solidFill>
                  <a:prstClr val="white">
                    <a:lumMod val="50000"/>
                  </a:prstClr>
                </a:solidFill>
                <a:latin typeface="Huawei Sans" panose="020C0503030203020204" pitchFamily="34" charset="0"/>
                <a:ea typeface="方正兰亭黑简体" panose="02000000000000000000" pitchFamily="2" charset="-122"/>
                <a:sym typeface="Huawei Sans" panose="020C0503030203020204" pitchFamily="34" charset="0"/>
              </a:rPr>
              <a:t>接入域</a:t>
            </a:r>
          </a:p>
        </p:txBody>
      </p:sp>
      <p:cxnSp>
        <p:nvCxnSpPr>
          <p:cNvPr id="33" name="Straight Connector 167"/>
          <p:cNvCxnSpPr>
            <a:endCxn id="24" idx="2"/>
          </p:cNvCxnSpPr>
          <p:nvPr/>
        </p:nvCxnSpPr>
        <p:spPr bwMode="gray">
          <a:xfrm flipH="1" flipV="1">
            <a:off x="3971240" y="2043074"/>
            <a:ext cx="0" cy="438921"/>
          </a:xfrm>
          <a:prstGeom prst="line">
            <a:avLst/>
          </a:prstGeom>
          <a:noFill/>
          <a:ln w="12700" cap="flat" cmpd="sng" algn="ctr">
            <a:solidFill>
              <a:schemeClr val="tx1"/>
            </a:solidFill>
            <a:prstDash val="solid"/>
            <a:miter lim="800000"/>
          </a:ln>
          <a:effectLst/>
        </p:spPr>
      </p:cxnSp>
      <p:pic>
        <p:nvPicPr>
          <p:cNvPr id="34" name="图片 86" descr="核心交换机.png"/>
          <p:cNvPicPr>
            <a:picLocks noChangeAspect="1"/>
          </p:cNvPicPr>
          <p:nvPr/>
        </p:nvPicPr>
        <p:blipFill>
          <a:blip r:embed="rId7"/>
          <a:stretch>
            <a:fillRect/>
          </a:stretch>
        </p:blipFill>
        <p:spPr bwMode="gray">
          <a:xfrm>
            <a:off x="3786504" y="2481995"/>
            <a:ext cx="369473" cy="302297"/>
          </a:xfrm>
          <a:prstGeom prst="rect">
            <a:avLst/>
          </a:prstGeom>
        </p:spPr>
      </p:pic>
      <p:pic>
        <p:nvPicPr>
          <p:cNvPr id="35" name="图片 34"/>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bwMode="gray">
          <a:xfrm>
            <a:off x="2968007" y="1162867"/>
            <a:ext cx="1792651" cy="330612"/>
          </a:xfrm>
          <a:prstGeom prst="rect">
            <a:avLst/>
          </a:prstGeom>
        </p:spPr>
      </p:pic>
      <p:sp>
        <p:nvSpPr>
          <p:cNvPr id="37" name="TextBox 177"/>
          <p:cNvSpPr txBox="1"/>
          <p:nvPr/>
        </p:nvSpPr>
        <p:spPr bwMode="gray">
          <a:xfrm>
            <a:off x="499650" y="2552333"/>
            <a:ext cx="1083177" cy="252000"/>
          </a:xfrm>
          <a:prstGeom prst="rect">
            <a:avLst/>
          </a:prstGeom>
          <a:solidFill>
            <a:srgbClr val="30B5C5"/>
          </a:solidFill>
          <a:ln>
            <a:noFill/>
          </a:ln>
        </p:spPr>
        <p:txBody>
          <a:bodyPr wrap="square" lIns="0" tIns="0" rIns="0" bIns="0" rtlCol="0" anchor="ctr" anchorCtr="0">
            <a:noAutofit/>
          </a:bodyPr>
          <a:lstStyle/>
          <a:p>
            <a:pPr algn="ctr" fontAlgn="ctr"/>
            <a:r>
              <a:rPr lang="zh-CN" altLang="en-US" sz="1200" dirty="0" smtClean="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边界网关节点</a:t>
            </a:r>
            <a:endParaRPr lang="zh-CN" altLang="en-US" sz="120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8" name="TextBox 177"/>
          <p:cNvSpPr txBox="1"/>
          <p:nvPr/>
        </p:nvSpPr>
        <p:spPr bwMode="gray">
          <a:xfrm>
            <a:off x="499650" y="3392126"/>
            <a:ext cx="1083177" cy="252000"/>
          </a:xfrm>
          <a:prstGeom prst="rect">
            <a:avLst/>
          </a:prstGeom>
          <a:solidFill>
            <a:sysClr val="window" lastClr="FFFFFF">
              <a:lumMod val="85000"/>
            </a:sysClr>
          </a:solidFill>
          <a:ln>
            <a:noFill/>
          </a:ln>
        </p:spPr>
        <p:txBody>
          <a:bodyPr wrap="square" lIns="0" tIns="0" rIns="0" bIns="0" rtlCol="0" anchor="ctr" anchorCtr="0">
            <a:noAutofit/>
          </a:bodyPr>
          <a:lstStyle>
            <a:defPPr>
              <a:defRPr lang="zh-CN"/>
            </a:defPPr>
            <a:lvl1pPr algn="ctr">
              <a:defRPr sz="1000">
                <a:latin typeface="+mj-lt"/>
                <a:ea typeface="微软雅黑" panose="020B0503020204020204" pitchFamily="34" charset="-122"/>
              </a:defRPr>
            </a:lvl1pPr>
          </a:lstStyle>
          <a:p>
            <a:pPr defTabSz="1219170" fontAlgn="ctr">
              <a:defRPr/>
            </a:pPr>
            <a:r>
              <a:rPr lang="zh-CN" altLang="en-US" sz="12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透传</a:t>
            </a:r>
            <a:r>
              <a:rPr lang="zh-CN" altLang="en-US" sz="1200" kern="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节点</a:t>
            </a:r>
            <a:endParaRPr lang="zh-CN" altLang="en-US" sz="12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9" name="TextBox 177"/>
          <p:cNvSpPr txBox="1"/>
          <p:nvPr/>
        </p:nvSpPr>
        <p:spPr bwMode="gray">
          <a:xfrm>
            <a:off x="499650" y="4481117"/>
            <a:ext cx="1083177" cy="252000"/>
          </a:xfrm>
          <a:prstGeom prst="rect">
            <a:avLst/>
          </a:prstGeom>
          <a:solidFill>
            <a:srgbClr val="30B5C5"/>
          </a:solidFill>
          <a:ln>
            <a:noFill/>
          </a:ln>
        </p:spPr>
        <p:txBody>
          <a:bodyPr wrap="square" lIns="0" tIns="0" rIns="0" bIns="0" rtlCol="0" anchor="ctr" anchorCtr="0">
            <a:noAutofit/>
          </a:bodyPr>
          <a:lstStyle/>
          <a:p>
            <a:pPr algn="ctr" fontAlgn="ctr"/>
            <a:r>
              <a:rPr lang="zh-CN" altLang="en-US" sz="1200" dirty="0" smtClean="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边缘节点</a:t>
            </a:r>
            <a:endParaRPr lang="zh-CN" altLang="en-US" sz="120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0" name="TextBox 177"/>
          <p:cNvSpPr txBox="1"/>
          <p:nvPr/>
        </p:nvSpPr>
        <p:spPr bwMode="gray">
          <a:xfrm>
            <a:off x="499650" y="5194054"/>
            <a:ext cx="1083177" cy="252000"/>
          </a:xfrm>
          <a:prstGeom prst="rect">
            <a:avLst/>
          </a:prstGeom>
          <a:solidFill>
            <a:sysClr val="window" lastClr="FFFFFF">
              <a:lumMod val="85000"/>
            </a:sysClr>
          </a:solidFill>
          <a:ln>
            <a:noFill/>
          </a:ln>
        </p:spPr>
        <p:txBody>
          <a:bodyPr wrap="square" lIns="0" tIns="0" rIns="0" bIns="0" rtlCol="0" anchor="ctr" anchorCtr="0">
            <a:noAutofit/>
          </a:bodyPr>
          <a:lstStyle>
            <a:defPPr>
              <a:defRPr lang="zh-CN"/>
            </a:defPPr>
            <a:lvl1pPr algn="ctr">
              <a:defRPr sz="1000">
                <a:latin typeface="+mj-lt"/>
                <a:ea typeface="微软雅黑" panose="020B0503020204020204" pitchFamily="34" charset="-122"/>
              </a:defRPr>
            </a:lvl1pPr>
          </a:lstStyle>
          <a:p>
            <a:pPr defTabSz="1219170" fontAlgn="ctr">
              <a:defRPr/>
            </a:pPr>
            <a:r>
              <a:rPr lang="zh-CN" altLang="en-US" sz="1200" kern="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接入节点</a:t>
            </a:r>
            <a:endParaRPr lang="en-US" altLang="zh-CN" sz="12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1" name="TextBox 177"/>
          <p:cNvSpPr txBox="1"/>
          <p:nvPr/>
        </p:nvSpPr>
        <p:spPr bwMode="gray">
          <a:xfrm>
            <a:off x="4760659" y="5934076"/>
            <a:ext cx="1306278" cy="238748"/>
          </a:xfrm>
          <a:prstGeom prst="rect">
            <a:avLst/>
          </a:prstGeom>
          <a:solidFill>
            <a:srgbClr val="30B5C5"/>
          </a:solidFill>
          <a:ln>
            <a:noFill/>
          </a:ln>
        </p:spPr>
        <p:txBody>
          <a:bodyPr wrap="square" lIns="0" tIns="0" rIns="0" bIns="0" rtlCol="0" anchor="ctr" anchorCtr="0">
            <a:noAutofit/>
          </a:bodyPr>
          <a:lstStyle/>
          <a:p>
            <a:pPr algn="ctr" fontAlgn="ctr"/>
            <a:r>
              <a:rPr lang="zh-CN" altLang="en-US" sz="1200" dirty="0" smtClean="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支持</a:t>
            </a:r>
            <a:r>
              <a:rPr lang="en-US" altLang="zh-CN" sz="1200" dirty="0" smtClean="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VXLAN</a:t>
            </a:r>
            <a:r>
              <a:rPr lang="zh-CN" altLang="en-US" sz="1200" dirty="0" smtClean="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的节点</a:t>
            </a:r>
            <a:endParaRPr lang="zh-CN" altLang="en-US" sz="120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42" name="直接箭头连接符 41"/>
          <p:cNvCxnSpPr/>
          <p:nvPr/>
        </p:nvCxnSpPr>
        <p:spPr bwMode="gray">
          <a:xfrm>
            <a:off x="1714500" y="5829833"/>
            <a:ext cx="1257902" cy="0"/>
          </a:xfrm>
          <a:prstGeom prst="straightConnector1">
            <a:avLst/>
          </a:prstGeom>
          <a:noFill/>
          <a:ln w="6350" cap="flat" cmpd="sng" algn="ctr">
            <a:solidFill>
              <a:schemeClr val="bg1">
                <a:lumMod val="75000"/>
              </a:schemeClr>
            </a:solidFill>
            <a:prstDash val="solid"/>
            <a:miter lim="800000"/>
            <a:tailEnd type="none"/>
          </a:ln>
          <a:effectLst/>
        </p:spPr>
      </p:cxnSp>
      <p:cxnSp>
        <p:nvCxnSpPr>
          <p:cNvPr id="43" name="直接箭头连接符 42"/>
          <p:cNvCxnSpPr/>
          <p:nvPr/>
        </p:nvCxnSpPr>
        <p:spPr bwMode="gray">
          <a:xfrm>
            <a:off x="1213254" y="5446054"/>
            <a:ext cx="501246" cy="383779"/>
          </a:xfrm>
          <a:prstGeom prst="straightConnector1">
            <a:avLst/>
          </a:prstGeom>
          <a:noFill/>
          <a:ln w="6350" cap="flat" cmpd="sng" algn="ctr">
            <a:solidFill>
              <a:schemeClr val="bg1">
                <a:lumMod val="75000"/>
              </a:schemeClr>
            </a:solidFill>
            <a:prstDash val="solid"/>
            <a:miter lim="800000"/>
            <a:tailEnd type="none"/>
          </a:ln>
          <a:effectLst/>
        </p:spPr>
      </p:cxnSp>
      <p:cxnSp>
        <p:nvCxnSpPr>
          <p:cNvPr id="44" name="直接箭头连接符 43"/>
          <p:cNvCxnSpPr/>
          <p:nvPr/>
        </p:nvCxnSpPr>
        <p:spPr bwMode="gray">
          <a:xfrm>
            <a:off x="1550749" y="1834356"/>
            <a:ext cx="2243224" cy="0"/>
          </a:xfrm>
          <a:prstGeom prst="straightConnector1">
            <a:avLst/>
          </a:prstGeom>
          <a:noFill/>
          <a:ln w="6350" cap="flat" cmpd="sng" algn="ctr">
            <a:solidFill>
              <a:schemeClr val="bg1">
                <a:lumMod val="75000"/>
              </a:schemeClr>
            </a:solidFill>
            <a:prstDash val="solid"/>
            <a:miter lim="800000"/>
            <a:tailEnd type="triangle"/>
          </a:ln>
          <a:effectLst/>
        </p:spPr>
      </p:cxnSp>
      <p:sp>
        <p:nvSpPr>
          <p:cNvPr id="45" name="TextBox 177"/>
          <p:cNvSpPr txBox="1"/>
          <p:nvPr/>
        </p:nvSpPr>
        <p:spPr bwMode="gray">
          <a:xfrm>
            <a:off x="499650" y="1704251"/>
            <a:ext cx="1083177" cy="252000"/>
          </a:xfrm>
          <a:prstGeom prst="rect">
            <a:avLst/>
          </a:prstGeom>
          <a:solidFill>
            <a:sysClr val="window" lastClr="FFFFFF">
              <a:lumMod val="85000"/>
            </a:sysClr>
          </a:solidFill>
          <a:ln>
            <a:noFill/>
          </a:ln>
        </p:spPr>
        <p:txBody>
          <a:bodyPr wrap="square" lIns="0" tIns="0" rIns="0" bIns="0" rtlCol="0" anchor="ctr" anchorCtr="0">
            <a:noAutofit/>
          </a:bodyPr>
          <a:lstStyle/>
          <a:p>
            <a:pPr algn="ctr" defTabSz="1219170" fontAlgn="ctr">
              <a:defRPr/>
            </a:pPr>
            <a:r>
              <a:rPr lang="zh-CN" altLang="en-US" sz="1200" kern="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出口网关</a:t>
            </a:r>
            <a:endParaRPr lang="en-US" altLang="zh-CN" sz="12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203808862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zh-CN" altLang="en-US" smtClean="0"/>
              <a:t>虚拟化园区网络实验：实验需求</a:t>
            </a:r>
            <a:endParaRPr lang="zh-CN" altLang="en-US" dirty="0"/>
          </a:p>
        </p:txBody>
      </p:sp>
      <p:sp>
        <p:nvSpPr>
          <p:cNvPr id="4" name="文本占位符 3"/>
          <p:cNvSpPr>
            <a:spLocks noGrp="1"/>
          </p:cNvSpPr>
          <p:nvPr>
            <p:ph type="body" sz="quarter" idx="10"/>
          </p:nvPr>
        </p:nvSpPr>
        <p:spPr bwMode="gray">
          <a:xfrm>
            <a:off x="5777418" y="1449388"/>
            <a:ext cx="5971669" cy="4478167"/>
          </a:xfrm>
        </p:spPr>
        <p:txBody>
          <a:bodyPr/>
          <a:lstStyle/>
          <a:p>
            <a:r>
              <a:rPr lang="zh-CN" altLang="en-US" sz="1600" dirty="0" smtClean="0">
                <a:sym typeface="Huawei Sans" panose="020C0503030203020204" pitchFamily="34" charset="0"/>
              </a:rPr>
              <a:t>为满足园区网络多业务融合的需求，通过</a:t>
            </a:r>
            <a:r>
              <a:rPr lang="en-US" altLang="zh-CN" sz="1600" dirty="0" err="1" smtClean="0">
                <a:sym typeface="Huawei Sans" panose="020C0503030203020204" pitchFamily="34" charset="0"/>
              </a:rPr>
              <a:t>iMaster</a:t>
            </a:r>
            <a:r>
              <a:rPr lang="en-US" altLang="zh-CN" sz="1600" dirty="0" smtClean="0">
                <a:sym typeface="Huawei Sans" panose="020C0503030203020204" pitchFamily="34" charset="0"/>
              </a:rPr>
              <a:t> NCE-Campus</a:t>
            </a:r>
            <a:r>
              <a:rPr lang="zh-CN" altLang="en-US" sz="1600" dirty="0" smtClean="0">
                <a:sym typeface="Huawei Sans" panose="020C0503030203020204" pitchFamily="34" charset="0"/>
              </a:rPr>
              <a:t>在园区网络上进行虚拟网络的部署和配置，实现在同一个物理网络上根据业务划分不用的虚拟网络。</a:t>
            </a:r>
          </a:p>
          <a:p>
            <a:r>
              <a:rPr lang="zh-CN" altLang="en-US" sz="1600" dirty="0" smtClean="0">
                <a:sym typeface="Huawei Sans" panose="020C0503030203020204" pitchFamily="34" charset="0"/>
              </a:rPr>
              <a:t>该虚拟网络基于</a:t>
            </a:r>
            <a:r>
              <a:rPr lang="en-US" altLang="zh-CN" sz="1600" dirty="0" smtClean="0">
                <a:sym typeface="Huawei Sans" panose="020C0503030203020204" pitchFamily="34" charset="0"/>
              </a:rPr>
              <a:t>VXLAN</a:t>
            </a:r>
            <a:r>
              <a:rPr lang="zh-CN" altLang="en-US" sz="1600" dirty="0" smtClean="0">
                <a:sym typeface="Huawei Sans" panose="020C0503030203020204" pitchFamily="34" charset="0"/>
              </a:rPr>
              <a:t>技术，能满足如下需求：</a:t>
            </a:r>
            <a:endParaRPr lang="en-US" altLang="zh-CN" sz="1600" dirty="0" smtClean="0">
              <a:sym typeface="Huawei Sans" panose="020C0503030203020204" pitchFamily="34" charset="0"/>
            </a:endParaRPr>
          </a:p>
          <a:p>
            <a:pPr lvl="1"/>
            <a:r>
              <a:rPr lang="zh-CN" altLang="en-US" sz="1400" dirty="0" smtClean="0">
                <a:sym typeface="Huawei Sans" panose="020C0503030203020204" pitchFamily="34" charset="0"/>
              </a:rPr>
              <a:t>网络设备能够基于</a:t>
            </a:r>
            <a:r>
              <a:rPr lang="en-US" altLang="zh-CN" sz="1400" dirty="0" smtClean="0">
                <a:sym typeface="Huawei Sans" panose="020C0503030203020204" pitchFamily="34" charset="0"/>
              </a:rPr>
              <a:t>DHCP</a:t>
            </a:r>
            <a:r>
              <a:rPr lang="zh-CN" altLang="en-US" sz="1400" dirty="0" smtClean="0">
                <a:sym typeface="Huawei Sans" panose="020C0503030203020204" pitchFamily="34" charset="0"/>
              </a:rPr>
              <a:t>即插即用。</a:t>
            </a:r>
            <a:endParaRPr lang="en-US" altLang="zh-CN" sz="1400" dirty="0" smtClean="0">
              <a:sym typeface="Huawei Sans" panose="020C0503030203020204" pitchFamily="34" charset="0"/>
            </a:endParaRPr>
          </a:p>
          <a:p>
            <a:pPr lvl="1"/>
            <a:r>
              <a:rPr lang="zh-CN" altLang="en-US" sz="1400" dirty="0" smtClean="0">
                <a:sym typeface="Huawei Sans" panose="020C0503030203020204" pitchFamily="34" charset="0"/>
              </a:rPr>
              <a:t>园区中的多种业务共享同一个物理网络，不同业务之间逻辑隔离，且能控制互访策略。</a:t>
            </a:r>
          </a:p>
          <a:p>
            <a:pPr lvl="1"/>
            <a:r>
              <a:rPr lang="zh-CN" altLang="en-US" sz="1400" dirty="0" smtClean="0">
                <a:sym typeface="Huawei Sans" panose="020C0503030203020204" pitchFamily="34" charset="0"/>
              </a:rPr>
              <a:t>业务配置自动化，虚拟网络的配置由</a:t>
            </a:r>
            <a:r>
              <a:rPr lang="en-US" altLang="zh-CN" sz="1400" dirty="0" err="1" smtClean="0">
                <a:sym typeface="Huawei Sans" panose="020C0503030203020204" pitchFamily="34" charset="0"/>
              </a:rPr>
              <a:t>iMaster</a:t>
            </a:r>
            <a:r>
              <a:rPr lang="en-US" altLang="zh-CN" sz="1400" dirty="0" smtClean="0">
                <a:sym typeface="Huawei Sans" panose="020C0503030203020204" pitchFamily="34" charset="0"/>
              </a:rPr>
              <a:t> NCE-Campus</a:t>
            </a:r>
            <a:r>
              <a:rPr lang="zh-CN" altLang="en-US" sz="1400" dirty="0" smtClean="0">
                <a:sym typeface="Huawei Sans" panose="020C0503030203020204" pitchFamily="34" charset="0"/>
              </a:rPr>
              <a:t>统一下发，不需要登录设备手工配置。</a:t>
            </a:r>
          </a:p>
          <a:p>
            <a:pPr lvl="1"/>
            <a:r>
              <a:rPr lang="zh-CN" altLang="en-US" sz="1400" dirty="0" smtClean="0">
                <a:sym typeface="Huawei Sans" panose="020C0503030203020204" pitchFamily="34" charset="0"/>
              </a:rPr>
              <a:t>终端用户在园区内任意物理位置按需接入虚拟网络，实现终端用户认证上线以及业务随行。</a:t>
            </a:r>
            <a:endParaRPr lang="en-US" altLang="zh-CN" sz="1400" dirty="0" smtClean="0">
              <a:sym typeface="Huawei Sans" panose="020C0503030203020204" pitchFamily="34" charset="0"/>
            </a:endParaRPr>
          </a:p>
          <a:p>
            <a:pPr lvl="1"/>
            <a:endParaRPr lang="zh-CN" altLang="en-US" sz="1400" dirty="0"/>
          </a:p>
        </p:txBody>
      </p:sp>
      <p:sp>
        <p:nvSpPr>
          <p:cNvPr id="3" name="圆角矩形 2"/>
          <p:cNvSpPr/>
          <p:nvPr/>
        </p:nvSpPr>
        <p:spPr bwMode="gray">
          <a:xfrm>
            <a:off x="970555" y="1559227"/>
            <a:ext cx="4309958" cy="3963506"/>
          </a:xfrm>
          <a:prstGeom prst="roundRect">
            <a:avLst>
              <a:gd name="adj" fmla="val 3166"/>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cs typeface="Huawei Sans" panose="020C0503030203020204" pitchFamily="34" charset="0"/>
            </a:endParaRPr>
          </a:p>
        </p:txBody>
      </p:sp>
      <p:cxnSp>
        <p:nvCxnSpPr>
          <p:cNvPr id="5" name="Straight Connector 166"/>
          <p:cNvCxnSpPr>
            <a:stCxn id="26" idx="2"/>
            <a:endCxn id="7" idx="0"/>
          </p:cNvCxnSpPr>
          <p:nvPr/>
        </p:nvCxnSpPr>
        <p:spPr bwMode="gray">
          <a:xfrm>
            <a:off x="1823344" y="3796402"/>
            <a:ext cx="0" cy="40327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 name="Straight Connector 166"/>
          <p:cNvCxnSpPr>
            <a:stCxn id="27" idx="2"/>
            <a:endCxn id="8" idx="0"/>
          </p:cNvCxnSpPr>
          <p:nvPr/>
        </p:nvCxnSpPr>
        <p:spPr bwMode="gray">
          <a:xfrm>
            <a:off x="3754145" y="3796402"/>
            <a:ext cx="0" cy="40327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7" name="图片 76" descr="接入交换机.png"/>
          <p:cNvPicPr>
            <a:picLocks noChangeAspect="1"/>
          </p:cNvPicPr>
          <p:nvPr/>
        </p:nvPicPr>
        <p:blipFill>
          <a:blip r:embed="rId3" cstate="print"/>
          <a:stretch>
            <a:fillRect/>
          </a:stretch>
        </p:blipFill>
        <p:spPr bwMode="gray">
          <a:xfrm>
            <a:off x="1600203" y="4199679"/>
            <a:ext cx="446281" cy="365139"/>
          </a:xfrm>
          <a:prstGeom prst="rect">
            <a:avLst/>
          </a:prstGeom>
        </p:spPr>
      </p:pic>
      <p:pic>
        <p:nvPicPr>
          <p:cNvPr id="8" name="图片 76" descr="接入交换机.png"/>
          <p:cNvPicPr>
            <a:picLocks noChangeAspect="1"/>
          </p:cNvPicPr>
          <p:nvPr/>
        </p:nvPicPr>
        <p:blipFill>
          <a:blip r:embed="rId3" cstate="print"/>
          <a:stretch>
            <a:fillRect/>
          </a:stretch>
        </p:blipFill>
        <p:spPr bwMode="gray">
          <a:xfrm>
            <a:off x="3531004" y="4199679"/>
            <a:ext cx="446281" cy="365139"/>
          </a:xfrm>
          <a:prstGeom prst="rect">
            <a:avLst/>
          </a:prstGeom>
        </p:spPr>
      </p:pic>
      <p:sp>
        <p:nvSpPr>
          <p:cNvPr id="9" name="文本框 8"/>
          <p:cNvSpPr txBox="1"/>
          <p:nvPr/>
        </p:nvSpPr>
        <p:spPr bwMode="gray">
          <a:xfrm>
            <a:off x="967611" y="1559227"/>
            <a:ext cx="468398" cy="307777"/>
          </a:xfrm>
          <a:prstGeom prst="rect">
            <a:avLst/>
          </a:prstGeom>
          <a:noFill/>
        </p:spPr>
        <p:txBody>
          <a:bodyPr wrap="none" rtlCol="0">
            <a:spAutoFit/>
          </a:bodyPr>
          <a:lstStyle/>
          <a:p>
            <a:r>
              <a:rPr lang="en-US" altLang="zh-CN" sz="1400" b="1" dirty="0" smtClean="0">
                <a:latin typeface="Huawei Sans" panose="020C0503030203020204" pitchFamily="34" charset="0"/>
                <a:ea typeface="方正兰亭黑简体" panose="02000000000000000000" pitchFamily="2" charset="-122"/>
                <a:cs typeface="Huawei Sans" panose="020C0503030203020204" pitchFamily="34" charset="0"/>
              </a:rPr>
              <a:t>HQ</a:t>
            </a:r>
            <a:endParaRPr lang="zh-CN" altLang="en-US" sz="1400" b="1" dirty="0">
              <a:latin typeface="Huawei Sans" panose="020C0503030203020204" pitchFamily="34" charset="0"/>
              <a:ea typeface="方正兰亭黑简体" panose="02000000000000000000" pitchFamily="2" charset="-122"/>
              <a:cs typeface="Huawei Sans" panose="020C0503030203020204" pitchFamily="34" charset="0"/>
            </a:endParaRPr>
          </a:p>
        </p:txBody>
      </p:sp>
      <p:pic>
        <p:nvPicPr>
          <p:cNvPr id="11" name="图片 105" descr="AP.png"/>
          <p:cNvPicPr>
            <a:picLocks noChangeAspect="1"/>
          </p:cNvPicPr>
          <p:nvPr/>
        </p:nvPicPr>
        <p:blipFill>
          <a:blip r:embed="rId4" cstate="print"/>
          <a:stretch>
            <a:fillRect/>
          </a:stretch>
        </p:blipFill>
        <p:spPr bwMode="gray">
          <a:xfrm>
            <a:off x="4692938" y="4231364"/>
            <a:ext cx="368827" cy="301768"/>
          </a:xfrm>
          <a:prstGeom prst="rect">
            <a:avLst/>
          </a:prstGeom>
        </p:spPr>
      </p:pic>
      <p:cxnSp>
        <p:nvCxnSpPr>
          <p:cNvPr id="12" name="Straight Connector 166"/>
          <p:cNvCxnSpPr>
            <a:stCxn id="8" idx="3"/>
            <a:endCxn id="11" idx="1"/>
          </p:cNvCxnSpPr>
          <p:nvPr/>
        </p:nvCxnSpPr>
        <p:spPr bwMode="gray">
          <a:xfrm flipV="1">
            <a:off x="3977285" y="4382248"/>
            <a:ext cx="715653" cy="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13" name="Picture 2" descr="G:\做的项目\公共\扁平图标切换\更新2015_01_21\oss扁平图标库2015_01_21更新-04.png"/>
          <p:cNvPicPr>
            <a:picLocks noChangeAspect="1" noChangeArrowheads="1"/>
          </p:cNvPicPr>
          <p:nvPr/>
        </p:nvPicPr>
        <p:blipFill>
          <a:blip r:embed="rId5" cstate="print"/>
          <a:stretch>
            <a:fillRect/>
          </a:stretch>
        </p:blipFill>
        <p:spPr bwMode="gray">
          <a:xfrm>
            <a:off x="2579896" y="1822935"/>
            <a:ext cx="446281" cy="365138"/>
          </a:xfrm>
          <a:prstGeom prst="rect">
            <a:avLst/>
          </a:prstGeom>
          <a:noFill/>
        </p:spPr>
      </p:pic>
      <p:sp>
        <p:nvSpPr>
          <p:cNvPr id="14" name="文本框 13"/>
          <p:cNvSpPr txBox="1"/>
          <p:nvPr/>
        </p:nvSpPr>
        <p:spPr bwMode="gray">
          <a:xfrm>
            <a:off x="2144820" y="1867004"/>
            <a:ext cx="466794" cy="276999"/>
          </a:xfrm>
          <a:prstGeom prst="rect">
            <a:avLst/>
          </a:prstGeom>
          <a:noFill/>
        </p:spPr>
        <p:txBody>
          <a:bodyPr wrap="none" rtlCol="0">
            <a:spAutoFit/>
          </a:bodyPr>
          <a:lstStyle/>
          <a:p>
            <a:pPr algn="r"/>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AR3</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pic>
        <p:nvPicPr>
          <p:cNvPr id="16" name="图片 14" descr="日志告警服务器-蓝.png"/>
          <p:cNvPicPr>
            <a:picLocks noChangeAspect="1"/>
          </p:cNvPicPr>
          <p:nvPr/>
        </p:nvPicPr>
        <p:blipFill>
          <a:blip r:embed="rId6" cstate="print"/>
          <a:stretch>
            <a:fillRect/>
          </a:stretch>
        </p:blipFill>
        <p:spPr bwMode="gray">
          <a:xfrm>
            <a:off x="4649698" y="4966270"/>
            <a:ext cx="445956" cy="278465"/>
          </a:xfrm>
          <a:prstGeom prst="rect">
            <a:avLst/>
          </a:prstGeom>
        </p:spPr>
      </p:pic>
      <p:pic>
        <p:nvPicPr>
          <p:cNvPr id="17" name="图片 16" descr="PC.png">
            <a:extLst>
              <a:ext uri="{FF2B5EF4-FFF2-40B4-BE49-F238E27FC236}">
                <a16:creationId xmlns="" xmlns:a16="http://schemas.microsoft.com/office/drawing/2014/main" id="{4666702E-823D-4236-BF2F-880359158C83}"/>
              </a:ext>
            </a:extLst>
          </p:cNvPr>
          <p:cNvPicPr>
            <a:picLocks noChangeAspect="1"/>
          </p:cNvPicPr>
          <p:nvPr/>
        </p:nvPicPr>
        <p:blipFill>
          <a:blip r:embed="rId7" cstate="print"/>
          <a:stretch>
            <a:fillRect/>
          </a:stretch>
        </p:blipFill>
        <p:spPr bwMode="gray">
          <a:xfrm>
            <a:off x="1600590" y="4937993"/>
            <a:ext cx="445506" cy="342149"/>
          </a:xfrm>
          <a:prstGeom prst="rect">
            <a:avLst/>
          </a:prstGeom>
        </p:spPr>
      </p:pic>
      <p:pic>
        <p:nvPicPr>
          <p:cNvPr id="18" name="图片 17" descr="PC.png">
            <a:extLst>
              <a:ext uri="{FF2B5EF4-FFF2-40B4-BE49-F238E27FC236}">
                <a16:creationId xmlns="" xmlns:a16="http://schemas.microsoft.com/office/drawing/2014/main" id="{4666702E-823D-4236-BF2F-880359158C83}"/>
              </a:ext>
            </a:extLst>
          </p:cNvPr>
          <p:cNvPicPr>
            <a:picLocks noChangeAspect="1"/>
          </p:cNvPicPr>
          <p:nvPr/>
        </p:nvPicPr>
        <p:blipFill>
          <a:blip r:embed="rId7" cstate="print"/>
          <a:stretch>
            <a:fillRect/>
          </a:stretch>
        </p:blipFill>
        <p:spPr bwMode="gray">
          <a:xfrm>
            <a:off x="3531391" y="4937660"/>
            <a:ext cx="445506" cy="342149"/>
          </a:xfrm>
          <a:prstGeom prst="rect">
            <a:avLst/>
          </a:prstGeom>
        </p:spPr>
      </p:pic>
      <p:cxnSp>
        <p:nvCxnSpPr>
          <p:cNvPr id="19" name="Straight Connector 166"/>
          <p:cNvCxnSpPr>
            <a:stCxn id="22" idx="0"/>
            <a:endCxn id="13" idx="2"/>
          </p:cNvCxnSpPr>
          <p:nvPr/>
        </p:nvCxnSpPr>
        <p:spPr bwMode="gray">
          <a:xfrm flipV="1">
            <a:off x="2803037" y="2188073"/>
            <a:ext cx="0" cy="36652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67"/>
          <p:cNvCxnSpPr/>
          <p:nvPr/>
        </p:nvCxnSpPr>
        <p:spPr bwMode="gray">
          <a:xfrm flipH="1">
            <a:off x="1824054" y="2737170"/>
            <a:ext cx="971589" cy="876201"/>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21" name="Straight Connector 167"/>
          <p:cNvCxnSpPr/>
          <p:nvPr/>
        </p:nvCxnSpPr>
        <p:spPr bwMode="gray">
          <a:xfrm flipH="1" flipV="1">
            <a:off x="2792264" y="2734693"/>
            <a:ext cx="975076" cy="883934"/>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pic>
        <p:nvPicPr>
          <p:cNvPr id="22" name="图片 86" descr="核心交换机.png"/>
          <p:cNvPicPr>
            <a:picLocks noChangeAspect="1"/>
          </p:cNvPicPr>
          <p:nvPr/>
        </p:nvPicPr>
        <p:blipFill>
          <a:blip r:embed="rId8" cstate="print"/>
          <a:stretch>
            <a:fillRect/>
          </a:stretch>
        </p:blipFill>
        <p:spPr bwMode="gray">
          <a:xfrm>
            <a:off x="2579896" y="2554601"/>
            <a:ext cx="446281" cy="365139"/>
          </a:xfrm>
          <a:prstGeom prst="rect">
            <a:avLst/>
          </a:prstGeom>
        </p:spPr>
      </p:pic>
      <p:sp>
        <p:nvSpPr>
          <p:cNvPr id="23" name="文本框 22"/>
          <p:cNvSpPr txBox="1"/>
          <p:nvPr/>
        </p:nvSpPr>
        <p:spPr bwMode="gray">
          <a:xfrm>
            <a:off x="1961400" y="2562366"/>
            <a:ext cx="665567" cy="276999"/>
          </a:xfrm>
          <a:prstGeom prst="rect">
            <a:avLst/>
          </a:prstGeom>
          <a:noFill/>
        </p:spPr>
        <p:txBody>
          <a:bodyPr wrap="none" rtlCol="0">
            <a:spAutoFit/>
          </a:bodyPr>
          <a:lstStyle/>
          <a:p>
            <a:pPr algn="ctr"/>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Border</a:t>
            </a:r>
          </a:p>
        </p:txBody>
      </p:sp>
      <p:sp>
        <p:nvSpPr>
          <p:cNvPr id="24" name="文本框 23"/>
          <p:cNvSpPr txBox="1"/>
          <p:nvPr/>
        </p:nvSpPr>
        <p:spPr bwMode="gray">
          <a:xfrm>
            <a:off x="987249" y="3463629"/>
            <a:ext cx="684803" cy="276999"/>
          </a:xfrm>
          <a:prstGeom prst="rect">
            <a:avLst/>
          </a:prstGeom>
          <a:noFill/>
        </p:spPr>
        <p:txBody>
          <a:bodyPr wrap="none" rtlCol="0">
            <a:spAutoFit/>
          </a:bodyPr>
          <a:lstStyle/>
          <a:p>
            <a:pPr algn="r"/>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Edge_1</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25" name="文本框 24"/>
          <p:cNvSpPr txBox="1"/>
          <p:nvPr/>
        </p:nvSpPr>
        <p:spPr bwMode="gray">
          <a:xfrm>
            <a:off x="1040148" y="4239731"/>
            <a:ext cx="631904" cy="276999"/>
          </a:xfrm>
          <a:prstGeom prst="rect">
            <a:avLst/>
          </a:prstGeom>
          <a:noFill/>
        </p:spPr>
        <p:txBody>
          <a:bodyPr wrap="none" rtlCol="0">
            <a:spAutoFit/>
          </a:bodyPr>
          <a:lstStyle/>
          <a:p>
            <a:pPr algn="r"/>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ACC_1</a:t>
            </a:r>
          </a:p>
        </p:txBody>
      </p:sp>
      <p:pic>
        <p:nvPicPr>
          <p:cNvPr id="26" name="图片 87" descr="汇聚交换机.png"/>
          <p:cNvPicPr>
            <a:picLocks noChangeAspect="1"/>
          </p:cNvPicPr>
          <p:nvPr/>
        </p:nvPicPr>
        <p:blipFill>
          <a:blip r:embed="rId9" cstate="print"/>
          <a:stretch>
            <a:fillRect/>
          </a:stretch>
        </p:blipFill>
        <p:spPr bwMode="gray">
          <a:xfrm>
            <a:off x="1600203" y="3431263"/>
            <a:ext cx="446281" cy="365139"/>
          </a:xfrm>
          <a:prstGeom prst="rect">
            <a:avLst/>
          </a:prstGeom>
        </p:spPr>
      </p:pic>
      <p:pic>
        <p:nvPicPr>
          <p:cNvPr id="27" name="图片 87" descr="汇聚交换机.png"/>
          <p:cNvPicPr>
            <a:picLocks noChangeAspect="1"/>
          </p:cNvPicPr>
          <p:nvPr/>
        </p:nvPicPr>
        <p:blipFill>
          <a:blip r:embed="rId9" cstate="print"/>
          <a:stretch>
            <a:fillRect/>
          </a:stretch>
        </p:blipFill>
        <p:spPr bwMode="gray">
          <a:xfrm>
            <a:off x="3531004" y="3431263"/>
            <a:ext cx="446281" cy="365139"/>
          </a:xfrm>
          <a:prstGeom prst="rect">
            <a:avLst/>
          </a:prstGeom>
        </p:spPr>
      </p:pic>
      <p:sp>
        <p:nvSpPr>
          <p:cNvPr id="28" name="文本框 27"/>
          <p:cNvSpPr txBox="1"/>
          <p:nvPr/>
        </p:nvSpPr>
        <p:spPr bwMode="gray">
          <a:xfrm>
            <a:off x="3895847" y="3463629"/>
            <a:ext cx="684803" cy="276999"/>
          </a:xfrm>
          <a:prstGeom prst="rect">
            <a:avLst/>
          </a:prstGeom>
          <a:noFill/>
        </p:spPr>
        <p:txBody>
          <a:bodyPr wrap="none" rtlCol="0">
            <a:spAutoFit/>
          </a:bodyPr>
          <a:lstStyle/>
          <a:p>
            <a:pPr algn="r"/>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Edge_2</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29" name="文本框 28"/>
          <p:cNvSpPr txBox="1"/>
          <p:nvPr/>
        </p:nvSpPr>
        <p:spPr bwMode="gray">
          <a:xfrm>
            <a:off x="4640652" y="3989143"/>
            <a:ext cx="460382" cy="276999"/>
          </a:xfrm>
          <a:prstGeom prst="rect">
            <a:avLst/>
          </a:prstGeom>
          <a:noFill/>
        </p:spPr>
        <p:txBody>
          <a:bodyPr wrap="none" rtlCol="0">
            <a:spAutoFit/>
          </a:bodyPr>
          <a:lstStyle/>
          <a:p>
            <a:pPr algn="ctr"/>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AP1</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30" name="文本框 29"/>
          <p:cNvSpPr txBox="1"/>
          <p:nvPr/>
        </p:nvSpPr>
        <p:spPr bwMode="gray">
          <a:xfrm>
            <a:off x="1596358" y="5245734"/>
            <a:ext cx="453970" cy="276999"/>
          </a:xfrm>
          <a:prstGeom prst="rect">
            <a:avLst/>
          </a:prstGeom>
          <a:noFill/>
        </p:spPr>
        <p:txBody>
          <a:bodyPr wrap="none" rtlCol="0">
            <a:spAutoFit/>
          </a:bodyPr>
          <a:lstStyle/>
          <a:p>
            <a:pPr algn="ctr"/>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PC1</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31" name="文本框 30"/>
          <p:cNvSpPr txBox="1"/>
          <p:nvPr/>
        </p:nvSpPr>
        <p:spPr bwMode="gray">
          <a:xfrm>
            <a:off x="3527159" y="5245734"/>
            <a:ext cx="453970" cy="276999"/>
          </a:xfrm>
          <a:prstGeom prst="rect">
            <a:avLst/>
          </a:prstGeom>
          <a:noFill/>
        </p:spPr>
        <p:txBody>
          <a:bodyPr wrap="none" rtlCol="0">
            <a:spAutoFit/>
          </a:bodyPr>
          <a:lstStyle/>
          <a:p>
            <a:pPr algn="ctr"/>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PC2</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cxnSp>
        <p:nvCxnSpPr>
          <p:cNvPr id="32" name="Straight Connector 166"/>
          <p:cNvCxnSpPr>
            <a:stCxn id="7" idx="2"/>
            <a:endCxn id="17" idx="0"/>
          </p:cNvCxnSpPr>
          <p:nvPr/>
        </p:nvCxnSpPr>
        <p:spPr bwMode="gray">
          <a:xfrm flipH="1">
            <a:off x="1823343" y="4564818"/>
            <a:ext cx="1" cy="37317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Straight Connector 166"/>
          <p:cNvCxnSpPr>
            <a:stCxn id="8" idx="2"/>
            <a:endCxn id="18" idx="0"/>
          </p:cNvCxnSpPr>
          <p:nvPr/>
        </p:nvCxnSpPr>
        <p:spPr bwMode="gray">
          <a:xfrm flipH="1">
            <a:off x="3754144" y="4564818"/>
            <a:ext cx="1" cy="37284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34" name="文本框 33"/>
          <p:cNvSpPr txBox="1"/>
          <p:nvPr/>
        </p:nvSpPr>
        <p:spPr bwMode="gray">
          <a:xfrm>
            <a:off x="4652199" y="5245734"/>
            <a:ext cx="453970" cy="276999"/>
          </a:xfrm>
          <a:prstGeom prst="rect">
            <a:avLst/>
          </a:prstGeom>
          <a:noFill/>
        </p:spPr>
        <p:txBody>
          <a:bodyPr wrap="none" rtlCol="0">
            <a:spAutoFit/>
          </a:bodyPr>
          <a:lstStyle/>
          <a:p>
            <a:pPr algn="ctr"/>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PC3</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35" name="文本框 34"/>
          <p:cNvSpPr txBox="1"/>
          <p:nvPr/>
        </p:nvSpPr>
        <p:spPr bwMode="gray">
          <a:xfrm>
            <a:off x="2759812" y="2227910"/>
            <a:ext cx="756938" cy="276999"/>
          </a:xfrm>
          <a:prstGeom prst="rect">
            <a:avLst/>
          </a:prstGeom>
          <a:noFill/>
        </p:spPr>
        <p:txBody>
          <a:bodyPr wrap="none" rtlCol="0">
            <a:spAutoFit/>
          </a:bodyPr>
          <a:lstStyle/>
          <a:p>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GE0/0/1</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42" name="文本框 41"/>
          <p:cNvSpPr txBox="1"/>
          <p:nvPr/>
        </p:nvSpPr>
        <p:spPr bwMode="gray">
          <a:xfrm>
            <a:off x="2926780" y="4239731"/>
            <a:ext cx="631904" cy="276999"/>
          </a:xfrm>
          <a:prstGeom prst="rect">
            <a:avLst/>
          </a:prstGeom>
          <a:noFill/>
        </p:spPr>
        <p:txBody>
          <a:bodyPr wrap="none" rtlCol="0">
            <a:spAutoFit/>
          </a:bodyPr>
          <a:lstStyle/>
          <a:p>
            <a:pPr algn="r"/>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ACC_2</a:t>
            </a:r>
          </a:p>
        </p:txBody>
      </p:sp>
      <p:sp>
        <p:nvSpPr>
          <p:cNvPr id="43" name="文本框 42"/>
          <p:cNvSpPr txBox="1"/>
          <p:nvPr/>
        </p:nvSpPr>
        <p:spPr bwMode="gray">
          <a:xfrm>
            <a:off x="1750178" y="2793077"/>
            <a:ext cx="843501" cy="276999"/>
          </a:xfrm>
          <a:prstGeom prst="rect">
            <a:avLst/>
          </a:prstGeom>
          <a:noFill/>
        </p:spPr>
        <p:txBody>
          <a:bodyPr wrap="none" rtlCol="0">
            <a:spAutoFit/>
          </a:bodyPr>
          <a:lstStyle/>
          <a:p>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GE0/0/23</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44" name="文本框 43"/>
          <p:cNvSpPr txBox="1"/>
          <p:nvPr/>
        </p:nvSpPr>
        <p:spPr bwMode="gray">
          <a:xfrm>
            <a:off x="2982348" y="2793077"/>
            <a:ext cx="843501" cy="276999"/>
          </a:xfrm>
          <a:prstGeom prst="rect">
            <a:avLst/>
          </a:prstGeom>
          <a:noFill/>
        </p:spPr>
        <p:txBody>
          <a:bodyPr wrap="none" rtlCol="0">
            <a:spAutoFit/>
          </a:bodyPr>
          <a:lstStyle/>
          <a:p>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GE0/0/24</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47" name="文本框 46"/>
          <p:cNvSpPr txBox="1"/>
          <p:nvPr/>
        </p:nvSpPr>
        <p:spPr bwMode="gray">
          <a:xfrm>
            <a:off x="1770501" y="3978175"/>
            <a:ext cx="756938" cy="276999"/>
          </a:xfrm>
          <a:prstGeom prst="rect">
            <a:avLst/>
          </a:prstGeom>
          <a:noFill/>
        </p:spPr>
        <p:txBody>
          <a:bodyPr wrap="none" rtlCol="0">
            <a:spAutoFit/>
          </a:bodyPr>
          <a:lstStyle/>
          <a:p>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GE0/0/1</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48" name="文本框 47"/>
          <p:cNvSpPr txBox="1"/>
          <p:nvPr/>
        </p:nvSpPr>
        <p:spPr bwMode="gray">
          <a:xfrm>
            <a:off x="1770501" y="4549455"/>
            <a:ext cx="843501" cy="276999"/>
          </a:xfrm>
          <a:prstGeom prst="rect">
            <a:avLst/>
          </a:prstGeom>
          <a:noFill/>
        </p:spPr>
        <p:txBody>
          <a:bodyPr wrap="none" rtlCol="0">
            <a:spAutoFit/>
          </a:bodyPr>
          <a:lstStyle/>
          <a:p>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GE0/0/24</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49" name="文本框 48"/>
          <p:cNvSpPr txBox="1"/>
          <p:nvPr/>
        </p:nvSpPr>
        <p:spPr bwMode="gray">
          <a:xfrm>
            <a:off x="3683182" y="4549455"/>
            <a:ext cx="843501" cy="276999"/>
          </a:xfrm>
          <a:prstGeom prst="rect">
            <a:avLst/>
          </a:prstGeom>
          <a:noFill/>
        </p:spPr>
        <p:txBody>
          <a:bodyPr wrap="none" rtlCol="0">
            <a:spAutoFit/>
          </a:bodyPr>
          <a:lstStyle/>
          <a:p>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GE0/0/23</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50" name="文本框 49"/>
          <p:cNvSpPr txBox="1"/>
          <p:nvPr/>
        </p:nvSpPr>
        <p:spPr bwMode="gray">
          <a:xfrm>
            <a:off x="3893353" y="4348938"/>
            <a:ext cx="843501" cy="276999"/>
          </a:xfrm>
          <a:prstGeom prst="rect">
            <a:avLst/>
          </a:prstGeom>
          <a:noFill/>
        </p:spPr>
        <p:txBody>
          <a:bodyPr wrap="none" rtlCol="0">
            <a:spAutoFit/>
          </a:bodyPr>
          <a:lstStyle/>
          <a:p>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GE0/0/24</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51" name="文本框 50"/>
          <p:cNvSpPr txBox="1"/>
          <p:nvPr/>
        </p:nvSpPr>
        <p:spPr bwMode="gray">
          <a:xfrm>
            <a:off x="3693695" y="3978175"/>
            <a:ext cx="756938" cy="276999"/>
          </a:xfrm>
          <a:prstGeom prst="rect">
            <a:avLst/>
          </a:prstGeom>
          <a:noFill/>
        </p:spPr>
        <p:txBody>
          <a:bodyPr wrap="none" rtlCol="0">
            <a:spAutoFit/>
          </a:bodyPr>
          <a:lstStyle/>
          <a:p>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GE0/0/1</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52" name="文本框 51"/>
          <p:cNvSpPr txBox="1"/>
          <p:nvPr/>
        </p:nvSpPr>
        <p:spPr bwMode="gray">
          <a:xfrm>
            <a:off x="1770501" y="3767312"/>
            <a:ext cx="843501" cy="276999"/>
          </a:xfrm>
          <a:prstGeom prst="rect">
            <a:avLst/>
          </a:prstGeom>
          <a:noFill/>
        </p:spPr>
        <p:txBody>
          <a:bodyPr wrap="none" rtlCol="0">
            <a:spAutoFit/>
          </a:bodyPr>
          <a:lstStyle/>
          <a:p>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GE0/0/24</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53" name="文本框 52"/>
          <p:cNvSpPr txBox="1"/>
          <p:nvPr/>
        </p:nvSpPr>
        <p:spPr bwMode="gray">
          <a:xfrm>
            <a:off x="3689683" y="3767312"/>
            <a:ext cx="843501" cy="276999"/>
          </a:xfrm>
          <a:prstGeom prst="rect">
            <a:avLst/>
          </a:prstGeom>
          <a:noFill/>
        </p:spPr>
        <p:txBody>
          <a:bodyPr wrap="none" rtlCol="0">
            <a:spAutoFit/>
          </a:bodyPr>
          <a:lstStyle/>
          <a:p>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GE0/0/24</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54" name="文本框 53"/>
          <p:cNvSpPr txBox="1"/>
          <p:nvPr/>
        </p:nvSpPr>
        <p:spPr bwMode="gray">
          <a:xfrm>
            <a:off x="1397996" y="3204613"/>
            <a:ext cx="756938" cy="276999"/>
          </a:xfrm>
          <a:prstGeom prst="rect">
            <a:avLst/>
          </a:prstGeom>
          <a:noFill/>
        </p:spPr>
        <p:txBody>
          <a:bodyPr wrap="none" rtlCol="0">
            <a:spAutoFit/>
          </a:bodyPr>
          <a:lstStyle/>
          <a:p>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GE0/0/1</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55" name="文本框 54"/>
          <p:cNvSpPr txBox="1"/>
          <p:nvPr/>
        </p:nvSpPr>
        <p:spPr bwMode="gray">
          <a:xfrm>
            <a:off x="3474299" y="3204613"/>
            <a:ext cx="756938" cy="276999"/>
          </a:xfrm>
          <a:prstGeom prst="rect">
            <a:avLst/>
          </a:prstGeom>
          <a:noFill/>
        </p:spPr>
        <p:txBody>
          <a:bodyPr wrap="none" rtlCol="0">
            <a:spAutoFit/>
          </a:bodyPr>
          <a:lstStyle/>
          <a:p>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GE0/0/1</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grpSp>
        <p:nvGrpSpPr>
          <p:cNvPr id="71" name="组合 758"/>
          <p:cNvGrpSpPr/>
          <p:nvPr/>
        </p:nvGrpSpPr>
        <p:grpSpPr bwMode="gray">
          <a:xfrm flipV="1">
            <a:off x="4764501" y="4607217"/>
            <a:ext cx="225699" cy="191129"/>
            <a:chOff x="7440613" y="4868863"/>
            <a:chExt cx="1019175" cy="828675"/>
          </a:xfrm>
          <a:solidFill>
            <a:schemeClr val="bg1">
              <a:lumMod val="50000"/>
            </a:schemeClr>
          </a:solidFill>
        </p:grpSpPr>
        <p:sp>
          <p:nvSpPr>
            <p:cNvPr id="72" name="Freeform 15"/>
            <p:cNvSpPr>
              <a:spLocks/>
            </p:cNvSpPr>
            <p:nvPr/>
          </p:nvSpPr>
          <p:spPr bwMode="gray">
            <a:xfrm>
              <a:off x="7832726" y="5462588"/>
              <a:ext cx="234950" cy="234950"/>
            </a:xfrm>
            <a:custGeom>
              <a:avLst/>
              <a:gdLst/>
              <a:ahLst/>
              <a:cxnLst>
                <a:cxn ang="0">
                  <a:pos x="3281" y="680"/>
                </a:cxn>
                <a:cxn ang="0">
                  <a:pos x="3439" y="907"/>
                </a:cxn>
                <a:cxn ang="0">
                  <a:pos x="3559" y="1151"/>
                </a:cxn>
                <a:cxn ang="0">
                  <a:pos x="3642" y="1406"/>
                </a:cxn>
                <a:cxn ang="0">
                  <a:pos x="3686" y="1670"/>
                </a:cxn>
                <a:cxn ang="0">
                  <a:pos x="3693" y="1936"/>
                </a:cxn>
                <a:cxn ang="0">
                  <a:pos x="3661" y="2201"/>
                </a:cxn>
                <a:cxn ang="0">
                  <a:pos x="3591" y="2460"/>
                </a:cxn>
                <a:cxn ang="0">
                  <a:pos x="3484" y="2708"/>
                </a:cxn>
                <a:cxn ang="0">
                  <a:pos x="3339" y="2941"/>
                </a:cxn>
                <a:cxn ang="0">
                  <a:pos x="3155" y="3155"/>
                </a:cxn>
                <a:cxn ang="0">
                  <a:pos x="2941" y="3339"/>
                </a:cxn>
                <a:cxn ang="0">
                  <a:pos x="2708" y="3484"/>
                </a:cxn>
                <a:cxn ang="0">
                  <a:pos x="2460" y="3592"/>
                </a:cxn>
                <a:cxn ang="0">
                  <a:pos x="2201" y="3661"/>
                </a:cxn>
                <a:cxn ang="0">
                  <a:pos x="1936" y="3693"/>
                </a:cxn>
                <a:cxn ang="0">
                  <a:pos x="1670" y="3687"/>
                </a:cxn>
                <a:cxn ang="0">
                  <a:pos x="1408" y="3643"/>
                </a:cxn>
                <a:cxn ang="0">
                  <a:pos x="1152" y="3561"/>
                </a:cxn>
                <a:cxn ang="0">
                  <a:pos x="908" y="3440"/>
                </a:cxn>
                <a:cxn ang="0">
                  <a:pos x="680" y="3282"/>
                </a:cxn>
                <a:cxn ang="0">
                  <a:pos x="475" y="3086"/>
                </a:cxn>
                <a:cxn ang="0">
                  <a:pos x="304" y="2866"/>
                </a:cxn>
                <a:cxn ang="0">
                  <a:pos x="172" y="2627"/>
                </a:cxn>
                <a:cxn ang="0">
                  <a:pos x="76" y="2374"/>
                </a:cxn>
                <a:cxn ang="0">
                  <a:pos x="19" y="2114"/>
                </a:cxn>
                <a:cxn ang="0">
                  <a:pos x="0" y="1848"/>
                </a:cxn>
                <a:cxn ang="0">
                  <a:pos x="19" y="1582"/>
                </a:cxn>
                <a:cxn ang="0">
                  <a:pos x="76" y="1321"/>
                </a:cxn>
                <a:cxn ang="0">
                  <a:pos x="171" y="1069"/>
                </a:cxn>
                <a:cxn ang="0">
                  <a:pos x="304" y="830"/>
                </a:cxn>
                <a:cxn ang="0">
                  <a:pos x="475" y="609"/>
                </a:cxn>
                <a:cxn ang="0">
                  <a:pos x="680" y="414"/>
                </a:cxn>
                <a:cxn ang="0">
                  <a:pos x="907" y="255"/>
                </a:cxn>
                <a:cxn ang="0">
                  <a:pos x="1151" y="135"/>
                </a:cxn>
                <a:cxn ang="0">
                  <a:pos x="1407" y="52"/>
                </a:cxn>
                <a:cxn ang="0">
                  <a:pos x="1669" y="8"/>
                </a:cxn>
                <a:cxn ang="0">
                  <a:pos x="1936" y="2"/>
                </a:cxn>
                <a:cxn ang="0">
                  <a:pos x="2201" y="33"/>
                </a:cxn>
                <a:cxn ang="0">
                  <a:pos x="2459" y="104"/>
                </a:cxn>
                <a:cxn ang="0">
                  <a:pos x="2708" y="211"/>
                </a:cxn>
                <a:cxn ang="0">
                  <a:pos x="2940" y="356"/>
                </a:cxn>
                <a:cxn ang="0">
                  <a:pos x="3154" y="539"/>
                </a:cxn>
              </a:cxnLst>
              <a:rect l="0" t="0" r="r" b="b"/>
              <a:pathLst>
                <a:path w="3695" h="3695">
                  <a:moveTo>
                    <a:pt x="3154" y="539"/>
                  </a:moveTo>
                  <a:lnTo>
                    <a:pt x="3220" y="608"/>
                  </a:lnTo>
                  <a:lnTo>
                    <a:pt x="3281" y="680"/>
                  </a:lnTo>
                  <a:lnTo>
                    <a:pt x="3338" y="754"/>
                  </a:lnTo>
                  <a:lnTo>
                    <a:pt x="3391" y="829"/>
                  </a:lnTo>
                  <a:lnTo>
                    <a:pt x="3439" y="907"/>
                  </a:lnTo>
                  <a:lnTo>
                    <a:pt x="3483" y="987"/>
                  </a:lnTo>
                  <a:lnTo>
                    <a:pt x="3523" y="1068"/>
                  </a:lnTo>
                  <a:lnTo>
                    <a:pt x="3559" y="1151"/>
                  </a:lnTo>
                  <a:lnTo>
                    <a:pt x="3591" y="1235"/>
                  </a:lnTo>
                  <a:lnTo>
                    <a:pt x="3619" y="1320"/>
                  </a:lnTo>
                  <a:lnTo>
                    <a:pt x="3642" y="1406"/>
                  </a:lnTo>
                  <a:lnTo>
                    <a:pt x="3661" y="1493"/>
                  </a:lnTo>
                  <a:lnTo>
                    <a:pt x="3676" y="1582"/>
                  </a:lnTo>
                  <a:lnTo>
                    <a:pt x="3686" y="1670"/>
                  </a:lnTo>
                  <a:lnTo>
                    <a:pt x="3693" y="1758"/>
                  </a:lnTo>
                  <a:lnTo>
                    <a:pt x="3695" y="1847"/>
                  </a:lnTo>
                  <a:lnTo>
                    <a:pt x="3693" y="1936"/>
                  </a:lnTo>
                  <a:lnTo>
                    <a:pt x="3686" y="2024"/>
                  </a:lnTo>
                  <a:lnTo>
                    <a:pt x="3676" y="2113"/>
                  </a:lnTo>
                  <a:lnTo>
                    <a:pt x="3661" y="2201"/>
                  </a:lnTo>
                  <a:lnTo>
                    <a:pt x="3642" y="2288"/>
                  </a:lnTo>
                  <a:lnTo>
                    <a:pt x="3619" y="2374"/>
                  </a:lnTo>
                  <a:lnTo>
                    <a:pt x="3591" y="2460"/>
                  </a:lnTo>
                  <a:lnTo>
                    <a:pt x="3559" y="2544"/>
                  </a:lnTo>
                  <a:lnTo>
                    <a:pt x="3524" y="2626"/>
                  </a:lnTo>
                  <a:lnTo>
                    <a:pt x="3484" y="2708"/>
                  </a:lnTo>
                  <a:lnTo>
                    <a:pt x="3439" y="2788"/>
                  </a:lnTo>
                  <a:lnTo>
                    <a:pt x="3391" y="2865"/>
                  </a:lnTo>
                  <a:lnTo>
                    <a:pt x="3339" y="2941"/>
                  </a:lnTo>
                  <a:lnTo>
                    <a:pt x="3281" y="3015"/>
                  </a:lnTo>
                  <a:lnTo>
                    <a:pt x="3220" y="3086"/>
                  </a:lnTo>
                  <a:lnTo>
                    <a:pt x="3155" y="3155"/>
                  </a:lnTo>
                  <a:lnTo>
                    <a:pt x="3086" y="3220"/>
                  </a:lnTo>
                  <a:lnTo>
                    <a:pt x="3015" y="3282"/>
                  </a:lnTo>
                  <a:lnTo>
                    <a:pt x="2941" y="3339"/>
                  </a:lnTo>
                  <a:lnTo>
                    <a:pt x="2865" y="3391"/>
                  </a:lnTo>
                  <a:lnTo>
                    <a:pt x="2788" y="3440"/>
                  </a:lnTo>
                  <a:lnTo>
                    <a:pt x="2708" y="3484"/>
                  </a:lnTo>
                  <a:lnTo>
                    <a:pt x="2626" y="3524"/>
                  </a:lnTo>
                  <a:lnTo>
                    <a:pt x="2544" y="3560"/>
                  </a:lnTo>
                  <a:lnTo>
                    <a:pt x="2460" y="3592"/>
                  </a:lnTo>
                  <a:lnTo>
                    <a:pt x="2375" y="3619"/>
                  </a:lnTo>
                  <a:lnTo>
                    <a:pt x="2288" y="3643"/>
                  </a:lnTo>
                  <a:lnTo>
                    <a:pt x="2201" y="3661"/>
                  </a:lnTo>
                  <a:lnTo>
                    <a:pt x="2114" y="3676"/>
                  </a:lnTo>
                  <a:lnTo>
                    <a:pt x="2026" y="3687"/>
                  </a:lnTo>
                  <a:lnTo>
                    <a:pt x="1936" y="3693"/>
                  </a:lnTo>
                  <a:lnTo>
                    <a:pt x="1848" y="3695"/>
                  </a:lnTo>
                  <a:lnTo>
                    <a:pt x="1759" y="3693"/>
                  </a:lnTo>
                  <a:lnTo>
                    <a:pt x="1670" y="3687"/>
                  </a:lnTo>
                  <a:lnTo>
                    <a:pt x="1582" y="3676"/>
                  </a:lnTo>
                  <a:lnTo>
                    <a:pt x="1495" y="3662"/>
                  </a:lnTo>
                  <a:lnTo>
                    <a:pt x="1408" y="3643"/>
                  </a:lnTo>
                  <a:lnTo>
                    <a:pt x="1321" y="3620"/>
                  </a:lnTo>
                  <a:lnTo>
                    <a:pt x="1236" y="3592"/>
                  </a:lnTo>
                  <a:lnTo>
                    <a:pt x="1152" y="3561"/>
                  </a:lnTo>
                  <a:lnTo>
                    <a:pt x="1069" y="3524"/>
                  </a:lnTo>
                  <a:lnTo>
                    <a:pt x="987" y="3484"/>
                  </a:lnTo>
                  <a:lnTo>
                    <a:pt x="908" y="3440"/>
                  </a:lnTo>
                  <a:lnTo>
                    <a:pt x="830" y="3391"/>
                  </a:lnTo>
                  <a:lnTo>
                    <a:pt x="755" y="3339"/>
                  </a:lnTo>
                  <a:lnTo>
                    <a:pt x="680" y="3282"/>
                  </a:lnTo>
                  <a:lnTo>
                    <a:pt x="609" y="3220"/>
                  </a:lnTo>
                  <a:lnTo>
                    <a:pt x="541" y="3155"/>
                  </a:lnTo>
                  <a:lnTo>
                    <a:pt x="475" y="3086"/>
                  </a:lnTo>
                  <a:lnTo>
                    <a:pt x="414" y="3015"/>
                  </a:lnTo>
                  <a:lnTo>
                    <a:pt x="357" y="2941"/>
                  </a:lnTo>
                  <a:lnTo>
                    <a:pt x="304" y="2866"/>
                  </a:lnTo>
                  <a:lnTo>
                    <a:pt x="256" y="2788"/>
                  </a:lnTo>
                  <a:lnTo>
                    <a:pt x="212" y="2709"/>
                  </a:lnTo>
                  <a:lnTo>
                    <a:pt x="172" y="2627"/>
                  </a:lnTo>
                  <a:lnTo>
                    <a:pt x="136" y="2544"/>
                  </a:lnTo>
                  <a:lnTo>
                    <a:pt x="104" y="2460"/>
                  </a:lnTo>
                  <a:lnTo>
                    <a:pt x="76" y="2374"/>
                  </a:lnTo>
                  <a:lnTo>
                    <a:pt x="53" y="2288"/>
                  </a:lnTo>
                  <a:lnTo>
                    <a:pt x="34" y="2201"/>
                  </a:lnTo>
                  <a:lnTo>
                    <a:pt x="19" y="2114"/>
                  </a:lnTo>
                  <a:lnTo>
                    <a:pt x="9" y="2025"/>
                  </a:lnTo>
                  <a:lnTo>
                    <a:pt x="2" y="1937"/>
                  </a:lnTo>
                  <a:lnTo>
                    <a:pt x="0" y="1848"/>
                  </a:lnTo>
                  <a:lnTo>
                    <a:pt x="2" y="1759"/>
                  </a:lnTo>
                  <a:lnTo>
                    <a:pt x="9" y="1670"/>
                  </a:lnTo>
                  <a:lnTo>
                    <a:pt x="19" y="1582"/>
                  </a:lnTo>
                  <a:lnTo>
                    <a:pt x="34" y="1494"/>
                  </a:lnTo>
                  <a:lnTo>
                    <a:pt x="53" y="1407"/>
                  </a:lnTo>
                  <a:lnTo>
                    <a:pt x="76" y="1321"/>
                  </a:lnTo>
                  <a:lnTo>
                    <a:pt x="104" y="1236"/>
                  </a:lnTo>
                  <a:lnTo>
                    <a:pt x="136" y="1151"/>
                  </a:lnTo>
                  <a:lnTo>
                    <a:pt x="171" y="1069"/>
                  </a:lnTo>
                  <a:lnTo>
                    <a:pt x="211" y="988"/>
                  </a:lnTo>
                  <a:lnTo>
                    <a:pt x="255" y="907"/>
                  </a:lnTo>
                  <a:lnTo>
                    <a:pt x="304" y="830"/>
                  </a:lnTo>
                  <a:lnTo>
                    <a:pt x="356" y="754"/>
                  </a:lnTo>
                  <a:lnTo>
                    <a:pt x="414" y="681"/>
                  </a:lnTo>
                  <a:lnTo>
                    <a:pt x="475" y="609"/>
                  </a:lnTo>
                  <a:lnTo>
                    <a:pt x="540" y="540"/>
                  </a:lnTo>
                  <a:lnTo>
                    <a:pt x="609" y="475"/>
                  </a:lnTo>
                  <a:lnTo>
                    <a:pt x="680" y="414"/>
                  </a:lnTo>
                  <a:lnTo>
                    <a:pt x="754" y="356"/>
                  </a:lnTo>
                  <a:lnTo>
                    <a:pt x="830" y="303"/>
                  </a:lnTo>
                  <a:lnTo>
                    <a:pt x="907" y="255"/>
                  </a:lnTo>
                  <a:lnTo>
                    <a:pt x="987" y="211"/>
                  </a:lnTo>
                  <a:lnTo>
                    <a:pt x="1069" y="171"/>
                  </a:lnTo>
                  <a:lnTo>
                    <a:pt x="1151" y="135"/>
                  </a:lnTo>
                  <a:lnTo>
                    <a:pt x="1235" y="104"/>
                  </a:lnTo>
                  <a:lnTo>
                    <a:pt x="1320" y="76"/>
                  </a:lnTo>
                  <a:lnTo>
                    <a:pt x="1407" y="52"/>
                  </a:lnTo>
                  <a:lnTo>
                    <a:pt x="1494" y="33"/>
                  </a:lnTo>
                  <a:lnTo>
                    <a:pt x="1581" y="19"/>
                  </a:lnTo>
                  <a:lnTo>
                    <a:pt x="1669" y="8"/>
                  </a:lnTo>
                  <a:lnTo>
                    <a:pt x="1759" y="2"/>
                  </a:lnTo>
                  <a:lnTo>
                    <a:pt x="1847" y="0"/>
                  </a:lnTo>
                  <a:lnTo>
                    <a:pt x="1936" y="2"/>
                  </a:lnTo>
                  <a:lnTo>
                    <a:pt x="2025" y="8"/>
                  </a:lnTo>
                  <a:lnTo>
                    <a:pt x="2113" y="19"/>
                  </a:lnTo>
                  <a:lnTo>
                    <a:pt x="2201" y="33"/>
                  </a:lnTo>
                  <a:lnTo>
                    <a:pt x="2287" y="52"/>
                  </a:lnTo>
                  <a:lnTo>
                    <a:pt x="2374" y="76"/>
                  </a:lnTo>
                  <a:lnTo>
                    <a:pt x="2459" y="104"/>
                  </a:lnTo>
                  <a:lnTo>
                    <a:pt x="2543" y="135"/>
                  </a:lnTo>
                  <a:lnTo>
                    <a:pt x="2626" y="171"/>
                  </a:lnTo>
                  <a:lnTo>
                    <a:pt x="2708" y="211"/>
                  </a:lnTo>
                  <a:lnTo>
                    <a:pt x="2787" y="255"/>
                  </a:lnTo>
                  <a:lnTo>
                    <a:pt x="2865" y="303"/>
                  </a:lnTo>
                  <a:lnTo>
                    <a:pt x="2940" y="356"/>
                  </a:lnTo>
                  <a:lnTo>
                    <a:pt x="3015" y="413"/>
                  </a:lnTo>
                  <a:lnTo>
                    <a:pt x="3086" y="474"/>
                  </a:lnTo>
                  <a:lnTo>
                    <a:pt x="3154" y="539"/>
                  </a:lnTo>
                  <a:close/>
                </a:path>
              </a:pathLst>
            </a:custGeom>
            <a:grpFill/>
            <a:ln w="9525">
              <a:noFill/>
              <a:round/>
              <a:headEnd/>
              <a:tailEnd/>
            </a:ln>
          </p:spPr>
          <p:txBody>
            <a:bodyPr/>
            <a:lstStyle/>
            <a:p>
              <a:pPr algn="ctr" eaLnBrk="1" fontAlgn="auto" hangingPunct="1">
                <a:spcBef>
                  <a:spcPts val="0"/>
                </a:spcBef>
                <a:spcAft>
                  <a:spcPts val="0"/>
                </a:spcAft>
                <a:defRPr/>
              </a:pPr>
              <a:endParaRPr lang="zh-CN" altLang="en-US" sz="1200" ker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3" name="Freeform 16"/>
            <p:cNvSpPr>
              <a:spLocks noEditPoints="1"/>
            </p:cNvSpPr>
            <p:nvPr/>
          </p:nvSpPr>
          <p:spPr bwMode="gray">
            <a:xfrm>
              <a:off x="7440613" y="4868863"/>
              <a:ext cx="1019175" cy="544513"/>
            </a:xfrm>
            <a:custGeom>
              <a:avLst/>
              <a:gdLst/>
              <a:ahLst/>
              <a:cxnLst>
                <a:cxn ang="0">
                  <a:pos x="16025" y="3351"/>
                </a:cxn>
                <a:cxn ang="0">
                  <a:pos x="14975" y="4351"/>
                </a:cxn>
                <a:cxn ang="0">
                  <a:pos x="14184" y="3632"/>
                </a:cxn>
                <a:cxn ang="0">
                  <a:pos x="12564" y="2563"/>
                </a:cxn>
                <a:cxn ang="0">
                  <a:pos x="10805" y="1850"/>
                </a:cxn>
                <a:cxn ang="0">
                  <a:pos x="8960" y="1494"/>
                </a:cxn>
                <a:cxn ang="0">
                  <a:pos x="7087" y="1494"/>
                </a:cxn>
                <a:cxn ang="0">
                  <a:pos x="5243" y="1851"/>
                </a:cxn>
                <a:cxn ang="0">
                  <a:pos x="3483" y="2564"/>
                </a:cxn>
                <a:cxn ang="0">
                  <a:pos x="1864" y="3634"/>
                </a:cxn>
                <a:cxn ang="0">
                  <a:pos x="1075" y="4353"/>
                </a:cxn>
                <a:cxn ang="0">
                  <a:pos x="24" y="3353"/>
                </a:cxn>
                <a:cxn ang="0">
                  <a:pos x="516" y="2880"/>
                </a:cxn>
                <a:cxn ang="0">
                  <a:pos x="2325" y="1549"/>
                </a:cxn>
                <a:cxn ang="0">
                  <a:pos x="4312" y="627"/>
                </a:cxn>
                <a:cxn ang="0">
                  <a:pos x="6413" y="115"/>
                </a:cxn>
                <a:cxn ang="0">
                  <a:pos x="8562" y="13"/>
                </a:cxn>
                <a:cxn ang="0">
                  <a:pos x="10694" y="319"/>
                </a:cxn>
                <a:cxn ang="0">
                  <a:pos x="12747" y="1036"/>
                </a:cxn>
                <a:cxn ang="0">
                  <a:pos x="14654" y="2160"/>
                </a:cxn>
                <a:cxn ang="0">
                  <a:pos x="14055" y="5373"/>
                </a:cxn>
                <a:cxn ang="0">
                  <a:pos x="12871" y="6404"/>
                </a:cxn>
                <a:cxn ang="0">
                  <a:pos x="12058" y="5702"/>
                </a:cxn>
                <a:cxn ang="0">
                  <a:pos x="10898" y="5017"/>
                </a:cxn>
                <a:cxn ang="0">
                  <a:pos x="9649" y="4582"/>
                </a:cxn>
                <a:cxn ang="0">
                  <a:pos x="8352" y="4395"/>
                </a:cxn>
                <a:cxn ang="0">
                  <a:pos x="7044" y="4457"/>
                </a:cxn>
                <a:cxn ang="0">
                  <a:pos x="5767" y="4769"/>
                </a:cxn>
                <a:cxn ang="0">
                  <a:pos x="4558" y="5329"/>
                </a:cxn>
                <a:cxn ang="0">
                  <a:pos x="3457" y="6139"/>
                </a:cxn>
                <a:cxn ang="0">
                  <a:pos x="3129" y="6456"/>
                </a:cxn>
                <a:cxn ang="0">
                  <a:pos x="2045" y="5322"/>
                </a:cxn>
                <a:cxn ang="0">
                  <a:pos x="2731" y="4697"/>
                </a:cxn>
                <a:cxn ang="0">
                  <a:pos x="4122" y="3779"/>
                </a:cxn>
                <a:cxn ang="0">
                  <a:pos x="5635" y="3166"/>
                </a:cxn>
                <a:cxn ang="0">
                  <a:pos x="7219" y="2859"/>
                </a:cxn>
                <a:cxn ang="0">
                  <a:pos x="8829" y="2859"/>
                </a:cxn>
                <a:cxn ang="0">
                  <a:pos x="10413" y="3165"/>
                </a:cxn>
                <a:cxn ang="0">
                  <a:pos x="11926" y="3777"/>
                </a:cxn>
                <a:cxn ang="0">
                  <a:pos x="13318" y="4696"/>
                </a:cxn>
                <a:cxn ang="0">
                  <a:pos x="14005" y="5321"/>
                </a:cxn>
                <a:cxn ang="0">
                  <a:pos x="10854" y="8576"/>
                </a:cxn>
                <a:cxn ang="0">
                  <a:pos x="10754" y="8472"/>
                </a:cxn>
                <a:cxn ang="0">
                  <a:pos x="10150" y="7980"/>
                </a:cxn>
                <a:cxn ang="0">
                  <a:pos x="9479" y="7627"/>
                </a:cxn>
                <a:cxn ang="0">
                  <a:pos x="8762" y="7416"/>
                </a:cxn>
                <a:cxn ang="0">
                  <a:pos x="8025" y="7345"/>
                </a:cxn>
                <a:cxn ang="0">
                  <a:pos x="7287" y="7416"/>
                </a:cxn>
                <a:cxn ang="0">
                  <a:pos x="6571" y="7627"/>
                </a:cxn>
                <a:cxn ang="0">
                  <a:pos x="5900" y="7980"/>
                </a:cxn>
                <a:cxn ang="0">
                  <a:pos x="5297" y="8473"/>
                </a:cxn>
                <a:cxn ang="0">
                  <a:pos x="5198" y="8576"/>
                </a:cxn>
                <a:cxn ang="0">
                  <a:pos x="4197" y="7425"/>
                </a:cxn>
                <a:cxn ang="0">
                  <a:pos x="4843" y="6865"/>
                </a:cxn>
                <a:cxn ang="0">
                  <a:pos x="5758" y="6325"/>
                </a:cxn>
                <a:cxn ang="0">
                  <a:pos x="6743" y="5981"/>
                </a:cxn>
                <a:cxn ang="0">
                  <a:pos x="7766" y="5833"/>
                </a:cxn>
                <a:cxn ang="0">
                  <a:pos x="8797" y="5882"/>
                </a:cxn>
                <a:cxn ang="0">
                  <a:pos x="9806" y="6127"/>
                </a:cxn>
                <a:cxn ang="0">
                  <a:pos x="10760" y="6570"/>
                </a:cxn>
                <a:cxn ang="0">
                  <a:pos x="11627" y="7208"/>
                </a:cxn>
                <a:cxn ang="0">
                  <a:pos x="11903" y="7475"/>
                </a:cxn>
              </a:cxnLst>
              <a:rect l="0" t="0" r="r" b="b"/>
              <a:pathLst>
                <a:path w="16050" h="8576">
                  <a:moveTo>
                    <a:pt x="15950" y="3273"/>
                  </a:moveTo>
                  <a:lnTo>
                    <a:pt x="15975" y="3299"/>
                  </a:lnTo>
                  <a:lnTo>
                    <a:pt x="16000" y="3324"/>
                  </a:lnTo>
                  <a:lnTo>
                    <a:pt x="16025" y="3351"/>
                  </a:lnTo>
                  <a:lnTo>
                    <a:pt x="16050" y="3377"/>
                  </a:lnTo>
                  <a:lnTo>
                    <a:pt x="15025" y="4402"/>
                  </a:lnTo>
                  <a:lnTo>
                    <a:pt x="15000" y="4377"/>
                  </a:lnTo>
                  <a:lnTo>
                    <a:pt x="14975" y="4351"/>
                  </a:lnTo>
                  <a:lnTo>
                    <a:pt x="14950" y="4325"/>
                  </a:lnTo>
                  <a:lnTo>
                    <a:pt x="14923" y="4300"/>
                  </a:lnTo>
                  <a:lnTo>
                    <a:pt x="14560" y="3955"/>
                  </a:lnTo>
                  <a:lnTo>
                    <a:pt x="14184" y="3632"/>
                  </a:lnTo>
                  <a:lnTo>
                    <a:pt x="13796" y="3330"/>
                  </a:lnTo>
                  <a:lnTo>
                    <a:pt x="13396" y="3053"/>
                  </a:lnTo>
                  <a:lnTo>
                    <a:pt x="12984" y="2797"/>
                  </a:lnTo>
                  <a:lnTo>
                    <a:pt x="12564" y="2563"/>
                  </a:lnTo>
                  <a:lnTo>
                    <a:pt x="12136" y="2351"/>
                  </a:lnTo>
                  <a:lnTo>
                    <a:pt x="11698" y="2161"/>
                  </a:lnTo>
                  <a:lnTo>
                    <a:pt x="11254" y="1995"/>
                  </a:lnTo>
                  <a:lnTo>
                    <a:pt x="10805" y="1850"/>
                  </a:lnTo>
                  <a:lnTo>
                    <a:pt x="10349" y="1728"/>
                  </a:lnTo>
                  <a:lnTo>
                    <a:pt x="9889" y="1628"/>
                  </a:lnTo>
                  <a:lnTo>
                    <a:pt x="9426" y="1549"/>
                  </a:lnTo>
                  <a:lnTo>
                    <a:pt x="8960" y="1494"/>
                  </a:lnTo>
                  <a:lnTo>
                    <a:pt x="8492" y="1461"/>
                  </a:lnTo>
                  <a:lnTo>
                    <a:pt x="8024" y="1450"/>
                  </a:lnTo>
                  <a:lnTo>
                    <a:pt x="7556" y="1461"/>
                  </a:lnTo>
                  <a:lnTo>
                    <a:pt x="7087" y="1494"/>
                  </a:lnTo>
                  <a:lnTo>
                    <a:pt x="6622" y="1550"/>
                  </a:lnTo>
                  <a:lnTo>
                    <a:pt x="6158" y="1629"/>
                  </a:lnTo>
                  <a:lnTo>
                    <a:pt x="5699" y="1729"/>
                  </a:lnTo>
                  <a:lnTo>
                    <a:pt x="5243" y="1851"/>
                  </a:lnTo>
                  <a:lnTo>
                    <a:pt x="4793" y="1996"/>
                  </a:lnTo>
                  <a:lnTo>
                    <a:pt x="4350" y="2163"/>
                  </a:lnTo>
                  <a:lnTo>
                    <a:pt x="3912" y="2352"/>
                  </a:lnTo>
                  <a:lnTo>
                    <a:pt x="3483" y="2564"/>
                  </a:lnTo>
                  <a:lnTo>
                    <a:pt x="3064" y="2799"/>
                  </a:lnTo>
                  <a:lnTo>
                    <a:pt x="2652" y="3055"/>
                  </a:lnTo>
                  <a:lnTo>
                    <a:pt x="2253" y="3332"/>
                  </a:lnTo>
                  <a:lnTo>
                    <a:pt x="1864" y="3634"/>
                  </a:lnTo>
                  <a:lnTo>
                    <a:pt x="1488" y="3957"/>
                  </a:lnTo>
                  <a:lnTo>
                    <a:pt x="1125" y="4302"/>
                  </a:lnTo>
                  <a:lnTo>
                    <a:pt x="1099" y="4327"/>
                  </a:lnTo>
                  <a:lnTo>
                    <a:pt x="1075" y="4353"/>
                  </a:lnTo>
                  <a:lnTo>
                    <a:pt x="1050" y="4378"/>
                  </a:lnTo>
                  <a:lnTo>
                    <a:pt x="1025" y="4404"/>
                  </a:lnTo>
                  <a:lnTo>
                    <a:pt x="0" y="3378"/>
                  </a:lnTo>
                  <a:lnTo>
                    <a:pt x="24" y="3353"/>
                  </a:lnTo>
                  <a:lnTo>
                    <a:pt x="49" y="3326"/>
                  </a:lnTo>
                  <a:lnTo>
                    <a:pt x="74" y="3301"/>
                  </a:lnTo>
                  <a:lnTo>
                    <a:pt x="99" y="3276"/>
                  </a:lnTo>
                  <a:lnTo>
                    <a:pt x="516" y="2880"/>
                  </a:lnTo>
                  <a:lnTo>
                    <a:pt x="948" y="2509"/>
                  </a:lnTo>
                  <a:lnTo>
                    <a:pt x="1394" y="2162"/>
                  </a:lnTo>
                  <a:lnTo>
                    <a:pt x="1854" y="1843"/>
                  </a:lnTo>
                  <a:lnTo>
                    <a:pt x="2325" y="1549"/>
                  </a:lnTo>
                  <a:lnTo>
                    <a:pt x="2808" y="1280"/>
                  </a:lnTo>
                  <a:lnTo>
                    <a:pt x="3301" y="1037"/>
                  </a:lnTo>
                  <a:lnTo>
                    <a:pt x="3803" y="820"/>
                  </a:lnTo>
                  <a:lnTo>
                    <a:pt x="4312" y="627"/>
                  </a:lnTo>
                  <a:lnTo>
                    <a:pt x="4830" y="461"/>
                  </a:lnTo>
                  <a:lnTo>
                    <a:pt x="5353" y="320"/>
                  </a:lnTo>
                  <a:lnTo>
                    <a:pt x="5881" y="205"/>
                  </a:lnTo>
                  <a:lnTo>
                    <a:pt x="6413" y="115"/>
                  </a:lnTo>
                  <a:lnTo>
                    <a:pt x="6949" y="51"/>
                  </a:lnTo>
                  <a:lnTo>
                    <a:pt x="7485" y="13"/>
                  </a:lnTo>
                  <a:lnTo>
                    <a:pt x="8024" y="0"/>
                  </a:lnTo>
                  <a:lnTo>
                    <a:pt x="8562" y="13"/>
                  </a:lnTo>
                  <a:lnTo>
                    <a:pt x="9099" y="51"/>
                  </a:lnTo>
                  <a:lnTo>
                    <a:pt x="9634" y="115"/>
                  </a:lnTo>
                  <a:lnTo>
                    <a:pt x="10167" y="205"/>
                  </a:lnTo>
                  <a:lnTo>
                    <a:pt x="10694" y="319"/>
                  </a:lnTo>
                  <a:lnTo>
                    <a:pt x="11218" y="460"/>
                  </a:lnTo>
                  <a:lnTo>
                    <a:pt x="11735" y="626"/>
                  </a:lnTo>
                  <a:lnTo>
                    <a:pt x="12245" y="818"/>
                  </a:lnTo>
                  <a:lnTo>
                    <a:pt x="12747" y="1036"/>
                  </a:lnTo>
                  <a:lnTo>
                    <a:pt x="13239" y="1278"/>
                  </a:lnTo>
                  <a:lnTo>
                    <a:pt x="13722" y="1547"/>
                  </a:lnTo>
                  <a:lnTo>
                    <a:pt x="14194" y="1841"/>
                  </a:lnTo>
                  <a:lnTo>
                    <a:pt x="14654" y="2160"/>
                  </a:lnTo>
                  <a:lnTo>
                    <a:pt x="15100" y="2506"/>
                  </a:lnTo>
                  <a:lnTo>
                    <a:pt x="15532" y="2877"/>
                  </a:lnTo>
                  <a:lnTo>
                    <a:pt x="15950" y="3273"/>
                  </a:lnTo>
                  <a:close/>
                  <a:moveTo>
                    <a:pt x="14055" y="5373"/>
                  </a:moveTo>
                  <a:lnTo>
                    <a:pt x="12946" y="6481"/>
                  </a:lnTo>
                  <a:lnTo>
                    <a:pt x="12921" y="6456"/>
                  </a:lnTo>
                  <a:lnTo>
                    <a:pt x="12897" y="6430"/>
                  </a:lnTo>
                  <a:lnTo>
                    <a:pt x="12871" y="6404"/>
                  </a:lnTo>
                  <a:lnTo>
                    <a:pt x="12846" y="6379"/>
                  </a:lnTo>
                  <a:lnTo>
                    <a:pt x="12592" y="6137"/>
                  </a:lnTo>
                  <a:lnTo>
                    <a:pt x="12329" y="5912"/>
                  </a:lnTo>
                  <a:lnTo>
                    <a:pt x="12058" y="5702"/>
                  </a:lnTo>
                  <a:lnTo>
                    <a:pt x="11778" y="5507"/>
                  </a:lnTo>
                  <a:lnTo>
                    <a:pt x="11491" y="5328"/>
                  </a:lnTo>
                  <a:lnTo>
                    <a:pt x="11198" y="5165"/>
                  </a:lnTo>
                  <a:lnTo>
                    <a:pt x="10898" y="5017"/>
                  </a:lnTo>
                  <a:lnTo>
                    <a:pt x="10592" y="4885"/>
                  </a:lnTo>
                  <a:lnTo>
                    <a:pt x="10282" y="4768"/>
                  </a:lnTo>
                  <a:lnTo>
                    <a:pt x="9967" y="4667"/>
                  </a:lnTo>
                  <a:lnTo>
                    <a:pt x="9649" y="4582"/>
                  </a:lnTo>
                  <a:lnTo>
                    <a:pt x="9328" y="4512"/>
                  </a:lnTo>
                  <a:lnTo>
                    <a:pt x="9004" y="4457"/>
                  </a:lnTo>
                  <a:lnTo>
                    <a:pt x="8679" y="4418"/>
                  </a:lnTo>
                  <a:lnTo>
                    <a:pt x="8352" y="4395"/>
                  </a:lnTo>
                  <a:lnTo>
                    <a:pt x="8024" y="4387"/>
                  </a:lnTo>
                  <a:lnTo>
                    <a:pt x="7697" y="4395"/>
                  </a:lnTo>
                  <a:lnTo>
                    <a:pt x="7370" y="4418"/>
                  </a:lnTo>
                  <a:lnTo>
                    <a:pt x="7044" y="4457"/>
                  </a:lnTo>
                  <a:lnTo>
                    <a:pt x="6721" y="4512"/>
                  </a:lnTo>
                  <a:lnTo>
                    <a:pt x="6399" y="4582"/>
                  </a:lnTo>
                  <a:lnTo>
                    <a:pt x="6081" y="4668"/>
                  </a:lnTo>
                  <a:lnTo>
                    <a:pt x="5767" y="4769"/>
                  </a:lnTo>
                  <a:lnTo>
                    <a:pt x="5457" y="4886"/>
                  </a:lnTo>
                  <a:lnTo>
                    <a:pt x="5151" y="5018"/>
                  </a:lnTo>
                  <a:lnTo>
                    <a:pt x="4851" y="5166"/>
                  </a:lnTo>
                  <a:lnTo>
                    <a:pt x="4558" y="5329"/>
                  </a:lnTo>
                  <a:lnTo>
                    <a:pt x="4271" y="5509"/>
                  </a:lnTo>
                  <a:lnTo>
                    <a:pt x="3991" y="5703"/>
                  </a:lnTo>
                  <a:lnTo>
                    <a:pt x="3720" y="5913"/>
                  </a:lnTo>
                  <a:lnTo>
                    <a:pt x="3457" y="6139"/>
                  </a:lnTo>
                  <a:lnTo>
                    <a:pt x="3203" y="6380"/>
                  </a:lnTo>
                  <a:lnTo>
                    <a:pt x="3178" y="6406"/>
                  </a:lnTo>
                  <a:lnTo>
                    <a:pt x="3154" y="6431"/>
                  </a:lnTo>
                  <a:lnTo>
                    <a:pt x="3129" y="6456"/>
                  </a:lnTo>
                  <a:lnTo>
                    <a:pt x="3104" y="6482"/>
                  </a:lnTo>
                  <a:lnTo>
                    <a:pt x="1996" y="5374"/>
                  </a:lnTo>
                  <a:lnTo>
                    <a:pt x="2020" y="5348"/>
                  </a:lnTo>
                  <a:lnTo>
                    <a:pt x="2045" y="5322"/>
                  </a:lnTo>
                  <a:lnTo>
                    <a:pt x="2069" y="5297"/>
                  </a:lnTo>
                  <a:lnTo>
                    <a:pt x="2095" y="5272"/>
                  </a:lnTo>
                  <a:lnTo>
                    <a:pt x="2406" y="4975"/>
                  </a:lnTo>
                  <a:lnTo>
                    <a:pt x="2731" y="4697"/>
                  </a:lnTo>
                  <a:lnTo>
                    <a:pt x="3065" y="4439"/>
                  </a:lnTo>
                  <a:lnTo>
                    <a:pt x="3408" y="4199"/>
                  </a:lnTo>
                  <a:lnTo>
                    <a:pt x="3761" y="3980"/>
                  </a:lnTo>
                  <a:lnTo>
                    <a:pt x="4122" y="3779"/>
                  </a:lnTo>
                  <a:lnTo>
                    <a:pt x="4491" y="3596"/>
                  </a:lnTo>
                  <a:lnTo>
                    <a:pt x="4866" y="3434"/>
                  </a:lnTo>
                  <a:lnTo>
                    <a:pt x="5247" y="3290"/>
                  </a:lnTo>
                  <a:lnTo>
                    <a:pt x="5635" y="3166"/>
                  </a:lnTo>
                  <a:lnTo>
                    <a:pt x="6026" y="3061"/>
                  </a:lnTo>
                  <a:lnTo>
                    <a:pt x="6421" y="2974"/>
                  </a:lnTo>
                  <a:lnTo>
                    <a:pt x="6819" y="2907"/>
                  </a:lnTo>
                  <a:lnTo>
                    <a:pt x="7219" y="2859"/>
                  </a:lnTo>
                  <a:lnTo>
                    <a:pt x="7622" y="2831"/>
                  </a:lnTo>
                  <a:lnTo>
                    <a:pt x="8024" y="2821"/>
                  </a:lnTo>
                  <a:lnTo>
                    <a:pt x="8427" y="2831"/>
                  </a:lnTo>
                  <a:lnTo>
                    <a:pt x="8829" y="2859"/>
                  </a:lnTo>
                  <a:lnTo>
                    <a:pt x="9229" y="2907"/>
                  </a:lnTo>
                  <a:lnTo>
                    <a:pt x="9627" y="2973"/>
                  </a:lnTo>
                  <a:lnTo>
                    <a:pt x="10022" y="3060"/>
                  </a:lnTo>
                  <a:lnTo>
                    <a:pt x="10413" y="3165"/>
                  </a:lnTo>
                  <a:lnTo>
                    <a:pt x="10801" y="3289"/>
                  </a:lnTo>
                  <a:lnTo>
                    <a:pt x="11182" y="3433"/>
                  </a:lnTo>
                  <a:lnTo>
                    <a:pt x="11558" y="3595"/>
                  </a:lnTo>
                  <a:lnTo>
                    <a:pt x="11926" y="3777"/>
                  </a:lnTo>
                  <a:lnTo>
                    <a:pt x="12287" y="3978"/>
                  </a:lnTo>
                  <a:lnTo>
                    <a:pt x="12640" y="4198"/>
                  </a:lnTo>
                  <a:lnTo>
                    <a:pt x="12984" y="4437"/>
                  </a:lnTo>
                  <a:lnTo>
                    <a:pt x="13318" y="4696"/>
                  </a:lnTo>
                  <a:lnTo>
                    <a:pt x="13641" y="4973"/>
                  </a:lnTo>
                  <a:lnTo>
                    <a:pt x="13954" y="5270"/>
                  </a:lnTo>
                  <a:lnTo>
                    <a:pt x="13980" y="5295"/>
                  </a:lnTo>
                  <a:lnTo>
                    <a:pt x="14005" y="5321"/>
                  </a:lnTo>
                  <a:lnTo>
                    <a:pt x="14030" y="5347"/>
                  </a:lnTo>
                  <a:lnTo>
                    <a:pt x="14055" y="5373"/>
                  </a:lnTo>
                  <a:close/>
                  <a:moveTo>
                    <a:pt x="11928" y="7501"/>
                  </a:moveTo>
                  <a:lnTo>
                    <a:pt x="10854" y="8576"/>
                  </a:lnTo>
                  <a:lnTo>
                    <a:pt x="10829" y="8549"/>
                  </a:lnTo>
                  <a:lnTo>
                    <a:pt x="10805" y="8523"/>
                  </a:lnTo>
                  <a:lnTo>
                    <a:pt x="10780" y="8498"/>
                  </a:lnTo>
                  <a:lnTo>
                    <a:pt x="10754" y="8472"/>
                  </a:lnTo>
                  <a:lnTo>
                    <a:pt x="10610" y="8336"/>
                  </a:lnTo>
                  <a:lnTo>
                    <a:pt x="10462" y="8208"/>
                  </a:lnTo>
                  <a:lnTo>
                    <a:pt x="10307" y="8089"/>
                  </a:lnTo>
                  <a:lnTo>
                    <a:pt x="10150" y="7980"/>
                  </a:lnTo>
                  <a:lnTo>
                    <a:pt x="9987" y="7878"/>
                  </a:lnTo>
                  <a:lnTo>
                    <a:pt x="9821" y="7785"/>
                  </a:lnTo>
                  <a:lnTo>
                    <a:pt x="9651" y="7702"/>
                  </a:lnTo>
                  <a:lnTo>
                    <a:pt x="9479" y="7627"/>
                  </a:lnTo>
                  <a:lnTo>
                    <a:pt x="9303" y="7561"/>
                  </a:lnTo>
                  <a:lnTo>
                    <a:pt x="9124" y="7504"/>
                  </a:lnTo>
                  <a:lnTo>
                    <a:pt x="8945" y="7456"/>
                  </a:lnTo>
                  <a:lnTo>
                    <a:pt x="8762" y="7416"/>
                  </a:lnTo>
                  <a:lnTo>
                    <a:pt x="8580" y="7384"/>
                  </a:lnTo>
                  <a:lnTo>
                    <a:pt x="8395" y="7362"/>
                  </a:lnTo>
                  <a:lnTo>
                    <a:pt x="8210" y="7349"/>
                  </a:lnTo>
                  <a:lnTo>
                    <a:pt x="8025" y="7345"/>
                  </a:lnTo>
                  <a:lnTo>
                    <a:pt x="7839" y="7349"/>
                  </a:lnTo>
                  <a:lnTo>
                    <a:pt x="7655" y="7363"/>
                  </a:lnTo>
                  <a:lnTo>
                    <a:pt x="7470" y="7385"/>
                  </a:lnTo>
                  <a:lnTo>
                    <a:pt x="7287" y="7416"/>
                  </a:lnTo>
                  <a:lnTo>
                    <a:pt x="7105" y="7456"/>
                  </a:lnTo>
                  <a:lnTo>
                    <a:pt x="6926" y="7504"/>
                  </a:lnTo>
                  <a:lnTo>
                    <a:pt x="6747" y="7561"/>
                  </a:lnTo>
                  <a:lnTo>
                    <a:pt x="6571" y="7627"/>
                  </a:lnTo>
                  <a:lnTo>
                    <a:pt x="6399" y="7703"/>
                  </a:lnTo>
                  <a:lnTo>
                    <a:pt x="6229" y="7786"/>
                  </a:lnTo>
                  <a:lnTo>
                    <a:pt x="6063" y="7878"/>
                  </a:lnTo>
                  <a:lnTo>
                    <a:pt x="5900" y="7980"/>
                  </a:lnTo>
                  <a:lnTo>
                    <a:pt x="5742" y="8090"/>
                  </a:lnTo>
                  <a:lnTo>
                    <a:pt x="5588" y="8209"/>
                  </a:lnTo>
                  <a:lnTo>
                    <a:pt x="5440" y="8337"/>
                  </a:lnTo>
                  <a:lnTo>
                    <a:pt x="5297" y="8473"/>
                  </a:lnTo>
                  <a:lnTo>
                    <a:pt x="5271" y="8498"/>
                  </a:lnTo>
                  <a:lnTo>
                    <a:pt x="5246" y="8524"/>
                  </a:lnTo>
                  <a:lnTo>
                    <a:pt x="5222" y="8550"/>
                  </a:lnTo>
                  <a:lnTo>
                    <a:pt x="5198" y="8576"/>
                  </a:lnTo>
                  <a:lnTo>
                    <a:pt x="4123" y="7501"/>
                  </a:lnTo>
                  <a:lnTo>
                    <a:pt x="4147" y="7476"/>
                  </a:lnTo>
                  <a:lnTo>
                    <a:pt x="4172" y="7450"/>
                  </a:lnTo>
                  <a:lnTo>
                    <a:pt x="4197" y="7425"/>
                  </a:lnTo>
                  <a:lnTo>
                    <a:pt x="4222" y="7399"/>
                  </a:lnTo>
                  <a:lnTo>
                    <a:pt x="4422" y="7209"/>
                  </a:lnTo>
                  <a:lnTo>
                    <a:pt x="4629" y="7030"/>
                  </a:lnTo>
                  <a:lnTo>
                    <a:pt x="4843" y="6865"/>
                  </a:lnTo>
                  <a:lnTo>
                    <a:pt x="5064" y="6711"/>
                  </a:lnTo>
                  <a:lnTo>
                    <a:pt x="5290" y="6571"/>
                  </a:lnTo>
                  <a:lnTo>
                    <a:pt x="5522" y="6441"/>
                  </a:lnTo>
                  <a:lnTo>
                    <a:pt x="5758" y="6325"/>
                  </a:lnTo>
                  <a:lnTo>
                    <a:pt x="6000" y="6220"/>
                  </a:lnTo>
                  <a:lnTo>
                    <a:pt x="6243" y="6128"/>
                  </a:lnTo>
                  <a:lnTo>
                    <a:pt x="6492" y="6048"/>
                  </a:lnTo>
                  <a:lnTo>
                    <a:pt x="6743" y="5981"/>
                  </a:lnTo>
                  <a:lnTo>
                    <a:pt x="6997" y="5925"/>
                  </a:lnTo>
                  <a:lnTo>
                    <a:pt x="7252" y="5882"/>
                  </a:lnTo>
                  <a:lnTo>
                    <a:pt x="7508" y="5851"/>
                  </a:lnTo>
                  <a:lnTo>
                    <a:pt x="7766" y="5833"/>
                  </a:lnTo>
                  <a:lnTo>
                    <a:pt x="8025" y="5827"/>
                  </a:lnTo>
                  <a:lnTo>
                    <a:pt x="8283" y="5833"/>
                  </a:lnTo>
                  <a:lnTo>
                    <a:pt x="8541" y="5851"/>
                  </a:lnTo>
                  <a:lnTo>
                    <a:pt x="8797" y="5882"/>
                  </a:lnTo>
                  <a:lnTo>
                    <a:pt x="9053" y="5925"/>
                  </a:lnTo>
                  <a:lnTo>
                    <a:pt x="9306" y="5981"/>
                  </a:lnTo>
                  <a:lnTo>
                    <a:pt x="9557" y="6048"/>
                  </a:lnTo>
                  <a:lnTo>
                    <a:pt x="9806" y="6127"/>
                  </a:lnTo>
                  <a:lnTo>
                    <a:pt x="10050" y="6219"/>
                  </a:lnTo>
                  <a:lnTo>
                    <a:pt x="10291" y="6324"/>
                  </a:lnTo>
                  <a:lnTo>
                    <a:pt x="10528" y="6440"/>
                  </a:lnTo>
                  <a:lnTo>
                    <a:pt x="10760" y="6570"/>
                  </a:lnTo>
                  <a:lnTo>
                    <a:pt x="10985" y="6710"/>
                  </a:lnTo>
                  <a:lnTo>
                    <a:pt x="11206" y="6864"/>
                  </a:lnTo>
                  <a:lnTo>
                    <a:pt x="11421" y="7029"/>
                  </a:lnTo>
                  <a:lnTo>
                    <a:pt x="11627" y="7208"/>
                  </a:lnTo>
                  <a:lnTo>
                    <a:pt x="11828" y="7398"/>
                  </a:lnTo>
                  <a:lnTo>
                    <a:pt x="11853" y="7424"/>
                  </a:lnTo>
                  <a:lnTo>
                    <a:pt x="11878" y="7449"/>
                  </a:lnTo>
                  <a:lnTo>
                    <a:pt x="11903" y="7475"/>
                  </a:lnTo>
                  <a:lnTo>
                    <a:pt x="11928" y="7501"/>
                  </a:lnTo>
                  <a:close/>
                </a:path>
              </a:pathLst>
            </a:custGeom>
            <a:grpFill/>
            <a:ln w="9525">
              <a:noFill/>
              <a:round/>
              <a:headEnd/>
              <a:tailEnd/>
            </a:ln>
          </p:spPr>
          <p:txBody>
            <a:bodyPr/>
            <a:lstStyle/>
            <a:p>
              <a:pPr algn="ctr" eaLnBrk="1" fontAlgn="auto" hangingPunct="1">
                <a:spcBef>
                  <a:spcPts val="0"/>
                </a:spcBef>
                <a:spcAft>
                  <a:spcPts val="0"/>
                </a:spcAft>
                <a:defRPr/>
              </a:pPr>
              <a:endParaRPr lang="zh-CN" altLang="en-US" sz="1200" ker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spTree>
    <p:extLst>
      <p:ext uri="{BB962C8B-B14F-4D97-AF65-F5344CB8AC3E}">
        <p14:creationId xmlns:p14="http://schemas.microsoft.com/office/powerpoint/2010/main" val="253909777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虚拟化园区网络实验：网关方案选择</a:t>
            </a:r>
          </a:p>
        </p:txBody>
      </p:sp>
      <p:sp>
        <p:nvSpPr>
          <p:cNvPr id="3" name="文本占位符 2"/>
          <p:cNvSpPr>
            <a:spLocks noGrp="1"/>
          </p:cNvSpPr>
          <p:nvPr>
            <p:ph type="body" sz="quarter" idx="10"/>
          </p:nvPr>
        </p:nvSpPr>
        <p:spPr>
          <a:xfrm>
            <a:off x="455612" y="1047750"/>
            <a:ext cx="11293475" cy="1023421"/>
          </a:xfrm>
        </p:spPr>
        <p:txBody>
          <a:bodyPr/>
          <a:lstStyle/>
          <a:p>
            <a:r>
              <a:rPr lang="zh-CN" altLang="en-US" sz="2000" dirty="0" smtClean="0"/>
              <a:t>在虚拟化园区网络方案设计中，首先需要确定采用哪种网关方案。网关方案确定后，就可以基于已选择的网关方案，对园区整体网络进行端到端的设计。</a:t>
            </a:r>
            <a:endParaRPr lang="zh-CN" altLang="en-US" sz="2000" dirty="0"/>
          </a:p>
        </p:txBody>
      </p:sp>
      <p:graphicFrame>
        <p:nvGraphicFramePr>
          <p:cNvPr id="4" name="表格 3"/>
          <p:cNvGraphicFramePr>
            <a:graphicFrameLocks noGrp="1"/>
          </p:cNvGraphicFramePr>
          <p:nvPr>
            <p:extLst>
              <p:ext uri="{D42A27DB-BD31-4B8C-83A1-F6EECF244321}">
                <p14:modId xmlns:p14="http://schemas.microsoft.com/office/powerpoint/2010/main" val="1778272039"/>
              </p:ext>
            </p:extLst>
          </p:nvPr>
        </p:nvGraphicFramePr>
        <p:xfrm>
          <a:off x="797443" y="2267499"/>
          <a:ext cx="10597116" cy="2061406"/>
        </p:xfrm>
        <a:graphic>
          <a:graphicData uri="http://schemas.openxmlformats.org/drawingml/2006/table">
            <a:tbl>
              <a:tblPr/>
              <a:tblGrid>
                <a:gridCol w="1350846"/>
                <a:gridCol w="4623135"/>
                <a:gridCol w="4623135"/>
              </a:tblGrid>
              <a:tr h="269112">
                <a:tc>
                  <a:txBody>
                    <a:bodyPr/>
                    <a:lstStyle/>
                    <a:p>
                      <a:pPr algn="ctr"/>
                      <a:r>
                        <a:rPr lang="zh-CN" altLang="en-US" sz="1400" b="1" dirty="0">
                          <a:effectLst/>
                        </a:rPr>
                        <a:t>对比项</a:t>
                      </a:r>
                    </a:p>
                  </a:txBody>
                  <a:tcPr anchor="ctr">
                    <a:lnL w="28575" cap="flat" cmpd="sng" algn="ctr">
                      <a:solidFill>
                        <a:schemeClr val="tx1"/>
                      </a:solidFill>
                      <a:prstDash val="solid"/>
                      <a:round/>
                      <a:headEnd type="none" w="med" len="med"/>
                      <a:tailEnd type="none" w="med" len="med"/>
                    </a:lnL>
                    <a:lnT w="28575" cap="flat" cmpd="sng" algn="ctr">
                      <a:solidFill>
                        <a:schemeClr val="tx1"/>
                      </a:solidFill>
                      <a:prstDash val="solid"/>
                      <a:round/>
                      <a:headEnd type="none" w="med" len="med"/>
                      <a:tailEnd type="none" w="med" len="med"/>
                    </a:lnT>
                    <a:solidFill>
                      <a:schemeClr val="bg1">
                        <a:lumMod val="85000"/>
                      </a:schemeClr>
                    </a:solidFill>
                  </a:tcPr>
                </a:tc>
                <a:tc>
                  <a:txBody>
                    <a:bodyPr/>
                    <a:lstStyle/>
                    <a:p>
                      <a:pPr algn="ctr"/>
                      <a:r>
                        <a:rPr lang="zh-CN" altLang="en-US" sz="1400" b="1" dirty="0">
                          <a:effectLst/>
                        </a:rPr>
                        <a:t>集中式网关</a:t>
                      </a:r>
                    </a:p>
                  </a:txBody>
                  <a:tcPr anchor="ctr">
                    <a:lnT w="28575" cap="flat" cmpd="sng" algn="ctr">
                      <a:solidFill>
                        <a:schemeClr val="tx1"/>
                      </a:solidFill>
                      <a:prstDash val="solid"/>
                      <a:round/>
                      <a:headEnd type="none" w="med" len="med"/>
                      <a:tailEnd type="none" w="med" len="med"/>
                    </a:lnT>
                    <a:solidFill>
                      <a:schemeClr val="bg1">
                        <a:lumMod val="85000"/>
                      </a:schemeClr>
                    </a:solidFill>
                  </a:tcPr>
                </a:tc>
                <a:tc>
                  <a:txBody>
                    <a:bodyPr/>
                    <a:lstStyle/>
                    <a:p>
                      <a:pPr algn="ctr"/>
                      <a:r>
                        <a:rPr lang="zh-CN" altLang="en-US" sz="1400" b="1" dirty="0">
                          <a:effectLst/>
                        </a:rPr>
                        <a:t>分布式网关</a:t>
                      </a:r>
                    </a:p>
                  </a:txBody>
                  <a:tcPr anchor="ctr">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solidFill>
                      <a:schemeClr val="bg1">
                        <a:lumMod val="85000"/>
                      </a:schemeClr>
                    </a:solidFill>
                  </a:tcPr>
                </a:tc>
              </a:tr>
              <a:tr h="479700">
                <a:tc>
                  <a:txBody>
                    <a:bodyPr/>
                    <a:lstStyle/>
                    <a:p>
                      <a:pPr marL="0" algn="ctr" defTabSz="914034" rtl="0" eaLnBrk="1" latinLnBrk="0" hangingPunct="1">
                        <a:lnSpc>
                          <a:spcPct val="100000"/>
                        </a:lnSpc>
                      </a:pPr>
                      <a:r>
                        <a:rPr lang="zh-CN" altLang="en-US" sz="1400" kern="1200" dirty="0">
                          <a:solidFill>
                            <a:schemeClr val="tx1"/>
                          </a:solidFill>
                          <a:effectLst/>
                          <a:latin typeface="+mn-lt"/>
                          <a:ea typeface="+mn-ea"/>
                          <a:cs typeface="+mn-cs"/>
                        </a:rPr>
                        <a:t>用户网关位置</a:t>
                      </a:r>
                    </a:p>
                  </a:txBody>
                  <a:tcPr anchor="ctr">
                    <a:lnL w="28575" cap="flat" cmpd="sng" algn="ctr">
                      <a:solidFill>
                        <a:schemeClr val="tx1"/>
                      </a:solidFill>
                      <a:prstDash val="solid"/>
                      <a:round/>
                      <a:headEnd type="none" w="med" len="med"/>
                      <a:tailEnd type="none" w="med" len="med"/>
                    </a:lnL>
                  </a:tcPr>
                </a:tc>
                <a:tc>
                  <a:txBody>
                    <a:bodyPr/>
                    <a:lstStyle/>
                    <a:p>
                      <a:pPr marL="0" algn="ctr" defTabSz="914034" rtl="0" eaLnBrk="1" latinLnBrk="0" hangingPunct="1">
                        <a:lnSpc>
                          <a:spcPct val="100000"/>
                        </a:lnSpc>
                      </a:pPr>
                      <a:r>
                        <a:rPr lang="en-US" sz="1400" kern="1200" dirty="0">
                          <a:solidFill>
                            <a:schemeClr val="tx1"/>
                          </a:solidFill>
                          <a:effectLst/>
                          <a:latin typeface="+mn-lt"/>
                          <a:ea typeface="+mn-ea"/>
                          <a:cs typeface="+mn-cs"/>
                        </a:rPr>
                        <a:t>Border</a:t>
                      </a:r>
                    </a:p>
                  </a:txBody>
                  <a:tcPr anchor="ctr"/>
                </a:tc>
                <a:tc>
                  <a:txBody>
                    <a:bodyPr/>
                    <a:lstStyle/>
                    <a:p>
                      <a:pPr marL="0" algn="ctr" defTabSz="914034" rtl="0" eaLnBrk="1" latinLnBrk="0" hangingPunct="1">
                        <a:lnSpc>
                          <a:spcPct val="100000"/>
                        </a:lnSpc>
                      </a:pPr>
                      <a:r>
                        <a:rPr lang="en-US" sz="1400" kern="1200" dirty="0">
                          <a:solidFill>
                            <a:schemeClr val="tx1"/>
                          </a:solidFill>
                          <a:effectLst/>
                          <a:latin typeface="+mn-lt"/>
                          <a:ea typeface="+mn-ea"/>
                          <a:cs typeface="+mn-cs"/>
                        </a:rPr>
                        <a:t>Edge</a:t>
                      </a:r>
                    </a:p>
                  </a:txBody>
                  <a:tcPr anchor="ctr">
                    <a:lnR w="28575" cap="flat" cmpd="sng" algn="ctr">
                      <a:solidFill>
                        <a:schemeClr val="tx1"/>
                      </a:solidFill>
                      <a:prstDash val="solid"/>
                      <a:round/>
                      <a:headEnd type="none" w="med" len="med"/>
                      <a:tailEnd type="none" w="med" len="med"/>
                    </a:lnR>
                  </a:tcPr>
                </a:tc>
              </a:tr>
              <a:tr h="798106">
                <a:tc>
                  <a:txBody>
                    <a:bodyPr/>
                    <a:lstStyle/>
                    <a:p>
                      <a:pPr marL="0" algn="ctr" defTabSz="914034" rtl="0" eaLnBrk="1" latinLnBrk="0" hangingPunct="1">
                        <a:lnSpc>
                          <a:spcPct val="100000"/>
                        </a:lnSpc>
                      </a:pPr>
                      <a:r>
                        <a:rPr lang="zh-CN" altLang="en-US" sz="1400" kern="1200" dirty="0">
                          <a:solidFill>
                            <a:schemeClr val="tx1"/>
                          </a:solidFill>
                          <a:effectLst/>
                          <a:latin typeface="+mn-lt"/>
                          <a:ea typeface="+mn-ea"/>
                          <a:cs typeface="+mn-cs"/>
                        </a:rPr>
                        <a:t>运维部署</a:t>
                      </a:r>
                    </a:p>
                  </a:txBody>
                  <a:tcPr anchor="ctr">
                    <a:lnL w="28575" cap="flat" cmpd="sng" algn="ctr">
                      <a:solidFill>
                        <a:schemeClr val="tx1"/>
                      </a:solidFill>
                      <a:prstDash val="solid"/>
                      <a:round/>
                      <a:headEnd type="none" w="med" len="med"/>
                      <a:tailEnd type="none" w="med" len="med"/>
                    </a:lnL>
                  </a:tcPr>
                </a:tc>
                <a:tc>
                  <a:txBody>
                    <a:bodyPr/>
                    <a:lstStyle/>
                    <a:p>
                      <a:pPr marL="0" algn="l" defTabSz="914034" rtl="0" eaLnBrk="1" latinLnBrk="0" hangingPunct="1">
                        <a:lnSpc>
                          <a:spcPct val="100000"/>
                        </a:lnSpc>
                      </a:pPr>
                      <a:r>
                        <a:rPr lang="zh-CN" altLang="en-US" sz="1400" kern="1200" dirty="0">
                          <a:solidFill>
                            <a:schemeClr val="tx1"/>
                          </a:solidFill>
                          <a:effectLst/>
                          <a:latin typeface="+mn-lt"/>
                          <a:ea typeface="+mn-ea"/>
                          <a:cs typeface="+mn-cs"/>
                        </a:rPr>
                        <a:t>用户网关集中部署在</a:t>
                      </a:r>
                      <a:r>
                        <a:rPr lang="en-US" altLang="zh-CN" sz="1400" kern="1200" dirty="0">
                          <a:solidFill>
                            <a:schemeClr val="tx1"/>
                          </a:solidFill>
                          <a:effectLst/>
                          <a:latin typeface="+mn-lt"/>
                          <a:ea typeface="+mn-ea"/>
                          <a:cs typeface="+mn-cs"/>
                        </a:rPr>
                        <a:t>Border</a:t>
                      </a:r>
                      <a:r>
                        <a:rPr lang="zh-CN" altLang="en-US" sz="1400" kern="1200" dirty="0">
                          <a:solidFill>
                            <a:schemeClr val="tx1"/>
                          </a:solidFill>
                          <a:effectLst/>
                          <a:latin typeface="+mn-lt"/>
                          <a:ea typeface="+mn-ea"/>
                          <a:cs typeface="+mn-cs"/>
                        </a:rPr>
                        <a:t>节点，且</a:t>
                      </a:r>
                      <a:r>
                        <a:rPr lang="en-US" altLang="zh-CN" sz="1400" kern="1200" dirty="0">
                          <a:solidFill>
                            <a:schemeClr val="tx1"/>
                          </a:solidFill>
                          <a:effectLst/>
                          <a:latin typeface="+mn-lt"/>
                          <a:ea typeface="+mn-ea"/>
                          <a:cs typeface="+mn-cs"/>
                        </a:rPr>
                        <a:t>Border</a:t>
                      </a:r>
                      <a:r>
                        <a:rPr lang="zh-CN" altLang="en-US" sz="1400" kern="1200" dirty="0">
                          <a:solidFill>
                            <a:schemeClr val="tx1"/>
                          </a:solidFill>
                          <a:effectLst/>
                          <a:latin typeface="+mn-lt"/>
                          <a:ea typeface="+mn-ea"/>
                          <a:cs typeface="+mn-cs"/>
                        </a:rPr>
                        <a:t>节点通常启用随</a:t>
                      </a:r>
                      <a:r>
                        <a:rPr lang="zh-CN" altLang="en-US" sz="1400" kern="1200" dirty="0" smtClean="0">
                          <a:solidFill>
                            <a:schemeClr val="tx1"/>
                          </a:solidFill>
                          <a:effectLst/>
                          <a:latin typeface="+mn-lt"/>
                          <a:ea typeface="+mn-ea"/>
                          <a:cs typeface="+mn-cs"/>
                        </a:rPr>
                        <a:t>板</a:t>
                      </a:r>
                      <a:r>
                        <a:rPr lang="en-US" altLang="zh-CN" sz="1400" kern="1200" dirty="0" smtClean="0">
                          <a:solidFill>
                            <a:schemeClr val="tx1"/>
                          </a:solidFill>
                          <a:effectLst/>
                          <a:latin typeface="+mn-lt"/>
                          <a:ea typeface="+mn-ea"/>
                          <a:cs typeface="+mn-cs"/>
                        </a:rPr>
                        <a:t>AC</a:t>
                      </a:r>
                      <a:r>
                        <a:rPr lang="zh-CN" altLang="en-US" sz="1400" kern="1200" dirty="0">
                          <a:solidFill>
                            <a:schemeClr val="tx1"/>
                          </a:solidFill>
                          <a:effectLst/>
                          <a:latin typeface="+mn-lt"/>
                          <a:ea typeface="+mn-ea"/>
                          <a:cs typeface="+mn-cs"/>
                        </a:rPr>
                        <a:t>功能，配置无线</a:t>
                      </a:r>
                      <a:r>
                        <a:rPr lang="zh-CN" altLang="en-US" sz="1400" kern="1200" dirty="0" smtClean="0">
                          <a:solidFill>
                            <a:schemeClr val="tx1"/>
                          </a:solidFill>
                          <a:effectLst/>
                          <a:latin typeface="+mn-lt"/>
                          <a:ea typeface="+mn-ea"/>
                          <a:cs typeface="+mn-cs"/>
                        </a:rPr>
                        <a:t>业务。运</a:t>
                      </a:r>
                      <a:r>
                        <a:rPr lang="zh-CN" altLang="en-US" sz="1400" kern="1200" dirty="0">
                          <a:solidFill>
                            <a:schemeClr val="tx1"/>
                          </a:solidFill>
                          <a:effectLst/>
                          <a:latin typeface="+mn-lt"/>
                          <a:ea typeface="+mn-ea"/>
                          <a:cs typeface="+mn-cs"/>
                        </a:rPr>
                        <a:t>维部署相对</a:t>
                      </a:r>
                      <a:r>
                        <a:rPr lang="zh-CN" altLang="en-US" sz="1400" kern="1200" dirty="0" smtClean="0">
                          <a:solidFill>
                            <a:schemeClr val="tx1"/>
                          </a:solidFill>
                          <a:effectLst/>
                          <a:latin typeface="+mn-lt"/>
                          <a:ea typeface="+mn-ea"/>
                          <a:cs typeface="+mn-cs"/>
                        </a:rPr>
                        <a:t>简单。</a:t>
                      </a:r>
                      <a:endParaRPr lang="zh-CN" altLang="en-US" sz="1400" kern="1200" dirty="0">
                        <a:solidFill>
                          <a:schemeClr val="tx1"/>
                        </a:solidFill>
                        <a:effectLst/>
                        <a:latin typeface="+mn-lt"/>
                        <a:ea typeface="+mn-ea"/>
                        <a:cs typeface="+mn-cs"/>
                      </a:endParaRPr>
                    </a:p>
                  </a:txBody>
                  <a:tcPr anchor="ctr"/>
                </a:tc>
                <a:tc>
                  <a:txBody>
                    <a:bodyPr/>
                    <a:lstStyle/>
                    <a:p>
                      <a:pPr marL="0" algn="l" defTabSz="914034" rtl="0" eaLnBrk="1" latinLnBrk="0" hangingPunct="1">
                        <a:lnSpc>
                          <a:spcPct val="100000"/>
                        </a:lnSpc>
                      </a:pPr>
                      <a:r>
                        <a:rPr lang="zh-CN" altLang="en-US" sz="1400" kern="1200" dirty="0" smtClean="0">
                          <a:solidFill>
                            <a:schemeClr val="tx1"/>
                          </a:solidFill>
                          <a:effectLst/>
                          <a:latin typeface="+mn-lt"/>
                          <a:ea typeface="+mn-ea"/>
                          <a:cs typeface="+mn-cs"/>
                        </a:rPr>
                        <a:t>用户网关分散部署在</a:t>
                      </a:r>
                      <a:r>
                        <a:rPr lang="en-US" altLang="zh-CN" sz="1400" kern="1200" dirty="0" smtClean="0">
                          <a:solidFill>
                            <a:schemeClr val="tx1"/>
                          </a:solidFill>
                          <a:effectLst/>
                          <a:latin typeface="+mn-lt"/>
                          <a:ea typeface="+mn-ea"/>
                          <a:cs typeface="+mn-cs"/>
                        </a:rPr>
                        <a:t>Edge</a:t>
                      </a:r>
                      <a:r>
                        <a:rPr lang="zh-CN" altLang="en-US" sz="1400" kern="1200" dirty="0" smtClean="0">
                          <a:solidFill>
                            <a:schemeClr val="tx1"/>
                          </a:solidFill>
                          <a:effectLst/>
                          <a:latin typeface="+mn-lt"/>
                          <a:ea typeface="+mn-ea"/>
                          <a:cs typeface="+mn-cs"/>
                        </a:rPr>
                        <a:t>节点，网关故障后影响面较小，且便于网络规模扩展。</a:t>
                      </a:r>
                      <a:r>
                        <a:rPr lang="en-US" altLang="zh-CN" sz="1400" kern="1200" dirty="0" smtClean="0">
                          <a:solidFill>
                            <a:schemeClr val="tx1"/>
                          </a:solidFill>
                          <a:effectLst/>
                          <a:latin typeface="+mn-lt"/>
                          <a:ea typeface="+mn-ea"/>
                          <a:cs typeface="+mn-cs"/>
                        </a:rPr>
                        <a:t>Border</a:t>
                      </a:r>
                      <a:r>
                        <a:rPr lang="zh-CN" altLang="en-US" sz="1400" kern="1200" dirty="0" smtClean="0">
                          <a:solidFill>
                            <a:schemeClr val="tx1"/>
                          </a:solidFill>
                          <a:effectLst/>
                          <a:latin typeface="+mn-lt"/>
                          <a:ea typeface="+mn-ea"/>
                          <a:cs typeface="+mn-cs"/>
                        </a:rPr>
                        <a:t>节点启用随板</a:t>
                      </a:r>
                      <a:r>
                        <a:rPr lang="en-US" altLang="zh-CN" sz="1400" kern="1200" dirty="0" smtClean="0">
                          <a:solidFill>
                            <a:schemeClr val="tx1"/>
                          </a:solidFill>
                          <a:effectLst/>
                          <a:latin typeface="+mn-lt"/>
                          <a:ea typeface="+mn-ea"/>
                          <a:cs typeface="+mn-cs"/>
                        </a:rPr>
                        <a:t>AC</a:t>
                      </a:r>
                      <a:r>
                        <a:rPr lang="zh-CN" altLang="en-US" sz="1400" kern="1200" dirty="0" smtClean="0">
                          <a:solidFill>
                            <a:schemeClr val="tx1"/>
                          </a:solidFill>
                          <a:effectLst/>
                          <a:latin typeface="+mn-lt"/>
                          <a:ea typeface="+mn-ea"/>
                          <a:cs typeface="+mn-cs"/>
                        </a:rPr>
                        <a:t>功能，配置无线业务。运</a:t>
                      </a:r>
                      <a:r>
                        <a:rPr lang="zh-CN" altLang="en-US" sz="1400" kern="1200" dirty="0">
                          <a:solidFill>
                            <a:schemeClr val="tx1"/>
                          </a:solidFill>
                          <a:effectLst/>
                          <a:latin typeface="+mn-lt"/>
                          <a:ea typeface="+mn-ea"/>
                          <a:cs typeface="+mn-cs"/>
                        </a:rPr>
                        <a:t>维部署相对较</a:t>
                      </a:r>
                      <a:r>
                        <a:rPr lang="zh-CN" altLang="en-US" sz="1400" kern="1200" dirty="0" smtClean="0">
                          <a:solidFill>
                            <a:schemeClr val="tx1"/>
                          </a:solidFill>
                          <a:effectLst/>
                          <a:latin typeface="+mn-lt"/>
                          <a:ea typeface="+mn-ea"/>
                          <a:cs typeface="+mn-cs"/>
                        </a:rPr>
                        <a:t>复杂。</a:t>
                      </a:r>
                      <a:endParaRPr lang="zh-CN" altLang="en-US" sz="1400" kern="1200" dirty="0">
                        <a:solidFill>
                          <a:schemeClr val="tx1"/>
                        </a:solidFill>
                        <a:effectLst/>
                        <a:latin typeface="+mn-lt"/>
                        <a:ea typeface="+mn-ea"/>
                        <a:cs typeface="+mn-cs"/>
                      </a:endParaRPr>
                    </a:p>
                  </a:txBody>
                  <a:tcPr anchor="ctr">
                    <a:lnR w="28575" cap="flat" cmpd="sng" algn="ctr">
                      <a:solidFill>
                        <a:schemeClr val="tx1"/>
                      </a:solidFill>
                      <a:prstDash val="solid"/>
                      <a:round/>
                      <a:headEnd type="none" w="med" len="med"/>
                      <a:tailEnd type="none" w="med" len="med"/>
                    </a:lnR>
                  </a:tcPr>
                </a:tc>
              </a:tr>
              <a:tr h="478800">
                <a:tc>
                  <a:txBody>
                    <a:bodyPr/>
                    <a:lstStyle/>
                    <a:p>
                      <a:pPr marL="0" algn="ctr" defTabSz="914034" rtl="0" eaLnBrk="1" latinLnBrk="0" hangingPunct="1">
                        <a:lnSpc>
                          <a:spcPct val="100000"/>
                        </a:lnSpc>
                      </a:pPr>
                      <a:r>
                        <a:rPr lang="zh-CN" altLang="en-US" sz="1400" kern="1200" dirty="0">
                          <a:solidFill>
                            <a:schemeClr val="tx1"/>
                          </a:solidFill>
                          <a:effectLst/>
                          <a:latin typeface="+mn-lt"/>
                          <a:ea typeface="+mn-ea"/>
                          <a:cs typeface="+mn-cs"/>
                        </a:rPr>
                        <a:t>终端规模</a:t>
                      </a:r>
                    </a:p>
                  </a:txBody>
                  <a:tcPr anchor="ctr">
                    <a:lnL w="28575" cap="flat" cmpd="sng" algn="ctr">
                      <a:solidFill>
                        <a:schemeClr val="tx1"/>
                      </a:solidFill>
                      <a:prstDash val="solid"/>
                      <a:round/>
                      <a:headEnd type="none" w="med" len="med"/>
                      <a:tailEnd type="none" w="med" len="med"/>
                    </a:lnL>
                    <a:lnB w="28575" cap="flat" cmpd="sng" algn="ctr">
                      <a:solidFill>
                        <a:schemeClr val="tx1"/>
                      </a:solidFill>
                      <a:prstDash val="solid"/>
                      <a:round/>
                      <a:headEnd type="none" w="med" len="med"/>
                      <a:tailEnd type="none" w="med" len="med"/>
                    </a:lnB>
                  </a:tcPr>
                </a:tc>
                <a:tc>
                  <a:txBody>
                    <a:bodyPr/>
                    <a:lstStyle/>
                    <a:p>
                      <a:pPr marL="0" algn="l" defTabSz="914034" rtl="0" eaLnBrk="1" latinLnBrk="0" hangingPunct="1">
                        <a:lnSpc>
                          <a:spcPct val="100000"/>
                        </a:lnSpc>
                      </a:pPr>
                      <a:r>
                        <a:rPr lang="zh-CN" altLang="en-US" sz="1400" kern="1200" dirty="0">
                          <a:solidFill>
                            <a:schemeClr val="tx1"/>
                          </a:solidFill>
                          <a:effectLst/>
                          <a:latin typeface="+mn-lt"/>
                          <a:ea typeface="+mn-ea"/>
                          <a:cs typeface="+mn-cs"/>
                        </a:rPr>
                        <a:t>≤</a:t>
                      </a:r>
                      <a:r>
                        <a:rPr lang="en-US" altLang="zh-CN" sz="1400" kern="1200" dirty="0" smtClean="0">
                          <a:solidFill>
                            <a:schemeClr val="tx1"/>
                          </a:solidFill>
                          <a:effectLst/>
                          <a:latin typeface="+mn-lt"/>
                          <a:ea typeface="+mn-ea"/>
                          <a:cs typeface="+mn-cs"/>
                        </a:rPr>
                        <a:t>50000</a:t>
                      </a:r>
                      <a:r>
                        <a:rPr lang="zh-CN" altLang="en-US" sz="1400" kern="1200" dirty="0" smtClean="0">
                          <a:solidFill>
                            <a:schemeClr val="tx1"/>
                          </a:solidFill>
                          <a:effectLst/>
                          <a:latin typeface="+mn-lt"/>
                          <a:ea typeface="+mn-ea"/>
                          <a:cs typeface="+mn-cs"/>
                        </a:rPr>
                        <a:t>，终端</a:t>
                      </a:r>
                      <a:r>
                        <a:rPr lang="zh-CN" altLang="en-US" sz="1400" kern="1200" dirty="0">
                          <a:solidFill>
                            <a:schemeClr val="tx1"/>
                          </a:solidFill>
                          <a:effectLst/>
                          <a:latin typeface="+mn-lt"/>
                          <a:ea typeface="+mn-ea"/>
                          <a:cs typeface="+mn-cs"/>
                        </a:rPr>
                        <a:t>规模不超过</a:t>
                      </a:r>
                      <a:r>
                        <a:rPr lang="en-US" altLang="zh-CN" sz="1400" kern="1200" dirty="0">
                          <a:solidFill>
                            <a:schemeClr val="tx1"/>
                          </a:solidFill>
                          <a:effectLst/>
                          <a:latin typeface="+mn-lt"/>
                          <a:ea typeface="+mn-ea"/>
                          <a:cs typeface="+mn-cs"/>
                        </a:rPr>
                        <a:t>50000</a:t>
                      </a:r>
                      <a:r>
                        <a:rPr lang="zh-CN" altLang="en-US" sz="1400" kern="1200" dirty="0">
                          <a:solidFill>
                            <a:schemeClr val="tx1"/>
                          </a:solidFill>
                          <a:effectLst/>
                          <a:latin typeface="+mn-lt"/>
                          <a:ea typeface="+mn-ea"/>
                          <a:cs typeface="+mn-cs"/>
                        </a:rPr>
                        <a:t>时优先</a:t>
                      </a:r>
                      <a:r>
                        <a:rPr lang="zh-CN" altLang="en-US" sz="1400" kern="1200" dirty="0" smtClean="0">
                          <a:solidFill>
                            <a:schemeClr val="tx1"/>
                          </a:solidFill>
                          <a:effectLst/>
                          <a:latin typeface="+mn-lt"/>
                          <a:ea typeface="+mn-ea"/>
                          <a:cs typeface="+mn-cs"/>
                        </a:rPr>
                        <a:t>推荐。</a:t>
                      </a:r>
                      <a:endParaRPr lang="zh-CN" altLang="en-US" sz="1400" kern="1200" dirty="0">
                        <a:solidFill>
                          <a:schemeClr val="tx1"/>
                        </a:solidFill>
                        <a:effectLst/>
                        <a:latin typeface="+mn-lt"/>
                        <a:ea typeface="+mn-ea"/>
                        <a:cs typeface="+mn-cs"/>
                      </a:endParaRPr>
                    </a:p>
                  </a:txBody>
                  <a:tcPr anchor="ctr">
                    <a:lnB w="28575" cap="flat" cmpd="sng" algn="ctr">
                      <a:solidFill>
                        <a:schemeClr val="tx1"/>
                      </a:solidFill>
                      <a:prstDash val="solid"/>
                      <a:round/>
                      <a:headEnd type="none" w="med" len="med"/>
                      <a:tailEnd type="none" w="med" len="med"/>
                    </a:lnB>
                  </a:tcPr>
                </a:tc>
                <a:tc>
                  <a:txBody>
                    <a:bodyPr/>
                    <a:lstStyle/>
                    <a:p>
                      <a:pPr marL="0" algn="l" defTabSz="914034" rtl="0" eaLnBrk="1" latinLnBrk="0" hangingPunct="1">
                        <a:lnSpc>
                          <a:spcPct val="100000"/>
                        </a:lnSpc>
                      </a:pPr>
                      <a:r>
                        <a:rPr lang="en-US" altLang="zh-CN" sz="1400" kern="1200" dirty="0" smtClean="0">
                          <a:solidFill>
                            <a:schemeClr val="tx1"/>
                          </a:solidFill>
                          <a:effectLst/>
                          <a:latin typeface="+mn-lt"/>
                          <a:ea typeface="+mn-ea"/>
                          <a:cs typeface="+mn-cs"/>
                        </a:rPr>
                        <a:t>50000~100000</a:t>
                      </a:r>
                      <a:r>
                        <a:rPr lang="zh-CN" altLang="en-US" sz="1400" kern="1200" dirty="0" smtClean="0">
                          <a:solidFill>
                            <a:schemeClr val="tx1"/>
                          </a:solidFill>
                          <a:effectLst/>
                          <a:latin typeface="+mn-lt"/>
                          <a:ea typeface="+mn-ea"/>
                          <a:cs typeface="+mn-cs"/>
                        </a:rPr>
                        <a:t>，终端</a:t>
                      </a:r>
                      <a:r>
                        <a:rPr lang="zh-CN" altLang="en-US" sz="1400" kern="1200" dirty="0">
                          <a:solidFill>
                            <a:schemeClr val="tx1"/>
                          </a:solidFill>
                          <a:effectLst/>
                          <a:latin typeface="+mn-lt"/>
                          <a:ea typeface="+mn-ea"/>
                          <a:cs typeface="+mn-cs"/>
                        </a:rPr>
                        <a:t>规模超过</a:t>
                      </a:r>
                      <a:r>
                        <a:rPr lang="en-US" altLang="zh-CN" sz="1400" kern="1200" dirty="0">
                          <a:solidFill>
                            <a:schemeClr val="tx1"/>
                          </a:solidFill>
                          <a:effectLst/>
                          <a:latin typeface="+mn-lt"/>
                          <a:ea typeface="+mn-ea"/>
                          <a:cs typeface="+mn-cs"/>
                        </a:rPr>
                        <a:t>50000</a:t>
                      </a:r>
                      <a:r>
                        <a:rPr lang="zh-CN" altLang="en-US" sz="1400" kern="1200" dirty="0">
                          <a:solidFill>
                            <a:schemeClr val="tx1"/>
                          </a:solidFill>
                          <a:effectLst/>
                          <a:latin typeface="+mn-lt"/>
                          <a:ea typeface="+mn-ea"/>
                          <a:cs typeface="+mn-cs"/>
                        </a:rPr>
                        <a:t>时优先</a:t>
                      </a:r>
                      <a:r>
                        <a:rPr lang="zh-CN" altLang="en-US" sz="1400" kern="1200" dirty="0" smtClean="0">
                          <a:solidFill>
                            <a:schemeClr val="tx1"/>
                          </a:solidFill>
                          <a:effectLst/>
                          <a:latin typeface="+mn-lt"/>
                          <a:ea typeface="+mn-ea"/>
                          <a:cs typeface="+mn-cs"/>
                        </a:rPr>
                        <a:t>推荐。</a:t>
                      </a:r>
                      <a:endParaRPr lang="zh-CN" altLang="en-US" sz="1400" kern="1200" dirty="0">
                        <a:solidFill>
                          <a:schemeClr val="tx1"/>
                        </a:solidFill>
                        <a:effectLst/>
                        <a:latin typeface="+mn-lt"/>
                        <a:ea typeface="+mn-ea"/>
                        <a:cs typeface="+mn-cs"/>
                      </a:endParaRPr>
                    </a:p>
                  </a:txBody>
                  <a:tcPr anchor="ctr">
                    <a:lnR w="28575" cap="flat" cmpd="sng" algn="ctr">
                      <a:solidFill>
                        <a:schemeClr val="tx1"/>
                      </a:solidFill>
                      <a:prstDash val="solid"/>
                      <a:round/>
                      <a:headEnd type="none" w="med" len="med"/>
                      <a:tailEnd type="none" w="med" len="med"/>
                    </a:lnR>
                    <a:lnB w="28575" cap="flat" cmpd="sng" algn="ctr">
                      <a:solidFill>
                        <a:schemeClr val="tx1"/>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290209306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 name="Freeform 159"/>
          <p:cNvSpPr/>
          <p:nvPr/>
        </p:nvSpPr>
        <p:spPr bwMode="gray">
          <a:xfrm flipH="1">
            <a:off x="1397996" y="954188"/>
            <a:ext cx="2798116" cy="1243840"/>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20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2" name="标题 1"/>
          <p:cNvSpPr>
            <a:spLocks noGrp="1"/>
          </p:cNvSpPr>
          <p:nvPr>
            <p:ph type="title"/>
          </p:nvPr>
        </p:nvSpPr>
        <p:spPr bwMode="gray"/>
        <p:txBody>
          <a:bodyPr>
            <a:normAutofit/>
          </a:bodyPr>
          <a:lstStyle/>
          <a:p>
            <a:r>
              <a:rPr lang="zh-CN" altLang="en-US" dirty="0" smtClean="0"/>
              <a:t>虚拟化园区网络实验：物理及</a:t>
            </a:r>
            <a:r>
              <a:rPr lang="en-US" altLang="zh-CN" dirty="0" smtClean="0"/>
              <a:t>VXLAN</a:t>
            </a:r>
            <a:r>
              <a:rPr lang="zh-CN" altLang="en-US" dirty="0" smtClean="0"/>
              <a:t>组网</a:t>
            </a:r>
            <a:endParaRPr lang="zh-CN" altLang="en-US" dirty="0"/>
          </a:p>
        </p:txBody>
      </p:sp>
      <p:sp>
        <p:nvSpPr>
          <p:cNvPr id="3" name="圆角矩形 2"/>
          <p:cNvSpPr/>
          <p:nvPr/>
        </p:nvSpPr>
        <p:spPr bwMode="gray">
          <a:xfrm>
            <a:off x="970555" y="2278894"/>
            <a:ext cx="4309958" cy="3897888"/>
          </a:xfrm>
          <a:prstGeom prst="roundRect">
            <a:avLst>
              <a:gd name="adj" fmla="val 3166"/>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4" name="Freeform 159"/>
          <p:cNvSpPr/>
          <p:nvPr/>
        </p:nvSpPr>
        <p:spPr bwMode="gray">
          <a:xfrm flipH="1">
            <a:off x="1715819" y="3165614"/>
            <a:ext cx="2375862" cy="1360076"/>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rgbClr val="E3F6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latin typeface="Huawei Sans" panose="020C0503030203020204" pitchFamily="34" charset="0"/>
              <a:ea typeface="方正兰亭黑简体" panose="02000000000000000000" pitchFamily="2" charset="-122"/>
            </a:endParaRPr>
          </a:p>
        </p:txBody>
      </p:sp>
      <p:cxnSp>
        <p:nvCxnSpPr>
          <p:cNvPr id="5" name="Straight Connector 166"/>
          <p:cNvCxnSpPr>
            <a:stCxn id="26" idx="2"/>
            <a:endCxn id="7" idx="0"/>
          </p:cNvCxnSpPr>
          <p:nvPr/>
        </p:nvCxnSpPr>
        <p:spPr bwMode="gray">
          <a:xfrm>
            <a:off x="1823344" y="4450451"/>
            <a:ext cx="0" cy="40327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 name="Straight Connector 166"/>
          <p:cNvCxnSpPr>
            <a:stCxn id="27" idx="2"/>
            <a:endCxn id="8" idx="0"/>
          </p:cNvCxnSpPr>
          <p:nvPr/>
        </p:nvCxnSpPr>
        <p:spPr bwMode="gray">
          <a:xfrm>
            <a:off x="3754145" y="4450451"/>
            <a:ext cx="0" cy="40327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7" name="图片 76" descr="接入交换机.png"/>
          <p:cNvPicPr>
            <a:picLocks noChangeAspect="1"/>
          </p:cNvPicPr>
          <p:nvPr/>
        </p:nvPicPr>
        <p:blipFill>
          <a:blip r:embed="rId3" cstate="print"/>
          <a:stretch>
            <a:fillRect/>
          </a:stretch>
        </p:blipFill>
        <p:spPr bwMode="gray">
          <a:xfrm>
            <a:off x="1600203" y="4853728"/>
            <a:ext cx="446281" cy="365139"/>
          </a:xfrm>
          <a:prstGeom prst="rect">
            <a:avLst/>
          </a:prstGeom>
        </p:spPr>
      </p:pic>
      <p:pic>
        <p:nvPicPr>
          <p:cNvPr id="8" name="图片 76" descr="接入交换机.png"/>
          <p:cNvPicPr>
            <a:picLocks noChangeAspect="1"/>
          </p:cNvPicPr>
          <p:nvPr/>
        </p:nvPicPr>
        <p:blipFill>
          <a:blip r:embed="rId3" cstate="print"/>
          <a:stretch>
            <a:fillRect/>
          </a:stretch>
        </p:blipFill>
        <p:spPr bwMode="gray">
          <a:xfrm>
            <a:off x="3531004" y="4853728"/>
            <a:ext cx="446281" cy="365139"/>
          </a:xfrm>
          <a:prstGeom prst="rect">
            <a:avLst/>
          </a:prstGeom>
        </p:spPr>
      </p:pic>
      <p:sp>
        <p:nvSpPr>
          <p:cNvPr id="9" name="文本框 8"/>
          <p:cNvSpPr txBox="1"/>
          <p:nvPr/>
        </p:nvSpPr>
        <p:spPr bwMode="gray">
          <a:xfrm>
            <a:off x="967611" y="2320282"/>
            <a:ext cx="426720" cy="276999"/>
          </a:xfrm>
          <a:prstGeom prst="rect">
            <a:avLst/>
          </a:prstGeom>
          <a:noFill/>
        </p:spPr>
        <p:txBody>
          <a:bodyPr wrap="none" rtlCol="0">
            <a:spAutoFit/>
          </a:bodyPr>
          <a:lstStyle/>
          <a:p>
            <a:r>
              <a:rPr lang="en-US" altLang="zh-CN" sz="1200" b="1" dirty="0" smtClean="0">
                <a:latin typeface="Huawei Sans" panose="020C0503030203020204" pitchFamily="34" charset="0"/>
                <a:ea typeface="方正兰亭黑简体" panose="02000000000000000000" pitchFamily="2" charset="-122"/>
                <a:cs typeface="Huawei Sans" panose="020C0503030203020204" pitchFamily="34" charset="0"/>
              </a:rPr>
              <a:t>HQ</a:t>
            </a:r>
            <a:endParaRPr lang="zh-CN" altLang="en-US" sz="1200" b="1" dirty="0">
              <a:latin typeface="Huawei Sans" panose="020C0503030203020204" pitchFamily="34" charset="0"/>
              <a:ea typeface="方正兰亭黑简体" panose="02000000000000000000" pitchFamily="2" charset="-122"/>
              <a:cs typeface="Huawei Sans" panose="020C0503030203020204" pitchFamily="34" charset="0"/>
            </a:endParaRPr>
          </a:p>
        </p:txBody>
      </p:sp>
      <p:pic>
        <p:nvPicPr>
          <p:cNvPr id="11" name="图片 105" descr="AP.png"/>
          <p:cNvPicPr>
            <a:picLocks noChangeAspect="1"/>
          </p:cNvPicPr>
          <p:nvPr/>
        </p:nvPicPr>
        <p:blipFill>
          <a:blip r:embed="rId4" cstate="print"/>
          <a:stretch>
            <a:fillRect/>
          </a:stretch>
        </p:blipFill>
        <p:spPr bwMode="gray">
          <a:xfrm>
            <a:off x="4692938" y="4885413"/>
            <a:ext cx="368827" cy="301768"/>
          </a:xfrm>
          <a:prstGeom prst="rect">
            <a:avLst/>
          </a:prstGeom>
        </p:spPr>
      </p:pic>
      <p:cxnSp>
        <p:nvCxnSpPr>
          <p:cNvPr id="12" name="Straight Connector 166"/>
          <p:cNvCxnSpPr>
            <a:stCxn id="8" idx="3"/>
            <a:endCxn id="11" idx="1"/>
          </p:cNvCxnSpPr>
          <p:nvPr/>
        </p:nvCxnSpPr>
        <p:spPr bwMode="gray">
          <a:xfrm flipV="1">
            <a:off x="3977285" y="5036297"/>
            <a:ext cx="715653" cy="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13" name="Picture 2" descr="G:\做的项目\公共\扁平图标切换\更新2015_01_21\oss扁平图标库2015_01_21更新-04.png"/>
          <p:cNvPicPr>
            <a:picLocks noChangeAspect="1" noChangeArrowheads="1"/>
          </p:cNvPicPr>
          <p:nvPr/>
        </p:nvPicPr>
        <p:blipFill>
          <a:blip r:embed="rId5" cstate="print"/>
          <a:stretch>
            <a:fillRect/>
          </a:stretch>
        </p:blipFill>
        <p:spPr bwMode="gray">
          <a:xfrm>
            <a:off x="2579896" y="2476984"/>
            <a:ext cx="446281" cy="365138"/>
          </a:xfrm>
          <a:prstGeom prst="rect">
            <a:avLst/>
          </a:prstGeom>
          <a:noFill/>
        </p:spPr>
      </p:pic>
      <p:sp>
        <p:nvSpPr>
          <p:cNvPr id="14" name="文本框 13"/>
          <p:cNvSpPr txBox="1"/>
          <p:nvPr/>
        </p:nvSpPr>
        <p:spPr bwMode="gray">
          <a:xfrm>
            <a:off x="2144820" y="2521053"/>
            <a:ext cx="466794" cy="276999"/>
          </a:xfrm>
          <a:prstGeom prst="rect">
            <a:avLst/>
          </a:prstGeom>
          <a:noFill/>
        </p:spPr>
        <p:txBody>
          <a:bodyPr wrap="none" rtlCol="0">
            <a:spAutoFit/>
          </a:bodyPr>
          <a:lstStyle/>
          <a:p>
            <a:pPr algn="r"/>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AR3</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pic>
        <p:nvPicPr>
          <p:cNvPr id="16" name="图片 14" descr="日志告警服务器-蓝.png"/>
          <p:cNvPicPr>
            <a:picLocks noChangeAspect="1"/>
          </p:cNvPicPr>
          <p:nvPr/>
        </p:nvPicPr>
        <p:blipFill>
          <a:blip r:embed="rId6" cstate="print"/>
          <a:stretch>
            <a:fillRect/>
          </a:stretch>
        </p:blipFill>
        <p:spPr bwMode="gray">
          <a:xfrm>
            <a:off x="4649698" y="5620319"/>
            <a:ext cx="445956" cy="278465"/>
          </a:xfrm>
          <a:prstGeom prst="rect">
            <a:avLst/>
          </a:prstGeom>
        </p:spPr>
      </p:pic>
      <p:pic>
        <p:nvPicPr>
          <p:cNvPr id="17" name="图片 16" descr="PC.png">
            <a:extLst>
              <a:ext uri="{FF2B5EF4-FFF2-40B4-BE49-F238E27FC236}">
                <a16:creationId xmlns="" xmlns:a16="http://schemas.microsoft.com/office/drawing/2014/main" id="{4666702E-823D-4236-BF2F-880359158C83}"/>
              </a:ext>
            </a:extLst>
          </p:cNvPr>
          <p:cNvPicPr>
            <a:picLocks noChangeAspect="1"/>
          </p:cNvPicPr>
          <p:nvPr/>
        </p:nvPicPr>
        <p:blipFill>
          <a:blip r:embed="rId7" cstate="print"/>
          <a:stretch>
            <a:fillRect/>
          </a:stretch>
        </p:blipFill>
        <p:spPr bwMode="gray">
          <a:xfrm>
            <a:off x="1600590" y="5592042"/>
            <a:ext cx="445506" cy="342149"/>
          </a:xfrm>
          <a:prstGeom prst="rect">
            <a:avLst/>
          </a:prstGeom>
        </p:spPr>
      </p:pic>
      <p:pic>
        <p:nvPicPr>
          <p:cNvPr id="18" name="图片 17" descr="PC.png">
            <a:extLst>
              <a:ext uri="{FF2B5EF4-FFF2-40B4-BE49-F238E27FC236}">
                <a16:creationId xmlns="" xmlns:a16="http://schemas.microsoft.com/office/drawing/2014/main" id="{4666702E-823D-4236-BF2F-880359158C83}"/>
              </a:ext>
            </a:extLst>
          </p:cNvPr>
          <p:cNvPicPr>
            <a:picLocks noChangeAspect="1"/>
          </p:cNvPicPr>
          <p:nvPr/>
        </p:nvPicPr>
        <p:blipFill>
          <a:blip r:embed="rId7" cstate="print"/>
          <a:stretch>
            <a:fillRect/>
          </a:stretch>
        </p:blipFill>
        <p:spPr bwMode="gray">
          <a:xfrm>
            <a:off x="3531391" y="5591709"/>
            <a:ext cx="445506" cy="342149"/>
          </a:xfrm>
          <a:prstGeom prst="rect">
            <a:avLst/>
          </a:prstGeom>
        </p:spPr>
      </p:pic>
      <p:cxnSp>
        <p:nvCxnSpPr>
          <p:cNvPr id="19" name="Straight Connector 166"/>
          <p:cNvCxnSpPr>
            <a:stCxn id="22" idx="0"/>
            <a:endCxn id="13" idx="2"/>
          </p:cNvCxnSpPr>
          <p:nvPr/>
        </p:nvCxnSpPr>
        <p:spPr bwMode="gray">
          <a:xfrm flipV="1">
            <a:off x="2803037" y="2842122"/>
            <a:ext cx="0" cy="36652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67"/>
          <p:cNvCxnSpPr/>
          <p:nvPr/>
        </p:nvCxnSpPr>
        <p:spPr bwMode="gray">
          <a:xfrm flipH="1">
            <a:off x="1824054" y="3391219"/>
            <a:ext cx="971589" cy="876201"/>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21" name="Straight Connector 167"/>
          <p:cNvCxnSpPr/>
          <p:nvPr/>
        </p:nvCxnSpPr>
        <p:spPr bwMode="gray">
          <a:xfrm flipH="1" flipV="1">
            <a:off x="2792264" y="3388742"/>
            <a:ext cx="975076" cy="883934"/>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pic>
        <p:nvPicPr>
          <p:cNvPr id="22" name="图片 86" descr="核心交换机.png"/>
          <p:cNvPicPr>
            <a:picLocks noChangeAspect="1"/>
          </p:cNvPicPr>
          <p:nvPr/>
        </p:nvPicPr>
        <p:blipFill>
          <a:blip r:embed="rId8" cstate="print"/>
          <a:stretch>
            <a:fillRect/>
          </a:stretch>
        </p:blipFill>
        <p:spPr bwMode="gray">
          <a:xfrm>
            <a:off x="2579896" y="3208650"/>
            <a:ext cx="446281" cy="365139"/>
          </a:xfrm>
          <a:prstGeom prst="rect">
            <a:avLst/>
          </a:prstGeom>
        </p:spPr>
      </p:pic>
      <p:sp>
        <p:nvSpPr>
          <p:cNvPr id="23" name="文本框 22"/>
          <p:cNvSpPr txBox="1"/>
          <p:nvPr/>
        </p:nvSpPr>
        <p:spPr bwMode="gray">
          <a:xfrm>
            <a:off x="1928630" y="3225764"/>
            <a:ext cx="676788" cy="276999"/>
          </a:xfrm>
          <a:prstGeom prst="rect">
            <a:avLst/>
          </a:prstGeom>
          <a:noFill/>
        </p:spPr>
        <p:txBody>
          <a:bodyPr wrap="none" rtlCol="0">
            <a:spAutoFit/>
          </a:bodyPr>
          <a:lstStyle/>
          <a:p>
            <a:pPr algn="ctr"/>
            <a:r>
              <a:rPr lang="en-US" altLang="zh-CN" sz="1200" b="1" dirty="0" smtClean="0">
                <a:latin typeface="Huawei Sans" panose="020C0503030203020204" pitchFamily="34" charset="0"/>
                <a:ea typeface="方正兰亭黑简体" panose="02000000000000000000" pitchFamily="2" charset="-122"/>
                <a:cs typeface="Huawei Sans" panose="020C0503030203020204" pitchFamily="34" charset="0"/>
              </a:rPr>
              <a:t>Border</a:t>
            </a:r>
            <a:endParaRPr lang="zh-CN" altLang="en-US" sz="1200" b="1"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24" name="文本框 23"/>
          <p:cNvSpPr txBox="1"/>
          <p:nvPr/>
        </p:nvSpPr>
        <p:spPr bwMode="gray">
          <a:xfrm>
            <a:off x="960091" y="4117678"/>
            <a:ext cx="702436" cy="276999"/>
          </a:xfrm>
          <a:prstGeom prst="rect">
            <a:avLst/>
          </a:prstGeom>
          <a:noFill/>
        </p:spPr>
        <p:txBody>
          <a:bodyPr wrap="none" rtlCol="0">
            <a:spAutoFit/>
          </a:bodyPr>
          <a:lstStyle/>
          <a:p>
            <a:pPr algn="r"/>
            <a:r>
              <a:rPr lang="en-US" altLang="zh-CN" sz="1200" b="1" dirty="0" smtClean="0">
                <a:latin typeface="Huawei Sans" panose="020C0503030203020204" pitchFamily="34" charset="0"/>
                <a:ea typeface="方正兰亭黑简体" panose="02000000000000000000" pitchFamily="2" charset="-122"/>
                <a:cs typeface="Huawei Sans" panose="020C0503030203020204" pitchFamily="34" charset="0"/>
              </a:rPr>
              <a:t>Edge_1</a:t>
            </a:r>
            <a:endParaRPr lang="zh-CN" altLang="en-US" sz="1200" b="1"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25" name="文本框 24"/>
          <p:cNvSpPr txBox="1"/>
          <p:nvPr/>
        </p:nvSpPr>
        <p:spPr bwMode="gray">
          <a:xfrm>
            <a:off x="1030624" y="4908360"/>
            <a:ext cx="631903" cy="276999"/>
          </a:xfrm>
          <a:prstGeom prst="rect">
            <a:avLst/>
          </a:prstGeom>
          <a:noFill/>
        </p:spPr>
        <p:txBody>
          <a:bodyPr wrap="none" rtlCol="0">
            <a:spAutoFit/>
          </a:bodyPr>
          <a:lstStyle/>
          <a:p>
            <a:pPr algn="r"/>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ACC_1</a:t>
            </a:r>
          </a:p>
        </p:txBody>
      </p:sp>
      <p:pic>
        <p:nvPicPr>
          <p:cNvPr id="26" name="图片 87" descr="汇聚交换机.png"/>
          <p:cNvPicPr>
            <a:picLocks noChangeAspect="1"/>
          </p:cNvPicPr>
          <p:nvPr/>
        </p:nvPicPr>
        <p:blipFill>
          <a:blip r:embed="rId9" cstate="print"/>
          <a:stretch>
            <a:fillRect/>
          </a:stretch>
        </p:blipFill>
        <p:spPr bwMode="gray">
          <a:xfrm>
            <a:off x="1600203" y="4085312"/>
            <a:ext cx="446281" cy="365139"/>
          </a:xfrm>
          <a:prstGeom prst="rect">
            <a:avLst/>
          </a:prstGeom>
        </p:spPr>
      </p:pic>
      <p:pic>
        <p:nvPicPr>
          <p:cNvPr id="27" name="图片 87" descr="汇聚交换机.png"/>
          <p:cNvPicPr>
            <a:picLocks noChangeAspect="1"/>
          </p:cNvPicPr>
          <p:nvPr/>
        </p:nvPicPr>
        <p:blipFill>
          <a:blip r:embed="rId9" cstate="print"/>
          <a:stretch>
            <a:fillRect/>
          </a:stretch>
        </p:blipFill>
        <p:spPr bwMode="gray">
          <a:xfrm>
            <a:off x="3531004" y="4085312"/>
            <a:ext cx="446281" cy="365139"/>
          </a:xfrm>
          <a:prstGeom prst="rect">
            <a:avLst/>
          </a:prstGeom>
        </p:spPr>
      </p:pic>
      <p:sp>
        <p:nvSpPr>
          <p:cNvPr id="28" name="文本框 27"/>
          <p:cNvSpPr txBox="1"/>
          <p:nvPr/>
        </p:nvSpPr>
        <p:spPr bwMode="gray">
          <a:xfrm>
            <a:off x="3907207" y="4117678"/>
            <a:ext cx="702436" cy="276999"/>
          </a:xfrm>
          <a:prstGeom prst="rect">
            <a:avLst/>
          </a:prstGeom>
          <a:noFill/>
        </p:spPr>
        <p:txBody>
          <a:bodyPr wrap="none" rtlCol="0">
            <a:spAutoFit/>
          </a:bodyPr>
          <a:lstStyle/>
          <a:p>
            <a:pPr algn="r"/>
            <a:r>
              <a:rPr lang="en-US" altLang="zh-CN" sz="1200" b="1" dirty="0" smtClean="0">
                <a:latin typeface="Huawei Sans" panose="020C0503030203020204" pitchFamily="34" charset="0"/>
                <a:ea typeface="方正兰亭黑简体" panose="02000000000000000000" pitchFamily="2" charset="-122"/>
                <a:cs typeface="Huawei Sans" panose="020C0503030203020204" pitchFamily="34" charset="0"/>
              </a:rPr>
              <a:t>Edge_2</a:t>
            </a:r>
            <a:endParaRPr lang="zh-CN" altLang="en-US" sz="1200" b="1"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29" name="文本框 28"/>
          <p:cNvSpPr txBox="1"/>
          <p:nvPr/>
        </p:nvSpPr>
        <p:spPr bwMode="gray">
          <a:xfrm>
            <a:off x="4640652" y="4643192"/>
            <a:ext cx="460382" cy="276999"/>
          </a:xfrm>
          <a:prstGeom prst="rect">
            <a:avLst/>
          </a:prstGeom>
          <a:noFill/>
        </p:spPr>
        <p:txBody>
          <a:bodyPr wrap="none" rtlCol="0">
            <a:spAutoFit/>
          </a:bodyPr>
          <a:lstStyle/>
          <a:p>
            <a:pPr algn="ctr"/>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AP1</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30" name="文本框 29"/>
          <p:cNvSpPr txBox="1"/>
          <p:nvPr/>
        </p:nvSpPr>
        <p:spPr bwMode="gray">
          <a:xfrm>
            <a:off x="1596358" y="5899783"/>
            <a:ext cx="453970" cy="276999"/>
          </a:xfrm>
          <a:prstGeom prst="rect">
            <a:avLst/>
          </a:prstGeom>
          <a:noFill/>
        </p:spPr>
        <p:txBody>
          <a:bodyPr wrap="none" rtlCol="0">
            <a:spAutoFit/>
          </a:bodyPr>
          <a:lstStyle/>
          <a:p>
            <a:pPr algn="ctr"/>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PC1</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31" name="文本框 30"/>
          <p:cNvSpPr txBox="1"/>
          <p:nvPr/>
        </p:nvSpPr>
        <p:spPr bwMode="gray">
          <a:xfrm>
            <a:off x="3527159" y="5899783"/>
            <a:ext cx="453970" cy="276999"/>
          </a:xfrm>
          <a:prstGeom prst="rect">
            <a:avLst/>
          </a:prstGeom>
          <a:noFill/>
        </p:spPr>
        <p:txBody>
          <a:bodyPr wrap="none" rtlCol="0">
            <a:spAutoFit/>
          </a:bodyPr>
          <a:lstStyle/>
          <a:p>
            <a:pPr algn="ctr"/>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PC2</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cxnSp>
        <p:nvCxnSpPr>
          <p:cNvPr id="32" name="Straight Connector 166"/>
          <p:cNvCxnSpPr>
            <a:stCxn id="7" idx="2"/>
            <a:endCxn id="17" idx="0"/>
          </p:cNvCxnSpPr>
          <p:nvPr/>
        </p:nvCxnSpPr>
        <p:spPr bwMode="gray">
          <a:xfrm flipH="1">
            <a:off x="1823343" y="5218867"/>
            <a:ext cx="1" cy="37317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Straight Connector 166"/>
          <p:cNvCxnSpPr>
            <a:stCxn id="8" idx="2"/>
            <a:endCxn id="18" idx="0"/>
          </p:cNvCxnSpPr>
          <p:nvPr/>
        </p:nvCxnSpPr>
        <p:spPr bwMode="gray">
          <a:xfrm flipH="1">
            <a:off x="3754144" y="5218867"/>
            <a:ext cx="1" cy="37284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34" name="文本框 33"/>
          <p:cNvSpPr txBox="1"/>
          <p:nvPr/>
        </p:nvSpPr>
        <p:spPr bwMode="gray">
          <a:xfrm>
            <a:off x="4652199" y="5899783"/>
            <a:ext cx="453970" cy="276999"/>
          </a:xfrm>
          <a:prstGeom prst="rect">
            <a:avLst/>
          </a:prstGeom>
          <a:noFill/>
        </p:spPr>
        <p:txBody>
          <a:bodyPr wrap="none" rtlCol="0">
            <a:spAutoFit/>
          </a:bodyPr>
          <a:lstStyle/>
          <a:p>
            <a:pPr algn="ctr"/>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PC3</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35" name="文本框 34"/>
          <p:cNvSpPr txBox="1"/>
          <p:nvPr/>
        </p:nvSpPr>
        <p:spPr bwMode="gray">
          <a:xfrm>
            <a:off x="2759812" y="2882744"/>
            <a:ext cx="756938" cy="276999"/>
          </a:xfrm>
          <a:prstGeom prst="rect">
            <a:avLst/>
          </a:prstGeom>
          <a:noFill/>
        </p:spPr>
        <p:txBody>
          <a:bodyPr wrap="none" rtlCol="0">
            <a:spAutoFit/>
          </a:bodyPr>
          <a:lstStyle/>
          <a:p>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GE0/0/1</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36" name="文本框 35"/>
          <p:cNvSpPr txBox="1"/>
          <p:nvPr/>
        </p:nvSpPr>
        <p:spPr bwMode="gray">
          <a:xfrm>
            <a:off x="2759812" y="2247200"/>
            <a:ext cx="756938" cy="276999"/>
          </a:xfrm>
          <a:prstGeom prst="rect">
            <a:avLst/>
          </a:prstGeom>
          <a:noFill/>
        </p:spPr>
        <p:txBody>
          <a:bodyPr wrap="none" rtlCol="0">
            <a:spAutoFit/>
          </a:bodyPr>
          <a:lstStyle/>
          <a:p>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GE0/0/9</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41" name="文本框 40"/>
          <p:cNvSpPr txBox="1"/>
          <p:nvPr/>
        </p:nvSpPr>
        <p:spPr bwMode="gray">
          <a:xfrm>
            <a:off x="2391306" y="3905093"/>
            <a:ext cx="829073" cy="338554"/>
          </a:xfrm>
          <a:prstGeom prst="rect">
            <a:avLst/>
          </a:prstGeom>
          <a:noFill/>
        </p:spPr>
        <p:txBody>
          <a:bodyPr wrap="square" rtlCol="0">
            <a:noAutofit/>
          </a:bodyPr>
          <a:lstStyle>
            <a:defPPr>
              <a:defRPr lang="en-US"/>
            </a:defPPr>
            <a:lvl1pPr algn="ctr" fontAlgn="ctr">
              <a:defRPr sz="1600">
                <a:solidFill>
                  <a:srgbClr val="30B5C5"/>
                </a:solidFill>
                <a:latin typeface="Huawei Sans" panose="020C0503030203020204" pitchFamily="34" charset="0"/>
                <a:ea typeface="方正兰亭黑简体" panose="02000000000000000000" pitchFamily="2" charset="-122"/>
              </a:defRPr>
            </a:lvl1pPr>
          </a:lstStyle>
          <a:p>
            <a:r>
              <a:rPr lang="en-US" altLang="zh-CN" sz="1200" dirty="0"/>
              <a:t>VXLAN</a:t>
            </a:r>
            <a:endParaRPr lang="zh-CN" altLang="en-US" sz="1200" dirty="0"/>
          </a:p>
        </p:txBody>
      </p:sp>
      <p:sp>
        <p:nvSpPr>
          <p:cNvPr id="42" name="文本框 41"/>
          <p:cNvSpPr txBox="1"/>
          <p:nvPr/>
        </p:nvSpPr>
        <p:spPr bwMode="gray">
          <a:xfrm>
            <a:off x="2926781" y="4908360"/>
            <a:ext cx="631903" cy="276999"/>
          </a:xfrm>
          <a:prstGeom prst="rect">
            <a:avLst/>
          </a:prstGeom>
          <a:noFill/>
        </p:spPr>
        <p:txBody>
          <a:bodyPr wrap="none" rtlCol="0">
            <a:spAutoFit/>
          </a:bodyPr>
          <a:lstStyle/>
          <a:p>
            <a:pPr algn="r"/>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ACC_2</a:t>
            </a:r>
          </a:p>
        </p:txBody>
      </p:sp>
      <p:sp>
        <p:nvSpPr>
          <p:cNvPr id="43" name="文本框 42"/>
          <p:cNvSpPr txBox="1"/>
          <p:nvPr/>
        </p:nvSpPr>
        <p:spPr bwMode="gray">
          <a:xfrm>
            <a:off x="1802187" y="3447126"/>
            <a:ext cx="843501" cy="276999"/>
          </a:xfrm>
          <a:prstGeom prst="rect">
            <a:avLst/>
          </a:prstGeom>
          <a:noFill/>
        </p:spPr>
        <p:txBody>
          <a:bodyPr wrap="none" rtlCol="0">
            <a:spAutoFit/>
          </a:bodyPr>
          <a:lstStyle/>
          <a:p>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GE0/0/23</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44" name="文本框 43"/>
          <p:cNvSpPr txBox="1"/>
          <p:nvPr/>
        </p:nvSpPr>
        <p:spPr bwMode="gray">
          <a:xfrm>
            <a:off x="2982348" y="3447126"/>
            <a:ext cx="843501" cy="276999"/>
          </a:xfrm>
          <a:prstGeom prst="rect">
            <a:avLst/>
          </a:prstGeom>
          <a:noFill/>
        </p:spPr>
        <p:txBody>
          <a:bodyPr wrap="none" rtlCol="0">
            <a:spAutoFit/>
          </a:bodyPr>
          <a:lstStyle/>
          <a:p>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GE0/0/24</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47" name="文本框 46"/>
          <p:cNvSpPr txBox="1"/>
          <p:nvPr/>
        </p:nvSpPr>
        <p:spPr bwMode="gray">
          <a:xfrm>
            <a:off x="1770501" y="4632224"/>
            <a:ext cx="756938" cy="276999"/>
          </a:xfrm>
          <a:prstGeom prst="rect">
            <a:avLst/>
          </a:prstGeom>
          <a:noFill/>
        </p:spPr>
        <p:txBody>
          <a:bodyPr wrap="none" rtlCol="0">
            <a:spAutoFit/>
          </a:bodyPr>
          <a:lstStyle/>
          <a:p>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GE0/0/1</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48" name="文本框 47"/>
          <p:cNvSpPr txBox="1"/>
          <p:nvPr/>
        </p:nvSpPr>
        <p:spPr bwMode="gray">
          <a:xfrm>
            <a:off x="1770501" y="5203504"/>
            <a:ext cx="843501" cy="276999"/>
          </a:xfrm>
          <a:prstGeom prst="rect">
            <a:avLst/>
          </a:prstGeom>
          <a:noFill/>
        </p:spPr>
        <p:txBody>
          <a:bodyPr wrap="none" rtlCol="0">
            <a:spAutoFit/>
          </a:bodyPr>
          <a:lstStyle/>
          <a:p>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GE0/0/24</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49" name="文本框 48"/>
          <p:cNvSpPr txBox="1"/>
          <p:nvPr/>
        </p:nvSpPr>
        <p:spPr bwMode="gray">
          <a:xfrm>
            <a:off x="3683182" y="5203504"/>
            <a:ext cx="843501" cy="276999"/>
          </a:xfrm>
          <a:prstGeom prst="rect">
            <a:avLst/>
          </a:prstGeom>
          <a:noFill/>
        </p:spPr>
        <p:txBody>
          <a:bodyPr wrap="none" rtlCol="0">
            <a:spAutoFit/>
          </a:bodyPr>
          <a:lstStyle/>
          <a:p>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GE0/0/23</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50" name="文本框 49"/>
          <p:cNvSpPr txBox="1"/>
          <p:nvPr/>
        </p:nvSpPr>
        <p:spPr bwMode="gray">
          <a:xfrm>
            <a:off x="3893353" y="5002987"/>
            <a:ext cx="843501" cy="276999"/>
          </a:xfrm>
          <a:prstGeom prst="rect">
            <a:avLst/>
          </a:prstGeom>
          <a:noFill/>
        </p:spPr>
        <p:txBody>
          <a:bodyPr wrap="none" rtlCol="0">
            <a:spAutoFit/>
          </a:bodyPr>
          <a:lstStyle/>
          <a:p>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GE0/0/24</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51" name="文本框 50"/>
          <p:cNvSpPr txBox="1"/>
          <p:nvPr/>
        </p:nvSpPr>
        <p:spPr bwMode="gray">
          <a:xfrm>
            <a:off x="3693695" y="4632224"/>
            <a:ext cx="756938" cy="276999"/>
          </a:xfrm>
          <a:prstGeom prst="rect">
            <a:avLst/>
          </a:prstGeom>
          <a:noFill/>
        </p:spPr>
        <p:txBody>
          <a:bodyPr wrap="none" rtlCol="0">
            <a:spAutoFit/>
          </a:bodyPr>
          <a:lstStyle/>
          <a:p>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GE0/0/1</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52" name="文本框 51"/>
          <p:cNvSpPr txBox="1"/>
          <p:nvPr/>
        </p:nvSpPr>
        <p:spPr bwMode="gray">
          <a:xfrm>
            <a:off x="1770501" y="4421361"/>
            <a:ext cx="843501" cy="276999"/>
          </a:xfrm>
          <a:prstGeom prst="rect">
            <a:avLst/>
          </a:prstGeom>
          <a:noFill/>
        </p:spPr>
        <p:txBody>
          <a:bodyPr wrap="none" rtlCol="0">
            <a:spAutoFit/>
          </a:bodyPr>
          <a:lstStyle/>
          <a:p>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GE0/0/24</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53" name="文本框 52"/>
          <p:cNvSpPr txBox="1"/>
          <p:nvPr/>
        </p:nvSpPr>
        <p:spPr bwMode="gray">
          <a:xfrm>
            <a:off x="3689683" y="4421361"/>
            <a:ext cx="843501" cy="276999"/>
          </a:xfrm>
          <a:prstGeom prst="rect">
            <a:avLst/>
          </a:prstGeom>
          <a:noFill/>
        </p:spPr>
        <p:txBody>
          <a:bodyPr wrap="none" rtlCol="0">
            <a:spAutoFit/>
          </a:bodyPr>
          <a:lstStyle/>
          <a:p>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GE0/0/24</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54" name="文本框 53"/>
          <p:cNvSpPr txBox="1"/>
          <p:nvPr/>
        </p:nvSpPr>
        <p:spPr bwMode="gray">
          <a:xfrm>
            <a:off x="1397996" y="3858662"/>
            <a:ext cx="756938" cy="276999"/>
          </a:xfrm>
          <a:prstGeom prst="rect">
            <a:avLst/>
          </a:prstGeom>
          <a:noFill/>
        </p:spPr>
        <p:txBody>
          <a:bodyPr wrap="none" rtlCol="0">
            <a:spAutoFit/>
          </a:bodyPr>
          <a:lstStyle/>
          <a:p>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GE0/0/1</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55" name="文本框 54"/>
          <p:cNvSpPr txBox="1"/>
          <p:nvPr/>
        </p:nvSpPr>
        <p:spPr bwMode="gray">
          <a:xfrm>
            <a:off x="3474299" y="3858662"/>
            <a:ext cx="756938" cy="276999"/>
          </a:xfrm>
          <a:prstGeom prst="rect">
            <a:avLst/>
          </a:prstGeom>
          <a:noFill/>
        </p:spPr>
        <p:txBody>
          <a:bodyPr wrap="none" rtlCol="0">
            <a:spAutoFit/>
          </a:bodyPr>
          <a:lstStyle/>
          <a:p>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GE0/0/1</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pic>
        <p:nvPicPr>
          <p:cNvPr id="56" name="图片 76" descr="接入交换机.png"/>
          <p:cNvPicPr>
            <a:picLocks noChangeAspect="1"/>
          </p:cNvPicPr>
          <p:nvPr/>
        </p:nvPicPr>
        <p:blipFill>
          <a:blip r:embed="rId3" cstate="print"/>
          <a:stretch>
            <a:fillRect/>
          </a:stretch>
        </p:blipFill>
        <p:spPr bwMode="gray">
          <a:xfrm>
            <a:off x="2579896" y="1617586"/>
            <a:ext cx="446281" cy="365139"/>
          </a:xfrm>
          <a:prstGeom prst="rect">
            <a:avLst/>
          </a:prstGeom>
        </p:spPr>
      </p:pic>
      <p:cxnSp>
        <p:nvCxnSpPr>
          <p:cNvPr id="57" name="Straight Connector 166"/>
          <p:cNvCxnSpPr>
            <a:stCxn id="13" idx="0"/>
            <a:endCxn id="56" idx="2"/>
          </p:cNvCxnSpPr>
          <p:nvPr/>
        </p:nvCxnSpPr>
        <p:spPr bwMode="gray">
          <a:xfrm flipV="1">
            <a:off x="2803037" y="1982725"/>
            <a:ext cx="0" cy="49425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60" name="文本框 59"/>
          <p:cNvSpPr txBox="1"/>
          <p:nvPr/>
        </p:nvSpPr>
        <p:spPr bwMode="gray">
          <a:xfrm>
            <a:off x="2759812" y="1948594"/>
            <a:ext cx="756938" cy="276999"/>
          </a:xfrm>
          <a:prstGeom prst="rect">
            <a:avLst/>
          </a:prstGeom>
          <a:noFill/>
        </p:spPr>
        <p:txBody>
          <a:bodyPr wrap="none" rtlCol="0">
            <a:spAutoFit/>
          </a:bodyPr>
          <a:lstStyle/>
          <a:p>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GE0/0/3</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cxnSp>
        <p:nvCxnSpPr>
          <p:cNvPr id="61" name="Straight Connector 166"/>
          <p:cNvCxnSpPr>
            <a:stCxn id="56" idx="0"/>
          </p:cNvCxnSpPr>
          <p:nvPr/>
        </p:nvCxnSpPr>
        <p:spPr bwMode="gray">
          <a:xfrm flipV="1">
            <a:off x="2803037" y="1389710"/>
            <a:ext cx="0" cy="22787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64" name="图片 63"/>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bwMode="gray">
          <a:xfrm>
            <a:off x="2156307" y="1122880"/>
            <a:ext cx="1278672" cy="235821"/>
          </a:xfrm>
          <a:prstGeom prst="rect">
            <a:avLst/>
          </a:prstGeom>
        </p:spPr>
      </p:pic>
      <p:sp>
        <p:nvSpPr>
          <p:cNvPr id="65" name="文本框 64"/>
          <p:cNvSpPr txBox="1"/>
          <p:nvPr/>
        </p:nvSpPr>
        <p:spPr bwMode="gray">
          <a:xfrm>
            <a:off x="2759812" y="1409914"/>
            <a:ext cx="843501" cy="276999"/>
          </a:xfrm>
          <a:prstGeom prst="rect">
            <a:avLst/>
          </a:prstGeom>
          <a:noFill/>
        </p:spPr>
        <p:txBody>
          <a:bodyPr wrap="none" rtlCol="0">
            <a:spAutoFit/>
          </a:bodyPr>
          <a:lstStyle/>
          <a:p>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GE0/0/24</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66" name="文本框 65"/>
          <p:cNvSpPr txBox="1"/>
          <p:nvPr/>
        </p:nvSpPr>
        <p:spPr bwMode="gray">
          <a:xfrm>
            <a:off x="1423467" y="1683458"/>
            <a:ext cx="1188147" cy="276999"/>
          </a:xfrm>
          <a:prstGeom prst="rect">
            <a:avLst/>
          </a:prstGeom>
          <a:noFill/>
        </p:spPr>
        <p:txBody>
          <a:bodyPr wrap="none" rtlCol="0">
            <a:spAutoFit/>
          </a:bodyPr>
          <a:lstStyle/>
          <a:p>
            <a:pPr algn="r"/>
            <a:r>
              <a:rPr lang="en-US" altLang="zh-CN" sz="1200" dirty="0" err="1" smtClean="0">
                <a:latin typeface="Huawei Sans" panose="020C0503030203020204" pitchFamily="34" charset="0"/>
                <a:ea typeface="方正兰亭黑简体" panose="02000000000000000000" pitchFamily="2" charset="-122"/>
                <a:cs typeface="Huawei Sans" panose="020C0503030203020204" pitchFamily="34" charset="0"/>
              </a:rPr>
              <a:t>AR_Server_SW</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grpSp>
        <p:nvGrpSpPr>
          <p:cNvPr id="71" name="组合 758"/>
          <p:cNvGrpSpPr/>
          <p:nvPr/>
        </p:nvGrpSpPr>
        <p:grpSpPr bwMode="gray">
          <a:xfrm flipV="1">
            <a:off x="4764501" y="5261266"/>
            <a:ext cx="225699" cy="191129"/>
            <a:chOff x="7440613" y="4868863"/>
            <a:chExt cx="1019175" cy="828675"/>
          </a:xfrm>
          <a:solidFill>
            <a:schemeClr val="bg1">
              <a:lumMod val="50000"/>
            </a:schemeClr>
          </a:solidFill>
        </p:grpSpPr>
        <p:sp>
          <p:nvSpPr>
            <p:cNvPr id="72" name="Freeform 15"/>
            <p:cNvSpPr>
              <a:spLocks/>
            </p:cNvSpPr>
            <p:nvPr/>
          </p:nvSpPr>
          <p:spPr bwMode="gray">
            <a:xfrm>
              <a:off x="7832726" y="5462588"/>
              <a:ext cx="234950" cy="234950"/>
            </a:xfrm>
            <a:custGeom>
              <a:avLst/>
              <a:gdLst/>
              <a:ahLst/>
              <a:cxnLst>
                <a:cxn ang="0">
                  <a:pos x="3281" y="680"/>
                </a:cxn>
                <a:cxn ang="0">
                  <a:pos x="3439" y="907"/>
                </a:cxn>
                <a:cxn ang="0">
                  <a:pos x="3559" y="1151"/>
                </a:cxn>
                <a:cxn ang="0">
                  <a:pos x="3642" y="1406"/>
                </a:cxn>
                <a:cxn ang="0">
                  <a:pos x="3686" y="1670"/>
                </a:cxn>
                <a:cxn ang="0">
                  <a:pos x="3693" y="1936"/>
                </a:cxn>
                <a:cxn ang="0">
                  <a:pos x="3661" y="2201"/>
                </a:cxn>
                <a:cxn ang="0">
                  <a:pos x="3591" y="2460"/>
                </a:cxn>
                <a:cxn ang="0">
                  <a:pos x="3484" y="2708"/>
                </a:cxn>
                <a:cxn ang="0">
                  <a:pos x="3339" y="2941"/>
                </a:cxn>
                <a:cxn ang="0">
                  <a:pos x="3155" y="3155"/>
                </a:cxn>
                <a:cxn ang="0">
                  <a:pos x="2941" y="3339"/>
                </a:cxn>
                <a:cxn ang="0">
                  <a:pos x="2708" y="3484"/>
                </a:cxn>
                <a:cxn ang="0">
                  <a:pos x="2460" y="3592"/>
                </a:cxn>
                <a:cxn ang="0">
                  <a:pos x="2201" y="3661"/>
                </a:cxn>
                <a:cxn ang="0">
                  <a:pos x="1936" y="3693"/>
                </a:cxn>
                <a:cxn ang="0">
                  <a:pos x="1670" y="3687"/>
                </a:cxn>
                <a:cxn ang="0">
                  <a:pos x="1408" y="3643"/>
                </a:cxn>
                <a:cxn ang="0">
                  <a:pos x="1152" y="3561"/>
                </a:cxn>
                <a:cxn ang="0">
                  <a:pos x="908" y="3440"/>
                </a:cxn>
                <a:cxn ang="0">
                  <a:pos x="680" y="3282"/>
                </a:cxn>
                <a:cxn ang="0">
                  <a:pos x="475" y="3086"/>
                </a:cxn>
                <a:cxn ang="0">
                  <a:pos x="304" y="2866"/>
                </a:cxn>
                <a:cxn ang="0">
                  <a:pos x="172" y="2627"/>
                </a:cxn>
                <a:cxn ang="0">
                  <a:pos x="76" y="2374"/>
                </a:cxn>
                <a:cxn ang="0">
                  <a:pos x="19" y="2114"/>
                </a:cxn>
                <a:cxn ang="0">
                  <a:pos x="0" y="1848"/>
                </a:cxn>
                <a:cxn ang="0">
                  <a:pos x="19" y="1582"/>
                </a:cxn>
                <a:cxn ang="0">
                  <a:pos x="76" y="1321"/>
                </a:cxn>
                <a:cxn ang="0">
                  <a:pos x="171" y="1069"/>
                </a:cxn>
                <a:cxn ang="0">
                  <a:pos x="304" y="830"/>
                </a:cxn>
                <a:cxn ang="0">
                  <a:pos x="475" y="609"/>
                </a:cxn>
                <a:cxn ang="0">
                  <a:pos x="680" y="414"/>
                </a:cxn>
                <a:cxn ang="0">
                  <a:pos x="907" y="255"/>
                </a:cxn>
                <a:cxn ang="0">
                  <a:pos x="1151" y="135"/>
                </a:cxn>
                <a:cxn ang="0">
                  <a:pos x="1407" y="52"/>
                </a:cxn>
                <a:cxn ang="0">
                  <a:pos x="1669" y="8"/>
                </a:cxn>
                <a:cxn ang="0">
                  <a:pos x="1936" y="2"/>
                </a:cxn>
                <a:cxn ang="0">
                  <a:pos x="2201" y="33"/>
                </a:cxn>
                <a:cxn ang="0">
                  <a:pos x="2459" y="104"/>
                </a:cxn>
                <a:cxn ang="0">
                  <a:pos x="2708" y="211"/>
                </a:cxn>
                <a:cxn ang="0">
                  <a:pos x="2940" y="356"/>
                </a:cxn>
                <a:cxn ang="0">
                  <a:pos x="3154" y="539"/>
                </a:cxn>
              </a:cxnLst>
              <a:rect l="0" t="0" r="r" b="b"/>
              <a:pathLst>
                <a:path w="3695" h="3695">
                  <a:moveTo>
                    <a:pt x="3154" y="539"/>
                  </a:moveTo>
                  <a:lnTo>
                    <a:pt x="3220" y="608"/>
                  </a:lnTo>
                  <a:lnTo>
                    <a:pt x="3281" y="680"/>
                  </a:lnTo>
                  <a:lnTo>
                    <a:pt x="3338" y="754"/>
                  </a:lnTo>
                  <a:lnTo>
                    <a:pt x="3391" y="829"/>
                  </a:lnTo>
                  <a:lnTo>
                    <a:pt x="3439" y="907"/>
                  </a:lnTo>
                  <a:lnTo>
                    <a:pt x="3483" y="987"/>
                  </a:lnTo>
                  <a:lnTo>
                    <a:pt x="3523" y="1068"/>
                  </a:lnTo>
                  <a:lnTo>
                    <a:pt x="3559" y="1151"/>
                  </a:lnTo>
                  <a:lnTo>
                    <a:pt x="3591" y="1235"/>
                  </a:lnTo>
                  <a:lnTo>
                    <a:pt x="3619" y="1320"/>
                  </a:lnTo>
                  <a:lnTo>
                    <a:pt x="3642" y="1406"/>
                  </a:lnTo>
                  <a:lnTo>
                    <a:pt x="3661" y="1493"/>
                  </a:lnTo>
                  <a:lnTo>
                    <a:pt x="3676" y="1582"/>
                  </a:lnTo>
                  <a:lnTo>
                    <a:pt x="3686" y="1670"/>
                  </a:lnTo>
                  <a:lnTo>
                    <a:pt x="3693" y="1758"/>
                  </a:lnTo>
                  <a:lnTo>
                    <a:pt x="3695" y="1847"/>
                  </a:lnTo>
                  <a:lnTo>
                    <a:pt x="3693" y="1936"/>
                  </a:lnTo>
                  <a:lnTo>
                    <a:pt x="3686" y="2024"/>
                  </a:lnTo>
                  <a:lnTo>
                    <a:pt x="3676" y="2113"/>
                  </a:lnTo>
                  <a:lnTo>
                    <a:pt x="3661" y="2201"/>
                  </a:lnTo>
                  <a:lnTo>
                    <a:pt x="3642" y="2288"/>
                  </a:lnTo>
                  <a:lnTo>
                    <a:pt x="3619" y="2374"/>
                  </a:lnTo>
                  <a:lnTo>
                    <a:pt x="3591" y="2460"/>
                  </a:lnTo>
                  <a:lnTo>
                    <a:pt x="3559" y="2544"/>
                  </a:lnTo>
                  <a:lnTo>
                    <a:pt x="3524" y="2626"/>
                  </a:lnTo>
                  <a:lnTo>
                    <a:pt x="3484" y="2708"/>
                  </a:lnTo>
                  <a:lnTo>
                    <a:pt x="3439" y="2788"/>
                  </a:lnTo>
                  <a:lnTo>
                    <a:pt x="3391" y="2865"/>
                  </a:lnTo>
                  <a:lnTo>
                    <a:pt x="3339" y="2941"/>
                  </a:lnTo>
                  <a:lnTo>
                    <a:pt x="3281" y="3015"/>
                  </a:lnTo>
                  <a:lnTo>
                    <a:pt x="3220" y="3086"/>
                  </a:lnTo>
                  <a:lnTo>
                    <a:pt x="3155" y="3155"/>
                  </a:lnTo>
                  <a:lnTo>
                    <a:pt x="3086" y="3220"/>
                  </a:lnTo>
                  <a:lnTo>
                    <a:pt x="3015" y="3282"/>
                  </a:lnTo>
                  <a:lnTo>
                    <a:pt x="2941" y="3339"/>
                  </a:lnTo>
                  <a:lnTo>
                    <a:pt x="2865" y="3391"/>
                  </a:lnTo>
                  <a:lnTo>
                    <a:pt x="2788" y="3440"/>
                  </a:lnTo>
                  <a:lnTo>
                    <a:pt x="2708" y="3484"/>
                  </a:lnTo>
                  <a:lnTo>
                    <a:pt x="2626" y="3524"/>
                  </a:lnTo>
                  <a:lnTo>
                    <a:pt x="2544" y="3560"/>
                  </a:lnTo>
                  <a:lnTo>
                    <a:pt x="2460" y="3592"/>
                  </a:lnTo>
                  <a:lnTo>
                    <a:pt x="2375" y="3619"/>
                  </a:lnTo>
                  <a:lnTo>
                    <a:pt x="2288" y="3643"/>
                  </a:lnTo>
                  <a:lnTo>
                    <a:pt x="2201" y="3661"/>
                  </a:lnTo>
                  <a:lnTo>
                    <a:pt x="2114" y="3676"/>
                  </a:lnTo>
                  <a:lnTo>
                    <a:pt x="2026" y="3687"/>
                  </a:lnTo>
                  <a:lnTo>
                    <a:pt x="1936" y="3693"/>
                  </a:lnTo>
                  <a:lnTo>
                    <a:pt x="1848" y="3695"/>
                  </a:lnTo>
                  <a:lnTo>
                    <a:pt x="1759" y="3693"/>
                  </a:lnTo>
                  <a:lnTo>
                    <a:pt x="1670" y="3687"/>
                  </a:lnTo>
                  <a:lnTo>
                    <a:pt x="1582" y="3676"/>
                  </a:lnTo>
                  <a:lnTo>
                    <a:pt x="1495" y="3662"/>
                  </a:lnTo>
                  <a:lnTo>
                    <a:pt x="1408" y="3643"/>
                  </a:lnTo>
                  <a:lnTo>
                    <a:pt x="1321" y="3620"/>
                  </a:lnTo>
                  <a:lnTo>
                    <a:pt x="1236" y="3592"/>
                  </a:lnTo>
                  <a:lnTo>
                    <a:pt x="1152" y="3561"/>
                  </a:lnTo>
                  <a:lnTo>
                    <a:pt x="1069" y="3524"/>
                  </a:lnTo>
                  <a:lnTo>
                    <a:pt x="987" y="3484"/>
                  </a:lnTo>
                  <a:lnTo>
                    <a:pt x="908" y="3440"/>
                  </a:lnTo>
                  <a:lnTo>
                    <a:pt x="830" y="3391"/>
                  </a:lnTo>
                  <a:lnTo>
                    <a:pt x="755" y="3339"/>
                  </a:lnTo>
                  <a:lnTo>
                    <a:pt x="680" y="3282"/>
                  </a:lnTo>
                  <a:lnTo>
                    <a:pt x="609" y="3220"/>
                  </a:lnTo>
                  <a:lnTo>
                    <a:pt x="541" y="3155"/>
                  </a:lnTo>
                  <a:lnTo>
                    <a:pt x="475" y="3086"/>
                  </a:lnTo>
                  <a:lnTo>
                    <a:pt x="414" y="3015"/>
                  </a:lnTo>
                  <a:lnTo>
                    <a:pt x="357" y="2941"/>
                  </a:lnTo>
                  <a:lnTo>
                    <a:pt x="304" y="2866"/>
                  </a:lnTo>
                  <a:lnTo>
                    <a:pt x="256" y="2788"/>
                  </a:lnTo>
                  <a:lnTo>
                    <a:pt x="212" y="2709"/>
                  </a:lnTo>
                  <a:lnTo>
                    <a:pt x="172" y="2627"/>
                  </a:lnTo>
                  <a:lnTo>
                    <a:pt x="136" y="2544"/>
                  </a:lnTo>
                  <a:lnTo>
                    <a:pt x="104" y="2460"/>
                  </a:lnTo>
                  <a:lnTo>
                    <a:pt x="76" y="2374"/>
                  </a:lnTo>
                  <a:lnTo>
                    <a:pt x="53" y="2288"/>
                  </a:lnTo>
                  <a:lnTo>
                    <a:pt x="34" y="2201"/>
                  </a:lnTo>
                  <a:lnTo>
                    <a:pt x="19" y="2114"/>
                  </a:lnTo>
                  <a:lnTo>
                    <a:pt x="9" y="2025"/>
                  </a:lnTo>
                  <a:lnTo>
                    <a:pt x="2" y="1937"/>
                  </a:lnTo>
                  <a:lnTo>
                    <a:pt x="0" y="1848"/>
                  </a:lnTo>
                  <a:lnTo>
                    <a:pt x="2" y="1759"/>
                  </a:lnTo>
                  <a:lnTo>
                    <a:pt x="9" y="1670"/>
                  </a:lnTo>
                  <a:lnTo>
                    <a:pt x="19" y="1582"/>
                  </a:lnTo>
                  <a:lnTo>
                    <a:pt x="34" y="1494"/>
                  </a:lnTo>
                  <a:lnTo>
                    <a:pt x="53" y="1407"/>
                  </a:lnTo>
                  <a:lnTo>
                    <a:pt x="76" y="1321"/>
                  </a:lnTo>
                  <a:lnTo>
                    <a:pt x="104" y="1236"/>
                  </a:lnTo>
                  <a:lnTo>
                    <a:pt x="136" y="1151"/>
                  </a:lnTo>
                  <a:lnTo>
                    <a:pt x="171" y="1069"/>
                  </a:lnTo>
                  <a:lnTo>
                    <a:pt x="211" y="988"/>
                  </a:lnTo>
                  <a:lnTo>
                    <a:pt x="255" y="907"/>
                  </a:lnTo>
                  <a:lnTo>
                    <a:pt x="304" y="830"/>
                  </a:lnTo>
                  <a:lnTo>
                    <a:pt x="356" y="754"/>
                  </a:lnTo>
                  <a:lnTo>
                    <a:pt x="414" y="681"/>
                  </a:lnTo>
                  <a:lnTo>
                    <a:pt x="475" y="609"/>
                  </a:lnTo>
                  <a:lnTo>
                    <a:pt x="540" y="540"/>
                  </a:lnTo>
                  <a:lnTo>
                    <a:pt x="609" y="475"/>
                  </a:lnTo>
                  <a:lnTo>
                    <a:pt x="680" y="414"/>
                  </a:lnTo>
                  <a:lnTo>
                    <a:pt x="754" y="356"/>
                  </a:lnTo>
                  <a:lnTo>
                    <a:pt x="830" y="303"/>
                  </a:lnTo>
                  <a:lnTo>
                    <a:pt x="907" y="255"/>
                  </a:lnTo>
                  <a:lnTo>
                    <a:pt x="987" y="211"/>
                  </a:lnTo>
                  <a:lnTo>
                    <a:pt x="1069" y="171"/>
                  </a:lnTo>
                  <a:lnTo>
                    <a:pt x="1151" y="135"/>
                  </a:lnTo>
                  <a:lnTo>
                    <a:pt x="1235" y="104"/>
                  </a:lnTo>
                  <a:lnTo>
                    <a:pt x="1320" y="76"/>
                  </a:lnTo>
                  <a:lnTo>
                    <a:pt x="1407" y="52"/>
                  </a:lnTo>
                  <a:lnTo>
                    <a:pt x="1494" y="33"/>
                  </a:lnTo>
                  <a:lnTo>
                    <a:pt x="1581" y="19"/>
                  </a:lnTo>
                  <a:lnTo>
                    <a:pt x="1669" y="8"/>
                  </a:lnTo>
                  <a:lnTo>
                    <a:pt x="1759" y="2"/>
                  </a:lnTo>
                  <a:lnTo>
                    <a:pt x="1847" y="0"/>
                  </a:lnTo>
                  <a:lnTo>
                    <a:pt x="1936" y="2"/>
                  </a:lnTo>
                  <a:lnTo>
                    <a:pt x="2025" y="8"/>
                  </a:lnTo>
                  <a:lnTo>
                    <a:pt x="2113" y="19"/>
                  </a:lnTo>
                  <a:lnTo>
                    <a:pt x="2201" y="33"/>
                  </a:lnTo>
                  <a:lnTo>
                    <a:pt x="2287" y="52"/>
                  </a:lnTo>
                  <a:lnTo>
                    <a:pt x="2374" y="76"/>
                  </a:lnTo>
                  <a:lnTo>
                    <a:pt x="2459" y="104"/>
                  </a:lnTo>
                  <a:lnTo>
                    <a:pt x="2543" y="135"/>
                  </a:lnTo>
                  <a:lnTo>
                    <a:pt x="2626" y="171"/>
                  </a:lnTo>
                  <a:lnTo>
                    <a:pt x="2708" y="211"/>
                  </a:lnTo>
                  <a:lnTo>
                    <a:pt x="2787" y="255"/>
                  </a:lnTo>
                  <a:lnTo>
                    <a:pt x="2865" y="303"/>
                  </a:lnTo>
                  <a:lnTo>
                    <a:pt x="2940" y="356"/>
                  </a:lnTo>
                  <a:lnTo>
                    <a:pt x="3015" y="413"/>
                  </a:lnTo>
                  <a:lnTo>
                    <a:pt x="3086" y="474"/>
                  </a:lnTo>
                  <a:lnTo>
                    <a:pt x="3154" y="539"/>
                  </a:lnTo>
                  <a:close/>
                </a:path>
              </a:pathLst>
            </a:custGeom>
            <a:grpFill/>
            <a:ln w="9525">
              <a:noFill/>
              <a:round/>
              <a:headEnd/>
              <a:tailEnd/>
            </a:ln>
          </p:spPr>
          <p:txBody>
            <a:bodyPr/>
            <a:lstStyle/>
            <a:p>
              <a:pPr algn="ctr" eaLnBrk="1" fontAlgn="auto" hangingPunct="1">
                <a:spcBef>
                  <a:spcPts val="0"/>
                </a:spcBef>
                <a:spcAft>
                  <a:spcPts val="0"/>
                </a:spcAft>
                <a:defRPr/>
              </a:pPr>
              <a:endParaRPr lang="zh-CN" altLang="en-US" sz="1200" ker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3" name="Freeform 16"/>
            <p:cNvSpPr>
              <a:spLocks noEditPoints="1"/>
            </p:cNvSpPr>
            <p:nvPr/>
          </p:nvSpPr>
          <p:spPr bwMode="gray">
            <a:xfrm>
              <a:off x="7440613" y="4868863"/>
              <a:ext cx="1019175" cy="544513"/>
            </a:xfrm>
            <a:custGeom>
              <a:avLst/>
              <a:gdLst/>
              <a:ahLst/>
              <a:cxnLst>
                <a:cxn ang="0">
                  <a:pos x="16025" y="3351"/>
                </a:cxn>
                <a:cxn ang="0">
                  <a:pos x="14975" y="4351"/>
                </a:cxn>
                <a:cxn ang="0">
                  <a:pos x="14184" y="3632"/>
                </a:cxn>
                <a:cxn ang="0">
                  <a:pos x="12564" y="2563"/>
                </a:cxn>
                <a:cxn ang="0">
                  <a:pos x="10805" y="1850"/>
                </a:cxn>
                <a:cxn ang="0">
                  <a:pos x="8960" y="1494"/>
                </a:cxn>
                <a:cxn ang="0">
                  <a:pos x="7087" y="1494"/>
                </a:cxn>
                <a:cxn ang="0">
                  <a:pos x="5243" y="1851"/>
                </a:cxn>
                <a:cxn ang="0">
                  <a:pos x="3483" y="2564"/>
                </a:cxn>
                <a:cxn ang="0">
                  <a:pos x="1864" y="3634"/>
                </a:cxn>
                <a:cxn ang="0">
                  <a:pos x="1075" y="4353"/>
                </a:cxn>
                <a:cxn ang="0">
                  <a:pos x="24" y="3353"/>
                </a:cxn>
                <a:cxn ang="0">
                  <a:pos x="516" y="2880"/>
                </a:cxn>
                <a:cxn ang="0">
                  <a:pos x="2325" y="1549"/>
                </a:cxn>
                <a:cxn ang="0">
                  <a:pos x="4312" y="627"/>
                </a:cxn>
                <a:cxn ang="0">
                  <a:pos x="6413" y="115"/>
                </a:cxn>
                <a:cxn ang="0">
                  <a:pos x="8562" y="13"/>
                </a:cxn>
                <a:cxn ang="0">
                  <a:pos x="10694" y="319"/>
                </a:cxn>
                <a:cxn ang="0">
                  <a:pos x="12747" y="1036"/>
                </a:cxn>
                <a:cxn ang="0">
                  <a:pos x="14654" y="2160"/>
                </a:cxn>
                <a:cxn ang="0">
                  <a:pos x="14055" y="5373"/>
                </a:cxn>
                <a:cxn ang="0">
                  <a:pos x="12871" y="6404"/>
                </a:cxn>
                <a:cxn ang="0">
                  <a:pos x="12058" y="5702"/>
                </a:cxn>
                <a:cxn ang="0">
                  <a:pos x="10898" y="5017"/>
                </a:cxn>
                <a:cxn ang="0">
                  <a:pos x="9649" y="4582"/>
                </a:cxn>
                <a:cxn ang="0">
                  <a:pos x="8352" y="4395"/>
                </a:cxn>
                <a:cxn ang="0">
                  <a:pos x="7044" y="4457"/>
                </a:cxn>
                <a:cxn ang="0">
                  <a:pos x="5767" y="4769"/>
                </a:cxn>
                <a:cxn ang="0">
                  <a:pos x="4558" y="5329"/>
                </a:cxn>
                <a:cxn ang="0">
                  <a:pos x="3457" y="6139"/>
                </a:cxn>
                <a:cxn ang="0">
                  <a:pos x="3129" y="6456"/>
                </a:cxn>
                <a:cxn ang="0">
                  <a:pos x="2045" y="5322"/>
                </a:cxn>
                <a:cxn ang="0">
                  <a:pos x="2731" y="4697"/>
                </a:cxn>
                <a:cxn ang="0">
                  <a:pos x="4122" y="3779"/>
                </a:cxn>
                <a:cxn ang="0">
                  <a:pos x="5635" y="3166"/>
                </a:cxn>
                <a:cxn ang="0">
                  <a:pos x="7219" y="2859"/>
                </a:cxn>
                <a:cxn ang="0">
                  <a:pos x="8829" y="2859"/>
                </a:cxn>
                <a:cxn ang="0">
                  <a:pos x="10413" y="3165"/>
                </a:cxn>
                <a:cxn ang="0">
                  <a:pos x="11926" y="3777"/>
                </a:cxn>
                <a:cxn ang="0">
                  <a:pos x="13318" y="4696"/>
                </a:cxn>
                <a:cxn ang="0">
                  <a:pos x="14005" y="5321"/>
                </a:cxn>
                <a:cxn ang="0">
                  <a:pos x="10854" y="8576"/>
                </a:cxn>
                <a:cxn ang="0">
                  <a:pos x="10754" y="8472"/>
                </a:cxn>
                <a:cxn ang="0">
                  <a:pos x="10150" y="7980"/>
                </a:cxn>
                <a:cxn ang="0">
                  <a:pos x="9479" y="7627"/>
                </a:cxn>
                <a:cxn ang="0">
                  <a:pos x="8762" y="7416"/>
                </a:cxn>
                <a:cxn ang="0">
                  <a:pos x="8025" y="7345"/>
                </a:cxn>
                <a:cxn ang="0">
                  <a:pos x="7287" y="7416"/>
                </a:cxn>
                <a:cxn ang="0">
                  <a:pos x="6571" y="7627"/>
                </a:cxn>
                <a:cxn ang="0">
                  <a:pos x="5900" y="7980"/>
                </a:cxn>
                <a:cxn ang="0">
                  <a:pos x="5297" y="8473"/>
                </a:cxn>
                <a:cxn ang="0">
                  <a:pos x="5198" y="8576"/>
                </a:cxn>
                <a:cxn ang="0">
                  <a:pos x="4197" y="7425"/>
                </a:cxn>
                <a:cxn ang="0">
                  <a:pos x="4843" y="6865"/>
                </a:cxn>
                <a:cxn ang="0">
                  <a:pos x="5758" y="6325"/>
                </a:cxn>
                <a:cxn ang="0">
                  <a:pos x="6743" y="5981"/>
                </a:cxn>
                <a:cxn ang="0">
                  <a:pos x="7766" y="5833"/>
                </a:cxn>
                <a:cxn ang="0">
                  <a:pos x="8797" y="5882"/>
                </a:cxn>
                <a:cxn ang="0">
                  <a:pos x="9806" y="6127"/>
                </a:cxn>
                <a:cxn ang="0">
                  <a:pos x="10760" y="6570"/>
                </a:cxn>
                <a:cxn ang="0">
                  <a:pos x="11627" y="7208"/>
                </a:cxn>
                <a:cxn ang="0">
                  <a:pos x="11903" y="7475"/>
                </a:cxn>
              </a:cxnLst>
              <a:rect l="0" t="0" r="r" b="b"/>
              <a:pathLst>
                <a:path w="16050" h="8576">
                  <a:moveTo>
                    <a:pt x="15950" y="3273"/>
                  </a:moveTo>
                  <a:lnTo>
                    <a:pt x="15975" y="3299"/>
                  </a:lnTo>
                  <a:lnTo>
                    <a:pt x="16000" y="3324"/>
                  </a:lnTo>
                  <a:lnTo>
                    <a:pt x="16025" y="3351"/>
                  </a:lnTo>
                  <a:lnTo>
                    <a:pt x="16050" y="3377"/>
                  </a:lnTo>
                  <a:lnTo>
                    <a:pt x="15025" y="4402"/>
                  </a:lnTo>
                  <a:lnTo>
                    <a:pt x="15000" y="4377"/>
                  </a:lnTo>
                  <a:lnTo>
                    <a:pt x="14975" y="4351"/>
                  </a:lnTo>
                  <a:lnTo>
                    <a:pt x="14950" y="4325"/>
                  </a:lnTo>
                  <a:lnTo>
                    <a:pt x="14923" y="4300"/>
                  </a:lnTo>
                  <a:lnTo>
                    <a:pt x="14560" y="3955"/>
                  </a:lnTo>
                  <a:lnTo>
                    <a:pt x="14184" y="3632"/>
                  </a:lnTo>
                  <a:lnTo>
                    <a:pt x="13796" y="3330"/>
                  </a:lnTo>
                  <a:lnTo>
                    <a:pt x="13396" y="3053"/>
                  </a:lnTo>
                  <a:lnTo>
                    <a:pt x="12984" y="2797"/>
                  </a:lnTo>
                  <a:lnTo>
                    <a:pt x="12564" y="2563"/>
                  </a:lnTo>
                  <a:lnTo>
                    <a:pt x="12136" y="2351"/>
                  </a:lnTo>
                  <a:lnTo>
                    <a:pt x="11698" y="2161"/>
                  </a:lnTo>
                  <a:lnTo>
                    <a:pt x="11254" y="1995"/>
                  </a:lnTo>
                  <a:lnTo>
                    <a:pt x="10805" y="1850"/>
                  </a:lnTo>
                  <a:lnTo>
                    <a:pt x="10349" y="1728"/>
                  </a:lnTo>
                  <a:lnTo>
                    <a:pt x="9889" y="1628"/>
                  </a:lnTo>
                  <a:lnTo>
                    <a:pt x="9426" y="1549"/>
                  </a:lnTo>
                  <a:lnTo>
                    <a:pt x="8960" y="1494"/>
                  </a:lnTo>
                  <a:lnTo>
                    <a:pt x="8492" y="1461"/>
                  </a:lnTo>
                  <a:lnTo>
                    <a:pt x="8024" y="1450"/>
                  </a:lnTo>
                  <a:lnTo>
                    <a:pt x="7556" y="1461"/>
                  </a:lnTo>
                  <a:lnTo>
                    <a:pt x="7087" y="1494"/>
                  </a:lnTo>
                  <a:lnTo>
                    <a:pt x="6622" y="1550"/>
                  </a:lnTo>
                  <a:lnTo>
                    <a:pt x="6158" y="1629"/>
                  </a:lnTo>
                  <a:lnTo>
                    <a:pt x="5699" y="1729"/>
                  </a:lnTo>
                  <a:lnTo>
                    <a:pt x="5243" y="1851"/>
                  </a:lnTo>
                  <a:lnTo>
                    <a:pt x="4793" y="1996"/>
                  </a:lnTo>
                  <a:lnTo>
                    <a:pt x="4350" y="2163"/>
                  </a:lnTo>
                  <a:lnTo>
                    <a:pt x="3912" y="2352"/>
                  </a:lnTo>
                  <a:lnTo>
                    <a:pt x="3483" y="2564"/>
                  </a:lnTo>
                  <a:lnTo>
                    <a:pt x="3064" y="2799"/>
                  </a:lnTo>
                  <a:lnTo>
                    <a:pt x="2652" y="3055"/>
                  </a:lnTo>
                  <a:lnTo>
                    <a:pt x="2253" y="3332"/>
                  </a:lnTo>
                  <a:lnTo>
                    <a:pt x="1864" y="3634"/>
                  </a:lnTo>
                  <a:lnTo>
                    <a:pt x="1488" y="3957"/>
                  </a:lnTo>
                  <a:lnTo>
                    <a:pt x="1125" y="4302"/>
                  </a:lnTo>
                  <a:lnTo>
                    <a:pt x="1099" y="4327"/>
                  </a:lnTo>
                  <a:lnTo>
                    <a:pt x="1075" y="4353"/>
                  </a:lnTo>
                  <a:lnTo>
                    <a:pt x="1050" y="4378"/>
                  </a:lnTo>
                  <a:lnTo>
                    <a:pt x="1025" y="4404"/>
                  </a:lnTo>
                  <a:lnTo>
                    <a:pt x="0" y="3378"/>
                  </a:lnTo>
                  <a:lnTo>
                    <a:pt x="24" y="3353"/>
                  </a:lnTo>
                  <a:lnTo>
                    <a:pt x="49" y="3326"/>
                  </a:lnTo>
                  <a:lnTo>
                    <a:pt x="74" y="3301"/>
                  </a:lnTo>
                  <a:lnTo>
                    <a:pt x="99" y="3276"/>
                  </a:lnTo>
                  <a:lnTo>
                    <a:pt x="516" y="2880"/>
                  </a:lnTo>
                  <a:lnTo>
                    <a:pt x="948" y="2509"/>
                  </a:lnTo>
                  <a:lnTo>
                    <a:pt x="1394" y="2162"/>
                  </a:lnTo>
                  <a:lnTo>
                    <a:pt x="1854" y="1843"/>
                  </a:lnTo>
                  <a:lnTo>
                    <a:pt x="2325" y="1549"/>
                  </a:lnTo>
                  <a:lnTo>
                    <a:pt x="2808" y="1280"/>
                  </a:lnTo>
                  <a:lnTo>
                    <a:pt x="3301" y="1037"/>
                  </a:lnTo>
                  <a:lnTo>
                    <a:pt x="3803" y="820"/>
                  </a:lnTo>
                  <a:lnTo>
                    <a:pt x="4312" y="627"/>
                  </a:lnTo>
                  <a:lnTo>
                    <a:pt x="4830" y="461"/>
                  </a:lnTo>
                  <a:lnTo>
                    <a:pt x="5353" y="320"/>
                  </a:lnTo>
                  <a:lnTo>
                    <a:pt x="5881" y="205"/>
                  </a:lnTo>
                  <a:lnTo>
                    <a:pt x="6413" y="115"/>
                  </a:lnTo>
                  <a:lnTo>
                    <a:pt x="6949" y="51"/>
                  </a:lnTo>
                  <a:lnTo>
                    <a:pt x="7485" y="13"/>
                  </a:lnTo>
                  <a:lnTo>
                    <a:pt x="8024" y="0"/>
                  </a:lnTo>
                  <a:lnTo>
                    <a:pt x="8562" y="13"/>
                  </a:lnTo>
                  <a:lnTo>
                    <a:pt x="9099" y="51"/>
                  </a:lnTo>
                  <a:lnTo>
                    <a:pt x="9634" y="115"/>
                  </a:lnTo>
                  <a:lnTo>
                    <a:pt x="10167" y="205"/>
                  </a:lnTo>
                  <a:lnTo>
                    <a:pt x="10694" y="319"/>
                  </a:lnTo>
                  <a:lnTo>
                    <a:pt x="11218" y="460"/>
                  </a:lnTo>
                  <a:lnTo>
                    <a:pt x="11735" y="626"/>
                  </a:lnTo>
                  <a:lnTo>
                    <a:pt x="12245" y="818"/>
                  </a:lnTo>
                  <a:lnTo>
                    <a:pt x="12747" y="1036"/>
                  </a:lnTo>
                  <a:lnTo>
                    <a:pt x="13239" y="1278"/>
                  </a:lnTo>
                  <a:lnTo>
                    <a:pt x="13722" y="1547"/>
                  </a:lnTo>
                  <a:lnTo>
                    <a:pt x="14194" y="1841"/>
                  </a:lnTo>
                  <a:lnTo>
                    <a:pt x="14654" y="2160"/>
                  </a:lnTo>
                  <a:lnTo>
                    <a:pt x="15100" y="2506"/>
                  </a:lnTo>
                  <a:lnTo>
                    <a:pt x="15532" y="2877"/>
                  </a:lnTo>
                  <a:lnTo>
                    <a:pt x="15950" y="3273"/>
                  </a:lnTo>
                  <a:close/>
                  <a:moveTo>
                    <a:pt x="14055" y="5373"/>
                  </a:moveTo>
                  <a:lnTo>
                    <a:pt x="12946" y="6481"/>
                  </a:lnTo>
                  <a:lnTo>
                    <a:pt x="12921" y="6456"/>
                  </a:lnTo>
                  <a:lnTo>
                    <a:pt x="12897" y="6430"/>
                  </a:lnTo>
                  <a:lnTo>
                    <a:pt x="12871" y="6404"/>
                  </a:lnTo>
                  <a:lnTo>
                    <a:pt x="12846" y="6379"/>
                  </a:lnTo>
                  <a:lnTo>
                    <a:pt x="12592" y="6137"/>
                  </a:lnTo>
                  <a:lnTo>
                    <a:pt x="12329" y="5912"/>
                  </a:lnTo>
                  <a:lnTo>
                    <a:pt x="12058" y="5702"/>
                  </a:lnTo>
                  <a:lnTo>
                    <a:pt x="11778" y="5507"/>
                  </a:lnTo>
                  <a:lnTo>
                    <a:pt x="11491" y="5328"/>
                  </a:lnTo>
                  <a:lnTo>
                    <a:pt x="11198" y="5165"/>
                  </a:lnTo>
                  <a:lnTo>
                    <a:pt x="10898" y="5017"/>
                  </a:lnTo>
                  <a:lnTo>
                    <a:pt x="10592" y="4885"/>
                  </a:lnTo>
                  <a:lnTo>
                    <a:pt x="10282" y="4768"/>
                  </a:lnTo>
                  <a:lnTo>
                    <a:pt x="9967" y="4667"/>
                  </a:lnTo>
                  <a:lnTo>
                    <a:pt x="9649" y="4582"/>
                  </a:lnTo>
                  <a:lnTo>
                    <a:pt x="9328" y="4512"/>
                  </a:lnTo>
                  <a:lnTo>
                    <a:pt x="9004" y="4457"/>
                  </a:lnTo>
                  <a:lnTo>
                    <a:pt x="8679" y="4418"/>
                  </a:lnTo>
                  <a:lnTo>
                    <a:pt x="8352" y="4395"/>
                  </a:lnTo>
                  <a:lnTo>
                    <a:pt x="8024" y="4387"/>
                  </a:lnTo>
                  <a:lnTo>
                    <a:pt x="7697" y="4395"/>
                  </a:lnTo>
                  <a:lnTo>
                    <a:pt x="7370" y="4418"/>
                  </a:lnTo>
                  <a:lnTo>
                    <a:pt x="7044" y="4457"/>
                  </a:lnTo>
                  <a:lnTo>
                    <a:pt x="6721" y="4512"/>
                  </a:lnTo>
                  <a:lnTo>
                    <a:pt x="6399" y="4582"/>
                  </a:lnTo>
                  <a:lnTo>
                    <a:pt x="6081" y="4668"/>
                  </a:lnTo>
                  <a:lnTo>
                    <a:pt x="5767" y="4769"/>
                  </a:lnTo>
                  <a:lnTo>
                    <a:pt x="5457" y="4886"/>
                  </a:lnTo>
                  <a:lnTo>
                    <a:pt x="5151" y="5018"/>
                  </a:lnTo>
                  <a:lnTo>
                    <a:pt x="4851" y="5166"/>
                  </a:lnTo>
                  <a:lnTo>
                    <a:pt x="4558" y="5329"/>
                  </a:lnTo>
                  <a:lnTo>
                    <a:pt x="4271" y="5509"/>
                  </a:lnTo>
                  <a:lnTo>
                    <a:pt x="3991" y="5703"/>
                  </a:lnTo>
                  <a:lnTo>
                    <a:pt x="3720" y="5913"/>
                  </a:lnTo>
                  <a:lnTo>
                    <a:pt x="3457" y="6139"/>
                  </a:lnTo>
                  <a:lnTo>
                    <a:pt x="3203" y="6380"/>
                  </a:lnTo>
                  <a:lnTo>
                    <a:pt x="3178" y="6406"/>
                  </a:lnTo>
                  <a:lnTo>
                    <a:pt x="3154" y="6431"/>
                  </a:lnTo>
                  <a:lnTo>
                    <a:pt x="3129" y="6456"/>
                  </a:lnTo>
                  <a:lnTo>
                    <a:pt x="3104" y="6482"/>
                  </a:lnTo>
                  <a:lnTo>
                    <a:pt x="1996" y="5374"/>
                  </a:lnTo>
                  <a:lnTo>
                    <a:pt x="2020" y="5348"/>
                  </a:lnTo>
                  <a:lnTo>
                    <a:pt x="2045" y="5322"/>
                  </a:lnTo>
                  <a:lnTo>
                    <a:pt x="2069" y="5297"/>
                  </a:lnTo>
                  <a:lnTo>
                    <a:pt x="2095" y="5272"/>
                  </a:lnTo>
                  <a:lnTo>
                    <a:pt x="2406" y="4975"/>
                  </a:lnTo>
                  <a:lnTo>
                    <a:pt x="2731" y="4697"/>
                  </a:lnTo>
                  <a:lnTo>
                    <a:pt x="3065" y="4439"/>
                  </a:lnTo>
                  <a:lnTo>
                    <a:pt x="3408" y="4199"/>
                  </a:lnTo>
                  <a:lnTo>
                    <a:pt x="3761" y="3980"/>
                  </a:lnTo>
                  <a:lnTo>
                    <a:pt x="4122" y="3779"/>
                  </a:lnTo>
                  <a:lnTo>
                    <a:pt x="4491" y="3596"/>
                  </a:lnTo>
                  <a:lnTo>
                    <a:pt x="4866" y="3434"/>
                  </a:lnTo>
                  <a:lnTo>
                    <a:pt x="5247" y="3290"/>
                  </a:lnTo>
                  <a:lnTo>
                    <a:pt x="5635" y="3166"/>
                  </a:lnTo>
                  <a:lnTo>
                    <a:pt x="6026" y="3061"/>
                  </a:lnTo>
                  <a:lnTo>
                    <a:pt x="6421" y="2974"/>
                  </a:lnTo>
                  <a:lnTo>
                    <a:pt x="6819" y="2907"/>
                  </a:lnTo>
                  <a:lnTo>
                    <a:pt x="7219" y="2859"/>
                  </a:lnTo>
                  <a:lnTo>
                    <a:pt x="7622" y="2831"/>
                  </a:lnTo>
                  <a:lnTo>
                    <a:pt x="8024" y="2821"/>
                  </a:lnTo>
                  <a:lnTo>
                    <a:pt x="8427" y="2831"/>
                  </a:lnTo>
                  <a:lnTo>
                    <a:pt x="8829" y="2859"/>
                  </a:lnTo>
                  <a:lnTo>
                    <a:pt x="9229" y="2907"/>
                  </a:lnTo>
                  <a:lnTo>
                    <a:pt x="9627" y="2973"/>
                  </a:lnTo>
                  <a:lnTo>
                    <a:pt x="10022" y="3060"/>
                  </a:lnTo>
                  <a:lnTo>
                    <a:pt x="10413" y="3165"/>
                  </a:lnTo>
                  <a:lnTo>
                    <a:pt x="10801" y="3289"/>
                  </a:lnTo>
                  <a:lnTo>
                    <a:pt x="11182" y="3433"/>
                  </a:lnTo>
                  <a:lnTo>
                    <a:pt x="11558" y="3595"/>
                  </a:lnTo>
                  <a:lnTo>
                    <a:pt x="11926" y="3777"/>
                  </a:lnTo>
                  <a:lnTo>
                    <a:pt x="12287" y="3978"/>
                  </a:lnTo>
                  <a:lnTo>
                    <a:pt x="12640" y="4198"/>
                  </a:lnTo>
                  <a:lnTo>
                    <a:pt x="12984" y="4437"/>
                  </a:lnTo>
                  <a:lnTo>
                    <a:pt x="13318" y="4696"/>
                  </a:lnTo>
                  <a:lnTo>
                    <a:pt x="13641" y="4973"/>
                  </a:lnTo>
                  <a:lnTo>
                    <a:pt x="13954" y="5270"/>
                  </a:lnTo>
                  <a:lnTo>
                    <a:pt x="13980" y="5295"/>
                  </a:lnTo>
                  <a:lnTo>
                    <a:pt x="14005" y="5321"/>
                  </a:lnTo>
                  <a:lnTo>
                    <a:pt x="14030" y="5347"/>
                  </a:lnTo>
                  <a:lnTo>
                    <a:pt x="14055" y="5373"/>
                  </a:lnTo>
                  <a:close/>
                  <a:moveTo>
                    <a:pt x="11928" y="7501"/>
                  </a:moveTo>
                  <a:lnTo>
                    <a:pt x="10854" y="8576"/>
                  </a:lnTo>
                  <a:lnTo>
                    <a:pt x="10829" y="8549"/>
                  </a:lnTo>
                  <a:lnTo>
                    <a:pt x="10805" y="8523"/>
                  </a:lnTo>
                  <a:lnTo>
                    <a:pt x="10780" y="8498"/>
                  </a:lnTo>
                  <a:lnTo>
                    <a:pt x="10754" y="8472"/>
                  </a:lnTo>
                  <a:lnTo>
                    <a:pt x="10610" y="8336"/>
                  </a:lnTo>
                  <a:lnTo>
                    <a:pt x="10462" y="8208"/>
                  </a:lnTo>
                  <a:lnTo>
                    <a:pt x="10307" y="8089"/>
                  </a:lnTo>
                  <a:lnTo>
                    <a:pt x="10150" y="7980"/>
                  </a:lnTo>
                  <a:lnTo>
                    <a:pt x="9987" y="7878"/>
                  </a:lnTo>
                  <a:lnTo>
                    <a:pt x="9821" y="7785"/>
                  </a:lnTo>
                  <a:lnTo>
                    <a:pt x="9651" y="7702"/>
                  </a:lnTo>
                  <a:lnTo>
                    <a:pt x="9479" y="7627"/>
                  </a:lnTo>
                  <a:lnTo>
                    <a:pt x="9303" y="7561"/>
                  </a:lnTo>
                  <a:lnTo>
                    <a:pt x="9124" y="7504"/>
                  </a:lnTo>
                  <a:lnTo>
                    <a:pt x="8945" y="7456"/>
                  </a:lnTo>
                  <a:lnTo>
                    <a:pt x="8762" y="7416"/>
                  </a:lnTo>
                  <a:lnTo>
                    <a:pt x="8580" y="7384"/>
                  </a:lnTo>
                  <a:lnTo>
                    <a:pt x="8395" y="7362"/>
                  </a:lnTo>
                  <a:lnTo>
                    <a:pt x="8210" y="7349"/>
                  </a:lnTo>
                  <a:lnTo>
                    <a:pt x="8025" y="7345"/>
                  </a:lnTo>
                  <a:lnTo>
                    <a:pt x="7839" y="7349"/>
                  </a:lnTo>
                  <a:lnTo>
                    <a:pt x="7655" y="7363"/>
                  </a:lnTo>
                  <a:lnTo>
                    <a:pt x="7470" y="7385"/>
                  </a:lnTo>
                  <a:lnTo>
                    <a:pt x="7287" y="7416"/>
                  </a:lnTo>
                  <a:lnTo>
                    <a:pt x="7105" y="7456"/>
                  </a:lnTo>
                  <a:lnTo>
                    <a:pt x="6926" y="7504"/>
                  </a:lnTo>
                  <a:lnTo>
                    <a:pt x="6747" y="7561"/>
                  </a:lnTo>
                  <a:lnTo>
                    <a:pt x="6571" y="7627"/>
                  </a:lnTo>
                  <a:lnTo>
                    <a:pt x="6399" y="7703"/>
                  </a:lnTo>
                  <a:lnTo>
                    <a:pt x="6229" y="7786"/>
                  </a:lnTo>
                  <a:lnTo>
                    <a:pt x="6063" y="7878"/>
                  </a:lnTo>
                  <a:lnTo>
                    <a:pt x="5900" y="7980"/>
                  </a:lnTo>
                  <a:lnTo>
                    <a:pt x="5742" y="8090"/>
                  </a:lnTo>
                  <a:lnTo>
                    <a:pt x="5588" y="8209"/>
                  </a:lnTo>
                  <a:lnTo>
                    <a:pt x="5440" y="8337"/>
                  </a:lnTo>
                  <a:lnTo>
                    <a:pt x="5297" y="8473"/>
                  </a:lnTo>
                  <a:lnTo>
                    <a:pt x="5271" y="8498"/>
                  </a:lnTo>
                  <a:lnTo>
                    <a:pt x="5246" y="8524"/>
                  </a:lnTo>
                  <a:lnTo>
                    <a:pt x="5222" y="8550"/>
                  </a:lnTo>
                  <a:lnTo>
                    <a:pt x="5198" y="8576"/>
                  </a:lnTo>
                  <a:lnTo>
                    <a:pt x="4123" y="7501"/>
                  </a:lnTo>
                  <a:lnTo>
                    <a:pt x="4147" y="7476"/>
                  </a:lnTo>
                  <a:lnTo>
                    <a:pt x="4172" y="7450"/>
                  </a:lnTo>
                  <a:lnTo>
                    <a:pt x="4197" y="7425"/>
                  </a:lnTo>
                  <a:lnTo>
                    <a:pt x="4222" y="7399"/>
                  </a:lnTo>
                  <a:lnTo>
                    <a:pt x="4422" y="7209"/>
                  </a:lnTo>
                  <a:lnTo>
                    <a:pt x="4629" y="7030"/>
                  </a:lnTo>
                  <a:lnTo>
                    <a:pt x="4843" y="6865"/>
                  </a:lnTo>
                  <a:lnTo>
                    <a:pt x="5064" y="6711"/>
                  </a:lnTo>
                  <a:lnTo>
                    <a:pt x="5290" y="6571"/>
                  </a:lnTo>
                  <a:lnTo>
                    <a:pt x="5522" y="6441"/>
                  </a:lnTo>
                  <a:lnTo>
                    <a:pt x="5758" y="6325"/>
                  </a:lnTo>
                  <a:lnTo>
                    <a:pt x="6000" y="6220"/>
                  </a:lnTo>
                  <a:lnTo>
                    <a:pt x="6243" y="6128"/>
                  </a:lnTo>
                  <a:lnTo>
                    <a:pt x="6492" y="6048"/>
                  </a:lnTo>
                  <a:lnTo>
                    <a:pt x="6743" y="5981"/>
                  </a:lnTo>
                  <a:lnTo>
                    <a:pt x="6997" y="5925"/>
                  </a:lnTo>
                  <a:lnTo>
                    <a:pt x="7252" y="5882"/>
                  </a:lnTo>
                  <a:lnTo>
                    <a:pt x="7508" y="5851"/>
                  </a:lnTo>
                  <a:lnTo>
                    <a:pt x="7766" y="5833"/>
                  </a:lnTo>
                  <a:lnTo>
                    <a:pt x="8025" y="5827"/>
                  </a:lnTo>
                  <a:lnTo>
                    <a:pt x="8283" y="5833"/>
                  </a:lnTo>
                  <a:lnTo>
                    <a:pt x="8541" y="5851"/>
                  </a:lnTo>
                  <a:lnTo>
                    <a:pt x="8797" y="5882"/>
                  </a:lnTo>
                  <a:lnTo>
                    <a:pt x="9053" y="5925"/>
                  </a:lnTo>
                  <a:lnTo>
                    <a:pt x="9306" y="5981"/>
                  </a:lnTo>
                  <a:lnTo>
                    <a:pt x="9557" y="6048"/>
                  </a:lnTo>
                  <a:lnTo>
                    <a:pt x="9806" y="6127"/>
                  </a:lnTo>
                  <a:lnTo>
                    <a:pt x="10050" y="6219"/>
                  </a:lnTo>
                  <a:lnTo>
                    <a:pt x="10291" y="6324"/>
                  </a:lnTo>
                  <a:lnTo>
                    <a:pt x="10528" y="6440"/>
                  </a:lnTo>
                  <a:lnTo>
                    <a:pt x="10760" y="6570"/>
                  </a:lnTo>
                  <a:lnTo>
                    <a:pt x="10985" y="6710"/>
                  </a:lnTo>
                  <a:lnTo>
                    <a:pt x="11206" y="6864"/>
                  </a:lnTo>
                  <a:lnTo>
                    <a:pt x="11421" y="7029"/>
                  </a:lnTo>
                  <a:lnTo>
                    <a:pt x="11627" y="7208"/>
                  </a:lnTo>
                  <a:lnTo>
                    <a:pt x="11828" y="7398"/>
                  </a:lnTo>
                  <a:lnTo>
                    <a:pt x="11853" y="7424"/>
                  </a:lnTo>
                  <a:lnTo>
                    <a:pt x="11878" y="7449"/>
                  </a:lnTo>
                  <a:lnTo>
                    <a:pt x="11903" y="7475"/>
                  </a:lnTo>
                  <a:lnTo>
                    <a:pt x="11928" y="7501"/>
                  </a:lnTo>
                  <a:close/>
                </a:path>
              </a:pathLst>
            </a:custGeom>
            <a:grpFill/>
            <a:ln w="9525">
              <a:noFill/>
              <a:round/>
              <a:headEnd/>
              <a:tailEnd/>
            </a:ln>
          </p:spPr>
          <p:txBody>
            <a:bodyPr/>
            <a:lstStyle/>
            <a:p>
              <a:pPr algn="ctr" eaLnBrk="1" fontAlgn="auto" hangingPunct="1">
                <a:spcBef>
                  <a:spcPts val="0"/>
                </a:spcBef>
                <a:spcAft>
                  <a:spcPts val="0"/>
                </a:spcAft>
                <a:defRPr/>
              </a:pPr>
              <a:endParaRPr lang="zh-CN" altLang="en-US" sz="1200" ker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74" name="矩形 73"/>
          <p:cNvSpPr/>
          <p:nvPr/>
        </p:nvSpPr>
        <p:spPr bwMode="gray">
          <a:xfrm>
            <a:off x="6112344" y="1389496"/>
            <a:ext cx="5600231" cy="4678204"/>
          </a:xfrm>
          <a:prstGeom prst="rect">
            <a:avLst/>
          </a:prstGeom>
        </p:spPr>
        <p:txBody>
          <a:bodyPr wrap="square">
            <a:spAutoFit/>
          </a:bodyPr>
          <a:lstStyle/>
          <a:p>
            <a:pPr marL="228600" indent="-228600" algn="just" defTabSz="1218844" hangingPunct="0">
              <a:lnSpc>
                <a:spcPct val="150000"/>
              </a:lnSpc>
              <a:spcAft>
                <a:spcPts val="600"/>
              </a:spcAft>
              <a:buSzPct val="60000"/>
              <a:buFont typeface="Wingdings" panose="05000000000000000000" pitchFamily="2" charset="2"/>
              <a:buChar char="l"/>
              <a:defRPr/>
            </a:pPr>
            <a:r>
              <a:rPr lang="en-US" altLang="zh-CN" sz="1600" b="1"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HQ</a:t>
            </a:r>
            <a:r>
              <a:rPr lang="zh-CN" altLang="en-US" sz="1600" b="1"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60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ACC_1</a:t>
            </a:r>
            <a:r>
              <a:rPr lang="zh-CN" altLang="en-US" sz="160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和</a:t>
            </a:r>
            <a:r>
              <a:rPr lang="en-US" altLang="zh-CN" sz="160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ACC_2</a:t>
            </a:r>
            <a:r>
              <a:rPr lang="zh-CN" altLang="en-US" sz="160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作为</a:t>
            </a:r>
            <a:r>
              <a:rPr lang="zh-CN" altLang="en-US" sz="16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接入层设备，下连有线终端，为有线用户提供网络服务</a:t>
            </a:r>
            <a:r>
              <a:rPr lang="zh-CN" altLang="en-US" sz="160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60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ACC_2</a:t>
            </a:r>
            <a:r>
              <a:rPr lang="zh-CN" altLang="en-US" sz="160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下挂</a:t>
            </a:r>
            <a:r>
              <a:rPr lang="en-US" altLang="zh-CN" sz="160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AP1</a:t>
            </a:r>
            <a:r>
              <a:rPr lang="zh-CN" altLang="en-US" sz="160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a:t>
            </a:r>
            <a:r>
              <a:rPr lang="zh-CN" altLang="en-US" sz="16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为无线用户提供网络服务</a:t>
            </a:r>
            <a:r>
              <a:rPr lang="zh-CN" altLang="en-US" sz="160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60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Edge_1</a:t>
            </a:r>
            <a:r>
              <a:rPr lang="zh-CN" altLang="en-US" sz="160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和</a:t>
            </a:r>
            <a:r>
              <a:rPr lang="en-US" altLang="zh-CN" sz="160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Edge_2</a:t>
            </a:r>
            <a:r>
              <a:rPr lang="zh-CN" altLang="en-US" sz="160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作为</a:t>
            </a:r>
            <a:r>
              <a:rPr lang="zh-CN" altLang="en-US" sz="16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汇聚层设备</a:t>
            </a:r>
            <a:r>
              <a:rPr lang="zh-CN" altLang="en-US" sz="160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60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Border</a:t>
            </a:r>
            <a:r>
              <a:rPr lang="zh-CN" altLang="en-US" sz="160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作为</a:t>
            </a:r>
            <a:r>
              <a:rPr lang="zh-CN" altLang="en-US" sz="16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核心层设备。</a:t>
            </a:r>
            <a:r>
              <a:rPr lang="en-US" altLang="zh-CN" sz="160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AR3</a:t>
            </a:r>
            <a:r>
              <a:rPr lang="zh-CN" altLang="en-US" sz="160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作为</a:t>
            </a:r>
            <a:r>
              <a:rPr lang="zh-CN" altLang="en-US" sz="16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园区出口，同时作为</a:t>
            </a:r>
            <a:r>
              <a:rPr lang="en-US" altLang="zh-CN" sz="16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DHCP</a:t>
            </a:r>
            <a:r>
              <a:rPr lang="zh-CN" altLang="en-US" sz="16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服务器为</a:t>
            </a:r>
            <a:r>
              <a:rPr lang="en-US" altLang="zh-CN" sz="16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HQ</a:t>
            </a:r>
            <a:r>
              <a:rPr lang="zh-CN" altLang="en-US" sz="16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内的其他设备及用户终端分配</a:t>
            </a:r>
            <a:r>
              <a:rPr lang="en-US" altLang="zh-CN" sz="16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6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地址</a:t>
            </a:r>
            <a:r>
              <a:rPr lang="zh-CN" altLang="en-US" sz="160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60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HQ</a:t>
            </a:r>
            <a:r>
              <a:rPr lang="zh-CN" altLang="en-US" sz="160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底层通过部署</a:t>
            </a:r>
            <a:r>
              <a:rPr lang="en-US" altLang="zh-CN" sz="160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OSPF</a:t>
            </a:r>
            <a:r>
              <a:rPr lang="zh-CN" altLang="en-US" sz="160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实现互联互通。</a:t>
            </a:r>
            <a:endParaRPr lang="zh-CN" altLang="en-US" sz="16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a:p>
            <a:pPr marL="228600" indent="-228600" algn="just" defTabSz="1218844" hangingPunct="0">
              <a:lnSpc>
                <a:spcPct val="150000"/>
              </a:lnSpc>
              <a:spcAft>
                <a:spcPts val="600"/>
              </a:spcAft>
              <a:buSzPct val="60000"/>
              <a:buFont typeface="Wingdings" panose="05000000000000000000" pitchFamily="2" charset="2"/>
              <a:buChar char="l"/>
              <a:defRPr/>
            </a:pPr>
            <a:r>
              <a:rPr lang="zh-CN" altLang="en-US" sz="1600" b="1"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云端</a:t>
            </a:r>
            <a:r>
              <a:rPr lang="zh-CN" altLang="en-US" sz="1600" b="1"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a:t>
            </a:r>
            <a:r>
              <a:rPr lang="zh-CN" altLang="en-US" sz="16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该部分通过交换机</a:t>
            </a:r>
            <a:r>
              <a:rPr lang="en-US" altLang="zh-CN" sz="1600" dirty="0" err="1">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AR_Server_SW</a:t>
            </a:r>
            <a:r>
              <a:rPr lang="zh-CN" altLang="en-US" sz="16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模拟，负责连通</a:t>
            </a:r>
            <a:r>
              <a:rPr lang="en-US" altLang="zh-CN" sz="16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HQ</a:t>
            </a:r>
            <a:r>
              <a:rPr lang="zh-CN" altLang="en-US" sz="16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与</a:t>
            </a:r>
            <a:r>
              <a:rPr lang="en-US" altLang="zh-CN" sz="1600" dirty="0" err="1">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iMaster</a:t>
            </a:r>
            <a:r>
              <a:rPr lang="en-US" altLang="zh-CN" sz="16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 NCE-Campus</a:t>
            </a:r>
            <a:r>
              <a:rPr lang="zh-CN" altLang="en-US" sz="16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控制器，且</a:t>
            </a:r>
            <a:r>
              <a:rPr lang="en-US" altLang="zh-CN" sz="1600" dirty="0" err="1">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AR_Server_SW</a:t>
            </a:r>
            <a:r>
              <a:rPr lang="zh-CN" altLang="en-US" sz="16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是</a:t>
            </a:r>
            <a:r>
              <a:rPr lang="en-US" altLang="zh-CN" sz="1600" dirty="0" err="1">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iMaster</a:t>
            </a:r>
            <a:r>
              <a:rPr lang="en-US" altLang="zh-CN" sz="16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 NCE-Campus</a:t>
            </a:r>
            <a:r>
              <a:rPr lang="zh-CN" altLang="en-US" sz="16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的</a:t>
            </a:r>
            <a:r>
              <a:rPr lang="zh-CN" altLang="en-US" sz="160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网关</a:t>
            </a:r>
            <a:r>
              <a:rPr lang="zh-CN" altLang="en-US" sz="16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a:t>
            </a:r>
          </a:p>
          <a:p>
            <a:pPr marL="228600" indent="-228600" algn="just" defTabSz="1218844" hangingPunct="0">
              <a:lnSpc>
                <a:spcPct val="150000"/>
              </a:lnSpc>
              <a:spcAft>
                <a:spcPts val="600"/>
              </a:spcAft>
              <a:buSzPct val="60000"/>
              <a:buFont typeface="Wingdings" panose="05000000000000000000" pitchFamily="2" charset="2"/>
              <a:buChar char="l"/>
              <a:defRPr/>
            </a:pPr>
            <a:r>
              <a:rPr lang="en-US" altLang="zh-CN" sz="1600" b="1"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VXLAN</a:t>
            </a:r>
            <a:r>
              <a:rPr lang="zh-CN" altLang="en-US" sz="1600" b="1"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网络（</a:t>
            </a:r>
            <a:r>
              <a:rPr lang="en-US" altLang="zh-CN" sz="1600" b="1"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Fabric</a:t>
            </a:r>
            <a:r>
              <a:rPr lang="zh-CN" altLang="en-US" sz="1600" b="1"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a:t>
            </a:r>
            <a:r>
              <a:rPr lang="zh-CN" altLang="en-US" sz="16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本实验组网是</a:t>
            </a:r>
            <a:r>
              <a:rPr lang="en-US" altLang="zh-CN" sz="16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VXLAN</a:t>
            </a:r>
            <a:r>
              <a:rPr lang="zh-CN" altLang="en-US" sz="16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到汇聚</a:t>
            </a:r>
            <a:r>
              <a:rPr lang="zh-CN" altLang="en-US" sz="160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的分布式网</a:t>
            </a:r>
            <a:r>
              <a:rPr lang="zh-CN" altLang="en-US" sz="16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关模型，</a:t>
            </a:r>
            <a:r>
              <a:rPr lang="en-US" altLang="zh-CN" sz="1600" b="1"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Edge_1</a:t>
            </a:r>
            <a:r>
              <a:rPr lang="zh-CN" altLang="en-US" sz="16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和</a:t>
            </a:r>
            <a:r>
              <a:rPr lang="en-US" altLang="zh-CN" sz="1600" b="1"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Edge_2</a:t>
            </a:r>
            <a:r>
              <a:rPr lang="zh-CN" altLang="en-US" sz="16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作为</a:t>
            </a:r>
            <a:r>
              <a:rPr lang="en-US" altLang="zh-CN" sz="16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VXLAN</a:t>
            </a:r>
            <a:r>
              <a:rPr lang="zh-CN" altLang="en-US" sz="16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网络的</a:t>
            </a:r>
            <a:r>
              <a:rPr lang="en-US" altLang="zh-CN" sz="16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Edge</a:t>
            </a:r>
            <a:r>
              <a:rPr lang="zh-CN" altLang="en-US" sz="16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节点，</a:t>
            </a:r>
            <a:r>
              <a:rPr lang="en-US" altLang="zh-CN" sz="1600" b="1"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Border</a:t>
            </a:r>
            <a:r>
              <a:rPr lang="zh-CN" altLang="en-US" sz="16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作为</a:t>
            </a:r>
            <a:r>
              <a:rPr lang="en-US" altLang="zh-CN" sz="16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VXLAN</a:t>
            </a:r>
            <a:r>
              <a:rPr lang="zh-CN" altLang="en-US" sz="16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网络的</a:t>
            </a:r>
            <a:r>
              <a:rPr lang="en-US" altLang="zh-CN" sz="16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Border</a:t>
            </a:r>
            <a:r>
              <a:rPr lang="zh-CN" altLang="en-US" sz="16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节点。</a:t>
            </a:r>
          </a:p>
        </p:txBody>
      </p:sp>
    </p:spTree>
    <p:extLst>
      <p:ext uri="{BB962C8B-B14F-4D97-AF65-F5344CB8AC3E}">
        <p14:creationId xmlns:p14="http://schemas.microsoft.com/office/powerpoint/2010/main" val="253314556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normAutofit/>
          </a:bodyPr>
          <a:lstStyle/>
          <a:p>
            <a:r>
              <a:rPr lang="zh-CN" altLang="en-US" dirty="0"/>
              <a:t>虚拟化园区网络实验</a:t>
            </a:r>
            <a:r>
              <a:rPr lang="zh-CN" altLang="en-US" dirty="0" smtClean="0"/>
              <a:t>：虚拟网络</a:t>
            </a:r>
            <a:endParaRPr lang="zh-CN" altLang="en-US" dirty="0"/>
          </a:p>
        </p:txBody>
      </p:sp>
      <p:sp>
        <p:nvSpPr>
          <p:cNvPr id="62" name="圆角矩形 61"/>
          <p:cNvSpPr/>
          <p:nvPr/>
        </p:nvSpPr>
        <p:spPr bwMode="gray">
          <a:xfrm>
            <a:off x="4585255" y="1255900"/>
            <a:ext cx="1771486" cy="1862371"/>
          </a:xfrm>
          <a:prstGeom prst="roundRect">
            <a:avLst>
              <a:gd name="adj" fmla="val 3166"/>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63" name="圆角矩形 62"/>
          <p:cNvSpPr/>
          <p:nvPr/>
        </p:nvSpPr>
        <p:spPr bwMode="gray">
          <a:xfrm>
            <a:off x="534147" y="1255900"/>
            <a:ext cx="3990111" cy="1872111"/>
          </a:xfrm>
          <a:prstGeom prst="roundRect">
            <a:avLst>
              <a:gd name="adj" fmla="val 3166"/>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68" name="圆角矩形 67"/>
          <p:cNvSpPr/>
          <p:nvPr/>
        </p:nvSpPr>
        <p:spPr bwMode="gray">
          <a:xfrm>
            <a:off x="534147" y="3167140"/>
            <a:ext cx="3990111" cy="2916300"/>
          </a:xfrm>
          <a:prstGeom prst="roundRect">
            <a:avLst>
              <a:gd name="adj" fmla="val 3166"/>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69" name="Freeform 159"/>
          <p:cNvSpPr/>
          <p:nvPr/>
        </p:nvSpPr>
        <p:spPr bwMode="gray">
          <a:xfrm flipH="1">
            <a:off x="1025113" y="3295327"/>
            <a:ext cx="2543409" cy="1455990"/>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rgbClr val="E3F6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latin typeface="Huawei Sans" panose="020C0503030203020204" pitchFamily="34" charset="0"/>
              <a:ea typeface="方正兰亭黑简体" panose="02000000000000000000" pitchFamily="2" charset="-122"/>
            </a:endParaRPr>
          </a:p>
        </p:txBody>
      </p:sp>
      <p:cxnSp>
        <p:nvCxnSpPr>
          <p:cNvPr id="70" name="Straight Connector 166"/>
          <p:cNvCxnSpPr>
            <a:stCxn id="92" idx="2"/>
            <a:endCxn id="76" idx="0"/>
          </p:cNvCxnSpPr>
          <p:nvPr/>
        </p:nvCxnSpPr>
        <p:spPr bwMode="gray">
          <a:xfrm>
            <a:off x="1386936" y="4580164"/>
            <a:ext cx="0" cy="40327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5" name="Straight Connector 166"/>
          <p:cNvCxnSpPr>
            <a:stCxn id="93" idx="2"/>
            <a:endCxn id="77" idx="0"/>
          </p:cNvCxnSpPr>
          <p:nvPr/>
        </p:nvCxnSpPr>
        <p:spPr bwMode="gray">
          <a:xfrm>
            <a:off x="3317737" y="4580164"/>
            <a:ext cx="0" cy="40327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76" name="图片 76" descr="接入交换机.png"/>
          <p:cNvPicPr>
            <a:picLocks noChangeAspect="1"/>
          </p:cNvPicPr>
          <p:nvPr/>
        </p:nvPicPr>
        <p:blipFill>
          <a:blip r:embed="rId3" cstate="print"/>
          <a:stretch>
            <a:fillRect/>
          </a:stretch>
        </p:blipFill>
        <p:spPr bwMode="gray">
          <a:xfrm>
            <a:off x="1163795" y="4983441"/>
            <a:ext cx="446281" cy="365139"/>
          </a:xfrm>
          <a:prstGeom prst="rect">
            <a:avLst/>
          </a:prstGeom>
        </p:spPr>
      </p:pic>
      <p:pic>
        <p:nvPicPr>
          <p:cNvPr id="77" name="图片 76" descr="接入交换机.png"/>
          <p:cNvPicPr>
            <a:picLocks noChangeAspect="1"/>
          </p:cNvPicPr>
          <p:nvPr/>
        </p:nvPicPr>
        <p:blipFill>
          <a:blip r:embed="rId3" cstate="print"/>
          <a:stretch>
            <a:fillRect/>
          </a:stretch>
        </p:blipFill>
        <p:spPr bwMode="gray">
          <a:xfrm>
            <a:off x="3094596" y="4983441"/>
            <a:ext cx="446281" cy="365139"/>
          </a:xfrm>
          <a:prstGeom prst="rect">
            <a:avLst/>
          </a:prstGeom>
        </p:spPr>
      </p:pic>
      <p:sp>
        <p:nvSpPr>
          <p:cNvPr id="78" name="文本框 77"/>
          <p:cNvSpPr txBox="1"/>
          <p:nvPr/>
        </p:nvSpPr>
        <p:spPr bwMode="gray">
          <a:xfrm>
            <a:off x="549331" y="3137396"/>
            <a:ext cx="426720" cy="276999"/>
          </a:xfrm>
          <a:prstGeom prst="rect">
            <a:avLst/>
          </a:prstGeom>
          <a:noFill/>
        </p:spPr>
        <p:txBody>
          <a:bodyPr wrap="none" rtlCol="0">
            <a:spAutoFit/>
          </a:bodyPr>
          <a:lstStyle/>
          <a:p>
            <a:r>
              <a:rPr lang="en-US" altLang="zh-CN" sz="1200" b="1" dirty="0" smtClean="0">
                <a:latin typeface="Huawei Sans" panose="020C0503030203020204" pitchFamily="34" charset="0"/>
                <a:ea typeface="方正兰亭黑简体" panose="02000000000000000000" pitchFamily="2" charset="-122"/>
                <a:cs typeface="Huawei Sans" panose="020C0503030203020204" pitchFamily="34" charset="0"/>
              </a:rPr>
              <a:t>HQ</a:t>
            </a:r>
            <a:endParaRPr lang="zh-CN" altLang="en-US" sz="1200" b="1" dirty="0">
              <a:latin typeface="Huawei Sans" panose="020C0503030203020204" pitchFamily="34" charset="0"/>
              <a:ea typeface="方正兰亭黑简体" panose="02000000000000000000" pitchFamily="2" charset="-122"/>
              <a:cs typeface="Huawei Sans" panose="020C0503030203020204" pitchFamily="34" charset="0"/>
            </a:endParaRPr>
          </a:p>
        </p:txBody>
      </p:sp>
      <p:pic>
        <p:nvPicPr>
          <p:cNvPr id="79" name="图片 105" descr="AP.png"/>
          <p:cNvPicPr>
            <a:picLocks noChangeAspect="1"/>
          </p:cNvPicPr>
          <p:nvPr/>
        </p:nvPicPr>
        <p:blipFill>
          <a:blip r:embed="rId4" cstate="print"/>
          <a:stretch>
            <a:fillRect/>
          </a:stretch>
        </p:blipFill>
        <p:spPr bwMode="gray">
          <a:xfrm>
            <a:off x="4001155" y="5015126"/>
            <a:ext cx="368827" cy="301768"/>
          </a:xfrm>
          <a:prstGeom prst="rect">
            <a:avLst/>
          </a:prstGeom>
        </p:spPr>
      </p:pic>
      <p:cxnSp>
        <p:nvCxnSpPr>
          <p:cNvPr id="80" name="Straight Connector 166"/>
          <p:cNvCxnSpPr>
            <a:stCxn id="77" idx="3"/>
            <a:endCxn id="79" idx="1"/>
          </p:cNvCxnSpPr>
          <p:nvPr/>
        </p:nvCxnSpPr>
        <p:spPr bwMode="gray">
          <a:xfrm flipV="1">
            <a:off x="3540877" y="5166010"/>
            <a:ext cx="460278" cy="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81" name="文本框 80"/>
          <p:cNvSpPr txBox="1"/>
          <p:nvPr/>
        </p:nvSpPr>
        <p:spPr bwMode="gray">
          <a:xfrm>
            <a:off x="1708412" y="2650766"/>
            <a:ext cx="466794" cy="276999"/>
          </a:xfrm>
          <a:prstGeom prst="rect">
            <a:avLst/>
          </a:prstGeom>
          <a:noFill/>
        </p:spPr>
        <p:txBody>
          <a:bodyPr wrap="none" rtlCol="0">
            <a:spAutoFit/>
          </a:bodyPr>
          <a:lstStyle/>
          <a:p>
            <a:pPr algn="r"/>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AR3</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pic>
        <p:nvPicPr>
          <p:cNvPr id="82" name="图片 14" descr="日志告警服务器-蓝.png"/>
          <p:cNvPicPr>
            <a:picLocks noChangeAspect="1"/>
          </p:cNvPicPr>
          <p:nvPr/>
        </p:nvPicPr>
        <p:blipFill>
          <a:blip r:embed="rId5" cstate="print"/>
          <a:stretch>
            <a:fillRect/>
          </a:stretch>
        </p:blipFill>
        <p:spPr bwMode="gray">
          <a:xfrm>
            <a:off x="3956082" y="5526977"/>
            <a:ext cx="445956" cy="278465"/>
          </a:xfrm>
          <a:prstGeom prst="rect">
            <a:avLst/>
          </a:prstGeom>
        </p:spPr>
      </p:pic>
      <p:pic>
        <p:nvPicPr>
          <p:cNvPr id="83" name="图片 82" descr="PC.png">
            <a:extLst>
              <a:ext uri="{FF2B5EF4-FFF2-40B4-BE49-F238E27FC236}">
                <a16:creationId xmlns="" xmlns:a16="http://schemas.microsoft.com/office/drawing/2014/main" id="{4666702E-823D-4236-BF2F-880359158C83}"/>
              </a:ext>
            </a:extLst>
          </p:cNvPr>
          <p:cNvPicPr>
            <a:picLocks noChangeAspect="1"/>
          </p:cNvPicPr>
          <p:nvPr/>
        </p:nvPicPr>
        <p:blipFill>
          <a:blip r:embed="rId6" cstate="print"/>
          <a:stretch>
            <a:fillRect/>
          </a:stretch>
        </p:blipFill>
        <p:spPr bwMode="gray">
          <a:xfrm>
            <a:off x="1164182" y="5498700"/>
            <a:ext cx="445506" cy="342149"/>
          </a:xfrm>
          <a:prstGeom prst="rect">
            <a:avLst/>
          </a:prstGeom>
        </p:spPr>
      </p:pic>
      <p:pic>
        <p:nvPicPr>
          <p:cNvPr id="84" name="图片 83" descr="PC.png">
            <a:extLst>
              <a:ext uri="{FF2B5EF4-FFF2-40B4-BE49-F238E27FC236}">
                <a16:creationId xmlns="" xmlns:a16="http://schemas.microsoft.com/office/drawing/2014/main" id="{4666702E-823D-4236-BF2F-880359158C83}"/>
              </a:ext>
            </a:extLst>
          </p:cNvPr>
          <p:cNvPicPr>
            <a:picLocks noChangeAspect="1"/>
          </p:cNvPicPr>
          <p:nvPr/>
        </p:nvPicPr>
        <p:blipFill>
          <a:blip r:embed="rId6" cstate="print"/>
          <a:stretch>
            <a:fillRect/>
          </a:stretch>
        </p:blipFill>
        <p:spPr bwMode="gray">
          <a:xfrm>
            <a:off x="3094983" y="5498367"/>
            <a:ext cx="445506" cy="342149"/>
          </a:xfrm>
          <a:prstGeom prst="rect">
            <a:avLst/>
          </a:prstGeom>
        </p:spPr>
      </p:pic>
      <p:cxnSp>
        <p:nvCxnSpPr>
          <p:cNvPr id="85" name="Straight Connector 166"/>
          <p:cNvCxnSpPr>
            <a:stCxn id="88" idx="0"/>
            <a:endCxn id="114" idx="2"/>
          </p:cNvCxnSpPr>
          <p:nvPr/>
        </p:nvCxnSpPr>
        <p:spPr bwMode="gray">
          <a:xfrm flipV="1">
            <a:off x="2366629" y="2971835"/>
            <a:ext cx="0" cy="36652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6" name="Straight Connector 167"/>
          <p:cNvCxnSpPr/>
          <p:nvPr/>
        </p:nvCxnSpPr>
        <p:spPr bwMode="gray">
          <a:xfrm flipH="1">
            <a:off x="1387646" y="3520932"/>
            <a:ext cx="971589" cy="876201"/>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87" name="Straight Connector 167"/>
          <p:cNvCxnSpPr/>
          <p:nvPr/>
        </p:nvCxnSpPr>
        <p:spPr bwMode="gray">
          <a:xfrm flipH="1" flipV="1">
            <a:off x="2355856" y="3518455"/>
            <a:ext cx="975076" cy="883934"/>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pic>
        <p:nvPicPr>
          <p:cNvPr id="88" name="图片 86" descr="核心交换机.png"/>
          <p:cNvPicPr>
            <a:picLocks noChangeAspect="1"/>
          </p:cNvPicPr>
          <p:nvPr/>
        </p:nvPicPr>
        <p:blipFill>
          <a:blip r:embed="rId7" cstate="print"/>
          <a:stretch>
            <a:fillRect/>
          </a:stretch>
        </p:blipFill>
        <p:spPr bwMode="gray">
          <a:xfrm>
            <a:off x="2143488" y="3338363"/>
            <a:ext cx="446281" cy="365139"/>
          </a:xfrm>
          <a:prstGeom prst="rect">
            <a:avLst/>
          </a:prstGeom>
        </p:spPr>
      </p:pic>
      <p:sp>
        <p:nvSpPr>
          <p:cNvPr id="89" name="文本框 88"/>
          <p:cNvSpPr txBox="1"/>
          <p:nvPr/>
        </p:nvSpPr>
        <p:spPr bwMode="gray">
          <a:xfrm>
            <a:off x="1572052" y="3360317"/>
            <a:ext cx="651140" cy="276999"/>
          </a:xfrm>
          <a:prstGeom prst="rect">
            <a:avLst/>
          </a:prstGeom>
          <a:noFill/>
        </p:spPr>
        <p:txBody>
          <a:bodyPr wrap="none" rtlCol="0">
            <a:spAutoFit/>
          </a:bodyPr>
          <a:lstStyle/>
          <a:p>
            <a:pPr algn="ctr"/>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Border</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90" name="文本框 89"/>
          <p:cNvSpPr txBox="1"/>
          <p:nvPr/>
        </p:nvSpPr>
        <p:spPr bwMode="gray">
          <a:xfrm>
            <a:off x="751142" y="4544208"/>
            <a:ext cx="684803" cy="276999"/>
          </a:xfrm>
          <a:prstGeom prst="rect">
            <a:avLst/>
          </a:prstGeom>
          <a:noFill/>
        </p:spPr>
        <p:txBody>
          <a:bodyPr wrap="none" rtlCol="0">
            <a:spAutoFit/>
          </a:bodyPr>
          <a:lstStyle/>
          <a:p>
            <a:pPr algn="r"/>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Edge_1</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pic>
        <p:nvPicPr>
          <p:cNvPr id="92" name="图片 87" descr="汇聚交换机.png"/>
          <p:cNvPicPr>
            <a:picLocks noChangeAspect="1"/>
          </p:cNvPicPr>
          <p:nvPr/>
        </p:nvPicPr>
        <p:blipFill>
          <a:blip r:embed="rId8" cstate="print"/>
          <a:stretch>
            <a:fillRect/>
          </a:stretch>
        </p:blipFill>
        <p:spPr bwMode="gray">
          <a:xfrm>
            <a:off x="1163795" y="4215025"/>
            <a:ext cx="446281" cy="365139"/>
          </a:xfrm>
          <a:prstGeom prst="rect">
            <a:avLst/>
          </a:prstGeom>
        </p:spPr>
      </p:pic>
      <p:pic>
        <p:nvPicPr>
          <p:cNvPr id="93" name="图片 87" descr="汇聚交换机.png"/>
          <p:cNvPicPr>
            <a:picLocks noChangeAspect="1"/>
          </p:cNvPicPr>
          <p:nvPr/>
        </p:nvPicPr>
        <p:blipFill>
          <a:blip r:embed="rId8" cstate="print"/>
          <a:stretch>
            <a:fillRect/>
          </a:stretch>
        </p:blipFill>
        <p:spPr bwMode="gray">
          <a:xfrm>
            <a:off x="3094596" y="4215025"/>
            <a:ext cx="446281" cy="365139"/>
          </a:xfrm>
          <a:prstGeom prst="rect">
            <a:avLst/>
          </a:prstGeom>
        </p:spPr>
      </p:pic>
      <p:sp>
        <p:nvSpPr>
          <p:cNvPr id="94" name="文本框 93"/>
          <p:cNvSpPr txBox="1"/>
          <p:nvPr/>
        </p:nvSpPr>
        <p:spPr bwMode="gray">
          <a:xfrm>
            <a:off x="3268428" y="4544208"/>
            <a:ext cx="684803" cy="276999"/>
          </a:xfrm>
          <a:prstGeom prst="rect">
            <a:avLst/>
          </a:prstGeom>
          <a:noFill/>
        </p:spPr>
        <p:txBody>
          <a:bodyPr wrap="none" rtlCol="0">
            <a:spAutoFit/>
          </a:bodyPr>
          <a:lstStyle/>
          <a:p>
            <a:pPr algn="r"/>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Edge_2</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95" name="文本框 94"/>
          <p:cNvSpPr txBox="1"/>
          <p:nvPr/>
        </p:nvSpPr>
        <p:spPr bwMode="gray">
          <a:xfrm>
            <a:off x="3948869" y="4772905"/>
            <a:ext cx="460382" cy="276999"/>
          </a:xfrm>
          <a:prstGeom prst="rect">
            <a:avLst/>
          </a:prstGeom>
          <a:noFill/>
        </p:spPr>
        <p:txBody>
          <a:bodyPr wrap="none" rtlCol="0">
            <a:spAutoFit/>
          </a:bodyPr>
          <a:lstStyle/>
          <a:p>
            <a:pPr algn="ctr"/>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AP1</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96" name="文本框 95"/>
          <p:cNvSpPr txBox="1"/>
          <p:nvPr/>
        </p:nvSpPr>
        <p:spPr bwMode="gray">
          <a:xfrm>
            <a:off x="1159950" y="5806441"/>
            <a:ext cx="453970" cy="276999"/>
          </a:xfrm>
          <a:prstGeom prst="rect">
            <a:avLst/>
          </a:prstGeom>
          <a:noFill/>
        </p:spPr>
        <p:txBody>
          <a:bodyPr wrap="none" rtlCol="0">
            <a:spAutoFit/>
          </a:bodyPr>
          <a:lstStyle/>
          <a:p>
            <a:pPr algn="ctr"/>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PC1</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97" name="文本框 96"/>
          <p:cNvSpPr txBox="1"/>
          <p:nvPr/>
        </p:nvSpPr>
        <p:spPr bwMode="gray">
          <a:xfrm>
            <a:off x="3090751" y="5806441"/>
            <a:ext cx="453970" cy="276999"/>
          </a:xfrm>
          <a:prstGeom prst="rect">
            <a:avLst/>
          </a:prstGeom>
          <a:noFill/>
        </p:spPr>
        <p:txBody>
          <a:bodyPr wrap="none" rtlCol="0">
            <a:spAutoFit/>
          </a:bodyPr>
          <a:lstStyle/>
          <a:p>
            <a:pPr algn="ctr"/>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PC2</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cxnSp>
        <p:nvCxnSpPr>
          <p:cNvPr id="98" name="Straight Connector 166"/>
          <p:cNvCxnSpPr>
            <a:stCxn id="76" idx="2"/>
            <a:endCxn id="83" idx="0"/>
          </p:cNvCxnSpPr>
          <p:nvPr/>
        </p:nvCxnSpPr>
        <p:spPr bwMode="gray">
          <a:xfrm flipH="1">
            <a:off x="1386935" y="5348580"/>
            <a:ext cx="1" cy="15012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9" name="Straight Connector 166"/>
          <p:cNvCxnSpPr>
            <a:stCxn id="77" idx="2"/>
            <a:endCxn id="84" idx="0"/>
          </p:cNvCxnSpPr>
          <p:nvPr/>
        </p:nvCxnSpPr>
        <p:spPr bwMode="gray">
          <a:xfrm flipH="1">
            <a:off x="3317736" y="5348580"/>
            <a:ext cx="1" cy="14978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00" name="文本框 99"/>
          <p:cNvSpPr txBox="1"/>
          <p:nvPr/>
        </p:nvSpPr>
        <p:spPr bwMode="gray">
          <a:xfrm>
            <a:off x="3958583" y="5806441"/>
            <a:ext cx="453970" cy="276999"/>
          </a:xfrm>
          <a:prstGeom prst="rect">
            <a:avLst/>
          </a:prstGeom>
          <a:noFill/>
        </p:spPr>
        <p:txBody>
          <a:bodyPr wrap="none" rtlCol="0">
            <a:spAutoFit/>
          </a:bodyPr>
          <a:lstStyle/>
          <a:p>
            <a:pPr algn="ctr"/>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PC3</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107" name="Freeform 159"/>
          <p:cNvSpPr/>
          <p:nvPr/>
        </p:nvSpPr>
        <p:spPr bwMode="gray">
          <a:xfrm flipH="1">
            <a:off x="886877" y="1691833"/>
            <a:ext cx="1283319" cy="658739"/>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altLang="zh-CN" sz="1200" dirty="0" smtClean="0">
                <a:solidFill>
                  <a:schemeClr val="tx1"/>
                </a:solidFill>
                <a:latin typeface="Huawei Sans" panose="020C0503030203020204" pitchFamily="34" charset="0"/>
                <a:ea typeface="方正兰亭黑简体" panose="02000000000000000000" pitchFamily="2" charset="-122"/>
                <a:cs typeface="Huawei Sans" panose="020C0503030203020204" pitchFamily="34" charset="0"/>
              </a:rPr>
              <a:t>OA</a:t>
            </a:r>
          </a:p>
          <a:p>
            <a:pPr algn="ctr"/>
            <a:r>
              <a:rPr lang="zh-CN" altLang="en-US" sz="1200" dirty="0" smtClean="0">
                <a:solidFill>
                  <a:schemeClr val="tx1"/>
                </a:solidFill>
                <a:latin typeface="Huawei Sans" panose="020C0503030203020204" pitchFamily="34" charset="0"/>
                <a:ea typeface="方正兰亭黑简体" panose="02000000000000000000" pitchFamily="2" charset="-122"/>
                <a:cs typeface="Huawei Sans" panose="020C0503030203020204" pitchFamily="34" charset="0"/>
              </a:rPr>
              <a:t>（</a:t>
            </a:r>
            <a:r>
              <a:rPr lang="en-US" altLang="zh-CN" sz="1200" dirty="0" smtClean="0">
                <a:solidFill>
                  <a:schemeClr val="tx1"/>
                </a:solidFill>
                <a:latin typeface="Huawei Sans" panose="020C0503030203020204" pitchFamily="34" charset="0"/>
                <a:ea typeface="方正兰亭黑简体" panose="02000000000000000000" pitchFamily="2" charset="-122"/>
                <a:cs typeface="Huawei Sans" panose="020C0503030203020204" pitchFamily="34" charset="0"/>
              </a:rPr>
              <a:t>Internet</a:t>
            </a:r>
            <a:r>
              <a:rPr lang="zh-CN" altLang="en-US" sz="1200" dirty="0" smtClean="0">
                <a:solidFill>
                  <a:schemeClr val="tx1"/>
                </a:solidFill>
                <a:latin typeface="Huawei Sans" panose="020C0503030203020204" pitchFamily="34" charset="0"/>
                <a:ea typeface="方正兰亭黑简体" panose="02000000000000000000" pitchFamily="2" charset="-122"/>
                <a:cs typeface="Huawei Sans" panose="020C0503030203020204" pitchFamily="34" charset="0"/>
              </a:rPr>
              <a:t>）</a:t>
            </a:r>
            <a:endParaRPr lang="en-US" altLang="zh-CN" sz="1200" dirty="0" smtClean="0">
              <a:solidFill>
                <a:schemeClr val="tx1"/>
              </a:solidFill>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109" name="Freeform 159"/>
          <p:cNvSpPr/>
          <p:nvPr/>
        </p:nvSpPr>
        <p:spPr bwMode="gray">
          <a:xfrm flipH="1">
            <a:off x="2552274" y="1691833"/>
            <a:ext cx="1283319" cy="658739"/>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altLang="zh-CN" sz="120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rPr>
              <a:t>RD</a:t>
            </a:r>
          </a:p>
          <a:p>
            <a:pPr algn="ctr"/>
            <a:r>
              <a:rPr lang="zh-CN" altLang="en-US" sz="1200" dirty="0" smtClean="0">
                <a:solidFill>
                  <a:schemeClr val="tx1"/>
                </a:solidFill>
                <a:latin typeface="Huawei Sans" panose="020C0503030203020204" pitchFamily="34" charset="0"/>
                <a:ea typeface="方正兰亭黑简体" panose="02000000000000000000" pitchFamily="2" charset="-122"/>
                <a:cs typeface="Huawei Sans" panose="020C0503030203020204" pitchFamily="34" charset="0"/>
              </a:rPr>
              <a:t>（</a:t>
            </a:r>
            <a:r>
              <a:rPr lang="en-US" altLang="zh-CN" sz="1200" dirty="0" smtClean="0">
                <a:solidFill>
                  <a:schemeClr val="tx1"/>
                </a:solidFill>
                <a:latin typeface="Huawei Sans" panose="020C0503030203020204" pitchFamily="34" charset="0"/>
                <a:ea typeface="方正兰亭黑简体" panose="02000000000000000000" pitchFamily="2" charset="-122"/>
                <a:cs typeface="Huawei Sans" panose="020C0503030203020204" pitchFamily="34" charset="0"/>
              </a:rPr>
              <a:t>Internet</a:t>
            </a:r>
            <a:r>
              <a:rPr lang="zh-CN" altLang="en-US" sz="1200" dirty="0" smtClean="0">
                <a:solidFill>
                  <a:schemeClr val="tx1"/>
                </a:solidFill>
                <a:latin typeface="Huawei Sans" panose="020C0503030203020204" pitchFamily="34" charset="0"/>
                <a:ea typeface="方正兰亭黑简体" panose="02000000000000000000" pitchFamily="2" charset="-122"/>
                <a:cs typeface="Huawei Sans" panose="020C0503030203020204" pitchFamily="34" charset="0"/>
              </a:rPr>
              <a:t>）</a:t>
            </a:r>
            <a:endParaRPr lang="en-US" altLang="zh-CN" sz="120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110" name="文本框 109"/>
          <p:cNvSpPr txBox="1"/>
          <p:nvPr/>
        </p:nvSpPr>
        <p:spPr bwMode="gray">
          <a:xfrm>
            <a:off x="549330" y="1268346"/>
            <a:ext cx="981593" cy="307777"/>
          </a:xfrm>
          <a:prstGeom prst="rect">
            <a:avLst/>
          </a:prstGeom>
          <a:noFill/>
        </p:spPr>
        <p:txBody>
          <a:bodyPr wrap="square" rtlCol="0">
            <a:spAutoFit/>
          </a:bodyPr>
          <a:lstStyle/>
          <a:p>
            <a:r>
              <a:rPr lang="zh-CN" altLang="en-US" sz="1400" b="1" dirty="0" smtClean="0">
                <a:latin typeface="Huawei Sans" panose="020C0503030203020204" pitchFamily="34" charset="0"/>
                <a:ea typeface="方正兰亭黑简体" panose="02000000000000000000" pitchFamily="2" charset="-122"/>
                <a:cs typeface="Huawei Sans" panose="020C0503030203020204" pitchFamily="34" charset="0"/>
              </a:rPr>
              <a:t>外部网络</a:t>
            </a:r>
            <a:endParaRPr lang="zh-CN" altLang="en-US" sz="1400" b="1" dirty="0">
              <a:latin typeface="Huawei Sans" panose="020C0503030203020204" pitchFamily="34" charset="0"/>
              <a:ea typeface="方正兰亭黑简体" panose="02000000000000000000" pitchFamily="2" charset="-122"/>
              <a:cs typeface="Huawei Sans" panose="020C0503030203020204" pitchFamily="34" charset="0"/>
            </a:endParaRPr>
          </a:p>
        </p:txBody>
      </p:sp>
      <p:cxnSp>
        <p:nvCxnSpPr>
          <p:cNvPr id="112" name="Straight Connector 166"/>
          <p:cNvCxnSpPr/>
          <p:nvPr/>
        </p:nvCxnSpPr>
        <p:spPr bwMode="gray">
          <a:xfrm flipV="1">
            <a:off x="2366629" y="2350572"/>
            <a:ext cx="790903" cy="46872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3" name="Straight Connector 166"/>
          <p:cNvCxnSpPr/>
          <p:nvPr/>
        </p:nvCxnSpPr>
        <p:spPr bwMode="gray">
          <a:xfrm>
            <a:off x="1486736" y="2359187"/>
            <a:ext cx="879892" cy="46723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114" name="Picture 2" descr="G:\做的项目\公共\扁平图标切换\更新2015_01_21\oss扁平图标库2015_01_21更新-04.png"/>
          <p:cNvPicPr>
            <a:picLocks noChangeAspect="1" noChangeArrowheads="1"/>
          </p:cNvPicPr>
          <p:nvPr/>
        </p:nvPicPr>
        <p:blipFill>
          <a:blip r:embed="rId9" cstate="print"/>
          <a:stretch>
            <a:fillRect/>
          </a:stretch>
        </p:blipFill>
        <p:spPr bwMode="gray">
          <a:xfrm>
            <a:off x="2143488" y="2606697"/>
            <a:ext cx="446281" cy="365138"/>
          </a:xfrm>
          <a:prstGeom prst="rect">
            <a:avLst/>
          </a:prstGeom>
          <a:noFill/>
        </p:spPr>
      </p:pic>
      <p:sp>
        <p:nvSpPr>
          <p:cNvPr id="115" name="Freeform 159"/>
          <p:cNvSpPr/>
          <p:nvPr/>
        </p:nvSpPr>
        <p:spPr bwMode="gray">
          <a:xfrm flipH="1">
            <a:off x="4735630" y="1634232"/>
            <a:ext cx="1390465" cy="713738"/>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b">
            <a:noAutofit/>
          </a:bodyPr>
          <a:lstStyle/>
          <a:p>
            <a:pPr algn="ctr"/>
            <a:r>
              <a:rPr lang="en-US" altLang="zh-CN" sz="1200" dirty="0" err="1" smtClean="0">
                <a:solidFill>
                  <a:schemeClr val="tx1"/>
                </a:solidFill>
                <a:latin typeface="Huawei Sans" panose="020C0503030203020204" pitchFamily="34" charset="0"/>
                <a:ea typeface="方正兰亭黑简体" panose="02000000000000000000" pitchFamily="2" charset="-122"/>
                <a:cs typeface="Huawei Sans" panose="020C0503030203020204" pitchFamily="34" charset="0"/>
              </a:rPr>
              <a:t>DHCP_Email</a:t>
            </a:r>
            <a:endParaRPr lang="en-US" altLang="zh-CN" sz="1200" dirty="0" smtClean="0">
              <a:solidFill>
                <a:schemeClr val="tx1"/>
              </a:solidFill>
              <a:latin typeface="Huawei Sans" panose="020C0503030203020204" pitchFamily="34" charset="0"/>
              <a:ea typeface="方正兰亭黑简体" panose="02000000000000000000" pitchFamily="2" charset="-122"/>
              <a:cs typeface="Huawei Sans" panose="020C0503030203020204" pitchFamily="34" charset="0"/>
            </a:endParaRPr>
          </a:p>
          <a:p>
            <a:pPr algn="ctr"/>
            <a:r>
              <a:rPr lang="zh-CN" altLang="en-US" sz="1200" dirty="0" smtClean="0">
                <a:solidFill>
                  <a:schemeClr val="tx1"/>
                </a:solidFill>
                <a:latin typeface="Huawei Sans" panose="020C0503030203020204" pitchFamily="34" charset="0"/>
                <a:ea typeface="方正兰亭黑简体" panose="02000000000000000000" pitchFamily="2" charset="-122"/>
                <a:cs typeface="Huawei Sans" panose="020C0503030203020204" pitchFamily="34" charset="0"/>
              </a:rPr>
              <a:t>（</a:t>
            </a:r>
            <a:r>
              <a:rPr lang="en-US" altLang="zh-CN" sz="1200" dirty="0" smtClean="0">
                <a:solidFill>
                  <a:schemeClr val="tx1"/>
                </a:solidFill>
                <a:latin typeface="Huawei Sans" panose="020C0503030203020204" pitchFamily="34" charset="0"/>
                <a:ea typeface="方正兰亭黑简体" panose="02000000000000000000" pitchFamily="2" charset="-122"/>
                <a:cs typeface="Huawei Sans" panose="020C0503030203020204" pitchFamily="34" charset="0"/>
              </a:rPr>
              <a:t>DHCP/Other</a:t>
            </a:r>
            <a:r>
              <a:rPr lang="zh-CN" altLang="en-US" sz="1200" dirty="0" smtClean="0">
                <a:solidFill>
                  <a:schemeClr val="tx1"/>
                </a:solidFill>
                <a:latin typeface="Huawei Sans" panose="020C0503030203020204" pitchFamily="34" charset="0"/>
                <a:ea typeface="方正兰亭黑简体" panose="02000000000000000000" pitchFamily="2" charset="-122"/>
                <a:cs typeface="Huawei Sans" panose="020C0503030203020204" pitchFamily="34" charset="0"/>
              </a:rPr>
              <a:t>）</a:t>
            </a:r>
            <a:endParaRPr lang="en-US" sz="120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endParaRPr>
          </a:p>
        </p:txBody>
      </p:sp>
      <p:cxnSp>
        <p:nvCxnSpPr>
          <p:cNvPr id="116" name="肘形连接符 115"/>
          <p:cNvCxnSpPr>
            <a:stCxn id="114" idx="3"/>
          </p:cNvCxnSpPr>
          <p:nvPr/>
        </p:nvCxnSpPr>
        <p:spPr bwMode="gray">
          <a:xfrm flipV="1">
            <a:off x="2589769" y="2387099"/>
            <a:ext cx="2887079" cy="402167"/>
          </a:xfrm>
          <a:prstGeom prst="bentConnector3">
            <a:avLst>
              <a:gd name="adj1" fmla="val 100219"/>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17" name="文本框 116"/>
          <p:cNvSpPr txBox="1"/>
          <p:nvPr/>
        </p:nvSpPr>
        <p:spPr bwMode="gray">
          <a:xfrm>
            <a:off x="4585255" y="1268346"/>
            <a:ext cx="1311723" cy="307777"/>
          </a:xfrm>
          <a:prstGeom prst="rect">
            <a:avLst/>
          </a:prstGeom>
          <a:noFill/>
        </p:spPr>
        <p:txBody>
          <a:bodyPr wrap="square" rtlCol="0">
            <a:spAutoFit/>
          </a:bodyPr>
          <a:lstStyle/>
          <a:p>
            <a:r>
              <a:rPr lang="zh-CN" altLang="en-US" sz="1400" b="1" dirty="0" smtClean="0">
                <a:latin typeface="Huawei Sans" panose="020C0503030203020204" pitchFamily="34" charset="0"/>
                <a:ea typeface="方正兰亭黑简体" panose="02000000000000000000" pitchFamily="2" charset="-122"/>
                <a:cs typeface="Huawei Sans" panose="020C0503030203020204" pitchFamily="34" charset="0"/>
              </a:rPr>
              <a:t>网络服务资源</a:t>
            </a:r>
            <a:endParaRPr lang="zh-CN" altLang="en-US" sz="1400" b="1"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118" name="梯形 117"/>
          <p:cNvSpPr/>
          <p:nvPr/>
        </p:nvSpPr>
        <p:spPr bwMode="gray">
          <a:xfrm>
            <a:off x="691140" y="3969087"/>
            <a:ext cx="3221543" cy="499842"/>
          </a:xfrm>
          <a:prstGeom prst="trapezoid">
            <a:avLst>
              <a:gd name="adj" fmla="val 22961"/>
            </a:avLst>
          </a:prstGeom>
          <a:gradFill flip="none" rotWithShape="1">
            <a:gsLst>
              <a:gs pos="0">
                <a:schemeClr val="bg1">
                  <a:alpha val="4000"/>
                </a:schemeClr>
              </a:gs>
              <a:gs pos="100000">
                <a:schemeClr val="accent4">
                  <a:lumMod val="20000"/>
                  <a:lumOff val="80000"/>
                </a:schemeClr>
              </a:gs>
            </a:gsLst>
            <a:lin ang="5400000" scaled="1"/>
            <a:tileRect/>
          </a:gradFill>
          <a:ln>
            <a:gradFill flip="none" rotWithShape="1">
              <a:gsLst>
                <a:gs pos="0">
                  <a:schemeClr val="accent1">
                    <a:lumMod val="5000"/>
                    <a:lumOff val="95000"/>
                    <a:alpha val="0"/>
                  </a:schemeClr>
                </a:gs>
                <a:gs pos="82000">
                  <a:schemeClr val="accent4">
                    <a:lumMod val="60000"/>
                    <a:lumOff val="40000"/>
                  </a:schemeClr>
                </a:gs>
              </a:gsLst>
              <a:lin ang="54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9" name="梯形 118"/>
          <p:cNvSpPr/>
          <p:nvPr/>
        </p:nvSpPr>
        <p:spPr bwMode="gray">
          <a:xfrm>
            <a:off x="691140" y="3522528"/>
            <a:ext cx="3221543" cy="501291"/>
          </a:xfrm>
          <a:prstGeom prst="trapezoid">
            <a:avLst>
              <a:gd name="adj" fmla="val 22961"/>
            </a:avLst>
          </a:prstGeom>
          <a:gradFill flip="none" rotWithShape="1">
            <a:gsLst>
              <a:gs pos="0">
                <a:schemeClr val="bg1">
                  <a:alpha val="4000"/>
                </a:schemeClr>
              </a:gs>
              <a:gs pos="100000">
                <a:srgbClr val="EEB3B8"/>
              </a:gs>
            </a:gsLst>
            <a:lin ang="5400000" scaled="1"/>
            <a:tileRect/>
          </a:gradFill>
          <a:ln>
            <a:gradFill flip="none" rotWithShape="1">
              <a:gsLst>
                <a:gs pos="0">
                  <a:schemeClr val="accent1">
                    <a:lumMod val="5000"/>
                    <a:lumOff val="95000"/>
                    <a:alpha val="0"/>
                  </a:schemeClr>
                </a:gs>
                <a:gs pos="82000">
                  <a:srgbClr val="E28189"/>
                </a:gs>
              </a:gsLst>
              <a:lin ang="54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1" name="文本框 120"/>
          <p:cNvSpPr txBox="1"/>
          <p:nvPr/>
        </p:nvSpPr>
        <p:spPr bwMode="gray">
          <a:xfrm>
            <a:off x="1863014" y="4189273"/>
            <a:ext cx="875561" cy="276999"/>
          </a:xfrm>
          <a:prstGeom prst="rect">
            <a:avLst/>
          </a:prstGeom>
          <a:noFill/>
        </p:spPr>
        <p:txBody>
          <a:bodyPr wrap="none" rtlCol="0">
            <a:spAutoFit/>
          </a:bodyPr>
          <a:lstStyle/>
          <a:p>
            <a:pPr algn="ctr"/>
            <a:r>
              <a:rPr lang="en-US" altLang="zh-CN" sz="1200" b="1" dirty="0" smtClean="0">
                <a:latin typeface="Huawei Sans" panose="020C0503030203020204" pitchFamily="34" charset="0"/>
                <a:ea typeface="方正兰亭黑简体" panose="02000000000000000000" pitchFamily="2" charset="-122"/>
                <a:cs typeface="Huawei Sans" panose="020C0503030203020204" pitchFamily="34" charset="0"/>
              </a:rPr>
              <a:t>OA</a:t>
            </a:r>
            <a:r>
              <a:rPr lang="zh-CN" altLang="en-US" sz="1200" b="1" dirty="0" smtClean="0">
                <a:latin typeface="Huawei Sans" panose="020C0503030203020204" pitchFamily="34" charset="0"/>
                <a:ea typeface="方正兰亭黑简体" panose="02000000000000000000" pitchFamily="2" charset="-122"/>
                <a:cs typeface="Huawei Sans" panose="020C0503030203020204" pitchFamily="34" charset="0"/>
              </a:rPr>
              <a:t>虚拟网</a:t>
            </a:r>
            <a:endParaRPr lang="zh-CN" altLang="en-US" sz="1200" b="1"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122" name="文本框 121"/>
          <p:cNvSpPr txBox="1"/>
          <p:nvPr/>
        </p:nvSpPr>
        <p:spPr bwMode="gray">
          <a:xfrm>
            <a:off x="1863014" y="3757155"/>
            <a:ext cx="859531" cy="276999"/>
          </a:xfrm>
          <a:prstGeom prst="rect">
            <a:avLst/>
          </a:prstGeom>
          <a:noFill/>
        </p:spPr>
        <p:txBody>
          <a:bodyPr wrap="none" rtlCol="0">
            <a:spAutoFit/>
          </a:bodyPr>
          <a:lstStyle/>
          <a:p>
            <a:pPr algn="ctr"/>
            <a:r>
              <a:rPr lang="en-US" altLang="zh-CN" sz="1200" b="1" dirty="0" smtClean="0">
                <a:latin typeface="Huawei Sans" panose="020C0503030203020204" pitchFamily="34" charset="0"/>
                <a:ea typeface="方正兰亭黑简体" panose="02000000000000000000" pitchFamily="2" charset="-122"/>
                <a:cs typeface="Huawei Sans" panose="020C0503030203020204" pitchFamily="34" charset="0"/>
              </a:rPr>
              <a:t>RD</a:t>
            </a:r>
            <a:r>
              <a:rPr lang="zh-CN" altLang="en-US" sz="1200" b="1" dirty="0" smtClean="0">
                <a:latin typeface="Huawei Sans" panose="020C0503030203020204" pitchFamily="34" charset="0"/>
                <a:ea typeface="方正兰亭黑简体" panose="02000000000000000000" pitchFamily="2" charset="-122"/>
                <a:cs typeface="Huawei Sans" panose="020C0503030203020204" pitchFamily="34" charset="0"/>
              </a:rPr>
              <a:t>虚拟网</a:t>
            </a:r>
            <a:endParaRPr lang="zh-CN" altLang="en-US" sz="1200" b="1"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124" name="矩形 123"/>
          <p:cNvSpPr/>
          <p:nvPr/>
        </p:nvSpPr>
        <p:spPr bwMode="gray">
          <a:xfrm>
            <a:off x="6356741" y="1438978"/>
            <a:ext cx="5355834" cy="3839513"/>
          </a:xfrm>
          <a:prstGeom prst="rect">
            <a:avLst/>
          </a:prstGeom>
        </p:spPr>
        <p:txBody>
          <a:bodyPr wrap="square">
            <a:spAutoFit/>
          </a:bodyPr>
          <a:lstStyle/>
          <a:p>
            <a:pPr marL="228600" indent="-228600" algn="just" defTabSz="1218844" hangingPunct="0">
              <a:lnSpc>
                <a:spcPct val="150000"/>
              </a:lnSpc>
              <a:spcAft>
                <a:spcPts val="600"/>
              </a:spcAft>
              <a:buSzPct val="60000"/>
              <a:buFont typeface="Wingdings" panose="05000000000000000000" pitchFamily="2" charset="2"/>
              <a:buChar char="l"/>
              <a:defRPr/>
            </a:pPr>
            <a:r>
              <a:rPr lang="zh-CN" altLang="en-US" sz="1400" b="1"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虚拟网（</a:t>
            </a:r>
            <a:r>
              <a:rPr lang="en-US" altLang="zh-CN" sz="1400" b="1"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VN</a:t>
            </a:r>
            <a:r>
              <a:rPr lang="zh-CN" altLang="en-US" sz="1400" b="1"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a:t>
            </a:r>
            <a:r>
              <a:rPr lang="zh-CN" altLang="en-US" sz="140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定义</a:t>
            </a:r>
            <a:r>
              <a:rPr lang="en-US" altLang="zh-CN" sz="140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2</a:t>
            </a:r>
            <a:r>
              <a:rPr lang="zh-CN" altLang="en-US" sz="140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个虚拟网络，供不同的终端用户接入。</a:t>
            </a:r>
            <a:endParaRPr lang="zh-CN" altLang="en-US" sz="14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a:p>
            <a:pPr marL="360000" indent="-180000" algn="just" defTabSz="1218844" hangingPunct="0">
              <a:lnSpc>
                <a:spcPct val="125000"/>
              </a:lnSpc>
              <a:spcAft>
                <a:spcPts val="600"/>
              </a:spcAft>
              <a:buSzPct val="100000"/>
              <a:buFont typeface="Huawei Sans" panose="020C0503030203020204" pitchFamily="34" charset="0"/>
              <a:buChar char="▫"/>
              <a:defRPr/>
            </a:pPr>
            <a:r>
              <a:rPr lang="en-US" altLang="zh-CN" sz="140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OA</a:t>
            </a:r>
            <a:r>
              <a:rPr lang="zh-CN" altLang="en-US" sz="140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虚拟网，供销售人员（</a:t>
            </a:r>
            <a:r>
              <a:rPr lang="en-US" altLang="zh-CN" sz="1400" dirty="0" err="1">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Sales_Wired</a:t>
            </a:r>
            <a:r>
              <a:rPr lang="zh-CN" altLang="en-US" sz="14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dirty="0" err="1">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Sales_Wireless</a:t>
            </a:r>
            <a:r>
              <a:rPr lang="zh-CN" altLang="en-US" sz="140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）和市场人员（</a:t>
            </a:r>
            <a:r>
              <a:rPr lang="en-US" altLang="zh-CN" sz="1400" dirty="0" err="1">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Market_Wired</a:t>
            </a:r>
            <a:r>
              <a:rPr lang="zh-CN" altLang="en-US" sz="14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dirty="0" err="1">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Market_Wireless</a:t>
            </a:r>
            <a:r>
              <a:rPr lang="zh-CN" altLang="en-US" sz="140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）接入。</a:t>
            </a:r>
            <a:endParaRPr lang="en-US" altLang="zh-CN" sz="140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a:p>
            <a:pPr marL="360000" indent="-180000" algn="just" defTabSz="1218844" hangingPunct="0">
              <a:lnSpc>
                <a:spcPct val="125000"/>
              </a:lnSpc>
              <a:spcAft>
                <a:spcPts val="600"/>
              </a:spcAft>
              <a:buSzPct val="100000"/>
              <a:buFont typeface="Huawei Sans" panose="020C0503030203020204" pitchFamily="34" charset="0"/>
              <a:buChar char="▫"/>
              <a:defRPr/>
            </a:pPr>
            <a:r>
              <a:rPr lang="en-US" altLang="zh-CN" sz="140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RD</a:t>
            </a:r>
            <a:r>
              <a:rPr lang="zh-CN" altLang="en-US" sz="140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虚拟网，供研发人员（</a:t>
            </a:r>
            <a:r>
              <a:rPr lang="en-US" altLang="zh-CN" sz="140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RD</a:t>
            </a:r>
            <a:r>
              <a:rPr lang="zh-CN" altLang="en-US" sz="140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）接入。</a:t>
            </a:r>
            <a:endParaRPr lang="zh-CN" altLang="en-US" sz="14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a:p>
            <a:pPr marL="228600" indent="-228600" algn="just" defTabSz="1218844" hangingPunct="0">
              <a:lnSpc>
                <a:spcPct val="150000"/>
              </a:lnSpc>
              <a:spcAft>
                <a:spcPts val="600"/>
              </a:spcAft>
              <a:buSzPct val="60000"/>
              <a:buFont typeface="Wingdings" panose="05000000000000000000" pitchFamily="2" charset="2"/>
              <a:buChar char="l"/>
              <a:defRPr/>
            </a:pPr>
            <a:r>
              <a:rPr lang="zh-CN" altLang="en-US" sz="1400" b="1"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外部网络：</a:t>
            </a:r>
            <a:r>
              <a:rPr lang="zh-CN" altLang="en-US" sz="140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定义</a:t>
            </a:r>
            <a:r>
              <a:rPr lang="en-US" altLang="zh-CN" sz="140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2</a:t>
            </a:r>
            <a:r>
              <a:rPr lang="zh-CN" altLang="en-US" sz="140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个外部网络，</a:t>
            </a:r>
            <a:r>
              <a:rPr lang="zh-CN" altLang="en-US" sz="14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分别</a:t>
            </a:r>
            <a:r>
              <a:rPr lang="zh-CN" altLang="en-US" sz="140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供</a:t>
            </a:r>
            <a:r>
              <a:rPr lang="en-US" altLang="zh-CN" sz="140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2</a:t>
            </a:r>
            <a:r>
              <a:rPr lang="zh-CN" altLang="en-US" sz="140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个</a:t>
            </a:r>
            <a:r>
              <a:rPr lang="zh-CN" altLang="en-US" sz="14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虚拟</a:t>
            </a:r>
            <a:r>
              <a:rPr lang="zh-CN" altLang="en-US" sz="140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网络调用，并实现不同的终端用户访问不同的外部网络。</a:t>
            </a:r>
            <a:endParaRPr lang="zh-CN" altLang="en-US" sz="14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a:p>
            <a:pPr marL="360000" indent="-180000" algn="just" defTabSz="1218844" hangingPunct="0">
              <a:lnSpc>
                <a:spcPct val="125000"/>
              </a:lnSpc>
              <a:spcAft>
                <a:spcPts val="600"/>
              </a:spcAft>
              <a:buSzPct val="100000"/>
              <a:buFont typeface="Huawei Sans" panose="020C0503030203020204" pitchFamily="34" charset="0"/>
              <a:buChar char="▫"/>
              <a:defRPr/>
            </a:pPr>
            <a:r>
              <a:rPr lang="zh-CN" altLang="en-US" sz="140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OA</a:t>
            </a:r>
            <a:r>
              <a:rPr lang="zh-CN" altLang="en-US" sz="140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 外部网络，供销售和市场人员访问。</a:t>
            </a:r>
            <a:endParaRPr lang="zh-CN" altLang="en-US" sz="14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a:p>
            <a:pPr marL="360000" indent="-180000" algn="just" defTabSz="1218844" hangingPunct="0">
              <a:lnSpc>
                <a:spcPct val="125000"/>
              </a:lnSpc>
              <a:spcAft>
                <a:spcPts val="600"/>
              </a:spcAft>
              <a:buSzPct val="100000"/>
              <a:buFont typeface="Huawei Sans" panose="020C0503030203020204" pitchFamily="34" charset="0"/>
              <a:buChar char="▫"/>
              <a:defRPr/>
            </a:pPr>
            <a:r>
              <a:rPr lang="zh-CN" altLang="en-US" sz="140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RD</a:t>
            </a:r>
            <a:r>
              <a:rPr lang="zh-CN" altLang="en-US" sz="140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 外部网络，供研发人员访问。</a:t>
            </a:r>
            <a:endParaRPr lang="zh-CN" altLang="en-US" sz="14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a:p>
            <a:pPr marL="228600" indent="-228600" algn="just" defTabSz="1218844" hangingPunct="0">
              <a:lnSpc>
                <a:spcPct val="150000"/>
              </a:lnSpc>
              <a:spcAft>
                <a:spcPts val="600"/>
              </a:spcAft>
              <a:buSzPct val="60000"/>
              <a:buFont typeface="Wingdings" panose="05000000000000000000" pitchFamily="2" charset="2"/>
              <a:buChar char="l"/>
              <a:defRPr/>
            </a:pPr>
            <a:r>
              <a:rPr lang="zh-CN" altLang="en-US" sz="1400" b="1"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网络服务资源：</a:t>
            </a:r>
            <a:r>
              <a:rPr lang="zh-CN" altLang="en-US" sz="140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定义</a:t>
            </a:r>
            <a:r>
              <a:rPr lang="en-US" altLang="zh-CN" sz="140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1</a:t>
            </a:r>
            <a:r>
              <a:rPr lang="zh-CN" altLang="en-US" sz="140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个网络服务资源“</a:t>
            </a:r>
            <a:r>
              <a:rPr lang="en-US" altLang="zh-CN" sz="1400" dirty="0" err="1"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DHCP_Email</a:t>
            </a:r>
            <a:r>
              <a:rPr lang="zh-CN" altLang="en-US" sz="140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”，充当</a:t>
            </a:r>
            <a:r>
              <a:rPr lang="en-US" altLang="zh-CN" sz="140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DHCP</a:t>
            </a:r>
            <a:r>
              <a:rPr lang="zh-CN" altLang="en-US" sz="140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服务器的功能为所有虚拟网络终端用户分配</a:t>
            </a:r>
            <a:r>
              <a:rPr lang="en-US" altLang="zh-CN" sz="140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40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地址，同时充当</a:t>
            </a:r>
            <a:r>
              <a:rPr lang="en-US" altLang="zh-CN" sz="140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E-mail</a:t>
            </a:r>
            <a:r>
              <a:rPr lang="zh-CN" altLang="en-US" sz="140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服务器功能。</a:t>
            </a:r>
            <a:endParaRPr lang="zh-CN" altLang="en-US" sz="14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125" name="组合 758"/>
          <p:cNvGrpSpPr/>
          <p:nvPr/>
        </p:nvGrpSpPr>
        <p:grpSpPr bwMode="gray">
          <a:xfrm flipV="1">
            <a:off x="4094603" y="5336665"/>
            <a:ext cx="168914" cy="131950"/>
            <a:chOff x="7440613" y="4868863"/>
            <a:chExt cx="1019175" cy="828675"/>
          </a:xfrm>
          <a:solidFill>
            <a:schemeClr val="bg1">
              <a:lumMod val="50000"/>
            </a:schemeClr>
          </a:solidFill>
        </p:grpSpPr>
        <p:sp>
          <p:nvSpPr>
            <p:cNvPr id="126" name="Freeform 15"/>
            <p:cNvSpPr>
              <a:spLocks/>
            </p:cNvSpPr>
            <p:nvPr/>
          </p:nvSpPr>
          <p:spPr bwMode="gray">
            <a:xfrm>
              <a:off x="7832726" y="5462588"/>
              <a:ext cx="234950" cy="234950"/>
            </a:xfrm>
            <a:custGeom>
              <a:avLst/>
              <a:gdLst/>
              <a:ahLst/>
              <a:cxnLst>
                <a:cxn ang="0">
                  <a:pos x="3281" y="680"/>
                </a:cxn>
                <a:cxn ang="0">
                  <a:pos x="3439" y="907"/>
                </a:cxn>
                <a:cxn ang="0">
                  <a:pos x="3559" y="1151"/>
                </a:cxn>
                <a:cxn ang="0">
                  <a:pos x="3642" y="1406"/>
                </a:cxn>
                <a:cxn ang="0">
                  <a:pos x="3686" y="1670"/>
                </a:cxn>
                <a:cxn ang="0">
                  <a:pos x="3693" y="1936"/>
                </a:cxn>
                <a:cxn ang="0">
                  <a:pos x="3661" y="2201"/>
                </a:cxn>
                <a:cxn ang="0">
                  <a:pos x="3591" y="2460"/>
                </a:cxn>
                <a:cxn ang="0">
                  <a:pos x="3484" y="2708"/>
                </a:cxn>
                <a:cxn ang="0">
                  <a:pos x="3339" y="2941"/>
                </a:cxn>
                <a:cxn ang="0">
                  <a:pos x="3155" y="3155"/>
                </a:cxn>
                <a:cxn ang="0">
                  <a:pos x="2941" y="3339"/>
                </a:cxn>
                <a:cxn ang="0">
                  <a:pos x="2708" y="3484"/>
                </a:cxn>
                <a:cxn ang="0">
                  <a:pos x="2460" y="3592"/>
                </a:cxn>
                <a:cxn ang="0">
                  <a:pos x="2201" y="3661"/>
                </a:cxn>
                <a:cxn ang="0">
                  <a:pos x="1936" y="3693"/>
                </a:cxn>
                <a:cxn ang="0">
                  <a:pos x="1670" y="3687"/>
                </a:cxn>
                <a:cxn ang="0">
                  <a:pos x="1408" y="3643"/>
                </a:cxn>
                <a:cxn ang="0">
                  <a:pos x="1152" y="3561"/>
                </a:cxn>
                <a:cxn ang="0">
                  <a:pos x="908" y="3440"/>
                </a:cxn>
                <a:cxn ang="0">
                  <a:pos x="680" y="3282"/>
                </a:cxn>
                <a:cxn ang="0">
                  <a:pos x="475" y="3086"/>
                </a:cxn>
                <a:cxn ang="0">
                  <a:pos x="304" y="2866"/>
                </a:cxn>
                <a:cxn ang="0">
                  <a:pos x="172" y="2627"/>
                </a:cxn>
                <a:cxn ang="0">
                  <a:pos x="76" y="2374"/>
                </a:cxn>
                <a:cxn ang="0">
                  <a:pos x="19" y="2114"/>
                </a:cxn>
                <a:cxn ang="0">
                  <a:pos x="0" y="1848"/>
                </a:cxn>
                <a:cxn ang="0">
                  <a:pos x="19" y="1582"/>
                </a:cxn>
                <a:cxn ang="0">
                  <a:pos x="76" y="1321"/>
                </a:cxn>
                <a:cxn ang="0">
                  <a:pos x="171" y="1069"/>
                </a:cxn>
                <a:cxn ang="0">
                  <a:pos x="304" y="830"/>
                </a:cxn>
                <a:cxn ang="0">
                  <a:pos x="475" y="609"/>
                </a:cxn>
                <a:cxn ang="0">
                  <a:pos x="680" y="414"/>
                </a:cxn>
                <a:cxn ang="0">
                  <a:pos x="907" y="255"/>
                </a:cxn>
                <a:cxn ang="0">
                  <a:pos x="1151" y="135"/>
                </a:cxn>
                <a:cxn ang="0">
                  <a:pos x="1407" y="52"/>
                </a:cxn>
                <a:cxn ang="0">
                  <a:pos x="1669" y="8"/>
                </a:cxn>
                <a:cxn ang="0">
                  <a:pos x="1936" y="2"/>
                </a:cxn>
                <a:cxn ang="0">
                  <a:pos x="2201" y="33"/>
                </a:cxn>
                <a:cxn ang="0">
                  <a:pos x="2459" y="104"/>
                </a:cxn>
                <a:cxn ang="0">
                  <a:pos x="2708" y="211"/>
                </a:cxn>
                <a:cxn ang="0">
                  <a:pos x="2940" y="356"/>
                </a:cxn>
                <a:cxn ang="0">
                  <a:pos x="3154" y="539"/>
                </a:cxn>
              </a:cxnLst>
              <a:rect l="0" t="0" r="r" b="b"/>
              <a:pathLst>
                <a:path w="3695" h="3695">
                  <a:moveTo>
                    <a:pt x="3154" y="539"/>
                  </a:moveTo>
                  <a:lnTo>
                    <a:pt x="3220" y="608"/>
                  </a:lnTo>
                  <a:lnTo>
                    <a:pt x="3281" y="680"/>
                  </a:lnTo>
                  <a:lnTo>
                    <a:pt x="3338" y="754"/>
                  </a:lnTo>
                  <a:lnTo>
                    <a:pt x="3391" y="829"/>
                  </a:lnTo>
                  <a:lnTo>
                    <a:pt x="3439" y="907"/>
                  </a:lnTo>
                  <a:lnTo>
                    <a:pt x="3483" y="987"/>
                  </a:lnTo>
                  <a:lnTo>
                    <a:pt x="3523" y="1068"/>
                  </a:lnTo>
                  <a:lnTo>
                    <a:pt x="3559" y="1151"/>
                  </a:lnTo>
                  <a:lnTo>
                    <a:pt x="3591" y="1235"/>
                  </a:lnTo>
                  <a:lnTo>
                    <a:pt x="3619" y="1320"/>
                  </a:lnTo>
                  <a:lnTo>
                    <a:pt x="3642" y="1406"/>
                  </a:lnTo>
                  <a:lnTo>
                    <a:pt x="3661" y="1493"/>
                  </a:lnTo>
                  <a:lnTo>
                    <a:pt x="3676" y="1582"/>
                  </a:lnTo>
                  <a:lnTo>
                    <a:pt x="3686" y="1670"/>
                  </a:lnTo>
                  <a:lnTo>
                    <a:pt x="3693" y="1758"/>
                  </a:lnTo>
                  <a:lnTo>
                    <a:pt x="3695" y="1847"/>
                  </a:lnTo>
                  <a:lnTo>
                    <a:pt x="3693" y="1936"/>
                  </a:lnTo>
                  <a:lnTo>
                    <a:pt x="3686" y="2024"/>
                  </a:lnTo>
                  <a:lnTo>
                    <a:pt x="3676" y="2113"/>
                  </a:lnTo>
                  <a:lnTo>
                    <a:pt x="3661" y="2201"/>
                  </a:lnTo>
                  <a:lnTo>
                    <a:pt x="3642" y="2288"/>
                  </a:lnTo>
                  <a:lnTo>
                    <a:pt x="3619" y="2374"/>
                  </a:lnTo>
                  <a:lnTo>
                    <a:pt x="3591" y="2460"/>
                  </a:lnTo>
                  <a:lnTo>
                    <a:pt x="3559" y="2544"/>
                  </a:lnTo>
                  <a:lnTo>
                    <a:pt x="3524" y="2626"/>
                  </a:lnTo>
                  <a:lnTo>
                    <a:pt x="3484" y="2708"/>
                  </a:lnTo>
                  <a:lnTo>
                    <a:pt x="3439" y="2788"/>
                  </a:lnTo>
                  <a:lnTo>
                    <a:pt x="3391" y="2865"/>
                  </a:lnTo>
                  <a:lnTo>
                    <a:pt x="3339" y="2941"/>
                  </a:lnTo>
                  <a:lnTo>
                    <a:pt x="3281" y="3015"/>
                  </a:lnTo>
                  <a:lnTo>
                    <a:pt x="3220" y="3086"/>
                  </a:lnTo>
                  <a:lnTo>
                    <a:pt x="3155" y="3155"/>
                  </a:lnTo>
                  <a:lnTo>
                    <a:pt x="3086" y="3220"/>
                  </a:lnTo>
                  <a:lnTo>
                    <a:pt x="3015" y="3282"/>
                  </a:lnTo>
                  <a:lnTo>
                    <a:pt x="2941" y="3339"/>
                  </a:lnTo>
                  <a:lnTo>
                    <a:pt x="2865" y="3391"/>
                  </a:lnTo>
                  <a:lnTo>
                    <a:pt x="2788" y="3440"/>
                  </a:lnTo>
                  <a:lnTo>
                    <a:pt x="2708" y="3484"/>
                  </a:lnTo>
                  <a:lnTo>
                    <a:pt x="2626" y="3524"/>
                  </a:lnTo>
                  <a:lnTo>
                    <a:pt x="2544" y="3560"/>
                  </a:lnTo>
                  <a:lnTo>
                    <a:pt x="2460" y="3592"/>
                  </a:lnTo>
                  <a:lnTo>
                    <a:pt x="2375" y="3619"/>
                  </a:lnTo>
                  <a:lnTo>
                    <a:pt x="2288" y="3643"/>
                  </a:lnTo>
                  <a:lnTo>
                    <a:pt x="2201" y="3661"/>
                  </a:lnTo>
                  <a:lnTo>
                    <a:pt x="2114" y="3676"/>
                  </a:lnTo>
                  <a:lnTo>
                    <a:pt x="2026" y="3687"/>
                  </a:lnTo>
                  <a:lnTo>
                    <a:pt x="1936" y="3693"/>
                  </a:lnTo>
                  <a:lnTo>
                    <a:pt x="1848" y="3695"/>
                  </a:lnTo>
                  <a:lnTo>
                    <a:pt x="1759" y="3693"/>
                  </a:lnTo>
                  <a:lnTo>
                    <a:pt x="1670" y="3687"/>
                  </a:lnTo>
                  <a:lnTo>
                    <a:pt x="1582" y="3676"/>
                  </a:lnTo>
                  <a:lnTo>
                    <a:pt x="1495" y="3662"/>
                  </a:lnTo>
                  <a:lnTo>
                    <a:pt x="1408" y="3643"/>
                  </a:lnTo>
                  <a:lnTo>
                    <a:pt x="1321" y="3620"/>
                  </a:lnTo>
                  <a:lnTo>
                    <a:pt x="1236" y="3592"/>
                  </a:lnTo>
                  <a:lnTo>
                    <a:pt x="1152" y="3561"/>
                  </a:lnTo>
                  <a:lnTo>
                    <a:pt x="1069" y="3524"/>
                  </a:lnTo>
                  <a:lnTo>
                    <a:pt x="987" y="3484"/>
                  </a:lnTo>
                  <a:lnTo>
                    <a:pt x="908" y="3440"/>
                  </a:lnTo>
                  <a:lnTo>
                    <a:pt x="830" y="3391"/>
                  </a:lnTo>
                  <a:lnTo>
                    <a:pt x="755" y="3339"/>
                  </a:lnTo>
                  <a:lnTo>
                    <a:pt x="680" y="3282"/>
                  </a:lnTo>
                  <a:lnTo>
                    <a:pt x="609" y="3220"/>
                  </a:lnTo>
                  <a:lnTo>
                    <a:pt x="541" y="3155"/>
                  </a:lnTo>
                  <a:lnTo>
                    <a:pt x="475" y="3086"/>
                  </a:lnTo>
                  <a:lnTo>
                    <a:pt x="414" y="3015"/>
                  </a:lnTo>
                  <a:lnTo>
                    <a:pt x="357" y="2941"/>
                  </a:lnTo>
                  <a:lnTo>
                    <a:pt x="304" y="2866"/>
                  </a:lnTo>
                  <a:lnTo>
                    <a:pt x="256" y="2788"/>
                  </a:lnTo>
                  <a:lnTo>
                    <a:pt x="212" y="2709"/>
                  </a:lnTo>
                  <a:lnTo>
                    <a:pt x="172" y="2627"/>
                  </a:lnTo>
                  <a:lnTo>
                    <a:pt x="136" y="2544"/>
                  </a:lnTo>
                  <a:lnTo>
                    <a:pt x="104" y="2460"/>
                  </a:lnTo>
                  <a:lnTo>
                    <a:pt x="76" y="2374"/>
                  </a:lnTo>
                  <a:lnTo>
                    <a:pt x="53" y="2288"/>
                  </a:lnTo>
                  <a:lnTo>
                    <a:pt x="34" y="2201"/>
                  </a:lnTo>
                  <a:lnTo>
                    <a:pt x="19" y="2114"/>
                  </a:lnTo>
                  <a:lnTo>
                    <a:pt x="9" y="2025"/>
                  </a:lnTo>
                  <a:lnTo>
                    <a:pt x="2" y="1937"/>
                  </a:lnTo>
                  <a:lnTo>
                    <a:pt x="0" y="1848"/>
                  </a:lnTo>
                  <a:lnTo>
                    <a:pt x="2" y="1759"/>
                  </a:lnTo>
                  <a:lnTo>
                    <a:pt x="9" y="1670"/>
                  </a:lnTo>
                  <a:lnTo>
                    <a:pt x="19" y="1582"/>
                  </a:lnTo>
                  <a:lnTo>
                    <a:pt x="34" y="1494"/>
                  </a:lnTo>
                  <a:lnTo>
                    <a:pt x="53" y="1407"/>
                  </a:lnTo>
                  <a:lnTo>
                    <a:pt x="76" y="1321"/>
                  </a:lnTo>
                  <a:lnTo>
                    <a:pt x="104" y="1236"/>
                  </a:lnTo>
                  <a:lnTo>
                    <a:pt x="136" y="1151"/>
                  </a:lnTo>
                  <a:lnTo>
                    <a:pt x="171" y="1069"/>
                  </a:lnTo>
                  <a:lnTo>
                    <a:pt x="211" y="988"/>
                  </a:lnTo>
                  <a:lnTo>
                    <a:pt x="255" y="907"/>
                  </a:lnTo>
                  <a:lnTo>
                    <a:pt x="304" y="830"/>
                  </a:lnTo>
                  <a:lnTo>
                    <a:pt x="356" y="754"/>
                  </a:lnTo>
                  <a:lnTo>
                    <a:pt x="414" y="681"/>
                  </a:lnTo>
                  <a:lnTo>
                    <a:pt x="475" y="609"/>
                  </a:lnTo>
                  <a:lnTo>
                    <a:pt x="540" y="540"/>
                  </a:lnTo>
                  <a:lnTo>
                    <a:pt x="609" y="475"/>
                  </a:lnTo>
                  <a:lnTo>
                    <a:pt x="680" y="414"/>
                  </a:lnTo>
                  <a:lnTo>
                    <a:pt x="754" y="356"/>
                  </a:lnTo>
                  <a:lnTo>
                    <a:pt x="830" y="303"/>
                  </a:lnTo>
                  <a:lnTo>
                    <a:pt x="907" y="255"/>
                  </a:lnTo>
                  <a:lnTo>
                    <a:pt x="987" y="211"/>
                  </a:lnTo>
                  <a:lnTo>
                    <a:pt x="1069" y="171"/>
                  </a:lnTo>
                  <a:lnTo>
                    <a:pt x="1151" y="135"/>
                  </a:lnTo>
                  <a:lnTo>
                    <a:pt x="1235" y="104"/>
                  </a:lnTo>
                  <a:lnTo>
                    <a:pt x="1320" y="76"/>
                  </a:lnTo>
                  <a:lnTo>
                    <a:pt x="1407" y="52"/>
                  </a:lnTo>
                  <a:lnTo>
                    <a:pt x="1494" y="33"/>
                  </a:lnTo>
                  <a:lnTo>
                    <a:pt x="1581" y="19"/>
                  </a:lnTo>
                  <a:lnTo>
                    <a:pt x="1669" y="8"/>
                  </a:lnTo>
                  <a:lnTo>
                    <a:pt x="1759" y="2"/>
                  </a:lnTo>
                  <a:lnTo>
                    <a:pt x="1847" y="0"/>
                  </a:lnTo>
                  <a:lnTo>
                    <a:pt x="1936" y="2"/>
                  </a:lnTo>
                  <a:lnTo>
                    <a:pt x="2025" y="8"/>
                  </a:lnTo>
                  <a:lnTo>
                    <a:pt x="2113" y="19"/>
                  </a:lnTo>
                  <a:lnTo>
                    <a:pt x="2201" y="33"/>
                  </a:lnTo>
                  <a:lnTo>
                    <a:pt x="2287" y="52"/>
                  </a:lnTo>
                  <a:lnTo>
                    <a:pt x="2374" y="76"/>
                  </a:lnTo>
                  <a:lnTo>
                    <a:pt x="2459" y="104"/>
                  </a:lnTo>
                  <a:lnTo>
                    <a:pt x="2543" y="135"/>
                  </a:lnTo>
                  <a:lnTo>
                    <a:pt x="2626" y="171"/>
                  </a:lnTo>
                  <a:lnTo>
                    <a:pt x="2708" y="211"/>
                  </a:lnTo>
                  <a:lnTo>
                    <a:pt x="2787" y="255"/>
                  </a:lnTo>
                  <a:lnTo>
                    <a:pt x="2865" y="303"/>
                  </a:lnTo>
                  <a:lnTo>
                    <a:pt x="2940" y="356"/>
                  </a:lnTo>
                  <a:lnTo>
                    <a:pt x="3015" y="413"/>
                  </a:lnTo>
                  <a:lnTo>
                    <a:pt x="3086" y="474"/>
                  </a:lnTo>
                  <a:lnTo>
                    <a:pt x="3154" y="539"/>
                  </a:lnTo>
                  <a:close/>
                </a:path>
              </a:pathLst>
            </a:custGeom>
            <a:grpFill/>
            <a:ln w="9525">
              <a:noFill/>
              <a:round/>
              <a:headEnd/>
              <a:tailEnd/>
            </a:ln>
          </p:spPr>
          <p:txBody>
            <a:bodyPr/>
            <a:lstStyle/>
            <a:p>
              <a:pPr algn="ctr" eaLnBrk="1" fontAlgn="auto" hangingPunct="1">
                <a:spcBef>
                  <a:spcPts val="0"/>
                </a:spcBef>
                <a:spcAft>
                  <a:spcPts val="0"/>
                </a:spcAft>
                <a:defRPr/>
              </a:pPr>
              <a:endParaRPr lang="zh-CN" altLang="en-US" sz="1200" ker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7" name="Freeform 16"/>
            <p:cNvSpPr>
              <a:spLocks noEditPoints="1"/>
            </p:cNvSpPr>
            <p:nvPr/>
          </p:nvSpPr>
          <p:spPr bwMode="gray">
            <a:xfrm>
              <a:off x="7440613" y="4868863"/>
              <a:ext cx="1019175" cy="544513"/>
            </a:xfrm>
            <a:custGeom>
              <a:avLst/>
              <a:gdLst/>
              <a:ahLst/>
              <a:cxnLst>
                <a:cxn ang="0">
                  <a:pos x="16025" y="3351"/>
                </a:cxn>
                <a:cxn ang="0">
                  <a:pos x="14975" y="4351"/>
                </a:cxn>
                <a:cxn ang="0">
                  <a:pos x="14184" y="3632"/>
                </a:cxn>
                <a:cxn ang="0">
                  <a:pos x="12564" y="2563"/>
                </a:cxn>
                <a:cxn ang="0">
                  <a:pos x="10805" y="1850"/>
                </a:cxn>
                <a:cxn ang="0">
                  <a:pos x="8960" y="1494"/>
                </a:cxn>
                <a:cxn ang="0">
                  <a:pos x="7087" y="1494"/>
                </a:cxn>
                <a:cxn ang="0">
                  <a:pos x="5243" y="1851"/>
                </a:cxn>
                <a:cxn ang="0">
                  <a:pos x="3483" y="2564"/>
                </a:cxn>
                <a:cxn ang="0">
                  <a:pos x="1864" y="3634"/>
                </a:cxn>
                <a:cxn ang="0">
                  <a:pos x="1075" y="4353"/>
                </a:cxn>
                <a:cxn ang="0">
                  <a:pos x="24" y="3353"/>
                </a:cxn>
                <a:cxn ang="0">
                  <a:pos x="516" y="2880"/>
                </a:cxn>
                <a:cxn ang="0">
                  <a:pos x="2325" y="1549"/>
                </a:cxn>
                <a:cxn ang="0">
                  <a:pos x="4312" y="627"/>
                </a:cxn>
                <a:cxn ang="0">
                  <a:pos x="6413" y="115"/>
                </a:cxn>
                <a:cxn ang="0">
                  <a:pos x="8562" y="13"/>
                </a:cxn>
                <a:cxn ang="0">
                  <a:pos x="10694" y="319"/>
                </a:cxn>
                <a:cxn ang="0">
                  <a:pos x="12747" y="1036"/>
                </a:cxn>
                <a:cxn ang="0">
                  <a:pos x="14654" y="2160"/>
                </a:cxn>
                <a:cxn ang="0">
                  <a:pos x="14055" y="5373"/>
                </a:cxn>
                <a:cxn ang="0">
                  <a:pos x="12871" y="6404"/>
                </a:cxn>
                <a:cxn ang="0">
                  <a:pos x="12058" y="5702"/>
                </a:cxn>
                <a:cxn ang="0">
                  <a:pos x="10898" y="5017"/>
                </a:cxn>
                <a:cxn ang="0">
                  <a:pos x="9649" y="4582"/>
                </a:cxn>
                <a:cxn ang="0">
                  <a:pos x="8352" y="4395"/>
                </a:cxn>
                <a:cxn ang="0">
                  <a:pos x="7044" y="4457"/>
                </a:cxn>
                <a:cxn ang="0">
                  <a:pos x="5767" y="4769"/>
                </a:cxn>
                <a:cxn ang="0">
                  <a:pos x="4558" y="5329"/>
                </a:cxn>
                <a:cxn ang="0">
                  <a:pos x="3457" y="6139"/>
                </a:cxn>
                <a:cxn ang="0">
                  <a:pos x="3129" y="6456"/>
                </a:cxn>
                <a:cxn ang="0">
                  <a:pos x="2045" y="5322"/>
                </a:cxn>
                <a:cxn ang="0">
                  <a:pos x="2731" y="4697"/>
                </a:cxn>
                <a:cxn ang="0">
                  <a:pos x="4122" y="3779"/>
                </a:cxn>
                <a:cxn ang="0">
                  <a:pos x="5635" y="3166"/>
                </a:cxn>
                <a:cxn ang="0">
                  <a:pos x="7219" y="2859"/>
                </a:cxn>
                <a:cxn ang="0">
                  <a:pos x="8829" y="2859"/>
                </a:cxn>
                <a:cxn ang="0">
                  <a:pos x="10413" y="3165"/>
                </a:cxn>
                <a:cxn ang="0">
                  <a:pos x="11926" y="3777"/>
                </a:cxn>
                <a:cxn ang="0">
                  <a:pos x="13318" y="4696"/>
                </a:cxn>
                <a:cxn ang="0">
                  <a:pos x="14005" y="5321"/>
                </a:cxn>
                <a:cxn ang="0">
                  <a:pos x="10854" y="8576"/>
                </a:cxn>
                <a:cxn ang="0">
                  <a:pos x="10754" y="8472"/>
                </a:cxn>
                <a:cxn ang="0">
                  <a:pos x="10150" y="7980"/>
                </a:cxn>
                <a:cxn ang="0">
                  <a:pos x="9479" y="7627"/>
                </a:cxn>
                <a:cxn ang="0">
                  <a:pos x="8762" y="7416"/>
                </a:cxn>
                <a:cxn ang="0">
                  <a:pos x="8025" y="7345"/>
                </a:cxn>
                <a:cxn ang="0">
                  <a:pos x="7287" y="7416"/>
                </a:cxn>
                <a:cxn ang="0">
                  <a:pos x="6571" y="7627"/>
                </a:cxn>
                <a:cxn ang="0">
                  <a:pos x="5900" y="7980"/>
                </a:cxn>
                <a:cxn ang="0">
                  <a:pos x="5297" y="8473"/>
                </a:cxn>
                <a:cxn ang="0">
                  <a:pos x="5198" y="8576"/>
                </a:cxn>
                <a:cxn ang="0">
                  <a:pos x="4197" y="7425"/>
                </a:cxn>
                <a:cxn ang="0">
                  <a:pos x="4843" y="6865"/>
                </a:cxn>
                <a:cxn ang="0">
                  <a:pos x="5758" y="6325"/>
                </a:cxn>
                <a:cxn ang="0">
                  <a:pos x="6743" y="5981"/>
                </a:cxn>
                <a:cxn ang="0">
                  <a:pos x="7766" y="5833"/>
                </a:cxn>
                <a:cxn ang="0">
                  <a:pos x="8797" y="5882"/>
                </a:cxn>
                <a:cxn ang="0">
                  <a:pos x="9806" y="6127"/>
                </a:cxn>
                <a:cxn ang="0">
                  <a:pos x="10760" y="6570"/>
                </a:cxn>
                <a:cxn ang="0">
                  <a:pos x="11627" y="7208"/>
                </a:cxn>
                <a:cxn ang="0">
                  <a:pos x="11903" y="7475"/>
                </a:cxn>
              </a:cxnLst>
              <a:rect l="0" t="0" r="r" b="b"/>
              <a:pathLst>
                <a:path w="16050" h="8576">
                  <a:moveTo>
                    <a:pt x="15950" y="3273"/>
                  </a:moveTo>
                  <a:lnTo>
                    <a:pt x="15975" y="3299"/>
                  </a:lnTo>
                  <a:lnTo>
                    <a:pt x="16000" y="3324"/>
                  </a:lnTo>
                  <a:lnTo>
                    <a:pt x="16025" y="3351"/>
                  </a:lnTo>
                  <a:lnTo>
                    <a:pt x="16050" y="3377"/>
                  </a:lnTo>
                  <a:lnTo>
                    <a:pt x="15025" y="4402"/>
                  </a:lnTo>
                  <a:lnTo>
                    <a:pt x="15000" y="4377"/>
                  </a:lnTo>
                  <a:lnTo>
                    <a:pt x="14975" y="4351"/>
                  </a:lnTo>
                  <a:lnTo>
                    <a:pt x="14950" y="4325"/>
                  </a:lnTo>
                  <a:lnTo>
                    <a:pt x="14923" y="4300"/>
                  </a:lnTo>
                  <a:lnTo>
                    <a:pt x="14560" y="3955"/>
                  </a:lnTo>
                  <a:lnTo>
                    <a:pt x="14184" y="3632"/>
                  </a:lnTo>
                  <a:lnTo>
                    <a:pt x="13796" y="3330"/>
                  </a:lnTo>
                  <a:lnTo>
                    <a:pt x="13396" y="3053"/>
                  </a:lnTo>
                  <a:lnTo>
                    <a:pt x="12984" y="2797"/>
                  </a:lnTo>
                  <a:lnTo>
                    <a:pt x="12564" y="2563"/>
                  </a:lnTo>
                  <a:lnTo>
                    <a:pt x="12136" y="2351"/>
                  </a:lnTo>
                  <a:lnTo>
                    <a:pt x="11698" y="2161"/>
                  </a:lnTo>
                  <a:lnTo>
                    <a:pt x="11254" y="1995"/>
                  </a:lnTo>
                  <a:lnTo>
                    <a:pt x="10805" y="1850"/>
                  </a:lnTo>
                  <a:lnTo>
                    <a:pt x="10349" y="1728"/>
                  </a:lnTo>
                  <a:lnTo>
                    <a:pt x="9889" y="1628"/>
                  </a:lnTo>
                  <a:lnTo>
                    <a:pt x="9426" y="1549"/>
                  </a:lnTo>
                  <a:lnTo>
                    <a:pt x="8960" y="1494"/>
                  </a:lnTo>
                  <a:lnTo>
                    <a:pt x="8492" y="1461"/>
                  </a:lnTo>
                  <a:lnTo>
                    <a:pt x="8024" y="1450"/>
                  </a:lnTo>
                  <a:lnTo>
                    <a:pt x="7556" y="1461"/>
                  </a:lnTo>
                  <a:lnTo>
                    <a:pt x="7087" y="1494"/>
                  </a:lnTo>
                  <a:lnTo>
                    <a:pt x="6622" y="1550"/>
                  </a:lnTo>
                  <a:lnTo>
                    <a:pt x="6158" y="1629"/>
                  </a:lnTo>
                  <a:lnTo>
                    <a:pt x="5699" y="1729"/>
                  </a:lnTo>
                  <a:lnTo>
                    <a:pt x="5243" y="1851"/>
                  </a:lnTo>
                  <a:lnTo>
                    <a:pt x="4793" y="1996"/>
                  </a:lnTo>
                  <a:lnTo>
                    <a:pt x="4350" y="2163"/>
                  </a:lnTo>
                  <a:lnTo>
                    <a:pt x="3912" y="2352"/>
                  </a:lnTo>
                  <a:lnTo>
                    <a:pt x="3483" y="2564"/>
                  </a:lnTo>
                  <a:lnTo>
                    <a:pt x="3064" y="2799"/>
                  </a:lnTo>
                  <a:lnTo>
                    <a:pt x="2652" y="3055"/>
                  </a:lnTo>
                  <a:lnTo>
                    <a:pt x="2253" y="3332"/>
                  </a:lnTo>
                  <a:lnTo>
                    <a:pt x="1864" y="3634"/>
                  </a:lnTo>
                  <a:lnTo>
                    <a:pt x="1488" y="3957"/>
                  </a:lnTo>
                  <a:lnTo>
                    <a:pt x="1125" y="4302"/>
                  </a:lnTo>
                  <a:lnTo>
                    <a:pt x="1099" y="4327"/>
                  </a:lnTo>
                  <a:lnTo>
                    <a:pt x="1075" y="4353"/>
                  </a:lnTo>
                  <a:lnTo>
                    <a:pt x="1050" y="4378"/>
                  </a:lnTo>
                  <a:lnTo>
                    <a:pt x="1025" y="4404"/>
                  </a:lnTo>
                  <a:lnTo>
                    <a:pt x="0" y="3378"/>
                  </a:lnTo>
                  <a:lnTo>
                    <a:pt x="24" y="3353"/>
                  </a:lnTo>
                  <a:lnTo>
                    <a:pt x="49" y="3326"/>
                  </a:lnTo>
                  <a:lnTo>
                    <a:pt x="74" y="3301"/>
                  </a:lnTo>
                  <a:lnTo>
                    <a:pt x="99" y="3276"/>
                  </a:lnTo>
                  <a:lnTo>
                    <a:pt x="516" y="2880"/>
                  </a:lnTo>
                  <a:lnTo>
                    <a:pt x="948" y="2509"/>
                  </a:lnTo>
                  <a:lnTo>
                    <a:pt x="1394" y="2162"/>
                  </a:lnTo>
                  <a:lnTo>
                    <a:pt x="1854" y="1843"/>
                  </a:lnTo>
                  <a:lnTo>
                    <a:pt x="2325" y="1549"/>
                  </a:lnTo>
                  <a:lnTo>
                    <a:pt x="2808" y="1280"/>
                  </a:lnTo>
                  <a:lnTo>
                    <a:pt x="3301" y="1037"/>
                  </a:lnTo>
                  <a:lnTo>
                    <a:pt x="3803" y="820"/>
                  </a:lnTo>
                  <a:lnTo>
                    <a:pt x="4312" y="627"/>
                  </a:lnTo>
                  <a:lnTo>
                    <a:pt x="4830" y="461"/>
                  </a:lnTo>
                  <a:lnTo>
                    <a:pt x="5353" y="320"/>
                  </a:lnTo>
                  <a:lnTo>
                    <a:pt x="5881" y="205"/>
                  </a:lnTo>
                  <a:lnTo>
                    <a:pt x="6413" y="115"/>
                  </a:lnTo>
                  <a:lnTo>
                    <a:pt x="6949" y="51"/>
                  </a:lnTo>
                  <a:lnTo>
                    <a:pt x="7485" y="13"/>
                  </a:lnTo>
                  <a:lnTo>
                    <a:pt x="8024" y="0"/>
                  </a:lnTo>
                  <a:lnTo>
                    <a:pt x="8562" y="13"/>
                  </a:lnTo>
                  <a:lnTo>
                    <a:pt x="9099" y="51"/>
                  </a:lnTo>
                  <a:lnTo>
                    <a:pt x="9634" y="115"/>
                  </a:lnTo>
                  <a:lnTo>
                    <a:pt x="10167" y="205"/>
                  </a:lnTo>
                  <a:lnTo>
                    <a:pt x="10694" y="319"/>
                  </a:lnTo>
                  <a:lnTo>
                    <a:pt x="11218" y="460"/>
                  </a:lnTo>
                  <a:lnTo>
                    <a:pt x="11735" y="626"/>
                  </a:lnTo>
                  <a:lnTo>
                    <a:pt x="12245" y="818"/>
                  </a:lnTo>
                  <a:lnTo>
                    <a:pt x="12747" y="1036"/>
                  </a:lnTo>
                  <a:lnTo>
                    <a:pt x="13239" y="1278"/>
                  </a:lnTo>
                  <a:lnTo>
                    <a:pt x="13722" y="1547"/>
                  </a:lnTo>
                  <a:lnTo>
                    <a:pt x="14194" y="1841"/>
                  </a:lnTo>
                  <a:lnTo>
                    <a:pt x="14654" y="2160"/>
                  </a:lnTo>
                  <a:lnTo>
                    <a:pt x="15100" y="2506"/>
                  </a:lnTo>
                  <a:lnTo>
                    <a:pt x="15532" y="2877"/>
                  </a:lnTo>
                  <a:lnTo>
                    <a:pt x="15950" y="3273"/>
                  </a:lnTo>
                  <a:close/>
                  <a:moveTo>
                    <a:pt x="14055" y="5373"/>
                  </a:moveTo>
                  <a:lnTo>
                    <a:pt x="12946" y="6481"/>
                  </a:lnTo>
                  <a:lnTo>
                    <a:pt x="12921" y="6456"/>
                  </a:lnTo>
                  <a:lnTo>
                    <a:pt x="12897" y="6430"/>
                  </a:lnTo>
                  <a:lnTo>
                    <a:pt x="12871" y="6404"/>
                  </a:lnTo>
                  <a:lnTo>
                    <a:pt x="12846" y="6379"/>
                  </a:lnTo>
                  <a:lnTo>
                    <a:pt x="12592" y="6137"/>
                  </a:lnTo>
                  <a:lnTo>
                    <a:pt x="12329" y="5912"/>
                  </a:lnTo>
                  <a:lnTo>
                    <a:pt x="12058" y="5702"/>
                  </a:lnTo>
                  <a:lnTo>
                    <a:pt x="11778" y="5507"/>
                  </a:lnTo>
                  <a:lnTo>
                    <a:pt x="11491" y="5328"/>
                  </a:lnTo>
                  <a:lnTo>
                    <a:pt x="11198" y="5165"/>
                  </a:lnTo>
                  <a:lnTo>
                    <a:pt x="10898" y="5017"/>
                  </a:lnTo>
                  <a:lnTo>
                    <a:pt x="10592" y="4885"/>
                  </a:lnTo>
                  <a:lnTo>
                    <a:pt x="10282" y="4768"/>
                  </a:lnTo>
                  <a:lnTo>
                    <a:pt x="9967" y="4667"/>
                  </a:lnTo>
                  <a:lnTo>
                    <a:pt x="9649" y="4582"/>
                  </a:lnTo>
                  <a:lnTo>
                    <a:pt x="9328" y="4512"/>
                  </a:lnTo>
                  <a:lnTo>
                    <a:pt x="9004" y="4457"/>
                  </a:lnTo>
                  <a:lnTo>
                    <a:pt x="8679" y="4418"/>
                  </a:lnTo>
                  <a:lnTo>
                    <a:pt x="8352" y="4395"/>
                  </a:lnTo>
                  <a:lnTo>
                    <a:pt x="8024" y="4387"/>
                  </a:lnTo>
                  <a:lnTo>
                    <a:pt x="7697" y="4395"/>
                  </a:lnTo>
                  <a:lnTo>
                    <a:pt x="7370" y="4418"/>
                  </a:lnTo>
                  <a:lnTo>
                    <a:pt x="7044" y="4457"/>
                  </a:lnTo>
                  <a:lnTo>
                    <a:pt x="6721" y="4512"/>
                  </a:lnTo>
                  <a:lnTo>
                    <a:pt x="6399" y="4582"/>
                  </a:lnTo>
                  <a:lnTo>
                    <a:pt x="6081" y="4668"/>
                  </a:lnTo>
                  <a:lnTo>
                    <a:pt x="5767" y="4769"/>
                  </a:lnTo>
                  <a:lnTo>
                    <a:pt x="5457" y="4886"/>
                  </a:lnTo>
                  <a:lnTo>
                    <a:pt x="5151" y="5018"/>
                  </a:lnTo>
                  <a:lnTo>
                    <a:pt x="4851" y="5166"/>
                  </a:lnTo>
                  <a:lnTo>
                    <a:pt x="4558" y="5329"/>
                  </a:lnTo>
                  <a:lnTo>
                    <a:pt x="4271" y="5509"/>
                  </a:lnTo>
                  <a:lnTo>
                    <a:pt x="3991" y="5703"/>
                  </a:lnTo>
                  <a:lnTo>
                    <a:pt x="3720" y="5913"/>
                  </a:lnTo>
                  <a:lnTo>
                    <a:pt x="3457" y="6139"/>
                  </a:lnTo>
                  <a:lnTo>
                    <a:pt x="3203" y="6380"/>
                  </a:lnTo>
                  <a:lnTo>
                    <a:pt x="3178" y="6406"/>
                  </a:lnTo>
                  <a:lnTo>
                    <a:pt x="3154" y="6431"/>
                  </a:lnTo>
                  <a:lnTo>
                    <a:pt x="3129" y="6456"/>
                  </a:lnTo>
                  <a:lnTo>
                    <a:pt x="3104" y="6482"/>
                  </a:lnTo>
                  <a:lnTo>
                    <a:pt x="1996" y="5374"/>
                  </a:lnTo>
                  <a:lnTo>
                    <a:pt x="2020" y="5348"/>
                  </a:lnTo>
                  <a:lnTo>
                    <a:pt x="2045" y="5322"/>
                  </a:lnTo>
                  <a:lnTo>
                    <a:pt x="2069" y="5297"/>
                  </a:lnTo>
                  <a:lnTo>
                    <a:pt x="2095" y="5272"/>
                  </a:lnTo>
                  <a:lnTo>
                    <a:pt x="2406" y="4975"/>
                  </a:lnTo>
                  <a:lnTo>
                    <a:pt x="2731" y="4697"/>
                  </a:lnTo>
                  <a:lnTo>
                    <a:pt x="3065" y="4439"/>
                  </a:lnTo>
                  <a:lnTo>
                    <a:pt x="3408" y="4199"/>
                  </a:lnTo>
                  <a:lnTo>
                    <a:pt x="3761" y="3980"/>
                  </a:lnTo>
                  <a:lnTo>
                    <a:pt x="4122" y="3779"/>
                  </a:lnTo>
                  <a:lnTo>
                    <a:pt x="4491" y="3596"/>
                  </a:lnTo>
                  <a:lnTo>
                    <a:pt x="4866" y="3434"/>
                  </a:lnTo>
                  <a:lnTo>
                    <a:pt x="5247" y="3290"/>
                  </a:lnTo>
                  <a:lnTo>
                    <a:pt x="5635" y="3166"/>
                  </a:lnTo>
                  <a:lnTo>
                    <a:pt x="6026" y="3061"/>
                  </a:lnTo>
                  <a:lnTo>
                    <a:pt x="6421" y="2974"/>
                  </a:lnTo>
                  <a:lnTo>
                    <a:pt x="6819" y="2907"/>
                  </a:lnTo>
                  <a:lnTo>
                    <a:pt x="7219" y="2859"/>
                  </a:lnTo>
                  <a:lnTo>
                    <a:pt x="7622" y="2831"/>
                  </a:lnTo>
                  <a:lnTo>
                    <a:pt x="8024" y="2821"/>
                  </a:lnTo>
                  <a:lnTo>
                    <a:pt x="8427" y="2831"/>
                  </a:lnTo>
                  <a:lnTo>
                    <a:pt x="8829" y="2859"/>
                  </a:lnTo>
                  <a:lnTo>
                    <a:pt x="9229" y="2907"/>
                  </a:lnTo>
                  <a:lnTo>
                    <a:pt x="9627" y="2973"/>
                  </a:lnTo>
                  <a:lnTo>
                    <a:pt x="10022" y="3060"/>
                  </a:lnTo>
                  <a:lnTo>
                    <a:pt x="10413" y="3165"/>
                  </a:lnTo>
                  <a:lnTo>
                    <a:pt x="10801" y="3289"/>
                  </a:lnTo>
                  <a:lnTo>
                    <a:pt x="11182" y="3433"/>
                  </a:lnTo>
                  <a:lnTo>
                    <a:pt x="11558" y="3595"/>
                  </a:lnTo>
                  <a:lnTo>
                    <a:pt x="11926" y="3777"/>
                  </a:lnTo>
                  <a:lnTo>
                    <a:pt x="12287" y="3978"/>
                  </a:lnTo>
                  <a:lnTo>
                    <a:pt x="12640" y="4198"/>
                  </a:lnTo>
                  <a:lnTo>
                    <a:pt x="12984" y="4437"/>
                  </a:lnTo>
                  <a:lnTo>
                    <a:pt x="13318" y="4696"/>
                  </a:lnTo>
                  <a:lnTo>
                    <a:pt x="13641" y="4973"/>
                  </a:lnTo>
                  <a:lnTo>
                    <a:pt x="13954" y="5270"/>
                  </a:lnTo>
                  <a:lnTo>
                    <a:pt x="13980" y="5295"/>
                  </a:lnTo>
                  <a:lnTo>
                    <a:pt x="14005" y="5321"/>
                  </a:lnTo>
                  <a:lnTo>
                    <a:pt x="14030" y="5347"/>
                  </a:lnTo>
                  <a:lnTo>
                    <a:pt x="14055" y="5373"/>
                  </a:lnTo>
                  <a:close/>
                  <a:moveTo>
                    <a:pt x="11928" y="7501"/>
                  </a:moveTo>
                  <a:lnTo>
                    <a:pt x="10854" y="8576"/>
                  </a:lnTo>
                  <a:lnTo>
                    <a:pt x="10829" y="8549"/>
                  </a:lnTo>
                  <a:lnTo>
                    <a:pt x="10805" y="8523"/>
                  </a:lnTo>
                  <a:lnTo>
                    <a:pt x="10780" y="8498"/>
                  </a:lnTo>
                  <a:lnTo>
                    <a:pt x="10754" y="8472"/>
                  </a:lnTo>
                  <a:lnTo>
                    <a:pt x="10610" y="8336"/>
                  </a:lnTo>
                  <a:lnTo>
                    <a:pt x="10462" y="8208"/>
                  </a:lnTo>
                  <a:lnTo>
                    <a:pt x="10307" y="8089"/>
                  </a:lnTo>
                  <a:lnTo>
                    <a:pt x="10150" y="7980"/>
                  </a:lnTo>
                  <a:lnTo>
                    <a:pt x="9987" y="7878"/>
                  </a:lnTo>
                  <a:lnTo>
                    <a:pt x="9821" y="7785"/>
                  </a:lnTo>
                  <a:lnTo>
                    <a:pt x="9651" y="7702"/>
                  </a:lnTo>
                  <a:lnTo>
                    <a:pt x="9479" y="7627"/>
                  </a:lnTo>
                  <a:lnTo>
                    <a:pt x="9303" y="7561"/>
                  </a:lnTo>
                  <a:lnTo>
                    <a:pt x="9124" y="7504"/>
                  </a:lnTo>
                  <a:lnTo>
                    <a:pt x="8945" y="7456"/>
                  </a:lnTo>
                  <a:lnTo>
                    <a:pt x="8762" y="7416"/>
                  </a:lnTo>
                  <a:lnTo>
                    <a:pt x="8580" y="7384"/>
                  </a:lnTo>
                  <a:lnTo>
                    <a:pt x="8395" y="7362"/>
                  </a:lnTo>
                  <a:lnTo>
                    <a:pt x="8210" y="7349"/>
                  </a:lnTo>
                  <a:lnTo>
                    <a:pt x="8025" y="7345"/>
                  </a:lnTo>
                  <a:lnTo>
                    <a:pt x="7839" y="7349"/>
                  </a:lnTo>
                  <a:lnTo>
                    <a:pt x="7655" y="7363"/>
                  </a:lnTo>
                  <a:lnTo>
                    <a:pt x="7470" y="7385"/>
                  </a:lnTo>
                  <a:lnTo>
                    <a:pt x="7287" y="7416"/>
                  </a:lnTo>
                  <a:lnTo>
                    <a:pt x="7105" y="7456"/>
                  </a:lnTo>
                  <a:lnTo>
                    <a:pt x="6926" y="7504"/>
                  </a:lnTo>
                  <a:lnTo>
                    <a:pt x="6747" y="7561"/>
                  </a:lnTo>
                  <a:lnTo>
                    <a:pt x="6571" y="7627"/>
                  </a:lnTo>
                  <a:lnTo>
                    <a:pt x="6399" y="7703"/>
                  </a:lnTo>
                  <a:lnTo>
                    <a:pt x="6229" y="7786"/>
                  </a:lnTo>
                  <a:lnTo>
                    <a:pt x="6063" y="7878"/>
                  </a:lnTo>
                  <a:lnTo>
                    <a:pt x="5900" y="7980"/>
                  </a:lnTo>
                  <a:lnTo>
                    <a:pt x="5742" y="8090"/>
                  </a:lnTo>
                  <a:lnTo>
                    <a:pt x="5588" y="8209"/>
                  </a:lnTo>
                  <a:lnTo>
                    <a:pt x="5440" y="8337"/>
                  </a:lnTo>
                  <a:lnTo>
                    <a:pt x="5297" y="8473"/>
                  </a:lnTo>
                  <a:lnTo>
                    <a:pt x="5271" y="8498"/>
                  </a:lnTo>
                  <a:lnTo>
                    <a:pt x="5246" y="8524"/>
                  </a:lnTo>
                  <a:lnTo>
                    <a:pt x="5222" y="8550"/>
                  </a:lnTo>
                  <a:lnTo>
                    <a:pt x="5198" y="8576"/>
                  </a:lnTo>
                  <a:lnTo>
                    <a:pt x="4123" y="7501"/>
                  </a:lnTo>
                  <a:lnTo>
                    <a:pt x="4147" y="7476"/>
                  </a:lnTo>
                  <a:lnTo>
                    <a:pt x="4172" y="7450"/>
                  </a:lnTo>
                  <a:lnTo>
                    <a:pt x="4197" y="7425"/>
                  </a:lnTo>
                  <a:lnTo>
                    <a:pt x="4222" y="7399"/>
                  </a:lnTo>
                  <a:lnTo>
                    <a:pt x="4422" y="7209"/>
                  </a:lnTo>
                  <a:lnTo>
                    <a:pt x="4629" y="7030"/>
                  </a:lnTo>
                  <a:lnTo>
                    <a:pt x="4843" y="6865"/>
                  </a:lnTo>
                  <a:lnTo>
                    <a:pt x="5064" y="6711"/>
                  </a:lnTo>
                  <a:lnTo>
                    <a:pt x="5290" y="6571"/>
                  </a:lnTo>
                  <a:lnTo>
                    <a:pt x="5522" y="6441"/>
                  </a:lnTo>
                  <a:lnTo>
                    <a:pt x="5758" y="6325"/>
                  </a:lnTo>
                  <a:lnTo>
                    <a:pt x="6000" y="6220"/>
                  </a:lnTo>
                  <a:lnTo>
                    <a:pt x="6243" y="6128"/>
                  </a:lnTo>
                  <a:lnTo>
                    <a:pt x="6492" y="6048"/>
                  </a:lnTo>
                  <a:lnTo>
                    <a:pt x="6743" y="5981"/>
                  </a:lnTo>
                  <a:lnTo>
                    <a:pt x="6997" y="5925"/>
                  </a:lnTo>
                  <a:lnTo>
                    <a:pt x="7252" y="5882"/>
                  </a:lnTo>
                  <a:lnTo>
                    <a:pt x="7508" y="5851"/>
                  </a:lnTo>
                  <a:lnTo>
                    <a:pt x="7766" y="5833"/>
                  </a:lnTo>
                  <a:lnTo>
                    <a:pt x="8025" y="5827"/>
                  </a:lnTo>
                  <a:lnTo>
                    <a:pt x="8283" y="5833"/>
                  </a:lnTo>
                  <a:lnTo>
                    <a:pt x="8541" y="5851"/>
                  </a:lnTo>
                  <a:lnTo>
                    <a:pt x="8797" y="5882"/>
                  </a:lnTo>
                  <a:lnTo>
                    <a:pt x="9053" y="5925"/>
                  </a:lnTo>
                  <a:lnTo>
                    <a:pt x="9306" y="5981"/>
                  </a:lnTo>
                  <a:lnTo>
                    <a:pt x="9557" y="6048"/>
                  </a:lnTo>
                  <a:lnTo>
                    <a:pt x="9806" y="6127"/>
                  </a:lnTo>
                  <a:lnTo>
                    <a:pt x="10050" y="6219"/>
                  </a:lnTo>
                  <a:lnTo>
                    <a:pt x="10291" y="6324"/>
                  </a:lnTo>
                  <a:lnTo>
                    <a:pt x="10528" y="6440"/>
                  </a:lnTo>
                  <a:lnTo>
                    <a:pt x="10760" y="6570"/>
                  </a:lnTo>
                  <a:lnTo>
                    <a:pt x="10985" y="6710"/>
                  </a:lnTo>
                  <a:lnTo>
                    <a:pt x="11206" y="6864"/>
                  </a:lnTo>
                  <a:lnTo>
                    <a:pt x="11421" y="7029"/>
                  </a:lnTo>
                  <a:lnTo>
                    <a:pt x="11627" y="7208"/>
                  </a:lnTo>
                  <a:lnTo>
                    <a:pt x="11828" y="7398"/>
                  </a:lnTo>
                  <a:lnTo>
                    <a:pt x="11853" y="7424"/>
                  </a:lnTo>
                  <a:lnTo>
                    <a:pt x="11878" y="7449"/>
                  </a:lnTo>
                  <a:lnTo>
                    <a:pt x="11903" y="7475"/>
                  </a:lnTo>
                  <a:lnTo>
                    <a:pt x="11928" y="7501"/>
                  </a:lnTo>
                  <a:close/>
                </a:path>
              </a:pathLst>
            </a:custGeom>
            <a:grpFill/>
            <a:ln w="9525">
              <a:noFill/>
              <a:round/>
              <a:headEnd/>
              <a:tailEnd/>
            </a:ln>
          </p:spPr>
          <p:txBody>
            <a:bodyPr/>
            <a:lstStyle/>
            <a:p>
              <a:pPr algn="ctr" eaLnBrk="1" fontAlgn="auto" hangingPunct="1">
                <a:spcBef>
                  <a:spcPts val="0"/>
                </a:spcBef>
                <a:spcAft>
                  <a:spcPts val="0"/>
                </a:spcAft>
                <a:defRPr/>
              </a:pPr>
              <a:endParaRPr lang="zh-CN" altLang="en-US" sz="1200" ker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91" name="文本框 90"/>
          <p:cNvSpPr txBox="1"/>
          <p:nvPr/>
        </p:nvSpPr>
        <p:spPr bwMode="gray">
          <a:xfrm>
            <a:off x="603740" y="5058157"/>
            <a:ext cx="631904" cy="276999"/>
          </a:xfrm>
          <a:prstGeom prst="rect">
            <a:avLst/>
          </a:prstGeom>
          <a:noFill/>
        </p:spPr>
        <p:txBody>
          <a:bodyPr wrap="none" rtlCol="0">
            <a:spAutoFit/>
          </a:bodyPr>
          <a:lstStyle/>
          <a:p>
            <a:pPr algn="r"/>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ACC_1</a:t>
            </a:r>
          </a:p>
        </p:txBody>
      </p:sp>
      <p:sp>
        <p:nvSpPr>
          <p:cNvPr id="103" name="文本框 102"/>
          <p:cNvSpPr txBox="1"/>
          <p:nvPr/>
        </p:nvSpPr>
        <p:spPr bwMode="gray">
          <a:xfrm>
            <a:off x="2490372" y="5058157"/>
            <a:ext cx="631904" cy="276999"/>
          </a:xfrm>
          <a:prstGeom prst="rect">
            <a:avLst/>
          </a:prstGeom>
          <a:noFill/>
        </p:spPr>
        <p:txBody>
          <a:bodyPr wrap="none" rtlCol="0">
            <a:spAutoFit/>
          </a:bodyPr>
          <a:lstStyle/>
          <a:p>
            <a:pPr algn="r"/>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ACC_2</a:t>
            </a:r>
          </a:p>
        </p:txBody>
      </p:sp>
    </p:spTree>
    <p:extLst>
      <p:ext uri="{BB962C8B-B14F-4D97-AF65-F5344CB8AC3E}">
        <p14:creationId xmlns:p14="http://schemas.microsoft.com/office/powerpoint/2010/main" val="454452484"/>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normAutofit/>
          </a:bodyPr>
          <a:lstStyle/>
          <a:p>
            <a:r>
              <a:rPr lang="zh-CN" altLang="en-US" dirty="0"/>
              <a:t>虚拟化园区网络实验</a:t>
            </a:r>
            <a:r>
              <a:rPr lang="zh-CN" altLang="en-US" dirty="0" smtClean="0"/>
              <a:t>：安全组及策略控制矩阵</a:t>
            </a:r>
            <a:endParaRPr lang="zh-CN" altLang="en-US" dirty="0"/>
          </a:p>
        </p:txBody>
      </p:sp>
      <p:sp>
        <p:nvSpPr>
          <p:cNvPr id="124" name="矩形 123"/>
          <p:cNvSpPr/>
          <p:nvPr/>
        </p:nvSpPr>
        <p:spPr bwMode="gray">
          <a:xfrm>
            <a:off x="6096000" y="1027551"/>
            <a:ext cx="5366561" cy="2707846"/>
          </a:xfrm>
          <a:prstGeom prst="rect">
            <a:avLst/>
          </a:prstGeom>
        </p:spPr>
        <p:txBody>
          <a:bodyPr wrap="square">
            <a:noAutofit/>
          </a:bodyPr>
          <a:lstStyle/>
          <a:p>
            <a:pPr marL="228600" indent="-228600" algn="just" defTabSz="1218844" hangingPunct="0">
              <a:lnSpc>
                <a:spcPct val="140000"/>
              </a:lnSpc>
              <a:spcAft>
                <a:spcPts val="600"/>
              </a:spcAft>
              <a:buSzPct val="60000"/>
              <a:buFont typeface="Wingdings" panose="05000000000000000000" pitchFamily="2" charset="2"/>
              <a:buChar char="l"/>
              <a:defRPr/>
            </a:pPr>
            <a:r>
              <a:rPr lang="zh-CN" altLang="en-US" sz="1400" b="1"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安全组：</a:t>
            </a:r>
            <a:r>
              <a:rPr lang="zh-CN" altLang="en-US" sz="140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定义</a:t>
            </a:r>
            <a:r>
              <a:rPr lang="en-US" altLang="zh-CN" sz="140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5</a:t>
            </a:r>
            <a:r>
              <a:rPr lang="zh-CN" altLang="en-US" sz="140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个安全组，表示不同的终端用户。</a:t>
            </a:r>
            <a:endParaRPr lang="zh-CN" altLang="en-US" sz="14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a:p>
            <a:pPr marL="360000" indent="-180000" algn="just" defTabSz="1218844" hangingPunct="0">
              <a:lnSpc>
                <a:spcPct val="140000"/>
              </a:lnSpc>
              <a:spcAft>
                <a:spcPts val="600"/>
              </a:spcAft>
              <a:buSzPct val="100000"/>
              <a:buFont typeface="Huawei Sans" panose="020C0503030203020204" pitchFamily="34" charset="0"/>
              <a:buChar char="▫"/>
              <a:defRPr/>
            </a:pPr>
            <a:r>
              <a:rPr lang="zh-CN" altLang="en-US" sz="14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销售</a:t>
            </a:r>
            <a:r>
              <a:rPr lang="zh-CN" altLang="en-US" sz="140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安全组（</a:t>
            </a:r>
            <a:r>
              <a:rPr lang="en-US" altLang="zh-CN" sz="1400" dirty="0" err="1">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Sales_Wired</a:t>
            </a:r>
            <a:r>
              <a:rPr lang="zh-CN" altLang="en-US" sz="14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dirty="0" err="1">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Sales_Wireless</a:t>
            </a:r>
            <a:r>
              <a:rPr lang="zh-CN" altLang="en-US" sz="140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），是销售人员通过</a:t>
            </a:r>
            <a:r>
              <a:rPr lang="en-US" altLang="zh-CN" sz="140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802.1X</a:t>
            </a:r>
            <a:r>
              <a:rPr lang="zh-CN" altLang="en-US" sz="140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或</a:t>
            </a:r>
            <a:r>
              <a:rPr lang="en-US" altLang="zh-CN" sz="140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Portal</a:t>
            </a:r>
            <a:r>
              <a:rPr lang="zh-CN" altLang="en-US" sz="140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认证后，被授权的安全组。</a:t>
            </a:r>
            <a:endParaRPr lang="en-US" altLang="zh-CN" sz="140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a:p>
            <a:pPr marL="360000" indent="-180000" algn="just" defTabSz="1218844" hangingPunct="0">
              <a:lnSpc>
                <a:spcPct val="140000"/>
              </a:lnSpc>
              <a:spcAft>
                <a:spcPts val="600"/>
              </a:spcAft>
              <a:buSzPct val="100000"/>
              <a:buFont typeface="Huawei Sans" panose="020C0503030203020204" pitchFamily="34" charset="0"/>
              <a:buChar char="▫"/>
              <a:defRPr/>
            </a:pPr>
            <a:r>
              <a:rPr lang="zh-CN" altLang="en-US" sz="14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市场</a:t>
            </a:r>
            <a:r>
              <a:rPr lang="zh-CN" altLang="en-US" sz="140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安全</a:t>
            </a:r>
            <a:r>
              <a:rPr lang="zh-CN" altLang="en-US" sz="14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组</a:t>
            </a:r>
            <a:r>
              <a:rPr lang="zh-CN" altLang="en-US" sz="140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dirty="0" err="1">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Market_Wired</a:t>
            </a:r>
            <a:r>
              <a:rPr lang="zh-CN" altLang="en-US" sz="14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dirty="0" err="1">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Market_Wireless</a:t>
            </a:r>
            <a:r>
              <a:rPr lang="zh-CN" altLang="en-US" sz="140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），是市场人员通过</a:t>
            </a:r>
            <a:r>
              <a:rPr lang="en-US" altLang="zh-CN" sz="140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802.1X</a:t>
            </a:r>
            <a:r>
              <a:rPr lang="zh-CN" altLang="en-US" sz="140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或</a:t>
            </a:r>
            <a:r>
              <a:rPr lang="en-US" altLang="zh-CN" sz="140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Portal</a:t>
            </a:r>
            <a:r>
              <a:rPr lang="zh-CN" altLang="en-US" sz="140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认证</a:t>
            </a:r>
            <a:r>
              <a:rPr lang="zh-CN" altLang="en-US" sz="14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后，被授权的安全组</a:t>
            </a:r>
            <a:r>
              <a:rPr lang="zh-CN" altLang="en-US" sz="140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40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a:p>
            <a:pPr marL="360000" indent="-180000" algn="just" defTabSz="1218844" hangingPunct="0">
              <a:lnSpc>
                <a:spcPct val="140000"/>
              </a:lnSpc>
              <a:spcAft>
                <a:spcPts val="600"/>
              </a:spcAft>
              <a:buSzPct val="100000"/>
              <a:buFont typeface="Huawei Sans" panose="020C0503030203020204" pitchFamily="34" charset="0"/>
              <a:buChar char="▫"/>
              <a:defRPr/>
            </a:pPr>
            <a:r>
              <a:rPr lang="zh-CN" altLang="en-US" sz="14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研发</a:t>
            </a:r>
            <a:r>
              <a:rPr lang="zh-CN" altLang="en-US" sz="140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安全</a:t>
            </a:r>
            <a:r>
              <a:rPr lang="zh-CN" altLang="en-US" sz="14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组</a:t>
            </a:r>
            <a:r>
              <a:rPr lang="zh-CN" altLang="en-US" sz="140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RD</a:t>
            </a:r>
            <a:r>
              <a:rPr lang="zh-CN" altLang="en-US" sz="140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），是研发人员通过</a:t>
            </a:r>
            <a:r>
              <a:rPr lang="en-US" altLang="zh-CN" sz="14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802.1X</a:t>
            </a:r>
            <a:r>
              <a:rPr lang="zh-CN" altLang="en-US" sz="14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认证后，被授权的安全组</a:t>
            </a:r>
            <a:r>
              <a:rPr lang="zh-CN" altLang="en-US" sz="140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40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a:p>
            <a:pPr marL="228600" indent="-228600" algn="just" defTabSz="1218844" hangingPunct="0">
              <a:lnSpc>
                <a:spcPct val="140000"/>
              </a:lnSpc>
              <a:spcAft>
                <a:spcPts val="600"/>
              </a:spcAft>
              <a:buSzPct val="60000"/>
              <a:buFont typeface="Wingdings" panose="05000000000000000000" pitchFamily="2" charset="2"/>
              <a:buChar char="l"/>
              <a:defRPr/>
            </a:pPr>
            <a:r>
              <a:rPr lang="zh-CN" altLang="en-US" sz="1400" b="1"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资源组：</a:t>
            </a:r>
            <a:r>
              <a:rPr lang="zh-CN" altLang="en-US" sz="140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定义</a:t>
            </a:r>
            <a:r>
              <a:rPr lang="en-US" altLang="zh-CN" sz="140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1</a:t>
            </a:r>
            <a:r>
              <a:rPr lang="zh-CN" altLang="en-US" sz="140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个资源组</a:t>
            </a:r>
            <a:r>
              <a:rPr lang="zh-CN" altLang="en-US" sz="14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a:t>
            </a:r>
            <a:r>
              <a:rPr lang="zh-CN" altLang="en-US" sz="140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表示</a:t>
            </a:r>
            <a:r>
              <a:rPr lang="en-US" altLang="zh-CN" sz="1400" dirty="0" err="1"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E_mail</a:t>
            </a:r>
            <a:r>
              <a:rPr lang="zh-CN" altLang="en-US" sz="140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服务器。</a:t>
            </a:r>
            <a:endParaRPr lang="zh-CN" altLang="en-US" sz="14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1" name="圆角矩形 60"/>
          <p:cNvSpPr/>
          <p:nvPr/>
        </p:nvSpPr>
        <p:spPr bwMode="gray">
          <a:xfrm>
            <a:off x="455613" y="1027550"/>
            <a:ext cx="5223356" cy="1816453"/>
          </a:xfrm>
          <a:prstGeom prst="roundRect">
            <a:avLst>
              <a:gd name="adj" fmla="val 3166"/>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65" name="梯形 64"/>
          <p:cNvSpPr/>
          <p:nvPr/>
        </p:nvSpPr>
        <p:spPr bwMode="gray">
          <a:xfrm>
            <a:off x="4115338" y="2169103"/>
            <a:ext cx="1439730" cy="501291"/>
          </a:xfrm>
          <a:prstGeom prst="trapezoid">
            <a:avLst>
              <a:gd name="adj" fmla="val 22961"/>
            </a:avLst>
          </a:prstGeom>
          <a:gradFill flip="none" rotWithShape="1">
            <a:gsLst>
              <a:gs pos="0">
                <a:schemeClr val="bg1">
                  <a:alpha val="4000"/>
                </a:schemeClr>
              </a:gs>
              <a:gs pos="100000">
                <a:schemeClr val="accent2">
                  <a:lumMod val="20000"/>
                  <a:lumOff val="80000"/>
                </a:schemeClr>
              </a:gs>
            </a:gsLst>
            <a:lin ang="5400000" scaled="1"/>
            <a:tileRect/>
          </a:gradFill>
          <a:ln>
            <a:gradFill flip="none" rotWithShape="1">
              <a:gsLst>
                <a:gs pos="0">
                  <a:schemeClr val="accent1">
                    <a:lumMod val="5000"/>
                    <a:lumOff val="95000"/>
                    <a:alpha val="0"/>
                  </a:schemeClr>
                </a:gs>
                <a:gs pos="82000">
                  <a:schemeClr val="accent2">
                    <a:lumMod val="60000"/>
                    <a:lumOff val="40000"/>
                  </a:schemeClr>
                </a:gs>
              </a:gsLst>
              <a:lin ang="54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7" name="文本框 66"/>
          <p:cNvSpPr txBox="1"/>
          <p:nvPr/>
        </p:nvSpPr>
        <p:spPr bwMode="gray">
          <a:xfrm>
            <a:off x="4487190" y="2346819"/>
            <a:ext cx="696024" cy="276999"/>
          </a:xfrm>
          <a:prstGeom prst="rect">
            <a:avLst/>
          </a:prstGeom>
          <a:noFill/>
        </p:spPr>
        <p:txBody>
          <a:bodyPr wrap="none" rtlCol="0">
            <a:spAutoFit/>
          </a:bodyPr>
          <a:lstStyle/>
          <a:p>
            <a:pPr algn="ctr"/>
            <a:r>
              <a:rPr lang="en-US" altLang="zh-CN" sz="1200" b="1" dirty="0">
                <a:latin typeface="Huawei Sans" panose="020C0503030203020204" pitchFamily="34" charset="0"/>
                <a:ea typeface="方正兰亭黑简体" panose="02000000000000000000" pitchFamily="2" charset="-122"/>
                <a:cs typeface="Huawei Sans" panose="020C0503030203020204" pitchFamily="34" charset="0"/>
              </a:rPr>
              <a:t>RD</a:t>
            </a:r>
            <a:r>
              <a:rPr lang="en-US" altLang="zh-CN" sz="1200" b="1" dirty="0" smtClean="0">
                <a:latin typeface="Huawei Sans" panose="020C0503030203020204" pitchFamily="34" charset="0"/>
                <a:ea typeface="方正兰亭黑简体" panose="02000000000000000000" pitchFamily="2" charset="-122"/>
                <a:cs typeface="Huawei Sans" panose="020C0503030203020204" pitchFamily="34" charset="0"/>
              </a:rPr>
              <a:t>_VN</a:t>
            </a:r>
          </a:p>
        </p:txBody>
      </p:sp>
      <p:cxnSp>
        <p:nvCxnSpPr>
          <p:cNvPr id="71" name="曲线连接符 70"/>
          <p:cNvCxnSpPr/>
          <p:nvPr/>
        </p:nvCxnSpPr>
        <p:spPr bwMode="gray">
          <a:xfrm rot="5400000" flipH="1" flipV="1">
            <a:off x="3627749" y="825060"/>
            <a:ext cx="12700" cy="1723657"/>
          </a:xfrm>
          <a:prstGeom prst="curvedConnector3">
            <a:avLst>
              <a:gd name="adj1" fmla="val 2553488"/>
            </a:avLst>
          </a:prstGeom>
          <a:ln w="57150">
            <a:solidFill>
              <a:srgbClr val="30B5C5"/>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72" name="文本框 71"/>
          <p:cNvSpPr txBox="1"/>
          <p:nvPr/>
        </p:nvSpPr>
        <p:spPr bwMode="gray">
          <a:xfrm>
            <a:off x="485156" y="1059903"/>
            <a:ext cx="708848" cy="307777"/>
          </a:xfrm>
          <a:prstGeom prst="rect">
            <a:avLst/>
          </a:prstGeom>
          <a:noFill/>
        </p:spPr>
        <p:txBody>
          <a:bodyPr wrap="none" rtlCol="0">
            <a:spAutoFit/>
          </a:bodyPr>
          <a:lstStyle/>
          <a:p>
            <a:r>
              <a:rPr lang="en-US" altLang="zh-CN" sz="1400" b="1" dirty="0" smtClean="0">
                <a:latin typeface="Huawei Sans" panose="020C0503030203020204" pitchFamily="34" charset="0"/>
                <a:ea typeface="方正兰亭黑简体" panose="02000000000000000000" pitchFamily="2" charset="-122"/>
                <a:cs typeface="Huawei Sans" panose="020C0503030203020204" pitchFamily="34" charset="0"/>
              </a:rPr>
              <a:t>Fabric</a:t>
            </a:r>
            <a:endParaRPr lang="zh-CN" altLang="en-US" sz="1400" b="1" dirty="0">
              <a:latin typeface="Huawei Sans" panose="020C0503030203020204" pitchFamily="34" charset="0"/>
              <a:ea typeface="方正兰亭黑简体" panose="02000000000000000000" pitchFamily="2" charset="-122"/>
              <a:cs typeface="Huawei Sans" panose="020C0503030203020204" pitchFamily="34" charset="0"/>
            </a:endParaRPr>
          </a:p>
        </p:txBody>
      </p:sp>
      <p:pic>
        <p:nvPicPr>
          <p:cNvPr id="128" name="图片 127" descr="PC.png">
            <a:extLst>
              <a:ext uri="{FF2B5EF4-FFF2-40B4-BE49-F238E27FC236}">
                <a16:creationId xmlns="" xmlns:a16="http://schemas.microsoft.com/office/drawing/2014/main" id="{4666702E-823D-4236-BF2F-880359158C83}"/>
              </a:ext>
            </a:extLst>
          </p:cNvPr>
          <p:cNvPicPr>
            <a:picLocks noChangeAspect="1"/>
          </p:cNvPicPr>
          <p:nvPr/>
        </p:nvPicPr>
        <p:blipFill>
          <a:blip r:embed="rId3" cstate="print"/>
          <a:stretch>
            <a:fillRect/>
          </a:stretch>
        </p:blipFill>
        <p:spPr bwMode="gray">
          <a:xfrm>
            <a:off x="4982016" y="2976217"/>
            <a:ext cx="445506" cy="342149"/>
          </a:xfrm>
          <a:prstGeom prst="rect">
            <a:avLst/>
          </a:prstGeom>
        </p:spPr>
      </p:pic>
      <p:sp>
        <p:nvSpPr>
          <p:cNvPr id="129" name="文本框 128"/>
          <p:cNvSpPr txBox="1"/>
          <p:nvPr/>
        </p:nvSpPr>
        <p:spPr bwMode="gray">
          <a:xfrm>
            <a:off x="4722905" y="3304509"/>
            <a:ext cx="963725" cy="461665"/>
          </a:xfrm>
          <a:prstGeom prst="rect">
            <a:avLst/>
          </a:prstGeom>
          <a:noFill/>
        </p:spPr>
        <p:txBody>
          <a:bodyPr wrap="none" rtlCol="0">
            <a:spAutoFit/>
          </a:bodyPr>
          <a:lstStyle/>
          <a:p>
            <a:pPr algn="ctr"/>
            <a:r>
              <a:rPr lang="en-US" altLang="zh-CN" sz="1200" b="1" dirty="0">
                <a:latin typeface="Huawei Sans" panose="020C0503030203020204" pitchFamily="34" charset="0"/>
                <a:ea typeface="方正兰亭黑简体" panose="02000000000000000000" pitchFamily="2" charset="-122"/>
                <a:cs typeface="Huawei Sans" panose="020C0503030203020204" pitchFamily="34" charset="0"/>
              </a:rPr>
              <a:t>RD</a:t>
            </a:r>
            <a:endParaRPr lang="en-US" altLang="zh-CN" sz="1200" b="1" dirty="0" smtClean="0">
              <a:latin typeface="Huawei Sans" panose="020C0503030203020204" pitchFamily="34" charset="0"/>
              <a:ea typeface="方正兰亭黑简体" panose="02000000000000000000" pitchFamily="2" charset="-122"/>
              <a:cs typeface="Huawei Sans" panose="020C0503030203020204" pitchFamily="34" charset="0"/>
            </a:endParaRPr>
          </a:p>
          <a:p>
            <a:pPr algn="ctr"/>
            <a:r>
              <a:rPr lang="zh-CN" altLang="en-US" sz="1200" dirty="0">
                <a:latin typeface="Huawei Sans" panose="020C0503030203020204" pitchFamily="34" charset="0"/>
                <a:ea typeface="方正兰亭黑简体" panose="02000000000000000000" pitchFamily="2" charset="-122"/>
                <a:cs typeface="Huawei Sans" panose="020C0503030203020204" pitchFamily="34" charset="0"/>
              </a:rPr>
              <a:t>（</a:t>
            </a: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802.1X</a:t>
            </a:r>
            <a:r>
              <a:rPr lang="zh-CN" altLang="en-US" sz="1200" dirty="0" smtClean="0">
                <a:latin typeface="Huawei Sans" panose="020C0503030203020204" pitchFamily="34" charset="0"/>
                <a:ea typeface="方正兰亭黑简体" panose="02000000000000000000" pitchFamily="2" charset="-122"/>
                <a:cs typeface="Huawei Sans" panose="020C0503030203020204" pitchFamily="34" charset="0"/>
              </a:rPr>
              <a:t>）</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130" name="梯形 129"/>
          <p:cNvSpPr/>
          <p:nvPr/>
        </p:nvSpPr>
        <p:spPr bwMode="gray">
          <a:xfrm>
            <a:off x="663378" y="2169103"/>
            <a:ext cx="3138794" cy="501291"/>
          </a:xfrm>
          <a:prstGeom prst="trapezoid">
            <a:avLst>
              <a:gd name="adj" fmla="val 22961"/>
            </a:avLst>
          </a:prstGeom>
          <a:gradFill flip="none" rotWithShape="1">
            <a:gsLst>
              <a:gs pos="0">
                <a:schemeClr val="bg1">
                  <a:alpha val="4000"/>
                </a:schemeClr>
              </a:gs>
              <a:gs pos="100000">
                <a:schemeClr val="accent4">
                  <a:lumMod val="20000"/>
                  <a:lumOff val="80000"/>
                </a:schemeClr>
              </a:gs>
            </a:gsLst>
            <a:lin ang="5400000" scaled="1"/>
            <a:tileRect/>
          </a:gradFill>
          <a:ln>
            <a:gradFill flip="none" rotWithShape="1">
              <a:gsLst>
                <a:gs pos="0">
                  <a:schemeClr val="accent1">
                    <a:lumMod val="5000"/>
                    <a:lumOff val="95000"/>
                    <a:alpha val="0"/>
                  </a:schemeClr>
                </a:gs>
                <a:gs pos="82000">
                  <a:schemeClr val="accent4">
                    <a:lumMod val="60000"/>
                    <a:lumOff val="40000"/>
                  </a:schemeClr>
                </a:gs>
              </a:gsLst>
              <a:lin ang="54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1" name="文本框 130"/>
          <p:cNvSpPr txBox="1"/>
          <p:nvPr/>
        </p:nvSpPr>
        <p:spPr bwMode="gray">
          <a:xfrm>
            <a:off x="1899979" y="2346819"/>
            <a:ext cx="712054" cy="276999"/>
          </a:xfrm>
          <a:prstGeom prst="rect">
            <a:avLst/>
          </a:prstGeom>
          <a:noFill/>
        </p:spPr>
        <p:txBody>
          <a:bodyPr wrap="none" rtlCol="0">
            <a:spAutoFit/>
          </a:bodyPr>
          <a:lstStyle/>
          <a:p>
            <a:pPr algn="ctr"/>
            <a:r>
              <a:rPr lang="en-US" altLang="zh-CN" sz="1200" b="1" dirty="0">
                <a:latin typeface="Huawei Sans" panose="020C0503030203020204" pitchFamily="34" charset="0"/>
                <a:ea typeface="方正兰亭黑简体" panose="02000000000000000000" pitchFamily="2" charset="-122"/>
                <a:cs typeface="Huawei Sans" panose="020C0503030203020204" pitchFamily="34" charset="0"/>
              </a:rPr>
              <a:t>OA</a:t>
            </a:r>
            <a:r>
              <a:rPr lang="en-US" altLang="zh-CN" sz="1200" b="1" dirty="0" smtClean="0">
                <a:latin typeface="Huawei Sans" panose="020C0503030203020204" pitchFamily="34" charset="0"/>
                <a:ea typeface="方正兰亭黑简体" panose="02000000000000000000" pitchFamily="2" charset="-122"/>
                <a:cs typeface="Huawei Sans" panose="020C0503030203020204" pitchFamily="34" charset="0"/>
              </a:rPr>
              <a:t>_VN</a:t>
            </a:r>
          </a:p>
        </p:txBody>
      </p:sp>
      <p:pic>
        <p:nvPicPr>
          <p:cNvPr id="132" name="图片 131" descr="PC.png">
            <a:extLst>
              <a:ext uri="{FF2B5EF4-FFF2-40B4-BE49-F238E27FC236}">
                <a16:creationId xmlns="" xmlns:a16="http://schemas.microsoft.com/office/drawing/2014/main" id="{4666702E-823D-4236-BF2F-880359158C83}"/>
              </a:ext>
            </a:extLst>
          </p:cNvPr>
          <p:cNvPicPr>
            <a:picLocks noChangeAspect="1"/>
          </p:cNvPicPr>
          <p:nvPr/>
        </p:nvPicPr>
        <p:blipFill>
          <a:blip r:embed="rId3" cstate="print"/>
          <a:stretch>
            <a:fillRect/>
          </a:stretch>
        </p:blipFill>
        <p:spPr bwMode="gray">
          <a:xfrm>
            <a:off x="748498" y="2976217"/>
            <a:ext cx="445506" cy="342149"/>
          </a:xfrm>
          <a:prstGeom prst="rect">
            <a:avLst/>
          </a:prstGeom>
        </p:spPr>
      </p:pic>
      <p:sp>
        <p:nvSpPr>
          <p:cNvPr id="133" name="文本框 132"/>
          <p:cNvSpPr txBox="1"/>
          <p:nvPr/>
        </p:nvSpPr>
        <p:spPr bwMode="gray">
          <a:xfrm>
            <a:off x="489391" y="3304509"/>
            <a:ext cx="963725" cy="646331"/>
          </a:xfrm>
          <a:prstGeom prst="rect">
            <a:avLst/>
          </a:prstGeom>
          <a:noFill/>
        </p:spPr>
        <p:txBody>
          <a:bodyPr wrap="none" rtlCol="0">
            <a:spAutoFit/>
          </a:bodyPr>
          <a:lstStyle/>
          <a:p>
            <a:pPr algn="ctr"/>
            <a:r>
              <a:rPr lang="en-US" altLang="zh-CN" sz="1200" b="1" dirty="0">
                <a:latin typeface="Huawei Sans" panose="020C0503030203020204" pitchFamily="34" charset="0"/>
                <a:ea typeface="方正兰亭黑简体" panose="02000000000000000000" pitchFamily="2" charset="-122"/>
                <a:cs typeface="Huawei Sans" panose="020C0503030203020204" pitchFamily="34" charset="0"/>
              </a:rPr>
              <a:t>Sales</a:t>
            </a:r>
            <a:r>
              <a:rPr lang="en-US" altLang="zh-CN" sz="1200" b="1" dirty="0" smtClean="0">
                <a:latin typeface="Huawei Sans" panose="020C0503030203020204" pitchFamily="34" charset="0"/>
                <a:ea typeface="方正兰亭黑简体" panose="02000000000000000000" pitchFamily="2" charset="-122"/>
                <a:cs typeface="Huawei Sans" panose="020C0503030203020204" pitchFamily="34" charset="0"/>
              </a:rPr>
              <a:t>_</a:t>
            </a:r>
          </a:p>
          <a:p>
            <a:pPr algn="ctr"/>
            <a:r>
              <a:rPr lang="en-US" altLang="zh-CN" sz="1200" b="1" dirty="0" smtClean="0">
                <a:latin typeface="Huawei Sans" panose="020C0503030203020204" pitchFamily="34" charset="0"/>
                <a:ea typeface="方正兰亭黑简体" panose="02000000000000000000" pitchFamily="2" charset="-122"/>
                <a:cs typeface="Huawei Sans" panose="020C0503030203020204" pitchFamily="34" charset="0"/>
              </a:rPr>
              <a:t>Wired</a:t>
            </a:r>
          </a:p>
          <a:p>
            <a:pPr algn="ctr"/>
            <a:r>
              <a:rPr lang="zh-CN" altLang="en-US" sz="1200" dirty="0" smtClean="0">
                <a:latin typeface="Huawei Sans" panose="020C0503030203020204" pitchFamily="34" charset="0"/>
                <a:ea typeface="方正兰亭黑简体" panose="02000000000000000000" pitchFamily="2" charset="-122"/>
                <a:cs typeface="Huawei Sans" panose="020C0503030203020204" pitchFamily="34" charset="0"/>
              </a:rPr>
              <a:t>（</a:t>
            </a:r>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802.1X</a:t>
            </a:r>
            <a:r>
              <a:rPr lang="zh-CN" altLang="en-US" sz="1200" dirty="0" smtClean="0">
                <a:latin typeface="Huawei Sans" panose="020C0503030203020204" pitchFamily="34" charset="0"/>
                <a:ea typeface="方正兰亭黑简体" panose="02000000000000000000" pitchFamily="2" charset="-122"/>
                <a:cs typeface="Huawei Sans" panose="020C0503030203020204" pitchFamily="34" charset="0"/>
              </a:rPr>
              <a:t>）</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pic>
        <p:nvPicPr>
          <p:cNvPr id="134" name="图片 14" descr="日志告警服务器-蓝.png"/>
          <p:cNvPicPr>
            <a:picLocks noChangeAspect="1"/>
          </p:cNvPicPr>
          <p:nvPr/>
        </p:nvPicPr>
        <p:blipFill>
          <a:blip r:embed="rId4" cstate="print"/>
          <a:stretch>
            <a:fillRect/>
          </a:stretch>
        </p:blipFill>
        <p:spPr bwMode="gray">
          <a:xfrm>
            <a:off x="1806652" y="3013844"/>
            <a:ext cx="445956" cy="278465"/>
          </a:xfrm>
          <a:prstGeom prst="rect">
            <a:avLst/>
          </a:prstGeom>
        </p:spPr>
      </p:pic>
      <p:sp>
        <p:nvSpPr>
          <p:cNvPr id="135" name="文本框 134"/>
          <p:cNvSpPr txBox="1"/>
          <p:nvPr/>
        </p:nvSpPr>
        <p:spPr bwMode="gray">
          <a:xfrm>
            <a:off x="1573940" y="3304509"/>
            <a:ext cx="909224" cy="646331"/>
          </a:xfrm>
          <a:prstGeom prst="rect">
            <a:avLst/>
          </a:prstGeom>
          <a:noFill/>
        </p:spPr>
        <p:txBody>
          <a:bodyPr wrap="none" rtlCol="0">
            <a:spAutoFit/>
          </a:bodyPr>
          <a:lstStyle/>
          <a:p>
            <a:pPr algn="ctr"/>
            <a:r>
              <a:rPr lang="en-US" altLang="zh-CN" sz="1200" b="1" dirty="0">
                <a:latin typeface="Huawei Sans" panose="020C0503030203020204" pitchFamily="34" charset="0"/>
                <a:ea typeface="方正兰亭黑简体" panose="02000000000000000000" pitchFamily="2" charset="-122"/>
                <a:cs typeface="Huawei Sans" panose="020C0503030203020204" pitchFamily="34" charset="0"/>
              </a:rPr>
              <a:t>Sales</a:t>
            </a:r>
            <a:r>
              <a:rPr lang="en-US" altLang="zh-CN" sz="1200" b="1" dirty="0" smtClean="0">
                <a:latin typeface="Huawei Sans" panose="020C0503030203020204" pitchFamily="34" charset="0"/>
                <a:ea typeface="方正兰亭黑简体" panose="02000000000000000000" pitchFamily="2" charset="-122"/>
                <a:cs typeface="Huawei Sans" panose="020C0503030203020204" pitchFamily="34" charset="0"/>
              </a:rPr>
              <a:t>_</a:t>
            </a:r>
          </a:p>
          <a:p>
            <a:pPr algn="ctr"/>
            <a:r>
              <a:rPr lang="en-US" altLang="zh-CN" sz="1200" b="1" dirty="0" smtClean="0">
                <a:latin typeface="Huawei Sans" panose="020C0503030203020204" pitchFamily="34" charset="0"/>
                <a:ea typeface="方正兰亭黑简体" panose="02000000000000000000" pitchFamily="2" charset="-122"/>
                <a:cs typeface="Huawei Sans" panose="020C0503030203020204" pitchFamily="34" charset="0"/>
              </a:rPr>
              <a:t>Wireless</a:t>
            </a:r>
          </a:p>
          <a:p>
            <a:pPr algn="ctr"/>
            <a:r>
              <a:rPr lang="zh-CN" altLang="en-US" sz="1200" dirty="0" smtClean="0">
                <a:latin typeface="Huawei Sans" panose="020C0503030203020204" pitchFamily="34" charset="0"/>
                <a:ea typeface="方正兰亭黑简体" panose="02000000000000000000" pitchFamily="2" charset="-122"/>
                <a:cs typeface="Huawei Sans" panose="020C0503030203020204" pitchFamily="34" charset="0"/>
              </a:rPr>
              <a:t>（</a:t>
            </a:r>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Portal</a:t>
            </a:r>
            <a:r>
              <a:rPr lang="zh-CN" altLang="en-US" sz="1200" dirty="0">
                <a:latin typeface="Huawei Sans" panose="020C0503030203020204" pitchFamily="34" charset="0"/>
                <a:ea typeface="方正兰亭黑简体" panose="02000000000000000000" pitchFamily="2" charset="-122"/>
                <a:cs typeface="Huawei Sans" panose="020C0503030203020204" pitchFamily="34" charset="0"/>
              </a:rPr>
              <a:t>）</a:t>
            </a:r>
          </a:p>
        </p:txBody>
      </p:sp>
      <p:sp>
        <p:nvSpPr>
          <p:cNvPr id="136" name="椭圆 135"/>
          <p:cNvSpPr/>
          <p:nvPr/>
        </p:nvSpPr>
        <p:spPr bwMode="gray">
          <a:xfrm>
            <a:off x="746427" y="1715189"/>
            <a:ext cx="612000" cy="612000"/>
          </a:xfrm>
          <a:prstGeom prst="ellipse">
            <a:avLst/>
          </a:prstGeom>
          <a:solidFill>
            <a:schemeClr val="accent5">
              <a:lumMod val="20000"/>
              <a:lumOff val="80000"/>
            </a:schemeClr>
          </a:solid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137" name="文本框 136"/>
          <p:cNvSpPr txBox="1"/>
          <p:nvPr/>
        </p:nvSpPr>
        <p:spPr bwMode="gray">
          <a:xfrm>
            <a:off x="748498" y="1796652"/>
            <a:ext cx="618630" cy="461665"/>
          </a:xfrm>
          <a:prstGeom prst="rect">
            <a:avLst/>
          </a:prstGeom>
          <a:noFill/>
        </p:spPr>
        <p:txBody>
          <a:bodyPr wrap="square" rtlCol="0">
            <a:spAutoFit/>
          </a:bodyPr>
          <a:lstStyle/>
          <a:p>
            <a:pPr algn="ctr"/>
            <a:r>
              <a:rPr lang="en-US" altLang="zh-CN" sz="1200" dirty="0" err="1">
                <a:latin typeface="Huawei Sans" panose="020C0503030203020204" pitchFamily="34" charset="0"/>
                <a:ea typeface="方正兰亭黑简体" panose="02000000000000000000" pitchFamily="2" charset="-122"/>
                <a:cs typeface="Huawei Sans" panose="020C0503030203020204" pitchFamily="34" charset="0"/>
              </a:rPr>
              <a:t>Sales_Wired</a:t>
            </a:r>
            <a:endParaRPr lang="en-US" altLang="zh-CN" sz="12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140" name="椭圆 139"/>
          <p:cNvSpPr/>
          <p:nvPr/>
        </p:nvSpPr>
        <p:spPr bwMode="gray">
          <a:xfrm>
            <a:off x="4493856" y="1715189"/>
            <a:ext cx="612000" cy="612000"/>
          </a:xfrm>
          <a:prstGeom prst="ellipse">
            <a:avLst/>
          </a:prstGeom>
          <a:solidFill>
            <a:schemeClr val="accent5">
              <a:lumMod val="20000"/>
              <a:lumOff val="80000"/>
            </a:schemeClr>
          </a:solid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141" name="文本框 140"/>
          <p:cNvSpPr txBox="1"/>
          <p:nvPr/>
        </p:nvSpPr>
        <p:spPr bwMode="gray">
          <a:xfrm>
            <a:off x="4476691" y="1796652"/>
            <a:ext cx="646331" cy="461665"/>
          </a:xfrm>
          <a:prstGeom prst="rect">
            <a:avLst/>
          </a:prstGeom>
          <a:noFill/>
        </p:spPr>
        <p:txBody>
          <a:bodyPr wrap="none" rtlCol="0">
            <a:spAutoFit/>
          </a:bodyPr>
          <a:lstStyle/>
          <a:p>
            <a:pPr algn="ctr"/>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RD</a:t>
            </a:r>
          </a:p>
          <a:p>
            <a:pPr algn="ctr"/>
            <a:r>
              <a:rPr lang="zh-CN" altLang="en-US" sz="1200" dirty="0" smtClean="0">
                <a:latin typeface="Huawei Sans" panose="020C0503030203020204" pitchFamily="34" charset="0"/>
                <a:ea typeface="方正兰亭黑简体" panose="02000000000000000000" pitchFamily="2" charset="-122"/>
                <a:cs typeface="Huawei Sans" panose="020C0503030203020204" pitchFamily="34" charset="0"/>
              </a:rPr>
              <a:t>安全</a:t>
            </a:r>
            <a:r>
              <a:rPr lang="zh-CN" altLang="en-US" sz="1200" dirty="0">
                <a:latin typeface="Huawei Sans" panose="020C0503030203020204" pitchFamily="34" charset="0"/>
                <a:ea typeface="方正兰亭黑简体" panose="02000000000000000000" pitchFamily="2" charset="-122"/>
                <a:cs typeface="Huawei Sans" panose="020C0503030203020204" pitchFamily="34" charset="0"/>
              </a:rPr>
              <a:t>组</a:t>
            </a:r>
          </a:p>
        </p:txBody>
      </p:sp>
      <p:sp>
        <p:nvSpPr>
          <p:cNvPr id="142" name="文本框 141"/>
          <p:cNvSpPr txBox="1"/>
          <p:nvPr/>
        </p:nvSpPr>
        <p:spPr bwMode="gray">
          <a:xfrm>
            <a:off x="2464548" y="1059903"/>
            <a:ext cx="2339102" cy="307777"/>
          </a:xfrm>
          <a:prstGeom prst="rect">
            <a:avLst/>
          </a:prstGeom>
          <a:noFill/>
        </p:spPr>
        <p:txBody>
          <a:bodyPr wrap="none" rtlCol="0">
            <a:spAutoFit/>
          </a:bodyPr>
          <a:lstStyle/>
          <a:p>
            <a:r>
              <a:rPr lang="zh-CN" altLang="en-US" sz="1400" dirty="0" smtClean="0">
                <a:solidFill>
                  <a:srgbClr val="30B5C5"/>
                </a:solidFill>
                <a:latin typeface="Huawei Sans" panose="020C0503030203020204" pitchFamily="34" charset="0"/>
                <a:ea typeface="方正兰亭黑简体" panose="02000000000000000000" pitchFamily="2" charset="-122"/>
                <a:cs typeface="Huawei Sans" panose="020C0503030203020204" pitchFamily="34" charset="0"/>
              </a:rPr>
              <a:t>基于安全组的策略控制矩阵</a:t>
            </a:r>
            <a:endParaRPr lang="zh-CN" altLang="en-US" sz="1400" dirty="0">
              <a:solidFill>
                <a:srgbClr val="30B5C5"/>
              </a:solidFill>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143" name="任意多边形 142"/>
          <p:cNvSpPr/>
          <p:nvPr/>
        </p:nvSpPr>
        <p:spPr bwMode="gray">
          <a:xfrm>
            <a:off x="2686015" y="2397778"/>
            <a:ext cx="390809" cy="527688"/>
          </a:xfrm>
          <a:custGeom>
            <a:avLst/>
            <a:gdLst>
              <a:gd name="connsiteX0" fmla="*/ 390809 w 390809"/>
              <a:gd name="connsiteY0" fmla="*/ 712381 h 712381"/>
              <a:gd name="connsiteX1" fmla="*/ 50567 w 390809"/>
              <a:gd name="connsiteY1" fmla="*/ 340242 h 712381"/>
              <a:gd name="connsiteX2" fmla="*/ 8037 w 390809"/>
              <a:gd name="connsiteY2" fmla="*/ 0 h 712381"/>
            </a:gdLst>
            <a:ahLst/>
            <a:cxnLst>
              <a:cxn ang="0">
                <a:pos x="connsiteX0" y="connsiteY0"/>
              </a:cxn>
              <a:cxn ang="0">
                <a:pos x="connsiteX1" y="connsiteY1"/>
              </a:cxn>
              <a:cxn ang="0">
                <a:pos x="connsiteX2" y="connsiteY2"/>
              </a:cxn>
            </a:cxnLst>
            <a:rect l="l" t="t" r="r" b="b"/>
            <a:pathLst>
              <a:path w="390809" h="712381">
                <a:moveTo>
                  <a:pt x="390809" y="712381"/>
                </a:moveTo>
                <a:cubicBezTo>
                  <a:pt x="252585" y="585676"/>
                  <a:pt x="114362" y="458972"/>
                  <a:pt x="50567" y="340242"/>
                </a:cubicBezTo>
                <a:cubicBezTo>
                  <a:pt x="-13228" y="221512"/>
                  <a:pt x="-2596" y="110756"/>
                  <a:pt x="8037" y="0"/>
                </a:cubicBezTo>
              </a:path>
            </a:pathLst>
          </a:custGeom>
          <a:noFill/>
          <a:ln w="28575">
            <a:solidFill>
              <a:srgbClr val="C00000"/>
            </a:solidFill>
            <a:prstDash val="dash"/>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p>
        </p:txBody>
      </p:sp>
      <p:sp>
        <p:nvSpPr>
          <p:cNvPr id="144" name="任意多边形 143"/>
          <p:cNvSpPr/>
          <p:nvPr/>
        </p:nvSpPr>
        <p:spPr bwMode="gray">
          <a:xfrm rot="19515453">
            <a:off x="5164225" y="2283915"/>
            <a:ext cx="255685" cy="649727"/>
          </a:xfrm>
          <a:custGeom>
            <a:avLst/>
            <a:gdLst>
              <a:gd name="connsiteX0" fmla="*/ 0 w 255685"/>
              <a:gd name="connsiteY0" fmla="*/ 797442 h 797442"/>
              <a:gd name="connsiteX1" fmla="*/ 244549 w 255685"/>
              <a:gd name="connsiteY1" fmla="*/ 382772 h 797442"/>
              <a:gd name="connsiteX2" fmla="*/ 191386 w 255685"/>
              <a:gd name="connsiteY2" fmla="*/ 0 h 797442"/>
            </a:gdLst>
            <a:ahLst/>
            <a:cxnLst>
              <a:cxn ang="0">
                <a:pos x="connsiteX0" y="connsiteY0"/>
              </a:cxn>
              <a:cxn ang="0">
                <a:pos x="connsiteX1" y="connsiteY1"/>
              </a:cxn>
              <a:cxn ang="0">
                <a:pos x="connsiteX2" y="connsiteY2"/>
              </a:cxn>
            </a:cxnLst>
            <a:rect l="l" t="t" r="r" b="b"/>
            <a:pathLst>
              <a:path w="255685" h="797442">
                <a:moveTo>
                  <a:pt x="0" y="797442"/>
                </a:moveTo>
                <a:cubicBezTo>
                  <a:pt x="106325" y="656560"/>
                  <a:pt x="212651" y="515679"/>
                  <a:pt x="244549" y="382772"/>
                </a:cubicBezTo>
                <a:cubicBezTo>
                  <a:pt x="276447" y="249865"/>
                  <a:pt x="233916" y="124932"/>
                  <a:pt x="191386" y="0"/>
                </a:cubicBezTo>
              </a:path>
            </a:pathLst>
          </a:custGeom>
          <a:noFill/>
          <a:ln w="28575">
            <a:solidFill>
              <a:srgbClr val="00B050"/>
            </a:solidFill>
            <a:prstDash val="dash"/>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p>
        </p:txBody>
      </p:sp>
      <p:graphicFrame>
        <p:nvGraphicFramePr>
          <p:cNvPr id="3" name="表格 2"/>
          <p:cNvGraphicFramePr>
            <a:graphicFrameLocks noGrp="1"/>
          </p:cNvGraphicFramePr>
          <p:nvPr>
            <p:extLst>
              <p:ext uri="{D42A27DB-BD31-4B8C-83A1-F6EECF244321}">
                <p14:modId xmlns:p14="http://schemas.microsoft.com/office/powerpoint/2010/main" val="302614025"/>
              </p:ext>
            </p:extLst>
          </p:nvPr>
        </p:nvGraphicFramePr>
        <p:xfrm>
          <a:off x="485156" y="4394546"/>
          <a:ext cx="8206171" cy="1717040"/>
        </p:xfrm>
        <a:graphic>
          <a:graphicData uri="http://schemas.openxmlformats.org/drawingml/2006/table">
            <a:tbl>
              <a:tblPr firstRow="1" bandRow="1"/>
              <a:tblGrid>
                <a:gridCol w="1536201"/>
                <a:gridCol w="1172298"/>
                <a:gridCol w="1333994"/>
                <a:gridCol w="1333994"/>
                <a:gridCol w="1495690"/>
                <a:gridCol w="606361"/>
                <a:gridCol w="727633"/>
              </a:tblGrid>
              <a:tr h="477634">
                <a:tc>
                  <a:txBody>
                    <a:bodyPr/>
                    <a:lstStyle/>
                    <a:p>
                      <a:pPr marL="0" algn="r" defTabSz="914034" rtl="0" eaLnBrk="1" latinLnBrk="0" hangingPunct="1">
                        <a:lnSpc>
                          <a:spcPts val="1200"/>
                        </a:lnSpc>
                        <a:spcBef>
                          <a:spcPts val="400"/>
                        </a:spcBef>
                        <a:spcAft>
                          <a:spcPts val="400"/>
                        </a:spcAft>
                      </a:pPr>
                      <a:r>
                        <a:rPr lang="zh-CN" sz="1200" dirty="0">
                          <a:effectLst/>
                        </a:rPr>
                        <a:t> </a:t>
                      </a:r>
                      <a:r>
                        <a:rPr lang="en-US" sz="1200" dirty="0">
                          <a:effectLst/>
                        </a:rPr>
                        <a:t>  </a:t>
                      </a:r>
                      <a:r>
                        <a:rPr lang="en-US" sz="1200" kern="1200" dirty="0">
                          <a:solidFill>
                            <a:schemeClr val="tx1"/>
                          </a:solidFill>
                          <a:effectLst/>
                          <a:latin typeface="+mn-lt"/>
                          <a:ea typeface="+mn-ea"/>
                          <a:cs typeface="+mn-cs"/>
                        </a:rPr>
                        <a:t>       </a:t>
                      </a:r>
                      <a:r>
                        <a:rPr lang="en-US" sz="1200" kern="1200" dirty="0" smtClean="0">
                          <a:solidFill>
                            <a:schemeClr val="tx1"/>
                          </a:solidFill>
                          <a:effectLst/>
                          <a:latin typeface="+mn-lt"/>
                          <a:ea typeface="+mn-ea"/>
                          <a:cs typeface="+mn-cs"/>
                        </a:rPr>
                        <a:t> </a:t>
                      </a:r>
                      <a:r>
                        <a:rPr lang="zh-CN" sz="1200" b="1" kern="1200" dirty="0">
                          <a:solidFill>
                            <a:schemeClr val="tx1"/>
                          </a:solidFill>
                          <a:effectLst/>
                          <a:latin typeface="+mn-lt"/>
                          <a:ea typeface="+mn-ea"/>
                          <a:cs typeface="+mn-cs"/>
                        </a:rPr>
                        <a:t>目的</a:t>
                      </a:r>
                      <a:r>
                        <a:rPr lang="zh-CN" sz="1200" b="1" kern="1200" dirty="0" smtClean="0">
                          <a:solidFill>
                            <a:schemeClr val="tx1"/>
                          </a:solidFill>
                          <a:effectLst/>
                          <a:latin typeface="+mn-lt"/>
                          <a:ea typeface="+mn-ea"/>
                          <a:cs typeface="+mn-cs"/>
                        </a:rPr>
                        <a:t>安全组</a:t>
                      </a:r>
                    </a:p>
                    <a:p>
                      <a:pPr marL="0" algn="l" defTabSz="914034" rtl="0" eaLnBrk="1" latinLnBrk="0" hangingPunct="1">
                        <a:lnSpc>
                          <a:spcPts val="1200"/>
                        </a:lnSpc>
                        <a:spcBef>
                          <a:spcPts val="400"/>
                        </a:spcBef>
                        <a:spcAft>
                          <a:spcPts val="400"/>
                        </a:spcAft>
                      </a:pPr>
                      <a:r>
                        <a:rPr lang="zh-CN" sz="1200" b="1" kern="1200" dirty="0" smtClean="0">
                          <a:solidFill>
                            <a:schemeClr val="tx1"/>
                          </a:solidFill>
                          <a:effectLst/>
                          <a:latin typeface="+mn-lt"/>
                          <a:ea typeface="+mn-ea"/>
                          <a:cs typeface="+mn-cs"/>
                        </a:rPr>
                        <a:t>源安全组</a:t>
                      </a:r>
                      <a:endParaRPr lang="zh-CN" sz="1200" b="1" kern="1200" dirty="0">
                        <a:solidFill>
                          <a:schemeClr val="tx1"/>
                        </a:solidFill>
                        <a:effectLst/>
                        <a:latin typeface="+mn-lt"/>
                        <a:ea typeface="+mn-ea"/>
                        <a:cs typeface="+mn-cs"/>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solidFill>
                        <a:schemeClr val="tx1"/>
                      </a:solidFill>
                      <a:prstDash val="solid"/>
                      <a:round/>
                      <a:headEnd type="none" w="med" len="med"/>
                      <a:tailEnd type="none" w="med" len="med"/>
                    </a:lnTlToBr>
                    <a:solidFill>
                      <a:schemeClr val="bg1">
                        <a:lumMod val="85000"/>
                      </a:schemeClr>
                    </a:solidFill>
                  </a:tcPr>
                </a:tc>
                <a:tc>
                  <a:txBody>
                    <a:bodyPr/>
                    <a:lstStyle/>
                    <a:p>
                      <a:pPr marL="0" algn="ctr">
                        <a:lnSpc>
                          <a:spcPts val="1200"/>
                        </a:lnSpc>
                        <a:spcBef>
                          <a:spcPts val="400"/>
                        </a:spcBef>
                        <a:spcAft>
                          <a:spcPts val="400"/>
                        </a:spcAft>
                      </a:pPr>
                      <a:r>
                        <a:rPr lang="en-US" sz="1200" b="1" dirty="0" err="1" smtClean="0">
                          <a:effectLst/>
                        </a:rPr>
                        <a:t>Sales_Wired</a:t>
                      </a:r>
                      <a:endParaRPr lang="zh-CN" sz="1200" b="1" dirty="0">
                        <a:effectLst/>
                        <a:latin typeface="Huawei Sans" panose="020C0503030203020204" pitchFamily="34" charset="0"/>
                        <a:ea typeface="方正兰亭黑简体" panose="02000000000000000000" pitchFamily="2" charset="-122"/>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marL="0" algn="ctr" defTabSz="914034" rtl="0" eaLnBrk="1" latinLnBrk="0" hangingPunct="1">
                        <a:lnSpc>
                          <a:spcPts val="1200"/>
                        </a:lnSpc>
                        <a:spcBef>
                          <a:spcPts val="400"/>
                        </a:spcBef>
                        <a:spcAft>
                          <a:spcPts val="400"/>
                        </a:spcAft>
                      </a:pPr>
                      <a:r>
                        <a:rPr lang="en-US" sz="1200" b="1" kern="1200" dirty="0" err="1" smtClean="0">
                          <a:solidFill>
                            <a:schemeClr val="tx1"/>
                          </a:solidFill>
                          <a:effectLst/>
                          <a:latin typeface="+mn-lt"/>
                          <a:ea typeface="+mn-ea"/>
                          <a:cs typeface="+mn-cs"/>
                        </a:rPr>
                        <a:t>Sales_Wireless</a:t>
                      </a:r>
                      <a:endParaRPr lang="zh-CN" sz="1200" b="1" kern="1200" dirty="0">
                        <a:solidFill>
                          <a:schemeClr val="tx1"/>
                        </a:solidFill>
                        <a:effectLst/>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marL="0" algn="ctr" defTabSz="914034" rtl="0" eaLnBrk="1" latinLnBrk="0" hangingPunct="1">
                        <a:lnSpc>
                          <a:spcPts val="1200"/>
                        </a:lnSpc>
                        <a:spcBef>
                          <a:spcPts val="400"/>
                        </a:spcBef>
                        <a:spcAft>
                          <a:spcPts val="400"/>
                        </a:spcAft>
                      </a:pPr>
                      <a:r>
                        <a:rPr lang="en-US" sz="1200" b="1" kern="1200" dirty="0" err="1" smtClean="0">
                          <a:solidFill>
                            <a:schemeClr val="tx1"/>
                          </a:solidFill>
                          <a:effectLst/>
                          <a:latin typeface="+mn-lt"/>
                          <a:ea typeface="+mn-ea"/>
                          <a:cs typeface="+mn-cs"/>
                        </a:rPr>
                        <a:t>Market_Wired</a:t>
                      </a:r>
                      <a:endParaRPr lang="zh-CN" sz="1200" b="1" kern="1200" dirty="0">
                        <a:solidFill>
                          <a:schemeClr val="tx1"/>
                        </a:solidFill>
                        <a:effectLst/>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marL="0" algn="ctr" defTabSz="914034" rtl="0" eaLnBrk="1" latinLnBrk="0" hangingPunct="1">
                        <a:lnSpc>
                          <a:spcPts val="1200"/>
                        </a:lnSpc>
                        <a:spcBef>
                          <a:spcPts val="400"/>
                        </a:spcBef>
                        <a:spcAft>
                          <a:spcPts val="400"/>
                        </a:spcAft>
                      </a:pPr>
                      <a:r>
                        <a:rPr lang="en-US" altLang="zh-CN" sz="1200" b="1" kern="1200" dirty="0" err="1" smtClean="0">
                          <a:solidFill>
                            <a:schemeClr val="tx1"/>
                          </a:solidFill>
                          <a:effectLst/>
                          <a:latin typeface="+mn-lt"/>
                          <a:ea typeface="+mn-ea"/>
                          <a:cs typeface="+mn-cs"/>
                        </a:rPr>
                        <a:t>Market_Wireless</a:t>
                      </a:r>
                      <a:endParaRPr lang="zh-CN" sz="1200" b="1" kern="1200" dirty="0">
                        <a:solidFill>
                          <a:schemeClr val="tx1"/>
                        </a:solidFill>
                        <a:effectLst/>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marL="0" algn="ctr" defTabSz="914034" rtl="0" eaLnBrk="1" latinLnBrk="0" hangingPunct="1">
                        <a:lnSpc>
                          <a:spcPts val="1200"/>
                        </a:lnSpc>
                        <a:spcBef>
                          <a:spcPts val="400"/>
                        </a:spcBef>
                        <a:spcAft>
                          <a:spcPts val="400"/>
                        </a:spcAft>
                      </a:pPr>
                      <a:r>
                        <a:rPr lang="en-US" altLang="zh-CN" sz="1200" b="1" kern="1200" dirty="0" smtClean="0">
                          <a:solidFill>
                            <a:schemeClr val="tx1"/>
                          </a:solidFill>
                          <a:effectLst/>
                          <a:latin typeface="+mn-lt"/>
                          <a:ea typeface="+mn-ea"/>
                          <a:cs typeface="+mn-cs"/>
                        </a:rPr>
                        <a:t>RD</a:t>
                      </a:r>
                      <a:endParaRPr lang="zh-CN" sz="1200" b="1" kern="1200" dirty="0">
                        <a:solidFill>
                          <a:schemeClr val="tx1"/>
                        </a:solidFill>
                        <a:effectLst/>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marL="0" algn="ctr" defTabSz="914034" rtl="0" eaLnBrk="1" latinLnBrk="0" hangingPunct="1">
                        <a:lnSpc>
                          <a:spcPts val="1200"/>
                        </a:lnSpc>
                        <a:spcBef>
                          <a:spcPts val="400"/>
                        </a:spcBef>
                        <a:spcAft>
                          <a:spcPts val="400"/>
                        </a:spcAft>
                      </a:pPr>
                      <a:r>
                        <a:rPr lang="en-US" altLang="zh-CN" sz="1200" b="1" kern="1200" dirty="0" err="1" smtClean="0">
                          <a:solidFill>
                            <a:schemeClr val="tx1"/>
                          </a:solidFill>
                          <a:effectLst/>
                          <a:latin typeface="+mn-lt"/>
                          <a:ea typeface="+mn-ea"/>
                          <a:cs typeface="+mn-cs"/>
                        </a:rPr>
                        <a:t>E_mail</a:t>
                      </a:r>
                      <a:endParaRPr lang="zh-CN" sz="1200" b="1" kern="1200" dirty="0">
                        <a:solidFill>
                          <a:schemeClr val="tx1"/>
                        </a:solidFill>
                        <a:effectLst/>
                        <a:latin typeface="+mn-lt"/>
                        <a:ea typeface="+mn-ea"/>
                        <a:cs typeface="+mn-cs"/>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r h="170965">
                <a:tc>
                  <a:txBody>
                    <a:bodyPr/>
                    <a:lstStyle/>
                    <a:p>
                      <a:pPr marL="0" algn="ctr">
                        <a:lnSpc>
                          <a:spcPts val="1200"/>
                        </a:lnSpc>
                        <a:spcBef>
                          <a:spcPts val="400"/>
                        </a:spcBef>
                        <a:spcAft>
                          <a:spcPts val="400"/>
                        </a:spcAft>
                      </a:pPr>
                      <a:r>
                        <a:rPr lang="en-US" altLang="zh-CN" sz="1200" b="1" dirty="0" err="1" smtClean="0">
                          <a:effectLst/>
                        </a:rPr>
                        <a:t>Sales_Wired</a:t>
                      </a:r>
                      <a:endParaRPr lang="zh-CN" altLang="zh-CN" sz="1200" b="1" dirty="0">
                        <a:effectLst/>
                        <a:latin typeface="Huawei Sans" panose="020C0503030203020204" pitchFamily="34" charset="0"/>
                        <a:ea typeface="方正兰亭黑简体" panose="02000000000000000000" pitchFamily="2" charset="-122"/>
                        <a:cs typeface="Arial" panose="020B0604020202020204" pitchFamily="34"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marL="0" algn="ctr" defTabSz="914034" rtl="0" eaLnBrk="1" latinLnBrk="0" hangingPunct="1">
                        <a:lnSpc>
                          <a:spcPts val="1200"/>
                        </a:lnSpc>
                        <a:spcBef>
                          <a:spcPts val="400"/>
                        </a:spcBef>
                        <a:spcAft>
                          <a:spcPts val="400"/>
                        </a:spcAft>
                      </a:pPr>
                      <a:r>
                        <a:rPr lang="en-US" sz="1200" kern="1200" dirty="0">
                          <a:solidFill>
                            <a:schemeClr val="tx1"/>
                          </a:solidFill>
                          <a:effectLst/>
                          <a:latin typeface="+mn-lt"/>
                          <a:ea typeface="+mn-ea"/>
                          <a:cs typeface="+mn-cs"/>
                        </a:rPr>
                        <a:t> </a:t>
                      </a:r>
                      <a:endParaRPr lang="zh-CN" sz="1200" kern="1200" dirty="0">
                        <a:solidFill>
                          <a:schemeClr val="tx1"/>
                        </a:solidFill>
                        <a:effectLst/>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034" rtl="0" eaLnBrk="1" latinLnBrk="0" hangingPunct="1">
                        <a:lnSpc>
                          <a:spcPts val="1200"/>
                        </a:lnSpc>
                        <a:spcBef>
                          <a:spcPts val="400"/>
                        </a:spcBef>
                        <a:spcAft>
                          <a:spcPts val="400"/>
                        </a:spcAft>
                      </a:pPr>
                      <a:endParaRPr lang="zh-CN" sz="1200" kern="1200" dirty="0">
                        <a:solidFill>
                          <a:schemeClr val="tx1"/>
                        </a:solidFill>
                        <a:effectLst/>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034" rtl="0" eaLnBrk="1" latinLnBrk="0" hangingPunct="1">
                        <a:lnSpc>
                          <a:spcPts val="1200"/>
                        </a:lnSpc>
                        <a:spcBef>
                          <a:spcPts val="400"/>
                        </a:spcBef>
                        <a:spcAft>
                          <a:spcPts val="400"/>
                        </a:spcAft>
                      </a:pPr>
                      <a:r>
                        <a:rPr lang="zh-CN" altLang="zh-CN" sz="1200" kern="1200" dirty="0" smtClean="0">
                          <a:solidFill>
                            <a:schemeClr val="tx1"/>
                          </a:solidFill>
                          <a:effectLst/>
                          <a:latin typeface="+mn-lt"/>
                          <a:ea typeface="+mn-ea"/>
                          <a:cs typeface="+mn-cs"/>
                        </a:rPr>
                        <a:t>禁止</a:t>
                      </a:r>
                      <a:endParaRPr lang="zh-CN" sz="1200" kern="1200" dirty="0">
                        <a:solidFill>
                          <a:schemeClr val="tx1"/>
                        </a:solidFill>
                        <a:effectLst/>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034" rtl="0" eaLnBrk="1" latinLnBrk="0" hangingPunct="1">
                        <a:lnSpc>
                          <a:spcPts val="1200"/>
                        </a:lnSpc>
                        <a:spcBef>
                          <a:spcPts val="400"/>
                        </a:spcBef>
                        <a:spcAft>
                          <a:spcPts val="400"/>
                        </a:spcAft>
                      </a:pPr>
                      <a:r>
                        <a:rPr lang="zh-CN" altLang="en-US" sz="1200" kern="1200" dirty="0" smtClean="0">
                          <a:solidFill>
                            <a:schemeClr val="tx1"/>
                          </a:solidFill>
                          <a:effectLst/>
                          <a:latin typeface="+mn-lt"/>
                          <a:ea typeface="+mn-ea"/>
                          <a:cs typeface="+mn-cs"/>
                        </a:rPr>
                        <a:t>禁止</a:t>
                      </a:r>
                      <a:endParaRPr lang="zh-CN" sz="1200" kern="1200" dirty="0">
                        <a:solidFill>
                          <a:schemeClr val="tx1"/>
                        </a:solidFill>
                        <a:effectLst/>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034" rtl="0" eaLnBrk="1" latinLnBrk="0" hangingPunct="1">
                        <a:lnSpc>
                          <a:spcPts val="1200"/>
                        </a:lnSpc>
                        <a:spcBef>
                          <a:spcPts val="400"/>
                        </a:spcBef>
                        <a:spcAft>
                          <a:spcPts val="400"/>
                        </a:spcAft>
                      </a:pPr>
                      <a:r>
                        <a:rPr lang="zh-CN" altLang="en-US" sz="1200" kern="1200" dirty="0" smtClean="0">
                          <a:solidFill>
                            <a:schemeClr val="tx1"/>
                          </a:solidFill>
                          <a:effectLst/>
                          <a:latin typeface="+mn-lt"/>
                          <a:ea typeface="+mn-ea"/>
                          <a:cs typeface="+mn-cs"/>
                        </a:rPr>
                        <a:t>禁止</a:t>
                      </a:r>
                      <a:endParaRPr lang="zh-CN" sz="1200" kern="1200" dirty="0">
                        <a:solidFill>
                          <a:schemeClr val="tx1"/>
                        </a:solidFill>
                        <a:effectLst/>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034" rtl="0" eaLnBrk="1" latinLnBrk="0" hangingPunct="1">
                        <a:lnSpc>
                          <a:spcPts val="1200"/>
                        </a:lnSpc>
                        <a:spcBef>
                          <a:spcPts val="400"/>
                        </a:spcBef>
                        <a:spcAft>
                          <a:spcPts val="400"/>
                        </a:spcAft>
                      </a:pPr>
                      <a:endParaRPr lang="zh-CN" sz="1200" kern="1200" dirty="0">
                        <a:solidFill>
                          <a:schemeClr val="tx1"/>
                        </a:solidFill>
                        <a:effectLst/>
                        <a:latin typeface="+mn-lt"/>
                        <a:ea typeface="+mn-ea"/>
                        <a:cs typeface="+mn-cs"/>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169290">
                <a:tc>
                  <a:txBody>
                    <a:bodyPr/>
                    <a:lstStyle/>
                    <a:p>
                      <a:pPr marL="0" algn="ctr" defTabSz="914034" rtl="0" eaLnBrk="1" latinLnBrk="0" hangingPunct="1">
                        <a:lnSpc>
                          <a:spcPts val="1200"/>
                        </a:lnSpc>
                        <a:spcBef>
                          <a:spcPts val="400"/>
                        </a:spcBef>
                        <a:spcAft>
                          <a:spcPts val="400"/>
                        </a:spcAft>
                      </a:pPr>
                      <a:r>
                        <a:rPr lang="en-US" altLang="zh-CN" sz="1200" b="1" kern="1200" dirty="0" err="1" smtClean="0">
                          <a:solidFill>
                            <a:schemeClr val="tx1"/>
                          </a:solidFill>
                          <a:effectLst/>
                          <a:latin typeface="+mn-lt"/>
                          <a:ea typeface="+mn-ea"/>
                          <a:cs typeface="+mn-cs"/>
                        </a:rPr>
                        <a:t>Sales_Wireless</a:t>
                      </a:r>
                      <a:endParaRPr lang="zh-CN" altLang="zh-CN" sz="1200" b="1" kern="1200" dirty="0">
                        <a:solidFill>
                          <a:schemeClr val="tx1"/>
                        </a:solidFill>
                        <a:effectLst/>
                        <a:latin typeface="+mn-lt"/>
                        <a:ea typeface="+mn-ea"/>
                        <a:cs typeface="+mn-cs"/>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marL="0" algn="ctr" defTabSz="914034" rtl="0" eaLnBrk="1" latinLnBrk="0" hangingPunct="1">
                        <a:lnSpc>
                          <a:spcPts val="1200"/>
                        </a:lnSpc>
                        <a:spcBef>
                          <a:spcPts val="400"/>
                        </a:spcBef>
                        <a:spcAft>
                          <a:spcPts val="400"/>
                        </a:spcAft>
                      </a:pPr>
                      <a:endParaRPr lang="zh-CN" sz="1200" kern="1200" dirty="0">
                        <a:solidFill>
                          <a:schemeClr val="tx1"/>
                        </a:solidFill>
                        <a:effectLst/>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034" rtl="0" eaLnBrk="1" latinLnBrk="0" hangingPunct="1">
                        <a:lnSpc>
                          <a:spcPts val="1200"/>
                        </a:lnSpc>
                        <a:spcBef>
                          <a:spcPts val="400"/>
                        </a:spcBef>
                        <a:spcAft>
                          <a:spcPts val="400"/>
                        </a:spcAft>
                      </a:pPr>
                      <a:endParaRPr lang="zh-CN" sz="1200" kern="1200" dirty="0">
                        <a:solidFill>
                          <a:schemeClr val="tx1"/>
                        </a:solidFill>
                        <a:effectLst/>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034" rtl="0" eaLnBrk="1" latinLnBrk="0" hangingPunct="1">
                        <a:lnSpc>
                          <a:spcPts val="1200"/>
                        </a:lnSpc>
                        <a:spcBef>
                          <a:spcPts val="400"/>
                        </a:spcBef>
                        <a:spcAft>
                          <a:spcPts val="400"/>
                        </a:spcAft>
                      </a:pPr>
                      <a:r>
                        <a:rPr lang="zh-CN" altLang="en-US" sz="1200" kern="1200" dirty="0" smtClean="0">
                          <a:solidFill>
                            <a:schemeClr val="tx1"/>
                          </a:solidFill>
                          <a:effectLst/>
                          <a:latin typeface="+mn-lt"/>
                          <a:ea typeface="+mn-ea"/>
                          <a:cs typeface="+mn-cs"/>
                        </a:rPr>
                        <a:t>禁止</a:t>
                      </a:r>
                      <a:endParaRPr lang="zh-CN" sz="1200" kern="1200" dirty="0">
                        <a:solidFill>
                          <a:schemeClr val="tx1"/>
                        </a:solidFill>
                        <a:effectLst/>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034" rtl="0" eaLnBrk="1" latinLnBrk="0" hangingPunct="1">
                        <a:lnSpc>
                          <a:spcPts val="1200"/>
                        </a:lnSpc>
                        <a:spcBef>
                          <a:spcPts val="400"/>
                        </a:spcBef>
                        <a:spcAft>
                          <a:spcPts val="400"/>
                        </a:spcAft>
                      </a:pPr>
                      <a:r>
                        <a:rPr lang="zh-CN" altLang="en-US" sz="1200" kern="1200" dirty="0" smtClean="0">
                          <a:solidFill>
                            <a:schemeClr val="tx1"/>
                          </a:solidFill>
                          <a:effectLst/>
                          <a:latin typeface="+mn-lt"/>
                          <a:ea typeface="+mn-ea"/>
                          <a:cs typeface="+mn-cs"/>
                        </a:rPr>
                        <a:t>禁止</a:t>
                      </a:r>
                      <a:endParaRPr lang="zh-CN" sz="1200" kern="1200" dirty="0">
                        <a:solidFill>
                          <a:schemeClr val="tx1"/>
                        </a:solidFill>
                        <a:effectLst/>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034" rtl="0" eaLnBrk="1" latinLnBrk="0" hangingPunct="1">
                        <a:lnSpc>
                          <a:spcPts val="1200"/>
                        </a:lnSpc>
                        <a:spcBef>
                          <a:spcPts val="400"/>
                        </a:spcBef>
                        <a:spcAft>
                          <a:spcPts val="400"/>
                        </a:spcAft>
                      </a:pPr>
                      <a:r>
                        <a:rPr lang="zh-CN" altLang="en-US" sz="1200" kern="1200" dirty="0" smtClean="0">
                          <a:solidFill>
                            <a:schemeClr val="tx1"/>
                          </a:solidFill>
                          <a:effectLst/>
                          <a:latin typeface="+mn-lt"/>
                          <a:ea typeface="+mn-ea"/>
                          <a:cs typeface="+mn-cs"/>
                        </a:rPr>
                        <a:t>禁止</a:t>
                      </a:r>
                      <a:endParaRPr lang="zh-CN" sz="1200" kern="1200" dirty="0">
                        <a:solidFill>
                          <a:schemeClr val="tx1"/>
                        </a:solidFill>
                        <a:effectLst/>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034" rtl="0" eaLnBrk="1" latinLnBrk="0" hangingPunct="1">
                        <a:lnSpc>
                          <a:spcPts val="1200"/>
                        </a:lnSpc>
                        <a:spcBef>
                          <a:spcPts val="400"/>
                        </a:spcBef>
                        <a:spcAft>
                          <a:spcPts val="400"/>
                        </a:spcAft>
                      </a:pPr>
                      <a:endParaRPr lang="zh-CN" sz="1200" kern="1200" dirty="0">
                        <a:solidFill>
                          <a:schemeClr val="tx1"/>
                        </a:solidFill>
                        <a:effectLst/>
                        <a:latin typeface="+mn-lt"/>
                        <a:ea typeface="+mn-ea"/>
                        <a:cs typeface="+mn-cs"/>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169290">
                <a:tc>
                  <a:txBody>
                    <a:bodyPr/>
                    <a:lstStyle/>
                    <a:p>
                      <a:pPr marL="0" marR="0" lvl="0" indent="0" algn="ctr" defTabSz="914034" rtl="0" eaLnBrk="1" fontAlgn="auto" latinLnBrk="0" hangingPunct="1">
                        <a:lnSpc>
                          <a:spcPts val="1200"/>
                        </a:lnSpc>
                        <a:spcBef>
                          <a:spcPts val="400"/>
                        </a:spcBef>
                        <a:spcAft>
                          <a:spcPts val="400"/>
                        </a:spcAft>
                        <a:buClrTx/>
                        <a:buSzTx/>
                        <a:buFontTx/>
                        <a:buNone/>
                        <a:tabLst/>
                        <a:defRPr/>
                      </a:pPr>
                      <a:r>
                        <a:rPr lang="en-US" altLang="zh-CN" sz="1200" b="1" kern="1200" dirty="0" err="1" smtClean="0">
                          <a:solidFill>
                            <a:schemeClr val="tx1"/>
                          </a:solidFill>
                          <a:effectLst/>
                          <a:latin typeface="+mn-lt"/>
                          <a:ea typeface="+mn-ea"/>
                          <a:cs typeface="+mn-cs"/>
                        </a:rPr>
                        <a:t>Market_Wired</a:t>
                      </a:r>
                      <a:endParaRPr lang="zh-CN" altLang="zh-CN" sz="1200" b="1" kern="1200" dirty="0" smtClean="0">
                        <a:solidFill>
                          <a:schemeClr val="tx1"/>
                        </a:solidFill>
                        <a:effectLst/>
                        <a:latin typeface="+mn-lt"/>
                        <a:ea typeface="+mn-ea"/>
                        <a:cs typeface="+mn-cs"/>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marL="0" algn="ctr" defTabSz="914034" rtl="0" eaLnBrk="1" latinLnBrk="0" hangingPunct="1">
                        <a:lnSpc>
                          <a:spcPts val="1200"/>
                        </a:lnSpc>
                        <a:spcBef>
                          <a:spcPts val="400"/>
                        </a:spcBef>
                        <a:spcAft>
                          <a:spcPts val="400"/>
                        </a:spcAft>
                      </a:pPr>
                      <a:r>
                        <a:rPr lang="zh-CN" altLang="en-US" sz="1200" kern="1200" dirty="0" smtClean="0">
                          <a:solidFill>
                            <a:schemeClr val="tx1"/>
                          </a:solidFill>
                          <a:effectLst/>
                          <a:latin typeface="+mn-lt"/>
                          <a:ea typeface="+mn-ea"/>
                          <a:cs typeface="+mn-cs"/>
                        </a:rPr>
                        <a:t>禁止</a:t>
                      </a:r>
                      <a:endParaRPr lang="zh-CN" sz="1200" kern="1200" dirty="0">
                        <a:solidFill>
                          <a:schemeClr val="tx1"/>
                        </a:solidFill>
                        <a:effectLst/>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034" rtl="0" eaLnBrk="1" latinLnBrk="0" hangingPunct="1">
                        <a:lnSpc>
                          <a:spcPts val="1200"/>
                        </a:lnSpc>
                        <a:spcBef>
                          <a:spcPts val="400"/>
                        </a:spcBef>
                        <a:spcAft>
                          <a:spcPts val="400"/>
                        </a:spcAft>
                      </a:pPr>
                      <a:r>
                        <a:rPr lang="zh-CN" altLang="en-US" sz="1200" kern="1200" dirty="0" smtClean="0">
                          <a:solidFill>
                            <a:schemeClr val="tx1"/>
                          </a:solidFill>
                          <a:effectLst/>
                          <a:latin typeface="+mn-lt"/>
                          <a:ea typeface="+mn-ea"/>
                          <a:cs typeface="+mn-cs"/>
                        </a:rPr>
                        <a:t>禁止</a:t>
                      </a:r>
                      <a:endParaRPr lang="zh-CN" sz="1200" kern="1200" dirty="0">
                        <a:solidFill>
                          <a:schemeClr val="tx1"/>
                        </a:solidFill>
                        <a:effectLst/>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034" rtl="0" eaLnBrk="1" latinLnBrk="0" hangingPunct="1">
                        <a:lnSpc>
                          <a:spcPts val="1200"/>
                        </a:lnSpc>
                        <a:spcBef>
                          <a:spcPts val="400"/>
                        </a:spcBef>
                        <a:spcAft>
                          <a:spcPts val="400"/>
                        </a:spcAft>
                      </a:pPr>
                      <a:endParaRPr lang="zh-CN" sz="1200" kern="1200" dirty="0">
                        <a:solidFill>
                          <a:schemeClr val="tx1"/>
                        </a:solidFill>
                        <a:effectLst/>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034" rtl="0" eaLnBrk="1" latinLnBrk="0" hangingPunct="1">
                        <a:lnSpc>
                          <a:spcPts val="1200"/>
                        </a:lnSpc>
                        <a:spcBef>
                          <a:spcPts val="400"/>
                        </a:spcBef>
                        <a:spcAft>
                          <a:spcPts val="400"/>
                        </a:spcAft>
                      </a:pPr>
                      <a:endParaRPr lang="zh-CN" sz="1200" kern="1200" dirty="0">
                        <a:solidFill>
                          <a:schemeClr val="tx1"/>
                        </a:solidFill>
                        <a:effectLst/>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034" rtl="0" eaLnBrk="1" latinLnBrk="0" hangingPunct="1">
                        <a:lnSpc>
                          <a:spcPts val="1200"/>
                        </a:lnSpc>
                        <a:spcBef>
                          <a:spcPts val="400"/>
                        </a:spcBef>
                        <a:spcAft>
                          <a:spcPts val="400"/>
                        </a:spcAft>
                      </a:pPr>
                      <a:endParaRPr lang="zh-CN" sz="1200" kern="1200" dirty="0">
                        <a:solidFill>
                          <a:schemeClr val="tx1"/>
                        </a:solidFill>
                        <a:effectLst/>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034" rtl="0" eaLnBrk="1" latinLnBrk="0" hangingPunct="1">
                        <a:lnSpc>
                          <a:spcPts val="1200"/>
                        </a:lnSpc>
                        <a:spcBef>
                          <a:spcPts val="400"/>
                        </a:spcBef>
                        <a:spcAft>
                          <a:spcPts val="400"/>
                        </a:spcAft>
                      </a:pPr>
                      <a:endParaRPr lang="zh-CN" sz="1200" kern="1200" dirty="0">
                        <a:solidFill>
                          <a:schemeClr val="tx1"/>
                        </a:solidFill>
                        <a:effectLst/>
                        <a:latin typeface="+mn-lt"/>
                        <a:ea typeface="+mn-ea"/>
                        <a:cs typeface="+mn-cs"/>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169290">
                <a:tc>
                  <a:txBody>
                    <a:bodyPr/>
                    <a:lstStyle/>
                    <a:p>
                      <a:pPr marL="0" algn="ctr" defTabSz="914034" rtl="0" eaLnBrk="1" latinLnBrk="0" hangingPunct="1">
                        <a:lnSpc>
                          <a:spcPts val="1200"/>
                        </a:lnSpc>
                        <a:spcBef>
                          <a:spcPts val="400"/>
                        </a:spcBef>
                        <a:spcAft>
                          <a:spcPts val="400"/>
                        </a:spcAft>
                      </a:pPr>
                      <a:r>
                        <a:rPr lang="en-US" altLang="zh-CN" sz="1200" b="1" kern="1200" dirty="0" err="1" smtClean="0">
                          <a:solidFill>
                            <a:schemeClr val="tx1"/>
                          </a:solidFill>
                          <a:effectLst/>
                          <a:latin typeface="+mn-lt"/>
                          <a:ea typeface="+mn-ea"/>
                          <a:cs typeface="+mn-cs"/>
                        </a:rPr>
                        <a:t>Market_Wireless</a:t>
                      </a:r>
                      <a:endParaRPr lang="zh-CN" altLang="zh-CN" sz="1200" b="1" kern="1200" dirty="0">
                        <a:solidFill>
                          <a:schemeClr val="tx1"/>
                        </a:solidFill>
                        <a:effectLst/>
                        <a:latin typeface="+mn-lt"/>
                        <a:ea typeface="+mn-ea"/>
                        <a:cs typeface="+mn-cs"/>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marL="0" algn="ctr" defTabSz="914034" rtl="0" eaLnBrk="1" latinLnBrk="0" hangingPunct="1">
                        <a:lnSpc>
                          <a:spcPts val="1200"/>
                        </a:lnSpc>
                        <a:spcBef>
                          <a:spcPts val="400"/>
                        </a:spcBef>
                        <a:spcAft>
                          <a:spcPts val="400"/>
                        </a:spcAft>
                      </a:pPr>
                      <a:r>
                        <a:rPr lang="zh-CN" altLang="en-US" sz="1200" kern="1200" dirty="0" smtClean="0">
                          <a:solidFill>
                            <a:schemeClr val="tx1"/>
                          </a:solidFill>
                          <a:effectLst/>
                          <a:latin typeface="+mn-lt"/>
                          <a:ea typeface="+mn-ea"/>
                          <a:cs typeface="+mn-cs"/>
                        </a:rPr>
                        <a:t>禁止</a:t>
                      </a:r>
                      <a:endParaRPr lang="zh-CN" sz="1200" kern="1200" dirty="0">
                        <a:solidFill>
                          <a:schemeClr val="tx1"/>
                        </a:solidFill>
                        <a:effectLst/>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034" rtl="0" eaLnBrk="1" latinLnBrk="0" hangingPunct="1">
                        <a:lnSpc>
                          <a:spcPts val="1200"/>
                        </a:lnSpc>
                        <a:spcBef>
                          <a:spcPts val="400"/>
                        </a:spcBef>
                        <a:spcAft>
                          <a:spcPts val="400"/>
                        </a:spcAft>
                      </a:pPr>
                      <a:r>
                        <a:rPr lang="zh-CN" altLang="en-US" sz="1200" kern="1200" dirty="0" smtClean="0">
                          <a:solidFill>
                            <a:schemeClr val="tx1"/>
                          </a:solidFill>
                          <a:effectLst/>
                          <a:latin typeface="+mn-lt"/>
                          <a:ea typeface="+mn-ea"/>
                          <a:cs typeface="+mn-cs"/>
                        </a:rPr>
                        <a:t>禁止</a:t>
                      </a:r>
                      <a:endParaRPr lang="zh-CN" sz="1200" kern="1200" dirty="0">
                        <a:solidFill>
                          <a:schemeClr val="tx1"/>
                        </a:solidFill>
                        <a:effectLst/>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034" rtl="0" eaLnBrk="1" latinLnBrk="0" hangingPunct="1">
                        <a:lnSpc>
                          <a:spcPts val="1200"/>
                        </a:lnSpc>
                        <a:spcBef>
                          <a:spcPts val="400"/>
                        </a:spcBef>
                        <a:spcAft>
                          <a:spcPts val="400"/>
                        </a:spcAft>
                      </a:pPr>
                      <a:endParaRPr lang="zh-CN" sz="1200" kern="1200" dirty="0">
                        <a:solidFill>
                          <a:schemeClr val="tx1"/>
                        </a:solidFill>
                        <a:effectLst/>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034" rtl="0" eaLnBrk="1" latinLnBrk="0" hangingPunct="1">
                        <a:lnSpc>
                          <a:spcPts val="1200"/>
                        </a:lnSpc>
                        <a:spcBef>
                          <a:spcPts val="400"/>
                        </a:spcBef>
                        <a:spcAft>
                          <a:spcPts val="400"/>
                        </a:spcAft>
                      </a:pPr>
                      <a:endParaRPr lang="zh-CN" sz="1200" kern="1200" dirty="0">
                        <a:solidFill>
                          <a:schemeClr val="tx1"/>
                        </a:solidFill>
                        <a:effectLst/>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034" rtl="0" eaLnBrk="1" latinLnBrk="0" hangingPunct="1">
                        <a:lnSpc>
                          <a:spcPts val="1200"/>
                        </a:lnSpc>
                        <a:spcBef>
                          <a:spcPts val="400"/>
                        </a:spcBef>
                        <a:spcAft>
                          <a:spcPts val="400"/>
                        </a:spcAft>
                      </a:pPr>
                      <a:r>
                        <a:rPr lang="zh-CN" altLang="en-US" sz="1200" kern="1200" dirty="0" smtClean="0">
                          <a:solidFill>
                            <a:schemeClr val="tx1"/>
                          </a:solidFill>
                          <a:effectLst/>
                          <a:latin typeface="+mn-lt"/>
                          <a:ea typeface="+mn-ea"/>
                          <a:cs typeface="+mn-cs"/>
                        </a:rPr>
                        <a:t>禁止</a:t>
                      </a:r>
                      <a:endParaRPr lang="zh-CN" sz="1200" kern="1200" dirty="0">
                        <a:solidFill>
                          <a:schemeClr val="tx1"/>
                        </a:solidFill>
                        <a:effectLst/>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034" rtl="0" eaLnBrk="1" latinLnBrk="0" hangingPunct="1">
                        <a:lnSpc>
                          <a:spcPts val="1200"/>
                        </a:lnSpc>
                        <a:spcBef>
                          <a:spcPts val="400"/>
                        </a:spcBef>
                        <a:spcAft>
                          <a:spcPts val="400"/>
                        </a:spcAft>
                      </a:pPr>
                      <a:endParaRPr lang="zh-CN" sz="1200" kern="1200" dirty="0">
                        <a:solidFill>
                          <a:schemeClr val="tx1"/>
                        </a:solidFill>
                        <a:effectLst/>
                        <a:latin typeface="+mn-lt"/>
                        <a:ea typeface="+mn-ea"/>
                        <a:cs typeface="+mn-cs"/>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169290">
                <a:tc>
                  <a:txBody>
                    <a:bodyPr/>
                    <a:lstStyle/>
                    <a:p>
                      <a:pPr marL="0" algn="ctr" defTabSz="914034" rtl="0" eaLnBrk="1" latinLnBrk="0" hangingPunct="1">
                        <a:lnSpc>
                          <a:spcPts val="1200"/>
                        </a:lnSpc>
                        <a:spcBef>
                          <a:spcPts val="400"/>
                        </a:spcBef>
                        <a:spcAft>
                          <a:spcPts val="400"/>
                        </a:spcAft>
                      </a:pPr>
                      <a:r>
                        <a:rPr lang="en-US" sz="1200" b="1" kern="1200" dirty="0" smtClean="0">
                          <a:solidFill>
                            <a:schemeClr val="tx1"/>
                          </a:solidFill>
                          <a:effectLst/>
                          <a:latin typeface="+mn-lt"/>
                          <a:ea typeface="+mn-ea"/>
                          <a:cs typeface="+mn-cs"/>
                        </a:rPr>
                        <a:t>RD</a:t>
                      </a:r>
                      <a:endParaRPr lang="zh-CN" sz="1200" b="1" kern="1200" dirty="0">
                        <a:solidFill>
                          <a:schemeClr val="tx1"/>
                        </a:solidFill>
                        <a:effectLst/>
                        <a:latin typeface="+mn-lt"/>
                        <a:ea typeface="+mn-ea"/>
                        <a:cs typeface="+mn-cs"/>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lumMod val="85000"/>
                      </a:schemeClr>
                    </a:solidFill>
                  </a:tcPr>
                </a:tc>
                <a:tc>
                  <a:txBody>
                    <a:bodyPr/>
                    <a:lstStyle/>
                    <a:p>
                      <a:pPr marL="0" algn="ctr" defTabSz="914034" rtl="0" eaLnBrk="1" latinLnBrk="0" hangingPunct="1">
                        <a:lnSpc>
                          <a:spcPts val="1200"/>
                        </a:lnSpc>
                        <a:spcBef>
                          <a:spcPts val="400"/>
                        </a:spcBef>
                        <a:spcAft>
                          <a:spcPts val="400"/>
                        </a:spcAft>
                      </a:pPr>
                      <a:r>
                        <a:rPr lang="zh-CN" altLang="en-US" sz="1200" kern="1200" dirty="0" smtClean="0">
                          <a:solidFill>
                            <a:schemeClr val="tx1"/>
                          </a:solidFill>
                          <a:effectLst/>
                          <a:latin typeface="+mn-lt"/>
                          <a:ea typeface="+mn-ea"/>
                          <a:cs typeface="+mn-cs"/>
                        </a:rPr>
                        <a:t>禁止</a:t>
                      </a:r>
                      <a:endParaRPr lang="zh-CN" sz="1200" kern="1200" dirty="0">
                        <a:solidFill>
                          <a:schemeClr val="tx1"/>
                        </a:solidFill>
                        <a:effectLst/>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marL="0" algn="ctr" defTabSz="914034" rtl="0" eaLnBrk="1" latinLnBrk="0" hangingPunct="1">
                        <a:lnSpc>
                          <a:spcPts val="1200"/>
                        </a:lnSpc>
                        <a:spcBef>
                          <a:spcPts val="400"/>
                        </a:spcBef>
                        <a:spcAft>
                          <a:spcPts val="400"/>
                        </a:spcAft>
                      </a:pPr>
                      <a:r>
                        <a:rPr lang="zh-CN" altLang="en-US" sz="1200" kern="1200" dirty="0" smtClean="0">
                          <a:solidFill>
                            <a:schemeClr val="tx1"/>
                          </a:solidFill>
                          <a:effectLst/>
                          <a:latin typeface="+mn-lt"/>
                          <a:ea typeface="+mn-ea"/>
                          <a:cs typeface="+mn-cs"/>
                        </a:rPr>
                        <a:t>禁止</a:t>
                      </a:r>
                      <a:endParaRPr lang="zh-CN" sz="1200" kern="1200" dirty="0">
                        <a:solidFill>
                          <a:schemeClr val="tx1"/>
                        </a:solidFill>
                        <a:effectLst/>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marL="0" algn="ctr" defTabSz="914034" rtl="0" eaLnBrk="1" latinLnBrk="0" hangingPunct="1">
                        <a:lnSpc>
                          <a:spcPts val="1200"/>
                        </a:lnSpc>
                        <a:spcBef>
                          <a:spcPts val="400"/>
                        </a:spcBef>
                        <a:spcAft>
                          <a:spcPts val="400"/>
                        </a:spcAft>
                      </a:pPr>
                      <a:endParaRPr lang="zh-CN" sz="1200" kern="1200" dirty="0">
                        <a:solidFill>
                          <a:schemeClr val="tx1"/>
                        </a:solidFill>
                        <a:effectLst/>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marL="0" algn="ctr" defTabSz="914034" rtl="0" eaLnBrk="1" latinLnBrk="0" hangingPunct="1">
                        <a:lnSpc>
                          <a:spcPts val="1200"/>
                        </a:lnSpc>
                        <a:spcBef>
                          <a:spcPts val="400"/>
                        </a:spcBef>
                        <a:spcAft>
                          <a:spcPts val="400"/>
                        </a:spcAft>
                      </a:pPr>
                      <a:r>
                        <a:rPr lang="zh-CN" altLang="en-US" sz="1200" kern="1200" dirty="0" smtClean="0">
                          <a:solidFill>
                            <a:schemeClr val="tx1"/>
                          </a:solidFill>
                          <a:effectLst/>
                          <a:latin typeface="+mn-lt"/>
                          <a:ea typeface="+mn-ea"/>
                          <a:cs typeface="+mn-cs"/>
                        </a:rPr>
                        <a:t>禁止</a:t>
                      </a:r>
                      <a:endParaRPr lang="zh-CN" sz="1200" kern="1200" dirty="0">
                        <a:solidFill>
                          <a:schemeClr val="tx1"/>
                        </a:solidFill>
                        <a:effectLst/>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marL="0" algn="ctr" defTabSz="914034" rtl="0" eaLnBrk="1" latinLnBrk="0" hangingPunct="1">
                        <a:lnSpc>
                          <a:spcPts val="1200"/>
                        </a:lnSpc>
                        <a:spcBef>
                          <a:spcPts val="400"/>
                        </a:spcBef>
                        <a:spcAft>
                          <a:spcPts val="400"/>
                        </a:spcAft>
                      </a:pPr>
                      <a:endParaRPr lang="zh-CN" sz="1200" kern="1200" dirty="0">
                        <a:solidFill>
                          <a:schemeClr val="tx1"/>
                        </a:solidFill>
                        <a:effectLst/>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marL="0" algn="ctr" defTabSz="914034" rtl="0" eaLnBrk="1" latinLnBrk="0" hangingPunct="1">
                        <a:lnSpc>
                          <a:spcPts val="1200"/>
                        </a:lnSpc>
                        <a:spcBef>
                          <a:spcPts val="400"/>
                        </a:spcBef>
                        <a:spcAft>
                          <a:spcPts val="400"/>
                        </a:spcAft>
                      </a:pPr>
                      <a:r>
                        <a:rPr lang="zh-CN" altLang="en-US" sz="1200" kern="1200" dirty="0" smtClean="0">
                          <a:solidFill>
                            <a:schemeClr val="tx1"/>
                          </a:solidFill>
                          <a:effectLst/>
                          <a:latin typeface="+mn-lt"/>
                          <a:ea typeface="+mn-ea"/>
                          <a:cs typeface="+mn-cs"/>
                        </a:rPr>
                        <a:t>禁止</a:t>
                      </a:r>
                      <a:endParaRPr lang="zh-CN" sz="1200" kern="1200" dirty="0">
                        <a:solidFill>
                          <a:schemeClr val="tx1"/>
                        </a:solidFill>
                        <a:effectLst/>
                        <a:latin typeface="+mn-lt"/>
                        <a:ea typeface="+mn-ea"/>
                        <a:cs typeface="+mn-cs"/>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r>
            </a:tbl>
          </a:graphicData>
        </a:graphic>
      </p:graphicFrame>
      <p:sp>
        <p:nvSpPr>
          <p:cNvPr id="29" name="椭圆 28"/>
          <p:cNvSpPr/>
          <p:nvPr/>
        </p:nvSpPr>
        <p:spPr bwMode="gray">
          <a:xfrm>
            <a:off x="1542293" y="1715189"/>
            <a:ext cx="612000" cy="612000"/>
          </a:xfrm>
          <a:prstGeom prst="ellipse">
            <a:avLst/>
          </a:prstGeom>
          <a:solidFill>
            <a:schemeClr val="accent5">
              <a:lumMod val="20000"/>
              <a:lumOff val="80000"/>
            </a:schemeClr>
          </a:solid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30" name="文本框 29"/>
          <p:cNvSpPr txBox="1"/>
          <p:nvPr/>
        </p:nvSpPr>
        <p:spPr bwMode="gray">
          <a:xfrm>
            <a:off x="1453527" y="1796652"/>
            <a:ext cx="785094" cy="461665"/>
          </a:xfrm>
          <a:prstGeom prst="rect">
            <a:avLst/>
          </a:prstGeom>
          <a:noFill/>
        </p:spPr>
        <p:txBody>
          <a:bodyPr wrap="square" rtlCol="0">
            <a:spAutoFit/>
          </a:bodyPr>
          <a:lstStyle/>
          <a:p>
            <a:pPr algn="ctr"/>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Sales_</a:t>
            </a:r>
          </a:p>
          <a:p>
            <a:pPr algn="ctr"/>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Wireless</a:t>
            </a:r>
            <a:endParaRPr lang="en-US" altLang="zh-CN" sz="12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31" name="椭圆 30"/>
          <p:cNvSpPr/>
          <p:nvPr/>
        </p:nvSpPr>
        <p:spPr bwMode="gray">
          <a:xfrm>
            <a:off x="2320750" y="1715189"/>
            <a:ext cx="612000" cy="612000"/>
          </a:xfrm>
          <a:prstGeom prst="ellipse">
            <a:avLst/>
          </a:prstGeom>
          <a:solidFill>
            <a:schemeClr val="accent5">
              <a:lumMod val="20000"/>
              <a:lumOff val="80000"/>
            </a:schemeClr>
          </a:solid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32" name="文本框 31"/>
          <p:cNvSpPr txBox="1"/>
          <p:nvPr/>
        </p:nvSpPr>
        <p:spPr bwMode="gray">
          <a:xfrm>
            <a:off x="2231984" y="1796652"/>
            <a:ext cx="785094" cy="461665"/>
          </a:xfrm>
          <a:prstGeom prst="rect">
            <a:avLst/>
          </a:prstGeom>
          <a:noFill/>
        </p:spPr>
        <p:txBody>
          <a:bodyPr wrap="square" rtlCol="0">
            <a:spAutoFit/>
          </a:bodyPr>
          <a:lstStyle/>
          <a:p>
            <a:pPr algn="ctr"/>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Market_</a:t>
            </a:r>
          </a:p>
          <a:p>
            <a:pPr algn="ct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Wired</a:t>
            </a:r>
          </a:p>
        </p:txBody>
      </p:sp>
      <p:sp>
        <p:nvSpPr>
          <p:cNvPr id="33" name="椭圆 32"/>
          <p:cNvSpPr/>
          <p:nvPr/>
        </p:nvSpPr>
        <p:spPr bwMode="gray">
          <a:xfrm>
            <a:off x="3105844" y="1715189"/>
            <a:ext cx="612000" cy="612000"/>
          </a:xfrm>
          <a:prstGeom prst="ellipse">
            <a:avLst/>
          </a:prstGeom>
          <a:solidFill>
            <a:schemeClr val="accent5">
              <a:lumMod val="20000"/>
              <a:lumOff val="80000"/>
            </a:schemeClr>
          </a:solid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34" name="文本框 33"/>
          <p:cNvSpPr txBox="1"/>
          <p:nvPr/>
        </p:nvSpPr>
        <p:spPr bwMode="gray">
          <a:xfrm>
            <a:off x="3017078" y="1796652"/>
            <a:ext cx="785094" cy="461665"/>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Market</a:t>
            </a:r>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_</a:t>
            </a:r>
          </a:p>
          <a:p>
            <a:pPr algn="ctr"/>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Wireless</a:t>
            </a:r>
            <a:endParaRPr lang="en-US" altLang="zh-CN" sz="1200" dirty="0">
              <a:latin typeface="Huawei Sans" panose="020C0503030203020204" pitchFamily="34" charset="0"/>
              <a:ea typeface="方正兰亭黑简体" panose="02000000000000000000" pitchFamily="2" charset="-122"/>
              <a:cs typeface="Huawei Sans" panose="020C0503030203020204" pitchFamily="34" charset="0"/>
            </a:endParaRPr>
          </a:p>
        </p:txBody>
      </p:sp>
      <p:pic>
        <p:nvPicPr>
          <p:cNvPr id="35" name="图片 34" descr="PC.png">
            <a:extLst>
              <a:ext uri="{FF2B5EF4-FFF2-40B4-BE49-F238E27FC236}">
                <a16:creationId xmlns="" xmlns:a16="http://schemas.microsoft.com/office/drawing/2014/main" id="{4666702E-823D-4236-BF2F-880359158C83}"/>
              </a:ext>
            </a:extLst>
          </p:cNvPr>
          <p:cNvPicPr>
            <a:picLocks noChangeAspect="1"/>
          </p:cNvPicPr>
          <p:nvPr/>
        </p:nvPicPr>
        <p:blipFill>
          <a:blip r:embed="rId3" cstate="print"/>
          <a:stretch>
            <a:fillRect/>
          </a:stretch>
        </p:blipFill>
        <p:spPr bwMode="gray">
          <a:xfrm>
            <a:off x="2865256" y="2976217"/>
            <a:ext cx="445506" cy="342149"/>
          </a:xfrm>
          <a:prstGeom prst="rect">
            <a:avLst/>
          </a:prstGeom>
        </p:spPr>
      </p:pic>
      <p:sp>
        <p:nvSpPr>
          <p:cNvPr id="36" name="文本框 35"/>
          <p:cNvSpPr txBox="1"/>
          <p:nvPr/>
        </p:nvSpPr>
        <p:spPr bwMode="gray">
          <a:xfrm>
            <a:off x="2606147" y="3304509"/>
            <a:ext cx="963725" cy="646331"/>
          </a:xfrm>
          <a:prstGeom prst="rect">
            <a:avLst/>
          </a:prstGeom>
          <a:noFill/>
        </p:spPr>
        <p:txBody>
          <a:bodyPr wrap="none" rtlCol="0">
            <a:spAutoFit/>
          </a:bodyPr>
          <a:lstStyle/>
          <a:p>
            <a:pPr algn="ctr"/>
            <a:r>
              <a:rPr lang="en-US" altLang="zh-CN" sz="1200" b="1" dirty="0">
                <a:latin typeface="Huawei Sans" panose="020C0503030203020204" pitchFamily="34" charset="0"/>
                <a:ea typeface="方正兰亭黑简体" panose="02000000000000000000" pitchFamily="2" charset="-122"/>
                <a:cs typeface="Huawei Sans" panose="020C0503030203020204" pitchFamily="34" charset="0"/>
              </a:rPr>
              <a:t>Market</a:t>
            </a:r>
            <a:r>
              <a:rPr lang="en-US" altLang="zh-CN" sz="1200" b="1" dirty="0" smtClean="0">
                <a:latin typeface="Huawei Sans" panose="020C0503030203020204" pitchFamily="34" charset="0"/>
                <a:ea typeface="方正兰亭黑简体" panose="02000000000000000000" pitchFamily="2" charset="-122"/>
                <a:cs typeface="Huawei Sans" panose="020C0503030203020204" pitchFamily="34" charset="0"/>
              </a:rPr>
              <a:t>_</a:t>
            </a:r>
          </a:p>
          <a:p>
            <a:pPr algn="ctr"/>
            <a:r>
              <a:rPr lang="en-US" altLang="zh-CN" sz="1200" b="1" dirty="0" smtClean="0">
                <a:latin typeface="Huawei Sans" panose="020C0503030203020204" pitchFamily="34" charset="0"/>
                <a:ea typeface="方正兰亭黑简体" panose="02000000000000000000" pitchFamily="2" charset="-122"/>
                <a:cs typeface="Huawei Sans" panose="020C0503030203020204" pitchFamily="34" charset="0"/>
              </a:rPr>
              <a:t>Wired</a:t>
            </a:r>
          </a:p>
          <a:p>
            <a:pPr algn="ctr"/>
            <a:r>
              <a:rPr lang="zh-CN" altLang="en-US" sz="1200" dirty="0">
                <a:latin typeface="Huawei Sans" panose="020C0503030203020204" pitchFamily="34" charset="0"/>
                <a:ea typeface="方正兰亭黑简体" panose="02000000000000000000" pitchFamily="2" charset="-122"/>
                <a:cs typeface="Huawei Sans" panose="020C0503030203020204" pitchFamily="34" charset="0"/>
              </a:rPr>
              <a:t>（</a:t>
            </a: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802.1X</a:t>
            </a:r>
            <a:r>
              <a:rPr lang="zh-CN" altLang="en-US" sz="1200" dirty="0">
                <a:latin typeface="Huawei Sans" panose="020C0503030203020204" pitchFamily="34" charset="0"/>
                <a:ea typeface="方正兰亭黑简体" panose="02000000000000000000" pitchFamily="2" charset="-122"/>
                <a:cs typeface="Huawei Sans" panose="020C0503030203020204" pitchFamily="34" charset="0"/>
              </a:rPr>
              <a:t>）</a:t>
            </a:r>
          </a:p>
        </p:txBody>
      </p:sp>
      <p:pic>
        <p:nvPicPr>
          <p:cNvPr id="37" name="图片 14" descr="日志告警服务器-蓝.png"/>
          <p:cNvPicPr>
            <a:picLocks noChangeAspect="1"/>
          </p:cNvPicPr>
          <p:nvPr/>
        </p:nvPicPr>
        <p:blipFill>
          <a:blip r:embed="rId4" cstate="print"/>
          <a:stretch>
            <a:fillRect/>
          </a:stretch>
        </p:blipFill>
        <p:spPr bwMode="gray">
          <a:xfrm>
            <a:off x="3999806" y="3013844"/>
            <a:ext cx="445956" cy="278465"/>
          </a:xfrm>
          <a:prstGeom prst="rect">
            <a:avLst/>
          </a:prstGeom>
        </p:spPr>
      </p:pic>
      <p:sp>
        <p:nvSpPr>
          <p:cNvPr id="38" name="文本框 37"/>
          <p:cNvSpPr txBox="1"/>
          <p:nvPr/>
        </p:nvSpPr>
        <p:spPr bwMode="gray">
          <a:xfrm>
            <a:off x="3780585" y="3304509"/>
            <a:ext cx="909223" cy="646331"/>
          </a:xfrm>
          <a:prstGeom prst="rect">
            <a:avLst/>
          </a:prstGeom>
          <a:noFill/>
        </p:spPr>
        <p:txBody>
          <a:bodyPr wrap="none" rtlCol="0">
            <a:spAutoFit/>
          </a:bodyPr>
          <a:lstStyle/>
          <a:p>
            <a:pPr algn="ctr"/>
            <a:r>
              <a:rPr lang="en-US" altLang="zh-CN" sz="1200" b="1" dirty="0">
                <a:latin typeface="Huawei Sans" panose="020C0503030203020204" pitchFamily="34" charset="0"/>
                <a:ea typeface="方正兰亭黑简体" panose="02000000000000000000" pitchFamily="2" charset="-122"/>
                <a:cs typeface="Huawei Sans" panose="020C0503030203020204" pitchFamily="34" charset="0"/>
              </a:rPr>
              <a:t>Market</a:t>
            </a:r>
            <a:r>
              <a:rPr lang="en-US" altLang="zh-CN" sz="1200" b="1" dirty="0" smtClean="0">
                <a:latin typeface="Huawei Sans" panose="020C0503030203020204" pitchFamily="34" charset="0"/>
                <a:ea typeface="方正兰亭黑简体" panose="02000000000000000000" pitchFamily="2" charset="-122"/>
                <a:cs typeface="Huawei Sans" panose="020C0503030203020204" pitchFamily="34" charset="0"/>
              </a:rPr>
              <a:t>_</a:t>
            </a:r>
          </a:p>
          <a:p>
            <a:pPr algn="ctr"/>
            <a:r>
              <a:rPr lang="en-US" altLang="zh-CN" sz="1200" b="1" dirty="0" smtClean="0">
                <a:latin typeface="Huawei Sans" panose="020C0503030203020204" pitchFamily="34" charset="0"/>
                <a:ea typeface="方正兰亭黑简体" panose="02000000000000000000" pitchFamily="2" charset="-122"/>
                <a:cs typeface="Huawei Sans" panose="020C0503030203020204" pitchFamily="34" charset="0"/>
              </a:rPr>
              <a:t>Wireless</a:t>
            </a:r>
          </a:p>
          <a:p>
            <a:pPr algn="ctr"/>
            <a:r>
              <a:rPr lang="zh-CN" altLang="en-US" sz="1200" dirty="0">
                <a:latin typeface="Huawei Sans" panose="020C0503030203020204" pitchFamily="34" charset="0"/>
                <a:ea typeface="方正兰亭黑简体" panose="02000000000000000000" pitchFamily="2" charset="-122"/>
                <a:cs typeface="Huawei Sans" panose="020C0503030203020204" pitchFamily="34" charset="0"/>
              </a:rPr>
              <a:t>（</a:t>
            </a: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Portal</a:t>
            </a:r>
            <a:r>
              <a:rPr lang="zh-CN" altLang="en-US" sz="1200" dirty="0">
                <a:latin typeface="Huawei Sans" panose="020C0503030203020204" pitchFamily="34" charset="0"/>
                <a:ea typeface="方正兰亭黑简体" panose="02000000000000000000" pitchFamily="2" charset="-122"/>
                <a:cs typeface="Huawei Sans" panose="020C0503030203020204" pitchFamily="34" charset="0"/>
              </a:rPr>
              <a:t>）</a:t>
            </a:r>
          </a:p>
        </p:txBody>
      </p:sp>
      <p:sp>
        <p:nvSpPr>
          <p:cNvPr id="39" name="文本框 38"/>
          <p:cNvSpPr txBox="1"/>
          <p:nvPr/>
        </p:nvSpPr>
        <p:spPr bwMode="gray">
          <a:xfrm>
            <a:off x="485156" y="4084477"/>
            <a:ext cx="1441420" cy="307777"/>
          </a:xfrm>
          <a:prstGeom prst="rect">
            <a:avLst/>
          </a:prstGeom>
          <a:noFill/>
        </p:spPr>
        <p:txBody>
          <a:bodyPr wrap="none" rtlCol="0">
            <a:spAutoFit/>
          </a:bodyPr>
          <a:lstStyle/>
          <a:p>
            <a:r>
              <a:rPr lang="zh-CN" altLang="en-US" sz="1400" b="1" dirty="0" smtClean="0">
                <a:latin typeface="Huawei Sans" panose="020C0503030203020204" pitchFamily="34" charset="0"/>
                <a:ea typeface="方正兰亭黑简体" panose="02000000000000000000" pitchFamily="2" charset="-122"/>
                <a:cs typeface="Huawei Sans" panose="020C0503030203020204" pitchFamily="34" charset="0"/>
              </a:rPr>
              <a:t>策略控制矩阵：</a:t>
            </a:r>
            <a:endParaRPr lang="zh-CN" altLang="en-US" sz="1400" b="1" dirty="0">
              <a:latin typeface="Huawei Sans" panose="020C0503030203020204" pitchFamily="34" charset="0"/>
              <a:ea typeface="方正兰亭黑简体" panose="02000000000000000000" pitchFamily="2" charset="-122"/>
              <a:cs typeface="Huawei Sans" panose="020C0503030203020204" pitchFamily="34" charset="0"/>
            </a:endParaRPr>
          </a:p>
        </p:txBody>
      </p:sp>
    </p:spTree>
    <p:extLst>
      <p:ext uri="{BB962C8B-B14F-4D97-AF65-F5344CB8AC3E}">
        <p14:creationId xmlns:p14="http://schemas.microsoft.com/office/powerpoint/2010/main" val="49600153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bwMode="gray"/>
        <p:txBody>
          <a:bodyPr/>
          <a:lstStyle/>
          <a:p>
            <a:r>
              <a:rPr lang="en-US" altLang="zh-CN" dirty="0">
                <a:solidFill>
                  <a:schemeClr val="bg1">
                    <a:lumMod val="50000"/>
                  </a:schemeClr>
                </a:solidFill>
              </a:rPr>
              <a:t>VXLAN</a:t>
            </a:r>
            <a:r>
              <a:rPr lang="zh-CN" altLang="en-US" dirty="0">
                <a:solidFill>
                  <a:schemeClr val="bg1">
                    <a:lumMod val="50000"/>
                  </a:schemeClr>
                </a:solidFill>
              </a:rPr>
              <a:t>虚拟化园区网络部署规划</a:t>
            </a:r>
            <a:endParaRPr lang="en-US" altLang="zh-CN" dirty="0">
              <a:solidFill>
                <a:schemeClr val="bg1">
                  <a:lumMod val="50000"/>
                </a:schemeClr>
              </a:solidFill>
            </a:endParaRPr>
          </a:p>
          <a:p>
            <a:r>
              <a:rPr lang="en-US" altLang="zh-CN" b="1" dirty="0"/>
              <a:t>VXLAN</a:t>
            </a:r>
            <a:r>
              <a:rPr lang="zh-CN" altLang="en-US" b="1" dirty="0"/>
              <a:t>虚拟化园区网络部署流程及部署指导</a:t>
            </a:r>
            <a:endParaRPr lang="en-US" altLang="zh-CN" b="1" dirty="0"/>
          </a:p>
          <a:p>
            <a:pPr lvl="1">
              <a:buSzPct val="60000"/>
              <a:buFont typeface="Wingdings" panose="05000000000000000000" pitchFamily="2" charset="2"/>
              <a:buChar char="n"/>
            </a:pPr>
            <a:r>
              <a:rPr lang="zh-CN" altLang="en-US" dirty="0"/>
              <a:t>部署流程</a:t>
            </a:r>
            <a:endParaRPr lang="en-US" altLang="zh-CN" dirty="0"/>
          </a:p>
          <a:p>
            <a:pPr lvl="1"/>
            <a:r>
              <a:rPr lang="zh-CN" altLang="en-US" dirty="0">
                <a:solidFill>
                  <a:schemeClr val="bg1">
                    <a:lumMod val="50000"/>
                  </a:schemeClr>
                </a:solidFill>
              </a:rPr>
              <a:t>部署前的准备</a:t>
            </a:r>
          </a:p>
          <a:p>
            <a:pPr lvl="1"/>
            <a:r>
              <a:rPr lang="zh-CN" altLang="en-US" dirty="0">
                <a:solidFill>
                  <a:schemeClr val="bg1">
                    <a:lumMod val="50000"/>
                  </a:schemeClr>
                </a:solidFill>
              </a:rPr>
              <a:t>部署</a:t>
            </a:r>
            <a:r>
              <a:rPr lang="zh-CN" altLang="en-US" dirty="0" smtClean="0">
                <a:solidFill>
                  <a:schemeClr val="bg1">
                    <a:lumMod val="50000"/>
                  </a:schemeClr>
                </a:solidFill>
              </a:rPr>
              <a:t>指导</a:t>
            </a:r>
            <a:endParaRPr lang="zh-CN" altLang="en-US" dirty="0">
              <a:solidFill>
                <a:schemeClr val="bg1">
                  <a:lumMod val="50000"/>
                </a:schemeClr>
              </a:solidFill>
            </a:endParaRPr>
          </a:p>
        </p:txBody>
      </p:sp>
    </p:spTree>
    <p:extLst>
      <p:ext uri="{BB962C8B-B14F-4D97-AF65-F5344CB8AC3E}">
        <p14:creationId xmlns:p14="http://schemas.microsoft.com/office/powerpoint/2010/main" val="2387789734"/>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bwMode="gray"/>
        <p:txBody>
          <a:bodyPr/>
          <a:lstStyle/>
          <a:p>
            <a:r>
              <a:rPr lang="zh-CN" altLang="en-US" dirty="0" smtClean="0"/>
              <a:t>虚拟</a:t>
            </a:r>
            <a:r>
              <a:rPr lang="zh-CN" altLang="en-US" dirty="0"/>
              <a:t>化园区网络方案部署流程图</a:t>
            </a:r>
          </a:p>
        </p:txBody>
      </p:sp>
      <p:sp>
        <p:nvSpPr>
          <p:cNvPr id="4" name="圆角矩形 3"/>
          <p:cNvSpPr/>
          <p:nvPr/>
        </p:nvSpPr>
        <p:spPr bwMode="gray">
          <a:xfrm>
            <a:off x="893883" y="1193806"/>
            <a:ext cx="571399" cy="435600"/>
          </a:xfrm>
          <a:prstGeom prst="roundRect">
            <a:avLst>
              <a:gd name="adj" fmla="val 50000"/>
            </a:avLst>
          </a:prstGeom>
          <a:solidFill>
            <a:srgbClr val="30B5C5"/>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nchorCtr="0">
            <a:noAutofit/>
          </a:bodyPr>
          <a:lstStyle/>
          <a:p>
            <a:pPr algn="ctr"/>
            <a:r>
              <a:rPr lang="zh-CN" altLang="en-US" sz="1400">
                <a:solidFill>
                  <a:schemeClr val="bg1"/>
                </a:solidFill>
                <a:sym typeface="Huawei Sans" panose="020C0503030203020204" pitchFamily="34" charset="0"/>
              </a:rPr>
              <a:t>开始</a:t>
            </a:r>
            <a:endParaRPr lang="zh-CN" altLang="en-US" sz="1400" dirty="0">
              <a:solidFill>
                <a:schemeClr val="bg1"/>
              </a:solidFill>
              <a:sym typeface="Huawei Sans" panose="020C0503030203020204" pitchFamily="34" charset="0"/>
            </a:endParaRPr>
          </a:p>
        </p:txBody>
      </p:sp>
      <p:sp>
        <p:nvSpPr>
          <p:cNvPr id="5" name="圆角矩形 4"/>
          <p:cNvSpPr/>
          <p:nvPr/>
        </p:nvSpPr>
        <p:spPr bwMode="gray">
          <a:xfrm>
            <a:off x="1865038" y="1193806"/>
            <a:ext cx="1036986" cy="435600"/>
          </a:xfrm>
          <a:prstGeom prst="roundRect">
            <a:avLst>
              <a:gd name="adj" fmla="val 18069"/>
            </a:avLst>
          </a:prstGeom>
          <a:solidFill>
            <a:srgbClr val="30B5C5"/>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400" dirty="0" smtClean="0">
                <a:solidFill>
                  <a:schemeClr val="bg1"/>
                </a:solidFill>
                <a:sym typeface="Huawei Sans" panose="020C0503030203020204" pitchFamily="34" charset="0"/>
              </a:rPr>
              <a:t>服务器及软件安装</a:t>
            </a:r>
            <a:endParaRPr lang="zh-CN" altLang="en-US" sz="1400" dirty="0">
              <a:solidFill>
                <a:schemeClr val="bg1"/>
              </a:solidFill>
              <a:sym typeface="Huawei Sans" panose="020C0503030203020204" pitchFamily="34" charset="0"/>
            </a:endParaRPr>
          </a:p>
        </p:txBody>
      </p:sp>
      <p:sp>
        <p:nvSpPr>
          <p:cNvPr id="7" name="圆角矩形 6"/>
          <p:cNvSpPr/>
          <p:nvPr/>
        </p:nvSpPr>
        <p:spPr bwMode="gray">
          <a:xfrm>
            <a:off x="4738522" y="1193806"/>
            <a:ext cx="1036986" cy="435600"/>
          </a:xfrm>
          <a:prstGeom prst="roundRect">
            <a:avLst>
              <a:gd name="adj" fmla="val 18069"/>
            </a:avLst>
          </a:prstGeom>
          <a:solidFill>
            <a:srgbClr val="30B5C5"/>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en-US" altLang="zh-CN" sz="1400" smtClean="0">
                <a:solidFill>
                  <a:schemeClr val="bg1"/>
                </a:solidFill>
                <a:sym typeface="Huawei Sans" panose="020C0503030203020204" pitchFamily="34" charset="0"/>
              </a:rPr>
              <a:t>License</a:t>
            </a:r>
            <a:r>
              <a:rPr lang="zh-CN" altLang="en-US" sz="1400" smtClean="0">
                <a:solidFill>
                  <a:schemeClr val="bg1"/>
                </a:solidFill>
                <a:sym typeface="Huawei Sans" panose="020C0503030203020204" pitchFamily="34" charset="0"/>
              </a:rPr>
              <a:t>激活</a:t>
            </a:r>
            <a:endParaRPr lang="zh-CN" altLang="en-US" sz="1400" dirty="0">
              <a:solidFill>
                <a:schemeClr val="bg1"/>
              </a:solidFill>
              <a:sym typeface="Huawei Sans" panose="020C0503030203020204" pitchFamily="34" charset="0"/>
            </a:endParaRPr>
          </a:p>
        </p:txBody>
      </p:sp>
      <p:sp>
        <p:nvSpPr>
          <p:cNvPr id="8" name="圆角矩形 7"/>
          <p:cNvSpPr/>
          <p:nvPr/>
        </p:nvSpPr>
        <p:spPr bwMode="gray">
          <a:xfrm>
            <a:off x="6175264" y="1193806"/>
            <a:ext cx="1036986" cy="435600"/>
          </a:xfrm>
          <a:prstGeom prst="roundRect">
            <a:avLst>
              <a:gd name="adj" fmla="val 18069"/>
            </a:avLst>
          </a:prstGeom>
          <a:solidFill>
            <a:srgbClr val="30B5C5"/>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400" smtClean="0">
                <a:solidFill>
                  <a:schemeClr val="bg1"/>
                </a:solidFill>
                <a:sym typeface="Huawei Sans" panose="020C0503030203020204" pitchFamily="34" charset="0"/>
              </a:rPr>
              <a:t>站点创建</a:t>
            </a:r>
            <a:endParaRPr lang="zh-CN" altLang="en-US" sz="1400" dirty="0">
              <a:solidFill>
                <a:schemeClr val="bg1"/>
              </a:solidFill>
              <a:sym typeface="Huawei Sans" panose="020C0503030203020204" pitchFamily="34" charset="0"/>
            </a:endParaRPr>
          </a:p>
        </p:txBody>
      </p:sp>
      <p:sp>
        <p:nvSpPr>
          <p:cNvPr id="9" name="圆角矩形 8"/>
          <p:cNvSpPr/>
          <p:nvPr/>
        </p:nvSpPr>
        <p:spPr bwMode="gray">
          <a:xfrm>
            <a:off x="7612006" y="1193806"/>
            <a:ext cx="1036986" cy="435600"/>
          </a:xfrm>
          <a:prstGeom prst="roundRect">
            <a:avLst>
              <a:gd name="adj" fmla="val 18069"/>
            </a:avLst>
          </a:prstGeom>
          <a:solidFill>
            <a:srgbClr val="30B5C5"/>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400" smtClean="0">
                <a:solidFill>
                  <a:schemeClr val="bg1"/>
                </a:solidFill>
                <a:sym typeface="Huawei Sans" panose="020C0503030203020204" pitchFamily="34" charset="0"/>
              </a:rPr>
              <a:t>基础网络配置</a:t>
            </a:r>
            <a:endParaRPr lang="zh-CN" altLang="en-US" sz="1400" dirty="0">
              <a:solidFill>
                <a:schemeClr val="bg1"/>
              </a:solidFill>
              <a:sym typeface="Huawei Sans" panose="020C0503030203020204" pitchFamily="34" charset="0"/>
            </a:endParaRPr>
          </a:p>
        </p:txBody>
      </p:sp>
      <p:sp>
        <p:nvSpPr>
          <p:cNvPr id="10" name="圆角矩形 9"/>
          <p:cNvSpPr/>
          <p:nvPr/>
        </p:nvSpPr>
        <p:spPr bwMode="gray">
          <a:xfrm>
            <a:off x="9048748" y="1193806"/>
            <a:ext cx="1036986" cy="435600"/>
          </a:xfrm>
          <a:prstGeom prst="roundRect">
            <a:avLst>
              <a:gd name="adj" fmla="val 18069"/>
            </a:avLst>
          </a:prstGeom>
          <a:solidFill>
            <a:srgbClr val="30B5C5"/>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400" dirty="0" smtClean="0">
                <a:solidFill>
                  <a:schemeClr val="bg1"/>
                </a:solidFill>
                <a:sym typeface="Huawei Sans" panose="020C0503030203020204" pitchFamily="34" charset="0"/>
              </a:rPr>
              <a:t>网络业务配置</a:t>
            </a:r>
            <a:endParaRPr lang="zh-CN" altLang="en-US" sz="1400" dirty="0">
              <a:solidFill>
                <a:schemeClr val="bg1"/>
              </a:solidFill>
              <a:sym typeface="Huawei Sans" panose="020C0503030203020204" pitchFamily="34" charset="0"/>
            </a:endParaRPr>
          </a:p>
        </p:txBody>
      </p:sp>
      <p:sp>
        <p:nvSpPr>
          <p:cNvPr id="11" name="圆角矩形 10"/>
          <p:cNvSpPr/>
          <p:nvPr/>
        </p:nvSpPr>
        <p:spPr bwMode="gray">
          <a:xfrm>
            <a:off x="10485493" y="1193806"/>
            <a:ext cx="571399" cy="435600"/>
          </a:xfrm>
          <a:prstGeom prst="roundRect">
            <a:avLst>
              <a:gd name="adj" fmla="val 50000"/>
            </a:avLst>
          </a:prstGeom>
          <a:solidFill>
            <a:srgbClr val="30B5C5"/>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nchorCtr="0">
            <a:noAutofit/>
          </a:bodyPr>
          <a:lstStyle/>
          <a:p>
            <a:pPr algn="ctr"/>
            <a:r>
              <a:rPr lang="zh-CN" altLang="en-US" sz="1400" dirty="0">
                <a:solidFill>
                  <a:schemeClr val="bg1"/>
                </a:solidFill>
                <a:sym typeface="Huawei Sans" panose="020C0503030203020204" pitchFamily="34" charset="0"/>
              </a:rPr>
              <a:t>结束</a:t>
            </a:r>
          </a:p>
        </p:txBody>
      </p:sp>
      <p:cxnSp>
        <p:nvCxnSpPr>
          <p:cNvPr id="12" name="直接箭头连接符 11"/>
          <p:cNvCxnSpPr>
            <a:stCxn id="4" idx="3"/>
            <a:endCxn id="5" idx="1"/>
          </p:cNvCxnSpPr>
          <p:nvPr/>
        </p:nvCxnSpPr>
        <p:spPr bwMode="gray">
          <a:xfrm>
            <a:off x="1465282" y="1411606"/>
            <a:ext cx="399756" cy="0"/>
          </a:xfrm>
          <a:prstGeom prst="straightConnector1">
            <a:avLst/>
          </a:prstGeom>
          <a:ln>
            <a:solidFill>
              <a:srgbClr val="30B5C5"/>
            </a:solidFill>
            <a:tailEnd type="triangle"/>
          </a:ln>
        </p:spPr>
        <p:style>
          <a:lnRef idx="1">
            <a:schemeClr val="accent1"/>
          </a:lnRef>
          <a:fillRef idx="0">
            <a:schemeClr val="accent1"/>
          </a:fillRef>
          <a:effectRef idx="0">
            <a:schemeClr val="accent1"/>
          </a:effectRef>
          <a:fontRef idx="minor">
            <a:schemeClr val="tx1"/>
          </a:fontRef>
        </p:style>
      </p:cxnSp>
      <p:cxnSp>
        <p:nvCxnSpPr>
          <p:cNvPr id="13" name="直接箭头连接符 12"/>
          <p:cNvCxnSpPr>
            <a:stCxn id="5" idx="3"/>
            <a:endCxn id="47" idx="1"/>
          </p:cNvCxnSpPr>
          <p:nvPr/>
        </p:nvCxnSpPr>
        <p:spPr bwMode="gray">
          <a:xfrm>
            <a:off x="2902024" y="1411606"/>
            <a:ext cx="399756" cy="0"/>
          </a:xfrm>
          <a:prstGeom prst="straightConnector1">
            <a:avLst/>
          </a:prstGeom>
          <a:ln>
            <a:solidFill>
              <a:srgbClr val="30B5C5"/>
            </a:solidFill>
            <a:tailEnd type="triangle"/>
          </a:ln>
        </p:spPr>
        <p:style>
          <a:lnRef idx="1">
            <a:schemeClr val="accent1"/>
          </a:lnRef>
          <a:fillRef idx="0">
            <a:schemeClr val="accent1"/>
          </a:fillRef>
          <a:effectRef idx="0">
            <a:schemeClr val="accent1"/>
          </a:effectRef>
          <a:fontRef idx="minor">
            <a:schemeClr val="tx1"/>
          </a:fontRef>
        </p:style>
      </p:cxnSp>
      <p:cxnSp>
        <p:nvCxnSpPr>
          <p:cNvPr id="15" name="直接箭头连接符 14"/>
          <p:cNvCxnSpPr>
            <a:stCxn id="7" idx="3"/>
            <a:endCxn id="8" idx="1"/>
          </p:cNvCxnSpPr>
          <p:nvPr/>
        </p:nvCxnSpPr>
        <p:spPr bwMode="gray">
          <a:xfrm>
            <a:off x="5775508" y="1411606"/>
            <a:ext cx="399756" cy="0"/>
          </a:xfrm>
          <a:prstGeom prst="straightConnector1">
            <a:avLst/>
          </a:prstGeom>
          <a:ln>
            <a:solidFill>
              <a:srgbClr val="30B5C5"/>
            </a:solidFill>
            <a:tailEnd type="triangle"/>
          </a:ln>
        </p:spPr>
        <p:style>
          <a:lnRef idx="1">
            <a:schemeClr val="accent1"/>
          </a:lnRef>
          <a:fillRef idx="0">
            <a:schemeClr val="accent1"/>
          </a:fillRef>
          <a:effectRef idx="0">
            <a:schemeClr val="accent1"/>
          </a:effectRef>
          <a:fontRef idx="minor">
            <a:schemeClr val="tx1"/>
          </a:fontRef>
        </p:style>
      </p:cxnSp>
      <p:cxnSp>
        <p:nvCxnSpPr>
          <p:cNvPr id="16" name="直接箭头连接符 15"/>
          <p:cNvCxnSpPr>
            <a:stCxn id="8" idx="3"/>
            <a:endCxn id="9" idx="1"/>
          </p:cNvCxnSpPr>
          <p:nvPr/>
        </p:nvCxnSpPr>
        <p:spPr bwMode="gray">
          <a:xfrm>
            <a:off x="7212250" y="1411606"/>
            <a:ext cx="399756" cy="0"/>
          </a:xfrm>
          <a:prstGeom prst="straightConnector1">
            <a:avLst/>
          </a:prstGeom>
          <a:ln>
            <a:solidFill>
              <a:srgbClr val="30B5C5"/>
            </a:solidFill>
            <a:tailEnd type="triangle"/>
          </a:ln>
        </p:spPr>
        <p:style>
          <a:lnRef idx="1">
            <a:schemeClr val="accent1"/>
          </a:lnRef>
          <a:fillRef idx="0">
            <a:schemeClr val="accent1"/>
          </a:fillRef>
          <a:effectRef idx="0">
            <a:schemeClr val="accent1"/>
          </a:effectRef>
          <a:fontRef idx="minor">
            <a:schemeClr val="tx1"/>
          </a:fontRef>
        </p:style>
      </p:cxnSp>
      <p:cxnSp>
        <p:nvCxnSpPr>
          <p:cNvPr id="17" name="直接箭头连接符 16"/>
          <p:cNvCxnSpPr>
            <a:stCxn id="9" idx="3"/>
            <a:endCxn id="10" idx="1"/>
          </p:cNvCxnSpPr>
          <p:nvPr/>
        </p:nvCxnSpPr>
        <p:spPr bwMode="gray">
          <a:xfrm>
            <a:off x="8648992" y="1411606"/>
            <a:ext cx="399756" cy="0"/>
          </a:xfrm>
          <a:prstGeom prst="straightConnector1">
            <a:avLst/>
          </a:prstGeom>
          <a:ln>
            <a:solidFill>
              <a:srgbClr val="30B5C5"/>
            </a:solidFill>
            <a:tailEnd type="triangle"/>
          </a:ln>
        </p:spPr>
        <p:style>
          <a:lnRef idx="1">
            <a:schemeClr val="accent1"/>
          </a:lnRef>
          <a:fillRef idx="0">
            <a:schemeClr val="accent1"/>
          </a:fillRef>
          <a:effectRef idx="0">
            <a:schemeClr val="accent1"/>
          </a:effectRef>
          <a:fontRef idx="minor">
            <a:schemeClr val="tx1"/>
          </a:fontRef>
        </p:style>
      </p:cxnSp>
      <p:cxnSp>
        <p:nvCxnSpPr>
          <p:cNvPr id="18" name="直接箭头连接符 17"/>
          <p:cNvCxnSpPr>
            <a:stCxn id="10" idx="3"/>
            <a:endCxn id="11" idx="1"/>
          </p:cNvCxnSpPr>
          <p:nvPr/>
        </p:nvCxnSpPr>
        <p:spPr bwMode="gray">
          <a:xfrm>
            <a:off x="10085734" y="1411606"/>
            <a:ext cx="399759" cy="0"/>
          </a:xfrm>
          <a:prstGeom prst="straightConnector1">
            <a:avLst/>
          </a:prstGeom>
          <a:ln>
            <a:solidFill>
              <a:srgbClr val="30B5C5"/>
            </a:solidFill>
            <a:tailEnd type="triangle"/>
          </a:ln>
        </p:spPr>
        <p:style>
          <a:lnRef idx="1">
            <a:schemeClr val="accent1"/>
          </a:lnRef>
          <a:fillRef idx="0">
            <a:schemeClr val="accent1"/>
          </a:fillRef>
          <a:effectRef idx="0">
            <a:schemeClr val="accent1"/>
          </a:effectRef>
          <a:fontRef idx="minor">
            <a:schemeClr val="tx1"/>
          </a:fontRef>
        </p:style>
      </p:cxnSp>
      <p:sp>
        <p:nvSpPr>
          <p:cNvPr id="19" name="圆角矩形 18"/>
          <p:cNvSpPr/>
          <p:nvPr/>
        </p:nvSpPr>
        <p:spPr bwMode="gray">
          <a:xfrm>
            <a:off x="1865038" y="1899914"/>
            <a:ext cx="1036986" cy="360000"/>
          </a:xfrm>
          <a:prstGeom prst="roundRect">
            <a:avLst>
              <a:gd name="adj" fmla="val 5369"/>
            </a:avLst>
          </a:prstGeom>
          <a:solidFill>
            <a:schemeClr val="bg1">
              <a:lumMod val="85000"/>
            </a:schemeClr>
          </a:solidFill>
          <a:ln w="12700" cap="flat" cmpd="sng" algn="ctr">
            <a:no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14478"/>
            <a:r>
              <a:rPr lang="zh-CN" altLang="en-US" sz="1200" kern="0" smtClean="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安装服务器</a:t>
            </a:r>
            <a:endParaRPr lang="zh-CN" altLang="en-US"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0" name="圆角矩形 19"/>
          <p:cNvSpPr/>
          <p:nvPr/>
        </p:nvSpPr>
        <p:spPr bwMode="gray">
          <a:xfrm>
            <a:off x="1865038" y="2606329"/>
            <a:ext cx="1036986" cy="360000"/>
          </a:xfrm>
          <a:prstGeom prst="roundRect">
            <a:avLst>
              <a:gd name="adj" fmla="val 6780"/>
            </a:avLst>
          </a:prstGeom>
          <a:solidFill>
            <a:schemeClr val="bg1">
              <a:lumMod val="85000"/>
            </a:schemeClr>
          </a:solidFill>
          <a:ln w="12700" cap="flat" cmpd="sng" algn="ctr">
            <a:no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14478"/>
            <a:r>
              <a:rPr lang="zh-CN" altLang="en-US" sz="1200" kern="0" dirty="0" smtClean="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连接线缆</a:t>
            </a:r>
            <a:endParaRPr lang="zh-CN" altLang="en-US"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1" name="圆角矩形 20"/>
          <p:cNvSpPr/>
          <p:nvPr/>
        </p:nvSpPr>
        <p:spPr bwMode="gray">
          <a:xfrm>
            <a:off x="1865038" y="3312744"/>
            <a:ext cx="1036986" cy="360000"/>
          </a:xfrm>
          <a:prstGeom prst="roundRect">
            <a:avLst>
              <a:gd name="adj" fmla="val 6780"/>
            </a:avLst>
          </a:prstGeom>
          <a:solidFill>
            <a:schemeClr val="bg1">
              <a:lumMod val="85000"/>
            </a:schemeClr>
          </a:solidFill>
          <a:ln w="12700" cap="flat" cmpd="sng" algn="ctr">
            <a:no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14478"/>
            <a:r>
              <a:rPr lang="zh-CN" altLang="en-US" sz="1200" kern="0" dirty="0" smtClean="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设备上电</a:t>
            </a:r>
            <a:endParaRPr lang="zh-CN" altLang="en-US"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2" name="圆角矩形 21"/>
          <p:cNvSpPr/>
          <p:nvPr/>
        </p:nvSpPr>
        <p:spPr bwMode="gray">
          <a:xfrm>
            <a:off x="1865038" y="4019159"/>
            <a:ext cx="1036986" cy="360000"/>
          </a:xfrm>
          <a:prstGeom prst="roundRect">
            <a:avLst>
              <a:gd name="adj" fmla="val 3958"/>
            </a:avLst>
          </a:prstGeom>
          <a:solidFill>
            <a:schemeClr val="bg1">
              <a:lumMod val="85000"/>
            </a:schemeClr>
          </a:solidFill>
          <a:ln w="12700" cap="flat" cmpd="sng" algn="ctr">
            <a:no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14478"/>
            <a:r>
              <a:rPr lang="zh-CN" altLang="en-US" sz="1200" kern="0" dirty="0" smtClean="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安装</a:t>
            </a:r>
            <a:r>
              <a:rPr lang="en-US" altLang="zh-CN" sz="1200" kern="0" dirty="0" smtClean="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iMaster NCE-Campus</a:t>
            </a:r>
            <a:endParaRPr lang="zh-CN" altLang="en-US"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4" name="圆角矩形 23"/>
          <p:cNvSpPr/>
          <p:nvPr/>
        </p:nvSpPr>
        <p:spPr bwMode="gray">
          <a:xfrm>
            <a:off x="4729941" y="1899914"/>
            <a:ext cx="1036986" cy="522428"/>
          </a:xfrm>
          <a:prstGeom prst="roundRect">
            <a:avLst>
              <a:gd name="adj" fmla="val 3958"/>
            </a:avLst>
          </a:prstGeom>
          <a:solidFill>
            <a:schemeClr val="bg1">
              <a:lumMod val="85000"/>
            </a:schemeClr>
          </a:solidFill>
          <a:ln w="12700" cap="flat" cmpd="sng" algn="ctr">
            <a:no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zh-CN" altLang="en-US" sz="1200" kern="0" dirty="0" smtClean="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获取</a:t>
            </a:r>
            <a:r>
              <a:rPr lang="en-US" altLang="zh-CN" sz="1200" kern="0" dirty="0" smtClean="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iMaster NCE-Campus</a:t>
            </a:r>
            <a:r>
              <a:rPr lang="zh-CN" altLang="en-US" sz="1200" kern="0" dirty="0" smtClean="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的</a:t>
            </a:r>
            <a:r>
              <a:rPr lang="en-US" altLang="zh-CN" sz="1200" kern="0" dirty="0" smtClean="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ESN</a:t>
            </a:r>
            <a:endParaRPr lang="zh-CN" altLang="en-US"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5" name="圆角矩形 24"/>
          <p:cNvSpPr/>
          <p:nvPr/>
        </p:nvSpPr>
        <p:spPr bwMode="gray">
          <a:xfrm>
            <a:off x="4729941" y="2606329"/>
            <a:ext cx="1036986" cy="522000"/>
          </a:xfrm>
          <a:prstGeom prst="roundRect">
            <a:avLst>
              <a:gd name="adj" fmla="val 8191"/>
            </a:avLst>
          </a:prstGeom>
          <a:solidFill>
            <a:schemeClr val="bg1">
              <a:lumMod val="85000"/>
            </a:schemeClr>
          </a:solidFill>
          <a:ln w="12700" cap="flat" cmpd="sng" algn="ctr">
            <a:no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zh-CN" altLang="en-US" sz="1200" kern="0" dirty="0" smtClean="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获取</a:t>
            </a:r>
            <a:r>
              <a:rPr lang="en-US" altLang="zh-CN" sz="1200" kern="0" dirty="0" smtClean="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iMaster NCE-Campus</a:t>
            </a:r>
            <a:r>
              <a:rPr lang="zh-CN" altLang="en-US" sz="1200" kern="0" dirty="0" smtClean="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的</a:t>
            </a:r>
            <a:r>
              <a:rPr lang="en-US" altLang="zh-CN" sz="1200" kern="0" dirty="0" smtClean="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License</a:t>
            </a:r>
            <a:endParaRPr lang="zh-CN" altLang="en-US"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6" name="圆角矩形 25"/>
          <p:cNvSpPr/>
          <p:nvPr/>
        </p:nvSpPr>
        <p:spPr bwMode="gray">
          <a:xfrm>
            <a:off x="4729941" y="3312744"/>
            <a:ext cx="1036986" cy="360000"/>
          </a:xfrm>
          <a:prstGeom prst="roundRect">
            <a:avLst>
              <a:gd name="adj" fmla="val 5369"/>
            </a:avLst>
          </a:prstGeom>
          <a:solidFill>
            <a:schemeClr val="bg1">
              <a:lumMod val="85000"/>
            </a:schemeClr>
          </a:solidFill>
          <a:ln w="12700" cap="flat" cmpd="sng" algn="ctr">
            <a:no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zh-CN" altLang="en-US" sz="1200" kern="0" dirty="0" smtClean="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加载</a:t>
            </a:r>
            <a:r>
              <a:rPr lang="en-US" altLang="zh-CN" sz="1200" kern="0" dirty="0" smtClean="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License</a:t>
            </a:r>
            <a:endParaRPr lang="zh-CN" altLang="en-US"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7" name="圆角矩形 26"/>
          <p:cNvSpPr/>
          <p:nvPr/>
        </p:nvSpPr>
        <p:spPr bwMode="gray">
          <a:xfrm>
            <a:off x="6194326" y="1899914"/>
            <a:ext cx="1036986" cy="360000"/>
          </a:xfrm>
          <a:prstGeom prst="roundRect">
            <a:avLst>
              <a:gd name="adj" fmla="val 5369"/>
            </a:avLst>
          </a:prstGeom>
          <a:solidFill>
            <a:schemeClr val="bg1">
              <a:lumMod val="85000"/>
            </a:schemeClr>
          </a:solidFill>
          <a:ln w="12700" cap="flat" cmpd="sng" algn="ctr">
            <a:no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zh-CN" altLang="en-US"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创建管理员</a:t>
            </a:r>
          </a:p>
        </p:txBody>
      </p:sp>
      <p:sp>
        <p:nvSpPr>
          <p:cNvPr id="28" name="圆角矩形 27"/>
          <p:cNvSpPr/>
          <p:nvPr/>
        </p:nvSpPr>
        <p:spPr bwMode="blackWhite">
          <a:xfrm>
            <a:off x="6194326" y="2606329"/>
            <a:ext cx="1036986" cy="360000"/>
          </a:xfrm>
          <a:prstGeom prst="roundRect">
            <a:avLst>
              <a:gd name="adj" fmla="val 6780"/>
            </a:avLst>
          </a:prstGeom>
          <a:solidFill>
            <a:srgbClr val="BEE9EE"/>
          </a:solidFill>
          <a:ln w="12700" cap="flat" cmpd="sng" algn="ctr">
            <a:no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zh-CN" altLang="en-US"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创建站点</a:t>
            </a:r>
          </a:p>
        </p:txBody>
      </p:sp>
      <p:sp>
        <p:nvSpPr>
          <p:cNvPr id="29" name="圆角矩形 28"/>
          <p:cNvSpPr/>
          <p:nvPr/>
        </p:nvSpPr>
        <p:spPr bwMode="blackWhite">
          <a:xfrm>
            <a:off x="6194326" y="3312744"/>
            <a:ext cx="1036986" cy="360000"/>
          </a:xfrm>
          <a:prstGeom prst="roundRect">
            <a:avLst>
              <a:gd name="adj" fmla="val 6780"/>
            </a:avLst>
          </a:prstGeom>
          <a:solidFill>
            <a:srgbClr val="BEE9EE"/>
          </a:solidFill>
          <a:ln w="12700" cap="flat" cmpd="sng" algn="ctr">
            <a:no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zh-CN" altLang="en-US" sz="1200" kern="0" dirty="0" smtClean="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添加设备</a:t>
            </a:r>
            <a:r>
              <a:rPr lang="en-US" altLang="zh-CN" sz="1200" kern="0" dirty="0" smtClean="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a:t>
            </a:r>
            <a:r>
              <a:rPr lang="zh-CN" altLang="en-US" sz="1200" kern="0" dirty="0" smtClean="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堆叠系统</a:t>
            </a:r>
            <a:r>
              <a:rPr lang="en-US" altLang="zh-CN" sz="1200" kern="0" dirty="0" smtClean="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/AC</a:t>
            </a:r>
            <a:r>
              <a:rPr lang="zh-CN" altLang="en-US" sz="1200" kern="0" dirty="0" smtClean="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组</a:t>
            </a:r>
            <a:endParaRPr lang="zh-CN" altLang="en-US"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0" name="圆角矩形 29"/>
          <p:cNvSpPr/>
          <p:nvPr/>
        </p:nvSpPr>
        <p:spPr bwMode="blackWhite">
          <a:xfrm>
            <a:off x="6194326" y="4019159"/>
            <a:ext cx="1036986" cy="360000"/>
          </a:xfrm>
          <a:prstGeom prst="roundRect">
            <a:avLst>
              <a:gd name="adj" fmla="val 3958"/>
            </a:avLst>
          </a:prstGeom>
          <a:solidFill>
            <a:srgbClr val="BEE9EE"/>
          </a:solidFill>
          <a:ln w="12700" cap="flat" cmpd="sng" algn="ctr">
            <a:no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zh-CN" altLang="en-US" sz="1200" kern="0" dirty="0" smtClean="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配置设备纳管</a:t>
            </a:r>
            <a:endParaRPr lang="zh-CN" altLang="en-US"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1" name="圆角矩形 30"/>
          <p:cNvSpPr/>
          <p:nvPr/>
        </p:nvSpPr>
        <p:spPr bwMode="gray">
          <a:xfrm>
            <a:off x="6194326" y="4725575"/>
            <a:ext cx="1036986" cy="360000"/>
          </a:xfrm>
          <a:prstGeom prst="roundRect">
            <a:avLst>
              <a:gd name="adj" fmla="val 5369"/>
            </a:avLst>
          </a:prstGeom>
          <a:solidFill>
            <a:schemeClr val="bg1">
              <a:lumMod val="85000"/>
            </a:schemeClr>
          </a:solidFill>
          <a:ln w="12700" cap="flat" cmpd="sng" algn="ctr">
            <a:no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zh-CN" altLang="en-US" sz="1200" kern="0" dirty="0" smtClean="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配置物理链路</a:t>
            </a:r>
            <a:endParaRPr lang="zh-CN" altLang="en-US"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2" name="圆角矩形 31"/>
          <p:cNvSpPr/>
          <p:nvPr/>
        </p:nvSpPr>
        <p:spPr bwMode="blackWhite">
          <a:xfrm>
            <a:off x="7653894" y="1899914"/>
            <a:ext cx="1036986" cy="360000"/>
          </a:xfrm>
          <a:prstGeom prst="roundRect">
            <a:avLst>
              <a:gd name="adj" fmla="val 5369"/>
            </a:avLst>
          </a:prstGeom>
          <a:solidFill>
            <a:srgbClr val="BEE9EE"/>
          </a:solidFill>
          <a:ln w="12700" cap="flat" cmpd="sng" algn="ctr">
            <a:no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zh-CN" altLang="en-US" sz="1200" kern="0" dirty="0" smtClean="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配置网络资源</a:t>
            </a:r>
            <a:endParaRPr lang="zh-CN" altLang="en-US"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3" name="圆角矩形 32"/>
          <p:cNvSpPr/>
          <p:nvPr/>
        </p:nvSpPr>
        <p:spPr bwMode="blackWhite">
          <a:xfrm>
            <a:off x="7653894" y="3312744"/>
            <a:ext cx="1036986" cy="360000"/>
          </a:xfrm>
          <a:prstGeom prst="roundRect">
            <a:avLst>
              <a:gd name="adj" fmla="val 6780"/>
            </a:avLst>
          </a:prstGeom>
          <a:solidFill>
            <a:srgbClr val="BEE9EE"/>
          </a:solidFill>
          <a:ln w="12700" cap="flat" cmpd="sng" algn="ctr">
            <a:no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zh-CN" altLang="en-US" sz="1200" kern="0" dirty="0" smtClean="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配置</a:t>
            </a:r>
            <a:r>
              <a:rPr lang="en-US" altLang="zh-CN" sz="1200" kern="0" dirty="0" smtClean="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Fabric</a:t>
            </a:r>
            <a:endParaRPr lang="zh-CN" altLang="en-US"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4" name="圆角矩形 33"/>
          <p:cNvSpPr/>
          <p:nvPr/>
        </p:nvSpPr>
        <p:spPr bwMode="blackWhite">
          <a:xfrm>
            <a:off x="7653894" y="4019159"/>
            <a:ext cx="1036986" cy="360000"/>
          </a:xfrm>
          <a:prstGeom prst="roundRect">
            <a:avLst>
              <a:gd name="adj" fmla="val 6780"/>
            </a:avLst>
          </a:prstGeom>
          <a:solidFill>
            <a:srgbClr val="BEE9EE"/>
          </a:solidFill>
          <a:ln w="12700" cap="flat" cmpd="sng" algn="ctr">
            <a:no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zh-CN" altLang="en-US" sz="1200" kern="0" dirty="0" smtClean="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配置</a:t>
            </a:r>
            <a:r>
              <a:rPr lang="en-US" altLang="zh-CN" sz="1200" kern="0" dirty="0" smtClean="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VN</a:t>
            </a:r>
            <a:endParaRPr lang="zh-CN" altLang="en-US"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5" name="圆角矩形 34"/>
          <p:cNvSpPr/>
          <p:nvPr/>
        </p:nvSpPr>
        <p:spPr bwMode="blackWhite">
          <a:xfrm>
            <a:off x="7653894" y="4725574"/>
            <a:ext cx="1036986" cy="360000"/>
          </a:xfrm>
          <a:prstGeom prst="roundRect">
            <a:avLst>
              <a:gd name="adj" fmla="val 3958"/>
            </a:avLst>
          </a:prstGeom>
          <a:solidFill>
            <a:srgbClr val="BEE9EE"/>
          </a:solidFill>
          <a:ln w="12700" cap="flat" cmpd="sng" algn="ctr">
            <a:no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zh-CN" altLang="en-US" sz="1200" kern="0" dirty="0" smtClean="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配置</a:t>
            </a:r>
            <a:r>
              <a:rPr lang="en-US" altLang="zh-CN" sz="1200" kern="0" dirty="0" smtClean="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WLAN</a:t>
            </a:r>
            <a:endParaRPr lang="zh-CN" altLang="en-US"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6" name="圆角矩形 35"/>
          <p:cNvSpPr/>
          <p:nvPr/>
        </p:nvSpPr>
        <p:spPr bwMode="gray">
          <a:xfrm>
            <a:off x="7653894" y="5431990"/>
            <a:ext cx="1036986" cy="360000"/>
          </a:xfrm>
          <a:prstGeom prst="roundRect">
            <a:avLst>
              <a:gd name="adj" fmla="val 5369"/>
            </a:avLst>
          </a:prstGeom>
          <a:solidFill>
            <a:schemeClr val="bg1">
              <a:lumMod val="85000"/>
            </a:schemeClr>
          </a:solidFill>
          <a:ln w="12700" cap="flat" cmpd="sng" algn="ctr">
            <a:no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zh-CN" altLang="en-US" sz="1200" kern="0" smtClean="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配置出口网络</a:t>
            </a:r>
            <a:endParaRPr lang="zh-CN" altLang="en-US"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7" name="圆角矩形 36"/>
          <p:cNvSpPr/>
          <p:nvPr/>
        </p:nvSpPr>
        <p:spPr bwMode="blackWhite">
          <a:xfrm>
            <a:off x="9116802" y="1899914"/>
            <a:ext cx="1036986" cy="360000"/>
          </a:xfrm>
          <a:prstGeom prst="roundRect">
            <a:avLst>
              <a:gd name="adj" fmla="val 5369"/>
            </a:avLst>
          </a:prstGeom>
          <a:solidFill>
            <a:srgbClr val="BEE9EE"/>
          </a:solidFill>
          <a:ln w="12700" cap="flat" cmpd="sng" algn="ctr">
            <a:no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zh-CN" altLang="en-US" sz="1200" kern="0" smtClean="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配置接入控制</a:t>
            </a:r>
            <a:endParaRPr lang="zh-CN" altLang="en-US"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8" name="圆角矩形 37"/>
          <p:cNvSpPr/>
          <p:nvPr/>
        </p:nvSpPr>
        <p:spPr bwMode="gray">
          <a:xfrm>
            <a:off x="9116802" y="2606329"/>
            <a:ext cx="1036986" cy="360000"/>
          </a:xfrm>
          <a:prstGeom prst="roundRect">
            <a:avLst>
              <a:gd name="adj" fmla="val 6780"/>
            </a:avLst>
          </a:prstGeom>
          <a:solidFill>
            <a:schemeClr val="bg1">
              <a:lumMod val="85000"/>
            </a:schemeClr>
          </a:solidFill>
          <a:ln w="12700" cap="flat" cmpd="sng" algn="ctr">
            <a:no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zh-CN" altLang="en-US" sz="1200" kern="0" smtClean="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配置安全业务</a:t>
            </a:r>
            <a:endParaRPr lang="zh-CN" altLang="en-US"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9" name="圆角矩形 38"/>
          <p:cNvSpPr/>
          <p:nvPr/>
        </p:nvSpPr>
        <p:spPr bwMode="gray">
          <a:xfrm>
            <a:off x="9116802" y="3312744"/>
            <a:ext cx="1036986" cy="360000"/>
          </a:xfrm>
          <a:prstGeom prst="roundRect">
            <a:avLst>
              <a:gd name="adj" fmla="val 6780"/>
            </a:avLst>
          </a:prstGeom>
          <a:solidFill>
            <a:schemeClr val="bg1">
              <a:lumMod val="85000"/>
            </a:schemeClr>
          </a:solidFill>
          <a:ln w="12700" cap="flat" cmpd="sng" algn="ctr">
            <a:no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zh-CN" altLang="en-US" sz="1200" kern="0" smtClean="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配置</a:t>
            </a:r>
            <a:r>
              <a:rPr lang="en-US" altLang="zh-CN" sz="1200" kern="0" smtClean="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QoS</a:t>
            </a:r>
            <a:endParaRPr lang="zh-CN" altLang="en-US"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0" name="圆角矩形 39"/>
          <p:cNvSpPr/>
          <p:nvPr/>
        </p:nvSpPr>
        <p:spPr bwMode="gray">
          <a:xfrm>
            <a:off x="9116802" y="4019159"/>
            <a:ext cx="1036986" cy="360000"/>
          </a:xfrm>
          <a:prstGeom prst="roundRect">
            <a:avLst>
              <a:gd name="adj" fmla="val 3958"/>
            </a:avLst>
          </a:prstGeom>
          <a:solidFill>
            <a:schemeClr val="bg1">
              <a:lumMod val="85000"/>
            </a:schemeClr>
          </a:solidFill>
          <a:ln w="12700" cap="flat" cmpd="sng" algn="ctr">
            <a:no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zh-CN" altLang="en-US" sz="1200" kern="0" smtClean="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配置运维管理</a:t>
            </a:r>
            <a:endParaRPr lang="zh-CN" altLang="en-US"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1" name="圆角矩形 40"/>
          <p:cNvSpPr/>
          <p:nvPr/>
        </p:nvSpPr>
        <p:spPr bwMode="gray">
          <a:xfrm>
            <a:off x="1799887" y="1672006"/>
            <a:ext cx="1167288" cy="4243355"/>
          </a:xfrm>
          <a:prstGeom prst="roundRect">
            <a:avLst>
              <a:gd name="adj" fmla="val 2140"/>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圆角矩形 42"/>
          <p:cNvSpPr/>
          <p:nvPr/>
        </p:nvSpPr>
        <p:spPr bwMode="gray">
          <a:xfrm>
            <a:off x="4643501" y="1672006"/>
            <a:ext cx="1209866" cy="4243355"/>
          </a:xfrm>
          <a:prstGeom prst="roundRect">
            <a:avLst>
              <a:gd name="adj" fmla="val 2140"/>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圆角矩形 43"/>
          <p:cNvSpPr/>
          <p:nvPr/>
        </p:nvSpPr>
        <p:spPr bwMode="gray">
          <a:xfrm>
            <a:off x="6107886" y="1672006"/>
            <a:ext cx="1209866" cy="4243355"/>
          </a:xfrm>
          <a:prstGeom prst="roundRect">
            <a:avLst>
              <a:gd name="adj" fmla="val 2140"/>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圆角矩形 44"/>
          <p:cNvSpPr/>
          <p:nvPr/>
        </p:nvSpPr>
        <p:spPr bwMode="gray">
          <a:xfrm>
            <a:off x="7567454" y="1672007"/>
            <a:ext cx="1209866" cy="4243354"/>
          </a:xfrm>
          <a:prstGeom prst="roundRect">
            <a:avLst>
              <a:gd name="adj" fmla="val 2140"/>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圆角矩形 45"/>
          <p:cNvSpPr/>
          <p:nvPr/>
        </p:nvSpPr>
        <p:spPr bwMode="gray">
          <a:xfrm>
            <a:off x="9030362" y="1672006"/>
            <a:ext cx="1209866" cy="4243355"/>
          </a:xfrm>
          <a:prstGeom prst="roundRect">
            <a:avLst>
              <a:gd name="adj" fmla="val 2140"/>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圆角矩形 46"/>
          <p:cNvSpPr/>
          <p:nvPr/>
        </p:nvSpPr>
        <p:spPr bwMode="gray">
          <a:xfrm>
            <a:off x="3301780" y="1193806"/>
            <a:ext cx="1036986" cy="435600"/>
          </a:xfrm>
          <a:prstGeom prst="roundRect">
            <a:avLst>
              <a:gd name="adj" fmla="val 18069"/>
            </a:avLst>
          </a:prstGeom>
          <a:solidFill>
            <a:srgbClr val="30B5C5"/>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400" dirty="0" smtClean="0">
                <a:solidFill>
                  <a:schemeClr val="bg1"/>
                </a:solidFill>
                <a:sym typeface="Huawei Sans" panose="020C0503030203020204" pitchFamily="34" charset="0"/>
              </a:rPr>
              <a:t>网络设备安装</a:t>
            </a:r>
            <a:endParaRPr lang="zh-CN" altLang="en-US" sz="1400" dirty="0">
              <a:solidFill>
                <a:schemeClr val="bg1"/>
              </a:solidFill>
              <a:sym typeface="Huawei Sans" panose="020C0503030203020204" pitchFamily="34" charset="0"/>
            </a:endParaRPr>
          </a:p>
        </p:txBody>
      </p:sp>
      <p:sp>
        <p:nvSpPr>
          <p:cNvPr id="48" name="圆角矩形 47"/>
          <p:cNvSpPr/>
          <p:nvPr/>
        </p:nvSpPr>
        <p:spPr bwMode="gray">
          <a:xfrm>
            <a:off x="3286845" y="1899914"/>
            <a:ext cx="1036986" cy="360000"/>
          </a:xfrm>
          <a:prstGeom prst="roundRect">
            <a:avLst>
              <a:gd name="adj" fmla="val 5369"/>
            </a:avLst>
          </a:prstGeom>
          <a:solidFill>
            <a:schemeClr val="bg1">
              <a:lumMod val="85000"/>
            </a:schemeClr>
          </a:solidFill>
          <a:ln w="12700" cap="flat" cmpd="sng" algn="ctr">
            <a:no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14478"/>
            <a:r>
              <a:rPr lang="zh-CN" altLang="en-US" sz="1200" kern="0" smtClean="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安装网络设备</a:t>
            </a:r>
            <a:endParaRPr lang="zh-CN" altLang="en-US"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9" name="圆角矩形 48"/>
          <p:cNvSpPr/>
          <p:nvPr/>
        </p:nvSpPr>
        <p:spPr bwMode="gray">
          <a:xfrm>
            <a:off x="3286845" y="2606329"/>
            <a:ext cx="1036986" cy="360000"/>
          </a:xfrm>
          <a:prstGeom prst="roundRect">
            <a:avLst>
              <a:gd name="adj" fmla="val 6780"/>
            </a:avLst>
          </a:prstGeom>
          <a:solidFill>
            <a:schemeClr val="bg1">
              <a:lumMod val="85000"/>
            </a:schemeClr>
          </a:solidFill>
          <a:ln w="12700" cap="flat" cmpd="sng" algn="ctr">
            <a:no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14478"/>
            <a:r>
              <a:rPr lang="zh-CN" altLang="en-US" sz="1200" kern="0" dirty="0" smtClean="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连接线缆</a:t>
            </a:r>
            <a:endParaRPr lang="zh-CN" altLang="en-US"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0" name="圆角矩形 49"/>
          <p:cNvSpPr/>
          <p:nvPr/>
        </p:nvSpPr>
        <p:spPr bwMode="gray">
          <a:xfrm>
            <a:off x="3286845" y="3314492"/>
            <a:ext cx="1036986" cy="360000"/>
          </a:xfrm>
          <a:prstGeom prst="roundRect">
            <a:avLst>
              <a:gd name="adj" fmla="val 6780"/>
            </a:avLst>
          </a:prstGeom>
          <a:solidFill>
            <a:schemeClr val="bg1">
              <a:lumMod val="85000"/>
            </a:schemeClr>
          </a:solidFill>
          <a:ln w="12700" cap="flat" cmpd="sng" algn="ctr">
            <a:no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14478"/>
            <a:r>
              <a:rPr lang="zh-CN" altLang="en-US" sz="1200" kern="0" dirty="0" smtClean="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设备上电</a:t>
            </a:r>
            <a:endParaRPr lang="zh-CN" altLang="en-US"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51" name="直接箭头连接符 50"/>
          <p:cNvCxnSpPr>
            <a:stCxn id="47" idx="3"/>
            <a:endCxn id="7" idx="1"/>
          </p:cNvCxnSpPr>
          <p:nvPr/>
        </p:nvCxnSpPr>
        <p:spPr bwMode="gray">
          <a:xfrm>
            <a:off x="4338766" y="1411606"/>
            <a:ext cx="399756" cy="0"/>
          </a:xfrm>
          <a:prstGeom prst="straightConnector1">
            <a:avLst/>
          </a:prstGeom>
          <a:ln>
            <a:solidFill>
              <a:srgbClr val="30B5C5"/>
            </a:solidFill>
            <a:tailEnd type="triangle"/>
          </a:ln>
        </p:spPr>
        <p:style>
          <a:lnRef idx="1">
            <a:schemeClr val="accent1"/>
          </a:lnRef>
          <a:fillRef idx="0">
            <a:schemeClr val="accent1"/>
          </a:fillRef>
          <a:effectRef idx="0">
            <a:schemeClr val="accent1"/>
          </a:effectRef>
          <a:fontRef idx="minor">
            <a:schemeClr val="tx1"/>
          </a:fontRef>
        </p:style>
      </p:cxnSp>
      <p:sp>
        <p:nvSpPr>
          <p:cNvPr id="52" name="圆角矩形 51"/>
          <p:cNvSpPr/>
          <p:nvPr/>
        </p:nvSpPr>
        <p:spPr bwMode="gray">
          <a:xfrm>
            <a:off x="3221694" y="1672006"/>
            <a:ext cx="1167288" cy="4243355"/>
          </a:xfrm>
          <a:prstGeom prst="roundRect">
            <a:avLst>
              <a:gd name="adj" fmla="val 2140"/>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圆角矩形 52"/>
          <p:cNvSpPr/>
          <p:nvPr/>
        </p:nvSpPr>
        <p:spPr bwMode="blackWhite">
          <a:xfrm>
            <a:off x="7653894" y="2606329"/>
            <a:ext cx="1036986" cy="360000"/>
          </a:xfrm>
          <a:prstGeom prst="roundRect">
            <a:avLst>
              <a:gd name="adj" fmla="val 6780"/>
            </a:avLst>
          </a:prstGeom>
          <a:solidFill>
            <a:srgbClr val="BEE9EE"/>
          </a:solidFill>
          <a:ln w="12700" cap="flat" cmpd="sng" algn="ctr">
            <a:no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zh-CN" altLang="en-US" sz="1200" kern="0" dirty="0" smtClean="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配置</a:t>
            </a:r>
            <a:r>
              <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Underlay</a:t>
            </a:r>
            <a:endParaRPr lang="zh-CN" altLang="en-US"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599418504"/>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bwMode="gray"/>
        <p:txBody>
          <a:bodyPr/>
          <a:lstStyle/>
          <a:p>
            <a:r>
              <a:rPr lang="en-US" altLang="zh-CN" dirty="0">
                <a:solidFill>
                  <a:schemeClr val="bg1">
                    <a:lumMod val="50000"/>
                  </a:schemeClr>
                </a:solidFill>
              </a:rPr>
              <a:t>VXLAN</a:t>
            </a:r>
            <a:r>
              <a:rPr lang="zh-CN" altLang="en-US" dirty="0">
                <a:solidFill>
                  <a:schemeClr val="bg1">
                    <a:lumMod val="50000"/>
                  </a:schemeClr>
                </a:solidFill>
              </a:rPr>
              <a:t>虚拟化园区网络部署规划</a:t>
            </a:r>
            <a:endParaRPr lang="en-US" altLang="zh-CN" dirty="0">
              <a:solidFill>
                <a:schemeClr val="bg1">
                  <a:lumMod val="50000"/>
                </a:schemeClr>
              </a:solidFill>
            </a:endParaRPr>
          </a:p>
          <a:p>
            <a:r>
              <a:rPr lang="en-US" altLang="zh-CN" b="1" dirty="0"/>
              <a:t>VXLAN</a:t>
            </a:r>
            <a:r>
              <a:rPr lang="zh-CN" altLang="en-US" b="1" dirty="0"/>
              <a:t>虚拟化园区网络部署流程及部署指导</a:t>
            </a:r>
            <a:endParaRPr lang="en-US" altLang="zh-CN" b="1" dirty="0"/>
          </a:p>
          <a:p>
            <a:pPr lvl="1"/>
            <a:r>
              <a:rPr lang="zh-CN" altLang="en-US" dirty="0">
                <a:solidFill>
                  <a:schemeClr val="bg1">
                    <a:lumMod val="50000"/>
                  </a:schemeClr>
                </a:solidFill>
              </a:rPr>
              <a:t>部署流程</a:t>
            </a:r>
            <a:endParaRPr lang="en-US" altLang="zh-CN" dirty="0">
              <a:solidFill>
                <a:schemeClr val="bg1">
                  <a:lumMod val="50000"/>
                </a:schemeClr>
              </a:solidFill>
            </a:endParaRPr>
          </a:p>
          <a:p>
            <a:pPr lvl="1">
              <a:buSzPct val="60000"/>
              <a:buFont typeface="Wingdings" panose="05000000000000000000" pitchFamily="2" charset="2"/>
              <a:buChar char="n"/>
            </a:pPr>
            <a:r>
              <a:rPr lang="zh-CN" altLang="en-US" dirty="0"/>
              <a:t>部署前的准备</a:t>
            </a:r>
          </a:p>
          <a:p>
            <a:pPr lvl="1"/>
            <a:r>
              <a:rPr lang="zh-CN" altLang="en-US" dirty="0">
                <a:solidFill>
                  <a:schemeClr val="bg1">
                    <a:lumMod val="50000"/>
                  </a:schemeClr>
                </a:solidFill>
              </a:rPr>
              <a:t>部署指导</a:t>
            </a:r>
          </a:p>
        </p:txBody>
      </p:sp>
    </p:spTree>
    <p:extLst>
      <p:ext uri="{BB962C8B-B14F-4D97-AF65-F5344CB8AC3E}">
        <p14:creationId xmlns:p14="http://schemas.microsoft.com/office/powerpoint/2010/main" val="2455453612"/>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normAutofit/>
          </a:bodyPr>
          <a:lstStyle/>
          <a:p>
            <a:r>
              <a:rPr lang="zh-CN" altLang="en-US" dirty="0"/>
              <a:t>服务器及软件</a:t>
            </a:r>
            <a:r>
              <a:rPr lang="zh-CN" altLang="en-US" dirty="0" smtClean="0"/>
              <a:t>安装 </a:t>
            </a:r>
            <a:r>
              <a:rPr lang="en-US" altLang="zh-CN" dirty="0" smtClean="0"/>
              <a:t>(1)</a:t>
            </a:r>
            <a:endParaRPr lang="zh-CN" altLang="en-US" dirty="0"/>
          </a:p>
        </p:txBody>
      </p:sp>
      <p:sp>
        <p:nvSpPr>
          <p:cNvPr id="3" name="圆角矩形 75"/>
          <p:cNvSpPr/>
          <p:nvPr/>
        </p:nvSpPr>
        <p:spPr bwMode="gray">
          <a:xfrm>
            <a:off x="661748" y="1158045"/>
            <a:ext cx="5321909" cy="360000"/>
          </a:xfrm>
          <a:prstGeom prst="roundRect">
            <a:avLst>
              <a:gd name="adj" fmla="val 10604"/>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600" dirty="0">
                <a:solidFill>
                  <a:srgbClr val="30B5C5"/>
                </a:solidFill>
                <a:latin typeface="Huawei Sans" panose="020C0503030203020204" pitchFamily="34" charset="0"/>
                <a:ea typeface="方正兰亭黑简体" panose="02000000000000000000" pitchFamily="2" charset="-122"/>
              </a:rPr>
              <a:t>安装</a:t>
            </a:r>
            <a:r>
              <a:rPr lang="en-US" altLang="zh-CN" sz="1600" dirty="0" err="1">
                <a:solidFill>
                  <a:srgbClr val="30B5C5"/>
                </a:solidFill>
                <a:latin typeface="Huawei Sans" panose="020C0503030203020204" pitchFamily="34" charset="0"/>
                <a:ea typeface="方正兰亭黑简体" panose="02000000000000000000" pitchFamily="2" charset="-122"/>
              </a:rPr>
              <a:t>iMaster</a:t>
            </a:r>
            <a:r>
              <a:rPr lang="en-US" altLang="zh-CN" sz="1600" dirty="0">
                <a:solidFill>
                  <a:srgbClr val="30B5C5"/>
                </a:solidFill>
                <a:latin typeface="Huawei Sans" panose="020C0503030203020204" pitchFamily="34" charset="0"/>
                <a:ea typeface="方正兰亭黑简体" panose="02000000000000000000" pitchFamily="2" charset="-122"/>
              </a:rPr>
              <a:t> NCE-Campus</a:t>
            </a:r>
            <a:endParaRPr lang="zh-CN" altLang="en-US" sz="1600" dirty="0">
              <a:solidFill>
                <a:srgbClr val="30B5C5"/>
              </a:solidFill>
              <a:latin typeface="Huawei Sans" panose="020C0503030203020204" pitchFamily="34" charset="0"/>
              <a:ea typeface="方正兰亭黑简体" panose="02000000000000000000" pitchFamily="2" charset="-122"/>
            </a:endParaRPr>
          </a:p>
        </p:txBody>
      </p:sp>
      <p:sp>
        <p:nvSpPr>
          <p:cNvPr id="4" name="圆角矩形 75"/>
          <p:cNvSpPr/>
          <p:nvPr/>
        </p:nvSpPr>
        <p:spPr bwMode="gray">
          <a:xfrm>
            <a:off x="661748" y="1562003"/>
            <a:ext cx="5321909" cy="4381597"/>
          </a:xfrm>
          <a:prstGeom prst="roundRect">
            <a:avLst>
              <a:gd name="adj" fmla="val 1025"/>
            </a:avLst>
          </a:prstGeom>
          <a:no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2000" tIns="72000" rIns="72000" bIns="72000" rtlCol="0" anchor="t" anchorCtr="0"/>
          <a:lstStyle/>
          <a:p>
            <a:pPr marL="182563" indent="-182563">
              <a:lnSpc>
                <a:spcPts val="2200"/>
              </a:lnSpc>
              <a:buFont typeface="+mj-lt"/>
              <a:buAutoNum type="arabicPeriod"/>
            </a:pPr>
            <a:endParaRPr lang="en-US" altLang="zh-CN" sz="1400" dirty="0">
              <a:solidFill>
                <a:schemeClr val="tx1">
                  <a:lumMod val="65000"/>
                  <a:lumOff val="35000"/>
                </a:schemeClr>
              </a:solidFill>
              <a:latin typeface="Arial" panose="020B0604020202020204" pitchFamily="34" charset="0"/>
              <a:ea typeface="微软雅黑" panose="020B0503020204020204" pitchFamily="34" charset="-122"/>
              <a:cs typeface="Arial" panose="020B0604020202020204" pitchFamily="34" charset="0"/>
            </a:endParaRPr>
          </a:p>
        </p:txBody>
      </p:sp>
      <p:sp>
        <p:nvSpPr>
          <p:cNvPr id="5" name="圆角矩形 75"/>
          <p:cNvSpPr/>
          <p:nvPr/>
        </p:nvSpPr>
        <p:spPr bwMode="gray">
          <a:xfrm>
            <a:off x="6060140" y="1158045"/>
            <a:ext cx="5321909" cy="360000"/>
          </a:xfrm>
          <a:prstGeom prst="roundRect">
            <a:avLst>
              <a:gd name="adj" fmla="val 10604"/>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600" dirty="0">
                <a:solidFill>
                  <a:srgbClr val="30B5C5"/>
                </a:solidFill>
                <a:latin typeface="Huawei Sans" panose="020C0503030203020204" pitchFamily="34" charset="0"/>
                <a:ea typeface="方正兰亭黑简体" panose="02000000000000000000" pitchFamily="2" charset="-122"/>
              </a:rPr>
              <a:t>安装</a:t>
            </a:r>
            <a:r>
              <a:rPr lang="en-US" altLang="zh-CN" sz="1600" dirty="0" err="1">
                <a:solidFill>
                  <a:srgbClr val="30B5C5"/>
                </a:solidFill>
                <a:latin typeface="Huawei Sans" panose="020C0503030203020204" pitchFamily="34" charset="0"/>
                <a:ea typeface="方正兰亭黑简体" panose="02000000000000000000" pitchFamily="2" charset="-122"/>
              </a:rPr>
              <a:t>iMaster</a:t>
            </a:r>
            <a:r>
              <a:rPr lang="en-US" altLang="zh-CN" sz="1600" dirty="0">
                <a:solidFill>
                  <a:srgbClr val="30B5C5"/>
                </a:solidFill>
                <a:latin typeface="Huawei Sans" panose="020C0503030203020204" pitchFamily="34" charset="0"/>
                <a:ea typeface="方正兰亭黑简体" panose="02000000000000000000" pitchFamily="2" charset="-122"/>
              </a:rPr>
              <a:t> NCE-</a:t>
            </a:r>
            <a:r>
              <a:rPr lang="en-US" altLang="zh-CN" sz="1600" dirty="0" err="1">
                <a:solidFill>
                  <a:srgbClr val="30B5C5"/>
                </a:solidFill>
                <a:latin typeface="Huawei Sans" panose="020C0503030203020204" pitchFamily="34" charset="0"/>
                <a:ea typeface="方正兰亭黑简体" panose="02000000000000000000" pitchFamily="2" charset="-122"/>
              </a:rPr>
              <a:t>CampusInsight</a:t>
            </a:r>
            <a:endParaRPr lang="en-US" altLang="zh-CN" sz="1600" dirty="0">
              <a:solidFill>
                <a:srgbClr val="30B5C5"/>
              </a:solidFill>
              <a:latin typeface="Huawei Sans" panose="020C0503030203020204" pitchFamily="34" charset="0"/>
              <a:ea typeface="方正兰亭黑简体" panose="02000000000000000000" pitchFamily="2" charset="-122"/>
            </a:endParaRPr>
          </a:p>
        </p:txBody>
      </p:sp>
      <p:sp>
        <p:nvSpPr>
          <p:cNvPr id="6" name="圆角矩形 75"/>
          <p:cNvSpPr/>
          <p:nvPr/>
        </p:nvSpPr>
        <p:spPr bwMode="gray">
          <a:xfrm>
            <a:off x="6060140" y="1562003"/>
            <a:ext cx="5321909" cy="4381597"/>
          </a:xfrm>
          <a:prstGeom prst="roundRect">
            <a:avLst>
              <a:gd name="adj" fmla="val 767"/>
            </a:avLst>
          </a:prstGeom>
          <a:no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2000" tIns="72000" rIns="72000" bIns="72000" rtlCol="0" anchor="t" anchorCtr="0"/>
          <a:lstStyle/>
          <a:p>
            <a:pPr marL="182563" indent="-182563">
              <a:lnSpc>
                <a:spcPts val="2200"/>
              </a:lnSpc>
              <a:buFont typeface="+mj-lt"/>
              <a:buAutoNum type="arabicPeriod"/>
            </a:pPr>
            <a:endParaRPr lang="en-US" altLang="zh-CN" sz="1400" dirty="0">
              <a:solidFill>
                <a:schemeClr val="tx1">
                  <a:lumMod val="65000"/>
                  <a:lumOff val="35000"/>
                </a:schemeClr>
              </a:solidFill>
              <a:latin typeface="Arial" panose="020B0604020202020204" pitchFamily="34" charset="0"/>
              <a:ea typeface="微软雅黑" panose="020B0503020204020204" pitchFamily="34" charset="-122"/>
              <a:cs typeface="Arial" panose="020B0604020202020204" pitchFamily="34" charset="0"/>
            </a:endParaRPr>
          </a:p>
        </p:txBody>
      </p:sp>
      <p:sp>
        <p:nvSpPr>
          <p:cNvPr id="13" name="矩形 12"/>
          <p:cNvSpPr/>
          <p:nvPr/>
        </p:nvSpPr>
        <p:spPr bwMode="gray">
          <a:xfrm>
            <a:off x="788678" y="3326971"/>
            <a:ext cx="5068048" cy="2217979"/>
          </a:xfrm>
          <a:prstGeom prst="rect">
            <a:avLst/>
          </a:prstGeom>
        </p:spPr>
        <p:txBody>
          <a:bodyPr wrap="square">
            <a:spAutoFit/>
          </a:bodyPr>
          <a:lstStyle/>
          <a:p>
            <a:pPr marL="285750" indent="-285750" algn="just">
              <a:lnSpc>
                <a:spcPts val="2600"/>
              </a:lnSpc>
              <a:spcAft>
                <a:spcPts val="600"/>
              </a:spcAft>
              <a:buFont typeface="Arial" panose="020B0604020202020204" pitchFamily="34" charset="0"/>
              <a:buChar char="•"/>
            </a:pPr>
            <a:r>
              <a:rPr lang="en-US" altLang="zh-CN" sz="1600" dirty="0"/>
              <a:t>iMaster NCE-Campus</a:t>
            </a:r>
            <a:r>
              <a:rPr lang="zh-CN" altLang="en-US" sz="1600" dirty="0"/>
              <a:t>支持三种部署场景：企业私有云部署场景、华为公有云部署场景和</a:t>
            </a:r>
            <a:r>
              <a:rPr lang="en-US" altLang="zh-CN" sz="1600" dirty="0"/>
              <a:t>MSP</a:t>
            </a:r>
            <a:r>
              <a:rPr lang="zh-CN" altLang="en-US" sz="1600" dirty="0"/>
              <a:t>自建云部署场景。</a:t>
            </a:r>
          </a:p>
          <a:p>
            <a:pPr marL="285750" indent="-285750" algn="just">
              <a:lnSpc>
                <a:spcPts val="2600"/>
              </a:lnSpc>
              <a:spcAft>
                <a:spcPts val="600"/>
              </a:spcAft>
              <a:buFont typeface="Arial" panose="020B0604020202020204" pitchFamily="34" charset="0"/>
              <a:buChar char="•"/>
            </a:pPr>
            <a:r>
              <a:rPr lang="zh-CN" altLang="en-US" sz="1600" dirty="0" smtClean="0"/>
              <a:t>大中型</a:t>
            </a:r>
            <a:r>
              <a:rPr lang="zh-CN" altLang="en-US" sz="1600" dirty="0"/>
              <a:t>园区通常采用企业私有云部署场景，即企业自行安装</a:t>
            </a:r>
            <a:r>
              <a:rPr lang="en-US" altLang="zh-CN" sz="1600" dirty="0"/>
              <a:t>iMaster NCE-Campus</a:t>
            </a:r>
            <a:r>
              <a:rPr lang="zh-CN" altLang="en-US" sz="1600" dirty="0" smtClean="0"/>
              <a:t>。</a:t>
            </a:r>
            <a:endParaRPr lang="en-US" altLang="zh-CN" sz="1600" dirty="0" smtClean="0"/>
          </a:p>
          <a:p>
            <a:pPr marL="285750" indent="-285750" algn="just">
              <a:lnSpc>
                <a:spcPts val="2600"/>
              </a:lnSpc>
              <a:spcAft>
                <a:spcPts val="600"/>
              </a:spcAft>
              <a:buFont typeface="Arial" panose="020B0604020202020204" pitchFamily="34" charset="0"/>
              <a:buChar char="•"/>
            </a:pPr>
            <a:r>
              <a:rPr lang="en-US" altLang="zh-CN" sz="1600" dirty="0"/>
              <a:t>《iMaster NCE-Campus </a:t>
            </a:r>
            <a:r>
              <a:rPr lang="zh-CN" altLang="en-US" sz="1600" dirty="0"/>
              <a:t>产品文档</a:t>
            </a:r>
            <a:r>
              <a:rPr lang="en-US" altLang="zh-CN" sz="1600" dirty="0" smtClean="0"/>
              <a:t>》</a:t>
            </a:r>
            <a:endParaRPr lang="zh-CN" altLang="en-US" sz="1600" dirty="0"/>
          </a:p>
        </p:txBody>
      </p:sp>
      <p:pic>
        <p:nvPicPr>
          <p:cNvPr id="15" name="图片 1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2689407" y="2294964"/>
            <a:ext cx="1266590" cy="720000"/>
          </a:xfrm>
          <a:prstGeom prst="rect">
            <a:avLst/>
          </a:prstGeom>
        </p:spPr>
      </p:pic>
      <p:pic>
        <p:nvPicPr>
          <p:cNvPr id="17" name="图片 1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bwMode="gray">
          <a:xfrm>
            <a:off x="8268224" y="2294964"/>
            <a:ext cx="1080861" cy="792000"/>
          </a:xfrm>
          <a:prstGeom prst="rect">
            <a:avLst/>
          </a:prstGeom>
        </p:spPr>
      </p:pic>
      <p:sp>
        <p:nvSpPr>
          <p:cNvPr id="18" name="矩形 17"/>
          <p:cNvSpPr/>
          <p:nvPr/>
        </p:nvSpPr>
        <p:spPr bwMode="gray">
          <a:xfrm>
            <a:off x="5983656" y="3326971"/>
            <a:ext cx="5068048" cy="1884555"/>
          </a:xfrm>
          <a:prstGeom prst="rect">
            <a:avLst/>
          </a:prstGeom>
        </p:spPr>
        <p:txBody>
          <a:bodyPr wrap="square">
            <a:spAutoFit/>
          </a:bodyPr>
          <a:lstStyle/>
          <a:p>
            <a:pPr marL="285750" indent="-285750" algn="just">
              <a:lnSpc>
                <a:spcPts val="2600"/>
              </a:lnSpc>
              <a:spcAft>
                <a:spcPts val="600"/>
              </a:spcAft>
              <a:buFont typeface="Arial" panose="020B0604020202020204" pitchFamily="34" charset="0"/>
              <a:buChar char="•"/>
            </a:pPr>
            <a:r>
              <a:rPr lang="en-US" altLang="zh-CN" sz="1600" dirty="0"/>
              <a:t>iMaster NCE-</a:t>
            </a:r>
            <a:r>
              <a:rPr lang="en-US" altLang="zh-CN" sz="1600" dirty="0" err="1"/>
              <a:t>CampusInsight</a:t>
            </a:r>
            <a:r>
              <a:rPr lang="zh-CN" altLang="en-US" sz="1600" dirty="0"/>
              <a:t>支持独立部署、与</a:t>
            </a:r>
            <a:r>
              <a:rPr lang="en-US" altLang="zh-CN" sz="1600" dirty="0"/>
              <a:t>iMaster NCE-Campus</a:t>
            </a:r>
            <a:r>
              <a:rPr lang="zh-CN" altLang="en-US" sz="1600" dirty="0"/>
              <a:t>集成部署两种部署方式</a:t>
            </a:r>
            <a:r>
              <a:rPr lang="zh-CN" altLang="en-US" sz="1600" dirty="0" smtClean="0"/>
              <a:t>。</a:t>
            </a:r>
            <a:endParaRPr lang="en-US" altLang="zh-CN" sz="1600" dirty="0" smtClean="0"/>
          </a:p>
          <a:p>
            <a:pPr marL="285750" indent="-285750" algn="just">
              <a:lnSpc>
                <a:spcPts val="2600"/>
              </a:lnSpc>
              <a:spcAft>
                <a:spcPts val="600"/>
              </a:spcAft>
              <a:buFont typeface="Arial" panose="020B0604020202020204" pitchFamily="34" charset="0"/>
              <a:buChar char="•"/>
            </a:pPr>
            <a:r>
              <a:rPr lang="zh-CN" altLang="en-US" sz="1600" dirty="0"/>
              <a:t>智简园区网络解决方案推荐采用与</a:t>
            </a:r>
            <a:r>
              <a:rPr lang="en-US" altLang="zh-CN" sz="1600" dirty="0"/>
              <a:t>iMaster NCE-Campus</a:t>
            </a:r>
            <a:r>
              <a:rPr lang="zh-CN" altLang="en-US" sz="1600" dirty="0"/>
              <a:t>集成部署</a:t>
            </a:r>
            <a:r>
              <a:rPr lang="zh-CN" altLang="en-US" sz="1600" dirty="0" smtClean="0"/>
              <a:t>方式。</a:t>
            </a:r>
            <a:endParaRPr lang="en-US" altLang="zh-CN" sz="1600" dirty="0" smtClean="0"/>
          </a:p>
          <a:p>
            <a:pPr marL="285750" indent="-285750" algn="just">
              <a:lnSpc>
                <a:spcPts val="2600"/>
              </a:lnSpc>
              <a:spcAft>
                <a:spcPts val="600"/>
              </a:spcAft>
              <a:buFont typeface="Arial" panose="020B0604020202020204" pitchFamily="34" charset="0"/>
              <a:buChar char="•"/>
            </a:pPr>
            <a:r>
              <a:rPr lang="en-US" altLang="zh-CN" sz="1600" dirty="0"/>
              <a:t>《iMaster NCE-</a:t>
            </a:r>
            <a:r>
              <a:rPr lang="en-US" altLang="zh-CN" sz="1600" dirty="0" err="1"/>
              <a:t>CampusInsight</a:t>
            </a:r>
            <a:r>
              <a:rPr lang="zh-CN" altLang="en-US" sz="1600" dirty="0"/>
              <a:t>产品文档</a:t>
            </a:r>
            <a:r>
              <a:rPr lang="en-US" altLang="zh-CN" sz="1600" dirty="0" smtClean="0"/>
              <a:t>》</a:t>
            </a:r>
            <a:endParaRPr lang="zh-CN" altLang="en-US" sz="1600" dirty="0"/>
          </a:p>
        </p:txBody>
      </p:sp>
    </p:spTree>
    <p:extLst>
      <p:ext uri="{BB962C8B-B14F-4D97-AF65-F5344CB8AC3E}">
        <p14:creationId xmlns:p14="http://schemas.microsoft.com/office/powerpoint/2010/main" val="1767361709"/>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normAutofit/>
          </a:bodyPr>
          <a:lstStyle/>
          <a:p>
            <a:r>
              <a:rPr lang="zh-CN" altLang="en-US" dirty="0"/>
              <a:t>服务器及软件</a:t>
            </a:r>
            <a:r>
              <a:rPr lang="zh-CN" altLang="en-US" dirty="0" smtClean="0"/>
              <a:t>安装 </a:t>
            </a:r>
            <a:r>
              <a:rPr lang="en-US" altLang="zh-CN" dirty="0" smtClean="0"/>
              <a:t>(2)</a:t>
            </a:r>
            <a:endParaRPr lang="zh-CN" altLang="en-US" dirty="0"/>
          </a:p>
        </p:txBody>
      </p:sp>
      <p:sp>
        <p:nvSpPr>
          <p:cNvPr id="5" name="圆角矩形 75"/>
          <p:cNvSpPr/>
          <p:nvPr/>
        </p:nvSpPr>
        <p:spPr bwMode="gray">
          <a:xfrm>
            <a:off x="731839" y="1361245"/>
            <a:ext cx="10726694" cy="360000"/>
          </a:xfrm>
          <a:prstGeom prst="roundRect">
            <a:avLst>
              <a:gd name="adj" fmla="val 10604"/>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600">
                <a:solidFill>
                  <a:srgbClr val="30B5C5"/>
                </a:solidFill>
                <a:latin typeface="Huawei Sans" panose="020C0503030203020204" pitchFamily="34" charset="0"/>
                <a:ea typeface="方正兰亭黑简体" panose="02000000000000000000" pitchFamily="2" charset="-122"/>
              </a:rPr>
              <a:t>安装</a:t>
            </a:r>
            <a:r>
              <a:rPr lang="en-US" altLang="zh-CN" sz="1600">
                <a:solidFill>
                  <a:srgbClr val="30B5C5"/>
                </a:solidFill>
                <a:latin typeface="Huawei Sans" panose="020C0503030203020204" pitchFamily="34" charset="0"/>
                <a:ea typeface="方正兰亭黑简体" panose="02000000000000000000" pitchFamily="2" charset="-122"/>
              </a:rPr>
              <a:t>CloudCampus APP</a:t>
            </a:r>
          </a:p>
        </p:txBody>
      </p:sp>
      <p:sp>
        <p:nvSpPr>
          <p:cNvPr id="6" name="圆角矩形 75"/>
          <p:cNvSpPr/>
          <p:nvPr/>
        </p:nvSpPr>
        <p:spPr bwMode="gray">
          <a:xfrm>
            <a:off x="731839" y="1765204"/>
            <a:ext cx="10726694" cy="3825106"/>
          </a:xfrm>
          <a:prstGeom prst="roundRect">
            <a:avLst>
              <a:gd name="adj" fmla="val 767"/>
            </a:avLst>
          </a:prstGeom>
          <a:no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2000" tIns="72000" rIns="72000" bIns="72000" rtlCol="0" anchor="t" anchorCtr="0"/>
          <a:lstStyle/>
          <a:p>
            <a:pPr marL="182563" indent="-182563">
              <a:lnSpc>
                <a:spcPts val="2200"/>
              </a:lnSpc>
              <a:buFont typeface="+mj-lt"/>
              <a:buAutoNum type="arabicPeriod"/>
            </a:pPr>
            <a:endParaRPr lang="en-US" altLang="zh-CN" sz="1400" dirty="0">
              <a:solidFill>
                <a:schemeClr val="tx1">
                  <a:lumMod val="65000"/>
                  <a:lumOff val="35000"/>
                </a:schemeClr>
              </a:solidFill>
              <a:latin typeface="Arial" panose="020B0604020202020204" pitchFamily="34" charset="0"/>
              <a:ea typeface="微软雅黑" panose="020B0503020204020204" pitchFamily="34" charset="-122"/>
              <a:cs typeface="Arial" panose="020B0604020202020204" pitchFamily="34" charset="0"/>
            </a:endParaRPr>
          </a:p>
        </p:txBody>
      </p:sp>
      <p:sp>
        <p:nvSpPr>
          <p:cNvPr id="11" name="矩形 10"/>
          <p:cNvSpPr/>
          <p:nvPr/>
        </p:nvSpPr>
        <p:spPr bwMode="gray">
          <a:xfrm>
            <a:off x="3509369" y="1981921"/>
            <a:ext cx="7774144" cy="3372142"/>
          </a:xfrm>
          <a:prstGeom prst="rect">
            <a:avLst/>
          </a:prstGeom>
        </p:spPr>
        <p:txBody>
          <a:bodyPr wrap="square">
            <a:spAutoFit/>
          </a:bodyPr>
          <a:lstStyle/>
          <a:p>
            <a:pPr marL="285750" indent="-285750" algn="just">
              <a:lnSpc>
                <a:spcPts val="2600"/>
              </a:lnSpc>
              <a:spcAft>
                <a:spcPts val="600"/>
              </a:spcAft>
              <a:buFont typeface="Arial" panose="020B0604020202020204" pitchFamily="34" charset="0"/>
              <a:buChar char="•"/>
            </a:pPr>
            <a:r>
              <a:rPr lang="zh-CN" altLang="en-US" sz="1600" dirty="0"/>
              <a:t>对于</a:t>
            </a:r>
            <a:r>
              <a:rPr lang="en-US" altLang="zh-CN" sz="1600" dirty="0"/>
              <a:t>AP</a:t>
            </a:r>
            <a:r>
              <a:rPr lang="zh-CN" altLang="en-US" sz="1600" dirty="0"/>
              <a:t>设备，在安装时需要将其实际安装的点位上传至</a:t>
            </a:r>
            <a:r>
              <a:rPr lang="en-US" altLang="zh-CN" sz="1600" dirty="0"/>
              <a:t>iMaster NCE-Campus</a:t>
            </a:r>
            <a:r>
              <a:rPr lang="zh-CN" altLang="en-US" sz="1600" dirty="0"/>
              <a:t>，以便后续高效的运维，以及提供基于终端位置的增值服务。可通过</a:t>
            </a:r>
            <a:r>
              <a:rPr lang="en-US" altLang="zh-CN" sz="1600" dirty="0"/>
              <a:t>CloudCampus APP</a:t>
            </a:r>
            <a:r>
              <a:rPr lang="zh-CN" altLang="en-US" sz="1600" dirty="0"/>
              <a:t>完成</a:t>
            </a:r>
            <a:r>
              <a:rPr lang="en-US" altLang="zh-CN" sz="1600" dirty="0"/>
              <a:t>AP</a:t>
            </a:r>
            <a:r>
              <a:rPr lang="zh-CN" altLang="en-US" sz="1600" dirty="0"/>
              <a:t>设备信息录入和上传</a:t>
            </a:r>
            <a:r>
              <a:rPr lang="zh-CN" altLang="en-US" sz="1600" dirty="0" smtClean="0"/>
              <a:t>。</a:t>
            </a:r>
            <a:endParaRPr lang="en-US" altLang="zh-CN" sz="1600" dirty="0" smtClean="0"/>
          </a:p>
          <a:p>
            <a:pPr marL="285750" indent="-285750" algn="just">
              <a:lnSpc>
                <a:spcPts val="2600"/>
              </a:lnSpc>
              <a:spcAft>
                <a:spcPts val="600"/>
              </a:spcAft>
              <a:buFont typeface="Arial" panose="020B0604020202020204" pitchFamily="34" charset="0"/>
              <a:buChar char="•"/>
            </a:pPr>
            <a:r>
              <a:rPr lang="zh-CN" altLang="en-US" sz="1600" dirty="0" smtClean="0"/>
              <a:t>除了</a:t>
            </a:r>
            <a:r>
              <a:rPr lang="zh-CN" altLang="en-US" sz="1600" dirty="0"/>
              <a:t>支持开局功能外，</a:t>
            </a:r>
            <a:r>
              <a:rPr lang="en-US" altLang="zh-CN" sz="1600" dirty="0"/>
              <a:t>CloudCampus APP</a:t>
            </a:r>
            <a:r>
              <a:rPr lang="zh-CN" altLang="en-US" sz="1600" dirty="0"/>
              <a:t>还支持</a:t>
            </a:r>
            <a:r>
              <a:rPr lang="en-US" altLang="zh-CN" sz="1600" dirty="0"/>
              <a:t>Wi-Fi</a:t>
            </a:r>
            <a:r>
              <a:rPr lang="zh-CN" altLang="en-US" sz="1600" dirty="0"/>
              <a:t>体验测试、测速、视频测试等功能。</a:t>
            </a:r>
          </a:p>
          <a:p>
            <a:pPr marL="285750" indent="-285750" algn="just">
              <a:lnSpc>
                <a:spcPts val="2600"/>
              </a:lnSpc>
              <a:spcAft>
                <a:spcPts val="600"/>
              </a:spcAft>
              <a:buFont typeface="Arial" panose="020B0604020202020204" pitchFamily="34" charset="0"/>
              <a:buChar char="•"/>
            </a:pPr>
            <a:r>
              <a:rPr lang="en-US" altLang="zh-CN" sz="1600" dirty="0" smtClean="0"/>
              <a:t>CloudCampus </a:t>
            </a:r>
            <a:r>
              <a:rPr lang="en-US" altLang="zh-CN" sz="1600" dirty="0"/>
              <a:t>APP</a:t>
            </a:r>
            <a:r>
              <a:rPr lang="zh-CN" altLang="en-US" sz="1600" dirty="0"/>
              <a:t>的获取方式：</a:t>
            </a:r>
          </a:p>
          <a:p>
            <a:pPr marL="540000" indent="-285750" algn="just">
              <a:lnSpc>
                <a:spcPts val="2600"/>
              </a:lnSpc>
              <a:spcAft>
                <a:spcPts val="600"/>
              </a:spcAft>
              <a:buFont typeface="Huawei Sans" panose="020C0503030203020204" pitchFamily="34" charset="0"/>
              <a:buChar char="▫"/>
            </a:pPr>
            <a:r>
              <a:rPr lang="zh-CN" altLang="en-US" sz="1600" dirty="0" smtClean="0"/>
              <a:t>安</a:t>
            </a:r>
            <a:r>
              <a:rPr lang="zh-CN" altLang="en-US" sz="1600" dirty="0"/>
              <a:t>卓系统的用户请在华为应用市场搜索关键字“</a:t>
            </a:r>
            <a:r>
              <a:rPr lang="en-US" altLang="zh-CN" sz="1600" dirty="0" err="1" smtClean="0"/>
              <a:t>CloudCampus</a:t>
            </a:r>
            <a:r>
              <a:rPr lang="zh-CN" altLang="en-US" sz="1600" dirty="0" smtClean="0"/>
              <a:t>”，选择“</a:t>
            </a:r>
            <a:r>
              <a:rPr lang="en-US" altLang="zh-CN" sz="1600" dirty="0"/>
              <a:t>CloudCampus APP</a:t>
            </a:r>
            <a:r>
              <a:rPr lang="zh-CN" altLang="en-US" sz="1600" dirty="0" smtClean="0"/>
              <a:t>”下载</a:t>
            </a:r>
            <a:r>
              <a:rPr lang="zh-CN" altLang="en-US" sz="1600" dirty="0"/>
              <a:t>安装。</a:t>
            </a:r>
          </a:p>
          <a:p>
            <a:pPr marL="540000" indent="-285750" algn="just">
              <a:lnSpc>
                <a:spcPts val="2600"/>
              </a:lnSpc>
              <a:spcAft>
                <a:spcPts val="600"/>
              </a:spcAft>
              <a:buFont typeface="Huawei Sans" panose="020C0503030203020204" pitchFamily="34" charset="0"/>
              <a:buChar char="▫"/>
            </a:pPr>
            <a:r>
              <a:rPr lang="zh-CN" altLang="en-US" sz="1600" dirty="0"/>
              <a:t>扫描二维码下载。</a:t>
            </a:r>
          </a:p>
        </p:txBody>
      </p:sp>
      <p:pic>
        <p:nvPicPr>
          <p:cNvPr id="3074" name="Picture 2" descr="http://127.0.0.1:7890/pages/AZJ0520J/02/AZJ0520J/02/resources/images/zh-cn_image_0193395467.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gray">
          <a:xfrm>
            <a:off x="1124904" y="2644645"/>
            <a:ext cx="2046695" cy="2046695"/>
          </a:xfrm>
          <a:prstGeom prst="rect">
            <a:avLst/>
          </a:prstGeom>
          <a:noFill/>
          <a:extLst>
            <a:ext uri="{909E8E84-426E-40DD-AFC4-6F175D3DCCD1}">
              <a14:hiddenFill xmlns:a14="http://schemas.microsoft.com/office/drawing/2010/main">
                <a:solidFill>
                  <a:srgbClr val="FFFFFF"/>
                </a:solidFill>
              </a14:hiddenFill>
            </a:ext>
          </a:extLst>
        </p:spPr>
      </p:pic>
      <p:sp>
        <p:nvSpPr>
          <p:cNvPr id="12" name="矩形 11"/>
          <p:cNvSpPr/>
          <p:nvPr/>
        </p:nvSpPr>
        <p:spPr bwMode="gray">
          <a:xfrm>
            <a:off x="1337772" y="4731409"/>
            <a:ext cx="1620957" cy="307777"/>
          </a:xfrm>
          <a:prstGeom prst="rect">
            <a:avLst/>
          </a:prstGeom>
        </p:spPr>
        <p:txBody>
          <a:bodyPr wrap="none">
            <a:spAutoFit/>
          </a:bodyPr>
          <a:lstStyle/>
          <a:p>
            <a:pPr algn="ctr"/>
            <a:r>
              <a:rPr lang="zh-CN" altLang="en-US" sz="1400">
                <a:solidFill>
                  <a:srgbClr val="333333"/>
                </a:solidFill>
                <a:latin typeface="Microsoft Yahei" panose="020B0503020204020204" pitchFamily="34" charset="-122"/>
                <a:ea typeface="Microsoft Yahei" panose="020B0503020204020204" pitchFamily="34" charset="-122"/>
              </a:rPr>
              <a:t>华为应用市场下载</a:t>
            </a:r>
            <a:endParaRPr lang="zh-CN" altLang="en-US" sz="1400"/>
          </a:p>
        </p:txBody>
      </p:sp>
    </p:spTree>
    <p:extLst>
      <p:ext uri="{BB962C8B-B14F-4D97-AF65-F5344CB8AC3E}">
        <p14:creationId xmlns:p14="http://schemas.microsoft.com/office/powerpoint/2010/main" val="320961777"/>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zh-CN" altLang="en-US" smtClean="0"/>
              <a:t>设备预配置</a:t>
            </a:r>
            <a:endParaRPr lang="zh-CN" altLang="en-US" dirty="0"/>
          </a:p>
        </p:txBody>
      </p:sp>
      <p:graphicFrame>
        <p:nvGraphicFramePr>
          <p:cNvPr id="59" name="表格 58"/>
          <p:cNvGraphicFramePr>
            <a:graphicFrameLocks noGrp="1"/>
          </p:cNvGraphicFramePr>
          <p:nvPr>
            <p:extLst>
              <p:ext uri="{D42A27DB-BD31-4B8C-83A1-F6EECF244321}">
                <p14:modId xmlns:p14="http://schemas.microsoft.com/office/powerpoint/2010/main" val="257398365"/>
              </p:ext>
            </p:extLst>
          </p:nvPr>
        </p:nvGraphicFramePr>
        <p:xfrm>
          <a:off x="5482720" y="2521053"/>
          <a:ext cx="6207442" cy="1249680"/>
        </p:xfrm>
        <a:graphic>
          <a:graphicData uri="http://schemas.openxmlformats.org/drawingml/2006/table">
            <a:tbl>
              <a:tblPr/>
              <a:tblGrid>
                <a:gridCol w="1274141"/>
                <a:gridCol w="4933301"/>
              </a:tblGrid>
              <a:tr h="0">
                <a:tc>
                  <a:txBody>
                    <a:bodyPr/>
                    <a:lstStyle/>
                    <a:p>
                      <a:pPr algn="ctr"/>
                      <a:r>
                        <a:rPr lang="zh-CN" altLang="en-US" sz="1400" b="1" dirty="0">
                          <a:effectLst/>
                        </a:rPr>
                        <a:t>任务描述</a:t>
                      </a:r>
                    </a:p>
                  </a:txBody>
                  <a:tcPr anchor="ctr">
                    <a:lnL w="28575" cap="flat" cmpd="sng" algn="ctr">
                      <a:solidFill>
                        <a:schemeClr val="tx1"/>
                      </a:solidFill>
                      <a:prstDash val="solid"/>
                      <a:round/>
                      <a:headEnd type="none" w="med" len="med"/>
                      <a:tailEnd type="none" w="med" len="med"/>
                    </a:lnL>
                    <a:lnT w="28575" cap="flat" cmpd="sng" algn="ctr">
                      <a:solidFill>
                        <a:schemeClr val="tx1"/>
                      </a:solidFill>
                      <a:prstDash val="solid"/>
                      <a:round/>
                      <a:headEnd type="none" w="med" len="med"/>
                      <a:tailEnd type="none" w="med" len="med"/>
                    </a:lnT>
                    <a:solidFill>
                      <a:schemeClr val="bg1">
                        <a:lumMod val="85000"/>
                      </a:schemeClr>
                    </a:solidFill>
                  </a:tcPr>
                </a:tc>
                <a:tc>
                  <a:txBody>
                    <a:bodyPr/>
                    <a:lstStyle/>
                    <a:p>
                      <a:pPr algn="ctr"/>
                      <a:r>
                        <a:rPr lang="zh-CN" altLang="en-US" sz="1400" b="1" dirty="0" smtClean="0">
                          <a:effectLst/>
                        </a:rPr>
                        <a:t>预配置规划</a:t>
                      </a:r>
                      <a:endParaRPr lang="zh-CN" altLang="en-US" sz="1400" b="1" dirty="0">
                        <a:effectLst/>
                      </a:endParaRPr>
                    </a:p>
                  </a:txBody>
                  <a:tcPr anchor="ctr">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solidFill>
                      <a:schemeClr val="bg1">
                        <a:lumMod val="85000"/>
                      </a:schemeClr>
                    </a:solidFill>
                  </a:tcPr>
                </a:tc>
              </a:tr>
              <a:tr h="0">
                <a:tc>
                  <a:txBody>
                    <a:bodyPr/>
                    <a:lstStyle/>
                    <a:p>
                      <a:pPr algn="ctr">
                        <a:lnSpc>
                          <a:spcPts val="2400"/>
                        </a:lnSpc>
                        <a:spcAft>
                          <a:spcPts val="600"/>
                        </a:spcAft>
                      </a:pPr>
                      <a:r>
                        <a:rPr lang="en-US" altLang="zh-CN" sz="1400" dirty="0" smtClean="0">
                          <a:effectLst/>
                        </a:rPr>
                        <a:t>AR3</a:t>
                      </a:r>
                      <a:r>
                        <a:rPr lang="zh-CN" altLang="en-US" sz="1400" dirty="0" smtClean="0">
                          <a:effectLst/>
                        </a:rPr>
                        <a:t>预配置</a:t>
                      </a:r>
                      <a:endParaRPr lang="zh-CN" altLang="en-US" sz="1400" dirty="0">
                        <a:effectLst/>
                      </a:endParaRPr>
                    </a:p>
                  </a:txBody>
                  <a:tcPr anchor="ctr">
                    <a:lnL w="28575" cap="flat" cmpd="sng" algn="ctr">
                      <a:solidFill>
                        <a:schemeClr val="tx1"/>
                      </a:solidFill>
                      <a:prstDash val="solid"/>
                      <a:round/>
                      <a:headEnd type="none" w="med" len="med"/>
                      <a:tailEnd type="none" w="med" len="med"/>
                    </a:lnL>
                    <a:lnB w="28575" cap="flat" cmpd="sng" algn="ctr">
                      <a:solidFill>
                        <a:schemeClr val="tx1"/>
                      </a:solidFill>
                      <a:prstDash val="solid"/>
                      <a:round/>
                      <a:headEnd type="none" w="med" len="med"/>
                      <a:tailEnd type="none" w="med" len="med"/>
                    </a:lnB>
                  </a:tcPr>
                </a:tc>
                <a:tc>
                  <a:txBody>
                    <a:bodyPr/>
                    <a:lstStyle/>
                    <a:p>
                      <a:pPr marL="228600" indent="-228600" algn="l" defTabSz="914034" rtl="0" eaLnBrk="1" latinLnBrk="0" hangingPunct="1">
                        <a:lnSpc>
                          <a:spcPct val="100000"/>
                        </a:lnSpc>
                        <a:spcAft>
                          <a:spcPts val="0"/>
                        </a:spcAft>
                        <a:buFont typeface="+mj-lt"/>
                        <a:buAutoNum type="arabicPeriod"/>
                      </a:pPr>
                      <a:r>
                        <a:rPr lang="en-US" altLang="zh-CN" sz="1400" kern="1200" dirty="0" smtClean="0">
                          <a:solidFill>
                            <a:schemeClr val="tx1"/>
                          </a:solidFill>
                          <a:effectLst/>
                          <a:latin typeface="+mn-lt"/>
                          <a:ea typeface="+mn-ea"/>
                          <a:cs typeface="+mn-cs"/>
                        </a:rPr>
                        <a:t>VLAN</a:t>
                      </a:r>
                      <a:r>
                        <a:rPr lang="zh-CN" altLang="en-US" sz="1400" kern="1200" dirty="0" smtClean="0">
                          <a:solidFill>
                            <a:schemeClr val="tx1"/>
                          </a:solidFill>
                          <a:effectLst/>
                          <a:latin typeface="+mn-lt"/>
                          <a:ea typeface="+mn-ea"/>
                          <a:cs typeface="+mn-cs"/>
                        </a:rPr>
                        <a:t>划分、</a:t>
                      </a:r>
                      <a:r>
                        <a:rPr lang="en-US" altLang="zh-CN" sz="1400" kern="1200" dirty="0" smtClean="0">
                          <a:solidFill>
                            <a:schemeClr val="tx1"/>
                          </a:solidFill>
                          <a:effectLst/>
                          <a:latin typeface="+mn-lt"/>
                          <a:ea typeface="+mn-ea"/>
                          <a:cs typeface="+mn-cs"/>
                        </a:rPr>
                        <a:t>VLANIF</a:t>
                      </a:r>
                      <a:r>
                        <a:rPr lang="zh-CN" altLang="en-US" sz="1400" kern="1200" dirty="0" smtClean="0">
                          <a:solidFill>
                            <a:schemeClr val="tx1"/>
                          </a:solidFill>
                          <a:effectLst/>
                          <a:latin typeface="+mn-lt"/>
                          <a:ea typeface="+mn-ea"/>
                          <a:cs typeface="+mn-cs"/>
                        </a:rPr>
                        <a:t>接口创建、</a:t>
                      </a:r>
                      <a:r>
                        <a:rPr lang="en-US" altLang="zh-CN" sz="1400" kern="1200" dirty="0" smtClean="0">
                          <a:solidFill>
                            <a:schemeClr val="tx1"/>
                          </a:solidFill>
                          <a:effectLst/>
                          <a:latin typeface="+mn-lt"/>
                          <a:ea typeface="+mn-ea"/>
                          <a:cs typeface="+mn-cs"/>
                        </a:rPr>
                        <a:t>IP</a:t>
                      </a:r>
                      <a:r>
                        <a:rPr lang="zh-CN" altLang="en-US" sz="1400" kern="1200" dirty="0" smtClean="0">
                          <a:solidFill>
                            <a:schemeClr val="tx1"/>
                          </a:solidFill>
                          <a:effectLst/>
                          <a:latin typeface="+mn-lt"/>
                          <a:ea typeface="+mn-ea"/>
                          <a:cs typeface="+mn-cs"/>
                        </a:rPr>
                        <a:t>路由等基础配置。</a:t>
                      </a:r>
                      <a:endParaRPr lang="en-US" altLang="zh-CN" sz="1400" kern="1200" dirty="0" smtClean="0">
                        <a:solidFill>
                          <a:schemeClr val="tx1"/>
                        </a:solidFill>
                        <a:effectLst/>
                        <a:latin typeface="+mn-lt"/>
                        <a:ea typeface="+mn-ea"/>
                        <a:cs typeface="+mn-cs"/>
                      </a:endParaRPr>
                    </a:p>
                    <a:p>
                      <a:pPr marL="228600" indent="-228600" algn="l" defTabSz="914034" rtl="0" eaLnBrk="1" latinLnBrk="0" hangingPunct="1">
                        <a:lnSpc>
                          <a:spcPct val="100000"/>
                        </a:lnSpc>
                        <a:spcAft>
                          <a:spcPts val="0"/>
                        </a:spcAft>
                        <a:buFont typeface="+mj-lt"/>
                        <a:buAutoNum type="arabicPeriod"/>
                      </a:pPr>
                      <a:r>
                        <a:rPr lang="en-US" altLang="zh-CN" sz="1400" kern="1200" dirty="0" smtClean="0">
                          <a:solidFill>
                            <a:schemeClr val="tx1"/>
                          </a:solidFill>
                          <a:effectLst/>
                          <a:latin typeface="+mn-lt"/>
                          <a:ea typeface="+mn-ea"/>
                          <a:cs typeface="+mn-cs"/>
                        </a:rPr>
                        <a:t>DHCP</a:t>
                      </a:r>
                      <a:r>
                        <a:rPr lang="zh-CN" altLang="en-US" sz="1400" kern="1200" dirty="0" smtClean="0">
                          <a:solidFill>
                            <a:schemeClr val="tx1"/>
                          </a:solidFill>
                          <a:effectLst/>
                          <a:latin typeface="+mn-lt"/>
                          <a:ea typeface="+mn-ea"/>
                          <a:cs typeface="+mn-cs"/>
                        </a:rPr>
                        <a:t>服务器，用于站点内设备即插即用。</a:t>
                      </a:r>
                      <a:endParaRPr lang="en-US" altLang="zh-CN" sz="1400" kern="1200" dirty="0" smtClean="0">
                        <a:solidFill>
                          <a:schemeClr val="tx1"/>
                        </a:solidFill>
                        <a:effectLst/>
                        <a:latin typeface="+mn-lt"/>
                        <a:ea typeface="+mn-ea"/>
                        <a:cs typeface="+mn-cs"/>
                      </a:endParaRPr>
                    </a:p>
                    <a:p>
                      <a:pPr marL="228600" indent="-228600" algn="l" defTabSz="914034" rtl="0" eaLnBrk="1" latinLnBrk="0" hangingPunct="1">
                        <a:lnSpc>
                          <a:spcPct val="100000"/>
                        </a:lnSpc>
                        <a:spcAft>
                          <a:spcPts val="0"/>
                        </a:spcAft>
                        <a:buFont typeface="+mj-lt"/>
                        <a:buAutoNum type="arabicPeriod"/>
                      </a:pPr>
                      <a:r>
                        <a:rPr lang="en-US" altLang="zh-CN" sz="1400" kern="1200" dirty="0" smtClean="0">
                          <a:solidFill>
                            <a:schemeClr val="tx1"/>
                          </a:solidFill>
                          <a:effectLst/>
                          <a:latin typeface="+mn-lt"/>
                          <a:ea typeface="+mn-ea"/>
                          <a:cs typeface="+mn-cs"/>
                        </a:rPr>
                        <a:t>DHCP</a:t>
                      </a:r>
                      <a:r>
                        <a:rPr lang="zh-CN" altLang="en-US" sz="1400" kern="1200" dirty="0" smtClean="0">
                          <a:solidFill>
                            <a:schemeClr val="tx1"/>
                          </a:solidFill>
                          <a:effectLst/>
                          <a:latin typeface="+mn-lt"/>
                          <a:ea typeface="+mn-ea"/>
                          <a:cs typeface="+mn-cs"/>
                        </a:rPr>
                        <a:t>服务器，用户终端用户接入网络。</a:t>
                      </a:r>
                      <a:endParaRPr lang="en-US" altLang="zh-CN" sz="1400" kern="1200" dirty="0" smtClean="0">
                        <a:solidFill>
                          <a:schemeClr val="tx1"/>
                        </a:solidFill>
                        <a:effectLst/>
                        <a:latin typeface="+mn-lt"/>
                        <a:ea typeface="+mn-ea"/>
                        <a:cs typeface="+mn-cs"/>
                      </a:endParaRPr>
                    </a:p>
                    <a:p>
                      <a:pPr marL="228600" indent="-228600" algn="l" defTabSz="914034" rtl="0" eaLnBrk="1" latinLnBrk="0" hangingPunct="1">
                        <a:lnSpc>
                          <a:spcPct val="100000"/>
                        </a:lnSpc>
                        <a:spcAft>
                          <a:spcPts val="0"/>
                        </a:spcAft>
                        <a:buFont typeface="+mj-lt"/>
                        <a:buAutoNum type="arabicPeriod"/>
                      </a:pPr>
                      <a:r>
                        <a:rPr lang="zh-CN" altLang="en-US" sz="1400" kern="1200" dirty="0" smtClean="0">
                          <a:solidFill>
                            <a:schemeClr val="tx1"/>
                          </a:solidFill>
                          <a:effectLst/>
                          <a:latin typeface="+mn-lt"/>
                          <a:ea typeface="+mn-ea"/>
                          <a:cs typeface="+mn-cs"/>
                        </a:rPr>
                        <a:t>模拟外部网络，包括：</a:t>
                      </a:r>
                      <a:r>
                        <a:rPr lang="en-US" altLang="zh-CN" sz="1400" kern="1200" dirty="0" smtClean="0">
                          <a:solidFill>
                            <a:schemeClr val="tx1"/>
                          </a:solidFill>
                          <a:effectLst/>
                          <a:latin typeface="+mn-lt"/>
                          <a:ea typeface="+mn-ea"/>
                          <a:cs typeface="+mn-cs"/>
                        </a:rPr>
                        <a:t>OA</a:t>
                      </a:r>
                      <a:r>
                        <a:rPr lang="zh-CN" altLang="en-US" sz="1400" kern="1200" dirty="0" smtClean="0">
                          <a:solidFill>
                            <a:schemeClr val="tx1"/>
                          </a:solidFill>
                          <a:effectLst/>
                          <a:latin typeface="+mn-lt"/>
                          <a:ea typeface="+mn-ea"/>
                          <a:cs typeface="+mn-cs"/>
                        </a:rPr>
                        <a:t>网络和</a:t>
                      </a:r>
                      <a:r>
                        <a:rPr lang="en-US" altLang="zh-CN" sz="1400" kern="1200" dirty="0" smtClean="0">
                          <a:solidFill>
                            <a:schemeClr val="tx1"/>
                          </a:solidFill>
                          <a:effectLst/>
                          <a:latin typeface="+mn-lt"/>
                          <a:ea typeface="+mn-ea"/>
                          <a:cs typeface="+mn-cs"/>
                        </a:rPr>
                        <a:t>RD</a:t>
                      </a:r>
                      <a:r>
                        <a:rPr lang="zh-CN" altLang="en-US" sz="1400" kern="1200" dirty="0" smtClean="0">
                          <a:solidFill>
                            <a:schemeClr val="tx1"/>
                          </a:solidFill>
                          <a:effectLst/>
                          <a:latin typeface="+mn-lt"/>
                          <a:ea typeface="+mn-ea"/>
                          <a:cs typeface="+mn-cs"/>
                        </a:rPr>
                        <a:t>网络。</a:t>
                      </a:r>
                      <a:endParaRPr lang="en-US" altLang="zh-CN" sz="1400" kern="1200" dirty="0" smtClean="0">
                        <a:solidFill>
                          <a:schemeClr val="tx1"/>
                        </a:solidFill>
                        <a:effectLst/>
                        <a:latin typeface="+mn-lt"/>
                        <a:ea typeface="+mn-ea"/>
                        <a:cs typeface="+mn-cs"/>
                      </a:endParaRPr>
                    </a:p>
                  </a:txBody>
                  <a:tcPr anchor="ctr">
                    <a:lnR w="28575" cap="flat" cmpd="sng" algn="ctr">
                      <a:solidFill>
                        <a:schemeClr val="tx1"/>
                      </a:solidFill>
                      <a:prstDash val="solid"/>
                      <a:round/>
                      <a:headEnd type="none" w="med" len="med"/>
                      <a:tailEnd type="none" w="med" len="med"/>
                    </a:lnR>
                    <a:lnB w="28575" cap="flat" cmpd="sng" algn="ctr">
                      <a:solidFill>
                        <a:schemeClr val="tx1"/>
                      </a:solidFill>
                      <a:prstDash val="solid"/>
                      <a:round/>
                      <a:headEnd type="none" w="med" len="med"/>
                      <a:tailEnd type="none" w="med" len="med"/>
                    </a:lnB>
                  </a:tcPr>
                </a:tc>
              </a:tr>
            </a:tbl>
          </a:graphicData>
        </a:graphic>
      </p:graphicFrame>
      <p:sp>
        <p:nvSpPr>
          <p:cNvPr id="60" name="Freeform 159"/>
          <p:cNvSpPr/>
          <p:nvPr/>
        </p:nvSpPr>
        <p:spPr bwMode="gray">
          <a:xfrm flipH="1">
            <a:off x="1397996" y="954188"/>
            <a:ext cx="2798116" cy="1243840"/>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20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61" name="圆角矩形 60"/>
          <p:cNvSpPr/>
          <p:nvPr/>
        </p:nvSpPr>
        <p:spPr bwMode="gray">
          <a:xfrm>
            <a:off x="970555" y="2278894"/>
            <a:ext cx="4309958" cy="3897888"/>
          </a:xfrm>
          <a:prstGeom prst="roundRect">
            <a:avLst>
              <a:gd name="adj" fmla="val 3166"/>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62" name="Freeform 159"/>
          <p:cNvSpPr/>
          <p:nvPr/>
        </p:nvSpPr>
        <p:spPr bwMode="gray">
          <a:xfrm flipH="1">
            <a:off x="1715819" y="3165614"/>
            <a:ext cx="2375862" cy="1360076"/>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rgbClr val="E3F6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latin typeface="Huawei Sans" panose="020C0503030203020204" pitchFamily="34" charset="0"/>
              <a:ea typeface="方正兰亭黑简体" panose="02000000000000000000" pitchFamily="2" charset="-122"/>
            </a:endParaRPr>
          </a:p>
        </p:txBody>
      </p:sp>
      <p:cxnSp>
        <p:nvCxnSpPr>
          <p:cNvPr id="63" name="Straight Connector 166"/>
          <p:cNvCxnSpPr>
            <a:stCxn id="82" idx="2"/>
            <a:endCxn id="65" idx="0"/>
          </p:cNvCxnSpPr>
          <p:nvPr/>
        </p:nvCxnSpPr>
        <p:spPr bwMode="gray">
          <a:xfrm>
            <a:off x="1823344" y="4450451"/>
            <a:ext cx="0" cy="40327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 name="Straight Connector 166"/>
          <p:cNvCxnSpPr>
            <a:stCxn id="83" idx="2"/>
            <a:endCxn id="66" idx="0"/>
          </p:cNvCxnSpPr>
          <p:nvPr/>
        </p:nvCxnSpPr>
        <p:spPr bwMode="gray">
          <a:xfrm>
            <a:off x="3754145" y="4450451"/>
            <a:ext cx="0" cy="40327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65" name="图片 76" descr="接入交换机.png"/>
          <p:cNvPicPr>
            <a:picLocks noChangeAspect="1"/>
          </p:cNvPicPr>
          <p:nvPr/>
        </p:nvPicPr>
        <p:blipFill>
          <a:blip r:embed="rId3" cstate="print"/>
          <a:stretch>
            <a:fillRect/>
          </a:stretch>
        </p:blipFill>
        <p:spPr bwMode="gray">
          <a:xfrm>
            <a:off x="1600203" y="4853728"/>
            <a:ext cx="446281" cy="365139"/>
          </a:xfrm>
          <a:prstGeom prst="rect">
            <a:avLst/>
          </a:prstGeom>
        </p:spPr>
      </p:pic>
      <p:pic>
        <p:nvPicPr>
          <p:cNvPr id="66" name="图片 76" descr="接入交换机.png"/>
          <p:cNvPicPr>
            <a:picLocks noChangeAspect="1"/>
          </p:cNvPicPr>
          <p:nvPr/>
        </p:nvPicPr>
        <p:blipFill>
          <a:blip r:embed="rId3" cstate="print"/>
          <a:stretch>
            <a:fillRect/>
          </a:stretch>
        </p:blipFill>
        <p:spPr bwMode="gray">
          <a:xfrm>
            <a:off x="3531004" y="4853728"/>
            <a:ext cx="446281" cy="365139"/>
          </a:xfrm>
          <a:prstGeom prst="rect">
            <a:avLst/>
          </a:prstGeom>
        </p:spPr>
      </p:pic>
      <p:sp>
        <p:nvSpPr>
          <p:cNvPr id="67" name="文本框 66"/>
          <p:cNvSpPr txBox="1"/>
          <p:nvPr/>
        </p:nvSpPr>
        <p:spPr bwMode="gray">
          <a:xfrm>
            <a:off x="967611" y="2320282"/>
            <a:ext cx="426720" cy="276999"/>
          </a:xfrm>
          <a:prstGeom prst="rect">
            <a:avLst/>
          </a:prstGeom>
          <a:noFill/>
        </p:spPr>
        <p:txBody>
          <a:bodyPr wrap="none" rtlCol="0">
            <a:spAutoFit/>
          </a:bodyPr>
          <a:lstStyle/>
          <a:p>
            <a:r>
              <a:rPr lang="en-US" altLang="zh-CN" sz="1200" b="1" dirty="0" smtClean="0">
                <a:latin typeface="Huawei Sans" panose="020C0503030203020204" pitchFamily="34" charset="0"/>
                <a:ea typeface="方正兰亭黑简体" panose="02000000000000000000" pitchFamily="2" charset="-122"/>
                <a:cs typeface="Huawei Sans" panose="020C0503030203020204" pitchFamily="34" charset="0"/>
              </a:rPr>
              <a:t>HQ</a:t>
            </a:r>
            <a:endParaRPr lang="zh-CN" altLang="en-US" sz="1200" b="1" dirty="0">
              <a:latin typeface="Huawei Sans" panose="020C0503030203020204" pitchFamily="34" charset="0"/>
              <a:ea typeface="方正兰亭黑简体" panose="02000000000000000000" pitchFamily="2" charset="-122"/>
              <a:cs typeface="Huawei Sans" panose="020C0503030203020204" pitchFamily="34" charset="0"/>
            </a:endParaRPr>
          </a:p>
        </p:txBody>
      </p:sp>
      <p:pic>
        <p:nvPicPr>
          <p:cNvPr id="68" name="图片 105" descr="AP.png"/>
          <p:cNvPicPr>
            <a:picLocks noChangeAspect="1"/>
          </p:cNvPicPr>
          <p:nvPr/>
        </p:nvPicPr>
        <p:blipFill>
          <a:blip r:embed="rId4" cstate="print"/>
          <a:stretch>
            <a:fillRect/>
          </a:stretch>
        </p:blipFill>
        <p:spPr bwMode="gray">
          <a:xfrm>
            <a:off x="4692938" y="4885413"/>
            <a:ext cx="368827" cy="301768"/>
          </a:xfrm>
          <a:prstGeom prst="rect">
            <a:avLst/>
          </a:prstGeom>
        </p:spPr>
      </p:pic>
      <p:cxnSp>
        <p:nvCxnSpPr>
          <p:cNvPr id="69" name="Straight Connector 166"/>
          <p:cNvCxnSpPr>
            <a:stCxn id="66" idx="3"/>
            <a:endCxn id="68" idx="1"/>
          </p:cNvCxnSpPr>
          <p:nvPr/>
        </p:nvCxnSpPr>
        <p:spPr bwMode="gray">
          <a:xfrm flipV="1">
            <a:off x="3977285" y="5036297"/>
            <a:ext cx="715653" cy="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71" name="文本框 70"/>
          <p:cNvSpPr txBox="1"/>
          <p:nvPr/>
        </p:nvSpPr>
        <p:spPr bwMode="gray">
          <a:xfrm>
            <a:off x="2144820" y="2521053"/>
            <a:ext cx="466794" cy="276999"/>
          </a:xfrm>
          <a:prstGeom prst="rect">
            <a:avLst/>
          </a:prstGeom>
          <a:noFill/>
        </p:spPr>
        <p:txBody>
          <a:bodyPr wrap="none" rtlCol="0">
            <a:spAutoFit/>
          </a:bodyPr>
          <a:lstStyle/>
          <a:p>
            <a:pPr algn="r"/>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AR3</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pic>
        <p:nvPicPr>
          <p:cNvPr id="72" name="图片 14" descr="日志告警服务器-蓝.png"/>
          <p:cNvPicPr>
            <a:picLocks noChangeAspect="1"/>
          </p:cNvPicPr>
          <p:nvPr/>
        </p:nvPicPr>
        <p:blipFill>
          <a:blip r:embed="rId5" cstate="print"/>
          <a:stretch>
            <a:fillRect/>
          </a:stretch>
        </p:blipFill>
        <p:spPr bwMode="gray">
          <a:xfrm>
            <a:off x="4649698" y="5620319"/>
            <a:ext cx="445956" cy="278465"/>
          </a:xfrm>
          <a:prstGeom prst="rect">
            <a:avLst/>
          </a:prstGeom>
        </p:spPr>
      </p:pic>
      <p:pic>
        <p:nvPicPr>
          <p:cNvPr id="73" name="图片 72" descr="PC.png">
            <a:extLst>
              <a:ext uri="{FF2B5EF4-FFF2-40B4-BE49-F238E27FC236}">
                <a16:creationId xmlns="" xmlns:a16="http://schemas.microsoft.com/office/drawing/2014/main" id="{4666702E-823D-4236-BF2F-880359158C83}"/>
              </a:ext>
            </a:extLst>
          </p:cNvPr>
          <p:cNvPicPr>
            <a:picLocks noChangeAspect="1"/>
          </p:cNvPicPr>
          <p:nvPr/>
        </p:nvPicPr>
        <p:blipFill>
          <a:blip r:embed="rId6" cstate="print"/>
          <a:stretch>
            <a:fillRect/>
          </a:stretch>
        </p:blipFill>
        <p:spPr bwMode="gray">
          <a:xfrm>
            <a:off x="1600590" y="5592042"/>
            <a:ext cx="445506" cy="342149"/>
          </a:xfrm>
          <a:prstGeom prst="rect">
            <a:avLst/>
          </a:prstGeom>
        </p:spPr>
      </p:pic>
      <p:pic>
        <p:nvPicPr>
          <p:cNvPr id="74" name="图片 73" descr="PC.png">
            <a:extLst>
              <a:ext uri="{FF2B5EF4-FFF2-40B4-BE49-F238E27FC236}">
                <a16:creationId xmlns="" xmlns:a16="http://schemas.microsoft.com/office/drawing/2014/main" id="{4666702E-823D-4236-BF2F-880359158C83}"/>
              </a:ext>
            </a:extLst>
          </p:cNvPr>
          <p:cNvPicPr>
            <a:picLocks noChangeAspect="1"/>
          </p:cNvPicPr>
          <p:nvPr/>
        </p:nvPicPr>
        <p:blipFill>
          <a:blip r:embed="rId6" cstate="print"/>
          <a:stretch>
            <a:fillRect/>
          </a:stretch>
        </p:blipFill>
        <p:spPr bwMode="gray">
          <a:xfrm>
            <a:off x="3531391" y="5591709"/>
            <a:ext cx="445506" cy="342149"/>
          </a:xfrm>
          <a:prstGeom prst="rect">
            <a:avLst/>
          </a:prstGeom>
        </p:spPr>
      </p:pic>
      <p:cxnSp>
        <p:nvCxnSpPr>
          <p:cNvPr id="75" name="Straight Connector 166"/>
          <p:cNvCxnSpPr>
            <a:stCxn id="78" idx="0"/>
          </p:cNvCxnSpPr>
          <p:nvPr/>
        </p:nvCxnSpPr>
        <p:spPr bwMode="gray">
          <a:xfrm flipV="1">
            <a:off x="2803037" y="2842122"/>
            <a:ext cx="0" cy="36652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6" name="Straight Connector 167"/>
          <p:cNvCxnSpPr/>
          <p:nvPr/>
        </p:nvCxnSpPr>
        <p:spPr bwMode="gray">
          <a:xfrm flipH="1">
            <a:off x="1824054" y="3391219"/>
            <a:ext cx="971589" cy="876201"/>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77" name="Straight Connector 167"/>
          <p:cNvCxnSpPr/>
          <p:nvPr/>
        </p:nvCxnSpPr>
        <p:spPr bwMode="gray">
          <a:xfrm flipH="1" flipV="1">
            <a:off x="2792264" y="3388742"/>
            <a:ext cx="975076" cy="883934"/>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pic>
        <p:nvPicPr>
          <p:cNvPr id="78" name="图片 86" descr="核心交换机.png"/>
          <p:cNvPicPr>
            <a:picLocks noChangeAspect="1"/>
          </p:cNvPicPr>
          <p:nvPr/>
        </p:nvPicPr>
        <p:blipFill>
          <a:blip r:embed="rId7" cstate="print"/>
          <a:stretch>
            <a:fillRect/>
          </a:stretch>
        </p:blipFill>
        <p:spPr bwMode="gray">
          <a:xfrm>
            <a:off x="2579896" y="3208650"/>
            <a:ext cx="446281" cy="365139"/>
          </a:xfrm>
          <a:prstGeom prst="rect">
            <a:avLst/>
          </a:prstGeom>
        </p:spPr>
      </p:pic>
      <p:sp>
        <p:nvSpPr>
          <p:cNvPr id="79" name="文本框 78"/>
          <p:cNvSpPr txBox="1"/>
          <p:nvPr/>
        </p:nvSpPr>
        <p:spPr bwMode="gray">
          <a:xfrm>
            <a:off x="1928630" y="3225764"/>
            <a:ext cx="676788" cy="276999"/>
          </a:xfrm>
          <a:prstGeom prst="rect">
            <a:avLst/>
          </a:prstGeom>
          <a:noFill/>
        </p:spPr>
        <p:txBody>
          <a:bodyPr wrap="none" rtlCol="0">
            <a:spAutoFit/>
          </a:bodyPr>
          <a:lstStyle/>
          <a:p>
            <a:pPr algn="ctr"/>
            <a:r>
              <a:rPr lang="en-US" altLang="zh-CN" sz="1200" b="1" dirty="0" smtClean="0">
                <a:latin typeface="Huawei Sans" panose="020C0503030203020204" pitchFamily="34" charset="0"/>
                <a:ea typeface="方正兰亭黑简体" panose="02000000000000000000" pitchFamily="2" charset="-122"/>
                <a:cs typeface="Huawei Sans" panose="020C0503030203020204" pitchFamily="34" charset="0"/>
              </a:rPr>
              <a:t>Border</a:t>
            </a:r>
            <a:endParaRPr lang="zh-CN" altLang="en-US" sz="1200" b="1"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80" name="文本框 79"/>
          <p:cNvSpPr txBox="1"/>
          <p:nvPr/>
        </p:nvSpPr>
        <p:spPr bwMode="gray">
          <a:xfrm>
            <a:off x="960091" y="4117678"/>
            <a:ext cx="702436" cy="276999"/>
          </a:xfrm>
          <a:prstGeom prst="rect">
            <a:avLst/>
          </a:prstGeom>
          <a:noFill/>
        </p:spPr>
        <p:txBody>
          <a:bodyPr wrap="none" rtlCol="0">
            <a:spAutoFit/>
          </a:bodyPr>
          <a:lstStyle/>
          <a:p>
            <a:pPr algn="r"/>
            <a:r>
              <a:rPr lang="en-US" altLang="zh-CN" sz="1200" b="1" dirty="0" smtClean="0">
                <a:latin typeface="Huawei Sans" panose="020C0503030203020204" pitchFamily="34" charset="0"/>
                <a:ea typeface="方正兰亭黑简体" panose="02000000000000000000" pitchFamily="2" charset="-122"/>
                <a:cs typeface="Huawei Sans" panose="020C0503030203020204" pitchFamily="34" charset="0"/>
              </a:rPr>
              <a:t>Edge_1</a:t>
            </a:r>
            <a:endParaRPr lang="zh-CN" altLang="en-US" sz="1200" b="1"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81" name="文本框 80"/>
          <p:cNvSpPr txBox="1"/>
          <p:nvPr/>
        </p:nvSpPr>
        <p:spPr bwMode="gray">
          <a:xfrm>
            <a:off x="1030624" y="4908360"/>
            <a:ext cx="631903" cy="276999"/>
          </a:xfrm>
          <a:prstGeom prst="rect">
            <a:avLst/>
          </a:prstGeom>
          <a:noFill/>
        </p:spPr>
        <p:txBody>
          <a:bodyPr wrap="none" rtlCol="0">
            <a:spAutoFit/>
          </a:bodyPr>
          <a:lstStyle/>
          <a:p>
            <a:pPr algn="r"/>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ACC_1</a:t>
            </a:r>
          </a:p>
        </p:txBody>
      </p:sp>
      <p:pic>
        <p:nvPicPr>
          <p:cNvPr id="82" name="图片 87" descr="汇聚交换机.png"/>
          <p:cNvPicPr>
            <a:picLocks noChangeAspect="1"/>
          </p:cNvPicPr>
          <p:nvPr/>
        </p:nvPicPr>
        <p:blipFill>
          <a:blip r:embed="rId8" cstate="print"/>
          <a:stretch>
            <a:fillRect/>
          </a:stretch>
        </p:blipFill>
        <p:spPr bwMode="gray">
          <a:xfrm>
            <a:off x="1600203" y="4085312"/>
            <a:ext cx="446281" cy="365139"/>
          </a:xfrm>
          <a:prstGeom prst="rect">
            <a:avLst/>
          </a:prstGeom>
        </p:spPr>
      </p:pic>
      <p:pic>
        <p:nvPicPr>
          <p:cNvPr id="83" name="图片 87" descr="汇聚交换机.png"/>
          <p:cNvPicPr>
            <a:picLocks noChangeAspect="1"/>
          </p:cNvPicPr>
          <p:nvPr/>
        </p:nvPicPr>
        <p:blipFill>
          <a:blip r:embed="rId8" cstate="print"/>
          <a:stretch>
            <a:fillRect/>
          </a:stretch>
        </p:blipFill>
        <p:spPr bwMode="gray">
          <a:xfrm>
            <a:off x="3531004" y="4085312"/>
            <a:ext cx="446281" cy="365139"/>
          </a:xfrm>
          <a:prstGeom prst="rect">
            <a:avLst/>
          </a:prstGeom>
        </p:spPr>
      </p:pic>
      <p:sp>
        <p:nvSpPr>
          <p:cNvPr id="84" name="文本框 83"/>
          <p:cNvSpPr txBox="1"/>
          <p:nvPr/>
        </p:nvSpPr>
        <p:spPr bwMode="gray">
          <a:xfrm>
            <a:off x="3907207" y="4117678"/>
            <a:ext cx="702436" cy="276999"/>
          </a:xfrm>
          <a:prstGeom prst="rect">
            <a:avLst/>
          </a:prstGeom>
          <a:noFill/>
        </p:spPr>
        <p:txBody>
          <a:bodyPr wrap="none" rtlCol="0">
            <a:spAutoFit/>
          </a:bodyPr>
          <a:lstStyle/>
          <a:p>
            <a:pPr algn="r"/>
            <a:r>
              <a:rPr lang="en-US" altLang="zh-CN" sz="1200" b="1" dirty="0" smtClean="0">
                <a:latin typeface="Huawei Sans" panose="020C0503030203020204" pitchFamily="34" charset="0"/>
                <a:ea typeface="方正兰亭黑简体" panose="02000000000000000000" pitchFamily="2" charset="-122"/>
                <a:cs typeface="Huawei Sans" panose="020C0503030203020204" pitchFamily="34" charset="0"/>
              </a:rPr>
              <a:t>Edge_2</a:t>
            </a:r>
            <a:endParaRPr lang="zh-CN" altLang="en-US" sz="1200" b="1"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85" name="文本框 84"/>
          <p:cNvSpPr txBox="1"/>
          <p:nvPr/>
        </p:nvSpPr>
        <p:spPr bwMode="gray">
          <a:xfrm>
            <a:off x="4640652" y="4643192"/>
            <a:ext cx="460382" cy="276999"/>
          </a:xfrm>
          <a:prstGeom prst="rect">
            <a:avLst/>
          </a:prstGeom>
          <a:noFill/>
        </p:spPr>
        <p:txBody>
          <a:bodyPr wrap="none" rtlCol="0">
            <a:spAutoFit/>
          </a:bodyPr>
          <a:lstStyle/>
          <a:p>
            <a:pPr algn="ctr"/>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AP1</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86" name="文本框 85"/>
          <p:cNvSpPr txBox="1"/>
          <p:nvPr/>
        </p:nvSpPr>
        <p:spPr bwMode="gray">
          <a:xfrm>
            <a:off x="1596358" y="5899783"/>
            <a:ext cx="453970" cy="276999"/>
          </a:xfrm>
          <a:prstGeom prst="rect">
            <a:avLst/>
          </a:prstGeom>
          <a:noFill/>
        </p:spPr>
        <p:txBody>
          <a:bodyPr wrap="none" rtlCol="0">
            <a:spAutoFit/>
          </a:bodyPr>
          <a:lstStyle/>
          <a:p>
            <a:pPr algn="ctr"/>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PC1</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87" name="文本框 86"/>
          <p:cNvSpPr txBox="1"/>
          <p:nvPr/>
        </p:nvSpPr>
        <p:spPr bwMode="gray">
          <a:xfrm>
            <a:off x="3527159" y="5899783"/>
            <a:ext cx="453970" cy="276999"/>
          </a:xfrm>
          <a:prstGeom prst="rect">
            <a:avLst/>
          </a:prstGeom>
          <a:noFill/>
        </p:spPr>
        <p:txBody>
          <a:bodyPr wrap="none" rtlCol="0">
            <a:spAutoFit/>
          </a:bodyPr>
          <a:lstStyle/>
          <a:p>
            <a:pPr algn="ctr"/>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PC2</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cxnSp>
        <p:nvCxnSpPr>
          <p:cNvPr id="88" name="Straight Connector 166"/>
          <p:cNvCxnSpPr>
            <a:stCxn id="65" idx="2"/>
            <a:endCxn id="73" idx="0"/>
          </p:cNvCxnSpPr>
          <p:nvPr/>
        </p:nvCxnSpPr>
        <p:spPr bwMode="gray">
          <a:xfrm flipH="1">
            <a:off x="1823343" y="5218867"/>
            <a:ext cx="1" cy="37317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9" name="Straight Connector 166"/>
          <p:cNvCxnSpPr>
            <a:stCxn id="66" idx="2"/>
            <a:endCxn id="74" idx="0"/>
          </p:cNvCxnSpPr>
          <p:nvPr/>
        </p:nvCxnSpPr>
        <p:spPr bwMode="gray">
          <a:xfrm flipH="1">
            <a:off x="3754144" y="5218867"/>
            <a:ext cx="1" cy="37284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90" name="文本框 89"/>
          <p:cNvSpPr txBox="1"/>
          <p:nvPr/>
        </p:nvSpPr>
        <p:spPr bwMode="gray">
          <a:xfrm>
            <a:off x="4652199" y="5899783"/>
            <a:ext cx="453970" cy="276999"/>
          </a:xfrm>
          <a:prstGeom prst="rect">
            <a:avLst/>
          </a:prstGeom>
          <a:noFill/>
        </p:spPr>
        <p:txBody>
          <a:bodyPr wrap="none" rtlCol="0">
            <a:spAutoFit/>
          </a:bodyPr>
          <a:lstStyle/>
          <a:p>
            <a:pPr algn="ctr"/>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PC3</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91" name="文本框 90"/>
          <p:cNvSpPr txBox="1"/>
          <p:nvPr/>
        </p:nvSpPr>
        <p:spPr bwMode="gray">
          <a:xfrm>
            <a:off x="2759812" y="2882744"/>
            <a:ext cx="756938" cy="276999"/>
          </a:xfrm>
          <a:prstGeom prst="rect">
            <a:avLst/>
          </a:prstGeom>
          <a:noFill/>
        </p:spPr>
        <p:txBody>
          <a:bodyPr wrap="none" rtlCol="0">
            <a:spAutoFit/>
          </a:bodyPr>
          <a:lstStyle/>
          <a:p>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GE0/0/1</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92" name="文本框 91"/>
          <p:cNvSpPr txBox="1"/>
          <p:nvPr/>
        </p:nvSpPr>
        <p:spPr bwMode="gray">
          <a:xfrm>
            <a:off x="2759812" y="2247200"/>
            <a:ext cx="756938" cy="276999"/>
          </a:xfrm>
          <a:prstGeom prst="rect">
            <a:avLst/>
          </a:prstGeom>
          <a:noFill/>
        </p:spPr>
        <p:txBody>
          <a:bodyPr wrap="none" rtlCol="0">
            <a:spAutoFit/>
          </a:bodyPr>
          <a:lstStyle/>
          <a:p>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GE0/0/9</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93" name="文本框 92"/>
          <p:cNvSpPr txBox="1"/>
          <p:nvPr/>
        </p:nvSpPr>
        <p:spPr bwMode="gray">
          <a:xfrm>
            <a:off x="2391306" y="3905093"/>
            <a:ext cx="829073" cy="338554"/>
          </a:xfrm>
          <a:prstGeom prst="rect">
            <a:avLst/>
          </a:prstGeom>
          <a:noFill/>
        </p:spPr>
        <p:txBody>
          <a:bodyPr wrap="square" rtlCol="0">
            <a:noAutofit/>
          </a:bodyPr>
          <a:lstStyle>
            <a:defPPr>
              <a:defRPr lang="en-US"/>
            </a:defPPr>
            <a:lvl1pPr algn="ctr" fontAlgn="ctr">
              <a:defRPr sz="1600">
                <a:solidFill>
                  <a:srgbClr val="30B5C5"/>
                </a:solidFill>
                <a:latin typeface="Huawei Sans" panose="020C0503030203020204" pitchFamily="34" charset="0"/>
                <a:ea typeface="方正兰亭黑简体" panose="02000000000000000000" pitchFamily="2" charset="-122"/>
              </a:defRPr>
            </a:lvl1pPr>
          </a:lstStyle>
          <a:p>
            <a:r>
              <a:rPr lang="en-US" altLang="zh-CN" sz="1200" dirty="0"/>
              <a:t>VXLAN</a:t>
            </a:r>
            <a:endParaRPr lang="zh-CN" altLang="en-US" sz="1200" dirty="0"/>
          </a:p>
        </p:txBody>
      </p:sp>
      <p:sp>
        <p:nvSpPr>
          <p:cNvPr id="94" name="文本框 93"/>
          <p:cNvSpPr txBox="1"/>
          <p:nvPr/>
        </p:nvSpPr>
        <p:spPr bwMode="gray">
          <a:xfrm>
            <a:off x="2926781" y="4908360"/>
            <a:ext cx="631903" cy="276999"/>
          </a:xfrm>
          <a:prstGeom prst="rect">
            <a:avLst/>
          </a:prstGeom>
          <a:noFill/>
        </p:spPr>
        <p:txBody>
          <a:bodyPr wrap="none" rtlCol="0">
            <a:spAutoFit/>
          </a:bodyPr>
          <a:lstStyle/>
          <a:p>
            <a:pPr algn="r"/>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ACC_2</a:t>
            </a:r>
          </a:p>
        </p:txBody>
      </p:sp>
      <p:sp>
        <p:nvSpPr>
          <p:cNvPr id="95" name="文本框 94"/>
          <p:cNvSpPr txBox="1"/>
          <p:nvPr/>
        </p:nvSpPr>
        <p:spPr bwMode="gray">
          <a:xfrm>
            <a:off x="1746201" y="3447126"/>
            <a:ext cx="843501" cy="276999"/>
          </a:xfrm>
          <a:prstGeom prst="rect">
            <a:avLst/>
          </a:prstGeom>
          <a:noFill/>
        </p:spPr>
        <p:txBody>
          <a:bodyPr wrap="none" rtlCol="0">
            <a:spAutoFit/>
          </a:bodyPr>
          <a:lstStyle/>
          <a:p>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GE0/0/23</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96" name="文本框 95"/>
          <p:cNvSpPr txBox="1"/>
          <p:nvPr/>
        </p:nvSpPr>
        <p:spPr bwMode="gray">
          <a:xfrm>
            <a:off x="2982348" y="3447126"/>
            <a:ext cx="843501" cy="276999"/>
          </a:xfrm>
          <a:prstGeom prst="rect">
            <a:avLst/>
          </a:prstGeom>
          <a:noFill/>
        </p:spPr>
        <p:txBody>
          <a:bodyPr wrap="none" rtlCol="0">
            <a:spAutoFit/>
          </a:bodyPr>
          <a:lstStyle/>
          <a:p>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GE0/0/24</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97" name="文本框 96"/>
          <p:cNvSpPr txBox="1"/>
          <p:nvPr/>
        </p:nvSpPr>
        <p:spPr bwMode="gray">
          <a:xfrm>
            <a:off x="1770501" y="4618987"/>
            <a:ext cx="756938" cy="276999"/>
          </a:xfrm>
          <a:prstGeom prst="rect">
            <a:avLst/>
          </a:prstGeom>
          <a:noFill/>
        </p:spPr>
        <p:txBody>
          <a:bodyPr wrap="none" rtlCol="0">
            <a:spAutoFit/>
          </a:bodyPr>
          <a:lstStyle/>
          <a:p>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GE0/0/1</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98" name="文本框 97"/>
          <p:cNvSpPr txBox="1"/>
          <p:nvPr/>
        </p:nvSpPr>
        <p:spPr bwMode="gray">
          <a:xfrm>
            <a:off x="1770501" y="5203504"/>
            <a:ext cx="843501" cy="276999"/>
          </a:xfrm>
          <a:prstGeom prst="rect">
            <a:avLst/>
          </a:prstGeom>
          <a:noFill/>
        </p:spPr>
        <p:txBody>
          <a:bodyPr wrap="none" rtlCol="0">
            <a:spAutoFit/>
          </a:bodyPr>
          <a:lstStyle/>
          <a:p>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GE0/0/24</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99" name="文本框 98"/>
          <p:cNvSpPr txBox="1"/>
          <p:nvPr/>
        </p:nvSpPr>
        <p:spPr bwMode="gray">
          <a:xfrm>
            <a:off x="3683182" y="5203504"/>
            <a:ext cx="843501" cy="276999"/>
          </a:xfrm>
          <a:prstGeom prst="rect">
            <a:avLst/>
          </a:prstGeom>
          <a:noFill/>
        </p:spPr>
        <p:txBody>
          <a:bodyPr wrap="none" rtlCol="0">
            <a:spAutoFit/>
          </a:bodyPr>
          <a:lstStyle/>
          <a:p>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GE0/0/23</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100" name="文本框 99"/>
          <p:cNvSpPr txBox="1"/>
          <p:nvPr/>
        </p:nvSpPr>
        <p:spPr bwMode="gray">
          <a:xfrm>
            <a:off x="3893353" y="5002987"/>
            <a:ext cx="843501" cy="276999"/>
          </a:xfrm>
          <a:prstGeom prst="rect">
            <a:avLst/>
          </a:prstGeom>
          <a:noFill/>
        </p:spPr>
        <p:txBody>
          <a:bodyPr wrap="none" rtlCol="0">
            <a:spAutoFit/>
          </a:bodyPr>
          <a:lstStyle/>
          <a:p>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GE0/0/24</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101" name="文本框 100"/>
          <p:cNvSpPr txBox="1"/>
          <p:nvPr/>
        </p:nvSpPr>
        <p:spPr bwMode="gray">
          <a:xfrm>
            <a:off x="3693695" y="4618987"/>
            <a:ext cx="756938" cy="276999"/>
          </a:xfrm>
          <a:prstGeom prst="rect">
            <a:avLst/>
          </a:prstGeom>
          <a:noFill/>
        </p:spPr>
        <p:txBody>
          <a:bodyPr wrap="none" rtlCol="0">
            <a:spAutoFit/>
          </a:bodyPr>
          <a:lstStyle/>
          <a:p>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GE0/0/1</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102" name="文本框 101"/>
          <p:cNvSpPr txBox="1"/>
          <p:nvPr/>
        </p:nvSpPr>
        <p:spPr bwMode="gray">
          <a:xfrm>
            <a:off x="1770501" y="4421361"/>
            <a:ext cx="843501" cy="276999"/>
          </a:xfrm>
          <a:prstGeom prst="rect">
            <a:avLst/>
          </a:prstGeom>
          <a:noFill/>
        </p:spPr>
        <p:txBody>
          <a:bodyPr wrap="none" rtlCol="0">
            <a:spAutoFit/>
          </a:bodyPr>
          <a:lstStyle/>
          <a:p>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GE0/0/24</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103" name="文本框 102"/>
          <p:cNvSpPr txBox="1"/>
          <p:nvPr/>
        </p:nvSpPr>
        <p:spPr bwMode="gray">
          <a:xfrm>
            <a:off x="3689683" y="4421361"/>
            <a:ext cx="843501" cy="276999"/>
          </a:xfrm>
          <a:prstGeom prst="rect">
            <a:avLst/>
          </a:prstGeom>
          <a:noFill/>
        </p:spPr>
        <p:txBody>
          <a:bodyPr wrap="none" rtlCol="0">
            <a:spAutoFit/>
          </a:bodyPr>
          <a:lstStyle/>
          <a:p>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GE0/0/24</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104" name="文本框 103"/>
          <p:cNvSpPr txBox="1"/>
          <p:nvPr/>
        </p:nvSpPr>
        <p:spPr bwMode="gray">
          <a:xfrm>
            <a:off x="1397996" y="3858662"/>
            <a:ext cx="756938" cy="276999"/>
          </a:xfrm>
          <a:prstGeom prst="rect">
            <a:avLst/>
          </a:prstGeom>
          <a:noFill/>
        </p:spPr>
        <p:txBody>
          <a:bodyPr wrap="none" rtlCol="0">
            <a:spAutoFit/>
          </a:bodyPr>
          <a:lstStyle/>
          <a:p>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GE0/0/1</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105" name="文本框 104"/>
          <p:cNvSpPr txBox="1"/>
          <p:nvPr/>
        </p:nvSpPr>
        <p:spPr bwMode="gray">
          <a:xfrm>
            <a:off x="3474299" y="3858662"/>
            <a:ext cx="756938" cy="276999"/>
          </a:xfrm>
          <a:prstGeom prst="rect">
            <a:avLst/>
          </a:prstGeom>
          <a:noFill/>
        </p:spPr>
        <p:txBody>
          <a:bodyPr wrap="none" rtlCol="0">
            <a:spAutoFit/>
          </a:bodyPr>
          <a:lstStyle/>
          <a:p>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GE0/0/1</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pic>
        <p:nvPicPr>
          <p:cNvPr id="106" name="图片 76" descr="接入交换机.png"/>
          <p:cNvPicPr>
            <a:picLocks noChangeAspect="1"/>
          </p:cNvPicPr>
          <p:nvPr/>
        </p:nvPicPr>
        <p:blipFill>
          <a:blip r:embed="rId3" cstate="print"/>
          <a:stretch>
            <a:fillRect/>
          </a:stretch>
        </p:blipFill>
        <p:spPr bwMode="gray">
          <a:xfrm>
            <a:off x="2579896" y="1617586"/>
            <a:ext cx="446281" cy="365139"/>
          </a:xfrm>
          <a:prstGeom prst="rect">
            <a:avLst/>
          </a:prstGeom>
        </p:spPr>
      </p:pic>
      <p:cxnSp>
        <p:nvCxnSpPr>
          <p:cNvPr id="107" name="Straight Connector 166"/>
          <p:cNvCxnSpPr>
            <a:endCxn id="106" idx="2"/>
          </p:cNvCxnSpPr>
          <p:nvPr/>
        </p:nvCxnSpPr>
        <p:spPr bwMode="gray">
          <a:xfrm flipV="1">
            <a:off x="2803037" y="1982725"/>
            <a:ext cx="0" cy="49425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08" name="文本框 107"/>
          <p:cNvSpPr txBox="1"/>
          <p:nvPr/>
        </p:nvSpPr>
        <p:spPr bwMode="gray">
          <a:xfrm>
            <a:off x="2759812" y="1948594"/>
            <a:ext cx="756938" cy="276999"/>
          </a:xfrm>
          <a:prstGeom prst="rect">
            <a:avLst/>
          </a:prstGeom>
          <a:noFill/>
        </p:spPr>
        <p:txBody>
          <a:bodyPr wrap="none" rtlCol="0">
            <a:spAutoFit/>
          </a:bodyPr>
          <a:lstStyle/>
          <a:p>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GE0/0/3</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cxnSp>
        <p:nvCxnSpPr>
          <p:cNvPr id="109" name="Straight Connector 166"/>
          <p:cNvCxnSpPr>
            <a:stCxn id="106" idx="0"/>
          </p:cNvCxnSpPr>
          <p:nvPr/>
        </p:nvCxnSpPr>
        <p:spPr bwMode="gray">
          <a:xfrm flipV="1">
            <a:off x="2803037" y="1389710"/>
            <a:ext cx="0" cy="22787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110" name="图片 109"/>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bwMode="gray">
          <a:xfrm>
            <a:off x="2156307" y="1122880"/>
            <a:ext cx="1278672" cy="235821"/>
          </a:xfrm>
          <a:prstGeom prst="rect">
            <a:avLst/>
          </a:prstGeom>
        </p:spPr>
      </p:pic>
      <p:sp>
        <p:nvSpPr>
          <p:cNvPr id="111" name="文本框 110"/>
          <p:cNvSpPr txBox="1"/>
          <p:nvPr/>
        </p:nvSpPr>
        <p:spPr bwMode="gray">
          <a:xfrm>
            <a:off x="2759812" y="1409914"/>
            <a:ext cx="843501" cy="276999"/>
          </a:xfrm>
          <a:prstGeom prst="rect">
            <a:avLst/>
          </a:prstGeom>
          <a:noFill/>
        </p:spPr>
        <p:txBody>
          <a:bodyPr wrap="none" rtlCol="0">
            <a:spAutoFit/>
          </a:bodyPr>
          <a:lstStyle/>
          <a:p>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GE0/0/24</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112" name="文本框 111"/>
          <p:cNvSpPr txBox="1"/>
          <p:nvPr/>
        </p:nvSpPr>
        <p:spPr bwMode="gray">
          <a:xfrm>
            <a:off x="1423467" y="1683458"/>
            <a:ext cx="1188147" cy="276999"/>
          </a:xfrm>
          <a:prstGeom prst="rect">
            <a:avLst/>
          </a:prstGeom>
          <a:noFill/>
        </p:spPr>
        <p:txBody>
          <a:bodyPr wrap="none" rtlCol="0">
            <a:spAutoFit/>
          </a:bodyPr>
          <a:lstStyle/>
          <a:p>
            <a:pPr algn="r"/>
            <a:r>
              <a:rPr lang="en-US" altLang="zh-CN" sz="1200" dirty="0" err="1" smtClean="0">
                <a:latin typeface="Huawei Sans" panose="020C0503030203020204" pitchFamily="34" charset="0"/>
                <a:ea typeface="方正兰亭黑简体" panose="02000000000000000000" pitchFamily="2" charset="-122"/>
                <a:cs typeface="Huawei Sans" panose="020C0503030203020204" pitchFamily="34" charset="0"/>
              </a:rPr>
              <a:t>AR_Server_SW</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grpSp>
        <p:nvGrpSpPr>
          <p:cNvPr id="113" name="组合 758"/>
          <p:cNvGrpSpPr/>
          <p:nvPr/>
        </p:nvGrpSpPr>
        <p:grpSpPr bwMode="gray">
          <a:xfrm flipV="1">
            <a:off x="4764501" y="5261266"/>
            <a:ext cx="225699" cy="191129"/>
            <a:chOff x="7440613" y="4868863"/>
            <a:chExt cx="1019175" cy="828675"/>
          </a:xfrm>
          <a:solidFill>
            <a:schemeClr val="bg1">
              <a:lumMod val="50000"/>
            </a:schemeClr>
          </a:solidFill>
        </p:grpSpPr>
        <p:sp>
          <p:nvSpPr>
            <p:cNvPr id="114" name="Freeform 15"/>
            <p:cNvSpPr>
              <a:spLocks/>
            </p:cNvSpPr>
            <p:nvPr/>
          </p:nvSpPr>
          <p:spPr bwMode="gray">
            <a:xfrm>
              <a:off x="7832726" y="5462588"/>
              <a:ext cx="234950" cy="234950"/>
            </a:xfrm>
            <a:custGeom>
              <a:avLst/>
              <a:gdLst/>
              <a:ahLst/>
              <a:cxnLst>
                <a:cxn ang="0">
                  <a:pos x="3281" y="680"/>
                </a:cxn>
                <a:cxn ang="0">
                  <a:pos x="3439" y="907"/>
                </a:cxn>
                <a:cxn ang="0">
                  <a:pos x="3559" y="1151"/>
                </a:cxn>
                <a:cxn ang="0">
                  <a:pos x="3642" y="1406"/>
                </a:cxn>
                <a:cxn ang="0">
                  <a:pos x="3686" y="1670"/>
                </a:cxn>
                <a:cxn ang="0">
                  <a:pos x="3693" y="1936"/>
                </a:cxn>
                <a:cxn ang="0">
                  <a:pos x="3661" y="2201"/>
                </a:cxn>
                <a:cxn ang="0">
                  <a:pos x="3591" y="2460"/>
                </a:cxn>
                <a:cxn ang="0">
                  <a:pos x="3484" y="2708"/>
                </a:cxn>
                <a:cxn ang="0">
                  <a:pos x="3339" y="2941"/>
                </a:cxn>
                <a:cxn ang="0">
                  <a:pos x="3155" y="3155"/>
                </a:cxn>
                <a:cxn ang="0">
                  <a:pos x="2941" y="3339"/>
                </a:cxn>
                <a:cxn ang="0">
                  <a:pos x="2708" y="3484"/>
                </a:cxn>
                <a:cxn ang="0">
                  <a:pos x="2460" y="3592"/>
                </a:cxn>
                <a:cxn ang="0">
                  <a:pos x="2201" y="3661"/>
                </a:cxn>
                <a:cxn ang="0">
                  <a:pos x="1936" y="3693"/>
                </a:cxn>
                <a:cxn ang="0">
                  <a:pos x="1670" y="3687"/>
                </a:cxn>
                <a:cxn ang="0">
                  <a:pos x="1408" y="3643"/>
                </a:cxn>
                <a:cxn ang="0">
                  <a:pos x="1152" y="3561"/>
                </a:cxn>
                <a:cxn ang="0">
                  <a:pos x="908" y="3440"/>
                </a:cxn>
                <a:cxn ang="0">
                  <a:pos x="680" y="3282"/>
                </a:cxn>
                <a:cxn ang="0">
                  <a:pos x="475" y="3086"/>
                </a:cxn>
                <a:cxn ang="0">
                  <a:pos x="304" y="2866"/>
                </a:cxn>
                <a:cxn ang="0">
                  <a:pos x="172" y="2627"/>
                </a:cxn>
                <a:cxn ang="0">
                  <a:pos x="76" y="2374"/>
                </a:cxn>
                <a:cxn ang="0">
                  <a:pos x="19" y="2114"/>
                </a:cxn>
                <a:cxn ang="0">
                  <a:pos x="0" y="1848"/>
                </a:cxn>
                <a:cxn ang="0">
                  <a:pos x="19" y="1582"/>
                </a:cxn>
                <a:cxn ang="0">
                  <a:pos x="76" y="1321"/>
                </a:cxn>
                <a:cxn ang="0">
                  <a:pos x="171" y="1069"/>
                </a:cxn>
                <a:cxn ang="0">
                  <a:pos x="304" y="830"/>
                </a:cxn>
                <a:cxn ang="0">
                  <a:pos x="475" y="609"/>
                </a:cxn>
                <a:cxn ang="0">
                  <a:pos x="680" y="414"/>
                </a:cxn>
                <a:cxn ang="0">
                  <a:pos x="907" y="255"/>
                </a:cxn>
                <a:cxn ang="0">
                  <a:pos x="1151" y="135"/>
                </a:cxn>
                <a:cxn ang="0">
                  <a:pos x="1407" y="52"/>
                </a:cxn>
                <a:cxn ang="0">
                  <a:pos x="1669" y="8"/>
                </a:cxn>
                <a:cxn ang="0">
                  <a:pos x="1936" y="2"/>
                </a:cxn>
                <a:cxn ang="0">
                  <a:pos x="2201" y="33"/>
                </a:cxn>
                <a:cxn ang="0">
                  <a:pos x="2459" y="104"/>
                </a:cxn>
                <a:cxn ang="0">
                  <a:pos x="2708" y="211"/>
                </a:cxn>
                <a:cxn ang="0">
                  <a:pos x="2940" y="356"/>
                </a:cxn>
                <a:cxn ang="0">
                  <a:pos x="3154" y="539"/>
                </a:cxn>
              </a:cxnLst>
              <a:rect l="0" t="0" r="r" b="b"/>
              <a:pathLst>
                <a:path w="3695" h="3695">
                  <a:moveTo>
                    <a:pt x="3154" y="539"/>
                  </a:moveTo>
                  <a:lnTo>
                    <a:pt x="3220" y="608"/>
                  </a:lnTo>
                  <a:lnTo>
                    <a:pt x="3281" y="680"/>
                  </a:lnTo>
                  <a:lnTo>
                    <a:pt x="3338" y="754"/>
                  </a:lnTo>
                  <a:lnTo>
                    <a:pt x="3391" y="829"/>
                  </a:lnTo>
                  <a:lnTo>
                    <a:pt x="3439" y="907"/>
                  </a:lnTo>
                  <a:lnTo>
                    <a:pt x="3483" y="987"/>
                  </a:lnTo>
                  <a:lnTo>
                    <a:pt x="3523" y="1068"/>
                  </a:lnTo>
                  <a:lnTo>
                    <a:pt x="3559" y="1151"/>
                  </a:lnTo>
                  <a:lnTo>
                    <a:pt x="3591" y="1235"/>
                  </a:lnTo>
                  <a:lnTo>
                    <a:pt x="3619" y="1320"/>
                  </a:lnTo>
                  <a:lnTo>
                    <a:pt x="3642" y="1406"/>
                  </a:lnTo>
                  <a:lnTo>
                    <a:pt x="3661" y="1493"/>
                  </a:lnTo>
                  <a:lnTo>
                    <a:pt x="3676" y="1582"/>
                  </a:lnTo>
                  <a:lnTo>
                    <a:pt x="3686" y="1670"/>
                  </a:lnTo>
                  <a:lnTo>
                    <a:pt x="3693" y="1758"/>
                  </a:lnTo>
                  <a:lnTo>
                    <a:pt x="3695" y="1847"/>
                  </a:lnTo>
                  <a:lnTo>
                    <a:pt x="3693" y="1936"/>
                  </a:lnTo>
                  <a:lnTo>
                    <a:pt x="3686" y="2024"/>
                  </a:lnTo>
                  <a:lnTo>
                    <a:pt x="3676" y="2113"/>
                  </a:lnTo>
                  <a:lnTo>
                    <a:pt x="3661" y="2201"/>
                  </a:lnTo>
                  <a:lnTo>
                    <a:pt x="3642" y="2288"/>
                  </a:lnTo>
                  <a:lnTo>
                    <a:pt x="3619" y="2374"/>
                  </a:lnTo>
                  <a:lnTo>
                    <a:pt x="3591" y="2460"/>
                  </a:lnTo>
                  <a:lnTo>
                    <a:pt x="3559" y="2544"/>
                  </a:lnTo>
                  <a:lnTo>
                    <a:pt x="3524" y="2626"/>
                  </a:lnTo>
                  <a:lnTo>
                    <a:pt x="3484" y="2708"/>
                  </a:lnTo>
                  <a:lnTo>
                    <a:pt x="3439" y="2788"/>
                  </a:lnTo>
                  <a:lnTo>
                    <a:pt x="3391" y="2865"/>
                  </a:lnTo>
                  <a:lnTo>
                    <a:pt x="3339" y="2941"/>
                  </a:lnTo>
                  <a:lnTo>
                    <a:pt x="3281" y="3015"/>
                  </a:lnTo>
                  <a:lnTo>
                    <a:pt x="3220" y="3086"/>
                  </a:lnTo>
                  <a:lnTo>
                    <a:pt x="3155" y="3155"/>
                  </a:lnTo>
                  <a:lnTo>
                    <a:pt x="3086" y="3220"/>
                  </a:lnTo>
                  <a:lnTo>
                    <a:pt x="3015" y="3282"/>
                  </a:lnTo>
                  <a:lnTo>
                    <a:pt x="2941" y="3339"/>
                  </a:lnTo>
                  <a:lnTo>
                    <a:pt x="2865" y="3391"/>
                  </a:lnTo>
                  <a:lnTo>
                    <a:pt x="2788" y="3440"/>
                  </a:lnTo>
                  <a:lnTo>
                    <a:pt x="2708" y="3484"/>
                  </a:lnTo>
                  <a:lnTo>
                    <a:pt x="2626" y="3524"/>
                  </a:lnTo>
                  <a:lnTo>
                    <a:pt x="2544" y="3560"/>
                  </a:lnTo>
                  <a:lnTo>
                    <a:pt x="2460" y="3592"/>
                  </a:lnTo>
                  <a:lnTo>
                    <a:pt x="2375" y="3619"/>
                  </a:lnTo>
                  <a:lnTo>
                    <a:pt x="2288" y="3643"/>
                  </a:lnTo>
                  <a:lnTo>
                    <a:pt x="2201" y="3661"/>
                  </a:lnTo>
                  <a:lnTo>
                    <a:pt x="2114" y="3676"/>
                  </a:lnTo>
                  <a:lnTo>
                    <a:pt x="2026" y="3687"/>
                  </a:lnTo>
                  <a:lnTo>
                    <a:pt x="1936" y="3693"/>
                  </a:lnTo>
                  <a:lnTo>
                    <a:pt x="1848" y="3695"/>
                  </a:lnTo>
                  <a:lnTo>
                    <a:pt x="1759" y="3693"/>
                  </a:lnTo>
                  <a:lnTo>
                    <a:pt x="1670" y="3687"/>
                  </a:lnTo>
                  <a:lnTo>
                    <a:pt x="1582" y="3676"/>
                  </a:lnTo>
                  <a:lnTo>
                    <a:pt x="1495" y="3662"/>
                  </a:lnTo>
                  <a:lnTo>
                    <a:pt x="1408" y="3643"/>
                  </a:lnTo>
                  <a:lnTo>
                    <a:pt x="1321" y="3620"/>
                  </a:lnTo>
                  <a:lnTo>
                    <a:pt x="1236" y="3592"/>
                  </a:lnTo>
                  <a:lnTo>
                    <a:pt x="1152" y="3561"/>
                  </a:lnTo>
                  <a:lnTo>
                    <a:pt x="1069" y="3524"/>
                  </a:lnTo>
                  <a:lnTo>
                    <a:pt x="987" y="3484"/>
                  </a:lnTo>
                  <a:lnTo>
                    <a:pt x="908" y="3440"/>
                  </a:lnTo>
                  <a:lnTo>
                    <a:pt x="830" y="3391"/>
                  </a:lnTo>
                  <a:lnTo>
                    <a:pt x="755" y="3339"/>
                  </a:lnTo>
                  <a:lnTo>
                    <a:pt x="680" y="3282"/>
                  </a:lnTo>
                  <a:lnTo>
                    <a:pt x="609" y="3220"/>
                  </a:lnTo>
                  <a:lnTo>
                    <a:pt x="541" y="3155"/>
                  </a:lnTo>
                  <a:lnTo>
                    <a:pt x="475" y="3086"/>
                  </a:lnTo>
                  <a:lnTo>
                    <a:pt x="414" y="3015"/>
                  </a:lnTo>
                  <a:lnTo>
                    <a:pt x="357" y="2941"/>
                  </a:lnTo>
                  <a:lnTo>
                    <a:pt x="304" y="2866"/>
                  </a:lnTo>
                  <a:lnTo>
                    <a:pt x="256" y="2788"/>
                  </a:lnTo>
                  <a:lnTo>
                    <a:pt x="212" y="2709"/>
                  </a:lnTo>
                  <a:lnTo>
                    <a:pt x="172" y="2627"/>
                  </a:lnTo>
                  <a:lnTo>
                    <a:pt x="136" y="2544"/>
                  </a:lnTo>
                  <a:lnTo>
                    <a:pt x="104" y="2460"/>
                  </a:lnTo>
                  <a:lnTo>
                    <a:pt x="76" y="2374"/>
                  </a:lnTo>
                  <a:lnTo>
                    <a:pt x="53" y="2288"/>
                  </a:lnTo>
                  <a:lnTo>
                    <a:pt x="34" y="2201"/>
                  </a:lnTo>
                  <a:lnTo>
                    <a:pt x="19" y="2114"/>
                  </a:lnTo>
                  <a:lnTo>
                    <a:pt x="9" y="2025"/>
                  </a:lnTo>
                  <a:lnTo>
                    <a:pt x="2" y="1937"/>
                  </a:lnTo>
                  <a:lnTo>
                    <a:pt x="0" y="1848"/>
                  </a:lnTo>
                  <a:lnTo>
                    <a:pt x="2" y="1759"/>
                  </a:lnTo>
                  <a:lnTo>
                    <a:pt x="9" y="1670"/>
                  </a:lnTo>
                  <a:lnTo>
                    <a:pt x="19" y="1582"/>
                  </a:lnTo>
                  <a:lnTo>
                    <a:pt x="34" y="1494"/>
                  </a:lnTo>
                  <a:lnTo>
                    <a:pt x="53" y="1407"/>
                  </a:lnTo>
                  <a:lnTo>
                    <a:pt x="76" y="1321"/>
                  </a:lnTo>
                  <a:lnTo>
                    <a:pt x="104" y="1236"/>
                  </a:lnTo>
                  <a:lnTo>
                    <a:pt x="136" y="1151"/>
                  </a:lnTo>
                  <a:lnTo>
                    <a:pt x="171" y="1069"/>
                  </a:lnTo>
                  <a:lnTo>
                    <a:pt x="211" y="988"/>
                  </a:lnTo>
                  <a:lnTo>
                    <a:pt x="255" y="907"/>
                  </a:lnTo>
                  <a:lnTo>
                    <a:pt x="304" y="830"/>
                  </a:lnTo>
                  <a:lnTo>
                    <a:pt x="356" y="754"/>
                  </a:lnTo>
                  <a:lnTo>
                    <a:pt x="414" y="681"/>
                  </a:lnTo>
                  <a:lnTo>
                    <a:pt x="475" y="609"/>
                  </a:lnTo>
                  <a:lnTo>
                    <a:pt x="540" y="540"/>
                  </a:lnTo>
                  <a:lnTo>
                    <a:pt x="609" y="475"/>
                  </a:lnTo>
                  <a:lnTo>
                    <a:pt x="680" y="414"/>
                  </a:lnTo>
                  <a:lnTo>
                    <a:pt x="754" y="356"/>
                  </a:lnTo>
                  <a:lnTo>
                    <a:pt x="830" y="303"/>
                  </a:lnTo>
                  <a:lnTo>
                    <a:pt x="907" y="255"/>
                  </a:lnTo>
                  <a:lnTo>
                    <a:pt x="987" y="211"/>
                  </a:lnTo>
                  <a:lnTo>
                    <a:pt x="1069" y="171"/>
                  </a:lnTo>
                  <a:lnTo>
                    <a:pt x="1151" y="135"/>
                  </a:lnTo>
                  <a:lnTo>
                    <a:pt x="1235" y="104"/>
                  </a:lnTo>
                  <a:lnTo>
                    <a:pt x="1320" y="76"/>
                  </a:lnTo>
                  <a:lnTo>
                    <a:pt x="1407" y="52"/>
                  </a:lnTo>
                  <a:lnTo>
                    <a:pt x="1494" y="33"/>
                  </a:lnTo>
                  <a:lnTo>
                    <a:pt x="1581" y="19"/>
                  </a:lnTo>
                  <a:lnTo>
                    <a:pt x="1669" y="8"/>
                  </a:lnTo>
                  <a:lnTo>
                    <a:pt x="1759" y="2"/>
                  </a:lnTo>
                  <a:lnTo>
                    <a:pt x="1847" y="0"/>
                  </a:lnTo>
                  <a:lnTo>
                    <a:pt x="1936" y="2"/>
                  </a:lnTo>
                  <a:lnTo>
                    <a:pt x="2025" y="8"/>
                  </a:lnTo>
                  <a:lnTo>
                    <a:pt x="2113" y="19"/>
                  </a:lnTo>
                  <a:lnTo>
                    <a:pt x="2201" y="33"/>
                  </a:lnTo>
                  <a:lnTo>
                    <a:pt x="2287" y="52"/>
                  </a:lnTo>
                  <a:lnTo>
                    <a:pt x="2374" y="76"/>
                  </a:lnTo>
                  <a:lnTo>
                    <a:pt x="2459" y="104"/>
                  </a:lnTo>
                  <a:lnTo>
                    <a:pt x="2543" y="135"/>
                  </a:lnTo>
                  <a:lnTo>
                    <a:pt x="2626" y="171"/>
                  </a:lnTo>
                  <a:lnTo>
                    <a:pt x="2708" y="211"/>
                  </a:lnTo>
                  <a:lnTo>
                    <a:pt x="2787" y="255"/>
                  </a:lnTo>
                  <a:lnTo>
                    <a:pt x="2865" y="303"/>
                  </a:lnTo>
                  <a:lnTo>
                    <a:pt x="2940" y="356"/>
                  </a:lnTo>
                  <a:lnTo>
                    <a:pt x="3015" y="413"/>
                  </a:lnTo>
                  <a:lnTo>
                    <a:pt x="3086" y="474"/>
                  </a:lnTo>
                  <a:lnTo>
                    <a:pt x="3154" y="539"/>
                  </a:lnTo>
                  <a:close/>
                </a:path>
              </a:pathLst>
            </a:custGeom>
            <a:grpFill/>
            <a:ln w="9525">
              <a:noFill/>
              <a:round/>
              <a:headEnd/>
              <a:tailEnd/>
            </a:ln>
          </p:spPr>
          <p:txBody>
            <a:bodyPr/>
            <a:lstStyle/>
            <a:p>
              <a:pPr algn="ctr" eaLnBrk="1" fontAlgn="auto" hangingPunct="1">
                <a:spcBef>
                  <a:spcPts val="0"/>
                </a:spcBef>
                <a:spcAft>
                  <a:spcPts val="0"/>
                </a:spcAft>
                <a:defRPr/>
              </a:pPr>
              <a:endParaRPr lang="zh-CN" altLang="en-US" sz="1200" ker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5" name="Freeform 16"/>
            <p:cNvSpPr>
              <a:spLocks noEditPoints="1"/>
            </p:cNvSpPr>
            <p:nvPr/>
          </p:nvSpPr>
          <p:spPr bwMode="gray">
            <a:xfrm>
              <a:off x="7440613" y="4868863"/>
              <a:ext cx="1019175" cy="544513"/>
            </a:xfrm>
            <a:custGeom>
              <a:avLst/>
              <a:gdLst/>
              <a:ahLst/>
              <a:cxnLst>
                <a:cxn ang="0">
                  <a:pos x="16025" y="3351"/>
                </a:cxn>
                <a:cxn ang="0">
                  <a:pos x="14975" y="4351"/>
                </a:cxn>
                <a:cxn ang="0">
                  <a:pos x="14184" y="3632"/>
                </a:cxn>
                <a:cxn ang="0">
                  <a:pos x="12564" y="2563"/>
                </a:cxn>
                <a:cxn ang="0">
                  <a:pos x="10805" y="1850"/>
                </a:cxn>
                <a:cxn ang="0">
                  <a:pos x="8960" y="1494"/>
                </a:cxn>
                <a:cxn ang="0">
                  <a:pos x="7087" y="1494"/>
                </a:cxn>
                <a:cxn ang="0">
                  <a:pos x="5243" y="1851"/>
                </a:cxn>
                <a:cxn ang="0">
                  <a:pos x="3483" y="2564"/>
                </a:cxn>
                <a:cxn ang="0">
                  <a:pos x="1864" y="3634"/>
                </a:cxn>
                <a:cxn ang="0">
                  <a:pos x="1075" y="4353"/>
                </a:cxn>
                <a:cxn ang="0">
                  <a:pos x="24" y="3353"/>
                </a:cxn>
                <a:cxn ang="0">
                  <a:pos x="516" y="2880"/>
                </a:cxn>
                <a:cxn ang="0">
                  <a:pos x="2325" y="1549"/>
                </a:cxn>
                <a:cxn ang="0">
                  <a:pos x="4312" y="627"/>
                </a:cxn>
                <a:cxn ang="0">
                  <a:pos x="6413" y="115"/>
                </a:cxn>
                <a:cxn ang="0">
                  <a:pos x="8562" y="13"/>
                </a:cxn>
                <a:cxn ang="0">
                  <a:pos x="10694" y="319"/>
                </a:cxn>
                <a:cxn ang="0">
                  <a:pos x="12747" y="1036"/>
                </a:cxn>
                <a:cxn ang="0">
                  <a:pos x="14654" y="2160"/>
                </a:cxn>
                <a:cxn ang="0">
                  <a:pos x="14055" y="5373"/>
                </a:cxn>
                <a:cxn ang="0">
                  <a:pos x="12871" y="6404"/>
                </a:cxn>
                <a:cxn ang="0">
                  <a:pos x="12058" y="5702"/>
                </a:cxn>
                <a:cxn ang="0">
                  <a:pos x="10898" y="5017"/>
                </a:cxn>
                <a:cxn ang="0">
                  <a:pos x="9649" y="4582"/>
                </a:cxn>
                <a:cxn ang="0">
                  <a:pos x="8352" y="4395"/>
                </a:cxn>
                <a:cxn ang="0">
                  <a:pos x="7044" y="4457"/>
                </a:cxn>
                <a:cxn ang="0">
                  <a:pos x="5767" y="4769"/>
                </a:cxn>
                <a:cxn ang="0">
                  <a:pos x="4558" y="5329"/>
                </a:cxn>
                <a:cxn ang="0">
                  <a:pos x="3457" y="6139"/>
                </a:cxn>
                <a:cxn ang="0">
                  <a:pos x="3129" y="6456"/>
                </a:cxn>
                <a:cxn ang="0">
                  <a:pos x="2045" y="5322"/>
                </a:cxn>
                <a:cxn ang="0">
                  <a:pos x="2731" y="4697"/>
                </a:cxn>
                <a:cxn ang="0">
                  <a:pos x="4122" y="3779"/>
                </a:cxn>
                <a:cxn ang="0">
                  <a:pos x="5635" y="3166"/>
                </a:cxn>
                <a:cxn ang="0">
                  <a:pos x="7219" y="2859"/>
                </a:cxn>
                <a:cxn ang="0">
                  <a:pos x="8829" y="2859"/>
                </a:cxn>
                <a:cxn ang="0">
                  <a:pos x="10413" y="3165"/>
                </a:cxn>
                <a:cxn ang="0">
                  <a:pos x="11926" y="3777"/>
                </a:cxn>
                <a:cxn ang="0">
                  <a:pos x="13318" y="4696"/>
                </a:cxn>
                <a:cxn ang="0">
                  <a:pos x="14005" y="5321"/>
                </a:cxn>
                <a:cxn ang="0">
                  <a:pos x="10854" y="8576"/>
                </a:cxn>
                <a:cxn ang="0">
                  <a:pos x="10754" y="8472"/>
                </a:cxn>
                <a:cxn ang="0">
                  <a:pos x="10150" y="7980"/>
                </a:cxn>
                <a:cxn ang="0">
                  <a:pos x="9479" y="7627"/>
                </a:cxn>
                <a:cxn ang="0">
                  <a:pos x="8762" y="7416"/>
                </a:cxn>
                <a:cxn ang="0">
                  <a:pos x="8025" y="7345"/>
                </a:cxn>
                <a:cxn ang="0">
                  <a:pos x="7287" y="7416"/>
                </a:cxn>
                <a:cxn ang="0">
                  <a:pos x="6571" y="7627"/>
                </a:cxn>
                <a:cxn ang="0">
                  <a:pos x="5900" y="7980"/>
                </a:cxn>
                <a:cxn ang="0">
                  <a:pos x="5297" y="8473"/>
                </a:cxn>
                <a:cxn ang="0">
                  <a:pos x="5198" y="8576"/>
                </a:cxn>
                <a:cxn ang="0">
                  <a:pos x="4197" y="7425"/>
                </a:cxn>
                <a:cxn ang="0">
                  <a:pos x="4843" y="6865"/>
                </a:cxn>
                <a:cxn ang="0">
                  <a:pos x="5758" y="6325"/>
                </a:cxn>
                <a:cxn ang="0">
                  <a:pos x="6743" y="5981"/>
                </a:cxn>
                <a:cxn ang="0">
                  <a:pos x="7766" y="5833"/>
                </a:cxn>
                <a:cxn ang="0">
                  <a:pos x="8797" y="5882"/>
                </a:cxn>
                <a:cxn ang="0">
                  <a:pos x="9806" y="6127"/>
                </a:cxn>
                <a:cxn ang="0">
                  <a:pos x="10760" y="6570"/>
                </a:cxn>
                <a:cxn ang="0">
                  <a:pos x="11627" y="7208"/>
                </a:cxn>
                <a:cxn ang="0">
                  <a:pos x="11903" y="7475"/>
                </a:cxn>
              </a:cxnLst>
              <a:rect l="0" t="0" r="r" b="b"/>
              <a:pathLst>
                <a:path w="16050" h="8576">
                  <a:moveTo>
                    <a:pt x="15950" y="3273"/>
                  </a:moveTo>
                  <a:lnTo>
                    <a:pt x="15975" y="3299"/>
                  </a:lnTo>
                  <a:lnTo>
                    <a:pt x="16000" y="3324"/>
                  </a:lnTo>
                  <a:lnTo>
                    <a:pt x="16025" y="3351"/>
                  </a:lnTo>
                  <a:lnTo>
                    <a:pt x="16050" y="3377"/>
                  </a:lnTo>
                  <a:lnTo>
                    <a:pt x="15025" y="4402"/>
                  </a:lnTo>
                  <a:lnTo>
                    <a:pt x="15000" y="4377"/>
                  </a:lnTo>
                  <a:lnTo>
                    <a:pt x="14975" y="4351"/>
                  </a:lnTo>
                  <a:lnTo>
                    <a:pt x="14950" y="4325"/>
                  </a:lnTo>
                  <a:lnTo>
                    <a:pt x="14923" y="4300"/>
                  </a:lnTo>
                  <a:lnTo>
                    <a:pt x="14560" y="3955"/>
                  </a:lnTo>
                  <a:lnTo>
                    <a:pt x="14184" y="3632"/>
                  </a:lnTo>
                  <a:lnTo>
                    <a:pt x="13796" y="3330"/>
                  </a:lnTo>
                  <a:lnTo>
                    <a:pt x="13396" y="3053"/>
                  </a:lnTo>
                  <a:lnTo>
                    <a:pt x="12984" y="2797"/>
                  </a:lnTo>
                  <a:lnTo>
                    <a:pt x="12564" y="2563"/>
                  </a:lnTo>
                  <a:lnTo>
                    <a:pt x="12136" y="2351"/>
                  </a:lnTo>
                  <a:lnTo>
                    <a:pt x="11698" y="2161"/>
                  </a:lnTo>
                  <a:lnTo>
                    <a:pt x="11254" y="1995"/>
                  </a:lnTo>
                  <a:lnTo>
                    <a:pt x="10805" y="1850"/>
                  </a:lnTo>
                  <a:lnTo>
                    <a:pt x="10349" y="1728"/>
                  </a:lnTo>
                  <a:lnTo>
                    <a:pt x="9889" y="1628"/>
                  </a:lnTo>
                  <a:lnTo>
                    <a:pt x="9426" y="1549"/>
                  </a:lnTo>
                  <a:lnTo>
                    <a:pt x="8960" y="1494"/>
                  </a:lnTo>
                  <a:lnTo>
                    <a:pt x="8492" y="1461"/>
                  </a:lnTo>
                  <a:lnTo>
                    <a:pt x="8024" y="1450"/>
                  </a:lnTo>
                  <a:lnTo>
                    <a:pt x="7556" y="1461"/>
                  </a:lnTo>
                  <a:lnTo>
                    <a:pt x="7087" y="1494"/>
                  </a:lnTo>
                  <a:lnTo>
                    <a:pt x="6622" y="1550"/>
                  </a:lnTo>
                  <a:lnTo>
                    <a:pt x="6158" y="1629"/>
                  </a:lnTo>
                  <a:lnTo>
                    <a:pt x="5699" y="1729"/>
                  </a:lnTo>
                  <a:lnTo>
                    <a:pt x="5243" y="1851"/>
                  </a:lnTo>
                  <a:lnTo>
                    <a:pt x="4793" y="1996"/>
                  </a:lnTo>
                  <a:lnTo>
                    <a:pt x="4350" y="2163"/>
                  </a:lnTo>
                  <a:lnTo>
                    <a:pt x="3912" y="2352"/>
                  </a:lnTo>
                  <a:lnTo>
                    <a:pt x="3483" y="2564"/>
                  </a:lnTo>
                  <a:lnTo>
                    <a:pt x="3064" y="2799"/>
                  </a:lnTo>
                  <a:lnTo>
                    <a:pt x="2652" y="3055"/>
                  </a:lnTo>
                  <a:lnTo>
                    <a:pt x="2253" y="3332"/>
                  </a:lnTo>
                  <a:lnTo>
                    <a:pt x="1864" y="3634"/>
                  </a:lnTo>
                  <a:lnTo>
                    <a:pt x="1488" y="3957"/>
                  </a:lnTo>
                  <a:lnTo>
                    <a:pt x="1125" y="4302"/>
                  </a:lnTo>
                  <a:lnTo>
                    <a:pt x="1099" y="4327"/>
                  </a:lnTo>
                  <a:lnTo>
                    <a:pt x="1075" y="4353"/>
                  </a:lnTo>
                  <a:lnTo>
                    <a:pt x="1050" y="4378"/>
                  </a:lnTo>
                  <a:lnTo>
                    <a:pt x="1025" y="4404"/>
                  </a:lnTo>
                  <a:lnTo>
                    <a:pt x="0" y="3378"/>
                  </a:lnTo>
                  <a:lnTo>
                    <a:pt x="24" y="3353"/>
                  </a:lnTo>
                  <a:lnTo>
                    <a:pt x="49" y="3326"/>
                  </a:lnTo>
                  <a:lnTo>
                    <a:pt x="74" y="3301"/>
                  </a:lnTo>
                  <a:lnTo>
                    <a:pt x="99" y="3276"/>
                  </a:lnTo>
                  <a:lnTo>
                    <a:pt x="516" y="2880"/>
                  </a:lnTo>
                  <a:lnTo>
                    <a:pt x="948" y="2509"/>
                  </a:lnTo>
                  <a:lnTo>
                    <a:pt x="1394" y="2162"/>
                  </a:lnTo>
                  <a:lnTo>
                    <a:pt x="1854" y="1843"/>
                  </a:lnTo>
                  <a:lnTo>
                    <a:pt x="2325" y="1549"/>
                  </a:lnTo>
                  <a:lnTo>
                    <a:pt x="2808" y="1280"/>
                  </a:lnTo>
                  <a:lnTo>
                    <a:pt x="3301" y="1037"/>
                  </a:lnTo>
                  <a:lnTo>
                    <a:pt x="3803" y="820"/>
                  </a:lnTo>
                  <a:lnTo>
                    <a:pt x="4312" y="627"/>
                  </a:lnTo>
                  <a:lnTo>
                    <a:pt x="4830" y="461"/>
                  </a:lnTo>
                  <a:lnTo>
                    <a:pt x="5353" y="320"/>
                  </a:lnTo>
                  <a:lnTo>
                    <a:pt x="5881" y="205"/>
                  </a:lnTo>
                  <a:lnTo>
                    <a:pt x="6413" y="115"/>
                  </a:lnTo>
                  <a:lnTo>
                    <a:pt x="6949" y="51"/>
                  </a:lnTo>
                  <a:lnTo>
                    <a:pt x="7485" y="13"/>
                  </a:lnTo>
                  <a:lnTo>
                    <a:pt x="8024" y="0"/>
                  </a:lnTo>
                  <a:lnTo>
                    <a:pt x="8562" y="13"/>
                  </a:lnTo>
                  <a:lnTo>
                    <a:pt x="9099" y="51"/>
                  </a:lnTo>
                  <a:lnTo>
                    <a:pt x="9634" y="115"/>
                  </a:lnTo>
                  <a:lnTo>
                    <a:pt x="10167" y="205"/>
                  </a:lnTo>
                  <a:lnTo>
                    <a:pt x="10694" y="319"/>
                  </a:lnTo>
                  <a:lnTo>
                    <a:pt x="11218" y="460"/>
                  </a:lnTo>
                  <a:lnTo>
                    <a:pt x="11735" y="626"/>
                  </a:lnTo>
                  <a:lnTo>
                    <a:pt x="12245" y="818"/>
                  </a:lnTo>
                  <a:lnTo>
                    <a:pt x="12747" y="1036"/>
                  </a:lnTo>
                  <a:lnTo>
                    <a:pt x="13239" y="1278"/>
                  </a:lnTo>
                  <a:lnTo>
                    <a:pt x="13722" y="1547"/>
                  </a:lnTo>
                  <a:lnTo>
                    <a:pt x="14194" y="1841"/>
                  </a:lnTo>
                  <a:lnTo>
                    <a:pt x="14654" y="2160"/>
                  </a:lnTo>
                  <a:lnTo>
                    <a:pt x="15100" y="2506"/>
                  </a:lnTo>
                  <a:lnTo>
                    <a:pt x="15532" y="2877"/>
                  </a:lnTo>
                  <a:lnTo>
                    <a:pt x="15950" y="3273"/>
                  </a:lnTo>
                  <a:close/>
                  <a:moveTo>
                    <a:pt x="14055" y="5373"/>
                  </a:moveTo>
                  <a:lnTo>
                    <a:pt x="12946" y="6481"/>
                  </a:lnTo>
                  <a:lnTo>
                    <a:pt x="12921" y="6456"/>
                  </a:lnTo>
                  <a:lnTo>
                    <a:pt x="12897" y="6430"/>
                  </a:lnTo>
                  <a:lnTo>
                    <a:pt x="12871" y="6404"/>
                  </a:lnTo>
                  <a:lnTo>
                    <a:pt x="12846" y="6379"/>
                  </a:lnTo>
                  <a:lnTo>
                    <a:pt x="12592" y="6137"/>
                  </a:lnTo>
                  <a:lnTo>
                    <a:pt x="12329" y="5912"/>
                  </a:lnTo>
                  <a:lnTo>
                    <a:pt x="12058" y="5702"/>
                  </a:lnTo>
                  <a:lnTo>
                    <a:pt x="11778" y="5507"/>
                  </a:lnTo>
                  <a:lnTo>
                    <a:pt x="11491" y="5328"/>
                  </a:lnTo>
                  <a:lnTo>
                    <a:pt x="11198" y="5165"/>
                  </a:lnTo>
                  <a:lnTo>
                    <a:pt x="10898" y="5017"/>
                  </a:lnTo>
                  <a:lnTo>
                    <a:pt x="10592" y="4885"/>
                  </a:lnTo>
                  <a:lnTo>
                    <a:pt x="10282" y="4768"/>
                  </a:lnTo>
                  <a:lnTo>
                    <a:pt x="9967" y="4667"/>
                  </a:lnTo>
                  <a:lnTo>
                    <a:pt x="9649" y="4582"/>
                  </a:lnTo>
                  <a:lnTo>
                    <a:pt x="9328" y="4512"/>
                  </a:lnTo>
                  <a:lnTo>
                    <a:pt x="9004" y="4457"/>
                  </a:lnTo>
                  <a:lnTo>
                    <a:pt x="8679" y="4418"/>
                  </a:lnTo>
                  <a:lnTo>
                    <a:pt x="8352" y="4395"/>
                  </a:lnTo>
                  <a:lnTo>
                    <a:pt x="8024" y="4387"/>
                  </a:lnTo>
                  <a:lnTo>
                    <a:pt x="7697" y="4395"/>
                  </a:lnTo>
                  <a:lnTo>
                    <a:pt x="7370" y="4418"/>
                  </a:lnTo>
                  <a:lnTo>
                    <a:pt x="7044" y="4457"/>
                  </a:lnTo>
                  <a:lnTo>
                    <a:pt x="6721" y="4512"/>
                  </a:lnTo>
                  <a:lnTo>
                    <a:pt x="6399" y="4582"/>
                  </a:lnTo>
                  <a:lnTo>
                    <a:pt x="6081" y="4668"/>
                  </a:lnTo>
                  <a:lnTo>
                    <a:pt x="5767" y="4769"/>
                  </a:lnTo>
                  <a:lnTo>
                    <a:pt x="5457" y="4886"/>
                  </a:lnTo>
                  <a:lnTo>
                    <a:pt x="5151" y="5018"/>
                  </a:lnTo>
                  <a:lnTo>
                    <a:pt x="4851" y="5166"/>
                  </a:lnTo>
                  <a:lnTo>
                    <a:pt x="4558" y="5329"/>
                  </a:lnTo>
                  <a:lnTo>
                    <a:pt x="4271" y="5509"/>
                  </a:lnTo>
                  <a:lnTo>
                    <a:pt x="3991" y="5703"/>
                  </a:lnTo>
                  <a:lnTo>
                    <a:pt x="3720" y="5913"/>
                  </a:lnTo>
                  <a:lnTo>
                    <a:pt x="3457" y="6139"/>
                  </a:lnTo>
                  <a:lnTo>
                    <a:pt x="3203" y="6380"/>
                  </a:lnTo>
                  <a:lnTo>
                    <a:pt x="3178" y="6406"/>
                  </a:lnTo>
                  <a:lnTo>
                    <a:pt x="3154" y="6431"/>
                  </a:lnTo>
                  <a:lnTo>
                    <a:pt x="3129" y="6456"/>
                  </a:lnTo>
                  <a:lnTo>
                    <a:pt x="3104" y="6482"/>
                  </a:lnTo>
                  <a:lnTo>
                    <a:pt x="1996" y="5374"/>
                  </a:lnTo>
                  <a:lnTo>
                    <a:pt x="2020" y="5348"/>
                  </a:lnTo>
                  <a:lnTo>
                    <a:pt x="2045" y="5322"/>
                  </a:lnTo>
                  <a:lnTo>
                    <a:pt x="2069" y="5297"/>
                  </a:lnTo>
                  <a:lnTo>
                    <a:pt x="2095" y="5272"/>
                  </a:lnTo>
                  <a:lnTo>
                    <a:pt x="2406" y="4975"/>
                  </a:lnTo>
                  <a:lnTo>
                    <a:pt x="2731" y="4697"/>
                  </a:lnTo>
                  <a:lnTo>
                    <a:pt x="3065" y="4439"/>
                  </a:lnTo>
                  <a:lnTo>
                    <a:pt x="3408" y="4199"/>
                  </a:lnTo>
                  <a:lnTo>
                    <a:pt x="3761" y="3980"/>
                  </a:lnTo>
                  <a:lnTo>
                    <a:pt x="4122" y="3779"/>
                  </a:lnTo>
                  <a:lnTo>
                    <a:pt x="4491" y="3596"/>
                  </a:lnTo>
                  <a:lnTo>
                    <a:pt x="4866" y="3434"/>
                  </a:lnTo>
                  <a:lnTo>
                    <a:pt x="5247" y="3290"/>
                  </a:lnTo>
                  <a:lnTo>
                    <a:pt x="5635" y="3166"/>
                  </a:lnTo>
                  <a:lnTo>
                    <a:pt x="6026" y="3061"/>
                  </a:lnTo>
                  <a:lnTo>
                    <a:pt x="6421" y="2974"/>
                  </a:lnTo>
                  <a:lnTo>
                    <a:pt x="6819" y="2907"/>
                  </a:lnTo>
                  <a:lnTo>
                    <a:pt x="7219" y="2859"/>
                  </a:lnTo>
                  <a:lnTo>
                    <a:pt x="7622" y="2831"/>
                  </a:lnTo>
                  <a:lnTo>
                    <a:pt x="8024" y="2821"/>
                  </a:lnTo>
                  <a:lnTo>
                    <a:pt x="8427" y="2831"/>
                  </a:lnTo>
                  <a:lnTo>
                    <a:pt x="8829" y="2859"/>
                  </a:lnTo>
                  <a:lnTo>
                    <a:pt x="9229" y="2907"/>
                  </a:lnTo>
                  <a:lnTo>
                    <a:pt x="9627" y="2973"/>
                  </a:lnTo>
                  <a:lnTo>
                    <a:pt x="10022" y="3060"/>
                  </a:lnTo>
                  <a:lnTo>
                    <a:pt x="10413" y="3165"/>
                  </a:lnTo>
                  <a:lnTo>
                    <a:pt x="10801" y="3289"/>
                  </a:lnTo>
                  <a:lnTo>
                    <a:pt x="11182" y="3433"/>
                  </a:lnTo>
                  <a:lnTo>
                    <a:pt x="11558" y="3595"/>
                  </a:lnTo>
                  <a:lnTo>
                    <a:pt x="11926" y="3777"/>
                  </a:lnTo>
                  <a:lnTo>
                    <a:pt x="12287" y="3978"/>
                  </a:lnTo>
                  <a:lnTo>
                    <a:pt x="12640" y="4198"/>
                  </a:lnTo>
                  <a:lnTo>
                    <a:pt x="12984" y="4437"/>
                  </a:lnTo>
                  <a:lnTo>
                    <a:pt x="13318" y="4696"/>
                  </a:lnTo>
                  <a:lnTo>
                    <a:pt x="13641" y="4973"/>
                  </a:lnTo>
                  <a:lnTo>
                    <a:pt x="13954" y="5270"/>
                  </a:lnTo>
                  <a:lnTo>
                    <a:pt x="13980" y="5295"/>
                  </a:lnTo>
                  <a:lnTo>
                    <a:pt x="14005" y="5321"/>
                  </a:lnTo>
                  <a:lnTo>
                    <a:pt x="14030" y="5347"/>
                  </a:lnTo>
                  <a:lnTo>
                    <a:pt x="14055" y="5373"/>
                  </a:lnTo>
                  <a:close/>
                  <a:moveTo>
                    <a:pt x="11928" y="7501"/>
                  </a:moveTo>
                  <a:lnTo>
                    <a:pt x="10854" y="8576"/>
                  </a:lnTo>
                  <a:lnTo>
                    <a:pt x="10829" y="8549"/>
                  </a:lnTo>
                  <a:lnTo>
                    <a:pt x="10805" y="8523"/>
                  </a:lnTo>
                  <a:lnTo>
                    <a:pt x="10780" y="8498"/>
                  </a:lnTo>
                  <a:lnTo>
                    <a:pt x="10754" y="8472"/>
                  </a:lnTo>
                  <a:lnTo>
                    <a:pt x="10610" y="8336"/>
                  </a:lnTo>
                  <a:lnTo>
                    <a:pt x="10462" y="8208"/>
                  </a:lnTo>
                  <a:lnTo>
                    <a:pt x="10307" y="8089"/>
                  </a:lnTo>
                  <a:lnTo>
                    <a:pt x="10150" y="7980"/>
                  </a:lnTo>
                  <a:lnTo>
                    <a:pt x="9987" y="7878"/>
                  </a:lnTo>
                  <a:lnTo>
                    <a:pt x="9821" y="7785"/>
                  </a:lnTo>
                  <a:lnTo>
                    <a:pt x="9651" y="7702"/>
                  </a:lnTo>
                  <a:lnTo>
                    <a:pt x="9479" y="7627"/>
                  </a:lnTo>
                  <a:lnTo>
                    <a:pt x="9303" y="7561"/>
                  </a:lnTo>
                  <a:lnTo>
                    <a:pt x="9124" y="7504"/>
                  </a:lnTo>
                  <a:lnTo>
                    <a:pt x="8945" y="7456"/>
                  </a:lnTo>
                  <a:lnTo>
                    <a:pt x="8762" y="7416"/>
                  </a:lnTo>
                  <a:lnTo>
                    <a:pt x="8580" y="7384"/>
                  </a:lnTo>
                  <a:lnTo>
                    <a:pt x="8395" y="7362"/>
                  </a:lnTo>
                  <a:lnTo>
                    <a:pt x="8210" y="7349"/>
                  </a:lnTo>
                  <a:lnTo>
                    <a:pt x="8025" y="7345"/>
                  </a:lnTo>
                  <a:lnTo>
                    <a:pt x="7839" y="7349"/>
                  </a:lnTo>
                  <a:lnTo>
                    <a:pt x="7655" y="7363"/>
                  </a:lnTo>
                  <a:lnTo>
                    <a:pt x="7470" y="7385"/>
                  </a:lnTo>
                  <a:lnTo>
                    <a:pt x="7287" y="7416"/>
                  </a:lnTo>
                  <a:lnTo>
                    <a:pt x="7105" y="7456"/>
                  </a:lnTo>
                  <a:lnTo>
                    <a:pt x="6926" y="7504"/>
                  </a:lnTo>
                  <a:lnTo>
                    <a:pt x="6747" y="7561"/>
                  </a:lnTo>
                  <a:lnTo>
                    <a:pt x="6571" y="7627"/>
                  </a:lnTo>
                  <a:lnTo>
                    <a:pt x="6399" y="7703"/>
                  </a:lnTo>
                  <a:lnTo>
                    <a:pt x="6229" y="7786"/>
                  </a:lnTo>
                  <a:lnTo>
                    <a:pt x="6063" y="7878"/>
                  </a:lnTo>
                  <a:lnTo>
                    <a:pt x="5900" y="7980"/>
                  </a:lnTo>
                  <a:lnTo>
                    <a:pt x="5742" y="8090"/>
                  </a:lnTo>
                  <a:lnTo>
                    <a:pt x="5588" y="8209"/>
                  </a:lnTo>
                  <a:lnTo>
                    <a:pt x="5440" y="8337"/>
                  </a:lnTo>
                  <a:lnTo>
                    <a:pt x="5297" y="8473"/>
                  </a:lnTo>
                  <a:lnTo>
                    <a:pt x="5271" y="8498"/>
                  </a:lnTo>
                  <a:lnTo>
                    <a:pt x="5246" y="8524"/>
                  </a:lnTo>
                  <a:lnTo>
                    <a:pt x="5222" y="8550"/>
                  </a:lnTo>
                  <a:lnTo>
                    <a:pt x="5198" y="8576"/>
                  </a:lnTo>
                  <a:lnTo>
                    <a:pt x="4123" y="7501"/>
                  </a:lnTo>
                  <a:lnTo>
                    <a:pt x="4147" y="7476"/>
                  </a:lnTo>
                  <a:lnTo>
                    <a:pt x="4172" y="7450"/>
                  </a:lnTo>
                  <a:lnTo>
                    <a:pt x="4197" y="7425"/>
                  </a:lnTo>
                  <a:lnTo>
                    <a:pt x="4222" y="7399"/>
                  </a:lnTo>
                  <a:lnTo>
                    <a:pt x="4422" y="7209"/>
                  </a:lnTo>
                  <a:lnTo>
                    <a:pt x="4629" y="7030"/>
                  </a:lnTo>
                  <a:lnTo>
                    <a:pt x="4843" y="6865"/>
                  </a:lnTo>
                  <a:lnTo>
                    <a:pt x="5064" y="6711"/>
                  </a:lnTo>
                  <a:lnTo>
                    <a:pt x="5290" y="6571"/>
                  </a:lnTo>
                  <a:lnTo>
                    <a:pt x="5522" y="6441"/>
                  </a:lnTo>
                  <a:lnTo>
                    <a:pt x="5758" y="6325"/>
                  </a:lnTo>
                  <a:lnTo>
                    <a:pt x="6000" y="6220"/>
                  </a:lnTo>
                  <a:lnTo>
                    <a:pt x="6243" y="6128"/>
                  </a:lnTo>
                  <a:lnTo>
                    <a:pt x="6492" y="6048"/>
                  </a:lnTo>
                  <a:lnTo>
                    <a:pt x="6743" y="5981"/>
                  </a:lnTo>
                  <a:lnTo>
                    <a:pt x="6997" y="5925"/>
                  </a:lnTo>
                  <a:lnTo>
                    <a:pt x="7252" y="5882"/>
                  </a:lnTo>
                  <a:lnTo>
                    <a:pt x="7508" y="5851"/>
                  </a:lnTo>
                  <a:lnTo>
                    <a:pt x="7766" y="5833"/>
                  </a:lnTo>
                  <a:lnTo>
                    <a:pt x="8025" y="5827"/>
                  </a:lnTo>
                  <a:lnTo>
                    <a:pt x="8283" y="5833"/>
                  </a:lnTo>
                  <a:lnTo>
                    <a:pt x="8541" y="5851"/>
                  </a:lnTo>
                  <a:lnTo>
                    <a:pt x="8797" y="5882"/>
                  </a:lnTo>
                  <a:lnTo>
                    <a:pt x="9053" y="5925"/>
                  </a:lnTo>
                  <a:lnTo>
                    <a:pt x="9306" y="5981"/>
                  </a:lnTo>
                  <a:lnTo>
                    <a:pt x="9557" y="6048"/>
                  </a:lnTo>
                  <a:lnTo>
                    <a:pt x="9806" y="6127"/>
                  </a:lnTo>
                  <a:lnTo>
                    <a:pt x="10050" y="6219"/>
                  </a:lnTo>
                  <a:lnTo>
                    <a:pt x="10291" y="6324"/>
                  </a:lnTo>
                  <a:lnTo>
                    <a:pt x="10528" y="6440"/>
                  </a:lnTo>
                  <a:lnTo>
                    <a:pt x="10760" y="6570"/>
                  </a:lnTo>
                  <a:lnTo>
                    <a:pt x="10985" y="6710"/>
                  </a:lnTo>
                  <a:lnTo>
                    <a:pt x="11206" y="6864"/>
                  </a:lnTo>
                  <a:lnTo>
                    <a:pt x="11421" y="7029"/>
                  </a:lnTo>
                  <a:lnTo>
                    <a:pt x="11627" y="7208"/>
                  </a:lnTo>
                  <a:lnTo>
                    <a:pt x="11828" y="7398"/>
                  </a:lnTo>
                  <a:lnTo>
                    <a:pt x="11853" y="7424"/>
                  </a:lnTo>
                  <a:lnTo>
                    <a:pt x="11878" y="7449"/>
                  </a:lnTo>
                  <a:lnTo>
                    <a:pt x="11903" y="7475"/>
                  </a:lnTo>
                  <a:lnTo>
                    <a:pt x="11928" y="7501"/>
                  </a:lnTo>
                  <a:close/>
                </a:path>
              </a:pathLst>
            </a:custGeom>
            <a:grpFill/>
            <a:ln w="9525">
              <a:noFill/>
              <a:round/>
              <a:headEnd/>
              <a:tailEnd/>
            </a:ln>
          </p:spPr>
          <p:txBody>
            <a:bodyPr/>
            <a:lstStyle/>
            <a:p>
              <a:pPr algn="ctr" eaLnBrk="1" fontAlgn="auto" hangingPunct="1">
                <a:spcBef>
                  <a:spcPts val="0"/>
                </a:spcBef>
                <a:spcAft>
                  <a:spcPts val="0"/>
                </a:spcAft>
                <a:defRPr/>
              </a:pPr>
              <a:endParaRPr lang="zh-CN" altLang="en-US" sz="1200" ker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pic>
        <p:nvPicPr>
          <p:cNvPr id="116" name="图片 115"/>
          <p:cNvPicPr>
            <a:picLocks/>
          </p:cNvPicPr>
          <p:nvPr/>
        </p:nvPicPr>
        <p:blipFill>
          <a:blip r:embed="rId10" cstate="print">
            <a:extLst>
              <a:ext uri="{28A0092B-C50C-407E-A947-70E740481C1C}">
                <a14:useLocalDpi xmlns:a14="http://schemas.microsoft.com/office/drawing/2010/main" val="0"/>
              </a:ext>
            </a:extLst>
          </a:blip>
          <a:stretch>
            <a:fillRect/>
          </a:stretch>
        </p:blipFill>
        <p:spPr bwMode="gray">
          <a:xfrm>
            <a:off x="2575759" y="2475790"/>
            <a:ext cx="446746" cy="366332"/>
          </a:xfrm>
          <a:prstGeom prst="rect">
            <a:avLst/>
          </a:prstGeom>
        </p:spPr>
      </p:pic>
    </p:spTree>
    <p:extLst>
      <p:ext uri="{BB962C8B-B14F-4D97-AF65-F5344CB8AC3E}">
        <p14:creationId xmlns:p14="http://schemas.microsoft.com/office/powerpoint/2010/main" val="2630142366"/>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bwMode="gray"/>
        <p:txBody>
          <a:bodyPr/>
          <a:lstStyle/>
          <a:p>
            <a:r>
              <a:rPr lang="en-US" altLang="zh-CN" dirty="0">
                <a:solidFill>
                  <a:schemeClr val="bg1">
                    <a:lumMod val="50000"/>
                  </a:schemeClr>
                </a:solidFill>
              </a:rPr>
              <a:t>VXLAN</a:t>
            </a:r>
            <a:r>
              <a:rPr lang="zh-CN" altLang="en-US" dirty="0">
                <a:solidFill>
                  <a:schemeClr val="bg1">
                    <a:lumMod val="50000"/>
                  </a:schemeClr>
                </a:solidFill>
              </a:rPr>
              <a:t>虚拟化网络部署规划</a:t>
            </a:r>
            <a:endParaRPr lang="en-US" altLang="zh-CN" dirty="0">
              <a:solidFill>
                <a:schemeClr val="bg1">
                  <a:lumMod val="50000"/>
                </a:schemeClr>
              </a:solidFill>
            </a:endParaRPr>
          </a:p>
          <a:p>
            <a:r>
              <a:rPr lang="en-US" altLang="zh-CN" b="1" dirty="0"/>
              <a:t>VXLAN</a:t>
            </a:r>
            <a:r>
              <a:rPr lang="zh-CN" altLang="en-US" b="1" dirty="0"/>
              <a:t>虚拟化园区网络部署流程及部署指导</a:t>
            </a:r>
            <a:endParaRPr lang="en-US" altLang="zh-CN" b="1" dirty="0"/>
          </a:p>
          <a:p>
            <a:pPr lvl="1"/>
            <a:r>
              <a:rPr lang="zh-CN" altLang="en-US" dirty="0">
                <a:solidFill>
                  <a:schemeClr val="bg1">
                    <a:lumMod val="50000"/>
                  </a:schemeClr>
                </a:solidFill>
              </a:rPr>
              <a:t>部署流程</a:t>
            </a:r>
            <a:endParaRPr lang="en-US" altLang="zh-CN" dirty="0">
              <a:solidFill>
                <a:schemeClr val="bg1">
                  <a:lumMod val="50000"/>
                </a:schemeClr>
              </a:solidFill>
            </a:endParaRPr>
          </a:p>
          <a:p>
            <a:pPr lvl="1"/>
            <a:r>
              <a:rPr lang="zh-CN" altLang="en-US" dirty="0">
                <a:solidFill>
                  <a:schemeClr val="bg1">
                    <a:lumMod val="50000"/>
                  </a:schemeClr>
                </a:solidFill>
              </a:rPr>
              <a:t>部署前的准备</a:t>
            </a:r>
          </a:p>
          <a:p>
            <a:pPr lvl="1">
              <a:buSzPct val="60000"/>
              <a:buFont typeface="Wingdings" panose="05000000000000000000" pitchFamily="2" charset="2"/>
              <a:buChar char="n"/>
            </a:pPr>
            <a:r>
              <a:rPr lang="zh-CN" altLang="en-US" dirty="0"/>
              <a:t>部署</a:t>
            </a:r>
            <a:r>
              <a:rPr lang="zh-CN" altLang="en-US" dirty="0" smtClean="0"/>
              <a:t>指导</a:t>
            </a:r>
            <a:endParaRPr lang="zh-CN" altLang="en-US" dirty="0"/>
          </a:p>
        </p:txBody>
      </p:sp>
    </p:spTree>
    <p:extLst>
      <p:ext uri="{BB962C8B-B14F-4D97-AF65-F5344CB8AC3E}">
        <p14:creationId xmlns:p14="http://schemas.microsoft.com/office/powerpoint/2010/main" val="2641986943"/>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bwMode="gray"/>
        <p:txBody>
          <a:bodyPr>
            <a:normAutofit/>
          </a:bodyPr>
          <a:lstStyle/>
          <a:p>
            <a:r>
              <a:rPr lang="zh-CN" altLang="en-US" dirty="0" smtClean="0"/>
              <a:t>创建站点与添加设备</a:t>
            </a:r>
            <a:endParaRPr lang="zh-CN" altLang="en-US" dirty="0"/>
          </a:p>
        </p:txBody>
      </p:sp>
      <p:sp>
        <p:nvSpPr>
          <p:cNvPr id="4" name="文本占位符 3"/>
          <p:cNvSpPr>
            <a:spLocks noGrp="1"/>
          </p:cNvSpPr>
          <p:nvPr>
            <p:ph type="body" sz="quarter" idx="10"/>
          </p:nvPr>
        </p:nvSpPr>
        <p:spPr bwMode="gray">
          <a:xfrm>
            <a:off x="6096000" y="1848897"/>
            <a:ext cx="5653087" cy="4078658"/>
          </a:xfrm>
        </p:spPr>
        <p:txBody>
          <a:bodyPr/>
          <a:lstStyle/>
          <a:p>
            <a:r>
              <a:rPr lang="zh-CN" altLang="en-US" sz="1800" dirty="0"/>
              <a:t>创建</a:t>
            </a:r>
            <a:r>
              <a:rPr lang="zh-CN" altLang="en-US" sz="1800" dirty="0" smtClean="0"/>
              <a:t>站点是</a:t>
            </a:r>
            <a:r>
              <a:rPr lang="zh-CN" altLang="en-US" sz="1800" dirty="0"/>
              <a:t>把同一管理范围内的网络设备添加到</a:t>
            </a:r>
            <a:r>
              <a:rPr lang="en-US" altLang="zh-CN" sz="1800" dirty="0"/>
              <a:t>iMaster NCE-Campus</a:t>
            </a:r>
            <a:r>
              <a:rPr lang="zh-CN" altLang="en-US" sz="1800" dirty="0"/>
              <a:t>中纳管，这些设备汇总成一个管理集合，方便在</a:t>
            </a:r>
            <a:r>
              <a:rPr lang="en-US" altLang="zh-CN" sz="1800" dirty="0"/>
              <a:t>iMaster NCE-Campus</a:t>
            </a:r>
            <a:r>
              <a:rPr lang="zh-CN" altLang="en-US" sz="1800" dirty="0"/>
              <a:t>上进行统一管理</a:t>
            </a:r>
            <a:r>
              <a:rPr lang="zh-CN" altLang="en-US" sz="1800" dirty="0" smtClean="0"/>
              <a:t>。</a:t>
            </a:r>
            <a:endParaRPr lang="en-US" altLang="zh-CN" sz="1800" dirty="0" smtClean="0"/>
          </a:p>
          <a:p>
            <a:r>
              <a:rPr lang="zh-CN" altLang="en-US" sz="1800" dirty="0" smtClean="0"/>
              <a:t>创建</a:t>
            </a:r>
            <a:r>
              <a:rPr lang="zh-CN" altLang="en-US" sz="1800" dirty="0"/>
              <a:t>站点时，可以同步完成“添加设备”的任务，也可以在站点创建完成后再单独实施“添加设备”的任务。</a:t>
            </a:r>
          </a:p>
        </p:txBody>
      </p:sp>
      <p:sp>
        <p:nvSpPr>
          <p:cNvPr id="45" name="圆角矩形 44"/>
          <p:cNvSpPr/>
          <p:nvPr/>
        </p:nvSpPr>
        <p:spPr bwMode="gray">
          <a:xfrm>
            <a:off x="970555" y="2335684"/>
            <a:ext cx="4309958" cy="3368827"/>
          </a:xfrm>
          <a:prstGeom prst="roundRect">
            <a:avLst>
              <a:gd name="adj" fmla="val 3166"/>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54" name="Freeform 159"/>
          <p:cNvSpPr/>
          <p:nvPr/>
        </p:nvSpPr>
        <p:spPr bwMode="gray">
          <a:xfrm flipH="1">
            <a:off x="1512851" y="2693344"/>
            <a:ext cx="2481973" cy="1420820"/>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rgbClr val="E3F6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Huawei Sans" panose="020C0503030203020204" pitchFamily="34" charset="0"/>
              <a:ea typeface="方正兰亭黑简体" panose="02000000000000000000" pitchFamily="2" charset="-122"/>
            </a:endParaRPr>
          </a:p>
        </p:txBody>
      </p:sp>
      <p:cxnSp>
        <p:nvCxnSpPr>
          <p:cNvPr id="61" name="Straight Connector 166"/>
          <p:cNvCxnSpPr>
            <a:stCxn id="81" idx="2"/>
            <a:endCxn id="65" idx="0"/>
          </p:cNvCxnSpPr>
          <p:nvPr/>
        </p:nvCxnSpPr>
        <p:spPr bwMode="gray">
          <a:xfrm>
            <a:off x="1823344" y="3978181"/>
            <a:ext cx="0" cy="40327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 name="Straight Connector 166"/>
          <p:cNvCxnSpPr>
            <a:stCxn id="82" idx="2"/>
            <a:endCxn id="66" idx="0"/>
          </p:cNvCxnSpPr>
          <p:nvPr/>
        </p:nvCxnSpPr>
        <p:spPr bwMode="gray">
          <a:xfrm>
            <a:off x="3754145" y="3978181"/>
            <a:ext cx="0" cy="40327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65" name="图片 76" descr="接入交换机.png"/>
          <p:cNvPicPr>
            <a:picLocks noChangeAspect="1"/>
          </p:cNvPicPr>
          <p:nvPr/>
        </p:nvPicPr>
        <p:blipFill>
          <a:blip r:embed="rId3" cstate="print"/>
          <a:stretch>
            <a:fillRect/>
          </a:stretch>
        </p:blipFill>
        <p:spPr bwMode="gray">
          <a:xfrm>
            <a:off x="1600203" y="4381458"/>
            <a:ext cx="446281" cy="365139"/>
          </a:xfrm>
          <a:prstGeom prst="rect">
            <a:avLst/>
          </a:prstGeom>
        </p:spPr>
      </p:pic>
      <p:pic>
        <p:nvPicPr>
          <p:cNvPr id="66" name="图片 76" descr="接入交换机.png"/>
          <p:cNvPicPr>
            <a:picLocks noChangeAspect="1"/>
          </p:cNvPicPr>
          <p:nvPr/>
        </p:nvPicPr>
        <p:blipFill>
          <a:blip r:embed="rId3" cstate="print"/>
          <a:stretch>
            <a:fillRect/>
          </a:stretch>
        </p:blipFill>
        <p:spPr bwMode="gray">
          <a:xfrm>
            <a:off x="3531004" y="4381458"/>
            <a:ext cx="446281" cy="365139"/>
          </a:xfrm>
          <a:prstGeom prst="rect">
            <a:avLst/>
          </a:prstGeom>
        </p:spPr>
      </p:pic>
      <p:sp>
        <p:nvSpPr>
          <p:cNvPr id="67" name="文本框 66"/>
          <p:cNvSpPr txBox="1"/>
          <p:nvPr/>
        </p:nvSpPr>
        <p:spPr bwMode="gray">
          <a:xfrm>
            <a:off x="967611" y="2377829"/>
            <a:ext cx="468398" cy="307777"/>
          </a:xfrm>
          <a:prstGeom prst="rect">
            <a:avLst/>
          </a:prstGeom>
          <a:noFill/>
        </p:spPr>
        <p:txBody>
          <a:bodyPr wrap="none" rtlCol="0">
            <a:spAutoFit/>
          </a:bodyPr>
          <a:lstStyle/>
          <a:p>
            <a:r>
              <a:rPr lang="en-US" altLang="zh-CN" sz="1400" b="1" dirty="0" smtClean="0">
                <a:latin typeface="Huawei Sans" panose="020C0503030203020204" pitchFamily="34" charset="0"/>
                <a:ea typeface="方正兰亭黑简体" panose="02000000000000000000" pitchFamily="2" charset="-122"/>
                <a:cs typeface="Huawei Sans" panose="020C0503030203020204" pitchFamily="34" charset="0"/>
              </a:rPr>
              <a:t>HQ</a:t>
            </a:r>
            <a:endParaRPr lang="zh-CN" altLang="en-US" sz="1400" b="1" dirty="0">
              <a:latin typeface="Huawei Sans" panose="020C0503030203020204" pitchFamily="34" charset="0"/>
              <a:ea typeface="方正兰亭黑简体" panose="02000000000000000000" pitchFamily="2" charset="-122"/>
              <a:cs typeface="Huawei Sans" panose="020C0503030203020204" pitchFamily="34" charset="0"/>
            </a:endParaRPr>
          </a:p>
        </p:txBody>
      </p:sp>
      <p:pic>
        <p:nvPicPr>
          <p:cNvPr id="68" name="图片 105" descr="AP.png"/>
          <p:cNvPicPr>
            <a:picLocks noChangeAspect="1"/>
          </p:cNvPicPr>
          <p:nvPr/>
        </p:nvPicPr>
        <p:blipFill>
          <a:blip r:embed="rId4" cstate="print"/>
          <a:stretch>
            <a:fillRect/>
          </a:stretch>
        </p:blipFill>
        <p:spPr bwMode="gray">
          <a:xfrm>
            <a:off x="4692938" y="4413143"/>
            <a:ext cx="368827" cy="301768"/>
          </a:xfrm>
          <a:prstGeom prst="rect">
            <a:avLst/>
          </a:prstGeom>
        </p:spPr>
      </p:pic>
      <p:cxnSp>
        <p:nvCxnSpPr>
          <p:cNvPr id="69" name="Straight Connector 166"/>
          <p:cNvCxnSpPr>
            <a:stCxn id="66" idx="3"/>
            <a:endCxn id="68" idx="1"/>
          </p:cNvCxnSpPr>
          <p:nvPr/>
        </p:nvCxnSpPr>
        <p:spPr bwMode="gray">
          <a:xfrm flipV="1">
            <a:off x="3977285" y="4564027"/>
            <a:ext cx="715653" cy="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70" name="图片 14" descr="日志告警服务器-蓝.png"/>
          <p:cNvPicPr>
            <a:picLocks noChangeAspect="1"/>
          </p:cNvPicPr>
          <p:nvPr/>
        </p:nvPicPr>
        <p:blipFill>
          <a:blip r:embed="rId5" cstate="print"/>
          <a:stretch>
            <a:fillRect/>
          </a:stretch>
        </p:blipFill>
        <p:spPr bwMode="gray">
          <a:xfrm>
            <a:off x="4649698" y="5148049"/>
            <a:ext cx="445956" cy="278465"/>
          </a:xfrm>
          <a:prstGeom prst="rect">
            <a:avLst/>
          </a:prstGeom>
        </p:spPr>
      </p:pic>
      <p:pic>
        <p:nvPicPr>
          <p:cNvPr id="71" name="图片 70" descr="PC.png">
            <a:extLst>
              <a:ext uri="{FF2B5EF4-FFF2-40B4-BE49-F238E27FC236}">
                <a16:creationId xmlns="" xmlns:a16="http://schemas.microsoft.com/office/drawing/2014/main" id="{4666702E-823D-4236-BF2F-880359158C83}"/>
              </a:ext>
            </a:extLst>
          </p:cNvPr>
          <p:cNvPicPr>
            <a:picLocks noChangeAspect="1"/>
          </p:cNvPicPr>
          <p:nvPr/>
        </p:nvPicPr>
        <p:blipFill>
          <a:blip r:embed="rId6" cstate="print"/>
          <a:stretch>
            <a:fillRect/>
          </a:stretch>
        </p:blipFill>
        <p:spPr bwMode="gray">
          <a:xfrm>
            <a:off x="1600590" y="5119772"/>
            <a:ext cx="445506" cy="342149"/>
          </a:xfrm>
          <a:prstGeom prst="rect">
            <a:avLst/>
          </a:prstGeom>
        </p:spPr>
      </p:pic>
      <p:pic>
        <p:nvPicPr>
          <p:cNvPr id="72" name="图片 71" descr="PC.png">
            <a:extLst>
              <a:ext uri="{FF2B5EF4-FFF2-40B4-BE49-F238E27FC236}">
                <a16:creationId xmlns="" xmlns:a16="http://schemas.microsoft.com/office/drawing/2014/main" id="{4666702E-823D-4236-BF2F-880359158C83}"/>
              </a:ext>
            </a:extLst>
          </p:cNvPr>
          <p:cNvPicPr>
            <a:picLocks noChangeAspect="1"/>
          </p:cNvPicPr>
          <p:nvPr/>
        </p:nvPicPr>
        <p:blipFill>
          <a:blip r:embed="rId6" cstate="print"/>
          <a:stretch>
            <a:fillRect/>
          </a:stretch>
        </p:blipFill>
        <p:spPr bwMode="gray">
          <a:xfrm>
            <a:off x="3531391" y="5119439"/>
            <a:ext cx="445506" cy="342149"/>
          </a:xfrm>
          <a:prstGeom prst="rect">
            <a:avLst/>
          </a:prstGeom>
        </p:spPr>
      </p:pic>
      <p:cxnSp>
        <p:nvCxnSpPr>
          <p:cNvPr id="73" name="Straight Connector 167"/>
          <p:cNvCxnSpPr/>
          <p:nvPr/>
        </p:nvCxnSpPr>
        <p:spPr bwMode="gray">
          <a:xfrm flipH="1">
            <a:off x="1824054" y="2918949"/>
            <a:ext cx="971589" cy="876201"/>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74" name="Straight Connector 167"/>
          <p:cNvCxnSpPr/>
          <p:nvPr/>
        </p:nvCxnSpPr>
        <p:spPr bwMode="gray">
          <a:xfrm flipH="1" flipV="1">
            <a:off x="2792264" y="2916472"/>
            <a:ext cx="975076" cy="883934"/>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pic>
        <p:nvPicPr>
          <p:cNvPr id="76" name="图片 86" descr="核心交换机.png"/>
          <p:cNvPicPr>
            <a:picLocks noChangeAspect="1"/>
          </p:cNvPicPr>
          <p:nvPr/>
        </p:nvPicPr>
        <p:blipFill>
          <a:blip r:embed="rId7" cstate="print"/>
          <a:stretch>
            <a:fillRect/>
          </a:stretch>
        </p:blipFill>
        <p:spPr bwMode="gray">
          <a:xfrm>
            <a:off x="2579896" y="2736380"/>
            <a:ext cx="446281" cy="365139"/>
          </a:xfrm>
          <a:prstGeom prst="rect">
            <a:avLst/>
          </a:prstGeom>
        </p:spPr>
      </p:pic>
      <p:sp>
        <p:nvSpPr>
          <p:cNvPr id="77" name="文本框 76"/>
          <p:cNvSpPr txBox="1"/>
          <p:nvPr/>
        </p:nvSpPr>
        <p:spPr bwMode="gray">
          <a:xfrm>
            <a:off x="1928630" y="2744580"/>
            <a:ext cx="676788" cy="276999"/>
          </a:xfrm>
          <a:prstGeom prst="rect">
            <a:avLst/>
          </a:prstGeom>
          <a:noFill/>
        </p:spPr>
        <p:txBody>
          <a:bodyPr wrap="none" rtlCol="0">
            <a:spAutoFit/>
          </a:bodyPr>
          <a:lstStyle/>
          <a:p>
            <a:pPr algn="ctr"/>
            <a:r>
              <a:rPr lang="en-US" altLang="zh-CN" sz="1200" b="1" dirty="0" smtClean="0">
                <a:latin typeface="Huawei Sans" panose="020C0503030203020204" pitchFamily="34" charset="0"/>
                <a:ea typeface="方正兰亭黑简体" panose="02000000000000000000" pitchFamily="2" charset="-122"/>
                <a:cs typeface="Huawei Sans" panose="020C0503030203020204" pitchFamily="34" charset="0"/>
              </a:rPr>
              <a:t>Border</a:t>
            </a:r>
            <a:endParaRPr lang="zh-CN" altLang="en-US" sz="1200" b="1"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78" name="文本框 77"/>
          <p:cNvSpPr txBox="1"/>
          <p:nvPr/>
        </p:nvSpPr>
        <p:spPr bwMode="gray">
          <a:xfrm>
            <a:off x="969616" y="3645408"/>
            <a:ext cx="702436" cy="276999"/>
          </a:xfrm>
          <a:prstGeom prst="rect">
            <a:avLst/>
          </a:prstGeom>
          <a:noFill/>
        </p:spPr>
        <p:txBody>
          <a:bodyPr wrap="none" rtlCol="0">
            <a:spAutoFit/>
          </a:bodyPr>
          <a:lstStyle/>
          <a:p>
            <a:pPr algn="r"/>
            <a:r>
              <a:rPr lang="en-US" altLang="zh-CN" sz="1200" b="1" dirty="0" smtClean="0">
                <a:latin typeface="Huawei Sans" panose="020C0503030203020204" pitchFamily="34" charset="0"/>
                <a:ea typeface="方正兰亭黑简体" panose="02000000000000000000" pitchFamily="2" charset="-122"/>
                <a:cs typeface="Huawei Sans" panose="020C0503030203020204" pitchFamily="34" charset="0"/>
              </a:rPr>
              <a:t>Edge_1</a:t>
            </a:r>
            <a:endParaRPr lang="zh-CN" altLang="en-US" sz="1200" b="1"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79" name="文本框 78"/>
          <p:cNvSpPr txBox="1"/>
          <p:nvPr/>
        </p:nvSpPr>
        <p:spPr bwMode="gray">
          <a:xfrm>
            <a:off x="1040148" y="4359670"/>
            <a:ext cx="631904" cy="276999"/>
          </a:xfrm>
          <a:prstGeom prst="rect">
            <a:avLst/>
          </a:prstGeom>
          <a:noFill/>
        </p:spPr>
        <p:txBody>
          <a:bodyPr wrap="none" rtlCol="0">
            <a:spAutoFit/>
          </a:bodyPr>
          <a:lstStyle/>
          <a:p>
            <a:pPr algn="r"/>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ACC_1</a:t>
            </a:r>
            <a:endParaRPr lang="zh-CN" altLang="en-US" sz="1200" b="1" dirty="0">
              <a:latin typeface="Huawei Sans" panose="020C0503030203020204" pitchFamily="34" charset="0"/>
              <a:ea typeface="方正兰亭黑简体" panose="02000000000000000000" pitchFamily="2" charset="-122"/>
              <a:cs typeface="Huawei Sans" panose="020C0503030203020204" pitchFamily="34" charset="0"/>
            </a:endParaRPr>
          </a:p>
        </p:txBody>
      </p:sp>
      <p:pic>
        <p:nvPicPr>
          <p:cNvPr id="81" name="图片 87" descr="汇聚交换机.png"/>
          <p:cNvPicPr>
            <a:picLocks noChangeAspect="1"/>
          </p:cNvPicPr>
          <p:nvPr/>
        </p:nvPicPr>
        <p:blipFill>
          <a:blip r:embed="rId8" cstate="print"/>
          <a:stretch>
            <a:fillRect/>
          </a:stretch>
        </p:blipFill>
        <p:spPr bwMode="gray">
          <a:xfrm>
            <a:off x="1600203" y="3613042"/>
            <a:ext cx="446281" cy="365139"/>
          </a:xfrm>
          <a:prstGeom prst="rect">
            <a:avLst/>
          </a:prstGeom>
        </p:spPr>
      </p:pic>
      <p:pic>
        <p:nvPicPr>
          <p:cNvPr id="82" name="图片 87" descr="汇聚交换机.png"/>
          <p:cNvPicPr>
            <a:picLocks noChangeAspect="1"/>
          </p:cNvPicPr>
          <p:nvPr/>
        </p:nvPicPr>
        <p:blipFill>
          <a:blip r:embed="rId8" cstate="print"/>
          <a:stretch>
            <a:fillRect/>
          </a:stretch>
        </p:blipFill>
        <p:spPr bwMode="gray">
          <a:xfrm>
            <a:off x="3531004" y="3613042"/>
            <a:ext cx="446281" cy="365139"/>
          </a:xfrm>
          <a:prstGeom prst="rect">
            <a:avLst/>
          </a:prstGeom>
        </p:spPr>
      </p:pic>
      <p:sp>
        <p:nvSpPr>
          <p:cNvPr id="87" name="文本框 86"/>
          <p:cNvSpPr txBox="1"/>
          <p:nvPr/>
        </p:nvSpPr>
        <p:spPr bwMode="gray">
          <a:xfrm>
            <a:off x="4640652" y="4170922"/>
            <a:ext cx="460382" cy="276999"/>
          </a:xfrm>
          <a:prstGeom prst="rect">
            <a:avLst/>
          </a:prstGeom>
          <a:noFill/>
        </p:spPr>
        <p:txBody>
          <a:bodyPr wrap="none" rtlCol="0">
            <a:spAutoFit/>
          </a:bodyPr>
          <a:lstStyle/>
          <a:p>
            <a:pPr algn="ctr"/>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AP1</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88" name="文本框 87"/>
          <p:cNvSpPr txBox="1"/>
          <p:nvPr/>
        </p:nvSpPr>
        <p:spPr bwMode="gray">
          <a:xfrm>
            <a:off x="1596358" y="5427513"/>
            <a:ext cx="453970" cy="276999"/>
          </a:xfrm>
          <a:prstGeom prst="rect">
            <a:avLst/>
          </a:prstGeom>
          <a:noFill/>
        </p:spPr>
        <p:txBody>
          <a:bodyPr wrap="none" rtlCol="0">
            <a:spAutoFit/>
          </a:bodyPr>
          <a:lstStyle/>
          <a:p>
            <a:pPr algn="ctr"/>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PC1</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89" name="文本框 88"/>
          <p:cNvSpPr txBox="1"/>
          <p:nvPr/>
        </p:nvSpPr>
        <p:spPr bwMode="gray">
          <a:xfrm>
            <a:off x="3527159" y="5427513"/>
            <a:ext cx="453970" cy="276999"/>
          </a:xfrm>
          <a:prstGeom prst="rect">
            <a:avLst/>
          </a:prstGeom>
          <a:noFill/>
        </p:spPr>
        <p:txBody>
          <a:bodyPr wrap="none" rtlCol="0">
            <a:spAutoFit/>
          </a:bodyPr>
          <a:lstStyle/>
          <a:p>
            <a:pPr algn="ctr"/>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PC2</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cxnSp>
        <p:nvCxnSpPr>
          <p:cNvPr id="90" name="Straight Connector 166"/>
          <p:cNvCxnSpPr>
            <a:stCxn id="65" idx="2"/>
            <a:endCxn id="71" idx="0"/>
          </p:cNvCxnSpPr>
          <p:nvPr/>
        </p:nvCxnSpPr>
        <p:spPr bwMode="gray">
          <a:xfrm flipH="1">
            <a:off x="1823343" y="4746597"/>
            <a:ext cx="1" cy="37317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1" name="Straight Connector 166"/>
          <p:cNvCxnSpPr>
            <a:stCxn id="66" idx="2"/>
            <a:endCxn id="72" idx="0"/>
          </p:cNvCxnSpPr>
          <p:nvPr/>
        </p:nvCxnSpPr>
        <p:spPr bwMode="gray">
          <a:xfrm flipH="1">
            <a:off x="3754144" y="4746597"/>
            <a:ext cx="1" cy="37284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92" name="文本框 91"/>
          <p:cNvSpPr txBox="1"/>
          <p:nvPr/>
        </p:nvSpPr>
        <p:spPr bwMode="gray">
          <a:xfrm>
            <a:off x="4652199" y="5427513"/>
            <a:ext cx="453970" cy="276999"/>
          </a:xfrm>
          <a:prstGeom prst="rect">
            <a:avLst/>
          </a:prstGeom>
          <a:noFill/>
        </p:spPr>
        <p:txBody>
          <a:bodyPr wrap="none" rtlCol="0">
            <a:spAutoFit/>
          </a:bodyPr>
          <a:lstStyle/>
          <a:p>
            <a:pPr algn="ctr"/>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PC3</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93" name="文本框 92"/>
          <p:cNvSpPr txBox="1"/>
          <p:nvPr/>
        </p:nvSpPr>
        <p:spPr bwMode="gray">
          <a:xfrm>
            <a:off x="2391306" y="3718783"/>
            <a:ext cx="829073" cy="338554"/>
          </a:xfrm>
          <a:prstGeom prst="rect">
            <a:avLst/>
          </a:prstGeom>
          <a:noFill/>
        </p:spPr>
        <p:txBody>
          <a:bodyPr wrap="square" rtlCol="0">
            <a:noAutofit/>
          </a:bodyPr>
          <a:lstStyle>
            <a:defPPr>
              <a:defRPr lang="en-US"/>
            </a:defPPr>
            <a:lvl1pPr algn="ctr" fontAlgn="ctr">
              <a:defRPr sz="1600">
                <a:solidFill>
                  <a:srgbClr val="30B5C5"/>
                </a:solidFill>
                <a:latin typeface="Huawei Sans" panose="020C0503030203020204" pitchFamily="34" charset="0"/>
                <a:ea typeface="方正兰亭黑简体" panose="02000000000000000000" pitchFamily="2" charset="-122"/>
              </a:defRPr>
            </a:lvl1pPr>
          </a:lstStyle>
          <a:p>
            <a:r>
              <a:rPr lang="en-US" altLang="zh-CN" dirty="0"/>
              <a:t>VXLAN</a:t>
            </a:r>
            <a:endParaRPr lang="zh-CN" altLang="en-US" dirty="0"/>
          </a:p>
        </p:txBody>
      </p:sp>
      <p:sp>
        <p:nvSpPr>
          <p:cNvPr id="94" name="文本框 93"/>
          <p:cNvSpPr txBox="1"/>
          <p:nvPr/>
        </p:nvSpPr>
        <p:spPr bwMode="gray">
          <a:xfrm>
            <a:off x="2926781" y="4359670"/>
            <a:ext cx="631903" cy="276999"/>
          </a:xfrm>
          <a:prstGeom prst="rect">
            <a:avLst/>
          </a:prstGeom>
          <a:noFill/>
        </p:spPr>
        <p:txBody>
          <a:bodyPr wrap="none" rtlCol="0">
            <a:spAutoFit/>
          </a:bodyPr>
          <a:lstStyle/>
          <a:p>
            <a:pPr algn="r"/>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ACC_2</a:t>
            </a:r>
          </a:p>
        </p:txBody>
      </p:sp>
      <p:pic>
        <p:nvPicPr>
          <p:cNvPr id="95" name="图片 94"/>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bwMode="gray">
          <a:xfrm>
            <a:off x="1922911" y="1291842"/>
            <a:ext cx="1608093" cy="296575"/>
          </a:xfrm>
          <a:prstGeom prst="rect">
            <a:avLst/>
          </a:prstGeom>
        </p:spPr>
      </p:pic>
      <p:grpSp>
        <p:nvGrpSpPr>
          <p:cNvPr id="96" name="组合 758"/>
          <p:cNvGrpSpPr/>
          <p:nvPr/>
        </p:nvGrpSpPr>
        <p:grpSpPr bwMode="gray">
          <a:xfrm flipV="1">
            <a:off x="4764501" y="4788996"/>
            <a:ext cx="225699" cy="191129"/>
            <a:chOff x="7440613" y="4868863"/>
            <a:chExt cx="1019175" cy="828675"/>
          </a:xfrm>
          <a:solidFill>
            <a:schemeClr val="bg1">
              <a:lumMod val="50000"/>
            </a:schemeClr>
          </a:solidFill>
        </p:grpSpPr>
        <p:sp>
          <p:nvSpPr>
            <p:cNvPr id="97" name="Freeform 15"/>
            <p:cNvSpPr>
              <a:spLocks/>
            </p:cNvSpPr>
            <p:nvPr/>
          </p:nvSpPr>
          <p:spPr bwMode="gray">
            <a:xfrm>
              <a:off x="7832726" y="5462588"/>
              <a:ext cx="234950" cy="234950"/>
            </a:xfrm>
            <a:custGeom>
              <a:avLst/>
              <a:gdLst/>
              <a:ahLst/>
              <a:cxnLst>
                <a:cxn ang="0">
                  <a:pos x="3281" y="680"/>
                </a:cxn>
                <a:cxn ang="0">
                  <a:pos x="3439" y="907"/>
                </a:cxn>
                <a:cxn ang="0">
                  <a:pos x="3559" y="1151"/>
                </a:cxn>
                <a:cxn ang="0">
                  <a:pos x="3642" y="1406"/>
                </a:cxn>
                <a:cxn ang="0">
                  <a:pos x="3686" y="1670"/>
                </a:cxn>
                <a:cxn ang="0">
                  <a:pos x="3693" y="1936"/>
                </a:cxn>
                <a:cxn ang="0">
                  <a:pos x="3661" y="2201"/>
                </a:cxn>
                <a:cxn ang="0">
                  <a:pos x="3591" y="2460"/>
                </a:cxn>
                <a:cxn ang="0">
                  <a:pos x="3484" y="2708"/>
                </a:cxn>
                <a:cxn ang="0">
                  <a:pos x="3339" y="2941"/>
                </a:cxn>
                <a:cxn ang="0">
                  <a:pos x="3155" y="3155"/>
                </a:cxn>
                <a:cxn ang="0">
                  <a:pos x="2941" y="3339"/>
                </a:cxn>
                <a:cxn ang="0">
                  <a:pos x="2708" y="3484"/>
                </a:cxn>
                <a:cxn ang="0">
                  <a:pos x="2460" y="3592"/>
                </a:cxn>
                <a:cxn ang="0">
                  <a:pos x="2201" y="3661"/>
                </a:cxn>
                <a:cxn ang="0">
                  <a:pos x="1936" y="3693"/>
                </a:cxn>
                <a:cxn ang="0">
                  <a:pos x="1670" y="3687"/>
                </a:cxn>
                <a:cxn ang="0">
                  <a:pos x="1408" y="3643"/>
                </a:cxn>
                <a:cxn ang="0">
                  <a:pos x="1152" y="3561"/>
                </a:cxn>
                <a:cxn ang="0">
                  <a:pos x="908" y="3440"/>
                </a:cxn>
                <a:cxn ang="0">
                  <a:pos x="680" y="3282"/>
                </a:cxn>
                <a:cxn ang="0">
                  <a:pos x="475" y="3086"/>
                </a:cxn>
                <a:cxn ang="0">
                  <a:pos x="304" y="2866"/>
                </a:cxn>
                <a:cxn ang="0">
                  <a:pos x="172" y="2627"/>
                </a:cxn>
                <a:cxn ang="0">
                  <a:pos x="76" y="2374"/>
                </a:cxn>
                <a:cxn ang="0">
                  <a:pos x="19" y="2114"/>
                </a:cxn>
                <a:cxn ang="0">
                  <a:pos x="0" y="1848"/>
                </a:cxn>
                <a:cxn ang="0">
                  <a:pos x="19" y="1582"/>
                </a:cxn>
                <a:cxn ang="0">
                  <a:pos x="76" y="1321"/>
                </a:cxn>
                <a:cxn ang="0">
                  <a:pos x="171" y="1069"/>
                </a:cxn>
                <a:cxn ang="0">
                  <a:pos x="304" y="830"/>
                </a:cxn>
                <a:cxn ang="0">
                  <a:pos x="475" y="609"/>
                </a:cxn>
                <a:cxn ang="0">
                  <a:pos x="680" y="414"/>
                </a:cxn>
                <a:cxn ang="0">
                  <a:pos x="907" y="255"/>
                </a:cxn>
                <a:cxn ang="0">
                  <a:pos x="1151" y="135"/>
                </a:cxn>
                <a:cxn ang="0">
                  <a:pos x="1407" y="52"/>
                </a:cxn>
                <a:cxn ang="0">
                  <a:pos x="1669" y="8"/>
                </a:cxn>
                <a:cxn ang="0">
                  <a:pos x="1936" y="2"/>
                </a:cxn>
                <a:cxn ang="0">
                  <a:pos x="2201" y="33"/>
                </a:cxn>
                <a:cxn ang="0">
                  <a:pos x="2459" y="104"/>
                </a:cxn>
                <a:cxn ang="0">
                  <a:pos x="2708" y="211"/>
                </a:cxn>
                <a:cxn ang="0">
                  <a:pos x="2940" y="356"/>
                </a:cxn>
                <a:cxn ang="0">
                  <a:pos x="3154" y="539"/>
                </a:cxn>
              </a:cxnLst>
              <a:rect l="0" t="0" r="r" b="b"/>
              <a:pathLst>
                <a:path w="3695" h="3695">
                  <a:moveTo>
                    <a:pt x="3154" y="539"/>
                  </a:moveTo>
                  <a:lnTo>
                    <a:pt x="3220" y="608"/>
                  </a:lnTo>
                  <a:lnTo>
                    <a:pt x="3281" y="680"/>
                  </a:lnTo>
                  <a:lnTo>
                    <a:pt x="3338" y="754"/>
                  </a:lnTo>
                  <a:lnTo>
                    <a:pt x="3391" y="829"/>
                  </a:lnTo>
                  <a:lnTo>
                    <a:pt x="3439" y="907"/>
                  </a:lnTo>
                  <a:lnTo>
                    <a:pt x="3483" y="987"/>
                  </a:lnTo>
                  <a:lnTo>
                    <a:pt x="3523" y="1068"/>
                  </a:lnTo>
                  <a:lnTo>
                    <a:pt x="3559" y="1151"/>
                  </a:lnTo>
                  <a:lnTo>
                    <a:pt x="3591" y="1235"/>
                  </a:lnTo>
                  <a:lnTo>
                    <a:pt x="3619" y="1320"/>
                  </a:lnTo>
                  <a:lnTo>
                    <a:pt x="3642" y="1406"/>
                  </a:lnTo>
                  <a:lnTo>
                    <a:pt x="3661" y="1493"/>
                  </a:lnTo>
                  <a:lnTo>
                    <a:pt x="3676" y="1582"/>
                  </a:lnTo>
                  <a:lnTo>
                    <a:pt x="3686" y="1670"/>
                  </a:lnTo>
                  <a:lnTo>
                    <a:pt x="3693" y="1758"/>
                  </a:lnTo>
                  <a:lnTo>
                    <a:pt x="3695" y="1847"/>
                  </a:lnTo>
                  <a:lnTo>
                    <a:pt x="3693" y="1936"/>
                  </a:lnTo>
                  <a:lnTo>
                    <a:pt x="3686" y="2024"/>
                  </a:lnTo>
                  <a:lnTo>
                    <a:pt x="3676" y="2113"/>
                  </a:lnTo>
                  <a:lnTo>
                    <a:pt x="3661" y="2201"/>
                  </a:lnTo>
                  <a:lnTo>
                    <a:pt x="3642" y="2288"/>
                  </a:lnTo>
                  <a:lnTo>
                    <a:pt x="3619" y="2374"/>
                  </a:lnTo>
                  <a:lnTo>
                    <a:pt x="3591" y="2460"/>
                  </a:lnTo>
                  <a:lnTo>
                    <a:pt x="3559" y="2544"/>
                  </a:lnTo>
                  <a:lnTo>
                    <a:pt x="3524" y="2626"/>
                  </a:lnTo>
                  <a:lnTo>
                    <a:pt x="3484" y="2708"/>
                  </a:lnTo>
                  <a:lnTo>
                    <a:pt x="3439" y="2788"/>
                  </a:lnTo>
                  <a:lnTo>
                    <a:pt x="3391" y="2865"/>
                  </a:lnTo>
                  <a:lnTo>
                    <a:pt x="3339" y="2941"/>
                  </a:lnTo>
                  <a:lnTo>
                    <a:pt x="3281" y="3015"/>
                  </a:lnTo>
                  <a:lnTo>
                    <a:pt x="3220" y="3086"/>
                  </a:lnTo>
                  <a:lnTo>
                    <a:pt x="3155" y="3155"/>
                  </a:lnTo>
                  <a:lnTo>
                    <a:pt x="3086" y="3220"/>
                  </a:lnTo>
                  <a:lnTo>
                    <a:pt x="3015" y="3282"/>
                  </a:lnTo>
                  <a:lnTo>
                    <a:pt x="2941" y="3339"/>
                  </a:lnTo>
                  <a:lnTo>
                    <a:pt x="2865" y="3391"/>
                  </a:lnTo>
                  <a:lnTo>
                    <a:pt x="2788" y="3440"/>
                  </a:lnTo>
                  <a:lnTo>
                    <a:pt x="2708" y="3484"/>
                  </a:lnTo>
                  <a:lnTo>
                    <a:pt x="2626" y="3524"/>
                  </a:lnTo>
                  <a:lnTo>
                    <a:pt x="2544" y="3560"/>
                  </a:lnTo>
                  <a:lnTo>
                    <a:pt x="2460" y="3592"/>
                  </a:lnTo>
                  <a:lnTo>
                    <a:pt x="2375" y="3619"/>
                  </a:lnTo>
                  <a:lnTo>
                    <a:pt x="2288" y="3643"/>
                  </a:lnTo>
                  <a:lnTo>
                    <a:pt x="2201" y="3661"/>
                  </a:lnTo>
                  <a:lnTo>
                    <a:pt x="2114" y="3676"/>
                  </a:lnTo>
                  <a:lnTo>
                    <a:pt x="2026" y="3687"/>
                  </a:lnTo>
                  <a:lnTo>
                    <a:pt x="1936" y="3693"/>
                  </a:lnTo>
                  <a:lnTo>
                    <a:pt x="1848" y="3695"/>
                  </a:lnTo>
                  <a:lnTo>
                    <a:pt x="1759" y="3693"/>
                  </a:lnTo>
                  <a:lnTo>
                    <a:pt x="1670" y="3687"/>
                  </a:lnTo>
                  <a:lnTo>
                    <a:pt x="1582" y="3676"/>
                  </a:lnTo>
                  <a:lnTo>
                    <a:pt x="1495" y="3662"/>
                  </a:lnTo>
                  <a:lnTo>
                    <a:pt x="1408" y="3643"/>
                  </a:lnTo>
                  <a:lnTo>
                    <a:pt x="1321" y="3620"/>
                  </a:lnTo>
                  <a:lnTo>
                    <a:pt x="1236" y="3592"/>
                  </a:lnTo>
                  <a:lnTo>
                    <a:pt x="1152" y="3561"/>
                  </a:lnTo>
                  <a:lnTo>
                    <a:pt x="1069" y="3524"/>
                  </a:lnTo>
                  <a:lnTo>
                    <a:pt x="987" y="3484"/>
                  </a:lnTo>
                  <a:lnTo>
                    <a:pt x="908" y="3440"/>
                  </a:lnTo>
                  <a:lnTo>
                    <a:pt x="830" y="3391"/>
                  </a:lnTo>
                  <a:lnTo>
                    <a:pt x="755" y="3339"/>
                  </a:lnTo>
                  <a:lnTo>
                    <a:pt x="680" y="3282"/>
                  </a:lnTo>
                  <a:lnTo>
                    <a:pt x="609" y="3220"/>
                  </a:lnTo>
                  <a:lnTo>
                    <a:pt x="541" y="3155"/>
                  </a:lnTo>
                  <a:lnTo>
                    <a:pt x="475" y="3086"/>
                  </a:lnTo>
                  <a:lnTo>
                    <a:pt x="414" y="3015"/>
                  </a:lnTo>
                  <a:lnTo>
                    <a:pt x="357" y="2941"/>
                  </a:lnTo>
                  <a:lnTo>
                    <a:pt x="304" y="2866"/>
                  </a:lnTo>
                  <a:lnTo>
                    <a:pt x="256" y="2788"/>
                  </a:lnTo>
                  <a:lnTo>
                    <a:pt x="212" y="2709"/>
                  </a:lnTo>
                  <a:lnTo>
                    <a:pt x="172" y="2627"/>
                  </a:lnTo>
                  <a:lnTo>
                    <a:pt x="136" y="2544"/>
                  </a:lnTo>
                  <a:lnTo>
                    <a:pt x="104" y="2460"/>
                  </a:lnTo>
                  <a:lnTo>
                    <a:pt x="76" y="2374"/>
                  </a:lnTo>
                  <a:lnTo>
                    <a:pt x="53" y="2288"/>
                  </a:lnTo>
                  <a:lnTo>
                    <a:pt x="34" y="2201"/>
                  </a:lnTo>
                  <a:lnTo>
                    <a:pt x="19" y="2114"/>
                  </a:lnTo>
                  <a:lnTo>
                    <a:pt x="9" y="2025"/>
                  </a:lnTo>
                  <a:lnTo>
                    <a:pt x="2" y="1937"/>
                  </a:lnTo>
                  <a:lnTo>
                    <a:pt x="0" y="1848"/>
                  </a:lnTo>
                  <a:lnTo>
                    <a:pt x="2" y="1759"/>
                  </a:lnTo>
                  <a:lnTo>
                    <a:pt x="9" y="1670"/>
                  </a:lnTo>
                  <a:lnTo>
                    <a:pt x="19" y="1582"/>
                  </a:lnTo>
                  <a:lnTo>
                    <a:pt x="34" y="1494"/>
                  </a:lnTo>
                  <a:lnTo>
                    <a:pt x="53" y="1407"/>
                  </a:lnTo>
                  <a:lnTo>
                    <a:pt x="76" y="1321"/>
                  </a:lnTo>
                  <a:lnTo>
                    <a:pt x="104" y="1236"/>
                  </a:lnTo>
                  <a:lnTo>
                    <a:pt x="136" y="1151"/>
                  </a:lnTo>
                  <a:lnTo>
                    <a:pt x="171" y="1069"/>
                  </a:lnTo>
                  <a:lnTo>
                    <a:pt x="211" y="988"/>
                  </a:lnTo>
                  <a:lnTo>
                    <a:pt x="255" y="907"/>
                  </a:lnTo>
                  <a:lnTo>
                    <a:pt x="304" y="830"/>
                  </a:lnTo>
                  <a:lnTo>
                    <a:pt x="356" y="754"/>
                  </a:lnTo>
                  <a:lnTo>
                    <a:pt x="414" y="681"/>
                  </a:lnTo>
                  <a:lnTo>
                    <a:pt x="475" y="609"/>
                  </a:lnTo>
                  <a:lnTo>
                    <a:pt x="540" y="540"/>
                  </a:lnTo>
                  <a:lnTo>
                    <a:pt x="609" y="475"/>
                  </a:lnTo>
                  <a:lnTo>
                    <a:pt x="680" y="414"/>
                  </a:lnTo>
                  <a:lnTo>
                    <a:pt x="754" y="356"/>
                  </a:lnTo>
                  <a:lnTo>
                    <a:pt x="830" y="303"/>
                  </a:lnTo>
                  <a:lnTo>
                    <a:pt x="907" y="255"/>
                  </a:lnTo>
                  <a:lnTo>
                    <a:pt x="987" y="211"/>
                  </a:lnTo>
                  <a:lnTo>
                    <a:pt x="1069" y="171"/>
                  </a:lnTo>
                  <a:lnTo>
                    <a:pt x="1151" y="135"/>
                  </a:lnTo>
                  <a:lnTo>
                    <a:pt x="1235" y="104"/>
                  </a:lnTo>
                  <a:lnTo>
                    <a:pt x="1320" y="76"/>
                  </a:lnTo>
                  <a:lnTo>
                    <a:pt x="1407" y="52"/>
                  </a:lnTo>
                  <a:lnTo>
                    <a:pt x="1494" y="33"/>
                  </a:lnTo>
                  <a:lnTo>
                    <a:pt x="1581" y="19"/>
                  </a:lnTo>
                  <a:lnTo>
                    <a:pt x="1669" y="8"/>
                  </a:lnTo>
                  <a:lnTo>
                    <a:pt x="1759" y="2"/>
                  </a:lnTo>
                  <a:lnTo>
                    <a:pt x="1847" y="0"/>
                  </a:lnTo>
                  <a:lnTo>
                    <a:pt x="1936" y="2"/>
                  </a:lnTo>
                  <a:lnTo>
                    <a:pt x="2025" y="8"/>
                  </a:lnTo>
                  <a:lnTo>
                    <a:pt x="2113" y="19"/>
                  </a:lnTo>
                  <a:lnTo>
                    <a:pt x="2201" y="33"/>
                  </a:lnTo>
                  <a:lnTo>
                    <a:pt x="2287" y="52"/>
                  </a:lnTo>
                  <a:lnTo>
                    <a:pt x="2374" y="76"/>
                  </a:lnTo>
                  <a:lnTo>
                    <a:pt x="2459" y="104"/>
                  </a:lnTo>
                  <a:lnTo>
                    <a:pt x="2543" y="135"/>
                  </a:lnTo>
                  <a:lnTo>
                    <a:pt x="2626" y="171"/>
                  </a:lnTo>
                  <a:lnTo>
                    <a:pt x="2708" y="211"/>
                  </a:lnTo>
                  <a:lnTo>
                    <a:pt x="2787" y="255"/>
                  </a:lnTo>
                  <a:lnTo>
                    <a:pt x="2865" y="303"/>
                  </a:lnTo>
                  <a:lnTo>
                    <a:pt x="2940" y="356"/>
                  </a:lnTo>
                  <a:lnTo>
                    <a:pt x="3015" y="413"/>
                  </a:lnTo>
                  <a:lnTo>
                    <a:pt x="3086" y="474"/>
                  </a:lnTo>
                  <a:lnTo>
                    <a:pt x="3154" y="539"/>
                  </a:lnTo>
                  <a:close/>
                </a:path>
              </a:pathLst>
            </a:custGeom>
            <a:grpFill/>
            <a:ln w="9525">
              <a:noFill/>
              <a:round/>
              <a:headEnd/>
              <a:tailEnd/>
            </a:ln>
          </p:spPr>
          <p:txBody>
            <a:bodyPr/>
            <a:lstStyle/>
            <a:p>
              <a:pPr algn="ctr" eaLnBrk="1" fontAlgn="auto" hangingPunct="1">
                <a:spcBef>
                  <a:spcPts val="0"/>
                </a:spcBef>
                <a:spcAft>
                  <a:spcPts val="0"/>
                </a:spcAft>
                <a:defRPr/>
              </a:pPr>
              <a:endParaRPr lang="zh-CN" altLang="en-US" sz="1200" ker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8" name="Freeform 16"/>
            <p:cNvSpPr>
              <a:spLocks noEditPoints="1"/>
            </p:cNvSpPr>
            <p:nvPr/>
          </p:nvSpPr>
          <p:spPr bwMode="gray">
            <a:xfrm>
              <a:off x="7440613" y="4868863"/>
              <a:ext cx="1019175" cy="544513"/>
            </a:xfrm>
            <a:custGeom>
              <a:avLst/>
              <a:gdLst/>
              <a:ahLst/>
              <a:cxnLst>
                <a:cxn ang="0">
                  <a:pos x="16025" y="3351"/>
                </a:cxn>
                <a:cxn ang="0">
                  <a:pos x="14975" y="4351"/>
                </a:cxn>
                <a:cxn ang="0">
                  <a:pos x="14184" y="3632"/>
                </a:cxn>
                <a:cxn ang="0">
                  <a:pos x="12564" y="2563"/>
                </a:cxn>
                <a:cxn ang="0">
                  <a:pos x="10805" y="1850"/>
                </a:cxn>
                <a:cxn ang="0">
                  <a:pos x="8960" y="1494"/>
                </a:cxn>
                <a:cxn ang="0">
                  <a:pos x="7087" y="1494"/>
                </a:cxn>
                <a:cxn ang="0">
                  <a:pos x="5243" y="1851"/>
                </a:cxn>
                <a:cxn ang="0">
                  <a:pos x="3483" y="2564"/>
                </a:cxn>
                <a:cxn ang="0">
                  <a:pos x="1864" y="3634"/>
                </a:cxn>
                <a:cxn ang="0">
                  <a:pos x="1075" y="4353"/>
                </a:cxn>
                <a:cxn ang="0">
                  <a:pos x="24" y="3353"/>
                </a:cxn>
                <a:cxn ang="0">
                  <a:pos x="516" y="2880"/>
                </a:cxn>
                <a:cxn ang="0">
                  <a:pos x="2325" y="1549"/>
                </a:cxn>
                <a:cxn ang="0">
                  <a:pos x="4312" y="627"/>
                </a:cxn>
                <a:cxn ang="0">
                  <a:pos x="6413" y="115"/>
                </a:cxn>
                <a:cxn ang="0">
                  <a:pos x="8562" y="13"/>
                </a:cxn>
                <a:cxn ang="0">
                  <a:pos x="10694" y="319"/>
                </a:cxn>
                <a:cxn ang="0">
                  <a:pos x="12747" y="1036"/>
                </a:cxn>
                <a:cxn ang="0">
                  <a:pos x="14654" y="2160"/>
                </a:cxn>
                <a:cxn ang="0">
                  <a:pos x="14055" y="5373"/>
                </a:cxn>
                <a:cxn ang="0">
                  <a:pos x="12871" y="6404"/>
                </a:cxn>
                <a:cxn ang="0">
                  <a:pos x="12058" y="5702"/>
                </a:cxn>
                <a:cxn ang="0">
                  <a:pos x="10898" y="5017"/>
                </a:cxn>
                <a:cxn ang="0">
                  <a:pos x="9649" y="4582"/>
                </a:cxn>
                <a:cxn ang="0">
                  <a:pos x="8352" y="4395"/>
                </a:cxn>
                <a:cxn ang="0">
                  <a:pos x="7044" y="4457"/>
                </a:cxn>
                <a:cxn ang="0">
                  <a:pos x="5767" y="4769"/>
                </a:cxn>
                <a:cxn ang="0">
                  <a:pos x="4558" y="5329"/>
                </a:cxn>
                <a:cxn ang="0">
                  <a:pos x="3457" y="6139"/>
                </a:cxn>
                <a:cxn ang="0">
                  <a:pos x="3129" y="6456"/>
                </a:cxn>
                <a:cxn ang="0">
                  <a:pos x="2045" y="5322"/>
                </a:cxn>
                <a:cxn ang="0">
                  <a:pos x="2731" y="4697"/>
                </a:cxn>
                <a:cxn ang="0">
                  <a:pos x="4122" y="3779"/>
                </a:cxn>
                <a:cxn ang="0">
                  <a:pos x="5635" y="3166"/>
                </a:cxn>
                <a:cxn ang="0">
                  <a:pos x="7219" y="2859"/>
                </a:cxn>
                <a:cxn ang="0">
                  <a:pos x="8829" y="2859"/>
                </a:cxn>
                <a:cxn ang="0">
                  <a:pos x="10413" y="3165"/>
                </a:cxn>
                <a:cxn ang="0">
                  <a:pos x="11926" y="3777"/>
                </a:cxn>
                <a:cxn ang="0">
                  <a:pos x="13318" y="4696"/>
                </a:cxn>
                <a:cxn ang="0">
                  <a:pos x="14005" y="5321"/>
                </a:cxn>
                <a:cxn ang="0">
                  <a:pos x="10854" y="8576"/>
                </a:cxn>
                <a:cxn ang="0">
                  <a:pos x="10754" y="8472"/>
                </a:cxn>
                <a:cxn ang="0">
                  <a:pos x="10150" y="7980"/>
                </a:cxn>
                <a:cxn ang="0">
                  <a:pos x="9479" y="7627"/>
                </a:cxn>
                <a:cxn ang="0">
                  <a:pos x="8762" y="7416"/>
                </a:cxn>
                <a:cxn ang="0">
                  <a:pos x="8025" y="7345"/>
                </a:cxn>
                <a:cxn ang="0">
                  <a:pos x="7287" y="7416"/>
                </a:cxn>
                <a:cxn ang="0">
                  <a:pos x="6571" y="7627"/>
                </a:cxn>
                <a:cxn ang="0">
                  <a:pos x="5900" y="7980"/>
                </a:cxn>
                <a:cxn ang="0">
                  <a:pos x="5297" y="8473"/>
                </a:cxn>
                <a:cxn ang="0">
                  <a:pos x="5198" y="8576"/>
                </a:cxn>
                <a:cxn ang="0">
                  <a:pos x="4197" y="7425"/>
                </a:cxn>
                <a:cxn ang="0">
                  <a:pos x="4843" y="6865"/>
                </a:cxn>
                <a:cxn ang="0">
                  <a:pos x="5758" y="6325"/>
                </a:cxn>
                <a:cxn ang="0">
                  <a:pos x="6743" y="5981"/>
                </a:cxn>
                <a:cxn ang="0">
                  <a:pos x="7766" y="5833"/>
                </a:cxn>
                <a:cxn ang="0">
                  <a:pos x="8797" y="5882"/>
                </a:cxn>
                <a:cxn ang="0">
                  <a:pos x="9806" y="6127"/>
                </a:cxn>
                <a:cxn ang="0">
                  <a:pos x="10760" y="6570"/>
                </a:cxn>
                <a:cxn ang="0">
                  <a:pos x="11627" y="7208"/>
                </a:cxn>
                <a:cxn ang="0">
                  <a:pos x="11903" y="7475"/>
                </a:cxn>
              </a:cxnLst>
              <a:rect l="0" t="0" r="r" b="b"/>
              <a:pathLst>
                <a:path w="16050" h="8576">
                  <a:moveTo>
                    <a:pt x="15950" y="3273"/>
                  </a:moveTo>
                  <a:lnTo>
                    <a:pt x="15975" y="3299"/>
                  </a:lnTo>
                  <a:lnTo>
                    <a:pt x="16000" y="3324"/>
                  </a:lnTo>
                  <a:lnTo>
                    <a:pt x="16025" y="3351"/>
                  </a:lnTo>
                  <a:lnTo>
                    <a:pt x="16050" y="3377"/>
                  </a:lnTo>
                  <a:lnTo>
                    <a:pt x="15025" y="4402"/>
                  </a:lnTo>
                  <a:lnTo>
                    <a:pt x="15000" y="4377"/>
                  </a:lnTo>
                  <a:lnTo>
                    <a:pt x="14975" y="4351"/>
                  </a:lnTo>
                  <a:lnTo>
                    <a:pt x="14950" y="4325"/>
                  </a:lnTo>
                  <a:lnTo>
                    <a:pt x="14923" y="4300"/>
                  </a:lnTo>
                  <a:lnTo>
                    <a:pt x="14560" y="3955"/>
                  </a:lnTo>
                  <a:lnTo>
                    <a:pt x="14184" y="3632"/>
                  </a:lnTo>
                  <a:lnTo>
                    <a:pt x="13796" y="3330"/>
                  </a:lnTo>
                  <a:lnTo>
                    <a:pt x="13396" y="3053"/>
                  </a:lnTo>
                  <a:lnTo>
                    <a:pt x="12984" y="2797"/>
                  </a:lnTo>
                  <a:lnTo>
                    <a:pt x="12564" y="2563"/>
                  </a:lnTo>
                  <a:lnTo>
                    <a:pt x="12136" y="2351"/>
                  </a:lnTo>
                  <a:lnTo>
                    <a:pt x="11698" y="2161"/>
                  </a:lnTo>
                  <a:lnTo>
                    <a:pt x="11254" y="1995"/>
                  </a:lnTo>
                  <a:lnTo>
                    <a:pt x="10805" y="1850"/>
                  </a:lnTo>
                  <a:lnTo>
                    <a:pt x="10349" y="1728"/>
                  </a:lnTo>
                  <a:lnTo>
                    <a:pt x="9889" y="1628"/>
                  </a:lnTo>
                  <a:lnTo>
                    <a:pt x="9426" y="1549"/>
                  </a:lnTo>
                  <a:lnTo>
                    <a:pt x="8960" y="1494"/>
                  </a:lnTo>
                  <a:lnTo>
                    <a:pt x="8492" y="1461"/>
                  </a:lnTo>
                  <a:lnTo>
                    <a:pt x="8024" y="1450"/>
                  </a:lnTo>
                  <a:lnTo>
                    <a:pt x="7556" y="1461"/>
                  </a:lnTo>
                  <a:lnTo>
                    <a:pt x="7087" y="1494"/>
                  </a:lnTo>
                  <a:lnTo>
                    <a:pt x="6622" y="1550"/>
                  </a:lnTo>
                  <a:lnTo>
                    <a:pt x="6158" y="1629"/>
                  </a:lnTo>
                  <a:lnTo>
                    <a:pt x="5699" y="1729"/>
                  </a:lnTo>
                  <a:lnTo>
                    <a:pt x="5243" y="1851"/>
                  </a:lnTo>
                  <a:lnTo>
                    <a:pt x="4793" y="1996"/>
                  </a:lnTo>
                  <a:lnTo>
                    <a:pt x="4350" y="2163"/>
                  </a:lnTo>
                  <a:lnTo>
                    <a:pt x="3912" y="2352"/>
                  </a:lnTo>
                  <a:lnTo>
                    <a:pt x="3483" y="2564"/>
                  </a:lnTo>
                  <a:lnTo>
                    <a:pt x="3064" y="2799"/>
                  </a:lnTo>
                  <a:lnTo>
                    <a:pt x="2652" y="3055"/>
                  </a:lnTo>
                  <a:lnTo>
                    <a:pt x="2253" y="3332"/>
                  </a:lnTo>
                  <a:lnTo>
                    <a:pt x="1864" y="3634"/>
                  </a:lnTo>
                  <a:lnTo>
                    <a:pt x="1488" y="3957"/>
                  </a:lnTo>
                  <a:lnTo>
                    <a:pt x="1125" y="4302"/>
                  </a:lnTo>
                  <a:lnTo>
                    <a:pt x="1099" y="4327"/>
                  </a:lnTo>
                  <a:lnTo>
                    <a:pt x="1075" y="4353"/>
                  </a:lnTo>
                  <a:lnTo>
                    <a:pt x="1050" y="4378"/>
                  </a:lnTo>
                  <a:lnTo>
                    <a:pt x="1025" y="4404"/>
                  </a:lnTo>
                  <a:lnTo>
                    <a:pt x="0" y="3378"/>
                  </a:lnTo>
                  <a:lnTo>
                    <a:pt x="24" y="3353"/>
                  </a:lnTo>
                  <a:lnTo>
                    <a:pt x="49" y="3326"/>
                  </a:lnTo>
                  <a:lnTo>
                    <a:pt x="74" y="3301"/>
                  </a:lnTo>
                  <a:lnTo>
                    <a:pt x="99" y="3276"/>
                  </a:lnTo>
                  <a:lnTo>
                    <a:pt x="516" y="2880"/>
                  </a:lnTo>
                  <a:lnTo>
                    <a:pt x="948" y="2509"/>
                  </a:lnTo>
                  <a:lnTo>
                    <a:pt x="1394" y="2162"/>
                  </a:lnTo>
                  <a:lnTo>
                    <a:pt x="1854" y="1843"/>
                  </a:lnTo>
                  <a:lnTo>
                    <a:pt x="2325" y="1549"/>
                  </a:lnTo>
                  <a:lnTo>
                    <a:pt x="2808" y="1280"/>
                  </a:lnTo>
                  <a:lnTo>
                    <a:pt x="3301" y="1037"/>
                  </a:lnTo>
                  <a:lnTo>
                    <a:pt x="3803" y="820"/>
                  </a:lnTo>
                  <a:lnTo>
                    <a:pt x="4312" y="627"/>
                  </a:lnTo>
                  <a:lnTo>
                    <a:pt x="4830" y="461"/>
                  </a:lnTo>
                  <a:lnTo>
                    <a:pt x="5353" y="320"/>
                  </a:lnTo>
                  <a:lnTo>
                    <a:pt x="5881" y="205"/>
                  </a:lnTo>
                  <a:lnTo>
                    <a:pt x="6413" y="115"/>
                  </a:lnTo>
                  <a:lnTo>
                    <a:pt x="6949" y="51"/>
                  </a:lnTo>
                  <a:lnTo>
                    <a:pt x="7485" y="13"/>
                  </a:lnTo>
                  <a:lnTo>
                    <a:pt x="8024" y="0"/>
                  </a:lnTo>
                  <a:lnTo>
                    <a:pt x="8562" y="13"/>
                  </a:lnTo>
                  <a:lnTo>
                    <a:pt x="9099" y="51"/>
                  </a:lnTo>
                  <a:lnTo>
                    <a:pt x="9634" y="115"/>
                  </a:lnTo>
                  <a:lnTo>
                    <a:pt x="10167" y="205"/>
                  </a:lnTo>
                  <a:lnTo>
                    <a:pt x="10694" y="319"/>
                  </a:lnTo>
                  <a:lnTo>
                    <a:pt x="11218" y="460"/>
                  </a:lnTo>
                  <a:lnTo>
                    <a:pt x="11735" y="626"/>
                  </a:lnTo>
                  <a:lnTo>
                    <a:pt x="12245" y="818"/>
                  </a:lnTo>
                  <a:lnTo>
                    <a:pt x="12747" y="1036"/>
                  </a:lnTo>
                  <a:lnTo>
                    <a:pt x="13239" y="1278"/>
                  </a:lnTo>
                  <a:lnTo>
                    <a:pt x="13722" y="1547"/>
                  </a:lnTo>
                  <a:lnTo>
                    <a:pt x="14194" y="1841"/>
                  </a:lnTo>
                  <a:lnTo>
                    <a:pt x="14654" y="2160"/>
                  </a:lnTo>
                  <a:lnTo>
                    <a:pt x="15100" y="2506"/>
                  </a:lnTo>
                  <a:lnTo>
                    <a:pt x="15532" y="2877"/>
                  </a:lnTo>
                  <a:lnTo>
                    <a:pt x="15950" y="3273"/>
                  </a:lnTo>
                  <a:close/>
                  <a:moveTo>
                    <a:pt x="14055" y="5373"/>
                  </a:moveTo>
                  <a:lnTo>
                    <a:pt x="12946" y="6481"/>
                  </a:lnTo>
                  <a:lnTo>
                    <a:pt x="12921" y="6456"/>
                  </a:lnTo>
                  <a:lnTo>
                    <a:pt x="12897" y="6430"/>
                  </a:lnTo>
                  <a:lnTo>
                    <a:pt x="12871" y="6404"/>
                  </a:lnTo>
                  <a:lnTo>
                    <a:pt x="12846" y="6379"/>
                  </a:lnTo>
                  <a:lnTo>
                    <a:pt x="12592" y="6137"/>
                  </a:lnTo>
                  <a:lnTo>
                    <a:pt x="12329" y="5912"/>
                  </a:lnTo>
                  <a:lnTo>
                    <a:pt x="12058" y="5702"/>
                  </a:lnTo>
                  <a:lnTo>
                    <a:pt x="11778" y="5507"/>
                  </a:lnTo>
                  <a:lnTo>
                    <a:pt x="11491" y="5328"/>
                  </a:lnTo>
                  <a:lnTo>
                    <a:pt x="11198" y="5165"/>
                  </a:lnTo>
                  <a:lnTo>
                    <a:pt x="10898" y="5017"/>
                  </a:lnTo>
                  <a:lnTo>
                    <a:pt x="10592" y="4885"/>
                  </a:lnTo>
                  <a:lnTo>
                    <a:pt x="10282" y="4768"/>
                  </a:lnTo>
                  <a:lnTo>
                    <a:pt x="9967" y="4667"/>
                  </a:lnTo>
                  <a:lnTo>
                    <a:pt x="9649" y="4582"/>
                  </a:lnTo>
                  <a:lnTo>
                    <a:pt x="9328" y="4512"/>
                  </a:lnTo>
                  <a:lnTo>
                    <a:pt x="9004" y="4457"/>
                  </a:lnTo>
                  <a:lnTo>
                    <a:pt x="8679" y="4418"/>
                  </a:lnTo>
                  <a:lnTo>
                    <a:pt x="8352" y="4395"/>
                  </a:lnTo>
                  <a:lnTo>
                    <a:pt x="8024" y="4387"/>
                  </a:lnTo>
                  <a:lnTo>
                    <a:pt x="7697" y="4395"/>
                  </a:lnTo>
                  <a:lnTo>
                    <a:pt x="7370" y="4418"/>
                  </a:lnTo>
                  <a:lnTo>
                    <a:pt x="7044" y="4457"/>
                  </a:lnTo>
                  <a:lnTo>
                    <a:pt x="6721" y="4512"/>
                  </a:lnTo>
                  <a:lnTo>
                    <a:pt x="6399" y="4582"/>
                  </a:lnTo>
                  <a:lnTo>
                    <a:pt x="6081" y="4668"/>
                  </a:lnTo>
                  <a:lnTo>
                    <a:pt x="5767" y="4769"/>
                  </a:lnTo>
                  <a:lnTo>
                    <a:pt x="5457" y="4886"/>
                  </a:lnTo>
                  <a:lnTo>
                    <a:pt x="5151" y="5018"/>
                  </a:lnTo>
                  <a:lnTo>
                    <a:pt x="4851" y="5166"/>
                  </a:lnTo>
                  <a:lnTo>
                    <a:pt x="4558" y="5329"/>
                  </a:lnTo>
                  <a:lnTo>
                    <a:pt x="4271" y="5509"/>
                  </a:lnTo>
                  <a:lnTo>
                    <a:pt x="3991" y="5703"/>
                  </a:lnTo>
                  <a:lnTo>
                    <a:pt x="3720" y="5913"/>
                  </a:lnTo>
                  <a:lnTo>
                    <a:pt x="3457" y="6139"/>
                  </a:lnTo>
                  <a:lnTo>
                    <a:pt x="3203" y="6380"/>
                  </a:lnTo>
                  <a:lnTo>
                    <a:pt x="3178" y="6406"/>
                  </a:lnTo>
                  <a:lnTo>
                    <a:pt x="3154" y="6431"/>
                  </a:lnTo>
                  <a:lnTo>
                    <a:pt x="3129" y="6456"/>
                  </a:lnTo>
                  <a:lnTo>
                    <a:pt x="3104" y="6482"/>
                  </a:lnTo>
                  <a:lnTo>
                    <a:pt x="1996" y="5374"/>
                  </a:lnTo>
                  <a:lnTo>
                    <a:pt x="2020" y="5348"/>
                  </a:lnTo>
                  <a:lnTo>
                    <a:pt x="2045" y="5322"/>
                  </a:lnTo>
                  <a:lnTo>
                    <a:pt x="2069" y="5297"/>
                  </a:lnTo>
                  <a:lnTo>
                    <a:pt x="2095" y="5272"/>
                  </a:lnTo>
                  <a:lnTo>
                    <a:pt x="2406" y="4975"/>
                  </a:lnTo>
                  <a:lnTo>
                    <a:pt x="2731" y="4697"/>
                  </a:lnTo>
                  <a:lnTo>
                    <a:pt x="3065" y="4439"/>
                  </a:lnTo>
                  <a:lnTo>
                    <a:pt x="3408" y="4199"/>
                  </a:lnTo>
                  <a:lnTo>
                    <a:pt x="3761" y="3980"/>
                  </a:lnTo>
                  <a:lnTo>
                    <a:pt x="4122" y="3779"/>
                  </a:lnTo>
                  <a:lnTo>
                    <a:pt x="4491" y="3596"/>
                  </a:lnTo>
                  <a:lnTo>
                    <a:pt x="4866" y="3434"/>
                  </a:lnTo>
                  <a:lnTo>
                    <a:pt x="5247" y="3290"/>
                  </a:lnTo>
                  <a:lnTo>
                    <a:pt x="5635" y="3166"/>
                  </a:lnTo>
                  <a:lnTo>
                    <a:pt x="6026" y="3061"/>
                  </a:lnTo>
                  <a:lnTo>
                    <a:pt x="6421" y="2974"/>
                  </a:lnTo>
                  <a:lnTo>
                    <a:pt x="6819" y="2907"/>
                  </a:lnTo>
                  <a:lnTo>
                    <a:pt x="7219" y="2859"/>
                  </a:lnTo>
                  <a:lnTo>
                    <a:pt x="7622" y="2831"/>
                  </a:lnTo>
                  <a:lnTo>
                    <a:pt x="8024" y="2821"/>
                  </a:lnTo>
                  <a:lnTo>
                    <a:pt x="8427" y="2831"/>
                  </a:lnTo>
                  <a:lnTo>
                    <a:pt x="8829" y="2859"/>
                  </a:lnTo>
                  <a:lnTo>
                    <a:pt x="9229" y="2907"/>
                  </a:lnTo>
                  <a:lnTo>
                    <a:pt x="9627" y="2973"/>
                  </a:lnTo>
                  <a:lnTo>
                    <a:pt x="10022" y="3060"/>
                  </a:lnTo>
                  <a:lnTo>
                    <a:pt x="10413" y="3165"/>
                  </a:lnTo>
                  <a:lnTo>
                    <a:pt x="10801" y="3289"/>
                  </a:lnTo>
                  <a:lnTo>
                    <a:pt x="11182" y="3433"/>
                  </a:lnTo>
                  <a:lnTo>
                    <a:pt x="11558" y="3595"/>
                  </a:lnTo>
                  <a:lnTo>
                    <a:pt x="11926" y="3777"/>
                  </a:lnTo>
                  <a:lnTo>
                    <a:pt x="12287" y="3978"/>
                  </a:lnTo>
                  <a:lnTo>
                    <a:pt x="12640" y="4198"/>
                  </a:lnTo>
                  <a:lnTo>
                    <a:pt x="12984" y="4437"/>
                  </a:lnTo>
                  <a:lnTo>
                    <a:pt x="13318" y="4696"/>
                  </a:lnTo>
                  <a:lnTo>
                    <a:pt x="13641" y="4973"/>
                  </a:lnTo>
                  <a:lnTo>
                    <a:pt x="13954" y="5270"/>
                  </a:lnTo>
                  <a:lnTo>
                    <a:pt x="13980" y="5295"/>
                  </a:lnTo>
                  <a:lnTo>
                    <a:pt x="14005" y="5321"/>
                  </a:lnTo>
                  <a:lnTo>
                    <a:pt x="14030" y="5347"/>
                  </a:lnTo>
                  <a:lnTo>
                    <a:pt x="14055" y="5373"/>
                  </a:lnTo>
                  <a:close/>
                  <a:moveTo>
                    <a:pt x="11928" y="7501"/>
                  </a:moveTo>
                  <a:lnTo>
                    <a:pt x="10854" y="8576"/>
                  </a:lnTo>
                  <a:lnTo>
                    <a:pt x="10829" y="8549"/>
                  </a:lnTo>
                  <a:lnTo>
                    <a:pt x="10805" y="8523"/>
                  </a:lnTo>
                  <a:lnTo>
                    <a:pt x="10780" y="8498"/>
                  </a:lnTo>
                  <a:lnTo>
                    <a:pt x="10754" y="8472"/>
                  </a:lnTo>
                  <a:lnTo>
                    <a:pt x="10610" y="8336"/>
                  </a:lnTo>
                  <a:lnTo>
                    <a:pt x="10462" y="8208"/>
                  </a:lnTo>
                  <a:lnTo>
                    <a:pt x="10307" y="8089"/>
                  </a:lnTo>
                  <a:lnTo>
                    <a:pt x="10150" y="7980"/>
                  </a:lnTo>
                  <a:lnTo>
                    <a:pt x="9987" y="7878"/>
                  </a:lnTo>
                  <a:lnTo>
                    <a:pt x="9821" y="7785"/>
                  </a:lnTo>
                  <a:lnTo>
                    <a:pt x="9651" y="7702"/>
                  </a:lnTo>
                  <a:lnTo>
                    <a:pt x="9479" y="7627"/>
                  </a:lnTo>
                  <a:lnTo>
                    <a:pt x="9303" y="7561"/>
                  </a:lnTo>
                  <a:lnTo>
                    <a:pt x="9124" y="7504"/>
                  </a:lnTo>
                  <a:lnTo>
                    <a:pt x="8945" y="7456"/>
                  </a:lnTo>
                  <a:lnTo>
                    <a:pt x="8762" y="7416"/>
                  </a:lnTo>
                  <a:lnTo>
                    <a:pt x="8580" y="7384"/>
                  </a:lnTo>
                  <a:lnTo>
                    <a:pt x="8395" y="7362"/>
                  </a:lnTo>
                  <a:lnTo>
                    <a:pt x="8210" y="7349"/>
                  </a:lnTo>
                  <a:lnTo>
                    <a:pt x="8025" y="7345"/>
                  </a:lnTo>
                  <a:lnTo>
                    <a:pt x="7839" y="7349"/>
                  </a:lnTo>
                  <a:lnTo>
                    <a:pt x="7655" y="7363"/>
                  </a:lnTo>
                  <a:lnTo>
                    <a:pt x="7470" y="7385"/>
                  </a:lnTo>
                  <a:lnTo>
                    <a:pt x="7287" y="7416"/>
                  </a:lnTo>
                  <a:lnTo>
                    <a:pt x="7105" y="7456"/>
                  </a:lnTo>
                  <a:lnTo>
                    <a:pt x="6926" y="7504"/>
                  </a:lnTo>
                  <a:lnTo>
                    <a:pt x="6747" y="7561"/>
                  </a:lnTo>
                  <a:lnTo>
                    <a:pt x="6571" y="7627"/>
                  </a:lnTo>
                  <a:lnTo>
                    <a:pt x="6399" y="7703"/>
                  </a:lnTo>
                  <a:lnTo>
                    <a:pt x="6229" y="7786"/>
                  </a:lnTo>
                  <a:lnTo>
                    <a:pt x="6063" y="7878"/>
                  </a:lnTo>
                  <a:lnTo>
                    <a:pt x="5900" y="7980"/>
                  </a:lnTo>
                  <a:lnTo>
                    <a:pt x="5742" y="8090"/>
                  </a:lnTo>
                  <a:lnTo>
                    <a:pt x="5588" y="8209"/>
                  </a:lnTo>
                  <a:lnTo>
                    <a:pt x="5440" y="8337"/>
                  </a:lnTo>
                  <a:lnTo>
                    <a:pt x="5297" y="8473"/>
                  </a:lnTo>
                  <a:lnTo>
                    <a:pt x="5271" y="8498"/>
                  </a:lnTo>
                  <a:lnTo>
                    <a:pt x="5246" y="8524"/>
                  </a:lnTo>
                  <a:lnTo>
                    <a:pt x="5222" y="8550"/>
                  </a:lnTo>
                  <a:lnTo>
                    <a:pt x="5198" y="8576"/>
                  </a:lnTo>
                  <a:lnTo>
                    <a:pt x="4123" y="7501"/>
                  </a:lnTo>
                  <a:lnTo>
                    <a:pt x="4147" y="7476"/>
                  </a:lnTo>
                  <a:lnTo>
                    <a:pt x="4172" y="7450"/>
                  </a:lnTo>
                  <a:lnTo>
                    <a:pt x="4197" y="7425"/>
                  </a:lnTo>
                  <a:lnTo>
                    <a:pt x="4222" y="7399"/>
                  </a:lnTo>
                  <a:lnTo>
                    <a:pt x="4422" y="7209"/>
                  </a:lnTo>
                  <a:lnTo>
                    <a:pt x="4629" y="7030"/>
                  </a:lnTo>
                  <a:lnTo>
                    <a:pt x="4843" y="6865"/>
                  </a:lnTo>
                  <a:lnTo>
                    <a:pt x="5064" y="6711"/>
                  </a:lnTo>
                  <a:lnTo>
                    <a:pt x="5290" y="6571"/>
                  </a:lnTo>
                  <a:lnTo>
                    <a:pt x="5522" y="6441"/>
                  </a:lnTo>
                  <a:lnTo>
                    <a:pt x="5758" y="6325"/>
                  </a:lnTo>
                  <a:lnTo>
                    <a:pt x="6000" y="6220"/>
                  </a:lnTo>
                  <a:lnTo>
                    <a:pt x="6243" y="6128"/>
                  </a:lnTo>
                  <a:lnTo>
                    <a:pt x="6492" y="6048"/>
                  </a:lnTo>
                  <a:lnTo>
                    <a:pt x="6743" y="5981"/>
                  </a:lnTo>
                  <a:lnTo>
                    <a:pt x="6997" y="5925"/>
                  </a:lnTo>
                  <a:lnTo>
                    <a:pt x="7252" y="5882"/>
                  </a:lnTo>
                  <a:lnTo>
                    <a:pt x="7508" y="5851"/>
                  </a:lnTo>
                  <a:lnTo>
                    <a:pt x="7766" y="5833"/>
                  </a:lnTo>
                  <a:lnTo>
                    <a:pt x="8025" y="5827"/>
                  </a:lnTo>
                  <a:lnTo>
                    <a:pt x="8283" y="5833"/>
                  </a:lnTo>
                  <a:lnTo>
                    <a:pt x="8541" y="5851"/>
                  </a:lnTo>
                  <a:lnTo>
                    <a:pt x="8797" y="5882"/>
                  </a:lnTo>
                  <a:lnTo>
                    <a:pt x="9053" y="5925"/>
                  </a:lnTo>
                  <a:lnTo>
                    <a:pt x="9306" y="5981"/>
                  </a:lnTo>
                  <a:lnTo>
                    <a:pt x="9557" y="6048"/>
                  </a:lnTo>
                  <a:lnTo>
                    <a:pt x="9806" y="6127"/>
                  </a:lnTo>
                  <a:lnTo>
                    <a:pt x="10050" y="6219"/>
                  </a:lnTo>
                  <a:lnTo>
                    <a:pt x="10291" y="6324"/>
                  </a:lnTo>
                  <a:lnTo>
                    <a:pt x="10528" y="6440"/>
                  </a:lnTo>
                  <a:lnTo>
                    <a:pt x="10760" y="6570"/>
                  </a:lnTo>
                  <a:lnTo>
                    <a:pt x="10985" y="6710"/>
                  </a:lnTo>
                  <a:lnTo>
                    <a:pt x="11206" y="6864"/>
                  </a:lnTo>
                  <a:lnTo>
                    <a:pt x="11421" y="7029"/>
                  </a:lnTo>
                  <a:lnTo>
                    <a:pt x="11627" y="7208"/>
                  </a:lnTo>
                  <a:lnTo>
                    <a:pt x="11828" y="7398"/>
                  </a:lnTo>
                  <a:lnTo>
                    <a:pt x="11853" y="7424"/>
                  </a:lnTo>
                  <a:lnTo>
                    <a:pt x="11878" y="7449"/>
                  </a:lnTo>
                  <a:lnTo>
                    <a:pt x="11903" y="7475"/>
                  </a:lnTo>
                  <a:lnTo>
                    <a:pt x="11928" y="7501"/>
                  </a:lnTo>
                  <a:close/>
                </a:path>
              </a:pathLst>
            </a:custGeom>
            <a:grpFill/>
            <a:ln w="9525">
              <a:noFill/>
              <a:round/>
              <a:headEnd/>
              <a:tailEnd/>
            </a:ln>
          </p:spPr>
          <p:txBody>
            <a:bodyPr/>
            <a:lstStyle/>
            <a:p>
              <a:pPr algn="ctr" eaLnBrk="1" fontAlgn="auto" hangingPunct="1">
                <a:spcBef>
                  <a:spcPts val="0"/>
                </a:spcBef>
                <a:spcAft>
                  <a:spcPts val="0"/>
                </a:spcAft>
                <a:defRPr/>
              </a:pPr>
              <a:endParaRPr lang="zh-CN" altLang="en-US" sz="1200" ker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99" name="Freeform 3"/>
          <p:cNvSpPr>
            <a:spLocks/>
          </p:cNvSpPr>
          <p:nvPr/>
        </p:nvSpPr>
        <p:spPr bwMode="gray">
          <a:xfrm flipV="1">
            <a:off x="2072698" y="1708722"/>
            <a:ext cx="1362281" cy="759277"/>
          </a:xfrm>
          <a:custGeom>
            <a:avLst/>
            <a:gdLst>
              <a:gd name="T0" fmla="*/ 0 w 5016"/>
              <a:gd name="T1" fmla="*/ 2147483647 h 2256"/>
              <a:gd name="T2" fmla="*/ 2147483647 w 5016"/>
              <a:gd name="T3" fmla="*/ 2147483647 h 2256"/>
              <a:gd name="T4" fmla="*/ 2147483647 w 5016"/>
              <a:gd name="T5" fmla="*/ 2147483647 h 2256"/>
              <a:gd name="T6" fmla="*/ 2147483647 w 5016"/>
              <a:gd name="T7" fmla="*/ 2147483647 h 2256"/>
              <a:gd name="T8" fmla="*/ 2147483647 w 5016"/>
              <a:gd name="T9" fmla="*/ 2147483647 h 2256"/>
              <a:gd name="T10" fmla="*/ 2147483647 w 5016"/>
              <a:gd name="T11" fmla="*/ 2147483647 h 2256"/>
              <a:gd name="T12" fmla="*/ 2147483647 w 5016"/>
              <a:gd name="T13" fmla="*/ 2147483647 h 2256"/>
              <a:gd name="T14" fmla="*/ 2147483647 w 5016"/>
              <a:gd name="T15" fmla="*/ 2147483647 h 2256"/>
              <a:gd name="T16" fmla="*/ 2147483647 w 5016"/>
              <a:gd name="T17" fmla="*/ 2147483647 h 2256"/>
              <a:gd name="T18" fmla="*/ 2147483647 w 5016"/>
              <a:gd name="T19" fmla="*/ 0 h 2256"/>
              <a:gd name="T20" fmla="*/ 2147483647 w 5016"/>
              <a:gd name="T21" fmla="*/ 2147483647 h 2256"/>
              <a:gd name="T22" fmla="*/ 2147483647 w 5016"/>
              <a:gd name="T23" fmla="*/ 2147483647 h 2256"/>
              <a:gd name="T24" fmla="*/ 2147483647 w 5016"/>
              <a:gd name="T25" fmla="*/ 2147483647 h 2256"/>
              <a:gd name="T26" fmla="*/ 2147483647 w 5016"/>
              <a:gd name="T27" fmla="*/ 2147483647 h 2256"/>
              <a:gd name="T28" fmla="*/ 2147483647 w 5016"/>
              <a:gd name="T29" fmla="*/ 2147483647 h 2256"/>
              <a:gd name="T30" fmla="*/ 2147483647 w 5016"/>
              <a:gd name="T31" fmla="*/ 2147483647 h 2256"/>
              <a:gd name="T32" fmla="*/ 2147483647 w 5016"/>
              <a:gd name="T33" fmla="*/ 2147483647 h 2256"/>
              <a:gd name="T34" fmla="*/ 2147483647 w 5016"/>
              <a:gd name="T35" fmla="*/ 2147483647 h 2256"/>
              <a:gd name="T36" fmla="*/ 2147483647 w 5016"/>
              <a:gd name="T37" fmla="*/ 2147483647 h 2256"/>
              <a:gd name="T38" fmla="*/ 0 w 5016"/>
              <a:gd name="T39" fmla="*/ 2147483647 h 225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5016"/>
              <a:gd name="T61" fmla="*/ 0 h 2256"/>
              <a:gd name="T62" fmla="*/ 5016 w 5016"/>
              <a:gd name="T63" fmla="*/ 2256 h 225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5016" h="2256">
                <a:moveTo>
                  <a:pt x="0" y="2240"/>
                </a:moveTo>
                <a:cubicBezTo>
                  <a:pt x="276" y="2109"/>
                  <a:pt x="1182" y="1474"/>
                  <a:pt x="1122" y="702"/>
                </a:cubicBezTo>
                <a:lnTo>
                  <a:pt x="972" y="744"/>
                </a:lnTo>
                <a:cubicBezTo>
                  <a:pt x="988" y="702"/>
                  <a:pt x="1140" y="436"/>
                  <a:pt x="1140" y="438"/>
                </a:cubicBezTo>
                <a:lnTo>
                  <a:pt x="1422" y="642"/>
                </a:lnTo>
                <a:cubicBezTo>
                  <a:pt x="1422" y="642"/>
                  <a:pt x="1260" y="672"/>
                  <a:pt x="1272" y="672"/>
                </a:cubicBezTo>
                <a:cubicBezTo>
                  <a:pt x="1428" y="1008"/>
                  <a:pt x="1620" y="1350"/>
                  <a:pt x="1968" y="1284"/>
                </a:cubicBezTo>
                <a:cubicBezTo>
                  <a:pt x="2316" y="1218"/>
                  <a:pt x="2460" y="576"/>
                  <a:pt x="2466" y="318"/>
                </a:cubicBezTo>
                <a:lnTo>
                  <a:pt x="2280" y="318"/>
                </a:lnTo>
                <a:lnTo>
                  <a:pt x="2598" y="0"/>
                </a:lnTo>
                <a:lnTo>
                  <a:pt x="2898" y="330"/>
                </a:lnTo>
                <a:lnTo>
                  <a:pt x="2724" y="324"/>
                </a:lnTo>
                <a:cubicBezTo>
                  <a:pt x="2724" y="325"/>
                  <a:pt x="2760" y="1284"/>
                  <a:pt x="3210" y="1302"/>
                </a:cubicBezTo>
                <a:cubicBezTo>
                  <a:pt x="3660" y="1320"/>
                  <a:pt x="3816" y="912"/>
                  <a:pt x="3870" y="654"/>
                </a:cubicBezTo>
                <a:lnTo>
                  <a:pt x="3702" y="642"/>
                </a:lnTo>
                <a:lnTo>
                  <a:pt x="3984" y="420"/>
                </a:lnTo>
                <a:lnTo>
                  <a:pt x="4182" y="678"/>
                </a:lnTo>
                <a:lnTo>
                  <a:pt x="4026" y="672"/>
                </a:lnTo>
                <a:cubicBezTo>
                  <a:pt x="4032" y="678"/>
                  <a:pt x="3960" y="1862"/>
                  <a:pt x="5016" y="2225"/>
                </a:cubicBezTo>
                <a:cubicBezTo>
                  <a:pt x="3438" y="2232"/>
                  <a:pt x="1092" y="2256"/>
                  <a:pt x="0" y="2240"/>
                </a:cubicBezTo>
                <a:close/>
              </a:path>
            </a:pathLst>
          </a:custGeom>
          <a:gradFill flip="none" rotWithShape="1">
            <a:gsLst>
              <a:gs pos="0">
                <a:schemeClr val="bg1"/>
              </a:gs>
              <a:gs pos="81000">
                <a:srgbClr val="BEE9EE"/>
              </a:gs>
            </a:gsLst>
            <a:lin ang="16200000" scaled="0"/>
            <a:tileRect/>
          </a:gradFill>
          <a:ln w="15875">
            <a:gradFill flip="none" rotWithShape="1">
              <a:gsLst>
                <a:gs pos="0">
                  <a:schemeClr val="bg1"/>
                </a:gs>
                <a:gs pos="93000">
                  <a:srgbClr val="56C4D2"/>
                </a:gs>
              </a:gsLst>
              <a:lin ang="16200000" scaled="0"/>
              <a:tileRect/>
            </a:gradFill>
          </a:ln>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99"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0" name="文本框 99"/>
          <p:cNvSpPr txBox="1"/>
          <p:nvPr/>
        </p:nvSpPr>
        <p:spPr bwMode="gray">
          <a:xfrm>
            <a:off x="3945508" y="3645408"/>
            <a:ext cx="702436" cy="276999"/>
          </a:xfrm>
          <a:prstGeom prst="rect">
            <a:avLst/>
          </a:prstGeom>
          <a:noFill/>
        </p:spPr>
        <p:txBody>
          <a:bodyPr wrap="none" rtlCol="0">
            <a:spAutoFit/>
          </a:bodyPr>
          <a:lstStyle/>
          <a:p>
            <a:r>
              <a:rPr lang="en-US" altLang="zh-CN" sz="1200" b="1" dirty="0" smtClean="0">
                <a:latin typeface="Huawei Sans" panose="020C0503030203020204" pitchFamily="34" charset="0"/>
                <a:ea typeface="方正兰亭黑简体" panose="02000000000000000000" pitchFamily="2" charset="-122"/>
                <a:cs typeface="Huawei Sans" panose="020C0503030203020204" pitchFamily="34" charset="0"/>
              </a:rPr>
              <a:t>Edge_2</a:t>
            </a:r>
            <a:endParaRPr lang="zh-CN" altLang="en-US" sz="1200" b="1"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44" name="五边形 43"/>
          <p:cNvSpPr/>
          <p:nvPr/>
        </p:nvSpPr>
        <p:spPr bwMode="gray">
          <a:xfrm>
            <a:off x="5773628" y="98481"/>
            <a:ext cx="900000" cy="213120"/>
          </a:xfrm>
          <a:prstGeom prst="homePlate">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站点管理</a:t>
            </a:r>
          </a:p>
        </p:txBody>
      </p:sp>
      <p:sp>
        <p:nvSpPr>
          <p:cNvPr id="46" name="燕尾形 45"/>
          <p:cNvSpPr/>
          <p:nvPr/>
        </p:nvSpPr>
        <p:spPr bwMode="gray">
          <a:xfrm>
            <a:off x="9109268" y="9848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逻辑网络</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7" name="燕尾形 46"/>
          <p:cNvSpPr/>
          <p:nvPr/>
        </p:nvSpPr>
        <p:spPr bwMode="gray">
          <a:xfrm>
            <a:off x="9925178" y="9848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业务部署</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8" name="燕尾形 47"/>
          <p:cNvSpPr/>
          <p:nvPr/>
        </p:nvSpPr>
        <p:spPr bwMode="gray">
          <a:xfrm>
            <a:off x="8221358" y="98481"/>
            <a:ext cx="972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smtClean="0">
                <a:latin typeface="Huawei Sans" panose="020C0503030203020204" pitchFamily="34" charset="0"/>
                <a:ea typeface="方正兰亭黑简体" panose="02000000000000000000" pitchFamily="2" charset="-122"/>
                <a:sym typeface="Huawei Sans" panose="020C0503030203020204" pitchFamily="34" charset="0"/>
              </a:rPr>
              <a:t>Fabric</a:t>
            </a:r>
            <a:r>
              <a:rPr lang="zh-CN" altLang="en-US" sz="1200" kern="0" dirty="0" smtClean="0">
                <a:latin typeface="Huawei Sans" panose="020C0503030203020204" pitchFamily="34" charset="0"/>
                <a:ea typeface="方正兰亭黑简体" panose="02000000000000000000" pitchFamily="2" charset="-122"/>
                <a:sym typeface="Huawei Sans" panose="020C0503030203020204" pitchFamily="34" charset="0"/>
              </a:rPr>
              <a:t>网络</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9" name="燕尾形 48"/>
          <p:cNvSpPr/>
          <p:nvPr/>
        </p:nvSpPr>
        <p:spPr bwMode="gray">
          <a:xfrm>
            <a:off x="7405448" y="9848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网络规划</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0" name="燕尾形 49"/>
          <p:cNvSpPr/>
          <p:nvPr/>
        </p:nvSpPr>
        <p:spPr bwMode="gray">
          <a:xfrm>
            <a:off x="6589538" y="98481"/>
            <a:ext cx="9000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设备管理</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1" name="燕尾形 50"/>
          <p:cNvSpPr/>
          <p:nvPr/>
        </p:nvSpPr>
        <p:spPr bwMode="gray">
          <a:xfrm>
            <a:off x="10741088" y="98481"/>
            <a:ext cx="1008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WLAN</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业务</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1036262288"/>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p:cNvPicPr>
            <a:picLocks noChangeAspect="1"/>
          </p:cNvPicPr>
          <p:nvPr/>
        </p:nvPicPr>
        <p:blipFill>
          <a:blip r:embed="rId3"/>
          <a:stretch>
            <a:fillRect/>
          </a:stretch>
        </p:blipFill>
        <p:spPr bwMode="gray">
          <a:xfrm>
            <a:off x="924077" y="1870555"/>
            <a:ext cx="4753547" cy="3335586"/>
          </a:xfrm>
          <a:prstGeom prst="rect">
            <a:avLst/>
          </a:prstGeom>
          <a:ln w="12700">
            <a:solidFill>
              <a:schemeClr val="bg1">
                <a:lumMod val="85000"/>
              </a:schemeClr>
            </a:solidFill>
          </a:ln>
        </p:spPr>
      </p:pic>
      <p:sp>
        <p:nvSpPr>
          <p:cNvPr id="20" name="标题 19"/>
          <p:cNvSpPr>
            <a:spLocks noGrp="1"/>
          </p:cNvSpPr>
          <p:nvPr>
            <p:ph type="title"/>
          </p:nvPr>
        </p:nvSpPr>
        <p:spPr bwMode="gray"/>
        <p:txBody>
          <a:bodyPr>
            <a:normAutofit/>
          </a:bodyPr>
          <a:lstStyle/>
          <a:p>
            <a:r>
              <a:rPr lang="zh-CN" altLang="en-US" dirty="0" smtClean="0"/>
              <a:t>创建站点与添加设备方式</a:t>
            </a:r>
            <a:endParaRPr lang="zh-CN" altLang="en-US" dirty="0"/>
          </a:p>
        </p:txBody>
      </p:sp>
      <p:sp>
        <p:nvSpPr>
          <p:cNvPr id="4" name="圆角矩形 75"/>
          <p:cNvSpPr/>
          <p:nvPr/>
        </p:nvSpPr>
        <p:spPr bwMode="gray">
          <a:xfrm>
            <a:off x="738232" y="1030982"/>
            <a:ext cx="5125240" cy="360000"/>
          </a:xfrm>
          <a:prstGeom prst="roundRect">
            <a:avLst>
              <a:gd name="adj" fmla="val 10604"/>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600">
                <a:solidFill>
                  <a:srgbClr val="30B5C5"/>
                </a:solidFill>
                <a:latin typeface="Huawei Sans" panose="020C0503030203020204" pitchFamily="34" charset="0"/>
                <a:ea typeface="方正兰亭黑简体" panose="02000000000000000000" pitchFamily="2" charset="-122"/>
              </a:rPr>
              <a:t>单个创建</a:t>
            </a:r>
          </a:p>
        </p:txBody>
      </p:sp>
      <p:sp>
        <p:nvSpPr>
          <p:cNvPr id="5" name="圆角矩形 75"/>
          <p:cNvSpPr/>
          <p:nvPr/>
        </p:nvSpPr>
        <p:spPr bwMode="gray">
          <a:xfrm>
            <a:off x="738232" y="1433281"/>
            <a:ext cx="5125240" cy="4570065"/>
          </a:xfrm>
          <a:prstGeom prst="roundRect">
            <a:avLst>
              <a:gd name="adj" fmla="val 1025"/>
            </a:avLst>
          </a:prstGeom>
          <a:no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2000" tIns="72000" rIns="72000" bIns="72000" rtlCol="0" anchor="t" anchorCtr="0"/>
          <a:lstStyle/>
          <a:p>
            <a:pPr marL="182563" indent="-182563">
              <a:lnSpc>
                <a:spcPts val="2200"/>
              </a:lnSpc>
              <a:buFont typeface="+mj-lt"/>
              <a:buAutoNum type="arabicPeriod"/>
            </a:pPr>
            <a:endParaRPr lang="en-US" altLang="zh-CN" sz="1400" dirty="0">
              <a:solidFill>
                <a:schemeClr val="tx1">
                  <a:lumMod val="65000"/>
                  <a:lumOff val="35000"/>
                </a:schemeClr>
              </a:solidFill>
              <a:latin typeface="Arial" panose="020B0604020202020204" pitchFamily="34" charset="0"/>
              <a:ea typeface="微软雅黑" panose="020B0503020204020204" pitchFamily="34" charset="-122"/>
              <a:cs typeface="Arial" panose="020B0604020202020204" pitchFamily="34" charset="0"/>
            </a:endParaRPr>
          </a:p>
        </p:txBody>
      </p:sp>
      <p:sp>
        <p:nvSpPr>
          <p:cNvPr id="6" name="圆角矩形 75"/>
          <p:cNvSpPr/>
          <p:nvPr/>
        </p:nvSpPr>
        <p:spPr bwMode="gray">
          <a:xfrm>
            <a:off x="6014301" y="1030982"/>
            <a:ext cx="5445862" cy="360000"/>
          </a:xfrm>
          <a:prstGeom prst="roundRect">
            <a:avLst>
              <a:gd name="adj" fmla="val 10604"/>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600">
                <a:solidFill>
                  <a:srgbClr val="30B5C5"/>
                </a:solidFill>
                <a:latin typeface="Huawei Sans" panose="020C0503030203020204" pitchFamily="34" charset="0"/>
                <a:ea typeface="方正兰亭黑简体" panose="02000000000000000000" pitchFamily="2" charset="-122"/>
              </a:rPr>
              <a:t>批量创建</a:t>
            </a:r>
          </a:p>
        </p:txBody>
      </p:sp>
      <p:sp>
        <p:nvSpPr>
          <p:cNvPr id="7" name="圆角矩形 75"/>
          <p:cNvSpPr/>
          <p:nvPr/>
        </p:nvSpPr>
        <p:spPr bwMode="gray">
          <a:xfrm>
            <a:off x="6014301" y="1433281"/>
            <a:ext cx="5445862" cy="4570065"/>
          </a:xfrm>
          <a:prstGeom prst="roundRect">
            <a:avLst>
              <a:gd name="adj" fmla="val 1025"/>
            </a:avLst>
          </a:prstGeom>
          <a:no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2000" tIns="72000" rIns="72000" bIns="72000" rtlCol="0" anchor="t" anchorCtr="0"/>
          <a:lstStyle/>
          <a:p>
            <a:pPr marL="182563" indent="-182563">
              <a:lnSpc>
                <a:spcPts val="2200"/>
              </a:lnSpc>
              <a:buFont typeface="+mj-lt"/>
              <a:buAutoNum type="arabicPeriod"/>
            </a:pPr>
            <a:endParaRPr lang="en-US" altLang="zh-CN" sz="1400" dirty="0">
              <a:solidFill>
                <a:schemeClr val="tx1">
                  <a:lumMod val="65000"/>
                  <a:lumOff val="35000"/>
                </a:schemeClr>
              </a:solidFill>
              <a:latin typeface="Arial" panose="020B0604020202020204" pitchFamily="34" charset="0"/>
              <a:ea typeface="微软雅黑" panose="020B0503020204020204" pitchFamily="34" charset="-122"/>
              <a:cs typeface="Arial" panose="020B0604020202020204" pitchFamily="34" charset="0"/>
            </a:endParaRPr>
          </a:p>
        </p:txBody>
      </p:sp>
      <p:sp>
        <p:nvSpPr>
          <p:cNvPr id="10" name="TextBox 179"/>
          <p:cNvSpPr txBox="1"/>
          <p:nvPr/>
        </p:nvSpPr>
        <p:spPr bwMode="gray">
          <a:xfrm>
            <a:off x="4556662" y="4526154"/>
            <a:ext cx="1016484" cy="267630"/>
          </a:xfrm>
          <a:prstGeom prst="roundRect">
            <a:avLst>
              <a:gd name="adj" fmla="val 12806"/>
            </a:avLst>
          </a:prstGeom>
          <a:solidFill>
            <a:srgbClr val="30B5C5"/>
          </a:solidFill>
          <a:ln>
            <a:noFill/>
          </a:ln>
        </p:spPr>
        <p:txBody>
          <a:bodyPr wrap="none" lIns="0" tIns="0" rIns="0" bIns="0" anchor="ctr" anchorCtr="0">
            <a:noAutofit/>
          </a:bodyPr>
          <a:lstStyle>
            <a:defPPr>
              <a:defRPr lang="en-US"/>
            </a:defPPr>
            <a:lvl1pPr algn="ctr" defTabSz="914478">
              <a:defRPr sz="1200">
                <a:solidFill>
                  <a:schemeClr val="bg1"/>
                </a:solidFill>
              </a:defRPr>
            </a:lvl1pPr>
            <a:lvl2pPr marL="457240" defTabSz="914478"/>
            <a:lvl3pPr marL="914478" defTabSz="914478"/>
            <a:lvl4pPr marL="1371718" defTabSz="914478"/>
            <a:lvl5pPr marL="1828957" defTabSz="914478"/>
            <a:lvl6pPr marL="2286196" defTabSz="914478"/>
            <a:lvl7pPr marL="2743435" defTabSz="914478"/>
            <a:lvl8pPr marL="3200675" defTabSz="914478"/>
            <a:lvl9pPr marL="3657913" defTabSz="914478"/>
          </a:lstStyle>
          <a:p>
            <a:r>
              <a:rPr lang="zh-CN" altLang="en-US" dirty="0" smtClean="0"/>
              <a:t>手工添加设备</a:t>
            </a:r>
            <a:endParaRPr lang="zh-CN" altLang="en-US" dirty="0"/>
          </a:p>
        </p:txBody>
      </p:sp>
      <p:sp>
        <p:nvSpPr>
          <p:cNvPr id="11" name="椭圆 10"/>
          <p:cNvSpPr>
            <a:spLocks noChangeAspect="1"/>
          </p:cNvSpPr>
          <p:nvPr/>
        </p:nvSpPr>
        <p:spPr bwMode="gray">
          <a:xfrm>
            <a:off x="6253955" y="1715470"/>
            <a:ext cx="252000" cy="252000"/>
          </a:xfrm>
          <a:prstGeom prst="ellipse">
            <a:avLst/>
          </a:prstGeom>
          <a:solidFill>
            <a:srgbClr val="30B5C5"/>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399" b="1">
                <a:solidFill>
                  <a:schemeClr val="bg1"/>
                </a:solidFill>
                <a:latin typeface="Huawei Sans" panose="020C0503030203020204" pitchFamily="34" charset="0"/>
                <a:ea typeface="方正兰亭细黑简体" panose="02000000000000000000" pitchFamily="2" charset="-122"/>
                <a:cs typeface="Huawei Sans" panose="020C0503030203020204" pitchFamily="34" charset="0"/>
                <a:sym typeface="Huawei Sans" panose="020C0503030203020204" pitchFamily="34" charset="0"/>
              </a:rPr>
              <a:t>1</a:t>
            </a:r>
            <a:endParaRPr lang="zh-CN" altLang="en-US" sz="1399" b="1" dirty="0">
              <a:solidFill>
                <a:schemeClr val="bg1"/>
              </a:solidFill>
              <a:latin typeface="Huawei Sans" panose="020C0503030203020204" pitchFamily="34" charset="0"/>
              <a:ea typeface="方正兰亭细黑简体" panose="02000000000000000000" pitchFamily="2" charset="-122"/>
              <a:cs typeface="Huawei Sans" panose="020C0503030203020204" pitchFamily="34" charset="0"/>
              <a:sym typeface="Huawei Sans" panose="020C0503030203020204" pitchFamily="34" charset="0"/>
            </a:endParaRPr>
          </a:p>
        </p:txBody>
      </p:sp>
      <p:sp>
        <p:nvSpPr>
          <p:cNvPr id="12" name="文本框 11"/>
          <p:cNvSpPr txBox="1"/>
          <p:nvPr/>
        </p:nvSpPr>
        <p:spPr bwMode="gray">
          <a:xfrm>
            <a:off x="6569697" y="1705091"/>
            <a:ext cx="4131259" cy="307777"/>
          </a:xfrm>
          <a:prstGeom prst="rect">
            <a:avLst/>
          </a:prstGeom>
          <a:noFill/>
        </p:spPr>
        <p:txBody>
          <a:bodyPr wrap="none" rtlCol="0">
            <a:spAutoFit/>
          </a:bodyPr>
          <a:lstStyle/>
          <a:p>
            <a:r>
              <a:rPr lang="zh-CN" altLang="en-US" sz="1400" dirty="0" smtClean="0"/>
              <a:t>从</a:t>
            </a:r>
            <a:r>
              <a:rPr lang="en-US" altLang="zh-CN" sz="1400" dirty="0" smtClean="0"/>
              <a:t>iMaster NCE-Campus</a:t>
            </a:r>
            <a:r>
              <a:rPr lang="zh-CN" altLang="en-US" sz="1400" dirty="0" smtClean="0"/>
              <a:t>下载模板文档（</a:t>
            </a:r>
            <a:r>
              <a:rPr lang="en-US" altLang="zh-CN" sz="1400" dirty="0" smtClean="0"/>
              <a:t>Excel</a:t>
            </a:r>
            <a:r>
              <a:rPr lang="zh-CN" altLang="en-US" sz="1400" dirty="0" smtClean="0"/>
              <a:t>）。</a:t>
            </a:r>
            <a:endParaRPr lang="zh-CN" altLang="en-US" sz="1400" dirty="0"/>
          </a:p>
        </p:txBody>
      </p:sp>
      <p:sp>
        <p:nvSpPr>
          <p:cNvPr id="13" name="椭圆 12"/>
          <p:cNvSpPr>
            <a:spLocks noChangeAspect="1"/>
          </p:cNvSpPr>
          <p:nvPr/>
        </p:nvSpPr>
        <p:spPr bwMode="gray">
          <a:xfrm>
            <a:off x="6253955" y="2260038"/>
            <a:ext cx="252000" cy="252000"/>
          </a:xfrm>
          <a:prstGeom prst="ellipse">
            <a:avLst/>
          </a:prstGeom>
          <a:solidFill>
            <a:srgbClr val="30B5C5"/>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399" b="1">
                <a:solidFill>
                  <a:schemeClr val="bg1"/>
                </a:solidFill>
                <a:latin typeface="Huawei Sans" panose="020C0503030203020204" pitchFamily="34" charset="0"/>
                <a:ea typeface="方正兰亭细黑简体" panose="02000000000000000000" pitchFamily="2" charset="-122"/>
                <a:cs typeface="Huawei Sans" panose="020C0503030203020204" pitchFamily="34" charset="0"/>
                <a:sym typeface="Huawei Sans" panose="020C0503030203020204" pitchFamily="34" charset="0"/>
              </a:rPr>
              <a:t>2</a:t>
            </a:r>
            <a:endParaRPr lang="zh-CN" altLang="en-US" sz="1399" b="1" dirty="0">
              <a:solidFill>
                <a:schemeClr val="bg1"/>
              </a:solidFill>
              <a:latin typeface="Huawei Sans" panose="020C0503030203020204" pitchFamily="34" charset="0"/>
              <a:ea typeface="方正兰亭细黑简体" panose="02000000000000000000" pitchFamily="2" charset="-122"/>
              <a:cs typeface="Huawei Sans" panose="020C0503030203020204" pitchFamily="34" charset="0"/>
              <a:sym typeface="Huawei Sans" panose="020C0503030203020204" pitchFamily="34" charset="0"/>
            </a:endParaRPr>
          </a:p>
        </p:txBody>
      </p:sp>
      <p:sp>
        <p:nvSpPr>
          <p:cNvPr id="14" name="文本框 13"/>
          <p:cNvSpPr txBox="1"/>
          <p:nvPr/>
        </p:nvSpPr>
        <p:spPr bwMode="gray">
          <a:xfrm>
            <a:off x="6569697" y="2249659"/>
            <a:ext cx="3057247" cy="307777"/>
          </a:xfrm>
          <a:prstGeom prst="rect">
            <a:avLst/>
          </a:prstGeom>
          <a:noFill/>
        </p:spPr>
        <p:txBody>
          <a:bodyPr wrap="none" rtlCol="0">
            <a:spAutoFit/>
          </a:bodyPr>
          <a:lstStyle/>
          <a:p>
            <a:r>
              <a:rPr lang="zh-CN" altLang="en-US" sz="1400" dirty="0" smtClean="0"/>
              <a:t>在模板文档中填充站点及设备信息。</a:t>
            </a:r>
            <a:endParaRPr lang="zh-CN" altLang="en-US" sz="1400" dirty="0"/>
          </a:p>
        </p:txBody>
      </p:sp>
      <p:sp>
        <p:nvSpPr>
          <p:cNvPr id="15" name="椭圆 14"/>
          <p:cNvSpPr>
            <a:spLocks noChangeAspect="1"/>
          </p:cNvSpPr>
          <p:nvPr/>
        </p:nvSpPr>
        <p:spPr bwMode="gray">
          <a:xfrm>
            <a:off x="6253955" y="4679144"/>
            <a:ext cx="252000" cy="252000"/>
          </a:xfrm>
          <a:prstGeom prst="ellipse">
            <a:avLst/>
          </a:prstGeom>
          <a:solidFill>
            <a:srgbClr val="30B5C5"/>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399" b="1">
                <a:solidFill>
                  <a:schemeClr val="bg1"/>
                </a:solidFill>
                <a:latin typeface="Huawei Sans" panose="020C0503030203020204" pitchFamily="34" charset="0"/>
                <a:ea typeface="方正兰亭细黑简体" panose="02000000000000000000" pitchFamily="2" charset="-122"/>
                <a:cs typeface="Huawei Sans" panose="020C0503030203020204" pitchFamily="34" charset="0"/>
                <a:sym typeface="Huawei Sans" panose="020C0503030203020204" pitchFamily="34" charset="0"/>
              </a:rPr>
              <a:t>3</a:t>
            </a:r>
            <a:endParaRPr lang="zh-CN" altLang="en-US" sz="1399" b="1" dirty="0">
              <a:solidFill>
                <a:schemeClr val="bg1"/>
              </a:solidFill>
              <a:latin typeface="Huawei Sans" panose="020C0503030203020204" pitchFamily="34" charset="0"/>
              <a:ea typeface="方正兰亭细黑简体" panose="02000000000000000000" pitchFamily="2" charset="-122"/>
              <a:cs typeface="Huawei Sans" panose="020C0503030203020204" pitchFamily="34" charset="0"/>
              <a:sym typeface="Huawei Sans" panose="020C0503030203020204" pitchFamily="34" charset="0"/>
            </a:endParaRPr>
          </a:p>
        </p:txBody>
      </p:sp>
      <p:sp>
        <p:nvSpPr>
          <p:cNvPr id="16" name="文本框 15"/>
          <p:cNvSpPr txBox="1"/>
          <p:nvPr/>
        </p:nvSpPr>
        <p:spPr bwMode="gray">
          <a:xfrm>
            <a:off x="6569697" y="4668765"/>
            <a:ext cx="3002745" cy="307777"/>
          </a:xfrm>
          <a:prstGeom prst="rect">
            <a:avLst/>
          </a:prstGeom>
          <a:noFill/>
        </p:spPr>
        <p:txBody>
          <a:bodyPr wrap="none" rtlCol="0">
            <a:spAutoFit/>
          </a:bodyPr>
          <a:lstStyle/>
          <a:p>
            <a:r>
              <a:rPr lang="zh-CN" altLang="en-US" sz="1400" dirty="0" smtClean="0"/>
              <a:t>将文档导入</a:t>
            </a:r>
            <a:r>
              <a:rPr lang="en-US" altLang="zh-CN" sz="1400" dirty="0" err="1" smtClean="0"/>
              <a:t>iMaster</a:t>
            </a:r>
            <a:r>
              <a:rPr lang="en-US" altLang="zh-CN" sz="1400" dirty="0" smtClean="0"/>
              <a:t> NCE-Campus</a:t>
            </a:r>
            <a:r>
              <a:rPr lang="zh-CN" altLang="en-US" sz="1400" dirty="0" smtClean="0"/>
              <a:t>。</a:t>
            </a:r>
            <a:endParaRPr lang="zh-CN" altLang="en-US" sz="1400" dirty="0"/>
          </a:p>
        </p:txBody>
      </p:sp>
      <p:graphicFrame>
        <p:nvGraphicFramePr>
          <p:cNvPr id="17" name="表格 16"/>
          <p:cNvGraphicFramePr>
            <a:graphicFrameLocks noGrp="1"/>
          </p:cNvGraphicFramePr>
          <p:nvPr>
            <p:extLst>
              <p:ext uri="{D42A27DB-BD31-4B8C-83A1-F6EECF244321}">
                <p14:modId xmlns:p14="http://schemas.microsoft.com/office/powerpoint/2010/main" val="4135965942"/>
              </p:ext>
            </p:extLst>
          </p:nvPr>
        </p:nvGraphicFramePr>
        <p:xfrm>
          <a:off x="6379955" y="2624610"/>
          <a:ext cx="4980837" cy="1920240"/>
        </p:xfrm>
        <a:graphic>
          <a:graphicData uri="http://schemas.openxmlformats.org/drawingml/2006/table">
            <a:tbl>
              <a:tblPr/>
              <a:tblGrid>
                <a:gridCol w="491133"/>
                <a:gridCol w="701040"/>
                <a:gridCol w="605646"/>
                <a:gridCol w="951882"/>
                <a:gridCol w="630936"/>
                <a:gridCol w="768096"/>
                <a:gridCol w="832104"/>
              </a:tblGrid>
              <a:tr h="0">
                <a:tc>
                  <a:txBody>
                    <a:bodyPr/>
                    <a:lstStyle/>
                    <a:p>
                      <a:pPr algn="ctr" fontAlgn="b"/>
                      <a:r>
                        <a:rPr lang="zh-CN" altLang="en-US" sz="1200" b="1" u="none" strike="noStrike" dirty="0">
                          <a:solidFill>
                            <a:schemeClr val="tx1"/>
                          </a:solidFill>
                          <a:effectLst/>
                          <a:latin typeface="+mn-lt"/>
                          <a:ea typeface="+mn-ea"/>
                        </a:rPr>
                        <a:t>站点名称</a:t>
                      </a:r>
                      <a:endParaRPr lang="zh-CN" altLang="en-US" sz="1200" b="1" i="0" u="none" strike="noStrike" dirty="0">
                        <a:solidFill>
                          <a:schemeClr val="tx1"/>
                        </a:solidFill>
                        <a:effectLst/>
                        <a:latin typeface="+mn-lt"/>
                        <a:ea typeface="+mn-ea"/>
                      </a:endParaRPr>
                    </a:p>
                  </a:txBody>
                  <a:tcPr anchor="ctr">
                    <a:lnL w="28575" cap="flat" cmpd="sng" algn="ctr">
                      <a:solidFill>
                        <a:schemeClr val="tx1"/>
                      </a:solidFill>
                      <a:prstDash val="solid"/>
                      <a:round/>
                      <a:headEnd type="none" w="med" len="med"/>
                      <a:tailEnd type="none" w="med" len="med"/>
                    </a:lnL>
                    <a:lnT w="28575" cap="flat" cmpd="sng" algn="ctr">
                      <a:solidFill>
                        <a:schemeClr val="tx1"/>
                      </a:solidFill>
                      <a:prstDash val="solid"/>
                      <a:round/>
                      <a:headEnd type="none" w="med" len="med"/>
                      <a:tailEnd type="none" w="med" len="med"/>
                    </a:lnT>
                    <a:solidFill>
                      <a:schemeClr val="bg1">
                        <a:lumMod val="85000"/>
                      </a:schemeClr>
                    </a:solidFill>
                  </a:tcPr>
                </a:tc>
                <a:tc>
                  <a:txBody>
                    <a:bodyPr/>
                    <a:lstStyle/>
                    <a:p>
                      <a:pPr algn="ctr" fontAlgn="b"/>
                      <a:r>
                        <a:rPr lang="zh-CN" altLang="en-US" sz="1200" b="1" u="none" strike="noStrike" dirty="0">
                          <a:solidFill>
                            <a:schemeClr val="tx1"/>
                          </a:solidFill>
                          <a:effectLst/>
                          <a:latin typeface="+mn-lt"/>
                          <a:ea typeface="+mn-ea"/>
                        </a:rPr>
                        <a:t>园区设备类型</a:t>
                      </a:r>
                      <a:endParaRPr lang="zh-CN" altLang="en-US" sz="1200" b="1" i="0" u="none" strike="noStrike" dirty="0">
                        <a:solidFill>
                          <a:schemeClr val="tx1"/>
                        </a:solidFill>
                        <a:effectLst/>
                        <a:latin typeface="+mn-lt"/>
                        <a:ea typeface="+mn-ea"/>
                      </a:endParaRPr>
                    </a:p>
                  </a:txBody>
                  <a:tcPr anchor="ctr">
                    <a:lnT w="28575" cap="flat" cmpd="sng" algn="ctr">
                      <a:solidFill>
                        <a:schemeClr val="tx1"/>
                      </a:solidFill>
                      <a:prstDash val="solid"/>
                      <a:round/>
                      <a:headEnd type="none" w="med" len="med"/>
                      <a:tailEnd type="none" w="med" len="med"/>
                    </a:lnT>
                    <a:solidFill>
                      <a:schemeClr val="bg1">
                        <a:lumMod val="85000"/>
                      </a:schemeClr>
                    </a:solidFill>
                  </a:tcPr>
                </a:tc>
                <a:tc>
                  <a:txBody>
                    <a:bodyPr/>
                    <a:lstStyle/>
                    <a:p>
                      <a:pPr algn="ctr" fontAlgn="b"/>
                      <a:r>
                        <a:rPr lang="zh-CN" altLang="en-US" sz="1200" b="1" u="none" strike="noStrike" dirty="0" smtClean="0">
                          <a:solidFill>
                            <a:schemeClr val="tx1"/>
                          </a:solidFill>
                          <a:effectLst/>
                          <a:latin typeface="+mn-lt"/>
                          <a:ea typeface="+mn-ea"/>
                        </a:rPr>
                        <a:t>设备角色</a:t>
                      </a:r>
                      <a:endParaRPr lang="zh-CN" altLang="en-US" sz="1200" b="1" i="0" u="none" strike="noStrike" dirty="0">
                        <a:solidFill>
                          <a:schemeClr val="tx1"/>
                        </a:solidFill>
                        <a:effectLst/>
                        <a:latin typeface="+mn-lt"/>
                        <a:ea typeface="+mn-ea"/>
                      </a:endParaRPr>
                    </a:p>
                  </a:txBody>
                  <a:tcPr anchor="ctr">
                    <a:lnT w="28575" cap="flat" cmpd="sng" algn="ctr">
                      <a:solidFill>
                        <a:schemeClr val="tx1"/>
                      </a:solidFill>
                      <a:prstDash val="solid"/>
                      <a:round/>
                      <a:headEnd type="none" w="med" len="med"/>
                      <a:tailEnd type="none" w="med" len="med"/>
                    </a:lnT>
                    <a:solidFill>
                      <a:schemeClr val="bg1">
                        <a:lumMod val="85000"/>
                      </a:schemeClr>
                    </a:solidFill>
                  </a:tcPr>
                </a:tc>
                <a:tc>
                  <a:txBody>
                    <a:bodyPr/>
                    <a:lstStyle/>
                    <a:p>
                      <a:pPr algn="ctr" fontAlgn="b"/>
                      <a:r>
                        <a:rPr lang="zh-CN" altLang="en-US" sz="1200" b="1" i="0" u="none" strike="noStrike" dirty="0" smtClean="0">
                          <a:solidFill>
                            <a:schemeClr val="tx1"/>
                          </a:solidFill>
                          <a:effectLst/>
                          <a:latin typeface="+mn-lt"/>
                          <a:ea typeface="+mn-ea"/>
                        </a:rPr>
                        <a:t>设备款型</a:t>
                      </a:r>
                      <a:endParaRPr lang="zh-CN" altLang="en-US" sz="1200" b="1" i="0" u="none" strike="noStrike" dirty="0">
                        <a:solidFill>
                          <a:schemeClr val="tx1"/>
                        </a:solidFill>
                        <a:effectLst/>
                        <a:latin typeface="+mn-lt"/>
                        <a:ea typeface="+mn-ea"/>
                      </a:endParaRPr>
                    </a:p>
                  </a:txBody>
                  <a:tcPr anchor="ctr">
                    <a:lnT w="28575" cap="flat" cmpd="sng" algn="ctr">
                      <a:solidFill>
                        <a:schemeClr val="tx1"/>
                      </a:solidFill>
                      <a:prstDash val="solid"/>
                      <a:round/>
                      <a:headEnd type="none" w="med" len="med"/>
                      <a:tailEnd type="none" w="med" len="med"/>
                    </a:lnT>
                    <a:solidFill>
                      <a:schemeClr val="bg1">
                        <a:lumMod val="85000"/>
                      </a:schemeClr>
                    </a:solidFill>
                  </a:tcPr>
                </a:tc>
                <a:tc>
                  <a:txBody>
                    <a:bodyPr/>
                    <a:lstStyle/>
                    <a:p>
                      <a:pPr algn="ctr" fontAlgn="b"/>
                      <a:r>
                        <a:rPr lang="zh-CN" altLang="en-US" sz="1200" b="1" i="0" u="none" strike="noStrike" dirty="0" smtClean="0">
                          <a:solidFill>
                            <a:schemeClr val="tx1"/>
                          </a:solidFill>
                          <a:effectLst/>
                          <a:latin typeface="+mn-lt"/>
                          <a:ea typeface="+mn-ea"/>
                        </a:rPr>
                        <a:t>设备类型</a:t>
                      </a:r>
                      <a:endParaRPr lang="zh-CN" altLang="en-US" sz="1200" b="1" i="0" u="none" strike="noStrike" dirty="0">
                        <a:solidFill>
                          <a:schemeClr val="tx1"/>
                        </a:solidFill>
                        <a:effectLst/>
                        <a:latin typeface="+mn-lt"/>
                        <a:ea typeface="+mn-ea"/>
                      </a:endParaRPr>
                    </a:p>
                  </a:txBody>
                  <a:tcPr anchor="ctr">
                    <a:lnT w="28575" cap="flat" cmpd="sng" algn="ctr">
                      <a:solidFill>
                        <a:schemeClr val="tx1"/>
                      </a:solidFill>
                      <a:prstDash val="solid"/>
                      <a:round/>
                      <a:headEnd type="none" w="med" len="med"/>
                      <a:tailEnd type="none" w="med" len="med"/>
                    </a:lnT>
                    <a:solidFill>
                      <a:schemeClr val="bg1">
                        <a:lumMod val="85000"/>
                      </a:schemeClr>
                    </a:solidFill>
                  </a:tcPr>
                </a:tc>
                <a:tc>
                  <a:txBody>
                    <a:bodyPr/>
                    <a:lstStyle/>
                    <a:p>
                      <a:pPr algn="ctr" fontAlgn="b"/>
                      <a:r>
                        <a:rPr lang="zh-CN" altLang="en-US" sz="1200" b="1" u="none" strike="noStrike" dirty="0">
                          <a:solidFill>
                            <a:schemeClr val="tx1"/>
                          </a:solidFill>
                          <a:effectLst/>
                          <a:latin typeface="+mn-lt"/>
                          <a:ea typeface="+mn-ea"/>
                        </a:rPr>
                        <a:t>设备</a:t>
                      </a:r>
                      <a:r>
                        <a:rPr lang="en-US" sz="1200" b="1" u="none" strike="noStrike" dirty="0">
                          <a:solidFill>
                            <a:schemeClr val="tx1"/>
                          </a:solidFill>
                          <a:effectLst/>
                          <a:latin typeface="+mn-lt"/>
                          <a:ea typeface="+mn-ea"/>
                        </a:rPr>
                        <a:t>ESN</a:t>
                      </a:r>
                      <a:endParaRPr lang="en-US" sz="1200" b="1" i="0" u="none" strike="noStrike" dirty="0">
                        <a:solidFill>
                          <a:schemeClr val="tx1"/>
                        </a:solidFill>
                        <a:effectLst/>
                        <a:latin typeface="+mn-lt"/>
                        <a:ea typeface="+mn-ea"/>
                      </a:endParaRPr>
                    </a:p>
                  </a:txBody>
                  <a:tcPr anchor="ctr">
                    <a:lnT w="28575" cap="flat" cmpd="sng" algn="ctr">
                      <a:solidFill>
                        <a:schemeClr val="tx1"/>
                      </a:solidFill>
                      <a:prstDash val="solid"/>
                      <a:round/>
                      <a:headEnd type="none" w="med" len="med"/>
                      <a:tailEnd type="none" w="med" len="med"/>
                    </a:lnT>
                    <a:solidFill>
                      <a:schemeClr val="bg1">
                        <a:lumMod val="85000"/>
                      </a:schemeClr>
                    </a:solidFill>
                  </a:tcPr>
                </a:tc>
                <a:tc>
                  <a:txBody>
                    <a:bodyPr/>
                    <a:lstStyle/>
                    <a:p>
                      <a:pPr algn="ctr" fontAlgn="b"/>
                      <a:r>
                        <a:rPr lang="zh-CN" altLang="en-US" sz="1200" b="1" u="none" strike="noStrike" dirty="0">
                          <a:solidFill>
                            <a:schemeClr val="tx1"/>
                          </a:solidFill>
                          <a:effectLst/>
                          <a:latin typeface="+mn-lt"/>
                          <a:ea typeface="+mn-ea"/>
                        </a:rPr>
                        <a:t>设备名称</a:t>
                      </a:r>
                      <a:endParaRPr lang="zh-CN" altLang="en-US" sz="1200" b="1" i="0" u="none" strike="noStrike" dirty="0">
                        <a:solidFill>
                          <a:schemeClr val="tx1"/>
                        </a:solidFill>
                        <a:effectLst/>
                        <a:latin typeface="+mn-lt"/>
                        <a:ea typeface="+mn-ea"/>
                      </a:endParaRPr>
                    </a:p>
                  </a:txBody>
                  <a:tcPr anchor="ctr">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solidFill>
                      <a:schemeClr val="bg1">
                        <a:lumMod val="85000"/>
                      </a:schemeClr>
                    </a:solidFill>
                  </a:tcPr>
                </a:tc>
              </a:tr>
              <a:tr h="0">
                <a:tc>
                  <a:txBody>
                    <a:bodyPr/>
                    <a:lstStyle/>
                    <a:p>
                      <a:pPr algn="ctr" fontAlgn="ctr"/>
                      <a:r>
                        <a:rPr lang="en-US" altLang="zh-CN" sz="1200" b="0" u="none" strike="noStrike" dirty="0" smtClean="0">
                          <a:solidFill>
                            <a:schemeClr val="tx1"/>
                          </a:solidFill>
                          <a:effectLst/>
                          <a:latin typeface="+mn-lt"/>
                          <a:ea typeface="+mn-ea"/>
                        </a:rPr>
                        <a:t>HQ</a:t>
                      </a:r>
                      <a:endParaRPr lang="en-US" sz="1200" b="0" i="0" u="none" strike="noStrike" dirty="0">
                        <a:solidFill>
                          <a:schemeClr val="tx1"/>
                        </a:solidFill>
                        <a:effectLst/>
                        <a:latin typeface="+mn-lt"/>
                        <a:ea typeface="+mn-ea"/>
                      </a:endParaRPr>
                    </a:p>
                  </a:txBody>
                  <a:tcPr anchor="ctr">
                    <a:lnL w="28575" cap="flat" cmpd="sng" algn="ctr">
                      <a:solidFill>
                        <a:schemeClr val="tx1"/>
                      </a:solidFill>
                      <a:prstDash val="solid"/>
                      <a:round/>
                      <a:headEnd type="none" w="med" len="med"/>
                      <a:tailEnd type="none" w="med" len="med"/>
                    </a:lnL>
                  </a:tcPr>
                </a:tc>
                <a:tc>
                  <a:txBody>
                    <a:bodyPr/>
                    <a:lstStyle/>
                    <a:p>
                      <a:pPr algn="ctr" fontAlgn="ctr"/>
                      <a:r>
                        <a:rPr lang="en-US" sz="1200" b="0" u="none" strike="noStrike" dirty="0" smtClean="0">
                          <a:solidFill>
                            <a:schemeClr val="tx1"/>
                          </a:solidFill>
                          <a:effectLst/>
                          <a:latin typeface="+mn-lt"/>
                          <a:ea typeface="+mn-ea"/>
                        </a:rPr>
                        <a:t>LSW,</a:t>
                      </a:r>
                      <a:r>
                        <a:rPr lang="en-US" sz="1200" b="0" u="none" strike="noStrike" baseline="0" dirty="0" smtClean="0">
                          <a:solidFill>
                            <a:schemeClr val="tx1"/>
                          </a:solidFill>
                          <a:effectLst/>
                          <a:latin typeface="+mn-lt"/>
                          <a:ea typeface="+mn-ea"/>
                        </a:rPr>
                        <a:t> WAC</a:t>
                      </a:r>
                      <a:endParaRPr lang="en-US" sz="1200" b="0" i="0" u="none" strike="noStrike" dirty="0">
                        <a:solidFill>
                          <a:schemeClr val="tx1"/>
                        </a:solidFill>
                        <a:effectLst/>
                        <a:latin typeface="+mn-lt"/>
                        <a:ea typeface="+mn-ea"/>
                      </a:endParaRPr>
                    </a:p>
                  </a:txBody>
                  <a:tcPr anchor="ctr"/>
                </a:tc>
                <a:tc>
                  <a:txBody>
                    <a:bodyPr/>
                    <a:lstStyle/>
                    <a:p>
                      <a:pPr algn="ctr" fontAlgn="ctr"/>
                      <a:r>
                        <a:rPr lang="en-US" altLang="zh-CN" sz="1200" b="0" i="0" u="none" strike="noStrike" dirty="0" smtClean="0">
                          <a:solidFill>
                            <a:schemeClr val="tx1"/>
                          </a:solidFill>
                          <a:effectLst/>
                          <a:latin typeface="+mn-lt"/>
                          <a:ea typeface="+mn-ea"/>
                        </a:rPr>
                        <a:t>CORE</a:t>
                      </a:r>
                      <a:endParaRPr lang="en-US" sz="1200" b="0" i="0" u="none" strike="noStrike" dirty="0">
                        <a:solidFill>
                          <a:schemeClr val="tx1"/>
                        </a:solidFill>
                        <a:effectLst/>
                        <a:latin typeface="+mn-lt"/>
                        <a:ea typeface="+mn-ea"/>
                      </a:endParaRPr>
                    </a:p>
                  </a:txBody>
                  <a:tcPr anchor="ctr"/>
                </a:tc>
                <a:tc>
                  <a:txBody>
                    <a:bodyPr/>
                    <a:lstStyle/>
                    <a:p>
                      <a:pPr algn="ctr" fontAlgn="ctr"/>
                      <a:r>
                        <a:rPr lang="en-US" sz="1200" b="0" i="0" u="none" strike="noStrike" dirty="0" smtClean="0">
                          <a:solidFill>
                            <a:schemeClr val="tx1"/>
                          </a:solidFill>
                          <a:effectLst/>
                          <a:latin typeface="+mn-lt"/>
                          <a:ea typeface="+mn-ea"/>
                        </a:rPr>
                        <a:t>S5731-H24P4XC</a:t>
                      </a:r>
                      <a:endParaRPr lang="en-US" sz="1200" b="0" i="0" u="none" strike="noStrike" dirty="0">
                        <a:solidFill>
                          <a:schemeClr val="tx1"/>
                        </a:solidFill>
                        <a:effectLst/>
                        <a:latin typeface="+mn-lt"/>
                        <a:ea typeface="+mn-ea"/>
                      </a:endParaRPr>
                    </a:p>
                  </a:txBody>
                  <a:tcPr anchor="ctr"/>
                </a:tc>
                <a:tc>
                  <a:txBody>
                    <a:bodyPr/>
                    <a:lstStyle/>
                    <a:p>
                      <a:pPr algn="ctr" fontAlgn="ctr"/>
                      <a:r>
                        <a:rPr lang="en-US" altLang="zh-CN" sz="1200" b="0" i="0" u="none" strike="noStrike" dirty="0" smtClean="0">
                          <a:solidFill>
                            <a:schemeClr val="tx1"/>
                          </a:solidFill>
                          <a:effectLst/>
                          <a:latin typeface="+mn-lt"/>
                          <a:ea typeface="+mn-ea"/>
                        </a:rPr>
                        <a:t>LSW</a:t>
                      </a:r>
                      <a:endParaRPr lang="en-US" sz="1200" b="0" i="0" u="none" strike="noStrike" dirty="0">
                        <a:solidFill>
                          <a:schemeClr val="tx1"/>
                        </a:solidFill>
                        <a:effectLst/>
                        <a:latin typeface="+mn-lt"/>
                        <a:ea typeface="+mn-ea"/>
                      </a:endParaRPr>
                    </a:p>
                  </a:txBody>
                  <a:tcPr anchor="ctr"/>
                </a:tc>
                <a:tc>
                  <a:txBody>
                    <a:bodyPr/>
                    <a:lstStyle/>
                    <a:p>
                      <a:pPr algn="ctr" fontAlgn="ctr"/>
                      <a:r>
                        <a:rPr lang="en-US" altLang="zh-CN" sz="1200" b="0" i="0" u="none" strike="noStrike" dirty="0" smtClean="0">
                          <a:solidFill>
                            <a:schemeClr val="tx1"/>
                          </a:solidFill>
                          <a:effectLst/>
                          <a:latin typeface="+mn-lt"/>
                          <a:ea typeface="+mn-ea"/>
                        </a:rPr>
                        <a:t>…</a:t>
                      </a:r>
                      <a:endParaRPr lang="en-US" sz="1200" b="0" i="0" u="none" strike="noStrike" dirty="0">
                        <a:solidFill>
                          <a:schemeClr val="tx1"/>
                        </a:solidFill>
                        <a:effectLst/>
                        <a:latin typeface="+mn-lt"/>
                        <a:ea typeface="+mn-ea"/>
                      </a:endParaRPr>
                    </a:p>
                  </a:txBody>
                  <a:tcPr anchor="ctr"/>
                </a:tc>
                <a:tc>
                  <a:txBody>
                    <a:bodyPr/>
                    <a:lstStyle/>
                    <a:p>
                      <a:pPr algn="ctr" fontAlgn="ctr"/>
                      <a:r>
                        <a:rPr lang="en-US" altLang="zh-CN" sz="1200" b="0" i="0" u="none" strike="noStrike" dirty="0" smtClean="0">
                          <a:solidFill>
                            <a:schemeClr val="tx1"/>
                          </a:solidFill>
                          <a:effectLst/>
                          <a:latin typeface="+mn-lt"/>
                          <a:ea typeface="+mn-ea"/>
                        </a:rPr>
                        <a:t>Border</a:t>
                      </a:r>
                      <a:endParaRPr lang="en-US" sz="1200" b="0" i="0" u="none" strike="noStrike" dirty="0">
                        <a:solidFill>
                          <a:schemeClr val="tx1"/>
                        </a:solidFill>
                        <a:effectLst/>
                        <a:latin typeface="+mn-lt"/>
                        <a:ea typeface="+mn-ea"/>
                      </a:endParaRPr>
                    </a:p>
                  </a:txBody>
                  <a:tcPr anchor="ctr">
                    <a:lnR w="28575" cap="flat" cmpd="sng" algn="ctr">
                      <a:solidFill>
                        <a:schemeClr val="tx1"/>
                      </a:solidFill>
                      <a:prstDash val="solid"/>
                      <a:round/>
                      <a:headEnd type="none" w="med" len="med"/>
                      <a:tailEnd type="none" w="med" len="med"/>
                    </a:lnR>
                  </a:tcPr>
                </a:tc>
              </a:tr>
              <a:tr h="0">
                <a:tc>
                  <a:txBody>
                    <a:bodyPr/>
                    <a:lstStyle/>
                    <a:p>
                      <a:pPr algn="ctr" fontAlgn="ctr"/>
                      <a:r>
                        <a:rPr lang="en-US" altLang="zh-CN" sz="1200" b="0" u="none" strike="noStrike" dirty="0" smtClean="0">
                          <a:solidFill>
                            <a:schemeClr val="tx1"/>
                          </a:solidFill>
                          <a:effectLst/>
                          <a:latin typeface="+mn-lt"/>
                          <a:ea typeface="+mn-ea"/>
                        </a:rPr>
                        <a:t>HQ</a:t>
                      </a:r>
                      <a:endParaRPr lang="en-US" sz="1200" b="0" i="0" u="none" strike="noStrike" dirty="0">
                        <a:solidFill>
                          <a:schemeClr val="tx1"/>
                        </a:solidFill>
                        <a:effectLst/>
                        <a:latin typeface="+mn-lt"/>
                        <a:ea typeface="+mn-ea"/>
                      </a:endParaRPr>
                    </a:p>
                  </a:txBody>
                  <a:tcPr anchor="ctr">
                    <a:lnL w="28575" cap="flat" cmpd="sng" algn="ctr">
                      <a:solidFill>
                        <a:schemeClr val="tx1"/>
                      </a:solidFill>
                      <a:prstDash val="solid"/>
                      <a:round/>
                      <a:headEnd type="none" w="med" len="med"/>
                      <a:tailEnd type="none" w="med" len="med"/>
                    </a:lnL>
                  </a:tcPr>
                </a:tc>
                <a:tc>
                  <a:txBody>
                    <a:bodyPr/>
                    <a:lstStyle/>
                    <a:p>
                      <a:pPr algn="ctr" fontAlgn="ctr"/>
                      <a:r>
                        <a:rPr lang="en-US" sz="1200" b="0" u="none" strike="noStrike" dirty="0" smtClean="0">
                          <a:solidFill>
                            <a:schemeClr val="tx1"/>
                          </a:solidFill>
                          <a:effectLst/>
                          <a:latin typeface="+mn-lt"/>
                          <a:ea typeface="+mn-ea"/>
                        </a:rPr>
                        <a:t>LSW,</a:t>
                      </a:r>
                      <a:r>
                        <a:rPr lang="en-US" sz="1200" b="0" u="none" strike="noStrike" baseline="0" dirty="0" smtClean="0">
                          <a:solidFill>
                            <a:schemeClr val="tx1"/>
                          </a:solidFill>
                          <a:effectLst/>
                          <a:latin typeface="+mn-lt"/>
                          <a:ea typeface="+mn-ea"/>
                        </a:rPr>
                        <a:t> WAC</a:t>
                      </a:r>
                      <a:endParaRPr lang="en-US" sz="1200" b="0" i="0" u="none" strike="noStrike" dirty="0">
                        <a:solidFill>
                          <a:schemeClr val="tx1"/>
                        </a:solidFill>
                        <a:effectLst/>
                        <a:latin typeface="+mn-lt"/>
                        <a:ea typeface="+mn-ea"/>
                      </a:endParaRPr>
                    </a:p>
                  </a:txBody>
                  <a:tcPr anchor="ctr"/>
                </a:tc>
                <a:tc>
                  <a:txBody>
                    <a:bodyPr/>
                    <a:lstStyle/>
                    <a:p>
                      <a:pPr algn="ctr" fontAlgn="ctr"/>
                      <a:r>
                        <a:rPr lang="en-US" altLang="zh-CN" sz="1200" b="0" i="0" u="none" strike="noStrike" dirty="0" smtClean="0">
                          <a:solidFill>
                            <a:schemeClr val="tx1"/>
                          </a:solidFill>
                          <a:effectLst/>
                          <a:latin typeface="+mn-lt"/>
                          <a:ea typeface="+mn-ea"/>
                        </a:rPr>
                        <a:t>AGG</a:t>
                      </a:r>
                      <a:endParaRPr lang="en-US" sz="1200" b="0" i="0" u="none" strike="noStrike" dirty="0">
                        <a:solidFill>
                          <a:schemeClr val="tx1"/>
                        </a:solidFill>
                        <a:effectLst/>
                        <a:latin typeface="+mn-lt"/>
                        <a:ea typeface="+mn-ea"/>
                      </a:endParaRPr>
                    </a:p>
                  </a:txBody>
                  <a:tcPr anchor="ctr"/>
                </a:tc>
                <a:tc>
                  <a:txBody>
                    <a:bodyPr/>
                    <a:lstStyle/>
                    <a:p>
                      <a:pPr algn="ctr" fontAlgn="ctr"/>
                      <a:r>
                        <a:rPr lang="en-US" sz="1200" b="0" i="0" u="none" strike="noStrike" dirty="0" smtClean="0">
                          <a:solidFill>
                            <a:schemeClr val="tx1"/>
                          </a:solidFill>
                          <a:effectLst/>
                          <a:latin typeface="+mn-lt"/>
                          <a:ea typeface="+mn-ea"/>
                        </a:rPr>
                        <a:t>S5731-H24P4XC</a:t>
                      </a:r>
                      <a:endParaRPr lang="en-US" sz="1200" b="0" i="0" u="none" strike="noStrike" dirty="0">
                        <a:solidFill>
                          <a:schemeClr val="tx1"/>
                        </a:solidFill>
                        <a:effectLst/>
                        <a:latin typeface="+mn-lt"/>
                        <a:ea typeface="+mn-ea"/>
                      </a:endParaRPr>
                    </a:p>
                  </a:txBody>
                  <a:tcPr anchor="ctr"/>
                </a:tc>
                <a:tc>
                  <a:txBody>
                    <a:bodyPr/>
                    <a:lstStyle/>
                    <a:p>
                      <a:pPr algn="ctr" fontAlgn="ctr"/>
                      <a:r>
                        <a:rPr lang="en-US" altLang="zh-CN" sz="1200" b="0" i="0" u="none" strike="noStrike" dirty="0" smtClean="0">
                          <a:solidFill>
                            <a:schemeClr val="tx1"/>
                          </a:solidFill>
                          <a:effectLst/>
                          <a:latin typeface="+mn-lt"/>
                          <a:ea typeface="+mn-ea"/>
                        </a:rPr>
                        <a:t>LSW</a:t>
                      </a:r>
                      <a:endParaRPr lang="en-US" sz="1200" b="0" i="0" u="none" strike="noStrike" dirty="0">
                        <a:solidFill>
                          <a:schemeClr val="tx1"/>
                        </a:solidFill>
                        <a:effectLst/>
                        <a:latin typeface="+mn-lt"/>
                        <a:ea typeface="+mn-ea"/>
                      </a:endParaRPr>
                    </a:p>
                  </a:txBody>
                  <a:tcPr anchor="ctr"/>
                </a:tc>
                <a:tc>
                  <a:txBody>
                    <a:bodyPr/>
                    <a:lstStyle/>
                    <a:p>
                      <a:pPr algn="ctr" fontAlgn="ctr"/>
                      <a:r>
                        <a:rPr lang="en-US" altLang="zh-CN" sz="1200" b="0" i="0" u="none" strike="noStrike" dirty="0" smtClean="0">
                          <a:solidFill>
                            <a:schemeClr val="tx1"/>
                          </a:solidFill>
                          <a:effectLst/>
                          <a:latin typeface="+mn-lt"/>
                          <a:ea typeface="+mn-ea"/>
                        </a:rPr>
                        <a:t>..</a:t>
                      </a:r>
                      <a:endParaRPr lang="en-US" sz="1200" b="0" i="0" u="none" strike="noStrike" dirty="0">
                        <a:solidFill>
                          <a:schemeClr val="tx1"/>
                        </a:solidFill>
                        <a:effectLst/>
                        <a:latin typeface="+mn-lt"/>
                        <a:ea typeface="+mn-ea"/>
                      </a:endParaRPr>
                    </a:p>
                  </a:txBody>
                  <a:tcPr anchor="ctr"/>
                </a:tc>
                <a:tc>
                  <a:txBody>
                    <a:bodyPr/>
                    <a:lstStyle/>
                    <a:p>
                      <a:pPr algn="ctr" fontAlgn="ctr"/>
                      <a:r>
                        <a:rPr lang="en-US" altLang="zh-CN" sz="1200" b="0" i="0" u="none" strike="noStrike" dirty="0" smtClean="0">
                          <a:solidFill>
                            <a:schemeClr val="tx1"/>
                          </a:solidFill>
                          <a:effectLst/>
                          <a:latin typeface="+mn-lt"/>
                          <a:ea typeface="+mn-ea"/>
                        </a:rPr>
                        <a:t>Edge_1</a:t>
                      </a:r>
                      <a:endParaRPr lang="en-US" sz="1200" b="0" i="0" u="none" strike="noStrike" dirty="0">
                        <a:solidFill>
                          <a:schemeClr val="tx1"/>
                        </a:solidFill>
                        <a:effectLst/>
                        <a:latin typeface="+mn-lt"/>
                        <a:ea typeface="+mn-ea"/>
                      </a:endParaRPr>
                    </a:p>
                  </a:txBody>
                  <a:tcPr anchor="ctr">
                    <a:lnR w="28575" cap="flat" cmpd="sng" algn="ctr">
                      <a:solidFill>
                        <a:schemeClr val="tx1"/>
                      </a:solidFill>
                      <a:prstDash val="solid"/>
                      <a:round/>
                      <a:headEnd type="none" w="med" len="med"/>
                      <a:tailEnd type="none" w="med" len="med"/>
                    </a:lnR>
                  </a:tcPr>
                </a:tc>
              </a:tr>
              <a:tr h="0">
                <a:tc>
                  <a:txBody>
                    <a:bodyPr/>
                    <a:lstStyle/>
                    <a:p>
                      <a:pPr algn="ctr" fontAlgn="b"/>
                      <a:r>
                        <a:rPr lang="en-US" altLang="zh-CN" sz="1200" b="0" i="0" u="none" strike="noStrike" dirty="0" smtClean="0">
                          <a:solidFill>
                            <a:schemeClr val="tx1"/>
                          </a:solidFill>
                          <a:effectLst/>
                          <a:latin typeface="+mn-lt"/>
                          <a:ea typeface="+mn-ea"/>
                        </a:rPr>
                        <a:t>…</a:t>
                      </a:r>
                      <a:endParaRPr lang="zh-CN" altLang="en-US" sz="1200" b="0" i="0" u="none" strike="noStrike" dirty="0">
                        <a:solidFill>
                          <a:schemeClr val="tx1"/>
                        </a:solidFill>
                        <a:effectLst/>
                        <a:latin typeface="+mn-lt"/>
                        <a:ea typeface="+mn-ea"/>
                      </a:endParaRPr>
                    </a:p>
                  </a:txBody>
                  <a:tcPr anchor="ctr">
                    <a:lnL w="28575" cap="flat" cmpd="sng" algn="ctr">
                      <a:solidFill>
                        <a:schemeClr val="tx1"/>
                      </a:solidFill>
                      <a:prstDash val="solid"/>
                      <a:round/>
                      <a:headEnd type="none" w="med" len="med"/>
                      <a:tailEnd type="none" w="med" len="med"/>
                    </a:lnL>
                  </a:tcPr>
                </a:tc>
                <a:tc>
                  <a:txBody>
                    <a:bodyPr/>
                    <a:lstStyle/>
                    <a:p>
                      <a:pPr algn="ctr" fontAlgn="b"/>
                      <a:r>
                        <a:rPr lang="en-US" altLang="zh-CN" sz="1200" b="0" i="0" u="none" strike="noStrike" dirty="0" smtClean="0">
                          <a:solidFill>
                            <a:schemeClr val="tx1"/>
                          </a:solidFill>
                          <a:effectLst/>
                          <a:latin typeface="+mn-lt"/>
                          <a:ea typeface="+mn-ea"/>
                        </a:rPr>
                        <a:t>…</a:t>
                      </a:r>
                      <a:endParaRPr lang="zh-CN" altLang="en-US" sz="1200" b="0" i="0" u="none" strike="noStrike" dirty="0">
                        <a:solidFill>
                          <a:schemeClr val="tx1"/>
                        </a:solidFill>
                        <a:effectLst/>
                        <a:latin typeface="+mn-lt"/>
                        <a:ea typeface="+mn-ea"/>
                      </a:endParaRPr>
                    </a:p>
                  </a:txBody>
                  <a:tcPr anchor="ctr"/>
                </a:tc>
                <a:tc>
                  <a:txBody>
                    <a:bodyPr/>
                    <a:lstStyle/>
                    <a:p>
                      <a:pPr algn="ctr" fontAlgn="ctr"/>
                      <a:r>
                        <a:rPr lang="en-US" sz="1200" b="0" i="0" u="none" strike="noStrike" dirty="0" smtClean="0">
                          <a:solidFill>
                            <a:schemeClr val="tx1"/>
                          </a:solidFill>
                          <a:effectLst/>
                          <a:latin typeface="+mn-lt"/>
                          <a:ea typeface="+mn-ea"/>
                        </a:rPr>
                        <a:t>…</a:t>
                      </a:r>
                      <a:endParaRPr lang="en-US" sz="1200" b="0" i="0" u="none" strike="noStrike" dirty="0">
                        <a:solidFill>
                          <a:schemeClr val="tx1"/>
                        </a:solidFill>
                        <a:effectLst/>
                        <a:latin typeface="+mn-lt"/>
                        <a:ea typeface="+mn-ea"/>
                      </a:endParaRPr>
                    </a:p>
                  </a:txBody>
                  <a:tcPr anchor="ctr"/>
                </a:tc>
                <a:tc>
                  <a:txBody>
                    <a:bodyPr/>
                    <a:lstStyle/>
                    <a:p>
                      <a:pPr algn="ctr" fontAlgn="ctr"/>
                      <a:r>
                        <a:rPr lang="en-US" sz="1200" b="0" i="0" u="none" strike="noStrike" dirty="0" smtClean="0">
                          <a:solidFill>
                            <a:schemeClr val="tx1"/>
                          </a:solidFill>
                          <a:effectLst/>
                          <a:latin typeface="+mn-lt"/>
                          <a:ea typeface="+mn-ea"/>
                        </a:rPr>
                        <a:t>…</a:t>
                      </a:r>
                      <a:endParaRPr lang="en-US" sz="1200" b="0" i="0" u="none" strike="noStrike" dirty="0">
                        <a:solidFill>
                          <a:schemeClr val="tx1"/>
                        </a:solidFill>
                        <a:effectLst/>
                        <a:latin typeface="+mn-lt"/>
                        <a:ea typeface="+mn-ea"/>
                      </a:endParaRPr>
                    </a:p>
                  </a:txBody>
                  <a:tcPr anchor="ctr"/>
                </a:tc>
                <a:tc>
                  <a:txBody>
                    <a:bodyPr/>
                    <a:lstStyle/>
                    <a:p>
                      <a:pPr algn="ctr" fontAlgn="ctr"/>
                      <a:r>
                        <a:rPr lang="en-US" sz="1200" b="0" i="0" u="none" strike="noStrike" dirty="0" smtClean="0">
                          <a:solidFill>
                            <a:schemeClr val="tx1"/>
                          </a:solidFill>
                          <a:effectLst/>
                          <a:latin typeface="+mn-lt"/>
                          <a:ea typeface="+mn-ea"/>
                        </a:rPr>
                        <a:t>…</a:t>
                      </a:r>
                      <a:endParaRPr lang="en-US" sz="1200" b="0" i="0" u="none" strike="noStrike" dirty="0">
                        <a:solidFill>
                          <a:schemeClr val="tx1"/>
                        </a:solidFill>
                        <a:effectLst/>
                        <a:latin typeface="+mn-lt"/>
                        <a:ea typeface="+mn-ea"/>
                      </a:endParaRPr>
                    </a:p>
                  </a:txBody>
                  <a:tcPr anchor="ctr"/>
                </a:tc>
                <a:tc>
                  <a:txBody>
                    <a:bodyPr/>
                    <a:lstStyle/>
                    <a:p>
                      <a:pPr algn="ctr" fontAlgn="ctr"/>
                      <a:r>
                        <a:rPr lang="en-US" altLang="zh-CN" sz="1200" b="0" u="none" strike="noStrike" dirty="0" smtClean="0">
                          <a:solidFill>
                            <a:schemeClr val="tx1"/>
                          </a:solidFill>
                          <a:effectLst/>
                          <a:latin typeface="+mn-lt"/>
                          <a:ea typeface="+mn-ea"/>
                        </a:rPr>
                        <a:t>…</a:t>
                      </a:r>
                      <a:endParaRPr lang="en-US" sz="1200" b="0" i="0" u="none" strike="noStrike" dirty="0">
                        <a:solidFill>
                          <a:schemeClr val="tx1"/>
                        </a:solidFill>
                        <a:effectLst/>
                        <a:latin typeface="+mn-lt"/>
                        <a:ea typeface="+mn-ea"/>
                      </a:endParaRPr>
                    </a:p>
                  </a:txBody>
                  <a:tcPr anchor="ctr"/>
                </a:tc>
                <a:tc>
                  <a:txBody>
                    <a:bodyPr/>
                    <a:lstStyle/>
                    <a:p>
                      <a:pPr algn="ctr" fontAlgn="ctr"/>
                      <a:r>
                        <a:rPr lang="en-US" sz="1200" b="0" i="0" u="none" strike="noStrike" dirty="0" smtClean="0">
                          <a:solidFill>
                            <a:schemeClr val="tx1"/>
                          </a:solidFill>
                          <a:effectLst/>
                          <a:latin typeface="+mn-lt"/>
                          <a:ea typeface="+mn-ea"/>
                        </a:rPr>
                        <a:t>…</a:t>
                      </a:r>
                      <a:endParaRPr lang="en-US" sz="1200" b="0" i="0" u="none" strike="noStrike" dirty="0">
                        <a:solidFill>
                          <a:schemeClr val="tx1"/>
                        </a:solidFill>
                        <a:effectLst/>
                        <a:latin typeface="+mn-lt"/>
                        <a:ea typeface="+mn-ea"/>
                      </a:endParaRPr>
                    </a:p>
                  </a:txBody>
                  <a:tcPr anchor="ctr">
                    <a:lnR w="28575" cap="flat" cmpd="sng" algn="ctr">
                      <a:solidFill>
                        <a:schemeClr val="tx1"/>
                      </a:solidFill>
                      <a:prstDash val="solid"/>
                      <a:round/>
                      <a:headEnd type="none" w="med" len="med"/>
                      <a:tailEnd type="none" w="med" len="med"/>
                    </a:lnR>
                  </a:tcPr>
                </a:tc>
              </a:tr>
              <a:tr h="0">
                <a:tc>
                  <a:txBody>
                    <a:bodyPr/>
                    <a:lstStyle/>
                    <a:p>
                      <a:pPr algn="ctr" fontAlgn="ctr"/>
                      <a:r>
                        <a:rPr lang="en-US" altLang="zh-CN" sz="1200" b="0" u="none" strike="noStrike" smtClean="0">
                          <a:solidFill>
                            <a:schemeClr val="tx1"/>
                          </a:solidFill>
                          <a:effectLst/>
                          <a:latin typeface="+mn-lt"/>
                          <a:ea typeface="+mn-ea"/>
                        </a:rPr>
                        <a:t>…</a:t>
                      </a:r>
                      <a:endParaRPr lang="en-US" altLang="zh-CN" sz="1200" b="0" i="0" u="none" strike="noStrike">
                        <a:solidFill>
                          <a:schemeClr val="tx1"/>
                        </a:solidFill>
                        <a:effectLst/>
                        <a:latin typeface="+mn-lt"/>
                        <a:ea typeface="+mn-ea"/>
                      </a:endParaRPr>
                    </a:p>
                  </a:txBody>
                  <a:tcPr anchor="ctr">
                    <a:lnL w="28575" cap="flat" cmpd="sng" algn="ctr">
                      <a:solidFill>
                        <a:schemeClr val="tx1"/>
                      </a:solidFill>
                      <a:prstDash val="solid"/>
                      <a:round/>
                      <a:headEnd type="none" w="med" len="med"/>
                      <a:tailEnd type="none" w="med" len="med"/>
                    </a:lnL>
                    <a:lnB w="28575" cap="flat" cmpd="sng" algn="ctr">
                      <a:solidFill>
                        <a:schemeClr val="tx1"/>
                      </a:solidFill>
                      <a:prstDash val="solid"/>
                      <a:round/>
                      <a:headEnd type="none" w="med" len="med"/>
                      <a:tailEnd type="none" w="med" len="med"/>
                    </a:lnB>
                  </a:tcPr>
                </a:tc>
                <a:tc>
                  <a:txBody>
                    <a:bodyPr/>
                    <a:lstStyle/>
                    <a:p>
                      <a:pPr algn="ctr" fontAlgn="ctr"/>
                      <a:r>
                        <a:rPr lang="en-US" altLang="zh-CN" sz="1200" b="0" u="none" strike="noStrike" smtClean="0">
                          <a:solidFill>
                            <a:schemeClr val="tx1"/>
                          </a:solidFill>
                          <a:effectLst/>
                          <a:latin typeface="+mn-lt"/>
                          <a:ea typeface="+mn-ea"/>
                        </a:rPr>
                        <a:t>…</a:t>
                      </a:r>
                      <a:endParaRPr lang="en-US" altLang="zh-CN" sz="1200" b="0" i="0" u="none" strike="noStrike">
                        <a:solidFill>
                          <a:schemeClr val="tx1"/>
                        </a:solidFill>
                        <a:effectLst/>
                        <a:latin typeface="+mn-lt"/>
                        <a:ea typeface="+mn-ea"/>
                      </a:endParaRPr>
                    </a:p>
                  </a:txBody>
                  <a:tcPr anchor="ctr">
                    <a:lnB w="28575" cap="flat" cmpd="sng" algn="ctr">
                      <a:solidFill>
                        <a:schemeClr val="tx1"/>
                      </a:solidFill>
                      <a:prstDash val="solid"/>
                      <a:round/>
                      <a:headEnd type="none" w="med" len="med"/>
                      <a:tailEnd type="none" w="med" len="med"/>
                    </a:lnB>
                  </a:tcPr>
                </a:tc>
                <a:tc>
                  <a:txBody>
                    <a:bodyPr/>
                    <a:lstStyle/>
                    <a:p>
                      <a:pPr algn="ctr" fontAlgn="ctr"/>
                      <a:r>
                        <a:rPr lang="en-US" altLang="zh-CN" sz="1200" b="0" u="none" strike="noStrike" smtClean="0">
                          <a:solidFill>
                            <a:schemeClr val="tx1"/>
                          </a:solidFill>
                          <a:effectLst/>
                          <a:latin typeface="+mn-lt"/>
                          <a:ea typeface="+mn-ea"/>
                        </a:rPr>
                        <a:t>…</a:t>
                      </a:r>
                      <a:endParaRPr lang="en-US" altLang="zh-CN" sz="1200" b="0" i="0" u="none" strike="noStrike">
                        <a:solidFill>
                          <a:schemeClr val="tx1"/>
                        </a:solidFill>
                        <a:effectLst/>
                        <a:latin typeface="+mn-lt"/>
                        <a:ea typeface="+mn-ea"/>
                      </a:endParaRPr>
                    </a:p>
                  </a:txBody>
                  <a:tcPr anchor="ctr">
                    <a:lnB w="28575" cap="flat" cmpd="sng" algn="ctr">
                      <a:solidFill>
                        <a:schemeClr val="tx1"/>
                      </a:solidFill>
                      <a:prstDash val="solid"/>
                      <a:round/>
                      <a:headEnd type="none" w="med" len="med"/>
                      <a:tailEnd type="none" w="med" len="med"/>
                    </a:lnB>
                  </a:tcPr>
                </a:tc>
                <a:tc>
                  <a:txBody>
                    <a:bodyPr/>
                    <a:lstStyle/>
                    <a:p>
                      <a:pPr algn="ctr" fontAlgn="ctr"/>
                      <a:r>
                        <a:rPr lang="en-US" altLang="zh-CN" sz="1200" b="0" i="0" u="none" strike="noStrike" dirty="0" smtClean="0">
                          <a:solidFill>
                            <a:schemeClr val="tx1"/>
                          </a:solidFill>
                          <a:effectLst/>
                          <a:latin typeface="+mn-lt"/>
                          <a:ea typeface="+mn-ea"/>
                        </a:rPr>
                        <a:t>…</a:t>
                      </a:r>
                      <a:endParaRPr lang="en-US" altLang="zh-CN" sz="1200" b="0" i="0" u="none" strike="noStrike" dirty="0">
                        <a:solidFill>
                          <a:schemeClr val="tx1"/>
                        </a:solidFill>
                        <a:effectLst/>
                        <a:latin typeface="+mn-lt"/>
                        <a:ea typeface="+mn-ea"/>
                      </a:endParaRPr>
                    </a:p>
                  </a:txBody>
                  <a:tcPr anchor="ctr">
                    <a:lnB w="28575" cap="flat" cmpd="sng" algn="ctr">
                      <a:solidFill>
                        <a:schemeClr val="tx1"/>
                      </a:solidFill>
                      <a:prstDash val="solid"/>
                      <a:round/>
                      <a:headEnd type="none" w="med" len="med"/>
                      <a:tailEnd type="none" w="med" len="med"/>
                    </a:lnB>
                  </a:tcPr>
                </a:tc>
                <a:tc>
                  <a:txBody>
                    <a:bodyPr/>
                    <a:lstStyle/>
                    <a:p>
                      <a:pPr algn="ctr" fontAlgn="ctr"/>
                      <a:r>
                        <a:rPr lang="en-US" altLang="zh-CN" sz="1200" b="0" i="0" u="none" strike="noStrike" dirty="0" smtClean="0">
                          <a:solidFill>
                            <a:schemeClr val="tx1"/>
                          </a:solidFill>
                          <a:effectLst/>
                          <a:latin typeface="+mn-lt"/>
                          <a:ea typeface="+mn-ea"/>
                        </a:rPr>
                        <a:t>…</a:t>
                      </a:r>
                      <a:endParaRPr lang="en-US" altLang="zh-CN" sz="1200" b="0" i="0" u="none" strike="noStrike" dirty="0">
                        <a:solidFill>
                          <a:schemeClr val="tx1"/>
                        </a:solidFill>
                        <a:effectLst/>
                        <a:latin typeface="+mn-lt"/>
                        <a:ea typeface="+mn-ea"/>
                      </a:endParaRPr>
                    </a:p>
                  </a:txBody>
                  <a:tcPr anchor="ctr">
                    <a:lnB w="28575" cap="flat" cmpd="sng" algn="ctr">
                      <a:solidFill>
                        <a:schemeClr val="tx1"/>
                      </a:solidFill>
                      <a:prstDash val="solid"/>
                      <a:round/>
                      <a:headEnd type="none" w="med" len="med"/>
                      <a:tailEnd type="none" w="med" len="med"/>
                    </a:lnB>
                  </a:tcPr>
                </a:tc>
                <a:tc>
                  <a:txBody>
                    <a:bodyPr/>
                    <a:lstStyle/>
                    <a:p>
                      <a:pPr algn="ctr" fontAlgn="ctr"/>
                      <a:r>
                        <a:rPr lang="en-US" altLang="zh-CN" sz="1200" b="0" u="none" strike="noStrike" dirty="0" smtClean="0">
                          <a:solidFill>
                            <a:schemeClr val="tx1"/>
                          </a:solidFill>
                          <a:effectLst/>
                          <a:latin typeface="+mn-lt"/>
                          <a:ea typeface="+mn-ea"/>
                        </a:rPr>
                        <a:t>…</a:t>
                      </a:r>
                      <a:endParaRPr lang="en-US" altLang="zh-CN" sz="1200" b="0" i="0" u="none" strike="noStrike" dirty="0">
                        <a:solidFill>
                          <a:schemeClr val="tx1"/>
                        </a:solidFill>
                        <a:effectLst/>
                        <a:latin typeface="+mn-lt"/>
                        <a:ea typeface="+mn-ea"/>
                      </a:endParaRPr>
                    </a:p>
                  </a:txBody>
                  <a:tcPr anchor="ctr">
                    <a:lnB w="28575" cap="flat" cmpd="sng" algn="ctr">
                      <a:solidFill>
                        <a:schemeClr val="tx1"/>
                      </a:solidFill>
                      <a:prstDash val="solid"/>
                      <a:round/>
                      <a:headEnd type="none" w="med" len="med"/>
                      <a:tailEnd type="none" w="med" len="med"/>
                    </a:lnB>
                  </a:tcPr>
                </a:tc>
                <a:tc>
                  <a:txBody>
                    <a:bodyPr/>
                    <a:lstStyle/>
                    <a:p>
                      <a:pPr algn="ctr" fontAlgn="ctr"/>
                      <a:r>
                        <a:rPr lang="en-US" altLang="zh-CN" sz="1200" b="0" u="none" strike="noStrike" dirty="0" smtClean="0">
                          <a:solidFill>
                            <a:schemeClr val="tx1"/>
                          </a:solidFill>
                          <a:effectLst/>
                          <a:latin typeface="+mn-lt"/>
                          <a:ea typeface="+mn-ea"/>
                        </a:rPr>
                        <a:t>…</a:t>
                      </a:r>
                      <a:endParaRPr lang="en-US" altLang="zh-CN" sz="1200" b="0" i="0" u="none" strike="noStrike" dirty="0">
                        <a:solidFill>
                          <a:schemeClr val="tx1"/>
                        </a:solidFill>
                        <a:effectLst/>
                        <a:latin typeface="+mn-lt"/>
                        <a:ea typeface="+mn-ea"/>
                      </a:endParaRPr>
                    </a:p>
                  </a:txBody>
                  <a:tcPr anchor="ctr">
                    <a:lnR w="28575" cap="flat" cmpd="sng" algn="ctr">
                      <a:solidFill>
                        <a:schemeClr val="tx1"/>
                      </a:solidFill>
                      <a:prstDash val="solid"/>
                      <a:round/>
                      <a:headEnd type="none" w="med" len="med"/>
                      <a:tailEnd type="none" w="med" len="med"/>
                    </a:lnR>
                    <a:lnB w="28575" cap="flat" cmpd="sng" algn="ctr">
                      <a:solidFill>
                        <a:schemeClr val="tx1"/>
                      </a:solidFill>
                      <a:prstDash val="solid"/>
                      <a:round/>
                      <a:headEnd type="none" w="med" len="med"/>
                      <a:tailEnd type="none" w="med" len="med"/>
                    </a:lnB>
                  </a:tcPr>
                </a:tc>
              </a:tr>
            </a:tbl>
          </a:graphicData>
        </a:graphic>
      </p:graphicFrame>
      <p:sp>
        <p:nvSpPr>
          <p:cNvPr id="18" name="TextBox 179"/>
          <p:cNvSpPr txBox="1"/>
          <p:nvPr/>
        </p:nvSpPr>
        <p:spPr bwMode="gray">
          <a:xfrm>
            <a:off x="4556662" y="1745238"/>
            <a:ext cx="1016484" cy="267630"/>
          </a:xfrm>
          <a:prstGeom prst="roundRect">
            <a:avLst>
              <a:gd name="adj" fmla="val 12806"/>
            </a:avLst>
          </a:prstGeom>
          <a:solidFill>
            <a:srgbClr val="30B5C5"/>
          </a:solidFill>
          <a:ln>
            <a:noFill/>
          </a:ln>
        </p:spPr>
        <p:txBody>
          <a:bodyPr wrap="none" lIns="0" tIns="0" rIns="0" bIns="0" anchor="ctr" anchorCtr="0">
            <a:noAutofit/>
          </a:bodyPr>
          <a:lstStyle>
            <a:defPPr>
              <a:defRPr lang="en-US"/>
            </a:defPPr>
            <a:lvl1pPr algn="ctr" defTabSz="914478">
              <a:defRPr sz="1200">
                <a:solidFill>
                  <a:schemeClr val="bg1"/>
                </a:solidFill>
              </a:defRPr>
            </a:lvl1pPr>
            <a:lvl2pPr marL="457240" defTabSz="914478"/>
            <a:lvl3pPr marL="914478" defTabSz="914478"/>
            <a:lvl4pPr marL="1371718" defTabSz="914478"/>
            <a:lvl5pPr marL="1828957" defTabSz="914478"/>
            <a:lvl6pPr marL="2286196" defTabSz="914478"/>
            <a:lvl7pPr marL="2743435" defTabSz="914478"/>
            <a:lvl8pPr marL="3200675" defTabSz="914478"/>
            <a:lvl9pPr marL="3657913" defTabSz="914478"/>
          </a:lstStyle>
          <a:p>
            <a:r>
              <a:rPr lang="zh-CN" altLang="en-US" dirty="0" smtClean="0"/>
              <a:t>逐个创建站点</a:t>
            </a:r>
            <a:endParaRPr lang="zh-CN" altLang="en-US" dirty="0"/>
          </a:p>
        </p:txBody>
      </p:sp>
      <p:sp>
        <p:nvSpPr>
          <p:cNvPr id="19" name="TextBox 179"/>
          <p:cNvSpPr txBox="1"/>
          <p:nvPr/>
        </p:nvSpPr>
        <p:spPr bwMode="gray">
          <a:xfrm>
            <a:off x="7854610" y="5814750"/>
            <a:ext cx="2178923" cy="267630"/>
          </a:xfrm>
          <a:prstGeom prst="roundRect">
            <a:avLst>
              <a:gd name="adj" fmla="val 12806"/>
            </a:avLst>
          </a:prstGeom>
          <a:solidFill>
            <a:srgbClr val="30B5C5"/>
          </a:solidFill>
          <a:ln>
            <a:noFill/>
          </a:ln>
        </p:spPr>
        <p:txBody>
          <a:bodyPr wrap="none" lIns="0" tIns="0" rIns="0" bIns="0" anchor="ctr" anchorCtr="0">
            <a:noAutofit/>
          </a:bodyPr>
          <a:lstStyle>
            <a:defPPr>
              <a:defRPr lang="en-US"/>
            </a:defPPr>
            <a:lvl1pPr algn="ctr" defTabSz="914478">
              <a:defRPr sz="1200">
                <a:solidFill>
                  <a:schemeClr val="bg1"/>
                </a:solidFill>
              </a:defRPr>
            </a:lvl1pPr>
            <a:lvl2pPr marL="457240" defTabSz="914478"/>
            <a:lvl3pPr marL="914478" defTabSz="914478"/>
            <a:lvl4pPr marL="1371718" defTabSz="914478"/>
            <a:lvl5pPr marL="1828957" defTabSz="914478"/>
            <a:lvl6pPr marL="2286196" defTabSz="914478"/>
            <a:lvl7pPr marL="2743435" defTabSz="914478"/>
            <a:lvl8pPr marL="3200675" defTabSz="914478"/>
            <a:lvl9pPr marL="3657913" defTabSz="914478"/>
          </a:lstStyle>
          <a:p>
            <a:r>
              <a:rPr lang="zh-CN" altLang="en-US" smtClean="0"/>
              <a:t>批量完成站点创建、设备导入</a:t>
            </a:r>
            <a:endParaRPr lang="zh-CN" altLang="en-US"/>
          </a:p>
        </p:txBody>
      </p:sp>
      <p:pic>
        <p:nvPicPr>
          <p:cNvPr id="3" name="图片 2"/>
          <p:cNvPicPr>
            <a:picLocks noChangeAspect="1"/>
          </p:cNvPicPr>
          <p:nvPr/>
        </p:nvPicPr>
        <p:blipFill rotWithShape="1">
          <a:blip r:embed="rId4"/>
          <a:srcRect r="49556" b="28638"/>
          <a:stretch/>
        </p:blipFill>
        <p:spPr bwMode="gray">
          <a:xfrm>
            <a:off x="6183987" y="5083296"/>
            <a:ext cx="5194001" cy="543781"/>
          </a:xfrm>
          <a:prstGeom prst="rect">
            <a:avLst/>
          </a:prstGeom>
          <a:ln w="12700">
            <a:solidFill>
              <a:schemeClr val="bg1">
                <a:lumMod val="85000"/>
              </a:schemeClr>
            </a:solidFill>
          </a:ln>
        </p:spPr>
      </p:pic>
      <p:sp>
        <p:nvSpPr>
          <p:cNvPr id="25" name="五边形 24"/>
          <p:cNvSpPr/>
          <p:nvPr/>
        </p:nvSpPr>
        <p:spPr bwMode="gray">
          <a:xfrm>
            <a:off x="5773628" y="98481"/>
            <a:ext cx="900000" cy="213120"/>
          </a:xfrm>
          <a:prstGeom prst="homePlate">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站点管理</a:t>
            </a:r>
          </a:p>
        </p:txBody>
      </p:sp>
      <p:sp>
        <p:nvSpPr>
          <p:cNvPr id="26" name="燕尾形 25"/>
          <p:cNvSpPr/>
          <p:nvPr/>
        </p:nvSpPr>
        <p:spPr bwMode="gray">
          <a:xfrm>
            <a:off x="9109268" y="9848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逻辑网络</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3" name="燕尾形 32"/>
          <p:cNvSpPr/>
          <p:nvPr/>
        </p:nvSpPr>
        <p:spPr bwMode="gray">
          <a:xfrm>
            <a:off x="9925178" y="9848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业务部署</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4" name="燕尾形 33"/>
          <p:cNvSpPr/>
          <p:nvPr/>
        </p:nvSpPr>
        <p:spPr bwMode="gray">
          <a:xfrm>
            <a:off x="8221358" y="98481"/>
            <a:ext cx="972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smtClean="0">
                <a:latin typeface="Huawei Sans" panose="020C0503030203020204" pitchFamily="34" charset="0"/>
                <a:ea typeface="方正兰亭黑简体" panose="02000000000000000000" pitchFamily="2" charset="-122"/>
                <a:sym typeface="Huawei Sans" panose="020C0503030203020204" pitchFamily="34" charset="0"/>
              </a:rPr>
              <a:t>Fabric</a:t>
            </a:r>
            <a:r>
              <a:rPr lang="zh-CN" altLang="en-US" sz="1200" kern="0" dirty="0" smtClean="0">
                <a:latin typeface="Huawei Sans" panose="020C0503030203020204" pitchFamily="34" charset="0"/>
                <a:ea typeface="方正兰亭黑简体" panose="02000000000000000000" pitchFamily="2" charset="-122"/>
                <a:sym typeface="Huawei Sans" panose="020C0503030203020204" pitchFamily="34" charset="0"/>
              </a:rPr>
              <a:t>网络</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5" name="燕尾形 34"/>
          <p:cNvSpPr/>
          <p:nvPr/>
        </p:nvSpPr>
        <p:spPr bwMode="gray">
          <a:xfrm>
            <a:off x="7405448" y="9848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网络规划</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6" name="燕尾形 35"/>
          <p:cNvSpPr/>
          <p:nvPr/>
        </p:nvSpPr>
        <p:spPr bwMode="gray">
          <a:xfrm>
            <a:off x="6589538" y="98481"/>
            <a:ext cx="9000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设备管理</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7" name="燕尾形 36"/>
          <p:cNvSpPr/>
          <p:nvPr/>
        </p:nvSpPr>
        <p:spPr bwMode="gray">
          <a:xfrm>
            <a:off x="10741088" y="98481"/>
            <a:ext cx="1008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WLAN</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业务</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4224479207"/>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bwMode="gray"/>
        <p:txBody>
          <a:bodyPr/>
          <a:lstStyle/>
          <a:p>
            <a:r>
              <a:rPr lang="zh-CN" altLang="en-US" smtClean="0"/>
              <a:t>实验：创建站点、添加设备与设备即插即用</a:t>
            </a:r>
            <a:endParaRPr lang="zh-CN" altLang="en-US" dirty="0"/>
          </a:p>
        </p:txBody>
      </p:sp>
      <p:sp>
        <p:nvSpPr>
          <p:cNvPr id="2" name="文本占位符 1"/>
          <p:cNvSpPr>
            <a:spLocks noGrp="1"/>
          </p:cNvSpPr>
          <p:nvPr>
            <p:ph type="body" sz="quarter" idx="10"/>
          </p:nvPr>
        </p:nvSpPr>
        <p:spPr bwMode="gray">
          <a:xfrm>
            <a:off x="5714704" y="1449388"/>
            <a:ext cx="6034383" cy="4478167"/>
          </a:xfrm>
        </p:spPr>
        <p:txBody>
          <a:bodyPr/>
          <a:lstStyle/>
          <a:p>
            <a:r>
              <a:rPr lang="zh-CN" altLang="en-US" sz="1600" dirty="0" smtClean="0"/>
              <a:t>创建站点与添加设备</a:t>
            </a:r>
          </a:p>
          <a:p>
            <a:pPr lvl="1"/>
            <a:r>
              <a:rPr lang="zh-CN" altLang="en-US" sz="1400" dirty="0" smtClean="0"/>
              <a:t>在</a:t>
            </a:r>
            <a:r>
              <a:rPr lang="en-US" altLang="zh-CN" sz="1400" dirty="0" err="1" smtClean="0"/>
              <a:t>iMaster</a:t>
            </a:r>
            <a:r>
              <a:rPr lang="en-US" altLang="zh-CN" sz="1400" dirty="0" smtClean="0"/>
              <a:t> NCE-Campus</a:t>
            </a:r>
            <a:r>
              <a:rPr lang="zh-CN" altLang="en-US" sz="1400" dirty="0" smtClean="0"/>
              <a:t>上，通过“单个创建”，创建站点“</a:t>
            </a:r>
            <a:r>
              <a:rPr lang="en-US" altLang="zh-CN" sz="1400" dirty="0" smtClean="0"/>
              <a:t>HQ</a:t>
            </a:r>
            <a:r>
              <a:rPr lang="zh-CN" altLang="en-US" sz="1400" dirty="0" smtClean="0"/>
              <a:t>”。</a:t>
            </a:r>
            <a:endParaRPr lang="en-US" altLang="zh-CN" sz="1400" dirty="0" smtClean="0"/>
          </a:p>
          <a:p>
            <a:pPr lvl="1"/>
            <a:r>
              <a:rPr lang="zh-CN" altLang="en-US" sz="1400" dirty="0" smtClean="0"/>
              <a:t>同时“通过型号”或“通过</a:t>
            </a:r>
            <a:r>
              <a:rPr lang="en-US" altLang="zh-CN" sz="1400" dirty="0" smtClean="0"/>
              <a:t>ESN</a:t>
            </a:r>
            <a:r>
              <a:rPr lang="zh-CN" altLang="en-US" sz="1400" dirty="0" smtClean="0"/>
              <a:t>”逐个添加设备（</a:t>
            </a:r>
            <a:r>
              <a:rPr lang="en-US" altLang="zh-CN" sz="1400" dirty="0" smtClean="0"/>
              <a:t>Border</a:t>
            </a:r>
            <a:r>
              <a:rPr lang="zh-CN" altLang="en-US" sz="1400" dirty="0" smtClean="0"/>
              <a:t>、</a:t>
            </a:r>
            <a:r>
              <a:rPr lang="en-US" altLang="zh-CN" sz="1400" dirty="0" smtClean="0"/>
              <a:t>Edge_1</a:t>
            </a:r>
            <a:r>
              <a:rPr lang="zh-CN" altLang="en-US" sz="1400" dirty="0" smtClean="0"/>
              <a:t>、</a:t>
            </a:r>
            <a:r>
              <a:rPr lang="en-US" altLang="zh-CN" sz="1400" dirty="0" smtClean="0"/>
              <a:t>Edge_2</a:t>
            </a:r>
            <a:r>
              <a:rPr lang="zh-CN" altLang="en-US" sz="1400" dirty="0" smtClean="0"/>
              <a:t>、</a:t>
            </a:r>
            <a:r>
              <a:rPr lang="en-US" altLang="zh-CN" sz="1400" dirty="0" smtClean="0"/>
              <a:t>ACC_1</a:t>
            </a:r>
            <a:r>
              <a:rPr lang="zh-CN" altLang="en-US" sz="1400" dirty="0" smtClean="0"/>
              <a:t>、</a:t>
            </a:r>
            <a:r>
              <a:rPr lang="en-US" altLang="zh-CN" sz="1400" dirty="0" smtClean="0"/>
              <a:t>ACC_2</a:t>
            </a:r>
            <a:r>
              <a:rPr lang="zh-CN" altLang="en-US" sz="1400" dirty="0" smtClean="0"/>
              <a:t>、</a:t>
            </a:r>
            <a:r>
              <a:rPr lang="en-US" altLang="zh-CN" sz="1400" dirty="0" smtClean="0"/>
              <a:t>AP1</a:t>
            </a:r>
            <a:r>
              <a:rPr lang="zh-CN" altLang="en-US" sz="1400" dirty="0" smtClean="0"/>
              <a:t>）。</a:t>
            </a:r>
            <a:endParaRPr lang="en-US" altLang="zh-CN" sz="1400" dirty="0" smtClean="0"/>
          </a:p>
          <a:p>
            <a:r>
              <a:rPr lang="zh-CN" altLang="en-US" sz="1600" dirty="0" smtClean="0"/>
              <a:t>设备即插即用（现场操作）</a:t>
            </a:r>
          </a:p>
          <a:p>
            <a:pPr lvl="1"/>
            <a:r>
              <a:rPr lang="zh-CN" altLang="en-US" sz="1400" dirty="0" smtClean="0"/>
              <a:t>用户将网络中的交换机和</a:t>
            </a:r>
            <a:r>
              <a:rPr lang="en-US" altLang="zh-CN" sz="1400" dirty="0" smtClean="0"/>
              <a:t>AP</a:t>
            </a:r>
            <a:r>
              <a:rPr lang="zh-CN" altLang="en-US" sz="1400" dirty="0" smtClean="0"/>
              <a:t>进行连线、上电。</a:t>
            </a:r>
          </a:p>
          <a:p>
            <a:pPr lvl="1"/>
            <a:r>
              <a:rPr lang="zh-CN" altLang="en-US" sz="1400" dirty="0" smtClean="0"/>
              <a:t>交换机通过</a:t>
            </a:r>
            <a:r>
              <a:rPr lang="en-US" altLang="zh-CN" sz="1400" dirty="0" smtClean="0"/>
              <a:t>AR3</a:t>
            </a:r>
            <a:r>
              <a:rPr lang="zh-CN" altLang="en-US" sz="1400" dirty="0" smtClean="0"/>
              <a:t>完成</a:t>
            </a:r>
            <a:r>
              <a:rPr lang="en-US" altLang="zh-CN" sz="1400" dirty="0" smtClean="0"/>
              <a:t>IP</a:t>
            </a:r>
            <a:r>
              <a:rPr lang="zh-CN" altLang="en-US" sz="1400" dirty="0" smtClean="0"/>
              <a:t>地址获取、</a:t>
            </a:r>
            <a:r>
              <a:rPr lang="en-US" altLang="zh-CN" sz="1400" dirty="0" err="1" smtClean="0"/>
              <a:t>iMaster</a:t>
            </a:r>
            <a:r>
              <a:rPr lang="en-US" altLang="zh-CN" sz="1400" dirty="0" smtClean="0"/>
              <a:t> NCE-Campus</a:t>
            </a:r>
            <a:r>
              <a:rPr lang="zh-CN" altLang="en-US" sz="1400" dirty="0" smtClean="0"/>
              <a:t>地址</a:t>
            </a:r>
            <a:r>
              <a:rPr lang="en-US" altLang="zh-CN" sz="1400" dirty="0" smtClean="0"/>
              <a:t>/</a:t>
            </a:r>
            <a:r>
              <a:rPr lang="zh-CN" altLang="en-US" sz="1400" dirty="0" smtClean="0"/>
              <a:t>端口获取，然后向</a:t>
            </a:r>
            <a:r>
              <a:rPr lang="en-US" altLang="zh-CN" sz="1400" dirty="0" err="1" smtClean="0"/>
              <a:t>iMaster</a:t>
            </a:r>
            <a:r>
              <a:rPr lang="en-US" altLang="zh-CN" sz="1400" dirty="0" smtClean="0"/>
              <a:t> NCE-Campus</a:t>
            </a:r>
            <a:r>
              <a:rPr lang="zh-CN" altLang="en-US" sz="1400" dirty="0" smtClean="0"/>
              <a:t>发起注册，并被纳管。</a:t>
            </a:r>
          </a:p>
          <a:p>
            <a:r>
              <a:rPr lang="zh-CN" altLang="en-US" sz="1600" dirty="0" smtClean="0"/>
              <a:t>设备管理（</a:t>
            </a:r>
            <a:r>
              <a:rPr lang="en-US" altLang="zh-CN" sz="1600" dirty="0" err="1" smtClean="0"/>
              <a:t>iMaster</a:t>
            </a:r>
            <a:r>
              <a:rPr lang="en-US" altLang="zh-CN" sz="1600" dirty="0" smtClean="0"/>
              <a:t> NCE-Campus</a:t>
            </a:r>
            <a:r>
              <a:rPr lang="zh-CN" altLang="en-US" sz="1600" dirty="0" smtClean="0"/>
              <a:t>）</a:t>
            </a:r>
          </a:p>
          <a:p>
            <a:pPr lvl="1"/>
            <a:r>
              <a:rPr lang="zh-CN" altLang="en-US" sz="1400" dirty="0" smtClean="0"/>
              <a:t>可查看设备注册状态。</a:t>
            </a:r>
          </a:p>
          <a:p>
            <a:pPr lvl="1"/>
            <a:r>
              <a:rPr lang="zh-CN" altLang="en-US" sz="1400" dirty="0" smtClean="0"/>
              <a:t>可查看网络物理拓扑。</a:t>
            </a:r>
          </a:p>
        </p:txBody>
      </p:sp>
      <p:sp>
        <p:nvSpPr>
          <p:cNvPr id="61" name="圆角矩形 60"/>
          <p:cNvSpPr/>
          <p:nvPr/>
        </p:nvSpPr>
        <p:spPr bwMode="gray">
          <a:xfrm>
            <a:off x="1276668" y="2799190"/>
            <a:ext cx="4309958" cy="2346204"/>
          </a:xfrm>
          <a:prstGeom prst="roundRect">
            <a:avLst>
              <a:gd name="adj" fmla="val 3166"/>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cs typeface="Huawei Sans" panose="020C0503030203020204" pitchFamily="34" charset="0"/>
            </a:endParaRPr>
          </a:p>
        </p:txBody>
      </p:sp>
      <p:cxnSp>
        <p:nvCxnSpPr>
          <p:cNvPr id="65" name="Straight Connector 166"/>
          <p:cNvCxnSpPr>
            <a:stCxn id="92" idx="2"/>
            <a:endCxn id="68" idx="0"/>
          </p:cNvCxnSpPr>
          <p:nvPr/>
        </p:nvCxnSpPr>
        <p:spPr bwMode="gray">
          <a:xfrm>
            <a:off x="2129457" y="4193580"/>
            <a:ext cx="0" cy="40327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7" name="Straight Connector 166"/>
          <p:cNvCxnSpPr>
            <a:stCxn id="93" idx="2"/>
            <a:endCxn id="69" idx="0"/>
          </p:cNvCxnSpPr>
          <p:nvPr/>
        </p:nvCxnSpPr>
        <p:spPr bwMode="gray">
          <a:xfrm>
            <a:off x="4060258" y="4193580"/>
            <a:ext cx="0" cy="40327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68" name="图片 76" descr="接入交换机.png"/>
          <p:cNvPicPr>
            <a:picLocks noChangeAspect="1"/>
          </p:cNvPicPr>
          <p:nvPr/>
        </p:nvPicPr>
        <p:blipFill>
          <a:blip r:embed="rId3" cstate="print"/>
          <a:stretch>
            <a:fillRect/>
          </a:stretch>
        </p:blipFill>
        <p:spPr bwMode="gray">
          <a:xfrm>
            <a:off x="1906316" y="4596857"/>
            <a:ext cx="446281" cy="365139"/>
          </a:xfrm>
          <a:prstGeom prst="rect">
            <a:avLst/>
          </a:prstGeom>
        </p:spPr>
      </p:pic>
      <p:pic>
        <p:nvPicPr>
          <p:cNvPr id="69" name="图片 76" descr="接入交换机.png"/>
          <p:cNvPicPr>
            <a:picLocks noChangeAspect="1"/>
          </p:cNvPicPr>
          <p:nvPr/>
        </p:nvPicPr>
        <p:blipFill>
          <a:blip r:embed="rId3" cstate="print"/>
          <a:stretch>
            <a:fillRect/>
          </a:stretch>
        </p:blipFill>
        <p:spPr bwMode="gray">
          <a:xfrm>
            <a:off x="3837117" y="4596857"/>
            <a:ext cx="446281" cy="365139"/>
          </a:xfrm>
          <a:prstGeom prst="rect">
            <a:avLst/>
          </a:prstGeom>
        </p:spPr>
      </p:pic>
      <p:sp>
        <p:nvSpPr>
          <p:cNvPr id="77" name="文本框 76"/>
          <p:cNvSpPr txBox="1"/>
          <p:nvPr/>
        </p:nvSpPr>
        <p:spPr bwMode="gray">
          <a:xfrm>
            <a:off x="4944590" y="2895899"/>
            <a:ext cx="468398" cy="307777"/>
          </a:xfrm>
          <a:prstGeom prst="rect">
            <a:avLst/>
          </a:prstGeom>
          <a:noFill/>
        </p:spPr>
        <p:txBody>
          <a:bodyPr wrap="none" rtlCol="0">
            <a:spAutoFit/>
          </a:bodyPr>
          <a:lstStyle/>
          <a:p>
            <a:r>
              <a:rPr lang="en-US" altLang="zh-CN" sz="1400" b="1" dirty="0" smtClean="0">
                <a:latin typeface="Huawei Sans" panose="020C0503030203020204" pitchFamily="34" charset="0"/>
                <a:ea typeface="方正兰亭黑简体" panose="02000000000000000000" pitchFamily="2" charset="-122"/>
                <a:cs typeface="Huawei Sans" panose="020C0503030203020204" pitchFamily="34" charset="0"/>
              </a:rPr>
              <a:t>HQ</a:t>
            </a:r>
            <a:endParaRPr lang="zh-CN" altLang="en-US" sz="1400" b="1" dirty="0">
              <a:latin typeface="Huawei Sans" panose="020C0503030203020204" pitchFamily="34" charset="0"/>
              <a:ea typeface="方正兰亭黑简体" panose="02000000000000000000" pitchFamily="2" charset="-122"/>
              <a:cs typeface="Huawei Sans" panose="020C0503030203020204" pitchFamily="34" charset="0"/>
            </a:endParaRPr>
          </a:p>
        </p:txBody>
      </p:sp>
      <p:pic>
        <p:nvPicPr>
          <p:cNvPr id="78" name="图片 105" descr="AP.png"/>
          <p:cNvPicPr>
            <a:picLocks noChangeAspect="1"/>
          </p:cNvPicPr>
          <p:nvPr/>
        </p:nvPicPr>
        <p:blipFill>
          <a:blip r:embed="rId4" cstate="print"/>
          <a:stretch>
            <a:fillRect/>
          </a:stretch>
        </p:blipFill>
        <p:spPr bwMode="gray">
          <a:xfrm>
            <a:off x="4999051" y="4628542"/>
            <a:ext cx="368827" cy="301768"/>
          </a:xfrm>
          <a:prstGeom prst="rect">
            <a:avLst/>
          </a:prstGeom>
        </p:spPr>
      </p:pic>
      <p:cxnSp>
        <p:nvCxnSpPr>
          <p:cNvPr id="79" name="Straight Connector 166"/>
          <p:cNvCxnSpPr>
            <a:stCxn id="69" idx="3"/>
            <a:endCxn id="78" idx="1"/>
          </p:cNvCxnSpPr>
          <p:nvPr/>
        </p:nvCxnSpPr>
        <p:spPr bwMode="gray">
          <a:xfrm flipV="1">
            <a:off x="4283398" y="4779426"/>
            <a:ext cx="715653" cy="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80" name="Picture 2" descr="G:\做的项目\公共\扁平图标切换\更新2015_01_21\oss扁平图标库2015_01_21更新-04.png"/>
          <p:cNvPicPr>
            <a:picLocks noChangeAspect="1" noChangeArrowheads="1"/>
          </p:cNvPicPr>
          <p:nvPr/>
        </p:nvPicPr>
        <p:blipFill>
          <a:blip r:embed="rId5" cstate="print"/>
          <a:stretch>
            <a:fillRect/>
          </a:stretch>
        </p:blipFill>
        <p:spPr bwMode="gray">
          <a:xfrm>
            <a:off x="2886009" y="1952673"/>
            <a:ext cx="446281" cy="365138"/>
          </a:xfrm>
          <a:prstGeom prst="rect">
            <a:avLst/>
          </a:prstGeom>
          <a:noFill/>
        </p:spPr>
      </p:pic>
      <p:sp>
        <p:nvSpPr>
          <p:cNvPr id="81" name="文本框 80"/>
          <p:cNvSpPr txBox="1"/>
          <p:nvPr/>
        </p:nvSpPr>
        <p:spPr bwMode="gray">
          <a:xfrm>
            <a:off x="2414888" y="1549178"/>
            <a:ext cx="1388522" cy="461665"/>
          </a:xfrm>
          <a:prstGeom prst="rect">
            <a:avLst/>
          </a:prstGeom>
          <a:noFill/>
        </p:spPr>
        <p:txBody>
          <a:bodyPr wrap="none" rtlCol="0">
            <a:spAutoFit/>
          </a:bodyPr>
          <a:lstStyle/>
          <a:p>
            <a:pPr algn="ctr"/>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AR3</a:t>
            </a:r>
          </a:p>
          <a:p>
            <a:pPr algn="ctr"/>
            <a:r>
              <a:rPr lang="zh-CN" altLang="en-US" sz="1200" dirty="0" smtClean="0">
                <a:latin typeface="Huawei Sans" panose="020C0503030203020204" pitchFamily="34" charset="0"/>
                <a:ea typeface="方正兰亭黑简体" panose="02000000000000000000" pitchFamily="2" charset="-122"/>
                <a:cs typeface="Huawei Sans" panose="020C0503030203020204" pitchFamily="34" charset="0"/>
              </a:rPr>
              <a:t>（</a:t>
            </a:r>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DHCP Server</a:t>
            </a:r>
            <a:r>
              <a:rPr lang="zh-CN" altLang="en-US" sz="1200" dirty="0" smtClean="0">
                <a:latin typeface="Huawei Sans" panose="020C0503030203020204" pitchFamily="34" charset="0"/>
                <a:ea typeface="方正兰亭黑简体" panose="02000000000000000000" pitchFamily="2" charset="-122"/>
                <a:cs typeface="Huawei Sans" panose="020C0503030203020204" pitchFamily="34" charset="0"/>
              </a:rPr>
              <a:t>）</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cxnSp>
        <p:nvCxnSpPr>
          <p:cNvPr id="85" name="Straight Connector 166"/>
          <p:cNvCxnSpPr>
            <a:stCxn id="88" idx="0"/>
            <a:endCxn id="80" idx="2"/>
          </p:cNvCxnSpPr>
          <p:nvPr/>
        </p:nvCxnSpPr>
        <p:spPr bwMode="gray">
          <a:xfrm flipV="1">
            <a:off x="3109150" y="2317811"/>
            <a:ext cx="0" cy="63396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6" name="Straight Connector 167"/>
          <p:cNvCxnSpPr/>
          <p:nvPr/>
        </p:nvCxnSpPr>
        <p:spPr bwMode="gray">
          <a:xfrm flipH="1">
            <a:off x="2130167" y="3134348"/>
            <a:ext cx="971589" cy="876201"/>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87" name="Straight Connector 167"/>
          <p:cNvCxnSpPr/>
          <p:nvPr/>
        </p:nvCxnSpPr>
        <p:spPr bwMode="gray">
          <a:xfrm flipH="1" flipV="1">
            <a:off x="3098377" y="3131871"/>
            <a:ext cx="975076" cy="883934"/>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pic>
        <p:nvPicPr>
          <p:cNvPr id="88" name="图片 86" descr="核心交换机.png"/>
          <p:cNvPicPr>
            <a:picLocks noChangeAspect="1"/>
          </p:cNvPicPr>
          <p:nvPr/>
        </p:nvPicPr>
        <p:blipFill>
          <a:blip r:embed="rId6" cstate="print"/>
          <a:stretch>
            <a:fillRect/>
          </a:stretch>
        </p:blipFill>
        <p:spPr bwMode="gray">
          <a:xfrm>
            <a:off x="2886009" y="2951779"/>
            <a:ext cx="446281" cy="365139"/>
          </a:xfrm>
          <a:prstGeom prst="rect">
            <a:avLst/>
          </a:prstGeom>
        </p:spPr>
      </p:pic>
      <p:sp>
        <p:nvSpPr>
          <p:cNvPr id="89" name="文本框 88"/>
          <p:cNvSpPr txBox="1"/>
          <p:nvPr/>
        </p:nvSpPr>
        <p:spPr bwMode="gray">
          <a:xfrm>
            <a:off x="2240354" y="3003138"/>
            <a:ext cx="665567" cy="276999"/>
          </a:xfrm>
          <a:prstGeom prst="rect">
            <a:avLst/>
          </a:prstGeom>
          <a:noFill/>
        </p:spPr>
        <p:txBody>
          <a:bodyPr wrap="none" rtlCol="0">
            <a:spAutoFit/>
          </a:bodyPr>
          <a:lstStyle/>
          <a:p>
            <a:pPr algn="ctr"/>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Border</a:t>
            </a:r>
          </a:p>
        </p:txBody>
      </p:sp>
      <p:sp>
        <p:nvSpPr>
          <p:cNvPr id="90" name="文本框 89"/>
          <p:cNvSpPr txBox="1"/>
          <p:nvPr/>
        </p:nvSpPr>
        <p:spPr bwMode="gray">
          <a:xfrm>
            <a:off x="1293361" y="3860807"/>
            <a:ext cx="684804" cy="276999"/>
          </a:xfrm>
          <a:prstGeom prst="rect">
            <a:avLst/>
          </a:prstGeom>
          <a:noFill/>
        </p:spPr>
        <p:txBody>
          <a:bodyPr wrap="none" rtlCol="0">
            <a:spAutoFit/>
          </a:bodyPr>
          <a:lstStyle/>
          <a:p>
            <a:pPr algn="r"/>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Edge_1</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91" name="文本框 90"/>
          <p:cNvSpPr txBox="1"/>
          <p:nvPr/>
        </p:nvSpPr>
        <p:spPr bwMode="gray">
          <a:xfrm>
            <a:off x="1346261" y="4645138"/>
            <a:ext cx="631904" cy="276999"/>
          </a:xfrm>
          <a:prstGeom prst="rect">
            <a:avLst/>
          </a:prstGeom>
          <a:noFill/>
        </p:spPr>
        <p:txBody>
          <a:bodyPr wrap="none" rtlCol="0">
            <a:spAutoFit/>
          </a:bodyPr>
          <a:lstStyle/>
          <a:p>
            <a:pPr algn="r"/>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ACC_1</a:t>
            </a:r>
          </a:p>
        </p:txBody>
      </p:sp>
      <p:pic>
        <p:nvPicPr>
          <p:cNvPr id="92" name="图片 87" descr="汇聚交换机.png"/>
          <p:cNvPicPr>
            <a:picLocks noChangeAspect="1"/>
          </p:cNvPicPr>
          <p:nvPr/>
        </p:nvPicPr>
        <p:blipFill>
          <a:blip r:embed="rId7" cstate="print"/>
          <a:stretch>
            <a:fillRect/>
          </a:stretch>
        </p:blipFill>
        <p:spPr bwMode="gray">
          <a:xfrm>
            <a:off x="1906316" y="3828441"/>
            <a:ext cx="446281" cy="365139"/>
          </a:xfrm>
          <a:prstGeom prst="rect">
            <a:avLst/>
          </a:prstGeom>
        </p:spPr>
      </p:pic>
      <p:pic>
        <p:nvPicPr>
          <p:cNvPr id="93" name="图片 87" descr="汇聚交换机.png"/>
          <p:cNvPicPr>
            <a:picLocks noChangeAspect="1"/>
          </p:cNvPicPr>
          <p:nvPr/>
        </p:nvPicPr>
        <p:blipFill>
          <a:blip r:embed="rId7" cstate="print"/>
          <a:stretch>
            <a:fillRect/>
          </a:stretch>
        </p:blipFill>
        <p:spPr bwMode="gray">
          <a:xfrm>
            <a:off x="3837117" y="3828441"/>
            <a:ext cx="446281" cy="365139"/>
          </a:xfrm>
          <a:prstGeom prst="rect">
            <a:avLst/>
          </a:prstGeom>
        </p:spPr>
      </p:pic>
      <p:sp>
        <p:nvSpPr>
          <p:cNvPr id="94" name="文本框 93"/>
          <p:cNvSpPr txBox="1"/>
          <p:nvPr/>
        </p:nvSpPr>
        <p:spPr bwMode="gray">
          <a:xfrm>
            <a:off x="4946765" y="4386321"/>
            <a:ext cx="460382" cy="276999"/>
          </a:xfrm>
          <a:prstGeom prst="rect">
            <a:avLst/>
          </a:prstGeom>
          <a:noFill/>
        </p:spPr>
        <p:txBody>
          <a:bodyPr wrap="none" rtlCol="0">
            <a:spAutoFit/>
          </a:bodyPr>
          <a:lstStyle/>
          <a:p>
            <a:pPr algn="ctr"/>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AP1</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101" name="文本框 100"/>
          <p:cNvSpPr txBox="1"/>
          <p:nvPr/>
        </p:nvSpPr>
        <p:spPr bwMode="gray">
          <a:xfrm>
            <a:off x="3232893" y="4645138"/>
            <a:ext cx="631904" cy="276999"/>
          </a:xfrm>
          <a:prstGeom prst="rect">
            <a:avLst/>
          </a:prstGeom>
          <a:noFill/>
        </p:spPr>
        <p:txBody>
          <a:bodyPr wrap="none" rtlCol="0">
            <a:spAutoFit/>
          </a:bodyPr>
          <a:lstStyle/>
          <a:p>
            <a:pPr algn="r"/>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ACC_2</a:t>
            </a:r>
          </a:p>
        </p:txBody>
      </p:sp>
      <p:pic>
        <p:nvPicPr>
          <p:cNvPr id="106" name="图片 105"/>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bwMode="gray">
          <a:xfrm>
            <a:off x="771246" y="1837722"/>
            <a:ext cx="1046768" cy="595041"/>
          </a:xfrm>
          <a:prstGeom prst="rect">
            <a:avLst/>
          </a:prstGeom>
        </p:spPr>
      </p:pic>
      <p:sp>
        <p:nvSpPr>
          <p:cNvPr id="107" name="Freeform 3"/>
          <p:cNvSpPr>
            <a:spLocks/>
          </p:cNvSpPr>
          <p:nvPr/>
        </p:nvSpPr>
        <p:spPr bwMode="gray">
          <a:xfrm rot="19663033">
            <a:off x="650245" y="2460319"/>
            <a:ext cx="1826418" cy="1017966"/>
          </a:xfrm>
          <a:custGeom>
            <a:avLst/>
            <a:gdLst>
              <a:gd name="T0" fmla="*/ 0 w 5016"/>
              <a:gd name="T1" fmla="*/ 2147483647 h 2256"/>
              <a:gd name="T2" fmla="*/ 2147483647 w 5016"/>
              <a:gd name="T3" fmla="*/ 2147483647 h 2256"/>
              <a:gd name="T4" fmla="*/ 2147483647 w 5016"/>
              <a:gd name="T5" fmla="*/ 2147483647 h 2256"/>
              <a:gd name="T6" fmla="*/ 2147483647 w 5016"/>
              <a:gd name="T7" fmla="*/ 2147483647 h 2256"/>
              <a:gd name="T8" fmla="*/ 2147483647 w 5016"/>
              <a:gd name="T9" fmla="*/ 2147483647 h 2256"/>
              <a:gd name="T10" fmla="*/ 2147483647 w 5016"/>
              <a:gd name="T11" fmla="*/ 2147483647 h 2256"/>
              <a:gd name="T12" fmla="*/ 2147483647 w 5016"/>
              <a:gd name="T13" fmla="*/ 2147483647 h 2256"/>
              <a:gd name="T14" fmla="*/ 2147483647 w 5016"/>
              <a:gd name="T15" fmla="*/ 2147483647 h 2256"/>
              <a:gd name="T16" fmla="*/ 2147483647 w 5016"/>
              <a:gd name="T17" fmla="*/ 2147483647 h 2256"/>
              <a:gd name="T18" fmla="*/ 2147483647 w 5016"/>
              <a:gd name="T19" fmla="*/ 0 h 2256"/>
              <a:gd name="T20" fmla="*/ 2147483647 w 5016"/>
              <a:gd name="T21" fmla="*/ 2147483647 h 2256"/>
              <a:gd name="T22" fmla="*/ 2147483647 w 5016"/>
              <a:gd name="T23" fmla="*/ 2147483647 h 2256"/>
              <a:gd name="T24" fmla="*/ 2147483647 w 5016"/>
              <a:gd name="T25" fmla="*/ 2147483647 h 2256"/>
              <a:gd name="T26" fmla="*/ 2147483647 w 5016"/>
              <a:gd name="T27" fmla="*/ 2147483647 h 2256"/>
              <a:gd name="T28" fmla="*/ 2147483647 w 5016"/>
              <a:gd name="T29" fmla="*/ 2147483647 h 2256"/>
              <a:gd name="T30" fmla="*/ 2147483647 w 5016"/>
              <a:gd name="T31" fmla="*/ 2147483647 h 2256"/>
              <a:gd name="T32" fmla="*/ 2147483647 w 5016"/>
              <a:gd name="T33" fmla="*/ 2147483647 h 2256"/>
              <a:gd name="T34" fmla="*/ 2147483647 w 5016"/>
              <a:gd name="T35" fmla="*/ 2147483647 h 2256"/>
              <a:gd name="T36" fmla="*/ 2147483647 w 5016"/>
              <a:gd name="T37" fmla="*/ 2147483647 h 2256"/>
              <a:gd name="T38" fmla="*/ 0 w 5016"/>
              <a:gd name="T39" fmla="*/ 2147483647 h 225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5016"/>
              <a:gd name="T61" fmla="*/ 0 h 2256"/>
              <a:gd name="T62" fmla="*/ 5016 w 5016"/>
              <a:gd name="T63" fmla="*/ 2256 h 225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5016" h="2256">
                <a:moveTo>
                  <a:pt x="0" y="2240"/>
                </a:moveTo>
                <a:cubicBezTo>
                  <a:pt x="276" y="2109"/>
                  <a:pt x="1182" y="1474"/>
                  <a:pt x="1122" y="702"/>
                </a:cubicBezTo>
                <a:lnTo>
                  <a:pt x="972" y="744"/>
                </a:lnTo>
                <a:cubicBezTo>
                  <a:pt x="988" y="702"/>
                  <a:pt x="1140" y="436"/>
                  <a:pt x="1140" y="438"/>
                </a:cubicBezTo>
                <a:lnTo>
                  <a:pt x="1422" y="642"/>
                </a:lnTo>
                <a:cubicBezTo>
                  <a:pt x="1422" y="642"/>
                  <a:pt x="1260" y="672"/>
                  <a:pt x="1272" y="672"/>
                </a:cubicBezTo>
                <a:cubicBezTo>
                  <a:pt x="1428" y="1008"/>
                  <a:pt x="1620" y="1350"/>
                  <a:pt x="1968" y="1284"/>
                </a:cubicBezTo>
                <a:cubicBezTo>
                  <a:pt x="2316" y="1218"/>
                  <a:pt x="2460" y="576"/>
                  <a:pt x="2466" y="318"/>
                </a:cubicBezTo>
                <a:lnTo>
                  <a:pt x="2280" y="318"/>
                </a:lnTo>
                <a:lnTo>
                  <a:pt x="2598" y="0"/>
                </a:lnTo>
                <a:lnTo>
                  <a:pt x="2898" y="330"/>
                </a:lnTo>
                <a:lnTo>
                  <a:pt x="2724" y="324"/>
                </a:lnTo>
                <a:cubicBezTo>
                  <a:pt x="2724" y="325"/>
                  <a:pt x="2760" y="1284"/>
                  <a:pt x="3210" y="1302"/>
                </a:cubicBezTo>
                <a:cubicBezTo>
                  <a:pt x="3660" y="1320"/>
                  <a:pt x="3816" y="912"/>
                  <a:pt x="3870" y="654"/>
                </a:cubicBezTo>
                <a:lnTo>
                  <a:pt x="3702" y="642"/>
                </a:lnTo>
                <a:lnTo>
                  <a:pt x="3984" y="420"/>
                </a:lnTo>
                <a:lnTo>
                  <a:pt x="4182" y="678"/>
                </a:lnTo>
                <a:lnTo>
                  <a:pt x="4026" y="672"/>
                </a:lnTo>
                <a:cubicBezTo>
                  <a:pt x="4032" y="678"/>
                  <a:pt x="3960" y="1862"/>
                  <a:pt x="5016" y="2225"/>
                </a:cubicBezTo>
                <a:cubicBezTo>
                  <a:pt x="3438" y="2232"/>
                  <a:pt x="1092" y="2256"/>
                  <a:pt x="0" y="2240"/>
                </a:cubicBezTo>
                <a:close/>
              </a:path>
            </a:pathLst>
          </a:custGeom>
          <a:gradFill flip="none" rotWithShape="1">
            <a:gsLst>
              <a:gs pos="15000">
                <a:schemeClr val="accent1">
                  <a:lumMod val="5000"/>
                  <a:lumOff val="95000"/>
                  <a:alpha val="0"/>
                </a:schemeClr>
              </a:gs>
              <a:gs pos="81000">
                <a:srgbClr val="BEE9EE"/>
              </a:gs>
            </a:gsLst>
            <a:lin ang="16200000" scaled="0"/>
            <a:tileRect/>
          </a:gradFill>
          <a:ln w="15875">
            <a:gradFill flip="none" rotWithShape="1">
              <a:gsLst>
                <a:gs pos="0">
                  <a:schemeClr val="accent1">
                    <a:lumMod val="5000"/>
                    <a:lumOff val="95000"/>
                    <a:alpha val="0"/>
                  </a:schemeClr>
                </a:gs>
                <a:gs pos="100000">
                  <a:srgbClr val="56C4D2"/>
                </a:gs>
              </a:gsLst>
              <a:lin ang="16200000" scaled="0"/>
              <a:tileRect/>
            </a:gradFill>
          </a:ln>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99" dirty="0">
              <a:latin typeface="Huawei Sans" panose="020C0503030203020204" pitchFamily="34" charset="0"/>
              <a:ea typeface="方正兰亭细黑简体" panose="02000000000000000000" pitchFamily="2" charset="-122"/>
              <a:sym typeface="Huawei Sans" panose="020C0503030203020204" pitchFamily="34" charset="0"/>
            </a:endParaRPr>
          </a:p>
        </p:txBody>
      </p:sp>
      <p:cxnSp>
        <p:nvCxnSpPr>
          <p:cNvPr id="108" name="Straight Connector 166"/>
          <p:cNvCxnSpPr>
            <a:stCxn id="80" idx="1"/>
            <a:endCxn id="106" idx="3"/>
          </p:cNvCxnSpPr>
          <p:nvPr/>
        </p:nvCxnSpPr>
        <p:spPr bwMode="gray">
          <a:xfrm flipH="1">
            <a:off x="1818014" y="2135242"/>
            <a:ext cx="1067995" cy="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09" name="Oval 4"/>
          <p:cNvSpPr>
            <a:spLocks noChangeAspect="1"/>
          </p:cNvSpPr>
          <p:nvPr/>
        </p:nvSpPr>
        <p:spPr bwMode="gray">
          <a:xfrm>
            <a:off x="1537131" y="2951779"/>
            <a:ext cx="208265" cy="208265"/>
          </a:xfrm>
          <a:prstGeom prst="ellipse">
            <a:avLst/>
          </a:prstGeom>
          <a:solidFill>
            <a:srgbClr val="56C4D2"/>
          </a:solidFill>
          <a:ln w="12700" cap="flat" cmpd="sng" algn="ctr">
            <a:noFill/>
            <a:prstDash val="solid"/>
            <a:miter lim="800000"/>
          </a:ln>
          <a:effectLst/>
        </p:spPr>
        <p:txBody>
          <a:bodyPr wrap="none" lIns="0" tIns="0" rIns="0" bIns="0" rtlCol="0" anchor="ctr"/>
          <a:lstStyle/>
          <a:p>
            <a:pPr marL="0" marR="0" lvl="0" indent="0" algn="ctr" defTabSz="914478" eaLnBrk="1" fontAlgn="auto" latinLnBrk="0" hangingPunct="1">
              <a:lnSpc>
                <a:spcPct val="100000"/>
              </a:lnSpc>
              <a:spcBef>
                <a:spcPts val="0"/>
              </a:spcBef>
              <a:spcAft>
                <a:spcPts val="0"/>
              </a:spcAft>
              <a:buClrTx/>
              <a:buSzTx/>
              <a:buFontTx/>
              <a:buNone/>
              <a:tabLst/>
              <a:defRPr/>
            </a:pPr>
            <a:r>
              <a:rPr kumimoji="0" lang="en-US" altLang="zh-CN" sz="1400" b="1" i="0" u="none" strike="noStrike" kern="0" cap="none" spc="0" normalizeH="0" baseline="0" noProof="0" dirty="0" smtClean="0">
                <a:ln>
                  <a:noFill/>
                </a:ln>
                <a:solidFill>
                  <a:prstClr val="white"/>
                </a:solidFill>
                <a:effectLst/>
                <a:uLnTx/>
                <a:uFillTx/>
                <a:latin typeface="Huawei Sans" panose="020C0503030203020204" pitchFamily="34" charset="0"/>
                <a:ea typeface="方正兰亭细黑简体" panose="02000000000000000000" pitchFamily="2" charset="-122"/>
                <a:sym typeface="Huawei Sans" panose="020C0503030203020204" pitchFamily="34" charset="0"/>
              </a:rPr>
              <a:t>2</a:t>
            </a:r>
            <a:endParaRPr kumimoji="0" lang="zh-CN" altLang="en-US" sz="1400" b="1" i="0" u="none" strike="noStrike" kern="0" cap="none" spc="0" normalizeH="0" baseline="0" noProof="0" dirty="0" smtClean="0">
              <a:ln>
                <a:noFill/>
              </a:ln>
              <a:solidFill>
                <a:prstClr val="white"/>
              </a:solidFill>
              <a:effectLst/>
              <a:uLnTx/>
              <a:uFillTx/>
              <a:latin typeface="Huawei Sans" panose="020C0503030203020204" pitchFamily="34" charset="0"/>
              <a:ea typeface="方正兰亭细黑简体" panose="02000000000000000000" pitchFamily="2" charset="-122"/>
              <a:sym typeface="Huawei Sans" panose="020C0503030203020204" pitchFamily="34" charset="0"/>
            </a:endParaRPr>
          </a:p>
        </p:txBody>
      </p:sp>
      <p:sp>
        <p:nvSpPr>
          <p:cNvPr id="110" name="Right Arrow 158"/>
          <p:cNvSpPr/>
          <p:nvPr/>
        </p:nvSpPr>
        <p:spPr bwMode="gray">
          <a:xfrm rot="5400000">
            <a:off x="2785054" y="2430774"/>
            <a:ext cx="633403" cy="494305"/>
          </a:xfrm>
          <a:prstGeom prst="rightArrow">
            <a:avLst>
              <a:gd name="adj1" fmla="val 79333"/>
              <a:gd name="adj2" fmla="val 50000"/>
            </a:avLst>
          </a:prstGeom>
          <a:gradFill flip="none" rotWithShape="1">
            <a:gsLst>
              <a:gs pos="15000">
                <a:schemeClr val="accent1">
                  <a:lumMod val="5000"/>
                  <a:lumOff val="95000"/>
                  <a:alpha val="0"/>
                </a:schemeClr>
              </a:gs>
              <a:gs pos="81000">
                <a:srgbClr val="FFCC66"/>
              </a:gs>
            </a:gsLst>
            <a:lin ang="0" scaled="1"/>
            <a:tileRect/>
          </a:gradFill>
          <a:ln>
            <a:gradFill flip="none" rotWithShape="1">
              <a:gsLst>
                <a:gs pos="11000">
                  <a:schemeClr val="accent1">
                    <a:lumMod val="0"/>
                    <a:lumOff val="100000"/>
                    <a:alpha val="0"/>
                  </a:schemeClr>
                </a:gs>
                <a:gs pos="67000">
                  <a:srgbClr val="FF9933"/>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细黑简体" panose="02000000000000000000" pitchFamily="2" charset="-122"/>
              <a:sym typeface="Huawei Sans" panose="020C0503030203020204" pitchFamily="34" charset="0"/>
            </a:endParaRPr>
          </a:p>
        </p:txBody>
      </p:sp>
      <p:sp>
        <p:nvSpPr>
          <p:cNvPr id="111" name="Oval 4"/>
          <p:cNvSpPr>
            <a:spLocks noChangeAspect="1"/>
          </p:cNvSpPr>
          <p:nvPr/>
        </p:nvSpPr>
        <p:spPr bwMode="gray">
          <a:xfrm>
            <a:off x="3196924" y="2665236"/>
            <a:ext cx="208265" cy="208265"/>
          </a:xfrm>
          <a:prstGeom prst="ellipse">
            <a:avLst/>
          </a:prstGeom>
          <a:solidFill>
            <a:srgbClr val="F08500"/>
          </a:solidFill>
          <a:ln w="12700" cap="flat" cmpd="sng" algn="ctr">
            <a:noFill/>
            <a:prstDash val="solid"/>
            <a:miter lim="800000"/>
          </a:ln>
          <a:effectLst/>
        </p:spPr>
        <p:txBody>
          <a:bodyPr wrap="none" lIns="0" tIns="0" rIns="0" bIns="0" rtlCol="0" anchor="ctr"/>
          <a:lstStyle/>
          <a:p>
            <a:pPr algn="ctr"/>
            <a:r>
              <a:rPr lang="en-US" altLang="zh-CN" sz="1400" b="1" kern="0" dirty="0">
                <a:solidFill>
                  <a:prstClr val="white"/>
                </a:solidFill>
                <a:latin typeface="Huawei Sans" panose="020C0503030203020204" pitchFamily="34" charset="0"/>
                <a:ea typeface="方正兰亭细黑简体" panose="02000000000000000000" pitchFamily="2" charset="-122"/>
                <a:sym typeface="Huawei Sans" panose="020C0503030203020204" pitchFamily="34" charset="0"/>
              </a:rPr>
              <a:t>1</a:t>
            </a:r>
            <a:endParaRPr lang="zh-CN" altLang="en-US" sz="1400" b="1" kern="0" dirty="0">
              <a:solidFill>
                <a:prstClr val="white"/>
              </a:solidFill>
              <a:latin typeface="Huawei Sans" panose="020C0503030203020204" pitchFamily="34" charset="0"/>
              <a:ea typeface="方正兰亭细黑简体" panose="02000000000000000000" pitchFamily="2" charset="-122"/>
              <a:sym typeface="Huawei Sans" panose="020C0503030203020204" pitchFamily="34" charset="0"/>
            </a:endParaRPr>
          </a:p>
        </p:txBody>
      </p:sp>
      <p:sp>
        <p:nvSpPr>
          <p:cNvPr id="112" name="文本框 111"/>
          <p:cNvSpPr txBox="1"/>
          <p:nvPr/>
        </p:nvSpPr>
        <p:spPr bwMode="gray">
          <a:xfrm>
            <a:off x="1427394" y="5849386"/>
            <a:ext cx="1013419" cy="276999"/>
          </a:xfrm>
          <a:prstGeom prst="rect">
            <a:avLst/>
          </a:prstGeom>
          <a:noFill/>
        </p:spPr>
        <p:txBody>
          <a:bodyPr wrap="none" rtlCol="0">
            <a:spAutoFit/>
          </a:bodyPr>
          <a:lstStyle/>
          <a:p>
            <a:r>
              <a:rPr lang="en-US" altLang="zh-CN" sz="1200" dirty="0" smtClean="0">
                <a:latin typeface="Huawei Sans" panose="020C0503030203020204" pitchFamily="34" charset="0"/>
                <a:ea typeface="方正兰亭细黑简体" panose="02000000000000000000" pitchFamily="2" charset="-122"/>
                <a:sym typeface="Huawei Sans" panose="020C0503030203020204" pitchFamily="34" charset="0"/>
              </a:rPr>
              <a:t>DHCP Offer</a:t>
            </a:r>
          </a:p>
        </p:txBody>
      </p:sp>
      <p:sp>
        <p:nvSpPr>
          <p:cNvPr id="113" name="文本框 112"/>
          <p:cNvSpPr txBox="1"/>
          <p:nvPr/>
        </p:nvSpPr>
        <p:spPr bwMode="gray">
          <a:xfrm>
            <a:off x="2726043" y="5849386"/>
            <a:ext cx="3065263" cy="276999"/>
          </a:xfrm>
          <a:prstGeom prst="rect">
            <a:avLst/>
          </a:prstGeom>
          <a:noFill/>
        </p:spPr>
        <p:txBody>
          <a:bodyPr wrap="none" rtlCol="0">
            <a:spAutoFit/>
          </a:bodyPr>
          <a:lstStyle/>
          <a:p>
            <a:r>
              <a:rPr lang="zh-CN" altLang="en-US" sz="1200" dirty="0" smtClean="0">
                <a:latin typeface="Huawei Sans" panose="020C0503030203020204" pitchFamily="34" charset="0"/>
                <a:ea typeface="方正兰亭细黑简体" panose="02000000000000000000" pitchFamily="2" charset="-122"/>
                <a:sym typeface="Huawei Sans" panose="020C0503030203020204" pitchFamily="34" charset="0"/>
              </a:rPr>
              <a:t>设备自动向</a:t>
            </a:r>
            <a:r>
              <a:rPr lang="en-US" altLang="zh-CN" sz="1200" dirty="0" smtClean="0">
                <a:latin typeface="Huawei Sans" panose="020C0503030203020204" pitchFamily="34" charset="0"/>
                <a:ea typeface="方正兰亭细黑简体" panose="02000000000000000000" pitchFamily="2" charset="-122"/>
                <a:sym typeface="Huawei Sans" panose="020C0503030203020204" pitchFamily="34" charset="0"/>
              </a:rPr>
              <a:t>iMaster NCE-Campus</a:t>
            </a:r>
            <a:r>
              <a:rPr lang="zh-CN" altLang="en-US" sz="1200" dirty="0" smtClean="0">
                <a:latin typeface="Huawei Sans" panose="020C0503030203020204" pitchFamily="34" charset="0"/>
                <a:ea typeface="方正兰亭细黑简体" panose="02000000000000000000" pitchFamily="2" charset="-122"/>
                <a:sym typeface="Huawei Sans" panose="020C0503030203020204" pitchFamily="34" charset="0"/>
              </a:rPr>
              <a:t>发起注册</a:t>
            </a:r>
            <a:endParaRPr lang="en-US" altLang="zh-CN" sz="1200" dirty="0" smtClean="0">
              <a:latin typeface="Huawei Sans" panose="020C0503030203020204" pitchFamily="34" charset="0"/>
              <a:ea typeface="方正兰亭细黑简体" panose="02000000000000000000" pitchFamily="2" charset="-122"/>
              <a:sym typeface="Huawei Sans" panose="020C0503030203020204" pitchFamily="34" charset="0"/>
            </a:endParaRPr>
          </a:p>
        </p:txBody>
      </p:sp>
      <p:sp>
        <p:nvSpPr>
          <p:cNvPr id="114" name="Oval 4"/>
          <p:cNvSpPr>
            <a:spLocks noChangeAspect="1"/>
          </p:cNvSpPr>
          <p:nvPr/>
        </p:nvSpPr>
        <p:spPr bwMode="gray">
          <a:xfrm>
            <a:off x="1278036" y="5883763"/>
            <a:ext cx="208265" cy="208265"/>
          </a:xfrm>
          <a:prstGeom prst="ellipse">
            <a:avLst/>
          </a:prstGeom>
          <a:solidFill>
            <a:srgbClr val="F08500"/>
          </a:solidFill>
          <a:ln w="12700" cap="flat" cmpd="sng" algn="ctr">
            <a:noFill/>
            <a:prstDash val="solid"/>
            <a:miter lim="800000"/>
          </a:ln>
          <a:effectLst/>
        </p:spPr>
        <p:txBody>
          <a:bodyPr wrap="none" lIns="0" tIns="0" rIns="0" bIns="0" rtlCol="0" anchor="ctr"/>
          <a:lstStyle/>
          <a:p>
            <a:pPr algn="ctr"/>
            <a:r>
              <a:rPr lang="en-US" altLang="zh-CN" sz="1400" b="1" kern="0" dirty="0">
                <a:solidFill>
                  <a:prstClr val="white"/>
                </a:solidFill>
                <a:latin typeface="Huawei Sans" panose="020C0503030203020204" pitchFamily="34" charset="0"/>
                <a:ea typeface="方正兰亭细黑简体" panose="02000000000000000000" pitchFamily="2" charset="-122"/>
                <a:sym typeface="Huawei Sans" panose="020C0503030203020204" pitchFamily="34" charset="0"/>
              </a:rPr>
              <a:t>1</a:t>
            </a:r>
            <a:endParaRPr lang="zh-CN" altLang="en-US" sz="1400" b="1" kern="0" dirty="0">
              <a:solidFill>
                <a:prstClr val="white"/>
              </a:solidFill>
              <a:latin typeface="Huawei Sans" panose="020C0503030203020204" pitchFamily="34" charset="0"/>
              <a:ea typeface="方正兰亭细黑简体" panose="02000000000000000000" pitchFamily="2" charset="-122"/>
              <a:sym typeface="Huawei Sans" panose="020C0503030203020204" pitchFamily="34" charset="0"/>
            </a:endParaRPr>
          </a:p>
        </p:txBody>
      </p:sp>
      <p:sp>
        <p:nvSpPr>
          <p:cNvPr id="115" name="Oval 4"/>
          <p:cNvSpPr>
            <a:spLocks noChangeAspect="1"/>
          </p:cNvSpPr>
          <p:nvPr/>
        </p:nvSpPr>
        <p:spPr bwMode="gray">
          <a:xfrm>
            <a:off x="2544901" y="5883763"/>
            <a:ext cx="208265" cy="208265"/>
          </a:xfrm>
          <a:prstGeom prst="ellipse">
            <a:avLst/>
          </a:prstGeom>
          <a:solidFill>
            <a:srgbClr val="56C4D2"/>
          </a:solidFill>
          <a:ln w="12700" cap="flat" cmpd="sng" algn="ctr">
            <a:noFill/>
            <a:prstDash val="solid"/>
            <a:miter lim="800000"/>
          </a:ln>
          <a:effectLst/>
        </p:spPr>
        <p:txBody>
          <a:bodyPr wrap="none" lIns="0" tIns="0" rIns="0" bIns="0" rtlCol="0" anchor="ctr"/>
          <a:lstStyle/>
          <a:p>
            <a:pPr marL="0" marR="0" lvl="0" indent="0" algn="ctr" defTabSz="914478" eaLnBrk="1" fontAlgn="auto" latinLnBrk="0" hangingPunct="1">
              <a:lnSpc>
                <a:spcPct val="100000"/>
              </a:lnSpc>
              <a:spcBef>
                <a:spcPts val="0"/>
              </a:spcBef>
              <a:spcAft>
                <a:spcPts val="0"/>
              </a:spcAft>
              <a:buClrTx/>
              <a:buSzTx/>
              <a:buFontTx/>
              <a:buNone/>
              <a:tabLst/>
              <a:defRPr/>
            </a:pPr>
            <a:r>
              <a:rPr kumimoji="0" lang="en-US" altLang="zh-CN" sz="1400" b="1" i="0" u="none" strike="noStrike" kern="0" cap="none" spc="0" normalizeH="0" baseline="0" noProof="0" smtClean="0">
                <a:ln>
                  <a:noFill/>
                </a:ln>
                <a:solidFill>
                  <a:prstClr val="white"/>
                </a:solidFill>
                <a:effectLst/>
                <a:uLnTx/>
                <a:uFillTx/>
                <a:latin typeface="Huawei Sans" panose="020C0503030203020204" pitchFamily="34" charset="0"/>
                <a:ea typeface="方正兰亭细黑简体" panose="02000000000000000000" pitchFamily="2" charset="-122"/>
                <a:sym typeface="Huawei Sans" panose="020C0503030203020204" pitchFamily="34" charset="0"/>
              </a:rPr>
              <a:t>2</a:t>
            </a:r>
            <a:endParaRPr kumimoji="0" lang="zh-CN" altLang="en-US" sz="1400" b="1" i="0" u="none" strike="noStrike" kern="0" cap="none" spc="0" normalizeH="0" baseline="0" noProof="0" dirty="0" smtClean="0">
              <a:ln>
                <a:noFill/>
              </a:ln>
              <a:solidFill>
                <a:prstClr val="white"/>
              </a:solidFill>
              <a:effectLst/>
              <a:uLnTx/>
              <a:uFillTx/>
              <a:latin typeface="Huawei Sans" panose="020C0503030203020204" pitchFamily="34" charset="0"/>
              <a:ea typeface="方正兰亭细黑简体" panose="02000000000000000000" pitchFamily="2" charset="-122"/>
              <a:sym typeface="Huawei Sans" panose="020C0503030203020204" pitchFamily="34" charset="0"/>
            </a:endParaRPr>
          </a:p>
        </p:txBody>
      </p:sp>
      <p:sp>
        <p:nvSpPr>
          <p:cNvPr id="116" name="文本框 115"/>
          <p:cNvSpPr txBox="1"/>
          <p:nvPr/>
        </p:nvSpPr>
        <p:spPr bwMode="gray">
          <a:xfrm>
            <a:off x="2550998" y="3790168"/>
            <a:ext cx="1116829" cy="646331"/>
          </a:xfrm>
          <a:prstGeom prst="rect">
            <a:avLst/>
          </a:prstGeom>
          <a:noFill/>
        </p:spPr>
        <p:txBody>
          <a:bodyPr wrap="square" rtlCol="0">
            <a:spAutoFit/>
          </a:bodyPr>
          <a:lstStyle/>
          <a:p>
            <a:pPr algn="ctr"/>
            <a:r>
              <a:rPr lang="zh-CN" altLang="en-US" sz="1200" dirty="0" smtClean="0">
                <a:solidFill>
                  <a:schemeClr val="bg1">
                    <a:lumMod val="50000"/>
                  </a:schemeClr>
                </a:solidFill>
                <a:latin typeface="Huawei Sans" panose="020C0503030203020204" pitchFamily="34" charset="0"/>
                <a:ea typeface="方正兰亭细黑简体" panose="02000000000000000000" pitchFamily="2" charset="-122"/>
                <a:sym typeface="Huawei Sans" panose="020C0503030203020204" pitchFamily="34" charset="0"/>
              </a:rPr>
              <a:t>待</a:t>
            </a:r>
            <a:r>
              <a:rPr lang="en-US" altLang="zh-CN" sz="1200" dirty="0" smtClean="0">
                <a:solidFill>
                  <a:schemeClr val="bg1">
                    <a:lumMod val="50000"/>
                  </a:schemeClr>
                </a:solidFill>
                <a:latin typeface="Huawei Sans" panose="020C0503030203020204" pitchFamily="34" charset="0"/>
                <a:ea typeface="方正兰亭细黑简体" panose="02000000000000000000" pitchFamily="2" charset="-122"/>
                <a:sym typeface="Huawei Sans" panose="020C0503030203020204" pitchFamily="34" charset="0"/>
              </a:rPr>
              <a:t>iMaster NCE-Campus</a:t>
            </a:r>
            <a:r>
              <a:rPr lang="zh-CN" altLang="en-US" sz="1200" dirty="0" smtClean="0">
                <a:solidFill>
                  <a:schemeClr val="bg1">
                    <a:lumMod val="50000"/>
                  </a:schemeClr>
                </a:solidFill>
                <a:latin typeface="Huawei Sans" panose="020C0503030203020204" pitchFamily="34" charset="0"/>
                <a:ea typeface="方正兰亭细黑简体" panose="02000000000000000000" pitchFamily="2" charset="-122"/>
                <a:sym typeface="Huawei Sans" panose="020C0503030203020204" pitchFamily="34" charset="0"/>
              </a:rPr>
              <a:t>纳管</a:t>
            </a:r>
            <a:r>
              <a:rPr lang="zh-CN" altLang="en-US" sz="1200" dirty="0">
                <a:solidFill>
                  <a:schemeClr val="bg1">
                    <a:lumMod val="50000"/>
                  </a:schemeClr>
                </a:solidFill>
                <a:latin typeface="Huawei Sans" panose="020C0503030203020204" pitchFamily="34" charset="0"/>
                <a:ea typeface="方正兰亭细黑简体" panose="02000000000000000000" pitchFamily="2" charset="-122"/>
                <a:sym typeface="Huawei Sans" panose="020C0503030203020204" pitchFamily="34" charset="0"/>
              </a:rPr>
              <a:t>的</a:t>
            </a:r>
            <a:r>
              <a:rPr lang="zh-CN" altLang="en-US" sz="1200" dirty="0" smtClean="0">
                <a:solidFill>
                  <a:schemeClr val="bg1">
                    <a:lumMod val="50000"/>
                  </a:schemeClr>
                </a:solidFill>
                <a:latin typeface="Huawei Sans" panose="020C0503030203020204" pitchFamily="34" charset="0"/>
                <a:ea typeface="方正兰亭细黑简体" panose="02000000000000000000" pitchFamily="2" charset="-122"/>
                <a:sym typeface="Huawei Sans" panose="020C0503030203020204" pitchFamily="34" charset="0"/>
              </a:rPr>
              <a:t>设备</a:t>
            </a:r>
            <a:endParaRPr lang="en-US" altLang="zh-CN" sz="1200" dirty="0" smtClean="0">
              <a:solidFill>
                <a:schemeClr val="bg1">
                  <a:lumMod val="50000"/>
                </a:schemeClr>
              </a:solidFill>
              <a:latin typeface="Huawei Sans" panose="020C0503030203020204" pitchFamily="34" charset="0"/>
              <a:ea typeface="方正兰亭细黑简体" panose="02000000000000000000" pitchFamily="2" charset="-122"/>
              <a:sym typeface="Huawei Sans" panose="020C0503030203020204" pitchFamily="34" charset="0"/>
            </a:endParaRPr>
          </a:p>
        </p:txBody>
      </p:sp>
      <p:sp>
        <p:nvSpPr>
          <p:cNvPr id="42" name="文本框 41"/>
          <p:cNvSpPr txBox="1"/>
          <p:nvPr/>
        </p:nvSpPr>
        <p:spPr bwMode="gray">
          <a:xfrm>
            <a:off x="4276979" y="3860807"/>
            <a:ext cx="684803" cy="276999"/>
          </a:xfrm>
          <a:prstGeom prst="rect">
            <a:avLst/>
          </a:prstGeom>
          <a:noFill/>
        </p:spPr>
        <p:txBody>
          <a:bodyPr wrap="none" rtlCol="0">
            <a:spAutoFit/>
          </a:bodyPr>
          <a:lstStyle/>
          <a:p>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Edge_2</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46" name="五边形 45"/>
          <p:cNvSpPr/>
          <p:nvPr/>
        </p:nvSpPr>
        <p:spPr bwMode="gray">
          <a:xfrm>
            <a:off x="5773628" y="98481"/>
            <a:ext cx="900000" cy="213120"/>
          </a:xfrm>
          <a:prstGeom prst="homePlate">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站点管理</a:t>
            </a:r>
          </a:p>
        </p:txBody>
      </p:sp>
      <p:sp>
        <p:nvSpPr>
          <p:cNvPr id="47" name="燕尾形 46"/>
          <p:cNvSpPr/>
          <p:nvPr/>
        </p:nvSpPr>
        <p:spPr bwMode="gray">
          <a:xfrm>
            <a:off x="9109268" y="9848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逻辑网络</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8" name="燕尾形 47"/>
          <p:cNvSpPr/>
          <p:nvPr/>
        </p:nvSpPr>
        <p:spPr bwMode="gray">
          <a:xfrm>
            <a:off x="9925178" y="9848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业务部署</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9" name="燕尾形 48"/>
          <p:cNvSpPr/>
          <p:nvPr/>
        </p:nvSpPr>
        <p:spPr bwMode="gray">
          <a:xfrm>
            <a:off x="8221358" y="98481"/>
            <a:ext cx="972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smtClean="0">
                <a:latin typeface="Huawei Sans" panose="020C0503030203020204" pitchFamily="34" charset="0"/>
                <a:ea typeface="方正兰亭黑简体" panose="02000000000000000000" pitchFamily="2" charset="-122"/>
                <a:sym typeface="Huawei Sans" panose="020C0503030203020204" pitchFamily="34" charset="0"/>
              </a:rPr>
              <a:t>Fabric</a:t>
            </a:r>
            <a:r>
              <a:rPr lang="zh-CN" altLang="en-US" sz="1200" kern="0" dirty="0" smtClean="0">
                <a:latin typeface="Huawei Sans" panose="020C0503030203020204" pitchFamily="34" charset="0"/>
                <a:ea typeface="方正兰亭黑简体" panose="02000000000000000000" pitchFamily="2" charset="-122"/>
                <a:sym typeface="Huawei Sans" panose="020C0503030203020204" pitchFamily="34" charset="0"/>
              </a:rPr>
              <a:t>网络</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0" name="燕尾形 49"/>
          <p:cNvSpPr/>
          <p:nvPr/>
        </p:nvSpPr>
        <p:spPr bwMode="gray">
          <a:xfrm>
            <a:off x="7405448" y="9848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网络规划</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1" name="燕尾形 50"/>
          <p:cNvSpPr/>
          <p:nvPr/>
        </p:nvSpPr>
        <p:spPr bwMode="gray">
          <a:xfrm>
            <a:off x="6589538" y="98481"/>
            <a:ext cx="9000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设备管理</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2" name="燕尾形 51"/>
          <p:cNvSpPr/>
          <p:nvPr/>
        </p:nvSpPr>
        <p:spPr bwMode="gray">
          <a:xfrm>
            <a:off x="10741088" y="98481"/>
            <a:ext cx="1008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WLAN</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业务</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3167739691"/>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bwMode="gray"/>
        <p:txBody>
          <a:bodyPr>
            <a:normAutofit/>
          </a:bodyPr>
          <a:lstStyle/>
          <a:p>
            <a:r>
              <a:rPr lang="zh-CN" altLang="en-US" dirty="0" smtClean="0"/>
              <a:t>资源池配置：</a:t>
            </a:r>
            <a:r>
              <a:rPr lang="en-US" altLang="zh-CN" dirty="0" smtClean="0"/>
              <a:t>Fabric</a:t>
            </a:r>
            <a:r>
              <a:rPr lang="zh-CN" altLang="en-US" dirty="0" smtClean="0"/>
              <a:t>全局资源池</a:t>
            </a:r>
            <a:endParaRPr lang="zh-CN" altLang="en-US" dirty="0"/>
          </a:p>
        </p:txBody>
      </p:sp>
      <p:sp>
        <p:nvSpPr>
          <p:cNvPr id="4" name="文本占位符 3"/>
          <p:cNvSpPr>
            <a:spLocks noGrp="1"/>
          </p:cNvSpPr>
          <p:nvPr>
            <p:ph type="body" sz="quarter" idx="10"/>
          </p:nvPr>
        </p:nvSpPr>
        <p:spPr bwMode="gray">
          <a:xfrm>
            <a:off x="455612" y="1047751"/>
            <a:ext cx="11293475" cy="465326"/>
          </a:xfrm>
        </p:spPr>
        <p:txBody>
          <a:bodyPr/>
          <a:lstStyle/>
          <a:p>
            <a:r>
              <a:rPr lang="zh-CN" altLang="en-US" sz="2000" dirty="0" smtClean="0"/>
              <a:t>创建</a:t>
            </a:r>
            <a:r>
              <a:rPr lang="en-US" altLang="zh-CN" sz="2000" dirty="0" smtClean="0"/>
              <a:t>Fabric</a:t>
            </a:r>
            <a:r>
              <a:rPr lang="zh-CN" altLang="en-US" sz="2000" dirty="0" smtClean="0"/>
              <a:t>前，要提前规划</a:t>
            </a:r>
            <a:r>
              <a:rPr lang="en-US" altLang="zh-CN" sz="2000" dirty="0" smtClean="0"/>
              <a:t>Fabric</a:t>
            </a:r>
            <a:r>
              <a:rPr lang="zh-CN" altLang="en-US" sz="2000" dirty="0" smtClean="0"/>
              <a:t>全局资源池，包含</a:t>
            </a:r>
            <a:r>
              <a:rPr lang="en-US" altLang="zh-CN" sz="2000" dirty="0" smtClean="0"/>
              <a:t>VLAN</a:t>
            </a:r>
            <a:r>
              <a:rPr lang="zh-CN" altLang="en-US" sz="2000" dirty="0"/>
              <a:t>、</a:t>
            </a:r>
            <a:r>
              <a:rPr lang="en-US" altLang="zh-CN" sz="2000" dirty="0" smtClean="0"/>
              <a:t>BD</a:t>
            </a:r>
            <a:r>
              <a:rPr lang="zh-CN" altLang="en-US" sz="2000" dirty="0" smtClean="0"/>
              <a:t>和</a:t>
            </a:r>
            <a:r>
              <a:rPr lang="en-US" altLang="zh-CN" sz="2000" dirty="0" smtClean="0"/>
              <a:t>VNI</a:t>
            </a:r>
            <a:r>
              <a:rPr lang="zh-CN" altLang="en-US" sz="2000" dirty="0" smtClean="0"/>
              <a:t>资源。</a:t>
            </a:r>
            <a:endParaRPr lang="zh-CN" altLang="en-US" sz="2000" dirty="0"/>
          </a:p>
        </p:txBody>
      </p:sp>
      <p:graphicFrame>
        <p:nvGraphicFramePr>
          <p:cNvPr id="5" name="表格 4"/>
          <p:cNvGraphicFramePr>
            <a:graphicFrameLocks noGrp="1"/>
          </p:cNvGraphicFramePr>
          <p:nvPr>
            <p:extLst>
              <p:ext uri="{D42A27DB-BD31-4B8C-83A1-F6EECF244321}">
                <p14:modId xmlns:p14="http://schemas.microsoft.com/office/powerpoint/2010/main" val="3147024700"/>
              </p:ext>
            </p:extLst>
          </p:nvPr>
        </p:nvGraphicFramePr>
        <p:xfrm>
          <a:off x="5262488" y="3010794"/>
          <a:ext cx="6207442" cy="1686923"/>
        </p:xfrm>
        <a:graphic>
          <a:graphicData uri="http://schemas.openxmlformats.org/drawingml/2006/table">
            <a:tbl>
              <a:tblPr/>
              <a:tblGrid>
                <a:gridCol w="1274141"/>
                <a:gridCol w="4933301"/>
              </a:tblGrid>
              <a:tr h="351442">
                <a:tc>
                  <a:txBody>
                    <a:bodyPr/>
                    <a:lstStyle/>
                    <a:p>
                      <a:pPr algn="ctr"/>
                      <a:r>
                        <a:rPr lang="zh-CN" altLang="en-US" sz="1400" b="1" dirty="0">
                          <a:effectLst/>
                        </a:rPr>
                        <a:t>任务描述</a:t>
                      </a:r>
                    </a:p>
                  </a:txBody>
                  <a:tcPr anchor="ctr">
                    <a:lnL w="28575" cap="flat" cmpd="sng" algn="ctr">
                      <a:solidFill>
                        <a:schemeClr val="tx1"/>
                      </a:solidFill>
                      <a:prstDash val="solid"/>
                      <a:round/>
                      <a:headEnd type="none" w="med" len="med"/>
                      <a:tailEnd type="none" w="med" len="med"/>
                    </a:lnL>
                    <a:lnT w="28575" cap="flat" cmpd="sng" algn="ctr">
                      <a:solidFill>
                        <a:schemeClr val="tx1"/>
                      </a:solidFill>
                      <a:prstDash val="solid"/>
                      <a:round/>
                      <a:headEnd type="none" w="med" len="med"/>
                      <a:tailEnd type="none" w="med" len="med"/>
                    </a:lnT>
                    <a:solidFill>
                      <a:schemeClr val="bg1">
                        <a:lumMod val="85000"/>
                      </a:schemeClr>
                    </a:solidFill>
                  </a:tcPr>
                </a:tc>
                <a:tc>
                  <a:txBody>
                    <a:bodyPr/>
                    <a:lstStyle/>
                    <a:p>
                      <a:pPr algn="ctr"/>
                      <a:r>
                        <a:rPr lang="zh-CN" altLang="en-US" sz="1400" b="1" dirty="0" smtClean="0">
                          <a:effectLst/>
                        </a:rPr>
                        <a:t>资源池规划</a:t>
                      </a:r>
                      <a:endParaRPr lang="zh-CN" altLang="en-US" sz="1400" b="1" dirty="0">
                        <a:effectLst/>
                      </a:endParaRPr>
                    </a:p>
                  </a:txBody>
                  <a:tcPr anchor="ctr">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solidFill>
                      <a:schemeClr val="bg1">
                        <a:lumMod val="85000"/>
                      </a:schemeClr>
                    </a:solidFill>
                  </a:tcPr>
                </a:tc>
              </a:tr>
              <a:tr h="1335481">
                <a:tc>
                  <a:txBody>
                    <a:bodyPr/>
                    <a:lstStyle/>
                    <a:p>
                      <a:pPr>
                        <a:lnSpc>
                          <a:spcPts val="2400"/>
                        </a:lnSpc>
                        <a:spcAft>
                          <a:spcPts val="600"/>
                        </a:spcAft>
                      </a:pPr>
                      <a:r>
                        <a:rPr lang="zh-CN" altLang="en-US" sz="1400">
                          <a:effectLst/>
                        </a:rPr>
                        <a:t>配置</a:t>
                      </a:r>
                      <a:r>
                        <a:rPr lang="en-US" sz="1400">
                          <a:effectLst/>
                        </a:rPr>
                        <a:t>Fabric</a:t>
                      </a:r>
                      <a:r>
                        <a:rPr lang="zh-CN" altLang="en-US" sz="1400">
                          <a:effectLst/>
                        </a:rPr>
                        <a:t>全局资源池</a:t>
                      </a:r>
                    </a:p>
                  </a:txBody>
                  <a:tcPr anchor="ctr">
                    <a:lnL w="28575" cap="flat" cmpd="sng" algn="ctr">
                      <a:solidFill>
                        <a:schemeClr val="tx1"/>
                      </a:solidFill>
                      <a:prstDash val="solid"/>
                      <a:round/>
                      <a:headEnd type="none" w="med" len="med"/>
                      <a:tailEnd type="none" w="med" len="med"/>
                    </a:lnL>
                    <a:lnB w="28575" cap="flat" cmpd="sng" algn="ctr">
                      <a:solidFill>
                        <a:schemeClr val="tx1"/>
                      </a:solidFill>
                      <a:prstDash val="solid"/>
                      <a:round/>
                      <a:headEnd type="none" w="med" len="med"/>
                      <a:tailEnd type="none" w="med" len="med"/>
                    </a:lnB>
                  </a:tcPr>
                </a:tc>
                <a:tc>
                  <a:txBody>
                    <a:bodyPr/>
                    <a:lstStyle/>
                    <a:p>
                      <a:pPr marL="285750" indent="-285750" algn="l" defTabSz="914034" rtl="0" eaLnBrk="1" latinLnBrk="0" hangingPunct="1">
                        <a:lnSpc>
                          <a:spcPct val="100000"/>
                        </a:lnSpc>
                        <a:spcAft>
                          <a:spcPts val="0"/>
                        </a:spcAft>
                        <a:buSzPct val="50000"/>
                        <a:buFont typeface="Wingdings" panose="05000000000000000000" pitchFamily="2" charset="2"/>
                        <a:buChar char="l"/>
                      </a:pPr>
                      <a:r>
                        <a:rPr lang="zh-CN" altLang="en-US" sz="1400" kern="1200" dirty="0">
                          <a:solidFill>
                            <a:schemeClr val="tx1"/>
                          </a:solidFill>
                          <a:effectLst/>
                          <a:latin typeface="+mn-lt"/>
                          <a:ea typeface="+mn-ea"/>
                          <a:cs typeface="+mn-cs"/>
                        </a:rPr>
                        <a:t>配置</a:t>
                      </a:r>
                      <a:r>
                        <a:rPr lang="en-US" altLang="zh-CN" sz="1400" kern="1200" dirty="0">
                          <a:solidFill>
                            <a:schemeClr val="tx1"/>
                          </a:solidFill>
                          <a:effectLst/>
                          <a:latin typeface="+mn-lt"/>
                          <a:ea typeface="+mn-ea"/>
                          <a:cs typeface="+mn-cs"/>
                        </a:rPr>
                        <a:t>VLAN</a:t>
                      </a:r>
                      <a:r>
                        <a:rPr lang="zh-CN" altLang="en-US" sz="1400" kern="1200" dirty="0">
                          <a:solidFill>
                            <a:schemeClr val="tx1"/>
                          </a:solidFill>
                          <a:effectLst/>
                          <a:latin typeface="+mn-lt"/>
                          <a:ea typeface="+mn-ea"/>
                          <a:cs typeface="+mn-cs"/>
                        </a:rPr>
                        <a:t>资源，</a:t>
                      </a:r>
                      <a:r>
                        <a:rPr lang="zh-CN" altLang="en-US" sz="1400" kern="1200" dirty="0" smtClean="0">
                          <a:solidFill>
                            <a:schemeClr val="tx1"/>
                          </a:solidFill>
                          <a:effectLst/>
                          <a:latin typeface="+mn-lt"/>
                          <a:ea typeface="+mn-ea"/>
                          <a:cs typeface="+mn-cs"/>
                        </a:rPr>
                        <a:t>包括：创建</a:t>
                      </a:r>
                      <a:r>
                        <a:rPr lang="en-US" altLang="zh-CN" sz="1400" kern="1200" dirty="0">
                          <a:solidFill>
                            <a:schemeClr val="tx1"/>
                          </a:solidFill>
                          <a:effectLst/>
                          <a:latin typeface="+mn-lt"/>
                          <a:ea typeface="+mn-ea"/>
                          <a:cs typeface="+mn-cs"/>
                        </a:rPr>
                        <a:t>VN</a:t>
                      </a:r>
                      <a:r>
                        <a:rPr lang="zh-CN" altLang="en-US" sz="1400" kern="1200" dirty="0">
                          <a:solidFill>
                            <a:schemeClr val="tx1"/>
                          </a:solidFill>
                          <a:effectLst/>
                          <a:latin typeface="+mn-lt"/>
                          <a:ea typeface="+mn-ea"/>
                          <a:cs typeface="+mn-cs"/>
                        </a:rPr>
                        <a:t>时使用的业务</a:t>
                      </a:r>
                      <a:r>
                        <a:rPr lang="en-US" altLang="zh-CN" sz="1400" kern="1200" dirty="0" smtClean="0">
                          <a:solidFill>
                            <a:schemeClr val="tx1"/>
                          </a:solidFill>
                          <a:effectLst/>
                          <a:latin typeface="+mn-lt"/>
                          <a:ea typeface="+mn-ea"/>
                          <a:cs typeface="+mn-cs"/>
                        </a:rPr>
                        <a:t>VLAN</a:t>
                      </a:r>
                      <a:r>
                        <a:rPr lang="zh-CN" altLang="en-US" sz="1400" kern="1200" dirty="0" smtClean="0">
                          <a:solidFill>
                            <a:schemeClr val="tx1"/>
                          </a:solidFill>
                          <a:effectLst/>
                          <a:latin typeface="+mn-lt"/>
                          <a:ea typeface="+mn-ea"/>
                          <a:cs typeface="+mn-cs"/>
                        </a:rPr>
                        <a:t>（终端用户接入</a:t>
                      </a:r>
                      <a:r>
                        <a:rPr lang="en-US" altLang="zh-CN" sz="1400" kern="1200" dirty="0" smtClean="0">
                          <a:solidFill>
                            <a:schemeClr val="tx1"/>
                          </a:solidFill>
                          <a:effectLst/>
                          <a:latin typeface="+mn-lt"/>
                          <a:ea typeface="+mn-ea"/>
                          <a:cs typeface="+mn-cs"/>
                        </a:rPr>
                        <a:t>VLAN</a:t>
                      </a:r>
                      <a:r>
                        <a:rPr lang="zh-CN" altLang="en-US" sz="1400" kern="1200" dirty="0" smtClean="0">
                          <a:solidFill>
                            <a:schemeClr val="tx1"/>
                          </a:solidFill>
                          <a:effectLst/>
                          <a:latin typeface="+mn-lt"/>
                          <a:ea typeface="+mn-ea"/>
                          <a:cs typeface="+mn-cs"/>
                        </a:rPr>
                        <a:t>），接入层和汇聚层的透传</a:t>
                      </a:r>
                      <a:r>
                        <a:rPr lang="en-US" altLang="zh-CN" sz="1400" kern="1200" dirty="0" smtClean="0">
                          <a:solidFill>
                            <a:schemeClr val="tx1"/>
                          </a:solidFill>
                          <a:effectLst/>
                          <a:latin typeface="+mn-lt"/>
                          <a:ea typeface="+mn-ea"/>
                          <a:cs typeface="+mn-cs"/>
                        </a:rPr>
                        <a:t>VLAN</a:t>
                      </a:r>
                      <a:r>
                        <a:rPr lang="zh-CN" altLang="en-US" sz="1400" kern="1200" dirty="0" smtClean="0">
                          <a:solidFill>
                            <a:schemeClr val="tx1"/>
                          </a:solidFill>
                          <a:effectLst/>
                          <a:latin typeface="+mn-lt"/>
                          <a:ea typeface="+mn-ea"/>
                          <a:cs typeface="+mn-cs"/>
                        </a:rPr>
                        <a:t>，</a:t>
                      </a:r>
                      <a:r>
                        <a:rPr lang="en-US" altLang="zh-CN" sz="1400" kern="1200" dirty="0" smtClean="0">
                          <a:solidFill>
                            <a:schemeClr val="tx1"/>
                          </a:solidFill>
                          <a:effectLst/>
                          <a:latin typeface="+mn-lt"/>
                          <a:ea typeface="+mn-ea"/>
                          <a:cs typeface="+mn-cs"/>
                        </a:rPr>
                        <a:t>Fabric</a:t>
                      </a:r>
                      <a:r>
                        <a:rPr lang="zh-CN" altLang="en-US" sz="1400" kern="1200" dirty="0">
                          <a:solidFill>
                            <a:schemeClr val="tx1"/>
                          </a:solidFill>
                          <a:effectLst/>
                          <a:latin typeface="+mn-lt"/>
                          <a:ea typeface="+mn-ea"/>
                          <a:cs typeface="+mn-cs"/>
                        </a:rPr>
                        <a:t>创建外部网络和网络服务资源时使用的互联</a:t>
                      </a:r>
                      <a:r>
                        <a:rPr lang="en-US" altLang="zh-CN" sz="1400" kern="1200" dirty="0" smtClean="0">
                          <a:solidFill>
                            <a:schemeClr val="tx1"/>
                          </a:solidFill>
                          <a:effectLst/>
                          <a:latin typeface="+mn-lt"/>
                          <a:ea typeface="+mn-ea"/>
                          <a:cs typeface="+mn-cs"/>
                        </a:rPr>
                        <a:t>VLAN</a:t>
                      </a:r>
                      <a:r>
                        <a:rPr lang="zh-CN" altLang="en-US" sz="1400" kern="1200" dirty="0" smtClean="0">
                          <a:solidFill>
                            <a:schemeClr val="tx1"/>
                          </a:solidFill>
                          <a:effectLst/>
                          <a:latin typeface="+mn-lt"/>
                          <a:ea typeface="+mn-ea"/>
                          <a:cs typeface="+mn-cs"/>
                        </a:rPr>
                        <a:t>，策略联动管理</a:t>
                      </a:r>
                      <a:r>
                        <a:rPr lang="en-US" altLang="zh-CN" sz="1400" kern="1200" dirty="0" smtClean="0">
                          <a:solidFill>
                            <a:schemeClr val="tx1"/>
                          </a:solidFill>
                          <a:effectLst/>
                          <a:latin typeface="+mn-lt"/>
                          <a:ea typeface="+mn-ea"/>
                          <a:cs typeface="+mn-cs"/>
                        </a:rPr>
                        <a:t>VLAN</a:t>
                      </a:r>
                      <a:r>
                        <a:rPr lang="zh-CN" altLang="en-US" sz="1400" kern="1200" dirty="0" smtClean="0">
                          <a:solidFill>
                            <a:schemeClr val="tx1"/>
                          </a:solidFill>
                          <a:effectLst/>
                          <a:latin typeface="+mn-lt"/>
                          <a:ea typeface="+mn-ea"/>
                          <a:cs typeface="+mn-cs"/>
                        </a:rPr>
                        <a:t>等。</a:t>
                      </a:r>
                      <a:endParaRPr lang="en-US" altLang="zh-CN" sz="1400" kern="1200" dirty="0" smtClean="0">
                        <a:solidFill>
                          <a:schemeClr val="tx1"/>
                        </a:solidFill>
                        <a:effectLst/>
                        <a:latin typeface="+mn-lt"/>
                        <a:ea typeface="+mn-ea"/>
                        <a:cs typeface="+mn-cs"/>
                      </a:endParaRPr>
                    </a:p>
                    <a:p>
                      <a:pPr marL="285750" marR="0" lvl="0" indent="-285750" algn="l" defTabSz="914034" rtl="0" eaLnBrk="1" fontAlgn="auto" latinLnBrk="0" hangingPunct="1">
                        <a:lnSpc>
                          <a:spcPct val="100000"/>
                        </a:lnSpc>
                        <a:spcBef>
                          <a:spcPts val="0"/>
                        </a:spcBef>
                        <a:spcAft>
                          <a:spcPts val="0"/>
                        </a:spcAft>
                        <a:buClrTx/>
                        <a:buSzPct val="50000"/>
                        <a:buFont typeface="Wingdings" panose="05000000000000000000" pitchFamily="2" charset="2"/>
                        <a:buChar char="l"/>
                        <a:tabLst/>
                        <a:defRPr/>
                      </a:pPr>
                      <a:r>
                        <a:rPr lang="zh-CN" altLang="en-US" sz="1400" kern="1200" dirty="0" smtClean="0">
                          <a:solidFill>
                            <a:schemeClr val="tx1"/>
                          </a:solidFill>
                          <a:effectLst/>
                          <a:latin typeface="+mn-lt"/>
                          <a:ea typeface="+mn-ea"/>
                          <a:cs typeface="+mn-cs"/>
                        </a:rPr>
                        <a:t>配置</a:t>
                      </a:r>
                      <a:r>
                        <a:rPr lang="en-US" altLang="zh-CN" sz="1400" kern="1200" dirty="0" smtClean="0">
                          <a:solidFill>
                            <a:schemeClr val="tx1"/>
                          </a:solidFill>
                          <a:effectLst/>
                          <a:latin typeface="+mn-lt"/>
                          <a:ea typeface="+mn-ea"/>
                          <a:cs typeface="+mn-cs"/>
                        </a:rPr>
                        <a:t>BD/VNI</a:t>
                      </a:r>
                      <a:r>
                        <a:rPr lang="zh-CN" altLang="en-US" sz="1400" kern="1200" dirty="0" smtClean="0">
                          <a:solidFill>
                            <a:schemeClr val="tx1"/>
                          </a:solidFill>
                          <a:effectLst/>
                          <a:latin typeface="+mn-lt"/>
                          <a:ea typeface="+mn-ea"/>
                          <a:cs typeface="+mn-cs"/>
                        </a:rPr>
                        <a:t>资源，</a:t>
                      </a:r>
                      <a:r>
                        <a:rPr lang="en-US" altLang="zh-CN" sz="1400" kern="1200" dirty="0" smtClean="0">
                          <a:solidFill>
                            <a:schemeClr val="tx1"/>
                          </a:solidFill>
                          <a:effectLst/>
                          <a:latin typeface="+mn-lt"/>
                          <a:ea typeface="+mn-ea"/>
                          <a:cs typeface="+mn-cs"/>
                        </a:rPr>
                        <a:t>VN</a:t>
                      </a:r>
                      <a:r>
                        <a:rPr lang="zh-CN" altLang="en-US" sz="1400" kern="1200" dirty="0" smtClean="0">
                          <a:solidFill>
                            <a:schemeClr val="tx1"/>
                          </a:solidFill>
                          <a:effectLst/>
                          <a:latin typeface="+mn-lt"/>
                          <a:ea typeface="+mn-ea"/>
                          <a:cs typeface="+mn-cs"/>
                        </a:rPr>
                        <a:t>中二层广播域隔离使用。</a:t>
                      </a:r>
                      <a:endParaRPr lang="zh-CN" altLang="en-US" sz="1400" kern="1200" dirty="0">
                        <a:solidFill>
                          <a:schemeClr val="tx1"/>
                        </a:solidFill>
                        <a:effectLst/>
                        <a:latin typeface="+mn-lt"/>
                        <a:ea typeface="+mn-ea"/>
                        <a:cs typeface="+mn-cs"/>
                      </a:endParaRPr>
                    </a:p>
                  </a:txBody>
                  <a:tcPr anchor="ctr">
                    <a:lnR w="28575" cap="flat" cmpd="sng" algn="ctr">
                      <a:solidFill>
                        <a:schemeClr val="tx1"/>
                      </a:solidFill>
                      <a:prstDash val="solid"/>
                      <a:round/>
                      <a:headEnd type="none" w="med" len="med"/>
                      <a:tailEnd type="none" w="med" len="med"/>
                    </a:lnR>
                    <a:lnB w="28575" cap="flat" cmpd="sng" algn="ctr">
                      <a:solidFill>
                        <a:schemeClr val="tx1"/>
                      </a:solidFill>
                      <a:prstDash val="solid"/>
                      <a:round/>
                      <a:headEnd type="none" w="med" len="med"/>
                      <a:tailEnd type="none" w="med" len="med"/>
                    </a:lnB>
                  </a:tcPr>
                </a:tc>
              </a:tr>
            </a:tbl>
          </a:graphicData>
        </a:graphic>
      </p:graphicFrame>
      <p:sp>
        <p:nvSpPr>
          <p:cNvPr id="19" name="Freeform 159"/>
          <p:cNvSpPr/>
          <p:nvPr/>
        </p:nvSpPr>
        <p:spPr bwMode="gray">
          <a:xfrm flipH="1">
            <a:off x="1170367" y="1828774"/>
            <a:ext cx="1240474" cy="648430"/>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tIns="108000" rtlCol="0" anchor="ctr">
            <a:noAutofit/>
          </a:bodyPr>
          <a:lstStyle/>
          <a:p>
            <a:pPr algn="ctr"/>
            <a:r>
              <a:rPr lang="zh-CN" altLang="en-US" sz="1400" smtClean="0">
                <a:solidFill>
                  <a:schemeClr val="bg1">
                    <a:lumMod val="50000"/>
                  </a:schemeClr>
                </a:solidFill>
              </a:rPr>
              <a:t>外部网络</a:t>
            </a:r>
            <a:endParaRPr lang="en-US" sz="1400">
              <a:solidFill>
                <a:schemeClr val="bg1">
                  <a:lumMod val="50000"/>
                </a:schemeClr>
              </a:solidFill>
            </a:endParaRPr>
          </a:p>
        </p:txBody>
      </p:sp>
      <p:sp>
        <p:nvSpPr>
          <p:cNvPr id="20" name="Freeform 159"/>
          <p:cNvSpPr/>
          <p:nvPr/>
        </p:nvSpPr>
        <p:spPr bwMode="gray">
          <a:xfrm flipH="1">
            <a:off x="3296485" y="1828774"/>
            <a:ext cx="1240474" cy="648430"/>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tIns="108000" rtlCol="0" anchor="ctr">
            <a:noAutofit/>
          </a:bodyPr>
          <a:lstStyle/>
          <a:p>
            <a:pPr algn="ctr"/>
            <a:r>
              <a:rPr lang="zh-CN" altLang="en-US" sz="1400" smtClean="0">
                <a:solidFill>
                  <a:schemeClr val="bg1">
                    <a:lumMod val="50000"/>
                  </a:schemeClr>
                </a:solidFill>
              </a:rPr>
              <a:t>网络服务</a:t>
            </a:r>
            <a:endParaRPr lang="en-US" altLang="zh-CN" sz="1400" smtClean="0">
              <a:solidFill>
                <a:schemeClr val="bg1">
                  <a:lumMod val="50000"/>
                </a:schemeClr>
              </a:solidFill>
            </a:endParaRPr>
          </a:p>
          <a:p>
            <a:pPr algn="ctr"/>
            <a:r>
              <a:rPr lang="zh-CN" altLang="en-US" sz="1400" smtClean="0">
                <a:solidFill>
                  <a:schemeClr val="bg1">
                    <a:lumMod val="50000"/>
                  </a:schemeClr>
                </a:solidFill>
              </a:rPr>
              <a:t>资源</a:t>
            </a:r>
            <a:endParaRPr lang="en-US" sz="1400">
              <a:solidFill>
                <a:schemeClr val="bg1">
                  <a:lumMod val="50000"/>
                </a:schemeClr>
              </a:solidFill>
            </a:endParaRPr>
          </a:p>
        </p:txBody>
      </p:sp>
      <p:pic>
        <p:nvPicPr>
          <p:cNvPr id="21" name="图片 79" descr="PC.png">
            <a:extLst>
              <a:ext uri="{FF2B5EF4-FFF2-40B4-BE49-F238E27FC236}">
                <a16:creationId xmlns="" xmlns:a16="http://schemas.microsoft.com/office/drawing/2014/main" id="{4666702E-823D-4236-BF2F-880359158C83}"/>
              </a:ext>
            </a:extLst>
          </p:cNvPr>
          <p:cNvPicPr>
            <a:picLocks noChangeAspect="1"/>
          </p:cNvPicPr>
          <p:nvPr/>
        </p:nvPicPr>
        <p:blipFill>
          <a:blip r:embed="rId3" cstate="print"/>
          <a:stretch>
            <a:fillRect/>
          </a:stretch>
        </p:blipFill>
        <p:spPr bwMode="gray">
          <a:xfrm>
            <a:off x="1701711" y="5682985"/>
            <a:ext cx="445506" cy="342149"/>
          </a:xfrm>
          <a:prstGeom prst="rect">
            <a:avLst/>
          </a:prstGeom>
        </p:spPr>
      </p:pic>
      <p:pic>
        <p:nvPicPr>
          <p:cNvPr id="22" name="图片 79" descr="PC.png">
            <a:extLst>
              <a:ext uri="{FF2B5EF4-FFF2-40B4-BE49-F238E27FC236}">
                <a16:creationId xmlns="" xmlns:a16="http://schemas.microsoft.com/office/drawing/2014/main" id="{4666702E-823D-4236-BF2F-880359158C83}"/>
              </a:ext>
            </a:extLst>
          </p:cNvPr>
          <p:cNvPicPr>
            <a:picLocks noChangeAspect="1"/>
          </p:cNvPicPr>
          <p:nvPr/>
        </p:nvPicPr>
        <p:blipFill>
          <a:blip r:embed="rId3" cstate="print"/>
          <a:stretch>
            <a:fillRect/>
          </a:stretch>
        </p:blipFill>
        <p:spPr bwMode="gray">
          <a:xfrm>
            <a:off x="3624864" y="5682984"/>
            <a:ext cx="445506" cy="342149"/>
          </a:xfrm>
          <a:prstGeom prst="rect">
            <a:avLst/>
          </a:prstGeom>
        </p:spPr>
      </p:pic>
      <p:sp>
        <p:nvSpPr>
          <p:cNvPr id="74" name="圆角矩形 73"/>
          <p:cNvSpPr/>
          <p:nvPr/>
        </p:nvSpPr>
        <p:spPr bwMode="gray">
          <a:xfrm>
            <a:off x="1064415" y="2738416"/>
            <a:ext cx="3948649" cy="2628871"/>
          </a:xfrm>
          <a:prstGeom prst="roundRect">
            <a:avLst>
              <a:gd name="adj" fmla="val 3166"/>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75" name="Freeform 159"/>
          <p:cNvSpPr/>
          <p:nvPr/>
        </p:nvSpPr>
        <p:spPr bwMode="gray">
          <a:xfrm flipH="1">
            <a:off x="1636079" y="3091232"/>
            <a:ext cx="2521633" cy="1443524"/>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rgbClr val="E3F6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Huawei Sans" panose="020C0503030203020204" pitchFamily="34" charset="0"/>
              <a:ea typeface="方正兰亭黑简体" panose="02000000000000000000" pitchFamily="2" charset="-122"/>
            </a:endParaRPr>
          </a:p>
        </p:txBody>
      </p:sp>
      <p:cxnSp>
        <p:nvCxnSpPr>
          <p:cNvPr id="76" name="Straight Connector 166"/>
          <p:cNvCxnSpPr>
            <a:stCxn id="95" idx="2"/>
            <a:endCxn id="78" idx="0"/>
          </p:cNvCxnSpPr>
          <p:nvPr/>
        </p:nvCxnSpPr>
        <p:spPr bwMode="gray">
          <a:xfrm>
            <a:off x="1917204" y="4376069"/>
            <a:ext cx="0" cy="40327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7" name="Straight Connector 166"/>
          <p:cNvCxnSpPr>
            <a:stCxn id="96" idx="2"/>
            <a:endCxn id="79" idx="0"/>
          </p:cNvCxnSpPr>
          <p:nvPr/>
        </p:nvCxnSpPr>
        <p:spPr bwMode="gray">
          <a:xfrm>
            <a:off x="3848005" y="4376069"/>
            <a:ext cx="0" cy="40327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9" name="Straight Connector 167"/>
          <p:cNvCxnSpPr/>
          <p:nvPr/>
        </p:nvCxnSpPr>
        <p:spPr bwMode="gray">
          <a:xfrm flipH="1">
            <a:off x="1917914" y="3316837"/>
            <a:ext cx="971589" cy="876201"/>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90" name="Straight Connector 167"/>
          <p:cNvCxnSpPr/>
          <p:nvPr/>
        </p:nvCxnSpPr>
        <p:spPr bwMode="gray">
          <a:xfrm flipH="1" flipV="1">
            <a:off x="2886124" y="3314360"/>
            <a:ext cx="975076" cy="883934"/>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sp>
        <p:nvSpPr>
          <p:cNvPr id="92" name="文本框 91"/>
          <p:cNvSpPr txBox="1"/>
          <p:nvPr/>
        </p:nvSpPr>
        <p:spPr bwMode="gray">
          <a:xfrm>
            <a:off x="2575067" y="2865163"/>
            <a:ext cx="676788" cy="276999"/>
          </a:xfrm>
          <a:prstGeom prst="rect">
            <a:avLst/>
          </a:prstGeom>
          <a:noFill/>
        </p:spPr>
        <p:txBody>
          <a:bodyPr wrap="none" rtlCol="0">
            <a:spAutoFit/>
          </a:bodyPr>
          <a:lstStyle/>
          <a:p>
            <a:pPr algn="ctr"/>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Border</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93" name="文本框 92"/>
          <p:cNvSpPr txBox="1"/>
          <p:nvPr/>
        </p:nvSpPr>
        <p:spPr bwMode="gray">
          <a:xfrm>
            <a:off x="1063476" y="4043296"/>
            <a:ext cx="702436" cy="276999"/>
          </a:xfrm>
          <a:prstGeom prst="rect">
            <a:avLst/>
          </a:prstGeom>
          <a:noFill/>
        </p:spPr>
        <p:txBody>
          <a:bodyPr wrap="none" rtlCol="0">
            <a:spAutoFit/>
          </a:bodyPr>
          <a:lstStyle/>
          <a:p>
            <a:pPr algn="r"/>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Edge_1</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94" name="文本框 93"/>
          <p:cNvSpPr txBox="1"/>
          <p:nvPr/>
        </p:nvSpPr>
        <p:spPr bwMode="gray">
          <a:xfrm>
            <a:off x="1134009" y="4817224"/>
            <a:ext cx="631903" cy="276999"/>
          </a:xfrm>
          <a:prstGeom prst="rect">
            <a:avLst/>
          </a:prstGeom>
          <a:noFill/>
        </p:spPr>
        <p:txBody>
          <a:bodyPr wrap="none" rtlCol="0">
            <a:spAutoFit/>
          </a:bodyPr>
          <a:lstStyle/>
          <a:p>
            <a:pPr algn="r"/>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ACC_1</a:t>
            </a:r>
          </a:p>
        </p:txBody>
      </p:sp>
      <p:pic>
        <p:nvPicPr>
          <p:cNvPr id="95" name="图片 87" descr="汇聚交换机.png"/>
          <p:cNvPicPr>
            <a:picLocks noChangeAspect="1"/>
          </p:cNvPicPr>
          <p:nvPr/>
        </p:nvPicPr>
        <p:blipFill>
          <a:blip r:embed="rId4" cstate="print"/>
          <a:stretch>
            <a:fillRect/>
          </a:stretch>
        </p:blipFill>
        <p:spPr bwMode="gray">
          <a:xfrm>
            <a:off x="1694063" y="4010930"/>
            <a:ext cx="446281" cy="365139"/>
          </a:xfrm>
          <a:prstGeom prst="rect">
            <a:avLst/>
          </a:prstGeom>
        </p:spPr>
      </p:pic>
      <p:pic>
        <p:nvPicPr>
          <p:cNvPr id="96" name="图片 87" descr="汇聚交换机.png"/>
          <p:cNvPicPr>
            <a:picLocks noChangeAspect="1"/>
          </p:cNvPicPr>
          <p:nvPr/>
        </p:nvPicPr>
        <p:blipFill>
          <a:blip r:embed="rId4" cstate="print"/>
          <a:stretch>
            <a:fillRect/>
          </a:stretch>
        </p:blipFill>
        <p:spPr bwMode="gray">
          <a:xfrm>
            <a:off x="3624864" y="4010930"/>
            <a:ext cx="446281" cy="365139"/>
          </a:xfrm>
          <a:prstGeom prst="rect">
            <a:avLst/>
          </a:prstGeom>
        </p:spPr>
      </p:pic>
      <p:sp>
        <p:nvSpPr>
          <p:cNvPr id="104" name="文本框 103"/>
          <p:cNvSpPr txBox="1"/>
          <p:nvPr/>
        </p:nvSpPr>
        <p:spPr bwMode="gray">
          <a:xfrm>
            <a:off x="4070370" y="4817224"/>
            <a:ext cx="561372" cy="276999"/>
          </a:xfrm>
          <a:prstGeom prst="rect">
            <a:avLst/>
          </a:prstGeom>
          <a:noFill/>
        </p:spPr>
        <p:txBody>
          <a:bodyPr wrap="none" rtlCol="0">
            <a:spAutoFit/>
          </a:bodyPr>
          <a:lstStyle/>
          <a:p>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ACC2</a:t>
            </a:r>
          </a:p>
        </p:txBody>
      </p:sp>
      <p:cxnSp>
        <p:nvCxnSpPr>
          <p:cNvPr id="109" name="直接连接符 108"/>
          <p:cNvCxnSpPr/>
          <p:nvPr/>
        </p:nvCxnSpPr>
        <p:spPr bwMode="gray">
          <a:xfrm>
            <a:off x="1924464" y="5176886"/>
            <a:ext cx="0" cy="455400"/>
          </a:xfrm>
          <a:prstGeom prst="line">
            <a:avLst/>
          </a:prstGeom>
          <a:ln>
            <a:solidFill>
              <a:srgbClr val="F28944"/>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10" name="文本框 109"/>
          <p:cNvSpPr txBox="1"/>
          <p:nvPr/>
        </p:nvSpPr>
        <p:spPr bwMode="gray">
          <a:xfrm>
            <a:off x="1917914" y="5254595"/>
            <a:ext cx="579005" cy="276999"/>
          </a:xfrm>
          <a:prstGeom prst="rect">
            <a:avLst/>
          </a:prstGeom>
          <a:noFill/>
        </p:spPr>
        <p:txBody>
          <a:bodyPr wrap="none" rtlCol="0">
            <a:spAutoFit/>
          </a:bodyPr>
          <a:lstStyle/>
          <a:p>
            <a:pPr algn="ctr"/>
            <a:r>
              <a:rPr lang="en-US" altLang="zh-CN" sz="1200" smtClean="0">
                <a:solidFill>
                  <a:srgbClr val="F28944"/>
                </a:solidFill>
                <a:latin typeface="Huawei Sans" panose="020C0503030203020204" pitchFamily="34" charset="0"/>
                <a:ea typeface="方正兰亭细黑简体" panose="02000000000000000000" pitchFamily="2" charset="-122"/>
                <a:sym typeface="Huawei Sans" panose="020C0503030203020204" pitchFamily="34" charset="0"/>
              </a:rPr>
              <a:t>VLAN</a:t>
            </a:r>
          </a:p>
        </p:txBody>
      </p:sp>
      <p:sp>
        <p:nvSpPr>
          <p:cNvPr id="111" name="文本框 110"/>
          <p:cNvSpPr txBox="1"/>
          <p:nvPr/>
        </p:nvSpPr>
        <p:spPr bwMode="gray">
          <a:xfrm>
            <a:off x="3228315" y="5254595"/>
            <a:ext cx="579005" cy="276999"/>
          </a:xfrm>
          <a:prstGeom prst="rect">
            <a:avLst/>
          </a:prstGeom>
          <a:noFill/>
        </p:spPr>
        <p:txBody>
          <a:bodyPr wrap="none" rtlCol="0">
            <a:spAutoFit/>
          </a:bodyPr>
          <a:lstStyle/>
          <a:p>
            <a:pPr algn="ctr"/>
            <a:r>
              <a:rPr lang="en-US" altLang="zh-CN" sz="1200" smtClean="0">
                <a:solidFill>
                  <a:srgbClr val="F28944"/>
                </a:solidFill>
                <a:latin typeface="Huawei Sans" panose="020C0503030203020204" pitchFamily="34" charset="0"/>
                <a:ea typeface="方正兰亭细黑简体" panose="02000000000000000000" pitchFamily="2" charset="-122"/>
                <a:sym typeface="Huawei Sans" panose="020C0503030203020204" pitchFamily="34" charset="0"/>
              </a:rPr>
              <a:t>VLAN</a:t>
            </a:r>
          </a:p>
        </p:txBody>
      </p:sp>
      <p:cxnSp>
        <p:nvCxnSpPr>
          <p:cNvPr id="112" name="直接连接符 111"/>
          <p:cNvCxnSpPr/>
          <p:nvPr/>
        </p:nvCxnSpPr>
        <p:spPr bwMode="gray">
          <a:xfrm>
            <a:off x="3852205" y="5176886"/>
            <a:ext cx="0" cy="455400"/>
          </a:xfrm>
          <a:prstGeom prst="line">
            <a:avLst/>
          </a:prstGeom>
          <a:ln>
            <a:solidFill>
              <a:srgbClr val="F28944"/>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14" name="文本框 113"/>
          <p:cNvSpPr txBox="1"/>
          <p:nvPr/>
        </p:nvSpPr>
        <p:spPr bwMode="gray">
          <a:xfrm>
            <a:off x="2501273" y="3864529"/>
            <a:ext cx="707246" cy="276999"/>
          </a:xfrm>
          <a:prstGeom prst="rect">
            <a:avLst/>
          </a:prstGeom>
          <a:noFill/>
        </p:spPr>
        <p:txBody>
          <a:bodyPr wrap="none" rtlCol="0">
            <a:spAutoFit/>
          </a:bodyPr>
          <a:lstStyle/>
          <a:p>
            <a:pPr algn="ctr"/>
            <a:r>
              <a:rPr lang="en-US" altLang="zh-CN" sz="1200" dirty="0" smtClean="0">
                <a:solidFill>
                  <a:srgbClr val="F28944"/>
                </a:solidFill>
                <a:latin typeface="Huawei Sans" panose="020C0503030203020204" pitchFamily="34" charset="0"/>
                <a:ea typeface="方正兰亭细黑简体" panose="02000000000000000000" pitchFamily="2" charset="-122"/>
                <a:sym typeface="Huawei Sans" panose="020C0503030203020204" pitchFamily="34" charset="0"/>
              </a:rPr>
              <a:t>BD/VNI</a:t>
            </a:r>
          </a:p>
        </p:txBody>
      </p:sp>
      <p:sp>
        <p:nvSpPr>
          <p:cNvPr id="115" name="文本框 114"/>
          <p:cNvSpPr txBox="1"/>
          <p:nvPr/>
        </p:nvSpPr>
        <p:spPr bwMode="gray">
          <a:xfrm>
            <a:off x="5478026" y="5854057"/>
            <a:ext cx="1005403" cy="276999"/>
          </a:xfrm>
          <a:prstGeom prst="rect">
            <a:avLst/>
          </a:prstGeom>
          <a:noFill/>
        </p:spPr>
        <p:txBody>
          <a:bodyPr wrap="none" rtlCol="0">
            <a:spAutoFit/>
          </a:bodyPr>
          <a:lstStyle/>
          <a:p>
            <a:pPr algn="ctr"/>
            <a:r>
              <a:rPr lang="en-US" altLang="zh-CN" sz="1200" dirty="0" smtClean="0">
                <a:solidFill>
                  <a:srgbClr val="F28944"/>
                </a:solidFill>
                <a:latin typeface="Huawei Sans" panose="020C0503030203020204" pitchFamily="34" charset="0"/>
                <a:ea typeface="方正兰亭细黑简体" panose="02000000000000000000" pitchFamily="2" charset="-122"/>
                <a:sym typeface="Huawei Sans" panose="020C0503030203020204" pitchFamily="34" charset="0"/>
              </a:rPr>
              <a:t>VXLAN</a:t>
            </a:r>
            <a:r>
              <a:rPr lang="zh-CN" altLang="en-US" sz="1200" dirty="0" smtClean="0">
                <a:solidFill>
                  <a:srgbClr val="F28944"/>
                </a:solidFill>
                <a:latin typeface="Huawei Sans" panose="020C0503030203020204" pitchFamily="34" charset="0"/>
                <a:ea typeface="方正兰亭细黑简体" panose="02000000000000000000" pitchFamily="2" charset="-122"/>
                <a:sym typeface="Huawei Sans" panose="020C0503030203020204" pitchFamily="34" charset="0"/>
              </a:rPr>
              <a:t>隧道</a:t>
            </a:r>
            <a:endParaRPr lang="en-US" altLang="zh-CN" sz="1200" dirty="0" smtClean="0">
              <a:solidFill>
                <a:srgbClr val="F28944"/>
              </a:solidFill>
              <a:latin typeface="Huawei Sans" panose="020C0503030203020204" pitchFamily="34" charset="0"/>
              <a:ea typeface="方正兰亭细黑简体" panose="02000000000000000000" pitchFamily="2" charset="-122"/>
              <a:sym typeface="Huawei Sans" panose="020C0503030203020204" pitchFamily="34" charset="0"/>
            </a:endParaRPr>
          </a:p>
        </p:txBody>
      </p:sp>
      <p:cxnSp>
        <p:nvCxnSpPr>
          <p:cNvPr id="116" name="直接连接符 115"/>
          <p:cNvCxnSpPr/>
          <p:nvPr/>
        </p:nvCxnSpPr>
        <p:spPr bwMode="gray">
          <a:xfrm>
            <a:off x="2173163" y="2524474"/>
            <a:ext cx="495259" cy="621078"/>
          </a:xfrm>
          <a:prstGeom prst="line">
            <a:avLst/>
          </a:prstGeom>
          <a:ln>
            <a:solidFill>
              <a:srgbClr val="F28944"/>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17" name="直接连接符 116"/>
          <p:cNvCxnSpPr/>
          <p:nvPr/>
        </p:nvCxnSpPr>
        <p:spPr bwMode="gray">
          <a:xfrm flipH="1">
            <a:off x="3140759" y="2534087"/>
            <a:ext cx="464971" cy="611465"/>
          </a:xfrm>
          <a:prstGeom prst="line">
            <a:avLst/>
          </a:prstGeom>
          <a:ln>
            <a:solidFill>
              <a:srgbClr val="F28944"/>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18" name="文本框 117"/>
          <p:cNvSpPr txBox="1"/>
          <p:nvPr/>
        </p:nvSpPr>
        <p:spPr bwMode="gray">
          <a:xfrm>
            <a:off x="1807602" y="2738416"/>
            <a:ext cx="579005" cy="276999"/>
          </a:xfrm>
          <a:prstGeom prst="rect">
            <a:avLst/>
          </a:prstGeom>
          <a:noFill/>
        </p:spPr>
        <p:txBody>
          <a:bodyPr wrap="none" rtlCol="0">
            <a:spAutoFit/>
          </a:bodyPr>
          <a:lstStyle/>
          <a:p>
            <a:pPr algn="ctr"/>
            <a:r>
              <a:rPr lang="en-US" altLang="zh-CN" sz="1200" smtClean="0">
                <a:solidFill>
                  <a:srgbClr val="F28944"/>
                </a:solidFill>
                <a:latin typeface="Huawei Sans" panose="020C0503030203020204" pitchFamily="34" charset="0"/>
                <a:ea typeface="方正兰亭细黑简体" panose="02000000000000000000" pitchFamily="2" charset="-122"/>
                <a:sym typeface="Huawei Sans" panose="020C0503030203020204" pitchFamily="34" charset="0"/>
              </a:rPr>
              <a:t>VLAN</a:t>
            </a:r>
          </a:p>
        </p:txBody>
      </p:sp>
      <p:sp>
        <p:nvSpPr>
          <p:cNvPr id="119" name="文本框 118"/>
          <p:cNvSpPr txBox="1"/>
          <p:nvPr/>
        </p:nvSpPr>
        <p:spPr bwMode="gray">
          <a:xfrm>
            <a:off x="3381922" y="2738416"/>
            <a:ext cx="579005" cy="276999"/>
          </a:xfrm>
          <a:prstGeom prst="rect">
            <a:avLst/>
          </a:prstGeom>
          <a:noFill/>
        </p:spPr>
        <p:txBody>
          <a:bodyPr wrap="none" rtlCol="0">
            <a:spAutoFit/>
          </a:bodyPr>
          <a:lstStyle/>
          <a:p>
            <a:pPr algn="ctr"/>
            <a:r>
              <a:rPr lang="en-US" altLang="zh-CN" sz="1200" smtClean="0">
                <a:solidFill>
                  <a:srgbClr val="F28944"/>
                </a:solidFill>
                <a:latin typeface="Huawei Sans" panose="020C0503030203020204" pitchFamily="34" charset="0"/>
                <a:ea typeface="方正兰亭细黑简体" panose="02000000000000000000" pitchFamily="2" charset="-122"/>
                <a:sym typeface="Huawei Sans" panose="020C0503030203020204" pitchFamily="34" charset="0"/>
              </a:rPr>
              <a:t>VLAN</a:t>
            </a:r>
          </a:p>
        </p:txBody>
      </p:sp>
      <p:sp>
        <p:nvSpPr>
          <p:cNvPr id="120" name="文本框 119"/>
          <p:cNvSpPr txBox="1"/>
          <p:nvPr/>
        </p:nvSpPr>
        <p:spPr bwMode="gray">
          <a:xfrm>
            <a:off x="4010247" y="4043296"/>
            <a:ext cx="702436" cy="276999"/>
          </a:xfrm>
          <a:prstGeom prst="rect">
            <a:avLst/>
          </a:prstGeom>
          <a:noFill/>
        </p:spPr>
        <p:txBody>
          <a:bodyPr wrap="none" rtlCol="0">
            <a:spAutoFit/>
          </a:bodyPr>
          <a:lstStyle/>
          <a:p>
            <a:pPr algn="r"/>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Edge_2</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58" name="文本框 57"/>
          <p:cNvSpPr txBox="1"/>
          <p:nvPr/>
        </p:nvSpPr>
        <p:spPr bwMode="gray">
          <a:xfrm>
            <a:off x="1096890" y="2888585"/>
            <a:ext cx="468398" cy="307777"/>
          </a:xfrm>
          <a:prstGeom prst="rect">
            <a:avLst/>
          </a:prstGeom>
          <a:noFill/>
        </p:spPr>
        <p:txBody>
          <a:bodyPr wrap="none" rtlCol="0">
            <a:spAutoFit/>
          </a:bodyPr>
          <a:lstStyle/>
          <a:p>
            <a:r>
              <a:rPr lang="en-US" altLang="zh-CN" sz="1400" b="1" dirty="0" smtClean="0">
                <a:latin typeface="Huawei Sans" panose="020C0503030203020204" pitchFamily="34" charset="0"/>
                <a:ea typeface="方正兰亭黑简体" panose="02000000000000000000" pitchFamily="2" charset="-122"/>
                <a:cs typeface="Huawei Sans" panose="020C0503030203020204" pitchFamily="34" charset="0"/>
              </a:rPr>
              <a:t>HQ</a:t>
            </a:r>
            <a:endParaRPr lang="zh-CN" altLang="en-US" sz="1400" b="1" dirty="0">
              <a:latin typeface="Huawei Sans" panose="020C0503030203020204" pitchFamily="34" charset="0"/>
              <a:ea typeface="方正兰亭黑简体" panose="02000000000000000000" pitchFamily="2" charset="-122"/>
              <a:cs typeface="Huawei Sans" panose="020C0503030203020204" pitchFamily="34" charset="0"/>
            </a:endParaRPr>
          </a:p>
        </p:txBody>
      </p:sp>
      <p:pic>
        <p:nvPicPr>
          <p:cNvPr id="78" name="图片 76" descr="接入交换机.png"/>
          <p:cNvPicPr>
            <a:picLocks noChangeAspect="1"/>
          </p:cNvPicPr>
          <p:nvPr/>
        </p:nvPicPr>
        <p:blipFill>
          <a:blip r:embed="rId5" cstate="print"/>
          <a:stretch>
            <a:fillRect/>
          </a:stretch>
        </p:blipFill>
        <p:spPr bwMode="gray">
          <a:xfrm>
            <a:off x="1694063" y="4779346"/>
            <a:ext cx="446281" cy="365139"/>
          </a:xfrm>
          <a:prstGeom prst="rect">
            <a:avLst/>
          </a:prstGeom>
        </p:spPr>
      </p:pic>
      <p:pic>
        <p:nvPicPr>
          <p:cNvPr id="79" name="图片 76" descr="接入交换机.png"/>
          <p:cNvPicPr>
            <a:picLocks noChangeAspect="1"/>
          </p:cNvPicPr>
          <p:nvPr/>
        </p:nvPicPr>
        <p:blipFill>
          <a:blip r:embed="rId5" cstate="print"/>
          <a:stretch>
            <a:fillRect/>
          </a:stretch>
        </p:blipFill>
        <p:spPr bwMode="gray">
          <a:xfrm>
            <a:off x="3624864" y="4779346"/>
            <a:ext cx="446281" cy="365139"/>
          </a:xfrm>
          <a:prstGeom prst="rect">
            <a:avLst/>
          </a:prstGeom>
        </p:spPr>
      </p:pic>
      <p:pic>
        <p:nvPicPr>
          <p:cNvPr id="91" name="图片 86" descr="核心交换机.png"/>
          <p:cNvPicPr>
            <a:picLocks noChangeAspect="1"/>
          </p:cNvPicPr>
          <p:nvPr/>
        </p:nvPicPr>
        <p:blipFill>
          <a:blip r:embed="rId6" cstate="print"/>
          <a:stretch>
            <a:fillRect/>
          </a:stretch>
        </p:blipFill>
        <p:spPr bwMode="gray">
          <a:xfrm>
            <a:off x="2673756" y="3134268"/>
            <a:ext cx="446281" cy="365139"/>
          </a:xfrm>
          <a:prstGeom prst="rect">
            <a:avLst/>
          </a:prstGeom>
        </p:spPr>
      </p:pic>
      <p:pic>
        <p:nvPicPr>
          <p:cNvPr id="53" name="图片 52"/>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bwMode="gray">
          <a:xfrm>
            <a:off x="4049314" y="2899667"/>
            <a:ext cx="865097" cy="491769"/>
          </a:xfrm>
          <a:prstGeom prst="rect">
            <a:avLst/>
          </a:prstGeom>
        </p:spPr>
      </p:pic>
      <p:cxnSp>
        <p:nvCxnSpPr>
          <p:cNvPr id="54" name="直接连接符 53"/>
          <p:cNvCxnSpPr/>
          <p:nvPr/>
        </p:nvCxnSpPr>
        <p:spPr bwMode="gray">
          <a:xfrm>
            <a:off x="1797276" y="4393549"/>
            <a:ext cx="0" cy="304169"/>
          </a:xfrm>
          <a:prstGeom prst="line">
            <a:avLst/>
          </a:prstGeom>
          <a:ln>
            <a:solidFill>
              <a:srgbClr val="F28944"/>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56" name="文本框 55"/>
          <p:cNvSpPr txBox="1"/>
          <p:nvPr/>
        </p:nvSpPr>
        <p:spPr bwMode="gray">
          <a:xfrm>
            <a:off x="1237826" y="4428292"/>
            <a:ext cx="579005" cy="276999"/>
          </a:xfrm>
          <a:prstGeom prst="rect">
            <a:avLst/>
          </a:prstGeom>
          <a:noFill/>
        </p:spPr>
        <p:txBody>
          <a:bodyPr wrap="none" rtlCol="0">
            <a:spAutoFit/>
          </a:bodyPr>
          <a:lstStyle/>
          <a:p>
            <a:pPr algn="ctr"/>
            <a:r>
              <a:rPr lang="en-US" altLang="zh-CN" sz="1200" smtClean="0">
                <a:solidFill>
                  <a:srgbClr val="F28944"/>
                </a:solidFill>
                <a:latin typeface="Huawei Sans" panose="020C0503030203020204" pitchFamily="34" charset="0"/>
                <a:ea typeface="方正兰亭细黑简体" panose="02000000000000000000" pitchFamily="2" charset="-122"/>
                <a:sym typeface="Huawei Sans" panose="020C0503030203020204" pitchFamily="34" charset="0"/>
              </a:rPr>
              <a:t>VLAN</a:t>
            </a:r>
          </a:p>
        </p:txBody>
      </p:sp>
      <p:cxnSp>
        <p:nvCxnSpPr>
          <p:cNvPr id="57" name="直接连接符 56"/>
          <p:cNvCxnSpPr/>
          <p:nvPr/>
        </p:nvCxnSpPr>
        <p:spPr bwMode="gray">
          <a:xfrm>
            <a:off x="3951144" y="4393549"/>
            <a:ext cx="0" cy="304169"/>
          </a:xfrm>
          <a:prstGeom prst="line">
            <a:avLst/>
          </a:prstGeom>
          <a:ln>
            <a:solidFill>
              <a:srgbClr val="F28944"/>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59" name="文本框 58"/>
          <p:cNvSpPr txBox="1"/>
          <p:nvPr/>
        </p:nvSpPr>
        <p:spPr bwMode="gray">
          <a:xfrm>
            <a:off x="3934877" y="4428292"/>
            <a:ext cx="579005" cy="276999"/>
          </a:xfrm>
          <a:prstGeom prst="rect">
            <a:avLst/>
          </a:prstGeom>
          <a:noFill/>
        </p:spPr>
        <p:txBody>
          <a:bodyPr wrap="none" rtlCol="0">
            <a:spAutoFit/>
          </a:bodyPr>
          <a:lstStyle/>
          <a:p>
            <a:pPr algn="ctr"/>
            <a:r>
              <a:rPr lang="en-US" altLang="zh-CN" sz="1200" smtClean="0">
                <a:solidFill>
                  <a:srgbClr val="F28944"/>
                </a:solidFill>
                <a:latin typeface="Huawei Sans" panose="020C0503030203020204" pitchFamily="34" charset="0"/>
                <a:ea typeface="方正兰亭细黑简体" panose="02000000000000000000" pitchFamily="2" charset="-122"/>
                <a:sym typeface="Huawei Sans" panose="020C0503030203020204" pitchFamily="34" charset="0"/>
              </a:rPr>
              <a:t>VLAN</a:t>
            </a:r>
          </a:p>
        </p:txBody>
      </p:sp>
      <p:sp>
        <p:nvSpPr>
          <p:cNvPr id="55" name="五边形 54"/>
          <p:cNvSpPr/>
          <p:nvPr/>
        </p:nvSpPr>
        <p:spPr bwMode="gray">
          <a:xfrm>
            <a:off x="5773628" y="98481"/>
            <a:ext cx="9000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站点管理</a:t>
            </a:r>
          </a:p>
        </p:txBody>
      </p:sp>
      <p:sp>
        <p:nvSpPr>
          <p:cNvPr id="60" name="燕尾形 59"/>
          <p:cNvSpPr/>
          <p:nvPr/>
        </p:nvSpPr>
        <p:spPr bwMode="gray">
          <a:xfrm>
            <a:off x="9109268" y="9848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逻辑网络</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1" name="燕尾形 60"/>
          <p:cNvSpPr/>
          <p:nvPr/>
        </p:nvSpPr>
        <p:spPr bwMode="gray">
          <a:xfrm>
            <a:off x="9925178" y="9848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业务部署</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2" name="燕尾形 61"/>
          <p:cNvSpPr/>
          <p:nvPr/>
        </p:nvSpPr>
        <p:spPr bwMode="gray">
          <a:xfrm>
            <a:off x="8221358" y="98481"/>
            <a:ext cx="972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smtClean="0">
                <a:latin typeface="Huawei Sans" panose="020C0503030203020204" pitchFamily="34" charset="0"/>
                <a:ea typeface="方正兰亭黑简体" panose="02000000000000000000" pitchFamily="2" charset="-122"/>
                <a:sym typeface="Huawei Sans" panose="020C0503030203020204" pitchFamily="34" charset="0"/>
              </a:rPr>
              <a:t>Fabric</a:t>
            </a:r>
            <a:r>
              <a:rPr lang="zh-CN" altLang="en-US" sz="1200" kern="0" dirty="0" smtClean="0">
                <a:latin typeface="Huawei Sans" panose="020C0503030203020204" pitchFamily="34" charset="0"/>
                <a:ea typeface="方正兰亭黑简体" panose="02000000000000000000" pitchFamily="2" charset="-122"/>
                <a:sym typeface="Huawei Sans" panose="020C0503030203020204" pitchFamily="34" charset="0"/>
              </a:rPr>
              <a:t>网络</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3" name="燕尾形 62"/>
          <p:cNvSpPr/>
          <p:nvPr/>
        </p:nvSpPr>
        <p:spPr bwMode="gray">
          <a:xfrm>
            <a:off x="7405448" y="98481"/>
            <a:ext cx="9000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网络规划</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4" name="燕尾形 63"/>
          <p:cNvSpPr/>
          <p:nvPr/>
        </p:nvSpPr>
        <p:spPr bwMode="gray">
          <a:xfrm>
            <a:off x="6589538" y="9848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设备管理</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5" name="燕尾形 64"/>
          <p:cNvSpPr/>
          <p:nvPr/>
        </p:nvSpPr>
        <p:spPr bwMode="gray">
          <a:xfrm>
            <a:off x="10741088" y="98481"/>
            <a:ext cx="1008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WLAN</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业务</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9" name="任意多边形 48"/>
          <p:cNvSpPr/>
          <p:nvPr/>
        </p:nvSpPr>
        <p:spPr bwMode="gray">
          <a:xfrm rot="19002996">
            <a:off x="1837803" y="3494336"/>
            <a:ext cx="827218" cy="189898"/>
          </a:xfrm>
          <a:custGeom>
            <a:avLst/>
            <a:gdLst>
              <a:gd name="connsiteX0" fmla="*/ 0 w 1388533"/>
              <a:gd name="connsiteY0" fmla="*/ 0 h 33866"/>
              <a:gd name="connsiteX1" fmla="*/ 1388533 w 1388533"/>
              <a:gd name="connsiteY1" fmla="*/ 33866 h 33866"/>
              <a:gd name="connsiteX0" fmla="*/ 0 w 1319173"/>
              <a:gd name="connsiteY0" fmla="*/ 0 h 51234"/>
              <a:gd name="connsiteX1" fmla="*/ 1319173 w 1319173"/>
              <a:gd name="connsiteY1" fmla="*/ 51234 h 51234"/>
              <a:gd name="connsiteX0" fmla="*/ 0 w 944632"/>
              <a:gd name="connsiteY0" fmla="*/ 0 h 603"/>
              <a:gd name="connsiteX1" fmla="*/ 944632 w 944632"/>
              <a:gd name="connsiteY1" fmla="*/ 603 h 603"/>
              <a:gd name="connsiteX0" fmla="*/ 0 w 10000"/>
              <a:gd name="connsiteY0" fmla="*/ 185459 h 195459"/>
              <a:gd name="connsiteX1" fmla="*/ 10000 w 10000"/>
              <a:gd name="connsiteY1" fmla="*/ 195459 h 195459"/>
              <a:gd name="connsiteX0" fmla="*/ 0 w 10000"/>
              <a:gd name="connsiteY0" fmla="*/ 302781 h 312781"/>
              <a:gd name="connsiteX1" fmla="*/ 10000 w 10000"/>
              <a:gd name="connsiteY1" fmla="*/ 312781 h 312781"/>
            </a:gdLst>
            <a:ahLst/>
            <a:cxnLst>
              <a:cxn ang="0">
                <a:pos x="connsiteX0" y="connsiteY0"/>
              </a:cxn>
              <a:cxn ang="0">
                <a:pos x="connsiteX1" y="connsiteY1"/>
              </a:cxn>
            </a:cxnLst>
            <a:rect l="l" t="t" r="r" b="b"/>
            <a:pathLst>
              <a:path w="10000" h="312781">
                <a:moveTo>
                  <a:pt x="0" y="302781"/>
                </a:moveTo>
                <a:cubicBezTo>
                  <a:pt x="3333" y="-118629"/>
                  <a:pt x="7548" y="-86005"/>
                  <a:pt x="10000" y="312781"/>
                </a:cubicBezTo>
              </a:path>
            </a:pathLst>
          </a:custGeom>
          <a:noFill/>
          <a:ln w="92075" cap="rnd" algn="ctr">
            <a:solidFill>
              <a:srgbClr val="ED6D00">
                <a:alpha val="70000"/>
              </a:srgbClr>
            </a:solidFill>
            <a:prstDash val="solid"/>
            <a:round/>
            <a:headEnd type="none" w="med" len="med"/>
            <a:tailEnd type="none" w="med" len="med"/>
          </a:ln>
        </p:spPr>
        <p:txBody>
          <a:bodyPr rtlCol="0" anchor="ctr"/>
          <a:lstStyle/>
          <a:p>
            <a:pPr algn="ctr"/>
            <a:endParaRPr lang="zh-CN" altLang="en-US"/>
          </a:p>
        </p:txBody>
      </p:sp>
      <p:sp>
        <p:nvSpPr>
          <p:cNvPr id="51" name="任意多边形 50"/>
          <p:cNvSpPr/>
          <p:nvPr/>
        </p:nvSpPr>
        <p:spPr bwMode="gray">
          <a:xfrm rot="2597004" flipH="1">
            <a:off x="3123923" y="3494335"/>
            <a:ext cx="827218" cy="189898"/>
          </a:xfrm>
          <a:custGeom>
            <a:avLst/>
            <a:gdLst>
              <a:gd name="connsiteX0" fmla="*/ 0 w 1388533"/>
              <a:gd name="connsiteY0" fmla="*/ 0 h 33866"/>
              <a:gd name="connsiteX1" fmla="*/ 1388533 w 1388533"/>
              <a:gd name="connsiteY1" fmla="*/ 33866 h 33866"/>
              <a:gd name="connsiteX0" fmla="*/ 0 w 1319173"/>
              <a:gd name="connsiteY0" fmla="*/ 0 h 51234"/>
              <a:gd name="connsiteX1" fmla="*/ 1319173 w 1319173"/>
              <a:gd name="connsiteY1" fmla="*/ 51234 h 51234"/>
              <a:gd name="connsiteX0" fmla="*/ 0 w 944632"/>
              <a:gd name="connsiteY0" fmla="*/ 0 h 603"/>
              <a:gd name="connsiteX1" fmla="*/ 944632 w 944632"/>
              <a:gd name="connsiteY1" fmla="*/ 603 h 603"/>
              <a:gd name="connsiteX0" fmla="*/ 0 w 10000"/>
              <a:gd name="connsiteY0" fmla="*/ 185459 h 195459"/>
              <a:gd name="connsiteX1" fmla="*/ 10000 w 10000"/>
              <a:gd name="connsiteY1" fmla="*/ 195459 h 195459"/>
              <a:gd name="connsiteX0" fmla="*/ 0 w 10000"/>
              <a:gd name="connsiteY0" fmla="*/ 302781 h 312781"/>
              <a:gd name="connsiteX1" fmla="*/ 10000 w 10000"/>
              <a:gd name="connsiteY1" fmla="*/ 312781 h 312781"/>
            </a:gdLst>
            <a:ahLst/>
            <a:cxnLst>
              <a:cxn ang="0">
                <a:pos x="connsiteX0" y="connsiteY0"/>
              </a:cxn>
              <a:cxn ang="0">
                <a:pos x="connsiteX1" y="connsiteY1"/>
              </a:cxn>
            </a:cxnLst>
            <a:rect l="l" t="t" r="r" b="b"/>
            <a:pathLst>
              <a:path w="10000" h="312781">
                <a:moveTo>
                  <a:pt x="0" y="302781"/>
                </a:moveTo>
                <a:cubicBezTo>
                  <a:pt x="3333" y="-118629"/>
                  <a:pt x="7548" y="-86005"/>
                  <a:pt x="10000" y="312781"/>
                </a:cubicBezTo>
              </a:path>
            </a:pathLst>
          </a:custGeom>
          <a:noFill/>
          <a:ln w="92075" cap="rnd" algn="ctr">
            <a:solidFill>
              <a:srgbClr val="ED6D00">
                <a:alpha val="70000"/>
              </a:srgbClr>
            </a:solidFill>
            <a:prstDash val="solid"/>
            <a:round/>
            <a:headEnd type="none" w="med" len="med"/>
            <a:tailEnd type="none" w="med" len="med"/>
          </a:ln>
        </p:spPr>
        <p:txBody>
          <a:bodyPr rtlCol="0" anchor="ctr"/>
          <a:lstStyle/>
          <a:p>
            <a:pPr algn="ctr"/>
            <a:endParaRPr lang="zh-CN" altLang="en-US"/>
          </a:p>
        </p:txBody>
      </p:sp>
      <p:cxnSp>
        <p:nvCxnSpPr>
          <p:cNvPr id="52" name="直接连接符 51"/>
          <p:cNvCxnSpPr/>
          <p:nvPr/>
        </p:nvCxnSpPr>
        <p:spPr bwMode="gray">
          <a:xfrm flipH="1">
            <a:off x="4914411" y="5992557"/>
            <a:ext cx="555177" cy="0"/>
          </a:xfrm>
          <a:prstGeom prst="line">
            <a:avLst/>
          </a:prstGeom>
          <a:noFill/>
          <a:ln w="92075" cap="rnd" algn="ctr">
            <a:solidFill>
              <a:srgbClr val="ED6D00">
                <a:alpha val="70000"/>
              </a:srgbClr>
            </a:solidFill>
            <a:prstDash val="solid"/>
            <a:round/>
            <a:headEnd type="none" w="med" len="med"/>
            <a:tailEnd type="none" w="med" len="med"/>
          </a:ln>
        </p:spPr>
      </p:cxnSp>
      <p:cxnSp>
        <p:nvCxnSpPr>
          <p:cNvPr id="66" name="直接连接符 65"/>
          <p:cNvCxnSpPr/>
          <p:nvPr/>
        </p:nvCxnSpPr>
        <p:spPr bwMode="gray">
          <a:xfrm flipH="1">
            <a:off x="2160412" y="4198294"/>
            <a:ext cx="1445318" cy="0"/>
          </a:xfrm>
          <a:prstGeom prst="line">
            <a:avLst/>
          </a:prstGeom>
          <a:noFill/>
          <a:ln w="92075" cap="rnd" algn="ctr">
            <a:solidFill>
              <a:srgbClr val="ED6D00">
                <a:alpha val="70000"/>
              </a:srgbClr>
            </a:solidFill>
            <a:prstDash val="solid"/>
            <a:round/>
            <a:headEnd type="none" w="med" len="med"/>
            <a:tailEnd type="none" w="med" len="med"/>
          </a:ln>
        </p:spPr>
      </p:cxnSp>
    </p:spTree>
    <p:extLst>
      <p:ext uri="{BB962C8B-B14F-4D97-AF65-F5344CB8AC3E}">
        <p14:creationId xmlns:p14="http://schemas.microsoft.com/office/powerpoint/2010/main" val="1011676309"/>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3"/>
          <a:stretch>
            <a:fillRect/>
          </a:stretch>
        </p:blipFill>
        <p:spPr bwMode="gray">
          <a:xfrm>
            <a:off x="1869794" y="1937049"/>
            <a:ext cx="8465109" cy="4244062"/>
          </a:xfrm>
          <a:prstGeom prst="rect">
            <a:avLst/>
          </a:prstGeom>
          <a:ln w="12700">
            <a:solidFill>
              <a:schemeClr val="bg1">
                <a:lumMod val="85000"/>
              </a:schemeClr>
            </a:solidFill>
          </a:ln>
        </p:spPr>
      </p:pic>
      <p:sp>
        <p:nvSpPr>
          <p:cNvPr id="4" name="标题 3"/>
          <p:cNvSpPr>
            <a:spLocks noGrp="1"/>
          </p:cNvSpPr>
          <p:nvPr>
            <p:ph type="title"/>
          </p:nvPr>
        </p:nvSpPr>
        <p:spPr bwMode="gray"/>
        <p:txBody>
          <a:bodyPr>
            <a:normAutofit/>
          </a:bodyPr>
          <a:lstStyle/>
          <a:p>
            <a:r>
              <a:rPr lang="zh-CN" altLang="en-US" dirty="0" smtClean="0"/>
              <a:t>实验：配置</a:t>
            </a:r>
            <a:r>
              <a:rPr lang="en-US" altLang="zh-CN" dirty="0" smtClean="0"/>
              <a:t>Fabric</a:t>
            </a:r>
            <a:r>
              <a:rPr lang="zh-CN" altLang="en-US" dirty="0" smtClean="0"/>
              <a:t>全局资源池</a:t>
            </a:r>
            <a:endParaRPr lang="zh-CN" altLang="en-US" dirty="0"/>
          </a:p>
        </p:txBody>
      </p:sp>
      <p:sp>
        <p:nvSpPr>
          <p:cNvPr id="3" name="文本占位符 2"/>
          <p:cNvSpPr>
            <a:spLocks noGrp="1"/>
          </p:cNvSpPr>
          <p:nvPr>
            <p:ph type="body" sz="quarter" idx="10"/>
          </p:nvPr>
        </p:nvSpPr>
        <p:spPr bwMode="gray">
          <a:xfrm>
            <a:off x="455612" y="1047751"/>
            <a:ext cx="11293475" cy="877684"/>
          </a:xfrm>
        </p:spPr>
        <p:txBody>
          <a:bodyPr/>
          <a:lstStyle/>
          <a:p>
            <a:r>
              <a:rPr lang="zh-CN" altLang="en-US" sz="2000" dirty="0"/>
              <a:t>单击控制器的“</a:t>
            </a:r>
            <a:r>
              <a:rPr lang="en-US" altLang="zh-CN" sz="2000" dirty="0"/>
              <a:t>Fabric</a:t>
            </a:r>
            <a:r>
              <a:rPr lang="zh-CN" altLang="en-US" sz="2000" dirty="0"/>
              <a:t>网络 </a:t>
            </a:r>
            <a:r>
              <a:rPr lang="en-US" altLang="zh-CN" sz="2000" dirty="0"/>
              <a:t>&gt; </a:t>
            </a:r>
            <a:r>
              <a:rPr lang="zh-CN" altLang="en-US" sz="2000" dirty="0"/>
              <a:t>网络规划”，进入资源池配置页面，单击“</a:t>
            </a:r>
            <a:r>
              <a:rPr lang="en-US" altLang="zh-CN" sz="2000" dirty="0"/>
              <a:t>Fabric</a:t>
            </a:r>
            <a:r>
              <a:rPr lang="zh-CN" altLang="en-US" sz="2000" dirty="0" smtClean="0"/>
              <a:t>全局</a:t>
            </a:r>
            <a:r>
              <a:rPr lang="zh-CN" altLang="en-US" sz="2000" dirty="0"/>
              <a:t>资源池</a:t>
            </a:r>
            <a:r>
              <a:rPr lang="zh-CN" altLang="en-US" sz="2000" dirty="0" smtClean="0"/>
              <a:t>”，填写相应配置</a:t>
            </a:r>
            <a:r>
              <a:rPr lang="zh-CN" altLang="en-US" sz="2000" dirty="0"/>
              <a:t>参数，并</a:t>
            </a:r>
            <a:r>
              <a:rPr lang="zh-CN" altLang="en-US" sz="2000" dirty="0" smtClean="0"/>
              <a:t>点击“</a:t>
            </a:r>
            <a:r>
              <a:rPr lang="en-US" altLang="zh-CN" sz="2000" dirty="0" smtClean="0"/>
              <a:t>+</a:t>
            </a:r>
            <a:r>
              <a:rPr lang="zh-CN" altLang="en-US" sz="2000" dirty="0" smtClean="0"/>
              <a:t>”确定。</a:t>
            </a:r>
            <a:endParaRPr lang="zh-CN" altLang="en-US" sz="2000" dirty="0"/>
          </a:p>
        </p:txBody>
      </p:sp>
      <p:sp>
        <p:nvSpPr>
          <p:cNvPr id="12" name="TextBox 179"/>
          <p:cNvSpPr txBox="1"/>
          <p:nvPr/>
        </p:nvSpPr>
        <p:spPr bwMode="gray">
          <a:xfrm>
            <a:off x="8117035" y="3041506"/>
            <a:ext cx="3220347" cy="540000"/>
          </a:xfrm>
          <a:prstGeom prst="roundRect">
            <a:avLst>
              <a:gd name="adj" fmla="val 12806"/>
            </a:avLst>
          </a:prstGeom>
          <a:solidFill>
            <a:srgbClr val="30B5C5"/>
          </a:solidFill>
          <a:ln>
            <a:noFill/>
          </a:ln>
        </p:spPr>
        <p:txBody>
          <a:bodyPr wrap="square" lIns="72000" tIns="72000" rIns="72000" bIns="72000" anchor="ctr" anchorCtr="0">
            <a:noAutofit/>
          </a:bodyPr>
          <a:lstStyle>
            <a:defPPr>
              <a:defRPr lang="en-US"/>
            </a:defPPr>
            <a:lvl1pPr algn="ctr" defTabSz="914478">
              <a:defRPr sz="1200">
                <a:solidFill>
                  <a:schemeClr val="bg1"/>
                </a:solidFill>
              </a:defRPr>
            </a:lvl1pPr>
            <a:lvl2pPr marL="457240" defTabSz="914478"/>
            <a:lvl3pPr marL="914478" defTabSz="914478"/>
            <a:lvl4pPr marL="1371718" defTabSz="914478"/>
            <a:lvl5pPr marL="1828957" defTabSz="914478"/>
            <a:lvl6pPr marL="2286196" defTabSz="914478"/>
            <a:lvl7pPr marL="2743435" defTabSz="914478"/>
            <a:lvl8pPr marL="3200675" defTabSz="914478"/>
            <a:lvl9pPr marL="3657913" defTabSz="914478"/>
          </a:lstStyle>
          <a:p>
            <a:r>
              <a:rPr lang="zh-CN" altLang="en-US" sz="1400" dirty="0" smtClean="0"/>
              <a:t>通过</a:t>
            </a:r>
            <a:r>
              <a:rPr lang="en-US" altLang="zh-CN" sz="1400" dirty="0" smtClean="0"/>
              <a:t>iMaster NCE-Campus</a:t>
            </a:r>
            <a:r>
              <a:rPr lang="zh-CN" altLang="en-US" sz="1400" dirty="0" smtClean="0"/>
              <a:t>提供的逻辑视图，可以直观地理解各参数的含义。</a:t>
            </a:r>
            <a:endParaRPr lang="zh-CN" altLang="en-US" sz="1400" dirty="0"/>
          </a:p>
        </p:txBody>
      </p:sp>
      <p:sp>
        <p:nvSpPr>
          <p:cNvPr id="19" name="五边形 18"/>
          <p:cNvSpPr/>
          <p:nvPr/>
        </p:nvSpPr>
        <p:spPr bwMode="gray">
          <a:xfrm>
            <a:off x="5773628" y="98481"/>
            <a:ext cx="9000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站点管理</a:t>
            </a:r>
          </a:p>
        </p:txBody>
      </p:sp>
      <p:sp>
        <p:nvSpPr>
          <p:cNvPr id="20" name="燕尾形 19"/>
          <p:cNvSpPr/>
          <p:nvPr/>
        </p:nvSpPr>
        <p:spPr bwMode="gray">
          <a:xfrm>
            <a:off x="9109268" y="9848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逻辑网络</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1" name="燕尾形 20"/>
          <p:cNvSpPr/>
          <p:nvPr/>
        </p:nvSpPr>
        <p:spPr bwMode="gray">
          <a:xfrm>
            <a:off x="9925178" y="9848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业务部署</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2" name="燕尾形 21"/>
          <p:cNvSpPr/>
          <p:nvPr/>
        </p:nvSpPr>
        <p:spPr bwMode="gray">
          <a:xfrm>
            <a:off x="8221358" y="98481"/>
            <a:ext cx="972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smtClean="0">
                <a:latin typeface="Huawei Sans" panose="020C0503030203020204" pitchFamily="34" charset="0"/>
                <a:ea typeface="方正兰亭黑简体" panose="02000000000000000000" pitchFamily="2" charset="-122"/>
                <a:sym typeface="Huawei Sans" panose="020C0503030203020204" pitchFamily="34" charset="0"/>
              </a:rPr>
              <a:t>Fabric</a:t>
            </a:r>
            <a:r>
              <a:rPr lang="zh-CN" altLang="en-US" sz="1200" kern="0" dirty="0" smtClean="0">
                <a:latin typeface="Huawei Sans" panose="020C0503030203020204" pitchFamily="34" charset="0"/>
                <a:ea typeface="方正兰亭黑简体" panose="02000000000000000000" pitchFamily="2" charset="-122"/>
                <a:sym typeface="Huawei Sans" panose="020C0503030203020204" pitchFamily="34" charset="0"/>
              </a:rPr>
              <a:t>网络</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3" name="燕尾形 22"/>
          <p:cNvSpPr/>
          <p:nvPr/>
        </p:nvSpPr>
        <p:spPr bwMode="gray">
          <a:xfrm>
            <a:off x="7405448" y="98481"/>
            <a:ext cx="9000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网络规划</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4" name="燕尾形 23"/>
          <p:cNvSpPr/>
          <p:nvPr/>
        </p:nvSpPr>
        <p:spPr bwMode="gray">
          <a:xfrm>
            <a:off x="6589538" y="9848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设备管理</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5" name="燕尾形 24"/>
          <p:cNvSpPr/>
          <p:nvPr/>
        </p:nvSpPr>
        <p:spPr bwMode="gray">
          <a:xfrm>
            <a:off x="10741088" y="98481"/>
            <a:ext cx="1008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WLAN</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业务</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3650888836"/>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圆角矩形 52"/>
          <p:cNvSpPr/>
          <p:nvPr/>
        </p:nvSpPr>
        <p:spPr bwMode="gray">
          <a:xfrm>
            <a:off x="1064415" y="2738417"/>
            <a:ext cx="3948649" cy="1459992"/>
          </a:xfrm>
          <a:prstGeom prst="roundRect">
            <a:avLst>
              <a:gd name="adj" fmla="val 3166"/>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cs typeface="Huawei Sans" panose="020C0503030203020204" pitchFamily="34" charset="0"/>
            </a:endParaRPr>
          </a:p>
        </p:txBody>
      </p:sp>
      <p:grpSp>
        <p:nvGrpSpPr>
          <p:cNvPr id="82" name="组合 81"/>
          <p:cNvGrpSpPr/>
          <p:nvPr/>
        </p:nvGrpSpPr>
        <p:grpSpPr bwMode="gray">
          <a:xfrm rot="5400000">
            <a:off x="2014194" y="4074208"/>
            <a:ext cx="213684" cy="248400"/>
            <a:chOff x="5273248" y="4464391"/>
            <a:chExt cx="378553" cy="249005"/>
          </a:xfrm>
        </p:grpSpPr>
        <p:cxnSp>
          <p:nvCxnSpPr>
            <p:cNvPr id="83" name="直接连接符 82"/>
            <p:cNvCxnSpPr/>
            <p:nvPr/>
          </p:nvCxnSpPr>
          <p:spPr bwMode="gray">
            <a:xfrm>
              <a:off x="5273248" y="4464391"/>
              <a:ext cx="37855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4" name="直接连接符 83"/>
            <p:cNvCxnSpPr/>
            <p:nvPr/>
          </p:nvCxnSpPr>
          <p:spPr bwMode="gray">
            <a:xfrm>
              <a:off x="5462524" y="4464391"/>
              <a:ext cx="0" cy="24900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85" name="组合 84"/>
          <p:cNvGrpSpPr/>
          <p:nvPr/>
        </p:nvGrpSpPr>
        <p:grpSpPr bwMode="gray">
          <a:xfrm rot="16200000" flipH="1">
            <a:off x="3525496" y="4074208"/>
            <a:ext cx="213684" cy="248400"/>
            <a:chOff x="5273248" y="4464391"/>
            <a:chExt cx="378553" cy="249005"/>
          </a:xfrm>
        </p:grpSpPr>
        <p:cxnSp>
          <p:nvCxnSpPr>
            <p:cNvPr id="86" name="直接连接符 85"/>
            <p:cNvCxnSpPr/>
            <p:nvPr/>
          </p:nvCxnSpPr>
          <p:spPr bwMode="gray">
            <a:xfrm>
              <a:off x="5273248" y="4464391"/>
              <a:ext cx="37855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7" name="直接连接符 86"/>
            <p:cNvCxnSpPr/>
            <p:nvPr/>
          </p:nvCxnSpPr>
          <p:spPr bwMode="gray">
            <a:xfrm>
              <a:off x="5462524" y="4464391"/>
              <a:ext cx="0" cy="24900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 name="标题 2"/>
          <p:cNvSpPr>
            <a:spLocks noGrp="1"/>
          </p:cNvSpPr>
          <p:nvPr>
            <p:ph type="title"/>
          </p:nvPr>
        </p:nvSpPr>
        <p:spPr bwMode="gray"/>
        <p:txBody>
          <a:bodyPr>
            <a:normAutofit/>
          </a:bodyPr>
          <a:lstStyle/>
          <a:p>
            <a:r>
              <a:rPr lang="zh-CN" altLang="en-US" dirty="0" smtClean="0"/>
              <a:t>资源池配置：</a:t>
            </a:r>
            <a:r>
              <a:rPr lang="en-US" altLang="zh-CN" dirty="0" smtClean="0"/>
              <a:t>Underlay</a:t>
            </a:r>
            <a:r>
              <a:rPr lang="zh-CN" altLang="en-US" dirty="0" smtClean="0"/>
              <a:t>自动化资源池</a:t>
            </a:r>
            <a:endParaRPr lang="zh-CN" altLang="en-US" dirty="0"/>
          </a:p>
        </p:txBody>
      </p:sp>
      <p:sp>
        <p:nvSpPr>
          <p:cNvPr id="4" name="文本占位符 3"/>
          <p:cNvSpPr>
            <a:spLocks noGrp="1"/>
          </p:cNvSpPr>
          <p:nvPr>
            <p:ph type="body" sz="quarter" idx="10"/>
          </p:nvPr>
        </p:nvSpPr>
        <p:spPr bwMode="gray">
          <a:xfrm>
            <a:off x="455612" y="1047750"/>
            <a:ext cx="11293475" cy="933605"/>
          </a:xfrm>
        </p:spPr>
        <p:txBody>
          <a:bodyPr/>
          <a:lstStyle/>
          <a:p>
            <a:r>
              <a:rPr lang="en-US" altLang="zh-CN" sz="2000" dirty="0"/>
              <a:t>Underlay</a:t>
            </a:r>
            <a:r>
              <a:rPr lang="zh-CN" altLang="en-US" sz="2000" dirty="0"/>
              <a:t>自动化资源池规定</a:t>
            </a:r>
            <a:r>
              <a:rPr lang="en-US" altLang="zh-CN" sz="2000" dirty="0"/>
              <a:t>Underlay</a:t>
            </a:r>
            <a:r>
              <a:rPr lang="zh-CN" altLang="en-US" sz="2000" dirty="0"/>
              <a:t>网络</a:t>
            </a:r>
            <a:r>
              <a:rPr lang="zh-CN" altLang="en-US" sz="2000" dirty="0" smtClean="0"/>
              <a:t>进行自动配置路由域时</a:t>
            </a:r>
            <a:r>
              <a:rPr lang="zh-CN" altLang="en-US" sz="2000" dirty="0"/>
              <a:t>所使用</a:t>
            </a:r>
            <a:r>
              <a:rPr lang="zh-CN" altLang="en-US" sz="2000" dirty="0" smtClean="0"/>
              <a:t>的互联</a:t>
            </a:r>
            <a:r>
              <a:rPr lang="en-US" altLang="zh-CN" sz="2000" dirty="0" smtClean="0"/>
              <a:t>VLAN</a:t>
            </a:r>
            <a:r>
              <a:rPr lang="zh-CN" altLang="en-US" sz="2000" dirty="0" smtClean="0"/>
              <a:t>、互联</a:t>
            </a:r>
            <a:r>
              <a:rPr lang="en-US" altLang="zh-CN" sz="2000" dirty="0" smtClean="0"/>
              <a:t>IP</a:t>
            </a:r>
            <a:r>
              <a:rPr lang="zh-CN" altLang="en-US" sz="2000" dirty="0" smtClean="0"/>
              <a:t>和环回口</a:t>
            </a:r>
            <a:r>
              <a:rPr lang="en-US" altLang="zh-CN" sz="2000" dirty="0" smtClean="0"/>
              <a:t>IP</a:t>
            </a:r>
            <a:r>
              <a:rPr lang="zh-CN" altLang="en-US" sz="2000" dirty="0" smtClean="0"/>
              <a:t>资源。</a:t>
            </a:r>
            <a:endParaRPr lang="zh-CN" altLang="en-US" sz="2000" dirty="0"/>
          </a:p>
        </p:txBody>
      </p:sp>
      <p:cxnSp>
        <p:nvCxnSpPr>
          <p:cNvPr id="55" name="Straight Connector 166"/>
          <p:cNvCxnSpPr>
            <a:stCxn id="68" idx="2"/>
            <a:endCxn id="88" idx="0"/>
          </p:cNvCxnSpPr>
          <p:nvPr/>
        </p:nvCxnSpPr>
        <p:spPr bwMode="gray">
          <a:xfrm>
            <a:off x="1917204" y="4376069"/>
            <a:ext cx="0" cy="40327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 name="Straight Connector 166"/>
          <p:cNvCxnSpPr>
            <a:stCxn id="69" idx="2"/>
            <a:endCxn id="89" idx="0"/>
          </p:cNvCxnSpPr>
          <p:nvPr/>
        </p:nvCxnSpPr>
        <p:spPr bwMode="gray">
          <a:xfrm>
            <a:off x="3848005" y="4376069"/>
            <a:ext cx="0" cy="40327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 name="Straight Connector 167"/>
          <p:cNvCxnSpPr/>
          <p:nvPr/>
        </p:nvCxnSpPr>
        <p:spPr bwMode="gray">
          <a:xfrm flipH="1">
            <a:off x="1917914" y="3316837"/>
            <a:ext cx="971589" cy="876201"/>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64" name="Straight Connector 167"/>
          <p:cNvCxnSpPr/>
          <p:nvPr/>
        </p:nvCxnSpPr>
        <p:spPr bwMode="gray">
          <a:xfrm flipH="1" flipV="1">
            <a:off x="2886124" y="3314360"/>
            <a:ext cx="975076" cy="883934"/>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sp>
        <p:nvSpPr>
          <p:cNvPr id="65" name="文本框 64"/>
          <p:cNvSpPr txBox="1"/>
          <p:nvPr/>
        </p:nvSpPr>
        <p:spPr bwMode="gray">
          <a:xfrm>
            <a:off x="2028101" y="3173081"/>
            <a:ext cx="665567" cy="276999"/>
          </a:xfrm>
          <a:prstGeom prst="rect">
            <a:avLst/>
          </a:prstGeom>
          <a:noFill/>
        </p:spPr>
        <p:txBody>
          <a:bodyPr wrap="none" rtlCol="0">
            <a:spAutoFit/>
          </a:bodyPr>
          <a:lstStyle/>
          <a:p>
            <a:pPr algn="ctr"/>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Border</a:t>
            </a:r>
          </a:p>
        </p:txBody>
      </p:sp>
      <p:sp>
        <p:nvSpPr>
          <p:cNvPr id="66" name="文本框 65"/>
          <p:cNvSpPr txBox="1"/>
          <p:nvPr/>
        </p:nvSpPr>
        <p:spPr bwMode="gray">
          <a:xfrm>
            <a:off x="1081108" y="4043296"/>
            <a:ext cx="684804" cy="276999"/>
          </a:xfrm>
          <a:prstGeom prst="rect">
            <a:avLst/>
          </a:prstGeom>
          <a:noFill/>
        </p:spPr>
        <p:txBody>
          <a:bodyPr wrap="none" rtlCol="0">
            <a:spAutoFit/>
          </a:bodyPr>
          <a:lstStyle/>
          <a:p>
            <a:pPr algn="r"/>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Edge_1</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67" name="文本框 66"/>
          <p:cNvSpPr txBox="1"/>
          <p:nvPr/>
        </p:nvSpPr>
        <p:spPr bwMode="gray">
          <a:xfrm>
            <a:off x="1134008" y="4814811"/>
            <a:ext cx="631904" cy="276999"/>
          </a:xfrm>
          <a:prstGeom prst="rect">
            <a:avLst/>
          </a:prstGeom>
          <a:noFill/>
        </p:spPr>
        <p:txBody>
          <a:bodyPr wrap="none" rtlCol="0">
            <a:spAutoFit/>
          </a:bodyPr>
          <a:lstStyle/>
          <a:p>
            <a:pPr algn="r"/>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ACC_1</a:t>
            </a:r>
          </a:p>
        </p:txBody>
      </p:sp>
      <p:pic>
        <p:nvPicPr>
          <p:cNvPr id="68" name="图片 87" descr="汇聚交换机.png"/>
          <p:cNvPicPr>
            <a:picLocks noChangeAspect="1"/>
          </p:cNvPicPr>
          <p:nvPr/>
        </p:nvPicPr>
        <p:blipFill>
          <a:blip r:embed="rId3" cstate="print"/>
          <a:stretch>
            <a:fillRect/>
          </a:stretch>
        </p:blipFill>
        <p:spPr bwMode="gray">
          <a:xfrm>
            <a:off x="1694063" y="4010930"/>
            <a:ext cx="446281" cy="365139"/>
          </a:xfrm>
          <a:prstGeom prst="rect">
            <a:avLst/>
          </a:prstGeom>
        </p:spPr>
      </p:pic>
      <p:pic>
        <p:nvPicPr>
          <p:cNvPr id="69" name="图片 87" descr="汇聚交换机.png"/>
          <p:cNvPicPr>
            <a:picLocks noChangeAspect="1"/>
          </p:cNvPicPr>
          <p:nvPr/>
        </p:nvPicPr>
        <p:blipFill>
          <a:blip r:embed="rId3" cstate="print"/>
          <a:stretch>
            <a:fillRect/>
          </a:stretch>
        </p:blipFill>
        <p:spPr bwMode="gray">
          <a:xfrm>
            <a:off x="3624864" y="4010930"/>
            <a:ext cx="446281" cy="365139"/>
          </a:xfrm>
          <a:prstGeom prst="rect">
            <a:avLst/>
          </a:prstGeom>
        </p:spPr>
      </p:pic>
      <p:sp>
        <p:nvSpPr>
          <p:cNvPr id="70" name="文本框 69"/>
          <p:cNvSpPr txBox="1"/>
          <p:nvPr/>
        </p:nvSpPr>
        <p:spPr bwMode="gray">
          <a:xfrm>
            <a:off x="4049314" y="4823415"/>
            <a:ext cx="631904" cy="276999"/>
          </a:xfrm>
          <a:prstGeom prst="rect">
            <a:avLst/>
          </a:prstGeom>
          <a:noFill/>
        </p:spPr>
        <p:txBody>
          <a:bodyPr wrap="none" rtlCol="0">
            <a:spAutoFit/>
          </a:bodyPr>
          <a:lstStyle/>
          <a:p>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ACC_2</a:t>
            </a:r>
          </a:p>
        </p:txBody>
      </p:sp>
      <p:sp>
        <p:nvSpPr>
          <p:cNvPr id="77" name="文本框 76"/>
          <p:cNvSpPr txBox="1"/>
          <p:nvPr/>
        </p:nvSpPr>
        <p:spPr bwMode="gray">
          <a:xfrm>
            <a:off x="4023992" y="4043296"/>
            <a:ext cx="684804" cy="276999"/>
          </a:xfrm>
          <a:prstGeom prst="rect">
            <a:avLst/>
          </a:prstGeom>
          <a:noFill/>
        </p:spPr>
        <p:txBody>
          <a:bodyPr wrap="none" rtlCol="0">
            <a:spAutoFit/>
          </a:bodyPr>
          <a:lstStyle/>
          <a:p>
            <a:pPr algn="r"/>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Edge_2</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78" name="文本框 77"/>
          <p:cNvSpPr txBox="1"/>
          <p:nvPr/>
        </p:nvSpPr>
        <p:spPr bwMode="gray">
          <a:xfrm>
            <a:off x="1096890" y="2888585"/>
            <a:ext cx="468398" cy="307777"/>
          </a:xfrm>
          <a:prstGeom prst="rect">
            <a:avLst/>
          </a:prstGeom>
          <a:noFill/>
        </p:spPr>
        <p:txBody>
          <a:bodyPr wrap="none" rtlCol="0">
            <a:spAutoFit/>
          </a:bodyPr>
          <a:lstStyle/>
          <a:p>
            <a:r>
              <a:rPr lang="en-US" altLang="zh-CN" sz="1400" b="1" dirty="0" smtClean="0">
                <a:latin typeface="Huawei Sans" panose="020C0503030203020204" pitchFamily="34" charset="0"/>
                <a:ea typeface="方正兰亭黑简体" panose="02000000000000000000" pitchFamily="2" charset="-122"/>
                <a:cs typeface="Huawei Sans" panose="020C0503030203020204" pitchFamily="34" charset="0"/>
              </a:rPr>
              <a:t>HQ</a:t>
            </a:r>
            <a:endParaRPr lang="zh-CN" altLang="en-US" sz="1400" b="1" dirty="0">
              <a:latin typeface="Huawei Sans" panose="020C0503030203020204" pitchFamily="34" charset="0"/>
              <a:ea typeface="方正兰亭黑简体" panose="02000000000000000000" pitchFamily="2" charset="-122"/>
              <a:cs typeface="Huawei Sans" panose="020C0503030203020204" pitchFamily="34" charset="0"/>
            </a:endParaRPr>
          </a:p>
        </p:txBody>
      </p:sp>
      <p:grpSp>
        <p:nvGrpSpPr>
          <p:cNvPr id="79" name="组合 78"/>
          <p:cNvGrpSpPr/>
          <p:nvPr/>
        </p:nvGrpSpPr>
        <p:grpSpPr bwMode="gray">
          <a:xfrm>
            <a:off x="2785562" y="3010795"/>
            <a:ext cx="213684" cy="248400"/>
            <a:chOff x="5273248" y="4464391"/>
            <a:chExt cx="378553" cy="249005"/>
          </a:xfrm>
        </p:grpSpPr>
        <p:cxnSp>
          <p:nvCxnSpPr>
            <p:cNvPr id="80" name="直接连接符 79"/>
            <p:cNvCxnSpPr/>
            <p:nvPr/>
          </p:nvCxnSpPr>
          <p:spPr bwMode="gray">
            <a:xfrm>
              <a:off x="5273248" y="4464391"/>
              <a:ext cx="37855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1" name="直接连接符 80"/>
            <p:cNvCxnSpPr/>
            <p:nvPr/>
          </p:nvCxnSpPr>
          <p:spPr bwMode="gray">
            <a:xfrm>
              <a:off x="5462524" y="4464391"/>
              <a:ext cx="0" cy="24900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pic>
        <p:nvPicPr>
          <p:cNvPr id="88" name="图片 76" descr="接入交换机.png"/>
          <p:cNvPicPr>
            <a:picLocks noChangeAspect="1"/>
          </p:cNvPicPr>
          <p:nvPr/>
        </p:nvPicPr>
        <p:blipFill>
          <a:blip r:embed="rId4" cstate="print"/>
          <a:stretch>
            <a:fillRect/>
          </a:stretch>
        </p:blipFill>
        <p:spPr bwMode="gray">
          <a:xfrm>
            <a:off x="1694063" y="4779346"/>
            <a:ext cx="446281" cy="365139"/>
          </a:xfrm>
          <a:prstGeom prst="rect">
            <a:avLst/>
          </a:prstGeom>
        </p:spPr>
      </p:pic>
      <p:pic>
        <p:nvPicPr>
          <p:cNvPr id="89" name="图片 76" descr="接入交换机.png"/>
          <p:cNvPicPr>
            <a:picLocks noChangeAspect="1"/>
          </p:cNvPicPr>
          <p:nvPr/>
        </p:nvPicPr>
        <p:blipFill>
          <a:blip r:embed="rId4" cstate="print"/>
          <a:stretch>
            <a:fillRect/>
          </a:stretch>
        </p:blipFill>
        <p:spPr bwMode="gray">
          <a:xfrm>
            <a:off x="3624864" y="4779346"/>
            <a:ext cx="446281" cy="365139"/>
          </a:xfrm>
          <a:prstGeom prst="rect">
            <a:avLst/>
          </a:prstGeom>
        </p:spPr>
      </p:pic>
      <p:pic>
        <p:nvPicPr>
          <p:cNvPr id="90" name="图片 86" descr="核心交换机.png"/>
          <p:cNvPicPr>
            <a:picLocks noChangeAspect="1"/>
          </p:cNvPicPr>
          <p:nvPr/>
        </p:nvPicPr>
        <p:blipFill>
          <a:blip r:embed="rId5" cstate="print"/>
          <a:stretch>
            <a:fillRect/>
          </a:stretch>
        </p:blipFill>
        <p:spPr bwMode="gray">
          <a:xfrm>
            <a:off x="2673756" y="3134268"/>
            <a:ext cx="446281" cy="365139"/>
          </a:xfrm>
          <a:prstGeom prst="rect">
            <a:avLst/>
          </a:prstGeom>
        </p:spPr>
      </p:pic>
      <p:pic>
        <p:nvPicPr>
          <p:cNvPr id="91" name="图片 90"/>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bwMode="gray">
          <a:xfrm>
            <a:off x="4049314" y="2899667"/>
            <a:ext cx="865097" cy="491769"/>
          </a:xfrm>
          <a:prstGeom prst="rect">
            <a:avLst/>
          </a:prstGeom>
        </p:spPr>
      </p:pic>
      <p:cxnSp>
        <p:nvCxnSpPr>
          <p:cNvPr id="94" name="Straight Connector 167"/>
          <p:cNvCxnSpPr/>
          <p:nvPr/>
        </p:nvCxnSpPr>
        <p:spPr bwMode="gray">
          <a:xfrm flipH="1">
            <a:off x="2303623" y="3544873"/>
            <a:ext cx="542066" cy="474855"/>
          </a:xfrm>
          <a:prstGeom prst="line">
            <a:avLst/>
          </a:prstGeom>
          <a:ln w="19050">
            <a:solidFill>
              <a:srgbClr val="ED6D00"/>
            </a:solidFill>
            <a:prstDash val="sysDot"/>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95" name="Straight Connector 167"/>
          <p:cNvCxnSpPr/>
          <p:nvPr/>
        </p:nvCxnSpPr>
        <p:spPr bwMode="gray">
          <a:xfrm>
            <a:off x="2067143" y="4375607"/>
            <a:ext cx="0" cy="365711"/>
          </a:xfrm>
          <a:prstGeom prst="line">
            <a:avLst/>
          </a:prstGeom>
          <a:ln w="19050">
            <a:solidFill>
              <a:srgbClr val="ED6D00"/>
            </a:solidFill>
            <a:prstDash val="sysDot"/>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96" name="Straight Connector 167"/>
          <p:cNvCxnSpPr/>
          <p:nvPr/>
        </p:nvCxnSpPr>
        <p:spPr bwMode="gray">
          <a:xfrm>
            <a:off x="3713506" y="4375607"/>
            <a:ext cx="0" cy="365711"/>
          </a:xfrm>
          <a:prstGeom prst="line">
            <a:avLst/>
          </a:prstGeom>
          <a:ln w="19050">
            <a:solidFill>
              <a:srgbClr val="ED6D00"/>
            </a:solidFill>
            <a:prstDash val="sysDot"/>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97" name="Straight Connector 167"/>
          <p:cNvCxnSpPr/>
          <p:nvPr/>
        </p:nvCxnSpPr>
        <p:spPr bwMode="gray">
          <a:xfrm>
            <a:off x="3027663" y="3544873"/>
            <a:ext cx="480475" cy="429735"/>
          </a:xfrm>
          <a:prstGeom prst="line">
            <a:avLst/>
          </a:prstGeom>
          <a:ln w="19050">
            <a:solidFill>
              <a:srgbClr val="ED6D00"/>
            </a:solidFill>
            <a:prstDash val="sysDot"/>
            <a:headEnd type="triangle"/>
            <a:tailEnd type="triangle"/>
          </a:ln>
        </p:spPr>
        <p:style>
          <a:lnRef idx="1">
            <a:schemeClr val="accent1"/>
          </a:lnRef>
          <a:fillRef idx="0">
            <a:schemeClr val="accent1"/>
          </a:fillRef>
          <a:effectRef idx="0">
            <a:schemeClr val="accent1"/>
          </a:effectRef>
          <a:fontRef idx="minor">
            <a:schemeClr val="tx1"/>
          </a:fontRef>
        </p:style>
      </p:cxnSp>
      <p:sp>
        <p:nvSpPr>
          <p:cNvPr id="98" name="文本框 97"/>
          <p:cNvSpPr txBox="1"/>
          <p:nvPr/>
        </p:nvSpPr>
        <p:spPr bwMode="gray">
          <a:xfrm>
            <a:off x="2569370" y="3817504"/>
            <a:ext cx="633508" cy="307777"/>
          </a:xfrm>
          <a:prstGeom prst="rect">
            <a:avLst/>
          </a:prstGeom>
          <a:noFill/>
        </p:spPr>
        <p:txBody>
          <a:bodyPr wrap="none" rtlCol="0">
            <a:spAutoFit/>
          </a:bodyPr>
          <a:lstStyle/>
          <a:p>
            <a:pPr algn="ctr"/>
            <a:r>
              <a:rPr lang="en-US" altLang="zh-CN" sz="1400" b="1" dirty="0" smtClean="0">
                <a:solidFill>
                  <a:srgbClr val="ED6D00"/>
                </a:solidFill>
                <a:latin typeface="Huawei Sans" panose="020C0503030203020204" pitchFamily="34" charset="0"/>
                <a:ea typeface="方正兰亭细黑简体" panose="02000000000000000000" pitchFamily="2" charset="-122"/>
                <a:sym typeface="Huawei Sans" panose="020C0503030203020204" pitchFamily="34" charset="0"/>
              </a:rPr>
              <a:t>OSPF</a:t>
            </a:r>
          </a:p>
        </p:txBody>
      </p:sp>
      <p:sp>
        <p:nvSpPr>
          <p:cNvPr id="99" name="文本框 98"/>
          <p:cNvSpPr txBox="1"/>
          <p:nvPr/>
        </p:nvSpPr>
        <p:spPr bwMode="gray">
          <a:xfrm>
            <a:off x="1311936" y="3518932"/>
            <a:ext cx="931666" cy="461665"/>
          </a:xfrm>
          <a:prstGeom prst="rect">
            <a:avLst/>
          </a:prstGeom>
          <a:noFill/>
        </p:spPr>
        <p:txBody>
          <a:bodyPr wrap="none" rtlCol="0">
            <a:spAutoFit/>
          </a:bodyPr>
          <a:lstStyle/>
          <a:p>
            <a:pPr algn="ctr"/>
            <a:r>
              <a:rPr lang="zh-CN" altLang="en-US" sz="1200" dirty="0" smtClean="0">
                <a:solidFill>
                  <a:srgbClr val="ED6D00"/>
                </a:solidFill>
                <a:latin typeface="Huawei Sans" panose="020C0503030203020204" pitchFamily="34" charset="0"/>
                <a:ea typeface="方正兰亭细黑简体" panose="02000000000000000000" pitchFamily="2" charset="-122"/>
                <a:sym typeface="Huawei Sans" panose="020C0503030203020204" pitchFamily="34" charset="0"/>
              </a:rPr>
              <a:t>互联</a:t>
            </a:r>
            <a:r>
              <a:rPr lang="en-US" altLang="zh-CN" sz="1200" dirty="0" smtClean="0">
                <a:solidFill>
                  <a:srgbClr val="ED6D00"/>
                </a:solidFill>
                <a:latin typeface="Huawei Sans" panose="020C0503030203020204" pitchFamily="34" charset="0"/>
                <a:ea typeface="方正兰亭细黑简体" panose="02000000000000000000" pitchFamily="2" charset="-122"/>
                <a:sym typeface="Huawei Sans" panose="020C0503030203020204" pitchFamily="34" charset="0"/>
              </a:rPr>
              <a:t>VLAN</a:t>
            </a:r>
          </a:p>
          <a:p>
            <a:pPr algn="ctr"/>
            <a:r>
              <a:rPr lang="zh-CN" altLang="en-US" sz="1200" dirty="0" smtClean="0">
                <a:solidFill>
                  <a:srgbClr val="ED6D00"/>
                </a:solidFill>
                <a:latin typeface="Huawei Sans" panose="020C0503030203020204" pitchFamily="34" charset="0"/>
                <a:ea typeface="方正兰亭细黑简体" panose="02000000000000000000" pitchFamily="2" charset="-122"/>
                <a:sym typeface="Huawei Sans" panose="020C0503030203020204" pitchFamily="34" charset="0"/>
              </a:rPr>
              <a:t>互联</a:t>
            </a:r>
            <a:r>
              <a:rPr lang="en-US" altLang="zh-CN" sz="1200" dirty="0" smtClean="0">
                <a:solidFill>
                  <a:srgbClr val="ED6D00"/>
                </a:solidFill>
                <a:latin typeface="Huawei Sans" panose="020C0503030203020204" pitchFamily="34" charset="0"/>
                <a:ea typeface="方正兰亭细黑简体" panose="02000000000000000000" pitchFamily="2" charset="-122"/>
                <a:sym typeface="Huawei Sans" panose="020C0503030203020204" pitchFamily="34" charset="0"/>
              </a:rPr>
              <a:t>IP</a:t>
            </a:r>
            <a:r>
              <a:rPr lang="zh-CN" altLang="en-US" sz="1200" dirty="0" smtClean="0">
                <a:solidFill>
                  <a:srgbClr val="ED6D00"/>
                </a:solidFill>
                <a:latin typeface="Huawei Sans" panose="020C0503030203020204" pitchFamily="34" charset="0"/>
                <a:ea typeface="方正兰亭细黑简体" panose="02000000000000000000" pitchFamily="2" charset="-122"/>
                <a:sym typeface="Huawei Sans" panose="020C0503030203020204" pitchFamily="34" charset="0"/>
              </a:rPr>
              <a:t>地址</a:t>
            </a:r>
            <a:endParaRPr lang="en-US" altLang="zh-CN" sz="1200" dirty="0" smtClean="0">
              <a:solidFill>
                <a:srgbClr val="ED6D00"/>
              </a:solidFill>
              <a:latin typeface="Huawei Sans" panose="020C0503030203020204" pitchFamily="34" charset="0"/>
              <a:ea typeface="方正兰亭细黑简体" panose="02000000000000000000" pitchFamily="2" charset="-122"/>
              <a:sym typeface="Huawei Sans" panose="020C0503030203020204" pitchFamily="34" charset="0"/>
            </a:endParaRPr>
          </a:p>
        </p:txBody>
      </p:sp>
      <p:sp>
        <p:nvSpPr>
          <p:cNvPr id="100" name="文本框 99"/>
          <p:cNvSpPr txBox="1"/>
          <p:nvPr/>
        </p:nvSpPr>
        <p:spPr bwMode="gray">
          <a:xfrm>
            <a:off x="3455948" y="3518932"/>
            <a:ext cx="931666" cy="461665"/>
          </a:xfrm>
          <a:prstGeom prst="rect">
            <a:avLst/>
          </a:prstGeom>
          <a:noFill/>
        </p:spPr>
        <p:txBody>
          <a:bodyPr wrap="none" rtlCol="0">
            <a:spAutoFit/>
          </a:bodyPr>
          <a:lstStyle/>
          <a:p>
            <a:pPr algn="ctr"/>
            <a:r>
              <a:rPr lang="zh-CN" altLang="en-US" sz="1200" dirty="0" smtClean="0">
                <a:solidFill>
                  <a:srgbClr val="ED6D00"/>
                </a:solidFill>
                <a:latin typeface="Huawei Sans" panose="020C0503030203020204" pitchFamily="34" charset="0"/>
                <a:ea typeface="方正兰亭细黑简体" panose="02000000000000000000" pitchFamily="2" charset="-122"/>
                <a:sym typeface="Huawei Sans" panose="020C0503030203020204" pitchFamily="34" charset="0"/>
              </a:rPr>
              <a:t>互联</a:t>
            </a:r>
            <a:r>
              <a:rPr lang="en-US" altLang="zh-CN" sz="1200" dirty="0" smtClean="0">
                <a:solidFill>
                  <a:srgbClr val="ED6D00"/>
                </a:solidFill>
                <a:latin typeface="Huawei Sans" panose="020C0503030203020204" pitchFamily="34" charset="0"/>
                <a:ea typeface="方正兰亭细黑简体" panose="02000000000000000000" pitchFamily="2" charset="-122"/>
                <a:sym typeface="Huawei Sans" panose="020C0503030203020204" pitchFamily="34" charset="0"/>
              </a:rPr>
              <a:t>VLAN</a:t>
            </a:r>
          </a:p>
          <a:p>
            <a:pPr algn="ctr"/>
            <a:r>
              <a:rPr lang="zh-CN" altLang="en-US" sz="1200" dirty="0" smtClean="0">
                <a:solidFill>
                  <a:srgbClr val="ED6D00"/>
                </a:solidFill>
                <a:latin typeface="Huawei Sans" panose="020C0503030203020204" pitchFamily="34" charset="0"/>
                <a:ea typeface="方正兰亭细黑简体" panose="02000000000000000000" pitchFamily="2" charset="-122"/>
                <a:sym typeface="Huawei Sans" panose="020C0503030203020204" pitchFamily="34" charset="0"/>
              </a:rPr>
              <a:t>互联</a:t>
            </a:r>
            <a:r>
              <a:rPr lang="en-US" altLang="zh-CN" sz="1200" dirty="0" smtClean="0">
                <a:solidFill>
                  <a:srgbClr val="ED6D00"/>
                </a:solidFill>
                <a:latin typeface="Huawei Sans" panose="020C0503030203020204" pitchFamily="34" charset="0"/>
                <a:ea typeface="方正兰亭细黑简体" panose="02000000000000000000" pitchFamily="2" charset="-122"/>
                <a:sym typeface="Huawei Sans" panose="020C0503030203020204" pitchFamily="34" charset="0"/>
              </a:rPr>
              <a:t>IP</a:t>
            </a:r>
            <a:r>
              <a:rPr lang="zh-CN" altLang="en-US" sz="1200" dirty="0" smtClean="0">
                <a:solidFill>
                  <a:srgbClr val="ED6D00"/>
                </a:solidFill>
                <a:latin typeface="Huawei Sans" panose="020C0503030203020204" pitchFamily="34" charset="0"/>
                <a:ea typeface="方正兰亭细黑简体" panose="02000000000000000000" pitchFamily="2" charset="-122"/>
                <a:sym typeface="Huawei Sans" panose="020C0503030203020204" pitchFamily="34" charset="0"/>
              </a:rPr>
              <a:t>地址</a:t>
            </a:r>
            <a:endParaRPr lang="en-US" altLang="zh-CN" sz="1200" dirty="0" smtClean="0">
              <a:solidFill>
                <a:srgbClr val="ED6D00"/>
              </a:solidFill>
              <a:latin typeface="Huawei Sans" panose="020C0503030203020204" pitchFamily="34" charset="0"/>
              <a:ea typeface="方正兰亭细黑简体" panose="02000000000000000000" pitchFamily="2" charset="-122"/>
              <a:sym typeface="Huawei Sans" panose="020C0503030203020204" pitchFamily="34" charset="0"/>
            </a:endParaRPr>
          </a:p>
        </p:txBody>
      </p:sp>
      <p:sp>
        <p:nvSpPr>
          <p:cNvPr id="101" name="文本框 100"/>
          <p:cNvSpPr txBox="1"/>
          <p:nvPr/>
        </p:nvSpPr>
        <p:spPr bwMode="gray">
          <a:xfrm>
            <a:off x="991484" y="4424933"/>
            <a:ext cx="886781" cy="276999"/>
          </a:xfrm>
          <a:prstGeom prst="rect">
            <a:avLst/>
          </a:prstGeom>
          <a:noFill/>
        </p:spPr>
        <p:txBody>
          <a:bodyPr wrap="none" rtlCol="0">
            <a:spAutoFit/>
          </a:bodyPr>
          <a:lstStyle/>
          <a:p>
            <a:pPr algn="ctr"/>
            <a:r>
              <a:rPr lang="zh-CN" altLang="en-US" sz="1200" dirty="0" smtClean="0">
                <a:solidFill>
                  <a:srgbClr val="ED6D00"/>
                </a:solidFill>
                <a:latin typeface="Huawei Sans" panose="020C0503030203020204" pitchFamily="34" charset="0"/>
                <a:ea typeface="方正兰亭细黑简体" panose="02000000000000000000" pitchFamily="2" charset="-122"/>
                <a:sym typeface="Huawei Sans" panose="020C0503030203020204" pitchFamily="34" charset="0"/>
              </a:rPr>
              <a:t>互联</a:t>
            </a:r>
            <a:r>
              <a:rPr lang="en-US" altLang="zh-CN" sz="1200" dirty="0" smtClean="0">
                <a:solidFill>
                  <a:srgbClr val="ED6D00"/>
                </a:solidFill>
                <a:latin typeface="Huawei Sans" panose="020C0503030203020204" pitchFamily="34" charset="0"/>
                <a:ea typeface="方正兰亭细黑简体" panose="02000000000000000000" pitchFamily="2" charset="-122"/>
                <a:sym typeface="Huawei Sans" panose="020C0503030203020204" pitchFamily="34" charset="0"/>
              </a:rPr>
              <a:t>VLAN</a:t>
            </a:r>
          </a:p>
        </p:txBody>
      </p:sp>
      <p:sp>
        <p:nvSpPr>
          <p:cNvPr id="102" name="文本框 101"/>
          <p:cNvSpPr txBox="1"/>
          <p:nvPr/>
        </p:nvSpPr>
        <p:spPr bwMode="gray">
          <a:xfrm>
            <a:off x="3806573" y="4424933"/>
            <a:ext cx="886781" cy="276999"/>
          </a:xfrm>
          <a:prstGeom prst="rect">
            <a:avLst/>
          </a:prstGeom>
          <a:noFill/>
        </p:spPr>
        <p:txBody>
          <a:bodyPr wrap="none" rtlCol="0">
            <a:spAutoFit/>
          </a:bodyPr>
          <a:lstStyle/>
          <a:p>
            <a:pPr algn="ctr"/>
            <a:r>
              <a:rPr lang="zh-CN" altLang="en-US" sz="1200" dirty="0" smtClean="0">
                <a:solidFill>
                  <a:srgbClr val="ED6D00"/>
                </a:solidFill>
                <a:latin typeface="Huawei Sans" panose="020C0503030203020204" pitchFamily="34" charset="0"/>
                <a:ea typeface="方正兰亭细黑简体" panose="02000000000000000000" pitchFamily="2" charset="-122"/>
                <a:sym typeface="Huawei Sans" panose="020C0503030203020204" pitchFamily="34" charset="0"/>
              </a:rPr>
              <a:t>互联</a:t>
            </a:r>
            <a:r>
              <a:rPr lang="en-US" altLang="zh-CN" sz="1200" dirty="0" smtClean="0">
                <a:solidFill>
                  <a:srgbClr val="ED6D00"/>
                </a:solidFill>
                <a:latin typeface="Huawei Sans" panose="020C0503030203020204" pitchFamily="34" charset="0"/>
                <a:ea typeface="方正兰亭细黑简体" panose="02000000000000000000" pitchFamily="2" charset="-122"/>
                <a:sym typeface="Huawei Sans" panose="020C0503030203020204" pitchFamily="34" charset="0"/>
              </a:rPr>
              <a:t>VLAN</a:t>
            </a:r>
          </a:p>
        </p:txBody>
      </p:sp>
      <p:graphicFrame>
        <p:nvGraphicFramePr>
          <p:cNvPr id="103" name="表格 102"/>
          <p:cNvGraphicFramePr>
            <a:graphicFrameLocks noGrp="1"/>
          </p:cNvGraphicFramePr>
          <p:nvPr>
            <p:extLst>
              <p:ext uri="{D42A27DB-BD31-4B8C-83A1-F6EECF244321}">
                <p14:modId xmlns:p14="http://schemas.microsoft.com/office/powerpoint/2010/main" val="1629827446"/>
              </p:ext>
            </p:extLst>
          </p:nvPr>
        </p:nvGraphicFramePr>
        <p:xfrm>
          <a:off x="5260585" y="2768050"/>
          <a:ext cx="6321815" cy="2323760"/>
        </p:xfrm>
        <a:graphic>
          <a:graphicData uri="http://schemas.openxmlformats.org/drawingml/2006/table">
            <a:tbl>
              <a:tblPr/>
              <a:tblGrid>
                <a:gridCol w="1274141"/>
                <a:gridCol w="5047674"/>
              </a:tblGrid>
              <a:tr h="336777">
                <a:tc>
                  <a:txBody>
                    <a:bodyPr/>
                    <a:lstStyle/>
                    <a:p>
                      <a:pPr algn="ctr"/>
                      <a:r>
                        <a:rPr lang="zh-CN" altLang="en-US" sz="1400" b="1" dirty="0">
                          <a:effectLst/>
                        </a:rPr>
                        <a:t>任务描述</a:t>
                      </a:r>
                    </a:p>
                  </a:txBody>
                  <a:tcPr anchor="ctr">
                    <a:lnL w="28575" cap="flat" cmpd="sng" algn="ctr">
                      <a:solidFill>
                        <a:schemeClr val="tx1"/>
                      </a:solidFill>
                      <a:prstDash val="solid"/>
                      <a:round/>
                      <a:headEnd type="none" w="med" len="med"/>
                      <a:tailEnd type="none" w="med" len="med"/>
                    </a:lnL>
                    <a:lnT w="28575" cap="flat" cmpd="sng" algn="ctr">
                      <a:solidFill>
                        <a:schemeClr val="tx1"/>
                      </a:solidFill>
                      <a:prstDash val="solid"/>
                      <a:round/>
                      <a:headEnd type="none" w="med" len="med"/>
                      <a:tailEnd type="none" w="med" len="med"/>
                    </a:lnT>
                    <a:solidFill>
                      <a:schemeClr val="bg1">
                        <a:lumMod val="85000"/>
                      </a:schemeClr>
                    </a:solidFill>
                  </a:tcPr>
                </a:tc>
                <a:tc>
                  <a:txBody>
                    <a:bodyPr/>
                    <a:lstStyle/>
                    <a:p>
                      <a:pPr algn="ctr"/>
                      <a:r>
                        <a:rPr lang="zh-CN" altLang="en-US" sz="1400" b="1" dirty="0" smtClean="0">
                          <a:effectLst/>
                        </a:rPr>
                        <a:t>资源池规划</a:t>
                      </a:r>
                      <a:endParaRPr lang="zh-CN" altLang="en-US" sz="1400" b="1" dirty="0">
                        <a:effectLst/>
                      </a:endParaRPr>
                    </a:p>
                  </a:txBody>
                  <a:tcPr anchor="ctr">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solidFill>
                      <a:schemeClr val="bg1">
                        <a:lumMod val="85000"/>
                      </a:schemeClr>
                    </a:solidFill>
                  </a:tcPr>
                </a:tc>
              </a:tr>
              <a:tr h="1986983">
                <a:tc>
                  <a:txBody>
                    <a:bodyPr/>
                    <a:lstStyle/>
                    <a:p>
                      <a:pPr>
                        <a:lnSpc>
                          <a:spcPts val="2400"/>
                        </a:lnSpc>
                        <a:spcAft>
                          <a:spcPts val="600"/>
                        </a:spcAft>
                      </a:pPr>
                      <a:r>
                        <a:rPr lang="zh-CN" altLang="en-US" sz="1400" dirty="0" smtClean="0">
                          <a:effectLst/>
                        </a:rPr>
                        <a:t>配置</a:t>
                      </a:r>
                      <a:r>
                        <a:rPr lang="en-US" altLang="zh-CN" sz="1400" dirty="0" smtClean="0">
                          <a:effectLst/>
                        </a:rPr>
                        <a:t>Underlay</a:t>
                      </a:r>
                      <a:r>
                        <a:rPr lang="zh-CN" altLang="en-US" sz="1400" dirty="0" smtClean="0">
                          <a:effectLst/>
                        </a:rPr>
                        <a:t>自动化资源池</a:t>
                      </a:r>
                      <a:endParaRPr lang="zh-CN" altLang="en-US" sz="1400" dirty="0">
                        <a:effectLst/>
                      </a:endParaRPr>
                    </a:p>
                  </a:txBody>
                  <a:tcPr anchor="ctr">
                    <a:lnL w="28575" cap="flat" cmpd="sng" algn="ctr">
                      <a:solidFill>
                        <a:schemeClr val="tx1"/>
                      </a:solidFill>
                      <a:prstDash val="solid"/>
                      <a:round/>
                      <a:headEnd type="none" w="med" len="med"/>
                      <a:tailEnd type="none" w="med" len="med"/>
                    </a:lnL>
                    <a:lnB w="28575" cap="flat" cmpd="sng" algn="ctr">
                      <a:solidFill>
                        <a:schemeClr val="tx1"/>
                      </a:solidFill>
                      <a:prstDash val="solid"/>
                      <a:round/>
                      <a:headEnd type="none" w="med" len="med"/>
                      <a:tailEnd type="none" w="med" len="med"/>
                    </a:lnB>
                  </a:tcPr>
                </a:tc>
                <a:tc>
                  <a:txBody>
                    <a:bodyPr/>
                    <a:lstStyle/>
                    <a:p>
                      <a:pPr marL="228600" indent="-228600" algn="l" defTabSz="914034" rtl="0" eaLnBrk="1" latinLnBrk="0" hangingPunct="1">
                        <a:lnSpc>
                          <a:spcPct val="100000"/>
                        </a:lnSpc>
                        <a:spcAft>
                          <a:spcPts val="0"/>
                        </a:spcAft>
                        <a:buFont typeface="+mj-lt"/>
                        <a:buAutoNum type="arabicPeriod"/>
                      </a:pPr>
                      <a:r>
                        <a:rPr lang="zh-CN" altLang="en-US" sz="1400" kern="1200" dirty="0" smtClean="0">
                          <a:solidFill>
                            <a:schemeClr val="tx1"/>
                          </a:solidFill>
                          <a:effectLst/>
                          <a:latin typeface="+mn-lt"/>
                          <a:ea typeface="+mn-ea"/>
                          <a:cs typeface="+mn-cs"/>
                        </a:rPr>
                        <a:t>配置互联</a:t>
                      </a:r>
                      <a:r>
                        <a:rPr lang="en-US" altLang="zh-CN" sz="1400" kern="1200" dirty="0" smtClean="0">
                          <a:solidFill>
                            <a:schemeClr val="tx1"/>
                          </a:solidFill>
                          <a:effectLst/>
                          <a:latin typeface="+mn-lt"/>
                          <a:ea typeface="+mn-ea"/>
                          <a:cs typeface="+mn-cs"/>
                        </a:rPr>
                        <a:t>VLAN</a:t>
                      </a:r>
                      <a:r>
                        <a:rPr lang="zh-CN" altLang="en-US" sz="1400" kern="1200" dirty="0" smtClean="0">
                          <a:solidFill>
                            <a:schemeClr val="tx1"/>
                          </a:solidFill>
                          <a:effectLst/>
                          <a:latin typeface="+mn-lt"/>
                          <a:ea typeface="+mn-ea"/>
                          <a:cs typeface="+mn-cs"/>
                        </a:rPr>
                        <a:t>资源（不能与</a:t>
                      </a:r>
                      <a:r>
                        <a:rPr lang="en-US" altLang="zh-CN" sz="1400" kern="1200" dirty="0" smtClean="0">
                          <a:solidFill>
                            <a:schemeClr val="tx1"/>
                          </a:solidFill>
                          <a:effectLst/>
                          <a:latin typeface="+mn-lt"/>
                          <a:ea typeface="+mn-ea"/>
                          <a:cs typeface="+mn-cs"/>
                        </a:rPr>
                        <a:t>Fabric</a:t>
                      </a:r>
                      <a:r>
                        <a:rPr lang="zh-CN" altLang="en-US" sz="1400" kern="1200" dirty="0" smtClean="0">
                          <a:solidFill>
                            <a:schemeClr val="tx1"/>
                          </a:solidFill>
                          <a:effectLst/>
                          <a:latin typeface="+mn-lt"/>
                          <a:ea typeface="+mn-ea"/>
                          <a:cs typeface="+mn-cs"/>
                        </a:rPr>
                        <a:t>全局资源池、用户接入业务</a:t>
                      </a:r>
                      <a:r>
                        <a:rPr lang="en-US" altLang="zh-CN" sz="1400" kern="1200" dirty="0" smtClean="0">
                          <a:solidFill>
                            <a:schemeClr val="tx1"/>
                          </a:solidFill>
                          <a:effectLst/>
                          <a:latin typeface="+mn-lt"/>
                          <a:ea typeface="+mn-ea"/>
                          <a:cs typeface="+mn-cs"/>
                        </a:rPr>
                        <a:t>VLAN</a:t>
                      </a:r>
                      <a:r>
                        <a:rPr lang="zh-CN" altLang="en-US" sz="1400" kern="1200" dirty="0" smtClean="0">
                          <a:solidFill>
                            <a:schemeClr val="tx1"/>
                          </a:solidFill>
                          <a:effectLst/>
                          <a:latin typeface="+mn-lt"/>
                          <a:ea typeface="+mn-ea"/>
                          <a:cs typeface="+mn-cs"/>
                        </a:rPr>
                        <a:t>冲突）。</a:t>
                      </a:r>
                    </a:p>
                    <a:p>
                      <a:pPr marL="228600" indent="-228600" algn="l" defTabSz="914034" rtl="0" eaLnBrk="1" latinLnBrk="0" hangingPunct="1">
                        <a:lnSpc>
                          <a:spcPct val="100000"/>
                        </a:lnSpc>
                        <a:spcAft>
                          <a:spcPts val="0"/>
                        </a:spcAft>
                        <a:buFont typeface="+mj-lt"/>
                        <a:buAutoNum type="arabicPeriod"/>
                      </a:pPr>
                      <a:r>
                        <a:rPr lang="zh-CN" altLang="en-US" sz="1400" kern="1200" dirty="0" smtClean="0">
                          <a:solidFill>
                            <a:schemeClr val="tx1"/>
                          </a:solidFill>
                          <a:effectLst/>
                          <a:latin typeface="+mn-lt"/>
                          <a:ea typeface="+mn-ea"/>
                          <a:cs typeface="+mn-cs"/>
                        </a:rPr>
                        <a:t>配置互联</a:t>
                      </a:r>
                      <a:r>
                        <a:rPr lang="en-US" altLang="zh-CN" sz="1400" kern="1200" dirty="0" smtClean="0">
                          <a:solidFill>
                            <a:schemeClr val="tx1"/>
                          </a:solidFill>
                          <a:effectLst/>
                          <a:latin typeface="+mn-lt"/>
                          <a:ea typeface="+mn-ea"/>
                          <a:cs typeface="+mn-cs"/>
                        </a:rPr>
                        <a:t>IP</a:t>
                      </a:r>
                      <a:r>
                        <a:rPr lang="zh-CN" altLang="en-US" sz="1400" kern="1200" dirty="0" smtClean="0">
                          <a:solidFill>
                            <a:schemeClr val="tx1"/>
                          </a:solidFill>
                          <a:effectLst/>
                          <a:latin typeface="+mn-lt"/>
                          <a:ea typeface="+mn-ea"/>
                          <a:cs typeface="+mn-cs"/>
                        </a:rPr>
                        <a:t>资源（不能与</a:t>
                      </a:r>
                      <a:r>
                        <a:rPr lang="en-US" altLang="zh-CN" sz="1400" kern="1200" dirty="0" smtClean="0">
                          <a:solidFill>
                            <a:schemeClr val="tx1"/>
                          </a:solidFill>
                          <a:effectLst/>
                          <a:latin typeface="+mn-lt"/>
                          <a:ea typeface="+mn-ea"/>
                          <a:cs typeface="+mn-cs"/>
                        </a:rPr>
                        <a:t>Fabric</a:t>
                      </a:r>
                      <a:r>
                        <a:rPr lang="zh-CN" altLang="en-US" sz="1400" kern="1200" dirty="0" smtClean="0">
                          <a:solidFill>
                            <a:schemeClr val="tx1"/>
                          </a:solidFill>
                          <a:effectLst/>
                          <a:latin typeface="+mn-lt"/>
                          <a:ea typeface="+mn-ea"/>
                          <a:cs typeface="+mn-cs"/>
                        </a:rPr>
                        <a:t>全局资源池、用户接入业务</a:t>
                      </a:r>
                      <a:r>
                        <a:rPr lang="en-US" altLang="zh-CN" sz="1400" kern="1200" dirty="0" smtClean="0">
                          <a:solidFill>
                            <a:schemeClr val="tx1"/>
                          </a:solidFill>
                          <a:effectLst/>
                          <a:latin typeface="+mn-lt"/>
                          <a:ea typeface="+mn-ea"/>
                          <a:cs typeface="+mn-cs"/>
                        </a:rPr>
                        <a:t>IP</a:t>
                      </a:r>
                      <a:r>
                        <a:rPr lang="zh-CN" altLang="en-US" sz="1400" kern="1200" dirty="0" smtClean="0">
                          <a:solidFill>
                            <a:schemeClr val="tx1"/>
                          </a:solidFill>
                          <a:effectLst/>
                          <a:latin typeface="+mn-lt"/>
                          <a:ea typeface="+mn-ea"/>
                          <a:cs typeface="+mn-cs"/>
                        </a:rPr>
                        <a:t>冲突）。</a:t>
                      </a:r>
                      <a:endParaRPr lang="en-US" altLang="zh-CN" sz="1400" kern="1200" dirty="0" smtClean="0">
                        <a:solidFill>
                          <a:schemeClr val="tx1"/>
                        </a:solidFill>
                        <a:effectLst/>
                        <a:latin typeface="+mn-lt"/>
                        <a:ea typeface="+mn-ea"/>
                        <a:cs typeface="+mn-cs"/>
                      </a:endParaRPr>
                    </a:p>
                    <a:p>
                      <a:pPr marL="228600" indent="-228600" algn="l" defTabSz="914034" rtl="0" eaLnBrk="1" latinLnBrk="0" hangingPunct="1">
                        <a:lnSpc>
                          <a:spcPct val="100000"/>
                        </a:lnSpc>
                        <a:spcAft>
                          <a:spcPts val="0"/>
                        </a:spcAft>
                        <a:buFont typeface="+mj-lt"/>
                        <a:buAutoNum type="arabicPeriod"/>
                      </a:pPr>
                      <a:r>
                        <a:rPr lang="zh-CN" altLang="en-US" sz="1400" kern="1200" dirty="0" smtClean="0">
                          <a:solidFill>
                            <a:schemeClr val="tx1"/>
                          </a:solidFill>
                          <a:effectLst/>
                          <a:latin typeface="+mn-lt"/>
                          <a:ea typeface="+mn-ea"/>
                          <a:cs typeface="+mn-cs"/>
                        </a:rPr>
                        <a:t>配置环回口</a:t>
                      </a:r>
                      <a:r>
                        <a:rPr lang="en-US" altLang="zh-CN" sz="1400" kern="1200" dirty="0" smtClean="0">
                          <a:solidFill>
                            <a:schemeClr val="tx1"/>
                          </a:solidFill>
                          <a:effectLst/>
                          <a:latin typeface="+mn-lt"/>
                          <a:ea typeface="+mn-ea"/>
                          <a:cs typeface="+mn-cs"/>
                        </a:rPr>
                        <a:t>IP</a:t>
                      </a:r>
                      <a:r>
                        <a:rPr lang="zh-CN" altLang="en-US" sz="1400" kern="1200" dirty="0" smtClean="0">
                          <a:solidFill>
                            <a:schemeClr val="tx1"/>
                          </a:solidFill>
                          <a:effectLst/>
                          <a:latin typeface="+mn-lt"/>
                          <a:ea typeface="+mn-ea"/>
                          <a:cs typeface="+mn-cs"/>
                        </a:rPr>
                        <a:t>资源，</a:t>
                      </a:r>
                      <a:r>
                        <a:rPr lang="en-US" altLang="zh-CN" sz="1400" kern="1200" dirty="0" smtClean="0">
                          <a:solidFill>
                            <a:schemeClr val="tx1"/>
                          </a:solidFill>
                          <a:effectLst/>
                          <a:latin typeface="+mn-lt"/>
                          <a:ea typeface="+mn-ea"/>
                          <a:cs typeface="+mn-cs"/>
                        </a:rPr>
                        <a:t>VXLAN</a:t>
                      </a:r>
                      <a:r>
                        <a:rPr lang="zh-CN" altLang="en-US" sz="1400" kern="1200" dirty="0" smtClean="0">
                          <a:solidFill>
                            <a:schemeClr val="tx1"/>
                          </a:solidFill>
                          <a:effectLst/>
                          <a:latin typeface="+mn-lt"/>
                          <a:ea typeface="+mn-ea"/>
                          <a:cs typeface="+mn-cs"/>
                        </a:rPr>
                        <a:t>控制面采用</a:t>
                      </a:r>
                      <a:r>
                        <a:rPr lang="en-US" altLang="zh-CN" sz="1400" kern="1200" dirty="0" smtClean="0">
                          <a:solidFill>
                            <a:schemeClr val="tx1"/>
                          </a:solidFill>
                          <a:effectLst/>
                          <a:latin typeface="+mn-lt"/>
                          <a:ea typeface="+mn-ea"/>
                          <a:cs typeface="+mn-cs"/>
                        </a:rPr>
                        <a:t>BGP EVPN</a:t>
                      </a:r>
                      <a:r>
                        <a:rPr lang="zh-CN" altLang="en-US" sz="1400" kern="1200" dirty="0" smtClean="0">
                          <a:solidFill>
                            <a:schemeClr val="tx1"/>
                          </a:solidFill>
                          <a:effectLst/>
                          <a:latin typeface="+mn-lt"/>
                          <a:ea typeface="+mn-ea"/>
                          <a:cs typeface="+mn-cs"/>
                        </a:rPr>
                        <a:t>，不同</a:t>
                      </a:r>
                      <a:r>
                        <a:rPr lang="en-US" altLang="zh-CN" sz="1400" kern="1200" dirty="0" smtClean="0">
                          <a:solidFill>
                            <a:schemeClr val="tx1"/>
                          </a:solidFill>
                          <a:effectLst/>
                          <a:latin typeface="+mn-lt"/>
                          <a:ea typeface="+mn-ea"/>
                          <a:cs typeface="+mn-cs"/>
                        </a:rPr>
                        <a:t>Border/Edge</a:t>
                      </a:r>
                      <a:r>
                        <a:rPr lang="zh-CN" altLang="en-US" sz="1400" kern="1200" dirty="0" smtClean="0">
                          <a:solidFill>
                            <a:schemeClr val="tx1"/>
                          </a:solidFill>
                          <a:effectLst/>
                          <a:latin typeface="+mn-lt"/>
                          <a:ea typeface="+mn-ea"/>
                          <a:cs typeface="+mn-cs"/>
                        </a:rPr>
                        <a:t>间建立</a:t>
                      </a:r>
                      <a:r>
                        <a:rPr lang="en-US" altLang="zh-CN" sz="1400" kern="1200" dirty="0" smtClean="0">
                          <a:solidFill>
                            <a:schemeClr val="tx1"/>
                          </a:solidFill>
                          <a:effectLst/>
                          <a:latin typeface="+mn-lt"/>
                          <a:ea typeface="+mn-ea"/>
                          <a:cs typeface="+mn-cs"/>
                        </a:rPr>
                        <a:t>BGP EVPN</a:t>
                      </a:r>
                      <a:r>
                        <a:rPr lang="zh-CN" altLang="en-US" sz="1400" kern="1200" dirty="0" smtClean="0">
                          <a:solidFill>
                            <a:schemeClr val="tx1"/>
                          </a:solidFill>
                          <a:effectLst/>
                          <a:latin typeface="+mn-lt"/>
                          <a:ea typeface="+mn-ea"/>
                          <a:cs typeface="+mn-cs"/>
                        </a:rPr>
                        <a:t>对等体时使用该环回口地址。</a:t>
                      </a:r>
                      <a:endParaRPr lang="en-US" altLang="zh-CN" sz="1400" kern="1200" dirty="0" smtClean="0">
                        <a:solidFill>
                          <a:schemeClr val="tx1"/>
                        </a:solidFill>
                        <a:effectLst/>
                        <a:latin typeface="+mn-lt"/>
                        <a:ea typeface="+mn-ea"/>
                        <a:cs typeface="+mn-cs"/>
                      </a:endParaRPr>
                    </a:p>
                    <a:p>
                      <a:pPr marL="228600" indent="-228600" algn="l" defTabSz="914034" rtl="0" eaLnBrk="1" latinLnBrk="0" hangingPunct="1">
                        <a:lnSpc>
                          <a:spcPct val="100000"/>
                        </a:lnSpc>
                        <a:spcAft>
                          <a:spcPts val="0"/>
                        </a:spcAft>
                        <a:buFont typeface="+mj-lt"/>
                        <a:buAutoNum type="arabicPeriod"/>
                      </a:pPr>
                      <a:endParaRPr lang="zh-CN" altLang="en-US" sz="1400" kern="1200" dirty="0" smtClean="0">
                        <a:solidFill>
                          <a:schemeClr val="tx1"/>
                        </a:solidFill>
                        <a:effectLst/>
                        <a:latin typeface="+mn-lt"/>
                        <a:ea typeface="+mn-ea"/>
                        <a:cs typeface="+mn-cs"/>
                      </a:endParaRPr>
                    </a:p>
                    <a:p>
                      <a:pPr marL="0" indent="0" algn="just">
                        <a:lnSpc>
                          <a:spcPct val="100000"/>
                        </a:lnSpc>
                        <a:spcAft>
                          <a:spcPts val="0"/>
                        </a:spcAft>
                        <a:buFont typeface="+mj-lt"/>
                        <a:buNone/>
                      </a:pPr>
                      <a:r>
                        <a:rPr lang="zh-CN" altLang="en-US" sz="1400" dirty="0" smtClean="0">
                          <a:effectLst/>
                        </a:rPr>
                        <a:t>以上资源均用于</a:t>
                      </a:r>
                      <a:r>
                        <a:rPr lang="en-US" altLang="zh-CN" sz="1400" dirty="0" smtClean="0">
                          <a:effectLst/>
                        </a:rPr>
                        <a:t>Underlay</a:t>
                      </a:r>
                      <a:r>
                        <a:rPr lang="zh-CN" altLang="en-US" sz="1400" smtClean="0">
                          <a:effectLst/>
                        </a:rPr>
                        <a:t>网络自动配置路由域。</a:t>
                      </a:r>
                      <a:endParaRPr lang="zh-CN" altLang="en-US" sz="1400" dirty="0">
                        <a:effectLst/>
                      </a:endParaRPr>
                    </a:p>
                  </a:txBody>
                  <a:tcPr anchor="ctr">
                    <a:lnR w="28575" cap="flat" cmpd="sng" algn="ctr">
                      <a:solidFill>
                        <a:schemeClr val="tx1"/>
                      </a:solidFill>
                      <a:prstDash val="solid"/>
                      <a:round/>
                      <a:headEnd type="none" w="med" len="med"/>
                      <a:tailEnd type="none" w="med" len="med"/>
                    </a:lnR>
                    <a:lnB w="28575" cap="flat" cmpd="sng" algn="ctr">
                      <a:solidFill>
                        <a:schemeClr val="tx1"/>
                      </a:solidFill>
                      <a:prstDash val="solid"/>
                      <a:round/>
                      <a:headEnd type="none" w="med" len="med"/>
                      <a:tailEnd type="none" w="med" len="med"/>
                    </a:lnB>
                  </a:tcPr>
                </a:tc>
              </a:tr>
            </a:tbl>
          </a:graphicData>
        </a:graphic>
      </p:graphicFrame>
      <p:sp>
        <p:nvSpPr>
          <p:cNvPr id="46" name="五边形 45"/>
          <p:cNvSpPr/>
          <p:nvPr/>
        </p:nvSpPr>
        <p:spPr bwMode="gray">
          <a:xfrm>
            <a:off x="5773628" y="98481"/>
            <a:ext cx="9000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站点管理</a:t>
            </a:r>
          </a:p>
        </p:txBody>
      </p:sp>
      <p:sp>
        <p:nvSpPr>
          <p:cNvPr id="47" name="燕尾形 46"/>
          <p:cNvSpPr/>
          <p:nvPr/>
        </p:nvSpPr>
        <p:spPr bwMode="gray">
          <a:xfrm>
            <a:off x="9109268" y="9848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逻辑网络</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8" name="燕尾形 47"/>
          <p:cNvSpPr/>
          <p:nvPr/>
        </p:nvSpPr>
        <p:spPr bwMode="gray">
          <a:xfrm>
            <a:off x="9925178" y="9848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业务部署</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9" name="燕尾形 48"/>
          <p:cNvSpPr/>
          <p:nvPr/>
        </p:nvSpPr>
        <p:spPr bwMode="gray">
          <a:xfrm>
            <a:off x="8221358" y="98481"/>
            <a:ext cx="972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smtClean="0">
                <a:latin typeface="Huawei Sans" panose="020C0503030203020204" pitchFamily="34" charset="0"/>
                <a:ea typeface="方正兰亭黑简体" panose="02000000000000000000" pitchFamily="2" charset="-122"/>
                <a:sym typeface="Huawei Sans" panose="020C0503030203020204" pitchFamily="34" charset="0"/>
              </a:rPr>
              <a:t>Fabric</a:t>
            </a:r>
            <a:r>
              <a:rPr lang="zh-CN" altLang="en-US" sz="1200" kern="0" dirty="0" smtClean="0">
                <a:latin typeface="Huawei Sans" panose="020C0503030203020204" pitchFamily="34" charset="0"/>
                <a:ea typeface="方正兰亭黑简体" panose="02000000000000000000" pitchFamily="2" charset="-122"/>
                <a:sym typeface="Huawei Sans" panose="020C0503030203020204" pitchFamily="34" charset="0"/>
              </a:rPr>
              <a:t>网络</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0" name="燕尾形 49"/>
          <p:cNvSpPr/>
          <p:nvPr/>
        </p:nvSpPr>
        <p:spPr bwMode="gray">
          <a:xfrm>
            <a:off x="7405448" y="98481"/>
            <a:ext cx="9000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网络规划</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4" name="燕尾形 53"/>
          <p:cNvSpPr/>
          <p:nvPr/>
        </p:nvSpPr>
        <p:spPr bwMode="gray">
          <a:xfrm>
            <a:off x="6589538" y="9848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设备管理</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7" name="燕尾形 56"/>
          <p:cNvSpPr/>
          <p:nvPr/>
        </p:nvSpPr>
        <p:spPr bwMode="gray">
          <a:xfrm>
            <a:off x="10741088" y="98481"/>
            <a:ext cx="1008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WLAN</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业务</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1796746878"/>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a:stretch>
            <a:fillRect/>
          </a:stretch>
        </p:blipFill>
        <p:spPr bwMode="gray">
          <a:xfrm>
            <a:off x="2046462" y="1960969"/>
            <a:ext cx="8111774" cy="4164527"/>
          </a:xfrm>
          <a:prstGeom prst="rect">
            <a:avLst/>
          </a:prstGeom>
          <a:ln w="12700">
            <a:solidFill>
              <a:schemeClr val="bg1">
                <a:lumMod val="85000"/>
              </a:schemeClr>
            </a:solidFill>
          </a:ln>
        </p:spPr>
      </p:pic>
      <p:sp>
        <p:nvSpPr>
          <p:cNvPr id="4" name="标题 3"/>
          <p:cNvSpPr>
            <a:spLocks noGrp="1"/>
          </p:cNvSpPr>
          <p:nvPr>
            <p:ph type="title"/>
          </p:nvPr>
        </p:nvSpPr>
        <p:spPr bwMode="gray"/>
        <p:txBody>
          <a:bodyPr>
            <a:normAutofit/>
          </a:bodyPr>
          <a:lstStyle/>
          <a:p>
            <a:r>
              <a:rPr lang="zh-CN" altLang="en-US" dirty="0"/>
              <a:t>实验</a:t>
            </a:r>
            <a:r>
              <a:rPr lang="zh-CN" altLang="en-US" dirty="0" smtClean="0"/>
              <a:t>：配置</a:t>
            </a:r>
            <a:r>
              <a:rPr lang="en-US" altLang="zh-CN" dirty="0" smtClean="0"/>
              <a:t>Underlay</a:t>
            </a:r>
            <a:r>
              <a:rPr lang="zh-CN" altLang="en-US" dirty="0" smtClean="0"/>
              <a:t>自动化资源池</a:t>
            </a:r>
            <a:endParaRPr lang="zh-CN" altLang="en-US" dirty="0"/>
          </a:p>
        </p:txBody>
      </p:sp>
      <p:sp>
        <p:nvSpPr>
          <p:cNvPr id="5" name="文本占位符 4"/>
          <p:cNvSpPr>
            <a:spLocks noGrp="1"/>
          </p:cNvSpPr>
          <p:nvPr>
            <p:ph type="body" sz="quarter" idx="10"/>
          </p:nvPr>
        </p:nvSpPr>
        <p:spPr bwMode="gray">
          <a:xfrm>
            <a:off x="455612" y="1047750"/>
            <a:ext cx="11293475" cy="883723"/>
          </a:xfrm>
        </p:spPr>
        <p:txBody>
          <a:bodyPr/>
          <a:lstStyle/>
          <a:p>
            <a:r>
              <a:rPr lang="zh-CN" altLang="en-US" sz="2000" dirty="0"/>
              <a:t>单击控制器的“</a:t>
            </a:r>
            <a:r>
              <a:rPr lang="en-US" altLang="zh-CN" sz="2000" dirty="0"/>
              <a:t>Fabric</a:t>
            </a:r>
            <a:r>
              <a:rPr lang="zh-CN" altLang="en-US" sz="2000" dirty="0"/>
              <a:t>网络 </a:t>
            </a:r>
            <a:r>
              <a:rPr lang="en-US" altLang="zh-CN" sz="2000" dirty="0"/>
              <a:t>&gt; </a:t>
            </a:r>
            <a:r>
              <a:rPr lang="zh-CN" altLang="en-US" sz="2000" dirty="0"/>
              <a:t>网络规划”，进入资源池配置页面，单击</a:t>
            </a:r>
            <a:r>
              <a:rPr lang="zh-CN" altLang="en-US" sz="2000" dirty="0" smtClean="0"/>
              <a:t>“</a:t>
            </a:r>
            <a:r>
              <a:rPr lang="en-US" altLang="zh-CN" sz="2000" dirty="0" smtClean="0"/>
              <a:t>Underlay</a:t>
            </a:r>
            <a:r>
              <a:rPr lang="zh-CN" altLang="en-US" sz="2000" dirty="0" smtClean="0"/>
              <a:t>自动化资源池</a:t>
            </a:r>
            <a:r>
              <a:rPr lang="zh-CN" altLang="en-US" sz="2000" dirty="0"/>
              <a:t>”，填写相应配置参数，并点击“</a:t>
            </a:r>
            <a:r>
              <a:rPr lang="en-US" altLang="zh-CN" sz="2000" dirty="0" smtClean="0"/>
              <a:t>+</a:t>
            </a:r>
            <a:r>
              <a:rPr lang="zh-CN" altLang="en-US" sz="2000" dirty="0" smtClean="0"/>
              <a:t>”确定</a:t>
            </a:r>
            <a:r>
              <a:rPr lang="zh-CN" altLang="en-US" sz="2000" dirty="0"/>
              <a:t>。</a:t>
            </a:r>
          </a:p>
          <a:p>
            <a:endParaRPr lang="zh-CN" altLang="en-US" sz="2000" dirty="0"/>
          </a:p>
        </p:txBody>
      </p:sp>
      <p:sp>
        <p:nvSpPr>
          <p:cNvPr id="12" name="TextBox 179"/>
          <p:cNvSpPr txBox="1"/>
          <p:nvPr/>
        </p:nvSpPr>
        <p:spPr bwMode="gray">
          <a:xfrm>
            <a:off x="8490277" y="3176338"/>
            <a:ext cx="3222298" cy="540000"/>
          </a:xfrm>
          <a:prstGeom prst="roundRect">
            <a:avLst>
              <a:gd name="adj" fmla="val 12806"/>
            </a:avLst>
          </a:prstGeom>
          <a:solidFill>
            <a:srgbClr val="30B5C5"/>
          </a:solidFill>
          <a:ln>
            <a:noFill/>
          </a:ln>
        </p:spPr>
        <p:txBody>
          <a:bodyPr wrap="square" lIns="72000" tIns="72000" rIns="72000" bIns="72000" anchor="ctr" anchorCtr="0">
            <a:noAutofit/>
          </a:bodyPr>
          <a:lstStyle>
            <a:defPPr>
              <a:defRPr lang="en-US"/>
            </a:defPPr>
            <a:lvl1pPr algn="ctr" defTabSz="914478">
              <a:defRPr sz="1200">
                <a:solidFill>
                  <a:schemeClr val="bg1"/>
                </a:solidFill>
              </a:defRPr>
            </a:lvl1pPr>
            <a:lvl2pPr marL="457240" defTabSz="914478"/>
            <a:lvl3pPr marL="914478" defTabSz="914478"/>
            <a:lvl4pPr marL="1371718" defTabSz="914478"/>
            <a:lvl5pPr marL="1828957" defTabSz="914478"/>
            <a:lvl6pPr marL="2286196" defTabSz="914478"/>
            <a:lvl7pPr marL="2743435" defTabSz="914478"/>
            <a:lvl8pPr marL="3200675" defTabSz="914478"/>
            <a:lvl9pPr marL="3657913" defTabSz="914478"/>
          </a:lstStyle>
          <a:p>
            <a:r>
              <a:rPr lang="zh-CN" altLang="en-US" sz="1400" dirty="0" smtClean="0"/>
              <a:t>通过</a:t>
            </a:r>
            <a:r>
              <a:rPr lang="en-US" altLang="zh-CN" sz="1400" dirty="0" smtClean="0"/>
              <a:t>iMaster NCE-Campus</a:t>
            </a:r>
            <a:r>
              <a:rPr lang="zh-CN" altLang="en-US" sz="1400" dirty="0" smtClean="0"/>
              <a:t>提供的逻辑视图，可以直观地理解各参数的含义。</a:t>
            </a:r>
            <a:endParaRPr lang="zh-CN" altLang="en-US" sz="1400" dirty="0"/>
          </a:p>
        </p:txBody>
      </p:sp>
      <p:sp>
        <p:nvSpPr>
          <p:cNvPr id="19" name="五边形 18"/>
          <p:cNvSpPr/>
          <p:nvPr/>
        </p:nvSpPr>
        <p:spPr bwMode="gray">
          <a:xfrm>
            <a:off x="5773628" y="98481"/>
            <a:ext cx="9000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站点管理</a:t>
            </a:r>
          </a:p>
        </p:txBody>
      </p:sp>
      <p:sp>
        <p:nvSpPr>
          <p:cNvPr id="20" name="燕尾形 19"/>
          <p:cNvSpPr/>
          <p:nvPr/>
        </p:nvSpPr>
        <p:spPr bwMode="gray">
          <a:xfrm>
            <a:off x="9109268" y="9848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逻辑网络</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1" name="燕尾形 20"/>
          <p:cNvSpPr/>
          <p:nvPr/>
        </p:nvSpPr>
        <p:spPr bwMode="gray">
          <a:xfrm>
            <a:off x="9925178" y="9848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业务部署</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2" name="燕尾形 21"/>
          <p:cNvSpPr/>
          <p:nvPr/>
        </p:nvSpPr>
        <p:spPr bwMode="gray">
          <a:xfrm>
            <a:off x="8221358" y="98481"/>
            <a:ext cx="972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smtClean="0">
                <a:latin typeface="Huawei Sans" panose="020C0503030203020204" pitchFamily="34" charset="0"/>
                <a:ea typeface="方正兰亭黑简体" panose="02000000000000000000" pitchFamily="2" charset="-122"/>
                <a:sym typeface="Huawei Sans" panose="020C0503030203020204" pitchFamily="34" charset="0"/>
              </a:rPr>
              <a:t>Fabric</a:t>
            </a:r>
            <a:r>
              <a:rPr lang="zh-CN" altLang="en-US" sz="1200" kern="0" dirty="0" smtClean="0">
                <a:latin typeface="Huawei Sans" panose="020C0503030203020204" pitchFamily="34" charset="0"/>
                <a:ea typeface="方正兰亭黑简体" panose="02000000000000000000" pitchFamily="2" charset="-122"/>
                <a:sym typeface="Huawei Sans" panose="020C0503030203020204" pitchFamily="34" charset="0"/>
              </a:rPr>
              <a:t>网络</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3" name="燕尾形 22"/>
          <p:cNvSpPr/>
          <p:nvPr/>
        </p:nvSpPr>
        <p:spPr bwMode="gray">
          <a:xfrm>
            <a:off x="7405448" y="98481"/>
            <a:ext cx="9000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网络规划</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4" name="燕尾形 23"/>
          <p:cNvSpPr/>
          <p:nvPr/>
        </p:nvSpPr>
        <p:spPr bwMode="gray">
          <a:xfrm>
            <a:off x="6589538" y="9848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设备管理</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5" name="燕尾形 24"/>
          <p:cNvSpPr/>
          <p:nvPr/>
        </p:nvSpPr>
        <p:spPr bwMode="gray">
          <a:xfrm>
            <a:off x="10741088" y="98481"/>
            <a:ext cx="1008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WLAN</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业务</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3912762185"/>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normAutofit/>
          </a:bodyPr>
          <a:lstStyle/>
          <a:p>
            <a:r>
              <a:rPr lang="zh-CN" altLang="en-US" dirty="0" smtClean="0"/>
              <a:t>策略模板配置：用户接入认证</a:t>
            </a:r>
            <a:endParaRPr lang="zh-CN" altLang="en-US" dirty="0"/>
          </a:p>
        </p:txBody>
      </p:sp>
      <p:sp>
        <p:nvSpPr>
          <p:cNvPr id="3" name="文本占位符 2"/>
          <p:cNvSpPr>
            <a:spLocks noGrp="1"/>
          </p:cNvSpPr>
          <p:nvPr>
            <p:ph type="body" sz="quarter" idx="10"/>
          </p:nvPr>
        </p:nvSpPr>
        <p:spPr bwMode="gray">
          <a:xfrm>
            <a:off x="455612" y="1047750"/>
            <a:ext cx="11293475" cy="1833857"/>
          </a:xfrm>
        </p:spPr>
        <p:txBody>
          <a:bodyPr/>
          <a:lstStyle/>
          <a:p>
            <a:r>
              <a:rPr lang="zh-CN" altLang="en-US" sz="2000" dirty="0" smtClean="0"/>
              <a:t>在大中型虚拟化园区网络方案中，</a:t>
            </a:r>
            <a:r>
              <a:rPr lang="en-US" altLang="zh-CN" sz="2000" dirty="0" smtClean="0"/>
              <a:t>Fabric</a:t>
            </a:r>
            <a:r>
              <a:rPr lang="zh-CN" altLang="en-US" sz="2000" dirty="0" smtClean="0"/>
              <a:t>的接入管理中需要指定有线和无线接入点所绑定的认证模板，该认证模板资源需要提前规划设计。</a:t>
            </a:r>
            <a:endParaRPr lang="en-US" altLang="zh-CN" sz="2000" dirty="0" smtClean="0"/>
          </a:p>
          <a:p>
            <a:r>
              <a:rPr lang="zh-CN" altLang="en-US" sz="2000" dirty="0" smtClean="0"/>
              <a:t>在</a:t>
            </a:r>
            <a:r>
              <a:rPr lang="en-US" altLang="zh-CN" sz="2000" dirty="0" smtClean="0"/>
              <a:t>iMaster NCE-Campus</a:t>
            </a:r>
            <a:r>
              <a:rPr lang="zh-CN" altLang="en-US" sz="2000" dirty="0" smtClean="0"/>
              <a:t>上配置的策略模板资源一般包括</a:t>
            </a:r>
            <a:r>
              <a:rPr lang="en-US" altLang="zh-CN" sz="2000" dirty="0" smtClean="0"/>
              <a:t>RADIUS</a:t>
            </a:r>
            <a:r>
              <a:rPr lang="zh-CN" altLang="en-US" sz="2000" dirty="0" smtClean="0"/>
              <a:t>服务器模板、</a:t>
            </a:r>
            <a:r>
              <a:rPr lang="en-US" altLang="zh-CN" sz="2000" dirty="0" smtClean="0"/>
              <a:t>Portal</a:t>
            </a:r>
            <a:r>
              <a:rPr lang="zh-CN" altLang="en-US" sz="2000" dirty="0" smtClean="0"/>
              <a:t>服务器模板和用户认证模板。</a:t>
            </a:r>
            <a:endParaRPr lang="zh-CN" altLang="en-US" sz="2000" dirty="0"/>
          </a:p>
        </p:txBody>
      </p:sp>
      <p:sp>
        <p:nvSpPr>
          <p:cNvPr id="43" name="圆角矩形 42"/>
          <p:cNvSpPr/>
          <p:nvPr/>
        </p:nvSpPr>
        <p:spPr bwMode="gray">
          <a:xfrm>
            <a:off x="4193934" y="2549837"/>
            <a:ext cx="3948649" cy="2628871"/>
          </a:xfrm>
          <a:prstGeom prst="roundRect">
            <a:avLst>
              <a:gd name="adj" fmla="val 3166"/>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latin typeface="Huawei Sans" panose="020C0503030203020204" pitchFamily="34" charset="0"/>
              <a:ea typeface="方正兰亭黑简体" panose="02000000000000000000" pitchFamily="2" charset="-122"/>
              <a:cs typeface="Huawei Sans" panose="020C0503030203020204" pitchFamily="34" charset="0"/>
            </a:endParaRPr>
          </a:p>
        </p:txBody>
      </p:sp>
      <p:cxnSp>
        <p:nvCxnSpPr>
          <p:cNvPr id="44" name="Straight Connector 166"/>
          <p:cNvCxnSpPr>
            <a:stCxn id="51" idx="2"/>
            <a:endCxn id="65" idx="0"/>
          </p:cNvCxnSpPr>
          <p:nvPr/>
        </p:nvCxnSpPr>
        <p:spPr bwMode="gray">
          <a:xfrm>
            <a:off x="5046723" y="4187490"/>
            <a:ext cx="0" cy="40327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Straight Connector 166"/>
          <p:cNvCxnSpPr>
            <a:stCxn id="52" idx="2"/>
            <a:endCxn id="66" idx="0"/>
          </p:cNvCxnSpPr>
          <p:nvPr/>
        </p:nvCxnSpPr>
        <p:spPr bwMode="gray">
          <a:xfrm>
            <a:off x="6977524" y="4187490"/>
            <a:ext cx="0" cy="40327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Straight Connector 167"/>
          <p:cNvCxnSpPr/>
          <p:nvPr/>
        </p:nvCxnSpPr>
        <p:spPr bwMode="gray">
          <a:xfrm flipH="1">
            <a:off x="5047433" y="3128258"/>
            <a:ext cx="971589" cy="876201"/>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47" name="Straight Connector 167"/>
          <p:cNvCxnSpPr/>
          <p:nvPr/>
        </p:nvCxnSpPr>
        <p:spPr bwMode="gray">
          <a:xfrm flipH="1" flipV="1">
            <a:off x="6015643" y="3125781"/>
            <a:ext cx="975076" cy="883934"/>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sp>
        <p:nvSpPr>
          <p:cNvPr id="48" name="文本框 47"/>
          <p:cNvSpPr txBox="1"/>
          <p:nvPr/>
        </p:nvSpPr>
        <p:spPr bwMode="gray">
          <a:xfrm>
            <a:off x="5157620" y="2984502"/>
            <a:ext cx="665567" cy="276999"/>
          </a:xfrm>
          <a:prstGeom prst="rect">
            <a:avLst/>
          </a:prstGeom>
          <a:noFill/>
        </p:spPr>
        <p:txBody>
          <a:bodyPr wrap="none" rtlCol="0">
            <a:spAutoFit/>
          </a:bodyPr>
          <a:lstStyle/>
          <a:p>
            <a:pPr algn="ctr"/>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Border</a:t>
            </a:r>
          </a:p>
        </p:txBody>
      </p:sp>
      <p:sp>
        <p:nvSpPr>
          <p:cNvPr id="49" name="文本框 48"/>
          <p:cNvSpPr txBox="1"/>
          <p:nvPr/>
        </p:nvSpPr>
        <p:spPr bwMode="gray">
          <a:xfrm>
            <a:off x="4210627" y="3854717"/>
            <a:ext cx="684804" cy="276999"/>
          </a:xfrm>
          <a:prstGeom prst="rect">
            <a:avLst/>
          </a:prstGeom>
          <a:noFill/>
        </p:spPr>
        <p:txBody>
          <a:bodyPr wrap="none" rtlCol="0">
            <a:spAutoFit/>
          </a:bodyPr>
          <a:lstStyle/>
          <a:p>
            <a:pPr algn="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Edge_</a:t>
            </a:r>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1</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50" name="文本框 49"/>
          <p:cNvSpPr txBox="1"/>
          <p:nvPr/>
        </p:nvSpPr>
        <p:spPr bwMode="gray">
          <a:xfrm>
            <a:off x="4263527" y="4626232"/>
            <a:ext cx="631904" cy="276999"/>
          </a:xfrm>
          <a:prstGeom prst="rect">
            <a:avLst/>
          </a:prstGeom>
          <a:noFill/>
        </p:spPr>
        <p:txBody>
          <a:bodyPr wrap="none" rtlCol="0">
            <a:spAutoFit/>
          </a:bodyPr>
          <a:lstStyle/>
          <a:p>
            <a:pPr algn="r"/>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ACC_1</a:t>
            </a:r>
          </a:p>
        </p:txBody>
      </p:sp>
      <p:pic>
        <p:nvPicPr>
          <p:cNvPr id="51" name="图片 87" descr="汇聚交换机.png"/>
          <p:cNvPicPr>
            <a:picLocks noChangeAspect="1"/>
          </p:cNvPicPr>
          <p:nvPr/>
        </p:nvPicPr>
        <p:blipFill>
          <a:blip r:embed="rId3" cstate="print"/>
          <a:stretch>
            <a:fillRect/>
          </a:stretch>
        </p:blipFill>
        <p:spPr bwMode="gray">
          <a:xfrm>
            <a:off x="4823582" y="3822351"/>
            <a:ext cx="446281" cy="365139"/>
          </a:xfrm>
          <a:prstGeom prst="rect">
            <a:avLst/>
          </a:prstGeom>
        </p:spPr>
      </p:pic>
      <p:pic>
        <p:nvPicPr>
          <p:cNvPr id="52" name="图片 87" descr="汇聚交换机.png"/>
          <p:cNvPicPr>
            <a:picLocks noChangeAspect="1"/>
          </p:cNvPicPr>
          <p:nvPr/>
        </p:nvPicPr>
        <p:blipFill>
          <a:blip r:embed="rId3" cstate="print"/>
          <a:stretch>
            <a:fillRect/>
          </a:stretch>
        </p:blipFill>
        <p:spPr bwMode="gray">
          <a:xfrm>
            <a:off x="6754383" y="3822351"/>
            <a:ext cx="446281" cy="365139"/>
          </a:xfrm>
          <a:prstGeom prst="rect">
            <a:avLst/>
          </a:prstGeom>
        </p:spPr>
      </p:pic>
      <p:sp>
        <p:nvSpPr>
          <p:cNvPr id="53" name="文本框 52"/>
          <p:cNvSpPr txBox="1"/>
          <p:nvPr/>
        </p:nvSpPr>
        <p:spPr bwMode="gray">
          <a:xfrm>
            <a:off x="6175889" y="4626231"/>
            <a:ext cx="631904" cy="276999"/>
          </a:xfrm>
          <a:prstGeom prst="rect">
            <a:avLst/>
          </a:prstGeom>
          <a:noFill/>
        </p:spPr>
        <p:txBody>
          <a:bodyPr wrap="none" rtlCol="0">
            <a:spAutoFit/>
          </a:bodyPr>
          <a:lstStyle/>
          <a:p>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ACC_2</a:t>
            </a:r>
          </a:p>
        </p:txBody>
      </p:sp>
      <p:sp>
        <p:nvSpPr>
          <p:cNvPr id="54" name="文本框 53"/>
          <p:cNvSpPr txBox="1"/>
          <p:nvPr/>
        </p:nvSpPr>
        <p:spPr bwMode="gray">
          <a:xfrm>
            <a:off x="7158265" y="3854717"/>
            <a:ext cx="684804" cy="276999"/>
          </a:xfrm>
          <a:prstGeom prst="rect">
            <a:avLst/>
          </a:prstGeom>
          <a:noFill/>
        </p:spPr>
        <p:txBody>
          <a:bodyPr wrap="none" rtlCol="0">
            <a:spAutoFit/>
          </a:bodyPr>
          <a:lstStyle/>
          <a:p>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Edge_</a:t>
            </a:r>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2</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55" name="文本框 54"/>
          <p:cNvSpPr txBox="1"/>
          <p:nvPr/>
        </p:nvSpPr>
        <p:spPr bwMode="gray">
          <a:xfrm>
            <a:off x="4226409" y="2700006"/>
            <a:ext cx="468398" cy="307777"/>
          </a:xfrm>
          <a:prstGeom prst="rect">
            <a:avLst/>
          </a:prstGeom>
          <a:noFill/>
        </p:spPr>
        <p:txBody>
          <a:bodyPr wrap="none" rtlCol="0">
            <a:spAutoFit/>
          </a:bodyPr>
          <a:lstStyle/>
          <a:p>
            <a:r>
              <a:rPr lang="en-US" altLang="zh-CN" sz="1400" b="1" dirty="0" smtClean="0">
                <a:latin typeface="Huawei Sans" panose="020C0503030203020204" pitchFamily="34" charset="0"/>
                <a:ea typeface="方正兰亭黑简体" panose="02000000000000000000" pitchFamily="2" charset="-122"/>
                <a:cs typeface="Huawei Sans" panose="020C0503030203020204" pitchFamily="34" charset="0"/>
              </a:rPr>
              <a:t>HQ</a:t>
            </a:r>
            <a:endParaRPr lang="zh-CN" altLang="en-US" sz="1400" b="1" dirty="0">
              <a:latin typeface="Huawei Sans" panose="020C0503030203020204" pitchFamily="34" charset="0"/>
              <a:ea typeface="方正兰亭黑简体" panose="02000000000000000000" pitchFamily="2" charset="-122"/>
              <a:cs typeface="Huawei Sans" panose="020C0503030203020204" pitchFamily="34" charset="0"/>
            </a:endParaRPr>
          </a:p>
        </p:txBody>
      </p:sp>
      <p:pic>
        <p:nvPicPr>
          <p:cNvPr id="65" name="图片 76" descr="接入交换机.png"/>
          <p:cNvPicPr>
            <a:picLocks noChangeAspect="1"/>
          </p:cNvPicPr>
          <p:nvPr/>
        </p:nvPicPr>
        <p:blipFill>
          <a:blip r:embed="rId4" cstate="print"/>
          <a:stretch>
            <a:fillRect/>
          </a:stretch>
        </p:blipFill>
        <p:spPr bwMode="gray">
          <a:xfrm>
            <a:off x="4823582" y="4590767"/>
            <a:ext cx="446281" cy="365139"/>
          </a:xfrm>
          <a:prstGeom prst="rect">
            <a:avLst/>
          </a:prstGeom>
        </p:spPr>
      </p:pic>
      <p:pic>
        <p:nvPicPr>
          <p:cNvPr id="66" name="图片 76" descr="接入交换机.png"/>
          <p:cNvPicPr>
            <a:picLocks noChangeAspect="1"/>
          </p:cNvPicPr>
          <p:nvPr/>
        </p:nvPicPr>
        <p:blipFill>
          <a:blip r:embed="rId4" cstate="print"/>
          <a:stretch>
            <a:fillRect/>
          </a:stretch>
        </p:blipFill>
        <p:spPr bwMode="gray">
          <a:xfrm>
            <a:off x="6754383" y="4590767"/>
            <a:ext cx="446281" cy="365139"/>
          </a:xfrm>
          <a:prstGeom prst="rect">
            <a:avLst/>
          </a:prstGeom>
        </p:spPr>
      </p:pic>
      <p:pic>
        <p:nvPicPr>
          <p:cNvPr id="67" name="图片 86" descr="核心交换机.png"/>
          <p:cNvPicPr>
            <a:picLocks noChangeAspect="1"/>
          </p:cNvPicPr>
          <p:nvPr/>
        </p:nvPicPr>
        <p:blipFill>
          <a:blip r:embed="rId5" cstate="print"/>
          <a:stretch>
            <a:fillRect/>
          </a:stretch>
        </p:blipFill>
        <p:spPr bwMode="gray">
          <a:xfrm>
            <a:off x="5803275" y="2945689"/>
            <a:ext cx="446281" cy="365139"/>
          </a:xfrm>
          <a:prstGeom prst="rect">
            <a:avLst/>
          </a:prstGeom>
        </p:spPr>
      </p:pic>
      <p:pic>
        <p:nvPicPr>
          <p:cNvPr id="68" name="图片 67"/>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bwMode="gray">
          <a:xfrm>
            <a:off x="7178833" y="2711088"/>
            <a:ext cx="865097" cy="491769"/>
          </a:xfrm>
          <a:prstGeom prst="rect">
            <a:avLst/>
          </a:prstGeom>
        </p:spPr>
      </p:pic>
      <p:sp>
        <p:nvSpPr>
          <p:cNvPr id="78" name="文本框 77"/>
          <p:cNvSpPr txBox="1"/>
          <p:nvPr/>
        </p:nvSpPr>
        <p:spPr bwMode="gray">
          <a:xfrm>
            <a:off x="7793710" y="2673349"/>
            <a:ext cx="2276585" cy="461665"/>
          </a:xfrm>
          <a:prstGeom prst="rect">
            <a:avLst/>
          </a:prstGeom>
          <a:noFill/>
        </p:spPr>
        <p:txBody>
          <a:bodyPr wrap="none" rtlCol="0">
            <a:spAutoFit/>
          </a:bodyPr>
          <a:lstStyle/>
          <a:p>
            <a:r>
              <a:rPr lang="zh-CN" altLang="en-US" sz="1200" b="1" dirty="0" smtClean="0">
                <a:latin typeface="Huawei Sans" panose="020C0503030203020204" pitchFamily="34" charset="0"/>
                <a:ea typeface="方正兰亭黑简体" panose="02000000000000000000" pitchFamily="2" charset="-122"/>
                <a:cs typeface="Huawei Sans" panose="020C0503030203020204" pitchFamily="34" charset="0"/>
              </a:rPr>
              <a:t>控制器内置服务器</a:t>
            </a:r>
            <a:endParaRPr lang="en-US" altLang="zh-CN" sz="1200" b="1" dirty="0" smtClean="0">
              <a:latin typeface="Huawei Sans" panose="020C0503030203020204" pitchFamily="34" charset="0"/>
              <a:ea typeface="方正兰亭黑简体" panose="02000000000000000000" pitchFamily="2" charset="-122"/>
              <a:cs typeface="Huawei Sans" panose="020C0503030203020204" pitchFamily="34" charset="0"/>
            </a:endParaRPr>
          </a:p>
          <a:p>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RADIUS</a:t>
            </a:r>
            <a:r>
              <a:rPr lang="zh-CN" altLang="en-US" sz="1200" dirty="0" smtClean="0">
                <a:latin typeface="Huawei Sans" panose="020C0503030203020204" pitchFamily="34" charset="0"/>
                <a:ea typeface="方正兰亭黑简体" panose="02000000000000000000" pitchFamily="2" charset="-122"/>
                <a:cs typeface="Huawei Sans" panose="020C0503030203020204" pitchFamily="34" charset="0"/>
              </a:rPr>
              <a:t>服务器 </a:t>
            </a:r>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&amp; Portal</a:t>
            </a:r>
            <a:r>
              <a:rPr lang="zh-CN" altLang="en-US" sz="1200" dirty="0" smtClean="0">
                <a:latin typeface="Huawei Sans" panose="020C0503030203020204" pitchFamily="34" charset="0"/>
                <a:ea typeface="方正兰亭黑简体" panose="02000000000000000000" pitchFamily="2" charset="-122"/>
                <a:cs typeface="Huawei Sans" panose="020C0503030203020204" pitchFamily="34" charset="0"/>
              </a:rPr>
              <a:t>服务器</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5" name="任意多边形 4"/>
          <p:cNvSpPr/>
          <p:nvPr/>
        </p:nvSpPr>
        <p:spPr bwMode="gray">
          <a:xfrm>
            <a:off x="5157620" y="2824983"/>
            <a:ext cx="2050004" cy="2311275"/>
          </a:xfrm>
          <a:custGeom>
            <a:avLst/>
            <a:gdLst>
              <a:gd name="connsiteX0" fmla="*/ 46510 w 2155009"/>
              <a:gd name="connsiteY0" fmla="*/ 2495774 h 2495774"/>
              <a:gd name="connsiteX1" fmla="*/ 111056 w 2155009"/>
              <a:gd name="connsiteY1" fmla="*/ 957431 h 2495774"/>
              <a:gd name="connsiteX2" fmla="*/ 1014698 w 2155009"/>
              <a:gd name="connsiteY2" fmla="*/ 236668 h 2495774"/>
              <a:gd name="connsiteX3" fmla="*/ 2155009 w 2155009"/>
              <a:gd name="connsiteY3" fmla="*/ 0 h 2495774"/>
            </a:gdLst>
            <a:ahLst/>
            <a:cxnLst>
              <a:cxn ang="0">
                <a:pos x="connsiteX0" y="connsiteY0"/>
              </a:cxn>
              <a:cxn ang="0">
                <a:pos x="connsiteX1" y="connsiteY1"/>
              </a:cxn>
              <a:cxn ang="0">
                <a:pos x="connsiteX2" y="connsiteY2"/>
              </a:cxn>
              <a:cxn ang="0">
                <a:pos x="connsiteX3" y="connsiteY3"/>
              </a:cxn>
            </a:cxnLst>
            <a:rect l="l" t="t" r="r" b="b"/>
            <a:pathLst>
              <a:path w="2155009" h="2495774">
                <a:moveTo>
                  <a:pt x="46510" y="2495774"/>
                </a:moveTo>
                <a:cubicBezTo>
                  <a:pt x="-1900" y="1914861"/>
                  <a:pt x="-50309" y="1333949"/>
                  <a:pt x="111056" y="957431"/>
                </a:cubicBezTo>
                <a:cubicBezTo>
                  <a:pt x="272421" y="580913"/>
                  <a:pt x="674039" y="396240"/>
                  <a:pt x="1014698" y="236668"/>
                </a:cubicBezTo>
                <a:cubicBezTo>
                  <a:pt x="1355357" y="77096"/>
                  <a:pt x="1755183" y="38548"/>
                  <a:pt x="2155009" y="0"/>
                </a:cubicBezTo>
              </a:path>
            </a:pathLst>
          </a:custGeom>
          <a:noFill/>
          <a:ln w="28575">
            <a:solidFill>
              <a:srgbClr val="00B050"/>
            </a:solidFill>
            <a:prstDash val="dash"/>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p>
        </p:txBody>
      </p:sp>
      <p:sp>
        <p:nvSpPr>
          <p:cNvPr id="79" name="椭圆 78"/>
          <p:cNvSpPr/>
          <p:nvPr/>
        </p:nvSpPr>
        <p:spPr bwMode="gray">
          <a:xfrm>
            <a:off x="4993129" y="4889507"/>
            <a:ext cx="118533" cy="118533"/>
          </a:xfrm>
          <a:prstGeom prst="ellipse">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endParaRPr lang="en-US" altLang="zh-CN" sz="1200" dirty="0"/>
          </a:p>
        </p:txBody>
      </p:sp>
      <p:sp>
        <p:nvSpPr>
          <p:cNvPr id="80" name="矩形 79"/>
          <p:cNvSpPr/>
          <p:nvPr/>
        </p:nvSpPr>
        <p:spPr bwMode="gray">
          <a:xfrm>
            <a:off x="9771193" y="5391216"/>
            <a:ext cx="672160" cy="251711"/>
          </a:xfrm>
          <a:prstGeom prst="rect">
            <a:avLst/>
          </a:prstGeom>
        </p:spPr>
        <p:txBody>
          <a:bodyPr wrap="square">
            <a:noAutofit/>
          </a:bodyPr>
          <a:lstStyle/>
          <a:p>
            <a:pPr fontAlgn="ctr"/>
            <a:r>
              <a:rPr lang="zh-CN" altLang="en-US" sz="1200" dirty="0" smtClean="0"/>
              <a:t>认证点</a:t>
            </a:r>
            <a:endParaRPr lang="en-US" altLang="zh-CN" sz="1200" dirty="0"/>
          </a:p>
        </p:txBody>
      </p:sp>
      <p:sp>
        <p:nvSpPr>
          <p:cNvPr id="83" name="椭圆 82"/>
          <p:cNvSpPr/>
          <p:nvPr/>
        </p:nvSpPr>
        <p:spPr bwMode="gray">
          <a:xfrm>
            <a:off x="6175889" y="3125781"/>
            <a:ext cx="118533" cy="118533"/>
          </a:xfrm>
          <a:prstGeom prst="ellipse">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endParaRPr lang="en-US" altLang="zh-CN" sz="1200" dirty="0"/>
          </a:p>
        </p:txBody>
      </p:sp>
      <p:sp>
        <p:nvSpPr>
          <p:cNvPr id="84" name="椭圆 83"/>
          <p:cNvSpPr/>
          <p:nvPr/>
        </p:nvSpPr>
        <p:spPr bwMode="gray">
          <a:xfrm>
            <a:off x="9652660" y="5463441"/>
            <a:ext cx="118533" cy="118533"/>
          </a:xfrm>
          <a:prstGeom prst="ellipse">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endParaRPr lang="en-US" altLang="zh-CN" sz="1200" dirty="0"/>
          </a:p>
        </p:txBody>
      </p:sp>
      <p:pic>
        <p:nvPicPr>
          <p:cNvPr id="85" name="图片 105" descr="AP.png"/>
          <p:cNvPicPr>
            <a:picLocks noChangeAspect="1"/>
          </p:cNvPicPr>
          <p:nvPr/>
        </p:nvPicPr>
        <p:blipFill>
          <a:blip r:embed="rId7" cstate="print"/>
          <a:stretch>
            <a:fillRect/>
          </a:stretch>
        </p:blipFill>
        <p:spPr bwMode="gray">
          <a:xfrm>
            <a:off x="7695149" y="4622452"/>
            <a:ext cx="368827" cy="301768"/>
          </a:xfrm>
          <a:prstGeom prst="rect">
            <a:avLst/>
          </a:prstGeom>
        </p:spPr>
      </p:pic>
      <p:cxnSp>
        <p:nvCxnSpPr>
          <p:cNvPr id="86" name="Straight Connector 166"/>
          <p:cNvCxnSpPr>
            <a:stCxn id="66" idx="3"/>
            <a:endCxn id="85" idx="1"/>
          </p:cNvCxnSpPr>
          <p:nvPr/>
        </p:nvCxnSpPr>
        <p:spPr bwMode="gray">
          <a:xfrm flipV="1">
            <a:off x="7200664" y="4773336"/>
            <a:ext cx="494485" cy="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88" name="文本框 87"/>
          <p:cNvSpPr txBox="1"/>
          <p:nvPr/>
        </p:nvSpPr>
        <p:spPr bwMode="gray">
          <a:xfrm>
            <a:off x="7642863" y="4388560"/>
            <a:ext cx="460382" cy="276999"/>
          </a:xfrm>
          <a:prstGeom prst="rect">
            <a:avLst/>
          </a:prstGeom>
          <a:noFill/>
        </p:spPr>
        <p:txBody>
          <a:bodyPr wrap="none" rtlCol="0">
            <a:spAutoFit/>
          </a:bodyPr>
          <a:lstStyle/>
          <a:p>
            <a:pPr algn="ctr"/>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AP1</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grpSp>
        <p:nvGrpSpPr>
          <p:cNvPr id="90" name="组合 758"/>
          <p:cNvGrpSpPr/>
          <p:nvPr/>
        </p:nvGrpSpPr>
        <p:grpSpPr bwMode="gray">
          <a:xfrm flipV="1">
            <a:off x="7776063" y="4945129"/>
            <a:ext cx="225699" cy="191129"/>
            <a:chOff x="7440613" y="4868863"/>
            <a:chExt cx="1019175" cy="828675"/>
          </a:xfrm>
          <a:solidFill>
            <a:schemeClr val="bg1">
              <a:lumMod val="50000"/>
            </a:schemeClr>
          </a:solidFill>
        </p:grpSpPr>
        <p:sp>
          <p:nvSpPr>
            <p:cNvPr id="91" name="Freeform 15"/>
            <p:cNvSpPr>
              <a:spLocks/>
            </p:cNvSpPr>
            <p:nvPr/>
          </p:nvSpPr>
          <p:spPr bwMode="gray">
            <a:xfrm>
              <a:off x="7832726" y="5462588"/>
              <a:ext cx="234950" cy="234950"/>
            </a:xfrm>
            <a:custGeom>
              <a:avLst/>
              <a:gdLst/>
              <a:ahLst/>
              <a:cxnLst>
                <a:cxn ang="0">
                  <a:pos x="3281" y="680"/>
                </a:cxn>
                <a:cxn ang="0">
                  <a:pos x="3439" y="907"/>
                </a:cxn>
                <a:cxn ang="0">
                  <a:pos x="3559" y="1151"/>
                </a:cxn>
                <a:cxn ang="0">
                  <a:pos x="3642" y="1406"/>
                </a:cxn>
                <a:cxn ang="0">
                  <a:pos x="3686" y="1670"/>
                </a:cxn>
                <a:cxn ang="0">
                  <a:pos x="3693" y="1936"/>
                </a:cxn>
                <a:cxn ang="0">
                  <a:pos x="3661" y="2201"/>
                </a:cxn>
                <a:cxn ang="0">
                  <a:pos x="3591" y="2460"/>
                </a:cxn>
                <a:cxn ang="0">
                  <a:pos x="3484" y="2708"/>
                </a:cxn>
                <a:cxn ang="0">
                  <a:pos x="3339" y="2941"/>
                </a:cxn>
                <a:cxn ang="0">
                  <a:pos x="3155" y="3155"/>
                </a:cxn>
                <a:cxn ang="0">
                  <a:pos x="2941" y="3339"/>
                </a:cxn>
                <a:cxn ang="0">
                  <a:pos x="2708" y="3484"/>
                </a:cxn>
                <a:cxn ang="0">
                  <a:pos x="2460" y="3592"/>
                </a:cxn>
                <a:cxn ang="0">
                  <a:pos x="2201" y="3661"/>
                </a:cxn>
                <a:cxn ang="0">
                  <a:pos x="1936" y="3693"/>
                </a:cxn>
                <a:cxn ang="0">
                  <a:pos x="1670" y="3687"/>
                </a:cxn>
                <a:cxn ang="0">
                  <a:pos x="1408" y="3643"/>
                </a:cxn>
                <a:cxn ang="0">
                  <a:pos x="1152" y="3561"/>
                </a:cxn>
                <a:cxn ang="0">
                  <a:pos x="908" y="3440"/>
                </a:cxn>
                <a:cxn ang="0">
                  <a:pos x="680" y="3282"/>
                </a:cxn>
                <a:cxn ang="0">
                  <a:pos x="475" y="3086"/>
                </a:cxn>
                <a:cxn ang="0">
                  <a:pos x="304" y="2866"/>
                </a:cxn>
                <a:cxn ang="0">
                  <a:pos x="172" y="2627"/>
                </a:cxn>
                <a:cxn ang="0">
                  <a:pos x="76" y="2374"/>
                </a:cxn>
                <a:cxn ang="0">
                  <a:pos x="19" y="2114"/>
                </a:cxn>
                <a:cxn ang="0">
                  <a:pos x="0" y="1848"/>
                </a:cxn>
                <a:cxn ang="0">
                  <a:pos x="19" y="1582"/>
                </a:cxn>
                <a:cxn ang="0">
                  <a:pos x="76" y="1321"/>
                </a:cxn>
                <a:cxn ang="0">
                  <a:pos x="171" y="1069"/>
                </a:cxn>
                <a:cxn ang="0">
                  <a:pos x="304" y="830"/>
                </a:cxn>
                <a:cxn ang="0">
                  <a:pos x="475" y="609"/>
                </a:cxn>
                <a:cxn ang="0">
                  <a:pos x="680" y="414"/>
                </a:cxn>
                <a:cxn ang="0">
                  <a:pos x="907" y="255"/>
                </a:cxn>
                <a:cxn ang="0">
                  <a:pos x="1151" y="135"/>
                </a:cxn>
                <a:cxn ang="0">
                  <a:pos x="1407" y="52"/>
                </a:cxn>
                <a:cxn ang="0">
                  <a:pos x="1669" y="8"/>
                </a:cxn>
                <a:cxn ang="0">
                  <a:pos x="1936" y="2"/>
                </a:cxn>
                <a:cxn ang="0">
                  <a:pos x="2201" y="33"/>
                </a:cxn>
                <a:cxn ang="0">
                  <a:pos x="2459" y="104"/>
                </a:cxn>
                <a:cxn ang="0">
                  <a:pos x="2708" y="211"/>
                </a:cxn>
                <a:cxn ang="0">
                  <a:pos x="2940" y="356"/>
                </a:cxn>
                <a:cxn ang="0">
                  <a:pos x="3154" y="539"/>
                </a:cxn>
              </a:cxnLst>
              <a:rect l="0" t="0" r="r" b="b"/>
              <a:pathLst>
                <a:path w="3695" h="3695">
                  <a:moveTo>
                    <a:pt x="3154" y="539"/>
                  </a:moveTo>
                  <a:lnTo>
                    <a:pt x="3220" y="608"/>
                  </a:lnTo>
                  <a:lnTo>
                    <a:pt x="3281" y="680"/>
                  </a:lnTo>
                  <a:lnTo>
                    <a:pt x="3338" y="754"/>
                  </a:lnTo>
                  <a:lnTo>
                    <a:pt x="3391" y="829"/>
                  </a:lnTo>
                  <a:lnTo>
                    <a:pt x="3439" y="907"/>
                  </a:lnTo>
                  <a:lnTo>
                    <a:pt x="3483" y="987"/>
                  </a:lnTo>
                  <a:lnTo>
                    <a:pt x="3523" y="1068"/>
                  </a:lnTo>
                  <a:lnTo>
                    <a:pt x="3559" y="1151"/>
                  </a:lnTo>
                  <a:lnTo>
                    <a:pt x="3591" y="1235"/>
                  </a:lnTo>
                  <a:lnTo>
                    <a:pt x="3619" y="1320"/>
                  </a:lnTo>
                  <a:lnTo>
                    <a:pt x="3642" y="1406"/>
                  </a:lnTo>
                  <a:lnTo>
                    <a:pt x="3661" y="1493"/>
                  </a:lnTo>
                  <a:lnTo>
                    <a:pt x="3676" y="1582"/>
                  </a:lnTo>
                  <a:lnTo>
                    <a:pt x="3686" y="1670"/>
                  </a:lnTo>
                  <a:lnTo>
                    <a:pt x="3693" y="1758"/>
                  </a:lnTo>
                  <a:lnTo>
                    <a:pt x="3695" y="1847"/>
                  </a:lnTo>
                  <a:lnTo>
                    <a:pt x="3693" y="1936"/>
                  </a:lnTo>
                  <a:lnTo>
                    <a:pt x="3686" y="2024"/>
                  </a:lnTo>
                  <a:lnTo>
                    <a:pt x="3676" y="2113"/>
                  </a:lnTo>
                  <a:lnTo>
                    <a:pt x="3661" y="2201"/>
                  </a:lnTo>
                  <a:lnTo>
                    <a:pt x="3642" y="2288"/>
                  </a:lnTo>
                  <a:lnTo>
                    <a:pt x="3619" y="2374"/>
                  </a:lnTo>
                  <a:lnTo>
                    <a:pt x="3591" y="2460"/>
                  </a:lnTo>
                  <a:lnTo>
                    <a:pt x="3559" y="2544"/>
                  </a:lnTo>
                  <a:lnTo>
                    <a:pt x="3524" y="2626"/>
                  </a:lnTo>
                  <a:lnTo>
                    <a:pt x="3484" y="2708"/>
                  </a:lnTo>
                  <a:lnTo>
                    <a:pt x="3439" y="2788"/>
                  </a:lnTo>
                  <a:lnTo>
                    <a:pt x="3391" y="2865"/>
                  </a:lnTo>
                  <a:lnTo>
                    <a:pt x="3339" y="2941"/>
                  </a:lnTo>
                  <a:lnTo>
                    <a:pt x="3281" y="3015"/>
                  </a:lnTo>
                  <a:lnTo>
                    <a:pt x="3220" y="3086"/>
                  </a:lnTo>
                  <a:lnTo>
                    <a:pt x="3155" y="3155"/>
                  </a:lnTo>
                  <a:lnTo>
                    <a:pt x="3086" y="3220"/>
                  </a:lnTo>
                  <a:lnTo>
                    <a:pt x="3015" y="3282"/>
                  </a:lnTo>
                  <a:lnTo>
                    <a:pt x="2941" y="3339"/>
                  </a:lnTo>
                  <a:lnTo>
                    <a:pt x="2865" y="3391"/>
                  </a:lnTo>
                  <a:lnTo>
                    <a:pt x="2788" y="3440"/>
                  </a:lnTo>
                  <a:lnTo>
                    <a:pt x="2708" y="3484"/>
                  </a:lnTo>
                  <a:lnTo>
                    <a:pt x="2626" y="3524"/>
                  </a:lnTo>
                  <a:lnTo>
                    <a:pt x="2544" y="3560"/>
                  </a:lnTo>
                  <a:lnTo>
                    <a:pt x="2460" y="3592"/>
                  </a:lnTo>
                  <a:lnTo>
                    <a:pt x="2375" y="3619"/>
                  </a:lnTo>
                  <a:lnTo>
                    <a:pt x="2288" y="3643"/>
                  </a:lnTo>
                  <a:lnTo>
                    <a:pt x="2201" y="3661"/>
                  </a:lnTo>
                  <a:lnTo>
                    <a:pt x="2114" y="3676"/>
                  </a:lnTo>
                  <a:lnTo>
                    <a:pt x="2026" y="3687"/>
                  </a:lnTo>
                  <a:lnTo>
                    <a:pt x="1936" y="3693"/>
                  </a:lnTo>
                  <a:lnTo>
                    <a:pt x="1848" y="3695"/>
                  </a:lnTo>
                  <a:lnTo>
                    <a:pt x="1759" y="3693"/>
                  </a:lnTo>
                  <a:lnTo>
                    <a:pt x="1670" y="3687"/>
                  </a:lnTo>
                  <a:lnTo>
                    <a:pt x="1582" y="3676"/>
                  </a:lnTo>
                  <a:lnTo>
                    <a:pt x="1495" y="3662"/>
                  </a:lnTo>
                  <a:lnTo>
                    <a:pt x="1408" y="3643"/>
                  </a:lnTo>
                  <a:lnTo>
                    <a:pt x="1321" y="3620"/>
                  </a:lnTo>
                  <a:lnTo>
                    <a:pt x="1236" y="3592"/>
                  </a:lnTo>
                  <a:lnTo>
                    <a:pt x="1152" y="3561"/>
                  </a:lnTo>
                  <a:lnTo>
                    <a:pt x="1069" y="3524"/>
                  </a:lnTo>
                  <a:lnTo>
                    <a:pt x="987" y="3484"/>
                  </a:lnTo>
                  <a:lnTo>
                    <a:pt x="908" y="3440"/>
                  </a:lnTo>
                  <a:lnTo>
                    <a:pt x="830" y="3391"/>
                  </a:lnTo>
                  <a:lnTo>
                    <a:pt x="755" y="3339"/>
                  </a:lnTo>
                  <a:lnTo>
                    <a:pt x="680" y="3282"/>
                  </a:lnTo>
                  <a:lnTo>
                    <a:pt x="609" y="3220"/>
                  </a:lnTo>
                  <a:lnTo>
                    <a:pt x="541" y="3155"/>
                  </a:lnTo>
                  <a:lnTo>
                    <a:pt x="475" y="3086"/>
                  </a:lnTo>
                  <a:lnTo>
                    <a:pt x="414" y="3015"/>
                  </a:lnTo>
                  <a:lnTo>
                    <a:pt x="357" y="2941"/>
                  </a:lnTo>
                  <a:lnTo>
                    <a:pt x="304" y="2866"/>
                  </a:lnTo>
                  <a:lnTo>
                    <a:pt x="256" y="2788"/>
                  </a:lnTo>
                  <a:lnTo>
                    <a:pt x="212" y="2709"/>
                  </a:lnTo>
                  <a:lnTo>
                    <a:pt x="172" y="2627"/>
                  </a:lnTo>
                  <a:lnTo>
                    <a:pt x="136" y="2544"/>
                  </a:lnTo>
                  <a:lnTo>
                    <a:pt x="104" y="2460"/>
                  </a:lnTo>
                  <a:lnTo>
                    <a:pt x="76" y="2374"/>
                  </a:lnTo>
                  <a:lnTo>
                    <a:pt x="53" y="2288"/>
                  </a:lnTo>
                  <a:lnTo>
                    <a:pt x="34" y="2201"/>
                  </a:lnTo>
                  <a:lnTo>
                    <a:pt x="19" y="2114"/>
                  </a:lnTo>
                  <a:lnTo>
                    <a:pt x="9" y="2025"/>
                  </a:lnTo>
                  <a:lnTo>
                    <a:pt x="2" y="1937"/>
                  </a:lnTo>
                  <a:lnTo>
                    <a:pt x="0" y="1848"/>
                  </a:lnTo>
                  <a:lnTo>
                    <a:pt x="2" y="1759"/>
                  </a:lnTo>
                  <a:lnTo>
                    <a:pt x="9" y="1670"/>
                  </a:lnTo>
                  <a:lnTo>
                    <a:pt x="19" y="1582"/>
                  </a:lnTo>
                  <a:lnTo>
                    <a:pt x="34" y="1494"/>
                  </a:lnTo>
                  <a:lnTo>
                    <a:pt x="53" y="1407"/>
                  </a:lnTo>
                  <a:lnTo>
                    <a:pt x="76" y="1321"/>
                  </a:lnTo>
                  <a:lnTo>
                    <a:pt x="104" y="1236"/>
                  </a:lnTo>
                  <a:lnTo>
                    <a:pt x="136" y="1151"/>
                  </a:lnTo>
                  <a:lnTo>
                    <a:pt x="171" y="1069"/>
                  </a:lnTo>
                  <a:lnTo>
                    <a:pt x="211" y="988"/>
                  </a:lnTo>
                  <a:lnTo>
                    <a:pt x="255" y="907"/>
                  </a:lnTo>
                  <a:lnTo>
                    <a:pt x="304" y="830"/>
                  </a:lnTo>
                  <a:lnTo>
                    <a:pt x="356" y="754"/>
                  </a:lnTo>
                  <a:lnTo>
                    <a:pt x="414" y="681"/>
                  </a:lnTo>
                  <a:lnTo>
                    <a:pt x="475" y="609"/>
                  </a:lnTo>
                  <a:lnTo>
                    <a:pt x="540" y="540"/>
                  </a:lnTo>
                  <a:lnTo>
                    <a:pt x="609" y="475"/>
                  </a:lnTo>
                  <a:lnTo>
                    <a:pt x="680" y="414"/>
                  </a:lnTo>
                  <a:lnTo>
                    <a:pt x="754" y="356"/>
                  </a:lnTo>
                  <a:lnTo>
                    <a:pt x="830" y="303"/>
                  </a:lnTo>
                  <a:lnTo>
                    <a:pt x="907" y="255"/>
                  </a:lnTo>
                  <a:lnTo>
                    <a:pt x="987" y="211"/>
                  </a:lnTo>
                  <a:lnTo>
                    <a:pt x="1069" y="171"/>
                  </a:lnTo>
                  <a:lnTo>
                    <a:pt x="1151" y="135"/>
                  </a:lnTo>
                  <a:lnTo>
                    <a:pt x="1235" y="104"/>
                  </a:lnTo>
                  <a:lnTo>
                    <a:pt x="1320" y="76"/>
                  </a:lnTo>
                  <a:lnTo>
                    <a:pt x="1407" y="52"/>
                  </a:lnTo>
                  <a:lnTo>
                    <a:pt x="1494" y="33"/>
                  </a:lnTo>
                  <a:lnTo>
                    <a:pt x="1581" y="19"/>
                  </a:lnTo>
                  <a:lnTo>
                    <a:pt x="1669" y="8"/>
                  </a:lnTo>
                  <a:lnTo>
                    <a:pt x="1759" y="2"/>
                  </a:lnTo>
                  <a:lnTo>
                    <a:pt x="1847" y="0"/>
                  </a:lnTo>
                  <a:lnTo>
                    <a:pt x="1936" y="2"/>
                  </a:lnTo>
                  <a:lnTo>
                    <a:pt x="2025" y="8"/>
                  </a:lnTo>
                  <a:lnTo>
                    <a:pt x="2113" y="19"/>
                  </a:lnTo>
                  <a:lnTo>
                    <a:pt x="2201" y="33"/>
                  </a:lnTo>
                  <a:lnTo>
                    <a:pt x="2287" y="52"/>
                  </a:lnTo>
                  <a:lnTo>
                    <a:pt x="2374" y="76"/>
                  </a:lnTo>
                  <a:lnTo>
                    <a:pt x="2459" y="104"/>
                  </a:lnTo>
                  <a:lnTo>
                    <a:pt x="2543" y="135"/>
                  </a:lnTo>
                  <a:lnTo>
                    <a:pt x="2626" y="171"/>
                  </a:lnTo>
                  <a:lnTo>
                    <a:pt x="2708" y="211"/>
                  </a:lnTo>
                  <a:lnTo>
                    <a:pt x="2787" y="255"/>
                  </a:lnTo>
                  <a:lnTo>
                    <a:pt x="2865" y="303"/>
                  </a:lnTo>
                  <a:lnTo>
                    <a:pt x="2940" y="356"/>
                  </a:lnTo>
                  <a:lnTo>
                    <a:pt x="3015" y="413"/>
                  </a:lnTo>
                  <a:lnTo>
                    <a:pt x="3086" y="474"/>
                  </a:lnTo>
                  <a:lnTo>
                    <a:pt x="3154" y="539"/>
                  </a:lnTo>
                  <a:close/>
                </a:path>
              </a:pathLst>
            </a:custGeom>
            <a:grpFill/>
            <a:ln w="9525">
              <a:noFill/>
              <a:round/>
              <a:headEnd/>
              <a:tailEnd/>
            </a:ln>
          </p:spPr>
          <p:txBody>
            <a:bodyPr/>
            <a:lstStyle/>
            <a:p>
              <a:pPr algn="ctr" eaLnBrk="1" fontAlgn="auto" hangingPunct="1">
                <a:spcBef>
                  <a:spcPts val="0"/>
                </a:spcBef>
                <a:spcAft>
                  <a:spcPts val="0"/>
                </a:spcAft>
                <a:defRPr/>
              </a:pPr>
              <a:endParaRPr lang="zh-CN" altLang="en-US" sz="1200" ker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2" name="Freeform 16"/>
            <p:cNvSpPr>
              <a:spLocks noEditPoints="1"/>
            </p:cNvSpPr>
            <p:nvPr/>
          </p:nvSpPr>
          <p:spPr bwMode="gray">
            <a:xfrm>
              <a:off x="7440613" y="4868863"/>
              <a:ext cx="1019175" cy="544513"/>
            </a:xfrm>
            <a:custGeom>
              <a:avLst/>
              <a:gdLst/>
              <a:ahLst/>
              <a:cxnLst>
                <a:cxn ang="0">
                  <a:pos x="16025" y="3351"/>
                </a:cxn>
                <a:cxn ang="0">
                  <a:pos x="14975" y="4351"/>
                </a:cxn>
                <a:cxn ang="0">
                  <a:pos x="14184" y="3632"/>
                </a:cxn>
                <a:cxn ang="0">
                  <a:pos x="12564" y="2563"/>
                </a:cxn>
                <a:cxn ang="0">
                  <a:pos x="10805" y="1850"/>
                </a:cxn>
                <a:cxn ang="0">
                  <a:pos x="8960" y="1494"/>
                </a:cxn>
                <a:cxn ang="0">
                  <a:pos x="7087" y="1494"/>
                </a:cxn>
                <a:cxn ang="0">
                  <a:pos x="5243" y="1851"/>
                </a:cxn>
                <a:cxn ang="0">
                  <a:pos x="3483" y="2564"/>
                </a:cxn>
                <a:cxn ang="0">
                  <a:pos x="1864" y="3634"/>
                </a:cxn>
                <a:cxn ang="0">
                  <a:pos x="1075" y="4353"/>
                </a:cxn>
                <a:cxn ang="0">
                  <a:pos x="24" y="3353"/>
                </a:cxn>
                <a:cxn ang="0">
                  <a:pos x="516" y="2880"/>
                </a:cxn>
                <a:cxn ang="0">
                  <a:pos x="2325" y="1549"/>
                </a:cxn>
                <a:cxn ang="0">
                  <a:pos x="4312" y="627"/>
                </a:cxn>
                <a:cxn ang="0">
                  <a:pos x="6413" y="115"/>
                </a:cxn>
                <a:cxn ang="0">
                  <a:pos x="8562" y="13"/>
                </a:cxn>
                <a:cxn ang="0">
                  <a:pos x="10694" y="319"/>
                </a:cxn>
                <a:cxn ang="0">
                  <a:pos x="12747" y="1036"/>
                </a:cxn>
                <a:cxn ang="0">
                  <a:pos x="14654" y="2160"/>
                </a:cxn>
                <a:cxn ang="0">
                  <a:pos x="14055" y="5373"/>
                </a:cxn>
                <a:cxn ang="0">
                  <a:pos x="12871" y="6404"/>
                </a:cxn>
                <a:cxn ang="0">
                  <a:pos x="12058" y="5702"/>
                </a:cxn>
                <a:cxn ang="0">
                  <a:pos x="10898" y="5017"/>
                </a:cxn>
                <a:cxn ang="0">
                  <a:pos x="9649" y="4582"/>
                </a:cxn>
                <a:cxn ang="0">
                  <a:pos x="8352" y="4395"/>
                </a:cxn>
                <a:cxn ang="0">
                  <a:pos x="7044" y="4457"/>
                </a:cxn>
                <a:cxn ang="0">
                  <a:pos x="5767" y="4769"/>
                </a:cxn>
                <a:cxn ang="0">
                  <a:pos x="4558" y="5329"/>
                </a:cxn>
                <a:cxn ang="0">
                  <a:pos x="3457" y="6139"/>
                </a:cxn>
                <a:cxn ang="0">
                  <a:pos x="3129" y="6456"/>
                </a:cxn>
                <a:cxn ang="0">
                  <a:pos x="2045" y="5322"/>
                </a:cxn>
                <a:cxn ang="0">
                  <a:pos x="2731" y="4697"/>
                </a:cxn>
                <a:cxn ang="0">
                  <a:pos x="4122" y="3779"/>
                </a:cxn>
                <a:cxn ang="0">
                  <a:pos x="5635" y="3166"/>
                </a:cxn>
                <a:cxn ang="0">
                  <a:pos x="7219" y="2859"/>
                </a:cxn>
                <a:cxn ang="0">
                  <a:pos x="8829" y="2859"/>
                </a:cxn>
                <a:cxn ang="0">
                  <a:pos x="10413" y="3165"/>
                </a:cxn>
                <a:cxn ang="0">
                  <a:pos x="11926" y="3777"/>
                </a:cxn>
                <a:cxn ang="0">
                  <a:pos x="13318" y="4696"/>
                </a:cxn>
                <a:cxn ang="0">
                  <a:pos x="14005" y="5321"/>
                </a:cxn>
                <a:cxn ang="0">
                  <a:pos x="10854" y="8576"/>
                </a:cxn>
                <a:cxn ang="0">
                  <a:pos x="10754" y="8472"/>
                </a:cxn>
                <a:cxn ang="0">
                  <a:pos x="10150" y="7980"/>
                </a:cxn>
                <a:cxn ang="0">
                  <a:pos x="9479" y="7627"/>
                </a:cxn>
                <a:cxn ang="0">
                  <a:pos x="8762" y="7416"/>
                </a:cxn>
                <a:cxn ang="0">
                  <a:pos x="8025" y="7345"/>
                </a:cxn>
                <a:cxn ang="0">
                  <a:pos x="7287" y="7416"/>
                </a:cxn>
                <a:cxn ang="0">
                  <a:pos x="6571" y="7627"/>
                </a:cxn>
                <a:cxn ang="0">
                  <a:pos x="5900" y="7980"/>
                </a:cxn>
                <a:cxn ang="0">
                  <a:pos x="5297" y="8473"/>
                </a:cxn>
                <a:cxn ang="0">
                  <a:pos x="5198" y="8576"/>
                </a:cxn>
                <a:cxn ang="0">
                  <a:pos x="4197" y="7425"/>
                </a:cxn>
                <a:cxn ang="0">
                  <a:pos x="4843" y="6865"/>
                </a:cxn>
                <a:cxn ang="0">
                  <a:pos x="5758" y="6325"/>
                </a:cxn>
                <a:cxn ang="0">
                  <a:pos x="6743" y="5981"/>
                </a:cxn>
                <a:cxn ang="0">
                  <a:pos x="7766" y="5833"/>
                </a:cxn>
                <a:cxn ang="0">
                  <a:pos x="8797" y="5882"/>
                </a:cxn>
                <a:cxn ang="0">
                  <a:pos x="9806" y="6127"/>
                </a:cxn>
                <a:cxn ang="0">
                  <a:pos x="10760" y="6570"/>
                </a:cxn>
                <a:cxn ang="0">
                  <a:pos x="11627" y="7208"/>
                </a:cxn>
                <a:cxn ang="0">
                  <a:pos x="11903" y="7475"/>
                </a:cxn>
              </a:cxnLst>
              <a:rect l="0" t="0" r="r" b="b"/>
              <a:pathLst>
                <a:path w="16050" h="8576">
                  <a:moveTo>
                    <a:pt x="15950" y="3273"/>
                  </a:moveTo>
                  <a:lnTo>
                    <a:pt x="15975" y="3299"/>
                  </a:lnTo>
                  <a:lnTo>
                    <a:pt x="16000" y="3324"/>
                  </a:lnTo>
                  <a:lnTo>
                    <a:pt x="16025" y="3351"/>
                  </a:lnTo>
                  <a:lnTo>
                    <a:pt x="16050" y="3377"/>
                  </a:lnTo>
                  <a:lnTo>
                    <a:pt x="15025" y="4402"/>
                  </a:lnTo>
                  <a:lnTo>
                    <a:pt x="15000" y="4377"/>
                  </a:lnTo>
                  <a:lnTo>
                    <a:pt x="14975" y="4351"/>
                  </a:lnTo>
                  <a:lnTo>
                    <a:pt x="14950" y="4325"/>
                  </a:lnTo>
                  <a:lnTo>
                    <a:pt x="14923" y="4300"/>
                  </a:lnTo>
                  <a:lnTo>
                    <a:pt x="14560" y="3955"/>
                  </a:lnTo>
                  <a:lnTo>
                    <a:pt x="14184" y="3632"/>
                  </a:lnTo>
                  <a:lnTo>
                    <a:pt x="13796" y="3330"/>
                  </a:lnTo>
                  <a:lnTo>
                    <a:pt x="13396" y="3053"/>
                  </a:lnTo>
                  <a:lnTo>
                    <a:pt x="12984" y="2797"/>
                  </a:lnTo>
                  <a:lnTo>
                    <a:pt x="12564" y="2563"/>
                  </a:lnTo>
                  <a:lnTo>
                    <a:pt x="12136" y="2351"/>
                  </a:lnTo>
                  <a:lnTo>
                    <a:pt x="11698" y="2161"/>
                  </a:lnTo>
                  <a:lnTo>
                    <a:pt x="11254" y="1995"/>
                  </a:lnTo>
                  <a:lnTo>
                    <a:pt x="10805" y="1850"/>
                  </a:lnTo>
                  <a:lnTo>
                    <a:pt x="10349" y="1728"/>
                  </a:lnTo>
                  <a:lnTo>
                    <a:pt x="9889" y="1628"/>
                  </a:lnTo>
                  <a:lnTo>
                    <a:pt x="9426" y="1549"/>
                  </a:lnTo>
                  <a:lnTo>
                    <a:pt x="8960" y="1494"/>
                  </a:lnTo>
                  <a:lnTo>
                    <a:pt x="8492" y="1461"/>
                  </a:lnTo>
                  <a:lnTo>
                    <a:pt x="8024" y="1450"/>
                  </a:lnTo>
                  <a:lnTo>
                    <a:pt x="7556" y="1461"/>
                  </a:lnTo>
                  <a:lnTo>
                    <a:pt x="7087" y="1494"/>
                  </a:lnTo>
                  <a:lnTo>
                    <a:pt x="6622" y="1550"/>
                  </a:lnTo>
                  <a:lnTo>
                    <a:pt x="6158" y="1629"/>
                  </a:lnTo>
                  <a:lnTo>
                    <a:pt x="5699" y="1729"/>
                  </a:lnTo>
                  <a:lnTo>
                    <a:pt x="5243" y="1851"/>
                  </a:lnTo>
                  <a:lnTo>
                    <a:pt x="4793" y="1996"/>
                  </a:lnTo>
                  <a:lnTo>
                    <a:pt x="4350" y="2163"/>
                  </a:lnTo>
                  <a:lnTo>
                    <a:pt x="3912" y="2352"/>
                  </a:lnTo>
                  <a:lnTo>
                    <a:pt x="3483" y="2564"/>
                  </a:lnTo>
                  <a:lnTo>
                    <a:pt x="3064" y="2799"/>
                  </a:lnTo>
                  <a:lnTo>
                    <a:pt x="2652" y="3055"/>
                  </a:lnTo>
                  <a:lnTo>
                    <a:pt x="2253" y="3332"/>
                  </a:lnTo>
                  <a:lnTo>
                    <a:pt x="1864" y="3634"/>
                  </a:lnTo>
                  <a:lnTo>
                    <a:pt x="1488" y="3957"/>
                  </a:lnTo>
                  <a:lnTo>
                    <a:pt x="1125" y="4302"/>
                  </a:lnTo>
                  <a:lnTo>
                    <a:pt x="1099" y="4327"/>
                  </a:lnTo>
                  <a:lnTo>
                    <a:pt x="1075" y="4353"/>
                  </a:lnTo>
                  <a:lnTo>
                    <a:pt x="1050" y="4378"/>
                  </a:lnTo>
                  <a:lnTo>
                    <a:pt x="1025" y="4404"/>
                  </a:lnTo>
                  <a:lnTo>
                    <a:pt x="0" y="3378"/>
                  </a:lnTo>
                  <a:lnTo>
                    <a:pt x="24" y="3353"/>
                  </a:lnTo>
                  <a:lnTo>
                    <a:pt x="49" y="3326"/>
                  </a:lnTo>
                  <a:lnTo>
                    <a:pt x="74" y="3301"/>
                  </a:lnTo>
                  <a:lnTo>
                    <a:pt x="99" y="3276"/>
                  </a:lnTo>
                  <a:lnTo>
                    <a:pt x="516" y="2880"/>
                  </a:lnTo>
                  <a:lnTo>
                    <a:pt x="948" y="2509"/>
                  </a:lnTo>
                  <a:lnTo>
                    <a:pt x="1394" y="2162"/>
                  </a:lnTo>
                  <a:lnTo>
                    <a:pt x="1854" y="1843"/>
                  </a:lnTo>
                  <a:lnTo>
                    <a:pt x="2325" y="1549"/>
                  </a:lnTo>
                  <a:lnTo>
                    <a:pt x="2808" y="1280"/>
                  </a:lnTo>
                  <a:lnTo>
                    <a:pt x="3301" y="1037"/>
                  </a:lnTo>
                  <a:lnTo>
                    <a:pt x="3803" y="820"/>
                  </a:lnTo>
                  <a:lnTo>
                    <a:pt x="4312" y="627"/>
                  </a:lnTo>
                  <a:lnTo>
                    <a:pt x="4830" y="461"/>
                  </a:lnTo>
                  <a:lnTo>
                    <a:pt x="5353" y="320"/>
                  </a:lnTo>
                  <a:lnTo>
                    <a:pt x="5881" y="205"/>
                  </a:lnTo>
                  <a:lnTo>
                    <a:pt x="6413" y="115"/>
                  </a:lnTo>
                  <a:lnTo>
                    <a:pt x="6949" y="51"/>
                  </a:lnTo>
                  <a:lnTo>
                    <a:pt x="7485" y="13"/>
                  </a:lnTo>
                  <a:lnTo>
                    <a:pt x="8024" y="0"/>
                  </a:lnTo>
                  <a:lnTo>
                    <a:pt x="8562" y="13"/>
                  </a:lnTo>
                  <a:lnTo>
                    <a:pt x="9099" y="51"/>
                  </a:lnTo>
                  <a:lnTo>
                    <a:pt x="9634" y="115"/>
                  </a:lnTo>
                  <a:lnTo>
                    <a:pt x="10167" y="205"/>
                  </a:lnTo>
                  <a:lnTo>
                    <a:pt x="10694" y="319"/>
                  </a:lnTo>
                  <a:lnTo>
                    <a:pt x="11218" y="460"/>
                  </a:lnTo>
                  <a:lnTo>
                    <a:pt x="11735" y="626"/>
                  </a:lnTo>
                  <a:lnTo>
                    <a:pt x="12245" y="818"/>
                  </a:lnTo>
                  <a:lnTo>
                    <a:pt x="12747" y="1036"/>
                  </a:lnTo>
                  <a:lnTo>
                    <a:pt x="13239" y="1278"/>
                  </a:lnTo>
                  <a:lnTo>
                    <a:pt x="13722" y="1547"/>
                  </a:lnTo>
                  <a:lnTo>
                    <a:pt x="14194" y="1841"/>
                  </a:lnTo>
                  <a:lnTo>
                    <a:pt x="14654" y="2160"/>
                  </a:lnTo>
                  <a:lnTo>
                    <a:pt x="15100" y="2506"/>
                  </a:lnTo>
                  <a:lnTo>
                    <a:pt x="15532" y="2877"/>
                  </a:lnTo>
                  <a:lnTo>
                    <a:pt x="15950" y="3273"/>
                  </a:lnTo>
                  <a:close/>
                  <a:moveTo>
                    <a:pt x="14055" y="5373"/>
                  </a:moveTo>
                  <a:lnTo>
                    <a:pt x="12946" y="6481"/>
                  </a:lnTo>
                  <a:lnTo>
                    <a:pt x="12921" y="6456"/>
                  </a:lnTo>
                  <a:lnTo>
                    <a:pt x="12897" y="6430"/>
                  </a:lnTo>
                  <a:lnTo>
                    <a:pt x="12871" y="6404"/>
                  </a:lnTo>
                  <a:lnTo>
                    <a:pt x="12846" y="6379"/>
                  </a:lnTo>
                  <a:lnTo>
                    <a:pt x="12592" y="6137"/>
                  </a:lnTo>
                  <a:lnTo>
                    <a:pt x="12329" y="5912"/>
                  </a:lnTo>
                  <a:lnTo>
                    <a:pt x="12058" y="5702"/>
                  </a:lnTo>
                  <a:lnTo>
                    <a:pt x="11778" y="5507"/>
                  </a:lnTo>
                  <a:lnTo>
                    <a:pt x="11491" y="5328"/>
                  </a:lnTo>
                  <a:lnTo>
                    <a:pt x="11198" y="5165"/>
                  </a:lnTo>
                  <a:lnTo>
                    <a:pt x="10898" y="5017"/>
                  </a:lnTo>
                  <a:lnTo>
                    <a:pt x="10592" y="4885"/>
                  </a:lnTo>
                  <a:lnTo>
                    <a:pt x="10282" y="4768"/>
                  </a:lnTo>
                  <a:lnTo>
                    <a:pt x="9967" y="4667"/>
                  </a:lnTo>
                  <a:lnTo>
                    <a:pt x="9649" y="4582"/>
                  </a:lnTo>
                  <a:lnTo>
                    <a:pt x="9328" y="4512"/>
                  </a:lnTo>
                  <a:lnTo>
                    <a:pt x="9004" y="4457"/>
                  </a:lnTo>
                  <a:lnTo>
                    <a:pt x="8679" y="4418"/>
                  </a:lnTo>
                  <a:lnTo>
                    <a:pt x="8352" y="4395"/>
                  </a:lnTo>
                  <a:lnTo>
                    <a:pt x="8024" y="4387"/>
                  </a:lnTo>
                  <a:lnTo>
                    <a:pt x="7697" y="4395"/>
                  </a:lnTo>
                  <a:lnTo>
                    <a:pt x="7370" y="4418"/>
                  </a:lnTo>
                  <a:lnTo>
                    <a:pt x="7044" y="4457"/>
                  </a:lnTo>
                  <a:lnTo>
                    <a:pt x="6721" y="4512"/>
                  </a:lnTo>
                  <a:lnTo>
                    <a:pt x="6399" y="4582"/>
                  </a:lnTo>
                  <a:lnTo>
                    <a:pt x="6081" y="4668"/>
                  </a:lnTo>
                  <a:lnTo>
                    <a:pt x="5767" y="4769"/>
                  </a:lnTo>
                  <a:lnTo>
                    <a:pt x="5457" y="4886"/>
                  </a:lnTo>
                  <a:lnTo>
                    <a:pt x="5151" y="5018"/>
                  </a:lnTo>
                  <a:lnTo>
                    <a:pt x="4851" y="5166"/>
                  </a:lnTo>
                  <a:lnTo>
                    <a:pt x="4558" y="5329"/>
                  </a:lnTo>
                  <a:lnTo>
                    <a:pt x="4271" y="5509"/>
                  </a:lnTo>
                  <a:lnTo>
                    <a:pt x="3991" y="5703"/>
                  </a:lnTo>
                  <a:lnTo>
                    <a:pt x="3720" y="5913"/>
                  </a:lnTo>
                  <a:lnTo>
                    <a:pt x="3457" y="6139"/>
                  </a:lnTo>
                  <a:lnTo>
                    <a:pt x="3203" y="6380"/>
                  </a:lnTo>
                  <a:lnTo>
                    <a:pt x="3178" y="6406"/>
                  </a:lnTo>
                  <a:lnTo>
                    <a:pt x="3154" y="6431"/>
                  </a:lnTo>
                  <a:lnTo>
                    <a:pt x="3129" y="6456"/>
                  </a:lnTo>
                  <a:lnTo>
                    <a:pt x="3104" y="6482"/>
                  </a:lnTo>
                  <a:lnTo>
                    <a:pt x="1996" y="5374"/>
                  </a:lnTo>
                  <a:lnTo>
                    <a:pt x="2020" y="5348"/>
                  </a:lnTo>
                  <a:lnTo>
                    <a:pt x="2045" y="5322"/>
                  </a:lnTo>
                  <a:lnTo>
                    <a:pt x="2069" y="5297"/>
                  </a:lnTo>
                  <a:lnTo>
                    <a:pt x="2095" y="5272"/>
                  </a:lnTo>
                  <a:lnTo>
                    <a:pt x="2406" y="4975"/>
                  </a:lnTo>
                  <a:lnTo>
                    <a:pt x="2731" y="4697"/>
                  </a:lnTo>
                  <a:lnTo>
                    <a:pt x="3065" y="4439"/>
                  </a:lnTo>
                  <a:lnTo>
                    <a:pt x="3408" y="4199"/>
                  </a:lnTo>
                  <a:lnTo>
                    <a:pt x="3761" y="3980"/>
                  </a:lnTo>
                  <a:lnTo>
                    <a:pt x="4122" y="3779"/>
                  </a:lnTo>
                  <a:lnTo>
                    <a:pt x="4491" y="3596"/>
                  </a:lnTo>
                  <a:lnTo>
                    <a:pt x="4866" y="3434"/>
                  </a:lnTo>
                  <a:lnTo>
                    <a:pt x="5247" y="3290"/>
                  </a:lnTo>
                  <a:lnTo>
                    <a:pt x="5635" y="3166"/>
                  </a:lnTo>
                  <a:lnTo>
                    <a:pt x="6026" y="3061"/>
                  </a:lnTo>
                  <a:lnTo>
                    <a:pt x="6421" y="2974"/>
                  </a:lnTo>
                  <a:lnTo>
                    <a:pt x="6819" y="2907"/>
                  </a:lnTo>
                  <a:lnTo>
                    <a:pt x="7219" y="2859"/>
                  </a:lnTo>
                  <a:lnTo>
                    <a:pt x="7622" y="2831"/>
                  </a:lnTo>
                  <a:lnTo>
                    <a:pt x="8024" y="2821"/>
                  </a:lnTo>
                  <a:lnTo>
                    <a:pt x="8427" y="2831"/>
                  </a:lnTo>
                  <a:lnTo>
                    <a:pt x="8829" y="2859"/>
                  </a:lnTo>
                  <a:lnTo>
                    <a:pt x="9229" y="2907"/>
                  </a:lnTo>
                  <a:lnTo>
                    <a:pt x="9627" y="2973"/>
                  </a:lnTo>
                  <a:lnTo>
                    <a:pt x="10022" y="3060"/>
                  </a:lnTo>
                  <a:lnTo>
                    <a:pt x="10413" y="3165"/>
                  </a:lnTo>
                  <a:lnTo>
                    <a:pt x="10801" y="3289"/>
                  </a:lnTo>
                  <a:lnTo>
                    <a:pt x="11182" y="3433"/>
                  </a:lnTo>
                  <a:lnTo>
                    <a:pt x="11558" y="3595"/>
                  </a:lnTo>
                  <a:lnTo>
                    <a:pt x="11926" y="3777"/>
                  </a:lnTo>
                  <a:lnTo>
                    <a:pt x="12287" y="3978"/>
                  </a:lnTo>
                  <a:lnTo>
                    <a:pt x="12640" y="4198"/>
                  </a:lnTo>
                  <a:lnTo>
                    <a:pt x="12984" y="4437"/>
                  </a:lnTo>
                  <a:lnTo>
                    <a:pt x="13318" y="4696"/>
                  </a:lnTo>
                  <a:lnTo>
                    <a:pt x="13641" y="4973"/>
                  </a:lnTo>
                  <a:lnTo>
                    <a:pt x="13954" y="5270"/>
                  </a:lnTo>
                  <a:lnTo>
                    <a:pt x="13980" y="5295"/>
                  </a:lnTo>
                  <a:lnTo>
                    <a:pt x="14005" y="5321"/>
                  </a:lnTo>
                  <a:lnTo>
                    <a:pt x="14030" y="5347"/>
                  </a:lnTo>
                  <a:lnTo>
                    <a:pt x="14055" y="5373"/>
                  </a:lnTo>
                  <a:close/>
                  <a:moveTo>
                    <a:pt x="11928" y="7501"/>
                  </a:moveTo>
                  <a:lnTo>
                    <a:pt x="10854" y="8576"/>
                  </a:lnTo>
                  <a:lnTo>
                    <a:pt x="10829" y="8549"/>
                  </a:lnTo>
                  <a:lnTo>
                    <a:pt x="10805" y="8523"/>
                  </a:lnTo>
                  <a:lnTo>
                    <a:pt x="10780" y="8498"/>
                  </a:lnTo>
                  <a:lnTo>
                    <a:pt x="10754" y="8472"/>
                  </a:lnTo>
                  <a:lnTo>
                    <a:pt x="10610" y="8336"/>
                  </a:lnTo>
                  <a:lnTo>
                    <a:pt x="10462" y="8208"/>
                  </a:lnTo>
                  <a:lnTo>
                    <a:pt x="10307" y="8089"/>
                  </a:lnTo>
                  <a:lnTo>
                    <a:pt x="10150" y="7980"/>
                  </a:lnTo>
                  <a:lnTo>
                    <a:pt x="9987" y="7878"/>
                  </a:lnTo>
                  <a:lnTo>
                    <a:pt x="9821" y="7785"/>
                  </a:lnTo>
                  <a:lnTo>
                    <a:pt x="9651" y="7702"/>
                  </a:lnTo>
                  <a:lnTo>
                    <a:pt x="9479" y="7627"/>
                  </a:lnTo>
                  <a:lnTo>
                    <a:pt x="9303" y="7561"/>
                  </a:lnTo>
                  <a:lnTo>
                    <a:pt x="9124" y="7504"/>
                  </a:lnTo>
                  <a:lnTo>
                    <a:pt x="8945" y="7456"/>
                  </a:lnTo>
                  <a:lnTo>
                    <a:pt x="8762" y="7416"/>
                  </a:lnTo>
                  <a:lnTo>
                    <a:pt x="8580" y="7384"/>
                  </a:lnTo>
                  <a:lnTo>
                    <a:pt x="8395" y="7362"/>
                  </a:lnTo>
                  <a:lnTo>
                    <a:pt x="8210" y="7349"/>
                  </a:lnTo>
                  <a:lnTo>
                    <a:pt x="8025" y="7345"/>
                  </a:lnTo>
                  <a:lnTo>
                    <a:pt x="7839" y="7349"/>
                  </a:lnTo>
                  <a:lnTo>
                    <a:pt x="7655" y="7363"/>
                  </a:lnTo>
                  <a:lnTo>
                    <a:pt x="7470" y="7385"/>
                  </a:lnTo>
                  <a:lnTo>
                    <a:pt x="7287" y="7416"/>
                  </a:lnTo>
                  <a:lnTo>
                    <a:pt x="7105" y="7456"/>
                  </a:lnTo>
                  <a:lnTo>
                    <a:pt x="6926" y="7504"/>
                  </a:lnTo>
                  <a:lnTo>
                    <a:pt x="6747" y="7561"/>
                  </a:lnTo>
                  <a:lnTo>
                    <a:pt x="6571" y="7627"/>
                  </a:lnTo>
                  <a:lnTo>
                    <a:pt x="6399" y="7703"/>
                  </a:lnTo>
                  <a:lnTo>
                    <a:pt x="6229" y="7786"/>
                  </a:lnTo>
                  <a:lnTo>
                    <a:pt x="6063" y="7878"/>
                  </a:lnTo>
                  <a:lnTo>
                    <a:pt x="5900" y="7980"/>
                  </a:lnTo>
                  <a:lnTo>
                    <a:pt x="5742" y="8090"/>
                  </a:lnTo>
                  <a:lnTo>
                    <a:pt x="5588" y="8209"/>
                  </a:lnTo>
                  <a:lnTo>
                    <a:pt x="5440" y="8337"/>
                  </a:lnTo>
                  <a:lnTo>
                    <a:pt x="5297" y="8473"/>
                  </a:lnTo>
                  <a:lnTo>
                    <a:pt x="5271" y="8498"/>
                  </a:lnTo>
                  <a:lnTo>
                    <a:pt x="5246" y="8524"/>
                  </a:lnTo>
                  <a:lnTo>
                    <a:pt x="5222" y="8550"/>
                  </a:lnTo>
                  <a:lnTo>
                    <a:pt x="5198" y="8576"/>
                  </a:lnTo>
                  <a:lnTo>
                    <a:pt x="4123" y="7501"/>
                  </a:lnTo>
                  <a:lnTo>
                    <a:pt x="4147" y="7476"/>
                  </a:lnTo>
                  <a:lnTo>
                    <a:pt x="4172" y="7450"/>
                  </a:lnTo>
                  <a:lnTo>
                    <a:pt x="4197" y="7425"/>
                  </a:lnTo>
                  <a:lnTo>
                    <a:pt x="4222" y="7399"/>
                  </a:lnTo>
                  <a:lnTo>
                    <a:pt x="4422" y="7209"/>
                  </a:lnTo>
                  <a:lnTo>
                    <a:pt x="4629" y="7030"/>
                  </a:lnTo>
                  <a:lnTo>
                    <a:pt x="4843" y="6865"/>
                  </a:lnTo>
                  <a:lnTo>
                    <a:pt x="5064" y="6711"/>
                  </a:lnTo>
                  <a:lnTo>
                    <a:pt x="5290" y="6571"/>
                  </a:lnTo>
                  <a:lnTo>
                    <a:pt x="5522" y="6441"/>
                  </a:lnTo>
                  <a:lnTo>
                    <a:pt x="5758" y="6325"/>
                  </a:lnTo>
                  <a:lnTo>
                    <a:pt x="6000" y="6220"/>
                  </a:lnTo>
                  <a:lnTo>
                    <a:pt x="6243" y="6128"/>
                  </a:lnTo>
                  <a:lnTo>
                    <a:pt x="6492" y="6048"/>
                  </a:lnTo>
                  <a:lnTo>
                    <a:pt x="6743" y="5981"/>
                  </a:lnTo>
                  <a:lnTo>
                    <a:pt x="6997" y="5925"/>
                  </a:lnTo>
                  <a:lnTo>
                    <a:pt x="7252" y="5882"/>
                  </a:lnTo>
                  <a:lnTo>
                    <a:pt x="7508" y="5851"/>
                  </a:lnTo>
                  <a:lnTo>
                    <a:pt x="7766" y="5833"/>
                  </a:lnTo>
                  <a:lnTo>
                    <a:pt x="8025" y="5827"/>
                  </a:lnTo>
                  <a:lnTo>
                    <a:pt x="8283" y="5833"/>
                  </a:lnTo>
                  <a:lnTo>
                    <a:pt x="8541" y="5851"/>
                  </a:lnTo>
                  <a:lnTo>
                    <a:pt x="8797" y="5882"/>
                  </a:lnTo>
                  <a:lnTo>
                    <a:pt x="9053" y="5925"/>
                  </a:lnTo>
                  <a:lnTo>
                    <a:pt x="9306" y="5981"/>
                  </a:lnTo>
                  <a:lnTo>
                    <a:pt x="9557" y="6048"/>
                  </a:lnTo>
                  <a:lnTo>
                    <a:pt x="9806" y="6127"/>
                  </a:lnTo>
                  <a:lnTo>
                    <a:pt x="10050" y="6219"/>
                  </a:lnTo>
                  <a:lnTo>
                    <a:pt x="10291" y="6324"/>
                  </a:lnTo>
                  <a:lnTo>
                    <a:pt x="10528" y="6440"/>
                  </a:lnTo>
                  <a:lnTo>
                    <a:pt x="10760" y="6570"/>
                  </a:lnTo>
                  <a:lnTo>
                    <a:pt x="10985" y="6710"/>
                  </a:lnTo>
                  <a:lnTo>
                    <a:pt x="11206" y="6864"/>
                  </a:lnTo>
                  <a:lnTo>
                    <a:pt x="11421" y="7029"/>
                  </a:lnTo>
                  <a:lnTo>
                    <a:pt x="11627" y="7208"/>
                  </a:lnTo>
                  <a:lnTo>
                    <a:pt x="11828" y="7398"/>
                  </a:lnTo>
                  <a:lnTo>
                    <a:pt x="11853" y="7424"/>
                  </a:lnTo>
                  <a:lnTo>
                    <a:pt x="11878" y="7449"/>
                  </a:lnTo>
                  <a:lnTo>
                    <a:pt x="11903" y="7475"/>
                  </a:lnTo>
                  <a:lnTo>
                    <a:pt x="11928" y="7501"/>
                  </a:lnTo>
                  <a:close/>
                </a:path>
              </a:pathLst>
            </a:custGeom>
            <a:grpFill/>
            <a:ln w="9525">
              <a:noFill/>
              <a:round/>
              <a:headEnd/>
              <a:tailEnd/>
            </a:ln>
          </p:spPr>
          <p:txBody>
            <a:bodyPr/>
            <a:lstStyle/>
            <a:p>
              <a:pPr algn="ctr" eaLnBrk="1" fontAlgn="auto" hangingPunct="1">
                <a:spcBef>
                  <a:spcPts val="0"/>
                </a:spcBef>
                <a:spcAft>
                  <a:spcPts val="0"/>
                </a:spcAft>
                <a:defRPr/>
              </a:pPr>
              <a:endParaRPr lang="zh-CN" altLang="en-US" sz="1200" ker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4" name="任意多边形 3"/>
          <p:cNvSpPr/>
          <p:nvPr/>
        </p:nvSpPr>
        <p:spPr bwMode="gray">
          <a:xfrm>
            <a:off x="6267150" y="2931552"/>
            <a:ext cx="1753008" cy="2318602"/>
          </a:xfrm>
          <a:custGeom>
            <a:avLst/>
            <a:gdLst>
              <a:gd name="connsiteX0" fmla="*/ 1676700 w 1753008"/>
              <a:gd name="connsiteY0" fmla="*/ 2409825 h 2409825"/>
              <a:gd name="connsiteX1" fmla="*/ 1657650 w 1753008"/>
              <a:gd name="connsiteY1" fmla="*/ 1828800 h 2409825"/>
              <a:gd name="connsiteX2" fmla="*/ 733725 w 1753008"/>
              <a:gd name="connsiteY2" fmla="*/ 1724025 h 2409825"/>
              <a:gd name="connsiteX3" fmla="*/ 724200 w 1753008"/>
              <a:gd name="connsiteY3" fmla="*/ 1104900 h 2409825"/>
              <a:gd name="connsiteX4" fmla="*/ 300 w 1753008"/>
              <a:gd name="connsiteY4" fmla="*/ 276225 h 2409825"/>
              <a:gd name="connsiteX5" fmla="*/ 819450 w 1753008"/>
              <a:gd name="connsiteY5" fmla="*/ 0 h 2409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53008" h="2409825">
                <a:moveTo>
                  <a:pt x="1676700" y="2409825"/>
                </a:moveTo>
                <a:cubicBezTo>
                  <a:pt x="1745756" y="2176462"/>
                  <a:pt x="1814813" y="1943100"/>
                  <a:pt x="1657650" y="1828800"/>
                </a:cubicBezTo>
                <a:cubicBezTo>
                  <a:pt x="1500487" y="1714500"/>
                  <a:pt x="889300" y="1844675"/>
                  <a:pt x="733725" y="1724025"/>
                </a:cubicBezTo>
                <a:cubicBezTo>
                  <a:pt x="578150" y="1603375"/>
                  <a:pt x="846437" y="1346200"/>
                  <a:pt x="724200" y="1104900"/>
                </a:cubicBezTo>
                <a:cubicBezTo>
                  <a:pt x="601963" y="863600"/>
                  <a:pt x="-15575" y="460375"/>
                  <a:pt x="300" y="276225"/>
                </a:cubicBezTo>
                <a:cubicBezTo>
                  <a:pt x="16175" y="92075"/>
                  <a:pt x="417812" y="46037"/>
                  <a:pt x="819450" y="0"/>
                </a:cubicBezTo>
              </a:path>
            </a:pathLst>
          </a:custGeom>
          <a:noFill/>
          <a:ln w="28575">
            <a:solidFill>
              <a:srgbClr val="C7000B"/>
            </a:solidFill>
            <a:prstDash val="dashDot"/>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p>
        </p:txBody>
      </p:sp>
      <p:pic>
        <p:nvPicPr>
          <p:cNvPr id="56" name="图片 55" descr="PC.png">
            <a:extLst>
              <a:ext uri="{FF2B5EF4-FFF2-40B4-BE49-F238E27FC236}">
                <a16:creationId xmlns="" xmlns:a16="http://schemas.microsoft.com/office/drawing/2014/main" id="{4666702E-823D-4236-BF2F-880359158C83}"/>
              </a:ext>
            </a:extLst>
          </p:cNvPr>
          <p:cNvPicPr>
            <a:picLocks noChangeAspect="1"/>
          </p:cNvPicPr>
          <p:nvPr/>
        </p:nvPicPr>
        <p:blipFill>
          <a:blip r:embed="rId8" cstate="print"/>
          <a:stretch>
            <a:fillRect/>
          </a:stretch>
        </p:blipFill>
        <p:spPr bwMode="gray">
          <a:xfrm>
            <a:off x="5660714" y="5270232"/>
            <a:ext cx="445506" cy="342149"/>
          </a:xfrm>
          <a:prstGeom prst="rect">
            <a:avLst/>
          </a:prstGeom>
        </p:spPr>
      </p:pic>
      <p:sp>
        <p:nvSpPr>
          <p:cNvPr id="57" name="文本框 56"/>
          <p:cNvSpPr txBox="1"/>
          <p:nvPr/>
        </p:nvSpPr>
        <p:spPr bwMode="gray">
          <a:xfrm>
            <a:off x="5401603" y="5598524"/>
            <a:ext cx="963725" cy="461665"/>
          </a:xfrm>
          <a:prstGeom prst="rect">
            <a:avLst/>
          </a:prstGeom>
          <a:noFill/>
        </p:spPr>
        <p:txBody>
          <a:bodyPr wrap="none" rtlCol="0">
            <a:spAutoFit/>
          </a:bodyPr>
          <a:lstStyle/>
          <a:p>
            <a:pPr algn="ctr"/>
            <a:r>
              <a:rPr lang="en-US" altLang="zh-CN" sz="1200" b="1" dirty="0">
                <a:latin typeface="Huawei Sans" panose="020C0503030203020204" pitchFamily="34" charset="0"/>
                <a:ea typeface="方正兰亭黑简体" panose="02000000000000000000" pitchFamily="2" charset="-122"/>
                <a:cs typeface="Huawei Sans" panose="020C0503030203020204" pitchFamily="34" charset="0"/>
              </a:rPr>
              <a:t>RD</a:t>
            </a:r>
            <a:endParaRPr lang="en-US" altLang="zh-CN" sz="1200" b="1" dirty="0" smtClean="0">
              <a:latin typeface="Huawei Sans" panose="020C0503030203020204" pitchFamily="34" charset="0"/>
              <a:ea typeface="方正兰亭黑简体" panose="02000000000000000000" pitchFamily="2" charset="-122"/>
              <a:cs typeface="Huawei Sans" panose="020C0503030203020204" pitchFamily="34" charset="0"/>
            </a:endParaRPr>
          </a:p>
          <a:p>
            <a:pPr algn="ctr"/>
            <a:r>
              <a:rPr lang="zh-CN" altLang="en-US" sz="1200" dirty="0">
                <a:latin typeface="Huawei Sans" panose="020C0503030203020204" pitchFamily="34" charset="0"/>
                <a:ea typeface="方正兰亭黑简体" panose="02000000000000000000" pitchFamily="2" charset="-122"/>
                <a:cs typeface="Huawei Sans" panose="020C0503030203020204" pitchFamily="34" charset="0"/>
              </a:rPr>
              <a:t>（</a:t>
            </a: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802.1X</a:t>
            </a:r>
            <a:r>
              <a:rPr lang="zh-CN" altLang="en-US" sz="1200" dirty="0" smtClean="0">
                <a:latin typeface="Huawei Sans" panose="020C0503030203020204" pitchFamily="34" charset="0"/>
                <a:ea typeface="方正兰亭黑简体" panose="02000000000000000000" pitchFamily="2" charset="-122"/>
                <a:cs typeface="Huawei Sans" panose="020C0503030203020204" pitchFamily="34" charset="0"/>
              </a:rPr>
              <a:t>）</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pic>
        <p:nvPicPr>
          <p:cNvPr id="58" name="图片 57" descr="PC.png">
            <a:extLst>
              <a:ext uri="{FF2B5EF4-FFF2-40B4-BE49-F238E27FC236}">
                <a16:creationId xmlns="" xmlns:a16="http://schemas.microsoft.com/office/drawing/2014/main" id="{4666702E-823D-4236-BF2F-880359158C83}"/>
              </a:ext>
            </a:extLst>
          </p:cNvPr>
          <p:cNvPicPr>
            <a:picLocks noChangeAspect="1"/>
          </p:cNvPicPr>
          <p:nvPr/>
        </p:nvPicPr>
        <p:blipFill>
          <a:blip r:embed="rId8" cstate="print"/>
          <a:stretch>
            <a:fillRect/>
          </a:stretch>
        </p:blipFill>
        <p:spPr bwMode="gray">
          <a:xfrm>
            <a:off x="3878273" y="5265882"/>
            <a:ext cx="445506" cy="342149"/>
          </a:xfrm>
          <a:prstGeom prst="rect">
            <a:avLst/>
          </a:prstGeom>
        </p:spPr>
      </p:pic>
      <p:sp>
        <p:nvSpPr>
          <p:cNvPr id="59" name="文本框 58"/>
          <p:cNvSpPr txBox="1"/>
          <p:nvPr/>
        </p:nvSpPr>
        <p:spPr bwMode="gray">
          <a:xfrm>
            <a:off x="3619166" y="5594174"/>
            <a:ext cx="963725" cy="646331"/>
          </a:xfrm>
          <a:prstGeom prst="rect">
            <a:avLst/>
          </a:prstGeom>
          <a:noFill/>
        </p:spPr>
        <p:txBody>
          <a:bodyPr wrap="none" rtlCol="0">
            <a:spAutoFit/>
          </a:bodyPr>
          <a:lstStyle/>
          <a:p>
            <a:pPr algn="ctr"/>
            <a:r>
              <a:rPr lang="en-US" altLang="zh-CN" sz="1200" b="1" dirty="0">
                <a:latin typeface="Huawei Sans" panose="020C0503030203020204" pitchFamily="34" charset="0"/>
                <a:ea typeface="方正兰亭黑简体" panose="02000000000000000000" pitchFamily="2" charset="-122"/>
                <a:cs typeface="Huawei Sans" panose="020C0503030203020204" pitchFamily="34" charset="0"/>
              </a:rPr>
              <a:t>Sales</a:t>
            </a:r>
            <a:r>
              <a:rPr lang="en-US" altLang="zh-CN" sz="1200" b="1" dirty="0" smtClean="0">
                <a:latin typeface="Huawei Sans" panose="020C0503030203020204" pitchFamily="34" charset="0"/>
                <a:ea typeface="方正兰亭黑简体" panose="02000000000000000000" pitchFamily="2" charset="-122"/>
                <a:cs typeface="Huawei Sans" panose="020C0503030203020204" pitchFamily="34" charset="0"/>
              </a:rPr>
              <a:t>_</a:t>
            </a:r>
          </a:p>
          <a:p>
            <a:pPr algn="ctr"/>
            <a:r>
              <a:rPr lang="en-US" altLang="zh-CN" sz="1200" b="1" dirty="0" smtClean="0">
                <a:latin typeface="Huawei Sans" panose="020C0503030203020204" pitchFamily="34" charset="0"/>
                <a:ea typeface="方正兰亭黑简体" panose="02000000000000000000" pitchFamily="2" charset="-122"/>
                <a:cs typeface="Huawei Sans" panose="020C0503030203020204" pitchFamily="34" charset="0"/>
              </a:rPr>
              <a:t>Wired</a:t>
            </a:r>
          </a:p>
          <a:p>
            <a:pPr algn="ctr"/>
            <a:r>
              <a:rPr lang="zh-CN" altLang="en-US" sz="1200" dirty="0" smtClean="0">
                <a:latin typeface="Huawei Sans" panose="020C0503030203020204" pitchFamily="34" charset="0"/>
                <a:ea typeface="方正兰亭黑简体" panose="02000000000000000000" pitchFamily="2" charset="-122"/>
                <a:cs typeface="Huawei Sans" panose="020C0503030203020204" pitchFamily="34" charset="0"/>
              </a:rPr>
              <a:t>（</a:t>
            </a:r>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802.1X</a:t>
            </a:r>
            <a:r>
              <a:rPr lang="zh-CN" altLang="en-US" sz="1200" dirty="0" smtClean="0">
                <a:latin typeface="Huawei Sans" panose="020C0503030203020204" pitchFamily="34" charset="0"/>
                <a:ea typeface="方正兰亭黑简体" panose="02000000000000000000" pitchFamily="2" charset="-122"/>
                <a:cs typeface="Huawei Sans" panose="020C0503030203020204" pitchFamily="34" charset="0"/>
              </a:rPr>
              <a:t>）</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pic>
        <p:nvPicPr>
          <p:cNvPr id="60" name="图片 14" descr="日志告警服务器-蓝.png"/>
          <p:cNvPicPr>
            <a:picLocks noChangeAspect="1"/>
          </p:cNvPicPr>
          <p:nvPr/>
        </p:nvPicPr>
        <p:blipFill>
          <a:blip r:embed="rId9" cstate="print"/>
          <a:stretch>
            <a:fillRect/>
          </a:stretch>
        </p:blipFill>
        <p:spPr bwMode="gray">
          <a:xfrm>
            <a:off x="7315814" y="5303509"/>
            <a:ext cx="445956" cy="278465"/>
          </a:xfrm>
          <a:prstGeom prst="rect">
            <a:avLst/>
          </a:prstGeom>
        </p:spPr>
      </p:pic>
      <p:sp>
        <p:nvSpPr>
          <p:cNvPr id="61" name="文本框 60"/>
          <p:cNvSpPr txBox="1"/>
          <p:nvPr/>
        </p:nvSpPr>
        <p:spPr bwMode="gray">
          <a:xfrm>
            <a:off x="7083102" y="5594174"/>
            <a:ext cx="909224" cy="646331"/>
          </a:xfrm>
          <a:prstGeom prst="rect">
            <a:avLst/>
          </a:prstGeom>
          <a:noFill/>
        </p:spPr>
        <p:txBody>
          <a:bodyPr wrap="none" rtlCol="0">
            <a:spAutoFit/>
          </a:bodyPr>
          <a:lstStyle/>
          <a:p>
            <a:pPr algn="ctr"/>
            <a:r>
              <a:rPr lang="en-US" altLang="zh-CN" sz="1200" b="1" dirty="0">
                <a:latin typeface="Huawei Sans" panose="020C0503030203020204" pitchFamily="34" charset="0"/>
                <a:ea typeface="方正兰亭黑简体" panose="02000000000000000000" pitchFamily="2" charset="-122"/>
                <a:cs typeface="Huawei Sans" panose="020C0503030203020204" pitchFamily="34" charset="0"/>
              </a:rPr>
              <a:t>Sales</a:t>
            </a:r>
            <a:r>
              <a:rPr lang="en-US" altLang="zh-CN" sz="1200" b="1" dirty="0" smtClean="0">
                <a:latin typeface="Huawei Sans" panose="020C0503030203020204" pitchFamily="34" charset="0"/>
                <a:ea typeface="方正兰亭黑简体" panose="02000000000000000000" pitchFamily="2" charset="-122"/>
                <a:cs typeface="Huawei Sans" panose="020C0503030203020204" pitchFamily="34" charset="0"/>
              </a:rPr>
              <a:t>_</a:t>
            </a:r>
          </a:p>
          <a:p>
            <a:pPr algn="ctr"/>
            <a:r>
              <a:rPr lang="en-US" altLang="zh-CN" sz="1200" b="1" dirty="0" smtClean="0">
                <a:latin typeface="Huawei Sans" panose="020C0503030203020204" pitchFamily="34" charset="0"/>
                <a:ea typeface="方正兰亭黑简体" panose="02000000000000000000" pitchFamily="2" charset="-122"/>
                <a:cs typeface="Huawei Sans" panose="020C0503030203020204" pitchFamily="34" charset="0"/>
              </a:rPr>
              <a:t>Wireless</a:t>
            </a:r>
          </a:p>
          <a:p>
            <a:pPr algn="ctr"/>
            <a:r>
              <a:rPr lang="zh-CN" altLang="en-US" sz="1200" dirty="0" smtClean="0">
                <a:latin typeface="Huawei Sans" panose="020C0503030203020204" pitchFamily="34" charset="0"/>
                <a:ea typeface="方正兰亭黑简体" panose="02000000000000000000" pitchFamily="2" charset="-122"/>
                <a:cs typeface="Huawei Sans" panose="020C0503030203020204" pitchFamily="34" charset="0"/>
              </a:rPr>
              <a:t>（</a:t>
            </a:r>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Portal</a:t>
            </a:r>
            <a:r>
              <a:rPr lang="zh-CN" altLang="en-US" sz="1200" dirty="0">
                <a:latin typeface="Huawei Sans" panose="020C0503030203020204" pitchFamily="34" charset="0"/>
                <a:ea typeface="方正兰亭黑简体" panose="02000000000000000000" pitchFamily="2" charset="-122"/>
                <a:cs typeface="Huawei Sans" panose="020C0503030203020204" pitchFamily="34" charset="0"/>
              </a:rPr>
              <a:t>）</a:t>
            </a:r>
          </a:p>
        </p:txBody>
      </p:sp>
      <p:pic>
        <p:nvPicPr>
          <p:cNvPr id="62" name="图片 61" descr="PC.png">
            <a:extLst>
              <a:ext uri="{FF2B5EF4-FFF2-40B4-BE49-F238E27FC236}">
                <a16:creationId xmlns="" xmlns:a16="http://schemas.microsoft.com/office/drawing/2014/main" id="{4666702E-823D-4236-BF2F-880359158C83}"/>
              </a:ext>
            </a:extLst>
          </p:cNvPr>
          <p:cNvPicPr>
            <a:picLocks noChangeAspect="1"/>
          </p:cNvPicPr>
          <p:nvPr/>
        </p:nvPicPr>
        <p:blipFill>
          <a:blip r:embed="rId8" cstate="print"/>
          <a:stretch>
            <a:fillRect/>
          </a:stretch>
        </p:blipFill>
        <p:spPr bwMode="gray">
          <a:xfrm>
            <a:off x="4790125" y="5265882"/>
            <a:ext cx="445506" cy="342149"/>
          </a:xfrm>
          <a:prstGeom prst="rect">
            <a:avLst/>
          </a:prstGeom>
        </p:spPr>
      </p:pic>
      <p:sp>
        <p:nvSpPr>
          <p:cNvPr id="63" name="文本框 62"/>
          <p:cNvSpPr txBox="1"/>
          <p:nvPr/>
        </p:nvSpPr>
        <p:spPr bwMode="gray">
          <a:xfrm>
            <a:off x="4531016" y="5594174"/>
            <a:ext cx="963725" cy="646331"/>
          </a:xfrm>
          <a:prstGeom prst="rect">
            <a:avLst/>
          </a:prstGeom>
          <a:noFill/>
        </p:spPr>
        <p:txBody>
          <a:bodyPr wrap="none" rtlCol="0">
            <a:spAutoFit/>
          </a:bodyPr>
          <a:lstStyle/>
          <a:p>
            <a:pPr algn="ctr"/>
            <a:r>
              <a:rPr lang="en-US" altLang="zh-CN" sz="1200" b="1" dirty="0">
                <a:latin typeface="Huawei Sans" panose="020C0503030203020204" pitchFamily="34" charset="0"/>
                <a:ea typeface="方正兰亭黑简体" panose="02000000000000000000" pitchFamily="2" charset="-122"/>
                <a:cs typeface="Huawei Sans" panose="020C0503030203020204" pitchFamily="34" charset="0"/>
              </a:rPr>
              <a:t>Market</a:t>
            </a:r>
            <a:r>
              <a:rPr lang="en-US" altLang="zh-CN" sz="1200" b="1" dirty="0" smtClean="0">
                <a:latin typeface="Huawei Sans" panose="020C0503030203020204" pitchFamily="34" charset="0"/>
                <a:ea typeface="方正兰亭黑简体" panose="02000000000000000000" pitchFamily="2" charset="-122"/>
                <a:cs typeface="Huawei Sans" panose="020C0503030203020204" pitchFamily="34" charset="0"/>
              </a:rPr>
              <a:t>_</a:t>
            </a:r>
          </a:p>
          <a:p>
            <a:pPr algn="ctr"/>
            <a:r>
              <a:rPr lang="en-US" altLang="zh-CN" sz="1200" b="1" dirty="0" smtClean="0">
                <a:latin typeface="Huawei Sans" panose="020C0503030203020204" pitchFamily="34" charset="0"/>
                <a:ea typeface="方正兰亭黑简体" panose="02000000000000000000" pitchFamily="2" charset="-122"/>
                <a:cs typeface="Huawei Sans" panose="020C0503030203020204" pitchFamily="34" charset="0"/>
              </a:rPr>
              <a:t>Wired</a:t>
            </a:r>
          </a:p>
          <a:p>
            <a:pPr algn="ctr"/>
            <a:r>
              <a:rPr lang="zh-CN" altLang="en-US" sz="1200" dirty="0">
                <a:latin typeface="Huawei Sans" panose="020C0503030203020204" pitchFamily="34" charset="0"/>
                <a:ea typeface="方正兰亭黑简体" panose="02000000000000000000" pitchFamily="2" charset="-122"/>
                <a:cs typeface="Huawei Sans" panose="020C0503030203020204" pitchFamily="34" charset="0"/>
              </a:rPr>
              <a:t>（</a:t>
            </a: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802.1X</a:t>
            </a:r>
            <a:r>
              <a:rPr lang="zh-CN" altLang="en-US" sz="1200" dirty="0">
                <a:latin typeface="Huawei Sans" panose="020C0503030203020204" pitchFamily="34" charset="0"/>
                <a:ea typeface="方正兰亭黑简体" panose="02000000000000000000" pitchFamily="2" charset="-122"/>
                <a:cs typeface="Huawei Sans" panose="020C0503030203020204" pitchFamily="34" charset="0"/>
              </a:rPr>
              <a:t>）</a:t>
            </a:r>
          </a:p>
        </p:txBody>
      </p:sp>
      <p:pic>
        <p:nvPicPr>
          <p:cNvPr id="64" name="图片 14" descr="日志告警服务器-蓝.png"/>
          <p:cNvPicPr>
            <a:picLocks noChangeAspect="1"/>
          </p:cNvPicPr>
          <p:nvPr/>
        </p:nvPicPr>
        <p:blipFill>
          <a:blip r:embed="rId9" cstate="print"/>
          <a:stretch>
            <a:fillRect/>
          </a:stretch>
        </p:blipFill>
        <p:spPr bwMode="gray">
          <a:xfrm>
            <a:off x="8191757" y="5303509"/>
            <a:ext cx="445956" cy="278465"/>
          </a:xfrm>
          <a:prstGeom prst="rect">
            <a:avLst/>
          </a:prstGeom>
        </p:spPr>
      </p:pic>
      <p:sp>
        <p:nvSpPr>
          <p:cNvPr id="69" name="文本框 68"/>
          <p:cNvSpPr txBox="1"/>
          <p:nvPr/>
        </p:nvSpPr>
        <p:spPr bwMode="gray">
          <a:xfrm>
            <a:off x="7972536" y="5594174"/>
            <a:ext cx="909223" cy="646331"/>
          </a:xfrm>
          <a:prstGeom prst="rect">
            <a:avLst/>
          </a:prstGeom>
          <a:noFill/>
        </p:spPr>
        <p:txBody>
          <a:bodyPr wrap="none" rtlCol="0">
            <a:spAutoFit/>
          </a:bodyPr>
          <a:lstStyle/>
          <a:p>
            <a:pPr algn="ctr"/>
            <a:r>
              <a:rPr lang="en-US" altLang="zh-CN" sz="1200" b="1" dirty="0">
                <a:latin typeface="Huawei Sans" panose="020C0503030203020204" pitchFamily="34" charset="0"/>
                <a:ea typeface="方正兰亭黑简体" panose="02000000000000000000" pitchFamily="2" charset="-122"/>
                <a:cs typeface="Huawei Sans" panose="020C0503030203020204" pitchFamily="34" charset="0"/>
              </a:rPr>
              <a:t>Market</a:t>
            </a:r>
            <a:r>
              <a:rPr lang="en-US" altLang="zh-CN" sz="1200" b="1" dirty="0" smtClean="0">
                <a:latin typeface="Huawei Sans" panose="020C0503030203020204" pitchFamily="34" charset="0"/>
                <a:ea typeface="方正兰亭黑简体" panose="02000000000000000000" pitchFamily="2" charset="-122"/>
                <a:cs typeface="Huawei Sans" panose="020C0503030203020204" pitchFamily="34" charset="0"/>
              </a:rPr>
              <a:t>_</a:t>
            </a:r>
          </a:p>
          <a:p>
            <a:pPr algn="ctr"/>
            <a:r>
              <a:rPr lang="en-US" altLang="zh-CN" sz="1200" b="1" dirty="0" smtClean="0">
                <a:latin typeface="Huawei Sans" panose="020C0503030203020204" pitchFamily="34" charset="0"/>
                <a:ea typeface="方正兰亭黑简体" panose="02000000000000000000" pitchFamily="2" charset="-122"/>
                <a:cs typeface="Huawei Sans" panose="020C0503030203020204" pitchFamily="34" charset="0"/>
              </a:rPr>
              <a:t>Wireless</a:t>
            </a:r>
          </a:p>
          <a:p>
            <a:pPr algn="ctr"/>
            <a:r>
              <a:rPr lang="zh-CN" altLang="en-US" sz="1200" dirty="0">
                <a:latin typeface="Huawei Sans" panose="020C0503030203020204" pitchFamily="34" charset="0"/>
                <a:ea typeface="方正兰亭黑简体" panose="02000000000000000000" pitchFamily="2" charset="-122"/>
                <a:cs typeface="Huawei Sans" panose="020C0503030203020204" pitchFamily="34" charset="0"/>
              </a:rPr>
              <a:t>（</a:t>
            </a: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Portal</a:t>
            </a:r>
            <a:r>
              <a:rPr lang="zh-CN" altLang="en-US" sz="1200" dirty="0">
                <a:latin typeface="Huawei Sans" panose="020C0503030203020204" pitchFamily="34" charset="0"/>
                <a:ea typeface="方正兰亭黑简体" panose="02000000000000000000" pitchFamily="2" charset="-122"/>
                <a:cs typeface="Huawei Sans" panose="020C0503030203020204" pitchFamily="34" charset="0"/>
              </a:rPr>
              <a:t>）</a:t>
            </a:r>
          </a:p>
        </p:txBody>
      </p:sp>
      <p:cxnSp>
        <p:nvCxnSpPr>
          <p:cNvPr id="70" name="Straight Connector 166"/>
          <p:cNvCxnSpPr/>
          <p:nvPr/>
        </p:nvCxnSpPr>
        <p:spPr bwMode="gray">
          <a:xfrm>
            <a:off x="9335490" y="5734390"/>
            <a:ext cx="425326" cy="0"/>
          </a:xfrm>
          <a:prstGeom prst="line">
            <a:avLst/>
          </a:prstGeom>
          <a:noFill/>
          <a:ln w="28575">
            <a:solidFill>
              <a:srgbClr val="00B050"/>
            </a:solidFill>
            <a:prstDash val="dash"/>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cxnSp>
        <p:nvCxnSpPr>
          <p:cNvPr id="71" name="Straight Connector 166"/>
          <p:cNvCxnSpPr/>
          <p:nvPr/>
        </p:nvCxnSpPr>
        <p:spPr bwMode="gray">
          <a:xfrm>
            <a:off x="9335490" y="5963994"/>
            <a:ext cx="425326" cy="0"/>
          </a:xfrm>
          <a:prstGeom prst="line">
            <a:avLst/>
          </a:prstGeom>
          <a:noFill/>
          <a:ln w="28575">
            <a:solidFill>
              <a:srgbClr val="C7000B"/>
            </a:solidFill>
            <a:prstDash val="dashDot"/>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sp>
        <p:nvSpPr>
          <p:cNvPr id="72" name="矩形 71"/>
          <p:cNvSpPr/>
          <p:nvPr/>
        </p:nvSpPr>
        <p:spPr bwMode="gray">
          <a:xfrm>
            <a:off x="9771193" y="5610286"/>
            <a:ext cx="672160" cy="251711"/>
          </a:xfrm>
          <a:prstGeom prst="rect">
            <a:avLst/>
          </a:prstGeom>
        </p:spPr>
        <p:txBody>
          <a:bodyPr wrap="square">
            <a:noAutofit/>
          </a:bodyPr>
          <a:lstStyle/>
          <a:p>
            <a:pPr fontAlgn="ctr"/>
            <a:r>
              <a:rPr lang="zh-CN" altLang="en-US" sz="1200" dirty="0" smtClean="0"/>
              <a:t>有线</a:t>
            </a:r>
            <a:endParaRPr lang="en-US" altLang="zh-CN" sz="1200" dirty="0"/>
          </a:p>
        </p:txBody>
      </p:sp>
      <p:sp>
        <p:nvSpPr>
          <p:cNvPr id="73" name="矩形 72"/>
          <p:cNvSpPr/>
          <p:nvPr/>
        </p:nvSpPr>
        <p:spPr bwMode="gray">
          <a:xfrm>
            <a:off x="9771193" y="5829356"/>
            <a:ext cx="672160" cy="251711"/>
          </a:xfrm>
          <a:prstGeom prst="rect">
            <a:avLst/>
          </a:prstGeom>
        </p:spPr>
        <p:txBody>
          <a:bodyPr wrap="square">
            <a:noAutofit/>
          </a:bodyPr>
          <a:lstStyle/>
          <a:p>
            <a:pPr fontAlgn="ctr"/>
            <a:r>
              <a:rPr lang="zh-CN" altLang="en-US" sz="1200" dirty="0"/>
              <a:t>无</a:t>
            </a:r>
            <a:r>
              <a:rPr lang="zh-CN" altLang="en-US" sz="1200" dirty="0" smtClean="0"/>
              <a:t>线</a:t>
            </a:r>
            <a:endParaRPr lang="en-US" altLang="zh-CN" sz="1200" dirty="0"/>
          </a:p>
        </p:txBody>
      </p:sp>
      <p:sp>
        <p:nvSpPr>
          <p:cNvPr id="74" name="五边形 73"/>
          <p:cNvSpPr/>
          <p:nvPr/>
        </p:nvSpPr>
        <p:spPr bwMode="gray">
          <a:xfrm>
            <a:off x="5773628" y="98481"/>
            <a:ext cx="9000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站点管理</a:t>
            </a:r>
          </a:p>
        </p:txBody>
      </p:sp>
      <p:sp>
        <p:nvSpPr>
          <p:cNvPr id="75" name="燕尾形 74"/>
          <p:cNvSpPr/>
          <p:nvPr/>
        </p:nvSpPr>
        <p:spPr bwMode="gray">
          <a:xfrm>
            <a:off x="9109268" y="9848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逻辑网络</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6" name="燕尾形 75"/>
          <p:cNvSpPr/>
          <p:nvPr/>
        </p:nvSpPr>
        <p:spPr bwMode="gray">
          <a:xfrm>
            <a:off x="9925178" y="9848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业务部署</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7" name="燕尾形 76"/>
          <p:cNvSpPr/>
          <p:nvPr/>
        </p:nvSpPr>
        <p:spPr bwMode="gray">
          <a:xfrm>
            <a:off x="8221358" y="98481"/>
            <a:ext cx="972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smtClean="0">
                <a:latin typeface="Huawei Sans" panose="020C0503030203020204" pitchFamily="34" charset="0"/>
                <a:ea typeface="方正兰亭黑简体" panose="02000000000000000000" pitchFamily="2" charset="-122"/>
                <a:sym typeface="Huawei Sans" panose="020C0503030203020204" pitchFamily="34" charset="0"/>
              </a:rPr>
              <a:t>Fabric</a:t>
            </a:r>
            <a:r>
              <a:rPr lang="zh-CN" altLang="en-US" sz="1200" kern="0" dirty="0" smtClean="0">
                <a:latin typeface="Huawei Sans" panose="020C0503030203020204" pitchFamily="34" charset="0"/>
                <a:ea typeface="方正兰亭黑简体" panose="02000000000000000000" pitchFamily="2" charset="-122"/>
                <a:sym typeface="Huawei Sans" panose="020C0503030203020204" pitchFamily="34" charset="0"/>
              </a:rPr>
              <a:t>网络</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1" name="燕尾形 80"/>
          <p:cNvSpPr/>
          <p:nvPr/>
        </p:nvSpPr>
        <p:spPr bwMode="gray">
          <a:xfrm>
            <a:off x="7405448" y="98481"/>
            <a:ext cx="9000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网络规划</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2" name="燕尾形 81"/>
          <p:cNvSpPr/>
          <p:nvPr/>
        </p:nvSpPr>
        <p:spPr bwMode="gray">
          <a:xfrm>
            <a:off x="6589538" y="9848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设备管理</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7" name="燕尾形 86"/>
          <p:cNvSpPr/>
          <p:nvPr/>
        </p:nvSpPr>
        <p:spPr bwMode="gray">
          <a:xfrm>
            <a:off x="10741088" y="98481"/>
            <a:ext cx="1008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WLAN</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业务</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2627634370"/>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normAutofit/>
          </a:bodyPr>
          <a:lstStyle/>
          <a:p>
            <a:r>
              <a:rPr lang="zh-CN" altLang="en-US" dirty="0" smtClean="0"/>
              <a:t>实验：配置用户接入认证模板</a:t>
            </a:r>
            <a:endParaRPr lang="zh-CN" altLang="en-US" dirty="0"/>
          </a:p>
        </p:txBody>
      </p:sp>
      <p:sp>
        <p:nvSpPr>
          <p:cNvPr id="3" name="文本占位符 2"/>
          <p:cNvSpPr>
            <a:spLocks noGrp="1"/>
          </p:cNvSpPr>
          <p:nvPr>
            <p:ph type="body" sz="quarter" idx="10"/>
          </p:nvPr>
        </p:nvSpPr>
        <p:spPr bwMode="gray">
          <a:xfrm>
            <a:off x="455612" y="1047751"/>
            <a:ext cx="11293475" cy="980226"/>
          </a:xfrm>
        </p:spPr>
        <p:txBody>
          <a:bodyPr/>
          <a:lstStyle/>
          <a:p>
            <a:r>
              <a:rPr lang="zh-CN" altLang="en-US" sz="2000" dirty="0"/>
              <a:t>单击控制器</a:t>
            </a:r>
            <a:r>
              <a:rPr lang="zh-CN" altLang="en-US" sz="2000" dirty="0" smtClean="0"/>
              <a:t>的“</a:t>
            </a:r>
            <a:r>
              <a:rPr lang="en-US" altLang="zh-CN" sz="2000" dirty="0"/>
              <a:t>Fabric</a:t>
            </a:r>
            <a:r>
              <a:rPr lang="zh-CN" altLang="en-US" sz="2000" dirty="0"/>
              <a:t>网络 </a:t>
            </a:r>
            <a:r>
              <a:rPr lang="en-US" altLang="zh-CN" sz="2000" dirty="0"/>
              <a:t>&gt; </a:t>
            </a:r>
            <a:r>
              <a:rPr lang="zh-CN" altLang="en-US" sz="2000" dirty="0" smtClean="0"/>
              <a:t>网络规划 </a:t>
            </a:r>
            <a:r>
              <a:rPr lang="en-US" altLang="zh-CN" sz="2000" dirty="0" smtClean="0"/>
              <a:t>&gt; </a:t>
            </a:r>
            <a:r>
              <a:rPr lang="zh-CN" altLang="en-US" sz="2000" dirty="0"/>
              <a:t>策略模板”</a:t>
            </a:r>
            <a:r>
              <a:rPr lang="zh-CN" altLang="en-US" sz="2000" dirty="0" smtClean="0"/>
              <a:t>页面，分别创建和配置</a:t>
            </a:r>
            <a:r>
              <a:rPr lang="en-US" altLang="zh-CN" sz="2000" dirty="0" smtClean="0"/>
              <a:t>RADIUS</a:t>
            </a:r>
            <a:r>
              <a:rPr lang="zh-CN" altLang="en-US" sz="2000" dirty="0" smtClean="0"/>
              <a:t>服务器模板、</a:t>
            </a:r>
            <a:r>
              <a:rPr lang="en-US" altLang="zh-CN" sz="2000" dirty="0" smtClean="0"/>
              <a:t>Portal</a:t>
            </a:r>
            <a:r>
              <a:rPr lang="zh-CN" altLang="en-US" sz="2000" dirty="0" smtClean="0"/>
              <a:t>服务器模板和认证模板。</a:t>
            </a:r>
            <a:endParaRPr lang="zh-CN" altLang="en-US" sz="2000" dirty="0"/>
          </a:p>
        </p:txBody>
      </p:sp>
      <p:graphicFrame>
        <p:nvGraphicFramePr>
          <p:cNvPr id="4" name="表格 3"/>
          <p:cNvGraphicFramePr>
            <a:graphicFrameLocks noGrp="1"/>
          </p:cNvGraphicFramePr>
          <p:nvPr>
            <p:extLst>
              <p:ext uri="{D42A27DB-BD31-4B8C-83A1-F6EECF244321}">
                <p14:modId xmlns:p14="http://schemas.microsoft.com/office/powerpoint/2010/main" val="1804389630"/>
              </p:ext>
            </p:extLst>
          </p:nvPr>
        </p:nvGraphicFramePr>
        <p:xfrm>
          <a:off x="775855" y="2238189"/>
          <a:ext cx="10640290" cy="2459177"/>
        </p:xfrm>
        <a:graphic>
          <a:graphicData uri="http://schemas.openxmlformats.org/drawingml/2006/table">
            <a:tbl>
              <a:tblPr/>
              <a:tblGrid>
                <a:gridCol w="2087417"/>
                <a:gridCol w="8552873"/>
              </a:tblGrid>
              <a:tr h="185597">
                <a:tc>
                  <a:txBody>
                    <a:bodyPr/>
                    <a:lstStyle/>
                    <a:p>
                      <a:pPr algn="ctr"/>
                      <a:r>
                        <a:rPr lang="zh-CN" altLang="en-US" sz="1400" b="1" dirty="0">
                          <a:effectLst/>
                        </a:rPr>
                        <a:t>任务描述</a:t>
                      </a:r>
                    </a:p>
                  </a:txBody>
                  <a:tcPr anchor="ctr">
                    <a:lnL w="28575" cap="flat" cmpd="sng" algn="ctr">
                      <a:solidFill>
                        <a:schemeClr val="tx1"/>
                      </a:solidFill>
                      <a:prstDash val="solid"/>
                      <a:round/>
                      <a:headEnd type="none" w="med" len="med"/>
                      <a:tailEnd type="none" w="med" len="med"/>
                    </a:lnL>
                    <a:lnT w="28575" cap="flat" cmpd="sng" algn="ctr">
                      <a:solidFill>
                        <a:schemeClr val="tx1"/>
                      </a:solidFill>
                      <a:prstDash val="solid"/>
                      <a:round/>
                      <a:headEnd type="none" w="med" len="med"/>
                      <a:tailEnd type="none" w="med" len="med"/>
                    </a:lnT>
                    <a:solidFill>
                      <a:schemeClr val="bg1">
                        <a:lumMod val="85000"/>
                      </a:schemeClr>
                    </a:solidFill>
                  </a:tcPr>
                </a:tc>
                <a:tc>
                  <a:txBody>
                    <a:bodyPr/>
                    <a:lstStyle/>
                    <a:p>
                      <a:pPr algn="ctr"/>
                      <a:r>
                        <a:rPr lang="zh-CN" altLang="en-US" sz="1400" b="1" dirty="0">
                          <a:effectLst/>
                        </a:rPr>
                        <a:t>详细操作步骤</a:t>
                      </a:r>
                    </a:p>
                  </a:txBody>
                  <a:tcPr anchor="ctr">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solidFill>
                      <a:schemeClr val="bg1">
                        <a:lumMod val="85000"/>
                      </a:schemeClr>
                    </a:solidFill>
                  </a:tcPr>
                </a:tc>
              </a:tr>
              <a:tr h="621302">
                <a:tc>
                  <a:txBody>
                    <a:bodyPr/>
                    <a:lstStyle/>
                    <a:p>
                      <a:pPr algn="ctr"/>
                      <a:r>
                        <a:rPr lang="zh-CN" altLang="en-US" sz="1400">
                          <a:effectLst/>
                        </a:rPr>
                        <a:t>创建</a:t>
                      </a:r>
                      <a:r>
                        <a:rPr lang="en-US" altLang="zh-CN" sz="1400">
                          <a:effectLst/>
                        </a:rPr>
                        <a:t>RADIUS</a:t>
                      </a:r>
                      <a:r>
                        <a:rPr lang="zh-CN" altLang="en-US" sz="1400">
                          <a:effectLst/>
                        </a:rPr>
                        <a:t>服务器模板</a:t>
                      </a:r>
                    </a:p>
                  </a:txBody>
                  <a:tcPr anchor="ctr">
                    <a:lnL w="28575" cap="flat" cmpd="sng" algn="ctr">
                      <a:solidFill>
                        <a:schemeClr val="tx1"/>
                      </a:solidFill>
                      <a:prstDash val="solid"/>
                      <a:round/>
                      <a:headEnd type="none" w="med" len="med"/>
                      <a:tailEnd type="none" w="med" len="med"/>
                    </a:lnL>
                  </a:tcPr>
                </a:tc>
                <a:tc>
                  <a:txBody>
                    <a:bodyPr/>
                    <a:lstStyle/>
                    <a:p>
                      <a:pPr marL="228600" indent="-228600" algn="l" defTabSz="914034" rtl="0" eaLnBrk="1" latinLnBrk="0" hangingPunct="1">
                        <a:lnSpc>
                          <a:spcPct val="100000"/>
                        </a:lnSpc>
                        <a:spcAft>
                          <a:spcPts val="0"/>
                        </a:spcAft>
                        <a:buFont typeface="+mj-lt"/>
                        <a:buAutoNum type="arabicPeriod"/>
                      </a:pPr>
                      <a:r>
                        <a:rPr lang="zh-CN" altLang="en-US" sz="1400" kern="1200" dirty="0" smtClean="0">
                          <a:solidFill>
                            <a:schemeClr val="tx1"/>
                          </a:solidFill>
                          <a:effectLst/>
                          <a:latin typeface="+mn-lt"/>
                          <a:ea typeface="+mn-ea"/>
                          <a:cs typeface="+mn-cs"/>
                        </a:rPr>
                        <a:t>选择</a:t>
                      </a:r>
                      <a:r>
                        <a:rPr lang="en-US" sz="1400" kern="1200" dirty="0">
                          <a:solidFill>
                            <a:schemeClr val="tx1"/>
                          </a:solidFill>
                          <a:effectLst/>
                          <a:latin typeface="+mn-lt"/>
                          <a:ea typeface="+mn-ea"/>
                          <a:cs typeface="+mn-cs"/>
                        </a:rPr>
                        <a:t>RADIUS</a:t>
                      </a:r>
                      <a:r>
                        <a:rPr lang="zh-CN" altLang="en-US" sz="1400" kern="1200" dirty="0">
                          <a:solidFill>
                            <a:schemeClr val="tx1"/>
                          </a:solidFill>
                          <a:effectLst/>
                          <a:latin typeface="+mn-lt"/>
                          <a:ea typeface="+mn-ea"/>
                          <a:cs typeface="+mn-cs"/>
                        </a:rPr>
                        <a:t>服务器类型。推荐采用</a:t>
                      </a:r>
                      <a:r>
                        <a:rPr lang="en-US" sz="1400" kern="1200" dirty="0">
                          <a:solidFill>
                            <a:schemeClr val="tx1"/>
                          </a:solidFill>
                          <a:effectLst/>
                          <a:latin typeface="+mn-lt"/>
                          <a:ea typeface="+mn-ea"/>
                          <a:cs typeface="+mn-cs"/>
                        </a:rPr>
                        <a:t>iMaster NCE-Campus</a:t>
                      </a:r>
                      <a:r>
                        <a:rPr lang="zh-CN" altLang="en-US" sz="1400" kern="1200" dirty="0">
                          <a:solidFill>
                            <a:schemeClr val="tx1"/>
                          </a:solidFill>
                          <a:effectLst/>
                          <a:latin typeface="+mn-lt"/>
                          <a:ea typeface="+mn-ea"/>
                          <a:cs typeface="+mn-cs"/>
                        </a:rPr>
                        <a:t>内置的</a:t>
                      </a:r>
                      <a:r>
                        <a:rPr lang="en-US" sz="1400" kern="1200" dirty="0">
                          <a:solidFill>
                            <a:schemeClr val="tx1"/>
                          </a:solidFill>
                          <a:effectLst/>
                          <a:latin typeface="+mn-lt"/>
                          <a:ea typeface="+mn-ea"/>
                          <a:cs typeface="+mn-cs"/>
                        </a:rPr>
                        <a:t>RADIUS</a:t>
                      </a:r>
                      <a:r>
                        <a:rPr lang="zh-CN" altLang="en-US" sz="1400" kern="1200" dirty="0" smtClean="0">
                          <a:solidFill>
                            <a:schemeClr val="tx1"/>
                          </a:solidFill>
                          <a:effectLst/>
                          <a:latin typeface="+mn-lt"/>
                          <a:ea typeface="+mn-ea"/>
                          <a:cs typeface="+mn-cs"/>
                        </a:rPr>
                        <a:t>服务器。</a:t>
                      </a:r>
                      <a:endParaRPr lang="zh-CN" altLang="en-US" sz="1400" kern="1200" dirty="0">
                        <a:solidFill>
                          <a:schemeClr val="tx1"/>
                        </a:solidFill>
                        <a:effectLst/>
                        <a:latin typeface="+mn-lt"/>
                        <a:ea typeface="+mn-ea"/>
                        <a:cs typeface="+mn-cs"/>
                      </a:endParaRPr>
                    </a:p>
                    <a:p>
                      <a:pPr marL="228600" indent="-228600" algn="l" defTabSz="914034" rtl="0" eaLnBrk="1" latinLnBrk="0" hangingPunct="1">
                        <a:lnSpc>
                          <a:spcPct val="100000"/>
                        </a:lnSpc>
                        <a:spcAft>
                          <a:spcPts val="0"/>
                        </a:spcAft>
                        <a:buFont typeface="+mj-lt"/>
                        <a:buAutoNum type="arabicPeriod"/>
                      </a:pPr>
                      <a:r>
                        <a:rPr lang="zh-CN" altLang="en-US" sz="1400" kern="1200" dirty="0" smtClean="0">
                          <a:solidFill>
                            <a:schemeClr val="tx1"/>
                          </a:solidFill>
                          <a:effectLst/>
                          <a:latin typeface="+mn-lt"/>
                          <a:ea typeface="+mn-ea"/>
                          <a:cs typeface="+mn-cs"/>
                        </a:rPr>
                        <a:t>配置</a:t>
                      </a:r>
                      <a:r>
                        <a:rPr lang="en-US" sz="1400" kern="1200" dirty="0">
                          <a:solidFill>
                            <a:schemeClr val="tx1"/>
                          </a:solidFill>
                          <a:effectLst/>
                          <a:latin typeface="+mn-lt"/>
                          <a:ea typeface="+mn-ea"/>
                          <a:cs typeface="+mn-cs"/>
                        </a:rPr>
                        <a:t>RADIUS</a:t>
                      </a:r>
                      <a:r>
                        <a:rPr lang="zh-CN" altLang="en-US" sz="1400" kern="1200" dirty="0">
                          <a:solidFill>
                            <a:schemeClr val="tx1"/>
                          </a:solidFill>
                          <a:effectLst/>
                          <a:latin typeface="+mn-lt"/>
                          <a:ea typeface="+mn-ea"/>
                          <a:cs typeface="+mn-cs"/>
                        </a:rPr>
                        <a:t>服务器地址。如果采用</a:t>
                      </a:r>
                      <a:r>
                        <a:rPr lang="en-US" sz="1400" kern="1200" dirty="0">
                          <a:solidFill>
                            <a:schemeClr val="tx1"/>
                          </a:solidFill>
                          <a:effectLst/>
                          <a:latin typeface="+mn-lt"/>
                          <a:ea typeface="+mn-ea"/>
                          <a:cs typeface="+mn-cs"/>
                        </a:rPr>
                        <a:t>iMaster NCE-Campus</a:t>
                      </a:r>
                      <a:r>
                        <a:rPr lang="zh-CN" altLang="en-US" sz="1400" kern="1200" dirty="0">
                          <a:solidFill>
                            <a:schemeClr val="tx1"/>
                          </a:solidFill>
                          <a:effectLst/>
                          <a:latin typeface="+mn-lt"/>
                          <a:ea typeface="+mn-ea"/>
                          <a:cs typeface="+mn-cs"/>
                        </a:rPr>
                        <a:t>内置的</a:t>
                      </a:r>
                      <a:r>
                        <a:rPr lang="en-US" sz="1400" kern="1200" dirty="0">
                          <a:solidFill>
                            <a:schemeClr val="tx1"/>
                          </a:solidFill>
                          <a:effectLst/>
                          <a:latin typeface="+mn-lt"/>
                          <a:ea typeface="+mn-ea"/>
                          <a:cs typeface="+mn-cs"/>
                        </a:rPr>
                        <a:t>RADIUS</a:t>
                      </a:r>
                      <a:r>
                        <a:rPr lang="zh-CN" altLang="en-US" sz="1400" kern="1200" dirty="0">
                          <a:solidFill>
                            <a:schemeClr val="tx1"/>
                          </a:solidFill>
                          <a:effectLst/>
                          <a:latin typeface="+mn-lt"/>
                          <a:ea typeface="+mn-ea"/>
                          <a:cs typeface="+mn-cs"/>
                        </a:rPr>
                        <a:t>服务器，则不需要</a:t>
                      </a:r>
                      <a:r>
                        <a:rPr lang="zh-CN" altLang="en-US" sz="1400" kern="1200" dirty="0" smtClean="0">
                          <a:solidFill>
                            <a:schemeClr val="tx1"/>
                          </a:solidFill>
                          <a:effectLst/>
                          <a:latin typeface="+mn-lt"/>
                          <a:ea typeface="+mn-ea"/>
                          <a:cs typeface="+mn-cs"/>
                        </a:rPr>
                        <a:t>配置。</a:t>
                      </a:r>
                      <a:endParaRPr lang="zh-CN" altLang="en-US" sz="1400" kern="1200" dirty="0">
                        <a:solidFill>
                          <a:schemeClr val="tx1"/>
                        </a:solidFill>
                        <a:effectLst/>
                        <a:latin typeface="+mn-lt"/>
                        <a:ea typeface="+mn-ea"/>
                        <a:cs typeface="+mn-cs"/>
                      </a:endParaRPr>
                    </a:p>
                  </a:txBody>
                  <a:tcPr anchor="ctr">
                    <a:lnR w="28575" cap="flat" cmpd="sng" algn="ctr">
                      <a:solidFill>
                        <a:schemeClr val="tx1"/>
                      </a:solidFill>
                      <a:prstDash val="solid"/>
                      <a:round/>
                      <a:headEnd type="none" w="med" len="med"/>
                      <a:tailEnd type="none" w="med" len="med"/>
                    </a:lnR>
                  </a:tcPr>
                </a:tc>
              </a:tr>
              <a:tr h="911773">
                <a:tc>
                  <a:txBody>
                    <a:bodyPr/>
                    <a:lstStyle/>
                    <a:p>
                      <a:pPr algn="ctr"/>
                      <a:r>
                        <a:rPr lang="zh-CN" altLang="en-US" sz="1400">
                          <a:effectLst/>
                        </a:rPr>
                        <a:t>创建</a:t>
                      </a:r>
                      <a:r>
                        <a:rPr lang="en-US" sz="1400">
                          <a:effectLst/>
                        </a:rPr>
                        <a:t>Portal</a:t>
                      </a:r>
                      <a:r>
                        <a:rPr lang="zh-CN" altLang="en-US" sz="1400">
                          <a:effectLst/>
                        </a:rPr>
                        <a:t>服务器模板</a:t>
                      </a:r>
                    </a:p>
                  </a:txBody>
                  <a:tcPr anchor="ctr">
                    <a:lnL w="28575" cap="flat" cmpd="sng" algn="ctr">
                      <a:solidFill>
                        <a:schemeClr val="tx1"/>
                      </a:solidFill>
                      <a:prstDash val="solid"/>
                      <a:round/>
                      <a:headEnd type="none" w="med" len="med"/>
                      <a:tailEnd type="none" w="med" len="med"/>
                    </a:lnL>
                  </a:tcPr>
                </a:tc>
                <a:tc>
                  <a:txBody>
                    <a:bodyPr/>
                    <a:lstStyle/>
                    <a:p>
                      <a:pPr marL="228600" indent="-228600" algn="l" defTabSz="914034" rtl="0" eaLnBrk="1" latinLnBrk="0" hangingPunct="1">
                        <a:lnSpc>
                          <a:spcPct val="100000"/>
                        </a:lnSpc>
                        <a:spcAft>
                          <a:spcPts val="0"/>
                        </a:spcAft>
                        <a:buFont typeface="+mj-lt"/>
                        <a:buAutoNum type="arabicPeriod"/>
                      </a:pPr>
                      <a:r>
                        <a:rPr lang="zh-CN" altLang="en-US" sz="1400" kern="1200" dirty="0" smtClean="0">
                          <a:solidFill>
                            <a:schemeClr val="tx1"/>
                          </a:solidFill>
                          <a:effectLst/>
                          <a:latin typeface="+mn-lt"/>
                          <a:ea typeface="+mn-ea"/>
                          <a:cs typeface="+mn-cs"/>
                        </a:rPr>
                        <a:t>选择</a:t>
                      </a:r>
                      <a:r>
                        <a:rPr lang="en-US" sz="1400" kern="1200" dirty="0">
                          <a:solidFill>
                            <a:schemeClr val="tx1"/>
                          </a:solidFill>
                          <a:effectLst/>
                          <a:latin typeface="+mn-lt"/>
                          <a:ea typeface="+mn-ea"/>
                          <a:cs typeface="+mn-cs"/>
                        </a:rPr>
                        <a:t>Portal</a:t>
                      </a:r>
                      <a:r>
                        <a:rPr lang="zh-CN" altLang="en-US" sz="1400" kern="1200" dirty="0">
                          <a:solidFill>
                            <a:schemeClr val="tx1"/>
                          </a:solidFill>
                          <a:effectLst/>
                          <a:latin typeface="+mn-lt"/>
                          <a:ea typeface="+mn-ea"/>
                          <a:cs typeface="+mn-cs"/>
                        </a:rPr>
                        <a:t>服务器类型。推荐采用</a:t>
                      </a:r>
                      <a:r>
                        <a:rPr lang="en-US" sz="1400" kern="1200" dirty="0">
                          <a:solidFill>
                            <a:schemeClr val="tx1"/>
                          </a:solidFill>
                          <a:effectLst/>
                          <a:latin typeface="+mn-lt"/>
                          <a:ea typeface="+mn-ea"/>
                          <a:cs typeface="+mn-cs"/>
                        </a:rPr>
                        <a:t>iMaster NCE-Campus</a:t>
                      </a:r>
                      <a:r>
                        <a:rPr lang="zh-CN" altLang="en-US" sz="1400" kern="1200" dirty="0">
                          <a:solidFill>
                            <a:schemeClr val="tx1"/>
                          </a:solidFill>
                          <a:effectLst/>
                          <a:latin typeface="+mn-lt"/>
                          <a:ea typeface="+mn-ea"/>
                          <a:cs typeface="+mn-cs"/>
                        </a:rPr>
                        <a:t>内置的</a:t>
                      </a:r>
                      <a:r>
                        <a:rPr lang="en-US" sz="1400" kern="1200" dirty="0">
                          <a:solidFill>
                            <a:schemeClr val="tx1"/>
                          </a:solidFill>
                          <a:effectLst/>
                          <a:latin typeface="+mn-lt"/>
                          <a:ea typeface="+mn-ea"/>
                          <a:cs typeface="+mn-cs"/>
                        </a:rPr>
                        <a:t>Portal</a:t>
                      </a:r>
                      <a:r>
                        <a:rPr lang="zh-CN" altLang="en-US" sz="1400" kern="1200" dirty="0" smtClean="0">
                          <a:solidFill>
                            <a:schemeClr val="tx1"/>
                          </a:solidFill>
                          <a:effectLst/>
                          <a:latin typeface="+mn-lt"/>
                          <a:ea typeface="+mn-ea"/>
                          <a:cs typeface="+mn-cs"/>
                        </a:rPr>
                        <a:t>服务器。</a:t>
                      </a:r>
                      <a:endParaRPr lang="zh-CN" altLang="en-US" sz="1400" kern="1200" dirty="0">
                        <a:solidFill>
                          <a:schemeClr val="tx1"/>
                        </a:solidFill>
                        <a:effectLst/>
                        <a:latin typeface="+mn-lt"/>
                        <a:ea typeface="+mn-ea"/>
                        <a:cs typeface="+mn-cs"/>
                      </a:endParaRPr>
                    </a:p>
                    <a:p>
                      <a:pPr marL="228600" indent="-228600" algn="l" defTabSz="914034" rtl="0" eaLnBrk="1" latinLnBrk="0" hangingPunct="1">
                        <a:lnSpc>
                          <a:spcPct val="100000"/>
                        </a:lnSpc>
                        <a:spcAft>
                          <a:spcPts val="0"/>
                        </a:spcAft>
                        <a:buFont typeface="+mj-lt"/>
                        <a:buAutoNum type="arabicPeriod"/>
                      </a:pPr>
                      <a:r>
                        <a:rPr lang="zh-CN" altLang="en-US" sz="1400" kern="1200" dirty="0" smtClean="0">
                          <a:solidFill>
                            <a:schemeClr val="tx1"/>
                          </a:solidFill>
                          <a:effectLst/>
                          <a:latin typeface="+mn-lt"/>
                          <a:ea typeface="+mn-ea"/>
                          <a:cs typeface="+mn-cs"/>
                        </a:rPr>
                        <a:t>配置</a:t>
                      </a:r>
                      <a:r>
                        <a:rPr lang="en-US" sz="1400" kern="1200" dirty="0">
                          <a:solidFill>
                            <a:schemeClr val="tx1"/>
                          </a:solidFill>
                          <a:effectLst/>
                          <a:latin typeface="+mn-lt"/>
                          <a:ea typeface="+mn-ea"/>
                          <a:cs typeface="+mn-cs"/>
                        </a:rPr>
                        <a:t>Portal</a:t>
                      </a:r>
                      <a:r>
                        <a:rPr lang="zh-CN" altLang="en-US" sz="1400" kern="1200" dirty="0">
                          <a:solidFill>
                            <a:schemeClr val="tx1"/>
                          </a:solidFill>
                          <a:effectLst/>
                          <a:latin typeface="+mn-lt"/>
                          <a:ea typeface="+mn-ea"/>
                          <a:cs typeface="+mn-cs"/>
                        </a:rPr>
                        <a:t>服务器地址。如果采用</a:t>
                      </a:r>
                      <a:r>
                        <a:rPr lang="en-US" sz="1400" kern="1200" dirty="0">
                          <a:solidFill>
                            <a:schemeClr val="tx1"/>
                          </a:solidFill>
                          <a:effectLst/>
                          <a:latin typeface="+mn-lt"/>
                          <a:ea typeface="+mn-ea"/>
                          <a:cs typeface="+mn-cs"/>
                        </a:rPr>
                        <a:t>iMaster NCE-Campus</a:t>
                      </a:r>
                      <a:r>
                        <a:rPr lang="zh-CN" altLang="en-US" sz="1400" kern="1200" dirty="0">
                          <a:solidFill>
                            <a:schemeClr val="tx1"/>
                          </a:solidFill>
                          <a:effectLst/>
                          <a:latin typeface="+mn-lt"/>
                          <a:ea typeface="+mn-ea"/>
                          <a:cs typeface="+mn-cs"/>
                        </a:rPr>
                        <a:t>内置的</a:t>
                      </a:r>
                      <a:r>
                        <a:rPr lang="en-US" sz="1400" kern="1200" dirty="0">
                          <a:solidFill>
                            <a:schemeClr val="tx1"/>
                          </a:solidFill>
                          <a:effectLst/>
                          <a:latin typeface="+mn-lt"/>
                          <a:ea typeface="+mn-ea"/>
                          <a:cs typeface="+mn-cs"/>
                        </a:rPr>
                        <a:t>Portal</a:t>
                      </a:r>
                      <a:r>
                        <a:rPr lang="zh-CN" altLang="en-US" sz="1400" kern="1200" dirty="0">
                          <a:solidFill>
                            <a:schemeClr val="tx1"/>
                          </a:solidFill>
                          <a:effectLst/>
                          <a:latin typeface="+mn-lt"/>
                          <a:ea typeface="+mn-ea"/>
                          <a:cs typeface="+mn-cs"/>
                        </a:rPr>
                        <a:t>服务器，则不需要</a:t>
                      </a:r>
                      <a:r>
                        <a:rPr lang="zh-CN" altLang="en-US" sz="1400" kern="1200" dirty="0" smtClean="0">
                          <a:solidFill>
                            <a:schemeClr val="tx1"/>
                          </a:solidFill>
                          <a:effectLst/>
                          <a:latin typeface="+mn-lt"/>
                          <a:ea typeface="+mn-ea"/>
                          <a:cs typeface="+mn-cs"/>
                        </a:rPr>
                        <a:t>配置。</a:t>
                      </a:r>
                      <a:endParaRPr lang="zh-CN" altLang="en-US" sz="1400" kern="1200" dirty="0">
                        <a:solidFill>
                          <a:schemeClr val="tx1"/>
                        </a:solidFill>
                        <a:effectLst/>
                        <a:latin typeface="+mn-lt"/>
                        <a:ea typeface="+mn-ea"/>
                        <a:cs typeface="+mn-cs"/>
                      </a:endParaRPr>
                    </a:p>
                    <a:p>
                      <a:pPr marL="228600" indent="-228600" algn="l" defTabSz="914034" rtl="0" eaLnBrk="1" latinLnBrk="0" hangingPunct="1">
                        <a:lnSpc>
                          <a:spcPct val="100000"/>
                        </a:lnSpc>
                        <a:spcAft>
                          <a:spcPts val="0"/>
                        </a:spcAft>
                        <a:buFont typeface="+mj-lt"/>
                        <a:buAutoNum type="arabicPeriod"/>
                      </a:pPr>
                      <a:r>
                        <a:rPr lang="zh-CN" altLang="en-US" sz="1400" kern="1200" dirty="0" smtClean="0">
                          <a:solidFill>
                            <a:schemeClr val="tx1"/>
                          </a:solidFill>
                          <a:effectLst/>
                          <a:latin typeface="+mn-lt"/>
                          <a:ea typeface="+mn-ea"/>
                          <a:cs typeface="+mn-cs"/>
                        </a:rPr>
                        <a:t>配置</a:t>
                      </a:r>
                      <a:r>
                        <a:rPr lang="en-US" sz="1400" kern="1200" dirty="0">
                          <a:solidFill>
                            <a:schemeClr val="tx1"/>
                          </a:solidFill>
                          <a:effectLst/>
                          <a:latin typeface="+mn-lt"/>
                          <a:ea typeface="+mn-ea"/>
                          <a:cs typeface="+mn-cs"/>
                        </a:rPr>
                        <a:t>Portal</a:t>
                      </a:r>
                      <a:r>
                        <a:rPr lang="zh-CN" altLang="en-US" sz="1400" kern="1200" dirty="0">
                          <a:solidFill>
                            <a:schemeClr val="tx1"/>
                          </a:solidFill>
                          <a:effectLst/>
                          <a:latin typeface="+mn-lt"/>
                          <a:ea typeface="+mn-ea"/>
                          <a:cs typeface="+mn-cs"/>
                        </a:rPr>
                        <a:t>服务器</a:t>
                      </a:r>
                      <a:r>
                        <a:rPr lang="en-US" sz="1400" kern="1200" dirty="0">
                          <a:solidFill>
                            <a:schemeClr val="tx1"/>
                          </a:solidFill>
                          <a:effectLst/>
                          <a:latin typeface="+mn-lt"/>
                          <a:ea typeface="+mn-ea"/>
                          <a:cs typeface="+mn-cs"/>
                        </a:rPr>
                        <a:t>URL。</a:t>
                      </a:r>
                      <a:r>
                        <a:rPr lang="zh-CN" altLang="en-US" sz="1400" kern="1200" dirty="0">
                          <a:solidFill>
                            <a:schemeClr val="tx1"/>
                          </a:solidFill>
                          <a:effectLst/>
                          <a:latin typeface="+mn-lt"/>
                          <a:ea typeface="+mn-ea"/>
                          <a:cs typeface="+mn-cs"/>
                        </a:rPr>
                        <a:t>如果采用</a:t>
                      </a:r>
                      <a:r>
                        <a:rPr lang="en-US" sz="1400" kern="1200" dirty="0">
                          <a:solidFill>
                            <a:schemeClr val="tx1"/>
                          </a:solidFill>
                          <a:effectLst/>
                          <a:latin typeface="+mn-lt"/>
                          <a:ea typeface="+mn-ea"/>
                          <a:cs typeface="+mn-cs"/>
                        </a:rPr>
                        <a:t>iMaster NCE-Campus</a:t>
                      </a:r>
                      <a:r>
                        <a:rPr lang="zh-CN" altLang="en-US" sz="1400" kern="1200" dirty="0">
                          <a:solidFill>
                            <a:schemeClr val="tx1"/>
                          </a:solidFill>
                          <a:effectLst/>
                          <a:latin typeface="+mn-lt"/>
                          <a:ea typeface="+mn-ea"/>
                          <a:cs typeface="+mn-cs"/>
                        </a:rPr>
                        <a:t>内置的</a:t>
                      </a:r>
                      <a:r>
                        <a:rPr lang="en-US" sz="1400" kern="1200" dirty="0">
                          <a:solidFill>
                            <a:schemeClr val="tx1"/>
                          </a:solidFill>
                          <a:effectLst/>
                          <a:latin typeface="+mn-lt"/>
                          <a:ea typeface="+mn-ea"/>
                          <a:cs typeface="+mn-cs"/>
                        </a:rPr>
                        <a:t>Portal</a:t>
                      </a:r>
                      <a:r>
                        <a:rPr lang="zh-CN" altLang="en-US" sz="1400" kern="1200" dirty="0">
                          <a:solidFill>
                            <a:schemeClr val="tx1"/>
                          </a:solidFill>
                          <a:effectLst/>
                          <a:latin typeface="+mn-lt"/>
                          <a:ea typeface="+mn-ea"/>
                          <a:cs typeface="+mn-cs"/>
                        </a:rPr>
                        <a:t>服务器，则不需要</a:t>
                      </a:r>
                      <a:r>
                        <a:rPr lang="zh-CN" altLang="en-US" sz="1400" kern="1200" dirty="0" smtClean="0">
                          <a:solidFill>
                            <a:schemeClr val="tx1"/>
                          </a:solidFill>
                          <a:effectLst/>
                          <a:latin typeface="+mn-lt"/>
                          <a:ea typeface="+mn-ea"/>
                          <a:cs typeface="+mn-cs"/>
                        </a:rPr>
                        <a:t>配置。</a:t>
                      </a:r>
                      <a:endParaRPr lang="zh-CN" altLang="en-US" sz="1400" kern="1200" dirty="0">
                        <a:solidFill>
                          <a:schemeClr val="tx1"/>
                        </a:solidFill>
                        <a:effectLst/>
                        <a:latin typeface="+mn-lt"/>
                        <a:ea typeface="+mn-ea"/>
                        <a:cs typeface="+mn-cs"/>
                      </a:endParaRPr>
                    </a:p>
                  </a:txBody>
                  <a:tcPr anchor="ctr">
                    <a:lnR w="28575" cap="flat" cmpd="sng" algn="ctr">
                      <a:solidFill>
                        <a:schemeClr val="tx1"/>
                      </a:solidFill>
                      <a:prstDash val="solid"/>
                      <a:round/>
                      <a:headEnd type="none" w="med" len="med"/>
                      <a:tailEnd type="none" w="med" len="med"/>
                    </a:lnR>
                  </a:tcPr>
                </a:tc>
              </a:tr>
              <a:tr h="621302">
                <a:tc>
                  <a:txBody>
                    <a:bodyPr/>
                    <a:lstStyle/>
                    <a:p>
                      <a:pPr algn="ctr"/>
                      <a:r>
                        <a:rPr lang="zh-CN" altLang="en-US" sz="1400">
                          <a:effectLst/>
                        </a:rPr>
                        <a:t>创建用户认证模板</a:t>
                      </a:r>
                    </a:p>
                  </a:txBody>
                  <a:tcPr anchor="ctr">
                    <a:lnL w="28575" cap="flat" cmpd="sng" algn="ctr">
                      <a:solidFill>
                        <a:schemeClr val="tx1"/>
                      </a:solidFill>
                      <a:prstDash val="solid"/>
                      <a:round/>
                      <a:headEnd type="none" w="med" len="med"/>
                      <a:tailEnd type="none" w="med" len="med"/>
                    </a:lnL>
                    <a:lnB w="28575" cap="flat" cmpd="sng" algn="ctr">
                      <a:solidFill>
                        <a:schemeClr val="tx1"/>
                      </a:solidFill>
                      <a:prstDash val="solid"/>
                      <a:round/>
                      <a:headEnd type="none" w="med" len="med"/>
                      <a:tailEnd type="none" w="med" len="med"/>
                    </a:lnB>
                  </a:tcPr>
                </a:tc>
                <a:tc>
                  <a:txBody>
                    <a:bodyPr/>
                    <a:lstStyle/>
                    <a:p>
                      <a:pPr marL="228600" indent="-228600" algn="l" defTabSz="914034" rtl="0" eaLnBrk="1" latinLnBrk="0" hangingPunct="1">
                        <a:lnSpc>
                          <a:spcPct val="100000"/>
                        </a:lnSpc>
                        <a:spcAft>
                          <a:spcPts val="0"/>
                        </a:spcAft>
                        <a:buFont typeface="+mj-lt"/>
                        <a:buAutoNum type="arabicPeriod"/>
                      </a:pPr>
                      <a:r>
                        <a:rPr lang="zh-CN" altLang="en-US" sz="1400" kern="1200" dirty="0" smtClean="0">
                          <a:solidFill>
                            <a:schemeClr val="tx1"/>
                          </a:solidFill>
                          <a:effectLst/>
                          <a:latin typeface="+mn-lt"/>
                          <a:ea typeface="+mn-ea"/>
                          <a:cs typeface="+mn-cs"/>
                        </a:rPr>
                        <a:t>选择</a:t>
                      </a:r>
                      <a:r>
                        <a:rPr lang="zh-CN" altLang="en-US" sz="1400" kern="1200" dirty="0">
                          <a:solidFill>
                            <a:schemeClr val="tx1"/>
                          </a:solidFill>
                          <a:effectLst/>
                          <a:latin typeface="+mn-lt"/>
                          <a:ea typeface="+mn-ea"/>
                          <a:cs typeface="+mn-cs"/>
                        </a:rPr>
                        <a:t>用户认证方式，常用的包括</a:t>
                      </a:r>
                      <a:r>
                        <a:rPr lang="en-US" altLang="zh-CN" sz="1400" kern="1200" dirty="0">
                          <a:solidFill>
                            <a:schemeClr val="tx1"/>
                          </a:solidFill>
                          <a:effectLst/>
                          <a:latin typeface="+mn-lt"/>
                          <a:ea typeface="+mn-ea"/>
                          <a:cs typeface="+mn-cs"/>
                        </a:rPr>
                        <a:t>802.1X</a:t>
                      </a:r>
                      <a:r>
                        <a:rPr lang="zh-CN" altLang="en-US" sz="1400" kern="1200" dirty="0">
                          <a:solidFill>
                            <a:schemeClr val="tx1"/>
                          </a:solidFill>
                          <a:effectLst/>
                          <a:latin typeface="+mn-lt"/>
                          <a:ea typeface="+mn-ea"/>
                          <a:cs typeface="+mn-cs"/>
                        </a:rPr>
                        <a:t>认证、</a:t>
                      </a:r>
                      <a:r>
                        <a:rPr lang="en-US" altLang="zh-CN" sz="1400" kern="1200" dirty="0">
                          <a:solidFill>
                            <a:schemeClr val="tx1"/>
                          </a:solidFill>
                          <a:effectLst/>
                          <a:latin typeface="+mn-lt"/>
                          <a:ea typeface="+mn-ea"/>
                          <a:cs typeface="+mn-cs"/>
                        </a:rPr>
                        <a:t>MAC</a:t>
                      </a:r>
                      <a:r>
                        <a:rPr lang="zh-CN" altLang="en-US" sz="1400" kern="1200" dirty="0">
                          <a:solidFill>
                            <a:schemeClr val="tx1"/>
                          </a:solidFill>
                          <a:effectLst/>
                          <a:latin typeface="+mn-lt"/>
                          <a:ea typeface="+mn-ea"/>
                          <a:cs typeface="+mn-cs"/>
                        </a:rPr>
                        <a:t>认证和</a:t>
                      </a:r>
                      <a:r>
                        <a:rPr lang="en-US" altLang="zh-CN" sz="1400" kern="1200" dirty="0">
                          <a:solidFill>
                            <a:schemeClr val="tx1"/>
                          </a:solidFill>
                          <a:effectLst/>
                          <a:latin typeface="+mn-lt"/>
                          <a:ea typeface="+mn-ea"/>
                          <a:cs typeface="+mn-cs"/>
                        </a:rPr>
                        <a:t>Portal</a:t>
                      </a:r>
                      <a:r>
                        <a:rPr lang="zh-CN" altLang="en-US" sz="1400" kern="1200" dirty="0">
                          <a:solidFill>
                            <a:schemeClr val="tx1"/>
                          </a:solidFill>
                          <a:effectLst/>
                          <a:latin typeface="+mn-lt"/>
                          <a:ea typeface="+mn-ea"/>
                          <a:cs typeface="+mn-cs"/>
                        </a:rPr>
                        <a:t>认证。一个模板可以包含多种认证</a:t>
                      </a:r>
                      <a:r>
                        <a:rPr lang="zh-CN" altLang="en-US" sz="1400" kern="1200" dirty="0" smtClean="0">
                          <a:solidFill>
                            <a:schemeClr val="tx1"/>
                          </a:solidFill>
                          <a:effectLst/>
                          <a:latin typeface="+mn-lt"/>
                          <a:ea typeface="+mn-ea"/>
                          <a:cs typeface="+mn-cs"/>
                        </a:rPr>
                        <a:t>方式。</a:t>
                      </a:r>
                      <a:endParaRPr lang="zh-CN" altLang="en-US" sz="1400" kern="1200" dirty="0">
                        <a:solidFill>
                          <a:schemeClr val="tx1"/>
                        </a:solidFill>
                        <a:effectLst/>
                        <a:latin typeface="+mn-lt"/>
                        <a:ea typeface="+mn-ea"/>
                        <a:cs typeface="+mn-cs"/>
                      </a:endParaRPr>
                    </a:p>
                    <a:p>
                      <a:pPr marL="228600" indent="-228600" algn="l" defTabSz="914034" rtl="0" eaLnBrk="1" latinLnBrk="0" hangingPunct="1">
                        <a:lnSpc>
                          <a:spcPct val="100000"/>
                        </a:lnSpc>
                        <a:spcAft>
                          <a:spcPts val="0"/>
                        </a:spcAft>
                        <a:buFont typeface="+mj-lt"/>
                        <a:buAutoNum type="arabicPeriod"/>
                      </a:pPr>
                      <a:r>
                        <a:rPr lang="zh-CN" altLang="en-US" sz="1400" kern="1200" dirty="0" smtClean="0">
                          <a:solidFill>
                            <a:schemeClr val="tx1"/>
                          </a:solidFill>
                          <a:effectLst/>
                          <a:latin typeface="+mn-lt"/>
                          <a:ea typeface="+mn-ea"/>
                          <a:cs typeface="+mn-cs"/>
                        </a:rPr>
                        <a:t>选择</a:t>
                      </a:r>
                      <a:r>
                        <a:rPr lang="zh-CN" altLang="en-US" sz="1400" kern="1200" dirty="0">
                          <a:solidFill>
                            <a:schemeClr val="tx1"/>
                          </a:solidFill>
                          <a:effectLst/>
                          <a:latin typeface="+mn-lt"/>
                          <a:ea typeface="+mn-ea"/>
                          <a:cs typeface="+mn-cs"/>
                        </a:rPr>
                        <a:t>需要绑定的</a:t>
                      </a:r>
                      <a:r>
                        <a:rPr lang="en-US" altLang="zh-CN" sz="1400" kern="1200" dirty="0">
                          <a:solidFill>
                            <a:schemeClr val="tx1"/>
                          </a:solidFill>
                          <a:effectLst/>
                          <a:latin typeface="+mn-lt"/>
                          <a:ea typeface="+mn-ea"/>
                          <a:cs typeface="+mn-cs"/>
                        </a:rPr>
                        <a:t>RADIUS</a:t>
                      </a:r>
                      <a:r>
                        <a:rPr lang="zh-CN" altLang="en-US" sz="1400" kern="1200" dirty="0">
                          <a:solidFill>
                            <a:schemeClr val="tx1"/>
                          </a:solidFill>
                          <a:effectLst/>
                          <a:latin typeface="+mn-lt"/>
                          <a:ea typeface="+mn-ea"/>
                          <a:cs typeface="+mn-cs"/>
                        </a:rPr>
                        <a:t>服务器模板或者</a:t>
                      </a:r>
                      <a:r>
                        <a:rPr lang="en-US" altLang="zh-CN" sz="1400" kern="1200" dirty="0">
                          <a:solidFill>
                            <a:schemeClr val="tx1"/>
                          </a:solidFill>
                          <a:effectLst/>
                          <a:latin typeface="+mn-lt"/>
                          <a:ea typeface="+mn-ea"/>
                          <a:cs typeface="+mn-cs"/>
                        </a:rPr>
                        <a:t>Portal</a:t>
                      </a:r>
                      <a:r>
                        <a:rPr lang="zh-CN" altLang="en-US" sz="1400" kern="1200" dirty="0">
                          <a:solidFill>
                            <a:schemeClr val="tx1"/>
                          </a:solidFill>
                          <a:effectLst/>
                          <a:latin typeface="+mn-lt"/>
                          <a:ea typeface="+mn-ea"/>
                          <a:cs typeface="+mn-cs"/>
                        </a:rPr>
                        <a:t>服务器</a:t>
                      </a:r>
                      <a:r>
                        <a:rPr lang="zh-CN" altLang="en-US" sz="1400" kern="1200" dirty="0" smtClean="0">
                          <a:solidFill>
                            <a:schemeClr val="tx1"/>
                          </a:solidFill>
                          <a:effectLst/>
                          <a:latin typeface="+mn-lt"/>
                          <a:ea typeface="+mn-ea"/>
                          <a:cs typeface="+mn-cs"/>
                        </a:rPr>
                        <a:t>模板。</a:t>
                      </a:r>
                      <a:endParaRPr lang="zh-CN" altLang="en-US" sz="1400" kern="1200" dirty="0">
                        <a:solidFill>
                          <a:schemeClr val="tx1"/>
                        </a:solidFill>
                        <a:effectLst/>
                        <a:latin typeface="+mn-lt"/>
                        <a:ea typeface="+mn-ea"/>
                        <a:cs typeface="+mn-cs"/>
                      </a:endParaRPr>
                    </a:p>
                  </a:txBody>
                  <a:tcPr anchor="ctr">
                    <a:lnR w="28575" cap="flat" cmpd="sng" algn="ctr">
                      <a:solidFill>
                        <a:schemeClr val="tx1"/>
                      </a:solidFill>
                      <a:prstDash val="solid"/>
                      <a:round/>
                      <a:headEnd type="none" w="med" len="med"/>
                      <a:tailEnd type="none" w="med" len="med"/>
                    </a:lnR>
                    <a:lnB w="28575" cap="flat" cmpd="sng" algn="ctr">
                      <a:solidFill>
                        <a:schemeClr val="tx1"/>
                      </a:solidFill>
                      <a:prstDash val="solid"/>
                      <a:round/>
                      <a:headEnd type="none" w="med" len="med"/>
                      <a:tailEnd type="none" w="med" len="med"/>
                    </a:lnB>
                  </a:tcPr>
                </a:tc>
              </a:tr>
            </a:tbl>
          </a:graphicData>
        </a:graphic>
      </p:graphicFrame>
      <p:sp>
        <p:nvSpPr>
          <p:cNvPr id="11" name="五边形 10"/>
          <p:cNvSpPr/>
          <p:nvPr/>
        </p:nvSpPr>
        <p:spPr bwMode="gray">
          <a:xfrm>
            <a:off x="5773628" y="98481"/>
            <a:ext cx="9000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站点管理</a:t>
            </a:r>
          </a:p>
        </p:txBody>
      </p:sp>
      <p:sp>
        <p:nvSpPr>
          <p:cNvPr id="12" name="燕尾形 11"/>
          <p:cNvSpPr/>
          <p:nvPr/>
        </p:nvSpPr>
        <p:spPr bwMode="gray">
          <a:xfrm>
            <a:off x="9109268" y="9848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逻辑网络</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9" name="燕尾形 18"/>
          <p:cNvSpPr/>
          <p:nvPr/>
        </p:nvSpPr>
        <p:spPr bwMode="gray">
          <a:xfrm>
            <a:off x="9925178" y="9848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业务部署</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0" name="燕尾形 19"/>
          <p:cNvSpPr/>
          <p:nvPr/>
        </p:nvSpPr>
        <p:spPr bwMode="gray">
          <a:xfrm>
            <a:off x="8221358" y="98481"/>
            <a:ext cx="972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smtClean="0">
                <a:latin typeface="Huawei Sans" panose="020C0503030203020204" pitchFamily="34" charset="0"/>
                <a:ea typeface="方正兰亭黑简体" panose="02000000000000000000" pitchFamily="2" charset="-122"/>
                <a:sym typeface="Huawei Sans" panose="020C0503030203020204" pitchFamily="34" charset="0"/>
              </a:rPr>
              <a:t>Fabric</a:t>
            </a:r>
            <a:r>
              <a:rPr lang="zh-CN" altLang="en-US" sz="1200" kern="0" dirty="0" smtClean="0">
                <a:latin typeface="Huawei Sans" panose="020C0503030203020204" pitchFamily="34" charset="0"/>
                <a:ea typeface="方正兰亭黑简体" panose="02000000000000000000" pitchFamily="2" charset="-122"/>
                <a:sym typeface="Huawei Sans" panose="020C0503030203020204" pitchFamily="34" charset="0"/>
              </a:rPr>
              <a:t>网络</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1" name="燕尾形 20"/>
          <p:cNvSpPr/>
          <p:nvPr/>
        </p:nvSpPr>
        <p:spPr bwMode="gray">
          <a:xfrm>
            <a:off x="7405448" y="98481"/>
            <a:ext cx="9000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网络规划</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2" name="燕尾形 21"/>
          <p:cNvSpPr/>
          <p:nvPr/>
        </p:nvSpPr>
        <p:spPr bwMode="gray">
          <a:xfrm>
            <a:off x="6589538" y="9848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设备管理</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3" name="燕尾形 22"/>
          <p:cNvSpPr/>
          <p:nvPr/>
        </p:nvSpPr>
        <p:spPr bwMode="gray">
          <a:xfrm>
            <a:off x="10741088" y="98481"/>
            <a:ext cx="1008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WLAN</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业务</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3528183997"/>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normAutofit/>
          </a:bodyPr>
          <a:lstStyle/>
          <a:p>
            <a:r>
              <a:rPr lang="zh-CN" altLang="en-US" smtClean="0"/>
              <a:t>配置</a:t>
            </a:r>
            <a:r>
              <a:rPr lang="en-US" altLang="zh-CN" smtClean="0"/>
              <a:t>Fabric</a:t>
            </a:r>
            <a:r>
              <a:rPr lang="zh-CN" altLang="en-US" smtClean="0"/>
              <a:t>网络</a:t>
            </a:r>
            <a:endParaRPr lang="zh-CN" altLang="en-US" dirty="0"/>
          </a:p>
        </p:txBody>
      </p:sp>
      <p:sp>
        <p:nvSpPr>
          <p:cNvPr id="3" name="文本占位符 2"/>
          <p:cNvSpPr>
            <a:spLocks noGrp="1"/>
          </p:cNvSpPr>
          <p:nvPr>
            <p:ph type="body" sz="quarter" idx="10"/>
          </p:nvPr>
        </p:nvSpPr>
        <p:spPr bwMode="gray">
          <a:xfrm>
            <a:off x="455612" y="1047751"/>
            <a:ext cx="11293475" cy="612216"/>
          </a:xfrm>
        </p:spPr>
        <p:txBody>
          <a:bodyPr/>
          <a:lstStyle/>
          <a:p>
            <a:r>
              <a:rPr lang="en-US" altLang="zh-CN" sz="2000" dirty="0" smtClean="0"/>
              <a:t>Fabric</a:t>
            </a:r>
            <a:r>
              <a:rPr lang="zh-CN" altLang="en-US" sz="2000" dirty="0" smtClean="0"/>
              <a:t>是使用</a:t>
            </a:r>
            <a:r>
              <a:rPr lang="en-US" altLang="zh-CN" sz="2000" dirty="0" smtClean="0"/>
              <a:t>VXLAN</a:t>
            </a:r>
            <a:r>
              <a:rPr lang="zh-CN" altLang="en-US" sz="2000" dirty="0" smtClean="0"/>
              <a:t>技术构建在物理网络之上的资源池化网络。</a:t>
            </a:r>
            <a:endParaRPr lang="en-US" altLang="zh-CN" sz="2000" dirty="0" smtClean="0"/>
          </a:p>
        </p:txBody>
      </p:sp>
      <p:sp>
        <p:nvSpPr>
          <p:cNvPr id="80" name="Freeform 159"/>
          <p:cNvSpPr/>
          <p:nvPr/>
        </p:nvSpPr>
        <p:spPr bwMode="gray">
          <a:xfrm flipH="1">
            <a:off x="1170367" y="1828774"/>
            <a:ext cx="1240474" cy="648430"/>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tIns="108000" rtlCol="0" anchor="ctr">
            <a:noAutofit/>
          </a:bodyPr>
          <a:lstStyle/>
          <a:p>
            <a:pPr algn="ctr"/>
            <a:r>
              <a:rPr lang="zh-CN" altLang="en-US" sz="1400" smtClean="0">
                <a:solidFill>
                  <a:schemeClr val="bg1">
                    <a:lumMod val="50000"/>
                  </a:schemeClr>
                </a:solidFill>
              </a:rPr>
              <a:t>外部网络</a:t>
            </a:r>
            <a:endParaRPr lang="en-US" sz="1400">
              <a:solidFill>
                <a:schemeClr val="bg1">
                  <a:lumMod val="50000"/>
                </a:schemeClr>
              </a:solidFill>
            </a:endParaRPr>
          </a:p>
        </p:txBody>
      </p:sp>
      <p:sp>
        <p:nvSpPr>
          <p:cNvPr id="81" name="Freeform 159"/>
          <p:cNvSpPr/>
          <p:nvPr/>
        </p:nvSpPr>
        <p:spPr bwMode="gray">
          <a:xfrm flipH="1">
            <a:off x="3296485" y="1828774"/>
            <a:ext cx="1240474" cy="648430"/>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tIns="108000" rtlCol="0" anchor="ctr">
            <a:noAutofit/>
          </a:bodyPr>
          <a:lstStyle/>
          <a:p>
            <a:pPr algn="ctr"/>
            <a:r>
              <a:rPr lang="zh-CN" altLang="en-US" sz="1400" smtClean="0">
                <a:solidFill>
                  <a:schemeClr val="bg1">
                    <a:lumMod val="50000"/>
                  </a:schemeClr>
                </a:solidFill>
              </a:rPr>
              <a:t>网络服务</a:t>
            </a:r>
            <a:endParaRPr lang="en-US" altLang="zh-CN" sz="1400" smtClean="0">
              <a:solidFill>
                <a:schemeClr val="bg1">
                  <a:lumMod val="50000"/>
                </a:schemeClr>
              </a:solidFill>
            </a:endParaRPr>
          </a:p>
          <a:p>
            <a:pPr algn="ctr"/>
            <a:r>
              <a:rPr lang="zh-CN" altLang="en-US" sz="1400" smtClean="0">
                <a:solidFill>
                  <a:schemeClr val="bg1">
                    <a:lumMod val="50000"/>
                  </a:schemeClr>
                </a:solidFill>
              </a:rPr>
              <a:t>资源</a:t>
            </a:r>
            <a:endParaRPr lang="en-US" sz="1400">
              <a:solidFill>
                <a:schemeClr val="bg1">
                  <a:lumMod val="50000"/>
                </a:schemeClr>
              </a:solidFill>
            </a:endParaRPr>
          </a:p>
        </p:txBody>
      </p:sp>
      <p:pic>
        <p:nvPicPr>
          <p:cNvPr id="82" name="图片 79" descr="PC.png">
            <a:extLst>
              <a:ext uri="{FF2B5EF4-FFF2-40B4-BE49-F238E27FC236}">
                <a16:creationId xmlns="" xmlns:a16="http://schemas.microsoft.com/office/drawing/2014/main" id="{4666702E-823D-4236-BF2F-880359158C83}"/>
              </a:ext>
            </a:extLst>
          </p:cNvPr>
          <p:cNvPicPr>
            <a:picLocks noChangeAspect="1"/>
          </p:cNvPicPr>
          <p:nvPr/>
        </p:nvPicPr>
        <p:blipFill>
          <a:blip r:embed="rId3" cstate="print"/>
          <a:stretch>
            <a:fillRect/>
          </a:stretch>
        </p:blipFill>
        <p:spPr bwMode="gray">
          <a:xfrm>
            <a:off x="1701711" y="5682985"/>
            <a:ext cx="445506" cy="342149"/>
          </a:xfrm>
          <a:prstGeom prst="rect">
            <a:avLst/>
          </a:prstGeom>
        </p:spPr>
      </p:pic>
      <p:sp>
        <p:nvSpPr>
          <p:cNvPr id="84" name="圆角矩形 83"/>
          <p:cNvSpPr/>
          <p:nvPr/>
        </p:nvSpPr>
        <p:spPr bwMode="gray">
          <a:xfrm>
            <a:off x="1064415" y="2738416"/>
            <a:ext cx="3948649" cy="2628871"/>
          </a:xfrm>
          <a:prstGeom prst="roundRect">
            <a:avLst>
              <a:gd name="adj" fmla="val 3166"/>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85" name="Freeform 159"/>
          <p:cNvSpPr/>
          <p:nvPr/>
        </p:nvSpPr>
        <p:spPr bwMode="gray">
          <a:xfrm flipH="1">
            <a:off x="1765912" y="3091232"/>
            <a:ext cx="2311472" cy="1323216"/>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rgbClr val="E3F6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Huawei Sans" panose="020C0503030203020204" pitchFamily="34" charset="0"/>
              <a:ea typeface="方正兰亭黑简体" panose="02000000000000000000" pitchFamily="2" charset="-122"/>
            </a:endParaRPr>
          </a:p>
        </p:txBody>
      </p:sp>
      <p:cxnSp>
        <p:nvCxnSpPr>
          <p:cNvPr id="86" name="Straight Connector 166"/>
          <p:cNvCxnSpPr>
            <a:stCxn id="93" idx="2"/>
            <a:endCxn id="118" idx="0"/>
          </p:cNvCxnSpPr>
          <p:nvPr/>
        </p:nvCxnSpPr>
        <p:spPr bwMode="gray">
          <a:xfrm>
            <a:off x="1917204" y="4376069"/>
            <a:ext cx="0" cy="40327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7" name="Straight Connector 166"/>
          <p:cNvCxnSpPr>
            <a:stCxn id="94" idx="2"/>
            <a:endCxn id="119" idx="0"/>
          </p:cNvCxnSpPr>
          <p:nvPr/>
        </p:nvCxnSpPr>
        <p:spPr bwMode="gray">
          <a:xfrm>
            <a:off x="3848005" y="4376069"/>
            <a:ext cx="0" cy="40327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8" name="Straight Connector 167"/>
          <p:cNvCxnSpPr/>
          <p:nvPr/>
        </p:nvCxnSpPr>
        <p:spPr bwMode="gray">
          <a:xfrm flipH="1">
            <a:off x="1917914" y="3316837"/>
            <a:ext cx="971589" cy="876201"/>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89" name="Straight Connector 167"/>
          <p:cNvCxnSpPr/>
          <p:nvPr/>
        </p:nvCxnSpPr>
        <p:spPr bwMode="gray">
          <a:xfrm flipH="1" flipV="1">
            <a:off x="2886124" y="3314360"/>
            <a:ext cx="975076" cy="883934"/>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sp>
        <p:nvSpPr>
          <p:cNvPr id="90" name="文本框 89"/>
          <p:cNvSpPr txBox="1"/>
          <p:nvPr/>
        </p:nvSpPr>
        <p:spPr bwMode="gray">
          <a:xfrm>
            <a:off x="2022490" y="3184251"/>
            <a:ext cx="676788" cy="276999"/>
          </a:xfrm>
          <a:prstGeom prst="rect">
            <a:avLst/>
          </a:prstGeom>
          <a:noFill/>
        </p:spPr>
        <p:txBody>
          <a:bodyPr wrap="none" rtlCol="0">
            <a:spAutoFit/>
          </a:bodyPr>
          <a:lstStyle/>
          <a:p>
            <a:pPr algn="ctr"/>
            <a:r>
              <a:rPr lang="en-US" altLang="zh-CN" sz="1200" b="1" dirty="0" smtClean="0">
                <a:latin typeface="Huawei Sans" panose="020C0503030203020204" pitchFamily="34" charset="0"/>
                <a:ea typeface="方正兰亭黑简体" panose="02000000000000000000" pitchFamily="2" charset="-122"/>
                <a:cs typeface="Huawei Sans" panose="020C0503030203020204" pitchFamily="34" charset="0"/>
              </a:rPr>
              <a:t>Border</a:t>
            </a:r>
            <a:endParaRPr lang="zh-CN" altLang="en-US" sz="1200" b="1"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91" name="文本框 90"/>
          <p:cNvSpPr txBox="1"/>
          <p:nvPr/>
        </p:nvSpPr>
        <p:spPr bwMode="gray">
          <a:xfrm>
            <a:off x="1063476" y="4043296"/>
            <a:ext cx="702436" cy="276999"/>
          </a:xfrm>
          <a:prstGeom prst="rect">
            <a:avLst/>
          </a:prstGeom>
          <a:noFill/>
        </p:spPr>
        <p:txBody>
          <a:bodyPr wrap="none" rtlCol="0">
            <a:spAutoFit/>
          </a:bodyPr>
          <a:lstStyle/>
          <a:p>
            <a:pPr algn="r"/>
            <a:r>
              <a:rPr lang="en-US" altLang="zh-CN" sz="1200" b="1" dirty="0" smtClean="0">
                <a:latin typeface="Huawei Sans" panose="020C0503030203020204" pitchFamily="34" charset="0"/>
                <a:ea typeface="方正兰亭黑简体" panose="02000000000000000000" pitchFamily="2" charset="-122"/>
                <a:cs typeface="Huawei Sans" panose="020C0503030203020204" pitchFamily="34" charset="0"/>
              </a:rPr>
              <a:t>Edge_1</a:t>
            </a:r>
            <a:endParaRPr lang="zh-CN" altLang="en-US" sz="1200" b="1"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92" name="文本框 91"/>
          <p:cNvSpPr txBox="1"/>
          <p:nvPr/>
        </p:nvSpPr>
        <p:spPr bwMode="gray">
          <a:xfrm>
            <a:off x="1134008" y="4830045"/>
            <a:ext cx="631904" cy="276999"/>
          </a:xfrm>
          <a:prstGeom prst="rect">
            <a:avLst/>
          </a:prstGeom>
          <a:noFill/>
        </p:spPr>
        <p:txBody>
          <a:bodyPr wrap="none" rtlCol="0">
            <a:spAutoFit/>
          </a:bodyPr>
          <a:lstStyle/>
          <a:p>
            <a:pPr algn="r"/>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ACC_1</a:t>
            </a:r>
          </a:p>
        </p:txBody>
      </p:sp>
      <p:pic>
        <p:nvPicPr>
          <p:cNvPr id="93" name="图片 87" descr="汇聚交换机.png"/>
          <p:cNvPicPr>
            <a:picLocks noChangeAspect="1"/>
          </p:cNvPicPr>
          <p:nvPr/>
        </p:nvPicPr>
        <p:blipFill>
          <a:blip r:embed="rId4" cstate="print"/>
          <a:stretch>
            <a:fillRect/>
          </a:stretch>
        </p:blipFill>
        <p:spPr bwMode="gray">
          <a:xfrm>
            <a:off x="1694063" y="4010930"/>
            <a:ext cx="446281" cy="365139"/>
          </a:xfrm>
          <a:prstGeom prst="rect">
            <a:avLst/>
          </a:prstGeom>
        </p:spPr>
      </p:pic>
      <p:pic>
        <p:nvPicPr>
          <p:cNvPr id="94" name="图片 87" descr="汇聚交换机.png"/>
          <p:cNvPicPr>
            <a:picLocks noChangeAspect="1"/>
          </p:cNvPicPr>
          <p:nvPr/>
        </p:nvPicPr>
        <p:blipFill>
          <a:blip r:embed="rId4" cstate="print"/>
          <a:stretch>
            <a:fillRect/>
          </a:stretch>
        </p:blipFill>
        <p:spPr bwMode="gray">
          <a:xfrm>
            <a:off x="3624864" y="4010930"/>
            <a:ext cx="446281" cy="365139"/>
          </a:xfrm>
          <a:prstGeom prst="rect">
            <a:avLst/>
          </a:prstGeom>
        </p:spPr>
      </p:pic>
      <p:sp>
        <p:nvSpPr>
          <p:cNvPr id="95" name="文本框 94"/>
          <p:cNvSpPr txBox="1"/>
          <p:nvPr/>
        </p:nvSpPr>
        <p:spPr bwMode="gray">
          <a:xfrm>
            <a:off x="3055012" y="4830045"/>
            <a:ext cx="631903" cy="276999"/>
          </a:xfrm>
          <a:prstGeom prst="rect">
            <a:avLst/>
          </a:prstGeom>
          <a:noFill/>
        </p:spPr>
        <p:txBody>
          <a:bodyPr wrap="none" rtlCol="0">
            <a:spAutoFit/>
          </a:bodyPr>
          <a:lstStyle/>
          <a:p>
            <a:pPr algn="r"/>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ACC_2</a:t>
            </a:r>
          </a:p>
        </p:txBody>
      </p:sp>
      <p:cxnSp>
        <p:nvCxnSpPr>
          <p:cNvPr id="96" name="直接连接符 95"/>
          <p:cNvCxnSpPr/>
          <p:nvPr/>
        </p:nvCxnSpPr>
        <p:spPr bwMode="gray">
          <a:xfrm>
            <a:off x="1924464" y="5176886"/>
            <a:ext cx="0" cy="455400"/>
          </a:xfrm>
          <a:prstGeom prst="line">
            <a:avLst/>
          </a:prstGeom>
          <a:ln>
            <a:solidFill>
              <a:srgbClr val="30B5C5"/>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99" name="直接连接符 98"/>
          <p:cNvCxnSpPr/>
          <p:nvPr/>
        </p:nvCxnSpPr>
        <p:spPr bwMode="gray">
          <a:xfrm>
            <a:off x="4489009" y="5359524"/>
            <a:ext cx="0" cy="272762"/>
          </a:xfrm>
          <a:prstGeom prst="line">
            <a:avLst/>
          </a:prstGeom>
          <a:ln>
            <a:solidFill>
              <a:srgbClr val="30B5C5"/>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02" name="文本框 101"/>
          <p:cNvSpPr txBox="1"/>
          <p:nvPr/>
        </p:nvSpPr>
        <p:spPr bwMode="gray">
          <a:xfrm>
            <a:off x="2534256" y="3889407"/>
            <a:ext cx="676788" cy="307777"/>
          </a:xfrm>
          <a:prstGeom prst="rect">
            <a:avLst/>
          </a:prstGeom>
          <a:noFill/>
        </p:spPr>
        <p:txBody>
          <a:bodyPr wrap="none" rtlCol="0">
            <a:spAutoFit/>
          </a:bodyPr>
          <a:lstStyle/>
          <a:p>
            <a:pPr algn="ctr"/>
            <a:r>
              <a:rPr lang="en-US" altLang="zh-CN" sz="1400" dirty="0" smtClean="0">
                <a:solidFill>
                  <a:srgbClr val="30B5C5"/>
                </a:solidFill>
                <a:latin typeface="Huawei Sans" panose="020C0503030203020204" pitchFamily="34" charset="0"/>
                <a:ea typeface="方正兰亭细黑简体" panose="02000000000000000000" pitchFamily="2" charset="-122"/>
                <a:sym typeface="Huawei Sans" panose="020C0503030203020204" pitchFamily="34" charset="0"/>
              </a:rPr>
              <a:t>Fabric</a:t>
            </a:r>
          </a:p>
        </p:txBody>
      </p:sp>
      <p:cxnSp>
        <p:nvCxnSpPr>
          <p:cNvPr id="103" name="直接连接符 102"/>
          <p:cNvCxnSpPr/>
          <p:nvPr/>
        </p:nvCxnSpPr>
        <p:spPr bwMode="gray">
          <a:xfrm>
            <a:off x="2173163" y="2524474"/>
            <a:ext cx="495259" cy="621078"/>
          </a:xfrm>
          <a:prstGeom prst="line">
            <a:avLst/>
          </a:prstGeom>
          <a:ln>
            <a:solidFill>
              <a:srgbClr val="30B5C5"/>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04" name="直接连接符 103"/>
          <p:cNvCxnSpPr/>
          <p:nvPr/>
        </p:nvCxnSpPr>
        <p:spPr bwMode="gray">
          <a:xfrm flipH="1">
            <a:off x="3140759" y="2534087"/>
            <a:ext cx="464971" cy="611465"/>
          </a:xfrm>
          <a:prstGeom prst="line">
            <a:avLst/>
          </a:prstGeom>
          <a:ln>
            <a:solidFill>
              <a:srgbClr val="30B5C5"/>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07" name="文本框 106"/>
          <p:cNvSpPr txBox="1"/>
          <p:nvPr/>
        </p:nvSpPr>
        <p:spPr bwMode="gray">
          <a:xfrm>
            <a:off x="4024479" y="4043296"/>
            <a:ext cx="702436" cy="276999"/>
          </a:xfrm>
          <a:prstGeom prst="rect">
            <a:avLst/>
          </a:prstGeom>
          <a:noFill/>
        </p:spPr>
        <p:txBody>
          <a:bodyPr wrap="none" rtlCol="0">
            <a:spAutoFit/>
          </a:bodyPr>
          <a:lstStyle/>
          <a:p>
            <a:r>
              <a:rPr lang="en-US" altLang="zh-CN" sz="1200" b="1" dirty="0" smtClean="0">
                <a:latin typeface="Huawei Sans" panose="020C0503030203020204" pitchFamily="34" charset="0"/>
                <a:ea typeface="方正兰亭黑简体" panose="02000000000000000000" pitchFamily="2" charset="-122"/>
                <a:cs typeface="Huawei Sans" panose="020C0503030203020204" pitchFamily="34" charset="0"/>
              </a:rPr>
              <a:t>Edge_2</a:t>
            </a:r>
            <a:endParaRPr lang="zh-CN" altLang="en-US" sz="1200" b="1"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108" name="文本框 107"/>
          <p:cNvSpPr txBox="1"/>
          <p:nvPr/>
        </p:nvSpPr>
        <p:spPr bwMode="gray">
          <a:xfrm>
            <a:off x="1096890" y="2888585"/>
            <a:ext cx="468398" cy="307777"/>
          </a:xfrm>
          <a:prstGeom prst="rect">
            <a:avLst/>
          </a:prstGeom>
          <a:noFill/>
        </p:spPr>
        <p:txBody>
          <a:bodyPr wrap="none" rtlCol="0">
            <a:spAutoFit/>
          </a:bodyPr>
          <a:lstStyle/>
          <a:p>
            <a:r>
              <a:rPr lang="en-US" altLang="zh-CN" sz="1400" b="1" dirty="0" smtClean="0">
                <a:latin typeface="Huawei Sans" panose="020C0503030203020204" pitchFamily="34" charset="0"/>
                <a:ea typeface="方正兰亭黑简体" panose="02000000000000000000" pitchFamily="2" charset="-122"/>
                <a:cs typeface="Huawei Sans" panose="020C0503030203020204" pitchFamily="34" charset="0"/>
              </a:rPr>
              <a:t>HQ</a:t>
            </a:r>
            <a:endParaRPr lang="zh-CN" altLang="en-US" sz="1400" b="1" dirty="0">
              <a:latin typeface="Huawei Sans" panose="020C0503030203020204" pitchFamily="34" charset="0"/>
              <a:ea typeface="方正兰亭黑简体" panose="02000000000000000000" pitchFamily="2" charset="-122"/>
              <a:cs typeface="Huawei Sans" panose="020C0503030203020204" pitchFamily="34" charset="0"/>
            </a:endParaRPr>
          </a:p>
        </p:txBody>
      </p:sp>
      <p:pic>
        <p:nvPicPr>
          <p:cNvPr id="118" name="图片 76" descr="接入交换机.png"/>
          <p:cNvPicPr>
            <a:picLocks noChangeAspect="1"/>
          </p:cNvPicPr>
          <p:nvPr/>
        </p:nvPicPr>
        <p:blipFill>
          <a:blip r:embed="rId5" cstate="print"/>
          <a:stretch>
            <a:fillRect/>
          </a:stretch>
        </p:blipFill>
        <p:spPr bwMode="gray">
          <a:xfrm>
            <a:off x="1694063" y="4779346"/>
            <a:ext cx="446281" cy="365139"/>
          </a:xfrm>
          <a:prstGeom prst="rect">
            <a:avLst/>
          </a:prstGeom>
        </p:spPr>
      </p:pic>
      <p:pic>
        <p:nvPicPr>
          <p:cNvPr id="119" name="图片 76" descr="接入交换机.png"/>
          <p:cNvPicPr>
            <a:picLocks noChangeAspect="1"/>
          </p:cNvPicPr>
          <p:nvPr/>
        </p:nvPicPr>
        <p:blipFill>
          <a:blip r:embed="rId5" cstate="print"/>
          <a:stretch>
            <a:fillRect/>
          </a:stretch>
        </p:blipFill>
        <p:spPr bwMode="gray">
          <a:xfrm>
            <a:off x="3624864" y="4779346"/>
            <a:ext cx="446281" cy="365139"/>
          </a:xfrm>
          <a:prstGeom prst="rect">
            <a:avLst/>
          </a:prstGeom>
        </p:spPr>
      </p:pic>
      <p:pic>
        <p:nvPicPr>
          <p:cNvPr id="120" name="图片 86" descr="核心交换机.png"/>
          <p:cNvPicPr>
            <a:picLocks noChangeAspect="1"/>
          </p:cNvPicPr>
          <p:nvPr/>
        </p:nvPicPr>
        <p:blipFill>
          <a:blip r:embed="rId6" cstate="print"/>
          <a:stretch>
            <a:fillRect/>
          </a:stretch>
        </p:blipFill>
        <p:spPr bwMode="gray">
          <a:xfrm>
            <a:off x="2673756" y="3134268"/>
            <a:ext cx="446281" cy="365139"/>
          </a:xfrm>
          <a:prstGeom prst="rect">
            <a:avLst/>
          </a:prstGeom>
        </p:spPr>
      </p:pic>
      <p:pic>
        <p:nvPicPr>
          <p:cNvPr id="121" name="图片 120"/>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bwMode="gray">
          <a:xfrm>
            <a:off x="4049314" y="2899667"/>
            <a:ext cx="865097" cy="491769"/>
          </a:xfrm>
          <a:prstGeom prst="rect">
            <a:avLst/>
          </a:prstGeom>
        </p:spPr>
      </p:pic>
      <p:graphicFrame>
        <p:nvGraphicFramePr>
          <p:cNvPr id="122" name="表格 121"/>
          <p:cNvGraphicFramePr>
            <a:graphicFrameLocks noGrp="1"/>
          </p:cNvGraphicFramePr>
          <p:nvPr>
            <p:extLst>
              <p:ext uri="{D42A27DB-BD31-4B8C-83A1-F6EECF244321}">
                <p14:modId xmlns:p14="http://schemas.microsoft.com/office/powerpoint/2010/main" val="2326489859"/>
              </p:ext>
            </p:extLst>
          </p:nvPr>
        </p:nvGraphicFramePr>
        <p:xfrm>
          <a:off x="5201178" y="2597937"/>
          <a:ext cx="6451989" cy="2363979"/>
        </p:xfrm>
        <a:graphic>
          <a:graphicData uri="http://schemas.openxmlformats.org/drawingml/2006/table">
            <a:tbl>
              <a:tblPr/>
              <a:tblGrid>
                <a:gridCol w="1520578"/>
                <a:gridCol w="4931411"/>
              </a:tblGrid>
              <a:tr h="342605">
                <a:tc>
                  <a:txBody>
                    <a:bodyPr/>
                    <a:lstStyle/>
                    <a:p>
                      <a:pPr algn="ctr"/>
                      <a:r>
                        <a:rPr lang="zh-CN" altLang="en-US" sz="1400" b="1" dirty="0">
                          <a:effectLst/>
                        </a:rPr>
                        <a:t>任务描述</a:t>
                      </a:r>
                    </a:p>
                  </a:txBody>
                  <a:tcPr anchor="ctr">
                    <a:lnL w="28575" cap="flat" cmpd="sng" algn="ctr">
                      <a:solidFill>
                        <a:schemeClr val="tx1"/>
                      </a:solidFill>
                      <a:prstDash val="solid"/>
                      <a:round/>
                      <a:headEnd type="none" w="med" len="med"/>
                      <a:tailEnd type="none" w="med" len="med"/>
                    </a:lnL>
                    <a:lnT w="28575" cap="flat" cmpd="sng" algn="ctr">
                      <a:solidFill>
                        <a:schemeClr val="tx1"/>
                      </a:solidFill>
                      <a:prstDash val="solid"/>
                      <a:round/>
                      <a:headEnd type="none" w="med" len="med"/>
                      <a:tailEnd type="none" w="med" len="med"/>
                    </a:lnT>
                    <a:solidFill>
                      <a:schemeClr val="bg1">
                        <a:lumMod val="85000"/>
                      </a:schemeClr>
                    </a:solidFill>
                  </a:tcPr>
                </a:tc>
                <a:tc>
                  <a:txBody>
                    <a:bodyPr/>
                    <a:lstStyle/>
                    <a:p>
                      <a:pPr algn="ctr"/>
                      <a:r>
                        <a:rPr lang="zh-CN" altLang="en-US" sz="1400" b="1" dirty="0" smtClean="0">
                          <a:effectLst/>
                        </a:rPr>
                        <a:t>配置步骤</a:t>
                      </a:r>
                      <a:endParaRPr lang="zh-CN" altLang="en-US" sz="1400" b="1" dirty="0">
                        <a:effectLst/>
                      </a:endParaRPr>
                    </a:p>
                  </a:txBody>
                  <a:tcPr anchor="ctr">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solidFill>
                      <a:schemeClr val="bg1">
                        <a:lumMod val="85000"/>
                      </a:schemeClr>
                    </a:solidFill>
                  </a:tcPr>
                </a:tc>
              </a:tr>
              <a:tr h="2021374">
                <a:tc>
                  <a:txBody>
                    <a:bodyPr/>
                    <a:lstStyle/>
                    <a:p>
                      <a:pPr algn="ctr">
                        <a:lnSpc>
                          <a:spcPts val="2400"/>
                        </a:lnSpc>
                        <a:spcAft>
                          <a:spcPts val="600"/>
                        </a:spcAft>
                      </a:pPr>
                      <a:r>
                        <a:rPr lang="zh-CN" altLang="en-US" sz="1400" dirty="0" smtClean="0">
                          <a:effectLst/>
                        </a:rPr>
                        <a:t>配置</a:t>
                      </a:r>
                      <a:r>
                        <a:rPr lang="en-US" altLang="zh-CN" sz="1400" dirty="0" smtClean="0">
                          <a:effectLst/>
                        </a:rPr>
                        <a:t>Fabric</a:t>
                      </a:r>
                      <a:r>
                        <a:rPr lang="zh-CN" altLang="en-US" sz="1400" dirty="0" smtClean="0">
                          <a:effectLst/>
                        </a:rPr>
                        <a:t>网络</a:t>
                      </a:r>
                      <a:endParaRPr lang="zh-CN" altLang="en-US" sz="1400" dirty="0">
                        <a:effectLst/>
                      </a:endParaRPr>
                    </a:p>
                  </a:txBody>
                  <a:tcPr anchor="ctr">
                    <a:lnL w="28575" cap="flat" cmpd="sng" algn="ctr">
                      <a:solidFill>
                        <a:schemeClr val="tx1"/>
                      </a:solidFill>
                      <a:prstDash val="solid"/>
                      <a:round/>
                      <a:headEnd type="none" w="med" len="med"/>
                      <a:tailEnd type="none" w="med" len="med"/>
                    </a:lnL>
                    <a:lnB w="28575" cap="flat" cmpd="sng" algn="ctr">
                      <a:solidFill>
                        <a:schemeClr val="tx1"/>
                      </a:solidFill>
                      <a:prstDash val="solid"/>
                      <a:round/>
                      <a:headEnd type="none" w="med" len="med"/>
                      <a:tailEnd type="none" w="med" len="med"/>
                    </a:lnB>
                  </a:tcPr>
                </a:tc>
                <a:tc>
                  <a:txBody>
                    <a:bodyPr/>
                    <a:lstStyle/>
                    <a:p>
                      <a:pPr marL="228600" indent="-228600" algn="l" defTabSz="914034" rtl="0" eaLnBrk="1" latinLnBrk="0" hangingPunct="1">
                        <a:lnSpc>
                          <a:spcPct val="100000"/>
                        </a:lnSpc>
                        <a:spcAft>
                          <a:spcPts val="0"/>
                        </a:spcAft>
                        <a:buFont typeface="+mj-lt"/>
                        <a:buAutoNum type="arabicPeriod"/>
                      </a:pPr>
                      <a:r>
                        <a:rPr lang="zh-CN" altLang="en-US" sz="1400" kern="1200" dirty="0" smtClean="0">
                          <a:solidFill>
                            <a:schemeClr val="tx1"/>
                          </a:solidFill>
                          <a:effectLst/>
                          <a:latin typeface="+mn-lt"/>
                          <a:ea typeface="+mn-ea"/>
                          <a:cs typeface="+mn-cs"/>
                        </a:rPr>
                        <a:t>创建</a:t>
                      </a:r>
                      <a:r>
                        <a:rPr lang="en-US" altLang="zh-CN" sz="1400" kern="1200" dirty="0" smtClean="0">
                          <a:solidFill>
                            <a:schemeClr val="tx1"/>
                          </a:solidFill>
                          <a:effectLst/>
                          <a:latin typeface="+mn-lt"/>
                          <a:ea typeface="+mn-ea"/>
                          <a:cs typeface="+mn-cs"/>
                        </a:rPr>
                        <a:t>Fabric</a:t>
                      </a:r>
                      <a:r>
                        <a:rPr lang="zh-CN" altLang="en-US" sz="1400" kern="1200" dirty="0" smtClean="0">
                          <a:solidFill>
                            <a:schemeClr val="tx1"/>
                          </a:solidFill>
                          <a:effectLst/>
                          <a:latin typeface="+mn-lt"/>
                          <a:ea typeface="+mn-ea"/>
                          <a:cs typeface="+mn-cs"/>
                        </a:rPr>
                        <a:t>，并实现</a:t>
                      </a:r>
                      <a:r>
                        <a:rPr lang="en-US" altLang="zh-CN" sz="1400" kern="1200" dirty="0" smtClean="0">
                          <a:solidFill>
                            <a:schemeClr val="tx1"/>
                          </a:solidFill>
                          <a:effectLst/>
                          <a:latin typeface="+mn-lt"/>
                          <a:ea typeface="+mn-ea"/>
                          <a:cs typeface="+mn-cs"/>
                        </a:rPr>
                        <a:t>Underlay</a:t>
                      </a:r>
                      <a:r>
                        <a:rPr lang="zh-CN" altLang="en-US" sz="1400" kern="1200" dirty="0" smtClean="0">
                          <a:solidFill>
                            <a:schemeClr val="tx1"/>
                          </a:solidFill>
                          <a:effectLst/>
                          <a:latin typeface="+mn-lt"/>
                          <a:ea typeface="+mn-ea"/>
                          <a:cs typeface="+mn-cs"/>
                        </a:rPr>
                        <a:t>网络自动化部署。</a:t>
                      </a:r>
                      <a:endParaRPr lang="en-US" altLang="zh-CN" sz="1400" kern="1200" dirty="0" smtClean="0">
                        <a:solidFill>
                          <a:schemeClr val="tx1"/>
                        </a:solidFill>
                        <a:effectLst/>
                        <a:latin typeface="+mn-lt"/>
                        <a:ea typeface="+mn-ea"/>
                        <a:cs typeface="+mn-cs"/>
                      </a:endParaRPr>
                    </a:p>
                    <a:p>
                      <a:pPr marL="228600" indent="-228600" algn="l" defTabSz="914034" rtl="0" eaLnBrk="1" latinLnBrk="0" hangingPunct="1">
                        <a:lnSpc>
                          <a:spcPct val="100000"/>
                        </a:lnSpc>
                        <a:spcAft>
                          <a:spcPts val="0"/>
                        </a:spcAft>
                        <a:buFont typeface="+mj-lt"/>
                        <a:buAutoNum type="arabicPeriod"/>
                      </a:pPr>
                      <a:r>
                        <a:rPr lang="zh-CN" altLang="en-US" sz="1400" kern="1200" dirty="0" smtClean="0">
                          <a:solidFill>
                            <a:schemeClr val="tx1"/>
                          </a:solidFill>
                          <a:effectLst/>
                          <a:latin typeface="+mn-lt"/>
                          <a:ea typeface="+mn-ea"/>
                          <a:cs typeface="+mn-cs"/>
                        </a:rPr>
                        <a:t>创建外部网络，即配置</a:t>
                      </a:r>
                      <a:r>
                        <a:rPr lang="en-US" altLang="zh-CN" sz="1400" kern="1200" dirty="0" smtClean="0">
                          <a:solidFill>
                            <a:schemeClr val="tx1"/>
                          </a:solidFill>
                          <a:effectLst/>
                          <a:latin typeface="+mn-lt"/>
                          <a:ea typeface="+mn-ea"/>
                          <a:cs typeface="+mn-cs"/>
                        </a:rPr>
                        <a:t>Fabric</a:t>
                      </a:r>
                      <a:r>
                        <a:rPr lang="zh-CN" altLang="en-US" sz="1400" kern="1200" dirty="0" smtClean="0">
                          <a:solidFill>
                            <a:schemeClr val="tx1"/>
                          </a:solidFill>
                          <a:effectLst/>
                          <a:latin typeface="+mn-lt"/>
                          <a:ea typeface="+mn-ea"/>
                          <a:cs typeface="+mn-cs"/>
                        </a:rPr>
                        <a:t>与外部网络的连接关系（连接接口、互联</a:t>
                      </a:r>
                      <a:r>
                        <a:rPr lang="en-US" altLang="zh-CN" sz="1400" kern="1200" dirty="0" smtClean="0">
                          <a:solidFill>
                            <a:schemeClr val="tx1"/>
                          </a:solidFill>
                          <a:effectLst/>
                          <a:latin typeface="+mn-lt"/>
                          <a:ea typeface="+mn-ea"/>
                          <a:cs typeface="+mn-cs"/>
                        </a:rPr>
                        <a:t>VLAN</a:t>
                      </a:r>
                      <a:r>
                        <a:rPr lang="zh-CN" altLang="en-US" sz="1400" kern="1200" dirty="0" smtClean="0">
                          <a:solidFill>
                            <a:schemeClr val="tx1"/>
                          </a:solidFill>
                          <a:effectLst/>
                          <a:latin typeface="+mn-lt"/>
                          <a:ea typeface="+mn-ea"/>
                          <a:cs typeface="+mn-cs"/>
                        </a:rPr>
                        <a:t>、互联地址、对端地址、路由等）。</a:t>
                      </a:r>
                      <a:endParaRPr lang="en-US" altLang="zh-CN" sz="1400" kern="1200" dirty="0" smtClean="0">
                        <a:solidFill>
                          <a:schemeClr val="tx1"/>
                        </a:solidFill>
                        <a:effectLst/>
                        <a:latin typeface="+mn-lt"/>
                        <a:ea typeface="+mn-ea"/>
                        <a:cs typeface="+mn-cs"/>
                      </a:endParaRPr>
                    </a:p>
                    <a:p>
                      <a:pPr marL="228600" indent="-228600" algn="l" defTabSz="914034" rtl="0" eaLnBrk="1" latinLnBrk="0" hangingPunct="1">
                        <a:lnSpc>
                          <a:spcPct val="100000"/>
                        </a:lnSpc>
                        <a:spcAft>
                          <a:spcPts val="0"/>
                        </a:spcAft>
                        <a:buFont typeface="+mj-lt"/>
                        <a:buAutoNum type="arabicPeriod"/>
                      </a:pPr>
                      <a:r>
                        <a:rPr lang="zh-CN" altLang="en-US" sz="1400" kern="1200" dirty="0" smtClean="0">
                          <a:solidFill>
                            <a:schemeClr val="tx1"/>
                          </a:solidFill>
                          <a:effectLst/>
                          <a:latin typeface="+mn-lt"/>
                          <a:ea typeface="+mn-ea"/>
                          <a:cs typeface="+mn-cs"/>
                        </a:rPr>
                        <a:t>创建网络服务资源，即配置</a:t>
                      </a:r>
                      <a:r>
                        <a:rPr lang="en-US" altLang="zh-CN" sz="1400" kern="1200" dirty="0" smtClean="0">
                          <a:solidFill>
                            <a:schemeClr val="tx1"/>
                          </a:solidFill>
                          <a:effectLst/>
                          <a:latin typeface="+mn-lt"/>
                          <a:ea typeface="+mn-ea"/>
                          <a:cs typeface="+mn-cs"/>
                        </a:rPr>
                        <a:t>Fabric</a:t>
                      </a:r>
                      <a:r>
                        <a:rPr lang="zh-CN" altLang="en-US" sz="1400" kern="1200" dirty="0" smtClean="0">
                          <a:solidFill>
                            <a:schemeClr val="tx1"/>
                          </a:solidFill>
                          <a:effectLst/>
                          <a:latin typeface="+mn-lt"/>
                          <a:ea typeface="+mn-ea"/>
                          <a:cs typeface="+mn-cs"/>
                        </a:rPr>
                        <a:t>与网络服务资源（</a:t>
                      </a:r>
                      <a:r>
                        <a:rPr lang="en-US" altLang="zh-CN" sz="1400" kern="1200" dirty="0" smtClean="0">
                          <a:solidFill>
                            <a:schemeClr val="tx1"/>
                          </a:solidFill>
                          <a:effectLst/>
                          <a:latin typeface="+mn-lt"/>
                          <a:ea typeface="+mn-ea"/>
                          <a:cs typeface="+mn-cs"/>
                        </a:rPr>
                        <a:t>DHCP</a:t>
                      </a:r>
                      <a:r>
                        <a:rPr lang="zh-CN" altLang="en-US" sz="1400" kern="1200" dirty="0" smtClean="0">
                          <a:solidFill>
                            <a:schemeClr val="tx1"/>
                          </a:solidFill>
                          <a:effectLst/>
                          <a:latin typeface="+mn-lt"/>
                          <a:ea typeface="+mn-ea"/>
                          <a:cs typeface="+mn-cs"/>
                        </a:rPr>
                        <a:t>服务器、</a:t>
                      </a:r>
                      <a:r>
                        <a:rPr lang="en-US" altLang="zh-CN" sz="1400" kern="1200" dirty="0" smtClean="0">
                          <a:solidFill>
                            <a:schemeClr val="tx1"/>
                          </a:solidFill>
                          <a:effectLst/>
                          <a:latin typeface="+mn-lt"/>
                          <a:ea typeface="+mn-ea"/>
                          <a:cs typeface="+mn-cs"/>
                        </a:rPr>
                        <a:t>RADIUS</a:t>
                      </a:r>
                      <a:r>
                        <a:rPr lang="zh-CN" altLang="en-US" sz="1400" kern="1200" dirty="0" smtClean="0">
                          <a:solidFill>
                            <a:schemeClr val="tx1"/>
                          </a:solidFill>
                          <a:effectLst/>
                          <a:latin typeface="+mn-lt"/>
                          <a:ea typeface="+mn-ea"/>
                          <a:cs typeface="+mn-cs"/>
                        </a:rPr>
                        <a:t>服务器、</a:t>
                      </a:r>
                      <a:r>
                        <a:rPr lang="en-US" altLang="zh-CN" sz="1400" kern="1200" dirty="0" smtClean="0">
                          <a:solidFill>
                            <a:schemeClr val="tx1"/>
                          </a:solidFill>
                          <a:effectLst/>
                          <a:latin typeface="+mn-lt"/>
                          <a:ea typeface="+mn-ea"/>
                          <a:cs typeface="+mn-cs"/>
                        </a:rPr>
                        <a:t>Portal</a:t>
                      </a:r>
                      <a:r>
                        <a:rPr lang="zh-CN" altLang="en-US" sz="1400" kern="1200" dirty="0" smtClean="0">
                          <a:solidFill>
                            <a:schemeClr val="tx1"/>
                          </a:solidFill>
                          <a:effectLst/>
                          <a:latin typeface="+mn-lt"/>
                          <a:ea typeface="+mn-ea"/>
                          <a:cs typeface="+mn-cs"/>
                        </a:rPr>
                        <a:t>服务器，以及其他服务器）的连接关系（设备地址、互联</a:t>
                      </a:r>
                      <a:r>
                        <a:rPr lang="en-US" altLang="zh-CN" sz="1400" kern="1200" dirty="0" smtClean="0">
                          <a:solidFill>
                            <a:schemeClr val="tx1"/>
                          </a:solidFill>
                          <a:effectLst/>
                          <a:latin typeface="+mn-lt"/>
                          <a:ea typeface="+mn-ea"/>
                          <a:cs typeface="+mn-cs"/>
                        </a:rPr>
                        <a:t>VLAN</a:t>
                      </a:r>
                      <a:r>
                        <a:rPr lang="zh-CN" altLang="en-US" sz="1400" kern="1200" dirty="0" smtClean="0">
                          <a:solidFill>
                            <a:schemeClr val="tx1"/>
                          </a:solidFill>
                          <a:effectLst/>
                          <a:latin typeface="+mn-lt"/>
                          <a:ea typeface="+mn-ea"/>
                          <a:cs typeface="+mn-cs"/>
                        </a:rPr>
                        <a:t>、互联地址、对端地址、互联端口等）。</a:t>
                      </a:r>
                      <a:endParaRPr lang="en-US" altLang="zh-CN" sz="1400" kern="1200" dirty="0" smtClean="0">
                        <a:solidFill>
                          <a:schemeClr val="tx1"/>
                        </a:solidFill>
                        <a:effectLst/>
                        <a:latin typeface="+mn-lt"/>
                        <a:ea typeface="+mn-ea"/>
                        <a:cs typeface="+mn-cs"/>
                      </a:endParaRPr>
                    </a:p>
                    <a:p>
                      <a:pPr marL="228600" indent="-228600" algn="l" defTabSz="914034" rtl="0" eaLnBrk="1" latinLnBrk="0" hangingPunct="1">
                        <a:lnSpc>
                          <a:spcPct val="100000"/>
                        </a:lnSpc>
                        <a:spcAft>
                          <a:spcPts val="0"/>
                        </a:spcAft>
                        <a:buFont typeface="+mj-lt"/>
                        <a:buAutoNum type="arabicPeriod"/>
                      </a:pPr>
                      <a:r>
                        <a:rPr lang="zh-CN" altLang="en-US" sz="1400" kern="1200" dirty="0" smtClean="0">
                          <a:solidFill>
                            <a:schemeClr val="tx1"/>
                          </a:solidFill>
                          <a:effectLst/>
                          <a:latin typeface="+mn-lt"/>
                          <a:ea typeface="+mn-ea"/>
                          <a:cs typeface="+mn-cs"/>
                        </a:rPr>
                        <a:t>配置接入管理，即配置接入设备接口，调用认证模板。</a:t>
                      </a:r>
                      <a:endParaRPr lang="en-US" altLang="zh-CN" sz="1400" kern="1200" dirty="0" smtClean="0">
                        <a:solidFill>
                          <a:schemeClr val="tx1"/>
                        </a:solidFill>
                        <a:effectLst/>
                        <a:latin typeface="+mn-lt"/>
                        <a:ea typeface="+mn-ea"/>
                        <a:cs typeface="+mn-cs"/>
                      </a:endParaRPr>
                    </a:p>
                  </a:txBody>
                  <a:tcPr anchor="ctr">
                    <a:lnR w="28575" cap="flat" cmpd="sng" algn="ctr">
                      <a:solidFill>
                        <a:schemeClr val="tx1"/>
                      </a:solidFill>
                      <a:prstDash val="solid"/>
                      <a:round/>
                      <a:headEnd type="none" w="med" len="med"/>
                      <a:tailEnd type="none" w="med" len="med"/>
                    </a:lnR>
                    <a:lnB w="28575" cap="flat" cmpd="sng" algn="ctr">
                      <a:solidFill>
                        <a:schemeClr val="tx1"/>
                      </a:solidFill>
                      <a:prstDash val="solid"/>
                      <a:round/>
                      <a:headEnd type="none" w="med" len="med"/>
                      <a:tailEnd type="none" w="med" len="med"/>
                    </a:lnB>
                  </a:tcPr>
                </a:tc>
              </a:tr>
            </a:tbl>
          </a:graphicData>
        </a:graphic>
      </p:graphicFrame>
      <p:pic>
        <p:nvPicPr>
          <p:cNvPr id="123" name="图片 105" descr="AP.png"/>
          <p:cNvPicPr>
            <a:picLocks noChangeAspect="1"/>
          </p:cNvPicPr>
          <p:nvPr/>
        </p:nvPicPr>
        <p:blipFill>
          <a:blip r:embed="rId8" cstate="print"/>
          <a:stretch>
            <a:fillRect/>
          </a:stretch>
        </p:blipFill>
        <p:spPr bwMode="gray">
          <a:xfrm>
            <a:off x="4304596" y="4811031"/>
            <a:ext cx="368827" cy="301768"/>
          </a:xfrm>
          <a:prstGeom prst="rect">
            <a:avLst/>
          </a:prstGeom>
        </p:spPr>
      </p:pic>
      <p:cxnSp>
        <p:nvCxnSpPr>
          <p:cNvPr id="124" name="Straight Connector 166"/>
          <p:cNvCxnSpPr>
            <a:stCxn id="119" idx="3"/>
            <a:endCxn id="123" idx="1"/>
          </p:cNvCxnSpPr>
          <p:nvPr/>
        </p:nvCxnSpPr>
        <p:spPr bwMode="gray">
          <a:xfrm flipV="1">
            <a:off x="4071145" y="4961915"/>
            <a:ext cx="233451" cy="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25" name="组合 758"/>
          <p:cNvGrpSpPr/>
          <p:nvPr/>
        </p:nvGrpSpPr>
        <p:grpSpPr bwMode="gray">
          <a:xfrm flipV="1">
            <a:off x="4385510" y="5137572"/>
            <a:ext cx="225699" cy="191129"/>
            <a:chOff x="7440613" y="4868863"/>
            <a:chExt cx="1019175" cy="828675"/>
          </a:xfrm>
          <a:solidFill>
            <a:schemeClr val="bg1">
              <a:lumMod val="50000"/>
            </a:schemeClr>
          </a:solidFill>
        </p:grpSpPr>
        <p:sp>
          <p:nvSpPr>
            <p:cNvPr id="126" name="Freeform 15"/>
            <p:cNvSpPr>
              <a:spLocks/>
            </p:cNvSpPr>
            <p:nvPr/>
          </p:nvSpPr>
          <p:spPr bwMode="gray">
            <a:xfrm>
              <a:off x="7832726" y="5462588"/>
              <a:ext cx="234950" cy="234950"/>
            </a:xfrm>
            <a:custGeom>
              <a:avLst/>
              <a:gdLst/>
              <a:ahLst/>
              <a:cxnLst>
                <a:cxn ang="0">
                  <a:pos x="3281" y="680"/>
                </a:cxn>
                <a:cxn ang="0">
                  <a:pos x="3439" y="907"/>
                </a:cxn>
                <a:cxn ang="0">
                  <a:pos x="3559" y="1151"/>
                </a:cxn>
                <a:cxn ang="0">
                  <a:pos x="3642" y="1406"/>
                </a:cxn>
                <a:cxn ang="0">
                  <a:pos x="3686" y="1670"/>
                </a:cxn>
                <a:cxn ang="0">
                  <a:pos x="3693" y="1936"/>
                </a:cxn>
                <a:cxn ang="0">
                  <a:pos x="3661" y="2201"/>
                </a:cxn>
                <a:cxn ang="0">
                  <a:pos x="3591" y="2460"/>
                </a:cxn>
                <a:cxn ang="0">
                  <a:pos x="3484" y="2708"/>
                </a:cxn>
                <a:cxn ang="0">
                  <a:pos x="3339" y="2941"/>
                </a:cxn>
                <a:cxn ang="0">
                  <a:pos x="3155" y="3155"/>
                </a:cxn>
                <a:cxn ang="0">
                  <a:pos x="2941" y="3339"/>
                </a:cxn>
                <a:cxn ang="0">
                  <a:pos x="2708" y="3484"/>
                </a:cxn>
                <a:cxn ang="0">
                  <a:pos x="2460" y="3592"/>
                </a:cxn>
                <a:cxn ang="0">
                  <a:pos x="2201" y="3661"/>
                </a:cxn>
                <a:cxn ang="0">
                  <a:pos x="1936" y="3693"/>
                </a:cxn>
                <a:cxn ang="0">
                  <a:pos x="1670" y="3687"/>
                </a:cxn>
                <a:cxn ang="0">
                  <a:pos x="1408" y="3643"/>
                </a:cxn>
                <a:cxn ang="0">
                  <a:pos x="1152" y="3561"/>
                </a:cxn>
                <a:cxn ang="0">
                  <a:pos x="908" y="3440"/>
                </a:cxn>
                <a:cxn ang="0">
                  <a:pos x="680" y="3282"/>
                </a:cxn>
                <a:cxn ang="0">
                  <a:pos x="475" y="3086"/>
                </a:cxn>
                <a:cxn ang="0">
                  <a:pos x="304" y="2866"/>
                </a:cxn>
                <a:cxn ang="0">
                  <a:pos x="172" y="2627"/>
                </a:cxn>
                <a:cxn ang="0">
                  <a:pos x="76" y="2374"/>
                </a:cxn>
                <a:cxn ang="0">
                  <a:pos x="19" y="2114"/>
                </a:cxn>
                <a:cxn ang="0">
                  <a:pos x="0" y="1848"/>
                </a:cxn>
                <a:cxn ang="0">
                  <a:pos x="19" y="1582"/>
                </a:cxn>
                <a:cxn ang="0">
                  <a:pos x="76" y="1321"/>
                </a:cxn>
                <a:cxn ang="0">
                  <a:pos x="171" y="1069"/>
                </a:cxn>
                <a:cxn ang="0">
                  <a:pos x="304" y="830"/>
                </a:cxn>
                <a:cxn ang="0">
                  <a:pos x="475" y="609"/>
                </a:cxn>
                <a:cxn ang="0">
                  <a:pos x="680" y="414"/>
                </a:cxn>
                <a:cxn ang="0">
                  <a:pos x="907" y="255"/>
                </a:cxn>
                <a:cxn ang="0">
                  <a:pos x="1151" y="135"/>
                </a:cxn>
                <a:cxn ang="0">
                  <a:pos x="1407" y="52"/>
                </a:cxn>
                <a:cxn ang="0">
                  <a:pos x="1669" y="8"/>
                </a:cxn>
                <a:cxn ang="0">
                  <a:pos x="1936" y="2"/>
                </a:cxn>
                <a:cxn ang="0">
                  <a:pos x="2201" y="33"/>
                </a:cxn>
                <a:cxn ang="0">
                  <a:pos x="2459" y="104"/>
                </a:cxn>
                <a:cxn ang="0">
                  <a:pos x="2708" y="211"/>
                </a:cxn>
                <a:cxn ang="0">
                  <a:pos x="2940" y="356"/>
                </a:cxn>
                <a:cxn ang="0">
                  <a:pos x="3154" y="539"/>
                </a:cxn>
              </a:cxnLst>
              <a:rect l="0" t="0" r="r" b="b"/>
              <a:pathLst>
                <a:path w="3695" h="3695">
                  <a:moveTo>
                    <a:pt x="3154" y="539"/>
                  </a:moveTo>
                  <a:lnTo>
                    <a:pt x="3220" y="608"/>
                  </a:lnTo>
                  <a:lnTo>
                    <a:pt x="3281" y="680"/>
                  </a:lnTo>
                  <a:lnTo>
                    <a:pt x="3338" y="754"/>
                  </a:lnTo>
                  <a:lnTo>
                    <a:pt x="3391" y="829"/>
                  </a:lnTo>
                  <a:lnTo>
                    <a:pt x="3439" y="907"/>
                  </a:lnTo>
                  <a:lnTo>
                    <a:pt x="3483" y="987"/>
                  </a:lnTo>
                  <a:lnTo>
                    <a:pt x="3523" y="1068"/>
                  </a:lnTo>
                  <a:lnTo>
                    <a:pt x="3559" y="1151"/>
                  </a:lnTo>
                  <a:lnTo>
                    <a:pt x="3591" y="1235"/>
                  </a:lnTo>
                  <a:lnTo>
                    <a:pt x="3619" y="1320"/>
                  </a:lnTo>
                  <a:lnTo>
                    <a:pt x="3642" y="1406"/>
                  </a:lnTo>
                  <a:lnTo>
                    <a:pt x="3661" y="1493"/>
                  </a:lnTo>
                  <a:lnTo>
                    <a:pt x="3676" y="1582"/>
                  </a:lnTo>
                  <a:lnTo>
                    <a:pt x="3686" y="1670"/>
                  </a:lnTo>
                  <a:lnTo>
                    <a:pt x="3693" y="1758"/>
                  </a:lnTo>
                  <a:lnTo>
                    <a:pt x="3695" y="1847"/>
                  </a:lnTo>
                  <a:lnTo>
                    <a:pt x="3693" y="1936"/>
                  </a:lnTo>
                  <a:lnTo>
                    <a:pt x="3686" y="2024"/>
                  </a:lnTo>
                  <a:lnTo>
                    <a:pt x="3676" y="2113"/>
                  </a:lnTo>
                  <a:lnTo>
                    <a:pt x="3661" y="2201"/>
                  </a:lnTo>
                  <a:lnTo>
                    <a:pt x="3642" y="2288"/>
                  </a:lnTo>
                  <a:lnTo>
                    <a:pt x="3619" y="2374"/>
                  </a:lnTo>
                  <a:lnTo>
                    <a:pt x="3591" y="2460"/>
                  </a:lnTo>
                  <a:lnTo>
                    <a:pt x="3559" y="2544"/>
                  </a:lnTo>
                  <a:lnTo>
                    <a:pt x="3524" y="2626"/>
                  </a:lnTo>
                  <a:lnTo>
                    <a:pt x="3484" y="2708"/>
                  </a:lnTo>
                  <a:lnTo>
                    <a:pt x="3439" y="2788"/>
                  </a:lnTo>
                  <a:lnTo>
                    <a:pt x="3391" y="2865"/>
                  </a:lnTo>
                  <a:lnTo>
                    <a:pt x="3339" y="2941"/>
                  </a:lnTo>
                  <a:lnTo>
                    <a:pt x="3281" y="3015"/>
                  </a:lnTo>
                  <a:lnTo>
                    <a:pt x="3220" y="3086"/>
                  </a:lnTo>
                  <a:lnTo>
                    <a:pt x="3155" y="3155"/>
                  </a:lnTo>
                  <a:lnTo>
                    <a:pt x="3086" y="3220"/>
                  </a:lnTo>
                  <a:lnTo>
                    <a:pt x="3015" y="3282"/>
                  </a:lnTo>
                  <a:lnTo>
                    <a:pt x="2941" y="3339"/>
                  </a:lnTo>
                  <a:lnTo>
                    <a:pt x="2865" y="3391"/>
                  </a:lnTo>
                  <a:lnTo>
                    <a:pt x="2788" y="3440"/>
                  </a:lnTo>
                  <a:lnTo>
                    <a:pt x="2708" y="3484"/>
                  </a:lnTo>
                  <a:lnTo>
                    <a:pt x="2626" y="3524"/>
                  </a:lnTo>
                  <a:lnTo>
                    <a:pt x="2544" y="3560"/>
                  </a:lnTo>
                  <a:lnTo>
                    <a:pt x="2460" y="3592"/>
                  </a:lnTo>
                  <a:lnTo>
                    <a:pt x="2375" y="3619"/>
                  </a:lnTo>
                  <a:lnTo>
                    <a:pt x="2288" y="3643"/>
                  </a:lnTo>
                  <a:lnTo>
                    <a:pt x="2201" y="3661"/>
                  </a:lnTo>
                  <a:lnTo>
                    <a:pt x="2114" y="3676"/>
                  </a:lnTo>
                  <a:lnTo>
                    <a:pt x="2026" y="3687"/>
                  </a:lnTo>
                  <a:lnTo>
                    <a:pt x="1936" y="3693"/>
                  </a:lnTo>
                  <a:lnTo>
                    <a:pt x="1848" y="3695"/>
                  </a:lnTo>
                  <a:lnTo>
                    <a:pt x="1759" y="3693"/>
                  </a:lnTo>
                  <a:lnTo>
                    <a:pt x="1670" y="3687"/>
                  </a:lnTo>
                  <a:lnTo>
                    <a:pt x="1582" y="3676"/>
                  </a:lnTo>
                  <a:lnTo>
                    <a:pt x="1495" y="3662"/>
                  </a:lnTo>
                  <a:lnTo>
                    <a:pt x="1408" y="3643"/>
                  </a:lnTo>
                  <a:lnTo>
                    <a:pt x="1321" y="3620"/>
                  </a:lnTo>
                  <a:lnTo>
                    <a:pt x="1236" y="3592"/>
                  </a:lnTo>
                  <a:lnTo>
                    <a:pt x="1152" y="3561"/>
                  </a:lnTo>
                  <a:lnTo>
                    <a:pt x="1069" y="3524"/>
                  </a:lnTo>
                  <a:lnTo>
                    <a:pt x="987" y="3484"/>
                  </a:lnTo>
                  <a:lnTo>
                    <a:pt x="908" y="3440"/>
                  </a:lnTo>
                  <a:lnTo>
                    <a:pt x="830" y="3391"/>
                  </a:lnTo>
                  <a:lnTo>
                    <a:pt x="755" y="3339"/>
                  </a:lnTo>
                  <a:lnTo>
                    <a:pt x="680" y="3282"/>
                  </a:lnTo>
                  <a:lnTo>
                    <a:pt x="609" y="3220"/>
                  </a:lnTo>
                  <a:lnTo>
                    <a:pt x="541" y="3155"/>
                  </a:lnTo>
                  <a:lnTo>
                    <a:pt x="475" y="3086"/>
                  </a:lnTo>
                  <a:lnTo>
                    <a:pt x="414" y="3015"/>
                  </a:lnTo>
                  <a:lnTo>
                    <a:pt x="357" y="2941"/>
                  </a:lnTo>
                  <a:lnTo>
                    <a:pt x="304" y="2866"/>
                  </a:lnTo>
                  <a:lnTo>
                    <a:pt x="256" y="2788"/>
                  </a:lnTo>
                  <a:lnTo>
                    <a:pt x="212" y="2709"/>
                  </a:lnTo>
                  <a:lnTo>
                    <a:pt x="172" y="2627"/>
                  </a:lnTo>
                  <a:lnTo>
                    <a:pt x="136" y="2544"/>
                  </a:lnTo>
                  <a:lnTo>
                    <a:pt x="104" y="2460"/>
                  </a:lnTo>
                  <a:lnTo>
                    <a:pt x="76" y="2374"/>
                  </a:lnTo>
                  <a:lnTo>
                    <a:pt x="53" y="2288"/>
                  </a:lnTo>
                  <a:lnTo>
                    <a:pt x="34" y="2201"/>
                  </a:lnTo>
                  <a:lnTo>
                    <a:pt x="19" y="2114"/>
                  </a:lnTo>
                  <a:lnTo>
                    <a:pt x="9" y="2025"/>
                  </a:lnTo>
                  <a:lnTo>
                    <a:pt x="2" y="1937"/>
                  </a:lnTo>
                  <a:lnTo>
                    <a:pt x="0" y="1848"/>
                  </a:lnTo>
                  <a:lnTo>
                    <a:pt x="2" y="1759"/>
                  </a:lnTo>
                  <a:lnTo>
                    <a:pt x="9" y="1670"/>
                  </a:lnTo>
                  <a:lnTo>
                    <a:pt x="19" y="1582"/>
                  </a:lnTo>
                  <a:lnTo>
                    <a:pt x="34" y="1494"/>
                  </a:lnTo>
                  <a:lnTo>
                    <a:pt x="53" y="1407"/>
                  </a:lnTo>
                  <a:lnTo>
                    <a:pt x="76" y="1321"/>
                  </a:lnTo>
                  <a:lnTo>
                    <a:pt x="104" y="1236"/>
                  </a:lnTo>
                  <a:lnTo>
                    <a:pt x="136" y="1151"/>
                  </a:lnTo>
                  <a:lnTo>
                    <a:pt x="171" y="1069"/>
                  </a:lnTo>
                  <a:lnTo>
                    <a:pt x="211" y="988"/>
                  </a:lnTo>
                  <a:lnTo>
                    <a:pt x="255" y="907"/>
                  </a:lnTo>
                  <a:lnTo>
                    <a:pt x="304" y="830"/>
                  </a:lnTo>
                  <a:lnTo>
                    <a:pt x="356" y="754"/>
                  </a:lnTo>
                  <a:lnTo>
                    <a:pt x="414" y="681"/>
                  </a:lnTo>
                  <a:lnTo>
                    <a:pt x="475" y="609"/>
                  </a:lnTo>
                  <a:lnTo>
                    <a:pt x="540" y="540"/>
                  </a:lnTo>
                  <a:lnTo>
                    <a:pt x="609" y="475"/>
                  </a:lnTo>
                  <a:lnTo>
                    <a:pt x="680" y="414"/>
                  </a:lnTo>
                  <a:lnTo>
                    <a:pt x="754" y="356"/>
                  </a:lnTo>
                  <a:lnTo>
                    <a:pt x="830" y="303"/>
                  </a:lnTo>
                  <a:lnTo>
                    <a:pt x="907" y="255"/>
                  </a:lnTo>
                  <a:lnTo>
                    <a:pt x="987" y="211"/>
                  </a:lnTo>
                  <a:lnTo>
                    <a:pt x="1069" y="171"/>
                  </a:lnTo>
                  <a:lnTo>
                    <a:pt x="1151" y="135"/>
                  </a:lnTo>
                  <a:lnTo>
                    <a:pt x="1235" y="104"/>
                  </a:lnTo>
                  <a:lnTo>
                    <a:pt x="1320" y="76"/>
                  </a:lnTo>
                  <a:lnTo>
                    <a:pt x="1407" y="52"/>
                  </a:lnTo>
                  <a:lnTo>
                    <a:pt x="1494" y="33"/>
                  </a:lnTo>
                  <a:lnTo>
                    <a:pt x="1581" y="19"/>
                  </a:lnTo>
                  <a:lnTo>
                    <a:pt x="1669" y="8"/>
                  </a:lnTo>
                  <a:lnTo>
                    <a:pt x="1759" y="2"/>
                  </a:lnTo>
                  <a:lnTo>
                    <a:pt x="1847" y="0"/>
                  </a:lnTo>
                  <a:lnTo>
                    <a:pt x="1936" y="2"/>
                  </a:lnTo>
                  <a:lnTo>
                    <a:pt x="2025" y="8"/>
                  </a:lnTo>
                  <a:lnTo>
                    <a:pt x="2113" y="19"/>
                  </a:lnTo>
                  <a:lnTo>
                    <a:pt x="2201" y="33"/>
                  </a:lnTo>
                  <a:lnTo>
                    <a:pt x="2287" y="52"/>
                  </a:lnTo>
                  <a:lnTo>
                    <a:pt x="2374" y="76"/>
                  </a:lnTo>
                  <a:lnTo>
                    <a:pt x="2459" y="104"/>
                  </a:lnTo>
                  <a:lnTo>
                    <a:pt x="2543" y="135"/>
                  </a:lnTo>
                  <a:lnTo>
                    <a:pt x="2626" y="171"/>
                  </a:lnTo>
                  <a:lnTo>
                    <a:pt x="2708" y="211"/>
                  </a:lnTo>
                  <a:lnTo>
                    <a:pt x="2787" y="255"/>
                  </a:lnTo>
                  <a:lnTo>
                    <a:pt x="2865" y="303"/>
                  </a:lnTo>
                  <a:lnTo>
                    <a:pt x="2940" y="356"/>
                  </a:lnTo>
                  <a:lnTo>
                    <a:pt x="3015" y="413"/>
                  </a:lnTo>
                  <a:lnTo>
                    <a:pt x="3086" y="474"/>
                  </a:lnTo>
                  <a:lnTo>
                    <a:pt x="3154" y="539"/>
                  </a:lnTo>
                  <a:close/>
                </a:path>
              </a:pathLst>
            </a:custGeom>
            <a:grpFill/>
            <a:ln w="9525">
              <a:noFill/>
              <a:round/>
              <a:headEnd/>
              <a:tailEnd/>
            </a:ln>
          </p:spPr>
          <p:txBody>
            <a:bodyPr/>
            <a:lstStyle/>
            <a:p>
              <a:pPr algn="ctr" eaLnBrk="1" fontAlgn="auto" hangingPunct="1">
                <a:spcBef>
                  <a:spcPts val="0"/>
                </a:spcBef>
                <a:spcAft>
                  <a:spcPts val="0"/>
                </a:spcAft>
                <a:defRPr/>
              </a:pPr>
              <a:endParaRPr lang="zh-CN" altLang="en-US" sz="1200" ker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7" name="Freeform 16"/>
            <p:cNvSpPr>
              <a:spLocks noEditPoints="1"/>
            </p:cNvSpPr>
            <p:nvPr/>
          </p:nvSpPr>
          <p:spPr bwMode="gray">
            <a:xfrm>
              <a:off x="7440613" y="4868863"/>
              <a:ext cx="1019175" cy="544513"/>
            </a:xfrm>
            <a:custGeom>
              <a:avLst/>
              <a:gdLst/>
              <a:ahLst/>
              <a:cxnLst>
                <a:cxn ang="0">
                  <a:pos x="16025" y="3351"/>
                </a:cxn>
                <a:cxn ang="0">
                  <a:pos x="14975" y="4351"/>
                </a:cxn>
                <a:cxn ang="0">
                  <a:pos x="14184" y="3632"/>
                </a:cxn>
                <a:cxn ang="0">
                  <a:pos x="12564" y="2563"/>
                </a:cxn>
                <a:cxn ang="0">
                  <a:pos x="10805" y="1850"/>
                </a:cxn>
                <a:cxn ang="0">
                  <a:pos x="8960" y="1494"/>
                </a:cxn>
                <a:cxn ang="0">
                  <a:pos x="7087" y="1494"/>
                </a:cxn>
                <a:cxn ang="0">
                  <a:pos x="5243" y="1851"/>
                </a:cxn>
                <a:cxn ang="0">
                  <a:pos x="3483" y="2564"/>
                </a:cxn>
                <a:cxn ang="0">
                  <a:pos x="1864" y="3634"/>
                </a:cxn>
                <a:cxn ang="0">
                  <a:pos x="1075" y="4353"/>
                </a:cxn>
                <a:cxn ang="0">
                  <a:pos x="24" y="3353"/>
                </a:cxn>
                <a:cxn ang="0">
                  <a:pos x="516" y="2880"/>
                </a:cxn>
                <a:cxn ang="0">
                  <a:pos x="2325" y="1549"/>
                </a:cxn>
                <a:cxn ang="0">
                  <a:pos x="4312" y="627"/>
                </a:cxn>
                <a:cxn ang="0">
                  <a:pos x="6413" y="115"/>
                </a:cxn>
                <a:cxn ang="0">
                  <a:pos x="8562" y="13"/>
                </a:cxn>
                <a:cxn ang="0">
                  <a:pos x="10694" y="319"/>
                </a:cxn>
                <a:cxn ang="0">
                  <a:pos x="12747" y="1036"/>
                </a:cxn>
                <a:cxn ang="0">
                  <a:pos x="14654" y="2160"/>
                </a:cxn>
                <a:cxn ang="0">
                  <a:pos x="14055" y="5373"/>
                </a:cxn>
                <a:cxn ang="0">
                  <a:pos x="12871" y="6404"/>
                </a:cxn>
                <a:cxn ang="0">
                  <a:pos x="12058" y="5702"/>
                </a:cxn>
                <a:cxn ang="0">
                  <a:pos x="10898" y="5017"/>
                </a:cxn>
                <a:cxn ang="0">
                  <a:pos x="9649" y="4582"/>
                </a:cxn>
                <a:cxn ang="0">
                  <a:pos x="8352" y="4395"/>
                </a:cxn>
                <a:cxn ang="0">
                  <a:pos x="7044" y="4457"/>
                </a:cxn>
                <a:cxn ang="0">
                  <a:pos x="5767" y="4769"/>
                </a:cxn>
                <a:cxn ang="0">
                  <a:pos x="4558" y="5329"/>
                </a:cxn>
                <a:cxn ang="0">
                  <a:pos x="3457" y="6139"/>
                </a:cxn>
                <a:cxn ang="0">
                  <a:pos x="3129" y="6456"/>
                </a:cxn>
                <a:cxn ang="0">
                  <a:pos x="2045" y="5322"/>
                </a:cxn>
                <a:cxn ang="0">
                  <a:pos x="2731" y="4697"/>
                </a:cxn>
                <a:cxn ang="0">
                  <a:pos x="4122" y="3779"/>
                </a:cxn>
                <a:cxn ang="0">
                  <a:pos x="5635" y="3166"/>
                </a:cxn>
                <a:cxn ang="0">
                  <a:pos x="7219" y="2859"/>
                </a:cxn>
                <a:cxn ang="0">
                  <a:pos x="8829" y="2859"/>
                </a:cxn>
                <a:cxn ang="0">
                  <a:pos x="10413" y="3165"/>
                </a:cxn>
                <a:cxn ang="0">
                  <a:pos x="11926" y="3777"/>
                </a:cxn>
                <a:cxn ang="0">
                  <a:pos x="13318" y="4696"/>
                </a:cxn>
                <a:cxn ang="0">
                  <a:pos x="14005" y="5321"/>
                </a:cxn>
                <a:cxn ang="0">
                  <a:pos x="10854" y="8576"/>
                </a:cxn>
                <a:cxn ang="0">
                  <a:pos x="10754" y="8472"/>
                </a:cxn>
                <a:cxn ang="0">
                  <a:pos x="10150" y="7980"/>
                </a:cxn>
                <a:cxn ang="0">
                  <a:pos x="9479" y="7627"/>
                </a:cxn>
                <a:cxn ang="0">
                  <a:pos x="8762" y="7416"/>
                </a:cxn>
                <a:cxn ang="0">
                  <a:pos x="8025" y="7345"/>
                </a:cxn>
                <a:cxn ang="0">
                  <a:pos x="7287" y="7416"/>
                </a:cxn>
                <a:cxn ang="0">
                  <a:pos x="6571" y="7627"/>
                </a:cxn>
                <a:cxn ang="0">
                  <a:pos x="5900" y="7980"/>
                </a:cxn>
                <a:cxn ang="0">
                  <a:pos x="5297" y="8473"/>
                </a:cxn>
                <a:cxn ang="0">
                  <a:pos x="5198" y="8576"/>
                </a:cxn>
                <a:cxn ang="0">
                  <a:pos x="4197" y="7425"/>
                </a:cxn>
                <a:cxn ang="0">
                  <a:pos x="4843" y="6865"/>
                </a:cxn>
                <a:cxn ang="0">
                  <a:pos x="5758" y="6325"/>
                </a:cxn>
                <a:cxn ang="0">
                  <a:pos x="6743" y="5981"/>
                </a:cxn>
                <a:cxn ang="0">
                  <a:pos x="7766" y="5833"/>
                </a:cxn>
                <a:cxn ang="0">
                  <a:pos x="8797" y="5882"/>
                </a:cxn>
                <a:cxn ang="0">
                  <a:pos x="9806" y="6127"/>
                </a:cxn>
                <a:cxn ang="0">
                  <a:pos x="10760" y="6570"/>
                </a:cxn>
                <a:cxn ang="0">
                  <a:pos x="11627" y="7208"/>
                </a:cxn>
                <a:cxn ang="0">
                  <a:pos x="11903" y="7475"/>
                </a:cxn>
              </a:cxnLst>
              <a:rect l="0" t="0" r="r" b="b"/>
              <a:pathLst>
                <a:path w="16050" h="8576">
                  <a:moveTo>
                    <a:pt x="15950" y="3273"/>
                  </a:moveTo>
                  <a:lnTo>
                    <a:pt x="15975" y="3299"/>
                  </a:lnTo>
                  <a:lnTo>
                    <a:pt x="16000" y="3324"/>
                  </a:lnTo>
                  <a:lnTo>
                    <a:pt x="16025" y="3351"/>
                  </a:lnTo>
                  <a:lnTo>
                    <a:pt x="16050" y="3377"/>
                  </a:lnTo>
                  <a:lnTo>
                    <a:pt x="15025" y="4402"/>
                  </a:lnTo>
                  <a:lnTo>
                    <a:pt x="15000" y="4377"/>
                  </a:lnTo>
                  <a:lnTo>
                    <a:pt x="14975" y="4351"/>
                  </a:lnTo>
                  <a:lnTo>
                    <a:pt x="14950" y="4325"/>
                  </a:lnTo>
                  <a:lnTo>
                    <a:pt x="14923" y="4300"/>
                  </a:lnTo>
                  <a:lnTo>
                    <a:pt x="14560" y="3955"/>
                  </a:lnTo>
                  <a:lnTo>
                    <a:pt x="14184" y="3632"/>
                  </a:lnTo>
                  <a:lnTo>
                    <a:pt x="13796" y="3330"/>
                  </a:lnTo>
                  <a:lnTo>
                    <a:pt x="13396" y="3053"/>
                  </a:lnTo>
                  <a:lnTo>
                    <a:pt x="12984" y="2797"/>
                  </a:lnTo>
                  <a:lnTo>
                    <a:pt x="12564" y="2563"/>
                  </a:lnTo>
                  <a:lnTo>
                    <a:pt x="12136" y="2351"/>
                  </a:lnTo>
                  <a:lnTo>
                    <a:pt x="11698" y="2161"/>
                  </a:lnTo>
                  <a:lnTo>
                    <a:pt x="11254" y="1995"/>
                  </a:lnTo>
                  <a:lnTo>
                    <a:pt x="10805" y="1850"/>
                  </a:lnTo>
                  <a:lnTo>
                    <a:pt x="10349" y="1728"/>
                  </a:lnTo>
                  <a:lnTo>
                    <a:pt x="9889" y="1628"/>
                  </a:lnTo>
                  <a:lnTo>
                    <a:pt x="9426" y="1549"/>
                  </a:lnTo>
                  <a:lnTo>
                    <a:pt x="8960" y="1494"/>
                  </a:lnTo>
                  <a:lnTo>
                    <a:pt x="8492" y="1461"/>
                  </a:lnTo>
                  <a:lnTo>
                    <a:pt x="8024" y="1450"/>
                  </a:lnTo>
                  <a:lnTo>
                    <a:pt x="7556" y="1461"/>
                  </a:lnTo>
                  <a:lnTo>
                    <a:pt x="7087" y="1494"/>
                  </a:lnTo>
                  <a:lnTo>
                    <a:pt x="6622" y="1550"/>
                  </a:lnTo>
                  <a:lnTo>
                    <a:pt x="6158" y="1629"/>
                  </a:lnTo>
                  <a:lnTo>
                    <a:pt x="5699" y="1729"/>
                  </a:lnTo>
                  <a:lnTo>
                    <a:pt x="5243" y="1851"/>
                  </a:lnTo>
                  <a:lnTo>
                    <a:pt x="4793" y="1996"/>
                  </a:lnTo>
                  <a:lnTo>
                    <a:pt x="4350" y="2163"/>
                  </a:lnTo>
                  <a:lnTo>
                    <a:pt x="3912" y="2352"/>
                  </a:lnTo>
                  <a:lnTo>
                    <a:pt x="3483" y="2564"/>
                  </a:lnTo>
                  <a:lnTo>
                    <a:pt x="3064" y="2799"/>
                  </a:lnTo>
                  <a:lnTo>
                    <a:pt x="2652" y="3055"/>
                  </a:lnTo>
                  <a:lnTo>
                    <a:pt x="2253" y="3332"/>
                  </a:lnTo>
                  <a:lnTo>
                    <a:pt x="1864" y="3634"/>
                  </a:lnTo>
                  <a:lnTo>
                    <a:pt x="1488" y="3957"/>
                  </a:lnTo>
                  <a:lnTo>
                    <a:pt x="1125" y="4302"/>
                  </a:lnTo>
                  <a:lnTo>
                    <a:pt x="1099" y="4327"/>
                  </a:lnTo>
                  <a:lnTo>
                    <a:pt x="1075" y="4353"/>
                  </a:lnTo>
                  <a:lnTo>
                    <a:pt x="1050" y="4378"/>
                  </a:lnTo>
                  <a:lnTo>
                    <a:pt x="1025" y="4404"/>
                  </a:lnTo>
                  <a:lnTo>
                    <a:pt x="0" y="3378"/>
                  </a:lnTo>
                  <a:lnTo>
                    <a:pt x="24" y="3353"/>
                  </a:lnTo>
                  <a:lnTo>
                    <a:pt x="49" y="3326"/>
                  </a:lnTo>
                  <a:lnTo>
                    <a:pt x="74" y="3301"/>
                  </a:lnTo>
                  <a:lnTo>
                    <a:pt x="99" y="3276"/>
                  </a:lnTo>
                  <a:lnTo>
                    <a:pt x="516" y="2880"/>
                  </a:lnTo>
                  <a:lnTo>
                    <a:pt x="948" y="2509"/>
                  </a:lnTo>
                  <a:lnTo>
                    <a:pt x="1394" y="2162"/>
                  </a:lnTo>
                  <a:lnTo>
                    <a:pt x="1854" y="1843"/>
                  </a:lnTo>
                  <a:lnTo>
                    <a:pt x="2325" y="1549"/>
                  </a:lnTo>
                  <a:lnTo>
                    <a:pt x="2808" y="1280"/>
                  </a:lnTo>
                  <a:lnTo>
                    <a:pt x="3301" y="1037"/>
                  </a:lnTo>
                  <a:lnTo>
                    <a:pt x="3803" y="820"/>
                  </a:lnTo>
                  <a:lnTo>
                    <a:pt x="4312" y="627"/>
                  </a:lnTo>
                  <a:lnTo>
                    <a:pt x="4830" y="461"/>
                  </a:lnTo>
                  <a:lnTo>
                    <a:pt x="5353" y="320"/>
                  </a:lnTo>
                  <a:lnTo>
                    <a:pt x="5881" y="205"/>
                  </a:lnTo>
                  <a:lnTo>
                    <a:pt x="6413" y="115"/>
                  </a:lnTo>
                  <a:lnTo>
                    <a:pt x="6949" y="51"/>
                  </a:lnTo>
                  <a:lnTo>
                    <a:pt x="7485" y="13"/>
                  </a:lnTo>
                  <a:lnTo>
                    <a:pt x="8024" y="0"/>
                  </a:lnTo>
                  <a:lnTo>
                    <a:pt x="8562" y="13"/>
                  </a:lnTo>
                  <a:lnTo>
                    <a:pt x="9099" y="51"/>
                  </a:lnTo>
                  <a:lnTo>
                    <a:pt x="9634" y="115"/>
                  </a:lnTo>
                  <a:lnTo>
                    <a:pt x="10167" y="205"/>
                  </a:lnTo>
                  <a:lnTo>
                    <a:pt x="10694" y="319"/>
                  </a:lnTo>
                  <a:lnTo>
                    <a:pt x="11218" y="460"/>
                  </a:lnTo>
                  <a:lnTo>
                    <a:pt x="11735" y="626"/>
                  </a:lnTo>
                  <a:lnTo>
                    <a:pt x="12245" y="818"/>
                  </a:lnTo>
                  <a:lnTo>
                    <a:pt x="12747" y="1036"/>
                  </a:lnTo>
                  <a:lnTo>
                    <a:pt x="13239" y="1278"/>
                  </a:lnTo>
                  <a:lnTo>
                    <a:pt x="13722" y="1547"/>
                  </a:lnTo>
                  <a:lnTo>
                    <a:pt x="14194" y="1841"/>
                  </a:lnTo>
                  <a:lnTo>
                    <a:pt x="14654" y="2160"/>
                  </a:lnTo>
                  <a:lnTo>
                    <a:pt x="15100" y="2506"/>
                  </a:lnTo>
                  <a:lnTo>
                    <a:pt x="15532" y="2877"/>
                  </a:lnTo>
                  <a:lnTo>
                    <a:pt x="15950" y="3273"/>
                  </a:lnTo>
                  <a:close/>
                  <a:moveTo>
                    <a:pt x="14055" y="5373"/>
                  </a:moveTo>
                  <a:lnTo>
                    <a:pt x="12946" y="6481"/>
                  </a:lnTo>
                  <a:lnTo>
                    <a:pt x="12921" y="6456"/>
                  </a:lnTo>
                  <a:lnTo>
                    <a:pt x="12897" y="6430"/>
                  </a:lnTo>
                  <a:lnTo>
                    <a:pt x="12871" y="6404"/>
                  </a:lnTo>
                  <a:lnTo>
                    <a:pt x="12846" y="6379"/>
                  </a:lnTo>
                  <a:lnTo>
                    <a:pt x="12592" y="6137"/>
                  </a:lnTo>
                  <a:lnTo>
                    <a:pt x="12329" y="5912"/>
                  </a:lnTo>
                  <a:lnTo>
                    <a:pt x="12058" y="5702"/>
                  </a:lnTo>
                  <a:lnTo>
                    <a:pt x="11778" y="5507"/>
                  </a:lnTo>
                  <a:lnTo>
                    <a:pt x="11491" y="5328"/>
                  </a:lnTo>
                  <a:lnTo>
                    <a:pt x="11198" y="5165"/>
                  </a:lnTo>
                  <a:lnTo>
                    <a:pt x="10898" y="5017"/>
                  </a:lnTo>
                  <a:lnTo>
                    <a:pt x="10592" y="4885"/>
                  </a:lnTo>
                  <a:lnTo>
                    <a:pt x="10282" y="4768"/>
                  </a:lnTo>
                  <a:lnTo>
                    <a:pt x="9967" y="4667"/>
                  </a:lnTo>
                  <a:lnTo>
                    <a:pt x="9649" y="4582"/>
                  </a:lnTo>
                  <a:lnTo>
                    <a:pt x="9328" y="4512"/>
                  </a:lnTo>
                  <a:lnTo>
                    <a:pt x="9004" y="4457"/>
                  </a:lnTo>
                  <a:lnTo>
                    <a:pt x="8679" y="4418"/>
                  </a:lnTo>
                  <a:lnTo>
                    <a:pt x="8352" y="4395"/>
                  </a:lnTo>
                  <a:lnTo>
                    <a:pt x="8024" y="4387"/>
                  </a:lnTo>
                  <a:lnTo>
                    <a:pt x="7697" y="4395"/>
                  </a:lnTo>
                  <a:lnTo>
                    <a:pt x="7370" y="4418"/>
                  </a:lnTo>
                  <a:lnTo>
                    <a:pt x="7044" y="4457"/>
                  </a:lnTo>
                  <a:lnTo>
                    <a:pt x="6721" y="4512"/>
                  </a:lnTo>
                  <a:lnTo>
                    <a:pt x="6399" y="4582"/>
                  </a:lnTo>
                  <a:lnTo>
                    <a:pt x="6081" y="4668"/>
                  </a:lnTo>
                  <a:lnTo>
                    <a:pt x="5767" y="4769"/>
                  </a:lnTo>
                  <a:lnTo>
                    <a:pt x="5457" y="4886"/>
                  </a:lnTo>
                  <a:lnTo>
                    <a:pt x="5151" y="5018"/>
                  </a:lnTo>
                  <a:lnTo>
                    <a:pt x="4851" y="5166"/>
                  </a:lnTo>
                  <a:lnTo>
                    <a:pt x="4558" y="5329"/>
                  </a:lnTo>
                  <a:lnTo>
                    <a:pt x="4271" y="5509"/>
                  </a:lnTo>
                  <a:lnTo>
                    <a:pt x="3991" y="5703"/>
                  </a:lnTo>
                  <a:lnTo>
                    <a:pt x="3720" y="5913"/>
                  </a:lnTo>
                  <a:lnTo>
                    <a:pt x="3457" y="6139"/>
                  </a:lnTo>
                  <a:lnTo>
                    <a:pt x="3203" y="6380"/>
                  </a:lnTo>
                  <a:lnTo>
                    <a:pt x="3178" y="6406"/>
                  </a:lnTo>
                  <a:lnTo>
                    <a:pt x="3154" y="6431"/>
                  </a:lnTo>
                  <a:lnTo>
                    <a:pt x="3129" y="6456"/>
                  </a:lnTo>
                  <a:lnTo>
                    <a:pt x="3104" y="6482"/>
                  </a:lnTo>
                  <a:lnTo>
                    <a:pt x="1996" y="5374"/>
                  </a:lnTo>
                  <a:lnTo>
                    <a:pt x="2020" y="5348"/>
                  </a:lnTo>
                  <a:lnTo>
                    <a:pt x="2045" y="5322"/>
                  </a:lnTo>
                  <a:lnTo>
                    <a:pt x="2069" y="5297"/>
                  </a:lnTo>
                  <a:lnTo>
                    <a:pt x="2095" y="5272"/>
                  </a:lnTo>
                  <a:lnTo>
                    <a:pt x="2406" y="4975"/>
                  </a:lnTo>
                  <a:lnTo>
                    <a:pt x="2731" y="4697"/>
                  </a:lnTo>
                  <a:lnTo>
                    <a:pt x="3065" y="4439"/>
                  </a:lnTo>
                  <a:lnTo>
                    <a:pt x="3408" y="4199"/>
                  </a:lnTo>
                  <a:lnTo>
                    <a:pt x="3761" y="3980"/>
                  </a:lnTo>
                  <a:lnTo>
                    <a:pt x="4122" y="3779"/>
                  </a:lnTo>
                  <a:lnTo>
                    <a:pt x="4491" y="3596"/>
                  </a:lnTo>
                  <a:lnTo>
                    <a:pt x="4866" y="3434"/>
                  </a:lnTo>
                  <a:lnTo>
                    <a:pt x="5247" y="3290"/>
                  </a:lnTo>
                  <a:lnTo>
                    <a:pt x="5635" y="3166"/>
                  </a:lnTo>
                  <a:lnTo>
                    <a:pt x="6026" y="3061"/>
                  </a:lnTo>
                  <a:lnTo>
                    <a:pt x="6421" y="2974"/>
                  </a:lnTo>
                  <a:lnTo>
                    <a:pt x="6819" y="2907"/>
                  </a:lnTo>
                  <a:lnTo>
                    <a:pt x="7219" y="2859"/>
                  </a:lnTo>
                  <a:lnTo>
                    <a:pt x="7622" y="2831"/>
                  </a:lnTo>
                  <a:lnTo>
                    <a:pt x="8024" y="2821"/>
                  </a:lnTo>
                  <a:lnTo>
                    <a:pt x="8427" y="2831"/>
                  </a:lnTo>
                  <a:lnTo>
                    <a:pt x="8829" y="2859"/>
                  </a:lnTo>
                  <a:lnTo>
                    <a:pt x="9229" y="2907"/>
                  </a:lnTo>
                  <a:lnTo>
                    <a:pt x="9627" y="2973"/>
                  </a:lnTo>
                  <a:lnTo>
                    <a:pt x="10022" y="3060"/>
                  </a:lnTo>
                  <a:lnTo>
                    <a:pt x="10413" y="3165"/>
                  </a:lnTo>
                  <a:lnTo>
                    <a:pt x="10801" y="3289"/>
                  </a:lnTo>
                  <a:lnTo>
                    <a:pt x="11182" y="3433"/>
                  </a:lnTo>
                  <a:lnTo>
                    <a:pt x="11558" y="3595"/>
                  </a:lnTo>
                  <a:lnTo>
                    <a:pt x="11926" y="3777"/>
                  </a:lnTo>
                  <a:lnTo>
                    <a:pt x="12287" y="3978"/>
                  </a:lnTo>
                  <a:lnTo>
                    <a:pt x="12640" y="4198"/>
                  </a:lnTo>
                  <a:lnTo>
                    <a:pt x="12984" y="4437"/>
                  </a:lnTo>
                  <a:lnTo>
                    <a:pt x="13318" y="4696"/>
                  </a:lnTo>
                  <a:lnTo>
                    <a:pt x="13641" y="4973"/>
                  </a:lnTo>
                  <a:lnTo>
                    <a:pt x="13954" y="5270"/>
                  </a:lnTo>
                  <a:lnTo>
                    <a:pt x="13980" y="5295"/>
                  </a:lnTo>
                  <a:lnTo>
                    <a:pt x="14005" y="5321"/>
                  </a:lnTo>
                  <a:lnTo>
                    <a:pt x="14030" y="5347"/>
                  </a:lnTo>
                  <a:lnTo>
                    <a:pt x="14055" y="5373"/>
                  </a:lnTo>
                  <a:close/>
                  <a:moveTo>
                    <a:pt x="11928" y="7501"/>
                  </a:moveTo>
                  <a:lnTo>
                    <a:pt x="10854" y="8576"/>
                  </a:lnTo>
                  <a:lnTo>
                    <a:pt x="10829" y="8549"/>
                  </a:lnTo>
                  <a:lnTo>
                    <a:pt x="10805" y="8523"/>
                  </a:lnTo>
                  <a:lnTo>
                    <a:pt x="10780" y="8498"/>
                  </a:lnTo>
                  <a:lnTo>
                    <a:pt x="10754" y="8472"/>
                  </a:lnTo>
                  <a:lnTo>
                    <a:pt x="10610" y="8336"/>
                  </a:lnTo>
                  <a:lnTo>
                    <a:pt x="10462" y="8208"/>
                  </a:lnTo>
                  <a:lnTo>
                    <a:pt x="10307" y="8089"/>
                  </a:lnTo>
                  <a:lnTo>
                    <a:pt x="10150" y="7980"/>
                  </a:lnTo>
                  <a:lnTo>
                    <a:pt x="9987" y="7878"/>
                  </a:lnTo>
                  <a:lnTo>
                    <a:pt x="9821" y="7785"/>
                  </a:lnTo>
                  <a:lnTo>
                    <a:pt x="9651" y="7702"/>
                  </a:lnTo>
                  <a:lnTo>
                    <a:pt x="9479" y="7627"/>
                  </a:lnTo>
                  <a:lnTo>
                    <a:pt x="9303" y="7561"/>
                  </a:lnTo>
                  <a:lnTo>
                    <a:pt x="9124" y="7504"/>
                  </a:lnTo>
                  <a:lnTo>
                    <a:pt x="8945" y="7456"/>
                  </a:lnTo>
                  <a:lnTo>
                    <a:pt x="8762" y="7416"/>
                  </a:lnTo>
                  <a:lnTo>
                    <a:pt x="8580" y="7384"/>
                  </a:lnTo>
                  <a:lnTo>
                    <a:pt x="8395" y="7362"/>
                  </a:lnTo>
                  <a:lnTo>
                    <a:pt x="8210" y="7349"/>
                  </a:lnTo>
                  <a:lnTo>
                    <a:pt x="8025" y="7345"/>
                  </a:lnTo>
                  <a:lnTo>
                    <a:pt x="7839" y="7349"/>
                  </a:lnTo>
                  <a:lnTo>
                    <a:pt x="7655" y="7363"/>
                  </a:lnTo>
                  <a:lnTo>
                    <a:pt x="7470" y="7385"/>
                  </a:lnTo>
                  <a:lnTo>
                    <a:pt x="7287" y="7416"/>
                  </a:lnTo>
                  <a:lnTo>
                    <a:pt x="7105" y="7456"/>
                  </a:lnTo>
                  <a:lnTo>
                    <a:pt x="6926" y="7504"/>
                  </a:lnTo>
                  <a:lnTo>
                    <a:pt x="6747" y="7561"/>
                  </a:lnTo>
                  <a:lnTo>
                    <a:pt x="6571" y="7627"/>
                  </a:lnTo>
                  <a:lnTo>
                    <a:pt x="6399" y="7703"/>
                  </a:lnTo>
                  <a:lnTo>
                    <a:pt x="6229" y="7786"/>
                  </a:lnTo>
                  <a:lnTo>
                    <a:pt x="6063" y="7878"/>
                  </a:lnTo>
                  <a:lnTo>
                    <a:pt x="5900" y="7980"/>
                  </a:lnTo>
                  <a:lnTo>
                    <a:pt x="5742" y="8090"/>
                  </a:lnTo>
                  <a:lnTo>
                    <a:pt x="5588" y="8209"/>
                  </a:lnTo>
                  <a:lnTo>
                    <a:pt x="5440" y="8337"/>
                  </a:lnTo>
                  <a:lnTo>
                    <a:pt x="5297" y="8473"/>
                  </a:lnTo>
                  <a:lnTo>
                    <a:pt x="5271" y="8498"/>
                  </a:lnTo>
                  <a:lnTo>
                    <a:pt x="5246" y="8524"/>
                  </a:lnTo>
                  <a:lnTo>
                    <a:pt x="5222" y="8550"/>
                  </a:lnTo>
                  <a:lnTo>
                    <a:pt x="5198" y="8576"/>
                  </a:lnTo>
                  <a:lnTo>
                    <a:pt x="4123" y="7501"/>
                  </a:lnTo>
                  <a:lnTo>
                    <a:pt x="4147" y="7476"/>
                  </a:lnTo>
                  <a:lnTo>
                    <a:pt x="4172" y="7450"/>
                  </a:lnTo>
                  <a:lnTo>
                    <a:pt x="4197" y="7425"/>
                  </a:lnTo>
                  <a:lnTo>
                    <a:pt x="4222" y="7399"/>
                  </a:lnTo>
                  <a:lnTo>
                    <a:pt x="4422" y="7209"/>
                  </a:lnTo>
                  <a:lnTo>
                    <a:pt x="4629" y="7030"/>
                  </a:lnTo>
                  <a:lnTo>
                    <a:pt x="4843" y="6865"/>
                  </a:lnTo>
                  <a:lnTo>
                    <a:pt x="5064" y="6711"/>
                  </a:lnTo>
                  <a:lnTo>
                    <a:pt x="5290" y="6571"/>
                  </a:lnTo>
                  <a:lnTo>
                    <a:pt x="5522" y="6441"/>
                  </a:lnTo>
                  <a:lnTo>
                    <a:pt x="5758" y="6325"/>
                  </a:lnTo>
                  <a:lnTo>
                    <a:pt x="6000" y="6220"/>
                  </a:lnTo>
                  <a:lnTo>
                    <a:pt x="6243" y="6128"/>
                  </a:lnTo>
                  <a:lnTo>
                    <a:pt x="6492" y="6048"/>
                  </a:lnTo>
                  <a:lnTo>
                    <a:pt x="6743" y="5981"/>
                  </a:lnTo>
                  <a:lnTo>
                    <a:pt x="6997" y="5925"/>
                  </a:lnTo>
                  <a:lnTo>
                    <a:pt x="7252" y="5882"/>
                  </a:lnTo>
                  <a:lnTo>
                    <a:pt x="7508" y="5851"/>
                  </a:lnTo>
                  <a:lnTo>
                    <a:pt x="7766" y="5833"/>
                  </a:lnTo>
                  <a:lnTo>
                    <a:pt x="8025" y="5827"/>
                  </a:lnTo>
                  <a:lnTo>
                    <a:pt x="8283" y="5833"/>
                  </a:lnTo>
                  <a:lnTo>
                    <a:pt x="8541" y="5851"/>
                  </a:lnTo>
                  <a:lnTo>
                    <a:pt x="8797" y="5882"/>
                  </a:lnTo>
                  <a:lnTo>
                    <a:pt x="9053" y="5925"/>
                  </a:lnTo>
                  <a:lnTo>
                    <a:pt x="9306" y="5981"/>
                  </a:lnTo>
                  <a:lnTo>
                    <a:pt x="9557" y="6048"/>
                  </a:lnTo>
                  <a:lnTo>
                    <a:pt x="9806" y="6127"/>
                  </a:lnTo>
                  <a:lnTo>
                    <a:pt x="10050" y="6219"/>
                  </a:lnTo>
                  <a:lnTo>
                    <a:pt x="10291" y="6324"/>
                  </a:lnTo>
                  <a:lnTo>
                    <a:pt x="10528" y="6440"/>
                  </a:lnTo>
                  <a:lnTo>
                    <a:pt x="10760" y="6570"/>
                  </a:lnTo>
                  <a:lnTo>
                    <a:pt x="10985" y="6710"/>
                  </a:lnTo>
                  <a:lnTo>
                    <a:pt x="11206" y="6864"/>
                  </a:lnTo>
                  <a:lnTo>
                    <a:pt x="11421" y="7029"/>
                  </a:lnTo>
                  <a:lnTo>
                    <a:pt x="11627" y="7208"/>
                  </a:lnTo>
                  <a:lnTo>
                    <a:pt x="11828" y="7398"/>
                  </a:lnTo>
                  <a:lnTo>
                    <a:pt x="11853" y="7424"/>
                  </a:lnTo>
                  <a:lnTo>
                    <a:pt x="11878" y="7449"/>
                  </a:lnTo>
                  <a:lnTo>
                    <a:pt x="11903" y="7475"/>
                  </a:lnTo>
                  <a:lnTo>
                    <a:pt x="11928" y="7501"/>
                  </a:lnTo>
                  <a:close/>
                </a:path>
              </a:pathLst>
            </a:custGeom>
            <a:grpFill/>
            <a:ln w="9525">
              <a:noFill/>
              <a:round/>
              <a:headEnd/>
              <a:tailEnd/>
            </a:ln>
          </p:spPr>
          <p:txBody>
            <a:bodyPr/>
            <a:lstStyle/>
            <a:p>
              <a:pPr algn="ctr" eaLnBrk="1" fontAlgn="auto" hangingPunct="1">
                <a:spcBef>
                  <a:spcPts val="0"/>
                </a:spcBef>
                <a:spcAft>
                  <a:spcPts val="0"/>
                </a:spcAft>
                <a:defRPr/>
              </a:pPr>
              <a:endParaRPr lang="zh-CN" altLang="en-US" sz="1200" ker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pic>
        <p:nvPicPr>
          <p:cNvPr id="128" name="图片 14" descr="日志告警服务器-蓝.png"/>
          <p:cNvPicPr>
            <a:picLocks noChangeAspect="1"/>
          </p:cNvPicPr>
          <p:nvPr/>
        </p:nvPicPr>
        <p:blipFill>
          <a:blip r:embed="rId9" cstate="print"/>
          <a:stretch>
            <a:fillRect/>
          </a:stretch>
        </p:blipFill>
        <p:spPr bwMode="gray">
          <a:xfrm>
            <a:off x="4275381" y="5707138"/>
            <a:ext cx="445956" cy="278465"/>
          </a:xfrm>
          <a:prstGeom prst="rect">
            <a:avLst/>
          </a:prstGeom>
        </p:spPr>
      </p:pic>
      <p:sp>
        <p:nvSpPr>
          <p:cNvPr id="129" name="文本框 128"/>
          <p:cNvSpPr txBox="1"/>
          <p:nvPr/>
        </p:nvSpPr>
        <p:spPr bwMode="gray">
          <a:xfrm>
            <a:off x="4265333" y="4543514"/>
            <a:ext cx="460382" cy="276999"/>
          </a:xfrm>
          <a:prstGeom prst="rect">
            <a:avLst/>
          </a:prstGeom>
          <a:noFill/>
        </p:spPr>
        <p:txBody>
          <a:bodyPr wrap="none" rtlCol="0">
            <a:spAutoFit/>
          </a:bodyPr>
          <a:lstStyle/>
          <a:p>
            <a:pPr algn="ctr"/>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AP1</a:t>
            </a:r>
            <a:endParaRPr lang="zh-CN" altLang="en-US" sz="1200" b="1"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44" name="五边形 43"/>
          <p:cNvSpPr/>
          <p:nvPr/>
        </p:nvSpPr>
        <p:spPr bwMode="gray">
          <a:xfrm>
            <a:off x="5773628" y="98481"/>
            <a:ext cx="9000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站点管理</a:t>
            </a:r>
          </a:p>
        </p:txBody>
      </p:sp>
      <p:sp>
        <p:nvSpPr>
          <p:cNvPr id="45" name="燕尾形 44"/>
          <p:cNvSpPr/>
          <p:nvPr/>
        </p:nvSpPr>
        <p:spPr bwMode="gray">
          <a:xfrm>
            <a:off x="9109268" y="9848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逻辑网络</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6" name="燕尾形 45"/>
          <p:cNvSpPr/>
          <p:nvPr/>
        </p:nvSpPr>
        <p:spPr bwMode="gray">
          <a:xfrm>
            <a:off x="9925178" y="9848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业务部署</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7" name="燕尾形 46"/>
          <p:cNvSpPr/>
          <p:nvPr/>
        </p:nvSpPr>
        <p:spPr bwMode="gray">
          <a:xfrm>
            <a:off x="8221358" y="98481"/>
            <a:ext cx="9720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Fabric</a:t>
            </a: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网络</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8" name="燕尾形 47"/>
          <p:cNvSpPr/>
          <p:nvPr/>
        </p:nvSpPr>
        <p:spPr bwMode="gray">
          <a:xfrm>
            <a:off x="7405448" y="9848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网络规划</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9" name="燕尾形 48"/>
          <p:cNvSpPr/>
          <p:nvPr/>
        </p:nvSpPr>
        <p:spPr bwMode="gray">
          <a:xfrm>
            <a:off x="6589538" y="9848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设备管理</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0" name="燕尾形 49"/>
          <p:cNvSpPr/>
          <p:nvPr/>
        </p:nvSpPr>
        <p:spPr bwMode="gray">
          <a:xfrm>
            <a:off x="10741088" y="98481"/>
            <a:ext cx="1008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WLAN</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业务</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304335542"/>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normAutofit/>
          </a:bodyPr>
          <a:lstStyle/>
          <a:p>
            <a:r>
              <a:rPr lang="zh-CN" altLang="en-US" dirty="0" smtClean="0"/>
              <a:t>配置</a:t>
            </a:r>
            <a:r>
              <a:rPr lang="en-US" altLang="zh-CN" dirty="0" smtClean="0"/>
              <a:t>Fabric</a:t>
            </a:r>
            <a:r>
              <a:rPr lang="zh-CN" altLang="en-US" dirty="0" smtClean="0"/>
              <a:t>网络：创建</a:t>
            </a:r>
            <a:r>
              <a:rPr lang="en-US" altLang="zh-CN" dirty="0" smtClean="0"/>
              <a:t>Fabric</a:t>
            </a:r>
            <a:endParaRPr lang="zh-CN" altLang="en-US" dirty="0"/>
          </a:p>
        </p:txBody>
      </p:sp>
      <p:sp>
        <p:nvSpPr>
          <p:cNvPr id="3" name="文本占位符 2"/>
          <p:cNvSpPr>
            <a:spLocks noGrp="1"/>
          </p:cNvSpPr>
          <p:nvPr>
            <p:ph type="body" sz="quarter" idx="10"/>
          </p:nvPr>
        </p:nvSpPr>
        <p:spPr bwMode="gray">
          <a:xfrm>
            <a:off x="455612" y="1047750"/>
            <a:ext cx="11293475" cy="1669901"/>
          </a:xfrm>
        </p:spPr>
        <p:txBody>
          <a:bodyPr/>
          <a:lstStyle/>
          <a:p>
            <a:r>
              <a:rPr lang="zh-CN" altLang="en-US" sz="2000" dirty="0" smtClean="0"/>
              <a:t>首先需要创建</a:t>
            </a:r>
            <a:r>
              <a:rPr lang="en-US" altLang="zh-CN" sz="2000" dirty="0" smtClean="0"/>
              <a:t>Fabric</a:t>
            </a:r>
            <a:r>
              <a:rPr lang="zh-CN" altLang="en-US" sz="2000" dirty="0" smtClean="0"/>
              <a:t>并完成基本组网的配置，包括</a:t>
            </a:r>
            <a:r>
              <a:rPr lang="en-US" altLang="zh-CN" sz="2000" dirty="0" smtClean="0"/>
              <a:t>Border</a:t>
            </a:r>
            <a:r>
              <a:rPr lang="zh-CN" altLang="en-US" sz="2000" dirty="0" smtClean="0"/>
              <a:t>和</a:t>
            </a:r>
            <a:r>
              <a:rPr lang="en-US" altLang="zh-CN" sz="2000" dirty="0" smtClean="0"/>
              <a:t>Edge</a:t>
            </a:r>
            <a:r>
              <a:rPr lang="zh-CN" altLang="en-US" sz="2000" dirty="0" smtClean="0"/>
              <a:t>设备的选取、</a:t>
            </a:r>
            <a:r>
              <a:rPr lang="en-US" altLang="zh-CN" sz="2000" dirty="0" smtClean="0"/>
              <a:t>VXLAN</a:t>
            </a:r>
            <a:r>
              <a:rPr lang="zh-CN" altLang="en-US" sz="2000" dirty="0" smtClean="0"/>
              <a:t>控制面</a:t>
            </a:r>
            <a:r>
              <a:rPr lang="en-US" altLang="zh-CN" sz="2000" dirty="0" smtClean="0"/>
              <a:t>BGP EVPN</a:t>
            </a:r>
            <a:r>
              <a:rPr lang="zh-CN" altLang="en-US" sz="2000" dirty="0" smtClean="0"/>
              <a:t>的配置等。</a:t>
            </a:r>
            <a:endParaRPr lang="en-US" altLang="zh-CN" sz="2000" dirty="0" smtClean="0"/>
          </a:p>
          <a:p>
            <a:r>
              <a:rPr lang="zh-CN" altLang="en-US" sz="2000" dirty="0" smtClean="0"/>
              <a:t>另外，</a:t>
            </a:r>
            <a:r>
              <a:rPr lang="en-US" altLang="zh-CN" sz="2000" dirty="0" smtClean="0"/>
              <a:t>Underlay</a:t>
            </a:r>
            <a:r>
              <a:rPr lang="zh-CN" altLang="en-US" sz="2000" dirty="0" smtClean="0"/>
              <a:t>网络自动配置路由域功能也是在</a:t>
            </a:r>
            <a:r>
              <a:rPr lang="en-US" altLang="zh-CN" sz="2000" dirty="0" smtClean="0"/>
              <a:t>Fabric</a:t>
            </a:r>
            <a:r>
              <a:rPr lang="zh-CN" altLang="en-US" sz="2000" dirty="0" smtClean="0"/>
              <a:t>创建时开启。</a:t>
            </a:r>
            <a:endParaRPr lang="zh-CN" altLang="en-US" sz="2000" dirty="0"/>
          </a:p>
        </p:txBody>
      </p:sp>
      <p:graphicFrame>
        <p:nvGraphicFramePr>
          <p:cNvPr id="16" name="表格 15"/>
          <p:cNvGraphicFramePr>
            <a:graphicFrameLocks noGrp="1"/>
          </p:cNvGraphicFramePr>
          <p:nvPr>
            <p:extLst>
              <p:ext uri="{D42A27DB-BD31-4B8C-83A1-F6EECF244321}">
                <p14:modId xmlns:p14="http://schemas.microsoft.com/office/powerpoint/2010/main" val="2897927353"/>
              </p:ext>
            </p:extLst>
          </p:nvPr>
        </p:nvGraphicFramePr>
        <p:xfrm>
          <a:off x="771442" y="2724690"/>
          <a:ext cx="10649116" cy="2309533"/>
        </p:xfrm>
        <a:graphic>
          <a:graphicData uri="http://schemas.openxmlformats.org/drawingml/2006/table">
            <a:tbl>
              <a:tblPr/>
              <a:tblGrid>
                <a:gridCol w="1223714"/>
                <a:gridCol w="9425402"/>
              </a:tblGrid>
              <a:tr h="324349">
                <a:tc>
                  <a:txBody>
                    <a:bodyPr/>
                    <a:lstStyle/>
                    <a:p>
                      <a:pPr algn="ctr"/>
                      <a:r>
                        <a:rPr lang="zh-CN" altLang="en-US" sz="1400" b="1" dirty="0">
                          <a:effectLst/>
                        </a:rPr>
                        <a:t>任务描述</a:t>
                      </a:r>
                    </a:p>
                  </a:txBody>
                  <a:tcPr anchor="ctr">
                    <a:lnL w="28575" cap="flat" cmpd="sng" algn="ctr">
                      <a:solidFill>
                        <a:schemeClr val="tx1"/>
                      </a:solidFill>
                      <a:prstDash val="solid"/>
                      <a:round/>
                      <a:headEnd type="none" w="med" len="med"/>
                      <a:tailEnd type="none" w="med" len="med"/>
                    </a:lnL>
                    <a:lnT w="28575" cap="flat" cmpd="sng" algn="ctr">
                      <a:solidFill>
                        <a:schemeClr val="tx1"/>
                      </a:solidFill>
                      <a:prstDash val="solid"/>
                      <a:round/>
                      <a:headEnd type="none" w="med" len="med"/>
                      <a:tailEnd type="none" w="med" len="med"/>
                    </a:lnT>
                    <a:solidFill>
                      <a:schemeClr val="bg1">
                        <a:lumMod val="85000"/>
                      </a:schemeClr>
                    </a:solidFill>
                  </a:tcPr>
                </a:tc>
                <a:tc>
                  <a:txBody>
                    <a:bodyPr/>
                    <a:lstStyle/>
                    <a:p>
                      <a:pPr algn="ctr"/>
                      <a:r>
                        <a:rPr lang="zh-CN" altLang="en-US" sz="1400" b="1" dirty="0">
                          <a:effectLst/>
                        </a:rPr>
                        <a:t>详细操作步骤</a:t>
                      </a:r>
                    </a:p>
                  </a:txBody>
                  <a:tcPr anchor="ctr">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solidFill>
                      <a:schemeClr val="bg1">
                        <a:lumMod val="85000"/>
                      </a:schemeClr>
                    </a:solidFill>
                  </a:tcPr>
                </a:tc>
              </a:tr>
              <a:tr h="1985184">
                <a:tc>
                  <a:txBody>
                    <a:bodyPr/>
                    <a:lstStyle/>
                    <a:p>
                      <a:pPr algn="ctr"/>
                      <a:r>
                        <a:rPr lang="zh-CN" altLang="en-US" sz="1400">
                          <a:effectLst/>
                        </a:rPr>
                        <a:t>创建</a:t>
                      </a:r>
                      <a:r>
                        <a:rPr lang="en-US" sz="1400">
                          <a:effectLst/>
                        </a:rPr>
                        <a:t>Fabric</a:t>
                      </a:r>
                    </a:p>
                  </a:txBody>
                  <a:tcPr anchor="ctr">
                    <a:lnL w="28575" cap="flat" cmpd="sng" algn="ctr">
                      <a:solidFill>
                        <a:schemeClr val="tx1"/>
                      </a:solidFill>
                      <a:prstDash val="solid"/>
                      <a:round/>
                      <a:headEnd type="none" w="med" len="med"/>
                      <a:tailEnd type="none" w="med" len="med"/>
                    </a:lnL>
                    <a:lnB w="28575" cap="flat" cmpd="sng" algn="ctr">
                      <a:solidFill>
                        <a:schemeClr val="tx1"/>
                      </a:solidFill>
                      <a:prstDash val="solid"/>
                      <a:round/>
                      <a:headEnd type="none" w="med" len="med"/>
                      <a:tailEnd type="none" w="med" len="med"/>
                    </a:lnB>
                  </a:tcPr>
                </a:tc>
                <a:tc>
                  <a:txBody>
                    <a:bodyPr/>
                    <a:lstStyle/>
                    <a:p>
                      <a:pPr marL="228600" indent="-228600" algn="l" defTabSz="914034" rtl="0" eaLnBrk="1" latinLnBrk="0" hangingPunct="1">
                        <a:lnSpc>
                          <a:spcPct val="100000"/>
                        </a:lnSpc>
                        <a:spcAft>
                          <a:spcPts val="0"/>
                        </a:spcAft>
                        <a:buFont typeface="+mj-lt"/>
                        <a:buAutoNum type="arabicPeriod"/>
                      </a:pPr>
                      <a:r>
                        <a:rPr lang="zh-CN" altLang="en-US" sz="1400" kern="1200" dirty="0" smtClean="0">
                          <a:solidFill>
                            <a:schemeClr val="tx1"/>
                          </a:solidFill>
                          <a:effectLst/>
                          <a:latin typeface="+mn-lt"/>
                          <a:ea typeface="+mn-ea"/>
                          <a:cs typeface="+mn-cs"/>
                        </a:rPr>
                        <a:t>选择组网类型</a:t>
                      </a:r>
                      <a:r>
                        <a:rPr lang="zh-CN" altLang="en-US" sz="1400" kern="1200" dirty="0">
                          <a:solidFill>
                            <a:schemeClr val="tx1"/>
                          </a:solidFill>
                          <a:effectLst/>
                          <a:latin typeface="+mn-lt"/>
                          <a:ea typeface="+mn-ea"/>
                          <a:cs typeface="+mn-cs"/>
                        </a:rPr>
                        <a:t>，</a:t>
                      </a:r>
                      <a:r>
                        <a:rPr lang="zh-CN" altLang="en-US" sz="1400" kern="1200" dirty="0" smtClean="0">
                          <a:solidFill>
                            <a:schemeClr val="tx1"/>
                          </a:solidFill>
                          <a:effectLst/>
                          <a:latin typeface="+mn-lt"/>
                          <a:ea typeface="+mn-ea"/>
                          <a:cs typeface="+mn-cs"/>
                        </a:rPr>
                        <a:t>包括：集中式</a:t>
                      </a:r>
                      <a:r>
                        <a:rPr lang="zh-CN" altLang="en-US" sz="1400" kern="1200" dirty="0">
                          <a:solidFill>
                            <a:schemeClr val="tx1"/>
                          </a:solidFill>
                          <a:effectLst/>
                          <a:latin typeface="+mn-lt"/>
                          <a:ea typeface="+mn-ea"/>
                          <a:cs typeface="+mn-cs"/>
                        </a:rPr>
                        <a:t>和分布式</a:t>
                      </a:r>
                      <a:r>
                        <a:rPr lang="zh-CN" altLang="en-US" sz="1400" kern="1200" dirty="0" smtClean="0">
                          <a:solidFill>
                            <a:schemeClr val="tx1"/>
                          </a:solidFill>
                          <a:effectLst/>
                          <a:latin typeface="+mn-lt"/>
                          <a:ea typeface="+mn-ea"/>
                          <a:cs typeface="+mn-cs"/>
                        </a:rPr>
                        <a:t>两种。</a:t>
                      </a:r>
                      <a:endParaRPr lang="en-US" altLang="zh-CN" sz="1400" kern="1200" dirty="0" smtClean="0">
                        <a:solidFill>
                          <a:schemeClr val="tx1"/>
                        </a:solidFill>
                        <a:effectLst/>
                        <a:latin typeface="+mn-lt"/>
                        <a:ea typeface="+mn-ea"/>
                        <a:cs typeface="+mn-cs"/>
                      </a:endParaRPr>
                    </a:p>
                    <a:p>
                      <a:pPr marL="228600" indent="-228600" algn="l" defTabSz="914034" rtl="0" eaLnBrk="1" latinLnBrk="0" hangingPunct="1">
                        <a:lnSpc>
                          <a:spcPct val="100000"/>
                        </a:lnSpc>
                        <a:spcAft>
                          <a:spcPts val="0"/>
                        </a:spcAft>
                        <a:buFont typeface="+mj-lt"/>
                        <a:buAutoNum type="arabicPeriod"/>
                      </a:pPr>
                      <a:r>
                        <a:rPr lang="zh-CN" altLang="en-US" sz="1400" kern="1200" dirty="0" smtClean="0">
                          <a:solidFill>
                            <a:schemeClr val="tx1"/>
                          </a:solidFill>
                          <a:effectLst/>
                          <a:latin typeface="+mn-lt"/>
                          <a:ea typeface="+mn-ea"/>
                          <a:cs typeface="+mn-cs"/>
                        </a:rPr>
                        <a:t>选择无线</a:t>
                      </a:r>
                      <a:r>
                        <a:rPr lang="en-US" altLang="zh-CN" sz="1400" kern="1200" dirty="0" smtClean="0">
                          <a:solidFill>
                            <a:schemeClr val="tx1"/>
                          </a:solidFill>
                          <a:effectLst/>
                          <a:latin typeface="+mn-lt"/>
                          <a:ea typeface="+mn-ea"/>
                          <a:cs typeface="+mn-cs"/>
                        </a:rPr>
                        <a:t>WAC</a:t>
                      </a:r>
                      <a:r>
                        <a:rPr lang="zh-CN" altLang="en-US" sz="1400" kern="1200" dirty="0" smtClean="0">
                          <a:solidFill>
                            <a:schemeClr val="tx1"/>
                          </a:solidFill>
                          <a:effectLst/>
                          <a:latin typeface="+mn-lt"/>
                          <a:ea typeface="+mn-ea"/>
                          <a:cs typeface="+mn-cs"/>
                        </a:rPr>
                        <a:t>位置，包括：边缘节点、边界网关节点、独立</a:t>
                      </a:r>
                      <a:r>
                        <a:rPr lang="en-US" altLang="zh-CN" sz="1400" kern="1200" dirty="0" smtClean="0">
                          <a:solidFill>
                            <a:schemeClr val="tx1"/>
                          </a:solidFill>
                          <a:effectLst/>
                          <a:latin typeface="+mn-lt"/>
                          <a:ea typeface="+mn-ea"/>
                          <a:cs typeface="+mn-cs"/>
                        </a:rPr>
                        <a:t>WAC</a:t>
                      </a:r>
                      <a:r>
                        <a:rPr lang="zh-CN" altLang="en-US" sz="1400" kern="1200" dirty="0" smtClean="0">
                          <a:solidFill>
                            <a:schemeClr val="tx1"/>
                          </a:solidFill>
                          <a:effectLst/>
                          <a:latin typeface="+mn-lt"/>
                          <a:ea typeface="+mn-ea"/>
                          <a:cs typeface="+mn-cs"/>
                        </a:rPr>
                        <a:t>、不涉及。</a:t>
                      </a:r>
                      <a:endParaRPr lang="en-US" altLang="zh-CN" sz="1400" kern="1200" dirty="0" smtClean="0">
                        <a:solidFill>
                          <a:schemeClr val="tx1"/>
                        </a:solidFill>
                        <a:effectLst/>
                        <a:latin typeface="+mn-lt"/>
                        <a:ea typeface="+mn-ea"/>
                        <a:cs typeface="+mn-cs"/>
                      </a:endParaRPr>
                    </a:p>
                    <a:p>
                      <a:pPr marL="228600" indent="-228600" algn="l" defTabSz="914034" rtl="0" eaLnBrk="1" latinLnBrk="0" hangingPunct="1">
                        <a:lnSpc>
                          <a:spcPct val="100000"/>
                        </a:lnSpc>
                        <a:spcAft>
                          <a:spcPts val="0"/>
                        </a:spcAft>
                        <a:buFont typeface="+mj-lt"/>
                        <a:buAutoNum type="arabicPeriod"/>
                      </a:pPr>
                      <a:r>
                        <a:rPr lang="zh-CN" altLang="en-US" sz="1400" kern="1200" dirty="0" smtClean="0">
                          <a:solidFill>
                            <a:schemeClr val="tx1"/>
                          </a:solidFill>
                          <a:effectLst/>
                          <a:latin typeface="+mn-lt"/>
                          <a:ea typeface="+mn-ea"/>
                          <a:cs typeface="+mn-cs"/>
                        </a:rPr>
                        <a:t>配置自动配置路由域：开启</a:t>
                      </a:r>
                      <a:r>
                        <a:rPr lang="en-US" altLang="zh-CN" sz="1400" kern="1200" dirty="0" smtClean="0">
                          <a:solidFill>
                            <a:schemeClr val="tx1"/>
                          </a:solidFill>
                          <a:effectLst/>
                          <a:latin typeface="+mn-lt"/>
                          <a:ea typeface="+mn-ea"/>
                          <a:cs typeface="+mn-cs"/>
                        </a:rPr>
                        <a:t>Underlay</a:t>
                      </a:r>
                      <a:r>
                        <a:rPr lang="zh-CN" altLang="en-US" sz="1400" kern="1200" dirty="0" smtClean="0">
                          <a:solidFill>
                            <a:schemeClr val="tx1"/>
                          </a:solidFill>
                          <a:effectLst/>
                          <a:latin typeface="+mn-lt"/>
                          <a:ea typeface="+mn-ea"/>
                          <a:cs typeface="+mn-cs"/>
                        </a:rPr>
                        <a:t>网络自动配置路由域功能。</a:t>
                      </a:r>
                      <a:endParaRPr lang="en-US" altLang="zh-CN" sz="1400" kern="1200" dirty="0" smtClean="0">
                        <a:solidFill>
                          <a:schemeClr val="tx1"/>
                        </a:solidFill>
                        <a:effectLst/>
                        <a:latin typeface="+mn-lt"/>
                        <a:ea typeface="+mn-ea"/>
                        <a:cs typeface="+mn-cs"/>
                      </a:endParaRPr>
                    </a:p>
                    <a:p>
                      <a:pPr marL="228600" marR="0" lvl="0" indent="-228600" algn="l" defTabSz="914034" rtl="0" eaLnBrk="1" fontAlgn="auto" latinLnBrk="0" hangingPunct="1">
                        <a:lnSpc>
                          <a:spcPct val="100000"/>
                        </a:lnSpc>
                        <a:spcBef>
                          <a:spcPts val="0"/>
                        </a:spcBef>
                        <a:spcAft>
                          <a:spcPts val="0"/>
                        </a:spcAft>
                        <a:buClrTx/>
                        <a:buSzTx/>
                        <a:buFont typeface="+mj-lt"/>
                        <a:buAutoNum type="arabicPeriod"/>
                        <a:tabLst/>
                        <a:defRPr/>
                      </a:pPr>
                      <a:r>
                        <a:rPr lang="zh-CN" altLang="en-US" sz="1400" kern="1200" dirty="0" smtClean="0">
                          <a:solidFill>
                            <a:schemeClr val="tx1"/>
                          </a:solidFill>
                          <a:effectLst/>
                          <a:latin typeface="+mn-lt"/>
                          <a:ea typeface="+mn-ea"/>
                          <a:cs typeface="+mn-cs"/>
                        </a:rPr>
                        <a:t>配置</a:t>
                      </a:r>
                      <a:r>
                        <a:rPr lang="en-US" altLang="zh-CN" sz="1400" kern="1200" dirty="0" smtClean="0">
                          <a:solidFill>
                            <a:schemeClr val="tx1"/>
                          </a:solidFill>
                          <a:effectLst/>
                          <a:latin typeface="+mn-lt"/>
                          <a:ea typeface="+mn-ea"/>
                          <a:cs typeface="+mn-cs"/>
                        </a:rPr>
                        <a:t>AS</a:t>
                      </a:r>
                      <a:r>
                        <a:rPr lang="zh-CN" altLang="en-US" sz="1400" kern="1200" dirty="0" smtClean="0">
                          <a:solidFill>
                            <a:schemeClr val="tx1"/>
                          </a:solidFill>
                          <a:effectLst/>
                          <a:latin typeface="+mn-lt"/>
                          <a:ea typeface="+mn-ea"/>
                          <a:cs typeface="+mn-cs"/>
                        </a:rPr>
                        <a:t>号：即配置</a:t>
                      </a:r>
                      <a:r>
                        <a:rPr lang="en-US" altLang="zh-CN" sz="1400" kern="1200" dirty="0" smtClean="0">
                          <a:solidFill>
                            <a:schemeClr val="tx1"/>
                          </a:solidFill>
                          <a:effectLst/>
                          <a:latin typeface="+mn-lt"/>
                          <a:ea typeface="+mn-ea"/>
                          <a:cs typeface="+mn-cs"/>
                        </a:rPr>
                        <a:t>BGP EVPN</a:t>
                      </a:r>
                      <a:r>
                        <a:rPr lang="zh-CN" altLang="en-US" sz="1400" kern="1200" dirty="0" smtClean="0">
                          <a:solidFill>
                            <a:schemeClr val="tx1"/>
                          </a:solidFill>
                          <a:effectLst/>
                          <a:latin typeface="+mn-lt"/>
                          <a:ea typeface="+mn-ea"/>
                          <a:cs typeface="+mn-cs"/>
                        </a:rPr>
                        <a:t>，同时设置反射器集群</a:t>
                      </a:r>
                      <a:r>
                        <a:rPr lang="en-US" altLang="zh-CN" sz="1400" kern="1200" dirty="0" smtClean="0">
                          <a:solidFill>
                            <a:schemeClr val="tx1"/>
                          </a:solidFill>
                          <a:effectLst/>
                          <a:latin typeface="+mn-lt"/>
                          <a:ea typeface="+mn-ea"/>
                          <a:cs typeface="+mn-cs"/>
                        </a:rPr>
                        <a:t>ID</a:t>
                      </a:r>
                      <a:r>
                        <a:rPr lang="zh-CN" altLang="en-US" sz="1400" kern="1200" dirty="0" smtClean="0">
                          <a:solidFill>
                            <a:schemeClr val="tx1"/>
                          </a:solidFill>
                          <a:effectLst/>
                          <a:latin typeface="+mn-lt"/>
                          <a:ea typeface="+mn-ea"/>
                          <a:cs typeface="+mn-cs"/>
                        </a:rPr>
                        <a:t>。</a:t>
                      </a:r>
                      <a:endParaRPr lang="zh-CN" altLang="en-US" sz="1400" kern="1200" dirty="0">
                        <a:solidFill>
                          <a:schemeClr val="tx1"/>
                        </a:solidFill>
                        <a:effectLst/>
                        <a:latin typeface="+mn-lt"/>
                        <a:ea typeface="+mn-ea"/>
                        <a:cs typeface="+mn-cs"/>
                      </a:endParaRPr>
                    </a:p>
                    <a:p>
                      <a:pPr marL="228600" indent="-228600" algn="l" defTabSz="914034" rtl="0" eaLnBrk="1" latinLnBrk="0" hangingPunct="1">
                        <a:lnSpc>
                          <a:spcPct val="100000"/>
                        </a:lnSpc>
                        <a:spcAft>
                          <a:spcPts val="0"/>
                        </a:spcAft>
                        <a:buFont typeface="+mj-lt"/>
                        <a:buAutoNum type="arabicPeriod"/>
                      </a:pPr>
                      <a:r>
                        <a:rPr lang="zh-CN" altLang="en-US" sz="1400" kern="1200" dirty="0" smtClean="0">
                          <a:solidFill>
                            <a:schemeClr val="tx1"/>
                          </a:solidFill>
                          <a:effectLst/>
                          <a:latin typeface="+mn-lt"/>
                          <a:ea typeface="+mn-ea"/>
                          <a:cs typeface="+mn-cs"/>
                        </a:rPr>
                        <a:t>（</a:t>
                      </a:r>
                      <a:r>
                        <a:rPr lang="zh-CN" altLang="en-US" sz="1400" kern="1200" dirty="0">
                          <a:solidFill>
                            <a:schemeClr val="tx1"/>
                          </a:solidFill>
                          <a:effectLst/>
                          <a:latin typeface="+mn-lt"/>
                          <a:ea typeface="+mn-ea"/>
                          <a:cs typeface="+mn-cs"/>
                        </a:rPr>
                        <a:t>可选）配置</a:t>
                      </a:r>
                      <a:r>
                        <a:rPr lang="en-US" altLang="zh-CN" sz="1400" kern="1200" dirty="0">
                          <a:solidFill>
                            <a:schemeClr val="tx1"/>
                          </a:solidFill>
                          <a:effectLst/>
                          <a:latin typeface="+mn-lt"/>
                          <a:ea typeface="+mn-ea"/>
                          <a:cs typeface="+mn-cs"/>
                        </a:rPr>
                        <a:t>Fabric</a:t>
                      </a:r>
                      <a:r>
                        <a:rPr lang="zh-CN" altLang="en-US" sz="1400" kern="1200" dirty="0">
                          <a:solidFill>
                            <a:schemeClr val="tx1"/>
                          </a:solidFill>
                          <a:effectLst/>
                          <a:latin typeface="+mn-lt"/>
                          <a:ea typeface="+mn-ea"/>
                          <a:cs typeface="+mn-cs"/>
                        </a:rPr>
                        <a:t>网络风暴抑制。为了减小网络风暴风险，建议</a:t>
                      </a:r>
                      <a:r>
                        <a:rPr lang="zh-CN" altLang="en-US" sz="1400" kern="1200" dirty="0" smtClean="0">
                          <a:solidFill>
                            <a:schemeClr val="tx1"/>
                          </a:solidFill>
                          <a:effectLst/>
                          <a:latin typeface="+mn-lt"/>
                          <a:ea typeface="+mn-ea"/>
                          <a:cs typeface="+mn-cs"/>
                        </a:rPr>
                        <a:t>配置。</a:t>
                      </a:r>
                      <a:endParaRPr lang="en-US" altLang="zh-CN" sz="1400" kern="1200" dirty="0" smtClean="0">
                        <a:solidFill>
                          <a:schemeClr val="tx1"/>
                        </a:solidFill>
                        <a:effectLst/>
                        <a:latin typeface="+mn-lt"/>
                        <a:ea typeface="+mn-ea"/>
                        <a:cs typeface="+mn-cs"/>
                      </a:endParaRPr>
                    </a:p>
                    <a:p>
                      <a:pPr marL="228600" indent="-228600" algn="l" defTabSz="914034" rtl="0" eaLnBrk="1" latinLnBrk="0" hangingPunct="1">
                        <a:lnSpc>
                          <a:spcPct val="100000"/>
                        </a:lnSpc>
                        <a:spcAft>
                          <a:spcPts val="0"/>
                        </a:spcAft>
                        <a:buFont typeface="+mj-lt"/>
                        <a:buAutoNum type="arabicPeriod"/>
                      </a:pPr>
                      <a:r>
                        <a:rPr lang="zh-CN" altLang="en-US" sz="1400" kern="1200" dirty="0" smtClean="0">
                          <a:solidFill>
                            <a:schemeClr val="tx1"/>
                          </a:solidFill>
                          <a:effectLst/>
                          <a:latin typeface="+mn-lt"/>
                          <a:ea typeface="+mn-ea"/>
                          <a:cs typeface="+mn-cs"/>
                        </a:rPr>
                        <a:t>（</a:t>
                      </a:r>
                      <a:r>
                        <a:rPr lang="zh-CN" altLang="en-US" sz="1400" kern="1200" dirty="0">
                          <a:solidFill>
                            <a:schemeClr val="tx1"/>
                          </a:solidFill>
                          <a:effectLst/>
                          <a:latin typeface="+mn-lt"/>
                          <a:ea typeface="+mn-ea"/>
                          <a:cs typeface="+mn-cs"/>
                        </a:rPr>
                        <a:t>可选）开启上报终端识别信息功能。配置终端识别功能时，需要</a:t>
                      </a:r>
                      <a:r>
                        <a:rPr lang="zh-CN" altLang="en-US" sz="1400" kern="1200" dirty="0" smtClean="0">
                          <a:solidFill>
                            <a:schemeClr val="tx1"/>
                          </a:solidFill>
                          <a:effectLst/>
                          <a:latin typeface="+mn-lt"/>
                          <a:ea typeface="+mn-ea"/>
                          <a:cs typeface="+mn-cs"/>
                        </a:rPr>
                        <a:t>开启。</a:t>
                      </a:r>
                      <a:endParaRPr lang="en-US" altLang="zh-CN" sz="1400" kern="1200" dirty="0" smtClean="0">
                        <a:solidFill>
                          <a:schemeClr val="tx1"/>
                        </a:solidFill>
                        <a:effectLst/>
                        <a:latin typeface="+mn-lt"/>
                        <a:ea typeface="+mn-ea"/>
                        <a:cs typeface="+mn-cs"/>
                      </a:endParaRPr>
                    </a:p>
                    <a:p>
                      <a:pPr marL="228600" marR="0" lvl="0" indent="-228600" algn="l" defTabSz="914034" rtl="0" eaLnBrk="1" fontAlgn="auto" latinLnBrk="0" hangingPunct="1">
                        <a:lnSpc>
                          <a:spcPct val="100000"/>
                        </a:lnSpc>
                        <a:spcBef>
                          <a:spcPts val="0"/>
                        </a:spcBef>
                        <a:spcAft>
                          <a:spcPts val="0"/>
                        </a:spcAft>
                        <a:buClrTx/>
                        <a:buSzTx/>
                        <a:buFont typeface="+mj-lt"/>
                        <a:buAutoNum type="arabicPeriod"/>
                        <a:tabLst/>
                        <a:defRPr/>
                      </a:pPr>
                      <a:r>
                        <a:rPr lang="zh-CN" altLang="en-US" sz="1400" kern="1200" dirty="0" smtClean="0">
                          <a:solidFill>
                            <a:schemeClr val="tx1"/>
                          </a:solidFill>
                          <a:effectLst/>
                          <a:latin typeface="+mn-lt"/>
                          <a:ea typeface="+mn-ea"/>
                          <a:cs typeface="+mn-cs"/>
                        </a:rPr>
                        <a:t>添加设备到</a:t>
                      </a:r>
                      <a:r>
                        <a:rPr lang="en-US" altLang="zh-CN" sz="1400" kern="1200" dirty="0" smtClean="0">
                          <a:solidFill>
                            <a:schemeClr val="tx1"/>
                          </a:solidFill>
                          <a:effectLst/>
                          <a:latin typeface="+mn-lt"/>
                          <a:ea typeface="+mn-ea"/>
                          <a:cs typeface="+mn-cs"/>
                        </a:rPr>
                        <a:t>Fabric</a:t>
                      </a:r>
                      <a:r>
                        <a:rPr lang="zh-CN" altLang="en-US" sz="1400" kern="1200" dirty="0" smtClean="0">
                          <a:solidFill>
                            <a:schemeClr val="tx1"/>
                          </a:solidFill>
                          <a:effectLst/>
                          <a:latin typeface="+mn-lt"/>
                          <a:ea typeface="+mn-ea"/>
                          <a:cs typeface="+mn-cs"/>
                        </a:rPr>
                        <a:t>网络，并指定设备作为</a:t>
                      </a:r>
                      <a:r>
                        <a:rPr lang="en-US" altLang="zh-CN" sz="1400" kern="1200" dirty="0" smtClean="0">
                          <a:solidFill>
                            <a:schemeClr val="tx1"/>
                          </a:solidFill>
                          <a:effectLst/>
                          <a:latin typeface="+mn-lt"/>
                          <a:ea typeface="+mn-ea"/>
                          <a:cs typeface="+mn-cs"/>
                        </a:rPr>
                        <a:t>Border</a:t>
                      </a:r>
                      <a:r>
                        <a:rPr lang="zh-CN" altLang="en-US" sz="1400" kern="1200" dirty="0" smtClean="0">
                          <a:solidFill>
                            <a:schemeClr val="tx1"/>
                          </a:solidFill>
                          <a:effectLst/>
                          <a:latin typeface="+mn-lt"/>
                          <a:ea typeface="+mn-ea"/>
                          <a:cs typeface="+mn-cs"/>
                        </a:rPr>
                        <a:t>和</a:t>
                      </a:r>
                      <a:r>
                        <a:rPr lang="en-US" altLang="zh-CN" sz="1400" kern="1200" dirty="0" smtClean="0">
                          <a:solidFill>
                            <a:schemeClr val="tx1"/>
                          </a:solidFill>
                          <a:effectLst/>
                          <a:latin typeface="+mn-lt"/>
                          <a:ea typeface="+mn-ea"/>
                          <a:cs typeface="+mn-cs"/>
                        </a:rPr>
                        <a:t>Edge</a:t>
                      </a:r>
                      <a:r>
                        <a:rPr lang="zh-CN" altLang="en-US" sz="1400" kern="1200" dirty="0" smtClean="0">
                          <a:solidFill>
                            <a:schemeClr val="tx1"/>
                          </a:solidFill>
                          <a:effectLst/>
                          <a:latin typeface="+mn-lt"/>
                          <a:ea typeface="+mn-ea"/>
                          <a:cs typeface="+mn-cs"/>
                        </a:rPr>
                        <a:t>节点。如果</a:t>
                      </a:r>
                      <a:r>
                        <a:rPr lang="en-US" altLang="zh-CN" sz="1400" kern="1200" dirty="0" smtClean="0">
                          <a:solidFill>
                            <a:schemeClr val="tx1"/>
                          </a:solidFill>
                          <a:effectLst/>
                          <a:latin typeface="+mn-lt"/>
                          <a:ea typeface="+mn-ea"/>
                          <a:cs typeface="+mn-cs"/>
                        </a:rPr>
                        <a:t>Fabric</a:t>
                      </a:r>
                      <a:r>
                        <a:rPr lang="zh-CN" altLang="en-US" sz="1400" kern="1200" dirty="0" smtClean="0">
                          <a:solidFill>
                            <a:schemeClr val="tx1"/>
                          </a:solidFill>
                          <a:effectLst/>
                          <a:latin typeface="+mn-lt"/>
                          <a:ea typeface="+mn-ea"/>
                          <a:cs typeface="+mn-cs"/>
                        </a:rPr>
                        <a:t>采用的</a:t>
                      </a:r>
                      <a:r>
                        <a:rPr lang="en-US" altLang="zh-CN" sz="1400" kern="1200" dirty="0" smtClean="0">
                          <a:solidFill>
                            <a:schemeClr val="tx1"/>
                          </a:solidFill>
                          <a:effectLst/>
                          <a:latin typeface="+mn-lt"/>
                          <a:ea typeface="+mn-ea"/>
                          <a:cs typeface="+mn-cs"/>
                        </a:rPr>
                        <a:t>VXLAN</a:t>
                      </a:r>
                      <a:r>
                        <a:rPr lang="zh-CN" altLang="en-US" sz="1400" kern="1200" dirty="0" smtClean="0">
                          <a:solidFill>
                            <a:schemeClr val="tx1"/>
                          </a:solidFill>
                          <a:effectLst/>
                          <a:latin typeface="+mn-lt"/>
                          <a:ea typeface="+mn-ea"/>
                          <a:cs typeface="+mn-cs"/>
                        </a:rPr>
                        <a:t>到汇聚组网，一般还会选取接入交换机作为扩展节点。</a:t>
                      </a:r>
                    </a:p>
                  </a:txBody>
                  <a:tcPr anchor="ctr">
                    <a:lnR w="28575" cap="flat" cmpd="sng" algn="ctr">
                      <a:solidFill>
                        <a:schemeClr val="tx1"/>
                      </a:solidFill>
                      <a:prstDash val="solid"/>
                      <a:round/>
                      <a:headEnd type="none" w="med" len="med"/>
                      <a:tailEnd type="none" w="med" len="med"/>
                    </a:lnR>
                    <a:lnB w="28575" cap="flat" cmpd="sng" algn="ctr">
                      <a:solidFill>
                        <a:schemeClr val="tx1"/>
                      </a:solidFill>
                      <a:prstDash val="solid"/>
                      <a:round/>
                      <a:headEnd type="none" w="med" len="med"/>
                      <a:tailEnd type="none" w="med" len="med"/>
                    </a:lnB>
                  </a:tcPr>
                </a:tc>
              </a:tr>
            </a:tbl>
          </a:graphicData>
        </a:graphic>
      </p:graphicFrame>
      <p:sp>
        <p:nvSpPr>
          <p:cNvPr id="11" name="五边形 10"/>
          <p:cNvSpPr/>
          <p:nvPr/>
        </p:nvSpPr>
        <p:spPr bwMode="gray">
          <a:xfrm>
            <a:off x="5773628" y="98481"/>
            <a:ext cx="9000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站点管理</a:t>
            </a:r>
          </a:p>
        </p:txBody>
      </p:sp>
      <p:sp>
        <p:nvSpPr>
          <p:cNvPr id="12" name="燕尾形 11"/>
          <p:cNvSpPr/>
          <p:nvPr/>
        </p:nvSpPr>
        <p:spPr bwMode="gray">
          <a:xfrm>
            <a:off x="9109268" y="9848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逻辑网络</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 name="燕尾形 12"/>
          <p:cNvSpPr/>
          <p:nvPr/>
        </p:nvSpPr>
        <p:spPr bwMode="gray">
          <a:xfrm>
            <a:off x="9925178" y="9848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业务部署</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 name="燕尾形 13"/>
          <p:cNvSpPr/>
          <p:nvPr/>
        </p:nvSpPr>
        <p:spPr bwMode="gray">
          <a:xfrm>
            <a:off x="8221358" y="98481"/>
            <a:ext cx="9720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Fabric</a:t>
            </a: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网络</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5" name="燕尾形 14"/>
          <p:cNvSpPr/>
          <p:nvPr/>
        </p:nvSpPr>
        <p:spPr bwMode="gray">
          <a:xfrm>
            <a:off x="7405448" y="9848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网络规划</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3" name="燕尾形 22"/>
          <p:cNvSpPr/>
          <p:nvPr/>
        </p:nvSpPr>
        <p:spPr bwMode="gray">
          <a:xfrm>
            <a:off x="6589538" y="9848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设备管理</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4" name="燕尾形 23"/>
          <p:cNvSpPr/>
          <p:nvPr/>
        </p:nvSpPr>
        <p:spPr bwMode="gray">
          <a:xfrm>
            <a:off x="10741088" y="98481"/>
            <a:ext cx="1008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WLAN</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业务</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1479404963"/>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3"/>
          <a:stretch>
            <a:fillRect/>
          </a:stretch>
        </p:blipFill>
        <p:spPr bwMode="gray">
          <a:xfrm>
            <a:off x="4910197" y="1985051"/>
            <a:ext cx="6810286" cy="3461618"/>
          </a:xfrm>
          <a:prstGeom prst="rect">
            <a:avLst/>
          </a:prstGeom>
          <a:ln w="12700">
            <a:solidFill>
              <a:schemeClr val="bg1">
                <a:lumMod val="85000"/>
              </a:schemeClr>
            </a:solidFill>
          </a:ln>
        </p:spPr>
      </p:pic>
      <p:sp>
        <p:nvSpPr>
          <p:cNvPr id="5" name="标题 4"/>
          <p:cNvSpPr>
            <a:spLocks noGrp="1"/>
          </p:cNvSpPr>
          <p:nvPr>
            <p:ph type="title"/>
          </p:nvPr>
        </p:nvSpPr>
        <p:spPr bwMode="gray"/>
        <p:txBody>
          <a:bodyPr>
            <a:normAutofit/>
          </a:bodyPr>
          <a:lstStyle/>
          <a:p>
            <a:r>
              <a:rPr lang="zh-CN" altLang="en-US" dirty="0"/>
              <a:t>实验</a:t>
            </a:r>
            <a:r>
              <a:rPr lang="zh-CN" altLang="en-US" dirty="0" smtClean="0"/>
              <a:t>：创建</a:t>
            </a:r>
            <a:r>
              <a:rPr lang="en-US" altLang="zh-CN" dirty="0" smtClean="0"/>
              <a:t>Fabric</a:t>
            </a:r>
            <a:r>
              <a:rPr lang="zh-CN" altLang="en-US" dirty="0"/>
              <a:t> </a:t>
            </a:r>
            <a:r>
              <a:rPr lang="en-US" altLang="zh-CN" dirty="0" smtClean="0"/>
              <a:t>(1)</a:t>
            </a:r>
            <a:endParaRPr lang="zh-CN" altLang="en-US" dirty="0"/>
          </a:p>
        </p:txBody>
      </p:sp>
      <p:cxnSp>
        <p:nvCxnSpPr>
          <p:cNvPr id="56" name="直接箭头连接符 55"/>
          <p:cNvCxnSpPr/>
          <p:nvPr/>
        </p:nvCxnSpPr>
        <p:spPr bwMode="gray">
          <a:xfrm flipH="1">
            <a:off x="8945872" y="3752840"/>
            <a:ext cx="369416" cy="0"/>
          </a:xfrm>
          <a:prstGeom prst="straightConnector1">
            <a:avLst/>
          </a:prstGeom>
          <a:ln w="38100">
            <a:solidFill>
              <a:srgbClr val="30B5C5"/>
            </a:solidFill>
            <a:tailEnd type="triangle"/>
          </a:ln>
        </p:spPr>
        <p:style>
          <a:lnRef idx="1">
            <a:schemeClr val="accent1"/>
          </a:lnRef>
          <a:fillRef idx="0">
            <a:schemeClr val="accent1"/>
          </a:fillRef>
          <a:effectRef idx="0">
            <a:schemeClr val="accent1"/>
          </a:effectRef>
          <a:fontRef idx="minor">
            <a:schemeClr val="tx1"/>
          </a:fontRef>
        </p:style>
      </p:cxnSp>
      <p:sp>
        <p:nvSpPr>
          <p:cNvPr id="57" name="TextBox 179"/>
          <p:cNvSpPr txBox="1"/>
          <p:nvPr/>
        </p:nvSpPr>
        <p:spPr bwMode="gray">
          <a:xfrm>
            <a:off x="9244148" y="3619025"/>
            <a:ext cx="1352940" cy="267630"/>
          </a:xfrm>
          <a:prstGeom prst="roundRect">
            <a:avLst>
              <a:gd name="adj" fmla="val 12806"/>
            </a:avLst>
          </a:prstGeom>
          <a:solidFill>
            <a:srgbClr val="30B5C5"/>
          </a:solidFill>
          <a:ln>
            <a:noFill/>
          </a:ln>
        </p:spPr>
        <p:txBody>
          <a:bodyPr wrap="none" lIns="0" tIns="0" rIns="0" bIns="0" anchor="ctr" anchorCtr="0">
            <a:noAutofit/>
          </a:bodyPr>
          <a:lstStyle>
            <a:defPPr>
              <a:defRPr lang="en-US"/>
            </a:defPPr>
            <a:lvl1pPr algn="ctr" defTabSz="914478">
              <a:defRPr sz="1200">
                <a:solidFill>
                  <a:schemeClr val="bg1"/>
                </a:solidFill>
              </a:defRPr>
            </a:lvl1pPr>
            <a:lvl2pPr marL="457240" defTabSz="914478"/>
            <a:lvl3pPr marL="914478" defTabSz="914478"/>
            <a:lvl4pPr marL="1371718" defTabSz="914478"/>
            <a:lvl5pPr marL="1828957" defTabSz="914478"/>
            <a:lvl6pPr marL="2286196" defTabSz="914478"/>
            <a:lvl7pPr marL="2743435" defTabSz="914478"/>
            <a:lvl8pPr marL="3200675" defTabSz="914478"/>
            <a:lvl9pPr marL="3657913" defTabSz="914478"/>
          </a:lstStyle>
          <a:p>
            <a:r>
              <a:rPr lang="zh-CN" altLang="en-US" dirty="0" smtClean="0"/>
              <a:t>定义组网类型</a:t>
            </a:r>
            <a:endParaRPr lang="zh-CN" altLang="en-US" dirty="0"/>
          </a:p>
        </p:txBody>
      </p:sp>
      <p:cxnSp>
        <p:nvCxnSpPr>
          <p:cNvPr id="58" name="直接箭头连接符 57"/>
          <p:cNvCxnSpPr/>
          <p:nvPr/>
        </p:nvCxnSpPr>
        <p:spPr bwMode="gray">
          <a:xfrm flipH="1" flipV="1">
            <a:off x="8945872" y="4298279"/>
            <a:ext cx="460887" cy="113759"/>
          </a:xfrm>
          <a:prstGeom prst="straightConnector1">
            <a:avLst/>
          </a:prstGeom>
          <a:ln w="38100">
            <a:solidFill>
              <a:srgbClr val="30B5C5"/>
            </a:solidFill>
            <a:tailEnd type="triangle"/>
          </a:ln>
        </p:spPr>
        <p:style>
          <a:lnRef idx="1">
            <a:schemeClr val="accent1"/>
          </a:lnRef>
          <a:fillRef idx="0">
            <a:schemeClr val="accent1"/>
          </a:fillRef>
          <a:effectRef idx="0">
            <a:schemeClr val="accent1"/>
          </a:effectRef>
          <a:fontRef idx="minor">
            <a:schemeClr val="tx1"/>
          </a:fontRef>
        </p:style>
      </p:cxnSp>
      <p:sp>
        <p:nvSpPr>
          <p:cNvPr id="59" name="TextBox 179"/>
          <p:cNvSpPr txBox="1"/>
          <p:nvPr/>
        </p:nvSpPr>
        <p:spPr bwMode="gray">
          <a:xfrm>
            <a:off x="9244148" y="4298280"/>
            <a:ext cx="1352940" cy="267630"/>
          </a:xfrm>
          <a:prstGeom prst="roundRect">
            <a:avLst>
              <a:gd name="adj" fmla="val 12806"/>
            </a:avLst>
          </a:prstGeom>
          <a:solidFill>
            <a:srgbClr val="30B5C5"/>
          </a:solidFill>
          <a:ln>
            <a:noFill/>
          </a:ln>
        </p:spPr>
        <p:txBody>
          <a:bodyPr wrap="none" lIns="0" tIns="0" rIns="0" bIns="0" anchor="ctr" anchorCtr="0">
            <a:noAutofit/>
          </a:bodyPr>
          <a:lstStyle>
            <a:defPPr>
              <a:defRPr lang="en-US"/>
            </a:defPPr>
            <a:lvl1pPr algn="ctr" defTabSz="914478">
              <a:defRPr sz="1200">
                <a:solidFill>
                  <a:schemeClr val="bg1"/>
                </a:solidFill>
              </a:defRPr>
            </a:lvl1pPr>
            <a:lvl2pPr marL="457240" defTabSz="914478"/>
            <a:lvl3pPr marL="914478" defTabSz="914478"/>
            <a:lvl4pPr marL="1371718" defTabSz="914478"/>
            <a:lvl5pPr marL="1828957" defTabSz="914478"/>
            <a:lvl6pPr marL="2286196" defTabSz="914478"/>
            <a:lvl7pPr marL="2743435" defTabSz="914478"/>
            <a:lvl8pPr marL="3200675" defTabSz="914478"/>
            <a:lvl9pPr marL="3657913" defTabSz="914478"/>
          </a:lstStyle>
          <a:p>
            <a:r>
              <a:rPr lang="zh-CN" altLang="en-US" dirty="0" smtClean="0"/>
              <a:t>定义无线</a:t>
            </a:r>
            <a:r>
              <a:rPr lang="en-US" altLang="zh-CN" dirty="0" smtClean="0"/>
              <a:t>WAC</a:t>
            </a:r>
            <a:r>
              <a:rPr lang="zh-CN" altLang="en-US" dirty="0" smtClean="0"/>
              <a:t>位置</a:t>
            </a:r>
            <a:endParaRPr lang="zh-CN" altLang="en-US" dirty="0"/>
          </a:p>
        </p:txBody>
      </p:sp>
      <p:sp>
        <p:nvSpPr>
          <p:cNvPr id="61" name="矩形 60"/>
          <p:cNvSpPr/>
          <p:nvPr/>
        </p:nvSpPr>
        <p:spPr bwMode="gray">
          <a:xfrm>
            <a:off x="4814920" y="1277164"/>
            <a:ext cx="6382319" cy="707886"/>
          </a:xfrm>
          <a:prstGeom prst="rect">
            <a:avLst/>
          </a:prstGeom>
        </p:spPr>
        <p:txBody>
          <a:bodyPr wrap="square">
            <a:spAutoFit/>
          </a:bodyPr>
          <a:lstStyle/>
          <a:p>
            <a:pPr algn="just">
              <a:lnSpc>
                <a:spcPts val="2400"/>
              </a:lnSpc>
              <a:spcAft>
                <a:spcPts val="600"/>
              </a:spcAft>
            </a:pPr>
            <a:r>
              <a:rPr lang="zh-CN" altLang="en-US" sz="1600" dirty="0" smtClean="0"/>
              <a:t>基于</a:t>
            </a:r>
            <a:r>
              <a:rPr lang="en-US" altLang="zh-CN" sz="1600" dirty="0" smtClean="0"/>
              <a:t>iMaster NCE-Campus</a:t>
            </a:r>
            <a:r>
              <a:rPr lang="zh-CN" altLang="en-US" sz="1600" dirty="0" smtClean="0"/>
              <a:t>的图形化界面创建一个新的</a:t>
            </a:r>
            <a:r>
              <a:rPr lang="en-US" altLang="zh-CN" sz="1600" dirty="0" smtClean="0"/>
              <a:t>Fabric</a:t>
            </a:r>
            <a:r>
              <a:rPr lang="zh-CN" altLang="en-US" sz="1600" dirty="0" smtClean="0"/>
              <a:t>，并设置组网类型：</a:t>
            </a:r>
            <a:endParaRPr lang="zh-CN" altLang="en-US" sz="1600" dirty="0"/>
          </a:p>
        </p:txBody>
      </p:sp>
      <p:sp>
        <p:nvSpPr>
          <p:cNvPr id="48" name="矩形 47"/>
          <p:cNvSpPr/>
          <p:nvPr/>
        </p:nvSpPr>
        <p:spPr bwMode="gray">
          <a:xfrm>
            <a:off x="976153" y="4657610"/>
            <a:ext cx="2776194" cy="400110"/>
          </a:xfrm>
          <a:prstGeom prst="rect">
            <a:avLst/>
          </a:prstGeom>
        </p:spPr>
        <p:txBody>
          <a:bodyPr wrap="square">
            <a:spAutoFit/>
          </a:bodyPr>
          <a:lstStyle/>
          <a:p>
            <a:pPr algn="ctr">
              <a:lnSpc>
                <a:spcPts val="2400"/>
              </a:lnSpc>
              <a:spcAft>
                <a:spcPts val="600"/>
              </a:spcAft>
            </a:pPr>
            <a:r>
              <a:rPr lang="en-US" altLang="zh-CN" sz="1400" b="1" dirty="0" smtClean="0"/>
              <a:t>VXLAN</a:t>
            </a:r>
            <a:r>
              <a:rPr lang="zh-CN" altLang="en-US" sz="1400" b="1" dirty="0" smtClean="0"/>
              <a:t>到汇聚的分布式网关组网</a:t>
            </a:r>
            <a:endParaRPr lang="zh-CN" altLang="en-US" sz="1400" b="1" dirty="0"/>
          </a:p>
        </p:txBody>
      </p:sp>
      <p:sp>
        <p:nvSpPr>
          <p:cNvPr id="38" name="圆角矩形 37"/>
          <p:cNvSpPr/>
          <p:nvPr/>
        </p:nvSpPr>
        <p:spPr bwMode="gray">
          <a:xfrm>
            <a:off x="628892" y="2076808"/>
            <a:ext cx="3948649" cy="2628871"/>
          </a:xfrm>
          <a:prstGeom prst="roundRect">
            <a:avLst>
              <a:gd name="adj" fmla="val 3166"/>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39" name="Freeform 159"/>
          <p:cNvSpPr/>
          <p:nvPr/>
        </p:nvSpPr>
        <p:spPr bwMode="gray">
          <a:xfrm flipH="1">
            <a:off x="1330389" y="2429624"/>
            <a:ext cx="2311472" cy="1323216"/>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rgbClr val="E3F6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Huawei Sans" panose="020C0503030203020204" pitchFamily="34" charset="0"/>
              <a:ea typeface="方正兰亭黑简体" panose="02000000000000000000" pitchFamily="2" charset="-122"/>
            </a:endParaRPr>
          </a:p>
        </p:txBody>
      </p:sp>
      <p:cxnSp>
        <p:nvCxnSpPr>
          <p:cNvPr id="40" name="Straight Connector 166"/>
          <p:cNvCxnSpPr>
            <a:stCxn id="49" idx="2"/>
            <a:endCxn id="55" idx="0"/>
          </p:cNvCxnSpPr>
          <p:nvPr/>
        </p:nvCxnSpPr>
        <p:spPr bwMode="gray">
          <a:xfrm>
            <a:off x="1481681" y="3714461"/>
            <a:ext cx="0" cy="40327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Straight Connector 166"/>
          <p:cNvCxnSpPr>
            <a:stCxn id="50" idx="2"/>
            <a:endCxn id="60" idx="0"/>
          </p:cNvCxnSpPr>
          <p:nvPr/>
        </p:nvCxnSpPr>
        <p:spPr bwMode="gray">
          <a:xfrm>
            <a:off x="3412482" y="3714461"/>
            <a:ext cx="0" cy="40327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Straight Connector 167"/>
          <p:cNvCxnSpPr/>
          <p:nvPr/>
        </p:nvCxnSpPr>
        <p:spPr bwMode="gray">
          <a:xfrm flipH="1">
            <a:off x="1482391" y="2655229"/>
            <a:ext cx="971589" cy="876201"/>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43" name="Straight Connector 167"/>
          <p:cNvCxnSpPr/>
          <p:nvPr/>
        </p:nvCxnSpPr>
        <p:spPr bwMode="gray">
          <a:xfrm flipH="1" flipV="1">
            <a:off x="2450601" y="2652752"/>
            <a:ext cx="975076" cy="883934"/>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sp>
        <p:nvSpPr>
          <p:cNvPr id="44" name="文本框 43"/>
          <p:cNvSpPr txBox="1"/>
          <p:nvPr/>
        </p:nvSpPr>
        <p:spPr bwMode="gray">
          <a:xfrm>
            <a:off x="1586967" y="2522643"/>
            <a:ext cx="676788" cy="276999"/>
          </a:xfrm>
          <a:prstGeom prst="rect">
            <a:avLst/>
          </a:prstGeom>
          <a:noFill/>
        </p:spPr>
        <p:txBody>
          <a:bodyPr wrap="none" rtlCol="0">
            <a:spAutoFit/>
          </a:bodyPr>
          <a:lstStyle/>
          <a:p>
            <a:pPr algn="ctr"/>
            <a:r>
              <a:rPr lang="en-US" altLang="zh-CN" sz="1200" b="1" dirty="0" smtClean="0">
                <a:latin typeface="Huawei Sans" panose="020C0503030203020204" pitchFamily="34" charset="0"/>
                <a:ea typeface="方正兰亭黑简体" panose="02000000000000000000" pitchFamily="2" charset="-122"/>
                <a:cs typeface="Huawei Sans" panose="020C0503030203020204" pitchFamily="34" charset="0"/>
              </a:rPr>
              <a:t>Border</a:t>
            </a:r>
            <a:endParaRPr lang="zh-CN" altLang="en-US" sz="1200" b="1"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45" name="文本框 44"/>
          <p:cNvSpPr txBox="1"/>
          <p:nvPr/>
        </p:nvSpPr>
        <p:spPr bwMode="gray">
          <a:xfrm>
            <a:off x="627953" y="3381688"/>
            <a:ext cx="702436" cy="276999"/>
          </a:xfrm>
          <a:prstGeom prst="rect">
            <a:avLst/>
          </a:prstGeom>
          <a:noFill/>
        </p:spPr>
        <p:txBody>
          <a:bodyPr wrap="none" rtlCol="0">
            <a:spAutoFit/>
          </a:bodyPr>
          <a:lstStyle/>
          <a:p>
            <a:pPr algn="r"/>
            <a:r>
              <a:rPr lang="en-US" altLang="zh-CN" sz="1200" b="1" dirty="0" smtClean="0">
                <a:latin typeface="Huawei Sans" panose="020C0503030203020204" pitchFamily="34" charset="0"/>
                <a:ea typeface="方正兰亭黑简体" panose="02000000000000000000" pitchFamily="2" charset="-122"/>
                <a:cs typeface="Huawei Sans" panose="020C0503030203020204" pitchFamily="34" charset="0"/>
              </a:rPr>
              <a:t>Edge_1</a:t>
            </a:r>
            <a:endParaRPr lang="zh-CN" altLang="en-US" sz="1200" b="1"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46" name="文本框 45"/>
          <p:cNvSpPr txBox="1"/>
          <p:nvPr/>
        </p:nvSpPr>
        <p:spPr bwMode="gray">
          <a:xfrm>
            <a:off x="698485" y="4168437"/>
            <a:ext cx="631904" cy="276999"/>
          </a:xfrm>
          <a:prstGeom prst="rect">
            <a:avLst/>
          </a:prstGeom>
          <a:noFill/>
        </p:spPr>
        <p:txBody>
          <a:bodyPr wrap="none" rtlCol="0">
            <a:spAutoFit/>
          </a:bodyPr>
          <a:lstStyle/>
          <a:p>
            <a:pPr algn="r"/>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ACC_1</a:t>
            </a:r>
          </a:p>
        </p:txBody>
      </p:sp>
      <p:pic>
        <p:nvPicPr>
          <p:cNvPr id="49" name="图片 87" descr="汇聚交换机.png"/>
          <p:cNvPicPr>
            <a:picLocks noChangeAspect="1"/>
          </p:cNvPicPr>
          <p:nvPr/>
        </p:nvPicPr>
        <p:blipFill>
          <a:blip r:embed="rId4" cstate="print"/>
          <a:stretch>
            <a:fillRect/>
          </a:stretch>
        </p:blipFill>
        <p:spPr bwMode="gray">
          <a:xfrm>
            <a:off x="1258540" y="3349322"/>
            <a:ext cx="446281" cy="365139"/>
          </a:xfrm>
          <a:prstGeom prst="rect">
            <a:avLst/>
          </a:prstGeom>
        </p:spPr>
      </p:pic>
      <p:pic>
        <p:nvPicPr>
          <p:cNvPr id="50" name="图片 87" descr="汇聚交换机.png"/>
          <p:cNvPicPr>
            <a:picLocks noChangeAspect="1"/>
          </p:cNvPicPr>
          <p:nvPr/>
        </p:nvPicPr>
        <p:blipFill>
          <a:blip r:embed="rId4" cstate="print"/>
          <a:stretch>
            <a:fillRect/>
          </a:stretch>
        </p:blipFill>
        <p:spPr bwMode="gray">
          <a:xfrm>
            <a:off x="3189341" y="3349322"/>
            <a:ext cx="446281" cy="365139"/>
          </a:xfrm>
          <a:prstGeom prst="rect">
            <a:avLst/>
          </a:prstGeom>
        </p:spPr>
      </p:pic>
      <p:sp>
        <p:nvSpPr>
          <p:cNvPr id="51" name="文本框 50"/>
          <p:cNvSpPr txBox="1"/>
          <p:nvPr/>
        </p:nvSpPr>
        <p:spPr bwMode="gray">
          <a:xfrm>
            <a:off x="2619489" y="4168437"/>
            <a:ext cx="631903" cy="276999"/>
          </a:xfrm>
          <a:prstGeom prst="rect">
            <a:avLst/>
          </a:prstGeom>
          <a:noFill/>
        </p:spPr>
        <p:txBody>
          <a:bodyPr wrap="none" rtlCol="0">
            <a:spAutoFit/>
          </a:bodyPr>
          <a:lstStyle/>
          <a:p>
            <a:pPr algn="r"/>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ACC_2</a:t>
            </a:r>
          </a:p>
        </p:txBody>
      </p:sp>
      <p:sp>
        <p:nvSpPr>
          <p:cNvPr id="52" name="文本框 51"/>
          <p:cNvSpPr txBox="1"/>
          <p:nvPr/>
        </p:nvSpPr>
        <p:spPr bwMode="gray">
          <a:xfrm>
            <a:off x="2098733" y="3227799"/>
            <a:ext cx="676788" cy="307777"/>
          </a:xfrm>
          <a:prstGeom prst="rect">
            <a:avLst/>
          </a:prstGeom>
          <a:noFill/>
        </p:spPr>
        <p:txBody>
          <a:bodyPr wrap="none" rtlCol="0">
            <a:spAutoFit/>
          </a:bodyPr>
          <a:lstStyle/>
          <a:p>
            <a:pPr algn="ctr"/>
            <a:r>
              <a:rPr lang="en-US" altLang="zh-CN" sz="1400" dirty="0" smtClean="0">
                <a:solidFill>
                  <a:srgbClr val="30B5C5"/>
                </a:solidFill>
                <a:latin typeface="Huawei Sans" panose="020C0503030203020204" pitchFamily="34" charset="0"/>
                <a:ea typeface="方正兰亭细黑简体" panose="02000000000000000000" pitchFamily="2" charset="-122"/>
                <a:sym typeface="Huawei Sans" panose="020C0503030203020204" pitchFamily="34" charset="0"/>
              </a:rPr>
              <a:t>Fabric</a:t>
            </a:r>
          </a:p>
        </p:txBody>
      </p:sp>
      <p:sp>
        <p:nvSpPr>
          <p:cNvPr id="53" name="文本框 52"/>
          <p:cNvSpPr txBox="1"/>
          <p:nvPr/>
        </p:nvSpPr>
        <p:spPr bwMode="gray">
          <a:xfrm>
            <a:off x="3588956" y="3381688"/>
            <a:ext cx="702436" cy="276999"/>
          </a:xfrm>
          <a:prstGeom prst="rect">
            <a:avLst/>
          </a:prstGeom>
          <a:noFill/>
        </p:spPr>
        <p:txBody>
          <a:bodyPr wrap="none" rtlCol="0">
            <a:spAutoFit/>
          </a:bodyPr>
          <a:lstStyle/>
          <a:p>
            <a:r>
              <a:rPr lang="en-US" altLang="zh-CN" sz="1200" b="1" dirty="0" smtClean="0">
                <a:latin typeface="Huawei Sans" panose="020C0503030203020204" pitchFamily="34" charset="0"/>
                <a:ea typeface="方正兰亭黑简体" panose="02000000000000000000" pitchFamily="2" charset="-122"/>
                <a:cs typeface="Huawei Sans" panose="020C0503030203020204" pitchFamily="34" charset="0"/>
              </a:rPr>
              <a:t>Edge_2</a:t>
            </a:r>
            <a:endParaRPr lang="zh-CN" altLang="en-US" sz="1200" b="1"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54" name="文本框 53"/>
          <p:cNvSpPr txBox="1"/>
          <p:nvPr/>
        </p:nvSpPr>
        <p:spPr bwMode="gray">
          <a:xfrm>
            <a:off x="661367" y="2226977"/>
            <a:ext cx="468398" cy="307777"/>
          </a:xfrm>
          <a:prstGeom prst="rect">
            <a:avLst/>
          </a:prstGeom>
          <a:noFill/>
        </p:spPr>
        <p:txBody>
          <a:bodyPr wrap="none" rtlCol="0">
            <a:spAutoFit/>
          </a:bodyPr>
          <a:lstStyle/>
          <a:p>
            <a:r>
              <a:rPr lang="en-US" altLang="zh-CN" sz="1400" b="1" dirty="0" smtClean="0">
                <a:latin typeface="Huawei Sans" panose="020C0503030203020204" pitchFamily="34" charset="0"/>
                <a:ea typeface="方正兰亭黑简体" panose="02000000000000000000" pitchFamily="2" charset="-122"/>
                <a:cs typeface="Huawei Sans" panose="020C0503030203020204" pitchFamily="34" charset="0"/>
              </a:rPr>
              <a:t>HQ</a:t>
            </a:r>
            <a:endParaRPr lang="zh-CN" altLang="en-US" sz="1400" b="1" dirty="0">
              <a:latin typeface="Huawei Sans" panose="020C0503030203020204" pitchFamily="34" charset="0"/>
              <a:ea typeface="方正兰亭黑简体" panose="02000000000000000000" pitchFamily="2" charset="-122"/>
              <a:cs typeface="Huawei Sans" panose="020C0503030203020204" pitchFamily="34" charset="0"/>
            </a:endParaRPr>
          </a:p>
        </p:txBody>
      </p:sp>
      <p:pic>
        <p:nvPicPr>
          <p:cNvPr id="55" name="图片 76" descr="接入交换机.png"/>
          <p:cNvPicPr>
            <a:picLocks noChangeAspect="1"/>
          </p:cNvPicPr>
          <p:nvPr/>
        </p:nvPicPr>
        <p:blipFill>
          <a:blip r:embed="rId5" cstate="print"/>
          <a:stretch>
            <a:fillRect/>
          </a:stretch>
        </p:blipFill>
        <p:spPr bwMode="gray">
          <a:xfrm>
            <a:off x="1258540" y="4117738"/>
            <a:ext cx="446281" cy="365139"/>
          </a:xfrm>
          <a:prstGeom prst="rect">
            <a:avLst/>
          </a:prstGeom>
        </p:spPr>
      </p:pic>
      <p:pic>
        <p:nvPicPr>
          <p:cNvPr id="60" name="图片 76" descr="接入交换机.png"/>
          <p:cNvPicPr>
            <a:picLocks noChangeAspect="1"/>
          </p:cNvPicPr>
          <p:nvPr/>
        </p:nvPicPr>
        <p:blipFill>
          <a:blip r:embed="rId5" cstate="print"/>
          <a:stretch>
            <a:fillRect/>
          </a:stretch>
        </p:blipFill>
        <p:spPr bwMode="gray">
          <a:xfrm>
            <a:off x="3189341" y="4117738"/>
            <a:ext cx="446281" cy="365139"/>
          </a:xfrm>
          <a:prstGeom prst="rect">
            <a:avLst/>
          </a:prstGeom>
        </p:spPr>
      </p:pic>
      <p:pic>
        <p:nvPicPr>
          <p:cNvPr id="62" name="图片 86" descr="核心交换机.png"/>
          <p:cNvPicPr>
            <a:picLocks noChangeAspect="1"/>
          </p:cNvPicPr>
          <p:nvPr/>
        </p:nvPicPr>
        <p:blipFill>
          <a:blip r:embed="rId6" cstate="print"/>
          <a:stretch>
            <a:fillRect/>
          </a:stretch>
        </p:blipFill>
        <p:spPr bwMode="gray">
          <a:xfrm>
            <a:off x="2238233" y="2472660"/>
            <a:ext cx="446281" cy="365139"/>
          </a:xfrm>
          <a:prstGeom prst="rect">
            <a:avLst/>
          </a:prstGeom>
        </p:spPr>
      </p:pic>
      <p:pic>
        <p:nvPicPr>
          <p:cNvPr id="63" name="图片 62"/>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bwMode="gray">
          <a:xfrm>
            <a:off x="3613791" y="2238059"/>
            <a:ext cx="865097" cy="491769"/>
          </a:xfrm>
          <a:prstGeom prst="rect">
            <a:avLst/>
          </a:prstGeom>
        </p:spPr>
      </p:pic>
      <p:pic>
        <p:nvPicPr>
          <p:cNvPr id="64" name="图片 105" descr="AP.png"/>
          <p:cNvPicPr>
            <a:picLocks noChangeAspect="1"/>
          </p:cNvPicPr>
          <p:nvPr/>
        </p:nvPicPr>
        <p:blipFill>
          <a:blip r:embed="rId8" cstate="print"/>
          <a:stretch>
            <a:fillRect/>
          </a:stretch>
        </p:blipFill>
        <p:spPr bwMode="gray">
          <a:xfrm>
            <a:off x="3869073" y="4149423"/>
            <a:ext cx="368827" cy="301768"/>
          </a:xfrm>
          <a:prstGeom prst="rect">
            <a:avLst/>
          </a:prstGeom>
        </p:spPr>
      </p:pic>
      <p:cxnSp>
        <p:nvCxnSpPr>
          <p:cNvPr id="65" name="Straight Connector 166"/>
          <p:cNvCxnSpPr>
            <a:stCxn id="60" idx="3"/>
            <a:endCxn id="64" idx="1"/>
          </p:cNvCxnSpPr>
          <p:nvPr/>
        </p:nvCxnSpPr>
        <p:spPr bwMode="gray">
          <a:xfrm flipV="1">
            <a:off x="3635622" y="4300307"/>
            <a:ext cx="233451" cy="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66" name="组合 758"/>
          <p:cNvGrpSpPr/>
          <p:nvPr/>
        </p:nvGrpSpPr>
        <p:grpSpPr bwMode="gray">
          <a:xfrm flipV="1">
            <a:off x="3949987" y="4475964"/>
            <a:ext cx="225699" cy="191129"/>
            <a:chOff x="7440613" y="4868863"/>
            <a:chExt cx="1019175" cy="828675"/>
          </a:xfrm>
          <a:solidFill>
            <a:schemeClr val="bg1">
              <a:lumMod val="50000"/>
            </a:schemeClr>
          </a:solidFill>
        </p:grpSpPr>
        <p:sp>
          <p:nvSpPr>
            <p:cNvPr id="67" name="Freeform 15"/>
            <p:cNvSpPr>
              <a:spLocks/>
            </p:cNvSpPr>
            <p:nvPr/>
          </p:nvSpPr>
          <p:spPr bwMode="gray">
            <a:xfrm>
              <a:off x="7832726" y="5462588"/>
              <a:ext cx="234950" cy="234950"/>
            </a:xfrm>
            <a:custGeom>
              <a:avLst/>
              <a:gdLst/>
              <a:ahLst/>
              <a:cxnLst>
                <a:cxn ang="0">
                  <a:pos x="3281" y="680"/>
                </a:cxn>
                <a:cxn ang="0">
                  <a:pos x="3439" y="907"/>
                </a:cxn>
                <a:cxn ang="0">
                  <a:pos x="3559" y="1151"/>
                </a:cxn>
                <a:cxn ang="0">
                  <a:pos x="3642" y="1406"/>
                </a:cxn>
                <a:cxn ang="0">
                  <a:pos x="3686" y="1670"/>
                </a:cxn>
                <a:cxn ang="0">
                  <a:pos x="3693" y="1936"/>
                </a:cxn>
                <a:cxn ang="0">
                  <a:pos x="3661" y="2201"/>
                </a:cxn>
                <a:cxn ang="0">
                  <a:pos x="3591" y="2460"/>
                </a:cxn>
                <a:cxn ang="0">
                  <a:pos x="3484" y="2708"/>
                </a:cxn>
                <a:cxn ang="0">
                  <a:pos x="3339" y="2941"/>
                </a:cxn>
                <a:cxn ang="0">
                  <a:pos x="3155" y="3155"/>
                </a:cxn>
                <a:cxn ang="0">
                  <a:pos x="2941" y="3339"/>
                </a:cxn>
                <a:cxn ang="0">
                  <a:pos x="2708" y="3484"/>
                </a:cxn>
                <a:cxn ang="0">
                  <a:pos x="2460" y="3592"/>
                </a:cxn>
                <a:cxn ang="0">
                  <a:pos x="2201" y="3661"/>
                </a:cxn>
                <a:cxn ang="0">
                  <a:pos x="1936" y="3693"/>
                </a:cxn>
                <a:cxn ang="0">
                  <a:pos x="1670" y="3687"/>
                </a:cxn>
                <a:cxn ang="0">
                  <a:pos x="1408" y="3643"/>
                </a:cxn>
                <a:cxn ang="0">
                  <a:pos x="1152" y="3561"/>
                </a:cxn>
                <a:cxn ang="0">
                  <a:pos x="908" y="3440"/>
                </a:cxn>
                <a:cxn ang="0">
                  <a:pos x="680" y="3282"/>
                </a:cxn>
                <a:cxn ang="0">
                  <a:pos x="475" y="3086"/>
                </a:cxn>
                <a:cxn ang="0">
                  <a:pos x="304" y="2866"/>
                </a:cxn>
                <a:cxn ang="0">
                  <a:pos x="172" y="2627"/>
                </a:cxn>
                <a:cxn ang="0">
                  <a:pos x="76" y="2374"/>
                </a:cxn>
                <a:cxn ang="0">
                  <a:pos x="19" y="2114"/>
                </a:cxn>
                <a:cxn ang="0">
                  <a:pos x="0" y="1848"/>
                </a:cxn>
                <a:cxn ang="0">
                  <a:pos x="19" y="1582"/>
                </a:cxn>
                <a:cxn ang="0">
                  <a:pos x="76" y="1321"/>
                </a:cxn>
                <a:cxn ang="0">
                  <a:pos x="171" y="1069"/>
                </a:cxn>
                <a:cxn ang="0">
                  <a:pos x="304" y="830"/>
                </a:cxn>
                <a:cxn ang="0">
                  <a:pos x="475" y="609"/>
                </a:cxn>
                <a:cxn ang="0">
                  <a:pos x="680" y="414"/>
                </a:cxn>
                <a:cxn ang="0">
                  <a:pos x="907" y="255"/>
                </a:cxn>
                <a:cxn ang="0">
                  <a:pos x="1151" y="135"/>
                </a:cxn>
                <a:cxn ang="0">
                  <a:pos x="1407" y="52"/>
                </a:cxn>
                <a:cxn ang="0">
                  <a:pos x="1669" y="8"/>
                </a:cxn>
                <a:cxn ang="0">
                  <a:pos x="1936" y="2"/>
                </a:cxn>
                <a:cxn ang="0">
                  <a:pos x="2201" y="33"/>
                </a:cxn>
                <a:cxn ang="0">
                  <a:pos x="2459" y="104"/>
                </a:cxn>
                <a:cxn ang="0">
                  <a:pos x="2708" y="211"/>
                </a:cxn>
                <a:cxn ang="0">
                  <a:pos x="2940" y="356"/>
                </a:cxn>
                <a:cxn ang="0">
                  <a:pos x="3154" y="539"/>
                </a:cxn>
              </a:cxnLst>
              <a:rect l="0" t="0" r="r" b="b"/>
              <a:pathLst>
                <a:path w="3695" h="3695">
                  <a:moveTo>
                    <a:pt x="3154" y="539"/>
                  </a:moveTo>
                  <a:lnTo>
                    <a:pt x="3220" y="608"/>
                  </a:lnTo>
                  <a:lnTo>
                    <a:pt x="3281" y="680"/>
                  </a:lnTo>
                  <a:lnTo>
                    <a:pt x="3338" y="754"/>
                  </a:lnTo>
                  <a:lnTo>
                    <a:pt x="3391" y="829"/>
                  </a:lnTo>
                  <a:lnTo>
                    <a:pt x="3439" y="907"/>
                  </a:lnTo>
                  <a:lnTo>
                    <a:pt x="3483" y="987"/>
                  </a:lnTo>
                  <a:lnTo>
                    <a:pt x="3523" y="1068"/>
                  </a:lnTo>
                  <a:lnTo>
                    <a:pt x="3559" y="1151"/>
                  </a:lnTo>
                  <a:lnTo>
                    <a:pt x="3591" y="1235"/>
                  </a:lnTo>
                  <a:lnTo>
                    <a:pt x="3619" y="1320"/>
                  </a:lnTo>
                  <a:lnTo>
                    <a:pt x="3642" y="1406"/>
                  </a:lnTo>
                  <a:lnTo>
                    <a:pt x="3661" y="1493"/>
                  </a:lnTo>
                  <a:lnTo>
                    <a:pt x="3676" y="1582"/>
                  </a:lnTo>
                  <a:lnTo>
                    <a:pt x="3686" y="1670"/>
                  </a:lnTo>
                  <a:lnTo>
                    <a:pt x="3693" y="1758"/>
                  </a:lnTo>
                  <a:lnTo>
                    <a:pt x="3695" y="1847"/>
                  </a:lnTo>
                  <a:lnTo>
                    <a:pt x="3693" y="1936"/>
                  </a:lnTo>
                  <a:lnTo>
                    <a:pt x="3686" y="2024"/>
                  </a:lnTo>
                  <a:lnTo>
                    <a:pt x="3676" y="2113"/>
                  </a:lnTo>
                  <a:lnTo>
                    <a:pt x="3661" y="2201"/>
                  </a:lnTo>
                  <a:lnTo>
                    <a:pt x="3642" y="2288"/>
                  </a:lnTo>
                  <a:lnTo>
                    <a:pt x="3619" y="2374"/>
                  </a:lnTo>
                  <a:lnTo>
                    <a:pt x="3591" y="2460"/>
                  </a:lnTo>
                  <a:lnTo>
                    <a:pt x="3559" y="2544"/>
                  </a:lnTo>
                  <a:lnTo>
                    <a:pt x="3524" y="2626"/>
                  </a:lnTo>
                  <a:lnTo>
                    <a:pt x="3484" y="2708"/>
                  </a:lnTo>
                  <a:lnTo>
                    <a:pt x="3439" y="2788"/>
                  </a:lnTo>
                  <a:lnTo>
                    <a:pt x="3391" y="2865"/>
                  </a:lnTo>
                  <a:lnTo>
                    <a:pt x="3339" y="2941"/>
                  </a:lnTo>
                  <a:lnTo>
                    <a:pt x="3281" y="3015"/>
                  </a:lnTo>
                  <a:lnTo>
                    <a:pt x="3220" y="3086"/>
                  </a:lnTo>
                  <a:lnTo>
                    <a:pt x="3155" y="3155"/>
                  </a:lnTo>
                  <a:lnTo>
                    <a:pt x="3086" y="3220"/>
                  </a:lnTo>
                  <a:lnTo>
                    <a:pt x="3015" y="3282"/>
                  </a:lnTo>
                  <a:lnTo>
                    <a:pt x="2941" y="3339"/>
                  </a:lnTo>
                  <a:lnTo>
                    <a:pt x="2865" y="3391"/>
                  </a:lnTo>
                  <a:lnTo>
                    <a:pt x="2788" y="3440"/>
                  </a:lnTo>
                  <a:lnTo>
                    <a:pt x="2708" y="3484"/>
                  </a:lnTo>
                  <a:lnTo>
                    <a:pt x="2626" y="3524"/>
                  </a:lnTo>
                  <a:lnTo>
                    <a:pt x="2544" y="3560"/>
                  </a:lnTo>
                  <a:lnTo>
                    <a:pt x="2460" y="3592"/>
                  </a:lnTo>
                  <a:lnTo>
                    <a:pt x="2375" y="3619"/>
                  </a:lnTo>
                  <a:lnTo>
                    <a:pt x="2288" y="3643"/>
                  </a:lnTo>
                  <a:lnTo>
                    <a:pt x="2201" y="3661"/>
                  </a:lnTo>
                  <a:lnTo>
                    <a:pt x="2114" y="3676"/>
                  </a:lnTo>
                  <a:lnTo>
                    <a:pt x="2026" y="3687"/>
                  </a:lnTo>
                  <a:lnTo>
                    <a:pt x="1936" y="3693"/>
                  </a:lnTo>
                  <a:lnTo>
                    <a:pt x="1848" y="3695"/>
                  </a:lnTo>
                  <a:lnTo>
                    <a:pt x="1759" y="3693"/>
                  </a:lnTo>
                  <a:lnTo>
                    <a:pt x="1670" y="3687"/>
                  </a:lnTo>
                  <a:lnTo>
                    <a:pt x="1582" y="3676"/>
                  </a:lnTo>
                  <a:lnTo>
                    <a:pt x="1495" y="3662"/>
                  </a:lnTo>
                  <a:lnTo>
                    <a:pt x="1408" y="3643"/>
                  </a:lnTo>
                  <a:lnTo>
                    <a:pt x="1321" y="3620"/>
                  </a:lnTo>
                  <a:lnTo>
                    <a:pt x="1236" y="3592"/>
                  </a:lnTo>
                  <a:lnTo>
                    <a:pt x="1152" y="3561"/>
                  </a:lnTo>
                  <a:lnTo>
                    <a:pt x="1069" y="3524"/>
                  </a:lnTo>
                  <a:lnTo>
                    <a:pt x="987" y="3484"/>
                  </a:lnTo>
                  <a:lnTo>
                    <a:pt x="908" y="3440"/>
                  </a:lnTo>
                  <a:lnTo>
                    <a:pt x="830" y="3391"/>
                  </a:lnTo>
                  <a:lnTo>
                    <a:pt x="755" y="3339"/>
                  </a:lnTo>
                  <a:lnTo>
                    <a:pt x="680" y="3282"/>
                  </a:lnTo>
                  <a:lnTo>
                    <a:pt x="609" y="3220"/>
                  </a:lnTo>
                  <a:lnTo>
                    <a:pt x="541" y="3155"/>
                  </a:lnTo>
                  <a:lnTo>
                    <a:pt x="475" y="3086"/>
                  </a:lnTo>
                  <a:lnTo>
                    <a:pt x="414" y="3015"/>
                  </a:lnTo>
                  <a:lnTo>
                    <a:pt x="357" y="2941"/>
                  </a:lnTo>
                  <a:lnTo>
                    <a:pt x="304" y="2866"/>
                  </a:lnTo>
                  <a:lnTo>
                    <a:pt x="256" y="2788"/>
                  </a:lnTo>
                  <a:lnTo>
                    <a:pt x="212" y="2709"/>
                  </a:lnTo>
                  <a:lnTo>
                    <a:pt x="172" y="2627"/>
                  </a:lnTo>
                  <a:lnTo>
                    <a:pt x="136" y="2544"/>
                  </a:lnTo>
                  <a:lnTo>
                    <a:pt x="104" y="2460"/>
                  </a:lnTo>
                  <a:lnTo>
                    <a:pt x="76" y="2374"/>
                  </a:lnTo>
                  <a:lnTo>
                    <a:pt x="53" y="2288"/>
                  </a:lnTo>
                  <a:lnTo>
                    <a:pt x="34" y="2201"/>
                  </a:lnTo>
                  <a:lnTo>
                    <a:pt x="19" y="2114"/>
                  </a:lnTo>
                  <a:lnTo>
                    <a:pt x="9" y="2025"/>
                  </a:lnTo>
                  <a:lnTo>
                    <a:pt x="2" y="1937"/>
                  </a:lnTo>
                  <a:lnTo>
                    <a:pt x="0" y="1848"/>
                  </a:lnTo>
                  <a:lnTo>
                    <a:pt x="2" y="1759"/>
                  </a:lnTo>
                  <a:lnTo>
                    <a:pt x="9" y="1670"/>
                  </a:lnTo>
                  <a:lnTo>
                    <a:pt x="19" y="1582"/>
                  </a:lnTo>
                  <a:lnTo>
                    <a:pt x="34" y="1494"/>
                  </a:lnTo>
                  <a:lnTo>
                    <a:pt x="53" y="1407"/>
                  </a:lnTo>
                  <a:lnTo>
                    <a:pt x="76" y="1321"/>
                  </a:lnTo>
                  <a:lnTo>
                    <a:pt x="104" y="1236"/>
                  </a:lnTo>
                  <a:lnTo>
                    <a:pt x="136" y="1151"/>
                  </a:lnTo>
                  <a:lnTo>
                    <a:pt x="171" y="1069"/>
                  </a:lnTo>
                  <a:lnTo>
                    <a:pt x="211" y="988"/>
                  </a:lnTo>
                  <a:lnTo>
                    <a:pt x="255" y="907"/>
                  </a:lnTo>
                  <a:lnTo>
                    <a:pt x="304" y="830"/>
                  </a:lnTo>
                  <a:lnTo>
                    <a:pt x="356" y="754"/>
                  </a:lnTo>
                  <a:lnTo>
                    <a:pt x="414" y="681"/>
                  </a:lnTo>
                  <a:lnTo>
                    <a:pt x="475" y="609"/>
                  </a:lnTo>
                  <a:lnTo>
                    <a:pt x="540" y="540"/>
                  </a:lnTo>
                  <a:lnTo>
                    <a:pt x="609" y="475"/>
                  </a:lnTo>
                  <a:lnTo>
                    <a:pt x="680" y="414"/>
                  </a:lnTo>
                  <a:lnTo>
                    <a:pt x="754" y="356"/>
                  </a:lnTo>
                  <a:lnTo>
                    <a:pt x="830" y="303"/>
                  </a:lnTo>
                  <a:lnTo>
                    <a:pt x="907" y="255"/>
                  </a:lnTo>
                  <a:lnTo>
                    <a:pt x="987" y="211"/>
                  </a:lnTo>
                  <a:lnTo>
                    <a:pt x="1069" y="171"/>
                  </a:lnTo>
                  <a:lnTo>
                    <a:pt x="1151" y="135"/>
                  </a:lnTo>
                  <a:lnTo>
                    <a:pt x="1235" y="104"/>
                  </a:lnTo>
                  <a:lnTo>
                    <a:pt x="1320" y="76"/>
                  </a:lnTo>
                  <a:lnTo>
                    <a:pt x="1407" y="52"/>
                  </a:lnTo>
                  <a:lnTo>
                    <a:pt x="1494" y="33"/>
                  </a:lnTo>
                  <a:lnTo>
                    <a:pt x="1581" y="19"/>
                  </a:lnTo>
                  <a:lnTo>
                    <a:pt x="1669" y="8"/>
                  </a:lnTo>
                  <a:lnTo>
                    <a:pt x="1759" y="2"/>
                  </a:lnTo>
                  <a:lnTo>
                    <a:pt x="1847" y="0"/>
                  </a:lnTo>
                  <a:lnTo>
                    <a:pt x="1936" y="2"/>
                  </a:lnTo>
                  <a:lnTo>
                    <a:pt x="2025" y="8"/>
                  </a:lnTo>
                  <a:lnTo>
                    <a:pt x="2113" y="19"/>
                  </a:lnTo>
                  <a:lnTo>
                    <a:pt x="2201" y="33"/>
                  </a:lnTo>
                  <a:lnTo>
                    <a:pt x="2287" y="52"/>
                  </a:lnTo>
                  <a:lnTo>
                    <a:pt x="2374" y="76"/>
                  </a:lnTo>
                  <a:lnTo>
                    <a:pt x="2459" y="104"/>
                  </a:lnTo>
                  <a:lnTo>
                    <a:pt x="2543" y="135"/>
                  </a:lnTo>
                  <a:lnTo>
                    <a:pt x="2626" y="171"/>
                  </a:lnTo>
                  <a:lnTo>
                    <a:pt x="2708" y="211"/>
                  </a:lnTo>
                  <a:lnTo>
                    <a:pt x="2787" y="255"/>
                  </a:lnTo>
                  <a:lnTo>
                    <a:pt x="2865" y="303"/>
                  </a:lnTo>
                  <a:lnTo>
                    <a:pt x="2940" y="356"/>
                  </a:lnTo>
                  <a:lnTo>
                    <a:pt x="3015" y="413"/>
                  </a:lnTo>
                  <a:lnTo>
                    <a:pt x="3086" y="474"/>
                  </a:lnTo>
                  <a:lnTo>
                    <a:pt x="3154" y="539"/>
                  </a:lnTo>
                  <a:close/>
                </a:path>
              </a:pathLst>
            </a:custGeom>
            <a:grpFill/>
            <a:ln w="9525">
              <a:noFill/>
              <a:round/>
              <a:headEnd/>
              <a:tailEnd/>
            </a:ln>
          </p:spPr>
          <p:txBody>
            <a:bodyPr/>
            <a:lstStyle/>
            <a:p>
              <a:pPr algn="ctr" eaLnBrk="1" fontAlgn="auto" hangingPunct="1">
                <a:spcBef>
                  <a:spcPts val="0"/>
                </a:spcBef>
                <a:spcAft>
                  <a:spcPts val="0"/>
                </a:spcAft>
                <a:defRPr/>
              </a:pPr>
              <a:endParaRPr lang="zh-CN" altLang="en-US" sz="1200" ker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8" name="Freeform 16"/>
            <p:cNvSpPr>
              <a:spLocks noEditPoints="1"/>
            </p:cNvSpPr>
            <p:nvPr/>
          </p:nvSpPr>
          <p:spPr bwMode="gray">
            <a:xfrm>
              <a:off x="7440613" y="4868863"/>
              <a:ext cx="1019175" cy="544513"/>
            </a:xfrm>
            <a:custGeom>
              <a:avLst/>
              <a:gdLst/>
              <a:ahLst/>
              <a:cxnLst>
                <a:cxn ang="0">
                  <a:pos x="16025" y="3351"/>
                </a:cxn>
                <a:cxn ang="0">
                  <a:pos x="14975" y="4351"/>
                </a:cxn>
                <a:cxn ang="0">
                  <a:pos x="14184" y="3632"/>
                </a:cxn>
                <a:cxn ang="0">
                  <a:pos x="12564" y="2563"/>
                </a:cxn>
                <a:cxn ang="0">
                  <a:pos x="10805" y="1850"/>
                </a:cxn>
                <a:cxn ang="0">
                  <a:pos x="8960" y="1494"/>
                </a:cxn>
                <a:cxn ang="0">
                  <a:pos x="7087" y="1494"/>
                </a:cxn>
                <a:cxn ang="0">
                  <a:pos x="5243" y="1851"/>
                </a:cxn>
                <a:cxn ang="0">
                  <a:pos x="3483" y="2564"/>
                </a:cxn>
                <a:cxn ang="0">
                  <a:pos x="1864" y="3634"/>
                </a:cxn>
                <a:cxn ang="0">
                  <a:pos x="1075" y="4353"/>
                </a:cxn>
                <a:cxn ang="0">
                  <a:pos x="24" y="3353"/>
                </a:cxn>
                <a:cxn ang="0">
                  <a:pos x="516" y="2880"/>
                </a:cxn>
                <a:cxn ang="0">
                  <a:pos x="2325" y="1549"/>
                </a:cxn>
                <a:cxn ang="0">
                  <a:pos x="4312" y="627"/>
                </a:cxn>
                <a:cxn ang="0">
                  <a:pos x="6413" y="115"/>
                </a:cxn>
                <a:cxn ang="0">
                  <a:pos x="8562" y="13"/>
                </a:cxn>
                <a:cxn ang="0">
                  <a:pos x="10694" y="319"/>
                </a:cxn>
                <a:cxn ang="0">
                  <a:pos x="12747" y="1036"/>
                </a:cxn>
                <a:cxn ang="0">
                  <a:pos x="14654" y="2160"/>
                </a:cxn>
                <a:cxn ang="0">
                  <a:pos x="14055" y="5373"/>
                </a:cxn>
                <a:cxn ang="0">
                  <a:pos x="12871" y="6404"/>
                </a:cxn>
                <a:cxn ang="0">
                  <a:pos x="12058" y="5702"/>
                </a:cxn>
                <a:cxn ang="0">
                  <a:pos x="10898" y="5017"/>
                </a:cxn>
                <a:cxn ang="0">
                  <a:pos x="9649" y="4582"/>
                </a:cxn>
                <a:cxn ang="0">
                  <a:pos x="8352" y="4395"/>
                </a:cxn>
                <a:cxn ang="0">
                  <a:pos x="7044" y="4457"/>
                </a:cxn>
                <a:cxn ang="0">
                  <a:pos x="5767" y="4769"/>
                </a:cxn>
                <a:cxn ang="0">
                  <a:pos x="4558" y="5329"/>
                </a:cxn>
                <a:cxn ang="0">
                  <a:pos x="3457" y="6139"/>
                </a:cxn>
                <a:cxn ang="0">
                  <a:pos x="3129" y="6456"/>
                </a:cxn>
                <a:cxn ang="0">
                  <a:pos x="2045" y="5322"/>
                </a:cxn>
                <a:cxn ang="0">
                  <a:pos x="2731" y="4697"/>
                </a:cxn>
                <a:cxn ang="0">
                  <a:pos x="4122" y="3779"/>
                </a:cxn>
                <a:cxn ang="0">
                  <a:pos x="5635" y="3166"/>
                </a:cxn>
                <a:cxn ang="0">
                  <a:pos x="7219" y="2859"/>
                </a:cxn>
                <a:cxn ang="0">
                  <a:pos x="8829" y="2859"/>
                </a:cxn>
                <a:cxn ang="0">
                  <a:pos x="10413" y="3165"/>
                </a:cxn>
                <a:cxn ang="0">
                  <a:pos x="11926" y="3777"/>
                </a:cxn>
                <a:cxn ang="0">
                  <a:pos x="13318" y="4696"/>
                </a:cxn>
                <a:cxn ang="0">
                  <a:pos x="14005" y="5321"/>
                </a:cxn>
                <a:cxn ang="0">
                  <a:pos x="10854" y="8576"/>
                </a:cxn>
                <a:cxn ang="0">
                  <a:pos x="10754" y="8472"/>
                </a:cxn>
                <a:cxn ang="0">
                  <a:pos x="10150" y="7980"/>
                </a:cxn>
                <a:cxn ang="0">
                  <a:pos x="9479" y="7627"/>
                </a:cxn>
                <a:cxn ang="0">
                  <a:pos x="8762" y="7416"/>
                </a:cxn>
                <a:cxn ang="0">
                  <a:pos x="8025" y="7345"/>
                </a:cxn>
                <a:cxn ang="0">
                  <a:pos x="7287" y="7416"/>
                </a:cxn>
                <a:cxn ang="0">
                  <a:pos x="6571" y="7627"/>
                </a:cxn>
                <a:cxn ang="0">
                  <a:pos x="5900" y="7980"/>
                </a:cxn>
                <a:cxn ang="0">
                  <a:pos x="5297" y="8473"/>
                </a:cxn>
                <a:cxn ang="0">
                  <a:pos x="5198" y="8576"/>
                </a:cxn>
                <a:cxn ang="0">
                  <a:pos x="4197" y="7425"/>
                </a:cxn>
                <a:cxn ang="0">
                  <a:pos x="4843" y="6865"/>
                </a:cxn>
                <a:cxn ang="0">
                  <a:pos x="5758" y="6325"/>
                </a:cxn>
                <a:cxn ang="0">
                  <a:pos x="6743" y="5981"/>
                </a:cxn>
                <a:cxn ang="0">
                  <a:pos x="7766" y="5833"/>
                </a:cxn>
                <a:cxn ang="0">
                  <a:pos x="8797" y="5882"/>
                </a:cxn>
                <a:cxn ang="0">
                  <a:pos x="9806" y="6127"/>
                </a:cxn>
                <a:cxn ang="0">
                  <a:pos x="10760" y="6570"/>
                </a:cxn>
                <a:cxn ang="0">
                  <a:pos x="11627" y="7208"/>
                </a:cxn>
                <a:cxn ang="0">
                  <a:pos x="11903" y="7475"/>
                </a:cxn>
              </a:cxnLst>
              <a:rect l="0" t="0" r="r" b="b"/>
              <a:pathLst>
                <a:path w="16050" h="8576">
                  <a:moveTo>
                    <a:pt x="15950" y="3273"/>
                  </a:moveTo>
                  <a:lnTo>
                    <a:pt x="15975" y="3299"/>
                  </a:lnTo>
                  <a:lnTo>
                    <a:pt x="16000" y="3324"/>
                  </a:lnTo>
                  <a:lnTo>
                    <a:pt x="16025" y="3351"/>
                  </a:lnTo>
                  <a:lnTo>
                    <a:pt x="16050" y="3377"/>
                  </a:lnTo>
                  <a:lnTo>
                    <a:pt x="15025" y="4402"/>
                  </a:lnTo>
                  <a:lnTo>
                    <a:pt x="15000" y="4377"/>
                  </a:lnTo>
                  <a:lnTo>
                    <a:pt x="14975" y="4351"/>
                  </a:lnTo>
                  <a:lnTo>
                    <a:pt x="14950" y="4325"/>
                  </a:lnTo>
                  <a:lnTo>
                    <a:pt x="14923" y="4300"/>
                  </a:lnTo>
                  <a:lnTo>
                    <a:pt x="14560" y="3955"/>
                  </a:lnTo>
                  <a:lnTo>
                    <a:pt x="14184" y="3632"/>
                  </a:lnTo>
                  <a:lnTo>
                    <a:pt x="13796" y="3330"/>
                  </a:lnTo>
                  <a:lnTo>
                    <a:pt x="13396" y="3053"/>
                  </a:lnTo>
                  <a:lnTo>
                    <a:pt x="12984" y="2797"/>
                  </a:lnTo>
                  <a:lnTo>
                    <a:pt x="12564" y="2563"/>
                  </a:lnTo>
                  <a:lnTo>
                    <a:pt x="12136" y="2351"/>
                  </a:lnTo>
                  <a:lnTo>
                    <a:pt x="11698" y="2161"/>
                  </a:lnTo>
                  <a:lnTo>
                    <a:pt x="11254" y="1995"/>
                  </a:lnTo>
                  <a:lnTo>
                    <a:pt x="10805" y="1850"/>
                  </a:lnTo>
                  <a:lnTo>
                    <a:pt x="10349" y="1728"/>
                  </a:lnTo>
                  <a:lnTo>
                    <a:pt x="9889" y="1628"/>
                  </a:lnTo>
                  <a:lnTo>
                    <a:pt x="9426" y="1549"/>
                  </a:lnTo>
                  <a:lnTo>
                    <a:pt x="8960" y="1494"/>
                  </a:lnTo>
                  <a:lnTo>
                    <a:pt x="8492" y="1461"/>
                  </a:lnTo>
                  <a:lnTo>
                    <a:pt x="8024" y="1450"/>
                  </a:lnTo>
                  <a:lnTo>
                    <a:pt x="7556" y="1461"/>
                  </a:lnTo>
                  <a:lnTo>
                    <a:pt x="7087" y="1494"/>
                  </a:lnTo>
                  <a:lnTo>
                    <a:pt x="6622" y="1550"/>
                  </a:lnTo>
                  <a:lnTo>
                    <a:pt x="6158" y="1629"/>
                  </a:lnTo>
                  <a:lnTo>
                    <a:pt x="5699" y="1729"/>
                  </a:lnTo>
                  <a:lnTo>
                    <a:pt x="5243" y="1851"/>
                  </a:lnTo>
                  <a:lnTo>
                    <a:pt x="4793" y="1996"/>
                  </a:lnTo>
                  <a:lnTo>
                    <a:pt x="4350" y="2163"/>
                  </a:lnTo>
                  <a:lnTo>
                    <a:pt x="3912" y="2352"/>
                  </a:lnTo>
                  <a:lnTo>
                    <a:pt x="3483" y="2564"/>
                  </a:lnTo>
                  <a:lnTo>
                    <a:pt x="3064" y="2799"/>
                  </a:lnTo>
                  <a:lnTo>
                    <a:pt x="2652" y="3055"/>
                  </a:lnTo>
                  <a:lnTo>
                    <a:pt x="2253" y="3332"/>
                  </a:lnTo>
                  <a:lnTo>
                    <a:pt x="1864" y="3634"/>
                  </a:lnTo>
                  <a:lnTo>
                    <a:pt x="1488" y="3957"/>
                  </a:lnTo>
                  <a:lnTo>
                    <a:pt x="1125" y="4302"/>
                  </a:lnTo>
                  <a:lnTo>
                    <a:pt x="1099" y="4327"/>
                  </a:lnTo>
                  <a:lnTo>
                    <a:pt x="1075" y="4353"/>
                  </a:lnTo>
                  <a:lnTo>
                    <a:pt x="1050" y="4378"/>
                  </a:lnTo>
                  <a:lnTo>
                    <a:pt x="1025" y="4404"/>
                  </a:lnTo>
                  <a:lnTo>
                    <a:pt x="0" y="3378"/>
                  </a:lnTo>
                  <a:lnTo>
                    <a:pt x="24" y="3353"/>
                  </a:lnTo>
                  <a:lnTo>
                    <a:pt x="49" y="3326"/>
                  </a:lnTo>
                  <a:lnTo>
                    <a:pt x="74" y="3301"/>
                  </a:lnTo>
                  <a:lnTo>
                    <a:pt x="99" y="3276"/>
                  </a:lnTo>
                  <a:lnTo>
                    <a:pt x="516" y="2880"/>
                  </a:lnTo>
                  <a:lnTo>
                    <a:pt x="948" y="2509"/>
                  </a:lnTo>
                  <a:lnTo>
                    <a:pt x="1394" y="2162"/>
                  </a:lnTo>
                  <a:lnTo>
                    <a:pt x="1854" y="1843"/>
                  </a:lnTo>
                  <a:lnTo>
                    <a:pt x="2325" y="1549"/>
                  </a:lnTo>
                  <a:lnTo>
                    <a:pt x="2808" y="1280"/>
                  </a:lnTo>
                  <a:lnTo>
                    <a:pt x="3301" y="1037"/>
                  </a:lnTo>
                  <a:lnTo>
                    <a:pt x="3803" y="820"/>
                  </a:lnTo>
                  <a:lnTo>
                    <a:pt x="4312" y="627"/>
                  </a:lnTo>
                  <a:lnTo>
                    <a:pt x="4830" y="461"/>
                  </a:lnTo>
                  <a:lnTo>
                    <a:pt x="5353" y="320"/>
                  </a:lnTo>
                  <a:lnTo>
                    <a:pt x="5881" y="205"/>
                  </a:lnTo>
                  <a:lnTo>
                    <a:pt x="6413" y="115"/>
                  </a:lnTo>
                  <a:lnTo>
                    <a:pt x="6949" y="51"/>
                  </a:lnTo>
                  <a:lnTo>
                    <a:pt x="7485" y="13"/>
                  </a:lnTo>
                  <a:lnTo>
                    <a:pt x="8024" y="0"/>
                  </a:lnTo>
                  <a:lnTo>
                    <a:pt x="8562" y="13"/>
                  </a:lnTo>
                  <a:lnTo>
                    <a:pt x="9099" y="51"/>
                  </a:lnTo>
                  <a:lnTo>
                    <a:pt x="9634" y="115"/>
                  </a:lnTo>
                  <a:lnTo>
                    <a:pt x="10167" y="205"/>
                  </a:lnTo>
                  <a:lnTo>
                    <a:pt x="10694" y="319"/>
                  </a:lnTo>
                  <a:lnTo>
                    <a:pt x="11218" y="460"/>
                  </a:lnTo>
                  <a:lnTo>
                    <a:pt x="11735" y="626"/>
                  </a:lnTo>
                  <a:lnTo>
                    <a:pt x="12245" y="818"/>
                  </a:lnTo>
                  <a:lnTo>
                    <a:pt x="12747" y="1036"/>
                  </a:lnTo>
                  <a:lnTo>
                    <a:pt x="13239" y="1278"/>
                  </a:lnTo>
                  <a:lnTo>
                    <a:pt x="13722" y="1547"/>
                  </a:lnTo>
                  <a:lnTo>
                    <a:pt x="14194" y="1841"/>
                  </a:lnTo>
                  <a:lnTo>
                    <a:pt x="14654" y="2160"/>
                  </a:lnTo>
                  <a:lnTo>
                    <a:pt x="15100" y="2506"/>
                  </a:lnTo>
                  <a:lnTo>
                    <a:pt x="15532" y="2877"/>
                  </a:lnTo>
                  <a:lnTo>
                    <a:pt x="15950" y="3273"/>
                  </a:lnTo>
                  <a:close/>
                  <a:moveTo>
                    <a:pt x="14055" y="5373"/>
                  </a:moveTo>
                  <a:lnTo>
                    <a:pt x="12946" y="6481"/>
                  </a:lnTo>
                  <a:lnTo>
                    <a:pt x="12921" y="6456"/>
                  </a:lnTo>
                  <a:lnTo>
                    <a:pt x="12897" y="6430"/>
                  </a:lnTo>
                  <a:lnTo>
                    <a:pt x="12871" y="6404"/>
                  </a:lnTo>
                  <a:lnTo>
                    <a:pt x="12846" y="6379"/>
                  </a:lnTo>
                  <a:lnTo>
                    <a:pt x="12592" y="6137"/>
                  </a:lnTo>
                  <a:lnTo>
                    <a:pt x="12329" y="5912"/>
                  </a:lnTo>
                  <a:lnTo>
                    <a:pt x="12058" y="5702"/>
                  </a:lnTo>
                  <a:lnTo>
                    <a:pt x="11778" y="5507"/>
                  </a:lnTo>
                  <a:lnTo>
                    <a:pt x="11491" y="5328"/>
                  </a:lnTo>
                  <a:lnTo>
                    <a:pt x="11198" y="5165"/>
                  </a:lnTo>
                  <a:lnTo>
                    <a:pt x="10898" y="5017"/>
                  </a:lnTo>
                  <a:lnTo>
                    <a:pt x="10592" y="4885"/>
                  </a:lnTo>
                  <a:lnTo>
                    <a:pt x="10282" y="4768"/>
                  </a:lnTo>
                  <a:lnTo>
                    <a:pt x="9967" y="4667"/>
                  </a:lnTo>
                  <a:lnTo>
                    <a:pt x="9649" y="4582"/>
                  </a:lnTo>
                  <a:lnTo>
                    <a:pt x="9328" y="4512"/>
                  </a:lnTo>
                  <a:lnTo>
                    <a:pt x="9004" y="4457"/>
                  </a:lnTo>
                  <a:lnTo>
                    <a:pt x="8679" y="4418"/>
                  </a:lnTo>
                  <a:lnTo>
                    <a:pt x="8352" y="4395"/>
                  </a:lnTo>
                  <a:lnTo>
                    <a:pt x="8024" y="4387"/>
                  </a:lnTo>
                  <a:lnTo>
                    <a:pt x="7697" y="4395"/>
                  </a:lnTo>
                  <a:lnTo>
                    <a:pt x="7370" y="4418"/>
                  </a:lnTo>
                  <a:lnTo>
                    <a:pt x="7044" y="4457"/>
                  </a:lnTo>
                  <a:lnTo>
                    <a:pt x="6721" y="4512"/>
                  </a:lnTo>
                  <a:lnTo>
                    <a:pt x="6399" y="4582"/>
                  </a:lnTo>
                  <a:lnTo>
                    <a:pt x="6081" y="4668"/>
                  </a:lnTo>
                  <a:lnTo>
                    <a:pt x="5767" y="4769"/>
                  </a:lnTo>
                  <a:lnTo>
                    <a:pt x="5457" y="4886"/>
                  </a:lnTo>
                  <a:lnTo>
                    <a:pt x="5151" y="5018"/>
                  </a:lnTo>
                  <a:lnTo>
                    <a:pt x="4851" y="5166"/>
                  </a:lnTo>
                  <a:lnTo>
                    <a:pt x="4558" y="5329"/>
                  </a:lnTo>
                  <a:lnTo>
                    <a:pt x="4271" y="5509"/>
                  </a:lnTo>
                  <a:lnTo>
                    <a:pt x="3991" y="5703"/>
                  </a:lnTo>
                  <a:lnTo>
                    <a:pt x="3720" y="5913"/>
                  </a:lnTo>
                  <a:lnTo>
                    <a:pt x="3457" y="6139"/>
                  </a:lnTo>
                  <a:lnTo>
                    <a:pt x="3203" y="6380"/>
                  </a:lnTo>
                  <a:lnTo>
                    <a:pt x="3178" y="6406"/>
                  </a:lnTo>
                  <a:lnTo>
                    <a:pt x="3154" y="6431"/>
                  </a:lnTo>
                  <a:lnTo>
                    <a:pt x="3129" y="6456"/>
                  </a:lnTo>
                  <a:lnTo>
                    <a:pt x="3104" y="6482"/>
                  </a:lnTo>
                  <a:lnTo>
                    <a:pt x="1996" y="5374"/>
                  </a:lnTo>
                  <a:lnTo>
                    <a:pt x="2020" y="5348"/>
                  </a:lnTo>
                  <a:lnTo>
                    <a:pt x="2045" y="5322"/>
                  </a:lnTo>
                  <a:lnTo>
                    <a:pt x="2069" y="5297"/>
                  </a:lnTo>
                  <a:lnTo>
                    <a:pt x="2095" y="5272"/>
                  </a:lnTo>
                  <a:lnTo>
                    <a:pt x="2406" y="4975"/>
                  </a:lnTo>
                  <a:lnTo>
                    <a:pt x="2731" y="4697"/>
                  </a:lnTo>
                  <a:lnTo>
                    <a:pt x="3065" y="4439"/>
                  </a:lnTo>
                  <a:lnTo>
                    <a:pt x="3408" y="4199"/>
                  </a:lnTo>
                  <a:lnTo>
                    <a:pt x="3761" y="3980"/>
                  </a:lnTo>
                  <a:lnTo>
                    <a:pt x="4122" y="3779"/>
                  </a:lnTo>
                  <a:lnTo>
                    <a:pt x="4491" y="3596"/>
                  </a:lnTo>
                  <a:lnTo>
                    <a:pt x="4866" y="3434"/>
                  </a:lnTo>
                  <a:lnTo>
                    <a:pt x="5247" y="3290"/>
                  </a:lnTo>
                  <a:lnTo>
                    <a:pt x="5635" y="3166"/>
                  </a:lnTo>
                  <a:lnTo>
                    <a:pt x="6026" y="3061"/>
                  </a:lnTo>
                  <a:lnTo>
                    <a:pt x="6421" y="2974"/>
                  </a:lnTo>
                  <a:lnTo>
                    <a:pt x="6819" y="2907"/>
                  </a:lnTo>
                  <a:lnTo>
                    <a:pt x="7219" y="2859"/>
                  </a:lnTo>
                  <a:lnTo>
                    <a:pt x="7622" y="2831"/>
                  </a:lnTo>
                  <a:lnTo>
                    <a:pt x="8024" y="2821"/>
                  </a:lnTo>
                  <a:lnTo>
                    <a:pt x="8427" y="2831"/>
                  </a:lnTo>
                  <a:lnTo>
                    <a:pt x="8829" y="2859"/>
                  </a:lnTo>
                  <a:lnTo>
                    <a:pt x="9229" y="2907"/>
                  </a:lnTo>
                  <a:lnTo>
                    <a:pt x="9627" y="2973"/>
                  </a:lnTo>
                  <a:lnTo>
                    <a:pt x="10022" y="3060"/>
                  </a:lnTo>
                  <a:lnTo>
                    <a:pt x="10413" y="3165"/>
                  </a:lnTo>
                  <a:lnTo>
                    <a:pt x="10801" y="3289"/>
                  </a:lnTo>
                  <a:lnTo>
                    <a:pt x="11182" y="3433"/>
                  </a:lnTo>
                  <a:lnTo>
                    <a:pt x="11558" y="3595"/>
                  </a:lnTo>
                  <a:lnTo>
                    <a:pt x="11926" y="3777"/>
                  </a:lnTo>
                  <a:lnTo>
                    <a:pt x="12287" y="3978"/>
                  </a:lnTo>
                  <a:lnTo>
                    <a:pt x="12640" y="4198"/>
                  </a:lnTo>
                  <a:lnTo>
                    <a:pt x="12984" y="4437"/>
                  </a:lnTo>
                  <a:lnTo>
                    <a:pt x="13318" y="4696"/>
                  </a:lnTo>
                  <a:lnTo>
                    <a:pt x="13641" y="4973"/>
                  </a:lnTo>
                  <a:lnTo>
                    <a:pt x="13954" y="5270"/>
                  </a:lnTo>
                  <a:lnTo>
                    <a:pt x="13980" y="5295"/>
                  </a:lnTo>
                  <a:lnTo>
                    <a:pt x="14005" y="5321"/>
                  </a:lnTo>
                  <a:lnTo>
                    <a:pt x="14030" y="5347"/>
                  </a:lnTo>
                  <a:lnTo>
                    <a:pt x="14055" y="5373"/>
                  </a:lnTo>
                  <a:close/>
                  <a:moveTo>
                    <a:pt x="11928" y="7501"/>
                  </a:moveTo>
                  <a:lnTo>
                    <a:pt x="10854" y="8576"/>
                  </a:lnTo>
                  <a:lnTo>
                    <a:pt x="10829" y="8549"/>
                  </a:lnTo>
                  <a:lnTo>
                    <a:pt x="10805" y="8523"/>
                  </a:lnTo>
                  <a:lnTo>
                    <a:pt x="10780" y="8498"/>
                  </a:lnTo>
                  <a:lnTo>
                    <a:pt x="10754" y="8472"/>
                  </a:lnTo>
                  <a:lnTo>
                    <a:pt x="10610" y="8336"/>
                  </a:lnTo>
                  <a:lnTo>
                    <a:pt x="10462" y="8208"/>
                  </a:lnTo>
                  <a:lnTo>
                    <a:pt x="10307" y="8089"/>
                  </a:lnTo>
                  <a:lnTo>
                    <a:pt x="10150" y="7980"/>
                  </a:lnTo>
                  <a:lnTo>
                    <a:pt x="9987" y="7878"/>
                  </a:lnTo>
                  <a:lnTo>
                    <a:pt x="9821" y="7785"/>
                  </a:lnTo>
                  <a:lnTo>
                    <a:pt x="9651" y="7702"/>
                  </a:lnTo>
                  <a:lnTo>
                    <a:pt x="9479" y="7627"/>
                  </a:lnTo>
                  <a:lnTo>
                    <a:pt x="9303" y="7561"/>
                  </a:lnTo>
                  <a:lnTo>
                    <a:pt x="9124" y="7504"/>
                  </a:lnTo>
                  <a:lnTo>
                    <a:pt x="8945" y="7456"/>
                  </a:lnTo>
                  <a:lnTo>
                    <a:pt x="8762" y="7416"/>
                  </a:lnTo>
                  <a:lnTo>
                    <a:pt x="8580" y="7384"/>
                  </a:lnTo>
                  <a:lnTo>
                    <a:pt x="8395" y="7362"/>
                  </a:lnTo>
                  <a:lnTo>
                    <a:pt x="8210" y="7349"/>
                  </a:lnTo>
                  <a:lnTo>
                    <a:pt x="8025" y="7345"/>
                  </a:lnTo>
                  <a:lnTo>
                    <a:pt x="7839" y="7349"/>
                  </a:lnTo>
                  <a:lnTo>
                    <a:pt x="7655" y="7363"/>
                  </a:lnTo>
                  <a:lnTo>
                    <a:pt x="7470" y="7385"/>
                  </a:lnTo>
                  <a:lnTo>
                    <a:pt x="7287" y="7416"/>
                  </a:lnTo>
                  <a:lnTo>
                    <a:pt x="7105" y="7456"/>
                  </a:lnTo>
                  <a:lnTo>
                    <a:pt x="6926" y="7504"/>
                  </a:lnTo>
                  <a:lnTo>
                    <a:pt x="6747" y="7561"/>
                  </a:lnTo>
                  <a:lnTo>
                    <a:pt x="6571" y="7627"/>
                  </a:lnTo>
                  <a:lnTo>
                    <a:pt x="6399" y="7703"/>
                  </a:lnTo>
                  <a:lnTo>
                    <a:pt x="6229" y="7786"/>
                  </a:lnTo>
                  <a:lnTo>
                    <a:pt x="6063" y="7878"/>
                  </a:lnTo>
                  <a:lnTo>
                    <a:pt x="5900" y="7980"/>
                  </a:lnTo>
                  <a:lnTo>
                    <a:pt x="5742" y="8090"/>
                  </a:lnTo>
                  <a:lnTo>
                    <a:pt x="5588" y="8209"/>
                  </a:lnTo>
                  <a:lnTo>
                    <a:pt x="5440" y="8337"/>
                  </a:lnTo>
                  <a:lnTo>
                    <a:pt x="5297" y="8473"/>
                  </a:lnTo>
                  <a:lnTo>
                    <a:pt x="5271" y="8498"/>
                  </a:lnTo>
                  <a:lnTo>
                    <a:pt x="5246" y="8524"/>
                  </a:lnTo>
                  <a:lnTo>
                    <a:pt x="5222" y="8550"/>
                  </a:lnTo>
                  <a:lnTo>
                    <a:pt x="5198" y="8576"/>
                  </a:lnTo>
                  <a:lnTo>
                    <a:pt x="4123" y="7501"/>
                  </a:lnTo>
                  <a:lnTo>
                    <a:pt x="4147" y="7476"/>
                  </a:lnTo>
                  <a:lnTo>
                    <a:pt x="4172" y="7450"/>
                  </a:lnTo>
                  <a:lnTo>
                    <a:pt x="4197" y="7425"/>
                  </a:lnTo>
                  <a:lnTo>
                    <a:pt x="4222" y="7399"/>
                  </a:lnTo>
                  <a:lnTo>
                    <a:pt x="4422" y="7209"/>
                  </a:lnTo>
                  <a:lnTo>
                    <a:pt x="4629" y="7030"/>
                  </a:lnTo>
                  <a:lnTo>
                    <a:pt x="4843" y="6865"/>
                  </a:lnTo>
                  <a:lnTo>
                    <a:pt x="5064" y="6711"/>
                  </a:lnTo>
                  <a:lnTo>
                    <a:pt x="5290" y="6571"/>
                  </a:lnTo>
                  <a:lnTo>
                    <a:pt x="5522" y="6441"/>
                  </a:lnTo>
                  <a:lnTo>
                    <a:pt x="5758" y="6325"/>
                  </a:lnTo>
                  <a:lnTo>
                    <a:pt x="6000" y="6220"/>
                  </a:lnTo>
                  <a:lnTo>
                    <a:pt x="6243" y="6128"/>
                  </a:lnTo>
                  <a:lnTo>
                    <a:pt x="6492" y="6048"/>
                  </a:lnTo>
                  <a:lnTo>
                    <a:pt x="6743" y="5981"/>
                  </a:lnTo>
                  <a:lnTo>
                    <a:pt x="6997" y="5925"/>
                  </a:lnTo>
                  <a:lnTo>
                    <a:pt x="7252" y="5882"/>
                  </a:lnTo>
                  <a:lnTo>
                    <a:pt x="7508" y="5851"/>
                  </a:lnTo>
                  <a:lnTo>
                    <a:pt x="7766" y="5833"/>
                  </a:lnTo>
                  <a:lnTo>
                    <a:pt x="8025" y="5827"/>
                  </a:lnTo>
                  <a:lnTo>
                    <a:pt x="8283" y="5833"/>
                  </a:lnTo>
                  <a:lnTo>
                    <a:pt x="8541" y="5851"/>
                  </a:lnTo>
                  <a:lnTo>
                    <a:pt x="8797" y="5882"/>
                  </a:lnTo>
                  <a:lnTo>
                    <a:pt x="9053" y="5925"/>
                  </a:lnTo>
                  <a:lnTo>
                    <a:pt x="9306" y="5981"/>
                  </a:lnTo>
                  <a:lnTo>
                    <a:pt x="9557" y="6048"/>
                  </a:lnTo>
                  <a:lnTo>
                    <a:pt x="9806" y="6127"/>
                  </a:lnTo>
                  <a:lnTo>
                    <a:pt x="10050" y="6219"/>
                  </a:lnTo>
                  <a:lnTo>
                    <a:pt x="10291" y="6324"/>
                  </a:lnTo>
                  <a:lnTo>
                    <a:pt x="10528" y="6440"/>
                  </a:lnTo>
                  <a:lnTo>
                    <a:pt x="10760" y="6570"/>
                  </a:lnTo>
                  <a:lnTo>
                    <a:pt x="10985" y="6710"/>
                  </a:lnTo>
                  <a:lnTo>
                    <a:pt x="11206" y="6864"/>
                  </a:lnTo>
                  <a:lnTo>
                    <a:pt x="11421" y="7029"/>
                  </a:lnTo>
                  <a:lnTo>
                    <a:pt x="11627" y="7208"/>
                  </a:lnTo>
                  <a:lnTo>
                    <a:pt x="11828" y="7398"/>
                  </a:lnTo>
                  <a:lnTo>
                    <a:pt x="11853" y="7424"/>
                  </a:lnTo>
                  <a:lnTo>
                    <a:pt x="11878" y="7449"/>
                  </a:lnTo>
                  <a:lnTo>
                    <a:pt x="11903" y="7475"/>
                  </a:lnTo>
                  <a:lnTo>
                    <a:pt x="11928" y="7501"/>
                  </a:lnTo>
                  <a:close/>
                </a:path>
              </a:pathLst>
            </a:custGeom>
            <a:grpFill/>
            <a:ln w="9525">
              <a:noFill/>
              <a:round/>
              <a:headEnd/>
              <a:tailEnd/>
            </a:ln>
          </p:spPr>
          <p:txBody>
            <a:bodyPr/>
            <a:lstStyle/>
            <a:p>
              <a:pPr algn="ctr" eaLnBrk="1" fontAlgn="auto" hangingPunct="1">
                <a:spcBef>
                  <a:spcPts val="0"/>
                </a:spcBef>
                <a:spcAft>
                  <a:spcPts val="0"/>
                </a:spcAft>
                <a:defRPr/>
              </a:pPr>
              <a:endParaRPr lang="zh-CN" altLang="en-US" sz="1200" ker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69" name="文本框 68"/>
          <p:cNvSpPr txBox="1"/>
          <p:nvPr/>
        </p:nvSpPr>
        <p:spPr bwMode="gray">
          <a:xfrm>
            <a:off x="4188325" y="4135039"/>
            <a:ext cx="460382" cy="276999"/>
          </a:xfrm>
          <a:prstGeom prst="rect">
            <a:avLst/>
          </a:prstGeom>
          <a:noFill/>
        </p:spPr>
        <p:txBody>
          <a:bodyPr wrap="none" rtlCol="0">
            <a:spAutoFit/>
          </a:bodyPr>
          <a:lstStyle/>
          <a:p>
            <a:pPr algn="r"/>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AP1</a:t>
            </a:r>
            <a:endParaRPr lang="zh-CN" altLang="en-US" sz="1200" b="1" dirty="0">
              <a:latin typeface="Huawei Sans" panose="020C0503030203020204" pitchFamily="34" charset="0"/>
              <a:ea typeface="方正兰亭黑简体" panose="02000000000000000000" pitchFamily="2" charset="-122"/>
              <a:cs typeface="Huawei Sans" panose="020C0503030203020204" pitchFamily="34" charset="0"/>
            </a:endParaRPr>
          </a:p>
        </p:txBody>
      </p:sp>
      <p:cxnSp>
        <p:nvCxnSpPr>
          <p:cNvPr id="71" name="直接箭头连接符 70"/>
          <p:cNvCxnSpPr/>
          <p:nvPr/>
        </p:nvCxnSpPr>
        <p:spPr bwMode="gray">
          <a:xfrm flipH="1" flipV="1">
            <a:off x="8945872" y="4901333"/>
            <a:ext cx="460887" cy="113759"/>
          </a:xfrm>
          <a:prstGeom prst="straightConnector1">
            <a:avLst/>
          </a:prstGeom>
          <a:ln w="38100">
            <a:solidFill>
              <a:srgbClr val="30B5C5"/>
            </a:solidFill>
            <a:tailEnd type="triangle"/>
          </a:ln>
        </p:spPr>
        <p:style>
          <a:lnRef idx="1">
            <a:schemeClr val="accent1"/>
          </a:lnRef>
          <a:fillRef idx="0">
            <a:schemeClr val="accent1"/>
          </a:fillRef>
          <a:effectRef idx="0">
            <a:schemeClr val="accent1"/>
          </a:effectRef>
          <a:fontRef idx="minor">
            <a:schemeClr val="tx1"/>
          </a:fontRef>
        </p:style>
      </p:cxnSp>
      <p:sp>
        <p:nvSpPr>
          <p:cNvPr id="72" name="TextBox 179"/>
          <p:cNvSpPr txBox="1"/>
          <p:nvPr/>
        </p:nvSpPr>
        <p:spPr bwMode="gray">
          <a:xfrm>
            <a:off x="9244146" y="4944140"/>
            <a:ext cx="1581031" cy="406375"/>
          </a:xfrm>
          <a:prstGeom prst="roundRect">
            <a:avLst>
              <a:gd name="adj" fmla="val 12806"/>
            </a:avLst>
          </a:prstGeom>
          <a:solidFill>
            <a:srgbClr val="30B5C5"/>
          </a:solidFill>
          <a:ln>
            <a:noFill/>
          </a:ln>
        </p:spPr>
        <p:txBody>
          <a:bodyPr wrap="square" lIns="0" tIns="0" rIns="0" bIns="0" anchor="ctr" anchorCtr="0">
            <a:noAutofit/>
          </a:bodyPr>
          <a:lstStyle>
            <a:defPPr>
              <a:defRPr lang="en-US"/>
            </a:defPPr>
            <a:lvl1pPr algn="ctr" defTabSz="914478">
              <a:defRPr sz="1200">
                <a:solidFill>
                  <a:schemeClr val="bg1"/>
                </a:solidFill>
              </a:defRPr>
            </a:lvl1pPr>
            <a:lvl2pPr marL="457240" defTabSz="914478"/>
            <a:lvl3pPr marL="914478" defTabSz="914478"/>
            <a:lvl4pPr marL="1371718" defTabSz="914478"/>
            <a:lvl5pPr marL="1828957" defTabSz="914478"/>
            <a:lvl6pPr marL="2286196" defTabSz="914478"/>
            <a:lvl7pPr marL="2743435" defTabSz="914478"/>
            <a:lvl8pPr marL="3200675" defTabSz="914478"/>
            <a:lvl9pPr marL="3657913" defTabSz="914478"/>
          </a:lstStyle>
          <a:p>
            <a:pPr algn="l"/>
            <a:r>
              <a:rPr lang="zh-CN" altLang="en-US" dirty="0" smtClean="0"/>
              <a:t>开启自动配置路由域，并自动部署</a:t>
            </a:r>
            <a:r>
              <a:rPr lang="en-US" altLang="zh-CN" dirty="0" smtClean="0"/>
              <a:t>BGP EVPN</a:t>
            </a:r>
            <a:endParaRPr lang="zh-CN" altLang="en-US" dirty="0"/>
          </a:p>
        </p:txBody>
      </p:sp>
      <p:sp>
        <p:nvSpPr>
          <p:cNvPr id="47" name="五边形 46"/>
          <p:cNvSpPr/>
          <p:nvPr/>
        </p:nvSpPr>
        <p:spPr bwMode="gray">
          <a:xfrm>
            <a:off x="5773628" y="98481"/>
            <a:ext cx="9000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站点管理</a:t>
            </a:r>
          </a:p>
        </p:txBody>
      </p:sp>
      <p:sp>
        <p:nvSpPr>
          <p:cNvPr id="70" name="燕尾形 69"/>
          <p:cNvSpPr/>
          <p:nvPr/>
        </p:nvSpPr>
        <p:spPr bwMode="gray">
          <a:xfrm>
            <a:off x="9109268" y="9848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逻辑网络</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3" name="燕尾形 72"/>
          <p:cNvSpPr/>
          <p:nvPr/>
        </p:nvSpPr>
        <p:spPr bwMode="gray">
          <a:xfrm>
            <a:off x="9925178" y="9848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业务部署</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4" name="燕尾形 73"/>
          <p:cNvSpPr/>
          <p:nvPr/>
        </p:nvSpPr>
        <p:spPr bwMode="gray">
          <a:xfrm>
            <a:off x="8221358" y="98481"/>
            <a:ext cx="9720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Fabric</a:t>
            </a: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网络</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5" name="燕尾形 74"/>
          <p:cNvSpPr/>
          <p:nvPr/>
        </p:nvSpPr>
        <p:spPr bwMode="gray">
          <a:xfrm>
            <a:off x="7405448" y="9848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网络规划</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6" name="燕尾形 75"/>
          <p:cNvSpPr/>
          <p:nvPr/>
        </p:nvSpPr>
        <p:spPr bwMode="gray">
          <a:xfrm>
            <a:off x="6589538" y="9848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设备管理</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7" name="燕尾形 76"/>
          <p:cNvSpPr/>
          <p:nvPr/>
        </p:nvSpPr>
        <p:spPr bwMode="gray">
          <a:xfrm>
            <a:off x="10741088" y="98481"/>
            <a:ext cx="1008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WLAN</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业务</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256885707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3"/>
          <a:stretch>
            <a:fillRect/>
          </a:stretch>
        </p:blipFill>
        <p:spPr>
          <a:xfrm>
            <a:off x="4898899" y="1787288"/>
            <a:ext cx="6681530" cy="3627718"/>
          </a:xfrm>
          <a:prstGeom prst="rect">
            <a:avLst/>
          </a:prstGeom>
          <a:ln w="12700">
            <a:solidFill>
              <a:schemeClr val="bg1">
                <a:lumMod val="85000"/>
              </a:schemeClr>
            </a:solidFill>
          </a:ln>
        </p:spPr>
      </p:pic>
      <p:sp>
        <p:nvSpPr>
          <p:cNvPr id="5" name="标题 4"/>
          <p:cNvSpPr>
            <a:spLocks noGrp="1"/>
          </p:cNvSpPr>
          <p:nvPr>
            <p:ph type="title"/>
          </p:nvPr>
        </p:nvSpPr>
        <p:spPr bwMode="gray"/>
        <p:txBody>
          <a:bodyPr>
            <a:normAutofit/>
          </a:bodyPr>
          <a:lstStyle/>
          <a:p>
            <a:r>
              <a:rPr lang="zh-CN" altLang="en-US" dirty="0"/>
              <a:t>实验</a:t>
            </a:r>
            <a:r>
              <a:rPr lang="zh-CN" altLang="en-US" dirty="0" smtClean="0"/>
              <a:t>：创建</a:t>
            </a:r>
            <a:r>
              <a:rPr lang="en-US" altLang="zh-CN" dirty="0" smtClean="0"/>
              <a:t>Fabric</a:t>
            </a:r>
            <a:r>
              <a:rPr lang="zh-CN" altLang="en-US" dirty="0"/>
              <a:t> </a:t>
            </a:r>
            <a:r>
              <a:rPr lang="en-US" altLang="zh-CN" dirty="0" smtClean="0"/>
              <a:t>(2)</a:t>
            </a:r>
            <a:endParaRPr lang="zh-CN" altLang="en-US" dirty="0"/>
          </a:p>
        </p:txBody>
      </p:sp>
      <p:sp>
        <p:nvSpPr>
          <p:cNvPr id="61" name="矩形 60"/>
          <p:cNvSpPr/>
          <p:nvPr/>
        </p:nvSpPr>
        <p:spPr bwMode="gray">
          <a:xfrm>
            <a:off x="4814920" y="1277164"/>
            <a:ext cx="5832565" cy="400110"/>
          </a:xfrm>
          <a:prstGeom prst="rect">
            <a:avLst/>
          </a:prstGeom>
        </p:spPr>
        <p:txBody>
          <a:bodyPr wrap="square">
            <a:spAutoFit/>
          </a:bodyPr>
          <a:lstStyle/>
          <a:p>
            <a:pPr algn="just">
              <a:lnSpc>
                <a:spcPts val="2400"/>
              </a:lnSpc>
              <a:spcAft>
                <a:spcPts val="600"/>
              </a:spcAft>
            </a:pPr>
            <a:r>
              <a:rPr lang="zh-CN" altLang="en-US" sz="1600" dirty="0" smtClean="0"/>
              <a:t>向</a:t>
            </a:r>
            <a:r>
              <a:rPr lang="en-US" altLang="zh-CN" sz="1600" dirty="0" smtClean="0"/>
              <a:t>Fabric</a:t>
            </a:r>
            <a:r>
              <a:rPr lang="zh-CN" altLang="en-US" sz="1600" dirty="0" smtClean="0"/>
              <a:t>中添加设备，并指定设备角色：</a:t>
            </a:r>
            <a:endParaRPr lang="zh-CN" altLang="en-US" sz="1600" dirty="0"/>
          </a:p>
        </p:txBody>
      </p:sp>
      <p:sp>
        <p:nvSpPr>
          <p:cNvPr id="41" name="TextBox 179"/>
          <p:cNvSpPr txBox="1"/>
          <p:nvPr/>
        </p:nvSpPr>
        <p:spPr bwMode="gray">
          <a:xfrm>
            <a:off x="9109268" y="2799642"/>
            <a:ext cx="2275704" cy="410330"/>
          </a:xfrm>
          <a:prstGeom prst="roundRect">
            <a:avLst>
              <a:gd name="adj" fmla="val 12806"/>
            </a:avLst>
          </a:prstGeom>
          <a:solidFill>
            <a:srgbClr val="30B5C5"/>
          </a:solidFill>
          <a:ln>
            <a:noFill/>
          </a:ln>
        </p:spPr>
        <p:txBody>
          <a:bodyPr wrap="none" lIns="72000" tIns="72000" rIns="72000" bIns="72000" anchor="ctr" anchorCtr="0">
            <a:noAutofit/>
          </a:bodyPr>
          <a:lstStyle>
            <a:defPPr>
              <a:defRPr lang="en-US"/>
            </a:defPPr>
            <a:lvl1pPr algn="ctr" defTabSz="914478">
              <a:defRPr sz="1200">
                <a:solidFill>
                  <a:schemeClr val="bg1"/>
                </a:solidFill>
              </a:defRPr>
            </a:lvl1pPr>
            <a:lvl2pPr marL="457240" defTabSz="914478"/>
            <a:lvl3pPr marL="914478" defTabSz="914478"/>
            <a:lvl4pPr marL="1371718" defTabSz="914478"/>
            <a:lvl5pPr marL="1828957" defTabSz="914478"/>
            <a:lvl6pPr marL="2286196" defTabSz="914478"/>
            <a:lvl7pPr marL="2743435" defTabSz="914478"/>
            <a:lvl8pPr marL="3200675" defTabSz="914478"/>
            <a:lvl9pPr marL="3657913" defTabSz="914478"/>
          </a:lstStyle>
          <a:p>
            <a:pPr>
              <a:lnSpc>
                <a:spcPts val="1800"/>
              </a:lnSpc>
            </a:pPr>
            <a:r>
              <a:rPr lang="zh-CN" altLang="en-US" dirty="0" smtClean="0"/>
              <a:t>指定设备在</a:t>
            </a:r>
            <a:r>
              <a:rPr lang="en-US" altLang="zh-CN" dirty="0" smtClean="0"/>
              <a:t>Fabric</a:t>
            </a:r>
            <a:r>
              <a:rPr lang="zh-CN" altLang="en-US" dirty="0" smtClean="0"/>
              <a:t>里的节点角色</a:t>
            </a:r>
            <a:endParaRPr lang="zh-CN" altLang="en-US" dirty="0"/>
          </a:p>
        </p:txBody>
      </p:sp>
      <p:sp>
        <p:nvSpPr>
          <p:cNvPr id="43" name="矩形 42"/>
          <p:cNvSpPr/>
          <p:nvPr/>
        </p:nvSpPr>
        <p:spPr bwMode="gray">
          <a:xfrm>
            <a:off x="976153" y="4657610"/>
            <a:ext cx="2776194" cy="400110"/>
          </a:xfrm>
          <a:prstGeom prst="rect">
            <a:avLst/>
          </a:prstGeom>
        </p:spPr>
        <p:txBody>
          <a:bodyPr wrap="square">
            <a:spAutoFit/>
          </a:bodyPr>
          <a:lstStyle/>
          <a:p>
            <a:pPr algn="ctr">
              <a:lnSpc>
                <a:spcPts val="2400"/>
              </a:lnSpc>
              <a:spcAft>
                <a:spcPts val="600"/>
              </a:spcAft>
            </a:pPr>
            <a:r>
              <a:rPr lang="en-US" altLang="zh-CN" sz="1400" b="1" dirty="0" smtClean="0"/>
              <a:t>VXLAN</a:t>
            </a:r>
            <a:r>
              <a:rPr lang="zh-CN" altLang="en-US" sz="1400" b="1" dirty="0" smtClean="0"/>
              <a:t>到汇聚的分布式网关组网</a:t>
            </a:r>
            <a:endParaRPr lang="zh-CN" altLang="en-US" sz="1400" b="1" dirty="0"/>
          </a:p>
        </p:txBody>
      </p:sp>
      <p:sp>
        <p:nvSpPr>
          <p:cNvPr id="44" name="圆角矩形 43"/>
          <p:cNvSpPr/>
          <p:nvPr/>
        </p:nvSpPr>
        <p:spPr bwMode="gray">
          <a:xfrm>
            <a:off x="628892" y="2076808"/>
            <a:ext cx="3948649" cy="2628871"/>
          </a:xfrm>
          <a:prstGeom prst="roundRect">
            <a:avLst>
              <a:gd name="adj" fmla="val 3166"/>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45" name="Freeform 159"/>
          <p:cNvSpPr/>
          <p:nvPr/>
        </p:nvSpPr>
        <p:spPr bwMode="gray">
          <a:xfrm flipH="1">
            <a:off x="1330389" y="2429624"/>
            <a:ext cx="2311472" cy="1323216"/>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rgbClr val="E3F6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Huawei Sans" panose="020C0503030203020204" pitchFamily="34" charset="0"/>
              <a:ea typeface="方正兰亭黑简体" panose="02000000000000000000" pitchFamily="2" charset="-122"/>
            </a:endParaRPr>
          </a:p>
        </p:txBody>
      </p:sp>
      <p:cxnSp>
        <p:nvCxnSpPr>
          <p:cNvPr id="46" name="Straight Connector 166"/>
          <p:cNvCxnSpPr>
            <a:stCxn id="53" idx="2"/>
            <a:endCxn id="64" idx="0"/>
          </p:cNvCxnSpPr>
          <p:nvPr/>
        </p:nvCxnSpPr>
        <p:spPr bwMode="gray">
          <a:xfrm>
            <a:off x="1481681" y="3714461"/>
            <a:ext cx="0" cy="40327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 name="Straight Connector 166"/>
          <p:cNvCxnSpPr>
            <a:stCxn id="54" idx="2"/>
            <a:endCxn id="65" idx="0"/>
          </p:cNvCxnSpPr>
          <p:nvPr/>
        </p:nvCxnSpPr>
        <p:spPr bwMode="gray">
          <a:xfrm>
            <a:off x="3412482" y="3714461"/>
            <a:ext cx="0" cy="40327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 name="Straight Connector 167"/>
          <p:cNvCxnSpPr/>
          <p:nvPr/>
        </p:nvCxnSpPr>
        <p:spPr bwMode="gray">
          <a:xfrm flipH="1">
            <a:off x="1482391" y="2655229"/>
            <a:ext cx="971589" cy="876201"/>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49" name="Straight Connector 167"/>
          <p:cNvCxnSpPr/>
          <p:nvPr/>
        </p:nvCxnSpPr>
        <p:spPr bwMode="gray">
          <a:xfrm flipH="1" flipV="1">
            <a:off x="2450601" y="2652752"/>
            <a:ext cx="975076" cy="883934"/>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sp>
        <p:nvSpPr>
          <p:cNvPr id="50" name="文本框 49"/>
          <p:cNvSpPr txBox="1"/>
          <p:nvPr/>
        </p:nvSpPr>
        <p:spPr bwMode="gray">
          <a:xfrm>
            <a:off x="1586967" y="2522643"/>
            <a:ext cx="676788" cy="276999"/>
          </a:xfrm>
          <a:prstGeom prst="rect">
            <a:avLst/>
          </a:prstGeom>
          <a:noFill/>
        </p:spPr>
        <p:txBody>
          <a:bodyPr wrap="none" rtlCol="0">
            <a:spAutoFit/>
          </a:bodyPr>
          <a:lstStyle/>
          <a:p>
            <a:pPr algn="ctr"/>
            <a:r>
              <a:rPr lang="en-US" altLang="zh-CN" sz="1200" b="1" dirty="0" smtClean="0">
                <a:latin typeface="Huawei Sans" panose="020C0503030203020204" pitchFamily="34" charset="0"/>
                <a:ea typeface="方正兰亭黑简体" panose="02000000000000000000" pitchFamily="2" charset="-122"/>
                <a:cs typeface="Huawei Sans" panose="020C0503030203020204" pitchFamily="34" charset="0"/>
              </a:rPr>
              <a:t>Border</a:t>
            </a:r>
            <a:endParaRPr lang="zh-CN" altLang="en-US" sz="1200" b="1"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51" name="文本框 50"/>
          <p:cNvSpPr txBox="1"/>
          <p:nvPr/>
        </p:nvSpPr>
        <p:spPr bwMode="gray">
          <a:xfrm>
            <a:off x="627953" y="3381688"/>
            <a:ext cx="702436" cy="276999"/>
          </a:xfrm>
          <a:prstGeom prst="rect">
            <a:avLst/>
          </a:prstGeom>
          <a:noFill/>
        </p:spPr>
        <p:txBody>
          <a:bodyPr wrap="none" rtlCol="0">
            <a:spAutoFit/>
          </a:bodyPr>
          <a:lstStyle/>
          <a:p>
            <a:pPr algn="r"/>
            <a:r>
              <a:rPr lang="en-US" altLang="zh-CN" sz="1200" b="1" dirty="0" smtClean="0">
                <a:latin typeface="Huawei Sans" panose="020C0503030203020204" pitchFamily="34" charset="0"/>
                <a:ea typeface="方正兰亭黑简体" panose="02000000000000000000" pitchFamily="2" charset="-122"/>
                <a:cs typeface="Huawei Sans" panose="020C0503030203020204" pitchFamily="34" charset="0"/>
              </a:rPr>
              <a:t>Edge_1</a:t>
            </a:r>
            <a:endParaRPr lang="zh-CN" altLang="en-US" sz="1200" b="1"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52" name="文本框 51"/>
          <p:cNvSpPr txBox="1"/>
          <p:nvPr/>
        </p:nvSpPr>
        <p:spPr bwMode="gray">
          <a:xfrm>
            <a:off x="698485" y="4168437"/>
            <a:ext cx="631904" cy="276999"/>
          </a:xfrm>
          <a:prstGeom prst="rect">
            <a:avLst/>
          </a:prstGeom>
          <a:noFill/>
        </p:spPr>
        <p:txBody>
          <a:bodyPr wrap="none" rtlCol="0">
            <a:spAutoFit/>
          </a:bodyPr>
          <a:lstStyle/>
          <a:p>
            <a:pPr algn="r"/>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ACC_1</a:t>
            </a:r>
          </a:p>
        </p:txBody>
      </p:sp>
      <p:pic>
        <p:nvPicPr>
          <p:cNvPr id="53" name="图片 87" descr="汇聚交换机.png"/>
          <p:cNvPicPr>
            <a:picLocks noChangeAspect="1"/>
          </p:cNvPicPr>
          <p:nvPr/>
        </p:nvPicPr>
        <p:blipFill>
          <a:blip r:embed="rId4" cstate="print"/>
          <a:stretch>
            <a:fillRect/>
          </a:stretch>
        </p:blipFill>
        <p:spPr bwMode="gray">
          <a:xfrm>
            <a:off x="1258540" y="3349322"/>
            <a:ext cx="446281" cy="365139"/>
          </a:xfrm>
          <a:prstGeom prst="rect">
            <a:avLst/>
          </a:prstGeom>
        </p:spPr>
      </p:pic>
      <p:pic>
        <p:nvPicPr>
          <p:cNvPr id="54" name="图片 87" descr="汇聚交换机.png"/>
          <p:cNvPicPr>
            <a:picLocks noChangeAspect="1"/>
          </p:cNvPicPr>
          <p:nvPr/>
        </p:nvPicPr>
        <p:blipFill>
          <a:blip r:embed="rId4" cstate="print"/>
          <a:stretch>
            <a:fillRect/>
          </a:stretch>
        </p:blipFill>
        <p:spPr bwMode="gray">
          <a:xfrm>
            <a:off x="3189341" y="3349322"/>
            <a:ext cx="446281" cy="365139"/>
          </a:xfrm>
          <a:prstGeom prst="rect">
            <a:avLst/>
          </a:prstGeom>
        </p:spPr>
      </p:pic>
      <p:sp>
        <p:nvSpPr>
          <p:cNvPr id="55" name="文本框 54"/>
          <p:cNvSpPr txBox="1"/>
          <p:nvPr/>
        </p:nvSpPr>
        <p:spPr bwMode="gray">
          <a:xfrm>
            <a:off x="2619489" y="4168437"/>
            <a:ext cx="631903" cy="276999"/>
          </a:xfrm>
          <a:prstGeom prst="rect">
            <a:avLst/>
          </a:prstGeom>
          <a:noFill/>
        </p:spPr>
        <p:txBody>
          <a:bodyPr wrap="none" rtlCol="0">
            <a:spAutoFit/>
          </a:bodyPr>
          <a:lstStyle/>
          <a:p>
            <a:pPr algn="r"/>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ACC_2</a:t>
            </a:r>
          </a:p>
        </p:txBody>
      </p:sp>
      <p:sp>
        <p:nvSpPr>
          <p:cNvPr id="60" name="文本框 59"/>
          <p:cNvSpPr txBox="1"/>
          <p:nvPr/>
        </p:nvSpPr>
        <p:spPr bwMode="gray">
          <a:xfrm>
            <a:off x="2098733" y="3227799"/>
            <a:ext cx="676788" cy="307777"/>
          </a:xfrm>
          <a:prstGeom prst="rect">
            <a:avLst/>
          </a:prstGeom>
          <a:noFill/>
        </p:spPr>
        <p:txBody>
          <a:bodyPr wrap="none" rtlCol="0">
            <a:spAutoFit/>
          </a:bodyPr>
          <a:lstStyle/>
          <a:p>
            <a:pPr algn="ctr"/>
            <a:r>
              <a:rPr lang="en-US" altLang="zh-CN" sz="1400" dirty="0" smtClean="0">
                <a:solidFill>
                  <a:srgbClr val="30B5C5"/>
                </a:solidFill>
                <a:latin typeface="Huawei Sans" panose="020C0503030203020204" pitchFamily="34" charset="0"/>
                <a:ea typeface="方正兰亭细黑简体" panose="02000000000000000000" pitchFamily="2" charset="-122"/>
                <a:sym typeface="Huawei Sans" panose="020C0503030203020204" pitchFamily="34" charset="0"/>
              </a:rPr>
              <a:t>Fabric</a:t>
            </a:r>
          </a:p>
        </p:txBody>
      </p:sp>
      <p:sp>
        <p:nvSpPr>
          <p:cNvPr id="62" name="文本框 61"/>
          <p:cNvSpPr txBox="1"/>
          <p:nvPr/>
        </p:nvSpPr>
        <p:spPr bwMode="gray">
          <a:xfrm>
            <a:off x="3588956" y="3381688"/>
            <a:ext cx="702436" cy="276999"/>
          </a:xfrm>
          <a:prstGeom prst="rect">
            <a:avLst/>
          </a:prstGeom>
          <a:noFill/>
        </p:spPr>
        <p:txBody>
          <a:bodyPr wrap="none" rtlCol="0">
            <a:spAutoFit/>
          </a:bodyPr>
          <a:lstStyle/>
          <a:p>
            <a:r>
              <a:rPr lang="en-US" altLang="zh-CN" sz="1200" b="1" dirty="0" smtClean="0">
                <a:latin typeface="Huawei Sans" panose="020C0503030203020204" pitchFamily="34" charset="0"/>
                <a:ea typeface="方正兰亭黑简体" panose="02000000000000000000" pitchFamily="2" charset="-122"/>
                <a:cs typeface="Huawei Sans" panose="020C0503030203020204" pitchFamily="34" charset="0"/>
              </a:rPr>
              <a:t>Edge_2</a:t>
            </a:r>
            <a:endParaRPr lang="zh-CN" altLang="en-US" sz="1200" b="1"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63" name="文本框 62"/>
          <p:cNvSpPr txBox="1"/>
          <p:nvPr/>
        </p:nvSpPr>
        <p:spPr bwMode="gray">
          <a:xfrm>
            <a:off x="661367" y="2226977"/>
            <a:ext cx="468398" cy="307777"/>
          </a:xfrm>
          <a:prstGeom prst="rect">
            <a:avLst/>
          </a:prstGeom>
          <a:noFill/>
        </p:spPr>
        <p:txBody>
          <a:bodyPr wrap="none" rtlCol="0">
            <a:spAutoFit/>
          </a:bodyPr>
          <a:lstStyle/>
          <a:p>
            <a:r>
              <a:rPr lang="en-US" altLang="zh-CN" sz="1400" b="1" dirty="0" smtClean="0">
                <a:latin typeface="Huawei Sans" panose="020C0503030203020204" pitchFamily="34" charset="0"/>
                <a:ea typeface="方正兰亭黑简体" panose="02000000000000000000" pitchFamily="2" charset="-122"/>
                <a:cs typeface="Huawei Sans" panose="020C0503030203020204" pitchFamily="34" charset="0"/>
              </a:rPr>
              <a:t>HQ</a:t>
            </a:r>
            <a:endParaRPr lang="zh-CN" altLang="en-US" sz="1400" b="1" dirty="0">
              <a:latin typeface="Huawei Sans" panose="020C0503030203020204" pitchFamily="34" charset="0"/>
              <a:ea typeface="方正兰亭黑简体" panose="02000000000000000000" pitchFamily="2" charset="-122"/>
              <a:cs typeface="Huawei Sans" panose="020C0503030203020204" pitchFamily="34" charset="0"/>
            </a:endParaRPr>
          </a:p>
        </p:txBody>
      </p:sp>
      <p:pic>
        <p:nvPicPr>
          <p:cNvPr id="64" name="图片 76" descr="接入交换机.png"/>
          <p:cNvPicPr>
            <a:picLocks noChangeAspect="1"/>
          </p:cNvPicPr>
          <p:nvPr/>
        </p:nvPicPr>
        <p:blipFill>
          <a:blip r:embed="rId5" cstate="print"/>
          <a:stretch>
            <a:fillRect/>
          </a:stretch>
        </p:blipFill>
        <p:spPr bwMode="gray">
          <a:xfrm>
            <a:off x="1258540" y="4117738"/>
            <a:ext cx="446281" cy="365139"/>
          </a:xfrm>
          <a:prstGeom prst="rect">
            <a:avLst/>
          </a:prstGeom>
        </p:spPr>
      </p:pic>
      <p:pic>
        <p:nvPicPr>
          <p:cNvPr id="65" name="图片 76" descr="接入交换机.png"/>
          <p:cNvPicPr>
            <a:picLocks noChangeAspect="1"/>
          </p:cNvPicPr>
          <p:nvPr/>
        </p:nvPicPr>
        <p:blipFill>
          <a:blip r:embed="rId5" cstate="print"/>
          <a:stretch>
            <a:fillRect/>
          </a:stretch>
        </p:blipFill>
        <p:spPr bwMode="gray">
          <a:xfrm>
            <a:off x="3189341" y="4117738"/>
            <a:ext cx="446281" cy="365139"/>
          </a:xfrm>
          <a:prstGeom prst="rect">
            <a:avLst/>
          </a:prstGeom>
        </p:spPr>
      </p:pic>
      <p:pic>
        <p:nvPicPr>
          <p:cNvPr id="66" name="图片 86" descr="核心交换机.png"/>
          <p:cNvPicPr>
            <a:picLocks noChangeAspect="1"/>
          </p:cNvPicPr>
          <p:nvPr/>
        </p:nvPicPr>
        <p:blipFill>
          <a:blip r:embed="rId6" cstate="print"/>
          <a:stretch>
            <a:fillRect/>
          </a:stretch>
        </p:blipFill>
        <p:spPr bwMode="gray">
          <a:xfrm>
            <a:off x="2238233" y="2472660"/>
            <a:ext cx="446281" cy="365139"/>
          </a:xfrm>
          <a:prstGeom prst="rect">
            <a:avLst/>
          </a:prstGeom>
        </p:spPr>
      </p:pic>
      <p:pic>
        <p:nvPicPr>
          <p:cNvPr id="67" name="图片 66"/>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bwMode="gray">
          <a:xfrm>
            <a:off x="3613791" y="2238059"/>
            <a:ext cx="865097" cy="491769"/>
          </a:xfrm>
          <a:prstGeom prst="rect">
            <a:avLst/>
          </a:prstGeom>
        </p:spPr>
      </p:pic>
      <p:pic>
        <p:nvPicPr>
          <p:cNvPr id="68" name="图片 105" descr="AP.png"/>
          <p:cNvPicPr>
            <a:picLocks noChangeAspect="1"/>
          </p:cNvPicPr>
          <p:nvPr/>
        </p:nvPicPr>
        <p:blipFill>
          <a:blip r:embed="rId8" cstate="print"/>
          <a:stretch>
            <a:fillRect/>
          </a:stretch>
        </p:blipFill>
        <p:spPr bwMode="gray">
          <a:xfrm>
            <a:off x="3869073" y="4149423"/>
            <a:ext cx="368827" cy="301768"/>
          </a:xfrm>
          <a:prstGeom prst="rect">
            <a:avLst/>
          </a:prstGeom>
        </p:spPr>
      </p:pic>
      <p:cxnSp>
        <p:nvCxnSpPr>
          <p:cNvPr id="69" name="Straight Connector 166"/>
          <p:cNvCxnSpPr>
            <a:stCxn id="65" idx="3"/>
            <a:endCxn id="68" idx="1"/>
          </p:cNvCxnSpPr>
          <p:nvPr/>
        </p:nvCxnSpPr>
        <p:spPr bwMode="gray">
          <a:xfrm flipV="1">
            <a:off x="3635622" y="4300307"/>
            <a:ext cx="233451" cy="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70" name="组合 758"/>
          <p:cNvGrpSpPr/>
          <p:nvPr/>
        </p:nvGrpSpPr>
        <p:grpSpPr bwMode="gray">
          <a:xfrm flipV="1">
            <a:off x="3949987" y="4475964"/>
            <a:ext cx="225699" cy="191129"/>
            <a:chOff x="7440613" y="4868863"/>
            <a:chExt cx="1019175" cy="828675"/>
          </a:xfrm>
          <a:solidFill>
            <a:schemeClr val="bg1">
              <a:lumMod val="50000"/>
            </a:schemeClr>
          </a:solidFill>
        </p:grpSpPr>
        <p:sp>
          <p:nvSpPr>
            <p:cNvPr id="71" name="Freeform 15"/>
            <p:cNvSpPr>
              <a:spLocks/>
            </p:cNvSpPr>
            <p:nvPr/>
          </p:nvSpPr>
          <p:spPr bwMode="gray">
            <a:xfrm>
              <a:off x="7832726" y="5462588"/>
              <a:ext cx="234950" cy="234950"/>
            </a:xfrm>
            <a:custGeom>
              <a:avLst/>
              <a:gdLst/>
              <a:ahLst/>
              <a:cxnLst>
                <a:cxn ang="0">
                  <a:pos x="3281" y="680"/>
                </a:cxn>
                <a:cxn ang="0">
                  <a:pos x="3439" y="907"/>
                </a:cxn>
                <a:cxn ang="0">
                  <a:pos x="3559" y="1151"/>
                </a:cxn>
                <a:cxn ang="0">
                  <a:pos x="3642" y="1406"/>
                </a:cxn>
                <a:cxn ang="0">
                  <a:pos x="3686" y="1670"/>
                </a:cxn>
                <a:cxn ang="0">
                  <a:pos x="3693" y="1936"/>
                </a:cxn>
                <a:cxn ang="0">
                  <a:pos x="3661" y="2201"/>
                </a:cxn>
                <a:cxn ang="0">
                  <a:pos x="3591" y="2460"/>
                </a:cxn>
                <a:cxn ang="0">
                  <a:pos x="3484" y="2708"/>
                </a:cxn>
                <a:cxn ang="0">
                  <a:pos x="3339" y="2941"/>
                </a:cxn>
                <a:cxn ang="0">
                  <a:pos x="3155" y="3155"/>
                </a:cxn>
                <a:cxn ang="0">
                  <a:pos x="2941" y="3339"/>
                </a:cxn>
                <a:cxn ang="0">
                  <a:pos x="2708" y="3484"/>
                </a:cxn>
                <a:cxn ang="0">
                  <a:pos x="2460" y="3592"/>
                </a:cxn>
                <a:cxn ang="0">
                  <a:pos x="2201" y="3661"/>
                </a:cxn>
                <a:cxn ang="0">
                  <a:pos x="1936" y="3693"/>
                </a:cxn>
                <a:cxn ang="0">
                  <a:pos x="1670" y="3687"/>
                </a:cxn>
                <a:cxn ang="0">
                  <a:pos x="1408" y="3643"/>
                </a:cxn>
                <a:cxn ang="0">
                  <a:pos x="1152" y="3561"/>
                </a:cxn>
                <a:cxn ang="0">
                  <a:pos x="908" y="3440"/>
                </a:cxn>
                <a:cxn ang="0">
                  <a:pos x="680" y="3282"/>
                </a:cxn>
                <a:cxn ang="0">
                  <a:pos x="475" y="3086"/>
                </a:cxn>
                <a:cxn ang="0">
                  <a:pos x="304" y="2866"/>
                </a:cxn>
                <a:cxn ang="0">
                  <a:pos x="172" y="2627"/>
                </a:cxn>
                <a:cxn ang="0">
                  <a:pos x="76" y="2374"/>
                </a:cxn>
                <a:cxn ang="0">
                  <a:pos x="19" y="2114"/>
                </a:cxn>
                <a:cxn ang="0">
                  <a:pos x="0" y="1848"/>
                </a:cxn>
                <a:cxn ang="0">
                  <a:pos x="19" y="1582"/>
                </a:cxn>
                <a:cxn ang="0">
                  <a:pos x="76" y="1321"/>
                </a:cxn>
                <a:cxn ang="0">
                  <a:pos x="171" y="1069"/>
                </a:cxn>
                <a:cxn ang="0">
                  <a:pos x="304" y="830"/>
                </a:cxn>
                <a:cxn ang="0">
                  <a:pos x="475" y="609"/>
                </a:cxn>
                <a:cxn ang="0">
                  <a:pos x="680" y="414"/>
                </a:cxn>
                <a:cxn ang="0">
                  <a:pos x="907" y="255"/>
                </a:cxn>
                <a:cxn ang="0">
                  <a:pos x="1151" y="135"/>
                </a:cxn>
                <a:cxn ang="0">
                  <a:pos x="1407" y="52"/>
                </a:cxn>
                <a:cxn ang="0">
                  <a:pos x="1669" y="8"/>
                </a:cxn>
                <a:cxn ang="0">
                  <a:pos x="1936" y="2"/>
                </a:cxn>
                <a:cxn ang="0">
                  <a:pos x="2201" y="33"/>
                </a:cxn>
                <a:cxn ang="0">
                  <a:pos x="2459" y="104"/>
                </a:cxn>
                <a:cxn ang="0">
                  <a:pos x="2708" y="211"/>
                </a:cxn>
                <a:cxn ang="0">
                  <a:pos x="2940" y="356"/>
                </a:cxn>
                <a:cxn ang="0">
                  <a:pos x="3154" y="539"/>
                </a:cxn>
              </a:cxnLst>
              <a:rect l="0" t="0" r="r" b="b"/>
              <a:pathLst>
                <a:path w="3695" h="3695">
                  <a:moveTo>
                    <a:pt x="3154" y="539"/>
                  </a:moveTo>
                  <a:lnTo>
                    <a:pt x="3220" y="608"/>
                  </a:lnTo>
                  <a:lnTo>
                    <a:pt x="3281" y="680"/>
                  </a:lnTo>
                  <a:lnTo>
                    <a:pt x="3338" y="754"/>
                  </a:lnTo>
                  <a:lnTo>
                    <a:pt x="3391" y="829"/>
                  </a:lnTo>
                  <a:lnTo>
                    <a:pt x="3439" y="907"/>
                  </a:lnTo>
                  <a:lnTo>
                    <a:pt x="3483" y="987"/>
                  </a:lnTo>
                  <a:lnTo>
                    <a:pt x="3523" y="1068"/>
                  </a:lnTo>
                  <a:lnTo>
                    <a:pt x="3559" y="1151"/>
                  </a:lnTo>
                  <a:lnTo>
                    <a:pt x="3591" y="1235"/>
                  </a:lnTo>
                  <a:lnTo>
                    <a:pt x="3619" y="1320"/>
                  </a:lnTo>
                  <a:lnTo>
                    <a:pt x="3642" y="1406"/>
                  </a:lnTo>
                  <a:lnTo>
                    <a:pt x="3661" y="1493"/>
                  </a:lnTo>
                  <a:lnTo>
                    <a:pt x="3676" y="1582"/>
                  </a:lnTo>
                  <a:lnTo>
                    <a:pt x="3686" y="1670"/>
                  </a:lnTo>
                  <a:lnTo>
                    <a:pt x="3693" y="1758"/>
                  </a:lnTo>
                  <a:lnTo>
                    <a:pt x="3695" y="1847"/>
                  </a:lnTo>
                  <a:lnTo>
                    <a:pt x="3693" y="1936"/>
                  </a:lnTo>
                  <a:lnTo>
                    <a:pt x="3686" y="2024"/>
                  </a:lnTo>
                  <a:lnTo>
                    <a:pt x="3676" y="2113"/>
                  </a:lnTo>
                  <a:lnTo>
                    <a:pt x="3661" y="2201"/>
                  </a:lnTo>
                  <a:lnTo>
                    <a:pt x="3642" y="2288"/>
                  </a:lnTo>
                  <a:lnTo>
                    <a:pt x="3619" y="2374"/>
                  </a:lnTo>
                  <a:lnTo>
                    <a:pt x="3591" y="2460"/>
                  </a:lnTo>
                  <a:lnTo>
                    <a:pt x="3559" y="2544"/>
                  </a:lnTo>
                  <a:lnTo>
                    <a:pt x="3524" y="2626"/>
                  </a:lnTo>
                  <a:lnTo>
                    <a:pt x="3484" y="2708"/>
                  </a:lnTo>
                  <a:lnTo>
                    <a:pt x="3439" y="2788"/>
                  </a:lnTo>
                  <a:lnTo>
                    <a:pt x="3391" y="2865"/>
                  </a:lnTo>
                  <a:lnTo>
                    <a:pt x="3339" y="2941"/>
                  </a:lnTo>
                  <a:lnTo>
                    <a:pt x="3281" y="3015"/>
                  </a:lnTo>
                  <a:lnTo>
                    <a:pt x="3220" y="3086"/>
                  </a:lnTo>
                  <a:lnTo>
                    <a:pt x="3155" y="3155"/>
                  </a:lnTo>
                  <a:lnTo>
                    <a:pt x="3086" y="3220"/>
                  </a:lnTo>
                  <a:lnTo>
                    <a:pt x="3015" y="3282"/>
                  </a:lnTo>
                  <a:lnTo>
                    <a:pt x="2941" y="3339"/>
                  </a:lnTo>
                  <a:lnTo>
                    <a:pt x="2865" y="3391"/>
                  </a:lnTo>
                  <a:lnTo>
                    <a:pt x="2788" y="3440"/>
                  </a:lnTo>
                  <a:lnTo>
                    <a:pt x="2708" y="3484"/>
                  </a:lnTo>
                  <a:lnTo>
                    <a:pt x="2626" y="3524"/>
                  </a:lnTo>
                  <a:lnTo>
                    <a:pt x="2544" y="3560"/>
                  </a:lnTo>
                  <a:lnTo>
                    <a:pt x="2460" y="3592"/>
                  </a:lnTo>
                  <a:lnTo>
                    <a:pt x="2375" y="3619"/>
                  </a:lnTo>
                  <a:lnTo>
                    <a:pt x="2288" y="3643"/>
                  </a:lnTo>
                  <a:lnTo>
                    <a:pt x="2201" y="3661"/>
                  </a:lnTo>
                  <a:lnTo>
                    <a:pt x="2114" y="3676"/>
                  </a:lnTo>
                  <a:lnTo>
                    <a:pt x="2026" y="3687"/>
                  </a:lnTo>
                  <a:lnTo>
                    <a:pt x="1936" y="3693"/>
                  </a:lnTo>
                  <a:lnTo>
                    <a:pt x="1848" y="3695"/>
                  </a:lnTo>
                  <a:lnTo>
                    <a:pt x="1759" y="3693"/>
                  </a:lnTo>
                  <a:lnTo>
                    <a:pt x="1670" y="3687"/>
                  </a:lnTo>
                  <a:lnTo>
                    <a:pt x="1582" y="3676"/>
                  </a:lnTo>
                  <a:lnTo>
                    <a:pt x="1495" y="3662"/>
                  </a:lnTo>
                  <a:lnTo>
                    <a:pt x="1408" y="3643"/>
                  </a:lnTo>
                  <a:lnTo>
                    <a:pt x="1321" y="3620"/>
                  </a:lnTo>
                  <a:lnTo>
                    <a:pt x="1236" y="3592"/>
                  </a:lnTo>
                  <a:lnTo>
                    <a:pt x="1152" y="3561"/>
                  </a:lnTo>
                  <a:lnTo>
                    <a:pt x="1069" y="3524"/>
                  </a:lnTo>
                  <a:lnTo>
                    <a:pt x="987" y="3484"/>
                  </a:lnTo>
                  <a:lnTo>
                    <a:pt x="908" y="3440"/>
                  </a:lnTo>
                  <a:lnTo>
                    <a:pt x="830" y="3391"/>
                  </a:lnTo>
                  <a:lnTo>
                    <a:pt x="755" y="3339"/>
                  </a:lnTo>
                  <a:lnTo>
                    <a:pt x="680" y="3282"/>
                  </a:lnTo>
                  <a:lnTo>
                    <a:pt x="609" y="3220"/>
                  </a:lnTo>
                  <a:lnTo>
                    <a:pt x="541" y="3155"/>
                  </a:lnTo>
                  <a:lnTo>
                    <a:pt x="475" y="3086"/>
                  </a:lnTo>
                  <a:lnTo>
                    <a:pt x="414" y="3015"/>
                  </a:lnTo>
                  <a:lnTo>
                    <a:pt x="357" y="2941"/>
                  </a:lnTo>
                  <a:lnTo>
                    <a:pt x="304" y="2866"/>
                  </a:lnTo>
                  <a:lnTo>
                    <a:pt x="256" y="2788"/>
                  </a:lnTo>
                  <a:lnTo>
                    <a:pt x="212" y="2709"/>
                  </a:lnTo>
                  <a:lnTo>
                    <a:pt x="172" y="2627"/>
                  </a:lnTo>
                  <a:lnTo>
                    <a:pt x="136" y="2544"/>
                  </a:lnTo>
                  <a:lnTo>
                    <a:pt x="104" y="2460"/>
                  </a:lnTo>
                  <a:lnTo>
                    <a:pt x="76" y="2374"/>
                  </a:lnTo>
                  <a:lnTo>
                    <a:pt x="53" y="2288"/>
                  </a:lnTo>
                  <a:lnTo>
                    <a:pt x="34" y="2201"/>
                  </a:lnTo>
                  <a:lnTo>
                    <a:pt x="19" y="2114"/>
                  </a:lnTo>
                  <a:lnTo>
                    <a:pt x="9" y="2025"/>
                  </a:lnTo>
                  <a:lnTo>
                    <a:pt x="2" y="1937"/>
                  </a:lnTo>
                  <a:lnTo>
                    <a:pt x="0" y="1848"/>
                  </a:lnTo>
                  <a:lnTo>
                    <a:pt x="2" y="1759"/>
                  </a:lnTo>
                  <a:lnTo>
                    <a:pt x="9" y="1670"/>
                  </a:lnTo>
                  <a:lnTo>
                    <a:pt x="19" y="1582"/>
                  </a:lnTo>
                  <a:lnTo>
                    <a:pt x="34" y="1494"/>
                  </a:lnTo>
                  <a:lnTo>
                    <a:pt x="53" y="1407"/>
                  </a:lnTo>
                  <a:lnTo>
                    <a:pt x="76" y="1321"/>
                  </a:lnTo>
                  <a:lnTo>
                    <a:pt x="104" y="1236"/>
                  </a:lnTo>
                  <a:lnTo>
                    <a:pt x="136" y="1151"/>
                  </a:lnTo>
                  <a:lnTo>
                    <a:pt x="171" y="1069"/>
                  </a:lnTo>
                  <a:lnTo>
                    <a:pt x="211" y="988"/>
                  </a:lnTo>
                  <a:lnTo>
                    <a:pt x="255" y="907"/>
                  </a:lnTo>
                  <a:lnTo>
                    <a:pt x="304" y="830"/>
                  </a:lnTo>
                  <a:lnTo>
                    <a:pt x="356" y="754"/>
                  </a:lnTo>
                  <a:lnTo>
                    <a:pt x="414" y="681"/>
                  </a:lnTo>
                  <a:lnTo>
                    <a:pt x="475" y="609"/>
                  </a:lnTo>
                  <a:lnTo>
                    <a:pt x="540" y="540"/>
                  </a:lnTo>
                  <a:lnTo>
                    <a:pt x="609" y="475"/>
                  </a:lnTo>
                  <a:lnTo>
                    <a:pt x="680" y="414"/>
                  </a:lnTo>
                  <a:lnTo>
                    <a:pt x="754" y="356"/>
                  </a:lnTo>
                  <a:lnTo>
                    <a:pt x="830" y="303"/>
                  </a:lnTo>
                  <a:lnTo>
                    <a:pt x="907" y="255"/>
                  </a:lnTo>
                  <a:lnTo>
                    <a:pt x="987" y="211"/>
                  </a:lnTo>
                  <a:lnTo>
                    <a:pt x="1069" y="171"/>
                  </a:lnTo>
                  <a:lnTo>
                    <a:pt x="1151" y="135"/>
                  </a:lnTo>
                  <a:lnTo>
                    <a:pt x="1235" y="104"/>
                  </a:lnTo>
                  <a:lnTo>
                    <a:pt x="1320" y="76"/>
                  </a:lnTo>
                  <a:lnTo>
                    <a:pt x="1407" y="52"/>
                  </a:lnTo>
                  <a:lnTo>
                    <a:pt x="1494" y="33"/>
                  </a:lnTo>
                  <a:lnTo>
                    <a:pt x="1581" y="19"/>
                  </a:lnTo>
                  <a:lnTo>
                    <a:pt x="1669" y="8"/>
                  </a:lnTo>
                  <a:lnTo>
                    <a:pt x="1759" y="2"/>
                  </a:lnTo>
                  <a:lnTo>
                    <a:pt x="1847" y="0"/>
                  </a:lnTo>
                  <a:lnTo>
                    <a:pt x="1936" y="2"/>
                  </a:lnTo>
                  <a:lnTo>
                    <a:pt x="2025" y="8"/>
                  </a:lnTo>
                  <a:lnTo>
                    <a:pt x="2113" y="19"/>
                  </a:lnTo>
                  <a:lnTo>
                    <a:pt x="2201" y="33"/>
                  </a:lnTo>
                  <a:lnTo>
                    <a:pt x="2287" y="52"/>
                  </a:lnTo>
                  <a:lnTo>
                    <a:pt x="2374" y="76"/>
                  </a:lnTo>
                  <a:lnTo>
                    <a:pt x="2459" y="104"/>
                  </a:lnTo>
                  <a:lnTo>
                    <a:pt x="2543" y="135"/>
                  </a:lnTo>
                  <a:lnTo>
                    <a:pt x="2626" y="171"/>
                  </a:lnTo>
                  <a:lnTo>
                    <a:pt x="2708" y="211"/>
                  </a:lnTo>
                  <a:lnTo>
                    <a:pt x="2787" y="255"/>
                  </a:lnTo>
                  <a:lnTo>
                    <a:pt x="2865" y="303"/>
                  </a:lnTo>
                  <a:lnTo>
                    <a:pt x="2940" y="356"/>
                  </a:lnTo>
                  <a:lnTo>
                    <a:pt x="3015" y="413"/>
                  </a:lnTo>
                  <a:lnTo>
                    <a:pt x="3086" y="474"/>
                  </a:lnTo>
                  <a:lnTo>
                    <a:pt x="3154" y="539"/>
                  </a:lnTo>
                  <a:close/>
                </a:path>
              </a:pathLst>
            </a:custGeom>
            <a:grpFill/>
            <a:ln w="9525">
              <a:noFill/>
              <a:round/>
              <a:headEnd/>
              <a:tailEnd/>
            </a:ln>
          </p:spPr>
          <p:txBody>
            <a:bodyPr/>
            <a:lstStyle/>
            <a:p>
              <a:pPr algn="ctr" eaLnBrk="1" fontAlgn="auto" hangingPunct="1">
                <a:spcBef>
                  <a:spcPts val="0"/>
                </a:spcBef>
                <a:spcAft>
                  <a:spcPts val="0"/>
                </a:spcAft>
                <a:defRPr/>
              </a:pPr>
              <a:endParaRPr lang="zh-CN" altLang="en-US" sz="1200" ker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2" name="Freeform 16"/>
            <p:cNvSpPr>
              <a:spLocks noEditPoints="1"/>
            </p:cNvSpPr>
            <p:nvPr/>
          </p:nvSpPr>
          <p:spPr bwMode="gray">
            <a:xfrm>
              <a:off x="7440613" y="4868863"/>
              <a:ext cx="1019175" cy="544513"/>
            </a:xfrm>
            <a:custGeom>
              <a:avLst/>
              <a:gdLst/>
              <a:ahLst/>
              <a:cxnLst>
                <a:cxn ang="0">
                  <a:pos x="16025" y="3351"/>
                </a:cxn>
                <a:cxn ang="0">
                  <a:pos x="14975" y="4351"/>
                </a:cxn>
                <a:cxn ang="0">
                  <a:pos x="14184" y="3632"/>
                </a:cxn>
                <a:cxn ang="0">
                  <a:pos x="12564" y="2563"/>
                </a:cxn>
                <a:cxn ang="0">
                  <a:pos x="10805" y="1850"/>
                </a:cxn>
                <a:cxn ang="0">
                  <a:pos x="8960" y="1494"/>
                </a:cxn>
                <a:cxn ang="0">
                  <a:pos x="7087" y="1494"/>
                </a:cxn>
                <a:cxn ang="0">
                  <a:pos x="5243" y="1851"/>
                </a:cxn>
                <a:cxn ang="0">
                  <a:pos x="3483" y="2564"/>
                </a:cxn>
                <a:cxn ang="0">
                  <a:pos x="1864" y="3634"/>
                </a:cxn>
                <a:cxn ang="0">
                  <a:pos x="1075" y="4353"/>
                </a:cxn>
                <a:cxn ang="0">
                  <a:pos x="24" y="3353"/>
                </a:cxn>
                <a:cxn ang="0">
                  <a:pos x="516" y="2880"/>
                </a:cxn>
                <a:cxn ang="0">
                  <a:pos x="2325" y="1549"/>
                </a:cxn>
                <a:cxn ang="0">
                  <a:pos x="4312" y="627"/>
                </a:cxn>
                <a:cxn ang="0">
                  <a:pos x="6413" y="115"/>
                </a:cxn>
                <a:cxn ang="0">
                  <a:pos x="8562" y="13"/>
                </a:cxn>
                <a:cxn ang="0">
                  <a:pos x="10694" y="319"/>
                </a:cxn>
                <a:cxn ang="0">
                  <a:pos x="12747" y="1036"/>
                </a:cxn>
                <a:cxn ang="0">
                  <a:pos x="14654" y="2160"/>
                </a:cxn>
                <a:cxn ang="0">
                  <a:pos x="14055" y="5373"/>
                </a:cxn>
                <a:cxn ang="0">
                  <a:pos x="12871" y="6404"/>
                </a:cxn>
                <a:cxn ang="0">
                  <a:pos x="12058" y="5702"/>
                </a:cxn>
                <a:cxn ang="0">
                  <a:pos x="10898" y="5017"/>
                </a:cxn>
                <a:cxn ang="0">
                  <a:pos x="9649" y="4582"/>
                </a:cxn>
                <a:cxn ang="0">
                  <a:pos x="8352" y="4395"/>
                </a:cxn>
                <a:cxn ang="0">
                  <a:pos x="7044" y="4457"/>
                </a:cxn>
                <a:cxn ang="0">
                  <a:pos x="5767" y="4769"/>
                </a:cxn>
                <a:cxn ang="0">
                  <a:pos x="4558" y="5329"/>
                </a:cxn>
                <a:cxn ang="0">
                  <a:pos x="3457" y="6139"/>
                </a:cxn>
                <a:cxn ang="0">
                  <a:pos x="3129" y="6456"/>
                </a:cxn>
                <a:cxn ang="0">
                  <a:pos x="2045" y="5322"/>
                </a:cxn>
                <a:cxn ang="0">
                  <a:pos x="2731" y="4697"/>
                </a:cxn>
                <a:cxn ang="0">
                  <a:pos x="4122" y="3779"/>
                </a:cxn>
                <a:cxn ang="0">
                  <a:pos x="5635" y="3166"/>
                </a:cxn>
                <a:cxn ang="0">
                  <a:pos x="7219" y="2859"/>
                </a:cxn>
                <a:cxn ang="0">
                  <a:pos x="8829" y="2859"/>
                </a:cxn>
                <a:cxn ang="0">
                  <a:pos x="10413" y="3165"/>
                </a:cxn>
                <a:cxn ang="0">
                  <a:pos x="11926" y="3777"/>
                </a:cxn>
                <a:cxn ang="0">
                  <a:pos x="13318" y="4696"/>
                </a:cxn>
                <a:cxn ang="0">
                  <a:pos x="14005" y="5321"/>
                </a:cxn>
                <a:cxn ang="0">
                  <a:pos x="10854" y="8576"/>
                </a:cxn>
                <a:cxn ang="0">
                  <a:pos x="10754" y="8472"/>
                </a:cxn>
                <a:cxn ang="0">
                  <a:pos x="10150" y="7980"/>
                </a:cxn>
                <a:cxn ang="0">
                  <a:pos x="9479" y="7627"/>
                </a:cxn>
                <a:cxn ang="0">
                  <a:pos x="8762" y="7416"/>
                </a:cxn>
                <a:cxn ang="0">
                  <a:pos x="8025" y="7345"/>
                </a:cxn>
                <a:cxn ang="0">
                  <a:pos x="7287" y="7416"/>
                </a:cxn>
                <a:cxn ang="0">
                  <a:pos x="6571" y="7627"/>
                </a:cxn>
                <a:cxn ang="0">
                  <a:pos x="5900" y="7980"/>
                </a:cxn>
                <a:cxn ang="0">
                  <a:pos x="5297" y="8473"/>
                </a:cxn>
                <a:cxn ang="0">
                  <a:pos x="5198" y="8576"/>
                </a:cxn>
                <a:cxn ang="0">
                  <a:pos x="4197" y="7425"/>
                </a:cxn>
                <a:cxn ang="0">
                  <a:pos x="4843" y="6865"/>
                </a:cxn>
                <a:cxn ang="0">
                  <a:pos x="5758" y="6325"/>
                </a:cxn>
                <a:cxn ang="0">
                  <a:pos x="6743" y="5981"/>
                </a:cxn>
                <a:cxn ang="0">
                  <a:pos x="7766" y="5833"/>
                </a:cxn>
                <a:cxn ang="0">
                  <a:pos x="8797" y="5882"/>
                </a:cxn>
                <a:cxn ang="0">
                  <a:pos x="9806" y="6127"/>
                </a:cxn>
                <a:cxn ang="0">
                  <a:pos x="10760" y="6570"/>
                </a:cxn>
                <a:cxn ang="0">
                  <a:pos x="11627" y="7208"/>
                </a:cxn>
                <a:cxn ang="0">
                  <a:pos x="11903" y="7475"/>
                </a:cxn>
              </a:cxnLst>
              <a:rect l="0" t="0" r="r" b="b"/>
              <a:pathLst>
                <a:path w="16050" h="8576">
                  <a:moveTo>
                    <a:pt x="15950" y="3273"/>
                  </a:moveTo>
                  <a:lnTo>
                    <a:pt x="15975" y="3299"/>
                  </a:lnTo>
                  <a:lnTo>
                    <a:pt x="16000" y="3324"/>
                  </a:lnTo>
                  <a:lnTo>
                    <a:pt x="16025" y="3351"/>
                  </a:lnTo>
                  <a:lnTo>
                    <a:pt x="16050" y="3377"/>
                  </a:lnTo>
                  <a:lnTo>
                    <a:pt x="15025" y="4402"/>
                  </a:lnTo>
                  <a:lnTo>
                    <a:pt x="15000" y="4377"/>
                  </a:lnTo>
                  <a:lnTo>
                    <a:pt x="14975" y="4351"/>
                  </a:lnTo>
                  <a:lnTo>
                    <a:pt x="14950" y="4325"/>
                  </a:lnTo>
                  <a:lnTo>
                    <a:pt x="14923" y="4300"/>
                  </a:lnTo>
                  <a:lnTo>
                    <a:pt x="14560" y="3955"/>
                  </a:lnTo>
                  <a:lnTo>
                    <a:pt x="14184" y="3632"/>
                  </a:lnTo>
                  <a:lnTo>
                    <a:pt x="13796" y="3330"/>
                  </a:lnTo>
                  <a:lnTo>
                    <a:pt x="13396" y="3053"/>
                  </a:lnTo>
                  <a:lnTo>
                    <a:pt x="12984" y="2797"/>
                  </a:lnTo>
                  <a:lnTo>
                    <a:pt x="12564" y="2563"/>
                  </a:lnTo>
                  <a:lnTo>
                    <a:pt x="12136" y="2351"/>
                  </a:lnTo>
                  <a:lnTo>
                    <a:pt x="11698" y="2161"/>
                  </a:lnTo>
                  <a:lnTo>
                    <a:pt x="11254" y="1995"/>
                  </a:lnTo>
                  <a:lnTo>
                    <a:pt x="10805" y="1850"/>
                  </a:lnTo>
                  <a:lnTo>
                    <a:pt x="10349" y="1728"/>
                  </a:lnTo>
                  <a:lnTo>
                    <a:pt x="9889" y="1628"/>
                  </a:lnTo>
                  <a:lnTo>
                    <a:pt x="9426" y="1549"/>
                  </a:lnTo>
                  <a:lnTo>
                    <a:pt x="8960" y="1494"/>
                  </a:lnTo>
                  <a:lnTo>
                    <a:pt x="8492" y="1461"/>
                  </a:lnTo>
                  <a:lnTo>
                    <a:pt x="8024" y="1450"/>
                  </a:lnTo>
                  <a:lnTo>
                    <a:pt x="7556" y="1461"/>
                  </a:lnTo>
                  <a:lnTo>
                    <a:pt x="7087" y="1494"/>
                  </a:lnTo>
                  <a:lnTo>
                    <a:pt x="6622" y="1550"/>
                  </a:lnTo>
                  <a:lnTo>
                    <a:pt x="6158" y="1629"/>
                  </a:lnTo>
                  <a:lnTo>
                    <a:pt x="5699" y="1729"/>
                  </a:lnTo>
                  <a:lnTo>
                    <a:pt x="5243" y="1851"/>
                  </a:lnTo>
                  <a:lnTo>
                    <a:pt x="4793" y="1996"/>
                  </a:lnTo>
                  <a:lnTo>
                    <a:pt x="4350" y="2163"/>
                  </a:lnTo>
                  <a:lnTo>
                    <a:pt x="3912" y="2352"/>
                  </a:lnTo>
                  <a:lnTo>
                    <a:pt x="3483" y="2564"/>
                  </a:lnTo>
                  <a:lnTo>
                    <a:pt x="3064" y="2799"/>
                  </a:lnTo>
                  <a:lnTo>
                    <a:pt x="2652" y="3055"/>
                  </a:lnTo>
                  <a:lnTo>
                    <a:pt x="2253" y="3332"/>
                  </a:lnTo>
                  <a:lnTo>
                    <a:pt x="1864" y="3634"/>
                  </a:lnTo>
                  <a:lnTo>
                    <a:pt x="1488" y="3957"/>
                  </a:lnTo>
                  <a:lnTo>
                    <a:pt x="1125" y="4302"/>
                  </a:lnTo>
                  <a:lnTo>
                    <a:pt x="1099" y="4327"/>
                  </a:lnTo>
                  <a:lnTo>
                    <a:pt x="1075" y="4353"/>
                  </a:lnTo>
                  <a:lnTo>
                    <a:pt x="1050" y="4378"/>
                  </a:lnTo>
                  <a:lnTo>
                    <a:pt x="1025" y="4404"/>
                  </a:lnTo>
                  <a:lnTo>
                    <a:pt x="0" y="3378"/>
                  </a:lnTo>
                  <a:lnTo>
                    <a:pt x="24" y="3353"/>
                  </a:lnTo>
                  <a:lnTo>
                    <a:pt x="49" y="3326"/>
                  </a:lnTo>
                  <a:lnTo>
                    <a:pt x="74" y="3301"/>
                  </a:lnTo>
                  <a:lnTo>
                    <a:pt x="99" y="3276"/>
                  </a:lnTo>
                  <a:lnTo>
                    <a:pt x="516" y="2880"/>
                  </a:lnTo>
                  <a:lnTo>
                    <a:pt x="948" y="2509"/>
                  </a:lnTo>
                  <a:lnTo>
                    <a:pt x="1394" y="2162"/>
                  </a:lnTo>
                  <a:lnTo>
                    <a:pt x="1854" y="1843"/>
                  </a:lnTo>
                  <a:lnTo>
                    <a:pt x="2325" y="1549"/>
                  </a:lnTo>
                  <a:lnTo>
                    <a:pt x="2808" y="1280"/>
                  </a:lnTo>
                  <a:lnTo>
                    <a:pt x="3301" y="1037"/>
                  </a:lnTo>
                  <a:lnTo>
                    <a:pt x="3803" y="820"/>
                  </a:lnTo>
                  <a:lnTo>
                    <a:pt x="4312" y="627"/>
                  </a:lnTo>
                  <a:lnTo>
                    <a:pt x="4830" y="461"/>
                  </a:lnTo>
                  <a:lnTo>
                    <a:pt x="5353" y="320"/>
                  </a:lnTo>
                  <a:lnTo>
                    <a:pt x="5881" y="205"/>
                  </a:lnTo>
                  <a:lnTo>
                    <a:pt x="6413" y="115"/>
                  </a:lnTo>
                  <a:lnTo>
                    <a:pt x="6949" y="51"/>
                  </a:lnTo>
                  <a:lnTo>
                    <a:pt x="7485" y="13"/>
                  </a:lnTo>
                  <a:lnTo>
                    <a:pt x="8024" y="0"/>
                  </a:lnTo>
                  <a:lnTo>
                    <a:pt x="8562" y="13"/>
                  </a:lnTo>
                  <a:lnTo>
                    <a:pt x="9099" y="51"/>
                  </a:lnTo>
                  <a:lnTo>
                    <a:pt x="9634" y="115"/>
                  </a:lnTo>
                  <a:lnTo>
                    <a:pt x="10167" y="205"/>
                  </a:lnTo>
                  <a:lnTo>
                    <a:pt x="10694" y="319"/>
                  </a:lnTo>
                  <a:lnTo>
                    <a:pt x="11218" y="460"/>
                  </a:lnTo>
                  <a:lnTo>
                    <a:pt x="11735" y="626"/>
                  </a:lnTo>
                  <a:lnTo>
                    <a:pt x="12245" y="818"/>
                  </a:lnTo>
                  <a:lnTo>
                    <a:pt x="12747" y="1036"/>
                  </a:lnTo>
                  <a:lnTo>
                    <a:pt x="13239" y="1278"/>
                  </a:lnTo>
                  <a:lnTo>
                    <a:pt x="13722" y="1547"/>
                  </a:lnTo>
                  <a:lnTo>
                    <a:pt x="14194" y="1841"/>
                  </a:lnTo>
                  <a:lnTo>
                    <a:pt x="14654" y="2160"/>
                  </a:lnTo>
                  <a:lnTo>
                    <a:pt x="15100" y="2506"/>
                  </a:lnTo>
                  <a:lnTo>
                    <a:pt x="15532" y="2877"/>
                  </a:lnTo>
                  <a:lnTo>
                    <a:pt x="15950" y="3273"/>
                  </a:lnTo>
                  <a:close/>
                  <a:moveTo>
                    <a:pt x="14055" y="5373"/>
                  </a:moveTo>
                  <a:lnTo>
                    <a:pt x="12946" y="6481"/>
                  </a:lnTo>
                  <a:lnTo>
                    <a:pt x="12921" y="6456"/>
                  </a:lnTo>
                  <a:lnTo>
                    <a:pt x="12897" y="6430"/>
                  </a:lnTo>
                  <a:lnTo>
                    <a:pt x="12871" y="6404"/>
                  </a:lnTo>
                  <a:lnTo>
                    <a:pt x="12846" y="6379"/>
                  </a:lnTo>
                  <a:lnTo>
                    <a:pt x="12592" y="6137"/>
                  </a:lnTo>
                  <a:lnTo>
                    <a:pt x="12329" y="5912"/>
                  </a:lnTo>
                  <a:lnTo>
                    <a:pt x="12058" y="5702"/>
                  </a:lnTo>
                  <a:lnTo>
                    <a:pt x="11778" y="5507"/>
                  </a:lnTo>
                  <a:lnTo>
                    <a:pt x="11491" y="5328"/>
                  </a:lnTo>
                  <a:lnTo>
                    <a:pt x="11198" y="5165"/>
                  </a:lnTo>
                  <a:lnTo>
                    <a:pt x="10898" y="5017"/>
                  </a:lnTo>
                  <a:lnTo>
                    <a:pt x="10592" y="4885"/>
                  </a:lnTo>
                  <a:lnTo>
                    <a:pt x="10282" y="4768"/>
                  </a:lnTo>
                  <a:lnTo>
                    <a:pt x="9967" y="4667"/>
                  </a:lnTo>
                  <a:lnTo>
                    <a:pt x="9649" y="4582"/>
                  </a:lnTo>
                  <a:lnTo>
                    <a:pt x="9328" y="4512"/>
                  </a:lnTo>
                  <a:lnTo>
                    <a:pt x="9004" y="4457"/>
                  </a:lnTo>
                  <a:lnTo>
                    <a:pt x="8679" y="4418"/>
                  </a:lnTo>
                  <a:lnTo>
                    <a:pt x="8352" y="4395"/>
                  </a:lnTo>
                  <a:lnTo>
                    <a:pt x="8024" y="4387"/>
                  </a:lnTo>
                  <a:lnTo>
                    <a:pt x="7697" y="4395"/>
                  </a:lnTo>
                  <a:lnTo>
                    <a:pt x="7370" y="4418"/>
                  </a:lnTo>
                  <a:lnTo>
                    <a:pt x="7044" y="4457"/>
                  </a:lnTo>
                  <a:lnTo>
                    <a:pt x="6721" y="4512"/>
                  </a:lnTo>
                  <a:lnTo>
                    <a:pt x="6399" y="4582"/>
                  </a:lnTo>
                  <a:lnTo>
                    <a:pt x="6081" y="4668"/>
                  </a:lnTo>
                  <a:lnTo>
                    <a:pt x="5767" y="4769"/>
                  </a:lnTo>
                  <a:lnTo>
                    <a:pt x="5457" y="4886"/>
                  </a:lnTo>
                  <a:lnTo>
                    <a:pt x="5151" y="5018"/>
                  </a:lnTo>
                  <a:lnTo>
                    <a:pt x="4851" y="5166"/>
                  </a:lnTo>
                  <a:lnTo>
                    <a:pt x="4558" y="5329"/>
                  </a:lnTo>
                  <a:lnTo>
                    <a:pt x="4271" y="5509"/>
                  </a:lnTo>
                  <a:lnTo>
                    <a:pt x="3991" y="5703"/>
                  </a:lnTo>
                  <a:lnTo>
                    <a:pt x="3720" y="5913"/>
                  </a:lnTo>
                  <a:lnTo>
                    <a:pt x="3457" y="6139"/>
                  </a:lnTo>
                  <a:lnTo>
                    <a:pt x="3203" y="6380"/>
                  </a:lnTo>
                  <a:lnTo>
                    <a:pt x="3178" y="6406"/>
                  </a:lnTo>
                  <a:lnTo>
                    <a:pt x="3154" y="6431"/>
                  </a:lnTo>
                  <a:lnTo>
                    <a:pt x="3129" y="6456"/>
                  </a:lnTo>
                  <a:lnTo>
                    <a:pt x="3104" y="6482"/>
                  </a:lnTo>
                  <a:lnTo>
                    <a:pt x="1996" y="5374"/>
                  </a:lnTo>
                  <a:lnTo>
                    <a:pt x="2020" y="5348"/>
                  </a:lnTo>
                  <a:lnTo>
                    <a:pt x="2045" y="5322"/>
                  </a:lnTo>
                  <a:lnTo>
                    <a:pt x="2069" y="5297"/>
                  </a:lnTo>
                  <a:lnTo>
                    <a:pt x="2095" y="5272"/>
                  </a:lnTo>
                  <a:lnTo>
                    <a:pt x="2406" y="4975"/>
                  </a:lnTo>
                  <a:lnTo>
                    <a:pt x="2731" y="4697"/>
                  </a:lnTo>
                  <a:lnTo>
                    <a:pt x="3065" y="4439"/>
                  </a:lnTo>
                  <a:lnTo>
                    <a:pt x="3408" y="4199"/>
                  </a:lnTo>
                  <a:lnTo>
                    <a:pt x="3761" y="3980"/>
                  </a:lnTo>
                  <a:lnTo>
                    <a:pt x="4122" y="3779"/>
                  </a:lnTo>
                  <a:lnTo>
                    <a:pt x="4491" y="3596"/>
                  </a:lnTo>
                  <a:lnTo>
                    <a:pt x="4866" y="3434"/>
                  </a:lnTo>
                  <a:lnTo>
                    <a:pt x="5247" y="3290"/>
                  </a:lnTo>
                  <a:lnTo>
                    <a:pt x="5635" y="3166"/>
                  </a:lnTo>
                  <a:lnTo>
                    <a:pt x="6026" y="3061"/>
                  </a:lnTo>
                  <a:lnTo>
                    <a:pt x="6421" y="2974"/>
                  </a:lnTo>
                  <a:lnTo>
                    <a:pt x="6819" y="2907"/>
                  </a:lnTo>
                  <a:lnTo>
                    <a:pt x="7219" y="2859"/>
                  </a:lnTo>
                  <a:lnTo>
                    <a:pt x="7622" y="2831"/>
                  </a:lnTo>
                  <a:lnTo>
                    <a:pt x="8024" y="2821"/>
                  </a:lnTo>
                  <a:lnTo>
                    <a:pt x="8427" y="2831"/>
                  </a:lnTo>
                  <a:lnTo>
                    <a:pt x="8829" y="2859"/>
                  </a:lnTo>
                  <a:lnTo>
                    <a:pt x="9229" y="2907"/>
                  </a:lnTo>
                  <a:lnTo>
                    <a:pt x="9627" y="2973"/>
                  </a:lnTo>
                  <a:lnTo>
                    <a:pt x="10022" y="3060"/>
                  </a:lnTo>
                  <a:lnTo>
                    <a:pt x="10413" y="3165"/>
                  </a:lnTo>
                  <a:lnTo>
                    <a:pt x="10801" y="3289"/>
                  </a:lnTo>
                  <a:lnTo>
                    <a:pt x="11182" y="3433"/>
                  </a:lnTo>
                  <a:lnTo>
                    <a:pt x="11558" y="3595"/>
                  </a:lnTo>
                  <a:lnTo>
                    <a:pt x="11926" y="3777"/>
                  </a:lnTo>
                  <a:lnTo>
                    <a:pt x="12287" y="3978"/>
                  </a:lnTo>
                  <a:lnTo>
                    <a:pt x="12640" y="4198"/>
                  </a:lnTo>
                  <a:lnTo>
                    <a:pt x="12984" y="4437"/>
                  </a:lnTo>
                  <a:lnTo>
                    <a:pt x="13318" y="4696"/>
                  </a:lnTo>
                  <a:lnTo>
                    <a:pt x="13641" y="4973"/>
                  </a:lnTo>
                  <a:lnTo>
                    <a:pt x="13954" y="5270"/>
                  </a:lnTo>
                  <a:lnTo>
                    <a:pt x="13980" y="5295"/>
                  </a:lnTo>
                  <a:lnTo>
                    <a:pt x="14005" y="5321"/>
                  </a:lnTo>
                  <a:lnTo>
                    <a:pt x="14030" y="5347"/>
                  </a:lnTo>
                  <a:lnTo>
                    <a:pt x="14055" y="5373"/>
                  </a:lnTo>
                  <a:close/>
                  <a:moveTo>
                    <a:pt x="11928" y="7501"/>
                  </a:moveTo>
                  <a:lnTo>
                    <a:pt x="10854" y="8576"/>
                  </a:lnTo>
                  <a:lnTo>
                    <a:pt x="10829" y="8549"/>
                  </a:lnTo>
                  <a:lnTo>
                    <a:pt x="10805" y="8523"/>
                  </a:lnTo>
                  <a:lnTo>
                    <a:pt x="10780" y="8498"/>
                  </a:lnTo>
                  <a:lnTo>
                    <a:pt x="10754" y="8472"/>
                  </a:lnTo>
                  <a:lnTo>
                    <a:pt x="10610" y="8336"/>
                  </a:lnTo>
                  <a:lnTo>
                    <a:pt x="10462" y="8208"/>
                  </a:lnTo>
                  <a:lnTo>
                    <a:pt x="10307" y="8089"/>
                  </a:lnTo>
                  <a:lnTo>
                    <a:pt x="10150" y="7980"/>
                  </a:lnTo>
                  <a:lnTo>
                    <a:pt x="9987" y="7878"/>
                  </a:lnTo>
                  <a:lnTo>
                    <a:pt x="9821" y="7785"/>
                  </a:lnTo>
                  <a:lnTo>
                    <a:pt x="9651" y="7702"/>
                  </a:lnTo>
                  <a:lnTo>
                    <a:pt x="9479" y="7627"/>
                  </a:lnTo>
                  <a:lnTo>
                    <a:pt x="9303" y="7561"/>
                  </a:lnTo>
                  <a:lnTo>
                    <a:pt x="9124" y="7504"/>
                  </a:lnTo>
                  <a:lnTo>
                    <a:pt x="8945" y="7456"/>
                  </a:lnTo>
                  <a:lnTo>
                    <a:pt x="8762" y="7416"/>
                  </a:lnTo>
                  <a:lnTo>
                    <a:pt x="8580" y="7384"/>
                  </a:lnTo>
                  <a:lnTo>
                    <a:pt x="8395" y="7362"/>
                  </a:lnTo>
                  <a:lnTo>
                    <a:pt x="8210" y="7349"/>
                  </a:lnTo>
                  <a:lnTo>
                    <a:pt x="8025" y="7345"/>
                  </a:lnTo>
                  <a:lnTo>
                    <a:pt x="7839" y="7349"/>
                  </a:lnTo>
                  <a:lnTo>
                    <a:pt x="7655" y="7363"/>
                  </a:lnTo>
                  <a:lnTo>
                    <a:pt x="7470" y="7385"/>
                  </a:lnTo>
                  <a:lnTo>
                    <a:pt x="7287" y="7416"/>
                  </a:lnTo>
                  <a:lnTo>
                    <a:pt x="7105" y="7456"/>
                  </a:lnTo>
                  <a:lnTo>
                    <a:pt x="6926" y="7504"/>
                  </a:lnTo>
                  <a:lnTo>
                    <a:pt x="6747" y="7561"/>
                  </a:lnTo>
                  <a:lnTo>
                    <a:pt x="6571" y="7627"/>
                  </a:lnTo>
                  <a:lnTo>
                    <a:pt x="6399" y="7703"/>
                  </a:lnTo>
                  <a:lnTo>
                    <a:pt x="6229" y="7786"/>
                  </a:lnTo>
                  <a:lnTo>
                    <a:pt x="6063" y="7878"/>
                  </a:lnTo>
                  <a:lnTo>
                    <a:pt x="5900" y="7980"/>
                  </a:lnTo>
                  <a:lnTo>
                    <a:pt x="5742" y="8090"/>
                  </a:lnTo>
                  <a:lnTo>
                    <a:pt x="5588" y="8209"/>
                  </a:lnTo>
                  <a:lnTo>
                    <a:pt x="5440" y="8337"/>
                  </a:lnTo>
                  <a:lnTo>
                    <a:pt x="5297" y="8473"/>
                  </a:lnTo>
                  <a:lnTo>
                    <a:pt x="5271" y="8498"/>
                  </a:lnTo>
                  <a:lnTo>
                    <a:pt x="5246" y="8524"/>
                  </a:lnTo>
                  <a:lnTo>
                    <a:pt x="5222" y="8550"/>
                  </a:lnTo>
                  <a:lnTo>
                    <a:pt x="5198" y="8576"/>
                  </a:lnTo>
                  <a:lnTo>
                    <a:pt x="4123" y="7501"/>
                  </a:lnTo>
                  <a:lnTo>
                    <a:pt x="4147" y="7476"/>
                  </a:lnTo>
                  <a:lnTo>
                    <a:pt x="4172" y="7450"/>
                  </a:lnTo>
                  <a:lnTo>
                    <a:pt x="4197" y="7425"/>
                  </a:lnTo>
                  <a:lnTo>
                    <a:pt x="4222" y="7399"/>
                  </a:lnTo>
                  <a:lnTo>
                    <a:pt x="4422" y="7209"/>
                  </a:lnTo>
                  <a:lnTo>
                    <a:pt x="4629" y="7030"/>
                  </a:lnTo>
                  <a:lnTo>
                    <a:pt x="4843" y="6865"/>
                  </a:lnTo>
                  <a:lnTo>
                    <a:pt x="5064" y="6711"/>
                  </a:lnTo>
                  <a:lnTo>
                    <a:pt x="5290" y="6571"/>
                  </a:lnTo>
                  <a:lnTo>
                    <a:pt x="5522" y="6441"/>
                  </a:lnTo>
                  <a:lnTo>
                    <a:pt x="5758" y="6325"/>
                  </a:lnTo>
                  <a:lnTo>
                    <a:pt x="6000" y="6220"/>
                  </a:lnTo>
                  <a:lnTo>
                    <a:pt x="6243" y="6128"/>
                  </a:lnTo>
                  <a:lnTo>
                    <a:pt x="6492" y="6048"/>
                  </a:lnTo>
                  <a:lnTo>
                    <a:pt x="6743" y="5981"/>
                  </a:lnTo>
                  <a:lnTo>
                    <a:pt x="6997" y="5925"/>
                  </a:lnTo>
                  <a:lnTo>
                    <a:pt x="7252" y="5882"/>
                  </a:lnTo>
                  <a:lnTo>
                    <a:pt x="7508" y="5851"/>
                  </a:lnTo>
                  <a:lnTo>
                    <a:pt x="7766" y="5833"/>
                  </a:lnTo>
                  <a:lnTo>
                    <a:pt x="8025" y="5827"/>
                  </a:lnTo>
                  <a:lnTo>
                    <a:pt x="8283" y="5833"/>
                  </a:lnTo>
                  <a:lnTo>
                    <a:pt x="8541" y="5851"/>
                  </a:lnTo>
                  <a:lnTo>
                    <a:pt x="8797" y="5882"/>
                  </a:lnTo>
                  <a:lnTo>
                    <a:pt x="9053" y="5925"/>
                  </a:lnTo>
                  <a:lnTo>
                    <a:pt x="9306" y="5981"/>
                  </a:lnTo>
                  <a:lnTo>
                    <a:pt x="9557" y="6048"/>
                  </a:lnTo>
                  <a:lnTo>
                    <a:pt x="9806" y="6127"/>
                  </a:lnTo>
                  <a:lnTo>
                    <a:pt x="10050" y="6219"/>
                  </a:lnTo>
                  <a:lnTo>
                    <a:pt x="10291" y="6324"/>
                  </a:lnTo>
                  <a:lnTo>
                    <a:pt x="10528" y="6440"/>
                  </a:lnTo>
                  <a:lnTo>
                    <a:pt x="10760" y="6570"/>
                  </a:lnTo>
                  <a:lnTo>
                    <a:pt x="10985" y="6710"/>
                  </a:lnTo>
                  <a:lnTo>
                    <a:pt x="11206" y="6864"/>
                  </a:lnTo>
                  <a:lnTo>
                    <a:pt x="11421" y="7029"/>
                  </a:lnTo>
                  <a:lnTo>
                    <a:pt x="11627" y="7208"/>
                  </a:lnTo>
                  <a:lnTo>
                    <a:pt x="11828" y="7398"/>
                  </a:lnTo>
                  <a:lnTo>
                    <a:pt x="11853" y="7424"/>
                  </a:lnTo>
                  <a:lnTo>
                    <a:pt x="11878" y="7449"/>
                  </a:lnTo>
                  <a:lnTo>
                    <a:pt x="11903" y="7475"/>
                  </a:lnTo>
                  <a:lnTo>
                    <a:pt x="11928" y="7501"/>
                  </a:lnTo>
                  <a:close/>
                </a:path>
              </a:pathLst>
            </a:custGeom>
            <a:grpFill/>
            <a:ln w="9525">
              <a:noFill/>
              <a:round/>
              <a:headEnd/>
              <a:tailEnd/>
            </a:ln>
          </p:spPr>
          <p:txBody>
            <a:bodyPr/>
            <a:lstStyle/>
            <a:p>
              <a:pPr algn="ctr" eaLnBrk="1" fontAlgn="auto" hangingPunct="1">
                <a:spcBef>
                  <a:spcPts val="0"/>
                </a:spcBef>
                <a:spcAft>
                  <a:spcPts val="0"/>
                </a:spcAft>
                <a:defRPr/>
              </a:pPr>
              <a:endParaRPr lang="zh-CN" altLang="en-US" sz="1200" ker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73" name="文本框 72"/>
          <p:cNvSpPr txBox="1"/>
          <p:nvPr/>
        </p:nvSpPr>
        <p:spPr bwMode="gray">
          <a:xfrm>
            <a:off x="4188325" y="4135039"/>
            <a:ext cx="460382" cy="276999"/>
          </a:xfrm>
          <a:prstGeom prst="rect">
            <a:avLst/>
          </a:prstGeom>
          <a:noFill/>
        </p:spPr>
        <p:txBody>
          <a:bodyPr wrap="none" rtlCol="0">
            <a:spAutoFit/>
          </a:bodyPr>
          <a:lstStyle/>
          <a:p>
            <a:pPr algn="r"/>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AP1</a:t>
            </a:r>
            <a:endParaRPr lang="zh-CN" altLang="en-US" sz="1200" b="1"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38" name="五边形 37"/>
          <p:cNvSpPr/>
          <p:nvPr/>
        </p:nvSpPr>
        <p:spPr bwMode="gray">
          <a:xfrm>
            <a:off x="5773628" y="98481"/>
            <a:ext cx="9000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站点管理</a:t>
            </a:r>
          </a:p>
        </p:txBody>
      </p:sp>
      <p:sp>
        <p:nvSpPr>
          <p:cNvPr id="39" name="燕尾形 38"/>
          <p:cNvSpPr/>
          <p:nvPr/>
        </p:nvSpPr>
        <p:spPr bwMode="gray">
          <a:xfrm>
            <a:off x="9109268" y="9848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逻辑网络</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0" name="燕尾形 39"/>
          <p:cNvSpPr/>
          <p:nvPr/>
        </p:nvSpPr>
        <p:spPr bwMode="gray">
          <a:xfrm>
            <a:off x="9925178" y="9848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业务部署</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2" name="燕尾形 41"/>
          <p:cNvSpPr/>
          <p:nvPr/>
        </p:nvSpPr>
        <p:spPr bwMode="gray">
          <a:xfrm>
            <a:off x="8221358" y="98481"/>
            <a:ext cx="9720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Fabric</a:t>
            </a: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网络</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6" name="燕尾形 55"/>
          <p:cNvSpPr/>
          <p:nvPr/>
        </p:nvSpPr>
        <p:spPr bwMode="gray">
          <a:xfrm>
            <a:off x="7405448" y="9848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网络规划</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7" name="燕尾形 56"/>
          <p:cNvSpPr/>
          <p:nvPr/>
        </p:nvSpPr>
        <p:spPr bwMode="gray">
          <a:xfrm>
            <a:off x="6589538" y="9848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设备管理</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8" name="燕尾形 57"/>
          <p:cNvSpPr/>
          <p:nvPr/>
        </p:nvSpPr>
        <p:spPr bwMode="gray">
          <a:xfrm>
            <a:off x="10741088" y="98481"/>
            <a:ext cx="1008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WLAN</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业务</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312178183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3"/>
          <a:stretch>
            <a:fillRect/>
          </a:stretch>
        </p:blipFill>
        <p:spPr>
          <a:xfrm>
            <a:off x="4910197" y="2139147"/>
            <a:ext cx="6555396" cy="3438055"/>
          </a:xfrm>
          <a:prstGeom prst="rect">
            <a:avLst/>
          </a:prstGeom>
          <a:ln w="12700">
            <a:solidFill>
              <a:schemeClr val="bg1">
                <a:lumMod val="85000"/>
              </a:schemeClr>
            </a:solidFill>
          </a:ln>
        </p:spPr>
      </p:pic>
      <p:sp>
        <p:nvSpPr>
          <p:cNvPr id="45" name="圆角矩形 44"/>
          <p:cNvSpPr/>
          <p:nvPr/>
        </p:nvSpPr>
        <p:spPr bwMode="gray">
          <a:xfrm>
            <a:off x="628892" y="2076808"/>
            <a:ext cx="3948649" cy="2628871"/>
          </a:xfrm>
          <a:prstGeom prst="roundRect">
            <a:avLst>
              <a:gd name="adj" fmla="val 3166"/>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2" name="椭圆 1"/>
          <p:cNvSpPr/>
          <p:nvPr/>
        </p:nvSpPr>
        <p:spPr bwMode="gray">
          <a:xfrm>
            <a:off x="1493480" y="2543645"/>
            <a:ext cx="1957686" cy="1258217"/>
          </a:xfrm>
          <a:prstGeom prst="ellipse">
            <a:avLst/>
          </a:prstGeom>
          <a:solidFill>
            <a:srgbClr val="FFF8E5"/>
          </a:solidFill>
          <a:ln>
            <a:solidFill>
              <a:schemeClr val="accent4">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endParaRPr>
          </a:p>
        </p:txBody>
      </p:sp>
      <p:sp>
        <p:nvSpPr>
          <p:cNvPr id="5" name="标题 4"/>
          <p:cNvSpPr>
            <a:spLocks noGrp="1"/>
          </p:cNvSpPr>
          <p:nvPr>
            <p:ph type="title"/>
          </p:nvPr>
        </p:nvSpPr>
        <p:spPr bwMode="gray"/>
        <p:txBody>
          <a:bodyPr>
            <a:normAutofit/>
          </a:bodyPr>
          <a:lstStyle/>
          <a:p>
            <a:r>
              <a:rPr lang="zh-CN" altLang="en-US" dirty="0"/>
              <a:t>实验</a:t>
            </a:r>
            <a:r>
              <a:rPr lang="zh-CN" altLang="en-US" dirty="0" smtClean="0"/>
              <a:t>：创建</a:t>
            </a:r>
            <a:r>
              <a:rPr lang="en-US" altLang="zh-CN" dirty="0" smtClean="0"/>
              <a:t>Fabric</a:t>
            </a:r>
            <a:r>
              <a:rPr lang="zh-CN" altLang="en-US" dirty="0"/>
              <a:t> </a:t>
            </a:r>
            <a:r>
              <a:rPr lang="en-US" altLang="zh-CN" dirty="0" smtClean="0"/>
              <a:t>(3)</a:t>
            </a:r>
            <a:endParaRPr lang="zh-CN" altLang="en-US" dirty="0"/>
          </a:p>
        </p:txBody>
      </p:sp>
      <p:sp>
        <p:nvSpPr>
          <p:cNvPr id="79" name="矩形 78"/>
          <p:cNvSpPr/>
          <p:nvPr/>
        </p:nvSpPr>
        <p:spPr bwMode="gray">
          <a:xfrm>
            <a:off x="4814920" y="1677740"/>
            <a:ext cx="5832565" cy="400110"/>
          </a:xfrm>
          <a:prstGeom prst="rect">
            <a:avLst/>
          </a:prstGeom>
        </p:spPr>
        <p:txBody>
          <a:bodyPr wrap="square">
            <a:spAutoFit/>
          </a:bodyPr>
          <a:lstStyle/>
          <a:p>
            <a:pPr algn="just">
              <a:lnSpc>
                <a:spcPts val="2400"/>
              </a:lnSpc>
              <a:spcAft>
                <a:spcPts val="600"/>
              </a:spcAft>
            </a:pPr>
            <a:r>
              <a:rPr lang="zh-CN" altLang="en-US" sz="1600" dirty="0"/>
              <a:t>通过</a:t>
            </a:r>
            <a:r>
              <a:rPr lang="en-US" altLang="zh-CN" sz="1600" dirty="0"/>
              <a:t>iMaster </a:t>
            </a:r>
            <a:r>
              <a:rPr lang="en-US" altLang="zh-CN" sz="1600" dirty="0" smtClean="0"/>
              <a:t>NCE-Campus</a:t>
            </a:r>
            <a:r>
              <a:rPr lang="zh-CN" altLang="en-US" sz="1600" dirty="0" smtClean="0"/>
              <a:t>完成</a:t>
            </a:r>
            <a:r>
              <a:rPr lang="en-US" altLang="zh-CN" sz="1600" dirty="0" smtClean="0"/>
              <a:t>Underlay</a:t>
            </a:r>
            <a:r>
              <a:rPr lang="zh-CN" altLang="en-US" sz="1600" dirty="0" smtClean="0"/>
              <a:t>网络自动化</a:t>
            </a:r>
            <a:r>
              <a:rPr lang="zh-CN" altLang="en-US" sz="1600" dirty="0"/>
              <a:t>部署：</a:t>
            </a:r>
          </a:p>
        </p:txBody>
      </p:sp>
      <p:cxnSp>
        <p:nvCxnSpPr>
          <p:cNvPr id="81" name="直接箭头连接符 80"/>
          <p:cNvCxnSpPr/>
          <p:nvPr/>
        </p:nvCxnSpPr>
        <p:spPr bwMode="gray">
          <a:xfrm flipH="1" flipV="1">
            <a:off x="10197470" y="4853592"/>
            <a:ext cx="293576" cy="243266"/>
          </a:xfrm>
          <a:prstGeom prst="straightConnector1">
            <a:avLst/>
          </a:prstGeom>
          <a:ln w="38100">
            <a:solidFill>
              <a:srgbClr val="30B5C5"/>
            </a:solidFill>
            <a:tailEnd type="triangle"/>
          </a:ln>
        </p:spPr>
        <p:style>
          <a:lnRef idx="1">
            <a:schemeClr val="accent1"/>
          </a:lnRef>
          <a:fillRef idx="0">
            <a:schemeClr val="accent1"/>
          </a:fillRef>
          <a:effectRef idx="0">
            <a:schemeClr val="accent1"/>
          </a:effectRef>
          <a:fontRef idx="minor">
            <a:schemeClr val="tx1"/>
          </a:fontRef>
        </p:style>
      </p:cxnSp>
      <p:sp>
        <p:nvSpPr>
          <p:cNvPr id="82" name="TextBox 179"/>
          <p:cNvSpPr txBox="1"/>
          <p:nvPr/>
        </p:nvSpPr>
        <p:spPr bwMode="gray">
          <a:xfrm>
            <a:off x="8895965" y="5046189"/>
            <a:ext cx="2569628" cy="553980"/>
          </a:xfrm>
          <a:prstGeom prst="roundRect">
            <a:avLst>
              <a:gd name="adj" fmla="val 12806"/>
            </a:avLst>
          </a:prstGeom>
          <a:solidFill>
            <a:srgbClr val="30B5C5"/>
          </a:solidFill>
          <a:ln>
            <a:noFill/>
          </a:ln>
        </p:spPr>
        <p:txBody>
          <a:bodyPr wrap="none" lIns="72000" tIns="72000" rIns="72000" bIns="72000" anchor="ctr" anchorCtr="0">
            <a:noAutofit/>
          </a:bodyPr>
          <a:lstStyle>
            <a:defPPr>
              <a:defRPr lang="en-US"/>
            </a:defPPr>
            <a:lvl1pPr algn="ctr" defTabSz="914478">
              <a:defRPr sz="1200">
                <a:solidFill>
                  <a:schemeClr val="bg1"/>
                </a:solidFill>
              </a:defRPr>
            </a:lvl1pPr>
            <a:lvl2pPr marL="457240" defTabSz="914478"/>
            <a:lvl3pPr marL="914478" defTabSz="914478"/>
            <a:lvl4pPr marL="1371718" defTabSz="914478"/>
            <a:lvl5pPr marL="1828957" defTabSz="914478"/>
            <a:lvl6pPr marL="2286196" defTabSz="914478"/>
            <a:lvl7pPr marL="2743435" defTabSz="914478"/>
            <a:lvl8pPr marL="3200675" defTabSz="914478"/>
            <a:lvl9pPr marL="3657913" defTabSz="914478"/>
          </a:lstStyle>
          <a:p>
            <a:pPr marL="171450" indent="-171450" algn="l">
              <a:lnSpc>
                <a:spcPts val="1800"/>
              </a:lnSpc>
              <a:buFont typeface="Arial" panose="020B0604020202020204" pitchFamily="34" charset="0"/>
              <a:buChar char="•"/>
            </a:pPr>
            <a:r>
              <a:rPr lang="zh-CN" altLang="en-US" dirty="0" smtClean="0"/>
              <a:t>使能自动配置路由域</a:t>
            </a:r>
            <a:endParaRPr lang="en-US" altLang="zh-CN" dirty="0" smtClean="0"/>
          </a:p>
          <a:p>
            <a:pPr marL="171450" indent="-171450" algn="l">
              <a:lnSpc>
                <a:spcPts val="1800"/>
              </a:lnSpc>
              <a:buFont typeface="Arial" panose="020B0604020202020204" pitchFamily="34" charset="0"/>
              <a:buChar char="•"/>
            </a:pPr>
            <a:r>
              <a:rPr lang="zh-CN" altLang="en-US" dirty="0" smtClean="0"/>
              <a:t>可定义</a:t>
            </a:r>
            <a:r>
              <a:rPr lang="en-US" altLang="zh-CN" dirty="0" smtClean="0"/>
              <a:t>OSPF</a:t>
            </a:r>
            <a:r>
              <a:rPr lang="zh-CN" altLang="en-US" dirty="0" smtClean="0"/>
              <a:t>区域及报文认证功能</a:t>
            </a:r>
            <a:endParaRPr lang="zh-CN" altLang="en-US" dirty="0"/>
          </a:p>
        </p:txBody>
      </p:sp>
      <p:sp>
        <p:nvSpPr>
          <p:cNvPr id="43" name="矩形 42"/>
          <p:cNvSpPr/>
          <p:nvPr/>
        </p:nvSpPr>
        <p:spPr bwMode="gray">
          <a:xfrm>
            <a:off x="976153" y="4657610"/>
            <a:ext cx="2776194" cy="370935"/>
          </a:xfrm>
          <a:prstGeom prst="rect">
            <a:avLst/>
          </a:prstGeom>
        </p:spPr>
        <p:txBody>
          <a:bodyPr wrap="square">
            <a:spAutoFit/>
          </a:bodyPr>
          <a:lstStyle/>
          <a:p>
            <a:pPr algn="ctr">
              <a:lnSpc>
                <a:spcPts val="2400"/>
              </a:lnSpc>
              <a:spcAft>
                <a:spcPts val="600"/>
              </a:spcAft>
            </a:pPr>
            <a:r>
              <a:rPr lang="en-US" altLang="zh-CN" sz="1400" b="1" dirty="0"/>
              <a:t>OSPF</a:t>
            </a:r>
            <a:r>
              <a:rPr lang="zh-CN" altLang="en-US" sz="1400" b="1" dirty="0"/>
              <a:t>单区域配置</a:t>
            </a:r>
          </a:p>
        </p:txBody>
      </p:sp>
      <p:cxnSp>
        <p:nvCxnSpPr>
          <p:cNvPr id="48" name="Straight Connector 166"/>
          <p:cNvCxnSpPr>
            <a:stCxn id="60" idx="2"/>
            <a:endCxn id="91" idx="0"/>
          </p:cNvCxnSpPr>
          <p:nvPr/>
        </p:nvCxnSpPr>
        <p:spPr bwMode="gray">
          <a:xfrm>
            <a:off x="1481681" y="3714461"/>
            <a:ext cx="0" cy="40327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Straight Connector 166"/>
          <p:cNvCxnSpPr>
            <a:stCxn id="61" idx="2"/>
            <a:endCxn id="92" idx="0"/>
          </p:cNvCxnSpPr>
          <p:nvPr/>
        </p:nvCxnSpPr>
        <p:spPr bwMode="gray">
          <a:xfrm>
            <a:off x="3412482" y="3714461"/>
            <a:ext cx="0" cy="40327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 name="Straight Connector 167"/>
          <p:cNvCxnSpPr/>
          <p:nvPr/>
        </p:nvCxnSpPr>
        <p:spPr bwMode="gray">
          <a:xfrm flipH="1">
            <a:off x="1482391" y="2655229"/>
            <a:ext cx="971589" cy="876201"/>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51" name="Straight Connector 167"/>
          <p:cNvCxnSpPr/>
          <p:nvPr/>
        </p:nvCxnSpPr>
        <p:spPr bwMode="gray">
          <a:xfrm flipH="1" flipV="1">
            <a:off x="2450601" y="2652752"/>
            <a:ext cx="975076" cy="883934"/>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sp>
        <p:nvSpPr>
          <p:cNvPr id="52" name="文本框 51"/>
          <p:cNvSpPr txBox="1"/>
          <p:nvPr/>
        </p:nvSpPr>
        <p:spPr bwMode="gray">
          <a:xfrm>
            <a:off x="1586967" y="2522643"/>
            <a:ext cx="676788" cy="276999"/>
          </a:xfrm>
          <a:prstGeom prst="rect">
            <a:avLst/>
          </a:prstGeom>
          <a:noFill/>
        </p:spPr>
        <p:txBody>
          <a:bodyPr wrap="none" rtlCol="0">
            <a:spAutoFit/>
          </a:bodyPr>
          <a:lstStyle/>
          <a:p>
            <a:pPr algn="ctr"/>
            <a:r>
              <a:rPr lang="en-US" altLang="zh-CN" sz="1200" b="1" dirty="0" smtClean="0">
                <a:latin typeface="Huawei Sans" panose="020C0503030203020204" pitchFamily="34" charset="0"/>
                <a:ea typeface="方正兰亭黑简体" panose="02000000000000000000" pitchFamily="2" charset="-122"/>
                <a:cs typeface="Huawei Sans" panose="020C0503030203020204" pitchFamily="34" charset="0"/>
              </a:rPr>
              <a:t>Border</a:t>
            </a:r>
            <a:endParaRPr lang="zh-CN" altLang="en-US" sz="1200" b="1"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56" name="文本框 55"/>
          <p:cNvSpPr txBox="1"/>
          <p:nvPr/>
        </p:nvSpPr>
        <p:spPr bwMode="gray">
          <a:xfrm>
            <a:off x="627953" y="3381688"/>
            <a:ext cx="702436" cy="276999"/>
          </a:xfrm>
          <a:prstGeom prst="rect">
            <a:avLst/>
          </a:prstGeom>
          <a:noFill/>
        </p:spPr>
        <p:txBody>
          <a:bodyPr wrap="none" rtlCol="0">
            <a:spAutoFit/>
          </a:bodyPr>
          <a:lstStyle/>
          <a:p>
            <a:pPr algn="r"/>
            <a:r>
              <a:rPr lang="en-US" altLang="zh-CN" sz="1200" b="1" dirty="0" smtClean="0">
                <a:latin typeface="Huawei Sans" panose="020C0503030203020204" pitchFamily="34" charset="0"/>
                <a:ea typeface="方正兰亭黑简体" panose="02000000000000000000" pitchFamily="2" charset="-122"/>
                <a:cs typeface="Huawei Sans" panose="020C0503030203020204" pitchFamily="34" charset="0"/>
              </a:rPr>
              <a:t>Edge_1</a:t>
            </a:r>
            <a:endParaRPr lang="zh-CN" altLang="en-US" sz="1200" b="1"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57" name="文本框 56"/>
          <p:cNvSpPr txBox="1"/>
          <p:nvPr/>
        </p:nvSpPr>
        <p:spPr bwMode="gray">
          <a:xfrm>
            <a:off x="698485" y="4168437"/>
            <a:ext cx="631904" cy="276999"/>
          </a:xfrm>
          <a:prstGeom prst="rect">
            <a:avLst/>
          </a:prstGeom>
          <a:noFill/>
        </p:spPr>
        <p:txBody>
          <a:bodyPr wrap="none" rtlCol="0">
            <a:spAutoFit/>
          </a:bodyPr>
          <a:lstStyle/>
          <a:p>
            <a:pPr algn="r"/>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ACC_1</a:t>
            </a:r>
          </a:p>
        </p:txBody>
      </p:sp>
      <p:pic>
        <p:nvPicPr>
          <p:cNvPr id="60" name="图片 87" descr="汇聚交换机.png"/>
          <p:cNvPicPr>
            <a:picLocks noChangeAspect="1"/>
          </p:cNvPicPr>
          <p:nvPr/>
        </p:nvPicPr>
        <p:blipFill>
          <a:blip r:embed="rId4" cstate="print"/>
          <a:stretch>
            <a:fillRect/>
          </a:stretch>
        </p:blipFill>
        <p:spPr bwMode="gray">
          <a:xfrm>
            <a:off x="1258540" y="3349322"/>
            <a:ext cx="446281" cy="365139"/>
          </a:xfrm>
          <a:prstGeom prst="rect">
            <a:avLst/>
          </a:prstGeom>
        </p:spPr>
      </p:pic>
      <p:pic>
        <p:nvPicPr>
          <p:cNvPr id="61" name="图片 87" descr="汇聚交换机.png"/>
          <p:cNvPicPr>
            <a:picLocks noChangeAspect="1"/>
          </p:cNvPicPr>
          <p:nvPr/>
        </p:nvPicPr>
        <p:blipFill>
          <a:blip r:embed="rId4" cstate="print"/>
          <a:stretch>
            <a:fillRect/>
          </a:stretch>
        </p:blipFill>
        <p:spPr bwMode="gray">
          <a:xfrm>
            <a:off x="3189341" y="3349322"/>
            <a:ext cx="446281" cy="365139"/>
          </a:xfrm>
          <a:prstGeom prst="rect">
            <a:avLst/>
          </a:prstGeom>
        </p:spPr>
      </p:pic>
      <p:sp>
        <p:nvSpPr>
          <p:cNvPr id="70" name="文本框 69"/>
          <p:cNvSpPr txBox="1"/>
          <p:nvPr/>
        </p:nvSpPr>
        <p:spPr bwMode="gray">
          <a:xfrm>
            <a:off x="2619489" y="4168437"/>
            <a:ext cx="631903" cy="276999"/>
          </a:xfrm>
          <a:prstGeom prst="rect">
            <a:avLst/>
          </a:prstGeom>
          <a:noFill/>
        </p:spPr>
        <p:txBody>
          <a:bodyPr wrap="none" rtlCol="0">
            <a:spAutoFit/>
          </a:bodyPr>
          <a:lstStyle/>
          <a:p>
            <a:pPr algn="r"/>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ACC_2</a:t>
            </a:r>
          </a:p>
        </p:txBody>
      </p:sp>
      <p:sp>
        <p:nvSpPr>
          <p:cNvPr id="72" name="文本框 71"/>
          <p:cNvSpPr txBox="1"/>
          <p:nvPr/>
        </p:nvSpPr>
        <p:spPr bwMode="gray">
          <a:xfrm>
            <a:off x="3588956" y="3381688"/>
            <a:ext cx="702436" cy="276999"/>
          </a:xfrm>
          <a:prstGeom prst="rect">
            <a:avLst/>
          </a:prstGeom>
          <a:noFill/>
        </p:spPr>
        <p:txBody>
          <a:bodyPr wrap="none" rtlCol="0">
            <a:spAutoFit/>
          </a:bodyPr>
          <a:lstStyle/>
          <a:p>
            <a:r>
              <a:rPr lang="en-US" altLang="zh-CN" sz="1200" b="1" dirty="0" smtClean="0">
                <a:latin typeface="Huawei Sans" panose="020C0503030203020204" pitchFamily="34" charset="0"/>
                <a:ea typeface="方正兰亭黑简体" panose="02000000000000000000" pitchFamily="2" charset="-122"/>
                <a:cs typeface="Huawei Sans" panose="020C0503030203020204" pitchFamily="34" charset="0"/>
              </a:rPr>
              <a:t>Edge_2</a:t>
            </a:r>
            <a:endParaRPr lang="zh-CN" altLang="en-US" sz="1200" b="1"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89" name="文本框 88"/>
          <p:cNvSpPr txBox="1"/>
          <p:nvPr/>
        </p:nvSpPr>
        <p:spPr bwMode="gray">
          <a:xfrm>
            <a:off x="661367" y="2226977"/>
            <a:ext cx="468398" cy="307777"/>
          </a:xfrm>
          <a:prstGeom prst="rect">
            <a:avLst/>
          </a:prstGeom>
          <a:noFill/>
        </p:spPr>
        <p:txBody>
          <a:bodyPr wrap="none" rtlCol="0">
            <a:spAutoFit/>
          </a:bodyPr>
          <a:lstStyle/>
          <a:p>
            <a:r>
              <a:rPr lang="en-US" altLang="zh-CN" sz="1400" b="1" dirty="0" smtClean="0">
                <a:latin typeface="Huawei Sans" panose="020C0503030203020204" pitchFamily="34" charset="0"/>
                <a:ea typeface="方正兰亭黑简体" panose="02000000000000000000" pitchFamily="2" charset="-122"/>
                <a:cs typeface="Huawei Sans" panose="020C0503030203020204" pitchFamily="34" charset="0"/>
              </a:rPr>
              <a:t>HQ</a:t>
            </a:r>
            <a:endParaRPr lang="zh-CN" altLang="en-US" sz="1400" b="1" dirty="0">
              <a:latin typeface="Huawei Sans" panose="020C0503030203020204" pitchFamily="34" charset="0"/>
              <a:ea typeface="方正兰亭黑简体" panose="02000000000000000000" pitchFamily="2" charset="-122"/>
              <a:cs typeface="Huawei Sans" panose="020C0503030203020204" pitchFamily="34" charset="0"/>
            </a:endParaRPr>
          </a:p>
        </p:txBody>
      </p:sp>
      <p:pic>
        <p:nvPicPr>
          <p:cNvPr id="91" name="图片 76" descr="接入交换机.png"/>
          <p:cNvPicPr>
            <a:picLocks noChangeAspect="1"/>
          </p:cNvPicPr>
          <p:nvPr/>
        </p:nvPicPr>
        <p:blipFill>
          <a:blip r:embed="rId5" cstate="print"/>
          <a:stretch>
            <a:fillRect/>
          </a:stretch>
        </p:blipFill>
        <p:spPr bwMode="gray">
          <a:xfrm>
            <a:off x="1258540" y="4117738"/>
            <a:ext cx="446281" cy="365139"/>
          </a:xfrm>
          <a:prstGeom prst="rect">
            <a:avLst/>
          </a:prstGeom>
        </p:spPr>
      </p:pic>
      <p:pic>
        <p:nvPicPr>
          <p:cNvPr id="92" name="图片 76" descr="接入交换机.png"/>
          <p:cNvPicPr>
            <a:picLocks noChangeAspect="1"/>
          </p:cNvPicPr>
          <p:nvPr/>
        </p:nvPicPr>
        <p:blipFill>
          <a:blip r:embed="rId5" cstate="print"/>
          <a:stretch>
            <a:fillRect/>
          </a:stretch>
        </p:blipFill>
        <p:spPr bwMode="gray">
          <a:xfrm>
            <a:off x="3189341" y="4117738"/>
            <a:ext cx="446281" cy="365139"/>
          </a:xfrm>
          <a:prstGeom prst="rect">
            <a:avLst/>
          </a:prstGeom>
        </p:spPr>
      </p:pic>
      <p:pic>
        <p:nvPicPr>
          <p:cNvPr id="93" name="图片 86" descr="核心交换机.png"/>
          <p:cNvPicPr>
            <a:picLocks noChangeAspect="1"/>
          </p:cNvPicPr>
          <p:nvPr/>
        </p:nvPicPr>
        <p:blipFill>
          <a:blip r:embed="rId6" cstate="print"/>
          <a:stretch>
            <a:fillRect/>
          </a:stretch>
        </p:blipFill>
        <p:spPr bwMode="gray">
          <a:xfrm>
            <a:off x="2238233" y="2472660"/>
            <a:ext cx="446281" cy="365139"/>
          </a:xfrm>
          <a:prstGeom prst="rect">
            <a:avLst/>
          </a:prstGeom>
        </p:spPr>
      </p:pic>
      <p:pic>
        <p:nvPicPr>
          <p:cNvPr id="94" name="图片 93"/>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bwMode="gray">
          <a:xfrm>
            <a:off x="3613791" y="2238059"/>
            <a:ext cx="865097" cy="491769"/>
          </a:xfrm>
          <a:prstGeom prst="rect">
            <a:avLst/>
          </a:prstGeom>
        </p:spPr>
      </p:pic>
      <p:pic>
        <p:nvPicPr>
          <p:cNvPr id="95" name="图片 105" descr="AP.png"/>
          <p:cNvPicPr>
            <a:picLocks noChangeAspect="1"/>
          </p:cNvPicPr>
          <p:nvPr/>
        </p:nvPicPr>
        <p:blipFill>
          <a:blip r:embed="rId8" cstate="print"/>
          <a:stretch>
            <a:fillRect/>
          </a:stretch>
        </p:blipFill>
        <p:spPr bwMode="gray">
          <a:xfrm>
            <a:off x="3869073" y="4149423"/>
            <a:ext cx="368827" cy="301768"/>
          </a:xfrm>
          <a:prstGeom prst="rect">
            <a:avLst/>
          </a:prstGeom>
        </p:spPr>
      </p:pic>
      <p:cxnSp>
        <p:nvCxnSpPr>
          <p:cNvPr id="96" name="Straight Connector 166"/>
          <p:cNvCxnSpPr>
            <a:stCxn id="92" idx="3"/>
            <a:endCxn id="95" idx="1"/>
          </p:cNvCxnSpPr>
          <p:nvPr/>
        </p:nvCxnSpPr>
        <p:spPr bwMode="gray">
          <a:xfrm flipV="1">
            <a:off x="3635622" y="4300307"/>
            <a:ext cx="233451" cy="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97" name="组合 758"/>
          <p:cNvGrpSpPr/>
          <p:nvPr/>
        </p:nvGrpSpPr>
        <p:grpSpPr bwMode="gray">
          <a:xfrm flipV="1">
            <a:off x="3949987" y="4475964"/>
            <a:ext cx="225699" cy="191129"/>
            <a:chOff x="7440613" y="4868863"/>
            <a:chExt cx="1019175" cy="828675"/>
          </a:xfrm>
          <a:solidFill>
            <a:schemeClr val="bg1">
              <a:lumMod val="50000"/>
            </a:schemeClr>
          </a:solidFill>
        </p:grpSpPr>
        <p:sp>
          <p:nvSpPr>
            <p:cNvPr id="98" name="Freeform 15"/>
            <p:cNvSpPr>
              <a:spLocks/>
            </p:cNvSpPr>
            <p:nvPr/>
          </p:nvSpPr>
          <p:spPr bwMode="gray">
            <a:xfrm>
              <a:off x="7832726" y="5462588"/>
              <a:ext cx="234950" cy="234950"/>
            </a:xfrm>
            <a:custGeom>
              <a:avLst/>
              <a:gdLst/>
              <a:ahLst/>
              <a:cxnLst>
                <a:cxn ang="0">
                  <a:pos x="3281" y="680"/>
                </a:cxn>
                <a:cxn ang="0">
                  <a:pos x="3439" y="907"/>
                </a:cxn>
                <a:cxn ang="0">
                  <a:pos x="3559" y="1151"/>
                </a:cxn>
                <a:cxn ang="0">
                  <a:pos x="3642" y="1406"/>
                </a:cxn>
                <a:cxn ang="0">
                  <a:pos x="3686" y="1670"/>
                </a:cxn>
                <a:cxn ang="0">
                  <a:pos x="3693" y="1936"/>
                </a:cxn>
                <a:cxn ang="0">
                  <a:pos x="3661" y="2201"/>
                </a:cxn>
                <a:cxn ang="0">
                  <a:pos x="3591" y="2460"/>
                </a:cxn>
                <a:cxn ang="0">
                  <a:pos x="3484" y="2708"/>
                </a:cxn>
                <a:cxn ang="0">
                  <a:pos x="3339" y="2941"/>
                </a:cxn>
                <a:cxn ang="0">
                  <a:pos x="3155" y="3155"/>
                </a:cxn>
                <a:cxn ang="0">
                  <a:pos x="2941" y="3339"/>
                </a:cxn>
                <a:cxn ang="0">
                  <a:pos x="2708" y="3484"/>
                </a:cxn>
                <a:cxn ang="0">
                  <a:pos x="2460" y="3592"/>
                </a:cxn>
                <a:cxn ang="0">
                  <a:pos x="2201" y="3661"/>
                </a:cxn>
                <a:cxn ang="0">
                  <a:pos x="1936" y="3693"/>
                </a:cxn>
                <a:cxn ang="0">
                  <a:pos x="1670" y="3687"/>
                </a:cxn>
                <a:cxn ang="0">
                  <a:pos x="1408" y="3643"/>
                </a:cxn>
                <a:cxn ang="0">
                  <a:pos x="1152" y="3561"/>
                </a:cxn>
                <a:cxn ang="0">
                  <a:pos x="908" y="3440"/>
                </a:cxn>
                <a:cxn ang="0">
                  <a:pos x="680" y="3282"/>
                </a:cxn>
                <a:cxn ang="0">
                  <a:pos x="475" y="3086"/>
                </a:cxn>
                <a:cxn ang="0">
                  <a:pos x="304" y="2866"/>
                </a:cxn>
                <a:cxn ang="0">
                  <a:pos x="172" y="2627"/>
                </a:cxn>
                <a:cxn ang="0">
                  <a:pos x="76" y="2374"/>
                </a:cxn>
                <a:cxn ang="0">
                  <a:pos x="19" y="2114"/>
                </a:cxn>
                <a:cxn ang="0">
                  <a:pos x="0" y="1848"/>
                </a:cxn>
                <a:cxn ang="0">
                  <a:pos x="19" y="1582"/>
                </a:cxn>
                <a:cxn ang="0">
                  <a:pos x="76" y="1321"/>
                </a:cxn>
                <a:cxn ang="0">
                  <a:pos x="171" y="1069"/>
                </a:cxn>
                <a:cxn ang="0">
                  <a:pos x="304" y="830"/>
                </a:cxn>
                <a:cxn ang="0">
                  <a:pos x="475" y="609"/>
                </a:cxn>
                <a:cxn ang="0">
                  <a:pos x="680" y="414"/>
                </a:cxn>
                <a:cxn ang="0">
                  <a:pos x="907" y="255"/>
                </a:cxn>
                <a:cxn ang="0">
                  <a:pos x="1151" y="135"/>
                </a:cxn>
                <a:cxn ang="0">
                  <a:pos x="1407" y="52"/>
                </a:cxn>
                <a:cxn ang="0">
                  <a:pos x="1669" y="8"/>
                </a:cxn>
                <a:cxn ang="0">
                  <a:pos x="1936" y="2"/>
                </a:cxn>
                <a:cxn ang="0">
                  <a:pos x="2201" y="33"/>
                </a:cxn>
                <a:cxn ang="0">
                  <a:pos x="2459" y="104"/>
                </a:cxn>
                <a:cxn ang="0">
                  <a:pos x="2708" y="211"/>
                </a:cxn>
                <a:cxn ang="0">
                  <a:pos x="2940" y="356"/>
                </a:cxn>
                <a:cxn ang="0">
                  <a:pos x="3154" y="539"/>
                </a:cxn>
              </a:cxnLst>
              <a:rect l="0" t="0" r="r" b="b"/>
              <a:pathLst>
                <a:path w="3695" h="3695">
                  <a:moveTo>
                    <a:pt x="3154" y="539"/>
                  </a:moveTo>
                  <a:lnTo>
                    <a:pt x="3220" y="608"/>
                  </a:lnTo>
                  <a:lnTo>
                    <a:pt x="3281" y="680"/>
                  </a:lnTo>
                  <a:lnTo>
                    <a:pt x="3338" y="754"/>
                  </a:lnTo>
                  <a:lnTo>
                    <a:pt x="3391" y="829"/>
                  </a:lnTo>
                  <a:lnTo>
                    <a:pt x="3439" y="907"/>
                  </a:lnTo>
                  <a:lnTo>
                    <a:pt x="3483" y="987"/>
                  </a:lnTo>
                  <a:lnTo>
                    <a:pt x="3523" y="1068"/>
                  </a:lnTo>
                  <a:lnTo>
                    <a:pt x="3559" y="1151"/>
                  </a:lnTo>
                  <a:lnTo>
                    <a:pt x="3591" y="1235"/>
                  </a:lnTo>
                  <a:lnTo>
                    <a:pt x="3619" y="1320"/>
                  </a:lnTo>
                  <a:lnTo>
                    <a:pt x="3642" y="1406"/>
                  </a:lnTo>
                  <a:lnTo>
                    <a:pt x="3661" y="1493"/>
                  </a:lnTo>
                  <a:lnTo>
                    <a:pt x="3676" y="1582"/>
                  </a:lnTo>
                  <a:lnTo>
                    <a:pt x="3686" y="1670"/>
                  </a:lnTo>
                  <a:lnTo>
                    <a:pt x="3693" y="1758"/>
                  </a:lnTo>
                  <a:lnTo>
                    <a:pt x="3695" y="1847"/>
                  </a:lnTo>
                  <a:lnTo>
                    <a:pt x="3693" y="1936"/>
                  </a:lnTo>
                  <a:lnTo>
                    <a:pt x="3686" y="2024"/>
                  </a:lnTo>
                  <a:lnTo>
                    <a:pt x="3676" y="2113"/>
                  </a:lnTo>
                  <a:lnTo>
                    <a:pt x="3661" y="2201"/>
                  </a:lnTo>
                  <a:lnTo>
                    <a:pt x="3642" y="2288"/>
                  </a:lnTo>
                  <a:lnTo>
                    <a:pt x="3619" y="2374"/>
                  </a:lnTo>
                  <a:lnTo>
                    <a:pt x="3591" y="2460"/>
                  </a:lnTo>
                  <a:lnTo>
                    <a:pt x="3559" y="2544"/>
                  </a:lnTo>
                  <a:lnTo>
                    <a:pt x="3524" y="2626"/>
                  </a:lnTo>
                  <a:lnTo>
                    <a:pt x="3484" y="2708"/>
                  </a:lnTo>
                  <a:lnTo>
                    <a:pt x="3439" y="2788"/>
                  </a:lnTo>
                  <a:lnTo>
                    <a:pt x="3391" y="2865"/>
                  </a:lnTo>
                  <a:lnTo>
                    <a:pt x="3339" y="2941"/>
                  </a:lnTo>
                  <a:lnTo>
                    <a:pt x="3281" y="3015"/>
                  </a:lnTo>
                  <a:lnTo>
                    <a:pt x="3220" y="3086"/>
                  </a:lnTo>
                  <a:lnTo>
                    <a:pt x="3155" y="3155"/>
                  </a:lnTo>
                  <a:lnTo>
                    <a:pt x="3086" y="3220"/>
                  </a:lnTo>
                  <a:lnTo>
                    <a:pt x="3015" y="3282"/>
                  </a:lnTo>
                  <a:lnTo>
                    <a:pt x="2941" y="3339"/>
                  </a:lnTo>
                  <a:lnTo>
                    <a:pt x="2865" y="3391"/>
                  </a:lnTo>
                  <a:lnTo>
                    <a:pt x="2788" y="3440"/>
                  </a:lnTo>
                  <a:lnTo>
                    <a:pt x="2708" y="3484"/>
                  </a:lnTo>
                  <a:lnTo>
                    <a:pt x="2626" y="3524"/>
                  </a:lnTo>
                  <a:lnTo>
                    <a:pt x="2544" y="3560"/>
                  </a:lnTo>
                  <a:lnTo>
                    <a:pt x="2460" y="3592"/>
                  </a:lnTo>
                  <a:lnTo>
                    <a:pt x="2375" y="3619"/>
                  </a:lnTo>
                  <a:lnTo>
                    <a:pt x="2288" y="3643"/>
                  </a:lnTo>
                  <a:lnTo>
                    <a:pt x="2201" y="3661"/>
                  </a:lnTo>
                  <a:lnTo>
                    <a:pt x="2114" y="3676"/>
                  </a:lnTo>
                  <a:lnTo>
                    <a:pt x="2026" y="3687"/>
                  </a:lnTo>
                  <a:lnTo>
                    <a:pt x="1936" y="3693"/>
                  </a:lnTo>
                  <a:lnTo>
                    <a:pt x="1848" y="3695"/>
                  </a:lnTo>
                  <a:lnTo>
                    <a:pt x="1759" y="3693"/>
                  </a:lnTo>
                  <a:lnTo>
                    <a:pt x="1670" y="3687"/>
                  </a:lnTo>
                  <a:lnTo>
                    <a:pt x="1582" y="3676"/>
                  </a:lnTo>
                  <a:lnTo>
                    <a:pt x="1495" y="3662"/>
                  </a:lnTo>
                  <a:lnTo>
                    <a:pt x="1408" y="3643"/>
                  </a:lnTo>
                  <a:lnTo>
                    <a:pt x="1321" y="3620"/>
                  </a:lnTo>
                  <a:lnTo>
                    <a:pt x="1236" y="3592"/>
                  </a:lnTo>
                  <a:lnTo>
                    <a:pt x="1152" y="3561"/>
                  </a:lnTo>
                  <a:lnTo>
                    <a:pt x="1069" y="3524"/>
                  </a:lnTo>
                  <a:lnTo>
                    <a:pt x="987" y="3484"/>
                  </a:lnTo>
                  <a:lnTo>
                    <a:pt x="908" y="3440"/>
                  </a:lnTo>
                  <a:lnTo>
                    <a:pt x="830" y="3391"/>
                  </a:lnTo>
                  <a:lnTo>
                    <a:pt x="755" y="3339"/>
                  </a:lnTo>
                  <a:lnTo>
                    <a:pt x="680" y="3282"/>
                  </a:lnTo>
                  <a:lnTo>
                    <a:pt x="609" y="3220"/>
                  </a:lnTo>
                  <a:lnTo>
                    <a:pt x="541" y="3155"/>
                  </a:lnTo>
                  <a:lnTo>
                    <a:pt x="475" y="3086"/>
                  </a:lnTo>
                  <a:lnTo>
                    <a:pt x="414" y="3015"/>
                  </a:lnTo>
                  <a:lnTo>
                    <a:pt x="357" y="2941"/>
                  </a:lnTo>
                  <a:lnTo>
                    <a:pt x="304" y="2866"/>
                  </a:lnTo>
                  <a:lnTo>
                    <a:pt x="256" y="2788"/>
                  </a:lnTo>
                  <a:lnTo>
                    <a:pt x="212" y="2709"/>
                  </a:lnTo>
                  <a:lnTo>
                    <a:pt x="172" y="2627"/>
                  </a:lnTo>
                  <a:lnTo>
                    <a:pt x="136" y="2544"/>
                  </a:lnTo>
                  <a:lnTo>
                    <a:pt x="104" y="2460"/>
                  </a:lnTo>
                  <a:lnTo>
                    <a:pt x="76" y="2374"/>
                  </a:lnTo>
                  <a:lnTo>
                    <a:pt x="53" y="2288"/>
                  </a:lnTo>
                  <a:lnTo>
                    <a:pt x="34" y="2201"/>
                  </a:lnTo>
                  <a:lnTo>
                    <a:pt x="19" y="2114"/>
                  </a:lnTo>
                  <a:lnTo>
                    <a:pt x="9" y="2025"/>
                  </a:lnTo>
                  <a:lnTo>
                    <a:pt x="2" y="1937"/>
                  </a:lnTo>
                  <a:lnTo>
                    <a:pt x="0" y="1848"/>
                  </a:lnTo>
                  <a:lnTo>
                    <a:pt x="2" y="1759"/>
                  </a:lnTo>
                  <a:lnTo>
                    <a:pt x="9" y="1670"/>
                  </a:lnTo>
                  <a:lnTo>
                    <a:pt x="19" y="1582"/>
                  </a:lnTo>
                  <a:lnTo>
                    <a:pt x="34" y="1494"/>
                  </a:lnTo>
                  <a:lnTo>
                    <a:pt x="53" y="1407"/>
                  </a:lnTo>
                  <a:lnTo>
                    <a:pt x="76" y="1321"/>
                  </a:lnTo>
                  <a:lnTo>
                    <a:pt x="104" y="1236"/>
                  </a:lnTo>
                  <a:lnTo>
                    <a:pt x="136" y="1151"/>
                  </a:lnTo>
                  <a:lnTo>
                    <a:pt x="171" y="1069"/>
                  </a:lnTo>
                  <a:lnTo>
                    <a:pt x="211" y="988"/>
                  </a:lnTo>
                  <a:lnTo>
                    <a:pt x="255" y="907"/>
                  </a:lnTo>
                  <a:lnTo>
                    <a:pt x="304" y="830"/>
                  </a:lnTo>
                  <a:lnTo>
                    <a:pt x="356" y="754"/>
                  </a:lnTo>
                  <a:lnTo>
                    <a:pt x="414" y="681"/>
                  </a:lnTo>
                  <a:lnTo>
                    <a:pt x="475" y="609"/>
                  </a:lnTo>
                  <a:lnTo>
                    <a:pt x="540" y="540"/>
                  </a:lnTo>
                  <a:lnTo>
                    <a:pt x="609" y="475"/>
                  </a:lnTo>
                  <a:lnTo>
                    <a:pt x="680" y="414"/>
                  </a:lnTo>
                  <a:lnTo>
                    <a:pt x="754" y="356"/>
                  </a:lnTo>
                  <a:lnTo>
                    <a:pt x="830" y="303"/>
                  </a:lnTo>
                  <a:lnTo>
                    <a:pt x="907" y="255"/>
                  </a:lnTo>
                  <a:lnTo>
                    <a:pt x="987" y="211"/>
                  </a:lnTo>
                  <a:lnTo>
                    <a:pt x="1069" y="171"/>
                  </a:lnTo>
                  <a:lnTo>
                    <a:pt x="1151" y="135"/>
                  </a:lnTo>
                  <a:lnTo>
                    <a:pt x="1235" y="104"/>
                  </a:lnTo>
                  <a:lnTo>
                    <a:pt x="1320" y="76"/>
                  </a:lnTo>
                  <a:lnTo>
                    <a:pt x="1407" y="52"/>
                  </a:lnTo>
                  <a:lnTo>
                    <a:pt x="1494" y="33"/>
                  </a:lnTo>
                  <a:lnTo>
                    <a:pt x="1581" y="19"/>
                  </a:lnTo>
                  <a:lnTo>
                    <a:pt x="1669" y="8"/>
                  </a:lnTo>
                  <a:lnTo>
                    <a:pt x="1759" y="2"/>
                  </a:lnTo>
                  <a:lnTo>
                    <a:pt x="1847" y="0"/>
                  </a:lnTo>
                  <a:lnTo>
                    <a:pt x="1936" y="2"/>
                  </a:lnTo>
                  <a:lnTo>
                    <a:pt x="2025" y="8"/>
                  </a:lnTo>
                  <a:lnTo>
                    <a:pt x="2113" y="19"/>
                  </a:lnTo>
                  <a:lnTo>
                    <a:pt x="2201" y="33"/>
                  </a:lnTo>
                  <a:lnTo>
                    <a:pt x="2287" y="52"/>
                  </a:lnTo>
                  <a:lnTo>
                    <a:pt x="2374" y="76"/>
                  </a:lnTo>
                  <a:lnTo>
                    <a:pt x="2459" y="104"/>
                  </a:lnTo>
                  <a:lnTo>
                    <a:pt x="2543" y="135"/>
                  </a:lnTo>
                  <a:lnTo>
                    <a:pt x="2626" y="171"/>
                  </a:lnTo>
                  <a:lnTo>
                    <a:pt x="2708" y="211"/>
                  </a:lnTo>
                  <a:lnTo>
                    <a:pt x="2787" y="255"/>
                  </a:lnTo>
                  <a:lnTo>
                    <a:pt x="2865" y="303"/>
                  </a:lnTo>
                  <a:lnTo>
                    <a:pt x="2940" y="356"/>
                  </a:lnTo>
                  <a:lnTo>
                    <a:pt x="3015" y="413"/>
                  </a:lnTo>
                  <a:lnTo>
                    <a:pt x="3086" y="474"/>
                  </a:lnTo>
                  <a:lnTo>
                    <a:pt x="3154" y="539"/>
                  </a:lnTo>
                  <a:close/>
                </a:path>
              </a:pathLst>
            </a:custGeom>
            <a:grpFill/>
            <a:ln w="9525">
              <a:noFill/>
              <a:round/>
              <a:headEnd/>
              <a:tailEnd/>
            </a:ln>
          </p:spPr>
          <p:txBody>
            <a:bodyPr/>
            <a:lstStyle/>
            <a:p>
              <a:pPr algn="ctr" eaLnBrk="1" fontAlgn="auto" hangingPunct="1">
                <a:spcBef>
                  <a:spcPts val="0"/>
                </a:spcBef>
                <a:spcAft>
                  <a:spcPts val="0"/>
                </a:spcAft>
                <a:defRPr/>
              </a:pPr>
              <a:endParaRPr lang="zh-CN" altLang="en-US" sz="1200" ker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9" name="Freeform 16"/>
            <p:cNvSpPr>
              <a:spLocks noEditPoints="1"/>
            </p:cNvSpPr>
            <p:nvPr/>
          </p:nvSpPr>
          <p:spPr bwMode="gray">
            <a:xfrm>
              <a:off x="7440613" y="4868863"/>
              <a:ext cx="1019175" cy="544513"/>
            </a:xfrm>
            <a:custGeom>
              <a:avLst/>
              <a:gdLst/>
              <a:ahLst/>
              <a:cxnLst>
                <a:cxn ang="0">
                  <a:pos x="16025" y="3351"/>
                </a:cxn>
                <a:cxn ang="0">
                  <a:pos x="14975" y="4351"/>
                </a:cxn>
                <a:cxn ang="0">
                  <a:pos x="14184" y="3632"/>
                </a:cxn>
                <a:cxn ang="0">
                  <a:pos x="12564" y="2563"/>
                </a:cxn>
                <a:cxn ang="0">
                  <a:pos x="10805" y="1850"/>
                </a:cxn>
                <a:cxn ang="0">
                  <a:pos x="8960" y="1494"/>
                </a:cxn>
                <a:cxn ang="0">
                  <a:pos x="7087" y="1494"/>
                </a:cxn>
                <a:cxn ang="0">
                  <a:pos x="5243" y="1851"/>
                </a:cxn>
                <a:cxn ang="0">
                  <a:pos x="3483" y="2564"/>
                </a:cxn>
                <a:cxn ang="0">
                  <a:pos x="1864" y="3634"/>
                </a:cxn>
                <a:cxn ang="0">
                  <a:pos x="1075" y="4353"/>
                </a:cxn>
                <a:cxn ang="0">
                  <a:pos x="24" y="3353"/>
                </a:cxn>
                <a:cxn ang="0">
                  <a:pos x="516" y="2880"/>
                </a:cxn>
                <a:cxn ang="0">
                  <a:pos x="2325" y="1549"/>
                </a:cxn>
                <a:cxn ang="0">
                  <a:pos x="4312" y="627"/>
                </a:cxn>
                <a:cxn ang="0">
                  <a:pos x="6413" y="115"/>
                </a:cxn>
                <a:cxn ang="0">
                  <a:pos x="8562" y="13"/>
                </a:cxn>
                <a:cxn ang="0">
                  <a:pos x="10694" y="319"/>
                </a:cxn>
                <a:cxn ang="0">
                  <a:pos x="12747" y="1036"/>
                </a:cxn>
                <a:cxn ang="0">
                  <a:pos x="14654" y="2160"/>
                </a:cxn>
                <a:cxn ang="0">
                  <a:pos x="14055" y="5373"/>
                </a:cxn>
                <a:cxn ang="0">
                  <a:pos x="12871" y="6404"/>
                </a:cxn>
                <a:cxn ang="0">
                  <a:pos x="12058" y="5702"/>
                </a:cxn>
                <a:cxn ang="0">
                  <a:pos x="10898" y="5017"/>
                </a:cxn>
                <a:cxn ang="0">
                  <a:pos x="9649" y="4582"/>
                </a:cxn>
                <a:cxn ang="0">
                  <a:pos x="8352" y="4395"/>
                </a:cxn>
                <a:cxn ang="0">
                  <a:pos x="7044" y="4457"/>
                </a:cxn>
                <a:cxn ang="0">
                  <a:pos x="5767" y="4769"/>
                </a:cxn>
                <a:cxn ang="0">
                  <a:pos x="4558" y="5329"/>
                </a:cxn>
                <a:cxn ang="0">
                  <a:pos x="3457" y="6139"/>
                </a:cxn>
                <a:cxn ang="0">
                  <a:pos x="3129" y="6456"/>
                </a:cxn>
                <a:cxn ang="0">
                  <a:pos x="2045" y="5322"/>
                </a:cxn>
                <a:cxn ang="0">
                  <a:pos x="2731" y="4697"/>
                </a:cxn>
                <a:cxn ang="0">
                  <a:pos x="4122" y="3779"/>
                </a:cxn>
                <a:cxn ang="0">
                  <a:pos x="5635" y="3166"/>
                </a:cxn>
                <a:cxn ang="0">
                  <a:pos x="7219" y="2859"/>
                </a:cxn>
                <a:cxn ang="0">
                  <a:pos x="8829" y="2859"/>
                </a:cxn>
                <a:cxn ang="0">
                  <a:pos x="10413" y="3165"/>
                </a:cxn>
                <a:cxn ang="0">
                  <a:pos x="11926" y="3777"/>
                </a:cxn>
                <a:cxn ang="0">
                  <a:pos x="13318" y="4696"/>
                </a:cxn>
                <a:cxn ang="0">
                  <a:pos x="14005" y="5321"/>
                </a:cxn>
                <a:cxn ang="0">
                  <a:pos x="10854" y="8576"/>
                </a:cxn>
                <a:cxn ang="0">
                  <a:pos x="10754" y="8472"/>
                </a:cxn>
                <a:cxn ang="0">
                  <a:pos x="10150" y="7980"/>
                </a:cxn>
                <a:cxn ang="0">
                  <a:pos x="9479" y="7627"/>
                </a:cxn>
                <a:cxn ang="0">
                  <a:pos x="8762" y="7416"/>
                </a:cxn>
                <a:cxn ang="0">
                  <a:pos x="8025" y="7345"/>
                </a:cxn>
                <a:cxn ang="0">
                  <a:pos x="7287" y="7416"/>
                </a:cxn>
                <a:cxn ang="0">
                  <a:pos x="6571" y="7627"/>
                </a:cxn>
                <a:cxn ang="0">
                  <a:pos x="5900" y="7980"/>
                </a:cxn>
                <a:cxn ang="0">
                  <a:pos x="5297" y="8473"/>
                </a:cxn>
                <a:cxn ang="0">
                  <a:pos x="5198" y="8576"/>
                </a:cxn>
                <a:cxn ang="0">
                  <a:pos x="4197" y="7425"/>
                </a:cxn>
                <a:cxn ang="0">
                  <a:pos x="4843" y="6865"/>
                </a:cxn>
                <a:cxn ang="0">
                  <a:pos x="5758" y="6325"/>
                </a:cxn>
                <a:cxn ang="0">
                  <a:pos x="6743" y="5981"/>
                </a:cxn>
                <a:cxn ang="0">
                  <a:pos x="7766" y="5833"/>
                </a:cxn>
                <a:cxn ang="0">
                  <a:pos x="8797" y="5882"/>
                </a:cxn>
                <a:cxn ang="0">
                  <a:pos x="9806" y="6127"/>
                </a:cxn>
                <a:cxn ang="0">
                  <a:pos x="10760" y="6570"/>
                </a:cxn>
                <a:cxn ang="0">
                  <a:pos x="11627" y="7208"/>
                </a:cxn>
                <a:cxn ang="0">
                  <a:pos x="11903" y="7475"/>
                </a:cxn>
              </a:cxnLst>
              <a:rect l="0" t="0" r="r" b="b"/>
              <a:pathLst>
                <a:path w="16050" h="8576">
                  <a:moveTo>
                    <a:pt x="15950" y="3273"/>
                  </a:moveTo>
                  <a:lnTo>
                    <a:pt x="15975" y="3299"/>
                  </a:lnTo>
                  <a:lnTo>
                    <a:pt x="16000" y="3324"/>
                  </a:lnTo>
                  <a:lnTo>
                    <a:pt x="16025" y="3351"/>
                  </a:lnTo>
                  <a:lnTo>
                    <a:pt x="16050" y="3377"/>
                  </a:lnTo>
                  <a:lnTo>
                    <a:pt x="15025" y="4402"/>
                  </a:lnTo>
                  <a:lnTo>
                    <a:pt x="15000" y="4377"/>
                  </a:lnTo>
                  <a:lnTo>
                    <a:pt x="14975" y="4351"/>
                  </a:lnTo>
                  <a:lnTo>
                    <a:pt x="14950" y="4325"/>
                  </a:lnTo>
                  <a:lnTo>
                    <a:pt x="14923" y="4300"/>
                  </a:lnTo>
                  <a:lnTo>
                    <a:pt x="14560" y="3955"/>
                  </a:lnTo>
                  <a:lnTo>
                    <a:pt x="14184" y="3632"/>
                  </a:lnTo>
                  <a:lnTo>
                    <a:pt x="13796" y="3330"/>
                  </a:lnTo>
                  <a:lnTo>
                    <a:pt x="13396" y="3053"/>
                  </a:lnTo>
                  <a:lnTo>
                    <a:pt x="12984" y="2797"/>
                  </a:lnTo>
                  <a:lnTo>
                    <a:pt x="12564" y="2563"/>
                  </a:lnTo>
                  <a:lnTo>
                    <a:pt x="12136" y="2351"/>
                  </a:lnTo>
                  <a:lnTo>
                    <a:pt x="11698" y="2161"/>
                  </a:lnTo>
                  <a:lnTo>
                    <a:pt x="11254" y="1995"/>
                  </a:lnTo>
                  <a:lnTo>
                    <a:pt x="10805" y="1850"/>
                  </a:lnTo>
                  <a:lnTo>
                    <a:pt x="10349" y="1728"/>
                  </a:lnTo>
                  <a:lnTo>
                    <a:pt x="9889" y="1628"/>
                  </a:lnTo>
                  <a:lnTo>
                    <a:pt x="9426" y="1549"/>
                  </a:lnTo>
                  <a:lnTo>
                    <a:pt x="8960" y="1494"/>
                  </a:lnTo>
                  <a:lnTo>
                    <a:pt x="8492" y="1461"/>
                  </a:lnTo>
                  <a:lnTo>
                    <a:pt x="8024" y="1450"/>
                  </a:lnTo>
                  <a:lnTo>
                    <a:pt x="7556" y="1461"/>
                  </a:lnTo>
                  <a:lnTo>
                    <a:pt x="7087" y="1494"/>
                  </a:lnTo>
                  <a:lnTo>
                    <a:pt x="6622" y="1550"/>
                  </a:lnTo>
                  <a:lnTo>
                    <a:pt x="6158" y="1629"/>
                  </a:lnTo>
                  <a:lnTo>
                    <a:pt x="5699" y="1729"/>
                  </a:lnTo>
                  <a:lnTo>
                    <a:pt x="5243" y="1851"/>
                  </a:lnTo>
                  <a:lnTo>
                    <a:pt x="4793" y="1996"/>
                  </a:lnTo>
                  <a:lnTo>
                    <a:pt x="4350" y="2163"/>
                  </a:lnTo>
                  <a:lnTo>
                    <a:pt x="3912" y="2352"/>
                  </a:lnTo>
                  <a:lnTo>
                    <a:pt x="3483" y="2564"/>
                  </a:lnTo>
                  <a:lnTo>
                    <a:pt x="3064" y="2799"/>
                  </a:lnTo>
                  <a:lnTo>
                    <a:pt x="2652" y="3055"/>
                  </a:lnTo>
                  <a:lnTo>
                    <a:pt x="2253" y="3332"/>
                  </a:lnTo>
                  <a:lnTo>
                    <a:pt x="1864" y="3634"/>
                  </a:lnTo>
                  <a:lnTo>
                    <a:pt x="1488" y="3957"/>
                  </a:lnTo>
                  <a:lnTo>
                    <a:pt x="1125" y="4302"/>
                  </a:lnTo>
                  <a:lnTo>
                    <a:pt x="1099" y="4327"/>
                  </a:lnTo>
                  <a:lnTo>
                    <a:pt x="1075" y="4353"/>
                  </a:lnTo>
                  <a:lnTo>
                    <a:pt x="1050" y="4378"/>
                  </a:lnTo>
                  <a:lnTo>
                    <a:pt x="1025" y="4404"/>
                  </a:lnTo>
                  <a:lnTo>
                    <a:pt x="0" y="3378"/>
                  </a:lnTo>
                  <a:lnTo>
                    <a:pt x="24" y="3353"/>
                  </a:lnTo>
                  <a:lnTo>
                    <a:pt x="49" y="3326"/>
                  </a:lnTo>
                  <a:lnTo>
                    <a:pt x="74" y="3301"/>
                  </a:lnTo>
                  <a:lnTo>
                    <a:pt x="99" y="3276"/>
                  </a:lnTo>
                  <a:lnTo>
                    <a:pt x="516" y="2880"/>
                  </a:lnTo>
                  <a:lnTo>
                    <a:pt x="948" y="2509"/>
                  </a:lnTo>
                  <a:lnTo>
                    <a:pt x="1394" y="2162"/>
                  </a:lnTo>
                  <a:lnTo>
                    <a:pt x="1854" y="1843"/>
                  </a:lnTo>
                  <a:lnTo>
                    <a:pt x="2325" y="1549"/>
                  </a:lnTo>
                  <a:lnTo>
                    <a:pt x="2808" y="1280"/>
                  </a:lnTo>
                  <a:lnTo>
                    <a:pt x="3301" y="1037"/>
                  </a:lnTo>
                  <a:lnTo>
                    <a:pt x="3803" y="820"/>
                  </a:lnTo>
                  <a:lnTo>
                    <a:pt x="4312" y="627"/>
                  </a:lnTo>
                  <a:lnTo>
                    <a:pt x="4830" y="461"/>
                  </a:lnTo>
                  <a:lnTo>
                    <a:pt x="5353" y="320"/>
                  </a:lnTo>
                  <a:lnTo>
                    <a:pt x="5881" y="205"/>
                  </a:lnTo>
                  <a:lnTo>
                    <a:pt x="6413" y="115"/>
                  </a:lnTo>
                  <a:lnTo>
                    <a:pt x="6949" y="51"/>
                  </a:lnTo>
                  <a:lnTo>
                    <a:pt x="7485" y="13"/>
                  </a:lnTo>
                  <a:lnTo>
                    <a:pt x="8024" y="0"/>
                  </a:lnTo>
                  <a:lnTo>
                    <a:pt x="8562" y="13"/>
                  </a:lnTo>
                  <a:lnTo>
                    <a:pt x="9099" y="51"/>
                  </a:lnTo>
                  <a:lnTo>
                    <a:pt x="9634" y="115"/>
                  </a:lnTo>
                  <a:lnTo>
                    <a:pt x="10167" y="205"/>
                  </a:lnTo>
                  <a:lnTo>
                    <a:pt x="10694" y="319"/>
                  </a:lnTo>
                  <a:lnTo>
                    <a:pt x="11218" y="460"/>
                  </a:lnTo>
                  <a:lnTo>
                    <a:pt x="11735" y="626"/>
                  </a:lnTo>
                  <a:lnTo>
                    <a:pt x="12245" y="818"/>
                  </a:lnTo>
                  <a:lnTo>
                    <a:pt x="12747" y="1036"/>
                  </a:lnTo>
                  <a:lnTo>
                    <a:pt x="13239" y="1278"/>
                  </a:lnTo>
                  <a:lnTo>
                    <a:pt x="13722" y="1547"/>
                  </a:lnTo>
                  <a:lnTo>
                    <a:pt x="14194" y="1841"/>
                  </a:lnTo>
                  <a:lnTo>
                    <a:pt x="14654" y="2160"/>
                  </a:lnTo>
                  <a:lnTo>
                    <a:pt x="15100" y="2506"/>
                  </a:lnTo>
                  <a:lnTo>
                    <a:pt x="15532" y="2877"/>
                  </a:lnTo>
                  <a:lnTo>
                    <a:pt x="15950" y="3273"/>
                  </a:lnTo>
                  <a:close/>
                  <a:moveTo>
                    <a:pt x="14055" y="5373"/>
                  </a:moveTo>
                  <a:lnTo>
                    <a:pt x="12946" y="6481"/>
                  </a:lnTo>
                  <a:lnTo>
                    <a:pt x="12921" y="6456"/>
                  </a:lnTo>
                  <a:lnTo>
                    <a:pt x="12897" y="6430"/>
                  </a:lnTo>
                  <a:lnTo>
                    <a:pt x="12871" y="6404"/>
                  </a:lnTo>
                  <a:lnTo>
                    <a:pt x="12846" y="6379"/>
                  </a:lnTo>
                  <a:lnTo>
                    <a:pt x="12592" y="6137"/>
                  </a:lnTo>
                  <a:lnTo>
                    <a:pt x="12329" y="5912"/>
                  </a:lnTo>
                  <a:lnTo>
                    <a:pt x="12058" y="5702"/>
                  </a:lnTo>
                  <a:lnTo>
                    <a:pt x="11778" y="5507"/>
                  </a:lnTo>
                  <a:lnTo>
                    <a:pt x="11491" y="5328"/>
                  </a:lnTo>
                  <a:lnTo>
                    <a:pt x="11198" y="5165"/>
                  </a:lnTo>
                  <a:lnTo>
                    <a:pt x="10898" y="5017"/>
                  </a:lnTo>
                  <a:lnTo>
                    <a:pt x="10592" y="4885"/>
                  </a:lnTo>
                  <a:lnTo>
                    <a:pt x="10282" y="4768"/>
                  </a:lnTo>
                  <a:lnTo>
                    <a:pt x="9967" y="4667"/>
                  </a:lnTo>
                  <a:lnTo>
                    <a:pt x="9649" y="4582"/>
                  </a:lnTo>
                  <a:lnTo>
                    <a:pt x="9328" y="4512"/>
                  </a:lnTo>
                  <a:lnTo>
                    <a:pt x="9004" y="4457"/>
                  </a:lnTo>
                  <a:lnTo>
                    <a:pt x="8679" y="4418"/>
                  </a:lnTo>
                  <a:lnTo>
                    <a:pt x="8352" y="4395"/>
                  </a:lnTo>
                  <a:lnTo>
                    <a:pt x="8024" y="4387"/>
                  </a:lnTo>
                  <a:lnTo>
                    <a:pt x="7697" y="4395"/>
                  </a:lnTo>
                  <a:lnTo>
                    <a:pt x="7370" y="4418"/>
                  </a:lnTo>
                  <a:lnTo>
                    <a:pt x="7044" y="4457"/>
                  </a:lnTo>
                  <a:lnTo>
                    <a:pt x="6721" y="4512"/>
                  </a:lnTo>
                  <a:lnTo>
                    <a:pt x="6399" y="4582"/>
                  </a:lnTo>
                  <a:lnTo>
                    <a:pt x="6081" y="4668"/>
                  </a:lnTo>
                  <a:lnTo>
                    <a:pt x="5767" y="4769"/>
                  </a:lnTo>
                  <a:lnTo>
                    <a:pt x="5457" y="4886"/>
                  </a:lnTo>
                  <a:lnTo>
                    <a:pt x="5151" y="5018"/>
                  </a:lnTo>
                  <a:lnTo>
                    <a:pt x="4851" y="5166"/>
                  </a:lnTo>
                  <a:lnTo>
                    <a:pt x="4558" y="5329"/>
                  </a:lnTo>
                  <a:lnTo>
                    <a:pt x="4271" y="5509"/>
                  </a:lnTo>
                  <a:lnTo>
                    <a:pt x="3991" y="5703"/>
                  </a:lnTo>
                  <a:lnTo>
                    <a:pt x="3720" y="5913"/>
                  </a:lnTo>
                  <a:lnTo>
                    <a:pt x="3457" y="6139"/>
                  </a:lnTo>
                  <a:lnTo>
                    <a:pt x="3203" y="6380"/>
                  </a:lnTo>
                  <a:lnTo>
                    <a:pt x="3178" y="6406"/>
                  </a:lnTo>
                  <a:lnTo>
                    <a:pt x="3154" y="6431"/>
                  </a:lnTo>
                  <a:lnTo>
                    <a:pt x="3129" y="6456"/>
                  </a:lnTo>
                  <a:lnTo>
                    <a:pt x="3104" y="6482"/>
                  </a:lnTo>
                  <a:lnTo>
                    <a:pt x="1996" y="5374"/>
                  </a:lnTo>
                  <a:lnTo>
                    <a:pt x="2020" y="5348"/>
                  </a:lnTo>
                  <a:lnTo>
                    <a:pt x="2045" y="5322"/>
                  </a:lnTo>
                  <a:lnTo>
                    <a:pt x="2069" y="5297"/>
                  </a:lnTo>
                  <a:lnTo>
                    <a:pt x="2095" y="5272"/>
                  </a:lnTo>
                  <a:lnTo>
                    <a:pt x="2406" y="4975"/>
                  </a:lnTo>
                  <a:lnTo>
                    <a:pt x="2731" y="4697"/>
                  </a:lnTo>
                  <a:lnTo>
                    <a:pt x="3065" y="4439"/>
                  </a:lnTo>
                  <a:lnTo>
                    <a:pt x="3408" y="4199"/>
                  </a:lnTo>
                  <a:lnTo>
                    <a:pt x="3761" y="3980"/>
                  </a:lnTo>
                  <a:lnTo>
                    <a:pt x="4122" y="3779"/>
                  </a:lnTo>
                  <a:lnTo>
                    <a:pt x="4491" y="3596"/>
                  </a:lnTo>
                  <a:lnTo>
                    <a:pt x="4866" y="3434"/>
                  </a:lnTo>
                  <a:lnTo>
                    <a:pt x="5247" y="3290"/>
                  </a:lnTo>
                  <a:lnTo>
                    <a:pt x="5635" y="3166"/>
                  </a:lnTo>
                  <a:lnTo>
                    <a:pt x="6026" y="3061"/>
                  </a:lnTo>
                  <a:lnTo>
                    <a:pt x="6421" y="2974"/>
                  </a:lnTo>
                  <a:lnTo>
                    <a:pt x="6819" y="2907"/>
                  </a:lnTo>
                  <a:lnTo>
                    <a:pt x="7219" y="2859"/>
                  </a:lnTo>
                  <a:lnTo>
                    <a:pt x="7622" y="2831"/>
                  </a:lnTo>
                  <a:lnTo>
                    <a:pt x="8024" y="2821"/>
                  </a:lnTo>
                  <a:lnTo>
                    <a:pt x="8427" y="2831"/>
                  </a:lnTo>
                  <a:lnTo>
                    <a:pt x="8829" y="2859"/>
                  </a:lnTo>
                  <a:lnTo>
                    <a:pt x="9229" y="2907"/>
                  </a:lnTo>
                  <a:lnTo>
                    <a:pt x="9627" y="2973"/>
                  </a:lnTo>
                  <a:lnTo>
                    <a:pt x="10022" y="3060"/>
                  </a:lnTo>
                  <a:lnTo>
                    <a:pt x="10413" y="3165"/>
                  </a:lnTo>
                  <a:lnTo>
                    <a:pt x="10801" y="3289"/>
                  </a:lnTo>
                  <a:lnTo>
                    <a:pt x="11182" y="3433"/>
                  </a:lnTo>
                  <a:lnTo>
                    <a:pt x="11558" y="3595"/>
                  </a:lnTo>
                  <a:lnTo>
                    <a:pt x="11926" y="3777"/>
                  </a:lnTo>
                  <a:lnTo>
                    <a:pt x="12287" y="3978"/>
                  </a:lnTo>
                  <a:lnTo>
                    <a:pt x="12640" y="4198"/>
                  </a:lnTo>
                  <a:lnTo>
                    <a:pt x="12984" y="4437"/>
                  </a:lnTo>
                  <a:lnTo>
                    <a:pt x="13318" y="4696"/>
                  </a:lnTo>
                  <a:lnTo>
                    <a:pt x="13641" y="4973"/>
                  </a:lnTo>
                  <a:lnTo>
                    <a:pt x="13954" y="5270"/>
                  </a:lnTo>
                  <a:lnTo>
                    <a:pt x="13980" y="5295"/>
                  </a:lnTo>
                  <a:lnTo>
                    <a:pt x="14005" y="5321"/>
                  </a:lnTo>
                  <a:lnTo>
                    <a:pt x="14030" y="5347"/>
                  </a:lnTo>
                  <a:lnTo>
                    <a:pt x="14055" y="5373"/>
                  </a:lnTo>
                  <a:close/>
                  <a:moveTo>
                    <a:pt x="11928" y="7501"/>
                  </a:moveTo>
                  <a:lnTo>
                    <a:pt x="10854" y="8576"/>
                  </a:lnTo>
                  <a:lnTo>
                    <a:pt x="10829" y="8549"/>
                  </a:lnTo>
                  <a:lnTo>
                    <a:pt x="10805" y="8523"/>
                  </a:lnTo>
                  <a:lnTo>
                    <a:pt x="10780" y="8498"/>
                  </a:lnTo>
                  <a:lnTo>
                    <a:pt x="10754" y="8472"/>
                  </a:lnTo>
                  <a:lnTo>
                    <a:pt x="10610" y="8336"/>
                  </a:lnTo>
                  <a:lnTo>
                    <a:pt x="10462" y="8208"/>
                  </a:lnTo>
                  <a:lnTo>
                    <a:pt x="10307" y="8089"/>
                  </a:lnTo>
                  <a:lnTo>
                    <a:pt x="10150" y="7980"/>
                  </a:lnTo>
                  <a:lnTo>
                    <a:pt x="9987" y="7878"/>
                  </a:lnTo>
                  <a:lnTo>
                    <a:pt x="9821" y="7785"/>
                  </a:lnTo>
                  <a:lnTo>
                    <a:pt x="9651" y="7702"/>
                  </a:lnTo>
                  <a:lnTo>
                    <a:pt x="9479" y="7627"/>
                  </a:lnTo>
                  <a:lnTo>
                    <a:pt x="9303" y="7561"/>
                  </a:lnTo>
                  <a:lnTo>
                    <a:pt x="9124" y="7504"/>
                  </a:lnTo>
                  <a:lnTo>
                    <a:pt x="8945" y="7456"/>
                  </a:lnTo>
                  <a:lnTo>
                    <a:pt x="8762" y="7416"/>
                  </a:lnTo>
                  <a:lnTo>
                    <a:pt x="8580" y="7384"/>
                  </a:lnTo>
                  <a:lnTo>
                    <a:pt x="8395" y="7362"/>
                  </a:lnTo>
                  <a:lnTo>
                    <a:pt x="8210" y="7349"/>
                  </a:lnTo>
                  <a:lnTo>
                    <a:pt x="8025" y="7345"/>
                  </a:lnTo>
                  <a:lnTo>
                    <a:pt x="7839" y="7349"/>
                  </a:lnTo>
                  <a:lnTo>
                    <a:pt x="7655" y="7363"/>
                  </a:lnTo>
                  <a:lnTo>
                    <a:pt x="7470" y="7385"/>
                  </a:lnTo>
                  <a:lnTo>
                    <a:pt x="7287" y="7416"/>
                  </a:lnTo>
                  <a:lnTo>
                    <a:pt x="7105" y="7456"/>
                  </a:lnTo>
                  <a:lnTo>
                    <a:pt x="6926" y="7504"/>
                  </a:lnTo>
                  <a:lnTo>
                    <a:pt x="6747" y="7561"/>
                  </a:lnTo>
                  <a:lnTo>
                    <a:pt x="6571" y="7627"/>
                  </a:lnTo>
                  <a:lnTo>
                    <a:pt x="6399" y="7703"/>
                  </a:lnTo>
                  <a:lnTo>
                    <a:pt x="6229" y="7786"/>
                  </a:lnTo>
                  <a:lnTo>
                    <a:pt x="6063" y="7878"/>
                  </a:lnTo>
                  <a:lnTo>
                    <a:pt x="5900" y="7980"/>
                  </a:lnTo>
                  <a:lnTo>
                    <a:pt x="5742" y="8090"/>
                  </a:lnTo>
                  <a:lnTo>
                    <a:pt x="5588" y="8209"/>
                  </a:lnTo>
                  <a:lnTo>
                    <a:pt x="5440" y="8337"/>
                  </a:lnTo>
                  <a:lnTo>
                    <a:pt x="5297" y="8473"/>
                  </a:lnTo>
                  <a:lnTo>
                    <a:pt x="5271" y="8498"/>
                  </a:lnTo>
                  <a:lnTo>
                    <a:pt x="5246" y="8524"/>
                  </a:lnTo>
                  <a:lnTo>
                    <a:pt x="5222" y="8550"/>
                  </a:lnTo>
                  <a:lnTo>
                    <a:pt x="5198" y="8576"/>
                  </a:lnTo>
                  <a:lnTo>
                    <a:pt x="4123" y="7501"/>
                  </a:lnTo>
                  <a:lnTo>
                    <a:pt x="4147" y="7476"/>
                  </a:lnTo>
                  <a:lnTo>
                    <a:pt x="4172" y="7450"/>
                  </a:lnTo>
                  <a:lnTo>
                    <a:pt x="4197" y="7425"/>
                  </a:lnTo>
                  <a:lnTo>
                    <a:pt x="4222" y="7399"/>
                  </a:lnTo>
                  <a:lnTo>
                    <a:pt x="4422" y="7209"/>
                  </a:lnTo>
                  <a:lnTo>
                    <a:pt x="4629" y="7030"/>
                  </a:lnTo>
                  <a:lnTo>
                    <a:pt x="4843" y="6865"/>
                  </a:lnTo>
                  <a:lnTo>
                    <a:pt x="5064" y="6711"/>
                  </a:lnTo>
                  <a:lnTo>
                    <a:pt x="5290" y="6571"/>
                  </a:lnTo>
                  <a:lnTo>
                    <a:pt x="5522" y="6441"/>
                  </a:lnTo>
                  <a:lnTo>
                    <a:pt x="5758" y="6325"/>
                  </a:lnTo>
                  <a:lnTo>
                    <a:pt x="6000" y="6220"/>
                  </a:lnTo>
                  <a:lnTo>
                    <a:pt x="6243" y="6128"/>
                  </a:lnTo>
                  <a:lnTo>
                    <a:pt x="6492" y="6048"/>
                  </a:lnTo>
                  <a:lnTo>
                    <a:pt x="6743" y="5981"/>
                  </a:lnTo>
                  <a:lnTo>
                    <a:pt x="6997" y="5925"/>
                  </a:lnTo>
                  <a:lnTo>
                    <a:pt x="7252" y="5882"/>
                  </a:lnTo>
                  <a:lnTo>
                    <a:pt x="7508" y="5851"/>
                  </a:lnTo>
                  <a:lnTo>
                    <a:pt x="7766" y="5833"/>
                  </a:lnTo>
                  <a:lnTo>
                    <a:pt x="8025" y="5827"/>
                  </a:lnTo>
                  <a:lnTo>
                    <a:pt x="8283" y="5833"/>
                  </a:lnTo>
                  <a:lnTo>
                    <a:pt x="8541" y="5851"/>
                  </a:lnTo>
                  <a:lnTo>
                    <a:pt x="8797" y="5882"/>
                  </a:lnTo>
                  <a:lnTo>
                    <a:pt x="9053" y="5925"/>
                  </a:lnTo>
                  <a:lnTo>
                    <a:pt x="9306" y="5981"/>
                  </a:lnTo>
                  <a:lnTo>
                    <a:pt x="9557" y="6048"/>
                  </a:lnTo>
                  <a:lnTo>
                    <a:pt x="9806" y="6127"/>
                  </a:lnTo>
                  <a:lnTo>
                    <a:pt x="10050" y="6219"/>
                  </a:lnTo>
                  <a:lnTo>
                    <a:pt x="10291" y="6324"/>
                  </a:lnTo>
                  <a:lnTo>
                    <a:pt x="10528" y="6440"/>
                  </a:lnTo>
                  <a:lnTo>
                    <a:pt x="10760" y="6570"/>
                  </a:lnTo>
                  <a:lnTo>
                    <a:pt x="10985" y="6710"/>
                  </a:lnTo>
                  <a:lnTo>
                    <a:pt x="11206" y="6864"/>
                  </a:lnTo>
                  <a:lnTo>
                    <a:pt x="11421" y="7029"/>
                  </a:lnTo>
                  <a:lnTo>
                    <a:pt x="11627" y="7208"/>
                  </a:lnTo>
                  <a:lnTo>
                    <a:pt x="11828" y="7398"/>
                  </a:lnTo>
                  <a:lnTo>
                    <a:pt x="11853" y="7424"/>
                  </a:lnTo>
                  <a:lnTo>
                    <a:pt x="11878" y="7449"/>
                  </a:lnTo>
                  <a:lnTo>
                    <a:pt x="11903" y="7475"/>
                  </a:lnTo>
                  <a:lnTo>
                    <a:pt x="11928" y="7501"/>
                  </a:lnTo>
                  <a:close/>
                </a:path>
              </a:pathLst>
            </a:custGeom>
            <a:grpFill/>
            <a:ln w="9525">
              <a:noFill/>
              <a:round/>
              <a:headEnd/>
              <a:tailEnd/>
            </a:ln>
          </p:spPr>
          <p:txBody>
            <a:bodyPr/>
            <a:lstStyle/>
            <a:p>
              <a:pPr algn="ctr" eaLnBrk="1" fontAlgn="auto" hangingPunct="1">
                <a:spcBef>
                  <a:spcPts val="0"/>
                </a:spcBef>
                <a:spcAft>
                  <a:spcPts val="0"/>
                </a:spcAft>
                <a:defRPr/>
              </a:pPr>
              <a:endParaRPr lang="zh-CN" altLang="en-US" sz="1200" ker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100" name="文本框 99"/>
          <p:cNvSpPr txBox="1"/>
          <p:nvPr/>
        </p:nvSpPr>
        <p:spPr bwMode="gray">
          <a:xfrm>
            <a:off x="4188325" y="4135039"/>
            <a:ext cx="460382" cy="276999"/>
          </a:xfrm>
          <a:prstGeom prst="rect">
            <a:avLst/>
          </a:prstGeom>
          <a:noFill/>
        </p:spPr>
        <p:txBody>
          <a:bodyPr wrap="none" rtlCol="0">
            <a:spAutoFit/>
          </a:bodyPr>
          <a:lstStyle/>
          <a:p>
            <a:pPr algn="r"/>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AP1</a:t>
            </a:r>
            <a:endParaRPr lang="zh-CN" altLang="en-US" sz="1200" b="1"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78" name="文本框 77"/>
          <p:cNvSpPr txBox="1"/>
          <p:nvPr/>
        </p:nvSpPr>
        <p:spPr bwMode="gray">
          <a:xfrm>
            <a:off x="2062966" y="3029212"/>
            <a:ext cx="747320" cy="523220"/>
          </a:xfrm>
          <a:prstGeom prst="rect">
            <a:avLst/>
          </a:prstGeom>
          <a:noFill/>
        </p:spPr>
        <p:txBody>
          <a:bodyPr wrap="none" rtlCol="0">
            <a:spAutoFit/>
          </a:bodyPr>
          <a:lstStyle/>
          <a:p>
            <a:pPr algn="ctr"/>
            <a:r>
              <a:rPr lang="en-US" altLang="zh-CN" sz="1400" b="1" dirty="0" smtClean="0">
                <a:solidFill>
                  <a:srgbClr val="ED6D00"/>
                </a:solidFill>
                <a:latin typeface="Huawei Sans" panose="020C0503030203020204" pitchFamily="34" charset="0"/>
                <a:ea typeface="方正兰亭细黑简体" panose="02000000000000000000" pitchFamily="2" charset="-122"/>
                <a:sym typeface="Huawei Sans" panose="020C0503030203020204" pitchFamily="34" charset="0"/>
              </a:rPr>
              <a:t>OSPF</a:t>
            </a:r>
          </a:p>
          <a:p>
            <a:pPr algn="ctr"/>
            <a:r>
              <a:rPr lang="en-US" altLang="zh-CN" sz="1400" b="1" dirty="0" smtClean="0">
                <a:solidFill>
                  <a:srgbClr val="ED6D00"/>
                </a:solidFill>
                <a:latin typeface="Huawei Sans" panose="020C0503030203020204" pitchFamily="34" charset="0"/>
                <a:ea typeface="方正兰亭细黑简体" panose="02000000000000000000" pitchFamily="2" charset="-122"/>
                <a:sym typeface="Huawei Sans" panose="020C0503030203020204" pitchFamily="34" charset="0"/>
              </a:rPr>
              <a:t>Area 0</a:t>
            </a:r>
          </a:p>
        </p:txBody>
      </p:sp>
      <p:sp>
        <p:nvSpPr>
          <p:cNvPr id="39" name="五边形 38"/>
          <p:cNvSpPr/>
          <p:nvPr/>
        </p:nvSpPr>
        <p:spPr bwMode="gray">
          <a:xfrm>
            <a:off x="5773628" y="98481"/>
            <a:ext cx="9000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站点管理</a:t>
            </a:r>
          </a:p>
        </p:txBody>
      </p:sp>
      <p:sp>
        <p:nvSpPr>
          <p:cNvPr id="40" name="燕尾形 39"/>
          <p:cNvSpPr/>
          <p:nvPr/>
        </p:nvSpPr>
        <p:spPr bwMode="gray">
          <a:xfrm>
            <a:off x="9109268" y="9848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逻辑网络</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1" name="燕尾形 40"/>
          <p:cNvSpPr/>
          <p:nvPr/>
        </p:nvSpPr>
        <p:spPr bwMode="gray">
          <a:xfrm>
            <a:off x="9925178" y="9848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业务部署</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2" name="燕尾形 41"/>
          <p:cNvSpPr/>
          <p:nvPr/>
        </p:nvSpPr>
        <p:spPr bwMode="gray">
          <a:xfrm>
            <a:off x="8221358" y="98481"/>
            <a:ext cx="9720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Fabric</a:t>
            </a: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网络</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4" name="燕尾形 43"/>
          <p:cNvSpPr/>
          <p:nvPr/>
        </p:nvSpPr>
        <p:spPr bwMode="gray">
          <a:xfrm>
            <a:off x="7405448" y="9848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网络规划</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6" name="燕尾形 45"/>
          <p:cNvSpPr/>
          <p:nvPr/>
        </p:nvSpPr>
        <p:spPr bwMode="gray">
          <a:xfrm>
            <a:off x="6589538" y="9848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设备管理</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7" name="燕尾形 46"/>
          <p:cNvSpPr/>
          <p:nvPr/>
        </p:nvSpPr>
        <p:spPr bwMode="gray">
          <a:xfrm>
            <a:off x="10741088" y="98481"/>
            <a:ext cx="1008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WLAN</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业务</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2442615461"/>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3"/>
          <a:stretch>
            <a:fillRect/>
          </a:stretch>
        </p:blipFill>
        <p:spPr>
          <a:xfrm>
            <a:off x="4899483" y="2727225"/>
            <a:ext cx="6811930" cy="1402456"/>
          </a:xfrm>
          <a:prstGeom prst="rect">
            <a:avLst/>
          </a:prstGeom>
          <a:ln w="12700">
            <a:solidFill>
              <a:schemeClr val="bg1">
                <a:lumMod val="85000"/>
              </a:schemeClr>
            </a:solidFill>
          </a:ln>
        </p:spPr>
      </p:pic>
      <p:sp>
        <p:nvSpPr>
          <p:cNvPr id="5" name="标题 4"/>
          <p:cNvSpPr>
            <a:spLocks noGrp="1"/>
          </p:cNvSpPr>
          <p:nvPr>
            <p:ph type="title"/>
          </p:nvPr>
        </p:nvSpPr>
        <p:spPr bwMode="gray"/>
        <p:txBody>
          <a:bodyPr>
            <a:normAutofit/>
          </a:bodyPr>
          <a:lstStyle/>
          <a:p>
            <a:r>
              <a:rPr lang="zh-CN" altLang="en-US" dirty="0"/>
              <a:t>实验</a:t>
            </a:r>
            <a:r>
              <a:rPr lang="zh-CN" altLang="en-US" dirty="0" smtClean="0"/>
              <a:t>：创建</a:t>
            </a:r>
            <a:r>
              <a:rPr lang="en-US" altLang="zh-CN" dirty="0" smtClean="0"/>
              <a:t>Fabric</a:t>
            </a:r>
            <a:r>
              <a:rPr lang="zh-CN" altLang="en-US" dirty="0"/>
              <a:t> </a:t>
            </a:r>
            <a:r>
              <a:rPr lang="en-US" altLang="zh-CN" dirty="0" smtClean="0"/>
              <a:t>(4)</a:t>
            </a:r>
            <a:endParaRPr lang="zh-CN" altLang="en-US" dirty="0"/>
          </a:p>
        </p:txBody>
      </p:sp>
      <p:sp>
        <p:nvSpPr>
          <p:cNvPr id="4" name="文本占位符 3"/>
          <p:cNvSpPr>
            <a:spLocks noGrp="1"/>
          </p:cNvSpPr>
          <p:nvPr>
            <p:ph type="body" sz="quarter" idx="4294967295"/>
          </p:nvPr>
        </p:nvSpPr>
        <p:spPr bwMode="gray">
          <a:xfrm>
            <a:off x="455613" y="5222875"/>
            <a:ext cx="11256962" cy="977900"/>
          </a:xfrm>
        </p:spPr>
        <p:txBody>
          <a:bodyPr/>
          <a:lstStyle/>
          <a:p>
            <a:r>
              <a:rPr lang="zh-CN" altLang="en-US" sz="1800" dirty="0"/>
              <a:t>完成本步骤后，用户成功地基于园区物理网络构建了一个</a:t>
            </a:r>
            <a:r>
              <a:rPr lang="en-US" altLang="zh-CN" sz="1800" dirty="0"/>
              <a:t>Fabric</a:t>
            </a:r>
            <a:r>
              <a:rPr lang="zh-CN" altLang="en-US" sz="1800" dirty="0"/>
              <a:t>网络，并且通过</a:t>
            </a:r>
            <a:r>
              <a:rPr lang="en-US" altLang="zh-CN" sz="1800" dirty="0"/>
              <a:t>iMaster </a:t>
            </a:r>
            <a:r>
              <a:rPr lang="en-US" altLang="zh-CN" sz="1800" dirty="0" smtClean="0"/>
              <a:t>NCE-Campus</a:t>
            </a:r>
            <a:r>
              <a:rPr lang="zh-CN" altLang="en-US" sz="1800" dirty="0" smtClean="0"/>
              <a:t>自动</a:t>
            </a:r>
            <a:r>
              <a:rPr lang="zh-CN" altLang="en-US" sz="1800" dirty="0"/>
              <a:t>地完成了</a:t>
            </a:r>
            <a:r>
              <a:rPr lang="en-US" altLang="zh-CN" sz="1800" dirty="0"/>
              <a:t>Underlay</a:t>
            </a:r>
            <a:r>
              <a:rPr lang="zh-CN" altLang="en-US" sz="1800" dirty="0"/>
              <a:t>网络配置（网络设备之间的互联，以及</a:t>
            </a:r>
            <a:r>
              <a:rPr lang="en-US" altLang="zh-CN" sz="1800" dirty="0"/>
              <a:t>OSPF</a:t>
            </a:r>
            <a:r>
              <a:rPr lang="zh-CN" altLang="en-US" sz="1800" dirty="0"/>
              <a:t>协议配置等），为后续创建</a:t>
            </a:r>
            <a:r>
              <a:rPr lang="en-US" altLang="zh-CN" sz="1800" dirty="0"/>
              <a:t>VN</a:t>
            </a:r>
            <a:r>
              <a:rPr lang="zh-CN" altLang="en-US" sz="1800" dirty="0"/>
              <a:t>构建了底座</a:t>
            </a:r>
            <a:r>
              <a:rPr lang="zh-CN" altLang="en-US" sz="1800" dirty="0" smtClean="0"/>
              <a:t>。</a:t>
            </a:r>
            <a:endParaRPr lang="zh-CN" altLang="en-US" sz="1800" dirty="0"/>
          </a:p>
        </p:txBody>
      </p:sp>
      <p:sp>
        <p:nvSpPr>
          <p:cNvPr id="79" name="矩形 78"/>
          <p:cNvSpPr/>
          <p:nvPr/>
        </p:nvSpPr>
        <p:spPr bwMode="gray">
          <a:xfrm>
            <a:off x="4814920" y="2234598"/>
            <a:ext cx="5832565" cy="400110"/>
          </a:xfrm>
          <a:prstGeom prst="rect">
            <a:avLst/>
          </a:prstGeom>
        </p:spPr>
        <p:txBody>
          <a:bodyPr wrap="square">
            <a:spAutoFit/>
          </a:bodyPr>
          <a:lstStyle/>
          <a:p>
            <a:pPr algn="just">
              <a:lnSpc>
                <a:spcPts val="2400"/>
              </a:lnSpc>
              <a:spcAft>
                <a:spcPts val="600"/>
              </a:spcAft>
            </a:pPr>
            <a:r>
              <a:rPr lang="zh-CN" altLang="en-US" sz="1600" dirty="0"/>
              <a:t>通过</a:t>
            </a:r>
            <a:r>
              <a:rPr lang="en-US" altLang="zh-CN" sz="1600" dirty="0"/>
              <a:t>iMaster </a:t>
            </a:r>
            <a:r>
              <a:rPr lang="en-US" altLang="zh-CN" sz="1600" dirty="0" smtClean="0"/>
              <a:t>NCE-Campus</a:t>
            </a:r>
            <a:r>
              <a:rPr lang="zh-CN" altLang="en-US" sz="1600" dirty="0" smtClean="0"/>
              <a:t>完成</a:t>
            </a:r>
            <a:r>
              <a:rPr lang="en-US" altLang="zh-CN" sz="1600" dirty="0" smtClean="0"/>
              <a:t>BGP EVPN</a:t>
            </a:r>
            <a:r>
              <a:rPr lang="zh-CN" altLang="en-US" sz="1600" dirty="0" smtClean="0"/>
              <a:t>配置：</a:t>
            </a:r>
            <a:endParaRPr lang="zh-CN" altLang="en-US" sz="1600" dirty="0"/>
          </a:p>
        </p:txBody>
      </p:sp>
      <p:cxnSp>
        <p:nvCxnSpPr>
          <p:cNvPr id="45" name="直接箭头连接符 44"/>
          <p:cNvCxnSpPr/>
          <p:nvPr/>
        </p:nvCxnSpPr>
        <p:spPr bwMode="gray">
          <a:xfrm flipH="1" flipV="1">
            <a:off x="8955552" y="4092413"/>
            <a:ext cx="293576" cy="243266"/>
          </a:xfrm>
          <a:prstGeom prst="straightConnector1">
            <a:avLst/>
          </a:prstGeom>
          <a:ln w="38100">
            <a:solidFill>
              <a:srgbClr val="30B5C5"/>
            </a:solidFill>
            <a:tailEnd type="triangle"/>
          </a:ln>
        </p:spPr>
        <p:style>
          <a:lnRef idx="1">
            <a:schemeClr val="accent1"/>
          </a:lnRef>
          <a:fillRef idx="0">
            <a:schemeClr val="accent1"/>
          </a:fillRef>
          <a:effectRef idx="0">
            <a:schemeClr val="accent1"/>
          </a:effectRef>
          <a:fontRef idx="minor">
            <a:schemeClr val="tx1"/>
          </a:fontRef>
        </p:style>
      </p:cxnSp>
      <p:sp>
        <p:nvSpPr>
          <p:cNvPr id="47" name="TextBox 179"/>
          <p:cNvSpPr txBox="1"/>
          <p:nvPr/>
        </p:nvSpPr>
        <p:spPr bwMode="gray">
          <a:xfrm>
            <a:off x="9158537" y="4285010"/>
            <a:ext cx="1564881" cy="314230"/>
          </a:xfrm>
          <a:prstGeom prst="roundRect">
            <a:avLst>
              <a:gd name="adj" fmla="val 12806"/>
            </a:avLst>
          </a:prstGeom>
          <a:solidFill>
            <a:srgbClr val="30B5C5"/>
          </a:solidFill>
          <a:ln>
            <a:noFill/>
          </a:ln>
        </p:spPr>
        <p:txBody>
          <a:bodyPr wrap="none" lIns="72000" tIns="72000" rIns="72000" bIns="72000" anchor="ctr" anchorCtr="0">
            <a:noAutofit/>
          </a:bodyPr>
          <a:lstStyle>
            <a:defPPr>
              <a:defRPr lang="en-US"/>
            </a:defPPr>
            <a:lvl1pPr algn="ctr" defTabSz="914478">
              <a:defRPr sz="1200">
                <a:solidFill>
                  <a:schemeClr val="bg1"/>
                </a:solidFill>
              </a:defRPr>
            </a:lvl1pPr>
            <a:lvl2pPr marL="457240" defTabSz="914478"/>
            <a:lvl3pPr marL="914478" defTabSz="914478"/>
            <a:lvl4pPr marL="1371718" defTabSz="914478"/>
            <a:lvl5pPr marL="1828957" defTabSz="914478"/>
            <a:lvl6pPr marL="2286196" defTabSz="914478"/>
            <a:lvl7pPr marL="2743435" defTabSz="914478"/>
            <a:lvl8pPr marL="3200675" defTabSz="914478"/>
            <a:lvl9pPr marL="3657913" defTabSz="914478"/>
          </a:lstStyle>
          <a:p>
            <a:pPr algn="l">
              <a:lnSpc>
                <a:spcPts val="1800"/>
              </a:lnSpc>
            </a:pPr>
            <a:r>
              <a:rPr lang="en-US" altLang="zh-CN" dirty="0" smtClean="0"/>
              <a:t>BGP EVPN</a:t>
            </a:r>
            <a:r>
              <a:rPr lang="zh-CN" altLang="en-US" dirty="0" smtClean="0"/>
              <a:t>配置参数</a:t>
            </a:r>
            <a:endParaRPr lang="zh-CN" altLang="en-US" dirty="0"/>
          </a:p>
        </p:txBody>
      </p:sp>
      <p:sp>
        <p:nvSpPr>
          <p:cNvPr id="39" name="矩形 38"/>
          <p:cNvSpPr/>
          <p:nvPr/>
        </p:nvSpPr>
        <p:spPr bwMode="gray">
          <a:xfrm>
            <a:off x="976153" y="4657610"/>
            <a:ext cx="2776194" cy="400110"/>
          </a:xfrm>
          <a:prstGeom prst="rect">
            <a:avLst/>
          </a:prstGeom>
        </p:spPr>
        <p:txBody>
          <a:bodyPr wrap="square">
            <a:spAutoFit/>
          </a:bodyPr>
          <a:lstStyle/>
          <a:p>
            <a:pPr algn="ctr">
              <a:lnSpc>
                <a:spcPts val="2400"/>
              </a:lnSpc>
              <a:spcAft>
                <a:spcPts val="600"/>
              </a:spcAft>
            </a:pPr>
            <a:r>
              <a:rPr lang="en-US" altLang="zh-CN" sz="1400" b="1" dirty="0" smtClean="0"/>
              <a:t>VXLAN</a:t>
            </a:r>
            <a:r>
              <a:rPr lang="zh-CN" altLang="en-US" sz="1400" b="1" dirty="0" smtClean="0"/>
              <a:t>到汇聚的分布式网关组网</a:t>
            </a:r>
            <a:endParaRPr lang="zh-CN" altLang="en-US" sz="1400" b="1" dirty="0"/>
          </a:p>
        </p:txBody>
      </p:sp>
      <p:sp>
        <p:nvSpPr>
          <p:cNvPr id="50" name="圆角矩形 49"/>
          <p:cNvSpPr/>
          <p:nvPr/>
        </p:nvSpPr>
        <p:spPr bwMode="gray">
          <a:xfrm>
            <a:off x="628892" y="2076808"/>
            <a:ext cx="3948649" cy="2628871"/>
          </a:xfrm>
          <a:prstGeom prst="roundRect">
            <a:avLst>
              <a:gd name="adj" fmla="val 3166"/>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51" name="Freeform 159"/>
          <p:cNvSpPr/>
          <p:nvPr/>
        </p:nvSpPr>
        <p:spPr bwMode="gray">
          <a:xfrm flipH="1">
            <a:off x="1330389" y="2429624"/>
            <a:ext cx="2311472" cy="1323216"/>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rgbClr val="E3F6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Huawei Sans" panose="020C0503030203020204" pitchFamily="34" charset="0"/>
              <a:ea typeface="方正兰亭黑简体" panose="02000000000000000000" pitchFamily="2" charset="-122"/>
            </a:endParaRPr>
          </a:p>
        </p:txBody>
      </p:sp>
      <p:cxnSp>
        <p:nvCxnSpPr>
          <p:cNvPr id="52" name="Straight Connector 166"/>
          <p:cNvCxnSpPr>
            <a:stCxn id="72" idx="2"/>
            <a:endCxn id="81" idx="0"/>
          </p:cNvCxnSpPr>
          <p:nvPr/>
        </p:nvCxnSpPr>
        <p:spPr bwMode="gray">
          <a:xfrm>
            <a:off x="1481681" y="3714461"/>
            <a:ext cx="0" cy="40327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 name="Straight Connector 166"/>
          <p:cNvCxnSpPr>
            <a:stCxn id="74" idx="2"/>
            <a:endCxn id="82" idx="0"/>
          </p:cNvCxnSpPr>
          <p:nvPr/>
        </p:nvCxnSpPr>
        <p:spPr bwMode="gray">
          <a:xfrm>
            <a:off x="3412482" y="3714461"/>
            <a:ext cx="0" cy="40327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 name="Straight Connector 167"/>
          <p:cNvCxnSpPr/>
          <p:nvPr/>
        </p:nvCxnSpPr>
        <p:spPr bwMode="gray">
          <a:xfrm flipH="1">
            <a:off x="1482391" y="2655229"/>
            <a:ext cx="971589" cy="876201"/>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60" name="Straight Connector 167"/>
          <p:cNvCxnSpPr/>
          <p:nvPr/>
        </p:nvCxnSpPr>
        <p:spPr bwMode="gray">
          <a:xfrm flipH="1" flipV="1">
            <a:off x="2450601" y="2652752"/>
            <a:ext cx="975076" cy="883934"/>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sp>
        <p:nvSpPr>
          <p:cNvPr id="61" name="文本框 60"/>
          <p:cNvSpPr txBox="1"/>
          <p:nvPr/>
        </p:nvSpPr>
        <p:spPr bwMode="gray">
          <a:xfrm>
            <a:off x="1586967" y="2522643"/>
            <a:ext cx="676788" cy="276999"/>
          </a:xfrm>
          <a:prstGeom prst="rect">
            <a:avLst/>
          </a:prstGeom>
          <a:noFill/>
        </p:spPr>
        <p:txBody>
          <a:bodyPr wrap="none" rtlCol="0">
            <a:spAutoFit/>
          </a:bodyPr>
          <a:lstStyle/>
          <a:p>
            <a:pPr algn="ctr"/>
            <a:r>
              <a:rPr lang="en-US" altLang="zh-CN" sz="1200" b="1" dirty="0" smtClean="0">
                <a:latin typeface="Huawei Sans" panose="020C0503030203020204" pitchFamily="34" charset="0"/>
                <a:ea typeface="方正兰亭黑简体" panose="02000000000000000000" pitchFamily="2" charset="-122"/>
                <a:cs typeface="Huawei Sans" panose="020C0503030203020204" pitchFamily="34" charset="0"/>
              </a:rPr>
              <a:t>Border</a:t>
            </a:r>
            <a:endParaRPr lang="zh-CN" altLang="en-US" sz="1200" b="1"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70" name="文本框 69"/>
          <p:cNvSpPr txBox="1"/>
          <p:nvPr/>
        </p:nvSpPr>
        <p:spPr bwMode="gray">
          <a:xfrm>
            <a:off x="627953" y="3381688"/>
            <a:ext cx="702436" cy="276999"/>
          </a:xfrm>
          <a:prstGeom prst="rect">
            <a:avLst/>
          </a:prstGeom>
          <a:noFill/>
        </p:spPr>
        <p:txBody>
          <a:bodyPr wrap="none" rtlCol="0">
            <a:spAutoFit/>
          </a:bodyPr>
          <a:lstStyle/>
          <a:p>
            <a:pPr algn="r"/>
            <a:r>
              <a:rPr lang="en-US" altLang="zh-CN" sz="1200" b="1" dirty="0" smtClean="0">
                <a:latin typeface="Huawei Sans" panose="020C0503030203020204" pitchFamily="34" charset="0"/>
                <a:ea typeface="方正兰亭黑简体" panose="02000000000000000000" pitchFamily="2" charset="-122"/>
                <a:cs typeface="Huawei Sans" panose="020C0503030203020204" pitchFamily="34" charset="0"/>
              </a:rPr>
              <a:t>Edge_1</a:t>
            </a:r>
            <a:endParaRPr lang="zh-CN" altLang="en-US" sz="1200" b="1"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71" name="文本框 70"/>
          <p:cNvSpPr txBox="1"/>
          <p:nvPr/>
        </p:nvSpPr>
        <p:spPr bwMode="gray">
          <a:xfrm>
            <a:off x="698485" y="4168437"/>
            <a:ext cx="631904" cy="276999"/>
          </a:xfrm>
          <a:prstGeom prst="rect">
            <a:avLst/>
          </a:prstGeom>
          <a:noFill/>
        </p:spPr>
        <p:txBody>
          <a:bodyPr wrap="none" rtlCol="0">
            <a:spAutoFit/>
          </a:bodyPr>
          <a:lstStyle/>
          <a:p>
            <a:pPr algn="r"/>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ACC_1</a:t>
            </a:r>
          </a:p>
        </p:txBody>
      </p:sp>
      <p:pic>
        <p:nvPicPr>
          <p:cNvPr id="72" name="图片 87" descr="汇聚交换机.png"/>
          <p:cNvPicPr>
            <a:picLocks noChangeAspect="1"/>
          </p:cNvPicPr>
          <p:nvPr/>
        </p:nvPicPr>
        <p:blipFill>
          <a:blip r:embed="rId4" cstate="print"/>
          <a:stretch>
            <a:fillRect/>
          </a:stretch>
        </p:blipFill>
        <p:spPr bwMode="gray">
          <a:xfrm>
            <a:off x="1258540" y="3349322"/>
            <a:ext cx="446281" cy="365139"/>
          </a:xfrm>
          <a:prstGeom prst="rect">
            <a:avLst/>
          </a:prstGeom>
        </p:spPr>
      </p:pic>
      <p:pic>
        <p:nvPicPr>
          <p:cNvPr id="74" name="图片 87" descr="汇聚交换机.png"/>
          <p:cNvPicPr>
            <a:picLocks noChangeAspect="1"/>
          </p:cNvPicPr>
          <p:nvPr/>
        </p:nvPicPr>
        <p:blipFill>
          <a:blip r:embed="rId4" cstate="print"/>
          <a:stretch>
            <a:fillRect/>
          </a:stretch>
        </p:blipFill>
        <p:spPr bwMode="gray">
          <a:xfrm>
            <a:off x="3189341" y="3349322"/>
            <a:ext cx="446281" cy="365139"/>
          </a:xfrm>
          <a:prstGeom prst="rect">
            <a:avLst/>
          </a:prstGeom>
        </p:spPr>
      </p:pic>
      <p:sp>
        <p:nvSpPr>
          <p:cNvPr id="75" name="文本框 74"/>
          <p:cNvSpPr txBox="1"/>
          <p:nvPr/>
        </p:nvSpPr>
        <p:spPr bwMode="gray">
          <a:xfrm>
            <a:off x="2619489" y="4168437"/>
            <a:ext cx="631903" cy="276999"/>
          </a:xfrm>
          <a:prstGeom prst="rect">
            <a:avLst/>
          </a:prstGeom>
          <a:noFill/>
        </p:spPr>
        <p:txBody>
          <a:bodyPr wrap="none" rtlCol="0">
            <a:spAutoFit/>
          </a:bodyPr>
          <a:lstStyle/>
          <a:p>
            <a:pPr algn="r"/>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ACC_2</a:t>
            </a:r>
          </a:p>
        </p:txBody>
      </p:sp>
      <p:sp>
        <p:nvSpPr>
          <p:cNvPr id="76" name="文本框 75"/>
          <p:cNvSpPr txBox="1"/>
          <p:nvPr/>
        </p:nvSpPr>
        <p:spPr bwMode="gray">
          <a:xfrm>
            <a:off x="1921602" y="3227799"/>
            <a:ext cx="1031051" cy="307777"/>
          </a:xfrm>
          <a:prstGeom prst="rect">
            <a:avLst/>
          </a:prstGeom>
          <a:noFill/>
        </p:spPr>
        <p:txBody>
          <a:bodyPr wrap="none" rtlCol="0">
            <a:spAutoFit/>
          </a:bodyPr>
          <a:lstStyle/>
          <a:p>
            <a:pPr algn="ctr"/>
            <a:r>
              <a:rPr lang="en-US" altLang="zh-CN" sz="1400" dirty="0">
                <a:solidFill>
                  <a:srgbClr val="30B5C5"/>
                </a:solidFill>
                <a:latin typeface="Huawei Sans" panose="020C0503030203020204" pitchFamily="34" charset="0"/>
                <a:ea typeface="方正兰亭细黑简体" panose="02000000000000000000" pitchFamily="2" charset="-122"/>
                <a:sym typeface="Huawei Sans" panose="020C0503030203020204" pitchFamily="34" charset="0"/>
              </a:rPr>
              <a:t>BGP EVPN</a:t>
            </a:r>
          </a:p>
        </p:txBody>
      </p:sp>
      <p:sp>
        <p:nvSpPr>
          <p:cNvPr id="77" name="文本框 76"/>
          <p:cNvSpPr txBox="1"/>
          <p:nvPr/>
        </p:nvSpPr>
        <p:spPr bwMode="gray">
          <a:xfrm>
            <a:off x="3588956" y="3381688"/>
            <a:ext cx="702436" cy="276999"/>
          </a:xfrm>
          <a:prstGeom prst="rect">
            <a:avLst/>
          </a:prstGeom>
          <a:noFill/>
        </p:spPr>
        <p:txBody>
          <a:bodyPr wrap="none" rtlCol="0">
            <a:spAutoFit/>
          </a:bodyPr>
          <a:lstStyle/>
          <a:p>
            <a:r>
              <a:rPr lang="en-US" altLang="zh-CN" sz="1200" b="1" dirty="0" smtClean="0">
                <a:latin typeface="Huawei Sans" panose="020C0503030203020204" pitchFamily="34" charset="0"/>
                <a:ea typeface="方正兰亭黑简体" panose="02000000000000000000" pitchFamily="2" charset="-122"/>
                <a:cs typeface="Huawei Sans" panose="020C0503030203020204" pitchFamily="34" charset="0"/>
              </a:rPr>
              <a:t>Edge_2</a:t>
            </a:r>
            <a:endParaRPr lang="zh-CN" altLang="en-US" sz="1200" b="1"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80" name="文本框 79"/>
          <p:cNvSpPr txBox="1"/>
          <p:nvPr/>
        </p:nvSpPr>
        <p:spPr bwMode="gray">
          <a:xfrm>
            <a:off x="661367" y="2226977"/>
            <a:ext cx="468398" cy="307777"/>
          </a:xfrm>
          <a:prstGeom prst="rect">
            <a:avLst/>
          </a:prstGeom>
          <a:noFill/>
        </p:spPr>
        <p:txBody>
          <a:bodyPr wrap="none" rtlCol="0">
            <a:spAutoFit/>
          </a:bodyPr>
          <a:lstStyle/>
          <a:p>
            <a:r>
              <a:rPr lang="en-US" altLang="zh-CN" sz="1400" b="1" dirty="0" smtClean="0">
                <a:latin typeface="Huawei Sans" panose="020C0503030203020204" pitchFamily="34" charset="0"/>
                <a:ea typeface="方正兰亭黑简体" panose="02000000000000000000" pitchFamily="2" charset="-122"/>
                <a:cs typeface="Huawei Sans" panose="020C0503030203020204" pitchFamily="34" charset="0"/>
              </a:rPr>
              <a:t>HQ</a:t>
            </a:r>
            <a:endParaRPr lang="zh-CN" altLang="en-US" sz="1400" b="1" dirty="0">
              <a:latin typeface="Huawei Sans" panose="020C0503030203020204" pitchFamily="34" charset="0"/>
              <a:ea typeface="方正兰亭黑简体" panose="02000000000000000000" pitchFamily="2" charset="-122"/>
              <a:cs typeface="Huawei Sans" panose="020C0503030203020204" pitchFamily="34" charset="0"/>
            </a:endParaRPr>
          </a:p>
        </p:txBody>
      </p:sp>
      <p:pic>
        <p:nvPicPr>
          <p:cNvPr id="81" name="图片 76" descr="接入交换机.png"/>
          <p:cNvPicPr>
            <a:picLocks noChangeAspect="1"/>
          </p:cNvPicPr>
          <p:nvPr/>
        </p:nvPicPr>
        <p:blipFill>
          <a:blip r:embed="rId5" cstate="print"/>
          <a:stretch>
            <a:fillRect/>
          </a:stretch>
        </p:blipFill>
        <p:spPr bwMode="gray">
          <a:xfrm>
            <a:off x="1258540" y="4117738"/>
            <a:ext cx="446281" cy="365139"/>
          </a:xfrm>
          <a:prstGeom prst="rect">
            <a:avLst/>
          </a:prstGeom>
        </p:spPr>
      </p:pic>
      <p:pic>
        <p:nvPicPr>
          <p:cNvPr id="82" name="图片 76" descr="接入交换机.png"/>
          <p:cNvPicPr>
            <a:picLocks noChangeAspect="1"/>
          </p:cNvPicPr>
          <p:nvPr/>
        </p:nvPicPr>
        <p:blipFill>
          <a:blip r:embed="rId5" cstate="print"/>
          <a:stretch>
            <a:fillRect/>
          </a:stretch>
        </p:blipFill>
        <p:spPr bwMode="gray">
          <a:xfrm>
            <a:off x="3189341" y="4117738"/>
            <a:ext cx="446281" cy="365139"/>
          </a:xfrm>
          <a:prstGeom prst="rect">
            <a:avLst/>
          </a:prstGeom>
        </p:spPr>
      </p:pic>
      <p:pic>
        <p:nvPicPr>
          <p:cNvPr id="89" name="图片 86" descr="核心交换机.png"/>
          <p:cNvPicPr>
            <a:picLocks noChangeAspect="1"/>
          </p:cNvPicPr>
          <p:nvPr/>
        </p:nvPicPr>
        <p:blipFill>
          <a:blip r:embed="rId6" cstate="print"/>
          <a:stretch>
            <a:fillRect/>
          </a:stretch>
        </p:blipFill>
        <p:spPr bwMode="gray">
          <a:xfrm>
            <a:off x="2238233" y="2472660"/>
            <a:ext cx="446281" cy="365139"/>
          </a:xfrm>
          <a:prstGeom prst="rect">
            <a:avLst/>
          </a:prstGeom>
        </p:spPr>
      </p:pic>
      <p:pic>
        <p:nvPicPr>
          <p:cNvPr id="90" name="图片 89"/>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bwMode="gray">
          <a:xfrm>
            <a:off x="3613791" y="2238059"/>
            <a:ext cx="865097" cy="491769"/>
          </a:xfrm>
          <a:prstGeom prst="rect">
            <a:avLst/>
          </a:prstGeom>
        </p:spPr>
      </p:pic>
      <p:pic>
        <p:nvPicPr>
          <p:cNvPr id="91" name="图片 105" descr="AP.png"/>
          <p:cNvPicPr>
            <a:picLocks noChangeAspect="1"/>
          </p:cNvPicPr>
          <p:nvPr/>
        </p:nvPicPr>
        <p:blipFill>
          <a:blip r:embed="rId8" cstate="print"/>
          <a:stretch>
            <a:fillRect/>
          </a:stretch>
        </p:blipFill>
        <p:spPr bwMode="gray">
          <a:xfrm>
            <a:off x="3869073" y="4149423"/>
            <a:ext cx="368827" cy="301768"/>
          </a:xfrm>
          <a:prstGeom prst="rect">
            <a:avLst/>
          </a:prstGeom>
        </p:spPr>
      </p:pic>
      <p:cxnSp>
        <p:nvCxnSpPr>
          <p:cNvPr id="92" name="Straight Connector 166"/>
          <p:cNvCxnSpPr>
            <a:stCxn id="82" idx="3"/>
            <a:endCxn id="91" idx="1"/>
          </p:cNvCxnSpPr>
          <p:nvPr/>
        </p:nvCxnSpPr>
        <p:spPr bwMode="gray">
          <a:xfrm flipV="1">
            <a:off x="3635622" y="4300307"/>
            <a:ext cx="233451" cy="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93" name="组合 758"/>
          <p:cNvGrpSpPr/>
          <p:nvPr/>
        </p:nvGrpSpPr>
        <p:grpSpPr bwMode="gray">
          <a:xfrm flipV="1">
            <a:off x="3949987" y="4475964"/>
            <a:ext cx="225699" cy="191129"/>
            <a:chOff x="7440613" y="4868863"/>
            <a:chExt cx="1019175" cy="828675"/>
          </a:xfrm>
          <a:solidFill>
            <a:schemeClr val="bg1">
              <a:lumMod val="50000"/>
            </a:schemeClr>
          </a:solidFill>
        </p:grpSpPr>
        <p:sp>
          <p:nvSpPr>
            <p:cNvPr id="94" name="Freeform 15"/>
            <p:cNvSpPr>
              <a:spLocks/>
            </p:cNvSpPr>
            <p:nvPr/>
          </p:nvSpPr>
          <p:spPr bwMode="gray">
            <a:xfrm>
              <a:off x="7832726" y="5462588"/>
              <a:ext cx="234950" cy="234950"/>
            </a:xfrm>
            <a:custGeom>
              <a:avLst/>
              <a:gdLst/>
              <a:ahLst/>
              <a:cxnLst>
                <a:cxn ang="0">
                  <a:pos x="3281" y="680"/>
                </a:cxn>
                <a:cxn ang="0">
                  <a:pos x="3439" y="907"/>
                </a:cxn>
                <a:cxn ang="0">
                  <a:pos x="3559" y="1151"/>
                </a:cxn>
                <a:cxn ang="0">
                  <a:pos x="3642" y="1406"/>
                </a:cxn>
                <a:cxn ang="0">
                  <a:pos x="3686" y="1670"/>
                </a:cxn>
                <a:cxn ang="0">
                  <a:pos x="3693" y="1936"/>
                </a:cxn>
                <a:cxn ang="0">
                  <a:pos x="3661" y="2201"/>
                </a:cxn>
                <a:cxn ang="0">
                  <a:pos x="3591" y="2460"/>
                </a:cxn>
                <a:cxn ang="0">
                  <a:pos x="3484" y="2708"/>
                </a:cxn>
                <a:cxn ang="0">
                  <a:pos x="3339" y="2941"/>
                </a:cxn>
                <a:cxn ang="0">
                  <a:pos x="3155" y="3155"/>
                </a:cxn>
                <a:cxn ang="0">
                  <a:pos x="2941" y="3339"/>
                </a:cxn>
                <a:cxn ang="0">
                  <a:pos x="2708" y="3484"/>
                </a:cxn>
                <a:cxn ang="0">
                  <a:pos x="2460" y="3592"/>
                </a:cxn>
                <a:cxn ang="0">
                  <a:pos x="2201" y="3661"/>
                </a:cxn>
                <a:cxn ang="0">
                  <a:pos x="1936" y="3693"/>
                </a:cxn>
                <a:cxn ang="0">
                  <a:pos x="1670" y="3687"/>
                </a:cxn>
                <a:cxn ang="0">
                  <a:pos x="1408" y="3643"/>
                </a:cxn>
                <a:cxn ang="0">
                  <a:pos x="1152" y="3561"/>
                </a:cxn>
                <a:cxn ang="0">
                  <a:pos x="908" y="3440"/>
                </a:cxn>
                <a:cxn ang="0">
                  <a:pos x="680" y="3282"/>
                </a:cxn>
                <a:cxn ang="0">
                  <a:pos x="475" y="3086"/>
                </a:cxn>
                <a:cxn ang="0">
                  <a:pos x="304" y="2866"/>
                </a:cxn>
                <a:cxn ang="0">
                  <a:pos x="172" y="2627"/>
                </a:cxn>
                <a:cxn ang="0">
                  <a:pos x="76" y="2374"/>
                </a:cxn>
                <a:cxn ang="0">
                  <a:pos x="19" y="2114"/>
                </a:cxn>
                <a:cxn ang="0">
                  <a:pos x="0" y="1848"/>
                </a:cxn>
                <a:cxn ang="0">
                  <a:pos x="19" y="1582"/>
                </a:cxn>
                <a:cxn ang="0">
                  <a:pos x="76" y="1321"/>
                </a:cxn>
                <a:cxn ang="0">
                  <a:pos x="171" y="1069"/>
                </a:cxn>
                <a:cxn ang="0">
                  <a:pos x="304" y="830"/>
                </a:cxn>
                <a:cxn ang="0">
                  <a:pos x="475" y="609"/>
                </a:cxn>
                <a:cxn ang="0">
                  <a:pos x="680" y="414"/>
                </a:cxn>
                <a:cxn ang="0">
                  <a:pos x="907" y="255"/>
                </a:cxn>
                <a:cxn ang="0">
                  <a:pos x="1151" y="135"/>
                </a:cxn>
                <a:cxn ang="0">
                  <a:pos x="1407" y="52"/>
                </a:cxn>
                <a:cxn ang="0">
                  <a:pos x="1669" y="8"/>
                </a:cxn>
                <a:cxn ang="0">
                  <a:pos x="1936" y="2"/>
                </a:cxn>
                <a:cxn ang="0">
                  <a:pos x="2201" y="33"/>
                </a:cxn>
                <a:cxn ang="0">
                  <a:pos x="2459" y="104"/>
                </a:cxn>
                <a:cxn ang="0">
                  <a:pos x="2708" y="211"/>
                </a:cxn>
                <a:cxn ang="0">
                  <a:pos x="2940" y="356"/>
                </a:cxn>
                <a:cxn ang="0">
                  <a:pos x="3154" y="539"/>
                </a:cxn>
              </a:cxnLst>
              <a:rect l="0" t="0" r="r" b="b"/>
              <a:pathLst>
                <a:path w="3695" h="3695">
                  <a:moveTo>
                    <a:pt x="3154" y="539"/>
                  </a:moveTo>
                  <a:lnTo>
                    <a:pt x="3220" y="608"/>
                  </a:lnTo>
                  <a:lnTo>
                    <a:pt x="3281" y="680"/>
                  </a:lnTo>
                  <a:lnTo>
                    <a:pt x="3338" y="754"/>
                  </a:lnTo>
                  <a:lnTo>
                    <a:pt x="3391" y="829"/>
                  </a:lnTo>
                  <a:lnTo>
                    <a:pt x="3439" y="907"/>
                  </a:lnTo>
                  <a:lnTo>
                    <a:pt x="3483" y="987"/>
                  </a:lnTo>
                  <a:lnTo>
                    <a:pt x="3523" y="1068"/>
                  </a:lnTo>
                  <a:lnTo>
                    <a:pt x="3559" y="1151"/>
                  </a:lnTo>
                  <a:lnTo>
                    <a:pt x="3591" y="1235"/>
                  </a:lnTo>
                  <a:lnTo>
                    <a:pt x="3619" y="1320"/>
                  </a:lnTo>
                  <a:lnTo>
                    <a:pt x="3642" y="1406"/>
                  </a:lnTo>
                  <a:lnTo>
                    <a:pt x="3661" y="1493"/>
                  </a:lnTo>
                  <a:lnTo>
                    <a:pt x="3676" y="1582"/>
                  </a:lnTo>
                  <a:lnTo>
                    <a:pt x="3686" y="1670"/>
                  </a:lnTo>
                  <a:lnTo>
                    <a:pt x="3693" y="1758"/>
                  </a:lnTo>
                  <a:lnTo>
                    <a:pt x="3695" y="1847"/>
                  </a:lnTo>
                  <a:lnTo>
                    <a:pt x="3693" y="1936"/>
                  </a:lnTo>
                  <a:lnTo>
                    <a:pt x="3686" y="2024"/>
                  </a:lnTo>
                  <a:lnTo>
                    <a:pt x="3676" y="2113"/>
                  </a:lnTo>
                  <a:lnTo>
                    <a:pt x="3661" y="2201"/>
                  </a:lnTo>
                  <a:lnTo>
                    <a:pt x="3642" y="2288"/>
                  </a:lnTo>
                  <a:lnTo>
                    <a:pt x="3619" y="2374"/>
                  </a:lnTo>
                  <a:lnTo>
                    <a:pt x="3591" y="2460"/>
                  </a:lnTo>
                  <a:lnTo>
                    <a:pt x="3559" y="2544"/>
                  </a:lnTo>
                  <a:lnTo>
                    <a:pt x="3524" y="2626"/>
                  </a:lnTo>
                  <a:lnTo>
                    <a:pt x="3484" y="2708"/>
                  </a:lnTo>
                  <a:lnTo>
                    <a:pt x="3439" y="2788"/>
                  </a:lnTo>
                  <a:lnTo>
                    <a:pt x="3391" y="2865"/>
                  </a:lnTo>
                  <a:lnTo>
                    <a:pt x="3339" y="2941"/>
                  </a:lnTo>
                  <a:lnTo>
                    <a:pt x="3281" y="3015"/>
                  </a:lnTo>
                  <a:lnTo>
                    <a:pt x="3220" y="3086"/>
                  </a:lnTo>
                  <a:lnTo>
                    <a:pt x="3155" y="3155"/>
                  </a:lnTo>
                  <a:lnTo>
                    <a:pt x="3086" y="3220"/>
                  </a:lnTo>
                  <a:lnTo>
                    <a:pt x="3015" y="3282"/>
                  </a:lnTo>
                  <a:lnTo>
                    <a:pt x="2941" y="3339"/>
                  </a:lnTo>
                  <a:lnTo>
                    <a:pt x="2865" y="3391"/>
                  </a:lnTo>
                  <a:lnTo>
                    <a:pt x="2788" y="3440"/>
                  </a:lnTo>
                  <a:lnTo>
                    <a:pt x="2708" y="3484"/>
                  </a:lnTo>
                  <a:lnTo>
                    <a:pt x="2626" y="3524"/>
                  </a:lnTo>
                  <a:lnTo>
                    <a:pt x="2544" y="3560"/>
                  </a:lnTo>
                  <a:lnTo>
                    <a:pt x="2460" y="3592"/>
                  </a:lnTo>
                  <a:lnTo>
                    <a:pt x="2375" y="3619"/>
                  </a:lnTo>
                  <a:lnTo>
                    <a:pt x="2288" y="3643"/>
                  </a:lnTo>
                  <a:lnTo>
                    <a:pt x="2201" y="3661"/>
                  </a:lnTo>
                  <a:lnTo>
                    <a:pt x="2114" y="3676"/>
                  </a:lnTo>
                  <a:lnTo>
                    <a:pt x="2026" y="3687"/>
                  </a:lnTo>
                  <a:lnTo>
                    <a:pt x="1936" y="3693"/>
                  </a:lnTo>
                  <a:lnTo>
                    <a:pt x="1848" y="3695"/>
                  </a:lnTo>
                  <a:lnTo>
                    <a:pt x="1759" y="3693"/>
                  </a:lnTo>
                  <a:lnTo>
                    <a:pt x="1670" y="3687"/>
                  </a:lnTo>
                  <a:lnTo>
                    <a:pt x="1582" y="3676"/>
                  </a:lnTo>
                  <a:lnTo>
                    <a:pt x="1495" y="3662"/>
                  </a:lnTo>
                  <a:lnTo>
                    <a:pt x="1408" y="3643"/>
                  </a:lnTo>
                  <a:lnTo>
                    <a:pt x="1321" y="3620"/>
                  </a:lnTo>
                  <a:lnTo>
                    <a:pt x="1236" y="3592"/>
                  </a:lnTo>
                  <a:lnTo>
                    <a:pt x="1152" y="3561"/>
                  </a:lnTo>
                  <a:lnTo>
                    <a:pt x="1069" y="3524"/>
                  </a:lnTo>
                  <a:lnTo>
                    <a:pt x="987" y="3484"/>
                  </a:lnTo>
                  <a:lnTo>
                    <a:pt x="908" y="3440"/>
                  </a:lnTo>
                  <a:lnTo>
                    <a:pt x="830" y="3391"/>
                  </a:lnTo>
                  <a:lnTo>
                    <a:pt x="755" y="3339"/>
                  </a:lnTo>
                  <a:lnTo>
                    <a:pt x="680" y="3282"/>
                  </a:lnTo>
                  <a:lnTo>
                    <a:pt x="609" y="3220"/>
                  </a:lnTo>
                  <a:lnTo>
                    <a:pt x="541" y="3155"/>
                  </a:lnTo>
                  <a:lnTo>
                    <a:pt x="475" y="3086"/>
                  </a:lnTo>
                  <a:lnTo>
                    <a:pt x="414" y="3015"/>
                  </a:lnTo>
                  <a:lnTo>
                    <a:pt x="357" y="2941"/>
                  </a:lnTo>
                  <a:lnTo>
                    <a:pt x="304" y="2866"/>
                  </a:lnTo>
                  <a:lnTo>
                    <a:pt x="256" y="2788"/>
                  </a:lnTo>
                  <a:lnTo>
                    <a:pt x="212" y="2709"/>
                  </a:lnTo>
                  <a:lnTo>
                    <a:pt x="172" y="2627"/>
                  </a:lnTo>
                  <a:lnTo>
                    <a:pt x="136" y="2544"/>
                  </a:lnTo>
                  <a:lnTo>
                    <a:pt x="104" y="2460"/>
                  </a:lnTo>
                  <a:lnTo>
                    <a:pt x="76" y="2374"/>
                  </a:lnTo>
                  <a:lnTo>
                    <a:pt x="53" y="2288"/>
                  </a:lnTo>
                  <a:lnTo>
                    <a:pt x="34" y="2201"/>
                  </a:lnTo>
                  <a:lnTo>
                    <a:pt x="19" y="2114"/>
                  </a:lnTo>
                  <a:lnTo>
                    <a:pt x="9" y="2025"/>
                  </a:lnTo>
                  <a:lnTo>
                    <a:pt x="2" y="1937"/>
                  </a:lnTo>
                  <a:lnTo>
                    <a:pt x="0" y="1848"/>
                  </a:lnTo>
                  <a:lnTo>
                    <a:pt x="2" y="1759"/>
                  </a:lnTo>
                  <a:lnTo>
                    <a:pt x="9" y="1670"/>
                  </a:lnTo>
                  <a:lnTo>
                    <a:pt x="19" y="1582"/>
                  </a:lnTo>
                  <a:lnTo>
                    <a:pt x="34" y="1494"/>
                  </a:lnTo>
                  <a:lnTo>
                    <a:pt x="53" y="1407"/>
                  </a:lnTo>
                  <a:lnTo>
                    <a:pt x="76" y="1321"/>
                  </a:lnTo>
                  <a:lnTo>
                    <a:pt x="104" y="1236"/>
                  </a:lnTo>
                  <a:lnTo>
                    <a:pt x="136" y="1151"/>
                  </a:lnTo>
                  <a:lnTo>
                    <a:pt x="171" y="1069"/>
                  </a:lnTo>
                  <a:lnTo>
                    <a:pt x="211" y="988"/>
                  </a:lnTo>
                  <a:lnTo>
                    <a:pt x="255" y="907"/>
                  </a:lnTo>
                  <a:lnTo>
                    <a:pt x="304" y="830"/>
                  </a:lnTo>
                  <a:lnTo>
                    <a:pt x="356" y="754"/>
                  </a:lnTo>
                  <a:lnTo>
                    <a:pt x="414" y="681"/>
                  </a:lnTo>
                  <a:lnTo>
                    <a:pt x="475" y="609"/>
                  </a:lnTo>
                  <a:lnTo>
                    <a:pt x="540" y="540"/>
                  </a:lnTo>
                  <a:lnTo>
                    <a:pt x="609" y="475"/>
                  </a:lnTo>
                  <a:lnTo>
                    <a:pt x="680" y="414"/>
                  </a:lnTo>
                  <a:lnTo>
                    <a:pt x="754" y="356"/>
                  </a:lnTo>
                  <a:lnTo>
                    <a:pt x="830" y="303"/>
                  </a:lnTo>
                  <a:lnTo>
                    <a:pt x="907" y="255"/>
                  </a:lnTo>
                  <a:lnTo>
                    <a:pt x="987" y="211"/>
                  </a:lnTo>
                  <a:lnTo>
                    <a:pt x="1069" y="171"/>
                  </a:lnTo>
                  <a:lnTo>
                    <a:pt x="1151" y="135"/>
                  </a:lnTo>
                  <a:lnTo>
                    <a:pt x="1235" y="104"/>
                  </a:lnTo>
                  <a:lnTo>
                    <a:pt x="1320" y="76"/>
                  </a:lnTo>
                  <a:lnTo>
                    <a:pt x="1407" y="52"/>
                  </a:lnTo>
                  <a:lnTo>
                    <a:pt x="1494" y="33"/>
                  </a:lnTo>
                  <a:lnTo>
                    <a:pt x="1581" y="19"/>
                  </a:lnTo>
                  <a:lnTo>
                    <a:pt x="1669" y="8"/>
                  </a:lnTo>
                  <a:lnTo>
                    <a:pt x="1759" y="2"/>
                  </a:lnTo>
                  <a:lnTo>
                    <a:pt x="1847" y="0"/>
                  </a:lnTo>
                  <a:lnTo>
                    <a:pt x="1936" y="2"/>
                  </a:lnTo>
                  <a:lnTo>
                    <a:pt x="2025" y="8"/>
                  </a:lnTo>
                  <a:lnTo>
                    <a:pt x="2113" y="19"/>
                  </a:lnTo>
                  <a:lnTo>
                    <a:pt x="2201" y="33"/>
                  </a:lnTo>
                  <a:lnTo>
                    <a:pt x="2287" y="52"/>
                  </a:lnTo>
                  <a:lnTo>
                    <a:pt x="2374" y="76"/>
                  </a:lnTo>
                  <a:lnTo>
                    <a:pt x="2459" y="104"/>
                  </a:lnTo>
                  <a:lnTo>
                    <a:pt x="2543" y="135"/>
                  </a:lnTo>
                  <a:lnTo>
                    <a:pt x="2626" y="171"/>
                  </a:lnTo>
                  <a:lnTo>
                    <a:pt x="2708" y="211"/>
                  </a:lnTo>
                  <a:lnTo>
                    <a:pt x="2787" y="255"/>
                  </a:lnTo>
                  <a:lnTo>
                    <a:pt x="2865" y="303"/>
                  </a:lnTo>
                  <a:lnTo>
                    <a:pt x="2940" y="356"/>
                  </a:lnTo>
                  <a:lnTo>
                    <a:pt x="3015" y="413"/>
                  </a:lnTo>
                  <a:lnTo>
                    <a:pt x="3086" y="474"/>
                  </a:lnTo>
                  <a:lnTo>
                    <a:pt x="3154" y="539"/>
                  </a:lnTo>
                  <a:close/>
                </a:path>
              </a:pathLst>
            </a:custGeom>
            <a:grpFill/>
            <a:ln w="9525">
              <a:noFill/>
              <a:round/>
              <a:headEnd/>
              <a:tailEnd/>
            </a:ln>
          </p:spPr>
          <p:txBody>
            <a:bodyPr/>
            <a:lstStyle/>
            <a:p>
              <a:pPr algn="ctr" eaLnBrk="1" fontAlgn="auto" hangingPunct="1">
                <a:spcBef>
                  <a:spcPts val="0"/>
                </a:spcBef>
                <a:spcAft>
                  <a:spcPts val="0"/>
                </a:spcAft>
                <a:defRPr/>
              </a:pPr>
              <a:endParaRPr lang="zh-CN" altLang="en-US" sz="1200" ker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5" name="Freeform 16"/>
            <p:cNvSpPr>
              <a:spLocks noEditPoints="1"/>
            </p:cNvSpPr>
            <p:nvPr/>
          </p:nvSpPr>
          <p:spPr bwMode="gray">
            <a:xfrm>
              <a:off x="7440613" y="4868863"/>
              <a:ext cx="1019175" cy="544513"/>
            </a:xfrm>
            <a:custGeom>
              <a:avLst/>
              <a:gdLst/>
              <a:ahLst/>
              <a:cxnLst>
                <a:cxn ang="0">
                  <a:pos x="16025" y="3351"/>
                </a:cxn>
                <a:cxn ang="0">
                  <a:pos x="14975" y="4351"/>
                </a:cxn>
                <a:cxn ang="0">
                  <a:pos x="14184" y="3632"/>
                </a:cxn>
                <a:cxn ang="0">
                  <a:pos x="12564" y="2563"/>
                </a:cxn>
                <a:cxn ang="0">
                  <a:pos x="10805" y="1850"/>
                </a:cxn>
                <a:cxn ang="0">
                  <a:pos x="8960" y="1494"/>
                </a:cxn>
                <a:cxn ang="0">
                  <a:pos x="7087" y="1494"/>
                </a:cxn>
                <a:cxn ang="0">
                  <a:pos x="5243" y="1851"/>
                </a:cxn>
                <a:cxn ang="0">
                  <a:pos x="3483" y="2564"/>
                </a:cxn>
                <a:cxn ang="0">
                  <a:pos x="1864" y="3634"/>
                </a:cxn>
                <a:cxn ang="0">
                  <a:pos x="1075" y="4353"/>
                </a:cxn>
                <a:cxn ang="0">
                  <a:pos x="24" y="3353"/>
                </a:cxn>
                <a:cxn ang="0">
                  <a:pos x="516" y="2880"/>
                </a:cxn>
                <a:cxn ang="0">
                  <a:pos x="2325" y="1549"/>
                </a:cxn>
                <a:cxn ang="0">
                  <a:pos x="4312" y="627"/>
                </a:cxn>
                <a:cxn ang="0">
                  <a:pos x="6413" y="115"/>
                </a:cxn>
                <a:cxn ang="0">
                  <a:pos x="8562" y="13"/>
                </a:cxn>
                <a:cxn ang="0">
                  <a:pos x="10694" y="319"/>
                </a:cxn>
                <a:cxn ang="0">
                  <a:pos x="12747" y="1036"/>
                </a:cxn>
                <a:cxn ang="0">
                  <a:pos x="14654" y="2160"/>
                </a:cxn>
                <a:cxn ang="0">
                  <a:pos x="14055" y="5373"/>
                </a:cxn>
                <a:cxn ang="0">
                  <a:pos x="12871" y="6404"/>
                </a:cxn>
                <a:cxn ang="0">
                  <a:pos x="12058" y="5702"/>
                </a:cxn>
                <a:cxn ang="0">
                  <a:pos x="10898" y="5017"/>
                </a:cxn>
                <a:cxn ang="0">
                  <a:pos x="9649" y="4582"/>
                </a:cxn>
                <a:cxn ang="0">
                  <a:pos x="8352" y="4395"/>
                </a:cxn>
                <a:cxn ang="0">
                  <a:pos x="7044" y="4457"/>
                </a:cxn>
                <a:cxn ang="0">
                  <a:pos x="5767" y="4769"/>
                </a:cxn>
                <a:cxn ang="0">
                  <a:pos x="4558" y="5329"/>
                </a:cxn>
                <a:cxn ang="0">
                  <a:pos x="3457" y="6139"/>
                </a:cxn>
                <a:cxn ang="0">
                  <a:pos x="3129" y="6456"/>
                </a:cxn>
                <a:cxn ang="0">
                  <a:pos x="2045" y="5322"/>
                </a:cxn>
                <a:cxn ang="0">
                  <a:pos x="2731" y="4697"/>
                </a:cxn>
                <a:cxn ang="0">
                  <a:pos x="4122" y="3779"/>
                </a:cxn>
                <a:cxn ang="0">
                  <a:pos x="5635" y="3166"/>
                </a:cxn>
                <a:cxn ang="0">
                  <a:pos x="7219" y="2859"/>
                </a:cxn>
                <a:cxn ang="0">
                  <a:pos x="8829" y="2859"/>
                </a:cxn>
                <a:cxn ang="0">
                  <a:pos x="10413" y="3165"/>
                </a:cxn>
                <a:cxn ang="0">
                  <a:pos x="11926" y="3777"/>
                </a:cxn>
                <a:cxn ang="0">
                  <a:pos x="13318" y="4696"/>
                </a:cxn>
                <a:cxn ang="0">
                  <a:pos x="14005" y="5321"/>
                </a:cxn>
                <a:cxn ang="0">
                  <a:pos x="10854" y="8576"/>
                </a:cxn>
                <a:cxn ang="0">
                  <a:pos x="10754" y="8472"/>
                </a:cxn>
                <a:cxn ang="0">
                  <a:pos x="10150" y="7980"/>
                </a:cxn>
                <a:cxn ang="0">
                  <a:pos x="9479" y="7627"/>
                </a:cxn>
                <a:cxn ang="0">
                  <a:pos x="8762" y="7416"/>
                </a:cxn>
                <a:cxn ang="0">
                  <a:pos x="8025" y="7345"/>
                </a:cxn>
                <a:cxn ang="0">
                  <a:pos x="7287" y="7416"/>
                </a:cxn>
                <a:cxn ang="0">
                  <a:pos x="6571" y="7627"/>
                </a:cxn>
                <a:cxn ang="0">
                  <a:pos x="5900" y="7980"/>
                </a:cxn>
                <a:cxn ang="0">
                  <a:pos x="5297" y="8473"/>
                </a:cxn>
                <a:cxn ang="0">
                  <a:pos x="5198" y="8576"/>
                </a:cxn>
                <a:cxn ang="0">
                  <a:pos x="4197" y="7425"/>
                </a:cxn>
                <a:cxn ang="0">
                  <a:pos x="4843" y="6865"/>
                </a:cxn>
                <a:cxn ang="0">
                  <a:pos x="5758" y="6325"/>
                </a:cxn>
                <a:cxn ang="0">
                  <a:pos x="6743" y="5981"/>
                </a:cxn>
                <a:cxn ang="0">
                  <a:pos x="7766" y="5833"/>
                </a:cxn>
                <a:cxn ang="0">
                  <a:pos x="8797" y="5882"/>
                </a:cxn>
                <a:cxn ang="0">
                  <a:pos x="9806" y="6127"/>
                </a:cxn>
                <a:cxn ang="0">
                  <a:pos x="10760" y="6570"/>
                </a:cxn>
                <a:cxn ang="0">
                  <a:pos x="11627" y="7208"/>
                </a:cxn>
                <a:cxn ang="0">
                  <a:pos x="11903" y="7475"/>
                </a:cxn>
              </a:cxnLst>
              <a:rect l="0" t="0" r="r" b="b"/>
              <a:pathLst>
                <a:path w="16050" h="8576">
                  <a:moveTo>
                    <a:pt x="15950" y="3273"/>
                  </a:moveTo>
                  <a:lnTo>
                    <a:pt x="15975" y="3299"/>
                  </a:lnTo>
                  <a:lnTo>
                    <a:pt x="16000" y="3324"/>
                  </a:lnTo>
                  <a:lnTo>
                    <a:pt x="16025" y="3351"/>
                  </a:lnTo>
                  <a:lnTo>
                    <a:pt x="16050" y="3377"/>
                  </a:lnTo>
                  <a:lnTo>
                    <a:pt x="15025" y="4402"/>
                  </a:lnTo>
                  <a:lnTo>
                    <a:pt x="15000" y="4377"/>
                  </a:lnTo>
                  <a:lnTo>
                    <a:pt x="14975" y="4351"/>
                  </a:lnTo>
                  <a:lnTo>
                    <a:pt x="14950" y="4325"/>
                  </a:lnTo>
                  <a:lnTo>
                    <a:pt x="14923" y="4300"/>
                  </a:lnTo>
                  <a:lnTo>
                    <a:pt x="14560" y="3955"/>
                  </a:lnTo>
                  <a:lnTo>
                    <a:pt x="14184" y="3632"/>
                  </a:lnTo>
                  <a:lnTo>
                    <a:pt x="13796" y="3330"/>
                  </a:lnTo>
                  <a:lnTo>
                    <a:pt x="13396" y="3053"/>
                  </a:lnTo>
                  <a:lnTo>
                    <a:pt x="12984" y="2797"/>
                  </a:lnTo>
                  <a:lnTo>
                    <a:pt x="12564" y="2563"/>
                  </a:lnTo>
                  <a:lnTo>
                    <a:pt x="12136" y="2351"/>
                  </a:lnTo>
                  <a:lnTo>
                    <a:pt x="11698" y="2161"/>
                  </a:lnTo>
                  <a:lnTo>
                    <a:pt x="11254" y="1995"/>
                  </a:lnTo>
                  <a:lnTo>
                    <a:pt x="10805" y="1850"/>
                  </a:lnTo>
                  <a:lnTo>
                    <a:pt x="10349" y="1728"/>
                  </a:lnTo>
                  <a:lnTo>
                    <a:pt x="9889" y="1628"/>
                  </a:lnTo>
                  <a:lnTo>
                    <a:pt x="9426" y="1549"/>
                  </a:lnTo>
                  <a:lnTo>
                    <a:pt x="8960" y="1494"/>
                  </a:lnTo>
                  <a:lnTo>
                    <a:pt x="8492" y="1461"/>
                  </a:lnTo>
                  <a:lnTo>
                    <a:pt x="8024" y="1450"/>
                  </a:lnTo>
                  <a:lnTo>
                    <a:pt x="7556" y="1461"/>
                  </a:lnTo>
                  <a:lnTo>
                    <a:pt x="7087" y="1494"/>
                  </a:lnTo>
                  <a:lnTo>
                    <a:pt x="6622" y="1550"/>
                  </a:lnTo>
                  <a:lnTo>
                    <a:pt x="6158" y="1629"/>
                  </a:lnTo>
                  <a:lnTo>
                    <a:pt x="5699" y="1729"/>
                  </a:lnTo>
                  <a:lnTo>
                    <a:pt x="5243" y="1851"/>
                  </a:lnTo>
                  <a:lnTo>
                    <a:pt x="4793" y="1996"/>
                  </a:lnTo>
                  <a:lnTo>
                    <a:pt x="4350" y="2163"/>
                  </a:lnTo>
                  <a:lnTo>
                    <a:pt x="3912" y="2352"/>
                  </a:lnTo>
                  <a:lnTo>
                    <a:pt x="3483" y="2564"/>
                  </a:lnTo>
                  <a:lnTo>
                    <a:pt x="3064" y="2799"/>
                  </a:lnTo>
                  <a:lnTo>
                    <a:pt x="2652" y="3055"/>
                  </a:lnTo>
                  <a:lnTo>
                    <a:pt x="2253" y="3332"/>
                  </a:lnTo>
                  <a:lnTo>
                    <a:pt x="1864" y="3634"/>
                  </a:lnTo>
                  <a:lnTo>
                    <a:pt x="1488" y="3957"/>
                  </a:lnTo>
                  <a:lnTo>
                    <a:pt x="1125" y="4302"/>
                  </a:lnTo>
                  <a:lnTo>
                    <a:pt x="1099" y="4327"/>
                  </a:lnTo>
                  <a:lnTo>
                    <a:pt x="1075" y="4353"/>
                  </a:lnTo>
                  <a:lnTo>
                    <a:pt x="1050" y="4378"/>
                  </a:lnTo>
                  <a:lnTo>
                    <a:pt x="1025" y="4404"/>
                  </a:lnTo>
                  <a:lnTo>
                    <a:pt x="0" y="3378"/>
                  </a:lnTo>
                  <a:lnTo>
                    <a:pt x="24" y="3353"/>
                  </a:lnTo>
                  <a:lnTo>
                    <a:pt x="49" y="3326"/>
                  </a:lnTo>
                  <a:lnTo>
                    <a:pt x="74" y="3301"/>
                  </a:lnTo>
                  <a:lnTo>
                    <a:pt x="99" y="3276"/>
                  </a:lnTo>
                  <a:lnTo>
                    <a:pt x="516" y="2880"/>
                  </a:lnTo>
                  <a:lnTo>
                    <a:pt x="948" y="2509"/>
                  </a:lnTo>
                  <a:lnTo>
                    <a:pt x="1394" y="2162"/>
                  </a:lnTo>
                  <a:lnTo>
                    <a:pt x="1854" y="1843"/>
                  </a:lnTo>
                  <a:lnTo>
                    <a:pt x="2325" y="1549"/>
                  </a:lnTo>
                  <a:lnTo>
                    <a:pt x="2808" y="1280"/>
                  </a:lnTo>
                  <a:lnTo>
                    <a:pt x="3301" y="1037"/>
                  </a:lnTo>
                  <a:lnTo>
                    <a:pt x="3803" y="820"/>
                  </a:lnTo>
                  <a:lnTo>
                    <a:pt x="4312" y="627"/>
                  </a:lnTo>
                  <a:lnTo>
                    <a:pt x="4830" y="461"/>
                  </a:lnTo>
                  <a:lnTo>
                    <a:pt x="5353" y="320"/>
                  </a:lnTo>
                  <a:lnTo>
                    <a:pt x="5881" y="205"/>
                  </a:lnTo>
                  <a:lnTo>
                    <a:pt x="6413" y="115"/>
                  </a:lnTo>
                  <a:lnTo>
                    <a:pt x="6949" y="51"/>
                  </a:lnTo>
                  <a:lnTo>
                    <a:pt x="7485" y="13"/>
                  </a:lnTo>
                  <a:lnTo>
                    <a:pt x="8024" y="0"/>
                  </a:lnTo>
                  <a:lnTo>
                    <a:pt x="8562" y="13"/>
                  </a:lnTo>
                  <a:lnTo>
                    <a:pt x="9099" y="51"/>
                  </a:lnTo>
                  <a:lnTo>
                    <a:pt x="9634" y="115"/>
                  </a:lnTo>
                  <a:lnTo>
                    <a:pt x="10167" y="205"/>
                  </a:lnTo>
                  <a:lnTo>
                    <a:pt x="10694" y="319"/>
                  </a:lnTo>
                  <a:lnTo>
                    <a:pt x="11218" y="460"/>
                  </a:lnTo>
                  <a:lnTo>
                    <a:pt x="11735" y="626"/>
                  </a:lnTo>
                  <a:lnTo>
                    <a:pt x="12245" y="818"/>
                  </a:lnTo>
                  <a:lnTo>
                    <a:pt x="12747" y="1036"/>
                  </a:lnTo>
                  <a:lnTo>
                    <a:pt x="13239" y="1278"/>
                  </a:lnTo>
                  <a:lnTo>
                    <a:pt x="13722" y="1547"/>
                  </a:lnTo>
                  <a:lnTo>
                    <a:pt x="14194" y="1841"/>
                  </a:lnTo>
                  <a:lnTo>
                    <a:pt x="14654" y="2160"/>
                  </a:lnTo>
                  <a:lnTo>
                    <a:pt x="15100" y="2506"/>
                  </a:lnTo>
                  <a:lnTo>
                    <a:pt x="15532" y="2877"/>
                  </a:lnTo>
                  <a:lnTo>
                    <a:pt x="15950" y="3273"/>
                  </a:lnTo>
                  <a:close/>
                  <a:moveTo>
                    <a:pt x="14055" y="5373"/>
                  </a:moveTo>
                  <a:lnTo>
                    <a:pt x="12946" y="6481"/>
                  </a:lnTo>
                  <a:lnTo>
                    <a:pt x="12921" y="6456"/>
                  </a:lnTo>
                  <a:lnTo>
                    <a:pt x="12897" y="6430"/>
                  </a:lnTo>
                  <a:lnTo>
                    <a:pt x="12871" y="6404"/>
                  </a:lnTo>
                  <a:lnTo>
                    <a:pt x="12846" y="6379"/>
                  </a:lnTo>
                  <a:lnTo>
                    <a:pt x="12592" y="6137"/>
                  </a:lnTo>
                  <a:lnTo>
                    <a:pt x="12329" y="5912"/>
                  </a:lnTo>
                  <a:lnTo>
                    <a:pt x="12058" y="5702"/>
                  </a:lnTo>
                  <a:lnTo>
                    <a:pt x="11778" y="5507"/>
                  </a:lnTo>
                  <a:lnTo>
                    <a:pt x="11491" y="5328"/>
                  </a:lnTo>
                  <a:lnTo>
                    <a:pt x="11198" y="5165"/>
                  </a:lnTo>
                  <a:lnTo>
                    <a:pt x="10898" y="5017"/>
                  </a:lnTo>
                  <a:lnTo>
                    <a:pt x="10592" y="4885"/>
                  </a:lnTo>
                  <a:lnTo>
                    <a:pt x="10282" y="4768"/>
                  </a:lnTo>
                  <a:lnTo>
                    <a:pt x="9967" y="4667"/>
                  </a:lnTo>
                  <a:lnTo>
                    <a:pt x="9649" y="4582"/>
                  </a:lnTo>
                  <a:lnTo>
                    <a:pt x="9328" y="4512"/>
                  </a:lnTo>
                  <a:lnTo>
                    <a:pt x="9004" y="4457"/>
                  </a:lnTo>
                  <a:lnTo>
                    <a:pt x="8679" y="4418"/>
                  </a:lnTo>
                  <a:lnTo>
                    <a:pt x="8352" y="4395"/>
                  </a:lnTo>
                  <a:lnTo>
                    <a:pt x="8024" y="4387"/>
                  </a:lnTo>
                  <a:lnTo>
                    <a:pt x="7697" y="4395"/>
                  </a:lnTo>
                  <a:lnTo>
                    <a:pt x="7370" y="4418"/>
                  </a:lnTo>
                  <a:lnTo>
                    <a:pt x="7044" y="4457"/>
                  </a:lnTo>
                  <a:lnTo>
                    <a:pt x="6721" y="4512"/>
                  </a:lnTo>
                  <a:lnTo>
                    <a:pt x="6399" y="4582"/>
                  </a:lnTo>
                  <a:lnTo>
                    <a:pt x="6081" y="4668"/>
                  </a:lnTo>
                  <a:lnTo>
                    <a:pt x="5767" y="4769"/>
                  </a:lnTo>
                  <a:lnTo>
                    <a:pt x="5457" y="4886"/>
                  </a:lnTo>
                  <a:lnTo>
                    <a:pt x="5151" y="5018"/>
                  </a:lnTo>
                  <a:lnTo>
                    <a:pt x="4851" y="5166"/>
                  </a:lnTo>
                  <a:lnTo>
                    <a:pt x="4558" y="5329"/>
                  </a:lnTo>
                  <a:lnTo>
                    <a:pt x="4271" y="5509"/>
                  </a:lnTo>
                  <a:lnTo>
                    <a:pt x="3991" y="5703"/>
                  </a:lnTo>
                  <a:lnTo>
                    <a:pt x="3720" y="5913"/>
                  </a:lnTo>
                  <a:lnTo>
                    <a:pt x="3457" y="6139"/>
                  </a:lnTo>
                  <a:lnTo>
                    <a:pt x="3203" y="6380"/>
                  </a:lnTo>
                  <a:lnTo>
                    <a:pt x="3178" y="6406"/>
                  </a:lnTo>
                  <a:lnTo>
                    <a:pt x="3154" y="6431"/>
                  </a:lnTo>
                  <a:lnTo>
                    <a:pt x="3129" y="6456"/>
                  </a:lnTo>
                  <a:lnTo>
                    <a:pt x="3104" y="6482"/>
                  </a:lnTo>
                  <a:lnTo>
                    <a:pt x="1996" y="5374"/>
                  </a:lnTo>
                  <a:lnTo>
                    <a:pt x="2020" y="5348"/>
                  </a:lnTo>
                  <a:lnTo>
                    <a:pt x="2045" y="5322"/>
                  </a:lnTo>
                  <a:lnTo>
                    <a:pt x="2069" y="5297"/>
                  </a:lnTo>
                  <a:lnTo>
                    <a:pt x="2095" y="5272"/>
                  </a:lnTo>
                  <a:lnTo>
                    <a:pt x="2406" y="4975"/>
                  </a:lnTo>
                  <a:lnTo>
                    <a:pt x="2731" y="4697"/>
                  </a:lnTo>
                  <a:lnTo>
                    <a:pt x="3065" y="4439"/>
                  </a:lnTo>
                  <a:lnTo>
                    <a:pt x="3408" y="4199"/>
                  </a:lnTo>
                  <a:lnTo>
                    <a:pt x="3761" y="3980"/>
                  </a:lnTo>
                  <a:lnTo>
                    <a:pt x="4122" y="3779"/>
                  </a:lnTo>
                  <a:lnTo>
                    <a:pt x="4491" y="3596"/>
                  </a:lnTo>
                  <a:lnTo>
                    <a:pt x="4866" y="3434"/>
                  </a:lnTo>
                  <a:lnTo>
                    <a:pt x="5247" y="3290"/>
                  </a:lnTo>
                  <a:lnTo>
                    <a:pt x="5635" y="3166"/>
                  </a:lnTo>
                  <a:lnTo>
                    <a:pt x="6026" y="3061"/>
                  </a:lnTo>
                  <a:lnTo>
                    <a:pt x="6421" y="2974"/>
                  </a:lnTo>
                  <a:lnTo>
                    <a:pt x="6819" y="2907"/>
                  </a:lnTo>
                  <a:lnTo>
                    <a:pt x="7219" y="2859"/>
                  </a:lnTo>
                  <a:lnTo>
                    <a:pt x="7622" y="2831"/>
                  </a:lnTo>
                  <a:lnTo>
                    <a:pt x="8024" y="2821"/>
                  </a:lnTo>
                  <a:lnTo>
                    <a:pt x="8427" y="2831"/>
                  </a:lnTo>
                  <a:lnTo>
                    <a:pt x="8829" y="2859"/>
                  </a:lnTo>
                  <a:lnTo>
                    <a:pt x="9229" y="2907"/>
                  </a:lnTo>
                  <a:lnTo>
                    <a:pt x="9627" y="2973"/>
                  </a:lnTo>
                  <a:lnTo>
                    <a:pt x="10022" y="3060"/>
                  </a:lnTo>
                  <a:lnTo>
                    <a:pt x="10413" y="3165"/>
                  </a:lnTo>
                  <a:lnTo>
                    <a:pt x="10801" y="3289"/>
                  </a:lnTo>
                  <a:lnTo>
                    <a:pt x="11182" y="3433"/>
                  </a:lnTo>
                  <a:lnTo>
                    <a:pt x="11558" y="3595"/>
                  </a:lnTo>
                  <a:lnTo>
                    <a:pt x="11926" y="3777"/>
                  </a:lnTo>
                  <a:lnTo>
                    <a:pt x="12287" y="3978"/>
                  </a:lnTo>
                  <a:lnTo>
                    <a:pt x="12640" y="4198"/>
                  </a:lnTo>
                  <a:lnTo>
                    <a:pt x="12984" y="4437"/>
                  </a:lnTo>
                  <a:lnTo>
                    <a:pt x="13318" y="4696"/>
                  </a:lnTo>
                  <a:lnTo>
                    <a:pt x="13641" y="4973"/>
                  </a:lnTo>
                  <a:lnTo>
                    <a:pt x="13954" y="5270"/>
                  </a:lnTo>
                  <a:lnTo>
                    <a:pt x="13980" y="5295"/>
                  </a:lnTo>
                  <a:lnTo>
                    <a:pt x="14005" y="5321"/>
                  </a:lnTo>
                  <a:lnTo>
                    <a:pt x="14030" y="5347"/>
                  </a:lnTo>
                  <a:lnTo>
                    <a:pt x="14055" y="5373"/>
                  </a:lnTo>
                  <a:close/>
                  <a:moveTo>
                    <a:pt x="11928" y="7501"/>
                  </a:moveTo>
                  <a:lnTo>
                    <a:pt x="10854" y="8576"/>
                  </a:lnTo>
                  <a:lnTo>
                    <a:pt x="10829" y="8549"/>
                  </a:lnTo>
                  <a:lnTo>
                    <a:pt x="10805" y="8523"/>
                  </a:lnTo>
                  <a:lnTo>
                    <a:pt x="10780" y="8498"/>
                  </a:lnTo>
                  <a:lnTo>
                    <a:pt x="10754" y="8472"/>
                  </a:lnTo>
                  <a:lnTo>
                    <a:pt x="10610" y="8336"/>
                  </a:lnTo>
                  <a:lnTo>
                    <a:pt x="10462" y="8208"/>
                  </a:lnTo>
                  <a:lnTo>
                    <a:pt x="10307" y="8089"/>
                  </a:lnTo>
                  <a:lnTo>
                    <a:pt x="10150" y="7980"/>
                  </a:lnTo>
                  <a:lnTo>
                    <a:pt x="9987" y="7878"/>
                  </a:lnTo>
                  <a:lnTo>
                    <a:pt x="9821" y="7785"/>
                  </a:lnTo>
                  <a:lnTo>
                    <a:pt x="9651" y="7702"/>
                  </a:lnTo>
                  <a:lnTo>
                    <a:pt x="9479" y="7627"/>
                  </a:lnTo>
                  <a:lnTo>
                    <a:pt x="9303" y="7561"/>
                  </a:lnTo>
                  <a:lnTo>
                    <a:pt x="9124" y="7504"/>
                  </a:lnTo>
                  <a:lnTo>
                    <a:pt x="8945" y="7456"/>
                  </a:lnTo>
                  <a:lnTo>
                    <a:pt x="8762" y="7416"/>
                  </a:lnTo>
                  <a:lnTo>
                    <a:pt x="8580" y="7384"/>
                  </a:lnTo>
                  <a:lnTo>
                    <a:pt x="8395" y="7362"/>
                  </a:lnTo>
                  <a:lnTo>
                    <a:pt x="8210" y="7349"/>
                  </a:lnTo>
                  <a:lnTo>
                    <a:pt x="8025" y="7345"/>
                  </a:lnTo>
                  <a:lnTo>
                    <a:pt x="7839" y="7349"/>
                  </a:lnTo>
                  <a:lnTo>
                    <a:pt x="7655" y="7363"/>
                  </a:lnTo>
                  <a:lnTo>
                    <a:pt x="7470" y="7385"/>
                  </a:lnTo>
                  <a:lnTo>
                    <a:pt x="7287" y="7416"/>
                  </a:lnTo>
                  <a:lnTo>
                    <a:pt x="7105" y="7456"/>
                  </a:lnTo>
                  <a:lnTo>
                    <a:pt x="6926" y="7504"/>
                  </a:lnTo>
                  <a:lnTo>
                    <a:pt x="6747" y="7561"/>
                  </a:lnTo>
                  <a:lnTo>
                    <a:pt x="6571" y="7627"/>
                  </a:lnTo>
                  <a:lnTo>
                    <a:pt x="6399" y="7703"/>
                  </a:lnTo>
                  <a:lnTo>
                    <a:pt x="6229" y="7786"/>
                  </a:lnTo>
                  <a:lnTo>
                    <a:pt x="6063" y="7878"/>
                  </a:lnTo>
                  <a:lnTo>
                    <a:pt x="5900" y="7980"/>
                  </a:lnTo>
                  <a:lnTo>
                    <a:pt x="5742" y="8090"/>
                  </a:lnTo>
                  <a:lnTo>
                    <a:pt x="5588" y="8209"/>
                  </a:lnTo>
                  <a:lnTo>
                    <a:pt x="5440" y="8337"/>
                  </a:lnTo>
                  <a:lnTo>
                    <a:pt x="5297" y="8473"/>
                  </a:lnTo>
                  <a:lnTo>
                    <a:pt x="5271" y="8498"/>
                  </a:lnTo>
                  <a:lnTo>
                    <a:pt x="5246" y="8524"/>
                  </a:lnTo>
                  <a:lnTo>
                    <a:pt x="5222" y="8550"/>
                  </a:lnTo>
                  <a:lnTo>
                    <a:pt x="5198" y="8576"/>
                  </a:lnTo>
                  <a:lnTo>
                    <a:pt x="4123" y="7501"/>
                  </a:lnTo>
                  <a:lnTo>
                    <a:pt x="4147" y="7476"/>
                  </a:lnTo>
                  <a:lnTo>
                    <a:pt x="4172" y="7450"/>
                  </a:lnTo>
                  <a:lnTo>
                    <a:pt x="4197" y="7425"/>
                  </a:lnTo>
                  <a:lnTo>
                    <a:pt x="4222" y="7399"/>
                  </a:lnTo>
                  <a:lnTo>
                    <a:pt x="4422" y="7209"/>
                  </a:lnTo>
                  <a:lnTo>
                    <a:pt x="4629" y="7030"/>
                  </a:lnTo>
                  <a:lnTo>
                    <a:pt x="4843" y="6865"/>
                  </a:lnTo>
                  <a:lnTo>
                    <a:pt x="5064" y="6711"/>
                  </a:lnTo>
                  <a:lnTo>
                    <a:pt x="5290" y="6571"/>
                  </a:lnTo>
                  <a:lnTo>
                    <a:pt x="5522" y="6441"/>
                  </a:lnTo>
                  <a:lnTo>
                    <a:pt x="5758" y="6325"/>
                  </a:lnTo>
                  <a:lnTo>
                    <a:pt x="6000" y="6220"/>
                  </a:lnTo>
                  <a:lnTo>
                    <a:pt x="6243" y="6128"/>
                  </a:lnTo>
                  <a:lnTo>
                    <a:pt x="6492" y="6048"/>
                  </a:lnTo>
                  <a:lnTo>
                    <a:pt x="6743" y="5981"/>
                  </a:lnTo>
                  <a:lnTo>
                    <a:pt x="6997" y="5925"/>
                  </a:lnTo>
                  <a:lnTo>
                    <a:pt x="7252" y="5882"/>
                  </a:lnTo>
                  <a:lnTo>
                    <a:pt x="7508" y="5851"/>
                  </a:lnTo>
                  <a:lnTo>
                    <a:pt x="7766" y="5833"/>
                  </a:lnTo>
                  <a:lnTo>
                    <a:pt x="8025" y="5827"/>
                  </a:lnTo>
                  <a:lnTo>
                    <a:pt x="8283" y="5833"/>
                  </a:lnTo>
                  <a:lnTo>
                    <a:pt x="8541" y="5851"/>
                  </a:lnTo>
                  <a:lnTo>
                    <a:pt x="8797" y="5882"/>
                  </a:lnTo>
                  <a:lnTo>
                    <a:pt x="9053" y="5925"/>
                  </a:lnTo>
                  <a:lnTo>
                    <a:pt x="9306" y="5981"/>
                  </a:lnTo>
                  <a:lnTo>
                    <a:pt x="9557" y="6048"/>
                  </a:lnTo>
                  <a:lnTo>
                    <a:pt x="9806" y="6127"/>
                  </a:lnTo>
                  <a:lnTo>
                    <a:pt x="10050" y="6219"/>
                  </a:lnTo>
                  <a:lnTo>
                    <a:pt x="10291" y="6324"/>
                  </a:lnTo>
                  <a:lnTo>
                    <a:pt x="10528" y="6440"/>
                  </a:lnTo>
                  <a:lnTo>
                    <a:pt x="10760" y="6570"/>
                  </a:lnTo>
                  <a:lnTo>
                    <a:pt x="10985" y="6710"/>
                  </a:lnTo>
                  <a:lnTo>
                    <a:pt x="11206" y="6864"/>
                  </a:lnTo>
                  <a:lnTo>
                    <a:pt x="11421" y="7029"/>
                  </a:lnTo>
                  <a:lnTo>
                    <a:pt x="11627" y="7208"/>
                  </a:lnTo>
                  <a:lnTo>
                    <a:pt x="11828" y="7398"/>
                  </a:lnTo>
                  <a:lnTo>
                    <a:pt x="11853" y="7424"/>
                  </a:lnTo>
                  <a:lnTo>
                    <a:pt x="11878" y="7449"/>
                  </a:lnTo>
                  <a:lnTo>
                    <a:pt x="11903" y="7475"/>
                  </a:lnTo>
                  <a:lnTo>
                    <a:pt x="11928" y="7501"/>
                  </a:lnTo>
                  <a:close/>
                </a:path>
              </a:pathLst>
            </a:custGeom>
            <a:grpFill/>
            <a:ln w="9525">
              <a:noFill/>
              <a:round/>
              <a:headEnd/>
              <a:tailEnd/>
            </a:ln>
          </p:spPr>
          <p:txBody>
            <a:bodyPr/>
            <a:lstStyle/>
            <a:p>
              <a:pPr algn="ctr" eaLnBrk="1" fontAlgn="auto" hangingPunct="1">
                <a:spcBef>
                  <a:spcPts val="0"/>
                </a:spcBef>
                <a:spcAft>
                  <a:spcPts val="0"/>
                </a:spcAft>
                <a:defRPr/>
              </a:pPr>
              <a:endParaRPr lang="zh-CN" altLang="en-US" sz="1200" ker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96" name="文本框 95"/>
          <p:cNvSpPr txBox="1"/>
          <p:nvPr/>
        </p:nvSpPr>
        <p:spPr bwMode="gray">
          <a:xfrm>
            <a:off x="4188325" y="4135039"/>
            <a:ext cx="460382" cy="276999"/>
          </a:xfrm>
          <a:prstGeom prst="rect">
            <a:avLst/>
          </a:prstGeom>
          <a:noFill/>
        </p:spPr>
        <p:txBody>
          <a:bodyPr wrap="none" rtlCol="0">
            <a:spAutoFit/>
          </a:bodyPr>
          <a:lstStyle/>
          <a:p>
            <a:pPr algn="r"/>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AP1</a:t>
            </a:r>
            <a:endParaRPr lang="zh-CN" altLang="en-US" sz="1200" b="1"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2" name="任意多边形 1"/>
          <p:cNvSpPr/>
          <p:nvPr/>
        </p:nvSpPr>
        <p:spPr bwMode="gray">
          <a:xfrm>
            <a:off x="1856823" y="2894736"/>
            <a:ext cx="515528" cy="636694"/>
          </a:xfrm>
          <a:custGeom>
            <a:avLst/>
            <a:gdLst>
              <a:gd name="connsiteX0" fmla="*/ 589280 w 589280"/>
              <a:gd name="connsiteY0" fmla="*/ 0 h 1026160"/>
              <a:gd name="connsiteX1" fmla="*/ 121920 w 589280"/>
              <a:gd name="connsiteY1" fmla="*/ 568960 h 1026160"/>
              <a:gd name="connsiteX2" fmla="*/ 0 w 589280"/>
              <a:gd name="connsiteY2" fmla="*/ 1026160 h 1026160"/>
            </a:gdLst>
            <a:ahLst/>
            <a:cxnLst>
              <a:cxn ang="0">
                <a:pos x="connsiteX0" y="connsiteY0"/>
              </a:cxn>
              <a:cxn ang="0">
                <a:pos x="connsiteX1" y="connsiteY1"/>
              </a:cxn>
              <a:cxn ang="0">
                <a:pos x="connsiteX2" y="connsiteY2"/>
              </a:cxn>
            </a:cxnLst>
            <a:rect l="l" t="t" r="r" b="b"/>
            <a:pathLst>
              <a:path w="589280" h="1026160">
                <a:moveTo>
                  <a:pt x="589280" y="0"/>
                </a:moveTo>
                <a:cubicBezTo>
                  <a:pt x="404706" y="198966"/>
                  <a:pt x="220133" y="397933"/>
                  <a:pt x="121920" y="568960"/>
                </a:cubicBezTo>
                <a:cubicBezTo>
                  <a:pt x="23707" y="739987"/>
                  <a:pt x="11853" y="883073"/>
                  <a:pt x="0" y="1026160"/>
                </a:cubicBezTo>
              </a:path>
            </a:pathLst>
          </a:custGeom>
          <a:ln w="19050">
            <a:solidFill>
              <a:srgbClr val="30B5C5"/>
            </a:solidFill>
            <a:prstDash val="sysDot"/>
            <a:headEnd type="triangle"/>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97" name="任意多边形 96"/>
          <p:cNvSpPr/>
          <p:nvPr/>
        </p:nvSpPr>
        <p:spPr bwMode="gray">
          <a:xfrm flipH="1">
            <a:off x="2517757" y="2894736"/>
            <a:ext cx="515528" cy="636694"/>
          </a:xfrm>
          <a:custGeom>
            <a:avLst/>
            <a:gdLst>
              <a:gd name="connsiteX0" fmla="*/ 589280 w 589280"/>
              <a:gd name="connsiteY0" fmla="*/ 0 h 1026160"/>
              <a:gd name="connsiteX1" fmla="*/ 121920 w 589280"/>
              <a:gd name="connsiteY1" fmla="*/ 568960 h 1026160"/>
              <a:gd name="connsiteX2" fmla="*/ 0 w 589280"/>
              <a:gd name="connsiteY2" fmla="*/ 1026160 h 1026160"/>
            </a:gdLst>
            <a:ahLst/>
            <a:cxnLst>
              <a:cxn ang="0">
                <a:pos x="connsiteX0" y="connsiteY0"/>
              </a:cxn>
              <a:cxn ang="0">
                <a:pos x="connsiteX1" y="connsiteY1"/>
              </a:cxn>
              <a:cxn ang="0">
                <a:pos x="connsiteX2" y="connsiteY2"/>
              </a:cxn>
            </a:cxnLst>
            <a:rect l="l" t="t" r="r" b="b"/>
            <a:pathLst>
              <a:path w="589280" h="1026160">
                <a:moveTo>
                  <a:pt x="589280" y="0"/>
                </a:moveTo>
                <a:cubicBezTo>
                  <a:pt x="404706" y="198966"/>
                  <a:pt x="220133" y="397933"/>
                  <a:pt x="121920" y="568960"/>
                </a:cubicBezTo>
                <a:cubicBezTo>
                  <a:pt x="23707" y="739987"/>
                  <a:pt x="11853" y="883073"/>
                  <a:pt x="0" y="1026160"/>
                </a:cubicBezTo>
              </a:path>
            </a:pathLst>
          </a:custGeom>
          <a:ln w="19050">
            <a:solidFill>
              <a:srgbClr val="30B5C5"/>
            </a:solidFill>
            <a:prstDash val="sysDot"/>
            <a:headEnd type="triangle"/>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42" name="五边形 41"/>
          <p:cNvSpPr/>
          <p:nvPr/>
        </p:nvSpPr>
        <p:spPr bwMode="gray">
          <a:xfrm>
            <a:off x="5773628" y="98481"/>
            <a:ext cx="9000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站点管理</a:t>
            </a:r>
          </a:p>
        </p:txBody>
      </p:sp>
      <p:sp>
        <p:nvSpPr>
          <p:cNvPr id="43" name="燕尾形 42"/>
          <p:cNvSpPr/>
          <p:nvPr/>
        </p:nvSpPr>
        <p:spPr bwMode="gray">
          <a:xfrm>
            <a:off x="9109268" y="9848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逻辑网络</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4" name="燕尾形 43"/>
          <p:cNvSpPr/>
          <p:nvPr/>
        </p:nvSpPr>
        <p:spPr bwMode="gray">
          <a:xfrm>
            <a:off x="9925178" y="9848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业务部署</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6" name="燕尾形 45"/>
          <p:cNvSpPr/>
          <p:nvPr/>
        </p:nvSpPr>
        <p:spPr bwMode="gray">
          <a:xfrm>
            <a:off x="8221358" y="98481"/>
            <a:ext cx="9720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Fabric</a:t>
            </a: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网络</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8" name="燕尾形 47"/>
          <p:cNvSpPr/>
          <p:nvPr/>
        </p:nvSpPr>
        <p:spPr bwMode="gray">
          <a:xfrm>
            <a:off x="7405448" y="9848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网络规划</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9" name="燕尾形 48"/>
          <p:cNvSpPr/>
          <p:nvPr/>
        </p:nvSpPr>
        <p:spPr bwMode="gray">
          <a:xfrm>
            <a:off x="6589538" y="9848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设备管理</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3" name="燕尾形 52"/>
          <p:cNvSpPr/>
          <p:nvPr/>
        </p:nvSpPr>
        <p:spPr bwMode="gray">
          <a:xfrm>
            <a:off x="10741088" y="98481"/>
            <a:ext cx="1008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WLAN</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业务</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4228033324"/>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normAutofit/>
          </a:bodyPr>
          <a:lstStyle/>
          <a:p>
            <a:r>
              <a:rPr lang="zh-CN" altLang="en-US" dirty="0" smtClean="0"/>
              <a:t>配置</a:t>
            </a:r>
            <a:r>
              <a:rPr lang="en-US" altLang="zh-CN" dirty="0" smtClean="0"/>
              <a:t>Fabric</a:t>
            </a:r>
            <a:r>
              <a:rPr lang="zh-CN" altLang="en-US" dirty="0" smtClean="0"/>
              <a:t>网络：创建外部网络</a:t>
            </a:r>
            <a:endParaRPr lang="zh-CN" altLang="en-US" dirty="0"/>
          </a:p>
        </p:txBody>
      </p:sp>
      <p:sp>
        <p:nvSpPr>
          <p:cNvPr id="3" name="文本占位符 2"/>
          <p:cNvSpPr>
            <a:spLocks noGrp="1"/>
          </p:cNvSpPr>
          <p:nvPr>
            <p:ph type="body" sz="quarter" idx="10"/>
          </p:nvPr>
        </p:nvSpPr>
        <p:spPr bwMode="gray">
          <a:xfrm>
            <a:off x="455612" y="1047750"/>
            <a:ext cx="11293475" cy="2872497"/>
          </a:xfrm>
        </p:spPr>
        <p:txBody>
          <a:bodyPr/>
          <a:lstStyle/>
          <a:p>
            <a:r>
              <a:rPr lang="zh-CN" altLang="en-US" sz="1800" dirty="0" smtClean="0"/>
              <a:t>在</a:t>
            </a:r>
            <a:r>
              <a:rPr lang="en-US" altLang="zh-CN" sz="1800" dirty="0" smtClean="0"/>
              <a:t>Fabric</a:t>
            </a:r>
            <a:r>
              <a:rPr lang="zh-CN" altLang="en-US" sz="1800" dirty="0" smtClean="0"/>
              <a:t>网络的资源模型设计中，通过在</a:t>
            </a:r>
            <a:r>
              <a:rPr lang="en-US" altLang="zh-CN" sz="1800" dirty="0" smtClean="0"/>
              <a:t>Border</a:t>
            </a:r>
            <a:r>
              <a:rPr lang="zh-CN" altLang="en-US" sz="1800" dirty="0" smtClean="0"/>
              <a:t>节点创建外部网络，使得园区内部终端能够访问外部</a:t>
            </a:r>
            <a:r>
              <a:rPr lang="en-US" altLang="zh-CN" sz="1800" dirty="0" smtClean="0"/>
              <a:t>Internet</a:t>
            </a:r>
            <a:r>
              <a:rPr lang="zh-CN" altLang="en-US" sz="1800" dirty="0"/>
              <a:t>等</a:t>
            </a:r>
            <a:r>
              <a:rPr lang="zh-CN" altLang="en-US" sz="1800" dirty="0" smtClean="0"/>
              <a:t>。</a:t>
            </a:r>
            <a:endParaRPr lang="en-US" altLang="zh-CN" sz="1800" dirty="0" smtClean="0"/>
          </a:p>
          <a:p>
            <a:r>
              <a:rPr lang="zh-CN" altLang="en-US" sz="1800" dirty="0" smtClean="0"/>
              <a:t>外部网络资源定义了三种类型，如果用户网关位于</a:t>
            </a:r>
            <a:r>
              <a:rPr lang="en-US" altLang="zh-CN" sz="1800" dirty="0" smtClean="0"/>
              <a:t>Fabric</a:t>
            </a:r>
            <a:r>
              <a:rPr lang="zh-CN" altLang="en-US" sz="1800" dirty="0" smtClean="0"/>
              <a:t>内，主要采用</a:t>
            </a:r>
            <a:r>
              <a:rPr lang="en-US" altLang="zh-CN" sz="1800" dirty="0" smtClean="0"/>
              <a:t>L3</a:t>
            </a:r>
            <a:r>
              <a:rPr lang="zh-CN" altLang="en-US" sz="1800" dirty="0" smtClean="0"/>
              <a:t>共享出口或者</a:t>
            </a:r>
            <a:r>
              <a:rPr lang="en-US" altLang="zh-CN" sz="1800" dirty="0" smtClean="0"/>
              <a:t>L3</a:t>
            </a:r>
            <a:r>
              <a:rPr lang="zh-CN" altLang="en-US" sz="1800" dirty="0" smtClean="0"/>
              <a:t>独占出口两种类型。</a:t>
            </a:r>
          </a:p>
          <a:p>
            <a:pPr lvl="1"/>
            <a:r>
              <a:rPr lang="en-US" altLang="zh-CN" sz="1600" dirty="0" smtClean="0"/>
              <a:t>L3</a:t>
            </a:r>
            <a:r>
              <a:rPr lang="zh-CN" altLang="en-US" sz="1600" dirty="0" smtClean="0"/>
              <a:t>共享出口：</a:t>
            </a:r>
            <a:r>
              <a:rPr lang="en-US" altLang="zh-CN" sz="1600" dirty="0" smtClean="0"/>
              <a:t>Fabric</a:t>
            </a:r>
            <a:r>
              <a:rPr lang="zh-CN" altLang="en-US" sz="1600" dirty="0" smtClean="0"/>
              <a:t>网络的多个</a:t>
            </a:r>
            <a:r>
              <a:rPr lang="en-US" altLang="zh-CN" sz="1600" dirty="0" smtClean="0"/>
              <a:t>VN</a:t>
            </a:r>
            <a:r>
              <a:rPr lang="zh-CN" altLang="en-US" sz="1600" dirty="0" smtClean="0"/>
              <a:t>共享</a:t>
            </a:r>
            <a:r>
              <a:rPr lang="en-US" altLang="zh-CN" sz="1600" dirty="0" smtClean="0"/>
              <a:t>L3</a:t>
            </a:r>
            <a:r>
              <a:rPr lang="zh-CN" altLang="en-US" sz="1600" dirty="0" smtClean="0"/>
              <a:t>出口，与出口设备互通。</a:t>
            </a:r>
            <a:r>
              <a:rPr lang="en-US" altLang="zh-CN" sz="1600" dirty="0" smtClean="0"/>
              <a:t>L3</a:t>
            </a:r>
            <a:r>
              <a:rPr lang="zh-CN" altLang="en-US" sz="1600" dirty="0" smtClean="0"/>
              <a:t>共享出口可以节省</a:t>
            </a:r>
            <a:r>
              <a:rPr lang="en-US" altLang="zh-CN" sz="1600" dirty="0" smtClean="0"/>
              <a:t>VLAN</a:t>
            </a:r>
            <a:r>
              <a:rPr lang="zh-CN" altLang="en-US" sz="1600" dirty="0" smtClean="0"/>
              <a:t>和</a:t>
            </a:r>
            <a:r>
              <a:rPr lang="en-US" altLang="zh-CN" sz="1600" dirty="0" smtClean="0"/>
              <a:t>IP</a:t>
            </a:r>
            <a:r>
              <a:rPr lang="zh-CN" altLang="en-US" sz="1600" dirty="0" smtClean="0"/>
              <a:t>等用于互联的资源，适用于不同</a:t>
            </a:r>
            <a:r>
              <a:rPr lang="en-US" altLang="zh-CN" sz="1600" dirty="0" smtClean="0"/>
              <a:t>VN</a:t>
            </a:r>
            <a:r>
              <a:rPr lang="zh-CN" altLang="en-US" sz="1600" dirty="0" smtClean="0"/>
              <a:t>间安全控制策略要求较低的场景。</a:t>
            </a:r>
          </a:p>
          <a:p>
            <a:pPr lvl="1"/>
            <a:r>
              <a:rPr lang="en-US" altLang="zh-CN" sz="1600" dirty="0" smtClean="0"/>
              <a:t>L3</a:t>
            </a:r>
            <a:r>
              <a:rPr lang="zh-CN" altLang="en-US" sz="1600" dirty="0" smtClean="0"/>
              <a:t>独占出口：</a:t>
            </a:r>
            <a:r>
              <a:rPr lang="en-US" altLang="zh-CN" sz="1600" dirty="0" smtClean="0"/>
              <a:t>Fabric</a:t>
            </a:r>
            <a:r>
              <a:rPr lang="zh-CN" altLang="en-US" sz="1600" dirty="0" smtClean="0"/>
              <a:t>网络的每个</a:t>
            </a:r>
            <a:r>
              <a:rPr lang="en-US" altLang="zh-CN" sz="1600" dirty="0" smtClean="0"/>
              <a:t>VN</a:t>
            </a:r>
            <a:r>
              <a:rPr lang="zh-CN" altLang="en-US" sz="1600" dirty="0" smtClean="0"/>
              <a:t>独占一个</a:t>
            </a:r>
            <a:r>
              <a:rPr lang="en-US" altLang="zh-CN" sz="1600" dirty="0" smtClean="0"/>
              <a:t>L3</a:t>
            </a:r>
            <a:r>
              <a:rPr lang="zh-CN" altLang="en-US" sz="1600" dirty="0" smtClean="0"/>
              <a:t>出口，与出口设备互通。此时，防火墙通常会划分多个安全区域与</a:t>
            </a:r>
            <a:r>
              <a:rPr lang="en-US" altLang="zh-CN" sz="1600" dirty="0" smtClean="0"/>
              <a:t>L3</a:t>
            </a:r>
            <a:r>
              <a:rPr lang="zh-CN" altLang="en-US" sz="1600" dirty="0" smtClean="0"/>
              <a:t>独占出口一一对应，到达防火墙的不同</a:t>
            </a:r>
            <a:r>
              <a:rPr lang="en-US" altLang="zh-CN" sz="1600" dirty="0" smtClean="0"/>
              <a:t>VN</a:t>
            </a:r>
            <a:r>
              <a:rPr lang="zh-CN" altLang="en-US" sz="1600" dirty="0" smtClean="0"/>
              <a:t>间业务子网流量是隔离的。</a:t>
            </a:r>
            <a:endParaRPr lang="zh-CN" altLang="en-US" sz="1600" dirty="0"/>
          </a:p>
        </p:txBody>
      </p:sp>
      <p:graphicFrame>
        <p:nvGraphicFramePr>
          <p:cNvPr id="16" name="表格 15"/>
          <p:cNvGraphicFramePr>
            <a:graphicFrameLocks noGrp="1"/>
          </p:cNvGraphicFramePr>
          <p:nvPr>
            <p:extLst>
              <p:ext uri="{D42A27DB-BD31-4B8C-83A1-F6EECF244321}">
                <p14:modId xmlns:p14="http://schemas.microsoft.com/office/powerpoint/2010/main" val="1567967704"/>
              </p:ext>
            </p:extLst>
          </p:nvPr>
        </p:nvGraphicFramePr>
        <p:xfrm>
          <a:off x="2967872" y="4090810"/>
          <a:ext cx="6232442" cy="1386696"/>
        </p:xfrm>
        <a:graphic>
          <a:graphicData uri="http://schemas.openxmlformats.org/drawingml/2006/table">
            <a:tbl>
              <a:tblPr/>
              <a:tblGrid>
                <a:gridCol w="1752137"/>
                <a:gridCol w="4480305"/>
              </a:tblGrid>
              <a:tr h="275193">
                <a:tc>
                  <a:txBody>
                    <a:bodyPr/>
                    <a:lstStyle/>
                    <a:p>
                      <a:pPr algn="ctr"/>
                      <a:r>
                        <a:rPr lang="zh-CN" altLang="en-US" sz="1400" b="1" dirty="0">
                          <a:effectLst/>
                        </a:rPr>
                        <a:t>任务描述</a:t>
                      </a:r>
                    </a:p>
                  </a:txBody>
                  <a:tcPr anchor="ctr">
                    <a:lnL w="28575" cap="flat" cmpd="sng" algn="ctr">
                      <a:solidFill>
                        <a:schemeClr val="tx1"/>
                      </a:solidFill>
                      <a:prstDash val="solid"/>
                      <a:round/>
                      <a:headEnd type="none" w="med" len="med"/>
                      <a:tailEnd type="none" w="med" len="med"/>
                    </a:lnL>
                    <a:lnT w="28575" cap="flat" cmpd="sng" algn="ctr">
                      <a:solidFill>
                        <a:schemeClr val="tx1"/>
                      </a:solidFill>
                      <a:prstDash val="solid"/>
                      <a:round/>
                      <a:headEnd type="none" w="med" len="med"/>
                      <a:tailEnd type="none" w="med" len="med"/>
                    </a:lnT>
                    <a:solidFill>
                      <a:schemeClr val="bg1">
                        <a:lumMod val="85000"/>
                      </a:schemeClr>
                    </a:solidFill>
                  </a:tcPr>
                </a:tc>
                <a:tc>
                  <a:txBody>
                    <a:bodyPr/>
                    <a:lstStyle/>
                    <a:p>
                      <a:pPr algn="ctr"/>
                      <a:r>
                        <a:rPr lang="zh-CN" altLang="en-US" sz="1400" b="1" dirty="0">
                          <a:effectLst/>
                        </a:rPr>
                        <a:t>详细操作步骤</a:t>
                      </a:r>
                    </a:p>
                  </a:txBody>
                  <a:tcPr anchor="ctr">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solidFill>
                      <a:schemeClr val="bg1">
                        <a:lumMod val="85000"/>
                      </a:schemeClr>
                    </a:solidFill>
                  </a:tcPr>
                </a:tc>
              </a:tr>
              <a:tr h="1081896">
                <a:tc>
                  <a:txBody>
                    <a:bodyPr/>
                    <a:lstStyle/>
                    <a:p>
                      <a:pPr algn="ctr"/>
                      <a:r>
                        <a:rPr lang="zh-CN" altLang="en-US" sz="1400" smtClean="0">
                          <a:effectLst/>
                        </a:rPr>
                        <a:t>创建外部网络</a:t>
                      </a:r>
                      <a:endParaRPr lang="en-US" sz="1400">
                        <a:effectLst/>
                      </a:endParaRPr>
                    </a:p>
                  </a:txBody>
                  <a:tcPr anchor="ctr">
                    <a:lnL w="28575" cap="flat" cmpd="sng" algn="ctr">
                      <a:solidFill>
                        <a:schemeClr val="tx1"/>
                      </a:solidFill>
                      <a:prstDash val="solid"/>
                      <a:round/>
                      <a:headEnd type="none" w="med" len="med"/>
                      <a:tailEnd type="none" w="med" len="med"/>
                    </a:lnL>
                    <a:lnB w="28575" cap="flat" cmpd="sng" algn="ctr">
                      <a:solidFill>
                        <a:schemeClr val="tx1"/>
                      </a:solidFill>
                      <a:prstDash val="solid"/>
                      <a:round/>
                      <a:headEnd type="none" w="med" len="med"/>
                      <a:tailEnd type="none" w="med" len="med"/>
                    </a:lnB>
                  </a:tcPr>
                </a:tc>
                <a:tc>
                  <a:txBody>
                    <a:bodyPr/>
                    <a:lstStyle/>
                    <a:p>
                      <a:pPr marL="0" indent="-228600" algn="l" defTabSz="914034" rtl="0" eaLnBrk="1" latinLnBrk="0" hangingPunct="1">
                        <a:lnSpc>
                          <a:spcPct val="100000"/>
                        </a:lnSpc>
                        <a:spcAft>
                          <a:spcPts val="0"/>
                        </a:spcAft>
                        <a:buFont typeface="+mj-lt"/>
                        <a:buAutoNum type="arabicPeriod"/>
                      </a:pPr>
                      <a:r>
                        <a:rPr lang="zh-CN" altLang="en-US" sz="1400" kern="1200" dirty="0" smtClean="0">
                          <a:solidFill>
                            <a:schemeClr val="tx1"/>
                          </a:solidFill>
                          <a:effectLst/>
                          <a:latin typeface="+mn-lt"/>
                          <a:ea typeface="+mn-ea"/>
                          <a:cs typeface="+mn-cs"/>
                        </a:rPr>
                        <a:t>选择与外部网络连接类型。</a:t>
                      </a:r>
                      <a:endParaRPr lang="en-US" altLang="zh-CN" sz="1400" kern="1200" dirty="0" smtClean="0">
                        <a:solidFill>
                          <a:schemeClr val="tx1"/>
                        </a:solidFill>
                        <a:effectLst/>
                        <a:latin typeface="+mn-lt"/>
                        <a:ea typeface="+mn-ea"/>
                        <a:cs typeface="+mn-cs"/>
                      </a:endParaRPr>
                    </a:p>
                    <a:p>
                      <a:pPr marL="0" indent="-228600" algn="l" defTabSz="914034" rtl="0" eaLnBrk="1" latinLnBrk="0" hangingPunct="1">
                        <a:lnSpc>
                          <a:spcPct val="100000"/>
                        </a:lnSpc>
                        <a:spcAft>
                          <a:spcPts val="0"/>
                        </a:spcAft>
                        <a:buFont typeface="+mj-lt"/>
                        <a:buAutoNum type="arabicPeriod"/>
                      </a:pPr>
                      <a:r>
                        <a:rPr lang="zh-CN" altLang="en-US" sz="1400" kern="1200" dirty="0" smtClean="0">
                          <a:solidFill>
                            <a:schemeClr val="tx1"/>
                          </a:solidFill>
                          <a:effectLst/>
                          <a:latin typeface="+mn-lt"/>
                          <a:ea typeface="+mn-ea"/>
                          <a:cs typeface="+mn-cs"/>
                        </a:rPr>
                        <a:t>选择外部网络资源类型。</a:t>
                      </a:r>
                    </a:p>
                    <a:p>
                      <a:pPr marL="0" indent="-228600" algn="l" defTabSz="914034" rtl="0" eaLnBrk="1" latinLnBrk="0" hangingPunct="1">
                        <a:lnSpc>
                          <a:spcPct val="100000"/>
                        </a:lnSpc>
                        <a:spcAft>
                          <a:spcPts val="0"/>
                        </a:spcAft>
                        <a:buFont typeface="+mj-lt"/>
                        <a:buAutoNum type="arabicPeriod"/>
                      </a:pPr>
                      <a:r>
                        <a:rPr lang="zh-CN" altLang="en-US" sz="1400" kern="1200" dirty="0" smtClean="0">
                          <a:solidFill>
                            <a:schemeClr val="tx1"/>
                          </a:solidFill>
                          <a:effectLst/>
                          <a:latin typeface="+mn-lt"/>
                          <a:ea typeface="+mn-ea"/>
                          <a:cs typeface="+mn-cs"/>
                        </a:rPr>
                        <a:t>配置互联的物理接口，以及互联的</a:t>
                      </a:r>
                      <a:r>
                        <a:rPr lang="en-US" altLang="zh-CN" sz="1400" kern="1200" dirty="0" smtClean="0">
                          <a:solidFill>
                            <a:schemeClr val="tx1"/>
                          </a:solidFill>
                          <a:effectLst/>
                          <a:latin typeface="+mn-lt"/>
                          <a:ea typeface="+mn-ea"/>
                          <a:cs typeface="+mn-cs"/>
                        </a:rPr>
                        <a:t>VLAN</a:t>
                      </a:r>
                      <a:r>
                        <a:rPr lang="zh-CN" altLang="en-US" sz="1400" kern="1200" dirty="0" smtClean="0">
                          <a:solidFill>
                            <a:schemeClr val="tx1"/>
                          </a:solidFill>
                          <a:effectLst/>
                          <a:latin typeface="+mn-lt"/>
                          <a:ea typeface="+mn-ea"/>
                          <a:cs typeface="+mn-cs"/>
                        </a:rPr>
                        <a:t>和</a:t>
                      </a:r>
                      <a:r>
                        <a:rPr lang="en-US" altLang="zh-CN" sz="1400" kern="1200" dirty="0" smtClean="0">
                          <a:solidFill>
                            <a:schemeClr val="tx1"/>
                          </a:solidFill>
                          <a:effectLst/>
                          <a:latin typeface="+mn-lt"/>
                          <a:ea typeface="+mn-ea"/>
                          <a:cs typeface="+mn-cs"/>
                        </a:rPr>
                        <a:t>IP</a:t>
                      </a:r>
                      <a:r>
                        <a:rPr lang="zh-CN" altLang="en-US" sz="1400" kern="1200" dirty="0" smtClean="0">
                          <a:solidFill>
                            <a:schemeClr val="tx1"/>
                          </a:solidFill>
                          <a:effectLst/>
                          <a:latin typeface="+mn-lt"/>
                          <a:ea typeface="+mn-ea"/>
                          <a:cs typeface="+mn-cs"/>
                        </a:rPr>
                        <a:t>地址。</a:t>
                      </a:r>
                    </a:p>
                    <a:p>
                      <a:pPr marL="0" indent="-228600" algn="l" defTabSz="914034" rtl="0" eaLnBrk="1" latinLnBrk="0" hangingPunct="1">
                        <a:lnSpc>
                          <a:spcPct val="100000"/>
                        </a:lnSpc>
                        <a:spcAft>
                          <a:spcPts val="0"/>
                        </a:spcAft>
                        <a:buFont typeface="+mj-lt"/>
                        <a:buAutoNum type="arabicPeriod"/>
                      </a:pPr>
                      <a:r>
                        <a:rPr lang="zh-CN" altLang="en-US" sz="1400" kern="1200" dirty="0" smtClean="0">
                          <a:solidFill>
                            <a:schemeClr val="tx1"/>
                          </a:solidFill>
                          <a:effectLst/>
                          <a:latin typeface="+mn-lt"/>
                          <a:ea typeface="+mn-ea"/>
                          <a:cs typeface="+mn-cs"/>
                        </a:rPr>
                        <a:t>配置互联的路由协议。</a:t>
                      </a:r>
                      <a:endParaRPr lang="zh-CN" altLang="en-US" sz="1400" kern="1200" dirty="0">
                        <a:solidFill>
                          <a:schemeClr val="tx1"/>
                        </a:solidFill>
                        <a:effectLst/>
                        <a:latin typeface="+mn-lt"/>
                        <a:ea typeface="+mn-ea"/>
                        <a:cs typeface="+mn-cs"/>
                      </a:endParaRPr>
                    </a:p>
                  </a:txBody>
                  <a:tcPr anchor="ctr">
                    <a:lnR w="28575" cap="flat" cmpd="sng" algn="ctr">
                      <a:solidFill>
                        <a:schemeClr val="tx1"/>
                      </a:solidFill>
                      <a:prstDash val="solid"/>
                      <a:round/>
                      <a:headEnd type="none" w="med" len="med"/>
                      <a:tailEnd type="none" w="med" len="med"/>
                    </a:lnR>
                    <a:lnB w="28575" cap="flat" cmpd="sng" algn="ctr">
                      <a:solidFill>
                        <a:schemeClr val="tx1"/>
                      </a:solidFill>
                      <a:prstDash val="solid"/>
                      <a:round/>
                      <a:headEnd type="none" w="med" len="med"/>
                      <a:tailEnd type="none" w="med" len="med"/>
                    </a:lnB>
                  </a:tcPr>
                </a:tc>
              </a:tr>
            </a:tbl>
          </a:graphicData>
        </a:graphic>
      </p:graphicFrame>
      <p:sp>
        <p:nvSpPr>
          <p:cNvPr id="11" name="五边形 10"/>
          <p:cNvSpPr/>
          <p:nvPr/>
        </p:nvSpPr>
        <p:spPr bwMode="gray">
          <a:xfrm>
            <a:off x="5773628" y="98481"/>
            <a:ext cx="9000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站点管理</a:t>
            </a:r>
          </a:p>
        </p:txBody>
      </p:sp>
      <p:sp>
        <p:nvSpPr>
          <p:cNvPr id="12" name="燕尾形 11"/>
          <p:cNvSpPr/>
          <p:nvPr/>
        </p:nvSpPr>
        <p:spPr bwMode="gray">
          <a:xfrm>
            <a:off x="9109268" y="9848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逻辑网络</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 name="燕尾形 12"/>
          <p:cNvSpPr/>
          <p:nvPr/>
        </p:nvSpPr>
        <p:spPr bwMode="gray">
          <a:xfrm>
            <a:off x="9925178" y="9848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业务部署</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 name="燕尾形 13"/>
          <p:cNvSpPr/>
          <p:nvPr/>
        </p:nvSpPr>
        <p:spPr bwMode="gray">
          <a:xfrm>
            <a:off x="8221358" y="98481"/>
            <a:ext cx="9720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Fabric</a:t>
            </a: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网络</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5" name="燕尾形 14"/>
          <p:cNvSpPr/>
          <p:nvPr/>
        </p:nvSpPr>
        <p:spPr bwMode="gray">
          <a:xfrm>
            <a:off x="7405448" y="9848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网络规划</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3" name="燕尾形 22"/>
          <p:cNvSpPr/>
          <p:nvPr/>
        </p:nvSpPr>
        <p:spPr bwMode="gray">
          <a:xfrm>
            <a:off x="6589538" y="9848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设备管理</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4" name="燕尾形 23"/>
          <p:cNvSpPr/>
          <p:nvPr/>
        </p:nvSpPr>
        <p:spPr bwMode="gray">
          <a:xfrm>
            <a:off x="10741088" y="98481"/>
            <a:ext cx="1008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WLAN</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业务</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342686524"/>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bwMode="gray"/>
        <p:txBody>
          <a:bodyPr>
            <a:normAutofit/>
          </a:bodyPr>
          <a:lstStyle/>
          <a:p>
            <a:r>
              <a:rPr lang="zh-CN" altLang="en-US" dirty="0"/>
              <a:t>实验</a:t>
            </a:r>
            <a:r>
              <a:rPr lang="zh-CN" altLang="en-US" dirty="0" smtClean="0"/>
              <a:t>：创建外部网络</a:t>
            </a:r>
            <a:r>
              <a:rPr lang="zh-CN" altLang="en-US" dirty="0"/>
              <a:t> </a:t>
            </a:r>
            <a:r>
              <a:rPr lang="en-US" altLang="zh-CN" dirty="0" smtClean="0"/>
              <a:t>(1)</a:t>
            </a:r>
            <a:endParaRPr lang="zh-CN" altLang="en-US" dirty="0"/>
          </a:p>
        </p:txBody>
      </p:sp>
      <p:sp>
        <p:nvSpPr>
          <p:cNvPr id="61" name="矩形 60"/>
          <p:cNvSpPr/>
          <p:nvPr/>
        </p:nvSpPr>
        <p:spPr bwMode="gray">
          <a:xfrm>
            <a:off x="4980164" y="1274399"/>
            <a:ext cx="6399956" cy="400110"/>
          </a:xfrm>
          <a:prstGeom prst="rect">
            <a:avLst/>
          </a:prstGeom>
        </p:spPr>
        <p:txBody>
          <a:bodyPr wrap="square">
            <a:spAutoFit/>
          </a:bodyPr>
          <a:lstStyle/>
          <a:p>
            <a:pPr algn="just">
              <a:lnSpc>
                <a:spcPts val="2400"/>
              </a:lnSpc>
              <a:spcAft>
                <a:spcPts val="600"/>
              </a:spcAft>
            </a:pPr>
            <a:r>
              <a:rPr lang="zh-CN" altLang="en-US" sz="1600" dirty="0" smtClean="0"/>
              <a:t>创建一个新的</a:t>
            </a:r>
            <a:r>
              <a:rPr lang="en-US" altLang="zh-CN" sz="1600" dirty="0" smtClean="0"/>
              <a:t>Fabric</a:t>
            </a:r>
            <a:r>
              <a:rPr lang="zh-CN" altLang="en-US" sz="1600" dirty="0" smtClean="0"/>
              <a:t>外部网络，选择出口连接方式：</a:t>
            </a:r>
            <a:endParaRPr lang="zh-CN" altLang="en-US" sz="1600" dirty="0"/>
          </a:p>
        </p:txBody>
      </p:sp>
      <p:sp>
        <p:nvSpPr>
          <p:cNvPr id="40" name="Freeform 159"/>
          <p:cNvSpPr/>
          <p:nvPr/>
        </p:nvSpPr>
        <p:spPr bwMode="gray">
          <a:xfrm flipH="1">
            <a:off x="806774" y="1330820"/>
            <a:ext cx="1240474" cy="648430"/>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12700">
            <a:solidFill>
              <a:srgbClr val="ED6D00"/>
            </a:solidFill>
          </a:ln>
        </p:spPr>
        <p:style>
          <a:lnRef idx="2">
            <a:schemeClr val="accent1">
              <a:shade val="50000"/>
            </a:schemeClr>
          </a:lnRef>
          <a:fillRef idx="1">
            <a:schemeClr val="accent1"/>
          </a:fillRef>
          <a:effectRef idx="0">
            <a:schemeClr val="accent1"/>
          </a:effectRef>
          <a:fontRef idx="minor">
            <a:schemeClr val="lt1"/>
          </a:fontRef>
        </p:style>
        <p:txBody>
          <a:bodyPr wrap="square" tIns="108000" rtlCol="0" anchor="ctr">
            <a:noAutofit/>
          </a:bodyPr>
          <a:lstStyle>
            <a:defPPr>
              <a:defRPr lang="en-US"/>
            </a:defPPr>
            <a:lvl1pPr marL="0" algn="l" defTabSz="914478" rtl="0" eaLnBrk="1" latinLnBrk="0" hangingPunct="1">
              <a:defRPr sz="1800" kern="1200">
                <a:solidFill>
                  <a:schemeClr val="lt1"/>
                </a:solidFill>
                <a:latin typeface="+mn-lt"/>
                <a:ea typeface="+mn-ea"/>
                <a:cs typeface="+mn-cs"/>
              </a:defRPr>
            </a:lvl1pPr>
            <a:lvl2pPr marL="457240" algn="l" defTabSz="914478" rtl="0" eaLnBrk="1" latinLnBrk="0" hangingPunct="1">
              <a:defRPr sz="1800" kern="1200">
                <a:solidFill>
                  <a:schemeClr val="lt1"/>
                </a:solidFill>
                <a:latin typeface="+mn-lt"/>
                <a:ea typeface="+mn-ea"/>
                <a:cs typeface="+mn-cs"/>
              </a:defRPr>
            </a:lvl2pPr>
            <a:lvl3pPr marL="914478" algn="l" defTabSz="914478" rtl="0" eaLnBrk="1" latinLnBrk="0" hangingPunct="1">
              <a:defRPr sz="1800" kern="1200">
                <a:solidFill>
                  <a:schemeClr val="lt1"/>
                </a:solidFill>
                <a:latin typeface="+mn-lt"/>
                <a:ea typeface="+mn-ea"/>
                <a:cs typeface="+mn-cs"/>
              </a:defRPr>
            </a:lvl3pPr>
            <a:lvl4pPr marL="1371718" algn="l" defTabSz="914478" rtl="0" eaLnBrk="1" latinLnBrk="0" hangingPunct="1">
              <a:defRPr sz="1800" kern="1200">
                <a:solidFill>
                  <a:schemeClr val="lt1"/>
                </a:solidFill>
                <a:latin typeface="+mn-lt"/>
                <a:ea typeface="+mn-ea"/>
                <a:cs typeface="+mn-cs"/>
              </a:defRPr>
            </a:lvl4pPr>
            <a:lvl5pPr marL="1828957" algn="l" defTabSz="914478" rtl="0" eaLnBrk="1" latinLnBrk="0" hangingPunct="1">
              <a:defRPr sz="1800" kern="1200">
                <a:solidFill>
                  <a:schemeClr val="lt1"/>
                </a:solidFill>
                <a:latin typeface="+mn-lt"/>
                <a:ea typeface="+mn-ea"/>
                <a:cs typeface="+mn-cs"/>
              </a:defRPr>
            </a:lvl5pPr>
            <a:lvl6pPr marL="2286196" algn="l" defTabSz="914478" rtl="0" eaLnBrk="1" latinLnBrk="0" hangingPunct="1">
              <a:defRPr sz="1800" kern="1200">
                <a:solidFill>
                  <a:schemeClr val="lt1"/>
                </a:solidFill>
                <a:latin typeface="+mn-lt"/>
                <a:ea typeface="+mn-ea"/>
                <a:cs typeface="+mn-cs"/>
              </a:defRPr>
            </a:lvl6pPr>
            <a:lvl7pPr marL="2743435" algn="l" defTabSz="914478" rtl="0" eaLnBrk="1" latinLnBrk="0" hangingPunct="1">
              <a:defRPr sz="1800" kern="1200">
                <a:solidFill>
                  <a:schemeClr val="lt1"/>
                </a:solidFill>
                <a:latin typeface="+mn-lt"/>
                <a:ea typeface="+mn-ea"/>
                <a:cs typeface="+mn-cs"/>
              </a:defRPr>
            </a:lvl7pPr>
            <a:lvl8pPr marL="3200675" algn="l" defTabSz="914478" rtl="0" eaLnBrk="1" latinLnBrk="0" hangingPunct="1">
              <a:defRPr sz="1800" kern="1200">
                <a:solidFill>
                  <a:schemeClr val="lt1"/>
                </a:solidFill>
                <a:latin typeface="+mn-lt"/>
                <a:ea typeface="+mn-ea"/>
                <a:cs typeface="+mn-cs"/>
              </a:defRPr>
            </a:lvl8pPr>
            <a:lvl9pPr marL="3657913" algn="l" defTabSz="914478" rtl="0" eaLnBrk="1" latinLnBrk="0" hangingPunct="1">
              <a:defRPr sz="1800" kern="1200">
                <a:solidFill>
                  <a:schemeClr val="lt1"/>
                </a:solidFill>
                <a:latin typeface="+mn-lt"/>
                <a:ea typeface="+mn-ea"/>
                <a:cs typeface="+mn-cs"/>
              </a:defRPr>
            </a:lvl9pPr>
          </a:lstStyle>
          <a:p>
            <a:pPr algn="ctr"/>
            <a:r>
              <a:rPr lang="zh-CN" altLang="en-US" sz="1400" dirty="0" smtClean="0">
                <a:solidFill>
                  <a:srgbClr val="ED6D00"/>
                </a:solidFill>
              </a:rPr>
              <a:t>外部网络</a:t>
            </a:r>
            <a:endParaRPr lang="en-US" sz="1400" dirty="0">
              <a:solidFill>
                <a:srgbClr val="ED6D00"/>
              </a:solidFill>
            </a:endParaRPr>
          </a:p>
        </p:txBody>
      </p:sp>
      <p:sp>
        <p:nvSpPr>
          <p:cNvPr id="41" name="Freeform 159"/>
          <p:cNvSpPr/>
          <p:nvPr/>
        </p:nvSpPr>
        <p:spPr bwMode="gray">
          <a:xfrm flipH="1">
            <a:off x="2932892" y="1330820"/>
            <a:ext cx="1240474" cy="648430"/>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tIns="108000" rtlCol="0" anchor="ctr">
            <a:noAutofit/>
          </a:bodyPr>
          <a:lstStyle>
            <a:defPPr>
              <a:defRPr lang="en-US"/>
            </a:defPPr>
            <a:lvl1pPr marL="0" algn="l" defTabSz="914478" rtl="0" eaLnBrk="1" latinLnBrk="0" hangingPunct="1">
              <a:defRPr sz="1800" kern="1200">
                <a:solidFill>
                  <a:schemeClr val="lt1"/>
                </a:solidFill>
                <a:latin typeface="+mn-lt"/>
                <a:ea typeface="+mn-ea"/>
                <a:cs typeface="+mn-cs"/>
              </a:defRPr>
            </a:lvl1pPr>
            <a:lvl2pPr marL="457240" algn="l" defTabSz="914478" rtl="0" eaLnBrk="1" latinLnBrk="0" hangingPunct="1">
              <a:defRPr sz="1800" kern="1200">
                <a:solidFill>
                  <a:schemeClr val="lt1"/>
                </a:solidFill>
                <a:latin typeface="+mn-lt"/>
                <a:ea typeface="+mn-ea"/>
                <a:cs typeface="+mn-cs"/>
              </a:defRPr>
            </a:lvl2pPr>
            <a:lvl3pPr marL="914478" algn="l" defTabSz="914478" rtl="0" eaLnBrk="1" latinLnBrk="0" hangingPunct="1">
              <a:defRPr sz="1800" kern="1200">
                <a:solidFill>
                  <a:schemeClr val="lt1"/>
                </a:solidFill>
                <a:latin typeface="+mn-lt"/>
                <a:ea typeface="+mn-ea"/>
                <a:cs typeface="+mn-cs"/>
              </a:defRPr>
            </a:lvl3pPr>
            <a:lvl4pPr marL="1371718" algn="l" defTabSz="914478" rtl="0" eaLnBrk="1" latinLnBrk="0" hangingPunct="1">
              <a:defRPr sz="1800" kern="1200">
                <a:solidFill>
                  <a:schemeClr val="lt1"/>
                </a:solidFill>
                <a:latin typeface="+mn-lt"/>
                <a:ea typeface="+mn-ea"/>
                <a:cs typeface="+mn-cs"/>
              </a:defRPr>
            </a:lvl4pPr>
            <a:lvl5pPr marL="1828957" algn="l" defTabSz="914478" rtl="0" eaLnBrk="1" latinLnBrk="0" hangingPunct="1">
              <a:defRPr sz="1800" kern="1200">
                <a:solidFill>
                  <a:schemeClr val="lt1"/>
                </a:solidFill>
                <a:latin typeface="+mn-lt"/>
                <a:ea typeface="+mn-ea"/>
                <a:cs typeface="+mn-cs"/>
              </a:defRPr>
            </a:lvl5pPr>
            <a:lvl6pPr marL="2286196" algn="l" defTabSz="914478" rtl="0" eaLnBrk="1" latinLnBrk="0" hangingPunct="1">
              <a:defRPr sz="1800" kern="1200">
                <a:solidFill>
                  <a:schemeClr val="lt1"/>
                </a:solidFill>
                <a:latin typeface="+mn-lt"/>
                <a:ea typeface="+mn-ea"/>
                <a:cs typeface="+mn-cs"/>
              </a:defRPr>
            </a:lvl6pPr>
            <a:lvl7pPr marL="2743435" algn="l" defTabSz="914478" rtl="0" eaLnBrk="1" latinLnBrk="0" hangingPunct="1">
              <a:defRPr sz="1800" kern="1200">
                <a:solidFill>
                  <a:schemeClr val="lt1"/>
                </a:solidFill>
                <a:latin typeface="+mn-lt"/>
                <a:ea typeface="+mn-ea"/>
                <a:cs typeface="+mn-cs"/>
              </a:defRPr>
            </a:lvl7pPr>
            <a:lvl8pPr marL="3200675" algn="l" defTabSz="914478" rtl="0" eaLnBrk="1" latinLnBrk="0" hangingPunct="1">
              <a:defRPr sz="1800" kern="1200">
                <a:solidFill>
                  <a:schemeClr val="lt1"/>
                </a:solidFill>
                <a:latin typeface="+mn-lt"/>
                <a:ea typeface="+mn-ea"/>
                <a:cs typeface="+mn-cs"/>
              </a:defRPr>
            </a:lvl8pPr>
            <a:lvl9pPr marL="3657913" algn="l" defTabSz="914478" rtl="0" eaLnBrk="1" latinLnBrk="0" hangingPunct="1">
              <a:defRPr sz="1800" kern="1200">
                <a:solidFill>
                  <a:schemeClr val="lt1"/>
                </a:solidFill>
                <a:latin typeface="+mn-lt"/>
                <a:ea typeface="+mn-ea"/>
                <a:cs typeface="+mn-cs"/>
              </a:defRPr>
            </a:lvl9pPr>
          </a:lstStyle>
          <a:p>
            <a:pPr algn="ctr"/>
            <a:r>
              <a:rPr lang="zh-CN" altLang="en-US" sz="1400" smtClean="0">
                <a:solidFill>
                  <a:schemeClr val="bg1">
                    <a:lumMod val="50000"/>
                  </a:schemeClr>
                </a:solidFill>
              </a:rPr>
              <a:t>网络服务</a:t>
            </a:r>
            <a:endParaRPr lang="en-US" altLang="zh-CN" sz="1400" smtClean="0">
              <a:solidFill>
                <a:schemeClr val="bg1">
                  <a:lumMod val="50000"/>
                </a:schemeClr>
              </a:solidFill>
            </a:endParaRPr>
          </a:p>
          <a:p>
            <a:pPr algn="ctr"/>
            <a:r>
              <a:rPr lang="zh-CN" altLang="en-US" sz="1400" smtClean="0">
                <a:solidFill>
                  <a:schemeClr val="bg1">
                    <a:lumMod val="50000"/>
                  </a:schemeClr>
                </a:solidFill>
              </a:rPr>
              <a:t>资源</a:t>
            </a:r>
            <a:endParaRPr lang="en-US" sz="1400">
              <a:solidFill>
                <a:schemeClr val="bg1">
                  <a:lumMod val="50000"/>
                </a:schemeClr>
              </a:solidFill>
            </a:endParaRPr>
          </a:p>
        </p:txBody>
      </p:sp>
      <p:sp>
        <p:nvSpPr>
          <p:cNvPr id="42" name="圆角矩形 41"/>
          <p:cNvSpPr/>
          <p:nvPr/>
        </p:nvSpPr>
        <p:spPr bwMode="gray">
          <a:xfrm>
            <a:off x="700822" y="2240462"/>
            <a:ext cx="3948649" cy="2628871"/>
          </a:xfrm>
          <a:prstGeom prst="roundRect">
            <a:avLst>
              <a:gd name="adj" fmla="val 3166"/>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78" rtl="0" eaLnBrk="1" latinLnBrk="0" hangingPunct="1">
              <a:defRPr sz="1800" kern="1200">
                <a:solidFill>
                  <a:schemeClr val="lt1"/>
                </a:solidFill>
                <a:latin typeface="+mn-lt"/>
                <a:ea typeface="+mn-ea"/>
                <a:cs typeface="+mn-cs"/>
              </a:defRPr>
            </a:lvl1pPr>
            <a:lvl2pPr marL="457240" algn="l" defTabSz="914478" rtl="0" eaLnBrk="1" latinLnBrk="0" hangingPunct="1">
              <a:defRPr sz="1800" kern="1200">
                <a:solidFill>
                  <a:schemeClr val="lt1"/>
                </a:solidFill>
                <a:latin typeface="+mn-lt"/>
                <a:ea typeface="+mn-ea"/>
                <a:cs typeface="+mn-cs"/>
              </a:defRPr>
            </a:lvl2pPr>
            <a:lvl3pPr marL="914478" algn="l" defTabSz="914478" rtl="0" eaLnBrk="1" latinLnBrk="0" hangingPunct="1">
              <a:defRPr sz="1800" kern="1200">
                <a:solidFill>
                  <a:schemeClr val="lt1"/>
                </a:solidFill>
                <a:latin typeface="+mn-lt"/>
                <a:ea typeface="+mn-ea"/>
                <a:cs typeface="+mn-cs"/>
              </a:defRPr>
            </a:lvl3pPr>
            <a:lvl4pPr marL="1371718" algn="l" defTabSz="914478" rtl="0" eaLnBrk="1" latinLnBrk="0" hangingPunct="1">
              <a:defRPr sz="1800" kern="1200">
                <a:solidFill>
                  <a:schemeClr val="lt1"/>
                </a:solidFill>
                <a:latin typeface="+mn-lt"/>
                <a:ea typeface="+mn-ea"/>
                <a:cs typeface="+mn-cs"/>
              </a:defRPr>
            </a:lvl4pPr>
            <a:lvl5pPr marL="1828957" algn="l" defTabSz="914478" rtl="0" eaLnBrk="1" latinLnBrk="0" hangingPunct="1">
              <a:defRPr sz="1800" kern="1200">
                <a:solidFill>
                  <a:schemeClr val="lt1"/>
                </a:solidFill>
                <a:latin typeface="+mn-lt"/>
                <a:ea typeface="+mn-ea"/>
                <a:cs typeface="+mn-cs"/>
              </a:defRPr>
            </a:lvl5pPr>
            <a:lvl6pPr marL="2286196" algn="l" defTabSz="914478" rtl="0" eaLnBrk="1" latinLnBrk="0" hangingPunct="1">
              <a:defRPr sz="1800" kern="1200">
                <a:solidFill>
                  <a:schemeClr val="lt1"/>
                </a:solidFill>
                <a:latin typeface="+mn-lt"/>
                <a:ea typeface="+mn-ea"/>
                <a:cs typeface="+mn-cs"/>
              </a:defRPr>
            </a:lvl6pPr>
            <a:lvl7pPr marL="2743435" algn="l" defTabSz="914478" rtl="0" eaLnBrk="1" latinLnBrk="0" hangingPunct="1">
              <a:defRPr sz="1800" kern="1200">
                <a:solidFill>
                  <a:schemeClr val="lt1"/>
                </a:solidFill>
                <a:latin typeface="+mn-lt"/>
                <a:ea typeface="+mn-ea"/>
                <a:cs typeface="+mn-cs"/>
              </a:defRPr>
            </a:lvl7pPr>
            <a:lvl8pPr marL="3200675" algn="l" defTabSz="914478" rtl="0" eaLnBrk="1" latinLnBrk="0" hangingPunct="1">
              <a:defRPr sz="1800" kern="1200">
                <a:solidFill>
                  <a:schemeClr val="lt1"/>
                </a:solidFill>
                <a:latin typeface="+mn-lt"/>
                <a:ea typeface="+mn-ea"/>
                <a:cs typeface="+mn-cs"/>
              </a:defRPr>
            </a:lvl8pPr>
            <a:lvl9pPr marL="3657913" algn="l" defTabSz="914478" rtl="0" eaLnBrk="1" latinLnBrk="0" hangingPunct="1">
              <a:defRPr sz="1800" kern="1200">
                <a:solidFill>
                  <a:schemeClr val="lt1"/>
                </a:solidFill>
                <a:latin typeface="+mn-lt"/>
                <a:ea typeface="+mn-ea"/>
                <a:cs typeface="+mn-cs"/>
              </a:defRPr>
            </a:lvl9pPr>
          </a:lstStyle>
          <a:p>
            <a:pPr algn="ctr"/>
            <a:endParaRPr lang="zh-CN" altLang="en-US">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44" name="Freeform 159"/>
          <p:cNvSpPr/>
          <p:nvPr/>
        </p:nvSpPr>
        <p:spPr bwMode="gray">
          <a:xfrm flipH="1">
            <a:off x="1290464" y="2593278"/>
            <a:ext cx="2445152" cy="1399742"/>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rgbClr val="E3F6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78" rtl="0" eaLnBrk="1" latinLnBrk="0" hangingPunct="1">
              <a:defRPr sz="1800" kern="1200">
                <a:solidFill>
                  <a:schemeClr val="lt1"/>
                </a:solidFill>
                <a:latin typeface="+mn-lt"/>
                <a:ea typeface="+mn-ea"/>
                <a:cs typeface="+mn-cs"/>
              </a:defRPr>
            </a:lvl1pPr>
            <a:lvl2pPr marL="457240" algn="l" defTabSz="914478" rtl="0" eaLnBrk="1" latinLnBrk="0" hangingPunct="1">
              <a:defRPr sz="1800" kern="1200">
                <a:solidFill>
                  <a:schemeClr val="lt1"/>
                </a:solidFill>
                <a:latin typeface="+mn-lt"/>
                <a:ea typeface="+mn-ea"/>
                <a:cs typeface="+mn-cs"/>
              </a:defRPr>
            </a:lvl2pPr>
            <a:lvl3pPr marL="914478" algn="l" defTabSz="914478" rtl="0" eaLnBrk="1" latinLnBrk="0" hangingPunct="1">
              <a:defRPr sz="1800" kern="1200">
                <a:solidFill>
                  <a:schemeClr val="lt1"/>
                </a:solidFill>
                <a:latin typeface="+mn-lt"/>
                <a:ea typeface="+mn-ea"/>
                <a:cs typeface="+mn-cs"/>
              </a:defRPr>
            </a:lvl3pPr>
            <a:lvl4pPr marL="1371718" algn="l" defTabSz="914478" rtl="0" eaLnBrk="1" latinLnBrk="0" hangingPunct="1">
              <a:defRPr sz="1800" kern="1200">
                <a:solidFill>
                  <a:schemeClr val="lt1"/>
                </a:solidFill>
                <a:latin typeface="+mn-lt"/>
                <a:ea typeface="+mn-ea"/>
                <a:cs typeface="+mn-cs"/>
              </a:defRPr>
            </a:lvl4pPr>
            <a:lvl5pPr marL="1828957" algn="l" defTabSz="914478" rtl="0" eaLnBrk="1" latinLnBrk="0" hangingPunct="1">
              <a:defRPr sz="1800" kern="1200">
                <a:solidFill>
                  <a:schemeClr val="lt1"/>
                </a:solidFill>
                <a:latin typeface="+mn-lt"/>
                <a:ea typeface="+mn-ea"/>
                <a:cs typeface="+mn-cs"/>
              </a:defRPr>
            </a:lvl5pPr>
            <a:lvl6pPr marL="2286196" algn="l" defTabSz="914478" rtl="0" eaLnBrk="1" latinLnBrk="0" hangingPunct="1">
              <a:defRPr sz="1800" kern="1200">
                <a:solidFill>
                  <a:schemeClr val="lt1"/>
                </a:solidFill>
                <a:latin typeface="+mn-lt"/>
                <a:ea typeface="+mn-ea"/>
                <a:cs typeface="+mn-cs"/>
              </a:defRPr>
            </a:lvl6pPr>
            <a:lvl7pPr marL="2743435" algn="l" defTabSz="914478" rtl="0" eaLnBrk="1" latinLnBrk="0" hangingPunct="1">
              <a:defRPr sz="1800" kern="1200">
                <a:solidFill>
                  <a:schemeClr val="lt1"/>
                </a:solidFill>
                <a:latin typeface="+mn-lt"/>
                <a:ea typeface="+mn-ea"/>
                <a:cs typeface="+mn-cs"/>
              </a:defRPr>
            </a:lvl7pPr>
            <a:lvl8pPr marL="3200675" algn="l" defTabSz="914478" rtl="0" eaLnBrk="1" latinLnBrk="0" hangingPunct="1">
              <a:defRPr sz="1800" kern="1200">
                <a:solidFill>
                  <a:schemeClr val="lt1"/>
                </a:solidFill>
                <a:latin typeface="+mn-lt"/>
                <a:ea typeface="+mn-ea"/>
                <a:cs typeface="+mn-cs"/>
              </a:defRPr>
            </a:lvl8pPr>
            <a:lvl9pPr marL="3657913" algn="l" defTabSz="914478" rtl="0" eaLnBrk="1" latinLnBrk="0" hangingPunct="1">
              <a:defRPr sz="1800" kern="1200">
                <a:solidFill>
                  <a:schemeClr val="lt1"/>
                </a:solidFill>
                <a:latin typeface="+mn-lt"/>
                <a:ea typeface="+mn-ea"/>
                <a:cs typeface="+mn-cs"/>
              </a:defRPr>
            </a:lvl9pPr>
          </a:lstStyle>
          <a:p>
            <a:pPr algn="ctr"/>
            <a:endParaRPr lang="en-US">
              <a:latin typeface="Huawei Sans" panose="020C0503030203020204" pitchFamily="34" charset="0"/>
              <a:ea typeface="方正兰亭黑简体" panose="02000000000000000000" pitchFamily="2" charset="-122"/>
            </a:endParaRPr>
          </a:p>
        </p:txBody>
      </p:sp>
      <p:cxnSp>
        <p:nvCxnSpPr>
          <p:cNvPr id="46" name="Straight Connector 166"/>
          <p:cNvCxnSpPr>
            <a:stCxn id="62" idx="2"/>
            <a:endCxn id="70" idx="0"/>
          </p:cNvCxnSpPr>
          <p:nvPr/>
        </p:nvCxnSpPr>
        <p:spPr bwMode="gray">
          <a:xfrm>
            <a:off x="1553611" y="3878115"/>
            <a:ext cx="0" cy="40327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 name="Straight Connector 166"/>
          <p:cNvCxnSpPr>
            <a:stCxn id="63" idx="2"/>
            <a:endCxn id="71" idx="0"/>
          </p:cNvCxnSpPr>
          <p:nvPr/>
        </p:nvCxnSpPr>
        <p:spPr bwMode="gray">
          <a:xfrm>
            <a:off x="3484412" y="3878115"/>
            <a:ext cx="0" cy="40327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 name="Straight Connector 167"/>
          <p:cNvCxnSpPr/>
          <p:nvPr/>
        </p:nvCxnSpPr>
        <p:spPr bwMode="gray">
          <a:xfrm flipH="1">
            <a:off x="1554321" y="2818883"/>
            <a:ext cx="971589" cy="876201"/>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55" name="Straight Connector 167"/>
          <p:cNvCxnSpPr/>
          <p:nvPr/>
        </p:nvCxnSpPr>
        <p:spPr bwMode="gray">
          <a:xfrm flipH="1" flipV="1">
            <a:off x="2522531" y="2816406"/>
            <a:ext cx="975076" cy="883934"/>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sp>
        <p:nvSpPr>
          <p:cNvPr id="58" name="文本框 89"/>
          <p:cNvSpPr txBox="1"/>
          <p:nvPr/>
        </p:nvSpPr>
        <p:spPr bwMode="gray">
          <a:xfrm>
            <a:off x="1658897" y="2685974"/>
            <a:ext cx="676788" cy="276999"/>
          </a:xfrm>
          <a:prstGeom prst="rect">
            <a:avLst/>
          </a:prstGeom>
          <a:noFill/>
        </p:spPr>
        <p:txBody>
          <a:bodyPr wrap="none" rtlCol="0">
            <a:spAutoFit/>
          </a:bodyPr>
          <a:ls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a:lstStyle>
          <a:p>
            <a:pPr algn="ctr"/>
            <a:r>
              <a:rPr lang="en-US" altLang="zh-CN" sz="1200" b="1" dirty="0" smtClean="0">
                <a:latin typeface="Huawei Sans" panose="020C0503030203020204" pitchFamily="34" charset="0"/>
                <a:ea typeface="方正兰亭黑简体" panose="02000000000000000000" pitchFamily="2" charset="-122"/>
                <a:cs typeface="Huawei Sans" panose="020C0503030203020204" pitchFamily="34" charset="0"/>
              </a:rPr>
              <a:t>Border</a:t>
            </a:r>
            <a:endParaRPr lang="zh-CN" altLang="en-US" sz="1200" b="1"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59" name="文本框 90"/>
          <p:cNvSpPr txBox="1"/>
          <p:nvPr/>
        </p:nvSpPr>
        <p:spPr bwMode="gray">
          <a:xfrm>
            <a:off x="699883" y="3545342"/>
            <a:ext cx="702436" cy="276999"/>
          </a:xfrm>
          <a:prstGeom prst="rect">
            <a:avLst/>
          </a:prstGeom>
          <a:noFill/>
        </p:spPr>
        <p:txBody>
          <a:bodyPr wrap="none" rtlCol="0">
            <a:spAutoFit/>
          </a:bodyPr>
          <a:ls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a:lstStyle>
          <a:p>
            <a:pPr algn="r"/>
            <a:r>
              <a:rPr lang="en-US" altLang="zh-CN" sz="1200" b="1" dirty="0" smtClean="0">
                <a:latin typeface="Huawei Sans" panose="020C0503030203020204" pitchFamily="34" charset="0"/>
                <a:ea typeface="方正兰亭黑简体" panose="02000000000000000000" pitchFamily="2" charset="-122"/>
                <a:cs typeface="Huawei Sans" panose="020C0503030203020204" pitchFamily="34" charset="0"/>
              </a:rPr>
              <a:t>Edge_1</a:t>
            </a:r>
            <a:endParaRPr lang="zh-CN" altLang="en-US" sz="1200" b="1"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60" name="文本框 91"/>
          <p:cNvSpPr txBox="1"/>
          <p:nvPr/>
        </p:nvSpPr>
        <p:spPr bwMode="gray">
          <a:xfrm>
            <a:off x="770416" y="4325462"/>
            <a:ext cx="631903" cy="276999"/>
          </a:xfrm>
          <a:prstGeom prst="rect">
            <a:avLst/>
          </a:prstGeom>
          <a:noFill/>
        </p:spPr>
        <p:txBody>
          <a:bodyPr wrap="none" rtlCol="0">
            <a:spAutoFit/>
          </a:bodyPr>
          <a:ls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a:lstStyle>
          <a:p>
            <a:pPr algn="r"/>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ACC_1</a:t>
            </a:r>
          </a:p>
        </p:txBody>
      </p:sp>
      <p:pic>
        <p:nvPicPr>
          <p:cNvPr id="62" name="图片 61" descr="汇聚交换机.png"/>
          <p:cNvPicPr>
            <a:picLocks noChangeAspect="1"/>
          </p:cNvPicPr>
          <p:nvPr/>
        </p:nvPicPr>
        <p:blipFill>
          <a:blip r:embed="rId3" cstate="print"/>
          <a:stretch>
            <a:fillRect/>
          </a:stretch>
        </p:blipFill>
        <p:spPr bwMode="gray">
          <a:xfrm>
            <a:off x="1330470" y="3512976"/>
            <a:ext cx="446281" cy="365139"/>
          </a:xfrm>
          <a:prstGeom prst="rect">
            <a:avLst/>
          </a:prstGeom>
        </p:spPr>
      </p:pic>
      <p:pic>
        <p:nvPicPr>
          <p:cNvPr id="63" name="图片 62" descr="汇聚交换机.png"/>
          <p:cNvPicPr>
            <a:picLocks noChangeAspect="1"/>
          </p:cNvPicPr>
          <p:nvPr/>
        </p:nvPicPr>
        <p:blipFill>
          <a:blip r:embed="rId3" cstate="print"/>
          <a:stretch>
            <a:fillRect/>
          </a:stretch>
        </p:blipFill>
        <p:spPr bwMode="gray">
          <a:xfrm>
            <a:off x="3261271" y="3512976"/>
            <a:ext cx="446281" cy="365139"/>
          </a:xfrm>
          <a:prstGeom prst="rect">
            <a:avLst/>
          </a:prstGeom>
        </p:spPr>
      </p:pic>
      <p:sp>
        <p:nvSpPr>
          <p:cNvPr id="64" name="文本框 94"/>
          <p:cNvSpPr txBox="1"/>
          <p:nvPr/>
        </p:nvSpPr>
        <p:spPr bwMode="gray">
          <a:xfrm>
            <a:off x="2691418" y="4325462"/>
            <a:ext cx="631904" cy="276999"/>
          </a:xfrm>
          <a:prstGeom prst="rect">
            <a:avLst/>
          </a:prstGeom>
          <a:noFill/>
        </p:spPr>
        <p:txBody>
          <a:bodyPr wrap="none" rtlCol="0">
            <a:spAutoFit/>
          </a:bodyPr>
          <a:ls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a:lstStyle>
          <a:p>
            <a:pPr algn="r"/>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ACC_2</a:t>
            </a:r>
          </a:p>
        </p:txBody>
      </p:sp>
      <p:sp>
        <p:nvSpPr>
          <p:cNvPr id="65" name="文本框 101"/>
          <p:cNvSpPr txBox="1"/>
          <p:nvPr/>
        </p:nvSpPr>
        <p:spPr bwMode="gray">
          <a:xfrm>
            <a:off x="2170663" y="3525472"/>
            <a:ext cx="676788" cy="307777"/>
          </a:xfrm>
          <a:prstGeom prst="rect">
            <a:avLst/>
          </a:prstGeom>
          <a:noFill/>
        </p:spPr>
        <p:txBody>
          <a:bodyPr wrap="none" rtlCol="0">
            <a:spAutoFit/>
          </a:bodyPr>
          <a:ls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a:lstStyle>
          <a:p>
            <a:pPr algn="ctr"/>
            <a:r>
              <a:rPr lang="en-US" altLang="zh-CN" sz="1400" dirty="0" smtClean="0">
                <a:solidFill>
                  <a:srgbClr val="30B5C5"/>
                </a:solidFill>
                <a:latin typeface="Huawei Sans" panose="020C0503030203020204" pitchFamily="34" charset="0"/>
                <a:ea typeface="方正兰亭细黑简体" panose="02000000000000000000" pitchFamily="2" charset="-122"/>
                <a:sym typeface="Huawei Sans" panose="020C0503030203020204" pitchFamily="34" charset="0"/>
              </a:rPr>
              <a:t>Fabric</a:t>
            </a:r>
          </a:p>
        </p:txBody>
      </p:sp>
      <p:cxnSp>
        <p:nvCxnSpPr>
          <p:cNvPr id="66" name="直接连接符 65"/>
          <p:cNvCxnSpPr/>
          <p:nvPr/>
        </p:nvCxnSpPr>
        <p:spPr bwMode="gray">
          <a:xfrm>
            <a:off x="1809570" y="2026520"/>
            <a:ext cx="495259" cy="621078"/>
          </a:xfrm>
          <a:prstGeom prst="line">
            <a:avLst/>
          </a:prstGeom>
          <a:ln>
            <a:solidFill>
              <a:srgbClr val="ED6D0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67" name="直接连接符 66"/>
          <p:cNvCxnSpPr/>
          <p:nvPr/>
        </p:nvCxnSpPr>
        <p:spPr bwMode="gray">
          <a:xfrm flipH="1">
            <a:off x="2777166" y="2036133"/>
            <a:ext cx="464971" cy="611465"/>
          </a:xfrm>
          <a:prstGeom prst="line">
            <a:avLst/>
          </a:prstGeom>
          <a:ln>
            <a:solidFill>
              <a:schemeClr val="bg1">
                <a:lumMod val="6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68" name="文本框 106"/>
          <p:cNvSpPr txBox="1"/>
          <p:nvPr/>
        </p:nvSpPr>
        <p:spPr bwMode="gray">
          <a:xfrm>
            <a:off x="3660886" y="3545342"/>
            <a:ext cx="702436" cy="276999"/>
          </a:xfrm>
          <a:prstGeom prst="rect">
            <a:avLst/>
          </a:prstGeom>
          <a:noFill/>
        </p:spPr>
        <p:txBody>
          <a:bodyPr wrap="none" rtlCol="0">
            <a:spAutoFit/>
          </a:bodyPr>
          <a:ls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a:lstStyle>
          <a:p>
            <a:r>
              <a:rPr lang="en-US" altLang="zh-CN" sz="1200" b="1" dirty="0" smtClean="0">
                <a:latin typeface="Huawei Sans" panose="020C0503030203020204" pitchFamily="34" charset="0"/>
                <a:ea typeface="方正兰亭黑简体" panose="02000000000000000000" pitchFamily="2" charset="-122"/>
                <a:cs typeface="Huawei Sans" panose="020C0503030203020204" pitchFamily="34" charset="0"/>
              </a:rPr>
              <a:t>Edge_2</a:t>
            </a:r>
            <a:endParaRPr lang="zh-CN" altLang="en-US" sz="1200" b="1"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69" name="文本框 107"/>
          <p:cNvSpPr txBox="1"/>
          <p:nvPr/>
        </p:nvSpPr>
        <p:spPr bwMode="gray">
          <a:xfrm>
            <a:off x="733297" y="2390631"/>
            <a:ext cx="468398" cy="307777"/>
          </a:xfrm>
          <a:prstGeom prst="rect">
            <a:avLst/>
          </a:prstGeom>
          <a:noFill/>
        </p:spPr>
        <p:txBody>
          <a:bodyPr wrap="none" rtlCol="0">
            <a:spAutoFit/>
          </a:bodyPr>
          <a:ls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a:lstStyle>
          <a:p>
            <a:r>
              <a:rPr lang="en-US" altLang="zh-CN" sz="1400" b="1" dirty="0" smtClean="0">
                <a:latin typeface="Huawei Sans" panose="020C0503030203020204" pitchFamily="34" charset="0"/>
                <a:ea typeface="方正兰亭黑简体" panose="02000000000000000000" pitchFamily="2" charset="-122"/>
                <a:cs typeface="Huawei Sans" panose="020C0503030203020204" pitchFamily="34" charset="0"/>
              </a:rPr>
              <a:t>HQ</a:t>
            </a:r>
            <a:endParaRPr lang="zh-CN" altLang="en-US" sz="1400" b="1" dirty="0">
              <a:latin typeface="Huawei Sans" panose="020C0503030203020204" pitchFamily="34" charset="0"/>
              <a:ea typeface="方正兰亭黑简体" panose="02000000000000000000" pitchFamily="2" charset="-122"/>
              <a:cs typeface="Huawei Sans" panose="020C0503030203020204" pitchFamily="34" charset="0"/>
            </a:endParaRPr>
          </a:p>
        </p:txBody>
      </p:sp>
      <p:pic>
        <p:nvPicPr>
          <p:cNvPr id="70" name="图片 69" descr="接入交换机.png"/>
          <p:cNvPicPr>
            <a:picLocks noChangeAspect="1"/>
          </p:cNvPicPr>
          <p:nvPr/>
        </p:nvPicPr>
        <p:blipFill>
          <a:blip r:embed="rId4" cstate="print"/>
          <a:stretch>
            <a:fillRect/>
          </a:stretch>
        </p:blipFill>
        <p:spPr bwMode="gray">
          <a:xfrm>
            <a:off x="1330470" y="4281392"/>
            <a:ext cx="446281" cy="365139"/>
          </a:xfrm>
          <a:prstGeom prst="rect">
            <a:avLst/>
          </a:prstGeom>
        </p:spPr>
      </p:pic>
      <p:pic>
        <p:nvPicPr>
          <p:cNvPr id="71" name="图片 70" descr="接入交换机.png"/>
          <p:cNvPicPr>
            <a:picLocks noChangeAspect="1"/>
          </p:cNvPicPr>
          <p:nvPr/>
        </p:nvPicPr>
        <p:blipFill>
          <a:blip r:embed="rId4" cstate="print"/>
          <a:stretch>
            <a:fillRect/>
          </a:stretch>
        </p:blipFill>
        <p:spPr bwMode="gray">
          <a:xfrm>
            <a:off x="3261271" y="4281392"/>
            <a:ext cx="446281" cy="365139"/>
          </a:xfrm>
          <a:prstGeom prst="rect">
            <a:avLst/>
          </a:prstGeom>
        </p:spPr>
      </p:pic>
      <p:pic>
        <p:nvPicPr>
          <p:cNvPr id="72" name="图片 71" descr="核心交换机.png"/>
          <p:cNvPicPr>
            <a:picLocks noChangeAspect="1"/>
          </p:cNvPicPr>
          <p:nvPr/>
        </p:nvPicPr>
        <p:blipFill>
          <a:blip r:embed="rId5" cstate="print"/>
          <a:stretch>
            <a:fillRect/>
          </a:stretch>
        </p:blipFill>
        <p:spPr bwMode="gray">
          <a:xfrm>
            <a:off x="2310163" y="2636314"/>
            <a:ext cx="446281" cy="365139"/>
          </a:xfrm>
          <a:prstGeom prst="rect">
            <a:avLst/>
          </a:prstGeom>
        </p:spPr>
      </p:pic>
      <p:pic>
        <p:nvPicPr>
          <p:cNvPr id="73" name="图片 72"/>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bwMode="gray">
          <a:xfrm>
            <a:off x="3685721" y="2401713"/>
            <a:ext cx="865097" cy="491769"/>
          </a:xfrm>
          <a:prstGeom prst="rect">
            <a:avLst/>
          </a:prstGeom>
        </p:spPr>
      </p:pic>
      <p:pic>
        <p:nvPicPr>
          <p:cNvPr id="74" name="图片 73" descr="AP.png"/>
          <p:cNvPicPr>
            <a:picLocks noChangeAspect="1"/>
          </p:cNvPicPr>
          <p:nvPr/>
        </p:nvPicPr>
        <p:blipFill>
          <a:blip r:embed="rId7" cstate="print"/>
          <a:stretch>
            <a:fillRect/>
          </a:stretch>
        </p:blipFill>
        <p:spPr bwMode="gray">
          <a:xfrm>
            <a:off x="3941003" y="4313077"/>
            <a:ext cx="368827" cy="301768"/>
          </a:xfrm>
          <a:prstGeom prst="rect">
            <a:avLst/>
          </a:prstGeom>
        </p:spPr>
      </p:pic>
      <p:cxnSp>
        <p:nvCxnSpPr>
          <p:cNvPr id="75" name="Straight Connector 166"/>
          <p:cNvCxnSpPr>
            <a:stCxn id="71" idx="3"/>
            <a:endCxn id="74" idx="1"/>
          </p:cNvCxnSpPr>
          <p:nvPr/>
        </p:nvCxnSpPr>
        <p:spPr bwMode="gray">
          <a:xfrm flipV="1">
            <a:off x="3707552" y="4463961"/>
            <a:ext cx="233451" cy="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76" name="文本框 75"/>
          <p:cNvSpPr txBox="1"/>
          <p:nvPr/>
        </p:nvSpPr>
        <p:spPr bwMode="gray">
          <a:xfrm>
            <a:off x="4267173" y="4315959"/>
            <a:ext cx="460382" cy="276999"/>
          </a:xfrm>
          <a:prstGeom prst="rect">
            <a:avLst/>
          </a:prstGeom>
          <a:noFill/>
        </p:spPr>
        <p:txBody>
          <a:bodyPr wrap="none" rtlCol="0">
            <a:spAutoFit/>
          </a:bodyPr>
          <a:lstStyle/>
          <a:p>
            <a:pPr algn="r"/>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AP1</a:t>
            </a:r>
            <a:endParaRPr lang="zh-CN" altLang="en-US" sz="1200" b="1" dirty="0">
              <a:latin typeface="Huawei Sans" panose="020C0503030203020204" pitchFamily="34" charset="0"/>
              <a:ea typeface="方正兰亭黑简体" panose="02000000000000000000" pitchFamily="2" charset="-122"/>
              <a:cs typeface="Huawei Sans" panose="020C0503030203020204" pitchFamily="34" charset="0"/>
            </a:endParaRPr>
          </a:p>
        </p:txBody>
      </p:sp>
      <p:pic>
        <p:nvPicPr>
          <p:cNvPr id="43" name="图片 42"/>
          <p:cNvPicPr>
            <a:picLocks noChangeAspect="1"/>
          </p:cNvPicPr>
          <p:nvPr/>
        </p:nvPicPr>
        <p:blipFill>
          <a:blip r:embed="rId8"/>
          <a:stretch>
            <a:fillRect/>
          </a:stretch>
        </p:blipFill>
        <p:spPr bwMode="gray">
          <a:xfrm>
            <a:off x="5093055" y="1684527"/>
            <a:ext cx="6480000" cy="3913805"/>
          </a:xfrm>
          <a:prstGeom prst="rect">
            <a:avLst/>
          </a:prstGeom>
          <a:ln w="12700">
            <a:solidFill>
              <a:schemeClr val="bg1">
                <a:lumMod val="85000"/>
              </a:schemeClr>
            </a:solidFill>
          </a:ln>
        </p:spPr>
      </p:pic>
      <p:sp>
        <p:nvSpPr>
          <p:cNvPr id="37" name="五边形 36"/>
          <p:cNvSpPr/>
          <p:nvPr/>
        </p:nvSpPr>
        <p:spPr bwMode="gray">
          <a:xfrm>
            <a:off x="5773628" y="98481"/>
            <a:ext cx="9000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站点管理</a:t>
            </a:r>
          </a:p>
        </p:txBody>
      </p:sp>
      <p:sp>
        <p:nvSpPr>
          <p:cNvPr id="45" name="燕尾形 44"/>
          <p:cNvSpPr/>
          <p:nvPr/>
        </p:nvSpPr>
        <p:spPr bwMode="gray">
          <a:xfrm>
            <a:off x="9109268" y="9848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逻辑网络</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7" name="燕尾形 46"/>
          <p:cNvSpPr/>
          <p:nvPr/>
        </p:nvSpPr>
        <p:spPr bwMode="gray">
          <a:xfrm>
            <a:off x="9925178" y="9848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业务部署</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8" name="燕尾形 47"/>
          <p:cNvSpPr/>
          <p:nvPr/>
        </p:nvSpPr>
        <p:spPr bwMode="gray">
          <a:xfrm>
            <a:off x="8221358" y="98481"/>
            <a:ext cx="9720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Fabric</a:t>
            </a: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网络</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9" name="燕尾形 48"/>
          <p:cNvSpPr/>
          <p:nvPr/>
        </p:nvSpPr>
        <p:spPr bwMode="gray">
          <a:xfrm>
            <a:off x="7405448" y="9848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网络规划</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0" name="燕尾形 49"/>
          <p:cNvSpPr/>
          <p:nvPr/>
        </p:nvSpPr>
        <p:spPr bwMode="gray">
          <a:xfrm>
            <a:off x="6589538" y="9848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设备管理</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1" name="燕尾形 50"/>
          <p:cNvSpPr/>
          <p:nvPr/>
        </p:nvSpPr>
        <p:spPr bwMode="gray">
          <a:xfrm>
            <a:off x="10741088" y="98481"/>
            <a:ext cx="1008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WLAN</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业务</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3994432380"/>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bwMode="gray"/>
        <p:txBody>
          <a:bodyPr>
            <a:normAutofit/>
          </a:bodyPr>
          <a:lstStyle/>
          <a:p>
            <a:r>
              <a:rPr lang="zh-CN" altLang="en-US" dirty="0"/>
              <a:t>实验</a:t>
            </a:r>
            <a:r>
              <a:rPr lang="zh-CN" altLang="en-US" dirty="0" smtClean="0"/>
              <a:t>：创建外部网络</a:t>
            </a:r>
            <a:r>
              <a:rPr lang="zh-CN" altLang="en-US" dirty="0"/>
              <a:t> </a:t>
            </a:r>
            <a:r>
              <a:rPr lang="en-US" altLang="zh-CN" dirty="0" smtClean="0"/>
              <a:t>(2)</a:t>
            </a:r>
            <a:endParaRPr lang="zh-CN" altLang="en-US" dirty="0"/>
          </a:p>
        </p:txBody>
      </p:sp>
      <p:sp>
        <p:nvSpPr>
          <p:cNvPr id="61" name="矩形 60"/>
          <p:cNvSpPr/>
          <p:nvPr/>
        </p:nvSpPr>
        <p:spPr bwMode="gray">
          <a:xfrm>
            <a:off x="4980164" y="1166822"/>
            <a:ext cx="6399956" cy="1015663"/>
          </a:xfrm>
          <a:prstGeom prst="rect">
            <a:avLst/>
          </a:prstGeom>
        </p:spPr>
        <p:txBody>
          <a:bodyPr wrap="square">
            <a:spAutoFit/>
          </a:bodyPr>
          <a:lstStyle/>
          <a:p>
            <a:pPr algn="just">
              <a:lnSpc>
                <a:spcPts val="2400"/>
              </a:lnSpc>
              <a:spcAft>
                <a:spcPts val="600"/>
              </a:spcAft>
            </a:pPr>
            <a:r>
              <a:rPr lang="zh-CN" altLang="en-US" sz="1600" dirty="0" smtClean="0"/>
              <a:t>完成外部网络基本信息配置，包括：定义名称，定义该外部网络是否用于连接</a:t>
            </a:r>
            <a:r>
              <a:rPr lang="en-US" altLang="zh-CN" sz="1600" dirty="0" smtClean="0"/>
              <a:t>Internet</a:t>
            </a:r>
            <a:r>
              <a:rPr lang="zh-CN" altLang="en-US" sz="1600" dirty="0" smtClean="0"/>
              <a:t>（是否采用默认路由作为外部路由），亦可自定义外部路由：</a:t>
            </a:r>
            <a:endParaRPr lang="zh-CN" altLang="en-US" sz="1600" dirty="0"/>
          </a:p>
        </p:txBody>
      </p:sp>
      <p:pic>
        <p:nvPicPr>
          <p:cNvPr id="95" name="图片 94"/>
          <p:cNvPicPr/>
          <p:nvPr/>
        </p:nvPicPr>
        <p:blipFill rotWithShape="1">
          <a:blip r:embed="rId3"/>
          <a:srcRect b="55179"/>
          <a:stretch/>
        </p:blipFill>
        <p:spPr bwMode="gray">
          <a:xfrm>
            <a:off x="5082166" y="2182485"/>
            <a:ext cx="6299616" cy="2086081"/>
          </a:xfrm>
          <a:prstGeom prst="rect">
            <a:avLst/>
          </a:prstGeom>
          <a:ln w="12700">
            <a:solidFill>
              <a:schemeClr val="bg1">
                <a:lumMod val="85000"/>
              </a:schemeClr>
            </a:solidFill>
          </a:ln>
        </p:spPr>
      </p:pic>
      <p:sp>
        <p:nvSpPr>
          <p:cNvPr id="96" name="Freeform 159"/>
          <p:cNvSpPr/>
          <p:nvPr/>
        </p:nvSpPr>
        <p:spPr bwMode="gray">
          <a:xfrm flipH="1">
            <a:off x="806774" y="1330820"/>
            <a:ext cx="1240474" cy="648430"/>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12700">
            <a:solidFill>
              <a:srgbClr val="ED6D00"/>
            </a:solidFill>
          </a:ln>
        </p:spPr>
        <p:style>
          <a:lnRef idx="2">
            <a:schemeClr val="accent1">
              <a:shade val="50000"/>
            </a:schemeClr>
          </a:lnRef>
          <a:fillRef idx="1">
            <a:schemeClr val="accent1"/>
          </a:fillRef>
          <a:effectRef idx="0">
            <a:schemeClr val="accent1"/>
          </a:effectRef>
          <a:fontRef idx="minor">
            <a:schemeClr val="lt1"/>
          </a:fontRef>
        </p:style>
        <p:txBody>
          <a:bodyPr wrap="square" tIns="108000" rtlCol="0" anchor="ctr">
            <a:noAutofit/>
          </a:bodyPr>
          <a:lstStyle>
            <a:defPPr>
              <a:defRPr lang="en-US"/>
            </a:defPPr>
            <a:lvl1pPr marL="0" algn="l" defTabSz="914478" rtl="0" eaLnBrk="1" latinLnBrk="0" hangingPunct="1">
              <a:defRPr sz="1800" kern="1200">
                <a:solidFill>
                  <a:schemeClr val="lt1"/>
                </a:solidFill>
                <a:latin typeface="+mn-lt"/>
                <a:ea typeface="+mn-ea"/>
                <a:cs typeface="+mn-cs"/>
              </a:defRPr>
            </a:lvl1pPr>
            <a:lvl2pPr marL="457240" algn="l" defTabSz="914478" rtl="0" eaLnBrk="1" latinLnBrk="0" hangingPunct="1">
              <a:defRPr sz="1800" kern="1200">
                <a:solidFill>
                  <a:schemeClr val="lt1"/>
                </a:solidFill>
                <a:latin typeface="+mn-lt"/>
                <a:ea typeface="+mn-ea"/>
                <a:cs typeface="+mn-cs"/>
              </a:defRPr>
            </a:lvl2pPr>
            <a:lvl3pPr marL="914478" algn="l" defTabSz="914478" rtl="0" eaLnBrk="1" latinLnBrk="0" hangingPunct="1">
              <a:defRPr sz="1800" kern="1200">
                <a:solidFill>
                  <a:schemeClr val="lt1"/>
                </a:solidFill>
                <a:latin typeface="+mn-lt"/>
                <a:ea typeface="+mn-ea"/>
                <a:cs typeface="+mn-cs"/>
              </a:defRPr>
            </a:lvl3pPr>
            <a:lvl4pPr marL="1371718" algn="l" defTabSz="914478" rtl="0" eaLnBrk="1" latinLnBrk="0" hangingPunct="1">
              <a:defRPr sz="1800" kern="1200">
                <a:solidFill>
                  <a:schemeClr val="lt1"/>
                </a:solidFill>
                <a:latin typeface="+mn-lt"/>
                <a:ea typeface="+mn-ea"/>
                <a:cs typeface="+mn-cs"/>
              </a:defRPr>
            </a:lvl4pPr>
            <a:lvl5pPr marL="1828957" algn="l" defTabSz="914478" rtl="0" eaLnBrk="1" latinLnBrk="0" hangingPunct="1">
              <a:defRPr sz="1800" kern="1200">
                <a:solidFill>
                  <a:schemeClr val="lt1"/>
                </a:solidFill>
                <a:latin typeface="+mn-lt"/>
                <a:ea typeface="+mn-ea"/>
                <a:cs typeface="+mn-cs"/>
              </a:defRPr>
            </a:lvl5pPr>
            <a:lvl6pPr marL="2286196" algn="l" defTabSz="914478" rtl="0" eaLnBrk="1" latinLnBrk="0" hangingPunct="1">
              <a:defRPr sz="1800" kern="1200">
                <a:solidFill>
                  <a:schemeClr val="lt1"/>
                </a:solidFill>
                <a:latin typeface="+mn-lt"/>
                <a:ea typeface="+mn-ea"/>
                <a:cs typeface="+mn-cs"/>
              </a:defRPr>
            </a:lvl6pPr>
            <a:lvl7pPr marL="2743435" algn="l" defTabSz="914478" rtl="0" eaLnBrk="1" latinLnBrk="0" hangingPunct="1">
              <a:defRPr sz="1800" kern="1200">
                <a:solidFill>
                  <a:schemeClr val="lt1"/>
                </a:solidFill>
                <a:latin typeface="+mn-lt"/>
                <a:ea typeface="+mn-ea"/>
                <a:cs typeface="+mn-cs"/>
              </a:defRPr>
            </a:lvl7pPr>
            <a:lvl8pPr marL="3200675" algn="l" defTabSz="914478" rtl="0" eaLnBrk="1" latinLnBrk="0" hangingPunct="1">
              <a:defRPr sz="1800" kern="1200">
                <a:solidFill>
                  <a:schemeClr val="lt1"/>
                </a:solidFill>
                <a:latin typeface="+mn-lt"/>
                <a:ea typeface="+mn-ea"/>
                <a:cs typeface="+mn-cs"/>
              </a:defRPr>
            </a:lvl8pPr>
            <a:lvl9pPr marL="3657913" algn="l" defTabSz="914478" rtl="0" eaLnBrk="1" latinLnBrk="0" hangingPunct="1">
              <a:defRPr sz="1800" kern="1200">
                <a:solidFill>
                  <a:schemeClr val="lt1"/>
                </a:solidFill>
                <a:latin typeface="+mn-lt"/>
                <a:ea typeface="+mn-ea"/>
                <a:cs typeface="+mn-cs"/>
              </a:defRPr>
            </a:lvl9pPr>
          </a:lstStyle>
          <a:p>
            <a:pPr algn="ctr"/>
            <a:r>
              <a:rPr lang="zh-CN" altLang="en-US" sz="1400" dirty="0" smtClean="0">
                <a:solidFill>
                  <a:srgbClr val="ED6D00"/>
                </a:solidFill>
              </a:rPr>
              <a:t>外部网络</a:t>
            </a:r>
            <a:endParaRPr lang="en-US" sz="1400" dirty="0">
              <a:solidFill>
                <a:srgbClr val="ED6D00"/>
              </a:solidFill>
            </a:endParaRPr>
          </a:p>
        </p:txBody>
      </p:sp>
      <p:sp>
        <p:nvSpPr>
          <p:cNvPr id="97" name="Freeform 159"/>
          <p:cNvSpPr/>
          <p:nvPr/>
        </p:nvSpPr>
        <p:spPr bwMode="gray">
          <a:xfrm flipH="1">
            <a:off x="2932892" y="1330820"/>
            <a:ext cx="1240474" cy="648430"/>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tIns="108000" rtlCol="0" anchor="ctr">
            <a:noAutofit/>
          </a:bodyPr>
          <a:lstStyle>
            <a:defPPr>
              <a:defRPr lang="en-US"/>
            </a:defPPr>
            <a:lvl1pPr marL="0" algn="l" defTabSz="914478" rtl="0" eaLnBrk="1" latinLnBrk="0" hangingPunct="1">
              <a:defRPr sz="1800" kern="1200">
                <a:solidFill>
                  <a:schemeClr val="lt1"/>
                </a:solidFill>
                <a:latin typeface="+mn-lt"/>
                <a:ea typeface="+mn-ea"/>
                <a:cs typeface="+mn-cs"/>
              </a:defRPr>
            </a:lvl1pPr>
            <a:lvl2pPr marL="457240" algn="l" defTabSz="914478" rtl="0" eaLnBrk="1" latinLnBrk="0" hangingPunct="1">
              <a:defRPr sz="1800" kern="1200">
                <a:solidFill>
                  <a:schemeClr val="lt1"/>
                </a:solidFill>
                <a:latin typeface="+mn-lt"/>
                <a:ea typeface="+mn-ea"/>
                <a:cs typeface="+mn-cs"/>
              </a:defRPr>
            </a:lvl2pPr>
            <a:lvl3pPr marL="914478" algn="l" defTabSz="914478" rtl="0" eaLnBrk="1" latinLnBrk="0" hangingPunct="1">
              <a:defRPr sz="1800" kern="1200">
                <a:solidFill>
                  <a:schemeClr val="lt1"/>
                </a:solidFill>
                <a:latin typeface="+mn-lt"/>
                <a:ea typeface="+mn-ea"/>
                <a:cs typeface="+mn-cs"/>
              </a:defRPr>
            </a:lvl3pPr>
            <a:lvl4pPr marL="1371718" algn="l" defTabSz="914478" rtl="0" eaLnBrk="1" latinLnBrk="0" hangingPunct="1">
              <a:defRPr sz="1800" kern="1200">
                <a:solidFill>
                  <a:schemeClr val="lt1"/>
                </a:solidFill>
                <a:latin typeface="+mn-lt"/>
                <a:ea typeface="+mn-ea"/>
                <a:cs typeface="+mn-cs"/>
              </a:defRPr>
            </a:lvl4pPr>
            <a:lvl5pPr marL="1828957" algn="l" defTabSz="914478" rtl="0" eaLnBrk="1" latinLnBrk="0" hangingPunct="1">
              <a:defRPr sz="1800" kern="1200">
                <a:solidFill>
                  <a:schemeClr val="lt1"/>
                </a:solidFill>
                <a:latin typeface="+mn-lt"/>
                <a:ea typeface="+mn-ea"/>
                <a:cs typeface="+mn-cs"/>
              </a:defRPr>
            </a:lvl5pPr>
            <a:lvl6pPr marL="2286196" algn="l" defTabSz="914478" rtl="0" eaLnBrk="1" latinLnBrk="0" hangingPunct="1">
              <a:defRPr sz="1800" kern="1200">
                <a:solidFill>
                  <a:schemeClr val="lt1"/>
                </a:solidFill>
                <a:latin typeface="+mn-lt"/>
                <a:ea typeface="+mn-ea"/>
                <a:cs typeface="+mn-cs"/>
              </a:defRPr>
            </a:lvl6pPr>
            <a:lvl7pPr marL="2743435" algn="l" defTabSz="914478" rtl="0" eaLnBrk="1" latinLnBrk="0" hangingPunct="1">
              <a:defRPr sz="1800" kern="1200">
                <a:solidFill>
                  <a:schemeClr val="lt1"/>
                </a:solidFill>
                <a:latin typeface="+mn-lt"/>
                <a:ea typeface="+mn-ea"/>
                <a:cs typeface="+mn-cs"/>
              </a:defRPr>
            </a:lvl7pPr>
            <a:lvl8pPr marL="3200675" algn="l" defTabSz="914478" rtl="0" eaLnBrk="1" latinLnBrk="0" hangingPunct="1">
              <a:defRPr sz="1800" kern="1200">
                <a:solidFill>
                  <a:schemeClr val="lt1"/>
                </a:solidFill>
                <a:latin typeface="+mn-lt"/>
                <a:ea typeface="+mn-ea"/>
                <a:cs typeface="+mn-cs"/>
              </a:defRPr>
            </a:lvl8pPr>
            <a:lvl9pPr marL="3657913" algn="l" defTabSz="914478" rtl="0" eaLnBrk="1" latinLnBrk="0" hangingPunct="1">
              <a:defRPr sz="1800" kern="1200">
                <a:solidFill>
                  <a:schemeClr val="lt1"/>
                </a:solidFill>
                <a:latin typeface="+mn-lt"/>
                <a:ea typeface="+mn-ea"/>
                <a:cs typeface="+mn-cs"/>
              </a:defRPr>
            </a:lvl9pPr>
          </a:lstStyle>
          <a:p>
            <a:pPr algn="ctr"/>
            <a:r>
              <a:rPr lang="zh-CN" altLang="en-US" sz="1400" smtClean="0">
                <a:solidFill>
                  <a:schemeClr val="bg1">
                    <a:lumMod val="50000"/>
                  </a:schemeClr>
                </a:solidFill>
              </a:rPr>
              <a:t>网络服务</a:t>
            </a:r>
            <a:endParaRPr lang="en-US" altLang="zh-CN" sz="1400" smtClean="0">
              <a:solidFill>
                <a:schemeClr val="bg1">
                  <a:lumMod val="50000"/>
                </a:schemeClr>
              </a:solidFill>
            </a:endParaRPr>
          </a:p>
          <a:p>
            <a:pPr algn="ctr"/>
            <a:r>
              <a:rPr lang="zh-CN" altLang="en-US" sz="1400" smtClean="0">
                <a:solidFill>
                  <a:schemeClr val="bg1">
                    <a:lumMod val="50000"/>
                  </a:schemeClr>
                </a:solidFill>
              </a:rPr>
              <a:t>资源</a:t>
            </a:r>
            <a:endParaRPr lang="en-US" sz="1400">
              <a:solidFill>
                <a:schemeClr val="bg1">
                  <a:lumMod val="50000"/>
                </a:schemeClr>
              </a:solidFill>
            </a:endParaRPr>
          </a:p>
        </p:txBody>
      </p:sp>
      <p:sp>
        <p:nvSpPr>
          <p:cNvPr id="98" name="圆角矩形 97"/>
          <p:cNvSpPr/>
          <p:nvPr/>
        </p:nvSpPr>
        <p:spPr bwMode="gray">
          <a:xfrm>
            <a:off x="700822" y="2240462"/>
            <a:ext cx="3948649" cy="2628871"/>
          </a:xfrm>
          <a:prstGeom prst="roundRect">
            <a:avLst>
              <a:gd name="adj" fmla="val 3166"/>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78" rtl="0" eaLnBrk="1" latinLnBrk="0" hangingPunct="1">
              <a:defRPr sz="1800" kern="1200">
                <a:solidFill>
                  <a:schemeClr val="lt1"/>
                </a:solidFill>
                <a:latin typeface="+mn-lt"/>
                <a:ea typeface="+mn-ea"/>
                <a:cs typeface="+mn-cs"/>
              </a:defRPr>
            </a:lvl1pPr>
            <a:lvl2pPr marL="457240" algn="l" defTabSz="914478" rtl="0" eaLnBrk="1" latinLnBrk="0" hangingPunct="1">
              <a:defRPr sz="1800" kern="1200">
                <a:solidFill>
                  <a:schemeClr val="lt1"/>
                </a:solidFill>
                <a:latin typeface="+mn-lt"/>
                <a:ea typeface="+mn-ea"/>
                <a:cs typeface="+mn-cs"/>
              </a:defRPr>
            </a:lvl2pPr>
            <a:lvl3pPr marL="914478" algn="l" defTabSz="914478" rtl="0" eaLnBrk="1" latinLnBrk="0" hangingPunct="1">
              <a:defRPr sz="1800" kern="1200">
                <a:solidFill>
                  <a:schemeClr val="lt1"/>
                </a:solidFill>
                <a:latin typeface="+mn-lt"/>
                <a:ea typeface="+mn-ea"/>
                <a:cs typeface="+mn-cs"/>
              </a:defRPr>
            </a:lvl3pPr>
            <a:lvl4pPr marL="1371718" algn="l" defTabSz="914478" rtl="0" eaLnBrk="1" latinLnBrk="0" hangingPunct="1">
              <a:defRPr sz="1800" kern="1200">
                <a:solidFill>
                  <a:schemeClr val="lt1"/>
                </a:solidFill>
                <a:latin typeface="+mn-lt"/>
                <a:ea typeface="+mn-ea"/>
                <a:cs typeface="+mn-cs"/>
              </a:defRPr>
            </a:lvl4pPr>
            <a:lvl5pPr marL="1828957" algn="l" defTabSz="914478" rtl="0" eaLnBrk="1" latinLnBrk="0" hangingPunct="1">
              <a:defRPr sz="1800" kern="1200">
                <a:solidFill>
                  <a:schemeClr val="lt1"/>
                </a:solidFill>
                <a:latin typeface="+mn-lt"/>
                <a:ea typeface="+mn-ea"/>
                <a:cs typeface="+mn-cs"/>
              </a:defRPr>
            </a:lvl5pPr>
            <a:lvl6pPr marL="2286196" algn="l" defTabSz="914478" rtl="0" eaLnBrk="1" latinLnBrk="0" hangingPunct="1">
              <a:defRPr sz="1800" kern="1200">
                <a:solidFill>
                  <a:schemeClr val="lt1"/>
                </a:solidFill>
                <a:latin typeface="+mn-lt"/>
                <a:ea typeface="+mn-ea"/>
                <a:cs typeface="+mn-cs"/>
              </a:defRPr>
            </a:lvl6pPr>
            <a:lvl7pPr marL="2743435" algn="l" defTabSz="914478" rtl="0" eaLnBrk="1" latinLnBrk="0" hangingPunct="1">
              <a:defRPr sz="1800" kern="1200">
                <a:solidFill>
                  <a:schemeClr val="lt1"/>
                </a:solidFill>
                <a:latin typeface="+mn-lt"/>
                <a:ea typeface="+mn-ea"/>
                <a:cs typeface="+mn-cs"/>
              </a:defRPr>
            </a:lvl7pPr>
            <a:lvl8pPr marL="3200675" algn="l" defTabSz="914478" rtl="0" eaLnBrk="1" latinLnBrk="0" hangingPunct="1">
              <a:defRPr sz="1800" kern="1200">
                <a:solidFill>
                  <a:schemeClr val="lt1"/>
                </a:solidFill>
                <a:latin typeface="+mn-lt"/>
                <a:ea typeface="+mn-ea"/>
                <a:cs typeface="+mn-cs"/>
              </a:defRPr>
            </a:lvl8pPr>
            <a:lvl9pPr marL="3657913" algn="l" defTabSz="914478" rtl="0" eaLnBrk="1" latinLnBrk="0" hangingPunct="1">
              <a:defRPr sz="1800" kern="1200">
                <a:solidFill>
                  <a:schemeClr val="lt1"/>
                </a:solidFill>
                <a:latin typeface="+mn-lt"/>
                <a:ea typeface="+mn-ea"/>
                <a:cs typeface="+mn-cs"/>
              </a:defRPr>
            </a:lvl9pPr>
          </a:lstStyle>
          <a:p>
            <a:pPr algn="ctr"/>
            <a:endParaRPr lang="zh-CN" altLang="en-US">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99" name="Freeform 159"/>
          <p:cNvSpPr/>
          <p:nvPr/>
        </p:nvSpPr>
        <p:spPr bwMode="gray">
          <a:xfrm flipH="1">
            <a:off x="1290464" y="2593278"/>
            <a:ext cx="2445152" cy="1399742"/>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rgbClr val="E3F6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78" rtl="0" eaLnBrk="1" latinLnBrk="0" hangingPunct="1">
              <a:defRPr sz="1800" kern="1200">
                <a:solidFill>
                  <a:schemeClr val="lt1"/>
                </a:solidFill>
                <a:latin typeface="+mn-lt"/>
                <a:ea typeface="+mn-ea"/>
                <a:cs typeface="+mn-cs"/>
              </a:defRPr>
            </a:lvl1pPr>
            <a:lvl2pPr marL="457240" algn="l" defTabSz="914478" rtl="0" eaLnBrk="1" latinLnBrk="0" hangingPunct="1">
              <a:defRPr sz="1800" kern="1200">
                <a:solidFill>
                  <a:schemeClr val="lt1"/>
                </a:solidFill>
                <a:latin typeface="+mn-lt"/>
                <a:ea typeface="+mn-ea"/>
                <a:cs typeface="+mn-cs"/>
              </a:defRPr>
            </a:lvl2pPr>
            <a:lvl3pPr marL="914478" algn="l" defTabSz="914478" rtl="0" eaLnBrk="1" latinLnBrk="0" hangingPunct="1">
              <a:defRPr sz="1800" kern="1200">
                <a:solidFill>
                  <a:schemeClr val="lt1"/>
                </a:solidFill>
                <a:latin typeface="+mn-lt"/>
                <a:ea typeface="+mn-ea"/>
                <a:cs typeface="+mn-cs"/>
              </a:defRPr>
            </a:lvl3pPr>
            <a:lvl4pPr marL="1371718" algn="l" defTabSz="914478" rtl="0" eaLnBrk="1" latinLnBrk="0" hangingPunct="1">
              <a:defRPr sz="1800" kern="1200">
                <a:solidFill>
                  <a:schemeClr val="lt1"/>
                </a:solidFill>
                <a:latin typeface="+mn-lt"/>
                <a:ea typeface="+mn-ea"/>
                <a:cs typeface="+mn-cs"/>
              </a:defRPr>
            </a:lvl4pPr>
            <a:lvl5pPr marL="1828957" algn="l" defTabSz="914478" rtl="0" eaLnBrk="1" latinLnBrk="0" hangingPunct="1">
              <a:defRPr sz="1800" kern="1200">
                <a:solidFill>
                  <a:schemeClr val="lt1"/>
                </a:solidFill>
                <a:latin typeface="+mn-lt"/>
                <a:ea typeface="+mn-ea"/>
                <a:cs typeface="+mn-cs"/>
              </a:defRPr>
            </a:lvl5pPr>
            <a:lvl6pPr marL="2286196" algn="l" defTabSz="914478" rtl="0" eaLnBrk="1" latinLnBrk="0" hangingPunct="1">
              <a:defRPr sz="1800" kern="1200">
                <a:solidFill>
                  <a:schemeClr val="lt1"/>
                </a:solidFill>
                <a:latin typeface="+mn-lt"/>
                <a:ea typeface="+mn-ea"/>
                <a:cs typeface="+mn-cs"/>
              </a:defRPr>
            </a:lvl6pPr>
            <a:lvl7pPr marL="2743435" algn="l" defTabSz="914478" rtl="0" eaLnBrk="1" latinLnBrk="0" hangingPunct="1">
              <a:defRPr sz="1800" kern="1200">
                <a:solidFill>
                  <a:schemeClr val="lt1"/>
                </a:solidFill>
                <a:latin typeface="+mn-lt"/>
                <a:ea typeface="+mn-ea"/>
                <a:cs typeface="+mn-cs"/>
              </a:defRPr>
            </a:lvl7pPr>
            <a:lvl8pPr marL="3200675" algn="l" defTabSz="914478" rtl="0" eaLnBrk="1" latinLnBrk="0" hangingPunct="1">
              <a:defRPr sz="1800" kern="1200">
                <a:solidFill>
                  <a:schemeClr val="lt1"/>
                </a:solidFill>
                <a:latin typeface="+mn-lt"/>
                <a:ea typeface="+mn-ea"/>
                <a:cs typeface="+mn-cs"/>
              </a:defRPr>
            </a:lvl8pPr>
            <a:lvl9pPr marL="3657913" algn="l" defTabSz="914478" rtl="0" eaLnBrk="1" latinLnBrk="0" hangingPunct="1">
              <a:defRPr sz="1800" kern="1200">
                <a:solidFill>
                  <a:schemeClr val="lt1"/>
                </a:solidFill>
                <a:latin typeface="+mn-lt"/>
                <a:ea typeface="+mn-ea"/>
                <a:cs typeface="+mn-cs"/>
              </a:defRPr>
            </a:lvl9pPr>
          </a:lstStyle>
          <a:p>
            <a:pPr algn="ctr"/>
            <a:endParaRPr lang="en-US">
              <a:latin typeface="Huawei Sans" panose="020C0503030203020204" pitchFamily="34" charset="0"/>
              <a:ea typeface="方正兰亭黑简体" panose="02000000000000000000" pitchFamily="2" charset="-122"/>
            </a:endParaRPr>
          </a:p>
        </p:txBody>
      </p:sp>
      <p:cxnSp>
        <p:nvCxnSpPr>
          <p:cNvPr id="100" name="Straight Connector 166"/>
          <p:cNvCxnSpPr>
            <a:stCxn id="107" idx="2"/>
            <a:endCxn id="115" idx="0"/>
          </p:cNvCxnSpPr>
          <p:nvPr/>
        </p:nvCxnSpPr>
        <p:spPr bwMode="gray">
          <a:xfrm>
            <a:off x="1553611" y="3878115"/>
            <a:ext cx="0" cy="40327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1" name="Straight Connector 166"/>
          <p:cNvCxnSpPr>
            <a:stCxn id="108" idx="2"/>
            <a:endCxn id="116" idx="0"/>
          </p:cNvCxnSpPr>
          <p:nvPr/>
        </p:nvCxnSpPr>
        <p:spPr bwMode="gray">
          <a:xfrm>
            <a:off x="3484412" y="3878115"/>
            <a:ext cx="0" cy="40327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2" name="Straight Connector 167"/>
          <p:cNvCxnSpPr/>
          <p:nvPr/>
        </p:nvCxnSpPr>
        <p:spPr bwMode="gray">
          <a:xfrm flipH="1">
            <a:off x="1554321" y="2818883"/>
            <a:ext cx="971589" cy="876201"/>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103" name="Straight Connector 167"/>
          <p:cNvCxnSpPr/>
          <p:nvPr/>
        </p:nvCxnSpPr>
        <p:spPr bwMode="gray">
          <a:xfrm flipH="1" flipV="1">
            <a:off x="2522531" y="2816406"/>
            <a:ext cx="975076" cy="883934"/>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sp>
        <p:nvSpPr>
          <p:cNvPr id="104" name="文本框 89"/>
          <p:cNvSpPr txBox="1"/>
          <p:nvPr/>
        </p:nvSpPr>
        <p:spPr bwMode="gray">
          <a:xfrm>
            <a:off x="1658897" y="2685974"/>
            <a:ext cx="676788" cy="276999"/>
          </a:xfrm>
          <a:prstGeom prst="rect">
            <a:avLst/>
          </a:prstGeom>
          <a:noFill/>
        </p:spPr>
        <p:txBody>
          <a:bodyPr wrap="none" rtlCol="0">
            <a:spAutoFit/>
          </a:bodyPr>
          <a:ls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a:lstStyle>
          <a:p>
            <a:pPr algn="ctr"/>
            <a:r>
              <a:rPr lang="en-US" altLang="zh-CN" sz="1200" b="1" dirty="0" smtClean="0">
                <a:latin typeface="Huawei Sans" panose="020C0503030203020204" pitchFamily="34" charset="0"/>
                <a:ea typeface="方正兰亭黑简体" panose="02000000000000000000" pitchFamily="2" charset="-122"/>
                <a:cs typeface="Huawei Sans" panose="020C0503030203020204" pitchFamily="34" charset="0"/>
              </a:rPr>
              <a:t>Border</a:t>
            </a:r>
            <a:endParaRPr lang="zh-CN" altLang="en-US" sz="1200" b="1"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105" name="文本框 90"/>
          <p:cNvSpPr txBox="1"/>
          <p:nvPr/>
        </p:nvSpPr>
        <p:spPr bwMode="gray">
          <a:xfrm>
            <a:off x="699883" y="3545342"/>
            <a:ext cx="702436" cy="276999"/>
          </a:xfrm>
          <a:prstGeom prst="rect">
            <a:avLst/>
          </a:prstGeom>
          <a:noFill/>
        </p:spPr>
        <p:txBody>
          <a:bodyPr wrap="none" rtlCol="0">
            <a:spAutoFit/>
          </a:bodyPr>
          <a:ls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a:lstStyle>
          <a:p>
            <a:pPr algn="r"/>
            <a:r>
              <a:rPr lang="en-US" altLang="zh-CN" sz="1200" b="1" dirty="0" smtClean="0">
                <a:latin typeface="Huawei Sans" panose="020C0503030203020204" pitchFamily="34" charset="0"/>
                <a:ea typeface="方正兰亭黑简体" panose="02000000000000000000" pitchFamily="2" charset="-122"/>
                <a:cs typeface="Huawei Sans" panose="020C0503030203020204" pitchFamily="34" charset="0"/>
              </a:rPr>
              <a:t>Edge_1</a:t>
            </a:r>
            <a:endParaRPr lang="zh-CN" altLang="en-US" sz="1200" b="1"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106" name="文本框 91"/>
          <p:cNvSpPr txBox="1"/>
          <p:nvPr/>
        </p:nvSpPr>
        <p:spPr bwMode="gray">
          <a:xfrm>
            <a:off x="770416" y="4325462"/>
            <a:ext cx="631903" cy="276999"/>
          </a:xfrm>
          <a:prstGeom prst="rect">
            <a:avLst/>
          </a:prstGeom>
          <a:noFill/>
        </p:spPr>
        <p:txBody>
          <a:bodyPr wrap="none" rtlCol="0">
            <a:spAutoFit/>
          </a:bodyPr>
          <a:ls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a:lstStyle>
          <a:p>
            <a:pPr algn="r"/>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ACC_1</a:t>
            </a:r>
          </a:p>
        </p:txBody>
      </p:sp>
      <p:pic>
        <p:nvPicPr>
          <p:cNvPr id="107" name="图片 106" descr="汇聚交换机.png"/>
          <p:cNvPicPr>
            <a:picLocks noChangeAspect="1"/>
          </p:cNvPicPr>
          <p:nvPr/>
        </p:nvPicPr>
        <p:blipFill>
          <a:blip r:embed="rId4" cstate="print"/>
          <a:stretch>
            <a:fillRect/>
          </a:stretch>
        </p:blipFill>
        <p:spPr bwMode="gray">
          <a:xfrm>
            <a:off x="1330470" y="3512976"/>
            <a:ext cx="446281" cy="365139"/>
          </a:xfrm>
          <a:prstGeom prst="rect">
            <a:avLst/>
          </a:prstGeom>
        </p:spPr>
      </p:pic>
      <p:pic>
        <p:nvPicPr>
          <p:cNvPr id="108" name="图片 107" descr="汇聚交换机.png"/>
          <p:cNvPicPr>
            <a:picLocks noChangeAspect="1"/>
          </p:cNvPicPr>
          <p:nvPr/>
        </p:nvPicPr>
        <p:blipFill>
          <a:blip r:embed="rId4" cstate="print"/>
          <a:stretch>
            <a:fillRect/>
          </a:stretch>
        </p:blipFill>
        <p:spPr bwMode="gray">
          <a:xfrm>
            <a:off x="3261271" y="3512976"/>
            <a:ext cx="446281" cy="365139"/>
          </a:xfrm>
          <a:prstGeom prst="rect">
            <a:avLst/>
          </a:prstGeom>
        </p:spPr>
      </p:pic>
      <p:sp>
        <p:nvSpPr>
          <p:cNvPr id="109" name="文本框 94"/>
          <p:cNvSpPr txBox="1"/>
          <p:nvPr/>
        </p:nvSpPr>
        <p:spPr bwMode="gray">
          <a:xfrm>
            <a:off x="2691418" y="4325462"/>
            <a:ext cx="631904" cy="276999"/>
          </a:xfrm>
          <a:prstGeom prst="rect">
            <a:avLst/>
          </a:prstGeom>
          <a:noFill/>
        </p:spPr>
        <p:txBody>
          <a:bodyPr wrap="none" rtlCol="0">
            <a:spAutoFit/>
          </a:bodyPr>
          <a:ls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a:lstStyle>
          <a:p>
            <a:pPr algn="r"/>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ACC_2</a:t>
            </a:r>
          </a:p>
        </p:txBody>
      </p:sp>
      <p:sp>
        <p:nvSpPr>
          <p:cNvPr id="110" name="文本框 101"/>
          <p:cNvSpPr txBox="1"/>
          <p:nvPr/>
        </p:nvSpPr>
        <p:spPr bwMode="gray">
          <a:xfrm>
            <a:off x="2170663" y="3525472"/>
            <a:ext cx="676788" cy="307777"/>
          </a:xfrm>
          <a:prstGeom prst="rect">
            <a:avLst/>
          </a:prstGeom>
          <a:noFill/>
        </p:spPr>
        <p:txBody>
          <a:bodyPr wrap="none" rtlCol="0">
            <a:spAutoFit/>
          </a:bodyPr>
          <a:ls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a:lstStyle>
          <a:p>
            <a:pPr algn="ctr"/>
            <a:r>
              <a:rPr lang="en-US" altLang="zh-CN" sz="1400" dirty="0" smtClean="0">
                <a:solidFill>
                  <a:srgbClr val="30B5C5"/>
                </a:solidFill>
                <a:latin typeface="Huawei Sans" panose="020C0503030203020204" pitchFamily="34" charset="0"/>
                <a:ea typeface="方正兰亭细黑简体" panose="02000000000000000000" pitchFamily="2" charset="-122"/>
                <a:sym typeface="Huawei Sans" panose="020C0503030203020204" pitchFamily="34" charset="0"/>
              </a:rPr>
              <a:t>Fabric</a:t>
            </a:r>
          </a:p>
        </p:txBody>
      </p:sp>
      <p:cxnSp>
        <p:nvCxnSpPr>
          <p:cNvPr id="111" name="直接连接符 110"/>
          <p:cNvCxnSpPr/>
          <p:nvPr/>
        </p:nvCxnSpPr>
        <p:spPr bwMode="gray">
          <a:xfrm>
            <a:off x="1809570" y="2026520"/>
            <a:ext cx="495259" cy="621078"/>
          </a:xfrm>
          <a:prstGeom prst="line">
            <a:avLst/>
          </a:prstGeom>
          <a:ln>
            <a:solidFill>
              <a:srgbClr val="ED6D0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12" name="直接连接符 111"/>
          <p:cNvCxnSpPr/>
          <p:nvPr/>
        </p:nvCxnSpPr>
        <p:spPr bwMode="gray">
          <a:xfrm flipH="1">
            <a:off x="2777166" y="2036133"/>
            <a:ext cx="464971" cy="611465"/>
          </a:xfrm>
          <a:prstGeom prst="line">
            <a:avLst/>
          </a:prstGeom>
          <a:ln>
            <a:solidFill>
              <a:schemeClr val="bg1">
                <a:lumMod val="6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13" name="文本框 106"/>
          <p:cNvSpPr txBox="1"/>
          <p:nvPr/>
        </p:nvSpPr>
        <p:spPr bwMode="gray">
          <a:xfrm>
            <a:off x="3660886" y="3545342"/>
            <a:ext cx="702436" cy="276999"/>
          </a:xfrm>
          <a:prstGeom prst="rect">
            <a:avLst/>
          </a:prstGeom>
          <a:noFill/>
        </p:spPr>
        <p:txBody>
          <a:bodyPr wrap="none" rtlCol="0">
            <a:spAutoFit/>
          </a:bodyPr>
          <a:ls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a:lstStyle>
          <a:p>
            <a:r>
              <a:rPr lang="en-US" altLang="zh-CN" sz="1200" b="1" dirty="0" smtClean="0">
                <a:latin typeface="Huawei Sans" panose="020C0503030203020204" pitchFamily="34" charset="0"/>
                <a:ea typeface="方正兰亭黑简体" panose="02000000000000000000" pitchFamily="2" charset="-122"/>
                <a:cs typeface="Huawei Sans" panose="020C0503030203020204" pitchFamily="34" charset="0"/>
              </a:rPr>
              <a:t>Edge_2</a:t>
            </a:r>
            <a:endParaRPr lang="zh-CN" altLang="en-US" sz="1200" b="1"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114" name="文本框 107"/>
          <p:cNvSpPr txBox="1"/>
          <p:nvPr/>
        </p:nvSpPr>
        <p:spPr bwMode="gray">
          <a:xfrm>
            <a:off x="733297" y="2390631"/>
            <a:ext cx="468398" cy="307777"/>
          </a:xfrm>
          <a:prstGeom prst="rect">
            <a:avLst/>
          </a:prstGeom>
          <a:noFill/>
        </p:spPr>
        <p:txBody>
          <a:bodyPr wrap="none" rtlCol="0">
            <a:spAutoFit/>
          </a:bodyPr>
          <a:ls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a:lstStyle>
          <a:p>
            <a:r>
              <a:rPr lang="en-US" altLang="zh-CN" sz="1400" b="1" dirty="0" smtClean="0">
                <a:latin typeface="Huawei Sans" panose="020C0503030203020204" pitchFamily="34" charset="0"/>
                <a:ea typeface="方正兰亭黑简体" panose="02000000000000000000" pitchFamily="2" charset="-122"/>
                <a:cs typeface="Huawei Sans" panose="020C0503030203020204" pitchFamily="34" charset="0"/>
              </a:rPr>
              <a:t>HQ</a:t>
            </a:r>
            <a:endParaRPr lang="zh-CN" altLang="en-US" sz="1400" b="1" dirty="0">
              <a:latin typeface="Huawei Sans" panose="020C0503030203020204" pitchFamily="34" charset="0"/>
              <a:ea typeface="方正兰亭黑简体" panose="02000000000000000000" pitchFamily="2" charset="-122"/>
              <a:cs typeface="Huawei Sans" panose="020C0503030203020204" pitchFamily="34" charset="0"/>
            </a:endParaRPr>
          </a:p>
        </p:txBody>
      </p:sp>
      <p:pic>
        <p:nvPicPr>
          <p:cNvPr id="115" name="图片 114" descr="接入交换机.png"/>
          <p:cNvPicPr>
            <a:picLocks noChangeAspect="1"/>
          </p:cNvPicPr>
          <p:nvPr/>
        </p:nvPicPr>
        <p:blipFill>
          <a:blip r:embed="rId5" cstate="print"/>
          <a:stretch>
            <a:fillRect/>
          </a:stretch>
        </p:blipFill>
        <p:spPr bwMode="gray">
          <a:xfrm>
            <a:off x="1330470" y="4281392"/>
            <a:ext cx="446281" cy="365139"/>
          </a:xfrm>
          <a:prstGeom prst="rect">
            <a:avLst/>
          </a:prstGeom>
        </p:spPr>
      </p:pic>
      <p:pic>
        <p:nvPicPr>
          <p:cNvPr id="116" name="图片 115" descr="接入交换机.png"/>
          <p:cNvPicPr>
            <a:picLocks noChangeAspect="1"/>
          </p:cNvPicPr>
          <p:nvPr/>
        </p:nvPicPr>
        <p:blipFill>
          <a:blip r:embed="rId5" cstate="print"/>
          <a:stretch>
            <a:fillRect/>
          </a:stretch>
        </p:blipFill>
        <p:spPr bwMode="gray">
          <a:xfrm>
            <a:off x="3261271" y="4281392"/>
            <a:ext cx="446281" cy="365139"/>
          </a:xfrm>
          <a:prstGeom prst="rect">
            <a:avLst/>
          </a:prstGeom>
        </p:spPr>
      </p:pic>
      <p:pic>
        <p:nvPicPr>
          <p:cNvPr id="117" name="图片 116" descr="核心交换机.png"/>
          <p:cNvPicPr>
            <a:picLocks noChangeAspect="1"/>
          </p:cNvPicPr>
          <p:nvPr/>
        </p:nvPicPr>
        <p:blipFill>
          <a:blip r:embed="rId6" cstate="print"/>
          <a:stretch>
            <a:fillRect/>
          </a:stretch>
        </p:blipFill>
        <p:spPr bwMode="gray">
          <a:xfrm>
            <a:off x="2310163" y="2636314"/>
            <a:ext cx="446281" cy="365139"/>
          </a:xfrm>
          <a:prstGeom prst="rect">
            <a:avLst/>
          </a:prstGeom>
        </p:spPr>
      </p:pic>
      <p:pic>
        <p:nvPicPr>
          <p:cNvPr id="118" name="图片 117"/>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bwMode="gray">
          <a:xfrm>
            <a:off x="3685721" y="2401713"/>
            <a:ext cx="865097" cy="491769"/>
          </a:xfrm>
          <a:prstGeom prst="rect">
            <a:avLst/>
          </a:prstGeom>
        </p:spPr>
      </p:pic>
      <p:pic>
        <p:nvPicPr>
          <p:cNvPr id="119" name="图片 118" descr="AP.png"/>
          <p:cNvPicPr>
            <a:picLocks noChangeAspect="1"/>
          </p:cNvPicPr>
          <p:nvPr/>
        </p:nvPicPr>
        <p:blipFill>
          <a:blip r:embed="rId8" cstate="print"/>
          <a:stretch>
            <a:fillRect/>
          </a:stretch>
        </p:blipFill>
        <p:spPr bwMode="gray">
          <a:xfrm>
            <a:off x="3941003" y="4313077"/>
            <a:ext cx="368827" cy="301768"/>
          </a:xfrm>
          <a:prstGeom prst="rect">
            <a:avLst/>
          </a:prstGeom>
        </p:spPr>
      </p:pic>
      <p:cxnSp>
        <p:nvCxnSpPr>
          <p:cNvPr id="120" name="Straight Connector 166"/>
          <p:cNvCxnSpPr>
            <a:stCxn id="116" idx="3"/>
            <a:endCxn id="119" idx="1"/>
          </p:cNvCxnSpPr>
          <p:nvPr/>
        </p:nvCxnSpPr>
        <p:spPr bwMode="gray">
          <a:xfrm flipV="1">
            <a:off x="3707552" y="4463961"/>
            <a:ext cx="233451" cy="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21" name="文本框 120"/>
          <p:cNvSpPr txBox="1"/>
          <p:nvPr/>
        </p:nvSpPr>
        <p:spPr bwMode="gray">
          <a:xfrm>
            <a:off x="4267173" y="4315959"/>
            <a:ext cx="460382" cy="276999"/>
          </a:xfrm>
          <a:prstGeom prst="rect">
            <a:avLst/>
          </a:prstGeom>
          <a:noFill/>
        </p:spPr>
        <p:txBody>
          <a:bodyPr wrap="none" rtlCol="0">
            <a:spAutoFit/>
          </a:bodyPr>
          <a:lstStyle/>
          <a:p>
            <a:pPr algn="r"/>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AP1</a:t>
            </a:r>
            <a:endParaRPr lang="zh-CN" altLang="en-US" sz="1200" b="1"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37" name="五边形 36"/>
          <p:cNvSpPr/>
          <p:nvPr/>
        </p:nvSpPr>
        <p:spPr bwMode="gray">
          <a:xfrm>
            <a:off x="5773628" y="98481"/>
            <a:ext cx="9000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站点管理</a:t>
            </a:r>
          </a:p>
        </p:txBody>
      </p:sp>
      <p:sp>
        <p:nvSpPr>
          <p:cNvPr id="40" name="燕尾形 39"/>
          <p:cNvSpPr/>
          <p:nvPr/>
        </p:nvSpPr>
        <p:spPr bwMode="gray">
          <a:xfrm>
            <a:off x="9109268" y="9848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逻辑网络</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1" name="燕尾形 40"/>
          <p:cNvSpPr/>
          <p:nvPr/>
        </p:nvSpPr>
        <p:spPr bwMode="gray">
          <a:xfrm>
            <a:off x="9925178" y="9848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业务部署</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2" name="燕尾形 41"/>
          <p:cNvSpPr/>
          <p:nvPr/>
        </p:nvSpPr>
        <p:spPr bwMode="gray">
          <a:xfrm>
            <a:off x="8221358" y="98481"/>
            <a:ext cx="9720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Fabric</a:t>
            </a: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网络</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3" name="燕尾形 42"/>
          <p:cNvSpPr/>
          <p:nvPr/>
        </p:nvSpPr>
        <p:spPr bwMode="gray">
          <a:xfrm>
            <a:off x="7405448" y="9848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网络规划</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4" name="燕尾形 43"/>
          <p:cNvSpPr/>
          <p:nvPr/>
        </p:nvSpPr>
        <p:spPr bwMode="gray">
          <a:xfrm>
            <a:off x="6589538" y="9848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设备管理</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5" name="燕尾形 44"/>
          <p:cNvSpPr/>
          <p:nvPr/>
        </p:nvSpPr>
        <p:spPr bwMode="gray">
          <a:xfrm>
            <a:off x="10741088" y="98481"/>
            <a:ext cx="1008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WLAN</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业务</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1708334477"/>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 name="圆角矩形 55"/>
          <p:cNvSpPr/>
          <p:nvPr/>
        </p:nvSpPr>
        <p:spPr bwMode="gray">
          <a:xfrm>
            <a:off x="700822" y="2240462"/>
            <a:ext cx="3948649" cy="2628871"/>
          </a:xfrm>
          <a:prstGeom prst="roundRect">
            <a:avLst>
              <a:gd name="adj" fmla="val 3166"/>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78" rtl="0" eaLnBrk="1" latinLnBrk="0" hangingPunct="1">
              <a:defRPr sz="1800" kern="1200">
                <a:solidFill>
                  <a:schemeClr val="lt1"/>
                </a:solidFill>
                <a:latin typeface="+mn-lt"/>
                <a:ea typeface="+mn-ea"/>
                <a:cs typeface="+mn-cs"/>
              </a:defRPr>
            </a:lvl1pPr>
            <a:lvl2pPr marL="457240" algn="l" defTabSz="914478" rtl="0" eaLnBrk="1" latinLnBrk="0" hangingPunct="1">
              <a:defRPr sz="1800" kern="1200">
                <a:solidFill>
                  <a:schemeClr val="lt1"/>
                </a:solidFill>
                <a:latin typeface="+mn-lt"/>
                <a:ea typeface="+mn-ea"/>
                <a:cs typeface="+mn-cs"/>
              </a:defRPr>
            </a:lvl2pPr>
            <a:lvl3pPr marL="914478" algn="l" defTabSz="914478" rtl="0" eaLnBrk="1" latinLnBrk="0" hangingPunct="1">
              <a:defRPr sz="1800" kern="1200">
                <a:solidFill>
                  <a:schemeClr val="lt1"/>
                </a:solidFill>
                <a:latin typeface="+mn-lt"/>
                <a:ea typeface="+mn-ea"/>
                <a:cs typeface="+mn-cs"/>
              </a:defRPr>
            </a:lvl3pPr>
            <a:lvl4pPr marL="1371718" algn="l" defTabSz="914478" rtl="0" eaLnBrk="1" latinLnBrk="0" hangingPunct="1">
              <a:defRPr sz="1800" kern="1200">
                <a:solidFill>
                  <a:schemeClr val="lt1"/>
                </a:solidFill>
                <a:latin typeface="+mn-lt"/>
                <a:ea typeface="+mn-ea"/>
                <a:cs typeface="+mn-cs"/>
              </a:defRPr>
            </a:lvl4pPr>
            <a:lvl5pPr marL="1828957" algn="l" defTabSz="914478" rtl="0" eaLnBrk="1" latinLnBrk="0" hangingPunct="1">
              <a:defRPr sz="1800" kern="1200">
                <a:solidFill>
                  <a:schemeClr val="lt1"/>
                </a:solidFill>
                <a:latin typeface="+mn-lt"/>
                <a:ea typeface="+mn-ea"/>
                <a:cs typeface="+mn-cs"/>
              </a:defRPr>
            </a:lvl5pPr>
            <a:lvl6pPr marL="2286196" algn="l" defTabSz="914478" rtl="0" eaLnBrk="1" latinLnBrk="0" hangingPunct="1">
              <a:defRPr sz="1800" kern="1200">
                <a:solidFill>
                  <a:schemeClr val="lt1"/>
                </a:solidFill>
                <a:latin typeface="+mn-lt"/>
                <a:ea typeface="+mn-ea"/>
                <a:cs typeface="+mn-cs"/>
              </a:defRPr>
            </a:lvl6pPr>
            <a:lvl7pPr marL="2743435" algn="l" defTabSz="914478" rtl="0" eaLnBrk="1" latinLnBrk="0" hangingPunct="1">
              <a:defRPr sz="1800" kern="1200">
                <a:solidFill>
                  <a:schemeClr val="lt1"/>
                </a:solidFill>
                <a:latin typeface="+mn-lt"/>
                <a:ea typeface="+mn-ea"/>
                <a:cs typeface="+mn-cs"/>
              </a:defRPr>
            </a:lvl7pPr>
            <a:lvl8pPr marL="3200675" algn="l" defTabSz="914478" rtl="0" eaLnBrk="1" latinLnBrk="0" hangingPunct="1">
              <a:defRPr sz="1800" kern="1200">
                <a:solidFill>
                  <a:schemeClr val="lt1"/>
                </a:solidFill>
                <a:latin typeface="+mn-lt"/>
                <a:ea typeface="+mn-ea"/>
                <a:cs typeface="+mn-cs"/>
              </a:defRPr>
            </a:lvl8pPr>
            <a:lvl9pPr marL="3657913" algn="l" defTabSz="914478" rtl="0" eaLnBrk="1" latinLnBrk="0" hangingPunct="1">
              <a:defRPr sz="1800" kern="1200">
                <a:solidFill>
                  <a:schemeClr val="lt1"/>
                </a:solidFill>
                <a:latin typeface="+mn-lt"/>
                <a:ea typeface="+mn-ea"/>
                <a:cs typeface="+mn-cs"/>
              </a:defRPr>
            </a:lvl9pPr>
          </a:lstStyle>
          <a:p>
            <a:pPr algn="ctr"/>
            <a:endParaRPr lang="zh-CN" altLang="en-US">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108" name="Freeform 159"/>
          <p:cNvSpPr/>
          <p:nvPr/>
        </p:nvSpPr>
        <p:spPr bwMode="gray">
          <a:xfrm flipH="1">
            <a:off x="1290464" y="2593278"/>
            <a:ext cx="2445152" cy="1399742"/>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rgbClr val="E3F6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78" rtl="0" eaLnBrk="1" latinLnBrk="0" hangingPunct="1">
              <a:defRPr sz="1800" kern="1200">
                <a:solidFill>
                  <a:schemeClr val="lt1"/>
                </a:solidFill>
                <a:latin typeface="+mn-lt"/>
                <a:ea typeface="+mn-ea"/>
                <a:cs typeface="+mn-cs"/>
              </a:defRPr>
            </a:lvl1pPr>
            <a:lvl2pPr marL="457240" algn="l" defTabSz="914478" rtl="0" eaLnBrk="1" latinLnBrk="0" hangingPunct="1">
              <a:defRPr sz="1800" kern="1200">
                <a:solidFill>
                  <a:schemeClr val="lt1"/>
                </a:solidFill>
                <a:latin typeface="+mn-lt"/>
                <a:ea typeface="+mn-ea"/>
                <a:cs typeface="+mn-cs"/>
              </a:defRPr>
            </a:lvl2pPr>
            <a:lvl3pPr marL="914478" algn="l" defTabSz="914478" rtl="0" eaLnBrk="1" latinLnBrk="0" hangingPunct="1">
              <a:defRPr sz="1800" kern="1200">
                <a:solidFill>
                  <a:schemeClr val="lt1"/>
                </a:solidFill>
                <a:latin typeface="+mn-lt"/>
                <a:ea typeface="+mn-ea"/>
                <a:cs typeface="+mn-cs"/>
              </a:defRPr>
            </a:lvl3pPr>
            <a:lvl4pPr marL="1371718" algn="l" defTabSz="914478" rtl="0" eaLnBrk="1" latinLnBrk="0" hangingPunct="1">
              <a:defRPr sz="1800" kern="1200">
                <a:solidFill>
                  <a:schemeClr val="lt1"/>
                </a:solidFill>
                <a:latin typeface="+mn-lt"/>
                <a:ea typeface="+mn-ea"/>
                <a:cs typeface="+mn-cs"/>
              </a:defRPr>
            </a:lvl4pPr>
            <a:lvl5pPr marL="1828957" algn="l" defTabSz="914478" rtl="0" eaLnBrk="1" latinLnBrk="0" hangingPunct="1">
              <a:defRPr sz="1800" kern="1200">
                <a:solidFill>
                  <a:schemeClr val="lt1"/>
                </a:solidFill>
                <a:latin typeface="+mn-lt"/>
                <a:ea typeface="+mn-ea"/>
                <a:cs typeface="+mn-cs"/>
              </a:defRPr>
            </a:lvl5pPr>
            <a:lvl6pPr marL="2286196" algn="l" defTabSz="914478" rtl="0" eaLnBrk="1" latinLnBrk="0" hangingPunct="1">
              <a:defRPr sz="1800" kern="1200">
                <a:solidFill>
                  <a:schemeClr val="lt1"/>
                </a:solidFill>
                <a:latin typeface="+mn-lt"/>
                <a:ea typeface="+mn-ea"/>
                <a:cs typeface="+mn-cs"/>
              </a:defRPr>
            </a:lvl6pPr>
            <a:lvl7pPr marL="2743435" algn="l" defTabSz="914478" rtl="0" eaLnBrk="1" latinLnBrk="0" hangingPunct="1">
              <a:defRPr sz="1800" kern="1200">
                <a:solidFill>
                  <a:schemeClr val="lt1"/>
                </a:solidFill>
                <a:latin typeface="+mn-lt"/>
                <a:ea typeface="+mn-ea"/>
                <a:cs typeface="+mn-cs"/>
              </a:defRPr>
            </a:lvl7pPr>
            <a:lvl8pPr marL="3200675" algn="l" defTabSz="914478" rtl="0" eaLnBrk="1" latinLnBrk="0" hangingPunct="1">
              <a:defRPr sz="1800" kern="1200">
                <a:solidFill>
                  <a:schemeClr val="lt1"/>
                </a:solidFill>
                <a:latin typeface="+mn-lt"/>
                <a:ea typeface="+mn-ea"/>
                <a:cs typeface="+mn-cs"/>
              </a:defRPr>
            </a:lvl8pPr>
            <a:lvl9pPr marL="3657913" algn="l" defTabSz="914478" rtl="0" eaLnBrk="1" latinLnBrk="0" hangingPunct="1">
              <a:defRPr sz="1800" kern="1200">
                <a:solidFill>
                  <a:schemeClr val="lt1"/>
                </a:solidFill>
                <a:latin typeface="+mn-lt"/>
                <a:ea typeface="+mn-ea"/>
                <a:cs typeface="+mn-cs"/>
              </a:defRPr>
            </a:lvl9pPr>
          </a:lstStyle>
          <a:p>
            <a:pPr algn="ctr"/>
            <a:endParaRPr lang="en-US">
              <a:latin typeface="Huawei Sans" panose="020C0503030203020204" pitchFamily="34" charset="0"/>
              <a:ea typeface="方正兰亭黑简体" panose="02000000000000000000" pitchFamily="2" charset="-122"/>
            </a:endParaRPr>
          </a:p>
        </p:txBody>
      </p:sp>
      <p:sp>
        <p:nvSpPr>
          <p:cNvPr id="109" name="文本框 101"/>
          <p:cNvSpPr txBox="1"/>
          <p:nvPr/>
        </p:nvSpPr>
        <p:spPr bwMode="gray">
          <a:xfrm>
            <a:off x="2170663" y="3525472"/>
            <a:ext cx="676788" cy="307777"/>
          </a:xfrm>
          <a:prstGeom prst="rect">
            <a:avLst/>
          </a:prstGeom>
          <a:noFill/>
        </p:spPr>
        <p:txBody>
          <a:bodyPr wrap="none" rtlCol="0">
            <a:spAutoFit/>
          </a:bodyPr>
          <a:ls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a:lstStyle>
          <a:p>
            <a:pPr algn="ctr"/>
            <a:r>
              <a:rPr lang="en-US" altLang="zh-CN" sz="1400" dirty="0" smtClean="0">
                <a:solidFill>
                  <a:srgbClr val="30B5C5"/>
                </a:solidFill>
                <a:latin typeface="Huawei Sans" panose="020C0503030203020204" pitchFamily="34" charset="0"/>
                <a:ea typeface="方正兰亭细黑简体" panose="02000000000000000000" pitchFamily="2" charset="-122"/>
                <a:sym typeface="Huawei Sans" panose="020C0503030203020204" pitchFamily="34" charset="0"/>
              </a:rPr>
              <a:t>Fabric</a:t>
            </a:r>
          </a:p>
        </p:txBody>
      </p:sp>
      <p:sp>
        <p:nvSpPr>
          <p:cNvPr id="5" name="标题 4"/>
          <p:cNvSpPr>
            <a:spLocks noGrp="1"/>
          </p:cNvSpPr>
          <p:nvPr>
            <p:ph type="title"/>
          </p:nvPr>
        </p:nvSpPr>
        <p:spPr bwMode="gray"/>
        <p:txBody>
          <a:bodyPr>
            <a:normAutofit/>
          </a:bodyPr>
          <a:lstStyle/>
          <a:p>
            <a:r>
              <a:rPr lang="zh-CN" altLang="en-US" dirty="0"/>
              <a:t>实验</a:t>
            </a:r>
            <a:r>
              <a:rPr lang="zh-CN" altLang="en-US" dirty="0" smtClean="0"/>
              <a:t>：创建外部网络</a:t>
            </a:r>
            <a:r>
              <a:rPr lang="zh-CN" altLang="en-US" dirty="0"/>
              <a:t> </a:t>
            </a:r>
            <a:r>
              <a:rPr lang="en-US" altLang="zh-CN" dirty="0" smtClean="0"/>
              <a:t>(3)</a:t>
            </a:r>
            <a:endParaRPr lang="zh-CN" altLang="en-US" dirty="0"/>
          </a:p>
        </p:txBody>
      </p:sp>
      <p:sp>
        <p:nvSpPr>
          <p:cNvPr id="82" name="矩形 81"/>
          <p:cNvSpPr/>
          <p:nvPr/>
        </p:nvSpPr>
        <p:spPr bwMode="gray">
          <a:xfrm>
            <a:off x="4980164" y="945545"/>
            <a:ext cx="5364163" cy="400110"/>
          </a:xfrm>
          <a:prstGeom prst="rect">
            <a:avLst/>
          </a:prstGeom>
        </p:spPr>
        <p:txBody>
          <a:bodyPr wrap="square">
            <a:spAutoFit/>
          </a:bodyPr>
          <a:lstStyle/>
          <a:p>
            <a:pPr algn="just">
              <a:lnSpc>
                <a:spcPts val="2400"/>
              </a:lnSpc>
              <a:spcAft>
                <a:spcPts val="600"/>
              </a:spcAft>
            </a:pPr>
            <a:r>
              <a:rPr lang="zh-CN" altLang="en-US" sz="1600" smtClean="0"/>
              <a:t>配置该外部网络对应的互联信息：</a:t>
            </a:r>
            <a:endParaRPr lang="zh-CN" altLang="en-US" sz="1600"/>
          </a:p>
        </p:txBody>
      </p:sp>
      <p:sp>
        <p:nvSpPr>
          <p:cNvPr id="84" name="矩形 83"/>
          <p:cNvSpPr/>
          <p:nvPr/>
        </p:nvSpPr>
        <p:spPr bwMode="gray">
          <a:xfrm>
            <a:off x="4980164" y="3718446"/>
            <a:ext cx="5364163" cy="400110"/>
          </a:xfrm>
          <a:prstGeom prst="rect">
            <a:avLst/>
          </a:prstGeom>
        </p:spPr>
        <p:txBody>
          <a:bodyPr wrap="square">
            <a:spAutoFit/>
          </a:bodyPr>
          <a:lstStyle/>
          <a:p>
            <a:pPr algn="just">
              <a:lnSpc>
                <a:spcPts val="2400"/>
              </a:lnSpc>
              <a:spcAft>
                <a:spcPts val="600"/>
              </a:spcAft>
            </a:pPr>
            <a:r>
              <a:rPr lang="zh-CN" altLang="en-US" sz="1600" dirty="0" smtClean="0"/>
              <a:t>配置该外部网络对应的路由信息：</a:t>
            </a:r>
            <a:endParaRPr lang="zh-CN" altLang="en-US" sz="1600" dirty="0"/>
          </a:p>
        </p:txBody>
      </p:sp>
      <p:sp>
        <p:nvSpPr>
          <p:cNvPr id="51" name="Freeform 159"/>
          <p:cNvSpPr/>
          <p:nvPr/>
        </p:nvSpPr>
        <p:spPr bwMode="gray">
          <a:xfrm flipH="1">
            <a:off x="806774" y="1330820"/>
            <a:ext cx="1240474" cy="648430"/>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12700">
            <a:solidFill>
              <a:srgbClr val="ED6D00"/>
            </a:solidFill>
          </a:ln>
        </p:spPr>
        <p:style>
          <a:lnRef idx="2">
            <a:schemeClr val="accent1">
              <a:shade val="50000"/>
            </a:schemeClr>
          </a:lnRef>
          <a:fillRef idx="1">
            <a:schemeClr val="accent1"/>
          </a:fillRef>
          <a:effectRef idx="0">
            <a:schemeClr val="accent1"/>
          </a:effectRef>
          <a:fontRef idx="minor">
            <a:schemeClr val="lt1"/>
          </a:fontRef>
        </p:style>
        <p:txBody>
          <a:bodyPr wrap="square" tIns="108000" rtlCol="0" anchor="ctr">
            <a:noAutofit/>
          </a:bodyPr>
          <a:lstStyle>
            <a:defPPr>
              <a:defRPr lang="en-US"/>
            </a:defPPr>
            <a:lvl1pPr marL="0" algn="l" defTabSz="914478" rtl="0" eaLnBrk="1" latinLnBrk="0" hangingPunct="1">
              <a:defRPr sz="1800" kern="1200">
                <a:solidFill>
                  <a:schemeClr val="lt1"/>
                </a:solidFill>
                <a:latin typeface="+mn-lt"/>
                <a:ea typeface="+mn-ea"/>
                <a:cs typeface="+mn-cs"/>
              </a:defRPr>
            </a:lvl1pPr>
            <a:lvl2pPr marL="457240" algn="l" defTabSz="914478" rtl="0" eaLnBrk="1" latinLnBrk="0" hangingPunct="1">
              <a:defRPr sz="1800" kern="1200">
                <a:solidFill>
                  <a:schemeClr val="lt1"/>
                </a:solidFill>
                <a:latin typeface="+mn-lt"/>
                <a:ea typeface="+mn-ea"/>
                <a:cs typeface="+mn-cs"/>
              </a:defRPr>
            </a:lvl2pPr>
            <a:lvl3pPr marL="914478" algn="l" defTabSz="914478" rtl="0" eaLnBrk="1" latinLnBrk="0" hangingPunct="1">
              <a:defRPr sz="1800" kern="1200">
                <a:solidFill>
                  <a:schemeClr val="lt1"/>
                </a:solidFill>
                <a:latin typeface="+mn-lt"/>
                <a:ea typeface="+mn-ea"/>
                <a:cs typeface="+mn-cs"/>
              </a:defRPr>
            </a:lvl3pPr>
            <a:lvl4pPr marL="1371718" algn="l" defTabSz="914478" rtl="0" eaLnBrk="1" latinLnBrk="0" hangingPunct="1">
              <a:defRPr sz="1800" kern="1200">
                <a:solidFill>
                  <a:schemeClr val="lt1"/>
                </a:solidFill>
                <a:latin typeface="+mn-lt"/>
                <a:ea typeface="+mn-ea"/>
                <a:cs typeface="+mn-cs"/>
              </a:defRPr>
            </a:lvl4pPr>
            <a:lvl5pPr marL="1828957" algn="l" defTabSz="914478" rtl="0" eaLnBrk="1" latinLnBrk="0" hangingPunct="1">
              <a:defRPr sz="1800" kern="1200">
                <a:solidFill>
                  <a:schemeClr val="lt1"/>
                </a:solidFill>
                <a:latin typeface="+mn-lt"/>
                <a:ea typeface="+mn-ea"/>
                <a:cs typeface="+mn-cs"/>
              </a:defRPr>
            </a:lvl5pPr>
            <a:lvl6pPr marL="2286196" algn="l" defTabSz="914478" rtl="0" eaLnBrk="1" latinLnBrk="0" hangingPunct="1">
              <a:defRPr sz="1800" kern="1200">
                <a:solidFill>
                  <a:schemeClr val="lt1"/>
                </a:solidFill>
                <a:latin typeface="+mn-lt"/>
                <a:ea typeface="+mn-ea"/>
                <a:cs typeface="+mn-cs"/>
              </a:defRPr>
            </a:lvl6pPr>
            <a:lvl7pPr marL="2743435" algn="l" defTabSz="914478" rtl="0" eaLnBrk="1" latinLnBrk="0" hangingPunct="1">
              <a:defRPr sz="1800" kern="1200">
                <a:solidFill>
                  <a:schemeClr val="lt1"/>
                </a:solidFill>
                <a:latin typeface="+mn-lt"/>
                <a:ea typeface="+mn-ea"/>
                <a:cs typeface="+mn-cs"/>
              </a:defRPr>
            </a:lvl7pPr>
            <a:lvl8pPr marL="3200675" algn="l" defTabSz="914478" rtl="0" eaLnBrk="1" latinLnBrk="0" hangingPunct="1">
              <a:defRPr sz="1800" kern="1200">
                <a:solidFill>
                  <a:schemeClr val="lt1"/>
                </a:solidFill>
                <a:latin typeface="+mn-lt"/>
                <a:ea typeface="+mn-ea"/>
                <a:cs typeface="+mn-cs"/>
              </a:defRPr>
            </a:lvl8pPr>
            <a:lvl9pPr marL="3657913" algn="l" defTabSz="914478" rtl="0" eaLnBrk="1" latinLnBrk="0" hangingPunct="1">
              <a:defRPr sz="1800" kern="1200">
                <a:solidFill>
                  <a:schemeClr val="lt1"/>
                </a:solidFill>
                <a:latin typeface="+mn-lt"/>
                <a:ea typeface="+mn-ea"/>
                <a:cs typeface="+mn-cs"/>
              </a:defRPr>
            </a:lvl9pPr>
          </a:lstStyle>
          <a:p>
            <a:pPr algn="ctr"/>
            <a:r>
              <a:rPr lang="zh-CN" altLang="en-US" sz="1400" dirty="0" smtClean="0">
                <a:solidFill>
                  <a:srgbClr val="ED6D00"/>
                </a:solidFill>
              </a:rPr>
              <a:t>外部网络</a:t>
            </a:r>
            <a:endParaRPr lang="en-US" sz="1400" dirty="0">
              <a:solidFill>
                <a:srgbClr val="ED6D00"/>
              </a:solidFill>
            </a:endParaRPr>
          </a:p>
        </p:txBody>
      </p:sp>
      <p:sp>
        <p:nvSpPr>
          <p:cNvPr id="52" name="Freeform 159"/>
          <p:cNvSpPr/>
          <p:nvPr/>
        </p:nvSpPr>
        <p:spPr bwMode="gray">
          <a:xfrm flipH="1">
            <a:off x="2932892" y="1330820"/>
            <a:ext cx="1240474" cy="648430"/>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tIns="108000" rtlCol="0" anchor="ctr">
            <a:noAutofit/>
          </a:bodyPr>
          <a:lstStyle>
            <a:defPPr>
              <a:defRPr lang="en-US"/>
            </a:defPPr>
            <a:lvl1pPr marL="0" algn="l" defTabSz="914478" rtl="0" eaLnBrk="1" latinLnBrk="0" hangingPunct="1">
              <a:defRPr sz="1800" kern="1200">
                <a:solidFill>
                  <a:schemeClr val="lt1"/>
                </a:solidFill>
                <a:latin typeface="+mn-lt"/>
                <a:ea typeface="+mn-ea"/>
                <a:cs typeface="+mn-cs"/>
              </a:defRPr>
            </a:lvl1pPr>
            <a:lvl2pPr marL="457240" algn="l" defTabSz="914478" rtl="0" eaLnBrk="1" latinLnBrk="0" hangingPunct="1">
              <a:defRPr sz="1800" kern="1200">
                <a:solidFill>
                  <a:schemeClr val="lt1"/>
                </a:solidFill>
                <a:latin typeface="+mn-lt"/>
                <a:ea typeface="+mn-ea"/>
                <a:cs typeface="+mn-cs"/>
              </a:defRPr>
            </a:lvl2pPr>
            <a:lvl3pPr marL="914478" algn="l" defTabSz="914478" rtl="0" eaLnBrk="1" latinLnBrk="0" hangingPunct="1">
              <a:defRPr sz="1800" kern="1200">
                <a:solidFill>
                  <a:schemeClr val="lt1"/>
                </a:solidFill>
                <a:latin typeface="+mn-lt"/>
                <a:ea typeface="+mn-ea"/>
                <a:cs typeface="+mn-cs"/>
              </a:defRPr>
            </a:lvl3pPr>
            <a:lvl4pPr marL="1371718" algn="l" defTabSz="914478" rtl="0" eaLnBrk="1" latinLnBrk="0" hangingPunct="1">
              <a:defRPr sz="1800" kern="1200">
                <a:solidFill>
                  <a:schemeClr val="lt1"/>
                </a:solidFill>
                <a:latin typeface="+mn-lt"/>
                <a:ea typeface="+mn-ea"/>
                <a:cs typeface="+mn-cs"/>
              </a:defRPr>
            </a:lvl4pPr>
            <a:lvl5pPr marL="1828957" algn="l" defTabSz="914478" rtl="0" eaLnBrk="1" latinLnBrk="0" hangingPunct="1">
              <a:defRPr sz="1800" kern="1200">
                <a:solidFill>
                  <a:schemeClr val="lt1"/>
                </a:solidFill>
                <a:latin typeface="+mn-lt"/>
                <a:ea typeface="+mn-ea"/>
                <a:cs typeface="+mn-cs"/>
              </a:defRPr>
            </a:lvl5pPr>
            <a:lvl6pPr marL="2286196" algn="l" defTabSz="914478" rtl="0" eaLnBrk="1" latinLnBrk="0" hangingPunct="1">
              <a:defRPr sz="1800" kern="1200">
                <a:solidFill>
                  <a:schemeClr val="lt1"/>
                </a:solidFill>
                <a:latin typeface="+mn-lt"/>
                <a:ea typeface="+mn-ea"/>
                <a:cs typeface="+mn-cs"/>
              </a:defRPr>
            </a:lvl6pPr>
            <a:lvl7pPr marL="2743435" algn="l" defTabSz="914478" rtl="0" eaLnBrk="1" latinLnBrk="0" hangingPunct="1">
              <a:defRPr sz="1800" kern="1200">
                <a:solidFill>
                  <a:schemeClr val="lt1"/>
                </a:solidFill>
                <a:latin typeface="+mn-lt"/>
                <a:ea typeface="+mn-ea"/>
                <a:cs typeface="+mn-cs"/>
              </a:defRPr>
            </a:lvl7pPr>
            <a:lvl8pPr marL="3200675" algn="l" defTabSz="914478" rtl="0" eaLnBrk="1" latinLnBrk="0" hangingPunct="1">
              <a:defRPr sz="1800" kern="1200">
                <a:solidFill>
                  <a:schemeClr val="lt1"/>
                </a:solidFill>
                <a:latin typeface="+mn-lt"/>
                <a:ea typeface="+mn-ea"/>
                <a:cs typeface="+mn-cs"/>
              </a:defRPr>
            </a:lvl8pPr>
            <a:lvl9pPr marL="3657913" algn="l" defTabSz="914478" rtl="0" eaLnBrk="1" latinLnBrk="0" hangingPunct="1">
              <a:defRPr sz="1800" kern="1200">
                <a:solidFill>
                  <a:schemeClr val="lt1"/>
                </a:solidFill>
                <a:latin typeface="+mn-lt"/>
                <a:ea typeface="+mn-ea"/>
                <a:cs typeface="+mn-cs"/>
              </a:defRPr>
            </a:lvl9pPr>
          </a:lstStyle>
          <a:p>
            <a:pPr algn="ctr"/>
            <a:r>
              <a:rPr lang="zh-CN" altLang="en-US" sz="1400" smtClean="0">
                <a:solidFill>
                  <a:schemeClr val="bg1">
                    <a:lumMod val="50000"/>
                  </a:schemeClr>
                </a:solidFill>
              </a:rPr>
              <a:t>网络服务</a:t>
            </a:r>
            <a:endParaRPr lang="en-US" altLang="zh-CN" sz="1400" smtClean="0">
              <a:solidFill>
                <a:schemeClr val="bg1">
                  <a:lumMod val="50000"/>
                </a:schemeClr>
              </a:solidFill>
            </a:endParaRPr>
          </a:p>
          <a:p>
            <a:pPr algn="ctr"/>
            <a:r>
              <a:rPr lang="zh-CN" altLang="en-US" sz="1400" smtClean="0">
                <a:solidFill>
                  <a:schemeClr val="bg1">
                    <a:lumMod val="50000"/>
                  </a:schemeClr>
                </a:solidFill>
              </a:rPr>
              <a:t>资源</a:t>
            </a:r>
            <a:endParaRPr lang="en-US" sz="1400">
              <a:solidFill>
                <a:schemeClr val="bg1">
                  <a:lumMod val="50000"/>
                </a:schemeClr>
              </a:solidFill>
            </a:endParaRPr>
          </a:p>
        </p:txBody>
      </p:sp>
      <p:cxnSp>
        <p:nvCxnSpPr>
          <p:cNvPr id="61" name="Straight Connector 166"/>
          <p:cNvCxnSpPr>
            <a:stCxn id="88" idx="2"/>
            <a:endCxn id="96" idx="0"/>
          </p:cNvCxnSpPr>
          <p:nvPr/>
        </p:nvCxnSpPr>
        <p:spPr bwMode="gray">
          <a:xfrm>
            <a:off x="1553611" y="3878115"/>
            <a:ext cx="0" cy="40327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7" name="Straight Connector 166"/>
          <p:cNvCxnSpPr>
            <a:stCxn id="89" idx="2"/>
            <a:endCxn id="97" idx="0"/>
          </p:cNvCxnSpPr>
          <p:nvPr/>
        </p:nvCxnSpPr>
        <p:spPr bwMode="gray">
          <a:xfrm>
            <a:off x="3484412" y="3878115"/>
            <a:ext cx="0" cy="40327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1" name="Straight Connector 167"/>
          <p:cNvCxnSpPr/>
          <p:nvPr/>
        </p:nvCxnSpPr>
        <p:spPr bwMode="gray">
          <a:xfrm flipH="1">
            <a:off x="1554321" y="2818883"/>
            <a:ext cx="971589" cy="876201"/>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83" name="Straight Connector 167"/>
          <p:cNvCxnSpPr/>
          <p:nvPr/>
        </p:nvCxnSpPr>
        <p:spPr bwMode="gray">
          <a:xfrm flipH="1" flipV="1">
            <a:off x="2522531" y="2816406"/>
            <a:ext cx="975076" cy="883934"/>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sp>
        <p:nvSpPr>
          <p:cNvPr id="85" name="文本框 89"/>
          <p:cNvSpPr txBox="1"/>
          <p:nvPr/>
        </p:nvSpPr>
        <p:spPr bwMode="gray">
          <a:xfrm>
            <a:off x="2710185" y="2685974"/>
            <a:ext cx="676788" cy="276999"/>
          </a:xfrm>
          <a:prstGeom prst="rect">
            <a:avLst/>
          </a:prstGeom>
          <a:noFill/>
        </p:spPr>
        <p:txBody>
          <a:bodyPr wrap="none" rtlCol="0">
            <a:spAutoFit/>
          </a:bodyPr>
          <a:ls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a:lstStyle>
          <a:p>
            <a:pPr algn="ctr"/>
            <a:r>
              <a:rPr lang="en-US" altLang="zh-CN" sz="1200" b="1" dirty="0" smtClean="0">
                <a:latin typeface="Huawei Sans" panose="020C0503030203020204" pitchFamily="34" charset="0"/>
                <a:ea typeface="方正兰亭黑简体" panose="02000000000000000000" pitchFamily="2" charset="-122"/>
                <a:cs typeface="Huawei Sans" panose="020C0503030203020204" pitchFamily="34" charset="0"/>
              </a:rPr>
              <a:t>Border</a:t>
            </a:r>
            <a:endParaRPr lang="zh-CN" altLang="en-US" sz="1200" b="1"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86" name="文本框 90"/>
          <p:cNvSpPr txBox="1"/>
          <p:nvPr/>
        </p:nvSpPr>
        <p:spPr bwMode="gray">
          <a:xfrm>
            <a:off x="699883" y="3545342"/>
            <a:ext cx="702436" cy="276999"/>
          </a:xfrm>
          <a:prstGeom prst="rect">
            <a:avLst/>
          </a:prstGeom>
          <a:noFill/>
        </p:spPr>
        <p:txBody>
          <a:bodyPr wrap="none" rtlCol="0">
            <a:spAutoFit/>
          </a:bodyPr>
          <a:ls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a:lstStyle>
          <a:p>
            <a:pPr algn="r"/>
            <a:r>
              <a:rPr lang="en-US" altLang="zh-CN" sz="1200" b="1" dirty="0" smtClean="0">
                <a:latin typeface="Huawei Sans" panose="020C0503030203020204" pitchFamily="34" charset="0"/>
                <a:ea typeface="方正兰亭黑简体" panose="02000000000000000000" pitchFamily="2" charset="-122"/>
                <a:cs typeface="Huawei Sans" panose="020C0503030203020204" pitchFamily="34" charset="0"/>
              </a:rPr>
              <a:t>Edge_1</a:t>
            </a:r>
            <a:endParaRPr lang="zh-CN" altLang="en-US" sz="1200" b="1"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87" name="文本框 91"/>
          <p:cNvSpPr txBox="1"/>
          <p:nvPr/>
        </p:nvSpPr>
        <p:spPr bwMode="gray">
          <a:xfrm>
            <a:off x="770416" y="4325462"/>
            <a:ext cx="631903" cy="276999"/>
          </a:xfrm>
          <a:prstGeom prst="rect">
            <a:avLst/>
          </a:prstGeom>
          <a:noFill/>
        </p:spPr>
        <p:txBody>
          <a:bodyPr wrap="none" rtlCol="0">
            <a:spAutoFit/>
          </a:bodyPr>
          <a:ls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a:lstStyle>
          <a:p>
            <a:pPr algn="r"/>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ACC_1</a:t>
            </a:r>
          </a:p>
        </p:txBody>
      </p:sp>
      <p:pic>
        <p:nvPicPr>
          <p:cNvPr id="88" name="图片 87" descr="汇聚交换机.png"/>
          <p:cNvPicPr>
            <a:picLocks noChangeAspect="1"/>
          </p:cNvPicPr>
          <p:nvPr/>
        </p:nvPicPr>
        <p:blipFill>
          <a:blip r:embed="rId3" cstate="print"/>
          <a:stretch>
            <a:fillRect/>
          </a:stretch>
        </p:blipFill>
        <p:spPr bwMode="gray">
          <a:xfrm>
            <a:off x="1330470" y="3512976"/>
            <a:ext cx="446281" cy="365139"/>
          </a:xfrm>
          <a:prstGeom prst="rect">
            <a:avLst/>
          </a:prstGeom>
        </p:spPr>
      </p:pic>
      <p:pic>
        <p:nvPicPr>
          <p:cNvPr id="89" name="图片 88" descr="汇聚交换机.png"/>
          <p:cNvPicPr>
            <a:picLocks noChangeAspect="1"/>
          </p:cNvPicPr>
          <p:nvPr/>
        </p:nvPicPr>
        <p:blipFill>
          <a:blip r:embed="rId3" cstate="print"/>
          <a:stretch>
            <a:fillRect/>
          </a:stretch>
        </p:blipFill>
        <p:spPr bwMode="gray">
          <a:xfrm>
            <a:off x="3261271" y="3512976"/>
            <a:ext cx="446281" cy="365139"/>
          </a:xfrm>
          <a:prstGeom prst="rect">
            <a:avLst/>
          </a:prstGeom>
        </p:spPr>
      </p:pic>
      <p:sp>
        <p:nvSpPr>
          <p:cNvPr id="90" name="文本框 94"/>
          <p:cNvSpPr txBox="1"/>
          <p:nvPr/>
        </p:nvSpPr>
        <p:spPr bwMode="gray">
          <a:xfrm>
            <a:off x="2691418" y="4325462"/>
            <a:ext cx="631904" cy="276999"/>
          </a:xfrm>
          <a:prstGeom prst="rect">
            <a:avLst/>
          </a:prstGeom>
          <a:noFill/>
        </p:spPr>
        <p:txBody>
          <a:bodyPr wrap="none" rtlCol="0">
            <a:spAutoFit/>
          </a:bodyPr>
          <a:ls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a:lstStyle>
          <a:p>
            <a:pPr algn="r"/>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ACC_2</a:t>
            </a:r>
          </a:p>
        </p:txBody>
      </p:sp>
      <p:cxnSp>
        <p:nvCxnSpPr>
          <p:cNvPr id="92" name="直接连接符 91"/>
          <p:cNvCxnSpPr/>
          <p:nvPr/>
        </p:nvCxnSpPr>
        <p:spPr bwMode="gray">
          <a:xfrm>
            <a:off x="1809570" y="2026520"/>
            <a:ext cx="495259" cy="621078"/>
          </a:xfrm>
          <a:prstGeom prst="line">
            <a:avLst/>
          </a:prstGeom>
          <a:ln>
            <a:solidFill>
              <a:srgbClr val="ED6D0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93" name="直接连接符 92"/>
          <p:cNvCxnSpPr/>
          <p:nvPr/>
        </p:nvCxnSpPr>
        <p:spPr bwMode="gray">
          <a:xfrm flipH="1">
            <a:off x="2777166" y="2036133"/>
            <a:ext cx="464971" cy="611465"/>
          </a:xfrm>
          <a:prstGeom prst="line">
            <a:avLst/>
          </a:prstGeom>
          <a:ln>
            <a:solidFill>
              <a:schemeClr val="bg1">
                <a:lumMod val="6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94" name="文本框 106"/>
          <p:cNvSpPr txBox="1"/>
          <p:nvPr/>
        </p:nvSpPr>
        <p:spPr bwMode="gray">
          <a:xfrm>
            <a:off x="3660886" y="3545342"/>
            <a:ext cx="702436" cy="276999"/>
          </a:xfrm>
          <a:prstGeom prst="rect">
            <a:avLst/>
          </a:prstGeom>
          <a:noFill/>
        </p:spPr>
        <p:txBody>
          <a:bodyPr wrap="none" rtlCol="0">
            <a:spAutoFit/>
          </a:bodyPr>
          <a:ls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a:lstStyle>
          <a:p>
            <a:r>
              <a:rPr lang="en-US" altLang="zh-CN" sz="1200" b="1" dirty="0" smtClean="0">
                <a:latin typeface="Huawei Sans" panose="020C0503030203020204" pitchFamily="34" charset="0"/>
                <a:ea typeface="方正兰亭黑简体" panose="02000000000000000000" pitchFamily="2" charset="-122"/>
                <a:cs typeface="Huawei Sans" panose="020C0503030203020204" pitchFamily="34" charset="0"/>
              </a:rPr>
              <a:t>Edge_2</a:t>
            </a:r>
            <a:endParaRPr lang="zh-CN" altLang="en-US" sz="1200" b="1"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95" name="文本框 107"/>
          <p:cNvSpPr txBox="1"/>
          <p:nvPr/>
        </p:nvSpPr>
        <p:spPr bwMode="gray">
          <a:xfrm>
            <a:off x="733297" y="2224506"/>
            <a:ext cx="468398" cy="307777"/>
          </a:xfrm>
          <a:prstGeom prst="rect">
            <a:avLst/>
          </a:prstGeom>
          <a:noFill/>
        </p:spPr>
        <p:txBody>
          <a:bodyPr wrap="none" rtlCol="0">
            <a:spAutoFit/>
          </a:bodyPr>
          <a:ls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a:lstStyle>
          <a:p>
            <a:r>
              <a:rPr lang="en-US" altLang="zh-CN" sz="1400" b="1" dirty="0" smtClean="0">
                <a:latin typeface="Huawei Sans" panose="020C0503030203020204" pitchFamily="34" charset="0"/>
                <a:ea typeface="方正兰亭黑简体" panose="02000000000000000000" pitchFamily="2" charset="-122"/>
                <a:cs typeface="Huawei Sans" panose="020C0503030203020204" pitchFamily="34" charset="0"/>
              </a:rPr>
              <a:t>HQ</a:t>
            </a:r>
            <a:endParaRPr lang="zh-CN" altLang="en-US" sz="1400" b="1" dirty="0">
              <a:latin typeface="Huawei Sans" panose="020C0503030203020204" pitchFamily="34" charset="0"/>
              <a:ea typeface="方正兰亭黑简体" panose="02000000000000000000" pitchFamily="2" charset="-122"/>
              <a:cs typeface="Huawei Sans" panose="020C0503030203020204" pitchFamily="34" charset="0"/>
            </a:endParaRPr>
          </a:p>
        </p:txBody>
      </p:sp>
      <p:pic>
        <p:nvPicPr>
          <p:cNvPr id="96" name="图片 95" descr="接入交换机.png"/>
          <p:cNvPicPr>
            <a:picLocks noChangeAspect="1"/>
          </p:cNvPicPr>
          <p:nvPr/>
        </p:nvPicPr>
        <p:blipFill>
          <a:blip r:embed="rId4" cstate="print"/>
          <a:stretch>
            <a:fillRect/>
          </a:stretch>
        </p:blipFill>
        <p:spPr bwMode="gray">
          <a:xfrm>
            <a:off x="1330470" y="4281392"/>
            <a:ext cx="446281" cy="365139"/>
          </a:xfrm>
          <a:prstGeom prst="rect">
            <a:avLst/>
          </a:prstGeom>
        </p:spPr>
      </p:pic>
      <p:pic>
        <p:nvPicPr>
          <p:cNvPr id="97" name="图片 96" descr="接入交换机.png"/>
          <p:cNvPicPr>
            <a:picLocks noChangeAspect="1"/>
          </p:cNvPicPr>
          <p:nvPr/>
        </p:nvPicPr>
        <p:blipFill>
          <a:blip r:embed="rId4" cstate="print"/>
          <a:stretch>
            <a:fillRect/>
          </a:stretch>
        </p:blipFill>
        <p:spPr bwMode="gray">
          <a:xfrm>
            <a:off x="3261271" y="4281392"/>
            <a:ext cx="446281" cy="365139"/>
          </a:xfrm>
          <a:prstGeom prst="rect">
            <a:avLst/>
          </a:prstGeom>
        </p:spPr>
      </p:pic>
      <p:pic>
        <p:nvPicPr>
          <p:cNvPr id="98" name="图片 97" descr="核心交换机.png"/>
          <p:cNvPicPr>
            <a:picLocks noChangeAspect="1"/>
          </p:cNvPicPr>
          <p:nvPr/>
        </p:nvPicPr>
        <p:blipFill>
          <a:blip r:embed="rId5" cstate="print"/>
          <a:stretch>
            <a:fillRect/>
          </a:stretch>
        </p:blipFill>
        <p:spPr bwMode="gray">
          <a:xfrm>
            <a:off x="2310163" y="2636314"/>
            <a:ext cx="446281" cy="365139"/>
          </a:xfrm>
          <a:prstGeom prst="rect">
            <a:avLst/>
          </a:prstGeom>
        </p:spPr>
      </p:pic>
      <p:pic>
        <p:nvPicPr>
          <p:cNvPr id="99" name="图片 98"/>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bwMode="gray">
          <a:xfrm>
            <a:off x="3685721" y="2401713"/>
            <a:ext cx="865097" cy="491769"/>
          </a:xfrm>
          <a:prstGeom prst="rect">
            <a:avLst/>
          </a:prstGeom>
        </p:spPr>
      </p:pic>
      <p:pic>
        <p:nvPicPr>
          <p:cNvPr id="100" name="图片 99" descr="AP.png"/>
          <p:cNvPicPr>
            <a:picLocks noChangeAspect="1"/>
          </p:cNvPicPr>
          <p:nvPr/>
        </p:nvPicPr>
        <p:blipFill>
          <a:blip r:embed="rId7" cstate="print"/>
          <a:stretch>
            <a:fillRect/>
          </a:stretch>
        </p:blipFill>
        <p:spPr bwMode="gray">
          <a:xfrm>
            <a:off x="3941003" y="4313077"/>
            <a:ext cx="368827" cy="301768"/>
          </a:xfrm>
          <a:prstGeom prst="rect">
            <a:avLst/>
          </a:prstGeom>
        </p:spPr>
      </p:pic>
      <p:cxnSp>
        <p:nvCxnSpPr>
          <p:cNvPr id="101" name="Straight Connector 166"/>
          <p:cNvCxnSpPr>
            <a:stCxn id="97" idx="3"/>
            <a:endCxn id="100" idx="1"/>
          </p:cNvCxnSpPr>
          <p:nvPr/>
        </p:nvCxnSpPr>
        <p:spPr bwMode="gray">
          <a:xfrm flipV="1">
            <a:off x="3707552" y="4463961"/>
            <a:ext cx="233451" cy="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02" name="文本框 101"/>
          <p:cNvSpPr txBox="1"/>
          <p:nvPr/>
        </p:nvSpPr>
        <p:spPr bwMode="gray">
          <a:xfrm>
            <a:off x="4267173" y="4315959"/>
            <a:ext cx="460382" cy="276999"/>
          </a:xfrm>
          <a:prstGeom prst="rect">
            <a:avLst/>
          </a:prstGeom>
          <a:noFill/>
        </p:spPr>
        <p:txBody>
          <a:bodyPr wrap="none" rtlCol="0">
            <a:spAutoFit/>
          </a:bodyPr>
          <a:lstStyle/>
          <a:p>
            <a:pPr algn="r"/>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AP1</a:t>
            </a:r>
            <a:endParaRPr lang="zh-CN" altLang="en-US" sz="1200" b="1"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103" name="文本框 33"/>
          <p:cNvSpPr txBox="1"/>
          <p:nvPr/>
        </p:nvSpPr>
        <p:spPr bwMode="gray">
          <a:xfrm>
            <a:off x="845812" y="2550508"/>
            <a:ext cx="973343" cy="830997"/>
          </a:xfrm>
          <a:prstGeom prst="rect">
            <a:avLst/>
          </a:prstGeom>
          <a:noFill/>
        </p:spPr>
        <p:txBody>
          <a:bodyPr wrap="none" rtlCol="0">
            <a:spAutoFit/>
          </a:bodyPr>
          <a:ls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a:lstStyle>
          <a:p>
            <a:pPr marL="171450" indent="-171450">
              <a:buFont typeface="Arial" panose="020B0604020202020204" pitchFamily="34" charset="0"/>
              <a:buChar char="•"/>
            </a:pPr>
            <a:r>
              <a:rPr lang="zh-CN" altLang="en-US" sz="1200" dirty="0" smtClean="0">
                <a:solidFill>
                  <a:srgbClr val="ED6D00"/>
                </a:solidFill>
                <a:latin typeface="Huawei Sans" panose="020C0503030203020204" pitchFamily="34" charset="0"/>
                <a:ea typeface="方正兰亭细黑简体" panose="02000000000000000000" pitchFamily="2" charset="-122"/>
                <a:sym typeface="Huawei Sans" panose="020C0503030203020204" pitchFamily="34" charset="0"/>
              </a:rPr>
              <a:t>外部路由</a:t>
            </a:r>
            <a:endParaRPr lang="en-US" altLang="zh-CN" sz="1200" dirty="0" smtClean="0">
              <a:solidFill>
                <a:srgbClr val="ED6D00"/>
              </a:solidFill>
              <a:latin typeface="Huawei Sans" panose="020C0503030203020204" pitchFamily="34" charset="0"/>
              <a:ea typeface="方正兰亭细黑简体" panose="02000000000000000000" pitchFamily="2" charset="-122"/>
              <a:sym typeface="Huawei Sans" panose="020C0503030203020204" pitchFamily="34" charset="0"/>
            </a:endParaRPr>
          </a:p>
          <a:p>
            <a:pPr marL="171450" indent="-171450">
              <a:buFont typeface="Arial" panose="020B0604020202020204" pitchFamily="34" charset="0"/>
              <a:buChar char="•"/>
            </a:pPr>
            <a:r>
              <a:rPr lang="zh-CN" altLang="en-US" sz="1200" dirty="0" smtClean="0">
                <a:solidFill>
                  <a:srgbClr val="ED6D00"/>
                </a:solidFill>
                <a:latin typeface="Huawei Sans" panose="020C0503030203020204" pitchFamily="34" charset="0"/>
                <a:ea typeface="方正兰亭细黑简体" panose="02000000000000000000" pitchFamily="2" charset="-122"/>
                <a:sym typeface="Huawei Sans" panose="020C0503030203020204" pitchFamily="34" charset="0"/>
              </a:rPr>
              <a:t>端口</a:t>
            </a:r>
            <a:endParaRPr lang="en-US" altLang="zh-CN" sz="1200" dirty="0" smtClean="0">
              <a:solidFill>
                <a:srgbClr val="ED6D00"/>
              </a:solidFill>
              <a:latin typeface="Huawei Sans" panose="020C0503030203020204" pitchFamily="34" charset="0"/>
              <a:ea typeface="方正兰亭细黑简体" panose="02000000000000000000" pitchFamily="2" charset="-122"/>
              <a:sym typeface="Huawei Sans" panose="020C0503030203020204" pitchFamily="34" charset="0"/>
            </a:endParaRPr>
          </a:p>
          <a:p>
            <a:pPr marL="171450" indent="-171450">
              <a:buFont typeface="Arial" panose="020B0604020202020204" pitchFamily="34" charset="0"/>
              <a:buChar char="•"/>
            </a:pPr>
            <a:r>
              <a:rPr lang="zh-CN" altLang="en-US" sz="1200" dirty="0" smtClean="0">
                <a:solidFill>
                  <a:srgbClr val="ED6D00"/>
                </a:solidFill>
                <a:latin typeface="Huawei Sans" panose="020C0503030203020204" pitchFamily="34" charset="0"/>
                <a:ea typeface="方正兰亭细黑简体" panose="02000000000000000000" pitchFamily="2" charset="-122"/>
                <a:sym typeface="Huawei Sans" panose="020C0503030203020204" pitchFamily="34" charset="0"/>
              </a:rPr>
              <a:t>本端</a:t>
            </a:r>
            <a:r>
              <a:rPr lang="en-US" altLang="zh-CN" sz="1200" dirty="0" smtClean="0">
                <a:solidFill>
                  <a:srgbClr val="ED6D00"/>
                </a:solidFill>
                <a:latin typeface="Huawei Sans" panose="020C0503030203020204" pitchFamily="34" charset="0"/>
                <a:ea typeface="方正兰亭细黑简体" panose="02000000000000000000" pitchFamily="2" charset="-122"/>
                <a:sym typeface="Huawei Sans" panose="020C0503030203020204" pitchFamily="34" charset="0"/>
              </a:rPr>
              <a:t>IP</a:t>
            </a:r>
          </a:p>
          <a:p>
            <a:pPr marL="171450" indent="-171450">
              <a:buFont typeface="Arial" panose="020B0604020202020204" pitchFamily="34" charset="0"/>
              <a:buChar char="•"/>
            </a:pPr>
            <a:r>
              <a:rPr lang="en-US" altLang="zh-CN" sz="1200" dirty="0" smtClean="0">
                <a:solidFill>
                  <a:srgbClr val="ED6D00"/>
                </a:solidFill>
                <a:latin typeface="Huawei Sans" panose="020C0503030203020204" pitchFamily="34" charset="0"/>
                <a:ea typeface="方正兰亭细黑简体" panose="02000000000000000000" pitchFamily="2" charset="-122"/>
                <a:sym typeface="Huawei Sans" panose="020C0503030203020204" pitchFamily="34" charset="0"/>
              </a:rPr>
              <a:t>VLAN</a:t>
            </a:r>
          </a:p>
        </p:txBody>
      </p:sp>
      <p:sp>
        <p:nvSpPr>
          <p:cNvPr id="104" name="文本框 34"/>
          <p:cNvSpPr txBox="1"/>
          <p:nvPr/>
        </p:nvSpPr>
        <p:spPr bwMode="gray">
          <a:xfrm>
            <a:off x="1206053" y="2015345"/>
            <a:ext cx="623890" cy="276999"/>
          </a:xfrm>
          <a:prstGeom prst="rect">
            <a:avLst/>
          </a:prstGeom>
          <a:noFill/>
        </p:spPr>
        <p:txBody>
          <a:bodyPr wrap="none" rtlCol="0">
            <a:spAutoFit/>
          </a:bodyPr>
          <a:ls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a:lstStyle>
          <a:p>
            <a:pPr algn="ctr"/>
            <a:r>
              <a:rPr lang="zh-CN" altLang="en-US" sz="1200" smtClean="0">
                <a:solidFill>
                  <a:srgbClr val="ED6D00"/>
                </a:solidFill>
                <a:latin typeface="Huawei Sans" panose="020C0503030203020204" pitchFamily="34" charset="0"/>
                <a:ea typeface="方正兰亭细黑简体" panose="02000000000000000000" pitchFamily="2" charset="-122"/>
                <a:sym typeface="Huawei Sans" panose="020C0503030203020204" pitchFamily="34" charset="0"/>
              </a:rPr>
              <a:t>对端</a:t>
            </a:r>
            <a:r>
              <a:rPr lang="en-US" altLang="zh-CN" sz="1200" smtClean="0">
                <a:solidFill>
                  <a:srgbClr val="ED6D00"/>
                </a:solidFill>
                <a:latin typeface="Huawei Sans" panose="020C0503030203020204" pitchFamily="34" charset="0"/>
                <a:ea typeface="方正兰亭细黑简体" panose="02000000000000000000" pitchFamily="2" charset="-122"/>
                <a:sym typeface="Huawei Sans" panose="020C0503030203020204" pitchFamily="34" charset="0"/>
              </a:rPr>
              <a:t>IP</a:t>
            </a:r>
          </a:p>
        </p:txBody>
      </p:sp>
      <p:sp>
        <p:nvSpPr>
          <p:cNvPr id="105" name="下箭头 63"/>
          <p:cNvSpPr/>
          <p:nvPr/>
        </p:nvSpPr>
        <p:spPr bwMode="gray">
          <a:xfrm rot="4503791" flipV="1">
            <a:off x="1779073" y="2558072"/>
            <a:ext cx="524148" cy="488660"/>
          </a:xfrm>
          <a:custGeom>
            <a:avLst/>
            <a:gdLst>
              <a:gd name="connsiteX0" fmla="*/ 0 w 1035535"/>
              <a:gd name="connsiteY0" fmla="*/ 468495 h 794114"/>
              <a:gd name="connsiteX1" fmla="*/ 258884 w 1035535"/>
              <a:gd name="connsiteY1" fmla="*/ 468495 h 794114"/>
              <a:gd name="connsiteX2" fmla="*/ 258884 w 1035535"/>
              <a:gd name="connsiteY2" fmla="*/ 0 h 794114"/>
              <a:gd name="connsiteX3" fmla="*/ 776651 w 1035535"/>
              <a:gd name="connsiteY3" fmla="*/ 0 h 794114"/>
              <a:gd name="connsiteX4" fmla="*/ 776651 w 1035535"/>
              <a:gd name="connsiteY4" fmla="*/ 468495 h 794114"/>
              <a:gd name="connsiteX5" fmla="*/ 1035535 w 1035535"/>
              <a:gd name="connsiteY5" fmla="*/ 468495 h 794114"/>
              <a:gd name="connsiteX6" fmla="*/ 517768 w 1035535"/>
              <a:gd name="connsiteY6" fmla="*/ 794114 h 794114"/>
              <a:gd name="connsiteX7" fmla="*/ 0 w 1035535"/>
              <a:gd name="connsiteY7" fmla="*/ 468495 h 794114"/>
              <a:gd name="connsiteX0" fmla="*/ 258884 w 1035535"/>
              <a:gd name="connsiteY0" fmla="*/ 0 h 794114"/>
              <a:gd name="connsiteX1" fmla="*/ 776651 w 1035535"/>
              <a:gd name="connsiteY1" fmla="*/ 0 h 794114"/>
              <a:gd name="connsiteX2" fmla="*/ 776651 w 1035535"/>
              <a:gd name="connsiteY2" fmla="*/ 468495 h 794114"/>
              <a:gd name="connsiteX3" fmla="*/ 1035535 w 1035535"/>
              <a:gd name="connsiteY3" fmla="*/ 468495 h 794114"/>
              <a:gd name="connsiteX4" fmla="*/ 517768 w 1035535"/>
              <a:gd name="connsiteY4" fmla="*/ 794114 h 794114"/>
              <a:gd name="connsiteX5" fmla="*/ 0 w 1035535"/>
              <a:gd name="connsiteY5" fmla="*/ 468495 h 794114"/>
              <a:gd name="connsiteX6" fmla="*/ 258884 w 1035535"/>
              <a:gd name="connsiteY6" fmla="*/ 468495 h 794114"/>
              <a:gd name="connsiteX7" fmla="*/ 350324 w 1035535"/>
              <a:gd name="connsiteY7" fmla="*/ 91440 h 794114"/>
              <a:gd name="connsiteX0" fmla="*/ 258884 w 1035535"/>
              <a:gd name="connsiteY0" fmla="*/ 0 h 794114"/>
              <a:gd name="connsiteX1" fmla="*/ 776651 w 1035535"/>
              <a:gd name="connsiteY1" fmla="*/ 468495 h 794114"/>
              <a:gd name="connsiteX2" fmla="*/ 1035535 w 1035535"/>
              <a:gd name="connsiteY2" fmla="*/ 468495 h 794114"/>
              <a:gd name="connsiteX3" fmla="*/ 517768 w 1035535"/>
              <a:gd name="connsiteY3" fmla="*/ 794114 h 794114"/>
              <a:gd name="connsiteX4" fmla="*/ 0 w 1035535"/>
              <a:gd name="connsiteY4" fmla="*/ 468495 h 794114"/>
              <a:gd name="connsiteX5" fmla="*/ 258884 w 1035535"/>
              <a:gd name="connsiteY5" fmla="*/ 468495 h 794114"/>
              <a:gd name="connsiteX6" fmla="*/ 350324 w 1035535"/>
              <a:gd name="connsiteY6" fmla="*/ 91440 h 794114"/>
              <a:gd name="connsiteX0" fmla="*/ 1016121 w 1035535"/>
              <a:gd name="connsiteY0" fmla="*/ 0 h 794114"/>
              <a:gd name="connsiteX1" fmla="*/ 776651 w 1035535"/>
              <a:gd name="connsiteY1" fmla="*/ 468495 h 794114"/>
              <a:gd name="connsiteX2" fmla="*/ 1035535 w 1035535"/>
              <a:gd name="connsiteY2" fmla="*/ 468495 h 794114"/>
              <a:gd name="connsiteX3" fmla="*/ 517768 w 1035535"/>
              <a:gd name="connsiteY3" fmla="*/ 794114 h 794114"/>
              <a:gd name="connsiteX4" fmla="*/ 0 w 1035535"/>
              <a:gd name="connsiteY4" fmla="*/ 468495 h 794114"/>
              <a:gd name="connsiteX5" fmla="*/ 258884 w 1035535"/>
              <a:gd name="connsiteY5" fmla="*/ 468495 h 794114"/>
              <a:gd name="connsiteX6" fmla="*/ 350324 w 1035535"/>
              <a:gd name="connsiteY6" fmla="*/ 91440 h 794114"/>
              <a:gd name="connsiteX0" fmla="*/ 1018222 w 1037636"/>
              <a:gd name="connsiteY0" fmla="*/ 0 h 794114"/>
              <a:gd name="connsiteX1" fmla="*/ 778752 w 1037636"/>
              <a:gd name="connsiteY1" fmla="*/ 468495 h 794114"/>
              <a:gd name="connsiteX2" fmla="*/ 1037636 w 1037636"/>
              <a:gd name="connsiteY2" fmla="*/ 468495 h 794114"/>
              <a:gd name="connsiteX3" fmla="*/ 519869 w 1037636"/>
              <a:gd name="connsiteY3" fmla="*/ 794114 h 794114"/>
              <a:gd name="connsiteX4" fmla="*/ 2101 w 1037636"/>
              <a:gd name="connsiteY4" fmla="*/ 468495 h 794114"/>
              <a:gd name="connsiteX5" fmla="*/ 260985 w 1037636"/>
              <a:gd name="connsiteY5" fmla="*/ 468495 h 794114"/>
              <a:gd name="connsiteX6" fmla="*/ 0 w 1037636"/>
              <a:gd name="connsiteY6" fmla="*/ 86678 h 794114"/>
              <a:gd name="connsiteX0" fmla="*/ 1027747 w 1047161"/>
              <a:gd name="connsiteY0" fmla="*/ 0 h 794114"/>
              <a:gd name="connsiteX1" fmla="*/ 788277 w 1047161"/>
              <a:gd name="connsiteY1" fmla="*/ 468495 h 794114"/>
              <a:gd name="connsiteX2" fmla="*/ 1047161 w 1047161"/>
              <a:gd name="connsiteY2" fmla="*/ 468495 h 794114"/>
              <a:gd name="connsiteX3" fmla="*/ 529394 w 1047161"/>
              <a:gd name="connsiteY3" fmla="*/ 794114 h 794114"/>
              <a:gd name="connsiteX4" fmla="*/ 11626 w 1047161"/>
              <a:gd name="connsiteY4" fmla="*/ 468495 h 794114"/>
              <a:gd name="connsiteX5" fmla="*/ 270510 w 1047161"/>
              <a:gd name="connsiteY5" fmla="*/ 468495 h 794114"/>
              <a:gd name="connsiteX6" fmla="*/ 0 w 1047161"/>
              <a:gd name="connsiteY6" fmla="*/ 10478 h 794114"/>
              <a:gd name="connsiteX0" fmla="*/ 1016121 w 1035535"/>
              <a:gd name="connsiteY0" fmla="*/ 13335 h 807449"/>
              <a:gd name="connsiteX1" fmla="*/ 776651 w 1035535"/>
              <a:gd name="connsiteY1" fmla="*/ 481830 h 807449"/>
              <a:gd name="connsiteX2" fmla="*/ 1035535 w 1035535"/>
              <a:gd name="connsiteY2" fmla="*/ 481830 h 807449"/>
              <a:gd name="connsiteX3" fmla="*/ 517768 w 1035535"/>
              <a:gd name="connsiteY3" fmla="*/ 807449 h 807449"/>
              <a:gd name="connsiteX4" fmla="*/ 0 w 1035535"/>
              <a:gd name="connsiteY4" fmla="*/ 481830 h 807449"/>
              <a:gd name="connsiteX5" fmla="*/ 258884 w 1035535"/>
              <a:gd name="connsiteY5" fmla="*/ 481830 h 807449"/>
              <a:gd name="connsiteX6" fmla="*/ 12187 w 1035535"/>
              <a:gd name="connsiteY6" fmla="*/ 0 h 807449"/>
              <a:gd name="connsiteX0" fmla="*/ 1016121 w 1035535"/>
              <a:gd name="connsiteY0" fmla="*/ 13335 h 807449"/>
              <a:gd name="connsiteX1" fmla="*/ 776651 w 1035535"/>
              <a:gd name="connsiteY1" fmla="*/ 481830 h 807449"/>
              <a:gd name="connsiteX2" fmla="*/ 1035535 w 1035535"/>
              <a:gd name="connsiteY2" fmla="*/ 481830 h 807449"/>
              <a:gd name="connsiteX3" fmla="*/ 517768 w 1035535"/>
              <a:gd name="connsiteY3" fmla="*/ 807449 h 807449"/>
              <a:gd name="connsiteX4" fmla="*/ 0 w 1035535"/>
              <a:gd name="connsiteY4" fmla="*/ 481830 h 807449"/>
              <a:gd name="connsiteX5" fmla="*/ 392234 w 1035535"/>
              <a:gd name="connsiteY5" fmla="*/ 486592 h 807449"/>
              <a:gd name="connsiteX6" fmla="*/ 12187 w 1035535"/>
              <a:gd name="connsiteY6" fmla="*/ 0 h 807449"/>
              <a:gd name="connsiteX0" fmla="*/ 1016121 w 1035535"/>
              <a:gd name="connsiteY0" fmla="*/ 13335 h 807449"/>
              <a:gd name="connsiteX1" fmla="*/ 619488 w 1035535"/>
              <a:gd name="connsiteY1" fmla="*/ 481830 h 807449"/>
              <a:gd name="connsiteX2" fmla="*/ 1035535 w 1035535"/>
              <a:gd name="connsiteY2" fmla="*/ 481830 h 807449"/>
              <a:gd name="connsiteX3" fmla="*/ 517768 w 1035535"/>
              <a:gd name="connsiteY3" fmla="*/ 807449 h 807449"/>
              <a:gd name="connsiteX4" fmla="*/ 0 w 1035535"/>
              <a:gd name="connsiteY4" fmla="*/ 481830 h 807449"/>
              <a:gd name="connsiteX5" fmla="*/ 392234 w 1035535"/>
              <a:gd name="connsiteY5" fmla="*/ 486592 h 807449"/>
              <a:gd name="connsiteX6" fmla="*/ 12187 w 1035535"/>
              <a:gd name="connsiteY6" fmla="*/ 0 h 807449"/>
              <a:gd name="connsiteX0" fmla="*/ 1016121 w 1035535"/>
              <a:gd name="connsiteY0" fmla="*/ 13335 h 807449"/>
              <a:gd name="connsiteX1" fmla="*/ 619488 w 1035535"/>
              <a:gd name="connsiteY1" fmla="*/ 481830 h 807449"/>
              <a:gd name="connsiteX2" fmla="*/ 1035535 w 1035535"/>
              <a:gd name="connsiteY2" fmla="*/ 481830 h 807449"/>
              <a:gd name="connsiteX3" fmla="*/ 517768 w 1035535"/>
              <a:gd name="connsiteY3" fmla="*/ 807449 h 807449"/>
              <a:gd name="connsiteX4" fmla="*/ 0 w 1035535"/>
              <a:gd name="connsiteY4" fmla="*/ 481830 h 807449"/>
              <a:gd name="connsiteX5" fmla="*/ 392234 w 1035535"/>
              <a:gd name="connsiteY5" fmla="*/ 486592 h 807449"/>
              <a:gd name="connsiteX6" fmla="*/ 12187 w 1035535"/>
              <a:gd name="connsiteY6" fmla="*/ 0 h 807449"/>
              <a:gd name="connsiteX0" fmla="*/ 1016121 w 1035535"/>
              <a:gd name="connsiteY0" fmla="*/ 13335 h 807449"/>
              <a:gd name="connsiteX1" fmla="*/ 619488 w 1035535"/>
              <a:gd name="connsiteY1" fmla="*/ 481830 h 807449"/>
              <a:gd name="connsiteX2" fmla="*/ 1035535 w 1035535"/>
              <a:gd name="connsiteY2" fmla="*/ 481830 h 807449"/>
              <a:gd name="connsiteX3" fmla="*/ 517768 w 1035535"/>
              <a:gd name="connsiteY3" fmla="*/ 807449 h 807449"/>
              <a:gd name="connsiteX4" fmla="*/ 0 w 1035535"/>
              <a:gd name="connsiteY4" fmla="*/ 481830 h 807449"/>
              <a:gd name="connsiteX5" fmla="*/ 392234 w 1035535"/>
              <a:gd name="connsiteY5" fmla="*/ 486592 h 807449"/>
              <a:gd name="connsiteX6" fmla="*/ 12187 w 1035535"/>
              <a:gd name="connsiteY6" fmla="*/ 0 h 807449"/>
              <a:gd name="connsiteX0" fmla="*/ 1044696 w 1044696"/>
              <a:gd name="connsiteY0" fmla="*/ 0 h 832214"/>
              <a:gd name="connsiteX1" fmla="*/ 619488 w 1044696"/>
              <a:gd name="connsiteY1" fmla="*/ 506595 h 832214"/>
              <a:gd name="connsiteX2" fmla="*/ 1035535 w 1044696"/>
              <a:gd name="connsiteY2" fmla="*/ 506595 h 832214"/>
              <a:gd name="connsiteX3" fmla="*/ 517768 w 1044696"/>
              <a:gd name="connsiteY3" fmla="*/ 832214 h 832214"/>
              <a:gd name="connsiteX4" fmla="*/ 0 w 1044696"/>
              <a:gd name="connsiteY4" fmla="*/ 506595 h 832214"/>
              <a:gd name="connsiteX5" fmla="*/ 392234 w 1044696"/>
              <a:gd name="connsiteY5" fmla="*/ 511357 h 832214"/>
              <a:gd name="connsiteX6" fmla="*/ 12187 w 1044696"/>
              <a:gd name="connsiteY6" fmla="*/ 24765 h 832214"/>
              <a:gd name="connsiteX0" fmla="*/ 1032509 w 1032509"/>
              <a:gd name="connsiteY0" fmla="*/ 0 h 832214"/>
              <a:gd name="connsiteX1" fmla="*/ 607301 w 1032509"/>
              <a:gd name="connsiteY1" fmla="*/ 506595 h 832214"/>
              <a:gd name="connsiteX2" fmla="*/ 1023348 w 1032509"/>
              <a:gd name="connsiteY2" fmla="*/ 506595 h 832214"/>
              <a:gd name="connsiteX3" fmla="*/ 505581 w 1032509"/>
              <a:gd name="connsiteY3" fmla="*/ 832214 h 832214"/>
              <a:gd name="connsiteX4" fmla="*/ 237844 w 1032509"/>
              <a:gd name="connsiteY4" fmla="*/ 508976 h 832214"/>
              <a:gd name="connsiteX5" fmla="*/ 380047 w 1032509"/>
              <a:gd name="connsiteY5" fmla="*/ 511357 h 832214"/>
              <a:gd name="connsiteX6" fmla="*/ 0 w 1032509"/>
              <a:gd name="connsiteY6" fmla="*/ 24765 h 832214"/>
              <a:gd name="connsiteX0" fmla="*/ 1032509 w 1032509"/>
              <a:gd name="connsiteY0" fmla="*/ 0 h 832214"/>
              <a:gd name="connsiteX1" fmla="*/ 607301 w 1032509"/>
              <a:gd name="connsiteY1" fmla="*/ 506595 h 832214"/>
              <a:gd name="connsiteX2" fmla="*/ 804276 w 1032509"/>
              <a:gd name="connsiteY2" fmla="*/ 513741 h 832214"/>
              <a:gd name="connsiteX3" fmla="*/ 505581 w 1032509"/>
              <a:gd name="connsiteY3" fmla="*/ 832214 h 832214"/>
              <a:gd name="connsiteX4" fmla="*/ 237844 w 1032509"/>
              <a:gd name="connsiteY4" fmla="*/ 508976 h 832214"/>
              <a:gd name="connsiteX5" fmla="*/ 380047 w 1032509"/>
              <a:gd name="connsiteY5" fmla="*/ 511357 h 832214"/>
              <a:gd name="connsiteX6" fmla="*/ 0 w 1032509"/>
              <a:gd name="connsiteY6" fmla="*/ 24765 h 832214"/>
              <a:gd name="connsiteX0" fmla="*/ 1032509 w 1032509"/>
              <a:gd name="connsiteY0" fmla="*/ 0 h 722679"/>
              <a:gd name="connsiteX1" fmla="*/ 607301 w 1032509"/>
              <a:gd name="connsiteY1" fmla="*/ 506595 h 722679"/>
              <a:gd name="connsiteX2" fmla="*/ 804276 w 1032509"/>
              <a:gd name="connsiteY2" fmla="*/ 513741 h 722679"/>
              <a:gd name="connsiteX3" fmla="*/ 507965 w 1032509"/>
              <a:gd name="connsiteY3" fmla="*/ 722679 h 722679"/>
              <a:gd name="connsiteX4" fmla="*/ 237844 w 1032509"/>
              <a:gd name="connsiteY4" fmla="*/ 508976 h 722679"/>
              <a:gd name="connsiteX5" fmla="*/ 380047 w 1032509"/>
              <a:gd name="connsiteY5" fmla="*/ 511357 h 722679"/>
              <a:gd name="connsiteX6" fmla="*/ 0 w 1032509"/>
              <a:gd name="connsiteY6" fmla="*/ 24765 h 722679"/>
              <a:gd name="connsiteX0" fmla="*/ 1032509 w 1032509"/>
              <a:gd name="connsiteY0" fmla="*/ 0 h 722679"/>
              <a:gd name="connsiteX1" fmla="*/ 607301 w 1032509"/>
              <a:gd name="connsiteY1" fmla="*/ 506595 h 722679"/>
              <a:gd name="connsiteX2" fmla="*/ 804276 w 1032509"/>
              <a:gd name="connsiteY2" fmla="*/ 513741 h 722679"/>
              <a:gd name="connsiteX3" fmla="*/ 498440 w 1032509"/>
              <a:gd name="connsiteY3" fmla="*/ 722679 h 722679"/>
              <a:gd name="connsiteX4" fmla="*/ 237844 w 1032509"/>
              <a:gd name="connsiteY4" fmla="*/ 508976 h 722679"/>
              <a:gd name="connsiteX5" fmla="*/ 380047 w 1032509"/>
              <a:gd name="connsiteY5" fmla="*/ 511357 h 722679"/>
              <a:gd name="connsiteX6" fmla="*/ 0 w 1032509"/>
              <a:gd name="connsiteY6" fmla="*/ 24765 h 722679"/>
              <a:gd name="connsiteX0" fmla="*/ 1032509 w 1032509"/>
              <a:gd name="connsiteY0" fmla="*/ 0 h 722679"/>
              <a:gd name="connsiteX1" fmla="*/ 607301 w 1032509"/>
              <a:gd name="connsiteY1" fmla="*/ 506595 h 722679"/>
              <a:gd name="connsiteX2" fmla="*/ 792369 w 1032509"/>
              <a:gd name="connsiteY2" fmla="*/ 515732 h 722679"/>
              <a:gd name="connsiteX3" fmla="*/ 498440 w 1032509"/>
              <a:gd name="connsiteY3" fmla="*/ 722679 h 722679"/>
              <a:gd name="connsiteX4" fmla="*/ 237844 w 1032509"/>
              <a:gd name="connsiteY4" fmla="*/ 508976 h 722679"/>
              <a:gd name="connsiteX5" fmla="*/ 380047 w 1032509"/>
              <a:gd name="connsiteY5" fmla="*/ 511357 h 722679"/>
              <a:gd name="connsiteX6" fmla="*/ 0 w 1032509"/>
              <a:gd name="connsiteY6" fmla="*/ 24765 h 722679"/>
              <a:gd name="connsiteX0" fmla="*/ 1032509 w 1032509"/>
              <a:gd name="connsiteY0" fmla="*/ 0 h 720688"/>
              <a:gd name="connsiteX1" fmla="*/ 607301 w 1032509"/>
              <a:gd name="connsiteY1" fmla="*/ 506595 h 720688"/>
              <a:gd name="connsiteX2" fmla="*/ 792369 w 1032509"/>
              <a:gd name="connsiteY2" fmla="*/ 515732 h 720688"/>
              <a:gd name="connsiteX3" fmla="*/ 503202 w 1032509"/>
              <a:gd name="connsiteY3" fmla="*/ 720688 h 720688"/>
              <a:gd name="connsiteX4" fmla="*/ 237844 w 1032509"/>
              <a:gd name="connsiteY4" fmla="*/ 508976 h 720688"/>
              <a:gd name="connsiteX5" fmla="*/ 380047 w 1032509"/>
              <a:gd name="connsiteY5" fmla="*/ 511357 h 720688"/>
              <a:gd name="connsiteX6" fmla="*/ 0 w 1032509"/>
              <a:gd name="connsiteY6" fmla="*/ 24765 h 720688"/>
              <a:gd name="connsiteX0" fmla="*/ 1044414 w 1044414"/>
              <a:gd name="connsiteY0" fmla="*/ 0 h 720688"/>
              <a:gd name="connsiteX1" fmla="*/ 619206 w 1044414"/>
              <a:gd name="connsiteY1" fmla="*/ 506595 h 720688"/>
              <a:gd name="connsiteX2" fmla="*/ 804274 w 1044414"/>
              <a:gd name="connsiteY2" fmla="*/ 515732 h 720688"/>
              <a:gd name="connsiteX3" fmla="*/ 515107 w 1044414"/>
              <a:gd name="connsiteY3" fmla="*/ 720688 h 720688"/>
              <a:gd name="connsiteX4" fmla="*/ 249749 w 1044414"/>
              <a:gd name="connsiteY4" fmla="*/ 508976 h 720688"/>
              <a:gd name="connsiteX5" fmla="*/ 391952 w 1044414"/>
              <a:gd name="connsiteY5" fmla="*/ 511357 h 720688"/>
              <a:gd name="connsiteX6" fmla="*/ 0 w 1044414"/>
              <a:gd name="connsiteY6" fmla="*/ 4852 h 720688"/>
              <a:gd name="connsiteX0" fmla="*/ 1082514 w 1082514"/>
              <a:gd name="connsiteY0" fmla="*/ 0 h 722679"/>
              <a:gd name="connsiteX1" fmla="*/ 619206 w 1082514"/>
              <a:gd name="connsiteY1" fmla="*/ 508586 h 722679"/>
              <a:gd name="connsiteX2" fmla="*/ 804274 w 1082514"/>
              <a:gd name="connsiteY2" fmla="*/ 517723 h 722679"/>
              <a:gd name="connsiteX3" fmla="*/ 515107 w 1082514"/>
              <a:gd name="connsiteY3" fmla="*/ 722679 h 722679"/>
              <a:gd name="connsiteX4" fmla="*/ 249749 w 1082514"/>
              <a:gd name="connsiteY4" fmla="*/ 510967 h 722679"/>
              <a:gd name="connsiteX5" fmla="*/ 391952 w 1082514"/>
              <a:gd name="connsiteY5" fmla="*/ 513348 h 722679"/>
              <a:gd name="connsiteX6" fmla="*/ 0 w 1082514"/>
              <a:gd name="connsiteY6" fmla="*/ 6843 h 722679"/>
              <a:gd name="connsiteX0" fmla="*/ 1082514 w 1082514"/>
              <a:gd name="connsiteY0" fmla="*/ 0 h 724672"/>
              <a:gd name="connsiteX1" fmla="*/ 619206 w 1082514"/>
              <a:gd name="connsiteY1" fmla="*/ 508586 h 724672"/>
              <a:gd name="connsiteX2" fmla="*/ 804274 w 1082514"/>
              <a:gd name="connsiteY2" fmla="*/ 517723 h 724672"/>
              <a:gd name="connsiteX3" fmla="*/ 534160 w 1082514"/>
              <a:gd name="connsiteY3" fmla="*/ 724672 h 724672"/>
              <a:gd name="connsiteX4" fmla="*/ 249749 w 1082514"/>
              <a:gd name="connsiteY4" fmla="*/ 510967 h 724672"/>
              <a:gd name="connsiteX5" fmla="*/ 391952 w 1082514"/>
              <a:gd name="connsiteY5" fmla="*/ 513348 h 724672"/>
              <a:gd name="connsiteX6" fmla="*/ 0 w 1082514"/>
              <a:gd name="connsiteY6" fmla="*/ 6843 h 724672"/>
              <a:gd name="connsiteX0" fmla="*/ 1082514 w 1082514"/>
              <a:gd name="connsiteY0" fmla="*/ 0 h 724672"/>
              <a:gd name="connsiteX1" fmla="*/ 619206 w 1082514"/>
              <a:gd name="connsiteY1" fmla="*/ 508586 h 724672"/>
              <a:gd name="connsiteX2" fmla="*/ 804274 w 1082514"/>
              <a:gd name="connsiteY2" fmla="*/ 517723 h 724672"/>
              <a:gd name="connsiteX3" fmla="*/ 534160 w 1082514"/>
              <a:gd name="connsiteY3" fmla="*/ 724672 h 724672"/>
              <a:gd name="connsiteX4" fmla="*/ 249749 w 1082514"/>
              <a:gd name="connsiteY4" fmla="*/ 510967 h 724672"/>
              <a:gd name="connsiteX5" fmla="*/ 380046 w 1082514"/>
              <a:gd name="connsiteY5" fmla="*/ 533263 h 724672"/>
              <a:gd name="connsiteX6" fmla="*/ 0 w 1082514"/>
              <a:gd name="connsiteY6" fmla="*/ 6843 h 724672"/>
              <a:gd name="connsiteX0" fmla="*/ 1082514 w 1082514"/>
              <a:gd name="connsiteY0" fmla="*/ 0 h 724672"/>
              <a:gd name="connsiteX1" fmla="*/ 619206 w 1082514"/>
              <a:gd name="connsiteY1" fmla="*/ 508586 h 724672"/>
              <a:gd name="connsiteX2" fmla="*/ 804274 w 1082514"/>
              <a:gd name="connsiteY2" fmla="*/ 517723 h 724672"/>
              <a:gd name="connsiteX3" fmla="*/ 534160 w 1082514"/>
              <a:gd name="connsiteY3" fmla="*/ 724672 h 724672"/>
              <a:gd name="connsiteX4" fmla="*/ 249749 w 1082514"/>
              <a:gd name="connsiteY4" fmla="*/ 510967 h 724672"/>
              <a:gd name="connsiteX5" fmla="*/ 380046 w 1082514"/>
              <a:gd name="connsiteY5" fmla="*/ 533263 h 724672"/>
              <a:gd name="connsiteX6" fmla="*/ 0 w 1082514"/>
              <a:gd name="connsiteY6" fmla="*/ 6843 h 724672"/>
              <a:gd name="connsiteX0" fmla="*/ 1082514 w 1082514"/>
              <a:gd name="connsiteY0" fmla="*/ 0 h 724672"/>
              <a:gd name="connsiteX1" fmla="*/ 619206 w 1082514"/>
              <a:gd name="connsiteY1" fmla="*/ 508586 h 724672"/>
              <a:gd name="connsiteX2" fmla="*/ 804274 w 1082514"/>
              <a:gd name="connsiteY2" fmla="*/ 517723 h 724672"/>
              <a:gd name="connsiteX3" fmla="*/ 534160 w 1082514"/>
              <a:gd name="connsiteY3" fmla="*/ 724672 h 724672"/>
              <a:gd name="connsiteX4" fmla="*/ 249749 w 1082514"/>
              <a:gd name="connsiteY4" fmla="*/ 510967 h 724672"/>
              <a:gd name="connsiteX5" fmla="*/ 380046 w 1082514"/>
              <a:gd name="connsiteY5" fmla="*/ 533263 h 724672"/>
              <a:gd name="connsiteX6" fmla="*/ 0 w 1082514"/>
              <a:gd name="connsiteY6" fmla="*/ 6843 h 724672"/>
              <a:gd name="connsiteX0" fmla="*/ 1082514 w 1082514"/>
              <a:gd name="connsiteY0" fmla="*/ 0 h 724672"/>
              <a:gd name="connsiteX1" fmla="*/ 619206 w 1082514"/>
              <a:gd name="connsiteY1" fmla="*/ 508586 h 724672"/>
              <a:gd name="connsiteX2" fmla="*/ 804274 w 1082514"/>
              <a:gd name="connsiteY2" fmla="*/ 517723 h 724672"/>
              <a:gd name="connsiteX3" fmla="*/ 534160 w 1082514"/>
              <a:gd name="connsiteY3" fmla="*/ 724672 h 724672"/>
              <a:gd name="connsiteX4" fmla="*/ 233080 w 1082514"/>
              <a:gd name="connsiteY4" fmla="*/ 526899 h 724672"/>
              <a:gd name="connsiteX5" fmla="*/ 380046 w 1082514"/>
              <a:gd name="connsiteY5" fmla="*/ 533263 h 724672"/>
              <a:gd name="connsiteX6" fmla="*/ 0 w 1082514"/>
              <a:gd name="connsiteY6" fmla="*/ 6843 h 724672"/>
              <a:gd name="connsiteX0" fmla="*/ 1082514 w 1082514"/>
              <a:gd name="connsiteY0" fmla="*/ 0 h 724672"/>
              <a:gd name="connsiteX1" fmla="*/ 619206 w 1082514"/>
              <a:gd name="connsiteY1" fmla="*/ 508586 h 724672"/>
              <a:gd name="connsiteX2" fmla="*/ 804274 w 1082514"/>
              <a:gd name="connsiteY2" fmla="*/ 517723 h 724672"/>
              <a:gd name="connsiteX3" fmla="*/ 534160 w 1082514"/>
              <a:gd name="connsiteY3" fmla="*/ 724672 h 724672"/>
              <a:gd name="connsiteX4" fmla="*/ 237842 w 1082514"/>
              <a:gd name="connsiteY4" fmla="*/ 532873 h 724672"/>
              <a:gd name="connsiteX5" fmla="*/ 380046 w 1082514"/>
              <a:gd name="connsiteY5" fmla="*/ 533263 h 724672"/>
              <a:gd name="connsiteX6" fmla="*/ 0 w 1082514"/>
              <a:gd name="connsiteY6" fmla="*/ 6843 h 724672"/>
              <a:gd name="connsiteX0" fmla="*/ 1082514 w 1082514"/>
              <a:gd name="connsiteY0" fmla="*/ 0 h 724672"/>
              <a:gd name="connsiteX1" fmla="*/ 690644 w 1082514"/>
              <a:gd name="connsiteY1" fmla="*/ 532484 h 724672"/>
              <a:gd name="connsiteX2" fmla="*/ 804274 w 1082514"/>
              <a:gd name="connsiteY2" fmla="*/ 517723 h 724672"/>
              <a:gd name="connsiteX3" fmla="*/ 534160 w 1082514"/>
              <a:gd name="connsiteY3" fmla="*/ 724672 h 724672"/>
              <a:gd name="connsiteX4" fmla="*/ 237842 w 1082514"/>
              <a:gd name="connsiteY4" fmla="*/ 532873 h 724672"/>
              <a:gd name="connsiteX5" fmla="*/ 380046 w 1082514"/>
              <a:gd name="connsiteY5" fmla="*/ 533263 h 724672"/>
              <a:gd name="connsiteX6" fmla="*/ 0 w 1082514"/>
              <a:gd name="connsiteY6" fmla="*/ 6843 h 724672"/>
              <a:gd name="connsiteX0" fmla="*/ 1082514 w 1082514"/>
              <a:gd name="connsiteY0" fmla="*/ 0 h 724672"/>
              <a:gd name="connsiteX1" fmla="*/ 690644 w 1082514"/>
              <a:gd name="connsiteY1" fmla="*/ 532484 h 724672"/>
              <a:gd name="connsiteX2" fmla="*/ 804274 w 1082514"/>
              <a:gd name="connsiteY2" fmla="*/ 517723 h 724672"/>
              <a:gd name="connsiteX3" fmla="*/ 534160 w 1082514"/>
              <a:gd name="connsiteY3" fmla="*/ 724672 h 724672"/>
              <a:gd name="connsiteX4" fmla="*/ 237842 w 1082514"/>
              <a:gd name="connsiteY4" fmla="*/ 532873 h 724672"/>
              <a:gd name="connsiteX5" fmla="*/ 380046 w 1082514"/>
              <a:gd name="connsiteY5" fmla="*/ 533263 h 724672"/>
              <a:gd name="connsiteX6" fmla="*/ 0 w 1082514"/>
              <a:gd name="connsiteY6" fmla="*/ 6843 h 724672"/>
              <a:gd name="connsiteX0" fmla="*/ 1082514 w 1082514"/>
              <a:gd name="connsiteY0" fmla="*/ 0 h 724672"/>
              <a:gd name="connsiteX1" fmla="*/ 690644 w 1082514"/>
              <a:gd name="connsiteY1" fmla="*/ 532484 h 724672"/>
              <a:gd name="connsiteX2" fmla="*/ 830468 w 1082514"/>
              <a:gd name="connsiteY2" fmla="*/ 531664 h 724672"/>
              <a:gd name="connsiteX3" fmla="*/ 534160 w 1082514"/>
              <a:gd name="connsiteY3" fmla="*/ 724672 h 724672"/>
              <a:gd name="connsiteX4" fmla="*/ 237842 w 1082514"/>
              <a:gd name="connsiteY4" fmla="*/ 532873 h 724672"/>
              <a:gd name="connsiteX5" fmla="*/ 380046 w 1082514"/>
              <a:gd name="connsiteY5" fmla="*/ 533263 h 724672"/>
              <a:gd name="connsiteX6" fmla="*/ 0 w 1082514"/>
              <a:gd name="connsiteY6" fmla="*/ 6843 h 724672"/>
              <a:gd name="connsiteX0" fmla="*/ 1082514 w 1082514"/>
              <a:gd name="connsiteY0" fmla="*/ 0 h 724672"/>
              <a:gd name="connsiteX1" fmla="*/ 690644 w 1082514"/>
              <a:gd name="connsiteY1" fmla="*/ 532484 h 724672"/>
              <a:gd name="connsiteX2" fmla="*/ 830468 w 1082514"/>
              <a:gd name="connsiteY2" fmla="*/ 531664 h 724672"/>
              <a:gd name="connsiteX3" fmla="*/ 534160 w 1082514"/>
              <a:gd name="connsiteY3" fmla="*/ 724672 h 724672"/>
              <a:gd name="connsiteX4" fmla="*/ 237842 w 1082514"/>
              <a:gd name="connsiteY4" fmla="*/ 532873 h 724672"/>
              <a:gd name="connsiteX5" fmla="*/ 434815 w 1082514"/>
              <a:gd name="connsiteY5" fmla="*/ 533263 h 724672"/>
              <a:gd name="connsiteX6" fmla="*/ 0 w 1082514"/>
              <a:gd name="connsiteY6" fmla="*/ 6843 h 724672"/>
              <a:gd name="connsiteX0" fmla="*/ 1082514 w 1082514"/>
              <a:gd name="connsiteY0" fmla="*/ 0 h 724672"/>
              <a:gd name="connsiteX1" fmla="*/ 690644 w 1082514"/>
              <a:gd name="connsiteY1" fmla="*/ 532484 h 724672"/>
              <a:gd name="connsiteX2" fmla="*/ 830468 w 1082514"/>
              <a:gd name="connsiteY2" fmla="*/ 531664 h 724672"/>
              <a:gd name="connsiteX3" fmla="*/ 534160 w 1082514"/>
              <a:gd name="connsiteY3" fmla="*/ 724672 h 724672"/>
              <a:gd name="connsiteX4" fmla="*/ 297373 w 1082514"/>
              <a:gd name="connsiteY4" fmla="*/ 532873 h 724672"/>
              <a:gd name="connsiteX5" fmla="*/ 434815 w 1082514"/>
              <a:gd name="connsiteY5" fmla="*/ 533263 h 724672"/>
              <a:gd name="connsiteX6" fmla="*/ 0 w 1082514"/>
              <a:gd name="connsiteY6" fmla="*/ 6843 h 724672"/>
              <a:gd name="connsiteX0" fmla="*/ 1082514 w 1082514"/>
              <a:gd name="connsiteY0" fmla="*/ 0 h 724672"/>
              <a:gd name="connsiteX1" fmla="*/ 690644 w 1082514"/>
              <a:gd name="connsiteY1" fmla="*/ 532484 h 724672"/>
              <a:gd name="connsiteX2" fmla="*/ 768555 w 1082514"/>
              <a:gd name="connsiteY2" fmla="*/ 531664 h 724672"/>
              <a:gd name="connsiteX3" fmla="*/ 534160 w 1082514"/>
              <a:gd name="connsiteY3" fmla="*/ 724672 h 724672"/>
              <a:gd name="connsiteX4" fmla="*/ 297373 w 1082514"/>
              <a:gd name="connsiteY4" fmla="*/ 532873 h 724672"/>
              <a:gd name="connsiteX5" fmla="*/ 434815 w 1082514"/>
              <a:gd name="connsiteY5" fmla="*/ 533263 h 724672"/>
              <a:gd name="connsiteX6" fmla="*/ 0 w 1082514"/>
              <a:gd name="connsiteY6" fmla="*/ 6843 h 724672"/>
              <a:gd name="connsiteX0" fmla="*/ 1082514 w 1082514"/>
              <a:gd name="connsiteY0" fmla="*/ 0 h 724672"/>
              <a:gd name="connsiteX1" fmla="*/ 638256 w 1082514"/>
              <a:gd name="connsiteY1" fmla="*/ 534476 h 724672"/>
              <a:gd name="connsiteX2" fmla="*/ 768555 w 1082514"/>
              <a:gd name="connsiteY2" fmla="*/ 531664 h 724672"/>
              <a:gd name="connsiteX3" fmla="*/ 534160 w 1082514"/>
              <a:gd name="connsiteY3" fmla="*/ 724672 h 724672"/>
              <a:gd name="connsiteX4" fmla="*/ 297373 w 1082514"/>
              <a:gd name="connsiteY4" fmla="*/ 532873 h 724672"/>
              <a:gd name="connsiteX5" fmla="*/ 434815 w 1082514"/>
              <a:gd name="connsiteY5" fmla="*/ 533263 h 724672"/>
              <a:gd name="connsiteX6" fmla="*/ 0 w 1082514"/>
              <a:gd name="connsiteY6" fmla="*/ 6843 h 7246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82514" h="724672">
                <a:moveTo>
                  <a:pt x="1082514" y="0"/>
                </a:moveTo>
                <a:cubicBezTo>
                  <a:pt x="788378" y="227602"/>
                  <a:pt x="727605" y="349736"/>
                  <a:pt x="638256" y="534476"/>
                </a:cubicBezTo>
                <a:lnTo>
                  <a:pt x="768555" y="531664"/>
                </a:lnTo>
                <a:lnTo>
                  <a:pt x="534160" y="724672"/>
                </a:lnTo>
                <a:lnTo>
                  <a:pt x="297373" y="532873"/>
                </a:lnTo>
                <a:lnTo>
                  <a:pt x="434815" y="533263"/>
                </a:lnTo>
                <a:cubicBezTo>
                  <a:pt x="434815" y="377098"/>
                  <a:pt x="0" y="6843"/>
                  <a:pt x="0" y="6843"/>
                </a:cubicBezTo>
              </a:path>
            </a:pathLst>
          </a:custGeom>
          <a:gradFill flip="none" rotWithShape="1">
            <a:gsLst>
              <a:gs pos="15000">
                <a:srgbClr val="FFF2CC"/>
              </a:gs>
              <a:gs pos="100000">
                <a:sysClr val="window" lastClr="FFFFFF">
                  <a:alpha val="0"/>
                </a:sysClr>
              </a:gs>
            </a:gsLst>
            <a:lin ang="16200000" scaled="1"/>
            <a:tileRect/>
          </a:gradFill>
          <a:ln w="19050" cap="flat" cmpd="sng" algn="ctr">
            <a:gradFill flip="none" rotWithShape="1">
              <a:gsLst>
                <a:gs pos="100000">
                  <a:sysClr val="window" lastClr="FFFFFF">
                    <a:lumMod val="100000"/>
                    <a:alpha val="0"/>
                  </a:sysClr>
                </a:gs>
                <a:gs pos="31000">
                  <a:srgbClr val="FFD17D"/>
                </a:gs>
              </a:gsLst>
              <a:lin ang="16200000" scaled="1"/>
              <a:tileRect/>
            </a:gradFill>
            <a:prstDash val="solid"/>
            <a:miter lim="800000"/>
          </a:ln>
          <a:effectLst/>
        </p:spPr>
        <p:txBody>
          <a:bodyPr rtlCol="0" anchor="ctr"/>
          <a:ls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a:lstStyle>
          <a:p>
            <a:pPr marL="0" marR="0" lvl="0" indent="0" algn="ctr" defTabSz="914478"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endParaRPr>
          </a:p>
        </p:txBody>
      </p:sp>
      <p:pic>
        <p:nvPicPr>
          <p:cNvPr id="2" name="图片 1"/>
          <p:cNvPicPr>
            <a:picLocks noChangeAspect="1"/>
          </p:cNvPicPr>
          <p:nvPr/>
        </p:nvPicPr>
        <p:blipFill>
          <a:blip r:embed="rId8"/>
          <a:stretch>
            <a:fillRect/>
          </a:stretch>
        </p:blipFill>
        <p:spPr bwMode="gray">
          <a:xfrm>
            <a:off x="5063291" y="1309706"/>
            <a:ext cx="6480834" cy="2353000"/>
          </a:xfrm>
          <a:prstGeom prst="rect">
            <a:avLst/>
          </a:prstGeom>
          <a:ln w="12700">
            <a:solidFill>
              <a:schemeClr val="bg1">
                <a:lumMod val="85000"/>
              </a:schemeClr>
            </a:solidFill>
          </a:ln>
        </p:spPr>
      </p:pic>
      <p:pic>
        <p:nvPicPr>
          <p:cNvPr id="6" name="图片 5"/>
          <p:cNvPicPr>
            <a:picLocks noChangeAspect="1"/>
          </p:cNvPicPr>
          <p:nvPr/>
        </p:nvPicPr>
        <p:blipFill>
          <a:blip r:embed="rId9"/>
          <a:stretch>
            <a:fillRect/>
          </a:stretch>
        </p:blipFill>
        <p:spPr bwMode="gray">
          <a:xfrm>
            <a:off x="5058930" y="4079753"/>
            <a:ext cx="6485195" cy="2087422"/>
          </a:xfrm>
          <a:prstGeom prst="rect">
            <a:avLst/>
          </a:prstGeom>
          <a:ln w="12700">
            <a:solidFill>
              <a:schemeClr val="bg1">
                <a:lumMod val="85000"/>
              </a:schemeClr>
            </a:solidFill>
          </a:ln>
        </p:spPr>
      </p:pic>
      <p:sp>
        <p:nvSpPr>
          <p:cNvPr id="42" name="五边形 41"/>
          <p:cNvSpPr/>
          <p:nvPr/>
        </p:nvSpPr>
        <p:spPr bwMode="gray">
          <a:xfrm>
            <a:off x="5773628" y="98481"/>
            <a:ext cx="9000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站点管理</a:t>
            </a:r>
          </a:p>
        </p:txBody>
      </p:sp>
      <p:sp>
        <p:nvSpPr>
          <p:cNvPr id="43" name="燕尾形 42"/>
          <p:cNvSpPr/>
          <p:nvPr/>
        </p:nvSpPr>
        <p:spPr bwMode="gray">
          <a:xfrm>
            <a:off x="9109268" y="9848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逻辑网络</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4" name="燕尾形 43"/>
          <p:cNvSpPr/>
          <p:nvPr/>
        </p:nvSpPr>
        <p:spPr bwMode="gray">
          <a:xfrm>
            <a:off x="9925178" y="9848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业务部署</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5" name="燕尾形 44"/>
          <p:cNvSpPr/>
          <p:nvPr/>
        </p:nvSpPr>
        <p:spPr bwMode="gray">
          <a:xfrm>
            <a:off x="8221358" y="98481"/>
            <a:ext cx="9720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Fabric</a:t>
            </a: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网络</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6" name="燕尾形 45"/>
          <p:cNvSpPr/>
          <p:nvPr/>
        </p:nvSpPr>
        <p:spPr bwMode="gray">
          <a:xfrm>
            <a:off x="7405448" y="9848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网络规划</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7" name="燕尾形 46"/>
          <p:cNvSpPr/>
          <p:nvPr/>
        </p:nvSpPr>
        <p:spPr bwMode="gray">
          <a:xfrm>
            <a:off x="6589538" y="9848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设备管理</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8" name="燕尾形 47"/>
          <p:cNvSpPr/>
          <p:nvPr/>
        </p:nvSpPr>
        <p:spPr bwMode="gray">
          <a:xfrm>
            <a:off x="10741088" y="98481"/>
            <a:ext cx="1008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WLAN</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业务</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44623909"/>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normAutofit/>
          </a:bodyPr>
          <a:lstStyle/>
          <a:p>
            <a:r>
              <a:rPr lang="zh-CN" altLang="en-US" dirty="0" smtClean="0"/>
              <a:t>配置</a:t>
            </a:r>
            <a:r>
              <a:rPr lang="en-US" altLang="zh-CN" dirty="0" smtClean="0"/>
              <a:t>Fabric</a:t>
            </a:r>
            <a:r>
              <a:rPr lang="zh-CN" altLang="en-US" dirty="0" smtClean="0"/>
              <a:t>网络：创建网络服务资源</a:t>
            </a:r>
            <a:endParaRPr lang="zh-CN" altLang="en-US" dirty="0"/>
          </a:p>
        </p:txBody>
      </p:sp>
      <p:sp>
        <p:nvSpPr>
          <p:cNvPr id="3" name="文本占位符 2"/>
          <p:cNvSpPr>
            <a:spLocks noGrp="1"/>
          </p:cNvSpPr>
          <p:nvPr>
            <p:ph type="body" sz="quarter" idx="10"/>
          </p:nvPr>
        </p:nvSpPr>
        <p:spPr bwMode="gray">
          <a:xfrm>
            <a:off x="455612" y="1047751"/>
            <a:ext cx="11293475" cy="2381252"/>
          </a:xfrm>
        </p:spPr>
        <p:txBody>
          <a:bodyPr/>
          <a:lstStyle/>
          <a:p>
            <a:r>
              <a:rPr lang="zh-CN" altLang="en-US" sz="1800" dirty="0" smtClean="0"/>
              <a:t>在</a:t>
            </a:r>
            <a:r>
              <a:rPr lang="en-US" altLang="zh-CN" sz="1800" dirty="0" smtClean="0"/>
              <a:t>Fabric</a:t>
            </a:r>
            <a:r>
              <a:rPr lang="zh-CN" altLang="en-US" sz="1800" dirty="0" smtClean="0"/>
              <a:t>网络的资源模型设计中，通过在</a:t>
            </a:r>
            <a:r>
              <a:rPr lang="en-US" altLang="zh-CN" sz="1800" dirty="0" smtClean="0"/>
              <a:t>Border</a:t>
            </a:r>
            <a:r>
              <a:rPr lang="zh-CN" altLang="en-US" sz="1800" dirty="0" smtClean="0"/>
              <a:t>节点创建网络服务资源，使得园区内部业务终端能够访问网络管理区的服务资源，比如</a:t>
            </a:r>
            <a:r>
              <a:rPr lang="en-US" altLang="zh-CN" sz="1800" dirty="0" smtClean="0"/>
              <a:t>DHCP</a:t>
            </a:r>
            <a:r>
              <a:rPr lang="zh-CN" altLang="en-US" sz="1800" dirty="0" smtClean="0"/>
              <a:t>服务器、准入服务器等。</a:t>
            </a:r>
            <a:endParaRPr lang="en-US" altLang="zh-CN" sz="1800" dirty="0" smtClean="0"/>
          </a:p>
          <a:p>
            <a:r>
              <a:rPr lang="zh-CN" altLang="en-US" sz="1800" dirty="0" smtClean="0"/>
              <a:t>网络服务资源可以创建多个，也可以一个网络服务资源模型包含多个服务资源的访问地址。</a:t>
            </a:r>
            <a:endParaRPr lang="en-US" altLang="zh-CN" sz="1800" dirty="0" smtClean="0"/>
          </a:p>
          <a:p>
            <a:r>
              <a:rPr lang="zh-CN" altLang="en-US" sz="1800" dirty="0" smtClean="0"/>
              <a:t>如果网络管理区需要访问的服务资源较少，建议这些服务资源都规划在一个网络服务资源模型中。这样，可以节省互联的</a:t>
            </a:r>
            <a:r>
              <a:rPr lang="en-US" altLang="zh-CN" sz="1800" dirty="0" smtClean="0"/>
              <a:t>VLAN</a:t>
            </a:r>
            <a:r>
              <a:rPr lang="zh-CN" altLang="en-US" sz="1800" dirty="0" smtClean="0"/>
              <a:t>和</a:t>
            </a:r>
            <a:r>
              <a:rPr lang="en-US" altLang="zh-CN" sz="1800" dirty="0" smtClean="0"/>
              <a:t>IP</a:t>
            </a:r>
            <a:r>
              <a:rPr lang="zh-CN" altLang="en-US" sz="1800" dirty="0" smtClean="0"/>
              <a:t>地址资源，简化网络管理区的路由配置。</a:t>
            </a:r>
            <a:endParaRPr lang="zh-CN" altLang="en-US" sz="1800" dirty="0"/>
          </a:p>
        </p:txBody>
      </p:sp>
      <p:graphicFrame>
        <p:nvGraphicFramePr>
          <p:cNvPr id="16" name="表格 15"/>
          <p:cNvGraphicFramePr>
            <a:graphicFrameLocks noGrp="1"/>
          </p:cNvGraphicFramePr>
          <p:nvPr>
            <p:extLst>
              <p:ext uri="{D42A27DB-BD31-4B8C-83A1-F6EECF244321}">
                <p14:modId xmlns:p14="http://schemas.microsoft.com/office/powerpoint/2010/main" val="3606293570"/>
              </p:ext>
            </p:extLst>
          </p:nvPr>
        </p:nvGraphicFramePr>
        <p:xfrm>
          <a:off x="1690580" y="3429002"/>
          <a:ext cx="8823537" cy="1656275"/>
        </p:xfrm>
        <a:graphic>
          <a:graphicData uri="http://schemas.openxmlformats.org/drawingml/2006/table">
            <a:tbl>
              <a:tblPr/>
              <a:tblGrid>
                <a:gridCol w="1729718"/>
                <a:gridCol w="7093819"/>
              </a:tblGrid>
              <a:tr h="253537">
                <a:tc>
                  <a:txBody>
                    <a:bodyPr/>
                    <a:lstStyle/>
                    <a:p>
                      <a:pPr algn="ctr"/>
                      <a:r>
                        <a:rPr lang="zh-CN" altLang="en-US" sz="1400" b="1" dirty="0">
                          <a:effectLst/>
                        </a:rPr>
                        <a:t>任务描述</a:t>
                      </a:r>
                    </a:p>
                  </a:txBody>
                  <a:tcPr anchor="ctr">
                    <a:lnL w="28575" cap="flat" cmpd="sng" algn="ctr">
                      <a:solidFill>
                        <a:schemeClr val="tx1"/>
                      </a:solidFill>
                      <a:prstDash val="solid"/>
                      <a:round/>
                      <a:headEnd type="none" w="med" len="med"/>
                      <a:tailEnd type="none" w="med" len="med"/>
                    </a:lnL>
                    <a:lnT w="28575" cap="flat" cmpd="sng" algn="ctr">
                      <a:solidFill>
                        <a:schemeClr val="tx1"/>
                      </a:solidFill>
                      <a:prstDash val="solid"/>
                      <a:round/>
                      <a:headEnd type="none" w="med" len="med"/>
                      <a:tailEnd type="none" w="med" len="med"/>
                    </a:lnT>
                    <a:solidFill>
                      <a:schemeClr val="bg1">
                        <a:lumMod val="85000"/>
                      </a:schemeClr>
                    </a:solidFill>
                  </a:tcPr>
                </a:tc>
                <a:tc>
                  <a:txBody>
                    <a:bodyPr/>
                    <a:lstStyle/>
                    <a:p>
                      <a:pPr algn="ctr"/>
                      <a:r>
                        <a:rPr lang="zh-CN" altLang="en-US" sz="1400" b="1" dirty="0">
                          <a:effectLst/>
                        </a:rPr>
                        <a:t>详细操作步骤</a:t>
                      </a:r>
                    </a:p>
                  </a:txBody>
                  <a:tcPr anchor="ctr">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solidFill>
                      <a:schemeClr val="bg1">
                        <a:lumMod val="85000"/>
                      </a:schemeClr>
                    </a:solidFill>
                  </a:tcPr>
                </a:tc>
              </a:tr>
              <a:tr h="1351475">
                <a:tc>
                  <a:txBody>
                    <a:bodyPr/>
                    <a:lstStyle/>
                    <a:p>
                      <a:pPr algn="ctr"/>
                      <a:r>
                        <a:rPr lang="zh-CN" altLang="en-US" sz="1400" dirty="0" smtClean="0">
                          <a:effectLst/>
                        </a:rPr>
                        <a:t>创建网络服务资源</a:t>
                      </a:r>
                      <a:endParaRPr lang="en-US" sz="1400" dirty="0">
                        <a:effectLst/>
                      </a:endParaRPr>
                    </a:p>
                  </a:txBody>
                  <a:tcPr anchor="ctr">
                    <a:lnL w="28575" cap="flat" cmpd="sng" algn="ctr">
                      <a:solidFill>
                        <a:schemeClr val="tx1"/>
                      </a:solidFill>
                      <a:prstDash val="solid"/>
                      <a:round/>
                      <a:headEnd type="none" w="med" len="med"/>
                      <a:tailEnd type="none" w="med" len="med"/>
                    </a:lnL>
                    <a:lnB w="28575" cap="flat" cmpd="sng" algn="ctr">
                      <a:solidFill>
                        <a:schemeClr val="tx1"/>
                      </a:solidFill>
                      <a:prstDash val="solid"/>
                      <a:round/>
                      <a:headEnd type="none" w="med" len="med"/>
                      <a:tailEnd type="none" w="med" len="med"/>
                    </a:lnB>
                  </a:tcPr>
                </a:tc>
                <a:tc>
                  <a:txBody>
                    <a:bodyPr/>
                    <a:lstStyle/>
                    <a:p>
                      <a:pPr marL="0" indent="-228600" algn="l" defTabSz="914034" rtl="0" eaLnBrk="1" latinLnBrk="0" hangingPunct="1">
                        <a:lnSpc>
                          <a:spcPct val="100000"/>
                        </a:lnSpc>
                        <a:spcAft>
                          <a:spcPts val="0"/>
                        </a:spcAft>
                        <a:buFont typeface="+mj-lt"/>
                        <a:buAutoNum type="arabicPeriod"/>
                      </a:pPr>
                      <a:r>
                        <a:rPr lang="zh-CN" altLang="en-US" sz="1400" kern="1200" dirty="0" smtClean="0">
                          <a:solidFill>
                            <a:schemeClr val="tx1"/>
                          </a:solidFill>
                          <a:effectLst/>
                          <a:latin typeface="+mn-lt"/>
                          <a:ea typeface="+mn-ea"/>
                          <a:cs typeface="+mn-cs"/>
                        </a:rPr>
                        <a:t>选择服务器类型，包括：</a:t>
                      </a:r>
                      <a:r>
                        <a:rPr lang="en-US" altLang="zh-CN" sz="1400" kern="1200" dirty="0" smtClean="0">
                          <a:solidFill>
                            <a:schemeClr val="tx1"/>
                          </a:solidFill>
                          <a:effectLst/>
                          <a:latin typeface="+mn-lt"/>
                          <a:ea typeface="+mn-ea"/>
                          <a:cs typeface="+mn-cs"/>
                        </a:rPr>
                        <a:t>DHCP</a:t>
                      </a:r>
                      <a:r>
                        <a:rPr lang="zh-CN" altLang="en-US" sz="1400" kern="1200" dirty="0" smtClean="0">
                          <a:solidFill>
                            <a:schemeClr val="tx1"/>
                          </a:solidFill>
                          <a:effectLst/>
                          <a:latin typeface="+mn-lt"/>
                          <a:ea typeface="+mn-ea"/>
                          <a:cs typeface="+mn-cs"/>
                        </a:rPr>
                        <a:t>、第三方</a:t>
                      </a:r>
                      <a:r>
                        <a:rPr lang="en-US" altLang="zh-CN" sz="1400" kern="1200" dirty="0" smtClean="0">
                          <a:solidFill>
                            <a:schemeClr val="tx1"/>
                          </a:solidFill>
                          <a:effectLst/>
                          <a:latin typeface="+mn-lt"/>
                          <a:ea typeface="+mn-ea"/>
                          <a:cs typeface="+mn-cs"/>
                        </a:rPr>
                        <a:t>RADIUS</a:t>
                      </a:r>
                      <a:r>
                        <a:rPr lang="zh-CN" altLang="en-US" sz="1400" kern="1200" dirty="0" smtClean="0">
                          <a:solidFill>
                            <a:schemeClr val="tx1"/>
                          </a:solidFill>
                          <a:effectLst/>
                          <a:latin typeface="+mn-lt"/>
                          <a:ea typeface="+mn-ea"/>
                          <a:cs typeface="+mn-cs"/>
                        </a:rPr>
                        <a:t>服务器、第三方</a:t>
                      </a:r>
                      <a:r>
                        <a:rPr lang="en-US" altLang="zh-CN" sz="1400" kern="1200" dirty="0" smtClean="0">
                          <a:solidFill>
                            <a:schemeClr val="tx1"/>
                          </a:solidFill>
                          <a:effectLst/>
                          <a:latin typeface="+mn-lt"/>
                          <a:ea typeface="+mn-ea"/>
                          <a:cs typeface="+mn-cs"/>
                        </a:rPr>
                        <a:t>Portal</a:t>
                      </a:r>
                      <a:r>
                        <a:rPr lang="zh-CN" altLang="en-US" sz="1400" kern="1200" dirty="0" smtClean="0">
                          <a:solidFill>
                            <a:schemeClr val="tx1"/>
                          </a:solidFill>
                          <a:effectLst/>
                          <a:latin typeface="+mn-lt"/>
                          <a:ea typeface="+mn-ea"/>
                          <a:cs typeface="+mn-cs"/>
                        </a:rPr>
                        <a:t>服务器和其他。</a:t>
                      </a:r>
                      <a:endParaRPr lang="en-US" altLang="zh-CN" sz="1400" kern="1200" dirty="0" smtClean="0">
                        <a:solidFill>
                          <a:schemeClr val="tx1"/>
                        </a:solidFill>
                        <a:effectLst/>
                        <a:latin typeface="+mn-lt"/>
                        <a:ea typeface="+mn-ea"/>
                        <a:cs typeface="+mn-cs"/>
                      </a:endParaRPr>
                    </a:p>
                    <a:p>
                      <a:pPr marL="0" indent="-228600" algn="l" defTabSz="914034" rtl="0" eaLnBrk="1" latinLnBrk="0" hangingPunct="1">
                        <a:lnSpc>
                          <a:spcPct val="100000"/>
                        </a:lnSpc>
                        <a:spcAft>
                          <a:spcPts val="0"/>
                        </a:spcAft>
                        <a:buFont typeface="+mj-lt"/>
                        <a:buAutoNum type="arabicPeriod"/>
                      </a:pPr>
                      <a:r>
                        <a:rPr lang="zh-CN" altLang="en-US" sz="1400" kern="1200" dirty="0" smtClean="0">
                          <a:solidFill>
                            <a:schemeClr val="tx1"/>
                          </a:solidFill>
                          <a:effectLst/>
                          <a:latin typeface="+mn-lt"/>
                          <a:ea typeface="+mn-ea"/>
                          <a:cs typeface="+mn-cs"/>
                        </a:rPr>
                        <a:t>配置服务资源的访问地址，如</a:t>
                      </a:r>
                      <a:r>
                        <a:rPr lang="en-US" altLang="zh-CN" sz="1400" kern="1200" dirty="0" smtClean="0">
                          <a:solidFill>
                            <a:schemeClr val="tx1"/>
                          </a:solidFill>
                          <a:effectLst/>
                          <a:latin typeface="+mn-lt"/>
                          <a:ea typeface="+mn-ea"/>
                          <a:cs typeface="+mn-cs"/>
                        </a:rPr>
                        <a:t>DHCP</a:t>
                      </a:r>
                      <a:r>
                        <a:rPr lang="zh-CN" altLang="en-US" sz="1400" kern="1200" dirty="0" smtClean="0">
                          <a:solidFill>
                            <a:schemeClr val="tx1"/>
                          </a:solidFill>
                          <a:effectLst/>
                          <a:latin typeface="+mn-lt"/>
                          <a:ea typeface="+mn-ea"/>
                          <a:cs typeface="+mn-cs"/>
                        </a:rPr>
                        <a:t>服务地址、</a:t>
                      </a:r>
                      <a:r>
                        <a:rPr lang="en-US" altLang="zh-CN" sz="1400" kern="1200" dirty="0" smtClean="0">
                          <a:solidFill>
                            <a:schemeClr val="tx1"/>
                          </a:solidFill>
                          <a:effectLst/>
                          <a:latin typeface="+mn-lt"/>
                          <a:ea typeface="+mn-ea"/>
                          <a:cs typeface="+mn-cs"/>
                        </a:rPr>
                        <a:t>iMaster NCE-Campus</a:t>
                      </a:r>
                      <a:r>
                        <a:rPr lang="zh-CN" altLang="en-US" sz="1400" kern="1200" dirty="0" smtClean="0">
                          <a:solidFill>
                            <a:schemeClr val="tx1"/>
                          </a:solidFill>
                          <a:effectLst/>
                          <a:latin typeface="+mn-lt"/>
                          <a:ea typeface="+mn-ea"/>
                          <a:cs typeface="+mn-cs"/>
                        </a:rPr>
                        <a:t>的南向地址。</a:t>
                      </a:r>
                    </a:p>
                    <a:p>
                      <a:pPr marL="0" indent="-228600" algn="l" defTabSz="914034" rtl="0" eaLnBrk="1" latinLnBrk="0" hangingPunct="1">
                        <a:lnSpc>
                          <a:spcPct val="100000"/>
                        </a:lnSpc>
                        <a:spcAft>
                          <a:spcPts val="0"/>
                        </a:spcAft>
                        <a:buFont typeface="+mj-lt"/>
                        <a:buAutoNum type="arabicPeriod"/>
                      </a:pPr>
                      <a:r>
                        <a:rPr lang="zh-CN" altLang="en-US" sz="1400" kern="1200" dirty="0" smtClean="0">
                          <a:solidFill>
                            <a:schemeClr val="tx1"/>
                          </a:solidFill>
                          <a:effectLst/>
                          <a:latin typeface="+mn-lt"/>
                          <a:ea typeface="+mn-ea"/>
                          <a:cs typeface="+mn-cs"/>
                        </a:rPr>
                        <a:t>选择互联场景，包括：直连服务器、直连交换机。</a:t>
                      </a:r>
                    </a:p>
                    <a:p>
                      <a:pPr marL="0" indent="-228600" algn="l" defTabSz="914034" rtl="0" eaLnBrk="1" latinLnBrk="0" hangingPunct="1">
                        <a:lnSpc>
                          <a:spcPct val="100000"/>
                        </a:lnSpc>
                        <a:spcAft>
                          <a:spcPts val="0"/>
                        </a:spcAft>
                        <a:buFont typeface="+mj-lt"/>
                        <a:buAutoNum type="arabicPeriod"/>
                      </a:pPr>
                      <a:r>
                        <a:rPr lang="zh-CN" altLang="en-US" sz="1400" kern="1200" dirty="0" smtClean="0">
                          <a:solidFill>
                            <a:schemeClr val="tx1"/>
                          </a:solidFill>
                          <a:effectLst/>
                          <a:latin typeface="+mn-lt"/>
                          <a:ea typeface="+mn-ea"/>
                          <a:cs typeface="+mn-cs"/>
                        </a:rPr>
                        <a:t>配置互联的物理接口，以及互联的</a:t>
                      </a:r>
                      <a:r>
                        <a:rPr lang="en-US" altLang="zh-CN" sz="1400" kern="1200" dirty="0" smtClean="0">
                          <a:solidFill>
                            <a:schemeClr val="tx1"/>
                          </a:solidFill>
                          <a:effectLst/>
                          <a:latin typeface="+mn-lt"/>
                          <a:ea typeface="+mn-ea"/>
                          <a:cs typeface="+mn-cs"/>
                        </a:rPr>
                        <a:t>VLAN</a:t>
                      </a:r>
                      <a:r>
                        <a:rPr lang="zh-CN" altLang="en-US" sz="1400" kern="1200" dirty="0" smtClean="0">
                          <a:solidFill>
                            <a:schemeClr val="tx1"/>
                          </a:solidFill>
                          <a:effectLst/>
                          <a:latin typeface="+mn-lt"/>
                          <a:ea typeface="+mn-ea"/>
                          <a:cs typeface="+mn-cs"/>
                        </a:rPr>
                        <a:t>和</a:t>
                      </a:r>
                      <a:r>
                        <a:rPr lang="en-US" altLang="zh-CN" sz="1400" kern="1200" dirty="0" smtClean="0">
                          <a:solidFill>
                            <a:schemeClr val="tx1"/>
                          </a:solidFill>
                          <a:effectLst/>
                          <a:latin typeface="+mn-lt"/>
                          <a:ea typeface="+mn-ea"/>
                          <a:cs typeface="+mn-cs"/>
                        </a:rPr>
                        <a:t>IP</a:t>
                      </a:r>
                      <a:r>
                        <a:rPr lang="zh-CN" altLang="en-US" sz="1400" kern="1200" dirty="0" smtClean="0">
                          <a:solidFill>
                            <a:schemeClr val="tx1"/>
                          </a:solidFill>
                          <a:effectLst/>
                          <a:latin typeface="+mn-lt"/>
                          <a:ea typeface="+mn-ea"/>
                          <a:cs typeface="+mn-cs"/>
                        </a:rPr>
                        <a:t>地址。</a:t>
                      </a:r>
                      <a:endParaRPr lang="zh-CN" altLang="en-US" sz="1400" kern="1200" dirty="0">
                        <a:solidFill>
                          <a:schemeClr val="tx1"/>
                        </a:solidFill>
                        <a:effectLst/>
                        <a:latin typeface="+mn-lt"/>
                        <a:ea typeface="+mn-ea"/>
                        <a:cs typeface="+mn-cs"/>
                      </a:endParaRPr>
                    </a:p>
                  </a:txBody>
                  <a:tcPr anchor="ctr">
                    <a:lnR w="28575" cap="flat" cmpd="sng" algn="ctr">
                      <a:solidFill>
                        <a:schemeClr val="tx1"/>
                      </a:solidFill>
                      <a:prstDash val="solid"/>
                      <a:round/>
                      <a:headEnd type="none" w="med" len="med"/>
                      <a:tailEnd type="none" w="med" len="med"/>
                    </a:lnR>
                    <a:lnB w="28575" cap="flat" cmpd="sng" algn="ctr">
                      <a:solidFill>
                        <a:schemeClr val="tx1"/>
                      </a:solidFill>
                      <a:prstDash val="solid"/>
                      <a:round/>
                      <a:headEnd type="none" w="med" len="med"/>
                      <a:tailEnd type="none" w="med" len="med"/>
                    </a:lnB>
                  </a:tcPr>
                </a:tc>
              </a:tr>
            </a:tbl>
          </a:graphicData>
        </a:graphic>
      </p:graphicFrame>
      <p:sp>
        <p:nvSpPr>
          <p:cNvPr id="11" name="五边形 10"/>
          <p:cNvSpPr/>
          <p:nvPr/>
        </p:nvSpPr>
        <p:spPr bwMode="gray">
          <a:xfrm>
            <a:off x="5773628" y="98481"/>
            <a:ext cx="9000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站点管理</a:t>
            </a:r>
          </a:p>
        </p:txBody>
      </p:sp>
      <p:sp>
        <p:nvSpPr>
          <p:cNvPr id="12" name="燕尾形 11"/>
          <p:cNvSpPr/>
          <p:nvPr/>
        </p:nvSpPr>
        <p:spPr bwMode="gray">
          <a:xfrm>
            <a:off x="9109268" y="9848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逻辑网络</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 name="燕尾形 12"/>
          <p:cNvSpPr/>
          <p:nvPr/>
        </p:nvSpPr>
        <p:spPr bwMode="gray">
          <a:xfrm>
            <a:off x="9925178" y="9848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业务部署</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 name="燕尾形 13"/>
          <p:cNvSpPr/>
          <p:nvPr/>
        </p:nvSpPr>
        <p:spPr bwMode="gray">
          <a:xfrm>
            <a:off x="8221358" y="98481"/>
            <a:ext cx="9720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Fabric</a:t>
            </a: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网络</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5" name="燕尾形 14"/>
          <p:cNvSpPr/>
          <p:nvPr/>
        </p:nvSpPr>
        <p:spPr bwMode="gray">
          <a:xfrm>
            <a:off x="7405448" y="9848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网络规划</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3" name="燕尾形 22"/>
          <p:cNvSpPr/>
          <p:nvPr/>
        </p:nvSpPr>
        <p:spPr bwMode="gray">
          <a:xfrm>
            <a:off x="6589538" y="9848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设备管理</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4" name="燕尾形 23"/>
          <p:cNvSpPr/>
          <p:nvPr/>
        </p:nvSpPr>
        <p:spPr bwMode="gray">
          <a:xfrm>
            <a:off x="10741088" y="98481"/>
            <a:ext cx="1008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WLAN</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业务</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240860546"/>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rotWithShape="1">
          <a:blip r:embed="rId3"/>
          <a:srcRect r="22255" b="12382"/>
          <a:stretch/>
        </p:blipFill>
        <p:spPr bwMode="gray">
          <a:xfrm>
            <a:off x="5080399" y="2112388"/>
            <a:ext cx="4924173" cy="4016029"/>
          </a:xfrm>
          <a:prstGeom prst="rect">
            <a:avLst/>
          </a:prstGeom>
          <a:ln w="12700">
            <a:solidFill>
              <a:schemeClr val="bg1">
                <a:lumMod val="85000"/>
              </a:schemeClr>
            </a:solidFill>
          </a:ln>
        </p:spPr>
      </p:pic>
      <p:sp>
        <p:nvSpPr>
          <p:cNvPr id="5" name="标题 4"/>
          <p:cNvSpPr>
            <a:spLocks noGrp="1"/>
          </p:cNvSpPr>
          <p:nvPr>
            <p:ph type="title"/>
          </p:nvPr>
        </p:nvSpPr>
        <p:spPr bwMode="gray"/>
        <p:txBody>
          <a:bodyPr>
            <a:normAutofit/>
          </a:bodyPr>
          <a:lstStyle/>
          <a:p>
            <a:r>
              <a:rPr lang="zh-CN" altLang="en-US" dirty="0"/>
              <a:t>实现</a:t>
            </a:r>
            <a:r>
              <a:rPr lang="zh-CN" altLang="en-US" dirty="0" smtClean="0"/>
              <a:t>：创建网络</a:t>
            </a:r>
            <a:r>
              <a:rPr lang="zh-CN" altLang="en-US" dirty="0"/>
              <a:t>服务</a:t>
            </a:r>
            <a:r>
              <a:rPr lang="zh-CN" altLang="en-US" dirty="0" smtClean="0"/>
              <a:t>资源</a:t>
            </a:r>
            <a:r>
              <a:rPr lang="zh-CN" altLang="en-US" dirty="0"/>
              <a:t> </a:t>
            </a:r>
            <a:r>
              <a:rPr lang="en-US" altLang="zh-CN" dirty="0" smtClean="0"/>
              <a:t>(1)</a:t>
            </a:r>
            <a:endParaRPr lang="zh-CN" altLang="en-US" dirty="0"/>
          </a:p>
        </p:txBody>
      </p:sp>
      <p:sp>
        <p:nvSpPr>
          <p:cNvPr id="61" name="矩形 60"/>
          <p:cNvSpPr/>
          <p:nvPr/>
        </p:nvSpPr>
        <p:spPr bwMode="gray">
          <a:xfrm>
            <a:off x="4980164" y="1433076"/>
            <a:ext cx="6399956" cy="707886"/>
          </a:xfrm>
          <a:prstGeom prst="rect">
            <a:avLst/>
          </a:prstGeom>
        </p:spPr>
        <p:txBody>
          <a:bodyPr wrap="square">
            <a:spAutoFit/>
          </a:bodyPr>
          <a:lstStyle/>
          <a:p>
            <a:pPr algn="just">
              <a:lnSpc>
                <a:spcPts val="2400"/>
              </a:lnSpc>
              <a:spcAft>
                <a:spcPts val="600"/>
              </a:spcAft>
            </a:pPr>
            <a:r>
              <a:rPr lang="zh-CN" altLang="en-US" sz="1600" dirty="0" smtClean="0"/>
              <a:t>创建一个新的</a:t>
            </a:r>
            <a:r>
              <a:rPr lang="en-US" altLang="zh-CN" sz="1600" dirty="0" smtClean="0"/>
              <a:t>Fabric</a:t>
            </a:r>
            <a:r>
              <a:rPr lang="zh-CN" altLang="en-US" sz="1600" dirty="0" smtClean="0"/>
              <a:t>网络服务资源，完成服务器配置，包括定义其名称，定义所连接的服务器类型及地址：</a:t>
            </a:r>
            <a:endParaRPr lang="zh-CN" altLang="en-US" sz="1600" dirty="0"/>
          </a:p>
        </p:txBody>
      </p:sp>
      <p:cxnSp>
        <p:nvCxnSpPr>
          <p:cNvPr id="37" name="直接箭头连接符 36"/>
          <p:cNvCxnSpPr/>
          <p:nvPr/>
        </p:nvCxnSpPr>
        <p:spPr bwMode="gray">
          <a:xfrm flipH="1">
            <a:off x="9379720" y="3018619"/>
            <a:ext cx="275641" cy="276999"/>
          </a:xfrm>
          <a:prstGeom prst="straightConnector1">
            <a:avLst/>
          </a:prstGeom>
          <a:ln w="38100">
            <a:solidFill>
              <a:srgbClr val="30B5C5"/>
            </a:solidFill>
            <a:tailEnd type="triangle"/>
          </a:ln>
        </p:spPr>
        <p:style>
          <a:lnRef idx="1">
            <a:schemeClr val="accent1"/>
          </a:lnRef>
          <a:fillRef idx="0">
            <a:schemeClr val="accent1"/>
          </a:fillRef>
          <a:effectRef idx="0">
            <a:schemeClr val="accent1"/>
          </a:effectRef>
          <a:fontRef idx="minor">
            <a:schemeClr val="tx1"/>
          </a:fontRef>
        </p:style>
      </p:cxnSp>
      <p:sp>
        <p:nvSpPr>
          <p:cNvPr id="38" name="TextBox 179"/>
          <p:cNvSpPr txBox="1"/>
          <p:nvPr/>
        </p:nvSpPr>
        <p:spPr bwMode="gray">
          <a:xfrm>
            <a:off x="9598264" y="2848848"/>
            <a:ext cx="1772619" cy="250328"/>
          </a:xfrm>
          <a:prstGeom prst="roundRect">
            <a:avLst>
              <a:gd name="adj" fmla="val 12806"/>
            </a:avLst>
          </a:prstGeom>
          <a:solidFill>
            <a:srgbClr val="30B5C5"/>
          </a:solidFill>
          <a:ln>
            <a:noFill/>
          </a:ln>
        </p:spPr>
        <p:txBody>
          <a:bodyPr wrap="square" lIns="72000" tIns="72000" rIns="72000" bIns="72000" anchor="ctr" anchorCtr="0">
            <a:noAutofit/>
          </a:bodyPr>
          <a:lstStyle>
            <a:defPPr>
              <a:defRPr lang="en-US"/>
            </a:defPPr>
            <a:lvl1pPr algn="ctr" defTabSz="914478">
              <a:defRPr sz="1200">
                <a:solidFill>
                  <a:schemeClr val="bg1"/>
                </a:solidFill>
              </a:defRPr>
            </a:lvl1pPr>
            <a:lvl2pPr marL="457240" defTabSz="914478"/>
            <a:lvl3pPr marL="914478" defTabSz="914478"/>
            <a:lvl4pPr marL="1371718" defTabSz="914478"/>
            <a:lvl5pPr marL="1828957" defTabSz="914478"/>
            <a:lvl6pPr marL="2286196" defTabSz="914478"/>
            <a:lvl7pPr marL="2743435" defTabSz="914478"/>
            <a:lvl8pPr marL="3200675" defTabSz="914478"/>
            <a:lvl9pPr marL="3657913" defTabSz="914478"/>
          </a:lstStyle>
          <a:p>
            <a:r>
              <a:rPr lang="zh-CN" altLang="en-US" smtClean="0"/>
              <a:t>定义服务器类型</a:t>
            </a:r>
            <a:endParaRPr lang="zh-CN" altLang="en-US"/>
          </a:p>
        </p:txBody>
      </p:sp>
      <p:cxnSp>
        <p:nvCxnSpPr>
          <p:cNvPr id="39" name="直接箭头连接符 38"/>
          <p:cNvCxnSpPr>
            <a:stCxn id="40" idx="1"/>
          </p:cNvCxnSpPr>
          <p:nvPr/>
        </p:nvCxnSpPr>
        <p:spPr bwMode="gray">
          <a:xfrm flipH="1">
            <a:off x="9305925" y="3967430"/>
            <a:ext cx="292339" cy="0"/>
          </a:xfrm>
          <a:prstGeom prst="straightConnector1">
            <a:avLst/>
          </a:prstGeom>
          <a:ln w="38100">
            <a:solidFill>
              <a:srgbClr val="30B5C5"/>
            </a:solidFill>
            <a:tailEnd type="triangle"/>
          </a:ln>
        </p:spPr>
        <p:style>
          <a:lnRef idx="1">
            <a:schemeClr val="accent1"/>
          </a:lnRef>
          <a:fillRef idx="0">
            <a:schemeClr val="accent1"/>
          </a:fillRef>
          <a:effectRef idx="0">
            <a:schemeClr val="accent1"/>
          </a:effectRef>
          <a:fontRef idx="minor">
            <a:schemeClr val="tx1"/>
          </a:fontRef>
        </p:style>
      </p:cxnSp>
      <p:sp>
        <p:nvSpPr>
          <p:cNvPr id="40" name="TextBox 179"/>
          <p:cNvSpPr txBox="1"/>
          <p:nvPr/>
        </p:nvSpPr>
        <p:spPr bwMode="gray">
          <a:xfrm>
            <a:off x="9598264" y="3842266"/>
            <a:ext cx="1772619" cy="250328"/>
          </a:xfrm>
          <a:prstGeom prst="roundRect">
            <a:avLst>
              <a:gd name="adj" fmla="val 12806"/>
            </a:avLst>
          </a:prstGeom>
          <a:solidFill>
            <a:srgbClr val="30B5C5"/>
          </a:solidFill>
          <a:ln>
            <a:noFill/>
          </a:ln>
        </p:spPr>
        <p:txBody>
          <a:bodyPr wrap="square" lIns="72000" tIns="72000" rIns="72000" bIns="72000" anchor="ctr" anchorCtr="0">
            <a:noAutofit/>
          </a:bodyPr>
          <a:lstStyle>
            <a:defPPr>
              <a:defRPr lang="en-US"/>
            </a:defPPr>
            <a:lvl1pPr algn="ctr" defTabSz="914478">
              <a:defRPr sz="1200">
                <a:solidFill>
                  <a:schemeClr val="bg1"/>
                </a:solidFill>
              </a:defRPr>
            </a:lvl1pPr>
            <a:lvl2pPr marL="457240" defTabSz="914478"/>
            <a:lvl3pPr marL="914478" defTabSz="914478"/>
            <a:lvl4pPr marL="1371718" defTabSz="914478"/>
            <a:lvl5pPr marL="1828957" defTabSz="914478"/>
            <a:lvl6pPr marL="2286196" defTabSz="914478"/>
            <a:lvl7pPr marL="2743435" defTabSz="914478"/>
            <a:lvl8pPr marL="3200675" defTabSz="914478"/>
            <a:lvl9pPr marL="3657913" defTabSz="914478"/>
          </a:lstStyle>
          <a:p>
            <a:r>
              <a:rPr lang="zh-CN" altLang="en-US" smtClean="0"/>
              <a:t>定义服务器</a:t>
            </a:r>
            <a:r>
              <a:rPr lang="en-US" altLang="zh-CN" smtClean="0"/>
              <a:t>IP</a:t>
            </a:r>
            <a:r>
              <a:rPr lang="zh-CN" altLang="en-US" smtClean="0"/>
              <a:t>地址</a:t>
            </a:r>
            <a:endParaRPr lang="zh-CN" altLang="en-US"/>
          </a:p>
        </p:txBody>
      </p:sp>
      <p:cxnSp>
        <p:nvCxnSpPr>
          <p:cNvPr id="41" name="直接箭头连接符 40"/>
          <p:cNvCxnSpPr>
            <a:stCxn id="42" idx="1"/>
          </p:cNvCxnSpPr>
          <p:nvPr/>
        </p:nvCxnSpPr>
        <p:spPr bwMode="gray">
          <a:xfrm flipH="1">
            <a:off x="9305925" y="5591336"/>
            <a:ext cx="292339" cy="0"/>
          </a:xfrm>
          <a:prstGeom prst="straightConnector1">
            <a:avLst/>
          </a:prstGeom>
          <a:ln w="38100">
            <a:solidFill>
              <a:srgbClr val="30B5C5"/>
            </a:solidFill>
            <a:tailEnd type="triangle"/>
          </a:ln>
        </p:spPr>
        <p:style>
          <a:lnRef idx="1">
            <a:schemeClr val="accent1"/>
          </a:lnRef>
          <a:fillRef idx="0">
            <a:schemeClr val="accent1"/>
          </a:fillRef>
          <a:effectRef idx="0">
            <a:schemeClr val="accent1"/>
          </a:effectRef>
          <a:fontRef idx="minor">
            <a:schemeClr val="tx1"/>
          </a:fontRef>
        </p:style>
      </p:cxnSp>
      <p:sp>
        <p:nvSpPr>
          <p:cNvPr id="42" name="TextBox 179"/>
          <p:cNvSpPr txBox="1"/>
          <p:nvPr/>
        </p:nvSpPr>
        <p:spPr bwMode="gray">
          <a:xfrm>
            <a:off x="9598264" y="5367951"/>
            <a:ext cx="1772619" cy="446770"/>
          </a:xfrm>
          <a:prstGeom prst="roundRect">
            <a:avLst>
              <a:gd name="adj" fmla="val 12806"/>
            </a:avLst>
          </a:prstGeom>
          <a:solidFill>
            <a:srgbClr val="30B5C5"/>
          </a:solidFill>
          <a:ln>
            <a:noFill/>
          </a:ln>
        </p:spPr>
        <p:txBody>
          <a:bodyPr wrap="square" lIns="72000" tIns="72000" rIns="72000" bIns="72000" anchor="ctr" anchorCtr="0">
            <a:noAutofit/>
          </a:bodyPr>
          <a:lstStyle>
            <a:defPPr>
              <a:defRPr lang="en-US"/>
            </a:defPPr>
            <a:lvl1pPr algn="ctr" defTabSz="914478">
              <a:defRPr sz="1200">
                <a:solidFill>
                  <a:schemeClr val="bg1"/>
                </a:solidFill>
              </a:defRPr>
            </a:lvl1pPr>
            <a:lvl2pPr marL="457240" defTabSz="914478"/>
            <a:lvl3pPr marL="914478" defTabSz="914478"/>
            <a:lvl4pPr marL="1371718" defTabSz="914478"/>
            <a:lvl5pPr marL="1828957" defTabSz="914478"/>
            <a:lvl6pPr marL="2286196" defTabSz="914478"/>
            <a:lvl7pPr marL="2743435" defTabSz="914478"/>
            <a:lvl8pPr marL="3200675" defTabSz="914478"/>
            <a:lvl9pPr marL="3657913" defTabSz="914478"/>
          </a:lstStyle>
          <a:p>
            <a:r>
              <a:rPr lang="zh-CN" altLang="en-US" smtClean="0"/>
              <a:t>定义用于与服务器互通的设备地址段</a:t>
            </a:r>
            <a:endParaRPr lang="zh-CN" altLang="en-US"/>
          </a:p>
        </p:txBody>
      </p:sp>
      <p:sp>
        <p:nvSpPr>
          <p:cNvPr id="49" name="Freeform 159"/>
          <p:cNvSpPr/>
          <p:nvPr/>
        </p:nvSpPr>
        <p:spPr bwMode="gray">
          <a:xfrm flipH="1">
            <a:off x="806774" y="1330820"/>
            <a:ext cx="1240474" cy="648430"/>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tIns="108000" rtlCol="0" anchor="ctr">
            <a:noAutofit/>
          </a:bodyPr>
          <a:lstStyle/>
          <a:p>
            <a:pPr algn="ctr"/>
            <a:r>
              <a:rPr lang="zh-CN" altLang="en-US" sz="1400" dirty="0">
                <a:solidFill>
                  <a:schemeClr val="bg1">
                    <a:lumMod val="50000"/>
                  </a:schemeClr>
                </a:solidFill>
              </a:rPr>
              <a:t>外部网络</a:t>
            </a:r>
            <a:endParaRPr lang="en-US" sz="1400" dirty="0">
              <a:solidFill>
                <a:schemeClr val="bg1">
                  <a:lumMod val="50000"/>
                </a:schemeClr>
              </a:solidFill>
            </a:endParaRPr>
          </a:p>
        </p:txBody>
      </p:sp>
      <p:sp>
        <p:nvSpPr>
          <p:cNvPr id="50" name="Freeform 159"/>
          <p:cNvSpPr/>
          <p:nvPr/>
        </p:nvSpPr>
        <p:spPr bwMode="gray">
          <a:xfrm flipH="1">
            <a:off x="2932892" y="1330820"/>
            <a:ext cx="1240474" cy="648430"/>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12700">
            <a:solidFill>
              <a:srgbClr val="ED6D00"/>
            </a:solidFill>
          </a:ln>
        </p:spPr>
        <p:style>
          <a:lnRef idx="2">
            <a:schemeClr val="accent1">
              <a:shade val="50000"/>
            </a:schemeClr>
          </a:lnRef>
          <a:fillRef idx="1">
            <a:schemeClr val="accent1"/>
          </a:fillRef>
          <a:effectRef idx="0">
            <a:schemeClr val="accent1"/>
          </a:effectRef>
          <a:fontRef idx="minor">
            <a:schemeClr val="lt1"/>
          </a:fontRef>
        </p:style>
        <p:txBody>
          <a:bodyPr wrap="square" tIns="108000" rtlCol="0" anchor="ctr">
            <a:noAutofit/>
          </a:bodyPr>
          <a:lstStyle/>
          <a:p>
            <a:pPr algn="ctr"/>
            <a:r>
              <a:rPr lang="zh-CN" altLang="en-US" sz="1400">
                <a:solidFill>
                  <a:srgbClr val="ED6D00"/>
                </a:solidFill>
              </a:rPr>
              <a:t>网络服务</a:t>
            </a:r>
            <a:endParaRPr lang="en-US" altLang="zh-CN" sz="1400">
              <a:solidFill>
                <a:srgbClr val="ED6D00"/>
              </a:solidFill>
            </a:endParaRPr>
          </a:p>
          <a:p>
            <a:pPr algn="ctr"/>
            <a:r>
              <a:rPr lang="zh-CN" altLang="en-US" sz="1400">
                <a:solidFill>
                  <a:srgbClr val="ED6D00"/>
                </a:solidFill>
              </a:rPr>
              <a:t>资源</a:t>
            </a:r>
            <a:endParaRPr lang="en-US" sz="1400">
              <a:solidFill>
                <a:srgbClr val="ED6D00"/>
              </a:solidFill>
            </a:endParaRPr>
          </a:p>
        </p:txBody>
      </p:sp>
      <p:sp>
        <p:nvSpPr>
          <p:cNvPr id="51" name="圆角矩形 50"/>
          <p:cNvSpPr/>
          <p:nvPr/>
        </p:nvSpPr>
        <p:spPr bwMode="gray">
          <a:xfrm>
            <a:off x="700822" y="2240462"/>
            <a:ext cx="3948649" cy="2628871"/>
          </a:xfrm>
          <a:prstGeom prst="roundRect">
            <a:avLst>
              <a:gd name="adj" fmla="val 3166"/>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78" rtl="0" eaLnBrk="1" latinLnBrk="0" hangingPunct="1">
              <a:defRPr sz="1800" kern="1200">
                <a:solidFill>
                  <a:schemeClr val="lt1"/>
                </a:solidFill>
                <a:latin typeface="+mn-lt"/>
                <a:ea typeface="+mn-ea"/>
                <a:cs typeface="+mn-cs"/>
              </a:defRPr>
            </a:lvl1pPr>
            <a:lvl2pPr marL="457240" algn="l" defTabSz="914478" rtl="0" eaLnBrk="1" latinLnBrk="0" hangingPunct="1">
              <a:defRPr sz="1800" kern="1200">
                <a:solidFill>
                  <a:schemeClr val="lt1"/>
                </a:solidFill>
                <a:latin typeface="+mn-lt"/>
                <a:ea typeface="+mn-ea"/>
                <a:cs typeface="+mn-cs"/>
              </a:defRPr>
            </a:lvl2pPr>
            <a:lvl3pPr marL="914478" algn="l" defTabSz="914478" rtl="0" eaLnBrk="1" latinLnBrk="0" hangingPunct="1">
              <a:defRPr sz="1800" kern="1200">
                <a:solidFill>
                  <a:schemeClr val="lt1"/>
                </a:solidFill>
                <a:latin typeface="+mn-lt"/>
                <a:ea typeface="+mn-ea"/>
                <a:cs typeface="+mn-cs"/>
              </a:defRPr>
            </a:lvl3pPr>
            <a:lvl4pPr marL="1371718" algn="l" defTabSz="914478" rtl="0" eaLnBrk="1" latinLnBrk="0" hangingPunct="1">
              <a:defRPr sz="1800" kern="1200">
                <a:solidFill>
                  <a:schemeClr val="lt1"/>
                </a:solidFill>
                <a:latin typeface="+mn-lt"/>
                <a:ea typeface="+mn-ea"/>
                <a:cs typeface="+mn-cs"/>
              </a:defRPr>
            </a:lvl4pPr>
            <a:lvl5pPr marL="1828957" algn="l" defTabSz="914478" rtl="0" eaLnBrk="1" latinLnBrk="0" hangingPunct="1">
              <a:defRPr sz="1800" kern="1200">
                <a:solidFill>
                  <a:schemeClr val="lt1"/>
                </a:solidFill>
                <a:latin typeface="+mn-lt"/>
                <a:ea typeface="+mn-ea"/>
                <a:cs typeface="+mn-cs"/>
              </a:defRPr>
            </a:lvl5pPr>
            <a:lvl6pPr marL="2286196" algn="l" defTabSz="914478" rtl="0" eaLnBrk="1" latinLnBrk="0" hangingPunct="1">
              <a:defRPr sz="1800" kern="1200">
                <a:solidFill>
                  <a:schemeClr val="lt1"/>
                </a:solidFill>
                <a:latin typeface="+mn-lt"/>
                <a:ea typeface="+mn-ea"/>
                <a:cs typeface="+mn-cs"/>
              </a:defRPr>
            </a:lvl6pPr>
            <a:lvl7pPr marL="2743435" algn="l" defTabSz="914478" rtl="0" eaLnBrk="1" latinLnBrk="0" hangingPunct="1">
              <a:defRPr sz="1800" kern="1200">
                <a:solidFill>
                  <a:schemeClr val="lt1"/>
                </a:solidFill>
                <a:latin typeface="+mn-lt"/>
                <a:ea typeface="+mn-ea"/>
                <a:cs typeface="+mn-cs"/>
              </a:defRPr>
            </a:lvl7pPr>
            <a:lvl8pPr marL="3200675" algn="l" defTabSz="914478" rtl="0" eaLnBrk="1" latinLnBrk="0" hangingPunct="1">
              <a:defRPr sz="1800" kern="1200">
                <a:solidFill>
                  <a:schemeClr val="lt1"/>
                </a:solidFill>
                <a:latin typeface="+mn-lt"/>
                <a:ea typeface="+mn-ea"/>
                <a:cs typeface="+mn-cs"/>
              </a:defRPr>
            </a:lvl8pPr>
            <a:lvl9pPr marL="3657913" algn="l" defTabSz="914478" rtl="0" eaLnBrk="1" latinLnBrk="0" hangingPunct="1">
              <a:defRPr sz="1800" kern="1200">
                <a:solidFill>
                  <a:schemeClr val="lt1"/>
                </a:solidFill>
                <a:latin typeface="+mn-lt"/>
                <a:ea typeface="+mn-ea"/>
                <a:cs typeface="+mn-cs"/>
              </a:defRPr>
            </a:lvl9pPr>
          </a:lstStyle>
          <a:p>
            <a:pPr algn="ctr"/>
            <a:endParaRPr lang="zh-CN" altLang="en-US">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52" name="Freeform 159"/>
          <p:cNvSpPr/>
          <p:nvPr/>
        </p:nvSpPr>
        <p:spPr bwMode="gray">
          <a:xfrm flipH="1">
            <a:off x="1290464" y="2593278"/>
            <a:ext cx="2445152" cy="1399742"/>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rgbClr val="E3F6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78" rtl="0" eaLnBrk="1" latinLnBrk="0" hangingPunct="1">
              <a:defRPr sz="1800" kern="1200">
                <a:solidFill>
                  <a:schemeClr val="lt1"/>
                </a:solidFill>
                <a:latin typeface="+mn-lt"/>
                <a:ea typeface="+mn-ea"/>
                <a:cs typeface="+mn-cs"/>
              </a:defRPr>
            </a:lvl1pPr>
            <a:lvl2pPr marL="457240" algn="l" defTabSz="914478" rtl="0" eaLnBrk="1" latinLnBrk="0" hangingPunct="1">
              <a:defRPr sz="1800" kern="1200">
                <a:solidFill>
                  <a:schemeClr val="lt1"/>
                </a:solidFill>
                <a:latin typeface="+mn-lt"/>
                <a:ea typeface="+mn-ea"/>
                <a:cs typeface="+mn-cs"/>
              </a:defRPr>
            </a:lvl2pPr>
            <a:lvl3pPr marL="914478" algn="l" defTabSz="914478" rtl="0" eaLnBrk="1" latinLnBrk="0" hangingPunct="1">
              <a:defRPr sz="1800" kern="1200">
                <a:solidFill>
                  <a:schemeClr val="lt1"/>
                </a:solidFill>
                <a:latin typeface="+mn-lt"/>
                <a:ea typeface="+mn-ea"/>
                <a:cs typeface="+mn-cs"/>
              </a:defRPr>
            </a:lvl3pPr>
            <a:lvl4pPr marL="1371718" algn="l" defTabSz="914478" rtl="0" eaLnBrk="1" latinLnBrk="0" hangingPunct="1">
              <a:defRPr sz="1800" kern="1200">
                <a:solidFill>
                  <a:schemeClr val="lt1"/>
                </a:solidFill>
                <a:latin typeface="+mn-lt"/>
                <a:ea typeface="+mn-ea"/>
                <a:cs typeface="+mn-cs"/>
              </a:defRPr>
            </a:lvl4pPr>
            <a:lvl5pPr marL="1828957" algn="l" defTabSz="914478" rtl="0" eaLnBrk="1" latinLnBrk="0" hangingPunct="1">
              <a:defRPr sz="1800" kern="1200">
                <a:solidFill>
                  <a:schemeClr val="lt1"/>
                </a:solidFill>
                <a:latin typeface="+mn-lt"/>
                <a:ea typeface="+mn-ea"/>
                <a:cs typeface="+mn-cs"/>
              </a:defRPr>
            </a:lvl5pPr>
            <a:lvl6pPr marL="2286196" algn="l" defTabSz="914478" rtl="0" eaLnBrk="1" latinLnBrk="0" hangingPunct="1">
              <a:defRPr sz="1800" kern="1200">
                <a:solidFill>
                  <a:schemeClr val="lt1"/>
                </a:solidFill>
                <a:latin typeface="+mn-lt"/>
                <a:ea typeface="+mn-ea"/>
                <a:cs typeface="+mn-cs"/>
              </a:defRPr>
            </a:lvl6pPr>
            <a:lvl7pPr marL="2743435" algn="l" defTabSz="914478" rtl="0" eaLnBrk="1" latinLnBrk="0" hangingPunct="1">
              <a:defRPr sz="1800" kern="1200">
                <a:solidFill>
                  <a:schemeClr val="lt1"/>
                </a:solidFill>
                <a:latin typeface="+mn-lt"/>
                <a:ea typeface="+mn-ea"/>
                <a:cs typeface="+mn-cs"/>
              </a:defRPr>
            </a:lvl7pPr>
            <a:lvl8pPr marL="3200675" algn="l" defTabSz="914478" rtl="0" eaLnBrk="1" latinLnBrk="0" hangingPunct="1">
              <a:defRPr sz="1800" kern="1200">
                <a:solidFill>
                  <a:schemeClr val="lt1"/>
                </a:solidFill>
                <a:latin typeface="+mn-lt"/>
                <a:ea typeface="+mn-ea"/>
                <a:cs typeface="+mn-cs"/>
              </a:defRPr>
            </a:lvl8pPr>
            <a:lvl9pPr marL="3657913" algn="l" defTabSz="914478" rtl="0" eaLnBrk="1" latinLnBrk="0" hangingPunct="1">
              <a:defRPr sz="1800" kern="1200">
                <a:solidFill>
                  <a:schemeClr val="lt1"/>
                </a:solidFill>
                <a:latin typeface="+mn-lt"/>
                <a:ea typeface="+mn-ea"/>
                <a:cs typeface="+mn-cs"/>
              </a:defRPr>
            </a:lvl9pPr>
          </a:lstStyle>
          <a:p>
            <a:pPr algn="ctr"/>
            <a:endParaRPr lang="en-US">
              <a:latin typeface="Huawei Sans" panose="020C0503030203020204" pitchFamily="34" charset="0"/>
              <a:ea typeface="方正兰亭黑简体" panose="02000000000000000000" pitchFamily="2" charset="-122"/>
            </a:endParaRPr>
          </a:p>
        </p:txBody>
      </p:sp>
      <p:cxnSp>
        <p:nvCxnSpPr>
          <p:cNvPr id="83" name="Straight Connector 166"/>
          <p:cNvCxnSpPr>
            <a:stCxn id="90" idx="2"/>
            <a:endCxn id="98" idx="0"/>
          </p:cNvCxnSpPr>
          <p:nvPr/>
        </p:nvCxnSpPr>
        <p:spPr bwMode="gray">
          <a:xfrm>
            <a:off x="1553611" y="3878115"/>
            <a:ext cx="0" cy="40327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4" name="Straight Connector 166"/>
          <p:cNvCxnSpPr>
            <a:stCxn id="91" idx="2"/>
            <a:endCxn id="99" idx="0"/>
          </p:cNvCxnSpPr>
          <p:nvPr/>
        </p:nvCxnSpPr>
        <p:spPr bwMode="gray">
          <a:xfrm>
            <a:off x="3484412" y="3878115"/>
            <a:ext cx="0" cy="40327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5" name="Straight Connector 167"/>
          <p:cNvCxnSpPr/>
          <p:nvPr/>
        </p:nvCxnSpPr>
        <p:spPr bwMode="gray">
          <a:xfrm flipH="1">
            <a:off x="1554321" y="2818883"/>
            <a:ext cx="971589" cy="876201"/>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86" name="Straight Connector 167"/>
          <p:cNvCxnSpPr/>
          <p:nvPr/>
        </p:nvCxnSpPr>
        <p:spPr bwMode="gray">
          <a:xfrm flipH="1" flipV="1">
            <a:off x="2522531" y="2816406"/>
            <a:ext cx="975076" cy="883934"/>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sp>
        <p:nvSpPr>
          <p:cNvPr id="87" name="文本框 89"/>
          <p:cNvSpPr txBox="1"/>
          <p:nvPr/>
        </p:nvSpPr>
        <p:spPr bwMode="gray">
          <a:xfrm>
            <a:off x="1658897" y="2685974"/>
            <a:ext cx="676788" cy="276999"/>
          </a:xfrm>
          <a:prstGeom prst="rect">
            <a:avLst/>
          </a:prstGeom>
          <a:noFill/>
        </p:spPr>
        <p:txBody>
          <a:bodyPr wrap="none" rtlCol="0">
            <a:spAutoFit/>
          </a:bodyPr>
          <a:ls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a:lstStyle>
          <a:p>
            <a:pPr algn="ctr"/>
            <a:r>
              <a:rPr lang="en-US" altLang="zh-CN" sz="1200" b="1" dirty="0" smtClean="0">
                <a:latin typeface="Huawei Sans" panose="020C0503030203020204" pitchFamily="34" charset="0"/>
                <a:ea typeface="方正兰亭黑简体" panose="02000000000000000000" pitchFamily="2" charset="-122"/>
                <a:cs typeface="Huawei Sans" panose="020C0503030203020204" pitchFamily="34" charset="0"/>
              </a:rPr>
              <a:t>Border</a:t>
            </a:r>
            <a:endParaRPr lang="zh-CN" altLang="en-US" sz="1200" b="1"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88" name="文本框 90"/>
          <p:cNvSpPr txBox="1"/>
          <p:nvPr/>
        </p:nvSpPr>
        <p:spPr bwMode="gray">
          <a:xfrm>
            <a:off x="699883" y="3545342"/>
            <a:ext cx="702436" cy="276999"/>
          </a:xfrm>
          <a:prstGeom prst="rect">
            <a:avLst/>
          </a:prstGeom>
          <a:noFill/>
        </p:spPr>
        <p:txBody>
          <a:bodyPr wrap="none" rtlCol="0">
            <a:spAutoFit/>
          </a:bodyPr>
          <a:ls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a:lstStyle>
          <a:p>
            <a:pPr algn="r"/>
            <a:r>
              <a:rPr lang="en-US" altLang="zh-CN" sz="1200" b="1" dirty="0" smtClean="0">
                <a:latin typeface="Huawei Sans" panose="020C0503030203020204" pitchFamily="34" charset="0"/>
                <a:ea typeface="方正兰亭黑简体" panose="02000000000000000000" pitchFamily="2" charset="-122"/>
                <a:cs typeface="Huawei Sans" panose="020C0503030203020204" pitchFamily="34" charset="0"/>
              </a:rPr>
              <a:t>Edge_1</a:t>
            </a:r>
            <a:endParaRPr lang="zh-CN" altLang="en-US" sz="1200" b="1"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89" name="文本框 91"/>
          <p:cNvSpPr txBox="1"/>
          <p:nvPr/>
        </p:nvSpPr>
        <p:spPr bwMode="gray">
          <a:xfrm>
            <a:off x="770416" y="4325462"/>
            <a:ext cx="631903" cy="276999"/>
          </a:xfrm>
          <a:prstGeom prst="rect">
            <a:avLst/>
          </a:prstGeom>
          <a:noFill/>
        </p:spPr>
        <p:txBody>
          <a:bodyPr wrap="none" rtlCol="0">
            <a:spAutoFit/>
          </a:bodyPr>
          <a:ls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a:lstStyle>
          <a:p>
            <a:pPr algn="r"/>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ACC_1</a:t>
            </a:r>
          </a:p>
        </p:txBody>
      </p:sp>
      <p:pic>
        <p:nvPicPr>
          <p:cNvPr id="90" name="图片 89" descr="汇聚交换机.png"/>
          <p:cNvPicPr>
            <a:picLocks noChangeAspect="1"/>
          </p:cNvPicPr>
          <p:nvPr/>
        </p:nvPicPr>
        <p:blipFill>
          <a:blip r:embed="rId4" cstate="print"/>
          <a:stretch>
            <a:fillRect/>
          </a:stretch>
        </p:blipFill>
        <p:spPr bwMode="gray">
          <a:xfrm>
            <a:off x="1330470" y="3512976"/>
            <a:ext cx="446281" cy="365139"/>
          </a:xfrm>
          <a:prstGeom prst="rect">
            <a:avLst/>
          </a:prstGeom>
        </p:spPr>
      </p:pic>
      <p:pic>
        <p:nvPicPr>
          <p:cNvPr id="91" name="图片 90" descr="汇聚交换机.png"/>
          <p:cNvPicPr>
            <a:picLocks noChangeAspect="1"/>
          </p:cNvPicPr>
          <p:nvPr/>
        </p:nvPicPr>
        <p:blipFill>
          <a:blip r:embed="rId4" cstate="print"/>
          <a:stretch>
            <a:fillRect/>
          </a:stretch>
        </p:blipFill>
        <p:spPr bwMode="gray">
          <a:xfrm>
            <a:off x="3261271" y="3512976"/>
            <a:ext cx="446281" cy="365139"/>
          </a:xfrm>
          <a:prstGeom prst="rect">
            <a:avLst/>
          </a:prstGeom>
        </p:spPr>
      </p:pic>
      <p:sp>
        <p:nvSpPr>
          <p:cNvPr id="92" name="文本框 94"/>
          <p:cNvSpPr txBox="1"/>
          <p:nvPr/>
        </p:nvSpPr>
        <p:spPr bwMode="gray">
          <a:xfrm>
            <a:off x="2691418" y="4325462"/>
            <a:ext cx="631904" cy="276999"/>
          </a:xfrm>
          <a:prstGeom prst="rect">
            <a:avLst/>
          </a:prstGeom>
          <a:noFill/>
        </p:spPr>
        <p:txBody>
          <a:bodyPr wrap="none" rtlCol="0">
            <a:spAutoFit/>
          </a:bodyPr>
          <a:ls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a:lstStyle>
          <a:p>
            <a:pPr algn="r"/>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ACC_2</a:t>
            </a:r>
          </a:p>
        </p:txBody>
      </p:sp>
      <p:sp>
        <p:nvSpPr>
          <p:cNvPr id="93" name="文本框 101"/>
          <p:cNvSpPr txBox="1"/>
          <p:nvPr/>
        </p:nvSpPr>
        <p:spPr bwMode="gray">
          <a:xfrm>
            <a:off x="2170663" y="3525472"/>
            <a:ext cx="676788" cy="307777"/>
          </a:xfrm>
          <a:prstGeom prst="rect">
            <a:avLst/>
          </a:prstGeom>
          <a:noFill/>
        </p:spPr>
        <p:txBody>
          <a:bodyPr wrap="none" rtlCol="0">
            <a:spAutoFit/>
          </a:bodyPr>
          <a:ls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a:lstStyle>
          <a:p>
            <a:pPr algn="ctr"/>
            <a:r>
              <a:rPr lang="en-US" altLang="zh-CN" sz="1400" dirty="0" smtClean="0">
                <a:solidFill>
                  <a:srgbClr val="30B5C5"/>
                </a:solidFill>
                <a:latin typeface="Huawei Sans" panose="020C0503030203020204" pitchFamily="34" charset="0"/>
                <a:ea typeface="方正兰亭细黑简体" panose="02000000000000000000" pitchFamily="2" charset="-122"/>
                <a:sym typeface="Huawei Sans" panose="020C0503030203020204" pitchFamily="34" charset="0"/>
              </a:rPr>
              <a:t>Fabric</a:t>
            </a:r>
          </a:p>
        </p:txBody>
      </p:sp>
      <p:cxnSp>
        <p:nvCxnSpPr>
          <p:cNvPr id="94" name="直接连接符 93"/>
          <p:cNvCxnSpPr/>
          <p:nvPr/>
        </p:nvCxnSpPr>
        <p:spPr bwMode="gray">
          <a:xfrm>
            <a:off x="1809570" y="2026520"/>
            <a:ext cx="495259" cy="621078"/>
          </a:xfrm>
          <a:prstGeom prst="line">
            <a:avLst/>
          </a:prstGeom>
          <a:ln>
            <a:solidFill>
              <a:schemeClr val="bg1">
                <a:lumMod val="6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95" name="直接连接符 94"/>
          <p:cNvCxnSpPr/>
          <p:nvPr/>
        </p:nvCxnSpPr>
        <p:spPr bwMode="gray">
          <a:xfrm flipH="1">
            <a:off x="2777166" y="2036133"/>
            <a:ext cx="464971" cy="611465"/>
          </a:xfrm>
          <a:prstGeom prst="line">
            <a:avLst/>
          </a:prstGeom>
          <a:ln>
            <a:solidFill>
              <a:srgbClr val="ED6D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96" name="文本框 106"/>
          <p:cNvSpPr txBox="1"/>
          <p:nvPr/>
        </p:nvSpPr>
        <p:spPr bwMode="gray">
          <a:xfrm>
            <a:off x="3660886" y="3545342"/>
            <a:ext cx="702436" cy="276999"/>
          </a:xfrm>
          <a:prstGeom prst="rect">
            <a:avLst/>
          </a:prstGeom>
          <a:noFill/>
        </p:spPr>
        <p:txBody>
          <a:bodyPr wrap="none" rtlCol="0">
            <a:spAutoFit/>
          </a:bodyPr>
          <a:ls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a:lstStyle>
          <a:p>
            <a:r>
              <a:rPr lang="en-US" altLang="zh-CN" sz="1200" b="1" dirty="0" smtClean="0">
                <a:latin typeface="Huawei Sans" panose="020C0503030203020204" pitchFamily="34" charset="0"/>
                <a:ea typeface="方正兰亭黑简体" panose="02000000000000000000" pitchFamily="2" charset="-122"/>
                <a:cs typeface="Huawei Sans" panose="020C0503030203020204" pitchFamily="34" charset="0"/>
              </a:rPr>
              <a:t>Edge_2</a:t>
            </a:r>
            <a:endParaRPr lang="zh-CN" altLang="en-US" sz="1200" b="1"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97" name="文本框 107"/>
          <p:cNvSpPr txBox="1"/>
          <p:nvPr/>
        </p:nvSpPr>
        <p:spPr bwMode="gray">
          <a:xfrm>
            <a:off x="733297" y="2390631"/>
            <a:ext cx="468398" cy="307777"/>
          </a:xfrm>
          <a:prstGeom prst="rect">
            <a:avLst/>
          </a:prstGeom>
          <a:noFill/>
        </p:spPr>
        <p:txBody>
          <a:bodyPr wrap="none" rtlCol="0">
            <a:spAutoFit/>
          </a:bodyPr>
          <a:ls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a:lstStyle>
          <a:p>
            <a:r>
              <a:rPr lang="en-US" altLang="zh-CN" sz="1400" b="1" dirty="0" smtClean="0">
                <a:latin typeface="Huawei Sans" panose="020C0503030203020204" pitchFamily="34" charset="0"/>
                <a:ea typeface="方正兰亭黑简体" panose="02000000000000000000" pitchFamily="2" charset="-122"/>
                <a:cs typeface="Huawei Sans" panose="020C0503030203020204" pitchFamily="34" charset="0"/>
              </a:rPr>
              <a:t>HQ</a:t>
            </a:r>
            <a:endParaRPr lang="zh-CN" altLang="en-US" sz="1400" b="1" dirty="0">
              <a:latin typeface="Huawei Sans" panose="020C0503030203020204" pitchFamily="34" charset="0"/>
              <a:ea typeface="方正兰亭黑简体" panose="02000000000000000000" pitchFamily="2" charset="-122"/>
              <a:cs typeface="Huawei Sans" panose="020C0503030203020204" pitchFamily="34" charset="0"/>
            </a:endParaRPr>
          </a:p>
        </p:txBody>
      </p:sp>
      <p:pic>
        <p:nvPicPr>
          <p:cNvPr id="98" name="图片 97" descr="接入交换机.png"/>
          <p:cNvPicPr>
            <a:picLocks noChangeAspect="1"/>
          </p:cNvPicPr>
          <p:nvPr/>
        </p:nvPicPr>
        <p:blipFill>
          <a:blip r:embed="rId5" cstate="print"/>
          <a:stretch>
            <a:fillRect/>
          </a:stretch>
        </p:blipFill>
        <p:spPr bwMode="gray">
          <a:xfrm>
            <a:off x="1330470" y="4281392"/>
            <a:ext cx="446281" cy="365139"/>
          </a:xfrm>
          <a:prstGeom prst="rect">
            <a:avLst/>
          </a:prstGeom>
        </p:spPr>
      </p:pic>
      <p:pic>
        <p:nvPicPr>
          <p:cNvPr id="99" name="图片 98" descr="接入交换机.png"/>
          <p:cNvPicPr>
            <a:picLocks noChangeAspect="1"/>
          </p:cNvPicPr>
          <p:nvPr/>
        </p:nvPicPr>
        <p:blipFill>
          <a:blip r:embed="rId5" cstate="print"/>
          <a:stretch>
            <a:fillRect/>
          </a:stretch>
        </p:blipFill>
        <p:spPr bwMode="gray">
          <a:xfrm>
            <a:off x="3261271" y="4281392"/>
            <a:ext cx="446281" cy="365139"/>
          </a:xfrm>
          <a:prstGeom prst="rect">
            <a:avLst/>
          </a:prstGeom>
        </p:spPr>
      </p:pic>
      <p:pic>
        <p:nvPicPr>
          <p:cNvPr id="100" name="图片 99" descr="核心交换机.png"/>
          <p:cNvPicPr>
            <a:picLocks noChangeAspect="1"/>
          </p:cNvPicPr>
          <p:nvPr/>
        </p:nvPicPr>
        <p:blipFill>
          <a:blip r:embed="rId6" cstate="print"/>
          <a:stretch>
            <a:fillRect/>
          </a:stretch>
        </p:blipFill>
        <p:spPr bwMode="gray">
          <a:xfrm>
            <a:off x="2310163" y="2636314"/>
            <a:ext cx="446281" cy="365139"/>
          </a:xfrm>
          <a:prstGeom prst="rect">
            <a:avLst/>
          </a:prstGeom>
        </p:spPr>
      </p:pic>
      <p:pic>
        <p:nvPicPr>
          <p:cNvPr id="101" name="图片 100"/>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bwMode="gray">
          <a:xfrm>
            <a:off x="3685721" y="2401713"/>
            <a:ext cx="865097" cy="491769"/>
          </a:xfrm>
          <a:prstGeom prst="rect">
            <a:avLst/>
          </a:prstGeom>
        </p:spPr>
      </p:pic>
      <p:pic>
        <p:nvPicPr>
          <p:cNvPr id="102" name="图片 101" descr="AP.png"/>
          <p:cNvPicPr>
            <a:picLocks noChangeAspect="1"/>
          </p:cNvPicPr>
          <p:nvPr/>
        </p:nvPicPr>
        <p:blipFill>
          <a:blip r:embed="rId8" cstate="print"/>
          <a:stretch>
            <a:fillRect/>
          </a:stretch>
        </p:blipFill>
        <p:spPr bwMode="gray">
          <a:xfrm>
            <a:off x="3941003" y="4313077"/>
            <a:ext cx="368827" cy="301768"/>
          </a:xfrm>
          <a:prstGeom prst="rect">
            <a:avLst/>
          </a:prstGeom>
        </p:spPr>
      </p:pic>
      <p:cxnSp>
        <p:nvCxnSpPr>
          <p:cNvPr id="103" name="Straight Connector 166"/>
          <p:cNvCxnSpPr>
            <a:stCxn id="99" idx="3"/>
            <a:endCxn id="102" idx="1"/>
          </p:cNvCxnSpPr>
          <p:nvPr/>
        </p:nvCxnSpPr>
        <p:spPr bwMode="gray">
          <a:xfrm flipV="1">
            <a:off x="3707552" y="4463961"/>
            <a:ext cx="233451" cy="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04" name="文本框 103"/>
          <p:cNvSpPr txBox="1"/>
          <p:nvPr/>
        </p:nvSpPr>
        <p:spPr bwMode="gray">
          <a:xfrm>
            <a:off x="4267173" y="4315959"/>
            <a:ext cx="460382" cy="276999"/>
          </a:xfrm>
          <a:prstGeom prst="rect">
            <a:avLst/>
          </a:prstGeom>
          <a:noFill/>
        </p:spPr>
        <p:txBody>
          <a:bodyPr wrap="none" rtlCol="0">
            <a:spAutoFit/>
          </a:bodyPr>
          <a:lstStyle/>
          <a:p>
            <a:pPr algn="r"/>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AP1</a:t>
            </a:r>
            <a:endParaRPr lang="zh-CN" altLang="en-US" sz="1200" b="1"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43" name="五边形 42"/>
          <p:cNvSpPr/>
          <p:nvPr/>
        </p:nvSpPr>
        <p:spPr bwMode="gray">
          <a:xfrm>
            <a:off x="5773628" y="98481"/>
            <a:ext cx="9000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站点管理</a:t>
            </a:r>
          </a:p>
        </p:txBody>
      </p:sp>
      <p:sp>
        <p:nvSpPr>
          <p:cNvPr id="45" name="燕尾形 44"/>
          <p:cNvSpPr/>
          <p:nvPr/>
        </p:nvSpPr>
        <p:spPr bwMode="gray">
          <a:xfrm>
            <a:off x="9109268" y="9848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逻辑网络</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7" name="燕尾形 46"/>
          <p:cNvSpPr/>
          <p:nvPr/>
        </p:nvSpPr>
        <p:spPr bwMode="gray">
          <a:xfrm>
            <a:off x="9925178" y="9848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业务部署</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8" name="燕尾形 47"/>
          <p:cNvSpPr/>
          <p:nvPr/>
        </p:nvSpPr>
        <p:spPr bwMode="gray">
          <a:xfrm>
            <a:off x="8221358" y="98481"/>
            <a:ext cx="9720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Fabric</a:t>
            </a: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网络</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5" name="燕尾形 54"/>
          <p:cNvSpPr/>
          <p:nvPr/>
        </p:nvSpPr>
        <p:spPr bwMode="gray">
          <a:xfrm>
            <a:off x="7405448" y="9848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网络规划</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6" name="燕尾形 55"/>
          <p:cNvSpPr/>
          <p:nvPr/>
        </p:nvSpPr>
        <p:spPr bwMode="gray">
          <a:xfrm>
            <a:off x="6589538" y="9848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设备管理</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7" name="燕尾形 56"/>
          <p:cNvSpPr/>
          <p:nvPr/>
        </p:nvSpPr>
        <p:spPr bwMode="gray">
          <a:xfrm>
            <a:off x="10741088" y="98481"/>
            <a:ext cx="1008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WLAN</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业务</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3450134393"/>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a:stretch>
            <a:fillRect/>
          </a:stretch>
        </p:blipFill>
        <p:spPr bwMode="gray">
          <a:xfrm>
            <a:off x="4861839" y="2103621"/>
            <a:ext cx="6884059" cy="2883441"/>
          </a:xfrm>
          <a:prstGeom prst="rect">
            <a:avLst/>
          </a:prstGeom>
          <a:ln w="12700">
            <a:solidFill>
              <a:schemeClr val="bg1">
                <a:lumMod val="85000"/>
              </a:schemeClr>
            </a:solidFill>
          </a:ln>
        </p:spPr>
      </p:pic>
      <p:cxnSp>
        <p:nvCxnSpPr>
          <p:cNvPr id="83" name="直接箭头连接符 82"/>
          <p:cNvCxnSpPr/>
          <p:nvPr/>
        </p:nvCxnSpPr>
        <p:spPr bwMode="gray">
          <a:xfrm flipH="1">
            <a:off x="10150731" y="3496541"/>
            <a:ext cx="504516" cy="397541"/>
          </a:xfrm>
          <a:prstGeom prst="straightConnector1">
            <a:avLst/>
          </a:prstGeom>
          <a:ln w="38100">
            <a:solidFill>
              <a:srgbClr val="30B5C5"/>
            </a:solidFill>
            <a:tailEnd type="triangle"/>
          </a:ln>
        </p:spPr>
        <p:style>
          <a:lnRef idx="1">
            <a:schemeClr val="accent1"/>
          </a:lnRef>
          <a:fillRef idx="0">
            <a:schemeClr val="accent1"/>
          </a:fillRef>
          <a:effectRef idx="0">
            <a:schemeClr val="accent1"/>
          </a:effectRef>
          <a:fontRef idx="minor">
            <a:schemeClr val="tx1"/>
          </a:fontRef>
        </p:style>
      </p:cxnSp>
      <p:sp>
        <p:nvSpPr>
          <p:cNvPr id="5" name="标题 4"/>
          <p:cNvSpPr>
            <a:spLocks noGrp="1"/>
          </p:cNvSpPr>
          <p:nvPr>
            <p:ph type="title"/>
          </p:nvPr>
        </p:nvSpPr>
        <p:spPr bwMode="gray"/>
        <p:txBody>
          <a:bodyPr>
            <a:normAutofit/>
          </a:bodyPr>
          <a:lstStyle/>
          <a:p>
            <a:r>
              <a:rPr lang="zh-CN" altLang="en-US" dirty="0"/>
              <a:t>实现</a:t>
            </a:r>
            <a:r>
              <a:rPr lang="zh-CN" altLang="en-US" dirty="0" smtClean="0"/>
              <a:t>：创建网络</a:t>
            </a:r>
            <a:r>
              <a:rPr lang="zh-CN" altLang="en-US" dirty="0"/>
              <a:t>服务</a:t>
            </a:r>
            <a:r>
              <a:rPr lang="zh-CN" altLang="en-US" dirty="0" smtClean="0"/>
              <a:t>资源</a:t>
            </a:r>
            <a:r>
              <a:rPr lang="zh-CN" altLang="en-US" dirty="0"/>
              <a:t> </a:t>
            </a:r>
            <a:r>
              <a:rPr lang="en-US" altLang="zh-CN" dirty="0" smtClean="0"/>
              <a:t>(2)</a:t>
            </a:r>
            <a:endParaRPr lang="zh-CN" altLang="en-US" dirty="0"/>
          </a:p>
        </p:txBody>
      </p:sp>
      <p:sp>
        <p:nvSpPr>
          <p:cNvPr id="61" name="矩形 60"/>
          <p:cNvSpPr/>
          <p:nvPr/>
        </p:nvSpPr>
        <p:spPr bwMode="gray">
          <a:xfrm>
            <a:off x="4799425" y="1703511"/>
            <a:ext cx="6399956" cy="400110"/>
          </a:xfrm>
          <a:prstGeom prst="rect">
            <a:avLst/>
          </a:prstGeom>
        </p:spPr>
        <p:txBody>
          <a:bodyPr wrap="square">
            <a:spAutoFit/>
          </a:bodyPr>
          <a:lstStyle/>
          <a:p>
            <a:pPr algn="just">
              <a:lnSpc>
                <a:spcPts val="2400"/>
              </a:lnSpc>
              <a:spcAft>
                <a:spcPts val="600"/>
              </a:spcAft>
            </a:pPr>
            <a:r>
              <a:rPr lang="zh-CN" altLang="en-US" sz="1600" dirty="0" smtClean="0"/>
              <a:t>完成设备配置，包括场景选择及互联信息配置：</a:t>
            </a:r>
            <a:endParaRPr lang="zh-CN" altLang="en-US" sz="1600" dirty="0"/>
          </a:p>
        </p:txBody>
      </p:sp>
      <p:cxnSp>
        <p:nvCxnSpPr>
          <p:cNvPr id="49" name="直接箭头连接符 48"/>
          <p:cNvCxnSpPr>
            <a:stCxn id="50" idx="1"/>
          </p:cNvCxnSpPr>
          <p:nvPr/>
        </p:nvCxnSpPr>
        <p:spPr bwMode="gray">
          <a:xfrm flipH="1">
            <a:off x="10088663" y="2640834"/>
            <a:ext cx="314325" cy="0"/>
          </a:xfrm>
          <a:prstGeom prst="straightConnector1">
            <a:avLst/>
          </a:prstGeom>
          <a:ln w="38100">
            <a:solidFill>
              <a:srgbClr val="30B5C5"/>
            </a:solidFill>
            <a:tailEnd type="triangle"/>
          </a:ln>
        </p:spPr>
        <p:style>
          <a:lnRef idx="1">
            <a:schemeClr val="accent1"/>
          </a:lnRef>
          <a:fillRef idx="0">
            <a:schemeClr val="accent1"/>
          </a:fillRef>
          <a:effectRef idx="0">
            <a:schemeClr val="accent1"/>
          </a:effectRef>
          <a:fontRef idx="minor">
            <a:schemeClr val="tx1"/>
          </a:fontRef>
        </p:style>
      </p:cxnSp>
      <p:sp>
        <p:nvSpPr>
          <p:cNvPr id="50" name="TextBox 179"/>
          <p:cNvSpPr txBox="1"/>
          <p:nvPr/>
        </p:nvSpPr>
        <p:spPr bwMode="gray">
          <a:xfrm>
            <a:off x="10402988" y="2515670"/>
            <a:ext cx="1285182" cy="250328"/>
          </a:xfrm>
          <a:prstGeom prst="roundRect">
            <a:avLst>
              <a:gd name="adj" fmla="val 12806"/>
            </a:avLst>
          </a:prstGeom>
          <a:solidFill>
            <a:srgbClr val="30B5C5"/>
          </a:solidFill>
          <a:ln>
            <a:noFill/>
          </a:ln>
        </p:spPr>
        <p:txBody>
          <a:bodyPr wrap="square" lIns="72000" tIns="72000" rIns="72000" bIns="72000" anchor="ctr" anchorCtr="0">
            <a:noAutofit/>
          </a:bodyPr>
          <a:lstStyle>
            <a:defPPr>
              <a:defRPr lang="en-US"/>
            </a:defPPr>
            <a:lvl1pPr algn="ctr" defTabSz="914478">
              <a:defRPr sz="1200">
                <a:solidFill>
                  <a:schemeClr val="bg1"/>
                </a:solidFill>
              </a:defRPr>
            </a:lvl1pPr>
            <a:lvl2pPr marL="457240" defTabSz="914478"/>
            <a:lvl3pPr marL="914478" defTabSz="914478"/>
            <a:lvl4pPr marL="1371718" defTabSz="914478"/>
            <a:lvl5pPr marL="1828957" defTabSz="914478"/>
            <a:lvl6pPr marL="2286196" defTabSz="914478"/>
            <a:lvl7pPr marL="2743435" defTabSz="914478"/>
            <a:lvl8pPr marL="3200675" defTabSz="914478"/>
            <a:lvl9pPr marL="3657913" defTabSz="914478"/>
          </a:lstStyle>
          <a:p>
            <a:r>
              <a:rPr lang="zh-CN" altLang="en-US" dirty="0" smtClean="0"/>
              <a:t>定义场景</a:t>
            </a:r>
            <a:endParaRPr lang="zh-CN" altLang="en-US" dirty="0"/>
          </a:p>
        </p:txBody>
      </p:sp>
      <p:sp>
        <p:nvSpPr>
          <p:cNvPr id="52" name="TextBox 179"/>
          <p:cNvSpPr txBox="1"/>
          <p:nvPr/>
        </p:nvSpPr>
        <p:spPr bwMode="gray">
          <a:xfrm>
            <a:off x="10402988" y="3450012"/>
            <a:ext cx="1285182" cy="250328"/>
          </a:xfrm>
          <a:prstGeom prst="roundRect">
            <a:avLst>
              <a:gd name="adj" fmla="val 12806"/>
            </a:avLst>
          </a:prstGeom>
          <a:solidFill>
            <a:srgbClr val="30B5C5"/>
          </a:solidFill>
          <a:ln>
            <a:noFill/>
          </a:ln>
        </p:spPr>
        <p:txBody>
          <a:bodyPr wrap="square" lIns="72000" tIns="72000" rIns="72000" bIns="72000" anchor="ctr" anchorCtr="0">
            <a:noAutofit/>
          </a:bodyPr>
          <a:lstStyle>
            <a:defPPr>
              <a:defRPr lang="en-US"/>
            </a:defPPr>
            <a:lvl1pPr algn="ctr" defTabSz="914478">
              <a:defRPr sz="1200">
                <a:solidFill>
                  <a:schemeClr val="bg1"/>
                </a:solidFill>
              </a:defRPr>
            </a:lvl1pPr>
            <a:lvl2pPr marL="457240" defTabSz="914478"/>
            <a:lvl3pPr marL="914478" defTabSz="914478"/>
            <a:lvl4pPr marL="1371718" defTabSz="914478"/>
            <a:lvl5pPr marL="1828957" defTabSz="914478"/>
            <a:lvl6pPr marL="2286196" defTabSz="914478"/>
            <a:lvl7pPr marL="2743435" defTabSz="914478"/>
            <a:lvl8pPr marL="3200675" defTabSz="914478"/>
            <a:lvl9pPr marL="3657913" defTabSz="914478"/>
          </a:lstStyle>
          <a:p>
            <a:r>
              <a:rPr lang="zh-CN" altLang="en-US" dirty="0" smtClean="0"/>
              <a:t>定义互联信息</a:t>
            </a:r>
            <a:endParaRPr lang="zh-CN" altLang="en-US" dirty="0"/>
          </a:p>
        </p:txBody>
      </p:sp>
      <p:sp>
        <p:nvSpPr>
          <p:cNvPr id="85" name="Freeform 159"/>
          <p:cNvSpPr/>
          <p:nvPr/>
        </p:nvSpPr>
        <p:spPr bwMode="gray">
          <a:xfrm flipH="1">
            <a:off x="806774" y="1330820"/>
            <a:ext cx="1240474" cy="648430"/>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tIns="108000" rtlCol="0" anchor="ctr">
            <a:noAutofit/>
          </a:bodyPr>
          <a:lstStyle/>
          <a:p>
            <a:pPr algn="ctr"/>
            <a:r>
              <a:rPr lang="zh-CN" altLang="en-US" sz="1400" dirty="0">
                <a:solidFill>
                  <a:schemeClr val="bg1">
                    <a:lumMod val="50000"/>
                  </a:schemeClr>
                </a:solidFill>
              </a:rPr>
              <a:t>外部网络</a:t>
            </a:r>
            <a:endParaRPr lang="en-US" sz="1400" dirty="0">
              <a:solidFill>
                <a:schemeClr val="bg1">
                  <a:lumMod val="50000"/>
                </a:schemeClr>
              </a:solidFill>
            </a:endParaRPr>
          </a:p>
        </p:txBody>
      </p:sp>
      <p:sp>
        <p:nvSpPr>
          <p:cNvPr id="86" name="Freeform 159"/>
          <p:cNvSpPr/>
          <p:nvPr/>
        </p:nvSpPr>
        <p:spPr bwMode="gray">
          <a:xfrm flipH="1">
            <a:off x="2932892" y="1330820"/>
            <a:ext cx="1240474" cy="648430"/>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12700">
            <a:solidFill>
              <a:srgbClr val="ED6D00"/>
            </a:solidFill>
          </a:ln>
        </p:spPr>
        <p:style>
          <a:lnRef idx="2">
            <a:schemeClr val="accent1">
              <a:shade val="50000"/>
            </a:schemeClr>
          </a:lnRef>
          <a:fillRef idx="1">
            <a:schemeClr val="accent1"/>
          </a:fillRef>
          <a:effectRef idx="0">
            <a:schemeClr val="accent1"/>
          </a:effectRef>
          <a:fontRef idx="minor">
            <a:schemeClr val="lt1"/>
          </a:fontRef>
        </p:style>
        <p:txBody>
          <a:bodyPr wrap="square" tIns="108000" rtlCol="0" anchor="ctr">
            <a:noAutofit/>
          </a:bodyPr>
          <a:lstStyle/>
          <a:p>
            <a:pPr algn="ctr"/>
            <a:r>
              <a:rPr lang="zh-CN" altLang="en-US" sz="1400">
                <a:solidFill>
                  <a:srgbClr val="ED6D00"/>
                </a:solidFill>
              </a:rPr>
              <a:t>网络服务</a:t>
            </a:r>
            <a:endParaRPr lang="en-US" altLang="zh-CN" sz="1400">
              <a:solidFill>
                <a:srgbClr val="ED6D00"/>
              </a:solidFill>
            </a:endParaRPr>
          </a:p>
          <a:p>
            <a:pPr algn="ctr"/>
            <a:r>
              <a:rPr lang="zh-CN" altLang="en-US" sz="1400">
                <a:solidFill>
                  <a:srgbClr val="ED6D00"/>
                </a:solidFill>
              </a:rPr>
              <a:t>资源</a:t>
            </a:r>
            <a:endParaRPr lang="en-US" sz="1400">
              <a:solidFill>
                <a:srgbClr val="ED6D00"/>
              </a:solidFill>
            </a:endParaRPr>
          </a:p>
        </p:txBody>
      </p:sp>
      <p:sp>
        <p:nvSpPr>
          <p:cNvPr id="87" name="圆角矩形 86"/>
          <p:cNvSpPr/>
          <p:nvPr/>
        </p:nvSpPr>
        <p:spPr bwMode="gray">
          <a:xfrm>
            <a:off x="700822" y="2240462"/>
            <a:ext cx="3948649" cy="2628871"/>
          </a:xfrm>
          <a:prstGeom prst="roundRect">
            <a:avLst>
              <a:gd name="adj" fmla="val 3166"/>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78" rtl="0" eaLnBrk="1" latinLnBrk="0" hangingPunct="1">
              <a:defRPr sz="1800" kern="1200">
                <a:solidFill>
                  <a:schemeClr val="lt1"/>
                </a:solidFill>
                <a:latin typeface="+mn-lt"/>
                <a:ea typeface="+mn-ea"/>
                <a:cs typeface="+mn-cs"/>
              </a:defRPr>
            </a:lvl1pPr>
            <a:lvl2pPr marL="457240" algn="l" defTabSz="914478" rtl="0" eaLnBrk="1" latinLnBrk="0" hangingPunct="1">
              <a:defRPr sz="1800" kern="1200">
                <a:solidFill>
                  <a:schemeClr val="lt1"/>
                </a:solidFill>
                <a:latin typeface="+mn-lt"/>
                <a:ea typeface="+mn-ea"/>
                <a:cs typeface="+mn-cs"/>
              </a:defRPr>
            </a:lvl2pPr>
            <a:lvl3pPr marL="914478" algn="l" defTabSz="914478" rtl="0" eaLnBrk="1" latinLnBrk="0" hangingPunct="1">
              <a:defRPr sz="1800" kern="1200">
                <a:solidFill>
                  <a:schemeClr val="lt1"/>
                </a:solidFill>
                <a:latin typeface="+mn-lt"/>
                <a:ea typeface="+mn-ea"/>
                <a:cs typeface="+mn-cs"/>
              </a:defRPr>
            </a:lvl3pPr>
            <a:lvl4pPr marL="1371718" algn="l" defTabSz="914478" rtl="0" eaLnBrk="1" latinLnBrk="0" hangingPunct="1">
              <a:defRPr sz="1800" kern="1200">
                <a:solidFill>
                  <a:schemeClr val="lt1"/>
                </a:solidFill>
                <a:latin typeface="+mn-lt"/>
                <a:ea typeface="+mn-ea"/>
                <a:cs typeface="+mn-cs"/>
              </a:defRPr>
            </a:lvl4pPr>
            <a:lvl5pPr marL="1828957" algn="l" defTabSz="914478" rtl="0" eaLnBrk="1" latinLnBrk="0" hangingPunct="1">
              <a:defRPr sz="1800" kern="1200">
                <a:solidFill>
                  <a:schemeClr val="lt1"/>
                </a:solidFill>
                <a:latin typeface="+mn-lt"/>
                <a:ea typeface="+mn-ea"/>
                <a:cs typeface="+mn-cs"/>
              </a:defRPr>
            </a:lvl5pPr>
            <a:lvl6pPr marL="2286196" algn="l" defTabSz="914478" rtl="0" eaLnBrk="1" latinLnBrk="0" hangingPunct="1">
              <a:defRPr sz="1800" kern="1200">
                <a:solidFill>
                  <a:schemeClr val="lt1"/>
                </a:solidFill>
                <a:latin typeface="+mn-lt"/>
                <a:ea typeface="+mn-ea"/>
                <a:cs typeface="+mn-cs"/>
              </a:defRPr>
            </a:lvl6pPr>
            <a:lvl7pPr marL="2743435" algn="l" defTabSz="914478" rtl="0" eaLnBrk="1" latinLnBrk="0" hangingPunct="1">
              <a:defRPr sz="1800" kern="1200">
                <a:solidFill>
                  <a:schemeClr val="lt1"/>
                </a:solidFill>
                <a:latin typeface="+mn-lt"/>
                <a:ea typeface="+mn-ea"/>
                <a:cs typeface="+mn-cs"/>
              </a:defRPr>
            </a:lvl7pPr>
            <a:lvl8pPr marL="3200675" algn="l" defTabSz="914478" rtl="0" eaLnBrk="1" latinLnBrk="0" hangingPunct="1">
              <a:defRPr sz="1800" kern="1200">
                <a:solidFill>
                  <a:schemeClr val="lt1"/>
                </a:solidFill>
                <a:latin typeface="+mn-lt"/>
                <a:ea typeface="+mn-ea"/>
                <a:cs typeface="+mn-cs"/>
              </a:defRPr>
            </a:lvl8pPr>
            <a:lvl9pPr marL="3657913" algn="l" defTabSz="914478" rtl="0" eaLnBrk="1" latinLnBrk="0" hangingPunct="1">
              <a:defRPr sz="1800" kern="1200">
                <a:solidFill>
                  <a:schemeClr val="lt1"/>
                </a:solidFill>
                <a:latin typeface="+mn-lt"/>
                <a:ea typeface="+mn-ea"/>
                <a:cs typeface="+mn-cs"/>
              </a:defRPr>
            </a:lvl9pPr>
          </a:lstStyle>
          <a:p>
            <a:pPr algn="ctr"/>
            <a:endParaRPr lang="zh-CN" altLang="en-US">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88" name="Freeform 159"/>
          <p:cNvSpPr/>
          <p:nvPr/>
        </p:nvSpPr>
        <p:spPr bwMode="gray">
          <a:xfrm flipH="1">
            <a:off x="1290464" y="2593278"/>
            <a:ext cx="2445152" cy="1399742"/>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rgbClr val="E3F6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78" rtl="0" eaLnBrk="1" latinLnBrk="0" hangingPunct="1">
              <a:defRPr sz="1800" kern="1200">
                <a:solidFill>
                  <a:schemeClr val="lt1"/>
                </a:solidFill>
                <a:latin typeface="+mn-lt"/>
                <a:ea typeface="+mn-ea"/>
                <a:cs typeface="+mn-cs"/>
              </a:defRPr>
            </a:lvl1pPr>
            <a:lvl2pPr marL="457240" algn="l" defTabSz="914478" rtl="0" eaLnBrk="1" latinLnBrk="0" hangingPunct="1">
              <a:defRPr sz="1800" kern="1200">
                <a:solidFill>
                  <a:schemeClr val="lt1"/>
                </a:solidFill>
                <a:latin typeface="+mn-lt"/>
                <a:ea typeface="+mn-ea"/>
                <a:cs typeface="+mn-cs"/>
              </a:defRPr>
            </a:lvl2pPr>
            <a:lvl3pPr marL="914478" algn="l" defTabSz="914478" rtl="0" eaLnBrk="1" latinLnBrk="0" hangingPunct="1">
              <a:defRPr sz="1800" kern="1200">
                <a:solidFill>
                  <a:schemeClr val="lt1"/>
                </a:solidFill>
                <a:latin typeface="+mn-lt"/>
                <a:ea typeface="+mn-ea"/>
                <a:cs typeface="+mn-cs"/>
              </a:defRPr>
            </a:lvl3pPr>
            <a:lvl4pPr marL="1371718" algn="l" defTabSz="914478" rtl="0" eaLnBrk="1" latinLnBrk="0" hangingPunct="1">
              <a:defRPr sz="1800" kern="1200">
                <a:solidFill>
                  <a:schemeClr val="lt1"/>
                </a:solidFill>
                <a:latin typeface="+mn-lt"/>
                <a:ea typeface="+mn-ea"/>
                <a:cs typeface="+mn-cs"/>
              </a:defRPr>
            </a:lvl4pPr>
            <a:lvl5pPr marL="1828957" algn="l" defTabSz="914478" rtl="0" eaLnBrk="1" latinLnBrk="0" hangingPunct="1">
              <a:defRPr sz="1800" kern="1200">
                <a:solidFill>
                  <a:schemeClr val="lt1"/>
                </a:solidFill>
                <a:latin typeface="+mn-lt"/>
                <a:ea typeface="+mn-ea"/>
                <a:cs typeface="+mn-cs"/>
              </a:defRPr>
            </a:lvl5pPr>
            <a:lvl6pPr marL="2286196" algn="l" defTabSz="914478" rtl="0" eaLnBrk="1" latinLnBrk="0" hangingPunct="1">
              <a:defRPr sz="1800" kern="1200">
                <a:solidFill>
                  <a:schemeClr val="lt1"/>
                </a:solidFill>
                <a:latin typeface="+mn-lt"/>
                <a:ea typeface="+mn-ea"/>
                <a:cs typeface="+mn-cs"/>
              </a:defRPr>
            </a:lvl6pPr>
            <a:lvl7pPr marL="2743435" algn="l" defTabSz="914478" rtl="0" eaLnBrk="1" latinLnBrk="0" hangingPunct="1">
              <a:defRPr sz="1800" kern="1200">
                <a:solidFill>
                  <a:schemeClr val="lt1"/>
                </a:solidFill>
                <a:latin typeface="+mn-lt"/>
                <a:ea typeface="+mn-ea"/>
                <a:cs typeface="+mn-cs"/>
              </a:defRPr>
            </a:lvl7pPr>
            <a:lvl8pPr marL="3200675" algn="l" defTabSz="914478" rtl="0" eaLnBrk="1" latinLnBrk="0" hangingPunct="1">
              <a:defRPr sz="1800" kern="1200">
                <a:solidFill>
                  <a:schemeClr val="lt1"/>
                </a:solidFill>
                <a:latin typeface="+mn-lt"/>
                <a:ea typeface="+mn-ea"/>
                <a:cs typeface="+mn-cs"/>
              </a:defRPr>
            </a:lvl8pPr>
            <a:lvl9pPr marL="3657913" algn="l" defTabSz="914478" rtl="0" eaLnBrk="1" latinLnBrk="0" hangingPunct="1">
              <a:defRPr sz="1800" kern="1200">
                <a:solidFill>
                  <a:schemeClr val="lt1"/>
                </a:solidFill>
                <a:latin typeface="+mn-lt"/>
                <a:ea typeface="+mn-ea"/>
                <a:cs typeface="+mn-cs"/>
              </a:defRPr>
            </a:lvl9pPr>
          </a:lstStyle>
          <a:p>
            <a:pPr algn="ctr"/>
            <a:endParaRPr lang="en-US">
              <a:latin typeface="Huawei Sans" panose="020C0503030203020204" pitchFamily="34" charset="0"/>
              <a:ea typeface="方正兰亭黑简体" panose="02000000000000000000" pitchFamily="2" charset="-122"/>
            </a:endParaRPr>
          </a:p>
        </p:txBody>
      </p:sp>
      <p:cxnSp>
        <p:nvCxnSpPr>
          <p:cNvPr id="89" name="Straight Connector 166"/>
          <p:cNvCxnSpPr>
            <a:stCxn id="96" idx="2"/>
            <a:endCxn id="104" idx="0"/>
          </p:cNvCxnSpPr>
          <p:nvPr/>
        </p:nvCxnSpPr>
        <p:spPr bwMode="gray">
          <a:xfrm>
            <a:off x="1553611" y="3878115"/>
            <a:ext cx="0" cy="40327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0" name="Straight Connector 166"/>
          <p:cNvCxnSpPr>
            <a:stCxn id="97" idx="2"/>
            <a:endCxn id="105" idx="0"/>
          </p:cNvCxnSpPr>
          <p:nvPr/>
        </p:nvCxnSpPr>
        <p:spPr bwMode="gray">
          <a:xfrm>
            <a:off x="3484412" y="3878115"/>
            <a:ext cx="0" cy="40327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1" name="Straight Connector 167"/>
          <p:cNvCxnSpPr/>
          <p:nvPr/>
        </p:nvCxnSpPr>
        <p:spPr bwMode="gray">
          <a:xfrm flipH="1">
            <a:off x="1554321" y="2818883"/>
            <a:ext cx="971589" cy="876201"/>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92" name="Straight Connector 167"/>
          <p:cNvCxnSpPr/>
          <p:nvPr/>
        </p:nvCxnSpPr>
        <p:spPr bwMode="gray">
          <a:xfrm flipH="1" flipV="1">
            <a:off x="2522531" y="2816406"/>
            <a:ext cx="975076" cy="883934"/>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sp>
        <p:nvSpPr>
          <p:cNvPr id="93" name="文本框 89"/>
          <p:cNvSpPr txBox="1"/>
          <p:nvPr/>
        </p:nvSpPr>
        <p:spPr bwMode="gray">
          <a:xfrm>
            <a:off x="1658897" y="2685974"/>
            <a:ext cx="676788" cy="276999"/>
          </a:xfrm>
          <a:prstGeom prst="rect">
            <a:avLst/>
          </a:prstGeom>
          <a:noFill/>
        </p:spPr>
        <p:txBody>
          <a:bodyPr wrap="none" rtlCol="0">
            <a:spAutoFit/>
          </a:bodyPr>
          <a:ls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a:lstStyle>
          <a:p>
            <a:pPr algn="ctr"/>
            <a:r>
              <a:rPr lang="en-US" altLang="zh-CN" sz="1200" b="1" dirty="0" smtClean="0">
                <a:latin typeface="Huawei Sans" panose="020C0503030203020204" pitchFamily="34" charset="0"/>
                <a:ea typeface="方正兰亭黑简体" panose="02000000000000000000" pitchFamily="2" charset="-122"/>
                <a:cs typeface="Huawei Sans" panose="020C0503030203020204" pitchFamily="34" charset="0"/>
              </a:rPr>
              <a:t>Border</a:t>
            </a:r>
            <a:endParaRPr lang="zh-CN" altLang="en-US" sz="1200" b="1"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94" name="文本框 90"/>
          <p:cNvSpPr txBox="1"/>
          <p:nvPr/>
        </p:nvSpPr>
        <p:spPr bwMode="gray">
          <a:xfrm>
            <a:off x="699883" y="3545342"/>
            <a:ext cx="702436" cy="276999"/>
          </a:xfrm>
          <a:prstGeom prst="rect">
            <a:avLst/>
          </a:prstGeom>
          <a:noFill/>
        </p:spPr>
        <p:txBody>
          <a:bodyPr wrap="none" rtlCol="0">
            <a:spAutoFit/>
          </a:bodyPr>
          <a:ls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a:lstStyle>
          <a:p>
            <a:pPr algn="r"/>
            <a:r>
              <a:rPr lang="en-US" altLang="zh-CN" sz="1200" b="1" dirty="0" smtClean="0">
                <a:latin typeface="Huawei Sans" panose="020C0503030203020204" pitchFamily="34" charset="0"/>
                <a:ea typeface="方正兰亭黑简体" panose="02000000000000000000" pitchFamily="2" charset="-122"/>
                <a:cs typeface="Huawei Sans" panose="020C0503030203020204" pitchFamily="34" charset="0"/>
              </a:rPr>
              <a:t>Edge_1</a:t>
            </a:r>
            <a:endParaRPr lang="zh-CN" altLang="en-US" sz="1200" b="1"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95" name="文本框 91"/>
          <p:cNvSpPr txBox="1"/>
          <p:nvPr/>
        </p:nvSpPr>
        <p:spPr bwMode="gray">
          <a:xfrm>
            <a:off x="770416" y="4325462"/>
            <a:ext cx="631903" cy="276999"/>
          </a:xfrm>
          <a:prstGeom prst="rect">
            <a:avLst/>
          </a:prstGeom>
          <a:noFill/>
        </p:spPr>
        <p:txBody>
          <a:bodyPr wrap="none" rtlCol="0">
            <a:spAutoFit/>
          </a:bodyPr>
          <a:ls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a:lstStyle>
          <a:p>
            <a:pPr algn="r"/>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ACC_1</a:t>
            </a:r>
          </a:p>
        </p:txBody>
      </p:sp>
      <p:pic>
        <p:nvPicPr>
          <p:cNvPr id="96" name="图片 95" descr="汇聚交换机.png"/>
          <p:cNvPicPr>
            <a:picLocks noChangeAspect="1"/>
          </p:cNvPicPr>
          <p:nvPr/>
        </p:nvPicPr>
        <p:blipFill>
          <a:blip r:embed="rId4" cstate="print"/>
          <a:stretch>
            <a:fillRect/>
          </a:stretch>
        </p:blipFill>
        <p:spPr bwMode="gray">
          <a:xfrm>
            <a:off x="1330470" y="3512976"/>
            <a:ext cx="446281" cy="365139"/>
          </a:xfrm>
          <a:prstGeom prst="rect">
            <a:avLst/>
          </a:prstGeom>
        </p:spPr>
      </p:pic>
      <p:pic>
        <p:nvPicPr>
          <p:cNvPr id="97" name="图片 96" descr="汇聚交换机.png"/>
          <p:cNvPicPr>
            <a:picLocks noChangeAspect="1"/>
          </p:cNvPicPr>
          <p:nvPr/>
        </p:nvPicPr>
        <p:blipFill>
          <a:blip r:embed="rId4" cstate="print"/>
          <a:stretch>
            <a:fillRect/>
          </a:stretch>
        </p:blipFill>
        <p:spPr bwMode="gray">
          <a:xfrm>
            <a:off x="3261271" y="3512976"/>
            <a:ext cx="446281" cy="365139"/>
          </a:xfrm>
          <a:prstGeom prst="rect">
            <a:avLst/>
          </a:prstGeom>
        </p:spPr>
      </p:pic>
      <p:sp>
        <p:nvSpPr>
          <p:cNvPr id="98" name="文本框 94"/>
          <p:cNvSpPr txBox="1"/>
          <p:nvPr/>
        </p:nvSpPr>
        <p:spPr bwMode="gray">
          <a:xfrm>
            <a:off x="2691418" y="4325462"/>
            <a:ext cx="631904" cy="276999"/>
          </a:xfrm>
          <a:prstGeom prst="rect">
            <a:avLst/>
          </a:prstGeom>
          <a:noFill/>
        </p:spPr>
        <p:txBody>
          <a:bodyPr wrap="none" rtlCol="0">
            <a:spAutoFit/>
          </a:bodyPr>
          <a:ls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a:lstStyle>
          <a:p>
            <a:pPr algn="r"/>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ACC_2</a:t>
            </a:r>
          </a:p>
        </p:txBody>
      </p:sp>
      <p:sp>
        <p:nvSpPr>
          <p:cNvPr id="99" name="文本框 101"/>
          <p:cNvSpPr txBox="1"/>
          <p:nvPr/>
        </p:nvSpPr>
        <p:spPr bwMode="gray">
          <a:xfrm>
            <a:off x="2170663" y="3525472"/>
            <a:ext cx="676788" cy="307777"/>
          </a:xfrm>
          <a:prstGeom prst="rect">
            <a:avLst/>
          </a:prstGeom>
          <a:noFill/>
        </p:spPr>
        <p:txBody>
          <a:bodyPr wrap="none" rtlCol="0">
            <a:spAutoFit/>
          </a:bodyPr>
          <a:ls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a:lstStyle>
          <a:p>
            <a:pPr algn="ctr"/>
            <a:r>
              <a:rPr lang="en-US" altLang="zh-CN" sz="1400" dirty="0" smtClean="0">
                <a:solidFill>
                  <a:srgbClr val="30B5C5"/>
                </a:solidFill>
                <a:latin typeface="Huawei Sans" panose="020C0503030203020204" pitchFamily="34" charset="0"/>
                <a:ea typeface="方正兰亭细黑简体" panose="02000000000000000000" pitchFamily="2" charset="-122"/>
                <a:sym typeface="Huawei Sans" panose="020C0503030203020204" pitchFamily="34" charset="0"/>
              </a:rPr>
              <a:t>Fabric</a:t>
            </a:r>
          </a:p>
        </p:txBody>
      </p:sp>
      <p:cxnSp>
        <p:nvCxnSpPr>
          <p:cNvPr id="100" name="直接连接符 99"/>
          <p:cNvCxnSpPr/>
          <p:nvPr/>
        </p:nvCxnSpPr>
        <p:spPr bwMode="gray">
          <a:xfrm>
            <a:off x="1809570" y="2026520"/>
            <a:ext cx="495259" cy="621078"/>
          </a:xfrm>
          <a:prstGeom prst="line">
            <a:avLst/>
          </a:prstGeom>
          <a:ln>
            <a:solidFill>
              <a:schemeClr val="bg1">
                <a:lumMod val="6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01" name="直接连接符 100"/>
          <p:cNvCxnSpPr/>
          <p:nvPr/>
        </p:nvCxnSpPr>
        <p:spPr bwMode="gray">
          <a:xfrm flipH="1">
            <a:off x="2777166" y="2036133"/>
            <a:ext cx="464971" cy="611465"/>
          </a:xfrm>
          <a:prstGeom prst="line">
            <a:avLst/>
          </a:prstGeom>
          <a:ln>
            <a:solidFill>
              <a:srgbClr val="ED6D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02" name="文本框 106"/>
          <p:cNvSpPr txBox="1"/>
          <p:nvPr/>
        </p:nvSpPr>
        <p:spPr bwMode="gray">
          <a:xfrm>
            <a:off x="3660886" y="3545342"/>
            <a:ext cx="702436" cy="276999"/>
          </a:xfrm>
          <a:prstGeom prst="rect">
            <a:avLst/>
          </a:prstGeom>
          <a:noFill/>
        </p:spPr>
        <p:txBody>
          <a:bodyPr wrap="none" rtlCol="0">
            <a:spAutoFit/>
          </a:bodyPr>
          <a:ls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a:lstStyle>
          <a:p>
            <a:r>
              <a:rPr lang="en-US" altLang="zh-CN" sz="1200" b="1" dirty="0" smtClean="0">
                <a:latin typeface="Huawei Sans" panose="020C0503030203020204" pitchFamily="34" charset="0"/>
                <a:ea typeface="方正兰亭黑简体" panose="02000000000000000000" pitchFamily="2" charset="-122"/>
                <a:cs typeface="Huawei Sans" panose="020C0503030203020204" pitchFamily="34" charset="0"/>
              </a:rPr>
              <a:t>Edge_2</a:t>
            </a:r>
            <a:endParaRPr lang="zh-CN" altLang="en-US" sz="1200" b="1"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103" name="文本框 107"/>
          <p:cNvSpPr txBox="1"/>
          <p:nvPr/>
        </p:nvSpPr>
        <p:spPr bwMode="gray">
          <a:xfrm>
            <a:off x="733297" y="2390631"/>
            <a:ext cx="468398" cy="307777"/>
          </a:xfrm>
          <a:prstGeom prst="rect">
            <a:avLst/>
          </a:prstGeom>
          <a:noFill/>
        </p:spPr>
        <p:txBody>
          <a:bodyPr wrap="none" rtlCol="0">
            <a:spAutoFit/>
          </a:bodyPr>
          <a:ls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a:lstStyle>
          <a:p>
            <a:r>
              <a:rPr lang="en-US" altLang="zh-CN" sz="1400" b="1" dirty="0" smtClean="0">
                <a:latin typeface="Huawei Sans" panose="020C0503030203020204" pitchFamily="34" charset="0"/>
                <a:ea typeface="方正兰亭黑简体" panose="02000000000000000000" pitchFamily="2" charset="-122"/>
                <a:cs typeface="Huawei Sans" panose="020C0503030203020204" pitchFamily="34" charset="0"/>
              </a:rPr>
              <a:t>HQ</a:t>
            </a:r>
            <a:endParaRPr lang="zh-CN" altLang="en-US" sz="1400" b="1" dirty="0">
              <a:latin typeface="Huawei Sans" panose="020C0503030203020204" pitchFamily="34" charset="0"/>
              <a:ea typeface="方正兰亭黑简体" panose="02000000000000000000" pitchFamily="2" charset="-122"/>
              <a:cs typeface="Huawei Sans" panose="020C0503030203020204" pitchFamily="34" charset="0"/>
            </a:endParaRPr>
          </a:p>
        </p:txBody>
      </p:sp>
      <p:pic>
        <p:nvPicPr>
          <p:cNvPr id="104" name="图片 103" descr="接入交换机.png"/>
          <p:cNvPicPr>
            <a:picLocks noChangeAspect="1"/>
          </p:cNvPicPr>
          <p:nvPr/>
        </p:nvPicPr>
        <p:blipFill>
          <a:blip r:embed="rId5" cstate="print"/>
          <a:stretch>
            <a:fillRect/>
          </a:stretch>
        </p:blipFill>
        <p:spPr bwMode="gray">
          <a:xfrm>
            <a:off x="1330470" y="4281392"/>
            <a:ext cx="446281" cy="365139"/>
          </a:xfrm>
          <a:prstGeom prst="rect">
            <a:avLst/>
          </a:prstGeom>
        </p:spPr>
      </p:pic>
      <p:pic>
        <p:nvPicPr>
          <p:cNvPr id="105" name="图片 104" descr="接入交换机.png"/>
          <p:cNvPicPr>
            <a:picLocks noChangeAspect="1"/>
          </p:cNvPicPr>
          <p:nvPr/>
        </p:nvPicPr>
        <p:blipFill>
          <a:blip r:embed="rId5" cstate="print"/>
          <a:stretch>
            <a:fillRect/>
          </a:stretch>
        </p:blipFill>
        <p:spPr bwMode="gray">
          <a:xfrm>
            <a:off x="3261271" y="4281392"/>
            <a:ext cx="446281" cy="365139"/>
          </a:xfrm>
          <a:prstGeom prst="rect">
            <a:avLst/>
          </a:prstGeom>
        </p:spPr>
      </p:pic>
      <p:pic>
        <p:nvPicPr>
          <p:cNvPr id="106" name="图片 105" descr="核心交换机.png"/>
          <p:cNvPicPr>
            <a:picLocks noChangeAspect="1"/>
          </p:cNvPicPr>
          <p:nvPr/>
        </p:nvPicPr>
        <p:blipFill>
          <a:blip r:embed="rId6" cstate="print"/>
          <a:stretch>
            <a:fillRect/>
          </a:stretch>
        </p:blipFill>
        <p:spPr bwMode="gray">
          <a:xfrm>
            <a:off x="2310163" y="2636314"/>
            <a:ext cx="446281" cy="365139"/>
          </a:xfrm>
          <a:prstGeom prst="rect">
            <a:avLst/>
          </a:prstGeom>
        </p:spPr>
      </p:pic>
      <p:pic>
        <p:nvPicPr>
          <p:cNvPr id="107" name="图片 106"/>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bwMode="gray">
          <a:xfrm>
            <a:off x="3685721" y="2291385"/>
            <a:ext cx="865097" cy="491769"/>
          </a:xfrm>
          <a:prstGeom prst="rect">
            <a:avLst/>
          </a:prstGeom>
        </p:spPr>
      </p:pic>
      <p:pic>
        <p:nvPicPr>
          <p:cNvPr id="108" name="图片 107" descr="AP.png"/>
          <p:cNvPicPr>
            <a:picLocks noChangeAspect="1"/>
          </p:cNvPicPr>
          <p:nvPr/>
        </p:nvPicPr>
        <p:blipFill>
          <a:blip r:embed="rId8" cstate="print"/>
          <a:stretch>
            <a:fillRect/>
          </a:stretch>
        </p:blipFill>
        <p:spPr bwMode="gray">
          <a:xfrm>
            <a:off x="3941003" y="4313077"/>
            <a:ext cx="368827" cy="301768"/>
          </a:xfrm>
          <a:prstGeom prst="rect">
            <a:avLst/>
          </a:prstGeom>
        </p:spPr>
      </p:pic>
      <p:cxnSp>
        <p:nvCxnSpPr>
          <p:cNvPr id="109" name="Straight Connector 166"/>
          <p:cNvCxnSpPr>
            <a:stCxn id="105" idx="3"/>
            <a:endCxn id="108" idx="1"/>
          </p:cNvCxnSpPr>
          <p:nvPr/>
        </p:nvCxnSpPr>
        <p:spPr bwMode="gray">
          <a:xfrm flipV="1">
            <a:off x="3707552" y="4463961"/>
            <a:ext cx="233451" cy="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10" name="文本框 109"/>
          <p:cNvSpPr txBox="1"/>
          <p:nvPr/>
        </p:nvSpPr>
        <p:spPr bwMode="gray">
          <a:xfrm>
            <a:off x="4267173" y="4315959"/>
            <a:ext cx="460382" cy="276999"/>
          </a:xfrm>
          <a:prstGeom prst="rect">
            <a:avLst/>
          </a:prstGeom>
          <a:noFill/>
        </p:spPr>
        <p:txBody>
          <a:bodyPr wrap="none" rtlCol="0">
            <a:spAutoFit/>
          </a:bodyPr>
          <a:lstStyle/>
          <a:p>
            <a:pPr algn="r"/>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AP1</a:t>
            </a:r>
            <a:endParaRPr lang="zh-CN" altLang="en-US" sz="1200" b="1"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111" name="文本框 110"/>
          <p:cNvSpPr txBox="1"/>
          <p:nvPr/>
        </p:nvSpPr>
        <p:spPr bwMode="gray">
          <a:xfrm>
            <a:off x="3100704" y="2791557"/>
            <a:ext cx="1059906" cy="646331"/>
          </a:xfrm>
          <a:prstGeom prst="rect">
            <a:avLst/>
          </a:prstGeom>
          <a:noFill/>
        </p:spPr>
        <p:txBody>
          <a:bodyPr wrap="none" rtlCol="0">
            <a:spAutoFit/>
          </a:bodyPr>
          <a:lstStyle/>
          <a:p>
            <a:pPr marL="171450" indent="-171450">
              <a:buFont typeface="Arial" panose="020B0604020202020204" pitchFamily="34" charset="0"/>
              <a:buChar char="•"/>
            </a:pPr>
            <a:r>
              <a:rPr lang="zh-CN" altLang="en-US" sz="1200" dirty="0">
                <a:solidFill>
                  <a:srgbClr val="ED6D00"/>
                </a:solidFill>
                <a:latin typeface="Huawei Sans" panose="020C0503030203020204" pitchFamily="34" charset="0"/>
                <a:ea typeface="方正兰亭细黑简体" panose="02000000000000000000" pitchFamily="2" charset="-122"/>
                <a:sym typeface="Huawei Sans" panose="020C0503030203020204" pitchFamily="34" charset="0"/>
              </a:rPr>
              <a:t>互联</a:t>
            </a:r>
            <a:r>
              <a:rPr lang="zh-CN" altLang="en-US" sz="1200" dirty="0" smtClean="0">
                <a:solidFill>
                  <a:srgbClr val="ED6D00"/>
                </a:solidFill>
                <a:latin typeface="Huawei Sans" panose="020C0503030203020204" pitchFamily="34" charset="0"/>
                <a:ea typeface="方正兰亭细黑简体" panose="02000000000000000000" pitchFamily="2" charset="-122"/>
                <a:sym typeface="Huawei Sans" panose="020C0503030203020204" pitchFamily="34" charset="0"/>
              </a:rPr>
              <a:t>端口</a:t>
            </a:r>
            <a:endParaRPr lang="en-US" altLang="zh-CN" sz="1200" dirty="0" smtClean="0">
              <a:solidFill>
                <a:srgbClr val="ED6D00"/>
              </a:solidFill>
              <a:latin typeface="Huawei Sans" panose="020C0503030203020204" pitchFamily="34" charset="0"/>
              <a:ea typeface="方正兰亭细黑简体" panose="02000000000000000000" pitchFamily="2" charset="-122"/>
              <a:sym typeface="Huawei Sans" panose="020C0503030203020204" pitchFamily="34" charset="0"/>
            </a:endParaRPr>
          </a:p>
          <a:p>
            <a:pPr marL="171450" indent="-171450">
              <a:buFont typeface="Arial" panose="020B0604020202020204" pitchFamily="34" charset="0"/>
              <a:buChar char="•"/>
            </a:pPr>
            <a:r>
              <a:rPr lang="zh-CN" altLang="en-US" sz="1200" dirty="0">
                <a:solidFill>
                  <a:srgbClr val="ED6D00"/>
                </a:solidFill>
                <a:latin typeface="Huawei Sans" panose="020C0503030203020204" pitchFamily="34" charset="0"/>
                <a:ea typeface="方正兰亭细黑简体" panose="02000000000000000000" pitchFamily="2" charset="-122"/>
                <a:sym typeface="Huawei Sans" panose="020C0503030203020204" pitchFamily="34" charset="0"/>
              </a:rPr>
              <a:t>互联</a:t>
            </a:r>
            <a:r>
              <a:rPr lang="en-US" altLang="zh-CN" sz="1200" dirty="0" smtClean="0">
                <a:solidFill>
                  <a:srgbClr val="ED6D00"/>
                </a:solidFill>
                <a:latin typeface="Huawei Sans" panose="020C0503030203020204" pitchFamily="34" charset="0"/>
                <a:ea typeface="方正兰亭细黑简体" panose="02000000000000000000" pitchFamily="2" charset="-122"/>
                <a:sym typeface="Huawei Sans" panose="020C0503030203020204" pitchFamily="34" charset="0"/>
              </a:rPr>
              <a:t>VLAN</a:t>
            </a:r>
          </a:p>
          <a:p>
            <a:pPr marL="171450" indent="-171450">
              <a:buFont typeface="Arial" panose="020B0604020202020204" pitchFamily="34" charset="0"/>
              <a:buChar char="•"/>
            </a:pPr>
            <a:r>
              <a:rPr lang="zh-CN" altLang="en-US" sz="1200" dirty="0" smtClean="0">
                <a:solidFill>
                  <a:srgbClr val="ED6D00"/>
                </a:solidFill>
                <a:latin typeface="Huawei Sans" panose="020C0503030203020204" pitchFamily="34" charset="0"/>
                <a:ea typeface="方正兰亭细黑简体" panose="02000000000000000000" pitchFamily="2" charset="-122"/>
                <a:sym typeface="Huawei Sans" panose="020C0503030203020204" pitchFamily="34" charset="0"/>
              </a:rPr>
              <a:t>本端</a:t>
            </a:r>
            <a:r>
              <a:rPr lang="en-US" altLang="zh-CN" sz="1200" dirty="0" smtClean="0">
                <a:solidFill>
                  <a:srgbClr val="ED6D00"/>
                </a:solidFill>
                <a:latin typeface="Huawei Sans" panose="020C0503030203020204" pitchFamily="34" charset="0"/>
                <a:ea typeface="方正兰亭细黑简体" panose="02000000000000000000" pitchFamily="2" charset="-122"/>
                <a:sym typeface="Huawei Sans" panose="020C0503030203020204" pitchFamily="34" charset="0"/>
              </a:rPr>
              <a:t>IP</a:t>
            </a:r>
          </a:p>
        </p:txBody>
      </p:sp>
      <p:sp>
        <p:nvSpPr>
          <p:cNvPr id="112" name="下箭头 63"/>
          <p:cNvSpPr/>
          <p:nvPr/>
        </p:nvSpPr>
        <p:spPr bwMode="gray">
          <a:xfrm rot="16970359" flipV="1">
            <a:off x="2856891" y="2579059"/>
            <a:ext cx="524148" cy="488660"/>
          </a:xfrm>
          <a:custGeom>
            <a:avLst/>
            <a:gdLst>
              <a:gd name="connsiteX0" fmla="*/ 0 w 1035535"/>
              <a:gd name="connsiteY0" fmla="*/ 468495 h 794114"/>
              <a:gd name="connsiteX1" fmla="*/ 258884 w 1035535"/>
              <a:gd name="connsiteY1" fmla="*/ 468495 h 794114"/>
              <a:gd name="connsiteX2" fmla="*/ 258884 w 1035535"/>
              <a:gd name="connsiteY2" fmla="*/ 0 h 794114"/>
              <a:gd name="connsiteX3" fmla="*/ 776651 w 1035535"/>
              <a:gd name="connsiteY3" fmla="*/ 0 h 794114"/>
              <a:gd name="connsiteX4" fmla="*/ 776651 w 1035535"/>
              <a:gd name="connsiteY4" fmla="*/ 468495 h 794114"/>
              <a:gd name="connsiteX5" fmla="*/ 1035535 w 1035535"/>
              <a:gd name="connsiteY5" fmla="*/ 468495 h 794114"/>
              <a:gd name="connsiteX6" fmla="*/ 517768 w 1035535"/>
              <a:gd name="connsiteY6" fmla="*/ 794114 h 794114"/>
              <a:gd name="connsiteX7" fmla="*/ 0 w 1035535"/>
              <a:gd name="connsiteY7" fmla="*/ 468495 h 794114"/>
              <a:gd name="connsiteX0" fmla="*/ 258884 w 1035535"/>
              <a:gd name="connsiteY0" fmla="*/ 0 h 794114"/>
              <a:gd name="connsiteX1" fmla="*/ 776651 w 1035535"/>
              <a:gd name="connsiteY1" fmla="*/ 0 h 794114"/>
              <a:gd name="connsiteX2" fmla="*/ 776651 w 1035535"/>
              <a:gd name="connsiteY2" fmla="*/ 468495 h 794114"/>
              <a:gd name="connsiteX3" fmla="*/ 1035535 w 1035535"/>
              <a:gd name="connsiteY3" fmla="*/ 468495 h 794114"/>
              <a:gd name="connsiteX4" fmla="*/ 517768 w 1035535"/>
              <a:gd name="connsiteY4" fmla="*/ 794114 h 794114"/>
              <a:gd name="connsiteX5" fmla="*/ 0 w 1035535"/>
              <a:gd name="connsiteY5" fmla="*/ 468495 h 794114"/>
              <a:gd name="connsiteX6" fmla="*/ 258884 w 1035535"/>
              <a:gd name="connsiteY6" fmla="*/ 468495 h 794114"/>
              <a:gd name="connsiteX7" fmla="*/ 350324 w 1035535"/>
              <a:gd name="connsiteY7" fmla="*/ 91440 h 794114"/>
              <a:gd name="connsiteX0" fmla="*/ 258884 w 1035535"/>
              <a:gd name="connsiteY0" fmla="*/ 0 h 794114"/>
              <a:gd name="connsiteX1" fmla="*/ 776651 w 1035535"/>
              <a:gd name="connsiteY1" fmla="*/ 468495 h 794114"/>
              <a:gd name="connsiteX2" fmla="*/ 1035535 w 1035535"/>
              <a:gd name="connsiteY2" fmla="*/ 468495 h 794114"/>
              <a:gd name="connsiteX3" fmla="*/ 517768 w 1035535"/>
              <a:gd name="connsiteY3" fmla="*/ 794114 h 794114"/>
              <a:gd name="connsiteX4" fmla="*/ 0 w 1035535"/>
              <a:gd name="connsiteY4" fmla="*/ 468495 h 794114"/>
              <a:gd name="connsiteX5" fmla="*/ 258884 w 1035535"/>
              <a:gd name="connsiteY5" fmla="*/ 468495 h 794114"/>
              <a:gd name="connsiteX6" fmla="*/ 350324 w 1035535"/>
              <a:gd name="connsiteY6" fmla="*/ 91440 h 794114"/>
              <a:gd name="connsiteX0" fmla="*/ 1016121 w 1035535"/>
              <a:gd name="connsiteY0" fmla="*/ 0 h 794114"/>
              <a:gd name="connsiteX1" fmla="*/ 776651 w 1035535"/>
              <a:gd name="connsiteY1" fmla="*/ 468495 h 794114"/>
              <a:gd name="connsiteX2" fmla="*/ 1035535 w 1035535"/>
              <a:gd name="connsiteY2" fmla="*/ 468495 h 794114"/>
              <a:gd name="connsiteX3" fmla="*/ 517768 w 1035535"/>
              <a:gd name="connsiteY3" fmla="*/ 794114 h 794114"/>
              <a:gd name="connsiteX4" fmla="*/ 0 w 1035535"/>
              <a:gd name="connsiteY4" fmla="*/ 468495 h 794114"/>
              <a:gd name="connsiteX5" fmla="*/ 258884 w 1035535"/>
              <a:gd name="connsiteY5" fmla="*/ 468495 h 794114"/>
              <a:gd name="connsiteX6" fmla="*/ 350324 w 1035535"/>
              <a:gd name="connsiteY6" fmla="*/ 91440 h 794114"/>
              <a:gd name="connsiteX0" fmla="*/ 1018222 w 1037636"/>
              <a:gd name="connsiteY0" fmla="*/ 0 h 794114"/>
              <a:gd name="connsiteX1" fmla="*/ 778752 w 1037636"/>
              <a:gd name="connsiteY1" fmla="*/ 468495 h 794114"/>
              <a:gd name="connsiteX2" fmla="*/ 1037636 w 1037636"/>
              <a:gd name="connsiteY2" fmla="*/ 468495 h 794114"/>
              <a:gd name="connsiteX3" fmla="*/ 519869 w 1037636"/>
              <a:gd name="connsiteY3" fmla="*/ 794114 h 794114"/>
              <a:gd name="connsiteX4" fmla="*/ 2101 w 1037636"/>
              <a:gd name="connsiteY4" fmla="*/ 468495 h 794114"/>
              <a:gd name="connsiteX5" fmla="*/ 260985 w 1037636"/>
              <a:gd name="connsiteY5" fmla="*/ 468495 h 794114"/>
              <a:gd name="connsiteX6" fmla="*/ 0 w 1037636"/>
              <a:gd name="connsiteY6" fmla="*/ 86678 h 794114"/>
              <a:gd name="connsiteX0" fmla="*/ 1027747 w 1047161"/>
              <a:gd name="connsiteY0" fmla="*/ 0 h 794114"/>
              <a:gd name="connsiteX1" fmla="*/ 788277 w 1047161"/>
              <a:gd name="connsiteY1" fmla="*/ 468495 h 794114"/>
              <a:gd name="connsiteX2" fmla="*/ 1047161 w 1047161"/>
              <a:gd name="connsiteY2" fmla="*/ 468495 h 794114"/>
              <a:gd name="connsiteX3" fmla="*/ 529394 w 1047161"/>
              <a:gd name="connsiteY3" fmla="*/ 794114 h 794114"/>
              <a:gd name="connsiteX4" fmla="*/ 11626 w 1047161"/>
              <a:gd name="connsiteY4" fmla="*/ 468495 h 794114"/>
              <a:gd name="connsiteX5" fmla="*/ 270510 w 1047161"/>
              <a:gd name="connsiteY5" fmla="*/ 468495 h 794114"/>
              <a:gd name="connsiteX6" fmla="*/ 0 w 1047161"/>
              <a:gd name="connsiteY6" fmla="*/ 10478 h 794114"/>
              <a:gd name="connsiteX0" fmla="*/ 1016121 w 1035535"/>
              <a:gd name="connsiteY0" fmla="*/ 13335 h 807449"/>
              <a:gd name="connsiteX1" fmla="*/ 776651 w 1035535"/>
              <a:gd name="connsiteY1" fmla="*/ 481830 h 807449"/>
              <a:gd name="connsiteX2" fmla="*/ 1035535 w 1035535"/>
              <a:gd name="connsiteY2" fmla="*/ 481830 h 807449"/>
              <a:gd name="connsiteX3" fmla="*/ 517768 w 1035535"/>
              <a:gd name="connsiteY3" fmla="*/ 807449 h 807449"/>
              <a:gd name="connsiteX4" fmla="*/ 0 w 1035535"/>
              <a:gd name="connsiteY4" fmla="*/ 481830 h 807449"/>
              <a:gd name="connsiteX5" fmla="*/ 258884 w 1035535"/>
              <a:gd name="connsiteY5" fmla="*/ 481830 h 807449"/>
              <a:gd name="connsiteX6" fmla="*/ 12187 w 1035535"/>
              <a:gd name="connsiteY6" fmla="*/ 0 h 807449"/>
              <a:gd name="connsiteX0" fmla="*/ 1016121 w 1035535"/>
              <a:gd name="connsiteY0" fmla="*/ 13335 h 807449"/>
              <a:gd name="connsiteX1" fmla="*/ 776651 w 1035535"/>
              <a:gd name="connsiteY1" fmla="*/ 481830 h 807449"/>
              <a:gd name="connsiteX2" fmla="*/ 1035535 w 1035535"/>
              <a:gd name="connsiteY2" fmla="*/ 481830 h 807449"/>
              <a:gd name="connsiteX3" fmla="*/ 517768 w 1035535"/>
              <a:gd name="connsiteY3" fmla="*/ 807449 h 807449"/>
              <a:gd name="connsiteX4" fmla="*/ 0 w 1035535"/>
              <a:gd name="connsiteY4" fmla="*/ 481830 h 807449"/>
              <a:gd name="connsiteX5" fmla="*/ 392234 w 1035535"/>
              <a:gd name="connsiteY5" fmla="*/ 486592 h 807449"/>
              <a:gd name="connsiteX6" fmla="*/ 12187 w 1035535"/>
              <a:gd name="connsiteY6" fmla="*/ 0 h 807449"/>
              <a:gd name="connsiteX0" fmla="*/ 1016121 w 1035535"/>
              <a:gd name="connsiteY0" fmla="*/ 13335 h 807449"/>
              <a:gd name="connsiteX1" fmla="*/ 619488 w 1035535"/>
              <a:gd name="connsiteY1" fmla="*/ 481830 h 807449"/>
              <a:gd name="connsiteX2" fmla="*/ 1035535 w 1035535"/>
              <a:gd name="connsiteY2" fmla="*/ 481830 h 807449"/>
              <a:gd name="connsiteX3" fmla="*/ 517768 w 1035535"/>
              <a:gd name="connsiteY3" fmla="*/ 807449 h 807449"/>
              <a:gd name="connsiteX4" fmla="*/ 0 w 1035535"/>
              <a:gd name="connsiteY4" fmla="*/ 481830 h 807449"/>
              <a:gd name="connsiteX5" fmla="*/ 392234 w 1035535"/>
              <a:gd name="connsiteY5" fmla="*/ 486592 h 807449"/>
              <a:gd name="connsiteX6" fmla="*/ 12187 w 1035535"/>
              <a:gd name="connsiteY6" fmla="*/ 0 h 807449"/>
              <a:gd name="connsiteX0" fmla="*/ 1016121 w 1035535"/>
              <a:gd name="connsiteY0" fmla="*/ 13335 h 807449"/>
              <a:gd name="connsiteX1" fmla="*/ 619488 w 1035535"/>
              <a:gd name="connsiteY1" fmla="*/ 481830 h 807449"/>
              <a:gd name="connsiteX2" fmla="*/ 1035535 w 1035535"/>
              <a:gd name="connsiteY2" fmla="*/ 481830 h 807449"/>
              <a:gd name="connsiteX3" fmla="*/ 517768 w 1035535"/>
              <a:gd name="connsiteY3" fmla="*/ 807449 h 807449"/>
              <a:gd name="connsiteX4" fmla="*/ 0 w 1035535"/>
              <a:gd name="connsiteY4" fmla="*/ 481830 h 807449"/>
              <a:gd name="connsiteX5" fmla="*/ 392234 w 1035535"/>
              <a:gd name="connsiteY5" fmla="*/ 486592 h 807449"/>
              <a:gd name="connsiteX6" fmla="*/ 12187 w 1035535"/>
              <a:gd name="connsiteY6" fmla="*/ 0 h 807449"/>
              <a:gd name="connsiteX0" fmla="*/ 1016121 w 1035535"/>
              <a:gd name="connsiteY0" fmla="*/ 13335 h 807449"/>
              <a:gd name="connsiteX1" fmla="*/ 619488 w 1035535"/>
              <a:gd name="connsiteY1" fmla="*/ 481830 h 807449"/>
              <a:gd name="connsiteX2" fmla="*/ 1035535 w 1035535"/>
              <a:gd name="connsiteY2" fmla="*/ 481830 h 807449"/>
              <a:gd name="connsiteX3" fmla="*/ 517768 w 1035535"/>
              <a:gd name="connsiteY3" fmla="*/ 807449 h 807449"/>
              <a:gd name="connsiteX4" fmla="*/ 0 w 1035535"/>
              <a:gd name="connsiteY4" fmla="*/ 481830 h 807449"/>
              <a:gd name="connsiteX5" fmla="*/ 392234 w 1035535"/>
              <a:gd name="connsiteY5" fmla="*/ 486592 h 807449"/>
              <a:gd name="connsiteX6" fmla="*/ 12187 w 1035535"/>
              <a:gd name="connsiteY6" fmla="*/ 0 h 807449"/>
              <a:gd name="connsiteX0" fmla="*/ 1044696 w 1044696"/>
              <a:gd name="connsiteY0" fmla="*/ 0 h 832214"/>
              <a:gd name="connsiteX1" fmla="*/ 619488 w 1044696"/>
              <a:gd name="connsiteY1" fmla="*/ 506595 h 832214"/>
              <a:gd name="connsiteX2" fmla="*/ 1035535 w 1044696"/>
              <a:gd name="connsiteY2" fmla="*/ 506595 h 832214"/>
              <a:gd name="connsiteX3" fmla="*/ 517768 w 1044696"/>
              <a:gd name="connsiteY3" fmla="*/ 832214 h 832214"/>
              <a:gd name="connsiteX4" fmla="*/ 0 w 1044696"/>
              <a:gd name="connsiteY4" fmla="*/ 506595 h 832214"/>
              <a:gd name="connsiteX5" fmla="*/ 392234 w 1044696"/>
              <a:gd name="connsiteY5" fmla="*/ 511357 h 832214"/>
              <a:gd name="connsiteX6" fmla="*/ 12187 w 1044696"/>
              <a:gd name="connsiteY6" fmla="*/ 24765 h 832214"/>
              <a:gd name="connsiteX0" fmla="*/ 1032509 w 1032509"/>
              <a:gd name="connsiteY0" fmla="*/ 0 h 832214"/>
              <a:gd name="connsiteX1" fmla="*/ 607301 w 1032509"/>
              <a:gd name="connsiteY1" fmla="*/ 506595 h 832214"/>
              <a:gd name="connsiteX2" fmla="*/ 1023348 w 1032509"/>
              <a:gd name="connsiteY2" fmla="*/ 506595 h 832214"/>
              <a:gd name="connsiteX3" fmla="*/ 505581 w 1032509"/>
              <a:gd name="connsiteY3" fmla="*/ 832214 h 832214"/>
              <a:gd name="connsiteX4" fmla="*/ 237844 w 1032509"/>
              <a:gd name="connsiteY4" fmla="*/ 508976 h 832214"/>
              <a:gd name="connsiteX5" fmla="*/ 380047 w 1032509"/>
              <a:gd name="connsiteY5" fmla="*/ 511357 h 832214"/>
              <a:gd name="connsiteX6" fmla="*/ 0 w 1032509"/>
              <a:gd name="connsiteY6" fmla="*/ 24765 h 832214"/>
              <a:gd name="connsiteX0" fmla="*/ 1032509 w 1032509"/>
              <a:gd name="connsiteY0" fmla="*/ 0 h 832214"/>
              <a:gd name="connsiteX1" fmla="*/ 607301 w 1032509"/>
              <a:gd name="connsiteY1" fmla="*/ 506595 h 832214"/>
              <a:gd name="connsiteX2" fmla="*/ 804276 w 1032509"/>
              <a:gd name="connsiteY2" fmla="*/ 513741 h 832214"/>
              <a:gd name="connsiteX3" fmla="*/ 505581 w 1032509"/>
              <a:gd name="connsiteY3" fmla="*/ 832214 h 832214"/>
              <a:gd name="connsiteX4" fmla="*/ 237844 w 1032509"/>
              <a:gd name="connsiteY4" fmla="*/ 508976 h 832214"/>
              <a:gd name="connsiteX5" fmla="*/ 380047 w 1032509"/>
              <a:gd name="connsiteY5" fmla="*/ 511357 h 832214"/>
              <a:gd name="connsiteX6" fmla="*/ 0 w 1032509"/>
              <a:gd name="connsiteY6" fmla="*/ 24765 h 832214"/>
              <a:gd name="connsiteX0" fmla="*/ 1032509 w 1032509"/>
              <a:gd name="connsiteY0" fmla="*/ 0 h 722679"/>
              <a:gd name="connsiteX1" fmla="*/ 607301 w 1032509"/>
              <a:gd name="connsiteY1" fmla="*/ 506595 h 722679"/>
              <a:gd name="connsiteX2" fmla="*/ 804276 w 1032509"/>
              <a:gd name="connsiteY2" fmla="*/ 513741 h 722679"/>
              <a:gd name="connsiteX3" fmla="*/ 507965 w 1032509"/>
              <a:gd name="connsiteY3" fmla="*/ 722679 h 722679"/>
              <a:gd name="connsiteX4" fmla="*/ 237844 w 1032509"/>
              <a:gd name="connsiteY4" fmla="*/ 508976 h 722679"/>
              <a:gd name="connsiteX5" fmla="*/ 380047 w 1032509"/>
              <a:gd name="connsiteY5" fmla="*/ 511357 h 722679"/>
              <a:gd name="connsiteX6" fmla="*/ 0 w 1032509"/>
              <a:gd name="connsiteY6" fmla="*/ 24765 h 722679"/>
              <a:gd name="connsiteX0" fmla="*/ 1032509 w 1032509"/>
              <a:gd name="connsiteY0" fmla="*/ 0 h 722679"/>
              <a:gd name="connsiteX1" fmla="*/ 607301 w 1032509"/>
              <a:gd name="connsiteY1" fmla="*/ 506595 h 722679"/>
              <a:gd name="connsiteX2" fmla="*/ 804276 w 1032509"/>
              <a:gd name="connsiteY2" fmla="*/ 513741 h 722679"/>
              <a:gd name="connsiteX3" fmla="*/ 498440 w 1032509"/>
              <a:gd name="connsiteY3" fmla="*/ 722679 h 722679"/>
              <a:gd name="connsiteX4" fmla="*/ 237844 w 1032509"/>
              <a:gd name="connsiteY4" fmla="*/ 508976 h 722679"/>
              <a:gd name="connsiteX5" fmla="*/ 380047 w 1032509"/>
              <a:gd name="connsiteY5" fmla="*/ 511357 h 722679"/>
              <a:gd name="connsiteX6" fmla="*/ 0 w 1032509"/>
              <a:gd name="connsiteY6" fmla="*/ 24765 h 722679"/>
              <a:gd name="connsiteX0" fmla="*/ 1032509 w 1032509"/>
              <a:gd name="connsiteY0" fmla="*/ 0 h 722679"/>
              <a:gd name="connsiteX1" fmla="*/ 607301 w 1032509"/>
              <a:gd name="connsiteY1" fmla="*/ 506595 h 722679"/>
              <a:gd name="connsiteX2" fmla="*/ 792369 w 1032509"/>
              <a:gd name="connsiteY2" fmla="*/ 515732 h 722679"/>
              <a:gd name="connsiteX3" fmla="*/ 498440 w 1032509"/>
              <a:gd name="connsiteY3" fmla="*/ 722679 h 722679"/>
              <a:gd name="connsiteX4" fmla="*/ 237844 w 1032509"/>
              <a:gd name="connsiteY4" fmla="*/ 508976 h 722679"/>
              <a:gd name="connsiteX5" fmla="*/ 380047 w 1032509"/>
              <a:gd name="connsiteY5" fmla="*/ 511357 h 722679"/>
              <a:gd name="connsiteX6" fmla="*/ 0 w 1032509"/>
              <a:gd name="connsiteY6" fmla="*/ 24765 h 722679"/>
              <a:gd name="connsiteX0" fmla="*/ 1032509 w 1032509"/>
              <a:gd name="connsiteY0" fmla="*/ 0 h 720688"/>
              <a:gd name="connsiteX1" fmla="*/ 607301 w 1032509"/>
              <a:gd name="connsiteY1" fmla="*/ 506595 h 720688"/>
              <a:gd name="connsiteX2" fmla="*/ 792369 w 1032509"/>
              <a:gd name="connsiteY2" fmla="*/ 515732 h 720688"/>
              <a:gd name="connsiteX3" fmla="*/ 503202 w 1032509"/>
              <a:gd name="connsiteY3" fmla="*/ 720688 h 720688"/>
              <a:gd name="connsiteX4" fmla="*/ 237844 w 1032509"/>
              <a:gd name="connsiteY4" fmla="*/ 508976 h 720688"/>
              <a:gd name="connsiteX5" fmla="*/ 380047 w 1032509"/>
              <a:gd name="connsiteY5" fmla="*/ 511357 h 720688"/>
              <a:gd name="connsiteX6" fmla="*/ 0 w 1032509"/>
              <a:gd name="connsiteY6" fmla="*/ 24765 h 720688"/>
              <a:gd name="connsiteX0" fmla="*/ 1044414 w 1044414"/>
              <a:gd name="connsiteY0" fmla="*/ 0 h 720688"/>
              <a:gd name="connsiteX1" fmla="*/ 619206 w 1044414"/>
              <a:gd name="connsiteY1" fmla="*/ 506595 h 720688"/>
              <a:gd name="connsiteX2" fmla="*/ 804274 w 1044414"/>
              <a:gd name="connsiteY2" fmla="*/ 515732 h 720688"/>
              <a:gd name="connsiteX3" fmla="*/ 515107 w 1044414"/>
              <a:gd name="connsiteY3" fmla="*/ 720688 h 720688"/>
              <a:gd name="connsiteX4" fmla="*/ 249749 w 1044414"/>
              <a:gd name="connsiteY4" fmla="*/ 508976 h 720688"/>
              <a:gd name="connsiteX5" fmla="*/ 391952 w 1044414"/>
              <a:gd name="connsiteY5" fmla="*/ 511357 h 720688"/>
              <a:gd name="connsiteX6" fmla="*/ 0 w 1044414"/>
              <a:gd name="connsiteY6" fmla="*/ 4852 h 720688"/>
              <a:gd name="connsiteX0" fmla="*/ 1082514 w 1082514"/>
              <a:gd name="connsiteY0" fmla="*/ 0 h 722679"/>
              <a:gd name="connsiteX1" fmla="*/ 619206 w 1082514"/>
              <a:gd name="connsiteY1" fmla="*/ 508586 h 722679"/>
              <a:gd name="connsiteX2" fmla="*/ 804274 w 1082514"/>
              <a:gd name="connsiteY2" fmla="*/ 517723 h 722679"/>
              <a:gd name="connsiteX3" fmla="*/ 515107 w 1082514"/>
              <a:gd name="connsiteY3" fmla="*/ 722679 h 722679"/>
              <a:gd name="connsiteX4" fmla="*/ 249749 w 1082514"/>
              <a:gd name="connsiteY4" fmla="*/ 510967 h 722679"/>
              <a:gd name="connsiteX5" fmla="*/ 391952 w 1082514"/>
              <a:gd name="connsiteY5" fmla="*/ 513348 h 722679"/>
              <a:gd name="connsiteX6" fmla="*/ 0 w 1082514"/>
              <a:gd name="connsiteY6" fmla="*/ 6843 h 722679"/>
              <a:gd name="connsiteX0" fmla="*/ 1082514 w 1082514"/>
              <a:gd name="connsiteY0" fmla="*/ 0 h 724672"/>
              <a:gd name="connsiteX1" fmla="*/ 619206 w 1082514"/>
              <a:gd name="connsiteY1" fmla="*/ 508586 h 724672"/>
              <a:gd name="connsiteX2" fmla="*/ 804274 w 1082514"/>
              <a:gd name="connsiteY2" fmla="*/ 517723 h 724672"/>
              <a:gd name="connsiteX3" fmla="*/ 534160 w 1082514"/>
              <a:gd name="connsiteY3" fmla="*/ 724672 h 724672"/>
              <a:gd name="connsiteX4" fmla="*/ 249749 w 1082514"/>
              <a:gd name="connsiteY4" fmla="*/ 510967 h 724672"/>
              <a:gd name="connsiteX5" fmla="*/ 391952 w 1082514"/>
              <a:gd name="connsiteY5" fmla="*/ 513348 h 724672"/>
              <a:gd name="connsiteX6" fmla="*/ 0 w 1082514"/>
              <a:gd name="connsiteY6" fmla="*/ 6843 h 724672"/>
              <a:gd name="connsiteX0" fmla="*/ 1082514 w 1082514"/>
              <a:gd name="connsiteY0" fmla="*/ 0 h 724672"/>
              <a:gd name="connsiteX1" fmla="*/ 619206 w 1082514"/>
              <a:gd name="connsiteY1" fmla="*/ 508586 h 724672"/>
              <a:gd name="connsiteX2" fmla="*/ 804274 w 1082514"/>
              <a:gd name="connsiteY2" fmla="*/ 517723 h 724672"/>
              <a:gd name="connsiteX3" fmla="*/ 534160 w 1082514"/>
              <a:gd name="connsiteY3" fmla="*/ 724672 h 724672"/>
              <a:gd name="connsiteX4" fmla="*/ 249749 w 1082514"/>
              <a:gd name="connsiteY4" fmla="*/ 510967 h 724672"/>
              <a:gd name="connsiteX5" fmla="*/ 380046 w 1082514"/>
              <a:gd name="connsiteY5" fmla="*/ 533263 h 724672"/>
              <a:gd name="connsiteX6" fmla="*/ 0 w 1082514"/>
              <a:gd name="connsiteY6" fmla="*/ 6843 h 724672"/>
              <a:gd name="connsiteX0" fmla="*/ 1082514 w 1082514"/>
              <a:gd name="connsiteY0" fmla="*/ 0 h 724672"/>
              <a:gd name="connsiteX1" fmla="*/ 619206 w 1082514"/>
              <a:gd name="connsiteY1" fmla="*/ 508586 h 724672"/>
              <a:gd name="connsiteX2" fmla="*/ 804274 w 1082514"/>
              <a:gd name="connsiteY2" fmla="*/ 517723 h 724672"/>
              <a:gd name="connsiteX3" fmla="*/ 534160 w 1082514"/>
              <a:gd name="connsiteY3" fmla="*/ 724672 h 724672"/>
              <a:gd name="connsiteX4" fmla="*/ 249749 w 1082514"/>
              <a:gd name="connsiteY4" fmla="*/ 510967 h 724672"/>
              <a:gd name="connsiteX5" fmla="*/ 380046 w 1082514"/>
              <a:gd name="connsiteY5" fmla="*/ 533263 h 724672"/>
              <a:gd name="connsiteX6" fmla="*/ 0 w 1082514"/>
              <a:gd name="connsiteY6" fmla="*/ 6843 h 724672"/>
              <a:gd name="connsiteX0" fmla="*/ 1082514 w 1082514"/>
              <a:gd name="connsiteY0" fmla="*/ 0 h 724672"/>
              <a:gd name="connsiteX1" fmla="*/ 619206 w 1082514"/>
              <a:gd name="connsiteY1" fmla="*/ 508586 h 724672"/>
              <a:gd name="connsiteX2" fmla="*/ 804274 w 1082514"/>
              <a:gd name="connsiteY2" fmla="*/ 517723 h 724672"/>
              <a:gd name="connsiteX3" fmla="*/ 534160 w 1082514"/>
              <a:gd name="connsiteY3" fmla="*/ 724672 h 724672"/>
              <a:gd name="connsiteX4" fmla="*/ 249749 w 1082514"/>
              <a:gd name="connsiteY4" fmla="*/ 510967 h 724672"/>
              <a:gd name="connsiteX5" fmla="*/ 380046 w 1082514"/>
              <a:gd name="connsiteY5" fmla="*/ 533263 h 724672"/>
              <a:gd name="connsiteX6" fmla="*/ 0 w 1082514"/>
              <a:gd name="connsiteY6" fmla="*/ 6843 h 724672"/>
              <a:gd name="connsiteX0" fmla="*/ 1082514 w 1082514"/>
              <a:gd name="connsiteY0" fmla="*/ 0 h 724672"/>
              <a:gd name="connsiteX1" fmla="*/ 619206 w 1082514"/>
              <a:gd name="connsiteY1" fmla="*/ 508586 h 724672"/>
              <a:gd name="connsiteX2" fmla="*/ 804274 w 1082514"/>
              <a:gd name="connsiteY2" fmla="*/ 517723 h 724672"/>
              <a:gd name="connsiteX3" fmla="*/ 534160 w 1082514"/>
              <a:gd name="connsiteY3" fmla="*/ 724672 h 724672"/>
              <a:gd name="connsiteX4" fmla="*/ 233080 w 1082514"/>
              <a:gd name="connsiteY4" fmla="*/ 526899 h 724672"/>
              <a:gd name="connsiteX5" fmla="*/ 380046 w 1082514"/>
              <a:gd name="connsiteY5" fmla="*/ 533263 h 724672"/>
              <a:gd name="connsiteX6" fmla="*/ 0 w 1082514"/>
              <a:gd name="connsiteY6" fmla="*/ 6843 h 724672"/>
              <a:gd name="connsiteX0" fmla="*/ 1082514 w 1082514"/>
              <a:gd name="connsiteY0" fmla="*/ 0 h 724672"/>
              <a:gd name="connsiteX1" fmla="*/ 619206 w 1082514"/>
              <a:gd name="connsiteY1" fmla="*/ 508586 h 724672"/>
              <a:gd name="connsiteX2" fmla="*/ 804274 w 1082514"/>
              <a:gd name="connsiteY2" fmla="*/ 517723 h 724672"/>
              <a:gd name="connsiteX3" fmla="*/ 534160 w 1082514"/>
              <a:gd name="connsiteY3" fmla="*/ 724672 h 724672"/>
              <a:gd name="connsiteX4" fmla="*/ 237842 w 1082514"/>
              <a:gd name="connsiteY4" fmla="*/ 532873 h 724672"/>
              <a:gd name="connsiteX5" fmla="*/ 380046 w 1082514"/>
              <a:gd name="connsiteY5" fmla="*/ 533263 h 724672"/>
              <a:gd name="connsiteX6" fmla="*/ 0 w 1082514"/>
              <a:gd name="connsiteY6" fmla="*/ 6843 h 724672"/>
              <a:gd name="connsiteX0" fmla="*/ 1082514 w 1082514"/>
              <a:gd name="connsiteY0" fmla="*/ 0 h 724672"/>
              <a:gd name="connsiteX1" fmla="*/ 690644 w 1082514"/>
              <a:gd name="connsiteY1" fmla="*/ 532484 h 724672"/>
              <a:gd name="connsiteX2" fmla="*/ 804274 w 1082514"/>
              <a:gd name="connsiteY2" fmla="*/ 517723 h 724672"/>
              <a:gd name="connsiteX3" fmla="*/ 534160 w 1082514"/>
              <a:gd name="connsiteY3" fmla="*/ 724672 h 724672"/>
              <a:gd name="connsiteX4" fmla="*/ 237842 w 1082514"/>
              <a:gd name="connsiteY4" fmla="*/ 532873 h 724672"/>
              <a:gd name="connsiteX5" fmla="*/ 380046 w 1082514"/>
              <a:gd name="connsiteY5" fmla="*/ 533263 h 724672"/>
              <a:gd name="connsiteX6" fmla="*/ 0 w 1082514"/>
              <a:gd name="connsiteY6" fmla="*/ 6843 h 724672"/>
              <a:gd name="connsiteX0" fmla="*/ 1082514 w 1082514"/>
              <a:gd name="connsiteY0" fmla="*/ 0 h 724672"/>
              <a:gd name="connsiteX1" fmla="*/ 690644 w 1082514"/>
              <a:gd name="connsiteY1" fmla="*/ 532484 h 724672"/>
              <a:gd name="connsiteX2" fmla="*/ 804274 w 1082514"/>
              <a:gd name="connsiteY2" fmla="*/ 517723 h 724672"/>
              <a:gd name="connsiteX3" fmla="*/ 534160 w 1082514"/>
              <a:gd name="connsiteY3" fmla="*/ 724672 h 724672"/>
              <a:gd name="connsiteX4" fmla="*/ 237842 w 1082514"/>
              <a:gd name="connsiteY4" fmla="*/ 532873 h 724672"/>
              <a:gd name="connsiteX5" fmla="*/ 380046 w 1082514"/>
              <a:gd name="connsiteY5" fmla="*/ 533263 h 724672"/>
              <a:gd name="connsiteX6" fmla="*/ 0 w 1082514"/>
              <a:gd name="connsiteY6" fmla="*/ 6843 h 724672"/>
              <a:gd name="connsiteX0" fmla="*/ 1082514 w 1082514"/>
              <a:gd name="connsiteY0" fmla="*/ 0 h 724672"/>
              <a:gd name="connsiteX1" fmla="*/ 690644 w 1082514"/>
              <a:gd name="connsiteY1" fmla="*/ 532484 h 724672"/>
              <a:gd name="connsiteX2" fmla="*/ 830468 w 1082514"/>
              <a:gd name="connsiteY2" fmla="*/ 531664 h 724672"/>
              <a:gd name="connsiteX3" fmla="*/ 534160 w 1082514"/>
              <a:gd name="connsiteY3" fmla="*/ 724672 h 724672"/>
              <a:gd name="connsiteX4" fmla="*/ 237842 w 1082514"/>
              <a:gd name="connsiteY4" fmla="*/ 532873 h 724672"/>
              <a:gd name="connsiteX5" fmla="*/ 380046 w 1082514"/>
              <a:gd name="connsiteY5" fmla="*/ 533263 h 724672"/>
              <a:gd name="connsiteX6" fmla="*/ 0 w 1082514"/>
              <a:gd name="connsiteY6" fmla="*/ 6843 h 724672"/>
              <a:gd name="connsiteX0" fmla="*/ 1082514 w 1082514"/>
              <a:gd name="connsiteY0" fmla="*/ 0 h 724672"/>
              <a:gd name="connsiteX1" fmla="*/ 690644 w 1082514"/>
              <a:gd name="connsiteY1" fmla="*/ 532484 h 724672"/>
              <a:gd name="connsiteX2" fmla="*/ 830468 w 1082514"/>
              <a:gd name="connsiteY2" fmla="*/ 531664 h 724672"/>
              <a:gd name="connsiteX3" fmla="*/ 534160 w 1082514"/>
              <a:gd name="connsiteY3" fmla="*/ 724672 h 724672"/>
              <a:gd name="connsiteX4" fmla="*/ 237842 w 1082514"/>
              <a:gd name="connsiteY4" fmla="*/ 532873 h 724672"/>
              <a:gd name="connsiteX5" fmla="*/ 434815 w 1082514"/>
              <a:gd name="connsiteY5" fmla="*/ 533263 h 724672"/>
              <a:gd name="connsiteX6" fmla="*/ 0 w 1082514"/>
              <a:gd name="connsiteY6" fmla="*/ 6843 h 724672"/>
              <a:gd name="connsiteX0" fmla="*/ 1082514 w 1082514"/>
              <a:gd name="connsiteY0" fmla="*/ 0 h 724672"/>
              <a:gd name="connsiteX1" fmla="*/ 690644 w 1082514"/>
              <a:gd name="connsiteY1" fmla="*/ 532484 h 724672"/>
              <a:gd name="connsiteX2" fmla="*/ 830468 w 1082514"/>
              <a:gd name="connsiteY2" fmla="*/ 531664 h 724672"/>
              <a:gd name="connsiteX3" fmla="*/ 534160 w 1082514"/>
              <a:gd name="connsiteY3" fmla="*/ 724672 h 724672"/>
              <a:gd name="connsiteX4" fmla="*/ 297373 w 1082514"/>
              <a:gd name="connsiteY4" fmla="*/ 532873 h 724672"/>
              <a:gd name="connsiteX5" fmla="*/ 434815 w 1082514"/>
              <a:gd name="connsiteY5" fmla="*/ 533263 h 724672"/>
              <a:gd name="connsiteX6" fmla="*/ 0 w 1082514"/>
              <a:gd name="connsiteY6" fmla="*/ 6843 h 724672"/>
              <a:gd name="connsiteX0" fmla="*/ 1082514 w 1082514"/>
              <a:gd name="connsiteY0" fmla="*/ 0 h 724672"/>
              <a:gd name="connsiteX1" fmla="*/ 690644 w 1082514"/>
              <a:gd name="connsiteY1" fmla="*/ 532484 h 724672"/>
              <a:gd name="connsiteX2" fmla="*/ 768555 w 1082514"/>
              <a:gd name="connsiteY2" fmla="*/ 531664 h 724672"/>
              <a:gd name="connsiteX3" fmla="*/ 534160 w 1082514"/>
              <a:gd name="connsiteY3" fmla="*/ 724672 h 724672"/>
              <a:gd name="connsiteX4" fmla="*/ 297373 w 1082514"/>
              <a:gd name="connsiteY4" fmla="*/ 532873 h 724672"/>
              <a:gd name="connsiteX5" fmla="*/ 434815 w 1082514"/>
              <a:gd name="connsiteY5" fmla="*/ 533263 h 724672"/>
              <a:gd name="connsiteX6" fmla="*/ 0 w 1082514"/>
              <a:gd name="connsiteY6" fmla="*/ 6843 h 724672"/>
              <a:gd name="connsiteX0" fmla="*/ 1082514 w 1082514"/>
              <a:gd name="connsiteY0" fmla="*/ 0 h 724672"/>
              <a:gd name="connsiteX1" fmla="*/ 638256 w 1082514"/>
              <a:gd name="connsiteY1" fmla="*/ 534476 h 724672"/>
              <a:gd name="connsiteX2" fmla="*/ 768555 w 1082514"/>
              <a:gd name="connsiteY2" fmla="*/ 531664 h 724672"/>
              <a:gd name="connsiteX3" fmla="*/ 534160 w 1082514"/>
              <a:gd name="connsiteY3" fmla="*/ 724672 h 724672"/>
              <a:gd name="connsiteX4" fmla="*/ 297373 w 1082514"/>
              <a:gd name="connsiteY4" fmla="*/ 532873 h 724672"/>
              <a:gd name="connsiteX5" fmla="*/ 434815 w 1082514"/>
              <a:gd name="connsiteY5" fmla="*/ 533263 h 724672"/>
              <a:gd name="connsiteX6" fmla="*/ 0 w 1082514"/>
              <a:gd name="connsiteY6" fmla="*/ 6843 h 7246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82514" h="724672">
                <a:moveTo>
                  <a:pt x="1082514" y="0"/>
                </a:moveTo>
                <a:cubicBezTo>
                  <a:pt x="788378" y="227602"/>
                  <a:pt x="727605" y="349736"/>
                  <a:pt x="638256" y="534476"/>
                </a:cubicBezTo>
                <a:lnTo>
                  <a:pt x="768555" y="531664"/>
                </a:lnTo>
                <a:lnTo>
                  <a:pt x="534160" y="724672"/>
                </a:lnTo>
                <a:lnTo>
                  <a:pt x="297373" y="532873"/>
                </a:lnTo>
                <a:lnTo>
                  <a:pt x="434815" y="533263"/>
                </a:lnTo>
                <a:cubicBezTo>
                  <a:pt x="434815" y="377098"/>
                  <a:pt x="0" y="6843"/>
                  <a:pt x="0" y="6843"/>
                </a:cubicBezTo>
              </a:path>
            </a:pathLst>
          </a:custGeom>
          <a:gradFill flip="none" rotWithShape="1">
            <a:gsLst>
              <a:gs pos="15000">
                <a:srgbClr val="FFF2CC"/>
              </a:gs>
              <a:gs pos="100000">
                <a:sysClr val="window" lastClr="FFFFFF">
                  <a:alpha val="0"/>
                </a:sysClr>
              </a:gs>
            </a:gsLst>
            <a:lin ang="16200000" scaled="1"/>
            <a:tileRect/>
          </a:gradFill>
          <a:ln w="19050" cap="flat" cmpd="sng" algn="ctr">
            <a:gradFill flip="none" rotWithShape="1">
              <a:gsLst>
                <a:gs pos="100000">
                  <a:sysClr val="window" lastClr="FFFFFF">
                    <a:lumMod val="100000"/>
                    <a:alpha val="0"/>
                  </a:sysClr>
                </a:gs>
                <a:gs pos="31000">
                  <a:srgbClr val="FFD17D"/>
                </a:gs>
              </a:gsLst>
              <a:lin ang="16200000" scaled="1"/>
              <a:tileRect/>
            </a:gradFill>
            <a:prstDash val="solid"/>
            <a:miter lim="800000"/>
          </a:ln>
          <a:effectLst/>
        </p:spPr>
        <p:txBody>
          <a:bodyPr rtlCol="0" anchor="ctr"/>
          <a:lstStyle/>
          <a:p>
            <a:pPr marL="0" marR="0" lvl="0" indent="0" algn="ctr" defTabSz="914478"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endParaRPr>
          </a:p>
        </p:txBody>
      </p:sp>
      <p:sp>
        <p:nvSpPr>
          <p:cNvPr id="113" name="文本框 112"/>
          <p:cNvSpPr txBox="1"/>
          <p:nvPr/>
        </p:nvSpPr>
        <p:spPr bwMode="gray">
          <a:xfrm>
            <a:off x="3240182" y="2007921"/>
            <a:ext cx="623890" cy="276999"/>
          </a:xfrm>
          <a:prstGeom prst="rect">
            <a:avLst/>
          </a:prstGeom>
          <a:noFill/>
        </p:spPr>
        <p:txBody>
          <a:bodyPr wrap="none" rtlCol="0">
            <a:spAutoFit/>
          </a:bodyPr>
          <a:lstStyle/>
          <a:p>
            <a:pPr algn="ctr"/>
            <a:r>
              <a:rPr lang="zh-CN" altLang="en-US" sz="1200" dirty="0" smtClean="0">
                <a:solidFill>
                  <a:srgbClr val="ED6D00"/>
                </a:solidFill>
                <a:latin typeface="Huawei Sans" panose="020C0503030203020204" pitchFamily="34" charset="0"/>
                <a:ea typeface="方正兰亭细黑简体" panose="02000000000000000000" pitchFamily="2" charset="-122"/>
                <a:sym typeface="Huawei Sans" panose="020C0503030203020204" pitchFamily="34" charset="0"/>
              </a:rPr>
              <a:t>对端</a:t>
            </a:r>
            <a:r>
              <a:rPr lang="en-US" altLang="zh-CN" sz="1200" dirty="0" smtClean="0">
                <a:solidFill>
                  <a:srgbClr val="ED6D00"/>
                </a:solidFill>
                <a:latin typeface="Huawei Sans" panose="020C0503030203020204" pitchFamily="34" charset="0"/>
                <a:ea typeface="方正兰亭细黑简体" panose="02000000000000000000" pitchFamily="2" charset="-122"/>
                <a:sym typeface="Huawei Sans" panose="020C0503030203020204" pitchFamily="34" charset="0"/>
              </a:rPr>
              <a:t>IP</a:t>
            </a:r>
          </a:p>
        </p:txBody>
      </p:sp>
      <p:sp>
        <p:nvSpPr>
          <p:cNvPr id="45" name="五边形 44"/>
          <p:cNvSpPr/>
          <p:nvPr/>
        </p:nvSpPr>
        <p:spPr bwMode="gray">
          <a:xfrm>
            <a:off x="5773628" y="98481"/>
            <a:ext cx="9000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站点管理</a:t>
            </a:r>
          </a:p>
        </p:txBody>
      </p:sp>
      <p:sp>
        <p:nvSpPr>
          <p:cNvPr id="47" name="燕尾形 46"/>
          <p:cNvSpPr/>
          <p:nvPr/>
        </p:nvSpPr>
        <p:spPr bwMode="gray">
          <a:xfrm>
            <a:off x="9109268" y="9848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逻辑网络</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8" name="燕尾形 47"/>
          <p:cNvSpPr/>
          <p:nvPr/>
        </p:nvSpPr>
        <p:spPr bwMode="gray">
          <a:xfrm>
            <a:off x="9925178" y="9848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业务部署</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1" name="燕尾形 50"/>
          <p:cNvSpPr/>
          <p:nvPr/>
        </p:nvSpPr>
        <p:spPr bwMode="gray">
          <a:xfrm>
            <a:off x="8221358" y="98481"/>
            <a:ext cx="9720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Fabric</a:t>
            </a: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网络</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5" name="燕尾形 54"/>
          <p:cNvSpPr/>
          <p:nvPr/>
        </p:nvSpPr>
        <p:spPr bwMode="gray">
          <a:xfrm>
            <a:off x="7405448" y="9848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网络规划</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6" name="燕尾形 55"/>
          <p:cNvSpPr/>
          <p:nvPr/>
        </p:nvSpPr>
        <p:spPr bwMode="gray">
          <a:xfrm>
            <a:off x="6589538" y="9848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设备管理</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7" name="燕尾形 56"/>
          <p:cNvSpPr/>
          <p:nvPr/>
        </p:nvSpPr>
        <p:spPr bwMode="gray">
          <a:xfrm>
            <a:off x="10741088" y="98481"/>
            <a:ext cx="1008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WLAN</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业务</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2783396067"/>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normAutofit/>
          </a:bodyPr>
          <a:lstStyle/>
          <a:p>
            <a:r>
              <a:rPr lang="zh-CN" altLang="en-US" dirty="0" smtClean="0"/>
              <a:t>配置</a:t>
            </a:r>
            <a:r>
              <a:rPr lang="en-US" altLang="zh-CN" dirty="0" smtClean="0"/>
              <a:t>Fabric</a:t>
            </a:r>
            <a:r>
              <a:rPr lang="zh-CN" altLang="en-US" dirty="0" smtClean="0"/>
              <a:t>网络：配置接入管理</a:t>
            </a:r>
            <a:endParaRPr lang="zh-CN" altLang="en-US" dirty="0"/>
          </a:p>
        </p:txBody>
      </p:sp>
      <p:sp>
        <p:nvSpPr>
          <p:cNvPr id="3" name="文本占位符 2"/>
          <p:cNvSpPr>
            <a:spLocks noGrp="1"/>
          </p:cNvSpPr>
          <p:nvPr>
            <p:ph type="body" sz="quarter" idx="10"/>
          </p:nvPr>
        </p:nvSpPr>
        <p:spPr bwMode="gray"/>
        <p:txBody>
          <a:bodyPr/>
          <a:lstStyle/>
          <a:p>
            <a:r>
              <a:rPr lang="zh-CN" altLang="en-US" sz="1800" dirty="0"/>
              <a:t>园区网络需要部署准入控制对接入用户进行认证，包括</a:t>
            </a:r>
            <a:r>
              <a:rPr lang="en-US" altLang="zh-CN" sz="1800" dirty="0"/>
              <a:t>802.1X</a:t>
            </a:r>
            <a:r>
              <a:rPr lang="zh-CN" altLang="en-US" sz="1800" dirty="0"/>
              <a:t>认证、</a:t>
            </a:r>
            <a:r>
              <a:rPr lang="en-US" altLang="zh-CN" sz="1800" dirty="0"/>
              <a:t>MAC</a:t>
            </a:r>
            <a:r>
              <a:rPr lang="zh-CN" altLang="en-US" sz="1800" dirty="0"/>
              <a:t>认证和</a:t>
            </a:r>
            <a:r>
              <a:rPr lang="en-US" altLang="zh-CN" sz="1800" dirty="0"/>
              <a:t>Portal</a:t>
            </a:r>
            <a:r>
              <a:rPr lang="zh-CN" altLang="en-US" sz="1800" dirty="0"/>
              <a:t>认证，其中</a:t>
            </a:r>
            <a:r>
              <a:rPr lang="en-US" altLang="zh-CN" sz="1800" dirty="0"/>
              <a:t>802.1X</a:t>
            </a:r>
            <a:r>
              <a:rPr lang="zh-CN" altLang="en-US" sz="1800" dirty="0"/>
              <a:t>认证及</a:t>
            </a:r>
            <a:r>
              <a:rPr lang="en-US" altLang="zh-CN" sz="1800" dirty="0"/>
              <a:t>MAC</a:t>
            </a:r>
            <a:r>
              <a:rPr lang="zh-CN" altLang="en-US" sz="1800" dirty="0"/>
              <a:t>认证在实现中需</a:t>
            </a:r>
            <a:r>
              <a:rPr lang="en-US" altLang="zh-CN" sz="1800" dirty="0"/>
              <a:t>RADIUS</a:t>
            </a:r>
            <a:r>
              <a:rPr lang="zh-CN" altLang="en-US" sz="1800" dirty="0"/>
              <a:t>认证服务器配合，而</a:t>
            </a:r>
            <a:r>
              <a:rPr lang="en-US" altLang="zh-CN" sz="1800" dirty="0"/>
              <a:t>Portal</a:t>
            </a:r>
            <a:r>
              <a:rPr lang="zh-CN" altLang="en-US" sz="1800" dirty="0"/>
              <a:t>认证则需</a:t>
            </a:r>
            <a:r>
              <a:rPr lang="en-US" altLang="zh-CN" sz="1800" dirty="0"/>
              <a:t>RADIUS</a:t>
            </a:r>
            <a:r>
              <a:rPr lang="zh-CN" altLang="en-US" sz="1800" dirty="0"/>
              <a:t>服务器和</a:t>
            </a:r>
            <a:r>
              <a:rPr lang="en-US" altLang="zh-CN" sz="1800" dirty="0"/>
              <a:t>Portal</a:t>
            </a:r>
            <a:r>
              <a:rPr lang="zh-CN" altLang="en-US" sz="1800" dirty="0"/>
              <a:t>服务器配合。</a:t>
            </a:r>
            <a:endParaRPr lang="en-US" altLang="zh-CN" sz="1800" dirty="0" smtClean="0"/>
          </a:p>
          <a:p>
            <a:r>
              <a:rPr lang="en-US" altLang="zh-CN" sz="1800" dirty="0" smtClean="0"/>
              <a:t>Fabric</a:t>
            </a:r>
            <a:r>
              <a:rPr lang="zh-CN" altLang="en-US" sz="1800" dirty="0" smtClean="0"/>
              <a:t>的接入管理主要是配置认证控制点，对接入点资源进行规划，在</a:t>
            </a:r>
            <a:r>
              <a:rPr lang="en-US" altLang="zh-CN" sz="1800" dirty="0" smtClean="0"/>
              <a:t>VN</a:t>
            </a:r>
            <a:r>
              <a:rPr lang="zh-CN" altLang="en-US" sz="1800" dirty="0" smtClean="0"/>
              <a:t>创建时会被选用。</a:t>
            </a:r>
            <a:endParaRPr lang="en-US" altLang="zh-CN" sz="1800" dirty="0" smtClean="0"/>
          </a:p>
          <a:p>
            <a:r>
              <a:rPr lang="zh-CN" altLang="en-US" sz="1800" dirty="0" smtClean="0"/>
              <a:t>其中，有线接入点资源指的是终端接入的交换机端口，无线接入点资源指的是终端接入的</a:t>
            </a:r>
            <a:r>
              <a:rPr lang="en-US" altLang="zh-CN" sz="1800" dirty="0" smtClean="0"/>
              <a:t>SSID</a:t>
            </a:r>
            <a:r>
              <a:rPr lang="zh-CN" altLang="en-US" sz="1800" dirty="0" smtClean="0"/>
              <a:t>。</a:t>
            </a:r>
            <a:endParaRPr lang="en-US" altLang="zh-CN" sz="1800" dirty="0" smtClean="0"/>
          </a:p>
          <a:p>
            <a:pPr lvl="1"/>
            <a:r>
              <a:rPr lang="en-US" altLang="zh-CN" sz="1600" dirty="0" smtClean="0"/>
              <a:t>Fabric</a:t>
            </a:r>
            <a:r>
              <a:rPr lang="zh-CN" altLang="en-US" sz="1600" dirty="0" smtClean="0"/>
              <a:t>接入管理中，对交换机的接入端口定义了</a:t>
            </a:r>
            <a:r>
              <a:rPr lang="en-US" altLang="zh-CN" sz="1600" dirty="0" smtClean="0"/>
              <a:t>3</a:t>
            </a:r>
            <a:r>
              <a:rPr lang="zh-CN" altLang="en-US" sz="1600" dirty="0" smtClean="0"/>
              <a:t>种连接类型。</a:t>
            </a:r>
            <a:endParaRPr lang="en-US" altLang="zh-CN" sz="1600" dirty="0" smtClean="0"/>
          </a:p>
          <a:p>
            <a:pPr lvl="2"/>
            <a:r>
              <a:rPr lang="en-US" altLang="zh-CN" sz="1400" dirty="0" smtClean="0"/>
              <a:t>Fabric</a:t>
            </a:r>
            <a:r>
              <a:rPr lang="zh-CN" altLang="en-US" sz="1400" dirty="0" smtClean="0"/>
              <a:t>扩展</a:t>
            </a:r>
            <a:r>
              <a:rPr lang="en-US" altLang="zh-CN" sz="1400" dirty="0" smtClean="0"/>
              <a:t>AP</a:t>
            </a:r>
            <a:r>
              <a:rPr lang="zh-CN" altLang="en-US" sz="1400" dirty="0" smtClean="0"/>
              <a:t>：华为瘦</a:t>
            </a:r>
            <a:r>
              <a:rPr lang="en-US" altLang="zh-CN" sz="1400" dirty="0" smtClean="0"/>
              <a:t>AP</a:t>
            </a:r>
            <a:r>
              <a:rPr lang="zh-CN" altLang="en-US" sz="1400" dirty="0" smtClean="0"/>
              <a:t>，可以通过</a:t>
            </a:r>
            <a:r>
              <a:rPr lang="en-US" altLang="zh-CN" sz="1400" dirty="0" smtClean="0"/>
              <a:t>iMaster NCE-Campus</a:t>
            </a:r>
            <a:r>
              <a:rPr lang="zh-CN" altLang="en-US" sz="1400" dirty="0" smtClean="0"/>
              <a:t>进行管理。</a:t>
            </a:r>
          </a:p>
          <a:p>
            <a:pPr lvl="2"/>
            <a:r>
              <a:rPr lang="en-US" altLang="zh-CN" sz="1400" dirty="0" smtClean="0"/>
              <a:t>Fabric</a:t>
            </a:r>
            <a:r>
              <a:rPr lang="zh-CN" altLang="en-US" sz="1400" dirty="0" smtClean="0"/>
              <a:t>扩展接入交换机：华为交换机，可以通过</a:t>
            </a:r>
            <a:r>
              <a:rPr lang="en-US" altLang="zh-CN" sz="1400" dirty="0" smtClean="0"/>
              <a:t>iMaster NCE-Campus</a:t>
            </a:r>
            <a:r>
              <a:rPr lang="zh-CN" altLang="en-US" sz="1400" dirty="0" smtClean="0"/>
              <a:t>进行管理。</a:t>
            </a:r>
          </a:p>
          <a:p>
            <a:pPr lvl="2"/>
            <a:r>
              <a:rPr lang="zh-CN" altLang="en-US" sz="1400" dirty="0" smtClean="0"/>
              <a:t>终端（</a:t>
            </a:r>
            <a:r>
              <a:rPr lang="en-US" altLang="zh-CN" sz="1400" dirty="0" smtClean="0"/>
              <a:t>PC</a:t>
            </a:r>
            <a:r>
              <a:rPr lang="zh-CN" altLang="en-US" sz="1400" dirty="0" smtClean="0"/>
              <a:t>、话机、哑终端、非</a:t>
            </a:r>
            <a:r>
              <a:rPr lang="en-US" altLang="zh-CN" sz="1400" dirty="0" smtClean="0"/>
              <a:t>Fabric</a:t>
            </a:r>
            <a:r>
              <a:rPr lang="zh-CN" altLang="en-US" sz="1400" dirty="0" smtClean="0"/>
              <a:t>扩展交换机</a:t>
            </a:r>
            <a:r>
              <a:rPr lang="en-US" altLang="zh-CN" sz="1400" dirty="0" smtClean="0"/>
              <a:t>/AP</a:t>
            </a:r>
            <a:r>
              <a:rPr lang="zh-CN" altLang="en-US" sz="1400" dirty="0" smtClean="0"/>
              <a:t>）：用户终端、不支持</a:t>
            </a:r>
            <a:r>
              <a:rPr lang="en-US" altLang="zh-CN" sz="1400" dirty="0" smtClean="0"/>
              <a:t>iMaster NCE-Campus</a:t>
            </a:r>
            <a:r>
              <a:rPr lang="zh-CN" altLang="en-US" sz="1400" dirty="0" smtClean="0"/>
              <a:t>管理的交换机和</a:t>
            </a:r>
            <a:r>
              <a:rPr lang="en-US" altLang="zh-CN" sz="1400" dirty="0" smtClean="0"/>
              <a:t>AP</a:t>
            </a:r>
            <a:r>
              <a:rPr lang="zh-CN" altLang="en-US" sz="1400" dirty="0" smtClean="0"/>
              <a:t>、支持</a:t>
            </a:r>
            <a:r>
              <a:rPr lang="en-US" altLang="zh-CN" sz="1400" dirty="0" smtClean="0"/>
              <a:t>iMaster NCE-Campus</a:t>
            </a:r>
            <a:r>
              <a:rPr lang="zh-CN" altLang="en-US" sz="1400" dirty="0" smtClean="0"/>
              <a:t>管理但不支持</a:t>
            </a:r>
            <a:r>
              <a:rPr lang="en-US" altLang="zh-CN" sz="1400" dirty="0" smtClean="0"/>
              <a:t>Fabric</a:t>
            </a:r>
            <a:r>
              <a:rPr lang="zh-CN" altLang="en-US" sz="1400" dirty="0" smtClean="0"/>
              <a:t>扩展的交换机。</a:t>
            </a:r>
            <a:r>
              <a:rPr lang="en-US" altLang="zh-CN" sz="1400" dirty="0" smtClean="0"/>
              <a:t> </a:t>
            </a:r>
            <a:endParaRPr lang="zh-CN" altLang="en-US" sz="1400" dirty="0" smtClean="0"/>
          </a:p>
          <a:p>
            <a:r>
              <a:rPr lang="zh-CN" altLang="en-US" sz="1800" dirty="0" smtClean="0"/>
              <a:t>在不同的网关方案中，</a:t>
            </a:r>
            <a:r>
              <a:rPr lang="en-US" altLang="zh-CN" sz="1800" dirty="0" smtClean="0"/>
              <a:t>Fabric</a:t>
            </a:r>
            <a:r>
              <a:rPr lang="zh-CN" altLang="en-US" sz="1800" dirty="0" smtClean="0"/>
              <a:t>接入管理的配置会有差异。</a:t>
            </a:r>
            <a:endParaRPr lang="zh-CN" altLang="en-US" sz="1800" dirty="0"/>
          </a:p>
        </p:txBody>
      </p:sp>
      <p:sp>
        <p:nvSpPr>
          <p:cNvPr id="10" name="五边形 9"/>
          <p:cNvSpPr/>
          <p:nvPr/>
        </p:nvSpPr>
        <p:spPr bwMode="gray">
          <a:xfrm>
            <a:off x="5773628" y="98481"/>
            <a:ext cx="9000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站点管理</a:t>
            </a:r>
          </a:p>
        </p:txBody>
      </p:sp>
      <p:sp>
        <p:nvSpPr>
          <p:cNvPr id="11" name="燕尾形 10"/>
          <p:cNvSpPr/>
          <p:nvPr/>
        </p:nvSpPr>
        <p:spPr bwMode="gray">
          <a:xfrm>
            <a:off x="9109268" y="9848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逻辑网络</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8" name="燕尾形 17"/>
          <p:cNvSpPr/>
          <p:nvPr/>
        </p:nvSpPr>
        <p:spPr bwMode="gray">
          <a:xfrm>
            <a:off x="9925178" y="9848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业务部署</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9" name="燕尾形 18"/>
          <p:cNvSpPr/>
          <p:nvPr/>
        </p:nvSpPr>
        <p:spPr bwMode="gray">
          <a:xfrm>
            <a:off x="8221358" y="98481"/>
            <a:ext cx="9720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Fabric</a:t>
            </a: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网络</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0" name="燕尾形 19"/>
          <p:cNvSpPr/>
          <p:nvPr/>
        </p:nvSpPr>
        <p:spPr bwMode="gray">
          <a:xfrm>
            <a:off x="7405448" y="9848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网络规划</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1" name="燕尾形 20"/>
          <p:cNvSpPr/>
          <p:nvPr/>
        </p:nvSpPr>
        <p:spPr bwMode="gray">
          <a:xfrm>
            <a:off x="6589538" y="9848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设备管理</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2" name="燕尾形 21"/>
          <p:cNvSpPr/>
          <p:nvPr/>
        </p:nvSpPr>
        <p:spPr bwMode="gray">
          <a:xfrm>
            <a:off x="10741088" y="98481"/>
            <a:ext cx="1008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WLAN</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业务</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1699813170"/>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bwMode="gray"/>
        <p:txBody>
          <a:bodyPr>
            <a:normAutofit/>
          </a:bodyPr>
          <a:lstStyle/>
          <a:p>
            <a:r>
              <a:rPr lang="zh-CN" altLang="en-US" dirty="0"/>
              <a:t>实验</a:t>
            </a:r>
            <a:r>
              <a:rPr lang="zh-CN" altLang="en-US" dirty="0" smtClean="0"/>
              <a:t>：</a:t>
            </a:r>
            <a:r>
              <a:rPr lang="zh-CN" altLang="en-US" dirty="0"/>
              <a:t>配置</a:t>
            </a:r>
            <a:r>
              <a:rPr lang="en-US" altLang="zh-CN" dirty="0"/>
              <a:t>Fabric</a:t>
            </a:r>
            <a:r>
              <a:rPr lang="zh-CN" altLang="en-US" dirty="0"/>
              <a:t>接入</a:t>
            </a:r>
            <a:r>
              <a:rPr lang="zh-CN" altLang="en-US" dirty="0" smtClean="0"/>
              <a:t>管理 </a:t>
            </a:r>
            <a:r>
              <a:rPr lang="en-US" altLang="zh-CN" dirty="0" smtClean="0"/>
              <a:t>(1)</a:t>
            </a:r>
            <a:endParaRPr lang="zh-CN" altLang="en-US" dirty="0"/>
          </a:p>
        </p:txBody>
      </p:sp>
      <p:pic>
        <p:nvPicPr>
          <p:cNvPr id="34" name="图片 33" descr="PC.png">
            <a:extLst>
              <a:ext uri="{FF2B5EF4-FFF2-40B4-BE49-F238E27FC236}">
                <a16:creationId xmlns:a16="http://schemas.microsoft.com/office/drawing/2014/main" xmlns="" xmlns:lc="http://schemas.openxmlformats.org/drawingml/2006/lockedCanvas" id="{4666702E-823D-4236-BF2F-880359158C83}"/>
              </a:ext>
            </a:extLst>
          </p:cNvPr>
          <p:cNvPicPr>
            <a:picLocks noChangeAspect="1"/>
          </p:cNvPicPr>
          <p:nvPr/>
        </p:nvPicPr>
        <p:blipFill>
          <a:blip r:embed="rId3" cstate="print"/>
          <a:stretch>
            <a:fillRect/>
          </a:stretch>
        </p:blipFill>
        <p:spPr bwMode="gray">
          <a:xfrm>
            <a:off x="1193872" y="4790434"/>
            <a:ext cx="445506" cy="342149"/>
          </a:xfrm>
          <a:prstGeom prst="rect">
            <a:avLst/>
          </a:prstGeom>
        </p:spPr>
      </p:pic>
      <p:sp>
        <p:nvSpPr>
          <p:cNvPr id="35" name="圆角矩形 34"/>
          <p:cNvSpPr/>
          <p:nvPr/>
        </p:nvSpPr>
        <p:spPr bwMode="gray">
          <a:xfrm>
            <a:off x="569344" y="1948506"/>
            <a:ext cx="3948649" cy="2628871"/>
          </a:xfrm>
          <a:prstGeom prst="roundRect">
            <a:avLst>
              <a:gd name="adj" fmla="val 3166"/>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78" rtl="0" eaLnBrk="1" latinLnBrk="0" hangingPunct="1">
              <a:defRPr sz="1800" kern="1200">
                <a:solidFill>
                  <a:schemeClr val="lt1"/>
                </a:solidFill>
                <a:latin typeface="+mn-lt"/>
                <a:ea typeface="+mn-ea"/>
                <a:cs typeface="+mn-cs"/>
              </a:defRPr>
            </a:lvl1pPr>
            <a:lvl2pPr marL="457240" algn="l" defTabSz="914478" rtl="0" eaLnBrk="1" latinLnBrk="0" hangingPunct="1">
              <a:defRPr sz="1800" kern="1200">
                <a:solidFill>
                  <a:schemeClr val="lt1"/>
                </a:solidFill>
                <a:latin typeface="+mn-lt"/>
                <a:ea typeface="+mn-ea"/>
                <a:cs typeface="+mn-cs"/>
              </a:defRPr>
            </a:lvl2pPr>
            <a:lvl3pPr marL="914478" algn="l" defTabSz="914478" rtl="0" eaLnBrk="1" latinLnBrk="0" hangingPunct="1">
              <a:defRPr sz="1800" kern="1200">
                <a:solidFill>
                  <a:schemeClr val="lt1"/>
                </a:solidFill>
                <a:latin typeface="+mn-lt"/>
                <a:ea typeface="+mn-ea"/>
                <a:cs typeface="+mn-cs"/>
              </a:defRPr>
            </a:lvl3pPr>
            <a:lvl4pPr marL="1371718" algn="l" defTabSz="914478" rtl="0" eaLnBrk="1" latinLnBrk="0" hangingPunct="1">
              <a:defRPr sz="1800" kern="1200">
                <a:solidFill>
                  <a:schemeClr val="lt1"/>
                </a:solidFill>
                <a:latin typeface="+mn-lt"/>
                <a:ea typeface="+mn-ea"/>
                <a:cs typeface="+mn-cs"/>
              </a:defRPr>
            </a:lvl4pPr>
            <a:lvl5pPr marL="1828957" algn="l" defTabSz="914478" rtl="0" eaLnBrk="1" latinLnBrk="0" hangingPunct="1">
              <a:defRPr sz="1800" kern="1200">
                <a:solidFill>
                  <a:schemeClr val="lt1"/>
                </a:solidFill>
                <a:latin typeface="+mn-lt"/>
                <a:ea typeface="+mn-ea"/>
                <a:cs typeface="+mn-cs"/>
              </a:defRPr>
            </a:lvl5pPr>
            <a:lvl6pPr marL="2286196" algn="l" defTabSz="914478" rtl="0" eaLnBrk="1" latinLnBrk="0" hangingPunct="1">
              <a:defRPr sz="1800" kern="1200">
                <a:solidFill>
                  <a:schemeClr val="lt1"/>
                </a:solidFill>
                <a:latin typeface="+mn-lt"/>
                <a:ea typeface="+mn-ea"/>
                <a:cs typeface="+mn-cs"/>
              </a:defRPr>
            </a:lvl6pPr>
            <a:lvl7pPr marL="2743435" algn="l" defTabSz="914478" rtl="0" eaLnBrk="1" latinLnBrk="0" hangingPunct="1">
              <a:defRPr sz="1800" kern="1200">
                <a:solidFill>
                  <a:schemeClr val="lt1"/>
                </a:solidFill>
                <a:latin typeface="+mn-lt"/>
                <a:ea typeface="+mn-ea"/>
                <a:cs typeface="+mn-cs"/>
              </a:defRPr>
            </a:lvl7pPr>
            <a:lvl8pPr marL="3200675" algn="l" defTabSz="914478" rtl="0" eaLnBrk="1" latinLnBrk="0" hangingPunct="1">
              <a:defRPr sz="1800" kern="1200">
                <a:solidFill>
                  <a:schemeClr val="lt1"/>
                </a:solidFill>
                <a:latin typeface="+mn-lt"/>
                <a:ea typeface="+mn-ea"/>
                <a:cs typeface="+mn-cs"/>
              </a:defRPr>
            </a:lvl8pPr>
            <a:lvl9pPr marL="3657913" algn="l" defTabSz="914478" rtl="0" eaLnBrk="1" latinLnBrk="0" hangingPunct="1">
              <a:defRPr sz="1800" kern="1200">
                <a:solidFill>
                  <a:schemeClr val="lt1"/>
                </a:solidFill>
                <a:latin typeface="+mn-lt"/>
                <a:ea typeface="+mn-ea"/>
                <a:cs typeface="+mn-cs"/>
              </a:defRPr>
            </a:lvl9pPr>
          </a:lstStyle>
          <a:p>
            <a:pPr algn="ctr"/>
            <a:endParaRPr lang="zh-CN" altLang="en-US">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36" name="Freeform 159"/>
          <p:cNvSpPr/>
          <p:nvPr/>
        </p:nvSpPr>
        <p:spPr bwMode="gray">
          <a:xfrm flipH="1">
            <a:off x="1102692" y="2301322"/>
            <a:ext cx="2555182" cy="1462729"/>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rgbClr val="E3F6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78" rtl="0" eaLnBrk="1" latinLnBrk="0" hangingPunct="1">
              <a:defRPr sz="1800" kern="1200">
                <a:solidFill>
                  <a:schemeClr val="lt1"/>
                </a:solidFill>
                <a:latin typeface="+mn-lt"/>
                <a:ea typeface="+mn-ea"/>
                <a:cs typeface="+mn-cs"/>
              </a:defRPr>
            </a:lvl1pPr>
            <a:lvl2pPr marL="457240" algn="l" defTabSz="914478" rtl="0" eaLnBrk="1" latinLnBrk="0" hangingPunct="1">
              <a:defRPr sz="1800" kern="1200">
                <a:solidFill>
                  <a:schemeClr val="lt1"/>
                </a:solidFill>
                <a:latin typeface="+mn-lt"/>
                <a:ea typeface="+mn-ea"/>
                <a:cs typeface="+mn-cs"/>
              </a:defRPr>
            </a:lvl2pPr>
            <a:lvl3pPr marL="914478" algn="l" defTabSz="914478" rtl="0" eaLnBrk="1" latinLnBrk="0" hangingPunct="1">
              <a:defRPr sz="1800" kern="1200">
                <a:solidFill>
                  <a:schemeClr val="lt1"/>
                </a:solidFill>
                <a:latin typeface="+mn-lt"/>
                <a:ea typeface="+mn-ea"/>
                <a:cs typeface="+mn-cs"/>
              </a:defRPr>
            </a:lvl3pPr>
            <a:lvl4pPr marL="1371718" algn="l" defTabSz="914478" rtl="0" eaLnBrk="1" latinLnBrk="0" hangingPunct="1">
              <a:defRPr sz="1800" kern="1200">
                <a:solidFill>
                  <a:schemeClr val="lt1"/>
                </a:solidFill>
                <a:latin typeface="+mn-lt"/>
                <a:ea typeface="+mn-ea"/>
                <a:cs typeface="+mn-cs"/>
              </a:defRPr>
            </a:lvl4pPr>
            <a:lvl5pPr marL="1828957" algn="l" defTabSz="914478" rtl="0" eaLnBrk="1" latinLnBrk="0" hangingPunct="1">
              <a:defRPr sz="1800" kern="1200">
                <a:solidFill>
                  <a:schemeClr val="lt1"/>
                </a:solidFill>
                <a:latin typeface="+mn-lt"/>
                <a:ea typeface="+mn-ea"/>
                <a:cs typeface="+mn-cs"/>
              </a:defRPr>
            </a:lvl5pPr>
            <a:lvl6pPr marL="2286196" algn="l" defTabSz="914478" rtl="0" eaLnBrk="1" latinLnBrk="0" hangingPunct="1">
              <a:defRPr sz="1800" kern="1200">
                <a:solidFill>
                  <a:schemeClr val="lt1"/>
                </a:solidFill>
                <a:latin typeface="+mn-lt"/>
                <a:ea typeface="+mn-ea"/>
                <a:cs typeface="+mn-cs"/>
              </a:defRPr>
            </a:lvl6pPr>
            <a:lvl7pPr marL="2743435" algn="l" defTabSz="914478" rtl="0" eaLnBrk="1" latinLnBrk="0" hangingPunct="1">
              <a:defRPr sz="1800" kern="1200">
                <a:solidFill>
                  <a:schemeClr val="lt1"/>
                </a:solidFill>
                <a:latin typeface="+mn-lt"/>
                <a:ea typeface="+mn-ea"/>
                <a:cs typeface="+mn-cs"/>
              </a:defRPr>
            </a:lvl7pPr>
            <a:lvl8pPr marL="3200675" algn="l" defTabSz="914478" rtl="0" eaLnBrk="1" latinLnBrk="0" hangingPunct="1">
              <a:defRPr sz="1800" kern="1200">
                <a:solidFill>
                  <a:schemeClr val="lt1"/>
                </a:solidFill>
                <a:latin typeface="+mn-lt"/>
                <a:ea typeface="+mn-ea"/>
                <a:cs typeface="+mn-cs"/>
              </a:defRPr>
            </a:lvl8pPr>
            <a:lvl9pPr marL="3657913" algn="l" defTabSz="914478" rtl="0" eaLnBrk="1" latinLnBrk="0" hangingPunct="1">
              <a:defRPr sz="1800" kern="1200">
                <a:solidFill>
                  <a:schemeClr val="lt1"/>
                </a:solidFill>
                <a:latin typeface="+mn-lt"/>
                <a:ea typeface="+mn-ea"/>
                <a:cs typeface="+mn-cs"/>
              </a:defRPr>
            </a:lvl9pPr>
          </a:lstStyle>
          <a:p>
            <a:pPr algn="ctr"/>
            <a:endParaRPr lang="en-US">
              <a:latin typeface="Huawei Sans" panose="020C0503030203020204" pitchFamily="34" charset="0"/>
              <a:ea typeface="方正兰亭黑简体" panose="02000000000000000000" pitchFamily="2" charset="-122"/>
            </a:endParaRPr>
          </a:p>
        </p:txBody>
      </p:sp>
      <p:cxnSp>
        <p:nvCxnSpPr>
          <p:cNvPr id="37" name="Straight Connector 166"/>
          <p:cNvCxnSpPr>
            <a:stCxn id="45" idx="2"/>
            <a:endCxn id="65" idx="0"/>
          </p:cNvCxnSpPr>
          <p:nvPr/>
        </p:nvCxnSpPr>
        <p:spPr bwMode="gray">
          <a:xfrm>
            <a:off x="1416626" y="3586159"/>
            <a:ext cx="0" cy="40327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Straight Connector 166"/>
          <p:cNvCxnSpPr>
            <a:stCxn id="46" idx="2"/>
            <a:endCxn id="70" idx="0"/>
          </p:cNvCxnSpPr>
          <p:nvPr/>
        </p:nvCxnSpPr>
        <p:spPr bwMode="gray">
          <a:xfrm>
            <a:off x="3354673" y="3586159"/>
            <a:ext cx="0" cy="40327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Straight Connector 167"/>
          <p:cNvCxnSpPr/>
          <p:nvPr/>
        </p:nvCxnSpPr>
        <p:spPr bwMode="gray">
          <a:xfrm flipH="1">
            <a:off x="1422843" y="2526927"/>
            <a:ext cx="971589" cy="876201"/>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41" name="Straight Connector 167"/>
          <p:cNvCxnSpPr/>
          <p:nvPr/>
        </p:nvCxnSpPr>
        <p:spPr bwMode="gray">
          <a:xfrm flipH="1" flipV="1">
            <a:off x="2391053" y="2524450"/>
            <a:ext cx="975076" cy="883934"/>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sp>
        <p:nvSpPr>
          <p:cNvPr id="42" name="文本框 89"/>
          <p:cNvSpPr txBox="1"/>
          <p:nvPr/>
        </p:nvSpPr>
        <p:spPr bwMode="gray">
          <a:xfrm>
            <a:off x="1527419" y="2327181"/>
            <a:ext cx="676788" cy="276999"/>
          </a:xfrm>
          <a:prstGeom prst="rect">
            <a:avLst/>
          </a:prstGeom>
          <a:noFill/>
        </p:spPr>
        <p:txBody>
          <a:bodyPr wrap="none" rtlCol="0">
            <a:spAutoFit/>
          </a:bodyPr>
          <a:ls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a:lstStyle>
          <a:p>
            <a:pPr algn="ctr"/>
            <a:r>
              <a:rPr lang="en-US" altLang="zh-CN" sz="1200" b="1" dirty="0" smtClean="0">
                <a:latin typeface="Huawei Sans" panose="020C0503030203020204" pitchFamily="34" charset="0"/>
                <a:ea typeface="方正兰亭黑简体" panose="02000000000000000000" pitchFamily="2" charset="-122"/>
                <a:cs typeface="Huawei Sans" panose="020C0503030203020204" pitchFamily="34" charset="0"/>
              </a:rPr>
              <a:t>Border</a:t>
            </a:r>
            <a:endParaRPr lang="zh-CN" altLang="en-US" sz="1200" b="1"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43" name="文本框 90"/>
          <p:cNvSpPr txBox="1"/>
          <p:nvPr/>
        </p:nvSpPr>
        <p:spPr bwMode="gray">
          <a:xfrm>
            <a:off x="568405" y="3253386"/>
            <a:ext cx="702436" cy="276999"/>
          </a:xfrm>
          <a:prstGeom prst="rect">
            <a:avLst/>
          </a:prstGeom>
          <a:noFill/>
        </p:spPr>
        <p:txBody>
          <a:bodyPr wrap="none" rtlCol="0">
            <a:spAutoFit/>
          </a:bodyPr>
          <a:ls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a:lstStyle>
          <a:p>
            <a:pPr algn="r"/>
            <a:r>
              <a:rPr lang="en-US" altLang="zh-CN" sz="1200" b="1" dirty="0" smtClean="0">
                <a:latin typeface="Huawei Sans" panose="020C0503030203020204" pitchFamily="34" charset="0"/>
                <a:ea typeface="方正兰亭黑简体" panose="02000000000000000000" pitchFamily="2" charset="-122"/>
                <a:cs typeface="Huawei Sans" panose="020C0503030203020204" pitchFamily="34" charset="0"/>
              </a:rPr>
              <a:t>Edge_1</a:t>
            </a:r>
            <a:endParaRPr lang="zh-CN" altLang="en-US" sz="1200" b="1"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44" name="文本框 91"/>
          <p:cNvSpPr txBox="1"/>
          <p:nvPr/>
        </p:nvSpPr>
        <p:spPr bwMode="gray">
          <a:xfrm>
            <a:off x="638937" y="4041150"/>
            <a:ext cx="631904" cy="276999"/>
          </a:xfrm>
          <a:prstGeom prst="rect">
            <a:avLst/>
          </a:prstGeom>
          <a:noFill/>
        </p:spPr>
        <p:txBody>
          <a:bodyPr wrap="none" rtlCol="0">
            <a:spAutoFit/>
          </a:bodyPr>
          <a:ls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a:lstStyle>
          <a:p>
            <a:pPr algn="r"/>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ACC_1</a:t>
            </a:r>
          </a:p>
        </p:txBody>
      </p:sp>
      <p:pic>
        <p:nvPicPr>
          <p:cNvPr id="45" name="图片 44" descr="汇聚交换机.png"/>
          <p:cNvPicPr>
            <a:picLocks noChangeAspect="1"/>
          </p:cNvPicPr>
          <p:nvPr/>
        </p:nvPicPr>
        <p:blipFill>
          <a:blip r:embed="rId4" cstate="print"/>
          <a:stretch>
            <a:fillRect/>
          </a:stretch>
        </p:blipFill>
        <p:spPr bwMode="gray">
          <a:xfrm>
            <a:off x="1193485" y="3221020"/>
            <a:ext cx="446281" cy="365139"/>
          </a:xfrm>
          <a:prstGeom prst="rect">
            <a:avLst/>
          </a:prstGeom>
        </p:spPr>
      </p:pic>
      <p:pic>
        <p:nvPicPr>
          <p:cNvPr id="46" name="图片 45" descr="汇聚交换机.png"/>
          <p:cNvPicPr>
            <a:picLocks noChangeAspect="1"/>
          </p:cNvPicPr>
          <p:nvPr/>
        </p:nvPicPr>
        <p:blipFill>
          <a:blip r:embed="rId4" cstate="print"/>
          <a:stretch>
            <a:fillRect/>
          </a:stretch>
        </p:blipFill>
        <p:spPr bwMode="gray">
          <a:xfrm>
            <a:off x="3131532" y="3221020"/>
            <a:ext cx="446281" cy="365139"/>
          </a:xfrm>
          <a:prstGeom prst="rect">
            <a:avLst/>
          </a:prstGeom>
        </p:spPr>
      </p:pic>
      <p:sp>
        <p:nvSpPr>
          <p:cNvPr id="56" name="文本框 101"/>
          <p:cNvSpPr txBox="1"/>
          <p:nvPr/>
        </p:nvSpPr>
        <p:spPr bwMode="gray">
          <a:xfrm>
            <a:off x="2039185" y="3227850"/>
            <a:ext cx="676788" cy="307777"/>
          </a:xfrm>
          <a:prstGeom prst="rect">
            <a:avLst/>
          </a:prstGeom>
          <a:noFill/>
        </p:spPr>
        <p:txBody>
          <a:bodyPr wrap="none" rtlCol="0">
            <a:spAutoFit/>
          </a:bodyPr>
          <a:ls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a:lstStyle>
          <a:p>
            <a:pPr algn="ctr"/>
            <a:r>
              <a:rPr lang="en-US" altLang="zh-CN" sz="1400" dirty="0" smtClean="0">
                <a:solidFill>
                  <a:srgbClr val="30B5C5"/>
                </a:solidFill>
                <a:latin typeface="Huawei Sans" panose="020C0503030203020204" pitchFamily="34" charset="0"/>
                <a:ea typeface="方正兰亭细黑简体" panose="02000000000000000000" pitchFamily="2" charset="-122"/>
                <a:sym typeface="Huawei Sans" panose="020C0503030203020204" pitchFamily="34" charset="0"/>
              </a:rPr>
              <a:t>Fabric</a:t>
            </a:r>
          </a:p>
        </p:txBody>
      </p:sp>
      <p:sp>
        <p:nvSpPr>
          <p:cNvPr id="61" name="文本框 106"/>
          <p:cNvSpPr txBox="1"/>
          <p:nvPr/>
        </p:nvSpPr>
        <p:spPr bwMode="gray">
          <a:xfrm>
            <a:off x="3529408" y="3253386"/>
            <a:ext cx="684803" cy="276999"/>
          </a:xfrm>
          <a:prstGeom prst="rect">
            <a:avLst/>
          </a:prstGeom>
          <a:noFill/>
        </p:spPr>
        <p:txBody>
          <a:bodyPr wrap="none" rtlCol="0">
            <a:spAutoFit/>
          </a:bodyPr>
          <a:ls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a:lstStyle>
          <a:p>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Edge_2</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63" name="文本框 107"/>
          <p:cNvSpPr txBox="1"/>
          <p:nvPr/>
        </p:nvSpPr>
        <p:spPr bwMode="gray">
          <a:xfrm>
            <a:off x="601819" y="2098675"/>
            <a:ext cx="468398" cy="307777"/>
          </a:xfrm>
          <a:prstGeom prst="rect">
            <a:avLst/>
          </a:prstGeom>
          <a:noFill/>
        </p:spPr>
        <p:txBody>
          <a:bodyPr wrap="none" rtlCol="0">
            <a:spAutoFit/>
          </a:bodyPr>
          <a:ls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a:lstStyle>
          <a:p>
            <a:r>
              <a:rPr lang="en-US" altLang="zh-CN" sz="1400" b="1" dirty="0" smtClean="0">
                <a:latin typeface="Huawei Sans" panose="020C0503030203020204" pitchFamily="34" charset="0"/>
                <a:ea typeface="方正兰亭黑简体" panose="02000000000000000000" pitchFamily="2" charset="-122"/>
                <a:cs typeface="Huawei Sans" panose="020C0503030203020204" pitchFamily="34" charset="0"/>
              </a:rPr>
              <a:t>HQ</a:t>
            </a:r>
            <a:endParaRPr lang="zh-CN" altLang="en-US" sz="1400" b="1" dirty="0">
              <a:latin typeface="Huawei Sans" panose="020C0503030203020204" pitchFamily="34" charset="0"/>
              <a:ea typeface="方正兰亭黑简体" panose="02000000000000000000" pitchFamily="2" charset="-122"/>
              <a:cs typeface="Huawei Sans" panose="020C0503030203020204" pitchFamily="34" charset="0"/>
            </a:endParaRPr>
          </a:p>
        </p:txBody>
      </p:sp>
      <p:pic>
        <p:nvPicPr>
          <p:cNvPr id="65" name="图片 64" descr="接入交换机.png"/>
          <p:cNvPicPr>
            <a:picLocks noChangeAspect="1"/>
          </p:cNvPicPr>
          <p:nvPr/>
        </p:nvPicPr>
        <p:blipFill>
          <a:blip r:embed="rId5" cstate="print"/>
          <a:stretch>
            <a:fillRect/>
          </a:stretch>
        </p:blipFill>
        <p:spPr bwMode="gray">
          <a:xfrm>
            <a:off x="1193485" y="3989436"/>
            <a:ext cx="446281" cy="365139"/>
          </a:xfrm>
          <a:prstGeom prst="rect">
            <a:avLst/>
          </a:prstGeom>
        </p:spPr>
      </p:pic>
      <p:pic>
        <p:nvPicPr>
          <p:cNvPr id="70" name="图片 69" descr="接入交换机.png"/>
          <p:cNvPicPr>
            <a:picLocks noChangeAspect="1"/>
          </p:cNvPicPr>
          <p:nvPr/>
        </p:nvPicPr>
        <p:blipFill>
          <a:blip r:embed="rId5" cstate="print"/>
          <a:stretch>
            <a:fillRect/>
          </a:stretch>
        </p:blipFill>
        <p:spPr bwMode="gray">
          <a:xfrm>
            <a:off x="3131532" y="3989436"/>
            <a:ext cx="446281" cy="365139"/>
          </a:xfrm>
          <a:prstGeom prst="rect">
            <a:avLst/>
          </a:prstGeom>
        </p:spPr>
      </p:pic>
      <p:pic>
        <p:nvPicPr>
          <p:cNvPr id="71" name="图片 70" descr="核心交换机.png"/>
          <p:cNvPicPr>
            <a:picLocks noChangeAspect="1"/>
          </p:cNvPicPr>
          <p:nvPr/>
        </p:nvPicPr>
        <p:blipFill>
          <a:blip r:embed="rId6" cstate="print"/>
          <a:stretch>
            <a:fillRect/>
          </a:stretch>
        </p:blipFill>
        <p:spPr bwMode="gray">
          <a:xfrm>
            <a:off x="2178685" y="2344358"/>
            <a:ext cx="446281" cy="365139"/>
          </a:xfrm>
          <a:prstGeom prst="rect">
            <a:avLst/>
          </a:prstGeom>
        </p:spPr>
      </p:pic>
      <p:pic>
        <p:nvPicPr>
          <p:cNvPr id="72" name="图片 71"/>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bwMode="gray">
          <a:xfrm>
            <a:off x="3554243" y="2109757"/>
            <a:ext cx="865097" cy="491769"/>
          </a:xfrm>
          <a:prstGeom prst="rect">
            <a:avLst/>
          </a:prstGeom>
        </p:spPr>
      </p:pic>
      <p:pic>
        <p:nvPicPr>
          <p:cNvPr id="73" name="图片 72" descr="AP.png"/>
          <p:cNvPicPr>
            <a:picLocks noChangeAspect="1"/>
          </p:cNvPicPr>
          <p:nvPr/>
        </p:nvPicPr>
        <p:blipFill>
          <a:blip r:embed="rId8" cstate="print"/>
          <a:stretch>
            <a:fillRect/>
          </a:stretch>
        </p:blipFill>
        <p:spPr bwMode="gray">
          <a:xfrm>
            <a:off x="3809525" y="4021121"/>
            <a:ext cx="368827" cy="301768"/>
          </a:xfrm>
          <a:prstGeom prst="rect">
            <a:avLst/>
          </a:prstGeom>
        </p:spPr>
      </p:pic>
      <p:cxnSp>
        <p:nvCxnSpPr>
          <p:cNvPr id="74" name="Straight Connector 166"/>
          <p:cNvCxnSpPr>
            <a:stCxn id="70" idx="3"/>
            <a:endCxn id="73" idx="1"/>
          </p:cNvCxnSpPr>
          <p:nvPr/>
        </p:nvCxnSpPr>
        <p:spPr bwMode="gray">
          <a:xfrm flipV="1">
            <a:off x="3577813" y="4172005"/>
            <a:ext cx="231712" cy="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75" name="组合 74"/>
          <p:cNvGrpSpPr/>
          <p:nvPr/>
        </p:nvGrpSpPr>
        <p:grpSpPr bwMode="gray">
          <a:xfrm flipV="1">
            <a:off x="3890431" y="4347655"/>
            <a:ext cx="225698" cy="191130"/>
            <a:chOff x="7440613" y="4868863"/>
            <a:chExt cx="1019175" cy="828675"/>
          </a:xfrm>
          <a:solidFill>
            <a:schemeClr val="bg1">
              <a:lumMod val="50000"/>
            </a:schemeClr>
          </a:solidFill>
        </p:grpSpPr>
        <p:sp>
          <p:nvSpPr>
            <p:cNvPr id="76" name="Freeform 15"/>
            <p:cNvSpPr>
              <a:spLocks/>
            </p:cNvSpPr>
            <p:nvPr/>
          </p:nvSpPr>
          <p:spPr bwMode="gray">
            <a:xfrm>
              <a:off x="7832726" y="5462588"/>
              <a:ext cx="234950" cy="234950"/>
            </a:xfrm>
            <a:custGeom>
              <a:avLst/>
              <a:gdLst/>
              <a:ahLst/>
              <a:cxnLst>
                <a:cxn ang="0">
                  <a:pos x="3281" y="680"/>
                </a:cxn>
                <a:cxn ang="0">
                  <a:pos x="3439" y="907"/>
                </a:cxn>
                <a:cxn ang="0">
                  <a:pos x="3559" y="1151"/>
                </a:cxn>
                <a:cxn ang="0">
                  <a:pos x="3642" y="1406"/>
                </a:cxn>
                <a:cxn ang="0">
                  <a:pos x="3686" y="1670"/>
                </a:cxn>
                <a:cxn ang="0">
                  <a:pos x="3693" y="1936"/>
                </a:cxn>
                <a:cxn ang="0">
                  <a:pos x="3661" y="2201"/>
                </a:cxn>
                <a:cxn ang="0">
                  <a:pos x="3591" y="2460"/>
                </a:cxn>
                <a:cxn ang="0">
                  <a:pos x="3484" y="2708"/>
                </a:cxn>
                <a:cxn ang="0">
                  <a:pos x="3339" y="2941"/>
                </a:cxn>
                <a:cxn ang="0">
                  <a:pos x="3155" y="3155"/>
                </a:cxn>
                <a:cxn ang="0">
                  <a:pos x="2941" y="3339"/>
                </a:cxn>
                <a:cxn ang="0">
                  <a:pos x="2708" y="3484"/>
                </a:cxn>
                <a:cxn ang="0">
                  <a:pos x="2460" y="3592"/>
                </a:cxn>
                <a:cxn ang="0">
                  <a:pos x="2201" y="3661"/>
                </a:cxn>
                <a:cxn ang="0">
                  <a:pos x="1936" y="3693"/>
                </a:cxn>
                <a:cxn ang="0">
                  <a:pos x="1670" y="3687"/>
                </a:cxn>
                <a:cxn ang="0">
                  <a:pos x="1408" y="3643"/>
                </a:cxn>
                <a:cxn ang="0">
                  <a:pos x="1152" y="3561"/>
                </a:cxn>
                <a:cxn ang="0">
                  <a:pos x="908" y="3440"/>
                </a:cxn>
                <a:cxn ang="0">
                  <a:pos x="680" y="3282"/>
                </a:cxn>
                <a:cxn ang="0">
                  <a:pos x="475" y="3086"/>
                </a:cxn>
                <a:cxn ang="0">
                  <a:pos x="304" y="2866"/>
                </a:cxn>
                <a:cxn ang="0">
                  <a:pos x="172" y="2627"/>
                </a:cxn>
                <a:cxn ang="0">
                  <a:pos x="76" y="2374"/>
                </a:cxn>
                <a:cxn ang="0">
                  <a:pos x="19" y="2114"/>
                </a:cxn>
                <a:cxn ang="0">
                  <a:pos x="0" y="1848"/>
                </a:cxn>
                <a:cxn ang="0">
                  <a:pos x="19" y="1582"/>
                </a:cxn>
                <a:cxn ang="0">
                  <a:pos x="76" y="1321"/>
                </a:cxn>
                <a:cxn ang="0">
                  <a:pos x="171" y="1069"/>
                </a:cxn>
                <a:cxn ang="0">
                  <a:pos x="304" y="830"/>
                </a:cxn>
                <a:cxn ang="0">
                  <a:pos x="475" y="609"/>
                </a:cxn>
                <a:cxn ang="0">
                  <a:pos x="680" y="414"/>
                </a:cxn>
                <a:cxn ang="0">
                  <a:pos x="907" y="255"/>
                </a:cxn>
                <a:cxn ang="0">
                  <a:pos x="1151" y="135"/>
                </a:cxn>
                <a:cxn ang="0">
                  <a:pos x="1407" y="52"/>
                </a:cxn>
                <a:cxn ang="0">
                  <a:pos x="1669" y="8"/>
                </a:cxn>
                <a:cxn ang="0">
                  <a:pos x="1936" y="2"/>
                </a:cxn>
                <a:cxn ang="0">
                  <a:pos x="2201" y="33"/>
                </a:cxn>
                <a:cxn ang="0">
                  <a:pos x="2459" y="104"/>
                </a:cxn>
                <a:cxn ang="0">
                  <a:pos x="2708" y="211"/>
                </a:cxn>
                <a:cxn ang="0">
                  <a:pos x="2940" y="356"/>
                </a:cxn>
                <a:cxn ang="0">
                  <a:pos x="3154" y="539"/>
                </a:cxn>
              </a:cxnLst>
              <a:rect l="0" t="0" r="r" b="b"/>
              <a:pathLst>
                <a:path w="3695" h="3695">
                  <a:moveTo>
                    <a:pt x="3154" y="539"/>
                  </a:moveTo>
                  <a:lnTo>
                    <a:pt x="3220" y="608"/>
                  </a:lnTo>
                  <a:lnTo>
                    <a:pt x="3281" y="680"/>
                  </a:lnTo>
                  <a:lnTo>
                    <a:pt x="3338" y="754"/>
                  </a:lnTo>
                  <a:lnTo>
                    <a:pt x="3391" y="829"/>
                  </a:lnTo>
                  <a:lnTo>
                    <a:pt x="3439" y="907"/>
                  </a:lnTo>
                  <a:lnTo>
                    <a:pt x="3483" y="987"/>
                  </a:lnTo>
                  <a:lnTo>
                    <a:pt x="3523" y="1068"/>
                  </a:lnTo>
                  <a:lnTo>
                    <a:pt x="3559" y="1151"/>
                  </a:lnTo>
                  <a:lnTo>
                    <a:pt x="3591" y="1235"/>
                  </a:lnTo>
                  <a:lnTo>
                    <a:pt x="3619" y="1320"/>
                  </a:lnTo>
                  <a:lnTo>
                    <a:pt x="3642" y="1406"/>
                  </a:lnTo>
                  <a:lnTo>
                    <a:pt x="3661" y="1493"/>
                  </a:lnTo>
                  <a:lnTo>
                    <a:pt x="3676" y="1582"/>
                  </a:lnTo>
                  <a:lnTo>
                    <a:pt x="3686" y="1670"/>
                  </a:lnTo>
                  <a:lnTo>
                    <a:pt x="3693" y="1758"/>
                  </a:lnTo>
                  <a:lnTo>
                    <a:pt x="3695" y="1847"/>
                  </a:lnTo>
                  <a:lnTo>
                    <a:pt x="3693" y="1936"/>
                  </a:lnTo>
                  <a:lnTo>
                    <a:pt x="3686" y="2024"/>
                  </a:lnTo>
                  <a:lnTo>
                    <a:pt x="3676" y="2113"/>
                  </a:lnTo>
                  <a:lnTo>
                    <a:pt x="3661" y="2201"/>
                  </a:lnTo>
                  <a:lnTo>
                    <a:pt x="3642" y="2288"/>
                  </a:lnTo>
                  <a:lnTo>
                    <a:pt x="3619" y="2374"/>
                  </a:lnTo>
                  <a:lnTo>
                    <a:pt x="3591" y="2460"/>
                  </a:lnTo>
                  <a:lnTo>
                    <a:pt x="3559" y="2544"/>
                  </a:lnTo>
                  <a:lnTo>
                    <a:pt x="3524" y="2626"/>
                  </a:lnTo>
                  <a:lnTo>
                    <a:pt x="3484" y="2708"/>
                  </a:lnTo>
                  <a:lnTo>
                    <a:pt x="3439" y="2788"/>
                  </a:lnTo>
                  <a:lnTo>
                    <a:pt x="3391" y="2865"/>
                  </a:lnTo>
                  <a:lnTo>
                    <a:pt x="3339" y="2941"/>
                  </a:lnTo>
                  <a:lnTo>
                    <a:pt x="3281" y="3015"/>
                  </a:lnTo>
                  <a:lnTo>
                    <a:pt x="3220" y="3086"/>
                  </a:lnTo>
                  <a:lnTo>
                    <a:pt x="3155" y="3155"/>
                  </a:lnTo>
                  <a:lnTo>
                    <a:pt x="3086" y="3220"/>
                  </a:lnTo>
                  <a:lnTo>
                    <a:pt x="3015" y="3282"/>
                  </a:lnTo>
                  <a:lnTo>
                    <a:pt x="2941" y="3339"/>
                  </a:lnTo>
                  <a:lnTo>
                    <a:pt x="2865" y="3391"/>
                  </a:lnTo>
                  <a:lnTo>
                    <a:pt x="2788" y="3440"/>
                  </a:lnTo>
                  <a:lnTo>
                    <a:pt x="2708" y="3484"/>
                  </a:lnTo>
                  <a:lnTo>
                    <a:pt x="2626" y="3524"/>
                  </a:lnTo>
                  <a:lnTo>
                    <a:pt x="2544" y="3560"/>
                  </a:lnTo>
                  <a:lnTo>
                    <a:pt x="2460" y="3592"/>
                  </a:lnTo>
                  <a:lnTo>
                    <a:pt x="2375" y="3619"/>
                  </a:lnTo>
                  <a:lnTo>
                    <a:pt x="2288" y="3643"/>
                  </a:lnTo>
                  <a:lnTo>
                    <a:pt x="2201" y="3661"/>
                  </a:lnTo>
                  <a:lnTo>
                    <a:pt x="2114" y="3676"/>
                  </a:lnTo>
                  <a:lnTo>
                    <a:pt x="2026" y="3687"/>
                  </a:lnTo>
                  <a:lnTo>
                    <a:pt x="1936" y="3693"/>
                  </a:lnTo>
                  <a:lnTo>
                    <a:pt x="1848" y="3695"/>
                  </a:lnTo>
                  <a:lnTo>
                    <a:pt x="1759" y="3693"/>
                  </a:lnTo>
                  <a:lnTo>
                    <a:pt x="1670" y="3687"/>
                  </a:lnTo>
                  <a:lnTo>
                    <a:pt x="1582" y="3676"/>
                  </a:lnTo>
                  <a:lnTo>
                    <a:pt x="1495" y="3662"/>
                  </a:lnTo>
                  <a:lnTo>
                    <a:pt x="1408" y="3643"/>
                  </a:lnTo>
                  <a:lnTo>
                    <a:pt x="1321" y="3620"/>
                  </a:lnTo>
                  <a:lnTo>
                    <a:pt x="1236" y="3592"/>
                  </a:lnTo>
                  <a:lnTo>
                    <a:pt x="1152" y="3561"/>
                  </a:lnTo>
                  <a:lnTo>
                    <a:pt x="1069" y="3524"/>
                  </a:lnTo>
                  <a:lnTo>
                    <a:pt x="987" y="3484"/>
                  </a:lnTo>
                  <a:lnTo>
                    <a:pt x="908" y="3440"/>
                  </a:lnTo>
                  <a:lnTo>
                    <a:pt x="830" y="3391"/>
                  </a:lnTo>
                  <a:lnTo>
                    <a:pt x="755" y="3339"/>
                  </a:lnTo>
                  <a:lnTo>
                    <a:pt x="680" y="3282"/>
                  </a:lnTo>
                  <a:lnTo>
                    <a:pt x="609" y="3220"/>
                  </a:lnTo>
                  <a:lnTo>
                    <a:pt x="541" y="3155"/>
                  </a:lnTo>
                  <a:lnTo>
                    <a:pt x="475" y="3086"/>
                  </a:lnTo>
                  <a:lnTo>
                    <a:pt x="414" y="3015"/>
                  </a:lnTo>
                  <a:lnTo>
                    <a:pt x="357" y="2941"/>
                  </a:lnTo>
                  <a:lnTo>
                    <a:pt x="304" y="2866"/>
                  </a:lnTo>
                  <a:lnTo>
                    <a:pt x="256" y="2788"/>
                  </a:lnTo>
                  <a:lnTo>
                    <a:pt x="212" y="2709"/>
                  </a:lnTo>
                  <a:lnTo>
                    <a:pt x="172" y="2627"/>
                  </a:lnTo>
                  <a:lnTo>
                    <a:pt x="136" y="2544"/>
                  </a:lnTo>
                  <a:lnTo>
                    <a:pt x="104" y="2460"/>
                  </a:lnTo>
                  <a:lnTo>
                    <a:pt x="76" y="2374"/>
                  </a:lnTo>
                  <a:lnTo>
                    <a:pt x="53" y="2288"/>
                  </a:lnTo>
                  <a:lnTo>
                    <a:pt x="34" y="2201"/>
                  </a:lnTo>
                  <a:lnTo>
                    <a:pt x="19" y="2114"/>
                  </a:lnTo>
                  <a:lnTo>
                    <a:pt x="9" y="2025"/>
                  </a:lnTo>
                  <a:lnTo>
                    <a:pt x="2" y="1937"/>
                  </a:lnTo>
                  <a:lnTo>
                    <a:pt x="0" y="1848"/>
                  </a:lnTo>
                  <a:lnTo>
                    <a:pt x="2" y="1759"/>
                  </a:lnTo>
                  <a:lnTo>
                    <a:pt x="9" y="1670"/>
                  </a:lnTo>
                  <a:lnTo>
                    <a:pt x="19" y="1582"/>
                  </a:lnTo>
                  <a:lnTo>
                    <a:pt x="34" y="1494"/>
                  </a:lnTo>
                  <a:lnTo>
                    <a:pt x="53" y="1407"/>
                  </a:lnTo>
                  <a:lnTo>
                    <a:pt x="76" y="1321"/>
                  </a:lnTo>
                  <a:lnTo>
                    <a:pt x="104" y="1236"/>
                  </a:lnTo>
                  <a:lnTo>
                    <a:pt x="136" y="1151"/>
                  </a:lnTo>
                  <a:lnTo>
                    <a:pt x="171" y="1069"/>
                  </a:lnTo>
                  <a:lnTo>
                    <a:pt x="211" y="988"/>
                  </a:lnTo>
                  <a:lnTo>
                    <a:pt x="255" y="907"/>
                  </a:lnTo>
                  <a:lnTo>
                    <a:pt x="304" y="830"/>
                  </a:lnTo>
                  <a:lnTo>
                    <a:pt x="356" y="754"/>
                  </a:lnTo>
                  <a:lnTo>
                    <a:pt x="414" y="681"/>
                  </a:lnTo>
                  <a:lnTo>
                    <a:pt x="475" y="609"/>
                  </a:lnTo>
                  <a:lnTo>
                    <a:pt x="540" y="540"/>
                  </a:lnTo>
                  <a:lnTo>
                    <a:pt x="609" y="475"/>
                  </a:lnTo>
                  <a:lnTo>
                    <a:pt x="680" y="414"/>
                  </a:lnTo>
                  <a:lnTo>
                    <a:pt x="754" y="356"/>
                  </a:lnTo>
                  <a:lnTo>
                    <a:pt x="830" y="303"/>
                  </a:lnTo>
                  <a:lnTo>
                    <a:pt x="907" y="255"/>
                  </a:lnTo>
                  <a:lnTo>
                    <a:pt x="987" y="211"/>
                  </a:lnTo>
                  <a:lnTo>
                    <a:pt x="1069" y="171"/>
                  </a:lnTo>
                  <a:lnTo>
                    <a:pt x="1151" y="135"/>
                  </a:lnTo>
                  <a:lnTo>
                    <a:pt x="1235" y="104"/>
                  </a:lnTo>
                  <a:lnTo>
                    <a:pt x="1320" y="76"/>
                  </a:lnTo>
                  <a:lnTo>
                    <a:pt x="1407" y="52"/>
                  </a:lnTo>
                  <a:lnTo>
                    <a:pt x="1494" y="33"/>
                  </a:lnTo>
                  <a:lnTo>
                    <a:pt x="1581" y="19"/>
                  </a:lnTo>
                  <a:lnTo>
                    <a:pt x="1669" y="8"/>
                  </a:lnTo>
                  <a:lnTo>
                    <a:pt x="1759" y="2"/>
                  </a:lnTo>
                  <a:lnTo>
                    <a:pt x="1847" y="0"/>
                  </a:lnTo>
                  <a:lnTo>
                    <a:pt x="1936" y="2"/>
                  </a:lnTo>
                  <a:lnTo>
                    <a:pt x="2025" y="8"/>
                  </a:lnTo>
                  <a:lnTo>
                    <a:pt x="2113" y="19"/>
                  </a:lnTo>
                  <a:lnTo>
                    <a:pt x="2201" y="33"/>
                  </a:lnTo>
                  <a:lnTo>
                    <a:pt x="2287" y="52"/>
                  </a:lnTo>
                  <a:lnTo>
                    <a:pt x="2374" y="76"/>
                  </a:lnTo>
                  <a:lnTo>
                    <a:pt x="2459" y="104"/>
                  </a:lnTo>
                  <a:lnTo>
                    <a:pt x="2543" y="135"/>
                  </a:lnTo>
                  <a:lnTo>
                    <a:pt x="2626" y="171"/>
                  </a:lnTo>
                  <a:lnTo>
                    <a:pt x="2708" y="211"/>
                  </a:lnTo>
                  <a:lnTo>
                    <a:pt x="2787" y="255"/>
                  </a:lnTo>
                  <a:lnTo>
                    <a:pt x="2865" y="303"/>
                  </a:lnTo>
                  <a:lnTo>
                    <a:pt x="2940" y="356"/>
                  </a:lnTo>
                  <a:lnTo>
                    <a:pt x="3015" y="413"/>
                  </a:lnTo>
                  <a:lnTo>
                    <a:pt x="3086" y="474"/>
                  </a:lnTo>
                  <a:lnTo>
                    <a:pt x="3154" y="539"/>
                  </a:lnTo>
                  <a:close/>
                </a:path>
              </a:pathLst>
            </a:custGeom>
            <a:grpFill/>
            <a:ln w="9525">
              <a:noFill/>
              <a:round/>
              <a:headEnd/>
              <a:tailEnd/>
            </a:ln>
          </p:spPr>
          <p:txBody>
            <a:bodyPr/>
            <a:ls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a:lstStyle>
            <a:p>
              <a:pPr algn="ctr" eaLnBrk="1" fontAlgn="auto" hangingPunct="1">
                <a:spcBef>
                  <a:spcPts val="0"/>
                </a:spcBef>
                <a:spcAft>
                  <a:spcPts val="0"/>
                </a:spcAft>
                <a:defRPr/>
              </a:pPr>
              <a:endParaRPr lang="zh-CN" altLang="en-US" sz="1200" ker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7" name="Freeform 16"/>
            <p:cNvSpPr>
              <a:spLocks noEditPoints="1"/>
            </p:cNvSpPr>
            <p:nvPr/>
          </p:nvSpPr>
          <p:spPr bwMode="gray">
            <a:xfrm>
              <a:off x="7440613" y="4868863"/>
              <a:ext cx="1019175" cy="544513"/>
            </a:xfrm>
            <a:custGeom>
              <a:avLst/>
              <a:gdLst/>
              <a:ahLst/>
              <a:cxnLst>
                <a:cxn ang="0">
                  <a:pos x="16025" y="3351"/>
                </a:cxn>
                <a:cxn ang="0">
                  <a:pos x="14975" y="4351"/>
                </a:cxn>
                <a:cxn ang="0">
                  <a:pos x="14184" y="3632"/>
                </a:cxn>
                <a:cxn ang="0">
                  <a:pos x="12564" y="2563"/>
                </a:cxn>
                <a:cxn ang="0">
                  <a:pos x="10805" y="1850"/>
                </a:cxn>
                <a:cxn ang="0">
                  <a:pos x="8960" y="1494"/>
                </a:cxn>
                <a:cxn ang="0">
                  <a:pos x="7087" y="1494"/>
                </a:cxn>
                <a:cxn ang="0">
                  <a:pos x="5243" y="1851"/>
                </a:cxn>
                <a:cxn ang="0">
                  <a:pos x="3483" y="2564"/>
                </a:cxn>
                <a:cxn ang="0">
                  <a:pos x="1864" y="3634"/>
                </a:cxn>
                <a:cxn ang="0">
                  <a:pos x="1075" y="4353"/>
                </a:cxn>
                <a:cxn ang="0">
                  <a:pos x="24" y="3353"/>
                </a:cxn>
                <a:cxn ang="0">
                  <a:pos x="516" y="2880"/>
                </a:cxn>
                <a:cxn ang="0">
                  <a:pos x="2325" y="1549"/>
                </a:cxn>
                <a:cxn ang="0">
                  <a:pos x="4312" y="627"/>
                </a:cxn>
                <a:cxn ang="0">
                  <a:pos x="6413" y="115"/>
                </a:cxn>
                <a:cxn ang="0">
                  <a:pos x="8562" y="13"/>
                </a:cxn>
                <a:cxn ang="0">
                  <a:pos x="10694" y="319"/>
                </a:cxn>
                <a:cxn ang="0">
                  <a:pos x="12747" y="1036"/>
                </a:cxn>
                <a:cxn ang="0">
                  <a:pos x="14654" y="2160"/>
                </a:cxn>
                <a:cxn ang="0">
                  <a:pos x="14055" y="5373"/>
                </a:cxn>
                <a:cxn ang="0">
                  <a:pos x="12871" y="6404"/>
                </a:cxn>
                <a:cxn ang="0">
                  <a:pos x="12058" y="5702"/>
                </a:cxn>
                <a:cxn ang="0">
                  <a:pos x="10898" y="5017"/>
                </a:cxn>
                <a:cxn ang="0">
                  <a:pos x="9649" y="4582"/>
                </a:cxn>
                <a:cxn ang="0">
                  <a:pos x="8352" y="4395"/>
                </a:cxn>
                <a:cxn ang="0">
                  <a:pos x="7044" y="4457"/>
                </a:cxn>
                <a:cxn ang="0">
                  <a:pos x="5767" y="4769"/>
                </a:cxn>
                <a:cxn ang="0">
                  <a:pos x="4558" y="5329"/>
                </a:cxn>
                <a:cxn ang="0">
                  <a:pos x="3457" y="6139"/>
                </a:cxn>
                <a:cxn ang="0">
                  <a:pos x="3129" y="6456"/>
                </a:cxn>
                <a:cxn ang="0">
                  <a:pos x="2045" y="5322"/>
                </a:cxn>
                <a:cxn ang="0">
                  <a:pos x="2731" y="4697"/>
                </a:cxn>
                <a:cxn ang="0">
                  <a:pos x="4122" y="3779"/>
                </a:cxn>
                <a:cxn ang="0">
                  <a:pos x="5635" y="3166"/>
                </a:cxn>
                <a:cxn ang="0">
                  <a:pos x="7219" y="2859"/>
                </a:cxn>
                <a:cxn ang="0">
                  <a:pos x="8829" y="2859"/>
                </a:cxn>
                <a:cxn ang="0">
                  <a:pos x="10413" y="3165"/>
                </a:cxn>
                <a:cxn ang="0">
                  <a:pos x="11926" y="3777"/>
                </a:cxn>
                <a:cxn ang="0">
                  <a:pos x="13318" y="4696"/>
                </a:cxn>
                <a:cxn ang="0">
                  <a:pos x="14005" y="5321"/>
                </a:cxn>
                <a:cxn ang="0">
                  <a:pos x="10854" y="8576"/>
                </a:cxn>
                <a:cxn ang="0">
                  <a:pos x="10754" y="8472"/>
                </a:cxn>
                <a:cxn ang="0">
                  <a:pos x="10150" y="7980"/>
                </a:cxn>
                <a:cxn ang="0">
                  <a:pos x="9479" y="7627"/>
                </a:cxn>
                <a:cxn ang="0">
                  <a:pos x="8762" y="7416"/>
                </a:cxn>
                <a:cxn ang="0">
                  <a:pos x="8025" y="7345"/>
                </a:cxn>
                <a:cxn ang="0">
                  <a:pos x="7287" y="7416"/>
                </a:cxn>
                <a:cxn ang="0">
                  <a:pos x="6571" y="7627"/>
                </a:cxn>
                <a:cxn ang="0">
                  <a:pos x="5900" y="7980"/>
                </a:cxn>
                <a:cxn ang="0">
                  <a:pos x="5297" y="8473"/>
                </a:cxn>
                <a:cxn ang="0">
                  <a:pos x="5198" y="8576"/>
                </a:cxn>
                <a:cxn ang="0">
                  <a:pos x="4197" y="7425"/>
                </a:cxn>
                <a:cxn ang="0">
                  <a:pos x="4843" y="6865"/>
                </a:cxn>
                <a:cxn ang="0">
                  <a:pos x="5758" y="6325"/>
                </a:cxn>
                <a:cxn ang="0">
                  <a:pos x="6743" y="5981"/>
                </a:cxn>
                <a:cxn ang="0">
                  <a:pos x="7766" y="5833"/>
                </a:cxn>
                <a:cxn ang="0">
                  <a:pos x="8797" y="5882"/>
                </a:cxn>
                <a:cxn ang="0">
                  <a:pos x="9806" y="6127"/>
                </a:cxn>
                <a:cxn ang="0">
                  <a:pos x="10760" y="6570"/>
                </a:cxn>
                <a:cxn ang="0">
                  <a:pos x="11627" y="7208"/>
                </a:cxn>
                <a:cxn ang="0">
                  <a:pos x="11903" y="7475"/>
                </a:cxn>
              </a:cxnLst>
              <a:rect l="0" t="0" r="r" b="b"/>
              <a:pathLst>
                <a:path w="16050" h="8576">
                  <a:moveTo>
                    <a:pt x="15950" y="3273"/>
                  </a:moveTo>
                  <a:lnTo>
                    <a:pt x="15975" y="3299"/>
                  </a:lnTo>
                  <a:lnTo>
                    <a:pt x="16000" y="3324"/>
                  </a:lnTo>
                  <a:lnTo>
                    <a:pt x="16025" y="3351"/>
                  </a:lnTo>
                  <a:lnTo>
                    <a:pt x="16050" y="3377"/>
                  </a:lnTo>
                  <a:lnTo>
                    <a:pt x="15025" y="4402"/>
                  </a:lnTo>
                  <a:lnTo>
                    <a:pt x="15000" y="4377"/>
                  </a:lnTo>
                  <a:lnTo>
                    <a:pt x="14975" y="4351"/>
                  </a:lnTo>
                  <a:lnTo>
                    <a:pt x="14950" y="4325"/>
                  </a:lnTo>
                  <a:lnTo>
                    <a:pt x="14923" y="4300"/>
                  </a:lnTo>
                  <a:lnTo>
                    <a:pt x="14560" y="3955"/>
                  </a:lnTo>
                  <a:lnTo>
                    <a:pt x="14184" y="3632"/>
                  </a:lnTo>
                  <a:lnTo>
                    <a:pt x="13796" y="3330"/>
                  </a:lnTo>
                  <a:lnTo>
                    <a:pt x="13396" y="3053"/>
                  </a:lnTo>
                  <a:lnTo>
                    <a:pt x="12984" y="2797"/>
                  </a:lnTo>
                  <a:lnTo>
                    <a:pt x="12564" y="2563"/>
                  </a:lnTo>
                  <a:lnTo>
                    <a:pt x="12136" y="2351"/>
                  </a:lnTo>
                  <a:lnTo>
                    <a:pt x="11698" y="2161"/>
                  </a:lnTo>
                  <a:lnTo>
                    <a:pt x="11254" y="1995"/>
                  </a:lnTo>
                  <a:lnTo>
                    <a:pt x="10805" y="1850"/>
                  </a:lnTo>
                  <a:lnTo>
                    <a:pt x="10349" y="1728"/>
                  </a:lnTo>
                  <a:lnTo>
                    <a:pt x="9889" y="1628"/>
                  </a:lnTo>
                  <a:lnTo>
                    <a:pt x="9426" y="1549"/>
                  </a:lnTo>
                  <a:lnTo>
                    <a:pt x="8960" y="1494"/>
                  </a:lnTo>
                  <a:lnTo>
                    <a:pt x="8492" y="1461"/>
                  </a:lnTo>
                  <a:lnTo>
                    <a:pt x="8024" y="1450"/>
                  </a:lnTo>
                  <a:lnTo>
                    <a:pt x="7556" y="1461"/>
                  </a:lnTo>
                  <a:lnTo>
                    <a:pt x="7087" y="1494"/>
                  </a:lnTo>
                  <a:lnTo>
                    <a:pt x="6622" y="1550"/>
                  </a:lnTo>
                  <a:lnTo>
                    <a:pt x="6158" y="1629"/>
                  </a:lnTo>
                  <a:lnTo>
                    <a:pt x="5699" y="1729"/>
                  </a:lnTo>
                  <a:lnTo>
                    <a:pt x="5243" y="1851"/>
                  </a:lnTo>
                  <a:lnTo>
                    <a:pt x="4793" y="1996"/>
                  </a:lnTo>
                  <a:lnTo>
                    <a:pt x="4350" y="2163"/>
                  </a:lnTo>
                  <a:lnTo>
                    <a:pt x="3912" y="2352"/>
                  </a:lnTo>
                  <a:lnTo>
                    <a:pt x="3483" y="2564"/>
                  </a:lnTo>
                  <a:lnTo>
                    <a:pt x="3064" y="2799"/>
                  </a:lnTo>
                  <a:lnTo>
                    <a:pt x="2652" y="3055"/>
                  </a:lnTo>
                  <a:lnTo>
                    <a:pt x="2253" y="3332"/>
                  </a:lnTo>
                  <a:lnTo>
                    <a:pt x="1864" y="3634"/>
                  </a:lnTo>
                  <a:lnTo>
                    <a:pt x="1488" y="3957"/>
                  </a:lnTo>
                  <a:lnTo>
                    <a:pt x="1125" y="4302"/>
                  </a:lnTo>
                  <a:lnTo>
                    <a:pt x="1099" y="4327"/>
                  </a:lnTo>
                  <a:lnTo>
                    <a:pt x="1075" y="4353"/>
                  </a:lnTo>
                  <a:lnTo>
                    <a:pt x="1050" y="4378"/>
                  </a:lnTo>
                  <a:lnTo>
                    <a:pt x="1025" y="4404"/>
                  </a:lnTo>
                  <a:lnTo>
                    <a:pt x="0" y="3378"/>
                  </a:lnTo>
                  <a:lnTo>
                    <a:pt x="24" y="3353"/>
                  </a:lnTo>
                  <a:lnTo>
                    <a:pt x="49" y="3326"/>
                  </a:lnTo>
                  <a:lnTo>
                    <a:pt x="74" y="3301"/>
                  </a:lnTo>
                  <a:lnTo>
                    <a:pt x="99" y="3276"/>
                  </a:lnTo>
                  <a:lnTo>
                    <a:pt x="516" y="2880"/>
                  </a:lnTo>
                  <a:lnTo>
                    <a:pt x="948" y="2509"/>
                  </a:lnTo>
                  <a:lnTo>
                    <a:pt x="1394" y="2162"/>
                  </a:lnTo>
                  <a:lnTo>
                    <a:pt x="1854" y="1843"/>
                  </a:lnTo>
                  <a:lnTo>
                    <a:pt x="2325" y="1549"/>
                  </a:lnTo>
                  <a:lnTo>
                    <a:pt x="2808" y="1280"/>
                  </a:lnTo>
                  <a:lnTo>
                    <a:pt x="3301" y="1037"/>
                  </a:lnTo>
                  <a:lnTo>
                    <a:pt x="3803" y="820"/>
                  </a:lnTo>
                  <a:lnTo>
                    <a:pt x="4312" y="627"/>
                  </a:lnTo>
                  <a:lnTo>
                    <a:pt x="4830" y="461"/>
                  </a:lnTo>
                  <a:lnTo>
                    <a:pt x="5353" y="320"/>
                  </a:lnTo>
                  <a:lnTo>
                    <a:pt x="5881" y="205"/>
                  </a:lnTo>
                  <a:lnTo>
                    <a:pt x="6413" y="115"/>
                  </a:lnTo>
                  <a:lnTo>
                    <a:pt x="6949" y="51"/>
                  </a:lnTo>
                  <a:lnTo>
                    <a:pt x="7485" y="13"/>
                  </a:lnTo>
                  <a:lnTo>
                    <a:pt x="8024" y="0"/>
                  </a:lnTo>
                  <a:lnTo>
                    <a:pt x="8562" y="13"/>
                  </a:lnTo>
                  <a:lnTo>
                    <a:pt x="9099" y="51"/>
                  </a:lnTo>
                  <a:lnTo>
                    <a:pt x="9634" y="115"/>
                  </a:lnTo>
                  <a:lnTo>
                    <a:pt x="10167" y="205"/>
                  </a:lnTo>
                  <a:lnTo>
                    <a:pt x="10694" y="319"/>
                  </a:lnTo>
                  <a:lnTo>
                    <a:pt x="11218" y="460"/>
                  </a:lnTo>
                  <a:lnTo>
                    <a:pt x="11735" y="626"/>
                  </a:lnTo>
                  <a:lnTo>
                    <a:pt x="12245" y="818"/>
                  </a:lnTo>
                  <a:lnTo>
                    <a:pt x="12747" y="1036"/>
                  </a:lnTo>
                  <a:lnTo>
                    <a:pt x="13239" y="1278"/>
                  </a:lnTo>
                  <a:lnTo>
                    <a:pt x="13722" y="1547"/>
                  </a:lnTo>
                  <a:lnTo>
                    <a:pt x="14194" y="1841"/>
                  </a:lnTo>
                  <a:lnTo>
                    <a:pt x="14654" y="2160"/>
                  </a:lnTo>
                  <a:lnTo>
                    <a:pt x="15100" y="2506"/>
                  </a:lnTo>
                  <a:lnTo>
                    <a:pt x="15532" y="2877"/>
                  </a:lnTo>
                  <a:lnTo>
                    <a:pt x="15950" y="3273"/>
                  </a:lnTo>
                  <a:close/>
                  <a:moveTo>
                    <a:pt x="14055" y="5373"/>
                  </a:moveTo>
                  <a:lnTo>
                    <a:pt x="12946" y="6481"/>
                  </a:lnTo>
                  <a:lnTo>
                    <a:pt x="12921" y="6456"/>
                  </a:lnTo>
                  <a:lnTo>
                    <a:pt x="12897" y="6430"/>
                  </a:lnTo>
                  <a:lnTo>
                    <a:pt x="12871" y="6404"/>
                  </a:lnTo>
                  <a:lnTo>
                    <a:pt x="12846" y="6379"/>
                  </a:lnTo>
                  <a:lnTo>
                    <a:pt x="12592" y="6137"/>
                  </a:lnTo>
                  <a:lnTo>
                    <a:pt x="12329" y="5912"/>
                  </a:lnTo>
                  <a:lnTo>
                    <a:pt x="12058" y="5702"/>
                  </a:lnTo>
                  <a:lnTo>
                    <a:pt x="11778" y="5507"/>
                  </a:lnTo>
                  <a:lnTo>
                    <a:pt x="11491" y="5328"/>
                  </a:lnTo>
                  <a:lnTo>
                    <a:pt x="11198" y="5165"/>
                  </a:lnTo>
                  <a:lnTo>
                    <a:pt x="10898" y="5017"/>
                  </a:lnTo>
                  <a:lnTo>
                    <a:pt x="10592" y="4885"/>
                  </a:lnTo>
                  <a:lnTo>
                    <a:pt x="10282" y="4768"/>
                  </a:lnTo>
                  <a:lnTo>
                    <a:pt x="9967" y="4667"/>
                  </a:lnTo>
                  <a:lnTo>
                    <a:pt x="9649" y="4582"/>
                  </a:lnTo>
                  <a:lnTo>
                    <a:pt x="9328" y="4512"/>
                  </a:lnTo>
                  <a:lnTo>
                    <a:pt x="9004" y="4457"/>
                  </a:lnTo>
                  <a:lnTo>
                    <a:pt x="8679" y="4418"/>
                  </a:lnTo>
                  <a:lnTo>
                    <a:pt x="8352" y="4395"/>
                  </a:lnTo>
                  <a:lnTo>
                    <a:pt x="8024" y="4387"/>
                  </a:lnTo>
                  <a:lnTo>
                    <a:pt x="7697" y="4395"/>
                  </a:lnTo>
                  <a:lnTo>
                    <a:pt x="7370" y="4418"/>
                  </a:lnTo>
                  <a:lnTo>
                    <a:pt x="7044" y="4457"/>
                  </a:lnTo>
                  <a:lnTo>
                    <a:pt x="6721" y="4512"/>
                  </a:lnTo>
                  <a:lnTo>
                    <a:pt x="6399" y="4582"/>
                  </a:lnTo>
                  <a:lnTo>
                    <a:pt x="6081" y="4668"/>
                  </a:lnTo>
                  <a:lnTo>
                    <a:pt x="5767" y="4769"/>
                  </a:lnTo>
                  <a:lnTo>
                    <a:pt x="5457" y="4886"/>
                  </a:lnTo>
                  <a:lnTo>
                    <a:pt x="5151" y="5018"/>
                  </a:lnTo>
                  <a:lnTo>
                    <a:pt x="4851" y="5166"/>
                  </a:lnTo>
                  <a:lnTo>
                    <a:pt x="4558" y="5329"/>
                  </a:lnTo>
                  <a:lnTo>
                    <a:pt x="4271" y="5509"/>
                  </a:lnTo>
                  <a:lnTo>
                    <a:pt x="3991" y="5703"/>
                  </a:lnTo>
                  <a:lnTo>
                    <a:pt x="3720" y="5913"/>
                  </a:lnTo>
                  <a:lnTo>
                    <a:pt x="3457" y="6139"/>
                  </a:lnTo>
                  <a:lnTo>
                    <a:pt x="3203" y="6380"/>
                  </a:lnTo>
                  <a:lnTo>
                    <a:pt x="3178" y="6406"/>
                  </a:lnTo>
                  <a:lnTo>
                    <a:pt x="3154" y="6431"/>
                  </a:lnTo>
                  <a:lnTo>
                    <a:pt x="3129" y="6456"/>
                  </a:lnTo>
                  <a:lnTo>
                    <a:pt x="3104" y="6482"/>
                  </a:lnTo>
                  <a:lnTo>
                    <a:pt x="1996" y="5374"/>
                  </a:lnTo>
                  <a:lnTo>
                    <a:pt x="2020" y="5348"/>
                  </a:lnTo>
                  <a:lnTo>
                    <a:pt x="2045" y="5322"/>
                  </a:lnTo>
                  <a:lnTo>
                    <a:pt x="2069" y="5297"/>
                  </a:lnTo>
                  <a:lnTo>
                    <a:pt x="2095" y="5272"/>
                  </a:lnTo>
                  <a:lnTo>
                    <a:pt x="2406" y="4975"/>
                  </a:lnTo>
                  <a:lnTo>
                    <a:pt x="2731" y="4697"/>
                  </a:lnTo>
                  <a:lnTo>
                    <a:pt x="3065" y="4439"/>
                  </a:lnTo>
                  <a:lnTo>
                    <a:pt x="3408" y="4199"/>
                  </a:lnTo>
                  <a:lnTo>
                    <a:pt x="3761" y="3980"/>
                  </a:lnTo>
                  <a:lnTo>
                    <a:pt x="4122" y="3779"/>
                  </a:lnTo>
                  <a:lnTo>
                    <a:pt x="4491" y="3596"/>
                  </a:lnTo>
                  <a:lnTo>
                    <a:pt x="4866" y="3434"/>
                  </a:lnTo>
                  <a:lnTo>
                    <a:pt x="5247" y="3290"/>
                  </a:lnTo>
                  <a:lnTo>
                    <a:pt x="5635" y="3166"/>
                  </a:lnTo>
                  <a:lnTo>
                    <a:pt x="6026" y="3061"/>
                  </a:lnTo>
                  <a:lnTo>
                    <a:pt x="6421" y="2974"/>
                  </a:lnTo>
                  <a:lnTo>
                    <a:pt x="6819" y="2907"/>
                  </a:lnTo>
                  <a:lnTo>
                    <a:pt x="7219" y="2859"/>
                  </a:lnTo>
                  <a:lnTo>
                    <a:pt x="7622" y="2831"/>
                  </a:lnTo>
                  <a:lnTo>
                    <a:pt x="8024" y="2821"/>
                  </a:lnTo>
                  <a:lnTo>
                    <a:pt x="8427" y="2831"/>
                  </a:lnTo>
                  <a:lnTo>
                    <a:pt x="8829" y="2859"/>
                  </a:lnTo>
                  <a:lnTo>
                    <a:pt x="9229" y="2907"/>
                  </a:lnTo>
                  <a:lnTo>
                    <a:pt x="9627" y="2973"/>
                  </a:lnTo>
                  <a:lnTo>
                    <a:pt x="10022" y="3060"/>
                  </a:lnTo>
                  <a:lnTo>
                    <a:pt x="10413" y="3165"/>
                  </a:lnTo>
                  <a:lnTo>
                    <a:pt x="10801" y="3289"/>
                  </a:lnTo>
                  <a:lnTo>
                    <a:pt x="11182" y="3433"/>
                  </a:lnTo>
                  <a:lnTo>
                    <a:pt x="11558" y="3595"/>
                  </a:lnTo>
                  <a:lnTo>
                    <a:pt x="11926" y="3777"/>
                  </a:lnTo>
                  <a:lnTo>
                    <a:pt x="12287" y="3978"/>
                  </a:lnTo>
                  <a:lnTo>
                    <a:pt x="12640" y="4198"/>
                  </a:lnTo>
                  <a:lnTo>
                    <a:pt x="12984" y="4437"/>
                  </a:lnTo>
                  <a:lnTo>
                    <a:pt x="13318" y="4696"/>
                  </a:lnTo>
                  <a:lnTo>
                    <a:pt x="13641" y="4973"/>
                  </a:lnTo>
                  <a:lnTo>
                    <a:pt x="13954" y="5270"/>
                  </a:lnTo>
                  <a:lnTo>
                    <a:pt x="13980" y="5295"/>
                  </a:lnTo>
                  <a:lnTo>
                    <a:pt x="14005" y="5321"/>
                  </a:lnTo>
                  <a:lnTo>
                    <a:pt x="14030" y="5347"/>
                  </a:lnTo>
                  <a:lnTo>
                    <a:pt x="14055" y="5373"/>
                  </a:lnTo>
                  <a:close/>
                  <a:moveTo>
                    <a:pt x="11928" y="7501"/>
                  </a:moveTo>
                  <a:lnTo>
                    <a:pt x="10854" y="8576"/>
                  </a:lnTo>
                  <a:lnTo>
                    <a:pt x="10829" y="8549"/>
                  </a:lnTo>
                  <a:lnTo>
                    <a:pt x="10805" y="8523"/>
                  </a:lnTo>
                  <a:lnTo>
                    <a:pt x="10780" y="8498"/>
                  </a:lnTo>
                  <a:lnTo>
                    <a:pt x="10754" y="8472"/>
                  </a:lnTo>
                  <a:lnTo>
                    <a:pt x="10610" y="8336"/>
                  </a:lnTo>
                  <a:lnTo>
                    <a:pt x="10462" y="8208"/>
                  </a:lnTo>
                  <a:lnTo>
                    <a:pt x="10307" y="8089"/>
                  </a:lnTo>
                  <a:lnTo>
                    <a:pt x="10150" y="7980"/>
                  </a:lnTo>
                  <a:lnTo>
                    <a:pt x="9987" y="7878"/>
                  </a:lnTo>
                  <a:lnTo>
                    <a:pt x="9821" y="7785"/>
                  </a:lnTo>
                  <a:lnTo>
                    <a:pt x="9651" y="7702"/>
                  </a:lnTo>
                  <a:lnTo>
                    <a:pt x="9479" y="7627"/>
                  </a:lnTo>
                  <a:lnTo>
                    <a:pt x="9303" y="7561"/>
                  </a:lnTo>
                  <a:lnTo>
                    <a:pt x="9124" y="7504"/>
                  </a:lnTo>
                  <a:lnTo>
                    <a:pt x="8945" y="7456"/>
                  </a:lnTo>
                  <a:lnTo>
                    <a:pt x="8762" y="7416"/>
                  </a:lnTo>
                  <a:lnTo>
                    <a:pt x="8580" y="7384"/>
                  </a:lnTo>
                  <a:lnTo>
                    <a:pt x="8395" y="7362"/>
                  </a:lnTo>
                  <a:lnTo>
                    <a:pt x="8210" y="7349"/>
                  </a:lnTo>
                  <a:lnTo>
                    <a:pt x="8025" y="7345"/>
                  </a:lnTo>
                  <a:lnTo>
                    <a:pt x="7839" y="7349"/>
                  </a:lnTo>
                  <a:lnTo>
                    <a:pt x="7655" y="7363"/>
                  </a:lnTo>
                  <a:lnTo>
                    <a:pt x="7470" y="7385"/>
                  </a:lnTo>
                  <a:lnTo>
                    <a:pt x="7287" y="7416"/>
                  </a:lnTo>
                  <a:lnTo>
                    <a:pt x="7105" y="7456"/>
                  </a:lnTo>
                  <a:lnTo>
                    <a:pt x="6926" y="7504"/>
                  </a:lnTo>
                  <a:lnTo>
                    <a:pt x="6747" y="7561"/>
                  </a:lnTo>
                  <a:lnTo>
                    <a:pt x="6571" y="7627"/>
                  </a:lnTo>
                  <a:lnTo>
                    <a:pt x="6399" y="7703"/>
                  </a:lnTo>
                  <a:lnTo>
                    <a:pt x="6229" y="7786"/>
                  </a:lnTo>
                  <a:lnTo>
                    <a:pt x="6063" y="7878"/>
                  </a:lnTo>
                  <a:lnTo>
                    <a:pt x="5900" y="7980"/>
                  </a:lnTo>
                  <a:lnTo>
                    <a:pt x="5742" y="8090"/>
                  </a:lnTo>
                  <a:lnTo>
                    <a:pt x="5588" y="8209"/>
                  </a:lnTo>
                  <a:lnTo>
                    <a:pt x="5440" y="8337"/>
                  </a:lnTo>
                  <a:lnTo>
                    <a:pt x="5297" y="8473"/>
                  </a:lnTo>
                  <a:lnTo>
                    <a:pt x="5271" y="8498"/>
                  </a:lnTo>
                  <a:lnTo>
                    <a:pt x="5246" y="8524"/>
                  </a:lnTo>
                  <a:lnTo>
                    <a:pt x="5222" y="8550"/>
                  </a:lnTo>
                  <a:lnTo>
                    <a:pt x="5198" y="8576"/>
                  </a:lnTo>
                  <a:lnTo>
                    <a:pt x="4123" y="7501"/>
                  </a:lnTo>
                  <a:lnTo>
                    <a:pt x="4147" y="7476"/>
                  </a:lnTo>
                  <a:lnTo>
                    <a:pt x="4172" y="7450"/>
                  </a:lnTo>
                  <a:lnTo>
                    <a:pt x="4197" y="7425"/>
                  </a:lnTo>
                  <a:lnTo>
                    <a:pt x="4222" y="7399"/>
                  </a:lnTo>
                  <a:lnTo>
                    <a:pt x="4422" y="7209"/>
                  </a:lnTo>
                  <a:lnTo>
                    <a:pt x="4629" y="7030"/>
                  </a:lnTo>
                  <a:lnTo>
                    <a:pt x="4843" y="6865"/>
                  </a:lnTo>
                  <a:lnTo>
                    <a:pt x="5064" y="6711"/>
                  </a:lnTo>
                  <a:lnTo>
                    <a:pt x="5290" y="6571"/>
                  </a:lnTo>
                  <a:lnTo>
                    <a:pt x="5522" y="6441"/>
                  </a:lnTo>
                  <a:lnTo>
                    <a:pt x="5758" y="6325"/>
                  </a:lnTo>
                  <a:lnTo>
                    <a:pt x="6000" y="6220"/>
                  </a:lnTo>
                  <a:lnTo>
                    <a:pt x="6243" y="6128"/>
                  </a:lnTo>
                  <a:lnTo>
                    <a:pt x="6492" y="6048"/>
                  </a:lnTo>
                  <a:lnTo>
                    <a:pt x="6743" y="5981"/>
                  </a:lnTo>
                  <a:lnTo>
                    <a:pt x="6997" y="5925"/>
                  </a:lnTo>
                  <a:lnTo>
                    <a:pt x="7252" y="5882"/>
                  </a:lnTo>
                  <a:lnTo>
                    <a:pt x="7508" y="5851"/>
                  </a:lnTo>
                  <a:lnTo>
                    <a:pt x="7766" y="5833"/>
                  </a:lnTo>
                  <a:lnTo>
                    <a:pt x="8025" y="5827"/>
                  </a:lnTo>
                  <a:lnTo>
                    <a:pt x="8283" y="5833"/>
                  </a:lnTo>
                  <a:lnTo>
                    <a:pt x="8541" y="5851"/>
                  </a:lnTo>
                  <a:lnTo>
                    <a:pt x="8797" y="5882"/>
                  </a:lnTo>
                  <a:lnTo>
                    <a:pt x="9053" y="5925"/>
                  </a:lnTo>
                  <a:lnTo>
                    <a:pt x="9306" y="5981"/>
                  </a:lnTo>
                  <a:lnTo>
                    <a:pt x="9557" y="6048"/>
                  </a:lnTo>
                  <a:lnTo>
                    <a:pt x="9806" y="6127"/>
                  </a:lnTo>
                  <a:lnTo>
                    <a:pt x="10050" y="6219"/>
                  </a:lnTo>
                  <a:lnTo>
                    <a:pt x="10291" y="6324"/>
                  </a:lnTo>
                  <a:lnTo>
                    <a:pt x="10528" y="6440"/>
                  </a:lnTo>
                  <a:lnTo>
                    <a:pt x="10760" y="6570"/>
                  </a:lnTo>
                  <a:lnTo>
                    <a:pt x="10985" y="6710"/>
                  </a:lnTo>
                  <a:lnTo>
                    <a:pt x="11206" y="6864"/>
                  </a:lnTo>
                  <a:lnTo>
                    <a:pt x="11421" y="7029"/>
                  </a:lnTo>
                  <a:lnTo>
                    <a:pt x="11627" y="7208"/>
                  </a:lnTo>
                  <a:lnTo>
                    <a:pt x="11828" y="7398"/>
                  </a:lnTo>
                  <a:lnTo>
                    <a:pt x="11853" y="7424"/>
                  </a:lnTo>
                  <a:lnTo>
                    <a:pt x="11878" y="7449"/>
                  </a:lnTo>
                  <a:lnTo>
                    <a:pt x="11903" y="7475"/>
                  </a:lnTo>
                  <a:lnTo>
                    <a:pt x="11928" y="7501"/>
                  </a:lnTo>
                  <a:close/>
                </a:path>
              </a:pathLst>
            </a:custGeom>
            <a:grpFill/>
            <a:ln w="9525">
              <a:noFill/>
              <a:round/>
              <a:headEnd/>
              <a:tailEnd/>
            </a:ln>
          </p:spPr>
          <p:txBody>
            <a:bodyPr/>
            <a:ls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a:lstStyle>
            <a:p>
              <a:pPr algn="ctr" eaLnBrk="1" fontAlgn="auto" hangingPunct="1">
                <a:spcBef>
                  <a:spcPts val="0"/>
                </a:spcBef>
                <a:spcAft>
                  <a:spcPts val="0"/>
                </a:spcAft>
                <a:defRPr/>
              </a:pPr>
              <a:endParaRPr lang="zh-CN" altLang="en-US" sz="1200" ker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pic>
        <p:nvPicPr>
          <p:cNvPr id="78" name="图片 77" descr="日志告警服务器-蓝.png"/>
          <p:cNvPicPr>
            <a:picLocks noChangeAspect="1"/>
          </p:cNvPicPr>
          <p:nvPr/>
        </p:nvPicPr>
        <p:blipFill>
          <a:blip r:embed="rId9" cstate="print"/>
          <a:stretch>
            <a:fillRect/>
          </a:stretch>
        </p:blipFill>
        <p:spPr bwMode="gray">
          <a:xfrm>
            <a:off x="3780310" y="4814587"/>
            <a:ext cx="445956" cy="278465"/>
          </a:xfrm>
          <a:prstGeom prst="rect">
            <a:avLst/>
          </a:prstGeom>
        </p:spPr>
      </p:pic>
      <p:sp>
        <p:nvSpPr>
          <p:cNvPr id="79" name="文本框 78"/>
          <p:cNvSpPr txBox="1"/>
          <p:nvPr/>
        </p:nvSpPr>
        <p:spPr bwMode="gray">
          <a:xfrm>
            <a:off x="4135695" y="4024003"/>
            <a:ext cx="460382" cy="276999"/>
          </a:xfrm>
          <a:prstGeom prst="rect">
            <a:avLst/>
          </a:prstGeom>
          <a:noFill/>
        </p:spPr>
        <p:txBody>
          <a:bodyPr wrap="none" rtlCol="0">
            <a:spAutoFit/>
          </a:bodyPr>
          <a:lstStyle/>
          <a:p>
            <a:pPr algn="r"/>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AP1</a:t>
            </a:r>
            <a:endParaRPr lang="zh-CN" altLang="en-US" sz="1200" b="1"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80" name="矩形 79"/>
          <p:cNvSpPr/>
          <p:nvPr/>
        </p:nvSpPr>
        <p:spPr bwMode="gray">
          <a:xfrm>
            <a:off x="3542131" y="5508487"/>
            <a:ext cx="975862" cy="251711"/>
          </a:xfrm>
          <a:prstGeom prst="rect">
            <a:avLst/>
          </a:prstGeom>
        </p:spPr>
        <p:txBody>
          <a:bodyPr wrap="square">
            <a:noAutofit/>
          </a:bodyPr>
          <a:lstStyle/>
          <a:p>
            <a:pPr fontAlgn="ctr"/>
            <a:r>
              <a:rPr lang="zh-CN" altLang="en-US" sz="1200" dirty="0" smtClean="0"/>
              <a:t>认证控制点</a:t>
            </a:r>
            <a:endParaRPr lang="en-US" altLang="zh-CN" sz="1200" dirty="0"/>
          </a:p>
        </p:txBody>
      </p:sp>
      <p:sp>
        <p:nvSpPr>
          <p:cNvPr id="81" name="椭圆 80"/>
          <p:cNvSpPr/>
          <p:nvPr/>
        </p:nvSpPr>
        <p:spPr bwMode="gray">
          <a:xfrm>
            <a:off x="1567187" y="3357551"/>
            <a:ext cx="118533" cy="118533"/>
          </a:xfrm>
          <a:prstGeom prst="ellipse">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endParaRPr lang="en-US" altLang="zh-CN" sz="1200" dirty="0"/>
          </a:p>
        </p:txBody>
      </p:sp>
      <p:sp>
        <p:nvSpPr>
          <p:cNvPr id="83" name="椭圆 82"/>
          <p:cNvSpPr/>
          <p:nvPr/>
        </p:nvSpPr>
        <p:spPr bwMode="gray">
          <a:xfrm>
            <a:off x="3457541" y="5575075"/>
            <a:ext cx="118533" cy="118533"/>
          </a:xfrm>
          <a:prstGeom prst="ellipse">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endParaRPr lang="en-US" altLang="zh-CN" sz="1200" dirty="0"/>
          </a:p>
        </p:txBody>
      </p:sp>
      <p:sp>
        <p:nvSpPr>
          <p:cNvPr id="87" name="矩形 86"/>
          <p:cNvSpPr/>
          <p:nvPr/>
        </p:nvSpPr>
        <p:spPr bwMode="gray">
          <a:xfrm>
            <a:off x="4596077" y="1336898"/>
            <a:ext cx="6399956" cy="400110"/>
          </a:xfrm>
          <a:prstGeom prst="rect">
            <a:avLst/>
          </a:prstGeom>
        </p:spPr>
        <p:txBody>
          <a:bodyPr wrap="square">
            <a:spAutoFit/>
          </a:bodyPr>
          <a:lstStyle/>
          <a:p>
            <a:pPr algn="just">
              <a:lnSpc>
                <a:spcPts val="2400"/>
              </a:lnSpc>
              <a:spcAft>
                <a:spcPts val="600"/>
              </a:spcAft>
            </a:pPr>
            <a:r>
              <a:rPr lang="zh-CN" altLang="en-US" sz="1600" dirty="0" smtClean="0"/>
              <a:t>配置</a:t>
            </a:r>
            <a:r>
              <a:rPr lang="en-US" altLang="zh-CN" sz="1600" dirty="0" smtClean="0"/>
              <a:t>Edge_1</a:t>
            </a:r>
            <a:r>
              <a:rPr lang="zh-CN" altLang="en-US" sz="1600" dirty="0" smtClean="0"/>
              <a:t>的接入管理，并在交换机接口激活认证：</a:t>
            </a:r>
            <a:endParaRPr lang="zh-CN" altLang="en-US" sz="1600" dirty="0"/>
          </a:p>
        </p:txBody>
      </p:sp>
      <p:pic>
        <p:nvPicPr>
          <p:cNvPr id="2" name="图片 1"/>
          <p:cNvPicPr>
            <a:picLocks noChangeAspect="1"/>
          </p:cNvPicPr>
          <p:nvPr/>
        </p:nvPicPr>
        <p:blipFill rotWithShape="1">
          <a:blip r:embed="rId10"/>
          <a:srcRect t="4403"/>
          <a:stretch/>
        </p:blipFill>
        <p:spPr bwMode="gray">
          <a:xfrm>
            <a:off x="4676317" y="1737008"/>
            <a:ext cx="7044165" cy="2263002"/>
          </a:xfrm>
          <a:prstGeom prst="rect">
            <a:avLst/>
          </a:prstGeom>
          <a:ln w="12700">
            <a:solidFill>
              <a:schemeClr val="bg1">
                <a:lumMod val="85000"/>
              </a:schemeClr>
            </a:solidFill>
          </a:ln>
        </p:spPr>
      </p:pic>
      <p:cxnSp>
        <p:nvCxnSpPr>
          <p:cNvPr id="6" name="曲线连接符 5"/>
          <p:cNvCxnSpPr>
            <a:stCxn id="45" idx="3"/>
            <a:endCxn id="65" idx="3"/>
          </p:cNvCxnSpPr>
          <p:nvPr/>
        </p:nvCxnSpPr>
        <p:spPr bwMode="gray">
          <a:xfrm>
            <a:off x="1639766" y="3403590"/>
            <a:ext cx="12700" cy="768416"/>
          </a:xfrm>
          <a:prstGeom prst="curvedConnector3">
            <a:avLst>
              <a:gd name="adj1" fmla="val 1800000"/>
            </a:avLst>
          </a:prstGeom>
          <a:ln>
            <a:solidFill>
              <a:srgbClr val="ED6D00"/>
            </a:solidFill>
            <a:prstDash val="dash"/>
          </a:ln>
        </p:spPr>
        <p:style>
          <a:lnRef idx="1">
            <a:schemeClr val="accent1"/>
          </a:lnRef>
          <a:fillRef idx="0">
            <a:schemeClr val="accent1"/>
          </a:fillRef>
          <a:effectRef idx="0">
            <a:schemeClr val="accent1"/>
          </a:effectRef>
          <a:fontRef idx="minor">
            <a:schemeClr val="tx1"/>
          </a:fontRef>
        </p:style>
      </p:cxnSp>
      <p:sp>
        <p:nvSpPr>
          <p:cNvPr id="51" name="文本框 91"/>
          <p:cNvSpPr txBox="1"/>
          <p:nvPr/>
        </p:nvSpPr>
        <p:spPr bwMode="gray">
          <a:xfrm>
            <a:off x="1982944" y="3751498"/>
            <a:ext cx="800220" cy="276999"/>
          </a:xfrm>
          <a:prstGeom prst="rect">
            <a:avLst/>
          </a:prstGeom>
          <a:noFill/>
        </p:spPr>
        <p:txBody>
          <a:bodyPr wrap="none" rtlCol="0">
            <a:spAutoFit/>
          </a:bodyPr>
          <a:ls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a:lstStyle>
          <a:p>
            <a:pPr algn="ctr"/>
            <a:r>
              <a:rPr lang="zh-CN" altLang="en-US" sz="1200" dirty="0" smtClean="0">
                <a:solidFill>
                  <a:srgbClr val="ED6D00"/>
                </a:solidFill>
                <a:latin typeface="Huawei Sans" panose="020C0503030203020204" pitchFamily="34" charset="0"/>
                <a:ea typeface="方正兰亭黑简体" panose="02000000000000000000" pitchFamily="2" charset="-122"/>
                <a:cs typeface="Huawei Sans" panose="020C0503030203020204" pitchFamily="34" charset="0"/>
              </a:rPr>
              <a:t>策略联动</a:t>
            </a:r>
            <a:endParaRPr lang="en-US" altLang="zh-CN" sz="1200" dirty="0" smtClean="0">
              <a:solidFill>
                <a:srgbClr val="ED6D00"/>
              </a:solidFill>
              <a:latin typeface="Huawei Sans" panose="020C0503030203020204" pitchFamily="34" charset="0"/>
              <a:ea typeface="方正兰亭黑简体" panose="02000000000000000000" pitchFamily="2" charset="-122"/>
              <a:cs typeface="Huawei Sans" panose="020C0503030203020204" pitchFamily="34" charset="0"/>
            </a:endParaRPr>
          </a:p>
        </p:txBody>
      </p:sp>
      <p:cxnSp>
        <p:nvCxnSpPr>
          <p:cNvPr id="52" name="曲线连接符 51"/>
          <p:cNvCxnSpPr>
            <a:stCxn id="46" idx="1"/>
            <a:endCxn id="70" idx="1"/>
          </p:cNvCxnSpPr>
          <p:nvPr/>
        </p:nvCxnSpPr>
        <p:spPr bwMode="gray">
          <a:xfrm rot="10800000" flipV="1">
            <a:off x="3131532" y="3403590"/>
            <a:ext cx="12700" cy="768416"/>
          </a:xfrm>
          <a:prstGeom prst="curvedConnector3">
            <a:avLst>
              <a:gd name="adj1" fmla="val 1800000"/>
            </a:avLst>
          </a:prstGeom>
          <a:ln>
            <a:solidFill>
              <a:srgbClr val="ED6D00"/>
            </a:solidFill>
            <a:prstDash val="dash"/>
          </a:ln>
        </p:spPr>
        <p:style>
          <a:lnRef idx="1">
            <a:schemeClr val="accent1"/>
          </a:lnRef>
          <a:fillRef idx="0">
            <a:schemeClr val="accent1"/>
          </a:fillRef>
          <a:effectRef idx="0">
            <a:schemeClr val="accent1"/>
          </a:effectRef>
          <a:fontRef idx="minor">
            <a:schemeClr val="tx1"/>
          </a:fontRef>
        </p:style>
      </p:cxnSp>
      <p:pic>
        <p:nvPicPr>
          <p:cNvPr id="13" name="图片 12"/>
          <p:cNvPicPr>
            <a:picLocks noChangeAspect="1"/>
          </p:cNvPicPr>
          <p:nvPr/>
        </p:nvPicPr>
        <p:blipFill>
          <a:blip r:embed="rId11"/>
          <a:stretch>
            <a:fillRect/>
          </a:stretch>
        </p:blipFill>
        <p:spPr bwMode="gray">
          <a:xfrm>
            <a:off x="4676317" y="4122978"/>
            <a:ext cx="7044166" cy="1850881"/>
          </a:xfrm>
          <a:prstGeom prst="rect">
            <a:avLst/>
          </a:prstGeom>
          <a:ln w="12700">
            <a:solidFill>
              <a:schemeClr val="bg1">
                <a:lumMod val="85000"/>
              </a:schemeClr>
            </a:solidFill>
          </a:ln>
        </p:spPr>
      </p:pic>
      <p:sp>
        <p:nvSpPr>
          <p:cNvPr id="57" name="椭圆 56"/>
          <p:cNvSpPr/>
          <p:nvPr/>
        </p:nvSpPr>
        <p:spPr bwMode="gray">
          <a:xfrm>
            <a:off x="3086766" y="3357551"/>
            <a:ext cx="118533" cy="118533"/>
          </a:xfrm>
          <a:prstGeom prst="ellipse">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endParaRPr lang="en-US" altLang="zh-CN" sz="1200" dirty="0"/>
          </a:p>
        </p:txBody>
      </p:sp>
      <p:sp>
        <p:nvSpPr>
          <p:cNvPr id="53" name="文本框 94"/>
          <p:cNvSpPr txBox="1"/>
          <p:nvPr/>
        </p:nvSpPr>
        <p:spPr bwMode="gray">
          <a:xfrm>
            <a:off x="2458524" y="4043252"/>
            <a:ext cx="631904" cy="276999"/>
          </a:xfrm>
          <a:prstGeom prst="rect">
            <a:avLst/>
          </a:prstGeom>
          <a:noFill/>
        </p:spPr>
        <p:txBody>
          <a:bodyPr wrap="none" rtlCol="0">
            <a:spAutoFit/>
          </a:bodyPr>
          <a:ls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a:lstStyle>
          <a:p>
            <a:pPr algn="r"/>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ACC_2</a:t>
            </a:r>
          </a:p>
        </p:txBody>
      </p:sp>
      <p:pic>
        <p:nvPicPr>
          <p:cNvPr id="58" name="图片 57" descr="PC.png">
            <a:extLst>
              <a:ext uri="{FF2B5EF4-FFF2-40B4-BE49-F238E27FC236}">
                <a16:creationId xmlns:a16="http://schemas.microsoft.com/office/drawing/2014/main" xmlns="" xmlns:lc="http://schemas.openxmlformats.org/drawingml/2006/lockedCanvas" id="{4666702E-823D-4236-BF2F-880359158C83}"/>
              </a:ext>
            </a:extLst>
          </p:cNvPr>
          <p:cNvPicPr>
            <a:picLocks noChangeAspect="1"/>
          </p:cNvPicPr>
          <p:nvPr/>
        </p:nvPicPr>
        <p:blipFill>
          <a:blip r:embed="rId3" cstate="print"/>
          <a:stretch>
            <a:fillRect/>
          </a:stretch>
        </p:blipFill>
        <p:spPr bwMode="gray">
          <a:xfrm>
            <a:off x="3131919" y="4790434"/>
            <a:ext cx="445506" cy="342149"/>
          </a:xfrm>
          <a:prstGeom prst="rect">
            <a:avLst/>
          </a:prstGeom>
        </p:spPr>
      </p:pic>
      <p:sp>
        <p:nvSpPr>
          <p:cNvPr id="64" name="矩形 63"/>
          <p:cNvSpPr/>
          <p:nvPr/>
        </p:nvSpPr>
        <p:spPr bwMode="gray">
          <a:xfrm>
            <a:off x="3542131" y="5739246"/>
            <a:ext cx="975862" cy="251711"/>
          </a:xfrm>
          <a:prstGeom prst="rect">
            <a:avLst/>
          </a:prstGeom>
        </p:spPr>
        <p:txBody>
          <a:bodyPr wrap="square">
            <a:noAutofit/>
          </a:bodyPr>
          <a:lstStyle/>
          <a:p>
            <a:pPr fontAlgn="ctr"/>
            <a:r>
              <a:rPr lang="zh-CN" altLang="en-US" sz="1200" dirty="0" smtClean="0"/>
              <a:t>认证执行点</a:t>
            </a:r>
            <a:endParaRPr lang="en-US" altLang="zh-CN" sz="1200" dirty="0"/>
          </a:p>
        </p:txBody>
      </p:sp>
      <p:sp>
        <p:nvSpPr>
          <p:cNvPr id="66" name="椭圆 65"/>
          <p:cNvSpPr/>
          <p:nvPr/>
        </p:nvSpPr>
        <p:spPr bwMode="gray">
          <a:xfrm>
            <a:off x="3457541" y="5805834"/>
            <a:ext cx="118533" cy="118533"/>
          </a:xfrm>
          <a:prstGeom prst="ellipse">
            <a:avLst/>
          </a:prstGeom>
          <a:solidFill>
            <a:srgbClr val="ED6D00"/>
          </a:solidFill>
          <a:ln>
            <a:solidFill>
              <a:srgbClr val="FAD3BB"/>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endParaRPr lang="en-US" altLang="zh-CN" sz="1200" dirty="0"/>
          </a:p>
        </p:txBody>
      </p:sp>
      <p:cxnSp>
        <p:nvCxnSpPr>
          <p:cNvPr id="67" name="Straight Connector 166"/>
          <p:cNvCxnSpPr>
            <a:stCxn id="65" idx="2"/>
            <a:endCxn id="34" idx="0"/>
          </p:cNvCxnSpPr>
          <p:nvPr/>
        </p:nvCxnSpPr>
        <p:spPr bwMode="gray">
          <a:xfrm flipH="1">
            <a:off x="1416625" y="4354575"/>
            <a:ext cx="1" cy="43585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8" name="Straight Connector 166"/>
          <p:cNvCxnSpPr>
            <a:stCxn id="70" idx="2"/>
            <a:endCxn id="58" idx="0"/>
          </p:cNvCxnSpPr>
          <p:nvPr/>
        </p:nvCxnSpPr>
        <p:spPr bwMode="gray">
          <a:xfrm flipH="1">
            <a:off x="3354672" y="4354575"/>
            <a:ext cx="1" cy="43585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60" name="椭圆 59"/>
          <p:cNvSpPr/>
          <p:nvPr/>
        </p:nvSpPr>
        <p:spPr bwMode="gray">
          <a:xfrm>
            <a:off x="1567187" y="4121691"/>
            <a:ext cx="118533" cy="118533"/>
          </a:xfrm>
          <a:prstGeom prst="ellipse">
            <a:avLst/>
          </a:prstGeom>
          <a:solidFill>
            <a:srgbClr val="ED6D00"/>
          </a:solidFill>
          <a:ln>
            <a:solidFill>
              <a:srgbClr val="FAD3BB"/>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endParaRPr lang="en-US" altLang="zh-CN" sz="1200" dirty="0"/>
          </a:p>
        </p:txBody>
      </p:sp>
      <p:sp>
        <p:nvSpPr>
          <p:cNvPr id="62" name="椭圆 61"/>
          <p:cNvSpPr/>
          <p:nvPr/>
        </p:nvSpPr>
        <p:spPr bwMode="gray">
          <a:xfrm>
            <a:off x="3086766" y="4121691"/>
            <a:ext cx="118533" cy="118533"/>
          </a:xfrm>
          <a:prstGeom prst="ellipse">
            <a:avLst/>
          </a:prstGeom>
          <a:solidFill>
            <a:srgbClr val="ED6D00"/>
          </a:solidFill>
          <a:ln>
            <a:solidFill>
              <a:srgbClr val="FAD3BB"/>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endParaRPr lang="en-US" altLang="zh-CN" sz="1200" dirty="0"/>
          </a:p>
        </p:txBody>
      </p:sp>
      <p:cxnSp>
        <p:nvCxnSpPr>
          <p:cNvPr id="54" name="直接箭头连接符 53"/>
          <p:cNvCxnSpPr>
            <a:stCxn id="69" idx="1"/>
          </p:cNvCxnSpPr>
          <p:nvPr/>
        </p:nvCxnSpPr>
        <p:spPr bwMode="gray">
          <a:xfrm flipH="1">
            <a:off x="10150731" y="4088480"/>
            <a:ext cx="252257" cy="153031"/>
          </a:xfrm>
          <a:prstGeom prst="straightConnector1">
            <a:avLst/>
          </a:prstGeom>
          <a:ln w="38100">
            <a:solidFill>
              <a:srgbClr val="30B5C5"/>
            </a:solidFill>
            <a:tailEnd type="triangle"/>
          </a:ln>
        </p:spPr>
        <p:style>
          <a:lnRef idx="1">
            <a:schemeClr val="accent1"/>
          </a:lnRef>
          <a:fillRef idx="0">
            <a:schemeClr val="accent1"/>
          </a:fillRef>
          <a:effectRef idx="0">
            <a:schemeClr val="accent1"/>
          </a:effectRef>
          <a:fontRef idx="minor">
            <a:schemeClr val="tx1"/>
          </a:fontRef>
        </p:style>
      </p:cxnSp>
      <p:sp>
        <p:nvSpPr>
          <p:cNvPr id="69" name="TextBox 179"/>
          <p:cNvSpPr txBox="1"/>
          <p:nvPr/>
        </p:nvSpPr>
        <p:spPr bwMode="gray">
          <a:xfrm>
            <a:off x="10402988" y="3963316"/>
            <a:ext cx="1285182" cy="250328"/>
          </a:xfrm>
          <a:prstGeom prst="roundRect">
            <a:avLst>
              <a:gd name="adj" fmla="val 12806"/>
            </a:avLst>
          </a:prstGeom>
          <a:solidFill>
            <a:srgbClr val="30B5C5"/>
          </a:solidFill>
          <a:ln>
            <a:noFill/>
          </a:ln>
        </p:spPr>
        <p:txBody>
          <a:bodyPr wrap="square" lIns="72000" tIns="72000" rIns="72000" bIns="72000" anchor="ctr" anchorCtr="0">
            <a:noAutofit/>
          </a:bodyPr>
          <a:lstStyle>
            <a:defPPr>
              <a:defRPr lang="en-US"/>
            </a:defPPr>
            <a:lvl1pPr algn="ctr" defTabSz="914478">
              <a:defRPr sz="1200">
                <a:solidFill>
                  <a:schemeClr val="bg1"/>
                </a:solidFill>
              </a:defRPr>
            </a:lvl1pPr>
            <a:lvl2pPr marL="457240" defTabSz="914478"/>
            <a:lvl3pPr marL="914478" defTabSz="914478"/>
            <a:lvl4pPr marL="1371718" defTabSz="914478"/>
            <a:lvl5pPr marL="1828957" defTabSz="914478"/>
            <a:lvl6pPr marL="2286196" defTabSz="914478"/>
            <a:lvl7pPr marL="2743435" defTabSz="914478"/>
            <a:lvl8pPr marL="3200675" defTabSz="914478"/>
            <a:lvl9pPr marL="3657913" defTabSz="914478"/>
          </a:lstStyle>
          <a:p>
            <a:r>
              <a:rPr lang="zh-CN" altLang="en-US" dirty="0" smtClean="0"/>
              <a:t>配置认证执行点</a:t>
            </a:r>
            <a:endParaRPr lang="zh-CN" altLang="en-US" dirty="0"/>
          </a:p>
        </p:txBody>
      </p:sp>
      <p:cxnSp>
        <p:nvCxnSpPr>
          <p:cNvPr id="82" name="直接箭头连接符 81"/>
          <p:cNvCxnSpPr>
            <a:stCxn id="84" idx="1"/>
          </p:cNvCxnSpPr>
          <p:nvPr/>
        </p:nvCxnSpPr>
        <p:spPr bwMode="gray">
          <a:xfrm flipH="1">
            <a:off x="10150731" y="1712223"/>
            <a:ext cx="252257" cy="153031"/>
          </a:xfrm>
          <a:prstGeom prst="straightConnector1">
            <a:avLst/>
          </a:prstGeom>
          <a:ln w="38100">
            <a:solidFill>
              <a:srgbClr val="30B5C5"/>
            </a:solidFill>
            <a:tailEnd type="triangle"/>
          </a:ln>
        </p:spPr>
        <p:style>
          <a:lnRef idx="1">
            <a:schemeClr val="accent1"/>
          </a:lnRef>
          <a:fillRef idx="0">
            <a:schemeClr val="accent1"/>
          </a:fillRef>
          <a:effectRef idx="0">
            <a:schemeClr val="accent1"/>
          </a:effectRef>
          <a:fontRef idx="minor">
            <a:schemeClr val="tx1"/>
          </a:fontRef>
        </p:style>
      </p:cxnSp>
      <p:sp>
        <p:nvSpPr>
          <p:cNvPr id="84" name="TextBox 179"/>
          <p:cNvSpPr txBox="1"/>
          <p:nvPr/>
        </p:nvSpPr>
        <p:spPr bwMode="gray">
          <a:xfrm>
            <a:off x="10402988" y="1587059"/>
            <a:ext cx="1285182" cy="250328"/>
          </a:xfrm>
          <a:prstGeom prst="roundRect">
            <a:avLst>
              <a:gd name="adj" fmla="val 12806"/>
            </a:avLst>
          </a:prstGeom>
          <a:solidFill>
            <a:srgbClr val="30B5C5"/>
          </a:solidFill>
          <a:ln>
            <a:noFill/>
          </a:ln>
        </p:spPr>
        <p:txBody>
          <a:bodyPr wrap="square" lIns="72000" tIns="72000" rIns="72000" bIns="72000" anchor="ctr" anchorCtr="0">
            <a:noAutofit/>
          </a:bodyPr>
          <a:lstStyle>
            <a:defPPr>
              <a:defRPr lang="en-US"/>
            </a:defPPr>
            <a:lvl1pPr algn="ctr" defTabSz="914478">
              <a:defRPr sz="1200">
                <a:solidFill>
                  <a:schemeClr val="bg1"/>
                </a:solidFill>
              </a:defRPr>
            </a:lvl1pPr>
            <a:lvl2pPr marL="457240" defTabSz="914478"/>
            <a:lvl3pPr marL="914478" defTabSz="914478"/>
            <a:lvl4pPr marL="1371718" defTabSz="914478"/>
            <a:lvl5pPr marL="1828957" defTabSz="914478"/>
            <a:lvl6pPr marL="2286196" defTabSz="914478"/>
            <a:lvl7pPr marL="2743435" defTabSz="914478"/>
            <a:lvl8pPr marL="3200675" defTabSz="914478"/>
            <a:lvl9pPr marL="3657913" defTabSz="914478"/>
          </a:lstStyle>
          <a:p>
            <a:r>
              <a:rPr lang="zh-CN" altLang="en-US" dirty="0" smtClean="0"/>
              <a:t>配置认证控制点</a:t>
            </a:r>
            <a:endParaRPr lang="zh-CN" altLang="en-US" dirty="0"/>
          </a:p>
        </p:txBody>
      </p:sp>
      <p:sp>
        <p:nvSpPr>
          <p:cNvPr id="85" name="五边形 84"/>
          <p:cNvSpPr/>
          <p:nvPr/>
        </p:nvSpPr>
        <p:spPr bwMode="gray">
          <a:xfrm>
            <a:off x="5773628" y="98481"/>
            <a:ext cx="9000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站点管理</a:t>
            </a:r>
          </a:p>
        </p:txBody>
      </p:sp>
      <p:sp>
        <p:nvSpPr>
          <p:cNvPr id="86" name="燕尾形 85"/>
          <p:cNvSpPr/>
          <p:nvPr/>
        </p:nvSpPr>
        <p:spPr bwMode="gray">
          <a:xfrm>
            <a:off x="9109268" y="9848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逻辑网络</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8" name="燕尾形 87"/>
          <p:cNvSpPr/>
          <p:nvPr/>
        </p:nvSpPr>
        <p:spPr bwMode="gray">
          <a:xfrm>
            <a:off x="9925178" y="9848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业务部署</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6" name="燕尾形 95"/>
          <p:cNvSpPr/>
          <p:nvPr/>
        </p:nvSpPr>
        <p:spPr bwMode="gray">
          <a:xfrm>
            <a:off x="8221358" y="98481"/>
            <a:ext cx="9720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Fabric</a:t>
            </a: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网络</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7" name="燕尾形 96"/>
          <p:cNvSpPr/>
          <p:nvPr/>
        </p:nvSpPr>
        <p:spPr bwMode="gray">
          <a:xfrm>
            <a:off x="7405448" y="9848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网络规划</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8" name="燕尾形 97"/>
          <p:cNvSpPr/>
          <p:nvPr/>
        </p:nvSpPr>
        <p:spPr bwMode="gray">
          <a:xfrm>
            <a:off x="6589538" y="9848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设备管理</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9" name="燕尾形 98"/>
          <p:cNvSpPr/>
          <p:nvPr/>
        </p:nvSpPr>
        <p:spPr bwMode="gray">
          <a:xfrm>
            <a:off x="10741088" y="98481"/>
            <a:ext cx="1008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WLAN</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业务</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4155102400"/>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bwMode="gray"/>
        <p:txBody>
          <a:bodyPr>
            <a:normAutofit/>
          </a:bodyPr>
          <a:lstStyle/>
          <a:p>
            <a:r>
              <a:rPr lang="zh-CN" altLang="en-US" dirty="0"/>
              <a:t>实验</a:t>
            </a:r>
            <a:r>
              <a:rPr lang="zh-CN" altLang="en-US" dirty="0" smtClean="0"/>
              <a:t>：</a:t>
            </a:r>
            <a:r>
              <a:rPr lang="zh-CN" altLang="en-US" dirty="0"/>
              <a:t>配置</a:t>
            </a:r>
            <a:r>
              <a:rPr lang="en-US" altLang="zh-CN" dirty="0"/>
              <a:t>Fabric</a:t>
            </a:r>
            <a:r>
              <a:rPr lang="zh-CN" altLang="en-US" dirty="0"/>
              <a:t>接入</a:t>
            </a:r>
            <a:r>
              <a:rPr lang="zh-CN" altLang="en-US" dirty="0" smtClean="0"/>
              <a:t>管理 </a:t>
            </a:r>
            <a:r>
              <a:rPr lang="en-US" altLang="zh-CN" dirty="0" smtClean="0"/>
              <a:t>(2)</a:t>
            </a:r>
            <a:endParaRPr lang="zh-CN" altLang="en-US" dirty="0"/>
          </a:p>
        </p:txBody>
      </p:sp>
      <p:sp>
        <p:nvSpPr>
          <p:cNvPr id="87" name="矩形 86"/>
          <p:cNvSpPr/>
          <p:nvPr/>
        </p:nvSpPr>
        <p:spPr bwMode="gray">
          <a:xfrm>
            <a:off x="4596077" y="1336898"/>
            <a:ext cx="6399956" cy="400110"/>
          </a:xfrm>
          <a:prstGeom prst="rect">
            <a:avLst/>
          </a:prstGeom>
        </p:spPr>
        <p:txBody>
          <a:bodyPr wrap="square">
            <a:spAutoFit/>
          </a:bodyPr>
          <a:lstStyle/>
          <a:p>
            <a:pPr algn="just">
              <a:lnSpc>
                <a:spcPts val="2400"/>
              </a:lnSpc>
              <a:spcAft>
                <a:spcPts val="600"/>
              </a:spcAft>
            </a:pPr>
            <a:r>
              <a:rPr lang="zh-CN" altLang="en-US" sz="1600" dirty="0" smtClean="0"/>
              <a:t>配置</a:t>
            </a:r>
            <a:r>
              <a:rPr lang="en-US" altLang="zh-CN" sz="1600" dirty="0" smtClean="0"/>
              <a:t>Edge_2</a:t>
            </a:r>
            <a:r>
              <a:rPr lang="zh-CN" altLang="en-US" sz="1600" dirty="0" smtClean="0"/>
              <a:t>的接入管理，并在交换机接口激活认证：</a:t>
            </a:r>
            <a:endParaRPr lang="zh-CN" altLang="en-US" sz="1600" dirty="0"/>
          </a:p>
        </p:txBody>
      </p:sp>
      <p:pic>
        <p:nvPicPr>
          <p:cNvPr id="3" name="图片 2"/>
          <p:cNvPicPr>
            <a:picLocks noChangeAspect="1"/>
          </p:cNvPicPr>
          <p:nvPr/>
        </p:nvPicPr>
        <p:blipFill>
          <a:blip r:embed="rId3"/>
          <a:stretch>
            <a:fillRect/>
          </a:stretch>
        </p:blipFill>
        <p:spPr bwMode="gray">
          <a:xfrm>
            <a:off x="4676317" y="1743815"/>
            <a:ext cx="7044166" cy="2269443"/>
          </a:xfrm>
          <a:prstGeom prst="rect">
            <a:avLst/>
          </a:prstGeom>
          <a:ln w="12700">
            <a:solidFill>
              <a:schemeClr val="bg1">
                <a:lumMod val="85000"/>
              </a:schemeClr>
            </a:solidFill>
          </a:ln>
        </p:spPr>
      </p:pic>
      <p:pic>
        <p:nvPicPr>
          <p:cNvPr id="4" name="图片 3"/>
          <p:cNvPicPr>
            <a:picLocks noChangeAspect="1"/>
          </p:cNvPicPr>
          <p:nvPr/>
        </p:nvPicPr>
        <p:blipFill>
          <a:blip r:embed="rId4"/>
          <a:stretch>
            <a:fillRect/>
          </a:stretch>
        </p:blipFill>
        <p:spPr bwMode="gray">
          <a:xfrm>
            <a:off x="4676317" y="4122978"/>
            <a:ext cx="7044166" cy="1838450"/>
          </a:xfrm>
          <a:prstGeom prst="rect">
            <a:avLst/>
          </a:prstGeom>
          <a:ln w="12700">
            <a:solidFill>
              <a:schemeClr val="bg1">
                <a:lumMod val="85000"/>
              </a:schemeClr>
            </a:solidFill>
          </a:ln>
        </p:spPr>
      </p:pic>
      <p:cxnSp>
        <p:nvCxnSpPr>
          <p:cNvPr id="127" name="直接箭头连接符 126"/>
          <p:cNvCxnSpPr>
            <a:stCxn id="128" idx="1"/>
          </p:cNvCxnSpPr>
          <p:nvPr/>
        </p:nvCxnSpPr>
        <p:spPr bwMode="gray">
          <a:xfrm flipH="1">
            <a:off x="10150731" y="4088480"/>
            <a:ext cx="252257" cy="153031"/>
          </a:xfrm>
          <a:prstGeom prst="straightConnector1">
            <a:avLst/>
          </a:prstGeom>
          <a:ln w="38100">
            <a:solidFill>
              <a:srgbClr val="30B5C5"/>
            </a:solidFill>
            <a:tailEnd type="triangle"/>
          </a:ln>
        </p:spPr>
        <p:style>
          <a:lnRef idx="1">
            <a:schemeClr val="accent1"/>
          </a:lnRef>
          <a:fillRef idx="0">
            <a:schemeClr val="accent1"/>
          </a:fillRef>
          <a:effectRef idx="0">
            <a:schemeClr val="accent1"/>
          </a:effectRef>
          <a:fontRef idx="minor">
            <a:schemeClr val="tx1"/>
          </a:fontRef>
        </p:style>
      </p:cxnSp>
      <p:sp>
        <p:nvSpPr>
          <p:cNvPr id="128" name="TextBox 179"/>
          <p:cNvSpPr txBox="1"/>
          <p:nvPr/>
        </p:nvSpPr>
        <p:spPr bwMode="gray">
          <a:xfrm>
            <a:off x="10402988" y="3963316"/>
            <a:ext cx="1285182" cy="250328"/>
          </a:xfrm>
          <a:prstGeom prst="roundRect">
            <a:avLst>
              <a:gd name="adj" fmla="val 12806"/>
            </a:avLst>
          </a:prstGeom>
          <a:solidFill>
            <a:srgbClr val="30B5C5"/>
          </a:solidFill>
          <a:ln>
            <a:noFill/>
          </a:ln>
        </p:spPr>
        <p:txBody>
          <a:bodyPr wrap="square" lIns="72000" tIns="72000" rIns="72000" bIns="72000" anchor="ctr" anchorCtr="0">
            <a:noAutofit/>
          </a:bodyPr>
          <a:lstStyle>
            <a:defPPr>
              <a:defRPr lang="en-US"/>
            </a:defPPr>
            <a:lvl1pPr algn="ctr" defTabSz="914478">
              <a:defRPr sz="1200">
                <a:solidFill>
                  <a:schemeClr val="bg1"/>
                </a:solidFill>
              </a:defRPr>
            </a:lvl1pPr>
            <a:lvl2pPr marL="457240" defTabSz="914478"/>
            <a:lvl3pPr marL="914478" defTabSz="914478"/>
            <a:lvl4pPr marL="1371718" defTabSz="914478"/>
            <a:lvl5pPr marL="1828957" defTabSz="914478"/>
            <a:lvl6pPr marL="2286196" defTabSz="914478"/>
            <a:lvl7pPr marL="2743435" defTabSz="914478"/>
            <a:lvl8pPr marL="3200675" defTabSz="914478"/>
            <a:lvl9pPr marL="3657913" defTabSz="914478"/>
          </a:lstStyle>
          <a:p>
            <a:r>
              <a:rPr lang="zh-CN" altLang="en-US" dirty="0" smtClean="0"/>
              <a:t>配置认证执行点</a:t>
            </a:r>
            <a:endParaRPr lang="zh-CN" altLang="en-US" dirty="0"/>
          </a:p>
        </p:txBody>
      </p:sp>
      <p:cxnSp>
        <p:nvCxnSpPr>
          <p:cNvPr id="129" name="直接箭头连接符 128"/>
          <p:cNvCxnSpPr>
            <a:stCxn id="130" idx="1"/>
          </p:cNvCxnSpPr>
          <p:nvPr/>
        </p:nvCxnSpPr>
        <p:spPr bwMode="gray">
          <a:xfrm flipH="1">
            <a:off x="10150731" y="1712223"/>
            <a:ext cx="252257" cy="153031"/>
          </a:xfrm>
          <a:prstGeom prst="straightConnector1">
            <a:avLst/>
          </a:prstGeom>
          <a:ln w="38100">
            <a:solidFill>
              <a:srgbClr val="30B5C5"/>
            </a:solidFill>
            <a:tailEnd type="triangle"/>
          </a:ln>
        </p:spPr>
        <p:style>
          <a:lnRef idx="1">
            <a:schemeClr val="accent1"/>
          </a:lnRef>
          <a:fillRef idx="0">
            <a:schemeClr val="accent1"/>
          </a:fillRef>
          <a:effectRef idx="0">
            <a:schemeClr val="accent1"/>
          </a:effectRef>
          <a:fontRef idx="minor">
            <a:schemeClr val="tx1"/>
          </a:fontRef>
        </p:style>
      </p:cxnSp>
      <p:sp>
        <p:nvSpPr>
          <p:cNvPr id="130" name="TextBox 179"/>
          <p:cNvSpPr txBox="1"/>
          <p:nvPr/>
        </p:nvSpPr>
        <p:spPr bwMode="gray">
          <a:xfrm>
            <a:off x="10402988" y="1587059"/>
            <a:ext cx="1285182" cy="250328"/>
          </a:xfrm>
          <a:prstGeom prst="roundRect">
            <a:avLst>
              <a:gd name="adj" fmla="val 12806"/>
            </a:avLst>
          </a:prstGeom>
          <a:solidFill>
            <a:srgbClr val="30B5C5"/>
          </a:solidFill>
          <a:ln>
            <a:noFill/>
          </a:ln>
        </p:spPr>
        <p:txBody>
          <a:bodyPr wrap="square" lIns="72000" tIns="72000" rIns="72000" bIns="72000" anchor="ctr" anchorCtr="0">
            <a:noAutofit/>
          </a:bodyPr>
          <a:lstStyle>
            <a:defPPr>
              <a:defRPr lang="en-US"/>
            </a:defPPr>
            <a:lvl1pPr algn="ctr" defTabSz="914478">
              <a:defRPr sz="1200">
                <a:solidFill>
                  <a:schemeClr val="bg1"/>
                </a:solidFill>
              </a:defRPr>
            </a:lvl1pPr>
            <a:lvl2pPr marL="457240" defTabSz="914478"/>
            <a:lvl3pPr marL="914478" defTabSz="914478"/>
            <a:lvl4pPr marL="1371718" defTabSz="914478"/>
            <a:lvl5pPr marL="1828957" defTabSz="914478"/>
            <a:lvl6pPr marL="2286196" defTabSz="914478"/>
            <a:lvl7pPr marL="2743435" defTabSz="914478"/>
            <a:lvl8pPr marL="3200675" defTabSz="914478"/>
            <a:lvl9pPr marL="3657913" defTabSz="914478"/>
          </a:lstStyle>
          <a:p>
            <a:r>
              <a:rPr lang="zh-CN" altLang="en-US" dirty="0" smtClean="0"/>
              <a:t>配置认证控制点</a:t>
            </a:r>
            <a:endParaRPr lang="zh-CN" altLang="en-US" dirty="0"/>
          </a:p>
        </p:txBody>
      </p:sp>
      <p:pic>
        <p:nvPicPr>
          <p:cNvPr id="131" name="图片 130" descr="PC.png">
            <a:extLst>
              <a:ext uri="{FF2B5EF4-FFF2-40B4-BE49-F238E27FC236}">
                <a16:creationId xmlns:a16="http://schemas.microsoft.com/office/drawing/2014/main" xmlns="" xmlns:lc="http://schemas.openxmlformats.org/drawingml/2006/lockedCanvas" id="{4666702E-823D-4236-BF2F-880359158C83}"/>
              </a:ext>
            </a:extLst>
          </p:cNvPr>
          <p:cNvPicPr>
            <a:picLocks noChangeAspect="1"/>
          </p:cNvPicPr>
          <p:nvPr/>
        </p:nvPicPr>
        <p:blipFill>
          <a:blip r:embed="rId5" cstate="print"/>
          <a:stretch>
            <a:fillRect/>
          </a:stretch>
        </p:blipFill>
        <p:spPr bwMode="gray">
          <a:xfrm>
            <a:off x="1193872" y="4790434"/>
            <a:ext cx="445506" cy="342149"/>
          </a:xfrm>
          <a:prstGeom prst="rect">
            <a:avLst/>
          </a:prstGeom>
        </p:spPr>
      </p:pic>
      <p:sp>
        <p:nvSpPr>
          <p:cNvPr id="132" name="圆角矩形 131"/>
          <p:cNvSpPr/>
          <p:nvPr/>
        </p:nvSpPr>
        <p:spPr bwMode="gray">
          <a:xfrm>
            <a:off x="569344" y="1948506"/>
            <a:ext cx="3948649" cy="2628871"/>
          </a:xfrm>
          <a:prstGeom prst="roundRect">
            <a:avLst>
              <a:gd name="adj" fmla="val 3166"/>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78" rtl="0" eaLnBrk="1" latinLnBrk="0" hangingPunct="1">
              <a:defRPr sz="1800" kern="1200">
                <a:solidFill>
                  <a:schemeClr val="lt1"/>
                </a:solidFill>
                <a:latin typeface="+mn-lt"/>
                <a:ea typeface="+mn-ea"/>
                <a:cs typeface="+mn-cs"/>
              </a:defRPr>
            </a:lvl1pPr>
            <a:lvl2pPr marL="457240" algn="l" defTabSz="914478" rtl="0" eaLnBrk="1" latinLnBrk="0" hangingPunct="1">
              <a:defRPr sz="1800" kern="1200">
                <a:solidFill>
                  <a:schemeClr val="lt1"/>
                </a:solidFill>
                <a:latin typeface="+mn-lt"/>
                <a:ea typeface="+mn-ea"/>
                <a:cs typeface="+mn-cs"/>
              </a:defRPr>
            </a:lvl2pPr>
            <a:lvl3pPr marL="914478" algn="l" defTabSz="914478" rtl="0" eaLnBrk="1" latinLnBrk="0" hangingPunct="1">
              <a:defRPr sz="1800" kern="1200">
                <a:solidFill>
                  <a:schemeClr val="lt1"/>
                </a:solidFill>
                <a:latin typeface="+mn-lt"/>
                <a:ea typeface="+mn-ea"/>
                <a:cs typeface="+mn-cs"/>
              </a:defRPr>
            </a:lvl3pPr>
            <a:lvl4pPr marL="1371718" algn="l" defTabSz="914478" rtl="0" eaLnBrk="1" latinLnBrk="0" hangingPunct="1">
              <a:defRPr sz="1800" kern="1200">
                <a:solidFill>
                  <a:schemeClr val="lt1"/>
                </a:solidFill>
                <a:latin typeface="+mn-lt"/>
                <a:ea typeface="+mn-ea"/>
                <a:cs typeface="+mn-cs"/>
              </a:defRPr>
            </a:lvl4pPr>
            <a:lvl5pPr marL="1828957" algn="l" defTabSz="914478" rtl="0" eaLnBrk="1" latinLnBrk="0" hangingPunct="1">
              <a:defRPr sz="1800" kern="1200">
                <a:solidFill>
                  <a:schemeClr val="lt1"/>
                </a:solidFill>
                <a:latin typeface="+mn-lt"/>
                <a:ea typeface="+mn-ea"/>
                <a:cs typeface="+mn-cs"/>
              </a:defRPr>
            </a:lvl5pPr>
            <a:lvl6pPr marL="2286196" algn="l" defTabSz="914478" rtl="0" eaLnBrk="1" latinLnBrk="0" hangingPunct="1">
              <a:defRPr sz="1800" kern="1200">
                <a:solidFill>
                  <a:schemeClr val="lt1"/>
                </a:solidFill>
                <a:latin typeface="+mn-lt"/>
                <a:ea typeface="+mn-ea"/>
                <a:cs typeface="+mn-cs"/>
              </a:defRPr>
            </a:lvl6pPr>
            <a:lvl7pPr marL="2743435" algn="l" defTabSz="914478" rtl="0" eaLnBrk="1" latinLnBrk="0" hangingPunct="1">
              <a:defRPr sz="1800" kern="1200">
                <a:solidFill>
                  <a:schemeClr val="lt1"/>
                </a:solidFill>
                <a:latin typeface="+mn-lt"/>
                <a:ea typeface="+mn-ea"/>
                <a:cs typeface="+mn-cs"/>
              </a:defRPr>
            </a:lvl7pPr>
            <a:lvl8pPr marL="3200675" algn="l" defTabSz="914478" rtl="0" eaLnBrk="1" latinLnBrk="0" hangingPunct="1">
              <a:defRPr sz="1800" kern="1200">
                <a:solidFill>
                  <a:schemeClr val="lt1"/>
                </a:solidFill>
                <a:latin typeface="+mn-lt"/>
                <a:ea typeface="+mn-ea"/>
                <a:cs typeface="+mn-cs"/>
              </a:defRPr>
            </a:lvl8pPr>
            <a:lvl9pPr marL="3657913" algn="l" defTabSz="914478" rtl="0" eaLnBrk="1" latinLnBrk="0" hangingPunct="1">
              <a:defRPr sz="1800" kern="1200">
                <a:solidFill>
                  <a:schemeClr val="lt1"/>
                </a:solidFill>
                <a:latin typeface="+mn-lt"/>
                <a:ea typeface="+mn-ea"/>
                <a:cs typeface="+mn-cs"/>
              </a:defRPr>
            </a:lvl9pPr>
          </a:lstStyle>
          <a:p>
            <a:pPr algn="ctr"/>
            <a:endParaRPr lang="zh-CN" altLang="en-US">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133" name="Freeform 159"/>
          <p:cNvSpPr/>
          <p:nvPr/>
        </p:nvSpPr>
        <p:spPr bwMode="gray">
          <a:xfrm flipH="1">
            <a:off x="1102692" y="2301322"/>
            <a:ext cx="2555182" cy="1462729"/>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rgbClr val="E3F6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78" rtl="0" eaLnBrk="1" latinLnBrk="0" hangingPunct="1">
              <a:defRPr sz="1800" kern="1200">
                <a:solidFill>
                  <a:schemeClr val="lt1"/>
                </a:solidFill>
                <a:latin typeface="+mn-lt"/>
                <a:ea typeface="+mn-ea"/>
                <a:cs typeface="+mn-cs"/>
              </a:defRPr>
            </a:lvl1pPr>
            <a:lvl2pPr marL="457240" algn="l" defTabSz="914478" rtl="0" eaLnBrk="1" latinLnBrk="0" hangingPunct="1">
              <a:defRPr sz="1800" kern="1200">
                <a:solidFill>
                  <a:schemeClr val="lt1"/>
                </a:solidFill>
                <a:latin typeface="+mn-lt"/>
                <a:ea typeface="+mn-ea"/>
                <a:cs typeface="+mn-cs"/>
              </a:defRPr>
            </a:lvl2pPr>
            <a:lvl3pPr marL="914478" algn="l" defTabSz="914478" rtl="0" eaLnBrk="1" latinLnBrk="0" hangingPunct="1">
              <a:defRPr sz="1800" kern="1200">
                <a:solidFill>
                  <a:schemeClr val="lt1"/>
                </a:solidFill>
                <a:latin typeface="+mn-lt"/>
                <a:ea typeface="+mn-ea"/>
                <a:cs typeface="+mn-cs"/>
              </a:defRPr>
            </a:lvl3pPr>
            <a:lvl4pPr marL="1371718" algn="l" defTabSz="914478" rtl="0" eaLnBrk="1" latinLnBrk="0" hangingPunct="1">
              <a:defRPr sz="1800" kern="1200">
                <a:solidFill>
                  <a:schemeClr val="lt1"/>
                </a:solidFill>
                <a:latin typeface="+mn-lt"/>
                <a:ea typeface="+mn-ea"/>
                <a:cs typeface="+mn-cs"/>
              </a:defRPr>
            </a:lvl4pPr>
            <a:lvl5pPr marL="1828957" algn="l" defTabSz="914478" rtl="0" eaLnBrk="1" latinLnBrk="0" hangingPunct="1">
              <a:defRPr sz="1800" kern="1200">
                <a:solidFill>
                  <a:schemeClr val="lt1"/>
                </a:solidFill>
                <a:latin typeface="+mn-lt"/>
                <a:ea typeface="+mn-ea"/>
                <a:cs typeface="+mn-cs"/>
              </a:defRPr>
            </a:lvl5pPr>
            <a:lvl6pPr marL="2286196" algn="l" defTabSz="914478" rtl="0" eaLnBrk="1" latinLnBrk="0" hangingPunct="1">
              <a:defRPr sz="1800" kern="1200">
                <a:solidFill>
                  <a:schemeClr val="lt1"/>
                </a:solidFill>
                <a:latin typeface="+mn-lt"/>
                <a:ea typeface="+mn-ea"/>
                <a:cs typeface="+mn-cs"/>
              </a:defRPr>
            </a:lvl6pPr>
            <a:lvl7pPr marL="2743435" algn="l" defTabSz="914478" rtl="0" eaLnBrk="1" latinLnBrk="0" hangingPunct="1">
              <a:defRPr sz="1800" kern="1200">
                <a:solidFill>
                  <a:schemeClr val="lt1"/>
                </a:solidFill>
                <a:latin typeface="+mn-lt"/>
                <a:ea typeface="+mn-ea"/>
                <a:cs typeface="+mn-cs"/>
              </a:defRPr>
            </a:lvl7pPr>
            <a:lvl8pPr marL="3200675" algn="l" defTabSz="914478" rtl="0" eaLnBrk="1" latinLnBrk="0" hangingPunct="1">
              <a:defRPr sz="1800" kern="1200">
                <a:solidFill>
                  <a:schemeClr val="lt1"/>
                </a:solidFill>
                <a:latin typeface="+mn-lt"/>
                <a:ea typeface="+mn-ea"/>
                <a:cs typeface="+mn-cs"/>
              </a:defRPr>
            </a:lvl8pPr>
            <a:lvl9pPr marL="3657913" algn="l" defTabSz="914478" rtl="0" eaLnBrk="1" latinLnBrk="0" hangingPunct="1">
              <a:defRPr sz="1800" kern="1200">
                <a:solidFill>
                  <a:schemeClr val="lt1"/>
                </a:solidFill>
                <a:latin typeface="+mn-lt"/>
                <a:ea typeface="+mn-ea"/>
                <a:cs typeface="+mn-cs"/>
              </a:defRPr>
            </a:lvl9pPr>
          </a:lstStyle>
          <a:p>
            <a:pPr algn="ctr"/>
            <a:endParaRPr lang="en-US">
              <a:latin typeface="Huawei Sans" panose="020C0503030203020204" pitchFamily="34" charset="0"/>
              <a:ea typeface="方正兰亭黑简体" panose="02000000000000000000" pitchFamily="2" charset="-122"/>
            </a:endParaRPr>
          </a:p>
        </p:txBody>
      </p:sp>
      <p:cxnSp>
        <p:nvCxnSpPr>
          <p:cNvPr id="134" name="Straight Connector 166"/>
          <p:cNvCxnSpPr>
            <a:stCxn id="141" idx="2"/>
            <a:endCxn id="146" idx="0"/>
          </p:cNvCxnSpPr>
          <p:nvPr/>
        </p:nvCxnSpPr>
        <p:spPr bwMode="gray">
          <a:xfrm>
            <a:off x="1416626" y="3586159"/>
            <a:ext cx="0" cy="40327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5" name="Straight Connector 166"/>
          <p:cNvCxnSpPr>
            <a:stCxn id="142" idx="2"/>
            <a:endCxn id="147" idx="0"/>
          </p:cNvCxnSpPr>
          <p:nvPr/>
        </p:nvCxnSpPr>
        <p:spPr bwMode="gray">
          <a:xfrm>
            <a:off x="3354673" y="3586159"/>
            <a:ext cx="0" cy="40327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6" name="Straight Connector 167"/>
          <p:cNvCxnSpPr/>
          <p:nvPr/>
        </p:nvCxnSpPr>
        <p:spPr bwMode="gray">
          <a:xfrm flipH="1">
            <a:off x="1422843" y="2526927"/>
            <a:ext cx="971589" cy="876201"/>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137" name="Straight Connector 167"/>
          <p:cNvCxnSpPr/>
          <p:nvPr/>
        </p:nvCxnSpPr>
        <p:spPr bwMode="gray">
          <a:xfrm flipH="1" flipV="1">
            <a:off x="2391053" y="2524450"/>
            <a:ext cx="975076" cy="883934"/>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sp>
        <p:nvSpPr>
          <p:cNvPr id="138" name="文本框 89"/>
          <p:cNvSpPr txBox="1"/>
          <p:nvPr/>
        </p:nvSpPr>
        <p:spPr bwMode="gray">
          <a:xfrm>
            <a:off x="1527419" y="2327181"/>
            <a:ext cx="676788" cy="276999"/>
          </a:xfrm>
          <a:prstGeom prst="rect">
            <a:avLst/>
          </a:prstGeom>
          <a:noFill/>
        </p:spPr>
        <p:txBody>
          <a:bodyPr wrap="none" rtlCol="0">
            <a:spAutoFit/>
          </a:bodyPr>
          <a:ls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a:lstStyle>
          <a:p>
            <a:pPr algn="ctr"/>
            <a:r>
              <a:rPr lang="en-US" altLang="zh-CN" sz="1200" b="1" dirty="0" smtClean="0">
                <a:latin typeface="Huawei Sans" panose="020C0503030203020204" pitchFamily="34" charset="0"/>
                <a:ea typeface="方正兰亭黑简体" panose="02000000000000000000" pitchFamily="2" charset="-122"/>
                <a:cs typeface="Huawei Sans" panose="020C0503030203020204" pitchFamily="34" charset="0"/>
              </a:rPr>
              <a:t>Border</a:t>
            </a:r>
            <a:endParaRPr lang="zh-CN" altLang="en-US" sz="1200" b="1"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139" name="文本框 90"/>
          <p:cNvSpPr txBox="1"/>
          <p:nvPr/>
        </p:nvSpPr>
        <p:spPr bwMode="gray">
          <a:xfrm>
            <a:off x="568405" y="3253386"/>
            <a:ext cx="702436" cy="276999"/>
          </a:xfrm>
          <a:prstGeom prst="rect">
            <a:avLst/>
          </a:prstGeom>
          <a:noFill/>
        </p:spPr>
        <p:txBody>
          <a:bodyPr wrap="none" rtlCol="0">
            <a:spAutoFit/>
          </a:bodyPr>
          <a:ls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a:lstStyle>
          <a:p>
            <a:pPr algn="r"/>
            <a:r>
              <a:rPr lang="en-US" altLang="zh-CN" sz="1200" b="1" dirty="0" smtClean="0">
                <a:latin typeface="Huawei Sans" panose="020C0503030203020204" pitchFamily="34" charset="0"/>
                <a:ea typeface="方正兰亭黑简体" panose="02000000000000000000" pitchFamily="2" charset="-122"/>
                <a:cs typeface="Huawei Sans" panose="020C0503030203020204" pitchFamily="34" charset="0"/>
              </a:rPr>
              <a:t>Edge_1</a:t>
            </a:r>
            <a:endParaRPr lang="zh-CN" altLang="en-US" sz="1200" b="1"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140" name="文本框 91"/>
          <p:cNvSpPr txBox="1"/>
          <p:nvPr/>
        </p:nvSpPr>
        <p:spPr bwMode="gray">
          <a:xfrm>
            <a:off x="638937" y="4041150"/>
            <a:ext cx="631904" cy="276999"/>
          </a:xfrm>
          <a:prstGeom prst="rect">
            <a:avLst/>
          </a:prstGeom>
          <a:noFill/>
        </p:spPr>
        <p:txBody>
          <a:bodyPr wrap="none" rtlCol="0">
            <a:spAutoFit/>
          </a:bodyPr>
          <a:ls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a:lstStyle>
          <a:p>
            <a:pPr algn="r"/>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ACC_1</a:t>
            </a:r>
          </a:p>
        </p:txBody>
      </p:sp>
      <p:pic>
        <p:nvPicPr>
          <p:cNvPr id="141" name="图片 140" descr="汇聚交换机.png"/>
          <p:cNvPicPr>
            <a:picLocks noChangeAspect="1"/>
          </p:cNvPicPr>
          <p:nvPr/>
        </p:nvPicPr>
        <p:blipFill>
          <a:blip r:embed="rId6" cstate="print"/>
          <a:stretch>
            <a:fillRect/>
          </a:stretch>
        </p:blipFill>
        <p:spPr bwMode="gray">
          <a:xfrm>
            <a:off x="1193485" y="3221020"/>
            <a:ext cx="446281" cy="365139"/>
          </a:xfrm>
          <a:prstGeom prst="rect">
            <a:avLst/>
          </a:prstGeom>
        </p:spPr>
      </p:pic>
      <p:pic>
        <p:nvPicPr>
          <p:cNvPr id="142" name="图片 141" descr="汇聚交换机.png"/>
          <p:cNvPicPr>
            <a:picLocks noChangeAspect="1"/>
          </p:cNvPicPr>
          <p:nvPr/>
        </p:nvPicPr>
        <p:blipFill>
          <a:blip r:embed="rId6" cstate="print"/>
          <a:stretch>
            <a:fillRect/>
          </a:stretch>
        </p:blipFill>
        <p:spPr bwMode="gray">
          <a:xfrm>
            <a:off x="3131532" y="3221020"/>
            <a:ext cx="446281" cy="365139"/>
          </a:xfrm>
          <a:prstGeom prst="rect">
            <a:avLst/>
          </a:prstGeom>
        </p:spPr>
      </p:pic>
      <p:sp>
        <p:nvSpPr>
          <p:cNvPr id="143" name="文本框 101"/>
          <p:cNvSpPr txBox="1"/>
          <p:nvPr/>
        </p:nvSpPr>
        <p:spPr bwMode="gray">
          <a:xfrm>
            <a:off x="2039185" y="3227850"/>
            <a:ext cx="676788" cy="307777"/>
          </a:xfrm>
          <a:prstGeom prst="rect">
            <a:avLst/>
          </a:prstGeom>
          <a:noFill/>
        </p:spPr>
        <p:txBody>
          <a:bodyPr wrap="none" rtlCol="0">
            <a:spAutoFit/>
          </a:bodyPr>
          <a:ls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a:lstStyle>
          <a:p>
            <a:pPr algn="ctr"/>
            <a:r>
              <a:rPr lang="en-US" altLang="zh-CN" sz="1400" dirty="0" smtClean="0">
                <a:solidFill>
                  <a:srgbClr val="30B5C5"/>
                </a:solidFill>
                <a:latin typeface="Huawei Sans" panose="020C0503030203020204" pitchFamily="34" charset="0"/>
                <a:ea typeface="方正兰亭细黑简体" panose="02000000000000000000" pitchFamily="2" charset="-122"/>
                <a:sym typeface="Huawei Sans" panose="020C0503030203020204" pitchFamily="34" charset="0"/>
              </a:rPr>
              <a:t>Fabric</a:t>
            </a:r>
          </a:p>
        </p:txBody>
      </p:sp>
      <p:sp>
        <p:nvSpPr>
          <p:cNvPr id="144" name="文本框 106"/>
          <p:cNvSpPr txBox="1"/>
          <p:nvPr/>
        </p:nvSpPr>
        <p:spPr bwMode="gray">
          <a:xfrm>
            <a:off x="3529408" y="3253386"/>
            <a:ext cx="684803" cy="276999"/>
          </a:xfrm>
          <a:prstGeom prst="rect">
            <a:avLst/>
          </a:prstGeom>
          <a:noFill/>
        </p:spPr>
        <p:txBody>
          <a:bodyPr wrap="none" rtlCol="0">
            <a:spAutoFit/>
          </a:bodyPr>
          <a:ls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a:lstStyle>
          <a:p>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Edge_2</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145" name="文本框 107"/>
          <p:cNvSpPr txBox="1"/>
          <p:nvPr/>
        </p:nvSpPr>
        <p:spPr bwMode="gray">
          <a:xfrm>
            <a:off x="601819" y="2098675"/>
            <a:ext cx="468398" cy="307777"/>
          </a:xfrm>
          <a:prstGeom prst="rect">
            <a:avLst/>
          </a:prstGeom>
          <a:noFill/>
        </p:spPr>
        <p:txBody>
          <a:bodyPr wrap="none" rtlCol="0">
            <a:spAutoFit/>
          </a:bodyPr>
          <a:ls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a:lstStyle>
          <a:p>
            <a:r>
              <a:rPr lang="en-US" altLang="zh-CN" sz="1400" b="1" dirty="0" smtClean="0">
                <a:latin typeface="Huawei Sans" panose="020C0503030203020204" pitchFamily="34" charset="0"/>
                <a:ea typeface="方正兰亭黑简体" panose="02000000000000000000" pitchFamily="2" charset="-122"/>
                <a:cs typeface="Huawei Sans" panose="020C0503030203020204" pitchFamily="34" charset="0"/>
              </a:rPr>
              <a:t>HQ</a:t>
            </a:r>
            <a:endParaRPr lang="zh-CN" altLang="en-US" sz="1400" b="1" dirty="0">
              <a:latin typeface="Huawei Sans" panose="020C0503030203020204" pitchFamily="34" charset="0"/>
              <a:ea typeface="方正兰亭黑简体" panose="02000000000000000000" pitchFamily="2" charset="-122"/>
              <a:cs typeface="Huawei Sans" panose="020C0503030203020204" pitchFamily="34" charset="0"/>
            </a:endParaRPr>
          </a:p>
        </p:txBody>
      </p:sp>
      <p:pic>
        <p:nvPicPr>
          <p:cNvPr id="146" name="图片 145" descr="接入交换机.png"/>
          <p:cNvPicPr>
            <a:picLocks noChangeAspect="1"/>
          </p:cNvPicPr>
          <p:nvPr/>
        </p:nvPicPr>
        <p:blipFill>
          <a:blip r:embed="rId7" cstate="print"/>
          <a:stretch>
            <a:fillRect/>
          </a:stretch>
        </p:blipFill>
        <p:spPr bwMode="gray">
          <a:xfrm>
            <a:off x="1193485" y="3989436"/>
            <a:ext cx="446281" cy="365139"/>
          </a:xfrm>
          <a:prstGeom prst="rect">
            <a:avLst/>
          </a:prstGeom>
        </p:spPr>
      </p:pic>
      <p:pic>
        <p:nvPicPr>
          <p:cNvPr id="147" name="图片 146" descr="接入交换机.png"/>
          <p:cNvPicPr>
            <a:picLocks noChangeAspect="1"/>
          </p:cNvPicPr>
          <p:nvPr/>
        </p:nvPicPr>
        <p:blipFill>
          <a:blip r:embed="rId7" cstate="print"/>
          <a:stretch>
            <a:fillRect/>
          </a:stretch>
        </p:blipFill>
        <p:spPr bwMode="gray">
          <a:xfrm>
            <a:off x="3131532" y="3989436"/>
            <a:ext cx="446281" cy="365139"/>
          </a:xfrm>
          <a:prstGeom prst="rect">
            <a:avLst/>
          </a:prstGeom>
        </p:spPr>
      </p:pic>
      <p:pic>
        <p:nvPicPr>
          <p:cNvPr id="148" name="图片 147" descr="核心交换机.png"/>
          <p:cNvPicPr>
            <a:picLocks noChangeAspect="1"/>
          </p:cNvPicPr>
          <p:nvPr/>
        </p:nvPicPr>
        <p:blipFill>
          <a:blip r:embed="rId8" cstate="print"/>
          <a:stretch>
            <a:fillRect/>
          </a:stretch>
        </p:blipFill>
        <p:spPr bwMode="gray">
          <a:xfrm>
            <a:off x="2178685" y="2344358"/>
            <a:ext cx="446281" cy="365139"/>
          </a:xfrm>
          <a:prstGeom prst="rect">
            <a:avLst/>
          </a:prstGeom>
        </p:spPr>
      </p:pic>
      <p:pic>
        <p:nvPicPr>
          <p:cNvPr id="149" name="图片 148"/>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bwMode="gray">
          <a:xfrm>
            <a:off x="3554243" y="2109757"/>
            <a:ext cx="865097" cy="491769"/>
          </a:xfrm>
          <a:prstGeom prst="rect">
            <a:avLst/>
          </a:prstGeom>
        </p:spPr>
      </p:pic>
      <p:pic>
        <p:nvPicPr>
          <p:cNvPr id="150" name="图片 149" descr="AP.png"/>
          <p:cNvPicPr>
            <a:picLocks noChangeAspect="1"/>
          </p:cNvPicPr>
          <p:nvPr/>
        </p:nvPicPr>
        <p:blipFill>
          <a:blip r:embed="rId10" cstate="print"/>
          <a:stretch>
            <a:fillRect/>
          </a:stretch>
        </p:blipFill>
        <p:spPr bwMode="gray">
          <a:xfrm>
            <a:off x="3809525" y="4021121"/>
            <a:ext cx="368827" cy="301768"/>
          </a:xfrm>
          <a:prstGeom prst="rect">
            <a:avLst/>
          </a:prstGeom>
        </p:spPr>
      </p:pic>
      <p:cxnSp>
        <p:nvCxnSpPr>
          <p:cNvPr id="151" name="Straight Connector 166"/>
          <p:cNvCxnSpPr>
            <a:stCxn id="147" idx="3"/>
            <a:endCxn id="150" idx="1"/>
          </p:cNvCxnSpPr>
          <p:nvPr/>
        </p:nvCxnSpPr>
        <p:spPr bwMode="gray">
          <a:xfrm flipV="1">
            <a:off x="3577813" y="4172005"/>
            <a:ext cx="231712" cy="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52" name="组合 151"/>
          <p:cNvGrpSpPr/>
          <p:nvPr/>
        </p:nvGrpSpPr>
        <p:grpSpPr bwMode="gray">
          <a:xfrm flipV="1">
            <a:off x="3890431" y="4347655"/>
            <a:ext cx="225698" cy="191130"/>
            <a:chOff x="7440613" y="4868863"/>
            <a:chExt cx="1019175" cy="828675"/>
          </a:xfrm>
          <a:solidFill>
            <a:schemeClr val="bg1">
              <a:lumMod val="50000"/>
            </a:schemeClr>
          </a:solidFill>
        </p:grpSpPr>
        <p:sp>
          <p:nvSpPr>
            <p:cNvPr id="153" name="Freeform 15"/>
            <p:cNvSpPr>
              <a:spLocks/>
            </p:cNvSpPr>
            <p:nvPr/>
          </p:nvSpPr>
          <p:spPr bwMode="gray">
            <a:xfrm>
              <a:off x="7832726" y="5462588"/>
              <a:ext cx="234950" cy="234950"/>
            </a:xfrm>
            <a:custGeom>
              <a:avLst/>
              <a:gdLst/>
              <a:ahLst/>
              <a:cxnLst>
                <a:cxn ang="0">
                  <a:pos x="3281" y="680"/>
                </a:cxn>
                <a:cxn ang="0">
                  <a:pos x="3439" y="907"/>
                </a:cxn>
                <a:cxn ang="0">
                  <a:pos x="3559" y="1151"/>
                </a:cxn>
                <a:cxn ang="0">
                  <a:pos x="3642" y="1406"/>
                </a:cxn>
                <a:cxn ang="0">
                  <a:pos x="3686" y="1670"/>
                </a:cxn>
                <a:cxn ang="0">
                  <a:pos x="3693" y="1936"/>
                </a:cxn>
                <a:cxn ang="0">
                  <a:pos x="3661" y="2201"/>
                </a:cxn>
                <a:cxn ang="0">
                  <a:pos x="3591" y="2460"/>
                </a:cxn>
                <a:cxn ang="0">
                  <a:pos x="3484" y="2708"/>
                </a:cxn>
                <a:cxn ang="0">
                  <a:pos x="3339" y="2941"/>
                </a:cxn>
                <a:cxn ang="0">
                  <a:pos x="3155" y="3155"/>
                </a:cxn>
                <a:cxn ang="0">
                  <a:pos x="2941" y="3339"/>
                </a:cxn>
                <a:cxn ang="0">
                  <a:pos x="2708" y="3484"/>
                </a:cxn>
                <a:cxn ang="0">
                  <a:pos x="2460" y="3592"/>
                </a:cxn>
                <a:cxn ang="0">
                  <a:pos x="2201" y="3661"/>
                </a:cxn>
                <a:cxn ang="0">
                  <a:pos x="1936" y="3693"/>
                </a:cxn>
                <a:cxn ang="0">
                  <a:pos x="1670" y="3687"/>
                </a:cxn>
                <a:cxn ang="0">
                  <a:pos x="1408" y="3643"/>
                </a:cxn>
                <a:cxn ang="0">
                  <a:pos x="1152" y="3561"/>
                </a:cxn>
                <a:cxn ang="0">
                  <a:pos x="908" y="3440"/>
                </a:cxn>
                <a:cxn ang="0">
                  <a:pos x="680" y="3282"/>
                </a:cxn>
                <a:cxn ang="0">
                  <a:pos x="475" y="3086"/>
                </a:cxn>
                <a:cxn ang="0">
                  <a:pos x="304" y="2866"/>
                </a:cxn>
                <a:cxn ang="0">
                  <a:pos x="172" y="2627"/>
                </a:cxn>
                <a:cxn ang="0">
                  <a:pos x="76" y="2374"/>
                </a:cxn>
                <a:cxn ang="0">
                  <a:pos x="19" y="2114"/>
                </a:cxn>
                <a:cxn ang="0">
                  <a:pos x="0" y="1848"/>
                </a:cxn>
                <a:cxn ang="0">
                  <a:pos x="19" y="1582"/>
                </a:cxn>
                <a:cxn ang="0">
                  <a:pos x="76" y="1321"/>
                </a:cxn>
                <a:cxn ang="0">
                  <a:pos x="171" y="1069"/>
                </a:cxn>
                <a:cxn ang="0">
                  <a:pos x="304" y="830"/>
                </a:cxn>
                <a:cxn ang="0">
                  <a:pos x="475" y="609"/>
                </a:cxn>
                <a:cxn ang="0">
                  <a:pos x="680" y="414"/>
                </a:cxn>
                <a:cxn ang="0">
                  <a:pos x="907" y="255"/>
                </a:cxn>
                <a:cxn ang="0">
                  <a:pos x="1151" y="135"/>
                </a:cxn>
                <a:cxn ang="0">
                  <a:pos x="1407" y="52"/>
                </a:cxn>
                <a:cxn ang="0">
                  <a:pos x="1669" y="8"/>
                </a:cxn>
                <a:cxn ang="0">
                  <a:pos x="1936" y="2"/>
                </a:cxn>
                <a:cxn ang="0">
                  <a:pos x="2201" y="33"/>
                </a:cxn>
                <a:cxn ang="0">
                  <a:pos x="2459" y="104"/>
                </a:cxn>
                <a:cxn ang="0">
                  <a:pos x="2708" y="211"/>
                </a:cxn>
                <a:cxn ang="0">
                  <a:pos x="2940" y="356"/>
                </a:cxn>
                <a:cxn ang="0">
                  <a:pos x="3154" y="539"/>
                </a:cxn>
              </a:cxnLst>
              <a:rect l="0" t="0" r="r" b="b"/>
              <a:pathLst>
                <a:path w="3695" h="3695">
                  <a:moveTo>
                    <a:pt x="3154" y="539"/>
                  </a:moveTo>
                  <a:lnTo>
                    <a:pt x="3220" y="608"/>
                  </a:lnTo>
                  <a:lnTo>
                    <a:pt x="3281" y="680"/>
                  </a:lnTo>
                  <a:lnTo>
                    <a:pt x="3338" y="754"/>
                  </a:lnTo>
                  <a:lnTo>
                    <a:pt x="3391" y="829"/>
                  </a:lnTo>
                  <a:lnTo>
                    <a:pt x="3439" y="907"/>
                  </a:lnTo>
                  <a:lnTo>
                    <a:pt x="3483" y="987"/>
                  </a:lnTo>
                  <a:lnTo>
                    <a:pt x="3523" y="1068"/>
                  </a:lnTo>
                  <a:lnTo>
                    <a:pt x="3559" y="1151"/>
                  </a:lnTo>
                  <a:lnTo>
                    <a:pt x="3591" y="1235"/>
                  </a:lnTo>
                  <a:lnTo>
                    <a:pt x="3619" y="1320"/>
                  </a:lnTo>
                  <a:lnTo>
                    <a:pt x="3642" y="1406"/>
                  </a:lnTo>
                  <a:lnTo>
                    <a:pt x="3661" y="1493"/>
                  </a:lnTo>
                  <a:lnTo>
                    <a:pt x="3676" y="1582"/>
                  </a:lnTo>
                  <a:lnTo>
                    <a:pt x="3686" y="1670"/>
                  </a:lnTo>
                  <a:lnTo>
                    <a:pt x="3693" y="1758"/>
                  </a:lnTo>
                  <a:lnTo>
                    <a:pt x="3695" y="1847"/>
                  </a:lnTo>
                  <a:lnTo>
                    <a:pt x="3693" y="1936"/>
                  </a:lnTo>
                  <a:lnTo>
                    <a:pt x="3686" y="2024"/>
                  </a:lnTo>
                  <a:lnTo>
                    <a:pt x="3676" y="2113"/>
                  </a:lnTo>
                  <a:lnTo>
                    <a:pt x="3661" y="2201"/>
                  </a:lnTo>
                  <a:lnTo>
                    <a:pt x="3642" y="2288"/>
                  </a:lnTo>
                  <a:lnTo>
                    <a:pt x="3619" y="2374"/>
                  </a:lnTo>
                  <a:lnTo>
                    <a:pt x="3591" y="2460"/>
                  </a:lnTo>
                  <a:lnTo>
                    <a:pt x="3559" y="2544"/>
                  </a:lnTo>
                  <a:lnTo>
                    <a:pt x="3524" y="2626"/>
                  </a:lnTo>
                  <a:lnTo>
                    <a:pt x="3484" y="2708"/>
                  </a:lnTo>
                  <a:lnTo>
                    <a:pt x="3439" y="2788"/>
                  </a:lnTo>
                  <a:lnTo>
                    <a:pt x="3391" y="2865"/>
                  </a:lnTo>
                  <a:lnTo>
                    <a:pt x="3339" y="2941"/>
                  </a:lnTo>
                  <a:lnTo>
                    <a:pt x="3281" y="3015"/>
                  </a:lnTo>
                  <a:lnTo>
                    <a:pt x="3220" y="3086"/>
                  </a:lnTo>
                  <a:lnTo>
                    <a:pt x="3155" y="3155"/>
                  </a:lnTo>
                  <a:lnTo>
                    <a:pt x="3086" y="3220"/>
                  </a:lnTo>
                  <a:lnTo>
                    <a:pt x="3015" y="3282"/>
                  </a:lnTo>
                  <a:lnTo>
                    <a:pt x="2941" y="3339"/>
                  </a:lnTo>
                  <a:lnTo>
                    <a:pt x="2865" y="3391"/>
                  </a:lnTo>
                  <a:lnTo>
                    <a:pt x="2788" y="3440"/>
                  </a:lnTo>
                  <a:lnTo>
                    <a:pt x="2708" y="3484"/>
                  </a:lnTo>
                  <a:lnTo>
                    <a:pt x="2626" y="3524"/>
                  </a:lnTo>
                  <a:lnTo>
                    <a:pt x="2544" y="3560"/>
                  </a:lnTo>
                  <a:lnTo>
                    <a:pt x="2460" y="3592"/>
                  </a:lnTo>
                  <a:lnTo>
                    <a:pt x="2375" y="3619"/>
                  </a:lnTo>
                  <a:lnTo>
                    <a:pt x="2288" y="3643"/>
                  </a:lnTo>
                  <a:lnTo>
                    <a:pt x="2201" y="3661"/>
                  </a:lnTo>
                  <a:lnTo>
                    <a:pt x="2114" y="3676"/>
                  </a:lnTo>
                  <a:lnTo>
                    <a:pt x="2026" y="3687"/>
                  </a:lnTo>
                  <a:lnTo>
                    <a:pt x="1936" y="3693"/>
                  </a:lnTo>
                  <a:lnTo>
                    <a:pt x="1848" y="3695"/>
                  </a:lnTo>
                  <a:lnTo>
                    <a:pt x="1759" y="3693"/>
                  </a:lnTo>
                  <a:lnTo>
                    <a:pt x="1670" y="3687"/>
                  </a:lnTo>
                  <a:lnTo>
                    <a:pt x="1582" y="3676"/>
                  </a:lnTo>
                  <a:lnTo>
                    <a:pt x="1495" y="3662"/>
                  </a:lnTo>
                  <a:lnTo>
                    <a:pt x="1408" y="3643"/>
                  </a:lnTo>
                  <a:lnTo>
                    <a:pt x="1321" y="3620"/>
                  </a:lnTo>
                  <a:lnTo>
                    <a:pt x="1236" y="3592"/>
                  </a:lnTo>
                  <a:lnTo>
                    <a:pt x="1152" y="3561"/>
                  </a:lnTo>
                  <a:lnTo>
                    <a:pt x="1069" y="3524"/>
                  </a:lnTo>
                  <a:lnTo>
                    <a:pt x="987" y="3484"/>
                  </a:lnTo>
                  <a:lnTo>
                    <a:pt x="908" y="3440"/>
                  </a:lnTo>
                  <a:lnTo>
                    <a:pt x="830" y="3391"/>
                  </a:lnTo>
                  <a:lnTo>
                    <a:pt x="755" y="3339"/>
                  </a:lnTo>
                  <a:lnTo>
                    <a:pt x="680" y="3282"/>
                  </a:lnTo>
                  <a:lnTo>
                    <a:pt x="609" y="3220"/>
                  </a:lnTo>
                  <a:lnTo>
                    <a:pt x="541" y="3155"/>
                  </a:lnTo>
                  <a:lnTo>
                    <a:pt x="475" y="3086"/>
                  </a:lnTo>
                  <a:lnTo>
                    <a:pt x="414" y="3015"/>
                  </a:lnTo>
                  <a:lnTo>
                    <a:pt x="357" y="2941"/>
                  </a:lnTo>
                  <a:lnTo>
                    <a:pt x="304" y="2866"/>
                  </a:lnTo>
                  <a:lnTo>
                    <a:pt x="256" y="2788"/>
                  </a:lnTo>
                  <a:lnTo>
                    <a:pt x="212" y="2709"/>
                  </a:lnTo>
                  <a:lnTo>
                    <a:pt x="172" y="2627"/>
                  </a:lnTo>
                  <a:lnTo>
                    <a:pt x="136" y="2544"/>
                  </a:lnTo>
                  <a:lnTo>
                    <a:pt x="104" y="2460"/>
                  </a:lnTo>
                  <a:lnTo>
                    <a:pt x="76" y="2374"/>
                  </a:lnTo>
                  <a:lnTo>
                    <a:pt x="53" y="2288"/>
                  </a:lnTo>
                  <a:lnTo>
                    <a:pt x="34" y="2201"/>
                  </a:lnTo>
                  <a:lnTo>
                    <a:pt x="19" y="2114"/>
                  </a:lnTo>
                  <a:lnTo>
                    <a:pt x="9" y="2025"/>
                  </a:lnTo>
                  <a:lnTo>
                    <a:pt x="2" y="1937"/>
                  </a:lnTo>
                  <a:lnTo>
                    <a:pt x="0" y="1848"/>
                  </a:lnTo>
                  <a:lnTo>
                    <a:pt x="2" y="1759"/>
                  </a:lnTo>
                  <a:lnTo>
                    <a:pt x="9" y="1670"/>
                  </a:lnTo>
                  <a:lnTo>
                    <a:pt x="19" y="1582"/>
                  </a:lnTo>
                  <a:lnTo>
                    <a:pt x="34" y="1494"/>
                  </a:lnTo>
                  <a:lnTo>
                    <a:pt x="53" y="1407"/>
                  </a:lnTo>
                  <a:lnTo>
                    <a:pt x="76" y="1321"/>
                  </a:lnTo>
                  <a:lnTo>
                    <a:pt x="104" y="1236"/>
                  </a:lnTo>
                  <a:lnTo>
                    <a:pt x="136" y="1151"/>
                  </a:lnTo>
                  <a:lnTo>
                    <a:pt x="171" y="1069"/>
                  </a:lnTo>
                  <a:lnTo>
                    <a:pt x="211" y="988"/>
                  </a:lnTo>
                  <a:lnTo>
                    <a:pt x="255" y="907"/>
                  </a:lnTo>
                  <a:lnTo>
                    <a:pt x="304" y="830"/>
                  </a:lnTo>
                  <a:lnTo>
                    <a:pt x="356" y="754"/>
                  </a:lnTo>
                  <a:lnTo>
                    <a:pt x="414" y="681"/>
                  </a:lnTo>
                  <a:lnTo>
                    <a:pt x="475" y="609"/>
                  </a:lnTo>
                  <a:lnTo>
                    <a:pt x="540" y="540"/>
                  </a:lnTo>
                  <a:lnTo>
                    <a:pt x="609" y="475"/>
                  </a:lnTo>
                  <a:lnTo>
                    <a:pt x="680" y="414"/>
                  </a:lnTo>
                  <a:lnTo>
                    <a:pt x="754" y="356"/>
                  </a:lnTo>
                  <a:lnTo>
                    <a:pt x="830" y="303"/>
                  </a:lnTo>
                  <a:lnTo>
                    <a:pt x="907" y="255"/>
                  </a:lnTo>
                  <a:lnTo>
                    <a:pt x="987" y="211"/>
                  </a:lnTo>
                  <a:lnTo>
                    <a:pt x="1069" y="171"/>
                  </a:lnTo>
                  <a:lnTo>
                    <a:pt x="1151" y="135"/>
                  </a:lnTo>
                  <a:lnTo>
                    <a:pt x="1235" y="104"/>
                  </a:lnTo>
                  <a:lnTo>
                    <a:pt x="1320" y="76"/>
                  </a:lnTo>
                  <a:lnTo>
                    <a:pt x="1407" y="52"/>
                  </a:lnTo>
                  <a:lnTo>
                    <a:pt x="1494" y="33"/>
                  </a:lnTo>
                  <a:lnTo>
                    <a:pt x="1581" y="19"/>
                  </a:lnTo>
                  <a:lnTo>
                    <a:pt x="1669" y="8"/>
                  </a:lnTo>
                  <a:lnTo>
                    <a:pt x="1759" y="2"/>
                  </a:lnTo>
                  <a:lnTo>
                    <a:pt x="1847" y="0"/>
                  </a:lnTo>
                  <a:lnTo>
                    <a:pt x="1936" y="2"/>
                  </a:lnTo>
                  <a:lnTo>
                    <a:pt x="2025" y="8"/>
                  </a:lnTo>
                  <a:lnTo>
                    <a:pt x="2113" y="19"/>
                  </a:lnTo>
                  <a:lnTo>
                    <a:pt x="2201" y="33"/>
                  </a:lnTo>
                  <a:lnTo>
                    <a:pt x="2287" y="52"/>
                  </a:lnTo>
                  <a:lnTo>
                    <a:pt x="2374" y="76"/>
                  </a:lnTo>
                  <a:lnTo>
                    <a:pt x="2459" y="104"/>
                  </a:lnTo>
                  <a:lnTo>
                    <a:pt x="2543" y="135"/>
                  </a:lnTo>
                  <a:lnTo>
                    <a:pt x="2626" y="171"/>
                  </a:lnTo>
                  <a:lnTo>
                    <a:pt x="2708" y="211"/>
                  </a:lnTo>
                  <a:lnTo>
                    <a:pt x="2787" y="255"/>
                  </a:lnTo>
                  <a:lnTo>
                    <a:pt x="2865" y="303"/>
                  </a:lnTo>
                  <a:lnTo>
                    <a:pt x="2940" y="356"/>
                  </a:lnTo>
                  <a:lnTo>
                    <a:pt x="3015" y="413"/>
                  </a:lnTo>
                  <a:lnTo>
                    <a:pt x="3086" y="474"/>
                  </a:lnTo>
                  <a:lnTo>
                    <a:pt x="3154" y="539"/>
                  </a:lnTo>
                  <a:close/>
                </a:path>
              </a:pathLst>
            </a:custGeom>
            <a:grpFill/>
            <a:ln w="9525">
              <a:noFill/>
              <a:round/>
              <a:headEnd/>
              <a:tailEnd/>
            </a:ln>
          </p:spPr>
          <p:txBody>
            <a:bodyPr/>
            <a:ls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a:lstStyle>
            <a:p>
              <a:pPr algn="ctr" eaLnBrk="1" fontAlgn="auto" hangingPunct="1">
                <a:spcBef>
                  <a:spcPts val="0"/>
                </a:spcBef>
                <a:spcAft>
                  <a:spcPts val="0"/>
                </a:spcAft>
                <a:defRPr/>
              </a:pPr>
              <a:endParaRPr lang="zh-CN" altLang="en-US" sz="1200" ker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54" name="Freeform 16"/>
            <p:cNvSpPr>
              <a:spLocks noEditPoints="1"/>
            </p:cNvSpPr>
            <p:nvPr/>
          </p:nvSpPr>
          <p:spPr bwMode="gray">
            <a:xfrm>
              <a:off x="7440613" y="4868863"/>
              <a:ext cx="1019175" cy="544513"/>
            </a:xfrm>
            <a:custGeom>
              <a:avLst/>
              <a:gdLst/>
              <a:ahLst/>
              <a:cxnLst>
                <a:cxn ang="0">
                  <a:pos x="16025" y="3351"/>
                </a:cxn>
                <a:cxn ang="0">
                  <a:pos x="14975" y="4351"/>
                </a:cxn>
                <a:cxn ang="0">
                  <a:pos x="14184" y="3632"/>
                </a:cxn>
                <a:cxn ang="0">
                  <a:pos x="12564" y="2563"/>
                </a:cxn>
                <a:cxn ang="0">
                  <a:pos x="10805" y="1850"/>
                </a:cxn>
                <a:cxn ang="0">
                  <a:pos x="8960" y="1494"/>
                </a:cxn>
                <a:cxn ang="0">
                  <a:pos x="7087" y="1494"/>
                </a:cxn>
                <a:cxn ang="0">
                  <a:pos x="5243" y="1851"/>
                </a:cxn>
                <a:cxn ang="0">
                  <a:pos x="3483" y="2564"/>
                </a:cxn>
                <a:cxn ang="0">
                  <a:pos x="1864" y="3634"/>
                </a:cxn>
                <a:cxn ang="0">
                  <a:pos x="1075" y="4353"/>
                </a:cxn>
                <a:cxn ang="0">
                  <a:pos x="24" y="3353"/>
                </a:cxn>
                <a:cxn ang="0">
                  <a:pos x="516" y="2880"/>
                </a:cxn>
                <a:cxn ang="0">
                  <a:pos x="2325" y="1549"/>
                </a:cxn>
                <a:cxn ang="0">
                  <a:pos x="4312" y="627"/>
                </a:cxn>
                <a:cxn ang="0">
                  <a:pos x="6413" y="115"/>
                </a:cxn>
                <a:cxn ang="0">
                  <a:pos x="8562" y="13"/>
                </a:cxn>
                <a:cxn ang="0">
                  <a:pos x="10694" y="319"/>
                </a:cxn>
                <a:cxn ang="0">
                  <a:pos x="12747" y="1036"/>
                </a:cxn>
                <a:cxn ang="0">
                  <a:pos x="14654" y="2160"/>
                </a:cxn>
                <a:cxn ang="0">
                  <a:pos x="14055" y="5373"/>
                </a:cxn>
                <a:cxn ang="0">
                  <a:pos x="12871" y="6404"/>
                </a:cxn>
                <a:cxn ang="0">
                  <a:pos x="12058" y="5702"/>
                </a:cxn>
                <a:cxn ang="0">
                  <a:pos x="10898" y="5017"/>
                </a:cxn>
                <a:cxn ang="0">
                  <a:pos x="9649" y="4582"/>
                </a:cxn>
                <a:cxn ang="0">
                  <a:pos x="8352" y="4395"/>
                </a:cxn>
                <a:cxn ang="0">
                  <a:pos x="7044" y="4457"/>
                </a:cxn>
                <a:cxn ang="0">
                  <a:pos x="5767" y="4769"/>
                </a:cxn>
                <a:cxn ang="0">
                  <a:pos x="4558" y="5329"/>
                </a:cxn>
                <a:cxn ang="0">
                  <a:pos x="3457" y="6139"/>
                </a:cxn>
                <a:cxn ang="0">
                  <a:pos x="3129" y="6456"/>
                </a:cxn>
                <a:cxn ang="0">
                  <a:pos x="2045" y="5322"/>
                </a:cxn>
                <a:cxn ang="0">
                  <a:pos x="2731" y="4697"/>
                </a:cxn>
                <a:cxn ang="0">
                  <a:pos x="4122" y="3779"/>
                </a:cxn>
                <a:cxn ang="0">
                  <a:pos x="5635" y="3166"/>
                </a:cxn>
                <a:cxn ang="0">
                  <a:pos x="7219" y="2859"/>
                </a:cxn>
                <a:cxn ang="0">
                  <a:pos x="8829" y="2859"/>
                </a:cxn>
                <a:cxn ang="0">
                  <a:pos x="10413" y="3165"/>
                </a:cxn>
                <a:cxn ang="0">
                  <a:pos x="11926" y="3777"/>
                </a:cxn>
                <a:cxn ang="0">
                  <a:pos x="13318" y="4696"/>
                </a:cxn>
                <a:cxn ang="0">
                  <a:pos x="14005" y="5321"/>
                </a:cxn>
                <a:cxn ang="0">
                  <a:pos x="10854" y="8576"/>
                </a:cxn>
                <a:cxn ang="0">
                  <a:pos x="10754" y="8472"/>
                </a:cxn>
                <a:cxn ang="0">
                  <a:pos x="10150" y="7980"/>
                </a:cxn>
                <a:cxn ang="0">
                  <a:pos x="9479" y="7627"/>
                </a:cxn>
                <a:cxn ang="0">
                  <a:pos x="8762" y="7416"/>
                </a:cxn>
                <a:cxn ang="0">
                  <a:pos x="8025" y="7345"/>
                </a:cxn>
                <a:cxn ang="0">
                  <a:pos x="7287" y="7416"/>
                </a:cxn>
                <a:cxn ang="0">
                  <a:pos x="6571" y="7627"/>
                </a:cxn>
                <a:cxn ang="0">
                  <a:pos x="5900" y="7980"/>
                </a:cxn>
                <a:cxn ang="0">
                  <a:pos x="5297" y="8473"/>
                </a:cxn>
                <a:cxn ang="0">
                  <a:pos x="5198" y="8576"/>
                </a:cxn>
                <a:cxn ang="0">
                  <a:pos x="4197" y="7425"/>
                </a:cxn>
                <a:cxn ang="0">
                  <a:pos x="4843" y="6865"/>
                </a:cxn>
                <a:cxn ang="0">
                  <a:pos x="5758" y="6325"/>
                </a:cxn>
                <a:cxn ang="0">
                  <a:pos x="6743" y="5981"/>
                </a:cxn>
                <a:cxn ang="0">
                  <a:pos x="7766" y="5833"/>
                </a:cxn>
                <a:cxn ang="0">
                  <a:pos x="8797" y="5882"/>
                </a:cxn>
                <a:cxn ang="0">
                  <a:pos x="9806" y="6127"/>
                </a:cxn>
                <a:cxn ang="0">
                  <a:pos x="10760" y="6570"/>
                </a:cxn>
                <a:cxn ang="0">
                  <a:pos x="11627" y="7208"/>
                </a:cxn>
                <a:cxn ang="0">
                  <a:pos x="11903" y="7475"/>
                </a:cxn>
              </a:cxnLst>
              <a:rect l="0" t="0" r="r" b="b"/>
              <a:pathLst>
                <a:path w="16050" h="8576">
                  <a:moveTo>
                    <a:pt x="15950" y="3273"/>
                  </a:moveTo>
                  <a:lnTo>
                    <a:pt x="15975" y="3299"/>
                  </a:lnTo>
                  <a:lnTo>
                    <a:pt x="16000" y="3324"/>
                  </a:lnTo>
                  <a:lnTo>
                    <a:pt x="16025" y="3351"/>
                  </a:lnTo>
                  <a:lnTo>
                    <a:pt x="16050" y="3377"/>
                  </a:lnTo>
                  <a:lnTo>
                    <a:pt x="15025" y="4402"/>
                  </a:lnTo>
                  <a:lnTo>
                    <a:pt x="15000" y="4377"/>
                  </a:lnTo>
                  <a:lnTo>
                    <a:pt x="14975" y="4351"/>
                  </a:lnTo>
                  <a:lnTo>
                    <a:pt x="14950" y="4325"/>
                  </a:lnTo>
                  <a:lnTo>
                    <a:pt x="14923" y="4300"/>
                  </a:lnTo>
                  <a:lnTo>
                    <a:pt x="14560" y="3955"/>
                  </a:lnTo>
                  <a:lnTo>
                    <a:pt x="14184" y="3632"/>
                  </a:lnTo>
                  <a:lnTo>
                    <a:pt x="13796" y="3330"/>
                  </a:lnTo>
                  <a:lnTo>
                    <a:pt x="13396" y="3053"/>
                  </a:lnTo>
                  <a:lnTo>
                    <a:pt x="12984" y="2797"/>
                  </a:lnTo>
                  <a:lnTo>
                    <a:pt x="12564" y="2563"/>
                  </a:lnTo>
                  <a:lnTo>
                    <a:pt x="12136" y="2351"/>
                  </a:lnTo>
                  <a:lnTo>
                    <a:pt x="11698" y="2161"/>
                  </a:lnTo>
                  <a:lnTo>
                    <a:pt x="11254" y="1995"/>
                  </a:lnTo>
                  <a:lnTo>
                    <a:pt x="10805" y="1850"/>
                  </a:lnTo>
                  <a:lnTo>
                    <a:pt x="10349" y="1728"/>
                  </a:lnTo>
                  <a:lnTo>
                    <a:pt x="9889" y="1628"/>
                  </a:lnTo>
                  <a:lnTo>
                    <a:pt x="9426" y="1549"/>
                  </a:lnTo>
                  <a:lnTo>
                    <a:pt x="8960" y="1494"/>
                  </a:lnTo>
                  <a:lnTo>
                    <a:pt x="8492" y="1461"/>
                  </a:lnTo>
                  <a:lnTo>
                    <a:pt x="8024" y="1450"/>
                  </a:lnTo>
                  <a:lnTo>
                    <a:pt x="7556" y="1461"/>
                  </a:lnTo>
                  <a:lnTo>
                    <a:pt x="7087" y="1494"/>
                  </a:lnTo>
                  <a:lnTo>
                    <a:pt x="6622" y="1550"/>
                  </a:lnTo>
                  <a:lnTo>
                    <a:pt x="6158" y="1629"/>
                  </a:lnTo>
                  <a:lnTo>
                    <a:pt x="5699" y="1729"/>
                  </a:lnTo>
                  <a:lnTo>
                    <a:pt x="5243" y="1851"/>
                  </a:lnTo>
                  <a:lnTo>
                    <a:pt x="4793" y="1996"/>
                  </a:lnTo>
                  <a:lnTo>
                    <a:pt x="4350" y="2163"/>
                  </a:lnTo>
                  <a:lnTo>
                    <a:pt x="3912" y="2352"/>
                  </a:lnTo>
                  <a:lnTo>
                    <a:pt x="3483" y="2564"/>
                  </a:lnTo>
                  <a:lnTo>
                    <a:pt x="3064" y="2799"/>
                  </a:lnTo>
                  <a:lnTo>
                    <a:pt x="2652" y="3055"/>
                  </a:lnTo>
                  <a:lnTo>
                    <a:pt x="2253" y="3332"/>
                  </a:lnTo>
                  <a:lnTo>
                    <a:pt x="1864" y="3634"/>
                  </a:lnTo>
                  <a:lnTo>
                    <a:pt x="1488" y="3957"/>
                  </a:lnTo>
                  <a:lnTo>
                    <a:pt x="1125" y="4302"/>
                  </a:lnTo>
                  <a:lnTo>
                    <a:pt x="1099" y="4327"/>
                  </a:lnTo>
                  <a:lnTo>
                    <a:pt x="1075" y="4353"/>
                  </a:lnTo>
                  <a:lnTo>
                    <a:pt x="1050" y="4378"/>
                  </a:lnTo>
                  <a:lnTo>
                    <a:pt x="1025" y="4404"/>
                  </a:lnTo>
                  <a:lnTo>
                    <a:pt x="0" y="3378"/>
                  </a:lnTo>
                  <a:lnTo>
                    <a:pt x="24" y="3353"/>
                  </a:lnTo>
                  <a:lnTo>
                    <a:pt x="49" y="3326"/>
                  </a:lnTo>
                  <a:lnTo>
                    <a:pt x="74" y="3301"/>
                  </a:lnTo>
                  <a:lnTo>
                    <a:pt x="99" y="3276"/>
                  </a:lnTo>
                  <a:lnTo>
                    <a:pt x="516" y="2880"/>
                  </a:lnTo>
                  <a:lnTo>
                    <a:pt x="948" y="2509"/>
                  </a:lnTo>
                  <a:lnTo>
                    <a:pt x="1394" y="2162"/>
                  </a:lnTo>
                  <a:lnTo>
                    <a:pt x="1854" y="1843"/>
                  </a:lnTo>
                  <a:lnTo>
                    <a:pt x="2325" y="1549"/>
                  </a:lnTo>
                  <a:lnTo>
                    <a:pt x="2808" y="1280"/>
                  </a:lnTo>
                  <a:lnTo>
                    <a:pt x="3301" y="1037"/>
                  </a:lnTo>
                  <a:lnTo>
                    <a:pt x="3803" y="820"/>
                  </a:lnTo>
                  <a:lnTo>
                    <a:pt x="4312" y="627"/>
                  </a:lnTo>
                  <a:lnTo>
                    <a:pt x="4830" y="461"/>
                  </a:lnTo>
                  <a:lnTo>
                    <a:pt x="5353" y="320"/>
                  </a:lnTo>
                  <a:lnTo>
                    <a:pt x="5881" y="205"/>
                  </a:lnTo>
                  <a:lnTo>
                    <a:pt x="6413" y="115"/>
                  </a:lnTo>
                  <a:lnTo>
                    <a:pt x="6949" y="51"/>
                  </a:lnTo>
                  <a:lnTo>
                    <a:pt x="7485" y="13"/>
                  </a:lnTo>
                  <a:lnTo>
                    <a:pt x="8024" y="0"/>
                  </a:lnTo>
                  <a:lnTo>
                    <a:pt x="8562" y="13"/>
                  </a:lnTo>
                  <a:lnTo>
                    <a:pt x="9099" y="51"/>
                  </a:lnTo>
                  <a:lnTo>
                    <a:pt x="9634" y="115"/>
                  </a:lnTo>
                  <a:lnTo>
                    <a:pt x="10167" y="205"/>
                  </a:lnTo>
                  <a:lnTo>
                    <a:pt x="10694" y="319"/>
                  </a:lnTo>
                  <a:lnTo>
                    <a:pt x="11218" y="460"/>
                  </a:lnTo>
                  <a:lnTo>
                    <a:pt x="11735" y="626"/>
                  </a:lnTo>
                  <a:lnTo>
                    <a:pt x="12245" y="818"/>
                  </a:lnTo>
                  <a:lnTo>
                    <a:pt x="12747" y="1036"/>
                  </a:lnTo>
                  <a:lnTo>
                    <a:pt x="13239" y="1278"/>
                  </a:lnTo>
                  <a:lnTo>
                    <a:pt x="13722" y="1547"/>
                  </a:lnTo>
                  <a:lnTo>
                    <a:pt x="14194" y="1841"/>
                  </a:lnTo>
                  <a:lnTo>
                    <a:pt x="14654" y="2160"/>
                  </a:lnTo>
                  <a:lnTo>
                    <a:pt x="15100" y="2506"/>
                  </a:lnTo>
                  <a:lnTo>
                    <a:pt x="15532" y="2877"/>
                  </a:lnTo>
                  <a:lnTo>
                    <a:pt x="15950" y="3273"/>
                  </a:lnTo>
                  <a:close/>
                  <a:moveTo>
                    <a:pt x="14055" y="5373"/>
                  </a:moveTo>
                  <a:lnTo>
                    <a:pt x="12946" y="6481"/>
                  </a:lnTo>
                  <a:lnTo>
                    <a:pt x="12921" y="6456"/>
                  </a:lnTo>
                  <a:lnTo>
                    <a:pt x="12897" y="6430"/>
                  </a:lnTo>
                  <a:lnTo>
                    <a:pt x="12871" y="6404"/>
                  </a:lnTo>
                  <a:lnTo>
                    <a:pt x="12846" y="6379"/>
                  </a:lnTo>
                  <a:lnTo>
                    <a:pt x="12592" y="6137"/>
                  </a:lnTo>
                  <a:lnTo>
                    <a:pt x="12329" y="5912"/>
                  </a:lnTo>
                  <a:lnTo>
                    <a:pt x="12058" y="5702"/>
                  </a:lnTo>
                  <a:lnTo>
                    <a:pt x="11778" y="5507"/>
                  </a:lnTo>
                  <a:lnTo>
                    <a:pt x="11491" y="5328"/>
                  </a:lnTo>
                  <a:lnTo>
                    <a:pt x="11198" y="5165"/>
                  </a:lnTo>
                  <a:lnTo>
                    <a:pt x="10898" y="5017"/>
                  </a:lnTo>
                  <a:lnTo>
                    <a:pt x="10592" y="4885"/>
                  </a:lnTo>
                  <a:lnTo>
                    <a:pt x="10282" y="4768"/>
                  </a:lnTo>
                  <a:lnTo>
                    <a:pt x="9967" y="4667"/>
                  </a:lnTo>
                  <a:lnTo>
                    <a:pt x="9649" y="4582"/>
                  </a:lnTo>
                  <a:lnTo>
                    <a:pt x="9328" y="4512"/>
                  </a:lnTo>
                  <a:lnTo>
                    <a:pt x="9004" y="4457"/>
                  </a:lnTo>
                  <a:lnTo>
                    <a:pt x="8679" y="4418"/>
                  </a:lnTo>
                  <a:lnTo>
                    <a:pt x="8352" y="4395"/>
                  </a:lnTo>
                  <a:lnTo>
                    <a:pt x="8024" y="4387"/>
                  </a:lnTo>
                  <a:lnTo>
                    <a:pt x="7697" y="4395"/>
                  </a:lnTo>
                  <a:lnTo>
                    <a:pt x="7370" y="4418"/>
                  </a:lnTo>
                  <a:lnTo>
                    <a:pt x="7044" y="4457"/>
                  </a:lnTo>
                  <a:lnTo>
                    <a:pt x="6721" y="4512"/>
                  </a:lnTo>
                  <a:lnTo>
                    <a:pt x="6399" y="4582"/>
                  </a:lnTo>
                  <a:lnTo>
                    <a:pt x="6081" y="4668"/>
                  </a:lnTo>
                  <a:lnTo>
                    <a:pt x="5767" y="4769"/>
                  </a:lnTo>
                  <a:lnTo>
                    <a:pt x="5457" y="4886"/>
                  </a:lnTo>
                  <a:lnTo>
                    <a:pt x="5151" y="5018"/>
                  </a:lnTo>
                  <a:lnTo>
                    <a:pt x="4851" y="5166"/>
                  </a:lnTo>
                  <a:lnTo>
                    <a:pt x="4558" y="5329"/>
                  </a:lnTo>
                  <a:lnTo>
                    <a:pt x="4271" y="5509"/>
                  </a:lnTo>
                  <a:lnTo>
                    <a:pt x="3991" y="5703"/>
                  </a:lnTo>
                  <a:lnTo>
                    <a:pt x="3720" y="5913"/>
                  </a:lnTo>
                  <a:lnTo>
                    <a:pt x="3457" y="6139"/>
                  </a:lnTo>
                  <a:lnTo>
                    <a:pt x="3203" y="6380"/>
                  </a:lnTo>
                  <a:lnTo>
                    <a:pt x="3178" y="6406"/>
                  </a:lnTo>
                  <a:lnTo>
                    <a:pt x="3154" y="6431"/>
                  </a:lnTo>
                  <a:lnTo>
                    <a:pt x="3129" y="6456"/>
                  </a:lnTo>
                  <a:lnTo>
                    <a:pt x="3104" y="6482"/>
                  </a:lnTo>
                  <a:lnTo>
                    <a:pt x="1996" y="5374"/>
                  </a:lnTo>
                  <a:lnTo>
                    <a:pt x="2020" y="5348"/>
                  </a:lnTo>
                  <a:lnTo>
                    <a:pt x="2045" y="5322"/>
                  </a:lnTo>
                  <a:lnTo>
                    <a:pt x="2069" y="5297"/>
                  </a:lnTo>
                  <a:lnTo>
                    <a:pt x="2095" y="5272"/>
                  </a:lnTo>
                  <a:lnTo>
                    <a:pt x="2406" y="4975"/>
                  </a:lnTo>
                  <a:lnTo>
                    <a:pt x="2731" y="4697"/>
                  </a:lnTo>
                  <a:lnTo>
                    <a:pt x="3065" y="4439"/>
                  </a:lnTo>
                  <a:lnTo>
                    <a:pt x="3408" y="4199"/>
                  </a:lnTo>
                  <a:lnTo>
                    <a:pt x="3761" y="3980"/>
                  </a:lnTo>
                  <a:lnTo>
                    <a:pt x="4122" y="3779"/>
                  </a:lnTo>
                  <a:lnTo>
                    <a:pt x="4491" y="3596"/>
                  </a:lnTo>
                  <a:lnTo>
                    <a:pt x="4866" y="3434"/>
                  </a:lnTo>
                  <a:lnTo>
                    <a:pt x="5247" y="3290"/>
                  </a:lnTo>
                  <a:lnTo>
                    <a:pt x="5635" y="3166"/>
                  </a:lnTo>
                  <a:lnTo>
                    <a:pt x="6026" y="3061"/>
                  </a:lnTo>
                  <a:lnTo>
                    <a:pt x="6421" y="2974"/>
                  </a:lnTo>
                  <a:lnTo>
                    <a:pt x="6819" y="2907"/>
                  </a:lnTo>
                  <a:lnTo>
                    <a:pt x="7219" y="2859"/>
                  </a:lnTo>
                  <a:lnTo>
                    <a:pt x="7622" y="2831"/>
                  </a:lnTo>
                  <a:lnTo>
                    <a:pt x="8024" y="2821"/>
                  </a:lnTo>
                  <a:lnTo>
                    <a:pt x="8427" y="2831"/>
                  </a:lnTo>
                  <a:lnTo>
                    <a:pt x="8829" y="2859"/>
                  </a:lnTo>
                  <a:lnTo>
                    <a:pt x="9229" y="2907"/>
                  </a:lnTo>
                  <a:lnTo>
                    <a:pt x="9627" y="2973"/>
                  </a:lnTo>
                  <a:lnTo>
                    <a:pt x="10022" y="3060"/>
                  </a:lnTo>
                  <a:lnTo>
                    <a:pt x="10413" y="3165"/>
                  </a:lnTo>
                  <a:lnTo>
                    <a:pt x="10801" y="3289"/>
                  </a:lnTo>
                  <a:lnTo>
                    <a:pt x="11182" y="3433"/>
                  </a:lnTo>
                  <a:lnTo>
                    <a:pt x="11558" y="3595"/>
                  </a:lnTo>
                  <a:lnTo>
                    <a:pt x="11926" y="3777"/>
                  </a:lnTo>
                  <a:lnTo>
                    <a:pt x="12287" y="3978"/>
                  </a:lnTo>
                  <a:lnTo>
                    <a:pt x="12640" y="4198"/>
                  </a:lnTo>
                  <a:lnTo>
                    <a:pt x="12984" y="4437"/>
                  </a:lnTo>
                  <a:lnTo>
                    <a:pt x="13318" y="4696"/>
                  </a:lnTo>
                  <a:lnTo>
                    <a:pt x="13641" y="4973"/>
                  </a:lnTo>
                  <a:lnTo>
                    <a:pt x="13954" y="5270"/>
                  </a:lnTo>
                  <a:lnTo>
                    <a:pt x="13980" y="5295"/>
                  </a:lnTo>
                  <a:lnTo>
                    <a:pt x="14005" y="5321"/>
                  </a:lnTo>
                  <a:lnTo>
                    <a:pt x="14030" y="5347"/>
                  </a:lnTo>
                  <a:lnTo>
                    <a:pt x="14055" y="5373"/>
                  </a:lnTo>
                  <a:close/>
                  <a:moveTo>
                    <a:pt x="11928" y="7501"/>
                  </a:moveTo>
                  <a:lnTo>
                    <a:pt x="10854" y="8576"/>
                  </a:lnTo>
                  <a:lnTo>
                    <a:pt x="10829" y="8549"/>
                  </a:lnTo>
                  <a:lnTo>
                    <a:pt x="10805" y="8523"/>
                  </a:lnTo>
                  <a:lnTo>
                    <a:pt x="10780" y="8498"/>
                  </a:lnTo>
                  <a:lnTo>
                    <a:pt x="10754" y="8472"/>
                  </a:lnTo>
                  <a:lnTo>
                    <a:pt x="10610" y="8336"/>
                  </a:lnTo>
                  <a:lnTo>
                    <a:pt x="10462" y="8208"/>
                  </a:lnTo>
                  <a:lnTo>
                    <a:pt x="10307" y="8089"/>
                  </a:lnTo>
                  <a:lnTo>
                    <a:pt x="10150" y="7980"/>
                  </a:lnTo>
                  <a:lnTo>
                    <a:pt x="9987" y="7878"/>
                  </a:lnTo>
                  <a:lnTo>
                    <a:pt x="9821" y="7785"/>
                  </a:lnTo>
                  <a:lnTo>
                    <a:pt x="9651" y="7702"/>
                  </a:lnTo>
                  <a:lnTo>
                    <a:pt x="9479" y="7627"/>
                  </a:lnTo>
                  <a:lnTo>
                    <a:pt x="9303" y="7561"/>
                  </a:lnTo>
                  <a:lnTo>
                    <a:pt x="9124" y="7504"/>
                  </a:lnTo>
                  <a:lnTo>
                    <a:pt x="8945" y="7456"/>
                  </a:lnTo>
                  <a:lnTo>
                    <a:pt x="8762" y="7416"/>
                  </a:lnTo>
                  <a:lnTo>
                    <a:pt x="8580" y="7384"/>
                  </a:lnTo>
                  <a:lnTo>
                    <a:pt x="8395" y="7362"/>
                  </a:lnTo>
                  <a:lnTo>
                    <a:pt x="8210" y="7349"/>
                  </a:lnTo>
                  <a:lnTo>
                    <a:pt x="8025" y="7345"/>
                  </a:lnTo>
                  <a:lnTo>
                    <a:pt x="7839" y="7349"/>
                  </a:lnTo>
                  <a:lnTo>
                    <a:pt x="7655" y="7363"/>
                  </a:lnTo>
                  <a:lnTo>
                    <a:pt x="7470" y="7385"/>
                  </a:lnTo>
                  <a:lnTo>
                    <a:pt x="7287" y="7416"/>
                  </a:lnTo>
                  <a:lnTo>
                    <a:pt x="7105" y="7456"/>
                  </a:lnTo>
                  <a:lnTo>
                    <a:pt x="6926" y="7504"/>
                  </a:lnTo>
                  <a:lnTo>
                    <a:pt x="6747" y="7561"/>
                  </a:lnTo>
                  <a:lnTo>
                    <a:pt x="6571" y="7627"/>
                  </a:lnTo>
                  <a:lnTo>
                    <a:pt x="6399" y="7703"/>
                  </a:lnTo>
                  <a:lnTo>
                    <a:pt x="6229" y="7786"/>
                  </a:lnTo>
                  <a:lnTo>
                    <a:pt x="6063" y="7878"/>
                  </a:lnTo>
                  <a:lnTo>
                    <a:pt x="5900" y="7980"/>
                  </a:lnTo>
                  <a:lnTo>
                    <a:pt x="5742" y="8090"/>
                  </a:lnTo>
                  <a:lnTo>
                    <a:pt x="5588" y="8209"/>
                  </a:lnTo>
                  <a:lnTo>
                    <a:pt x="5440" y="8337"/>
                  </a:lnTo>
                  <a:lnTo>
                    <a:pt x="5297" y="8473"/>
                  </a:lnTo>
                  <a:lnTo>
                    <a:pt x="5271" y="8498"/>
                  </a:lnTo>
                  <a:lnTo>
                    <a:pt x="5246" y="8524"/>
                  </a:lnTo>
                  <a:lnTo>
                    <a:pt x="5222" y="8550"/>
                  </a:lnTo>
                  <a:lnTo>
                    <a:pt x="5198" y="8576"/>
                  </a:lnTo>
                  <a:lnTo>
                    <a:pt x="4123" y="7501"/>
                  </a:lnTo>
                  <a:lnTo>
                    <a:pt x="4147" y="7476"/>
                  </a:lnTo>
                  <a:lnTo>
                    <a:pt x="4172" y="7450"/>
                  </a:lnTo>
                  <a:lnTo>
                    <a:pt x="4197" y="7425"/>
                  </a:lnTo>
                  <a:lnTo>
                    <a:pt x="4222" y="7399"/>
                  </a:lnTo>
                  <a:lnTo>
                    <a:pt x="4422" y="7209"/>
                  </a:lnTo>
                  <a:lnTo>
                    <a:pt x="4629" y="7030"/>
                  </a:lnTo>
                  <a:lnTo>
                    <a:pt x="4843" y="6865"/>
                  </a:lnTo>
                  <a:lnTo>
                    <a:pt x="5064" y="6711"/>
                  </a:lnTo>
                  <a:lnTo>
                    <a:pt x="5290" y="6571"/>
                  </a:lnTo>
                  <a:lnTo>
                    <a:pt x="5522" y="6441"/>
                  </a:lnTo>
                  <a:lnTo>
                    <a:pt x="5758" y="6325"/>
                  </a:lnTo>
                  <a:lnTo>
                    <a:pt x="6000" y="6220"/>
                  </a:lnTo>
                  <a:lnTo>
                    <a:pt x="6243" y="6128"/>
                  </a:lnTo>
                  <a:lnTo>
                    <a:pt x="6492" y="6048"/>
                  </a:lnTo>
                  <a:lnTo>
                    <a:pt x="6743" y="5981"/>
                  </a:lnTo>
                  <a:lnTo>
                    <a:pt x="6997" y="5925"/>
                  </a:lnTo>
                  <a:lnTo>
                    <a:pt x="7252" y="5882"/>
                  </a:lnTo>
                  <a:lnTo>
                    <a:pt x="7508" y="5851"/>
                  </a:lnTo>
                  <a:lnTo>
                    <a:pt x="7766" y="5833"/>
                  </a:lnTo>
                  <a:lnTo>
                    <a:pt x="8025" y="5827"/>
                  </a:lnTo>
                  <a:lnTo>
                    <a:pt x="8283" y="5833"/>
                  </a:lnTo>
                  <a:lnTo>
                    <a:pt x="8541" y="5851"/>
                  </a:lnTo>
                  <a:lnTo>
                    <a:pt x="8797" y="5882"/>
                  </a:lnTo>
                  <a:lnTo>
                    <a:pt x="9053" y="5925"/>
                  </a:lnTo>
                  <a:lnTo>
                    <a:pt x="9306" y="5981"/>
                  </a:lnTo>
                  <a:lnTo>
                    <a:pt x="9557" y="6048"/>
                  </a:lnTo>
                  <a:lnTo>
                    <a:pt x="9806" y="6127"/>
                  </a:lnTo>
                  <a:lnTo>
                    <a:pt x="10050" y="6219"/>
                  </a:lnTo>
                  <a:lnTo>
                    <a:pt x="10291" y="6324"/>
                  </a:lnTo>
                  <a:lnTo>
                    <a:pt x="10528" y="6440"/>
                  </a:lnTo>
                  <a:lnTo>
                    <a:pt x="10760" y="6570"/>
                  </a:lnTo>
                  <a:lnTo>
                    <a:pt x="10985" y="6710"/>
                  </a:lnTo>
                  <a:lnTo>
                    <a:pt x="11206" y="6864"/>
                  </a:lnTo>
                  <a:lnTo>
                    <a:pt x="11421" y="7029"/>
                  </a:lnTo>
                  <a:lnTo>
                    <a:pt x="11627" y="7208"/>
                  </a:lnTo>
                  <a:lnTo>
                    <a:pt x="11828" y="7398"/>
                  </a:lnTo>
                  <a:lnTo>
                    <a:pt x="11853" y="7424"/>
                  </a:lnTo>
                  <a:lnTo>
                    <a:pt x="11878" y="7449"/>
                  </a:lnTo>
                  <a:lnTo>
                    <a:pt x="11903" y="7475"/>
                  </a:lnTo>
                  <a:lnTo>
                    <a:pt x="11928" y="7501"/>
                  </a:lnTo>
                  <a:close/>
                </a:path>
              </a:pathLst>
            </a:custGeom>
            <a:grpFill/>
            <a:ln w="9525">
              <a:noFill/>
              <a:round/>
              <a:headEnd/>
              <a:tailEnd/>
            </a:ln>
          </p:spPr>
          <p:txBody>
            <a:bodyPr/>
            <a:ls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a:lstStyle>
            <a:p>
              <a:pPr algn="ctr" eaLnBrk="1" fontAlgn="auto" hangingPunct="1">
                <a:spcBef>
                  <a:spcPts val="0"/>
                </a:spcBef>
                <a:spcAft>
                  <a:spcPts val="0"/>
                </a:spcAft>
                <a:defRPr/>
              </a:pPr>
              <a:endParaRPr lang="zh-CN" altLang="en-US" sz="1200" ker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pic>
        <p:nvPicPr>
          <p:cNvPr id="155" name="图片 154" descr="日志告警服务器-蓝.png"/>
          <p:cNvPicPr>
            <a:picLocks noChangeAspect="1"/>
          </p:cNvPicPr>
          <p:nvPr/>
        </p:nvPicPr>
        <p:blipFill>
          <a:blip r:embed="rId11" cstate="print"/>
          <a:stretch>
            <a:fillRect/>
          </a:stretch>
        </p:blipFill>
        <p:spPr bwMode="gray">
          <a:xfrm>
            <a:off x="3780310" y="4814587"/>
            <a:ext cx="445956" cy="278465"/>
          </a:xfrm>
          <a:prstGeom prst="rect">
            <a:avLst/>
          </a:prstGeom>
        </p:spPr>
      </p:pic>
      <p:sp>
        <p:nvSpPr>
          <p:cNvPr id="156" name="文本框 155"/>
          <p:cNvSpPr txBox="1"/>
          <p:nvPr/>
        </p:nvSpPr>
        <p:spPr bwMode="gray">
          <a:xfrm>
            <a:off x="4135695" y="4024003"/>
            <a:ext cx="460382" cy="276999"/>
          </a:xfrm>
          <a:prstGeom prst="rect">
            <a:avLst/>
          </a:prstGeom>
          <a:noFill/>
        </p:spPr>
        <p:txBody>
          <a:bodyPr wrap="none" rtlCol="0">
            <a:spAutoFit/>
          </a:bodyPr>
          <a:lstStyle/>
          <a:p>
            <a:pPr algn="r"/>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AP1</a:t>
            </a:r>
            <a:endParaRPr lang="zh-CN" altLang="en-US" sz="1200" b="1"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157" name="矩形 156"/>
          <p:cNvSpPr/>
          <p:nvPr/>
        </p:nvSpPr>
        <p:spPr bwMode="gray">
          <a:xfrm>
            <a:off x="3542131" y="5508487"/>
            <a:ext cx="975862" cy="251711"/>
          </a:xfrm>
          <a:prstGeom prst="rect">
            <a:avLst/>
          </a:prstGeom>
        </p:spPr>
        <p:txBody>
          <a:bodyPr wrap="square">
            <a:noAutofit/>
          </a:bodyPr>
          <a:lstStyle/>
          <a:p>
            <a:pPr fontAlgn="ctr"/>
            <a:r>
              <a:rPr lang="zh-CN" altLang="en-US" sz="1200" dirty="0" smtClean="0"/>
              <a:t>认证控制点</a:t>
            </a:r>
            <a:endParaRPr lang="en-US" altLang="zh-CN" sz="1200" dirty="0"/>
          </a:p>
        </p:txBody>
      </p:sp>
      <p:sp>
        <p:nvSpPr>
          <p:cNvPr id="158" name="椭圆 157"/>
          <p:cNvSpPr/>
          <p:nvPr/>
        </p:nvSpPr>
        <p:spPr bwMode="gray">
          <a:xfrm>
            <a:off x="1567187" y="3357551"/>
            <a:ext cx="118533" cy="118533"/>
          </a:xfrm>
          <a:prstGeom prst="ellipse">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endParaRPr lang="en-US" altLang="zh-CN" sz="1200" dirty="0"/>
          </a:p>
        </p:txBody>
      </p:sp>
      <p:sp>
        <p:nvSpPr>
          <p:cNvPr id="159" name="椭圆 158"/>
          <p:cNvSpPr/>
          <p:nvPr/>
        </p:nvSpPr>
        <p:spPr bwMode="gray">
          <a:xfrm>
            <a:off x="3457541" y="5575075"/>
            <a:ext cx="118533" cy="118533"/>
          </a:xfrm>
          <a:prstGeom prst="ellipse">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endParaRPr lang="en-US" altLang="zh-CN" sz="1200" dirty="0"/>
          </a:p>
        </p:txBody>
      </p:sp>
      <p:cxnSp>
        <p:nvCxnSpPr>
          <p:cNvPr id="160" name="曲线连接符 159"/>
          <p:cNvCxnSpPr>
            <a:stCxn id="141" idx="3"/>
            <a:endCxn id="146" idx="3"/>
          </p:cNvCxnSpPr>
          <p:nvPr/>
        </p:nvCxnSpPr>
        <p:spPr bwMode="gray">
          <a:xfrm>
            <a:off x="1639766" y="3403590"/>
            <a:ext cx="12700" cy="768416"/>
          </a:xfrm>
          <a:prstGeom prst="curvedConnector3">
            <a:avLst>
              <a:gd name="adj1" fmla="val 1800000"/>
            </a:avLst>
          </a:prstGeom>
          <a:ln>
            <a:solidFill>
              <a:srgbClr val="ED6D00"/>
            </a:solidFill>
            <a:prstDash val="dash"/>
          </a:ln>
        </p:spPr>
        <p:style>
          <a:lnRef idx="1">
            <a:schemeClr val="accent1"/>
          </a:lnRef>
          <a:fillRef idx="0">
            <a:schemeClr val="accent1"/>
          </a:fillRef>
          <a:effectRef idx="0">
            <a:schemeClr val="accent1"/>
          </a:effectRef>
          <a:fontRef idx="minor">
            <a:schemeClr val="tx1"/>
          </a:fontRef>
        </p:style>
      </p:cxnSp>
      <p:sp>
        <p:nvSpPr>
          <p:cNvPr id="161" name="文本框 91"/>
          <p:cNvSpPr txBox="1"/>
          <p:nvPr/>
        </p:nvSpPr>
        <p:spPr bwMode="gray">
          <a:xfrm>
            <a:off x="1982944" y="3751498"/>
            <a:ext cx="800220" cy="276999"/>
          </a:xfrm>
          <a:prstGeom prst="rect">
            <a:avLst/>
          </a:prstGeom>
          <a:noFill/>
        </p:spPr>
        <p:txBody>
          <a:bodyPr wrap="none" rtlCol="0">
            <a:spAutoFit/>
          </a:bodyPr>
          <a:ls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a:lstStyle>
          <a:p>
            <a:pPr algn="ctr"/>
            <a:r>
              <a:rPr lang="zh-CN" altLang="en-US" sz="1200" dirty="0" smtClean="0">
                <a:solidFill>
                  <a:srgbClr val="ED6D00"/>
                </a:solidFill>
                <a:latin typeface="Huawei Sans" panose="020C0503030203020204" pitchFamily="34" charset="0"/>
                <a:ea typeface="方正兰亭黑简体" panose="02000000000000000000" pitchFamily="2" charset="-122"/>
                <a:cs typeface="Huawei Sans" panose="020C0503030203020204" pitchFamily="34" charset="0"/>
              </a:rPr>
              <a:t>策略联动</a:t>
            </a:r>
            <a:endParaRPr lang="en-US" altLang="zh-CN" sz="1200" dirty="0" smtClean="0">
              <a:solidFill>
                <a:srgbClr val="ED6D00"/>
              </a:solidFill>
              <a:latin typeface="Huawei Sans" panose="020C0503030203020204" pitchFamily="34" charset="0"/>
              <a:ea typeface="方正兰亭黑简体" panose="02000000000000000000" pitchFamily="2" charset="-122"/>
              <a:cs typeface="Huawei Sans" panose="020C0503030203020204" pitchFamily="34" charset="0"/>
            </a:endParaRPr>
          </a:p>
        </p:txBody>
      </p:sp>
      <p:cxnSp>
        <p:nvCxnSpPr>
          <p:cNvPr id="162" name="曲线连接符 161"/>
          <p:cNvCxnSpPr>
            <a:stCxn id="142" idx="1"/>
            <a:endCxn id="147" idx="1"/>
          </p:cNvCxnSpPr>
          <p:nvPr/>
        </p:nvCxnSpPr>
        <p:spPr bwMode="gray">
          <a:xfrm rot="10800000" flipV="1">
            <a:off x="3131532" y="3403590"/>
            <a:ext cx="12700" cy="768416"/>
          </a:xfrm>
          <a:prstGeom prst="curvedConnector3">
            <a:avLst>
              <a:gd name="adj1" fmla="val 1800000"/>
            </a:avLst>
          </a:prstGeom>
          <a:ln>
            <a:solidFill>
              <a:srgbClr val="ED6D00"/>
            </a:solidFill>
            <a:prstDash val="dash"/>
          </a:ln>
        </p:spPr>
        <p:style>
          <a:lnRef idx="1">
            <a:schemeClr val="accent1"/>
          </a:lnRef>
          <a:fillRef idx="0">
            <a:schemeClr val="accent1"/>
          </a:fillRef>
          <a:effectRef idx="0">
            <a:schemeClr val="accent1"/>
          </a:effectRef>
          <a:fontRef idx="minor">
            <a:schemeClr val="tx1"/>
          </a:fontRef>
        </p:style>
      </p:cxnSp>
      <p:sp>
        <p:nvSpPr>
          <p:cNvPr id="163" name="椭圆 162"/>
          <p:cNvSpPr/>
          <p:nvPr/>
        </p:nvSpPr>
        <p:spPr bwMode="gray">
          <a:xfrm>
            <a:off x="3086766" y="3357551"/>
            <a:ext cx="118533" cy="118533"/>
          </a:xfrm>
          <a:prstGeom prst="ellipse">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endParaRPr lang="en-US" altLang="zh-CN" sz="1200" dirty="0"/>
          </a:p>
        </p:txBody>
      </p:sp>
      <p:sp>
        <p:nvSpPr>
          <p:cNvPr id="164" name="文本框 94"/>
          <p:cNvSpPr txBox="1"/>
          <p:nvPr/>
        </p:nvSpPr>
        <p:spPr bwMode="gray">
          <a:xfrm>
            <a:off x="2458524" y="4043252"/>
            <a:ext cx="631904" cy="276999"/>
          </a:xfrm>
          <a:prstGeom prst="rect">
            <a:avLst/>
          </a:prstGeom>
          <a:noFill/>
        </p:spPr>
        <p:txBody>
          <a:bodyPr wrap="none" rtlCol="0">
            <a:spAutoFit/>
          </a:bodyPr>
          <a:ls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a:lstStyle>
          <a:p>
            <a:pPr algn="r"/>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ACC_2</a:t>
            </a:r>
          </a:p>
        </p:txBody>
      </p:sp>
      <p:pic>
        <p:nvPicPr>
          <p:cNvPr id="165" name="图片 164" descr="PC.png">
            <a:extLst>
              <a:ext uri="{FF2B5EF4-FFF2-40B4-BE49-F238E27FC236}">
                <a16:creationId xmlns:a16="http://schemas.microsoft.com/office/drawing/2014/main" xmlns="" xmlns:lc="http://schemas.openxmlformats.org/drawingml/2006/lockedCanvas" id="{4666702E-823D-4236-BF2F-880359158C83}"/>
              </a:ext>
            </a:extLst>
          </p:cNvPr>
          <p:cNvPicPr>
            <a:picLocks noChangeAspect="1"/>
          </p:cNvPicPr>
          <p:nvPr/>
        </p:nvPicPr>
        <p:blipFill>
          <a:blip r:embed="rId5" cstate="print"/>
          <a:stretch>
            <a:fillRect/>
          </a:stretch>
        </p:blipFill>
        <p:spPr bwMode="gray">
          <a:xfrm>
            <a:off x="3131919" y="4790434"/>
            <a:ext cx="445506" cy="342149"/>
          </a:xfrm>
          <a:prstGeom prst="rect">
            <a:avLst/>
          </a:prstGeom>
        </p:spPr>
      </p:pic>
      <p:sp>
        <p:nvSpPr>
          <p:cNvPr id="166" name="矩形 165"/>
          <p:cNvSpPr/>
          <p:nvPr/>
        </p:nvSpPr>
        <p:spPr bwMode="gray">
          <a:xfrm>
            <a:off x="3542131" y="5739246"/>
            <a:ext cx="975862" cy="251711"/>
          </a:xfrm>
          <a:prstGeom prst="rect">
            <a:avLst/>
          </a:prstGeom>
        </p:spPr>
        <p:txBody>
          <a:bodyPr wrap="square">
            <a:noAutofit/>
          </a:bodyPr>
          <a:lstStyle/>
          <a:p>
            <a:pPr fontAlgn="ctr"/>
            <a:r>
              <a:rPr lang="zh-CN" altLang="en-US" sz="1200" dirty="0" smtClean="0"/>
              <a:t>认证执行点</a:t>
            </a:r>
            <a:endParaRPr lang="en-US" altLang="zh-CN" sz="1200" dirty="0"/>
          </a:p>
        </p:txBody>
      </p:sp>
      <p:sp>
        <p:nvSpPr>
          <p:cNvPr id="167" name="椭圆 166"/>
          <p:cNvSpPr/>
          <p:nvPr/>
        </p:nvSpPr>
        <p:spPr bwMode="gray">
          <a:xfrm>
            <a:off x="3457541" y="5805834"/>
            <a:ext cx="118533" cy="118533"/>
          </a:xfrm>
          <a:prstGeom prst="ellipse">
            <a:avLst/>
          </a:prstGeom>
          <a:solidFill>
            <a:srgbClr val="ED6D00"/>
          </a:solidFill>
          <a:ln>
            <a:solidFill>
              <a:srgbClr val="FAD3BB"/>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endParaRPr lang="en-US" altLang="zh-CN" sz="1200" dirty="0"/>
          </a:p>
        </p:txBody>
      </p:sp>
      <p:cxnSp>
        <p:nvCxnSpPr>
          <p:cNvPr id="168" name="Straight Connector 166"/>
          <p:cNvCxnSpPr>
            <a:stCxn id="146" idx="2"/>
            <a:endCxn id="131" idx="0"/>
          </p:cNvCxnSpPr>
          <p:nvPr/>
        </p:nvCxnSpPr>
        <p:spPr bwMode="gray">
          <a:xfrm flipH="1">
            <a:off x="1416625" y="4354575"/>
            <a:ext cx="1" cy="43585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9" name="Straight Connector 166"/>
          <p:cNvCxnSpPr>
            <a:stCxn id="147" idx="2"/>
            <a:endCxn id="165" idx="0"/>
          </p:cNvCxnSpPr>
          <p:nvPr/>
        </p:nvCxnSpPr>
        <p:spPr bwMode="gray">
          <a:xfrm flipH="1">
            <a:off x="3354672" y="4354575"/>
            <a:ext cx="1" cy="43585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70" name="椭圆 169"/>
          <p:cNvSpPr/>
          <p:nvPr/>
        </p:nvSpPr>
        <p:spPr bwMode="gray">
          <a:xfrm>
            <a:off x="1567187" y="4121691"/>
            <a:ext cx="118533" cy="118533"/>
          </a:xfrm>
          <a:prstGeom prst="ellipse">
            <a:avLst/>
          </a:prstGeom>
          <a:solidFill>
            <a:srgbClr val="ED6D00"/>
          </a:solidFill>
          <a:ln>
            <a:solidFill>
              <a:srgbClr val="FAD3BB"/>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endParaRPr lang="en-US" altLang="zh-CN" sz="1200" dirty="0"/>
          </a:p>
        </p:txBody>
      </p:sp>
      <p:sp>
        <p:nvSpPr>
          <p:cNvPr id="171" name="椭圆 170"/>
          <p:cNvSpPr/>
          <p:nvPr/>
        </p:nvSpPr>
        <p:spPr bwMode="gray">
          <a:xfrm>
            <a:off x="3086766" y="4121691"/>
            <a:ext cx="118533" cy="118533"/>
          </a:xfrm>
          <a:prstGeom prst="ellipse">
            <a:avLst/>
          </a:prstGeom>
          <a:solidFill>
            <a:srgbClr val="ED6D00"/>
          </a:solidFill>
          <a:ln>
            <a:solidFill>
              <a:srgbClr val="FAD3BB"/>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endParaRPr lang="en-US" altLang="zh-CN" sz="1200" dirty="0"/>
          </a:p>
        </p:txBody>
      </p:sp>
      <p:sp>
        <p:nvSpPr>
          <p:cNvPr id="172" name="五边形 171"/>
          <p:cNvSpPr/>
          <p:nvPr/>
        </p:nvSpPr>
        <p:spPr bwMode="gray">
          <a:xfrm>
            <a:off x="5773628" y="98481"/>
            <a:ext cx="9000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站点管理</a:t>
            </a:r>
          </a:p>
        </p:txBody>
      </p:sp>
      <p:sp>
        <p:nvSpPr>
          <p:cNvPr id="173" name="燕尾形 172"/>
          <p:cNvSpPr/>
          <p:nvPr/>
        </p:nvSpPr>
        <p:spPr bwMode="gray">
          <a:xfrm>
            <a:off x="9109268" y="9848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逻辑网络</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74" name="燕尾形 173"/>
          <p:cNvSpPr/>
          <p:nvPr/>
        </p:nvSpPr>
        <p:spPr bwMode="gray">
          <a:xfrm>
            <a:off x="9925178" y="9848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业务部署</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75" name="燕尾形 174"/>
          <p:cNvSpPr/>
          <p:nvPr/>
        </p:nvSpPr>
        <p:spPr bwMode="gray">
          <a:xfrm>
            <a:off x="8221358" y="98481"/>
            <a:ext cx="9720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Fabric</a:t>
            </a: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网络</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76" name="燕尾形 175"/>
          <p:cNvSpPr/>
          <p:nvPr/>
        </p:nvSpPr>
        <p:spPr bwMode="gray">
          <a:xfrm>
            <a:off x="7405448" y="9848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网络规划</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77" name="燕尾形 176"/>
          <p:cNvSpPr/>
          <p:nvPr/>
        </p:nvSpPr>
        <p:spPr bwMode="gray">
          <a:xfrm>
            <a:off x="6589538" y="9848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设备管理</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78" name="燕尾形 177"/>
          <p:cNvSpPr/>
          <p:nvPr/>
        </p:nvSpPr>
        <p:spPr bwMode="gray">
          <a:xfrm>
            <a:off x="10741088" y="98481"/>
            <a:ext cx="1008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WLAN</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业务</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3517843461"/>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normAutofit/>
          </a:bodyPr>
          <a:lstStyle/>
          <a:p>
            <a:r>
              <a:rPr lang="zh-CN" altLang="en-US" dirty="0" smtClean="0"/>
              <a:t>逻辑网络</a:t>
            </a:r>
            <a:endParaRPr lang="en-US" altLang="zh-CN" dirty="0"/>
          </a:p>
        </p:txBody>
      </p:sp>
      <p:sp>
        <p:nvSpPr>
          <p:cNvPr id="3" name="文本占位符 2"/>
          <p:cNvSpPr>
            <a:spLocks noGrp="1"/>
          </p:cNvSpPr>
          <p:nvPr>
            <p:ph type="body" sz="quarter" idx="10"/>
          </p:nvPr>
        </p:nvSpPr>
        <p:spPr bwMode="gray">
          <a:xfrm>
            <a:off x="455612" y="1047751"/>
            <a:ext cx="11293475" cy="993824"/>
          </a:xfrm>
        </p:spPr>
        <p:txBody>
          <a:bodyPr/>
          <a:lstStyle/>
          <a:p>
            <a:r>
              <a:rPr lang="en-US" altLang="zh-CN" sz="2000" dirty="0" smtClean="0"/>
              <a:t>Fabric</a:t>
            </a:r>
            <a:r>
              <a:rPr lang="zh-CN" altLang="en-US" sz="2000" dirty="0" smtClean="0"/>
              <a:t>创建完成后，就可以选取其中的网络资源，创建</a:t>
            </a:r>
            <a:r>
              <a:rPr lang="en-US" altLang="zh-CN" sz="2000" dirty="0" smtClean="0"/>
              <a:t>VN</a:t>
            </a:r>
            <a:r>
              <a:rPr lang="zh-CN" altLang="en-US" sz="2000" dirty="0" smtClean="0"/>
              <a:t>实例。</a:t>
            </a:r>
            <a:endParaRPr lang="en-US" altLang="zh-CN" sz="2000" dirty="0" smtClean="0"/>
          </a:p>
          <a:p>
            <a:r>
              <a:rPr lang="zh-CN" altLang="en-US" sz="2000" dirty="0" smtClean="0"/>
              <a:t>若不同</a:t>
            </a:r>
            <a:r>
              <a:rPr lang="en-US" altLang="zh-CN" sz="2000" dirty="0" smtClean="0"/>
              <a:t>VN</a:t>
            </a:r>
            <a:r>
              <a:rPr lang="zh-CN" altLang="en-US" sz="2000" dirty="0" smtClean="0"/>
              <a:t>的接入用户想要互访，还需要配置</a:t>
            </a:r>
            <a:r>
              <a:rPr lang="en-US" altLang="zh-CN" sz="2000" dirty="0" smtClean="0"/>
              <a:t>VN</a:t>
            </a:r>
            <a:r>
              <a:rPr lang="zh-CN" altLang="en-US" sz="2000" dirty="0" smtClean="0"/>
              <a:t>互通。</a:t>
            </a:r>
          </a:p>
          <a:p>
            <a:endParaRPr lang="zh-CN" altLang="en-US" sz="2000" dirty="0"/>
          </a:p>
        </p:txBody>
      </p:sp>
      <p:sp>
        <p:nvSpPr>
          <p:cNvPr id="11" name="五边形 10"/>
          <p:cNvSpPr/>
          <p:nvPr/>
        </p:nvSpPr>
        <p:spPr bwMode="gray">
          <a:xfrm>
            <a:off x="5773628" y="98481"/>
            <a:ext cx="9000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smtClean="0">
                <a:latin typeface="Huawei Sans" panose="020C0503030203020204" pitchFamily="34" charset="0"/>
                <a:ea typeface="方正兰亭黑简体" panose="02000000000000000000" pitchFamily="2" charset="-122"/>
                <a:sym typeface="Huawei Sans" panose="020C0503030203020204" pitchFamily="34" charset="0"/>
              </a:rPr>
              <a:t>站点管理</a:t>
            </a:r>
            <a:endPar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 name="燕尾形 11"/>
          <p:cNvSpPr/>
          <p:nvPr/>
        </p:nvSpPr>
        <p:spPr bwMode="gray">
          <a:xfrm>
            <a:off x="9109268" y="98481"/>
            <a:ext cx="9000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smtClean="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逻辑网络</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 name="燕尾形 12"/>
          <p:cNvSpPr/>
          <p:nvPr/>
        </p:nvSpPr>
        <p:spPr bwMode="gray">
          <a:xfrm>
            <a:off x="9925178" y="9848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业务部署</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 name="燕尾形 13"/>
          <p:cNvSpPr/>
          <p:nvPr/>
        </p:nvSpPr>
        <p:spPr bwMode="gray">
          <a:xfrm>
            <a:off x="8221358" y="98481"/>
            <a:ext cx="972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smtClean="0">
                <a:latin typeface="Huawei Sans" panose="020C0503030203020204" pitchFamily="34" charset="0"/>
                <a:ea typeface="方正兰亭黑简体" panose="02000000000000000000" pitchFamily="2" charset="-122"/>
                <a:sym typeface="Huawei Sans" panose="020C0503030203020204" pitchFamily="34" charset="0"/>
              </a:rPr>
              <a:t>Fabric</a:t>
            </a:r>
            <a:r>
              <a:rPr lang="zh-CN" altLang="en-US" sz="1200" kern="0" dirty="0" smtClean="0">
                <a:latin typeface="Huawei Sans" panose="020C0503030203020204" pitchFamily="34" charset="0"/>
                <a:ea typeface="方正兰亭黑简体" panose="02000000000000000000" pitchFamily="2" charset="-122"/>
                <a:sym typeface="Huawei Sans" panose="020C0503030203020204" pitchFamily="34" charset="0"/>
              </a:rPr>
              <a:t>网络</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5" name="燕尾形 14"/>
          <p:cNvSpPr/>
          <p:nvPr/>
        </p:nvSpPr>
        <p:spPr bwMode="gray">
          <a:xfrm>
            <a:off x="7405448" y="9848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网络规划</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 name="燕尾形 15"/>
          <p:cNvSpPr/>
          <p:nvPr/>
        </p:nvSpPr>
        <p:spPr bwMode="gray">
          <a:xfrm>
            <a:off x="6589538" y="9848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设备管理</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9" name="圆角矩形 18"/>
          <p:cNvSpPr/>
          <p:nvPr/>
        </p:nvSpPr>
        <p:spPr bwMode="gray">
          <a:xfrm>
            <a:off x="1352875" y="3065318"/>
            <a:ext cx="3990111" cy="3120679"/>
          </a:xfrm>
          <a:prstGeom prst="roundRect">
            <a:avLst>
              <a:gd name="adj" fmla="val 3166"/>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20" name="Freeform 159"/>
          <p:cNvSpPr/>
          <p:nvPr/>
        </p:nvSpPr>
        <p:spPr bwMode="gray">
          <a:xfrm flipH="1">
            <a:off x="1854032" y="3397884"/>
            <a:ext cx="2670047" cy="1528484"/>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rgbClr val="E3F6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Huawei Sans" panose="020C0503030203020204" pitchFamily="34" charset="0"/>
              <a:ea typeface="方正兰亭黑简体" panose="02000000000000000000" pitchFamily="2" charset="-122"/>
            </a:endParaRPr>
          </a:p>
        </p:txBody>
      </p:sp>
      <p:cxnSp>
        <p:nvCxnSpPr>
          <p:cNvPr id="21" name="Straight Connector 166"/>
          <p:cNvCxnSpPr>
            <a:stCxn id="39" idx="2"/>
            <a:endCxn id="23" idx="0"/>
          </p:cNvCxnSpPr>
          <p:nvPr/>
        </p:nvCxnSpPr>
        <p:spPr bwMode="gray">
          <a:xfrm>
            <a:off x="2205664" y="4682721"/>
            <a:ext cx="0" cy="40327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166"/>
          <p:cNvCxnSpPr>
            <a:stCxn id="40" idx="2"/>
            <a:endCxn id="24" idx="0"/>
          </p:cNvCxnSpPr>
          <p:nvPr/>
        </p:nvCxnSpPr>
        <p:spPr bwMode="gray">
          <a:xfrm>
            <a:off x="4136465" y="4682721"/>
            <a:ext cx="0" cy="40327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23" name="图片 76" descr="接入交换机.png"/>
          <p:cNvPicPr>
            <a:picLocks noChangeAspect="1"/>
          </p:cNvPicPr>
          <p:nvPr/>
        </p:nvPicPr>
        <p:blipFill>
          <a:blip r:embed="rId3" cstate="print"/>
          <a:stretch>
            <a:fillRect/>
          </a:stretch>
        </p:blipFill>
        <p:spPr bwMode="gray">
          <a:xfrm>
            <a:off x="1982523" y="5085998"/>
            <a:ext cx="446281" cy="365139"/>
          </a:xfrm>
          <a:prstGeom prst="rect">
            <a:avLst/>
          </a:prstGeom>
        </p:spPr>
      </p:pic>
      <p:pic>
        <p:nvPicPr>
          <p:cNvPr id="24" name="图片 23" descr="接入交换机.png"/>
          <p:cNvPicPr>
            <a:picLocks noChangeAspect="1"/>
          </p:cNvPicPr>
          <p:nvPr/>
        </p:nvPicPr>
        <p:blipFill>
          <a:blip r:embed="rId3" cstate="print"/>
          <a:stretch>
            <a:fillRect/>
          </a:stretch>
        </p:blipFill>
        <p:spPr bwMode="gray">
          <a:xfrm>
            <a:off x="3913324" y="5085998"/>
            <a:ext cx="446281" cy="365139"/>
          </a:xfrm>
          <a:prstGeom prst="rect">
            <a:avLst/>
          </a:prstGeom>
        </p:spPr>
      </p:pic>
      <p:sp>
        <p:nvSpPr>
          <p:cNvPr id="25" name="文本框 24"/>
          <p:cNvSpPr txBox="1"/>
          <p:nvPr/>
        </p:nvSpPr>
        <p:spPr bwMode="gray">
          <a:xfrm>
            <a:off x="1368059" y="3239953"/>
            <a:ext cx="468398" cy="307777"/>
          </a:xfrm>
          <a:prstGeom prst="rect">
            <a:avLst/>
          </a:prstGeom>
          <a:noFill/>
        </p:spPr>
        <p:txBody>
          <a:bodyPr wrap="none" rtlCol="0">
            <a:spAutoFit/>
          </a:bodyPr>
          <a:lstStyle/>
          <a:p>
            <a:r>
              <a:rPr lang="en-US" altLang="zh-CN" sz="1400" b="1" dirty="0" smtClean="0">
                <a:latin typeface="Huawei Sans" panose="020C0503030203020204" pitchFamily="34" charset="0"/>
                <a:ea typeface="方正兰亭黑简体" panose="02000000000000000000" pitchFamily="2" charset="-122"/>
                <a:cs typeface="Huawei Sans" panose="020C0503030203020204" pitchFamily="34" charset="0"/>
              </a:rPr>
              <a:t>HQ</a:t>
            </a:r>
            <a:endParaRPr lang="zh-CN" altLang="en-US" sz="1400" b="1" dirty="0">
              <a:latin typeface="Huawei Sans" panose="020C0503030203020204" pitchFamily="34" charset="0"/>
              <a:ea typeface="方正兰亭黑简体" panose="02000000000000000000" pitchFamily="2" charset="-122"/>
              <a:cs typeface="Huawei Sans" panose="020C0503030203020204" pitchFamily="34" charset="0"/>
            </a:endParaRPr>
          </a:p>
        </p:txBody>
      </p:sp>
      <p:pic>
        <p:nvPicPr>
          <p:cNvPr id="26" name="图片 105" descr="AP.png"/>
          <p:cNvPicPr>
            <a:picLocks noChangeAspect="1"/>
          </p:cNvPicPr>
          <p:nvPr/>
        </p:nvPicPr>
        <p:blipFill>
          <a:blip r:embed="rId4" cstate="print"/>
          <a:stretch>
            <a:fillRect/>
          </a:stretch>
        </p:blipFill>
        <p:spPr bwMode="gray">
          <a:xfrm>
            <a:off x="4819883" y="5117683"/>
            <a:ext cx="368827" cy="301768"/>
          </a:xfrm>
          <a:prstGeom prst="rect">
            <a:avLst/>
          </a:prstGeom>
        </p:spPr>
      </p:pic>
      <p:cxnSp>
        <p:nvCxnSpPr>
          <p:cNvPr id="27" name="Straight Connector 166"/>
          <p:cNvCxnSpPr>
            <a:stCxn id="24" idx="3"/>
            <a:endCxn id="26" idx="1"/>
          </p:cNvCxnSpPr>
          <p:nvPr/>
        </p:nvCxnSpPr>
        <p:spPr bwMode="gray">
          <a:xfrm flipV="1">
            <a:off x="4359605" y="5268567"/>
            <a:ext cx="460278" cy="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29" name="图片 14" descr="日志告警服务器-蓝.png"/>
          <p:cNvPicPr>
            <a:picLocks noChangeAspect="1"/>
          </p:cNvPicPr>
          <p:nvPr/>
        </p:nvPicPr>
        <p:blipFill>
          <a:blip r:embed="rId5" cstate="print"/>
          <a:stretch>
            <a:fillRect/>
          </a:stretch>
        </p:blipFill>
        <p:spPr bwMode="gray">
          <a:xfrm>
            <a:off x="4774810" y="5629534"/>
            <a:ext cx="445956" cy="278465"/>
          </a:xfrm>
          <a:prstGeom prst="rect">
            <a:avLst/>
          </a:prstGeom>
        </p:spPr>
      </p:pic>
      <p:pic>
        <p:nvPicPr>
          <p:cNvPr id="30" name="图片 29" descr="PC.png">
            <a:extLst>
              <a:ext uri="{FF2B5EF4-FFF2-40B4-BE49-F238E27FC236}">
                <a16:creationId xmlns="" xmlns:a16="http://schemas.microsoft.com/office/drawing/2014/main" id="{4666702E-823D-4236-BF2F-880359158C83}"/>
              </a:ext>
            </a:extLst>
          </p:cNvPr>
          <p:cNvPicPr>
            <a:picLocks noChangeAspect="1"/>
          </p:cNvPicPr>
          <p:nvPr/>
        </p:nvPicPr>
        <p:blipFill>
          <a:blip r:embed="rId6" cstate="print"/>
          <a:stretch>
            <a:fillRect/>
          </a:stretch>
        </p:blipFill>
        <p:spPr bwMode="gray">
          <a:xfrm>
            <a:off x="1982910" y="5601257"/>
            <a:ext cx="445506" cy="342149"/>
          </a:xfrm>
          <a:prstGeom prst="rect">
            <a:avLst/>
          </a:prstGeom>
        </p:spPr>
      </p:pic>
      <p:pic>
        <p:nvPicPr>
          <p:cNvPr id="31" name="图片 30" descr="PC.png">
            <a:extLst>
              <a:ext uri="{FF2B5EF4-FFF2-40B4-BE49-F238E27FC236}">
                <a16:creationId xmlns="" xmlns:a16="http://schemas.microsoft.com/office/drawing/2014/main" id="{4666702E-823D-4236-BF2F-880359158C83}"/>
              </a:ext>
            </a:extLst>
          </p:cNvPr>
          <p:cNvPicPr>
            <a:picLocks noChangeAspect="1"/>
          </p:cNvPicPr>
          <p:nvPr/>
        </p:nvPicPr>
        <p:blipFill>
          <a:blip r:embed="rId6" cstate="print"/>
          <a:stretch>
            <a:fillRect/>
          </a:stretch>
        </p:blipFill>
        <p:spPr bwMode="gray">
          <a:xfrm>
            <a:off x="3913711" y="5600924"/>
            <a:ext cx="445506" cy="342149"/>
          </a:xfrm>
          <a:prstGeom prst="rect">
            <a:avLst/>
          </a:prstGeom>
        </p:spPr>
      </p:pic>
      <p:cxnSp>
        <p:nvCxnSpPr>
          <p:cNvPr id="33" name="Straight Connector 167"/>
          <p:cNvCxnSpPr/>
          <p:nvPr/>
        </p:nvCxnSpPr>
        <p:spPr bwMode="gray">
          <a:xfrm flipH="1">
            <a:off x="2206374" y="3623489"/>
            <a:ext cx="971589" cy="876201"/>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34" name="Straight Connector 167"/>
          <p:cNvCxnSpPr/>
          <p:nvPr/>
        </p:nvCxnSpPr>
        <p:spPr bwMode="gray">
          <a:xfrm flipH="1" flipV="1">
            <a:off x="3174584" y="3621012"/>
            <a:ext cx="975076" cy="883934"/>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pic>
        <p:nvPicPr>
          <p:cNvPr id="35" name="图片 86" descr="核心交换机.png"/>
          <p:cNvPicPr>
            <a:picLocks noChangeAspect="1"/>
          </p:cNvPicPr>
          <p:nvPr/>
        </p:nvPicPr>
        <p:blipFill>
          <a:blip r:embed="rId7" cstate="print"/>
          <a:stretch>
            <a:fillRect/>
          </a:stretch>
        </p:blipFill>
        <p:spPr bwMode="gray">
          <a:xfrm>
            <a:off x="2962216" y="3440920"/>
            <a:ext cx="446281" cy="365139"/>
          </a:xfrm>
          <a:prstGeom prst="rect">
            <a:avLst/>
          </a:prstGeom>
        </p:spPr>
      </p:pic>
      <p:sp>
        <p:nvSpPr>
          <p:cNvPr id="36" name="文本框 35"/>
          <p:cNvSpPr txBox="1"/>
          <p:nvPr/>
        </p:nvSpPr>
        <p:spPr bwMode="gray">
          <a:xfrm>
            <a:off x="2364909" y="3466875"/>
            <a:ext cx="651140" cy="276999"/>
          </a:xfrm>
          <a:prstGeom prst="rect">
            <a:avLst/>
          </a:prstGeom>
          <a:noFill/>
        </p:spPr>
        <p:txBody>
          <a:bodyPr wrap="none" rtlCol="0">
            <a:spAutoFit/>
          </a:bodyPr>
          <a:lstStyle/>
          <a:p>
            <a:pPr algn="ctr"/>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Border</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37" name="文本框 36"/>
          <p:cNvSpPr txBox="1"/>
          <p:nvPr/>
        </p:nvSpPr>
        <p:spPr bwMode="gray">
          <a:xfrm>
            <a:off x="1369569" y="4532409"/>
            <a:ext cx="684803" cy="276999"/>
          </a:xfrm>
          <a:prstGeom prst="rect">
            <a:avLst/>
          </a:prstGeom>
          <a:noFill/>
        </p:spPr>
        <p:txBody>
          <a:bodyPr wrap="none" rtlCol="0">
            <a:spAutoFit/>
          </a:bodyPr>
          <a:lstStyle/>
          <a:p>
            <a:pPr algn="r"/>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Edge_1</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38" name="文本框 37"/>
          <p:cNvSpPr txBox="1"/>
          <p:nvPr/>
        </p:nvSpPr>
        <p:spPr bwMode="gray">
          <a:xfrm>
            <a:off x="1422468" y="5121948"/>
            <a:ext cx="631904" cy="276999"/>
          </a:xfrm>
          <a:prstGeom prst="rect">
            <a:avLst/>
          </a:prstGeom>
          <a:noFill/>
        </p:spPr>
        <p:txBody>
          <a:bodyPr wrap="none" rtlCol="0">
            <a:spAutoFit/>
          </a:bodyPr>
          <a:lstStyle/>
          <a:p>
            <a:pPr algn="r"/>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ACC_1</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pic>
        <p:nvPicPr>
          <p:cNvPr id="39" name="图片 87" descr="汇聚交换机.png"/>
          <p:cNvPicPr>
            <a:picLocks noChangeAspect="1"/>
          </p:cNvPicPr>
          <p:nvPr/>
        </p:nvPicPr>
        <p:blipFill>
          <a:blip r:embed="rId8" cstate="print"/>
          <a:stretch>
            <a:fillRect/>
          </a:stretch>
        </p:blipFill>
        <p:spPr bwMode="gray">
          <a:xfrm>
            <a:off x="1982523" y="4317582"/>
            <a:ext cx="446281" cy="365139"/>
          </a:xfrm>
          <a:prstGeom prst="rect">
            <a:avLst/>
          </a:prstGeom>
        </p:spPr>
      </p:pic>
      <p:pic>
        <p:nvPicPr>
          <p:cNvPr id="40" name="图片 87" descr="汇聚交换机.png"/>
          <p:cNvPicPr>
            <a:picLocks noChangeAspect="1"/>
          </p:cNvPicPr>
          <p:nvPr/>
        </p:nvPicPr>
        <p:blipFill>
          <a:blip r:embed="rId8" cstate="print"/>
          <a:stretch>
            <a:fillRect/>
          </a:stretch>
        </p:blipFill>
        <p:spPr bwMode="gray">
          <a:xfrm>
            <a:off x="3913324" y="4317582"/>
            <a:ext cx="446281" cy="365139"/>
          </a:xfrm>
          <a:prstGeom prst="rect">
            <a:avLst/>
          </a:prstGeom>
        </p:spPr>
      </p:pic>
      <p:sp>
        <p:nvSpPr>
          <p:cNvPr id="41" name="文本框 40"/>
          <p:cNvSpPr txBox="1"/>
          <p:nvPr/>
        </p:nvSpPr>
        <p:spPr bwMode="gray">
          <a:xfrm>
            <a:off x="4317134" y="4532409"/>
            <a:ext cx="684803" cy="276999"/>
          </a:xfrm>
          <a:prstGeom prst="rect">
            <a:avLst/>
          </a:prstGeom>
          <a:noFill/>
        </p:spPr>
        <p:txBody>
          <a:bodyPr wrap="none" rtlCol="0">
            <a:spAutoFit/>
          </a:bodyPr>
          <a:lstStyle/>
          <a:p>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Edge_2</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42" name="文本框 41"/>
          <p:cNvSpPr txBox="1"/>
          <p:nvPr/>
        </p:nvSpPr>
        <p:spPr bwMode="gray">
          <a:xfrm>
            <a:off x="4767597" y="4875462"/>
            <a:ext cx="460382" cy="276999"/>
          </a:xfrm>
          <a:prstGeom prst="rect">
            <a:avLst/>
          </a:prstGeom>
          <a:noFill/>
        </p:spPr>
        <p:txBody>
          <a:bodyPr wrap="none" rtlCol="0">
            <a:spAutoFit/>
          </a:bodyPr>
          <a:lstStyle/>
          <a:p>
            <a:pPr algn="ctr"/>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AP1</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43" name="文本框 42"/>
          <p:cNvSpPr txBox="1"/>
          <p:nvPr/>
        </p:nvSpPr>
        <p:spPr bwMode="gray">
          <a:xfrm>
            <a:off x="1978678" y="5908998"/>
            <a:ext cx="453970" cy="276999"/>
          </a:xfrm>
          <a:prstGeom prst="rect">
            <a:avLst/>
          </a:prstGeom>
          <a:noFill/>
        </p:spPr>
        <p:txBody>
          <a:bodyPr wrap="none" rtlCol="0">
            <a:spAutoFit/>
          </a:bodyPr>
          <a:lstStyle/>
          <a:p>
            <a:pPr algn="ctr"/>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PC1</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44" name="文本框 43"/>
          <p:cNvSpPr txBox="1"/>
          <p:nvPr/>
        </p:nvSpPr>
        <p:spPr bwMode="gray">
          <a:xfrm>
            <a:off x="3909479" y="5908998"/>
            <a:ext cx="453970" cy="276999"/>
          </a:xfrm>
          <a:prstGeom prst="rect">
            <a:avLst/>
          </a:prstGeom>
          <a:noFill/>
        </p:spPr>
        <p:txBody>
          <a:bodyPr wrap="none" rtlCol="0">
            <a:spAutoFit/>
          </a:bodyPr>
          <a:lstStyle/>
          <a:p>
            <a:pPr algn="ctr"/>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PC2</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cxnSp>
        <p:nvCxnSpPr>
          <p:cNvPr id="45" name="Straight Connector 166"/>
          <p:cNvCxnSpPr>
            <a:stCxn id="23" idx="2"/>
            <a:endCxn id="30" idx="0"/>
          </p:cNvCxnSpPr>
          <p:nvPr/>
        </p:nvCxnSpPr>
        <p:spPr bwMode="gray">
          <a:xfrm flipH="1">
            <a:off x="2205663" y="5451137"/>
            <a:ext cx="1" cy="15012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Straight Connector 166"/>
          <p:cNvCxnSpPr>
            <a:stCxn id="24" idx="2"/>
            <a:endCxn id="31" idx="0"/>
          </p:cNvCxnSpPr>
          <p:nvPr/>
        </p:nvCxnSpPr>
        <p:spPr bwMode="gray">
          <a:xfrm flipH="1">
            <a:off x="4136464" y="5451137"/>
            <a:ext cx="1" cy="14978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47" name="文本框 46"/>
          <p:cNvSpPr txBox="1"/>
          <p:nvPr/>
        </p:nvSpPr>
        <p:spPr bwMode="gray">
          <a:xfrm>
            <a:off x="4777311" y="5908998"/>
            <a:ext cx="453970" cy="276999"/>
          </a:xfrm>
          <a:prstGeom prst="rect">
            <a:avLst/>
          </a:prstGeom>
          <a:noFill/>
        </p:spPr>
        <p:txBody>
          <a:bodyPr wrap="none" rtlCol="0">
            <a:spAutoFit/>
          </a:bodyPr>
          <a:lstStyle/>
          <a:p>
            <a:pPr algn="ctr"/>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PC3</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50" name="文本框 49"/>
          <p:cNvSpPr txBox="1"/>
          <p:nvPr/>
        </p:nvSpPr>
        <p:spPr bwMode="gray">
          <a:xfrm>
            <a:off x="3309100" y="5121948"/>
            <a:ext cx="631904" cy="276999"/>
          </a:xfrm>
          <a:prstGeom prst="rect">
            <a:avLst/>
          </a:prstGeom>
          <a:noFill/>
        </p:spPr>
        <p:txBody>
          <a:bodyPr wrap="none" rtlCol="0">
            <a:spAutoFit/>
          </a:bodyPr>
          <a:lstStyle/>
          <a:p>
            <a:pPr algn="r"/>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ACC_2</a:t>
            </a:r>
          </a:p>
        </p:txBody>
      </p:sp>
      <p:sp>
        <p:nvSpPr>
          <p:cNvPr id="66" name="梯形 65"/>
          <p:cNvSpPr/>
          <p:nvPr/>
        </p:nvSpPr>
        <p:spPr bwMode="gray">
          <a:xfrm>
            <a:off x="1509868" y="4057781"/>
            <a:ext cx="3221543" cy="501291"/>
          </a:xfrm>
          <a:prstGeom prst="trapezoid">
            <a:avLst>
              <a:gd name="adj" fmla="val 22961"/>
            </a:avLst>
          </a:prstGeom>
          <a:gradFill flip="none" rotWithShape="1">
            <a:gsLst>
              <a:gs pos="0">
                <a:schemeClr val="bg1">
                  <a:alpha val="4000"/>
                </a:schemeClr>
              </a:gs>
              <a:gs pos="100000">
                <a:srgbClr val="EEB3B8"/>
              </a:gs>
            </a:gsLst>
            <a:lin ang="5400000" scaled="1"/>
            <a:tileRect/>
          </a:gradFill>
          <a:ln>
            <a:gradFill flip="none" rotWithShape="1">
              <a:gsLst>
                <a:gs pos="0">
                  <a:schemeClr val="accent1">
                    <a:lumMod val="5000"/>
                    <a:lumOff val="95000"/>
                    <a:alpha val="0"/>
                  </a:schemeClr>
                </a:gs>
                <a:gs pos="82000">
                  <a:srgbClr val="E28189"/>
                </a:gs>
              </a:gsLst>
              <a:lin ang="54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7" name="梯形 66"/>
          <p:cNvSpPr/>
          <p:nvPr/>
        </p:nvSpPr>
        <p:spPr bwMode="gray">
          <a:xfrm>
            <a:off x="1509868" y="3667278"/>
            <a:ext cx="3221543" cy="501291"/>
          </a:xfrm>
          <a:prstGeom prst="trapezoid">
            <a:avLst>
              <a:gd name="adj" fmla="val 22961"/>
            </a:avLst>
          </a:prstGeom>
          <a:gradFill flip="none" rotWithShape="1">
            <a:gsLst>
              <a:gs pos="0">
                <a:schemeClr val="bg1">
                  <a:alpha val="4000"/>
                </a:schemeClr>
              </a:gs>
              <a:gs pos="100000">
                <a:schemeClr val="accent2">
                  <a:lumMod val="20000"/>
                  <a:lumOff val="80000"/>
                </a:schemeClr>
              </a:gs>
            </a:gsLst>
            <a:lin ang="5400000" scaled="1"/>
            <a:tileRect/>
          </a:gradFill>
          <a:ln>
            <a:gradFill flip="none" rotWithShape="1">
              <a:gsLst>
                <a:gs pos="0">
                  <a:schemeClr val="accent1">
                    <a:lumMod val="5000"/>
                    <a:lumOff val="95000"/>
                    <a:alpha val="0"/>
                  </a:schemeClr>
                </a:gs>
                <a:gs pos="82000">
                  <a:schemeClr val="accent2">
                    <a:lumMod val="60000"/>
                    <a:lumOff val="40000"/>
                  </a:schemeClr>
                </a:gs>
              </a:gsLst>
              <a:lin ang="54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9" name="文本框 68"/>
          <p:cNvSpPr txBox="1"/>
          <p:nvPr/>
        </p:nvSpPr>
        <p:spPr bwMode="gray">
          <a:xfrm>
            <a:off x="2673727" y="4292408"/>
            <a:ext cx="875561" cy="276999"/>
          </a:xfrm>
          <a:prstGeom prst="rect">
            <a:avLst/>
          </a:prstGeom>
          <a:noFill/>
        </p:spPr>
        <p:txBody>
          <a:bodyPr wrap="none" rtlCol="0">
            <a:spAutoFit/>
          </a:bodyPr>
          <a:lstStyle/>
          <a:p>
            <a:pPr algn="ctr"/>
            <a:r>
              <a:rPr lang="en-US" altLang="zh-CN" sz="1200" b="1" dirty="0">
                <a:latin typeface="Huawei Sans" panose="020C0503030203020204" pitchFamily="34" charset="0"/>
                <a:ea typeface="方正兰亭黑简体" panose="02000000000000000000" pitchFamily="2" charset="-122"/>
                <a:cs typeface="Huawei Sans" panose="020C0503030203020204" pitchFamily="34" charset="0"/>
              </a:rPr>
              <a:t>OA</a:t>
            </a:r>
            <a:r>
              <a:rPr lang="zh-CN" altLang="en-US" sz="1200" b="1" dirty="0" smtClean="0">
                <a:latin typeface="Huawei Sans" panose="020C0503030203020204" pitchFamily="34" charset="0"/>
                <a:ea typeface="方正兰亭黑简体" panose="02000000000000000000" pitchFamily="2" charset="-122"/>
                <a:cs typeface="Huawei Sans" panose="020C0503030203020204" pitchFamily="34" charset="0"/>
              </a:rPr>
              <a:t>虚拟网</a:t>
            </a:r>
            <a:endParaRPr lang="zh-CN" altLang="en-US" sz="1200" b="1"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70" name="文本框 69"/>
          <p:cNvSpPr txBox="1"/>
          <p:nvPr/>
        </p:nvSpPr>
        <p:spPr bwMode="gray">
          <a:xfrm>
            <a:off x="2688405" y="3876921"/>
            <a:ext cx="859530" cy="276999"/>
          </a:xfrm>
          <a:prstGeom prst="rect">
            <a:avLst/>
          </a:prstGeom>
          <a:noFill/>
        </p:spPr>
        <p:txBody>
          <a:bodyPr wrap="none" rtlCol="0">
            <a:spAutoFit/>
          </a:bodyPr>
          <a:lstStyle/>
          <a:p>
            <a:pPr algn="ctr"/>
            <a:r>
              <a:rPr lang="en-US" altLang="zh-CN" sz="1200" b="1" dirty="0" smtClean="0">
                <a:latin typeface="Huawei Sans" panose="020C0503030203020204" pitchFamily="34" charset="0"/>
                <a:ea typeface="方正兰亭黑简体" panose="02000000000000000000" pitchFamily="2" charset="-122"/>
                <a:cs typeface="Huawei Sans" panose="020C0503030203020204" pitchFamily="34" charset="0"/>
              </a:rPr>
              <a:t>RD</a:t>
            </a:r>
            <a:r>
              <a:rPr lang="zh-CN" altLang="en-US" sz="1200" b="1" dirty="0" smtClean="0">
                <a:latin typeface="Huawei Sans" panose="020C0503030203020204" pitchFamily="34" charset="0"/>
                <a:ea typeface="方正兰亭黑简体" panose="02000000000000000000" pitchFamily="2" charset="-122"/>
                <a:cs typeface="Huawei Sans" panose="020C0503030203020204" pitchFamily="34" charset="0"/>
              </a:rPr>
              <a:t>虚拟网</a:t>
            </a:r>
            <a:endParaRPr lang="zh-CN" altLang="en-US" sz="1200" b="1" dirty="0">
              <a:latin typeface="Huawei Sans" panose="020C0503030203020204" pitchFamily="34" charset="0"/>
              <a:ea typeface="方正兰亭黑简体" panose="02000000000000000000" pitchFamily="2" charset="-122"/>
              <a:cs typeface="Huawei Sans" panose="020C0503030203020204" pitchFamily="34" charset="0"/>
            </a:endParaRPr>
          </a:p>
        </p:txBody>
      </p:sp>
      <p:grpSp>
        <p:nvGrpSpPr>
          <p:cNvPr id="71" name="组合 758"/>
          <p:cNvGrpSpPr/>
          <p:nvPr/>
        </p:nvGrpSpPr>
        <p:grpSpPr bwMode="gray">
          <a:xfrm flipV="1">
            <a:off x="4913331" y="5439222"/>
            <a:ext cx="168914" cy="131950"/>
            <a:chOff x="7440613" y="4868863"/>
            <a:chExt cx="1019175" cy="828675"/>
          </a:xfrm>
          <a:solidFill>
            <a:schemeClr val="bg1">
              <a:lumMod val="50000"/>
            </a:schemeClr>
          </a:solidFill>
        </p:grpSpPr>
        <p:sp>
          <p:nvSpPr>
            <p:cNvPr id="72" name="Freeform 15"/>
            <p:cNvSpPr>
              <a:spLocks/>
            </p:cNvSpPr>
            <p:nvPr/>
          </p:nvSpPr>
          <p:spPr bwMode="gray">
            <a:xfrm>
              <a:off x="7832726" y="5462588"/>
              <a:ext cx="234950" cy="234950"/>
            </a:xfrm>
            <a:custGeom>
              <a:avLst/>
              <a:gdLst/>
              <a:ahLst/>
              <a:cxnLst>
                <a:cxn ang="0">
                  <a:pos x="3281" y="680"/>
                </a:cxn>
                <a:cxn ang="0">
                  <a:pos x="3439" y="907"/>
                </a:cxn>
                <a:cxn ang="0">
                  <a:pos x="3559" y="1151"/>
                </a:cxn>
                <a:cxn ang="0">
                  <a:pos x="3642" y="1406"/>
                </a:cxn>
                <a:cxn ang="0">
                  <a:pos x="3686" y="1670"/>
                </a:cxn>
                <a:cxn ang="0">
                  <a:pos x="3693" y="1936"/>
                </a:cxn>
                <a:cxn ang="0">
                  <a:pos x="3661" y="2201"/>
                </a:cxn>
                <a:cxn ang="0">
                  <a:pos x="3591" y="2460"/>
                </a:cxn>
                <a:cxn ang="0">
                  <a:pos x="3484" y="2708"/>
                </a:cxn>
                <a:cxn ang="0">
                  <a:pos x="3339" y="2941"/>
                </a:cxn>
                <a:cxn ang="0">
                  <a:pos x="3155" y="3155"/>
                </a:cxn>
                <a:cxn ang="0">
                  <a:pos x="2941" y="3339"/>
                </a:cxn>
                <a:cxn ang="0">
                  <a:pos x="2708" y="3484"/>
                </a:cxn>
                <a:cxn ang="0">
                  <a:pos x="2460" y="3592"/>
                </a:cxn>
                <a:cxn ang="0">
                  <a:pos x="2201" y="3661"/>
                </a:cxn>
                <a:cxn ang="0">
                  <a:pos x="1936" y="3693"/>
                </a:cxn>
                <a:cxn ang="0">
                  <a:pos x="1670" y="3687"/>
                </a:cxn>
                <a:cxn ang="0">
                  <a:pos x="1408" y="3643"/>
                </a:cxn>
                <a:cxn ang="0">
                  <a:pos x="1152" y="3561"/>
                </a:cxn>
                <a:cxn ang="0">
                  <a:pos x="908" y="3440"/>
                </a:cxn>
                <a:cxn ang="0">
                  <a:pos x="680" y="3282"/>
                </a:cxn>
                <a:cxn ang="0">
                  <a:pos x="475" y="3086"/>
                </a:cxn>
                <a:cxn ang="0">
                  <a:pos x="304" y="2866"/>
                </a:cxn>
                <a:cxn ang="0">
                  <a:pos x="172" y="2627"/>
                </a:cxn>
                <a:cxn ang="0">
                  <a:pos x="76" y="2374"/>
                </a:cxn>
                <a:cxn ang="0">
                  <a:pos x="19" y="2114"/>
                </a:cxn>
                <a:cxn ang="0">
                  <a:pos x="0" y="1848"/>
                </a:cxn>
                <a:cxn ang="0">
                  <a:pos x="19" y="1582"/>
                </a:cxn>
                <a:cxn ang="0">
                  <a:pos x="76" y="1321"/>
                </a:cxn>
                <a:cxn ang="0">
                  <a:pos x="171" y="1069"/>
                </a:cxn>
                <a:cxn ang="0">
                  <a:pos x="304" y="830"/>
                </a:cxn>
                <a:cxn ang="0">
                  <a:pos x="475" y="609"/>
                </a:cxn>
                <a:cxn ang="0">
                  <a:pos x="680" y="414"/>
                </a:cxn>
                <a:cxn ang="0">
                  <a:pos x="907" y="255"/>
                </a:cxn>
                <a:cxn ang="0">
                  <a:pos x="1151" y="135"/>
                </a:cxn>
                <a:cxn ang="0">
                  <a:pos x="1407" y="52"/>
                </a:cxn>
                <a:cxn ang="0">
                  <a:pos x="1669" y="8"/>
                </a:cxn>
                <a:cxn ang="0">
                  <a:pos x="1936" y="2"/>
                </a:cxn>
                <a:cxn ang="0">
                  <a:pos x="2201" y="33"/>
                </a:cxn>
                <a:cxn ang="0">
                  <a:pos x="2459" y="104"/>
                </a:cxn>
                <a:cxn ang="0">
                  <a:pos x="2708" y="211"/>
                </a:cxn>
                <a:cxn ang="0">
                  <a:pos x="2940" y="356"/>
                </a:cxn>
                <a:cxn ang="0">
                  <a:pos x="3154" y="539"/>
                </a:cxn>
              </a:cxnLst>
              <a:rect l="0" t="0" r="r" b="b"/>
              <a:pathLst>
                <a:path w="3695" h="3695">
                  <a:moveTo>
                    <a:pt x="3154" y="539"/>
                  </a:moveTo>
                  <a:lnTo>
                    <a:pt x="3220" y="608"/>
                  </a:lnTo>
                  <a:lnTo>
                    <a:pt x="3281" y="680"/>
                  </a:lnTo>
                  <a:lnTo>
                    <a:pt x="3338" y="754"/>
                  </a:lnTo>
                  <a:lnTo>
                    <a:pt x="3391" y="829"/>
                  </a:lnTo>
                  <a:lnTo>
                    <a:pt x="3439" y="907"/>
                  </a:lnTo>
                  <a:lnTo>
                    <a:pt x="3483" y="987"/>
                  </a:lnTo>
                  <a:lnTo>
                    <a:pt x="3523" y="1068"/>
                  </a:lnTo>
                  <a:lnTo>
                    <a:pt x="3559" y="1151"/>
                  </a:lnTo>
                  <a:lnTo>
                    <a:pt x="3591" y="1235"/>
                  </a:lnTo>
                  <a:lnTo>
                    <a:pt x="3619" y="1320"/>
                  </a:lnTo>
                  <a:lnTo>
                    <a:pt x="3642" y="1406"/>
                  </a:lnTo>
                  <a:lnTo>
                    <a:pt x="3661" y="1493"/>
                  </a:lnTo>
                  <a:lnTo>
                    <a:pt x="3676" y="1582"/>
                  </a:lnTo>
                  <a:lnTo>
                    <a:pt x="3686" y="1670"/>
                  </a:lnTo>
                  <a:lnTo>
                    <a:pt x="3693" y="1758"/>
                  </a:lnTo>
                  <a:lnTo>
                    <a:pt x="3695" y="1847"/>
                  </a:lnTo>
                  <a:lnTo>
                    <a:pt x="3693" y="1936"/>
                  </a:lnTo>
                  <a:lnTo>
                    <a:pt x="3686" y="2024"/>
                  </a:lnTo>
                  <a:lnTo>
                    <a:pt x="3676" y="2113"/>
                  </a:lnTo>
                  <a:lnTo>
                    <a:pt x="3661" y="2201"/>
                  </a:lnTo>
                  <a:lnTo>
                    <a:pt x="3642" y="2288"/>
                  </a:lnTo>
                  <a:lnTo>
                    <a:pt x="3619" y="2374"/>
                  </a:lnTo>
                  <a:lnTo>
                    <a:pt x="3591" y="2460"/>
                  </a:lnTo>
                  <a:lnTo>
                    <a:pt x="3559" y="2544"/>
                  </a:lnTo>
                  <a:lnTo>
                    <a:pt x="3524" y="2626"/>
                  </a:lnTo>
                  <a:lnTo>
                    <a:pt x="3484" y="2708"/>
                  </a:lnTo>
                  <a:lnTo>
                    <a:pt x="3439" y="2788"/>
                  </a:lnTo>
                  <a:lnTo>
                    <a:pt x="3391" y="2865"/>
                  </a:lnTo>
                  <a:lnTo>
                    <a:pt x="3339" y="2941"/>
                  </a:lnTo>
                  <a:lnTo>
                    <a:pt x="3281" y="3015"/>
                  </a:lnTo>
                  <a:lnTo>
                    <a:pt x="3220" y="3086"/>
                  </a:lnTo>
                  <a:lnTo>
                    <a:pt x="3155" y="3155"/>
                  </a:lnTo>
                  <a:lnTo>
                    <a:pt x="3086" y="3220"/>
                  </a:lnTo>
                  <a:lnTo>
                    <a:pt x="3015" y="3282"/>
                  </a:lnTo>
                  <a:lnTo>
                    <a:pt x="2941" y="3339"/>
                  </a:lnTo>
                  <a:lnTo>
                    <a:pt x="2865" y="3391"/>
                  </a:lnTo>
                  <a:lnTo>
                    <a:pt x="2788" y="3440"/>
                  </a:lnTo>
                  <a:lnTo>
                    <a:pt x="2708" y="3484"/>
                  </a:lnTo>
                  <a:lnTo>
                    <a:pt x="2626" y="3524"/>
                  </a:lnTo>
                  <a:lnTo>
                    <a:pt x="2544" y="3560"/>
                  </a:lnTo>
                  <a:lnTo>
                    <a:pt x="2460" y="3592"/>
                  </a:lnTo>
                  <a:lnTo>
                    <a:pt x="2375" y="3619"/>
                  </a:lnTo>
                  <a:lnTo>
                    <a:pt x="2288" y="3643"/>
                  </a:lnTo>
                  <a:lnTo>
                    <a:pt x="2201" y="3661"/>
                  </a:lnTo>
                  <a:lnTo>
                    <a:pt x="2114" y="3676"/>
                  </a:lnTo>
                  <a:lnTo>
                    <a:pt x="2026" y="3687"/>
                  </a:lnTo>
                  <a:lnTo>
                    <a:pt x="1936" y="3693"/>
                  </a:lnTo>
                  <a:lnTo>
                    <a:pt x="1848" y="3695"/>
                  </a:lnTo>
                  <a:lnTo>
                    <a:pt x="1759" y="3693"/>
                  </a:lnTo>
                  <a:lnTo>
                    <a:pt x="1670" y="3687"/>
                  </a:lnTo>
                  <a:lnTo>
                    <a:pt x="1582" y="3676"/>
                  </a:lnTo>
                  <a:lnTo>
                    <a:pt x="1495" y="3662"/>
                  </a:lnTo>
                  <a:lnTo>
                    <a:pt x="1408" y="3643"/>
                  </a:lnTo>
                  <a:lnTo>
                    <a:pt x="1321" y="3620"/>
                  </a:lnTo>
                  <a:lnTo>
                    <a:pt x="1236" y="3592"/>
                  </a:lnTo>
                  <a:lnTo>
                    <a:pt x="1152" y="3561"/>
                  </a:lnTo>
                  <a:lnTo>
                    <a:pt x="1069" y="3524"/>
                  </a:lnTo>
                  <a:lnTo>
                    <a:pt x="987" y="3484"/>
                  </a:lnTo>
                  <a:lnTo>
                    <a:pt x="908" y="3440"/>
                  </a:lnTo>
                  <a:lnTo>
                    <a:pt x="830" y="3391"/>
                  </a:lnTo>
                  <a:lnTo>
                    <a:pt x="755" y="3339"/>
                  </a:lnTo>
                  <a:lnTo>
                    <a:pt x="680" y="3282"/>
                  </a:lnTo>
                  <a:lnTo>
                    <a:pt x="609" y="3220"/>
                  </a:lnTo>
                  <a:lnTo>
                    <a:pt x="541" y="3155"/>
                  </a:lnTo>
                  <a:lnTo>
                    <a:pt x="475" y="3086"/>
                  </a:lnTo>
                  <a:lnTo>
                    <a:pt x="414" y="3015"/>
                  </a:lnTo>
                  <a:lnTo>
                    <a:pt x="357" y="2941"/>
                  </a:lnTo>
                  <a:lnTo>
                    <a:pt x="304" y="2866"/>
                  </a:lnTo>
                  <a:lnTo>
                    <a:pt x="256" y="2788"/>
                  </a:lnTo>
                  <a:lnTo>
                    <a:pt x="212" y="2709"/>
                  </a:lnTo>
                  <a:lnTo>
                    <a:pt x="172" y="2627"/>
                  </a:lnTo>
                  <a:lnTo>
                    <a:pt x="136" y="2544"/>
                  </a:lnTo>
                  <a:lnTo>
                    <a:pt x="104" y="2460"/>
                  </a:lnTo>
                  <a:lnTo>
                    <a:pt x="76" y="2374"/>
                  </a:lnTo>
                  <a:lnTo>
                    <a:pt x="53" y="2288"/>
                  </a:lnTo>
                  <a:lnTo>
                    <a:pt x="34" y="2201"/>
                  </a:lnTo>
                  <a:lnTo>
                    <a:pt x="19" y="2114"/>
                  </a:lnTo>
                  <a:lnTo>
                    <a:pt x="9" y="2025"/>
                  </a:lnTo>
                  <a:lnTo>
                    <a:pt x="2" y="1937"/>
                  </a:lnTo>
                  <a:lnTo>
                    <a:pt x="0" y="1848"/>
                  </a:lnTo>
                  <a:lnTo>
                    <a:pt x="2" y="1759"/>
                  </a:lnTo>
                  <a:lnTo>
                    <a:pt x="9" y="1670"/>
                  </a:lnTo>
                  <a:lnTo>
                    <a:pt x="19" y="1582"/>
                  </a:lnTo>
                  <a:lnTo>
                    <a:pt x="34" y="1494"/>
                  </a:lnTo>
                  <a:lnTo>
                    <a:pt x="53" y="1407"/>
                  </a:lnTo>
                  <a:lnTo>
                    <a:pt x="76" y="1321"/>
                  </a:lnTo>
                  <a:lnTo>
                    <a:pt x="104" y="1236"/>
                  </a:lnTo>
                  <a:lnTo>
                    <a:pt x="136" y="1151"/>
                  </a:lnTo>
                  <a:lnTo>
                    <a:pt x="171" y="1069"/>
                  </a:lnTo>
                  <a:lnTo>
                    <a:pt x="211" y="988"/>
                  </a:lnTo>
                  <a:lnTo>
                    <a:pt x="255" y="907"/>
                  </a:lnTo>
                  <a:lnTo>
                    <a:pt x="304" y="830"/>
                  </a:lnTo>
                  <a:lnTo>
                    <a:pt x="356" y="754"/>
                  </a:lnTo>
                  <a:lnTo>
                    <a:pt x="414" y="681"/>
                  </a:lnTo>
                  <a:lnTo>
                    <a:pt x="475" y="609"/>
                  </a:lnTo>
                  <a:lnTo>
                    <a:pt x="540" y="540"/>
                  </a:lnTo>
                  <a:lnTo>
                    <a:pt x="609" y="475"/>
                  </a:lnTo>
                  <a:lnTo>
                    <a:pt x="680" y="414"/>
                  </a:lnTo>
                  <a:lnTo>
                    <a:pt x="754" y="356"/>
                  </a:lnTo>
                  <a:lnTo>
                    <a:pt x="830" y="303"/>
                  </a:lnTo>
                  <a:lnTo>
                    <a:pt x="907" y="255"/>
                  </a:lnTo>
                  <a:lnTo>
                    <a:pt x="987" y="211"/>
                  </a:lnTo>
                  <a:lnTo>
                    <a:pt x="1069" y="171"/>
                  </a:lnTo>
                  <a:lnTo>
                    <a:pt x="1151" y="135"/>
                  </a:lnTo>
                  <a:lnTo>
                    <a:pt x="1235" y="104"/>
                  </a:lnTo>
                  <a:lnTo>
                    <a:pt x="1320" y="76"/>
                  </a:lnTo>
                  <a:lnTo>
                    <a:pt x="1407" y="52"/>
                  </a:lnTo>
                  <a:lnTo>
                    <a:pt x="1494" y="33"/>
                  </a:lnTo>
                  <a:lnTo>
                    <a:pt x="1581" y="19"/>
                  </a:lnTo>
                  <a:lnTo>
                    <a:pt x="1669" y="8"/>
                  </a:lnTo>
                  <a:lnTo>
                    <a:pt x="1759" y="2"/>
                  </a:lnTo>
                  <a:lnTo>
                    <a:pt x="1847" y="0"/>
                  </a:lnTo>
                  <a:lnTo>
                    <a:pt x="1936" y="2"/>
                  </a:lnTo>
                  <a:lnTo>
                    <a:pt x="2025" y="8"/>
                  </a:lnTo>
                  <a:lnTo>
                    <a:pt x="2113" y="19"/>
                  </a:lnTo>
                  <a:lnTo>
                    <a:pt x="2201" y="33"/>
                  </a:lnTo>
                  <a:lnTo>
                    <a:pt x="2287" y="52"/>
                  </a:lnTo>
                  <a:lnTo>
                    <a:pt x="2374" y="76"/>
                  </a:lnTo>
                  <a:lnTo>
                    <a:pt x="2459" y="104"/>
                  </a:lnTo>
                  <a:lnTo>
                    <a:pt x="2543" y="135"/>
                  </a:lnTo>
                  <a:lnTo>
                    <a:pt x="2626" y="171"/>
                  </a:lnTo>
                  <a:lnTo>
                    <a:pt x="2708" y="211"/>
                  </a:lnTo>
                  <a:lnTo>
                    <a:pt x="2787" y="255"/>
                  </a:lnTo>
                  <a:lnTo>
                    <a:pt x="2865" y="303"/>
                  </a:lnTo>
                  <a:lnTo>
                    <a:pt x="2940" y="356"/>
                  </a:lnTo>
                  <a:lnTo>
                    <a:pt x="3015" y="413"/>
                  </a:lnTo>
                  <a:lnTo>
                    <a:pt x="3086" y="474"/>
                  </a:lnTo>
                  <a:lnTo>
                    <a:pt x="3154" y="539"/>
                  </a:lnTo>
                  <a:close/>
                </a:path>
              </a:pathLst>
            </a:custGeom>
            <a:grpFill/>
            <a:ln w="9525">
              <a:noFill/>
              <a:round/>
              <a:headEnd/>
              <a:tailEnd/>
            </a:ln>
          </p:spPr>
          <p:txBody>
            <a:bodyPr/>
            <a:lstStyle/>
            <a:p>
              <a:pPr algn="ctr" eaLnBrk="1" fontAlgn="auto" hangingPunct="1">
                <a:spcBef>
                  <a:spcPts val="0"/>
                </a:spcBef>
                <a:spcAft>
                  <a:spcPts val="0"/>
                </a:spcAft>
                <a:defRPr/>
              </a:pPr>
              <a:endParaRPr lang="zh-CN" altLang="en-US" sz="1200" ker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3" name="Freeform 16"/>
            <p:cNvSpPr>
              <a:spLocks noEditPoints="1"/>
            </p:cNvSpPr>
            <p:nvPr/>
          </p:nvSpPr>
          <p:spPr bwMode="gray">
            <a:xfrm>
              <a:off x="7440613" y="4868863"/>
              <a:ext cx="1019175" cy="544513"/>
            </a:xfrm>
            <a:custGeom>
              <a:avLst/>
              <a:gdLst/>
              <a:ahLst/>
              <a:cxnLst>
                <a:cxn ang="0">
                  <a:pos x="16025" y="3351"/>
                </a:cxn>
                <a:cxn ang="0">
                  <a:pos x="14975" y="4351"/>
                </a:cxn>
                <a:cxn ang="0">
                  <a:pos x="14184" y="3632"/>
                </a:cxn>
                <a:cxn ang="0">
                  <a:pos x="12564" y="2563"/>
                </a:cxn>
                <a:cxn ang="0">
                  <a:pos x="10805" y="1850"/>
                </a:cxn>
                <a:cxn ang="0">
                  <a:pos x="8960" y="1494"/>
                </a:cxn>
                <a:cxn ang="0">
                  <a:pos x="7087" y="1494"/>
                </a:cxn>
                <a:cxn ang="0">
                  <a:pos x="5243" y="1851"/>
                </a:cxn>
                <a:cxn ang="0">
                  <a:pos x="3483" y="2564"/>
                </a:cxn>
                <a:cxn ang="0">
                  <a:pos x="1864" y="3634"/>
                </a:cxn>
                <a:cxn ang="0">
                  <a:pos x="1075" y="4353"/>
                </a:cxn>
                <a:cxn ang="0">
                  <a:pos x="24" y="3353"/>
                </a:cxn>
                <a:cxn ang="0">
                  <a:pos x="516" y="2880"/>
                </a:cxn>
                <a:cxn ang="0">
                  <a:pos x="2325" y="1549"/>
                </a:cxn>
                <a:cxn ang="0">
                  <a:pos x="4312" y="627"/>
                </a:cxn>
                <a:cxn ang="0">
                  <a:pos x="6413" y="115"/>
                </a:cxn>
                <a:cxn ang="0">
                  <a:pos x="8562" y="13"/>
                </a:cxn>
                <a:cxn ang="0">
                  <a:pos x="10694" y="319"/>
                </a:cxn>
                <a:cxn ang="0">
                  <a:pos x="12747" y="1036"/>
                </a:cxn>
                <a:cxn ang="0">
                  <a:pos x="14654" y="2160"/>
                </a:cxn>
                <a:cxn ang="0">
                  <a:pos x="14055" y="5373"/>
                </a:cxn>
                <a:cxn ang="0">
                  <a:pos x="12871" y="6404"/>
                </a:cxn>
                <a:cxn ang="0">
                  <a:pos x="12058" y="5702"/>
                </a:cxn>
                <a:cxn ang="0">
                  <a:pos x="10898" y="5017"/>
                </a:cxn>
                <a:cxn ang="0">
                  <a:pos x="9649" y="4582"/>
                </a:cxn>
                <a:cxn ang="0">
                  <a:pos x="8352" y="4395"/>
                </a:cxn>
                <a:cxn ang="0">
                  <a:pos x="7044" y="4457"/>
                </a:cxn>
                <a:cxn ang="0">
                  <a:pos x="5767" y="4769"/>
                </a:cxn>
                <a:cxn ang="0">
                  <a:pos x="4558" y="5329"/>
                </a:cxn>
                <a:cxn ang="0">
                  <a:pos x="3457" y="6139"/>
                </a:cxn>
                <a:cxn ang="0">
                  <a:pos x="3129" y="6456"/>
                </a:cxn>
                <a:cxn ang="0">
                  <a:pos x="2045" y="5322"/>
                </a:cxn>
                <a:cxn ang="0">
                  <a:pos x="2731" y="4697"/>
                </a:cxn>
                <a:cxn ang="0">
                  <a:pos x="4122" y="3779"/>
                </a:cxn>
                <a:cxn ang="0">
                  <a:pos x="5635" y="3166"/>
                </a:cxn>
                <a:cxn ang="0">
                  <a:pos x="7219" y="2859"/>
                </a:cxn>
                <a:cxn ang="0">
                  <a:pos x="8829" y="2859"/>
                </a:cxn>
                <a:cxn ang="0">
                  <a:pos x="10413" y="3165"/>
                </a:cxn>
                <a:cxn ang="0">
                  <a:pos x="11926" y="3777"/>
                </a:cxn>
                <a:cxn ang="0">
                  <a:pos x="13318" y="4696"/>
                </a:cxn>
                <a:cxn ang="0">
                  <a:pos x="14005" y="5321"/>
                </a:cxn>
                <a:cxn ang="0">
                  <a:pos x="10854" y="8576"/>
                </a:cxn>
                <a:cxn ang="0">
                  <a:pos x="10754" y="8472"/>
                </a:cxn>
                <a:cxn ang="0">
                  <a:pos x="10150" y="7980"/>
                </a:cxn>
                <a:cxn ang="0">
                  <a:pos x="9479" y="7627"/>
                </a:cxn>
                <a:cxn ang="0">
                  <a:pos x="8762" y="7416"/>
                </a:cxn>
                <a:cxn ang="0">
                  <a:pos x="8025" y="7345"/>
                </a:cxn>
                <a:cxn ang="0">
                  <a:pos x="7287" y="7416"/>
                </a:cxn>
                <a:cxn ang="0">
                  <a:pos x="6571" y="7627"/>
                </a:cxn>
                <a:cxn ang="0">
                  <a:pos x="5900" y="7980"/>
                </a:cxn>
                <a:cxn ang="0">
                  <a:pos x="5297" y="8473"/>
                </a:cxn>
                <a:cxn ang="0">
                  <a:pos x="5198" y="8576"/>
                </a:cxn>
                <a:cxn ang="0">
                  <a:pos x="4197" y="7425"/>
                </a:cxn>
                <a:cxn ang="0">
                  <a:pos x="4843" y="6865"/>
                </a:cxn>
                <a:cxn ang="0">
                  <a:pos x="5758" y="6325"/>
                </a:cxn>
                <a:cxn ang="0">
                  <a:pos x="6743" y="5981"/>
                </a:cxn>
                <a:cxn ang="0">
                  <a:pos x="7766" y="5833"/>
                </a:cxn>
                <a:cxn ang="0">
                  <a:pos x="8797" y="5882"/>
                </a:cxn>
                <a:cxn ang="0">
                  <a:pos x="9806" y="6127"/>
                </a:cxn>
                <a:cxn ang="0">
                  <a:pos x="10760" y="6570"/>
                </a:cxn>
                <a:cxn ang="0">
                  <a:pos x="11627" y="7208"/>
                </a:cxn>
                <a:cxn ang="0">
                  <a:pos x="11903" y="7475"/>
                </a:cxn>
              </a:cxnLst>
              <a:rect l="0" t="0" r="r" b="b"/>
              <a:pathLst>
                <a:path w="16050" h="8576">
                  <a:moveTo>
                    <a:pt x="15950" y="3273"/>
                  </a:moveTo>
                  <a:lnTo>
                    <a:pt x="15975" y="3299"/>
                  </a:lnTo>
                  <a:lnTo>
                    <a:pt x="16000" y="3324"/>
                  </a:lnTo>
                  <a:lnTo>
                    <a:pt x="16025" y="3351"/>
                  </a:lnTo>
                  <a:lnTo>
                    <a:pt x="16050" y="3377"/>
                  </a:lnTo>
                  <a:lnTo>
                    <a:pt x="15025" y="4402"/>
                  </a:lnTo>
                  <a:lnTo>
                    <a:pt x="15000" y="4377"/>
                  </a:lnTo>
                  <a:lnTo>
                    <a:pt x="14975" y="4351"/>
                  </a:lnTo>
                  <a:lnTo>
                    <a:pt x="14950" y="4325"/>
                  </a:lnTo>
                  <a:lnTo>
                    <a:pt x="14923" y="4300"/>
                  </a:lnTo>
                  <a:lnTo>
                    <a:pt x="14560" y="3955"/>
                  </a:lnTo>
                  <a:lnTo>
                    <a:pt x="14184" y="3632"/>
                  </a:lnTo>
                  <a:lnTo>
                    <a:pt x="13796" y="3330"/>
                  </a:lnTo>
                  <a:lnTo>
                    <a:pt x="13396" y="3053"/>
                  </a:lnTo>
                  <a:lnTo>
                    <a:pt x="12984" y="2797"/>
                  </a:lnTo>
                  <a:lnTo>
                    <a:pt x="12564" y="2563"/>
                  </a:lnTo>
                  <a:lnTo>
                    <a:pt x="12136" y="2351"/>
                  </a:lnTo>
                  <a:lnTo>
                    <a:pt x="11698" y="2161"/>
                  </a:lnTo>
                  <a:lnTo>
                    <a:pt x="11254" y="1995"/>
                  </a:lnTo>
                  <a:lnTo>
                    <a:pt x="10805" y="1850"/>
                  </a:lnTo>
                  <a:lnTo>
                    <a:pt x="10349" y="1728"/>
                  </a:lnTo>
                  <a:lnTo>
                    <a:pt x="9889" y="1628"/>
                  </a:lnTo>
                  <a:lnTo>
                    <a:pt x="9426" y="1549"/>
                  </a:lnTo>
                  <a:lnTo>
                    <a:pt x="8960" y="1494"/>
                  </a:lnTo>
                  <a:lnTo>
                    <a:pt x="8492" y="1461"/>
                  </a:lnTo>
                  <a:lnTo>
                    <a:pt x="8024" y="1450"/>
                  </a:lnTo>
                  <a:lnTo>
                    <a:pt x="7556" y="1461"/>
                  </a:lnTo>
                  <a:lnTo>
                    <a:pt x="7087" y="1494"/>
                  </a:lnTo>
                  <a:lnTo>
                    <a:pt x="6622" y="1550"/>
                  </a:lnTo>
                  <a:lnTo>
                    <a:pt x="6158" y="1629"/>
                  </a:lnTo>
                  <a:lnTo>
                    <a:pt x="5699" y="1729"/>
                  </a:lnTo>
                  <a:lnTo>
                    <a:pt x="5243" y="1851"/>
                  </a:lnTo>
                  <a:lnTo>
                    <a:pt x="4793" y="1996"/>
                  </a:lnTo>
                  <a:lnTo>
                    <a:pt x="4350" y="2163"/>
                  </a:lnTo>
                  <a:lnTo>
                    <a:pt x="3912" y="2352"/>
                  </a:lnTo>
                  <a:lnTo>
                    <a:pt x="3483" y="2564"/>
                  </a:lnTo>
                  <a:lnTo>
                    <a:pt x="3064" y="2799"/>
                  </a:lnTo>
                  <a:lnTo>
                    <a:pt x="2652" y="3055"/>
                  </a:lnTo>
                  <a:lnTo>
                    <a:pt x="2253" y="3332"/>
                  </a:lnTo>
                  <a:lnTo>
                    <a:pt x="1864" y="3634"/>
                  </a:lnTo>
                  <a:lnTo>
                    <a:pt x="1488" y="3957"/>
                  </a:lnTo>
                  <a:lnTo>
                    <a:pt x="1125" y="4302"/>
                  </a:lnTo>
                  <a:lnTo>
                    <a:pt x="1099" y="4327"/>
                  </a:lnTo>
                  <a:lnTo>
                    <a:pt x="1075" y="4353"/>
                  </a:lnTo>
                  <a:lnTo>
                    <a:pt x="1050" y="4378"/>
                  </a:lnTo>
                  <a:lnTo>
                    <a:pt x="1025" y="4404"/>
                  </a:lnTo>
                  <a:lnTo>
                    <a:pt x="0" y="3378"/>
                  </a:lnTo>
                  <a:lnTo>
                    <a:pt x="24" y="3353"/>
                  </a:lnTo>
                  <a:lnTo>
                    <a:pt x="49" y="3326"/>
                  </a:lnTo>
                  <a:lnTo>
                    <a:pt x="74" y="3301"/>
                  </a:lnTo>
                  <a:lnTo>
                    <a:pt x="99" y="3276"/>
                  </a:lnTo>
                  <a:lnTo>
                    <a:pt x="516" y="2880"/>
                  </a:lnTo>
                  <a:lnTo>
                    <a:pt x="948" y="2509"/>
                  </a:lnTo>
                  <a:lnTo>
                    <a:pt x="1394" y="2162"/>
                  </a:lnTo>
                  <a:lnTo>
                    <a:pt x="1854" y="1843"/>
                  </a:lnTo>
                  <a:lnTo>
                    <a:pt x="2325" y="1549"/>
                  </a:lnTo>
                  <a:lnTo>
                    <a:pt x="2808" y="1280"/>
                  </a:lnTo>
                  <a:lnTo>
                    <a:pt x="3301" y="1037"/>
                  </a:lnTo>
                  <a:lnTo>
                    <a:pt x="3803" y="820"/>
                  </a:lnTo>
                  <a:lnTo>
                    <a:pt x="4312" y="627"/>
                  </a:lnTo>
                  <a:lnTo>
                    <a:pt x="4830" y="461"/>
                  </a:lnTo>
                  <a:lnTo>
                    <a:pt x="5353" y="320"/>
                  </a:lnTo>
                  <a:lnTo>
                    <a:pt x="5881" y="205"/>
                  </a:lnTo>
                  <a:lnTo>
                    <a:pt x="6413" y="115"/>
                  </a:lnTo>
                  <a:lnTo>
                    <a:pt x="6949" y="51"/>
                  </a:lnTo>
                  <a:lnTo>
                    <a:pt x="7485" y="13"/>
                  </a:lnTo>
                  <a:lnTo>
                    <a:pt x="8024" y="0"/>
                  </a:lnTo>
                  <a:lnTo>
                    <a:pt x="8562" y="13"/>
                  </a:lnTo>
                  <a:lnTo>
                    <a:pt x="9099" y="51"/>
                  </a:lnTo>
                  <a:lnTo>
                    <a:pt x="9634" y="115"/>
                  </a:lnTo>
                  <a:lnTo>
                    <a:pt x="10167" y="205"/>
                  </a:lnTo>
                  <a:lnTo>
                    <a:pt x="10694" y="319"/>
                  </a:lnTo>
                  <a:lnTo>
                    <a:pt x="11218" y="460"/>
                  </a:lnTo>
                  <a:lnTo>
                    <a:pt x="11735" y="626"/>
                  </a:lnTo>
                  <a:lnTo>
                    <a:pt x="12245" y="818"/>
                  </a:lnTo>
                  <a:lnTo>
                    <a:pt x="12747" y="1036"/>
                  </a:lnTo>
                  <a:lnTo>
                    <a:pt x="13239" y="1278"/>
                  </a:lnTo>
                  <a:lnTo>
                    <a:pt x="13722" y="1547"/>
                  </a:lnTo>
                  <a:lnTo>
                    <a:pt x="14194" y="1841"/>
                  </a:lnTo>
                  <a:lnTo>
                    <a:pt x="14654" y="2160"/>
                  </a:lnTo>
                  <a:lnTo>
                    <a:pt x="15100" y="2506"/>
                  </a:lnTo>
                  <a:lnTo>
                    <a:pt x="15532" y="2877"/>
                  </a:lnTo>
                  <a:lnTo>
                    <a:pt x="15950" y="3273"/>
                  </a:lnTo>
                  <a:close/>
                  <a:moveTo>
                    <a:pt x="14055" y="5373"/>
                  </a:moveTo>
                  <a:lnTo>
                    <a:pt x="12946" y="6481"/>
                  </a:lnTo>
                  <a:lnTo>
                    <a:pt x="12921" y="6456"/>
                  </a:lnTo>
                  <a:lnTo>
                    <a:pt x="12897" y="6430"/>
                  </a:lnTo>
                  <a:lnTo>
                    <a:pt x="12871" y="6404"/>
                  </a:lnTo>
                  <a:lnTo>
                    <a:pt x="12846" y="6379"/>
                  </a:lnTo>
                  <a:lnTo>
                    <a:pt x="12592" y="6137"/>
                  </a:lnTo>
                  <a:lnTo>
                    <a:pt x="12329" y="5912"/>
                  </a:lnTo>
                  <a:lnTo>
                    <a:pt x="12058" y="5702"/>
                  </a:lnTo>
                  <a:lnTo>
                    <a:pt x="11778" y="5507"/>
                  </a:lnTo>
                  <a:lnTo>
                    <a:pt x="11491" y="5328"/>
                  </a:lnTo>
                  <a:lnTo>
                    <a:pt x="11198" y="5165"/>
                  </a:lnTo>
                  <a:lnTo>
                    <a:pt x="10898" y="5017"/>
                  </a:lnTo>
                  <a:lnTo>
                    <a:pt x="10592" y="4885"/>
                  </a:lnTo>
                  <a:lnTo>
                    <a:pt x="10282" y="4768"/>
                  </a:lnTo>
                  <a:lnTo>
                    <a:pt x="9967" y="4667"/>
                  </a:lnTo>
                  <a:lnTo>
                    <a:pt x="9649" y="4582"/>
                  </a:lnTo>
                  <a:lnTo>
                    <a:pt x="9328" y="4512"/>
                  </a:lnTo>
                  <a:lnTo>
                    <a:pt x="9004" y="4457"/>
                  </a:lnTo>
                  <a:lnTo>
                    <a:pt x="8679" y="4418"/>
                  </a:lnTo>
                  <a:lnTo>
                    <a:pt x="8352" y="4395"/>
                  </a:lnTo>
                  <a:lnTo>
                    <a:pt x="8024" y="4387"/>
                  </a:lnTo>
                  <a:lnTo>
                    <a:pt x="7697" y="4395"/>
                  </a:lnTo>
                  <a:lnTo>
                    <a:pt x="7370" y="4418"/>
                  </a:lnTo>
                  <a:lnTo>
                    <a:pt x="7044" y="4457"/>
                  </a:lnTo>
                  <a:lnTo>
                    <a:pt x="6721" y="4512"/>
                  </a:lnTo>
                  <a:lnTo>
                    <a:pt x="6399" y="4582"/>
                  </a:lnTo>
                  <a:lnTo>
                    <a:pt x="6081" y="4668"/>
                  </a:lnTo>
                  <a:lnTo>
                    <a:pt x="5767" y="4769"/>
                  </a:lnTo>
                  <a:lnTo>
                    <a:pt x="5457" y="4886"/>
                  </a:lnTo>
                  <a:lnTo>
                    <a:pt x="5151" y="5018"/>
                  </a:lnTo>
                  <a:lnTo>
                    <a:pt x="4851" y="5166"/>
                  </a:lnTo>
                  <a:lnTo>
                    <a:pt x="4558" y="5329"/>
                  </a:lnTo>
                  <a:lnTo>
                    <a:pt x="4271" y="5509"/>
                  </a:lnTo>
                  <a:lnTo>
                    <a:pt x="3991" y="5703"/>
                  </a:lnTo>
                  <a:lnTo>
                    <a:pt x="3720" y="5913"/>
                  </a:lnTo>
                  <a:lnTo>
                    <a:pt x="3457" y="6139"/>
                  </a:lnTo>
                  <a:lnTo>
                    <a:pt x="3203" y="6380"/>
                  </a:lnTo>
                  <a:lnTo>
                    <a:pt x="3178" y="6406"/>
                  </a:lnTo>
                  <a:lnTo>
                    <a:pt x="3154" y="6431"/>
                  </a:lnTo>
                  <a:lnTo>
                    <a:pt x="3129" y="6456"/>
                  </a:lnTo>
                  <a:lnTo>
                    <a:pt x="3104" y="6482"/>
                  </a:lnTo>
                  <a:lnTo>
                    <a:pt x="1996" y="5374"/>
                  </a:lnTo>
                  <a:lnTo>
                    <a:pt x="2020" y="5348"/>
                  </a:lnTo>
                  <a:lnTo>
                    <a:pt x="2045" y="5322"/>
                  </a:lnTo>
                  <a:lnTo>
                    <a:pt x="2069" y="5297"/>
                  </a:lnTo>
                  <a:lnTo>
                    <a:pt x="2095" y="5272"/>
                  </a:lnTo>
                  <a:lnTo>
                    <a:pt x="2406" y="4975"/>
                  </a:lnTo>
                  <a:lnTo>
                    <a:pt x="2731" y="4697"/>
                  </a:lnTo>
                  <a:lnTo>
                    <a:pt x="3065" y="4439"/>
                  </a:lnTo>
                  <a:lnTo>
                    <a:pt x="3408" y="4199"/>
                  </a:lnTo>
                  <a:lnTo>
                    <a:pt x="3761" y="3980"/>
                  </a:lnTo>
                  <a:lnTo>
                    <a:pt x="4122" y="3779"/>
                  </a:lnTo>
                  <a:lnTo>
                    <a:pt x="4491" y="3596"/>
                  </a:lnTo>
                  <a:lnTo>
                    <a:pt x="4866" y="3434"/>
                  </a:lnTo>
                  <a:lnTo>
                    <a:pt x="5247" y="3290"/>
                  </a:lnTo>
                  <a:lnTo>
                    <a:pt x="5635" y="3166"/>
                  </a:lnTo>
                  <a:lnTo>
                    <a:pt x="6026" y="3061"/>
                  </a:lnTo>
                  <a:lnTo>
                    <a:pt x="6421" y="2974"/>
                  </a:lnTo>
                  <a:lnTo>
                    <a:pt x="6819" y="2907"/>
                  </a:lnTo>
                  <a:lnTo>
                    <a:pt x="7219" y="2859"/>
                  </a:lnTo>
                  <a:lnTo>
                    <a:pt x="7622" y="2831"/>
                  </a:lnTo>
                  <a:lnTo>
                    <a:pt x="8024" y="2821"/>
                  </a:lnTo>
                  <a:lnTo>
                    <a:pt x="8427" y="2831"/>
                  </a:lnTo>
                  <a:lnTo>
                    <a:pt x="8829" y="2859"/>
                  </a:lnTo>
                  <a:lnTo>
                    <a:pt x="9229" y="2907"/>
                  </a:lnTo>
                  <a:lnTo>
                    <a:pt x="9627" y="2973"/>
                  </a:lnTo>
                  <a:lnTo>
                    <a:pt x="10022" y="3060"/>
                  </a:lnTo>
                  <a:lnTo>
                    <a:pt x="10413" y="3165"/>
                  </a:lnTo>
                  <a:lnTo>
                    <a:pt x="10801" y="3289"/>
                  </a:lnTo>
                  <a:lnTo>
                    <a:pt x="11182" y="3433"/>
                  </a:lnTo>
                  <a:lnTo>
                    <a:pt x="11558" y="3595"/>
                  </a:lnTo>
                  <a:lnTo>
                    <a:pt x="11926" y="3777"/>
                  </a:lnTo>
                  <a:lnTo>
                    <a:pt x="12287" y="3978"/>
                  </a:lnTo>
                  <a:lnTo>
                    <a:pt x="12640" y="4198"/>
                  </a:lnTo>
                  <a:lnTo>
                    <a:pt x="12984" y="4437"/>
                  </a:lnTo>
                  <a:lnTo>
                    <a:pt x="13318" y="4696"/>
                  </a:lnTo>
                  <a:lnTo>
                    <a:pt x="13641" y="4973"/>
                  </a:lnTo>
                  <a:lnTo>
                    <a:pt x="13954" y="5270"/>
                  </a:lnTo>
                  <a:lnTo>
                    <a:pt x="13980" y="5295"/>
                  </a:lnTo>
                  <a:lnTo>
                    <a:pt x="14005" y="5321"/>
                  </a:lnTo>
                  <a:lnTo>
                    <a:pt x="14030" y="5347"/>
                  </a:lnTo>
                  <a:lnTo>
                    <a:pt x="14055" y="5373"/>
                  </a:lnTo>
                  <a:close/>
                  <a:moveTo>
                    <a:pt x="11928" y="7501"/>
                  </a:moveTo>
                  <a:lnTo>
                    <a:pt x="10854" y="8576"/>
                  </a:lnTo>
                  <a:lnTo>
                    <a:pt x="10829" y="8549"/>
                  </a:lnTo>
                  <a:lnTo>
                    <a:pt x="10805" y="8523"/>
                  </a:lnTo>
                  <a:lnTo>
                    <a:pt x="10780" y="8498"/>
                  </a:lnTo>
                  <a:lnTo>
                    <a:pt x="10754" y="8472"/>
                  </a:lnTo>
                  <a:lnTo>
                    <a:pt x="10610" y="8336"/>
                  </a:lnTo>
                  <a:lnTo>
                    <a:pt x="10462" y="8208"/>
                  </a:lnTo>
                  <a:lnTo>
                    <a:pt x="10307" y="8089"/>
                  </a:lnTo>
                  <a:lnTo>
                    <a:pt x="10150" y="7980"/>
                  </a:lnTo>
                  <a:lnTo>
                    <a:pt x="9987" y="7878"/>
                  </a:lnTo>
                  <a:lnTo>
                    <a:pt x="9821" y="7785"/>
                  </a:lnTo>
                  <a:lnTo>
                    <a:pt x="9651" y="7702"/>
                  </a:lnTo>
                  <a:lnTo>
                    <a:pt x="9479" y="7627"/>
                  </a:lnTo>
                  <a:lnTo>
                    <a:pt x="9303" y="7561"/>
                  </a:lnTo>
                  <a:lnTo>
                    <a:pt x="9124" y="7504"/>
                  </a:lnTo>
                  <a:lnTo>
                    <a:pt x="8945" y="7456"/>
                  </a:lnTo>
                  <a:lnTo>
                    <a:pt x="8762" y="7416"/>
                  </a:lnTo>
                  <a:lnTo>
                    <a:pt x="8580" y="7384"/>
                  </a:lnTo>
                  <a:lnTo>
                    <a:pt x="8395" y="7362"/>
                  </a:lnTo>
                  <a:lnTo>
                    <a:pt x="8210" y="7349"/>
                  </a:lnTo>
                  <a:lnTo>
                    <a:pt x="8025" y="7345"/>
                  </a:lnTo>
                  <a:lnTo>
                    <a:pt x="7839" y="7349"/>
                  </a:lnTo>
                  <a:lnTo>
                    <a:pt x="7655" y="7363"/>
                  </a:lnTo>
                  <a:lnTo>
                    <a:pt x="7470" y="7385"/>
                  </a:lnTo>
                  <a:lnTo>
                    <a:pt x="7287" y="7416"/>
                  </a:lnTo>
                  <a:lnTo>
                    <a:pt x="7105" y="7456"/>
                  </a:lnTo>
                  <a:lnTo>
                    <a:pt x="6926" y="7504"/>
                  </a:lnTo>
                  <a:lnTo>
                    <a:pt x="6747" y="7561"/>
                  </a:lnTo>
                  <a:lnTo>
                    <a:pt x="6571" y="7627"/>
                  </a:lnTo>
                  <a:lnTo>
                    <a:pt x="6399" y="7703"/>
                  </a:lnTo>
                  <a:lnTo>
                    <a:pt x="6229" y="7786"/>
                  </a:lnTo>
                  <a:lnTo>
                    <a:pt x="6063" y="7878"/>
                  </a:lnTo>
                  <a:lnTo>
                    <a:pt x="5900" y="7980"/>
                  </a:lnTo>
                  <a:lnTo>
                    <a:pt x="5742" y="8090"/>
                  </a:lnTo>
                  <a:lnTo>
                    <a:pt x="5588" y="8209"/>
                  </a:lnTo>
                  <a:lnTo>
                    <a:pt x="5440" y="8337"/>
                  </a:lnTo>
                  <a:lnTo>
                    <a:pt x="5297" y="8473"/>
                  </a:lnTo>
                  <a:lnTo>
                    <a:pt x="5271" y="8498"/>
                  </a:lnTo>
                  <a:lnTo>
                    <a:pt x="5246" y="8524"/>
                  </a:lnTo>
                  <a:lnTo>
                    <a:pt x="5222" y="8550"/>
                  </a:lnTo>
                  <a:lnTo>
                    <a:pt x="5198" y="8576"/>
                  </a:lnTo>
                  <a:lnTo>
                    <a:pt x="4123" y="7501"/>
                  </a:lnTo>
                  <a:lnTo>
                    <a:pt x="4147" y="7476"/>
                  </a:lnTo>
                  <a:lnTo>
                    <a:pt x="4172" y="7450"/>
                  </a:lnTo>
                  <a:lnTo>
                    <a:pt x="4197" y="7425"/>
                  </a:lnTo>
                  <a:lnTo>
                    <a:pt x="4222" y="7399"/>
                  </a:lnTo>
                  <a:lnTo>
                    <a:pt x="4422" y="7209"/>
                  </a:lnTo>
                  <a:lnTo>
                    <a:pt x="4629" y="7030"/>
                  </a:lnTo>
                  <a:lnTo>
                    <a:pt x="4843" y="6865"/>
                  </a:lnTo>
                  <a:lnTo>
                    <a:pt x="5064" y="6711"/>
                  </a:lnTo>
                  <a:lnTo>
                    <a:pt x="5290" y="6571"/>
                  </a:lnTo>
                  <a:lnTo>
                    <a:pt x="5522" y="6441"/>
                  </a:lnTo>
                  <a:lnTo>
                    <a:pt x="5758" y="6325"/>
                  </a:lnTo>
                  <a:lnTo>
                    <a:pt x="6000" y="6220"/>
                  </a:lnTo>
                  <a:lnTo>
                    <a:pt x="6243" y="6128"/>
                  </a:lnTo>
                  <a:lnTo>
                    <a:pt x="6492" y="6048"/>
                  </a:lnTo>
                  <a:lnTo>
                    <a:pt x="6743" y="5981"/>
                  </a:lnTo>
                  <a:lnTo>
                    <a:pt x="6997" y="5925"/>
                  </a:lnTo>
                  <a:lnTo>
                    <a:pt x="7252" y="5882"/>
                  </a:lnTo>
                  <a:lnTo>
                    <a:pt x="7508" y="5851"/>
                  </a:lnTo>
                  <a:lnTo>
                    <a:pt x="7766" y="5833"/>
                  </a:lnTo>
                  <a:lnTo>
                    <a:pt x="8025" y="5827"/>
                  </a:lnTo>
                  <a:lnTo>
                    <a:pt x="8283" y="5833"/>
                  </a:lnTo>
                  <a:lnTo>
                    <a:pt x="8541" y="5851"/>
                  </a:lnTo>
                  <a:lnTo>
                    <a:pt x="8797" y="5882"/>
                  </a:lnTo>
                  <a:lnTo>
                    <a:pt x="9053" y="5925"/>
                  </a:lnTo>
                  <a:lnTo>
                    <a:pt x="9306" y="5981"/>
                  </a:lnTo>
                  <a:lnTo>
                    <a:pt x="9557" y="6048"/>
                  </a:lnTo>
                  <a:lnTo>
                    <a:pt x="9806" y="6127"/>
                  </a:lnTo>
                  <a:lnTo>
                    <a:pt x="10050" y="6219"/>
                  </a:lnTo>
                  <a:lnTo>
                    <a:pt x="10291" y="6324"/>
                  </a:lnTo>
                  <a:lnTo>
                    <a:pt x="10528" y="6440"/>
                  </a:lnTo>
                  <a:lnTo>
                    <a:pt x="10760" y="6570"/>
                  </a:lnTo>
                  <a:lnTo>
                    <a:pt x="10985" y="6710"/>
                  </a:lnTo>
                  <a:lnTo>
                    <a:pt x="11206" y="6864"/>
                  </a:lnTo>
                  <a:lnTo>
                    <a:pt x="11421" y="7029"/>
                  </a:lnTo>
                  <a:lnTo>
                    <a:pt x="11627" y="7208"/>
                  </a:lnTo>
                  <a:lnTo>
                    <a:pt x="11828" y="7398"/>
                  </a:lnTo>
                  <a:lnTo>
                    <a:pt x="11853" y="7424"/>
                  </a:lnTo>
                  <a:lnTo>
                    <a:pt x="11878" y="7449"/>
                  </a:lnTo>
                  <a:lnTo>
                    <a:pt x="11903" y="7475"/>
                  </a:lnTo>
                  <a:lnTo>
                    <a:pt x="11928" y="7501"/>
                  </a:lnTo>
                  <a:close/>
                </a:path>
              </a:pathLst>
            </a:custGeom>
            <a:grpFill/>
            <a:ln w="9525">
              <a:noFill/>
              <a:round/>
              <a:headEnd/>
              <a:tailEnd/>
            </a:ln>
          </p:spPr>
          <p:txBody>
            <a:bodyPr/>
            <a:lstStyle/>
            <a:p>
              <a:pPr algn="ctr" eaLnBrk="1" fontAlgn="auto" hangingPunct="1">
                <a:spcBef>
                  <a:spcPts val="0"/>
                </a:spcBef>
                <a:spcAft>
                  <a:spcPts val="0"/>
                </a:spcAft>
                <a:defRPr/>
              </a:pPr>
              <a:endParaRPr lang="zh-CN" altLang="en-US" sz="1200" ker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graphicFrame>
        <p:nvGraphicFramePr>
          <p:cNvPr id="74" name="表格 73"/>
          <p:cNvGraphicFramePr>
            <a:graphicFrameLocks noGrp="1"/>
          </p:cNvGraphicFramePr>
          <p:nvPr>
            <p:extLst/>
          </p:nvPr>
        </p:nvGraphicFramePr>
        <p:xfrm>
          <a:off x="6189544" y="2417983"/>
          <a:ext cx="5292411" cy="1036320"/>
        </p:xfrm>
        <a:graphic>
          <a:graphicData uri="http://schemas.openxmlformats.org/drawingml/2006/table">
            <a:tbl>
              <a:tblPr/>
              <a:tblGrid>
                <a:gridCol w="1247293"/>
                <a:gridCol w="4045118"/>
              </a:tblGrid>
              <a:tr h="276364">
                <a:tc>
                  <a:txBody>
                    <a:bodyPr/>
                    <a:lstStyle/>
                    <a:p>
                      <a:pPr algn="ctr"/>
                      <a:r>
                        <a:rPr lang="zh-CN" altLang="en-US" sz="1400" b="1" dirty="0">
                          <a:effectLst/>
                        </a:rPr>
                        <a:t>任务描述</a:t>
                      </a:r>
                    </a:p>
                  </a:txBody>
                  <a:tcPr anchor="ctr">
                    <a:lnL w="28575" cap="flat" cmpd="sng" algn="ctr">
                      <a:solidFill>
                        <a:schemeClr val="tx1"/>
                      </a:solidFill>
                      <a:prstDash val="solid"/>
                      <a:round/>
                      <a:headEnd type="none" w="med" len="med"/>
                      <a:tailEnd type="none" w="med" len="med"/>
                    </a:lnL>
                    <a:lnT w="28575" cap="flat" cmpd="sng" algn="ctr">
                      <a:solidFill>
                        <a:schemeClr val="tx1"/>
                      </a:solidFill>
                      <a:prstDash val="solid"/>
                      <a:round/>
                      <a:headEnd type="none" w="med" len="med"/>
                      <a:tailEnd type="none" w="med" len="med"/>
                    </a:lnT>
                    <a:solidFill>
                      <a:schemeClr val="bg1">
                        <a:lumMod val="85000"/>
                      </a:schemeClr>
                    </a:solidFill>
                  </a:tcPr>
                </a:tc>
                <a:tc>
                  <a:txBody>
                    <a:bodyPr/>
                    <a:lstStyle/>
                    <a:p>
                      <a:pPr algn="ctr"/>
                      <a:r>
                        <a:rPr lang="zh-CN" altLang="en-US" sz="1400" b="1" dirty="0" smtClean="0">
                          <a:effectLst/>
                        </a:rPr>
                        <a:t>配置步骤</a:t>
                      </a:r>
                      <a:endParaRPr lang="zh-CN" altLang="en-US" sz="1400" b="1" dirty="0">
                        <a:effectLst/>
                      </a:endParaRPr>
                    </a:p>
                  </a:txBody>
                  <a:tcPr anchor="ctr">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solidFill>
                      <a:schemeClr val="bg1">
                        <a:lumMod val="85000"/>
                      </a:schemeClr>
                    </a:solidFill>
                  </a:tcPr>
                </a:tc>
              </a:tr>
              <a:tr h="0">
                <a:tc>
                  <a:txBody>
                    <a:bodyPr/>
                    <a:lstStyle/>
                    <a:p>
                      <a:pPr algn="ctr">
                        <a:lnSpc>
                          <a:spcPts val="2400"/>
                        </a:lnSpc>
                        <a:spcAft>
                          <a:spcPts val="600"/>
                        </a:spcAft>
                      </a:pPr>
                      <a:r>
                        <a:rPr lang="zh-CN" altLang="en-US" sz="1400" dirty="0" smtClean="0">
                          <a:effectLst/>
                        </a:rPr>
                        <a:t>逻辑网络</a:t>
                      </a:r>
                      <a:endParaRPr lang="zh-CN" altLang="en-US" sz="1400" dirty="0">
                        <a:effectLst/>
                      </a:endParaRPr>
                    </a:p>
                  </a:txBody>
                  <a:tcPr anchor="ctr">
                    <a:lnL w="28575" cap="flat" cmpd="sng" algn="ctr">
                      <a:solidFill>
                        <a:schemeClr val="tx1"/>
                      </a:solidFill>
                      <a:prstDash val="solid"/>
                      <a:round/>
                      <a:headEnd type="none" w="med" len="med"/>
                      <a:tailEnd type="none" w="med" len="med"/>
                    </a:lnL>
                    <a:lnB w="28575" cap="flat" cmpd="sng" algn="ctr">
                      <a:solidFill>
                        <a:schemeClr val="tx1"/>
                      </a:solidFill>
                      <a:prstDash val="solid"/>
                      <a:round/>
                      <a:headEnd type="none" w="med" len="med"/>
                      <a:tailEnd type="none" w="med" len="med"/>
                    </a:lnB>
                  </a:tcPr>
                </a:tc>
                <a:tc>
                  <a:txBody>
                    <a:bodyPr/>
                    <a:lstStyle/>
                    <a:p>
                      <a:pPr marL="0" indent="-228600" algn="l" defTabSz="914034" rtl="0" eaLnBrk="1" latinLnBrk="0" hangingPunct="1">
                        <a:lnSpc>
                          <a:spcPct val="100000"/>
                        </a:lnSpc>
                        <a:spcAft>
                          <a:spcPts val="0"/>
                        </a:spcAft>
                        <a:buFont typeface="+mj-lt"/>
                        <a:buAutoNum type="arabicPeriod"/>
                      </a:pPr>
                      <a:r>
                        <a:rPr lang="zh-CN" altLang="en-US" sz="1400" kern="1200" dirty="0" smtClean="0">
                          <a:solidFill>
                            <a:schemeClr val="tx1"/>
                          </a:solidFill>
                          <a:effectLst/>
                          <a:latin typeface="+mn-lt"/>
                          <a:ea typeface="+mn-ea"/>
                          <a:cs typeface="+mn-cs"/>
                        </a:rPr>
                        <a:t>创建</a:t>
                      </a:r>
                      <a:r>
                        <a:rPr lang="en-US" altLang="zh-CN" sz="1400" kern="1200" dirty="0" smtClean="0">
                          <a:solidFill>
                            <a:schemeClr val="tx1"/>
                          </a:solidFill>
                          <a:effectLst/>
                          <a:latin typeface="+mn-lt"/>
                          <a:ea typeface="+mn-ea"/>
                          <a:cs typeface="+mn-cs"/>
                        </a:rPr>
                        <a:t>VN</a:t>
                      </a:r>
                      <a:r>
                        <a:rPr lang="zh-CN" altLang="en-US" sz="1400" kern="1200" dirty="0" smtClean="0">
                          <a:solidFill>
                            <a:schemeClr val="tx1"/>
                          </a:solidFill>
                          <a:effectLst/>
                          <a:latin typeface="+mn-lt"/>
                          <a:ea typeface="+mn-ea"/>
                          <a:cs typeface="+mn-cs"/>
                        </a:rPr>
                        <a:t>，不同的</a:t>
                      </a:r>
                      <a:r>
                        <a:rPr lang="en-US" altLang="zh-CN" sz="1400" kern="1200" dirty="0" smtClean="0">
                          <a:solidFill>
                            <a:schemeClr val="tx1"/>
                          </a:solidFill>
                          <a:effectLst/>
                          <a:latin typeface="+mn-lt"/>
                          <a:ea typeface="+mn-ea"/>
                          <a:cs typeface="+mn-cs"/>
                        </a:rPr>
                        <a:t>VN</a:t>
                      </a:r>
                      <a:r>
                        <a:rPr lang="zh-CN" altLang="en-US" sz="1400" kern="1200" dirty="0" smtClean="0">
                          <a:solidFill>
                            <a:schemeClr val="tx1"/>
                          </a:solidFill>
                          <a:effectLst/>
                          <a:latin typeface="+mn-lt"/>
                          <a:ea typeface="+mn-ea"/>
                          <a:cs typeface="+mn-cs"/>
                        </a:rPr>
                        <a:t>代表不同用户的业务，通过</a:t>
                      </a:r>
                      <a:r>
                        <a:rPr lang="en-US" altLang="zh-CN" sz="1400" kern="1200" dirty="0" smtClean="0">
                          <a:solidFill>
                            <a:schemeClr val="tx1"/>
                          </a:solidFill>
                          <a:effectLst/>
                          <a:latin typeface="+mn-lt"/>
                          <a:ea typeface="+mn-ea"/>
                          <a:cs typeface="+mn-cs"/>
                        </a:rPr>
                        <a:t>VN</a:t>
                      </a:r>
                      <a:r>
                        <a:rPr lang="zh-CN" altLang="en-US" sz="1400" kern="1200" dirty="0" smtClean="0">
                          <a:solidFill>
                            <a:schemeClr val="tx1"/>
                          </a:solidFill>
                          <a:effectLst/>
                          <a:latin typeface="+mn-lt"/>
                          <a:ea typeface="+mn-ea"/>
                          <a:cs typeface="+mn-cs"/>
                        </a:rPr>
                        <a:t>实现业务隔离。</a:t>
                      </a:r>
                      <a:endParaRPr lang="en-US" altLang="zh-CN" sz="1400" kern="1200" dirty="0" smtClean="0">
                        <a:solidFill>
                          <a:schemeClr val="tx1"/>
                        </a:solidFill>
                        <a:effectLst/>
                        <a:latin typeface="+mn-lt"/>
                        <a:ea typeface="+mn-ea"/>
                        <a:cs typeface="+mn-cs"/>
                      </a:endParaRPr>
                    </a:p>
                    <a:p>
                      <a:pPr marL="0" indent="-228600" algn="l" defTabSz="914034" rtl="0" eaLnBrk="1" latinLnBrk="0" hangingPunct="1">
                        <a:lnSpc>
                          <a:spcPct val="100000"/>
                        </a:lnSpc>
                        <a:spcAft>
                          <a:spcPts val="0"/>
                        </a:spcAft>
                        <a:buFont typeface="+mj-lt"/>
                        <a:buAutoNum type="arabicPeriod"/>
                      </a:pPr>
                      <a:r>
                        <a:rPr lang="zh-CN" altLang="en-US" sz="1400" kern="1200" dirty="0" smtClean="0">
                          <a:solidFill>
                            <a:schemeClr val="tx1"/>
                          </a:solidFill>
                          <a:effectLst/>
                          <a:latin typeface="+mn-lt"/>
                          <a:ea typeface="+mn-ea"/>
                          <a:cs typeface="+mn-cs"/>
                        </a:rPr>
                        <a:t>配置</a:t>
                      </a:r>
                      <a:r>
                        <a:rPr lang="en-US" altLang="zh-CN" sz="1400" kern="1200" dirty="0" smtClean="0">
                          <a:solidFill>
                            <a:schemeClr val="tx1"/>
                          </a:solidFill>
                          <a:effectLst/>
                          <a:latin typeface="+mn-lt"/>
                          <a:ea typeface="+mn-ea"/>
                          <a:cs typeface="+mn-cs"/>
                        </a:rPr>
                        <a:t>VN</a:t>
                      </a:r>
                      <a:r>
                        <a:rPr lang="zh-CN" altLang="en-US" sz="1400" kern="1200" dirty="0" smtClean="0">
                          <a:solidFill>
                            <a:schemeClr val="tx1"/>
                          </a:solidFill>
                          <a:effectLst/>
                          <a:latin typeface="+mn-lt"/>
                          <a:ea typeface="+mn-ea"/>
                          <a:cs typeface="+mn-cs"/>
                        </a:rPr>
                        <a:t>互通，实现不同用户底层路由可达。</a:t>
                      </a:r>
                      <a:endParaRPr lang="en-US" altLang="zh-CN" sz="1400" kern="1200" dirty="0" smtClean="0">
                        <a:solidFill>
                          <a:schemeClr val="tx1"/>
                        </a:solidFill>
                        <a:effectLst/>
                        <a:latin typeface="+mn-lt"/>
                        <a:ea typeface="+mn-ea"/>
                        <a:cs typeface="+mn-cs"/>
                      </a:endParaRPr>
                    </a:p>
                  </a:txBody>
                  <a:tcPr anchor="ctr">
                    <a:lnR w="28575" cap="flat" cmpd="sng" algn="ctr">
                      <a:solidFill>
                        <a:schemeClr val="tx1"/>
                      </a:solidFill>
                      <a:prstDash val="solid"/>
                      <a:round/>
                      <a:headEnd type="none" w="med" len="med"/>
                      <a:tailEnd type="none" w="med" len="med"/>
                    </a:lnR>
                    <a:lnB w="28575" cap="flat" cmpd="sng" algn="ctr">
                      <a:solidFill>
                        <a:schemeClr val="tx1"/>
                      </a:solidFill>
                      <a:prstDash val="solid"/>
                      <a:round/>
                      <a:headEnd type="none" w="med" len="med"/>
                      <a:tailEnd type="none" w="med" len="med"/>
                    </a:lnB>
                  </a:tcPr>
                </a:tc>
              </a:tr>
            </a:tbl>
          </a:graphicData>
        </a:graphic>
      </p:graphicFrame>
      <p:sp>
        <p:nvSpPr>
          <p:cNvPr id="75" name="Freeform 159"/>
          <p:cNvSpPr/>
          <p:nvPr/>
        </p:nvSpPr>
        <p:spPr bwMode="gray">
          <a:xfrm flipH="1">
            <a:off x="1456496" y="2090718"/>
            <a:ext cx="1240474" cy="648430"/>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tIns="108000" rtlCol="0" anchor="ctr">
            <a:noAutofit/>
          </a:bodyPr>
          <a:lstStyle>
            <a:defPPr>
              <a:defRPr lang="en-US"/>
            </a:defPPr>
            <a:lvl1pPr marL="0" algn="l" defTabSz="914478" rtl="0" eaLnBrk="1" latinLnBrk="0" hangingPunct="1">
              <a:defRPr sz="1800" kern="1200">
                <a:solidFill>
                  <a:schemeClr val="lt1"/>
                </a:solidFill>
                <a:latin typeface="+mn-lt"/>
                <a:ea typeface="+mn-ea"/>
                <a:cs typeface="+mn-cs"/>
              </a:defRPr>
            </a:lvl1pPr>
            <a:lvl2pPr marL="457240" algn="l" defTabSz="914478" rtl="0" eaLnBrk="1" latinLnBrk="0" hangingPunct="1">
              <a:defRPr sz="1800" kern="1200">
                <a:solidFill>
                  <a:schemeClr val="lt1"/>
                </a:solidFill>
                <a:latin typeface="+mn-lt"/>
                <a:ea typeface="+mn-ea"/>
                <a:cs typeface="+mn-cs"/>
              </a:defRPr>
            </a:lvl2pPr>
            <a:lvl3pPr marL="914478" algn="l" defTabSz="914478" rtl="0" eaLnBrk="1" latinLnBrk="0" hangingPunct="1">
              <a:defRPr sz="1800" kern="1200">
                <a:solidFill>
                  <a:schemeClr val="lt1"/>
                </a:solidFill>
                <a:latin typeface="+mn-lt"/>
                <a:ea typeface="+mn-ea"/>
                <a:cs typeface="+mn-cs"/>
              </a:defRPr>
            </a:lvl3pPr>
            <a:lvl4pPr marL="1371718" algn="l" defTabSz="914478" rtl="0" eaLnBrk="1" latinLnBrk="0" hangingPunct="1">
              <a:defRPr sz="1800" kern="1200">
                <a:solidFill>
                  <a:schemeClr val="lt1"/>
                </a:solidFill>
                <a:latin typeface="+mn-lt"/>
                <a:ea typeface="+mn-ea"/>
                <a:cs typeface="+mn-cs"/>
              </a:defRPr>
            </a:lvl4pPr>
            <a:lvl5pPr marL="1828957" algn="l" defTabSz="914478" rtl="0" eaLnBrk="1" latinLnBrk="0" hangingPunct="1">
              <a:defRPr sz="1800" kern="1200">
                <a:solidFill>
                  <a:schemeClr val="lt1"/>
                </a:solidFill>
                <a:latin typeface="+mn-lt"/>
                <a:ea typeface="+mn-ea"/>
                <a:cs typeface="+mn-cs"/>
              </a:defRPr>
            </a:lvl5pPr>
            <a:lvl6pPr marL="2286196" algn="l" defTabSz="914478" rtl="0" eaLnBrk="1" latinLnBrk="0" hangingPunct="1">
              <a:defRPr sz="1800" kern="1200">
                <a:solidFill>
                  <a:schemeClr val="lt1"/>
                </a:solidFill>
                <a:latin typeface="+mn-lt"/>
                <a:ea typeface="+mn-ea"/>
                <a:cs typeface="+mn-cs"/>
              </a:defRPr>
            </a:lvl6pPr>
            <a:lvl7pPr marL="2743435" algn="l" defTabSz="914478" rtl="0" eaLnBrk="1" latinLnBrk="0" hangingPunct="1">
              <a:defRPr sz="1800" kern="1200">
                <a:solidFill>
                  <a:schemeClr val="lt1"/>
                </a:solidFill>
                <a:latin typeface="+mn-lt"/>
                <a:ea typeface="+mn-ea"/>
                <a:cs typeface="+mn-cs"/>
              </a:defRPr>
            </a:lvl7pPr>
            <a:lvl8pPr marL="3200675" algn="l" defTabSz="914478" rtl="0" eaLnBrk="1" latinLnBrk="0" hangingPunct="1">
              <a:defRPr sz="1800" kern="1200">
                <a:solidFill>
                  <a:schemeClr val="lt1"/>
                </a:solidFill>
                <a:latin typeface="+mn-lt"/>
                <a:ea typeface="+mn-ea"/>
                <a:cs typeface="+mn-cs"/>
              </a:defRPr>
            </a:lvl8pPr>
            <a:lvl9pPr marL="3657913" algn="l" defTabSz="914478" rtl="0" eaLnBrk="1" latinLnBrk="0" hangingPunct="1">
              <a:defRPr sz="1800" kern="1200">
                <a:solidFill>
                  <a:schemeClr val="lt1"/>
                </a:solidFill>
                <a:latin typeface="+mn-lt"/>
                <a:ea typeface="+mn-ea"/>
                <a:cs typeface="+mn-cs"/>
              </a:defRPr>
            </a:lvl9pPr>
          </a:lstStyle>
          <a:p>
            <a:pPr algn="ctr"/>
            <a:r>
              <a:rPr lang="zh-CN" altLang="en-US" sz="1400" smtClean="0">
                <a:solidFill>
                  <a:schemeClr val="bg1">
                    <a:lumMod val="50000"/>
                  </a:schemeClr>
                </a:solidFill>
              </a:rPr>
              <a:t>外部网络</a:t>
            </a:r>
            <a:endParaRPr lang="en-US" sz="1400">
              <a:solidFill>
                <a:schemeClr val="bg1">
                  <a:lumMod val="50000"/>
                </a:schemeClr>
              </a:solidFill>
            </a:endParaRPr>
          </a:p>
        </p:txBody>
      </p:sp>
      <p:sp>
        <p:nvSpPr>
          <p:cNvPr id="76" name="Freeform 159"/>
          <p:cNvSpPr/>
          <p:nvPr/>
        </p:nvSpPr>
        <p:spPr bwMode="gray">
          <a:xfrm flipH="1">
            <a:off x="3582614" y="2090718"/>
            <a:ext cx="1240474" cy="648430"/>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tIns="108000" rtlCol="0" anchor="ctr">
            <a:noAutofit/>
          </a:bodyPr>
          <a:lstStyle/>
          <a:p>
            <a:pPr algn="ctr"/>
            <a:r>
              <a:rPr lang="zh-CN" altLang="en-US" sz="1400">
                <a:solidFill>
                  <a:schemeClr val="bg1">
                    <a:lumMod val="50000"/>
                  </a:schemeClr>
                </a:solidFill>
              </a:rPr>
              <a:t>网络服务</a:t>
            </a:r>
            <a:endParaRPr lang="en-US" altLang="zh-CN" sz="1400">
              <a:solidFill>
                <a:schemeClr val="bg1">
                  <a:lumMod val="50000"/>
                </a:schemeClr>
              </a:solidFill>
            </a:endParaRPr>
          </a:p>
          <a:p>
            <a:pPr algn="ctr"/>
            <a:r>
              <a:rPr lang="zh-CN" altLang="en-US" sz="1400">
                <a:solidFill>
                  <a:schemeClr val="bg1">
                    <a:lumMod val="50000"/>
                  </a:schemeClr>
                </a:solidFill>
              </a:rPr>
              <a:t>资源</a:t>
            </a:r>
            <a:endParaRPr lang="en-US" sz="1400">
              <a:solidFill>
                <a:schemeClr val="bg1">
                  <a:lumMod val="50000"/>
                </a:schemeClr>
              </a:solidFill>
            </a:endParaRPr>
          </a:p>
        </p:txBody>
      </p:sp>
      <p:cxnSp>
        <p:nvCxnSpPr>
          <p:cNvPr id="77" name="直接连接符 76"/>
          <p:cNvCxnSpPr/>
          <p:nvPr/>
        </p:nvCxnSpPr>
        <p:spPr bwMode="gray">
          <a:xfrm>
            <a:off x="2459292" y="2786418"/>
            <a:ext cx="495259" cy="621078"/>
          </a:xfrm>
          <a:prstGeom prst="line">
            <a:avLst/>
          </a:prstGeom>
          <a:ln>
            <a:solidFill>
              <a:schemeClr val="bg1">
                <a:lumMod val="6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78" name="直接连接符 77"/>
          <p:cNvCxnSpPr/>
          <p:nvPr/>
        </p:nvCxnSpPr>
        <p:spPr bwMode="gray">
          <a:xfrm flipH="1">
            <a:off x="3426888" y="2796031"/>
            <a:ext cx="464971" cy="611465"/>
          </a:xfrm>
          <a:prstGeom prst="line">
            <a:avLst/>
          </a:prstGeom>
          <a:ln>
            <a:solidFill>
              <a:schemeClr val="bg1">
                <a:lumMod val="6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pic>
        <p:nvPicPr>
          <p:cNvPr id="81" name="图片 80"/>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bwMode="gray">
          <a:xfrm>
            <a:off x="4418301" y="3127650"/>
            <a:ext cx="865097" cy="491769"/>
          </a:xfrm>
          <a:prstGeom prst="rect">
            <a:avLst/>
          </a:prstGeom>
        </p:spPr>
      </p:pic>
      <p:graphicFrame>
        <p:nvGraphicFramePr>
          <p:cNvPr id="54" name="表格 53"/>
          <p:cNvGraphicFramePr>
            <a:graphicFrameLocks noGrp="1"/>
          </p:cNvGraphicFramePr>
          <p:nvPr>
            <p:extLst/>
          </p:nvPr>
        </p:nvGraphicFramePr>
        <p:xfrm>
          <a:off x="6189543" y="3971550"/>
          <a:ext cx="5292411" cy="1554480"/>
        </p:xfrm>
        <a:graphic>
          <a:graphicData uri="http://schemas.openxmlformats.org/drawingml/2006/table">
            <a:tbl>
              <a:tblPr/>
              <a:tblGrid>
                <a:gridCol w="1260411"/>
                <a:gridCol w="4032000"/>
              </a:tblGrid>
              <a:tr h="276364">
                <a:tc>
                  <a:txBody>
                    <a:bodyPr/>
                    <a:lstStyle/>
                    <a:p>
                      <a:pPr algn="ctr"/>
                      <a:r>
                        <a:rPr lang="en-US" altLang="zh-CN" sz="1400" b="1" dirty="0" smtClean="0">
                          <a:effectLst/>
                        </a:rPr>
                        <a:t>VN</a:t>
                      </a:r>
                      <a:endParaRPr lang="zh-CN" altLang="en-US" sz="1400" b="1" dirty="0">
                        <a:effectLst/>
                      </a:endParaRPr>
                    </a:p>
                  </a:txBody>
                  <a:tcPr anchor="ctr">
                    <a:lnL w="28575" cap="flat" cmpd="sng" algn="ctr">
                      <a:solidFill>
                        <a:schemeClr val="tx1"/>
                      </a:solidFill>
                      <a:prstDash val="solid"/>
                      <a:round/>
                      <a:headEnd type="none" w="med" len="med"/>
                      <a:tailEnd type="none" w="med" len="med"/>
                    </a:lnL>
                    <a:lnT w="28575" cap="flat" cmpd="sng" algn="ctr">
                      <a:solidFill>
                        <a:schemeClr val="tx1"/>
                      </a:solidFill>
                      <a:prstDash val="solid"/>
                      <a:round/>
                      <a:headEnd type="none" w="med" len="med"/>
                      <a:tailEnd type="none" w="med" len="med"/>
                    </a:lnT>
                    <a:solidFill>
                      <a:schemeClr val="bg1">
                        <a:lumMod val="85000"/>
                      </a:schemeClr>
                    </a:solidFill>
                  </a:tcPr>
                </a:tc>
                <a:tc>
                  <a:txBody>
                    <a:bodyPr/>
                    <a:lstStyle/>
                    <a:p>
                      <a:pPr algn="ctr"/>
                      <a:r>
                        <a:rPr lang="zh-CN" altLang="en-US" sz="1400" b="1" dirty="0" smtClean="0">
                          <a:effectLst/>
                        </a:rPr>
                        <a:t>接入用户</a:t>
                      </a:r>
                      <a:endParaRPr lang="zh-CN" altLang="en-US" sz="1400" b="1" dirty="0">
                        <a:effectLst/>
                      </a:endParaRPr>
                    </a:p>
                  </a:txBody>
                  <a:tcPr anchor="ctr">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solidFill>
                      <a:schemeClr val="bg1">
                        <a:lumMod val="85000"/>
                      </a:schemeClr>
                    </a:solidFill>
                  </a:tcPr>
                </a:tc>
              </a:tr>
              <a:tr h="0">
                <a:tc>
                  <a:txBody>
                    <a:bodyPr/>
                    <a:lstStyle/>
                    <a:p>
                      <a:pPr marL="0" indent="0" algn="ctr" defTabSz="914034" rtl="0" eaLnBrk="1" latinLnBrk="0" hangingPunct="1">
                        <a:lnSpc>
                          <a:spcPct val="100000"/>
                        </a:lnSpc>
                        <a:spcAft>
                          <a:spcPts val="0"/>
                        </a:spcAft>
                        <a:buFont typeface="+mj-lt"/>
                        <a:buNone/>
                      </a:pPr>
                      <a:r>
                        <a:rPr lang="en-US" altLang="zh-CN" sz="1400" kern="1200" dirty="0" smtClean="0">
                          <a:solidFill>
                            <a:schemeClr val="tx1"/>
                          </a:solidFill>
                          <a:effectLst/>
                          <a:latin typeface="+mn-lt"/>
                          <a:ea typeface="+mn-ea"/>
                          <a:cs typeface="+mn-cs"/>
                        </a:rPr>
                        <a:t>OA</a:t>
                      </a:r>
                      <a:endParaRPr lang="zh-CN" altLang="en-US" sz="1400" kern="1200" dirty="0">
                        <a:solidFill>
                          <a:schemeClr val="tx1"/>
                        </a:solidFill>
                        <a:effectLst/>
                        <a:latin typeface="+mn-lt"/>
                        <a:ea typeface="+mn-ea"/>
                        <a:cs typeface="+mn-cs"/>
                      </a:endParaRPr>
                    </a:p>
                  </a:txBody>
                  <a:tcPr anchor="ctr">
                    <a:lnL w="28575" cap="flat" cmpd="sng" algn="ctr">
                      <a:solidFill>
                        <a:schemeClr val="tx1"/>
                      </a:solidFill>
                      <a:prstDash val="solid"/>
                      <a:round/>
                      <a:headEnd type="none" w="med" len="med"/>
                      <a:tailEnd type="none" w="med" len="med"/>
                    </a:lnL>
                  </a:tcPr>
                </a:tc>
                <a:tc>
                  <a:txBody>
                    <a:bodyPr/>
                    <a:lstStyle/>
                    <a:p>
                      <a:pPr marL="0" indent="0" algn="just" defTabSz="914034" rtl="0" eaLnBrk="1" latinLnBrk="0" hangingPunct="1">
                        <a:lnSpc>
                          <a:spcPct val="100000"/>
                        </a:lnSpc>
                        <a:spcAft>
                          <a:spcPts val="0"/>
                        </a:spcAft>
                        <a:buFont typeface="+mj-lt"/>
                        <a:buNone/>
                      </a:pPr>
                      <a:r>
                        <a:rPr lang="en-US" altLang="zh-CN" sz="1400" kern="1200" dirty="0" smtClean="0">
                          <a:solidFill>
                            <a:schemeClr val="tx1"/>
                          </a:solidFill>
                          <a:effectLst/>
                          <a:latin typeface="+mn-lt"/>
                          <a:ea typeface="+mn-ea"/>
                          <a:cs typeface="+mn-cs"/>
                        </a:rPr>
                        <a:t>Sales_Wired</a:t>
                      </a:r>
                      <a:r>
                        <a:rPr lang="zh-CN" altLang="en-US" sz="1400" kern="1200" dirty="0" smtClean="0">
                          <a:solidFill>
                            <a:schemeClr val="tx1"/>
                          </a:solidFill>
                          <a:effectLst/>
                          <a:latin typeface="+mn-lt"/>
                          <a:ea typeface="+mn-ea"/>
                          <a:cs typeface="+mn-cs"/>
                        </a:rPr>
                        <a:t>：</a:t>
                      </a:r>
                      <a:r>
                        <a:rPr lang="en-US" altLang="zh-CN" sz="1400" kern="1200" dirty="0" smtClean="0">
                          <a:solidFill>
                            <a:schemeClr val="tx1"/>
                          </a:solidFill>
                          <a:effectLst/>
                          <a:latin typeface="+mn-lt"/>
                          <a:ea typeface="+mn-ea"/>
                          <a:cs typeface="+mn-cs"/>
                        </a:rPr>
                        <a:t>172.17.10.0/24</a:t>
                      </a:r>
                    </a:p>
                    <a:p>
                      <a:pPr marL="0" marR="0" lvl="0" indent="0" algn="just" defTabSz="914034" rtl="0" eaLnBrk="1" fontAlgn="auto" latinLnBrk="0" hangingPunct="1">
                        <a:lnSpc>
                          <a:spcPct val="100000"/>
                        </a:lnSpc>
                        <a:spcBef>
                          <a:spcPts val="0"/>
                        </a:spcBef>
                        <a:spcAft>
                          <a:spcPts val="0"/>
                        </a:spcAft>
                        <a:buClrTx/>
                        <a:buSzTx/>
                        <a:buFont typeface="+mj-lt"/>
                        <a:buNone/>
                        <a:tabLst/>
                        <a:defRPr/>
                      </a:pPr>
                      <a:r>
                        <a:rPr lang="en-US" altLang="zh-CN" sz="1400" kern="1200" dirty="0" err="1" smtClean="0">
                          <a:solidFill>
                            <a:schemeClr val="tx1"/>
                          </a:solidFill>
                          <a:effectLst/>
                          <a:latin typeface="+mn-lt"/>
                          <a:ea typeface="+mn-ea"/>
                          <a:cs typeface="+mn-cs"/>
                        </a:rPr>
                        <a:t>Sales_Wireless</a:t>
                      </a:r>
                      <a:r>
                        <a:rPr lang="zh-CN" altLang="en-US" sz="1400" kern="1200" dirty="0" smtClean="0">
                          <a:solidFill>
                            <a:schemeClr val="tx1"/>
                          </a:solidFill>
                          <a:effectLst/>
                          <a:latin typeface="+mn-lt"/>
                          <a:ea typeface="+mn-ea"/>
                          <a:cs typeface="+mn-cs"/>
                        </a:rPr>
                        <a:t>：</a:t>
                      </a:r>
                      <a:r>
                        <a:rPr lang="en-US" altLang="zh-CN" sz="1400" kern="1200" dirty="0" smtClean="0">
                          <a:solidFill>
                            <a:schemeClr val="tx1"/>
                          </a:solidFill>
                          <a:effectLst/>
                          <a:latin typeface="+mn-lt"/>
                          <a:ea typeface="+mn-ea"/>
                          <a:cs typeface="+mn-cs"/>
                        </a:rPr>
                        <a:t>172.17.11.0/24</a:t>
                      </a:r>
                    </a:p>
                    <a:p>
                      <a:pPr marL="0" marR="0" lvl="0" indent="0" algn="just" defTabSz="914034" rtl="0" eaLnBrk="1" fontAlgn="auto" latinLnBrk="0" hangingPunct="1">
                        <a:lnSpc>
                          <a:spcPct val="100000"/>
                        </a:lnSpc>
                        <a:spcBef>
                          <a:spcPts val="0"/>
                        </a:spcBef>
                        <a:spcAft>
                          <a:spcPts val="0"/>
                        </a:spcAft>
                        <a:buClrTx/>
                        <a:buSzTx/>
                        <a:buFont typeface="+mj-lt"/>
                        <a:buNone/>
                        <a:tabLst/>
                        <a:defRPr/>
                      </a:pPr>
                      <a:r>
                        <a:rPr lang="en-US" altLang="zh-CN" sz="1400" kern="1200" dirty="0" err="1" smtClean="0">
                          <a:solidFill>
                            <a:schemeClr val="tx1"/>
                          </a:solidFill>
                          <a:effectLst/>
                          <a:latin typeface="+mn-lt"/>
                          <a:ea typeface="+mn-ea"/>
                          <a:cs typeface="+mn-cs"/>
                        </a:rPr>
                        <a:t>Market_Wired</a:t>
                      </a:r>
                      <a:r>
                        <a:rPr lang="zh-CN" altLang="en-US" sz="1400" kern="1200" dirty="0" smtClean="0">
                          <a:solidFill>
                            <a:schemeClr val="tx1"/>
                          </a:solidFill>
                          <a:effectLst/>
                          <a:latin typeface="+mn-lt"/>
                          <a:ea typeface="+mn-ea"/>
                          <a:cs typeface="+mn-cs"/>
                        </a:rPr>
                        <a:t>：</a:t>
                      </a:r>
                      <a:r>
                        <a:rPr lang="en-US" altLang="zh-CN" sz="1400" kern="1200" dirty="0" smtClean="0">
                          <a:solidFill>
                            <a:schemeClr val="tx1"/>
                          </a:solidFill>
                          <a:effectLst/>
                          <a:latin typeface="+mn-lt"/>
                          <a:ea typeface="+mn-ea"/>
                          <a:cs typeface="+mn-cs"/>
                        </a:rPr>
                        <a:t>172.17.20.0/24</a:t>
                      </a:r>
                    </a:p>
                    <a:p>
                      <a:pPr marL="0" marR="0" lvl="0" indent="0" algn="just" defTabSz="914034" rtl="0" eaLnBrk="1" fontAlgn="auto" latinLnBrk="0" hangingPunct="1">
                        <a:lnSpc>
                          <a:spcPct val="100000"/>
                        </a:lnSpc>
                        <a:spcBef>
                          <a:spcPts val="0"/>
                        </a:spcBef>
                        <a:spcAft>
                          <a:spcPts val="0"/>
                        </a:spcAft>
                        <a:buClrTx/>
                        <a:buSzTx/>
                        <a:buFont typeface="+mj-lt"/>
                        <a:buNone/>
                        <a:tabLst/>
                        <a:defRPr/>
                      </a:pPr>
                      <a:r>
                        <a:rPr lang="en-US" altLang="zh-CN" sz="1400" kern="1200" dirty="0" err="1" smtClean="0">
                          <a:solidFill>
                            <a:schemeClr val="tx1"/>
                          </a:solidFill>
                          <a:effectLst/>
                          <a:latin typeface="+mn-lt"/>
                          <a:ea typeface="+mn-ea"/>
                          <a:cs typeface="+mn-cs"/>
                        </a:rPr>
                        <a:t>Market_Wireless</a:t>
                      </a:r>
                      <a:r>
                        <a:rPr lang="zh-CN" altLang="en-US" sz="1400" kern="1200" dirty="0" smtClean="0">
                          <a:solidFill>
                            <a:schemeClr val="tx1"/>
                          </a:solidFill>
                          <a:effectLst/>
                          <a:latin typeface="+mn-lt"/>
                          <a:ea typeface="+mn-ea"/>
                          <a:cs typeface="+mn-cs"/>
                        </a:rPr>
                        <a:t>：</a:t>
                      </a:r>
                      <a:r>
                        <a:rPr lang="en-US" altLang="zh-CN" sz="1400" kern="1200" dirty="0" smtClean="0">
                          <a:solidFill>
                            <a:schemeClr val="tx1"/>
                          </a:solidFill>
                          <a:effectLst/>
                          <a:latin typeface="+mn-lt"/>
                          <a:ea typeface="+mn-ea"/>
                          <a:cs typeface="+mn-cs"/>
                        </a:rPr>
                        <a:t>172.17.21.0/24</a:t>
                      </a:r>
                    </a:p>
                  </a:txBody>
                  <a:tcPr anchor="ctr">
                    <a:lnR w="28575" cap="flat" cmpd="sng" algn="ctr">
                      <a:solidFill>
                        <a:schemeClr val="tx1"/>
                      </a:solidFill>
                      <a:prstDash val="solid"/>
                      <a:round/>
                      <a:headEnd type="none" w="med" len="med"/>
                      <a:tailEnd type="none" w="med" len="med"/>
                    </a:lnR>
                  </a:tcPr>
                </a:tc>
              </a:tr>
              <a:tr h="0">
                <a:tc>
                  <a:txBody>
                    <a:bodyPr/>
                    <a:lstStyle/>
                    <a:p>
                      <a:pPr marL="0" indent="0" algn="ctr" defTabSz="914034" rtl="0" eaLnBrk="1" latinLnBrk="0" hangingPunct="1">
                        <a:lnSpc>
                          <a:spcPct val="100000"/>
                        </a:lnSpc>
                        <a:spcAft>
                          <a:spcPts val="0"/>
                        </a:spcAft>
                        <a:buFont typeface="+mj-lt"/>
                        <a:buNone/>
                      </a:pPr>
                      <a:r>
                        <a:rPr lang="en-US" altLang="zh-CN" sz="1400" kern="1200" dirty="0" smtClean="0">
                          <a:solidFill>
                            <a:schemeClr val="tx1"/>
                          </a:solidFill>
                          <a:effectLst/>
                          <a:latin typeface="+mn-lt"/>
                          <a:ea typeface="+mn-ea"/>
                          <a:cs typeface="+mn-cs"/>
                        </a:rPr>
                        <a:t>RD</a:t>
                      </a:r>
                      <a:endParaRPr lang="zh-CN" altLang="en-US" sz="1400" kern="1200" dirty="0">
                        <a:solidFill>
                          <a:schemeClr val="tx1"/>
                        </a:solidFill>
                        <a:effectLst/>
                        <a:latin typeface="+mn-lt"/>
                        <a:ea typeface="+mn-ea"/>
                        <a:cs typeface="+mn-cs"/>
                      </a:endParaRPr>
                    </a:p>
                  </a:txBody>
                  <a:tcPr anchor="ctr">
                    <a:lnL w="28575" cap="flat" cmpd="sng" algn="ctr">
                      <a:solidFill>
                        <a:schemeClr val="tx1"/>
                      </a:solidFill>
                      <a:prstDash val="solid"/>
                      <a:round/>
                      <a:headEnd type="none" w="med" len="med"/>
                      <a:tailEnd type="none" w="med" len="med"/>
                    </a:lnL>
                    <a:lnB w="28575" cap="flat" cmpd="sng" algn="ctr">
                      <a:solidFill>
                        <a:schemeClr val="tx1"/>
                      </a:solidFill>
                      <a:prstDash val="solid"/>
                      <a:round/>
                      <a:headEnd type="none" w="med" len="med"/>
                      <a:tailEnd type="none" w="med" len="med"/>
                    </a:lnB>
                  </a:tcPr>
                </a:tc>
                <a:tc>
                  <a:txBody>
                    <a:bodyPr/>
                    <a:lstStyle/>
                    <a:p>
                      <a:pPr marL="0" marR="0" lvl="0" indent="0" algn="just" defTabSz="914034" rtl="0" eaLnBrk="1" fontAlgn="auto" latinLnBrk="0" hangingPunct="1">
                        <a:lnSpc>
                          <a:spcPct val="100000"/>
                        </a:lnSpc>
                        <a:spcBef>
                          <a:spcPts val="0"/>
                        </a:spcBef>
                        <a:spcAft>
                          <a:spcPts val="0"/>
                        </a:spcAft>
                        <a:buClrTx/>
                        <a:buSzTx/>
                        <a:buFont typeface="+mj-lt"/>
                        <a:buNone/>
                        <a:tabLst/>
                        <a:defRPr/>
                      </a:pPr>
                      <a:r>
                        <a:rPr lang="en-US" altLang="zh-CN" sz="1400" kern="1200" dirty="0" smtClean="0">
                          <a:solidFill>
                            <a:schemeClr val="tx1"/>
                          </a:solidFill>
                          <a:effectLst/>
                          <a:latin typeface="+mn-lt"/>
                          <a:ea typeface="+mn-ea"/>
                          <a:cs typeface="+mn-cs"/>
                        </a:rPr>
                        <a:t>RD</a:t>
                      </a:r>
                      <a:r>
                        <a:rPr lang="zh-CN" altLang="en-US" sz="1400" kern="1200" dirty="0" smtClean="0">
                          <a:solidFill>
                            <a:schemeClr val="tx1"/>
                          </a:solidFill>
                          <a:effectLst/>
                          <a:latin typeface="+mn-lt"/>
                          <a:ea typeface="+mn-ea"/>
                          <a:cs typeface="+mn-cs"/>
                        </a:rPr>
                        <a:t>：</a:t>
                      </a:r>
                      <a:r>
                        <a:rPr lang="en-US" altLang="zh-CN" sz="1400" kern="1200" dirty="0" smtClean="0">
                          <a:solidFill>
                            <a:schemeClr val="tx1"/>
                          </a:solidFill>
                          <a:effectLst/>
                          <a:latin typeface="+mn-lt"/>
                          <a:ea typeface="+mn-ea"/>
                          <a:cs typeface="+mn-cs"/>
                        </a:rPr>
                        <a:t>172.17.30.0/24</a:t>
                      </a:r>
                    </a:p>
                  </a:txBody>
                  <a:tcPr anchor="ctr">
                    <a:lnR w="28575" cap="flat" cmpd="sng" algn="ctr">
                      <a:solidFill>
                        <a:schemeClr val="tx1"/>
                      </a:solidFill>
                      <a:prstDash val="solid"/>
                      <a:round/>
                      <a:headEnd type="none" w="med" len="med"/>
                      <a:tailEnd type="none" w="med" len="med"/>
                    </a:lnR>
                    <a:lnB w="28575" cap="flat" cmpd="sng" algn="ctr">
                      <a:solidFill>
                        <a:schemeClr val="tx1"/>
                      </a:solidFill>
                      <a:prstDash val="solid"/>
                      <a:round/>
                      <a:headEnd type="none" w="med" len="med"/>
                      <a:tailEnd type="none" w="med" len="med"/>
                    </a:lnB>
                  </a:tcPr>
                </a:tc>
              </a:tr>
            </a:tbl>
          </a:graphicData>
        </a:graphic>
      </p:graphicFrame>
      <p:sp>
        <p:nvSpPr>
          <p:cNvPr id="52" name="燕尾形 51"/>
          <p:cNvSpPr/>
          <p:nvPr/>
        </p:nvSpPr>
        <p:spPr bwMode="gray">
          <a:xfrm>
            <a:off x="10741088" y="98481"/>
            <a:ext cx="1008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WLAN</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业务</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2381547215"/>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mtClean="0"/>
              <a:t>Fabric</a:t>
            </a:r>
            <a:r>
              <a:rPr lang="zh-CN" altLang="en-US" smtClean="0"/>
              <a:t>包含的资源池以及创建</a:t>
            </a:r>
            <a:r>
              <a:rPr lang="en-US" altLang="zh-CN" smtClean="0"/>
              <a:t>VN</a:t>
            </a:r>
            <a:r>
              <a:rPr lang="zh-CN" altLang="en-US" smtClean="0"/>
              <a:t>时资源调用的对应表</a:t>
            </a:r>
            <a:endParaRPr lang="zh-CN" altLang="en-US" dirty="0"/>
          </a:p>
        </p:txBody>
      </p:sp>
      <p:graphicFrame>
        <p:nvGraphicFramePr>
          <p:cNvPr id="3" name="表格 2"/>
          <p:cNvGraphicFramePr>
            <a:graphicFrameLocks noGrp="1"/>
          </p:cNvGraphicFramePr>
          <p:nvPr>
            <p:extLst>
              <p:ext uri="{D42A27DB-BD31-4B8C-83A1-F6EECF244321}">
                <p14:modId xmlns:p14="http://schemas.microsoft.com/office/powerpoint/2010/main" val="994535385"/>
              </p:ext>
            </p:extLst>
          </p:nvPr>
        </p:nvGraphicFramePr>
        <p:xfrm>
          <a:off x="754912" y="1412690"/>
          <a:ext cx="10682176" cy="3088191"/>
        </p:xfrm>
        <a:graphic>
          <a:graphicData uri="http://schemas.openxmlformats.org/drawingml/2006/table">
            <a:tbl>
              <a:tblPr/>
              <a:tblGrid>
                <a:gridCol w="5341088"/>
                <a:gridCol w="5341088"/>
              </a:tblGrid>
              <a:tr h="0">
                <a:tc>
                  <a:txBody>
                    <a:bodyPr/>
                    <a:lstStyle/>
                    <a:p>
                      <a:pPr algn="ctr"/>
                      <a:r>
                        <a:rPr lang="en-US" sz="1600" b="1" dirty="0">
                          <a:effectLst/>
                        </a:rPr>
                        <a:t>Fabric</a:t>
                      </a:r>
                      <a:r>
                        <a:rPr lang="zh-CN" altLang="en-US" sz="1600" b="1" dirty="0">
                          <a:effectLst/>
                        </a:rPr>
                        <a:t>包含的资源池</a:t>
                      </a: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zh-CN" altLang="en-US" sz="1600" b="1" dirty="0">
                          <a:effectLst/>
                        </a:rPr>
                        <a:t>创建</a:t>
                      </a:r>
                      <a:r>
                        <a:rPr lang="en-US" altLang="zh-CN" sz="1600" b="1" dirty="0">
                          <a:effectLst/>
                        </a:rPr>
                        <a:t>VN</a:t>
                      </a:r>
                      <a:r>
                        <a:rPr lang="zh-CN" altLang="en-US" sz="1600" b="1" dirty="0">
                          <a:effectLst/>
                        </a:rPr>
                        <a:t>时如何调用资源池中的资源</a:t>
                      </a: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r h="602677">
                <a:tc>
                  <a:txBody>
                    <a:bodyPr/>
                    <a:lstStyle/>
                    <a:p>
                      <a:pPr marL="0" algn="l" defTabSz="914034" rtl="0" eaLnBrk="1" latinLnBrk="0" hangingPunct="1">
                        <a:lnSpc>
                          <a:spcPct val="100000"/>
                        </a:lnSpc>
                      </a:pPr>
                      <a:r>
                        <a:rPr lang="en-US" altLang="zh-CN" sz="1400" kern="1200" dirty="0">
                          <a:solidFill>
                            <a:schemeClr val="tx1"/>
                          </a:solidFill>
                          <a:effectLst/>
                          <a:latin typeface="+mn-lt"/>
                          <a:ea typeface="+mn-ea"/>
                          <a:cs typeface="+mn-cs"/>
                        </a:rPr>
                        <a:t>VLAN</a:t>
                      </a:r>
                      <a:r>
                        <a:rPr lang="zh-CN" altLang="en-US" sz="1400" kern="1200" dirty="0" smtClean="0">
                          <a:solidFill>
                            <a:schemeClr val="tx1"/>
                          </a:solidFill>
                          <a:effectLst/>
                          <a:latin typeface="+mn-lt"/>
                          <a:ea typeface="+mn-ea"/>
                          <a:cs typeface="+mn-cs"/>
                        </a:rPr>
                        <a:t>资源池：</a:t>
                      </a:r>
                      <a:r>
                        <a:rPr lang="en-US" altLang="zh-CN" sz="1400" kern="1200" dirty="0" smtClean="0">
                          <a:solidFill>
                            <a:schemeClr val="tx1"/>
                          </a:solidFill>
                          <a:effectLst/>
                          <a:latin typeface="+mn-lt"/>
                          <a:ea typeface="+mn-ea"/>
                          <a:cs typeface="+mn-cs"/>
                        </a:rPr>
                        <a:t>VN</a:t>
                      </a:r>
                      <a:r>
                        <a:rPr lang="zh-CN" altLang="en-US" sz="1400" kern="1200" dirty="0">
                          <a:solidFill>
                            <a:schemeClr val="tx1"/>
                          </a:solidFill>
                          <a:effectLst/>
                          <a:latin typeface="+mn-lt"/>
                          <a:ea typeface="+mn-ea"/>
                          <a:cs typeface="+mn-cs"/>
                        </a:rPr>
                        <a:t>接入终端、与外部互联等场景使用，配置</a:t>
                      </a:r>
                      <a:r>
                        <a:rPr lang="en-US" altLang="zh-CN" sz="1400" kern="1200" dirty="0">
                          <a:solidFill>
                            <a:schemeClr val="tx1"/>
                          </a:solidFill>
                          <a:effectLst/>
                          <a:latin typeface="+mn-lt"/>
                          <a:ea typeface="+mn-ea"/>
                          <a:cs typeface="+mn-cs"/>
                        </a:rPr>
                        <a:t>Fabric</a:t>
                      </a:r>
                      <a:r>
                        <a:rPr lang="zh-CN" altLang="en-US" sz="1400" kern="1200" dirty="0">
                          <a:solidFill>
                            <a:schemeClr val="tx1"/>
                          </a:solidFill>
                          <a:effectLst/>
                          <a:latin typeface="+mn-lt"/>
                          <a:ea typeface="+mn-ea"/>
                          <a:cs typeface="+mn-cs"/>
                        </a:rPr>
                        <a:t>全局资源池时</a:t>
                      </a:r>
                      <a:r>
                        <a:rPr lang="zh-CN" altLang="en-US" sz="1400" kern="1200" dirty="0" smtClean="0">
                          <a:solidFill>
                            <a:schemeClr val="tx1"/>
                          </a:solidFill>
                          <a:effectLst/>
                          <a:latin typeface="+mn-lt"/>
                          <a:ea typeface="+mn-ea"/>
                          <a:cs typeface="+mn-cs"/>
                        </a:rPr>
                        <a:t>规划。</a:t>
                      </a:r>
                      <a:endParaRPr lang="zh-CN" altLang="en-US" sz="1400" kern="1200" dirty="0">
                        <a:solidFill>
                          <a:schemeClr val="tx1"/>
                        </a:solidFill>
                        <a:effectLst/>
                        <a:latin typeface="+mn-lt"/>
                        <a:ea typeface="+mn-ea"/>
                        <a:cs typeface="+mn-cs"/>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defTabSz="914034" rtl="0" eaLnBrk="1" latinLnBrk="0" hangingPunct="1">
                        <a:lnSpc>
                          <a:spcPct val="100000"/>
                        </a:lnSpc>
                      </a:pPr>
                      <a:r>
                        <a:rPr lang="zh-CN" altLang="en-US" sz="1400" kern="1200" dirty="0">
                          <a:solidFill>
                            <a:schemeClr val="tx1"/>
                          </a:solidFill>
                          <a:effectLst/>
                          <a:latin typeface="+mn-lt"/>
                          <a:ea typeface="+mn-ea"/>
                          <a:cs typeface="+mn-cs"/>
                        </a:rPr>
                        <a:t>在</a:t>
                      </a:r>
                      <a:r>
                        <a:rPr lang="en-US" altLang="zh-CN" sz="1400" kern="1200" dirty="0">
                          <a:solidFill>
                            <a:schemeClr val="tx1"/>
                          </a:solidFill>
                          <a:effectLst/>
                          <a:latin typeface="+mn-lt"/>
                          <a:ea typeface="+mn-ea"/>
                          <a:cs typeface="+mn-cs"/>
                        </a:rPr>
                        <a:t>VN</a:t>
                      </a:r>
                      <a:r>
                        <a:rPr lang="zh-CN" altLang="en-US" sz="1400" kern="1200" dirty="0">
                          <a:solidFill>
                            <a:schemeClr val="tx1"/>
                          </a:solidFill>
                          <a:effectLst/>
                          <a:latin typeface="+mn-lt"/>
                          <a:ea typeface="+mn-ea"/>
                          <a:cs typeface="+mn-cs"/>
                        </a:rPr>
                        <a:t>中创建用户网关时，设置的用户</a:t>
                      </a:r>
                      <a:r>
                        <a:rPr lang="en-US" altLang="zh-CN" sz="1400" kern="1200" dirty="0">
                          <a:solidFill>
                            <a:schemeClr val="tx1"/>
                          </a:solidFill>
                          <a:effectLst/>
                          <a:latin typeface="+mn-lt"/>
                          <a:ea typeface="+mn-ea"/>
                          <a:cs typeface="+mn-cs"/>
                        </a:rPr>
                        <a:t>VLAN</a:t>
                      </a:r>
                      <a:r>
                        <a:rPr lang="zh-CN" altLang="en-US" sz="1400" kern="1200" dirty="0">
                          <a:solidFill>
                            <a:schemeClr val="tx1"/>
                          </a:solidFill>
                          <a:effectLst/>
                          <a:latin typeface="+mn-lt"/>
                          <a:ea typeface="+mn-ea"/>
                          <a:cs typeface="+mn-cs"/>
                        </a:rPr>
                        <a:t>为</a:t>
                      </a:r>
                      <a:r>
                        <a:rPr lang="en-US" altLang="zh-CN" sz="1400" kern="1200" dirty="0">
                          <a:solidFill>
                            <a:schemeClr val="tx1"/>
                          </a:solidFill>
                          <a:effectLst/>
                          <a:latin typeface="+mn-lt"/>
                          <a:ea typeface="+mn-ea"/>
                          <a:cs typeface="+mn-cs"/>
                        </a:rPr>
                        <a:t>Fabric</a:t>
                      </a:r>
                      <a:r>
                        <a:rPr lang="zh-CN" altLang="en-US" sz="1400" kern="1200" dirty="0">
                          <a:solidFill>
                            <a:schemeClr val="tx1"/>
                          </a:solidFill>
                          <a:effectLst/>
                          <a:latin typeface="+mn-lt"/>
                          <a:ea typeface="+mn-ea"/>
                          <a:cs typeface="+mn-cs"/>
                        </a:rPr>
                        <a:t>全局资源池中的</a:t>
                      </a:r>
                      <a:r>
                        <a:rPr lang="zh-CN" altLang="en-US" sz="1400" kern="1200" dirty="0" smtClean="0">
                          <a:solidFill>
                            <a:schemeClr val="tx1"/>
                          </a:solidFill>
                          <a:effectLst/>
                          <a:latin typeface="+mn-lt"/>
                          <a:ea typeface="+mn-ea"/>
                          <a:cs typeface="+mn-cs"/>
                        </a:rPr>
                        <a:t>资源。</a:t>
                      </a:r>
                      <a:endParaRPr lang="zh-CN" altLang="en-US" sz="1400" kern="1200" dirty="0">
                        <a:solidFill>
                          <a:schemeClr val="tx1"/>
                        </a:solidFill>
                        <a:effectLst/>
                        <a:latin typeface="+mn-lt"/>
                        <a:ea typeface="+mn-ea"/>
                        <a:cs typeface="+mn-cs"/>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602677">
                <a:tc>
                  <a:txBody>
                    <a:bodyPr/>
                    <a:lstStyle/>
                    <a:p>
                      <a:pPr marL="0" algn="l" defTabSz="914034" rtl="0" eaLnBrk="1" latinLnBrk="0" hangingPunct="1">
                        <a:lnSpc>
                          <a:spcPct val="100000"/>
                        </a:lnSpc>
                      </a:pPr>
                      <a:r>
                        <a:rPr lang="en-US" altLang="zh-CN" sz="1400" kern="1200" dirty="0">
                          <a:solidFill>
                            <a:schemeClr val="tx1"/>
                          </a:solidFill>
                          <a:effectLst/>
                          <a:latin typeface="+mn-lt"/>
                          <a:ea typeface="+mn-ea"/>
                          <a:cs typeface="+mn-cs"/>
                        </a:rPr>
                        <a:t>BD/VNI</a:t>
                      </a:r>
                      <a:r>
                        <a:rPr lang="zh-CN" altLang="en-US" sz="1400" kern="1200" dirty="0" smtClean="0">
                          <a:solidFill>
                            <a:schemeClr val="tx1"/>
                          </a:solidFill>
                          <a:effectLst/>
                          <a:latin typeface="+mn-lt"/>
                          <a:ea typeface="+mn-ea"/>
                          <a:cs typeface="+mn-cs"/>
                        </a:rPr>
                        <a:t>资源池：</a:t>
                      </a:r>
                      <a:r>
                        <a:rPr lang="en-US" altLang="zh-CN" sz="1400" kern="1200" dirty="0" smtClean="0">
                          <a:solidFill>
                            <a:schemeClr val="tx1"/>
                          </a:solidFill>
                          <a:effectLst/>
                          <a:latin typeface="+mn-lt"/>
                          <a:ea typeface="+mn-ea"/>
                          <a:cs typeface="+mn-cs"/>
                        </a:rPr>
                        <a:t>VN</a:t>
                      </a:r>
                      <a:r>
                        <a:rPr lang="zh-CN" altLang="en-US" sz="1400" kern="1200" dirty="0">
                          <a:solidFill>
                            <a:schemeClr val="tx1"/>
                          </a:solidFill>
                          <a:effectLst/>
                          <a:latin typeface="+mn-lt"/>
                          <a:ea typeface="+mn-ea"/>
                          <a:cs typeface="+mn-cs"/>
                        </a:rPr>
                        <a:t>中划分的二层广播域，对应的</a:t>
                      </a:r>
                      <a:r>
                        <a:rPr lang="en-US" altLang="zh-CN" sz="1400" kern="1200" dirty="0">
                          <a:solidFill>
                            <a:schemeClr val="tx1"/>
                          </a:solidFill>
                          <a:effectLst/>
                          <a:latin typeface="+mn-lt"/>
                          <a:ea typeface="+mn-ea"/>
                          <a:cs typeface="+mn-cs"/>
                        </a:rPr>
                        <a:t>VBDIF</a:t>
                      </a:r>
                      <a:r>
                        <a:rPr lang="zh-CN" altLang="en-US" sz="1400" kern="1200" dirty="0">
                          <a:solidFill>
                            <a:schemeClr val="tx1"/>
                          </a:solidFill>
                          <a:effectLst/>
                          <a:latin typeface="+mn-lt"/>
                          <a:ea typeface="+mn-ea"/>
                          <a:cs typeface="+mn-cs"/>
                        </a:rPr>
                        <a:t>接口作为用户子网网关接口，配置</a:t>
                      </a:r>
                      <a:r>
                        <a:rPr lang="en-US" altLang="zh-CN" sz="1400" kern="1200" dirty="0">
                          <a:solidFill>
                            <a:schemeClr val="tx1"/>
                          </a:solidFill>
                          <a:effectLst/>
                          <a:latin typeface="+mn-lt"/>
                          <a:ea typeface="+mn-ea"/>
                          <a:cs typeface="+mn-cs"/>
                        </a:rPr>
                        <a:t>Fabric</a:t>
                      </a:r>
                      <a:r>
                        <a:rPr lang="zh-CN" altLang="en-US" sz="1400" kern="1200" dirty="0">
                          <a:solidFill>
                            <a:schemeClr val="tx1"/>
                          </a:solidFill>
                          <a:effectLst/>
                          <a:latin typeface="+mn-lt"/>
                          <a:ea typeface="+mn-ea"/>
                          <a:cs typeface="+mn-cs"/>
                        </a:rPr>
                        <a:t>全局资源池时</a:t>
                      </a:r>
                      <a:r>
                        <a:rPr lang="zh-CN" altLang="en-US" sz="1400" kern="1200" dirty="0" smtClean="0">
                          <a:solidFill>
                            <a:schemeClr val="tx1"/>
                          </a:solidFill>
                          <a:effectLst/>
                          <a:latin typeface="+mn-lt"/>
                          <a:ea typeface="+mn-ea"/>
                          <a:cs typeface="+mn-cs"/>
                        </a:rPr>
                        <a:t>规划。</a:t>
                      </a:r>
                      <a:endParaRPr lang="zh-CN" altLang="en-US" sz="1400" kern="1200" dirty="0">
                        <a:solidFill>
                          <a:schemeClr val="tx1"/>
                        </a:solidFill>
                        <a:effectLst/>
                        <a:latin typeface="+mn-lt"/>
                        <a:ea typeface="+mn-ea"/>
                        <a:cs typeface="+mn-cs"/>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defTabSz="914034" rtl="0" eaLnBrk="1" latinLnBrk="0" hangingPunct="1">
                        <a:lnSpc>
                          <a:spcPct val="100000"/>
                        </a:lnSpc>
                      </a:pPr>
                      <a:r>
                        <a:rPr lang="zh-CN" altLang="en-US" sz="1400" kern="1200" dirty="0">
                          <a:solidFill>
                            <a:schemeClr val="tx1"/>
                          </a:solidFill>
                          <a:effectLst/>
                          <a:latin typeface="+mn-lt"/>
                          <a:ea typeface="+mn-ea"/>
                          <a:cs typeface="+mn-cs"/>
                        </a:rPr>
                        <a:t>在</a:t>
                      </a:r>
                      <a:r>
                        <a:rPr lang="en-US" altLang="zh-CN" sz="1400" kern="1200" dirty="0">
                          <a:solidFill>
                            <a:schemeClr val="tx1"/>
                          </a:solidFill>
                          <a:effectLst/>
                          <a:latin typeface="+mn-lt"/>
                          <a:ea typeface="+mn-ea"/>
                          <a:cs typeface="+mn-cs"/>
                        </a:rPr>
                        <a:t>VN</a:t>
                      </a:r>
                      <a:r>
                        <a:rPr lang="zh-CN" altLang="en-US" sz="1400" kern="1200" dirty="0">
                          <a:solidFill>
                            <a:schemeClr val="tx1"/>
                          </a:solidFill>
                          <a:effectLst/>
                          <a:latin typeface="+mn-lt"/>
                          <a:ea typeface="+mn-ea"/>
                          <a:cs typeface="+mn-cs"/>
                        </a:rPr>
                        <a:t>中创建用户网关时，会自动从</a:t>
                      </a:r>
                      <a:r>
                        <a:rPr lang="en-US" altLang="zh-CN" sz="1400" kern="1200" dirty="0">
                          <a:solidFill>
                            <a:schemeClr val="tx1"/>
                          </a:solidFill>
                          <a:effectLst/>
                          <a:latin typeface="+mn-lt"/>
                          <a:ea typeface="+mn-ea"/>
                          <a:cs typeface="+mn-cs"/>
                        </a:rPr>
                        <a:t>BD/VNI</a:t>
                      </a:r>
                      <a:r>
                        <a:rPr lang="zh-CN" altLang="en-US" sz="1400" kern="1200" dirty="0">
                          <a:solidFill>
                            <a:schemeClr val="tx1"/>
                          </a:solidFill>
                          <a:effectLst/>
                          <a:latin typeface="+mn-lt"/>
                          <a:ea typeface="+mn-ea"/>
                          <a:cs typeface="+mn-cs"/>
                        </a:rPr>
                        <a:t>资源池中调用资源，创建</a:t>
                      </a:r>
                      <a:r>
                        <a:rPr lang="en-US" altLang="zh-CN" sz="1400" kern="1200" dirty="0">
                          <a:solidFill>
                            <a:schemeClr val="tx1"/>
                          </a:solidFill>
                          <a:effectLst/>
                          <a:latin typeface="+mn-lt"/>
                          <a:ea typeface="+mn-ea"/>
                          <a:cs typeface="+mn-cs"/>
                        </a:rPr>
                        <a:t>BD</a:t>
                      </a:r>
                      <a:r>
                        <a:rPr lang="zh-CN" altLang="en-US" sz="1400" kern="1200" dirty="0">
                          <a:solidFill>
                            <a:schemeClr val="tx1"/>
                          </a:solidFill>
                          <a:effectLst/>
                          <a:latin typeface="+mn-lt"/>
                          <a:ea typeface="+mn-ea"/>
                          <a:cs typeface="+mn-cs"/>
                        </a:rPr>
                        <a:t>广播域及对应的</a:t>
                      </a:r>
                      <a:r>
                        <a:rPr lang="en-US" altLang="zh-CN" sz="1400" kern="1200" dirty="0">
                          <a:solidFill>
                            <a:schemeClr val="tx1"/>
                          </a:solidFill>
                          <a:effectLst/>
                          <a:latin typeface="+mn-lt"/>
                          <a:ea typeface="+mn-ea"/>
                          <a:cs typeface="+mn-cs"/>
                        </a:rPr>
                        <a:t>VBDIF</a:t>
                      </a:r>
                      <a:r>
                        <a:rPr lang="zh-CN" altLang="en-US" sz="1400" kern="1200" dirty="0" smtClean="0">
                          <a:solidFill>
                            <a:schemeClr val="tx1"/>
                          </a:solidFill>
                          <a:effectLst/>
                          <a:latin typeface="+mn-lt"/>
                          <a:ea typeface="+mn-ea"/>
                          <a:cs typeface="+mn-cs"/>
                        </a:rPr>
                        <a:t>接口。</a:t>
                      </a:r>
                      <a:endParaRPr lang="zh-CN" altLang="en-US" sz="1400" kern="1200" dirty="0">
                        <a:solidFill>
                          <a:schemeClr val="tx1"/>
                        </a:solidFill>
                        <a:effectLst/>
                        <a:latin typeface="+mn-lt"/>
                        <a:ea typeface="+mn-ea"/>
                        <a:cs typeface="+mn-cs"/>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602677">
                <a:tc>
                  <a:txBody>
                    <a:bodyPr/>
                    <a:lstStyle/>
                    <a:p>
                      <a:pPr marL="0" algn="l" defTabSz="914034" rtl="0" eaLnBrk="1" latinLnBrk="0" hangingPunct="1">
                        <a:lnSpc>
                          <a:spcPct val="100000"/>
                        </a:lnSpc>
                      </a:pPr>
                      <a:r>
                        <a:rPr lang="zh-CN" altLang="en-US" sz="1400" kern="1200" dirty="0">
                          <a:solidFill>
                            <a:schemeClr val="tx1"/>
                          </a:solidFill>
                          <a:effectLst/>
                          <a:latin typeface="+mn-lt"/>
                          <a:ea typeface="+mn-ea"/>
                          <a:cs typeface="+mn-cs"/>
                        </a:rPr>
                        <a:t>用户接入点</a:t>
                      </a:r>
                      <a:r>
                        <a:rPr lang="zh-CN" altLang="en-US" sz="1400" kern="1200" dirty="0" smtClean="0">
                          <a:solidFill>
                            <a:schemeClr val="tx1"/>
                          </a:solidFill>
                          <a:effectLst/>
                          <a:latin typeface="+mn-lt"/>
                          <a:ea typeface="+mn-ea"/>
                          <a:cs typeface="+mn-cs"/>
                        </a:rPr>
                        <a:t>资源池：配置</a:t>
                      </a:r>
                      <a:r>
                        <a:rPr lang="en-US" altLang="zh-CN" sz="1400" kern="1200" dirty="0">
                          <a:solidFill>
                            <a:schemeClr val="tx1"/>
                          </a:solidFill>
                          <a:effectLst/>
                          <a:latin typeface="+mn-lt"/>
                          <a:ea typeface="+mn-ea"/>
                          <a:cs typeface="+mn-cs"/>
                        </a:rPr>
                        <a:t>Fabric</a:t>
                      </a:r>
                      <a:r>
                        <a:rPr lang="zh-CN" altLang="en-US" sz="1400" kern="1200" dirty="0">
                          <a:solidFill>
                            <a:schemeClr val="tx1"/>
                          </a:solidFill>
                          <a:effectLst/>
                          <a:latin typeface="+mn-lt"/>
                          <a:ea typeface="+mn-ea"/>
                          <a:cs typeface="+mn-cs"/>
                        </a:rPr>
                        <a:t>的接入管理时规划，包括接入点绑定的认证</a:t>
                      </a:r>
                      <a:r>
                        <a:rPr lang="zh-CN" altLang="en-US" sz="1400" kern="1200" dirty="0" smtClean="0">
                          <a:solidFill>
                            <a:schemeClr val="tx1"/>
                          </a:solidFill>
                          <a:effectLst/>
                          <a:latin typeface="+mn-lt"/>
                          <a:ea typeface="+mn-ea"/>
                          <a:cs typeface="+mn-cs"/>
                        </a:rPr>
                        <a:t>方式。</a:t>
                      </a:r>
                      <a:endParaRPr lang="zh-CN" altLang="en-US" sz="1400" kern="1200" dirty="0">
                        <a:solidFill>
                          <a:schemeClr val="tx1"/>
                        </a:solidFill>
                        <a:effectLst/>
                        <a:latin typeface="+mn-lt"/>
                        <a:ea typeface="+mn-ea"/>
                        <a:cs typeface="+mn-cs"/>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defTabSz="914034" rtl="0" eaLnBrk="1" latinLnBrk="0" hangingPunct="1">
                        <a:lnSpc>
                          <a:spcPct val="100000"/>
                        </a:lnSpc>
                      </a:pPr>
                      <a:r>
                        <a:rPr lang="zh-CN" altLang="en-US" sz="1400" kern="1200" dirty="0">
                          <a:solidFill>
                            <a:schemeClr val="tx1"/>
                          </a:solidFill>
                          <a:effectLst/>
                          <a:latin typeface="+mn-lt"/>
                          <a:ea typeface="+mn-ea"/>
                          <a:cs typeface="+mn-cs"/>
                        </a:rPr>
                        <a:t>在</a:t>
                      </a:r>
                      <a:r>
                        <a:rPr lang="en-US" altLang="zh-CN" sz="1400" kern="1200" dirty="0">
                          <a:solidFill>
                            <a:schemeClr val="tx1"/>
                          </a:solidFill>
                          <a:effectLst/>
                          <a:latin typeface="+mn-lt"/>
                          <a:ea typeface="+mn-ea"/>
                          <a:cs typeface="+mn-cs"/>
                        </a:rPr>
                        <a:t>VN</a:t>
                      </a:r>
                      <a:r>
                        <a:rPr lang="zh-CN" altLang="en-US" sz="1400" kern="1200" dirty="0">
                          <a:solidFill>
                            <a:schemeClr val="tx1"/>
                          </a:solidFill>
                          <a:effectLst/>
                          <a:latin typeface="+mn-lt"/>
                          <a:ea typeface="+mn-ea"/>
                          <a:cs typeface="+mn-cs"/>
                        </a:rPr>
                        <a:t>中配置用户接入时，可选取已规划的接入点</a:t>
                      </a:r>
                      <a:r>
                        <a:rPr lang="zh-CN" altLang="en-US" sz="1400" kern="1200" dirty="0" smtClean="0">
                          <a:solidFill>
                            <a:schemeClr val="tx1"/>
                          </a:solidFill>
                          <a:effectLst/>
                          <a:latin typeface="+mn-lt"/>
                          <a:ea typeface="+mn-ea"/>
                          <a:cs typeface="+mn-cs"/>
                        </a:rPr>
                        <a:t>资源。</a:t>
                      </a:r>
                      <a:endParaRPr lang="zh-CN" altLang="en-US" sz="1400" kern="1200" dirty="0">
                        <a:solidFill>
                          <a:schemeClr val="tx1"/>
                        </a:solidFill>
                        <a:effectLst/>
                        <a:latin typeface="+mn-lt"/>
                        <a:ea typeface="+mn-ea"/>
                        <a:cs typeface="+mn-cs"/>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699036">
                <a:tc>
                  <a:txBody>
                    <a:bodyPr/>
                    <a:lstStyle/>
                    <a:p>
                      <a:pPr marL="0" algn="l" defTabSz="914034" rtl="0" eaLnBrk="1" latinLnBrk="0" hangingPunct="1">
                        <a:lnSpc>
                          <a:spcPct val="100000"/>
                        </a:lnSpc>
                      </a:pPr>
                      <a:r>
                        <a:rPr lang="zh-CN" altLang="en-US" sz="1400" kern="1200" dirty="0">
                          <a:solidFill>
                            <a:schemeClr val="tx1"/>
                          </a:solidFill>
                          <a:effectLst/>
                          <a:latin typeface="+mn-lt"/>
                          <a:ea typeface="+mn-ea"/>
                          <a:cs typeface="+mn-cs"/>
                        </a:rPr>
                        <a:t>外部出口</a:t>
                      </a:r>
                      <a:r>
                        <a:rPr lang="zh-CN" altLang="en-US" sz="1400" kern="1200" dirty="0" smtClean="0">
                          <a:solidFill>
                            <a:schemeClr val="tx1"/>
                          </a:solidFill>
                          <a:effectLst/>
                          <a:latin typeface="+mn-lt"/>
                          <a:ea typeface="+mn-ea"/>
                          <a:cs typeface="+mn-cs"/>
                        </a:rPr>
                        <a:t>池：指</a:t>
                      </a:r>
                      <a:r>
                        <a:rPr lang="en-US" altLang="zh-CN" sz="1400" kern="1200" dirty="0">
                          <a:solidFill>
                            <a:schemeClr val="tx1"/>
                          </a:solidFill>
                          <a:effectLst/>
                          <a:latin typeface="+mn-lt"/>
                          <a:ea typeface="+mn-ea"/>
                          <a:cs typeface="+mn-cs"/>
                        </a:rPr>
                        <a:t>VN</a:t>
                      </a:r>
                      <a:r>
                        <a:rPr lang="zh-CN" altLang="en-US" sz="1400" kern="1200" dirty="0">
                          <a:solidFill>
                            <a:schemeClr val="tx1"/>
                          </a:solidFill>
                          <a:effectLst/>
                          <a:latin typeface="+mn-lt"/>
                          <a:ea typeface="+mn-ea"/>
                          <a:cs typeface="+mn-cs"/>
                        </a:rPr>
                        <a:t>可以使用的外部资源，配置</a:t>
                      </a:r>
                      <a:r>
                        <a:rPr lang="en-US" altLang="zh-CN" sz="1400" kern="1200" dirty="0">
                          <a:solidFill>
                            <a:schemeClr val="tx1"/>
                          </a:solidFill>
                          <a:effectLst/>
                          <a:latin typeface="+mn-lt"/>
                          <a:ea typeface="+mn-ea"/>
                          <a:cs typeface="+mn-cs"/>
                        </a:rPr>
                        <a:t>Fabric</a:t>
                      </a:r>
                      <a:r>
                        <a:rPr lang="zh-CN" altLang="en-US" sz="1400" kern="1200" dirty="0">
                          <a:solidFill>
                            <a:schemeClr val="tx1"/>
                          </a:solidFill>
                          <a:effectLst/>
                          <a:latin typeface="+mn-lt"/>
                          <a:ea typeface="+mn-ea"/>
                          <a:cs typeface="+mn-cs"/>
                        </a:rPr>
                        <a:t>时主要创建两类：</a:t>
                      </a:r>
                    </a:p>
                    <a:p>
                      <a:pPr marL="0" indent="-285750" algn="l" defTabSz="914034" rtl="0" eaLnBrk="1" latinLnBrk="0" hangingPunct="1">
                        <a:lnSpc>
                          <a:spcPct val="100000"/>
                        </a:lnSpc>
                        <a:buFont typeface="Arial" panose="020B0604020202020204" pitchFamily="34" charset="0"/>
                        <a:buChar char="•"/>
                      </a:pPr>
                      <a:r>
                        <a:rPr lang="zh-CN" altLang="en-US" sz="1400" kern="1200" dirty="0">
                          <a:solidFill>
                            <a:schemeClr val="tx1"/>
                          </a:solidFill>
                          <a:effectLst/>
                          <a:latin typeface="+mn-lt"/>
                          <a:ea typeface="+mn-ea"/>
                          <a:cs typeface="+mn-cs"/>
                        </a:rPr>
                        <a:t>外部网络，用于</a:t>
                      </a:r>
                      <a:r>
                        <a:rPr lang="en-US" altLang="zh-CN" sz="1400" kern="1200" dirty="0">
                          <a:solidFill>
                            <a:schemeClr val="tx1"/>
                          </a:solidFill>
                          <a:effectLst/>
                          <a:latin typeface="+mn-lt"/>
                          <a:ea typeface="+mn-ea"/>
                          <a:cs typeface="+mn-cs"/>
                        </a:rPr>
                        <a:t>VN</a:t>
                      </a:r>
                      <a:r>
                        <a:rPr lang="zh-CN" altLang="en-US" sz="1400" kern="1200" dirty="0">
                          <a:solidFill>
                            <a:schemeClr val="tx1"/>
                          </a:solidFill>
                          <a:effectLst/>
                          <a:latin typeface="+mn-lt"/>
                          <a:ea typeface="+mn-ea"/>
                          <a:cs typeface="+mn-cs"/>
                        </a:rPr>
                        <a:t>与外部</a:t>
                      </a:r>
                      <a:r>
                        <a:rPr lang="zh-CN" altLang="en-US" sz="1400" kern="1200" dirty="0" smtClean="0">
                          <a:solidFill>
                            <a:schemeClr val="tx1"/>
                          </a:solidFill>
                          <a:effectLst/>
                          <a:latin typeface="+mn-lt"/>
                          <a:ea typeface="+mn-ea"/>
                          <a:cs typeface="+mn-cs"/>
                        </a:rPr>
                        <a:t>互通。</a:t>
                      </a:r>
                      <a:endParaRPr lang="zh-CN" altLang="en-US" sz="1400" kern="1200" dirty="0">
                        <a:solidFill>
                          <a:schemeClr val="tx1"/>
                        </a:solidFill>
                        <a:effectLst/>
                        <a:latin typeface="+mn-lt"/>
                        <a:ea typeface="+mn-ea"/>
                        <a:cs typeface="+mn-cs"/>
                      </a:endParaRPr>
                    </a:p>
                    <a:p>
                      <a:pPr marL="0" indent="-285750" algn="l" defTabSz="914034" rtl="0" eaLnBrk="1" latinLnBrk="0" hangingPunct="1">
                        <a:lnSpc>
                          <a:spcPct val="100000"/>
                        </a:lnSpc>
                        <a:buFont typeface="Arial" panose="020B0604020202020204" pitchFamily="34" charset="0"/>
                        <a:buChar char="•"/>
                      </a:pPr>
                      <a:r>
                        <a:rPr lang="zh-CN" altLang="en-US" sz="1400" kern="1200" dirty="0">
                          <a:solidFill>
                            <a:schemeClr val="tx1"/>
                          </a:solidFill>
                          <a:effectLst/>
                          <a:latin typeface="+mn-lt"/>
                          <a:ea typeface="+mn-ea"/>
                          <a:cs typeface="+mn-cs"/>
                        </a:rPr>
                        <a:t>网络服务资源，用于</a:t>
                      </a:r>
                      <a:r>
                        <a:rPr lang="en-US" altLang="zh-CN" sz="1400" kern="1200" dirty="0">
                          <a:solidFill>
                            <a:schemeClr val="tx1"/>
                          </a:solidFill>
                          <a:effectLst/>
                          <a:latin typeface="+mn-lt"/>
                          <a:ea typeface="+mn-ea"/>
                          <a:cs typeface="+mn-cs"/>
                        </a:rPr>
                        <a:t>VN</a:t>
                      </a:r>
                      <a:r>
                        <a:rPr lang="zh-CN" altLang="en-US" sz="1400" kern="1200" dirty="0">
                          <a:solidFill>
                            <a:schemeClr val="tx1"/>
                          </a:solidFill>
                          <a:effectLst/>
                          <a:latin typeface="+mn-lt"/>
                          <a:ea typeface="+mn-ea"/>
                          <a:cs typeface="+mn-cs"/>
                        </a:rPr>
                        <a:t>与认证服务器、</a:t>
                      </a:r>
                      <a:r>
                        <a:rPr lang="en-US" altLang="zh-CN" sz="1400" kern="1200" dirty="0">
                          <a:solidFill>
                            <a:schemeClr val="tx1"/>
                          </a:solidFill>
                          <a:effectLst/>
                          <a:latin typeface="+mn-lt"/>
                          <a:ea typeface="+mn-ea"/>
                          <a:cs typeface="+mn-cs"/>
                        </a:rPr>
                        <a:t>DHCP</a:t>
                      </a:r>
                      <a:r>
                        <a:rPr lang="zh-CN" altLang="en-US" sz="1400" kern="1200" dirty="0">
                          <a:solidFill>
                            <a:schemeClr val="tx1"/>
                          </a:solidFill>
                          <a:effectLst/>
                          <a:latin typeface="+mn-lt"/>
                          <a:ea typeface="+mn-ea"/>
                          <a:cs typeface="+mn-cs"/>
                        </a:rPr>
                        <a:t>服务器等</a:t>
                      </a:r>
                      <a:r>
                        <a:rPr lang="zh-CN" altLang="en-US" sz="1400" kern="1200" dirty="0" smtClean="0">
                          <a:solidFill>
                            <a:schemeClr val="tx1"/>
                          </a:solidFill>
                          <a:effectLst/>
                          <a:latin typeface="+mn-lt"/>
                          <a:ea typeface="+mn-ea"/>
                          <a:cs typeface="+mn-cs"/>
                        </a:rPr>
                        <a:t>互通。</a:t>
                      </a:r>
                      <a:endParaRPr lang="zh-CN" altLang="en-US" sz="1400" kern="1200" dirty="0">
                        <a:solidFill>
                          <a:schemeClr val="tx1"/>
                        </a:solidFill>
                        <a:effectLst/>
                        <a:latin typeface="+mn-lt"/>
                        <a:ea typeface="+mn-ea"/>
                        <a:cs typeface="+mn-cs"/>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marL="0" algn="l" defTabSz="914034" rtl="0" eaLnBrk="1" latinLnBrk="0" hangingPunct="1">
                        <a:lnSpc>
                          <a:spcPct val="100000"/>
                        </a:lnSpc>
                      </a:pPr>
                      <a:r>
                        <a:rPr lang="zh-CN" altLang="en-US" sz="1400" kern="1200" dirty="0">
                          <a:solidFill>
                            <a:schemeClr val="tx1"/>
                          </a:solidFill>
                          <a:effectLst/>
                          <a:latin typeface="+mn-lt"/>
                          <a:ea typeface="+mn-ea"/>
                          <a:cs typeface="+mn-cs"/>
                        </a:rPr>
                        <a:t>创建</a:t>
                      </a:r>
                      <a:r>
                        <a:rPr lang="en-US" altLang="zh-CN" sz="1400" kern="1200" dirty="0">
                          <a:solidFill>
                            <a:schemeClr val="tx1"/>
                          </a:solidFill>
                          <a:effectLst/>
                          <a:latin typeface="+mn-lt"/>
                          <a:ea typeface="+mn-ea"/>
                          <a:cs typeface="+mn-cs"/>
                        </a:rPr>
                        <a:t>VN</a:t>
                      </a:r>
                      <a:r>
                        <a:rPr lang="zh-CN" altLang="en-US" sz="1400" kern="1200" dirty="0">
                          <a:solidFill>
                            <a:schemeClr val="tx1"/>
                          </a:solidFill>
                          <a:effectLst/>
                          <a:latin typeface="+mn-lt"/>
                          <a:ea typeface="+mn-ea"/>
                          <a:cs typeface="+mn-cs"/>
                        </a:rPr>
                        <a:t>时，可选取外部网络和网络服务</a:t>
                      </a:r>
                      <a:r>
                        <a:rPr lang="zh-CN" altLang="en-US" sz="1400" kern="1200" dirty="0" smtClean="0">
                          <a:solidFill>
                            <a:schemeClr val="tx1"/>
                          </a:solidFill>
                          <a:effectLst/>
                          <a:latin typeface="+mn-lt"/>
                          <a:ea typeface="+mn-ea"/>
                          <a:cs typeface="+mn-cs"/>
                        </a:rPr>
                        <a:t>资源。</a:t>
                      </a:r>
                      <a:endParaRPr lang="zh-CN" altLang="en-US" sz="1400" kern="1200" dirty="0">
                        <a:solidFill>
                          <a:schemeClr val="tx1"/>
                        </a:solidFill>
                        <a:effectLst/>
                        <a:latin typeface="+mn-lt"/>
                        <a:ea typeface="+mn-ea"/>
                        <a:cs typeface="+mn-cs"/>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r>
            </a:tbl>
          </a:graphicData>
        </a:graphic>
      </p:graphicFrame>
      <p:sp>
        <p:nvSpPr>
          <p:cNvPr id="11" name="五边形 10"/>
          <p:cNvSpPr/>
          <p:nvPr/>
        </p:nvSpPr>
        <p:spPr bwMode="gray">
          <a:xfrm>
            <a:off x="5773628" y="98481"/>
            <a:ext cx="9000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smtClean="0">
                <a:latin typeface="Huawei Sans" panose="020C0503030203020204" pitchFamily="34" charset="0"/>
                <a:ea typeface="方正兰亭黑简体" panose="02000000000000000000" pitchFamily="2" charset="-122"/>
                <a:sym typeface="Huawei Sans" panose="020C0503030203020204" pitchFamily="34" charset="0"/>
              </a:rPr>
              <a:t>站点管理</a:t>
            </a:r>
            <a:endPar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 name="燕尾形 11"/>
          <p:cNvSpPr/>
          <p:nvPr/>
        </p:nvSpPr>
        <p:spPr bwMode="gray">
          <a:xfrm>
            <a:off x="9109268" y="98481"/>
            <a:ext cx="9000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smtClean="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逻辑网络</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 name="燕尾形 12"/>
          <p:cNvSpPr/>
          <p:nvPr/>
        </p:nvSpPr>
        <p:spPr bwMode="gray">
          <a:xfrm>
            <a:off x="9925178" y="9848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业务部署</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 name="燕尾形 13"/>
          <p:cNvSpPr/>
          <p:nvPr/>
        </p:nvSpPr>
        <p:spPr bwMode="gray">
          <a:xfrm>
            <a:off x="8221358" y="98481"/>
            <a:ext cx="972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smtClean="0">
                <a:latin typeface="Huawei Sans" panose="020C0503030203020204" pitchFamily="34" charset="0"/>
                <a:ea typeface="方正兰亭黑简体" panose="02000000000000000000" pitchFamily="2" charset="-122"/>
                <a:sym typeface="Huawei Sans" panose="020C0503030203020204" pitchFamily="34" charset="0"/>
              </a:rPr>
              <a:t>Fabric</a:t>
            </a:r>
            <a:r>
              <a:rPr lang="zh-CN" altLang="en-US" sz="1200" kern="0" dirty="0" smtClean="0">
                <a:latin typeface="Huawei Sans" panose="020C0503030203020204" pitchFamily="34" charset="0"/>
                <a:ea typeface="方正兰亭黑简体" panose="02000000000000000000" pitchFamily="2" charset="-122"/>
                <a:sym typeface="Huawei Sans" panose="020C0503030203020204" pitchFamily="34" charset="0"/>
              </a:rPr>
              <a:t>网络</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5" name="燕尾形 14"/>
          <p:cNvSpPr/>
          <p:nvPr/>
        </p:nvSpPr>
        <p:spPr bwMode="gray">
          <a:xfrm>
            <a:off x="7405448" y="9848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网络规划</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 name="燕尾形 15"/>
          <p:cNvSpPr/>
          <p:nvPr/>
        </p:nvSpPr>
        <p:spPr bwMode="gray">
          <a:xfrm>
            <a:off x="6589538" y="9848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设备管理</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7" name="燕尾形 16"/>
          <p:cNvSpPr/>
          <p:nvPr/>
        </p:nvSpPr>
        <p:spPr bwMode="gray">
          <a:xfrm>
            <a:off x="10741088" y="98481"/>
            <a:ext cx="1008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WLAN</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业务</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1744473321"/>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smtClean="0"/>
              <a:t>创建</a:t>
            </a:r>
            <a:r>
              <a:rPr lang="en-US" altLang="zh-CN" dirty="0" smtClean="0"/>
              <a:t>VN</a:t>
            </a:r>
            <a:endParaRPr lang="en-US" altLang="zh-CN" dirty="0"/>
          </a:p>
        </p:txBody>
      </p:sp>
      <p:sp>
        <p:nvSpPr>
          <p:cNvPr id="3" name="文本占位符 2"/>
          <p:cNvSpPr>
            <a:spLocks noGrp="1"/>
          </p:cNvSpPr>
          <p:nvPr>
            <p:ph type="body" sz="quarter" idx="10"/>
          </p:nvPr>
        </p:nvSpPr>
        <p:spPr>
          <a:xfrm>
            <a:off x="455612" y="1047751"/>
            <a:ext cx="11293475" cy="641902"/>
          </a:xfrm>
        </p:spPr>
        <p:txBody>
          <a:bodyPr/>
          <a:lstStyle/>
          <a:p>
            <a:r>
              <a:rPr lang="zh-CN" altLang="en-US" sz="2000" dirty="0" smtClean="0"/>
              <a:t>创建</a:t>
            </a:r>
            <a:r>
              <a:rPr lang="en-US" altLang="zh-CN" sz="2000" dirty="0" smtClean="0"/>
              <a:t>VN</a:t>
            </a:r>
            <a:r>
              <a:rPr lang="zh-CN" altLang="en-US" sz="2000" dirty="0" smtClean="0"/>
              <a:t>，实际上是创建对应的</a:t>
            </a:r>
            <a:r>
              <a:rPr lang="en-US" altLang="zh-CN" sz="2000" dirty="0" smtClean="0"/>
              <a:t>VPN-Instance</a:t>
            </a:r>
            <a:r>
              <a:rPr lang="zh-CN" altLang="en-US" sz="2000" dirty="0" smtClean="0"/>
              <a:t>，实现不同业务的隔离。</a:t>
            </a:r>
            <a:endParaRPr lang="zh-CN" altLang="en-US" sz="2000" dirty="0"/>
          </a:p>
        </p:txBody>
      </p:sp>
      <p:graphicFrame>
        <p:nvGraphicFramePr>
          <p:cNvPr id="10" name="表格 9"/>
          <p:cNvGraphicFramePr>
            <a:graphicFrameLocks noGrp="1"/>
          </p:cNvGraphicFramePr>
          <p:nvPr>
            <p:extLst>
              <p:ext uri="{D42A27DB-BD31-4B8C-83A1-F6EECF244321}">
                <p14:modId xmlns:p14="http://schemas.microsoft.com/office/powerpoint/2010/main" val="395893927"/>
              </p:ext>
            </p:extLst>
          </p:nvPr>
        </p:nvGraphicFramePr>
        <p:xfrm>
          <a:off x="819366" y="2029261"/>
          <a:ext cx="10529454" cy="2013350"/>
        </p:xfrm>
        <a:graphic>
          <a:graphicData uri="http://schemas.openxmlformats.org/drawingml/2006/table">
            <a:tbl>
              <a:tblPr/>
              <a:tblGrid>
                <a:gridCol w="1209963"/>
                <a:gridCol w="9319491"/>
              </a:tblGrid>
              <a:tr h="347129">
                <a:tc>
                  <a:txBody>
                    <a:bodyPr/>
                    <a:lstStyle/>
                    <a:p>
                      <a:pPr algn="ctr"/>
                      <a:r>
                        <a:rPr lang="zh-CN" altLang="en-US" sz="1400" b="1" dirty="0">
                          <a:effectLst/>
                        </a:rPr>
                        <a:t>任务描述</a:t>
                      </a:r>
                    </a:p>
                  </a:txBody>
                  <a:tcPr anchor="ctr">
                    <a:lnL w="28575" cap="flat" cmpd="sng" algn="ctr">
                      <a:solidFill>
                        <a:schemeClr val="tx1"/>
                      </a:solidFill>
                      <a:prstDash val="solid"/>
                      <a:round/>
                      <a:headEnd type="none" w="med" len="med"/>
                      <a:tailEnd type="none" w="med" len="med"/>
                    </a:lnL>
                    <a:lnT w="28575" cap="flat" cmpd="sng" algn="ctr">
                      <a:solidFill>
                        <a:schemeClr val="tx1"/>
                      </a:solidFill>
                      <a:prstDash val="solid"/>
                      <a:round/>
                      <a:headEnd type="none" w="med" len="med"/>
                      <a:tailEnd type="none" w="med" len="med"/>
                    </a:lnT>
                    <a:solidFill>
                      <a:schemeClr val="bg1">
                        <a:lumMod val="85000"/>
                      </a:schemeClr>
                    </a:solidFill>
                  </a:tcPr>
                </a:tc>
                <a:tc>
                  <a:txBody>
                    <a:bodyPr/>
                    <a:lstStyle/>
                    <a:p>
                      <a:pPr algn="ctr"/>
                      <a:r>
                        <a:rPr lang="zh-CN" altLang="en-US" sz="1400" b="1" dirty="0">
                          <a:effectLst/>
                        </a:rPr>
                        <a:t>详细操作步骤</a:t>
                      </a:r>
                    </a:p>
                  </a:txBody>
                  <a:tcPr anchor="ctr">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solidFill>
                      <a:schemeClr val="bg1">
                        <a:lumMod val="85000"/>
                      </a:schemeClr>
                    </a:solidFill>
                  </a:tcPr>
                </a:tc>
              </a:tr>
              <a:tr h="1666221">
                <a:tc>
                  <a:txBody>
                    <a:bodyPr/>
                    <a:lstStyle/>
                    <a:p>
                      <a:pPr algn="ctr"/>
                      <a:r>
                        <a:rPr lang="zh-CN" altLang="en-US" sz="1400" smtClean="0">
                          <a:effectLst/>
                        </a:rPr>
                        <a:t>创建</a:t>
                      </a:r>
                      <a:r>
                        <a:rPr lang="en-US" altLang="zh-CN" sz="1400" smtClean="0">
                          <a:effectLst/>
                        </a:rPr>
                        <a:t>VN</a:t>
                      </a:r>
                      <a:endParaRPr lang="en-US" sz="1400">
                        <a:effectLst/>
                      </a:endParaRPr>
                    </a:p>
                  </a:txBody>
                  <a:tcPr anchor="ctr">
                    <a:lnL w="28575" cap="flat" cmpd="sng" algn="ctr">
                      <a:solidFill>
                        <a:schemeClr val="tx1"/>
                      </a:solidFill>
                      <a:prstDash val="solid"/>
                      <a:round/>
                      <a:headEnd type="none" w="med" len="med"/>
                      <a:tailEnd type="none" w="med" len="med"/>
                    </a:lnL>
                    <a:lnB w="28575" cap="flat" cmpd="sng" algn="ctr">
                      <a:solidFill>
                        <a:schemeClr val="tx1"/>
                      </a:solidFill>
                      <a:prstDash val="solid"/>
                      <a:round/>
                      <a:headEnd type="none" w="med" len="med"/>
                      <a:tailEnd type="none" w="med" len="med"/>
                    </a:lnB>
                  </a:tcPr>
                </a:tc>
                <a:tc>
                  <a:txBody>
                    <a:bodyPr/>
                    <a:lstStyle/>
                    <a:p>
                      <a:pPr marL="0" marR="0" lvl="0" indent="-228600" algn="l" defTabSz="914034" rtl="0" eaLnBrk="1" fontAlgn="auto" latinLnBrk="0" hangingPunct="1">
                        <a:lnSpc>
                          <a:spcPct val="100000"/>
                        </a:lnSpc>
                        <a:spcBef>
                          <a:spcPts val="0"/>
                        </a:spcBef>
                        <a:spcAft>
                          <a:spcPts val="0"/>
                        </a:spcAft>
                        <a:buClrTx/>
                        <a:buSzTx/>
                        <a:buFont typeface="+mj-lt"/>
                        <a:buAutoNum type="arabicPeriod"/>
                        <a:tabLst/>
                        <a:defRPr/>
                      </a:pPr>
                      <a:r>
                        <a:rPr lang="zh-CN" altLang="en-US" sz="1400" kern="1200" dirty="0" smtClean="0">
                          <a:solidFill>
                            <a:schemeClr val="tx1"/>
                          </a:solidFill>
                          <a:effectLst/>
                          <a:latin typeface="+mn-lt"/>
                          <a:ea typeface="+mn-ea"/>
                          <a:cs typeface="+mn-cs"/>
                        </a:rPr>
                        <a:t>（可选）选择网络服务资源。通常会选取，用于</a:t>
                      </a:r>
                      <a:r>
                        <a:rPr lang="en-US" altLang="zh-CN" sz="1400" kern="1200" dirty="0" smtClean="0">
                          <a:solidFill>
                            <a:schemeClr val="tx1"/>
                          </a:solidFill>
                          <a:effectLst/>
                          <a:latin typeface="+mn-lt"/>
                          <a:ea typeface="+mn-ea"/>
                          <a:cs typeface="+mn-cs"/>
                        </a:rPr>
                        <a:t>VN</a:t>
                      </a:r>
                      <a:r>
                        <a:rPr lang="zh-CN" altLang="en-US" sz="1400" kern="1200" dirty="0" smtClean="0">
                          <a:solidFill>
                            <a:schemeClr val="tx1"/>
                          </a:solidFill>
                          <a:effectLst/>
                          <a:latin typeface="+mn-lt"/>
                          <a:ea typeface="+mn-ea"/>
                          <a:cs typeface="+mn-cs"/>
                        </a:rPr>
                        <a:t>与网络服务资源互通。</a:t>
                      </a:r>
                    </a:p>
                    <a:p>
                      <a:pPr marL="0" indent="-228600" algn="l" defTabSz="914034" rtl="0" eaLnBrk="1" latinLnBrk="0" hangingPunct="1">
                        <a:lnSpc>
                          <a:spcPct val="100000"/>
                        </a:lnSpc>
                        <a:spcAft>
                          <a:spcPts val="0"/>
                        </a:spcAft>
                        <a:buFont typeface="+mj-lt"/>
                        <a:buAutoNum type="arabicPeriod"/>
                      </a:pPr>
                      <a:r>
                        <a:rPr lang="zh-CN" altLang="en-US" sz="1400" kern="1200" dirty="0" smtClean="0">
                          <a:solidFill>
                            <a:schemeClr val="tx1"/>
                          </a:solidFill>
                          <a:effectLst/>
                          <a:latin typeface="+mn-lt"/>
                          <a:ea typeface="+mn-ea"/>
                          <a:cs typeface="+mn-cs"/>
                        </a:rPr>
                        <a:t>（可选）选择外部网络。通常会选取，用于</a:t>
                      </a:r>
                      <a:r>
                        <a:rPr lang="en-US" altLang="zh-CN" sz="1400" kern="1200" dirty="0" smtClean="0">
                          <a:solidFill>
                            <a:schemeClr val="tx1"/>
                          </a:solidFill>
                          <a:effectLst/>
                          <a:latin typeface="+mn-lt"/>
                          <a:ea typeface="+mn-ea"/>
                          <a:cs typeface="+mn-cs"/>
                        </a:rPr>
                        <a:t>VN</a:t>
                      </a:r>
                      <a:r>
                        <a:rPr lang="zh-CN" altLang="en-US" sz="1400" kern="1200" dirty="0" smtClean="0">
                          <a:solidFill>
                            <a:schemeClr val="tx1"/>
                          </a:solidFill>
                          <a:effectLst/>
                          <a:latin typeface="+mn-lt"/>
                          <a:ea typeface="+mn-ea"/>
                          <a:cs typeface="+mn-cs"/>
                        </a:rPr>
                        <a:t>与外部网络互通。</a:t>
                      </a:r>
                    </a:p>
                    <a:p>
                      <a:pPr marL="0" indent="-228600" algn="l" defTabSz="914034" rtl="0" eaLnBrk="1" latinLnBrk="0" hangingPunct="1">
                        <a:lnSpc>
                          <a:spcPct val="100000"/>
                        </a:lnSpc>
                        <a:spcAft>
                          <a:spcPts val="0"/>
                        </a:spcAft>
                        <a:buFont typeface="+mj-lt"/>
                        <a:buAutoNum type="arabicPeriod"/>
                      </a:pPr>
                      <a:r>
                        <a:rPr lang="zh-CN" altLang="en-US" sz="1400" kern="1200" dirty="0" smtClean="0">
                          <a:solidFill>
                            <a:schemeClr val="tx1"/>
                          </a:solidFill>
                          <a:effectLst/>
                          <a:latin typeface="+mn-lt"/>
                          <a:ea typeface="+mn-ea"/>
                          <a:cs typeface="+mn-cs"/>
                        </a:rPr>
                        <a:t>配置用户网关，有手动指定和自动分配两种方式可选择。</a:t>
                      </a:r>
                    </a:p>
                    <a:p>
                      <a:pPr marL="0" indent="-228600" algn="l" defTabSz="914034" rtl="0" eaLnBrk="1" latinLnBrk="0" hangingPunct="1">
                        <a:lnSpc>
                          <a:spcPct val="100000"/>
                        </a:lnSpc>
                        <a:spcAft>
                          <a:spcPts val="0"/>
                        </a:spcAft>
                        <a:buFont typeface="+mj-lt"/>
                        <a:buAutoNum type="arabicPeriod"/>
                      </a:pPr>
                      <a:r>
                        <a:rPr lang="zh-CN" altLang="en-US" sz="1400" kern="1200" dirty="0" smtClean="0">
                          <a:solidFill>
                            <a:schemeClr val="tx1"/>
                          </a:solidFill>
                          <a:effectLst/>
                          <a:latin typeface="+mn-lt"/>
                          <a:ea typeface="+mn-ea"/>
                          <a:cs typeface="+mn-cs"/>
                        </a:rPr>
                        <a:t>配置用户有线接入，选取</a:t>
                      </a:r>
                      <a:r>
                        <a:rPr lang="en-US" altLang="zh-CN" sz="1400" kern="1200" dirty="0" smtClean="0">
                          <a:solidFill>
                            <a:schemeClr val="tx1"/>
                          </a:solidFill>
                          <a:effectLst/>
                          <a:latin typeface="+mn-lt"/>
                          <a:ea typeface="+mn-ea"/>
                          <a:cs typeface="+mn-cs"/>
                        </a:rPr>
                        <a:t>Fabric</a:t>
                      </a:r>
                      <a:r>
                        <a:rPr lang="zh-CN" altLang="en-US" sz="1400" kern="1200" dirty="0" smtClean="0">
                          <a:solidFill>
                            <a:schemeClr val="tx1"/>
                          </a:solidFill>
                          <a:effectLst/>
                          <a:latin typeface="+mn-lt"/>
                          <a:ea typeface="+mn-ea"/>
                          <a:cs typeface="+mn-cs"/>
                        </a:rPr>
                        <a:t>接入管理配置好的接入端口资源，并将端口加入到用户网关中配置的业务</a:t>
                      </a:r>
                      <a:r>
                        <a:rPr lang="en-US" altLang="zh-CN" sz="1400" kern="1200" dirty="0" smtClean="0">
                          <a:solidFill>
                            <a:schemeClr val="tx1"/>
                          </a:solidFill>
                          <a:effectLst/>
                          <a:latin typeface="+mn-lt"/>
                          <a:ea typeface="+mn-ea"/>
                          <a:cs typeface="+mn-cs"/>
                        </a:rPr>
                        <a:t>VLAN</a:t>
                      </a:r>
                      <a:r>
                        <a:rPr lang="zh-CN" altLang="en-US" sz="1400" kern="1200" dirty="0" smtClean="0">
                          <a:solidFill>
                            <a:schemeClr val="tx1"/>
                          </a:solidFill>
                          <a:effectLst/>
                          <a:latin typeface="+mn-lt"/>
                          <a:ea typeface="+mn-ea"/>
                          <a:cs typeface="+mn-cs"/>
                        </a:rPr>
                        <a:t>。</a:t>
                      </a:r>
                    </a:p>
                    <a:p>
                      <a:pPr marL="0" indent="-228600" algn="l" defTabSz="914034" rtl="0" eaLnBrk="1" latinLnBrk="0" hangingPunct="1">
                        <a:lnSpc>
                          <a:spcPct val="100000"/>
                        </a:lnSpc>
                        <a:spcAft>
                          <a:spcPts val="0"/>
                        </a:spcAft>
                        <a:buFont typeface="+mj-lt"/>
                        <a:buAutoNum type="arabicPeriod"/>
                      </a:pPr>
                      <a:r>
                        <a:rPr lang="zh-CN" altLang="en-US" sz="1400" kern="1200" dirty="0" smtClean="0">
                          <a:solidFill>
                            <a:schemeClr val="tx1"/>
                          </a:solidFill>
                          <a:effectLst/>
                          <a:latin typeface="+mn-lt"/>
                          <a:ea typeface="+mn-ea"/>
                          <a:cs typeface="+mn-cs"/>
                        </a:rPr>
                        <a:t>配置用户无线接入，选择接入无线用户子网的</a:t>
                      </a:r>
                      <a:r>
                        <a:rPr lang="en-US" altLang="zh-CN" sz="1400" kern="1200" dirty="0" smtClean="0">
                          <a:solidFill>
                            <a:schemeClr val="tx1"/>
                          </a:solidFill>
                          <a:effectLst/>
                          <a:latin typeface="+mn-lt"/>
                          <a:ea typeface="+mn-ea"/>
                          <a:cs typeface="+mn-cs"/>
                        </a:rPr>
                        <a:t>AC</a:t>
                      </a:r>
                      <a:r>
                        <a:rPr lang="zh-CN" altLang="en-US" sz="1400" kern="1200" dirty="0" smtClean="0">
                          <a:solidFill>
                            <a:schemeClr val="tx1"/>
                          </a:solidFill>
                          <a:effectLst/>
                          <a:latin typeface="+mn-lt"/>
                          <a:ea typeface="+mn-ea"/>
                          <a:cs typeface="+mn-cs"/>
                        </a:rPr>
                        <a:t>设备，然后用户网关中配置的业务</a:t>
                      </a:r>
                      <a:r>
                        <a:rPr lang="en-US" altLang="zh-CN" sz="1400" kern="1200" dirty="0" smtClean="0">
                          <a:solidFill>
                            <a:schemeClr val="tx1"/>
                          </a:solidFill>
                          <a:effectLst/>
                          <a:latin typeface="+mn-lt"/>
                          <a:ea typeface="+mn-ea"/>
                          <a:cs typeface="+mn-cs"/>
                        </a:rPr>
                        <a:t>VLAN</a:t>
                      </a:r>
                      <a:r>
                        <a:rPr lang="zh-CN" altLang="en-US" sz="1400" kern="1200" dirty="0" smtClean="0">
                          <a:solidFill>
                            <a:schemeClr val="tx1"/>
                          </a:solidFill>
                          <a:effectLst/>
                          <a:latin typeface="+mn-lt"/>
                          <a:ea typeface="+mn-ea"/>
                          <a:cs typeface="+mn-cs"/>
                        </a:rPr>
                        <a:t>会下发到该设备。</a:t>
                      </a:r>
                      <a:endParaRPr lang="zh-CN" altLang="en-US" sz="1400" kern="1200" dirty="0">
                        <a:solidFill>
                          <a:schemeClr val="tx1"/>
                        </a:solidFill>
                        <a:effectLst/>
                        <a:latin typeface="+mn-lt"/>
                        <a:ea typeface="+mn-ea"/>
                        <a:cs typeface="+mn-cs"/>
                      </a:endParaRPr>
                    </a:p>
                  </a:txBody>
                  <a:tcPr anchor="ctr">
                    <a:lnR w="28575" cap="flat" cmpd="sng" algn="ctr">
                      <a:solidFill>
                        <a:schemeClr val="tx1"/>
                      </a:solidFill>
                      <a:prstDash val="solid"/>
                      <a:round/>
                      <a:headEnd type="none" w="med" len="med"/>
                      <a:tailEnd type="none" w="med" len="med"/>
                    </a:lnR>
                    <a:lnB w="28575" cap="flat" cmpd="sng" algn="ctr">
                      <a:solidFill>
                        <a:schemeClr val="tx1"/>
                      </a:solidFill>
                      <a:prstDash val="solid"/>
                      <a:round/>
                      <a:headEnd type="none" w="med" len="med"/>
                      <a:tailEnd type="none" w="med" len="med"/>
                    </a:lnB>
                  </a:tcPr>
                </a:tc>
              </a:tr>
            </a:tbl>
          </a:graphicData>
        </a:graphic>
      </p:graphicFrame>
      <p:sp>
        <p:nvSpPr>
          <p:cNvPr id="17" name="五边形 16"/>
          <p:cNvSpPr/>
          <p:nvPr/>
        </p:nvSpPr>
        <p:spPr bwMode="gray">
          <a:xfrm>
            <a:off x="5773628" y="98481"/>
            <a:ext cx="9000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smtClean="0">
                <a:latin typeface="Huawei Sans" panose="020C0503030203020204" pitchFamily="34" charset="0"/>
                <a:ea typeface="方正兰亭黑简体" panose="02000000000000000000" pitchFamily="2" charset="-122"/>
                <a:sym typeface="Huawei Sans" panose="020C0503030203020204" pitchFamily="34" charset="0"/>
              </a:rPr>
              <a:t>站点管理</a:t>
            </a:r>
            <a:endPar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8" name="燕尾形 17"/>
          <p:cNvSpPr/>
          <p:nvPr/>
        </p:nvSpPr>
        <p:spPr bwMode="gray">
          <a:xfrm>
            <a:off x="9109268" y="98481"/>
            <a:ext cx="9000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smtClean="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逻辑网络</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9" name="燕尾形 18"/>
          <p:cNvSpPr/>
          <p:nvPr/>
        </p:nvSpPr>
        <p:spPr bwMode="gray">
          <a:xfrm>
            <a:off x="9925178" y="9848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业务部署</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0" name="燕尾形 19"/>
          <p:cNvSpPr/>
          <p:nvPr/>
        </p:nvSpPr>
        <p:spPr bwMode="gray">
          <a:xfrm>
            <a:off x="8221358" y="98481"/>
            <a:ext cx="972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smtClean="0">
                <a:latin typeface="Huawei Sans" panose="020C0503030203020204" pitchFamily="34" charset="0"/>
                <a:ea typeface="方正兰亭黑简体" panose="02000000000000000000" pitchFamily="2" charset="-122"/>
                <a:sym typeface="Huawei Sans" panose="020C0503030203020204" pitchFamily="34" charset="0"/>
              </a:rPr>
              <a:t>Fabric</a:t>
            </a:r>
            <a:r>
              <a:rPr lang="zh-CN" altLang="en-US" sz="1200" kern="0" dirty="0" smtClean="0">
                <a:latin typeface="Huawei Sans" panose="020C0503030203020204" pitchFamily="34" charset="0"/>
                <a:ea typeface="方正兰亭黑简体" panose="02000000000000000000" pitchFamily="2" charset="-122"/>
                <a:sym typeface="Huawei Sans" panose="020C0503030203020204" pitchFamily="34" charset="0"/>
              </a:rPr>
              <a:t>网络</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1" name="燕尾形 20"/>
          <p:cNvSpPr/>
          <p:nvPr/>
        </p:nvSpPr>
        <p:spPr bwMode="gray">
          <a:xfrm>
            <a:off x="7405448" y="9848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网络规划</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2" name="燕尾形 21"/>
          <p:cNvSpPr/>
          <p:nvPr/>
        </p:nvSpPr>
        <p:spPr bwMode="gray">
          <a:xfrm>
            <a:off x="6589538" y="9848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设备管理</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3" name="燕尾形 22"/>
          <p:cNvSpPr/>
          <p:nvPr/>
        </p:nvSpPr>
        <p:spPr bwMode="gray">
          <a:xfrm>
            <a:off x="10741088" y="98481"/>
            <a:ext cx="1008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WLAN</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业务</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1314597215"/>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bwMode="gray"/>
        <p:txBody>
          <a:bodyPr>
            <a:normAutofit/>
          </a:bodyPr>
          <a:lstStyle/>
          <a:p>
            <a:r>
              <a:rPr lang="zh-CN" altLang="en-US" dirty="0"/>
              <a:t>实验</a:t>
            </a:r>
            <a:r>
              <a:rPr lang="zh-CN" altLang="en-US" dirty="0" smtClean="0"/>
              <a:t>：创建</a:t>
            </a:r>
            <a:r>
              <a:rPr lang="en-US" altLang="zh-CN" dirty="0" smtClean="0"/>
              <a:t>VN</a:t>
            </a:r>
            <a:r>
              <a:rPr lang="zh-CN" altLang="en-US" dirty="0"/>
              <a:t> </a:t>
            </a:r>
            <a:r>
              <a:rPr lang="en-US" altLang="zh-CN" dirty="0" smtClean="0"/>
              <a:t>(1)</a:t>
            </a:r>
            <a:endParaRPr lang="zh-CN" altLang="en-US" dirty="0"/>
          </a:p>
        </p:txBody>
      </p:sp>
      <p:sp>
        <p:nvSpPr>
          <p:cNvPr id="86" name="矩形 85"/>
          <p:cNvSpPr/>
          <p:nvPr/>
        </p:nvSpPr>
        <p:spPr bwMode="gray">
          <a:xfrm>
            <a:off x="5112327" y="1290142"/>
            <a:ext cx="6267793" cy="707886"/>
          </a:xfrm>
          <a:prstGeom prst="rect">
            <a:avLst/>
          </a:prstGeom>
        </p:spPr>
        <p:txBody>
          <a:bodyPr wrap="square">
            <a:spAutoFit/>
          </a:bodyPr>
          <a:lstStyle/>
          <a:p>
            <a:pPr algn="just">
              <a:lnSpc>
                <a:spcPts val="2400"/>
              </a:lnSpc>
              <a:spcAft>
                <a:spcPts val="600"/>
              </a:spcAft>
            </a:pPr>
            <a:r>
              <a:rPr lang="zh-CN" altLang="en-US" sz="1600" dirty="0" smtClean="0"/>
              <a:t>创建一个新的</a:t>
            </a:r>
            <a:r>
              <a:rPr lang="en-US" altLang="zh-CN" sz="1600" dirty="0" smtClean="0"/>
              <a:t>VN</a:t>
            </a:r>
            <a:r>
              <a:rPr lang="zh-CN" altLang="en-US" sz="1600" dirty="0" smtClean="0"/>
              <a:t>，定义</a:t>
            </a:r>
            <a:r>
              <a:rPr lang="en-US" altLang="zh-CN" sz="1600" dirty="0" smtClean="0"/>
              <a:t>VN</a:t>
            </a:r>
            <a:r>
              <a:rPr lang="zh-CN" altLang="en-US" sz="1600" dirty="0" smtClean="0"/>
              <a:t>的名称、用户网关位置，并可配置</a:t>
            </a:r>
            <a:r>
              <a:rPr lang="en-US" altLang="zh-CN" sz="1600" dirty="0" smtClean="0"/>
              <a:t>VN</a:t>
            </a:r>
            <a:r>
              <a:rPr lang="zh-CN" altLang="en-US" sz="1600" dirty="0" smtClean="0"/>
              <a:t>所使用的外部网络及网络服务资源：</a:t>
            </a:r>
            <a:endParaRPr lang="zh-CN" altLang="en-US" sz="1600" dirty="0"/>
          </a:p>
        </p:txBody>
      </p:sp>
      <p:pic>
        <p:nvPicPr>
          <p:cNvPr id="143" name="图片 142"/>
          <p:cNvPicPr/>
          <p:nvPr/>
        </p:nvPicPr>
        <p:blipFill rotWithShape="1">
          <a:blip r:embed="rId3"/>
          <a:srcRect r="24350" b="9913"/>
          <a:stretch/>
        </p:blipFill>
        <p:spPr bwMode="gray">
          <a:xfrm>
            <a:off x="5216646" y="1988864"/>
            <a:ext cx="6295169" cy="3948176"/>
          </a:xfrm>
          <a:prstGeom prst="rect">
            <a:avLst/>
          </a:prstGeom>
          <a:ln w="12700">
            <a:solidFill>
              <a:schemeClr val="bg1">
                <a:lumMod val="85000"/>
              </a:schemeClr>
            </a:solidFill>
          </a:ln>
        </p:spPr>
      </p:pic>
      <p:sp>
        <p:nvSpPr>
          <p:cNvPr id="57" name="圆角矩形 56"/>
          <p:cNvSpPr/>
          <p:nvPr/>
        </p:nvSpPr>
        <p:spPr bwMode="gray">
          <a:xfrm>
            <a:off x="878704" y="2548727"/>
            <a:ext cx="3990111" cy="3120679"/>
          </a:xfrm>
          <a:prstGeom prst="roundRect">
            <a:avLst>
              <a:gd name="adj" fmla="val 3166"/>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58" name="Freeform 159"/>
          <p:cNvSpPr/>
          <p:nvPr/>
        </p:nvSpPr>
        <p:spPr bwMode="gray">
          <a:xfrm flipH="1">
            <a:off x="1379861" y="2881293"/>
            <a:ext cx="2670047" cy="1528484"/>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rgbClr val="E3F6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Huawei Sans" panose="020C0503030203020204" pitchFamily="34" charset="0"/>
              <a:ea typeface="方正兰亭黑简体" panose="02000000000000000000" pitchFamily="2" charset="-122"/>
            </a:endParaRPr>
          </a:p>
        </p:txBody>
      </p:sp>
      <p:cxnSp>
        <p:nvCxnSpPr>
          <p:cNvPr id="59" name="Straight Connector 166"/>
          <p:cNvCxnSpPr>
            <a:stCxn id="92" idx="2"/>
            <a:endCxn id="74" idx="0"/>
          </p:cNvCxnSpPr>
          <p:nvPr/>
        </p:nvCxnSpPr>
        <p:spPr bwMode="gray">
          <a:xfrm>
            <a:off x="1731493" y="4166130"/>
            <a:ext cx="0" cy="40327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3" name="Straight Connector 166"/>
          <p:cNvCxnSpPr>
            <a:stCxn id="93" idx="2"/>
            <a:endCxn id="75" idx="0"/>
          </p:cNvCxnSpPr>
          <p:nvPr/>
        </p:nvCxnSpPr>
        <p:spPr bwMode="gray">
          <a:xfrm>
            <a:off x="3662294" y="4166130"/>
            <a:ext cx="0" cy="40327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74" name="图片 76" descr="接入交换机.png"/>
          <p:cNvPicPr>
            <a:picLocks noChangeAspect="1"/>
          </p:cNvPicPr>
          <p:nvPr/>
        </p:nvPicPr>
        <p:blipFill>
          <a:blip r:embed="rId4" cstate="print"/>
          <a:stretch>
            <a:fillRect/>
          </a:stretch>
        </p:blipFill>
        <p:spPr bwMode="gray">
          <a:xfrm>
            <a:off x="1508352" y="4569407"/>
            <a:ext cx="446281" cy="365139"/>
          </a:xfrm>
          <a:prstGeom prst="rect">
            <a:avLst/>
          </a:prstGeom>
        </p:spPr>
      </p:pic>
      <p:pic>
        <p:nvPicPr>
          <p:cNvPr id="75" name="图片 74" descr="接入交换机.png"/>
          <p:cNvPicPr>
            <a:picLocks noChangeAspect="1"/>
          </p:cNvPicPr>
          <p:nvPr/>
        </p:nvPicPr>
        <p:blipFill>
          <a:blip r:embed="rId4" cstate="print"/>
          <a:stretch>
            <a:fillRect/>
          </a:stretch>
        </p:blipFill>
        <p:spPr bwMode="gray">
          <a:xfrm>
            <a:off x="3439153" y="4569407"/>
            <a:ext cx="446281" cy="365139"/>
          </a:xfrm>
          <a:prstGeom prst="rect">
            <a:avLst/>
          </a:prstGeom>
        </p:spPr>
      </p:pic>
      <p:sp>
        <p:nvSpPr>
          <p:cNvPr id="79" name="文本框 78"/>
          <p:cNvSpPr txBox="1"/>
          <p:nvPr/>
        </p:nvSpPr>
        <p:spPr bwMode="gray">
          <a:xfrm>
            <a:off x="893888" y="2723362"/>
            <a:ext cx="468398" cy="307777"/>
          </a:xfrm>
          <a:prstGeom prst="rect">
            <a:avLst/>
          </a:prstGeom>
          <a:noFill/>
        </p:spPr>
        <p:txBody>
          <a:bodyPr wrap="none" rtlCol="0">
            <a:spAutoFit/>
          </a:bodyPr>
          <a:lstStyle/>
          <a:p>
            <a:r>
              <a:rPr lang="en-US" altLang="zh-CN" sz="1400" b="1" dirty="0" smtClean="0">
                <a:latin typeface="Huawei Sans" panose="020C0503030203020204" pitchFamily="34" charset="0"/>
                <a:ea typeface="方正兰亭黑简体" panose="02000000000000000000" pitchFamily="2" charset="-122"/>
                <a:cs typeface="Huawei Sans" panose="020C0503030203020204" pitchFamily="34" charset="0"/>
              </a:rPr>
              <a:t>HQ</a:t>
            </a:r>
            <a:endParaRPr lang="zh-CN" altLang="en-US" sz="1400" b="1" dirty="0">
              <a:latin typeface="Huawei Sans" panose="020C0503030203020204" pitchFamily="34" charset="0"/>
              <a:ea typeface="方正兰亭黑简体" panose="02000000000000000000" pitchFamily="2" charset="-122"/>
              <a:cs typeface="Huawei Sans" panose="020C0503030203020204" pitchFamily="34" charset="0"/>
            </a:endParaRPr>
          </a:p>
        </p:txBody>
      </p:sp>
      <p:pic>
        <p:nvPicPr>
          <p:cNvPr id="80" name="图片 105" descr="AP.png"/>
          <p:cNvPicPr>
            <a:picLocks noChangeAspect="1"/>
          </p:cNvPicPr>
          <p:nvPr/>
        </p:nvPicPr>
        <p:blipFill>
          <a:blip r:embed="rId5" cstate="print"/>
          <a:stretch>
            <a:fillRect/>
          </a:stretch>
        </p:blipFill>
        <p:spPr bwMode="gray">
          <a:xfrm>
            <a:off x="4345712" y="4601092"/>
            <a:ext cx="368827" cy="301768"/>
          </a:xfrm>
          <a:prstGeom prst="rect">
            <a:avLst/>
          </a:prstGeom>
        </p:spPr>
      </p:pic>
      <p:cxnSp>
        <p:nvCxnSpPr>
          <p:cNvPr id="81" name="Straight Connector 166"/>
          <p:cNvCxnSpPr>
            <a:stCxn id="75" idx="3"/>
            <a:endCxn id="80" idx="1"/>
          </p:cNvCxnSpPr>
          <p:nvPr/>
        </p:nvCxnSpPr>
        <p:spPr bwMode="gray">
          <a:xfrm flipV="1">
            <a:off x="3885434" y="4751976"/>
            <a:ext cx="460278" cy="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82" name="图片 14" descr="日志告警服务器-蓝.png"/>
          <p:cNvPicPr>
            <a:picLocks noChangeAspect="1"/>
          </p:cNvPicPr>
          <p:nvPr/>
        </p:nvPicPr>
        <p:blipFill>
          <a:blip r:embed="rId6" cstate="print"/>
          <a:stretch>
            <a:fillRect/>
          </a:stretch>
        </p:blipFill>
        <p:spPr bwMode="gray">
          <a:xfrm>
            <a:off x="4300639" y="5112943"/>
            <a:ext cx="445956" cy="278465"/>
          </a:xfrm>
          <a:prstGeom prst="rect">
            <a:avLst/>
          </a:prstGeom>
        </p:spPr>
      </p:pic>
      <p:pic>
        <p:nvPicPr>
          <p:cNvPr id="83" name="图片 82" descr="PC.png">
            <a:extLst>
              <a:ext uri="{FF2B5EF4-FFF2-40B4-BE49-F238E27FC236}">
                <a16:creationId xmlns="" xmlns:a16="http://schemas.microsoft.com/office/drawing/2014/main" id="{4666702E-823D-4236-BF2F-880359158C83}"/>
              </a:ext>
            </a:extLst>
          </p:cNvPr>
          <p:cNvPicPr>
            <a:picLocks noChangeAspect="1"/>
          </p:cNvPicPr>
          <p:nvPr/>
        </p:nvPicPr>
        <p:blipFill>
          <a:blip r:embed="rId7" cstate="print"/>
          <a:stretch>
            <a:fillRect/>
          </a:stretch>
        </p:blipFill>
        <p:spPr bwMode="gray">
          <a:xfrm>
            <a:off x="1508739" y="5084666"/>
            <a:ext cx="445506" cy="342149"/>
          </a:xfrm>
          <a:prstGeom prst="rect">
            <a:avLst/>
          </a:prstGeom>
        </p:spPr>
      </p:pic>
      <p:pic>
        <p:nvPicPr>
          <p:cNvPr id="84" name="图片 83" descr="PC.png">
            <a:extLst>
              <a:ext uri="{FF2B5EF4-FFF2-40B4-BE49-F238E27FC236}">
                <a16:creationId xmlns="" xmlns:a16="http://schemas.microsoft.com/office/drawing/2014/main" id="{4666702E-823D-4236-BF2F-880359158C83}"/>
              </a:ext>
            </a:extLst>
          </p:cNvPr>
          <p:cNvPicPr>
            <a:picLocks noChangeAspect="1"/>
          </p:cNvPicPr>
          <p:nvPr/>
        </p:nvPicPr>
        <p:blipFill>
          <a:blip r:embed="rId7" cstate="print"/>
          <a:stretch>
            <a:fillRect/>
          </a:stretch>
        </p:blipFill>
        <p:spPr bwMode="gray">
          <a:xfrm>
            <a:off x="3439540" y="5084333"/>
            <a:ext cx="445506" cy="342149"/>
          </a:xfrm>
          <a:prstGeom prst="rect">
            <a:avLst/>
          </a:prstGeom>
        </p:spPr>
      </p:pic>
      <p:cxnSp>
        <p:nvCxnSpPr>
          <p:cNvPr id="85" name="Straight Connector 167"/>
          <p:cNvCxnSpPr/>
          <p:nvPr/>
        </p:nvCxnSpPr>
        <p:spPr bwMode="gray">
          <a:xfrm flipH="1">
            <a:off x="1732203" y="3106898"/>
            <a:ext cx="971589" cy="876201"/>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87" name="Straight Connector 167"/>
          <p:cNvCxnSpPr/>
          <p:nvPr/>
        </p:nvCxnSpPr>
        <p:spPr bwMode="gray">
          <a:xfrm flipH="1" flipV="1">
            <a:off x="2700413" y="3104421"/>
            <a:ext cx="975076" cy="883934"/>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pic>
        <p:nvPicPr>
          <p:cNvPr id="88" name="图片 86" descr="核心交换机.png"/>
          <p:cNvPicPr>
            <a:picLocks noChangeAspect="1"/>
          </p:cNvPicPr>
          <p:nvPr/>
        </p:nvPicPr>
        <p:blipFill>
          <a:blip r:embed="rId8" cstate="print"/>
          <a:stretch>
            <a:fillRect/>
          </a:stretch>
        </p:blipFill>
        <p:spPr bwMode="gray">
          <a:xfrm>
            <a:off x="2488045" y="2924329"/>
            <a:ext cx="446281" cy="365139"/>
          </a:xfrm>
          <a:prstGeom prst="rect">
            <a:avLst/>
          </a:prstGeom>
        </p:spPr>
      </p:pic>
      <p:sp>
        <p:nvSpPr>
          <p:cNvPr id="89" name="文本框 88"/>
          <p:cNvSpPr txBox="1"/>
          <p:nvPr/>
        </p:nvSpPr>
        <p:spPr bwMode="gray">
          <a:xfrm>
            <a:off x="1890738" y="2950284"/>
            <a:ext cx="651140" cy="276999"/>
          </a:xfrm>
          <a:prstGeom prst="rect">
            <a:avLst/>
          </a:prstGeom>
          <a:noFill/>
        </p:spPr>
        <p:txBody>
          <a:bodyPr wrap="none" rtlCol="0">
            <a:spAutoFit/>
          </a:bodyPr>
          <a:lstStyle/>
          <a:p>
            <a:pPr algn="ctr"/>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Border</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90" name="文本框 89"/>
          <p:cNvSpPr txBox="1"/>
          <p:nvPr/>
        </p:nvSpPr>
        <p:spPr bwMode="gray">
          <a:xfrm>
            <a:off x="895398" y="4015818"/>
            <a:ext cx="684803" cy="276999"/>
          </a:xfrm>
          <a:prstGeom prst="rect">
            <a:avLst/>
          </a:prstGeom>
          <a:noFill/>
        </p:spPr>
        <p:txBody>
          <a:bodyPr wrap="none" rtlCol="0">
            <a:spAutoFit/>
          </a:bodyPr>
          <a:lstStyle/>
          <a:p>
            <a:pPr algn="r"/>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Edge_1</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91" name="文本框 90"/>
          <p:cNvSpPr txBox="1"/>
          <p:nvPr/>
        </p:nvSpPr>
        <p:spPr bwMode="gray">
          <a:xfrm>
            <a:off x="948297" y="4605357"/>
            <a:ext cx="631904" cy="276999"/>
          </a:xfrm>
          <a:prstGeom prst="rect">
            <a:avLst/>
          </a:prstGeom>
          <a:noFill/>
        </p:spPr>
        <p:txBody>
          <a:bodyPr wrap="none" rtlCol="0">
            <a:spAutoFit/>
          </a:bodyPr>
          <a:lstStyle/>
          <a:p>
            <a:pPr algn="r"/>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ACC_1</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pic>
        <p:nvPicPr>
          <p:cNvPr id="92" name="图片 87" descr="汇聚交换机.png"/>
          <p:cNvPicPr>
            <a:picLocks noChangeAspect="1"/>
          </p:cNvPicPr>
          <p:nvPr/>
        </p:nvPicPr>
        <p:blipFill>
          <a:blip r:embed="rId9" cstate="print"/>
          <a:stretch>
            <a:fillRect/>
          </a:stretch>
        </p:blipFill>
        <p:spPr bwMode="gray">
          <a:xfrm>
            <a:off x="1508352" y="3800991"/>
            <a:ext cx="446281" cy="365139"/>
          </a:xfrm>
          <a:prstGeom prst="rect">
            <a:avLst/>
          </a:prstGeom>
        </p:spPr>
      </p:pic>
      <p:pic>
        <p:nvPicPr>
          <p:cNvPr id="93" name="图片 87" descr="汇聚交换机.png"/>
          <p:cNvPicPr>
            <a:picLocks noChangeAspect="1"/>
          </p:cNvPicPr>
          <p:nvPr/>
        </p:nvPicPr>
        <p:blipFill>
          <a:blip r:embed="rId9" cstate="print"/>
          <a:stretch>
            <a:fillRect/>
          </a:stretch>
        </p:blipFill>
        <p:spPr bwMode="gray">
          <a:xfrm>
            <a:off x="3439153" y="3800991"/>
            <a:ext cx="446281" cy="365139"/>
          </a:xfrm>
          <a:prstGeom prst="rect">
            <a:avLst/>
          </a:prstGeom>
        </p:spPr>
      </p:pic>
      <p:sp>
        <p:nvSpPr>
          <p:cNvPr id="94" name="文本框 93"/>
          <p:cNvSpPr txBox="1"/>
          <p:nvPr/>
        </p:nvSpPr>
        <p:spPr bwMode="gray">
          <a:xfrm>
            <a:off x="3842963" y="4015818"/>
            <a:ext cx="684803" cy="276999"/>
          </a:xfrm>
          <a:prstGeom prst="rect">
            <a:avLst/>
          </a:prstGeom>
          <a:noFill/>
        </p:spPr>
        <p:txBody>
          <a:bodyPr wrap="none" rtlCol="0">
            <a:spAutoFit/>
          </a:bodyPr>
          <a:lstStyle/>
          <a:p>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Edge_2</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112" name="文本框 111"/>
          <p:cNvSpPr txBox="1"/>
          <p:nvPr/>
        </p:nvSpPr>
        <p:spPr bwMode="gray">
          <a:xfrm>
            <a:off x="4293426" y="4358871"/>
            <a:ext cx="460382" cy="276999"/>
          </a:xfrm>
          <a:prstGeom prst="rect">
            <a:avLst/>
          </a:prstGeom>
          <a:noFill/>
        </p:spPr>
        <p:txBody>
          <a:bodyPr wrap="none" rtlCol="0">
            <a:spAutoFit/>
          </a:bodyPr>
          <a:lstStyle/>
          <a:p>
            <a:pPr algn="ctr"/>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AP1</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113" name="文本框 112"/>
          <p:cNvSpPr txBox="1"/>
          <p:nvPr/>
        </p:nvSpPr>
        <p:spPr bwMode="gray">
          <a:xfrm>
            <a:off x="1504507" y="5392407"/>
            <a:ext cx="453970" cy="276999"/>
          </a:xfrm>
          <a:prstGeom prst="rect">
            <a:avLst/>
          </a:prstGeom>
          <a:noFill/>
        </p:spPr>
        <p:txBody>
          <a:bodyPr wrap="none" rtlCol="0">
            <a:spAutoFit/>
          </a:bodyPr>
          <a:lstStyle/>
          <a:p>
            <a:pPr algn="ctr"/>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PC1</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114" name="文本框 113"/>
          <p:cNvSpPr txBox="1"/>
          <p:nvPr/>
        </p:nvSpPr>
        <p:spPr bwMode="gray">
          <a:xfrm>
            <a:off x="3435308" y="5392407"/>
            <a:ext cx="453970" cy="276999"/>
          </a:xfrm>
          <a:prstGeom prst="rect">
            <a:avLst/>
          </a:prstGeom>
          <a:noFill/>
        </p:spPr>
        <p:txBody>
          <a:bodyPr wrap="none" rtlCol="0">
            <a:spAutoFit/>
          </a:bodyPr>
          <a:lstStyle/>
          <a:p>
            <a:pPr algn="ctr"/>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PC2</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cxnSp>
        <p:nvCxnSpPr>
          <p:cNvPr id="115" name="Straight Connector 166"/>
          <p:cNvCxnSpPr>
            <a:stCxn id="74" idx="2"/>
            <a:endCxn id="83" idx="0"/>
          </p:cNvCxnSpPr>
          <p:nvPr/>
        </p:nvCxnSpPr>
        <p:spPr bwMode="gray">
          <a:xfrm flipH="1">
            <a:off x="1731492" y="4934546"/>
            <a:ext cx="1" cy="15012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6" name="Straight Connector 166"/>
          <p:cNvCxnSpPr>
            <a:stCxn id="75" idx="2"/>
            <a:endCxn id="84" idx="0"/>
          </p:cNvCxnSpPr>
          <p:nvPr/>
        </p:nvCxnSpPr>
        <p:spPr bwMode="gray">
          <a:xfrm flipH="1">
            <a:off x="3662293" y="4934546"/>
            <a:ext cx="1" cy="14978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17" name="文本框 116"/>
          <p:cNvSpPr txBox="1"/>
          <p:nvPr/>
        </p:nvSpPr>
        <p:spPr bwMode="gray">
          <a:xfrm>
            <a:off x="4303140" y="5392407"/>
            <a:ext cx="453970" cy="276999"/>
          </a:xfrm>
          <a:prstGeom prst="rect">
            <a:avLst/>
          </a:prstGeom>
          <a:noFill/>
        </p:spPr>
        <p:txBody>
          <a:bodyPr wrap="none" rtlCol="0">
            <a:spAutoFit/>
          </a:bodyPr>
          <a:lstStyle/>
          <a:p>
            <a:pPr algn="ctr"/>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PC3</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118" name="文本框 117"/>
          <p:cNvSpPr txBox="1"/>
          <p:nvPr/>
        </p:nvSpPr>
        <p:spPr bwMode="gray">
          <a:xfrm>
            <a:off x="2834929" y="4605357"/>
            <a:ext cx="631904" cy="276999"/>
          </a:xfrm>
          <a:prstGeom prst="rect">
            <a:avLst/>
          </a:prstGeom>
          <a:noFill/>
        </p:spPr>
        <p:txBody>
          <a:bodyPr wrap="none" rtlCol="0">
            <a:spAutoFit/>
          </a:bodyPr>
          <a:lstStyle/>
          <a:p>
            <a:pPr algn="r"/>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ACC_2</a:t>
            </a:r>
          </a:p>
        </p:txBody>
      </p:sp>
      <p:sp>
        <p:nvSpPr>
          <p:cNvPr id="119" name="梯形 118"/>
          <p:cNvSpPr/>
          <p:nvPr/>
        </p:nvSpPr>
        <p:spPr bwMode="gray">
          <a:xfrm>
            <a:off x="1035697" y="3541190"/>
            <a:ext cx="3221543" cy="501291"/>
          </a:xfrm>
          <a:prstGeom prst="trapezoid">
            <a:avLst>
              <a:gd name="adj" fmla="val 22961"/>
            </a:avLst>
          </a:prstGeom>
          <a:gradFill flip="none" rotWithShape="1">
            <a:gsLst>
              <a:gs pos="0">
                <a:schemeClr val="bg1">
                  <a:alpha val="4000"/>
                </a:schemeClr>
              </a:gs>
              <a:gs pos="100000">
                <a:srgbClr val="EEB3B8"/>
              </a:gs>
            </a:gsLst>
            <a:lin ang="5400000" scaled="1"/>
            <a:tileRect/>
          </a:gradFill>
          <a:ln>
            <a:gradFill flip="none" rotWithShape="1">
              <a:gsLst>
                <a:gs pos="0">
                  <a:schemeClr val="accent1">
                    <a:lumMod val="5000"/>
                    <a:lumOff val="95000"/>
                    <a:alpha val="0"/>
                  </a:schemeClr>
                </a:gs>
                <a:gs pos="82000">
                  <a:srgbClr val="E28189"/>
                </a:gs>
              </a:gsLst>
              <a:lin ang="54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0" name="梯形 119"/>
          <p:cNvSpPr/>
          <p:nvPr/>
        </p:nvSpPr>
        <p:spPr bwMode="gray">
          <a:xfrm>
            <a:off x="1035697" y="3150687"/>
            <a:ext cx="3221543" cy="501291"/>
          </a:xfrm>
          <a:prstGeom prst="trapezoid">
            <a:avLst>
              <a:gd name="adj" fmla="val 22961"/>
            </a:avLst>
          </a:prstGeom>
          <a:gradFill flip="none" rotWithShape="1">
            <a:gsLst>
              <a:gs pos="0">
                <a:schemeClr val="bg1">
                  <a:alpha val="4000"/>
                </a:schemeClr>
              </a:gs>
              <a:gs pos="100000">
                <a:schemeClr val="accent2">
                  <a:lumMod val="20000"/>
                  <a:lumOff val="80000"/>
                </a:schemeClr>
              </a:gs>
            </a:gsLst>
            <a:lin ang="5400000" scaled="1"/>
            <a:tileRect/>
          </a:gradFill>
          <a:ln>
            <a:gradFill flip="none" rotWithShape="1">
              <a:gsLst>
                <a:gs pos="0">
                  <a:schemeClr val="accent1">
                    <a:lumMod val="5000"/>
                    <a:lumOff val="95000"/>
                    <a:alpha val="0"/>
                  </a:schemeClr>
                </a:gs>
                <a:gs pos="82000">
                  <a:schemeClr val="accent2">
                    <a:lumMod val="60000"/>
                    <a:lumOff val="40000"/>
                  </a:schemeClr>
                </a:gs>
              </a:gsLst>
              <a:lin ang="54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1" name="文本框 120"/>
          <p:cNvSpPr txBox="1"/>
          <p:nvPr/>
        </p:nvSpPr>
        <p:spPr bwMode="gray">
          <a:xfrm>
            <a:off x="2199556" y="3775817"/>
            <a:ext cx="875561" cy="276999"/>
          </a:xfrm>
          <a:prstGeom prst="rect">
            <a:avLst/>
          </a:prstGeom>
          <a:noFill/>
        </p:spPr>
        <p:txBody>
          <a:bodyPr wrap="none" rtlCol="0">
            <a:spAutoFit/>
          </a:bodyPr>
          <a:lstStyle/>
          <a:p>
            <a:pPr algn="ctr"/>
            <a:r>
              <a:rPr lang="en-US" altLang="zh-CN" sz="1200" b="1" dirty="0">
                <a:latin typeface="Huawei Sans" panose="020C0503030203020204" pitchFamily="34" charset="0"/>
                <a:ea typeface="方正兰亭黑简体" panose="02000000000000000000" pitchFamily="2" charset="-122"/>
                <a:cs typeface="Huawei Sans" panose="020C0503030203020204" pitchFamily="34" charset="0"/>
              </a:rPr>
              <a:t>OA</a:t>
            </a:r>
            <a:r>
              <a:rPr lang="zh-CN" altLang="en-US" sz="1200" b="1" dirty="0" smtClean="0">
                <a:latin typeface="Huawei Sans" panose="020C0503030203020204" pitchFamily="34" charset="0"/>
                <a:ea typeface="方正兰亭黑简体" panose="02000000000000000000" pitchFamily="2" charset="-122"/>
                <a:cs typeface="Huawei Sans" panose="020C0503030203020204" pitchFamily="34" charset="0"/>
              </a:rPr>
              <a:t>虚拟网</a:t>
            </a:r>
            <a:endParaRPr lang="zh-CN" altLang="en-US" sz="1200" b="1"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122" name="文本框 121"/>
          <p:cNvSpPr txBox="1"/>
          <p:nvPr/>
        </p:nvSpPr>
        <p:spPr bwMode="gray">
          <a:xfrm>
            <a:off x="2214234" y="3360330"/>
            <a:ext cx="859530" cy="276999"/>
          </a:xfrm>
          <a:prstGeom prst="rect">
            <a:avLst/>
          </a:prstGeom>
          <a:noFill/>
        </p:spPr>
        <p:txBody>
          <a:bodyPr wrap="none" rtlCol="0">
            <a:spAutoFit/>
          </a:bodyPr>
          <a:lstStyle/>
          <a:p>
            <a:pPr algn="ctr"/>
            <a:r>
              <a:rPr lang="en-US" altLang="zh-CN" sz="1200" b="1" dirty="0" smtClean="0">
                <a:latin typeface="Huawei Sans" panose="020C0503030203020204" pitchFamily="34" charset="0"/>
                <a:ea typeface="方正兰亭黑简体" panose="02000000000000000000" pitchFamily="2" charset="-122"/>
                <a:cs typeface="Huawei Sans" panose="020C0503030203020204" pitchFamily="34" charset="0"/>
              </a:rPr>
              <a:t>RD</a:t>
            </a:r>
            <a:r>
              <a:rPr lang="zh-CN" altLang="en-US" sz="1200" b="1" dirty="0" smtClean="0">
                <a:latin typeface="Huawei Sans" panose="020C0503030203020204" pitchFamily="34" charset="0"/>
                <a:ea typeface="方正兰亭黑简体" panose="02000000000000000000" pitchFamily="2" charset="-122"/>
                <a:cs typeface="Huawei Sans" panose="020C0503030203020204" pitchFamily="34" charset="0"/>
              </a:rPr>
              <a:t>虚拟网</a:t>
            </a:r>
            <a:endParaRPr lang="zh-CN" altLang="en-US" sz="1200" b="1" dirty="0">
              <a:latin typeface="Huawei Sans" panose="020C0503030203020204" pitchFamily="34" charset="0"/>
              <a:ea typeface="方正兰亭黑简体" panose="02000000000000000000" pitchFamily="2" charset="-122"/>
              <a:cs typeface="Huawei Sans" panose="020C0503030203020204" pitchFamily="34" charset="0"/>
            </a:endParaRPr>
          </a:p>
        </p:txBody>
      </p:sp>
      <p:grpSp>
        <p:nvGrpSpPr>
          <p:cNvPr id="123" name="组合 758"/>
          <p:cNvGrpSpPr/>
          <p:nvPr/>
        </p:nvGrpSpPr>
        <p:grpSpPr bwMode="gray">
          <a:xfrm flipV="1">
            <a:off x="4439160" y="4922631"/>
            <a:ext cx="168914" cy="131950"/>
            <a:chOff x="7440613" y="4868863"/>
            <a:chExt cx="1019175" cy="828675"/>
          </a:xfrm>
          <a:solidFill>
            <a:schemeClr val="bg1">
              <a:lumMod val="50000"/>
            </a:schemeClr>
          </a:solidFill>
        </p:grpSpPr>
        <p:sp>
          <p:nvSpPr>
            <p:cNvPr id="124" name="Freeform 15"/>
            <p:cNvSpPr>
              <a:spLocks/>
            </p:cNvSpPr>
            <p:nvPr/>
          </p:nvSpPr>
          <p:spPr bwMode="gray">
            <a:xfrm>
              <a:off x="7832726" y="5462588"/>
              <a:ext cx="234950" cy="234950"/>
            </a:xfrm>
            <a:custGeom>
              <a:avLst/>
              <a:gdLst/>
              <a:ahLst/>
              <a:cxnLst>
                <a:cxn ang="0">
                  <a:pos x="3281" y="680"/>
                </a:cxn>
                <a:cxn ang="0">
                  <a:pos x="3439" y="907"/>
                </a:cxn>
                <a:cxn ang="0">
                  <a:pos x="3559" y="1151"/>
                </a:cxn>
                <a:cxn ang="0">
                  <a:pos x="3642" y="1406"/>
                </a:cxn>
                <a:cxn ang="0">
                  <a:pos x="3686" y="1670"/>
                </a:cxn>
                <a:cxn ang="0">
                  <a:pos x="3693" y="1936"/>
                </a:cxn>
                <a:cxn ang="0">
                  <a:pos x="3661" y="2201"/>
                </a:cxn>
                <a:cxn ang="0">
                  <a:pos x="3591" y="2460"/>
                </a:cxn>
                <a:cxn ang="0">
                  <a:pos x="3484" y="2708"/>
                </a:cxn>
                <a:cxn ang="0">
                  <a:pos x="3339" y="2941"/>
                </a:cxn>
                <a:cxn ang="0">
                  <a:pos x="3155" y="3155"/>
                </a:cxn>
                <a:cxn ang="0">
                  <a:pos x="2941" y="3339"/>
                </a:cxn>
                <a:cxn ang="0">
                  <a:pos x="2708" y="3484"/>
                </a:cxn>
                <a:cxn ang="0">
                  <a:pos x="2460" y="3592"/>
                </a:cxn>
                <a:cxn ang="0">
                  <a:pos x="2201" y="3661"/>
                </a:cxn>
                <a:cxn ang="0">
                  <a:pos x="1936" y="3693"/>
                </a:cxn>
                <a:cxn ang="0">
                  <a:pos x="1670" y="3687"/>
                </a:cxn>
                <a:cxn ang="0">
                  <a:pos x="1408" y="3643"/>
                </a:cxn>
                <a:cxn ang="0">
                  <a:pos x="1152" y="3561"/>
                </a:cxn>
                <a:cxn ang="0">
                  <a:pos x="908" y="3440"/>
                </a:cxn>
                <a:cxn ang="0">
                  <a:pos x="680" y="3282"/>
                </a:cxn>
                <a:cxn ang="0">
                  <a:pos x="475" y="3086"/>
                </a:cxn>
                <a:cxn ang="0">
                  <a:pos x="304" y="2866"/>
                </a:cxn>
                <a:cxn ang="0">
                  <a:pos x="172" y="2627"/>
                </a:cxn>
                <a:cxn ang="0">
                  <a:pos x="76" y="2374"/>
                </a:cxn>
                <a:cxn ang="0">
                  <a:pos x="19" y="2114"/>
                </a:cxn>
                <a:cxn ang="0">
                  <a:pos x="0" y="1848"/>
                </a:cxn>
                <a:cxn ang="0">
                  <a:pos x="19" y="1582"/>
                </a:cxn>
                <a:cxn ang="0">
                  <a:pos x="76" y="1321"/>
                </a:cxn>
                <a:cxn ang="0">
                  <a:pos x="171" y="1069"/>
                </a:cxn>
                <a:cxn ang="0">
                  <a:pos x="304" y="830"/>
                </a:cxn>
                <a:cxn ang="0">
                  <a:pos x="475" y="609"/>
                </a:cxn>
                <a:cxn ang="0">
                  <a:pos x="680" y="414"/>
                </a:cxn>
                <a:cxn ang="0">
                  <a:pos x="907" y="255"/>
                </a:cxn>
                <a:cxn ang="0">
                  <a:pos x="1151" y="135"/>
                </a:cxn>
                <a:cxn ang="0">
                  <a:pos x="1407" y="52"/>
                </a:cxn>
                <a:cxn ang="0">
                  <a:pos x="1669" y="8"/>
                </a:cxn>
                <a:cxn ang="0">
                  <a:pos x="1936" y="2"/>
                </a:cxn>
                <a:cxn ang="0">
                  <a:pos x="2201" y="33"/>
                </a:cxn>
                <a:cxn ang="0">
                  <a:pos x="2459" y="104"/>
                </a:cxn>
                <a:cxn ang="0">
                  <a:pos x="2708" y="211"/>
                </a:cxn>
                <a:cxn ang="0">
                  <a:pos x="2940" y="356"/>
                </a:cxn>
                <a:cxn ang="0">
                  <a:pos x="3154" y="539"/>
                </a:cxn>
              </a:cxnLst>
              <a:rect l="0" t="0" r="r" b="b"/>
              <a:pathLst>
                <a:path w="3695" h="3695">
                  <a:moveTo>
                    <a:pt x="3154" y="539"/>
                  </a:moveTo>
                  <a:lnTo>
                    <a:pt x="3220" y="608"/>
                  </a:lnTo>
                  <a:lnTo>
                    <a:pt x="3281" y="680"/>
                  </a:lnTo>
                  <a:lnTo>
                    <a:pt x="3338" y="754"/>
                  </a:lnTo>
                  <a:lnTo>
                    <a:pt x="3391" y="829"/>
                  </a:lnTo>
                  <a:lnTo>
                    <a:pt x="3439" y="907"/>
                  </a:lnTo>
                  <a:lnTo>
                    <a:pt x="3483" y="987"/>
                  </a:lnTo>
                  <a:lnTo>
                    <a:pt x="3523" y="1068"/>
                  </a:lnTo>
                  <a:lnTo>
                    <a:pt x="3559" y="1151"/>
                  </a:lnTo>
                  <a:lnTo>
                    <a:pt x="3591" y="1235"/>
                  </a:lnTo>
                  <a:lnTo>
                    <a:pt x="3619" y="1320"/>
                  </a:lnTo>
                  <a:lnTo>
                    <a:pt x="3642" y="1406"/>
                  </a:lnTo>
                  <a:lnTo>
                    <a:pt x="3661" y="1493"/>
                  </a:lnTo>
                  <a:lnTo>
                    <a:pt x="3676" y="1582"/>
                  </a:lnTo>
                  <a:lnTo>
                    <a:pt x="3686" y="1670"/>
                  </a:lnTo>
                  <a:lnTo>
                    <a:pt x="3693" y="1758"/>
                  </a:lnTo>
                  <a:lnTo>
                    <a:pt x="3695" y="1847"/>
                  </a:lnTo>
                  <a:lnTo>
                    <a:pt x="3693" y="1936"/>
                  </a:lnTo>
                  <a:lnTo>
                    <a:pt x="3686" y="2024"/>
                  </a:lnTo>
                  <a:lnTo>
                    <a:pt x="3676" y="2113"/>
                  </a:lnTo>
                  <a:lnTo>
                    <a:pt x="3661" y="2201"/>
                  </a:lnTo>
                  <a:lnTo>
                    <a:pt x="3642" y="2288"/>
                  </a:lnTo>
                  <a:lnTo>
                    <a:pt x="3619" y="2374"/>
                  </a:lnTo>
                  <a:lnTo>
                    <a:pt x="3591" y="2460"/>
                  </a:lnTo>
                  <a:lnTo>
                    <a:pt x="3559" y="2544"/>
                  </a:lnTo>
                  <a:lnTo>
                    <a:pt x="3524" y="2626"/>
                  </a:lnTo>
                  <a:lnTo>
                    <a:pt x="3484" y="2708"/>
                  </a:lnTo>
                  <a:lnTo>
                    <a:pt x="3439" y="2788"/>
                  </a:lnTo>
                  <a:lnTo>
                    <a:pt x="3391" y="2865"/>
                  </a:lnTo>
                  <a:lnTo>
                    <a:pt x="3339" y="2941"/>
                  </a:lnTo>
                  <a:lnTo>
                    <a:pt x="3281" y="3015"/>
                  </a:lnTo>
                  <a:lnTo>
                    <a:pt x="3220" y="3086"/>
                  </a:lnTo>
                  <a:lnTo>
                    <a:pt x="3155" y="3155"/>
                  </a:lnTo>
                  <a:lnTo>
                    <a:pt x="3086" y="3220"/>
                  </a:lnTo>
                  <a:lnTo>
                    <a:pt x="3015" y="3282"/>
                  </a:lnTo>
                  <a:lnTo>
                    <a:pt x="2941" y="3339"/>
                  </a:lnTo>
                  <a:lnTo>
                    <a:pt x="2865" y="3391"/>
                  </a:lnTo>
                  <a:lnTo>
                    <a:pt x="2788" y="3440"/>
                  </a:lnTo>
                  <a:lnTo>
                    <a:pt x="2708" y="3484"/>
                  </a:lnTo>
                  <a:lnTo>
                    <a:pt x="2626" y="3524"/>
                  </a:lnTo>
                  <a:lnTo>
                    <a:pt x="2544" y="3560"/>
                  </a:lnTo>
                  <a:lnTo>
                    <a:pt x="2460" y="3592"/>
                  </a:lnTo>
                  <a:lnTo>
                    <a:pt x="2375" y="3619"/>
                  </a:lnTo>
                  <a:lnTo>
                    <a:pt x="2288" y="3643"/>
                  </a:lnTo>
                  <a:lnTo>
                    <a:pt x="2201" y="3661"/>
                  </a:lnTo>
                  <a:lnTo>
                    <a:pt x="2114" y="3676"/>
                  </a:lnTo>
                  <a:lnTo>
                    <a:pt x="2026" y="3687"/>
                  </a:lnTo>
                  <a:lnTo>
                    <a:pt x="1936" y="3693"/>
                  </a:lnTo>
                  <a:lnTo>
                    <a:pt x="1848" y="3695"/>
                  </a:lnTo>
                  <a:lnTo>
                    <a:pt x="1759" y="3693"/>
                  </a:lnTo>
                  <a:lnTo>
                    <a:pt x="1670" y="3687"/>
                  </a:lnTo>
                  <a:lnTo>
                    <a:pt x="1582" y="3676"/>
                  </a:lnTo>
                  <a:lnTo>
                    <a:pt x="1495" y="3662"/>
                  </a:lnTo>
                  <a:lnTo>
                    <a:pt x="1408" y="3643"/>
                  </a:lnTo>
                  <a:lnTo>
                    <a:pt x="1321" y="3620"/>
                  </a:lnTo>
                  <a:lnTo>
                    <a:pt x="1236" y="3592"/>
                  </a:lnTo>
                  <a:lnTo>
                    <a:pt x="1152" y="3561"/>
                  </a:lnTo>
                  <a:lnTo>
                    <a:pt x="1069" y="3524"/>
                  </a:lnTo>
                  <a:lnTo>
                    <a:pt x="987" y="3484"/>
                  </a:lnTo>
                  <a:lnTo>
                    <a:pt x="908" y="3440"/>
                  </a:lnTo>
                  <a:lnTo>
                    <a:pt x="830" y="3391"/>
                  </a:lnTo>
                  <a:lnTo>
                    <a:pt x="755" y="3339"/>
                  </a:lnTo>
                  <a:lnTo>
                    <a:pt x="680" y="3282"/>
                  </a:lnTo>
                  <a:lnTo>
                    <a:pt x="609" y="3220"/>
                  </a:lnTo>
                  <a:lnTo>
                    <a:pt x="541" y="3155"/>
                  </a:lnTo>
                  <a:lnTo>
                    <a:pt x="475" y="3086"/>
                  </a:lnTo>
                  <a:lnTo>
                    <a:pt x="414" y="3015"/>
                  </a:lnTo>
                  <a:lnTo>
                    <a:pt x="357" y="2941"/>
                  </a:lnTo>
                  <a:lnTo>
                    <a:pt x="304" y="2866"/>
                  </a:lnTo>
                  <a:lnTo>
                    <a:pt x="256" y="2788"/>
                  </a:lnTo>
                  <a:lnTo>
                    <a:pt x="212" y="2709"/>
                  </a:lnTo>
                  <a:lnTo>
                    <a:pt x="172" y="2627"/>
                  </a:lnTo>
                  <a:lnTo>
                    <a:pt x="136" y="2544"/>
                  </a:lnTo>
                  <a:lnTo>
                    <a:pt x="104" y="2460"/>
                  </a:lnTo>
                  <a:lnTo>
                    <a:pt x="76" y="2374"/>
                  </a:lnTo>
                  <a:lnTo>
                    <a:pt x="53" y="2288"/>
                  </a:lnTo>
                  <a:lnTo>
                    <a:pt x="34" y="2201"/>
                  </a:lnTo>
                  <a:lnTo>
                    <a:pt x="19" y="2114"/>
                  </a:lnTo>
                  <a:lnTo>
                    <a:pt x="9" y="2025"/>
                  </a:lnTo>
                  <a:lnTo>
                    <a:pt x="2" y="1937"/>
                  </a:lnTo>
                  <a:lnTo>
                    <a:pt x="0" y="1848"/>
                  </a:lnTo>
                  <a:lnTo>
                    <a:pt x="2" y="1759"/>
                  </a:lnTo>
                  <a:lnTo>
                    <a:pt x="9" y="1670"/>
                  </a:lnTo>
                  <a:lnTo>
                    <a:pt x="19" y="1582"/>
                  </a:lnTo>
                  <a:lnTo>
                    <a:pt x="34" y="1494"/>
                  </a:lnTo>
                  <a:lnTo>
                    <a:pt x="53" y="1407"/>
                  </a:lnTo>
                  <a:lnTo>
                    <a:pt x="76" y="1321"/>
                  </a:lnTo>
                  <a:lnTo>
                    <a:pt x="104" y="1236"/>
                  </a:lnTo>
                  <a:lnTo>
                    <a:pt x="136" y="1151"/>
                  </a:lnTo>
                  <a:lnTo>
                    <a:pt x="171" y="1069"/>
                  </a:lnTo>
                  <a:lnTo>
                    <a:pt x="211" y="988"/>
                  </a:lnTo>
                  <a:lnTo>
                    <a:pt x="255" y="907"/>
                  </a:lnTo>
                  <a:lnTo>
                    <a:pt x="304" y="830"/>
                  </a:lnTo>
                  <a:lnTo>
                    <a:pt x="356" y="754"/>
                  </a:lnTo>
                  <a:lnTo>
                    <a:pt x="414" y="681"/>
                  </a:lnTo>
                  <a:lnTo>
                    <a:pt x="475" y="609"/>
                  </a:lnTo>
                  <a:lnTo>
                    <a:pt x="540" y="540"/>
                  </a:lnTo>
                  <a:lnTo>
                    <a:pt x="609" y="475"/>
                  </a:lnTo>
                  <a:lnTo>
                    <a:pt x="680" y="414"/>
                  </a:lnTo>
                  <a:lnTo>
                    <a:pt x="754" y="356"/>
                  </a:lnTo>
                  <a:lnTo>
                    <a:pt x="830" y="303"/>
                  </a:lnTo>
                  <a:lnTo>
                    <a:pt x="907" y="255"/>
                  </a:lnTo>
                  <a:lnTo>
                    <a:pt x="987" y="211"/>
                  </a:lnTo>
                  <a:lnTo>
                    <a:pt x="1069" y="171"/>
                  </a:lnTo>
                  <a:lnTo>
                    <a:pt x="1151" y="135"/>
                  </a:lnTo>
                  <a:lnTo>
                    <a:pt x="1235" y="104"/>
                  </a:lnTo>
                  <a:lnTo>
                    <a:pt x="1320" y="76"/>
                  </a:lnTo>
                  <a:lnTo>
                    <a:pt x="1407" y="52"/>
                  </a:lnTo>
                  <a:lnTo>
                    <a:pt x="1494" y="33"/>
                  </a:lnTo>
                  <a:lnTo>
                    <a:pt x="1581" y="19"/>
                  </a:lnTo>
                  <a:lnTo>
                    <a:pt x="1669" y="8"/>
                  </a:lnTo>
                  <a:lnTo>
                    <a:pt x="1759" y="2"/>
                  </a:lnTo>
                  <a:lnTo>
                    <a:pt x="1847" y="0"/>
                  </a:lnTo>
                  <a:lnTo>
                    <a:pt x="1936" y="2"/>
                  </a:lnTo>
                  <a:lnTo>
                    <a:pt x="2025" y="8"/>
                  </a:lnTo>
                  <a:lnTo>
                    <a:pt x="2113" y="19"/>
                  </a:lnTo>
                  <a:lnTo>
                    <a:pt x="2201" y="33"/>
                  </a:lnTo>
                  <a:lnTo>
                    <a:pt x="2287" y="52"/>
                  </a:lnTo>
                  <a:lnTo>
                    <a:pt x="2374" y="76"/>
                  </a:lnTo>
                  <a:lnTo>
                    <a:pt x="2459" y="104"/>
                  </a:lnTo>
                  <a:lnTo>
                    <a:pt x="2543" y="135"/>
                  </a:lnTo>
                  <a:lnTo>
                    <a:pt x="2626" y="171"/>
                  </a:lnTo>
                  <a:lnTo>
                    <a:pt x="2708" y="211"/>
                  </a:lnTo>
                  <a:lnTo>
                    <a:pt x="2787" y="255"/>
                  </a:lnTo>
                  <a:lnTo>
                    <a:pt x="2865" y="303"/>
                  </a:lnTo>
                  <a:lnTo>
                    <a:pt x="2940" y="356"/>
                  </a:lnTo>
                  <a:lnTo>
                    <a:pt x="3015" y="413"/>
                  </a:lnTo>
                  <a:lnTo>
                    <a:pt x="3086" y="474"/>
                  </a:lnTo>
                  <a:lnTo>
                    <a:pt x="3154" y="539"/>
                  </a:lnTo>
                  <a:close/>
                </a:path>
              </a:pathLst>
            </a:custGeom>
            <a:grpFill/>
            <a:ln w="9525">
              <a:noFill/>
              <a:round/>
              <a:headEnd/>
              <a:tailEnd/>
            </a:ln>
          </p:spPr>
          <p:txBody>
            <a:bodyPr/>
            <a:lstStyle/>
            <a:p>
              <a:pPr algn="ctr" eaLnBrk="1" fontAlgn="auto" hangingPunct="1">
                <a:spcBef>
                  <a:spcPts val="0"/>
                </a:spcBef>
                <a:spcAft>
                  <a:spcPts val="0"/>
                </a:spcAft>
                <a:defRPr/>
              </a:pPr>
              <a:endParaRPr lang="zh-CN" altLang="en-US" sz="1200" ker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5" name="Freeform 16"/>
            <p:cNvSpPr>
              <a:spLocks noEditPoints="1"/>
            </p:cNvSpPr>
            <p:nvPr/>
          </p:nvSpPr>
          <p:spPr bwMode="gray">
            <a:xfrm>
              <a:off x="7440613" y="4868863"/>
              <a:ext cx="1019175" cy="544513"/>
            </a:xfrm>
            <a:custGeom>
              <a:avLst/>
              <a:gdLst/>
              <a:ahLst/>
              <a:cxnLst>
                <a:cxn ang="0">
                  <a:pos x="16025" y="3351"/>
                </a:cxn>
                <a:cxn ang="0">
                  <a:pos x="14975" y="4351"/>
                </a:cxn>
                <a:cxn ang="0">
                  <a:pos x="14184" y="3632"/>
                </a:cxn>
                <a:cxn ang="0">
                  <a:pos x="12564" y="2563"/>
                </a:cxn>
                <a:cxn ang="0">
                  <a:pos x="10805" y="1850"/>
                </a:cxn>
                <a:cxn ang="0">
                  <a:pos x="8960" y="1494"/>
                </a:cxn>
                <a:cxn ang="0">
                  <a:pos x="7087" y="1494"/>
                </a:cxn>
                <a:cxn ang="0">
                  <a:pos x="5243" y="1851"/>
                </a:cxn>
                <a:cxn ang="0">
                  <a:pos x="3483" y="2564"/>
                </a:cxn>
                <a:cxn ang="0">
                  <a:pos x="1864" y="3634"/>
                </a:cxn>
                <a:cxn ang="0">
                  <a:pos x="1075" y="4353"/>
                </a:cxn>
                <a:cxn ang="0">
                  <a:pos x="24" y="3353"/>
                </a:cxn>
                <a:cxn ang="0">
                  <a:pos x="516" y="2880"/>
                </a:cxn>
                <a:cxn ang="0">
                  <a:pos x="2325" y="1549"/>
                </a:cxn>
                <a:cxn ang="0">
                  <a:pos x="4312" y="627"/>
                </a:cxn>
                <a:cxn ang="0">
                  <a:pos x="6413" y="115"/>
                </a:cxn>
                <a:cxn ang="0">
                  <a:pos x="8562" y="13"/>
                </a:cxn>
                <a:cxn ang="0">
                  <a:pos x="10694" y="319"/>
                </a:cxn>
                <a:cxn ang="0">
                  <a:pos x="12747" y="1036"/>
                </a:cxn>
                <a:cxn ang="0">
                  <a:pos x="14654" y="2160"/>
                </a:cxn>
                <a:cxn ang="0">
                  <a:pos x="14055" y="5373"/>
                </a:cxn>
                <a:cxn ang="0">
                  <a:pos x="12871" y="6404"/>
                </a:cxn>
                <a:cxn ang="0">
                  <a:pos x="12058" y="5702"/>
                </a:cxn>
                <a:cxn ang="0">
                  <a:pos x="10898" y="5017"/>
                </a:cxn>
                <a:cxn ang="0">
                  <a:pos x="9649" y="4582"/>
                </a:cxn>
                <a:cxn ang="0">
                  <a:pos x="8352" y="4395"/>
                </a:cxn>
                <a:cxn ang="0">
                  <a:pos x="7044" y="4457"/>
                </a:cxn>
                <a:cxn ang="0">
                  <a:pos x="5767" y="4769"/>
                </a:cxn>
                <a:cxn ang="0">
                  <a:pos x="4558" y="5329"/>
                </a:cxn>
                <a:cxn ang="0">
                  <a:pos x="3457" y="6139"/>
                </a:cxn>
                <a:cxn ang="0">
                  <a:pos x="3129" y="6456"/>
                </a:cxn>
                <a:cxn ang="0">
                  <a:pos x="2045" y="5322"/>
                </a:cxn>
                <a:cxn ang="0">
                  <a:pos x="2731" y="4697"/>
                </a:cxn>
                <a:cxn ang="0">
                  <a:pos x="4122" y="3779"/>
                </a:cxn>
                <a:cxn ang="0">
                  <a:pos x="5635" y="3166"/>
                </a:cxn>
                <a:cxn ang="0">
                  <a:pos x="7219" y="2859"/>
                </a:cxn>
                <a:cxn ang="0">
                  <a:pos x="8829" y="2859"/>
                </a:cxn>
                <a:cxn ang="0">
                  <a:pos x="10413" y="3165"/>
                </a:cxn>
                <a:cxn ang="0">
                  <a:pos x="11926" y="3777"/>
                </a:cxn>
                <a:cxn ang="0">
                  <a:pos x="13318" y="4696"/>
                </a:cxn>
                <a:cxn ang="0">
                  <a:pos x="14005" y="5321"/>
                </a:cxn>
                <a:cxn ang="0">
                  <a:pos x="10854" y="8576"/>
                </a:cxn>
                <a:cxn ang="0">
                  <a:pos x="10754" y="8472"/>
                </a:cxn>
                <a:cxn ang="0">
                  <a:pos x="10150" y="7980"/>
                </a:cxn>
                <a:cxn ang="0">
                  <a:pos x="9479" y="7627"/>
                </a:cxn>
                <a:cxn ang="0">
                  <a:pos x="8762" y="7416"/>
                </a:cxn>
                <a:cxn ang="0">
                  <a:pos x="8025" y="7345"/>
                </a:cxn>
                <a:cxn ang="0">
                  <a:pos x="7287" y="7416"/>
                </a:cxn>
                <a:cxn ang="0">
                  <a:pos x="6571" y="7627"/>
                </a:cxn>
                <a:cxn ang="0">
                  <a:pos x="5900" y="7980"/>
                </a:cxn>
                <a:cxn ang="0">
                  <a:pos x="5297" y="8473"/>
                </a:cxn>
                <a:cxn ang="0">
                  <a:pos x="5198" y="8576"/>
                </a:cxn>
                <a:cxn ang="0">
                  <a:pos x="4197" y="7425"/>
                </a:cxn>
                <a:cxn ang="0">
                  <a:pos x="4843" y="6865"/>
                </a:cxn>
                <a:cxn ang="0">
                  <a:pos x="5758" y="6325"/>
                </a:cxn>
                <a:cxn ang="0">
                  <a:pos x="6743" y="5981"/>
                </a:cxn>
                <a:cxn ang="0">
                  <a:pos x="7766" y="5833"/>
                </a:cxn>
                <a:cxn ang="0">
                  <a:pos x="8797" y="5882"/>
                </a:cxn>
                <a:cxn ang="0">
                  <a:pos x="9806" y="6127"/>
                </a:cxn>
                <a:cxn ang="0">
                  <a:pos x="10760" y="6570"/>
                </a:cxn>
                <a:cxn ang="0">
                  <a:pos x="11627" y="7208"/>
                </a:cxn>
                <a:cxn ang="0">
                  <a:pos x="11903" y="7475"/>
                </a:cxn>
              </a:cxnLst>
              <a:rect l="0" t="0" r="r" b="b"/>
              <a:pathLst>
                <a:path w="16050" h="8576">
                  <a:moveTo>
                    <a:pt x="15950" y="3273"/>
                  </a:moveTo>
                  <a:lnTo>
                    <a:pt x="15975" y="3299"/>
                  </a:lnTo>
                  <a:lnTo>
                    <a:pt x="16000" y="3324"/>
                  </a:lnTo>
                  <a:lnTo>
                    <a:pt x="16025" y="3351"/>
                  </a:lnTo>
                  <a:lnTo>
                    <a:pt x="16050" y="3377"/>
                  </a:lnTo>
                  <a:lnTo>
                    <a:pt x="15025" y="4402"/>
                  </a:lnTo>
                  <a:lnTo>
                    <a:pt x="15000" y="4377"/>
                  </a:lnTo>
                  <a:lnTo>
                    <a:pt x="14975" y="4351"/>
                  </a:lnTo>
                  <a:lnTo>
                    <a:pt x="14950" y="4325"/>
                  </a:lnTo>
                  <a:lnTo>
                    <a:pt x="14923" y="4300"/>
                  </a:lnTo>
                  <a:lnTo>
                    <a:pt x="14560" y="3955"/>
                  </a:lnTo>
                  <a:lnTo>
                    <a:pt x="14184" y="3632"/>
                  </a:lnTo>
                  <a:lnTo>
                    <a:pt x="13796" y="3330"/>
                  </a:lnTo>
                  <a:lnTo>
                    <a:pt x="13396" y="3053"/>
                  </a:lnTo>
                  <a:lnTo>
                    <a:pt x="12984" y="2797"/>
                  </a:lnTo>
                  <a:lnTo>
                    <a:pt x="12564" y="2563"/>
                  </a:lnTo>
                  <a:lnTo>
                    <a:pt x="12136" y="2351"/>
                  </a:lnTo>
                  <a:lnTo>
                    <a:pt x="11698" y="2161"/>
                  </a:lnTo>
                  <a:lnTo>
                    <a:pt x="11254" y="1995"/>
                  </a:lnTo>
                  <a:lnTo>
                    <a:pt x="10805" y="1850"/>
                  </a:lnTo>
                  <a:lnTo>
                    <a:pt x="10349" y="1728"/>
                  </a:lnTo>
                  <a:lnTo>
                    <a:pt x="9889" y="1628"/>
                  </a:lnTo>
                  <a:lnTo>
                    <a:pt x="9426" y="1549"/>
                  </a:lnTo>
                  <a:lnTo>
                    <a:pt x="8960" y="1494"/>
                  </a:lnTo>
                  <a:lnTo>
                    <a:pt x="8492" y="1461"/>
                  </a:lnTo>
                  <a:lnTo>
                    <a:pt x="8024" y="1450"/>
                  </a:lnTo>
                  <a:lnTo>
                    <a:pt x="7556" y="1461"/>
                  </a:lnTo>
                  <a:lnTo>
                    <a:pt x="7087" y="1494"/>
                  </a:lnTo>
                  <a:lnTo>
                    <a:pt x="6622" y="1550"/>
                  </a:lnTo>
                  <a:lnTo>
                    <a:pt x="6158" y="1629"/>
                  </a:lnTo>
                  <a:lnTo>
                    <a:pt x="5699" y="1729"/>
                  </a:lnTo>
                  <a:lnTo>
                    <a:pt x="5243" y="1851"/>
                  </a:lnTo>
                  <a:lnTo>
                    <a:pt x="4793" y="1996"/>
                  </a:lnTo>
                  <a:lnTo>
                    <a:pt x="4350" y="2163"/>
                  </a:lnTo>
                  <a:lnTo>
                    <a:pt x="3912" y="2352"/>
                  </a:lnTo>
                  <a:lnTo>
                    <a:pt x="3483" y="2564"/>
                  </a:lnTo>
                  <a:lnTo>
                    <a:pt x="3064" y="2799"/>
                  </a:lnTo>
                  <a:lnTo>
                    <a:pt x="2652" y="3055"/>
                  </a:lnTo>
                  <a:lnTo>
                    <a:pt x="2253" y="3332"/>
                  </a:lnTo>
                  <a:lnTo>
                    <a:pt x="1864" y="3634"/>
                  </a:lnTo>
                  <a:lnTo>
                    <a:pt x="1488" y="3957"/>
                  </a:lnTo>
                  <a:lnTo>
                    <a:pt x="1125" y="4302"/>
                  </a:lnTo>
                  <a:lnTo>
                    <a:pt x="1099" y="4327"/>
                  </a:lnTo>
                  <a:lnTo>
                    <a:pt x="1075" y="4353"/>
                  </a:lnTo>
                  <a:lnTo>
                    <a:pt x="1050" y="4378"/>
                  </a:lnTo>
                  <a:lnTo>
                    <a:pt x="1025" y="4404"/>
                  </a:lnTo>
                  <a:lnTo>
                    <a:pt x="0" y="3378"/>
                  </a:lnTo>
                  <a:lnTo>
                    <a:pt x="24" y="3353"/>
                  </a:lnTo>
                  <a:lnTo>
                    <a:pt x="49" y="3326"/>
                  </a:lnTo>
                  <a:lnTo>
                    <a:pt x="74" y="3301"/>
                  </a:lnTo>
                  <a:lnTo>
                    <a:pt x="99" y="3276"/>
                  </a:lnTo>
                  <a:lnTo>
                    <a:pt x="516" y="2880"/>
                  </a:lnTo>
                  <a:lnTo>
                    <a:pt x="948" y="2509"/>
                  </a:lnTo>
                  <a:lnTo>
                    <a:pt x="1394" y="2162"/>
                  </a:lnTo>
                  <a:lnTo>
                    <a:pt x="1854" y="1843"/>
                  </a:lnTo>
                  <a:lnTo>
                    <a:pt x="2325" y="1549"/>
                  </a:lnTo>
                  <a:lnTo>
                    <a:pt x="2808" y="1280"/>
                  </a:lnTo>
                  <a:lnTo>
                    <a:pt x="3301" y="1037"/>
                  </a:lnTo>
                  <a:lnTo>
                    <a:pt x="3803" y="820"/>
                  </a:lnTo>
                  <a:lnTo>
                    <a:pt x="4312" y="627"/>
                  </a:lnTo>
                  <a:lnTo>
                    <a:pt x="4830" y="461"/>
                  </a:lnTo>
                  <a:lnTo>
                    <a:pt x="5353" y="320"/>
                  </a:lnTo>
                  <a:lnTo>
                    <a:pt x="5881" y="205"/>
                  </a:lnTo>
                  <a:lnTo>
                    <a:pt x="6413" y="115"/>
                  </a:lnTo>
                  <a:lnTo>
                    <a:pt x="6949" y="51"/>
                  </a:lnTo>
                  <a:lnTo>
                    <a:pt x="7485" y="13"/>
                  </a:lnTo>
                  <a:lnTo>
                    <a:pt x="8024" y="0"/>
                  </a:lnTo>
                  <a:lnTo>
                    <a:pt x="8562" y="13"/>
                  </a:lnTo>
                  <a:lnTo>
                    <a:pt x="9099" y="51"/>
                  </a:lnTo>
                  <a:lnTo>
                    <a:pt x="9634" y="115"/>
                  </a:lnTo>
                  <a:lnTo>
                    <a:pt x="10167" y="205"/>
                  </a:lnTo>
                  <a:lnTo>
                    <a:pt x="10694" y="319"/>
                  </a:lnTo>
                  <a:lnTo>
                    <a:pt x="11218" y="460"/>
                  </a:lnTo>
                  <a:lnTo>
                    <a:pt x="11735" y="626"/>
                  </a:lnTo>
                  <a:lnTo>
                    <a:pt x="12245" y="818"/>
                  </a:lnTo>
                  <a:lnTo>
                    <a:pt x="12747" y="1036"/>
                  </a:lnTo>
                  <a:lnTo>
                    <a:pt x="13239" y="1278"/>
                  </a:lnTo>
                  <a:lnTo>
                    <a:pt x="13722" y="1547"/>
                  </a:lnTo>
                  <a:lnTo>
                    <a:pt x="14194" y="1841"/>
                  </a:lnTo>
                  <a:lnTo>
                    <a:pt x="14654" y="2160"/>
                  </a:lnTo>
                  <a:lnTo>
                    <a:pt x="15100" y="2506"/>
                  </a:lnTo>
                  <a:lnTo>
                    <a:pt x="15532" y="2877"/>
                  </a:lnTo>
                  <a:lnTo>
                    <a:pt x="15950" y="3273"/>
                  </a:lnTo>
                  <a:close/>
                  <a:moveTo>
                    <a:pt x="14055" y="5373"/>
                  </a:moveTo>
                  <a:lnTo>
                    <a:pt x="12946" y="6481"/>
                  </a:lnTo>
                  <a:lnTo>
                    <a:pt x="12921" y="6456"/>
                  </a:lnTo>
                  <a:lnTo>
                    <a:pt x="12897" y="6430"/>
                  </a:lnTo>
                  <a:lnTo>
                    <a:pt x="12871" y="6404"/>
                  </a:lnTo>
                  <a:lnTo>
                    <a:pt x="12846" y="6379"/>
                  </a:lnTo>
                  <a:lnTo>
                    <a:pt x="12592" y="6137"/>
                  </a:lnTo>
                  <a:lnTo>
                    <a:pt x="12329" y="5912"/>
                  </a:lnTo>
                  <a:lnTo>
                    <a:pt x="12058" y="5702"/>
                  </a:lnTo>
                  <a:lnTo>
                    <a:pt x="11778" y="5507"/>
                  </a:lnTo>
                  <a:lnTo>
                    <a:pt x="11491" y="5328"/>
                  </a:lnTo>
                  <a:lnTo>
                    <a:pt x="11198" y="5165"/>
                  </a:lnTo>
                  <a:lnTo>
                    <a:pt x="10898" y="5017"/>
                  </a:lnTo>
                  <a:lnTo>
                    <a:pt x="10592" y="4885"/>
                  </a:lnTo>
                  <a:lnTo>
                    <a:pt x="10282" y="4768"/>
                  </a:lnTo>
                  <a:lnTo>
                    <a:pt x="9967" y="4667"/>
                  </a:lnTo>
                  <a:lnTo>
                    <a:pt x="9649" y="4582"/>
                  </a:lnTo>
                  <a:lnTo>
                    <a:pt x="9328" y="4512"/>
                  </a:lnTo>
                  <a:lnTo>
                    <a:pt x="9004" y="4457"/>
                  </a:lnTo>
                  <a:lnTo>
                    <a:pt x="8679" y="4418"/>
                  </a:lnTo>
                  <a:lnTo>
                    <a:pt x="8352" y="4395"/>
                  </a:lnTo>
                  <a:lnTo>
                    <a:pt x="8024" y="4387"/>
                  </a:lnTo>
                  <a:lnTo>
                    <a:pt x="7697" y="4395"/>
                  </a:lnTo>
                  <a:lnTo>
                    <a:pt x="7370" y="4418"/>
                  </a:lnTo>
                  <a:lnTo>
                    <a:pt x="7044" y="4457"/>
                  </a:lnTo>
                  <a:lnTo>
                    <a:pt x="6721" y="4512"/>
                  </a:lnTo>
                  <a:lnTo>
                    <a:pt x="6399" y="4582"/>
                  </a:lnTo>
                  <a:lnTo>
                    <a:pt x="6081" y="4668"/>
                  </a:lnTo>
                  <a:lnTo>
                    <a:pt x="5767" y="4769"/>
                  </a:lnTo>
                  <a:lnTo>
                    <a:pt x="5457" y="4886"/>
                  </a:lnTo>
                  <a:lnTo>
                    <a:pt x="5151" y="5018"/>
                  </a:lnTo>
                  <a:lnTo>
                    <a:pt x="4851" y="5166"/>
                  </a:lnTo>
                  <a:lnTo>
                    <a:pt x="4558" y="5329"/>
                  </a:lnTo>
                  <a:lnTo>
                    <a:pt x="4271" y="5509"/>
                  </a:lnTo>
                  <a:lnTo>
                    <a:pt x="3991" y="5703"/>
                  </a:lnTo>
                  <a:lnTo>
                    <a:pt x="3720" y="5913"/>
                  </a:lnTo>
                  <a:lnTo>
                    <a:pt x="3457" y="6139"/>
                  </a:lnTo>
                  <a:lnTo>
                    <a:pt x="3203" y="6380"/>
                  </a:lnTo>
                  <a:lnTo>
                    <a:pt x="3178" y="6406"/>
                  </a:lnTo>
                  <a:lnTo>
                    <a:pt x="3154" y="6431"/>
                  </a:lnTo>
                  <a:lnTo>
                    <a:pt x="3129" y="6456"/>
                  </a:lnTo>
                  <a:lnTo>
                    <a:pt x="3104" y="6482"/>
                  </a:lnTo>
                  <a:lnTo>
                    <a:pt x="1996" y="5374"/>
                  </a:lnTo>
                  <a:lnTo>
                    <a:pt x="2020" y="5348"/>
                  </a:lnTo>
                  <a:lnTo>
                    <a:pt x="2045" y="5322"/>
                  </a:lnTo>
                  <a:lnTo>
                    <a:pt x="2069" y="5297"/>
                  </a:lnTo>
                  <a:lnTo>
                    <a:pt x="2095" y="5272"/>
                  </a:lnTo>
                  <a:lnTo>
                    <a:pt x="2406" y="4975"/>
                  </a:lnTo>
                  <a:lnTo>
                    <a:pt x="2731" y="4697"/>
                  </a:lnTo>
                  <a:lnTo>
                    <a:pt x="3065" y="4439"/>
                  </a:lnTo>
                  <a:lnTo>
                    <a:pt x="3408" y="4199"/>
                  </a:lnTo>
                  <a:lnTo>
                    <a:pt x="3761" y="3980"/>
                  </a:lnTo>
                  <a:lnTo>
                    <a:pt x="4122" y="3779"/>
                  </a:lnTo>
                  <a:lnTo>
                    <a:pt x="4491" y="3596"/>
                  </a:lnTo>
                  <a:lnTo>
                    <a:pt x="4866" y="3434"/>
                  </a:lnTo>
                  <a:lnTo>
                    <a:pt x="5247" y="3290"/>
                  </a:lnTo>
                  <a:lnTo>
                    <a:pt x="5635" y="3166"/>
                  </a:lnTo>
                  <a:lnTo>
                    <a:pt x="6026" y="3061"/>
                  </a:lnTo>
                  <a:lnTo>
                    <a:pt x="6421" y="2974"/>
                  </a:lnTo>
                  <a:lnTo>
                    <a:pt x="6819" y="2907"/>
                  </a:lnTo>
                  <a:lnTo>
                    <a:pt x="7219" y="2859"/>
                  </a:lnTo>
                  <a:lnTo>
                    <a:pt x="7622" y="2831"/>
                  </a:lnTo>
                  <a:lnTo>
                    <a:pt x="8024" y="2821"/>
                  </a:lnTo>
                  <a:lnTo>
                    <a:pt x="8427" y="2831"/>
                  </a:lnTo>
                  <a:lnTo>
                    <a:pt x="8829" y="2859"/>
                  </a:lnTo>
                  <a:lnTo>
                    <a:pt x="9229" y="2907"/>
                  </a:lnTo>
                  <a:lnTo>
                    <a:pt x="9627" y="2973"/>
                  </a:lnTo>
                  <a:lnTo>
                    <a:pt x="10022" y="3060"/>
                  </a:lnTo>
                  <a:lnTo>
                    <a:pt x="10413" y="3165"/>
                  </a:lnTo>
                  <a:lnTo>
                    <a:pt x="10801" y="3289"/>
                  </a:lnTo>
                  <a:lnTo>
                    <a:pt x="11182" y="3433"/>
                  </a:lnTo>
                  <a:lnTo>
                    <a:pt x="11558" y="3595"/>
                  </a:lnTo>
                  <a:lnTo>
                    <a:pt x="11926" y="3777"/>
                  </a:lnTo>
                  <a:lnTo>
                    <a:pt x="12287" y="3978"/>
                  </a:lnTo>
                  <a:lnTo>
                    <a:pt x="12640" y="4198"/>
                  </a:lnTo>
                  <a:lnTo>
                    <a:pt x="12984" y="4437"/>
                  </a:lnTo>
                  <a:lnTo>
                    <a:pt x="13318" y="4696"/>
                  </a:lnTo>
                  <a:lnTo>
                    <a:pt x="13641" y="4973"/>
                  </a:lnTo>
                  <a:lnTo>
                    <a:pt x="13954" y="5270"/>
                  </a:lnTo>
                  <a:lnTo>
                    <a:pt x="13980" y="5295"/>
                  </a:lnTo>
                  <a:lnTo>
                    <a:pt x="14005" y="5321"/>
                  </a:lnTo>
                  <a:lnTo>
                    <a:pt x="14030" y="5347"/>
                  </a:lnTo>
                  <a:lnTo>
                    <a:pt x="14055" y="5373"/>
                  </a:lnTo>
                  <a:close/>
                  <a:moveTo>
                    <a:pt x="11928" y="7501"/>
                  </a:moveTo>
                  <a:lnTo>
                    <a:pt x="10854" y="8576"/>
                  </a:lnTo>
                  <a:lnTo>
                    <a:pt x="10829" y="8549"/>
                  </a:lnTo>
                  <a:lnTo>
                    <a:pt x="10805" y="8523"/>
                  </a:lnTo>
                  <a:lnTo>
                    <a:pt x="10780" y="8498"/>
                  </a:lnTo>
                  <a:lnTo>
                    <a:pt x="10754" y="8472"/>
                  </a:lnTo>
                  <a:lnTo>
                    <a:pt x="10610" y="8336"/>
                  </a:lnTo>
                  <a:lnTo>
                    <a:pt x="10462" y="8208"/>
                  </a:lnTo>
                  <a:lnTo>
                    <a:pt x="10307" y="8089"/>
                  </a:lnTo>
                  <a:lnTo>
                    <a:pt x="10150" y="7980"/>
                  </a:lnTo>
                  <a:lnTo>
                    <a:pt x="9987" y="7878"/>
                  </a:lnTo>
                  <a:lnTo>
                    <a:pt x="9821" y="7785"/>
                  </a:lnTo>
                  <a:lnTo>
                    <a:pt x="9651" y="7702"/>
                  </a:lnTo>
                  <a:lnTo>
                    <a:pt x="9479" y="7627"/>
                  </a:lnTo>
                  <a:lnTo>
                    <a:pt x="9303" y="7561"/>
                  </a:lnTo>
                  <a:lnTo>
                    <a:pt x="9124" y="7504"/>
                  </a:lnTo>
                  <a:lnTo>
                    <a:pt x="8945" y="7456"/>
                  </a:lnTo>
                  <a:lnTo>
                    <a:pt x="8762" y="7416"/>
                  </a:lnTo>
                  <a:lnTo>
                    <a:pt x="8580" y="7384"/>
                  </a:lnTo>
                  <a:lnTo>
                    <a:pt x="8395" y="7362"/>
                  </a:lnTo>
                  <a:lnTo>
                    <a:pt x="8210" y="7349"/>
                  </a:lnTo>
                  <a:lnTo>
                    <a:pt x="8025" y="7345"/>
                  </a:lnTo>
                  <a:lnTo>
                    <a:pt x="7839" y="7349"/>
                  </a:lnTo>
                  <a:lnTo>
                    <a:pt x="7655" y="7363"/>
                  </a:lnTo>
                  <a:lnTo>
                    <a:pt x="7470" y="7385"/>
                  </a:lnTo>
                  <a:lnTo>
                    <a:pt x="7287" y="7416"/>
                  </a:lnTo>
                  <a:lnTo>
                    <a:pt x="7105" y="7456"/>
                  </a:lnTo>
                  <a:lnTo>
                    <a:pt x="6926" y="7504"/>
                  </a:lnTo>
                  <a:lnTo>
                    <a:pt x="6747" y="7561"/>
                  </a:lnTo>
                  <a:lnTo>
                    <a:pt x="6571" y="7627"/>
                  </a:lnTo>
                  <a:lnTo>
                    <a:pt x="6399" y="7703"/>
                  </a:lnTo>
                  <a:lnTo>
                    <a:pt x="6229" y="7786"/>
                  </a:lnTo>
                  <a:lnTo>
                    <a:pt x="6063" y="7878"/>
                  </a:lnTo>
                  <a:lnTo>
                    <a:pt x="5900" y="7980"/>
                  </a:lnTo>
                  <a:lnTo>
                    <a:pt x="5742" y="8090"/>
                  </a:lnTo>
                  <a:lnTo>
                    <a:pt x="5588" y="8209"/>
                  </a:lnTo>
                  <a:lnTo>
                    <a:pt x="5440" y="8337"/>
                  </a:lnTo>
                  <a:lnTo>
                    <a:pt x="5297" y="8473"/>
                  </a:lnTo>
                  <a:lnTo>
                    <a:pt x="5271" y="8498"/>
                  </a:lnTo>
                  <a:lnTo>
                    <a:pt x="5246" y="8524"/>
                  </a:lnTo>
                  <a:lnTo>
                    <a:pt x="5222" y="8550"/>
                  </a:lnTo>
                  <a:lnTo>
                    <a:pt x="5198" y="8576"/>
                  </a:lnTo>
                  <a:lnTo>
                    <a:pt x="4123" y="7501"/>
                  </a:lnTo>
                  <a:lnTo>
                    <a:pt x="4147" y="7476"/>
                  </a:lnTo>
                  <a:lnTo>
                    <a:pt x="4172" y="7450"/>
                  </a:lnTo>
                  <a:lnTo>
                    <a:pt x="4197" y="7425"/>
                  </a:lnTo>
                  <a:lnTo>
                    <a:pt x="4222" y="7399"/>
                  </a:lnTo>
                  <a:lnTo>
                    <a:pt x="4422" y="7209"/>
                  </a:lnTo>
                  <a:lnTo>
                    <a:pt x="4629" y="7030"/>
                  </a:lnTo>
                  <a:lnTo>
                    <a:pt x="4843" y="6865"/>
                  </a:lnTo>
                  <a:lnTo>
                    <a:pt x="5064" y="6711"/>
                  </a:lnTo>
                  <a:lnTo>
                    <a:pt x="5290" y="6571"/>
                  </a:lnTo>
                  <a:lnTo>
                    <a:pt x="5522" y="6441"/>
                  </a:lnTo>
                  <a:lnTo>
                    <a:pt x="5758" y="6325"/>
                  </a:lnTo>
                  <a:lnTo>
                    <a:pt x="6000" y="6220"/>
                  </a:lnTo>
                  <a:lnTo>
                    <a:pt x="6243" y="6128"/>
                  </a:lnTo>
                  <a:lnTo>
                    <a:pt x="6492" y="6048"/>
                  </a:lnTo>
                  <a:lnTo>
                    <a:pt x="6743" y="5981"/>
                  </a:lnTo>
                  <a:lnTo>
                    <a:pt x="6997" y="5925"/>
                  </a:lnTo>
                  <a:lnTo>
                    <a:pt x="7252" y="5882"/>
                  </a:lnTo>
                  <a:lnTo>
                    <a:pt x="7508" y="5851"/>
                  </a:lnTo>
                  <a:lnTo>
                    <a:pt x="7766" y="5833"/>
                  </a:lnTo>
                  <a:lnTo>
                    <a:pt x="8025" y="5827"/>
                  </a:lnTo>
                  <a:lnTo>
                    <a:pt x="8283" y="5833"/>
                  </a:lnTo>
                  <a:lnTo>
                    <a:pt x="8541" y="5851"/>
                  </a:lnTo>
                  <a:lnTo>
                    <a:pt x="8797" y="5882"/>
                  </a:lnTo>
                  <a:lnTo>
                    <a:pt x="9053" y="5925"/>
                  </a:lnTo>
                  <a:lnTo>
                    <a:pt x="9306" y="5981"/>
                  </a:lnTo>
                  <a:lnTo>
                    <a:pt x="9557" y="6048"/>
                  </a:lnTo>
                  <a:lnTo>
                    <a:pt x="9806" y="6127"/>
                  </a:lnTo>
                  <a:lnTo>
                    <a:pt x="10050" y="6219"/>
                  </a:lnTo>
                  <a:lnTo>
                    <a:pt x="10291" y="6324"/>
                  </a:lnTo>
                  <a:lnTo>
                    <a:pt x="10528" y="6440"/>
                  </a:lnTo>
                  <a:lnTo>
                    <a:pt x="10760" y="6570"/>
                  </a:lnTo>
                  <a:lnTo>
                    <a:pt x="10985" y="6710"/>
                  </a:lnTo>
                  <a:lnTo>
                    <a:pt x="11206" y="6864"/>
                  </a:lnTo>
                  <a:lnTo>
                    <a:pt x="11421" y="7029"/>
                  </a:lnTo>
                  <a:lnTo>
                    <a:pt x="11627" y="7208"/>
                  </a:lnTo>
                  <a:lnTo>
                    <a:pt x="11828" y="7398"/>
                  </a:lnTo>
                  <a:lnTo>
                    <a:pt x="11853" y="7424"/>
                  </a:lnTo>
                  <a:lnTo>
                    <a:pt x="11878" y="7449"/>
                  </a:lnTo>
                  <a:lnTo>
                    <a:pt x="11903" y="7475"/>
                  </a:lnTo>
                  <a:lnTo>
                    <a:pt x="11928" y="7501"/>
                  </a:lnTo>
                  <a:close/>
                </a:path>
              </a:pathLst>
            </a:custGeom>
            <a:grpFill/>
            <a:ln w="9525">
              <a:noFill/>
              <a:round/>
              <a:headEnd/>
              <a:tailEnd/>
            </a:ln>
          </p:spPr>
          <p:txBody>
            <a:bodyPr/>
            <a:lstStyle/>
            <a:p>
              <a:pPr algn="ctr" eaLnBrk="1" fontAlgn="auto" hangingPunct="1">
                <a:spcBef>
                  <a:spcPts val="0"/>
                </a:spcBef>
                <a:spcAft>
                  <a:spcPts val="0"/>
                </a:spcAft>
                <a:defRPr/>
              </a:pPr>
              <a:endParaRPr lang="zh-CN" altLang="en-US" sz="1200" ker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126" name="Freeform 159"/>
          <p:cNvSpPr/>
          <p:nvPr/>
        </p:nvSpPr>
        <p:spPr bwMode="gray">
          <a:xfrm flipH="1">
            <a:off x="982325" y="1574127"/>
            <a:ext cx="1240474" cy="648430"/>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tIns="108000" rtlCol="0" anchor="ctr">
            <a:noAutofit/>
          </a:bodyPr>
          <a:lstStyle>
            <a:defPPr>
              <a:defRPr lang="en-US"/>
            </a:defPPr>
            <a:lvl1pPr marL="0" algn="l" defTabSz="914478" rtl="0" eaLnBrk="1" latinLnBrk="0" hangingPunct="1">
              <a:defRPr sz="1800" kern="1200">
                <a:solidFill>
                  <a:schemeClr val="lt1"/>
                </a:solidFill>
                <a:latin typeface="+mn-lt"/>
                <a:ea typeface="+mn-ea"/>
                <a:cs typeface="+mn-cs"/>
              </a:defRPr>
            </a:lvl1pPr>
            <a:lvl2pPr marL="457240" algn="l" defTabSz="914478" rtl="0" eaLnBrk="1" latinLnBrk="0" hangingPunct="1">
              <a:defRPr sz="1800" kern="1200">
                <a:solidFill>
                  <a:schemeClr val="lt1"/>
                </a:solidFill>
                <a:latin typeface="+mn-lt"/>
                <a:ea typeface="+mn-ea"/>
                <a:cs typeface="+mn-cs"/>
              </a:defRPr>
            </a:lvl2pPr>
            <a:lvl3pPr marL="914478" algn="l" defTabSz="914478" rtl="0" eaLnBrk="1" latinLnBrk="0" hangingPunct="1">
              <a:defRPr sz="1800" kern="1200">
                <a:solidFill>
                  <a:schemeClr val="lt1"/>
                </a:solidFill>
                <a:latin typeface="+mn-lt"/>
                <a:ea typeface="+mn-ea"/>
                <a:cs typeface="+mn-cs"/>
              </a:defRPr>
            </a:lvl3pPr>
            <a:lvl4pPr marL="1371718" algn="l" defTabSz="914478" rtl="0" eaLnBrk="1" latinLnBrk="0" hangingPunct="1">
              <a:defRPr sz="1800" kern="1200">
                <a:solidFill>
                  <a:schemeClr val="lt1"/>
                </a:solidFill>
                <a:latin typeface="+mn-lt"/>
                <a:ea typeface="+mn-ea"/>
                <a:cs typeface="+mn-cs"/>
              </a:defRPr>
            </a:lvl4pPr>
            <a:lvl5pPr marL="1828957" algn="l" defTabSz="914478" rtl="0" eaLnBrk="1" latinLnBrk="0" hangingPunct="1">
              <a:defRPr sz="1800" kern="1200">
                <a:solidFill>
                  <a:schemeClr val="lt1"/>
                </a:solidFill>
                <a:latin typeface="+mn-lt"/>
                <a:ea typeface="+mn-ea"/>
                <a:cs typeface="+mn-cs"/>
              </a:defRPr>
            </a:lvl5pPr>
            <a:lvl6pPr marL="2286196" algn="l" defTabSz="914478" rtl="0" eaLnBrk="1" latinLnBrk="0" hangingPunct="1">
              <a:defRPr sz="1800" kern="1200">
                <a:solidFill>
                  <a:schemeClr val="lt1"/>
                </a:solidFill>
                <a:latin typeface="+mn-lt"/>
                <a:ea typeface="+mn-ea"/>
                <a:cs typeface="+mn-cs"/>
              </a:defRPr>
            </a:lvl6pPr>
            <a:lvl7pPr marL="2743435" algn="l" defTabSz="914478" rtl="0" eaLnBrk="1" latinLnBrk="0" hangingPunct="1">
              <a:defRPr sz="1800" kern="1200">
                <a:solidFill>
                  <a:schemeClr val="lt1"/>
                </a:solidFill>
                <a:latin typeface="+mn-lt"/>
                <a:ea typeface="+mn-ea"/>
                <a:cs typeface="+mn-cs"/>
              </a:defRPr>
            </a:lvl7pPr>
            <a:lvl8pPr marL="3200675" algn="l" defTabSz="914478" rtl="0" eaLnBrk="1" latinLnBrk="0" hangingPunct="1">
              <a:defRPr sz="1800" kern="1200">
                <a:solidFill>
                  <a:schemeClr val="lt1"/>
                </a:solidFill>
                <a:latin typeface="+mn-lt"/>
                <a:ea typeface="+mn-ea"/>
                <a:cs typeface="+mn-cs"/>
              </a:defRPr>
            </a:lvl8pPr>
            <a:lvl9pPr marL="3657913" algn="l" defTabSz="914478" rtl="0" eaLnBrk="1" latinLnBrk="0" hangingPunct="1">
              <a:defRPr sz="1800" kern="1200">
                <a:solidFill>
                  <a:schemeClr val="lt1"/>
                </a:solidFill>
                <a:latin typeface="+mn-lt"/>
                <a:ea typeface="+mn-ea"/>
                <a:cs typeface="+mn-cs"/>
              </a:defRPr>
            </a:lvl9pPr>
          </a:lstStyle>
          <a:p>
            <a:pPr algn="ctr"/>
            <a:r>
              <a:rPr lang="zh-CN" altLang="en-US" sz="1400" smtClean="0">
                <a:solidFill>
                  <a:schemeClr val="bg1">
                    <a:lumMod val="50000"/>
                  </a:schemeClr>
                </a:solidFill>
              </a:rPr>
              <a:t>外部网络</a:t>
            </a:r>
            <a:endParaRPr lang="en-US" sz="1400">
              <a:solidFill>
                <a:schemeClr val="bg1">
                  <a:lumMod val="50000"/>
                </a:schemeClr>
              </a:solidFill>
            </a:endParaRPr>
          </a:p>
        </p:txBody>
      </p:sp>
      <p:sp>
        <p:nvSpPr>
          <p:cNvPr id="127" name="Freeform 159"/>
          <p:cNvSpPr/>
          <p:nvPr/>
        </p:nvSpPr>
        <p:spPr bwMode="gray">
          <a:xfrm flipH="1">
            <a:off x="3108443" y="1574127"/>
            <a:ext cx="1240474" cy="648430"/>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tIns="108000" rtlCol="0" anchor="ctr">
            <a:noAutofit/>
          </a:bodyPr>
          <a:lstStyle/>
          <a:p>
            <a:pPr algn="ctr"/>
            <a:r>
              <a:rPr lang="zh-CN" altLang="en-US" sz="1400">
                <a:solidFill>
                  <a:schemeClr val="bg1">
                    <a:lumMod val="50000"/>
                  </a:schemeClr>
                </a:solidFill>
              </a:rPr>
              <a:t>网络服务</a:t>
            </a:r>
            <a:endParaRPr lang="en-US" altLang="zh-CN" sz="1400">
              <a:solidFill>
                <a:schemeClr val="bg1">
                  <a:lumMod val="50000"/>
                </a:schemeClr>
              </a:solidFill>
            </a:endParaRPr>
          </a:p>
          <a:p>
            <a:pPr algn="ctr"/>
            <a:r>
              <a:rPr lang="zh-CN" altLang="en-US" sz="1400">
                <a:solidFill>
                  <a:schemeClr val="bg1">
                    <a:lumMod val="50000"/>
                  </a:schemeClr>
                </a:solidFill>
              </a:rPr>
              <a:t>资源</a:t>
            </a:r>
            <a:endParaRPr lang="en-US" sz="1400">
              <a:solidFill>
                <a:schemeClr val="bg1">
                  <a:lumMod val="50000"/>
                </a:schemeClr>
              </a:solidFill>
            </a:endParaRPr>
          </a:p>
        </p:txBody>
      </p:sp>
      <p:cxnSp>
        <p:nvCxnSpPr>
          <p:cNvPr id="128" name="直接连接符 127"/>
          <p:cNvCxnSpPr/>
          <p:nvPr/>
        </p:nvCxnSpPr>
        <p:spPr bwMode="gray">
          <a:xfrm>
            <a:off x="1985121" y="2269827"/>
            <a:ext cx="495259" cy="621078"/>
          </a:xfrm>
          <a:prstGeom prst="line">
            <a:avLst/>
          </a:prstGeom>
          <a:ln>
            <a:solidFill>
              <a:schemeClr val="bg1">
                <a:lumMod val="6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29" name="直接连接符 128"/>
          <p:cNvCxnSpPr/>
          <p:nvPr/>
        </p:nvCxnSpPr>
        <p:spPr bwMode="gray">
          <a:xfrm flipH="1">
            <a:off x="2952717" y="2279440"/>
            <a:ext cx="464971" cy="611465"/>
          </a:xfrm>
          <a:prstGeom prst="line">
            <a:avLst/>
          </a:prstGeom>
          <a:ln>
            <a:solidFill>
              <a:schemeClr val="bg1">
                <a:lumMod val="6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pic>
        <p:nvPicPr>
          <p:cNvPr id="130" name="图片 129"/>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bwMode="gray">
          <a:xfrm>
            <a:off x="3944130" y="2611059"/>
            <a:ext cx="865097" cy="491769"/>
          </a:xfrm>
          <a:prstGeom prst="rect">
            <a:avLst/>
          </a:prstGeom>
        </p:spPr>
      </p:pic>
      <p:sp>
        <p:nvSpPr>
          <p:cNvPr id="51" name="五边形 50"/>
          <p:cNvSpPr/>
          <p:nvPr/>
        </p:nvSpPr>
        <p:spPr bwMode="gray">
          <a:xfrm>
            <a:off x="5773628" y="98481"/>
            <a:ext cx="9000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smtClean="0">
                <a:latin typeface="Huawei Sans" panose="020C0503030203020204" pitchFamily="34" charset="0"/>
                <a:ea typeface="方正兰亭黑简体" panose="02000000000000000000" pitchFamily="2" charset="-122"/>
                <a:sym typeface="Huawei Sans" panose="020C0503030203020204" pitchFamily="34" charset="0"/>
              </a:rPr>
              <a:t>站点管理</a:t>
            </a:r>
            <a:endPar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2" name="燕尾形 51"/>
          <p:cNvSpPr/>
          <p:nvPr/>
        </p:nvSpPr>
        <p:spPr bwMode="gray">
          <a:xfrm>
            <a:off x="9109268" y="98481"/>
            <a:ext cx="9000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smtClean="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逻辑网络</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3" name="燕尾形 52"/>
          <p:cNvSpPr/>
          <p:nvPr/>
        </p:nvSpPr>
        <p:spPr bwMode="gray">
          <a:xfrm>
            <a:off x="9925178" y="9848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业务部署</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4" name="燕尾形 53"/>
          <p:cNvSpPr/>
          <p:nvPr/>
        </p:nvSpPr>
        <p:spPr bwMode="gray">
          <a:xfrm>
            <a:off x="8221358" y="98481"/>
            <a:ext cx="972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smtClean="0">
                <a:latin typeface="Huawei Sans" panose="020C0503030203020204" pitchFamily="34" charset="0"/>
                <a:ea typeface="方正兰亭黑简体" panose="02000000000000000000" pitchFamily="2" charset="-122"/>
                <a:sym typeface="Huawei Sans" panose="020C0503030203020204" pitchFamily="34" charset="0"/>
              </a:rPr>
              <a:t>Fabric</a:t>
            </a:r>
            <a:r>
              <a:rPr lang="zh-CN" altLang="en-US" sz="1200" kern="0" dirty="0" smtClean="0">
                <a:latin typeface="Huawei Sans" panose="020C0503030203020204" pitchFamily="34" charset="0"/>
                <a:ea typeface="方正兰亭黑简体" panose="02000000000000000000" pitchFamily="2" charset="-122"/>
                <a:sym typeface="Huawei Sans" panose="020C0503030203020204" pitchFamily="34" charset="0"/>
              </a:rPr>
              <a:t>网络</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5" name="燕尾形 54"/>
          <p:cNvSpPr/>
          <p:nvPr/>
        </p:nvSpPr>
        <p:spPr bwMode="gray">
          <a:xfrm>
            <a:off x="7405448" y="9848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网络规划</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6" name="燕尾形 55"/>
          <p:cNvSpPr/>
          <p:nvPr/>
        </p:nvSpPr>
        <p:spPr bwMode="gray">
          <a:xfrm>
            <a:off x="6589538" y="9848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设备管理</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0" name="燕尾形 59"/>
          <p:cNvSpPr/>
          <p:nvPr/>
        </p:nvSpPr>
        <p:spPr bwMode="gray">
          <a:xfrm>
            <a:off x="10741088" y="98481"/>
            <a:ext cx="1008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WLAN</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业务</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2193078483"/>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bwMode="gray"/>
        <p:txBody>
          <a:bodyPr>
            <a:normAutofit/>
          </a:bodyPr>
          <a:lstStyle/>
          <a:p>
            <a:r>
              <a:rPr lang="zh-CN" altLang="en-US" dirty="0"/>
              <a:t>实验</a:t>
            </a:r>
            <a:r>
              <a:rPr lang="zh-CN" altLang="en-US" dirty="0" smtClean="0"/>
              <a:t>：创建</a:t>
            </a:r>
            <a:r>
              <a:rPr lang="en-US" altLang="zh-CN" dirty="0" smtClean="0"/>
              <a:t>VN</a:t>
            </a:r>
            <a:r>
              <a:rPr lang="zh-CN" altLang="en-US" dirty="0"/>
              <a:t> </a:t>
            </a:r>
            <a:r>
              <a:rPr lang="en-US" altLang="zh-CN" dirty="0" smtClean="0"/>
              <a:t>(2)</a:t>
            </a:r>
            <a:endParaRPr lang="zh-CN" altLang="en-US" dirty="0"/>
          </a:p>
        </p:txBody>
      </p:sp>
      <p:sp>
        <p:nvSpPr>
          <p:cNvPr id="86" name="矩形 85"/>
          <p:cNvSpPr/>
          <p:nvPr/>
        </p:nvSpPr>
        <p:spPr bwMode="gray">
          <a:xfrm>
            <a:off x="5112327" y="1290142"/>
            <a:ext cx="6267793" cy="707886"/>
          </a:xfrm>
          <a:prstGeom prst="rect">
            <a:avLst/>
          </a:prstGeom>
        </p:spPr>
        <p:txBody>
          <a:bodyPr wrap="square">
            <a:spAutoFit/>
          </a:bodyPr>
          <a:lstStyle/>
          <a:p>
            <a:pPr algn="just">
              <a:lnSpc>
                <a:spcPts val="2400"/>
              </a:lnSpc>
              <a:spcAft>
                <a:spcPts val="600"/>
              </a:spcAft>
            </a:pPr>
            <a:r>
              <a:rPr lang="zh-CN" altLang="en-US" sz="1600" dirty="0"/>
              <a:t>定义</a:t>
            </a:r>
            <a:r>
              <a:rPr lang="en-US" altLang="zh-CN" sz="1600" dirty="0"/>
              <a:t>VN</a:t>
            </a:r>
            <a:r>
              <a:rPr lang="zh-CN" altLang="en-US" sz="1600" dirty="0"/>
              <a:t>的用户</a:t>
            </a:r>
            <a:r>
              <a:rPr lang="zh-CN" altLang="en-US" sz="1600" dirty="0" smtClean="0"/>
              <a:t>网</a:t>
            </a:r>
            <a:r>
              <a:rPr lang="zh-CN" altLang="en-US" sz="1600" dirty="0"/>
              <a:t>关</a:t>
            </a:r>
            <a:r>
              <a:rPr lang="zh-CN" altLang="en-US" sz="1600" dirty="0" smtClean="0"/>
              <a:t>，</a:t>
            </a:r>
            <a:r>
              <a:rPr lang="zh-CN" altLang="en-US" sz="1600" dirty="0"/>
              <a:t>网络管理员可以通过手动指定的方式逐个</a:t>
            </a:r>
            <a:r>
              <a:rPr lang="zh-CN" altLang="en-US" sz="1600" dirty="0" smtClean="0"/>
              <a:t>创建用户网关，</a:t>
            </a:r>
            <a:r>
              <a:rPr lang="zh-CN" altLang="en-US" sz="1600" dirty="0"/>
              <a:t>也可以通过自动</a:t>
            </a:r>
            <a:r>
              <a:rPr lang="zh-CN" altLang="en-US" sz="1600" dirty="0" smtClean="0"/>
              <a:t>分配的方式</a:t>
            </a:r>
            <a:r>
              <a:rPr lang="zh-CN" altLang="en-US" sz="1600" dirty="0"/>
              <a:t>批量</a:t>
            </a:r>
            <a:r>
              <a:rPr lang="zh-CN" altLang="en-US" sz="1600" dirty="0" smtClean="0"/>
              <a:t>创建用户网关。</a:t>
            </a:r>
            <a:endParaRPr lang="zh-CN" altLang="en-US" sz="1600" dirty="0"/>
          </a:p>
        </p:txBody>
      </p:sp>
      <p:graphicFrame>
        <p:nvGraphicFramePr>
          <p:cNvPr id="51" name="表格 50"/>
          <p:cNvGraphicFramePr>
            <a:graphicFrameLocks noGrp="1"/>
          </p:cNvGraphicFramePr>
          <p:nvPr>
            <p:extLst>
              <p:ext uri="{D42A27DB-BD31-4B8C-83A1-F6EECF244321}">
                <p14:modId xmlns:p14="http://schemas.microsoft.com/office/powerpoint/2010/main" val="981641863"/>
              </p:ext>
            </p:extLst>
          </p:nvPr>
        </p:nvGraphicFramePr>
        <p:xfrm>
          <a:off x="5187565" y="4643378"/>
          <a:ext cx="5717008" cy="1371600"/>
        </p:xfrm>
        <a:graphic>
          <a:graphicData uri="http://schemas.openxmlformats.org/drawingml/2006/table">
            <a:tbl>
              <a:tblPr/>
              <a:tblGrid>
                <a:gridCol w="1361531"/>
                <a:gridCol w="4355477"/>
              </a:tblGrid>
              <a:tr h="189396">
                <a:tc>
                  <a:txBody>
                    <a:bodyPr/>
                    <a:lstStyle/>
                    <a:p>
                      <a:pPr algn="ctr"/>
                      <a:r>
                        <a:rPr lang="en-US" altLang="zh-CN" sz="1200" b="1" dirty="0" smtClean="0">
                          <a:effectLst/>
                        </a:rPr>
                        <a:t>VN</a:t>
                      </a:r>
                      <a:endParaRPr lang="zh-CN" altLang="en-US" sz="1200" b="1" dirty="0">
                        <a:effectLst/>
                      </a:endParaRPr>
                    </a:p>
                  </a:txBody>
                  <a:tcPr anchor="ctr">
                    <a:lnL w="28575" cap="flat" cmpd="sng" algn="ctr">
                      <a:solidFill>
                        <a:schemeClr val="tx1"/>
                      </a:solidFill>
                      <a:prstDash val="solid"/>
                      <a:round/>
                      <a:headEnd type="none" w="med" len="med"/>
                      <a:tailEnd type="none" w="med" len="med"/>
                    </a:lnL>
                    <a:lnT w="28575" cap="flat" cmpd="sng" algn="ctr">
                      <a:solidFill>
                        <a:schemeClr val="tx1"/>
                      </a:solidFill>
                      <a:prstDash val="solid"/>
                      <a:round/>
                      <a:headEnd type="none" w="med" len="med"/>
                      <a:tailEnd type="none" w="med" len="med"/>
                    </a:lnT>
                    <a:solidFill>
                      <a:schemeClr val="bg1">
                        <a:lumMod val="85000"/>
                      </a:schemeClr>
                    </a:solidFill>
                  </a:tcPr>
                </a:tc>
                <a:tc>
                  <a:txBody>
                    <a:bodyPr/>
                    <a:lstStyle/>
                    <a:p>
                      <a:pPr algn="ctr"/>
                      <a:r>
                        <a:rPr lang="zh-CN" altLang="en-US" sz="1200" b="1" dirty="0" smtClean="0">
                          <a:effectLst/>
                        </a:rPr>
                        <a:t>接入用户</a:t>
                      </a:r>
                      <a:endParaRPr lang="zh-CN" altLang="en-US" sz="1200" b="1" dirty="0">
                        <a:effectLst/>
                      </a:endParaRPr>
                    </a:p>
                  </a:txBody>
                  <a:tcPr anchor="ctr">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solidFill>
                      <a:schemeClr val="bg1">
                        <a:lumMod val="85000"/>
                      </a:schemeClr>
                    </a:solidFill>
                  </a:tcPr>
                </a:tc>
              </a:tr>
              <a:tr h="568189">
                <a:tc>
                  <a:txBody>
                    <a:bodyPr/>
                    <a:lstStyle/>
                    <a:p>
                      <a:pPr marL="0" indent="0" algn="ctr" defTabSz="914034" rtl="0" eaLnBrk="1" latinLnBrk="0" hangingPunct="1">
                        <a:lnSpc>
                          <a:spcPct val="100000"/>
                        </a:lnSpc>
                        <a:spcAft>
                          <a:spcPts val="0"/>
                        </a:spcAft>
                        <a:buFont typeface="+mj-lt"/>
                        <a:buNone/>
                      </a:pPr>
                      <a:r>
                        <a:rPr lang="en-US" altLang="zh-CN" sz="1200" kern="1200" dirty="0" smtClean="0">
                          <a:solidFill>
                            <a:schemeClr val="tx1"/>
                          </a:solidFill>
                          <a:effectLst/>
                          <a:latin typeface="+mn-lt"/>
                          <a:ea typeface="+mn-ea"/>
                          <a:cs typeface="+mn-cs"/>
                        </a:rPr>
                        <a:t>OA</a:t>
                      </a:r>
                      <a:endParaRPr lang="zh-CN" altLang="en-US" sz="1200" kern="1200" dirty="0">
                        <a:solidFill>
                          <a:schemeClr val="tx1"/>
                        </a:solidFill>
                        <a:effectLst/>
                        <a:latin typeface="+mn-lt"/>
                        <a:ea typeface="+mn-ea"/>
                        <a:cs typeface="+mn-cs"/>
                      </a:endParaRPr>
                    </a:p>
                  </a:txBody>
                  <a:tcPr anchor="ctr">
                    <a:lnL w="28575" cap="flat" cmpd="sng" algn="ctr">
                      <a:solidFill>
                        <a:schemeClr val="tx1"/>
                      </a:solidFill>
                      <a:prstDash val="solid"/>
                      <a:round/>
                      <a:headEnd type="none" w="med" len="med"/>
                      <a:tailEnd type="none" w="med" len="med"/>
                    </a:lnL>
                  </a:tcPr>
                </a:tc>
                <a:tc>
                  <a:txBody>
                    <a:bodyPr/>
                    <a:lstStyle/>
                    <a:p>
                      <a:pPr marL="0" indent="0" algn="just" defTabSz="914034" rtl="0" eaLnBrk="1" latinLnBrk="0" hangingPunct="1">
                        <a:lnSpc>
                          <a:spcPct val="100000"/>
                        </a:lnSpc>
                        <a:spcAft>
                          <a:spcPts val="0"/>
                        </a:spcAft>
                        <a:buFont typeface="+mj-lt"/>
                        <a:buNone/>
                      </a:pPr>
                      <a:r>
                        <a:rPr lang="en-US" altLang="zh-CN" sz="1200" kern="1200" dirty="0" smtClean="0">
                          <a:solidFill>
                            <a:schemeClr val="tx1"/>
                          </a:solidFill>
                          <a:effectLst/>
                          <a:latin typeface="+mn-lt"/>
                          <a:ea typeface="+mn-ea"/>
                          <a:cs typeface="+mn-cs"/>
                        </a:rPr>
                        <a:t>Sales_Wired</a:t>
                      </a:r>
                      <a:r>
                        <a:rPr lang="zh-CN" altLang="en-US" sz="1200" kern="1200" dirty="0" smtClean="0">
                          <a:solidFill>
                            <a:schemeClr val="tx1"/>
                          </a:solidFill>
                          <a:effectLst/>
                          <a:latin typeface="+mn-lt"/>
                          <a:ea typeface="+mn-ea"/>
                          <a:cs typeface="+mn-cs"/>
                        </a:rPr>
                        <a:t>：</a:t>
                      </a:r>
                      <a:r>
                        <a:rPr lang="en-US" altLang="zh-CN" sz="1200" kern="1200" dirty="0" smtClean="0">
                          <a:solidFill>
                            <a:schemeClr val="tx1"/>
                          </a:solidFill>
                          <a:effectLst/>
                          <a:latin typeface="+mn-lt"/>
                          <a:ea typeface="+mn-ea"/>
                          <a:cs typeface="+mn-cs"/>
                        </a:rPr>
                        <a:t>172.17.10.0/24</a:t>
                      </a:r>
                    </a:p>
                    <a:p>
                      <a:pPr marL="0" marR="0" lvl="0" indent="0" algn="just" defTabSz="914034" rtl="0" eaLnBrk="1" fontAlgn="auto" latinLnBrk="0" hangingPunct="1">
                        <a:lnSpc>
                          <a:spcPct val="100000"/>
                        </a:lnSpc>
                        <a:spcBef>
                          <a:spcPts val="0"/>
                        </a:spcBef>
                        <a:spcAft>
                          <a:spcPts val="0"/>
                        </a:spcAft>
                        <a:buClrTx/>
                        <a:buSzTx/>
                        <a:buFont typeface="+mj-lt"/>
                        <a:buNone/>
                        <a:tabLst/>
                        <a:defRPr/>
                      </a:pPr>
                      <a:r>
                        <a:rPr lang="en-US" altLang="zh-CN" sz="1200" kern="1200" dirty="0" err="1" smtClean="0">
                          <a:solidFill>
                            <a:schemeClr val="tx1"/>
                          </a:solidFill>
                          <a:effectLst/>
                          <a:latin typeface="+mn-lt"/>
                          <a:ea typeface="+mn-ea"/>
                          <a:cs typeface="+mn-cs"/>
                        </a:rPr>
                        <a:t>Sales_Wireless</a:t>
                      </a:r>
                      <a:r>
                        <a:rPr lang="zh-CN" altLang="en-US" sz="1200" kern="1200" dirty="0" smtClean="0">
                          <a:solidFill>
                            <a:schemeClr val="tx1"/>
                          </a:solidFill>
                          <a:effectLst/>
                          <a:latin typeface="+mn-lt"/>
                          <a:ea typeface="+mn-ea"/>
                          <a:cs typeface="+mn-cs"/>
                        </a:rPr>
                        <a:t>：</a:t>
                      </a:r>
                      <a:r>
                        <a:rPr lang="en-US" altLang="zh-CN" sz="1200" kern="1200" dirty="0" smtClean="0">
                          <a:solidFill>
                            <a:schemeClr val="tx1"/>
                          </a:solidFill>
                          <a:effectLst/>
                          <a:latin typeface="+mn-lt"/>
                          <a:ea typeface="+mn-ea"/>
                          <a:cs typeface="+mn-cs"/>
                        </a:rPr>
                        <a:t>172.17.11.0/24</a:t>
                      </a:r>
                    </a:p>
                    <a:p>
                      <a:pPr marL="0" marR="0" lvl="0" indent="0" algn="just" defTabSz="914034" rtl="0" eaLnBrk="1" fontAlgn="auto" latinLnBrk="0" hangingPunct="1">
                        <a:lnSpc>
                          <a:spcPct val="100000"/>
                        </a:lnSpc>
                        <a:spcBef>
                          <a:spcPts val="0"/>
                        </a:spcBef>
                        <a:spcAft>
                          <a:spcPts val="0"/>
                        </a:spcAft>
                        <a:buClrTx/>
                        <a:buSzTx/>
                        <a:buFont typeface="+mj-lt"/>
                        <a:buNone/>
                        <a:tabLst/>
                        <a:defRPr/>
                      </a:pPr>
                      <a:r>
                        <a:rPr lang="en-US" altLang="zh-CN" sz="1200" kern="1200" dirty="0" err="1" smtClean="0">
                          <a:solidFill>
                            <a:schemeClr val="tx1"/>
                          </a:solidFill>
                          <a:effectLst/>
                          <a:latin typeface="+mn-lt"/>
                          <a:ea typeface="+mn-ea"/>
                          <a:cs typeface="+mn-cs"/>
                        </a:rPr>
                        <a:t>Market_Wired</a:t>
                      </a:r>
                      <a:r>
                        <a:rPr lang="zh-CN" altLang="en-US" sz="1200" kern="1200" dirty="0" smtClean="0">
                          <a:solidFill>
                            <a:schemeClr val="tx1"/>
                          </a:solidFill>
                          <a:effectLst/>
                          <a:latin typeface="+mn-lt"/>
                          <a:ea typeface="+mn-ea"/>
                          <a:cs typeface="+mn-cs"/>
                        </a:rPr>
                        <a:t>：</a:t>
                      </a:r>
                      <a:r>
                        <a:rPr lang="en-US" altLang="zh-CN" sz="1200" kern="1200" dirty="0" smtClean="0">
                          <a:solidFill>
                            <a:schemeClr val="tx1"/>
                          </a:solidFill>
                          <a:effectLst/>
                          <a:latin typeface="+mn-lt"/>
                          <a:ea typeface="+mn-ea"/>
                          <a:cs typeface="+mn-cs"/>
                        </a:rPr>
                        <a:t>172.17.20.0/24</a:t>
                      </a:r>
                    </a:p>
                    <a:p>
                      <a:pPr marL="0" marR="0" lvl="0" indent="0" algn="just" defTabSz="914034" rtl="0" eaLnBrk="1" fontAlgn="auto" latinLnBrk="0" hangingPunct="1">
                        <a:lnSpc>
                          <a:spcPct val="100000"/>
                        </a:lnSpc>
                        <a:spcBef>
                          <a:spcPts val="0"/>
                        </a:spcBef>
                        <a:spcAft>
                          <a:spcPts val="0"/>
                        </a:spcAft>
                        <a:buClrTx/>
                        <a:buSzTx/>
                        <a:buFont typeface="+mj-lt"/>
                        <a:buNone/>
                        <a:tabLst/>
                        <a:defRPr/>
                      </a:pPr>
                      <a:r>
                        <a:rPr lang="en-US" altLang="zh-CN" sz="1200" kern="1200" dirty="0" err="1" smtClean="0">
                          <a:solidFill>
                            <a:schemeClr val="tx1"/>
                          </a:solidFill>
                          <a:effectLst/>
                          <a:latin typeface="+mn-lt"/>
                          <a:ea typeface="+mn-ea"/>
                          <a:cs typeface="+mn-cs"/>
                        </a:rPr>
                        <a:t>Market_Wireless</a:t>
                      </a:r>
                      <a:r>
                        <a:rPr lang="zh-CN" altLang="en-US" sz="1200" kern="1200" dirty="0" smtClean="0">
                          <a:solidFill>
                            <a:schemeClr val="tx1"/>
                          </a:solidFill>
                          <a:effectLst/>
                          <a:latin typeface="+mn-lt"/>
                          <a:ea typeface="+mn-ea"/>
                          <a:cs typeface="+mn-cs"/>
                        </a:rPr>
                        <a:t>：</a:t>
                      </a:r>
                      <a:r>
                        <a:rPr lang="en-US" altLang="zh-CN" sz="1200" kern="1200" dirty="0" smtClean="0">
                          <a:solidFill>
                            <a:schemeClr val="tx1"/>
                          </a:solidFill>
                          <a:effectLst/>
                          <a:latin typeface="+mn-lt"/>
                          <a:ea typeface="+mn-ea"/>
                          <a:cs typeface="+mn-cs"/>
                        </a:rPr>
                        <a:t>172.17.21.0/24</a:t>
                      </a:r>
                    </a:p>
                  </a:txBody>
                  <a:tcPr anchor="ctr">
                    <a:lnR w="28575" cap="flat" cmpd="sng" algn="ctr">
                      <a:solidFill>
                        <a:schemeClr val="tx1"/>
                      </a:solidFill>
                      <a:prstDash val="solid"/>
                      <a:round/>
                      <a:headEnd type="none" w="med" len="med"/>
                      <a:tailEnd type="none" w="med" len="med"/>
                    </a:lnR>
                  </a:tcPr>
                </a:tc>
              </a:tr>
              <a:tr h="189396">
                <a:tc>
                  <a:txBody>
                    <a:bodyPr/>
                    <a:lstStyle/>
                    <a:p>
                      <a:pPr marL="0" indent="0" algn="ctr" defTabSz="914034" rtl="0" eaLnBrk="1" latinLnBrk="0" hangingPunct="1">
                        <a:lnSpc>
                          <a:spcPct val="100000"/>
                        </a:lnSpc>
                        <a:spcAft>
                          <a:spcPts val="0"/>
                        </a:spcAft>
                        <a:buFont typeface="+mj-lt"/>
                        <a:buNone/>
                      </a:pPr>
                      <a:r>
                        <a:rPr lang="en-US" altLang="zh-CN" sz="1200" kern="1200" dirty="0" smtClean="0">
                          <a:solidFill>
                            <a:schemeClr val="tx1"/>
                          </a:solidFill>
                          <a:effectLst/>
                          <a:latin typeface="+mn-lt"/>
                          <a:ea typeface="+mn-ea"/>
                          <a:cs typeface="+mn-cs"/>
                        </a:rPr>
                        <a:t>RD</a:t>
                      </a:r>
                      <a:endParaRPr lang="zh-CN" altLang="en-US" sz="1200" kern="1200" dirty="0">
                        <a:solidFill>
                          <a:schemeClr val="tx1"/>
                        </a:solidFill>
                        <a:effectLst/>
                        <a:latin typeface="+mn-lt"/>
                        <a:ea typeface="+mn-ea"/>
                        <a:cs typeface="+mn-cs"/>
                      </a:endParaRPr>
                    </a:p>
                  </a:txBody>
                  <a:tcPr anchor="ctr">
                    <a:lnL w="28575" cap="flat" cmpd="sng" algn="ctr">
                      <a:solidFill>
                        <a:schemeClr val="tx1"/>
                      </a:solidFill>
                      <a:prstDash val="solid"/>
                      <a:round/>
                      <a:headEnd type="none" w="med" len="med"/>
                      <a:tailEnd type="none" w="med" len="med"/>
                    </a:lnL>
                    <a:lnB w="28575" cap="flat" cmpd="sng" algn="ctr">
                      <a:solidFill>
                        <a:schemeClr val="tx1"/>
                      </a:solidFill>
                      <a:prstDash val="solid"/>
                      <a:round/>
                      <a:headEnd type="none" w="med" len="med"/>
                      <a:tailEnd type="none" w="med" len="med"/>
                    </a:lnB>
                  </a:tcPr>
                </a:tc>
                <a:tc>
                  <a:txBody>
                    <a:bodyPr/>
                    <a:lstStyle/>
                    <a:p>
                      <a:pPr marL="0" marR="0" lvl="0" indent="0" algn="just" defTabSz="914034" rtl="0" eaLnBrk="1" fontAlgn="auto" latinLnBrk="0" hangingPunct="1">
                        <a:lnSpc>
                          <a:spcPct val="100000"/>
                        </a:lnSpc>
                        <a:spcBef>
                          <a:spcPts val="0"/>
                        </a:spcBef>
                        <a:spcAft>
                          <a:spcPts val="0"/>
                        </a:spcAft>
                        <a:buClrTx/>
                        <a:buSzTx/>
                        <a:buFont typeface="+mj-lt"/>
                        <a:buNone/>
                        <a:tabLst/>
                        <a:defRPr/>
                      </a:pPr>
                      <a:r>
                        <a:rPr lang="en-US" altLang="zh-CN" sz="1200" kern="1200" dirty="0" smtClean="0">
                          <a:solidFill>
                            <a:schemeClr val="tx1"/>
                          </a:solidFill>
                          <a:effectLst/>
                          <a:latin typeface="+mn-lt"/>
                          <a:ea typeface="+mn-ea"/>
                          <a:cs typeface="+mn-cs"/>
                        </a:rPr>
                        <a:t>RD</a:t>
                      </a:r>
                      <a:r>
                        <a:rPr lang="zh-CN" altLang="en-US" sz="1200" kern="1200" dirty="0" smtClean="0">
                          <a:solidFill>
                            <a:schemeClr val="tx1"/>
                          </a:solidFill>
                          <a:effectLst/>
                          <a:latin typeface="+mn-lt"/>
                          <a:ea typeface="+mn-ea"/>
                          <a:cs typeface="+mn-cs"/>
                        </a:rPr>
                        <a:t>：</a:t>
                      </a:r>
                      <a:r>
                        <a:rPr lang="en-US" altLang="zh-CN" sz="1200" kern="1200" dirty="0" smtClean="0">
                          <a:solidFill>
                            <a:schemeClr val="tx1"/>
                          </a:solidFill>
                          <a:effectLst/>
                          <a:latin typeface="+mn-lt"/>
                          <a:ea typeface="+mn-ea"/>
                          <a:cs typeface="+mn-cs"/>
                        </a:rPr>
                        <a:t>172.17.30.0/24</a:t>
                      </a:r>
                    </a:p>
                  </a:txBody>
                  <a:tcPr anchor="ctr">
                    <a:lnR w="28575" cap="flat" cmpd="sng" algn="ctr">
                      <a:solidFill>
                        <a:schemeClr val="tx1"/>
                      </a:solidFill>
                      <a:prstDash val="solid"/>
                      <a:round/>
                      <a:headEnd type="none" w="med" len="med"/>
                      <a:tailEnd type="none" w="med" len="med"/>
                    </a:lnR>
                    <a:lnB w="28575" cap="flat" cmpd="sng" algn="ctr">
                      <a:solidFill>
                        <a:schemeClr val="tx1"/>
                      </a:solidFill>
                      <a:prstDash val="solid"/>
                      <a:round/>
                      <a:headEnd type="none" w="med" len="med"/>
                      <a:tailEnd type="none" w="med" len="med"/>
                    </a:lnB>
                  </a:tcPr>
                </a:tc>
              </a:tr>
            </a:tbl>
          </a:graphicData>
        </a:graphic>
      </p:graphicFrame>
      <p:pic>
        <p:nvPicPr>
          <p:cNvPr id="2" name="图片 1"/>
          <p:cNvPicPr>
            <a:picLocks noChangeAspect="1"/>
          </p:cNvPicPr>
          <p:nvPr/>
        </p:nvPicPr>
        <p:blipFill>
          <a:blip r:embed="rId3"/>
          <a:stretch>
            <a:fillRect/>
          </a:stretch>
        </p:blipFill>
        <p:spPr bwMode="gray">
          <a:xfrm>
            <a:off x="5189838" y="1972732"/>
            <a:ext cx="6559250" cy="2532512"/>
          </a:xfrm>
          <a:prstGeom prst="rect">
            <a:avLst/>
          </a:prstGeom>
          <a:ln w="12700">
            <a:solidFill>
              <a:schemeClr val="bg1">
                <a:lumMod val="85000"/>
              </a:schemeClr>
            </a:solidFill>
          </a:ln>
        </p:spPr>
      </p:pic>
      <p:sp>
        <p:nvSpPr>
          <p:cNvPr id="53" name="圆角矩形 52"/>
          <p:cNvSpPr/>
          <p:nvPr/>
        </p:nvSpPr>
        <p:spPr bwMode="gray">
          <a:xfrm>
            <a:off x="878704" y="2548727"/>
            <a:ext cx="3990111" cy="3120679"/>
          </a:xfrm>
          <a:prstGeom prst="roundRect">
            <a:avLst>
              <a:gd name="adj" fmla="val 3166"/>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54" name="Freeform 159"/>
          <p:cNvSpPr/>
          <p:nvPr/>
        </p:nvSpPr>
        <p:spPr bwMode="gray">
          <a:xfrm flipH="1">
            <a:off x="1379861" y="2881293"/>
            <a:ext cx="2670047" cy="1528484"/>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rgbClr val="E3F6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Huawei Sans" panose="020C0503030203020204" pitchFamily="34" charset="0"/>
              <a:ea typeface="方正兰亭黑简体" panose="02000000000000000000" pitchFamily="2" charset="-122"/>
            </a:endParaRPr>
          </a:p>
        </p:txBody>
      </p:sp>
      <p:cxnSp>
        <p:nvCxnSpPr>
          <p:cNvPr id="57" name="Straight Connector 166"/>
          <p:cNvCxnSpPr>
            <a:stCxn id="90" idx="2"/>
            <a:endCxn id="59" idx="0"/>
          </p:cNvCxnSpPr>
          <p:nvPr/>
        </p:nvCxnSpPr>
        <p:spPr bwMode="gray">
          <a:xfrm>
            <a:off x="1731493" y="4166130"/>
            <a:ext cx="0" cy="40327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 name="Straight Connector 166"/>
          <p:cNvCxnSpPr>
            <a:stCxn id="91" idx="2"/>
            <a:endCxn id="73" idx="0"/>
          </p:cNvCxnSpPr>
          <p:nvPr/>
        </p:nvCxnSpPr>
        <p:spPr bwMode="gray">
          <a:xfrm>
            <a:off x="3662294" y="4166130"/>
            <a:ext cx="0" cy="40327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59" name="图片 76" descr="接入交换机.png"/>
          <p:cNvPicPr>
            <a:picLocks noChangeAspect="1"/>
          </p:cNvPicPr>
          <p:nvPr/>
        </p:nvPicPr>
        <p:blipFill>
          <a:blip r:embed="rId4" cstate="print"/>
          <a:stretch>
            <a:fillRect/>
          </a:stretch>
        </p:blipFill>
        <p:spPr bwMode="gray">
          <a:xfrm>
            <a:off x="1508352" y="4569407"/>
            <a:ext cx="446281" cy="365139"/>
          </a:xfrm>
          <a:prstGeom prst="rect">
            <a:avLst/>
          </a:prstGeom>
        </p:spPr>
      </p:pic>
      <p:pic>
        <p:nvPicPr>
          <p:cNvPr id="73" name="图片 72" descr="接入交换机.png"/>
          <p:cNvPicPr>
            <a:picLocks noChangeAspect="1"/>
          </p:cNvPicPr>
          <p:nvPr/>
        </p:nvPicPr>
        <p:blipFill>
          <a:blip r:embed="rId4" cstate="print"/>
          <a:stretch>
            <a:fillRect/>
          </a:stretch>
        </p:blipFill>
        <p:spPr bwMode="gray">
          <a:xfrm>
            <a:off x="3439153" y="4569407"/>
            <a:ext cx="446281" cy="365139"/>
          </a:xfrm>
          <a:prstGeom prst="rect">
            <a:avLst/>
          </a:prstGeom>
        </p:spPr>
      </p:pic>
      <p:sp>
        <p:nvSpPr>
          <p:cNvPr id="74" name="文本框 73"/>
          <p:cNvSpPr txBox="1"/>
          <p:nvPr/>
        </p:nvSpPr>
        <p:spPr bwMode="gray">
          <a:xfrm>
            <a:off x="893888" y="2723362"/>
            <a:ext cx="468398" cy="307777"/>
          </a:xfrm>
          <a:prstGeom prst="rect">
            <a:avLst/>
          </a:prstGeom>
          <a:noFill/>
        </p:spPr>
        <p:txBody>
          <a:bodyPr wrap="none" rtlCol="0">
            <a:spAutoFit/>
          </a:bodyPr>
          <a:lstStyle/>
          <a:p>
            <a:r>
              <a:rPr lang="en-US" altLang="zh-CN" sz="1400" b="1" dirty="0" smtClean="0">
                <a:latin typeface="Huawei Sans" panose="020C0503030203020204" pitchFamily="34" charset="0"/>
                <a:ea typeface="方正兰亭黑简体" panose="02000000000000000000" pitchFamily="2" charset="-122"/>
                <a:cs typeface="Huawei Sans" panose="020C0503030203020204" pitchFamily="34" charset="0"/>
              </a:rPr>
              <a:t>HQ</a:t>
            </a:r>
            <a:endParaRPr lang="zh-CN" altLang="en-US" sz="1400" b="1" dirty="0">
              <a:latin typeface="Huawei Sans" panose="020C0503030203020204" pitchFamily="34" charset="0"/>
              <a:ea typeface="方正兰亭黑简体" panose="02000000000000000000" pitchFamily="2" charset="-122"/>
              <a:cs typeface="Huawei Sans" panose="020C0503030203020204" pitchFamily="34" charset="0"/>
            </a:endParaRPr>
          </a:p>
        </p:txBody>
      </p:sp>
      <p:pic>
        <p:nvPicPr>
          <p:cNvPr id="75" name="图片 105" descr="AP.png"/>
          <p:cNvPicPr>
            <a:picLocks noChangeAspect="1"/>
          </p:cNvPicPr>
          <p:nvPr/>
        </p:nvPicPr>
        <p:blipFill>
          <a:blip r:embed="rId5" cstate="print"/>
          <a:stretch>
            <a:fillRect/>
          </a:stretch>
        </p:blipFill>
        <p:spPr bwMode="gray">
          <a:xfrm>
            <a:off x="4345712" y="4601092"/>
            <a:ext cx="368827" cy="301768"/>
          </a:xfrm>
          <a:prstGeom prst="rect">
            <a:avLst/>
          </a:prstGeom>
        </p:spPr>
      </p:pic>
      <p:cxnSp>
        <p:nvCxnSpPr>
          <p:cNvPr id="79" name="Straight Connector 166"/>
          <p:cNvCxnSpPr>
            <a:stCxn id="73" idx="3"/>
            <a:endCxn id="75" idx="1"/>
          </p:cNvCxnSpPr>
          <p:nvPr/>
        </p:nvCxnSpPr>
        <p:spPr bwMode="gray">
          <a:xfrm flipV="1">
            <a:off x="3885434" y="4751976"/>
            <a:ext cx="460278" cy="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80" name="图片 14" descr="日志告警服务器-蓝.png"/>
          <p:cNvPicPr>
            <a:picLocks noChangeAspect="1"/>
          </p:cNvPicPr>
          <p:nvPr/>
        </p:nvPicPr>
        <p:blipFill>
          <a:blip r:embed="rId6" cstate="print"/>
          <a:stretch>
            <a:fillRect/>
          </a:stretch>
        </p:blipFill>
        <p:spPr bwMode="gray">
          <a:xfrm>
            <a:off x="4300639" y="5112943"/>
            <a:ext cx="445956" cy="278465"/>
          </a:xfrm>
          <a:prstGeom prst="rect">
            <a:avLst/>
          </a:prstGeom>
        </p:spPr>
      </p:pic>
      <p:pic>
        <p:nvPicPr>
          <p:cNvPr id="81" name="图片 80" descr="PC.png">
            <a:extLst>
              <a:ext uri="{FF2B5EF4-FFF2-40B4-BE49-F238E27FC236}">
                <a16:creationId xmlns="" xmlns:a16="http://schemas.microsoft.com/office/drawing/2014/main" id="{4666702E-823D-4236-BF2F-880359158C83}"/>
              </a:ext>
            </a:extLst>
          </p:cNvPr>
          <p:cNvPicPr>
            <a:picLocks noChangeAspect="1"/>
          </p:cNvPicPr>
          <p:nvPr/>
        </p:nvPicPr>
        <p:blipFill>
          <a:blip r:embed="rId7" cstate="print"/>
          <a:stretch>
            <a:fillRect/>
          </a:stretch>
        </p:blipFill>
        <p:spPr bwMode="gray">
          <a:xfrm>
            <a:off x="1508739" y="5084666"/>
            <a:ext cx="445506" cy="342149"/>
          </a:xfrm>
          <a:prstGeom prst="rect">
            <a:avLst/>
          </a:prstGeom>
        </p:spPr>
      </p:pic>
      <p:pic>
        <p:nvPicPr>
          <p:cNvPr id="82" name="图片 81" descr="PC.png">
            <a:extLst>
              <a:ext uri="{FF2B5EF4-FFF2-40B4-BE49-F238E27FC236}">
                <a16:creationId xmlns="" xmlns:a16="http://schemas.microsoft.com/office/drawing/2014/main" id="{4666702E-823D-4236-BF2F-880359158C83}"/>
              </a:ext>
            </a:extLst>
          </p:cNvPr>
          <p:cNvPicPr>
            <a:picLocks noChangeAspect="1"/>
          </p:cNvPicPr>
          <p:nvPr/>
        </p:nvPicPr>
        <p:blipFill>
          <a:blip r:embed="rId7" cstate="print"/>
          <a:stretch>
            <a:fillRect/>
          </a:stretch>
        </p:blipFill>
        <p:spPr bwMode="gray">
          <a:xfrm>
            <a:off x="3439540" y="5084333"/>
            <a:ext cx="445506" cy="342149"/>
          </a:xfrm>
          <a:prstGeom prst="rect">
            <a:avLst/>
          </a:prstGeom>
        </p:spPr>
      </p:pic>
      <p:cxnSp>
        <p:nvCxnSpPr>
          <p:cNvPr id="83" name="Straight Connector 167"/>
          <p:cNvCxnSpPr/>
          <p:nvPr/>
        </p:nvCxnSpPr>
        <p:spPr bwMode="gray">
          <a:xfrm flipH="1">
            <a:off x="1732203" y="3106898"/>
            <a:ext cx="971589" cy="876201"/>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84" name="Straight Connector 167"/>
          <p:cNvCxnSpPr/>
          <p:nvPr/>
        </p:nvCxnSpPr>
        <p:spPr bwMode="gray">
          <a:xfrm flipH="1" flipV="1">
            <a:off x="2700413" y="3104421"/>
            <a:ext cx="975076" cy="883934"/>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pic>
        <p:nvPicPr>
          <p:cNvPr id="85" name="图片 86" descr="核心交换机.png"/>
          <p:cNvPicPr>
            <a:picLocks noChangeAspect="1"/>
          </p:cNvPicPr>
          <p:nvPr/>
        </p:nvPicPr>
        <p:blipFill>
          <a:blip r:embed="rId8" cstate="print"/>
          <a:stretch>
            <a:fillRect/>
          </a:stretch>
        </p:blipFill>
        <p:spPr bwMode="gray">
          <a:xfrm>
            <a:off x="2488045" y="2924329"/>
            <a:ext cx="446281" cy="365139"/>
          </a:xfrm>
          <a:prstGeom prst="rect">
            <a:avLst/>
          </a:prstGeom>
        </p:spPr>
      </p:pic>
      <p:sp>
        <p:nvSpPr>
          <p:cNvPr id="87" name="文本框 86"/>
          <p:cNvSpPr txBox="1"/>
          <p:nvPr/>
        </p:nvSpPr>
        <p:spPr bwMode="gray">
          <a:xfrm>
            <a:off x="1890738" y="2950284"/>
            <a:ext cx="651140" cy="276999"/>
          </a:xfrm>
          <a:prstGeom prst="rect">
            <a:avLst/>
          </a:prstGeom>
          <a:noFill/>
        </p:spPr>
        <p:txBody>
          <a:bodyPr wrap="none" rtlCol="0">
            <a:spAutoFit/>
          </a:bodyPr>
          <a:lstStyle/>
          <a:p>
            <a:pPr algn="ctr"/>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Border</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88" name="文本框 87"/>
          <p:cNvSpPr txBox="1"/>
          <p:nvPr/>
        </p:nvSpPr>
        <p:spPr bwMode="gray">
          <a:xfrm>
            <a:off x="895398" y="4015818"/>
            <a:ext cx="684803" cy="276999"/>
          </a:xfrm>
          <a:prstGeom prst="rect">
            <a:avLst/>
          </a:prstGeom>
          <a:noFill/>
        </p:spPr>
        <p:txBody>
          <a:bodyPr wrap="none" rtlCol="0">
            <a:spAutoFit/>
          </a:bodyPr>
          <a:lstStyle/>
          <a:p>
            <a:pPr algn="r"/>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Edge_1</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89" name="文本框 88"/>
          <p:cNvSpPr txBox="1"/>
          <p:nvPr/>
        </p:nvSpPr>
        <p:spPr bwMode="gray">
          <a:xfrm>
            <a:off x="948297" y="4605357"/>
            <a:ext cx="631904" cy="276999"/>
          </a:xfrm>
          <a:prstGeom prst="rect">
            <a:avLst/>
          </a:prstGeom>
          <a:noFill/>
        </p:spPr>
        <p:txBody>
          <a:bodyPr wrap="none" rtlCol="0">
            <a:spAutoFit/>
          </a:bodyPr>
          <a:lstStyle/>
          <a:p>
            <a:pPr algn="r"/>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ACC_1</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pic>
        <p:nvPicPr>
          <p:cNvPr id="90" name="图片 87" descr="汇聚交换机.png"/>
          <p:cNvPicPr>
            <a:picLocks noChangeAspect="1"/>
          </p:cNvPicPr>
          <p:nvPr/>
        </p:nvPicPr>
        <p:blipFill>
          <a:blip r:embed="rId9" cstate="print"/>
          <a:stretch>
            <a:fillRect/>
          </a:stretch>
        </p:blipFill>
        <p:spPr bwMode="gray">
          <a:xfrm>
            <a:off x="1508352" y="3800991"/>
            <a:ext cx="446281" cy="365139"/>
          </a:xfrm>
          <a:prstGeom prst="rect">
            <a:avLst/>
          </a:prstGeom>
        </p:spPr>
      </p:pic>
      <p:pic>
        <p:nvPicPr>
          <p:cNvPr id="91" name="图片 87" descr="汇聚交换机.png"/>
          <p:cNvPicPr>
            <a:picLocks noChangeAspect="1"/>
          </p:cNvPicPr>
          <p:nvPr/>
        </p:nvPicPr>
        <p:blipFill>
          <a:blip r:embed="rId9" cstate="print"/>
          <a:stretch>
            <a:fillRect/>
          </a:stretch>
        </p:blipFill>
        <p:spPr bwMode="gray">
          <a:xfrm>
            <a:off x="3439153" y="3800991"/>
            <a:ext cx="446281" cy="365139"/>
          </a:xfrm>
          <a:prstGeom prst="rect">
            <a:avLst/>
          </a:prstGeom>
        </p:spPr>
      </p:pic>
      <p:sp>
        <p:nvSpPr>
          <p:cNvPr id="92" name="文本框 91"/>
          <p:cNvSpPr txBox="1"/>
          <p:nvPr/>
        </p:nvSpPr>
        <p:spPr bwMode="gray">
          <a:xfrm>
            <a:off x="3842963" y="4015818"/>
            <a:ext cx="684803" cy="276999"/>
          </a:xfrm>
          <a:prstGeom prst="rect">
            <a:avLst/>
          </a:prstGeom>
          <a:noFill/>
        </p:spPr>
        <p:txBody>
          <a:bodyPr wrap="none" rtlCol="0">
            <a:spAutoFit/>
          </a:bodyPr>
          <a:lstStyle/>
          <a:p>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Edge_2</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93" name="文本框 92"/>
          <p:cNvSpPr txBox="1"/>
          <p:nvPr/>
        </p:nvSpPr>
        <p:spPr bwMode="gray">
          <a:xfrm>
            <a:off x="4293426" y="4358871"/>
            <a:ext cx="460382" cy="276999"/>
          </a:xfrm>
          <a:prstGeom prst="rect">
            <a:avLst/>
          </a:prstGeom>
          <a:noFill/>
        </p:spPr>
        <p:txBody>
          <a:bodyPr wrap="none" rtlCol="0">
            <a:spAutoFit/>
          </a:bodyPr>
          <a:lstStyle/>
          <a:p>
            <a:pPr algn="ctr"/>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AP1</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94" name="文本框 93"/>
          <p:cNvSpPr txBox="1"/>
          <p:nvPr/>
        </p:nvSpPr>
        <p:spPr bwMode="gray">
          <a:xfrm>
            <a:off x="1504507" y="5392407"/>
            <a:ext cx="453970" cy="276999"/>
          </a:xfrm>
          <a:prstGeom prst="rect">
            <a:avLst/>
          </a:prstGeom>
          <a:noFill/>
        </p:spPr>
        <p:txBody>
          <a:bodyPr wrap="none" rtlCol="0">
            <a:spAutoFit/>
          </a:bodyPr>
          <a:lstStyle/>
          <a:p>
            <a:pPr algn="ctr"/>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PC1</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112" name="文本框 111"/>
          <p:cNvSpPr txBox="1"/>
          <p:nvPr/>
        </p:nvSpPr>
        <p:spPr bwMode="gray">
          <a:xfrm>
            <a:off x="3435308" y="5392407"/>
            <a:ext cx="453970" cy="276999"/>
          </a:xfrm>
          <a:prstGeom prst="rect">
            <a:avLst/>
          </a:prstGeom>
          <a:noFill/>
        </p:spPr>
        <p:txBody>
          <a:bodyPr wrap="none" rtlCol="0">
            <a:spAutoFit/>
          </a:bodyPr>
          <a:lstStyle/>
          <a:p>
            <a:pPr algn="ctr"/>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PC2</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cxnSp>
        <p:nvCxnSpPr>
          <p:cNvPr id="113" name="Straight Connector 166"/>
          <p:cNvCxnSpPr>
            <a:stCxn id="59" idx="2"/>
            <a:endCxn id="81" idx="0"/>
          </p:cNvCxnSpPr>
          <p:nvPr/>
        </p:nvCxnSpPr>
        <p:spPr bwMode="gray">
          <a:xfrm flipH="1">
            <a:off x="1731492" y="4934546"/>
            <a:ext cx="1" cy="15012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4" name="Straight Connector 166"/>
          <p:cNvCxnSpPr>
            <a:stCxn id="73" idx="2"/>
            <a:endCxn id="82" idx="0"/>
          </p:cNvCxnSpPr>
          <p:nvPr/>
        </p:nvCxnSpPr>
        <p:spPr bwMode="gray">
          <a:xfrm flipH="1">
            <a:off x="3662293" y="4934546"/>
            <a:ext cx="1" cy="14978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15" name="文本框 114"/>
          <p:cNvSpPr txBox="1"/>
          <p:nvPr/>
        </p:nvSpPr>
        <p:spPr bwMode="gray">
          <a:xfrm>
            <a:off x="4303140" y="5392407"/>
            <a:ext cx="453970" cy="276999"/>
          </a:xfrm>
          <a:prstGeom prst="rect">
            <a:avLst/>
          </a:prstGeom>
          <a:noFill/>
        </p:spPr>
        <p:txBody>
          <a:bodyPr wrap="none" rtlCol="0">
            <a:spAutoFit/>
          </a:bodyPr>
          <a:lstStyle/>
          <a:p>
            <a:pPr algn="ctr"/>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PC3</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116" name="文本框 115"/>
          <p:cNvSpPr txBox="1"/>
          <p:nvPr/>
        </p:nvSpPr>
        <p:spPr bwMode="gray">
          <a:xfrm>
            <a:off x="2834929" y="4605357"/>
            <a:ext cx="631904" cy="276999"/>
          </a:xfrm>
          <a:prstGeom prst="rect">
            <a:avLst/>
          </a:prstGeom>
          <a:noFill/>
        </p:spPr>
        <p:txBody>
          <a:bodyPr wrap="none" rtlCol="0">
            <a:spAutoFit/>
          </a:bodyPr>
          <a:lstStyle/>
          <a:p>
            <a:pPr algn="r"/>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ACC_2</a:t>
            </a:r>
          </a:p>
        </p:txBody>
      </p:sp>
      <p:sp>
        <p:nvSpPr>
          <p:cNvPr id="117" name="梯形 116"/>
          <p:cNvSpPr/>
          <p:nvPr/>
        </p:nvSpPr>
        <p:spPr bwMode="gray">
          <a:xfrm>
            <a:off x="1035697" y="3541190"/>
            <a:ext cx="3221543" cy="501291"/>
          </a:xfrm>
          <a:prstGeom prst="trapezoid">
            <a:avLst>
              <a:gd name="adj" fmla="val 22961"/>
            </a:avLst>
          </a:prstGeom>
          <a:gradFill flip="none" rotWithShape="1">
            <a:gsLst>
              <a:gs pos="0">
                <a:schemeClr val="bg1">
                  <a:alpha val="4000"/>
                </a:schemeClr>
              </a:gs>
              <a:gs pos="100000">
                <a:srgbClr val="EEB3B8"/>
              </a:gs>
            </a:gsLst>
            <a:lin ang="5400000" scaled="1"/>
            <a:tileRect/>
          </a:gradFill>
          <a:ln>
            <a:gradFill flip="none" rotWithShape="1">
              <a:gsLst>
                <a:gs pos="0">
                  <a:schemeClr val="accent1">
                    <a:lumMod val="5000"/>
                    <a:lumOff val="95000"/>
                    <a:alpha val="0"/>
                  </a:schemeClr>
                </a:gs>
                <a:gs pos="82000">
                  <a:srgbClr val="E28189"/>
                </a:gs>
              </a:gsLst>
              <a:lin ang="54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8" name="梯形 117"/>
          <p:cNvSpPr/>
          <p:nvPr/>
        </p:nvSpPr>
        <p:spPr bwMode="gray">
          <a:xfrm>
            <a:off x="1035697" y="3150687"/>
            <a:ext cx="3221543" cy="501291"/>
          </a:xfrm>
          <a:prstGeom prst="trapezoid">
            <a:avLst>
              <a:gd name="adj" fmla="val 22961"/>
            </a:avLst>
          </a:prstGeom>
          <a:gradFill flip="none" rotWithShape="1">
            <a:gsLst>
              <a:gs pos="0">
                <a:schemeClr val="bg1">
                  <a:alpha val="4000"/>
                </a:schemeClr>
              </a:gs>
              <a:gs pos="100000">
                <a:schemeClr val="accent2">
                  <a:lumMod val="20000"/>
                  <a:lumOff val="80000"/>
                </a:schemeClr>
              </a:gs>
            </a:gsLst>
            <a:lin ang="5400000" scaled="1"/>
            <a:tileRect/>
          </a:gradFill>
          <a:ln>
            <a:gradFill flip="none" rotWithShape="1">
              <a:gsLst>
                <a:gs pos="0">
                  <a:schemeClr val="accent1">
                    <a:lumMod val="5000"/>
                    <a:lumOff val="95000"/>
                    <a:alpha val="0"/>
                  </a:schemeClr>
                </a:gs>
                <a:gs pos="82000">
                  <a:schemeClr val="accent2">
                    <a:lumMod val="60000"/>
                    <a:lumOff val="40000"/>
                  </a:schemeClr>
                </a:gs>
              </a:gsLst>
              <a:lin ang="54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9" name="文本框 118"/>
          <p:cNvSpPr txBox="1"/>
          <p:nvPr/>
        </p:nvSpPr>
        <p:spPr bwMode="gray">
          <a:xfrm>
            <a:off x="2199556" y="3775817"/>
            <a:ext cx="875561" cy="276999"/>
          </a:xfrm>
          <a:prstGeom prst="rect">
            <a:avLst/>
          </a:prstGeom>
          <a:noFill/>
        </p:spPr>
        <p:txBody>
          <a:bodyPr wrap="none" rtlCol="0">
            <a:spAutoFit/>
          </a:bodyPr>
          <a:lstStyle/>
          <a:p>
            <a:pPr algn="ctr"/>
            <a:r>
              <a:rPr lang="en-US" altLang="zh-CN" sz="1200" b="1" dirty="0">
                <a:latin typeface="Huawei Sans" panose="020C0503030203020204" pitchFamily="34" charset="0"/>
                <a:ea typeface="方正兰亭黑简体" panose="02000000000000000000" pitchFamily="2" charset="-122"/>
                <a:cs typeface="Huawei Sans" panose="020C0503030203020204" pitchFamily="34" charset="0"/>
              </a:rPr>
              <a:t>OA</a:t>
            </a:r>
            <a:r>
              <a:rPr lang="zh-CN" altLang="en-US" sz="1200" b="1" dirty="0" smtClean="0">
                <a:latin typeface="Huawei Sans" panose="020C0503030203020204" pitchFamily="34" charset="0"/>
                <a:ea typeface="方正兰亭黑简体" panose="02000000000000000000" pitchFamily="2" charset="-122"/>
                <a:cs typeface="Huawei Sans" panose="020C0503030203020204" pitchFamily="34" charset="0"/>
              </a:rPr>
              <a:t>虚拟网</a:t>
            </a:r>
            <a:endParaRPr lang="zh-CN" altLang="en-US" sz="1200" b="1"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120" name="文本框 119"/>
          <p:cNvSpPr txBox="1"/>
          <p:nvPr/>
        </p:nvSpPr>
        <p:spPr bwMode="gray">
          <a:xfrm>
            <a:off x="2214234" y="3360330"/>
            <a:ext cx="859530" cy="276999"/>
          </a:xfrm>
          <a:prstGeom prst="rect">
            <a:avLst/>
          </a:prstGeom>
          <a:noFill/>
        </p:spPr>
        <p:txBody>
          <a:bodyPr wrap="none" rtlCol="0">
            <a:spAutoFit/>
          </a:bodyPr>
          <a:lstStyle/>
          <a:p>
            <a:pPr algn="ctr"/>
            <a:r>
              <a:rPr lang="en-US" altLang="zh-CN" sz="1200" b="1" dirty="0" smtClean="0">
                <a:latin typeface="Huawei Sans" panose="020C0503030203020204" pitchFamily="34" charset="0"/>
                <a:ea typeface="方正兰亭黑简体" panose="02000000000000000000" pitchFamily="2" charset="-122"/>
                <a:cs typeface="Huawei Sans" panose="020C0503030203020204" pitchFamily="34" charset="0"/>
              </a:rPr>
              <a:t>RD</a:t>
            </a:r>
            <a:r>
              <a:rPr lang="zh-CN" altLang="en-US" sz="1200" b="1" dirty="0" smtClean="0">
                <a:latin typeface="Huawei Sans" panose="020C0503030203020204" pitchFamily="34" charset="0"/>
                <a:ea typeface="方正兰亭黑简体" panose="02000000000000000000" pitchFamily="2" charset="-122"/>
                <a:cs typeface="Huawei Sans" panose="020C0503030203020204" pitchFamily="34" charset="0"/>
              </a:rPr>
              <a:t>虚拟网</a:t>
            </a:r>
            <a:endParaRPr lang="zh-CN" altLang="en-US" sz="1200" b="1" dirty="0">
              <a:latin typeface="Huawei Sans" panose="020C0503030203020204" pitchFamily="34" charset="0"/>
              <a:ea typeface="方正兰亭黑简体" panose="02000000000000000000" pitchFamily="2" charset="-122"/>
              <a:cs typeface="Huawei Sans" panose="020C0503030203020204" pitchFamily="34" charset="0"/>
            </a:endParaRPr>
          </a:p>
        </p:txBody>
      </p:sp>
      <p:grpSp>
        <p:nvGrpSpPr>
          <p:cNvPr id="121" name="组合 758"/>
          <p:cNvGrpSpPr/>
          <p:nvPr/>
        </p:nvGrpSpPr>
        <p:grpSpPr bwMode="gray">
          <a:xfrm flipV="1">
            <a:off x="4439160" y="4922631"/>
            <a:ext cx="168914" cy="131950"/>
            <a:chOff x="7440613" y="4868863"/>
            <a:chExt cx="1019175" cy="828675"/>
          </a:xfrm>
          <a:solidFill>
            <a:schemeClr val="bg1">
              <a:lumMod val="50000"/>
            </a:schemeClr>
          </a:solidFill>
        </p:grpSpPr>
        <p:sp>
          <p:nvSpPr>
            <p:cNvPr id="122" name="Freeform 15"/>
            <p:cNvSpPr>
              <a:spLocks/>
            </p:cNvSpPr>
            <p:nvPr/>
          </p:nvSpPr>
          <p:spPr bwMode="gray">
            <a:xfrm>
              <a:off x="7832726" y="5462588"/>
              <a:ext cx="234950" cy="234950"/>
            </a:xfrm>
            <a:custGeom>
              <a:avLst/>
              <a:gdLst/>
              <a:ahLst/>
              <a:cxnLst>
                <a:cxn ang="0">
                  <a:pos x="3281" y="680"/>
                </a:cxn>
                <a:cxn ang="0">
                  <a:pos x="3439" y="907"/>
                </a:cxn>
                <a:cxn ang="0">
                  <a:pos x="3559" y="1151"/>
                </a:cxn>
                <a:cxn ang="0">
                  <a:pos x="3642" y="1406"/>
                </a:cxn>
                <a:cxn ang="0">
                  <a:pos x="3686" y="1670"/>
                </a:cxn>
                <a:cxn ang="0">
                  <a:pos x="3693" y="1936"/>
                </a:cxn>
                <a:cxn ang="0">
                  <a:pos x="3661" y="2201"/>
                </a:cxn>
                <a:cxn ang="0">
                  <a:pos x="3591" y="2460"/>
                </a:cxn>
                <a:cxn ang="0">
                  <a:pos x="3484" y="2708"/>
                </a:cxn>
                <a:cxn ang="0">
                  <a:pos x="3339" y="2941"/>
                </a:cxn>
                <a:cxn ang="0">
                  <a:pos x="3155" y="3155"/>
                </a:cxn>
                <a:cxn ang="0">
                  <a:pos x="2941" y="3339"/>
                </a:cxn>
                <a:cxn ang="0">
                  <a:pos x="2708" y="3484"/>
                </a:cxn>
                <a:cxn ang="0">
                  <a:pos x="2460" y="3592"/>
                </a:cxn>
                <a:cxn ang="0">
                  <a:pos x="2201" y="3661"/>
                </a:cxn>
                <a:cxn ang="0">
                  <a:pos x="1936" y="3693"/>
                </a:cxn>
                <a:cxn ang="0">
                  <a:pos x="1670" y="3687"/>
                </a:cxn>
                <a:cxn ang="0">
                  <a:pos x="1408" y="3643"/>
                </a:cxn>
                <a:cxn ang="0">
                  <a:pos x="1152" y="3561"/>
                </a:cxn>
                <a:cxn ang="0">
                  <a:pos x="908" y="3440"/>
                </a:cxn>
                <a:cxn ang="0">
                  <a:pos x="680" y="3282"/>
                </a:cxn>
                <a:cxn ang="0">
                  <a:pos x="475" y="3086"/>
                </a:cxn>
                <a:cxn ang="0">
                  <a:pos x="304" y="2866"/>
                </a:cxn>
                <a:cxn ang="0">
                  <a:pos x="172" y="2627"/>
                </a:cxn>
                <a:cxn ang="0">
                  <a:pos x="76" y="2374"/>
                </a:cxn>
                <a:cxn ang="0">
                  <a:pos x="19" y="2114"/>
                </a:cxn>
                <a:cxn ang="0">
                  <a:pos x="0" y="1848"/>
                </a:cxn>
                <a:cxn ang="0">
                  <a:pos x="19" y="1582"/>
                </a:cxn>
                <a:cxn ang="0">
                  <a:pos x="76" y="1321"/>
                </a:cxn>
                <a:cxn ang="0">
                  <a:pos x="171" y="1069"/>
                </a:cxn>
                <a:cxn ang="0">
                  <a:pos x="304" y="830"/>
                </a:cxn>
                <a:cxn ang="0">
                  <a:pos x="475" y="609"/>
                </a:cxn>
                <a:cxn ang="0">
                  <a:pos x="680" y="414"/>
                </a:cxn>
                <a:cxn ang="0">
                  <a:pos x="907" y="255"/>
                </a:cxn>
                <a:cxn ang="0">
                  <a:pos x="1151" y="135"/>
                </a:cxn>
                <a:cxn ang="0">
                  <a:pos x="1407" y="52"/>
                </a:cxn>
                <a:cxn ang="0">
                  <a:pos x="1669" y="8"/>
                </a:cxn>
                <a:cxn ang="0">
                  <a:pos x="1936" y="2"/>
                </a:cxn>
                <a:cxn ang="0">
                  <a:pos x="2201" y="33"/>
                </a:cxn>
                <a:cxn ang="0">
                  <a:pos x="2459" y="104"/>
                </a:cxn>
                <a:cxn ang="0">
                  <a:pos x="2708" y="211"/>
                </a:cxn>
                <a:cxn ang="0">
                  <a:pos x="2940" y="356"/>
                </a:cxn>
                <a:cxn ang="0">
                  <a:pos x="3154" y="539"/>
                </a:cxn>
              </a:cxnLst>
              <a:rect l="0" t="0" r="r" b="b"/>
              <a:pathLst>
                <a:path w="3695" h="3695">
                  <a:moveTo>
                    <a:pt x="3154" y="539"/>
                  </a:moveTo>
                  <a:lnTo>
                    <a:pt x="3220" y="608"/>
                  </a:lnTo>
                  <a:lnTo>
                    <a:pt x="3281" y="680"/>
                  </a:lnTo>
                  <a:lnTo>
                    <a:pt x="3338" y="754"/>
                  </a:lnTo>
                  <a:lnTo>
                    <a:pt x="3391" y="829"/>
                  </a:lnTo>
                  <a:lnTo>
                    <a:pt x="3439" y="907"/>
                  </a:lnTo>
                  <a:lnTo>
                    <a:pt x="3483" y="987"/>
                  </a:lnTo>
                  <a:lnTo>
                    <a:pt x="3523" y="1068"/>
                  </a:lnTo>
                  <a:lnTo>
                    <a:pt x="3559" y="1151"/>
                  </a:lnTo>
                  <a:lnTo>
                    <a:pt x="3591" y="1235"/>
                  </a:lnTo>
                  <a:lnTo>
                    <a:pt x="3619" y="1320"/>
                  </a:lnTo>
                  <a:lnTo>
                    <a:pt x="3642" y="1406"/>
                  </a:lnTo>
                  <a:lnTo>
                    <a:pt x="3661" y="1493"/>
                  </a:lnTo>
                  <a:lnTo>
                    <a:pt x="3676" y="1582"/>
                  </a:lnTo>
                  <a:lnTo>
                    <a:pt x="3686" y="1670"/>
                  </a:lnTo>
                  <a:lnTo>
                    <a:pt x="3693" y="1758"/>
                  </a:lnTo>
                  <a:lnTo>
                    <a:pt x="3695" y="1847"/>
                  </a:lnTo>
                  <a:lnTo>
                    <a:pt x="3693" y="1936"/>
                  </a:lnTo>
                  <a:lnTo>
                    <a:pt x="3686" y="2024"/>
                  </a:lnTo>
                  <a:lnTo>
                    <a:pt x="3676" y="2113"/>
                  </a:lnTo>
                  <a:lnTo>
                    <a:pt x="3661" y="2201"/>
                  </a:lnTo>
                  <a:lnTo>
                    <a:pt x="3642" y="2288"/>
                  </a:lnTo>
                  <a:lnTo>
                    <a:pt x="3619" y="2374"/>
                  </a:lnTo>
                  <a:lnTo>
                    <a:pt x="3591" y="2460"/>
                  </a:lnTo>
                  <a:lnTo>
                    <a:pt x="3559" y="2544"/>
                  </a:lnTo>
                  <a:lnTo>
                    <a:pt x="3524" y="2626"/>
                  </a:lnTo>
                  <a:lnTo>
                    <a:pt x="3484" y="2708"/>
                  </a:lnTo>
                  <a:lnTo>
                    <a:pt x="3439" y="2788"/>
                  </a:lnTo>
                  <a:lnTo>
                    <a:pt x="3391" y="2865"/>
                  </a:lnTo>
                  <a:lnTo>
                    <a:pt x="3339" y="2941"/>
                  </a:lnTo>
                  <a:lnTo>
                    <a:pt x="3281" y="3015"/>
                  </a:lnTo>
                  <a:lnTo>
                    <a:pt x="3220" y="3086"/>
                  </a:lnTo>
                  <a:lnTo>
                    <a:pt x="3155" y="3155"/>
                  </a:lnTo>
                  <a:lnTo>
                    <a:pt x="3086" y="3220"/>
                  </a:lnTo>
                  <a:lnTo>
                    <a:pt x="3015" y="3282"/>
                  </a:lnTo>
                  <a:lnTo>
                    <a:pt x="2941" y="3339"/>
                  </a:lnTo>
                  <a:lnTo>
                    <a:pt x="2865" y="3391"/>
                  </a:lnTo>
                  <a:lnTo>
                    <a:pt x="2788" y="3440"/>
                  </a:lnTo>
                  <a:lnTo>
                    <a:pt x="2708" y="3484"/>
                  </a:lnTo>
                  <a:lnTo>
                    <a:pt x="2626" y="3524"/>
                  </a:lnTo>
                  <a:lnTo>
                    <a:pt x="2544" y="3560"/>
                  </a:lnTo>
                  <a:lnTo>
                    <a:pt x="2460" y="3592"/>
                  </a:lnTo>
                  <a:lnTo>
                    <a:pt x="2375" y="3619"/>
                  </a:lnTo>
                  <a:lnTo>
                    <a:pt x="2288" y="3643"/>
                  </a:lnTo>
                  <a:lnTo>
                    <a:pt x="2201" y="3661"/>
                  </a:lnTo>
                  <a:lnTo>
                    <a:pt x="2114" y="3676"/>
                  </a:lnTo>
                  <a:lnTo>
                    <a:pt x="2026" y="3687"/>
                  </a:lnTo>
                  <a:lnTo>
                    <a:pt x="1936" y="3693"/>
                  </a:lnTo>
                  <a:lnTo>
                    <a:pt x="1848" y="3695"/>
                  </a:lnTo>
                  <a:lnTo>
                    <a:pt x="1759" y="3693"/>
                  </a:lnTo>
                  <a:lnTo>
                    <a:pt x="1670" y="3687"/>
                  </a:lnTo>
                  <a:lnTo>
                    <a:pt x="1582" y="3676"/>
                  </a:lnTo>
                  <a:lnTo>
                    <a:pt x="1495" y="3662"/>
                  </a:lnTo>
                  <a:lnTo>
                    <a:pt x="1408" y="3643"/>
                  </a:lnTo>
                  <a:lnTo>
                    <a:pt x="1321" y="3620"/>
                  </a:lnTo>
                  <a:lnTo>
                    <a:pt x="1236" y="3592"/>
                  </a:lnTo>
                  <a:lnTo>
                    <a:pt x="1152" y="3561"/>
                  </a:lnTo>
                  <a:lnTo>
                    <a:pt x="1069" y="3524"/>
                  </a:lnTo>
                  <a:lnTo>
                    <a:pt x="987" y="3484"/>
                  </a:lnTo>
                  <a:lnTo>
                    <a:pt x="908" y="3440"/>
                  </a:lnTo>
                  <a:lnTo>
                    <a:pt x="830" y="3391"/>
                  </a:lnTo>
                  <a:lnTo>
                    <a:pt x="755" y="3339"/>
                  </a:lnTo>
                  <a:lnTo>
                    <a:pt x="680" y="3282"/>
                  </a:lnTo>
                  <a:lnTo>
                    <a:pt x="609" y="3220"/>
                  </a:lnTo>
                  <a:lnTo>
                    <a:pt x="541" y="3155"/>
                  </a:lnTo>
                  <a:lnTo>
                    <a:pt x="475" y="3086"/>
                  </a:lnTo>
                  <a:lnTo>
                    <a:pt x="414" y="3015"/>
                  </a:lnTo>
                  <a:lnTo>
                    <a:pt x="357" y="2941"/>
                  </a:lnTo>
                  <a:lnTo>
                    <a:pt x="304" y="2866"/>
                  </a:lnTo>
                  <a:lnTo>
                    <a:pt x="256" y="2788"/>
                  </a:lnTo>
                  <a:lnTo>
                    <a:pt x="212" y="2709"/>
                  </a:lnTo>
                  <a:lnTo>
                    <a:pt x="172" y="2627"/>
                  </a:lnTo>
                  <a:lnTo>
                    <a:pt x="136" y="2544"/>
                  </a:lnTo>
                  <a:lnTo>
                    <a:pt x="104" y="2460"/>
                  </a:lnTo>
                  <a:lnTo>
                    <a:pt x="76" y="2374"/>
                  </a:lnTo>
                  <a:lnTo>
                    <a:pt x="53" y="2288"/>
                  </a:lnTo>
                  <a:lnTo>
                    <a:pt x="34" y="2201"/>
                  </a:lnTo>
                  <a:lnTo>
                    <a:pt x="19" y="2114"/>
                  </a:lnTo>
                  <a:lnTo>
                    <a:pt x="9" y="2025"/>
                  </a:lnTo>
                  <a:lnTo>
                    <a:pt x="2" y="1937"/>
                  </a:lnTo>
                  <a:lnTo>
                    <a:pt x="0" y="1848"/>
                  </a:lnTo>
                  <a:lnTo>
                    <a:pt x="2" y="1759"/>
                  </a:lnTo>
                  <a:lnTo>
                    <a:pt x="9" y="1670"/>
                  </a:lnTo>
                  <a:lnTo>
                    <a:pt x="19" y="1582"/>
                  </a:lnTo>
                  <a:lnTo>
                    <a:pt x="34" y="1494"/>
                  </a:lnTo>
                  <a:lnTo>
                    <a:pt x="53" y="1407"/>
                  </a:lnTo>
                  <a:lnTo>
                    <a:pt x="76" y="1321"/>
                  </a:lnTo>
                  <a:lnTo>
                    <a:pt x="104" y="1236"/>
                  </a:lnTo>
                  <a:lnTo>
                    <a:pt x="136" y="1151"/>
                  </a:lnTo>
                  <a:lnTo>
                    <a:pt x="171" y="1069"/>
                  </a:lnTo>
                  <a:lnTo>
                    <a:pt x="211" y="988"/>
                  </a:lnTo>
                  <a:lnTo>
                    <a:pt x="255" y="907"/>
                  </a:lnTo>
                  <a:lnTo>
                    <a:pt x="304" y="830"/>
                  </a:lnTo>
                  <a:lnTo>
                    <a:pt x="356" y="754"/>
                  </a:lnTo>
                  <a:lnTo>
                    <a:pt x="414" y="681"/>
                  </a:lnTo>
                  <a:lnTo>
                    <a:pt x="475" y="609"/>
                  </a:lnTo>
                  <a:lnTo>
                    <a:pt x="540" y="540"/>
                  </a:lnTo>
                  <a:lnTo>
                    <a:pt x="609" y="475"/>
                  </a:lnTo>
                  <a:lnTo>
                    <a:pt x="680" y="414"/>
                  </a:lnTo>
                  <a:lnTo>
                    <a:pt x="754" y="356"/>
                  </a:lnTo>
                  <a:lnTo>
                    <a:pt x="830" y="303"/>
                  </a:lnTo>
                  <a:lnTo>
                    <a:pt x="907" y="255"/>
                  </a:lnTo>
                  <a:lnTo>
                    <a:pt x="987" y="211"/>
                  </a:lnTo>
                  <a:lnTo>
                    <a:pt x="1069" y="171"/>
                  </a:lnTo>
                  <a:lnTo>
                    <a:pt x="1151" y="135"/>
                  </a:lnTo>
                  <a:lnTo>
                    <a:pt x="1235" y="104"/>
                  </a:lnTo>
                  <a:lnTo>
                    <a:pt x="1320" y="76"/>
                  </a:lnTo>
                  <a:lnTo>
                    <a:pt x="1407" y="52"/>
                  </a:lnTo>
                  <a:lnTo>
                    <a:pt x="1494" y="33"/>
                  </a:lnTo>
                  <a:lnTo>
                    <a:pt x="1581" y="19"/>
                  </a:lnTo>
                  <a:lnTo>
                    <a:pt x="1669" y="8"/>
                  </a:lnTo>
                  <a:lnTo>
                    <a:pt x="1759" y="2"/>
                  </a:lnTo>
                  <a:lnTo>
                    <a:pt x="1847" y="0"/>
                  </a:lnTo>
                  <a:lnTo>
                    <a:pt x="1936" y="2"/>
                  </a:lnTo>
                  <a:lnTo>
                    <a:pt x="2025" y="8"/>
                  </a:lnTo>
                  <a:lnTo>
                    <a:pt x="2113" y="19"/>
                  </a:lnTo>
                  <a:lnTo>
                    <a:pt x="2201" y="33"/>
                  </a:lnTo>
                  <a:lnTo>
                    <a:pt x="2287" y="52"/>
                  </a:lnTo>
                  <a:lnTo>
                    <a:pt x="2374" y="76"/>
                  </a:lnTo>
                  <a:lnTo>
                    <a:pt x="2459" y="104"/>
                  </a:lnTo>
                  <a:lnTo>
                    <a:pt x="2543" y="135"/>
                  </a:lnTo>
                  <a:lnTo>
                    <a:pt x="2626" y="171"/>
                  </a:lnTo>
                  <a:lnTo>
                    <a:pt x="2708" y="211"/>
                  </a:lnTo>
                  <a:lnTo>
                    <a:pt x="2787" y="255"/>
                  </a:lnTo>
                  <a:lnTo>
                    <a:pt x="2865" y="303"/>
                  </a:lnTo>
                  <a:lnTo>
                    <a:pt x="2940" y="356"/>
                  </a:lnTo>
                  <a:lnTo>
                    <a:pt x="3015" y="413"/>
                  </a:lnTo>
                  <a:lnTo>
                    <a:pt x="3086" y="474"/>
                  </a:lnTo>
                  <a:lnTo>
                    <a:pt x="3154" y="539"/>
                  </a:lnTo>
                  <a:close/>
                </a:path>
              </a:pathLst>
            </a:custGeom>
            <a:grpFill/>
            <a:ln w="9525">
              <a:noFill/>
              <a:round/>
              <a:headEnd/>
              <a:tailEnd/>
            </a:ln>
          </p:spPr>
          <p:txBody>
            <a:bodyPr/>
            <a:lstStyle/>
            <a:p>
              <a:pPr algn="ctr" eaLnBrk="1" fontAlgn="auto" hangingPunct="1">
                <a:spcBef>
                  <a:spcPts val="0"/>
                </a:spcBef>
                <a:spcAft>
                  <a:spcPts val="0"/>
                </a:spcAft>
                <a:defRPr/>
              </a:pPr>
              <a:endParaRPr lang="zh-CN" altLang="en-US" sz="1200" ker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3" name="Freeform 16"/>
            <p:cNvSpPr>
              <a:spLocks noEditPoints="1"/>
            </p:cNvSpPr>
            <p:nvPr/>
          </p:nvSpPr>
          <p:spPr bwMode="gray">
            <a:xfrm>
              <a:off x="7440613" y="4868863"/>
              <a:ext cx="1019175" cy="544513"/>
            </a:xfrm>
            <a:custGeom>
              <a:avLst/>
              <a:gdLst/>
              <a:ahLst/>
              <a:cxnLst>
                <a:cxn ang="0">
                  <a:pos x="16025" y="3351"/>
                </a:cxn>
                <a:cxn ang="0">
                  <a:pos x="14975" y="4351"/>
                </a:cxn>
                <a:cxn ang="0">
                  <a:pos x="14184" y="3632"/>
                </a:cxn>
                <a:cxn ang="0">
                  <a:pos x="12564" y="2563"/>
                </a:cxn>
                <a:cxn ang="0">
                  <a:pos x="10805" y="1850"/>
                </a:cxn>
                <a:cxn ang="0">
                  <a:pos x="8960" y="1494"/>
                </a:cxn>
                <a:cxn ang="0">
                  <a:pos x="7087" y="1494"/>
                </a:cxn>
                <a:cxn ang="0">
                  <a:pos x="5243" y="1851"/>
                </a:cxn>
                <a:cxn ang="0">
                  <a:pos x="3483" y="2564"/>
                </a:cxn>
                <a:cxn ang="0">
                  <a:pos x="1864" y="3634"/>
                </a:cxn>
                <a:cxn ang="0">
                  <a:pos x="1075" y="4353"/>
                </a:cxn>
                <a:cxn ang="0">
                  <a:pos x="24" y="3353"/>
                </a:cxn>
                <a:cxn ang="0">
                  <a:pos x="516" y="2880"/>
                </a:cxn>
                <a:cxn ang="0">
                  <a:pos x="2325" y="1549"/>
                </a:cxn>
                <a:cxn ang="0">
                  <a:pos x="4312" y="627"/>
                </a:cxn>
                <a:cxn ang="0">
                  <a:pos x="6413" y="115"/>
                </a:cxn>
                <a:cxn ang="0">
                  <a:pos x="8562" y="13"/>
                </a:cxn>
                <a:cxn ang="0">
                  <a:pos x="10694" y="319"/>
                </a:cxn>
                <a:cxn ang="0">
                  <a:pos x="12747" y="1036"/>
                </a:cxn>
                <a:cxn ang="0">
                  <a:pos x="14654" y="2160"/>
                </a:cxn>
                <a:cxn ang="0">
                  <a:pos x="14055" y="5373"/>
                </a:cxn>
                <a:cxn ang="0">
                  <a:pos x="12871" y="6404"/>
                </a:cxn>
                <a:cxn ang="0">
                  <a:pos x="12058" y="5702"/>
                </a:cxn>
                <a:cxn ang="0">
                  <a:pos x="10898" y="5017"/>
                </a:cxn>
                <a:cxn ang="0">
                  <a:pos x="9649" y="4582"/>
                </a:cxn>
                <a:cxn ang="0">
                  <a:pos x="8352" y="4395"/>
                </a:cxn>
                <a:cxn ang="0">
                  <a:pos x="7044" y="4457"/>
                </a:cxn>
                <a:cxn ang="0">
                  <a:pos x="5767" y="4769"/>
                </a:cxn>
                <a:cxn ang="0">
                  <a:pos x="4558" y="5329"/>
                </a:cxn>
                <a:cxn ang="0">
                  <a:pos x="3457" y="6139"/>
                </a:cxn>
                <a:cxn ang="0">
                  <a:pos x="3129" y="6456"/>
                </a:cxn>
                <a:cxn ang="0">
                  <a:pos x="2045" y="5322"/>
                </a:cxn>
                <a:cxn ang="0">
                  <a:pos x="2731" y="4697"/>
                </a:cxn>
                <a:cxn ang="0">
                  <a:pos x="4122" y="3779"/>
                </a:cxn>
                <a:cxn ang="0">
                  <a:pos x="5635" y="3166"/>
                </a:cxn>
                <a:cxn ang="0">
                  <a:pos x="7219" y="2859"/>
                </a:cxn>
                <a:cxn ang="0">
                  <a:pos x="8829" y="2859"/>
                </a:cxn>
                <a:cxn ang="0">
                  <a:pos x="10413" y="3165"/>
                </a:cxn>
                <a:cxn ang="0">
                  <a:pos x="11926" y="3777"/>
                </a:cxn>
                <a:cxn ang="0">
                  <a:pos x="13318" y="4696"/>
                </a:cxn>
                <a:cxn ang="0">
                  <a:pos x="14005" y="5321"/>
                </a:cxn>
                <a:cxn ang="0">
                  <a:pos x="10854" y="8576"/>
                </a:cxn>
                <a:cxn ang="0">
                  <a:pos x="10754" y="8472"/>
                </a:cxn>
                <a:cxn ang="0">
                  <a:pos x="10150" y="7980"/>
                </a:cxn>
                <a:cxn ang="0">
                  <a:pos x="9479" y="7627"/>
                </a:cxn>
                <a:cxn ang="0">
                  <a:pos x="8762" y="7416"/>
                </a:cxn>
                <a:cxn ang="0">
                  <a:pos x="8025" y="7345"/>
                </a:cxn>
                <a:cxn ang="0">
                  <a:pos x="7287" y="7416"/>
                </a:cxn>
                <a:cxn ang="0">
                  <a:pos x="6571" y="7627"/>
                </a:cxn>
                <a:cxn ang="0">
                  <a:pos x="5900" y="7980"/>
                </a:cxn>
                <a:cxn ang="0">
                  <a:pos x="5297" y="8473"/>
                </a:cxn>
                <a:cxn ang="0">
                  <a:pos x="5198" y="8576"/>
                </a:cxn>
                <a:cxn ang="0">
                  <a:pos x="4197" y="7425"/>
                </a:cxn>
                <a:cxn ang="0">
                  <a:pos x="4843" y="6865"/>
                </a:cxn>
                <a:cxn ang="0">
                  <a:pos x="5758" y="6325"/>
                </a:cxn>
                <a:cxn ang="0">
                  <a:pos x="6743" y="5981"/>
                </a:cxn>
                <a:cxn ang="0">
                  <a:pos x="7766" y="5833"/>
                </a:cxn>
                <a:cxn ang="0">
                  <a:pos x="8797" y="5882"/>
                </a:cxn>
                <a:cxn ang="0">
                  <a:pos x="9806" y="6127"/>
                </a:cxn>
                <a:cxn ang="0">
                  <a:pos x="10760" y="6570"/>
                </a:cxn>
                <a:cxn ang="0">
                  <a:pos x="11627" y="7208"/>
                </a:cxn>
                <a:cxn ang="0">
                  <a:pos x="11903" y="7475"/>
                </a:cxn>
              </a:cxnLst>
              <a:rect l="0" t="0" r="r" b="b"/>
              <a:pathLst>
                <a:path w="16050" h="8576">
                  <a:moveTo>
                    <a:pt x="15950" y="3273"/>
                  </a:moveTo>
                  <a:lnTo>
                    <a:pt x="15975" y="3299"/>
                  </a:lnTo>
                  <a:lnTo>
                    <a:pt x="16000" y="3324"/>
                  </a:lnTo>
                  <a:lnTo>
                    <a:pt x="16025" y="3351"/>
                  </a:lnTo>
                  <a:lnTo>
                    <a:pt x="16050" y="3377"/>
                  </a:lnTo>
                  <a:lnTo>
                    <a:pt x="15025" y="4402"/>
                  </a:lnTo>
                  <a:lnTo>
                    <a:pt x="15000" y="4377"/>
                  </a:lnTo>
                  <a:lnTo>
                    <a:pt x="14975" y="4351"/>
                  </a:lnTo>
                  <a:lnTo>
                    <a:pt x="14950" y="4325"/>
                  </a:lnTo>
                  <a:lnTo>
                    <a:pt x="14923" y="4300"/>
                  </a:lnTo>
                  <a:lnTo>
                    <a:pt x="14560" y="3955"/>
                  </a:lnTo>
                  <a:lnTo>
                    <a:pt x="14184" y="3632"/>
                  </a:lnTo>
                  <a:lnTo>
                    <a:pt x="13796" y="3330"/>
                  </a:lnTo>
                  <a:lnTo>
                    <a:pt x="13396" y="3053"/>
                  </a:lnTo>
                  <a:lnTo>
                    <a:pt x="12984" y="2797"/>
                  </a:lnTo>
                  <a:lnTo>
                    <a:pt x="12564" y="2563"/>
                  </a:lnTo>
                  <a:lnTo>
                    <a:pt x="12136" y="2351"/>
                  </a:lnTo>
                  <a:lnTo>
                    <a:pt x="11698" y="2161"/>
                  </a:lnTo>
                  <a:lnTo>
                    <a:pt x="11254" y="1995"/>
                  </a:lnTo>
                  <a:lnTo>
                    <a:pt x="10805" y="1850"/>
                  </a:lnTo>
                  <a:lnTo>
                    <a:pt x="10349" y="1728"/>
                  </a:lnTo>
                  <a:lnTo>
                    <a:pt x="9889" y="1628"/>
                  </a:lnTo>
                  <a:lnTo>
                    <a:pt x="9426" y="1549"/>
                  </a:lnTo>
                  <a:lnTo>
                    <a:pt x="8960" y="1494"/>
                  </a:lnTo>
                  <a:lnTo>
                    <a:pt x="8492" y="1461"/>
                  </a:lnTo>
                  <a:lnTo>
                    <a:pt x="8024" y="1450"/>
                  </a:lnTo>
                  <a:lnTo>
                    <a:pt x="7556" y="1461"/>
                  </a:lnTo>
                  <a:lnTo>
                    <a:pt x="7087" y="1494"/>
                  </a:lnTo>
                  <a:lnTo>
                    <a:pt x="6622" y="1550"/>
                  </a:lnTo>
                  <a:lnTo>
                    <a:pt x="6158" y="1629"/>
                  </a:lnTo>
                  <a:lnTo>
                    <a:pt x="5699" y="1729"/>
                  </a:lnTo>
                  <a:lnTo>
                    <a:pt x="5243" y="1851"/>
                  </a:lnTo>
                  <a:lnTo>
                    <a:pt x="4793" y="1996"/>
                  </a:lnTo>
                  <a:lnTo>
                    <a:pt x="4350" y="2163"/>
                  </a:lnTo>
                  <a:lnTo>
                    <a:pt x="3912" y="2352"/>
                  </a:lnTo>
                  <a:lnTo>
                    <a:pt x="3483" y="2564"/>
                  </a:lnTo>
                  <a:lnTo>
                    <a:pt x="3064" y="2799"/>
                  </a:lnTo>
                  <a:lnTo>
                    <a:pt x="2652" y="3055"/>
                  </a:lnTo>
                  <a:lnTo>
                    <a:pt x="2253" y="3332"/>
                  </a:lnTo>
                  <a:lnTo>
                    <a:pt x="1864" y="3634"/>
                  </a:lnTo>
                  <a:lnTo>
                    <a:pt x="1488" y="3957"/>
                  </a:lnTo>
                  <a:lnTo>
                    <a:pt x="1125" y="4302"/>
                  </a:lnTo>
                  <a:lnTo>
                    <a:pt x="1099" y="4327"/>
                  </a:lnTo>
                  <a:lnTo>
                    <a:pt x="1075" y="4353"/>
                  </a:lnTo>
                  <a:lnTo>
                    <a:pt x="1050" y="4378"/>
                  </a:lnTo>
                  <a:lnTo>
                    <a:pt x="1025" y="4404"/>
                  </a:lnTo>
                  <a:lnTo>
                    <a:pt x="0" y="3378"/>
                  </a:lnTo>
                  <a:lnTo>
                    <a:pt x="24" y="3353"/>
                  </a:lnTo>
                  <a:lnTo>
                    <a:pt x="49" y="3326"/>
                  </a:lnTo>
                  <a:lnTo>
                    <a:pt x="74" y="3301"/>
                  </a:lnTo>
                  <a:lnTo>
                    <a:pt x="99" y="3276"/>
                  </a:lnTo>
                  <a:lnTo>
                    <a:pt x="516" y="2880"/>
                  </a:lnTo>
                  <a:lnTo>
                    <a:pt x="948" y="2509"/>
                  </a:lnTo>
                  <a:lnTo>
                    <a:pt x="1394" y="2162"/>
                  </a:lnTo>
                  <a:lnTo>
                    <a:pt x="1854" y="1843"/>
                  </a:lnTo>
                  <a:lnTo>
                    <a:pt x="2325" y="1549"/>
                  </a:lnTo>
                  <a:lnTo>
                    <a:pt x="2808" y="1280"/>
                  </a:lnTo>
                  <a:lnTo>
                    <a:pt x="3301" y="1037"/>
                  </a:lnTo>
                  <a:lnTo>
                    <a:pt x="3803" y="820"/>
                  </a:lnTo>
                  <a:lnTo>
                    <a:pt x="4312" y="627"/>
                  </a:lnTo>
                  <a:lnTo>
                    <a:pt x="4830" y="461"/>
                  </a:lnTo>
                  <a:lnTo>
                    <a:pt x="5353" y="320"/>
                  </a:lnTo>
                  <a:lnTo>
                    <a:pt x="5881" y="205"/>
                  </a:lnTo>
                  <a:lnTo>
                    <a:pt x="6413" y="115"/>
                  </a:lnTo>
                  <a:lnTo>
                    <a:pt x="6949" y="51"/>
                  </a:lnTo>
                  <a:lnTo>
                    <a:pt x="7485" y="13"/>
                  </a:lnTo>
                  <a:lnTo>
                    <a:pt x="8024" y="0"/>
                  </a:lnTo>
                  <a:lnTo>
                    <a:pt x="8562" y="13"/>
                  </a:lnTo>
                  <a:lnTo>
                    <a:pt x="9099" y="51"/>
                  </a:lnTo>
                  <a:lnTo>
                    <a:pt x="9634" y="115"/>
                  </a:lnTo>
                  <a:lnTo>
                    <a:pt x="10167" y="205"/>
                  </a:lnTo>
                  <a:lnTo>
                    <a:pt x="10694" y="319"/>
                  </a:lnTo>
                  <a:lnTo>
                    <a:pt x="11218" y="460"/>
                  </a:lnTo>
                  <a:lnTo>
                    <a:pt x="11735" y="626"/>
                  </a:lnTo>
                  <a:lnTo>
                    <a:pt x="12245" y="818"/>
                  </a:lnTo>
                  <a:lnTo>
                    <a:pt x="12747" y="1036"/>
                  </a:lnTo>
                  <a:lnTo>
                    <a:pt x="13239" y="1278"/>
                  </a:lnTo>
                  <a:lnTo>
                    <a:pt x="13722" y="1547"/>
                  </a:lnTo>
                  <a:lnTo>
                    <a:pt x="14194" y="1841"/>
                  </a:lnTo>
                  <a:lnTo>
                    <a:pt x="14654" y="2160"/>
                  </a:lnTo>
                  <a:lnTo>
                    <a:pt x="15100" y="2506"/>
                  </a:lnTo>
                  <a:lnTo>
                    <a:pt x="15532" y="2877"/>
                  </a:lnTo>
                  <a:lnTo>
                    <a:pt x="15950" y="3273"/>
                  </a:lnTo>
                  <a:close/>
                  <a:moveTo>
                    <a:pt x="14055" y="5373"/>
                  </a:moveTo>
                  <a:lnTo>
                    <a:pt x="12946" y="6481"/>
                  </a:lnTo>
                  <a:lnTo>
                    <a:pt x="12921" y="6456"/>
                  </a:lnTo>
                  <a:lnTo>
                    <a:pt x="12897" y="6430"/>
                  </a:lnTo>
                  <a:lnTo>
                    <a:pt x="12871" y="6404"/>
                  </a:lnTo>
                  <a:lnTo>
                    <a:pt x="12846" y="6379"/>
                  </a:lnTo>
                  <a:lnTo>
                    <a:pt x="12592" y="6137"/>
                  </a:lnTo>
                  <a:lnTo>
                    <a:pt x="12329" y="5912"/>
                  </a:lnTo>
                  <a:lnTo>
                    <a:pt x="12058" y="5702"/>
                  </a:lnTo>
                  <a:lnTo>
                    <a:pt x="11778" y="5507"/>
                  </a:lnTo>
                  <a:lnTo>
                    <a:pt x="11491" y="5328"/>
                  </a:lnTo>
                  <a:lnTo>
                    <a:pt x="11198" y="5165"/>
                  </a:lnTo>
                  <a:lnTo>
                    <a:pt x="10898" y="5017"/>
                  </a:lnTo>
                  <a:lnTo>
                    <a:pt x="10592" y="4885"/>
                  </a:lnTo>
                  <a:lnTo>
                    <a:pt x="10282" y="4768"/>
                  </a:lnTo>
                  <a:lnTo>
                    <a:pt x="9967" y="4667"/>
                  </a:lnTo>
                  <a:lnTo>
                    <a:pt x="9649" y="4582"/>
                  </a:lnTo>
                  <a:lnTo>
                    <a:pt x="9328" y="4512"/>
                  </a:lnTo>
                  <a:lnTo>
                    <a:pt x="9004" y="4457"/>
                  </a:lnTo>
                  <a:lnTo>
                    <a:pt x="8679" y="4418"/>
                  </a:lnTo>
                  <a:lnTo>
                    <a:pt x="8352" y="4395"/>
                  </a:lnTo>
                  <a:lnTo>
                    <a:pt x="8024" y="4387"/>
                  </a:lnTo>
                  <a:lnTo>
                    <a:pt x="7697" y="4395"/>
                  </a:lnTo>
                  <a:lnTo>
                    <a:pt x="7370" y="4418"/>
                  </a:lnTo>
                  <a:lnTo>
                    <a:pt x="7044" y="4457"/>
                  </a:lnTo>
                  <a:lnTo>
                    <a:pt x="6721" y="4512"/>
                  </a:lnTo>
                  <a:lnTo>
                    <a:pt x="6399" y="4582"/>
                  </a:lnTo>
                  <a:lnTo>
                    <a:pt x="6081" y="4668"/>
                  </a:lnTo>
                  <a:lnTo>
                    <a:pt x="5767" y="4769"/>
                  </a:lnTo>
                  <a:lnTo>
                    <a:pt x="5457" y="4886"/>
                  </a:lnTo>
                  <a:lnTo>
                    <a:pt x="5151" y="5018"/>
                  </a:lnTo>
                  <a:lnTo>
                    <a:pt x="4851" y="5166"/>
                  </a:lnTo>
                  <a:lnTo>
                    <a:pt x="4558" y="5329"/>
                  </a:lnTo>
                  <a:lnTo>
                    <a:pt x="4271" y="5509"/>
                  </a:lnTo>
                  <a:lnTo>
                    <a:pt x="3991" y="5703"/>
                  </a:lnTo>
                  <a:lnTo>
                    <a:pt x="3720" y="5913"/>
                  </a:lnTo>
                  <a:lnTo>
                    <a:pt x="3457" y="6139"/>
                  </a:lnTo>
                  <a:lnTo>
                    <a:pt x="3203" y="6380"/>
                  </a:lnTo>
                  <a:lnTo>
                    <a:pt x="3178" y="6406"/>
                  </a:lnTo>
                  <a:lnTo>
                    <a:pt x="3154" y="6431"/>
                  </a:lnTo>
                  <a:lnTo>
                    <a:pt x="3129" y="6456"/>
                  </a:lnTo>
                  <a:lnTo>
                    <a:pt x="3104" y="6482"/>
                  </a:lnTo>
                  <a:lnTo>
                    <a:pt x="1996" y="5374"/>
                  </a:lnTo>
                  <a:lnTo>
                    <a:pt x="2020" y="5348"/>
                  </a:lnTo>
                  <a:lnTo>
                    <a:pt x="2045" y="5322"/>
                  </a:lnTo>
                  <a:lnTo>
                    <a:pt x="2069" y="5297"/>
                  </a:lnTo>
                  <a:lnTo>
                    <a:pt x="2095" y="5272"/>
                  </a:lnTo>
                  <a:lnTo>
                    <a:pt x="2406" y="4975"/>
                  </a:lnTo>
                  <a:lnTo>
                    <a:pt x="2731" y="4697"/>
                  </a:lnTo>
                  <a:lnTo>
                    <a:pt x="3065" y="4439"/>
                  </a:lnTo>
                  <a:lnTo>
                    <a:pt x="3408" y="4199"/>
                  </a:lnTo>
                  <a:lnTo>
                    <a:pt x="3761" y="3980"/>
                  </a:lnTo>
                  <a:lnTo>
                    <a:pt x="4122" y="3779"/>
                  </a:lnTo>
                  <a:lnTo>
                    <a:pt x="4491" y="3596"/>
                  </a:lnTo>
                  <a:lnTo>
                    <a:pt x="4866" y="3434"/>
                  </a:lnTo>
                  <a:lnTo>
                    <a:pt x="5247" y="3290"/>
                  </a:lnTo>
                  <a:lnTo>
                    <a:pt x="5635" y="3166"/>
                  </a:lnTo>
                  <a:lnTo>
                    <a:pt x="6026" y="3061"/>
                  </a:lnTo>
                  <a:lnTo>
                    <a:pt x="6421" y="2974"/>
                  </a:lnTo>
                  <a:lnTo>
                    <a:pt x="6819" y="2907"/>
                  </a:lnTo>
                  <a:lnTo>
                    <a:pt x="7219" y="2859"/>
                  </a:lnTo>
                  <a:lnTo>
                    <a:pt x="7622" y="2831"/>
                  </a:lnTo>
                  <a:lnTo>
                    <a:pt x="8024" y="2821"/>
                  </a:lnTo>
                  <a:lnTo>
                    <a:pt x="8427" y="2831"/>
                  </a:lnTo>
                  <a:lnTo>
                    <a:pt x="8829" y="2859"/>
                  </a:lnTo>
                  <a:lnTo>
                    <a:pt x="9229" y="2907"/>
                  </a:lnTo>
                  <a:lnTo>
                    <a:pt x="9627" y="2973"/>
                  </a:lnTo>
                  <a:lnTo>
                    <a:pt x="10022" y="3060"/>
                  </a:lnTo>
                  <a:lnTo>
                    <a:pt x="10413" y="3165"/>
                  </a:lnTo>
                  <a:lnTo>
                    <a:pt x="10801" y="3289"/>
                  </a:lnTo>
                  <a:lnTo>
                    <a:pt x="11182" y="3433"/>
                  </a:lnTo>
                  <a:lnTo>
                    <a:pt x="11558" y="3595"/>
                  </a:lnTo>
                  <a:lnTo>
                    <a:pt x="11926" y="3777"/>
                  </a:lnTo>
                  <a:lnTo>
                    <a:pt x="12287" y="3978"/>
                  </a:lnTo>
                  <a:lnTo>
                    <a:pt x="12640" y="4198"/>
                  </a:lnTo>
                  <a:lnTo>
                    <a:pt x="12984" y="4437"/>
                  </a:lnTo>
                  <a:lnTo>
                    <a:pt x="13318" y="4696"/>
                  </a:lnTo>
                  <a:lnTo>
                    <a:pt x="13641" y="4973"/>
                  </a:lnTo>
                  <a:lnTo>
                    <a:pt x="13954" y="5270"/>
                  </a:lnTo>
                  <a:lnTo>
                    <a:pt x="13980" y="5295"/>
                  </a:lnTo>
                  <a:lnTo>
                    <a:pt x="14005" y="5321"/>
                  </a:lnTo>
                  <a:lnTo>
                    <a:pt x="14030" y="5347"/>
                  </a:lnTo>
                  <a:lnTo>
                    <a:pt x="14055" y="5373"/>
                  </a:lnTo>
                  <a:close/>
                  <a:moveTo>
                    <a:pt x="11928" y="7501"/>
                  </a:moveTo>
                  <a:lnTo>
                    <a:pt x="10854" y="8576"/>
                  </a:lnTo>
                  <a:lnTo>
                    <a:pt x="10829" y="8549"/>
                  </a:lnTo>
                  <a:lnTo>
                    <a:pt x="10805" y="8523"/>
                  </a:lnTo>
                  <a:lnTo>
                    <a:pt x="10780" y="8498"/>
                  </a:lnTo>
                  <a:lnTo>
                    <a:pt x="10754" y="8472"/>
                  </a:lnTo>
                  <a:lnTo>
                    <a:pt x="10610" y="8336"/>
                  </a:lnTo>
                  <a:lnTo>
                    <a:pt x="10462" y="8208"/>
                  </a:lnTo>
                  <a:lnTo>
                    <a:pt x="10307" y="8089"/>
                  </a:lnTo>
                  <a:lnTo>
                    <a:pt x="10150" y="7980"/>
                  </a:lnTo>
                  <a:lnTo>
                    <a:pt x="9987" y="7878"/>
                  </a:lnTo>
                  <a:lnTo>
                    <a:pt x="9821" y="7785"/>
                  </a:lnTo>
                  <a:lnTo>
                    <a:pt x="9651" y="7702"/>
                  </a:lnTo>
                  <a:lnTo>
                    <a:pt x="9479" y="7627"/>
                  </a:lnTo>
                  <a:lnTo>
                    <a:pt x="9303" y="7561"/>
                  </a:lnTo>
                  <a:lnTo>
                    <a:pt x="9124" y="7504"/>
                  </a:lnTo>
                  <a:lnTo>
                    <a:pt x="8945" y="7456"/>
                  </a:lnTo>
                  <a:lnTo>
                    <a:pt x="8762" y="7416"/>
                  </a:lnTo>
                  <a:lnTo>
                    <a:pt x="8580" y="7384"/>
                  </a:lnTo>
                  <a:lnTo>
                    <a:pt x="8395" y="7362"/>
                  </a:lnTo>
                  <a:lnTo>
                    <a:pt x="8210" y="7349"/>
                  </a:lnTo>
                  <a:lnTo>
                    <a:pt x="8025" y="7345"/>
                  </a:lnTo>
                  <a:lnTo>
                    <a:pt x="7839" y="7349"/>
                  </a:lnTo>
                  <a:lnTo>
                    <a:pt x="7655" y="7363"/>
                  </a:lnTo>
                  <a:lnTo>
                    <a:pt x="7470" y="7385"/>
                  </a:lnTo>
                  <a:lnTo>
                    <a:pt x="7287" y="7416"/>
                  </a:lnTo>
                  <a:lnTo>
                    <a:pt x="7105" y="7456"/>
                  </a:lnTo>
                  <a:lnTo>
                    <a:pt x="6926" y="7504"/>
                  </a:lnTo>
                  <a:lnTo>
                    <a:pt x="6747" y="7561"/>
                  </a:lnTo>
                  <a:lnTo>
                    <a:pt x="6571" y="7627"/>
                  </a:lnTo>
                  <a:lnTo>
                    <a:pt x="6399" y="7703"/>
                  </a:lnTo>
                  <a:lnTo>
                    <a:pt x="6229" y="7786"/>
                  </a:lnTo>
                  <a:lnTo>
                    <a:pt x="6063" y="7878"/>
                  </a:lnTo>
                  <a:lnTo>
                    <a:pt x="5900" y="7980"/>
                  </a:lnTo>
                  <a:lnTo>
                    <a:pt x="5742" y="8090"/>
                  </a:lnTo>
                  <a:lnTo>
                    <a:pt x="5588" y="8209"/>
                  </a:lnTo>
                  <a:lnTo>
                    <a:pt x="5440" y="8337"/>
                  </a:lnTo>
                  <a:lnTo>
                    <a:pt x="5297" y="8473"/>
                  </a:lnTo>
                  <a:lnTo>
                    <a:pt x="5271" y="8498"/>
                  </a:lnTo>
                  <a:lnTo>
                    <a:pt x="5246" y="8524"/>
                  </a:lnTo>
                  <a:lnTo>
                    <a:pt x="5222" y="8550"/>
                  </a:lnTo>
                  <a:lnTo>
                    <a:pt x="5198" y="8576"/>
                  </a:lnTo>
                  <a:lnTo>
                    <a:pt x="4123" y="7501"/>
                  </a:lnTo>
                  <a:lnTo>
                    <a:pt x="4147" y="7476"/>
                  </a:lnTo>
                  <a:lnTo>
                    <a:pt x="4172" y="7450"/>
                  </a:lnTo>
                  <a:lnTo>
                    <a:pt x="4197" y="7425"/>
                  </a:lnTo>
                  <a:lnTo>
                    <a:pt x="4222" y="7399"/>
                  </a:lnTo>
                  <a:lnTo>
                    <a:pt x="4422" y="7209"/>
                  </a:lnTo>
                  <a:lnTo>
                    <a:pt x="4629" y="7030"/>
                  </a:lnTo>
                  <a:lnTo>
                    <a:pt x="4843" y="6865"/>
                  </a:lnTo>
                  <a:lnTo>
                    <a:pt x="5064" y="6711"/>
                  </a:lnTo>
                  <a:lnTo>
                    <a:pt x="5290" y="6571"/>
                  </a:lnTo>
                  <a:lnTo>
                    <a:pt x="5522" y="6441"/>
                  </a:lnTo>
                  <a:lnTo>
                    <a:pt x="5758" y="6325"/>
                  </a:lnTo>
                  <a:lnTo>
                    <a:pt x="6000" y="6220"/>
                  </a:lnTo>
                  <a:lnTo>
                    <a:pt x="6243" y="6128"/>
                  </a:lnTo>
                  <a:lnTo>
                    <a:pt x="6492" y="6048"/>
                  </a:lnTo>
                  <a:lnTo>
                    <a:pt x="6743" y="5981"/>
                  </a:lnTo>
                  <a:lnTo>
                    <a:pt x="6997" y="5925"/>
                  </a:lnTo>
                  <a:lnTo>
                    <a:pt x="7252" y="5882"/>
                  </a:lnTo>
                  <a:lnTo>
                    <a:pt x="7508" y="5851"/>
                  </a:lnTo>
                  <a:lnTo>
                    <a:pt x="7766" y="5833"/>
                  </a:lnTo>
                  <a:lnTo>
                    <a:pt x="8025" y="5827"/>
                  </a:lnTo>
                  <a:lnTo>
                    <a:pt x="8283" y="5833"/>
                  </a:lnTo>
                  <a:lnTo>
                    <a:pt x="8541" y="5851"/>
                  </a:lnTo>
                  <a:lnTo>
                    <a:pt x="8797" y="5882"/>
                  </a:lnTo>
                  <a:lnTo>
                    <a:pt x="9053" y="5925"/>
                  </a:lnTo>
                  <a:lnTo>
                    <a:pt x="9306" y="5981"/>
                  </a:lnTo>
                  <a:lnTo>
                    <a:pt x="9557" y="6048"/>
                  </a:lnTo>
                  <a:lnTo>
                    <a:pt x="9806" y="6127"/>
                  </a:lnTo>
                  <a:lnTo>
                    <a:pt x="10050" y="6219"/>
                  </a:lnTo>
                  <a:lnTo>
                    <a:pt x="10291" y="6324"/>
                  </a:lnTo>
                  <a:lnTo>
                    <a:pt x="10528" y="6440"/>
                  </a:lnTo>
                  <a:lnTo>
                    <a:pt x="10760" y="6570"/>
                  </a:lnTo>
                  <a:lnTo>
                    <a:pt x="10985" y="6710"/>
                  </a:lnTo>
                  <a:lnTo>
                    <a:pt x="11206" y="6864"/>
                  </a:lnTo>
                  <a:lnTo>
                    <a:pt x="11421" y="7029"/>
                  </a:lnTo>
                  <a:lnTo>
                    <a:pt x="11627" y="7208"/>
                  </a:lnTo>
                  <a:lnTo>
                    <a:pt x="11828" y="7398"/>
                  </a:lnTo>
                  <a:lnTo>
                    <a:pt x="11853" y="7424"/>
                  </a:lnTo>
                  <a:lnTo>
                    <a:pt x="11878" y="7449"/>
                  </a:lnTo>
                  <a:lnTo>
                    <a:pt x="11903" y="7475"/>
                  </a:lnTo>
                  <a:lnTo>
                    <a:pt x="11928" y="7501"/>
                  </a:lnTo>
                  <a:close/>
                </a:path>
              </a:pathLst>
            </a:custGeom>
            <a:grpFill/>
            <a:ln w="9525">
              <a:noFill/>
              <a:round/>
              <a:headEnd/>
              <a:tailEnd/>
            </a:ln>
          </p:spPr>
          <p:txBody>
            <a:bodyPr/>
            <a:lstStyle/>
            <a:p>
              <a:pPr algn="ctr" eaLnBrk="1" fontAlgn="auto" hangingPunct="1">
                <a:spcBef>
                  <a:spcPts val="0"/>
                </a:spcBef>
                <a:spcAft>
                  <a:spcPts val="0"/>
                </a:spcAft>
                <a:defRPr/>
              </a:pPr>
              <a:endParaRPr lang="zh-CN" altLang="en-US" sz="1200" ker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124" name="Freeform 159"/>
          <p:cNvSpPr/>
          <p:nvPr/>
        </p:nvSpPr>
        <p:spPr bwMode="gray">
          <a:xfrm flipH="1">
            <a:off x="982325" y="1574127"/>
            <a:ext cx="1240474" cy="648430"/>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tIns="108000" rtlCol="0" anchor="ctr">
            <a:noAutofit/>
          </a:bodyPr>
          <a:lstStyle>
            <a:defPPr>
              <a:defRPr lang="en-US"/>
            </a:defPPr>
            <a:lvl1pPr marL="0" algn="l" defTabSz="914478" rtl="0" eaLnBrk="1" latinLnBrk="0" hangingPunct="1">
              <a:defRPr sz="1800" kern="1200">
                <a:solidFill>
                  <a:schemeClr val="lt1"/>
                </a:solidFill>
                <a:latin typeface="+mn-lt"/>
                <a:ea typeface="+mn-ea"/>
                <a:cs typeface="+mn-cs"/>
              </a:defRPr>
            </a:lvl1pPr>
            <a:lvl2pPr marL="457240" algn="l" defTabSz="914478" rtl="0" eaLnBrk="1" latinLnBrk="0" hangingPunct="1">
              <a:defRPr sz="1800" kern="1200">
                <a:solidFill>
                  <a:schemeClr val="lt1"/>
                </a:solidFill>
                <a:latin typeface="+mn-lt"/>
                <a:ea typeface="+mn-ea"/>
                <a:cs typeface="+mn-cs"/>
              </a:defRPr>
            </a:lvl2pPr>
            <a:lvl3pPr marL="914478" algn="l" defTabSz="914478" rtl="0" eaLnBrk="1" latinLnBrk="0" hangingPunct="1">
              <a:defRPr sz="1800" kern="1200">
                <a:solidFill>
                  <a:schemeClr val="lt1"/>
                </a:solidFill>
                <a:latin typeface="+mn-lt"/>
                <a:ea typeface="+mn-ea"/>
                <a:cs typeface="+mn-cs"/>
              </a:defRPr>
            </a:lvl3pPr>
            <a:lvl4pPr marL="1371718" algn="l" defTabSz="914478" rtl="0" eaLnBrk="1" latinLnBrk="0" hangingPunct="1">
              <a:defRPr sz="1800" kern="1200">
                <a:solidFill>
                  <a:schemeClr val="lt1"/>
                </a:solidFill>
                <a:latin typeface="+mn-lt"/>
                <a:ea typeface="+mn-ea"/>
                <a:cs typeface="+mn-cs"/>
              </a:defRPr>
            </a:lvl4pPr>
            <a:lvl5pPr marL="1828957" algn="l" defTabSz="914478" rtl="0" eaLnBrk="1" latinLnBrk="0" hangingPunct="1">
              <a:defRPr sz="1800" kern="1200">
                <a:solidFill>
                  <a:schemeClr val="lt1"/>
                </a:solidFill>
                <a:latin typeface="+mn-lt"/>
                <a:ea typeface="+mn-ea"/>
                <a:cs typeface="+mn-cs"/>
              </a:defRPr>
            </a:lvl5pPr>
            <a:lvl6pPr marL="2286196" algn="l" defTabSz="914478" rtl="0" eaLnBrk="1" latinLnBrk="0" hangingPunct="1">
              <a:defRPr sz="1800" kern="1200">
                <a:solidFill>
                  <a:schemeClr val="lt1"/>
                </a:solidFill>
                <a:latin typeface="+mn-lt"/>
                <a:ea typeface="+mn-ea"/>
                <a:cs typeface="+mn-cs"/>
              </a:defRPr>
            </a:lvl6pPr>
            <a:lvl7pPr marL="2743435" algn="l" defTabSz="914478" rtl="0" eaLnBrk="1" latinLnBrk="0" hangingPunct="1">
              <a:defRPr sz="1800" kern="1200">
                <a:solidFill>
                  <a:schemeClr val="lt1"/>
                </a:solidFill>
                <a:latin typeface="+mn-lt"/>
                <a:ea typeface="+mn-ea"/>
                <a:cs typeface="+mn-cs"/>
              </a:defRPr>
            </a:lvl7pPr>
            <a:lvl8pPr marL="3200675" algn="l" defTabSz="914478" rtl="0" eaLnBrk="1" latinLnBrk="0" hangingPunct="1">
              <a:defRPr sz="1800" kern="1200">
                <a:solidFill>
                  <a:schemeClr val="lt1"/>
                </a:solidFill>
                <a:latin typeface="+mn-lt"/>
                <a:ea typeface="+mn-ea"/>
                <a:cs typeface="+mn-cs"/>
              </a:defRPr>
            </a:lvl8pPr>
            <a:lvl9pPr marL="3657913" algn="l" defTabSz="914478" rtl="0" eaLnBrk="1" latinLnBrk="0" hangingPunct="1">
              <a:defRPr sz="1800" kern="1200">
                <a:solidFill>
                  <a:schemeClr val="lt1"/>
                </a:solidFill>
                <a:latin typeface="+mn-lt"/>
                <a:ea typeface="+mn-ea"/>
                <a:cs typeface="+mn-cs"/>
              </a:defRPr>
            </a:lvl9pPr>
          </a:lstStyle>
          <a:p>
            <a:pPr algn="ctr"/>
            <a:r>
              <a:rPr lang="zh-CN" altLang="en-US" sz="1400" smtClean="0">
                <a:solidFill>
                  <a:schemeClr val="bg1">
                    <a:lumMod val="50000"/>
                  </a:schemeClr>
                </a:solidFill>
              </a:rPr>
              <a:t>外部网络</a:t>
            </a:r>
            <a:endParaRPr lang="en-US" sz="1400">
              <a:solidFill>
                <a:schemeClr val="bg1">
                  <a:lumMod val="50000"/>
                </a:schemeClr>
              </a:solidFill>
            </a:endParaRPr>
          </a:p>
        </p:txBody>
      </p:sp>
      <p:sp>
        <p:nvSpPr>
          <p:cNvPr id="125" name="Freeform 159"/>
          <p:cNvSpPr/>
          <p:nvPr/>
        </p:nvSpPr>
        <p:spPr bwMode="gray">
          <a:xfrm flipH="1">
            <a:off x="3108443" y="1574127"/>
            <a:ext cx="1240474" cy="648430"/>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tIns="108000" rtlCol="0" anchor="ctr">
            <a:noAutofit/>
          </a:bodyPr>
          <a:lstStyle/>
          <a:p>
            <a:pPr algn="ctr"/>
            <a:r>
              <a:rPr lang="zh-CN" altLang="en-US" sz="1400">
                <a:solidFill>
                  <a:schemeClr val="bg1">
                    <a:lumMod val="50000"/>
                  </a:schemeClr>
                </a:solidFill>
              </a:rPr>
              <a:t>网络服务</a:t>
            </a:r>
            <a:endParaRPr lang="en-US" altLang="zh-CN" sz="1400">
              <a:solidFill>
                <a:schemeClr val="bg1">
                  <a:lumMod val="50000"/>
                </a:schemeClr>
              </a:solidFill>
            </a:endParaRPr>
          </a:p>
          <a:p>
            <a:pPr algn="ctr"/>
            <a:r>
              <a:rPr lang="zh-CN" altLang="en-US" sz="1400">
                <a:solidFill>
                  <a:schemeClr val="bg1">
                    <a:lumMod val="50000"/>
                  </a:schemeClr>
                </a:solidFill>
              </a:rPr>
              <a:t>资源</a:t>
            </a:r>
            <a:endParaRPr lang="en-US" sz="1400">
              <a:solidFill>
                <a:schemeClr val="bg1">
                  <a:lumMod val="50000"/>
                </a:schemeClr>
              </a:solidFill>
            </a:endParaRPr>
          </a:p>
        </p:txBody>
      </p:sp>
      <p:cxnSp>
        <p:nvCxnSpPr>
          <p:cNvPr id="126" name="直接连接符 125"/>
          <p:cNvCxnSpPr/>
          <p:nvPr/>
        </p:nvCxnSpPr>
        <p:spPr bwMode="gray">
          <a:xfrm>
            <a:off x="1985121" y="2269827"/>
            <a:ext cx="495259" cy="621078"/>
          </a:xfrm>
          <a:prstGeom prst="line">
            <a:avLst/>
          </a:prstGeom>
          <a:ln>
            <a:solidFill>
              <a:schemeClr val="bg1">
                <a:lumMod val="6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27" name="直接连接符 126"/>
          <p:cNvCxnSpPr/>
          <p:nvPr/>
        </p:nvCxnSpPr>
        <p:spPr bwMode="gray">
          <a:xfrm flipH="1">
            <a:off x="2952717" y="2279440"/>
            <a:ext cx="464971" cy="611465"/>
          </a:xfrm>
          <a:prstGeom prst="line">
            <a:avLst/>
          </a:prstGeom>
          <a:ln>
            <a:solidFill>
              <a:schemeClr val="bg1">
                <a:lumMod val="6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pic>
        <p:nvPicPr>
          <p:cNvPr id="128" name="图片 127"/>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bwMode="gray">
          <a:xfrm>
            <a:off x="3944130" y="2611059"/>
            <a:ext cx="865097" cy="491769"/>
          </a:xfrm>
          <a:prstGeom prst="rect">
            <a:avLst/>
          </a:prstGeom>
        </p:spPr>
      </p:pic>
      <p:sp>
        <p:nvSpPr>
          <p:cNvPr id="52" name="五边形 51"/>
          <p:cNvSpPr/>
          <p:nvPr/>
        </p:nvSpPr>
        <p:spPr bwMode="gray">
          <a:xfrm>
            <a:off x="5773628" y="98481"/>
            <a:ext cx="9000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smtClean="0">
                <a:latin typeface="Huawei Sans" panose="020C0503030203020204" pitchFamily="34" charset="0"/>
                <a:ea typeface="方正兰亭黑简体" panose="02000000000000000000" pitchFamily="2" charset="-122"/>
                <a:sym typeface="Huawei Sans" panose="020C0503030203020204" pitchFamily="34" charset="0"/>
              </a:rPr>
              <a:t>站点管理</a:t>
            </a:r>
            <a:endPar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5" name="燕尾形 54"/>
          <p:cNvSpPr/>
          <p:nvPr/>
        </p:nvSpPr>
        <p:spPr bwMode="gray">
          <a:xfrm>
            <a:off x="9109268" y="98481"/>
            <a:ext cx="9000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smtClean="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逻辑网络</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6" name="燕尾形 55"/>
          <p:cNvSpPr/>
          <p:nvPr/>
        </p:nvSpPr>
        <p:spPr bwMode="gray">
          <a:xfrm>
            <a:off x="9925178" y="9848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业务部署</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0" name="燕尾形 59"/>
          <p:cNvSpPr/>
          <p:nvPr/>
        </p:nvSpPr>
        <p:spPr bwMode="gray">
          <a:xfrm>
            <a:off x="8221358" y="98481"/>
            <a:ext cx="972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smtClean="0">
                <a:latin typeface="Huawei Sans" panose="020C0503030203020204" pitchFamily="34" charset="0"/>
                <a:ea typeface="方正兰亭黑简体" panose="02000000000000000000" pitchFamily="2" charset="-122"/>
                <a:sym typeface="Huawei Sans" panose="020C0503030203020204" pitchFamily="34" charset="0"/>
              </a:rPr>
              <a:t>Fabric</a:t>
            </a:r>
            <a:r>
              <a:rPr lang="zh-CN" altLang="en-US" sz="1200" kern="0" dirty="0" smtClean="0">
                <a:latin typeface="Huawei Sans" panose="020C0503030203020204" pitchFamily="34" charset="0"/>
                <a:ea typeface="方正兰亭黑简体" panose="02000000000000000000" pitchFamily="2" charset="-122"/>
                <a:sym typeface="Huawei Sans" panose="020C0503030203020204" pitchFamily="34" charset="0"/>
              </a:rPr>
              <a:t>网络</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1" name="燕尾形 60"/>
          <p:cNvSpPr/>
          <p:nvPr/>
        </p:nvSpPr>
        <p:spPr bwMode="gray">
          <a:xfrm>
            <a:off x="7405448" y="9848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网络规划</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2" name="燕尾形 61"/>
          <p:cNvSpPr/>
          <p:nvPr/>
        </p:nvSpPr>
        <p:spPr bwMode="gray">
          <a:xfrm>
            <a:off x="6589538" y="9848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设备管理</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3" name="燕尾形 62"/>
          <p:cNvSpPr/>
          <p:nvPr/>
        </p:nvSpPr>
        <p:spPr bwMode="gray">
          <a:xfrm>
            <a:off x="10741088" y="98481"/>
            <a:ext cx="1008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WLAN</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业务</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4194146380"/>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a:stretch>
            <a:fillRect/>
          </a:stretch>
        </p:blipFill>
        <p:spPr bwMode="gray">
          <a:xfrm>
            <a:off x="5200482" y="3079264"/>
            <a:ext cx="6492917" cy="3104457"/>
          </a:xfrm>
          <a:prstGeom prst="rect">
            <a:avLst/>
          </a:prstGeom>
          <a:ln w="12700">
            <a:solidFill>
              <a:schemeClr val="bg1">
                <a:lumMod val="85000"/>
              </a:schemeClr>
            </a:solidFill>
          </a:ln>
        </p:spPr>
      </p:pic>
      <p:sp>
        <p:nvSpPr>
          <p:cNvPr id="5" name="标题 4"/>
          <p:cNvSpPr>
            <a:spLocks noGrp="1"/>
          </p:cNvSpPr>
          <p:nvPr>
            <p:ph type="title"/>
          </p:nvPr>
        </p:nvSpPr>
        <p:spPr bwMode="gray"/>
        <p:txBody>
          <a:bodyPr>
            <a:normAutofit/>
          </a:bodyPr>
          <a:lstStyle/>
          <a:p>
            <a:r>
              <a:rPr lang="zh-CN" altLang="en-US" dirty="0"/>
              <a:t>实验</a:t>
            </a:r>
            <a:r>
              <a:rPr lang="zh-CN" altLang="en-US" dirty="0" smtClean="0"/>
              <a:t>：创建</a:t>
            </a:r>
            <a:r>
              <a:rPr lang="en-US" altLang="zh-CN" dirty="0" smtClean="0"/>
              <a:t>VN</a:t>
            </a:r>
            <a:r>
              <a:rPr lang="zh-CN" altLang="en-US" dirty="0"/>
              <a:t> </a:t>
            </a:r>
            <a:r>
              <a:rPr lang="en-US" altLang="zh-CN" dirty="0" smtClean="0"/>
              <a:t>(3)</a:t>
            </a:r>
            <a:endParaRPr lang="zh-CN" altLang="en-US" dirty="0"/>
          </a:p>
        </p:txBody>
      </p:sp>
      <p:sp>
        <p:nvSpPr>
          <p:cNvPr id="86" name="矩形 85"/>
          <p:cNvSpPr/>
          <p:nvPr/>
        </p:nvSpPr>
        <p:spPr bwMode="gray">
          <a:xfrm>
            <a:off x="5101936" y="959927"/>
            <a:ext cx="6278184" cy="400110"/>
          </a:xfrm>
          <a:prstGeom prst="rect">
            <a:avLst/>
          </a:prstGeom>
        </p:spPr>
        <p:txBody>
          <a:bodyPr wrap="square">
            <a:spAutoFit/>
          </a:bodyPr>
          <a:lstStyle/>
          <a:p>
            <a:pPr algn="just">
              <a:lnSpc>
                <a:spcPts val="2400"/>
              </a:lnSpc>
              <a:spcAft>
                <a:spcPts val="600"/>
              </a:spcAft>
            </a:pPr>
            <a:r>
              <a:rPr lang="zh-CN" altLang="en-US" sz="1600" dirty="0" smtClean="0"/>
              <a:t>配置用户有线接入：</a:t>
            </a:r>
            <a:endParaRPr lang="zh-CN" altLang="en-US" sz="1600" dirty="0"/>
          </a:p>
        </p:txBody>
      </p:sp>
      <p:sp>
        <p:nvSpPr>
          <p:cNvPr id="56" name="圆角矩形 55"/>
          <p:cNvSpPr/>
          <p:nvPr/>
        </p:nvSpPr>
        <p:spPr bwMode="gray">
          <a:xfrm>
            <a:off x="878704" y="2548727"/>
            <a:ext cx="3990111" cy="3120679"/>
          </a:xfrm>
          <a:prstGeom prst="roundRect">
            <a:avLst>
              <a:gd name="adj" fmla="val 3166"/>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60" name="Freeform 159"/>
          <p:cNvSpPr/>
          <p:nvPr/>
        </p:nvSpPr>
        <p:spPr bwMode="gray">
          <a:xfrm flipH="1">
            <a:off x="1379861" y="2881293"/>
            <a:ext cx="2670047" cy="1528484"/>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rgbClr val="E3F6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Huawei Sans" panose="020C0503030203020204" pitchFamily="34" charset="0"/>
              <a:ea typeface="方正兰亭黑简体" panose="02000000000000000000" pitchFamily="2" charset="-122"/>
            </a:endParaRPr>
          </a:p>
        </p:txBody>
      </p:sp>
      <p:cxnSp>
        <p:nvCxnSpPr>
          <p:cNvPr id="61" name="Straight Connector 166"/>
          <p:cNvCxnSpPr>
            <a:stCxn id="96" idx="2"/>
            <a:endCxn id="63" idx="0"/>
          </p:cNvCxnSpPr>
          <p:nvPr/>
        </p:nvCxnSpPr>
        <p:spPr bwMode="gray">
          <a:xfrm>
            <a:off x="1731493" y="4166130"/>
            <a:ext cx="0" cy="40327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 name="Straight Connector 166"/>
          <p:cNvCxnSpPr>
            <a:stCxn id="97" idx="2"/>
            <a:endCxn id="64" idx="0"/>
          </p:cNvCxnSpPr>
          <p:nvPr/>
        </p:nvCxnSpPr>
        <p:spPr bwMode="gray">
          <a:xfrm>
            <a:off x="3662294" y="4166130"/>
            <a:ext cx="0" cy="40327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63" name="图片 76" descr="接入交换机.png"/>
          <p:cNvPicPr>
            <a:picLocks noChangeAspect="1"/>
          </p:cNvPicPr>
          <p:nvPr/>
        </p:nvPicPr>
        <p:blipFill>
          <a:blip r:embed="rId4" cstate="print"/>
          <a:stretch>
            <a:fillRect/>
          </a:stretch>
        </p:blipFill>
        <p:spPr bwMode="gray">
          <a:xfrm>
            <a:off x="1508352" y="4569407"/>
            <a:ext cx="446281" cy="365139"/>
          </a:xfrm>
          <a:prstGeom prst="rect">
            <a:avLst/>
          </a:prstGeom>
        </p:spPr>
      </p:pic>
      <p:pic>
        <p:nvPicPr>
          <p:cNvPr id="64" name="图片 63" descr="接入交换机.png"/>
          <p:cNvPicPr>
            <a:picLocks noChangeAspect="1"/>
          </p:cNvPicPr>
          <p:nvPr/>
        </p:nvPicPr>
        <p:blipFill>
          <a:blip r:embed="rId4" cstate="print"/>
          <a:stretch>
            <a:fillRect/>
          </a:stretch>
        </p:blipFill>
        <p:spPr bwMode="gray">
          <a:xfrm>
            <a:off x="3439153" y="4569407"/>
            <a:ext cx="446281" cy="365139"/>
          </a:xfrm>
          <a:prstGeom prst="rect">
            <a:avLst/>
          </a:prstGeom>
        </p:spPr>
      </p:pic>
      <p:sp>
        <p:nvSpPr>
          <p:cNvPr id="65" name="文本框 64"/>
          <p:cNvSpPr txBox="1"/>
          <p:nvPr/>
        </p:nvSpPr>
        <p:spPr bwMode="gray">
          <a:xfrm>
            <a:off x="893888" y="2723362"/>
            <a:ext cx="468398" cy="307777"/>
          </a:xfrm>
          <a:prstGeom prst="rect">
            <a:avLst/>
          </a:prstGeom>
          <a:noFill/>
        </p:spPr>
        <p:txBody>
          <a:bodyPr wrap="none" rtlCol="0">
            <a:spAutoFit/>
          </a:bodyPr>
          <a:lstStyle/>
          <a:p>
            <a:r>
              <a:rPr lang="en-US" altLang="zh-CN" sz="1400" b="1" dirty="0" smtClean="0">
                <a:latin typeface="Huawei Sans" panose="020C0503030203020204" pitchFamily="34" charset="0"/>
                <a:ea typeface="方正兰亭黑简体" panose="02000000000000000000" pitchFamily="2" charset="-122"/>
                <a:cs typeface="Huawei Sans" panose="020C0503030203020204" pitchFamily="34" charset="0"/>
              </a:rPr>
              <a:t>HQ</a:t>
            </a:r>
            <a:endParaRPr lang="zh-CN" altLang="en-US" sz="1400" b="1" dirty="0">
              <a:latin typeface="Huawei Sans" panose="020C0503030203020204" pitchFamily="34" charset="0"/>
              <a:ea typeface="方正兰亭黑简体" panose="02000000000000000000" pitchFamily="2" charset="-122"/>
              <a:cs typeface="Huawei Sans" panose="020C0503030203020204" pitchFamily="34" charset="0"/>
            </a:endParaRPr>
          </a:p>
        </p:txBody>
      </p:sp>
      <p:pic>
        <p:nvPicPr>
          <p:cNvPr id="66" name="图片 105" descr="AP.png"/>
          <p:cNvPicPr>
            <a:picLocks noChangeAspect="1"/>
          </p:cNvPicPr>
          <p:nvPr/>
        </p:nvPicPr>
        <p:blipFill>
          <a:blip r:embed="rId5" cstate="print"/>
          <a:stretch>
            <a:fillRect/>
          </a:stretch>
        </p:blipFill>
        <p:spPr bwMode="gray">
          <a:xfrm>
            <a:off x="4345712" y="4601092"/>
            <a:ext cx="368827" cy="301768"/>
          </a:xfrm>
          <a:prstGeom prst="rect">
            <a:avLst/>
          </a:prstGeom>
        </p:spPr>
      </p:pic>
      <p:cxnSp>
        <p:nvCxnSpPr>
          <p:cNvPr id="67" name="Straight Connector 166"/>
          <p:cNvCxnSpPr>
            <a:stCxn id="64" idx="3"/>
            <a:endCxn id="66" idx="1"/>
          </p:cNvCxnSpPr>
          <p:nvPr/>
        </p:nvCxnSpPr>
        <p:spPr bwMode="gray">
          <a:xfrm flipV="1">
            <a:off x="3885434" y="4751976"/>
            <a:ext cx="460278" cy="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68" name="图片 14" descr="日志告警服务器-蓝.png"/>
          <p:cNvPicPr>
            <a:picLocks noChangeAspect="1"/>
          </p:cNvPicPr>
          <p:nvPr/>
        </p:nvPicPr>
        <p:blipFill>
          <a:blip r:embed="rId6" cstate="print"/>
          <a:stretch>
            <a:fillRect/>
          </a:stretch>
        </p:blipFill>
        <p:spPr bwMode="gray">
          <a:xfrm>
            <a:off x="4300639" y="5112943"/>
            <a:ext cx="445956" cy="278465"/>
          </a:xfrm>
          <a:prstGeom prst="rect">
            <a:avLst/>
          </a:prstGeom>
        </p:spPr>
      </p:pic>
      <p:pic>
        <p:nvPicPr>
          <p:cNvPr id="69" name="图片 68" descr="PC.png">
            <a:extLst>
              <a:ext uri="{FF2B5EF4-FFF2-40B4-BE49-F238E27FC236}">
                <a16:creationId xmlns="" xmlns:a16="http://schemas.microsoft.com/office/drawing/2014/main" id="{4666702E-823D-4236-BF2F-880359158C83}"/>
              </a:ext>
            </a:extLst>
          </p:cNvPr>
          <p:cNvPicPr>
            <a:picLocks noChangeAspect="1"/>
          </p:cNvPicPr>
          <p:nvPr/>
        </p:nvPicPr>
        <p:blipFill>
          <a:blip r:embed="rId7" cstate="print"/>
          <a:stretch>
            <a:fillRect/>
          </a:stretch>
        </p:blipFill>
        <p:spPr bwMode="gray">
          <a:xfrm>
            <a:off x="1508739" y="5084666"/>
            <a:ext cx="445506" cy="342149"/>
          </a:xfrm>
          <a:prstGeom prst="rect">
            <a:avLst/>
          </a:prstGeom>
        </p:spPr>
      </p:pic>
      <p:pic>
        <p:nvPicPr>
          <p:cNvPr id="70" name="图片 69" descr="PC.png">
            <a:extLst>
              <a:ext uri="{FF2B5EF4-FFF2-40B4-BE49-F238E27FC236}">
                <a16:creationId xmlns="" xmlns:a16="http://schemas.microsoft.com/office/drawing/2014/main" id="{4666702E-823D-4236-BF2F-880359158C83}"/>
              </a:ext>
            </a:extLst>
          </p:cNvPr>
          <p:cNvPicPr>
            <a:picLocks noChangeAspect="1"/>
          </p:cNvPicPr>
          <p:nvPr/>
        </p:nvPicPr>
        <p:blipFill>
          <a:blip r:embed="rId7" cstate="print"/>
          <a:stretch>
            <a:fillRect/>
          </a:stretch>
        </p:blipFill>
        <p:spPr bwMode="gray">
          <a:xfrm>
            <a:off x="3439540" y="5084333"/>
            <a:ext cx="445506" cy="342149"/>
          </a:xfrm>
          <a:prstGeom prst="rect">
            <a:avLst/>
          </a:prstGeom>
        </p:spPr>
      </p:pic>
      <p:cxnSp>
        <p:nvCxnSpPr>
          <p:cNvPr id="71" name="Straight Connector 167"/>
          <p:cNvCxnSpPr/>
          <p:nvPr/>
        </p:nvCxnSpPr>
        <p:spPr bwMode="gray">
          <a:xfrm flipH="1">
            <a:off x="1732203" y="3106898"/>
            <a:ext cx="971589" cy="876201"/>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72" name="Straight Connector 167"/>
          <p:cNvCxnSpPr/>
          <p:nvPr/>
        </p:nvCxnSpPr>
        <p:spPr bwMode="gray">
          <a:xfrm flipH="1" flipV="1">
            <a:off x="2700413" y="3104421"/>
            <a:ext cx="975076" cy="883934"/>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pic>
        <p:nvPicPr>
          <p:cNvPr id="76" name="图片 86" descr="核心交换机.png"/>
          <p:cNvPicPr>
            <a:picLocks noChangeAspect="1"/>
          </p:cNvPicPr>
          <p:nvPr/>
        </p:nvPicPr>
        <p:blipFill>
          <a:blip r:embed="rId8" cstate="print"/>
          <a:stretch>
            <a:fillRect/>
          </a:stretch>
        </p:blipFill>
        <p:spPr bwMode="gray">
          <a:xfrm>
            <a:off x="2488045" y="2924329"/>
            <a:ext cx="446281" cy="365139"/>
          </a:xfrm>
          <a:prstGeom prst="rect">
            <a:avLst/>
          </a:prstGeom>
        </p:spPr>
      </p:pic>
      <p:sp>
        <p:nvSpPr>
          <p:cNvPr id="77" name="文本框 76"/>
          <p:cNvSpPr txBox="1"/>
          <p:nvPr/>
        </p:nvSpPr>
        <p:spPr bwMode="gray">
          <a:xfrm>
            <a:off x="1890738" y="2950284"/>
            <a:ext cx="651140" cy="276999"/>
          </a:xfrm>
          <a:prstGeom prst="rect">
            <a:avLst/>
          </a:prstGeom>
          <a:noFill/>
        </p:spPr>
        <p:txBody>
          <a:bodyPr wrap="none" rtlCol="0">
            <a:spAutoFit/>
          </a:bodyPr>
          <a:lstStyle/>
          <a:p>
            <a:pPr algn="ctr"/>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Border</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78" name="文本框 77"/>
          <p:cNvSpPr txBox="1"/>
          <p:nvPr/>
        </p:nvSpPr>
        <p:spPr bwMode="gray">
          <a:xfrm>
            <a:off x="895398" y="4015818"/>
            <a:ext cx="684803" cy="276999"/>
          </a:xfrm>
          <a:prstGeom prst="rect">
            <a:avLst/>
          </a:prstGeom>
          <a:noFill/>
        </p:spPr>
        <p:txBody>
          <a:bodyPr wrap="none" rtlCol="0">
            <a:spAutoFit/>
          </a:bodyPr>
          <a:lstStyle/>
          <a:p>
            <a:pPr algn="r"/>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Edge_1</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95" name="文本框 94"/>
          <p:cNvSpPr txBox="1"/>
          <p:nvPr/>
        </p:nvSpPr>
        <p:spPr bwMode="gray">
          <a:xfrm>
            <a:off x="948297" y="4605357"/>
            <a:ext cx="631904" cy="276999"/>
          </a:xfrm>
          <a:prstGeom prst="rect">
            <a:avLst/>
          </a:prstGeom>
          <a:noFill/>
        </p:spPr>
        <p:txBody>
          <a:bodyPr wrap="none" rtlCol="0">
            <a:spAutoFit/>
          </a:bodyPr>
          <a:lstStyle/>
          <a:p>
            <a:pPr algn="r"/>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ACC_1</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pic>
        <p:nvPicPr>
          <p:cNvPr id="96" name="图片 87" descr="汇聚交换机.png"/>
          <p:cNvPicPr>
            <a:picLocks noChangeAspect="1"/>
          </p:cNvPicPr>
          <p:nvPr/>
        </p:nvPicPr>
        <p:blipFill>
          <a:blip r:embed="rId9" cstate="print"/>
          <a:stretch>
            <a:fillRect/>
          </a:stretch>
        </p:blipFill>
        <p:spPr bwMode="gray">
          <a:xfrm>
            <a:off x="1508352" y="3800991"/>
            <a:ext cx="446281" cy="365139"/>
          </a:xfrm>
          <a:prstGeom prst="rect">
            <a:avLst/>
          </a:prstGeom>
        </p:spPr>
      </p:pic>
      <p:pic>
        <p:nvPicPr>
          <p:cNvPr id="97" name="图片 87" descr="汇聚交换机.png"/>
          <p:cNvPicPr>
            <a:picLocks noChangeAspect="1"/>
          </p:cNvPicPr>
          <p:nvPr/>
        </p:nvPicPr>
        <p:blipFill>
          <a:blip r:embed="rId9" cstate="print"/>
          <a:stretch>
            <a:fillRect/>
          </a:stretch>
        </p:blipFill>
        <p:spPr bwMode="gray">
          <a:xfrm>
            <a:off x="3439153" y="3800991"/>
            <a:ext cx="446281" cy="365139"/>
          </a:xfrm>
          <a:prstGeom prst="rect">
            <a:avLst/>
          </a:prstGeom>
        </p:spPr>
      </p:pic>
      <p:sp>
        <p:nvSpPr>
          <p:cNvPr id="98" name="文本框 97"/>
          <p:cNvSpPr txBox="1"/>
          <p:nvPr/>
        </p:nvSpPr>
        <p:spPr bwMode="gray">
          <a:xfrm>
            <a:off x="3842963" y="4015818"/>
            <a:ext cx="684803" cy="276999"/>
          </a:xfrm>
          <a:prstGeom prst="rect">
            <a:avLst/>
          </a:prstGeom>
          <a:noFill/>
        </p:spPr>
        <p:txBody>
          <a:bodyPr wrap="none" rtlCol="0">
            <a:spAutoFit/>
          </a:bodyPr>
          <a:lstStyle/>
          <a:p>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Edge_2</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99" name="文本框 98"/>
          <p:cNvSpPr txBox="1"/>
          <p:nvPr/>
        </p:nvSpPr>
        <p:spPr bwMode="gray">
          <a:xfrm>
            <a:off x="4293426" y="4358871"/>
            <a:ext cx="460382" cy="276999"/>
          </a:xfrm>
          <a:prstGeom prst="rect">
            <a:avLst/>
          </a:prstGeom>
          <a:noFill/>
        </p:spPr>
        <p:txBody>
          <a:bodyPr wrap="none" rtlCol="0">
            <a:spAutoFit/>
          </a:bodyPr>
          <a:lstStyle/>
          <a:p>
            <a:pPr algn="ctr"/>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AP1</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100" name="文本框 99"/>
          <p:cNvSpPr txBox="1"/>
          <p:nvPr/>
        </p:nvSpPr>
        <p:spPr bwMode="gray">
          <a:xfrm>
            <a:off x="1504507" y="5392407"/>
            <a:ext cx="453970" cy="276999"/>
          </a:xfrm>
          <a:prstGeom prst="rect">
            <a:avLst/>
          </a:prstGeom>
          <a:noFill/>
        </p:spPr>
        <p:txBody>
          <a:bodyPr wrap="none" rtlCol="0">
            <a:spAutoFit/>
          </a:bodyPr>
          <a:lstStyle/>
          <a:p>
            <a:pPr algn="ctr"/>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PC1</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101" name="文本框 100"/>
          <p:cNvSpPr txBox="1"/>
          <p:nvPr/>
        </p:nvSpPr>
        <p:spPr bwMode="gray">
          <a:xfrm>
            <a:off x="3435308" y="5392407"/>
            <a:ext cx="453970" cy="276999"/>
          </a:xfrm>
          <a:prstGeom prst="rect">
            <a:avLst/>
          </a:prstGeom>
          <a:noFill/>
        </p:spPr>
        <p:txBody>
          <a:bodyPr wrap="none" rtlCol="0">
            <a:spAutoFit/>
          </a:bodyPr>
          <a:lstStyle/>
          <a:p>
            <a:pPr algn="ctr"/>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PC2</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cxnSp>
        <p:nvCxnSpPr>
          <p:cNvPr id="102" name="Straight Connector 166"/>
          <p:cNvCxnSpPr>
            <a:stCxn id="63" idx="2"/>
            <a:endCxn id="69" idx="0"/>
          </p:cNvCxnSpPr>
          <p:nvPr/>
        </p:nvCxnSpPr>
        <p:spPr bwMode="gray">
          <a:xfrm flipH="1">
            <a:off x="1731492" y="4934546"/>
            <a:ext cx="1" cy="15012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3" name="Straight Connector 166"/>
          <p:cNvCxnSpPr>
            <a:stCxn id="64" idx="2"/>
            <a:endCxn id="70" idx="0"/>
          </p:cNvCxnSpPr>
          <p:nvPr/>
        </p:nvCxnSpPr>
        <p:spPr bwMode="gray">
          <a:xfrm flipH="1">
            <a:off x="3662293" y="4934546"/>
            <a:ext cx="1" cy="14978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04" name="文本框 103"/>
          <p:cNvSpPr txBox="1"/>
          <p:nvPr/>
        </p:nvSpPr>
        <p:spPr bwMode="gray">
          <a:xfrm>
            <a:off x="4303140" y="5392407"/>
            <a:ext cx="453970" cy="276999"/>
          </a:xfrm>
          <a:prstGeom prst="rect">
            <a:avLst/>
          </a:prstGeom>
          <a:noFill/>
        </p:spPr>
        <p:txBody>
          <a:bodyPr wrap="none" rtlCol="0">
            <a:spAutoFit/>
          </a:bodyPr>
          <a:lstStyle/>
          <a:p>
            <a:pPr algn="ctr"/>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PC3</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105" name="文本框 104"/>
          <p:cNvSpPr txBox="1"/>
          <p:nvPr/>
        </p:nvSpPr>
        <p:spPr bwMode="gray">
          <a:xfrm>
            <a:off x="2834929" y="4605357"/>
            <a:ext cx="631904" cy="276999"/>
          </a:xfrm>
          <a:prstGeom prst="rect">
            <a:avLst/>
          </a:prstGeom>
          <a:noFill/>
        </p:spPr>
        <p:txBody>
          <a:bodyPr wrap="none" rtlCol="0">
            <a:spAutoFit/>
          </a:bodyPr>
          <a:lstStyle/>
          <a:p>
            <a:pPr algn="r"/>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ACC_2</a:t>
            </a:r>
          </a:p>
        </p:txBody>
      </p:sp>
      <p:sp>
        <p:nvSpPr>
          <p:cNvPr id="106" name="梯形 105"/>
          <p:cNvSpPr/>
          <p:nvPr/>
        </p:nvSpPr>
        <p:spPr bwMode="gray">
          <a:xfrm>
            <a:off x="1035697" y="3541190"/>
            <a:ext cx="3221543" cy="501291"/>
          </a:xfrm>
          <a:prstGeom prst="trapezoid">
            <a:avLst>
              <a:gd name="adj" fmla="val 22961"/>
            </a:avLst>
          </a:prstGeom>
          <a:gradFill flip="none" rotWithShape="1">
            <a:gsLst>
              <a:gs pos="0">
                <a:schemeClr val="bg1">
                  <a:alpha val="4000"/>
                </a:schemeClr>
              </a:gs>
              <a:gs pos="100000">
                <a:srgbClr val="EEB3B8"/>
              </a:gs>
            </a:gsLst>
            <a:lin ang="5400000" scaled="1"/>
            <a:tileRect/>
          </a:gradFill>
          <a:ln>
            <a:gradFill flip="none" rotWithShape="1">
              <a:gsLst>
                <a:gs pos="0">
                  <a:schemeClr val="accent1">
                    <a:lumMod val="5000"/>
                    <a:lumOff val="95000"/>
                    <a:alpha val="0"/>
                  </a:schemeClr>
                </a:gs>
                <a:gs pos="82000">
                  <a:srgbClr val="E28189"/>
                </a:gs>
              </a:gsLst>
              <a:lin ang="54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7" name="梯形 106"/>
          <p:cNvSpPr/>
          <p:nvPr/>
        </p:nvSpPr>
        <p:spPr bwMode="gray">
          <a:xfrm>
            <a:off x="1035697" y="3150687"/>
            <a:ext cx="3221543" cy="501291"/>
          </a:xfrm>
          <a:prstGeom prst="trapezoid">
            <a:avLst>
              <a:gd name="adj" fmla="val 22961"/>
            </a:avLst>
          </a:prstGeom>
          <a:gradFill flip="none" rotWithShape="1">
            <a:gsLst>
              <a:gs pos="0">
                <a:schemeClr val="bg1">
                  <a:alpha val="4000"/>
                </a:schemeClr>
              </a:gs>
              <a:gs pos="100000">
                <a:schemeClr val="accent2">
                  <a:lumMod val="20000"/>
                  <a:lumOff val="80000"/>
                </a:schemeClr>
              </a:gs>
            </a:gsLst>
            <a:lin ang="5400000" scaled="1"/>
            <a:tileRect/>
          </a:gradFill>
          <a:ln>
            <a:gradFill flip="none" rotWithShape="1">
              <a:gsLst>
                <a:gs pos="0">
                  <a:schemeClr val="accent1">
                    <a:lumMod val="5000"/>
                    <a:lumOff val="95000"/>
                    <a:alpha val="0"/>
                  </a:schemeClr>
                </a:gs>
                <a:gs pos="82000">
                  <a:schemeClr val="accent2">
                    <a:lumMod val="60000"/>
                    <a:lumOff val="40000"/>
                  </a:schemeClr>
                </a:gs>
              </a:gsLst>
              <a:lin ang="54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8" name="文本框 107"/>
          <p:cNvSpPr txBox="1"/>
          <p:nvPr/>
        </p:nvSpPr>
        <p:spPr bwMode="gray">
          <a:xfrm>
            <a:off x="2199556" y="3775817"/>
            <a:ext cx="875561" cy="276999"/>
          </a:xfrm>
          <a:prstGeom prst="rect">
            <a:avLst/>
          </a:prstGeom>
          <a:noFill/>
        </p:spPr>
        <p:txBody>
          <a:bodyPr wrap="none" rtlCol="0">
            <a:spAutoFit/>
          </a:bodyPr>
          <a:lstStyle/>
          <a:p>
            <a:pPr algn="ctr"/>
            <a:r>
              <a:rPr lang="en-US" altLang="zh-CN" sz="1200" b="1" dirty="0">
                <a:latin typeface="Huawei Sans" panose="020C0503030203020204" pitchFamily="34" charset="0"/>
                <a:ea typeface="方正兰亭黑简体" panose="02000000000000000000" pitchFamily="2" charset="-122"/>
                <a:cs typeface="Huawei Sans" panose="020C0503030203020204" pitchFamily="34" charset="0"/>
              </a:rPr>
              <a:t>OA</a:t>
            </a:r>
            <a:r>
              <a:rPr lang="zh-CN" altLang="en-US" sz="1200" b="1" dirty="0" smtClean="0">
                <a:latin typeface="Huawei Sans" panose="020C0503030203020204" pitchFamily="34" charset="0"/>
                <a:ea typeface="方正兰亭黑简体" panose="02000000000000000000" pitchFamily="2" charset="-122"/>
                <a:cs typeface="Huawei Sans" panose="020C0503030203020204" pitchFamily="34" charset="0"/>
              </a:rPr>
              <a:t>虚拟网</a:t>
            </a:r>
            <a:endParaRPr lang="zh-CN" altLang="en-US" sz="1200" b="1"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109" name="文本框 108"/>
          <p:cNvSpPr txBox="1"/>
          <p:nvPr/>
        </p:nvSpPr>
        <p:spPr bwMode="gray">
          <a:xfrm>
            <a:off x="2214234" y="3360330"/>
            <a:ext cx="859530" cy="276999"/>
          </a:xfrm>
          <a:prstGeom prst="rect">
            <a:avLst/>
          </a:prstGeom>
          <a:noFill/>
        </p:spPr>
        <p:txBody>
          <a:bodyPr wrap="none" rtlCol="0">
            <a:spAutoFit/>
          </a:bodyPr>
          <a:lstStyle/>
          <a:p>
            <a:pPr algn="ctr"/>
            <a:r>
              <a:rPr lang="en-US" altLang="zh-CN" sz="1200" b="1" dirty="0" smtClean="0">
                <a:latin typeface="Huawei Sans" panose="020C0503030203020204" pitchFamily="34" charset="0"/>
                <a:ea typeface="方正兰亭黑简体" panose="02000000000000000000" pitchFamily="2" charset="-122"/>
                <a:cs typeface="Huawei Sans" panose="020C0503030203020204" pitchFamily="34" charset="0"/>
              </a:rPr>
              <a:t>RD</a:t>
            </a:r>
            <a:r>
              <a:rPr lang="zh-CN" altLang="en-US" sz="1200" b="1" dirty="0" smtClean="0">
                <a:latin typeface="Huawei Sans" panose="020C0503030203020204" pitchFamily="34" charset="0"/>
                <a:ea typeface="方正兰亭黑简体" panose="02000000000000000000" pitchFamily="2" charset="-122"/>
                <a:cs typeface="Huawei Sans" panose="020C0503030203020204" pitchFamily="34" charset="0"/>
              </a:rPr>
              <a:t>虚拟网</a:t>
            </a:r>
            <a:endParaRPr lang="zh-CN" altLang="en-US" sz="1200" b="1" dirty="0">
              <a:latin typeface="Huawei Sans" panose="020C0503030203020204" pitchFamily="34" charset="0"/>
              <a:ea typeface="方正兰亭黑简体" panose="02000000000000000000" pitchFamily="2" charset="-122"/>
              <a:cs typeface="Huawei Sans" panose="020C0503030203020204" pitchFamily="34" charset="0"/>
            </a:endParaRPr>
          </a:p>
        </p:txBody>
      </p:sp>
      <p:grpSp>
        <p:nvGrpSpPr>
          <p:cNvPr id="110" name="组合 758"/>
          <p:cNvGrpSpPr/>
          <p:nvPr/>
        </p:nvGrpSpPr>
        <p:grpSpPr bwMode="gray">
          <a:xfrm flipV="1">
            <a:off x="4439160" y="4922631"/>
            <a:ext cx="168914" cy="131950"/>
            <a:chOff x="7440613" y="4868863"/>
            <a:chExt cx="1019175" cy="828675"/>
          </a:xfrm>
          <a:solidFill>
            <a:schemeClr val="bg1">
              <a:lumMod val="50000"/>
            </a:schemeClr>
          </a:solidFill>
        </p:grpSpPr>
        <p:sp>
          <p:nvSpPr>
            <p:cNvPr id="111" name="Freeform 15"/>
            <p:cNvSpPr>
              <a:spLocks/>
            </p:cNvSpPr>
            <p:nvPr/>
          </p:nvSpPr>
          <p:spPr bwMode="gray">
            <a:xfrm>
              <a:off x="7832726" y="5462588"/>
              <a:ext cx="234950" cy="234950"/>
            </a:xfrm>
            <a:custGeom>
              <a:avLst/>
              <a:gdLst/>
              <a:ahLst/>
              <a:cxnLst>
                <a:cxn ang="0">
                  <a:pos x="3281" y="680"/>
                </a:cxn>
                <a:cxn ang="0">
                  <a:pos x="3439" y="907"/>
                </a:cxn>
                <a:cxn ang="0">
                  <a:pos x="3559" y="1151"/>
                </a:cxn>
                <a:cxn ang="0">
                  <a:pos x="3642" y="1406"/>
                </a:cxn>
                <a:cxn ang="0">
                  <a:pos x="3686" y="1670"/>
                </a:cxn>
                <a:cxn ang="0">
                  <a:pos x="3693" y="1936"/>
                </a:cxn>
                <a:cxn ang="0">
                  <a:pos x="3661" y="2201"/>
                </a:cxn>
                <a:cxn ang="0">
                  <a:pos x="3591" y="2460"/>
                </a:cxn>
                <a:cxn ang="0">
                  <a:pos x="3484" y="2708"/>
                </a:cxn>
                <a:cxn ang="0">
                  <a:pos x="3339" y="2941"/>
                </a:cxn>
                <a:cxn ang="0">
                  <a:pos x="3155" y="3155"/>
                </a:cxn>
                <a:cxn ang="0">
                  <a:pos x="2941" y="3339"/>
                </a:cxn>
                <a:cxn ang="0">
                  <a:pos x="2708" y="3484"/>
                </a:cxn>
                <a:cxn ang="0">
                  <a:pos x="2460" y="3592"/>
                </a:cxn>
                <a:cxn ang="0">
                  <a:pos x="2201" y="3661"/>
                </a:cxn>
                <a:cxn ang="0">
                  <a:pos x="1936" y="3693"/>
                </a:cxn>
                <a:cxn ang="0">
                  <a:pos x="1670" y="3687"/>
                </a:cxn>
                <a:cxn ang="0">
                  <a:pos x="1408" y="3643"/>
                </a:cxn>
                <a:cxn ang="0">
                  <a:pos x="1152" y="3561"/>
                </a:cxn>
                <a:cxn ang="0">
                  <a:pos x="908" y="3440"/>
                </a:cxn>
                <a:cxn ang="0">
                  <a:pos x="680" y="3282"/>
                </a:cxn>
                <a:cxn ang="0">
                  <a:pos x="475" y="3086"/>
                </a:cxn>
                <a:cxn ang="0">
                  <a:pos x="304" y="2866"/>
                </a:cxn>
                <a:cxn ang="0">
                  <a:pos x="172" y="2627"/>
                </a:cxn>
                <a:cxn ang="0">
                  <a:pos x="76" y="2374"/>
                </a:cxn>
                <a:cxn ang="0">
                  <a:pos x="19" y="2114"/>
                </a:cxn>
                <a:cxn ang="0">
                  <a:pos x="0" y="1848"/>
                </a:cxn>
                <a:cxn ang="0">
                  <a:pos x="19" y="1582"/>
                </a:cxn>
                <a:cxn ang="0">
                  <a:pos x="76" y="1321"/>
                </a:cxn>
                <a:cxn ang="0">
                  <a:pos x="171" y="1069"/>
                </a:cxn>
                <a:cxn ang="0">
                  <a:pos x="304" y="830"/>
                </a:cxn>
                <a:cxn ang="0">
                  <a:pos x="475" y="609"/>
                </a:cxn>
                <a:cxn ang="0">
                  <a:pos x="680" y="414"/>
                </a:cxn>
                <a:cxn ang="0">
                  <a:pos x="907" y="255"/>
                </a:cxn>
                <a:cxn ang="0">
                  <a:pos x="1151" y="135"/>
                </a:cxn>
                <a:cxn ang="0">
                  <a:pos x="1407" y="52"/>
                </a:cxn>
                <a:cxn ang="0">
                  <a:pos x="1669" y="8"/>
                </a:cxn>
                <a:cxn ang="0">
                  <a:pos x="1936" y="2"/>
                </a:cxn>
                <a:cxn ang="0">
                  <a:pos x="2201" y="33"/>
                </a:cxn>
                <a:cxn ang="0">
                  <a:pos x="2459" y="104"/>
                </a:cxn>
                <a:cxn ang="0">
                  <a:pos x="2708" y="211"/>
                </a:cxn>
                <a:cxn ang="0">
                  <a:pos x="2940" y="356"/>
                </a:cxn>
                <a:cxn ang="0">
                  <a:pos x="3154" y="539"/>
                </a:cxn>
              </a:cxnLst>
              <a:rect l="0" t="0" r="r" b="b"/>
              <a:pathLst>
                <a:path w="3695" h="3695">
                  <a:moveTo>
                    <a:pt x="3154" y="539"/>
                  </a:moveTo>
                  <a:lnTo>
                    <a:pt x="3220" y="608"/>
                  </a:lnTo>
                  <a:lnTo>
                    <a:pt x="3281" y="680"/>
                  </a:lnTo>
                  <a:lnTo>
                    <a:pt x="3338" y="754"/>
                  </a:lnTo>
                  <a:lnTo>
                    <a:pt x="3391" y="829"/>
                  </a:lnTo>
                  <a:lnTo>
                    <a:pt x="3439" y="907"/>
                  </a:lnTo>
                  <a:lnTo>
                    <a:pt x="3483" y="987"/>
                  </a:lnTo>
                  <a:lnTo>
                    <a:pt x="3523" y="1068"/>
                  </a:lnTo>
                  <a:lnTo>
                    <a:pt x="3559" y="1151"/>
                  </a:lnTo>
                  <a:lnTo>
                    <a:pt x="3591" y="1235"/>
                  </a:lnTo>
                  <a:lnTo>
                    <a:pt x="3619" y="1320"/>
                  </a:lnTo>
                  <a:lnTo>
                    <a:pt x="3642" y="1406"/>
                  </a:lnTo>
                  <a:lnTo>
                    <a:pt x="3661" y="1493"/>
                  </a:lnTo>
                  <a:lnTo>
                    <a:pt x="3676" y="1582"/>
                  </a:lnTo>
                  <a:lnTo>
                    <a:pt x="3686" y="1670"/>
                  </a:lnTo>
                  <a:lnTo>
                    <a:pt x="3693" y="1758"/>
                  </a:lnTo>
                  <a:lnTo>
                    <a:pt x="3695" y="1847"/>
                  </a:lnTo>
                  <a:lnTo>
                    <a:pt x="3693" y="1936"/>
                  </a:lnTo>
                  <a:lnTo>
                    <a:pt x="3686" y="2024"/>
                  </a:lnTo>
                  <a:lnTo>
                    <a:pt x="3676" y="2113"/>
                  </a:lnTo>
                  <a:lnTo>
                    <a:pt x="3661" y="2201"/>
                  </a:lnTo>
                  <a:lnTo>
                    <a:pt x="3642" y="2288"/>
                  </a:lnTo>
                  <a:lnTo>
                    <a:pt x="3619" y="2374"/>
                  </a:lnTo>
                  <a:lnTo>
                    <a:pt x="3591" y="2460"/>
                  </a:lnTo>
                  <a:lnTo>
                    <a:pt x="3559" y="2544"/>
                  </a:lnTo>
                  <a:lnTo>
                    <a:pt x="3524" y="2626"/>
                  </a:lnTo>
                  <a:lnTo>
                    <a:pt x="3484" y="2708"/>
                  </a:lnTo>
                  <a:lnTo>
                    <a:pt x="3439" y="2788"/>
                  </a:lnTo>
                  <a:lnTo>
                    <a:pt x="3391" y="2865"/>
                  </a:lnTo>
                  <a:lnTo>
                    <a:pt x="3339" y="2941"/>
                  </a:lnTo>
                  <a:lnTo>
                    <a:pt x="3281" y="3015"/>
                  </a:lnTo>
                  <a:lnTo>
                    <a:pt x="3220" y="3086"/>
                  </a:lnTo>
                  <a:lnTo>
                    <a:pt x="3155" y="3155"/>
                  </a:lnTo>
                  <a:lnTo>
                    <a:pt x="3086" y="3220"/>
                  </a:lnTo>
                  <a:lnTo>
                    <a:pt x="3015" y="3282"/>
                  </a:lnTo>
                  <a:lnTo>
                    <a:pt x="2941" y="3339"/>
                  </a:lnTo>
                  <a:lnTo>
                    <a:pt x="2865" y="3391"/>
                  </a:lnTo>
                  <a:lnTo>
                    <a:pt x="2788" y="3440"/>
                  </a:lnTo>
                  <a:lnTo>
                    <a:pt x="2708" y="3484"/>
                  </a:lnTo>
                  <a:lnTo>
                    <a:pt x="2626" y="3524"/>
                  </a:lnTo>
                  <a:lnTo>
                    <a:pt x="2544" y="3560"/>
                  </a:lnTo>
                  <a:lnTo>
                    <a:pt x="2460" y="3592"/>
                  </a:lnTo>
                  <a:lnTo>
                    <a:pt x="2375" y="3619"/>
                  </a:lnTo>
                  <a:lnTo>
                    <a:pt x="2288" y="3643"/>
                  </a:lnTo>
                  <a:lnTo>
                    <a:pt x="2201" y="3661"/>
                  </a:lnTo>
                  <a:lnTo>
                    <a:pt x="2114" y="3676"/>
                  </a:lnTo>
                  <a:lnTo>
                    <a:pt x="2026" y="3687"/>
                  </a:lnTo>
                  <a:lnTo>
                    <a:pt x="1936" y="3693"/>
                  </a:lnTo>
                  <a:lnTo>
                    <a:pt x="1848" y="3695"/>
                  </a:lnTo>
                  <a:lnTo>
                    <a:pt x="1759" y="3693"/>
                  </a:lnTo>
                  <a:lnTo>
                    <a:pt x="1670" y="3687"/>
                  </a:lnTo>
                  <a:lnTo>
                    <a:pt x="1582" y="3676"/>
                  </a:lnTo>
                  <a:lnTo>
                    <a:pt x="1495" y="3662"/>
                  </a:lnTo>
                  <a:lnTo>
                    <a:pt x="1408" y="3643"/>
                  </a:lnTo>
                  <a:lnTo>
                    <a:pt x="1321" y="3620"/>
                  </a:lnTo>
                  <a:lnTo>
                    <a:pt x="1236" y="3592"/>
                  </a:lnTo>
                  <a:lnTo>
                    <a:pt x="1152" y="3561"/>
                  </a:lnTo>
                  <a:lnTo>
                    <a:pt x="1069" y="3524"/>
                  </a:lnTo>
                  <a:lnTo>
                    <a:pt x="987" y="3484"/>
                  </a:lnTo>
                  <a:lnTo>
                    <a:pt x="908" y="3440"/>
                  </a:lnTo>
                  <a:lnTo>
                    <a:pt x="830" y="3391"/>
                  </a:lnTo>
                  <a:lnTo>
                    <a:pt x="755" y="3339"/>
                  </a:lnTo>
                  <a:lnTo>
                    <a:pt x="680" y="3282"/>
                  </a:lnTo>
                  <a:lnTo>
                    <a:pt x="609" y="3220"/>
                  </a:lnTo>
                  <a:lnTo>
                    <a:pt x="541" y="3155"/>
                  </a:lnTo>
                  <a:lnTo>
                    <a:pt x="475" y="3086"/>
                  </a:lnTo>
                  <a:lnTo>
                    <a:pt x="414" y="3015"/>
                  </a:lnTo>
                  <a:lnTo>
                    <a:pt x="357" y="2941"/>
                  </a:lnTo>
                  <a:lnTo>
                    <a:pt x="304" y="2866"/>
                  </a:lnTo>
                  <a:lnTo>
                    <a:pt x="256" y="2788"/>
                  </a:lnTo>
                  <a:lnTo>
                    <a:pt x="212" y="2709"/>
                  </a:lnTo>
                  <a:lnTo>
                    <a:pt x="172" y="2627"/>
                  </a:lnTo>
                  <a:lnTo>
                    <a:pt x="136" y="2544"/>
                  </a:lnTo>
                  <a:lnTo>
                    <a:pt x="104" y="2460"/>
                  </a:lnTo>
                  <a:lnTo>
                    <a:pt x="76" y="2374"/>
                  </a:lnTo>
                  <a:lnTo>
                    <a:pt x="53" y="2288"/>
                  </a:lnTo>
                  <a:lnTo>
                    <a:pt x="34" y="2201"/>
                  </a:lnTo>
                  <a:lnTo>
                    <a:pt x="19" y="2114"/>
                  </a:lnTo>
                  <a:lnTo>
                    <a:pt x="9" y="2025"/>
                  </a:lnTo>
                  <a:lnTo>
                    <a:pt x="2" y="1937"/>
                  </a:lnTo>
                  <a:lnTo>
                    <a:pt x="0" y="1848"/>
                  </a:lnTo>
                  <a:lnTo>
                    <a:pt x="2" y="1759"/>
                  </a:lnTo>
                  <a:lnTo>
                    <a:pt x="9" y="1670"/>
                  </a:lnTo>
                  <a:lnTo>
                    <a:pt x="19" y="1582"/>
                  </a:lnTo>
                  <a:lnTo>
                    <a:pt x="34" y="1494"/>
                  </a:lnTo>
                  <a:lnTo>
                    <a:pt x="53" y="1407"/>
                  </a:lnTo>
                  <a:lnTo>
                    <a:pt x="76" y="1321"/>
                  </a:lnTo>
                  <a:lnTo>
                    <a:pt x="104" y="1236"/>
                  </a:lnTo>
                  <a:lnTo>
                    <a:pt x="136" y="1151"/>
                  </a:lnTo>
                  <a:lnTo>
                    <a:pt x="171" y="1069"/>
                  </a:lnTo>
                  <a:lnTo>
                    <a:pt x="211" y="988"/>
                  </a:lnTo>
                  <a:lnTo>
                    <a:pt x="255" y="907"/>
                  </a:lnTo>
                  <a:lnTo>
                    <a:pt x="304" y="830"/>
                  </a:lnTo>
                  <a:lnTo>
                    <a:pt x="356" y="754"/>
                  </a:lnTo>
                  <a:lnTo>
                    <a:pt x="414" y="681"/>
                  </a:lnTo>
                  <a:lnTo>
                    <a:pt x="475" y="609"/>
                  </a:lnTo>
                  <a:lnTo>
                    <a:pt x="540" y="540"/>
                  </a:lnTo>
                  <a:lnTo>
                    <a:pt x="609" y="475"/>
                  </a:lnTo>
                  <a:lnTo>
                    <a:pt x="680" y="414"/>
                  </a:lnTo>
                  <a:lnTo>
                    <a:pt x="754" y="356"/>
                  </a:lnTo>
                  <a:lnTo>
                    <a:pt x="830" y="303"/>
                  </a:lnTo>
                  <a:lnTo>
                    <a:pt x="907" y="255"/>
                  </a:lnTo>
                  <a:lnTo>
                    <a:pt x="987" y="211"/>
                  </a:lnTo>
                  <a:lnTo>
                    <a:pt x="1069" y="171"/>
                  </a:lnTo>
                  <a:lnTo>
                    <a:pt x="1151" y="135"/>
                  </a:lnTo>
                  <a:lnTo>
                    <a:pt x="1235" y="104"/>
                  </a:lnTo>
                  <a:lnTo>
                    <a:pt x="1320" y="76"/>
                  </a:lnTo>
                  <a:lnTo>
                    <a:pt x="1407" y="52"/>
                  </a:lnTo>
                  <a:lnTo>
                    <a:pt x="1494" y="33"/>
                  </a:lnTo>
                  <a:lnTo>
                    <a:pt x="1581" y="19"/>
                  </a:lnTo>
                  <a:lnTo>
                    <a:pt x="1669" y="8"/>
                  </a:lnTo>
                  <a:lnTo>
                    <a:pt x="1759" y="2"/>
                  </a:lnTo>
                  <a:lnTo>
                    <a:pt x="1847" y="0"/>
                  </a:lnTo>
                  <a:lnTo>
                    <a:pt x="1936" y="2"/>
                  </a:lnTo>
                  <a:lnTo>
                    <a:pt x="2025" y="8"/>
                  </a:lnTo>
                  <a:lnTo>
                    <a:pt x="2113" y="19"/>
                  </a:lnTo>
                  <a:lnTo>
                    <a:pt x="2201" y="33"/>
                  </a:lnTo>
                  <a:lnTo>
                    <a:pt x="2287" y="52"/>
                  </a:lnTo>
                  <a:lnTo>
                    <a:pt x="2374" y="76"/>
                  </a:lnTo>
                  <a:lnTo>
                    <a:pt x="2459" y="104"/>
                  </a:lnTo>
                  <a:lnTo>
                    <a:pt x="2543" y="135"/>
                  </a:lnTo>
                  <a:lnTo>
                    <a:pt x="2626" y="171"/>
                  </a:lnTo>
                  <a:lnTo>
                    <a:pt x="2708" y="211"/>
                  </a:lnTo>
                  <a:lnTo>
                    <a:pt x="2787" y="255"/>
                  </a:lnTo>
                  <a:lnTo>
                    <a:pt x="2865" y="303"/>
                  </a:lnTo>
                  <a:lnTo>
                    <a:pt x="2940" y="356"/>
                  </a:lnTo>
                  <a:lnTo>
                    <a:pt x="3015" y="413"/>
                  </a:lnTo>
                  <a:lnTo>
                    <a:pt x="3086" y="474"/>
                  </a:lnTo>
                  <a:lnTo>
                    <a:pt x="3154" y="539"/>
                  </a:lnTo>
                  <a:close/>
                </a:path>
              </a:pathLst>
            </a:custGeom>
            <a:grpFill/>
            <a:ln w="9525">
              <a:noFill/>
              <a:round/>
              <a:headEnd/>
              <a:tailEnd/>
            </a:ln>
          </p:spPr>
          <p:txBody>
            <a:bodyPr/>
            <a:lstStyle/>
            <a:p>
              <a:pPr algn="ctr" eaLnBrk="1" fontAlgn="auto" hangingPunct="1">
                <a:spcBef>
                  <a:spcPts val="0"/>
                </a:spcBef>
                <a:spcAft>
                  <a:spcPts val="0"/>
                </a:spcAft>
                <a:defRPr/>
              </a:pPr>
              <a:endParaRPr lang="zh-CN" altLang="en-US" sz="1200" ker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7" name="Freeform 16"/>
            <p:cNvSpPr>
              <a:spLocks noEditPoints="1"/>
            </p:cNvSpPr>
            <p:nvPr/>
          </p:nvSpPr>
          <p:spPr bwMode="gray">
            <a:xfrm>
              <a:off x="7440613" y="4868863"/>
              <a:ext cx="1019175" cy="544513"/>
            </a:xfrm>
            <a:custGeom>
              <a:avLst/>
              <a:gdLst/>
              <a:ahLst/>
              <a:cxnLst>
                <a:cxn ang="0">
                  <a:pos x="16025" y="3351"/>
                </a:cxn>
                <a:cxn ang="0">
                  <a:pos x="14975" y="4351"/>
                </a:cxn>
                <a:cxn ang="0">
                  <a:pos x="14184" y="3632"/>
                </a:cxn>
                <a:cxn ang="0">
                  <a:pos x="12564" y="2563"/>
                </a:cxn>
                <a:cxn ang="0">
                  <a:pos x="10805" y="1850"/>
                </a:cxn>
                <a:cxn ang="0">
                  <a:pos x="8960" y="1494"/>
                </a:cxn>
                <a:cxn ang="0">
                  <a:pos x="7087" y="1494"/>
                </a:cxn>
                <a:cxn ang="0">
                  <a:pos x="5243" y="1851"/>
                </a:cxn>
                <a:cxn ang="0">
                  <a:pos x="3483" y="2564"/>
                </a:cxn>
                <a:cxn ang="0">
                  <a:pos x="1864" y="3634"/>
                </a:cxn>
                <a:cxn ang="0">
                  <a:pos x="1075" y="4353"/>
                </a:cxn>
                <a:cxn ang="0">
                  <a:pos x="24" y="3353"/>
                </a:cxn>
                <a:cxn ang="0">
                  <a:pos x="516" y="2880"/>
                </a:cxn>
                <a:cxn ang="0">
                  <a:pos x="2325" y="1549"/>
                </a:cxn>
                <a:cxn ang="0">
                  <a:pos x="4312" y="627"/>
                </a:cxn>
                <a:cxn ang="0">
                  <a:pos x="6413" y="115"/>
                </a:cxn>
                <a:cxn ang="0">
                  <a:pos x="8562" y="13"/>
                </a:cxn>
                <a:cxn ang="0">
                  <a:pos x="10694" y="319"/>
                </a:cxn>
                <a:cxn ang="0">
                  <a:pos x="12747" y="1036"/>
                </a:cxn>
                <a:cxn ang="0">
                  <a:pos x="14654" y="2160"/>
                </a:cxn>
                <a:cxn ang="0">
                  <a:pos x="14055" y="5373"/>
                </a:cxn>
                <a:cxn ang="0">
                  <a:pos x="12871" y="6404"/>
                </a:cxn>
                <a:cxn ang="0">
                  <a:pos x="12058" y="5702"/>
                </a:cxn>
                <a:cxn ang="0">
                  <a:pos x="10898" y="5017"/>
                </a:cxn>
                <a:cxn ang="0">
                  <a:pos x="9649" y="4582"/>
                </a:cxn>
                <a:cxn ang="0">
                  <a:pos x="8352" y="4395"/>
                </a:cxn>
                <a:cxn ang="0">
                  <a:pos x="7044" y="4457"/>
                </a:cxn>
                <a:cxn ang="0">
                  <a:pos x="5767" y="4769"/>
                </a:cxn>
                <a:cxn ang="0">
                  <a:pos x="4558" y="5329"/>
                </a:cxn>
                <a:cxn ang="0">
                  <a:pos x="3457" y="6139"/>
                </a:cxn>
                <a:cxn ang="0">
                  <a:pos x="3129" y="6456"/>
                </a:cxn>
                <a:cxn ang="0">
                  <a:pos x="2045" y="5322"/>
                </a:cxn>
                <a:cxn ang="0">
                  <a:pos x="2731" y="4697"/>
                </a:cxn>
                <a:cxn ang="0">
                  <a:pos x="4122" y="3779"/>
                </a:cxn>
                <a:cxn ang="0">
                  <a:pos x="5635" y="3166"/>
                </a:cxn>
                <a:cxn ang="0">
                  <a:pos x="7219" y="2859"/>
                </a:cxn>
                <a:cxn ang="0">
                  <a:pos x="8829" y="2859"/>
                </a:cxn>
                <a:cxn ang="0">
                  <a:pos x="10413" y="3165"/>
                </a:cxn>
                <a:cxn ang="0">
                  <a:pos x="11926" y="3777"/>
                </a:cxn>
                <a:cxn ang="0">
                  <a:pos x="13318" y="4696"/>
                </a:cxn>
                <a:cxn ang="0">
                  <a:pos x="14005" y="5321"/>
                </a:cxn>
                <a:cxn ang="0">
                  <a:pos x="10854" y="8576"/>
                </a:cxn>
                <a:cxn ang="0">
                  <a:pos x="10754" y="8472"/>
                </a:cxn>
                <a:cxn ang="0">
                  <a:pos x="10150" y="7980"/>
                </a:cxn>
                <a:cxn ang="0">
                  <a:pos x="9479" y="7627"/>
                </a:cxn>
                <a:cxn ang="0">
                  <a:pos x="8762" y="7416"/>
                </a:cxn>
                <a:cxn ang="0">
                  <a:pos x="8025" y="7345"/>
                </a:cxn>
                <a:cxn ang="0">
                  <a:pos x="7287" y="7416"/>
                </a:cxn>
                <a:cxn ang="0">
                  <a:pos x="6571" y="7627"/>
                </a:cxn>
                <a:cxn ang="0">
                  <a:pos x="5900" y="7980"/>
                </a:cxn>
                <a:cxn ang="0">
                  <a:pos x="5297" y="8473"/>
                </a:cxn>
                <a:cxn ang="0">
                  <a:pos x="5198" y="8576"/>
                </a:cxn>
                <a:cxn ang="0">
                  <a:pos x="4197" y="7425"/>
                </a:cxn>
                <a:cxn ang="0">
                  <a:pos x="4843" y="6865"/>
                </a:cxn>
                <a:cxn ang="0">
                  <a:pos x="5758" y="6325"/>
                </a:cxn>
                <a:cxn ang="0">
                  <a:pos x="6743" y="5981"/>
                </a:cxn>
                <a:cxn ang="0">
                  <a:pos x="7766" y="5833"/>
                </a:cxn>
                <a:cxn ang="0">
                  <a:pos x="8797" y="5882"/>
                </a:cxn>
                <a:cxn ang="0">
                  <a:pos x="9806" y="6127"/>
                </a:cxn>
                <a:cxn ang="0">
                  <a:pos x="10760" y="6570"/>
                </a:cxn>
                <a:cxn ang="0">
                  <a:pos x="11627" y="7208"/>
                </a:cxn>
                <a:cxn ang="0">
                  <a:pos x="11903" y="7475"/>
                </a:cxn>
              </a:cxnLst>
              <a:rect l="0" t="0" r="r" b="b"/>
              <a:pathLst>
                <a:path w="16050" h="8576">
                  <a:moveTo>
                    <a:pt x="15950" y="3273"/>
                  </a:moveTo>
                  <a:lnTo>
                    <a:pt x="15975" y="3299"/>
                  </a:lnTo>
                  <a:lnTo>
                    <a:pt x="16000" y="3324"/>
                  </a:lnTo>
                  <a:lnTo>
                    <a:pt x="16025" y="3351"/>
                  </a:lnTo>
                  <a:lnTo>
                    <a:pt x="16050" y="3377"/>
                  </a:lnTo>
                  <a:lnTo>
                    <a:pt x="15025" y="4402"/>
                  </a:lnTo>
                  <a:lnTo>
                    <a:pt x="15000" y="4377"/>
                  </a:lnTo>
                  <a:lnTo>
                    <a:pt x="14975" y="4351"/>
                  </a:lnTo>
                  <a:lnTo>
                    <a:pt x="14950" y="4325"/>
                  </a:lnTo>
                  <a:lnTo>
                    <a:pt x="14923" y="4300"/>
                  </a:lnTo>
                  <a:lnTo>
                    <a:pt x="14560" y="3955"/>
                  </a:lnTo>
                  <a:lnTo>
                    <a:pt x="14184" y="3632"/>
                  </a:lnTo>
                  <a:lnTo>
                    <a:pt x="13796" y="3330"/>
                  </a:lnTo>
                  <a:lnTo>
                    <a:pt x="13396" y="3053"/>
                  </a:lnTo>
                  <a:lnTo>
                    <a:pt x="12984" y="2797"/>
                  </a:lnTo>
                  <a:lnTo>
                    <a:pt x="12564" y="2563"/>
                  </a:lnTo>
                  <a:lnTo>
                    <a:pt x="12136" y="2351"/>
                  </a:lnTo>
                  <a:lnTo>
                    <a:pt x="11698" y="2161"/>
                  </a:lnTo>
                  <a:lnTo>
                    <a:pt x="11254" y="1995"/>
                  </a:lnTo>
                  <a:lnTo>
                    <a:pt x="10805" y="1850"/>
                  </a:lnTo>
                  <a:lnTo>
                    <a:pt x="10349" y="1728"/>
                  </a:lnTo>
                  <a:lnTo>
                    <a:pt x="9889" y="1628"/>
                  </a:lnTo>
                  <a:lnTo>
                    <a:pt x="9426" y="1549"/>
                  </a:lnTo>
                  <a:lnTo>
                    <a:pt x="8960" y="1494"/>
                  </a:lnTo>
                  <a:lnTo>
                    <a:pt x="8492" y="1461"/>
                  </a:lnTo>
                  <a:lnTo>
                    <a:pt x="8024" y="1450"/>
                  </a:lnTo>
                  <a:lnTo>
                    <a:pt x="7556" y="1461"/>
                  </a:lnTo>
                  <a:lnTo>
                    <a:pt x="7087" y="1494"/>
                  </a:lnTo>
                  <a:lnTo>
                    <a:pt x="6622" y="1550"/>
                  </a:lnTo>
                  <a:lnTo>
                    <a:pt x="6158" y="1629"/>
                  </a:lnTo>
                  <a:lnTo>
                    <a:pt x="5699" y="1729"/>
                  </a:lnTo>
                  <a:lnTo>
                    <a:pt x="5243" y="1851"/>
                  </a:lnTo>
                  <a:lnTo>
                    <a:pt x="4793" y="1996"/>
                  </a:lnTo>
                  <a:lnTo>
                    <a:pt x="4350" y="2163"/>
                  </a:lnTo>
                  <a:lnTo>
                    <a:pt x="3912" y="2352"/>
                  </a:lnTo>
                  <a:lnTo>
                    <a:pt x="3483" y="2564"/>
                  </a:lnTo>
                  <a:lnTo>
                    <a:pt x="3064" y="2799"/>
                  </a:lnTo>
                  <a:lnTo>
                    <a:pt x="2652" y="3055"/>
                  </a:lnTo>
                  <a:lnTo>
                    <a:pt x="2253" y="3332"/>
                  </a:lnTo>
                  <a:lnTo>
                    <a:pt x="1864" y="3634"/>
                  </a:lnTo>
                  <a:lnTo>
                    <a:pt x="1488" y="3957"/>
                  </a:lnTo>
                  <a:lnTo>
                    <a:pt x="1125" y="4302"/>
                  </a:lnTo>
                  <a:lnTo>
                    <a:pt x="1099" y="4327"/>
                  </a:lnTo>
                  <a:lnTo>
                    <a:pt x="1075" y="4353"/>
                  </a:lnTo>
                  <a:lnTo>
                    <a:pt x="1050" y="4378"/>
                  </a:lnTo>
                  <a:lnTo>
                    <a:pt x="1025" y="4404"/>
                  </a:lnTo>
                  <a:lnTo>
                    <a:pt x="0" y="3378"/>
                  </a:lnTo>
                  <a:lnTo>
                    <a:pt x="24" y="3353"/>
                  </a:lnTo>
                  <a:lnTo>
                    <a:pt x="49" y="3326"/>
                  </a:lnTo>
                  <a:lnTo>
                    <a:pt x="74" y="3301"/>
                  </a:lnTo>
                  <a:lnTo>
                    <a:pt x="99" y="3276"/>
                  </a:lnTo>
                  <a:lnTo>
                    <a:pt x="516" y="2880"/>
                  </a:lnTo>
                  <a:lnTo>
                    <a:pt x="948" y="2509"/>
                  </a:lnTo>
                  <a:lnTo>
                    <a:pt x="1394" y="2162"/>
                  </a:lnTo>
                  <a:lnTo>
                    <a:pt x="1854" y="1843"/>
                  </a:lnTo>
                  <a:lnTo>
                    <a:pt x="2325" y="1549"/>
                  </a:lnTo>
                  <a:lnTo>
                    <a:pt x="2808" y="1280"/>
                  </a:lnTo>
                  <a:lnTo>
                    <a:pt x="3301" y="1037"/>
                  </a:lnTo>
                  <a:lnTo>
                    <a:pt x="3803" y="820"/>
                  </a:lnTo>
                  <a:lnTo>
                    <a:pt x="4312" y="627"/>
                  </a:lnTo>
                  <a:lnTo>
                    <a:pt x="4830" y="461"/>
                  </a:lnTo>
                  <a:lnTo>
                    <a:pt x="5353" y="320"/>
                  </a:lnTo>
                  <a:lnTo>
                    <a:pt x="5881" y="205"/>
                  </a:lnTo>
                  <a:lnTo>
                    <a:pt x="6413" y="115"/>
                  </a:lnTo>
                  <a:lnTo>
                    <a:pt x="6949" y="51"/>
                  </a:lnTo>
                  <a:lnTo>
                    <a:pt x="7485" y="13"/>
                  </a:lnTo>
                  <a:lnTo>
                    <a:pt x="8024" y="0"/>
                  </a:lnTo>
                  <a:lnTo>
                    <a:pt x="8562" y="13"/>
                  </a:lnTo>
                  <a:lnTo>
                    <a:pt x="9099" y="51"/>
                  </a:lnTo>
                  <a:lnTo>
                    <a:pt x="9634" y="115"/>
                  </a:lnTo>
                  <a:lnTo>
                    <a:pt x="10167" y="205"/>
                  </a:lnTo>
                  <a:lnTo>
                    <a:pt x="10694" y="319"/>
                  </a:lnTo>
                  <a:lnTo>
                    <a:pt x="11218" y="460"/>
                  </a:lnTo>
                  <a:lnTo>
                    <a:pt x="11735" y="626"/>
                  </a:lnTo>
                  <a:lnTo>
                    <a:pt x="12245" y="818"/>
                  </a:lnTo>
                  <a:lnTo>
                    <a:pt x="12747" y="1036"/>
                  </a:lnTo>
                  <a:lnTo>
                    <a:pt x="13239" y="1278"/>
                  </a:lnTo>
                  <a:lnTo>
                    <a:pt x="13722" y="1547"/>
                  </a:lnTo>
                  <a:lnTo>
                    <a:pt x="14194" y="1841"/>
                  </a:lnTo>
                  <a:lnTo>
                    <a:pt x="14654" y="2160"/>
                  </a:lnTo>
                  <a:lnTo>
                    <a:pt x="15100" y="2506"/>
                  </a:lnTo>
                  <a:lnTo>
                    <a:pt x="15532" y="2877"/>
                  </a:lnTo>
                  <a:lnTo>
                    <a:pt x="15950" y="3273"/>
                  </a:lnTo>
                  <a:close/>
                  <a:moveTo>
                    <a:pt x="14055" y="5373"/>
                  </a:moveTo>
                  <a:lnTo>
                    <a:pt x="12946" y="6481"/>
                  </a:lnTo>
                  <a:lnTo>
                    <a:pt x="12921" y="6456"/>
                  </a:lnTo>
                  <a:lnTo>
                    <a:pt x="12897" y="6430"/>
                  </a:lnTo>
                  <a:lnTo>
                    <a:pt x="12871" y="6404"/>
                  </a:lnTo>
                  <a:lnTo>
                    <a:pt x="12846" y="6379"/>
                  </a:lnTo>
                  <a:lnTo>
                    <a:pt x="12592" y="6137"/>
                  </a:lnTo>
                  <a:lnTo>
                    <a:pt x="12329" y="5912"/>
                  </a:lnTo>
                  <a:lnTo>
                    <a:pt x="12058" y="5702"/>
                  </a:lnTo>
                  <a:lnTo>
                    <a:pt x="11778" y="5507"/>
                  </a:lnTo>
                  <a:lnTo>
                    <a:pt x="11491" y="5328"/>
                  </a:lnTo>
                  <a:lnTo>
                    <a:pt x="11198" y="5165"/>
                  </a:lnTo>
                  <a:lnTo>
                    <a:pt x="10898" y="5017"/>
                  </a:lnTo>
                  <a:lnTo>
                    <a:pt x="10592" y="4885"/>
                  </a:lnTo>
                  <a:lnTo>
                    <a:pt x="10282" y="4768"/>
                  </a:lnTo>
                  <a:lnTo>
                    <a:pt x="9967" y="4667"/>
                  </a:lnTo>
                  <a:lnTo>
                    <a:pt x="9649" y="4582"/>
                  </a:lnTo>
                  <a:lnTo>
                    <a:pt x="9328" y="4512"/>
                  </a:lnTo>
                  <a:lnTo>
                    <a:pt x="9004" y="4457"/>
                  </a:lnTo>
                  <a:lnTo>
                    <a:pt x="8679" y="4418"/>
                  </a:lnTo>
                  <a:lnTo>
                    <a:pt x="8352" y="4395"/>
                  </a:lnTo>
                  <a:lnTo>
                    <a:pt x="8024" y="4387"/>
                  </a:lnTo>
                  <a:lnTo>
                    <a:pt x="7697" y="4395"/>
                  </a:lnTo>
                  <a:lnTo>
                    <a:pt x="7370" y="4418"/>
                  </a:lnTo>
                  <a:lnTo>
                    <a:pt x="7044" y="4457"/>
                  </a:lnTo>
                  <a:lnTo>
                    <a:pt x="6721" y="4512"/>
                  </a:lnTo>
                  <a:lnTo>
                    <a:pt x="6399" y="4582"/>
                  </a:lnTo>
                  <a:lnTo>
                    <a:pt x="6081" y="4668"/>
                  </a:lnTo>
                  <a:lnTo>
                    <a:pt x="5767" y="4769"/>
                  </a:lnTo>
                  <a:lnTo>
                    <a:pt x="5457" y="4886"/>
                  </a:lnTo>
                  <a:lnTo>
                    <a:pt x="5151" y="5018"/>
                  </a:lnTo>
                  <a:lnTo>
                    <a:pt x="4851" y="5166"/>
                  </a:lnTo>
                  <a:lnTo>
                    <a:pt x="4558" y="5329"/>
                  </a:lnTo>
                  <a:lnTo>
                    <a:pt x="4271" y="5509"/>
                  </a:lnTo>
                  <a:lnTo>
                    <a:pt x="3991" y="5703"/>
                  </a:lnTo>
                  <a:lnTo>
                    <a:pt x="3720" y="5913"/>
                  </a:lnTo>
                  <a:lnTo>
                    <a:pt x="3457" y="6139"/>
                  </a:lnTo>
                  <a:lnTo>
                    <a:pt x="3203" y="6380"/>
                  </a:lnTo>
                  <a:lnTo>
                    <a:pt x="3178" y="6406"/>
                  </a:lnTo>
                  <a:lnTo>
                    <a:pt x="3154" y="6431"/>
                  </a:lnTo>
                  <a:lnTo>
                    <a:pt x="3129" y="6456"/>
                  </a:lnTo>
                  <a:lnTo>
                    <a:pt x="3104" y="6482"/>
                  </a:lnTo>
                  <a:lnTo>
                    <a:pt x="1996" y="5374"/>
                  </a:lnTo>
                  <a:lnTo>
                    <a:pt x="2020" y="5348"/>
                  </a:lnTo>
                  <a:lnTo>
                    <a:pt x="2045" y="5322"/>
                  </a:lnTo>
                  <a:lnTo>
                    <a:pt x="2069" y="5297"/>
                  </a:lnTo>
                  <a:lnTo>
                    <a:pt x="2095" y="5272"/>
                  </a:lnTo>
                  <a:lnTo>
                    <a:pt x="2406" y="4975"/>
                  </a:lnTo>
                  <a:lnTo>
                    <a:pt x="2731" y="4697"/>
                  </a:lnTo>
                  <a:lnTo>
                    <a:pt x="3065" y="4439"/>
                  </a:lnTo>
                  <a:lnTo>
                    <a:pt x="3408" y="4199"/>
                  </a:lnTo>
                  <a:lnTo>
                    <a:pt x="3761" y="3980"/>
                  </a:lnTo>
                  <a:lnTo>
                    <a:pt x="4122" y="3779"/>
                  </a:lnTo>
                  <a:lnTo>
                    <a:pt x="4491" y="3596"/>
                  </a:lnTo>
                  <a:lnTo>
                    <a:pt x="4866" y="3434"/>
                  </a:lnTo>
                  <a:lnTo>
                    <a:pt x="5247" y="3290"/>
                  </a:lnTo>
                  <a:lnTo>
                    <a:pt x="5635" y="3166"/>
                  </a:lnTo>
                  <a:lnTo>
                    <a:pt x="6026" y="3061"/>
                  </a:lnTo>
                  <a:lnTo>
                    <a:pt x="6421" y="2974"/>
                  </a:lnTo>
                  <a:lnTo>
                    <a:pt x="6819" y="2907"/>
                  </a:lnTo>
                  <a:lnTo>
                    <a:pt x="7219" y="2859"/>
                  </a:lnTo>
                  <a:lnTo>
                    <a:pt x="7622" y="2831"/>
                  </a:lnTo>
                  <a:lnTo>
                    <a:pt x="8024" y="2821"/>
                  </a:lnTo>
                  <a:lnTo>
                    <a:pt x="8427" y="2831"/>
                  </a:lnTo>
                  <a:lnTo>
                    <a:pt x="8829" y="2859"/>
                  </a:lnTo>
                  <a:lnTo>
                    <a:pt x="9229" y="2907"/>
                  </a:lnTo>
                  <a:lnTo>
                    <a:pt x="9627" y="2973"/>
                  </a:lnTo>
                  <a:lnTo>
                    <a:pt x="10022" y="3060"/>
                  </a:lnTo>
                  <a:lnTo>
                    <a:pt x="10413" y="3165"/>
                  </a:lnTo>
                  <a:lnTo>
                    <a:pt x="10801" y="3289"/>
                  </a:lnTo>
                  <a:lnTo>
                    <a:pt x="11182" y="3433"/>
                  </a:lnTo>
                  <a:lnTo>
                    <a:pt x="11558" y="3595"/>
                  </a:lnTo>
                  <a:lnTo>
                    <a:pt x="11926" y="3777"/>
                  </a:lnTo>
                  <a:lnTo>
                    <a:pt x="12287" y="3978"/>
                  </a:lnTo>
                  <a:lnTo>
                    <a:pt x="12640" y="4198"/>
                  </a:lnTo>
                  <a:lnTo>
                    <a:pt x="12984" y="4437"/>
                  </a:lnTo>
                  <a:lnTo>
                    <a:pt x="13318" y="4696"/>
                  </a:lnTo>
                  <a:lnTo>
                    <a:pt x="13641" y="4973"/>
                  </a:lnTo>
                  <a:lnTo>
                    <a:pt x="13954" y="5270"/>
                  </a:lnTo>
                  <a:lnTo>
                    <a:pt x="13980" y="5295"/>
                  </a:lnTo>
                  <a:lnTo>
                    <a:pt x="14005" y="5321"/>
                  </a:lnTo>
                  <a:lnTo>
                    <a:pt x="14030" y="5347"/>
                  </a:lnTo>
                  <a:lnTo>
                    <a:pt x="14055" y="5373"/>
                  </a:lnTo>
                  <a:close/>
                  <a:moveTo>
                    <a:pt x="11928" y="7501"/>
                  </a:moveTo>
                  <a:lnTo>
                    <a:pt x="10854" y="8576"/>
                  </a:lnTo>
                  <a:lnTo>
                    <a:pt x="10829" y="8549"/>
                  </a:lnTo>
                  <a:lnTo>
                    <a:pt x="10805" y="8523"/>
                  </a:lnTo>
                  <a:lnTo>
                    <a:pt x="10780" y="8498"/>
                  </a:lnTo>
                  <a:lnTo>
                    <a:pt x="10754" y="8472"/>
                  </a:lnTo>
                  <a:lnTo>
                    <a:pt x="10610" y="8336"/>
                  </a:lnTo>
                  <a:lnTo>
                    <a:pt x="10462" y="8208"/>
                  </a:lnTo>
                  <a:lnTo>
                    <a:pt x="10307" y="8089"/>
                  </a:lnTo>
                  <a:lnTo>
                    <a:pt x="10150" y="7980"/>
                  </a:lnTo>
                  <a:lnTo>
                    <a:pt x="9987" y="7878"/>
                  </a:lnTo>
                  <a:lnTo>
                    <a:pt x="9821" y="7785"/>
                  </a:lnTo>
                  <a:lnTo>
                    <a:pt x="9651" y="7702"/>
                  </a:lnTo>
                  <a:lnTo>
                    <a:pt x="9479" y="7627"/>
                  </a:lnTo>
                  <a:lnTo>
                    <a:pt x="9303" y="7561"/>
                  </a:lnTo>
                  <a:lnTo>
                    <a:pt x="9124" y="7504"/>
                  </a:lnTo>
                  <a:lnTo>
                    <a:pt x="8945" y="7456"/>
                  </a:lnTo>
                  <a:lnTo>
                    <a:pt x="8762" y="7416"/>
                  </a:lnTo>
                  <a:lnTo>
                    <a:pt x="8580" y="7384"/>
                  </a:lnTo>
                  <a:lnTo>
                    <a:pt x="8395" y="7362"/>
                  </a:lnTo>
                  <a:lnTo>
                    <a:pt x="8210" y="7349"/>
                  </a:lnTo>
                  <a:lnTo>
                    <a:pt x="8025" y="7345"/>
                  </a:lnTo>
                  <a:lnTo>
                    <a:pt x="7839" y="7349"/>
                  </a:lnTo>
                  <a:lnTo>
                    <a:pt x="7655" y="7363"/>
                  </a:lnTo>
                  <a:lnTo>
                    <a:pt x="7470" y="7385"/>
                  </a:lnTo>
                  <a:lnTo>
                    <a:pt x="7287" y="7416"/>
                  </a:lnTo>
                  <a:lnTo>
                    <a:pt x="7105" y="7456"/>
                  </a:lnTo>
                  <a:lnTo>
                    <a:pt x="6926" y="7504"/>
                  </a:lnTo>
                  <a:lnTo>
                    <a:pt x="6747" y="7561"/>
                  </a:lnTo>
                  <a:lnTo>
                    <a:pt x="6571" y="7627"/>
                  </a:lnTo>
                  <a:lnTo>
                    <a:pt x="6399" y="7703"/>
                  </a:lnTo>
                  <a:lnTo>
                    <a:pt x="6229" y="7786"/>
                  </a:lnTo>
                  <a:lnTo>
                    <a:pt x="6063" y="7878"/>
                  </a:lnTo>
                  <a:lnTo>
                    <a:pt x="5900" y="7980"/>
                  </a:lnTo>
                  <a:lnTo>
                    <a:pt x="5742" y="8090"/>
                  </a:lnTo>
                  <a:lnTo>
                    <a:pt x="5588" y="8209"/>
                  </a:lnTo>
                  <a:lnTo>
                    <a:pt x="5440" y="8337"/>
                  </a:lnTo>
                  <a:lnTo>
                    <a:pt x="5297" y="8473"/>
                  </a:lnTo>
                  <a:lnTo>
                    <a:pt x="5271" y="8498"/>
                  </a:lnTo>
                  <a:lnTo>
                    <a:pt x="5246" y="8524"/>
                  </a:lnTo>
                  <a:lnTo>
                    <a:pt x="5222" y="8550"/>
                  </a:lnTo>
                  <a:lnTo>
                    <a:pt x="5198" y="8576"/>
                  </a:lnTo>
                  <a:lnTo>
                    <a:pt x="4123" y="7501"/>
                  </a:lnTo>
                  <a:lnTo>
                    <a:pt x="4147" y="7476"/>
                  </a:lnTo>
                  <a:lnTo>
                    <a:pt x="4172" y="7450"/>
                  </a:lnTo>
                  <a:lnTo>
                    <a:pt x="4197" y="7425"/>
                  </a:lnTo>
                  <a:lnTo>
                    <a:pt x="4222" y="7399"/>
                  </a:lnTo>
                  <a:lnTo>
                    <a:pt x="4422" y="7209"/>
                  </a:lnTo>
                  <a:lnTo>
                    <a:pt x="4629" y="7030"/>
                  </a:lnTo>
                  <a:lnTo>
                    <a:pt x="4843" y="6865"/>
                  </a:lnTo>
                  <a:lnTo>
                    <a:pt x="5064" y="6711"/>
                  </a:lnTo>
                  <a:lnTo>
                    <a:pt x="5290" y="6571"/>
                  </a:lnTo>
                  <a:lnTo>
                    <a:pt x="5522" y="6441"/>
                  </a:lnTo>
                  <a:lnTo>
                    <a:pt x="5758" y="6325"/>
                  </a:lnTo>
                  <a:lnTo>
                    <a:pt x="6000" y="6220"/>
                  </a:lnTo>
                  <a:lnTo>
                    <a:pt x="6243" y="6128"/>
                  </a:lnTo>
                  <a:lnTo>
                    <a:pt x="6492" y="6048"/>
                  </a:lnTo>
                  <a:lnTo>
                    <a:pt x="6743" y="5981"/>
                  </a:lnTo>
                  <a:lnTo>
                    <a:pt x="6997" y="5925"/>
                  </a:lnTo>
                  <a:lnTo>
                    <a:pt x="7252" y="5882"/>
                  </a:lnTo>
                  <a:lnTo>
                    <a:pt x="7508" y="5851"/>
                  </a:lnTo>
                  <a:lnTo>
                    <a:pt x="7766" y="5833"/>
                  </a:lnTo>
                  <a:lnTo>
                    <a:pt x="8025" y="5827"/>
                  </a:lnTo>
                  <a:lnTo>
                    <a:pt x="8283" y="5833"/>
                  </a:lnTo>
                  <a:lnTo>
                    <a:pt x="8541" y="5851"/>
                  </a:lnTo>
                  <a:lnTo>
                    <a:pt x="8797" y="5882"/>
                  </a:lnTo>
                  <a:lnTo>
                    <a:pt x="9053" y="5925"/>
                  </a:lnTo>
                  <a:lnTo>
                    <a:pt x="9306" y="5981"/>
                  </a:lnTo>
                  <a:lnTo>
                    <a:pt x="9557" y="6048"/>
                  </a:lnTo>
                  <a:lnTo>
                    <a:pt x="9806" y="6127"/>
                  </a:lnTo>
                  <a:lnTo>
                    <a:pt x="10050" y="6219"/>
                  </a:lnTo>
                  <a:lnTo>
                    <a:pt x="10291" y="6324"/>
                  </a:lnTo>
                  <a:lnTo>
                    <a:pt x="10528" y="6440"/>
                  </a:lnTo>
                  <a:lnTo>
                    <a:pt x="10760" y="6570"/>
                  </a:lnTo>
                  <a:lnTo>
                    <a:pt x="10985" y="6710"/>
                  </a:lnTo>
                  <a:lnTo>
                    <a:pt x="11206" y="6864"/>
                  </a:lnTo>
                  <a:lnTo>
                    <a:pt x="11421" y="7029"/>
                  </a:lnTo>
                  <a:lnTo>
                    <a:pt x="11627" y="7208"/>
                  </a:lnTo>
                  <a:lnTo>
                    <a:pt x="11828" y="7398"/>
                  </a:lnTo>
                  <a:lnTo>
                    <a:pt x="11853" y="7424"/>
                  </a:lnTo>
                  <a:lnTo>
                    <a:pt x="11878" y="7449"/>
                  </a:lnTo>
                  <a:lnTo>
                    <a:pt x="11903" y="7475"/>
                  </a:lnTo>
                  <a:lnTo>
                    <a:pt x="11928" y="7501"/>
                  </a:lnTo>
                  <a:close/>
                </a:path>
              </a:pathLst>
            </a:custGeom>
            <a:grpFill/>
            <a:ln w="9525">
              <a:noFill/>
              <a:round/>
              <a:headEnd/>
              <a:tailEnd/>
            </a:ln>
          </p:spPr>
          <p:txBody>
            <a:bodyPr/>
            <a:lstStyle/>
            <a:p>
              <a:pPr algn="ctr" eaLnBrk="1" fontAlgn="auto" hangingPunct="1">
                <a:spcBef>
                  <a:spcPts val="0"/>
                </a:spcBef>
                <a:spcAft>
                  <a:spcPts val="0"/>
                </a:spcAft>
                <a:defRPr/>
              </a:pPr>
              <a:endParaRPr lang="zh-CN" altLang="en-US" sz="1200" ker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138" name="Freeform 159"/>
          <p:cNvSpPr/>
          <p:nvPr/>
        </p:nvSpPr>
        <p:spPr bwMode="gray">
          <a:xfrm flipH="1">
            <a:off x="982325" y="1574127"/>
            <a:ext cx="1240474" cy="648430"/>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tIns="108000" rtlCol="0" anchor="ctr">
            <a:noAutofit/>
          </a:bodyPr>
          <a:lstStyle>
            <a:defPPr>
              <a:defRPr lang="en-US"/>
            </a:defPPr>
            <a:lvl1pPr marL="0" algn="l" defTabSz="914478" rtl="0" eaLnBrk="1" latinLnBrk="0" hangingPunct="1">
              <a:defRPr sz="1800" kern="1200">
                <a:solidFill>
                  <a:schemeClr val="lt1"/>
                </a:solidFill>
                <a:latin typeface="+mn-lt"/>
                <a:ea typeface="+mn-ea"/>
                <a:cs typeface="+mn-cs"/>
              </a:defRPr>
            </a:lvl1pPr>
            <a:lvl2pPr marL="457240" algn="l" defTabSz="914478" rtl="0" eaLnBrk="1" latinLnBrk="0" hangingPunct="1">
              <a:defRPr sz="1800" kern="1200">
                <a:solidFill>
                  <a:schemeClr val="lt1"/>
                </a:solidFill>
                <a:latin typeface="+mn-lt"/>
                <a:ea typeface="+mn-ea"/>
                <a:cs typeface="+mn-cs"/>
              </a:defRPr>
            </a:lvl2pPr>
            <a:lvl3pPr marL="914478" algn="l" defTabSz="914478" rtl="0" eaLnBrk="1" latinLnBrk="0" hangingPunct="1">
              <a:defRPr sz="1800" kern="1200">
                <a:solidFill>
                  <a:schemeClr val="lt1"/>
                </a:solidFill>
                <a:latin typeface="+mn-lt"/>
                <a:ea typeface="+mn-ea"/>
                <a:cs typeface="+mn-cs"/>
              </a:defRPr>
            </a:lvl3pPr>
            <a:lvl4pPr marL="1371718" algn="l" defTabSz="914478" rtl="0" eaLnBrk="1" latinLnBrk="0" hangingPunct="1">
              <a:defRPr sz="1800" kern="1200">
                <a:solidFill>
                  <a:schemeClr val="lt1"/>
                </a:solidFill>
                <a:latin typeface="+mn-lt"/>
                <a:ea typeface="+mn-ea"/>
                <a:cs typeface="+mn-cs"/>
              </a:defRPr>
            </a:lvl4pPr>
            <a:lvl5pPr marL="1828957" algn="l" defTabSz="914478" rtl="0" eaLnBrk="1" latinLnBrk="0" hangingPunct="1">
              <a:defRPr sz="1800" kern="1200">
                <a:solidFill>
                  <a:schemeClr val="lt1"/>
                </a:solidFill>
                <a:latin typeface="+mn-lt"/>
                <a:ea typeface="+mn-ea"/>
                <a:cs typeface="+mn-cs"/>
              </a:defRPr>
            </a:lvl5pPr>
            <a:lvl6pPr marL="2286196" algn="l" defTabSz="914478" rtl="0" eaLnBrk="1" latinLnBrk="0" hangingPunct="1">
              <a:defRPr sz="1800" kern="1200">
                <a:solidFill>
                  <a:schemeClr val="lt1"/>
                </a:solidFill>
                <a:latin typeface="+mn-lt"/>
                <a:ea typeface="+mn-ea"/>
                <a:cs typeface="+mn-cs"/>
              </a:defRPr>
            </a:lvl6pPr>
            <a:lvl7pPr marL="2743435" algn="l" defTabSz="914478" rtl="0" eaLnBrk="1" latinLnBrk="0" hangingPunct="1">
              <a:defRPr sz="1800" kern="1200">
                <a:solidFill>
                  <a:schemeClr val="lt1"/>
                </a:solidFill>
                <a:latin typeface="+mn-lt"/>
                <a:ea typeface="+mn-ea"/>
                <a:cs typeface="+mn-cs"/>
              </a:defRPr>
            </a:lvl7pPr>
            <a:lvl8pPr marL="3200675" algn="l" defTabSz="914478" rtl="0" eaLnBrk="1" latinLnBrk="0" hangingPunct="1">
              <a:defRPr sz="1800" kern="1200">
                <a:solidFill>
                  <a:schemeClr val="lt1"/>
                </a:solidFill>
                <a:latin typeface="+mn-lt"/>
                <a:ea typeface="+mn-ea"/>
                <a:cs typeface="+mn-cs"/>
              </a:defRPr>
            </a:lvl8pPr>
            <a:lvl9pPr marL="3657913" algn="l" defTabSz="914478" rtl="0" eaLnBrk="1" latinLnBrk="0" hangingPunct="1">
              <a:defRPr sz="1800" kern="1200">
                <a:solidFill>
                  <a:schemeClr val="lt1"/>
                </a:solidFill>
                <a:latin typeface="+mn-lt"/>
                <a:ea typeface="+mn-ea"/>
                <a:cs typeface="+mn-cs"/>
              </a:defRPr>
            </a:lvl9pPr>
          </a:lstStyle>
          <a:p>
            <a:pPr algn="ctr"/>
            <a:r>
              <a:rPr lang="zh-CN" altLang="en-US" sz="1400" smtClean="0">
                <a:solidFill>
                  <a:schemeClr val="bg1">
                    <a:lumMod val="50000"/>
                  </a:schemeClr>
                </a:solidFill>
              </a:rPr>
              <a:t>外部网络</a:t>
            </a:r>
            <a:endParaRPr lang="en-US" sz="1400">
              <a:solidFill>
                <a:schemeClr val="bg1">
                  <a:lumMod val="50000"/>
                </a:schemeClr>
              </a:solidFill>
            </a:endParaRPr>
          </a:p>
        </p:txBody>
      </p:sp>
      <p:sp>
        <p:nvSpPr>
          <p:cNvPr id="139" name="Freeform 159"/>
          <p:cNvSpPr/>
          <p:nvPr/>
        </p:nvSpPr>
        <p:spPr bwMode="gray">
          <a:xfrm flipH="1">
            <a:off x="3108443" y="1574127"/>
            <a:ext cx="1240474" cy="648430"/>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tIns="108000" rtlCol="0" anchor="ctr">
            <a:noAutofit/>
          </a:bodyPr>
          <a:lstStyle/>
          <a:p>
            <a:pPr algn="ctr"/>
            <a:r>
              <a:rPr lang="zh-CN" altLang="en-US" sz="1400">
                <a:solidFill>
                  <a:schemeClr val="bg1">
                    <a:lumMod val="50000"/>
                  </a:schemeClr>
                </a:solidFill>
              </a:rPr>
              <a:t>网络服务</a:t>
            </a:r>
            <a:endParaRPr lang="en-US" altLang="zh-CN" sz="1400">
              <a:solidFill>
                <a:schemeClr val="bg1">
                  <a:lumMod val="50000"/>
                </a:schemeClr>
              </a:solidFill>
            </a:endParaRPr>
          </a:p>
          <a:p>
            <a:pPr algn="ctr"/>
            <a:r>
              <a:rPr lang="zh-CN" altLang="en-US" sz="1400">
                <a:solidFill>
                  <a:schemeClr val="bg1">
                    <a:lumMod val="50000"/>
                  </a:schemeClr>
                </a:solidFill>
              </a:rPr>
              <a:t>资源</a:t>
            </a:r>
            <a:endParaRPr lang="en-US" sz="1400">
              <a:solidFill>
                <a:schemeClr val="bg1">
                  <a:lumMod val="50000"/>
                </a:schemeClr>
              </a:solidFill>
            </a:endParaRPr>
          </a:p>
        </p:txBody>
      </p:sp>
      <p:cxnSp>
        <p:nvCxnSpPr>
          <p:cNvPr id="140" name="直接连接符 139"/>
          <p:cNvCxnSpPr/>
          <p:nvPr/>
        </p:nvCxnSpPr>
        <p:spPr bwMode="gray">
          <a:xfrm>
            <a:off x="1985121" y="2269827"/>
            <a:ext cx="495259" cy="621078"/>
          </a:xfrm>
          <a:prstGeom prst="line">
            <a:avLst/>
          </a:prstGeom>
          <a:ln>
            <a:solidFill>
              <a:schemeClr val="bg1">
                <a:lumMod val="6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41" name="直接连接符 140"/>
          <p:cNvCxnSpPr/>
          <p:nvPr/>
        </p:nvCxnSpPr>
        <p:spPr bwMode="gray">
          <a:xfrm flipH="1">
            <a:off x="2952717" y="2279440"/>
            <a:ext cx="464971" cy="611465"/>
          </a:xfrm>
          <a:prstGeom prst="line">
            <a:avLst/>
          </a:prstGeom>
          <a:ln>
            <a:solidFill>
              <a:schemeClr val="bg1">
                <a:lumMod val="6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pic>
        <p:nvPicPr>
          <p:cNvPr id="142" name="图片 141"/>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bwMode="gray">
          <a:xfrm>
            <a:off x="3944130" y="2611059"/>
            <a:ext cx="865097" cy="491769"/>
          </a:xfrm>
          <a:prstGeom prst="rect">
            <a:avLst/>
          </a:prstGeom>
        </p:spPr>
      </p:pic>
      <p:pic>
        <p:nvPicPr>
          <p:cNvPr id="3" name="图片 2"/>
          <p:cNvPicPr>
            <a:picLocks noChangeAspect="1"/>
          </p:cNvPicPr>
          <p:nvPr/>
        </p:nvPicPr>
        <p:blipFill>
          <a:blip r:embed="rId11"/>
          <a:stretch>
            <a:fillRect/>
          </a:stretch>
        </p:blipFill>
        <p:spPr bwMode="gray">
          <a:xfrm>
            <a:off x="5200482" y="1330860"/>
            <a:ext cx="4157492" cy="1698531"/>
          </a:xfrm>
          <a:prstGeom prst="rect">
            <a:avLst/>
          </a:prstGeom>
          <a:ln w="12700">
            <a:solidFill>
              <a:schemeClr val="bg1">
                <a:lumMod val="85000"/>
              </a:schemeClr>
            </a:solidFill>
          </a:ln>
        </p:spPr>
      </p:pic>
      <p:sp>
        <p:nvSpPr>
          <p:cNvPr id="52" name="五边形 51"/>
          <p:cNvSpPr/>
          <p:nvPr/>
        </p:nvSpPr>
        <p:spPr bwMode="gray">
          <a:xfrm>
            <a:off x="5773628" y="98481"/>
            <a:ext cx="9000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smtClean="0">
                <a:latin typeface="Huawei Sans" panose="020C0503030203020204" pitchFamily="34" charset="0"/>
                <a:ea typeface="方正兰亭黑简体" panose="02000000000000000000" pitchFamily="2" charset="-122"/>
                <a:sym typeface="Huawei Sans" panose="020C0503030203020204" pitchFamily="34" charset="0"/>
              </a:rPr>
              <a:t>站点管理</a:t>
            </a:r>
            <a:endPar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3" name="燕尾形 52"/>
          <p:cNvSpPr/>
          <p:nvPr/>
        </p:nvSpPr>
        <p:spPr bwMode="gray">
          <a:xfrm>
            <a:off x="9109268" y="98481"/>
            <a:ext cx="9000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smtClean="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逻辑网络</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4" name="燕尾形 53"/>
          <p:cNvSpPr/>
          <p:nvPr/>
        </p:nvSpPr>
        <p:spPr bwMode="gray">
          <a:xfrm>
            <a:off x="9925178" y="9848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业务部署</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5" name="燕尾形 54"/>
          <p:cNvSpPr/>
          <p:nvPr/>
        </p:nvSpPr>
        <p:spPr bwMode="gray">
          <a:xfrm>
            <a:off x="8221358" y="98481"/>
            <a:ext cx="972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smtClean="0">
                <a:latin typeface="Huawei Sans" panose="020C0503030203020204" pitchFamily="34" charset="0"/>
                <a:ea typeface="方正兰亭黑简体" panose="02000000000000000000" pitchFamily="2" charset="-122"/>
                <a:sym typeface="Huawei Sans" panose="020C0503030203020204" pitchFamily="34" charset="0"/>
              </a:rPr>
              <a:t>Fabric</a:t>
            </a:r>
            <a:r>
              <a:rPr lang="zh-CN" altLang="en-US" sz="1200" kern="0" dirty="0" smtClean="0">
                <a:latin typeface="Huawei Sans" panose="020C0503030203020204" pitchFamily="34" charset="0"/>
                <a:ea typeface="方正兰亭黑简体" panose="02000000000000000000" pitchFamily="2" charset="-122"/>
                <a:sym typeface="Huawei Sans" panose="020C0503030203020204" pitchFamily="34" charset="0"/>
              </a:rPr>
              <a:t>网络</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7" name="燕尾形 56"/>
          <p:cNvSpPr/>
          <p:nvPr/>
        </p:nvSpPr>
        <p:spPr bwMode="gray">
          <a:xfrm>
            <a:off x="7405448" y="9848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网络规划</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8" name="燕尾形 57"/>
          <p:cNvSpPr/>
          <p:nvPr/>
        </p:nvSpPr>
        <p:spPr bwMode="gray">
          <a:xfrm>
            <a:off x="6589538" y="9848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设备管理</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9" name="燕尾形 58"/>
          <p:cNvSpPr/>
          <p:nvPr/>
        </p:nvSpPr>
        <p:spPr bwMode="gray">
          <a:xfrm>
            <a:off x="10741088" y="98481"/>
            <a:ext cx="1008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WLAN</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业务</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3626421374"/>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bwMode="gray"/>
        <p:txBody>
          <a:bodyPr>
            <a:normAutofit/>
          </a:bodyPr>
          <a:lstStyle/>
          <a:p>
            <a:r>
              <a:rPr lang="zh-CN" altLang="en-US" dirty="0"/>
              <a:t>实验</a:t>
            </a:r>
            <a:r>
              <a:rPr lang="zh-CN" altLang="en-US" dirty="0" smtClean="0"/>
              <a:t>：创建</a:t>
            </a:r>
            <a:r>
              <a:rPr lang="en-US" altLang="zh-CN" dirty="0" smtClean="0"/>
              <a:t>VN</a:t>
            </a:r>
            <a:r>
              <a:rPr lang="zh-CN" altLang="en-US" dirty="0"/>
              <a:t> </a:t>
            </a:r>
            <a:r>
              <a:rPr lang="en-US" altLang="zh-CN" dirty="0" smtClean="0"/>
              <a:t>(4)</a:t>
            </a:r>
            <a:endParaRPr lang="zh-CN" altLang="en-US" dirty="0"/>
          </a:p>
        </p:txBody>
      </p:sp>
      <p:sp>
        <p:nvSpPr>
          <p:cNvPr id="86" name="矩形 85"/>
          <p:cNvSpPr/>
          <p:nvPr/>
        </p:nvSpPr>
        <p:spPr bwMode="gray">
          <a:xfrm>
            <a:off x="5101936" y="959927"/>
            <a:ext cx="6278184" cy="400110"/>
          </a:xfrm>
          <a:prstGeom prst="rect">
            <a:avLst/>
          </a:prstGeom>
        </p:spPr>
        <p:txBody>
          <a:bodyPr wrap="square">
            <a:spAutoFit/>
          </a:bodyPr>
          <a:lstStyle/>
          <a:p>
            <a:pPr algn="just">
              <a:lnSpc>
                <a:spcPts val="2400"/>
              </a:lnSpc>
              <a:spcAft>
                <a:spcPts val="600"/>
              </a:spcAft>
            </a:pPr>
            <a:r>
              <a:rPr lang="zh-CN" altLang="en-US" sz="1600" dirty="0" smtClean="0"/>
              <a:t>配置用户</a:t>
            </a:r>
            <a:r>
              <a:rPr lang="zh-CN" altLang="en-US" sz="1600" dirty="0"/>
              <a:t>无</a:t>
            </a:r>
            <a:r>
              <a:rPr lang="zh-CN" altLang="en-US" sz="1600" dirty="0" smtClean="0"/>
              <a:t>线接入：</a:t>
            </a:r>
            <a:endParaRPr lang="zh-CN" altLang="en-US" sz="1600" dirty="0"/>
          </a:p>
        </p:txBody>
      </p:sp>
      <p:sp>
        <p:nvSpPr>
          <p:cNvPr id="56" name="圆角矩形 55"/>
          <p:cNvSpPr/>
          <p:nvPr/>
        </p:nvSpPr>
        <p:spPr bwMode="gray">
          <a:xfrm>
            <a:off x="878704" y="2548727"/>
            <a:ext cx="3990111" cy="3120679"/>
          </a:xfrm>
          <a:prstGeom prst="roundRect">
            <a:avLst>
              <a:gd name="adj" fmla="val 3166"/>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60" name="Freeform 159"/>
          <p:cNvSpPr/>
          <p:nvPr/>
        </p:nvSpPr>
        <p:spPr bwMode="gray">
          <a:xfrm flipH="1">
            <a:off x="1379861" y="2881293"/>
            <a:ext cx="2670047" cy="1528484"/>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rgbClr val="E3F6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Huawei Sans" panose="020C0503030203020204" pitchFamily="34" charset="0"/>
              <a:ea typeface="方正兰亭黑简体" panose="02000000000000000000" pitchFamily="2" charset="-122"/>
            </a:endParaRPr>
          </a:p>
        </p:txBody>
      </p:sp>
      <p:cxnSp>
        <p:nvCxnSpPr>
          <p:cNvPr id="61" name="Straight Connector 166"/>
          <p:cNvCxnSpPr>
            <a:stCxn id="96" idx="2"/>
            <a:endCxn id="63" idx="0"/>
          </p:cNvCxnSpPr>
          <p:nvPr/>
        </p:nvCxnSpPr>
        <p:spPr bwMode="gray">
          <a:xfrm>
            <a:off x="1731493" y="4166130"/>
            <a:ext cx="0" cy="40327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 name="Straight Connector 166"/>
          <p:cNvCxnSpPr>
            <a:stCxn id="97" idx="2"/>
            <a:endCxn id="64" idx="0"/>
          </p:cNvCxnSpPr>
          <p:nvPr/>
        </p:nvCxnSpPr>
        <p:spPr bwMode="gray">
          <a:xfrm>
            <a:off x="3662294" y="4166130"/>
            <a:ext cx="0" cy="40327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63" name="图片 76" descr="接入交换机.png"/>
          <p:cNvPicPr>
            <a:picLocks noChangeAspect="1"/>
          </p:cNvPicPr>
          <p:nvPr/>
        </p:nvPicPr>
        <p:blipFill>
          <a:blip r:embed="rId3" cstate="print"/>
          <a:stretch>
            <a:fillRect/>
          </a:stretch>
        </p:blipFill>
        <p:spPr bwMode="gray">
          <a:xfrm>
            <a:off x="1508352" y="4569407"/>
            <a:ext cx="446281" cy="365139"/>
          </a:xfrm>
          <a:prstGeom prst="rect">
            <a:avLst/>
          </a:prstGeom>
        </p:spPr>
      </p:pic>
      <p:pic>
        <p:nvPicPr>
          <p:cNvPr id="64" name="图片 63" descr="接入交换机.png"/>
          <p:cNvPicPr>
            <a:picLocks noChangeAspect="1"/>
          </p:cNvPicPr>
          <p:nvPr/>
        </p:nvPicPr>
        <p:blipFill>
          <a:blip r:embed="rId3" cstate="print"/>
          <a:stretch>
            <a:fillRect/>
          </a:stretch>
        </p:blipFill>
        <p:spPr bwMode="gray">
          <a:xfrm>
            <a:off x="3439153" y="4569407"/>
            <a:ext cx="446281" cy="365139"/>
          </a:xfrm>
          <a:prstGeom prst="rect">
            <a:avLst/>
          </a:prstGeom>
        </p:spPr>
      </p:pic>
      <p:sp>
        <p:nvSpPr>
          <p:cNvPr id="65" name="文本框 64"/>
          <p:cNvSpPr txBox="1"/>
          <p:nvPr/>
        </p:nvSpPr>
        <p:spPr bwMode="gray">
          <a:xfrm>
            <a:off x="893888" y="2723362"/>
            <a:ext cx="468398" cy="307777"/>
          </a:xfrm>
          <a:prstGeom prst="rect">
            <a:avLst/>
          </a:prstGeom>
          <a:noFill/>
        </p:spPr>
        <p:txBody>
          <a:bodyPr wrap="none" rtlCol="0">
            <a:spAutoFit/>
          </a:bodyPr>
          <a:lstStyle/>
          <a:p>
            <a:r>
              <a:rPr lang="en-US" altLang="zh-CN" sz="1400" b="1" dirty="0" smtClean="0">
                <a:latin typeface="Huawei Sans" panose="020C0503030203020204" pitchFamily="34" charset="0"/>
                <a:ea typeface="方正兰亭黑简体" panose="02000000000000000000" pitchFamily="2" charset="-122"/>
                <a:cs typeface="Huawei Sans" panose="020C0503030203020204" pitchFamily="34" charset="0"/>
              </a:rPr>
              <a:t>HQ</a:t>
            </a:r>
            <a:endParaRPr lang="zh-CN" altLang="en-US" sz="1400" b="1" dirty="0">
              <a:latin typeface="Huawei Sans" panose="020C0503030203020204" pitchFamily="34" charset="0"/>
              <a:ea typeface="方正兰亭黑简体" panose="02000000000000000000" pitchFamily="2" charset="-122"/>
              <a:cs typeface="Huawei Sans" panose="020C0503030203020204" pitchFamily="34" charset="0"/>
            </a:endParaRPr>
          </a:p>
        </p:txBody>
      </p:sp>
      <p:pic>
        <p:nvPicPr>
          <p:cNvPr id="66" name="图片 105" descr="AP.png"/>
          <p:cNvPicPr>
            <a:picLocks noChangeAspect="1"/>
          </p:cNvPicPr>
          <p:nvPr/>
        </p:nvPicPr>
        <p:blipFill>
          <a:blip r:embed="rId4" cstate="print"/>
          <a:stretch>
            <a:fillRect/>
          </a:stretch>
        </p:blipFill>
        <p:spPr bwMode="gray">
          <a:xfrm>
            <a:off x="4345712" y="4601092"/>
            <a:ext cx="368827" cy="301768"/>
          </a:xfrm>
          <a:prstGeom prst="rect">
            <a:avLst/>
          </a:prstGeom>
        </p:spPr>
      </p:pic>
      <p:cxnSp>
        <p:nvCxnSpPr>
          <p:cNvPr id="67" name="Straight Connector 166"/>
          <p:cNvCxnSpPr>
            <a:stCxn id="64" idx="3"/>
            <a:endCxn id="66" idx="1"/>
          </p:cNvCxnSpPr>
          <p:nvPr/>
        </p:nvCxnSpPr>
        <p:spPr bwMode="gray">
          <a:xfrm flipV="1">
            <a:off x="3885434" y="4751976"/>
            <a:ext cx="460278" cy="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68" name="图片 14" descr="日志告警服务器-蓝.png"/>
          <p:cNvPicPr>
            <a:picLocks noChangeAspect="1"/>
          </p:cNvPicPr>
          <p:nvPr/>
        </p:nvPicPr>
        <p:blipFill>
          <a:blip r:embed="rId5" cstate="print"/>
          <a:stretch>
            <a:fillRect/>
          </a:stretch>
        </p:blipFill>
        <p:spPr bwMode="gray">
          <a:xfrm>
            <a:off x="4300639" y="5112943"/>
            <a:ext cx="445956" cy="278465"/>
          </a:xfrm>
          <a:prstGeom prst="rect">
            <a:avLst/>
          </a:prstGeom>
        </p:spPr>
      </p:pic>
      <p:pic>
        <p:nvPicPr>
          <p:cNvPr id="69" name="图片 68" descr="PC.png">
            <a:extLst>
              <a:ext uri="{FF2B5EF4-FFF2-40B4-BE49-F238E27FC236}">
                <a16:creationId xmlns="" xmlns:a16="http://schemas.microsoft.com/office/drawing/2014/main" id="{4666702E-823D-4236-BF2F-880359158C83}"/>
              </a:ext>
            </a:extLst>
          </p:cNvPr>
          <p:cNvPicPr>
            <a:picLocks noChangeAspect="1"/>
          </p:cNvPicPr>
          <p:nvPr/>
        </p:nvPicPr>
        <p:blipFill>
          <a:blip r:embed="rId6" cstate="print"/>
          <a:stretch>
            <a:fillRect/>
          </a:stretch>
        </p:blipFill>
        <p:spPr bwMode="gray">
          <a:xfrm>
            <a:off x="1508739" y="5084666"/>
            <a:ext cx="445506" cy="342149"/>
          </a:xfrm>
          <a:prstGeom prst="rect">
            <a:avLst/>
          </a:prstGeom>
        </p:spPr>
      </p:pic>
      <p:pic>
        <p:nvPicPr>
          <p:cNvPr id="70" name="图片 69" descr="PC.png">
            <a:extLst>
              <a:ext uri="{FF2B5EF4-FFF2-40B4-BE49-F238E27FC236}">
                <a16:creationId xmlns="" xmlns:a16="http://schemas.microsoft.com/office/drawing/2014/main" id="{4666702E-823D-4236-BF2F-880359158C83}"/>
              </a:ext>
            </a:extLst>
          </p:cNvPr>
          <p:cNvPicPr>
            <a:picLocks noChangeAspect="1"/>
          </p:cNvPicPr>
          <p:nvPr/>
        </p:nvPicPr>
        <p:blipFill>
          <a:blip r:embed="rId6" cstate="print"/>
          <a:stretch>
            <a:fillRect/>
          </a:stretch>
        </p:blipFill>
        <p:spPr bwMode="gray">
          <a:xfrm>
            <a:off x="3439540" y="5084333"/>
            <a:ext cx="445506" cy="342149"/>
          </a:xfrm>
          <a:prstGeom prst="rect">
            <a:avLst/>
          </a:prstGeom>
        </p:spPr>
      </p:pic>
      <p:cxnSp>
        <p:nvCxnSpPr>
          <p:cNvPr id="71" name="Straight Connector 167"/>
          <p:cNvCxnSpPr/>
          <p:nvPr/>
        </p:nvCxnSpPr>
        <p:spPr bwMode="gray">
          <a:xfrm flipH="1">
            <a:off x="1732203" y="3106898"/>
            <a:ext cx="971589" cy="876201"/>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72" name="Straight Connector 167"/>
          <p:cNvCxnSpPr/>
          <p:nvPr/>
        </p:nvCxnSpPr>
        <p:spPr bwMode="gray">
          <a:xfrm flipH="1" flipV="1">
            <a:off x="2700413" y="3104421"/>
            <a:ext cx="975076" cy="883934"/>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pic>
        <p:nvPicPr>
          <p:cNvPr id="76" name="图片 86" descr="核心交换机.png"/>
          <p:cNvPicPr>
            <a:picLocks noChangeAspect="1"/>
          </p:cNvPicPr>
          <p:nvPr/>
        </p:nvPicPr>
        <p:blipFill>
          <a:blip r:embed="rId7" cstate="print"/>
          <a:stretch>
            <a:fillRect/>
          </a:stretch>
        </p:blipFill>
        <p:spPr bwMode="gray">
          <a:xfrm>
            <a:off x="2488045" y="2924329"/>
            <a:ext cx="446281" cy="365139"/>
          </a:xfrm>
          <a:prstGeom prst="rect">
            <a:avLst/>
          </a:prstGeom>
        </p:spPr>
      </p:pic>
      <p:sp>
        <p:nvSpPr>
          <p:cNvPr id="77" name="文本框 76"/>
          <p:cNvSpPr txBox="1"/>
          <p:nvPr/>
        </p:nvSpPr>
        <p:spPr bwMode="gray">
          <a:xfrm>
            <a:off x="1890738" y="2950284"/>
            <a:ext cx="651140" cy="276999"/>
          </a:xfrm>
          <a:prstGeom prst="rect">
            <a:avLst/>
          </a:prstGeom>
          <a:noFill/>
        </p:spPr>
        <p:txBody>
          <a:bodyPr wrap="none" rtlCol="0">
            <a:spAutoFit/>
          </a:bodyPr>
          <a:lstStyle/>
          <a:p>
            <a:pPr algn="ctr"/>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Border</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78" name="文本框 77"/>
          <p:cNvSpPr txBox="1"/>
          <p:nvPr/>
        </p:nvSpPr>
        <p:spPr bwMode="gray">
          <a:xfrm>
            <a:off x="895398" y="4015818"/>
            <a:ext cx="684803" cy="276999"/>
          </a:xfrm>
          <a:prstGeom prst="rect">
            <a:avLst/>
          </a:prstGeom>
          <a:noFill/>
        </p:spPr>
        <p:txBody>
          <a:bodyPr wrap="none" rtlCol="0">
            <a:spAutoFit/>
          </a:bodyPr>
          <a:lstStyle/>
          <a:p>
            <a:pPr algn="r"/>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Edge_1</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95" name="文本框 94"/>
          <p:cNvSpPr txBox="1"/>
          <p:nvPr/>
        </p:nvSpPr>
        <p:spPr bwMode="gray">
          <a:xfrm>
            <a:off x="948297" y="4605357"/>
            <a:ext cx="631904" cy="276999"/>
          </a:xfrm>
          <a:prstGeom prst="rect">
            <a:avLst/>
          </a:prstGeom>
          <a:noFill/>
        </p:spPr>
        <p:txBody>
          <a:bodyPr wrap="none" rtlCol="0">
            <a:spAutoFit/>
          </a:bodyPr>
          <a:lstStyle/>
          <a:p>
            <a:pPr algn="r"/>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ACC_1</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pic>
        <p:nvPicPr>
          <p:cNvPr id="96" name="图片 87" descr="汇聚交换机.png"/>
          <p:cNvPicPr>
            <a:picLocks noChangeAspect="1"/>
          </p:cNvPicPr>
          <p:nvPr/>
        </p:nvPicPr>
        <p:blipFill>
          <a:blip r:embed="rId8" cstate="print"/>
          <a:stretch>
            <a:fillRect/>
          </a:stretch>
        </p:blipFill>
        <p:spPr bwMode="gray">
          <a:xfrm>
            <a:off x="1508352" y="3800991"/>
            <a:ext cx="446281" cy="365139"/>
          </a:xfrm>
          <a:prstGeom prst="rect">
            <a:avLst/>
          </a:prstGeom>
        </p:spPr>
      </p:pic>
      <p:pic>
        <p:nvPicPr>
          <p:cNvPr id="97" name="图片 87" descr="汇聚交换机.png"/>
          <p:cNvPicPr>
            <a:picLocks noChangeAspect="1"/>
          </p:cNvPicPr>
          <p:nvPr/>
        </p:nvPicPr>
        <p:blipFill>
          <a:blip r:embed="rId8" cstate="print"/>
          <a:stretch>
            <a:fillRect/>
          </a:stretch>
        </p:blipFill>
        <p:spPr bwMode="gray">
          <a:xfrm>
            <a:off x="3439153" y="3800991"/>
            <a:ext cx="446281" cy="365139"/>
          </a:xfrm>
          <a:prstGeom prst="rect">
            <a:avLst/>
          </a:prstGeom>
        </p:spPr>
      </p:pic>
      <p:sp>
        <p:nvSpPr>
          <p:cNvPr id="98" name="文本框 97"/>
          <p:cNvSpPr txBox="1"/>
          <p:nvPr/>
        </p:nvSpPr>
        <p:spPr bwMode="gray">
          <a:xfrm>
            <a:off x="3842963" y="4015818"/>
            <a:ext cx="684803" cy="276999"/>
          </a:xfrm>
          <a:prstGeom prst="rect">
            <a:avLst/>
          </a:prstGeom>
          <a:noFill/>
        </p:spPr>
        <p:txBody>
          <a:bodyPr wrap="none" rtlCol="0">
            <a:spAutoFit/>
          </a:bodyPr>
          <a:lstStyle/>
          <a:p>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Edge_2</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99" name="文本框 98"/>
          <p:cNvSpPr txBox="1"/>
          <p:nvPr/>
        </p:nvSpPr>
        <p:spPr bwMode="gray">
          <a:xfrm>
            <a:off x="4293426" y="4358871"/>
            <a:ext cx="460382" cy="276999"/>
          </a:xfrm>
          <a:prstGeom prst="rect">
            <a:avLst/>
          </a:prstGeom>
          <a:noFill/>
        </p:spPr>
        <p:txBody>
          <a:bodyPr wrap="none" rtlCol="0">
            <a:spAutoFit/>
          </a:bodyPr>
          <a:lstStyle/>
          <a:p>
            <a:pPr algn="ctr"/>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AP1</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100" name="文本框 99"/>
          <p:cNvSpPr txBox="1"/>
          <p:nvPr/>
        </p:nvSpPr>
        <p:spPr bwMode="gray">
          <a:xfrm>
            <a:off x="1504507" y="5392407"/>
            <a:ext cx="453970" cy="276999"/>
          </a:xfrm>
          <a:prstGeom prst="rect">
            <a:avLst/>
          </a:prstGeom>
          <a:noFill/>
        </p:spPr>
        <p:txBody>
          <a:bodyPr wrap="none" rtlCol="0">
            <a:spAutoFit/>
          </a:bodyPr>
          <a:lstStyle/>
          <a:p>
            <a:pPr algn="ctr"/>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PC1</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101" name="文本框 100"/>
          <p:cNvSpPr txBox="1"/>
          <p:nvPr/>
        </p:nvSpPr>
        <p:spPr bwMode="gray">
          <a:xfrm>
            <a:off x="3435308" y="5392407"/>
            <a:ext cx="453970" cy="276999"/>
          </a:xfrm>
          <a:prstGeom prst="rect">
            <a:avLst/>
          </a:prstGeom>
          <a:noFill/>
        </p:spPr>
        <p:txBody>
          <a:bodyPr wrap="none" rtlCol="0">
            <a:spAutoFit/>
          </a:bodyPr>
          <a:lstStyle/>
          <a:p>
            <a:pPr algn="ctr"/>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PC2</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cxnSp>
        <p:nvCxnSpPr>
          <p:cNvPr id="102" name="Straight Connector 166"/>
          <p:cNvCxnSpPr>
            <a:stCxn id="63" idx="2"/>
            <a:endCxn id="69" idx="0"/>
          </p:cNvCxnSpPr>
          <p:nvPr/>
        </p:nvCxnSpPr>
        <p:spPr bwMode="gray">
          <a:xfrm flipH="1">
            <a:off x="1731492" y="4934546"/>
            <a:ext cx="1" cy="15012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3" name="Straight Connector 166"/>
          <p:cNvCxnSpPr>
            <a:stCxn id="64" idx="2"/>
            <a:endCxn id="70" idx="0"/>
          </p:cNvCxnSpPr>
          <p:nvPr/>
        </p:nvCxnSpPr>
        <p:spPr bwMode="gray">
          <a:xfrm flipH="1">
            <a:off x="3662293" y="4934546"/>
            <a:ext cx="1" cy="14978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04" name="文本框 103"/>
          <p:cNvSpPr txBox="1"/>
          <p:nvPr/>
        </p:nvSpPr>
        <p:spPr bwMode="gray">
          <a:xfrm>
            <a:off x="4303140" y="5392407"/>
            <a:ext cx="453970" cy="276999"/>
          </a:xfrm>
          <a:prstGeom prst="rect">
            <a:avLst/>
          </a:prstGeom>
          <a:noFill/>
        </p:spPr>
        <p:txBody>
          <a:bodyPr wrap="none" rtlCol="0">
            <a:spAutoFit/>
          </a:bodyPr>
          <a:lstStyle/>
          <a:p>
            <a:pPr algn="ctr"/>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PC3</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105" name="文本框 104"/>
          <p:cNvSpPr txBox="1"/>
          <p:nvPr/>
        </p:nvSpPr>
        <p:spPr bwMode="gray">
          <a:xfrm>
            <a:off x="2834929" y="4605357"/>
            <a:ext cx="631904" cy="276999"/>
          </a:xfrm>
          <a:prstGeom prst="rect">
            <a:avLst/>
          </a:prstGeom>
          <a:noFill/>
        </p:spPr>
        <p:txBody>
          <a:bodyPr wrap="none" rtlCol="0">
            <a:spAutoFit/>
          </a:bodyPr>
          <a:lstStyle/>
          <a:p>
            <a:pPr algn="r"/>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ACC_2</a:t>
            </a:r>
          </a:p>
        </p:txBody>
      </p:sp>
      <p:sp>
        <p:nvSpPr>
          <p:cNvPr id="106" name="梯形 105"/>
          <p:cNvSpPr/>
          <p:nvPr/>
        </p:nvSpPr>
        <p:spPr bwMode="gray">
          <a:xfrm>
            <a:off x="1035697" y="3541190"/>
            <a:ext cx="3221543" cy="501291"/>
          </a:xfrm>
          <a:prstGeom prst="trapezoid">
            <a:avLst>
              <a:gd name="adj" fmla="val 22961"/>
            </a:avLst>
          </a:prstGeom>
          <a:gradFill flip="none" rotWithShape="1">
            <a:gsLst>
              <a:gs pos="0">
                <a:schemeClr val="bg1">
                  <a:alpha val="4000"/>
                </a:schemeClr>
              </a:gs>
              <a:gs pos="100000">
                <a:srgbClr val="EEB3B8"/>
              </a:gs>
            </a:gsLst>
            <a:lin ang="5400000" scaled="1"/>
            <a:tileRect/>
          </a:gradFill>
          <a:ln>
            <a:gradFill flip="none" rotWithShape="1">
              <a:gsLst>
                <a:gs pos="0">
                  <a:schemeClr val="accent1">
                    <a:lumMod val="5000"/>
                    <a:lumOff val="95000"/>
                    <a:alpha val="0"/>
                  </a:schemeClr>
                </a:gs>
                <a:gs pos="82000">
                  <a:srgbClr val="E28189"/>
                </a:gs>
              </a:gsLst>
              <a:lin ang="54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7" name="梯形 106"/>
          <p:cNvSpPr/>
          <p:nvPr/>
        </p:nvSpPr>
        <p:spPr bwMode="gray">
          <a:xfrm>
            <a:off x="1035697" y="3150687"/>
            <a:ext cx="3221543" cy="501291"/>
          </a:xfrm>
          <a:prstGeom prst="trapezoid">
            <a:avLst>
              <a:gd name="adj" fmla="val 22961"/>
            </a:avLst>
          </a:prstGeom>
          <a:gradFill flip="none" rotWithShape="1">
            <a:gsLst>
              <a:gs pos="0">
                <a:schemeClr val="bg1">
                  <a:alpha val="4000"/>
                </a:schemeClr>
              </a:gs>
              <a:gs pos="100000">
                <a:schemeClr val="accent2">
                  <a:lumMod val="20000"/>
                  <a:lumOff val="80000"/>
                </a:schemeClr>
              </a:gs>
            </a:gsLst>
            <a:lin ang="5400000" scaled="1"/>
            <a:tileRect/>
          </a:gradFill>
          <a:ln>
            <a:gradFill flip="none" rotWithShape="1">
              <a:gsLst>
                <a:gs pos="0">
                  <a:schemeClr val="accent1">
                    <a:lumMod val="5000"/>
                    <a:lumOff val="95000"/>
                    <a:alpha val="0"/>
                  </a:schemeClr>
                </a:gs>
                <a:gs pos="82000">
                  <a:schemeClr val="accent2">
                    <a:lumMod val="60000"/>
                    <a:lumOff val="40000"/>
                  </a:schemeClr>
                </a:gs>
              </a:gsLst>
              <a:lin ang="54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8" name="文本框 107"/>
          <p:cNvSpPr txBox="1"/>
          <p:nvPr/>
        </p:nvSpPr>
        <p:spPr bwMode="gray">
          <a:xfrm>
            <a:off x="2199556" y="3775817"/>
            <a:ext cx="875561" cy="276999"/>
          </a:xfrm>
          <a:prstGeom prst="rect">
            <a:avLst/>
          </a:prstGeom>
          <a:noFill/>
        </p:spPr>
        <p:txBody>
          <a:bodyPr wrap="none" rtlCol="0">
            <a:spAutoFit/>
          </a:bodyPr>
          <a:lstStyle/>
          <a:p>
            <a:pPr algn="ctr"/>
            <a:r>
              <a:rPr lang="en-US" altLang="zh-CN" sz="1200" b="1" dirty="0">
                <a:latin typeface="Huawei Sans" panose="020C0503030203020204" pitchFamily="34" charset="0"/>
                <a:ea typeface="方正兰亭黑简体" panose="02000000000000000000" pitchFamily="2" charset="-122"/>
                <a:cs typeface="Huawei Sans" panose="020C0503030203020204" pitchFamily="34" charset="0"/>
              </a:rPr>
              <a:t>OA</a:t>
            </a:r>
            <a:r>
              <a:rPr lang="zh-CN" altLang="en-US" sz="1200" b="1" dirty="0" smtClean="0">
                <a:latin typeface="Huawei Sans" panose="020C0503030203020204" pitchFamily="34" charset="0"/>
                <a:ea typeface="方正兰亭黑简体" panose="02000000000000000000" pitchFamily="2" charset="-122"/>
                <a:cs typeface="Huawei Sans" panose="020C0503030203020204" pitchFamily="34" charset="0"/>
              </a:rPr>
              <a:t>虚拟网</a:t>
            </a:r>
            <a:endParaRPr lang="zh-CN" altLang="en-US" sz="1200" b="1"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109" name="文本框 108"/>
          <p:cNvSpPr txBox="1"/>
          <p:nvPr/>
        </p:nvSpPr>
        <p:spPr bwMode="gray">
          <a:xfrm>
            <a:off x="2214234" y="3360330"/>
            <a:ext cx="859530" cy="276999"/>
          </a:xfrm>
          <a:prstGeom prst="rect">
            <a:avLst/>
          </a:prstGeom>
          <a:noFill/>
        </p:spPr>
        <p:txBody>
          <a:bodyPr wrap="none" rtlCol="0">
            <a:spAutoFit/>
          </a:bodyPr>
          <a:lstStyle/>
          <a:p>
            <a:pPr algn="ctr"/>
            <a:r>
              <a:rPr lang="en-US" altLang="zh-CN" sz="1200" b="1" dirty="0" smtClean="0">
                <a:latin typeface="Huawei Sans" panose="020C0503030203020204" pitchFamily="34" charset="0"/>
                <a:ea typeface="方正兰亭黑简体" panose="02000000000000000000" pitchFamily="2" charset="-122"/>
                <a:cs typeface="Huawei Sans" panose="020C0503030203020204" pitchFamily="34" charset="0"/>
              </a:rPr>
              <a:t>RD</a:t>
            </a:r>
            <a:r>
              <a:rPr lang="zh-CN" altLang="en-US" sz="1200" b="1" dirty="0" smtClean="0">
                <a:latin typeface="Huawei Sans" panose="020C0503030203020204" pitchFamily="34" charset="0"/>
                <a:ea typeface="方正兰亭黑简体" panose="02000000000000000000" pitchFamily="2" charset="-122"/>
                <a:cs typeface="Huawei Sans" panose="020C0503030203020204" pitchFamily="34" charset="0"/>
              </a:rPr>
              <a:t>虚拟网</a:t>
            </a:r>
            <a:endParaRPr lang="zh-CN" altLang="en-US" sz="1200" b="1" dirty="0">
              <a:latin typeface="Huawei Sans" panose="020C0503030203020204" pitchFamily="34" charset="0"/>
              <a:ea typeface="方正兰亭黑简体" panose="02000000000000000000" pitchFamily="2" charset="-122"/>
              <a:cs typeface="Huawei Sans" panose="020C0503030203020204" pitchFamily="34" charset="0"/>
            </a:endParaRPr>
          </a:p>
        </p:txBody>
      </p:sp>
      <p:grpSp>
        <p:nvGrpSpPr>
          <p:cNvPr id="110" name="组合 758"/>
          <p:cNvGrpSpPr/>
          <p:nvPr/>
        </p:nvGrpSpPr>
        <p:grpSpPr bwMode="gray">
          <a:xfrm flipV="1">
            <a:off x="4439160" y="4922631"/>
            <a:ext cx="168914" cy="131950"/>
            <a:chOff x="7440613" y="4868863"/>
            <a:chExt cx="1019175" cy="828675"/>
          </a:xfrm>
          <a:solidFill>
            <a:schemeClr val="bg1">
              <a:lumMod val="50000"/>
            </a:schemeClr>
          </a:solidFill>
        </p:grpSpPr>
        <p:sp>
          <p:nvSpPr>
            <p:cNvPr id="111" name="Freeform 15"/>
            <p:cNvSpPr>
              <a:spLocks/>
            </p:cNvSpPr>
            <p:nvPr/>
          </p:nvSpPr>
          <p:spPr bwMode="gray">
            <a:xfrm>
              <a:off x="7832726" y="5462588"/>
              <a:ext cx="234950" cy="234950"/>
            </a:xfrm>
            <a:custGeom>
              <a:avLst/>
              <a:gdLst/>
              <a:ahLst/>
              <a:cxnLst>
                <a:cxn ang="0">
                  <a:pos x="3281" y="680"/>
                </a:cxn>
                <a:cxn ang="0">
                  <a:pos x="3439" y="907"/>
                </a:cxn>
                <a:cxn ang="0">
                  <a:pos x="3559" y="1151"/>
                </a:cxn>
                <a:cxn ang="0">
                  <a:pos x="3642" y="1406"/>
                </a:cxn>
                <a:cxn ang="0">
                  <a:pos x="3686" y="1670"/>
                </a:cxn>
                <a:cxn ang="0">
                  <a:pos x="3693" y="1936"/>
                </a:cxn>
                <a:cxn ang="0">
                  <a:pos x="3661" y="2201"/>
                </a:cxn>
                <a:cxn ang="0">
                  <a:pos x="3591" y="2460"/>
                </a:cxn>
                <a:cxn ang="0">
                  <a:pos x="3484" y="2708"/>
                </a:cxn>
                <a:cxn ang="0">
                  <a:pos x="3339" y="2941"/>
                </a:cxn>
                <a:cxn ang="0">
                  <a:pos x="3155" y="3155"/>
                </a:cxn>
                <a:cxn ang="0">
                  <a:pos x="2941" y="3339"/>
                </a:cxn>
                <a:cxn ang="0">
                  <a:pos x="2708" y="3484"/>
                </a:cxn>
                <a:cxn ang="0">
                  <a:pos x="2460" y="3592"/>
                </a:cxn>
                <a:cxn ang="0">
                  <a:pos x="2201" y="3661"/>
                </a:cxn>
                <a:cxn ang="0">
                  <a:pos x="1936" y="3693"/>
                </a:cxn>
                <a:cxn ang="0">
                  <a:pos x="1670" y="3687"/>
                </a:cxn>
                <a:cxn ang="0">
                  <a:pos x="1408" y="3643"/>
                </a:cxn>
                <a:cxn ang="0">
                  <a:pos x="1152" y="3561"/>
                </a:cxn>
                <a:cxn ang="0">
                  <a:pos x="908" y="3440"/>
                </a:cxn>
                <a:cxn ang="0">
                  <a:pos x="680" y="3282"/>
                </a:cxn>
                <a:cxn ang="0">
                  <a:pos x="475" y="3086"/>
                </a:cxn>
                <a:cxn ang="0">
                  <a:pos x="304" y="2866"/>
                </a:cxn>
                <a:cxn ang="0">
                  <a:pos x="172" y="2627"/>
                </a:cxn>
                <a:cxn ang="0">
                  <a:pos x="76" y="2374"/>
                </a:cxn>
                <a:cxn ang="0">
                  <a:pos x="19" y="2114"/>
                </a:cxn>
                <a:cxn ang="0">
                  <a:pos x="0" y="1848"/>
                </a:cxn>
                <a:cxn ang="0">
                  <a:pos x="19" y="1582"/>
                </a:cxn>
                <a:cxn ang="0">
                  <a:pos x="76" y="1321"/>
                </a:cxn>
                <a:cxn ang="0">
                  <a:pos x="171" y="1069"/>
                </a:cxn>
                <a:cxn ang="0">
                  <a:pos x="304" y="830"/>
                </a:cxn>
                <a:cxn ang="0">
                  <a:pos x="475" y="609"/>
                </a:cxn>
                <a:cxn ang="0">
                  <a:pos x="680" y="414"/>
                </a:cxn>
                <a:cxn ang="0">
                  <a:pos x="907" y="255"/>
                </a:cxn>
                <a:cxn ang="0">
                  <a:pos x="1151" y="135"/>
                </a:cxn>
                <a:cxn ang="0">
                  <a:pos x="1407" y="52"/>
                </a:cxn>
                <a:cxn ang="0">
                  <a:pos x="1669" y="8"/>
                </a:cxn>
                <a:cxn ang="0">
                  <a:pos x="1936" y="2"/>
                </a:cxn>
                <a:cxn ang="0">
                  <a:pos x="2201" y="33"/>
                </a:cxn>
                <a:cxn ang="0">
                  <a:pos x="2459" y="104"/>
                </a:cxn>
                <a:cxn ang="0">
                  <a:pos x="2708" y="211"/>
                </a:cxn>
                <a:cxn ang="0">
                  <a:pos x="2940" y="356"/>
                </a:cxn>
                <a:cxn ang="0">
                  <a:pos x="3154" y="539"/>
                </a:cxn>
              </a:cxnLst>
              <a:rect l="0" t="0" r="r" b="b"/>
              <a:pathLst>
                <a:path w="3695" h="3695">
                  <a:moveTo>
                    <a:pt x="3154" y="539"/>
                  </a:moveTo>
                  <a:lnTo>
                    <a:pt x="3220" y="608"/>
                  </a:lnTo>
                  <a:lnTo>
                    <a:pt x="3281" y="680"/>
                  </a:lnTo>
                  <a:lnTo>
                    <a:pt x="3338" y="754"/>
                  </a:lnTo>
                  <a:lnTo>
                    <a:pt x="3391" y="829"/>
                  </a:lnTo>
                  <a:lnTo>
                    <a:pt x="3439" y="907"/>
                  </a:lnTo>
                  <a:lnTo>
                    <a:pt x="3483" y="987"/>
                  </a:lnTo>
                  <a:lnTo>
                    <a:pt x="3523" y="1068"/>
                  </a:lnTo>
                  <a:lnTo>
                    <a:pt x="3559" y="1151"/>
                  </a:lnTo>
                  <a:lnTo>
                    <a:pt x="3591" y="1235"/>
                  </a:lnTo>
                  <a:lnTo>
                    <a:pt x="3619" y="1320"/>
                  </a:lnTo>
                  <a:lnTo>
                    <a:pt x="3642" y="1406"/>
                  </a:lnTo>
                  <a:lnTo>
                    <a:pt x="3661" y="1493"/>
                  </a:lnTo>
                  <a:lnTo>
                    <a:pt x="3676" y="1582"/>
                  </a:lnTo>
                  <a:lnTo>
                    <a:pt x="3686" y="1670"/>
                  </a:lnTo>
                  <a:lnTo>
                    <a:pt x="3693" y="1758"/>
                  </a:lnTo>
                  <a:lnTo>
                    <a:pt x="3695" y="1847"/>
                  </a:lnTo>
                  <a:lnTo>
                    <a:pt x="3693" y="1936"/>
                  </a:lnTo>
                  <a:lnTo>
                    <a:pt x="3686" y="2024"/>
                  </a:lnTo>
                  <a:lnTo>
                    <a:pt x="3676" y="2113"/>
                  </a:lnTo>
                  <a:lnTo>
                    <a:pt x="3661" y="2201"/>
                  </a:lnTo>
                  <a:lnTo>
                    <a:pt x="3642" y="2288"/>
                  </a:lnTo>
                  <a:lnTo>
                    <a:pt x="3619" y="2374"/>
                  </a:lnTo>
                  <a:lnTo>
                    <a:pt x="3591" y="2460"/>
                  </a:lnTo>
                  <a:lnTo>
                    <a:pt x="3559" y="2544"/>
                  </a:lnTo>
                  <a:lnTo>
                    <a:pt x="3524" y="2626"/>
                  </a:lnTo>
                  <a:lnTo>
                    <a:pt x="3484" y="2708"/>
                  </a:lnTo>
                  <a:lnTo>
                    <a:pt x="3439" y="2788"/>
                  </a:lnTo>
                  <a:lnTo>
                    <a:pt x="3391" y="2865"/>
                  </a:lnTo>
                  <a:lnTo>
                    <a:pt x="3339" y="2941"/>
                  </a:lnTo>
                  <a:lnTo>
                    <a:pt x="3281" y="3015"/>
                  </a:lnTo>
                  <a:lnTo>
                    <a:pt x="3220" y="3086"/>
                  </a:lnTo>
                  <a:lnTo>
                    <a:pt x="3155" y="3155"/>
                  </a:lnTo>
                  <a:lnTo>
                    <a:pt x="3086" y="3220"/>
                  </a:lnTo>
                  <a:lnTo>
                    <a:pt x="3015" y="3282"/>
                  </a:lnTo>
                  <a:lnTo>
                    <a:pt x="2941" y="3339"/>
                  </a:lnTo>
                  <a:lnTo>
                    <a:pt x="2865" y="3391"/>
                  </a:lnTo>
                  <a:lnTo>
                    <a:pt x="2788" y="3440"/>
                  </a:lnTo>
                  <a:lnTo>
                    <a:pt x="2708" y="3484"/>
                  </a:lnTo>
                  <a:lnTo>
                    <a:pt x="2626" y="3524"/>
                  </a:lnTo>
                  <a:lnTo>
                    <a:pt x="2544" y="3560"/>
                  </a:lnTo>
                  <a:lnTo>
                    <a:pt x="2460" y="3592"/>
                  </a:lnTo>
                  <a:lnTo>
                    <a:pt x="2375" y="3619"/>
                  </a:lnTo>
                  <a:lnTo>
                    <a:pt x="2288" y="3643"/>
                  </a:lnTo>
                  <a:lnTo>
                    <a:pt x="2201" y="3661"/>
                  </a:lnTo>
                  <a:lnTo>
                    <a:pt x="2114" y="3676"/>
                  </a:lnTo>
                  <a:lnTo>
                    <a:pt x="2026" y="3687"/>
                  </a:lnTo>
                  <a:lnTo>
                    <a:pt x="1936" y="3693"/>
                  </a:lnTo>
                  <a:lnTo>
                    <a:pt x="1848" y="3695"/>
                  </a:lnTo>
                  <a:lnTo>
                    <a:pt x="1759" y="3693"/>
                  </a:lnTo>
                  <a:lnTo>
                    <a:pt x="1670" y="3687"/>
                  </a:lnTo>
                  <a:lnTo>
                    <a:pt x="1582" y="3676"/>
                  </a:lnTo>
                  <a:lnTo>
                    <a:pt x="1495" y="3662"/>
                  </a:lnTo>
                  <a:lnTo>
                    <a:pt x="1408" y="3643"/>
                  </a:lnTo>
                  <a:lnTo>
                    <a:pt x="1321" y="3620"/>
                  </a:lnTo>
                  <a:lnTo>
                    <a:pt x="1236" y="3592"/>
                  </a:lnTo>
                  <a:lnTo>
                    <a:pt x="1152" y="3561"/>
                  </a:lnTo>
                  <a:lnTo>
                    <a:pt x="1069" y="3524"/>
                  </a:lnTo>
                  <a:lnTo>
                    <a:pt x="987" y="3484"/>
                  </a:lnTo>
                  <a:lnTo>
                    <a:pt x="908" y="3440"/>
                  </a:lnTo>
                  <a:lnTo>
                    <a:pt x="830" y="3391"/>
                  </a:lnTo>
                  <a:lnTo>
                    <a:pt x="755" y="3339"/>
                  </a:lnTo>
                  <a:lnTo>
                    <a:pt x="680" y="3282"/>
                  </a:lnTo>
                  <a:lnTo>
                    <a:pt x="609" y="3220"/>
                  </a:lnTo>
                  <a:lnTo>
                    <a:pt x="541" y="3155"/>
                  </a:lnTo>
                  <a:lnTo>
                    <a:pt x="475" y="3086"/>
                  </a:lnTo>
                  <a:lnTo>
                    <a:pt x="414" y="3015"/>
                  </a:lnTo>
                  <a:lnTo>
                    <a:pt x="357" y="2941"/>
                  </a:lnTo>
                  <a:lnTo>
                    <a:pt x="304" y="2866"/>
                  </a:lnTo>
                  <a:lnTo>
                    <a:pt x="256" y="2788"/>
                  </a:lnTo>
                  <a:lnTo>
                    <a:pt x="212" y="2709"/>
                  </a:lnTo>
                  <a:lnTo>
                    <a:pt x="172" y="2627"/>
                  </a:lnTo>
                  <a:lnTo>
                    <a:pt x="136" y="2544"/>
                  </a:lnTo>
                  <a:lnTo>
                    <a:pt x="104" y="2460"/>
                  </a:lnTo>
                  <a:lnTo>
                    <a:pt x="76" y="2374"/>
                  </a:lnTo>
                  <a:lnTo>
                    <a:pt x="53" y="2288"/>
                  </a:lnTo>
                  <a:lnTo>
                    <a:pt x="34" y="2201"/>
                  </a:lnTo>
                  <a:lnTo>
                    <a:pt x="19" y="2114"/>
                  </a:lnTo>
                  <a:lnTo>
                    <a:pt x="9" y="2025"/>
                  </a:lnTo>
                  <a:lnTo>
                    <a:pt x="2" y="1937"/>
                  </a:lnTo>
                  <a:lnTo>
                    <a:pt x="0" y="1848"/>
                  </a:lnTo>
                  <a:lnTo>
                    <a:pt x="2" y="1759"/>
                  </a:lnTo>
                  <a:lnTo>
                    <a:pt x="9" y="1670"/>
                  </a:lnTo>
                  <a:lnTo>
                    <a:pt x="19" y="1582"/>
                  </a:lnTo>
                  <a:lnTo>
                    <a:pt x="34" y="1494"/>
                  </a:lnTo>
                  <a:lnTo>
                    <a:pt x="53" y="1407"/>
                  </a:lnTo>
                  <a:lnTo>
                    <a:pt x="76" y="1321"/>
                  </a:lnTo>
                  <a:lnTo>
                    <a:pt x="104" y="1236"/>
                  </a:lnTo>
                  <a:lnTo>
                    <a:pt x="136" y="1151"/>
                  </a:lnTo>
                  <a:lnTo>
                    <a:pt x="171" y="1069"/>
                  </a:lnTo>
                  <a:lnTo>
                    <a:pt x="211" y="988"/>
                  </a:lnTo>
                  <a:lnTo>
                    <a:pt x="255" y="907"/>
                  </a:lnTo>
                  <a:lnTo>
                    <a:pt x="304" y="830"/>
                  </a:lnTo>
                  <a:lnTo>
                    <a:pt x="356" y="754"/>
                  </a:lnTo>
                  <a:lnTo>
                    <a:pt x="414" y="681"/>
                  </a:lnTo>
                  <a:lnTo>
                    <a:pt x="475" y="609"/>
                  </a:lnTo>
                  <a:lnTo>
                    <a:pt x="540" y="540"/>
                  </a:lnTo>
                  <a:lnTo>
                    <a:pt x="609" y="475"/>
                  </a:lnTo>
                  <a:lnTo>
                    <a:pt x="680" y="414"/>
                  </a:lnTo>
                  <a:lnTo>
                    <a:pt x="754" y="356"/>
                  </a:lnTo>
                  <a:lnTo>
                    <a:pt x="830" y="303"/>
                  </a:lnTo>
                  <a:lnTo>
                    <a:pt x="907" y="255"/>
                  </a:lnTo>
                  <a:lnTo>
                    <a:pt x="987" y="211"/>
                  </a:lnTo>
                  <a:lnTo>
                    <a:pt x="1069" y="171"/>
                  </a:lnTo>
                  <a:lnTo>
                    <a:pt x="1151" y="135"/>
                  </a:lnTo>
                  <a:lnTo>
                    <a:pt x="1235" y="104"/>
                  </a:lnTo>
                  <a:lnTo>
                    <a:pt x="1320" y="76"/>
                  </a:lnTo>
                  <a:lnTo>
                    <a:pt x="1407" y="52"/>
                  </a:lnTo>
                  <a:lnTo>
                    <a:pt x="1494" y="33"/>
                  </a:lnTo>
                  <a:lnTo>
                    <a:pt x="1581" y="19"/>
                  </a:lnTo>
                  <a:lnTo>
                    <a:pt x="1669" y="8"/>
                  </a:lnTo>
                  <a:lnTo>
                    <a:pt x="1759" y="2"/>
                  </a:lnTo>
                  <a:lnTo>
                    <a:pt x="1847" y="0"/>
                  </a:lnTo>
                  <a:lnTo>
                    <a:pt x="1936" y="2"/>
                  </a:lnTo>
                  <a:lnTo>
                    <a:pt x="2025" y="8"/>
                  </a:lnTo>
                  <a:lnTo>
                    <a:pt x="2113" y="19"/>
                  </a:lnTo>
                  <a:lnTo>
                    <a:pt x="2201" y="33"/>
                  </a:lnTo>
                  <a:lnTo>
                    <a:pt x="2287" y="52"/>
                  </a:lnTo>
                  <a:lnTo>
                    <a:pt x="2374" y="76"/>
                  </a:lnTo>
                  <a:lnTo>
                    <a:pt x="2459" y="104"/>
                  </a:lnTo>
                  <a:lnTo>
                    <a:pt x="2543" y="135"/>
                  </a:lnTo>
                  <a:lnTo>
                    <a:pt x="2626" y="171"/>
                  </a:lnTo>
                  <a:lnTo>
                    <a:pt x="2708" y="211"/>
                  </a:lnTo>
                  <a:lnTo>
                    <a:pt x="2787" y="255"/>
                  </a:lnTo>
                  <a:lnTo>
                    <a:pt x="2865" y="303"/>
                  </a:lnTo>
                  <a:lnTo>
                    <a:pt x="2940" y="356"/>
                  </a:lnTo>
                  <a:lnTo>
                    <a:pt x="3015" y="413"/>
                  </a:lnTo>
                  <a:lnTo>
                    <a:pt x="3086" y="474"/>
                  </a:lnTo>
                  <a:lnTo>
                    <a:pt x="3154" y="539"/>
                  </a:lnTo>
                  <a:close/>
                </a:path>
              </a:pathLst>
            </a:custGeom>
            <a:grpFill/>
            <a:ln w="9525">
              <a:noFill/>
              <a:round/>
              <a:headEnd/>
              <a:tailEnd/>
            </a:ln>
          </p:spPr>
          <p:txBody>
            <a:bodyPr/>
            <a:lstStyle/>
            <a:p>
              <a:pPr algn="ctr" eaLnBrk="1" fontAlgn="auto" hangingPunct="1">
                <a:spcBef>
                  <a:spcPts val="0"/>
                </a:spcBef>
                <a:spcAft>
                  <a:spcPts val="0"/>
                </a:spcAft>
                <a:defRPr/>
              </a:pPr>
              <a:endParaRPr lang="zh-CN" altLang="en-US" sz="1200" ker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7" name="Freeform 16"/>
            <p:cNvSpPr>
              <a:spLocks noEditPoints="1"/>
            </p:cNvSpPr>
            <p:nvPr/>
          </p:nvSpPr>
          <p:spPr bwMode="gray">
            <a:xfrm>
              <a:off x="7440613" y="4868863"/>
              <a:ext cx="1019175" cy="544513"/>
            </a:xfrm>
            <a:custGeom>
              <a:avLst/>
              <a:gdLst/>
              <a:ahLst/>
              <a:cxnLst>
                <a:cxn ang="0">
                  <a:pos x="16025" y="3351"/>
                </a:cxn>
                <a:cxn ang="0">
                  <a:pos x="14975" y="4351"/>
                </a:cxn>
                <a:cxn ang="0">
                  <a:pos x="14184" y="3632"/>
                </a:cxn>
                <a:cxn ang="0">
                  <a:pos x="12564" y="2563"/>
                </a:cxn>
                <a:cxn ang="0">
                  <a:pos x="10805" y="1850"/>
                </a:cxn>
                <a:cxn ang="0">
                  <a:pos x="8960" y="1494"/>
                </a:cxn>
                <a:cxn ang="0">
                  <a:pos x="7087" y="1494"/>
                </a:cxn>
                <a:cxn ang="0">
                  <a:pos x="5243" y="1851"/>
                </a:cxn>
                <a:cxn ang="0">
                  <a:pos x="3483" y="2564"/>
                </a:cxn>
                <a:cxn ang="0">
                  <a:pos x="1864" y="3634"/>
                </a:cxn>
                <a:cxn ang="0">
                  <a:pos x="1075" y="4353"/>
                </a:cxn>
                <a:cxn ang="0">
                  <a:pos x="24" y="3353"/>
                </a:cxn>
                <a:cxn ang="0">
                  <a:pos x="516" y="2880"/>
                </a:cxn>
                <a:cxn ang="0">
                  <a:pos x="2325" y="1549"/>
                </a:cxn>
                <a:cxn ang="0">
                  <a:pos x="4312" y="627"/>
                </a:cxn>
                <a:cxn ang="0">
                  <a:pos x="6413" y="115"/>
                </a:cxn>
                <a:cxn ang="0">
                  <a:pos x="8562" y="13"/>
                </a:cxn>
                <a:cxn ang="0">
                  <a:pos x="10694" y="319"/>
                </a:cxn>
                <a:cxn ang="0">
                  <a:pos x="12747" y="1036"/>
                </a:cxn>
                <a:cxn ang="0">
                  <a:pos x="14654" y="2160"/>
                </a:cxn>
                <a:cxn ang="0">
                  <a:pos x="14055" y="5373"/>
                </a:cxn>
                <a:cxn ang="0">
                  <a:pos x="12871" y="6404"/>
                </a:cxn>
                <a:cxn ang="0">
                  <a:pos x="12058" y="5702"/>
                </a:cxn>
                <a:cxn ang="0">
                  <a:pos x="10898" y="5017"/>
                </a:cxn>
                <a:cxn ang="0">
                  <a:pos x="9649" y="4582"/>
                </a:cxn>
                <a:cxn ang="0">
                  <a:pos x="8352" y="4395"/>
                </a:cxn>
                <a:cxn ang="0">
                  <a:pos x="7044" y="4457"/>
                </a:cxn>
                <a:cxn ang="0">
                  <a:pos x="5767" y="4769"/>
                </a:cxn>
                <a:cxn ang="0">
                  <a:pos x="4558" y="5329"/>
                </a:cxn>
                <a:cxn ang="0">
                  <a:pos x="3457" y="6139"/>
                </a:cxn>
                <a:cxn ang="0">
                  <a:pos x="3129" y="6456"/>
                </a:cxn>
                <a:cxn ang="0">
                  <a:pos x="2045" y="5322"/>
                </a:cxn>
                <a:cxn ang="0">
                  <a:pos x="2731" y="4697"/>
                </a:cxn>
                <a:cxn ang="0">
                  <a:pos x="4122" y="3779"/>
                </a:cxn>
                <a:cxn ang="0">
                  <a:pos x="5635" y="3166"/>
                </a:cxn>
                <a:cxn ang="0">
                  <a:pos x="7219" y="2859"/>
                </a:cxn>
                <a:cxn ang="0">
                  <a:pos x="8829" y="2859"/>
                </a:cxn>
                <a:cxn ang="0">
                  <a:pos x="10413" y="3165"/>
                </a:cxn>
                <a:cxn ang="0">
                  <a:pos x="11926" y="3777"/>
                </a:cxn>
                <a:cxn ang="0">
                  <a:pos x="13318" y="4696"/>
                </a:cxn>
                <a:cxn ang="0">
                  <a:pos x="14005" y="5321"/>
                </a:cxn>
                <a:cxn ang="0">
                  <a:pos x="10854" y="8576"/>
                </a:cxn>
                <a:cxn ang="0">
                  <a:pos x="10754" y="8472"/>
                </a:cxn>
                <a:cxn ang="0">
                  <a:pos x="10150" y="7980"/>
                </a:cxn>
                <a:cxn ang="0">
                  <a:pos x="9479" y="7627"/>
                </a:cxn>
                <a:cxn ang="0">
                  <a:pos x="8762" y="7416"/>
                </a:cxn>
                <a:cxn ang="0">
                  <a:pos x="8025" y="7345"/>
                </a:cxn>
                <a:cxn ang="0">
                  <a:pos x="7287" y="7416"/>
                </a:cxn>
                <a:cxn ang="0">
                  <a:pos x="6571" y="7627"/>
                </a:cxn>
                <a:cxn ang="0">
                  <a:pos x="5900" y="7980"/>
                </a:cxn>
                <a:cxn ang="0">
                  <a:pos x="5297" y="8473"/>
                </a:cxn>
                <a:cxn ang="0">
                  <a:pos x="5198" y="8576"/>
                </a:cxn>
                <a:cxn ang="0">
                  <a:pos x="4197" y="7425"/>
                </a:cxn>
                <a:cxn ang="0">
                  <a:pos x="4843" y="6865"/>
                </a:cxn>
                <a:cxn ang="0">
                  <a:pos x="5758" y="6325"/>
                </a:cxn>
                <a:cxn ang="0">
                  <a:pos x="6743" y="5981"/>
                </a:cxn>
                <a:cxn ang="0">
                  <a:pos x="7766" y="5833"/>
                </a:cxn>
                <a:cxn ang="0">
                  <a:pos x="8797" y="5882"/>
                </a:cxn>
                <a:cxn ang="0">
                  <a:pos x="9806" y="6127"/>
                </a:cxn>
                <a:cxn ang="0">
                  <a:pos x="10760" y="6570"/>
                </a:cxn>
                <a:cxn ang="0">
                  <a:pos x="11627" y="7208"/>
                </a:cxn>
                <a:cxn ang="0">
                  <a:pos x="11903" y="7475"/>
                </a:cxn>
              </a:cxnLst>
              <a:rect l="0" t="0" r="r" b="b"/>
              <a:pathLst>
                <a:path w="16050" h="8576">
                  <a:moveTo>
                    <a:pt x="15950" y="3273"/>
                  </a:moveTo>
                  <a:lnTo>
                    <a:pt x="15975" y="3299"/>
                  </a:lnTo>
                  <a:lnTo>
                    <a:pt x="16000" y="3324"/>
                  </a:lnTo>
                  <a:lnTo>
                    <a:pt x="16025" y="3351"/>
                  </a:lnTo>
                  <a:lnTo>
                    <a:pt x="16050" y="3377"/>
                  </a:lnTo>
                  <a:lnTo>
                    <a:pt x="15025" y="4402"/>
                  </a:lnTo>
                  <a:lnTo>
                    <a:pt x="15000" y="4377"/>
                  </a:lnTo>
                  <a:lnTo>
                    <a:pt x="14975" y="4351"/>
                  </a:lnTo>
                  <a:lnTo>
                    <a:pt x="14950" y="4325"/>
                  </a:lnTo>
                  <a:lnTo>
                    <a:pt x="14923" y="4300"/>
                  </a:lnTo>
                  <a:lnTo>
                    <a:pt x="14560" y="3955"/>
                  </a:lnTo>
                  <a:lnTo>
                    <a:pt x="14184" y="3632"/>
                  </a:lnTo>
                  <a:lnTo>
                    <a:pt x="13796" y="3330"/>
                  </a:lnTo>
                  <a:lnTo>
                    <a:pt x="13396" y="3053"/>
                  </a:lnTo>
                  <a:lnTo>
                    <a:pt x="12984" y="2797"/>
                  </a:lnTo>
                  <a:lnTo>
                    <a:pt x="12564" y="2563"/>
                  </a:lnTo>
                  <a:lnTo>
                    <a:pt x="12136" y="2351"/>
                  </a:lnTo>
                  <a:lnTo>
                    <a:pt x="11698" y="2161"/>
                  </a:lnTo>
                  <a:lnTo>
                    <a:pt x="11254" y="1995"/>
                  </a:lnTo>
                  <a:lnTo>
                    <a:pt x="10805" y="1850"/>
                  </a:lnTo>
                  <a:lnTo>
                    <a:pt x="10349" y="1728"/>
                  </a:lnTo>
                  <a:lnTo>
                    <a:pt x="9889" y="1628"/>
                  </a:lnTo>
                  <a:lnTo>
                    <a:pt x="9426" y="1549"/>
                  </a:lnTo>
                  <a:lnTo>
                    <a:pt x="8960" y="1494"/>
                  </a:lnTo>
                  <a:lnTo>
                    <a:pt x="8492" y="1461"/>
                  </a:lnTo>
                  <a:lnTo>
                    <a:pt x="8024" y="1450"/>
                  </a:lnTo>
                  <a:lnTo>
                    <a:pt x="7556" y="1461"/>
                  </a:lnTo>
                  <a:lnTo>
                    <a:pt x="7087" y="1494"/>
                  </a:lnTo>
                  <a:lnTo>
                    <a:pt x="6622" y="1550"/>
                  </a:lnTo>
                  <a:lnTo>
                    <a:pt x="6158" y="1629"/>
                  </a:lnTo>
                  <a:lnTo>
                    <a:pt x="5699" y="1729"/>
                  </a:lnTo>
                  <a:lnTo>
                    <a:pt x="5243" y="1851"/>
                  </a:lnTo>
                  <a:lnTo>
                    <a:pt x="4793" y="1996"/>
                  </a:lnTo>
                  <a:lnTo>
                    <a:pt x="4350" y="2163"/>
                  </a:lnTo>
                  <a:lnTo>
                    <a:pt x="3912" y="2352"/>
                  </a:lnTo>
                  <a:lnTo>
                    <a:pt x="3483" y="2564"/>
                  </a:lnTo>
                  <a:lnTo>
                    <a:pt x="3064" y="2799"/>
                  </a:lnTo>
                  <a:lnTo>
                    <a:pt x="2652" y="3055"/>
                  </a:lnTo>
                  <a:lnTo>
                    <a:pt x="2253" y="3332"/>
                  </a:lnTo>
                  <a:lnTo>
                    <a:pt x="1864" y="3634"/>
                  </a:lnTo>
                  <a:lnTo>
                    <a:pt x="1488" y="3957"/>
                  </a:lnTo>
                  <a:lnTo>
                    <a:pt x="1125" y="4302"/>
                  </a:lnTo>
                  <a:lnTo>
                    <a:pt x="1099" y="4327"/>
                  </a:lnTo>
                  <a:lnTo>
                    <a:pt x="1075" y="4353"/>
                  </a:lnTo>
                  <a:lnTo>
                    <a:pt x="1050" y="4378"/>
                  </a:lnTo>
                  <a:lnTo>
                    <a:pt x="1025" y="4404"/>
                  </a:lnTo>
                  <a:lnTo>
                    <a:pt x="0" y="3378"/>
                  </a:lnTo>
                  <a:lnTo>
                    <a:pt x="24" y="3353"/>
                  </a:lnTo>
                  <a:lnTo>
                    <a:pt x="49" y="3326"/>
                  </a:lnTo>
                  <a:lnTo>
                    <a:pt x="74" y="3301"/>
                  </a:lnTo>
                  <a:lnTo>
                    <a:pt x="99" y="3276"/>
                  </a:lnTo>
                  <a:lnTo>
                    <a:pt x="516" y="2880"/>
                  </a:lnTo>
                  <a:lnTo>
                    <a:pt x="948" y="2509"/>
                  </a:lnTo>
                  <a:lnTo>
                    <a:pt x="1394" y="2162"/>
                  </a:lnTo>
                  <a:lnTo>
                    <a:pt x="1854" y="1843"/>
                  </a:lnTo>
                  <a:lnTo>
                    <a:pt x="2325" y="1549"/>
                  </a:lnTo>
                  <a:lnTo>
                    <a:pt x="2808" y="1280"/>
                  </a:lnTo>
                  <a:lnTo>
                    <a:pt x="3301" y="1037"/>
                  </a:lnTo>
                  <a:lnTo>
                    <a:pt x="3803" y="820"/>
                  </a:lnTo>
                  <a:lnTo>
                    <a:pt x="4312" y="627"/>
                  </a:lnTo>
                  <a:lnTo>
                    <a:pt x="4830" y="461"/>
                  </a:lnTo>
                  <a:lnTo>
                    <a:pt x="5353" y="320"/>
                  </a:lnTo>
                  <a:lnTo>
                    <a:pt x="5881" y="205"/>
                  </a:lnTo>
                  <a:lnTo>
                    <a:pt x="6413" y="115"/>
                  </a:lnTo>
                  <a:lnTo>
                    <a:pt x="6949" y="51"/>
                  </a:lnTo>
                  <a:lnTo>
                    <a:pt x="7485" y="13"/>
                  </a:lnTo>
                  <a:lnTo>
                    <a:pt x="8024" y="0"/>
                  </a:lnTo>
                  <a:lnTo>
                    <a:pt x="8562" y="13"/>
                  </a:lnTo>
                  <a:lnTo>
                    <a:pt x="9099" y="51"/>
                  </a:lnTo>
                  <a:lnTo>
                    <a:pt x="9634" y="115"/>
                  </a:lnTo>
                  <a:lnTo>
                    <a:pt x="10167" y="205"/>
                  </a:lnTo>
                  <a:lnTo>
                    <a:pt x="10694" y="319"/>
                  </a:lnTo>
                  <a:lnTo>
                    <a:pt x="11218" y="460"/>
                  </a:lnTo>
                  <a:lnTo>
                    <a:pt x="11735" y="626"/>
                  </a:lnTo>
                  <a:lnTo>
                    <a:pt x="12245" y="818"/>
                  </a:lnTo>
                  <a:lnTo>
                    <a:pt x="12747" y="1036"/>
                  </a:lnTo>
                  <a:lnTo>
                    <a:pt x="13239" y="1278"/>
                  </a:lnTo>
                  <a:lnTo>
                    <a:pt x="13722" y="1547"/>
                  </a:lnTo>
                  <a:lnTo>
                    <a:pt x="14194" y="1841"/>
                  </a:lnTo>
                  <a:lnTo>
                    <a:pt x="14654" y="2160"/>
                  </a:lnTo>
                  <a:lnTo>
                    <a:pt x="15100" y="2506"/>
                  </a:lnTo>
                  <a:lnTo>
                    <a:pt x="15532" y="2877"/>
                  </a:lnTo>
                  <a:lnTo>
                    <a:pt x="15950" y="3273"/>
                  </a:lnTo>
                  <a:close/>
                  <a:moveTo>
                    <a:pt x="14055" y="5373"/>
                  </a:moveTo>
                  <a:lnTo>
                    <a:pt x="12946" y="6481"/>
                  </a:lnTo>
                  <a:lnTo>
                    <a:pt x="12921" y="6456"/>
                  </a:lnTo>
                  <a:lnTo>
                    <a:pt x="12897" y="6430"/>
                  </a:lnTo>
                  <a:lnTo>
                    <a:pt x="12871" y="6404"/>
                  </a:lnTo>
                  <a:lnTo>
                    <a:pt x="12846" y="6379"/>
                  </a:lnTo>
                  <a:lnTo>
                    <a:pt x="12592" y="6137"/>
                  </a:lnTo>
                  <a:lnTo>
                    <a:pt x="12329" y="5912"/>
                  </a:lnTo>
                  <a:lnTo>
                    <a:pt x="12058" y="5702"/>
                  </a:lnTo>
                  <a:lnTo>
                    <a:pt x="11778" y="5507"/>
                  </a:lnTo>
                  <a:lnTo>
                    <a:pt x="11491" y="5328"/>
                  </a:lnTo>
                  <a:lnTo>
                    <a:pt x="11198" y="5165"/>
                  </a:lnTo>
                  <a:lnTo>
                    <a:pt x="10898" y="5017"/>
                  </a:lnTo>
                  <a:lnTo>
                    <a:pt x="10592" y="4885"/>
                  </a:lnTo>
                  <a:lnTo>
                    <a:pt x="10282" y="4768"/>
                  </a:lnTo>
                  <a:lnTo>
                    <a:pt x="9967" y="4667"/>
                  </a:lnTo>
                  <a:lnTo>
                    <a:pt x="9649" y="4582"/>
                  </a:lnTo>
                  <a:lnTo>
                    <a:pt x="9328" y="4512"/>
                  </a:lnTo>
                  <a:lnTo>
                    <a:pt x="9004" y="4457"/>
                  </a:lnTo>
                  <a:lnTo>
                    <a:pt x="8679" y="4418"/>
                  </a:lnTo>
                  <a:lnTo>
                    <a:pt x="8352" y="4395"/>
                  </a:lnTo>
                  <a:lnTo>
                    <a:pt x="8024" y="4387"/>
                  </a:lnTo>
                  <a:lnTo>
                    <a:pt x="7697" y="4395"/>
                  </a:lnTo>
                  <a:lnTo>
                    <a:pt x="7370" y="4418"/>
                  </a:lnTo>
                  <a:lnTo>
                    <a:pt x="7044" y="4457"/>
                  </a:lnTo>
                  <a:lnTo>
                    <a:pt x="6721" y="4512"/>
                  </a:lnTo>
                  <a:lnTo>
                    <a:pt x="6399" y="4582"/>
                  </a:lnTo>
                  <a:lnTo>
                    <a:pt x="6081" y="4668"/>
                  </a:lnTo>
                  <a:lnTo>
                    <a:pt x="5767" y="4769"/>
                  </a:lnTo>
                  <a:lnTo>
                    <a:pt x="5457" y="4886"/>
                  </a:lnTo>
                  <a:lnTo>
                    <a:pt x="5151" y="5018"/>
                  </a:lnTo>
                  <a:lnTo>
                    <a:pt x="4851" y="5166"/>
                  </a:lnTo>
                  <a:lnTo>
                    <a:pt x="4558" y="5329"/>
                  </a:lnTo>
                  <a:lnTo>
                    <a:pt x="4271" y="5509"/>
                  </a:lnTo>
                  <a:lnTo>
                    <a:pt x="3991" y="5703"/>
                  </a:lnTo>
                  <a:lnTo>
                    <a:pt x="3720" y="5913"/>
                  </a:lnTo>
                  <a:lnTo>
                    <a:pt x="3457" y="6139"/>
                  </a:lnTo>
                  <a:lnTo>
                    <a:pt x="3203" y="6380"/>
                  </a:lnTo>
                  <a:lnTo>
                    <a:pt x="3178" y="6406"/>
                  </a:lnTo>
                  <a:lnTo>
                    <a:pt x="3154" y="6431"/>
                  </a:lnTo>
                  <a:lnTo>
                    <a:pt x="3129" y="6456"/>
                  </a:lnTo>
                  <a:lnTo>
                    <a:pt x="3104" y="6482"/>
                  </a:lnTo>
                  <a:lnTo>
                    <a:pt x="1996" y="5374"/>
                  </a:lnTo>
                  <a:lnTo>
                    <a:pt x="2020" y="5348"/>
                  </a:lnTo>
                  <a:lnTo>
                    <a:pt x="2045" y="5322"/>
                  </a:lnTo>
                  <a:lnTo>
                    <a:pt x="2069" y="5297"/>
                  </a:lnTo>
                  <a:lnTo>
                    <a:pt x="2095" y="5272"/>
                  </a:lnTo>
                  <a:lnTo>
                    <a:pt x="2406" y="4975"/>
                  </a:lnTo>
                  <a:lnTo>
                    <a:pt x="2731" y="4697"/>
                  </a:lnTo>
                  <a:lnTo>
                    <a:pt x="3065" y="4439"/>
                  </a:lnTo>
                  <a:lnTo>
                    <a:pt x="3408" y="4199"/>
                  </a:lnTo>
                  <a:lnTo>
                    <a:pt x="3761" y="3980"/>
                  </a:lnTo>
                  <a:lnTo>
                    <a:pt x="4122" y="3779"/>
                  </a:lnTo>
                  <a:lnTo>
                    <a:pt x="4491" y="3596"/>
                  </a:lnTo>
                  <a:lnTo>
                    <a:pt x="4866" y="3434"/>
                  </a:lnTo>
                  <a:lnTo>
                    <a:pt x="5247" y="3290"/>
                  </a:lnTo>
                  <a:lnTo>
                    <a:pt x="5635" y="3166"/>
                  </a:lnTo>
                  <a:lnTo>
                    <a:pt x="6026" y="3061"/>
                  </a:lnTo>
                  <a:lnTo>
                    <a:pt x="6421" y="2974"/>
                  </a:lnTo>
                  <a:lnTo>
                    <a:pt x="6819" y="2907"/>
                  </a:lnTo>
                  <a:lnTo>
                    <a:pt x="7219" y="2859"/>
                  </a:lnTo>
                  <a:lnTo>
                    <a:pt x="7622" y="2831"/>
                  </a:lnTo>
                  <a:lnTo>
                    <a:pt x="8024" y="2821"/>
                  </a:lnTo>
                  <a:lnTo>
                    <a:pt x="8427" y="2831"/>
                  </a:lnTo>
                  <a:lnTo>
                    <a:pt x="8829" y="2859"/>
                  </a:lnTo>
                  <a:lnTo>
                    <a:pt x="9229" y="2907"/>
                  </a:lnTo>
                  <a:lnTo>
                    <a:pt x="9627" y="2973"/>
                  </a:lnTo>
                  <a:lnTo>
                    <a:pt x="10022" y="3060"/>
                  </a:lnTo>
                  <a:lnTo>
                    <a:pt x="10413" y="3165"/>
                  </a:lnTo>
                  <a:lnTo>
                    <a:pt x="10801" y="3289"/>
                  </a:lnTo>
                  <a:lnTo>
                    <a:pt x="11182" y="3433"/>
                  </a:lnTo>
                  <a:lnTo>
                    <a:pt x="11558" y="3595"/>
                  </a:lnTo>
                  <a:lnTo>
                    <a:pt x="11926" y="3777"/>
                  </a:lnTo>
                  <a:lnTo>
                    <a:pt x="12287" y="3978"/>
                  </a:lnTo>
                  <a:lnTo>
                    <a:pt x="12640" y="4198"/>
                  </a:lnTo>
                  <a:lnTo>
                    <a:pt x="12984" y="4437"/>
                  </a:lnTo>
                  <a:lnTo>
                    <a:pt x="13318" y="4696"/>
                  </a:lnTo>
                  <a:lnTo>
                    <a:pt x="13641" y="4973"/>
                  </a:lnTo>
                  <a:lnTo>
                    <a:pt x="13954" y="5270"/>
                  </a:lnTo>
                  <a:lnTo>
                    <a:pt x="13980" y="5295"/>
                  </a:lnTo>
                  <a:lnTo>
                    <a:pt x="14005" y="5321"/>
                  </a:lnTo>
                  <a:lnTo>
                    <a:pt x="14030" y="5347"/>
                  </a:lnTo>
                  <a:lnTo>
                    <a:pt x="14055" y="5373"/>
                  </a:lnTo>
                  <a:close/>
                  <a:moveTo>
                    <a:pt x="11928" y="7501"/>
                  </a:moveTo>
                  <a:lnTo>
                    <a:pt x="10854" y="8576"/>
                  </a:lnTo>
                  <a:lnTo>
                    <a:pt x="10829" y="8549"/>
                  </a:lnTo>
                  <a:lnTo>
                    <a:pt x="10805" y="8523"/>
                  </a:lnTo>
                  <a:lnTo>
                    <a:pt x="10780" y="8498"/>
                  </a:lnTo>
                  <a:lnTo>
                    <a:pt x="10754" y="8472"/>
                  </a:lnTo>
                  <a:lnTo>
                    <a:pt x="10610" y="8336"/>
                  </a:lnTo>
                  <a:lnTo>
                    <a:pt x="10462" y="8208"/>
                  </a:lnTo>
                  <a:lnTo>
                    <a:pt x="10307" y="8089"/>
                  </a:lnTo>
                  <a:lnTo>
                    <a:pt x="10150" y="7980"/>
                  </a:lnTo>
                  <a:lnTo>
                    <a:pt x="9987" y="7878"/>
                  </a:lnTo>
                  <a:lnTo>
                    <a:pt x="9821" y="7785"/>
                  </a:lnTo>
                  <a:lnTo>
                    <a:pt x="9651" y="7702"/>
                  </a:lnTo>
                  <a:lnTo>
                    <a:pt x="9479" y="7627"/>
                  </a:lnTo>
                  <a:lnTo>
                    <a:pt x="9303" y="7561"/>
                  </a:lnTo>
                  <a:lnTo>
                    <a:pt x="9124" y="7504"/>
                  </a:lnTo>
                  <a:lnTo>
                    <a:pt x="8945" y="7456"/>
                  </a:lnTo>
                  <a:lnTo>
                    <a:pt x="8762" y="7416"/>
                  </a:lnTo>
                  <a:lnTo>
                    <a:pt x="8580" y="7384"/>
                  </a:lnTo>
                  <a:lnTo>
                    <a:pt x="8395" y="7362"/>
                  </a:lnTo>
                  <a:lnTo>
                    <a:pt x="8210" y="7349"/>
                  </a:lnTo>
                  <a:lnTo>
                    <a:pt x="8025" y="7345"/>
                  </a:lnTo>
                  <a:lnTo>
                    <a:pt x="7839" y="7349"/>
                  </a:lnTo>
                  <a:lnTo>
                    <a:pt x="7655" y="7363"/>
                  </a:lnTo>
                  <a:lnTo>
                    <a:pt x="7470" y="7385"/>
                  </a:lnTo>
                  <a:lnTo>
                    <a:pt x="7287" y="7416"/>
                  </a:lnTo>
                  <a:lnTo>
                    <a:pt x="7105" y="7456"/>
                  </a:lnTo>
                  <a:lnTo>
                    <a:pt x="6926" y="7504"/>
                  </a:lnTo>
                  <a:lnTo>
                    <a:pt x="6747" y="7561"/>
                  </a:lnTo>
                  <a:lnTo>
                    <a:pt x="6571" y="7627"/>
                  </a:lnTo>
                  <a:lnTo>
                    <a:pt x="6399" y="7703"/>
                  </a:lnTo>
                  <a:lnTo>
                    <a:pt x="6229" y="7786"/>
                  </a:lnTo>
                  <a:lnTo>
                    <a:pt x="6063" y="7878"/>
                  </a:lnTo>
                  <a:lnTo>
                    <a:pt x="5900" y="7980"/>
                  </a:lnTo>
                  <a:lnTo>
                    <a:pt x="5742" y="8090"/>
                  </a:lnTo>
                  <a:lnTo>
                    <a:pt x="5588" y="8209"/>
                  </a:lnTo>
                  <a:lnTo>
                    <a:pt x="5440" y="8337"/>
                  </a:lnTo>
                  <a:lnTo>
                    <a:pt x="5297" y="8473"/>
                  </a:lnTo>
                  <a:lnTo>
                    <a:pt x="5271" y="8498"/>
                  </a:lnTo>
                  <a:lnTo>
                    <a:pt x="5246" y="8524"/>
                  </a:lnTo>
                  <a:lnTo>
                    <a:pt x="5222" y="8550"/>
                  </a:lnTo>
                  <a:lnTo>
                    <a:pt x="5198" y="8576"/>
                  </a:lnTo>
                  <a:lnTo>
                    <a:pt x="4123" y="7501"/>
                  </a:lnTo>
                  <a:lnTo>
                    <a:pt x="4147" y="7476"/>
                  </a:lnTo>
                  <a:lnTo>
                    <a:pt x="4172" y="7450"/>
                  </a:lnTo>
                  <a:lnTo>
                    <a:pt x="4197" y="7425"/>
                  </a:lnTo>
                  <a:lnTo>
                    <a:pt x="4222" y="7399"/>
                  </a:lnTo>
                  <a:lnTo>
                    <a:pt x="4422" y="7209"/>
                  </a:lnTo>
                  <a:lnTo>
                    <a:pt x="4629" y="7030"/>
                  </a:lnTo>
                  <a:lnTo>
                    <a:pt x="4843" y="6865"/>
                  </a:lnTo>
                  <a:lnTo>
                    <a:pt x="5064" y="6711"/>
                  </a:lnTo>
                  <a:lnTo>
                    <a:pt x="5290" y="6571"/>
                  </a:lnTo>
                  <a:lnTo>
                    <a:pt x="5522" y="6441"/>
                  </a:lnTo>
                  <a:lnTo>
                    <a:pt x="5758" y="6325"/>
                  </a:lnTo>
                  <a:lnTo>
                    <a:pt x="6000" y="6220"/>
                  </a:lnTo>
                  <a:lnTo>
                    <a:pt x="6243" y="6128"/>
                  </a:lnTo>
                  <a:lnTo>
                    <a:pt x="6492" y="6048"/>
                  </a:lnTo>
                  <a:lnTo>
                    <a:pt x="6743" y="5981"/>
                  </a:lnTo>
                  <a:lnTo>
                    <a:pt x="6997" y="5925"/>
                  </a:lnTo>
                  <a:lnTo>
                    <a:pt x="7252" y="5882"/>
                  </a:lnTo>
                  <a:lnTo>
                    <a:pt x="7508" y="5851"/>
                  </a:lnTo>
                  <a:lnTo>
                    <a:pt x="7766" y="5833"/>
                  </a:lnTo>
                  <a:lnTo>
                    <a:pt x="8025" y="5827"/>
                  </a:lnTo>
                  <a:lnTo>
                    <a:pt x="8283" y="5833"/>
                  </a:lnTo>
                  <a:lnTo>
                    <a:pt x="8541" y="5851"/>
                  </a:lnTo>
                  <a:lnTo>
                    <a:pt x="8797" y="5882"/>
                  </a:lnTo>
                  <a:lnTo>
                    <a:pt x="9053" y="5925"/>
                  </a:lnTo>
                  <a:lnTo>
                    <a:pt x="9306" y="5981"/>
                  </a:lnTo>
                  <a:lnTo>
                    <a:pt x="9557" y="6048"/>
                  </a:lnTo>
                  <a:lnTo>
                    <a:pt x="9806" y="6127"/>
                  </a:lnTo>
                  <a:lnTo>
                    <a:pt x="10050" y="6219"/>
                  </a:lnTo>
                  <a:lnTo>
                    <a:pt x="10291" y="6324"/>
                  </a:lnTo>
                  <a:lnTo>
                    <a:pt x="10528" y="6440"/>
                  </a:lnTo>
                  <a:lnTo>
                    <a:pt x="10760" y="6570"/>
                  </a:lnTo>
                  <a:lnTo>
                    <a:pt x="10985" y="6710"/>
                  </a:lnTo>
                  <a:lnTo>
                    <a:pt x="11206" y="6864"/>
                  </a:lnTo>
                  <a:lnTo>
                    <a:pt x="11421" y="7029"/>
                  </a:lnTo>
                  <a:lnTo>
                    <a:pt x="11627" y="7208"/>
                  </a:lnTo>
                  <a:lnTo>
                    <a:pt x="11828" y="7398"/>
                  </a:lnTo>
                  <a:lnTo>
                    <a:pt x="11853" y="7424"/>
                  </a:lnTo>
                  <a:lnTo>
                    <a:pt x="11878" y="7449"/>
                  </a:lnTo>
                  <a:lnTo>
                    <a:pt x="11903" y="7475"/>
                  </a:lnTo>
                  <a:lnTo>
                    <a:pt x="11928" y="7501"/>
                  </a:lnTo>
                  <a:close/>
                </a:path>
              </a:pathLst>
            </a:custGeom>
            <a:grpFill/>
            <a:ln w="9525">
              <a:noFill/>
              <a:round/>
              <a:headEnd/>
              <a:tailEnd/>
            </a:ln>
          </p:spPr>
          <p:txBody>
            <a:bodyPr/>
            <a:lstStyle/>
            <a:p>
              <a:pPr algn="ctr" eaLnBrk="1" fontAlgn="auto" hangingPunct="1">
                <a:spcBef>
                  <a:spcPts val="0"/>
                </a:spcBef>
                <a:spcAft>
                  <a:spcPts val="0"/>
                </a:spcAft>
                <a:defRPr/>
              </a:pPr>
              <a:endParaRPr lang="zh-CN" altLang="en-US" sz="1200" ker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138" name="Freeform 159"/>
          <p:cNvSpPr/>
          <p:nvPr/>
        </p:nvSpPr>
        <p:spPr bwMode="gray">
          <a:xfrm flipH="1">
            <a:off x="982325" y="1574127"/>
            <a:ext cx="1240474" cy="648430"/>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tIns="108000" rtlCol="0" anchor="ctr">
            <a:noAutofit/>
          </a:bodyPr>
          <a:lstStyle>
            <a:defPPr>
              <a:defRPr lang="en-US"/>
            </a:defPPr>
            <a:lvl1pPr marL="0" algn="l" defTabSz="914478" rtl="0" eaLnBrk="1" latinLnBrk="0" hangingPunct="1">
              <a:defRPr sz="1800" kern="1200">
                <a:solidFill>
                  <a:schemeClr val="lt1"/>
                </a:solidFill>
                <a:latin typeface="+mn-lt"/>
                <a:ea typeface="+mn-ea"/>
                <a:cs typeface="+mn-cs"/>
              </a:defRPr>
            </a:lvl1pPr>
            <a:lvl2pPr marL="457240" algn="l" defTabSz="914478" rtl="0" eaLnBrk="1" latinLnBrk="0" hangingPunct="1">
              <a:defRPr sz="1800" kern="1200">
                <a:solidFill>
                  <a:schemeClr val="lt1"/>
                </a:solidFill>
                <a:latin typeface="+mn-lt"/>
                <a:ea typeface="+mn-ea"/>
                <a:cs typeface="+mn-cs"/>
              </a:defRPr>
            </a:lvl2pPr>
            <a:lvl3pPr marL="914478" algn="l" defTabSz="914478" rtl="0" eaLnBrk="1" latinLnBrk="0" hangingPunct="1">
              <a:defRPr sz="1800" kern="1200">
                <a:solidFill>
                  <a:schemeClr val="lt1"/>
                </a:solidFill>
                <a:latin typeface="+mn-lt"/>
                <a:ea typeface="+mn-ea"/>
                <a:cs typeface="+mn-cs"/>
              </a:defRPr>
            </a:lvl3pPr>
            <a:lvl4pPr marL="1371718" algn="l" defTabSz="914478" rtl="0" eaLnBrk="1" latinLnBrk="0" hangingPunct="1">
              <a:defRPr sz="1800" kern="1200">
                <a:solidFill>
                  <a:schemeClr val="lt1"/>
                </a:solidFill>
                <a:latin typeface="+mn-lt"/>
                <a:ea typeface="+mn-ea"/>
                <a:cs typeface="+mn-cs"/>
              </a:defRPr>
            </a:lvl4pPr>
            <a:lvl5pPr marL="1828957" algn="l" defTabSz="914478" rtl="0" eaLnBrk="1" latinLnBrk="0" hangingPunct="1">
              <a:defRPr sz="1800" kern="1200">
                <a:solidFill>
                  <a:schemeClr val="lt1"/>
                </a:solidFill>
                <a:latin typeface="+mn-lt"/>
                <a:ea typeface="+mn-ea"/>
                <a:cs typeface="+mn-cs"/>
              </a:defRPr>
            </a:lvl5pPr>
            <a:lvl6pPr marL="2286196" algn="l" defTabSz="914478" rtl="0" eaLnBrk="1" latinLnBrk="0" hangingPunct="1">
              <a:defRPr sz="1800" kern="1200">
                <a:solidFill>
                  <a:schemeClr val="lt1"/>
                </a:solidFill>
                <a:latin typeface="+mn-lt"/>
                <a:ea typeface="+mn-ea"/>
                <a:cs typeface="+mn-cs"/>
              </a:defRPr>
            </a:lvl6pPr>
            <a:lvl7pPr marL="2743435" algn="l" defTabSz="914478" rtl="0" eaLnBrk="1" latinLnBrk="0" hangingPunct="1">
              <a:defRPr sz="1800" kern="1200">
                <a:solidFill>
                  <a:schemeClr val="lt1"/>
                </a:solidFill>
                <a:latin typeface="+mn-lt"/>
                <a:ea typeface="+mn-ea"/>
                <a:cs typeface="+mn-cs"/>
              </a:defRPr>
            </a:lvl7pPr>
            <a:lvl8pPr marL="3200675" algn="l" defTabSz="914478" rtl="0" eaLnBrk="1" latinLnBrk="0" hangingPunct="1">
              <a:defRPr sz="1800" kern="1200">
                <a:solidFill>
                  <a:schemeClr val="lt1"/>
                </a:solidFill>
                <a:latin typeface="+mn-lt"/>
                <a:ea typeface="+mn-ea"/>
                <a:cs typeface="+mn-cs"/>
              </a:defRPr>
            </a:lvl8pPr>
            <a:lvl9pPr marL="3657913" algn="l" defTabSz="914478" rtl="0" eaLnBrk="1" latinLnBrk="0" hangingPunct="1">
              <a:defRPr sz="1800" kern="1200">
                <a:solidFill>
                  <a:schemeClr val="lt1"/>
                </a:solidFill>
                <a:latin typeface="+mn-lt"/>
                <a:ea typeface="+mn-ea"/>
                <a:cs typeface="+mn-cs"/>
              </a:defRPr>
            </a:lvl9pPr>
          </a:lstStyle>
          <a:p>
            <a:pPr algn="ctr"/>
            <a:r>
              <a:rPr lang="zh-CN" altLang="en-US" sz="1400" smtClean="0">
                <a:solidFill>
                  <a:schemeClr val="bg1">
                    <a:lumMod val="50000"/>
                  </a:schemeClr>
                </a:solidFill>
              </a:rPr>
              <a:t>外部网络</a:t>
            </a:r>
            <a:endParaRPr lang="en-US" sz="1400">
              <a:solidFill>
                <a:schemeClr val="bg1">
                  <a:lumMod val="50000"/>
                </a:schemeClr>
              </a:solidFill>
            </a:endParaRPr>
          </a:p>
        </p:txBody>
      </p:sp>
      <p:sp>
        <p:nvSpPr>
          <p:cNvPr id="139" name="Freeform 159"/>
          <p:cNvSpPr/>
          <p:nvPr/>
        </p:nvSpPr>
        <p:spPr bwMode="gray">
          <a:xfrm flipH="1">
            <a:off x="3108443" y="1574127"/>
            <a:ext cx="1240474" cy="648430"/>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tIns="108000" rtlCol="0" anchor="ctr">
            <a:noAutofit/>
          </a:bodyPr>
          <a:lstStyle/>
          <a:p>
            <a:pPr algn="ctr"/>
            <a:r>
              <a:rPr lang="zh-CN" altLang="en-US" sz="1400">
                <a:solidFill>
                  <a:schemeClr val="bg1">
                    <a:lumMod val="50000"/>
                  </a:schemeClr>
                </a:solidFill>
              </a:rPr>
              <a:t>网络服务</a:t>
            </a:r>
            <a:endParaRPr lang="en-US" altLang="zh-CN" sz="1400">
              <a:solidFill>
                <a:schemeClr val="bg1">
                  <a:lumMod val="50000"/>
                </a:schemeClr>
              </a:solidFill>
            </a:endParaRPr>
          </a:p>
          <a:p>
            <a:pPr algn="ctr"/>
            <a:r>
              <a:rPr lang="zh-CN" altLang="en-US" sz="1400">
                <a:solidFill>
                  <a:schemeClr val="bg1">
                    <a:lumMod val="50000"/>
                  </a:schemeClr>
                </a:solidFill>
              </a:rPr>
              <a:t>资源</a:t>
            </a:r>
            <a:endParaRPr lang="en-US" sz="1400">
              <a:solidFill>
                <a:schemeClr val="bg1">
                  <a:lumMod val="50000"/>
                </a:schemeClr>
              </a:solidFill>
            </a:endParaRPr>
          </a:p>
        </p:txBody>
      </p:sp>
      <p:cxnSp>
        <p:nvCxnSpPr>
          <p:cNvPr id="140" name="直接连接符 139"/>
          <p:cNvCxnSpPr/>
          <p:nvPr/>
        </p:nvCxnSpPr>
        <p:spPr bwMode="gray">
          <a:xfrm>
            <a:off x="1985121" y="2269827"/>
            <a:ext cx="495259" cy="621078"/>
          </a:xfrm>
          <a:prstGeom prst="line">
            <a:avLst/>
          </a:prstGeom>
          <a:ln>
            <a:solidFill>
              <a:schemeClr val="bg1">
                <a:lumMod val="6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41" name="直接连接符 140"/>
          <p:cNvCxnSpPr/>
          <p:nvPr/>
        </p:nvCxnSpPr>
        <p:spPr bwMode="gray">
          <a:xfrm flipH="1">
            <a:off x="2952717" y="2279440"/>
            <a:ext cx="464971" cy="611465"/>
          </a:xfrm>
          <a:prstGeom prst="line">
            <a:avLst/>
          </a:prstGeom>
          <a:ln>
            <a:solidFill>
              <a:schemeClr val="bg1">
                <a:lumMod val="6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pic>
        <p:nvPicPr>
          <p:cNvPr id="142" name="图片 141"/>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bwMode="gray">
          <a:xfrm>
            <a:off x="3944130" y="2611059"/>
            <a:ext cx="865097" cy="491769"/>
          </a:xfrm>
          <a:prstGeom prst="rect">
            <a:avLst/>
          </a:prstGeom>
        </p:spPr>
      </p:pic>
      <p:pic>
        <p:nvPicPr>
          <p:cNvPr id="52" name="图片 51"/>
          <p:cNvPicPr/>
          <p:nvPr/>
        </p:nvPicPr>
        <p:blipFill>
          <a:blip r:embed="rId10"/>
          <a:stretch>
            <a:fillRect/>
          </a:stretch>
        </p:blipFill>
        <p:spPr bwMode="gray">
          <a:xfrm>
            <a:off x="5208153" y="1339045"/>
            <a:ext cx="6448634" cy="1209682"/>
          </a:xfrm>
          <a:prstGeom prst="rect">
            <a:avLst/>
          </a:prstGeom>
          <a:ln w="12700">
            <a:solidFill>
              <a:schemeClr val="bg1">
                <a:lumMod val="85000"/>
              </a:schemeClr>
            </a:solidFill>
          </a:ln>
        </p:spPr>
      </p:pic>
      <p:pic>
        <p:nvPicPr>
          <p:cNvPr id="53" name="图片 52"/>
          <p:cNvPicPr/>
          <p:nvPr/>
        </p:nvPicPr>
        <p:blipFill>
          <a:blip r:embed="rId11"/>
          <a:stretch>
            <a:fillRect/>
          </a:stretch>
        </p:blipFill>
        <p:spPr bwMode="gray">
          <a:xfrm>
            <a:off x="5206873" y="2609748"/>
            <a:ext cx="5613610" cy="3566355"/>
          </a:xfrm>
          <a:prstGeom prst="rect">
            <a:avLst/>
          </a:prstGeom>
          <a:ln w="12700">
            <a:solidFill>
              <a:schemeClr val="bg1">
                <a:lumMod val="85000"/>
              </a:schemeClr>
            </a:solidFill>
          </a:ln>
        </p:spPr>
      </p:pic>
      <p:sp>
        <p:nvSpPr>
          <p:cNvPr id="54" name="五边形 53"/>
          <p:cNvSpPr/>
          <p:nvPr/>
        </p:nvSpPr>
        <p:spPr bwMode="gray">
          <a:xfrm>
            <a:off x="5773628" y="98481"/>
            <a:ext cx="9000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smtClean="0">
                <a:latin typeface="Huawei Sans" panose="020C0503030203020204" pitchFamily="34" charset="0"/>
                <a:ea typeface="方正兰亭黑简体" panose="02000000000000000000" pitchFamily="2" charset="-122"/>
                <a:sym typeface="Huawei Sans" panose="020C0503030203020204" pitchFamily="34" charset="0"/>
              </a:rPr>
              <a:t>站点管理</a:t>
            </a:r>
            <a:endPar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5" name="燕尾形 54"/>
          <p:cNvSpPr/>
          <p:nvPr/>
        </p:nvSpPr>
        <p:spPr bwMode="gray">
          <a:xfrm>
            <a:off x="9109268" y="98481"/>
            <a:ext cx="9000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smtClean="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逻辑网络</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7" name="燕尾形 56"/>
          <p:cNvSpPr/>
          <p:nvPr/>
        </p:nvSpPr>
        <p:spPr bwMode="gray">
          <a:xfrm>
            <a:off x="9925178" y="9848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业务部署</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8" name="燕尾形 57"/>
          <p:cNvSpPr/>
          <p:nvPr/>
        </p:nvSpPr>
        <p:spPr bwMode="gray">
          <a:xfrm>
            <a:off x="8221358" y="98481"/>
            <a:ext cx="972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smtClean="0">
                <a:latin typeface="Huawei Sans" panose="020C0503030203020204" pitchFamily="34" charset="0"/>
                <a:ea typeface="方正兰亭黑简体" panose="02000000000000000000" pitchFamily="2" charset="-122"/>
                <a:sym typeface="Huawei Sans" panose="020C0503030203020204" pitchFamily="34" charset="0"/>
              </a:rPr>
              <a:t>Fabric</a:t>
            </a:r>
            <a:r>
              <a:rPr lang="zh-CN" altLang="en-US" sz="1200" kern="0" dirty="0" smtClean="0">
                <a:latin typeface="Huawei Sans" panose="020C0503030203020204" pitchFamily="34" charset="0"/>
                <a:ea typeface="方正兰亭黑简体" panose="02000000000000000000" pitchFamily="2" charset="-122"/>
                <a:sym typeface="Huawei Sans" panose="020C0503030203020204" pitchFamily="34" charset="0"/>
              </a:rPr>
              <a:t>网络</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9" name="燕尾形 58"/>
          <p:cNvSpPr/>
          <p:nvPr/>
        </p:nvSpPr>
        <p:spPr bwMode="gray">
          <a:xfrm>
            <a:off x="7405448" y="9848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网络规划</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3" name="燕尾形 72"/>
          <p:cNvSpPr/>
          <p:nvPr/>
        </p:nvSpPr>
        <p:spPr bwMode="gray">
          <a:xfrm>
            <a:off x="6589538" y="9848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设备管理</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4" name="燕尾形 73"/>
          <p:cNvSpPr/>
          <p:nvPr/>
        </p:nvSpPr>
        <p:spPr bwMode="gray">
          <a:xfrm>
            <a:off x="10741088" y="98481"/>
            <a:ext cx="1008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WLAN</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业务</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1586578552"/>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normAutofit/>
          </a:bodyPr>
          <a:lstStyle/>
          <a:p>
            <a:r>
              <a:rPr lang="en-US" altLang="zh-CN" dirty="0" smtClean="0"/>
              <a:t>VN</a:t>
            </a:r>
            <a:r>
              <a:rPr lang="zh-CN" altLang="en-US" dirty="0" smtClean="0"/>
              <a:t>互通</a:t>
            </a:r>
            <a:endParaRPr lang="en-US" altLang="zh-CN" dirty="0"/>
          </a:p>
        </p:txBody>
      </p:sp>
      <p:sp>
        <p:nvSpPr>
          <p:cNvPr id="3" name="文本占位符 2"/>
          <p:cNvSpPr>
            <a:spLocks noGrp="1"/>
          </p:cNvSpPr>
          <p:nvPr>
            <p:ph type="body" sz="quarter" idx="10"/>
          </p:nvPr>
        </p:nvSpPr>
        <p:spPr bwMode="gray">
          <a:xfrm>
            <a:off x="455612" y="1047751"/>
            <a:ext cx="11293475" cy="2015222"/>
          </a:xfrm>
        </p:spPr>
        <p:txBody>
          <a:bodyPr/>
          <a:lstStyle/>
          <a:p>
            <a:r>
              <a:rPr lang="zh-CN" altLang="en-US" sz="2000" dirty="0"/>
              <a:t>缺省情况下，</a:t>
            </a:r>
            <a:r>
              <a:rPr lang="en-US" altLang="zh-CN" sz="2000" dirty="0"/>
              <a:t>VN</a:t>
            </a:r>
            <a:r>
              <a:rPr lang="zh-CN" altLang="en-US" sz="2000" dirty="0"/>
              <a:t>之间完全隔离，但是在某些特殊情况下，我们可能希望</a:t>
            </a:r>
            <a:r>
              <a:rPr lang="en-US" altLang="zh-CN" sz="2000" dirty="0"/>
              <a:t>VN</a:t>
            </a:r>
            <a:r>
              <a:rPr lang="zh-CN" altLang="en-US" sz="2000" dirty="0"/>
              <a:t>之间能够互访，则需要将</a:t>
            </a:r>
            <a:r>
              <a:rPr lang="en-US" altLang="zh-CN" sz="2000" dirty="0" smtClean="0"/>
              <a:t>VN</a:t>
            </a:r>
            <a:r>
              <a:rPr lang="zh-CN" altLang="en-US" sz="2000" dirty="0"/>
              <a:t>之间</a:t>
            </a:r>
            <a:r>
              <a:rPr lang="zh-CN" altLang="en-US" sz="2000" dirty="0" smtClean="0"/>
              <a:t>的</a:t>
            </a:r>
            <a:r>
              <a:rPr lang="zh-CN" altLang="en-US" sz="2000" dirty="0"/>
              <a:t>路由打通。</a:t>
            </a:r>
            <a:endParaRPr lang="en-US" altLang="zh-CN" sz="2000" dirty="0" smtClean="0"/>
          </a:p>
          <a:p>
            <a:r>
              <a:rPr lang="zh-CN" altLang="en-US" sz="2000" dirty="0" smtClean="0"/>
              <a:t>配置</a:t>
            </a:r>
            <a:r>
              <a:rPr lang="en-US" altLang="zh-CN" sz="2000" dirty="0" smtClean="0"/>
              <a:t>VN</a:t>
            </a:r>
            <a:r>
              <a:rPr lang="zh-CN" altLang="en-US" sz="2000" dirty="0" smtClean="0"/>
              <a:t>互通，实际是创建对应</a:t>
            </a:r>
            <a:r>
              <a:rPr lang="en-US" altLang="zh-CN" sz="2000" dirty="0" smtClean="0"/>
              <a:t>VPN Instance</a:t>
            </a:r>
            <a:r>
              <a:rPr lang="zh-CN" altLang="en-US" sz="2000" dirty="0" smtClean="0"/>
              <a:t>的静态路由，使得不同</a:t>
            </a:r>
            <a:r>
              <a:rPr lang="en-US" altLang="zh-CN" sz="2000" dirty="0" smtClean="0"/>
              <a:t>VN</a:t>
            </a:r>
            <a:r>
              <a:rPr lang="zh-CN" altLang="en-US" sz="2000" dirty="0" smtClean="0"/>
              <a:t>接入</a:t>
            </a:r>
            <a:r>
              <a:rPr lang="zh-CN" altLang="en-US" sz="2000" dirty="0"/>
              <a:t>用户能够在路由层面</a:t>
            </a:r>
            <a:r>
              <a:rPr lang="zh-CN" altLang="en-US" sz="2000" dirty="0" smtClean="0"/>
              <a:t>互访。</a:t>
            </a:r>
            <a:endParaRPr lang="zh-CN" altLang="en-US" sz="2000" dirty="0"/>
          </a:p>
        </p:txBody>
      </p:sp>
      <p:graphicFrame>
        <p:nvGraphicFramePr>
          <p:cNvPr id="10" name="表格 9"/>
          <p:cNvGraphicFramePr>
            <a:graphicFrameLocks noGrp="1"/>
          </p:cNvGraphicFramePr>
          <p:nvPr>
            <p:extLst>
              <p:ext uri="{D42A27DB-BD31-4B8C-83A1-F6EECF244321}">
                <p14:modId xmlns:p14="http://schemas.microsoft.com/office/powerpoint/2010/main" val="3060484714"/>
              </p:ext>
            </p:extLst>
          </p:nvPr>
        </p:nvGraphicFramePr>
        <p:xfrm>
          <a:off x="2662888" y="3062972"/>
          <a:ext cx="6866224" cy="1438268"/>
        </p:xfrm>
        <a:graphic>
          <a:graphicData uri="http://schemas.openxmlformats.org/drawingml/2006/table">
            <a:tbl>
              <a:tblPr/>
              <a:tblGrid>
                <a:gridCol w="1593162"/>
                <a:gridCol w="5273062"/>
              </a:tblGrid>
              <a:tr h="246352">
                <a:tc>
                  <a:txBody>
                    <a:bodyPr/>
                    <a:lstStyle/>
                    <a:p>
                      <a:pPr algn="ctr"/>
                      <a:r>
                        <a:rPr lang="zh-CN" altLang="en-US" sz="1400" b="1" dirty="0">
                          <a:effectLst/>
                        </a:rPr>
                        <a:t>任务描述</a:t>
                      </a:r>
                    </a:p>
                  </a:txBody>
                  <a:tcPr anchor="ctr">
                    <a:lnL w="28575" cap="flat" cmpd="sng" algn="ctr">
                      <a:solidFill>
                        <a:schemeClr val="tx1"/>
                      </a:solidFill>
                      <a:prstDash val="solid"/>
                      <a:round/>
                      <a:headEnd type="none" w="med" len="med"/>
                      <a:tailEnd type="none" w="med" len="med"/>
                    </a:lnL>
                    <a:lnT w="28575" cap="flat" cmpd="sng" algn="ctr">
                      <a:solidFill>
                        <a:schemeClr val="tx1"/>
                      </a:solidFill>
                      <a:prstDash val="solid"/>
                      <a:round/>
                      <a:headEnd type="none" w="med" len="med"/>
                      <a:tailEnd type="none" w="med" len="med"/>
                    </a:lnT>
                    <a:solidFill>
                      <a:schemeClr val="bg1">
                        <a:lumMod val="85000"/>
                      </a:schemeClr>
                    </a:solidFill>
                  </a:tcPr>
                </a:tc>
                <a:tc>
                  <a:txBody>
                    <a:bodyPr/>
                    <a:lstStyle/>
                    <a:p>
                      <a:pPr algn="ctr"/>
                      <a:r>
                        <a:rPr lang="zh-CN" altLang="en-US" sz="1400" b="1" dirty="0">
                          <a:effectLst/>
                        </a:rPr>
                        <a:t>详细操作步骤</a:t>
                      </a:r>
                    </a:p>
                  </a:txBody>
                  <a:tcPr anchor="ctr">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solidFill>
                      <a:schemeClr val="bg1">
                        <a:lumMod val="85000"/>
                      </a:schemeClr>
                    </a:solidFill>
                  </a:tcPr>
                </a:tc>
              </a:tr>
              <a:tr h="1133468">
                <a:tc>
                  <a:txBody>
                    <a:bodyPr/>
                    <a:lstStyle/>
                    <a:p>
                      <a:pPr algn="ctr"/>
                      <a:r>
                        <a:rPr lang="zh-CN" altLang="en-US" sz="1400" dirty="0" smtClean="0">
                          <a:effectLst/>
                        </a:rPr>
                        <a:t>配置</a:t>
                      </a:r>
                      <a:r>
                        <a:rPr lang="en-US" altLang="zh-CN" sz="1400" dirty="0" smtClean="0">
                          <a:effectLst/>
                        </a:rPr>
                        <a:t>VN</a:t>
                      </a:r>
                      <a:r>
                        <a:rPr lang="zh-CN" altLang="en-US" sz="1400" dirty="0" smtClean="0">
                          <a:effectLst/>
                        </a:rPr>
                        <a:t>互通</a:t>
                      </a:r>
                      <a:endParaRPr lang="en-US" sz="1400" dirty="0">
                        <a:effectLst/>
                      </a:endParaRPr>
                    </a:p>
                  </a:txBody>
                  <a:tcPr anchor="ctr">
                    <a:lnL w="28575" cap="flat" cmpd="sng" algn="ctr">
                      <a:solidFill>
                        <a:schemeClr val="tx1"/>
                      </a:solidFill>
                      <a:prstDash val="solid"/>
                      <a:round/>
                      <a:headEnd type="none" w="med" len="med"/>
                      <a:tailEnd type="none" w="med" len="med"/>
                    </a:lnL>
                    <a:lnB w="28575" cap="flat" cmpd="sng" algn="ctr">
                      <a:solidFill>
                        <a:schemeClr val="tx1"/>
                      </a:solidFill>
                      <a:prstDash val="solid"/>
                      <a:round/>
                      <a:headEnd type="none" w="med" len="med"/>
                      <a:tailEnd type="none" w="med" len="med"/>
                    </a:lnB>
                  </a:tcPr>
                </a:tc>
                <a:tc>
                  <a:txBody>
                    <a:bodyPr/>
                    <a:lstStyle/>
                    <a:p>
                      <a:pPr marL="0" marR="0" lvl="0" indent="-228600" algn="l" defTabSz="914034" rtl="0" eaLnBrk="1" fontAlgn="auto" latinLnBrk="0" hangingPunct="1">
                        <a:lnSpc>
                          <a:spcPct val="100000"/>
                        </a:lnSpc>
                        <a:spcBef>
                          <a:spcPts val="0"/>
                        </a:spcBef>
                        <a:spcAft>
                          <a:spcPts val="0"/>
                        </a:spcAft>
                        <a:buClrTx/>
                        <a:buSzTx/>
                        <a:buFont typeface="+mj-lt"/>
                        <a:buAutoNum type="arabicPeriod"/>
                        <a:tabLst/>
                        <a:defRPr/>
                      </a:pPr>
                      <a:r>
                        <a:rPr lang="zh-CN" altLang="en-US" sz="1400" kern="1200" dirty="0" smtClean="0">
                          <a:solidFill>
                            <a:schemeClr val="tx1"/>
                          </a:solidFill>
                          <a:effectLst/>
                          <a:latin typeface="+mn-lt"/>
                          <a:ea typeface="+mn-ea"/>
                          <a:cs typeface="+mn-cs"/>
                        </a:rPr>
                        <a:t>选择互通设备。</a:t>
                      </a:r>
                      <a:endParaRPr lang="en-US" altLang="zh-CN" sz="1400" kern="1200" dirty="0" smtClean="0">
                        <a:solidFill>
                          <a:schemeClr val="tx1"/>
                        </a:solidFill>
                        <a:effectLst/>
                        <a:latin typeface="+mn-lt"/>
                        <a:ea typeface="+mn-ea"/>
                        <a:cs typeface="+mn-cs"/>
                      </a:endParaRPr>
                    </a:p>
                    <a:p>
                      <a:pPr marL="0" marR="0" lvl="0" indent="-228600" algn="l" defTabSz="914034" rtl="0" eaLnBrk="1" fontAlgn="auto" latinLnBrk="0" hangingPunct="1">
                        <a:lnSpc>
                          <a:spcPct val="100000"/>
                        </a:lnSpc>
                        <a:spcBef>
                          <a:spcPts val="0"/>
                        </a:spcBef>
                        <a:spcAft>
                          <a:spcPts val="0"/>
                        </a:spcAft>
                        <a:buClrTx/>
                        <a:buSzTx/>
                        <a:buFont typeface="+mj-lt"/>
                        <a:buAutoNum type="arabicPeriod"/>
                        <a:tabLst/>
                        <a:defRPr/>
                      </a:pPr>
                      <a:r>
                        <a:rPr lang="zh-CN" altLang="en-US" sz="1400" kern="1200" dirty="0" smtClean="0">
                          <a:solidFill>
                            <a:schemeClr val="tx1"/>
                          </a:solidFill>
                          <a:effectLst/>
                          <a:latin typeface="+mn-lt"/>
                          <a:ea typeface="+mn-ea"/>
                          <a:cs typeface="+mn-cs"/>
                        </a:rPr>
                        <a:t>选择互通方式，包括全互通和部分互通。</a:t>
                      </a:r>
                      <a:endParaRPr lang="en-US" altLang="zh-CN" sz="1400" kern="1200" dirty="0" smtClean="0">
                        <a:solidFill>
                          <a:schemeClr val="tx1"/>
                        </a:solidFill>
                        <a:effectLst/>
                        <a:latin typeface="+mn-lt"/>
                        <a:ea typeface="+mn-ea"/>
                        <a:cs typeface="+mn-cs"/>
                      </a:endParaRPr>
                    </a:p>
                    <a:p>
                      <a:pPr marL="0" marR="0" lvl="0" indent="-228600" algn="l" defTabSz="914034" rtl="0" eaLnBrk="1" fontAlgn="auto" latinLnBrk="0" hangingPunct="1">
                        <a:lnSpc>
                          <a:spcPct val="100000"/>
                        </a:lnSpc>
                        <a:spcBef>
                          <a:spcPts val="0"/>
                        </a:spcBef>
                        <a:spcAft>
                          <a:spcPts val="0"/>
                        </a:spcAft>
                        <a:buClrTx/>
                        <a:buSzTx/>
                        <a:buFont typeface="+mj-lt"/>
                        <a:buAutoNum type="arabicPeriod"/>
                        <a:tabLst/>
                        <a:defRPr/>
                      </a:pPr>
                      <a:r>
                        <a:rPr lang="zh-CN" altLang="en-US" sz="1400" kern="1200" dirty="0" smtClean="0">
                          <a:solidFill>
                            <a:schemeClr val="tx1"/>
                          </a:solidFill>
                          <a:effectLst/>
                          <a:latin typeface="+mn-lt"/>
                          <a:ea typeface="+mn-ea"/>
                          <a:cs typeface="+mn-cs"/>
                        </a:rPr>
                        <a:t>配置源</a:t>
                      </a:r>
                      <a:r>
                        <a:rPr lang="en-US" altLang="zh-CN" sz="1400" kern="1200" dirty="0" smtClean="0">
                          <a:solidFill>
                            <a:schemeClr val="tx1"/>
                          </a:solidFill>
                          <a:effectLst/>
                          <a:latin typeface="+mn-lt"/>
                          <a:ea typeface="+mn-ea"/>
                          <a:cs typeface="+mn-cs"/>
                        </a:rPr>
                        <a:t>VN</a:t>
                      </a:r>
                      <a:r>
                        <a:rPr lang="zh-CN" altLang="en-US" sz="1400" kern="1200" dirty="0" smtClean="0">
                          <a:solidFill>
                            <a:schemeClr val="tx1"/>
                          </a:solidFill>
                          <a:effectLst/>
                          <a:latin typeface="+mn-lt"/>
                          <a:ea typeface="+mn-ea"/>
                          <a:cs typeface="+mn-cs"/>
                        </a:rPr>
                        <a:t>、源</a:t>
                      </a:r>
                      <a:r>
                        <a:rPr lang="en-US" altLang="zh-CN" sz="1400" kern="1200" dirty="0" smtClean="0">
                          <a:solidFill>
                            <a:schemeClr val="tx1"/>
                          </a:solidFill>
                          <a:effectLst/>
                          <a:latin typeface="+mn-lt"/>
                          <a:ea typeface="+mn-ea"/>
                          <a:cs typeface="+mn-cs"/>
                        </a:rPr>
                        <a:t>IPv4</a:t>
                      </a:r>
                      <a:r>
                        <a:rPr lang="zh-CN" altLang="en-US" sz="1400" kern="1200" dirty="0" smtClean="0">
                          <a:solidFill>
                            <a:schemeClr val="tx1"/>
                          </a:solidFill>
                          <a:effectLst/>
                          <a:latin typeface="+mn-lt"/>
                          <a:ea typeface="+mn-ea"/>
                          <a:cs typeface="+mn-cs"/>
                        </a:rPr>
                        <a:t>前缀、目的</a:t>
                      </a:r>
                      <a:r>
                        <a:rPr lang="en-US" altLang="zh-CN" sz="1400" kern="1200" dirty="0" smtClean="0">
                          <a:solidFill>
                            <a:schemeClr val="tx1"/>
                          </a:solidFill>
                          <a:effectLst/>
                          <a:latin typeface="+mn-lt"/>
                          <a:ea typeface="+mn-ea"/>
                          <a:cs typeface="+mn-cs"/>
                        </a:rPr>
                        <a:t>VN</a:t>
                      </a:r>
                      <a:r>
                        <a:rPr lang="zh-CN" altLang="en-US" sz="1400" kern="1200" dirty="0" smtClean="0">
                          <a:solidFill>
                            <a:schemeClr val="tx1"/>
                          </a:solidFill>
                          <a:effectLst/>
                          <a:latin typeface="+mn-lt"/>
                          <a:ea typeface="+mn-ea"/>
                          <a:cs typeface="+mn-cs"/>
                        </a:rPr>
                        <a:t>、目的</a:t>
                      </a:r>
                      <a:r>
                        <a:rPr lang="en-US" altLang="zh-CN" sz="1400" kern="1200" dirty="0" smtClean="0">
                          <a:solidFill>
                            <a:schemeClr val="tx1"/>
                          </a:solidFill>
                          <a:effectLst/>
                          <a:latin typeface="+mn-lt"/>
                          <a:ea typeface="+mn-ea"/>
                          <a:cs typeface="+mn-cs"/>
                        </a:rPr>
                        <a:t>IPv4</a:t>
                      </a:r>
                      <a:r>
                        <a:rPr lang="zh-CN" altLang="en-US" sz="1400" kern="1200" dirty="0" smtClean="0">
                          <a:solidFill>
                            <a:schemeClr val="tx1"/>
                          </a:solidFill>
                          <a:effectLst/>
                          <a:latin typeface="+mn-lt"/>
                          <a:ea typeface="+mn-ea"/>
                          <a:cs typeface="+mn-cs"/>
                        </a:rPr>
                        <a:t>前缀。</a:t>
                      </a:r>
                      <a:endParaRPr lang="zh-CN" altLang="en-US" sz="1400" kern="1200" dirty="0">
                        <a:solidFill>
                          <a:schemeClr val="tx1"/>
                        </a:solidFill>
                        <a:effectLst/>
                        <a:latin typeface="+mn-lt"/>
                        <a:ea typeface="+mn-ea"/>
                        <a:cs typeface="+mn-cs"/>
                      </a:endParaRPr>
                    </a:p>
                  </a:txBody>
                  <a:tcPr anchor="ctr">
                    <a:lnR w="28575" cap="flat" cmpd="sng" algn="ctr">
                      <a:solidFill>
                        <a:schemeClr val="tx1"/>
                      </a:solidFill>
                      <a:prstDash val="solid"/>
                      <a:round/>
                      <a:headEnd type="none" w="med" len="med"/>
                      <a:tailEnd type="none" w="med" len="med"/>
                    </a:lnR>
                    <a:lnB w="28575" cap="flat" cmpd="sng" algn="ctr">
                      <a:solidFill>
                        <a:schemeClr val="tx1"/>
                      </a:solidFill>
                      <a:prstDash val="solid"/>
                      <a:round/>
                      <a:headEnd type="none" w="med" len="med"/>
                      <a:tailEnd type="none" w="med" len="med"/>
                    </a:lnB>
                  </a:tcPr>
                </a:tc>
              </a:tr>
            </a:tbl>
          </a:graphicData>
        </a:graphic>
      </p:graphicFrame>
      <p:sp>
        <p:nvSpPr>
          <p:cNvPr id="17" name="五边形 16"/>
          <p:cNvSpPr/>
          <p:nvPr/>
        </p:nvSpPr>
        <p:spPr bwMode="gray">
          <a:xfrm>
            <a:off x="5773628" y="98481"/>
            <a:ext cx="9000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smtClean="0">
                <a:latin typeface="Huawei Sans" panose="020C0503030203020204" pitchFamily="34" charset="0"/>
                <a:ea typeface="方正兰亭黑简体" panose="02000000000000000000" pitchFamily="2" charset="-122"/>
                <a:sym typeface="Huawei Sans" panose="020C0503030203020204" pitchFamily="34" charset="0"/>
              </a:rPr>
              <a:t>站点管理</a:t>
            </a:r>
            <a:endPar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8" name="燕尾形 17"/>
          <p:cNvSpPr/>
          <p:nvPr/>
        </p:nvSpPr>
        <p:spPr bwMode="gray">
          <a:xfrm>
            <a:off x="9109268" y="98481"/>
            <a:ext cx="9000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smtClean="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逻辑网络</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9" name="燕尾形 18"/>
          <p:cNvSpPr/>
          <p:nvPr/>
        </p:nvSpPr>
        <p:spPr bwMode="gray">
          <a:xfrm>
            <a:off x="9925178" y="9848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业务部署</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0" name="燕尾形 19"/>
          <p:cNvSpPr/>
          <p:nvPr/>
        </p:nvSpPr>
        <p:spPr bwMode="gray">
          <a:xfrm>
            <a:off x="8221358" y="98481"/>
            <a:ext cx="972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smtClean="0">
                <a:latin typeface="Huawei Sans" panose="020C0503030203020204" pitchFamily="34" charset="0"/>
                <a:ea typeface="方正兰亭黑简体" panose="02000000000000000000" pitchFamily="2" charset="-122"/>
                <a:sym typeface="Huawei Sans" panose="020C0503030203020204" pitchFamily="34" charset="0"/>
              </a:rPr>
              <a:t>Fabric</a:t>
            </a:r>
            <a:r>
              <a:rPr lang="zh-CN" altLang="en-US" sz="1200" kern="0" dirty="0" smtClean="0">
                <a:latin typeface="Huawei Sans" panose="020C0503030203020204" pitchFamily="34" charset="0"/>
                <a:ea typeface="方正兰亭黑简体" panose="02000000000000000000" pitchFamily="2" charset="-122"/>
                <a:sym typeface="Huawei Sans" panose="020C0503030203020204" pitchFamily="34" charset="0"/>
              </a:rPr>
              <a:t>网络</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1" name="燕尾形 20"/>
          <p:cNvSpPr/>
          <p:nvPr/>
        </p:nvSpPr>
        <p:spPr bwMode="gray">
          <a:xfrm>
            <a:off x="7405448" y="9848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网络规划</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2" name="燕尾形 21"/>
          <p:cNvSpPr/>
          <p:nvPr/>
        </p:nvSpPr>
        <p:spPr bwMode="gray">
          <a:xfrm>
            <a:off x="6589538" y="9848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设备管理</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3" name="燕尾形 22"/>
          <p:cNvSpPr/>
          <p:nvPr/>
        </p:nvSpPr>
        <p:spPr bwMode="gray">
          <a:xfrm>
            <a:off x="10741088" y="98481"/>
            <a:ext cx="1008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WLAN</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业务</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642929857"/>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bwMode="gray"/>
        <p:txBody>
          <a:bodyPr>
            <a:normAutofit/>
          </a:bodyPr>
          <a:lstStyle/>
          <a:p>
            <a:r>
              <a:rPr lang="zh-CN" altLang="en-US" dirty="0"/>
              <a:t>实验</a:t>
            </a:r>
            <a:r>
              <a:rPr lang="zh-CN" altLang="en-US" dirty="0" smtClean="0"/>
              <a:t>：配置</a:t>
            </a:r>
            <a:r>
              <a:rPr lang="en-US" altLang="zh-CN" dirty="0" smtClean="0"/>
              <a:t>VN</a:t>
            </a:r>
            <a:r>
              <a:rPr lang="zh-CN" altLang="en-US" dirty="0" smtClean="0"/>
              <a:t>互通</a:t>
            </a:r>
            <a:endParaRPr lang="zh-CN" altLang="en-US" dirty="0"/>
          </a:p>
        </p:txBody>
      </p:sp>
      <p:sp>
        <p:nvSpPr>
          <p:cNvPr id="86" name="矩形 85"/>
          <p:cNvSpPr/>
          <p:nvPr/>
        </p:nvSpPr>
        <p:spPr bwMode="gray">
          <a:xfrm>
            <a:off x="4464853" y="1647506"/>
            <a:ext cx="6267793" cy="400110"/>
          </a:xfrm>
          <a:prstGeom prst="rect">
            <a:avLst/>
          </a:prstGeom>
        </p:spPr>
        <p:txBody>
          <a:bodyPr wrap="square">
            <a:spAutoFit/>
          </a:bodyPr>
          <a:lstStyle/>
          <a:p>
            <a:pPr algn="just">
              <a:lnSpc>
                <a:spcPts val="2400"/>
              </a:lnSpc>
              <a:spcAft>
                <a:spcPts val="600"/>
              </a:spcAft>
            </a:pPr>
            <a:r>
              <a:rPr lang="zh-CN" altLang="en-US" sz="1600" dirty="0"/>
              <a:t>进入</a:t>
            </a:r>
            <a:r>
              <a:rPr lang="en-US" altLang="zh-CN" sz="1600" dirty="0"/>
              <a:t>VN</a:t>
            </a:r>
            <a:r>
              <a:rPr lang="zh-CN" altLang="en-US" sz="1600" dirty="0"/>
              <a:t>互通页面后，单击“增加”，新建一个</a:t>
            </a:r>
            <a:r>
              <a:rPr lang="en-US" altLang="zh-CN" sz="1600" dirty="0"/>
              <a:t>VN</a:t>
            </a:r>
            <a:r>
              <a:rPr lang="zh-CN" altLang="en-US" sz="1600" dirty="0"/>
              <a:t>互通的</a:t>
            </a:r>
            <a:r>
              <a:rPr lang="zh-CN" altLang="en-US" sz="1600" dirty="0" smtClean="0"/>
              <a:t>配置：</a:t>
            </a:r>
            <a:endParaRPr lang="zh-CN" altLang="en-US" sz="1600" dirty="0"/>
          </a:p>
        </p:txBody>
      </p:sp>
      <p:sp>
        <p:nvSpPr>
          <p:cNvPr id="11" name="圆角矩形 10"/>
          <p:cNvSpPr/>
          <p:nvPr/>
        </p:nvSpPr>
        <p:spPr bwMode="gray">
          <a:xfrm>
            <a:off x="784411" y="2317298"/>
            <a:ext cx="3606444" cy="1534181"/>
          </a:xfrm>
          <a:prstGeom prst="roundRect">
            <a:avLst>
              <a:gd name="adj" fmla="val 3166"/>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12" name="梯形 11"/>
          <p:cNvSpPr/>
          <p:nvPr/>
        </p:nvSpPr>
        <p:spPr bwMode="gray">
          <a:xfrm>
            <a:off x="1122478" y="3150789"/>
            <a:ext cx="1439730" cy="501291"/>
          </a:xfrm>
          <a:prstGeom prst="trapezoid">
            <a:avLst>
              <a:gd name="adj" fmla="val 22961"/>
            </a:avLst>
          </a:prstGeom>
          <a:gradFill flip="none" rotWithShape="1">
            <a:gsLst>
              <a:gs pos="0">
                <a:schemeClr val="bg1">
                  <a:alpha val="4000"/>
                </a:schemeClr>
              </a:gs>
              <a:gs pos="100000">
                <a:srgbClr val="EEB3B8"/>
              </a:gs>
            </a:gsLst>
            <a:lin ang="5400000" scaled="1"/>
            <a:tileRect/>
          </a:gradFill>
          <a:ln>
            <a:gradFill flip="none" rotWithShape="1">
              <a:gsLst>
                <a:gs pos="0">
                  <a:schemeClr val="accent1">
                    <a:lumMod val="5000"/>
                    <a:lumOff val="95000"/>
                    <a:alpha val="0"/>
                  </a:schemeClr>
                </a:gs>
                <a:gs pos="82000">
                  <a:srgbClr val="E28189"/>
                </a:gs>
              </a:gsLst>
              <a:lin ang="54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 name="梯形 12"/>
          <p:cNvSpPr/>
          <p:nvPr/>
        </p:nvSpPr>
        <p:spPr bwMode="gray">
          <a:xfrm>
            <a:off x="2847590" y="3150789"/>
            <a:ext cx="1439730" cy="501291"/>
          </a:xfrm>
          <a:prstGeom prst="trapezoid">
            <a:avLst>
              <a:gd name="adj" fmla="val 22961"/>
            </a:avLst>
          </a:prstGeom>
          <a:gradFill flip="none" rotWithShape="1">
            <a:gsLst>
              <a:gs pos="0">
                <a:schemeClr val="bg1">
                  <a:alpha val="4000"/>
                </a:schemeClr>
              </a:gs>
              <a:gs pos="100000">
                <a:schemeClr val="accent2">
                  <a:lumMod val="20000"/>
                  <a:lumOff val="80000"/>
                </a:schemeClr>
              </a:gs>
            </a:gsLst>
            <a:lin ang="5400000" scaled="1"/>
            <a:tileRect/>
          </a:gradFill>
          <a:ln>
            <a:gradFill flip="none" rotWithShape="1">
              <a:gsLst>
                <a:gs pos="0">
                  <a:schemeClr val="accent1">
                    <a:lumMod val="5000"/>
                    <a:lumOff val="95000"/>
                    <a:alpha val="0"/>
                  </a:schemeClr>
                </a:gs>
                <a:gs pos="82000">
                  <a:schemeClr val="accent2">
                    <a:lumMod val="60000"/>
                    <a:lumOff val="40000"/>
                  </a:schemeClr>
                </a:gs>
              </a:gsLst>
              <a:lin ang="54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 name="文本框 13"/>
          <p:cNvSpPr txBox="1"/>
          <p:nvPr/>
        </p:nvSpPr>
        <p:spPr bwMode="gray">
          <a:xfrm>
            <a:off x="1446074" y="3328505"/>
            <a:ext cx="712054" cy="276999"/>
          </a:xfrm>
          <a:prstGeom prst="rect">
            <a:avLst/>
          </a:prstGeom>
          <a:noFill/>
        </p:spPr>
        <p:txBody>
          <a:bodyPr wrap="none" rtlCol="0">
            <a:spAutoFit/>
          </a:bodyPr>
          <a:lstStyle/>
          <a:p>
            <a:pPr algn="ctr"/>
            <a:r>
              <a:rPr lang="en-US" altLang="zh-CN" sz="1200" b="1" dirty="0" smtClean="0">
                <a:latin typeface="Huawei Sans" panose="020C0503030203020204" pitchFamily="34" charset="0"/>
                <a:ea typeface="方正兰亭黑简体" panose="02000000000000000000" pitchFamily="2" charset="-122"/>
                <a:cs typeface="Huawei Sans" panose="020C0503030203020204" pitchFamily="34" charset="0"/>
              </a:rPr>
              <a:t>OA_VN</a:t>
            </a:r>
          </a:p>
        </p:txBody>
      </p:sp>
      <p:sp>
        <p:nvSpPr>
          <p:cNvPr id="15" name="文本框 14"/>
          <p:cNvSpPr txBox="1"/>
          <p:nvPr/>
        </p:nvSpPr>
        <p:spPr bwMode="gray">
          <a:xfrm>
            <a:off x="3219443" y="3328505"/>
            <a:ext cx="696024" cy="276999"/>
          </a:xfrm>
          <a:prstGeom prst="rect">
            <a:avLst/>
          </a:prstGeom>
          <a:noFill/>
        </p:spPr>
        <p:txBody>
          <a:bodyPr wrap="none" rtlCol="0">
            <a:spAutoFit/>
          </a:bodyPr>
          <a:lstStyle/>
          <a:p>
            <a:pPr algn="ctr"/>
            <a:r>
              <a:rPr lang="en-US" altLang="zh-CN" sz="1200" b="1" dirty="0" smtClean="0">
                <a:latin typeface="Huawei Sans" panose="020C0503030203020204" pitchFamily="34" charset="0"/>
                <a:ea typeface="方正兰亭黑简体" panose="02000000000000000000" pitchFamily="2" charset="-122"/>
                <a:cs typeface="Huawei Sans" panose="020C0503030203020204" pitchFamily="34" charset="0"/>
              </a:rPr>
              <a:t>RD_VN</a:t>
            </a:r>
          </a:p>
        </p:txBody>
      </p:sp>
      <p:cxnSp>
        <p:nvCxnSpPr>
          <p:cNvPr id="16" name="曲线连接符 15"/>
          <p:cNvCxnSpPr>
            <a:stCxn id="12" idx="0"/>
            <a:endCxn id="13" idx="0"/>
          </p:cNvCxnSpPr>
          <p:nvPr/>
        </p:nvCxnSpPr>
        <p:spPr bwMode="gray">
          <a:xfrm rot="5400000" flipH="1" flipV="1">
            <a:off x="2704899" y="2288233"/>
            <a:ext cx="12700" cy="1725112"/>
          </a:xfrm>
          <a:prstGeom prst="curvedConnector3">
            <a:avLst>
              <a:gd name="adj1" fmla="val 3847709"/>
            </a:avLst>
          </a:prstGeom>
          <a:ln w="57150">
            <a:solidFill>
              <a:srgbClr val="30B5C5"/>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7" name="文本框 16"/>
          <p:cNvSpPr txBox="1"/>
          <p:nvPr/>
        </p:nvSpPr>
        <p:spPr bwMode="gray">
          <a:xfrm>
            <a:off x="768054" y="2342733"/>
            <a:ext cx="708848" cy="307777"/>
          </a:xfrm>
          <a:prstGeom prst="rect">
            <a:avLst/>
          </a:prstGeom>
          <a:noFill/>
        </p:spPr>
        <p:txBody>
          <a:bodyPr wrap="none" rtlCol="0">
            <a:spAutoFit/>
          </a:bodyPr>
          <a:lstStyle/>
          <a:p>
            <a:r>
              <a:rPr lang="en-US" altLang="zh-CN" sz="1400" b="1" dirty="0" smtClean="0">
                <a:latin typeface="Huawei Sans" panose="020C0503030203020204" pitchFamily="34" charset="0"/>
                <a:ea typeface="方正兰亭黑简体" panose="02000000000000000000" pitchFamily="2" charset="-122"/>
                <a:cs typeface="Huawei Sans" panose="020C0503030203020204" pitchFamily="34" charset="0"/>
              </a:rPr>
              <a:t>Fabric</a:t>
            </a:r>
            <a:endParaRPr lang="zh-CN" altLang="en-US" sz="1400" b="1" dirty="0">
              <a:latin typeface="Huawei Sans" panose="020C0503030203020204" pitchFamily="34" charset="0"/>
              <a:ea typeface="方正兰亭黑简体" panose="02000000000000000000" pitchFamily="2" charset="-122"/>
              <a:cs typeface="Huawei Sans" panose="020C0503030203020204" pitchFamily="34" charset="0"/>
            </a:endParaRPr>
          </a:p>
        </p:txBody>
      </p:sp>
      <p:pic>
        <p:nvPicPr>
          <p:cNvPr id="18" name="图片 17" descr="PC.png">
            <a:extLst>
              <a:ext uri="{FF2B5EF4-FFF2-40B4-BE49-F238E27FC236}">
                <a16:creationId xmlns="" xmlns:a16="http://schemas.microsoft.com/office/drawing/2014/main" id="{4666702E-823D-4236-BF2F-880359158C83}"/>
              </a:ext>
            </a:extLst>
          </p:cNvPr>
          <p:cNvPicPr>
            <a:picLocks noChangeAspect="1"/>
          </p:cNvPicPr>
          <p:nvPr/>
        </p:nvPicPr>
        <p:blipFill>
          <a:blip r:embed="rId3" cstate="print"/>
          <a:stretch>
            <a:fillRect/>
          </a:stretch>
        </p:blipFill>
        <p:spPr bwMode="gray">
          <a:xfrm>
            <a:off x="1585874" y="3957903"/>
            <a:ext cx="445506" cy="342149"/>
          </a:xfrm>
          <a:prstGeom prst="rect">
            <a:avLst/>
          </a:prstGeom>
        </p:spPr>
      </p:pic>
      <p:pic>
        <p:nvPicPr>
          <p:cNvPr id="20" name="图片 19" descr="PC.png">
            <a:extLst>
              <a:ext uri="{FF2B5EF4-FFF2-40B4-BE49-F238E27FC236}">
                <a16:creationId xmlns="" xmlns:a16="http://schemas.microsoft.com/office/drawing/2014/main" id="{4666702E-823D-4236-BF2F-880359158C83}"/>
              </a:ext>
            </a:extLst>
          </p:cNvPr>
          <p:cNvPicPr>
            <a:picLocks noChangeAspect="1"/>
          </p:cNvPicPr>
          <p:nvPr/>
        </p:nvPicPr>
        <p:blipFill>
          <a:blip r:embed="rId3" cstate="print"/>
          <a:stretch>
            <a:fillRect/>
          </a:stretch>
        </p:blipFill>
        <p:spPr bwMode="gray">
          <a:xfrm>
            <a:off x="3344701" y="3957903"/>
            <a:ext cx="445506" cy="342149"/>
          </a:xfrm>
          <a:prstGeom prst="rect">
            <a:avLst/>
          </a:prstGeom>
        </p:spPr>
      </p:pic>
      <p:sp>
        <p:nvSpPr>
          <p:cNvPr id="35" name="任意多边形 34"/>
          <p:cNvSpPr/>
          <p:nvPr/>
        </p:nvSpPr>
        <p:spPr bwMode="gray">
          <a:xfrm rot="1922288">
            <a:off x="1441160" y="3306579"/>
            <a:ext cx="390809" cy="617828"/>
          </a:xfrm>
          <a:custGeom>
            <a:avLst/>
            <a:gdLst>
              <a:gd name="connsiteX0" fmla="*/ 390809 w 390809"/>
              <a:gd name="connsiteY0" fmla="*/ 712381 h 712381"/>
              <a:gd name="connsiteX1" fmla="*/ 50567 w 390809"/>
              <a:gd name="connsiteY1" fmla="*/ 340242 h 712381"/>
              <a:gd name="connsiteX2" fmla="*/ 8037 w 390809"/>
              <a:gd name="connsiteY2" fmla="*/ 0 h 712381"/>
            </a:gdLst>
            <a:ahLst/>
            <a:cxnLst>
              <a:cxn ang="0">
                <a:pos x="connsiteX0" y="connsiteY0"/>
              </a:cxn>
              <a:cxn ang="0">
                <a:pos x="connsiteX1" y="connsiteY1"/>
              </a:cxn>
              <a:cxn ang="0">
                <a:pos x="connsiteX2" y="connsiteY2"/>
              </a:cxn>
            </a:cxnLst>
            <a:rect l="l" t="t" r="r" b="b"/>
            <a:pathLst>
              <a:path w="390809" h="712381">
                <a:moveTo>
                  <a:pt x="390809" y="712381"/>
                </a:moveTo>
                <a:cubicBezTo>
                  <a:pt x="252585" y="585676"/>
                  <a:pt x="114362" y="458972"/>
                  <a:pt x="50567" y="340242"/>
                </a:cubicBezTo>
                <a:cubicBezTo>
                  <a:pt x="-13228" y="221512"/>
                  <a:pt x="-2596" y="110756"/>
                  <a:pt x="8037" y="0"/>
                </a:cubicBezTo>
              </a:path>
            </a:pathLst>
          </a:custGeom>
          <a:noFill/>
          <a:ln w="28575">
            <a:solidFill>
              <a:srgbClr val="C00000"/>
            </a:solidFill>
            <a:prstDash val="dash"/>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任意多边形 35"/>
          <p:cNvSpPr/>
          <p:nvPr/>
        </p:nvSpPr>
        <p:spPr bwMode="gray">
          <a:xfrm>
            <a:off x="3575138" y="3308177"/>
            <a:ext cx="255685" cy="649727"/>
          </a:xfrm>
          <a:custGeom>
            <a:avLst/>
            <a:gdLst>
              <a:gd name="connsiteX0" fmla="*/ 0 w 255685"/>
              <a:gd name="connsiteY0" fmla="*/ 797442 h 797442"/>
              <a:gd name="connsiteX1" fmla="*/ 244549 w 255685"/>
              <a:gd name="connsiteY1" fmla="*/ 382772 h 797442"/>
              <a:gd name="connsiteX2" fmla="*/ 191386 w 255685"/>
              <a:gd name="connsiteY2" fmla="*/ 0 h 797442"/>
            </a:gdLst>
            <a:ahLst/>
            <a:cxnLst>
              <a:cxn ang="0">
                <a:pos x="connsiteX0" y="connsiteY0"/>
              </a:cxn>
              <a:cxn ang="0">
                <a:pos x="connsiteX1" y="connsiteY1"/>
              </a:cxn>
              <a:cxn ang="0">
                <a:pos x="connsiteX2" y="connsiteY2"/>
              </a:cxn>
            </a:cxnLst>
            <a:rect l="l" t="t" r="r" b="b"/>
            <a:pathLst>
              <a:path w="255685" h="797442">
                <a:moveTo>
                  <a:pt x="0" y="797442"/>
                </a:moveTo>
                <a:cubicBezTo>
                  <a:pt x="106325" y="656560"/>
                  <a:pt x="212651" y="515679"/>
                  <a:pt x="244549" y="382772"/>
                </a:cubicBezTo>
                <a:cubicBezTo>
                  <a:pt x="276447" y="249865"/>
                  <a:pt x="233916" y="124932"/>
                  <a:pt x="191386" y="0"/>
                </a:cubicBezTo>
              </a:path>
            </a:pathLst>
          </a:custGeom>
          <a:noFill/>
          <a:ln w="28575">
            <a:solidFill>
              <a:srgbClr val="00B050"/>
            </a:solidFill>
            <a:prstDash val="dash"/>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文本框 39"/>
          <p:cNvSpPr txBox="1"/>
          <p:nvPr/>
        </p:nvSpPr>
        <p:spPr bwMode="gray">
          <a:xfrm>
            <a:off x="2311140" y="2365817"/>
            <a:ext cx="800219" cy="276999"/>
          </a:xfrm>
          <a:prstGeom prst="rect">
            <a:avLst/>
          </a:prstGeom>
          <a:noFill/>
        </p:spPr>
        <p:txBody>
          <a:bodyPr wrap="none" rtlCol="0">
            <a:spAutoFit/>
          </a:bodyPr>
          <a:lstStyle/>
          <a:p>
            <a:pPr algn="ctr"/>
            <a:r>
              <a:rPr lang="zh-CN" altLang="en-US" sz="1200" b="1" dirty="0" smtClean="0">
                <a:latin typeface="Huawei Sans" panose="020C0503030203020204" pitchFamily="34" charset="0"/>
                <a:ea typeface="方正兰亭黑简体" panose="02000000000000000000" pitchFamily="2" charset="-122"/>
                <a:cs typeface="Huawei Sans" panose="020C0503030203020204" pitchFamily="34" charset="0"/>
              </a:rPr>
              <a:t>路由可达</a:t>
            </a:r>
            <a:endParaRPr lang="zh-CN" altLang="en-US" sz="1200" b="1"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47" name="文本框 46"/>
          <p:cNvSpPr txBox="1"/>
          <p:nvPr/>
        </p:nvSpPr>
        <p:spPr bwMode="gray">
          <a:xfrm>
            <a:off x="2950853" y="4300052"/>
            <a:ext cx="1215397" cy="461665"/>
          </a:xfrm>
          <a:prstGeom prst="rect">
            <a:avLst/>
          </a:prstGeom>
          <a:noFill/>
        </p:spPr>
        <p:txBody>
          <a:bodyPr wrap="none" rtlCol="0">
            <a:spAutoFit/>
          </a:bodyPr>
          <a:lstStyle/>
          <a:p>
            <a:pPr algn="ctr"/>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RD</a:t>
            </a:r>
          </a:p>
          <a:p>
            <a:pPr algn="ctr"/>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172.17.30.0/24</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48" name="文本框 47"/>
          <p:cNvSpPr txBox="1"/>
          <p:nvPr/>
        </p:nvSpPr>
        <p:spPr bwMode="gray">
          <a:xfrm>
            <a:off x="1189170" y="4300052"/>
            <a:ext cx="1215397" cy="461665"/>
          </a:xfrm>
          <a:prstGeom prst="rect">
            <a:avLst/>
          </a:prstGeom>
          <a:noFill/>
        </p:spPr>
        <p:txBody>
          <a:bodyPr wrap="none" rtlCol="0">
            <a:spAutoFit/>
          </a:bodyPr>
          <a:lstStyle/>
          <a:p>
            <a:pPr algn="ctr"/>
            <a:r>
              <a:rPr lang="en-US" altLang="zh-CN" sz="1200" dirty="0" err="1" smtClean="0">
                <a:latin typeface="Huawei Sans" panose="020C0503030203020204" pitchFamily="34" charset="0"/>
                <a:ea typeface="方正兰亭黑简体" panose="02000000000000000000" pitchFamily="2" charset="-122"/>
                <a:cs typeface="Huawei Sans" panose="020C0503030203020204" pitchFamily="34" charset="0"/>
              </a:rPr>
              <a:t>Market_Wired</a:t>
            </a:r>
            <a:endPar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endParaRPr>
          </a:p>
          <a:p>
            <a:pPr algn="ctr"/>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172.17.20.0/24</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pic>
        <p:nvPicPr>
          <p:cNvPr id="2" name="图片 1"/>
          <p:cNvPicPr>
            <a:picLocks noChangeAspect="1"/>
          </p:cNvPicPr>
          <p:nvPr/>
        </p:nvPicPr>
        <p:blipFill>
          <a:blip r:embed="rId4"/>
          <a:stretch>
            <a:fillRect/>
          </a:stretch>
        </p:blipFill>
        <p:spPr bwMode="gray">
          <a:xfrm>
            <a:off x="4562763" y="2074904"/>
            <a:ext cx="7182249" cy="3461191"/>
          </a:xfrm>
          <a:prstGeom prst="rect">
            <a:avLst/>
          </a:prstGeom>
          <a:ln w="12700">
            <a:solidFill>
              <a:schemeClr val="bg1">
                <a:lumMod val="85000"/>
              </a:schemeClr>
            </a:solidFill>
          </a:ln>
        </p:spPr>
      </p:pic>
      <p:sp>
        <p:nvSpPr>
          <p:cNvPr id="25" name="五边形 24"/>
          <p:cNvSpPr/>
          <p:nvPr/>
        </p:nvSpPr>
        <p:spPr bwMode="gray">
          <a:xfrm>
            <a:off x="5773628" y="98481"/>
            <a:ext cx="9000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smtClean="0">
                <a:latin typeface="Huawei Sans" panose="020C0503030203020204" pitchFamily="34" charset="0"/>
                <a:ea typeface="方正兰亭黑简体" panose="02000000000000000000" pitchFamily="2" charset="-122"/>
                <a:sym typeface="Huawei Sans" panose="020C0503030203020204" pitchFamily="34" charset="0"/>
              </a:rPr>
              <a:t>站点管理</a:t>
            </a:r>
            <a:endPar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6" name="燕尾形 25"/>
          <p:cNvSpPr/>
          <p:nvPr/>
        </p:nvSpPr>
        <p:spPr bwMode="gray">
          <a:xfrm>
            <a:off x="9109268" y="98481"/>
            <a:ext cx="9000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smtClean="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逻辑网络</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7" name="燕尾形 26"/>
          <p:cNvSpPr/>
          <p:nvPr/>
        </p:nvSpPr>
        <p:spPr bwMode="gray">
          <a:xfrm>
            <a:off x="9925178" y="9848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业务部署</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8" name="燕尾形 27"/>
          <p:cNvSpPr/>
          <p:nvPr/>
        </p:nvSpPr>
        <p:spPr bwMode="gray">
          <a:xfrm>
            <a:off x="8221358" y="98481"/>
            <a:ext cx="972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smtClean="0">
                <a:latin typeface="Huawei Sans" panose="020C0503030203020204" pitchFamily="34" charset="0"/>
                <a:ea typeface="方正兰亭黑简体" panose="02000000000000000000" pitchFamily="2" charset="-122"/>
                <a:sym typeface="Huawei Sans" panose="020C0503030203020204" pitchFamily="34" charset="0"/>
              </a:rPr>
              <a:t>Fabric</a:t>
            </a:r>
            <a:r>
              <a:rPr lang="zh-CN" altLang="en-US" sz="1200" kern="0" dirty="0" smtClean="0">
                <a:latin typeface="Huawei Sans" panose="020C0503030203020204" pitchFamily="34" charset="0"/>
                <a:ea typeface="方正兰亭黑简体" panose="02000000000000000000" pitchFamily="2" charset="-122"/>
                <a:sym typeface="Huawei Sans" panose="020C0503030203020204" pitchFamily="34" charset="0"/>
              </a:rPr>
              <a:t>网络</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9" name="燕尾形 28"/>
          <p:cNvSpPr/>
          <p:nvPr/>
        </p:nvSpPr>
        <p:spPr bwMode="gray">
          <a:xfrm>
            <a:off x="7405448" y="9848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网络规划</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0" name="燕尾形 29"/>
          <p:cNvSpPr/>
          <p:nvPr/>
        </p:nvSpPr>
        <p:spPr bwMode="gray">
          <a:xfrm>
            <a:off x="6589538" y="9848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设备管理</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1" name="燕尾形 30"/>
          <p:cNvSpPr/>
          <p:nvPr/>
        </p:nvSpPr>
        <p:spPr bwMode="gray">
          <a:xfrm>
            <a:off x="10741088" y="98481"/>
            <a:ext cx="1008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WLAN</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业务</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2320982860"/>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normAutofit/>
          </a:bodyPr>
          <a:lstStyle/>
          <a:p>
            <a:r>
              <a:rPr lang="zh-CN" altLang="en-US" smtClean="0"/>
              <a:t>业务部署</a:t>
            </a:r>
            <a:endParaRPr lang="zh-CN" altLang="en-US" dirty="0"/>
          </a:p>
        </p:txBody>
      </p:sp>
      <p:sp>
        <p:nvSpPr>
          <p:cNvPr id="9" name="文本占位符 8"/>
          <p:cNvSpPr>
            <a:spLocks noGrp="1"/>
          </p:cNvSpPr>
          <p:nvPr>
            <p:ph type="body" sz="quarter" idx="10"/>
          </p:nvPr>
        </p:nvSpPr>
        <p:spPr bwMode="gray">
          <a:xfrm>
            <a:off x="455612" y="1047750"/>
            <a:ext cx="11293475" cy="1027253"/>
          </a:xfrm>
        </p:spPr>
        <p:txBody>
          <a:bodyPr/>
          <a:lstStyle/>
          <a:p>
            <a:r>
              <a:rPr lang="zh-CN" altLang="en-US" sz="2000" dirty="0" smtClean="0"/>
              <a:t>大型园区一般允许用户从网络中的任意位置、任意</a:t>
            </a:r>
            <a:r>
              <a:rPr lang="en-US" altLang="zh-CN" sz="2000" dirty="0" smtClean="0"/>
              <a:t>VLAN</a:t>
            </a:r>
            <a:r>
              <a:rPr lang="zh-CN" altLang="en-US" sz="2000" dirty="0" smtClean="0"/>
              <a:t>、任意</a:t>
            </a:r>
            <a:r>
              <a:rPr lang="en-US" altLang="zh-CN" sz="2000" dirty="0" smtClean="0"/>
              <a:t>IP</a:t>
            </a:r>
            <a:r>
              <a:rPr lang="zh-CN" altLang="en-US" sz="2000" dirty="0" smtClean="0"/>
              <a:t>网段接入的同时，还可以始终控制其网络访问权限。</a:t>
            </a:r>
            <a:endParaRPr lang="zh-CN" altLang="en-US" sz="2000" dirty="0"/>
          </a:p>
        </p:txBody>
      </p:sp>
      <p:graphicFrame>
        <p:nvGraphicFramePr>
          <p:cNvPr id="40" name="表格 39"/>
          <p:cNvGraphicFramePr>
            <a:graphicFrameLocks noGrp="1"/>
          </p:cNvGraphicFramePr>
          <p:nvPr>
            <p:extLst>
              <p:ext uri="{D42A27DB-BD31-4B8C-83A1-F6EECF244321}">
                <p14:modId xmlns:p14="http://schemas.microsoft.com/office/powerpoint/2010/main" val="1382808039"/>
              </p:ext>
            </p:extLst>
          </p:nvPr>
        </p:nvGraphicFramePr>
        <p:xfrm>
          <a:off x="5969783" y="2831697"/>
          <a:ext cx="5665578" cy="1249680"/>
        </p:xfrm>
        <a:graphic>
          <a:graphicData uri="http://schemas.openxmlformats.org/drawingml/2006/table">
            <a:tbl>
              <a:tblPr/>
              <a:tblGrid>
                <a:gridCol w="1335240"/>
                <a:gridCol w="4330338"/>
              </a:tblGrid>
              <a:tr h="276364">
                <a:tc>
                  <a:txBody>
                    <a:bodyPr/>
                    <a:lstStyle/>
                    <a:p>
                      <a:pPr algn="ctr"/>
                      <a:r>
                        <a:rPr lang="zh-CN" altLang="en-US" sz="1400" b="1" dirty="0">
                          <a:effectLst/>
                        </a:rPr>
                        <a:t>任务描述</a:t>
                      </a:r>
                    </a:p>
                  </a:txBody>
                  <a:tcPr anchor="ctr">
                    <a:lnL w="28575" cap="flat" cmpd="sng" algn="ctr">
                      <a:solidFill>
                        <a:schemeClr val="tx1"/>
                      </a:solidFill>
                      <a:prstDash val="solid"/>
                      <a:round/>
                      <a:headEnd type="none" w="med" len="med"/>
                      <a:tailEnd type="none" w="med" len="med"/>
                    </a:lnL>
                    <a:lnT w="28575" cap="flat" cmpd="sng" algn="ctr">
                      <a:solidFill>
                        <a:schemeClr val="tx1"/>
                      </a:solidFill>
                      <a:prstDash val="solid"/>
                      <a:round/>
                      <a:headEnd type="none" w="med" len="med"/>
                      <a:tailEnd type="none" w="med" len="med"/>
                    </a:lnT>
                    <a:solidFill>
                      <a:schemeClr val="bg1">
                        <a:lumMod val="85000"/>
                      </a:schemeClr>
                    </a:solidFill>
                  </a:tcPr>
                </a:tc>
                <a:tc>
                  <a:txBody>
                    <a:bodyPr/>
                    <a:lstStyle/>
                    <a:p>
                      <a:pPr algn="ctr"/>
                      <a:r>
                        <a:rPr lang="zh-CN" altLang="en-US" sz="1400" b="1" dirty="0" smtClean="0">
                          <a:effectLst/>
                        </a:rPr>
                        <a:t>配置步骤</a:t>
                      </a:r>
                      <a:endParaRPr lang="zh-CN" altLang="en-US" sz="1400" b="1" dirty="0">
                        <a:effectLst/>
                      </a:endParaRPr>
                    </a:p>
                  </a:txBody>
                  <a:tcPr anchor="ctr">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solidFill>
                      <a:schemeClr val="bg1">
                        <a:lumMod val="85000"/>
                      </a:schemeClr>
                    </a:solidFill>
                  </a:tcPr>
                </a:tc>
              </a:tr>
              <a:tr h="0">
                <a:tc>
                  <a:txBody>
                    <a:bodyPr/>
                    <a:lstStyle/>
                    <a:p>
                      <a:pPr algn="ctr">
                        <a:lnSpc>
                          <a:spcPts val="2400"/>
                        </a:lnSpc>
                        <a:spcAft>
                          <a:spcPts val="600"/>
                        </a:spcAft>
                      </a:pPr>
                      <a:r>
                        <a:rPr lang="zh-CN" altLang="en-US" sz="1400" dirty="0" smtClean="0">
                          <a:effectLst/>
                        </a:rPr>
                        <a:t>业务部署</a:t>
                      </a:r>
                      <a:endParaRPr lang="zh-CN" altLang="en-US" sz="1400" dirty="0">
                        <a:effectLst/>
                      </a:endParaRPr>
                    </a:p>
                  </a:txBody>
                  <a:tcPr anchor="ctr">
                    <a:lnL w="28575" cap="flat" cmpd="sng" algn="ctr">
                      <a:solidFill>
                        <a:schemeClr val="tx1"/>
                      </a:solidFill>
                      <a:prstDash val="solid"/>
                      <a:round/>
                      <a:headEnd type="none" w="med" len="med"/>
                      <a:tailEnd type="none" w="med" len="med"/>
                    </a:lnL>
                    <a:lnB w="28575" cap="flat" cmpd="sng" algn="ctr">
                      <a:solidFill>
                        <a:schemeClr val="tx1"/>
                      </a:solidFill>
                      <a:prstDash val="solid"/>
                      <a:round/>
                      <a:headEnd type="none" w="med" len="med"/>
                      <a:tailEnd type="none" w="med" len="med"/>
                    </a:lnB>
                  </a:tcPr>
                </a:tc>
                <a:tc>
                  <a:txBody>
                    <a:bodyPr/>
                    <a:lstStyle/>
                    <a:p>
                      <a:pPr marL="0" indent="-228600" algn="l" defTabSz="914034" rtl="0" eaLnBrk="1" latinLnBrk="0" hangingPunct="1">
                        <a:lnSpc>
                          <a:spcPct val="100000"/>
                        </a:lnSpc>
                        <a:spcAft>
                          <a:spcPts val="0"/>
                        </a:spcAft>
                        <a:buFont typeface="+mj-lt"/>
                        <a:buAutoNum type="arabicPeriod"/>
                      </a:pPr>
                      <a:r>
                        <a:rPr lang="zh-CN" altLang="en-US" sz="1400" kern="1200" dirty="0" smtClean="0">
                          <a:solidFill>
                            <a:schemeClr val="tx1"/>
                          </a:solidFill>
                          <a:effectLst/>
                          <a:latin typeface="+mn-lt"/>
                          <a:ea typeface="+mn-ea"/>
                          <a:cs typeface="+mn-cs"/>
                        </a:rPr>
                        <a:t>配置业务随行，包括创建安全组、资源组和策略控制矩阵。</a:t>
                      </a:r>
                      <a:endParaRPr lang="en-US" altLang="zh-CN" sz="1400" kern="1200" dirty="0" smtClean="0">
                        <a:solidFill>
                          <a:schemeClr val="tx1"/>
                        </a:solidFill>
                        <a:effectLst/>
                        <a:latin typeface="+mn-lt"/>
                        <a:ea typeface="+mn-ea"/>
                        <a:cs typeface="+mn-cs"/>
                      </a:endParaRPr>
                    </a:p>
                    <a:p>
                      <a:pPr marL="0" indent="-228600" algn="l" defTabSz="914034" rtl="0" eaLnBrk="1" latinLnBrk="0" hangingPunct="1">
                        <a:lnSpc>
                          <a:spcPct val="100000"/>
                        </a:lnSpc>
                        <a:spcAft>
                          <a:spcPts val="0"/>
                        </a:spcAft>
                        <a:buFont typeface="+mj-lt"/>
                        <a:buAutoNum type="arabicPeriod"/>
                      </a:pPr>
                      <a:r>
                        <a:rPr lang="zh-CN" altLang="en-US" sz="1400" kern="1200" dirty="0" smtClean="0">
                          <a:solidFill>
                            <a:schemeClr val="tx1"/>
                          </a:solidFill>
                          <a:effectLst/>
                          <a:latin typeface="+mn-lt"/>
                          <a:ea typeface="+mn-ea"/>
                          <a:cs typeface="+mn-cs"/>
                        </a:rPr>
                        <a:t>配置准入认证，包括创建用户认证账号、认证规则、授权结果、授权规则，以及页面管理。</a:t>
                      </a:r>
                      <a:endParaRPr lang="en-US" altLang="zh-CN" sz="1400" kern="1200" dirty="0" smtClean="0">
                        <a:solidFill>
                          <a:schemeClr val="tx1"/>
                        </a:solidFill>
                        <a:effectLst/>
                        <a:latin typeface="+mn-lt"/>
                        <a:ea typeface="+mn-ea"/>
                        <a:cs typeface="+mn-cs"/>
                      </a:endParaRPr>
                    </a:p>
                  </a:txBody>
                  <a:tcPr anchor="ctr">
                    <a:lnR w="28575" cap="flat" cmpd="sng" algn="ctr">
                      <a:solidFill>
                        <a:schemeClr val="tx1"/>
                      </a:solidFill>
                      <a:prstDash val="solid"/>
                      <a:round/>
                      <a:headEnd type="none" w="med" len="med"/>
                      <a:tailEnd type="none" w="med" len="med"/>
                    </a:lnR>
                    <a:lnB w="28575" cap="flat" cmpd="sng" algn="ctr">
                      <a:solidFill>
                        <a:schemeClr val="tx1"/>
                      </a:solidFill>
                      <a:prstDash val="solid"/>
                      <a:round/>
                      <a:headEnd type="none" w="med" len="med"/>
                      <a:tailEnd type="none" w="med" len="med"/>
                    </a:lnB>
                  </a:tcPr>
                </a:tc>
              </a:tr>
            </a:tbl>
          </a:graphicData>
        </a:graphic>
      </p:graphicFrame>
      <p:sp>
        <p:nvSpPr>
          <p:cNvPr id="41" name="圆角矩形 40"/>
          <p:cNvSpPr/>
          <p:nvPr/>
        </p:nvSpPr>
        <p:spPr bwMode="gray">
          <a:xfrm>
            <a:off x="455613" y="2819453"/>
            <a:ext cx="5223356" cy="1816453"/>
          </a:xfrm>
          <a:prstGeom prst="roundRect">
            <a:avLst>
              <a:gd name="adj" fmla="val 3166"/>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48" name="梯形 47"/>
          <p:cNvSpPr/>
          <p:nvPr/>
        </p:nvSpPr>
        <p:spPr bwMode="gray">
          <a:xfrm>
            <a:off x="4115338" y="3961006"/>
            <a:ext cx="1439730" cy="501291"/>
          </a:xfrm>
          <a:prstGeom prst="trapezoid">
            <a:avLst>
              <a:gd name="adj" fmla="val 22961"/>
            </a:avLst>
          </a:prstGeom>
          <a:gradFill flip="none" rotWithShape="1">
            <a:gsLst>
              <a:gs pos="0">
                <a:schemeClr val="bg1">
                  <a:alpha val="4000"/>
                </a:schemeClr>
              </a:gs>
              <a:gs pos="100000">
                <a:schemeClr val="accent2">
                  <a:lumMod val="20000"/>
                  <a:lumOff val="80000"/>
                </a:schemeClr>
              </a:gs>
            </a:gsLst>
            <a:lin ang="5400000" scaled="1"/>
            <a:tileRect/>
          </a:gradFill>
          <a:ln>
            <a:gradFill flip="none" rotWithShape="1">
              <a:gsLst>
                <a:gs pos="0">
                  <a:schemeClr val="accent1">
                    <a:lumMod val="5000"/>
                    <a:lumOff val="95000"/>
                    <a:alpha val="0"/>
                  </a:schemeClr>
                </a:gs>
                <a:gs pos="82000">
                  <a:schemeClr val="accent2">
                    <a:lumMod val="60000"/>
                    <a:lumOff val="40000"/>
                  </a:schemeClr>
                </a:gs>
              </a:gsLst>
              <a:lin ang="54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9" name="文本框 48"/>
          <p:cNvSpPr txBox="1"/>
          <p:nvPr/>
        </p:nvSpPr>
        <p:spPr bwMode="gray">
          <a:xfrm>
            <a:off x="4487190" y="4138722"/>
            <a:ext cx="696024" cy="276999"/>
          </a:xfrm>
          <a:prstGeom prst="rect">
            <a:avLst/>
          </a:prstGeom>
          <a:noFill/>
        </p:spPr>
        <p:txBody>
          <a:bodyPr wrap="none" rtlCol="0">
            <a:spAutoFit/>
          </a:bodyPr>
          <a:lstStyle/>
          <a:p>
            <a:pPr algn="ctr"/>
            <a:r>
              <a:rPr lang="en-US" altLang="zh-CN" sz="1200" b="1" dirty="0">
                <a:latin typeface="Huawei Sans" panose="020C0503030203020204" pitchFamily="34" charset="0"/>
                <a:ea typeface="方正兰亭黑简体" panose="02000000000000000000" pitchFamily="2" charset="-122"/>
                <a:cs typeface="Huawei Sans" panose="020C0503030203020204" pitchFamily="34" charset="0"/>
              </a:rPr>
              <a:t>RD</a:t>
            </a:r>
            <a:r>
              <a:rPr lang="en-US" altLang="zh-CN" sz="1200" b="1" dirty="0" smtClean="0">
                <a:latin typeface="Huawei Sans" panose="020C0503030203020204" pitchFamily="34" charset="0"/>
                <a:ea typeface="方正兰亭黑简体" panose="02000000000000000000" pitchFamily="2" charset="-122"/>
                <a:cs typeface="Huawei Sans" panose="020C0503030203020204" pitchFamily="34" charset="0"/>
              </a:rPr>
              <a:t>_VN</a:t>
            </a:r>
          </a:p>
        </p:txBody>
      </p:sp>
      <p:cxnSp>
        <p:nvCxnSpPr>
          <p:cNvPr id="50" name="曲线连接符 49"/>
          <p:cNvCxnSpPr>
            <a:stCxn id="70" idx="7"/>
            <a:endCxn id="63" idx="1"/>
          </p:cNvCxnSpPr>
          <p:nvPr/>
        </p:nvCxnSpPr>
        <p:spPr bwMode="gray">
          <a:xfrm rot="5400000" flipH="1" flipV="1">
            <a:off x="3713303" y="2726539"/>
            <a:ext cx="12700" cy="1740356"/>
          </a:xfrm>
          <a:prstGeom prst="curvedConnector3">
            <a:avLst>
              <a:gd name="adj1" fmla="val 3131795"/>
            </a:avLst>
          </a:prstGeom>
          <a:ln w="57150">
            <a:solidFill>
              <a:srgbClr val="30B5C5"/>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51" name="文本框 50"/>
          <p:cNvSpPr txBox="1"/>
          <p:nvPr/>
        </p:nvSpPr>
        <p:spPr bwMode="gray">
          <a:xfrm>
            <a:off x="485156" y="2851806"/>
            <a:ext cx="708848" cy="307777"/>
          </a:xfrm>
          <a:prstGeom prst="rect">
            <a:avLst/>
          </a:prstGeom>
          <a:noFill/>
        </p:spPr>
        <p:txBody>
          <a:bodyPr wrap="none" rtlCol="0">
            <a:spAutoFit/>
          </a:bodyPr>
          <a:lstStyle/>
          <a:p>
            <a:r>
              <a:rPr lang="en-US" altLang="zh-CN" sz="1400" b="1" dirty="0" smtClean="0">
                <a:latin typeface="Huawei Sans" panose="020C0503030203020204" pitchFamily="34" charset="0"/>
                <a:ea typeface="方正兰亭黑简体" panose="02000000000000000000" pitchFamily="2" charset="-122"/>
                <a:cs typeface="Huawei Sans" panose="020C0503030203020204" pitchFamily="34" charset="0"/>
              </a:rPr>
              <a:t>Fabric</a:t>
            </a:r>
            <a:endParaRPr lang="zh-CN" altLang="en-US" sz="1400" b="1" dirty="0">
              <a:latin typeface="Huawei Sans" panose="020C0503030203020204" pitchFamily="34" charset="0"/>
              <a:ea typeface="方正兰亭黑简体" panose="02000000000000000000" pitchFamily="2" charset="-122"/>
              <a:cs typeface="Huawei Sans" panose="020C0503030203020204" pitchFamily="34" charset="0"/>
            </a:endParaRPr>
          </a:p>
        </p:txBody>
      </p:sp>
      <p:pic>
        <p:nvPicPr>
          <p:cNvPr id="52" name="图片 51" descr="PC.png">
            <a:extLst>
              <a:ext uri="{FF2B5EF4-FFF2-40B4-BE49-F238E27FC236}">
                <a16:creationId xmlns="" xmlns:a16="http://schemas.microsoft.com/office/drawing/2014/main" id="{4666702E-823D-4236-BF2F-880359158C83}"/>
              </a:ext>
            </a:extLst>
          </p:cNvPr>
          <p:cNvPicPr>
            <a:picLocks noChangeAspect="1"/>
          </p:cNvPicPr>
          <p:nvPr/>
        </p:nvPicPr>
        <p:blipFill>
          <a:blip r:embed="rId3" cstate="print"/>
          <a:stretch>
            <a:fillRect/>
          </a:stretch>
        </p:blipFill>
        <p:spPr bwMode="gray">
          <a:xfrm>
            <a:off x="4982016" y="4768120"/>
            <a:ext cx="445506" cy="342149"/>
          </a:xfrm>
          <a:prstGeom prst="rect">
            <a:avLst/>
          </a:prstGeom>
        </p:spPr>
      </p:pic>
      <p:sp>
        <p:nvSpPr>
          <p:cNvPr id="53" name="文本框 52"/>
          <p:cNvSpPr txBox="1"/>
          <p:nvPr/>
        </p:nvSpPr>
        <p:spPr bwMode="gray">
          <a:xfrm>
            <a:off x="4722905" y="5096412"/>
            <a:ext cx="963725" cy="461665"/>
          </a:xfrm>
          <a:prstGeom prst="rect">
            <a:avLst/>
          </a:prstGeom>
          <a:noFill/>
        </p:spPr>
        <p:txBody>
          <a:bodyPr wrap="none" rtlCol="0">
            <a:spAutoFit/>
          </a:bodyPr>
          <a:lstStyle/>
          <a:p>
            <a:pPr algn="ctr"/>
            <a:r>
              <a:rPr lang="en-US" altLang="zh-CN" sz="1200" b="1" dirty="0">
                <a:latin typeface="Huawei Sans" panose="020C0503030203020204" pitchFamily="34" charset="0"/>
                <a:ea typeface="方正兰亭黑简体" panose="02000000000000000000" pitchFamily="2" charset="-122"/>
                <a:cs typeface="Huawei Sans" panose="020C0503030203020204" pitchFamily="34" charset="0"/>
              </a:rPr>
              <a:t>RD</a:t>
            </a:r>
            <a:endParaRPr lang="en-US" altLang="zh-CN" sz="1200" b="1" dirty="0" smtClean="0">
              <a:latin typeface="Huawei Sans" panose="020C0503030203020204" pitchFamily="34" charset="0"/>
              <a:ea typeface="方正兰亭黑简体" panose="02000000000000000000" pitchFamily="2" charset="-122"/>
              <a:cs typeface="Huawei Sans" panose="020C0503030203020204" pitchFamily="34" charset="0"/>
            </a:endParaRPr>
          </a:p>
          <a:p>
            <a:pPr algn="ctr"/>
            <a:r>
              <a:rPr lang="zh-CN" altLang="en-US" sz="1200" dirty="0">
                <a:latin typeface="Huawei Sans" panose="020C0503030203020204" pitchFamily="34" charset="0"/>
                <a:ea typeface="方正兰亭黑简体" panose="02000000000000000000" pitchFamily="2" charset="-122"/>
                <a:cs typeface="Huawei Sans" panose="020C0503030203020204" pitchFamily="34" charset="0"/>
              </a:rPr>
              <a:t>（</a:t>
            </a: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802.1X</a:t>
            </a:r>
            <a:r>
              <a:rPr lang="zh-CN" altLang="en-US" sz="1200" dirty="0" smtClean="0">
                <a:latin typeface="Huawei Sans" panose="020C0503030203020204" pitchFamily="34" charset="0"/>
                <a:ea typeface="方正兰亭黑简体" panose="02000000000000000000" pitchFamily="2" charset="-122"/>
                <a:cs typeface="Huawei Sans" panose="020C0503030203020204" pitchFamily="34" charset="0"/>
              </a:rPr>
              <a:t>）</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54" name="梯形 53"/>
          <p:cNvSpPr/>
          <p:nvPr/>
        </p:nvSpPr>
        <p:spPr bwMode="gray">
          <a:xfrm>
            <a:off x="663378" y="3961006"/>
            <a:ext cx="3138794" cy="501291"/>
          </a:xfrm>
          <a:prstGeom prst="trapezoid">
            <a:avLst>
              <a:gd name="adj" fmla="val 22961"/>
            </a:avLst>
          </a:prstGeom>
          <a:gradFill flip="none" rotWithShape="1">
            <a:gsLst>
              <a:gs pos="0">
                <a:schemeClr val="bg1">
                  <a:alpha val="4000"/>
                </a:schemeClr>
              </a:gs>
              <a:gs pos="100000">
                <a:srgbClr val="EEB3B8"/>
              </a:gs>
            </a:gsLst>
            <a:lin ang="5400000" scaled="1"/>
            <a:tileRect/>
          </a:gradFill>
          <a:ln>
            <a:gradFill flip="none" rotWithShape="1">
              <a:gsLst>
                <a:gs pos="0">
                  <a:schemeClr val="accent1">
                    <a:lumMod val="5000"/>
                    <a:lumOff val="95000"/>
                    <a:alpha val="0"/>
                  </a:schemeClr>
                </a:gs>
                <a:gs pos="82000">
                  <a:srgbClr val="E28189"/>
                </a:gs>
              </a:gsLst>
              <a:lin ang="54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6" name="文本框 55"/>
          <p:cNvSpPr txBox="1"/>
          <p:nvPr/>
        </p:nvSpPr>
        <p:spPr bwMode="gray">
          <a:xfrm>
            <a:off x="1899979" y="4138722"/>
            <a:ext cx="712054" cy="276999"/>
          </a:xfrm>
          <a:prstGeom prst="rect">
            <a:avLst/>
          </a:prstGeom>
          <a:noFill/>
        </p:spPr>
        <p:txBody>
          <a:bodyPr wrap="none" rtlCol="0">
            <a:spAutoFit/>
          </a:bodyPr>
          <a:lstStyle/>
          <a:p>
            <a:pPr algn="ctr"/>
            <a:r>
              <a:rPr lang="en-US" altLang="zh-CN" sz="1200" b="1" dirty="0">
                <a:latin typeface="Huawei Sans" panose="020C0503030203020204" pitchFamily="34" charset="0"/>
                <a:ea typeface="方正兰亭黑简体" panose="02000000000000000000" pitchFamily="2" charset="-122"/>
                <a:cs typeface="Huawei Sans" panose="020C0503030203020204" pitchFamily="34" charset="0"/>
              </a:rPr>
              <a:t>OA</a:t>
            </a:r>
            <a:r>
              <a:rPr lang="en-US" altLang="zh-CN" sz="1200" b="1" dirty="0" smtClean="0">
                <a:latin typeface="Huawei Sans" panose="020C0503030203020204" pitchFamily="34" charset="0"/>
                <a:ea typeface="方正兰亭黑简体" panose="02000000000000000000" pitchFamily="2" charset="-122"/>
                <a:cs typeface="Huawei Sans" panose="020C0503030203020204" pitchFamily="34" charset="0"/>
              </a:rPr>
              <a:t>_VN</a:t>
            </a:r>
          </a:p>
        </p:txBody>
      </p:sp>
      <p:pic>
        <p:nvPicPr>
          <p:cNvPr id="57" name="图片 56" descr="PC.png">
            <a:extLst>
              <a:ext uri="{FF2B5EF4-FFF2-40B4-BE49-F238E27FC236}">
                <a16:creationId xmlns="" xmlns:a16="http://schemas.microsoft.com/office/drawing/2014/main" id="{4666702E-823D-4236-BF2F-880359158C83}"/>
              </a:ext>
            </a:extLst>
          </p:cNvPr>
          <p:cNvPicPr>
            <a:picLocks noChangeAspect="1"/>
          </p:cNvPicPr>
          <p:nvPr/>
        </p:nvPicPr>
        <p:blipFill>
          <a:blip r:embed="rId3" cstate="print"/>
          <a:stretch>
            <a:fillRect/>
          </a:stretch>
        </p:blipFill>
        <p:spPr bwMode="gray">
          <a:xfrm>
            <a:off x="748498" y="4768120"/>
            <a:ext cx="445506" cy="342149"/>
          </a:xfrm>
          <a:prstGeom prst="rect">
            <a:avLst/>
          </a:prstGeom>
        </p:spPr>
      </p:pic>
      <p:sp>
        <p:nvSpPr>
          <p:cNvPr id="58" name="文本框 57"/>
          <p:cNvSpPr txBox="1"/>
          <p:nvPr/>
        </p:nvSpPr>
        <p:spPr bwMode="gray">
          <a:xfrm>
            <a:off x="489391" y="5096412"/>
            <a:ext cx="963725" cy="646331"/>
          </a:xfrm>
          <a:prstGeom prst="rect">
            <a:avLst/>
          </a:prstGeom>
          <a:noFill/>
        </p:spPr>
        <p:txBody>
          <a:bodyPr wrap="none" rtlCol="0">
            <a:spAutoFit/>
          </a:bodyPr>
          <a:lstStyle/>
          <a:p>
            <a:pPr algn="ctr"/>
            <a:r>
              <a:rPr lang="en-US" altLang="zh-CN" sz="1200" b="1" dirty="0">
                <a:latin typeface="Huawei Sans" panose="020C0503030203020204" pitchFamily="34" charset="0"/>
                <a:ea typeface="方正兰亭黑简体" panose="02000000000000000000" pitchFamily="2" charset="-122"/>
                <a:cs typeface="Huawei Sans" panose="020C0503030203020204" pitchFamily="34" charset="0"/>
              </a:rPr>
              <a:t>Sales</a:t>
            </a:r>
            <a:r>
              <a:rPr lang="en-US" altLang="zh-CN" sz="1200" b="1" dirty="0" smtClean="0">
                <a:latin typeface="Huawei Sans" panose="020C0503030203020204" pitchFamily="34" charset="0"/>
                <a:ea typeface="方正兰亭黑简体" panose="02000000000000000000" pitchFamily="2" charset="-122"/>
                <a:cs typeface="Huawei Sans" panose="020C0503030203020204" pitchFamily="34" charset="0"/>
              </a:rPr>
              <a:t>_</a:t>
            </a:r>
          </a:p>
          <a:p>
            <a:pPr algn="ctr"/>
            <a:r>
              <a:rPr lang="en-US" altLang="zh-CN" sz="1200" b="1" dirty="0" smtClean="0">
                <a:latin typeface="Huawei Sans" panose="020C0503030203020204" pitchFamily="34" charset="0"/>
                <a:ea typeface="方正兰亭黑简体" panose="02000000000000000000" pitchFamily="2" charset="-122"/>
                <a:cs typeface="Huawei Sans" panose="020C0503030203020204" pitchFamily="34" charset="0"/>
              </a:rPr>
              <a:t>Wired</a:t>
            </a:r>
          </a:p>
          <a:p>
            <a:pPr algn="ctr"/>
            <a:r>
              <a:rPr lang="zh-CN" altLang="en-US" sz="1200" dirty="0" smtClean="0">
                <a:latin typeface="Huawei Sans" panose="020C0503030203020204" pitchFamily="34" charset="0"/>
                <a:ea typeface="方正兰亭黑简体" panose="02000000000000000000" pitchFamily="2" charset="-122"/>
                <a:cs typeface="Huawei Sans" panose="020C0503030203020204" pitchFamily="34" charset="0"/>
              </a:rPr>
              <a:t>（</a:t>
            </a:r>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802.1X</a:t>
            </a:r>
            <a:r>
              <a:rPr lang="zh-CN" altLang="en-US" sz="1200" dirty="0" smtClean="0">
                <a:latin typeface="Huawei Sans" panose="020C0503030203020204" pitchFamily="34" charset="0"/>
                <a:ea typeface="方正兰亭黑简体" panose="02000000000000000000" pitchFamily="2" charset="-122"/>
                <a:cs typeface="Huawei Sans" panose="020C0503030203020204" pitchFamily="34" charset="0"/>
              </a:rPr>
              <a:t>）</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pic>
        <p:nvPicPr>
          <p:cNvPr id="59" name="图片 14" descr="日志告警服务器-蓝.png"/>
          <p:cNvPicPr>
            <a:picLocks noChangeAspect="1"/>
          </p:cNvPicPr>
          <p:nvPr/>
        </p:nvPicPr>
        <p:blipFill>
          <a:blip r:embed="rId4" cstate="print"/>
          <a:stretch>
            <a:fillRect/>
          </a:stretch>
        </p:blipFill>
        <p:spPr bwMode="gray">
          <a:xfrm>
            <a:off x="1806652" y="4805747"/>
            <a:ext cx="445956" cy="278465"/>
          </a:xfrm>
          <a:prstGeom prst="rect">
            <a:avLst/>
          </a:prstGeom>
        </p:spPr>
      </p:pic>
      <p:sp>
        <p:nvSpPr>
          <p:cNvPr id="60" name="文本框 59"/>
          <p:cNvSpPr txBox="1"/>
          <p:nvPr/>
        </p:nvSpPr>
        <p:spPr bwMode="gray">
          <a:xfrm>
            <a:off x="1573940" y="5096412"/>
            <a:ext cx="909224" cy="646331"/>
          </a:xfrm>
          <a:prstGeom prst="rect">
            <a:avLst/>
          </a:prstGeom>
          <a:noFill/>
        </p:spPr>
        <p:txBody>
          <a:bodyPr wrap="none" rtlCol="0">
            <a:spAutoFit/>
          </a:bodyPr>
          <a:lstStyle/>
          <a:p>
            <a:pPr algn="ctr"/>
            <a:r>
              <a:rPr lang="en-US" altLang="zh-CN" sz="1200" b="1" dirty="0">
                <a:latin typeface="Huawei Sans" panose="020C0503030203020204" pitchFamily="34" charset="0"/>
                <a:ea typeface="方正兰亭黑简体" panose="02000000000000000000" pitchFamily="2" charset="-122"/>
                <a:cs typeface="Huawei Sans" panose="020C0503030203020204" pitchFamily="34" charset="0"/>
              </a:rPr>
              <a:t>Sales</a:t>
            </a:r>
            <a:r>
              <a:rPr lang="en-US" altLang="zh-CN" sz="1200" b="1" dirty="0" smtClean="0">
                <a:latin typeface="Huawei Sans" panose="020C0503030203020204" pitchFamily="34" charset="0"/>
                <a:ea typeface="方正兰亭黑简体" panose="02000000000000000000" pitchFamily="2" charset="-122"/>
                <a:cs typeface="Huawei Sans" panose="020C0503030203020204" pitchFamily="34" charset="0"/>
              </a:rPr>
              <a:t>_</a:t>
            </a:r>
          </a:p>
          <a:p>
            <a:pPr algn="ctr"/>
            <a:r>
              <a:rPr lang="en-US" altLang="zh-CN" sz="1200" b="1" dirty="0" smtClean="0">
                <a:latin typeface="Huawei Sans" panose="020C0503030203020204" pitchFamily="34" charset="0"/>
                <a:ea typeface="方正兰亭黑简体" panose="02000000000000000000" pitchFamily="2" charset="-122"/>
                <a:cs typeface="Huawei Sans" panose="020C0503030203020204" pitchFamily="34" charset="0"/>
              </a:rPr>
              <a:t>Wireless</a:t>
            </a:r>
          </a:p>
          <a:p>
            <a:pPr algn="ctr"/>
            <a:r>
              <a:rPr lang="zh-CN" altLang="en-US" sz="1200" dirty="0" smtClean="0">
                <a:latin typeface="Huawei Sans" panose="020C0503030203020204" pitchFamily="34" charset="0"/>
                <a:ea typeface="方正兰亭黑简体" panose="02000000000000000000" pitchFamily="2" charset="-122"/>
                <a:cs typeface="Huawei Sans" panose="020C0503030203020204" pitchFamily="34" charset="0"/>
              </a:rPr>
              <a:t>（</a:t>
            </a:r>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Portal</a:t>
            </a:r>
            <a:r>
              <a:rPr lang="zh-CN" altLang="en-US" sz="1200" dirty="0">
                <a:latin typeface="Huawei Sans" panose="020C0503030203020204" pitchFamily="34" charset="0"/>
                <a:ea typeface="方正兰亭黑简体" panose="02000000000000000000" pitchFamily="2" charset="-122"/>
                <a:cs typeface="Huawei Sans" panose="020C0503030203020204" pitchFamily="34" charset="0"/>
              </a:rPr>
              <a:t>）</a:t>
            </a:r>
          </a:p>
        </p:txBody>
      </p:sp>
      <p:sp>
        <p:nvSpPr>
          <p:cNvPr id="61" name="椭圆 60"/>
          <p:cNvSpPr/>
          <p:nvPr/>
        </p:nvSpPr>
        <p:spPr bwMode="gray">
          <a:xfrm>
            <a:off x="746427" y="3507092"/>
            <a:ext cx="612000" cy="612000"/>
          </a:xfrm>
          <a:prstGeom prst="ellipse">
            <a:avLst/>
          </a:prstGeom>
          <a:solidFill>
            <a:schemeClr val="accent5">
              <a:lumMod val="20000"/>
              <a:lumOff val="80000"/>
            </a:schemeClr>
          </a:solid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62" name="文本框 61"/>
          <p:cNvSpPr txBox="1"/>
          <p:nvPr/>
        </p:nvSpPr>
        <p:spPr bwMode="gray">
          <a:xfrm>
            <a:off x="748498" y="3588555"/>
            <a:ext cx="618630" cy="461665"/>
          </a:xfrm>
          <a:prstGeom prst="rect">
            <a:avLst/>
          </a:prstGeom>
          <a:noFill/>
        </p:spPr>
        <p:txBody>
          <a:bodyPr wrap="square" rtlCol="0">
            <a:spAutoFit/>
          </a:bodyPr>
          <a:lstStyle/>
          <a:p>
            <a:pPr algn="ctr"/>
            <a:r>
              <a:rPr lang="en-US" altLang="zh-CN" sz="1200" dirty="0" err="1">
                <a:latin typeface="Huawei Sans" panose="020C0503030203020204" pitchFamily="34" charset="0"/>
                <a:ea typeface="方正兰亭黑简体" panose="02000000000000000000" pitchFamily="2" charset="-122"/>
                <a:cs typeface="Huawei Sans" panose="020C0503030203020204" pitchFamily="34" charset="0"/>
              </a:rPr>
              <a:t>Sales_Wired</a:t>
            </a:r>
            <a:endParaRPr lang="en-US" altLang="zh-CN" sz="12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63" name="椭圆 62"/>
          <p:cNvSpPr/>
          <p:nvPr/>
        </p:nvSpPr>
        <p:spPr bwMode="gray">
          <a:xfrm>
            <a:off x="4493856" y="3507092"/>
            <a:ext cx="612000" cy="612000"/>
          </a:xfrm>
          <a:prstGeom prst="ellipse">
            <a:avLst/>
          </a:prstGeom>
          <a:solidFill>
            <a:schemeClr val="accent5">
              <a:lumMod val="20000"/>
              <a:lumOff val="80000"/>
            </a:schemeClr>
          </a:solid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64" name="文本框 63"/>
          <p:cNvSpPr txBox="1"/>
          <p:nvPr/>
        </p:nvSpPr>
        <p:spPr bwMode="gray">
          <a:xfrm>
            <a:off x="4604130" y="3697577"/>
            <a:ext cx="391453" cy="276999"/>
          </a:xfrm>
          <a:prstGeom prst="rect">
            <a:avLst/>
          </a:prstGeom>
          <a:noFill/>
        </p:spPr>
        <p:txBody>
          <a:bodyPr wrap="none" rtlCol="0">
            <a:spAutoFit/>
          </a:bodyPr>
          <a:lstStyle/>
          <a:p>
            <a:pPr algn="ctr"/>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RD</a:t>
            </a:r>
          </a:p>
        </p:txBody>
      </p:sp>
      <p:sp>
        <p:nvSpPr>
          <p:cNvPr id="65" name="文本框 64"/>
          <p:cNvSpPr txBox="1"/>
          <p:nvPr/>
        </p:nvSpPr>
        <p:spPr bwMode="gray">
          <a:xfrm>
            <a:off x="3329793" y="2851806"/>
            <a:ext cx="2339102" cy="307777"/>
          </a:xfrm>
          <a:prstGeom prst="rect">
            <a:avLst/>
          </a:prstGeom>
          <a:noFill/>
        </p:spPr>
        <p:txBody>
          <a:bodyPr wrap="none" rtlCol="0">
            <a:spAutoFit/>
          </a:bodyPr>
          <a:lstStyle/>
          <a:p>
            <a:r>
              <a:rPr lang="zh-CN" altLang="en-US" sz="1400" dirty="0" smtClean="0">
                <a:solidFill>
                  <a:srgbClr val="30B5C5"/>
                </a:solidFill>
                <a:latin typeface="Huawei Sans" panose="020C0503030203020204" pitchFamily="34" charset="0"/>
                <a:ea typeface="方正兰亭黑简体" panose="02000000000000000000" pitchFamily="2" charset="-122"/>
                <a:cs typeface="Huawei Sans" panose="020C0503030203020204" pitchFamily="34" charset="0"/>
              </a:rPr>
              <a:t>基于安全组的策略控制矩阵</a:t>
            </a:r>
            <a:endParaRPr lang="zh-CN" altLang="en-US" sz="1400" dirty="0">
              <a:solidFill>
                <a:srgbClr val="30B5C5"/>
              </a:solidFill>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66" name="任意多边形 65"/>
          <p:cNvSpPr/>
          <p:nvPr/>
        </p:nvSpPr>
        <p:spPr bwMode="gray">
          <a:xfrm>
            <a:off x="2686015" y="4189681"/>
            <a:ext cx="390809" cy="527688"/>
          </a:xfrm>
          <a:custGeom>
            <a:avLst/>
            <a:gdLst>
              <a:gd name="connsiteX0" fmla="*/ 390809 w 390809"/>
              <a:gd name="connsiteY0" fmla="*/ 712381 h 712381"/>
              <a:gd name="connsiteX1" fmla="*/ 50567 w 390809"/>
              <a:gd name="connsiteY1" fmla="*/ 340242 h 712381"/>
              <a:gd name="connsiteX2" fmla="*/ 8037 w 390809"/>
              <a:gd name="connsiteY2" fmla="*/ 0 h 712381"/>
            </a:gdLst>
            <a:ahLst/>
            <a:cxnLst>
              <a:cxn ang="0">
                <a:pos x="connsiteX0" y="connsiteY0"/>
              </a:cxn>
              <a:cxn ang="0">
                <a:pos x="connsiteX1" y="connsiteY1"/>
              </a:cxn>
              <a:cxn ang="0">
                <a:pos x="connsiteX2" y="connsiteY2"/>
              </a:cxn>
            </a:cxnLst>
            <a:rect l="l" t="t" r="r" b="b"/>
            <a:pathLst>
              <a:path w="390809" h="712381">
                <a:moveTo>
                  <a:pt x="390809" y="712381"/>
                </a:moveTo>
                <a:cubicBezTo>
                  <a:pt x="252585" y="585676"/>
                  <a:pt x="114362" y="458972"/>
                  <a:pt x="50567" y="340242"/>
                </a:cubicBezTo>
                <a:cubicBezTo>
                  <a:pt x="-13228" y="221512"/>
                  <a:pt x="-2596" y="110756"/>
                  <a:pt x="8037" y="0"/>
                </a:cubicBezTo>
              </a:path>
            </a:pathLst>
          </a:custGeom>
          <a:noFill/>
          <a:ln w="28575">
            <a:solidFill>
              <a:srgbClr val="C00000"/>
            </a:solidFill>
            <a:prstDash val="dash"/>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p>
        </p:txBody>
      </p:sp>
      <p:sp>
        <p:nvSpPr>
          <p:cNvPr id="67" name="任意多边形 66"/>
          <p:cNvSpPr/>
          <p:nvPr/>
        </p:nvSpPr>
        <p:spPr bwMode="gray">
          <a:xfrm rot="19515453">
            <a:off x="5164225" y="4075818"/>
            <a:ext cx="255685" cy="649727"/>
          </a:xfrm>
          <a:custGeom>
            <a:avLst/>
            <a:gdLst>
              <a:gd name="connsiteX0" fmla="*/ 0 w 255685"/>
              <a:gd name="connsiteY0" fmla="*/ 797442 h 797442"/>
              <a:gd name="connsiteX1" fmla="*/ 244549 w 255685"/>
              <a:gd name="connsiteY1" fmla="*/ 382772 h 797442"/>
              <a:gd name="connsiteX2" fmla="*/ 191386 w 255685"/>
              <a:gd name="connsiteY2" fmla="*/ 0 h 797442"/>
            </a:gdLst>
            <a:ahLst/>
            <a:cxnLst>
              <a:cxn ang="0">
                <a:pos x="connsiteX0" y="connsiteY0"/>
              </a:cxn>
              <a:cxn ang="0">
                <a:pos x="connsiteX1" y="connsiteY1"/>
              </a:cxn>
              <a:cxn ang="0">
                <a:pos x="connsiteX2" y="connsiteY2"/>
              </a:cxn>
            </a:cxnLst>
            <a:rect l="l" t="t" r="r" b="b"/>
            <a:pathLst>
              <a:path w="255685" h="797442">
                <a:moveTo>
                  <a:pt x="0" y="797442"/>
                </a:moveTo>
                <a:cubicBezTo>
                  <a:pt x="106325" y="656560"/>
                  <a:pt x="212651" y="515679"/>
                  <a:pt x="244549" y="382772"/>
                </a:cubicBezTo>
                <a:cubicBezTo>
                  <a:pt x="276447" y="249865"/>
                  <a:pt x="233916" y="124932"/>
                  <a:pt x="191386" y="0"/>
                </a:cubicBezTo>
              </a:path>
            </a:pathLst>
          </a:custGeom>
          <a:noFill/>
          <a:ln w="28575">
            <a:solidFill>
              <a:srgbClr val="00B050"/>
            </a:solidFill>
            <a:prstDash val="dash"/>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p>
        </p:txBody>
      </p:sp>
      <p:sp>
        <p:nvSpPr>
          <p:cNvPr id="68" name="椭圆 67"/>
          <p:cNvSpPr/>
          <p:nvPr/>
        </p:nvSpPr>
        <p:spPr bwMode="gray">
          <a:xfrm>
            <a:off x="1542293" y="3507092"/>
            <a:ext cx="612000" cy="612000"/>
          </a:xfrm>
          <a:prstGeom prst="ellipse">
            <a:avLst/>
          </a:prstGeom>
          <a:solidFill>
            <a:schemeClr val="accent5">
              <a:lumMod val="20000"/>
              <a:lumOff val="80000"/>
            </a:schemeClr>
          </a:solid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69" name="文本框 68"/>
          <p:cNvSpPr txBox="1"/>
          <p:nvPr/>
        </p:nvSpPr>
        <p:spPr bwMode="gray">
          <a:xfrm>
            <a:off x="1453527" y="3588555"/>
            <a:ext cx="785094" cy="461665"/>
          </a:xfrm>
          <a:prstGeom prst="rect">
            <a:avLst/>
          </a:prstGeom>
          <a:noFill/>
        </p:spPr>
        <p:txBody>
          <a:bodyPr wrap="square" rtlCol="0">
            <a:spAutoFit/>
          </a:bodyPr>
          <a:lstStyle/>
          <a:p>
            <a:pPr algn="ctr"/>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Sales_</a:t>
            </a:r>
          </a:p>
          <a:p>
            <a:pPr algn="ctr"/>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Wireless</a:t>
            </a:r>
            <a:endParaRPr lang="en-US" altLang="zh-CN" sz="12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70" name="椭圆 69"/>
          <p:cNvSpPr/>
          <p:nvPr/>
        </p:nvSpPr>
        <p:spPr bwMode="gray">
          <a:xfrm>
            <a:off x="2320750" y="3507092"/>
            <a:ext cx="612000" cy="612000"/>
          </a:xfrm>
          <a:prstGeom prst="ellipse">
            <a:avLst/>
          </a:prstGeom>
          <a:solidFill>
            <a:schemeClr val="accent5">
              <a:lumMod val="20000"/>
              <a:lumOff val="80000"/>
            </a:schemeClr>
          </a:solid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71" name="文本框 70"/>
          <p:cNvSpPr txBox="1"/>
          <p:nvPr/>
        </p:nvSpPr>
        <p:spPr bwMode="gray">
          <a:xfrm>
            <a:off x="2231984" y="3588555"/>
            <a:ext cx="785094" cy="461665"/>
          </a:xfrm>
          <a:prstGeom prst="rect">
            <a:avLst/>
          </a:prstGeom>
          <a:noFill/>
        </p:spPr>
        <p:txBody>
          <a:bodyPr wrap="square" rtlCol="0">
            <a:spAutoFit/>
          </a:bodyPr>
          <a:lstStyle/>
          <a:p>
            <a:pPr algn="ctr"/>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Market_</a:t>
            </a:r>
          </a:p>
          <a:p>
            <a:pPr algn="ct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Wired</a:t>
            </a:r>
          </a:p>
        </p:txBody>
      </p:sp>
      <p:sp>
        <p:nvSpPr>
          <p:cNvPr id="72" name="椭圆 71"/>
          <p:cNvSpPr/>
          <p:nvPr/>
        </p:nvSpPr>
        <p:spPr bwMode="gray">
          <a:xfrm>
            <a:off x="3105844" y="3507092"/>
            <a:ext cx="612000" cy="612000"/>
          </a:xfrm>
          <a:prstGeom prst="ellipse">
            <a:avLst/>
          </a:prstGeom>
          <a:solidFill>
            <a:schemeClr val="accent5">
              <a:lumMod val="20000"/>
              <a:lumOff val="80000"/>
            </a:schemeClr>
          </a:solid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73" name="文本框 72"/>
          <p:cNvSpPr txBox="1"/>
          <p:nvPr/>
        </p:nvSpPr>
        <p:spPr bwMode="gray">
          <a:xfrm>
            <a:off x="3017078" y="3588555"/>
            <a:ext cx="785094" cy="461665"/>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Market</a:t>
            </a:r>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_</a:t>
            </a:r>
          </a:p>
          <a:p>
            <a:pPr algn="ctr"/>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Wireless</a:t>
            </a:r>
            <a:endParaRPr lang="en-US" altLang="zh-CN" sz="1200" dirty="0">
              <a:latin typeface="Huawei Sans" panose="020C0503030203020204" pitchFamily="34" charset="0"/>
              <a:ea typeface="方正兰亭黑简体" panose="02000000000000000000" pitchFamily="2" charset="-122"/>
              <a:cs typeface="Huawei Sans" panose="020C0503030203020204" pitchFamily="34" charset="0"/>
            </a:endParaRPr>
          </a:p>
        </p:txBody>
      </p:sp>
      <p:pic>
        <p:nvPicPr>
          <p:cNvPr id="96" name="图片 95" descr="PC.png">
            <a:extLst>
              <a:ext uri="{FF2B5EF4-FFF2-40B4-BE49-F238E27FC236}">
                <a16:creationId xmlns="" xmlns:a16="http://schemas.microsoft.com/office/drawing/2014/main" id="{4666702E-823D-4236-BF2F-880359158C83}"/>
              </a:ext>
            </a:extLst>
          </p:cNvPr>
          <p:cNvPicPr>
            <a:picLocks noChangeAspect="1"/>
          </p:cNvPicPr>
          <p:nvPr/>
        </p:nvPicPr>
        <p:blipFill>
          <a:blip r:embed="rId3" cstate="print"/>
          <a:stretch>
            <a:fillRect/>
          </a:stretch>
        </p:blipFill>
        <p:spPr bwMode="gray">
          <a:xfrm>
            <a:off x="2865256" y="4768120"/>
            <a:ext cx="445506" cy="342149"/>
          </a:xfrm>
          <a:prstGeom prst="rect">
            <a:avLst/>
          </a:prstGeom>
        </p:spPr>
      </p:pic>
      <p:sp>
        <p:nvSpPr>
          <p:cNvPr id="97" name="文本框 96"/>
          <p:cNvSpPr txBox="1"/>
          <p:nvPr/>
        </p:nvSpPr>
        <p:spPr bwMode="gray">
          <a:xfrm>
            <a:off x="2606147" y="5096412"/>
            <a:ext cx="963725" cy="646331"/>
          </a:xfrm>
          <a:prstGeom prst="rect">
            <a:avLst/>
          </a:prstGeom>
          <a:noFill/>
        </p:spPr>
        <p:txBody>
          <a:bodyPr wrap="none" rtlCol="0">
            <a:spAutoFit/>
          </a:bodyPr>
          <a:lstStyle/>
          <a:p>
            <a:pPr algn="ctr"/>
            <a:r>
              <a:rPr lang="en-US" altLang="zh-CN" sz="1200" b="1" dirty="0">
                <a:latin typeface="Huawei Sans" panose="020C0503030203020204" pitchFamily="34" charset="0"/>
                <a:ea typeface="方正兰亭黑简体" panose="02000000000000000000" pitchFamily="2" charset="-122"/>
                <a:cs typeface="Huawei Sans" panose="020C0503030203020204" pitchFamily="34" charset="0"/>
              </a:rPr>
              <a:t>Market</a:t>
            </a:r>
            <a:r>
              <a:rPr lang="en-US" altLang="zh-CN" sz="1200" b="1" dirty="0" smtClean="0">
                <a:latin typeface="Huawei Sans" panose="020C0503030203020204" pitchFamily="34" charset="0"/>
                <a:ea typeface="方正兰亭黑简体" panose="02000000000000000000" pitchFamily="2" charset="-122"/>
                <a:cs typeface="Huawei Sans" panose="020C0503030203020204" pitchFamily="34" charset="0"/>
              </a:rPr>
              <a:t>_</a:t>
            </a:r>
          </a:p>
          <a:p>
            <a:pPr algn="ctr"/>
            <a:r>
              <a:rPr lang="en-US" altLang="zh-CN" sz="1200" b="1" dirty="0" smtClean="0">
                <a:latin typeface="Huawei Sans" panose="020C0503030203020204" pitchFamily="34" charset="0"/>
                <a:ea typeface="方正兰亭黑简体" panose="02000000000000000000" pitchFamily="2" charset="-122"/>
                <a:cs typeface="Huawei Sans" panose="020C0503030203020204" pitchFamily="34" charset="0"/>
              </a:rPr>
              <a:t>Wired</a:t>
            </a:r>
          </a:p>
          <a:p>
            <a:pPr algn="ctr"/>
            <a:r>
              <a:rPr lang="zh-CN" altLang="en-US" sz="1200" dirty="0">
                <a:latin typeface="Huawei Sans" panose="020C0503030203020204" pitchFamily="34" charset="0"/>
                <a:ea typeface="方正兰亭黑简体" panose="02000000000000000000" pitchFamily="2" charset="-122"/>
                <a:cs typeface="Huawei Sans" panose="020C0503030203020204" pitchFamily="34" charset="0"/>
              </a:rPr>
              <a:t>（</a:t>
            </a: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802.1X</a:t>
            </a:r>
            <a:r>
              <a:rPr lang="zh-CN" altLang="en-US" sz="1200" dirty="0">
                <a:latin typeface="Huawei Sans" panose="020C0503030203020204" pitchFamily="34" charset="0"/>
                <a:ea typeface="方正兰亭黑简体" panose="02000000000000000000" pitchFamily="2" charset="-122"/>
                <a:cs typeface="Huawei Sans" panose="020C0503030203020204" pitchFamily="34" charset="0"/>
              </a:rPr>
              <a:t>）</a:t>
            </a:r>
          </a:p>
        </p:txBody>
      </p:sp>
      <p:pic>
        <p:nvPicPr>
          <p:cNvPr id="98" name="图片 14" descr="日志告警服务器-蓝.png"/>
          <p:cNvPicPr>
            <a:picLocks noChangeAspect="1"/>
          </p:cNvPicPr>
          <p:nvPr/>
        </p:nvPicPr>
        <p:blipFill>
          <a:blip r:embed="rId4" cstate="print"/>
          <a:stretch>
            <a:fillRect/>
          </a:stretch>
        </p:blipFill>
        <p:spPr bwMode="gray">
          <a:xfrm>
            <a:off x="3999806" y="4805747"/>
            <a:ext cx="445956" cy="278465"/>
          </a:xfrm>
          <a:prstGeom prst="rect">
            <a:avLst/>
          </a:prstGeom>
        </p:spPr>
      </p:pic>
      <p:sp>
        <p:nvSpPr>
          <p:cNvPr id="99" name="文本框 98"/>
          <p:cNvSpPr txBox="1"/>
          <p:nvPr/>
        </p:nvSpPr>
        <p:spPr bwMode="gray">
          <a:xfrm>
            <a:off x="3780585" y="5096412"/>
            <a:ext cx="909223" cy="646331"/>
          </a:xfrm>
          <a:prstGeom prst="rect">
            <a:avLst/>
          </a:prstGeom>
          <a:noFill/>
        </p:spPr>
        <p:txBody>
          <a:bodyPr wrap="none" rtlCol="0">
            <a:spAutoFit/>
          </a:bodyPr>
          <a:lstStyle/>
          <a:p>
            <a:pPr algn="ctr"/>
            <a:r>
              <a:rPr lang="en-US" altLang="zh-CN" sz="1200" b="1" dirty="0">
                <a:latin typeface="Huawei Sans" panose="020C0503030203020204" pitchFamily="34" charset="0"/>
                <a:ea typeface="方正兰亭黑简体" panose="02000000000000000000" pitchFamily="2" charset="-122"/>
                <a:cs typeface="Huawei Sans" panose="020C0503030203020204" pitchFamily="34" charset="0"/>
              </a:rPr>
              <a:t>Market</a:t>
            </a:r>
            <a:r>
              <a:rPr lang="en-US" altLang="zh-CN" sz="1200" b="1" dirty="0" smtClean="0">
                <a:latin typeface="Huawei Sans" panose="020C0503030203020204" pitchFamily="34" charset="0"/>
                <a:ea typeface="方正兰亭黑简体" panose="02000000000000000000" pitchFamily="2" charset="-122"/>
                <a:cs typeface="Huawei Sans" panose="020C0503030203020204" pitchFamily="34" charset="0"/>
              </a:rPr>
              <a:t>_</a:t>
            </a:r>
          </a:p>
          <a:p>
            <a:pPr algn="ctr"/>
            <a:r>
              <a:rPr lang="en-US" altLang="zh-CN" sz="1200" b="1" dirty="0" smtClean="0">
                <a:latin typeface="Huawei Sans" panose="020C0503030203020204" pitchFamily="34" charset="0"/>
                <a:ea typeface="方正兰亭黑简体" panose="02000000000000000000" pitchFamily="2" charset="-122"/>
                <a:cs typeface="Huawei Sans" panose="020C0503030203020204" pitchFamily="34" charset="0"/>
              </a:rPr>
              <a:t>Wireless</a:t>
            </a:r>
          </a:p>
          <a:p>
            <a:pPr algn="ctr"/>
            <a:r>
              <a:rPr lang="zh-CN" altLang="en-US" sz="1200" dirty="0">
                <a:latin typeface="Huawei Sans" panose="020C0503030203020204" pitchFamily="34" charset="0"/>
                <a:ea typeface="方正兰亭黑简体" panose="02000000000000000000" pitchFamily="2" charset="-122"/>
                <a:cs typeface="Huawei Sans" panose="020C0503030203020204" pitchFamily="34" charset="0"/>
              </a:rPr>
              <a:t>（</a:t>
            </a: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Portal</a:t>
            </a:r>
            <a:r>
              <a:rPr lang="zh-CN" altLang="en-US" sz="1200" dirty="0">
                <a:latin typeface="Huawei Sans" panose="020C0503030203020204" pitchFamily="34" charset="0"/>
                <a:ea typeface="方正兰亭黑简体" panose="02000000000000000000" pitchFamily="2" charset="-122"/>
                <a:cs typeface="Huawei Sans" panose="020C0503030203020204" pitchFamily="34" charset="0"/>
              </a:rPr>
              <a:t>）</a:t>
            </a:r>
          </a:p>
        </p:txBody>
      </p:sp>
      <p:sp>
        <p:nvSpPr>
          <p:cNvPr id="100" name="椭圆 99"/>
          <p:cNvSpPr/>
          <p:nvPr/>
        </p:nvSpPr>
        <p:spPr bwMode="gray">
          <a:xfrm>
            <a:off x="1946608" y="2108143"/>
            <a:ext cx="612000" cy="612000"/>
          </a:xfrm>
          <a:prstGeom prst="ellipse">
            <a:avLst/>
          </a:prstGeom>
          <a:solidFill>
            <a:srgbClr val="E5F2DE"/>
          </a:solidFill>
          <a:ln>
            <a:solidFill>
              <a:srgbClr val="81C15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101" name="文本框 100"/>
          <p:cNvSpPr txBox="1"/>
          <p:nvPr/>
        </p:nvSpPr>
        <p:spPr bwMode="gray">
          <a:xfrm>
            <a:off x="1917420" y="2274595"/>
            <a:ext cx="670376" cy="276999"/>
          </a:xfrm>
          <a:prstGeom prst="rect">
            <a:avLst/>
          </a:prstGeom>
          <a:noFill/>
        </p:spPr>
        <p:txBody>
          <a:bodyPr wrap="none" rtlCol="0">
            <a:spAutoFit/>
          </a:bodyPr>
          <a:lstStyle/>
          <a:p>
            <a:pPr algn="ctr"/>
            <a:r>
              <a:rPr lang="en-US" altLang="zh-CN" sz="1200" b="1" dirty="0" err="1" smtClean="0">
                <a:solidFill>
                  <a:srgbClr val="62B230"/>
                </a:solidFill>
                <a:latin typeface="Huawei Sans" panose="020C0503030203020204" pitchFamily="34" charset="0"/>
                <a:ea typeface="方正兰亭黑简体" panose="02000000000000000000" pitchFamily="2" charset="-122"/>
                <a:cs typeface="Huawei Sans" panose="020C0503030203020204" pitchFamily="34" charset="0"/>
              </a:rPr>
              <a:t>E_mail</a:t>
            </a:r>
            <a:endParaRPr lang="zh-CN" altLang="en-US" sz="1200" b="1" dirty="0">
              <a:solidFill>
                <a:srgbClr val="62B230"/>
              </a:solidFill>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102" name="任意多边形 101"/>
          <p:cNvSpPr/>
          <p:nvPr/>
        </p:nvSpPr>
        <p:spPr bwMode="gray">
          <a:xfrm>
            <a:off x="1093304" y="2659949"/>
            <a:ext cx="795131" cy="735496"/>
          </a:xfrm>
          <a:custGeom>
            <a:avLst/>
            <a:gdLst>
              <a:gd name="connsiteX0" fmla="*/ 0 w 795131"/>
              <a:gd name="connsiteY0" fmla="*/ 735496 h 735496"/>
              <a:gd name="connsiteX1" fmla="*/ 168966 w 795131"/>
              <a:gd name="connsiteY1" fmla="*/ 367748 h 735496"/>
              <a:gd name="connsiteX2" fmla="*/ 795131 w 795131"/>
              <a:gd name="connsiteY2" fmla="*/ 0 h 735496"/>
            </a:gdLst>
            <a:ahLst/>
            <a:cxnLst>
              <a:cxn ang="0">
                <a:pos x="connsiteX0" y="connsiteY0"/>
              </a:cxn>
              <a:cxn ang="0">
                <a:pos x="connsiteX1" y="connsiteY1"/>
              </a:cxn>
              <a:cxn ang="0">
                <a:pos x="connsiteX2" y="connsiteY2"/>
              </a:cxn>
            </a:cxnLst>
            <a:rect l="l" t="t" r="r" b="b"/>
            <a:pathLst>
              <a:path w="795131" h="735496">
                <a:moveTo>
                  <a:pt x="0" y="735496"/>
                </a:moveTo>
                <a:cubicBezTo>
                  <a:pt x="18222" y="612913"/>
                  <a:pt x="36444" y="490331"/>
                  <a:pt x="168966" y="367748"/>
                </a:cubicBezTo>
                <a:cubicBezTo>
                  <a:pt x="301488" y="245165"/>
                  <a:pt x="548309" y="122582"/>
                  <a:pt x="795131" y="0"/>
                </a:cubicBezTo>
              </a:path>
            </a:pathLst>
          </a:custGeom>
          <a:noFill/>
          <a:ln w="28575">
            <a:solidFill>
              <a:srgbClr val="56C4D2"/>
            </a:solidFill>
            <a:prstDash val="dashDot"/>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p>
        </p:txBody>
      </p:sp>
      <p:sp>
        <p:nvSpPr>
          <p:cNvPr id="103" name="任意多边形 102"/>
          <p:cNvSpPr/>
          <p:nvPr/>
        </p:nvSpPr>
        <p:spPr bwMode="gray">
          <a:xfrm flipH="1">
            <a:off x="2632989" y="2659949"/>
            <a:ext cx="795131" cy="735496"/>
          </a:xfrm>
          <a:custGeom>
            <a:avLst/>
            <a:gdLst>
              <a:gd name="connsiteX0" fmla="*/ 0 w 795131"/>
              <a:gd name="connsiteY0" fmla="*/ 735496 h 735496"/>
              <a:gd name="connsiteX1" fmla="*/ 168966 w 795131"/>
              <a:gd name="connsiteY1" fmla="*/ 367748 h 735496"/>
              <a:gd name="connsiteX2" fmla="*/ 795131 w 795131"/>
              <a:gd name="connsiteY2" fmla="*/ 0 h 735496"/>
            </a:gdLst>
            <a:ahLst/>
            <a:cxnLst>
              <a:cxn ang="0">
                <a:pos x="connsiteX0" y="connsiteY0"/>
              </a:cxn>
              <a:cxn ang="0">
                <a:pos x="connsiteX1" y="connsiteY1"/>
              </a:cxn>
              <a:cxn ang="0">
                <a:pos x="connsiteX2" y="connsiteY2"/>
              </a:cxn>
            </a:cxnLst>
            <a:rect l="l" t="t" r="r" b="b"/>
            <a:pathLst>
              <a:path w="795131" h="735496">
                <a:moveTo>
                  <a:pt x="0" y="735496"/>
                </a:moveTo>
                <a:cubicBezTo>
                  <a:pt x="18222" y="612913"/>
                  <a:pt x="36444" y="490331"/>
                  <a:pt x="168966" y="367748"/>
                </a:cubicBezTo>
                <a:cubicBezTo>
                  <a:pt x="301488" y="245165"/>
                  <a:pt x="548309" y="122582"/>
                  <a:pt x="795131" y="0"/>
                </a:cubicBezTo>
              </a:path>
            </a:pathLst>
          </a:custGeom>
          <a:noFill/>
          <a:ln w="28575">
            <a:solidFill>
              <a:srgbClr val="56C4D2"/>
            </a:solidFill>
            <a:prstDash val="dashDot"/>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p>
        </p:txBody>
      </p:sp>
      <p:sp>
        <p:nvSpPr>
          <p:cNvPr id="104" name="任意多边形 103"/>
          <p:cNvSpPr/>
          <p:nvPr/>
        </p:nvSpPr>
        <p:spPr bwMode="gray">
          <a:xfrm>
            <a:off x="1828800" y="2818975"/>
            <a:ext cx="298174" cy="576470"/>
          </a:xfrm>
          <a:custGeom>
            <a:avLst/>
            <a:gdLst>
              <a:gd name="connsiteX0" fmla="*/ 0 w 298174"/>
              <a:gd name="connsiteY0" fmla="*/ 576470 h 576470"/>
              <a:gd name="connsiteX1" fmla="*/ 69574 w 298174"/>
              <a:gd name="connsiteY1" fmla="*/ 218661 h 576470"/>
              <a:gd name="connsiteX2" fmla="*/ 298174 w 298174"/>
              <a:gd name="connsiteY2" fmla="*/ 0 h 576470"/>
            </a:gdLst>
            <a:ahLst/>
            <a:cxnLst>
              <a:cxn ang="0">
                <a:pos x="connsiteX0" y="connsiteY0"/>
              </a:cxn>
              <a:cxn ang="0">
                <a:pos x="connsiteX1" y="connsiteY1"/>
              </a:cxn>
              <a:cxn ang="0">
                <a:pos x="connsiteX2" y="connsiteY2"/>
              </a:cxn>
            </a:cxnLst>
            <a:rect l="l" t="t" r="r" b="b"/>
            <a:pathLst>
              <a:path w="298174" h="576470">
                <a:moveTo>
                  <a:pt x="0" y="576470"/>
                </a:moveTo>
                <a:cubicBezTo>
                  <a:pt x="9939" y="445604"/>
                  <a:pt x="19878" y="314739"/>
                  <a:pt x="69574" y="218661"/>
                </a:cubicBezTo>
                <a:cubicBezTo>
                  <a:pt x="119270" y="122583"/>
                  <a:pt x="208722" y="61291"/>
                  <a:pt x="298174" y="0"/>
                </a:cubicBezTo>
              </a:path>
            </a:pathLst>
          </a:custGeom>
          <a:noFill/>
          <a:ln w="28575">
            <a:solidFill>
              <a:srgbClr val="56C4D2"/>
            </a:solidFill>
            <a:prstDash val="dashDot"/>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p>
        </p:txBody>
      </p:sp>
      <p:sp>
        <p:nvSpPr>
          <p:cNvPr id="105" name="任意多边形 104"/>
          <p:cNvSpPr/>
          <p:nvPr/>
        </p:nvSpPr>
        <p:spPr bwMode="gray">
          <a:xfrm flipH="1">
            <a:off x="2349887" y="2818975"/>
            <a:ext cx="298174" cy="576470"/>
          </a:xfrm>
          <a:custGeom>
            <a:avLst/>
            <a:gdLst>
              <a:gd name="connsiteX0" fmla="*/ 0 w 298174"/>
              <a:gd name="connsiteY0" fmla="*/ 576470 h 576470"/>
              <a:gd name="connsiteX1" fmla="*/ 69574 w 298174"/>
              <a:gd name="connsiteY1" fmla="*/ 218661 h 576470"/>
              <a:gd name="connsiteX2" fmla="*/ 298174 w 298174"/>
              <a:gd name="connsiteY2" fmla="*/ 0 h 576470"/>
            </a:gdLst>
            <a:ahLst/>
            <a:cxnLst>
              <a:cxn ang="0">
                <a:pos x="connsiteX0" y="connsiteY0"/>
              </a:cxn>
              <a:cxn ang="0">
                <a:pos x="connsiteX1" y="connsiteY1"/>
              </a:cxn>
              <a:cxn ang="0">
                <a:pos x="connsiteX2" y="connsiteY2"/>
              </a:cxn>
            </a:cxnLst>
            <a:rect l="l" t="t" r="r" b="b"/>
            <a:pathLst>
              <a:path w="298174" h="576470">
                <a:moveTo>
                  <a:pt x="0" y="576470"/>
                </a:moveTo>
                <a:cubicBezTo>
                  <a:pt x="9939" y="445604"/>
                  <a:pt x="19878" y="314739"/>
                  <a:pt x="69574" y="218661"/>
                </a:cubicBezTo>
                <a:cubicBezTo>
                  <a:pt x="119270" y="122583"/>
                  <a:pt x="208722" y="61291"/>
                  <a:pt x="298174" y="0"/>
                </a:cubicBezTo>
              </a:path>
            </a:pathLst>
          </a:custGeom>
          <a:noFill/>
          <a:ln w="28575">
            <a:solidFill>
              <a:srgbClr val="56C4D2"/>
            </a:solidFill>
            <a:prstDash val="dashDot"/>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p>
        </p:txBody>
      </p:sp>
      <p:sp>
        <p:nvSpPr>
          <p:cNvPr id="47" name="五边形 46"/>
          <p:cNvSpPr/>
          <p:nvPr/>
        </p:nvSpPr>
        <p:spPr bwMode="gray">
          <a:xfrm>
            <a:off x="5773628" y="98481"/>
            <a:ext cx="9000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smtClean="0">
                <a:latin typeface="Huawei Sans" panose="020C0503030203020204" pitchFamily="34" charset="0"/>
                <a:ea typeface="方正兰亭黑简体" panose="02000000000000000000" pitchFamily="2" charset="-122"/>
                <a:sym typeface="Huawei Sans" panose="020C0503030203020204" pitchFamily="34" charset="0"/>
              </a:rPr>
              <a:t>站点管理</a:t>
            </a:r>
            <a:endPar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5" name="燕尾形 54"/>
          <p:cNvSpPr/>
          <p:nvPr/>
        </p:nvSpPr>
        <p:spPr bwMode="gray">
          <a:xfrm>
            <a:off x="9109268" y="9848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逻辑网络</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4" name="燕尾形 73"/>
          <p:cNvSpPr/>
          <p:nvPr/>
        </p:nvSpPr>
        <p:spPr bwMode="gray">
          <a:xfrm>
            <a:off x="9925178" y="98481"/>
            <a:ext cx="9000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业务部署</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5" name="燕尾形 74"/>
          <p:cNvSpPr/>
          <p:nvPr/>
        </p:nvSpPr>
        <p:spPr bwMode="gray">
          <a:xfrm>
            <a:off x="8221358" y="98481"/>
            <a:ext cx="972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Fabric</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网络</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6" name="燕尾形 75"/>
          <p:cNvSpPr/>
          <p:nvPr/>
        </p:nvSpPr>
        <p:spPr bwMode="gray">
          <a:xfrm>
            <a:off x="7405448" y="9848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网络规划</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7" name="燕尾形 76"/>
          <p:cNvSpPr/>
          <p:nvPr/>
        </p:nvSpPr>
        <p:spPr bwMode="gray">
          <a:xfrm>
            <a:off x="6589538" y="9848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设备管理</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8" name="燕尾形 77"/>
          <p:cNvSpPr/>
          <p:nvPr/>
        </p:nvSpPr>
        <p:spPr bwMode="gray">
          <a:xfrm>
            <a:off x="10741088" y="98481"/>
            <a:ext cx="1008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WLAN</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业务</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577496229"/>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normAutofit/>
          </a:bodyPr>
          <a:lstStyle/>
          <a:p>
            <a:r>
              <a:rPr lang="zh-CN" altLang="en-US" dirty="0" smtClean="0"/>
              <a:t>实验：创建安全组</a:t>
            </a:r>
            <a:endParaRPr lang="zh-CN" altLang="en-US" dirty="0"/>
          </a:p>
        </p:txBody>
      </p:sp>
      <p:sp>
        <p:nvSpPr>
          <p:cNvPr id="9" name="文本占位符 8"/>
          <p:cNvSpPr>
            <a:spLocks noGrp="1"/>
          </p:cNvSpPr>
          <p:nvPr>
            <p:ph type="body" sz="quarter" idx="10"/>
          </p:nvPr>
        </p:nvSpPr>
        <p:spPr bwMode="gray">
          <a:xfrm>
            <a:off x="455612" y="1047750"/>
            <a:ext cx="11293475" cy="1012517"/>
          </a:xfrm>
        </p:spPr>
        <p:txBody>
          <a:bodyPr/>
          <a:lstStyle/>
          <a:p>
            <a:r>
              <a:rPr lang="zh-CN" altLang="en-US" sz="2000" dirty="0" smtClean="0"/>
              <a:t>安全组是权限控制的实体单元，将不同的用户分配在不同安全组，通过配置安全组之间的访问权限来实现网络内用户权限的管理。</a:t>
            </a:r>
            <a:endParaRPr lang="en-US" altLang="zh-CN" sz="2000" dirty="0" smtClean="0"/>
          </a:p>
        </p:txBody>
      </p:sp>
      <p:sp>
        <p:nvSpPr>
          <p:cNvPr id="36" name="圆角矩形 35"/>
          <p:cNvSpPr/>
          <p:nvPr/>
        </p:nvSpPr>
        <p:spPr bwMode="gray">
          <a:xfrm>
            <a:off x="455613" y="2324139"/>
            <a:ext cx="5223356" cy="1816453"/>
          </a:xfrm>
          <a:prstGeom prst="roundRect">
            <a:avLst>
              <a:gd name="adj" fmla="val 3166"/>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39" name="梯形 38"/>
          <p:cNvSpPr/>
          <p:nvPr/>
        </p:nvSpPr>
        <p:spPr bwMode="gray">
          <a:xfrm>
            <a:off x="4115338" y="3465692"/>
            <a:ext cx="1439730" cy="501291"/>
          </a:xfrm>
          <a:prstGeom prst="trapezoid">
            <a:avLst>
              <a:gd name="adj" fmla="val 22961"/>
            </a:avLst>
          </a:prstGeom>
          <a:gradFill flip="none" rotWithShape="1">
            <a:gsLst>
              <a:gs pos="0">
                <a:schemeClr val="bg1">
                  <a:alpha val="4000"/>
                </a:schemeClr>
              </a:gs>
              <a:gs pos="100000">
                <a:schemeClr val="accent2">
                  <a:lumMod val="20000"/>
                  <a:lumOff val="80000"/>
                </a:schemeClr>
              </a:gs>
            </a:gsLst>
            <a:lin ang="5400000" scaled="1"/>
            <a:tileRect/>
          </a:gradFill>
          <a:ln>
            <a:gradFill flip="none" rotWithShape="1">
              <a:gsLst>
                <a:gs pos="0">
                  <a:schemeClr val="accent1">
                    <a:lumMod val="5000"/>
                    <a:lumOff val="95000"/>
                    <a:alpha val="0"/>
                  </a:schemeClr>
                </a:gs>
                <a:gs pos="82000">
                  <a:schemeClr val="accent2">
                    <a:lumMod val="60000"/>
                    <a:lumOff val="40000"/>
                  </a:schemeClr>
                </a:gs>
              </a:gsLst>
              <a:lin ang="54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2" name="文本框 41"/>
          <p:cNvSpPr txBox="1"/>
          <p:nvPr/>
        </p:nvSpPr>
        <p:spPr bwMode="gray">
          <a:xfrm>
            <a:off x="4487190" y="3643408"/>
            <a:ext cx="696024" cy="276999"/>
          </a:xfrm>
          <a:prstGeom prst="rect">
            <a:avLst/>
          </a:prstGeom>
          <a:noFill/>
        </p:spPr>
        <p:txBody>
          <a:bodyPr wrap="none" rtlCol="0">
            <a:spAutoFit/>
          </a:bodyPr>
          <a:lstStyle/>
          <a:p>
            <a:pPr algn="ctr"/>
            <a:r>
              <a:rPr lang="en-US" altLang="zh-CN" sz="1200" b="1" dirty="0">
                <a:latin typeface="Huawei Sans" panose="020C0503030203020204" pitchFamily="34" charset="0"/>
                <a:ea typeface="方正兰亭黑简体" panose="02000000000000000000" pitchFamily="2" charset="-122"/>
                <a:cs typeface="Huawei Sans" panose="020C0503030203020204" pitchFamily="34" charset="0"/>
              </a:rPr>
              <a:t>RD</a:t>
            </a:r>
            <a:r>
              <a:rPr lang="en-US" altLang="zh-CN" sz="1200" b="1" dirty="0" smtClean="0">
                <a:latin typeface="Huawei Sans" panose="020C0503030203020204" pitchFamily="34" charset="0"/>
                <a:ea typeface="方正兰亭黑简体" panose="02000000000000000000" pitchFamily="2" charset="-122"/>
                <a:cs typeface="Huawei Sans" panose="020C0503030203020204" pitchFamily="34" charset="0"/>
              </a:rPr>
              <a:t>_VN</a:t>
            </a:r>
          </a:p>
        </p:txBody>
      </p:sp>
      <p:sp>
        <p:nvSpPr>
          <p:cNvPr id="44" name="文本框 43"/>
          <p:cNvSpPr txBox="1"/>
          <p:nvPr/>
        </p:nvSpPr>
        <p:spPr bwMode="gray">
          <a:xfrm>
            <a:off x="485156" y="2356492"/>
            <a:ext cx="708848" cy="307777"/>
          </a:xfrm>
          <a:prstGeom prst="rect">
            <a:avLst/>
          </a:prstGeom>
          <a:noFill/>
        </p:spPr>
        <p:txBody>
          <a:bodyPr wrap="none" rtlCol="0">
            <a:spAutoFit/>
          </a:bodyPr>
          <a:lstStyle/>
          <a:p>
            <a:r>
              <a:rPr lang="en-US" altLang="zh-CN" sz="1400" b="1" dirty="0" smtClean="0">
                <a:latin typeface="Huawei Sans" panose="020C0503030203020204" pitchFamily="34" charset="0"/>
                <a:ea typeface="方正兰亭黑简体" panose="02000000000000000000" pitchFamily="2" charset="-122"/>
                <a:cs typeface="Huawei Sans" panose="020C0503030203020204" pitchFamily="34" charset="0"/>
              </a:rPr>
              <a:t>Fabric</a:t>
            </a:r>
            <a:endParaRPr lang="zh-CN" altLang="en-US" sz="1400" b="1" dirty="0">
              <a:latin typeface="Huawei Sans" panose="020C0503030203020204" pitchFamily="34" charset="0"/>
              <a:ea typeface="方正兰亭黑简体" panose="02000000000000000000" pitchFamily="2" charset="-122"/>
              <a:cs typeface="Huawei Sans" panose="020C0503030203020204" pitchFamily="34" charset="0"/>
            </a:endParaRPr>
          </a:p>
        </p:txBody>
      </p:sp>
      <p:pic>
        <p:nvPicPr>
          <p:cNvPr id="45" name="图片 44" descr="PC.png">
            <a:extLst>
              <a:ext uri="{FF2B5EF4-FFF2-40B4-BE49-F238E27FC236}">
                <a16:creationId xmlns="" xmlns:a16="http://schemas.microsoft.com/office/drawing/2014/main" id="{4666702E-823D-4236-BF2F-880359158C83}"/>
              </a:ext>
            </a:extLst>
          </p:cNvPr>
          <p:cNvPicPr>
            <a:picLocks noChangeAspect="1"/>
          </p:cNvPicPr>
          <p:nvPr/>
        </p:nvPicPr>
        <p:blipFill>
          <a:blip r:embed="rId3" cstate="print"/>
          <a:stretch>
            <a:fillRect/>
          </a:stretch>
        </p:blipFill>
        <p:spPr bwMode="gray">
          <a:xfrm>
            <a:off x="4982016" y="4272806"/>
            <a:ext cx="445506" cy="342149"/>
          </a:xfrm>
          <a:prstGeom prst="rect">
            <a:avLst/>
          </a:prstGeom>
        </p:spPr>
      </p:pic>
      <p:sp>
        <p:nvSpPr>
          <p:cNvPr id="46" name="文本框 45"/>
          <p:cNvSpPr txBox="1"/>
          <p:nvPr/>
        </p:nvSpPr>
        <p:spPr bwMode="gray">
          <a:xfrm>
            <a:off x="4722905" y="4601098"/>
            <a:ext cx="963725" cy="461665"/>
          </a:xfrm>
          <a:prstGeom prst="rect">
            <a:avLst/>
          </a:prstGeom>
          <a:noFill/>
        </p:spPr>
        <p:txBody>
          <a:bodyPr wrap="none" rtlCol="0">
            <a:spAutoFit/>
          </a:bodyPr>
          <a:lstStyle/>
          <a:p>
            <a:pPr algn="ctr"/>
            <a:r>
              <a:rPr lang="en-US" altLang="zh-CN" sz="1200" b="1" dirty="0">
                <a:latin typeface="Huawei Sans" panose="020C0503030203020204" pitchFamily="34" charset="0"/>
                <a:ea typeface="方正兰亭黑简体" panose="02000000000000000000" pitchFamily="2" charset="-122"/>
                <a:cs typeface="Huawei Sans" panose="020C0503030203020204" pitchFamily="34" charset="0"/>
              </a:rPr>
              <a:t>RD</a:t>
            </a:r>
            <a:endParaRPr lang="en-US" altLang="zh-CN" sz="1200" b="1" dirty="0" smtClean="0">
              <a:latin typeface="Huawei Sans" panose="020C0503030203020204" pitchFamily="34" charset="0"/>
              <a:ea typeface="方正兰亭黑简体" panose="02000000000000000000" pitchFamily="2" charset="-122"/>
              <a:cs typeface="Huawei Sans" panose="020C0503030203020204" pitchFamily="34" charset="0"/>
            </a:endParaRPr>
          </a:p>
          <a:p>
            <a:pPr algn="ctr"/>
            <a:r>
              <a:rPr lang="zh-CN" altLang="en-US" sz="1200" dirty="0">
                <a:latin typeface="Huawei Sans" panose="020C0503030203020204" pitchFamily="34" charset="0"/>
                <a:ea typeface="方正兰亭黑简体" panose="02000000000000000000" pitchFamily="2" charset="-122"/>
                <a:cs typeface="Huawei Sans" panose="020C0503030203020204" pitchFamily="34" charset="0"/>
              </a:rPr>
              <a:t>（</a:t>
            </a: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802.1X</a:t>
            </a:r>
            <a:r>
              <a:rPr lang="zh-CN" altLang="en-US" sz="1200" dirty="0" smtClean="0">
                <a:latin typeface="Huawei Sans" panose="020C0503030203020204" pitchFamily="34" charset="0"/>
                <a:ea typeface="方正兰亭黑简体" panose="02000000000000000000" pitchFamily="2" charset="-122"/>
                <a:cs typeface="Huawei Sans" panose="020C0503030203020204" pitchFamily="34" charset="0"/>
              </a:rPr>
              <a:t>）</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47" name="梯形 46"/>
          <p:cNvSpPr/>
          <p:nvPr/>
        </p:nvSpPr>
        <p:spPr bwMode="gray">
          <a:xfrm>
            <a:off x="663378" y="3465692"/>
            <a:ext cx="3138794" cy="501291"/>
          </a:xfrm>
          <a:prstGeom prst="trapezoid">
            <a:avLst>
              <a:gd name="adj" fmla="val 22961"/>
            </a:avLst>
          </a:prstGeom>
          <a:gradFill flip="none" rotWithShape="1">
            <a:gsLst>
              <a:gs pos="0">
                <a:schemeClr val="bg1">
                  <a:alpha val="4000"/>
                </a:schemeClr>
              </a:gs>
              <a:gs pos="100000">
                <a:srgbClr val="EEB3B8"/>
              </a:gs>
            </a:gsLst>
            <a:lin ang="5400000" scaled="1"/>
            <a:tileRect/>
          </a:gradFill>
          <a:ln>
            <a:gradFill flip="none" rotWithShape="1">
              <a:gsLst>
                <a:gs pos="0">
                  <a:schemeClr val="accent1">
                    <a:lumMod val="5000"/>
                    <a:lumOff val="95000"/>
                    <a:alpha val="0"/>
                  </a:schemeClr>
                </a:gs>
                <a:gs pos="82000">
                  <a:srgbClr val="E28189"/>
                </a:gs>
              </a:gsLst>
              <a:lin ang="54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1" name="文本框 50"/>
          <p:cNvSpPr txBox="1"/>
          <p:nvPr/>
        </p:nvSpPr>
        <p:spPr bwMode="gray">
          <a:xfrm>
            <a:off x="1899979" y="3643408"/>
            <a:ext cx="712054" cy="276999"/>
          </a:xfrm>
          <a:prstGeom prst="rect">
            <a:avLst/>
          </a:prstGeom>
          <a:noFill/>
        </p:spPr>
        <p:txBody>
          <a:bodyPr wrap="none" rtlCol="0">
            <a:spAutoFit/>
          </a:bodyPr>
          <a:lstStyle/>
          <a:p>
            <a:pPr algn="ctr"/>
            <a:r>
              <a:rPr lang="en-US" altLang="zh-CN" sz="1200" b="1" dirty="0">
                <a:latin typeface="Huawei Sans" panose="020C0503030203020204" pitchFamily="34" charset="0"/>
                <a:ea typeface="方正兰亭黑简体" panose="02000000000000000000" pitchFamily="2" charset="-122"/>
                <a:cs typeface="Huawei Sans" panose="020C0503030203020204" pitchFamily="34" charset="0"/>
              </a:rPr>
              <a:t>OA</a:t>
            </a:r>
            <a:r>
              <a:rPr lang="en-US" altLang="zh-CN" sz="1200" b="1" dirty="0" smtClean="0">
                <a:latin typeface="Huawei Sans" panose="020C0503030203020204" pitchFamily="34" charset="0"/>
                <a:ea typeface="方正兰亭黑简体" panose="02000000000000000000" pitchFamily="2" charset="-122"/>
                <a:cs typeface="Huawei Sans" panose="020C0503030203020204" pitchFamily="34" charset="0"/>
              </a:rPr>
              <a:t>_VN</a:t>
            </a:r>
          </a:p>
        </p:txBody>
      </p:sp>
      <p:pic>
        <p:nvPicPr>
          <p:cNvPr id="55" name="图片 54" descr="PC.png">
            <a:extLst>
              <a:ext uri="{FF2B5EF4-FFF2-40B4-BE49-F238E27FC236}">
                <a16:creationId xmlns="" xmlns:a16="http://schemas.microsoft.com/office/drawing/2014/main" id="{4666702E-823D-4236-BF2F-880359158C83}"/>
              </a:ext>
            </a:extLst>
          </p:cNvPr>
          <p:cNvPicPr>
            <a:picLocks noChangeAspect="1"/>
          </p:cNvPicPr>
          <p:nvPr/>
        </p:nvPicPr>
        <p:blipFill>
          <a:blip r:embed="rId3" cstate="print"/>
          <a:stretch>
            <a:fillRect/>
          </a:stretch>
        </p:blipFill>
        <p:spPr bwMode="gray">
          <a:xfrm>
            <a:off x="748498" y="4272806"/>
            <a:ext cx="445506" cy="342149"/>
          </a:xfrm>
          <a:prstGeom prst="rect">
            <a:avLst/>
          </a:prstGeom>
        </p:spPr>
      </p:pic>
      <p:sp>
        <p:nvSpPr>
          <p:cNvPr id="70" name="文本框 69"/>
          <p:cNvSpPr txBox="1"/>
          <p:nvPr/>
        </p:nvSpPr>
        <p:spPr bwMode="gray">
          <a:xfrm>
            <a:off x="489391" y="4601098"/>
            <a:ext cx="963725" cy="646331"/>
          </a:xfrm>
          <a:prstGeom prst="rect">
            <a:avLst/>
          </a:prstGeom>
          <a:noFill/>
        </p:spPr>
        <p:txBody>
          <a:bodyPr wrap="none" rtlCol="0">
            <a:spAutoFit/>
          </a:bodyPr>
          <a:lstStyle/>
          <a:p>
            <a:pPr algn="ctr"/>
            <a:r>
              <a:rPr lang="en-US" altLang="zh-CN" sz="1200" b="1" dirty="0">
                <a:latin typeface="Huawei Sans" panose="020C0503030203020204" pitchFamily="34" charset="0"/>
                <a:ea typeface="方正兰亭黑简体" panose="02000000000000000000" pitchFamily="2" charset="-122"/>
                <a:cs typeface="Huawei Sans" panose="020C0503030203020204" pitchFamily="34" charset="0"/>
              </a:rPr>
              <a:t>Sales</a:t>
            </a:r>
            <a:r>
              <a:rPr lang="en-US" altLang="zh-CN" sz="1200" b="1" dirty="0" smtClean="0">
                <a:latin typeface="Huawei Sans" panose="020C0503030203020204" pitchFamily="34" charset="0"/>
                <a:ea typeface="方正兰亭黑简体" panose="02000000000000000000" pitchFamily="2" charset="-122"/>
                <a:cs typeface="Huawei Sans" panose="020C0503030203020204" pitchFamily="34" charset="0"/>
              </a:rPr>
              <a:t>_</a:t>
            </a:r>
          </a:p>
          <a:p>
            <a:pPr algn="ctr"/>
            <a:r>
              <a:rPr lang="en-US" altLang="zh-CN" sz="1200" b="1" dirty="0" smtClean="0">
                <a:latin typeface="Huawei Sans" panose="020C0503030203020204" pitchFamily="34" charset="0"/>
                <a:ea typeface="方正兰亭黑简体" panose="02000000000000000000" pitchFamily="2" charset="-122"/>
                <a:cs typeface="Huawei Sans" panose="020C0503030203020204" pitchFamily="34" charset="0"/>
              </a:rPr>
              <a:t>Wired</a:t>
            </a:r>
          </a:p>
          <a:p>
            <a:pPr algn="ctr"/>
            <a:r>
              <a:rPr lang="zh-CN" altLang="en-US" sz="1200" dirty="0" smtClean="0">
                <a:latin typeface="Huawei Sans" panose="020C0503030203020204" pitchFamily="34" charset="0"/>
                <a:ea typeface="方正兰亭黑简体" panose="02000000000000000000" pitchFamily="2" charset="-122"/>
                <a:cs typeface="Huawei Sans" panose="020C0503030203020204" pitchFamily="34" charset="0"/>
              </a:rPr>
              <a:t>（</a:t>
            </a:r>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802.1X</a:t>
            </a:r>
            <a:r>
              <a:rPr lang="zh-CN" altLang="en-US" sz="1200" dirty="0" smtClean="0">
                <a:latin typeface="Huawei Sans" panose="020C0503030203020204" pitchFamily="34" charset="0"/>
                <a:ea typeface="方正兰亭黑简体" panose="02000000000000000000" pitchFamily="2" charset="-122"/>
                <a:cs typeface="Huawei Sans" panose="020C0503030203020204" pitchFamily="34" charset="0"/>
              </a:rPr>
              <a:t>）</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pic>
        <p:nvPicPr>
          <p:cNvPr id="74" name="图片 14" descr="日志告警服务器-蓝.png"/>
          <p:cNvPicPr>
            <a:picLocks noChangeAspect="1"/>
          </p:cNvPicPr>
          <p:nvPr/>
        </p:nvPicPr>
        <p:blipFill>
          <a:blip r:embed="rId4" cstate="print"/>
          <a:stretch>
            <a:fillRect/>
          </a:stretch>
        </p:blipFill>
        <p:spPr bwMode="gray">
          <a:xfrm>
            <a:off x="1806652" y="4310433"/>
            <a:ext cx="445956" cy="278465"/>
          </a:xfrm>
          <a:prstGeom prst="rect">
            <a:avLst/>
          </a:prstGeom>
        </p:spPr>
      </p:pic>
      <p:sp>
        <p:nvSpPr>
          <p:cNvPr id="75" name="文本框 74"/>
          <p:cNvSpPr txBox="1"/>
          <p:nvPr/>
        </p:nvSpPr>
        <p:spPr bwMode="gray">
          <a:xfrm>
            <a:off x="1573940" y="4601098"/>
            <a:ext cx="909224" cy="646331"/>
          </a:xfrm>
          <a:prstGeom prst="rect">
            <a:avLst/>
          </a:prstGeom>
          <a:noFill/>
        </p:spPr>
        <p:txBody>
          <a:bodyPr wrap="none" rtlCol="0">
            <a:spAutoFit/>
          </a:bodyPr>
          <a:lstStyle/>
          <a:p>
            <a:pPr algn="ctr"/>
            <a:r>
              <a:rPr lang="en-US" altLang="zh-CN" sz="1200" b="1" dirty="0">
                <a:latin typeface="Huawei Sans" panose="020C0503030203020204" pitchFamily="34" charset="0"/>
                <a:ea typeface="方正兰亭黑简体" panose="02000000000000000000" pitchFamily="2" charset="-122"/>
                <a:cs typeface="Huawei Sans" panose="020C0503030203020204" pitchFamily="34" charset="0"/>
              </a:rPr>
              <a:t>Sales</a:t>
            </a:r>
            <a:r>
              <a:rPr lang="en-US" altLang="zh-CN" sz="1200" b="1" dirty="0" smtClean="0">
                <a:latin typeface="Huawei Sans" panose="020C0503030203020204" pitchFamily="34" charset="0"/>
                <a:ea typeface="方正兰亭黑简体" panose="02000000000000000000" pitchFamily="2" charset="-122"/>
                <a:cs typeface="Huawei Sans" panose="020C0503030203020204" pitchFamily="34" charset="0"/>
              </a:rPr>
              <a:t>_</a:t>
            </a:r>
          </a:p>
          <a:p>
            <a:pPr algn="ctr"/>
            <a:r>
              <a:rPr lang="en-US" altLang="zh-CN" sz="1200" b="1" dirty="0" smtClean="0">
                <a:latin typeface="Huawei Sans" panose="020C0503030203020204" pitchFamily="34" charset="0"/>
                <a:ea typeface="方正兰亭黑简体" panose="02000000000000000000" pitchFamily="2" charset="-122"/>
                <a:cs typeface="Huawei Sans" panose="020C0503030203020204" pitchFamily="34" charset="0"/>
              </a:rPr>
              <a:t>Wireless</a:t>
            </a:r>
          </a:p>
          <a:p>
            <a:pPr algn="ctr"/>
            <a:r>
              <a:rPr lang="zh-CN" altLang="en-US" sz="1200" dirty="0" smtClean="0">
                <a:latin typeface="Huawei Sans" panose="020C0503030203020204" pitchFamily="34" charset="0"/>
                <a:ea typeface="方正兰亭黑简体" panose="02000000000000000000" pitchFamily="2" charset="-122"/>
                <a:cs typeface="Huawei Sans" panose="020C0503030203020204" pitchFamily="34" charset="0"/>
              </a:rPr>
              <a:t>（</a:t>
            </a:r>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Portal</a:t>
            </a:r>
            <a:r>
              <a:rPr lang="zh-CN" altLang="en-US" sz="1200" dirty="0">
                <a:latin typeface="Huawei Sans" panose="020C0503030203020204" pitchFamily="34" charset="0"/>
                <a:ea typeface="方正兰亭黑简体" panose="02000000000000000000" pitchFamily="2" charset="-122"/>
                <a:cs typeface="Huawei Sans" panose="020C0503030203020204" pitchFamily="34" charset="0"/>
              </a:rPr>
              <a:t>）</a:t>
            </a:r>
          </a:p>
        </p:txBody>
      </p:sp>
      <p:sp>
        <p:nvSpPr>
          <p:cNvPr id="76" name="椭圆 75"/>
          <p:cNvSpPr/>
          <p:nvPr/>
        </p:nvSpPr>
        <p:spPr bwMode="gray">
          <a:xfrm>
            <a:off x="746427" y="3011778"/>
            <a:ext cx="612000" cy="612000"/>
          </a:xfrm>
          <a:prstGeom prst="ellipse">
            <a:avLst/>
          </a:prstGeom>
          <a:solidFill>
            <a:schemeClr val="accent5">
              <a:lumMod val="20000"/>
              <a:lumOff val="80000"/>
            </a:schemeClr>
          </a:solid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77" name="文本框 76"/>
          <p:cNvSpPr txBox="1"/>
          <p:nvPr/>
        </p:nvSpPr>
        <p:spPr bwMode="gray">
          <a:xfrm>
            <a:off x="748498" y="3093241"/>
            <a:ext cx="618630" cy="461665"/>
          </a:xfrm>
          <a:prstGeom prst="rect">
            <a:avLst/>
          </a:prstGeom>
          <a:noFill/>
        </p:spPr>
        <p:txBody>
          <a:bodyPr wrap="square" rtlCol="0">
            <a:spAutoFit/>
          </a:bodyPr>
          <a:lstStyle/>
          <a:p>
            <a:pPr algn="ctr"/>
            <a:r>
              <a:rPr lang="en-US" altLang="zh-CN" sz="1200" dirty="0" err="1">
                <a:latin typeface="Huawei Sans" panose="020C0503030203020204" pitchFamily="34" charset="0"/>
                <a:ea typeface="方正兰亭黑简体" panose="02000000000000000000" pitchFamily="2" charset="-122"/>
                <a:cs typeface="Huawei Sans" panose="020C0503030203020204" pitchFamily="34" charset="0"/>
              </a:rPr>
              <a:t>Sales_Wired</a:t>
            </a:r>
            <a:endParaRPr lang="en-US" altLang="zh-CN" sz="12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78" name="椭圆 77"/>
          <p:cNvSpPr/>
          <p:nvPr/>
        </p:nvSpPr>
        <p:spPr bwMode="gray">
          <a:xfrm>
            <a:off x="4493856" y="3011778"/>
            <a:ext cx="612000" cy="612000"/>
          </a:xfrm>
          <a:prstGeom prst="ellipse">
            <a:avLst/>
          </a:prstGeom>
          <a:solidFill>
            <a:schemeClr val="accent5">
              <a:lumMod val="20000"/>
              <a:lumOff val="80000"/>
            </a:schemeClr>
          </a:solid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79" name="文本框 78"/>
          <p:cNvSpPr txBox="1"/>
          <p:nvPr/>
        </p:nvSpPr>
        <p:spPr bwMode="gray">
          <a:xfrm>
            <a:off x="4604130" y="3192800"/>
            <a:ext cx="391453" cy="276999"/>
          </a:xfrm>
          <a:prstGeom prst="rect">
            <a:avLst/>
          </a:prstGeom>
          <a:noFill/>
        </p:spPr>
        <p:txBody>
          <a:bodyPr wrap="none" rtlCol="0">
            <a:spAutoFit/>
          </a:bodyPr>
          <a:lstStyle/>
          <a:p>
            <a:pPr algn="ctr"/>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RD</a:t>
            </a:r>
          </a:p>
        </p:txBody>
      </p:sp>
      <p:sp>
        <p:nvSpPr>
          <p:cNvPr id="81" name="任意多边形 80"/>
          <p:cNvSpPr/>
          <p:nvPr/>
        </p:nvSpPr>
        <p:spPr bwMode="gray">
          <a:xfrm>
            <a:off x="2686015" y="3694367"/>
            <a:ext cx="390809" cy="527688"/>
          </a:xfrm>
          <a:custGeom>
            <a:avLst/>
            <a:gdLst>
              <a:gd name="connsiteX0" fmla="*/ 390809 w 390809"/>
              <a:gd name="connsiteY0" fmla="*/ 712381 h 712381"/>
              <a:gd name="connsiteX1" fmla="*/ 50567 w 390809"/>
              <a:gd name="connsiteY1" fmla="*/ 340242 h 712381"/>
              <a:gd name="connsiteX2" fmla="*/ 8037 w 390809"/>
              <a:gd name="connsiteY2" fmla="*/ 0 h 712381"/>
            </a:gdLst>
            <a:ahLst/>
            <a:cxnLst>
              <a:cxn ang="0">
                <a:pos x="connsiteX0" y="connsiteY0"/>
              </a:cxn>
              <a:cxn ang="0">
                <a:pos x="connsiteX1" y="connsiteY1"/>
              </a:cxn>
              <a:cxn ang="0">
                <a:pos x="connsiteX2" y="connsiteY2"/>
              </a:cxn>
            </a:cxnLst>
            <a:rect l="l" t="t" r="r" b="b"/>
            <a:pathLst>
              <a:path w="390809" h="712381">
                <a:moveTo>
                  <a:pt x="390809" y="712381"/>
                </a:moveTo>
                <a:cubicBezTo>
                  <a:pt x="252585" y="585676"/>
                  <a:pt x="114362" y="458972"/>
                  <a:pt x="50567" y="340242"/>
                </a:cubicBezTo>
                <a:cubicBezTo>
                  <a:pt x="-13228" y="221512"/>
                  <a:pt x="-2596" y="110756"/>
                  <a:pt x="8037" y="0"/>
                </a:cubicBezTo>
              </a:path>
            </a:pathLst>
          </a:custGeom>
          <a:noFill/>
          <a:ln w="28575">
            <a:solidFill>
              <a:srgbClr val="C00000"/>
            </a:solidFill>
            <a:prstDash val="dash"/>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p>
        </p:txBody>
      </p:sp>
      <p:sp>
        <p:nvSpPr>
          <p:cNvPr id="82" name="任意多边形 81"/>
          <p:cNvSpPr/>
          <p:nvPr/>
        </p:nvSpPr>
        <p:spPr bwMode="gray">
          <a:xfrm rot="19515453">
            <a:off x="5164225" y="3580504"/>
            <a:ext cx="255685" cy="649727"/>
          </a:xfrm>
          <a:custGeom>
            <a:avLst/>
            <a:gdLst>
              <a:gd name="connsiteX0" fmla="*/ 0 w 255685"/>
              <a:gd name="connsiteY0" fmla="*/ 797442 h 797442"/>
              <a:gd name="connsiteX1" fmla="*/ 244549 w 255685"/>
              <a:gd name="connsiteY1" fmla="*/ 382772 h 797442"/>
              <a:gd name="connsiteX2" fmla="*/ 191386 w 255685"/>
              <a:gd name="connsiteY2" fmla="*/ 0 h 797442"/>
            </a:gdLst>
            <a:ahLst/>
            <a:cxnLst>
              <a:cxn ang="0">
                <a:pos x="connsiteX0" y="connsiteY0"/>
              </a:cxn>
              <a:cxn ang="0">
                <a:pos x="connsiteX1" y="connsiteY1"/>
              </a:cxn>
              <a:cxn ang="0">
                <a:pos x="connsiteX2" y="connsiteY2"/>
              </a:cxn>
            </a:cxnLst>
            <a:rect l="l" t="t" r="r" b="b"/>
            <a:pathLst>
              <a:path w="255685" h="797442">
                <a:moveTo>
                  <a:pt x="0" y="797442"/>
                </a:moveTo>
                <a:cubicBezTo>
                  <a:pt x="106325" y="656560"/>
                  <a:pt x="212651" y="515679"/>
                  <a:pt x="244549" y="382772"/>
                </a:cubicBezTo>
                <a:cubicBezTo>
                  <a:pt x="276447" y="249865"/>
                  <a:pt x="233916" y="124932"/>
                  <a:pt x="191386" y="0"/>
                </a:cubicBezTo>
              </a:path>
            </a:pathLst>
          </a:custGeom>
          <a:noFill/>
          <a:ln w="28575">
            <a:solidFill>
              <a:srgbClr val="00B050"/>
            </a:solidFill>
            <a:prstDash val="dash"/>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p>
        </p:txBody>
      </p:sp>
      <p:sp>
        <p:nvSpPr>
          <p:cNvPr id="83" name="椭圆 82"/>
          <p:cNvSpPr/>
          <p:nvPr/>
        </p:nvSpPr>
        <p:spPr bwMode="gray">
          <a:xfrm>
            <a:off x="1542293" y="3011778"/>
            <a:ext cx="612000" cy="612000"/>
          </a:xfrm>
          <a:prstGeom prst="ellipse">
            <a:avLst/>
          </a:prstGeom>
          <a:solidFill>
            <a:schemeClr val="accent5">
              <a:lumMod val="20000"/>
              <a:lumOff val="80000"/>
            </a:schemeClr>
          </a:solid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84" name="文本框 83"/>
          <p:cNvSpPr txBox="1"/>
          <p:nvPr/>
        </p:nvSpPr>
        <p:spPr bwMode="gray">
          <a:xfrm>
            <a:off x="1453527" y="3093241"/>
            <a:ext cx="785094" cy="461665"/>
          </a:xfrm>
          <a:prstGeom prst="rect">
            <a:avLst/>
          </a:prstGeom>
          <a:noFill/>
        </p:spPr>
        <p:txBody>
          <a:bodyPr wrap="square" rtlCol="0">
            <a:spAutoFit/>
          </a:bodyPr>
          <a:lstStyle/>
          <a:p>
            <a:pPr algn="ctr"/>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Sales_</a:t>
            </a:r>
          </a:p>
          <a:p>
            <a:pPr algn="ctr"/>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Wireless</a:t>
            </a:r>
            <a:endParaRPr lang="en-US" altLang="zh-CN" sz="12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85" name="椭圆 84"/>
          <p:cNvSpPr/>
          <p:nvPr/>
        </p:nvSpPr>
        <p:spPr bwMode="gray">
          <a:xfrm>
            <a:off x="2320750" y="3011778"/>
            <a:ext cx="612000" cy="612000"/>
          </a:xfrm>
          <a:prstGeom prst="ellipse">
            <a:avLst/>
          </a:prstGeom>
          <a:solidFill>
            <a:schemeClr val="accent5">
              <a:lumMod val="20000"/>
              <a:lumOff val="80000"/>
            </a:schemeClr>
          </a:solid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86" name="文本框 85"/>
          <p:cNvSpPr txBox="1"/>
          <p:nvPr/>
        </p:nvSpPr>
        <p:spPr bwMode="gray">
          <a:xfrm>
            <a:off x="2231984" y="3093241"/>
            <a:ext cx="785094" cy="461665"/>
          </a:xfrm>
          <a:prstGeom prst="rect">
            <a:avLst/>
          </a:prstGeom>
          <a:noFill/>
        </p:spPr>
        <p:txBody>
          <a:bodyPr wrap="square" rtlCol="0">
            <a:spAutoFit/>
          </a:bodyPr>
          <a:lstStyle/>
          <a:p>
            <a:pPr algn="ctr"/>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Market_</a:t>
            </a:r>
          </a:p>
          <a:p>
            <a:pPr algn="ct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Wired</a:t>
            </a:r>
          </a:p>
        </p:txBody>
      </p:sp>
      <p:sp>
        <p:nvSpPr>
          <p:cNvPr id="87" name="椭圆 86"/>
          <p:cNvSpPr/>
          <p:nvPr/>
        </p:nvSpPr>
        <p:spPr bwMode="gray">
          <a:xfrm>
            <a:off x="3105844" y="3011778"/>
            <a:ext cx="612000" cy="612000"/>
          </a:xfrm>
          <a:prstGeom prst="ellipse">
            <a:avLst/>
          </a:prstGeom>
          <a:solidFill>
            <a:schemeClr val="accent5">
              <a:lumMod val="20000"/>
              <a:lumOff val="80000"/>
            </a:schemeClr>
          </a:solid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88" name="文本框 87"/>
          <p:cNvSpPr txBox="1"/>
          <p:nvPr/>
        </p:nvSpPr>
        <p:spPr bwMode="gray">
          <a:xfrm>
            <a:off x="3017078" y="3093241"/>
            <a:ext cx="785094" cy="461665"/>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Market</a:t>
            </a:r>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_</a:t>
            </a:r>
          </a:p>
          <a:p>
            <a:pPr algn="ctr"/>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Wireless</a:t>
            </a:r>
            <a:endParaRPr lang="en-US" altLang="zh-CN" sz="1200" dirty="0">
              <a:latin typeface="Huawei Sans" panose="020C0503030203020204" pitchFamily="34" charset="0"/>
              <a:ea typeface="方正兰亭黑简体" panose="02000000000000000000" pitchFamily="2" charset="-122"/>
              <a:cs typeface="Huawei Sans" panose="020C0503030203020204" pitchFamily="34" charset="0"/>
            </a:endParaRPr>
          </a:p>
        </p:txBody>
      </p:sp>
      <p:pic>
        <p:nvPicPr>
          <p:cNvPr id="89" name="图片 88" descr="PC.png">
            <a:extLst>
              <a:ext uri="{FF2B5EF4-FFF2-40B4-BE49-F238E27FC236}">
                <a16:creationId xmlns="" xmlns:a16="http://schemas.microsoft.com/office/drawing/2014/main" id="{4666702E-823D-4236-BF2F-880359158C83}"/>
              </a:ext>
            </a:extLst>
          </p:cNvPr>
          <p:cNvPicPr>
            <a:picLocks noChangeAspect="1"/>
          </p:cNvPicPr>
          <p:nvPr/>
        </p:nvPicPr>
        <p:blipFill>
          <a:blip r:embed="rId3" cstate="print"/>
          <a:stretch>
            <a:fillRect/>
          </a:stretch>
        </p:blipFill>
        <p:spPr bwMode="gray">
          <a:xfrm>
            <a:off x="2865256" y="4272806"/>
            <a:ext cx="445506" cy="342149"/>
          </a:xfrm>
          <a:prstGeom prst="rect">
            <a:avLst/>
          </a:prstGeom>
        </p:spPr>
      </p:pic>
      <p:sp>
        <p:nvSpPr>
          <p:cNvPr id="90" name="文本框 89"/>
          <p:cNvSpPr txBox="1"/>
          <p:nvPr/>
        </p:nvSpPr>
        <p:spPr bwMode="gray">
          <a:xfrm>
            <a:off x="2606147" y="4601098"/>
            <a:ext cx="963725" cy="646331"/>
          </a:xfrm>
          <a:prstGeom prst="rect">
            <a:avLst/>
          </a:prstGeom>
          <a:noFill/>
        </p:spPr>
        <p:txBody>
          <a:bodyPr wrap="none" rtlCol="0">
            <a:spAutoFit/>
          </a:bodyPr>
          <a:lstStyle/>
          <a:p>
            <a:pPr algn="ctr"/>
            <a:r>
              <a:rPr lang="en-US" altLang="zh-CN" sz="1200" b="1" dirty="0">
                <a:latin typeface="Huawei Sans" panose="020C0503030203020204" pitchFamily="34" charset="0"/>
                <a:ea typeface="方正兰亭黑简体" panose="02000000000000000000" pitchFamily="2" charset="-122"/>
                <a:cs typeface="Huawei Sans" panose="020C0503030203020204" pitchFamily="34" charset="0"/>
              </a:rPr>
              <a:t>Market</a:t>
            </a:r>
            <a:r>
              <a:rPr lang="en-US" altLang="zh-CN" sz="1200" b="1" dirty="0" smtClean="0">
                <a:latin typeface="Huawei Sans" panose="020C0503030203020204" pitchFamily="34" charset="0"/>
                <a:ea typeface="方正兰亭黑简体" panose="02000000000000000000" pitchFamily="2" charset="-122"/>
                <a:cs typeface="Huawei Sans" panose="020C0503030203020204" pitchFamily="34" charset="0"/>
              </a:rPr>
              <a:t>_</a:t>
            </a:r>
          </a:p>
          <a:p>
            <a:pPr algn="ctr"/>
            <a:r>
              <a:rPr lang="en-US" altLang="zh-CN" sz="1200" b="1" dirty="0" smtClean="0">
                <a:latin typeface="Huawei Sans" panose="020C0503030203020204" pitchFamily="34" charset="0"/>
                <a:ea typeface="方正兰亭黑简体" panose="02000000000000000000" pitchFamily="2" charset="-122"/>
                <a:cs typeface="Huawei Sans" panose="020C0503030203020204" pitchFamily="34" charset="0"/>
              </a:rPr>
              <a:t>Wired</a:t>
            </a:r>
          </a:p>
          <a:p>
            <a:pPr algn="ctr"/>
            <a:r>
              <a:rPr lang="zh-CN" altLang="en-US" sz="1200" dirty="0">
                <a:latin typeface="Huawei Sans" panose="020C0503030203020204" pitchFamily="34" charset="0"/>
                <a:ea typeface="方正兰亭黑简体" panose="02000000000000000000" pitchFamily="2" charset="-122"/>
                <a:cs typeface="Huawei Sans" panose="020C0503030203020204" pitchFamily="34" charset="0"/>
              </a:rPr>
              <a:t>（</a:t>
            </a: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802.1X</a:t>
            </a:r>
            <a:r>
              <a:rPr lang="zh-CN" altLang="en-US" sz="1200" dirty="0">
                <a:latin typeface="Huawei Sans" panose="020C0503030203020204" pitchFamily="34" charset="0"/>
                <a:ea typeface="方正兰亭黑简体" panose="02000000000000000000" pitchFamily="2" charset="-122"/>
                <a:cs typeface="Huawei Sans" panose="020C0503030203020204" pitchFamily="34" charset="0"/>
              </a:rPr>
              <a:t>）</a:t>
            </a:r>
          </a:p>
        </p:txBody>
      </p:sp>
      <p:pic>
        <p:nvPicPr>
          <p:cNvPr id="91" name="图片 14" descr="日志告警服务器-蓝.png"/>
          <p:cNvPicPr>
            <a:picLocks noChangeAspect="1"/>
          </p:cNvPicPr>
          <p:nvPr/>
        </p:nvPicPr>
        <p:blipFill>
          <a:blip r:embed="rId4" cstate="print"/>
          <a:stretch>
            <a:fillRect/>
          </a:stretch>
        </p:blipFill>
        <p:spPr bwMode="gray">
          <a:xfrm>
            <a:off x="3999806" y="4310433"/>
            <a:ext cx="445956" cy="278465"/>
          </a:xfrm>
          <a:prstGeom prst="rect">
            <a:avLst/>
          </a:prstGeom>
        </p:spPr>
      </p:pic>
      <p:sp>
        <p:nvSpPr>
          <p:cNvPr id="92" name="文本框 91"/>
          <p:cNvSpPr txBox="1"/>
          <p:nvPr/>
        </p:nvSpPr>
        <p:spPr bwMode="gray">
          <a:xfrm>
            <a:off x="3780585" y="4601098"/>
            <a:ext cx="909223" cy="646331"/>
          </a:xfrm>
          <a:prstGeom prst="rect">
            <a:avLst/>
          </a:prstGeom>
          <a:noFill/>
        </p:spPr>
        <p:txBody>
          <a:bodyPr wrap="none" rtlCol="0">
            <a:spAutoFit/>
          </a:bodyPr>
          <a:lstStyle/>
          <a:p>
            <a:pPr algn="ctr"/>
            <a:r>
              <a:rPr lang="en-US" altLang="zh-CN" sz="1200" b="1" dirty="0">
                <a:latin typeface="Huawei Sans" panose="020C0503030203020204" pitchFamily="34" charset="0"/>
                <a:ea typeface="方正兰亭黑简体" panose="02000000000000000000" pitchFamily="2" charset="-122"/>
                <a:cs typeface="Huawei Sans" panose="020C0503030203020204" pitchFamily="34" charset="0"/>
              </a:rPr>
              <a:t>Market</a:t>
            </a:r>
            <a:r>
              <a:rPr lang="en-US" altLang="zh-CN" sz="1200" b="1" dirty="0" smtClean="0">
                <a:latin typeface="Huawei Sans" panose="020C0503030203020204" pitchFamily="34" charset="0"/>
                <a:ea typeface="方正兰亭黑简体" panose="02000000000000000000" pitchFamily="2" charset="-122"/>
                <a:cs typeface="Huawei Sans" panose="020C0503030203020204" pitchFamily="34" charset="0"/>
              </a:rPr>
              <a:t>_</a:t>
            </a:r>
          </a:p>
          <a:p>
            <a:pPr algn="ctr"/>
            <a:r>
              <a:rPr lang="en-US" altLang="zh-CN" sz="1200" b="1" dirty="0" smtClean="0">
                <a:latin typeface="Huawei Sans" panose="020C0503030203020204" pitchFamily="34" charset="0"/>
                <a:ea typeface="方正兰亭黑简体" panose="02000000000000000000" pitchFamily="2" charset="-122"/>
                <a:cs typeface="Huawei Sans" panose="020C0503030203020204" pitchFamily="34" charset="0"/>
              </a:rPr>
              <a:t>Wireless</a:t>
            </a:r>
          </a:p>
          <a:p>
            <a:pPr algn="ctr"/>
            <a:r>
              <a:rPr lang="zh-CN" altLang="en-US" sz="1200" dirty="0">
                <a:latin typeface="Huawei Sans" panose="020C0503030203020204" pitchFamily="34" charset="0"/>
                <a:ea typeface="方正兰亭黑简体" panose="02000000000000000000" pitchFamily="2" charset="-122"/>
                <a:cs typeface="Huawei Sans" panose="020C0503030203020204" pitchFamily="34" charset="0"/>
              </a:rPr>
              <a:t>（</a:t>
            </a: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Portal</a:t>
            </a:r>
            <a:r>
              <a:rPr lang="zh-CN" altLang="en-US" sz="1200" dirty="0">
                <a:latin typeface="Huawei Sans" panose="020C0503030203020204" pitchFamily="34" charset="0"/>
                <a:ea typeface="方正兰亭黑简体" panose="02000000000000000000" pitchFamily="2" charset="-122"/>
                <a:cs typeface="Huawei Sans" panose="020C0503030203020204" pitchFamily="34" charset="0"/>
              </a:rPr>
              <a:t>）</a:t>
            </a:r>
          </a:p>
        </p:txBody>
      </p:sp>
      <p:pic>
        <p:nvPicPr>
          <p:cNvPr id="93" name="图片 92"/>
          <p:cNvPicPr/>
          <p:nvPr/>
        </p:nvPicPr>
        <p:blipFill rotWithShape="1">
          <a:blip r:embed="rId5"/>
          <a:srcRect r="61303" b="36580"/>
          <a:stretch/>
        </p:blipFill>
        <p:spPr bwMode="gray">
          <a:xfrm>
            <a:off x="6441610" y="2324139"/>
            <a:ext cx="5146889" cy="3259886"/>
          </a:xfrm>
          <a:prstGeom prst="rect">
            <a:avLst/>
          </a:prstGeom>
          <a:ln w="12700">
            <a:solidFill>
              <a:schemeClr val="bg1">
                <a:lumMod val="85000"/>
              </a:schemeClr>
            </a:solidFill>
          </a:ln>
        </p:spPr>
      </p:pic>
      <p:sp>
        <p:nvSpPr>
          <p:cNvPr id="40" name="五边形 39"/>
          <p:cNvSpPr/>
          <p:nvPr/>
        </p:nvSpPr>
        <p:spPr bwMode="gray">
          <a:xfrm>
            <a:off x="5773628" y="98481"/>
            <a:ext cx="9000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smtClean="0">
                <a:latin typeface="Huawei Sans" panose="020C0503030203020204" pitchFamily="34" charset="0"/>
                <a:ea typeface="方正兰亭黑简体" panose="02000000000000000000" pitchFamily="2" charset="-122"/>
                <a:sym typeface="Huawei Sans" panose="020C0503030203020204" pitchFamily="34" charset="0"/>
              </a:rPr>
              <a:t>站点管理</a:t>
            </a:r>
            <a:endPar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1" name="燕尾形 40"/>
          <p:cNvSpPr/>
          <p:nvPr/>
        </p:nvSpPr>
        <p:spPr bwMode="gray">
          <a:xfrm>
            <a:off x="9109268" y="9848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逻辑网络</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3" name="燕尾形 42"/>
          <p:cNvSpPr/>
          <p:nvPr/>
        </p:nvSpPr>
        <p:spPr bwMode="gray">
          <a:xfrm>
            <a:off x="9925178" y="98481"/>
            <a:ext cx="9000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业务部署</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8" name="燕尾形 47"/>
          <p:cNvSpPr/>
          <p:nvPr/>
        </p:nvSpPr>
        <p:spPr bwMode="gray">
          <a:xfrm>
            <a:off x="8221358" y="98481"/>
            <a:ext cx="972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Fabric</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网络</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9" name="燕尾形 48"/>
          <p:cNvSpPr/>
          <p:nvPr/>
        </p:nvSpPr>
        <p:spPr bwMode="gray">
          <a:xfrm>
            <a:off x="7405448" y="9848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网络规划</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0" name="燕尾形 49"/>
          <p:cNvSpPr/>
          <p:nvPr/>
        </p:nvSpPr>
        <p:spPr bwMode="gray">
          <a:xfrm>
            <a:off x="6589538" y="9848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设备管理</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2" name="燕尾形 51"/>
          <p:cNvSpPr/>
          <p:nvPr/>
        </p:nvSpPr>
        <p:spPr bwMode="gray">
          <a:xfrm>
            <a:off x="10741088" y="98481"/>
            <a:ext cx="1008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WLAN</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业务</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2083406103"/>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 name="图片 39"/>
          <p:cNvPicPr/>
          <p:nvPr/>
        </p:nvPicPr>
        <p:blipFill rotWithShape="1">
          <a:blip r:embed="rId3"/>
          <a:srcRect r="50602" b="-54"/>
          <a:stretch/>
        </p:blipFill>
        <p:spPr bwMode="gray">
          <a:xfrm>
            <a:off x="6172076" y="2409733"/>
            <a:ext cx="5345525" cy="3396411"/>
          </a:xfrm>
          <a:prstGeom prst="rect">
            <a:avLst/>
          </a:prstGeom>
          <a:ln w="12700">
            <a:solidFill>
              <a:schemeClr val="bg1">
                <a:lumMod val="85000"/>
              </a:schemeClr>
            </a:solidFill>
          </a:ln>
        </p:spPr>
      </p:pic>
      <p:sp>
        <p:nvSpPr>
          <p:cNvPr id="2" name="标题 1"/>
          <p:cNvSpPr>
            <a:spLocks noGrp="1"/>
          </p:cNvSpPr>
          <p:nvPr>
            <p:ph type="title"/>
          </p:nvPr>
        </p:nvSpPr>
        <p:spPr bwMode="gray"/>
        <p:txBody>
          <a:bodyPr>
            <a:normAutofit/>
          </a:bodyPr>
          <a:lstStyle/>
          <a:p>
            <a:r>
              <a:rPr lang="zh-CN" altLang="en-US" dirty="0" smtClean="0"/>
              <a:t>实验：创建资源组</a:t>
            </a:r>
            <a:endParaRPr lang="zh-CN" altLang="en-US" dirty="0"/>
          </a:p>
        </p:txBody>
      </p:sp>
      <p:sp>
        <p:nvSpPr>
          <p:cNvPr id="9" name="文本占位符 8"/>
          <p:cNvSpPr>
            <a:spLocks noGrp="1"/>
          </p:cNvSpPr>
          <p:nvPr>
            <p:ph type="body" sz="quarter" idx="10"/>
          </p:nvPr>
        </p:nvSpPr>
        <p:spPr bwMode="gray">
          <a:xfrm>
            <a:off x="455612" y="1047750"/>
            <a:ext cx="11293475" cy="1012517"/>
          </a:xfrm>
        </p:spPr>
        <p:txBody>
          <a:bodyPr/>
          <a:lstStyle/>
          <a:p>
            <a:r>
              <a:rPr lang="zh-CN" altLang="en-US" sz="2000" dirty="0" smtClean="0"/>
              <a:t>可以将不同的网络服务类资源分配在不同资源组，通过配置安全组到资源组的访问权限来实现网络服务资源访问的管理。</a:t>
            </a:r>
            <a:endParaRPr lang="en-US" altLang="zh-CN" sz="2000" dirty="0" smtClean="0"/>
          </a:p>
        </p:txBody>
      </p:sp>
      <p:sp>
        <p:nvSpPr>
          <p:cNvPr id="36" name="圆角矩形 35"/>
          <p:cNvSpPr/>
          <p:nvPr/>
        </p:nvSpPr>
        <p:spPr bwMode="gray">
          <a:xfrm>
            <a:off x="455613" y="2737711"/>
            <a:ext cx="5223356" cy="1816453"/>
          </a:xfrm>
          <a:prstGeom prst="roundRect">
            <a:avLst>
              <a:gd name="adj" fmla="val 3166"/>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39" name="梯形 38"/>
          <p:cNvSpPr/>
          <p:nvPr/>
        </p:nvSpPr>
        <p:spPr bwMode="gray">
          <a:xfrm>
            <a:off x="4115338" y="3879264"/>
            <a:ext cx="1439730" cy="501291"/>
          </a:xfrm>
          <a:prstGeom prst="trapezoid">
            <a:avLst>
              <a:gd name="adj" fmla="val 22961"/>
            </a:avLst>
          </a:prstGeom>
          <a:gradFill flip="none" rotWithShape="1">
            <a:gsLst>
              <a:gs pos="0">
                <a:schemeClr val="bg1">
                  <a:alpha val="4000"/>
                </a:schemeClr>
              </a:gs>
              <a:gs pos="100000">
                <a:schemeClr val="accent2">
                  <a:lumMod val="20000"/>
                  <a:lumOff val="80000"/>
                </a:schemeClr>
              </a:gs>
            </a:gsLst>
            <a:lin ang="5400000" scaled="1"/>
            <a:tileRect/>
          </a:gradFill>
          <a:ln>
            <a:gradFill flip="none" rotWithShape="1">
              <a:gsLst>
                <a:gs pos="0">
                  <a:schemeClr val="accent1">
                    <a:lumMod val="5000"/>
                    <a:lumOff val="95000"/>
                    <a:alpha val="0"/>
                  </a:schemeClr>
                </a:gs>
                <a:gs pos="82000">
                  <a:schemeClr val="accent2">
                    <a:lumMod val="60000"/>
                    <a:lumOff val="40000"/>
                  </a:schemeClr>
                </a:gs>
              </a:gsLst>
              <a:lin ang="54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2" name="文本框 41"/>
          <p:cNvSpPr txBox="1"/>
          <p:nvPr/>
        </p:nvSpPr>
        <p:spPr bwMode="gray">
          <a:xfrm>
            <a:off x="4487190" y="4056980"/>
            <a:ext cx="696024" cy="276999"/>
          </a:xfrm>
          <a:prstGeom prst="rect">
            <a:avLst/>
          </a:prstGeom>
          <a:noFill/>
        </p:spPr>
        <p:txBody>
          <a:bodyPr wrap="none" rtlCol="0">
            <a:spAutoFit/>
          </a:bodyPr>
          <a:lstStyle/>
          <a:p>
            <a:pPr algn="ctr"/>
            <a:r>
              <a:rPr lang="en-US" altLang="zh-CN" sz="1200" b="1" dirty="0">
                <a:latin typeface="Huawei Sans" panose="020C0503030203020204" pitchFamily="34" charset="0"/>
                <a:ea typeface="方正兰亭黑简体" panose="02000000000000000000" pitchFamily="2" charset="-122"/>
                <a:cs typeface="Huawei Sans" panose="020C0503030203020204" pitchFamily="34" charset="0"/>
              </a:rPr>
              <a:t>RD</a:t>
            </a:r>
            <a:r>
              <a:rPr lang="en-US" altLang="zh-CN" sz="1200" b="1" dirty="0" smtClean="0">
                <a:latin typeface="Huawei Sans" panose="020C0503030203020204" pitchFamily="34" charset="0"/>
                <a:ea typeface="方正兰亭黑简体" panose="02000000000000000000" pitchFamily="2" charset="-122"/>
                <a:cs typeface="Huawei Sans" panose="020C0503030203020204" pitchFamily="34" charset="0"/>
              </a:rPr>
              <a:t>_VN</a:t>
            </a:r>
          </a:p>
        </p:txBody>
      </p:sp>
      <p:sp>
        <p:nvSpPr>
          <p:cNvPr id="44" name="文本框 43"/>
          <p:cNvSpPr txBox="1"/>
          <p:nvPr/>
        </p:nvSpPr>
        <p:spPr bwMode="gray">
          <a:xfrm>
            <a:off x="485156" y="2770064"/>
            <a:ext cx="708848" cy="307777"/>
          </a:xfrm>
          <a:prstGeom prst="rect">
            <a:avLst/>
          </a:prstGeom>
          <a:noFill/>
        </p:spPr>
        <p:txBody>
          <a:bodyPr wrap="none" rtlCol="0">
            <a:spAutoFit/>
          </a:bodyPr>
          <a:lstStyle/>
          <a:p>
            <a:r>
              <a:rPr lang="en-US" altLang="zh-CN" sz="1400" b="1" dirty="0" smtClean="0">
                <a:latin typeface="Huawei Sans" panose="020C0503030203020204" pitchFamily="34" charset="0"/>
                <a:ea typeface="方正兰亭黑简体" panose="02000000000000000000" pitchFamily="2" charset="-122"/>
                <a:cs typeface="Huawei Sans" panose="020C0503030203020204" pitchFamily="34" charset="0"/>
              </a:rPr>
              <a:t>Fabric</a:t>
            </a:r>
            <a:endParaRPr lang="zh-CN" altLang="en-US" sz="1400" b="1" dirty="0">
              <a:latin typeface="Huawei Sans" panose="020C0503030203020204" pitchFamily="34" charset="0"/>
              <a:ea typeface="方正兰亭黑简体" panose="02000000000000000000" pitchFamily="2" charset="-122"/>
              <a:cs typeface="Huawei Sans" panose="020C0503030203020204" pitchFamily="34" charset="0"/>
            </a:endParaRPr>
          </a:p>
        </p:txBody>
      </p:sp>
      <p:pic>
        <p:nvPicPr>
          <p:cNvPr id="45" name="图片 44" descr="PC.png">
            <a:extLst>
              <a:ext uri="{FF2B5EF4-FFF2-40B4-BE49-F238E27FC236}">
                <a16:creationId xmlns="" xmlns:a16="http://schemas.microsoft.com/office/drawing/2014/main" id="{4666702E-823D-4236-BF2F-880359158C83}"/>
              </a:ext>
            </a:extLst>
          </p:cNvPr>
          <p:cNvPicPr>
            <a:picLocks noChangeAspect="1"/>
          </p:cNvPicPr>
          <p:nvPr/>
        </p:nvPicPr>
        <p:blipFill>
          <a:blip r:embed="rId4" cstate="print"/>
          <a:stretch>
            <a:fillRect/>
          </a:stretch>
        </p:blipFill>
        <p:spPr bwMode="gray">
          <a:xfrm>
            <a:off x="4982016" y="4686378"/>
            <a:ext cx="445506" cy="342149"/>
          </a:xfrm>
          <a:prstGeom prst="rect">
            <a:avLst/>
          </a:prstGeom>
        </p:spPr>
      </p:pic>
      <p:sp>
        <p:nvSpPr>
          <p:cNvPr id="46" name="文本框 45"/>
          <p:cNvSpPr txBox="1"/>
          <p:nvPr/>
        </p:nvSpPr>
        <p:spPr bwMode="gray">
          <a:xfrm>
            <a:off x="4722905" y="5014670"/>
            <a:ext cx="963725" cy="461665"/>
          </a:xfrm>
          <a:prstGeom prst="rect">
            <a:avLst/>
          </a:prstGeom>
          <a:noFill/>
        </p:spPr>
        <p:txBody>
          <a:bodyPr wrap="none" rtlCol="0">
            <a:spAutoFit/>
          </a:bodyPr>
          <a:lstStyle/>
          <a:p>
            <a:pPr algn="ctr"/>
            <a:r>
              <a:rPr lang="en-US" altLang="zh-CN" sz="1200" b="1" dirty="0">
                <a:latin typeface="Huawei Sans" panose="020C0503030203020204" pitchFamily="34" charset="0"/>
                <a:ea typeface="方正兰亭黑简体" panose="02000000000000000000" pitchFamily="2" charset="-122"/>
                <a:cs typeface="Huawei Sans" panose="020C0503030203020204" pitchFamily="34" charset="0"/>
              </a:rPr>
              <a:t>RD</a:t>
            </a:r>
            <a:endParaRPr lang="en-US" altLang="zh-CN" sz="1200" b="1" dirty="0" smtClean="0">
              <a:latin typeface="Huawei Sans" panose="020C0503030203020204" pitchFamily="34" charset="0"/>
              <a:ea typeface="方正兰亭黑简体" panose="02000000000000000000" pitchFamily="2" charset="-122"/>
              <a:cs typeface="Huawei Sans" panose="020C0503030203020204" pitchFamily="34" charset="0"/>
            </a:endParaRPr>
          </a:p>
          <a:p>
            <a:pPr algn="ctr"/>
            <a:r>
              <a:rPr lang="zh-CN" altLang="en-US" sz="1200" dirty="0">
                <a:latin typeface="Huawei Sans" panose="020C0503030203020204" pitchFamily="34" charset="0"/>
                <a:ea typeface="方正兰亭黑简体" panose="02000000000000000000" pitchFamily="2" charset="-122"/>
                <a:cs typeface="Huawei Sans" panose="020C0503030203020204" pitchFamily="34" charset="0"/>
              </a:rPr>
              <a:t>（</a:t>
            </a: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802.1X</a:t>
            </a:r>
            <a:r>
              <a:rPr lang="zh-CN" altLang="en-US" sz="1200" dirty="0" smtClean="0">
                <a:latin typeface="Huawei Sans" panose="020C0503030203020204" pitchFamily="34" charset="0"/>
                <a:ea typeface="方正兰亭黑简体" panose="02000000000000000000" pitchFamily="2" charset="-122"/>
                <a:cs typeface="Huawei Sans" panose="020C0503030203020204" pitchFamily="34" charset="0"/>
              </a:rPr>
              <a:t>）</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47" name="梯形 46"/>
          <p:cNvSpPr/>
          <p:nvPr/>
        </p:nvSpPr>
        <p:spPr bwMode="gray">
          <a:xfrm>
            <a:off x="663378" y="3879264"/>
            <a:ext cx="3138794" cy="501291"/>
          </a:xfrm>
          <a:prstGeom prst="trapezoid">
            <a:avLst>
              <a:gd name="adj" fmla="val 22961"/>
            </a:avLst>
          </a:prstGeom>
          <a:gradFill flip="none" rotWithShape="1">
            <a:gsLst>
              <a:gs pos="0">
                <a:schemeClr val="bg1">
                  <a:alpha val="4000"/>
                </a:schemeClr>
              </a:gs>
              <a:gs pos="100000">
                <a:srgbClr val="EEB3B8"/>
              </a:gs>
            </a:gsLst>
            <a:lin ang="5400000" scaled="1"/>
            <a:tileRect/>
          </a:gradFill>
          <a:ln>
            <a:gradFill flip="none" rotWithShape="1">
              <a:gsLst>
                <a:gs pos="0">
                  <a:schemeClr val="accent1">
                    <a:lumMod val="5000"/>
                    <a:lumOff val="95000"/>
                    <a:alpha val="0"/>
                  </a:schemeClr>
                </a:gs>
                <a:gs pos="82000">
                  <a:srgbClr val="E28189"/>
                </a:gs>
              </a:gsLst>
              <a:lin ang="54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1" name="文本框 50"/>
          <p:cNvSpPr txBox="1"/>
          <p:nvPr/>
        </p:nvSpPr>
        <p:spPr bwMode="gray">
          <a:xfrm>
            <a:off x="1899979" y="4056980"/>
            <a:ext cx="712054" cy="276999"/>
          </a:xfrm>
          <a:prstGeom prst="rect">
            <a:avLst/>
          </a:prstGeom>
          <a:noFill/>
        </p:spPr>
        <p:txBody>
          <a:bodyPr wrap="none" rtlCol="0">
            <a:spAutoFit/>
          </a:bodyPr>
          <a:lstStyle/>
          <a:p>
            <a:pPr algn="ctr"/>
            <a:r>
              <a:rPr lang="en-US" altLang="zh-CN" sz="1200" b="1" dirty="0">
                <a:latin typeface="Huawei Sans" panose="020C0503030203020204" pitchFamily="34" charset="0"/>
                <a:ea typeface="方正兰亭黑简体" panose="02000000000000000000" pitchFamily="2" charset="-122"/>
                <a:cs typeface="Huawei Sans" panose="020C0503030203020204" pitchFamily="34" charset="0"/>
              </a:rPr>
              <a:t>OA</a:t>
            </a:r>
            <a:r>
              <a:rPr lang="en-US" altLang="zh-CN" sz="1200" b="1" dirty="0" smtClean="0">
                <a:latin typeface="Huawei Sans" panose="020C0503030203020204" pitchFamily="34" charset="0"/>
                <a:ea typeface="方正兰亭黑简体" panose="02000000000000000000" pitchFamily="2" charset="-122"/>
                <a:cs typeface="Huawei Sans" panose="020C0503030203020204" pitchFamily="34" charset="0"/>
              </a:rPr>
              <a:t>_VN</a:t>
            </a:r>
          </a:p>
        </p:txBody>
      </p:sp>
      <p:pic>
        <p:nvPicPr>
          <p:cNvPr id="55" name="图片 54" descr="PC.png">
            <a:extLst>
              <a:ext uri="{FF2B5EF4-FFF2-40B4-BE49-F238E27FC236}">
                <a16:creationId xmlns="" xmlns:a16="http://schemas.microsoft.com/office/drawing/2014/main" id="{4666702E-823D-4236-BF2F-880359158C83}"/>
              </a:ext>
            </a:extLst>
          </p:cNvPr>
          <p:cNvPicPr>
            <a:picLocks noChangeAspect="1"/>
          </p:cNvPicPr>
          <p:nvPr/>
        </p:nvPicPr>
        <p:blipFill>
          <a:blip r:embed="rId4" cstate="print"/>
          <a:stretch>
            <a:fillRect/>
          </a:stretch>
        </p:blipFill>
        <p:spPr bwMode="gray">
          <a:xfrm>
            <a:off x="748498" y="4686378"/>
            <a:ext cx="445506" cy="342149"/>
          </a:xfrm>
          <a:prstGeom prst="rect">
            <a:avLst/>
          </a:prstGeom>
        </p:spPr>
      </p:pic>
      <p:sp>
        <p:nvSpPr>
          <p:cNvPr id="70" name="文本框 69"/>
          <p:cNvSpPr txBox="1"/>
          <p:nvPr/>
        </p:nvSpPr>
        <p:spPr bwMode="gray">
          <a:xfrm>
            <a:off x="489391" y="5014670"/>
            <a:ext cx="963725" cy="646331"/>
          </a:xfrm>
          <a:prstGeom prst="rect">
            <a:avLst/>
          </a:prstGeom>
          <a:noFill/>
        </p:spPr>
        <p:txBody>
          <a:bodyPr wrap="none" rtlCol="0">
            <a:spAutoFit/>
          </a:bodyPr>
          <a:lstStyle/>
          <a:p>
            <a:pPr algn="ctr"/>
            <a:r>
              <a:rPr lang="en-US" altLang="zh-CN" sz="1200" b="1" dirty="0">
                <a:latin typeface="Huawei Sans" panose="020C0503030203020204" pitchFamily="34" charset="0"/>
                <a:ea typeface="方正兰亭黑简体" panose="02000000000000000000" pitchFamily="2" charset="-122"/>
                <a:cs typeface="Huawei Sans" panose="020C0503030203020204" pitchFamily="34" charset="0"/>
              </a:rPr>
              <a:t>Sales</a:t>
            </a:r>
            <a:r>
              <a:rPr lang="en-US" altLang="zh-CN" sz="1200" b="1" dirty="0" smtClean="0">
                <a:latin typeface="Huawei Sans" panose="020C0503030203020204" pitchFamily="34" charset="0"/>
                <a:ea typeface="方正兰亭黑简体" panose="02000000000000000000" pitchFamily="2" charset="-122"/>
                <a:cs typeface="Huawei Sans" panose="020C0503030203020204" pitchFamily="34" charset="0"/>
              </a:rPr>
              <a:t>_</a:t>
            </a:r>
          </a:p>
          <a:p>
            <a:pPr algn="ctr"/>
            <a:r>
              <a:rPr lang="en-US" altLang="zh-CN" sz="1200" b="1" dirty="0" smtClean="0">
                <a:latin typeface="Huawei Sans" panose="020C0503030203020204" pitchFamily="34" charset="0"/>
                <a:ea typeface="方正兰亭黑简体" panose="02000000000000000000" pitchFamily="2" charset="-122"/>
                <a:cs typeface="Huawei Sans" panose="020C0503030203020204" pitchFamily="34" charset="0"/>
              </a:rPr>
              <a:t>Wired</a:t>
            </a:r>
          </a:p>
          <a:p>
            <a:pPr algn="ctr"/>
            <a:r>
              <a:rPr lang="zh-CN" altLang="en-US" sz="1200" dirty="0" smtClean="0">
                <a:latin typeface="Huawei Sans" panose="020C0503030203020204" pitchFamily="34" charset="0"/>
                <a:ea typeface="方正兰亭黑简体" panose="02000000000000000000" pitchFamily="2" charset="-122"/>
                <a:cs typeface="Huawei Sans" panose="020C0503030203020204" pitchFamily="34" charset="0"/>
              </a:rPr>
              <a:t>（</a:t>
            </a:r>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802.1X</a:t>
            </a:r>
            <a:r>
              <a:rPr lang="zh-CN" altLang="en-US" sz="1200" dirty="0" smtClean="0">
                <a:latin typeface="Huawei Sans" panose="020C0503030203020204" pitchFamily="34" charset="0"/>
                <a:ea typeface="方正兰亭黑简体" panose="02000000000000000000" pitchFamily="2" charset="-122"/>
                <a:cs typeface="Huawei Sans" panose="020C0503030203020204" pitchFamily="34" charset="0"/>
              </a:rPr>
              <a:t>）</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pic>
        <p:nvPicPr>
          <p:cNvPr id="74" name="图片 14" descr="日志告警服务器-蓝.png"/>
          <p:cNvPicPr>
            <a:picLocks noChangeAspect="1"/>
          </p:cNvPicPr>
          <p:nvPr/>
        </p:nvPicPr>
        <p:blipFill>
          <a:blip r:embed="rId5" cstate="print"/>
          <a:stretch>
            <a:fillRect/>
          </a:stretch>
        </p:blipFill>
        <p:spPr bwMode="gray">
          <a:xfrm>
            <a:off x="1806652" y="4724005"/>
            <a:ext cx="445956" cy="278465"/>
          </a:xfrm>
          <a:prstGeom prst="rect">
            <a:avLst/>
          </a:prstGeom>
        </p:spPr>
      </p:pic>
      <p:sp>
        <p:nvSpPr>
          <p:cNvPr id="75" name="文本框 74"/>
          <p:cNvSpPr txBox="1"/>
          <p:nvPr/>
        </p:nvSpPr>
        <p:spPr bwMode="gray">
          <a:xfrm>
            <a:off x="1573940" y="5014670"/>
            <a:ext cx="909224" cy="646331"/>
          </a:xfrm>
          <a:prstGeom prst="rect">
            <a:avLst/>
          </a:prstGeom>
          <a:noFill/>
        </p:spPr>
        <p:txBody>
          <a:bodyPr wrap="none" rtlCol="0">
            <a:spAutoFit/>
          </a:bodyPr>
          <a:lstStyle/>
          <a:p>
            <a:pPr algn="ctr"/>
            <a:r>
              <a:rPr lang="en-US" altLang="zh-CN" sz="1200" b="1" dirty="0">
                <a:latin typeface="Huawei Sans" panose="020C0503030203020204" pitchFamily="34" charset="0"/>
                <a:ea typeface="方正兰亭黑简体" panose="02000000000000000000" pitchFamily="2" charset="-122"/>
                <a:cs typeface="Huawei Sans" panose="020C0503030203020204" pitchFamily="34" charset="0"/>
              </a:rPr>
              <a:t>Sales</a:t>
            </a:r>
            <a:r>
              <a:rPr lang="en-US" altLang="zh-CN" sz="1200" b="1" dirty="0" smtClean="0">
                <a:latin typeface="Huawei Sans" panose="020C0503030203020204" pitchFamily="34" charset="0"/>
                <a:ea typeface="方正兰亭黑简体" panose="02000000000000000000" pitchFamily="2" charset="-122"/>
                <a:cs typeface="Huawei Sans" panose="020C0503030203020204" pitchFamily="34" charset="0"/>
              </a:rPr>
              <a:t>_</a:t>
            </a:r>
          </a:p>
          <a:p>
            <a:pPr algn="ctr"/>
            <a:r>
              <a:rPr lang="en-US" altLang="zh-CN" sz="1200" b="1" dirty="0" smtClean="0">
                <a:latin typeface="Huawei Sans" panose="020C0503030203020204" pitchFamily="34" charset="0"/>
                <a:ea typeface="方正兰亭黑简体" panose="02000000000000000000" pitchFamily="2" charset="-122"/>
                <a:cs typeface="Huawei Sans" panose="020C0503030203020204" pitchFamily="34" charset="0"/>
              </a:rPr>
              <a:t>Wireless</a:t>
            </a:r>
          </a:p>
          <a:p>
            <a:pPr algn="ctr"/>
            <a:r>
              <a:rPr lang="zh-CN" altLang="en-US" sz="1200" dirty="0" smtClean="0">
                <a:latin typeface="Huawei Sans" panose="020C0503030203020204" pitchFamily="34" charset="0"/>
                <a:ea typeface="方正兰亭黑简体" panose="02000000000000000000" pitchFamily="2" charset="-122"/>
                <a:cs typeface="Huawei Sans" panose="020C0503030203020204" pitchFamily="34" charset="0"/>
              </a:rPr>
              <a:t>（</a:t>
            </a:r>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Portal</a:t>
            </a:r>
            <a:r>
              <a:rPr lang="zh-CN" altLang="en-US" sz="1200" dirty="0">
                <a:latin typeface="Huawei Sans" panose="020C0503030203020204" pitchFamily="34" charset="0"/>
                <a:ea typeface="方正兰亭黑简体" panose="02000000000000000000" pitchFamily="2" charset="-122"/>
                <a:cs typeface="Huawei Sans" panose="020C0503030203020204" pitchFamily="34" charset="0"/>
              </a:rPr>
              <a:t>）</a:t>
            </a:r>
          </a:p>
        </p:txBody>
      </p:sp>
      <p:sp>
        <p:nvSpPr>
          <p:cNvPr id="76" name="椭圆 75"/>
          <p:cNvSpPr/>
          <p:nvPr/>
        </p:nvSpPr>
        <p:spPr bwMode="gray">
          <a:xfrm>
            <a:off x="746427" y="3425350"/>
            <a:ext cx="612000" cy="612000"/>
          </a:xfrm>
          <a:prstGeom prst="ellipse">
            <a:avLst/>
          </a:prstGeom>
          <a:solidFill>
            <a:schemeClr val="accent5">
              <a:lumMod val="20000"/>
              <a:lumOff val="80000"/>
            </a:schemeClr>
          </a:solid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77" name="文本框 76"/>
          <p:cNvSpPr txBox="1"/>
          <p:nvPr/>
        </p:nvSpPr>
        <p:spPr bwMode="gray">
          <a:xfrm>
            <a:off x="748498" y="3506813"/>
            <a:ext cx="618630" cy="461665"/>
          </a:xfrm>
          <a:prstGeom prst="rect">
            <a:avLst/>
          </a:prstGeom>
          <a:noFill/>
        </p:spPr>
        <p:txBody>
          <a:bodyPr wrap="square" rtlCol="0">
            <a:spAutoFit/>
          </a:bodyPr>
          <a:lstStyle/>
          <a:p>
            <a:pPr algn="ctr"/>
            <a:r>
              <a:rPr lang="en-US" altLang="zh-CN" sz="1200" dirty="0" err="1">
                <a:latin typeface="Huawei Sans" panose="020C0503030203020204" pitchFamily="34" charset="0"/>
                <a:ea typeface="方正兰亭黑简体" panose="02000000000000000000" pitchFamily="2" charset="-122"/>
                <a:cs typeface="Huawei Sans" panose="020C0503030203020204" pitchFamily="34" charset="0"/>
              </a:rPr>
              <a:t>Sales_Wired</a:t>
            </a:r>
            <a:endParaRPr lang="en-US" altLang="zh-CN" sz="12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78" name="椭圆 77"/>
          <p:cNvSpPr/>
          <p:nvPr/>
        </p:nvSpPr>
        <p:spPr bwMode="gray">
          <a:xfrm>
            <a:off x="4493856" y="3425350"/>
            <a:ext cx="612000" cy="612000"/>
          </a:xfrm>
          <a:prstGeom prst="ellipse">
            <a:avLst/>
          </a:prstGeom>
          <a:solidFill>
            <a:schemeClr val="accent5">
              <a:lumMod val="20000"/>
              <a:lumOff val="80000"/>
            </a:schemeClr>
          </a:solid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79" name="文本框 78"/>
          <p:cNvSpPr txBox="1"/>
          <p:nvPr/>
        </p:nvSpPr>
        <p:spPr bwMode="gray">
          <a:xfrm>
            <a:off x="4604130" y="3604971"/>
            <a:ext cx="391453" cy="276999"/>
          </a:xfrm>
          <a:prstGeom prst="rect">
            <a:avLst/>
          </a:prstGeom>
          <a:noFill/>
        </p:spPr>
        <p:txBody>
          <a:bodyPr wrap="none" rtlCol="0">
            <a:spAutoFit/>
          </a:bodyPr>
          <a:lstStyle/>
          <a:p>
            <a:pPr algn="ctr"/>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RD</a:t>
            </a:r>
          </a:p>
        </p:txBody>
      </p:sp>
      <p:sp>
        <p:nvSpPr>
          <p:cNvPr id="81" name="任意多边形 80"/>
          <p:cNvSpPr/>
          <p:nvPr/>
        </p:nvSpPr>
        <p:spPr bwMode="gray">
          <a:xfrm>
            <a:off x="2686015" y="4107939"/>
            <a:ext cx="390809" cy="527688"/>
          </a:xfrm>
          <a:custGeom>
            <a:avLst/>
            <a:gdLst>
              <a:gd name="connsiteX0" fmla="*/ 390809 w 390809"/>
              <a:gd name="connsiteY0" fmla="*/ 712381 h 712381"/>
              <a:gd name="connsiteX1" fmla="*/ 50567 w 390809"/>
              <a:gd name="connsiteY1" fmla="*/ 340242 h 712381"/>
              <a:gd name="connsiteX2" fmla="*/ 8037 w 390809"/>
              <a:gd name="connsiteY2" fmla="*/ 0 h 712381"/>
            </a:gdLst>
            <a:ahLst/>
            <a:cxnLst>
              <a:cxn ang="0">
                <a:pos x="connsiteX0" y="connsiteY0"/>
              </a:cxn>
              <a:cxn ang="0">
                <a:pos x="connsiteX1" y="connsiteY1"/>
              </a:cxn>
              <a:cxn ang="0">
                <a:pos x="connsiteX2" y="connsiteY2"/>
              </a:cxn>
            </a:cxnLst>
            <a:rect l="l" t="t" r="r" b="b"/>
            <a:pathLst>
              <a:path w="390809" h="712381">
                <a:moveTo>
                  <a:pt x="390809" y="712381"/>
                </a:moveTo>
                <a:cubicBezTo>
                  <a:pt x="252585" y="585676"/>
                  <a:pt x="114362" y="458972"/>
                  <a:pt x="50567" y="340242"/>
                </a:cubicBezTo>
                <a:cubicBezTo>
                  <a:pt x="-13228" y="221512"/>
                  <a:pt x="-2596" y="110756"/>
                  <a:pt x="8037" y="0"/>
                </a:cubicBezTo>
              </a:path>
            </a:pathLst>
          </a:custGeom>
          <a:noFill/>
          <a:ln w="28575">
            <a:solidFill>
              <a:srgbClr val="C00000"/>
            </a:solidFill>
            <a:prstDash val="dash"/>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p>
        </p:txBody>
      </p:sp>
      <p:sp>
        <p:nvSpPr>
          <p:cNvPr id="82" name="任意多边形 81"/>
          <p:cNvSpPr/>
          <p:nvPr/>
        </p:nvSpPr>
        <p:spPr bwMode="gray">
          <a:xfrm rot="19515453">
            <a:off x="5164225" y="3994076"/>
            <a:ext cx="255685" cy="649727"/>
          </a:xfrm>
          <a:custGeom>
            <a:avLst/>
            <a:gdLst>
              <a:gd name="connsiteX0" fmla="*/ 0 w 255685"/>
              <a:gd name="connsiteY0" fmla="*/ 797442 h 797442"/>
              <a:gd name="connsiteX1" fmla="*/ 244549 w 255685"/>
              <a:gd name="connsiteY1" fmla="*/ 382772 h 797442"/>
              <a:gd name="connsiteX2" fmla="*/ 191386 w 255685"/>
              <a:gd name="connsiteY2" fmla="*/ 0 h 797442"/>
            </a:gdLst>
            <a:ahLst/>
            <a:cxnLst>
              <a:cxn ang="0">
                <a:pos x="connsiteX0" y="connsiteY0"/>
              </a:cxn>
              <a:cxn ang="0">
                <a:pos x="connsiteX1" y="connsiteY1"/>
              </a:cxn>
              <a:cxn ang="0">
                <a:pos x="connsiteX2" y="connsiteY2"/>
              </a:cxn>
            </a:cxnLst>
            <a:rect l="l" t="t" r="r" b="b"/>
            <a:pathLst>
              <a:path w="255685" h="797442">
                <a:moveTo>
                  <a:pt x="0" y="797442"/>
                </a:moveTo>
                <a:cubicBezTo>
                  <a:pt x="106325" y="656560"/>
                  <a:pt x="212651" y="515679"/>
                  <a:pt x="244549" y="382772"/>
                </a:cubicBezTo>
                <a:cubicBezTo>
                  <a:pt x="276447" y="249865"/>
                  <a:pt x="233916" y="124932"/>
                  <a:pt x="191386" y="0"/>
                </a:cubicBezTo>
              </a:path>
            </a:pathLst>
          </a:custGeom>
          <a:noFill/>
          <a:ln w="28575">
            <a:solidFill>
              <a:srgbClr val="00B050"/>
            </a:solidFill>
            <a:prstDash val="dash"/>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p>
        </p:txBody>
      </p:sp>
      <p:sp>
        <p:nvSpPr>
          <p:cNvPr id="83" name="椭圆 82"/>
          <p:cNvSpPr/>
          <p:nvPr/>
        </p:nvSpPr>
        <p:spPr bwMode="gray">
          <a:xfrm>
            <a:off x="1542293" y="3425350"/>
            <a:ext cx="612000" cy="612000"/>
          </a:xfrm>
          <a:prstGeom prst="ellipse">
            <a:avLst/>
          </a:prstGeom>
          <a:solidFill>
            <a:schemeClr val="accent5">
              <a:lumMod val="20000"/>
              <a:lumOff val="80000"/>
            </a:schemeClr>
          </a:solid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84" name="文本框 83"/>
          <p:cNvSpPr txBox="1"/>
          <p:nvPr/>
        </p:nvSpPr>
        <p:spPr bwMode="gray">
          <a:xfrm>
            <a:off x="1453527" y="3506813"/>
            <a:ext cx="785094" cy="461665"/>
          </a:xfrm>
          <a:prstGeom prst="rect">
            <a:avLst/>
          </a:prstGeom>
          <a:noFill/>
        </p:spPr>
        <p:txBody>
          <a:bodyPr wrap="square" rtlCol="0">
            <a:spAutoFit/>
          </a:bodyPr>
          <a:lstStyle/>
          <a:p>
            <a:pPr algn="ctr"/>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Sales_</a:t>
            </a:r>
          </a:p>
          <a:p>
            <a:pPr algn="ctr"/>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Wireless</a:t>
            </a:r>
            <a:endParaRPr lang="en-US" altLang="zh-CN" sz="12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85" name="椭圆 84"/>
          <p:cNvSpPr/>
          <p:nvPr/>
        </p:nvSpPr>
        <p:spPr bwMode="gray">
          <a:xfrm>
            <a:off x="2320750" y="3425350"/>
            <a:ext cx="612000" cy="612000"/>
          </a:xfrm>
          <a:prstGeom prst="ellipse">
            <a:avLst/>
          </a:prstGeom>
          <a:solidFill>
            <a:schemeClr val="accent5">
              <a:lumMod val="20000"/>
              <a:lumOff val="80000"/>
            </a:schemeClr>
          </a:solid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86" name="文本框 85"/>
          <p:cNvSpPr txBox="1"/>
          <p:nvPr/>
        </p:nvSpPr>
        <p:spPr bwMode="gray">
          <a:xfrm>
            <a:off x="2231984" y="3506813"/>
            <a:ext cx="785094" cy="461665"/>
          </a:xfrm>
          <a:prstGeom prst="rect">
            <a:avLst/>
          </a:prstGeom>
          <a:noFill/>
        </p:spPr>
        <p:txBody>
          <a:bodyPr wrap="square" rtlCol="0">
            <a:spAutoFit/>
          </a:bodyPr>
          <a:lstStyle/>
          <a:p>
            <a:pPr algn="ctr"/>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Market_</a:t>
            </a:r>
          </a:p>
          <a:p>
            <a:pPr algn="ct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Wired</a:t>
            </a:r>
          </a:p>
        </p:txBody>
      </p:sp>
      <p:sp>
        <p:nvSpPr>
          <p:cNvPr id="87" name="椭圆 86"/>
          <p:cNvSpPr/>
          <p:nvPr/>
        </p:nvSpPr>
        <p:spPr bwMode="gray">
          <a:xfrm>
            <a:off x="3105844" y="3425350"/>
            <a:ext cx="612000" cy="612000"/>
          </a:xfrm>
          <a:prstGeom prst="ellipse">
            <a:avLst/>
          </a:prstGeom>
          <a:solidFill>
            <a:schemeClr val="accent5">
              <a:lumMod val="20000"/>
              <a:lumOff val="80000"/>
            </a:schemeClr>
          </a:solid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88" name="文本框 87"/>
          <p:cNvSpPr txBox="1"/>
          <p:nvPr/>
        </p:nvSpPr>
        <p:spPr bwMode="gray">
          <a:xfrm>
            <a:off x="3017078" y="3506813"/>
            <a:ext cx="785094" cy="461665"/>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Market</a:t>
            </a:r>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_</a:t>
            </a:r>
          </a:p>
          <a:p>
            <a:pPr algn="ctr"/>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Wireless</a:t>
            </a:r>
            <a:endParaRPr lang="en-US" altLang="zh-CN" sz="1200" dirty="0">
              <a:latin typeface="Huawei Sans" panose="020C0503030203020204" pitchFamily="34" charset="0"/>
              <a:ea typeface="方正兰亭黑简体" panose="02000000000000000000" pitchFamily="2" charset="-122"/>
              <a:cs typeface="Huawei Sans" panose="020C0503030203020204" pitchFamily="34" charset="0"/>
            </a:endParaRPr>
          </a:p>
        </p:txBody>
      </p:sp>
      <p:pic>
        <p:nvPicPr>
          <p:cNvPr id="89" name="图片 88" descr="PC.png">
            <a:extLst>
              <a:ext uri="{FF2B5EF4-FFF2-40B4-BE49-F238E27FC236}">
                <a16:creationId xmlns="" xmlns:a16="http://schemas.microsoft.com/office/drawing/2014/main" id="{4666702E-823D-4236-BF2F-880359158C83}"/>
              </a:ext>
            </a:extLst>
          </p:cNvPr>
          <p:cNvPicPr>
            <a:picLocks noChangeAspect="1"/>
          </p:cNvPicPr>
          <p:nvPr/>
        </p:nvPicPr>
        <p:blipFill>
          <a:blip r:embed="rId4" cstate="print"/>
          <a:stretch>
            <a:fillRect/>
          </a:stretch>
        </p:blipFill>
        <p:spPr bwMode="gray">
          <a:xfrm>
            <a:off x="2865256" y="4686378"/>
            <a:ext cx="445506" cy="342149"/>
          </a:xfrm>
          <a:prstGeom prst="rect">
            <a:avLst/>
          </a:prstGeom>
        </p:spPr>
      </p:pic>
      <p:sp>
        <p:nvSpPr>
          <p:cNvPr id="90" name="文本框 89"/>
          <p:cNvSpPr txBox="1"/>
          <p:nvPr/>
        </p:nvSpPr>
        <p:spPr bwMode="gray">
          <a:xfrm>
            <a:off x="2606147" y="5014670"/>
            <a:ext cx="963725" cy="646331"/>
          </a:xfrm>
          <a:prstGeom prst="rect">
            <a:avLst/>
          </a:prstGeom>
          <a:noFill/>
        </p:spPr>
        <p:txBody>
          <a:bodyPr wrap="none" rtlCol="0">
            <a:spAutoFit/>
          </a:bodyPr>
          <a:lstStyle/>
          <a:p>
            <a:pPr algn="ctr"/>
            <a:r>
              <a:rPr lang="en-US" altLang="zh-CN" sz="1200" b="1" dirty="0">
                <a:latin typeface="Huawei Sans" panose="020C0503030203020204" pitchFamily="34" charset="0"/>
                <a:ea typeface="方正兰亭黑简体" panose="02000000000000000000" pitchFamily="2" charset="-122"/>
                <a:cs typeface="Huawei Sans" panose="020C0503030203020204" pitchFamily="34" charset="0"/>
              </a:rPr>
              <a:t>Market</a:t>
            </a:r>
            <a:r>
              <a:rPr lang="en-US" altLang="zh-CN" sz="1200" b="1" dirty="0" smtClean="0">
                <a:latin typeface="Huawei Sans" panose="020C0503030203020204" pitchFamily="34" charset="0"/>
                <a:ea typeface="方正兰亭黑简体" panose="02000000000000000000" pitchFamily="2" charset="-122"/>
                <a:cs typeface="Huawei Sans" panose="020C0503030203020204" pitchFamily="34" charset="0"/>
              </a:rPr>
              <a:t>_</a:t>
            </a:r>
          </a:p>
          <a:p>
            <a:pPr algn="ctr"/>
            <a:r>
              <a:rPr lang="en-US" altLang="zh-CN" sz="1200" b="1" dirty="0" smtClean="0">
                <a:latin typeface="Huawei Sans" panose="020C0503030203020204" pitchFamily="34" charset="0"/>
                <a:ea typeface="方正兰亭黑简体" panose="02000000000000000000" pitchFamily="2" charset="-122"/>
                <a:cs typeface="Huawei Sans" panose="020C0503030203020204" pitchFamily="34" charset="0"/>
              </a:rPr>
              <a:t>Wired</a:t>
            </a:r>
          </a:p>
          <a:p>
            <a:pPr algn="ctr"/>
            <a:r>
              <a:rPr lang="zh-CN" altLang="en-US" sz="1200" dirty="0">
                <a:latin typeface="Huawei Sans" panose="020C0503030203020204" pitchFamily="34" charset="0"/>
                <a:ea typeface="方正兰亭黑简体" panose="02000000000000000000" pitchFamily="2" charset="-122"/>
                <a:cs typeface="Huawei Sans" panose="020C0503030203020204" pitchFamily="34" charset="0"/>
              </a:rPr>
              <a:t>（</a:t>
            </a: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802.1X</a:t>
            </a:r>
            <a:r>
              <a:rPr lang="zh-CN" altLang="en-US" sz="1200" dirty="0">
                <a:latin typeface="Huawei Sans" panose="020C0503030203020204" pitchFamily="34" charset="0"/>
                <a:ea typeface="方正兰亭黑简体" panose="02000000000000000000" pitchFamily="2" charset="-122"/>
                <a:cs typeface="Huawei Sans" panose="020C0503030203020204" pitchFamily="34" charset="0"/>
              </a:rPr>
              <a:t>）</a:t>
            </a:r>
          </a:p>
        </p:txBody>
      </p:sp>
      <p:pic>
        <p:nvPicPr>
          <p:cNvPr id="91" name="图片 14" descr="日志告警服务器-蓝.png"/>
          <p:cNvPicPr>
            <a:picLocks noChangeAspect="1"/>
          </p:cNvPicPr>
          <p:nvPr/>
        </p:nvPicPr>
        <p:blipFill>
          <a:blip r:embed="rId5" cstate="print"/>
          <a:stretch>
            <a:fillRect/>
          </a:stretch>
        </p:blipFill>
        <p:spPr bwMode="gray">
          <a:xfrm>
            <a:off x="3999806" y="4724005"/>
            <a:ext cx="445956" cy="278465"/>
          </a:xfrm>
          <a:prstGeom prst="rect">
            <a:avLst/>
          </a:prstGeom>
        </p:spPr>
      </p:pic>
      <p:sp>
        <p:nvSpPr>
          <p:cNvPr id="92" name="文本框 91"/>
          <p:cNvSpPr txBox="1"/>
          <p:nvPr/>
        </p:nvSpPr>
        <p:spPr bwMode="gray">
          <a:xfrm>
            <a:off x="3780585" y="5014670"/>
            <a:ext cx="909223" cy="646331"/>
          </a:xfrm>
          <a:prstGeom prst="rect">
            <a:avLst/>
          </a:prstGeom>
          <a:noFill/>
        </p:spPr>
        <p:txBody>
          <a:bodyPr wrap="none" rtlCol="0">
            <a:spAutoFit/>
          </a:bodyPr>
          <a:lstStyle/>
          <a:p>
            <a:pPr algn="ctr"/>
            <a:r>
              <a:rPr lang="en-US" altLang="zh-CN" sz="1200" b="1" dirty="0">
                <a:latin typeface="Huawei Sans" panose="020C0503030203020204" pitchFamily="34" charset="0"/>
                <a:ea typeface="方正兰亭黑简体" panose="02000000000000000000" pitchFamily="2" charset="-122"/>
                <a:cs typeface="Huawei Sans" panose="020C0503030203020204" pitchFamily="34" charset="0"/>
              </a:rPr>
              <a:t>Market</a:t>
            </a:r>
            <a:r>
              <a:rPr lang="en-US" altLang="zh-CN" sz="1200" b="1" dirty="0" smtClean="0">
                <a:latin typeface="Huawei Sans" panose="020C0503030203020204" pitchFamily="34" charset="0"/>
                <a:ea typeface="方正兰亭黑简体" panose="02000000000000000000" pitchFamily="2" charset="-122"/>
                <a:cs typeface="Huawei Sans" panose="020C0503030203020204" pitchFamily="34" charset="0"/>
              </a:rPr>
              <a:t>_</a:t>
            </a:r>
          </a:p>
          <a:p>
            <a:pPr algn="ctr"/>
            <a:r>
              <a:rPr lang="en-US" altLang="zh-CN" sz="1200" b="1" dirty="0" smtClean="0">
                <a:latin typeface="Huawei Sans" panose="020C0503030203020204" pitchFamily="34" charset="0"/>
                <a:ea typeface="方正兰亭黑简体" panose="02000000000000000000" pitchFamily="2" charset="-122"/>
                <a:cs typeface="Huawei Sans" panose="020C0503030203020204" pitchFamily="34" charset="0"/>
              </a:rPr>
              <a:t>Wireless</a:t>
            </a:r>
          </a:p>
          <a:p>
            <a:pPr algn="ctr"/>
            <a:r>
              <a:rPr lang="zh-CN" altLang="en-US" sz="1200" dirty="0">
                <a:latin typeface="Huawei Sans" panose="020C0503030203020204" pitchFamily="34" charset="0"/>
                <a:ea typeface="方正兰亭黑简体" panose="02000000000000000000" pitchFamily="2" charset="-122"/>
                <a:cs typeface="Huawei Sans" panose="020C0503030203020204" pitchFamily="34" charset="0"/>
              </a:rPr>
              <a:t>（</a:t>
            </a: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Portal</a:t>
            </a:r>
            <a:r>
              <a:rPr lang="zh-CN" altLang="en-US" sz="1200" dirty="0">
                <a:latin typeface="Huawei Sans" panose="020C0503030203020204" pitchFamily="34" charset="0"/>
                <a:ea typeface="方正兰亭黑简体" panose="02000000000000000000" pitchFamily="2" charset="-122"/>
                <a:cs typeface="Huawei Sans" panose="020C0503030203020204" pitchFamily="34" charset="0"/>
              </a:rPr>
              <a:t>）</a:t>
            </a:r>
          </a:p>
        </p:txBody>
      </p:sp>
      <p:sp>
        <p:nvSpPr>
          <p:cNvPr id="41" name="椭圆 40"/>
          <p:cNvSpPr/>
          <p:nvPr/>
        </p:nvSpPr>
        <p:spPr bwMode="gray">
          <a:xfrm>
            <a:off x="1946608" y="2052690"/>
            <a:ext cx="612000" cy="612000"/>
          </a:xfrm>
          <a:prstGeom prst="ellipse">
            <a:avLst/>
          </a:prstGeom>
          <a:solidFill>
            <a:srgbClr val="E5F2DE"/>
          </a:solidFill>
          <a:ln>
            <a:solidFill>
              <a:srgbClr val="81C15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43" name="文本框 42"/>
          <p:cNvSpPr txBox="1"/>
          <p:nvPr/>
        </p:nvSpPr>
        <p:spPr bwMode="gray">
          <a:xfrm>
            <a:off x="1917420" y="2219142"/>
            <a:ext cx="670376" cy="276999"/>
          </a:xfrm>
          <a:prstGeom prst="rect">
            <a:avLst/>
          </a:prstGeom>
          <a:noFill/>
        </p:spPr>
        <p:txBody>
          <a:bodyPr wrap="none" rtlCol="0">
            <a:spAutoFit/>
          </a:bodyPr>
          <a:lstStyle/>
          <a:p>
            <a:pPr algn="ctr"/>
            <a:r>
              <a:rPr lang="en-US" altLang="zh-CN" sz="1200" b="1" dirty="0" err="1" smtClean="0">
                <a:solidFill>
                  <a:srgbClr val="62B230"/>
                </a:solidFill>
                <a:latin typeface="Huawei Sans" panose="020C0503030203020204" pitchFamily="34" charset="0"/>
                <a:ea typeface="方正兰亭黑简体" panose="02000000000000000000" pitchFamily="2" charset="-122"/>
                <a:cs typeface="Huawei Sans" panose="020C0503030203020204" pitchFamily="34" charset="0"/>
              </a:rPr>
              <a:t>E_mail</a:t>
            </a:r>
            <a:endParaRPr lang="zh-CN" altLang="en-US" sz="1200" b="1" dirty="0">
              <a:solidFill>
                <a:srgbClr val="62B230"/>
              </a:solidFill>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48" name="五边形 47"/>
          <p:cNvSpPr/>
          <p:nvPr/>
        </p:nvSpPr>
        <p:spPr bwMode="gray">
          <a:xfrm>
            <a:off x="5773628" y="98481"/>
            <a:ext cx="9000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smtClean="0">
                <a:latin typeface="Huawei Sans" panose="020C0503030203020204" pitchFamily="34" charset="0"/>
                <a:ea typeface="方正兰亭黑简体" panose="02000000000000000000" pitchFamily="2" charset="-122"/>
                <a:sym typeface="Huawei Sans" panose="020C0503030203020204" pitchFamily="34" charset="0"/>
              </a:rPr>
              <a:t>站点管理</a:t>
            </a:r>
            <a:endPar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9" name="燕尾形 48"/>
          <p:cNvSpPr/>
          <p:nvPr/>
        </p:nvSpPr>
        <p:spPr bwMode="gray">
          <a:xfrm>
            <a:off x="9109268" y="9848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逻辑网络</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0" name="燕尾形 49"/>
          <p:cNvSpPr/>
          <p:nvPr/>
        </p:nvSpPr>
        <p:spPr bwMode="gray">
          <a:xfrm>
            <a:off x="9925178" y="98481"/>
            <a:ext cx="9000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业务部署</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2" name="燕尾形 51"/>
          <p:cNvSpPr/>
          <p:nvPr/>
        </p:nvSpPr>
        <p:spPr bwMode="gray">
          <a:xfrm>
            <a:off x="8221358" y="98481"/>
            <a:ext cx="972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Fabric</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网络</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3" name="燕尾形 52"/>
          <p:cNvSpPr/>
          <p:nvPr/>
        </p:nvSpPr>
        <p:spPr bwMode="gray">
          <a:xfrm>
            <a:off x="7405448" y="9848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网络规划</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4" name="燕尾形 53"/>
          <p:cNvSpPr/>
          <p:nvPr/>
        </p:nvSpPr>
        <p:spPr bwMode="gray">
          <a:xfrm>
            <a:off x="6589538" y="9848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设备管理</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6" name="燕尾形 55"/>
          <p:cNvSpPr/>
          <p:nvPr/>
        </p:nvSpPr>
        <p:spPr bwMode="gray">
          <a:xfrm>
            <a:off x="10741088" y="98481"/>
            <a:ext cx="1008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WLAN</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业务</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4254524903"/>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6" name="图片 105"/>
          <p:cNvPicPr/>
          <p:nvPr/>
        </p:nvPicPr>
        <p:blipFill rotWithShape="1">
          <a:blip r:embed="rId3"/>
          <a:srcRect r="1357" b="31559"/>
          <a:stretch/>
        </p:blipFill>
        <p:spPr bwMode="gray">
          <a:xfrm>
            <a:off x="5916421" y="2588112"/>
            <a:ext cx="5795358" cy="2963259"/>
          </a:xfrm>
          <a:prstGeom prst="rect">
            <a:avLst/>
          </a:prstGeom>
          <a:ln w="12700">
            <a:solidFill>
              <a:schemeClr val="bg1">
                <a:lumMod val="85000"/>
              </a:schemeClr>
            </a:solidFill>
          </a:ln>
        </p:spPr>
      </p:pic>
      <p:sp>
        <p:nvSpPr>
          <p:cNvPr id="2" name="标题 1"/>
          <p:cNvSpPr>
            <a:spLocks noGrp="1"/>
          </p:cNvSpPr>
          <p:nvPr>
            <p:ph type="title"/>
          </p:nvPr>
        </p:nvSpPr>
        <p:spPr bwMode="gray"/>
        <p:txBody>
          <a:bodyPr/>
          <a:lstStyle/>
          <a:p>
            <a:r>
              <a:rPr lang="zh-CN" altLang="en-US" dirty="0" smtClean="0"/>
              <a:t>实验：创建策略控制矩阵 </a:t>
            </a:r>
            <a:r>
              <a:rPr lang="en-US" altLang="zh-CN" dirty="0" smtClean="0"/>
              <a:t>(1)</a:t>
            </a:r>
            <a:endParaRPr lang="zh-CN" altLang="en-US" dirty="0"/>
          </a:p>
        </p:txBody>
      </p:sp>
      <p:sp>
        <p:nvSpPr>
          <p:cNvPr id="3" name="文本占位符 2"/>
          <p:cNvSpPr>
            <a:spLocks noGrp="1"/>
          </p:cNvSpPr>
          <p:nvPr>
            <p:ph type="body" sz="quarter" idx="10"/>
          </p:nvPr>
        </p:nvSpPr>
        <p:spPr bwMode="gray">
          <a:xfrm>
            <a:off x="455612" y="1047750"/>
            <a:ext cx="11293475" cy="573339"/>
          </a:xfrm>
        </p:spPr>
        <p:txBody>
          <a:bodyPr/>
          <a:lstStyle/>
          <a:p>
            <a:r>
              <a:rPr lang="zh-CN" altLang="en-US" sz="2000" dirty="0" smtClean="0"/>
              <a:t>管理员可以基于安全组来定义全网的权限策略，组间权限策略主要控制组到组之间的访问权限。</a:t>
            </a:r>
            <a:endParaRPr lang="zh-CN" altLang="en-US" sz="2000" dirty="0"/>
          </a:p>
        </p:txBody>
      </p:sp>
      <p:sp>
        <p:nvSpPr>
          <p:cNvPr id="45" name="TextBox 179"/>
          <p:cNvSpPr txBox="1"/>
          <p:nvPr/>
        </p:nvSpPr>
        <p:spPr bwMode="gray">
          <a:xfrm>
            <a:off x="9381534" y="2144927"/>
            <a:ext cx="2331040" cy="304686"/>
          </a:xfrm>
          <a:prstGeom prst="roundRect">
            <a:avLst>
              <a:gd name="adj" fmla="val 12806"/>
            </a:avLst>
          </a:prstGeom>
          <a:solidFill>
            <a:srgbClr val="30B5C5"/>
          </a:solidFill>
          <a:ln>
            <a:noFill/>
          </a:ln>
        </p:spPr>
        <p:txBody>
          <a:bodyPr wrap="square" lIns="72000" tIns="72000" rIns="72000" bIns="72000" anchor="ctr" anchorCtr="0">
            <a:noAutofit/>
          </a:bodyPr>
          <a:lstStyle>
            <a:defPPr>
              <a:defRPr lang="en-US"/>
            </a:defPPr>
            <a:lvl1pPr algn="ctr" defTabSz="914478">
              <a:defRPr sz="1200">
                <a:solidFill>
                  <a:schemeClr val="bg1"/>
                </a:solidFill>
              </a:defRPr>
            </a:lvl1pPr>
            <a:lvl2pPr marL="457240" defTabSz="914478"/>
            <a:lvl3pPr marL="914478" defTabSz="914478"/>
            <a:lvl4pPr marL="1371718" defTabSz="914478"/>
            <a:lvl5pPr marL="1828957" defTabSz="914478"/>
            <a:lvl6pPr marL="2286196" defTabSz="914478"/>
            <a:lvl7pPr marL="2743435" defTabSz="914478"/>
            <a:lvl8pPr marL="3200675" defTabSz="914478"/>
            <a:lvl9pPr marL="3657913" defTabSz="914478"/>
          </a:lstStyle>
          <a:p>
            <a:r>
              <a:rPr lang="zh-CN" altLang="en-US" dirty="0" smtClean="0"/>
              <a:t>选择业务随行的策略执行点设备。</a:t>
            </a:r>
            <a:endParaRPr lang="zh-CN" altLang="en-US" dirty="0"/>
          </a:p>
        </p:txBody>
      </p:sp>
      <p:cxnSp>
        <p:nvCxnSpPr>
          <p:cNvPr id="46" name="直接箭头连接符 45"/>
          <p:cNvCxnSpPr/>
          <p:nvPr/>
        </p:nvCxnSpPr>
        <p:spPr bwMode="gray">
          <a:xfrm flipH="1">
            <a:off x="9138915" y="2405581"/>
            <a:ext cx="275641" cy="276999"/>
          </a:xfrm>
          <a:prstGeom prst="straightConnector1">
            <a:avLst/>
          </a:prstGeom>
          <a:ln w="38100">
            <a:solidFill>
              <a:srgbClr val="30B5C5"/>
            </a:solidFill>
            <a:tailEnd type="triangle"/>
          </a:ln>
        </p:spPr>
        <p:style>
          <a:lnRef idx="1">
            <a:schemeClr val="accent1"/>
          </a:lnRef>
          <a:fillRef idx="0">
            <a:schemeClr val="accent1"/>
          </a:fillRef>
          <a:effectRef idx="0">
            <a:schemeClr val="accent1"/>
          </a:effectRef>
          <a:fontRef idx="minor">
            <a:schemeClr val="tx1"/>
          </a:fontRef>
        </p:style>
      </p:cxnSp>
      <p:sp>
        <p:nvSpPr>
          <p:cNvPr id="108" name="圆角矩形 107"/>
          <p:cNvSpPr/>
          <p:nvPr/>
        </p:nvSpPr>
        <p:spPr bwMode="gray">
          <a:xfrm>
            <a:off x="878704" y="2548727"/>
            <a:ext cx="3990111" cy="3120679"/>
          </a:xfrm>
          <a:prstGeom prst="roundRect">
            <a:avLst>
              <a:gd name="adj" fmla="val 3166"/>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109" name="Freeform 159"/>
          <p:cNvSpPr/>
          <p:nvPr/>
        </p:nvSpPr>
        <p:spPr bwMode="gray">
          <a:xfrm flipH="1">
            <a:off x="1379861" y="2811720"/>
            <a:ext cx="2670047" cy="1528484"/>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rgbClr val="E3F6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Huawei Sans" panose="020C0503030203020204" pitchFamily="34" charset="0"/>
              <a:ea typeface="方正兰亭黑简体" panose="02000000000000000000" pitchFamily="2" charset="-122"/>
            </a:endParaRPr>
          </a:p>
        </p:txBody>
      </p:sp>
      <p:cxnSp>
        <p:nvCxnSpPr>
          <p:cNvPr id="110" name="Straight Connector 166"/>
          <p:cNvCxnSpPr>
            <a:stCxn id="126" idx="2"/>
            <a:endCxn id="112" idx="0"/>
          </p:cNvCxnSpPr>
          <p:nvPr/>
        </p:nvCxnSpPr>
        <p:spPr bwMode="gray">
          <a:xfrm>
            <a:off x="1731493" y="4166130"/>
            <a:ext cx="0" cy="40327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1" name="Straight Connector 166"/>
          <p:cNvCxnSpPr>
            <a:stCxn id="127" idx="2"/>
            <a:endCxn id="113" idx="0"/>
          </p:cNvCxnSpPr>
          <p:nvPr/>
        </p:nvCxnSpPr>
        <p:spPr bwMode="gray">
          <a:xfrm>
            <a:off x="3662294" y="4166130"/>
            <a:ext cx="0" cy="40327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112" name="图片 76" descr="接入交换机.png"/>
          <p:cNvPicPr>
            <a:picLocks noChangeAspect="1"/>
          </p:cNvPicPr>
          <p:nvPr/>
        </p:nvPicPr>
        <p:blipFill>
          <a:blip r:embed="rId4" cstate="print"/>
          <a:stretch>
            <a:fillRect/>
          </a:stretch>
        </p:blipFill>
        <p:spPr bwMode="gray">
          <a:xfrm>
            <a:off x="1508352" y="4569407"/>
            <a:ext cx="446281" cy="365139"/>
          </a:xfrm>
          <a:prstGeom prst="rect">
            <a:avLst/>
          </a:prstGeom>
        </p:spPr>
      </p:pic>
      <p:pic>
        <p:nvPicPr>
          <p:cNvPr id="113" name="图片 112" descr="接入交换机.png"/>
          <p:cNvPicPr>
            <a:picLocks noChangeAspect="1"/>
          </p:cNvPicPr>
          <p:nvPr/>
        </p:nvPicPr>
        <p:blipFill>
          <a:blip r:embed="rId4" cstate="print"/>
          <a:stretch>
            <a:fillRect/>
          </a:stretch>
        </p:blipFill>
        <p:spPr bwMode="gray">
          <a:xfrm>
            <a:off x="3439153" y="4569407"/>
            <a:ext cx="446281" cy="365139"/>
          </a:xfrm>
          <a:prstGeom prst="rect">
            <a:avLst/>
          </a:prstGeom>
        </p:spPr>
      </p:pic>
      <p:sp>
        <p:nvSpPr>
          <p:cNvPr id="114" name="文本框 113"/>
          <p:cNvSpPr txBox="1"/>
          <p:nvPr/>
        </p:nvSpPr>
        <p:spPr bwMode="gray">
          <a:xfrm>
            <a:off x="893888" y="2723362"/>
            <a:ext cx="468398" cy="307777"/>
          </a:xfrm>
          <a:prstGeom prst="rect">
            <a:avLst/>
          </a:prstGeom>
          <a:noFill/>
        </p:spPr>
        <p:txBody>
          <a:bodyPr wrap="none" rtlCol="0">
            <a:spAutoFit/>
          </a:bodyPr>
          <a:lstStyle/>
          <a:p>
            <a:r>
              <a:rPr lang="en-US" altLang="zh-CN" sz="1400" b="1" dirty="0" smtClean="0">
                <a:latin typeface="Huawei Sans" panose="020C0503030203020204" pitchFamily="34" charset="0"/>
                <a:ea typeface="方正兰亭黑简体" panose="02000000000000000000" pitchFamily="2" charset="-122"/>
                <a:cs typeface="Huawei Sans" panose="020C0503030203020204" pitchFamily="34" charset="0"/>
              </a:rPr>
              <a:t>HQ</a:t>
            </a:r>
            <a:endParaRPr lang="zh-CN" altLang="en-US" sz="1400" b="1" dirty="0">
              <a:latin typeface="Huawei Sans" panose="020C0503030203020204" pitchFamily="34" charset="0"/>
              <a:ea typeface="方正兰亭黑简体" panose="02000000000000000000" pitchFamily="2" charset="-122"/>
              <a:cs typeface="Huawei Sans" panose="020C0503030203020204" pitchFamily="34" charset="0"/>
            </a:endParaRPr>
          </a:p>
        </p:txBody>
      </p:sp>
      <p:pic>
        <p:nvPicPr>
          <p:cNvPr id="115" name="图片 105" descr="AP.png"/>
          <p:cNvPicPr>
            <a:picLocks noChangeAspect="1"/>
          </p:cNvPicPr>
          <p:nvPr/>
        </p:nvPicPr>
        <p:blipFill>
          <a:blip r:embed="rId5" cstate="print"/>
          <a:stretch>
            <a:fillRect/>
          </a:stretch>
        </p:blipFill>
        <p:spPr bwMode="gray">
          <a:xfrm>
            <a:off x="4345712" y="4601092"/>
            <a:ext cx="368827" cy="301768"/>
          </a:xfrm>
          <a:prstGeom prst="rect">
            <a:avLst/>
          </a:prstGeom>
        </p:spPr>
      </p:pic>
      <p:cxnSp>
        <p:nvCxnSpPr>
          <p:cNvPr id="116" name="Straight Connector 166"/>
          <p:cNvCxnSpPr>
            <a:stCxn id="113" idx="3"/>
            <a:endCxn id="115" idx="1"/>
          </p:cNvCxnSpPr>
          <p:nvPr/>
        </p:nvCxnSpPr>
        <p:spPr bwMode="gray">
          <a:xfrm flipV="1">
            <a:off x="3885434" y="4751976"/>
            <a:ext cx="460278" cy="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117" name="图片 14" descr="日志告警服务器-蓝.png"/>
          <p:cNvPicPr>
            <a:picLocks noChangeAspect="1"/>
          </p:cNvPicPr>
          <p:nvPr/>
        </p:nvPicPr>
        <p:blipFill>
          <a:blip r:embed="rId6" cstate="print"/>
          <a:stretch>
            <a:fillRect/>
          </a:stretch>
        </p:blipFill>
        <p:spPr bwMode="gray">
          <a:xfrm>
            <a:off x="4300639" y="5112943"/>
            <a:ext cx="445956" cy="278465"/>
          </a:xfrm>
          <a:prstGeom prst="rect">
            <a:avLst/>
          </a:prstGeom>
        </p:spPr>
      </p:pic>
      <p:pic>
        <p:nvPicPr>
          <p:cNvPr id="118" name="图片 117" descr="PC.png">
            <a:extLst>
              <a:ext uri="{FF2B5EF4-FFF2-40B4-BE49-F238E27FC236}">
                <a16:creationId xmlns="" xmlns:a16="http://schemas.microsoft.com/office/drawing/2014/main" id="{4666702E-823D-4236-BF2F-880359158C83}"/>
              </a:ext>
            </a:extLst>
          </p:cNvPr>
          <p:cNvPicPr>
            <a:picLocks noChangeAspect="1"/>
          </p:cNvPicPr>
          <p:nvPr/>
        </p:nvPicPr>
        <p:blipFill>
          <a:blip r:embed="rId7" cstate="print"/>
          <a:stretch>
            <a:fillRect/>
          </a:stretch>
        </p:blipFill>
        <p:spPr bwMode="gray">
          <a:xfrm>
            <a:off x="1508739" y="5084666"/>
            <a:ext cx="445506" cy="342149"/>
          </a:xfrm>
          <a:prstGeom prst="rect">
            <a:avLst/>
          </a:prstGeom>
        </p:spPr>
      </p:pic>
      <p:pic>
        <p:nvPicPr>
          <p:cNvPr id="119" name="图片 118" descr="PC.png">
            <a:extLst>
              <a:ext uri="{FF2B5EF4-FFF2-40B4-BE49-F238E27FC236}">
                <a16:creationId xmlns="" xmlns:a16="http://schemas.microsoft.com/office/drawing/2014/main" id="{4666702E-823D-4236-BF2F-880359158C83}"/>
              </a:ext>
            </a:extLst>
          </p:cNvPr>
          <p:cNvPicPr>
            <a:picLocks noChangeAspect="1"/>
          </p:cNvPicPr>
          <p:nvPr/>
        </p:nvPicPr>
        <p:blipFill>
          <a:blip r:embed="rId7" cstate="print"/>
          <a:stretch>
            <a:fillRect/>
          </a:stretch>
        </p:blipFill>
        <p:spPr bwMode="gray">
          <a:xfrm>
            <a:off x="3439540" y="5084333"/>
            <a:ext cx="445506" cy="342149"/>
          </a:xfrm>
          <a:prstGeom prst="rect">
            <a:avLst/>
          </a:prstGeom>
        </p:spPr>
      </p:pic>
      <p:cxnSp>
        <p:nvCxnSpPr>
          <p:cNvPr id="120" name="Straight Connector 167"/>
          <p:cNvCxnSpPr/>
          <p:nvPr/>
        </p:nvCxnSpPr>
        <p:spPr bwMode="gray">
          <a:xfrm flipH="1">
            <a:off x="1732203" y="3106898"/>
            <a:ext cx="971589" cy="876201"/>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121" name="Straight Connector 167"/>
          <p:cNvCxnSpPr/>
          <p:nvPr/>
        </p:nvCxnSpPr>
        <p:spPr bwMode="gray">
          <a:xfrm flipH="1" flipV="1">
            <a:off x="2700413" y="3104421"/>
            <a:ext cx="975076" cy="883934"/>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pic>
        <p:nvPicPr>
          <p:cNvPr id="122" name="图片 86" descr="核心交换机.png"/>
          <p:cNvPicPr>
            <a:picLocks noChangeAspect="1"/>
          </p:cNvPicPr>
          <p:nvPr/>
        </p:nvPicPr>
        <p:blipFill>
          <a:blip r:embed="rId8" cstate="print"/>
          <a:stretch>
            <a:fillRect/>
          </a:stretch>
        </p:blipFill>
        <p:spPr bwMode="gray">
          <a:xfrm>
            <a:off x="2488045" y="2924329"/>
            <a:ext cx="446281" cy="365139"/>
          </a:xfrm>
          <a:prstGeom prst="rect">
            <a:avLst/>
          </a:prstGeom>
        </p:spPr>
      </p:pic>
      <p:sp>
        <p:nvSpPr>
          <p:cNvPr id="123" name="文本框 122"/>
          <p:cNvSpPr txBox="1"/>
          <p:nvPr/>
        </p:nvSpPr>
        <p:spPr bwMode="gray">
          <a:xfrm>
            <a:off x="1890738" y="2950284"/>
            <a:ext cx="651140" cy="276999"/>
          </a:xfrm>
          <a:prstGeom prst="rect">
            <a:avLst/>
          </a:prstGeom>
          <a:noFill/>
        </p:spPr>
        <p:txBody>
          <a:bodyPr wrap="none" rtlCol="0">
            <a:spAutoFit/>
          </a:bodyPr>
          <a:lstStyle/>
          <a:p>
            <a:pPr algn="ctr"/>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Border</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124" name="文本框 123"/>
          <p:cNvSpPr txBox="1"/>
          <p:nvPr/>
        </p:nvSpPr>
        <p:spPr bwMode="gray">
          <a:xfrm>
            <a:off x="895398" y="4015818"/>
            <a:ext cx="684803" cy="276999"/>
          </a:xfrm>
          <a:prstGeom prst="rect">
            <a:avLst/>
          </a:prstGeom>
          <a:noFill/>
        </p:spPr>
        <p:txBody>
          <a:bodyPr wrap="none" rtlCol="0">
            <a:spAutoFit/>
          </a:bodyPr>
          <a:lstStyle/>
          <a:p>
            <a:pPr algn="r"/>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Edge_1</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125" name="文本框 124"/>
          <p:cNvSpPr txBox="1"/>
          <p:nvPr/>
        </p:nvSpPr>
        <p:spPr bwMode="gray">
          <a:xfrm>
            <a:off x="948297" y="4605357"/>
            <a:ext cx="631904" cy="276999"/>
          </a:xfrm>
          <a:prstGeom prst="rect">
            <a:avLst/>
          </a:prstGeom>
          <a:noFill/>
        </p:spPr>
        <p:txBody>
          <a:bodyPr wrap="none" rtlCol="0">
            <a:spAutoFit/>
          </a:bodyPr>
          <a:lstStyle/>
          <a:p>
            <a:pPr algn="r"/>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ACC_1</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pic>
        <p:nvPicPr>
          <p:cNvPr id="126" name="图片 87" descr="汇聚交换机.png"/>
          <p:cNvPicPr>
            <a:picLocks noChangeAspect="1"/>
          </p:cNvPicPr>
          <p:nvPr/>
        </p:nvPicPr>
        <p:blipFill>
          <a:blip r:embed="rId9" cstate="print"/>
          <a:stretch>
            <a:fillRect/>
          </a:stretch>
        </p:blipFill>
        <p:spPr bwMode="gray">
          <a:xfrm>
            <a:off x="1508352" y="3800991"/>
            <a:ext cx="446281" cy="365139"/>
          </a:xfrm>
          <a:prstGeom prst="rect">
            <a:avLst/>
          </a:prstGeom>
        </p:spPr>
      </p:pic>
      <p:pic>
        <p:nvPicPr>
          <p:cNvPr id="127" name="图片 87" descr="汇聚交换机.png"/>
          <p:cNvPicPr>
            <a:picLocks noChangeAspect="1"/>
          </p:cNvPicPr>
          <p:nvPr/>
        </p:nvPicPr>
        <p:blipFill>
          <a:blip r:embed="rId9" cstate="print"/>
          <a:stretch>
            <a:fillRect/>
          </a:stretch>
        </p:blipFill>
        <p:spPr bwMode="gray">
          <a:xfrm>
            <a:off x="3439153" y="3800991"/>
            <a:ext cx="446281" cy="365139"/>
          </a:xfrm>
          <a:prstGeom prst="rect">
            <a:avLst/>
          </a:prstGeom>
        </p:spPr>
      </p:pic>
      <p:sp>
        <p:nvSpPr>
          <p:cNvPr id="128" name="文本框 127"/>
          <p:cNvSpPr txBox="1"/>
          <p:nvPr/>
        </p:nvSpPr>
        <p:spPr bwMode="gray">
          <a:xfrm>
            <a:off x="3842963" y="4015818"/>
            <a:ext cx="684803" cy="276999"/>
          </a:xfrm>
          <a:prstGeom prst="rect">
            <a:avLst/>
          </a:prstGeom>
          <a:noFill/>
        </p:spPr>
        <p:txBody>
          <a:bodyPr wrap="none" rtlCol="0">
            <a:spAutoFit/>
          </a:bodyPr>
          <a:lstStyle/>
          <a:p>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Edge_2</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129" name="文本框 128"/>
          <p:cNvSpPr txBox="1"/>
          <p:nvPr/>
        </p:nvSpPr>
        <p:spPr bwMode="gray">
          <a:xfrm>
            <a:off x="4293426" y="4358871"/>
            <a:ext cx="460382" cy="276999"/>
          </a:xfrm>
          <a:prstGeom prst="rect">
            <a:avLst/>
          </a:prstGeom>
          <a:noFill/>
        </p:spPr>
        <p:txBody>
          <a:bodyPr wrap="none" rtlCol="0">
            <a:spAutoFit/>
          </a:bodyPr>
          <a:lstStyle/>
          <a:p>
            <a:pPr algn="ctr"/>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AP1</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130" name="文本框 129"/>
          <p:cNvSpPr txBox="1"/>
          <p:nvPr/>
        </p:nvSpPr>
        <p:spPr bwMode="gray">
          <a:xfrm>
            <a:off x="1504507" y="5392407"/>
            <a:ext cx="453970" cy="276999"/>
          </a:xfrm>
          <a:prstGeom prst="rect">
            <a:avLst/>
          </a:prstGeom>
          <a:noFill/>
        </p:spPr>
        <p:txBody>
          <a:bodyPr wrap="none" rtlCol="0">
            <a:spAutoFit/>
          </a:bodyPr>
          <a:lstStyle/>
          <a:p>
            <a:pPr algn="ctr"/>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PC1</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131" name="文本框 130"/>
          <p:cNvSpPr txBox="1"/>
          <p:nvPr/>
        </p:nvSpPr>
        <p:spPr bwMode="gray">
          <a:xfrm>
            <a:off x="3435308" y="5392407"/>
            <a:ext cx="453970" cy="276999"/>
          </a:xfrm>
          <a:prstGeom prst="rect">
            <a:avLst/>
          </a:prstGeom>
          <a:noFill/>
        </p:spPr>
        <p:txBody>
          <a:bodyPr wrap="none" rtlCol="0">
            <a:spAutoFit/>
          </a:bodyPr>
          <a:lstStyle/>
          <a:p>
            <a:pPr algn="ctr"/>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PC2</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cxnSp>
        <p:nvCxnSpPr>
          <p:cNvPr id="132" name="Straight Connector 166"/>
          <p:cNvCxnSpPr>
            <a:stCxn id="112" idx="2"/>
            <a:endCxn id="118" idx="0"/>
          </p:cNvCxnSpPr>
          <p:nvPr/>
        </p:nvCxnSpPr>
        <p:spPr bwMode="gray">
          <a:xfrm flipH="1">
            <a:off x="1731492" y="4934546"/>
            <a:ext cx="1" cy="15012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3" name="Straight Connector 166"/>
          <p:cNvCxnSpPr>
            <a:stCxn id="113" idx="2"/>
            <a:endCxn id="119" idx="0"/>
          </p:cNvCxnSpPr>
          <p:nvPr/>
        </p:nvCxnSpPr>
        <p:spPr bwMode="gray">
          <a:xfrm flipH="1">
            <a:off x="3662293" y="4934546"/>
            <a:ext cx="1" cy="14978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34" name="文本框 133"/>
          <p:cNvSpPr txBox="1"/>
          <p:nvPr/>
        </p:nvSpPr>
        <p:spPr bwMode="gray">
          <a:xfrm>
            <a:off x="4303140" y="5392407"/>
            <a:ext cx="453970" cy="276999"/>
          </a:xfrm>
          <a:prstGeom prst="rect">
            <a:avLst/>
          </a:prstGeom>
          <a:noFill/>
        </p:spPr>
        <p:txBody>
          <a:bodyPr wrap="none" rtlCol="0">
            <a:spAutoFit/>
          </a:bodyPr>
          <a:lstStyle/>
          <a:p>
            <a:pPr algn="ctr"/>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PC3</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135" name="文本框 134"/>
          <p:cNvSpPr txBox="1"/>
          <p:nvPr/>
        </p:nvSpPr>
        <p:spPr bwMode="gray">
          <a:xfrm>
            <a:off x="2834929" y="4605357"/>
            <a:ext cx="631904" cy="276999"/>
          </a:xfrm>
          <a:prstGeom prst="rect">
            <a:avLst/>
          </a:prstGeom>
          <a:noFill/>
        </p:spPr>
        <p:txBody>
          <a:bodyPr wrap="none" rtlCol="0">
            <a:spAutoFit/>
          </a:bodyPr>
          <a:lstStyle/>
          <a:p>
            <a:pPr algn="r"/>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ACC_2</a:t>
            </a:r>
          </a:p>
        </p:txBody>
      </p:sp>
      <p:grpSp>
        <p:nvGrpSpPr>
          <p:cNvPr id="140" name="组合 758"/>
          <p:cNvGrpSpPr/>
          <p:nvPr/>
        </p:nvGrpSpPr>
        <p:grpSpPr bwMode="gray">
          <a:xfrm flipV="1">
            <a:off x="4439160" y="4922631"/>
            <a:ext cx="168914" cy="131950"/>
            <a:chOff x="7440613" y="4868863"/>
            <a:chExt cx="1019175" cy="828675"/>
          </a:xfrm>
          <a:solidFill>
            <a:schemeClr val="bg1">
              <a:lumMod val="50000"/>
            </a:schemeClr>
          </a:solidFill>
        </p:grpSpPr>
        <p:sp>
          <p:nvSpPr>
            <p:cNvPr id="141" name="Freeform 15"/>
            <p:cNvSpPr>
              <a:spLocks/>
            </p:cNvSpPr>
            <p:nvPr/>
          </p:nvSpPr>
          <p:spPr bwMode="gray">
            <a:xfrm>
              <a:off x="7832726" y="5462588"/>
              <a:ext cx="234950" cy="234950"/>
            </a:xfrm>
            <a:custGeom>
              <a:avLst/>
              <a:gdLst/>
              <a:ahLst/>
              <a:cxnLst>
                <a:cxn ang="0">
                  <a:pos x="3281" y="680"/>
                </a:cxn>
                <a:cxn ang="0">
                  <a:pos x="3439" y="907"/>
                </a:cxn>
                <a:cxn ang="0">
                  <a:pos x="3559" y="1151"/>
                </a:cxn>
                <a:cxn ang="0">
                  <a:pos x="3642" y="1406"/>
                </a:cxn>
                <a:cxn ang="0">
                  <a:pos x="3686" y="1670"/>
                </a:cxn>
                <a:cxn ang="0">
                  <a:pos x="3693" y="1936"/>
                </a:cxn>
                <a:cxn ang="0">
                  <a:pos x="3661" y="2201"/>
                </a:cxn>
                <a:cxn ang="0">
                  <a:pos x="3591" y="2460"/>
                </a:cxn>
                <a:cxn ang="0">
                  <a:pos x="3484" y="2708"/>
                </a:cxn>
                <a:cxn ang="0">
                  <a:pos x="3339" y="2941"/>
                </a:cxn>
                <a:cxn ang="0">
                  <a:pos x="3155" y="3155"/>
                </a:cxn>
                <a:cxn ang="0">
                  <a:pos x="2941" y="3339"/>
                </a:cxn>
                <a:cxn ang="0">
                  <a:pos x="2708" y="3484"/>
                </a:cxn>
                <a:cxn ang="0">
                  <a:pos x="2460" y="3592"/>
                </a:cxn>
                <a:cxn ang="0">
                  <a:pos x="2201" y="3661"/>
                </a:cxn>
                <a:cxn ang="0">
                  <a:pos x="1936" y="3693"/>
                </a:cxn>
                <a:cxn ang="0">
                  <a:pos x="1670" y="3687"/>
                </a:cxn>
                <a:cxn ang="0">
                  <a:pos x="1408" y="3643"/>
                </a:cxn>
                <a:cxn ang="0">
                  <a:pos x="1152" y="3561"/>
                </a:cxn>
                <a:cxn ang="0">
                  <a:pos x="908" y="3440"/>
                </a:cxn>
                <a:cxn ang="0">
                  <a:pos x="680" y="3282"/>
                </a:cxn>
                <a:cxn ang="0">
                  <a:pos x="475" y="3086"/>
                </a:cxn>
                <a:cxn ang="0">
                  <a:pos x="304" y="2866"/>
                </a:cxn>
                <a:cxn ang="0">
                  <a:pos x="172" y="2627"/>
                </a:cxn>
                <a:cxn ang="0">
                  <a:pos x="76" y="2374"/>
                </a:cxn>
                <a:cxn ang="0">
                  <a:pos x="19" y="2114"/>
                </a:cxn>
                <a:cxn ang="0">
                  <a:pos x="0" y="1848"/>
                </a:cxn>
                <a:cxn ang="0">
                  <a:pos x="19" y="1582"/>
                </a:cxn>
                <a:cxn ang="0">
                  <a:pos x="76" y="1321"/>
                </a:cxn>
                <a:cxn ang="0">
                  <a:pos x="171" y="1069"/>
                </a:cxn>
                <a:cxn ang="0">
                  <a:pos x="304" y="830"/>
                </a:cxn>
                <a:cxn ang="0">
                  <a:pos x="475" y="609"/>
                </a:cxn>
                <a:cxn ang="0">
                  <a:pos x="680" y="414"/>
                </a:cxn>
                <a:cxn ang="0">
                  <a:pos x="907" y="255"/>
                </a:cxn>
                <a:cxn ang="0">
                  <a:pos x="1151" y="135"/>
                </a:cxn>
                <a:cxn ang="0">
                  <a:pos x="1407" y="52"/>
                </a:cxn>
                <a:cxn ang="0">
                  <a:pos x="1669" y="8"/>
                </a:cxn>
                <a:cxn ang="0">
                  <a:pos x="1936" y="2"/>
                </a:cxn>
                <a:cxn ang="0">
                  <a:pos x="2201" y="33"/>
                </a:cxn>
                <a:cxn ang="0">
                  <a:pos x="2459" y="104"/>
                </a:cxn>
                <a:cxn ang="0">
                  <a:pos x="2708" y="211"/>
                </a:cxn>
                <a:cxn ang="0">
                  <a:pos x="2940" y="356"/>
                </a:cxn>
                <a:cxn ang="0">
                  <a:pos x="3154" y="539"/>
                </a:cxn>
              </a:cxnLst>
              <a:rect l="0" t="0" r="r" b="b"/>
              <a:pathLst>
                <a:path w="3695" h="3695">
                  <a:moveTo>
                    <a:pt x="3154" y="539"/>
                  </a:moveTo>
                  <a:lnTo>
                    <a:pt x="3220" y="608"/>
                  </a:lnTo>
                  <a:lnTo>
                    <a:pt x="3281" y="680"/>
                  </a:lnTo>
                  <a:lnTo>
                    <a:pt x="3338" y="754"/>
                  </a:lnTo>
                  <a:lnTo>
                    <a:pt x="3391" y="829"/>
                  </a:lnTo>
                  <a:lnTo>
                    <a:pt x="3439" y="907"/>
                  </a:lnTo>
                  <a:lnTo>
                    <a:pt x="3483" y="987"/>
                  </a:lnTo>
                  <a:lnTo>
                    <a:pt x="3523" y="1068"/>
                  </a:lnTo>
                  <a:lnTo>
                    <a:pt x="3559" y="1151"/>
                  </a:lnTo>
                  <a:lnTo>
                    <a:pt x="3591" y="1235"/>
                  </a:lnTo>
                  <a:lnTo>
                    <a:pt x="3619" y="1320"/>
                  </a:lnTo>
                  <a:lnTo>
                    <a:pt x="3642" y="1406"/>
                  </a:lnTo>
                  <a:lnTo>
                    <a:pt x="3661" y="1493"/>
                  </a:lnTo>
                  <a:lnTo>
                    <a:pt x="3676" y="1582"/>
                  </a:lnTo>
                  <a:lnTo>
                    <a:pt x="3686" y="1670"/>
                  </a:lnTo>
                  <a:lnTo>
                    <a:pt x="3693" y="1758"/>
                  </a:lnTo>
                  <a:lnTo>
                    <a:pt x="3695" y="1847"/>
                  </a:lnTo>
                  <a:lnTo>
                    <a:pt x="3693" y="1936"/>
                  </a:lnTo>
                  <a:lnTo>
                    <a:pt x="3686" y="2024"/>
                  </a:lnTo>
                  <a:lnTo>
                    <a:pt x="3676" y="2113"/>
                  </a:lnTo>
                  <a:lnTo>
                    <a:pt x="3661" y="2201"/>
                  </a:lnTo>
                  <a:lnTo>
                    <a:pt x="3642" y="2288"/>
                  </a:lnTo>
                  <a:lnTo>
                    <a:pt x="3619" y="2374"/>
                  </a:lnTo>
                  <a:lnTo>
                    <a:pt x="3591" y="2460"/>
                  </a:lnTo>
                  <a:lnTo>
                    <a:pt x="3559" y="2544"/>
                  </a:lnTo>
                  <a:lnTo>
                    <a:pt x="3524" y="2626"/>
                  </a:lnTo>
                  <a:lnTo>
                    <a:pt x="3484" y="2708"/>
                  </a:lnTo>
                  <a:lnTo>
                    <a:pt x="3439" y="2788"/>
                  </a:lnTo>
                  <a:lnTo>
                    <a:pt x="3391" y="2865"/>
                  </a:lnTo>
                  <a:lnTo>
                    <a:pt x="3339" y="2941"/>
                  </a:lnTo>
                  <a:lnTo>
                    <a:pt x="3281" y="3015"/>
                  </a:lnTo>
                  <a:lnTo>
                    <a:pt x="3220" y="3086"/>
                  </a:lnTo>
                  <a:lnTo>
                    <a:pt x="3155" y="3155"/>
                  </a:lnTo>
                  <a:lnTo>
                    <a:pt x="3086" y="3220"/>
                  </a:lnTo>
                  <a:lnTo>
                    <a:pt x="3015" y="3282"/>
                  </a:lnTo>
                  <a:lnTo>
                    <a:pt x="2941" y="3339"/>
                  </a:lnTo>
                  <a:lnTo>
                    <a:pt x="2865" y="3391"/>
                  </a:lnTo>
                  <a:lnTo>
                    <a:pt x="2788" y="3440"/>
                  </a:lnTo>
                  <a:lnTo>
                    <a:pt x="2708" y="3484"/>
                  </a:lnTo>
                  <a:lnTo>
                    <a:pt x="2626" y="3524"/>
                  </a:lnTo>
                  <a:lnTo>
                    <a:pt x="2544" y="3560"/>
                  </a:lnTo>
                  <a:lnTo>
                    <a:pt x="2460" y="3592"/>
                  </a:lnTo>
                  <a:lnTo>
                    <a:pt x="2375" y="3619"/>
                  </a:lnTo>
                  <a:lnTo>
                    <a:pt x="2288" y="3643"/>
                  </a:lnTo>
                  <a:lnTo>
                    <a:pt x="2201" y="3661"/>
                  </a:lnTo>
                  <a:lnTo>
                    <a:pt x="2114" y="3676"/>
                  </a:lnTo>
                  <a:lnTo>
                    <a:pt x="2026" y="3687"/>
                  </a:lnTo>
                  <a:lnTo>
                    <a:pt x="1936" y="3693"/>
                  </a:lnTo>
                  <a:lnTo>
                    <a:pt x="1848" y="3695"/>
                  </a:lnTo>
                  <a:lnTo>
                    <a:pt x="1759" y="3693"/>
                  </a:lnTo>
                  <a:lnTo>
                    <a:pt x="1670" y="3687"/>
                  </a:lnTo>
                  <a:lnTo>
                    <a:pt x="1582" y="3676"/>
                  </a:lnTo>
                  <a:lnTo>
                    <a:pt x="1495" y="3662"/>
                  </a:lnTo>
                  <a:lnTo>
                    <a:pt x="1408" y="3643"/>
                  </a:lnTo>
                  <a:lnTo>
                    <a:pt x="1321" y="3620"/>
                  </a:lnTo>
                  <a:lnTo>
                    <a:pt x="1236" y="3592"/>
                  </a:lnTo>
                  <a:lnTo>
                    <a:pt x="1152" y="3561"/>
                  </a:lnTo>
                  <a:lnTo>
                    <a:pt x="1069" y="3524"/>
                  </a:lnTo>
                  <a:lnTo>
                    <a:pt x="987" y="3484"/>
                  </a:lnTo>
                  <a:lnTo>
                    <a:pt x="908" y="3440"/>
                  </a:lnTo>
                  <a:lnTo>
                    <a:pt x="830" y="3391"/>
                  </a:lnTo>
                  <a:lnTo>
                    <a:pt x="755" y="3339"/>
                  </a:lnTo>
                  <a:lnTo>
                    <a:pt x="680" y="3282"/>
                  </a:lnTo>
                  <a:lnTo>
                    <a:pt x="609" y="3220"/>
                  </a:lnTo>
                  <a:lnTo>
                    <a:pt x="541" y="3155"/>
                  </a:lnTo>
                  <a:lnTo>
                    <a:pt x="475" y="3086"/>
                  </a:lnTo>
                  <a:lnTo>
                    <a:pt x="414" y="3015"/>
                  </a:lnTo>
                  <a:lnTo>
                    <a:pt x="357" y="2941"/>
                  </a:lnTo>
                  <a:lnTo>
                    <a:pt x="304" y="2866"/>
                  </a:lnTo>
                  <a:lnTo>
                    <a:pt x="256" y="2788"/>
                  </a:lnTo>
                  <a:lnTo>
                    <a:pt x="212" y="2709"/>
                  </a:lnTo>
                  <a:lnTo>
                    <a:pt x="172" y="2627"/>
                  </a:lnTo>
                  <a:lnTo>
                    <a:pt x="136" y="2544"/>
                  </a:lnTo>
                  <a:lnTo>
                    <a:pt x="104" y="2460"/>
                  </a:lnTo>
                  <a:lnTo>
                    <a:pt x="76" y="2374"/>
                  </a:lnTo>
                  <a:lnTo>
                    <a:pt x="53" y="2288"/>
                  </a:lnTo>
                  <a:lnTo>
                    <a:pt x="34" y="2201"/>
                  </a:lnTo>
                  <a:lnTo>
                    <a:pt x="19" y="2114"/>
                  </a:lnTo>
                  <a:lnTo>
                    <a:pt x="9" y="2025"/>
                  </a:lnTo>
                  <a:lnTo>
                    <a:pt x="2" y="1937"/>
                  </a:lnTo>
                  <a:lnTo>
                    <a:pt x="0" y="1848"/>
                  </a:lnTo>
                  <a:lnTo>
                    <a:pt x="2" y="1759"/>
                  </a:lnTo>
                  <a:lnTo>
                    <a:pt x="9" y="1670"/>
                  </a:lnTo>
                  <a:lnTo>
                    <a:pt x="19" y="1582"/>
                  </a:lnTo>
                  <a:lnTo>
                    <a:pt x="34" y="1494"/>
                  </a:lnTo>
                  <a:lnTo>
                    <a:pt x="53" y="1407"/>
                  </a:lnTo>
                  <a:lnTo>
                    <a:pt x="76" y="1321"/>
                  </a:lnTo>
                  <a:lnTo>
                    <a:pt x="104" y="1236"/>
                  </a:lnTo>
                  <a:lnTo>
                    <a:pt x="136" y="1151"/>
                  </a:lnTo>
                  <a:lnTo>
                    <a:pt x="171" y="1069"/>
                  </a:lnTo>
                  <a:lnTo>
                    <a:pt x="211" y="988"/>
                  </a:lnTo>
                  <a:lnTo>
                    <a:pt x="255" y="907"/>
                  </a:lnTo>
                  <a:lnTo>
                    <a:pt x="304" y="830"/>
                  </a:lnTo>
                  <a:lnTo>
                    <a:pt x="356" y="754"/>
                  </a:lnTo>
                  <a:lnTo>
                    <a:pt x="414" y="681"/>
                  </a:lnTo>
                  <a:lnTo>
                    <a:pt x="475" y="609"/>
                  </a:lnTo>
                  <a:lnTo>
                    <a:pt x="540" y="540"/>
                  </a:lnTo>
                  <a:lnTo>
                    <a:pt x="609" y="475"/>
                  </a:lnTo>
                  <a:lnTo>
                    <a:pt x="680" y="414"/>
                  </a:lnTo>
                  <a:lnTo>
                    <a:pt x="754" y="356"/>
                  </a:lnTo>
                  <a:lnTo>
                    <a:pt x="830" y="303"/>
                  </a:lnTo>
                  <a:lnTo>
                    <a:pt x="907" y="255"/>
                  </a:lnTo>
                  <a:lnTo>
                    <a:pt x="987" y="211"/>
                  </a:lnTo>
                  <a:lnTo>
                    <a:pt x="1069" y="171"/>
                  </a:lnTo>
                  <a:lnTo>
                    <a:pt x="1151" y="135"/>
                  </a:lnTo>
                  <a:lnTo>
                    <a:pt x="1235" y="104"/>
                  </a:lnTo>
                  <a:lnTo>
                    <a:pt x="1320" y="76"/>
                  </a:lnTo>
                  <a:lnTo>
                    <a:pt x="1407" y="52"/>
                  </a:lnTo>
                  <a:lnTo>
                    <a:pt x="1494" y="33"/>
                  </a:lnTo>
                  <a:lnTo>
                    <a:pt x="1581" y="19"/>
                  </a:lnTo>
                  <a:lnTo>
                    <a:pt x="1669" y="8"/>
                  </a:lnTo>
                  <a:lnTo>
                    <a:pt x="1759" y="2"/>
                  </a:lnTo>
                  <a:lnTo>
                    <a:pt x="1847" y="0"/>
                  </a:lnTo>
                  <a:lnTo>
                    <a:pt x="1936" y="2"/>
                  </a:lnTo>
                  <a:lnTo>
                    <a:pt x="2025" y="8"/>
                  </a:lnTo>
                  <a:lnTo>
                    <a:pt x="2113" y="19"/>
                  </a:lnTo>
                  <a:lnTo>
                    <a:pt x="2201" y="33"/>
                  </a:lnTo>
                  <a:lnTo>
                    <a:pt x="2287" y="52"/>
                  </a:lnTo>
                  <a:lnTo>
                    <a:pt x="2374" y="76"/>
                  </a:lnTo>
                  <a:lnTo>
                    <a:pt x="2459" y="104"/>
                  </a:lnTo>
                  <a:lnTo>
                    <a:pt x="2543" y="135"/>
                  </a:lnTo>
                  <a:lnTo>
                    <a:pt x="2626" y="171"/>
                  </a:lnTo>
                  <a:lnTo>
                    <a:pt x="2708" y="211"/>
                  </a:lnTo>
                  <a:lnTo>
                    <a:pt x="2787" y="255"/>
                  </a:lnTo>
                  <a:lnTo>
                    <a:pt x="2865" y="303"/>
                  </a:lnTo>
                  <a:lnTo>
                    <a:pt x="2940" y="356"/>
                  </a:lnTo>
                  <a:lnTo>
                    <a:pt x="3015" y="413"/>
                  </a:lnTo>
                  <a:lnTo>
                    <a:pt x="3086" y="474"/>
                  </a:lnTo>
                  <a:lnTo>
                    <a:pt x="3154" y="539"/>
                  </a:lnTo>
                  <a:close/>
                </a:path>
              </a:pathLst>
            </a:custGeom>
            <a:grpFill/>
            <a:ln w="9525">
              <a:noFill/>
              <a:round/>
              <a:headEnd/>
              <a:tailEnd/>
            </a:ln>
          </p:spPr>
          <p:txBody>
            <a:bodyPr/>
            <a:lstStyle/>
            <a:p>
              <a:pPr algn="ctr" eaLnBrk="1" fontAlgn="auto" hangingPunct="1">
                <a:spcBef>
                  <a:spcPts val="0"/>
                </a:spcBef>
                <a:spcAft>
                  <a:spcPts val="0"/>
                </a:spcAft>
                <a:defRPr/>
              </a:pPr>
              <a:endParaRPr lang="zh-CN" altLang="en-US" sz="1200" ker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2" name="Freeform 16"/>
            <p:cNvSpPr>
              <a:spLocks noEditPoints="1"/>
            </p:cNvSpPr>
            <p:nvPr/>
          </p:nvSpPr>
          <p:spPr bwMode="gray">
            <a:xfrm>
              <a:off x="7440613" y="4868863"/>
              <a:ext cx="1019175" cy="544513"/>
            </a:xfrm>
            <a:custGeom>
              <a:avLst/>
              <a:gdLst/>
              <a:ahLst/>
              <a:cxnLst>
                <a:cxn ang="0">
                  <a:pos x="16025" y="3351"/>
                </a:cxn>
                <a:cxn ang="0">
                  <a:pos x="14975" y="4351"/>
                </a:cxn>
                <a:cxn ang="0">
                  <a:pos x="14184" y="3632"/>
                </a:cxn>
                <a:cxn ang="0">
                  <a:pos x="12564" y="2563"/>
                </a:cxn>
                <a:cxn ang="0">
                  <a:pos x="10805" y="1850"/>
                </a:cxn>
                <a:cxn ang="0">
                  <a:pos x="8960" y="1494"/>
                </a:cxn>
                <a:cxn ang="0">
                  <a:pos x="7087" y="1494"/>
                </a:cxn>
                <a:cxn ang="0">
                  <a:pos x="5243" y="1851"/>
                </a:cxn>
                <a:cxn ang="0">
                  <a:pos x="3483" y="2564"/>
                </a:cxn>
                <a:cxn ang="0">
                  <a:pos x="1864" y="3634"/>
                </a:cxn>
                <a:cxn ang="0">
                  <a:pos x="1075" y="4353"/>
                </a:cxn>
                <a:cxn ang="0">
                  <a:pos x="24" y="3353"/>
                </a:cxn>
                <a:cxn ang="0">
                  <a:pos x="516" y="2880"/>
                </a:cxn>
                <a:cxn ang="0">
                  <a:pos x="2325" y="1549"/>
                </a:cxn>
                <a:cxn ang="0">
                  <a:pos x="4312" y="627"/>
                </a:cxn>
                <a:cxn ang="0">
                  <a:pos x="6413" y="115"/>
                </a:cxn>
                <a:cxn ang="0">
                  <a:pos x="8562" y="13"/>
                </a:cxn>
                <a:cxn ang="0">
                  <a:pos x="10694" y="319"/>
                </a:cxn>
                <a:cxn ang="0">
                  <a:pos x="12747" y="1036"/>
                </a:cxn>
                <a:cxn ang="0">
                  <a:pos x="14654" y="2160"/>
                </a:cxn>
                <a:cxn ang="0">
                  <a:pos x="14055" y="5373"/>
                </a:cxn>
                <a:cxn ang="0">
                  <a:pos x="12871" y="6404"/>
                </a:cxn>
                <a:cxn ang="0">
                  <a:pos x="12058" y="5702"/>
                </a:cxn>
                <a:cxn ang="0">
                  <a:pos x="10898" y="5017"/>
                </a:cxn>
                <a:cxn ang="0">
                  <a:pos x="9649" y="4582"/>
                </a:cxn>
                <a:cxn ang="0">
                  <a:pos x="8352" y="4395"/>
                </a:cxn>
                <a:cxn ang="0">
                  <a:pos x="7044" y="4457"/>
                </a:cxn>
                <a:cxn ang="0">
                  <a:pos x="5767" y="4769"/>
                </a:cxn>
                <a:cxn ang="0">
                  <a:pos x="4558" y="5329"/>
                </a:cxn>
                <a:cxn ang="0">
                  <a:pos x="3457" y="6139"/>
                </a:cxn>
                <a:cxn ang="0">
                  <a:pos x="3129" y="6456"/>
                </a:cxn>
                <a:cxn ang="0">
                  <a:pos x="2045" y="5322"/>
                </a:cxn>
                <a:cxn ang="0">
                  <a:pos x="2731" y="4697"/>
                </a:cxn>
                <a:cxn ang="0">
                  <a:pos x="4122" y="3779"/>
                </a:cxn>
                <a:cxn ang="0">
                  <a:pos x="5635" y="3166"/>
                </a:cxn>
                <a:cxn ang="0">
                  <a:pos x="7219" y="2859"/>
                </a:cxn>
                <a:cxn ang="0">
                  <a:pos x="8829" y="2859"/>
                </a:cxn>
                <a:cxn ang="0">
                  <a:pos x="10413" y="3165"/>
                </a:cxn>
                <a:cxn ang="0">
                  <a:pos x="11926" y="3777"/>
                </a:cxn>
                <a:cxn ang="0">
                  <a:pos x="13318" y="4696"/>
                </a:cxn>
                <a:cxn ang="0">
                  <a:pos x="14005" y="5321"/>
                </a:cxn>
                <a:cxn ang="0">
                  <a:pos x="10854" y="8576"/>
                </a:cxn>
                <a:cxn ang="0">
                  <a:pos x="10754" y="8472"/>
                </a:cxn>
                <a:cxn ang="0">
                  <a:pos x="10150" y="7980"/>
                </a:cxn>
                <a:cxn ang="0">
                  <a:pos x="9479" y="7627"/>
                </a:cxn>
                <a:cxn ang="0">
                  <a:pos x="8762" y="7416"/>
                </a:cxn>
                <a:cxn ang="0">
                  <a:pos x="8025" y="7345"/>
                </a:cxn>
                <a:cxn ang="0">
                  <a:pos x="7287" y="7416"/>
                </a:cxn>
                <a:cxn ang="0">
                  <a:pos x="6571" y="7627"/>
                </a:cxn>
                <a:cxn ang="0">
                  <a:pos x="5900" y="7980"/>
                </a:cxn>
                <a:cxn ang="0">
                  <a:pos x="5297" y="8473"/>
                </a:cxn>
                <a:cxn ang="0">
                  <a:pos x="5198" y="8576"/>
                </a:cxn>
                <a:cxn ang="0">
                  <a:pos x="4197" y="7425"/>
                </a:cxn>
                <a:cxn ang="0">
                  <a:pos x="4843" y="6865"/>
                </a:cxn>
                <a:cxn ang="0">
                  <a:pos x="5758" y="6325"/>
                </a:cxn>
                <a:cxn ang="0">
                  <a:pos x="6743" y="5981"/>
                </a:cxn>
                <a:cxn ang="0">
                  <a:pos x="7766" y="5833"/>
                </a:cxn>
                <a:cxn ang="0">
                  <a:pos x="8797" y="5882"/>
                </a:cxn>
                <a:cxn ang="0">
                  <a:pos x="9806" y="6127"/>
                </a:cxn>
                <a:cxn ang="0">
                  <a:pos x="10760" y="6570"/>
                </a:cxn>
                <a:cxn ang="0">
                  <a:pos x="11627" y="7208"/>
                </a:cxn>
                <a:cxn ang="0">
                  <a:pos x="11903" y="7475"/>
                </a:cxn>
              </a:cxnLst>
              <a:rect l="0" t="0" r="r" b="b"/>
              <a:pathLst>
                <a:path w="16050" h="8576">
                  <a:moveTo>
                    <a:pt x="15950" y="3273"/>
                  </a:moveTo>
                  <a:lnTo>
                    <a:pt x="15975" y="3299"/>
                  </a:lnTo>
                  <a:lnTo>
                    <a:pt x="16000" y="3324"/>
                  </a:lnTo>
                  <a:lnTo>
                    <a:pt x="16025" y="3351"/>
                  </a:lnTo>
                  <a:lnTo>
                    <a:pt x="16050" y="3377"/>
                  </a:lnTo>
                  <a:lnTo>
                    <a:pt x="15025" y="4402"/>
                  </a:lnTo>
                  <a:lnTo>
                    <a:pt x="15000" y="4377"/>
                  </a:lnTo>
                  <a:lnTo>
                    <a:pt x="14975" y="4351"/>
                  </a:lnTo>
                  <a:lnTo>
                    <a:pt x="14950" y="4325"/>
                  </a:lnTo>
                  <a:lnTo>
                    <a:pt x="14923" y="4300"/>
                  </a:lnTo>
                  <a:lnTo>
                    <a:pt x="14560" y="3955"/>
                  </a:lnTo>
                  <a:lnTo>
                    <a:pt x="14184" y="3632"/>
                  </a:lnTo>
                  <a:lnTo>
                    <a:pt x="13796" y="3330"/>
                  </a:lnTo>
                  <a:lnTo>
                    <a:pt x="13396" y="3053"/>
                  </a:lnTo>
                  <a:lnTo>
                    <a:pt x="12984" y="2797"/>
                  </a:lnTo>
                  <a:lnTo>
                    <a:pt x="12564" y="2563"/>
                  </a:lnTo>
                  <a:lnTo>
                    <a:pt x="12136" y="2351"/>
                  </a:lnTo>
                  <a:lnTo>
                    <a:pt x="11698" y="2161"/>
                  </a:lnTo>
                  <a:lnTo>
                    <a:pt x="11254" y="1995"/>
                  </a:lnTo>
                  <a:lnTo>
                    <a:pt x="10805" y="1850"/>
                  </a:lnTo>
                  <a:lnTo>
                    <a:pt x="10349" y="1728"/>
                  </a:lnTo>
                  <a:lnTo>
                    <a:pt x="9889" y="1628"/>
                  </a:lnTo>
                  <a:lnTo>
                    <a:pt x="9426" y="1549"/>
                  </a:lnTo>
                  <a:lnTo>
                    <a:pt x="8960" y="1494"/>
                  </a:lnTo>
                  <a:lnTo>
                    <a:pt x="8492" y="1461"/>
                  </a:lnTo>
                  <a:lnTo>
                    <a:pt x="8024" y="1450"/>
                  </a:lnTo>
                  <a:lnTo>
                    <a:pt x="7556" y="1461"/>
                  </a:lnTo>
                  <a:lnTo>
                    <a:pt x="7087" y="1494"/>
                  </a:lnTo>
                  <a:lnTo>
                    <a:pt x="6622" y="1550"/>
                  </a:lnTo>
                  <a:lnTo>
                    <a:pt x="6158" y="1629"/>
                  </a:lnTo>
                  <a:lnTo>
                    <a:pt x="5699" y="1729"/>
                  </a:lnTo>
                  <a:lnTo>
                    <a:pt x="5243" y="1851"/>
                  </a:lnTo>
                  <a:lnTo>
                    <a:pt x="4793" y="1996"/>
                  </a:lnTo>
                  <a:lnTo>
                    <a:pt x="4350" y="2163"/>
                  </a:lnTo>
                  <a:lnTo>
                    <a:pt x="3912" y="2352"/>
                  </a:lnTo>
                  <a:lnTo>
                    <a:pt x="3483" y="2564"/>
                  </a:lnTo>
                  <a:lnTo>
                    <a:pt x="3064" y="2799"/>
                  </a:lnTo>
                  <a:lnTo>
                    <a:pt x="2652" y="3055"/>
                  </a:lnTo>
                  <a:lnTo>
                    <a:pt x="2253" y="3332"/>
                  </a:lnTo>
                  <a:lnTo>
                    <a:pt x="1864" y="3634"/>
                  </a:lnTo>
                  <a:lnTo>
                    <a:pt x="1488" y="3957"/>
                  </a:lnTo>
                  <a:lnTo>
                    <a:pt x="1125" y="4302"/>
                  </a:lnTo>
                  <a:lnTo>
                    <a:pt x="1099" y="4327"/>
                  </a:lnTo>
                  <a:lnTo>
                    <a:pt x="1075" y="4353"/>
                  </a:lnTo>
                  <a:lnTo>
                    <a:pt x="1050" y="4378"/>
                  </a:lnTo>
                  <a:lnTo>
                    <a:pt x="1025" y="4404"/>
                  </a:lnTo>
                  <a:lnTo>
                    <a:pt x="0" y="3378"/>
                  </a:lnTo>
                  <a:lnTo>
                    <a:pt x="24" y="3353"/>
                  </a:lnTo>
                  <a:lnTo>
                    <a:pt x="49" y="3326"/>
                  </a:lnTo>
                  <a:lnTo>
                    <a:pt x="74" y="3301"/>
                  </a:lnTo>
                  <a:lnTo>
                    <a:pt x="99" y="3276"/>
                  </a:lnTo>
                  <a:lnTo>
                    <a:pt x="516" y="2880"/>
                  </a:lnTo>
                  <a:lnTo>
                    <a:pt x="948" y="2509"/>
                  </a:lnTo>
                  <a:lnTo>
                    <a:pt x="1394" y="2162"/>
                  </a:lnTo>
                  <a:lnTo>
                    <a:pt x="1854" y="1843"/>
                  </a:lnTo>
                  <a:lnTo>
                    <a:pt x="2325" y="1549"/>
                  </a:lnTo>
                  <a:lnTo>
                    <a:pt x="2808" y="1280"/>
                  </a:lnTo>
                  <a:lnTo>
                    <a:pt x="3301" y="1037"/>
                  </a:lnTo>
                  <a:lnTo>
                    <a:pt x="3803" y="820"/>
                  </a:lnTo>
                  <a:lnTo>
                    <a:pt x="4312" y="627"/>
                  </a:lnTo>
                  <a:lnTo>
                    <a:pt x="4830" y="461"/>
                  </a:lnTo>
                  <a:lnTo>
                    <a:pt x="5353" y="320"/>
                  </a:lnTo>
                  <a:lnTo>
                    <a:pt x="5881" y="205"/>
                  </a:lnTo>
                  <a:lnTo>
                    <a:pt x="6413" y="115"/>
                  </a:lnTo>
                  <a:lnTo>
                    <a:pt x="6949" y="51"/>
                  </a:lnTo>
                  <a:lnTo>
                    <a:pt x="7485" y="13"/>
                  </a:lnTo>
                  <a:lnTo>
                    <a:pt x="8024" y="0"/>
                  </a:lnTo>
                  <a:lnTo>
                    <a:pt x="8562" y="13"/>
                  </a:lnTo>
                  <a:lnTo>
                    <a:pt x="9099" y="51"/>
                  </a:lnTo>
                  <a:lnTo>
                    <a:pt x="9634" y="115"/>
                  </a:lnTo>
                  <a:lnTo>
                    <a:pt x="10167" y="205"/>
                  </a:lnTo>
                  <a:lnTo>
                    <a:pt x="10694" y="319"/>
                  </a:lnTo>
                  <a:lnTo>
                    <a:pt x="11218" y="460"/>
                  </a:lnTo>
                  <a:lnTo>
                    <a:pt x="11735" y="626"/>
                  </a:lnTo>
                  <a:lnTo>
                    <a:pt x="12245" y="818"/>
                  </a:lnTo>
                  <a:lnTo>
                    <a:pt x="12747" y="1036"/>
                  </a:lnTo>
                  <a:lnTo>
                    <a:pt x="13239" y="1278"/>
                  </a:lnTo>
                  <a:lnTo>
                    <a:pt x="13722" y="1547"/>
                  </a:lnTo>
                  <a:lnTo>
                    <a:pt x="14194" y="1841"/>
                  </a:lnTo>
                  <a:lnTo>
                    <a:pt x="14654" y="2160"/>
                  </a:lnTo>
                  <a:lnTo>
                    <a:pt x="15100" y="2506"/>
                  </a:lnTo>
                  <a:lnTo>
                    <a:pt x="15532" y="2877"/>
                  </a:lnTo>
                  <a:lnTo>
                    <a:pt x="15950" y="3273"/>
                  </a:lnTo>
                  <a:close/>
                  <a:moveTo>
                    <a:pt x="14055" y="5373"/>
                  </a:moveTo>
                  <a:lnTo>
                    <a:pt x="12946" y="6481"/>
                  </a:lnTo>
                  <a:lnTo>
                    <a:pt x="12921" y="6456"/>
                  </a:lnTo>
                  <a:lnTo>
                    <a:pt x="12897" y="6430"/>
                  </a:lnTo>
                  <a:lnTo>
                    <a:pt x="12871" y="6404"/>
                  </a:lnTo>
                  <a:lnTo>
                    <a:pt x="12846" y="6379"/>
                  </a:lnTo>
                  <a:lnTo>
                    <a:pt x="12592" y="6137"/>
                  </a:lnTo>
                  <a:lnTo>
                    <a:pt x="12329" y="5912"/>
                  </a:lnTo>
                  <a:lnTo>
                    <a:pt x="12058" y="5702"/>
                  </a:lnTo>
                  <a:lnTo>
                    <a:pt x="11778" y="5507"/>
                  </a:lnTo>
                  <a:lnTo>
                    <a:pt x="11491" y="5328"/>
                  </a:lnTo>
                  <a:lnTo>
                    <a:pt x="11198" y="5165"/>
                  </a:lnTo>
                  <a:lnTo>
                    <a:pt x="10898" y="5017"/>
                  </a:lnTo>
                  <a:lnTo>
                    <a:pt x="10592" y="4885"/>
                  </a:lnTo>
                  <a:lnTo>
                    <a:pt x="10282" y="4768"/>
                  </a:lnTo>
                  <a:lnTo>
                    <a:pt x="9967" y="4667"/>
                  </a:lnTo>
                  <a:lnTo>
                    <a:pt x="9649" y="4582"/>
                  </a:lnTo>
                  <a:lnTo>
                    <a:pt x="9328" y="4512"/>
                  </a:lnTo>
                  <a:lnTo>
                    <a:pt x="9004" y="4457"/>
                  </a:lnTo>
                  <a:lnTo>
                    <a:pt x="8679" y="4418"/>
                  </a:lnTo>
                  <a:lnTo>
                    <a:pt x="8352" y="4395"/>
                  </a:lnTo>
                  <a:lnTo>
                    <a:pt x="8024" y="4387"/>
                  </a:lnTo>
                  <a:lnTo>
                    <a:pt x="7697" y="4395"/>
                  </a:lnTo>
                  <a:lnTo>
                    <a:pt x="7370" y="4418"/>
                  </a:lnTo>
                  <a:lnTo>
                    <a:pt x="7044" y="4457"/>
                  </a:lnTo>
                  <a:lnTo>
                    <a:pt x="6721" y="4512"/>
                  </a:lnTo>
                  <a:lnTo>
                    <a:pt x="6399" y="4582"/>
                  </a:lnTo>
                  <a:lnTo>
                    <a:pt x="6081" y="4668"/>
                  </a:lnTo>
                  <a:lnTo>
                    <a:pt x="5767" y="4769"/>
                  </a:lnTo>
                  <a:lnTo>
                    <a:pt x="5457" y="4886"/>
                  </a:lnTo>
                  <a:lnTo>
                    <a:pt x="5151" y="5018"/>
                  </a:lnTo>
                  <a:lnTo>
                    <a:pt x="4851" y="5166"/>
                  </a:lnTo>
                  <a:lnTo>
                    <a:pt x="4558" y="5329"/>
                  </a:lnTo>
                  <a:lnTo>
                    <a:pt x="4271" y="5509"/>
                  </a:lnTo>
                  <a:lnTo>
                    <a:pt x="3991" y="5703"/>
                  </a:lnTo>
                  <a:lnTo>
                    <a:pt x="3720" y="5913"/>
                  </a:lnTo>
                  <a:lnTo>
                    <a:pt x="3457" y="6139"/>
                  </a:lnTo>
                  <a:lnTo>
                    <a:pt x="3203" y="6380"/>
                  </a:lnTo>
                  <a:lnTo>
                    <a:pt x="3178" y="6406"/>
                  </a:lnTo>
                  <a:lnTo>
                    <a:pt x="3154" y="6431"/>
                  </a:lnTo>
                  <a:lnTo>
                    <a:pt x="3129" y="6456"/>
                  </a:lnTo>
                  <a:lnTo>
                    <a:pt x="3104" y="6482"/>
                  </a:lnTo>
                  <a:lnTo>
                    <a:pt x="1996" y="5374"/>
                  </a:lnTo>
                  <a:lnTo>
                    <a:pt x="2020" y="5348"/>
                  </a:lnTo>
                  <a:lnTo>
                    <a:pt x="2045" y="5322"/>
                  </a:lnTo>
                  <a:lnTo>
                    <a:pt x="2069" y="5297"/>
                  </a:lnTo>
                  <a:lnTo>
                    <a:pt x="2095" y="5272"/>
                  </a:lnTo>
                  <a:lnTo>
                    <a:pt x="2406" y="4975"/>
                  </a:lnTo>
                  <a:lnTo>
                    <a:pt x="2731" y="4697"/>
                  </a:lnTo>
                  <a:lnTo>
                    <a:pt x="3065" y="4439"/>
                  </a:lnTo>
                  <a:lnTo>
                    <a:pt x="3408" y="4199"/>
                  </a:lnTo>
                  <a:lnTo>
                    <a:pt x="3761" y="3980"/>
                  </a:lnTo>
                  <a:lnTo>
                    <a:pt x="4122" y="3779"/>
                  </a:lnTo>
                  <a:lnTo>
                    <a:pt x="4491" y="3596"/>
                  </a:lnTo>
                  <a:lnTo>
                    <a:pt x="4866" y="3434"/>
                  </a:lnTo>
                  <a:lnTo>
                    <a:pt x="5247" y="3290"/>
                  </a:lnTo>
                  <a:lnTo>
                    <a:pt x="5635" y="3166"/>
                  </a:lnTo>
                  <a:lnTo>
                    <a:pt x="6026" y="3061"/>
                  </a:lnTo>
                  <a:lnTo>
                    <a:pt x="6421" y="2974"/>
                  </a:lnTo>
                  <a:lnTo>
                    <a:pt x="6819" y="2907"/>
                  </a:lnTo>
                  <a:lnTo>
                    <a:pt x="7219" y="2859"/>
                  </a:lnTo>
                  <a:lnTo>
                    <a:pt x="7622" y="2831"/>
                  </a:lnTo>
                  <a:lnTo>
                    <a:pt x="8024" y="2821"/>
                  </a:lnTo>
                  <a:lnTo>
                    <a:pt x="8427" y="2831"/>
                  </a:lnTo>
                  <a:lnTo>
                    <a:pt x="8829" y="2859"/>
                  </a:lnTo>
                  <a:lnTo>
                    <a:pt x="9229" y="2907"/>
                  </a:lnTo>
                  <a:lnTo>
                    <a:pt x="9627" y="2973"/>
                  </a:lnTo>
                  <a:lnTo>
                    <a:pt x="10022" y="3060"/>
                  </a:lnTo>
                  <a:lnTo>
                    <a:pt x="10413" y="3165"/>
                  </a:lnTo>
                  <a:lnTo>
                    <a:pt x="10801" y="3289"/>
                  </a:lnTo>
                  <a:lnTo>
                    <a:pt x="11182" y="3433"/>
                  </a:lnTo>
                  <a:lnTo>
                    <a:pt x="11558" y="3595"/>
                  </a:lnTo>
                  <a:lnTo>
                    <a:pt x="11926" y="3777"/>
                  </a:lnTo>
                  <a:lnTo>
                    <a:pt x="12287" y="3978"/>
                  </a:lnTo>
                  <a:lnTo>
                    <a:pt x="12640" y="4198"/>
                  </a:lnTo>
                  <a:lnTo>
                    <a:pt x="12984" y="4437"/>
                  </a:lnTo>
                  <a:lnTo>
                    <a:pt x="13318" y="4696"/>
                  </a:lnTo>
                  <a:lnTo>
                    <a:pt x="13641" y="4973"/>
                  </a:lnTo>
                  <a:lnTo>
                    <a:pt x="13954" y="5270"/>
                  </a:lnTo>
                  <a:lnTo>
                    <a:pt x="13980" y="5295"/>
                  </a:lnTo>
                  <a:lnTo>
                    <a:pt x="14005" y="5321"/>
                  </a:lnTo>
                  <a:lnTo>
                    <a:pt x="14030" y="5347"/>
                  </a:lnTo>
                  <a:lnTo>
                    <a:pt x="14055" y="5373"/>
                  </a:lnTo>
                  <a:close/>
                  <a:moveTo>
                    <a:pt x="11928" y="7501"/>
                  </a:moveTo>
                  <a:lnTo>
                    <a:pt x="10854" y="8576"/>
                  </a:lnTo>
                  <a:lnTo>
                    <a:pt x="10829" y="8549"/>
                  </a:lnTo>
                  <a:lnTo>
                    <a:pt x="10805" y="8523"/>
                  </a:lnTo>
                  <a:lnTo>
                    <a:pt x="10780" y="8498"/>
                  </a:lnTo>
                  <a:lnTo>
                    <a:pt x="10754" y="8472"/>
                  </a:lnTo>
                  <a:lnTo>
                    <a:pt x="10610" y="8336"/>
                  </a:lnTo>
                  <a:lnTo>
                    <a:pt x="10462" y="8208"/>
                  </a:lnTo>
                  <a:lnTo>
                    <a:pt x="10307" y="8089"/>
                  </a:lnTo>
                  <a:lnTo>
                    <a:pt x="10150" y="7980"/>
                  </a:lnTo>
                  <a:lnTo>
                    <a:pt x="9987" y="7878"/>
                  </a:lnTo>
                  <a:lnTo>
                    <a:pt x="9821" y="7785"/>
                  </a:lnTo>
                  <a:lnTo>
                    <a:pt x="9651" y="7702"/>
                  </a:lnTo>
                  <a:lnTo>
                    <a:pt x="9479" y="7627"/>
                  </a:lnTo>
                  <a:lnTo>
                    <a:pt x="9303" y="7561"/>
                  </a:lnTo>
                  <a:lnTo>
                    <a:pt x="9124" y="7504"/>
                  </a:lnTo>
                  <a:lnTo>
                    <a:pt x="8945" y="7456"/>
                  </a:lnTo>
                  <a:lnTo>
                    <a:pt x="8762" y="7416"/>
                  </a:lnTo>
                  <a:lnTo>
                    <a:pt x="8580" y="7384"/>
                  </a:lnTo>
                  <a:lnTo>
                    <a:pt x="8395" y="7362"/>
                  </a:lnTo>
                  <a:lnTo>
                    <a:pt x="8210" y="7349"/>
                  </a:lnTo>
                  <a:lnTo>
                    <a:pt x="8025" y="7345"/>
                  </a:lnTo>
                  <a:lnTo>
                    <a:pt x="7839" y="7349"/>
                  </a:lnTo>
                  <a:lnTo>
                    <a:pt x="7655" y="7363"/>
                  </a:lnTo>
                  <a:lnTo>
                    <a:pt x="7470" y="7385"/>
                  </a:lnTo>
                  <a:lnTo>
                    <a:pt x="7287" y="7416"/>
                  </a:lnTo>
                  <a:lnTo>
                    <a:pt x="7105" y="7456"/>
                  </a:lnTo>
                  <a:lnTo>
                    <a:pt x="6926" y="7504"/>
                  </a:lnTo>
                  <a:lnTo>
                    <a:pt x="6747" y="7561"/>
                  </a:lnTo>
                  <a:lnTo>
                    <a:pt x="6571" y="7627"/>
                  </a:lnTo>
                  <a:lnTo>
                    <a:pt x="6399" y="7703"/>
                  </a:lnTo>
                  <a:lnTo>
                    <a:pt x="6229" y="7786"/>
                  </a:lnTo>
                  <a:lnTo>
                    <a:pt x="6063" y="7878"/>
                  </a:lnTo>
                  <a:lnTo>
                    <a:pt x="5900" y="7980"/>
                  </a:lnTo>
                  <a:lnTo>
                    <a:pt x="5742" y="8090"/>
                  </a:lnTo>
                  <a:lnTo>
                    <a:pt x="5588" y="8209"/>
                  </a:lnTo>
                  <a:lnTo>
                    <a:pt x="5440" y="8337"/>
                  </a:lnTo>
                  <a:lnTo>
                    <a:pt x="5297" y="8473"/>
                  </a:lnTo>
                  <a:lnTo>
                    <a:pt x="5271" y="8498"/>
                  </a:lnTo>
                  <a:lnTo>
                    <a:pt x="5246" y="8524"/>
                  </a:lnTo>
                  <a:lnTo>
                    <a:pt x="5222" y="8550"/>
                  </a:lnTo>
                  <a:lnTo>
                    <a:pt x="5198" y="8576"/>
                  </a:lnTo>
                  <a:lnTo>
                    <a:pt x="4123" y="7501"/>
                  </a:lnTo>
                  <a:lnTo>
                    <a:pt x="4147" y="7476"/>
                  </a:lnTo>
                  <a:lnTo>
                    <a:pt x="4172" y="7450"/>
                  </a:lnTo>
                  <a:lnTo>
                    <a:pt x="4197" y="7425"/>
                  </a:lnTo>
                  <a:lnTo>
                    <a:pt x="4222" y="7399"/>
                  </a:lnTo>
                  <a:lnTo>
                    <a:pt x="4422" y="7209"/>
                  </a:lnTo>
                  <a:lnTo>
                    <a:pt x="4629" y="7030"/>
                  </a:lnTo>
                  <a:lnTo>
                    <a:pt x="4843" y="6865"/>
                  </a:lnTo>
                  <a:lnTo>
                    <a:pt x="5064" y="6711"/>
                  </a:lnTo>
                  <a:lnTo>
                    <a:pt x="5290" y="6571"/>
                  </a:lnTo>
                  <a:lnTo>
                    <a:pt x="5522" y="6441"/>
                  </a:lnTo>
                  <a:lnTo>
                    <a:pt x="5758" y="6325"/>
                  </a:lnTo>
                  <a:lnTo>
                    <a:pt x="6000" y="6220"/>
                  </a:lnTo>
                  <a:lnTo>
                    <a:pt x="6243" y="6128"/>
                  </a:lnTo>
                  <a:lnTo>
                    <a:pt x="6492" y="6048"/>
                  </a:lnTo>
                  <a:lnTo>
                    <a:pt x="6743" y="5981"/>
                  </a:lnTo>
                  <a:lnTo>
                    <a:pt x="6997" y="5925"/>
                  </a:lnTo>
                  <a:lnTo>
                    <a:pt x="7252" y="5882"/>
                  </a:lnTo>
                  <a:lnTo>
                    <a:pt x="7508" y="5851"/>
                  </a:lnTo>
                  <a:lnTo>
                    <a:pt x="7766" y="5833"/>
                  </a:lnTo>
                  <a:lnTo>
                    <a:pt x="8025" y="5827"/>
                  </a:lnTo>
                  <a:lnTo>
                    <a:pt x="8283" y="5833"/>
                  </a:lnTo>
                  <a:lnTo>
                    <a:pt x="8541" y="5851"/>
                  </a:lnTo>
                  <a:lnTo>
                    <a:pt x="8797" y="5882"/>
                  </a:lnTo>
                  <a:lnTo>
                    <a:pt x="9053" y="5925"/>
                  </a:lnTo>
                  <a:lnTo>
                    <a:pt x="9306" y="5981"/>
                  </a:lnTo>
                  <a:lnTo>
                    <a:pt x="9557" y="6048"/>
                  </a:lnTo>
                  <a:lnTo>
                    <a:pt x="9806" y="6127"/>
                  </a:lnTo>
                  <a:lnTo>
                    <a:pt x="10050" y="6219"/>
                  </a:lnTo>
                  <a:lnTo>
                    <a:pt x="10291" y="6324"/>
                  </a:lnTo>
                  <a:lnTo>
                    <a:pt x="10528" y="6440"/>
                  </a:lnTo>
                  <a:lnTo>
                    <a:pt x="10760" y="6570"/>
                  </a:lnTo>
                  <a:lnTo>
                    <a:pt x="10985" y="6710"/>
                  </a:lnTo>
                  <a:lnTo>
                    <a:pt x="11206" y="6864"/>
                  </a:lnTo>
                  <a:lnTo>
                    <a:pt x="11421" y="7029"/>
                  </a:lnTo>
                  <a:lnTo>
                    <a:pt x="11627" y="7208"/>
                  </a:lnTo>
                  <a:lnTo>
                    <a:pt x="11828" y="7398"/>
                  </a:lnTo>
                  <a:lnTo>
                    <a:pt x="11853" y="7424"/>
                  </a:lnTo>
                  <a:lnTo>
                    <a:pt x="11878" y="7449"/>
                  </a:lnTo>
                  <a:lnTo>
                    <a:pt x="11903" y="7475"/>
                  </a:lnTo>
                  <a:lnTo>
                    <a:pt x="11928" y="7501"/>
                  </a:lnTo>
                  <a:close/>
                </a:path>
              </a:pathLst>
            </a:custGeom>
            <a:grpFill/>
            <a:ln w="9525">
              <a:noFill/>
              <a:round/>
              <a:headEnd/>
              <a:tailEnd/>
            </a:ln>
          </p:spPr>
          <p:txBody>
            <a:bodyPr/>
            <a:lstStyle/>
            <a:p>
              <a:pPr algn="ctr" eaLnBrk="1" fontAlgn="auto" hangingPunct="1">
                <a:spcBef>
                  <a:spcPts val="0"/>
                </a:spcBef>
                <a:spcAft>
                  <a:spcPts val="0"/>
                </a:spcAft>
                <a:defRPr/>
              </a:pPr>
              <a:endParaRPr lang="zh-CN" altLang="en-US" sz="1200" ker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pic>
        <p:nvPicPr>
          <p:cNvPr id="147" name="图片 146"/>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bwMode="gray">
          <a:xfrm>
            <a:off x="3944130" y="2611059"/>
            <a:ext cx="865097" cy="491769"/>
          </a:xfrm>
          <a:prstGeom prst="rect">
            <a:avLst/>
          </a:prstGeom>
        </p:spPr>
      </p:pic>
      <p:sp>
        <p:nvSpPr>
          <p:cNvPr id="148" name="文本框 147"/>
          <p:cNvSpPr txBox="1"/>
          <p:nvPr/>
        </p:nvSpPr>
        <p:spPr bwMode="gray">
          <a:xfrm>
            <a:off x="2388498" y="3824415"/>
            <a:ext cx="606256" cy="276999"/>
          </a:xfrm>
          <a:prstGeom prst="rect">
            <a:avLst/>
          </a:prstGeom>
          <a:noFill/>
        </p:spPr>
        <p:txBody>
          <a:bodyPr wrap="none" rtlCol="0">
            <a:spAutoFit/>
          </a:bodyPr>
          <a:lstStyle/>
          <a:p>
            <a:pPr algn="ctr"/>
            <a:r>
              <a:rPr lang="en-US" altLang="zh-CN" sz="1200" dirty="0" smtClean="0">
                <a:solidFill>
                  <a:srgbClr val="30B5C5"/>
                </a:solidFill>
                <a:latin typeface="Huawei Sans" panose="020C0503030203020204" pitchFamily="34" charset="0"/>
                <a:ea typeface="方正兰亭黑简体" panose="02000000000000000000" pitchFamily="2" charset="-122"/>
                <a:cs typeface="Huawei Sans" panose="020C0503030203020204" pitchFamily="34" charset="0"/>
              </a:rPr>
              <a:t>Fabric</a:t>
            </a:r>
            <a:endParaRPr lang="zh-CN" altLang="en-US" sz="1200" dirty="0">
              <a:solidFill>
                <a:srgbClr val="30B5C5"/>
              </a:solidFill>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10" name="椭圆 9"/>
          <p:cNvSpPr/>
          <p:nvPr/>
        </p:nvSpPr>
        <p:spPr bwMode="gray">
          <a:xfrm>
            <a:off x="1659493" y="4101414"/>
            <a:ext cx="144000" cy="144000"/>
          </a:xfrm>
          <a:prstGeom prst="ellipse">
            <a:avLst/>
          </a:prstGeom>
          <a:solidFill>
            <a:srgbClr val="FAD3BB"/>
          </a:solidFill>
          <a:ln>
            <a:solidFill>
              <a:srgbClr val="ED6D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9" name="椭圆 148"/>
          <p:cNvSpPr/>
          <p:nvPr/>
        </p:nvSpPr>
        <p:spPr bwMode="gray">
          <a:xfrm>
            <a:off x="3567199" y="4101414"/>
            <a:ext cx="144000" cy="144000"/>
          </a:xfrm>
          <a:prstGeom prst="ellipse">
            <a:avLst/>
          </a:prstGeom>
          <a:solidFill>
            <a:srgbClr val="FAD3BB"/>
          </a:solidFill>
          <a:ln>
            <a:solidFill>
              <a:srgbClr val="ED6D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0" name="椭圆 149"/>
          <p:cNvSpPr/>
          <p:nvPr/>
        </p:nvSpPr>
        <p:spPr bwMode="gray">
          <a:xfrm>
            <a:off x="2613650" y="3201998"/>
            <a:ext cx="144000" cy="144000"/>
          </a:xfrm>
          <a:prstGeom prst="ellipse">
            <a:avLst/>
          </a:prstGeom>
          <a:solidFill>
            <a:srgbClr val="FAD3BB"/>
          </a:solidFill>
          <a:ln>
            <a:solidFill>
              <a:srgbClr val="ED6D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1" name="椭圆 150"/>
          <p:cNvSpPr/>
          <p:nvPr/>
        </p:nvSpPr>
        <p:spPr bwMode="gray">
          <a:xfrm>
            <a:off x="4714539" y="5905712"/>
            <a:ext cx="144000" cy="144000"/>
          </a:xfrm>
          <a:prstGeom prst="ellipse">
            <a:avLst/>
          </a:prstGeom>
          <a:solidFill>
            <a:srgbClr val="FAD3BB"/>
          </a:solidFill>
          <a:ln>
            <a:solidFill>
              <a:srgbClr val="ED6D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2" name="文本框 151"/>
          <p:cNvSpPr txBox="1"/>
          <p:nvPr/>
        </p:nvSpPr>
        <p:spPr bwMode="gray">
          <a:xfrm>
            <a:off x="4871365" y="5839212"/>
            <a:ext cx="954107" cy="276999"/>
          </a:xfrm>
          <a:prstGeom prst="rect">
            <a:avLst/>
          </a:prstGeom>
          <a:noFill/>
        </p:spPr>
        <p:txBody>
          <a:bodyPr wrap="none" rtlCol="0">
            <a:spAutoFit/>
          </a:bodyPr>
          <a:lstStyle/>
          <a:p>
            <a:r>
              <a:rPr lang="zh-CN" altLang="en-US" sz="1200" dirty="0" smtClean="0">
                <a:latin typeface="Huawei Sans" panose="020C0503030203020204" pitchFamily="34" charset="0"/>
                <a:ea typeface="方正兰亭黑简体" panose="02000000000000000000" pitchFamily="2" charset="-122"/>
                <a:cs typeface="Huawei Sans" panose="020C0503030203020204" pitchFamily="34" charset="0"/>
              </a:rPr>
              <a:t>策略执行点</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51" name="五边形 50"/>
          <p:cNvSpPr/>
          <p:nvPr/>
        </p:nvSpPr>
        <p:spPr bwMode="gray">
          <a:xfrm>
            <a:off x="5773628" y="98481"/>
            <a:ext cx="9000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smtClean="0">
                <a:latin typeface="Huawei Sans" panose="020C0503030203020204" pitchFamily="34" charset="0"/>
                <a:ea typeface="方正兰亭黑简体" panose="02000000000000000000" pitchFamily="2" charset="-122"/>
                <a:sym typeface="Huawei Sans" panose="020C0503030203020204" pitchFamily="34" charset="0"/>
              </a:rPr>
              <a:t>站点管理</a:t>
            </a:r>
            <a:endPar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2" name="燕尾形 51"/>
          <p:cNvSpPr/>
          <p:nvPr/>
        </p:nvSpPr>
        <p:spPr bwMode="gray">
          <a:xfrm>
            <a:off x="9109268" y="9848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逻辑网络</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3" name="燕尾形 52"/>
          <p:cNvSpPr/>
          <p:nvPr/>
        </p:nvSpPr>
        <p:spPr bwMode="gray">
          <a:xfrm>
            <a:off x="9925178" y="98481"/>
            <a:ext cx="9000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业务部署</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4" name="燕尾形 53"/>
          <p:cNvSpPr/>
          <p:nvPr/>
        </p:nvSpPr>
        <p:spPr bwMode="gray">
          <a:xfrm>
            <a:off x="8221358" y="98481"/>
            <a:ext cx="972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Fabric</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网络</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5" name="燕尾形 54"/>
          <p:cNvSpPr/>
          <p:nvPr/>
        </p:nvSpPr>
        <p:spPr bwMode="gray">
          <a:xfrm>
            <a:off x="7405448" y="9848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网络规划</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6" name="燕尾形 55"/>
          <p:cNvSpPr/>
          <p:nvPr/>
        </p:nvSpPr>
        <p:spPr bwMode="gray">
          <a:xfrm>
            <a:off x="6589538" y="9848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设备管理</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7" name="燕尾形 56"/>
          <p:cNvSpPr/>
          <p:nvPr/>
        </p:nvSpPr>
        <p:spPr bwMode="gray">
          <a:xfrm>
            <a:off x="10741088" y="98481"/>
            <a:ext cx="1008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WLAN</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业务</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1478552214"/>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zh-CN" altLang="en-US" dirty="0" smtClean="0"/>
              <a:t>实验：创建策略控制矩阵 </a:t>
            </a:r>
            <a:r>
              <a:rPr lang="en-US" altLang="zh-CN" dirty="0" smtClean="0"/>
              <a:t>(2)</a:t>
            </a:r>
            <a:endParaRPr lang="zh-CN" altLang="en-US" dirty="0"/>
          </a:p>
        </p:txBody>
      </p:sp>
      <p:sp>
        <p:nvSpPr>
          <p:cNvPr id="3" name="文本占位符 2"/>
          <p:cNvSpPr>
            <a:spLocks noGrp="1"/>
          </p:cNvSpPr>
          <p:nvPr>
            <p:ph type="body" sz="quarter" idx="10"/>
          </p:nvPr>
        </p:nvSpPr>
        <p:spPr bwMode="gray">
          <a:xfrm>
            <a:off x="455612" y="1047750"/>
            <a:ext cx="11293475" cy="573339"/>
          </a:xfrm>
        </p:spPr>
        <p:txBody>
          <a:bodyPr/>
          <a:lstStyle/>
          <a:p>
            <a:r>
              <a:rPr lang="zh-CN" altLang="en-US" sz="2000" dirty="0" smtClean="0"/>
              <a:t>管理员可以基于安全组来定义全网的权限策略，组间权限策略主要控制组到组之间的访问权限。</a:t>
            </a:r>
            <a:endParaRPr lang="zh-CN" altLang="en-US" sz="2000" dirty="0"/>
          </a:p>
        </p:txBody>
      </p:sp>
      <p:sp>
        <p:nvSpPr>
          <p:cNvPr id="44" name="圆角矩形 43"/>
          <p:cNvSpPr/>
          <p:nvPr/>
        </p:nvSpPr>
        <p:spPr bwMode="gray">
          <a:xfrm>
            <a:off x="455613" y="2653001"/>
            <a:ext cx="5223356" cy="1816453"/>
          </a:xfrm>
          <a:prstGeom prst="roundRect">
            <a:avLst>
              <a:gd name="adj" fmla="val 3166"/>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51" name="梯形 50"/>
          <p:cNvSpPr/>
          <p:nvPr/>
        </p:nvSpPr>
        <p:spPr bwMode="gray">
          <a:xfrm>
            <a:off x="4115338" y="3794554"/>
            <a:ext cx="1439730" cy="501291"/>
          </a:xfrm>
          <a:prstGeom prst="trapezoid">
            <a:avLst>
              <a:gd name="adj" fmla="val 22961"/>
            </a:avLst>
          </a:prstGeom>
          <a:gradFill flip="none" rotWithShape="1">
            <a:gsLst>
              <a:gs pos="0">
                <a:schemeClr val="bg1">
                  <a:alpha val="4000"/>
                </a:schemeClr>
              </a:gs>
              <a:gs pos="100000">
                <a:schemeClr val="accent2">
                  <a:lumMod val="20000"/>
                  <a:lumOff val="80000"/>
                </a:schemeClr>
              </a:gs>
            </a:gsLst>
            <a:lin ang="5400000" scaled="1"/>
            <a:tileRect/>
          </a:gradFill>
          <a:ln>
            <a:gradFill flip="none" rotWithShape="1">
              <a:gsLst>
                <a:gs pos="0">
                  <a:schemeClr val="accent1">
                    <a:lumMod val="5000"/>
                    <a:lumOff val="95000"/>
                    <a:alpha val="0"/>
                  </a:schemeClr>
                </a:gs>
                <a:gs pos="82000">
                  <a:schemeClr val="accent2">
                    <a:lumMod val="60000"/>
                    <a:lumOff val="40000"/>
                  </a:schemeClr>
                </a:gs>
              </a:gsLst>
              <a:lin ang="54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0" name="文本框 69"/>
          <p:cNvSpPr txBox="1"/>
          <p:nvPr/>
        </p:nvSpPr>
        <p:spPr bwMode="gray">
          <a:xfrm>
            <a:off x="4487190" y="3972270"/>
            <a:ext cx="696024" cy="276999"/>
          </a:xfrm>
          <a:prstGeom prst="rect">
            <a:avLst/>
          </a:prstGeom>
          <a:noFill/>
        </p:spPr>
        <p:txBody>
          <a:bodyPr wrap="none" rtlCol="0">
            <a:spAutoFit/>
          </a:bodyPr>
          <a:lstStyle/>
          <a:p>
            <a:pPr algn="ctr"/>
            <a:r>
              <a:rPr lang="en-US" altLang="zh-CN" sz="1200" b="1" dirty="0">
                <a:latin typeface="Huawei Sans" panose="020C0503030203020204" pitchFamily="34" charset="0"/>
                <a:ea typeface="方正兰亭黑简体" panose="02000000000000000000" pitchFamily="2" charset="-122"/>
                <a:cs typeface="Huawei Sans" panose="020C0503030203020204" pitchFamily="34" charset="0"/>
              </a:rPr>
              <a:t>RD</a:t>
            </a:r>
            <a:r>
              <a:rPr lang="en-US" altLang="zh-CN" sz="1200" b="1" dirty="0" smtClean="0">
                <a:latin typeface="Huawei Sans" panose="020C0503030203020204" pitchFamily="34" charset="0"/>
                <a:ea typeface="方正兰亭黑简体" panose="02000000000000000000" pitchFamily="2" charset="-122"/>
                <a:cs typeface="Huawei Sans" panose="020C0503030203020204" pitchFamily="34" charset="0"/>
              </a:rPr>
              <a:t>_VN</a:t>
            </a:r>
          </a:p>
        </p:txBody>
      </p:sp>
      <p:cxnSp>
        <p:nvCxnSpPr>
          <p:cNvPr id="73" name="曲线连接符 72"/>
          <p:cNvCxnSpPr>
            <a:stCxn id="92" idx="7"/>
            <a:endCxn id="85" idx="1"/>
          </p:cNvCxnSpPr>
          <p:nvPr/>
        </p:nvCxnSpPr>
        <p:spPr bwMode="gray">
          <a:xfrm rot="5400000" flipH="1" flipV="1">
            <a:off x="3713303" y="2560087"/>
            <a:ext cx="12700" cy="1740356"/>
          </a:xfrm>
          <a:prstGeom prst="curvedConnector3">
            <a:avLst>
              <a:gd name="adj1" fmla="val 3131795"/>
            </a:avLst>
          </a:prstGeom>
          <a:ln w="57150">
            <a:solidFill>
              <a:srgbClr val="30B5C5"/>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74" name="文本框 73"/>
          <p:cNvSpPr txBox="1"/>
          <p:nvPr/>
        </p:nvSpPr>
        <p:spPr bwMode="gray">
          <a:xfrm>
            <a:off x="485156" y="2685354"/>
            <a:ext cx="708848" cy="307777"/>
          </a:xfrm>
          <a:prstGeom prst="rect">
            <a:avLst/>
          </a:prstGeom>
          <a:noFill/>
        </p:spPr>
        <p:txBody>
          <a:bodyPr wrap="none" rtlCol="0">
            <a:spAutoFit/>
          </a:bodyPr>
          <a:lstStyle/>
          <a:p>
            <a:r>
              <a:rPr lang="en-US" altLang="zh-CN" sz="1400" b="1" dirty="0" smtClean="0">
                <a:latin typeface="Huawei Sans" panose="020C0503030203020204" pitchFamily="34" charset="0"/>
                <a:ea typeface="方正兰亭黑简体" panose="02000000000000000000" pitchFamily="2" charset="-122"/>
                <a:cs typeface="Huawei Sans" panose="020C0503030203020204" pitchFamily="34" charset="0"/>
              </a:rPr>
              <a:t>Fabric</a:t>
            </a:r>
            <a:endParaRPr lang="zh-CN" altLang="en-US" sz="1400" b="1" dirty="0">
              <a:latin typeface="Huawei Sans" panose="020C0503030203020204" pitchFamily="34" charset="0"/>
              <a:ea typeface="方正兰亭黑简体" panose="02000000000000000000" pitchFamily="2" charset="-122"/>
              <a:cs typeface="Huawei Sans" panose="020C0503030203020204" pitchFamily="34" charset="0"/>
            </a:endParaRPr>
          </a:p>
        </p:txBody>
      </p:sp>
      <p:pic>
        <p:nvPicPr>
          <p:cNvPr id="75" name="图片 74" descr="PC.png">
            <a:extLst>
              <a:ext uri="{FF2B5EF4-FFF2-40B4-BE49-F238E27FC236}">
                <a16:creationId xmlns="" xmlns:a16="http://schemas.microsoft.com/office/drawing/2014/main" id="{4666702E-823D-4236-BF2F-880359158C83}"/>
              </a:ext>
            </a:extLst>
          </p:cNvPr>
          <p:cNvPicPr>
            <a:picLocks noChangeAspect="1"/>
          </p:cNvPicPr>
          <p:nvPr/>
        </p:nvPicPr>
        <p:blipFill>
          <a:blip r:embed="rId3" cstate="print"/>
          <a:stretch>
            <a:fillRect/>
          </a:stretch>
        </p:blipFill>
        <p:spPr bwMode="gray">
          <a:xfrm>
            <a:off x="4982016" y="4601668"/>
            <a:ext cx="445506" cy="342149"/>
          </a:xfrm>
          <a:prstGeom prst="rect">
            <a:avLst/>
          </a:prstGeom>
        </p:spPr>
      </p:pic>
      <p:sp>
        <p:nvSpPr>
          <p:cNvPr id="76" name="文本框 75"/>
          <p:cNvSpPr txBox="1"/>
          <p:nvPr/>
        </p:nvSpPr>
        <p:spPr bwMode="gray">
          <a:xfrm>
            <a:off x="4722905" y="4929960"/>
            <a:ext cx="963725" cy="461665"/>
          </a:xfrm>
          <a:prstGeom prst="rect">
            <a:avLst/>
          </a:prstGeom>
          <a:noFill/>
        </p:spPr>
        <p:txBody>
          <a:bodyPr wrap="none" rtlCol="0">
            <a:spAutoFit/>
          </a:bodyPr>
          <a:lstStyle/>
          <a:p>
            <a:pPr algn="ctr"/>
            <a:r>
              <a:rPr lang="en-US" altLang="zh-CN" sz="1200" b="1" dirty="0">
                <a:latin typeface="Huawei Sans" panose="020C0503030203020204" pitchFamily="34" charset="0"/>
                <a:ea typeface="方正兰亭黑简体" panose="02000000000000000000" pitchFamily="2" charset="-122"/>
                <a:cs typeface="Huawei Sans" panose="020C0503030203020204" pitchFamily="34" charset="0"/>
              </a:rPr>
              <a:t>RD</a:t>
            </a:r>
            <a:endParaRPr lang="en-US" altLang="zh-CN" sz="1200" b="1" dirty="0" smtClean="0">
              <a:latin typeface="Huawei Sans" panose="020C0503030203020204" pitchFamily="34" charset="0"/>
              <a:ea typeface="方正兰亭黑简体" panose="02000000000000000000" pitchFamily="2" charset="-122"/>
              <a:cs typeface="Huawei Sans" panose="020C0503030203020204" pitchFamily="34" charset="0"/>
            </a:endParaRPr>
          </a:p>
          <a:p>
            <a:pPr algn="ctr"/>
            <a:r>
              <a:rPr lang="zh-CN" altLang="en-US" sz="1200" dirty="0">
                <a:latin typeface="Huawei Sans" panose="020C0503030203020204" pitchFamily="34" charset="0"/>
                <a:ea typeface="方正兰亭黑简体" panose="02000000000000000000" pitchFamily="2" charset="-122"/>
                <a:cs typeface="Huawei Sans" panose="020C0503030203020204" pitchFamily="34" charset="0"/>
              </a:rPr>
              <a:t>（</a:t>
            </a: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802.1X</a:t>
            </a:r>
            <a:r>
              <a:rPr lang="zh-CN" altLang="en-US" sz="1200" dirty="0" smtClean="0">
                <a:latin typeface="Huawei Sans" panose="020C0503030203020204" pitchFamily="34" charset="0"/>
                <a:ea typeface="方正兰亭黑简体" panose="02000000000000000000" pitchFamily="2" charset="-122"/>
                <a:cs typeface="Huawei Sans" panose="020C0503030203020204" pitchFamily="34" charset="0"/>
              </a:rPr>
              <a:t>）</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77" name="梯形 76"/>
          <p:cNvSpPr/>
          <p:nvPr/>
        </p:nvSpPr>
        <p:spPr bwMode="gray">
          <a:xfrm>
            <a:off x="663378" y="3794554"/>
            <a:ext cx="3138794" cy="501291"/>
          </a:xfrm>
          <a:prstGeom prst="trapezoid">
            <a:avLst>
              <a:gd name="adj" fmla="val 22961"/>
            </a:avLst>
          </a:prstGeom>
          <a:gradFill flip="none" rotWithShape="1">
            <a:gsLst>
              <a:gs pos="0">
                <a:schemeClr val="bg1">
                  <a:alpha val="4000"/>
                </a:schemeClr>
              </a:gs>
              <a:gs pos="100000">
                <a:srgbClr val="EEB3B8"/>
              </a:gs>
            </a:gsLst>
            <a:lin ang="5400000" scaled="1"/>
            <a:tileRect/>
          </a:gradFill>
          <a:ln>
            <a:gradFill flip="none" rotWithShape="1">
              <a:gsLst>
                <a:gs pos="0">
                  <a:schemeClr val="accent1">
                    <a:lumMod val="5000"/>
                    <a:lumOff val="95000"/>
                    <a:alpha val="0"/>
                  </a:schemeClr>
                </a:gs>
                <a:gs pos="82000">
                  <a:srgbClr val="E28189"/>
                </a:gs>
              </a:gsLst>
              <a:lin ang="54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8" name="文本框 77"/>
          <p:cNvSpPr txBox="1"/>
          <p:nvPr/>
        </p:nvSpPr>
        <p:spPr bwMode="gray">
          <a:xfrm>
            <a:off x="1899979" y="3972270"/>
            <a:ext cx="712054" cy="276999"/>
          </a:xfrm>
          <a:prstGeom prst="rect">
            <a:avLst/>
          </a:prstGeom>
          <a:noFill/>
        </p:spPr>
        <p:txBody>
          <a:bodyPr wrap="none" rtlCol="0">
            <a:spAutoFit/>
          </a:bodyPr>
          <a:lstStyle/>
          <a:p>
            <a:pPr algn="ctr"/>
            <a:r>
              <a:rPr lang="en-US" altLang="zh-CN" sz="1200" b="1" dirty="0">
                <a:latin typeface="Huawei Sans" panose="020C0503030203020204" pitchFamily="34" charset="0"/>
                <a:ea typeface="方正兰亭黑简体" panose="02000000000000000000" pitchFamily="2" charset="-122"/>
                <a:cs typeface="Huawei Sans" panose="020C0503030203020204" pitchFamily="34" charset="0"/>
              </a:rPr>
              <a:t>OA</a:t>
            </a:r>
            <a:r>
              <a:rPr lang="en-US" altLang="zh-CN" sz="1200" b="1" dirty="0" smtClean="0">
                <a:latin typeface="Huawei Sans" panose="020C0503030203020204" pitchFamily="34" charset="0"/>
                <a:ea typeface="方正兰亭黑简体" panose="02000000000000000000" pitchFamily="2" charset="-122"/>
                <a:cs typeface="Huawei Sans" panose="020C0503030203020204" pitchFamily="34" charset="0"/>
              </a:rPr>
              <a:t>_VN</a:t>
            </a:r>
          </a:p>
        </p:txBody>
      </p:sp>
      <p:pic>
        <p:nvPicPr>
          <p:cNvPr id="79" name="图片 78" descr="PC.png">
            <a:extLst>
              <a:ext uri="{FF2B5EF4-FFF2-40B4-BE49-F238E27FC236}">
                <a16:creationId xmlns="" xmlns:a16="http://schemas.microsoft.com/office/drawing/2014/main" id="{4666702E-823D-4236-BF2F-880359158C83}"/>
              </a:ext>
            </a:extLst>
          </p:cNvPr>
          <p:cNvPicPr>
            <a:picLocks noChangeAspect="1"/>
          </p:cNvPicPr>
          <p:nvPr/>
        </p:nvPicPr>
        <p:blipFill>
          <a:blip r:embed="rId3" cstate="print"/>
          <a:stretch>
            <a:fillRect/>
          </a:stretch>
        </p:blipFill>
        <p:spPr bwMode="gray">
          <a:xfrm>
            <a:off x="748498" y="4601668"/>
            <a:ext cx="445506" cy="342149"/>
          </a:xfrm>
          <a:prstGeom prst="rect">
            <a:avLst/>
          </a:prstGeom>
        </p:spPr>
      </p:pic>
      <p:sp>
        <p:nvSpPr>
          <p:cNvPr id="80" name="文本框 79"/>
          <p:cNvSpPr txBox="1"/>
          <p:nvPr/>
        </p:nvSpPr>
        <p:spPr bwMode="gray">
          <a:xfrm>
            <a:off x="489391" y="4929960"/>
            <a:ext cx="963725" cy="646331"/>
          </a:xfrm>
          <a:prstGeom prst="rect">
            <a:avLst/>
          </a:prstGeom>
          <a:noFill/>
        </p:spPr>
        <p:txBody>
          <a:bodyPr wrap="none" rtlCol="0">
            <a:spAutoFit/>
          </a:bodyPr>
          <a:lstStyle/>
          <a:p>
            <a:pPr algn="ctr"/>
            <a:r>
              <a:rPr lang="en-US" altLang="zh-CN" sz="1200" b="1" dirty="0">
                <a:latin typeface="Huawei Sans" panose="020C0503030203020204" pitchFamily="34" charset="0"/>
                <a:ea typeface="方正兰亭黑简体" panose="02000000000000000000" pitchFamily="2" charset="-122"/>
                <a:cs typeface="Huawei Sans" panose="020C0503030203020204" pitchFamily="34" charset="0"/>
              </a:rPr>
              <a:t>Sales</a:t>
            </a:r>
            <a:r>
              <a:rPr lang="en-US" altLang="zh-CN" sz="1200" b="1" dirty="0" smtClean="0">
                <a:latin typeface="Huawei Sans" panose="020C0503030203020204" pitchFamily="34" charset="0"/>
                <a:ea typeface="方正兰亭黑简体" panose="02000000000000000000" pitchFamily="2" charset="-122"/>
                <a:cs typeface="Huawei Sans" panose="020C0503030203020204" pitchFamily="34" charset="0"/>
              </a:rPr>
              <a:t>_</a:t>
            </a:r>
          </a:p>
          <a:p>
            <a:pPr algn="ctr"/>
            <a:r>
              <a:rPr lang="en-US" altLang="zh-CN" sz="1200" b="1" dirty="0" smtClean="0">
                <a:latin typeface="Huawei Sans" panose="020C0503030203020204" pitchFamily="34" charset="0"/>
                <a:ea typeface="方正兰亭黑简体" panose="02000000000000000000" pitchFamily="2" charset="-122"/>
                <a:cs typeface="Huawei Sans" panose="020C0503030203020204" pitchFamily="34" charset="0"/>
              </a:rPr>
              <a:t>Wired</a:t>
            </a:r>
          </a:p>
          <a:p>
            <a:pPr algn="ctr"/>
            <a:r>
              <a:rPr lang="zh-CN" altLang="en-US" sz="1200" dirty="0" smtClean="0">
                <a:latin typeface="Huawei Sans" panose="020C0503030203020204" pitchFamily="34" charset="0"/>
                <a:ea typeface="方正兰亭黑简体" panose="02000000000000000000" pitchFamily="2" charset="-122"/>
                <a:cs typeface="Huawei Sans" panose="020C0503030203020204" pitchFamily="34" charset="0"/>
              </a:rPr>
              <a:t>（</a:t>
            </a:r>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802.1X</a:t>
            </a:r>
            <a:r>
              <a:rPr lang="zh-CN" altLang="en-US" sz="1200" dirty="0" smtClean="0">
                <a:latin typeface="Huawei Sans" panose="020C0503030203020204" pitchFamily="34" charset="0"/>
                <a:ea typeface="方正兰亭黑简体" panose="02000000000000000000" pitchFamily="2" charset="-122"/>
                <a:cs typeface="Huawei Sans" panose="020C0503030203020204" pitchFamily="34" charset="0"/>
              </a:rPr>
              <a:t>）</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pic>
        <p:nvPicPr>
          <p:cNvPr id="81" name="图片 14" descr="日志告警服务器-蓝.png"/>
          <p:cNvPicPr>
            <a:picLocks noChangeAspect="1"/>
          </p:cNvPicPr>
          <p:nvPr/>
        </p:nvPicPr>
        <p:blipFill>
          <a:blip r:embed="rId4" cstate="print"/>
          <a:stretch>
            <a:fillRect/>
          </a:stretch>
        </p:blipFill>
        <p:spPr bwMode="gray">
          <a:xfrm>
            <a:off x="1806652" y="4639295"/>
            <a:ext cx="445956" cy="278465"/>
          </a:xfrm>
          <a:prstGeom prst="rect">
            <a:avLst/>
          </a:prstGeom>
        </p:spPr>
      </p:pic>
      <p:sp>
        <p:nvSpPr>
          <p:cNvPr id="82" name="文本框 81"/>
          <p:cNvSpPr txBox="1"/>
          <p:nvPr/>
        </p:nvSpPr>
        <p:spPr bwMode="gray">
          <a:xfrm>
            <a:off x="1573940" y="4929960"/>
            <a:ext cx="909224" cy="646331"/>
          </a:xfrm>
          <a:prstGeom prst="rect">
            <a:avLst/>
          </a:prstGeom>
          <a:noFill/>
        </p:spPr>
        <p:txBody>
          <a:bodyPr wrap="none" rtlCol="0">
            <a:spAutoFit/>
          </a:bodyPr>
          <a:lstStyle/>
          <a:p>
            <a:pPr algn="ctr"/>
            <a:r>
              <a:rPr lang="en-US" altLang="zh-CN" sz="1200" b="1" dirty="0">
                <a:latin typeface="Huawei Sans" panose="020C0503030203020204" pitchFamily="34" charset="0"/>
                <a:ea typeface="方正兰亭黑简体" panose="02000000000000000000" pitchFamily="2" charset="-122"/>
                <a:cs typeface="Huawei Sans" panose="020C0503030203020204" pitchFamily="34" charset="0"/>
              </a:rPr>
              <a:t>Sales</a:t>
            </a:r>
            <a:r>
              <a:rPr lang="en-US" altLang="zh-CN" sz="1200" b="1" dirty="0" smtClean="0">
                <a:latin typeface="Huawei Sans" panose="020C0503030203020204" pitchFamily="34" charset="0"/>
                <a:ea typeface="方正兰亭黑简体" panose="02000000000000000000" pitchFamily="2" charset="-122"/>
                <a:cs typeface="Huawei Sans" panose="020C0503030203020204" pitchFamily="34" charset="0"/>
              </a:rPr>
              <a:t>_</a:t>
            </a:r>
          </a:p>
          <a:p>
            <a:pPr algn="ctr"/>
            <a:r>
              <a:rPr lang="en-US" altLang="zh-CN" sz="1200" b="1" dirty="0" smtClean="0">
                <a:latin typeface="Huawei Sans" panose="020C0503030203020204" pitchFamily="34" charset="0"/>
                <a:ea typeface="方正兰亭黑简体" panose="02000000000000000000" pitchFamily="2" charset="-122"/>
                <a:cs typeface="Huawei Sans" panose="020C0503030203020204" pitchFamily="34" charset="0"/>
              </a:rPr>
              <a:t>Wireless</a:t>
            </a:r>
          </a:p>
          <a:p>
            <a:pPr algn="ctr"/>
            <a:r>
              <a:rPr lang="zh-CN" altLang="en-US" sz="1200" dirty="0" smtClean="0">
                <a:latin typeface="Huawei Sans" panose="020C0503030203020204" pitchFamily="34" charset="0"/>
                <a:ea typeface="方正兰亭黑简体" panose="02000000000000000000" pitchFamily="2" charset="-122"/>
                <a:cs typeface="Huawei Sans" panose="020C0503030203020204" pitchFamily="34" charset="0"/>
              </a:rPr>
              <a:t>（</a:t>
            </a:r>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Portal</a:t>
            </a:r>
            <a:r>
              <a:rPr lang="zh-CN" altLang="en-US" sz="1200" dirty="0">
                <a:latin typeface="Huawei Sans" panose="020C0503030203020204" pitchFamily="34" charset="0"/>
                <a:ea typeface="方正兰亭黑简体" panose="02000000000000000000" pitchFamily="2" charset="-122"/>
                <a:cs typeface="Huawei Sans" panose="020C0503030203020204" pitchFamily="34" charset="0"/>
              </a:rPr>
              <a:t>）</a:t>
            </a:r>
          </a:p>
        </p:txBody>
      </p:sp>
      <p:sp>
        <p:nvSpPr>
          <p:cNvPr id="83" name="椭圆 82"/>
          <p:cNvSpPr/>
          <p:nvPr/>
        </p:nvSpPr>
        <p:spPr bwMode="gray">
          <a:xfrm>
            <a:off x="746427" y="3340640"/>
            <a:ext cx="612000" cy="612000"/>
          </a:xfrm>
          <a:prstGeom prst="ellipse">
            <a:avLst/>
          </a:prstGeom>
          <a:solidFill>
            <a:schemeClr val="accent5">
              <a:lumMod val="20000"/>
              <a:lumOff val="80000"/>
            </a:schemeClr>
          </a:solid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84" name="文本框 83"/>
          <p:cNvSpPr txBox="1"/>
          <p:nvPr/>
        </p:nvSpPr>
        <p:spPr bwMode="gray">
          <a:xfrm>
            <a:off x="748498" y="3422103"/>
            <a:ext cx="618630" cy="461665"/>
          </a:xfrm>
          <a:prstGeom prst="rect">
            <a:avLst/>
          </a:prstGeom>
          <a:noFill/>
        </p:spPr>
        <p:txBody>
          <a:bodyPr wrap="square" rtlCol="0">
            <a:spAutoFit/>
          </a:bodyPr>
          <a:lstStyle/>
          <a:p>
            <a:pPr algn="ctr"/>
            <a:r>
              <a:rPr lang="en-US" altLang="zh-CN" sz="1200" dirty="0" err="1">
                <a:latin typeface="Huawei Sans" panose="020C0503030203020204" pitchFamily="34" charset="0"/>
                <a:ea typeface="方正兰亭黑简体" panose="02000000000000000000" pitchFamily="2" charset="-122"/>
                <a:cs typeface="Huawei Sans" panose="020C0503030203020204" pitchFamily="34" charset="0"/>
              </a:rPr>
              <a:t>Sales_Wired</a:t>
            </a:r>
            <a:endParaRPr lang="en-US" altLang="zh-CN" sz="12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85" name="椭圆 84"/>
          <p:cNvSpPr/>
          <p:nvPr/>
        </p:nvSpPr>
        <p:spPr bwMode="gray">
          <a:xfrm>
            <a:off x="4493856" y="3340640"/>
            <a:ext cx="612000" cy="612000"/>
          </a:xfrm>
          <a:prstGeom prst="ellipse">
            <a:avLst/>
          </a:prstGeom>
          <a:solidFill>
            <a:schemeClr val="accent5">
              <a:lumMod val="20000"/>
              <a:lumOff val="80000"/>
            </a:schemeClr>
          </a:solid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86" name="文本框 85"/>
          <p:cNvSpPr txBox="1"/>
          <p:nvPr/>
        </p:nvSpPr>
        <p:spPr bwMode="gray">
          <a:xfrm>
            <a:off x="4604130" y="3531125"/>
            <a:ext cx="391453" cy="276999"/>
          </a:xfrm>
          <a:prstGeom prst="rect">
            <a:avLst/>
          </a:prstGeom>
          <a:noFill/>
        </p:spPr>
        <p:txBody>
          <a:bodyPr wrap="none" rtlCol="0">
            <a:spAutoFit/>
          </a:bodyPr>
          <a:lstStyle/>
          <a:p>
            <a:pPr algn="ctr"/>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RD</a:t>
            </a:r>
          </a:p>
        </p:txBody>
      </p:sp>
      <p:sp>
        <p:nvSpPr>
          <p:cNvPr id="87" name="文本框 86"/>
          <p:cNvSpPr txBox="1"/>
          <p:nvPr/>
        </p:nvSpPr>
        <p:spPr bwMode="gray">
          <a:xfrm>
            <a:off x="3329793" y="2685354"/>
            <a:ext cx="2339102" cy="307777"/>
          </a:xfrm>
          <a:prstGeom prst="rect">
            <a:avLst/>
          </a:prstGeom>
          <a:noFill/>
        </p:spPr>
        <p:txBody>
          <a:bodyPr wrap="none" rtlCol="0">
            <a:spAutoFit/>
          </a:bodyPr>
          <a:lstStyle/>
          <a:p>
            <a:r>
              <a:rPr lang="zh-CN" altLang="en-US" sz="1400" dirty="0" smtClean="0">
                <a:solidFill>
                  <a:srgbClr val="30B5C5"/>
                </a:solidFill>
                <a:latin typeface="Huawei Sans" panose="020C0503030203020204" pitchFamily="34" charset="0"/>
                <a:ea typeface="方正兰亭黑简体" panose="02000000000000000000" pitchFamily="2" charset="-122"/>
                <a:cs typeface="Huawei Sans" panose="020C0503030203020204" pitchFamily="34" charset="0"/>
              </a:rPr>
              <a:t>基于安全组的策略控制矩阵</a:t>
            </a:r>
            <a:endParaRPr lang="zh-CN" altLang="en-US" sz="1400" dirty="0">
              <a:solidFill>
                <a:srgbClr val="30B5C5"/>
              </a:solidFill>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88" name="任意多边形 87"/>
          <p:cNvSpPr/>
          <p:nvPr/>
        </p:nvSpPr>
        <p:spPr bwMode="gray">
          <a:xfrm>
            <a:off x="2686015" y="4023229"/>
            <a:ext cx="390809" cy="527688"/>
          </a:xfrm>
          <a:custGeom>
            <a:avLst/>
            <a:gdLst>
              <a:gd name="connsiteX0" fmla="*/ 390809 w 390809"/>
              <a:gd name="connsiteY0" fmla="*/ 712381 h 712381"/>
              <a:gd name="connsiteX1" fmla="*/ 50567 w 390809"/>
              <a:gd name="connsiteY1" fmla="*/ 340242 h 712381"/>
              <a:gd name="connsiteX2" fmla="*/ 8037 w 390809"/>
              <a:gd name="connsiteY2" fmla="*/ 0 h 712381"/>
            </a:gdLst>
            <a:ahLst/>
            <a:cxnLst>
              <a:cxn ang="0">
                <a:pos x="connsiteX0" y="connsiteY0"/>
              </a:cxn>
              <a:cxn ang="0">
                <a:pos x="connsiteX1" y="connsiteY1"/>
              </a:cxn>
              <a:cxn ang="0">
                <a:pos x="connsiteX2" y="connsiteY2"/>
              </a:cxn>
            </a:cxnLst>
            <a:rect l="l" t="t" r="r" b="b"/>
            <a:pathLst>
              <a:path w="390809" h="712381">
                <a:moveTo>
                  <a:pt x="390809" y="712381"/>
                </a:moveTo>
                <a:cubicBezTo>
                  <a:pt x="252585" y="585676"/>
                  <a:pt x="114362" y="458972"/>
                  <a:pt x="50567" y="340242"/>
                </a:cubicBezTo>
                <a:cubicBezTo>
                  <a:pt x="-13228" y="221512"/>
                  <a:pt x="-2596" y="110756"/>
                  <a:pt x="8037" y="0"/>
                </a:cubicBezTo>
              </a:path>
            </a:pathLst>
          </a:custGeom>
          <a:noFill/>
          <a:ln w="28575">
            <a:solidFill>
              <a:srgbClr val="C00000"/>
            </a:solidFill>
            <a:prstDash val="dash"/>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p>
        </p:txBody>
      </p:sp>
      <p:sp>
        <p:nvSpPr>
          <p:cNvPr id="89" name="任意多边形 88"/>
          <p:cNvSpPr/>
          <p:nvPr/>
        </p:nvSpPr>
        <p:spPr bwMode="gray">
          <a:xfrm rot="19515453">
            <a:off x="5164225" y="3909366"/>
            <a:ext cx="255685" cy="649727"/>
          </a:xfrm>
          <a:custGeom>
            <a:avLst/>
            <a:gdLst>
              <a:gd name="connsiteX0" fmla="*/ 0 w 255685"/>
              <a:gd name="connsiteY0" fmla="*/ 797442 h 797442"/>
              <a:gd name="connsiteX1" fmla="*/ 244549 w 255685"/>
              <a:gd name="connsiteY1" fmla="*/ 382772 h 797442"/>
              <a:gd name="connsiteX2" fmla="*/ 191386 w 255685"/>
              <a:gd name="connsiteY2" fmla="*/ 0 h 797442"/>
            </a:gdLst>
            <a:ahLst/>
            <a:cxnLst>
              <a:cxn ang="0">
                <a:pos x="connsiteX0" y="connsiteY0"/>
              </a:cxn>
              <a:cxn ang="0">
                <a:pos x="connsiteX1" y="connsiteY1"/>
              </a:cxn>
              <a:cxn ang="0">
                <a:pos x="connsiteX2" y="connsiteY2"/>
              </a:cxn>
            </a:cxnLst>
            <a:rect l="l" t="t" r="r" b="b"/>
            <a:pathLst>
              <a:path w="255685" h="797442">
                <a:moveTo>
                  <a:pt x="0" y="797442"/>
                </a:moveTo>
                <a:cubicBezTo>
                  <a:pt x="106325" y="656560"/>
                  <a:pt x="212651" y="515679"/>
                  <a:pt x="244549" y="382772"/>
                </a:cubicBezTo>
                <a:cubicBezTo>
                  <a:pt x="276447" y="249865"/>
                  <a:pt x="233916" y="124932"/>
                  <a:pt x="191386" y="0"/>
                </a:cubicBezTo>
              </a:path>
            </a:pathLst>
          </a:custGeom>
          <a:noFill/>
          <a:ln w="28575">
            <a:solidFill>
              <a:srgbClr val="00B050"/>
            </a:solidFill>
            <a:prstDash val="dash"/>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p>
        </p:txBody>
      </p:sp>
      <p:sp>
        <p:nvSpPr>
          <p:cNvPr id="90" name="椭圆 89"/>
          <p:cNvSpPr/>
          <p:nvPr/>
        </p:nvSpPr>
        <p:spPr bwMode="gray">
          <a:xfrm>
            <a:off x="1542293" y="3340640"/>
            <a:ext cx="612000" cy="612000"/>
          </a:xfrm>
          <a:prstGeom prst="ellipse">
            <a:avLst/>
          </a:prstGeom>
          <a:solidFill>
            <a:schemeClr val="accent5">
              <a:lumMod val="20000"/>
              <a:lumOff val="80000"/>
            </a:schemeClr>
          </a:solid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91" name="文本框 90"/>
          <p:cNvSpPr txBox="1"/>
          <p:nvPr/>
        </p:nvSpPr>
        <p:spPr bwMode="gray">
          <a:xfrm>
            <a:off x="1453527" y="3422103"/>
            <a:ext cx="785094" cy="461665"/>
          </a:xfrm>
          <a:prstGeom prst="rect">
            <a:avLst/>
          </a:prstGeom>
          <a:noFill/>
        </p:spPr>
        <p:txBody>
          <a:bodyPr wrap="square" rtlCol="0">
            <a:spAutoFit/>
          </a:bodyPr>
          <a:lstStyle/>
          <a:p>
            <a:pPr algn="ctr"/>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Sales_</a:t>
            </a:r>
          </a:p>
          <a:p>
            <a:pPr algn="ctr"/>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Wireless</a:t>
            </a:r>
            <a:endParaRPr lang="en-US" altLang="zh-CN" sz="12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92" name="椭圆 91"/>
          <p:cNvSpPr/>
          <p:nvPr/>
        </p:nvSpPr>
        <p:spPr bwMode="gray">
          <a:xfrm>
            <a:off x="2320750" y="3340640"/>
            <a:ext cx="612000" cy="612000"/>
          </a:xfrm>
          <a:prstGeom prst="ellipse">
            <a:avLst/>
          </a:prstGeom>
          <a:solidFill>
            <a:schemeClr val="accent5">
              <a:lumMod val="20000"/>
              <a:lumOff val="80000"/>
            </a:schemeClr>
          </a:solid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93" name="文本框 92"/>
          <p:cNvSpPr txBox="1"/>
          <p:nvPr/>
        </p:nvSpPr>
        <p:spPr bwMode="gray">
          <a:xfrm>
            <a:off x="2231984" y="3422103"/>
            <a:ext cx="785094" cy="461665"/>
          </a:xfrm>
          <a:prstGeom prst="rect">
            <a:avLst/>
          </a:prstGeom>
          <a:noFill/>
        </p:spPr>
        <p:txBody>
          <a:bodyPr wrap="square" rtlCol="0">
            <a:spAutoFit/>
          </a:bodyPr>
          <a:lstStyle/>
          <a:p>
            <a:pPr algn="ctr"/>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Market_</a:t>
            </a:r>
          </a:p>
          <a:p>
            <a:pPr algn="ct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Wired</a:t>
            </a:r>
          </a:p>
        </p:txBody>
      </p:sp>
      <p:sp>
        <p:nvSpPr>
          <p:cNvPr id="94" name="椭圆 93"/>
          <p:cNvSpPr/>
          <p:nvPr/>
        </p:nvSpPr>
        <p:spPr bwMode="gray">
          <a:xfrm>
            <a:off x="3105844" y="3340640"/>
            <a:ext cx="612000" cy="612000"/>
          </a:xfrm>
          <a:prstGeom prst="ellipse">
            <a:avLst/>
          </a:prstGeom>
          <a:solidFill>
            <a:schemeClr val="accent5">
              <a:lumMod val="20000"/>
              <a:lumOff val="80000"/>
            </a:schemeClr>
          </a:solid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95" name="文本框 94"/>
          <p:cNvSpPr txBox="1"/>
          <p:nvPr/>
        </p:nvSpPr>
        <p:spPr bwMode="gray">
          <a:xfrm>
            <a:off x="3017078" y="3422103"/>
            <a:ext cx="785094" cy="461665"/>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Market</a:t>
            </a:r>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_</a:t>
            </a:r>
          </a:p>
          <a:p>
            <a:pPr algn="ctr"/>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Wireless</a:t>
            </a:r>
            <a:endParaRPr lang="en-US" altLang="zh-CN" sz="1200" dirty="0">
              <a:latin typeface="Huawei Sans" panose="020C0503030203020204" pitchFamily="34" charset="0"/>
              <a:ea typeface="方正兰亭黑简体" panose="02000000000000000000" pitchFamily="2" charset="-122"/>
              <a:cs typeface="Huawei Sans" panose="020C0503030203020204" pitchFamily="34" charset="0"/>
            </a:endParaRPr>
          </a:p>
        </p:txBody>
      </p:sp>
      <p:pic>
        <p:nvPicPr>
          <p:cNvPr id="96" name="图片 95" descr="PC.png">
            <a:extLst>
              <a:ext uri="{FF2B5EF4-FFF2-40B4-BE49-F238E27FC236}">
                <a16:creationId xmlns="" xmlns:a16="http://schemas.microsoft.com/office/drawing/2014/main" id="{4666702E-823D-4236-BF2F-880359158C83}"/>
              </a:ext>
            </a:extLst>
          </p:cNvPr>
          <p:cNvPicPr>
            <a:picLocks noChangeAspect="1"/>
          </p:cNvPicPr>
          <p:nvPr/>
        </p:nvPicPr>
        <p:blipFill>
          <a:blip r:embed="rId3" cstate="print"/>
          <a:stretch>
            <a:fillRect/>
          </a:stretch>
        </p:blipFill>
        <p:spPr bwMode="gray">
          <a:xfrm>
            <a:off x="2865256" y="4601668"/>
            <a:ext cx="445506" cy="342149"/>
          </a:xfrm>
          <a:prstGeom prst="rect">
            <a:avLst/>
          </a:prstGeom>
        </p:spPr>
      </p:pic>
      <p:sp>
        <p:nvSpPr>
          <p:cNvPr id="97" name="文本框 96"/>
          <p:cNvSpPr txBox="1"/>
          <p:nvPr/>
        </p:nvSpPr>
        <p:spPr bwMode="gray">
          <a:xfrm>
            <a:off x="2606147" y="4929960"/>
            <a:ext cx="963725" cy="646331"/>
          </a:xfrm>
          <a:prstGeom prst="rect">
            <a:avLst/>
          </a:prstGeom>
          <a:noFill/>
        </p:spPr>
        <p:txBody>
          <a:bodyPr wrap="none" rtlCol="0">
            <a:spAutoFit/>
          </a:bodyPr>
          <a:lstStyle/>
          <a:p>
            <a:pPr algn="ctr"/>
            <a:r>
              <a:rPr lang="en-US" altLang="zh-CN" sz="1200" b="1" dirty="0">
                <a:latin typeface="Huawei Sans" panose="020C0503030203020204" pitchFamily="34" charset="0"/>
                <a:ea typeface="方正兰亭黑简体" panose="02000000000000000000" pitchFamily="2" charset="-122"/>
                <a:cs typeface="Huawei Sans" panose="020C0503030203020204" pitchFamily="34" charset="0"/>
              </a:rPr>
              <a:t>Market</a:t>
            </a:r>
            <a:r>
              <a:rPr lang="en-US" altLang="zh-CN" sz="1200" b="1" dirty="0" smtClean="0">
                <a:latin typeface="Huawei Sans" panose="020C0503030203020204" pitchFamily="34" charset="0"/>
                <a:ea typeface="方正兰亭黑简体" panose="02000000000000000000" pitchFamily="2" charset="-122"/>
                <a:cs typeface="Huawei Sans" panose="020C0503030203020204" pitchFamily="34" charset="0"/>
              </a:rPr>
              <a:t>_</a:t>
            </a:r>
          </a:p>
          <a:p>
            <a:pPr algn="ctr"/>
            <a:r>
              <a:rPr lang="en-US" altLang="zh-CN" sz="1200" b="1" dirty="0" smtClean="0">
                <a:latin typeface="Huawei Sans" panose="020C0503030203020204" pitchFamily="34" charset="0"/>
                <a:ea typeface="方正兰亭黑简体" panose="02000000000000000000" pitchFamily="2" charset="-122"/>
                <a:cs typeface="Huawei Sans" panose="020C0503030203020204" pitchFamily="34" charset="0"/>
              </a:rPr>
              <a:t>Wired</a:t>
            </a:r>
          </a:p>
          <a:p>
            <a:pPr algn="ctr"/>
            <a:r>
              <a:rPr lang="zh-CN" altLang="en-US" sz="1200" dirty="0">
                <a:latin typeface="Huawei Sans" panose="020C0503030203020204" pitchFamily="34" charset="0"/>
                <a:ea typeface="方正兰亭黑简体" panose="02000000000000000000" pitchFamily="2" charset="-122"/>
                <a:cs typeface="Huawei Sans" panose="020C0503030203020204" pitchFamily="34" charset="0"/>
              </a:rPr>
              <a:t>（</a:t>
            </a: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802.1X</a:t>
            </a:r>
            <a:r>
              <a:rPr lang="zh-CN" altLang="en-US" sz="1200" dirty="0">
                <a:latin typeface="Huawei Sans" panose="020C0503030203020204" pitchFamily="34" charset="0"/>
                <a:ea typeface="方正兰亭黑简体" panose="02000000000000000000" pitchFamily="2" charset="-122"/>
                <a:cs typeface="Huawei Sans" panose="020C0503030203020204" pitchFamily="34" charset="0"/>
              </a:rPr>
              <a:t>）</a:t>
            </a:r>
          </a:p>
        </p:txBody>
      </p:sp>
      <p:pic>
        <p:nvPicPr>
          <p:cNvPr id="98" name="图片 14" descr="日志告警服务器-蓝.png"/>
          <p:cNvPicPr>
            <a:picLocks noChangeAspect="1"/>
          </p:cNvPicPr>
          <p:nvPr/>
        </p:nvPicPr>
        <p:blipFill>
          <a:blip r:embed="rId4" cstate="print"/>
          <a:stretch>
            <a:fillRect/>
          </a:stretch>
        </p:blipFill>
        <p:spPr bwMode="gray">
          <a:xfrm>
            <a:off x="3999806" y="4639295"/>
            <a:ext cx="445956" cy="278465"/>
          </a:xfrm>
          <a:prstGeom prst="rect">
            <a:avLst/>
          </a:prstGeom>
        </p:spPr>
      </p:pic>
      <p:sp>
        <p:nvSpPr>
          <p:cNvPr id="99" name="文本框 98"/>
          <p:cNvSpPr txBox="1"/>
          <p:nvPr/>
        </p:nvSpPr>
        <p:spPr bwMode="gray">
          <a:xfrm>
            <a:off x="3780585" y="4929960"/>
            <a:ext cx="909223" cy="646331"/>
          </a:xfrm>
          <a:prstGeom prst="rect">
            <a:avLst/>
          </a:prstGeom>
          <a:noFill/>
        </p:spPr>
        <p:txBody>
          <a:bodyPr wrap="none" rtlCol="0">
            <a:spAutoFit/>
          </a:bodyPr>
          <a:lstStyle/>
          <a:p>
            <a:pPr algn="ctr"/>
            <a:r>
              <a:rPr lang="en-US" altLang="zh-CN" sz="1200" b="1" dirty="0">
                <a:latin typeface="Huawei Sans" panose="020C0503030203020204" pitchFamily="34" charset="0"/>
                <a:ea typeface="方正兰亭黑简体" panose="02000000000000000000" pitchFamily="2" charset="-122"/>
                <a:cs typeface="Huawei Sans" panose="020C0503030203020204" pitchFamily="34" charset="0"/>
              </a:rPr>
              <a:t>Market</a:t>
            </a:r>
            <a:r>
              <a:rPr lang="en-US" altLang="zh-CN" sz="1200" b="1" dirty="0" smtClean="0">
                <a:latin typeface="Huawei Sans" panose="020C0503030203020204" pitchFamily="34" charset="0"/>
                <a:ea typeface="方正兰亭黑简体" panose="02000000000000000000" pitchFamily="2" charset="-122"/>
                <a:cs typeface="Huawei Sans" panose="020C0503030203020204" pitchFamily="34" charset="0"/>
              </a:rPr>
              <a:t>_</a:t>
            </a:r>
          </a:p>
          <a:p>
            <a:pPr algn="ctr"/>
            <a:r>
              <a:rPr lang="en-US" altLang="zh-CN" sz="1200" b="1" dirty="0" smtClean="0">
                <a:latin typeface="Huawei Sans" panose="020C0503030203020204" pitchFamily="34" charset="0"/>
                <a:ea typeface="方正兰亭黑简体" panose="02000000000000000000" pitchFamily="2" charset="-122"/>
                <a:cs typeface="Huawei Sans" panose="020C0503030203020204" pitchFamily="34" charset="0"/>
              </a:rPr>
              <a:t>Wireless</a:t>
            </a:r>
          </a:p>
          <a:p>
            <a:pPr algn="ctr"/>
            <a:r>
              <a:rPr lang="zh-CN" altLang="en-US" sz="1200" dirty="0">
                <a:latin typeface="Huawei Sans" panose="020C0503030203020204" pitchFamily="34" charset="0"/>
                <a:ea typeface="方正兰亭黑简体" panose="02000000000000000000" pitchFamily="2" charset="-122"/>
                <a:cs typeface="Huawei Sans" panose="020C0503030203020204" pitchFamily="34" charset="0"/>
              </a:rPr>
              <a:t>（</a:t>
            </a: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Portal</a:t>
            </a:r>
            <a:r>
              <a:rPr lang="zh-CN" altLang="en-US" sz="1200" dirty="0">
                <a:latin typeface="Huawei Sans" panose="020C0503030203020204" pitchFamily="34" charset="0"/>
                <a:ea typeface="方正兰亭黑简体" panose="02000000000000000000" pitchFamily="2" charset="-122"/>
                <a:cs typeface="Huawei Sans" panose="020C0503030203020204" pitchFamily="34" charset="0"/>
              </a:rPr>
              <a:t>）</a:t>
            </a:r>
          </a:p>
        </p:txBody>
      </p:sp>
      <p:sp>
        <p:nvSpPr>
          <p:cNvPr id="100" name="椭圆 99"/>
          <p:cNvSpPr/>
          <p:nvPr/>
        </p:nvSpPr>
        <p:spPr bwMode="gray">
          <a:xfrm>
            <a:off x="1946608" y="1941691"/>
            <a:ext cx="612000" cy="612000"/>
          </a:xfrm>
          <a:prstGeom prst="ellipse">
            <a:avLst/>
          </a:prstGeom>
          <a:solidFill>
            <a:srgbClr val="E5F2DE"/>
          </a:solidFill>
          <a:ln>
            <a:solidFill>
              <a:srgbClr val="81C15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101" name="文本框 100"/>
          <p:cNvSpPr txBox="1"/>
          <p:nvPr/>
        </p:nvSpPr>
        <p:spPr bwMode="gray">
          <a:xfrm>
            <a:off x="1917420" y="2108143"/>
            <a:ext cx="670376" cy="276999"/>
          </a:xfrm>
          <a:prstGeom prst="rect">
            <a:avLst/>
          </a:prstGeom>
          <a:noFill/>
        </p:spPr>
        <p:txBody>
          <a:bodyPr wrap="none" rtlCol="0">
            <a:spAutoFit/>
          </a:bodyPr>
          <a:lstStyle/>
          <a:p>
            <a:pPr algn="ctr"/>
            <a:r>
              <a:rPr lang="en-US" altLang="zh-CN" sz="1200" b="1" dirty="0" err="1" smtClean="0">
                <a:solidFill>
                  <a:srgbClr val="62B230"/>
                </a:solidFill>
                <a:latin typeface="Huawei Sans" panose="020C0503030203020204" pitchFamily="34" charset="0"/>
                <a:ea typeface="方正兰亭黑简体" panose="02000000000000000000" pitchFamily="2" charset="-122"/>
                <a:cs typeface="Huawei Sans" panose="020C0503030203020204" pitchFamily="34" charset="0"/>
              </a:rPr>
              <a:t>E_mail</a:t>
            </a:r>
            <a:endParaRPr lang="zh-CN" altLang="en-US" sz="1200" b="1" dirty="0">
              <a:solidFill>
                <a:srgbClr val="62B230"/>
              </a:solidFill>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102" name="任意多边形 101"/>
          <p:cNvSpPr/>
          <p:nvPr/>
        </p:nvSpPr>
        <p:spPr bwMode="gray">
          <a:xfrm>
            <a:off x="1093304" y="2493497"/>
            <a:ext cx="795131" cy="735496"/>
          </a:xfrm>
          <a:custGeom>
            <a:avLst/>
            <a:gdLst>
              <a:gd name="connsiteX0" fmla="*/ 0 w 795131"/>
              <a:gd name="connsiteY0" fmla="*/ 735496 h 735496"/>
              <a:gd name="connsiteX1" fmla="*/ 168966 w 795131"/>
              <a:gd name="connsiteY1" fmla="*/ 367748 h 735496"/>
              <a:gd name="connsiteX2" fmla="*/ 795131 w 795131"/>
              <a:gd name="connsiteY2" fmla="*/ 0 h 735496"/>
            </a:gdLst>
            <a:ahLst/>
            <a:cxnLst>
              <a:cxn ang="0">
                <a:pos x="connsiteX0" y="connsiteY0"/>
              </a:cxn>
              <a:cxn ang="0">
                <a:pos x="connsiteX1" y="connsiteY1"/>
              </a:cxn>
              <a:cxn ang="0">
                <a:pos x="connsiteX2" y="connsiteY2"/>
              </a:cxn>
            </a:cxnLst>
            <a:rect l="l" t="t" r="r" b="b"/>
            <a:pathLst>
              <a:path w="795131" h="735496">
                <a:moveTo>
                  <a:pt x="0" y="735496"/>
                </a:moveTo>
                <a:cubicBezTo>
                  <a:pt x="18222" y="612913"/>
                  <a:pt x="36444" y="490331"/>
                  <a:pt x="168966" y="367748"/>
                </a:cubicBezTo>
                <a:cubicBezTo>
                  <a:pt x="301488" y="245165"/>
                  <a:pt x="548309" y="122582"/>
                  <a:pt x="795131" y="0"/>
                </a:cubicBezTo>
              </a:path>
            </a:pathLst>
          </a:custGeom>
          <a:noFill/>
          <a:ln w="28575">
            <a:solidFill>
              <a:srgbClr val="56C4D2"/>
            </a:solidFill>
            <a:prstDash val="dashDot"/>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p>
        </p:txBody>
      </p:sp>
      <p:sp>
        <p:nvSpPr>
          <p:cNvPr id="103" name="任意多边形 102"/>
          <p:cNvSpPr/>
          <p:nvPr/>
        </p:nvSpPr>
        <p:spPr bwMode="gray">
          <a:xfrm flipH="1">
            <a:off x="2632989" y="2493497"/>
            <a:ext cx="795131" cy="735496"/>
          </a:xfrm>
          <a:custGeom>
            <a:avLst/>
            <a:gdLst>
              <a:gd name="connsiteX0" fmla="*/ 0 w 795131"/>
              <a:gd name="connsiteY0" fmla="*/ 735496 h 735496"/>
              <a:gd name="connsiteX1" fmla="*/ 168966 w 795131"/>
              <a:gd name="connsiteY1" fmla="*/ 367748 h 735496"/>
              <a:gd name="connsiteX2" fmla="*/ 795131 w 795131"/>
              <a:gd name="connsiteY2" fmla="*/ 0 h 735496"/>
            </a:gdLst>
            <a:ahLst/>
            <a:cxnLst>
              <a:cxn ang="0">
                <a:pos x="connsiteX0" y="connsiteY0"/>
              </a:cxn>
              <a:cxn ang="0">
                <a:pos x="connsiteX1" y="connsiteY1"/>
              </a:cxn>
              <a:cxn ang="0">
                <a:pos x="connsiteX2" y="connsiteY2"/>
              </a:cxn>
            </a:cxnLst>
            <a:rect l="l" t="t" r="r" b="b"/>
            <a:pathLst>
              <a:path w="795131" h="735496">
                <a:moveTo>
                  <a:pt x="0" y="735496"/>
                </a:moveTo>
                <a:cubicBezTo>
                  <a:pt x="18222" y="612913"/>
                  <a:pt x="36444" y="490331"/>
                  <a:pt x="168966" y="367748"/>
                </a:cubicBezTo>
                <a:cubicBezTo>
                  <a:pt x="301488" y="245165"/>
                  <a:pt x="548309" y="122582"/>
                  <a:pt x="795131" y="0"/>
                </a:cubicBezTo>
              </a:path>
            </a:pathLst>
          </a:custGeom>
          <a:noFill/>
          <a:ln w="28575">
            <a:solidFill>
              <a:srgbClr val="56C4D2"/>
            </a:solidFill>
            <a:prstDash val="dashDot"/>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p>
        </p:txBody>
      </p:sp>
      <p:sp>
        <p:nvSpPr>
          <p:cNvPr id="104" name="任意多边形 103"/>
          <p:cNvSpPr/>
          <p:nvPr/>
        </p:nvSpPr>
        <p:spPr bwMode="gray">
          <a:xfrm>
            <a:off x="1828800" y="2652523"/>
            <a:ext cx="298174" cy="576470"/>
          </a:xfrm>
          <a:custGeom>
            <a:avLst/>
            <a:gdLst>
              <a:gd name="connsiteX0" fmla="*/ 0 w 298174"/>
              <a:gd name="connsiteY0" fmla="*/ 576470 h 576470"/>
              <a:gd name="connsiteX1" fmla="*/ 69574 w 298174"/>
              <a:gd name="connsiteY1" fmla="*/ 218661 h 576470"/>
              <a:gd name="connsiteX2" fmla="*/ 298174 w 298174"/>
              <a:gd name="connsiteY2" fmla="*/ 0 h 576470"/>
            </a:gdLst>
            <a:ahLst/>
            <a:cxnLst>
              <a:cxn ang="0">
                <a:pos x="connsiteX0" y="connsiteY0"/>
              </a:cxn>
              <a:cxn ang="0">
                <a:pos x="connsiteX1" y="connsiteY1"/>
              </a:cxn>
              <a:cxn ang="0">
                <a:pos x="connsiteX2" y="connsiteY2"/>
              </a:cxn>
            </a:cxnLst>
            <a:rect l="l" t="t" r="r" b="b"/>
            <a:pathLst>
              <a:path w="298174" h="576470">
                <a:moveTo>
                  <a:pt x="0" y="576470"/>
                </a:moveTo>
                <a:cubicBezTo>
                  <a:pt x="9939" y="445604"/>
                  <a:pt x="19878" y="314739"/>
                  <a:pt x="69574" y="218661"/>
                </a:cubicBezTo>
                <a:cubicBezTo>
                  <a:pt x="119270" y="122583"/>
                  <a:pt x="208722" y="61291"/>
                  <a:pt x="298174" y="0"/>
                </a:cubicBezTo>
              </a:path>
            </a:pathLst>
          </a:custGeom>
          <a:noFill/>
          <a:ln w="28575">
            <a:solidFill>
              <a:srgbClr val="56C4D2"/>
            </a:solidFill>
            <a:prstDash val="dashDot"/>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p>
        </p:txBody>
      </p:sp>
      <p:sp>
        <p:nvSpPr>
          <p:cNvPr id="105" name="任意多边形 104"/>
          <p:cNvSpPr/>
          <p:nvPr/>
        </p:nvSpPr>
        <p:spPr bwMode="gray">
          <a:xfrm flipH="1">
            <a:off x="2349887" y="2652523"/>
            <a:ext cx="298174" cy="576470"/>
          </a:xfrm>
          <a:custGeom>
            <a:avLst/>
            <a:gdLst>
              <a:gd name="connsiteX0" fmla="*/ 0 w 298174"/>
              <a:gd name="connsiteY0" fmla="*/ 576470 h 576470"/>
              <a:gd name="connsiteX1" fmla="*/ 69574 w 298174"/>
              <a:gd name="connsiteY1" fmla="*/ 218661 h 576470"/>
              <a:gd name="connsiteX2" fmla="*/ 298174 w 298174"/>
              <a:gd name="connsiteY2" fmla="*/ 0 h 576470"/>
            </a:gdLst>
            <a:ahLst/>
            <a:cxnLst>
              <a:cxn ang="0">
                <a:pos x="connsiteX0" y="connsiteY0"/>
              </a:cxn>
              <a:cxn ang="0">
                <a:pos x="connsiteX1" y="connsiteY1"/>
              </a:cxn>
              <a:cxn ang="0">
                <a:pos x="connsiteX2" y="connsiteY2"/>
              </a:cxn>
            </a:cxnLst>
            <a:rect l="l" t="t" r="r" b="b"/>
            <a:pathLst>
              <a:path w="298174" h="576470">
                <a:moveTo>
                  <a:pt x="0" y="576470"/>
                </a:moveTo>
                <a:cubicBezTo>
                  <a:pt x="9939" y="445604"/>
                  <a:pt x="19878" y="314739"/>
                  <a:pt x="69574" y="218661"/>
                </a:cubicBezTo>
                <a:cubicBezTo>
                  <a:pt x="119270" y="122583"/>
                  <a:pt x="208722" y="61291"/>
                  <a:pt x="298174" y="0"/>
                </a:cubicBezTo>
              </a:path>
            </a:pathLst>
          </a:custGeom>
          <a:noFill/>
          <a:ln w="28575">
            <a:solidFill>
              <a:srgbClr val="56C4D2"/>
            </a:solidFill>
            <a:prstDash val="dashDot"/>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p>
        </p:txBody>
      </p:sp>
      <p:pic>
        <p:nvPicPr>
          <p:cNvPr id="4" name="图片 3"/>
          <p:cNvPicPr>
            <a:picLocks noChangeAspect="1"/>
          </p:cNvPicPr>
          <p:nvPr/>
        </p:nvPicPr>
        <p:blipFill>
          <a:blip r:embed="rId5"/>
          <a:stretch>
            <a:fillRect/>
          </a:stretch>
        </p:blipFill>
        <p:spPr bwMode="gray">
          <a:xfrm>
            <a:off x="5733036" y="2641909"/>
            <a:ext cx="5994112" cy="3214719"/>
          </a:xfrm>
          <a:prstGeom prst="rect">
            <a:avLst/>
          </a:prstGeom>
          <a:ln w="12700">
            <a:solidFill>
              <a:schemeClr val="bg1">
                <a:lumMod val="85000"/>
              </a:schemeClr>
            </a:solidFill>
          </a:ln>
        </p:spPr>
      </p:pic>
      <p:sp>
        <p:nvSpPr>
          <p:cNvPr id="50" name="TextBox 179"/>
          <p:cNvSpPr txBox="1"/>
          <p:nvPr/>
        </p:nvSpPr>
        <p:spPr bwMode="gray">
          <a:xfrm>
            <a:off x="9381535" y="1949756"/>
            <a:ext cx="2331040" cy="618910"/>
          </a:xfrm>
          <a:prstGeom prst="roundRect">
            <a:avLst>
              <a:gd name="adj" fmla="val 12806"/>
            </a:avLst>
          </a:prstGeom>
          <a:solidFill>
            <a:srgbClr val="30B5C5"/>
          </a:solidFill>
          <a:ln>
            <a:noFill/>
          </a:ln>
        </p:spPr>
        <p:txBody>
          <a:bodyPr wrap="square" lIns="72000" tIns="72000" rIns="72000" bIns="72000" anchor="ctr" anchorCtr="0">
            <a:noAutofit/>
          </a:bodyPr>
          <a:lstStyle>
            <a:defPPr>
              <a:defRPr lang="en-US"/>
            </a:defPPr>
            <a:lvl1pPr algn="ctr" defTabSz="914478">
              <a:defRPr sz="1200">
                <a:solidFill>
                  <a:schemeClr val="bg1"/>
                </a:solidFill>
              </a:defRPr>
            </a:lvl1pPr>
            <a:lvl2pPr marL="457240" defTabSz="914478"/>
            <a:lvl3pPr marL="914478" defTabSz="914478"/>
            <a:lvl4pPr marL="1371718" defTabSz="914478"/>
            <a:lvl5pPr marL="1828957" defTabSz="914478"/>
            <a:lvl6pPr marL="2286196" defTabSz="914478"/>
            <a:lvl7pPr marL="2743435" defTabSz="914478"/>
            <a:lvl8pPr marL="3200675" defTabSz="914478"/>
            <a:lvl9pPr marL="3657913" defTabSz="914478"/>
          </a:lstStyle>
          <a:p>
            <a:pPr algn="l"/>
            <a:r>
              <a:rPr lang="zh-CN" altLang="en-US" dirty="0" smtClean="0"/>
              <a:t>策略控制矩阵，基于可视化的方式实现园区网络不同安全组之间的通信策略管理。</a:t>
            </a:r>
            <a:endParaRPr lang="zh-CN" altLang="en-US" dirty="0"/>
          </a:p>
        </p:txBody>
      </p:sp>
      <p:cxnSp>
        <p:nvCxnSpPr>
          <p:cNvPr id="52" name="直接箭头连接符 51"/>
          <p:cNvCxnSpPr/>
          <p:nvPr/>
        </p:nvCxnSpPr>
        <p:spPr bwMode="gray">
          <a:xfrm flipH="1">
            <a:off x="9138915" y="2522408"/>
            <a:ext cx="275641" cy="276999"/>
          </a:xfrm>
          <a:prstGeom prst="straightConnector1">
            <a:avLst/>
          </a:prstGeom>
          <a:ln w="38100">
            <a:solidFill>
              <a:srgbClr val="30B5C5"/>
            </a:solidFill>
            <a:tailEnd type="triangle"/>
          </a:ln>
        </p:spPr>
        <p:style>
          <a:lnRef idx="1">
            <a:schemeClr val="accent1"/>
          </a:lnRef>
          <a:fillRef idx="0">
            <a:schemeClr val="accent1"/>
          </a:fillRef>
          <a:effectRef idx="0">
            <a:schemeClr val="accent1"/>
          </a:effectRef>
          <a:fontRef idx="minor">
            <a:schemeClr val="tx1"/>
          </a:fontRef>
        </p:style>
      </p:cxnSp>
      <p:sp>
        <p:nvSpPr>
          <p:cNvPr id="49" name="五边形 48"/>
          <p:cNvSpPr/>
          <p:nvPr/>
        </p:nvSpPr>
        <p:spPr bwMode="gray">
          <a:xfrm>
            <a:off x="5773628" y="98481"/>
            <a:ext cx="9000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smtClean="0">
                <a:latin typeface="Huawei Sans" panose="020C0503030203020204" pitchFamily="34" charset="0"/>
                <a:ea typeface="方正兰亭黑简体" panose="02000000000000000000" pitchFamily="2" charset="-122"/>
                <a:sym typeface="Huawei Sans" panose="020C0503030203020204" pitchFamily="34" charset="0"/>
              </a:rPr>
              <a:t>站点管理</a:t>
            </a:r>
            <a:endPar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3" name="燕尾形 52"/>
          <p:cNvSpPr/>
          <p:nvPr/>
        </p:nvSpPr>
        <p:spPr bwMode="gray">
          <a:xfrm>
            <a:off x="9109268" y="9848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逻辑网络</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4" name="燕尾形 53"/>
          <p:cNvSpPr/>
          <p:nvPr/>
        </p:nvSpPr>
        <p:spPr bwMode="gray">
          <a:xfrm>
            <a:off x="9925178" y="98481"/>
            <a:ext cx="9000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业务部署</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5" name="燕尾形 54"/>
          <p:cNvSpPr/>
          <p:nvPr/>
        </p:nvSpPr>
        <p:spPr bwMode="gray">
          <a:xfrm>
            <a:off x="8221358" y="98481"/>
            <a:ext cx="972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Fabric</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网络</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6" name="燕尾形 55"/>
          <p:cNvSpPr/>
          <p:nvPr/>
        </p:nvSpPr>
        <p:spPr bwMode="gray">
          <a:xfrm>
            <a:off x="7405448" y="9848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网络规划</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7" name="燕尾形 56"/>
          <p:cNvSpPr/>
          <p:nvPr/>
        </p:nvSpPr>
        <p:spPr bwMode="gray">
          <a:xfrm>
            <a:off x="6589538" y="9848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设备管理</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8" name="燕尾形 57"/>
          <p:cNvSpPr/>
          <p:nvPr/>
        </p:nvSpPr>
        <p:spPr bwMode="gray">
          <a:xfrm>
            <a:off x="10741088" y="98481"/>
            <a:ext cx="1008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WLAN</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业务</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1277004491"/>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normAutofit/>
          </a:bodyPr>
          <a:lstStyle/>
          <a:p>
            <a:r>
              <a:rPr lang="zh-CN" altLang="en-US" dirty="0" smtClean="0"/>
              <a:t>准入认证</a:t>
            </a:r>
            <a:endParaRPr lang="zh-CN" altLang="en-US" dirty="0"/>
          </a:p>
        </p:txBody>
      </p:sp>
      <p:graphicFrame>
        <p:nvGraphicFramePr>
          <p:cNvPr id="10" name="表格 9"/>
          <p:cNvGraphicFramePr>
            <a:graphicFrameLocks noGrp="1"/>
          </p:cNvGraphicFramePr>
          <p:nvPr>
            <p:extLst>
              <p:ext uri="{D42A27DB-BD31-4B8C-83A1-F6EECF244321}">
                <p14:modId xmlns:p14="http://schemas.microsoft.com/office/powerpoint/2010/main" val="370917831"/>
              </p:ext>
            </p:extLst>
          </p:nvPr>
        </p:nvGraphicFramePr>
        <p:xfrm>
          <a:off x="951115" y="3681094"/>
          <a:ext cx="4647302" cy="1496125"/>
        </p:xfrm>
        <a:graphic>
          <a:graphicData uri="http://schemas.openxmlformats.org/drawingml/2006/table">
            <a:tbl>
              <a:tblPr/>
              <a:tblGrid>
                <a:gridCol w="1572507"/>
                <a:gridCol w="3074795"/>
              </a:tblGrid>
              <a:tr h="284461">
                <a:tc>
                  <a:txBody>
                    <a:bodyPr/>
                    <a:lstStyle/>
                    <a:p>
                      <a:pPr algn="ctr"/>
                      <a:r>
                        <a:rPr lang="zh-CN" altLang="en-US" sz="1400" b="1" dirty="0">
                          <a:effectLst/>
                        </a:rPr>
                        <a:t>任务描述</a:t>
                      </a:r>
                    </a:p>
                  </a:txBody>
                  <a:tcPr anchor="ctr">
                    <a:lnL w="28575" cap="flat" cmpd="sng" algn="ctr">
                      <a:solidFill>
                        <a:schemeClr val="tx1"/>
                      </a:solidFill>
                      <a:prstDash val="solid"/>
                      <a:round/>
                      <a:headEnd type="none" w="med" len="med"/>
                      <a:tailEnd type="none" w="med" len="med"/>
                    </a:lnL>
                    <a:lnT w="28575" cap="flat" cmpd="sng" algn="ctr">
                      <a:solidFill>
                        <a:schemeClr val="tx1"/>
                      </a:solidFill>
                      <a:prstDash val="solid"/>
                      <a:round/>
                      <a:headEnd type="none" w="med" len="med"/>
                      <a:tailEnd type="none" w="med" len="med"/>
                    </a:lnT>
                    <a:solidFill>
                      <a:schemeClr val="bg1">
                        <a:lumMod val="85000"/>
                      </a:schemeClr>
                    </a:solidFill>
                  </a:tcPr>
                </a:tc>
                <a:tc>
                  <a:txBody>
                    <a:bodyPr/>
                    <a:lstStyle/>
                    <a:p>
                      <a:pPr algn="ctr"/>
                      <a:r>
                        <a:rPr lang="zh-CN" altLang="en-US" sz="1400" b="1" dirty="0">
                          <a:effectLst/>
                        </a:rPr>
                        <a:t>详细操作步骤</a:t>
                      </a:r>
                    </a:p>
                  </a:txBody>
                  <a:tcPr anchor="ctr">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solidFill>
                      <a:schemeClr val="bg1">
                        <a:lumMod val="85000"/>
                      </a:schemeClr>
                    </a:solidFill>
                  </a:tcPr>
                </a:tc>
              </a:tr>
              <a:tr h="1191325">
                <a:tc>
                  <a:txBody>
                    <a:bodyPr/>
                    <a:lstStyle/>
                    <a:p>
                      <a:pPr algn="ctr"/>
                      <a:r>
                        <a:rPr lang="zh-CN" altLang="en-US" sz="1400" dirty="0" smtClean="0">
                          <a:effectLst/>
                        </a:rPr>
                        <a:t>配置</a:t>
                      </a:r>
                      <a:r>
                        <a:rPr lang="en-US" altLang="zh-CN" sz="1400" dirty="0" smtClean="0">
                          <a:effectLst/>
                        </a:rPr>
                        <a:t>802.1X</a:t>
                      </a:r>
                      <a:r>
                        <a:rPr lang="zh-CN" altLang="en-US" sz="1400" dirty="0" smtClean="0">
                          <a:effectLst/>
                        </a:rPr>
                        <a:t>认证</a:t>
                      </a:r>
                      <a:endParaRPr lang="en-US" sz="1400" dirty="0">
                        <a:effectLst/>
                      </a:endParaRPr>
                    </a:p>
                  </a:txBody>
                  <a:tcPr anchor="ctr">
                    <a:lnL w="28575" cap="flat" cmpd="sng" algn="ctr">
                      <a:solidFill>
                        <a:schemeClr val="tx1"/>
                      </a:solidFill>
                      <a:prstDash val="solid"/>
                      <a:round/>
                      <a:headEnd type="none" w="med" len="med"/>
                      <a:tailEnd type="none" w="med" len="med"/>
                    </a:lnL>
                    <a:lnB w="28575" cap="flat" cmpd="sng" algn="ctr">
                      <a:solidFill>
                        <a:schemeClr val="tx1"/>
                      </a:solidFill>
                      <a:prstDash val="solid"/>
                      <a:round/>
                      <a:headEnd type="none" w="med" len="med"/>
                      <a:tailEnd type="none" w="med" len="med"/>
                    </a:lnB>
                  </a:tcPr>
                </a:tc>
                <a:tc>
                  <a:txBody>
                    <a:bodyPr/>
                    <a:lstStyle/>
                    <a:p>
                      <a:pPr marL="0" indent="-228600" algn="l" defTabSz="914034" rtl="0" eaLnBrk="1" latinLnBrk="0" hangingPunct="1">
                        <a:lnSpc>
                          <a:spcPct val="100000"/>
                        </a:lnSpc>
                        <a:spcAft>
                          <a:spcPts val="0"/>
                        </a:spcAft>
                        <a:buFont typeface="+mj-lt"/>
                        <a:buAutoNum type="arabicPeriod"/>
                      </a:pPr>
                      <a:r>
                        <a:rPr lang="zh-CN" altLang="en-US" sz="1400" kern="1200" dirty="0" smtClean="0">
                          <a:solidFill>
                            <a:schemeClr val="tx1"/>
                          </a:solidFill>
                          <a:effectLst/>
                          <a:latin typeface="+mn-lt"/>
                          <a:ea typeface="+mn-ea"/>
                          <a:cs typeface="+mn-cs"/>
                        </a:rPr>
                        <a:t>创建用户认证账号。</a:t>
                      </a:r>
                    </a:p>
                    <a:p>
                      <a:pPr marL="0" indent="-228600" algn="l" defTabSz="914034" rtl="0" eaLnBrk="1" latinLnBrk="0" hangingPunct="1">
                        <a:lnSpc>
                          <a:spcPct val="100000"/>
                        </a:lnSpc>
                        <a:spcAft>
                          <a:spcPts val="0"/>
                        </a:spcAft>
                        <a:buFont typeface="+mj-lt"/>
                        <a:buAutoNum type="arabicPeriod"/>
                      </a:pPr>
                      <a:r>
                        <a:rPr lang="zh-CN" altLang="en-US" sz="1400" kern="1200" dirty="0" smtClean="0">
                          <a:solidFill>
                            <a:schemeClr val="tx1"/>
                          </a:solidFill>
                          <a:effectLst/>
                          <a:latin typeface="+mn-lt"/>
                          <a:ea typeface="+mn-ea"/>
                          <a:cs typeface="+mn-cs"/>
                        </a:rPr>
                        <a:t>配置认证规则。</a:t>
                      </a:r>
                    </a:p>
                    <a:p>
                      <a:pPr marL="0" indent="-228600" algn="l" defTabSz="914034" rtl="0" eaLnBrk="1" latinLnBrk="0" hangingPunct="1">
                        <a:lnSpc>
                          <a:spcPct val="100000"/>
                        </a:lnSpc>
                        <a:spcAft>
                          <a:spcPts val="0"/>
                        </a:spcAft>
                        <a:buFont typeface="+mj-lt"/>
                        <a:buAutoNum type="arabicPeriod"/>
                      </a:pPr>
                      <a:r>
                        <a:rPr lang="zh-CN" altLang="en-US" sz="1400" kern="1200" dirty="0" smtClean="0">
                          <a:solidFill>
                            <a:schemeClr val="tx1"/>
                          </a:solidFill>
                          <a:effectLst/>
                          <a:latin typeface="+mn-lt"/>
                          <a:ea typeface="+mn-ea"/>
                          <a:cs typeface="+mn-cs"/>
                        </a:rPr>
                        <a:t>配置授权结果和授权规则。</a:t>
                      </a:r>
                      <a:endParaRPr lang="zh-CN" altLang="en-US" sz="1400" kern="1200" dirty="0">
                        <a:solidFill>
                          <a:schemeClr val="tx1"/>
                        </a:solidFill>
                        <a:effectLst/>
                        <a:latin typeface="+mn-lt"/>
                        <a:ea typeface="+mn-ea"/>
                        <a:cs typeface="+mn-cs"/>
                      </a:endParaRPr>
                    </a:p>
                  </a:txBody>
                  <a:tcPr anchor="ctr">
                    <a:lnR w="28575" cap="flat" cmpd="sng" algn="ctr">
                      <a:solidFill>
                        <a:schemeClr val="tx1"/>
                      </a:solidFill>
                      <a:prstDash val="solid"/>
                      <a:round/>
                      <a:headEnd type="none" w="med" len="med"/>
                      <a:tailEnd type="none" w="med" len="med"/>
                    </a:lnR>
                    <a:lnB w="28575" cap="flat" cmpd="sng" algn="ctr">
                      <a:solidFill>
                        <a:schemeClr val="tx1"/>
                      </a:solidFill>
                      <a:prstDash val="solid"/>
                      <a:round/>
                      <a:headEnd type="none" w="med" len="med"/>
                      <a:tailEnd type="none" w="med" len="med"/>
                    </a:lnB>
                  </a:tcPr>
                </a:tc>
              </a:tr>
            </a:tbl>
          </a:graphicData>
        </a:graphic>
      </p:graphicFrame>
      <p:graphicFrame>
        <p:nvGraphicFramePr>
          <p:cNvPr id="20" name="表格 19"/>
          <p:cNvGraphicFramePr>
            <a:graphicFrameLocks noGrp="1"/>
          </p:cNvGraphicFramePr>
          <p:nvPr>
            <p:extLst>
              <p:ext uri="{D42A27DB-BD31-4B8C-83A1-F6EECF244321}">
                <p14:modId xmlns:p14="http://schemas.microsoft.com/office/powerpoint/2010/main" val="2264674667"/>
              </p:ext>
            </p:extLst>
          </p:nvPr>
        </p:nvGraphicFramePr>
        <p:xfrm>
          <a:off x="6458581" y="3709806"/>
          <a:ext cx="5212993" cy="2274742"/>
        </p:xfrm>
        <a:graphic>
          <a:graphicData uri="http://schemas.openxmlformats.org/drawingml/2006/table">
            <a:tbl>
              <a:tblPr/>
              <a:tblGrid>
                <a:gridCol w="1650439"/>
                <a:gridCol w="3562554"/>
              </a:tblGrid>
              <a:tr h="284492">
                <a:tc>
                  <a:txBody>
                    <a:bodyPr/>
                    <a:lstStyle/>
                    <a:p>
                      <a:pPr algn="ctr"/>
                      <a:r>
                        <a:rPr lang="zh-CN" altLang="en-US" sz="1400" b="1" dirty="0">
                          <a:effectLst/>
                        </a:rPr>
                        <a:t>任务描述</a:t>
                      </a:r>
                    </a:p>
                  </a:txBody>
                  <a:tcPr anchor="ctr">
                    <a:lnL w="28575" cap="flat" cmpd="sng" algn="ctr">
                      <a:solidFill>
                        <a:schemeClr val="tx1"/>
                      </a:solidFill>
                      <a:prstDash val="solid"/>
                      <a:round/>
                      <a:headEnd type="none" w="med" len="med"/>
                      <a:tailEnd type="none" w="med" len="med"/>
                    </a:lnL>
                    <a:lnT w="28575" cap="flat" cmpd="sng" algn="ctr">
                      <a:solidFill>
                        <a:schemeClr val="tx1"/>
                      </a:solidFill>
                      <a:prstDash val="solid"/>
                      <a:round/>
                      <a:headEnd type="none" w="med" len="med"/>
                      <a:tailEnd type="none" w="med" len="med"/>
                    </a:lnT>
                    <a:solidFill>
                      <a:schemeClr val="bg1">
                        <a:lumMod val="85000"/>
                      </a:schemeClr>
                    </a:solidFill>
                  </a:tcPr>
                </a:tc>
                <a:tc>
                  <a:txBody>
                    <a:bodyPr/>
                    <a:lstStyle/>
                    <a:p>
                      <a:pPr algn="ctr"/>
                      <a:r>
                        <a:rPr lang="zh-CN" altLang="en-US" sz="1400" b="1" dirty="0">
                          <a:effectLst/>
                        </a:rPr>
                        <a:t>详细操作步骤</a:t>
                      </a:r>
                    </a:p>
                  </a:txBody>
                  <a:tcPr anchor="ctr">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solidFill>
                      <a:schemeClr val="bg1">
                        <a:lumMod val="85000"/>
                      </a:schemeClr>
                    </a:solidFill>
                  </a:tcPr>
                </a:tc>
              </a:tr>
              <a:tr h="1054102">
                <a:tc>
                  <a:txBody>
                    <a:bodyPr/>
                    <a:lstStyle/>
                    <a:p>
                      <a:pPr marL="0" indent="0" algn="ctr" defTabSz="914034" rtl="0" eaLnBrk="1" latinLnBrk="0" hangingPunct="1">
                        <a:lnSpc>
                          <a:spcPct val="100000"/>
                        </a:lnSpc>
                        <a:spcAft>
                          <a:spcPts val="0"/>
                        </a:spcAft>
                        <a:buFont typeface="+mj-lt"/>
                        <a:buNone/>
                      </a:pPr>
                      <a:r>
                        <a:rPr lang="zh-CN" altLang="en-US" sz="1400" kern="1200" dirty="0" smtClean="0">
                          <a:solidFill>
                            <a:schemeClr val="tx1"/>
                          </a:solidFill>
                          <a:effectLst/>
                          <a:latin typeface="+mn-lt"/>
                          <a:ea typeface="+mn-ea"/>
                          <a:cs typeface="+mn-cs"/>
                        </a:rPr>
                        <a:t>配置</a:t>
                      </a:r>
                      <a:r>
                        <a:rPr lang="en-US" altLang="zh-CN" sz="1400" kern="1200" dirty="0" smtClean="0">
                          <a:solidFill>
                            <a:schemeClr val="tx1"/>
                          </a:solidFill>
                          <a:effectLst/>
                          <a:latin typeface="+mn-lt"/>
                          <a:ea typeface="+mn-ea"/>
                          <a:cs typeface="+mn-cs"/>
                        </a:rPr>
                        <a:t>Portal</a:t>
                      </a:r>
                      <a:r>
                        <a:rPr lang="zh-CN" altLang="en-US" sz="1400" kern="1200" dirty="0" smtClean="0">
                          <a:solidFill>
                            <a:schemeClr val="tx1"/>
                          </a:solidFill>
                          <a:effectLst/>
                          <a:latin typeface="+mn-lt"/>
                          <a:ea typeface="+mn-ea"/>
                          <a:cs typeface="+mn-cs"/>
                        </a:rPr>
                        <a:t>认证</a:t>
                      </a:r>
                      <a:endParaRPr lang="en-US" sz="1400" kern="1200" dirty="0">
                        <a:solidFill>
                          <a:schemeClr val="tx1"/>
                        </a:solidFill>
                        <a:effectLst/>
                        <a:latin typeface="+mn-lt"/>
                        <a:ea typeface="+mn-ea"/>
                        <a:cs typeface="+mn-cs"/>
                      </a:endParaRPr>
                    </a:p>
                  </a:txBody>
                  <a:tcPr anchor="ctr">
                    <a:lnL w="28575" cap="flat" cmpd="sng" algn="ctr">
                      <a:solidFill>
                        <a:schemeClr val="tx1"/>
                      </a:solidFill>
                      <a:prstDash val="solid"/>
                      <a:round/>
                      <a:headEnd type="none" w="med" len="med"/>
                      <a:tailEnd type="none" w="med" len="med"/>
                    </a:lnL>
                  </a:tcPr>
                </a:tc>
                <a:tc>
                  <a:txBody>
                    <a:bodyPr/>
                    <a:lstStyle/>
                    <a:p>
                      <a:pPr marL="0" indent="-228600" algn="l" defTabSz="914034" rtl="0" eaLnBrk="1" latinLnBrk="0" hangingPunct="1">
                        <a:lnSpc>
                          <a:spcPct val="100000"/>
                        </a:lnSpc>
                        <a:spcAft>
                          <a:spcPts val="0"/>
                        </a:spcAft>
                        <a:buFont typeface="+mj-lt"/>
                        <a:buAutoNum type="arabicPeriod"/>
                      </a:pPr>
                      <a:r>
                        <a:rPr lang="zh-CN" altLang="en-US" sz="1400" kern="1200" dirty="0" smtClean="0">
                          <a:solidFill>
                            <a:schemeClr val="tx1"/>
                          </a:solidFill>
                          <a:effectLst/>
                          <a:latin typeface="+mn-lt"/>
                          <a:ea typeface="+mn-ea"/>
                          <a:cs typeface="+mn-cs"/>
                        </a:rPr>
                        <a:t>创建用户认证账号。</a:t>
                      </a:r>
                    </a:p>
                    <a:p>
                      <a:pPr marL="0" indent="-228600" algn="l" defTabSz="914034" rtl="0" eaLnBrk="1" latinLnBrk="0" hangingPunct="1">
                        <a:lnSpc>
                          <a:spcPct val="100000"/>
                        </a:lnSpc>
                        <a:spcAft>
                          <a:spcPts val="0"/>
                        </a:spcAft>
                        <a:buFont typeface="+mj-lt"/>
                        <a:buAutoNum type="arabicPeriod"/>
                      </a:pPr>
                      <a:r>
                        <a:rPr lang="zh-CN" altLang="en-US" sz="1400" kern="1200" dirty="0" smtClean="0">
                          <a:solidFill>
                            <a:schemeClr val="tx1"/>
                          </a:solidFill>
                          <a:effectLst/>
                          <a:latin typeface="+mn-lt"/>
                          <a:ea typeface="+mn-ea"/>
                          <a:cs typeface="+mn-cs"/>
                        </a:rPr>
                        <a:t>配置认证规则。</a:t>
                      </a:r>
                    </a:p>
                    <a:p>
                      <a:pPr marL="0" indent="-228600" algn="l" defTabSz="914034" rtl="0" eaLnBrk="1" latinLnBrk="0" hangingPunct="1">
                        <a:lnSpc>
                          <a:spcPct val="100000"/>
                        </a:lnSpc>
                        <a:spcAft>
                          <a:spcPts val="0"/>
                        </a:spcAft>
                        <a:buFont typeface="+mj-lt"/>
                        <a:buAutoNum type="arabicPeriod"/>
                      </a:pPr>
                      <a:r>
                        <a:rPr lang="zh-CN" altLang="en-US" sz="1400" kern="1200" dirty="0" smtClean="0">
                          <a:solidFill>
                            <a:schemeClr val="tx1"/>
                          </a:solidFill>
                          <a:effectLst/>
                          <a:latin typeface="+mn-lt"/>
                          <a:ea typeface="+mn-ea"/>
                          <a:cs typeface="+mn-cs"/>
                        </a:rPr>
                        <a:t>配置授权结果和授权规则。</a:t>
                      </a:r>
                      <a:endParaRPr lang="zh-CN" altLang="en-US" sz="1400" kern="1200" dirty="0">
                        <a:solidFill>
                          <a:schemeClr val="tx1"/>
                        </a:solidFill>
                        <a:effectLst/>
                        <a:latin typeface="+mn-lt"/>
                        <a:ea typeface="+mn-ea"/>
                        <a:cs typeface="+mn-cs"/>
                      </a:endParaRPr>
                    </a:p>
                  </a:txBody>
                  <a:tcPr anchor="ctr">
                    <a:lnR w="28575" cap="flat" cmpd="sng" algn="ctr">
                      <a:solidFill>
                        <a:schemeClr val="tx1"/>
                      </a:solidFill>
                      <a:prstDash val="solid"/>
                      <a:round/>
                      <a:headEnd type="none" w="med" len="med"/>
                      <a:tailEnd type="none" w="med" len="med"/>
                    </a:lnR>
                  </a:tcPr>
                </a:tc>
              </a:tr>
              <a:tr h="915840">
                <a:tc>
                  <a:txBody>
                    <a:bodyPr/>
                    <a:lstStyle/>
                    <a:p>
                      <a:pPr marL="0" indent="0" algn="ctr" defTabSz="914034" rtl="0" eaLnBrk="1" latinLnBrk="0" hangingPunct="1">
                        <a:lnSpc>
                          <a:spcPct val="100000"/>
                        </a:lnSpc>
                        <a:spcAft>
                          <a:spcPts val="0"/>
                        </a:spcAft>
                        <a:buFont typeface="+mj-lt"/>
                        <a:buNone/>
                      </a:pPr>
                      <a:r>
                        <a:rPr lang="zh-CN" altLang="en-US" sz="1400" kern="1200" dirty="0" smtClean="0">
                          <a:solidFill>
                            <a:schemeClr val="tx1"/>
                          </a:solidFill>
                          <a:effectLst/>
                          <a:latin typeface="+mn-lt"/>
                          <a:ea typeface="+mn-ea"/>
                          <a:cs typeface="+mn-cs"/>
                        </a:rPr>
                        <a:t>（可选）配置</a:t>
                      </a:r>
                      <a:r>
                        <a:rPr lang="en-US" altLang="zh-CN" sz="1400" kern="1200" dirty="0" smtClean="0">
                          <a:solidFill>
                            <a:schemeClr val="tx1"/>
                          </a:solidFill>
                          <a:effectLst/>
                          <a:latin typeface="+mn-lt"/>
                          <a:ea typeface="+mn-ea"/>
                          <a:cs typeface="+mn-cs"/>
                        </a:rPr>
                        <a:t>MAC</a:t>
                      </a:r>
                      <a:r>
                        <a:rPr lang="zh-CN" altLang="en-US" sz="1400" kern="1200" dirty="0" smtClean="0">
                          <a:solidFill>
                            <a:schemeClr val="tx1"/>
                          </a:solidFill>
                          <a:effectLst/>
                          <a:latin typeface="+mn-lt"/>
                          <a:ea typeface="+mn-ea"/>
                          <a:cs typeface="+mn-cs"/>
                        </a:rPr>
                        <a:t>免认证策略</a:t>
                      </a:r>
                    </a:p>
                  </a:txBody>
                  <a:tcPr anchor="ctr">
                    <a:lnL w="28575" cap="flat" cmpd="sng" algn="ctr">
                      <a:solidFill>
                        <a:schemeClr val="tx1"/>
                      </a:solidFill>
                      <a:prstDash val="solid"/>
                      <a:round/>
                      <a:headEnd type="none" w="med" len="med"/>
                      <a:tailEnd type="none" w="med" len="med"/>
                    </a:lnL>
                    <a:lnB w="28575" cap="flat" cmpd="sng" algn="ctr">
                      <a:solidFill>
                        <a:schemeClr val="tx1"/>
                      </a:solidFill>
                      <a:prstDash val="solid"/>
                      <a:round/>
                      <a:headEnd type="none" w="med" len="med"/>
                      <a:tailEnd type="none" w="med" len="med"/>
                    </a:lnB>
                  </a:tcPr>
                </a:tc>
                <a:tc>
                  <a:txBody>
                    <a:bodyPr/>
                    <a:lstStyle/>
                    <a:p>
                      <a:pPr marL="0" indent="0">
                        <a:lnSpc>
                          <a:spcPct val="100000"/>
                        </a:lnSpc>
                        <a:spcAft>
                          <a:spcPts val="0"/>
                        </a:spcAft>
                        <a:buFont typeface="+mj-lt"/>
                        <a:buNone/>
                      </a:pPr>
                      <a:r>
                        <a:rPr lang="zh-CN" altLang="en-US" sz="1400" dirty="0" smtClean="0">
                          <a:effectLst/>
                        </a:rPr>
                        <a:t>如需用户终端在首次</a:t>
                      </a:r>
                      <a:r>
                        <a:rPr lang="en-US" altLang="zh-CN" sz="1400" dirty="0" smtClean="0">
                          <a:effectLst/>
                        </a:rPr>
                        <a:t>Portal</a:t>
                      </a:r>
                      <a:r>
                        <a:rPr lang="zh-CN" altLang="en-US" sz="1400" dirty="0" smtClean="0">
                          <a:effectLst/>
                        </a:rPr>
                        <a:t>认证通过后的一段时间内，可以基于</a:t>
                      </a:r>
                      <a:r>
                        <a:rPr lang="en-US" altLang="zh-CN" sz="1400" dirty="0" smtClean="0">
                          <a:effectLst/>
                        </a:rPr>
                        <a:t>MAC</a:t>
                      </a:r>
                      <a:r>
                        <a:rPr lang="zh-CN" altLang="en-US" sz="1400" dirty="0" smtClean="0">
                          <a:effectLst/>
                        </a:rPr>
                        <a:t>免认证，需要在用户控制策略中配置此功能。</a:t>
                      </a:r>
                    </a:p>
                  </a:txBody>
                  <a:tcPr anchor="ctr">
                    <a:lnR w="28575" cap="flat" cmpd="sng" algn="ctr">
                      <a:solidFill>
                        <a:schemeClr val="tx1"/>
                      </a:solidFill>
                      <a:prstDash val="solid"/>
                      <a:round/>
                      <a:headEnd type="none" w="med" len="med"/>
                      <a:tailEnd type="none" w="med" len="med"/>
                    </a:lnR>
                    <a:lnB w="28575" cap="flat" cmpd="sng" algn="ctr">
                      <a:solidFill>
                        <a:schemeClr val="tx1"/>
                      </a:solidFill>
                      <a:prstDash val="solid"/>
                      <a:round/>
                      <a:headEnd type="none" w="med" len="med"/>
                      <a:tailEnd type="none" w="med" len="med"/>
                    </a:lnB>
                  </a:tcPr>
                </a:tc>
              </a:tr>
            </a:tbl>
          </a:graphicData>
        </a:graphic>
      </p:graphicFrame>
      <p:sp>
        <p:nvSpPr>
          <p:cNvPr id="23" name="TextBox 321"/>
          <p:cNvSpPr txBox="1"/>
          <p:nvPr/>
        </p:nvSpPr>
        <p:spPr bwMode="gray">
          <a:xfrm>
            <a:off x="483677" y="1000046"/>
            <a:ext cx="5582179" cy="360000"/>
          </a:xfrm>
          <a:prstGeom prst="roundRect">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defPPr>
              <a:defRPr lang="en-US"/>
            </a:defPPr>
            <a:lvl1pPr algn="ctr">
              <a:defRPr sz="1600">
                <a:solidFill>
                  <a:srgbClr val="30B5C5"/>
                </a:solidFill>
                <a:latin typeface="Huawei Sans" panose="020C0503030203020204" pitchFamily="34" charset="0"/>
                <a:ea typeface="方正兰亭黑简体" panose="02000000000000000000" pitchFamily="2" charset="-122"/>
              </a:defRPr>
            </a:lvl1pPr>
          </a:lstStyle>
          <a:p>
            <a:r>
              <a:rPr lang="en-US" altLang="zh-CN" dirty="0" smtClean="0">
                <a:sym typeface="Huawei Sans" panose="020C0503030203020204" pitchFamily="34" charset="0"/>
              </a:rPr>
              <a:t>802.1X</a:t>
            </a:r>
            <a:r>
              <a:rPr lang="zh-CN" altLang="en-US" dirty="0" smtClean="0">
                <a:sym typeface="Huawei Sans" panose="020C0503030203020204" pitchFamily="34" charset="0"/>
              </a:rPr>
              <a:t>认证</a:t>
            </a:r>
            <a:endParaRPr lang="zh-CN" altLang="en-US" dirty="0">
              <a:sym typeface="Huawei Sans" panose="020C0503030203020204" pitchFamily="34" charset="0"/>
            </a:endParaRPr>
          </a:p>
        </p:txBody>
      </p:sp>
      <p:sp>
        <p:nvSpPr>
          <p:cNvPr id="24" name="圆角矩形 75"/>
          <p:cNvSpPr/>
          <p:nvPr/>
        </p:nvSpPr>
        <p:spPr bwMode="gray">
          <a:xfrm>
            <a:off x="483678" y="1429861"/>
            <a:ext cx="5582179" cy="4770914"/>
          </a:xfrm>
          <a:prstGeom prst="roundRect">
            <a:avLst>
              <a:gd name="adj" fmla="val 1534"/>
            </a:avLst>
          </a:prstGeom>
          <a:no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2000" tIns="72000" rIns="72000" bIns="72000" rtlCol="0" anchor="t" anchorCtr="0"/>
          <a:lstStyle/>
          <a:p>
            <a:pPr>
              <a:lnSpc>
                <a:spcPts val="2200"/>
              </a:lnSpc>
            </a:pPr>
            <a:endParaRPr lang="zh-CN" altLang="en-US" sz="1400">
              <a:solidFill>
                <a:schemeClr val="tx1">
                  <a:lumMod val="65000"/>
                  <a:lumOff val="35000"/>
                </a:schemeClr>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25" name="文本占位符 8"/>
          <p:cNvSpPr txBox="1">
            <a:spLocks/>
          </p:cNvSpPr>
          <p:nvPr/>
        </p:nvSpPr>
        <p:spPr bwMode="gray">
          <a:xfrm>
            <a:off x="483678" y="1460006"/>
            <a:ext cx="5582177" cy="2147864"/>
          </a:xfrm>
          <a:prstGeom prst="rect">
            <a:avLst/>
          </a:prstGeom>
          <a:noFill/>
          <a:ln w="9525">
            <a:noFill/>
            <a:miter lim="800000"/>
            <a:headEnd/>
            <a:tailEnd/>
          </a:ln>
        </p:spPr>
        <p:txBody>
          <a:bodyPr vert="horz" wrap="square" lIns="80141" tIns="40071" rIns="80141" bIns="40071" numCol="1" anchor="t" anchorCtr="0" compatLnSpc="1">
            <a:prstTxWarp prst="textNoShape">
              <a:avLst/>
            </a:prstTxWarp>
          </a:bodyPr>
          <a:lstStyle>
            <a:lvl1pPr marL="302279" indent="-302279" algn="just" defTabSz="914034" rtl="0" eaLnBrk="1" fontAlgn="ctr" latinLnBrk="0" hangingPunct="1">
              <a:lnSpc>
                <a:spcPct val="140000"/>
              </a:lnSpc>
              <a:spcBef>
                <a:spcPts val="792"/>
              </a:spcBef>
              <a:buClrTx/>
              <a:buSzPct val="50000"/>
              <a:buFont typeface="Wingdings" panose="05000000000000000000" pitchFamily="2" charset="2"/>
              <a:buChar char="l"/>
              <a:defRPr sz="2199" kern="1200" baseline="0">
                <a:solidFill>
                  <a:schemeClr val="tx1"/>
                </a:solidFill>
                <a:latin typeface="Huawei Sans" panose="020C0503030203020204" pitchFamily="34" charset="0"/>
                <a:ea typeface="方正兰亭黑简体" panose="02000000000000000000" pitchFamily="2" charset="-122"/>
                <a:cs typeface="Huawei Sans" panose="020C0503030203020204" pitchFamily="34" charset="0"/>
              </a:defRPr>
            </a:lvl1pPr>
            <a:lvl2pPr marL="654938" indent="-251899" algn="l" defTabSz="914034" rtl="0" eaLnBrk="1" fontAlgn="ctr" latinLnBrk="0" hangingPunct="1">
              <a:lnSpc>
                <a:spcPct val="140000"/>
              </a:lnSpc>
              <a:spcBef>
                <a:spcPts val="720"/>
              </a:spcBef>
              <a:buClrTx/>
              <a:buSzPct val="50000"/>
              <a:buFont typeface="Wingdings" panose="05000000000000000000" pitchFamily="2" charset="2"/>
              <a:buChar char="p"/>
              <a:defRPr sz="1999" kern="1200" baseline="0">
                <a:solidFill>
                  <a:schemeClr val="tx1"/>
                </a:solidFill>
                <a:latin typeface="Huawei Sans" panose="020C0503030203020204" pitchFamily="34" charset="0"/>
                <a:ea typeface="方正兰亭黑简体" panose="02000000000000000000" pitchFamily="2" charset="-122"/>
                <a:cs typeface="+mn-cs"/>
              </a:defRPr>
            </a:lvl2pPr>
            <a:lvl3pPr marL="1003998" indent="-201519" algn="l" defTabSz="914034" rtl="0" eaLnBrk="1" fontAlgn="ctr" latinLnBrk="0" hangingPunct="1">
              <a:lnSpc>
                <a:spcPct val="140000"/>
              </a:lnSpc>
              <a:spcBef>
                <a:spcPts val="648"/>
              </a:spcBef>
              <a:buClrTx/>
              <a:buSzPct val="50000"/>
              <a:buFont typeface="Wingdings" panose="05000000000000000000" pitchFamily="2" charset="2"/>
              <a:buChar char="n"/>
              <a:defRPr sz="1799" kern="1200" baseline="0">
                <a:solidFill>
                  <a:schemeClr val="tx1"/>
                </a:solidFill>
                <a:latin typeface="Huawei Sans" panose="020C0503030203020204" pitchFamily="34" charset="0"/>
                <a:ea typeface="方正兰亭黑简体" panose="02000000000000000000" pitchFamily="2" charset="-122"/>
                <a:cs typeface="+mn-cs"/>
              </a:defRPr>
            </a:lvl3pPr>
            <a:lvl4pPr marL="1399840" indent="-197921" algn="l" defTabSz="914034" rtl="0" eaLnBrk="1" fontAlgn="ctr" latinLnBrk="0" hangingPunct="1">
              <a:lnSpc>
                <a:spcPct val="140000"/>
              </a:lnSpc>
              <a:spcBef>
                <a:spcPts val="576"/>
              </a:spcBef>
              <a:buFont typeface="Huawei Sans" panose="020C0503030203020204" pitchFamily="34" charset="0"/>
              <a:buChar char="−"/>
              <a:defRPr sz="1599" kern="1200" baseline="0">
                <a:solidFill>
                  <a:schemeClr val="tx1"/>
                </a:solidFill>
                <a:latin typeface="Huawei Sans" panose="020C0503030203020204" pitchFamily="34" charset="0"/>
                <a:ea typeface="方正兰亭黑简体" panose="02000000000000000000" pitchFamily="2" charset="-122"/>
                <a:cs typeface="+mn-cs"/>
              </a:defRPr>
            </a:lvl4pPr>
            <a:lvl5pPr marL="1802879" indent="-201519" algn="l" defTabSz="914034" rtl="0" eaLnBrk="1" fontAlgn="ctr" latinLnBrk="0" hangingPunct="1">
              <a:lnSpc>
                <a:spcPct val="140000"/>
              </a:lnSpc>
              <a:spcBef>
                <a:spcPts val="576"/>
              </a:spcBef>
              <a:buFont typeface="Huawei Sans" panose="020C0503030203020204" pitchFamily="34" charset="0"/>
              <a:buChar char="~"/>
              <a:defRPr sz="1399" kern="1200" baseline="0">
                <a:solidFill>
                  <a:schemeClr val="tx1"/>
                </a:solidFill>
                <a:latin typeface="Huawei Sans" panose="020C0503030203020204" pitchFamily="34" charset="0"/>
                <a:ea typeface="方正兰亭黑简体" panose="02000000000000000000" pitchFamily="2" charset="-122"/>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pPr fontAlgn="base"/>
            <a:r>
              <a:rPr lang="en-US" altLang="zh-CN" sz="1600" dirty="0"/>
              <a:t>802.1X</a:t>
            </a:r>
            <a:r>
              <a:rPr lang="zh-CN" altLang="en-US" sz="1600" dirty="0"/>
              <a:t>协议是一种基于端口的网络接入控制协议。“基于端口的网络接入控制”是指在局域网接入设备的端口验证用户身份并控制其访问权限</a:t>
            </a:r>
            <a:r>
              <a:rPr lang="zh-CN" altLang="en-US" sz="1600" dirty="0" smtClean="0"/>
              <a:t>。</a:t>
            </a:r>
            <a:endParaRPr lang="en-US" altLang="zh-CN" sz="1600" dirty="0" smtClean="0"/>
          </a:p>
          <a:p>
            <a:pPr fontAlgn="base"/>
            <a:r>
              <a:rPr lang="en-US" altLang="zh-CN" sz="1600" dirty="0"/>
              <a:t>iMaster NCE-Campus</a:t>
            </a:r>
            <a:r>
              <a:rPr lang="zh-CN" altLang="en-US" sz="1600" dirty="0"/>
              <a:t>作为</a:t>
            </a:r>
            <a:r>
              <a:rPr lang="en-US" altLang="zh-CN" sz="1600" dirty="0"/>
              <a:t>RADIUS</a:t>
            </a:r>
            <a:r>
              <a:rPr lang="zh-CN" altLang="en-US" sz="1600" dirty="0"/>
              <a:t>服务器时，</a:t>
            </a:r>
            <a:r>
              <a:rPr lang="en-US" altLang="zh-CN" sz="1600" dirty="0"/>
              <a:t>802.1X</a:t>
            </a:r>
            <a:r>
              <a:rPr lang="zh-CN" altLang="en-US" sz="1600" dirty="0"/>
              <a:t>认证的服务器侧配置如下</a:t>
            </a:r>
            <a:r>
              <a:rPr lang="zh-CN" altLang="en-US" sz="1600" dirty="0" smtClean="0"/>
              <a:t>：</a:t>
            </a:r>
            <a:endParaRPr lang="zh-CN" altLang="en-US" sz="1600" dirty="0"/>
          </a:p>
        </p:txBody>
      </p:sp>
      <p:sp>
        <p:nvSpPr>
          <p:cNvPr id="26" name="TextBox 321"/>
          <p:cNvSpPr txBox="1"/>
          <p:nvPr/>
        </p:nvSpPr>
        <p:spPr bwMode="gray">
          <a:xfrm>
            <a:off x="6130393" y="1000046"/>
            <a:ext cx="5582179" cy="360000"/>
          </a:xfrm>
          <a:prstGeom prst="roundRect">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defPPr>
              <a:defRPr lang="en-US"/>
            </a:defPPr>
            <a:lvl1pPr algn="ctr">
              <a:defRPr sz="1600">
                <a:solidFill>
                  <a:srgbClr val="30B5C5"/>
                </a:solidFill>
                <a:latin typeface="Huawei Sans" panose="020C0503030203020204" pitchFamily="34" charset="0"/>
                <a:ea typeface="方正兰亭黑简体" panose="02000000000000000000" pitchFamily="2" charset="-122"/>
              </a:defRPr>
            </a:lvl1pPr>
          </a:lstStyle>
          <a:p>
            <a:r>
              <a:rPr lang="en-US" altLang="zh-CN" dirty="0">
                <a:sym typeface="Huawei Sans" panose="020C0503030203020204" pitchFamily="34" charset="0"/>
              </a:rPr>
              <a:t>Portal</a:t>
            </a:r>
            <a:r>
              <a:rPr lang="zh-CN" altLang="en-US" dirty="0" smtClean="0">
                <a:sym typeface="Huawei Sans" panose="020C0503030203020204" pitchFamily="34" charset="0"/>
              </a:rPr>
              <a:t>认证</a:t>
            </a:r>
            <a:endParaRPr lang="zh-CN" altLang="en-US" dirty="0">
              <a:sym typeface="Huawei Sans" panose="020C0503030203020204" pitchFamily="34" charset="0"/>
            </a:endParaRPr>
          </a:p>
        </p:txBody>
      </p:sp>
      <p:sp>
        <p:nvSpPr>
          <p:cNvPr id="27" name="圆角矩形 75"/>
          <p:cNvSpPr/>
          <p:nvPr/>
        </p:nvSpPr>
        <p:spPr bwMode="gray">
          <a:xfrm>
            <a:off x="6130394" y="1429861"/>
            <a:ext cx="5582179" cy="4770914"/>
          </a:xfrm>
          <a:prstGeom prst="roundRect">
            <a:avLst>
              <a:gd name="adj" fmla="val 1534"/>
            </a:avLst>
          </a:prstGeom>
          <a:no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2000" tIns="72000" rIns="72000" bIns="72000" rtlCol="0" anchor="t" anchorCtr="0"/>
          <a:lstStyle/>
          <a:p>
            <a:pPr>
              <a:lnSpc>
                <a:spcPts val="2200"/>
              </a:lnSpc>
            </a:pPr>
            <a:endParaRPr lang="zh-CN" altLang="en-US" sz="1400">
              <a:solidFill>
                <a:schemeClr val="tx1">
                  <a:lumMod val="65000"/>
                  <a:lumOff val="35000"/>
                </a:schemeClr>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28" name="文本占位符 8"/>
          <p:cNvSpPr txBox="1">
            <a:spLocks/>
          </p:cNvSpPr>
          <p:nvPr/>
        </p:nvSpPr>
        <p:spPr bwMode="gray">
          <a:xfrm>
            <a:off x="6130398" y="1460006"/>
            <a:ext cx="5582177" cy="2147864"/>
          </a:xfrm>
          <a:prstGeom prst="rect">
            <a:avLst/>
          </a:prstGeom>
          <a:noFill/>
          <a:ln w="9525">
            <a:noFill/>
            <a:miter lim="800000"/>
            <a:headEnd/>
            <a:tailEnd/>
          </a:ln>
        </p:spPr>
        <p:txBody>
          <a:bodyPr vert="horz" wrap="square" lIns="80141" tIns="40071" rIns="80141" bIns="40071" numCol="1" anchor="t" anchorCtr="0" compatLnSpc="1">
            <a:prstTxWarp prst="textNoShape">
              <a:avLst/>
            </a:prstTxWarp>
          </a:bodyPr>
          <a:lstStyle>
            <a:defPPr>
              <a:defRPr lang="en-US"/>
            </a:defPPr>
            <a:lvl1pPr marL="302279" indent="-302279" algn="just" defTabSz="914034" fontAlgn="base">
              <a:lnSpc>
                <a:spcPct val="140000"/>
              </a:lnSpc>
              <a:spcBef>
                <a:spcPts val="792"/>
              </a:spcBef>
              <a:buClrTx/>
              <a:buSzPct val="50000"/>
              <a:buFont typeface="Wingdings" panose="05000000000000000000" pitchFamily="2" charset="2"/>
              <a:buChar char="l"/>
              <a:defRPr sz="1600" baseline="0">
                <a:latin typeface="Huawei Sans" panose="020C0503030203020204" pitchFamily="34" charset="0"/>
                <a:ea typeface="方正兰亭黑简体" panose="02000000000000000000" pitchFamily="2" charset="-122"/>
                <a:cs typeface="Huawei Sans" panose="020C0503030203020204" pitchFamily="34" charset="0"/>
              </a:defRPr>
            </a:lvl1pPr>
            <a:lvl2pPr marL="654938" indent="-251899" defTabSz="914034" fontAlgn="ctr">
              <a:lnSpc>
                <a:spcPct val="140000"/>
              </a:lnSpc>
              <a:spcBef>
                <a:spcPts val="720"/>
              </a:spcBef>
              <a:buClrTx/>
              <a:buSzPct val="50000"/>
              <a:buFont typeface="Wingdings" panose="05000000000000000000" pitchFamily="2" charset="2"/>
              <a:buChar char="p"/>
              <a:defRPr sz="1999" baseline="0">
                <a:latin typeface="Huawei Sans" panose="020C0503030203020204" pitchFamily="34" charset="0"/>
                <a:ea typeface="方正兰亭黑简体" panose="02000000000000000000" pitchFamily="2" charset="-122"/>
              </a:defRPr>
            </a:lvl2pPr>
            <a:lvl3pPr marL="1003998" indent="-201519" defTabSz="914034" fontAlgn="ctr">
              <a:lnSpc>
                <a:spcPct val="140000"/>
              </a:lnSpc>
              <a:spcBef>
                <a:spcPts val="648"/>
              </a:spcBef>
              <a:buClrTx/>
              <a:buSzPct val="50000"/>
              <a:buFont typeface="Wingdings" panose="05000000000000000000" pitchFamily="2" charset="2"/>
              <a:buChar char="n"/>
              <a:defRPr sz="1799" baseline="0">
                <a:latin typeface="Huawei Sans" panose="020C0503030203020204" pitchFamily="34" charset="0"/>
                <a:ea typeface="方正兰亭黑简体" panose="02000000000000000000" pitchFamily="2" charset="-122"/>
              </a:defRPr>
            </a:lvl3pPr>
            <a:lvl4pPr marL="1399840" indent="-197921" defTabSz="914034" fontAlgn="ctr">
              <a:lnSpc>
                <a:spcPct val="140000"/>
              </a:lnSpc>
              <a:spcBef>
                <a:spcPts val="576"/>
              </a:spcBef>
              <a:buFont typeface="Huawei Sans" panose="020C0503030203020204" pitchFamily="34" charset="0"/>
              <a:buChar char="−"/>
              <a:defRPr sz="1599" baseline="0">
                <a:latin typeface="Huawei Sans" panose="020C0503030203020204" pitchFamily="34" charset="0"/>
                <a:ea typeface="方正兰亭黑简体" panose="02000000000000000000" pitchFamily="2" charset="-122"/>
              </a:defRPr>
            </a:lvl4pPr>
            <a:lvl5pPr marL="1802879" indent="-201519" defTabSz="914034" fontAlgn="ctr">
              <a:lnSpc>
                <a:spcPct val="140000"/>
              </a:lnSpc>
              <a:spcBef>
                <a:spcPts val="576"/>
              </a:spcBef>
              <a:buFont typeface="Huawei Sans" panose="020C0503030203020204" pitchFamily="34" charset="0"/>
              <a:buChar char="~"/>
              <a:defRPr sz="1399" baseline="0">
                <a:latin typeface="Huawei Sans" panose="020C0503030203020204" pitchFamily="34" charset="0"/>
                <a:ea typeface="方正兰亭黑简体" panose="02000000000000000000" pitchFamily="2" charset="-122"/>
              </a:defRPr>
            </a:lvl5pPr>
            <a:lvl6pPr marL="2513594" indent="-228509" defTabSz="914034">
              <a:lnSpc>
                <a:spcPct val="90000"/>
              </a:lnSpc>
              <a:spcBef>
                <a:spcPts val="500"/>
              </a:spcBef>
              <a:buFont typeface="Arial" panose="020B0604020202020204" pitchFamily="34" charset="0"/>
              <a:buChar char="•"/>
              <a:defRPr sz="1799"/>
            </a:lvl6pPr>
            <a:lvl7pPr marL="2970611" indent="-228509" defTabSz="914034">
              <a:lnSpc>
                <a:spcPct val="90000"/>
              </a:lnSpc>
              <a:spcBef>
                <a:spcPts val="500"/>
              </a:spcBef>
              <a:buFont typeface="Arial" panose="020B0604020202020204" pitchFamily="34" charset="0"/>
              <a:buChar char="•"/>
              <a:defRPr sz="1799"/>
            </a:lvl7pPr>
            <a:lvl8pPr marL="3427628" indent="-228509" defTabSz="914034">
              <a:lnSpc>
                <a:spcPct val="90000"/>
              </a:lnSpc>
              <a:spcBef>
                <a:spcPts val="500"/>
              </a:spcBef>
              <a:buFont typeface="Arial" panose="020B0604020202020204" pitchFamily="34" charset="0"/>
              <a:buChar char="•"/>
              <a:defRPr sz="1799"/>
            </a:lvl8pPr>
            <a:lvl9pPr marL="3884646" indent="-228509" defTabSz="914034">
              <a:lnSpc>
                <a:spcPct val="90000"/>
              </a:lnSpc>
              <a:spcBef>
                <a:spcPts val="500"/>
              </a:spcBef>
              <a:buFont typeface="Arial" panose="020B0604020202020204" pitchFamily="34" charset="0"/>
              <a:buChar char="•"/>
              <a:defRPr sz="1799"/>
            </a:lvl9pPr>
          </a:lstStyle>
          <a:p>
            <a:r>
              <a:rPr lang="en-US" altLang="zh-CN" dirty="0"/>
              <a:t>Portal</a:t>
            </a:r>
            <a:r>
              <a:rPr lang="zh-CN" altLang="en-US" dirty="0"/>
              <a:t>认证通常也称为</a:t>
            </a:r>
            <a:r>
              <a:rPr lang="en-US" altLang="zh-CN" dirty="0"/>
              <a:t>Web</a:t>
            </a:r>
            <a:r>
              <a:rPr lang="zh-CN" altLang="en-US" dirty="0"/>
              <a:t>认证，一般将</a:t>
            </a:r>
            <a:r>
              <a:rPr lang="en-US" altLang="zh-CN" dirty="0"/>
              <a:t>Portal</a:t>
            </a:r>
            <a:r>
              <a:rPr lang="zh-CN" altLang="en-US" dirty="0"/>
              <a:t>认证网站称为门户网站。用户上网时，必须在门户网站进行认证，如果未认证成功，仅可以访问特定的网络资源，认证成功后，才可以访问其他网络资源。</a:t>
            </a:r>
            <a:endParaRPr lang="en-US" altLang="zh-CN" dirty="0"/>
          </a:p>
          <a:p>
            <a:r>
              <a:rPr lang="en-US" altLang="zh-CN" dirty="0"/>
              <a:t>iMaster NCE-Campus</a:t>
            </a:r>
            <a:r>
              <a:rPr lang="zh-CN" altLang="en-US" dirty="0"/>
              <a:t>作为</a:t>
            </a:r>
            <a:r>
              <a:rPr lang="en-US" altLang="zh-CN" dirty="0"/>
              <a:t>Portal</a:t>
            </a:r>
            <a:r>
              <a:rPr lang="zh-CN" altLang="en-US" dirty="0"/>
              <a:t>服务器和</a:t>
            </a:r>
            <a:r>
              <a:rPr lang="en-US" altLang="zh-CN" dirty="0"/>
              <a:t>RADIUS</a:t>
            </a:r>
            <a:r>
              <a:rPr lang="zh-CN" altLang="en-US" dirty="0"/>
              <a:t>服务器时，</a:t>
            </a:r>
            <a:r>
              <a:rPr lang="en-US" altLang="zh-CN" dirty="0"/>
              <a:t>Portal</a:t>
            </a:r>
            <a:r>
              <a:rPr lang="zh-CN" altLang="en-US" dirty="0"/>
              <a:t>认证的服务器侧配置如下</a:t>
            </a:r>
            <a:r>
              <a:rPr lang="zh-CN" altLang="en-US" dirty="0" smtClean="0"/>
              <a:t>：</a:t>
            </a:r>
            <a:endParaRPr lang="zh-CN" altLang="en-US" dirty="0"/>
          </a:p>
        </p:txBody>
      </p:sp>
      <p:sp>
        <p:nvSpPr>
          <p:cNvPr id="17" name="五边形 16"/>
          <p:cNvSpPr/>
          <p:nvPr/>
        </p:nvSpPr>
        <p:spPr bwMode="gray">
          <a:xfrm>
            <a:off x="5773628" y="98481"/>
            <a:ext cx="9000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smtClean="0">
                <a:latin typeface="Huawei Sans" panose="020C0503030203020204" pitchFamily="34" charset="0"/>
                <a:ea typeface="方正兰亭黑简体" panose="02000000000000000000" pitchFamily="2" charset="-122"/>
                <a:sym typeface="Huawei Sans" panose="020C0503030203020204" pitchFamily="34" charset="0"/>
              </a:rPr>
              <a:t>站点管理</a:t>
            </a:r>
            <a:endPar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8" name="燕尾形 17"/>
          <p:cNvSpPr/>
          <p:nvPr/>
        </p:nvSpPr>
        <p:spPr bwMode="gray">
          <a:xfrm>
            <a:off x="9109268" y="9848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逻辑网络</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9" name="燕尾形 18"/>
          <p:cNvSpPr/>
          <p:nvPr/>
        </p:nvSpPr>
        <p:spPr bwMode="gray">
          <a:xfrm>
            <a:off x="9925178" y="98481"/>
            <a:ext cx="9000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业务部署</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1" name="燕尾形 20"/>
          <p:cNvSpPr/>
          <p:nvPr/>
        </p:nvSpPr>
        <p:spPr bwMode="gray">
          <a:xfrm>
            <a:off x="8221358" y="98481"/>
            <a:ext cx="972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Fabric</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网络</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2" name="燕尾形 21"/>
          <p:cNvSpPr/>
          <p:nvPr/>
        </p:nvSpPr>
        <p:spPr bwMode="gray">
          <a:xfrm>
            <a:off x="7405448" y="9848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网络规划</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9" name="燕尾形 28"/>
          <p:cNvSpPr/>
          <p:nvPr/>
        </p:nvSpPr>
        <p:spPr bwMode="gray">
          <a:xfrm>
            <a:off x="6589538" y="9848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设备管理</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0" name="燕尾形 29"/>
          <p:cNvSpPr/>
          <p:nvPr/>
        </p:nvSpPr>
        <p:spPr bwMode="gray">
          <a:xfrm>
            <a:off x="10741088" y="98481"/>
            <a:ext cx="1008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WLAN</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业务</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2942442374"/>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zh-CN" altLang="en-US" dirty="0" smtClean="0"/>
              <a:t>实验：创建用户组和账号</a:t>
            </a:r>
            <a:endParaRPr lang="zh-CN" altLang="en-US" dirty="0"/>
          </a:p>
        </p:txBody>
      </p:sp>
      <p:sp>
        <p:nvSpPr>
          <p:cNvPr id="10" name="文本占位符 9"/>
          <p:cNvSpPr>
            <a:spLocks noGrp="1"/>
          </p:cNvSpPr>
          <p:nvPr>
            <p:ph type="body" sz="quarter" idx="10"/>
          </p:nvPr>
        </p:nvSpPr>
        <p:spPr bwMode="gray">
          <a:xfrm>
            <a:off x="455612" y="1047751"/>
            <a:ext cx="11293475" cy="1586120"/>
          </a:xfrm>
        </p:spPr>
        <p:txBody>
          <a:bodyPr/>
          <a:lstStyle/>
          <a:p>
            <a:r>
              <a:rPr lang="zh-CN" altLang="en-US" sz="2000" dirty="0" smtClean="0"/>
              <a:t>对于企业员工接入场景，可以使用用户名密码认证方式实现终端用户接入。</a:t>
            </a:r>
          </a:p>
          <a:p>
            <a:r>
              <a:rPr lang="zh-CN" altLang="en-US" sz="2000" dirty="0" smtClean="0"/>
              <a:t>在</a:t>
            </a:r>
            <a:r>
              <a:rPr lang="en-US" altLang="zh-CN" sz="2000" dirty="0" smtClean="0"/>
              <a:t>802.1X</a:t>
            </a:r>
            <a:r>
              <a:rPr lang="zh-CN" altLang="en-US" sz="2000" dirty="0" smtClean="0"/>
              <a:t>认证和</a:t>
            </a:r>
            <a:r>
              <a:rPr lang="en-US" altLang="zh-CN" sz="2000" dirty="0" smtClean="0"/>
              <a:t>Portal</a:t>
            </a:r>
            <a:r>
              <a:rPr lang="zh-CN" altLang="en-US" sz="2000" dirty="0" smtClean="0"/>
              <a:t>认证过程中，终端用户需要填写帐号作为认证信息。</a:t>
            </a:r>
          </a:p>
          <a:p>
            <a:pPr lvl="1"/>
            <a:r>
              <a:rPr lang="zh-CN" altLang="en-US" sz="1800" dirty="0" smtClean="0"/>
              <a:t>账号：包括用户名和密码。由管理员在</a:t>
            </a:r>
            <a:r>
              <a:rPr lang="en-US" altLang="zh-CN" sz="1800" dirty="0" smtClean="0"/>
              <a:t>iMaster NCE-Campus</a:t>
            </a:r>
            <a:r>
              <a:rPr lang="zh-CN" altLang="en-US" sz="1800" dirty="0" smtClean="0"/>
              <a:t>上预先创建。</a:t>
            </a:r>
          </a:p>
          <a:p>
            <a:endParaRPr lang="zh-CN" altLang="en-US" sz="2000" dirty="0"/>
          </a:p>
        </p:txBody>
      </p:sp>
      <p:pic>
        <p:nvPicPr>
          <p:cNvPr id="3" name="图片 2"/>
          <p:cNvPicPr>
            <a:picLocks noChangeAspect="1"/>
          </p:cNvPicPr>
          <p:nvPr/>
        </p:nvPicPr>
        <p:blipFill>
          <a:blip r:embed="rId3"/>
          <a:stretch>
            <a:fillRect/>
          </a:stretch>
        </p:blipFill>
        <p:spPr bwMode="gray">
          <a:xfrm>
            <a:off x="1239186" y="2633871"/>
            <a:ext cx="4124338" cy="3304758"/>
          </a:xfrm>
          <a:prstGeom prst="rect">
            <a:avLst/>
          </a:prstGeom>
          <a:ln w="12700">
            <a:solidFill>
              <a:schemeClr val="bg1">
                <a:lumMod val="85000"/>
              </a:schemeClr>
            </a:solidFill>
          </a:ln>
        </p:spPr>
      </p:pic>
      <p:pic>
        <p:nvPicPr>
          <p:cNvPr id="6" name="图片 5"/>
          <p:cNvPicPr>
            <a:picLocks noChangeAspect="1"/>
          </p:cNvPicPr>
          <p:nvPr/>
        </p:nvPicPr>
        <p:blipFill>
          <a:blip r:embed="rId4"/>
          <a:stretch>
            <a:fillRect/>
          </a:stretch>
        </p:blipFill>
        <p:spPr bwMode="gray">
          <a:xfrm>
            <a:off x="6147098" y="2604783"/>
            <a:ext cx="4007334" cy="3591535"/>
          </a:xfrm>
          <a:prstGeom prst="rect">
            <a:avLst/>
          </a:prstGeom>
          <a:ln w="12700">
            <a:solidFill>
              <a:schemeClr val="bg1">
                <a:lumMod val="85000"/>
              </a:schemeClr>
            </a:solidFill>
          </a:ln>
        </p:spPr>
      </p:pic>
      <p:cxnSp>
        <p:nvCxnSpPr>
          <p:cNvPr id="18" name="直接箭头连接符 17"/>
          <p:cNvCxnSpPr>
            <a:stCxn id="19" idx="1"/>
          </p:cNvCxnSpPr>
          <p:nvPr/>
        </p:nvCxnSpPr>
        <p:spPr bwMode="gray">
          <a:xfrm flipH="1">
            <a:off x="4253948" y="3131232"/>
            <a:ext cx="298495" cy="0"/>
          </a:xfrm>
          <a:prstGeom prst="straightConnector1">
            <a:avLst/>
          </a:prstGeom>
          <a:ln w="38100">
            <a:solidFill>
              <a:srgbClr val="30B5C5"/>
            </a:solidFill>
            <a:tailEnd type="triangle"/>
          </a:ln>
        </p:spPr>
        <p:style>
          <a:lnRef idx="1">
            <a:schemeClr val="accent1"/>
          </a:lnRef>
          <a:fillRef idx="0">
            <a:schemeClr val="accent1"/>
          </a:fillRef>
          <a:effectRef idx="0">
            <a:schemeClr val="accent1"/>
          </a:effectRef>
          <a:fontRef idx="minor">
            <a:schemeClr val="tx1"/>
          </a:fontRef>
        </p:style>
      </p:cxnSp>
      <p:sp>
        <p:nvSpPr>
          <p:cNvPr id="19" name="TextBox 179"/>
          <p:cNvSpPr txBox="1"/>
          <p:nvPr/>
        </p:nvSpPr>
        <p:spPr bwMode="gray">
          <a:xfrm>
            <a:off x="4552443" y="2931743"/>
            <a:ext cx="1074063" cy="398978"/>
          </a:xfrm>
          <a:prstGeom prst="roundRect">
            <a:avLst>
              <a:gd name="adj" fmla="val 12806"/>
            </a:avLst>
          </a:prstGeom>
          <a:solidFill>
            <a:srgbClr val="30B5C5"/>
          </a:solidFill>
          <a:ln>
            <a:noFill/>
          </a:ln>
        </p:spPr>
        <p:txBody>
          <a:bodyPr wrap="square" lIns="72000" tIns="72000" rIns="72000" bIns="72000" anchor="ctr" anchorCtr="0">
            <a:noAutofit/>
          </a:bodyPr>
          <a:lstStyle>
            <a:defPPr>
              <a:defRPr lang="en-US"/>
            </a:defPPr>
            <a:lvl1pPr algn="ctr" defTabSz="914478">
              <a:defRPr sz="1200">
                <a:solidFill>
                  <a:schemeClr val="bg1"/>
                </a:solidFill>
              </a:defRPr>
            </a:lvl1pPr>
            <a:lvl2pPr marL="457240" defTabSz="914478"/>
            <a:lvl3pPr marL="914478" defTabSz="914478"/>
            <a:lvl4pPr marL="1371718" defTabSz="914478"/>
            <a:lvl5pPr marL="1828957" defTabSz="914478"/>
            <a:lvl6pPr marL="2286196" defTabSz="914478"/>
            <a:lvl7pPr marL="2743435" defTabSz="914478"/>
            <a:lvl8pPr marL="3200675" defTabSz="914478"/>
            <a:lvl9pPr marL="3657913" defTabSz="914478"/>
          </a:lstStyle>
          <a:p>
            <a:pPr algn="l"/>
            <a:r>
              <a:rPr lang="en-US" altLang="zh-CN" dirty="0" smtClean="0"/>
              <a:t>1. </a:t>
            </a:r>
            <a:r>
              <a:rPr lang="zh-CN" altLang="en-US" dirty="0" smtClean="0"/>
              <a:t>创建用户所属用户组。</a:t>
            </a:r>
            <a:endParaRPr lang="zh-CN" altLang="en-US" dirty="0"/>
          </a:p>
        </p:txBody>
      </p:sp>
      <p:cxnSp>
        <p:nvCxnSpPr>
          <p:cNvPr id="20" name="直接箭头连接符 19"/>
          <p:cNvCxnSpPr>
            <a:stCxn id="21" idx="1"/>
          </p:cNvCxnSpPr>
          <p:nvPr/>
        </p:nvCxnSpPr>
        <p:spPr bwMode="gray">
          <a:xfrm flipH="1">
            <a:off x="9579202" y="3131232"/>
            <a:ext cx="298494" cy="0"/>
          </a:xfrm>
          <a:prstGeom prst="straightConnector1">
            <a:avLst/>
          </a:prstGeom>
          <a:ln w="38100">
            <a:solidFill>
              <a:srgbClr val="30B5C5"/>
            </a:solidFill>
            <a:tailEnd type="triangle"/>
          </a:ln>
        </p:spPr>
        <p:style>
          <a:lnRef idx="1">
            <a:schemeClr val="accent1"/>
          </a:lnRef>
          <a:fillRef idx="0">
            <a:schemeClr val="accent1"/>
          </a:fillRef>
          <a:effectRef idx="0">
            <a:schemeClr val="accent1"/>
          </a:effectRef>
          <a:fontRef idx="minor">
            <a:schemeClr val="tx1"/>
          </a:fontRef>
        </p:style>
      </p:cxnSp>
      <p:sp>
        <p:nvSpPr>
          <p:cNvPr id="21" name="TextBox 179"/>
          <p:cNvSpPr txBox="1"/>
          <p:nvPr/>
        </p:nvSpPr>
        <p:spPr bwMode="gray">
          <a:xfrm>
            <a:off x="9877696" y="2931743"/>
            <a:ext cx="1542365" cy="398978"/>
          </a:xfrm>
          <a:prstGeom prst="roundRect">
            <a:avLst>
              <a:gd name="adj" fmla="val 12806"/>
            </a:avLst>
          </a:prstGeom>
          <a:solidFill>
            <a:srgbClr val="30B5C5"/>
          </a:solidFill>
          <a:ln>
            <a:noFill/>
          </a:ln>
        </p:spPr>
        <p:txBody>
          <a:bodyPr wrap="square" lIns="72000" tIns="72000" rIns="72000" bIns="72000" anchor="ctr" anchorCtr="0">
            <a:noAutofit/>
          </a:bodyPr>
          <a:lstStyle>
            <a:defPPr>
              <a:defRPr lang="en-US"/>
            </a:defPPr>
            <a:lvl1pPr algn="ctr" defTabSz="914478">
              <a:defRPr sz="1200">
                <a:solidFill>
                  <a:schemeClr val="bg1"/>
                </a:solidFill>
              </a:defRPr>
            </a:lvl1pPr>
            <a:lvl2pPr marL="457240" defTabSz="914478"/>
            <a:lvl3pPr marL="914478" defTabSz="914478"/>
            <a:lvl4pPr marL="1371718" defTabSz="914478"/>
            <a:lvl5pPr marL="1828957" defTabSz="914478"/>
            <a:lvl6pPr marL="2286196" defTabSz="914478"/>
            <a:lvl7pPr marL="2743435" defTabSz="914478"/>
            <a:lvl8pPr marL="3200675" defTabSz="914478"/>
            <a:lvl9pPr marL="3657913" defTabSz="914478"/>
          </a:lstStyle>
          <a:p>
            <a:pPr algn="l"/>
            <a:r>
              <a:rPr lang="en-US" altLang="zh-CN" dirty="0" smtClean="0"/>
              <a:t>2.</a:t>
            </a:r>
            <a:r>
              <a:rPr lang="zh-CN" altLang="en-US" dirty="0"/>
              <a:t>在对应的用户组中创建对应的账号。</a:t>
            </a:r>
          </a:p>
        </p:txBody>
      </p:sp>
      <p:sp>
        <p:nvSpPr>
          <p:cNvPr id="23" name="五边形 22"/>
          <p:cNvSpPr/>
          <p:nvPr/>
        </p:nvSpPr>
        <p:spPr bwMode="gray">
          <a:xfrm>
            <a:off x="5773628" y="98481"/>
            <a:ext cx="9000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smtClean="0">
                <a:latin typeface="Huawei Sans" panose="020C0503030203020204" pitchFamily="34" charset="0"/>
                <a:ea typeface="方正兰亭黑简体" panose="02000000000000000000" pitchFamily="2" charset="-122"/>
                <a:sym typeface="Huawei Sans" panose="020C0503030203020204" pitchFamily="34" charset="0"/>
              </a:rPr>
              <a:t>站点管理</a:t>
            </a:r>
            <a:endPar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4" name="燕尾形 23"/>
          <p:cNvSpPr/>
          <p:nvPr/>
        </p:nvSpPr>
        <p:spPr bwMode="gray">
          <a:xfrm>
            <a:off x="9109268" y="9848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逻辑网络</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5" name="燕尾形 24"/>
          <p:cNvSpPr/>
          <p:nvPr/>
        </p:nvSpPr>
        <p:spPr bwMode="gray">
          <a:xfrm>
            <a:off x="9925178" y="98481"/>
            <a:ext cx="9000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业务部署</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6" name="燕尾形 25"/>
          <p:cNvSpPr/>
          <p:nvPr/>
        </p:nvSpPr>
        <p:spPr bwMode="gray">
          <a:xfrm>
            <a:off x="8221358" y="98481"/>
            <a:ext cx="972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Fabric</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网络</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7" name="燕尾形 26"/>
          <p:cNvSpPr/>
          <p:nvPr/>
        </p:nvSpPr>
        <p:spPr bwMode="gray">
          <a:xfrm>
            <a:off x="7405448" y="9848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网络规划</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8" name="燕尾形 27"/>
          <p:cNvSpPr/>
          <p:nvPr/>
        </p:nvSpPr>
        <p:spPr bwMode="gray">
          <a:xfrm>
            <a:off x="6589538" y="9848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设备管理</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9" name="燕尾形 28"/>
          <p:cNvSpPr/>
          <p:nvPr/>
        </p:nvSpPr>
        <p:spPr bwMode="gray">
          <a:xfrm>
            <a:off x="10741088" y="98481"/>
            <a:ext cx="1008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WLAN</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业务</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778290262"/>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3"/>
          <a:stretch>
            <a:fillRect/>
          </a:stretch>
        </p:blipFill>
        <p:spPr bwMode="gray">
          <a:xfrm>
            <a:off x="1430217" y="2174212"/>
            <a:ext cx="9403008" cy="3960000"/>
          </a:xfrm>
          <a:prstGeom prst="rect">
            <a:avLst/>
          </a:prstGeom>
          <a:ln w="12700">
            <a:solidFill>
              <a:schemeClr val="bg1">
                <a:lumMod val="85000"/>
              </a:schemeClr>
            </a:solidFill>
          </a:ln>
        </p:spPr>
      </p:pic>
      <p:sp>
        <p:nvSpPr>
          <p:cNvPr id="2" name="标题 1"/>
          <p:cNvSpPr>
            <a:spLocks noGrp="1"/>
          </p:cNvSpPr>
          <p:nvPr>
            <p:ph type="title"/>
          </p:nvPr>
        </p:nvSpPr>
        <p:spPr bwMode="gray"/>
        <p:txBody>
          <a:bodyPr>
            <a:normAutofit/>
          </a:bodyPr>
          <a:lstStyle/>
          <a:p>
            <a:r>
              <a:rPr lang="zh-CN" altLang="en-US" dirty="0"/>
              <a:t>实验</a:t>
            </a:r>
            <a:r>
              <a:rPr lang="zh-CN" altLang="en-US" dirty="0" smtClean="0"/>
              <a:t>：配置认证规则</a:t>
            </a:r>
            <a:endParaRPr lang="zh-CN" altLang="en-US" dirty="0"/>
          </a:p>
        </p:txBody>
      </p:sp>
      <p:sp>
        <p:nvSpPr>
          <p:cNvPr id="4" name="文本占位符 3"/>
          <p:cNvSpPr>
            <a:spLocks noGrp="1"/>
          </p:cNvSpPr>
          <p:nvPr>
            <p:ph type="body" sz="quarter" idx="10"/>
          </p:nvPr>
        </p:nvSpPr>
        <p:spPr bwMode="gray">
          <a:xfrm>
            <a:off x="455612" y="1047751"/>
            <a:ext cx="11293475" cy="1126462"/>
          </a:xfrm>
        </p:spPr>
        <p:txBody>
          <a:bodyPr/>
          <a:lstStyle/>
          <a:p>
            <a:r>
              <a:rPr lang="zh-CN" altLang="en-US" sz="2000" dirty="0"/>
              <a:t>配置认证规则可以对接入网络的客户端和用户进行认证，保证网络的安全</a:t>
            </a:r>
            <a:r>
              <a:rPr lang="zh-CN" altLang="en-US" sz="2000" dirty="0" smtClean="0"/>
              <a:t>。</a:t>
            </a:r>
            <a:endParaRPr lang="en-US" altLang="zh-CN" sz="2000" dirty="0" smtClean="0"/>
          </a:p>
          <a:p>
            <a:r>
              <a:rPr lang="en-US" altLang="zh-CN" sz="2000" dirty="0"/>
              <a:t>iMaster NCE-Campus</a:t>
            </a:r>
            <a:r>
              <a:rPr lang="zh-CN" altLang="en-US" sz="2000" dirty="0"/>
              <a:t>存在缺省认证</a:t>
            </a:r>
            <a:r>
              <a:rPr lang="zh-CN" altLang="en-US" sz="2000" dirty="0" smtClean="0"/>
              <a:t>规则</a:t>
            </a:r>
            <a:r>
              <a:rPr lang="en-US" altLang="zh-CN" sz="2000" dirty="0"/>
              <a:t>D</a:t>
            </a:r>
            <a:r>
              <a:rPr lang="en-US" altLang="zh-CN" sz="2000" dirty="0" smtClean="0"/>
              <a:t>efault</a:t>
            </a:r>
            <a:r>
              <a:rPr lang="zh-CN" altLang="en-US" sz="2000" dirty="0"/>
              <a:t>，使用本地数据源进行</a:t>
            </a:r>
            <a:r>
              <a:rPr lang="zh-CN" altLang="en-US" sz="2000" dirty="0" smtClean="0"/>
              <a:t>认证。</a:t>
            </a:r>
            <a:endParaRPr lang="zh-CN" altLang="en-US" sz="2000" dirty="0"/>
          </a:p>
          <a:p>
            <a:endParaRPr lang="zh-CN" altLang="en-US" sz="2000" dirty="0"/>
          </a:p>
          <a:p>
            <a:endParaRPr lang="zh-CN" altLang="en-US" sz="2000" dirty="0"/>
          </a:p>
        </p:txBody>
      </p:sp>
      <p:sp>
        <p:nvSpPr>
          <p:cNvPr id="11" name="五边形 10"/>
          <p:cNvSpPr/>
          <p:nvPr/>
        </p:nvSpPr>
        <p:spPr bwMode="gray">
          <a:xfrm>
            <a:off x="5773628" y="98481"/>
            <a:ext cx="9000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smtClean="0">
                <a:latin typeface="Huawei Sans" panose="020C0503030203020204" pitchFamily="34" charset="0"/>
                <a:ea typeface="方正兰亭黑简体" panose="02000000000000000000" pitchFamily="2" charset="-122"/>
                <a:sym typeface="Huawei Sans" panose="020C0503030203020204" pitchFamily="34" charset="0"/>
              </a:rPr>
              <a:t>站点管理</a:t>
            </a:r>
            <a:endPar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 name="燕尾形 11"/>
          <p:cNvSpPr/>
          <p:nvPr/>
        </p:nvSpPr>
        <p:spPr bwMode="gray">
          <a:xfrm>
            <a:off x="9109268" y="9848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逻辑网络</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 name="燕尾形 12"/>
          <p:cNvSpPr/>
          <p:nvPr/>
        </p:nvSpPr>
        <p:spPr bwMode="gray">
          <a:xfrm>
            <a:off x="9925178" y="98481"/>
            <a:ext cx="9000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业务部署</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 name="燕尾形 13"/>
          <p:cNvSpPr/>
          <p:nvPr/>
        </p:nvSpPr>
        <p:spPr bwMode="gray">
          <a:xfrm>
            <a:off x="8221358" y="98481"/>
            <a:ext cx="972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Fabric</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网络</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1" name="燕尾形 20"/>
          <p:cNvSpPr/>
          <p:nvPr/>
        </p:nvSpPr>
        <p:spPr bwMode="gray">
          <a:xfrm>
            <a:off x="7405448" y="9848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网络规划</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2" name="燕尾形 21"/>
          <p:cNvSpPr/>
          <p:nvPr/>
        </p:nvSpPr>
        <p:spPr bwMode="gray">
          <a:xfrm>
            <a:off x="6589538" y="9848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设备管理</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3" name="燕尾形 22"/>
          <p:cNvSpPr/>
          <p:nvPr/>
        </p:nvSpPr>
        <p:spPr bwMode="gray">
          <a:xfrm>
            <a:off x="10741088" y="98481"/>
            <a:ext cx="1008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WLAN</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业务</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1934733706"/>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normAutofit/>
          </a:bodyPr>
          <a:lstStyle/>
          <a:p>
            <a:r>
              <a:rPr lang="zh-CN" altLang="en-US" dirty="0"/>
              <a:t>实验</a:t>
            </a:r>
            <a:r>
              <a:rPr lang="zh-CN" altLang="en-US" dirty="0" smtClean="0"/>
              <a:t>：配置授权结果</a:t>
            </a:r>
            <a:endParaRPr lang="zh-CN" altLang="en-US" dirty="0"/>
          </a:p>
        </p:txBody>
      </p:sp>
      <p:sp>
        <p:nvSpPr>
          <p:cNvPr id="3" name="文本占位符 2"/>
          <p:cNvSpPr>
            <a:spLocks noGrp="1"/>
          </p:cNvSpPr>
          <p:nvPr>
            <p:ph type="body" sz="quarter" idx="4294967295"/>
          </p:nvPr>
        </p:nvSpPr>
        <p:spPr bwMode="gray">
          <a:xfrm>
            <a:off x="455612" y="1047750"/>
            <a:ext cx="5640387" cy="2381250"/>
          </a:xfrm>
        </p:spPr>
        <p:txBody>
          <a:bodyPr/>
          <a:lstStyle/>
          <a:p>
            <a:r>
              <a:rPr lang="zh-CN" altLang="en-US" sz="2000" dirty="0" smtClean="0"/>
              <a:t>配置</a:t>
            </a:r>
            <a:r>
              <a:rPr lang="zh-CN" altLang="en-US" sz="2000" dirty="0"/>
              <a:t>准</a:t>
            </a:r>
            <a:r>
              <a:rPr lang="zh-CN" altLang="en-US" sz="2000" dirty="0" smtClean="0"/>
              <a:t>入认证时，需要配置</a:t>
            </a:r>
            <a:r>
              <a:rPr lang="zh-CN" altLang="en-US" sz="2000" dirty="0"/>
              <a:t>终端用户认证通过后所获得的</a:t>
            </a:r>
            <a:r>
              <a:rPr lang="zh-CN" altLang="en-US" sz="2000" dirty="0" smtClean="0"/>
              <a:t>权限。</a:t>
            </a:r>
            <a:endParaRPr lang="en-US" altLang="zh-CN" sz="2000" dirty="0" smtClean="0"/>
          </a:p>
          <a:p>
            <a:r>
              <a:rPr lang="zh-CN" altLang="en-US" sz="2000" dirty="0" smtClean="0"/>
              <a:t>在</a:t>
            </a:r>
            <a:r>
              <a:rPr lang="zh-CN" altLang="en-US" sz="2000" dirty="0"/>
              <a:t>授权结果中，可定义授权给用户的各项内容，例如</a:t>
            </a:r>
            <a:r>
              <a:rPr lang="en-US" altLang="zh-CN" sz="2000" dirty="0"/>
              <a:t>ACL</a:t>
            </a:r>
            <a:r>
              <a:rPr lang="zh-CN" altLang="en-US" sz="2000" dirty="0"/>
              <a:t>、安全组、</a:t>
            </a:r>
            <a:r>
              <a:rPr lang="en-US" altLang="zh-CN" sz="2000" dirty="0"/>
              <a:t>URL</a:t>
            </a:r>
            <a:r>
              <a:rPr lang="zh-CN" altLang="en-US" sz="2000" dirty="0" smtClean="0"/>
              <a:t>过滤策略、</a:t>
            </a:r>
            <a:r>
              <a:rPr lang="en-US" altLang="zh-CN" sz="2000" dirty="0"/>
              <a:t>VLAN</a:t>
            </a:r>
            <a:r>
              <a:rPr lang="zh-CN" altLang="en-US" sz="2000" dirty="0" smtClean="0"/>
              <a:t>等。</a:t>
            </a:r>
            <a:endParaRPr lang="zh-CN" altLang="en-US" sz="2000" dirty="0"/>
          </a:p>
          <a:p>
            <a:endParaRPr lang="zh-CN" altLang="en-US" sz="2000" dirty="0"/>
          </a:p>
        </p:txBody>
      </p:sp>
      <p:pic>
        <p:nvPicPr>
          <p:cNvPr id="4" name="图片 3"/>
          <p:cNvPicPr>
            <a:picLocks noChangeAspect="1"/>
          </p:cNvPicPr>
          <p:nvPr/>
        </p:nvPicPr>
        <p:blipFill rotWithShape="1">
          <a:blip r:embed="rId3"/>
          <a:srcRect r="34682"/>
          <a:stretch/>
        </p:blipFill>
        <p:spPr bwMode="gray">
          <a:xfrm>
            <a:off x="6432260" y="1166436"/>
            <a:ext cx="4928167" cy="4889248"/>
          </a:xfrm>
          <a:prstGeom prst="rect">
            <a:avLst/>
          </a:prstGeom>
          <a:ln w="12700">
            <a:solidFill>
              <a:schemeClr val="bg1">
                <a:lumMod val="85000"/>
              </a:schemeClr>
            </a:solidFill>
          </a:ln>
        </p:spPr>
      </p:pic>
      <p:sp>
        <p:nvSpPr>
          <p:cNvPr id="11" name="五边形 10"/>
          <p:cNvSpPr/>
          <p:nvPr/>
        </p:nvSpPr>
        <p:spPr bwMode="gray">
          <a:xfrm>
            <a:off x="5773628" y="98481"/>
            <a:ext cx="9000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smtClean="0">
                <a:latin typeface="Huawei Sans" panose="020C0503030203020204" pitchFamily="34" charset="0"/>
                <a:ea typeface="方正兰亭黑简体" panose="02000000000000000000" pitchFamily="2" charset="-122"/>
                <a:sym typeface="Huawei Sans" panose="020C0503030203020204" pitchFamily="34" charset="0"/>
              </a:rPr>
              <a:t>站点管理</a:t>
            </a:r>
            <a:endPar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 name="燕尾形 12"/>
          <p:cNvSpPr/>
          <p:nvPr/>
        </p:nvSpPr>
        <p:spPr bwMode="gray">
          <a:xfrm>
            <a:off x="9109268" y="9848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逻辑网络</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9" name="燕尾形 18"/>
          <p:cNvSpPr/>
          <p:nvPr/>
        </p:nvSpPr>
        <p:spPr bwMode="gray">
          <a:xfrm>
            <a:off x="9925178" y="98481"/>
            <a:ext cx="9000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业务部署</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0" name="燕尾形 19"/>
          <p:cNvSpPr/>
          <p:nvPr/>
        </p:nvSpPr>
        <p:spPr bwMode="gray">
          <a:xfrm>
            <a:off x="8221358" y="98481"/>
            <a:ext cx="972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Fabric</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网络</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1" name="燕尾形 20"/>
          <p:cNvSpPr/>
          <p:nvPr/>
        </p:nvSpPr>
        <p:spPr bwMode="gray">
          <a:xfrm>
            <a:off x="7405448" y="9848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网络规划</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2" name="燕尾形 21"/>
          <p:cNvSpPr/>
          <p:nvPr/>
        </p:nvSpPr>
        <p:spPr bwMode="gray">
          <a:xfrm>
            <a:off x="6589538" y="9848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设备管理</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3" name="燕尾形 22"/>
          <p:cNvSpPr/>
          <p:nvPr/>
        </p:nvSpPr>
        <p:spPr bwMode="gray">
          <a:xfrm>
            <a:off x="10741088" y="98481"/>
            <a:ext cx="1008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WLAN</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业务</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2870397021"/>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图片 12"/>
          <p:cNvPicPr>
            <a:picLocks noChangeAspect="1"/>
          </p:cNvPicPr>
          <p:nvPr/>
        </p:nvPicPr>
        <p:blipFill>
          <a:blip r:embed="rId3"/>
          <a:stretch>
            <a:fillRect/>
          </a:stretch>
        </p:blipFill>
        <p:spPr bwMode="gray">
          <a:xfrm>
            <a:off x="472730" y="5200453"/>
            <a:ext cx="4253381" cy="744159"/>
          </a:xfrm>
          <a:prstGeom prst="rect">
            <a:avLst/>
          </a:prstGeom>
          <a:ln w="12700">
            <a:solidFill>
              <a:schemeClr val="bg1">
                <a:lumMod val="85000"/>
              </a:schemeClr>
            </a:solidFill>
          </a:ln>
        </p:spPr>
      </p:pic>
      <p:pic>
        <p:nvPicPr>
          <p:cNvPr id="7" name="图片 6"/>
          <p:cNvPicPr>
            <a:picLocks noChangeAspect="1"/>
          </p:cNvPicPr>
          <p:nvPr/>
        </p:nvPicPr>
        <p:blipFill>
          <a:blip r:embed="rId4"/>
          <a:stretch>
            <a:fillRect/>
          </a:stretch>
        </p:blipFill>
        <p:spPr bwMode="gray">
          <a:xfrm>
            <a:off x="4975559" y="2060183"/>
            <a:ext cx="6709120" cy="3035829"/>
          </a:xfrm>
          <a:prstGeom prst="rect">
            <a:avLst/>
          </a:prstGeom>
          <a:ln w="12700">
            <a:solidFill>
              <a:schemeClr val="bg1">
                <a:lumMod val="85000"/>
              </a:schemeClr>
            </a:solidFill>
          </a:ln>
        </p:spPr>
      </p:pic>
      <p:pic>
        <p:nvPicPr>
          <p:cNvPr id="5" name="图片 4"/>
          <p:cNvPicPr>
            <a:picLocks noChangeAspect="1"/>
          </p:cNvPicPr>
          <p:nvPr/>
        </p:nvPicPr>
        <p:blipFill>
          <a:blip r:embed="rId5"/>
          <a:stretch>
            <a:fillRect/>
          </a:stretch>
        </p:blipFill>
        <p:spPr bwMode="gray">
          <a:xfrm>
            <a:off x="472730" y="2094202"/>
            <a:ext cx="4253381" cy="2132964"/>
          </a:xfrm>
          <a:prstGeom prst="rect">
            <a:avLst/>
          </a:prstGeom>
          <a:ln w="12700">
            <a:solidFill>
              <a:schemeClr val="bg1">
                <a:lumMod val="85000"/>
              </a:schemeClr>
            </a:solidFill>
          </a:ln>
        </p:spPr>
      </p:pic>
      <p:sp>
        <p:nvSpPr>
          <p:cNvPr id="2" name="标题 1"/>
          <p:cNvSpPr>
            <a:spLocks noGrp="1"/>
          </p:cNvSpPr>
          <p:nvPr>
            <p:ph type="title"/>
          </p:nvPr>
        </p:nvSpPr>
        <p:spPr bwMode="gray"/>
        <p:txBody>
          <a:bodyPr>
            <a:normAutofit/>
          </a:bodyPr>
          <a:lstStyle/>
          <a:p>
            <a:r>
              <a:rPr lang="zh-CN" altLang="en-US" smtClean="0"/>
              <a:t>实验：配置授权规则</a:t>
            </a:r>
            <a:endParaRPr lang="zh-CN" altLang="en-US" dirty="0"/>
          </a:p>
        </p:txBody>
      </p:sp>
      <p:sp>
        <p:nvSpPr>
          <p:cNvPr id="3" name="文本占位符 2"/>
          <p:cNvSpPr>
            <a:spLocks noGrp="1"/>
          </p:cNvSpPr>
          <p:nvPr>
            <p:ph type="body" sz="quarter" idx="10"/>
          </p:nvPr>
        </p:nvSpPr>
        <p:spPr bwMode="gray">
          <a:xfrm>
            <a:off x="455612" y="1047750"/>
            <a:ext cx="11293475" cy="898133"/>
          </a:xfrm>
        </p:spPr>
        <p:txBody>
          <a:bodyPr/>
          <a:lstStyle/>
          <a:p>
            <a:r>
              <a:rPr lang="zh-CN" altLang="en-US" sz="2000" dirty="0" smtClean="0"/>
              <a:t>对于通过认证的用户进行授权时，需要根据授权规则匹配用户，为符合规则的用户提供特定的权限集合（授权结果）。</a:t>
            </a:r>
          </a:p>
          <a:p>
            <a:endParaRPr lang="zh-CN" altLang="en-US" sz="2000" dirty="0"/>
          </a:p>
        </p:txBody>
      </p:sp>
      <p:cxnSp>
        <p:nvCxnSpPr>
          <p:cNvPr id="26" name="直接箭头连接符 25"/>
          <p:cNvCxnSpPr/>
          <p:nvPr/>
        </p:nvCxnSpPr>
        <p:spPr bwMode="gray">
          <a:xfrm flipH="1">
            <a:off x="2914967" y="2168667"/>
            <a:ext cx="326330" cy="276648"/>
          </a:xfrm>
          <a:prstGeom prst="straightConnector1">
            <a:avLst/>
          </a:prstGeom>
          <a:ln w="38100">
            <a:solidFill>
              <a:srgbClr val="30B5C5"/>
            </a:solidFill>
            <a:tailEnd type="triangle"/>
          </a:ln>
        </p:spPr>
        <p:style>
          <a:lnRef idx="1">
            <a:schemeClr val="accent1"/>
          </a:lnRef>
          <a:fillRef idx="0">
            <a:schemeClr val="accent1"/>
          </a:fillRef>
          <a:effectRef idx="0">
            <a:schemeClr val="accent1"/>
          </a:effectRef>
          <a:fontRef idx="minor">
            <a:schemeClr val="tx1"/>
          </a:fontRef>
        </p:style>
      </p:cxnSp>
      <p:cxnSp>
        <p:nvCxnSpPr>
          <p:cNvPr id="29" name="直接箭头连接符 28"/>
          <p:cNvCxnSpPr>
            <a:stCxn id="28" idx="3"/>
          </p:cNvCxnSpPr>
          <p:nvPr/>
        </p:nvCxnSpPr>
        <p:spPr bwMode="gray">
          <a:xfrm>
            <a:off x="8548774" y="2107502"/>
            <a:ext cx="281855" cy="61165"/>
          </a:xfrm>
          <a:prstGeom prst="straightConnector1">
            <a:avLst/>
          </a:prstGeom>
          <a:ln w="38100">
            <a:solidFill>
              <a:srgbClr val="30B5C5"/>
            </a:solidFill>
            <a:tailEnd type="triangle"/>
          </a:ln>
        </p:spPr>
        <p:style>
          <a:lnRef idx="1">
            <a:schemeClr val="accent1"/>
          </a:lnRef>
          <a:fillRef idx="0">
            <a:schemeClr val="accent1"/>
          </a:fillRef>
          <a:effectRef idx="0">
            <a:schemeClr val="accent1"/>
          </a:effectRef>
          <a:fontRef idx="minor">
            <a:schemeClr val="tx1"/>
          </a:fontRef>
        </p:style>
      </p:cxnSp>
      <p:sp>
        <p:nvSpPr>
          <p:cNvPr id="25" name="TextBox 179"/>
          <p:cNvSpPr txBox="1"/>
          <p:nvPr/>
        </p:nvSpPr>
        <p:spPr bwMode="gray">
          <a:xfrm>
            <a:off x="3208273" y="1908013"/>
            <a:ext cx="1651557" cy="398978"/>
          </a:xfrm>
          <a:prstGeom prst="roundRect">
            <a:avLst>
              <a:gd name="adj" fmla="val 12806"/>
            </a:avLst>
          </a:prstGeom>
          <a:solidFill>
            <a:srgbClr val="30B5C5"/>
          </a:solidFill>
          <a:ln>
            <a:noFill/>
          </a:ln>
        </p:spPr>
        <p:txBody>
          <a:bodyPr wrap="square" lIns="72000" tIns="72000" rIns="72000" bIns="72000" anchor="ctr" anchorCtr="0">
            <a:noAutofit/>
          </a:bodyPr>
          <a:lstStyle>
            <a:defPPr>
              <a:defRPr lang="en-US"/>
            </a:defPPr>
            <a:lvl1pPr algn="ctr" defTabSz="914478">
              <a:defRPr sz="1200">
                <a:solidFill>
                  <a:schemeClr val="bg1"/>
                </a:solidFill>
              </a:defRPr>
            </a:lvl1pPr>
            <a:lvl2pPr marL="457240" defTabSz="914478"/>
            <a:lvl3pPr marL="914478" defTabSz="914478"/>
            <a:lvl4pPr marL="1371718" defTabSz="914478"/>
            <a:lvl5pPr marL="1828957" defTabSz="914478"/>
            <a:lvl6pPr marL="2286196" defTabSz="914478"/>
            <a:lvl7pPr marL="2743435" defTabSz="914478"/>
            <a:lvl8pPr marL="3200675" defTabSz="914478"/>
            <a:lvl9pPr marL="3657913" defTabSz="914478"/>
          </a:lstStyle>
          <a:p>
            <a:pPr algn="l"/>
            <a:r>
              <a:rPr lang="en-US" altLang="zh-CN" dirty="0" smtClean="0"/>
              <a:t>1. </a:t>
            </a:r>
            <a:r>
              <a:rPr lang="zh-CN" altLang="en-US" dirty="0" smtClean="0"/>
              <a:t>配置授权规则名称、认证方式和接入方式。</a:t>
            </a:r>
            <a:endParaRPr lang="zh-CN" altLang="en-US" dirty="0"/>
          </a:p>
        </p:txBody>
      </p:sp>
      <p:sp>
        <p:nvSpPr>
          <p:cNvPr id="28" name="TextBox 179"/>
          <p:cNvSpPr txBox="1"/>
          <p:nvPr/>
        </p:nvSpPr>
        <p:spPr bwMode="gray">
          <a:xfrm>
            <a:off x="7305040" y="1908013"/>
            <a:ext cx="1243734" cy="398978"/>
          </a:xfrm>
          <a:prstGeom prst="roundRect">
            <a:avLst>
              <a:gd name="adj" fmla="val 12806"/>
            </a:avLst>
          </a:prstGeom>
          <a:solidFill>
            <a:srgbClr val="30B5C5"/>
          </a:solidFill>
          <a:ln>
            <a:noFill/>
          </a:ln>
        </p:spPr>
        <p:txBody>
          <a:bodyPr wrap="square" lIns="72000" tIns="72000" rIns="72000" bIns="72000" anchor="ctr" anchorCtr="0">
            <a:noAutofit/>
          </a:bodyPr>
          <a:lstStyle>
            <a:defPPr>
              <a:defRPr lang="en-US"/>
            </a:defPPr>
            <a:lvl1pPr algn="ctr" defTabSz="914478">
              <a:defRPr sz="1200">
                <a:solidFill>
                  <a:schemeClr val="bg1"/>
                </a:solidFill>
              </a:defRPr>
            </a:lvl1pPr>
            <a:lvl2pPr marL="457240" defTabSz="914478"/>
            <a:lvl3pPr marL="914478" defTabSz="914478"/>
            <a:lvl4pPr marL="1371718" defTabSz="914478"/>
            <a:lvl5pPr marL="1828957" defTabSz="914478"/>
            <a:lvl6pPr marL="2286196" defTabSz="914478"/>
            <a:lvl7pPr marL="2743435" defTabSz="914478"/>
            <a:lvl8pPr marL="3200675" defTabSz="914478"/>
            <a:lvl9pPr marL="3657913" defTabSz="914478"/>
          </a:lstStyle>
          <a:p>
            <a:pPr algn="l"/>
            <a:r>
              <a:rPr lang="en-US" altLang="zh-CN" dirty="0" smtClean="0"/>
              <a:t>2. </a:t>
            </a:r>
            <a:r>
              <a:rPr lang="zh-CN" altLang="en-US" dirty="0" smtClean="0"/>
              <a:t>使用</a:t>
            </a:r>
            <a:r>
              <a:rPr lang="zh-CN" altLang="en-US" dirty="0"/>
              <a:t>用户</a:t>
            </a:r>
            <a:r>
              <a:rPr lang="zh-CN" altLang="en-US" dirty="0" smtClean="0"/>
              <a:t>组信息匹配用户。</a:t>
            </a:r>
            <a:endParaRPr lang="zh-CN" altLang="en-US" dirty="0"/>
          </a:p>
        </p:txBody>
      </p:sp>
      <p:cxnSp>
        <p:nvCxnSpPr>
          <p:cNvPr id="23" name="直接箭头连接符 22"/>
          <p:cNvCxnSpPr>
            <a:stCxn id="24" idx="1"/>
          </p:cNvCxnSpPr>
          <p:nvPr/>
        </p:nvCxnSpPr>
        <p:spPr bwMode="gray">
          <a:xfrm flipH="1">
            <a:off x="3101009" y="4972027"/>
            <a:ext cx="298598" cy="315590"/>
          </a:xfrm>
          <a:prstGeom prst="straightConnector1">
            <a:avLst/>
          </a:prstGeom>
          <a:ln w="38100">
            <a:solidFill>
              <a:srgbClr val="30B5C5"/>
            </a:solidFill>
            <a:tailEnd type="triangle"/>
          </a:ln>
        </p:spPr>
        <p:style>
          <a:lnRef idx="1">
            <a:schemeClr val="accent1"/>
          </a:lnRef>
          <a:fillRef idx="0">
            <a:schemeClr val="accent1"/>
          </a:fillRef>
          <a:effectRef idx="0">
            <a:schemeClr val="accent1"/>
          </a:effectRef>
          <a:fontRef idx="minor">
            <a:schemeClr val="tx1"/>
          </a:fontRef>
        </p:style>
      </p:cxnSp>
      <p:sp>
        <p:nvSpPr>
          <p:cNvPr id="24" name="TextBox 179"/>
          <p:cNvSpPr txBox="1"/>
          <p:nvPr/>
        </p:nvSpPr>
        <p:spPr bwMode="gray">
          <a:xfrm>
            <a:off x="3399607" y="4772538"/>
            <a:ext cx="1322845" cy="398978"/>
          </a:xfrm>
          <a:prstGeom prst="roundRect">
            <a:avLst>
              <a:gd name="adj" fmla="val 12806"/>
            </a:avLst>
          </a:prstGeom>
          <a:solidFill>
            <a:srgbClr val="30B5C5"/>
          </a:solidFill>
          <a:ln>
            <a:noFill/>
          </a:ln>
        </p:spPr>
        <p:txBody>
          <a:bodyPr wrap="square" lIns="72000" tIns="72000" rIns="72000" bIns="72000" anchor="ctr" anchorCtr="0">
            <a:noAutofit/>
          </a:bodyPr>
          <a:lstStyle>
            <a:defPPr>
              <a:defRPr lang="en-US"/>
            </a:defPPr>
            <a:lvl1pPr algn="ctr" defTabSz="914478">
              <a:defRPr sz="1200">
                <a:solidFill>
                  <a:schemeClr val="bg1"/>
                </a:solidFill>
              </a:defRPr>
            </a:lvl1pPr>
            <a:lvl2pPr marL="457240" defTabSz="914478"/>
            <a:lvl3pPr marL="914478" defTabSz="914478"/>
            <a:lvl4pPr marL="1371718" defTabSz="914478"/>
            <a:lvl5pPr marL="1828957" defTabSz="914478"/>
            <a:lvl6pPr marL="2286196" defTabSz="914478"/>
            <a:lvl7pPr marL="2743435" defTabSz="914478"/>
            <a:lvl8pPr marL="3200675" defTabSz="914478"/>
            <a:lvl9pPr marL="3657913" defTabSz="914478"/>
          </a:lstStyle>
          <a:p>
            <a:pPr algn="l"/>
            <a:r>
              <a:rPr lang="en-US" altLang="zh-CN" dirty="0" smtClean="0"/>
              <a:t>3. </a:t>
            </a:r>
            <a:r>
              <a:rPr lang="zh-CN" altLang="en-US" dirty="0" smtClean="0"/>
              <a:t>绑定授权结果。</a:t>
            </a:r>
            <a:endParaRPr lang="zh-CN" altLang="en-US" dirty="0"/>
          </a:p>
        </p:txBody>
      </p:sp>
      <p:sp>
        <p:nvSpPr>
          <p:cNvPr id="32" name="五边形 31"/>
          <p:cNvSpPr/>
          <p:nvPr/>
        </p:nvSpPr>
        <p:spPr bwMode="gray">
          <a:xfrm>
            <a:off x="5773628" y="98481"/>
            <a:ext cx="9000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smtClean="0">
                <a:latin typeface="Huawei Sans" panose="020C0503030203020204" pitchFamily="34" charset="0"/>
                <a:ea typeface="方正兰亭黑简体" panose="02000000000000000000" pitchFamily="2" charset="-122"/>
                <a:sym typeface="Huawei Sans" panose="020C0503030203020204" pitchFamily="34" charset="0"/>
              </a:rPr>
              <a:t>站点管理</a:t>
            </a:r>
            <a:endPar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3" name="燕尾形 32"/>
          <p:cNvSpPr/>
          <p:nvPr/>
        </p:nvSpPr>
        <p:spPr bwMode="gray">
          <a:xfrm>
            <a:off x="9109268" y="9848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逻辑网络</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4" name="燕尾形 33"/>
          <p:cNvSpPr/>
          <p:nvPr/>
        </p:nvSpPr>
        <p:spPr bwMode="gray">
          <a:xfrm>
            <a:off x="9925178" y="98481"/>
            <a:ext cx="9000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业务部署</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5" name="燕尾形 34"/>
          <p:cNvSpPr/>
          <p:nvPr/>
        </p:nvSpPr>
        <p:spPr bwMode="gray">
          <a:xfrm>
            <a:off x="8221358" y="98481"/>
            <a:ext cx="972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Fabric</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网络</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6" name="燕尾形 35"/>
          <p:cNvSpPr/>
          <p:nvPr/>
        </p:nvSpPr>
        <p:spPr bwMode="gray">
          <a:xfrm>
            <a:off x="7405448" y="9848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网络规划</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7" name="燕尾形 36"/>
          <p:cNvSpPr/>
          <p:nvPr/>
        </p:nvSpPr>
        <p:spPr bwMode="gray">
          <a:xfrm>
            <a:off x="6589538" y="9848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设备管理</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8" name="燕尾形 37"/>
          <p:cNvSpPr/>
          <p:nvPr/>
        </p:nvSpPr>
        <p:spPr bwMode="gray">
          <a:xfrm>
            <a:off x="10741088" y="98481"/>
            <a:ext cx="1008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WLAN</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业务</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4108020514"/>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normAutofit/>
          </a:bodyPr>
          <a:lstStyle/>
          <a:p>
            <a:r>
              <a:rPr lang="en-US" altLang="zh-CN" dirty="0" smtClean="0"/>
              <a:t>WLAN</a:t>
            </a:r>
            <a:r>
              <a:rPr lang="zh-CN" altLang="en-US" dirty="0" smtClean="0"/>
              <a:t>业务</a:t>
            </a:r>
            <a:endParaRPr lang="zh-CN" altLang="en-US" dirty="0"/>
          </a:p>
        </p:txBody>
      </p:sp>
      <p:sp>
        <p:nvSpPr>
          <p:cNvPr id="10" name="文本占位符 9"/>
          <p:cNvSpPr>
            <a:spLocks noGrp="1"/>
          </p:cNvSpPr>
          <p:nvPr>
            <p:ph type="body" sz="quarter" idx="10"/>
          </p:nvPr>
        </p:nvSpPr>
        <p:spPr bwMode="gray">
          <a:xfrm>
            <a:off x="455612" y="1047751"/>
            <a:ext cx="11293475" cy="1500238"/>
          </a:xfrm>
        </p:spPr>
        <p:txBody>
          <a:bodyPr/>
          <a:lstStyle/>
          <a:p>
            <a:r>
              <a:rPr lang="zh-CN" altLang="en-US" sz="2000" dirty="0" smtClean="0"/>
              <a:t>在分布式网关方案中，若</a:t>
            </a:r>
            <a:r>
              <a:rPr lang="en-US" altLang="zh-CN" sz="2000" dirty="0" smtClean="0"/>
              <a:t>Fabric</a:t>
            </a:r>
            <a:r>
              <a:rPr lang="zh-CN" altLang="en-US" sz="2000" dirty="0" smtClean="0"/>
              <a:t>采用</a:t>
            </a:r>
            <a:r>
              <a:rPr lang="en-US" altLang="zh-CN" sz="2000" dirty="0" smtClean="0"/>
              <a:t>VXLAN</a:t>
            </a:r>
            <a:r>
              <a:rPr lang="zh-CN" altLang="en-US" sz="2000" dirty="0" smtClean="0"/>
              <a:t>到汇聚组网，</a:t>
            </a:r>
            <a:r>
              <a:rPr lang="en-US" altLang="zh-CN" sz="2000" dirty="0" smtClean="0"/>
              <a:t>Border</a:t>
            </a:r>
            <a:r>
              <a:rPr lang="zh-CN" altLang="en-US" sz="2000" dirty="0" smtClean="0"/>
              <a:t>设备作为随板</a:t>
            </a:r>
            <a:r>
              <a:rPr lang="en-US" altLang="zh-CN" sz="2000" dirty="0" smtClean="0"/>
              <a:t>AC</a:t>
            </a:r>
            <a:r>
              <a:rPr lang="zh-CN" altLang="en-US" sz="2000" dirty="0" smtClean="0"/>
              <a:t>，则</a:t>
            </a:r>
            <a:r>
              <a:rPr lang="en-US" altLang="zh-CN" sz="2000" dirty="0" smtClean="0"/>
              <a:t>AP</a:t>
            </a:r>
            <a:r>
              <a:rPr lang="zh-CN" altLang="en-US" sz="2000" dirty="0" smtClean="0"/>
              <a:t>需要在</a:t>
            </a:r>
            <a:r>
              <a:rPr lang="en-US" altLang="zh-CN" sz="2000" dirty="0" smtClean="0"/>
              <a:t>Border</a:t>
            </a:r>
            <a:r>
              <a:rPr lang="zh-CN" altLang="en-US" sz="2000" dirty="0" smtClean="0"/>
              <a:t>上线，并通过</a:t>
            </a:r>
            <a:r>
              <a:rPr lang="en-US" altLang="zh-CN" sz="2000" dirty="0" smtClean="0"/>
              <a:t>Border</a:t>
            </a:r>
            <a:r>
              <a:rPr lang="zh-CN" altLang="en-US" sz="2000" dirty="0" smtClean="0"/>
              <a:t>设备管理</a:t>
            </a:r>
            <a:r>
              <a:rPr lang="en-US" altLang="zh-CN" sz="2000" dirty="0" smtClean="0"/>
              <a:t>AP</a:t>
            </a:r>
            <a:r>
              <a:rPr lang="zh-CN" altLang="en-US" sz="2000" dirty="0" smtClean="0"/>
              <a:t>。总体</a:t>
            </a:r>
            <a:r>
              <a:rPr lang="zh-CN" altLang="en-US" sz="2000" dirty="0"/>
              <a:t>目标是让园区内的</a:t>
            </a:r>
            <a:r>
              <a:rPr lang="en-US" altLang="zh-CN" sz="2000" dirty="0"/>
              <a:t>AP</a:t>
            </a:r>
            <a:r>
              <a:rPr lang="zh-CN" altLang="en-US" sz="2000" dirty="0"/>
              <a:t>释放一个</a:t>
            </a:r>
            <a:r>
              <a:rPr lang="en-US" altLang="zh-CN" sz="2000" dirty="0"/>
              <a:t>SSID</a:t>
            </a:r>
            <a:r>
              <a:rPr lang="zh-CN" altLang="en-US" sz="2000" dirty="0"/>
              <a:t>，用于</a:t>
            </a:r>
            <a:r>
              <a:rPr lang="zh-CN" altLang="en-US" sz="2000" dirty="0" smtClean="0"/>
              <a:t>供无线用户接入</a:t>
            </a:r>
            <a:r>
              <a:rPr lang="zh-CN" altLang="en-US" sz="2000" dirty="0"/>
              <a:t>，而且用户接入该</a:t>
            </a:r>
            <a:r>
              <a:rPr lang="en-US" altLang="zh-CN" sz="2000" dirty="0"/>
              <a:t>SSID</a:t>
            </a:r>
            <a:r>
              <a:rPr lang="zh-CN" altLang="en-US" sz="2000" dirty="0"/>
              <a:t>后需进行</a:t>
            </a:r>
            <a:r>
              <a:rPr lang="en-US" altLang="zh-CN" sz="2000" dirty="0"/>
              <a:t>Portal</a:t>
            </a:r>
            <a:r>
              <a:rPr lang="zh-CN" altLang="en-US" sz="2000" dirty="0"/>
              <a:t>认证</a:t>
            </a:r>
            <a:r>
              <a:rPr lang="zh-CN" altLang="en-US" sz="2000" dirty="0" smtClean="0"/>
              <a:t>。</a:t>
            </a:r>
            <a:endParaRPr lang="en-US" altLang="zh-CN" sz="2000" dirty="0" smtClean="0"/>
          </a:p>
        </p:txBody>
      </p:sp>
      <p:sp>
        <p:nvSpPr>
          <p:cNvPr id="11" name="圆角矩形 10"/>
          <p:cNvSpPr/>
          <p:nvPr/>
        </p:nvSpPr>
        <p:spPr bwMode="gray">
          <a:xfrm>
            <a:off x="970555" y="2390115"/>
            <a:ext cx="4309958" cy="3552019"/>
          </a:xfrm>
          <a:prstGeom prst="roundRect">
            <a:avLst>
              <a:gd name="adj" fmla="val 3166"/>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19" name="Freeform 159"/>
          <p:cNvSpPr/>
          <p:nvPr/>
        </p:nvSpPr>
        <p:spPr bwMode="gray">
          <a:xfrm flipH="1">
            <a:off x="1512851" y="2930967"/>
            <a:ext cx="2481973" cy="1420820"/>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rgbClr val="E3F6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Huawei Sans" panose="020C0503030203020204" pitchFamily="34" charset="0"/>
              <a:ea typeface="方正兰亭黑简体" panose="02000000000000000000" pitchFamily="2" charset="-122"/>
            </a:endParaRPr>
          </a:p>
        </p:txBody>
      </p:sp>
      <p:cxnSp>
        <p:nvCxnSpPr>
          <p:cNvPr id="20" name="Straight Connector 166"/>
          <p:cNvCxnSpPr>
            <a:stCxn id="36" idx="2"/>
            <a:endCxn id="22" idx="0"/>
          </p:cNvCxnSpPr>
          <p:nvPr/>
        </p:nvCxnSpPr>
        <p:spPr bwMode="gray">
          <a:xfrm>
            <a:off x="1823344" y="4215804"/>
            <a:ext cx="0" cy="40327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166"/>
          <p:cNvCxnSpPr>
            <a:stCxn id="37" idx="2"/>
            <a:endCxn id="23" idx="0"/>
          </p:cNvCxnSpPr>
          <p:nvPr/>
        </p:nvCxnSpPr>
        <p:spPr bwMode="gray">
          <a:xfrm>
            <a:off x="3754145" y="4215804"/>
            <a:ext cx="0" cy="40327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22" name="图片 76" descr="接入交换机.png"/>
          <p:cNvPicPr>
            <a:picLocks noChangeAspect="1"/>
          </p:cNvPicPr>
          <p:nvPr/>
        </p:nvPicPr>
        <p:blipFill>
          <a:blip r:embed="rId3" cstate="print"/>
          <a:stretch>
            <a:fillRect/>
          </a:stretch>
        </p:blipFill>
        <p:spPr bwMode="gray">
          <a:xfrm>
            <a:off x="1600203" y="4619081"/>
            <a:ext cx="446281" cy="365139"/>
          </a:xfrm>
          <a:prstGeom prst="rect">
            <a:avLst/>
          </a:prstGeom>
        </p:spPr>
      </p:pic>
      <p:pic>
        <p:nvPicPr>
          <p:cNvPr id="23" name="图片 76" descr="接入交换机.png"/>
          <p:cNvPicPr>
            <a:picLocks noChangeAspect="1"/>
          </p:cNvPicPr>
          <p:nvPr/>
        </p:nvPicPr>
        <p:blipFill>
          <a:blip r:embed="rId3" cstate="print"/>
          <a:stretch>
            <a:fillRect/>
          </a:stretch>
        </p:blipFill>
        <p:spPr bwMode="gray">
          <a:xfrm>
            <a:off x="3531004" y="4619081"/>
            <a:ext cx="446281" cy="365139"/>
          </a:xfrm>
          <a:prstGeom prst="rect">
            <a:avLst/>
          </a:prstGeom>
        </p:spPr>
      </p:pic>
      <p:sp>
        <p:nvSpPr>
          <p:cNvPr id="24" name="文本框 23"/>
          <p:cNvSpPr txBox="1"/>
          <p:nvPr/>
        </p:nvSpPr>
        <p:spPr bwMode="gray">
          <a:xfrm>
            <a:off x="967611" y="2615452"/>
            <a:ext cx="468398" cy="307777"/>
          </a:xfrm>
          <a:prstGeom prst="rect">
            <a:avLst/>
          </a:prstGeom>
          <a:noFill/>
        </p:spPr>
        <p:txBody>
          <a:bodyPr wrap="none" rtlCol="0">
            <a:spAutoFit/>
          </a:bodyPr>
          <a:lstStyle/>
          <a:p>
            <a:r>
              <a:rPr lang="en-US" altLang="zh-CN" sz="1400" b="1" dirty="0" smtClean="0">
                <a:latin typeface="Huawei Sans" panose="020C0503030203020204" pitchFamily="34" charset="0"/>
                <a:ea typeface="方正兰亭黑简体" panose="02000000000000000000" pitchFamily="2" charset="-122"/>
                <a:cs typeface="Huawei Sans" panose="020C0503030203020204" pitchFamily="34" charset="0"/>
              </a:rPr>
              <a:t>HQ</a:t>
            </a:r>
            <a:endParaRPr lang="zh-CN" altLang="en-US" sz="1400" b="1" dirty="0">
              <a:latin typeface="Huawei Sans" panose="020C0503030203020204" pitchFamily="34" charset="0"/>
              <a:ea typeface="方正兰亭黑简体" panose="02000000000000000000" pitchFamily="2" charset="-122"/>
              <a:cs typeface="Huawei Sans" panose="020C0503030203020204" pitchFamily="34" charset="0"/>
            </a:endParaRPr>
          </a:p>
        </p:txBody>
      </p:sp>
      <p:pic>
        <p:nvPicPr>
          <p:cNvPr id="25" name="图片 105" descr="AP.png"/>
          <p:cNvPicPr>
            <a:picLocks noChangeAspect="1"/>
          </p:cNvPicPr>
          <p:nvPr/>
        </p:nvPicPr>
        <p:blipFill>
          <a:blip r:embed="rId4" cstate="print"/>
          <a:stretch>
            <a:fillRect/>
          </a:stretch>
        </p:blipFill>
        <p:spPr bwMode="gray">
          <a:xfrm>
            <a:off x="4692938" y="4650766"/>
            <a:ext cx="368827" cy="301768"/>
          </a:xfrm>
          <a:prstGeom prst="rect">
            <a:avLst/>
          </a:prstGeom>
        </p:spPr>
      </p:pic>
      <p:cxnSp>
        <p:nvCxnSpPr>
          <p:cNvPr id="26" name="Straight Connector 166"/>
          <p:cNvCxnSpPr>
            <a:stCxn id="23" idx="3"/>
            <a:endCxn id="25" idx="1"/>
          </p:cNvCxnSpPr>
          <p:nvPr/>
        </p:nvCxnSpPr>
        <p:spPr bwMode="gray">
          <a:xfrm flipV="1">
            <a:off x="3977285" y="4801650"/>
            <a:ext cx="715653" cy="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27" name="图片 14" descr="日志告警服务器-蓝.png"/>
          <p:cNvPicPr>
            <a:picLocks noChangeAspect="1"/>
          </p:cNvPicPr>
          <p:nvPr/>
        </p:nvPicPr>
        <p:blipFill>
          <a:blip r:embed="rId5" cstate="print"/>
          <a:stretch>
            <a:fillRect/>
          </a:stretch>
        </p:blipFill>
        <p:spPr bwMode="gray">
          <a:xfrm>
            <a:off x="4649698" y="5385672"/>
            <a:ext cx="445956" cy="278465"/>
          </a:xfrm>
          <a:prstGeom prst="rect">
            <a:avLst/>
          </a:prstGeom>
        </p:spPr>
      </p:pic>
      <p:pic>
        <p:nvPicPr>
          <p:cNvPr id="28" name="图片 27" descr="PC.png">
            <a:extLst>
              <a:ext uri="{FF2B5EF4-FFF2-40B4-BE49-F238E27FC236}">
                <a16:creationId xmlns="" xmlns:a16="http://schemas.microsoft.com/office/drawing/2014/main" id="{4666702E-823D-4236-BF2F-880359158C83}"/>
              </a:ext>
            </a:extLst>
          </p:cNvPr>
          <p:cNvPicPr>
            <a:picLocks noChangeAspect="1"/>
          </p:cNvPicPr>
          <p:nvPr/>
        </p:nvPicPr>
        <p:blipFill>
          <a:blip r:embed="rId6" cstate="print"/>
          <a:stretch>
            <a:fillRect/>
          </a:stretch>
        </p:blipFill>
        <p:spPr bwMode="gray">
          <a:xfrm>
            <a:off x="1600590" y="5357395"/>
            <a:ext cx="445506" cy="342149"/>
          </a:xfrm>
          <a:prstGeom prst="rect">
            <a:avLst/>
          </a:prstGeom>
        </p:spPr>
      </p:pic>
      <p:pic>
        <p:nvPicPr>
          <p:cNvPr id="29" name="图片 28" descr="PC.png">
            <a:extLst>
              <a:ext uri="{FF2B5EF4-FFF2-40B4-BE49-F238E27FC236}">
                <a16:creationId xmlns="" xmlns:a16="http://schemas.microsoft.com/office/drawing/2014/main" id="{4666702E-823D-4236-BF2F-880359158C83}"/>
              </a:ext>
            </a:extLst>
          </p:cNvPr>
          <p:cNvPicPr>
            <a:picLocks noChangeAspect="1"/>
          </p:cNvPicPr>
          <p:nvPr/>
        </p:nvPicPr>
        <p:blipFill>
          <a:blip r:embed="rId6" cstate="print"/>
          <a:stretch>
            <a:fillRect/>
          </a:stretch>
        </p:blipFill>
        <p:spPr bwMode="gray">
          <a:xfrm>
            <a:off x="3531391" y="5357062"/>
            <a:ext cx="445506" cy="342149"/>
          </a:xfrm>
          <a:prstGeom prst="rect">
            <a:avLst/>
          </a:prstGeom>
        </p:spPr>
      </p:pic>
      <p:cxnSp>
        <p:nvCxnSpPr>
          <p:cNvPr id="30" name="Straight Connector 167"/>
          <p:cNvCxnSpPr/>
          <p:nvPr/>
        </p:nvCxnSpPr>
        <p:spPr bwMode="gray">
          <a:xfrm flipH="1">
            <a:off x="1824054" y="3156572"/>
            <a:ext cx="971589" cy="876201"/>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31" name="Straight Connector 167"/>
          <p:cNvCxnSpPr/>
          <p:nvPr/>
        </p:nvCxnSpPr>
        <p:spPr bwMode="gray">
          <a:xfrm flipH="1" flipV="1">
            <a:off x="2792264" y="3154095"/>
            <a:ext cx="975076" cy="883934"/>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pic>
        <p:nvPicPr>
          <p:cNvPr id="32" name="图片 86" descr="核心交换机.png"/>
          <p:cNvPicPr>
            <a:picLocks noChangeAspect="1"/>
          </p:cNvPicPr>
          <p:nvPr/>
        </p:nvPicPr>
        <p:blipFill>
          <a:blip r:embed="rId7" cstate="print"/>
          <a:stretch>
            <a:fillRect/>
          </a:stretch>
        </p:blipFill>
        <p:spPr bwMode="gray">
          <a:xfrm>
            <a:off x="2579896" y="2974003"/>
            <a:ext cx="446281" cy="365139"/>
          </a:xfrm>
          <a:prstGeom prst="rect">
            <a:avLst/>
          </a:prstGeom>
        </p:spPr>
      </p:pic>
      <p:sp>
        <p:nvSpPr>
          <p:cNvPr id="33" name="文本框 32"/>
          <p:cNvSpPr txBox="1"/>
          <p:nvPr/>
        </p:nvSpPr>
        <p:spPr bwMode="gray">
          <a:xfrm>
            <a:off x="1919813" y="2917951"/>
            <a:ext cx="694422" cy="461665"/>
          </a:xfrm>
          <a:prstGeom prst="rect">
            <a:avLst/>
          </a:prstGeom>
          <a:noFill/>
        </p:spPr>
        <p:txBody>
          <a:bodyPr wrap="none" rtlCol="0">
            <a:spAutoFit/>
          </a:bodyPr>
          <a:lstStyle/>
          <a:p>
            <a:pPr algn="r"/>
            <a:r>
              <a:rPr lang="en-US" altLang="zh-CN" sz="1200" b="1" dirty="0" smtClean="0">
                <a:latin typeface="Huawei Sans" panose="020C0503030203020204" pitchFamily="34" charset="0"/>
                <a:ea typeface="方正兰亭黑简体" panose="02000000000000000000" pitchFamily="2" charset="-122"/>
                <a:cs typeface="Huawei Sans" panose="020C0503030203020204" pitchFamily="34" charset="0"/>
              </a:rPr>
              <a:t>Border</a:t>
            </a:r>
          </a:p>
          <a:p>
            <a:pPr algn="r"/>
            <a:r>
              <a:rPr lang="zh-CN" altLang="en-US" sz="1200" b="1" dirty="0">
                <a:latin typeface="Huawei Sans" panose="020C0503030203020204" pitchFamily="34" charset="0"/>
                <a:ea typeface="方正兰亭黑简体" panose="02000000000000000000" pitchFamily="2" charset="-122"/>
                <a:cs typeface="Huawei Sans" panose="020C0503030203020204" pitchFamily="34" charset="0"/>
              </a:rPr>
              <a:t>随</a:t>
            </a:r>
            <a:r>
              <a:rPr lang="zh-CN" altLang="en-US" sz="1200" b="1" dirty="0" smtClean="0">
                <a:latin typeface="Huawei Sans" panose="020C0503030203020204" pitchFamily="34" charset="0"/>
                <a:ea typeface="方正兰亭黑简体" panose="02000000000000000000" pitchFamily="2" charset="-122"/>
                <a:cs typeface="Huawei Sans" panose="020C0503030203020204" pitchFamily="34" charset="0"/>
              </a:rPr>
              <a:t>板</a:t>
            </a:r>
            <a:r>
              <a:rPr lang="en-US" altLang="zh-CN" sz="1200" b="1" dirty="0" smtClean="0">
                <a:latin typeface="Huawei Sans" panose="020C0503030203020204" pitchFamily="34" charset="0"/>
                <a:ea typeface="方正兰亭黑简体" panose="02000000000000000000" pitchFamily="2" charset="-122"/>
                <a:cs typeface="Huawei Sans" panose="020C0503030203020204" pitchFamily="34" charset="0"/>
              </a:rPr>
              <a:t>AC</a:t>
            </a:r>
            <a:endParaRPr lang="zh-CN" altLang="en-US" sz="1200" b="1"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34" name="文本框 33"/>
          <p:cNvSpPr txBox="1"/>
          <p:nvPr/>
        </p:nvSpPr>
        <p:spPr bwMode="gray">
          <a:xfrm>
            <a:off x="987248" y="3883031"/>
            <a:ext cx="684804" cy="276999"/>
          </a:xfrm>
          <a:prstGeom prst="rect">
            <a:avLst/>
          </a:prstGeom>
          <a:noFill/>
        </p:spPr>
        <p:txBody>
          <a:bodyPr wrap="none" rtlCol="0">
            <a:spAutoFit/>
          </a:bodyPr>
          <a:lstStyle/>
          <a:p>
            <a:pPr algn="r"/>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Edge_1</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35" name="文本框 34"/>
          <p:cNvSpPr txBox="1"/>
          <p:nvPr/>
        </p:nvSpPr>
        <p:spPr bwMode="gray">
          <a:xfrm>
            <a:off x="1040148" y="4597293"/>
            <a:ext cx="631904" cy="276999"/>
          </a:xfrm>
          <a:prstGeom prst="rect">
            <a:avLst/>
          </a:prstGeom>
          <a:noFill/>
        </p:spPr>
        <p:txBody>
          <a:bodyPr wrap="none" rtlCol="0">
            <a:spAutoFit/>
          </a:bodyPr>
          <a:lstStyle/>
          <a:p>
            <a:pPr algn="r"/>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ACC_1</a:t>
            </a:r>
            <a:endParaRPr lang="zh-CN" altLang="en-US" sz="1200" b="1" dirty="0">
              <a:latin typeface="Huawei Sans" panose="020C0503030203020204" pitchFamily="34" charset="0"/>
              <a:ea typeface="方正兰亭黑简体" panose="02000000000000000000" pitchFamily="2" charset="-122"/>
              <a:cs typeface="Huawei Sans" panose="020C0503030203020204" pitchFamily="34" charset="0"/>
            </a:endParaRPr>
          </a:p>
        </p:txBody>
      </p:sp>
      <p:pic>
        <p:nvPicPr>
          <p:cNvPr id="36" name="图片 87" descr="汇聚交换机.png"/>
          <p:cNvPicPr>
            <a:picLocks noChangeAspect="1"/>
          </p:cNvPicPr>
          <p:nvPr/>
        </p:nvPicPr>
        <p:blipFill>
          <a:blip r:embed="rId8" cstate="print"/>
          <a:stretch>
            <a:fillRect/>
          </a:stretch>
        </p:blipFill>
        <p:spPr bwMode="gray">
          <a:xfrm>
            <a:off x="1600203" y="3850665"/>
            <a:ext cx="446281" cy="365139"/>
          </a:xfrm>
          <a:prstGeom prst="rect">
            <a:avLst/>
          </a:prstGeom>
        </p:spPr>
      </p:pic>
      <p:pic>
        <p:nvPicPr>
          <p:cNvPr id="37" name="图片 87" descr="汇聚交换机.png"/>
          <p:cNvPicPr>
            <a:picLocks noChangeAspect="1"/>
          </p:cNvPicPr>
          <p:nvPr/>
        </p:nvPicPr>
        <p:blipFill>
          <a:blip r:embed="rId8" cstate="print"/>
          <a:stretch>
            <a:fillRect/>
          </a:stretch>
        </p:blipFill>
        <p:spPr bwMode="gray">
          <a:xfrm>
            <a:off x="3531004" y="3850665"/>
            <a:ext cx="446281" cy="365139"/>
          </a:xfrm>
          <a:prstGeom prst="rect">
            <a:avLst/>
          </a:prstGeom>
        </p:spPr>
      </p:pic>
      <p:sp>
        <p:nvSpPr>
          <p:cNvPr id="38" name="文本框 37"/>
          <p:cNvSpPr txBox="1"/>
          <p:nvPr/>
        </p:nvSpPr>
        <p:spPr bwMode="gray">
          <a:xfrm>
            <a:off x="4640652" y="4408545"/>
            <a:ext cx="460382" cy="276999"/>
          </a:xfrm>
          <a:prstGeom prst="rect">
            <a:avLst/>
          </a:prstGeom>
          <a:noFill/>
        </p:spPr>
        <p:txBody>
          <a:bodyPr wrap="none" rtlCol="0">
            <a:spAutoFit/>
          </a:bodyPr>
          <a:lstStyle/>
          <a:p>
            <a:pPr algn="ctr"/>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AP1</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39" name="文本框 38"/>
          <p:cNvSpPr txBox="1"/>
          <p:nvPr/>
        </p:nvSpPr>
        <p:spPr bwMode="gray">
          <a:xfrm>
            <a:off x="1596358" y="5665136"/>
            <a:ext cx="453970" cy="276999"/>
          </a:xfrm>
          <a:prstGeom prst="rect">
            <a:avLst/>
          </a:prstGeom>
          <a:noFill/>
        </p:spPr>
        <p:txBody>
          <a:bodyPr wrap="none" rtlCol="0">
            <a:spAutoFit/>
          </a:bodyPr>
          <a:lstStyle/>
          <a:p>
            <a:pPr algn="ctr"/>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PC1</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40" name="文本框 39"/>
          <p:cNvSpPr txBox="1"/>
          <p:nvPr/>
        </p:nvSpPr>
        <p:spPr bwMode="gray">
          <a:xfrm>
            <a:off x="3527159" y="5665136"/>
            <a:ext cx="453970" cy="276999"/>
          </a:xfrm>
          <a:prstGeom prst="rect">
            <a:avLst/>
          </a:prstGeom>
          <a:noFill/>
        </p:spPr>
        <p:txBody>
          <a:bodyPr wrap="none" rtlCol="0">
            <a:spAutoFit/>
          </a:bodyPr>
          <a:lstStyle/>
          <a:p>
            <a:pPr algn="ctr"/>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PC2</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cxnSp>
        <p:nvCxnSpPr>
          <p:cNvPr id="41" name="Straight Connector 166"/>
          <p:cNvCxnSpPr>
            <a:stCxn id="22" idx="2"/>
            <a:endCxn id="28" idx="0"/>
          </p:cNvCxnSpPr>
          <p:nvPr/>
        </p:nvCxnSpPr>
        <p:spPr bwMode="gray">
          <a:xfrm flipH="1">
            <a:off x="1823343" y="4984220"/>
            <a:ext cx="1" cy="37317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Straight Connector 166"/>
          <p:cNvCxnSpPr>
            <a:stCxn id="23" idx="2"/>
            <a:endCxn id="29" idx="0"/>
          </p:cNvCxnSpPr>
          <p:nvPr/>
        </p:nvCxnSpPr>
        <p:spPr bwMode="gray">
          <a:xfrm flipH="1">
            <a:off x="3754144" y="4984220"/>
            <a:ext cx="1" cy="37284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43" name="文本框 42"/>
          <p:cNvSpPr txBox="1"/>
          <p:nvPr/>
        </p:nvSpPr>
        <p:spPr bwMode="gray">
          <a:xfrm>
            <a:off x="4652199" y="5665136"/>
            <a:ext cx="453970" cy="276999"/>
          </a:xfrm>
          <a:prstGeom prst="rect">
            <a:avLst/>
          </a:prstGeom>
          <a:noFill/>
        </p:spPr>
        <p:txBody>
          <a:bodyPr wrap="none" rtlCol="0">
            <a:spAutoFit/>
          </a:bodyPr>
          <a:lstStyle/>
          <a:p>
            <a:pPr algn="ctr"/>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PC3</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44" name="文本框 43"/>
          <p:cNvSpPr txBox="1"/>
          <p:nvPr/>
        </p:nvSpPr>
        <p:spPr bwMode="gray">
          <a:xfrm>
            <a:off x="2391306" y="3604770"/>
            <a:ext cx="829073" cy="338554"/>
          </a:xfrm>
          <a:prstGeom prst="rect">
            <a:avLst/>
          </a:prstGeom>
          <a:noFill/>
        </p:spPr>
        <p:txBody>
          <a:bodyPr wrap="square" rtlCol="0">
            <a:noAutofit/>
          </a:bodyPr>
          <a:lstStyle>
            <a:defPPr>
              <a:defRPr lang="en-US"/>
            </a:defPPr>
            <a:lvl1pPr algn="ctr" fontAlgn="ctr">
              <a:defRPr sz="1600">
                <a:solidFill>
                  <a:srgbClr val="30B5C5"/>
                </a:solidFill>
                <a:latin typeface="Huawei Sans" panose="020C0503030203020204" pitchFamily="34" charset="0"/>
                <a:ea typeface="方正兰亭黑简体" panose="02000000000000000000" pitchFamily="2" charset="-122"/>
              </a:defRPr>
            </a:lvl1pPr>
          </a:lstStyle>
          <a:p>
            <a:r>
              <a:rPr lang="en-US" altLang="zh-CN" sz="1200" dirty="0"/>
              <a:t>VXLAN</a:t>
            </a:r>
            <a:endParaRPr lang="zh-CN" altLang="en-US" sz="1200" dirty="0"/>
          </a:p>
        </p:txBody>
      </p:sp>
      <p:sp>
        <p:nvSpPr>
          <p:cNvPr id="45" name="文本框 44"/>
          <p:cNvSpPr txBox="1"/>
          <p:nvPr/>
        </p:nvSpPr>
        <p:spPr bwMode="gray">
          <a:xfrm>
            <a:off x="2926781" y="4597293"/>
            <a:ext cx="631903" cy="276999"/>
          </a:xfrm>
          <a:prstGeom prst="rect">
            <a:avLst/>
          </a:prstGeom>
          <a:noFill/>
        </p:spPr>
        <p:txBody>
          <a:bodyPr wrap="none" rtlCol="0">
            <a:spAutoFit/>
          </a:bodyPr>
          <a:lstStyle/>
          <a:p>
            <a:pPr algn="r"/>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ACC_2</a:t>
            </a:r>
          </a:p>
        </p:txBody>
      </p:sp>
      <p:grpSp>
        <p:nvGrpSpPr>
          <p:cNvPr id="46" name="组合 758"/>
          <p:cNvGrpSpPr/>
          <p:nvPr/>
        </p:nvGrpSpPr>
        <p:grpSpPr bwMode="gray">
          <a:xfrm flipV="1">
            <a:off x="4764501" y="5026619"/>
            <a:ext cx="225699" cy="191129"/>
            <a:chOff x="7440613" y="4868863"/>
            <a:chExt cx="1019175" cy="828675"/>
          </a:xfrm>
          <a:solidFill>
            <a:schemeClr val="bg1">
              <a:lumMod val="50000"/>
            </a:schemeClr>
          </a:solidFill>
        </p:grpSpPr>
        <p:sp>
          <p:nvSpPr>
            <p:cNvPr id="47" name="Freeform 15"/>
            <p:cNvSpPr>
              <a:spLocks/>
            </p:cNvSpPr>
            <p:nvPr/>
          </p:nvSpPr>
          <p:spPr bwMode="gray">
            <a:xfrm>
              <a:off x="7832726" y="5462588"/>
              <a:ext cx="234950" cy="234950"/>
            </a:xfrm>
            <a:custGeom>
              <a:avLst/>
              <a:gdLst/>
              <a:ahLst/>
              <a:cxnLst>
                <a:cxn ang="0">
                  <a:pos x="3281" y="680"/>
                </a:cxn>
                <a:cxn ang="0">
                  <a:pos x="3439" y="907"/>
                </a:cxn>
                <a:cxn ang="0">
                  <a:pos x="3559" y="1151"/>
                </a:cxn>
                <a:cxn ang="0">
                  <a:pos x="3642" y="1406"/>
                </a:cxn>
                <a:cxn ang="0">
                  <a:pos x="3686" y="1670"/>
                </a:cxn>
                <a:cxn ang="0">
                  <a:pos x="3693" y="1936"/>
                </a:cxn>
                <a:cxn ang="0">
                  <a:pos x="3661" y="2201"/>
                </a:cxn>
                <a:cxn ang="0">
                  <a:pos x="3591" y="2460"/>
                </a:cxn>
                <a:cxn ang="0">
                  <a:pos x="3484" y="2708"/>
                </a:cxn>
                <a:cxn ang="0">
                  <a:pos x="3339" y="2941"/>
                </a:cxn>
                <a:cxn ang="0">
                  <a:pos x="3155" y="3155"/>
                </a:cxn>
                <a:cxn ang="0">
                  <a:pos x="2941" y="3339"/>
                </a:cxn>
                <a:cxn ang="0">
                  <a:pos x="2708" y="3484"/>
                </a:cxn>
                <a:cxn ang="0">
                  <a:pos x="2460" y="3592"/>
                </a:cxn>
                <a:cxn ang="0">
                  <a:pos x="2201" y="3661"/>
                </a:cxn>
                <a:cxn ang="0">
                  <a:pos x="1936" y="3693"/>
                </a:cxn>
                <a:cxn ang="0">
                  <a:pos x="1670" y="3687"/>
                </a:cxn>
                <a:cxn ang="0">
                  <a:pos x="1408" y="3643"/>
                </a:cxn>
                <a:cxn ang="0">
                  <a:pos x="1152" y="3561"/>
                </a:cxn>
                <a:cxn ang="0">
                  <a:pos x="908" y="3440"/>
                </a:cxn>
                <a:cxn ang="0">
                  <a:pos x="680" y="3282"/>
                </a:cxn>
                <a:cxn ang="0">
                  <a:pos x="475" y="3086"/>
                </a:cxn>
                <a:cxn ang="0">
                  <a:pos x="304" y="2866"/>
                </a:cxn>
                <a:cxn ang="0">
                  <a:pos x="172" y="2627"/>
                </a:cxn>
                <a:cxn ang="0">
                  <a:pos x="76" y="2374"/>
                </a:cxn>
                <a:cxn ang="0">
                  <a:pos x="19" y="2114"/>
                </a:cxn>
                <a:cxn ang="0">
                  <a:pos x="0" y="1848"/>
                </a:cxn>
                <a:cxn ang="0">
                  <a:pos x="19" y="1582"/>
                </a:cxn>
                <a:cxn ang="0">
                  <a:pos x="76" y="1321"/>
                </a:cxn>
                <a:cxn ang="0">
                  <a:pos x="171" y="1069"/>
                </a:cxn>
                <a:cxn ang="0">
                  <a:pos x="304" y="830"/>
                </a:cxn>
                <a:cxn ang="0">
                  <a:pos x="475" y="609"/>
                </a:cxn>
                <a:cxn ang="0">
                  <a:pos x="680" y="414"/>
                </a:cxn>
                <a:cxn ang="0">
                  <a:pos x="907" y="255"/>
                </a:cxn>
                <a:cxn ang="0">
                  <a:pos x="1151" y="135"/>
                </a:cxn>
                <a:cxn ang="0">
                  <a:pos x="1407" y="52"/>
                </a:cxn>
                <a:cxn ang="0">
                  <a:pos x="1669" y="8"/>
                </a:cxn>
                <a:cxn ang="0">
                  <a:pos x="1936" y="2"/>
                </a:cxn>
                <a:cxn ang="0">
                  <a:pos x="2201" y="33"/>
                </a:cxn>
                <a:cxn ang="0">
                  <a:pos x="2459" y="104"/>
                </a:cxn>
                <a:cxn ang="0">
                  <a:pos x="2708" y="211"/>
                </a:cxn>
                <a:cxn ang="0">
                  <a:pos x="2940" y="356"/>
                </a:cxn>
                <a:cxn ang="0">
                  <a:pos x="3154" y="539"/>
                </a:cxn>
              </a:cxnLst>
              <a:rect l="0" t="0" r="r" b="b"/>
              <a:pathLst>
                <a:path w="3695" h="3695">
                  <a:moveTo>
                    <a:pt x="3154" y="539"/>
                  </a:moveTo>
                  <a:lnTo>
                    <a:pt x="3220" y="608"/>
                  </a:lnTo>
                  <a:lnTo>
                    <a:pt x="3281" y="680"/>
                  </a:lnTo>
                  <a:lnTo>
                    <a:pt x="3338" y="754"/>
                  </a:lnTo>
                  <a:lnTo>
                    <a:pt x="3391" y="829"/>
                  </a:lnTo>
                  <a:lnTo>
                    <a:pt x="3439" y="907"/>
                  </a:lnTo>
                  <a:lnTo>
                    <a:pt x="3483" y="987"/>
                  </a:lnTo>
                  <a:lnTo>
                    <a:pt x="3523" y="1068"/>
                  </a:lnTo>
                  <a:lnTo>
                    <a:pt x="3559" y="1151"/>
                  </a:lnTo>
                  <a:lnTo>
                    <a:pt x="3591" y="1235"/>
                  </a:lnTo>
                  <a:lnTo>
                    <a:pt x="3619" y="1320"/>
                  </a:lnTo>
                  <a:lnTo>
                    <a:pt x="3642" y="1406"/>
                  </a:lnTo>
                  <a:lnTo>
                    <a:pt x="3661" y="1493"/>
                  </a:lnTo>
                  <a:lnTo>
                    <a:pt x="3676" y="1582"/>
                  </a:lnTo>
                  <a:lnTo>
                    <a:pt x="3686" y="1670"/>
                  </a:lnTo>
                  <a:lnTo>
                    <a:pt x="3693" y="1758"/>
                  </a:lnTo>
                  <a:lnTo>
                    <a:pt x="3695" y="1847"/>
                  </a:lnTo>
                  <a:lnTo>
                    <a:pt x="3693" y="1936"/>
                  </a:lnTo>
                  <a:lnTo>
                    <a:pt x="3686" y="2024"/>
                  </a:lnTo>
                  <a:lnTo>
                    <a:pt x="3676" y="2113"/>
                  </a:lnTo>
                  <a:lnTo>
                    <a:pt x="3661" y="2201"/>
                  </a:lnTo>
                  <a:lnTo>
                    <a:pt x="3642" y="2288"/>
                  </a:lnTo>
                  <a:lnTo>
                    <a:pt x="3619" y="2374"/>
                  </a:lnTo>
                  <a:lnTo>
                    <a:pt x="3591" y="2460"/>
                  </a:lnTo>
                  <a:lnTo>
                    <a:pt x="3559" y="2544"/>
                  </a:lnTo>
                  <a:lnTo>
                    <a:pt x="3524" y="2626"/>
                  </a:lnTo>
                  <a:lnTo>
                    <a:pt x="3484" y="2708"/>
                  </a:lnTo>
                  <a:lnTo>
                    <a:pt x="3439" y="2788"/>
                  </a:lnTo>
                  <a:lnTo>
                    <a:pt x="3391" y="2865"/>
                  </a:lnTo>
                  <a:lnTo>
                    <a:pt x="3339" y="2941"/>
                  </a:lnTo>
                  <a:lnTo>
                    <a:pt x="3281" y="3015"/>
                  </a:lnTo>
                  <a:lnTo>
                    <a:pt x="3220" y="3086"/>
                  </a:lnTo>
                  <a:lnTo>
                    <a:pt x="3155" y="3155"/>
                  </a:lnTo>
                  <a:lnTo>
                    <a:pt x="3086" y="3220"/>
                  </a:lnTo>
                  <a:lnTo>
                    <a:pt x="3015" y="3282"/>
                  </a:lnTo>
                  <a:lnTo>
                    <a:pt x="2941" y="3339"/>
                  </a:lnTo>
                  <a:lnTo>
                    <a:pt x="2865" y="3391"/>
                  </a:lnTo>
                  <a:lnTo>
                    <a:pt x="2788" y="3440"/>
                  </a:lnTo>
                  <a:lnTo>
                    <a:pt x="2708" y="3484"/>
                  </a:lnTo>
                  <a:lnTo>
                    <a:pt x="2626" y="3524"/>
                  </a:lnTo>
                  <a:lnTo>
                    <a:pt x="2544" y="3560"/>
                  </a:lnTo>
                  <a:lnTo>
                    <a:pt x="2460" y="3592"/>
                  </a:lnTo>
                  <a:lnTo>
                    <a:pt x="2375" y="3619"/>
                  </a:lnTo>
                  <a:lnTo>
                    <a:pt x="2288" y="3643"/>
                  </a:lnTo>
                  <a:lnTo>
                    <a:pt x="2201" y="3661"/>
                  </a:lnTo>
                  <a:lnTo>
                    <a:pt x="2114" y="3676"/>
                  </a:lnTo>
                  <a:lnTo>
                    <a:pt x="2026" y="3687"/>
                  </a:lnTo>
                  <a:lnTo>
                    <a:pt x="1936" y="3693"/>
                  </a:lnTo>
                  <a:lnTo>
                    <a:pt x="1848" y="3695"/>
                  </a:lnTo>
                  <a:lnTo>
                    <a:pt x="1759" y="3693"/>
                  </a:lnTo>
                  <a:lnTo>
                    <a:pt x="1670" y="3687"/>
                  </a:lnTo>
                  <a:lnTo>
                    <a:pt x="1582" y="3676"/>
                  </a:lnTo>
                  <a:lnTo>
                    <a:pt x="1495" y="3662"/>
                  </a:lnTo>
                  <a:lnTo>
                    <a:pt x="1408" y="3643"/>
                  </a:lnTo>
                  <a:lnTo>
                    <a:pt x="1321" y="3620"/>
                  </a:lnTo>
                  <a:lnTo>
                    <a:pt x="1236" y="3592"/>
                  </a:lnTo>
                  <a:lnTo>
                    <a:pt x="1152" y="3561"/>
                  </a:lnTo>
                  <a:lnTo>
                    <a:pt x="1069" y="3524"/>
                  </a:lnTo>
                  <a:lnTo>
                    <a:pt x="987" y="3484"/>
                  </a:lnTo>
                  <a:lnTo>
                    <a:pt x="908" y="3440"/>
                  </a:lnTo>
                  <a:lnTo>
                    <a:pt x="830" y="3391"/>
                  </a:lnTo>
                  <a:lnTo>
                    <a:pt x="755" y="3339"/>
                  </a:lnTo>
                  <a:lnTo>
                    <a:pt x="680" y="3282"/>
                  </a:lnTo>
                  <a:lnTo>
                    <a:pt x="609" y="3220"/>
                  </a:lnTo>
                  <a:lnTo>
                    <a:pt x="541" y="3155"/>
                  </a:lnTo>
                  <a:lnTo>
                    <a:pt x="475" y="3086"/>
                  </a:lnTo>
                  <a:lnTo>
                    <a:pt x="414" y="3015"/>
                  </a:lnTo>
                  <a:lnTo>
                    <a:pt x="357" y="2941"/>
                  </a:lnTo>
                  <a:lnTo>
                    <a:pt x="304" y="2866"/>
                  </a:lnTo>
                  <a:lnTo>
                    <a:pt x="256" y="2788"/>
                  </a:lnTo>
                  <a:lnTo>
                    <a:pt x="212" y="2709"/>
                  </a:lnTo>
                  <a:lnTo>
                    <a:pt x="172" y="2627"/>
                  </a:lnTo>
                  <a:lnTo>
                    <a:pt x="136" y="2544"/>
                  </a:lnTo>
                  <a:lnTo>
                    <a:pt x="104" y="2460"/>
                  </a:lnTo>
                  <a:lnTo>
                    <a:pt x="76" y="2374"/>
                  </a:lnTo>
                  <a:lnTo>
                    <a:pt x="53" y="2288"/>
                  </a:lnTo>
                  <a:lnTo>
                    <a:pt x="34" y="2201"/>
                  </a:lnTo>
                  <a:lnTo>
                    <a:pt x="19" y="2114"/>
                  </a:lnTo>
                  <a:lnTo>
                    <a:pt x="9" y="2025"/>
                  </a:lnTo>
                  <a:lnTo>
                    <a:pt x="2" y="1937"/>
                  </a:lnTo>
                  <a:lnTo>
                    <a:pt x="0" y="1848"/>
                  </a:lnTo>
                  <a:lnTo>
                    <a:pt x="2" y="1759"/>
                  </a:lnTo>
                  <a:lnTo>
                    <a:pt x="9" y="1670"/>
                  </a:lnTo>
                  <a:lnTo>
                    <a:pt x="19" y="1582"/>
                  </a:lnTo>
                  <a:lnTo>
                    <a:pt x="34" y="1494"/>
                  </a:lnTo>
                  <a:lnTo>
                    <a:pt x="53" y="1407"/>
                  </a:lnTo>
                  <a:lnTo>
                    <a:pt x="76" y="1321"/>
                  </a:lnTo>
                  <a:lnTo>
                    <a:pt x="104" y="1236"/>
                  </a:lnTo>
                  <a:lnTo>
                    <a:pt x="136" y="1151"/>
                  </a:lnTo>
                  <a:lnTo>
                    <a:pt x="171" y="1069"/>
                  </a:lnTo>
                  <a:lnTo>
                    <a:pt x="211" y="988"/>
                  </a:lnTo>
                  <a:lnTo>
                    <a:pt x="255" y="907"/>
                  </a:lnTo>
                  <a:lnTo>
                    <a:pt x="304" y="830"/>
                  </a:lnTo>
                  <a:lnTo>
                    <a:pt x="356" y="754"/>
                  </a:lnTo>
                  <a:lnTo>
                    <a:pt x="414" y="681"/>
                  </a:lnTo>
                  <a:lnTo>
                    <a:pt x="475" y="609"/>
                  </a:lnTo>
                  <a:lnTo>
                    <a:pt x="540" y="540"/>
                  </a:lnTo>
                  <a:lnTo>
                    <a:pt x="609" y="475"/>
                  </a:lnTo>
                  <a:lnTo>
                    <a:pt x="680" y="414"/>
                  </a:lnTo>
                  <a:lnTo>
                    <a:pt x="754" y="356"/>
                  </a:lnTo>
                  <a:lnTo>
                    <a:pt x="830" y="303"/>
                  </a:lnTo>
                  <a:lnTo>
                    <a:pt x="907" y="255"/>
                  </a:lnTo>
                  <a:lnTo>
                    <a:pt x="987" y="211"/>
                  </a:lnTo>
                  <a:lnTo>
                    <a:pt x="1069" y="171"/>
                  </a:lnTo>
                  <a:lnTo>
                    <a:pt x="1151" y="135"/>
                  </a:lnTo>
                  <a:lnTo>
                    <a:pt x="1235" y="104"/>
                  </a:lnTo>
                  <a:lnTo>
                    <a:pt x="1320" y="76"/>
                  </a:lnTo>
                  <a:lnTo>
                    <a:pt x="1407" y="52"/>
                  </a:lnTo>
                  <a:lnTo>
                    <a:pt x="1494" y="33"/>
                  </a:lnTo>
                  <a:lnTo>
                    <a:pt x="1581" y="19"/>
                  </a:lnTo>
                  <a:lnTo>
                    <a:pt x="1669" y="8"/>
                  </a:lnTo>
                  <a:lnTo>
                    <a:pt x="1759" y="2"/>
                  </a:lnTo>
                  <a:lnTo>
                    <a:pt x="1847" y="0"/>
                  </a:lnTo>
                  <a:lnTo>
                    <a:pt x="1936" y="2"/>
                  </a:lnTo>
                  <a:lnTo>
                    <a:pt x="2025" y="8"/>
                  </a:lnTo>
                  <a:lnTo>
                    <a:pt x="2113" y="19"/>
                  </a:lnTo>
                  <a:lnTo>
                    <a:pt x="2201" y="33"/>
                  </a:lnTo>
                  <a:lnTo>
                    <a:pt x="2287" y="52"/>
                  </a:lnTo>
                  <a:lnTo>
                    <a:pt x="2374" y="76"/>
                  </a:lnTo>
                  <a:lnTo>
                    <a:pt x="2459" y="104"/>
                  </a:lnTo>
                  <a:lnTo>
                    <a:pt x="2543" y="135"/>
                  </a:lnTo>
                  <a:lnTo>
                    <a:pt x="2626" y="171"/>
                  </a:lnTo>
                  <a:lnTo>
                    <a:pt x="2708" y="211"/>
                  </a:lnTo>
                  <a:lnTo>
                    <a:pt x="2787" y="255"/>
                  </a:lnTo>
                  <a:lnTo>
                    <a:pt x="2865" y="303"/>
                  </a:lnTo>
                  <a:lnTo>
                    <a:pt x="2940" y="356"/>
                  </a:lnTo>
                  <a:lnTo>
                    <a:pt x="3015" y="413"/>
                  </a:lnTo>
                  <a:lnTo>
                    <a:pt x="3086" y="474"/>
                  </a:lnTo>
                  <a:lnTo>
                    <a:pt x="3154" y="539"/>
                  </a:lnTo>
                  <a:close/>
                </a:path>
              </a:pathLst>
            </a:custGeom>
            <a:grpFill/>
            <a:ln w="9525">
              <a:noFill/>
              <a:round/>
              <a:headEnd/>
              <a:tailEnd/>
            </a:ln>
          </p:spPr>
          <p:txBody>
            <a:bodyPr/>
            <a:lstStyle/>
            <a:p>
              <a:pPr algn="ctr" eaLnBrk="1" fontAlgn="auto" hangingPunct="1">
                <a:spcBef>
                  <a:spcPts val="0"/>
                </a:spcBef>
                <a:spcAft>
                  <a:spcPts val="0"/>
                </a:spcAft>
                <a:defRPr/>
              </a:pPr>
              <a:endParaRPr lang="zh-CN" altLang="en-US" sz="1200" ker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8" name="Freeform 16"/>
            <p:cNvSpPr>
              <a:spLocks noEditPoints="1"/>
            </p:cNvSpPr>
            <p:nvPr/>
          </p:nvSpPr>
          <p:spPr bwMode="gray">
            <a:xfrm>
              <a:off x="7440613" y="4868863"/>
              <a:ext cx="1019175" cy="544513"/>
            </a:xfrm>
            <a:custGeom>
              <a:avLst/>
              <a:gdLst/>
              <a:ahLst/>
              <a:cxnLst>
                <a:cxn ang="0">
                  <a:pos x="16025" y="3351"/>
                </a:cxn>
                <a:cxn ang="0">
                  <a:pos x="14975" y="4351"/>
                </a:cxn>
                <a:cxn ang="0">
                  <a:pos x="14184" y="3632"/>
                </a:cxn>
                <a:cxn ang="0">
                  <a:pos x="12564" y="2563"/>
                </a:cxn>
                <a:cxn ang="0">
                  <a:pos x="10805" y="1850"/>
                </a:cxn>
                <a:cxn ang="0">
                  <a:pos x="8960" y="1494"/>
                </a:cxn>
                <a:cxn ang="0">
                  <a:pos x="7087" y="1494"/>
                </a:cxn>
                <a:cxn ang="0">
                  <a:pos x="5243" y="1851"/>
                </a:cxn>
                <a:cxn ang="0">
                  <a:pos x="3483" y="2564"/>
                </a:cxn>
                <a:cxn ang="0">
                  <a:pos x="1864" y="3634"/>
                </a:cxn>
                <a:cxn ang="0">
                  <a:pos x="1075" y="4353"/>
                </a:cxn>
                <a:cxn ang="0">
                  <a:pos x="24" y="3353"/>
                </a:cxn>
                <a:cxn ang="0">
                  <a:pos x="516" y="2880"/>
                </a:cxn>
                <a:cxn ang="0">
                  <a:pos x="2325" y="1549"/>
                </a:cxn>
                <a:cxn ang="0">
                  <a:pos x="4312" y="627"/>
                </a:cxn>
                <a:cxn ang="0">
                  <a:pos x="6413" y="115"/>
                </a:cxn>
                <a:cxn ang="0">
                  <a:pos x="8562" y="13"/>
                </a:cxn>
                <a:cxn ang="0">
                  <a:pos x="10694" y="319"/>
                </a:cxn>
                <a:cxn ang="0">
                  <a:pos x="12747" y="1036"/>
                </a:cxn>
                <a:cxn ang="0">
                  <a:pos x="14654" y="2160"/>
                </a:cxn>
                <a:cxn ang="0">
                  <a:pos x="14055" y="5373"/>
                </a:cxn>
                <a:cxn ang="0">
                  <a:pos x="12871" y="6404"/>
                </a:cxn>
                <a:cxn ang="0">
                  <a:pos x="12058" y="5702"/>
                </a:cxn>
                <a:cxn ang="0">
                  <a:pos x="10898" y="5017"/>
                </a:cxn>
                <a:cxn ang="0">
                  <a:pos x="9649" y="4582"/>
                </a:cxn>
                <a:cxn ang="0">
                  <a:pos x="8352" y="4395"/>
                </a:cxn>
                <a:cxn ang="0">
                  <a:pos x="7044" y="4457"/>
                </a:cxn>
                <a:cxn ang="0">
                  <a:pos x="5767" y="4769"/>
                </a:cxn>
                <a:cxn ang="0">
                  <a:pos x="4558" y="5329"/>
                </a:cxn>
                <a:cxn ang="0">
                  <a:pos x="3457" y="6139"/>
                </a:cxn>
                <a:cxn ang="0">
                  <a:pos x="3129" y="6456"/>
                </a:cxn>
                <a:cxn ang="0">
                  <a:pos x="2045" y="5322"/>
                </a:cxn>
                <a:cxn ang="0">
                  <a:pos x="2731" y="4697"/>
                </a:cxn>
                <a:cxn ang="0">
                  <a:pos x="4122" y="3779"/>
                </a:cxn>
                <a:cxn ang="0">
                  <a:pos x="5635" y="3166"/>
                </a:cxn>
                <a:cxn ang="0">
                  <a:pos x="7219" y="2859"/>
                </a:cxn>
                <a:cxn ang="0">
                  <a:pos x="8829" y="2859"/>
                </a:cxn>
                <a:cxn ang="0">
                  <a:pos x="10413" y="3165"/>
                </a:cxn>
                <a:cxn ang="0">
                  <a:pos x="11926" y="3777"/>
                </a:cxn>
                <a:cxn ang="0">
                  <a:pos x="13318" y="4696"/>
                </a:cxn>
                <a:cxn ang="0">
                  <a:pos x="14005" y="5321"/>
                </a:cxn>
                <a:cxn ang="0">
                  <a:pos x="10854" y="8576"/>
                </a:cxn>
                <a:cxn ang="0">
                  <a:pos x="10754" y="8472"/>
                </a:cxn>
                <a:cxn ang="0">
                  <a:pos x="10150" y="7980"/>
                </a:cxn>
                <a:cxn ang="0">
                  <a:pos x="9479" y="7627"/>
                </a:cxn>
                <a:cxn ang="0">
                  <a:pos x="8762" y="7416"/>
                </a:cxn>
                <a:cxn ang="0">
                  <a:pos x="8025" y="7345"/>
                </a:cxn>
                <a:cxn ang="0">
                  <a:pos x="7287" y="7416"/>
                </a:cxn>
                <a:cxn ang="0">
                  <a:pos x="6571" y="7627"/>
                </a:cxn>
                <a:cxn ang="0">
                  <a:pos x="5900" y="7980"/>
                </a:cxn>
                <a:cxn ang="0">
                  <a:pos x="5297" y="8473"/>
                </a:cxn>
                <a:cxn ang="0">
                  <a:pos x="5198" y="8576"/>
                </a:cxn>
                <a:cxn ang="0">
                  <a:pos x="4197" y="7425"/>
                </a:cxn>
                <a:cxn ang="0">
                  <a:pos x="4843" y="6865"/>
                </a:cxn>
                <a:cxn ang="0">
                  <a:pos x="5758" y="6325"/>
                </a:cxn>
                <a:cxn ang="0">
                  <a:pos x="6743" y="5981"/>
                </a:cxn>
                <a:cxn ang="0">
                  <a:pos x="7766" y="5833"/>
                </a:cxn>
                <a:cxn ang="0">
                  <a:pos x="8797" y="5882"/>
                </a:cxn>
                <a:cxn ang="0">
                  <a:pos x="9806" y="6127"/>
                </a:cxn>
                <a:cxn ang="0">
                  <a:pos x="10760" y="6570"/>
                </a:cxn>
                <a:cxn ang="0">
                  <a:pos x="11627" y="7208"/>
                </a:cxn>
                <a:cxn ang="0">
                  <a:pos x="11903" y="7475"/>
                </a:cxn>
              </a:cxnLst>
              <a:rect l="0" t="0" r="r" b="b"/>
              <a:pathLst>
                <a:path w="16050" h="8576">
                  <a:moveTo>
                    <a:pt x="15950" y="3273"/>
                  </a:moveTo>
                  <a:lnTo>
                    <a:pt x="15975" y="3299"/>
                  </a:lnTo>
                  <a:lnTo>
                    <a:pt x="16000" y="3324"/>
                  </a:lnTo>
                  <a:lnTo>
                    <a:pt x="16025" y="3351"/>
                  </a:lnTo>
                  <a:lnTo>
                    <a:pt x="16050" y="3377"/>
                  </a:lnTo>
                  <a:lnTo>
                    <a:pt x="15025" y="4402"/>
                  </a:lnTo>
                  <a:lnTo>
                    <a:pt x="15000" y="4377"/>
                  </a:lnTo>
                  <a:lnTo>
                    <a:pt x="14975" y="4351"/>
                  </a:lnTo>
                  <a:lnTo>
                    <a:pt x="14950" y="4325"/>
                  </a:lnTo>
                  <a:lnTo>
                    <a:pt x="14923" y="4300"/>
                  </a:lnTo>
                  <a:lnTo>
                    <a:pt x="14560" y="3955"/>
                  </a:lnTo>
                  <a:lnTo>
                    <a:pt x="14184" y="3632"/>
                  </a:lnTo>
                  <a:lnTo>
                    <a:pt x="13796" y="3330"/>
                  </a:lnTo>
                  <a:lnTo>
                    <a:pt x="13396" y="3053"/>
                  </a:lnTo>
                  <a:lnTo>
                    <a:pt x="12984" y="2797"/>
                  </a:lnTo>
                  <a:lnTo>
                    <a:pt x="12564" y="2563"/>
                  </a:lnTo>
                  <a:lnTo>
                    <a:pt x="12136" y="2351"/>
                  </a:lnTo>
                  <a:lnTo>
                    <a:pt x="11698" y="2161"/>
                  </a:lnTo>
                  <a:lnTo>
                    <a:pt x="11254" y="1995"/>
                  </a:lnTo>
                  <a:lnTo>
                    <a:pt x="10805" y="1850"/>
                  </a:lnTo>
                  <a:lnTo>
                    <a:pt x="10349" y="1728"/>
                  </a:lnTo>
                  <a:lnTo>
                    <a:pt x="9889" y="1628"/>
                  </a:lnTo>
                  <a:lnTo>
                    <a:pt x="9426" y="1549"/>
                  </a:lnTo>
                  <a:lnTo>
                    <a:pt x="8960" y="1494"/>
                  </a:lnTo>
                  <a:lnTo>
                    <a:pt x="8492" y="1461"/>
                  </a:lnTo>
                  <a:lnTo>
                    <a:pt x="8024" y="1450"/>
                  </a:lnTo>
                  <a:lnTo>
                    <a:pt x="7556" y="1461"/>
                  </a:lnTo>
                  <a:lnTo>
                    <a:pt x="7087" y="1494"/>
                  </a:lnTo>
                  <a:lnTo>
                    <a:pt x="6622" y="1550"/>
                  </a:lnTo>
                  <a:lnTo>
                    <a:pt x="6158" y="1629"/>
                  </a:lnTo>
                  <a:lnTo>
                    <a:pt x="5699" y="1729"/>
                  </a:lnTo>
                  <a:lnTo>
                    <a:pt x="5243" y="1851"/>
                  </a:lnTo>
                  <a:lnTo>
                    <a:pt x="4793" y="1996"/>
                  </a:lnTo>
                  <a:lnTo>
                    <a:pt x="4350" y="2163"/>
                  </a:lnTo>
                  <a:lnTo>
                    <a:pt x="3912" y="2352"/>
                  </a:lnTo>
                  <a:lnTo>
                    <a:pt x="3483" y="2564"/>
                  </a:lnTo>
                  <a:lnTo>
                    <a:pt x="3064" y="2799"/>
                  </a:lnTo>
                  <a:lnTo>
                    <a:pt x="2652" y="3055"/>
                  </a:lnTo>
                  <a:lnTo>
                    <a:pt x="2253" y="3332"/>
                  </a:lnTo>
                  <a:lnTo>
                    <a:pt x="1864" y="3634"/>
                  </a:lnTo>
                  <a:lnTo>
                    <a:pt x="1488" y="3957"/>
                  </a:lnTo>
                  <a:lnTo>
                    <a:pt x="1125" y="4302"/>
                  </a:lnTo>
                  <a:lnTo>
                    <a:pt x="1099" y="4327"/>
                  </a:lnTo>
                  <a:lnTo>
                    <a:pt x="1075" y="4353"/>
                  </a:lnTo>
                  <a:lnTo>
                    <a:pt x="1050" y="4378"/>
                  </a:lnTo>
                  <a:lnTo>
                    <a:pt x="1025" y="4404"/>
                  </a:lnTo>
                  <a:lnTo>
                    <a:pt x="0" y="3378"/>
                  </a:lnTo>
                  <a:lnTo>
                    <a:pt x="24" y="3353"/>
                  </a:lnTo>
                  <a:lnTo>
                    <a:pt x="49" y="3326"/>
                  </a:lnTo>
                  <a:lnTo>
                    <a:pt x="74" y="3301"/>
                  </a:lnTo>
                  <a:lnTo>
                    <a:pt x="99" y="3276"/>
                  </a:lnTo>
                  <a:lnTo>
                    <a:pt x="516" y="2880"/>
                  </a:lnTo>
                  <a:lnTo>
                    <a:pt x="948" y="2509"/>
                  </a:lnTo>
                  <a:lnTo>
                    <a:pt x="1394" y="2162"/>
                  </a:lnTo>
                  <a:lnTo>
                    <a:pt x="1854" y="1843"/>
                  </a:lnTo>
                  <a:lnTo>
                    <a:pt x="2325" y="1549"/>
                  </a:lnTo>
                  <a:lnTo>
                    <a:pt x="2808" y="1280"/>
                  </a:lnTo>
                  <a:lnTo>
                    <a:pt x="3301" y="1037"/>
                  </a:lnTo>
                  <a:lnTo>
                    <a:pt x="3803" y="820"/>
                  </a:lnTo>
                  <a:lnTo>
                    <a:pt x="4312" y="627"/>
                  </a:lnTo>
                  <a:lnTo>
                    <a:pt x="4830" y="461"/>
                  </a:lnTo>
                  <a:lnTo>
                    <a:pt x="5353" y="320"/>
                  </a:lnTo>
                  <a:lnTo>
                    <a:pt x="5881" y="205"/>
                  </a:lnTo>
                  <a:lnTo>
                    <a:pt x="6413" y="115"/>
                  </a:lnTo>
                  <a:lnTo>
                    <a:pt x="6949" y="51"/>
                  </a:lnTo>
                  <a:lnTo>
                    <a:pt x="7485" y="13"/>
                  </a:lnTo>
                  <a:lnTo>
                    <a:pt x="8024" y="0"/>
                  </a:lnTo>
                  <a:lnTo>
                    <a:pt x="8562" y="13"/>
                  </a:lnTo>
                  <a:lnTo>
                    <a:pt x="9099" y="51"/>
                  </a:lnTo>
                  <a:lnTo>
                    <a:pt x="9634" y="115"/>
                  </a:lnTo>
                  <a:lnTo>
                    <a:pt x="10167" y="205"/>
                  </a:lnTo>
                  <a:lnTo>
                    <a:pt x="10694" y="319"/>
                  </a:lnTo>
                  <a:lnTo>
                    <a:pt x="11218" y="460"/>
                  </a:lnTo>
                  <a:lnTo>
                    <a:pt x="11735" y="626"/>
                  </a:lnTo>
                  <a:lnTo>
                    <a:pt x="12245" y="818"/>
                  </a:lnTo>
                  <a:lnTo>
                    <a:pt x="12747" y="1036"/>
                  </a:lnTo>
                  <a:lnTo>
                    <a:pt x="13239" y="1278"/>
                  </a:lnTo>
                  <a:lnTo>
                    <a:pt x="13722" y="1547"/>
                  </a:lnTo>
                  <a:lnTo>
                    <a:pt x="14194" y="1841"/>
                  </a:lnTo>
                  <a:lnTo>
                    <a:pt x="14654" y="2160"/>
                  </a:lnTo>
                  <a:lnTo>
                    <a:pt x="15100" y="2506"/>
                  </a:lnTo>
                  <a:lnTo>
                    <a:pt x="15532" y="2877"/>
                  </a:lnTo>
                  <a:lnTo>
                    <a:pt x="15950" y="3273"/>
                  </a:lnTo>
                  <a:close/>
                  <a:moveTo>
                    <a:pt x="14055" y="5373"/>
                  </a:moveTo>
                  <a:lnTo>
                    <a:pt x="12946" y="6481"/>
                  </a:lnTo>
                  <a:lnTo>
                    <a:pt x="12921" y="6456"/>
                  </a:lnTo>
                  <a:lnTo>
                    <a:pt x="12897" y="6430"/>
                  </a:lnTo>
                  <a:lnTo>
                    <a:pt x="12871" y="6404"/>
                  </a:lnTo>
                  <a:lnTo>
                    <a:pt x="12846" y="6379"/>
                  </a:lnTo>
                  <a:lnTo>
                    <a:pt x="12592" y="6137"/>
                  </a:lnTo>
                  <a:lnTo>
                    <a:pt x="12329" y="5912"/>
                  </a:lnTo>
                  <a:lnTo>
                    <a:pt x="12058" y="5702"/>
                  </a:lnTo>
                  <a:lnTo>
                    <a:pt x="11778" y="5507"/>
                  </a:lnTo>
                  <a:lnTo>
                    <a:pt x="11491" y="5328"/>
                  </a:lnTo>
                  <a:lnTo>
                    <a:pt x="11198" y="5165"/>
                  </a:lnTo>
                  <a:lnTo>
                    <a:pt x="10898" y="5017"/>
                  </a:lnTo>
                  <a:lnTo>
                    <a:pt x="10592" y="4885"/>
                  </a:lnTo>
                  <a:lnTo>
                    <a:pt x="10282" y="4768"/>
                  </a:lnTo>
                  <a:lnTo>
                    <a:pt x="9967" y="4667"/>
                  </a:lnTo>
                  <a:lnTo>
                    <a:pt x="9649" y="4582"/>
                  </a:lnTo>
                  <a:lnTo>
                    <a:pt x="9328" y="4512"/>
                  </a:lnTo>
                  <a:lnTo>
                    <a:pt x="9004" y="4457"/>
                  </a:lnTo>
                  <a:lnTo>
                    <a:pt x="8679" y="4418"/>
                  </a:lnTo>
                  <a:lnTo>
                    <a:pt x="8352" y="4395"/>
                  </a:lnTo>
                  <a:lnTo>
                    <a:pt x="8024" y="4387"/>
                  </a:lnTo>
                  <a:lnTo>
                    <a:pt x="7697" y="4395"/>
                  </a:lnTo>
                  <a:lnTo>
                    <a:pt x="7370" y="4418"/>
                  </a:lnTo>
                  <a:lnTo>
                    <a:pt x="7044" y="4457"/>
                  </a:lnTo>
                  <a:lnTo>
                    <a:pt x="6721" y="4512"/>
                  </a:lnTo>
                  <a:lnTo>
                    <a:pt x="6399" y="4582"/>
                  </a:lnTo>
                  <a:lnTo>
                    <a:pt x="6081" y="4668"/>
                  </a:lnTo>
                  <a:lnTo>
                    <a:pt x="5767" y="4769"/>
                  </a:lnTo>
                  <a:lnTo>
                    <a:pt x="5457" y="4886"/>
                  </a:lnTo>
                  <a:lnTo>
                    <a:pt x="5151" y="5018"/>
                  </a:lnTo>
                  <a:lnTo>
                    <a:pt x="4851" y="5166"/>
                  </a:lnTo>
                  <a:lnTo>
                    <a:pt x="4558" y="5329"/>
                  </a:lnTo>
                  <a:lnTo>
                    <a:pt x="4271" y="5509"/>
                  </a:lnTo>
                  <a:lnTo>
                    <a:pt x="3991" y="5703"/>
                  </a:lnTo>
                  <a:lnTo>
                    <a:pt x="3720" y="5913"/>
                  </a:lnTo>
                  <a:lnTo>
                    <a:pt x="3457" y="6139"/>
                  </a:lnTo>
                  <a:lnTo>
                    <a:pt x="3203" y="6380"/>
                  </a:lnTo>
                  <a:lnTo>
                    <a:pt x="3178" y="6406"/>
                  </a:lnTo>
                  <a:lnTo>
                    <a:pt x="3154" y="6431"/>
                  </a:lnTo>
                  <a:lnTo>
                    <a:pt x="3129" y="6456"/>
                  </a:lnTo>
                  <a:lnTo>
                    <a:pt x="3104" y="6482"/>
                  </a:lnTo>
                  <a:lnTo>
                    <a:pt x="1996" y="5374"/>
                  </a:lnTo>
                  <a:lnTo>
                    <a:pt x="2020" y="5348"/>
                  </a:lnTo>
                  <a:lnTo>
                    <a:pt x="2045" y="5322"/>
                  </a:lnTo>
                  <a:lnTo>
                    <a:pt x="2069" y="5297"/>
                  </a:lnTo>
                  <a:lnTo>
                    <a:pt x="2095" y="5272"/>
                  </a:lnTo>
                  <a:lnTo>
                    <a:pt x="2406" y="4975"/>
                  </a:lnTo>
                  <a:lnTo>
                    <a:pt x="2731" y="4697"/>
                  </a:lnTo>
                  <a:lnTo>
                    <a:pt x="3065" y="4439"/>
                  </a:lnTo>
                  <a:lnTo>
                    <a:pt x="3408" y="4199"/>
                  </a:lnTo>
                  <a:lnTo>
                    <a:pt x="3761" y="3980"/>
                  </a:lnTo>
                  <a:lnTo>
                    <a:pt x="4122" y="3779"/>
                  </a:lnTo>
                  <a:lnTo>
                    <a:pt x="4491" y="3596"/>
                  </a:lnTo>
                  <a:lnTo>
                    <a:pt x="4866" y="3434"/>
                  </a:lnTo>
                  <a:lnTo>
                    <a:pt x="5247" y="3290"/>
                  </a:lnTo>
                  <a:lnTo>
                    <a:pt x="5635" y="3166"/>
                  </a:lnTo>
                  <a:lnTo>
                    <a:pt x="6026" y="3061"/>
                  </a:lnTo>
                  <a:lnTo>
                    <a:pt x="6421" y="2974"/>
                  </a:lnTo>
                  <a:lnTo>
                    <a:pt x="6819" y="2907"/>
                  </a:lnTo>
                  <a:lnTo>
                    <a:pt x="7219" y="2859"/>
                  </a:lnTo>
                  <a:lnTo>
                    <a:pt x="7622" y="2831"/>
                  </a:lnTo>
                  <a:lnTo>
                    <a:pt x="8024" y="2821"/>
                  </a:lnTo>
                  <a:lnTo>
                    <a:pt x="8427" y="2831"/>
                  </a:lnTo>
                  <a:lnTo>
                    <a:pt x="8829" y="2859"/>
                  </a:lnTo>
                  <a:lnTo>
                    <a:pt x="9229" y="2907"/>
                  </a:lnTo>
                  <a:lnTo>
                    <a:pt x="9627" y="2973"/>
                  </a:lnTo>
                  <a:lnTo>
                    <a:pt x="10022" y="3060"/>
                  </a:lnTo>
                  <a:lnTo>
                    <a:pt x="10413" y="3165"/>
                  </a:lnTo>
                  <a:lnTo>
                    <a:pt x="10801" y="3289"/>
                  </a:lnTo>
                  <a:lnTo>
                    <a:pt x="11182" y="3433"/>
                  </a:lnTo>
                  <a:lnTo>
                    <a:pt x="11558" y="3595"/>
                  </a:lnTo>
                  <a:lnTo>
                    <a:pt x="11926" y="3777"/>
                  </a:lnTo>
                  <a:lnTo>
                    <a:pt x="12287" y="3978"/>
                  </a:lnTo>
                  <a:lnTo>
                    <a:pt x="12640" y="4198"/>
                  </a:lnTo>
                  <a:lnTo>
                    <a:pt x="12984" y="4437"/>
                  </a:lnTo>
                  <a:lnTo>
                    <a:pt x="13318" y="4696"/>
                  </a:lnTo>
                  <a:lnTo>
                    <a:pt x="13641" y="4973"/>
                  </a:lnTo>
                  <a:lnTo>
                    <a:pt x="13954" y="5270"/>
                  </a:lnTo>
                  <a:lnTo>
                    <a:pt x="13980" y="5295"/>
                  </a:lnTo>
                  <a:lnTo>
                    <a:pt x="14005" y="5321"/>
                  </a:lnTo>
                  <a:lnTo>
                    <a:pt x="14030" y="5347"/>
                  </a:lnTo>
                  <a:lnTo>
                    <a:pt x="14055" y="5373"/>
                  </a:lnTo>
                  <a:close/>
                  <a:moveTo>
                    <a:pt x="11928" y="7501"/>
                  </a:moveTo>
                  <a:lnTo>
                    <a:pt x="10854" y="8576"/>
                  </a:lnTo>
                  <a:lnTo>
                    <a:pt x="10829" y="8549"/>
                  </a:lnTo>
                  <a:lnTo>
                    <a:pt x="10805" y="8523"/>
                  </a:lnTo>
                  <a:lnTo>
                    <a:pt x="10780" y="8498"/>
                  </a:lnTo>
                  <a:lnTo>
                    <a:pt x="10754" y="8472"/>
                  </a:lnTo>
                  <a:lnTo>
                    <a:pt x="10610" y="8336"/>
                  </a:lnTo>
                  <a:lnTo>
                    <a:pt x="10462" y="8208"/>
                  </a:lnTo>
                  <a:lnTo>
                    <a:pt x="10307" y="8089"/>
                  </a:lnTo>
                  <a:lnTo>
                    <a:pt x="10150" y="7980"/>
                  </a:lnTo>
                  <a:lnTo>
                    <a:pt x="9987" y="7878"/>
                  </a:lnTo>
                  <a:lnTo>
                    <a:pt x="9821" y="7785"/>
                  </a:lnTo>
                  <a:lnTo>
                    <a:pt x="9651" y="7702"/>
                  </a:lnTo>
                  <a:lnTo>
                    <a:pt x="9479" y="7627"/>
                  </a:lnTo>
                  <a:lnTo>
                    <a:pt x="9303" y="7561"/>
                  </a:lnTo>
                  <a:lnTo>
                    <a:pt x="9124" y="7504"/>
                  </a:lnTo>
                  <a:lnTo>
                    <a:pt x="8945" y="7456"/>
                  </a:lnTo>
                  <a:lnTo>
                    <a:pt x="8762" y="7416"/>
                  </a:lnTo>
                  <a:lnTo>
                    <a:pt x="8580" y="7384"/>
                  </a:lnTo>
                  <a:lnTo>
                    <a:pt x="8395" y="7362"/>
                  </a:lnTo>
                  <a:lnTo>
                    <a:pt x="8210" y="7349"/>
                  </a:lnTo>
                  <a:lnTo>
                    <a:pt x="8025" y="7345"/>
                  </a:lnTo>
                  <a:lnTo>
                    <a:pt x="7839" y="7349"/>
                  </a:lnTo>
                  <a:lnTo>
                    <a:pt x="7655" y="7363"/>
                  </a:lnTo>
                  <a:lnTo>
                    <a:pt x="7470" y="7385"/>
                  </a:lnTo>
                  <a:lnTo>
                    <a:pt x="7287" y="7416"/>
                  </a:lnTo>
                  <a:lnTo>
                    <a:pt x="7105" y="7456"/>
                  </a:lnTo>
                  <a:lnTo>
                    <a:pt x="6926" y="7504"/>
                  </a:lnTo>
                  <a:lnTo>
                    <a:pt x="6747" y="7561"/>
                  </a:lnTo>
                  <a:lnTo>
                    <a:pt x="6571" y="7627"/>
                  </a:lnTo>
                  <a:lnTo>
                    <a:pt x="6399" y="7703"/>
                  </a:lnTo>
                  <a:lnTo>
                    <a:pt x="6229" y="7786"/>
                  </a:lnTo>
                  <a:lnTo>
                    <a:pt x="6063" y="7878"/>
                  </a:lnTo>
                  <a:lnTo>
                    <a:pt x="5900" y="7980"/>
                  </a:lnTo>
                  <a:lnTo>
                    <a:pt x="5742" y="8090"/>
                  </a:lnTo>
                  <a:lnTo>
                    <a:pt x="5588" y="8209"/>
                  </a:lnTo>
                  <a:lnTo>
                    <a:pt x="5440" y="8337"/>
                  </a:lnTo>
                  <a:lnTo>
                    <a:pt x="5297" y="8473"/>
                  </a:lnTo>
                  <a:lnTo>
                    <a:pt x="5271" y="8498"/>
                  </a:lnTo>
                  <a:lnTo>
                    <a:pt x="5246" y="8524"/>
                  </a:lnTo>
                  <a:lnTo>
                    <a:pt x="5222" y="8550"/>
                  </a:lnTo>
                  <a:lnTo>
                    <a:pt x="5198" y="8576"/>
                  </a:lnTo>
                  <a:lnTo>
                    <a:pt x="4123" y="7501"/>
                  </a:lnTo>
                  <a:lnTo>
                    <a:pt x="4147" y="7476"/>
                  </a:lnTo>
                  <a:lnTo>
                    <a:pt x="4172" y="7450"/>
                  </a:lnTo>
                  <a:lnTo>
                    <a:pt x="4197" y="7425"/>
                  </a:lnTo>
                  <a:lnTo>
                    <a:pt x="4222" y="7399"/>
                  </a:lnTo>
                  <a:lnTo>
                    <a:pt x="4422" y="7209"/>
                  </a:lnTo>
                  <a:lnTo>
                    <a:pt x="4629" y="7030"/>
                  </a:lnTo>
                  <a:lnTo>
                    <a:pt x="4843" y="6865"/>
                  </a:lnTo>
                  <a:lnTo>
                    <a:pt x="5064" y="6711"/>
                  </a:lnTo>
                  <a:lnTo>
                    <a:pt x="5290" y="6571"/>
                  </a:lnTo>
                  <a:lnTo>
                    <a:pt x="5522" y="6441"/>
                  </a:lnTo>
                  <a:lnTo>
                    <a:pt x="5758" y="6325"/>
                  </a:lnTo>
                  <a:lnTo>
                    <a:pt x="6000" y="6220"/>
                  </a:lnTo>
                  <a:lnTo>
                    <a:pt x="6243" y="6128"/>
                  </a:lnTo>
                  <a:lnTo>
                    <a:pt x="6492" y="6048"/>
                  </a:lnTo>
                  <a:lnTo>
                    <a:pt x="6743" y="5981"/>
                  </a:lnTo>
                  <a:lnTo>
                    <a:pt x="6997" y="5925"/>
                  </a:lnTo>
                  <a:lnTo>
                    <a:pt x="7252" y="5882"/>
                  </a:lnTo>
                  <a:lnTo>
                    <a:pt x="7508" y="5851"/>
                  </a:lnTo>
                  <a:lnTo>
                    <a:pt x="7766" y="5833"/>
                  </a:lnTo>
                  <a:lnTo>
                    <a:pt x="8025" y="5827"/>
                  </a:lnTo>
                  <a:lnTo>
                    <a:pt x="8283" y="5833"/>
                  </a:lnTo>
                  <a:lnTo>
                    <a:pt x="8541" y="5851"/>
                  </a:lnTo>
                  <a:lnTo>
                    <a:pt x="8797" y="5882"/>
                  </a:lnTo>
                  <a:lnTo>
                    <a:pt x="9053" y="5925"/>
                  </a:lnTo>
                  <a:lnTo>
                    <a:pt x="9306" y="5981"/>
                  </a:lnTo>
                  <a:lnTo>
                    <a:pt x="9557" y="6048"/>
                  </a:lnTo>
                  <a:lnTo>
                    <a:pt x="9806" y="6127"/>
                  </a:lnTo>
                  <a:lnTo>
                    <a:pt x="10050" y="6219"/>
                  </a:lnTo>
                  <a:lnTo>
                    <a:pt x="10291" y="6324"/>
                  </a:lnTo>
                  <a:lnTo>
                    <a:pt x="10528" y="6440"/>
                  </a:lnTo>
                  <a:lnTo>
                    <a:pt x="10760" y="6570"/>
                  </a:lnTo>
                  <a:lnTo>
                    <a:pt x="10985" y="6710"/>
                  </a:lnTo>
                  <a:lnTo>
                    <a:pt x="11206" y="6864"/>
                  </a:lnTo>
                  <a:lnTo>
                    <a:pt x="11421" y="7029"/>
                  </a:lnTo>
                  <a:lnTo>
                    <a:pt x="11627" y="7208"/>
                  </a:lnTo>
                  <a:lnTo>
                    <a:pt x="11828" y="7398"/>
                  </a:lnTo>
                  <a:lnTo>
                    <a:pt x="11853" y="7424"/>
                  </a:lnTo>
                  <a:lnTo>
                    <a:pt x="11878" y="7449"/>
                  </a:lnTo>
                  <a:lnTo>
                    <a:pt x="11903" y="7475"/>
                  </a:lnTo>
                  <a:lnTo>
                    <a:pt x="11928" y="7501"/>
                  </a:lnTo>
                  <a:close/>
                </a:path>
              </a:pathLst>
            </a:custGeom>
            <a:grpFill/>
            <a:ln w="9525">
              <a:noFill/>
              <a:round/>
              <a:headEnd/>
              <a:tailEnd/>
            </a:ln>
          </p:spPr>
          <p:txBody>
            <a:bodyPr/>
            <a:lstStyle/>
            <a:p>
              <a:pPr algn="ctr" eaLnBrk="1" fontAlgn="auto" hangingPunct="1">
                <a:spcBef>
                  <a:spcPts val="0"/>
                </a:spcBef>
                <a:spcAft>
                  <a:spcPts val="0"/>
                </a:spcAft>
                <a:defRPr/>
              </a:pPr>
              <a:endParaRPr lang="zh-CN" altLang="en-US" sz="1200" ker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3" name="矩形 2"/>
          <p:cNvSpPr/>
          <p:nvPr/>
        </p:nvSpPr>
        <p:spPr bwMode="gray">
          <a:xfrm>
            <a:off x="2879378" y="3088993"/>
            <a:ext cx="216000" cy="105107"/>
          </a:xfrm>
          <a:prstGeom prst="rect">
            <a:avLst/>
          </a:prstGeom>
          <a:solidFill>
            <a:srgbClr val="FCC800"/>
          </a:solidFill>
          <a:ln>
            <a:solidFill>
              <a:srgbClr val="FEEEC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文本框 49"/>
          <p:cNvSpPr txBox="1"/>
          <p:nvPr/>
        </p:nvSpPr>
        <p:spPr bwMode="gray">
          <a:xfrm>
            <a:off x="3095378" y="2912927"/>
            <a:ext cx="1925527" cy="461665"/>
          </a:xfrm>
          <a:prstGeom prst="rect">
            <a:avLst/>
          </a:prstGeom>
          <a:noFill/>
        </p:spPr>
        <p:txBody>
          <a:bodyPr wrap="none" rtlCol="0">
            <a:spAutoFit/>
          </a:bodyPr>
          <a:lstStyle/>
          <a:p>
            <a:r>
              <a:rPr lang="zh-CN" altLang="en-US" sz="1200" dirty="0" smtClean="0">
                <a:latin typeface="Huawei Sans" panose="020C0503030203020204" pitchFamily="34" charset="0"/>
                <a:ea typeface="方正兰亭黑简体" panose="02000000000000000000" pitchFamily="2" charset="-122"/>
                <a:cs typeface="Huawei Sans" panose="020C0503030203020204" pitchFamily="34" charset="0"/>
              </a:rPr>
              <a:t>管理地址：</a:t>
            </a:r>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172.16.20.254</a:t>
            </a:r>
          </a:p>
          <a:p>
            <a:r>
              <a:rPr lang="zh-CN" altLang="en-US" sz="1200" dirty="0" smtClean="0">
                <a:latin typeface="Huawei Sans" panose="020C0503030203020204" pitchFamily="34" charset="0"/>
                <a:ea typeface="方正兰亭黑简体" panose="02000000000000000000" pitchFamily="2" charset="-122"/>
                <a:cs typeface="Huawei Sans" panose="020C0503030203020204" pitchFamily="34" charset="0"/>
              </a:rPr>
              <a:t>管理</a:t>
            </a:r>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VLAN</a:t>
            </a:r>
            <a:r>
              <a:rPr lang="zh-CN" altLang="en-US" sz="1200" dirty="0" smtClean="0">
                <a:latin typeface="Huawei Sans" panose="020C0503030203020204" pitchFamily="34" charset="0"/>
                <a:ea typeface="方正兰亭黑简体" panose="02000000000000000000" pitchFamily="2" charset="-122"/>
                <a:cs typeface="Huawei Sans" panose="020C0503030203020204" pitchFamily="34" charset="0"/>
              </a:rPr>
              <a:t>：</a:t>
            </a:r>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VLAN 2</a:t>
            </a:r>
            <a:endParaRPr lang="en-US" altLang="zh-CN" sz="1200" dirty="0">
              <a:latin typeface="Huawei Sans" panose="020C0503030203020204" pitchFamily="34" charset="0"/>
              <a:ea typeface="方正兰亭黑简体" panose="02000000000000000000" pitchFamily="2" charset="-122"/>
              <a:cs typeface="Huawei Sans" panose="020C0503030203020204" pitchFamily="34" charset="0"/>
            </a:endParaRPr>
          </a:p>
        </p:txBody>
      </p:sp>
      <p:pic>
        <p:nvPicPr>
          <p:cNvPr id="51" name="图片 50"/>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bwMode="gray">
          <a:xfrm>
            <a:off x="3553699" y="2506351"/>
            <a:ext cx="1608093" cy="296575"/>
          </a:xfrm>
          <a:prstGeom prst="rect">
            <a:avLst/>
          </a:prstGeom>
        </p:spPr>
      </p:pic>
      <p:sp>
        <p:nvSpPr>
          <p:cNvPr id="53" name="文本框 52"/>
          <p:cNvSpPr txBox="1"/>
          <p:nvPr/>
        </p:nvSpPr>
        <p:spPr bwMode="gray">
          <a:xfrm>
            <a:off x="2873881" y="3881318"/>
            <a:ext cx="684803" cy="276999"/>
          </a:xfrm>
          <a:prstGeom prst="rect">
            <a:avLst/>
          </a:prstGeom>
          <a:noFill/>
        </p:spPr>
        <p:txBody>
          <a:bodyPr wrap="none" rtlCol="0">
            <a:spAutoFit/>
          </a:bodyPr>
          <a:lstStyle/>
          <a:p>
            <a:pPr algn="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Edge</a:t>
            </a:r>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_2</a:t>
            </a:r>
          </a:p>
        </p:txBody>
      </p:sp>
      <p:graphicFrame>
        <p:nvGraphicFramePr>
          <p:cNvPr id="55" name="表格 54"/>
          <p:cNvGraphicFramePr>
            <a:graphicFrameLocks noGrp="1"/>
          </p:cNvGraphicFramePr>
          <p:nvPr>
            <p:extLst>
              <p:ext uri="{D42A27DB-BD31-4B8C-83A1-F6EECF244321}">
                <p14:modId xmlns:p14="http://schemas.microsoft.com/office/powerpoint/2010/main" val="3242548074"/>
              </p:ext>
            </p:extLst>
          </p:nvPr>
        </p:nvGraphicFramePr>
        <p:xfrm>
          <a:off x="5352555" y="2776661"/>
          <a:ext cx="6371683" cy="2286000"/>
        </p:xfrm>
        <a:graphic>
          <a:graphicData uri="http://schemas.openxmlformats.org/drawingml/2006/table">
            <a:tbl>
              <a:tblPr/>
              <a:tblGrid>
                <a:gridCol w="1965533"/>
                <a:gridCol w="4406150"/>
              </a:tblGrid>
              <a:tr h="276364">
                <a:tc>
                  <a:txBody>
                    <a:bodyPr/>
                    <a:lstStyle/>
                    <a:p>
                      <a:pPr algn="ctr"/>
                      <a:r>
                        <a:rPr lang="zh-CN" altLang="en-US" sz="1400" b="1" dirty="0">
                          <a:effectLst/>
                        </a:rPr>
                        <a:t>任务描述</a:t>
                      </a:r>
                    </a:p>
                  </a:txBody>
                  <a:tcPr anchor="ctr">
                    <a:lnL w="28575" cap="flat" cmpd="sng" algn="ctr">
                      <a:solidFill>
                        <a:schemeClr val="tx1"/>
                      </a:solidFill>
                      <a:prstDash val="solid"/>
                      <a:round/>
                      <a:headEnd type="none" w="med" len="med"/>
                      <a:tailEnd type="none" w="med" len="med"/>
                    </a:lnL>
                    <a:lnT w="28575" cap="flat" cmpd="sng" algn="ctr">
                      <a:solidFill>
                        <a:schemeClr val="tx1"/>
                      </a:solidFill>
                      <a:prstDash val="solid"/>
                      <a:round/>
                      <a:headEnd type="none" w="med" len="med"/>
                      <a:tailEnd type="none" w="med" len="med"/>
                    </a:lnT>
                    <a:solidFill>
                      <a:schemeClr val="bg1">
                        <a:lumMod val="85000"/>
                      </a:schemeClr>
                    </a:solidFill>
                  </a:tcPr>
                </a:tc>
                <a:tc>
                  <a:txBody>
                    <a:bodyPr/>
                    <a:lstStyle/>
                    <a:p>
                      <a:pPr algn="ctr"/>
                      <a:r>
                        <a:rPr lang="zh-CN" altLang="en-US" sz="1400" b="1" dirty="0" smtClean="0">
                          <a:effectLst/>
                        </a:rPr>
                        <a:t>配置步骤</a:t>
                      </a:r>
                      <a:endParaRPr lang="zh-CN" altLang="en-US" sz="1400" b="1" dirty="0">
                        <a:effectLst/>
                      </a:endParaRPr>
                    </a:p>
                  </a:txBody>
                  <a:tcPr anchor="ctr">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solidFill>
                      <a:schemeClr val="bg1">
                        <a:lumMod val="85000"/>
                      </a:schemeClr>
                    </a:solidFill>
                  </a:tcPr>
                </a:tc>
              </a:tr>
              <a:tr h="0">
                <a:tc>
                  <a:txBody>
                    <a:bodyPr/>
                    <a:lstStyle/>
                    <a:p>
                      <a:pPr algn="ctr">
                        <a:lnSpc>
                          <a:spcPct val="100000"/>
                        </a:lnSpc>
                        <a:spcAft>
                          <a:spcPts val="0"/>
                        </a:spcAft>
                      </a:pPr>
                      <a:r>
                        <a:rPr lang="en-US" altLang="zh-CN" sz="1400" dirty="0" smtClean="0">
                          <a:effectLst/>
                        </a:rPr>
                        <a:t>AP</a:t>
                      </a:r>
                      <a:r>
                        <a:rPr lang="zh-CN" altLang="en-US" sz="1400" dirty="0" smtClean="0">
                          <a:effectLst/>
                        </a:rPr>
                        <a:t>上线</a:t>
                      </a:r>
                      <a:endParaRPr lang="zh-CN" altLang="en-US" sz="1400" dirty="0">
                        <a:effectLst/>
                      </a:endParaRPr>
                    </a:p>
                  </a:txBody>
                  <a:tcPr anchor="ctr">
                    <a:lnL w="28575" cap="flat" cmpd="sng" algn="ctr">
                      <a:solidFill>
                        <a:schemeClr val="tx1"/>
                      </a:solidFill>
                      <a:prstDash val="solid"/>
                      <a:round/>
                      <a:headEnd type="none" w="med" len="med"/>
                      <a:tailEnd type="none" w="med" len="med"/>
                    </a:lnL>
                  </a:tcPr>
                </a:tc>
                <a:tc>
                  <a:txBody>
                    <a:bodyPr/>
                    <a:lstStyle/>
                    <a:p>
                      <a:pPr marL="0" indent="-228600" algn="l" defTabSz="914034" rtl="0" eaLnBrk="1" latinLnBrk="0" hangingPunct="1">
                        <a:lnSpc>
                          <a:spcPct val="100000"/>
                        </a:lnSpc>
                        <a:spcAft>
                          <a:spcPts val="0"/>
                        </a:spcAft>
                        <a:buFont typeface="+mj-lt"/>
                        <a:buAutoNum type="arabicPeriod"/>
                      </a:pPr>
                      <a:r>
                        <a:rPr lang="zh-CN" altLang="en-US" sz="1400" kern="1200" dirty="0" smtClean="0">
                          <a:solidFill>
                            <a:schemeClr val="tx1"/>
                          </a:solidFill>
                          <a:effectLst/>
                          <a:latin typeface="+mn-lt"/>
                          <a:ea typeface="+mn-ea"/>
                          <a:cs typeface="+mn-cs"/>
                        </a:rPr>
                        <a:t>在站点</a:t>
                      </a:r>
                      <a:r>
                        <a:rPr lang="en-US" altLang="zh-CN" sz="1400" kern="1200" dirty="0" smtClean="0">
                          <a:solidFill>
                            <a:schemeClr val="tx1"/>
                          </a:solidFill>
                          <a:effectLst/>
                          <a:latin typeface="+mn-lt"/>
                          <a:ea typeface="+mn-ea"/>
                          <a:cs typeface="+mn-cs"/>
                        </a:rPr>
                        <a:t>HQ</a:t>
                      </a:r>
                      <a:r>
                        <a:rPr lang="zh-CN" altLang="en-US" sz="1400" kern="1200" dirty="0" smtClean="0">
                          <a:solidFill>
                            <a:schemeClr val="tx1"/>
                          </a:solidFill>
                          <a:effectLst/>
                          <a:latin typeface="+mn-lt"/>
                          <a:ea typeface="+mn-ea"/>
                          <a:cs typeface="+mn-cs"/>
                        </a:rPr>
                        <a:t>中添加</a:t>
                      </a:r>
                      <a:r>
                        <a:rPr lang="en-US" altLang="zh-CN" sz="1400" kern="1200" dirty="0" smtClean="0">
                          <a:solidFill>
                            <a:schemeClr val="tx1"/>
                          </a:solidFill>
                          <a:effectLst/>
                          <a:latin typeface="+mn-lt"/>
                          <a:ea typeface="+mn-ea"/>
                          <a:cs typeface="+mn-cs"/>
                        </a:rPr>
                        <a:t>AP</a:t>
                      </a:r>
                      <a:r>
                        <a:rPr lang="zh-CN" altLang="en-US" sz="1400" kern="1200" dirty="0" smtClean="0">
                          <a:solidFill>
                            <a:schemeClr val="tx1"/>
                          </a:solidFill>
                          <a:effectLst/>
                          <a:latin typeface="+mn-lt"/>
                          <a:ea typeface="+mn-ea"/>
                          <a:cs typeface="+mn-cs"/>
                        </a:rPr>
                        <a:t>，并将</a:t>
                      </a:r>
                      <a:r>
                        <a:rPr lang="en-US" altLang="zh-CN" sz="1400" kern="1200" dirty="0" smtClean="0">
                          <a:solidFill>
                            <a:schemeClr val="tx1"/>
                          </a:solidFill>
                          <a:effectLst/>
                          <a:latin typeface="+mn-lt"/>
                          <a:ea typeface="+mn-ea"/>
                          <a:cs typeface="+mn-cs"/>
                        </a:rPr>
                        <a:t>AP</a:t>
                      </a:r>
                      <a:r>
                        <a:rPr lang="zh-CN" altLang="en-US" sz="1400" kern="1200" dirty="0" smtClean="0">
                          <a:solidFill>
                            <a:schemeClr val="tx1"/>
                          </a:solidFill>
                          <a:effectLst/>
                          <a:latin typeface="+mn-lt"/>
                          <a:ea typeface="+mn-ea"/>
                          <a:cs typeface="+mn-cs"/>
                        </a:rPr>
                        <a:t>分配给</a:t>
                      </a:r>
                      <a:r>
                        <a:rPr lang="en-US" altLang="zh-CN" sz="1400" kern="1200" dirty="0" smtClean="0">
                          <a:solidFill>
                            <a:schemeClr val="tx1"/>
                          </a:solidFill>
                          <a:effectLst/>
                          <a:latin typeface="+mn-lt"/>
                          <a:ea typeface="+mn-ea"/>
                          <a:cs typeface="+mn-cs"/>
                        </a:rPr>
                        <a:t>Border</a:t>
                      </a:r>
                      <a:r>
                        <a:rPr lang="zh-CN" altLang="en-US" sz="1400" kern="1200" dirty="0" smtClean="0">
                          <a:solidFill>
                            <a:schemeClr val="tx1"/>
                          </a:solidFill>
                          <a:effectLst/>
                          <a:latin typeface="+mn-lt"/>
                          <a:ea typeface="+mn-ea"/>
                          <a:cs typeface="+mn-cs"/>
                        </a:rPr>
                        <a:t>。</a:t>
                      </a:r>
                    </a:p>
                    <a:p>
                      <a:pPr marL="0" indent="-228600" algn="l" defTabSz="914034" rtl="0" eaLnBrk="1" latinLnBrk="0" hangingPunct="1">
                        <a:lnSpc>
                          <a:spcPct val="100000"/>
                        </a:lnSpc>
                        <a:spcAft>
                          <a:spcPts val="0"/>
                        </a:spcAft>
                        <a:buFont typeface="+mj-lt"/>
                        <a:buAutoNum type="arabicPeriod"/>
                      </a:pPr>
                      <a:r>
                        <a:rPr lang="zh-CN" altLang="en-US" sz="1400" kern="1200" dirty="0" smtClean="0">
                          <a:solidFill>
                            <a:schemeClr val="tx1"/>
                          </a:solidFill>
                          <a:effectLst/>
                          <a:latin typeface="+mn-lt"/>
                          <a:ea typeface="+mn-ea"/>
                          <a:cs typeface="+mn-cs"/>
                        </a:rPr>
                        <a:t>创建</a:t>
                      </a:r>
                      <a:r>
                        <a:rPr lang="en-US" altLang="zh-CN" sz="1400" kern="1200" dirty="0" smtClean="0">
                          <a:solidFill>
                            <a:schemeClr val="tx1"/>
                          </a:solidFill>
                          <a:effectLst/>
                          <a:latin typeface="+mn-lt"/>
                          <a:ea typeface="+mn-ea"/>
                          <a:cs typeface="+mn-cs"/>
                        </a:rPr>
                        <a:t>AP</a:t>
                      </a:r>
                      <a:r>
                        <a:rPr lang="zh-CN" altLang="en-US" sz="1400" kern="1200" dirty="0" smtClean="0">
                          <a:solidFill>
                            <a:schemeClr val="tx1"/>
                          </a:solidFill>
                          <a:effectLst/>
                          <a:latin typeface="+mn-lt"/>
                          <a:ea typeface="+mn-ea"/>
                          <a:cs typeface="+mn-cs"/>
                        </a:rPr>
                        <a:t>上线管理网段和管理</a:t>
                      </a:r>
                      <a:r>
                        <a:rPr lang="en-US" altLang="zh-CN" sz="1400" kern="1200" dirty="0" smtClean="0">
                          <a:solidFill>
                            <a:schemeClr val="tx1"/>
                          </a:solidFill>
                          <a:effectLst/>
                          <a:latin typeface="+mn-lt"/>
                          <a:ea typeface="+mn-ea"/>
                          <a:cs typeface="+mn-cs"/>
                        </a:rPr>
                        <a:t>VLAN</a:t>
                      </a:r>
                      <a:r>
                        <a:rPr lang="zh-CN" altLang="en-US" sz="1400" kern="1200" dirty="0" smtClean="0">
                          <a:solidFill>
                            <a:schemeClr val="tx1"/>
                          </a:solidFill>
                          <a:effectLst/>
                          <a:latin typeface="+mn-lt"/>
                          <a:ea typeface="+mn-ea"/>
                          <a:cs typeface="+mn-cs"/>
                        </a:rPr>
                        <a:t>。</a:t>
                      </a:r>
                    </a:p>
                    <a:p>
                      <a:pPr marL="0" indent="-228600" algn="l" defTabSz="914034" rtl="0" eaLnBrk="1" latinLnBrk="0" hangingPunct="1">
                        <a:lnSpc>
                          <a:spcPct val="100000"/>
                        </a:lnSpc>
                        <a:spcAft>
                          <a:spcPts val="0"/>
                        </a:spcAft>
                        <a:buFont typeface="+mj-lt"/>
                        <a:buAutoNum type="arabicPeriod"/>
                      </a:pPr>
                      <a:r>
                        <a:rPr lang="zh-CN" altLang="en-US" sz="1400" kern="1200" dirty="0" smtClean="0">
                          <a:solidFill>
                            <a:schemeClr val="tx1"/>
                          </a:solidFill>
                          <a:effectLst/>
                          <a:latin typeface="+mn-lt"/>
                          <a:ea typeface="+mn-ea"/>
                          <a:cs typeface="+mn-cs"/>
                        </a:rPr>
                        <a:t>设置无线</a:t>
                      </a:r>
                      <a:r>
                        <a:rPr lang="en-US" altLang="zh-CN" sz="1400" kern="1200" dirty="0" smtClean="0">
                          <a:solidFill>
                            <a:schemeClr val="tx1"/>
                          </a:solidFill>
                          <a:effectLst/>
                          <a:latin typeface="+mn-lt"/>
                          <a:ea typeface="+mn-ea"/>
                          <a:cs typeface="+mn-cs"/>
                        </a:rPr>
                        <a:t>PnP</a:t>
                      </a:r>
                      <a:r>
                        <a:rPr lang="zh-CN" altLang="en-US" sz="1400" kern="1200" dirty="0" smtClean="0">
                          <a:solidFill>
                            <a:schemeClr val="tx1"/>
                          </a:solidFill>
                          <a:effectLst/>
                          <a:latin typeface="+mn-lt"/>
                          <a:ea typeface="+mn-ea"/>
                          <a:cs typeface="+mn-cs"/>
                        </a:rPr>
                        <a:t>管理</a:t>
                      </a:r>
                      <a:r>
                        <a:rPr lang="en-US" altLang="zh-CN" sz="1400" kern="1200" dirty="0" smtClean="0">
                          <a:solidFill>
                            <a:schemeClr val="tx1"/>
                          </a:solidFill>
                          <a:effectLst/>
                          <a:latin typeface="+mn-lt"/>
                          <a:ea typeface="+mn-ea"/>
                          <a:cs typeface="+mn-cs"/>
                        </a:rPr>
                        <a:t>VLAN</a:t>
                      </a:r>
                      <a:r>
                        <a:rPr lang="zh-CN" altLang="en-US" sz="1400" kern="1200" dirty="0" smtClean="0">
                          <a:solidFill>
                            <a:schemeClr val="tx1"/>
                          </a:solidFill>
                          <a:effectLst/>
                          <a:latin typeface="+mn-lt"/>
                          <a:ea typeface="+mn-ea"/>
                          <a:cs typeface="+mn-cs"/>
                        </a:rPr>
                        <a:t>。</a:t>
                      </a:r>
                    </a:p>
                    <a:p>
                      <a:pPr marL="0" indent="-228600" algn="l" defTabSz="914034" rtl="0" eaLnBrk="1" latinLnBrk="0" hangingPunct="1">
                        <a:lnSpc>
                          <a:spcPct val="100000"/>
                        </a:lnSpc>
                        <a:spcAft>
                          <a:spcPts val="0"/>
                        </a:spcAft>
                        <a:buFont typeface="+mj-lt"/>
                        <a:buAutoNum type="arabicPeriod"/>
                      </a:pPr>
                      <a:r>
                        <a:rPr lang="zh-CN" altLang="en-US" sz="1400" kern="1200" dirty="0" smtClean="0">
                          <a:solidFill>
                            <a:schemeClr val="tx1"/>
                          </a:solidFill>
                          <a:effectLst/>
                          <a:latin typeface="+mn-lt"/>
                          <a:ea typeface="+mn-ea"/>
                          <a:cs typeface="+mn-cs"/>
                        </a:rPr>
                        <a:t>配置</a:t>
                      </a:r>
                      <a:r>
                        <a:rPr lang="en-US" altLang="zh-CN" sz="1400" kern="1200" dirty="0" smtClean="0">
                          <a:solidFill>
                            <a:schemeClr val="tx1"/>
                          </a:solidFill>
                          <a:effectLst/>
                          <a:latin typeface="+mn-lt"/>
                          <a:ea typeface="+mn-ea"/>
                          <a:cs typeface="+mn-cs"/>
                        </a:rPr>
                        <a:t>Border</a:t>
                      </a:r>
                      <a:r>
                        <a:rPr lang="zh-CN" altLang="en-US" sz="1400" kern="1200" dirty="0" smtClean="0">
                          <a:solidFill>
                            <a:schemeClr val="tx1"/>
                          </a:solidFill>
                          <a:effectLst/>
                          <a:latin typeface="+mn-lt"/>
                          <a:ea typeface="+mn-ea"/>
                          <a:cs typeface="+mn-cs"/>
                        </a:rPr>
                        <a:t>的</a:t>
                      </a:r>
                      <a:r>
                        <a:rPr lang="en-US" altLang="zh-CN" sz="1400" kern="1200" dirty="0" smtClean="0">
                          <a:solidFill>
                            <a:schemeClr val="tx1"/>
                          </a:solidFill>
                          <a:effectLst/>
                          <a:latin typeface="+mn-lt"/>
                          <a:ea typeface="+mn-ea"/>
                          <a:cs typeface="+mn-cs"/>
                        </a:rPr>
                        <a:t>CAPWAP</a:t>
                      </a:r>
                      <a:r>
                        <a:rPr lang="zh-CN" altLang="en-US" sz="1400" kern="1200" dirty="0" smtClean="0">
                          <a:solidFill>
                            <a:schemeClr val="tx1"/>
                          </a:solidFill>
                          <a:effectLst/>
                          <a:latin typeface="+mn-lt"/>
                          <a:ea typeface="+mn-ea"/>
                          <a:cs typeface="+mn-cs"/>
                        </a:rPr>
                        <a:t>隧道源接口。</a:t>
                      </a:r>
                    </a:p>
                  </a:txBody>
                  <a:tcPr anchor="ctr">
                    <a:lnR w="28575" cap="flat" cmpd="sng" algn="ctr">
                      <a:solidFill>
                        <a:schemeClr val="tx1"/>
                      </a:solidFill>
                      <a:prstDash val="solid"/>
                      <a:round/>
                      <a:headEnd type="none" w="med" len="med"/>
                      <a:tailEnd type="none" w="med" len="med"/>
                    </a:lnR>
                  </a:tcPr>
                </a:tc>
              </a:tr>
              <a:tr h="0">
                <a:tc>
                  <a:txBody>
                    <a:bodyPr/>
                    <a:lstStyle/>
                    <a:p>
                      <a:pPr algn="ctr">
                        <a:lnSpc>
                          <a:spcPct val="100000"/>
                        </a:lnSpc>
                        <a:spcAft>
                          <a:spcPts val="0"/>
                        </a:spcAft>
                      </a:pPr>
                      <a:r>
                        <a:rPr lang="zh-CN" altLang="en-US" sz="1400" dirty="0" smtClean="0">
                          <a:effectLst/>
                        </a:rPr>
                        <a:t>控制器侧无线业务配置</a:t>
                      </a:r>
                      <a:endParaRPr lang="zh-CN" altLang="en-US" sz="1400" dirty="0">
                        <a:effectLst/>
                      </a:endParaRPr>
                    </a:p>
                  </a:txBody>
                  <a:tcPr anchor="ctr">
                    <a:lnL w="28575" cap="flat" cmpd="sng" algn="ctr">
                      <a:solidFill>
                        <a:schemeClr val="tx1"/>
                      </a:solidFill>
                      <a:prstDash val="solid"/>
                      <a:round/>
                      <a:headEnd type="none" w="med" len="med"/>
                      <a:tailEnd type="none" w="med" len="med"/>
                    </a:lnL>
                  </a:tcPr>
                </a:tc>
                <a:tc>
                  <a:txBody>
                    <a:bodyPr/>
                    <a:lstStyle/>
                    <a:p>
                      <a:pPr marL="0" indent="-228600" algn="l" defTabSz="914034" rtl="0" eaLnBrk="1" latinLnBrk="0" hangingPunct="1">
                        <a:lnSpc>
                          <a:spcPct val="100000"/>
                        </a:lnSpc>
                        <a:spcAft>
                          <a:spcPts val="0"/>
                        </a:spcAft>
                        <a:buFont typeface="+mj-lt"/>
                        <a:buAutoNum type="arabicPeriod"/>
                      </a:pPr>
                      <a:r>
                        <a:rPr lang="zh-CN" altLang="en-US" sz="1400" kern="1200" dirty="0" smtClean="0">
                          <a:solidFill>
                            <a:schemeClr val="tx1"/>
                          </a:solidFill>
                          <a:effectLst/>
                          <a:latin typeface="+mn-lt"/>
                          <a:ea typeface="+mn-ea"/>
                          <a:cs typeface="+mn-cs"/>
                        </a:rPr>
                        <a:t>创建无线认证，配置</a:t>
                      </a:r>
                      <a:r>
                        <a:rPr lang="en-US" altLang="zh-CN" sz="1400" kern="1200" dirty="0" smtClean="0">
                          <a:solidFill>
                            <a:schemeClr val="tx1"/>
                          </a:solidFill>
                          <a:effectLst/>
                          <a:latin typeface="+mn-lt"/>
                          <a:ea typeface="+mn-ea"/>
                          <a:cs typeface="+mn-cs"/>
                        </a:rPr>
                        <a:t>Portal</a:t>
                      </a:r>
                      <a:r>
                        <a:rPr lang="zh-CN" altLang="en-US" sz="1400" kern="1200" dirty="0" smtClean="0">
                          <a:solidFill>
                            <a:schemeClr val="tx1"/>
                          </a:solidFill>
                          <a:effectLst/>
                          <a:latin typeface="+mn-lt"/>
                          <a:ea typeface="+mn-ea"/>
                          <a:cs typeface="+mn-cs"/>
                        </a:rPr>
                        <a:t>认证相关信息。</a:t>
                      </a:r>
                    </a:p>
                  </a:txBody>
                  <a:tcPr anchor="ctr">
                    <a:lnR w="28575" cap="flat" cmpd="sng" algn="ctr">
                      <a:solidFill>
                        <a:schemeClr val="tx1"/>
                      </a:solidFill>
                      <a:prstDash val="solid"/>
                      <a:round/>
                      <a:headEnd type="none" w="med" len="med"/>
                      <a:tailEnd type="none" w="med" len="med"/>
                    </a:lnR>
                  </a:tcPr>
                </a:tc>
              </a:tr>
              <a:tr h="0">
                <a:tc>
                  <a:txBody>
                    <a:bodyPr/>
                    <a:lstStyle/>
                    <a:p>
                      <a:pPr algn="ctr">
                        <a:lnSpc>
                          <a:spcPct val="100000"/>
                        </a:lnSpc>
                        <a:spcAft>
                          <a:spcPts val="0"/>
                        </a:spcAft>
                      </a:pPr>
                      <a:r>
                        <a:rPr lang="zh-CN" altLang="en-US" sz="1400" dirty="0" smtClean="0">
                          <a:effectLst/>
                        </a:rPr>
                        <a:t>无线业务下发（</a:t>
                      </a:r>
                      <a:r>
                        <a:rPr lang="en-US" altLang="zh-CN" sz="1400" dirty="0" smtClean="0">
                          <a:effectLst/>
                        </a:rPr>
                        <a:t>Border</a:t>
                      </a:r>
                      <a:r>
                        <a:rPr lang="zh-CN" altLang="en-US" sz="1400" dirty="0" smtClean="0">
                          <a:effectLst/>
                        </a:rPr>
                        <a:t>的</a:t>
                      </a:r>
                      <a:r>
                        <a:rPr lang="en-US" altLang="zh-CN" sz="1400" dirty="0" smtClean="0">
                          <a:effectLst/>
                        </a:rPr>
                        <a:t>Web</a:t>
                      </a:r>
                      <a:r>
                        <a:rPr lang="zh-CN" altLang="en-US" sz="1400" dirty="0" smtClean="0">
                          <a:effectLst/>
                        </a:rPr>
                        <a:t>界面）</a:t>
                      </a:r>
                      <a:endParaRPr lang="zh-CN" altLang="en-US" sz="1400" dirty="0">
                        <a:effectLst/>
                      </a:endParaRPr>
                    </a:p>
                  </a:txBody>
                  <a:tcPr anchor="ctr">
                    <a:lnL w="28575" cap="flat" cmpd="sng" algn="ctr">
                      <a:solidFill>
                        <a:schemeClr val="tx1"/>
                      </a:solidFill>
                      <a:prstDash val="solid"/>
                      <a:round/>
                      <a:headEnd type="none" w="med" len="med"/>
                      <a:tailEnd type="none" w="med" len="med"/>
                    </a:lnL>
                    <a:lnB w="28575" cap="flat" cmpd="sng" algn="ctr">
                      <a:solidFill>
                        <a:schemeClr val="tx1"/>
                      </a:solidFill>
                      <a:prstDash val="solid"/>
                      <a:round/>
                      <a:headEnd type="none" w="med" len="med"/>
                      <a:tailEnd type="none" w="med" len="med"/>
                    </a:lnB>
                  </a:tcPr>
                </a:tc>
                <a:tc>
                  <a:txBody>
                    <a:bodyPr/>
                    <a:lstStyle/>
                    <a:p>
                      <a:pPr marL="0" indent="-228600" algn="l" defTabSz="914034" rtl="0" eaLnBrk="1" latinLnBrk="0" hangingPunct="1">
                        <a:lnSpc>
                          <a:spcPct val="100000"/>
                        </a:lnSpc>
                        <a:spcAft>
                          <a:spcPts val="0"/>
                        </a:spcAft>
                        <a:buFont typeface="+mj-lt"/>
                        <a:buAutoNum type="arabicPeriod"/>
                      </a:pPr>
                      <a:r>
                        <a:rPr lang="zh-CN" altLang="en-US" sz="1400" kern="1200" dirty="0" smtClean="0">
                          <a:solidFill>
                            <a:schemeClr val="tx1"/>
                          </a:solidFill>
                          <a:effectLst/>
                          <a:latin typeface="+mn-lt"/>
                          <a:ea typeface="+mn-ea"/>
                          <a:cs typeface="+mn-cs"/>
                        </a:rPr>
                        <a:t>配置</a:t>
                      </a:r>
                      <a:r>
                        <a:rPr lang="en-US" altLang="zh-CN" sz="1400" kern="1200" dirty="0" smtClean="0">
                          <a:solidFill>
                            <a:schemeClr val="tx1"/>
                          </a:solidFill>
                          <a:effectLst/>
                          <a:latin typeface="+mn-lt"/>
                          <a:ea typeface="+mn-ea"/>
                          <a:cs typeface="+mn-cs"/>
                        </a:rPr>
                        <a:t>SSID</a:t>
                      </a:r>
                      <a:r>
                        <a:rPr lang="zh-CN" altLang="en-US" sz="1400" kern="1200" dirty="0" smtClean="0">
                          <a:solidFill>
                            <a:schemeClr val="tx1"/>
                          </a:solidFill>
                          <a:effectLst/>
                          <a:latin typeface="+mn-lt"/>
                          <a:ea typeface="+mn-ea"/>
                          <a:cs typeface="+mn-cs"/>
                        </a:rPr>
                        <a:t>模板。</a:t>
                      </a:r>
                      <a:endParaRPr lang="en-US" altLang="zh-CN" sz="1400" kern="1200" dirty="0" smtClean="0">
                        <a:solidFill>
                          <a:schemeClr val="tx1"/>
                        </a:solidFill>
                        <a:effectLst/>
                        <a:latin typeface="+mn-lt"/>
                        <a:ea typeface="+mn-ea"/>
                        <a:cs typeface="+mn-cs"/>
                      </a:endParaRPr>
                    </a:p>
                    <a:p>
                      <a:pPr marL="0" indent="-228600" algn="l" defTabSz="914034" rtl="0" eaLnBrk="1" latinLnBrk="0" hangingPunct="1">
                        <a:lnSpc>
                          <a:spcPct val="100000"/>
                        </a:lnSpc>
                        <a:spcAft>
                          <a:spcPts val="0"/>
                        </a:spcAft>
                        <a:buFont typeface="+mj-lt"/>
                        <a:buAutoNum type="arabicPeriod"/>
                      </a:pPr>
                      <a:r>
                        <a:rPr lang="zh-CN" altLang="en-US" sz="1400" kern="1200" dirty="0" smtClean="0">
                          <a:solidFill>
                            <a:schemeClr val="tx1"/>
                          </a:solidFill>
                          <a:effectLst/>
                          <a:latin typeface="+mn-lt"/>
                          <a:ea typeface="+mn-ea"/>
                          <a:cs typeface="+mn-cs"/>
                        </a:rPr>
                        <a:t>配置</a:t>
                      </a:r>
                      <a:r>
                        <a:rPr lang="en-US" altLang="zh-CN" sz="1400" kern="1200" dirty="0" smtClean="0">
                          <a:solidFill>
                            <a:schemeClr val="tx1"/>
                          </a:solidFill>
                          <a:effectLst/>
                          <a:latin typeface="+mn-lt"/>
                          <a:ea typeface="+mn-ea"/>
                          <a:cs typeface="+mn-cs"/>
                        </a:rPr>
                        <a:t>VAP</a:t>
                      </a:r>
                      <a:r>
                        <a:rPr lang="zh-CN" altLang="en-US" sz="1400" kern="1200" dirty="0" smtClean="0">
                          <a:solidFill>
                            <a:schemeClr val="tx1"/>
                          </a:solidFill>
                          <a:effectLst/>
                          <a:latin typeface="+mn-lt"/>
                          <a:ea typeface="+mn-ea"/>
                          <a:cs typeface="+mn-cs"/>
                        </a:rPr>
                        <a:t>模板，引用</a:t>
                      </a:r>
                      <a:r>
                        <a:rPr lang="en-US" altLang="zh-CN" sz="1400" kern="1200" dirty="0" smtClean="0">
                          <a:solidFill>
                            <a:schemeClr val="tx1"/>
                          </a:solidFill>
                          <a:effectLst/>
                          <a:latin typeface="+mn-lt"/>
                          <a:ea typeface="+mn-ea"/>
                          <a:cs typeface="+mn-cs"/>
                        </a:rPr>
                        <a:t>SSID</a:t>
                      </a:r>
                      <a:r>
                        <a:rPr lang="zh-CN" altLang="en-US" sz="1400" kern="1200" dirty="0" smtClean="0">
                          <a:solidFill>
                            <a:schemeClr val="tx1"/>
                          </a:solidFill>
                          <a:effectLst/>
                          <a:latin typeface="+mn-lt"/>
                          <a:ea typeface="+mn-ea"/>
                          <a:cs typeface="+mn-cs"/>
                        </a:rPr>
                        <a:t>模板、认证模板。</a:t>
                      </a:r>
                      <a:endParaRPr lang="en-US" altLang="zh-CN" sz="1400" kern="1200" dirty="0" smtClean="0">
                        <a:solidFill>
                          <a:schemeClr val="tx1"/>
                        </a:solidFill>
                        <a:effectLst/>
                        <a:latin typeface="+mn-lt"/>
                        <a:ea typeface="+mn-ea"/>
                        <a:cs typeface="+mn-cs"/>
                      </a:endParaRPr>
                    </a:p>
                    <a:p>
                      <a:pPr marL="0" indent="-228600" algn="l" defTabSz="914034" rtl="0" eaLnBrk="1" latinLnBrk="0" hangingPunct="1">
                        <a:lnSpc>
                          <a:spcPct val="100000"/>
                        </a:lnSpc>
                        <a:spcAft>
                          <a:spcPts val="0"/>
                        </a:spcAft>
                        <a:buFont typeface="+mj-lt"/>
                        <a:buAutoNum type="arabicPeriod"/>
                      </a:pPr>
                      <a:r>
                        <a:rPr lang="zh-CN" altLang="en-US" sz="1400" kern="1200" dirty="0" smtClean="0">
                          <a:solidFill>
                            <a:schemeClr val="tx1"/>
                          </a:solidFill>
                          <a:effectLst/>
                          <a:latin typeface="+mn-lt"/>
                          <a:ea typeface="+mn-ea"/>
                          <a:cs typeface="+mn-cs"/>
                        </a:rPr>
                        <a:t>配置</a:t>
                      </a:r>
                      <a:r>
                        <a:rPr lang="en-US" altLang="zh-CN" sz="1400" kern="1200" dirty="0" smtClean="0">
                          <a:solidFill>
                            <a:schemeClr val="tx1"/>
                          </a:solidFill>
                          <a:effectLst/>
                          <a:latin typeface="+mn-lt"/>
                          <a:ea typeface="+mn-ea"/>
                          <a:cs typeface="+mn-cs"/>
                        </a:rPr>
                        <a:t>AP</a:t>
                      </a:r>
                      <a:r>
                        <a:rPr lang="zh-CN" altLang="en-US" sz="1400" kern="1200" dirty="0" smtClean="0">
                          <a:solidFill>
                            <a:schemeClr val="tx1"/>
                          </a:solidFill>
                          <a:effectLst/>
                          <a:latin typeface="+mn-lt"/>
                          <a:ea typeface="+mn-ea"/>
                          <a:cs typeface="+mn-cs"/>
                        </a:rPr>
                        <a:t>组引用</a:t>
                      </a:r>
                      <a:r>
                        <a:rPr lang="en-US" altLang="zh-CN" sz="1400" kern="1200" dirty="0" smtClean="0">
                          <a:solidFill>
                            <a:schemeClr val="tx1"/>
                          </a:solidFill>
                          <a:effectLst/>
                          <a:latin typeface="+mn-lt"/>
                          <a:ea typeface="+mn-ea"/>
                          <a:cs typeface="+mn-cs"/>
                        </a:rPr>
                        <a:t>VAP</a:t>
                      </a:r>
                      <a:r>
                        <a:rPr lang="zh-CN" altLang="en-US" sz="1400" kern="1200" dirty="0" smtClean="0">
                          <a:solidFill>
                            <a:schemeClr val="tx1"/>
                          </a:solidFill>
                          <a:effectLst/>
                          <a:latin typeface="+mn-lt"/>
                          <a:ea typeface="+mn-ea"/>
                          <a:cs typeface="+mn-cs"/>
                        </a:rPr>
                        <a:t>模板。</a:t>
                      </a:r>
                      <a:endParaRPr lang="en-US" altLang="zh-CN" sz="1400" kern="1200" dirty="0" smtClean="0">
                        <a:solidFill>
                          <a:schemeClr val="tx1"/>
                        </a:solidFill>
                        <a:effectLst/>
                        <a:latin typeface="+mn-lt"/>
                        <a:ea typeface="+mn-ea"/>
                        <a:cs typeface="+mn-cs"/>
                      </a:endParaRPr>
                    </a:p>
                  </a:txBody>
                  <a:tcPr anchor="ctr">
                    <a:lnR w="28575" cap="flat" cmpd="sng" algn="ctr">
                      <a:solidFill>
                        <a:schemeClr val="tx1"/>
                      </a:solidFill>
                      <a:prstDash val="solid"/>
                      <a:round/>
                      <a:headEnd type="none" w="med" len="med"/>
                      <a:tailEnd type="none" w="med" len="med"/>
                    </a:lnR>
                    <a:lnB w="28575" cap="flat" cmpd="sng" algn="ctr">
                      <a:solidFill>
                        <a:schemeClr val="tx1"/>
                      </a:solidFill>
                      <a:prstDash val="solid"/>
                      <a:round/>
                      <a:headEnd type="none" w="med" len="med"/>
                      <a:tailEnd type="none" w="med" len="med"/>
                    </a:lnB>
                  </a:tcPr>
                </a:tc>
              </a:tr>
            </a:tbl>
          </a:graphicData>
        </a:graphic>
      </p:graphicFrame>
      <p:sp>
        <p:nvSpPr>
          <p:cNvPr id="56" name="五边形 55"/>
          <p:cNvSpPr/>
          <p:nvPr/>
        </p:nvSpPr>
        <p:spPr bwMode="gray">
          <a:xfrm>
            <a:off x="5773628" y="98481"/>
            <a:ext cx="9000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smtClean="0">
                <a:latin typeface="Huawei Sans" panose="020C0503030203020204" pitchFamily="34" charset="0"/>
                <a:ea typeface="方正兰亭黑简体" panose="02000000000000000000" pitchFamily="2" charset="-122"/>
                <a:sym typeface="Huawei Sans" panose="020C0503030203020204" pitchFamily="34" charset="0"/>
              </a:rPr>
              <a:t>站点管理</a:t>
            </a:r>
            <a:endPar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7" name="燕尾形 56"/>
          <p:cNvSpPr/>
          <p:nvPr/>
        </p:nvSpPr>
        <p:spPr bwMode="gray">
          <a:xfrm>
            <a:off x="9109268" y="9848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逻辑网络</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8" name="燕尾形 57"/>
          <p:cNvSpPr/>
          <p:nvPr/>
        </p:nvSpPr>
        <p:spPr bwMode="gray">
          <a:xfrm>
            <a:off x="9925178" y="9848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业务部署</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9" name="燕尾形 58"/>
          <p:cNvSpPr/>
          <p:nvPr/>
        </p:nvSpPr>
        <p:spPr bwMode="gray">
          <a:xfrm>
            <a:off x="8221358" y="98481"/>
            <a:ext cx="972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Fabric</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网络</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0" name="燕尾形 59"/>
          <p:cNvSpPr/>
          <p:nvPr/>
        </p:nvSpPr>
        <p:spPr bwMode="gray">
          <a:xfrm>
            <a:off x="7405448" y="9848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网络规划</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1" name="燕尾形 60"/>
          <p:cNvSpPr/>
          <p:nvPr/>
        </p:nvSpPr>
        <p:spPr bwMode="gray">
          <a:xfrm>
            <a:off x="6589538" y="9848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设备管理</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2" name="燕尾形 61"/>
          <p:cNvSpPr/>
          <p:nvPr/>
        </p:nvSpPr>
        <p:spPr bwMode="gray">
          <a:xfrm>
            <a:off x="10741088" y="98481"/>
            <a:ext cx="10080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WLAN</a:t>
            </a: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业务</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368894215"/>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normAutofit/>
          </a:bodyPr>
          <a:lstStyle/>
          <a:p>
            <a:r>
              <a:rPr lang="zh-CN" altLang="en-US" dirty="0"/>
              <a:t>实验</a:t>
            </a:r>
            <a:r>
              <a:rPr lang="zh-CN" altLang="en-US" dirty="0" smtClean="0"/>
              <a:t>：</a:t>
            </a:r>
            <a:r>
              <a:rPr lang="en-US" altLang="zh-CN" dirty="0" smtClean="0"/>
              <a:t>AP</a:t>
            </a:r>
            <a:r>
              <a:rPr lang="zh-CN" altLang="en-US" dirty="0" smtClean="0"/>
              <a:t>上线 </a:t>
            </a:r>
            <a:r>
              <a:rPr lang="en-US" altLang="zh-CN" dirty="0" smtClean="0"/>
              <a:t>(1)</a:t>
            </a:r>
            <a:endParaRPr lang="zh-CN" altLang="en-US" dirty="0"/>
          </a:p>
        </p:txBody>
      </p:sp>
      <p:sp>
        <p:nvSpPr>
          <p:cNvPr id="3" name="文本占位符 2"/>
          <p:cNvSpPr>
            <a:spLocks noGrp="1"/>
          </p:cNvSpPr>
          <p:nvPr>
            <p:ph type="body" sz="quarter" idx="10"/>
          </p:nvPr>
        </p:nvSpPr>
        <p:spPr bwMode="gray">
          <a:xfrm>
            <a:off x="455612" y="1047750"/>
            <a:ext cx="11293475" cy="835371"/>
          </a:xfrm>
        </p:spPr>
        <p:txBody>
          <a:bodyPr/>
          <a:lstStyle/>
          <a:p>
            <a:r>
              <a:rPr lang="zh-CN" altLang="en-US" sz="1800" dirty="0"/>
              <a:t>在</a:t>
            </a:r>
            <a:r>
              <a:rPr lang="zh-CN" altLang="en-US" sz="1800" dirty="0" smtClean="0"/>
              <a:t>“设计”</a:t>
            </a:r>
            <a:r>
              <a:rPr lang="en-US" altLang="zh-CN" sz="1800" dirty="0" smtClean="0"/>
              <a:t>-</a:t>
            </a:r>
            <a:r>
              <a:rPr lang="zh-CN" altLang="en-US" sz="1800" dirty="0" smtClean="0"/>
              <a:t>“设备管理”</a:t>
            </a:r>
            <a:r>
              <a:rPr lang="zh-CN" altLang="en-US" sz="1800" dirty="0"/>
              <a:t>中为站点</a:t>
            </a:r>
            <a:r>
              <a:rPr lang="en-US" altLang="zh-CN" sz="1800" dirty="0" smtClean="0"/>
              <a:t>HQ</a:t>
            </a:r>
            <a:r>
              <a:rPr lang="zh-CN" altLang="en-US" sz="1800" dirty="0" smtClean="0"/>
              <a:t>手动添加</a:t>
            </a:r>
            <a:r>
              <a:rPr lang="zh-CN" altLang="en-US" sz="1800" dirty="0"/>
              <a:t>设备</a:t>
            </a:r>
            <a:r>
              <a:rPr lang="zh-CN" altLang="en-US" sz="1800" dirty="0" smtClean="0"/>
              <a:t>，协议类型选择“</a:t>
            </a:r>
            <a:r>
              <a:rPr lang="en-US" altLang="zh-CN" sz="1800" dirty="0" smtClean="0"/>
              <a:t>NETCONF</a:t>
            </a:r>
            <a:r>
              <a:rPr lang="zh-CN" altLang="en-US" sz="1800" dirty="0" smtClean="0"/>
              <a:t>协议”，通过</a:t>
            </a:r>
            <a:r>
              <a:rPr lang="en-US" altLang="zh-CN" sz="1800" dirty="0"/>
              <a:t>ESN</a:t>
            </a:r>
            <a:r>
              <a:rPr lang="zh-CN" altLang="en-US" sz="1800" dirty="0"/>
              <a:t>码添加</a:t>
            </a:r>
            <a:r>
              <a:rPr lang="en-US" altLang="zh-CN" sz="1800" dirty="0" smtClean="0"/>
              <a:t>AP</a:t>
            </a:r>
            <a:r>
              <a:rPr lang="zh-CN" altLang="en-US" sz="1800" dirty="0" smtClean="0"/>
              <a:t>。但此时</a:t>
            </a:r>
            <a:r>
              <a:rPr lang="en-US" altLang="zh-CN" sz="1800" dirty="0" smtClean="0"/>
              <a:t>AP</a:t>
            </a:r>
            <a:r>
              <a:rPr lang="zh-CN" altLang="en-US" sz="1800" dirty="0" smtClean="0"/>
              <a:t>还未上线</a:t>
            </a:r>
            <a:r>
              <a:rPr lang="zh-CN" altLang="en-US" sz="1800" dirty="0"/>
              <a:t>，状态</a:t>
            </a:r>
            <a:r>
              <a:rPr lang="zh-CN" altLang="en-US" sz="1800" dirty="0" smtClean="0"/>
              <a:t>为未注册。</a:t>
            </a:r>
            <a:endParaRPr lang="zh-CN" altLang="en-US" sz="1800" dirty="0"/>
          </a:p>
        </p:txBody>
      </p:sp>
      <p:sp>
        <p:nvSpPr>
          <p:cNvPr id="13" name="文本占位符 2"/>
          <p:cNvSpPr txBox="1">
            <a:spLocks/>
          </p:cNvSpPr>
          <p:nvPr/>
        </p:nvSpPr>
        <p:spPr bwMode="gray">
          <a:xfrm>
            <a:off x="455612" y="3508108"/>
            <a:ext cx="11293475" cy="835371"/>
          </a:xfrm>
          <a:prstGeom prst="rect">
            <a:avLst/>
          </a:prstGeom>
          <a:noFill/>
          <a:ln w="9525">
            <a:noFill/>
            <a:miter lim="800000"/>
            <a:headEnd/>
            <a:tailEnd/>
          </a:ln>
        </p:spPr>
        <p:txBody>
          <a:bodyPr vert="horz" wrap="square" lIns="80141" tIns="40071" rIns="80141" bIns="40071" numCol="1" anchor="t" anchorCtr="0" compatLnSpc="1">
            <a:prstTxWarp prst="textNoShape">
              <a:avLst/>
            </a:prstTxWarp>
          </a:bodyPr>
          <a:lstStyle>
            <a:lvl1pPr marL="302279" indent="-302279" algn="just" defTabSz="914034" rtl="0" eaLnBrk="1" fontAlgn="ctr" latinLnBrk="0" hangingPunct="1">
              <a:lnSpc>
                <a:spcPct val="140000"/>
              </a:lnSpc>
              <a:spcBef>
                <a:spcPts val="792"/>
              </a:spcBef>
              <a:buClrTx/>
              <a:buSzPct val="50000"/>
              <a:buFont typeface="Wingdings" panose="05000000000000000000" pitchFamily="2" charset="2"/>
              <a:buChar char="l"/>
              <a:defRPr sz="2199" kern="1200" baseline="0">
                <a:solidFill>
                  <a:schemeClr val="tx1"/>
                </a:solidFill>
                <a:latin typeface="Huawei Sans" panose="020C0503030203020204" pitchFamily="34" charset="0"/>
                <a:ea typeface="方正兰亭黑简体" panose="02000000000000000000" pitchFamily="2" charset="-122"/>
                <a:cs typeface="Huawei Sans" panose="020C0503030203020204" pitchFamily="34" charset="0"/>
              </a:defRPr>
            </a:lvl1pPr>
            <a:lvl2pPr marL="654938" indent="-251899" algn="l" defTabSz="914034" rtl="0" eaLnBrk="1" fontAlgn="ctr" latinLnBrk="0" hangingPunct="1">
              <a:lnSpc>
                <a:spcPct val="140000"/>
              </a:lnSpc>
              <a:spcBef>
                <a:spcPts val="720"/>
              </a:spcBef>
              <a:buClrTx/>
              <a:buSzPct val="50000"/>
              <a:buFont typeface="Wingdings" panose="05000000000000000000" pitchFamily="2" charset="2"/>
              <a:buChar char="p"/>
              <a:defRPr sz="1999" kern="1200" baseline="0">
                <a:solidFill>
                  <a:schemeClr val="tx1"/>
                </a:solidFill>
                <a:latin typeface="Huawei Sans" panose="020C0503030203020204" pitchFamily="34" charset="0"/>
                <a:ea typeface="方正兰亭黑简体" panose="02000000000000000000" pitchFamily="2" charset="-122"/>
                <a:cs typeface="+mn-cs"/>
              </a:defRPr>
            </a:lvl2pPr>
            <a:lvl3pPr marL="1003998" indent="-201519" algn="l" defTabSz="914034" rtl="0" eaLnBrk="1" fontAlgn="ctr" latinLnBrk="0" hangingPunct="1">
              <a:lnSpc>
                <a:spcPct val="140000"/>
              </a:lnSpc>
              <a:spcBef>
                <a:spcPts val="648"/>
              </a:spcBef>
              <a:buClrTx/>
              <a:buSzPct val="50000"/>
              <a:buFont typeface="Wingdings" panose="05000000000000000000" pitchFamily="2" charset="2"/>
              <a:buChar char="n"/>
              <a:defRPr sz="1799" kern="1200" baseline="0">
                <a:solidFill>
                  <a:schemeClr val="tx1"/>
                </a:solidFill>
                <a:latin typeface="Huawei Sans" panose="020C0503030203020204" pitchFamily="34" charset="0"/>
                <a:ea typeface="方正兰亭黑简体" panose="02000000000000000000" pitchFamily="2" charset="-122"/>
                <a:cs typeface="+mn-cs"/>
              </a:defRPr>
            </a:lvl3pPr>
            <a:lvl4pPr marL="1399840" indent="-197921" algn="l" defTabSz="914034" rtl="0" eaLnBrk="1" fontAlgn="ctr" latinLnBrk="0" hangingPunct="1">
              <a:lnSpc>
                <a:spcPct val="140000"/>
              </a:lnSpc>
              <a:spcBef>
                <a:spcPts val="576"/>
              </a:spcBef>
              <a:buFont typeface="Huawei Sans" panose="020C0503030203020204" pitchFamily="34" charset="0"/>
              <a:buChar char="−"/>
              <a:defRPr sz="1599" kern="1200" baseline="0">
                <a:solidFill>
                  <a:schemeClr val="tx1"/>
                </a:solidFill>
                <a:latin typeface="Huawei Sans" panose="020C0503030203020204" pitchFamily="34" charset="0"/>
                <a:ea typeface="方正兰亭黑简体" panose="02000000000000000000" pitchFamily="2" charset="-122"/>
                <a:cs typeface="+mn-cs"/>
              </a:defRPr>
            </a:lvl4pPr>
            <a:lvl5pPr marL="1802879" indent="-201519" algn="l" defTabSz="914034" rtl="0" eaLnBrk="1" fontAlgn="ctr" latinLnBrk="0" hangingPunct="1">
              <a:lnSpc>
                <a:spcPct val="140000"/>
              </a:lnSpc>
              <a:spcBef>
                <a:spcPts val="576"/>
              </a:spcBef>
              <a:buFont typeface="Huawei Sans" panose="020C0503030203020204" pitchFamily="34" charset="0"/>
              <a:buChar char="~"/>
              <a:defRPr sz="1399" kern="1200" baseline="0">
                <a:solidFill>
                  <a:schemeClr val="tx1"/>
                </a:solidFill>
                <a:latin typeface="Huawei Sans" panose="020C0503030203020204" pitchFamily="34" charset="0"/>
                <a:ea typeface="方正兰亭黑简体" panose="02000000000000000000" pitchFamily="2" charset="-122"/>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r>
              <a:rPr lang="zh-CN" altLang="en-US" sz="1800" dirty="0"/>
              <a:t>在“配置”</a:t>
            </a:r>
            <a:r>
              <a:rPr lang="en-US" altLang="zh-CN" sz="1800" dirty="0" smtClean="0"/>
              <a:t>-</a:t>
            </a:r>
            <a:r>
              <a:rPr lang="zh-CN" altLang="en-US" sz="1800" dirty="0" smtClean="0"/>
              <a:t>“站点配置”</a:t>
            </a:r>
            <a:r>
              <a:rPr lang="zh-CN" altLang="en-US" sz="1800" dirty="0"/>
              <a:t>中选择交换机的“管理</a:t>
            </a:r>
            <a:r>
              <a:rPr lang="en-US" altLang="zh-CN" sz="1800" dirty="0"/>
              <a:t>Fit </a:t>
            </a:r>
            <a:r>
              <a:rPr lang="en-US" altLang="zh-CN" sz="1800" dirty="0" smtClean="0"/>
              <a:t>AP</a:t>
            </a:r>
            <a:r>
              <a:rPr lang="zh-CN" altLang="en-US" sz="1800" dirty="0" smtClean="0"/>
              <a:t>”功能</a:t>
            </a:r>
            <a:r>
              <a:rPr lang="zh-CN" altLang="en-US" sz="1800" dirty="0"/>
              <a:t>，点击</a:t>
            </a:r>
            <a:r>
              <a:rPr lang="en-US" altLang="zh-CN" sz="1800" dirty="0"/>
              <a:t>Border</a:t>
            </a:r>
            <a:r>
              <a:rPr lang="zh-CN" altLang="en-US" sz="1800" dirty="0" smtClean="0"/>
              <a:t>，</a:t>
            </a:r>
            <a:r>
              <a:rPr lang="zh-CN" altLang="en-US" sz="1800" dirty="0"/>
              <a:t>再</a:t>
            </a:r>
            <a:r>
              <a:rPr lang="zh-CN" altLang="en-US" sz="1800" dirty="0" smtClean="0"/>
              <a:t>点击</a:t>
            </a:r>
            <a:r>
              <a:rPr lang="zh-CN" altLang="en-US" sz="1800" dirty="0"/>
              <a:t>增加，将</a:t>
            </a:r>
            <a:r>
              <a:rPr lang="en-US" altLang="zh-CN" sz="1800" dirty="0"/>
              <a:t>AP1</a:t>
            </a:r>
            <a:r>
              <a:rPr lang="zh-CN" altLang="en-US" sz="1800" dirty="0"/>
              <a:t>分配给</a:t>
            </a:r>
            <a:r>
              <a:rPr lang="en-US" altLang="zh-CN" sz="1800" dirty="0"/>
              <a:t>Border</a:t>
            </a:r>
            <a:r>
              <a:rPr lang="zh-CN" altLang="en-US" sz="1800" dirty="0"/>
              <a:t>。</a:t>
            </a:r>
          </a:p>
        </p:txBody>
      </p:sp>
      <p:pic>
        <p:nvPicPr>
          <p:cNvPr id="19" name="图片 18"/>
          <p:cNvPicPr>
            <a:picLocks noChangeAspect="1"/>
          </p:cNvPicPr>
          <p:nvPr/>
        </p:nvPicPr>
        <p:blipFill>
          <a:blip r:embed="rId3"/>
          <a:stretch>
            <a:fillRect/>
          </a:stretch>
        </p:blipFill>
        <p:spPr bwMode="gray">
          <a:xfrm>
            <a:off x="779976" y="4343479"/>
            <a:ext cx="10969112" cy="1807535"/>
          </a:xfrm>
          <a:prstGeom prst="rect">
            <a:avLst/>
          </a:prstGeom>
          <a:ln w="12700">
            <a:solidFill>
              <a:schemeClr val="bg1">
                <a:lumMod val="85000"/>
              </a:schemeClr>
            </a:solidFill>
          </a:ln>
        </p:spPr>
      </p:pic>
      <p:pic>
        <p:nvPicPr>
          <p:cNvPr id="5" name="图片 4"/>
          <p:cNvPicPr>
            <a:picLocks noChangeAspect="1"/>
          </p:cNvPicPr>
          <p:nvPr/>
        </p:nvPicPr>
        <p:blipFill>
          <a:blip r:embed="rId4"/>
          <a:stretch>
            <a:fillRect/>
          </a:stretch>
        </p:blipFill>
        <p:spPr bwMode="gray">
          <a:xfrm>
            <a:off x="779976" y="1936589"/>
            <a:ext cx="10940507" cy="1631908"/>
          </a:xfrm>
          <a:prstGeom prst="rect">
            <a:avLst/>
          </a:prstGeom>
          <a:ln w="12700">
            <a:solidFill>
              <a:schemeClr val="bg1">
                <a:lumMod val="85000"/>
              </a:schemeClr>
            </a:solidFill>
          </a:ln>
        </p:spPr>
      </p:pic>
      <p:sp>
        <p:nvSpPr>
          <p:cNvPr id="20" name="五边形 19"/>
          <p:cNvSpPr/>
          <p:nvPr/>
        </p:nvSpPr>
        <p:spPr bwMode="gray">
          <a:xfrm>
            <a:off x="5773628" y="98481"/>
            <a:ext cx="9000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smtClean="0">
                <a:latin typeface="Huawei Sans" panose="020C0503030203020204" pitchFamily="34" charset="0"/>
                <a:ea typeface="方正兰亭黑简体" panose="02000000000000000000" pitchFamily="2" charset="-122"/>
                <a:sym typeface="Huawei Sans" panose="020C0503030203020204" pitchFamily="34" charset="0"/>
              </a:rPr>
              <a:t>站点管理</a:t>
            </a:r>
            <a:endPar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1" name="燕尾形 20"/>
          <p:cNvSpPr/>
          <p:nvPr/>
        </p:nvSpPr>
        <p:spPr bwMode="gray">
          <a:xfrm>
            <a:off x="9109268" y="9848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逻辑网络</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2" name="燕尾形 21"/>
          <p:cNvSpPr/>
          <p:nvPr/>
        </p:nvSpPr>
        <p:spPr bwMode="gray">
          <a:xfrm>
            <a:off x="9925178" y="9848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业务部署</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3" name="燕尾形 22"/>
          <p:cNvSpPr/>
          <p:nvPr/>
        </p:nvSpPr>
        <p:spPr bwMode="gray">
          <a:xfrm>
            <a:off x="8221358" y="98481"/>
            <a:ext cx="972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Fabric</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网络</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4" name="燕尾形 23"/>
          <p:cNvSpPr/>
          <p:nvPr/>
        </p:nvSpPr>
        <p:spPr bwMode="gray">
          <a:xfrm>
            <a:off x="7405448" y="9848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网络规划</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5" name="燕尾形 24"/>
          <p:cNvSpPr/>
          <p:nvPr/>
        </p:nvSpPr>
        <p:spPr bwMode="gray">
          <a:xfrm>
            <a:off x="6589538" y="9848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设备管理</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6" name="燕尾形 25"/>
          <p:cNvSpPr/>
          <p:nvPr/>
        </p:nvSpPr>
        <p:spPr bwMode="gray">
          <a:xfrm>
            <a:off x="10741088" y="98481"/>
            <a:ext cx="10080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WLAN</a:t>
            </a: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业务</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1578421539"/>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normAutofit/>
          </a:bodyPr>
          <a:lstStyle/>
          <a:p>
            <a:r>
              <a:rPr lang="zh-CN" altLang="en-US" dirty="0"/>
              <a:t>实验</a:t>
            </a:r>
            <a:r>
              <a:rPr lang="zh-CN" altLang="en-US" dirty="0" smtClean="0"/>
              <a:t>：</a:t>
            </a:r>
            <a:r>
              <a:rPr lang="en-US" altLang="zh-CN" dirty="0" smtClean="0"/>
              <a:t>AP</a:t>
            </a:r>
            <a:r>
              <a:rPr lang="zh-CN" altLang="en-US" dirty="0" smtClean="0"/>
              <a:t>上线 </a:t>
            </a:r>
            <a:r>
              <a:rPr lang="en-US" altLang="zh-CN" dirty="0" smtClean="0"/>
              <a:t>(2)</a:t>
            </a:r>
            <a:endParaRPr lang="zh-CN" altLang="en-US" dirty="0"/>
          </a:p>
        </p:txBody>
      </p:sp>
      <p:sp>
        <p:nvSpPr>
          <p:cNvPr id="3" name="文本占位符 2"/>
          <p:cNvSpPr>
            <a:spLocks noGrp="1"/>
          </p:cNvSpPr>
          <p:nvPr>
            <p:ph type="body" sz="quarter" idx="10"/>
          </p:nvPr>
        </p:nvSpPr>
        <p:spPr bwMode="gray">
          <a:xfrm>
            <a:off x="455612" y="1047750"/>
            <a:ext cx="11293475" cy="888839"/>
          </a:xfrm>
        </p:spPr>
        <p:txBody>
          <a:bodyPr/>
          <a:lstStyle/>
          <a:p>
            <a:r>
              <a:rPr lang="zh-CN" altLang="en-US" sz="1800" dirty="0"/>
              <a:t>在“配置”</a:t>
            </a:r>
            <a:r>
              <a:rPr lang="en-US" altLang="zh-CN" sz="1800" dirty="0"/>
              <a:t>-</a:t>
            </a:r>
            <a:r>
              <a:rPr lang="zh-CN" altLang="en-US" sz="1800" dirty="0"/>
              <a:t>“站点配置”中选择交换机的</a:t>
            </a:r>
            <a:r>
              <a:rPr lang="zh-CN" altLang="en-US" sz="1800" dirty="0" smtClean="0"/>
              <a:t>“子网”</a:t>
            </a:r>
            <a:r>
              <a:rPr lang="zh-CN" altLang="en-US" sz="1800" dirty="0"/>
              <a:t>功能</a:t>
            </a:r>
            <a:r>
              <a:rPr lang="zh-CN" altLang="en-US" sz="1800" dirty="0" smtClean="0"/>
              <a:t>，创建子网，用于</a:t>
            </a:r>
            <a:r>
              <a:rPr lang="en-US" altLang="zh-CN" sz="1800" dirty="0" smtClean="0"/>
              <a:t>AP</a:t>
            </a:r>
            <a:r>
              <a:rPr lang="zh-CN" altLang="en-US" sz="1800" dirty="0" smtClean="0"/>
              <a:t>上线。</a:t>
            </a:r>
            <a:endParaRPr lang="en-US" altLang="zh-CN" sz="1800" dirty="0" smtClean="0"/>
          </a:p>
          <a:p>
            <a:r>
              <a:rPr lang="zh-CN" altLang="en-US" sz="1800" dirty="0" smtClean="0"/>
              <a:t>通过该子网，</a:t>
            </a:r>
            <a:r>
              <a:rPr lang="en-US" altLang="zh-CN" sz="1800" dirty="0" smtClean="0"/>
              <a:t>AP</a:t>
            </a:r>
            <a:r>
              <a:rPr lang="zh-CN" altLang="en-US" sz="1800" dirty="0" smtClean="0"/>
              <a:t>可获得</a:t>
            </a:r>
            <a:r>
              <a:rPr lang="en-US" altLang="zh-CN" sz="1800" dirty="0" smtClean="0"/>
              <a:t>AC</a:t>
            </a:r>
            <a:r>
              <a:rPr lang="zh-CN" altLang="en-US" sz="1800" dirty="0" smtClean="0"/>
              <a:t>地址及控制器</a:t>
            </a:r>
            <a:r>
              <a:rPr lang="en-US" altLang="zh-CN" sz="1800" dirty="0" smtClean="0"/>
              <a:t>IP</a:t>
            </a:r>
            <a:r>
              <a:rPr lang="zh-CN" altLang="en-US" sz="1800" dirty="0" smtClean="0"/>
              <a:t>地址。</a:t>
            </a:r>
            <a:endParaRPr lang="en-US" altLang="zh-CN" sz="1800" dirty="0" smtClean="0"/>
          </a:p>
        </p:txBody>
      </p:sp>
      <p:pic>
        <p:nvPicPr>
          <p:cNvPr id="4" name="图片 3"/>
          <p:cNvPicPr>
            <a:picLocks noChangeAspect="1"/>
          </p:cNvPicPr>
          <p:nvPr/>
        </p:nvPicPr>
        <p:blipFill rotWithShape="1">
          <a:blip r:embed="rId3"/>
          <a:srcRect r="43516"/>
          <a:stretch/>
        </p:blipFill>
        <p:spPr bwMode="gray">
          <a:xfrm>
            <a:off x="865926" y="2050890"/>
            <a:ext cx="4376030" cy="3636712"/>
          </a:xfrm>
          <a:prstGeom prst="rect">
            <a:avLst/>
          </a:prstGeom>
          <a:ln w="12700">
            <a:solidFill>
              <a:schemeClr val="bg1">
                <a:lumMod val="85000"/>
              </a:schemeClr>
            </a:solidFill>
          </a:ln>
        </p:spPr>
      </p:pic>
      <p:pic>
        <p:nvPicPr>
          <p:cNvPr id="6" name="图片 5"/>
          <p:cNvPicPr>
            <a:picLocks noChangeAspect="1"/>
          </p:cNvPicPr>
          <p:nvPr/>
        </p:nvPicPr>
        <p:blipFill>
          <a:blip r:embed="rId4"/>
          <a:stretch>
            <a:fillRect/>
          </a:stretch>
        </p:blipFill>
        <p:spPr bwMode="gray">
          <a:xfrm>
            <a:off x="6096000" y="1609942"/>
            <a:ext cx="5624483" cy="4503366"/>
          </a:xfrm>
          <a:prstGeom prst="rect">
            <a:avLst/>
          </a:prstGeom>
          <a:ln w="12700">
            <a:solidFill>
              <a:schemeClr val="bg1">
                <a:lumMod val="85000"/>
              </a:schemeClr>
            </a:solidFill>
          </a:ln>
        </p:spPr>
      </p:pic>
      <p:sp>
        <p:nvSpPr>
          <p:cNvPr id="21" name="TextBox 179"/>
          <p:cNvSpPr txBox="1"/>
          <p:nvPr/>
        </p:nvSpPr>
        <p:spPr bwMode="gray">
          <a:xfrm>
            <a:off x="865926" y="5288624"/>
            <a:ext cx="2654828" cy="398978"/>
          </a:xfrm>
          <a:prstGeom prst="roundRect">
            <a:avLst>
              <a:gd name="adj" fmla="val 12806"/>
            </a:avLst>
          </a:prstGeom>
          <a:solidFill>
            <a:srgbClr val="30B5C5"/>
          </a:solidFill>
          <a:ln>
            <a:noFill/>
          </a:ln>
        </p:spPr>
        <p:txBody>
          <a:bodyPr wrap="square" lIns="72000" tIns="72000" rIns="72000" bIns="72000" anchor="ctr" anchorCtr="0">
            <a:noAutofit/>
          </a:bodyPr>
          <a:lstStyle>
            <a:defPPr>
              <a:defRPr lang="en-US"/>
            </a:defPPr>
            <a:lvl1pPr algn="ctr" defTabSz="914478">
              <a:defRPr sz="1200">
                <a:solidFill>
                  <a:schemeClr val="bg1"/>
                </a:solidFill>
              </a:defRPr>
            </a:lvl1pPr>
            <a:lvl2pPr marL="457240" defTabSz="914478"/>
            <a:lvl3pPr marL="914478" defTabSz="914478"/>
            <a:lvl4pPr marL="1371718" defTabSz="914478"/>
            <a:lvl5pPr marL="1828957" defTabSz="914478"/>
            <a:lvl6pPr marL="2286196" defTabSz="914478"/>
            <a:lvl7pPr marL="2743435" defTabSz="914478"/>
            <a:lvl8pPr marL="3200675" defTabSz="914478"/>
            <a:lvl9pPr marL="3657913" defTabSz="914478"/>
          </a:lstStyle>
          <a:p>
            <a:pPr algn="l"/>
            <a:r>
              <a:rPr lang="en-US" altLang="zh-CN" dirty="0" smtClean="0"/>
              <a:t>1. </a:t>
            </a:r>
            <a:r>
              <a:rPr lang="zh-CN" altLang="en-US" dirty="0" smtClean="0"/>
              <a:t>设置子网名称和管理</a:t>
            </a:r>
            <a:r>
              <a:rPr lang="en-US" altLang="zh-CN" dirty="0" smtClean="0"/>
              <a:t>VLAN</a:t>
            </a:r>
            <a:r>
              <a:rPr lang="zh-CN" altLang="en-US" dirty="0" smtClean="0"/>
              <a:t>，选择</a:t>
            </a:r>
            <a:r>
              <a:rPr lang="en-US" altLang="zh-CN" dirty="0" smtClean="0"/>
              <a:t>AP</a:t>
            </a:r>
            <a:r>
              <a:rPr lang="zh-CN" altLang="en-US" dirty="0" smtClean="0"/>
              <a:t>的</a:t>
            </a:r>
            <a:r>
              <a:rPr lang="en-US" altLang="zh-CN" dirty="0" smtClean="0"/>
              <a:t>IP</a:t>
            </a:r>
            <a:r>
              <a:rPr lang="zh-CN" altLang="en-US" dirty="0" smtClean="0"/>
              <a:t>获取方式并设置</a:t>
            </a:r>
            <a:r>
              <a:rPr lang="en-US" altLang="zh-CN" dirty="0" smtClean="0"/>
              <a:t>AP</a:t>
            </a:r>
            <a:r>
              <a:rPr lang="zh-CN" altLang="en-US" dirty="0" smtClean="0"/>
              <a:t>管理网段。</a:t>
            </a:r>
            <a:endParaRPr lang="zh-CN" altLang="en-US" dirty="0"/>
          </a:p>
        </p:txBody>
      </p:sp>
      <p:sp>
        <p:nvSpPr>
          <p:cNvPr id="22" name="TextBox 179"/>
          <p:cNvSpPr txBox="1"/>
          <p:nvPr/>
        </p:nvSpPr>
        <p:spPr bwMode="gray">
          <a:xfrm>
            <a:off x="8908241" y="5060887"/>
            <a:ext cx="2686364" cy="635768"/>
          </a:xfrm>
          <a:prstGeom prst="roundRect">
            <a:avLst>
              <a:gd name="adj" fmla="val 12806"/>
            </a:avLst>
          </a:prstGeom>
          <a:solidFill>
            <a:srgbClr val="30B5C5"/>
          </a:solidFill>
          <a:ln>
            <a:noFill/>
          </a:ln>
        </p:spPr>
        <p:txBody>
          <a:bodyPr wrap="square" lIns="72000" tIns="72000" rIns="72000" bIns="72000" anchor="ctr" anchorCtr="0">
            <a:noAutofit/>
          </a:bodyPr>
          <a:lstStyle>
            <a:defPPr>
              <a:defRPr lang="en-US"/>
            </a:defPPr>
            <a:lvl1pPr algn="ctr" defTabSz="914478">
              <a:defRPr sz="1200">
                <a:solidFill>
                  <a:schemeClr val="bg1"/>
                </a:solidFill>
              </a:defRPr>
            </a:lvl1pPr>
            <a:lvl2pPr marL="457240" defTabSz="914478"/>
            <a:lvl3pPr marL="914478" defTabSz="914478"/>
            <a:lvl4pPr marL="1371718" defTabSz="914478"/>
            <a:lvl5pPr marL="1828957" defTabSz="914478"/>
            <a:lvl6pPr marL="2286196" defTabSz="914478"/>
            <a:lvl7pPr marL="2743435" defTabSz="914478"/>
            <a:lvl8pPr marL="3200675" defTabSz="914478"/>
            <a:lvl9pPr marL="3657913" defTabSz="914478"/>
          </a:lstStyle>
          <a:p>
            <a:pPr algn="l"/>
            <a:r>
              <a:rPr lang="en-US" altLang="zh-CN" dirty="0" smtClean="0"/>
              <a:t>2. </a:t>
            </a:r>
            <a:r>
              <a:rPr lang="zh-CN" altLang="en-US" dirty="0" smtClean="0"/>
              <a:t>开启</a:t>
            </a:r>
            <a:r>
              <a:rPr lang="en-US" altLang="zh-CN" dirty="0" smtClean="0"/>
              <a:t>DHCP</a:t>
            </a:r>
            <a:r>
              <a:rPr lang="zh-CN" altLang="en-US" dirty="0" smtClean="0"/>
              <a:t>功能，设置</a:t>
            </a:r>
            <a:r>
              <a:rPr lang="en-US" altLang="zh-CN" dirty="0" smtClean="0"/>
              <a:t>AP</a:t>
            </a:r>
            <a:r>
              <a:rPr lang="zh-CN" altLang="en-US" dirty="0" smtClean="0"/>
              <a:t>为</a:t>
            </a:r>
            <a:r>
              <a:rPr lang="en-US" altLang="zh-CN" dirty="0" smtClean="0"/>
              <a:t>Fit AP</a:t>
            </a:r>
            <a:r>
              <a:rPr lang="zh-CN" altLang="en-US" dirty="0" smtClean="0"/>
              <a:t>模式，并开启自动协商控制器和随板</a:t>
            </a:r>
            <a:r>
              <a:rPr lang="en-US" altLang="zh-CN" dirty="0" smtClean="0"/>
              <a:t>AC</a:t>
            </a:r>
            <a:r>
              <a:rPr lang="zh-CN" altLang="en-US" dirty="0" smtClean="0"/>
              <a:t>地址功能。</a:t>
            </a:r>
            <a:endParaRPr lang="zh-CN" altLang="en-US" dirty="0"/>
          </a:p>
        </p:txBody>
      </p:sp>
      <p:sp>
        <p:nvSpPr>
          <p:cNvPr id="23" name="五边形 22"/>
          <p:cNvSpPr/>
          <p:nvPr/>
        </p:nvSpPr>
        <p:spPr bwMode="gray">
          <a:xfrm>
            <a:off x="5773628" y="98481"/>
            <a:ext cx="9000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smtClean="0">
                <a:latin typeface="Huawei Sans" panose="020C0503030203020204" pitchFamily="34" charset="0"/>
                <a:ea typeface="方正兰亭黑简体" panose="02000000000000000000" pitchFamily="2" charset="-122"/>
                <a:sym typeface="Huawei Sans" panose="020C0503030203020204" pitchFamily="34" charset="0"/>
              </a:rPr>
              <a:t>站点管理</a:t>
            </a:r>
            <a:endPar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4" name="燕尾形 23"/>
          <p:cNvSpPr/>
          <p:nvPr/>
        </p:nvSpPr>
        <p:spPr bwMode="gray">
          <a:xfrm>
            <a:off x="9109268" y="9848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逻辑网络</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5" name="燕尾形 24"/>
          <p:cNvSpPr/>
          <p:nvPr/>
        </p:nvSpPr>
        <p:spPr bwMode="gray">
          <a:xfrm>
            <a:off x="9925178" y="9848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业务部署</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6" name="燕尾形 25"/>
          <p:cNvSpPr/>
          <p:nvPr/>
        </p:nvSpPr>
        <p:spPr bwMode="gray">
          <a:xfrm>
            <a:off x="8221358" y="98481"/>
            <a:ext cx="972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Fabric</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网络</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7" name="燕尾形 26"/>
          <p:cNvSpPr/>
          <p:nvPr/>
        </p:nvSpPr>
        <p:spPr bwMode="gray">
          <a:xfrm>
            <a:off x="7405448" y="9848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网络规划</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8" name="燕尾形 27"/>
          <p:cNvSpPr/>
          <p:nvPr/>
        </p:nvSpPr>
        <p:spPr bwMode="gray">
          <a:xfrm>
            <a:off x="6589538" y="9848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设备管理</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9" name="燕尾形 28"/>
          <p:cNvSpPr/>
          <p:nvPr/>
        </p:nvSpPr>
        <p:spPr bwMode="gray">
          <a:xfrm>
            <a:off x="10741088" y="98481"/>
            <a:ext cx="10080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WLAN</a:t>
            </a: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业务</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165039782"/>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normAutofit/>
          </a:bodyPr>
          <a:lstStyle/>
          <a:p>
            <a:r>
              <a:rPr lang="zh-CN" altLang="en-US" dirty="0"/>
              <a:t>实验</a:t>
            </a:r>
            <a:r>
              <a:rPr lang="zh-CN" altLang="en-US" dirty="0" smtClean="0"/>
              <a:t>：</a:t>
            </a:r>
            <a:r>
              <a:rPr lang="en-US" altLang="zh-CN" dirty="0" smtClean="0"/>
              <a:t>AP</a:t>
            </a:r>
            <a:r>
              <a:rPr lang="zh-CN" altLang="en-US" dirty="0" smtClean="0"/>
              <a:t>上线 </a:t>
            </a:r>
            <a:r>
              <a:rPr lang="en-US" altLang="zh-CN" dirty="0" smtClean="0"/>
              <a:t>(3)</a:t>
            </a:r>
            <a:endParaRPr lang="zh-CN" altLang="en-US" dirty="0"/>
          </a:p>
        </p:txBody>
      </p:sp>
      <p:sp>
        <p:nvSpPr>
          <p:cNvPr id="3" name="文本占位符 2"/>
          <p:cNvSpPr>
            <a:spLocks noGrp="1"/>
          </p:cNvSpPr>
          <p:nvPr>
            <p:ph type="body" sz="quarter" idx="10"/>
          </p:nvPr>
        </p:nvSpPr>
        <p:spPr bwMode="gray">
          <a:xfrm>
            <a:off x="455612" y="1047750"/>
            <a:ext cx="11293475" cy="436563"/>
          </a:xfrm>
        </p:spPr>
        <p:txBody>
          <a:bodyPr/>
          <a:lstStyle/>
          <a:p>
            <a:r>
              <a:rPr lang="zh-CN" altLang="en-US" sz="1800" dirty="0"/>
              <a:t>在“配置”</a:t>
            </a:r>
            <a:r>
              <a:rPr lang="en-US" altLang="zh-CN" sz="1800" dirty="0"/>
              <a:t>-</a:t>
            </a:r>
            <a:r>
              <a:rPr lang="zh-CN" altLang="en-US" sz="1800" dirty="0"/>
              <a:t>“站点配置”中</a:t>
            </a:r>
            <a:r>
              <a:rPr lang="zh-CN" altLang="en-US" sz="1800" dirty="0" smtClean="0"/>
              <a:t>选择站点的“管理</a:t>
            </a:r>
            <a:r>
              <a:rPr lang="en-US" altLang="zh-CN" sz="1800" dirty="0" smtClean="0"/>
              <a:t>VLAN</a:t>
            </a:r>
            <a:r>
              <a:rPr lang="zh-CN" altLang="en-US" sz="1800" dirty="0" smtClean="0"/>
              <a:t>”</a:t>
            </a:r>
            <a:r>
              <a:rPr lang="zh-CN" altLang="en-US" sz="1800" dirty="0"/>
              <a:t>功能</a:t>
            </a:r>
            <a:r>
              <a:rPr lang="zh-CN" altLang="en-US" sz="1800" dirty="0" smtClean="0"/>
              <a:t>，设置</a:t>
            </a:r>
            <a:r>
              <a:rPr lang="en-US" altLang="zh-CN" sz="1800" dirty="0" smtClean="0"/>
              <a:t>Border</a:t>
            </a:r>
            <a:r>
              <a:rPr lang="zh-CN" altLang="en-US" sz="1800" dirty="0" smtClean="0"/>
              <a:t>的无线</a:t>
            </a:r>
            <a:r>
              <a:rPr lang="en-US" altLang="zh-CN" sz="1800" dirty="0" smtClean="0"/>
              <a:t>PnP VLAN</a:t>
            </a:r>
            <a:r>
              <a:rPr lang="zh-CN" altLang="en-US" sz="1800" dirty="0" smtClean="0"/>
              <a:t>。</a:t>
            </a:r>
            <a:endParaRPr lang="en-US" altLang="zh-CN" sz="1800" dirty="0" smtClean="0"/>
          </a:p>
        </p:txBody>
      </p:sp>
      <p:pic>
        <p:nvPicPr>
          <p:cNvPr id="7" name="图片 6"/>
          <p:cNvPicPr>
            <a:picLocks noChangeAspect="1"/>
          </p:cNvPicPr>
          <p:nvPr/>
        </p:nvPicPr>
        <p:blipFill>
          <a:blip r:embed="rId3"/>
          <a:stretch>
            <a:fillRect/>
          </a:stretch>
        </p:blipFill>
        <p:spPr bwMode="gray">
          <a:xfrm>
            <a:off x="1132295" y="1593594"/>
            <a:ext cx="3810340" cy="2737681"/>
          </a:xfrm>
          <a:prstGeom prst="rect">
            <a:avLst/>
          </a:prstGeom>
          <a:ln w="12700">
            <a:solidFill>
              <a:schemeClr val="bg1">
                <a:lumMod val="85000"/>
              </a:schemeClr>
            </a:solidFill>
          </a:ln>
        </p:spPr>
      </p:pic>
      <p:sp>
        <p:nvSpPr>
          <p:cNvPr id="19" name="文本占位符 2"/>
          <p:cNvSpPr txBox="1">
            <a:spLocks/>
          </p:cNvSpPr>
          <p:nvPr/>
        </p:nvSpPr>
        <p:spPr bwMode="gray">
          <a:xfrm>
            <a:off x="455612" y="4440555"/>
            <a:ext cx="11293475" cy="825468"/>
          </a:xfrm>
          <a:prstGeom prst="rect">
            <a:avLst/>
          </a:prstGeom>
          <a:noFill/>
          <a:ln w="9525">
            <a:noFill/>
            <a:miter lim="800000"/>
            <a:headEnd/>
            <a:tailEnd/>
          </a:ln>
        </p:spPr>
        <p:txBody>
          <a:bodyPr vert="horz" wrap="square" lIns="80141" tIns="40071" rIns="80141" bIns="40071" numCol="1" anchor="t" anchorCtr="0" compatLnSpc="1">
            <a:prstTxWarp prst="textNoShape">
              <a:avLst/>
            </a:prstTxWarp>
          </a:bodyPr>
          <a:lstStyle>
            <a:lvl1pPr marL="302279" indent="-302279" algn="just" defTabSz="914034" rtl="0" eaLnBrk="1" fontAlgn="ctr" latinLnBrk="0" hangingPunct="1">
              <a:lnSpc>
                <a:spcPct val="140000"/>
              </a:lnSpc>
              <a:spcBef>
                <a:spcPts val="792"/>
              </a:spcBef>
              <a:buClrTx/>
              <a:buSzPct val="50000"/>
              <a:buFont typeface="Wingdings" panose="05000000000000000000" pitchFamily="2" charset="2"/>
              <a:buChar char="l"/>
              <a:defRPr sz="2199" kern="1200" baseline="0">
                <a:solidFill>
                  <a:schemeClr val="tx1"/>
                </a:solidFill>
                <a:latin typeface="Huawei Sans" panose="020C0503030203020204" pitchFamily="34" charset="0"/>
                <a:ea typeface="方正兰亭黑简体" panose="02000000000000000000" pitchFamily="2" charset="-122"/>
                <a:cs typeface="Huawei Sans" panose="020C0503030203020204" pitchFamily="34" charset="0"/>
              </a:defRPr>
            </a:lvl1pPr>
            <a:lvl2pPr marL="654938" indent="-251899" algn="l" defTabSz="914034" rtl="0" eaLnBrk="1" fontAlgn="ctr" latinLnBrk="0" hangingPunct="1">
              <a:lnSpc>
                <a:spcPct val="140000"/>
              </a:lnSpc>
              <a:spcBef>
                <a:spcPts val="720"/>
              </a:spcBef>
              <a:buClrTx/>
              <a:buSzPct val="50000"/>
              <a:buFont typeface="Wingdings" panose="05000000000000000000" pitchFamily="2" charset="2"/>
              <a:buChar char="p"/>
              <a:defRPr sz="1999" kern="1200" baseline="0">
                <a:solidFill>
                  <a:schemeClr val="tx1"/>
                </a:solidFill>
                <a:latin typeface="Huawei Sans" panose="020C0503030203020204" pitchFamily="34" charset="0"/>
                <a:ea typeface="方正兰亭黑简体" panose="02000000000000000000" pitchFamily="2" charset="-122"/>
                <a:cs typeface="+mn-cs"/>
              </a:defRPr>
            </a:lvl2pPr>
            <a:lvl3pPr marL="1003998" indent="-201519" algn="l" defTabSz="914034" rtl="0" eaLnBrk="1" fontAlgn="ctr" latinLnBrk="0" hangingPunct="1">
              <a:lnSpc>
                <a:spcPct val="140000"/>
              </a:lnSpc>
              <a:spcBef>
                <a:spcPts val="648"/>
              </a:spcBef>
              <a:buClrTx/>
              <a:buSzPct val="50000"/>
              <a:buFont typeface="Wingdings" panose="05000000000000000000" pitchFamily="2" charset="2"/>
              <a:buChar char="n"/>
              <a:defRPr sz="1799" kern="1200" baseline="0">
                <a:solidFill>
                  <a:schemeClr val="tx1"/>
                </a:solidFill>
                <a:latin typeface="Huawei Sans" panose="020C0503030203020204" pitchFamily="34" charset="0"/>
                <a:ea typeface="方正兰亭黑简体" panose="02000000000000000000" pitchFamily="2" charset="-122"/>
                <a:cs typeface="+mn-cs"/>
              </a:defRPr>
            </a:lvl3pPr>
            <a:lvl4pPr marL="1399840" indent="-197921" algn="l" defTabSz="914034" rtl="0" eaLnBrk="1" fontAlgn="ctr" latinLnBrk="0" hangingPunct="1">
              <a:lnSpc>
                <a:spcPct val="140000"/>
              </a:lnSpc>
              <a:spcBef>
                <a:spcPts val="576"/>
              </a:spcBef>
              <a:buFont typeface="Huawei Sans" panose="020C0503030203020204" pitchFamily="34" charset="0"/>
              <a:buChar char="−"/>
              <a:defRPr sz="1599" kern="1200" baseline="0">
                <a:solidFill>
                  <a:schemeClr val="tx1"/>
                </a:solidFill>
                <a:latin typeface="Huawei Sans" panose="020C0503030203020204" pitchFamily="34" charset="0"/>
                <a:ea typeface="方正兰亭黑简体" panose="02000000000000000000" pitchFamily="2" charset="-122"/>
                <a:cs typeface="+mn-cs"/>
              </a:defRPr>
            </a:lvl4pPr>
            <a:lvl5pPr marL="1802879" indent="-201519" algn="l" defTabSz="914034" rtl="0" eaLnBrk="1" fontAlgn="ctr" latinLnBrk="0" hangingPunct="1">
              <a:lnSpc>
                <a:spcPct val="140000"/>
              </a:lnSpc>
              <a:spcBef>
                <a:spcPts val="576"/>
              </a:spcBef>
              <a:buFont typeface="Huawei Sans" panose="020C0503030203020204" pitchFamily="34" charset="0"/>
              <a:buChar char="~"/>
              <a:defRPr sz="1399" kern="1200" baseline="0">
                <a:solidFill>
                  <a:schemeClr val="tx1"/>
                </a:solidFill>
                <a:latin typeface="Huawei Sans" panose="020C0503030203020204" pitchFamily="34" charset="0"/>
                <a:ea typeface="方正兰亭黑简体" panose="02000000000000000000" pitchFamily="2" charset="-122"/>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r>
              <a:rPr lang="zh-CN" altLang="en-US" sz="1800" dirty="0"/>
              <a:t>最后</a:t>
            </a:r>
            <a:r>
              <a:rPr lang="zh-CN" altLang="en-US" sz="1800" dirty="0" smtClean="0"/>
              <a:t>在</a:t>
            </a:r>
            <a:r>
              <a:rPr lang="en-US" altLang="zh-CN" sz="1800" dirty="0"/>
              <a:t>Border</a:t>
            </a:r>
            <a:r>
              <a:rPr lang="zh-CN" altLang="en-US" sz="1800" dirty="0"/>
              <a:t>的</a:t>
            </a:r>
            <a:r>
              <a:rPr lang="en-US" altLang="zh-CN" sz="1800" dirty="0"/>
              <a:t>CLI</a:t>
            </a:r>
            <a:r>
              <a:rPr lang="zh-CN" altLang="en-US" sz="1800" dirty="0"/>
              <a:t>中设置</a:t>
            </a:r>
            <a:r>
              <a:rPr lang="en-US" altLang="zh-CN" sz="1800" dirty="0"/>
              <a:t>CAPWAP</a:t>
            </a:r>
            <a:r>
              <a:rPr lang="zh-CN" altLang="en-US" sz="1800" dirty="0"/>
              <a:t>隧道</a:t>
            </a:r>
            <a:r>
              <a:rPr lang="zh-CN" altLang="en-US" sz="1800" dirty="0" smtClean="0"/>
              <a:t>源地址，</a:t>
            </a:r>
            <a:r>
              <a:rPr lang="en-US" altLang="zh-CN" sz="1800" dirty="0" smtClean="0"/>
              <a:t>AP</a:t>
            </a:r>
            <a:r>
              <a:rPr lang="zh-CN" altLang="en-US" sz="1800" dirty="0" smtClean="0"/>
              <a:t>即可通过</a:t>
            </a:r>
            <a:r>
              <a:rPr lang="en-US" altLang="zh-CN" sz="1800" dirty="0" smtClean="0"/>
              <a:t>VLANIF2</a:t>
            </a:r>
            <a:r>
              <a:rPr lang="zh-CN" altLang="en-US" sz="1800" dirty="0" smtClean="0"/>
              <a:t>的地址池获取</a:t>
            </a:r>
            <a:r>
              <a:rPr lang="en-US" altLang="zh-CN" sz="1800" dirty="0" smtClean="0"/>
              <a:t>IP</a:t>
            </a:r>
            <a:r>
              <a:rPr lang="zh-CN" altLang="en-US" sz="1800" dirty="0" smtClean="0"/>
              <a:t>地址、</a:t>
            </a:r>
            <a:r>
              <a:rPr lang="en-US" altLang="zh-CN" sz="1800" dirty="0" smtClean="0"/>
              <a:t>AC</a:t>
            </a:r>
            <a:r>
              <a:rPr lang="zh-CN" altLang="en-US" sz="1800" dirty="0" smtClean="0"/>
              <a:t>地址、控制器地址，并成功在</a:t>
            </a:r>
            <a:r>
              <a:rPr lang="en-US" altLang="zh-CN" sz="1800" dirty="0" smtClean="0"/>
              <a:t>Border</a:t>
            </a:r>
            <a:r>
              <a:rPr lang="zh-CN" altLang="en-US" sz="1800" dirty="0" smtClean="0"/>
              <a:t>和控制器上注册，此时</a:t>
            </a:r>
            <a:r>
              <a:rPr lang="en-US" altLang="zh-CN" sz="1800" dirty="0" smtClean="0"/>
              <a:t>AP</a:t>
            </a:r>
            <a:r>
              <a:rPr lang="zh-CN" altLang="en-US" sz="1800" dirty="0" smtClean="0"/>
              <a:t>状态为正常。</a:t>
            </a:r>
            <a:endParaRPr lang="en-US" altLang="zh-CN" sz="1800" dirty="0" smtClean="0"/>
          </a:p>
        </p:txBody>
      </p:sp>
      <p:pic>
        <p:nvPicPr>
          <p:cNvPr id="8" name="图片 7"/>
          <p:cNvPicPr>
            <a:picLocks noChangeAspect="1"/>
          </p:cNvPicPr>
          <p:nvPr/>
        </p:nvPicPr>
        <p:blipFill>
          <a:blip r:embed="rId4"/>
          <a:stretch>
            <a:fillRect/>
          </a:stretch>
        </p:blipFill>
        <p:spPr bwMode="gray">
          <a:xfrm>
            <a:off x="1132295" y="5375304"/>
            <a:ext cx="10329392" cy="623662"/>
          </a:xfrm>
          <a:prstGeom prst="rect">
            <a:avLst/>
          </a:prstGeom>
          <a:ln w="12700">
            <a:solidFill>
              <a:schemeClr val="bg1">
                <a:lumMod val="85000"/>
              </a:schemeClr>
            </a:solidFill>
          </a:ln>
        </p:spPr>
      </p:pic>
      <p:sp>
        <p:nvSpPr>
          <p:cNvPr id="20" name="五边形 19"/>
          <p:cNvSpPr/>
          <p:nvPr/>
        </p:nvSpPr>
        <p:spPr bwMode="gray">
          <a:xfrm>
            <a:off x="5773628" y="98481"/>
            <a:ext cx="9000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smtClean="0">
                <a:latin typeface="Huawei Sans" panose="020C0503030203020204" pitchFamily="34" charset="0"/>
                <a:ea typeface="方正兰亭黑简体" panose="02000000000000000000" pitchFamily="2" charset="-122"/>
                <a:sym typeface="Huawei Sans" panose="020C0503030203020204" pitchFamily="34" charset="0"/>
              </a:rPr>
              <a:t>站点管理</a:t>
            </a:r>
            <a:endPar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3" name="燕尾形 22"/>
          <p:cNvSpPr/>
          <p:nvPr/>
        </p:nvSpPr>
        <p:spPr bwMode="gray">
          <a:xfrm>
            <a:off x="9109268" y="9848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逻辑网络</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4" name="燕尾形 23"/>
          <p:cNvSpPr/>
          <p:nvPr/>
        </p:nvSpPr>
        <p:spPr bwMode="gray">
          <a:xfrm>
            <a:off x="9925178" y="9848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业务部署</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5" name="燕尾形 24"/>
          <p:cNvSpPr/>
          <p:nvPr/>
        </p:nvSpPr>
        <p:spPr bwMode="gray">
          <a:xfrm>
            <a:off x="8221358" y="98481"/>
            <a:ext cx="972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Fabric</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网络</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6" name="燕尾形 25"/>
          <p:cNvSpPr/>
          <p:nvPr/>
        </p:nvSpPr>
        <p:spPr bwMode="gray">
          <a:xfrm>
            <a:off x="7405448" y="9848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网络规划</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7" name="燕尾形 26"/>
          <p:cNvSpPr/>
          <p:nvPr/>
        </p:nvSpPr>
        <p:spPr bwMode="gray">
          <a:xfrm>
            <a:off x="6589538" y="9848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设备管理</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8" name="燕尾形 27"/>
          <p:cNvSpPr/>
          <p:nvPr/>
        </p:nvSpPr>
        <p:spPr bwMode="gray">
          <a:xfrm>
            <a:off x="10741088" y="98481"/>
            <a:ext cx="10080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WLAN</a:t>
            </a: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业务</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1533160691"/>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normAutofit/>
          </a:bodyPr>
          <a:lstStyle/>
          <a:p>
            <a:r>
              <a:rPr lang="zh-CN" altLang="en-US" dirty="0"/>
              <a:t>实验</a:t>
            </a:r>
            <a:r>
              <a:rPr lang="zh-CN" altLang="en-US" dirty="0" smtClean="0"/>
              <a:t>：控制器侧无线业务配置 </a:t>
            </a:r>
            <a:r>
              <a:rPr lang="en-US" altLang="zh-CN" dirty="0" smtClean="0"/>
              <a:t>(1)</a:t>
            </a:r>
            <a:endParaRPr lang="zh-CN" altLang="en-US" dirty="0"/>
          </a:p>
        </p:txBody>
      </p:sp>
      <p:sp>
        <p:nvSpPr>
          <p:cNvPr id="3" name="文本占位符 2"/>
          <p:cNvSpPr>
            <a:spLocks noGrp="1"/>
          </p:cNvSpPr>
          <p:nvPr>
            <p:ph type="body" sz="quarter" idx="10"/>
          </p:nvPr>
        </p:nvSpPr>
        <p:spPr bwMode="gray">
          <a:xfrm>
            <a:off x="455612" y="1047750"/>
            <a:ext cx="11293475" cy="436563"/>
          </a:xfrm>
        </p:spPr>
        <p:txBody>
          <a:bodyPr/>
          <a:lstStyle/>
          <a:p>
            <a:r>
              <a:rPr lang="zh-CN" altLang="en-US" sz="1800" dirty="0"/>
              <a:t>在“配置”</a:t>
            </a:r>
            <a:r>
              <a:rPr lang="en-US" altLang="zh-CN" sz="1800" dirty="0" smtClean="0"/>
              <a:t>-</a:t>
            </a:r>
            <a:r>
              <a:rPr lang="zh-CN" altLang="en-US" sz="1800" dirty="0" smtClean="0"/>
              <a:t>“站点配置”</a:t>
            </a:r>
            <a:r>
              <a:rPr lang="zh-CN" altLang="en-US" sz="1800" dirty="0"/>
              <a:t>中选择交换机的</a:t>
            </a:r>
            <a:r>
              <a:rPr lang="zh-CN" altLang="en-US" sz="1800" dirty="0" smtClean="0"/>
              <a:t>“无线认证”功能，创建无线认证。</a:t>
            </a:r>
            <a:endParaRPr lang="zh-CN" altLang="en-US" sz="1800" dirty="0"/>
          </a:p>
        </p:txBody>
      </p:sp>
      <p:pic>
        <p:nvPicPr>
          <p:cNvPr id="4" name="图片 3"/>
          <p:cNvPicPr>
            <a:picLocks noChangeAspect="1"/>
          </p:cNvPicPr>
          <p:nvPr/>
        </p:nvPicPr>
        <p:blipFill>
          <a:blip r:embed="rId3"/>
          <a:stretch>
            <a:fillRect/>
          </a:stretch>
        </p:blipFill>
        <p:spPr bwMode="gray">
          <a:xfrm>
            <a:off x="512465" y="2058644"/>
            <a:ext cx="4503156" cy="2579623"/>
          </a:xfrm>
          <a:prstGeom prst="rect">
            <a:avLst/>
          </a:prstGeom>
          <a:ln w="12700">
            <a:solidFill>
              <a:schemeClr val="bg1">
                <a:lumMod val="85000"/>
              </a:schemeClr>
            </a:solidFill>
          </a:ln>
        </p:spPr>
      </p:pic>
      <p:pic>
        <p:nvPicPr>
          <p:cNvPr id="6" name="图片 5"/>
          <p:cNvPicPr>
            <a:picLocks noChangeAspect="1"/>
          </p:cNvPicPr>
          <p:nvPr/>
        </p:nvPicPr>
        <p:blipFill>
          <a:blip r:embed="rId4"/>
          <a:stretch>
            <a:fillRect/>
          </a:stretch>
        </p:blipFill>
        <p:spPr bwMode="gray">
          <a:xfrm>
            <a:off x="5123470" y="2058644"/>
            <a:ext cx="6625617" cy="3714278"/>
          </a:xfrm>
          <a:prstGeom prst="rect">
            <a:avLst/>
          </a:prstGeom>
          <a:ln w="12700">
            <a:solidFill>
              <a:schemeClr val="bg1">
                <a:lumMod val="85000"/>
              </a:schemeClr>
            </a:solidFill>
          </a:ln>
        </p:spPr>
      </p:pic>
      <p:sp>
        <p:nvSpPr>
          <p:cNvPr id="20" name="TextBox 179"/>
          <p:cNvSpPr txBox="1"/>
          <p:nvPr/>
        </p:nvSpPr>
        <p:spPr bwMode="gray">
          <a:xfrm>
            <a:off x="2908427" y="1735910"/>
            <a:ext cx="2076450" cy="398978"/>
          </a:xfrm>
          <a:prstGeom prst="roundRect">
            <a:avLst>
              <a:gd name="adj" fmla="val 12806"/>
            </a:avLst>
          </a:prstGeom>
          <a:solidFill>
            <a:srgbClr val="30B5C5"/>
          </a:solidFill>
          <a:ln>
            <a:noFill/>
          </a:ln>
        </p:spPr>
        <p:txBody>
          <a:bodyPr wrap="square" lIns="72000" tIns="72000" rIns="72000" bIns="72000" anchor="ctr" anchorCtr="0">
            <a:noAutofit/>
          </a:bodyPr>
          <a:lstStyle>
            <a:defPPr>
              <a:defRPr lang="en-US"/>
            </a:defPPr>
            <a:lvl1pPr algn="ctr" defTabSz="914478">
              <a:defRPr sz="1200">
                <a:solidFill>
                  <a:schemeClr val="bg1"/>
                </a:solidFill>
              </a:defRPr>
            </a:lvl1pPr>
            <a:lvl2pPr marL="457240" defTabSz="914478"/>
            <a:lvl3pPr marL="914478" defTabSz="914478"/>
            <a:lvl4pPr marL="1371718" defTabSz="914478"/>
            <a:lvl5pPr marL="1828957" defTabSz="914478"/>
            <a:lvl6pPr marL="2286196" defTabSz="914478"/>
            <a:lvl7pPr marL="2743435" defTabSz="914478"/>
            <a:lvl8pPr marL="3200675" defTabSz="914478"/>
            <a:lvl9pPr marL="3657913" defTabSz="914478"/>
          </a:lstStyle>
          <a:p>
            <a:pPr algn="l"/>
            <a:r>
              <a:rPr lang="en-US" altLang="zh-CN" dirty="0" smtClean="0"/>
              <a:t>1. </a:t>
            </a:r>
            <a:r>
              <a:rPr lang="zh-CN" altLang="en-US" dirty="0" smtClean="0"/>
              <a:t>设置无线认证和</a:t>
            </a:r>
            <a:r>
              <a:rPr lang="en-US" altLang="zh-CN" dirty="0" smtClean="0"/>
              <a:t>SSID</a:t>
            </a:r>
            <a:r>
              <a:rPr lang="zh-CN" altLang="en-US" dirty="0" smtClean="0"/>
              <a:t>名称，选择认证方式。</a:t>
            </a:r>
            <a:endParaRPr lang="zh-CN" altLang="en-US" dirty="0"/>
          </a:p>
        </p:txBody>
      </p:sp>
      <p:sp>
        <p:nvSpPr>
          <p:cNvPr id="21" name="TextBox 179"/>
          <p:cNvSpPr txBox="1"/>
          <p:nvPr/>
        </p:nvSpPr>
        <p:spPr bwMode="gray">
          <a:xfrm>
            <a:off x="9272635" y="1735910"/>
            <a:ext cx="2076450" cy="398978"/>
          </a:xfrm>
          <a:prstGeom prst="roundRect">
            <a:avLst>
              <a:gd name="adj" fmla="val 12806"/>
            </a:avLst>
          </a:prstGeom>
          <a:solidFill>
            <a:srgbClr val="30B5C5"/>
          </a:solidFill>
          <a:ln>
            <a:noFill/>
          </a:ln>
        </p:spPr>
        <p:txBody>
          <a:bodyPr wrap="square" lIns="72000" tIns="72000" rIns="72000" bIns="72000" anchor="ctr" anchorCtr="0">
            <a:noAutofit/>
          </a:bodyPr>
          <a:lstStyle>
            <a:defPPr>
              <a:defRPr lang="en-US"/>
            </a:defPPr>
            <a:lvl1pPr algn="ctr" defTabSz="914478">
              <a:defRPr sz="1200">
                <a:solidFill>
                  <a:schemeClr val="bg1"/>
                </a:solidFill>
              </a:defRPr>
            </a:lvl1pPr>
            <a:lvl2pPr marL="457240" defTabSz="914478"/>
            <a:lvl3pPr marL="914478" defTabSz="914478"/>
            <a:lvl4pPr marL="1371718" defTabSz="914478"/>
            <a:lvl5pPr marL="1828957" defTabSz="914478"/>
            <a:lvl6pPr marL="2286196" defTabSz="914478"/>
            <a:lvl7pPr marL="2743435" defTabSz="914478"/>
            <a:lvl8pPr marL="3200675" defTabSz="914478"/>
            <a:lvl9pPr marL="3657913" defTabSz="914478"/>
          </a:lstStyle>
          <a:p>
            <a:pPr algn="l"/>
            <a:r>
              <a:rPr lang="en-US" altLang="zh-CN" dirty="0" smtClean="0"/>
              <a:t>2. </a:t>
            </a:r>
            <a:r>
              <a:rPr lang="zh-CN" altLang="en-US" dirty="0" smtClean="0"/>
              <a:t>设置页面推送方式，选择</a:t>
            </a:r>
            <a:r>
              <a:rPr lang="en-US" altLang="zh-CN" dirty="0" smtClean="0"/>
              <a:t>Portal</a:t>
            </a:r>
            <a:r>
              <a:rPr lang="zh-CN" altLang="en-US" dirty="0" smtClean="0"/>
              <a:t>和</a:t>
            </a:r>
            <a:r>
              <a:rPr lang="en-US" altLang="zh-CN" dirty="0" smtClean="0"/>
              <a:t>RADIUS</a:t>
            </a:r>
            <a:r>
              <a:rPr lang="zh-CN" altLang="en-US" dirty="0" smtClean="0"/>
              <a:t>服务器。</a:t>
            </a:r>
            <a:endParaRPr lang="zh-CN" altLang="en-US" dirty="0"/>
          </a:p>
        </p:txBody>
      </p:sp>
      <p:sp>
        <p:nvSpPr>
          <p:cNvPr id="22" name="五边形 21"/>
          <p:cNvSpPr/>
          <p:nvPr/>
        </p:nvSpPr>
        <p:spPr bwMode="gray">
          <a:xfrm>
            <a:off x="5773628" y="98481"/>
            <a:ext cx="9000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smtClean="0">
                <a:latin typeface="Huawei Sans" panose="020C0503030203020204" pitchFamily="34" charset="0"/>
                <a:ea typeface="方正兰亭黑简体" panose="02000000000000000000" pitchFamily="2" charset="-122"/>
                <a:sym typeface="Huawei Sans" panose="020C0503030203020204" pitchFamily="34" charset="0"/>
              </a:rPr>
              <a:t>站点管理</a:t>
            </a:r>
            <a:endPar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3" name="燕尾形 22"/>
          <p:cNvSpPr/>
          <p:nvPr/>
        </p:nvSpPr>
        <p:spPr bwMode="gray">
          <a:xfrm>
            <a:off x="9109268" y="9848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逻辑网络</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4" name="燕尾形 23"/>
          <p:cNvSpPr/>
          <p:nvPr/>
        </p:nvSpPr>
        <p:spPr bwMode="gray">
          <a:xfrm>
            <a:off x="9925178" y="9848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业务部署</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5" name="燕尾形 24"/>
          <p:cNvSpPr/>
          <p:nvPr/>
        </p:nvSpPr>
        <p:spPr bwMode="gray">
          <a:xfrm>
            <a:off x="8221358" y="98481"/>
            <a:ext cx="972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Fabric</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网络</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6" name="燕尾形 25"/>
          <p:cNvSpPr/>
          <p:nvPr/>
        </p:nvSpPr>
        <p:spPr bwMode="gray">
          <a:xfrm>
            <a:off x="7405448" y="9848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网络规划</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7" name="燕尾形 26"/>
          <p:cNvSpPr/>
          <p:nvPr/>
        </p:nvSpPr>
        <p:spPr bwMode="gray">
          <a:xfrm>
            <a:off x="6589538" y="9848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设备管理</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8" name="燕尾形 27"/>
          <p:cNvSpPr/>
          <p:nvPr/>
        </p:nvSpPr>
        <p:spPr bwMode="gray">
          <a:xfrm>
            <a:off x="10741088" y="98481"/>
            <a:ext cx="10080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WLAN</a:t>
            </a: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业务</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823554491"/>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3"/>
          <a:stretch>
            <a:fillRect/>
          </a:stretch>
        </p:blipFill>
        <p:spPr bwMode="gray">
          <a:xfrm>
            <a:off x="5123470" y="1539095"/>
            <a:ext cx="6562691" cy="2669154"/>
          </a:xfrm>
          <a:prstGeom prst="rect">
            <a:avLst/>
          </a:prstGeom>
          <a:ln w="12700">
            <a:solidFill>
              <a:schemeClr val="bg1">
                <a:lumMod val="85000"/>
              </a:schemeClr>
            </a:solidFill>
          </a:ln>
        </p:spPr>
      </p:pic>
      <p:pic>
        <p:nvPicPr>
          <p:cNvPr id="5" name="图片 4"/>
          <p:cNvPicPr>
            <a:picLocks noChangeAspect="1"/>
          </p:cNvPicPr>
          <p:nvPr/>
        </p:nvPicPr>
        <p:blipFill>
          <a:blip r:embed="rId4"/>
          <a:stretch>
            <a:fillRect/>
          </a:stretch>
        </p:blipFill>
        <p:spPr bwMode="gray">
          <a:xfrm>
            <a:off x="508583" y="1539094"/>
            <a:ext cx="4507038" cy="2669154"/>
          </a:xfrm>
          <a:prstGeom prst="rect">
            <a:avLst/>
          </a:prstGeom>
          <a:ln w="12700">
            <a:solidFill>
              <a:schemeClr val="bg1">
                <a:lumMod val="85000"/>
              </a:schemeClr>
            </a:solidFill>
          </a:ln>
        </p:spPr>
      </p:pic>
      <p:sp>
        <p:nvSpPr>
          <p:cNvPr id="2" name="标题 1"/>
          <p:cNvSpPr>
            <a:spLocks noGrp="1"/>
          </p:cNvSpPr>
          <p:nvPr>
            <p:ph type="title"/>
          </p:nvPr>
        </p:nvSpPr>
        <p:spPr bwMode="gray"/>
        <p:txBody>
          <a:bodyPr>
            <a:normAutofit/>
          </a:bodyPr>
          <a:lstStyle/>
          <a:p>
            <a:r>
              <a:rPr lang="zh-CN" altLang="en-US" dirty="0"/>
              <a:t>实验</a:t>
            </a:r>
            <a:r>
              <a:rPr lang="zh-CN" altLang="en-US" dirty="0" smtClean="0"/>
              <a:t>：控制器侧无线业务配置 </a:t>
            </a:r>
            <a:r>
              <a:rPr lang="en-US" altLang="zh-CN" dirty="0" smtClean="0"/>
              <a:t>(2)</a:t>
            </a:r>
            <a:endParaRPr lang="zh-CN" altLang="en-US" dirty="0"/>
          </a:p>
        </p:txBody>
      </p:sp>
      <p:sp>
        <p:nvSpPr>
          <p:cNvPr id="20" name="TextBox 179"/>
          <p:cNvSpPr txBox="1"/>
          <p:nvPr/>
        </p:nvSpPr>
        <p:spPr bwMode="gray">
          <a:xfrm>
            <a:off x="3424476" y="1309249"/>
            <a:ext cx="1591145" cy="306088"/>
          </a:xfrm>
          <a:prstGeom prst="roundRect">
            <a:avLst>
              <a:gd name="adj" fmla="val 12806"/>
            </a:avLst>
          </a:prstGeom>
          <a:solidFill>
            <a:srgbClr val="30B5C5"/>
          </a:solidFill>
          <a:ln>
            <a:noFill/>
          </a:ln>
        </p:spPr>
        <p:txBody>
          <a:bodyPr wrap="square" lIns="72000" tIns="72000" rIns="72000" bIns="72000" anchor="ctr" anchorCtr="0">
            <a:noAutofit/>
          </a:bodyPr>
          <a:lstStyle>
            <a:defPPr>
              <a:defRPr lang="en-US"/>
            </a:defPPr>
            <a:lvl1pPr algn="ctr" defTabSz="914478">
              <a:defRPr sz="1200">
                <a:solidFill>
                  <a:schemeClr val="bg1"/>
                </a:solidFill>
              </a:defRPr>
            </a:lvl1pPr>
            <a:lvl2pPr marL="457240" defTabSz="914478"/>
            <a:lvl3pPr marL="914478" defTabSz="914478"/>
            <a:lvl4pPr marL="1371718" defTabSz="914478"/>
            <a:lvl5pPr marL="1828957" defTabSz="914478"/>
            <a:lvl6pPr marL="2286196" defTabSz="914478"/>
            <a:lvl7pPr marL="2743435" defTabSz="914478"/>
            <a:lvl8pPr marL="3200675" defTabSz="914478"/>
            <a:lvl9pPr marL="3657913" defTabSz="914478"/>
          </a:lstStyle>
          <a:p>
            <a:pPr algn="l"/>
            <a:r>
              <a:rPr lang="en-US" altLang="zh-CN" dirty="0" smtClean="0"/>
              <a:t>3. </a:t>
            </a:r>
            <a:r>
              <a:rPr lang="zh-CN" altLang="en-US" dirty="0" smtClean="0"/>
              <a:t>选择认证策略。</a:t>
            </a:r>
            <a:endParaRPr lang="zh-CN" altLang="en-US" dirty="0"/>
          </a:p>
        </p:txBody>
      </p:sp>
      <p:sp>
        <p:nvSpPr>
          <p:cNvPr id="19" name="TextBox 179"/>
          <p:cNvSpPr txBox="1"/>
          <p:nvPr/>
        </p:nvSpPr>
        <p:spPr bwMode="gray">
          <a:xfrm>
            <a:off x="9272635" y="1309249"/>
            <a:ext cx="1591145" cy="306088"/>
          </a:xfrm>
          <a:prstGeom prst="roundRect">
            <a:avLst>
              <a:gd name="adj" fmla="val 12806"/>
            </a:avLst>
          </a:prstGeom>
          <a:solidFill>
            <a:srgbClr val="30B5C5"/>
          </a:solidFill>
          <a:ln>
            <a:noFill/>
          </a:ln>
        </p:spPr>
        <p:txBody>
          <a:bodyPr wrap="square" lIns="72000" tIns="72000" rIns="72000" bIns="72000" anchor="ctr" anchorCtr="0">
            <a:noAutofit/>
          </a:bodyPr>
          <a:lstStyle>
            <a:defPPr>
              <a:defRPr lang="en-US"/>
            </a:defPPr>
            <a:lvl1pPr algn="ctr" defTabSz="914478">
              <a:defRPr sz="1200">
                <a:solidFill>
                  <a:schemeClr val="bg1"/>
                </a:solidFill>
              </a:defRPr>
            </a:lvl1pPr>
            <a:lvl2pPr marL="457240" defTabSz="914478"/>
            <a:lvl3pPr marL="914478" defTabSz="914478"/>
            <a:lvl4pPr marL="1371718" defTabSz="914478"/>
            <a:lvl5pPr marL="1828957" defTabSz="914478"/>
            <a:lvl6pPr marL="2286196" defTabSz="914478"/>
            <a:lvl7pPr marL="2743435" defTabSz="914478"/>
            <a:lvl8pPr marL="3200675" defTabSz="914478"/>
            <a:lvl9pPr marL="3657913" defTabSz="914478"/>
          </a:lstStyle>
          <a:p>
            <a:pPr algn="l"/>
            <a:r>
              <a:rPr lang="en-US" altLang="zh-CN" dirty="0"/>
              <a:t>4</a:t>
            </a:r>
            <a:r>
              <a:rPr lang="en-US" altLang="zh-CN" dirty="0" smtClean="0"/>
              <a:t>. </a:t>
            </a:r>
            <a:r>
              <a:rPr lang="zh-CN" altLang="en-US" dirty="0" smtClean="0"/>
              <a:t>选择安全认证策略。</a:t>
            </a:r>
            <a:endParaRPr lang="zh-CN" altLang="en-US" dirty="0"/>
          </a:p>
        </p:txBody>
      </p:sp>
      <p:pic>
        <p:nvPicPr>
          <p:cNvPr id="8" name="图片 7"/>
          <p:cNvPicPr>
            <a:picLocks noChangeAspect="1"/>
          </p:cNvPicPr>
          <p:nvPr/>
        </p:nvPicPr>
        <p:blipFill>
          <a:blip r:embed="rId5"/>
          <a:stretch>
            <a:fillRect/>
          </a:stretch>
        </p:blipFill>
        <p:spPr bwMode="gray">
          <a:xfrm>
            <a:off x="508583" y="4616184"/>
            <a:ext cx="11177578" cy="1318534"/>
          </a:xfrm>
          <a:prstGeom prst="rect">
            <a:avLst/>
          </a:prstGeom>
          <a:ln w="12700">
            <a:solidFill>
              <a:schemeClr val="bg1">
                <a:lumMod val="85000"/>
              </a:schemeClr>
            </a:solidFill>
          </a:ln>
        </p:spPr>
      </p:pic>
      <p:sp>
        <p:nvSpPr>
          <p:cNvPr id="22" name="TextBox 179"/>
          <p:cNvSpPr txBox="1"/>
          <p:nvPr/>
        </p:nvSpPr>
        <p:spPr bwMode="gray">
          <a:xfrm>
            <a:off x="9272635" y="4339832"/>
            <a:ext cx="1591145" cy="306088"/>
          </a:xfrm>
          <a:prstGeom prst="roundRect">
            <a:avLst>
              <a:gd name="adj" fmla="val 12806"/>
            </a:avLst>
          </a:prstGeom>
          <a:solidFill>
            <a:srgbClr val="30B5C5"/>
          </a:solidFill>
          <a:ln>
            <a:noFill/>
          </a:ln>
        </p:spPr>
        <p:txBody>
          <a:bodyPr wrap="square" lIns="72000" tIns="72000" rIns="72000" bIns="72000" anchor="ctr" anchorCtr="0">
            <a:noAutofit/>
          </a:bodyPr>
          <a:lstStyle>
            <a:defPPr>
              <a:defRPr lang="en-US"/>
            </a:defPPr>
            <a:lvl1pPr algn="ctr" defTabSz="914478">
              <a:defRPr sz="1200">
                <a:solidFill>
                  <a:schemeClr val="bg1"/>
                </a:solidFill>
              </a:defRPr>
            </a:lvl1pPr>
            <a:lvl2pPr marL="457240" defTabSz="914478"/>
            <a:lvl3pPr marL="914478" defTabSz="914478"/>
            <a:lvl4pPr marL="1371718" defTabSz="914478"/>
            <a:lvl5pPr marL="1828957" defTabSz="914478"/>
            <a:lvl6pPr marL="2286196" defTabSz="914478"/>
            <a:lvl7pPr marL="2743435" defTabSz="914478"/>
            <a:lvl8pPr marL="3200675" defTabSz="914478"/>
            <a:lvl9pPr marL="3657913" defTabSz="914478"/>
          </a:lstStyle>
          <a:p>
            <a:pPr algn="l"/>
            <a:r>
              <a:rPr lang="en-US" altLang="zh-CN" dirty="0" smtClean="0"/>
              <a:t>5. </a:t>
            </a:r>
            <a:r>
              <a:rPr lang="zh-CN" altLang="en-US" dirty="0" smtClean="0"/>
              <a:t>选择无线认证设备。</a:t>
            </a:r>
            <a:endParaRPr lang="zh-CN" altLang="en-US" dirty="0"/>
          </a:p>
        </p:txBody>
      </p:sp>
      <p:sp>
        <p:nvSpPr>
          <p:cNvPr id="23" name="五边形 22"/>
          <p:cNvSpPr/>
          <p:nvPr/>
        </p:nvSpPr>
        <p:spPr bwMode="gray">
          <a:xfrm>
            <a:off x="5773628" y="98481"/>
            <a:ext cx="9000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smtClean="0">
                <a:latin typeface="Huawei Sans" panose="020C0503030203020204" pitchFamily="34" charset="0"/>
                <a:ea typeface="方正兰亭黑简体" panose="02000000000000000000" pitchFamily="2" charset="-122"/>
                <a:sym typeface="Huawei Sans" panose="020C0503030203020204" pitchFamily="34" charset="0"/>
              </a:rPr>
              <a:t>站点管理</a:t>
            </a:r>
            <a:endPar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4" name="燕尾形 23"/>
          <p:cNvSpPr/>
          <p:nvPr/>
        </p:nvSpPr>
        <p:spPr bwMode="gray">
          <a:xfrm>
            <a:off x="9109268" y="9848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逻辑网络</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5" name="燕尾形 24"/>
          <p:cNvSpPr/>
          <p:nvPr/>
        </p:nvSpPr>
        <p:spPr bwMode="gray">
          <a:xfrm>
            <a:off x="9925178" y="9848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业务部署</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6" name="燕尾形 25"/>
          <p:cNvSpPr/>
          <p:nvPr/>
        </p:nvSpPr>
        <p:spPr bwMode="gray">
          <a:xfrm>
            <a:off x="8221358" y="98481"/>
            <a:ext cx="972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Fabric</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网络</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7" name="燕尾形 26"/>
          <p:cNvSpPr/>
          <p:nvPr/>
        </p:nvSpPr>
        <p:spPr bwMode="gray">
          <a:xfrm>
            <a:off x="7405448" y="9848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网络规划</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8" name="燕尾形 27"/>
          <p:cNvSpPr/>
          <p:nvPr/>
        </p:nvSpPr>
        <p:spPr bwMode="gray">
          <a:xfrm>
            <a:off x="6589538" y="9848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设备管理</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9" name="燕尾形 28"/>
          <p:cNvSpPr/>
          <p:nvPr/>
        </p:nvSpPr>
        <p:spPr bwMode="gray">
          <a:xfrm>
            <a:off x="10741088" y="98481"/>
            <a:ext cx="10080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WLAN</a:t>
            </a: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业务</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3288005546"/>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normAutofit/>
          </a:bodyPr>
          <a:lstStyle/>
          <a:p>
            <a:r>
              <a:rPr lang="zh-CN" altLang="en-US" dirty="0"/>
              <a:t>实验</a:t>
            </a:r>
            <a:r>
              <a:rPr lang="zh-CN" altLang="en-US" dirty="0" smtClean="0"/>
              <a:t>：无线业务下发</a:t>
            </a:r>
            <a:endParaRPr lang="zh-CN" altLang="en-US" dirty="0"/>
          </a:p>
        </p:txBody>
      </p:sp>
      <p:sp>
        <p:nvSpPr>
          <p:cNvPr id="3" name="文本占位符 2"/>
          <p:cNvSpPr>
            <a:spLocks noGrp="1"/>
          </p:cNvSpPr>
          <p:nvPr>
            <p:ph type="body" sz="quarter" idx="10"/>
          </p:nvPr>
        </p:nvSpPr>
        <p:spPr bwMode="gray">
          <a:xfrm>
            <a:off x="455612" y="1047750"/>
            <a:ext cx="11293475" cy="436563"/>
          </a:xfrm>
        </p:spPr>
        <p:txBody>
          <a:bodyPr/>
          <a:lstStyle/>
          <a:p>
            <a:r>
              <a:rPr lang="zh-CN" altLang="en-US" sz="1800" dirty="0"/>
              <a:t>在</a:t>
            </a:r>
            <a:r>
              <a:rPr lang="zh-CN" altLang="en-US" sz="1800" dirty="0" smtClean="0"/>
              <a:t>“设计”</a:t>
            </a:r>
            <a:r>
              <a:rPr lang="en-US" altLang="zh-CN" sz="1800" dirty="0" smtClean="0"/>
              <a:t>-</a:t>
            </a:r>
            <a:r>
              <a:rPr lang="zh-CN" altLang="en-US" sz="1800" dirty="0" smtClean="0"/>
              <a:t>“设备管理”</a:t>
            </a:r>
            <a:r>
              <a:rPr lang="zh-CN" altLang="en-US" sz="1800" dirty="0"/>
              <a:t>中</a:t>
            </a:r>
            <a:r>
              <a:rPr lang="zh-CN" altLang="en-US" sz="1800" dirty="0" smtClean="0"/>
              <a:t>选择站点</a:t>
            </a:r>
            <a:r>
              <a:rPr lang="en-US" altLang="zh-CN" sz="1800" dirty="0" smtClean="0"/>
              <a:t>HQ</a:t>
            </a:r>
            <a:r>
              <a:rPr lang="zh-CN" altLang="en-US" sz="1800" dirty="0" smtClean="0"/>
              <a:t>，点击</a:t>
            </a:r>
            <a:r>
              <a:rPr lang="en-US" altLang="zh-CN" sz="1800" dirty="0" smtClean="0"/>
              <a:t>Border</a:t>
            </a:r>
            <a:r>
              <a:rPr lang="zh-CN" altLang="en-US" sz="1800" dirty="0" smtClean="0"/>
              <a:t>，进入</a:t>
            </a:r>
            <a:r>
              <a:rPr lang="en-US" altLang="zh-CN" sz="1800" dirty="0" smtClean="0"/>
              <a:t>Border</a:t>
            </a:r>
            <a:r>
              <a:rPr lang="zh-CN" altLang="en-US" sz="1800" dirty="0" smtClean="0"/>
              <a:t>的设备管理界面。</a:t>
            </a:r>
            <a:endParaRPr lang="zh-CN" altLang="en-US" sz="1800" dirty="0"/>
          </a:p>
        </p:txBody>
      </p:sp>
      <p:pic>
        <p:nvPicPr>
          <p:cNvPr id="5" name="图片 4"/>
          <p:cNvPicPr>
            <a:picLocks noChangeAspect="1"/>
          </p:cNvPicPr>
          <p:nvPr/>
        </p:nvPicPr>
        <p:blipFill>
          <a:blip r:embed="rId3"/>
          <a:stretch>
            <a:fillRect/>
          </a:stretch>
        </p:blipFill>
        <p:spPr bwMode="gray">
          <a:xfrm>
            <a:off x="495678" y="1598613"/>
            <a:ext cx="11200644" cy="919593"/>
          </a:xfrm>
          <a:prstGeom prst="rect">
            <a:avLst/>
          </a:prstGeom>
          <a:ln w="12700">
            <a:solidFill>
              <a:schemeClr val="bg1">
                <a:lumMod val="85000"/>
              </a:schemeClr>
            </a:solidFill>
          </a:ln>
        </p:spPr>
      </p:pic>
      <p:sp>
        <p:nvSpPr>
          <p:cNvPr id="19" name="文本占位符 2"/>
          <p:cNvSpPr txBox="1">
            <a:spLocks/>
          </p:cNvSpPr>
          <p:nvPr/>
        </p:nvSpPr>
        <p:spPr bwMode="gray">
          <a:xfrm>
            <a:off x="455612" y="2790825"/>
            <a:ext cx="11293475" cy="436563"/>
          </a:xfrm>
          <a:prstGeom prst="rect">
            <a:avLst/>
          </a:prstGeom>
          <a:noFill/>
          <a:ln w="9525">
            <a:noFill/>
            <a:miter lim="800000"/>
            <a:headEnd/>
            <a:tailEnd/>
          </a:ln>
        </p:spPr>
        <p:txBody>
          <a:bodyPr vert="horz" wrap="square" lIns="80141" tIns="40071" rIns="80141" bIns="40071" numCol="1" anchor="t" anchorCtr="0" compatLnSpc="1">
            <a:prstTxWarp prst="textNoShape">
              <a:avLst/>
            </a:prstTxWarp>
          </a:bodyPr>
          <a:lstStyle>
            <a:lvl1pPr marL="302279" indent="-302279" algn="just" defTabSz="914034" rtl="0" eaLnBrk="1" fontAlgn="ctr" latinLnBrk="0" hangingPunct="1">
              <a:lnSpc>
                <a:spcPct val="140000"/>
              </a:lnSpc>
              <a:spcBef>
                <a:spcPts val="792"/>
              </a:spcBef>
              <a:buClrTx/>
              <a:buSzPct val="50000"/>
              <a:buFont typeface="Wingdings" panose="05000000000000000000" pitchFamily="2" charset="2"/>
              <a:buChar char="l"/>
              <a:defRPr sz="2199" kern="1200" baseline="0">
                <a:solidFill>
                  <a:schemeClr val="tx1"/>
                </a:solidFill>
                <a:latin typeface="Huawei Sans" panose="020C0503030203020204" pitchFamily="34" charset="0"/>
                <a:ea typeface="方正兰亭黑简体" panose="02000000000000000000" pitchFamily="2" charset="-122"/>
                <a:cs typeface="Huawei Sans" panose="020C0503030203020204" pitchFamily="34" charset="0"/>
              </a:defRPr>
            </a:lvl1pPr>
            <a:lvl2pPr marL="654938" indent="-251899" algn="l" defTabSz="914034" rtl="0" eaLnBrk="1" fontAlgn="ctr" latinLnBrk="0" hangingPunct="1">
              <a:lnSpc>
                <a:spcPct val="140000"/>
              </a:lnSpc>
              <a:spcBef>
                <a:spcPts val="720"/>
              </a:spcBef>
              <a:buClrTx/>
              <a:buSzPct val="50000"/>
              <a:buFont typeface="Wingdings" panose="05000000000000000000" pitchFamily="2" charset="2"/>
              <a:buChar char="p"/>
              <a:defRPr sz="1999" kern="1200" baseline="0">
                <a:solidFill>
                  <a:schemeClr val="tx1"/>
                </a:solidFill>
                <a:latin typeface="Huawei Sans" panose="020C0503030203020204" pitchFamily="34" charset="0"/>
                <a:ea typeface="方正兰亭黑简体" panose="02000000000000000000" pitchFamily="2" charset="-122"/>
                <a:cs typeface="+mn-cs"/>
              </a:defRPr>
            </a:lvl2pPr>
            <a:lvl3pPr marL="1003998" indent="-201519" algn="l" defTabSz="914034" rtl="0" eaLnBrk="1" fontAlgn="ctr" latinLnBrk="0" hangingPunct="1">
              <a:lnSpc>
                <a:spcPct val="140000"/>
              </a:lnSpc>
              <a:spcBef>
                <a:spcPts val="648"/>
              </a:spcBef>
              <a:buClrTx/>
              <a:buSzPct val="50000"/>
              <a:buFont typeface="Wingdings" panose="05000000000000000000" pitchFamily="2" charset="2"/>
              <a:buChar char="n"/>
              <a:defRPr sz="1799" kern="1200" baseline="0">
                <a:solidFill>
                  <a:schemeClr val="tx1"/>
                </a:solidFill>
                <a:latin typeface="Huawei Sans" panose="020C0503030203020204" pitchFamily="34" charset="0"/>
                <a:ea typeface="方正兰亭黑简体" panose="02000000000000000000" pitchFamily="2" charset="-122"/>
                <a:cs typeface="+mn-cs"/>
              </a:defRPr>
            </a:lvl3pPr>
            <a:lvl4pPr marL="1399840" indent="-197921" algn="l" defTabSz="914034" rtl="0" eaLnBrk="1" fontAlgn="ctr" latinLnBrk="0" hangingPunct="1">
              <a:lnSpc>
                <a:spcPct val="140000"/>
              </a:lnSpc>
              <a:spcBef>
                <a:spcPts val="576"/>
              </a:spcBef>
              <a:buFont typeface="Huawei Sans" panose="020C0503030203020204" pitchFamily="34" charset="0"/>
              <a:buChar char="−"/>
              <a:defRPr sz="1599" kern="1200" baseline="0">
                <a:solidFill>
                  <a:schemeClr val="tx1"/>
                </a:solidFill>
                <a:latin typeface="Huawei Sans" panose="020C0503030203020204" pitchFamily="34" charset="0"/>
                <a:ea typeface="方正兰亭黑简体" panose="02000000000000000000" pitchFamily="2" charset="-122"/>
                <a:cs typeface="+mn-cs"/>
              </a:defRPr>
            </a:lvl4pPr>
            <a:lvl5pPr marL="1802879" indent="-201519" algn="l" defTabSz="914034" rtl="0" eaLnBrk="1" fontAlgn="ctr" latinLnBrk="0" hangingPunct="1">
              <a:lnSpc>
                <a:spcPct val="140000"/>
              </a:lnSpc>
              <a:spcBef>
                <a:spcPts val="576"/>
              </a:spcBef>
              <a:buFont typeface="Huawei Sans" panose="020C0503030203020204" pitchFamily="34" charset="0"/>
              <a:buChar char="~"/>
              <a:defRPr sz="1399" kern="1200" baseline="0">
                <a:solidFill>
                  <a:schemeClr val="tx1"/>
                </a:solidFill>
                <a:latin typeface="Huawei Sans" panose="020C0503030203020204" pitchFamily="34" charset="0"/>
                <a:ea typeface="方正兰亭黑简体" panose="02000000000000000000" pitchFamily="2" charset="-122"/>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r>
              <a:rPr lang="zh-CN" altLang="en-US" sz="1800" dirty="0" smtClean="0"/>
              <a:t>点击</a:t>
            </a:r>
            <a:r>
              <a:rPr lang="en-US" altLang="zh-CN" sz="1800" dirty="0" smtClean="0"/>
              <a:t>Border</a:t>
            </a:r>
            <a:r>
              <a:rPr lang="zh-CN" altLang="en-US" sz="1800" dirty="0" smtClean="0"/>
              <a:t>的“设备配置”，进入</a:t>
            </a:r>
            <a:r>
              <a:rPr lang="en-US" altLang="zh-CN" sz="1800" dirty="0" smtClean="0"/>
              <a:t>Border</a:t>
            </a:r>
            <a:r>
              <a:rPr lang="zh-CN" altLang="en-US" sz="1800" dirty="0" smtClean="0"/>
              <a:t>的</a:t>
            </a:r>
            <a:r>
              <a:rPr lang="en-US" altLang="zh-CN" sz="1800" dirty="0" smtClean="0"/>
              <a:t>Web</a:t>
            </a:r>
            <a:r>
              <a:rPr lang="zh-CN" altLang="en-US" sz="1800" dirty="0" smtClean="0"/>
              <a:t>管理界面。</a:t>
            </a:r>
            <a:endParaRPr lang="zh-CN" altLang="en-US" sz="1800" dirty="0"/>
          </a:p>
        </p:txBody>
      </p:sp>
      <p:pic>
        <p:nvPicPr>
          <p:cNvPr id="7" name="图片 6"/>
          <p:cNvPicPr>
            <a:picLocks noChangeAspect="1"/>
          </p:cNvPicPr>
          <p:nvPr/>
        </p:nvPicPr>
        <p:blipFill rotWithShape="1">
          <a:blip r:embed="rId4" cstate="print">
            <a:extLst>
              <a:ext uri="{28A0092B-C50C-407E-A947-70E740481C1C}">
                <a14:useLocalDpi xmlns:a14="http://schemas.microsoft.com/office/drawing/2010/main" val="0"/>
              </a:ext>
            </a:extLst>
          </a:blip>
          <a:srcRect l="23958" t="30782" r="25568" b="8526"/>
          <a:stretch/>
        </p:blipFill>
        <p:spPr bwMode="gray">
          <a:xfrm>
            <a:off x="3563937" y="3314700"/>
            <a:ext cx="5076826" cy="2514600"/>
          </a:xfrm>
          <a:prstGeom prst="rect">
            <a:avLst/>
          </a:prstGeom>
          <a:ln w="12700">
            <a:solidFill>
              <a:schemeClr val="bg1">
                <a:lumMod val="85000"/>
              </a:schemeClr>
            </a:solidFill>
          </a:ln>
        </p:spPr>
      </p:pic>
      <p:sp>
        <p:nvSpPr>
          <p:cNvPr id="22" name="文本框 21"/>
          <p:cNvSpPr txBox="1"/>
          <p:nvPr/>
        </p:nvSpPr>
        <p:spPr bwMode="gray">
          <a:xfrm>
            <a:off x="8024992" y="5910143"/>
            <a:ext cx="3724096" cy="276999"/>
          </a:xfrm>
          <a:prstGeom prst="rect">
            <a:avLst/>
          </a:prstGeom>
          <a:noFill/>
        </p:spPr>
        <p:txBody>
          <a:bodyPr wrap="none" rtlCol="0">
            <a:spAutoFit/>
          </a:bodyPr>
          <a:lstStyle/>
          <a:p>
            <a:pPr algn="r"/>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Border</a:t>
            </a:r>
            <a:r>
              <a:rPr lang="zh-CN" altLang="en-US" sz="1200" dirty="0" smtClean="0">
                <a:latin typeface="Huawei Sans" panose="020C0503030203020204" pitchFamily="34" charset="0"/>
                <a:ea typeface="方正兰亭黑简体" panose="02000000000000000000" pitchFamily="2" charset="-122"/>
                <a:cs typeface="Huawei Sans" panose="020C0503030203020204" pitchFamily="34" charset="0"/>
              </a:rPr>
              <a:t>的</a:t>
            </a:r>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Web</a:t>
            </a:r>
            <a:r>
              <a:rPr lang="zh-CN" altLang="en-US" sz="1200" dirty="0" smtClean="0">
                <a:latin typeface="Huawei Sans" panose="020C0503030203020204" pitchFamily="34" charset="0"/>
                <a:ea typeface="方正兰亭黑简体" panose="02000000000000000000" pitchFamily="2" charset="-122"/>
                <a:cs typeface="Huawei Sans" panose="020C0503030203020204" pitchFamily="34" charset="0"/>
              </a:rPr>
              <a:t>界面的</a:t>
            </a:r>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WLAN</a:t>
            </a:r>
            <a:r>
              <a:rPr lang="zh-CN" altLang="en-US" sz="1200" dirty="0" smtClean="0">
                <a:latin typeface="Huawei Sans" panose="020C0503030203020204" pitchFamily="34" charset="0"/>
                <a:ea typeface="方正兰亭黑简体" panose="02000000000000000000" pitchFamily="2" charset="-122"/>
                <a:cs typeface="Huawei Sans" panose="020C0503030203020204" pitchFamily="34" charset="0"/>
              </a:rPr>
              <a:t>业务相关配置介绍，略。</a:t>
            </a:r>
            <a:endPar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23" name="五边形 22"/>
          <p:cNvSpPr/>
          <p:nvPr/>
        </p:nvSpPr>
        <p:spPr bwMode="gray">
          <a:xfrm>
            <a:off x="5773628" y="98481"/>
            <a:ext cx="9000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smtClean="0">
                <a:latin typeface="Huawei Sans" panose="020C0503030203020204" pitchFamily="34" charset="0"/>
                <a:ea typeface="方正兰亭黑简体" panose="02000000000000000000" pitchFamily="2" charset="-122"/>
                <a:sym typeface="Huawei Sans" panose="020C0503030203020204" pitchFamily="34" charset="0"/>
              </a:rPr>
              <a:t>站点管理</a:t>
            </a:r>
            <a:endPar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4" name="燕尾形 23"/>
          <p:cNvSpPr/>
          <p:nvPr/>
        </p:nvSpPr>
        <p:spPr bwMode="gray">
          <a:xfrm>
            <a:off x="9109268" y="9848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逻辑网络</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5" name="燕尾形 24"/>
          <p:cNvSpPr/>
          <p:nvPr/>
        </p:nvSpPr>
        <p:spPr bwMode="gray">
          <a:xfrm>
            <a:off x="9925178" y="9848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业务部署</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6" name="燕尾形 25"/>
          <p:cNvSpPr/>
          <p:nvPr/>
        </p:nvSpPr>
        <p:spPr bwMode="gray">
          <a:xfrm>
            <a:off x="8221358" y="98481"/>
            <a:ext cx="972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Fabric</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网络</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7" name="燕尾形 26"/>
          <p:cNvSpPr/>
          <p:nvPr/>
        </p:nvSpPr>
        <p:spPr bwMode="gray">
          <a:xfrm>
            <a:off x="7405448" y="9848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网络规划</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8" name="燕尾形 27"/>
          <p:cNvSpPr/>
          <p:nvPr/>
        </p:nvSpPr>
        <p:spPr bwMode="gray">
          <a:xfrm>
            <a:off x="6589538" y="9848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设备管理</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9" name="燕尾形 28"/>
          <p:cNvSpPr/>
          <p:nvPr/>
        </p:nvSpPr>
        <p:spPr bwMode="gray">
          <a:xfrm>
            <a:off x="10741088" y="98481"/>
            <a:ext cx="10080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WLAN</a:t>
            </a: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业务</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2676107749"/>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p:cNvSpPr>
            <a:spLocks noGrp="1"/>
          </p:cNvSpPr>
          <p:nvPr>
            <p:ph type="body" sz="quarter" idx="10"/>
          </p:nvPr>
        </p:nvSpPr>
        <p:spPr/>
        <p:txBody>
          <a:bodyPr/>
          <a:lstStyle/>
          <a:p>
            <a:r>
              <a:rPr lang="en-US" altLang="zh-CN" dirty="0" smtClean="0"/>
              <a:t>(</a:t>
            </a:r>
            <a:r>
              <a:rPr lang="zh-CN" altLang="en-US" dirty="0" smtClean="0"/>
              <a:t>简答题</a:t>
            </a:r>
            <a:r>
              <a:rPr lang="en-US" altLang="zh-CN" dirty="0" smtClean="0"/>
              <a:t>)</a:t>
            </a:r>
            <a:r>
              <a:rPr lang="en-US" altLang="zh-CN" dirty="0" err="1" smtClean="0"/>
              <a:t>iMaster</a:t>
            </a:r>
            <a:r>
              <a:rPr lang="en-US" altLang="zh-CN" dirty="0" smtClean="0"/>
              <a:t> NCE-Campus</a:t>
            </a:r>
            <a:r>
              <a:rPr lang="zh-CN" altLang="en-US" dirty="0" smtClean="0"/>
              <a:t>支持哪些站点创建方式？</a:t>
            </a:r>
            <a:endParaRPr lang="en-US" altLang="zh-CN" dirty="0" smtClean="0"/>
          </a:p>
          <a:p>
            <a:r>
              <a:rPr lang="en-US" altLang="zh-CN" dirty="0" smtClean="0"/>
              <a:t>(</a:t>
            </a:r>
            <a:r>
              <a:rPr lang="zh-CN" altLang="en-US" dirty="0" smtClean="0"/>
              <a:t>多选题</a:t>
            </a:r>
            <a:r>
              <a:rPr lang="en-US" altLang="zh-CN" dirty="0" smtClean="0"/>
              <a:t>)Fabric</a:t>
            </a:r>
            <a:r>
              <a:rPr lang="zh-CN" altLang="en-US" dirty="0" smtClean="0"/>
              <a:t>全局资源池中，用户可以录入如下哪些选项的参数？</a:t>
            </a:r>
            <a:r>
              <a:rPr lang="en-US" altLang="zh-CN" dirty="0" smtClean="0"/>
              <a:t>(     )</a:t>
            </a:r>
          </a:p>
          <a:p>
            <a:pPr lvl="1"/>
            <a:r>
              <a:rPr lang="en-US" altLang="zh-CN" dirty="0" smtClean="0"/>
              <a:t>VLAN</a:t>
            </a:r>
          </a:p>
          <a:p>
            <a:pPr lvl="1"/>
            <a:r>
              <a:rPr lang="zh-CN" altLang="en-US" dirty="0" smtClean="0"/>
              <a:t>环回口</a:t>
            </a:r>
            <a:r>
              <a:rPr lang="en-US" altLang="zh-CN" dirty="0" smtClean="0"/>
              <a:t>IP</a:t>
            </a:r>
          </a:p>
          <a:p>
            <a:pPr lvl="1"/>
            <a:r>
              <a:rPr lang="zh-CN" altLang="en-US" dirty="0" smtClean="0"/>
              <a:t>桥接广播域</a:t>
            </a:r>
            <a:endParaRPr lang="en-US" altLang="zh-CN" dirty="0" smtClean="0"/>
          </a:p>
          <a:p>
            <a:pPr lvl="1"/>
            <a:r>
              <a:rPr lang="en-US" altLang="zh-CN" dirty="0" smtClean="0"/>
              <a:t>VXLAN</a:t>
            </a:r>
            <a:r>
              <a:rPr lang="zh-CN" altLang="en-US" dirty="0" smtClean="0"/>
              <a:t>网络标识</a:t>
            </a:r>
          </a:p>
          <a:p>
            <a:endParaRPr lang="zh-CN" altLang="en-US" dirty="0"/>
          </a:p>
        </p:txBody>
      </p:sp>
    </p:spTree>
    <p:extLst>
      <p:ext uri="{BB962C8B-B14F-4D97-AF65-F5344CB8AC3E}">
        <p14:creationId xmlns:p14="http://schemas.microsoft.com/office/powerpoint/2010/main" val="2736134551"/>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0"/>
          </p:nvPr>
        </p:nvSpPr>
        <p:spPr/>
        <p:txBody>
          <a:bodyPr/>
          <a:lstStyle/>
          <a:p>
            <a:r>
              <a:rPr lang="zh-CN" altLang="en-US" dirty="0"/>
              <a:t>本课程</a:t>
            </a:r>
            <a:r>
              <a:rPr lang="zh-CN" altLang="en-US" dirty="0" smtClean="0"/>
              <a:t>系统地介绍了虚拟</a:t>
            </a:r>
            <a:r>
              <a:rPr lang="zh-CN" altLang="en-US" dirty="0"/>
              <a:t>化园区网络部署流程，同时，通过穿插实验帮助学员</a:t>
            </a:r>
            <a:r>
              <a:rPr lang="zh-CN" altLang="en-US" dirty="0" smtClean="0"/>
              <a:t>完成</a:t>
            </a:r>
            <a:r>
              <a:rPr lang="en-US" altLang="zh-CN" dirty="0" err="1" smtClean="0"/>
              <a:t>CloudCampus</a:t>
            </a:r>
            <a:r>
              <a:rPr lang="zh-CN" altLang="en-US" dirty="0" smtClean="0"/>
              <a:t>解决</a:t>
            </a:r>
            <a:r>
              <a:rPr lang="zh-CN" altLang="en-US" dirty="0"/>
              <a:t>方案功能</a:t>
            </a:r>
            <a:r>
              <a:rPr lang="zh-CN" altLang="en-US" dirty="0" smtClean="0"/>
              <a:t>特性的理解，并掌握虚拟化园区网络部署</a:t>
            </a:r>
            <a:r>
              <a:rPr lang="zh-CN" altLang="en-US" dirty="0"/>
              <a:t>技能。</a:t>
            </a:r>
          </a:p>
          <a:p>
            <a:r>
              <a:rPr lang="zh-CN" altLang="en-US" dirty="0"/>
              <a:t>通过本课程的学习，搭配基于实际环境的练习，学员将能独立</a:t>
            </a:r>
            <a:r>
              <a:rPr lang="zh-CN" altLang="en-US" dirty="0" smtClean="0"/>
              <a:t>完成虚拟</a:t>
            </a:r>
            <a:r>
              <a:rPr lang="zh-CN" altLang="en-US" dirty="0"/>
              <a:t>化园区</a:t>
            </a:r>
            <a:r>
              <a:rPr lang="zh-CN" altLang="en-US" dirty="0" smtClean="0"/>
              <a:t>网络的方案</a:t>
            </a:r>
            <a:r>
              <a:rPr lang="zh-CN" altLang="en-US" dirty="0"/>
              <a:t>部署，并具备网络运维及管理能力。</a:t>
            </a:r>
          </a:p>
          <a:p>
            <a:endParaRPr lang="zh-CN" altLang="en-US" dirty="0"/>
          </a:p>
        </p:txBody>
      </p:sp>
    </p:spTree>
    <p:extLst>
      <p:ext uri="{BB962C8B-B14F-4D97-AF65-F5344CB8AC3E}">
        <p14:creationId xmlns:p14="http://schemas.microsoft.com/office/powerpoint/2010/main" val="369989477"/>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003404036"/>
      </p:ext>
    </p:extLst>
  </p:cSld>
  <p:clrMapOvr>
    <a:masterClrMapping/>
  </p:clrMapOvr>
  <p:timing>
    <p:tnLst>
      <p:par>
        <p:cTn id="1" dur="indefinite" restart="never" nodeType="tmRoot"/>
      </p:par>
    </p:tnLst>
  </p:timing>
</p:sld>
</file>

<file path=ppt/theme/theme1.xml><?xml version="1.0" encoding="utf-8"?>
<a:theme xmlns:a="http://schemas.openxmlformats.org/drawingml/2006/main" name="2_标题页模板">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3_功能页模板">
  <a:themeElements>
    <a:clrScheme name="自定义 2">
      <a:dk1>
        <a:sysClr val="windowText" lastClr="000000"/>
      </a:dk1>
      <a:lt1>
        <a:sysClr val="window" lastClr="FFFFFF"/>
      </a:lt1>
      <a:dk2>
        <a:srgbClr val="44546A"/>
      </a:dk2>
      <a:lt2>
        <a:srgbClr val="E7E6E6"/>
      </a:lt2>
      <a:accent1>
        <a:srgbClr val="C7000B"/>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方正+Huawei">
      <a:majorFont>
        <a:latin typeface="Huawei Sans"/>
        <a:ea typeface="方正兰亭黑简体"/>
        <a:cs typeface=""/>
      </a:majorFont>
      <a:minorFont>
        <a:latin typeface="Huawei Sans"/>
        <a:ea typeface="方正兰亭黑简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4_内容页模板">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方正+Huawei">
      <a:majorFont>
        <a:latin typeface="Huawei Sans"/>
        <a:ea typeface="方正兰亭黑简体"/>
        <a:cs typeface=""/>
      </a:majorFont>
      <a:minorFont>
        <a:latin typeface="Huawei Sans"/>
        <a:ea typeface="方正兰亭黑简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5_感谢页模板">
  <a:themeElements>
    <a:clrScheme name="2210">
      <a:dk1>
        <a:srgbClr val="1D1D1A"/>
      </a:dk1>
      <a:lt1>
        <a:srgbClr val="1D1D1A"/>
      </a:lt1>
      <a:dk2>
        <a:srgbClr val="FFFFFF"/>
      </a:dk2>
      <a:lt2>
        <a:srgbClr val="FFFFFF"/>
      </a:lt2>
      <a:accent1>
        <a:srgbClr val="C7000A"/>
      </a:accent1>
      <a:accent2>
        <a:srgbClr val="E9002F"/>
      </a:accent2>
      <a:accent3>
        <a:srgbClr val="F4A100"/>
      </a:accent3>
      <a:accent4>
        <a:srgbClr val="FFFF00"/>
      </a:accent4>
      <a:accent5>
        <a:srgbClr val="232323"/>
      </a:accent5>
      <a:accent6>
        <a:srgbClr val="666666"/>
      </a:accent6>
      <a:hlink>
        <a:srgbClr val="919191"/>
      </a:hlink>
      <a:folHlink>
        <a:srgbClr val="C4C4C4"/>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EA002F"/>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sz="1800" dirty="0"/>
        </a:defPPr>
      </a:lstStyle>
    </a:txDef>
  </a:objectDefaults>
  <a:extraClrSchemeLst/>
  <a:extLst>
    <a:ext uri="{05A4C25C-085E-4340-85A3-A5531E510DB2}">
      <thm15:themeFamily xmlns:thm15="http://schemas.microsoft.com/office/thememl/2012/main" name="演示文稿1" id="{5D7106B4-FD24-471A-B326-8B58E27A973B}" vid="{1AA013AF-7C2E-4A39-9796-86760F640C19}"/>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方正+Huawei">
      <a:majorFont>
        <a:latin typeface="Huawei Sans"/>
        <a:ea typeface="方正兰亭黑简体"/>
        <a:cs typeface=""/>
      </a:majorFont>
      <a:minorFont>
        <a:latin typeface="Huawei Sans"/>
        <a:ea typeface="方正兰亭黑简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02C5B4B712841F4C8A7AAEE2CD191271" ma:contentTypeVersion="1" ma:contentTypeDescription="Create a new document." ma:contentTypeScope="" ma:versionID="fd4f534fc22f1d982cc2e0e62ad2af45">
  <xsd:schema xmlns:xsd="http://www.w3.org/2001/XMLSchema" xmlns:xs="http://www.w3.org/2001/XMLSchema" xmlns:p="http://schemas.microsoft.com/office/2006/metadata/properties" xmlns:ns2="475f1e55-3009-46d8-9566-5d569a2b3a98" targetNamespace="http://schemas.microsoft.com/office/2006/metadata/properties" ma:root="true" ma:fieldsID="1d095aabec1d15598815726bd4b054a7" ns2:_="">
    <xsd:import namespace="475f1e55-3009-46d8-9566-5d569a2b3a98"/>
    <xsd:element name="properties">
      <xsd:complexType>
        <xsd:sequence>
          <xsd:element name="documentManagement">
            <xsd:complexType>
              <xsd:all>
                <xsd:element ref="ns2:SharedWithUser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75f1e55-3009-46d8-9566-5d569a2b3a98"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DA5960F2-6186-408B-A0DC-5CA5E58B604F}">
  <ds:schemaRefs>
    <ds:schemaRef ds:uri="http://schemas.microsoft.com/office/2006/documentManagement/types"/>
    <ds:schemaRef ds:uri="http://schemas.microsoft.com/office/infopath/2007/PartnerControls"/>
    <ds:schemaRef ds:uri="http://purl.org/dc/terms/"/>
    <ds:schemaRef ds:uri="http://purl.org/dc/elements/1.1/"/>
    <ds:schemaRef ds:uri="http://www.w3.org/XML/1998/namespace"/>
    <ds:schemaRef ds:uri="http://purl.org/dc/dcmitype/"/>
    <ds:schemaRef ds:uri="http://schemas.openxmlformats.org/package/2006/metadata/core-properties"/>
    <ds:schemaRef ds:uri="475f1e55-3009-46d8-9566-5d569a2b3a98"/>
    <ds:schemaRef ds:uri="http://schemas.microsoft.com/office/2006/metadata/properties"/>
  </ds:schemaRefs>
</ds:datastoreItem>
</file>

<file path=customXml/itemProps2.xml><?xml version="1.0" encoding="utf-8"?>
<ds:datastoreItem xmlns:ds="http://schemas.openxmlformats.org/officeDocument/2006/customXml" ds:itemID="{7669BA06-E911-4EF4-9C53-80D17500BECC}"/>
</file>

<file path=customXml/itemProps3.xml><?xml version="1.0" encoding="utf-8"?>
<ds:datastoreItem xmlns:ds="http://schemas.openxmlformats.org/officeDocument/2006/customXml" ds:itemID="{FEDE263F-0510-4442-823E-69B63ECB61E1}">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3431</TotalTime>
  <Words>9857</Words>
  <Application>Microsoft Office PowerPoint</Application>
  <PresentationFormat>宽屏</PresentationFormat>
  <Paragraphs>1605</Paragraphs>
  <Slides>74</Slides>
  <Notes>74</Notes>
  <HiddenSlides>1</HiddenSlides>
  <MMClips>0</MMClips>
  <ScaleCrop>false</ScaleCrop>
  <HeadingPairs>
    <vt:vector size="6" baseType="variant">
      <vt:variant>
        <vt:lpstr>已用的字体</vt:lpstr>
      </vt:variant>
      <vt:variant>
        <vt:i4>8</vt:i4>
      </vt:variant>
      <vt:variant>
        <vt:lpstr>主题</vt:lpstr>
      </vt:variant>
      <vt:variant>
        <vt:i4>4</vt:i4>
      </vt:variant>
      <vt:variant>
        <vt:lpstr>幻灯片标题</vt:lpstr>
      </vt:variant>
      <vt:variant>
        <vt:i4>74</vt:i4>
      </vt:variant>
    </vt:vector>
  </HeadingPairs>
  <TitlesOfParts>
    <vt:vector size="86" baseType="lpstr">
      <vt:lpstr>Microsoft Yahei</vt:lpstr>
      <vt:lpstr>方正兰亭黑简体</vt:lpstr>
      <vt:lpstr>方正兰亭细黑简体</vt:lpstr>
      <vt:lpstr>Microsoft YaHei</vt:lpstr>
      <vt:lpstr>Microsoft YaHei</vt:lpstr>
      <vt:lpstr>Arial</vt:lpstr>
      <vt:lpstr>Huawei Sans</vt:lpstr>
      <vt:lpstr>Wingdings</vt:lpstr>
      <vt:lpstr>2_标题页模板</vt:lpstr>
      <vt:lpstr>3_功能页模板</vt:lpstr>
      <vt:lpstr>4_内容页模板</vt:lpstr>
      <vt:lpstr>5_感谢页模板</vt:lpstr>
      <vt:lpstr>PowerPoint 演示文稿</vt:lpstr>
      <vt:lpstr>虚拟化园区网络部署指南</vt:lpstr>
      <vt:lpstr>PowerPoint 演示文稿</vt:lpstr>
      <vt:lpstr>PowerPoint 演示文稿</vt:lpstr>
      <vt:lpstr>PowerPoint 演示文稿</vt:lpstr>
      <vt:lpstr>CloudCampus的三种部署模式</vt:lpstr>
      <vt:lpstr>知识回顾：虚拟化园区网络架构</vt:lpstr>
      <vt:lpstr>知识回顾：虚拟化园区网络中的网络节点</vt:lpstr>
      <vt:lpstr>虚拟化园区网络实验：实验需求</vt:lpstr>
      <vt:lpstr>虚拟化园区网络实验：网关方案选择</vt:lpstr>
      <vt:lpstr>虚拟化园区网络实验：物理及VXLAN组网</vt:lpstr>
      <vt:lpstr>虚拟化园区网络实验：虚拟网络</vt:lpstr>
      <vt:lpstr>虚拟化园区网络实验：安全组及策略控制矩阵</vt:lpstr>
      <vt:lpstr>PowerPoint 演示文稿</vt:lpstr>
      <vt:lpstr>虚拟化园区网络方案部署流程图</vt:lpstr>
      <vt:lpstr>PowerPoint 演示文稿</vt:lpstr>
      <vt:lpstr>服务器及软件安装 (1)</vt:lpstr>
      <vt:lpstr>服务器及软件安装 (2)</vt:lpstr>
      <vt:lpstr>设备预配置</vt:lpstr>
      <vt:lpstr>PowerPoint 演示文稿</vt:lpstr>
      <vt:lpstr>创建站点与添加设备</vt:lpstr>
      <vt:lpstr>创建站点与添加设备方式</vt:lpstr>
      <vt:lpstr>实验：创建站点、添加设备与设备即插即用</vt:lpstr>
      <vt:lpstr>资源池配置：Fabric全局资源池</vt:lpstr>
      <vt:lpstr>实验：配置Fabric全局资源池</vt:lpstr>
      <vt:lpstr>资源池配置：Underlay自动化资源池</vt:lpstr>
      <vt:lpstr>实验：配置Underlay自动化资源池</vt:lpstr>
      <vt:lpstr>策略模板配置：用户接入认证</vt:lpstr>
      <vt:lpstr>实验：配置用户接入认证模板</vt:lpstr>
      <vt:lpstr>配置Fabric网络</vt:lpstr>
      <vt:lpstr>配置Fabric网络：创建Fabric</vt:lpstr>
      <vt:lpstr>实验：创建Fabric (1)</vt:lpstr>
      <vt:lpstr>实验：创建Fabric (2)</vt:lpstr>
      <vt:lpstr>实验：创建Fabric (3)</vt:lpstr>
      <vt:lpstr>实验：创建Fabric (4)</vt:lpstr>
      <vt:lpstr>配置Fabric网络：创建外部网络</vt:lpstr>
      <vt:lpstr>实验：创建外部网络 (1)</vt:lpstr>
      <vt:lpstr>实验：创建外部网络 (2)</vt:lpstr>
      <vt:lpstr>实验：创建外部网络 (3)</vt:lpstr>
      <vt:lpstr>配置Fabric网络：创建网络服务资源</vt:lpstr>
      <vt:lpstr>实现：创建网络服务资源 (1)</vt:lpstr>
      <vt:lpstr>实现：创建网络服务资源 (2)</vt:lpstr>
      <vt:lpstr>配置Fabric网络：配置接入管理</vt:lpstr>
      <vt:lpstr>实验：配置Fabric接入管理 (1)</vt:lpstr>
      <vt:lpstr>实验：配置Fabric接入管理 (2)</vt:lpstr>
      <vt:lpstr>逻辑网络</vt:lpstr>
      <vt:lpstr>Fabric包含的资源池以及创建VN时资源调用的对应表</vt:lpstr>
      <vt:lpstr>创建VN</vt:lpstr>
      <vt:lpstr>实验：创建VN (1)</vt:lpstr>
      <vt:lpstr>实验：创建VN (2)</vt:lpstr>
      <vt:lpstr>实验：创建VN (3)</vt:lpstr>
      <vt:lpstr>实验：创建VN (4)</vt:lpstr>
      <vt:lpstr>VN互通</vt:lpstr>
      <vt:lpstr>实验：配置VN互通</vt:lpstr>
      <vt:lpstr>业务部署</vt:lpstr>
      <vt:lpstr>实验：创建安全组</vt:lpstr>
      <vt:lpstr>实验：创建资源组</vt:lpstr>
      <vt:lpstr>实验：创建策略控制矩阵 (1)</vt:lpstr>
      <vt:lpstr>实验：创建策略控制矩阵 (2)</vt:lpstr>
      <vt:lpstr>准入认证</vt:lpstr>
      <vt:lpstr>实验：创建用户组和账号</vt:lpstr>
      <vt:lpstr>实验：配置认证规则</vt:lpstr>
      <vt:lpstr>实验：配置授权结果</vt:lpstr>
      <vt:lpstr>实验：配置授权规则</vt:lpstr>
      <vt:lpstr>WLAN业务</vt:lpstr>
      <vt:lpstr>实验：AP上线 (1)</vt:lpstr>
      <vt:lpstr>实验：AP上线 (2)</vt:lpstr>
      <vt:lpstr>实验：AP上线 (3)</vt:lpstr>
      <vt:lpstr>实验：控制器侧无线业务配置 (1)</vt:lpstr>
      <vt:lpstr>实验：控制器侧无线业务配置 (2)</vt:lpstr>
      <vt:lpstr>实验：无线业务下发</vt:lpstr>
      <vt:lpstr>PowerPoint 演示文稿</vt:lpstr>
      <vt:lpstr>PowerPoint 演示文稿</vt:lpstr>
      <vt:lpstr>PowerPoint 演示文稿</vt:lpstr>
    </vt:vector>
  </TitlesOfParts>
  <Company>Huawei Technologies Co.,Ltd.</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fanyan (A)</dc:creator>
  <cp:lastModifiedBy>luyueyuezjhw</cp:lastModifiedBy>
  <cp:revision>587</cp:revision>
  <cp:lastPrinted>2020-07-31T09:33:18Z</cp:lastPrinted>
  <dcterms:created xsi:type="dcterms:W3CDTF">2018-11-29T10:16:29Z</dcterms:created>
  <dcterms:modified xsi:type="dcterms:W3CDTF">2021-10-13T07:49:53Z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2015_ms_pID_725343">
    <vt:lpwstr>(3)RgYrArBnQuAfCDZgEnnj/lMdjCNVOtj+T4q1INz6mzYN4ViOmuKAiir4MnX3281cfSbHtTFG
yzuVlwNnt0fyHitz9KKhJ2NlcGgRWQVYSAyuBDFWUec5Jtg9lMJ6DAs1nHPV8Y6XWgzcGVxm
LGkPwrWoTifO5vqRv8s3rkNll0/pb9Mfo+QHIWBiSc0Ny1pY7znA9h40OMuAkrdSm0iCUSDM
llpHVXnoRQT0vCVAtO</vt:lpwstr>
  </property>
  <property fmtid="{D5CDD505-2E9C-101B-9397-08002B2CF9AE}" pid="3" name="_2015_ms_pID_7253431">
    <vt:lpwstr>mz03Kgz08Vy4hDYmFLicXvCVCDysCVvTW6uWMXHaXY74A8cEK16Quw
+rRoLiI44LDXXwjHIOVpZGuyv6Ry1bleBYVS4av0W/wdg7MqthiifPOnCzgJ4lE2PZIWI4bN
Nd0ZY9/W2eIuSe3cFz8IM1CX2t23UwWaH7PE5+iueSm7iPu215rOZsuCQPdx8piZGQQYNWBg
//JpI4tSrQOkpkVOU+HF0gcnnzAT9INhQ1Dv</vt:lpwstr>
  </property>
  <property fmtid="{D5CDD505-2E9C-101B-9397-08002B2CF9AE}" pid="4" name="_2015_ms_pID_7253432">
    <vt:lpwstr>EElqkLfC/W1hc3ae3YBcB74=</vt:lpwstr>
  </property>
  <property fmtid="{D5CDD505-2E9C-101B-9397-08002B2CF9AE}" pid="5" name="ContentTypeId">
    <vt:lpwstr>0x01010002C5B4B712841F4C8A7AAEE2CD191271</vt:lpwstr>
  </property>
  <property fmtid="{D5CDD505-2E9C-101B-9397-08002B2CF9AE}" pid="6" name="_readonly">
    <vt:lpwstr/>
  </property>
  <property fmtid="{D5CDD505-2E9C-101B-9397-08002B2CF9AE}" pid="7" name="_change">
    <vt:lpwstr/>
  </property>
  <property fmtid="{D5CDD505-2E9C-101B-9397-08002B2CF9AE}" pid="8" name="_full-control">
    <vt:lpwstr/>
  </property>
  <property fmtid="{D5CDD505-2E9C-101B-9397-08002B2CF9AE}" pid="9" name="sflag">
    <vt:lpwstr>1634024950</vt:lpwstr>
  </property>
</Properties>
</file>