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55"/>
  </p:notesMasterIdLst>
  <p:handoutMasterIdLst>
    <p:handoutMasterId r:id="rId56"/>
  </p:handoutMasterIdLst>
  <p:sldIdLst>
    <p:sldId id="256" r:id="rId8"/>
    <p:sldId id="257" r:id="rId9"/>
    <p:sldId id="258" r:id="rId10"/>
    <p:sldId id="259" r:id="rId11"/>
    <p:sldId id="260" r:id="rId12"/>
    <p:sldId id="261" r:id="rId13"/>
    <p:sldId id="371" r:id="rId14"/>
    <p:sldId id="384" r:id="rId15"/>
    <p:sldId id="372" r:id="rId16"/>
    <p:sldId id="263" r:id="rId17"/>
    <p:sldId id="272" r:id="rId18"/>
    <p:sldId id="264" r:id="rId19"/>
    <p:sldId id="385" r:id="rId20"/>
    <p:sldId id="277" r:id="rId21"/>
    <p:sldId id="278" r:id="rId22"/>
    <p:sldId id="267" r:id="rId23"/>
    <p:sldId id="374" r:id="rId24"/>
    <p:sldId id="386" r:id="rId25"/>
    <p:sldId id="281" r:id="rId26"/>
    <p:sldId id="375" r:id="rId27"/>
    <p:sldId id="383" r:id="rId28"/>
    <p:sldId id="309" r:id="rId29"/>
    <p:sldId id="308" r:id="rId30"/>
    <p:sldId id="306" r:id="rId31"/>
    <p:sldId id="377" r:id="rId32"/>
    <p:sldId id="319" r:id="rId33"/>
    <p:sldId id="320" r:id="rId34"/>
    <p:sldId id="321" r:id="rId35"/>
    <p:sldId id="322" r:id="rId36"/>
    <p:sldId id="379" r:id="rId37"/>
    <p:sldId id="380" r:id="rId38"/>
    <p:sldId id="381" r:id="rId39"/>
    <p:sldId id="382" r:id="rId40"/>
    <p:sldId id="376" r:id="rId41"/>
    <p:sldId id="293" r:id="rId42"/>
    <p:sldId id="294" r:id="rId43"/>
    <p:sldId id="296" r:id="rId44"/>
    <p:sldId id="297" r:id="rId45"/>
    <p:sldId id="298" r:id="rId46"/>
    <p:sldId id="299" r:id="rId47"/>
    <p:sldId id="300" r:id="rId48"/>
    <p:sldId id="301" r:id="rId49"/>
    <p:sldId id="302" r:id="rId50"/>
    <p:sldId id="378" r:id="rId51"/>
    <p:sldId id="368" r:id="rId52"/>
    <p:sldId id="369" r:id="rId53"/>
    <p:sldId id="370" r:id="rId54"/>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4" orient="horz" pos="234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41" clrIdx="0">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C4D2"/>
    <a:srgbClr val="D0E8C4"/>
    <a:srgbClr val="81C15F"/>
    <a:srgbClr val="30B5C5"/>
    <a:srgbClr val="94DAE2"/>
    <a:srgbClr val="ECF9FA"/>
    <a:srgbClr val="BEE9EE"/>
    <a:srgbClr val="ED6D00"/>
    <a:srgbClr val="F28944"/>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63" autoAdjust="0"/>
    <p:restoredTop sz="75317" autoAdjust="0"/>
  </p:normalViewPr>
  <p:slideViewPr>
    <p:cSldViewPr snapToGrid="0" snapToObjects="1">
      <p:cViewPr varScale="1">
        <p:scale>
          <a:sx n="110" d="100"/>
          <a:sy n="110" d="100"/>
        </p:scale>
        <p:origin x="78" y="108"/>
      </p:cViewPr>
      <p:guideLst>
        <p:guide pos="3840"/>
        <p:guide orient="horz" pos="2341"/>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p:cViewPr>
        <p:scale>
          <a:sx n="100" d="100"/>
          <a:sy n="100" d="100"/>
        </p:scale>
        <p:origin x="3420" y="-708"/>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notesMaster" Target="notesMasters/notes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viewProps" Target="view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commentAuthors" Target="commentAuthor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10/19/2021</a:t>
            </a:fld>
            <a:endParaRPr lang="en-US" dirty="0">
              <a:latin typeface="Huawei Sans" panose="020C0503030203020204" pitchFamily="34" charset="0"/>
            </a:endParaRPr>
          </a:p>
        </p:txBody>
      </p:sp>
      <p:sp>
        <p:nvSpPr>
          <p:cNvPr id="4" name="Footer Placeholder 3">
            <a:extLst>
              <a:ext uri="{FF2B5EF4-FFF2-40B4-BE49-F238E27FC236}">
                <a16:creationId xmlns=""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298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597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594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1393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备注占位符 6"/>
          <p:cNvSpPr>
            <a:spLocks noGrp="1"/>
          </p:cNvSpPr>
          <p:nvPr>
            <p:ph type="body" idx="1"/>
          </p:nvPr>
        </p:nvSpPr>
        <p:spPr/>
        <p:txBody>
          <a:bodyPr/>
          <a:lstStyle/>
          <a:p>
            <a:endParaRPr lang="zh-CN" altLang="en-US" dirty="0"/>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96319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IPv4</a:t>
            </a:r>
            <a:r>
              <a:rPr lang="zh-CN" altLang="en-US" dirty="0" smtClean="0"/>
              <a:t>的缺陷：</a:t>
            </a:r>
            <a:endParaRPr lang="en-US" altLang="zh-CN" dirty="0" smtClean="0"/>
          </a:p>
          <a:p>
            <a:pPr lvl="1"/>
            <a:r>
              <a:rPr lang="en-US" altLang="zh-CN" dirty="0" smtClean="0"/>
              <a:t>IPv4</a:t>
            </a:r>
            <a:r>
              <a:rPr lang="zh-CN" altLang="en-US" dirty="0" smtClean="0"/>
              <a:t>地址空间不足：</a:t>
            </a:r>
            <a:r>
              <a:rPr lang="en-US" altLang="zh-CN" dirty="0" smtClean="0"/>
              <a:t>IPv4</a:t>
            </a:r>
            <a:r>
              <a:rPr lang="zh-CN" altLang="en-US" dirty="0" smtClean="0"/>
              <a:t>地址采用</a:t>
            </a:r>
            <a:r>
              <a:rPr lang="en-US" altLang="zh-CN" dirty="0" smtClean="0"/>
              <a:t>32</a:t>
            </a:r>
            <a:r>
              <a:rPr lang="zh-CN" altLang="en-US" dirty="0" smtClean="0"/>
              <a:t>比特标识，理论上能够提供的地址数量是</a:t>
            </a:r>
            <a:r>
              <a:rPr lang="en-US" altLang="zh-CN" dirty="0" smtClean="0"/>
              <a:t>43</a:t>
            </a:r>
            <a:r>
              <a:rPr lang="zh-CN" altLang="en-US" dirty="0" smtClean="0"/>
              <a:t>亿。但由于地址分配的原因，实际可使用的数量不到</a:t>
            </a:r>
            <a:r>
              <a:rPr lang="en-US" altLang="zh-CN" dirty="0" smtClean="0"/>
              <a:t>43</a:t>
            </a:r>
            <a:r>
              <a:rPr lang="zh-CN" altLang="en-US" dirty="0" smtClean="0"/>
              <a:t>亿。另外，</a:t>
            </a:r>
            <a:r>
              <a:rPr lang="en-US" altLang="zh-CN" dirty="0" smtClean="0"/>
              <a:t>IPv4</a:t>
            </a:r>
            <a:r>
              <a:rPr lang="zh-CN" altLang="en-US" dirty="0" smtClean="0"/>
              <a:t>地址的分配也很不均衡：美国占全球地址空间的一半左右，而欧洲则相对匮乏；亚太地区则更加匮乏。与此同时，移动</a:t>
            </a:r>
            <a:r>
              <a:rPr lang="en-US" altLang="zh-CN" dirty="0" smtClean="0"/>
              <a:t>IP</a:t>
            </a:r>
            <a:r>
              <a:rPr lang="zh-CN" altLang="en-US" dirty="0" smtClean="0"/>
              <a:t>和宽带技术的发展需要更多的</a:t>
            </a:r>
            <a:r>
              <a:rPr lang="en-US" altLang="zh-CN" dirty="0" smtClean="0"/>
              <a:t>IP</a:t>
            </a:r>
            <a:r>
              <a:rPr lang="zh-CN" altLang="en-US" dirty="0" smtClean="0"/>
              <a:t>地址。</a:t>
            </a:r>
            <a:r>
              <a:rPr lang="en-US" altLang="zh-CN" dirty="0" smtClean="0"/>
              <a:t>IPv4</a:t>
            </a:r>
            <a:r>
              <a:rPr lang="zh-CN" altLang="en-US" dirty="0" smtClean="0"/>
              <a:t>地址资源紧张直接限制了</a:t>
            </a:r>
            <a:r>
              <a:rPr lang="en-US" altLang="zh-CN" dirty="0" smtClean="0"/>
              <a:t>IP</a:t>
            </a:r>
            <a:r>
              <a:rPr lang="zh-CN" altLang="en-US" dirty="0" smtClean="0"/>
              <a:t>技术应用的进一步发展。</a:t>
            </a:r>
          </a:p>
          <a:p>
            <a:pPr lvl="1"/>
            <a:r>
              <a:rPr lang="zh-CN" altLang="en-US" dirty="0" smtClean="0"/>
              <a:t>设备维护的路由表表项数量过大：由于</a:t>
            </a:r>
            <a:r>
              <a:rPr lang="en-US" altLang="zh-CN" dirty="0" smtClean="0"/>
              <a:t>IPv4</a:t>
            </a:r>
            <a:r>
              <a:rPr lang="zh-CN" altLang="en-US" dirty="0" smtClean="0"/>
              <a:t>发展初期的分配规划问题，造成许多</a:t>
            </a:r>
            <a:r>
              <a:rPr lang="en-US" altLang="zh-CN" dirty="0" smtClean="0"/>
              <a:t>IPv4</a:t>
            </a:r>
            <a:r>
              <a:rPr lang="zh-CN" altLang="en-US" dirty="0" smtClean="0"/>
              <a:t>地址的分配不连续，不能有效聚合路由。日益庞大的路由表耗用大量内存，对设备成本和转发效率产生影响，这一问题促使设备制造商不断提升其产品路由寻址和转发性能。</a:t>
            </a:r>
          </a:p>
          <a:p>
            <a:pPr lvl="1"/>
            <a:r>
              <a:rPr lang="zh-CN" altLang="en-US" dirty="0" smtClean="0"/>
              <a:t>不易进行自动配置和重新编址：由于</a:t>
            </a:r>
            <a:r>
              <a:rPr lang="en-US" altLang="zh-CN" dirty="0" smtClean="0"/>
              <a:t>IPv4</a:t>
            </a:r>
            <a:r>
              <a:rPr lang="zh-CN" altLang="en-US" dirty="0" smtClean="0"/>
              <a:t>地址只有</a:t>
            </a:r>
            <a:r>
              <a:rPr lang="en-US" altLang="zh-CN" dirty="0" smtClean="0"/>
              <a:t>32</a:t>
            </a:r>
            <a:r>
              <a:rPr lang="zh-CN" altLang="en-US" dirty="0" smtClean="0"/>
              <a:t>比特，并且地址分配不均衡，导致在网络扩容或重新部署时，经常需要重新分配</a:t>
            </a:r>
            <a:r>
              <a:rPr lang="en-US" altLang="zh-CN" dirty="0" smtClean="0"/>
              <a:t>IP</a:t>
            </a:r>
            <a:r>
              <a:rPr lang="zh-CN" altLang="en-US" dirty="0" smtClean="0"/>
              <a:t>地址。维护工作量较大。</a:t>
            </a:r>
            <a:endParaRPr lang="en-US" altLang="zh-CN" dirty="0" smtClean="0"/>
          </a:p>
          <a:p>
            <a:r>
              <a:rPr lang="en-US" altLang="zh-CN" dirty="0" smtClean="0"/>
              <a:t>IPv6</a:t>
            </a:r>
            <a:r>
              <a:rPr lang="zh-CN" altLang="en-US" dirty="0" smtClean="0"/>
              <a:t>的优势：</a:t>
            </a:r>
            <a:endParaRPr lang="en-US" altLang="zh-CN" dirty="0" smtClean="0"/>
          </a:p>
          <a:p>
            <a:pPr lvl="1"/>
            <a:r>
              <a:rPr lang="zh-CN" altLang="en-US" dirty="0" smtClean="0"/>
              <a:t>易于部署。</a:t>
            </a:r>
          </a:p>
          <a:p>
            <a:pPr lvl="1"/>
            <a:r>
              <a:rPr lang="zh-CN" altLang="en-US" dirty="0" smtClean="0"/>
              <a:t>能够兼容当前的各种应用。</a:t>
            </a:r>
          </a:p>
          <a:p>
            <a:pPr lvl="1"/>
            <a:r>
              <a:rPr lang="zh-CN" altLang="en-US" dirty="0" smtClean="0"/>
              <a:t>方便用户的平滑过渡。</a:t>
            </a:r>
            <a:endParaRPr lang="en-US" altLang="zh-CN" dirty="0" smtClean="0"/>
          </a:p>
          <a:p>
            <a:r>
              <a:rPr lang="en-US" altLang="zh-CN" dirty="0" smtClean="0"/>
              <a:t>IANA</a:t>
            </a:r>
            <a:r>
              <a:rPr lang="zh-CN" altLang="en-US" dirty="0" smtClean="0"/>
              <a:t>：</a:t>
            </a:r>
            <a:r>
              <a:rPr lang="en-US" altLang="zh-CN" dirty="0" smtClean="0"/>
              <a:t>Internet Assigned Numbers Authority</a:t>
            </a:r>
            <a:r>
              <a:rPr lang="zh-CN" altLang="en-US" dirty="0" smtClean="0"/>
              <a:t>，因特网地址分配组织</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01287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IPv6</a:t>
            </a:r>
            <a:r>
              <a:rPr lang="zh-CN" altLang="en-US" dirty="0" smtClean="0"/>
              <a:t>基本报头也称之为固定报头。固定报头包含</a:t>
            </a:r>
            <a:r>
              <a:rPr lang="en-US" altLang="zh-CN" dirty="0" smtClean="0"/>
              <a:t>8</a:t>
            </a:r>
            <a:r>
              <a:rPr lang="zh-CN" altLang="en-US" dirty="0" smtClean="0"/>
              <a:t>个字段，总长度为</a:t>
            </a:r>
            <a:r>
              <a:rPr lang="en-US" altLang="zh-CN" dirty="0" smtClean="0"/>
              <a:t>40 Byte</a:t>
            </a:r>
            <a:r>
              <a:rPr lang="zh-CN" altLang="en-US" dirty="0" smtClean="0"/>
              <a:t>。这</a:t>
            </a:r>
            <a:r>
              <a:rPr lang="en-US" altLang="zh-CN" dirty="0" smtClean="0"/>
              <a:t>8</a:t>
            </a:r>
            <a:r>
              <a:rPr lang="zh-CN" altLang="en-US" dirty="0" smtClean="0"/>
              <a:t>个字段分别为：版本（</a:t>
            </a:r>
            <a:r>
              <a:rPr lang="en-US" altLang="zh-CN" dirty="0" smtClean="0"/>
              <a:t>Version</a:t>
            </a:r>
            <a:r>
              <a:rPr lang="zh-CN" altLang="en-US" dirty="0" smtClean="0"/>
              <a:t>）、流量类型（</a:t>
            </a:r>
            <a:r>
              <a:rPr lang="en-US" altLang="zh-CN" dirty="0" smtClean="0"/>
              <a:t>Traffic Class</a:t>
            </a:r>
            <a:r>
              <a:rPr lang="zh-CN" altLang="en-US" dirty="0" smtClean="0"/>
              <a:t>）、流标签（</a:t>
            </a:r>
            <a:r>
              <a:rPr lang="en-US" altLang="zh-CN" dirty="0" smtClean="0"/>
              <a:t>Flow Label</a:t>
            </a:r>
            <a:r>
              <a:rPr lang="zh-CN" altLang="en-US" dirty="0" smtClean="0"/>
              <a:t>）、净荷长度（</a:t>
            </a:r>
            <a:r>
              <a:rPr lang="en-US" altLang="zh-CN" dirty="0" smtClean="0"/>
              <a:t>Payload Length</a:t>
            </a:r>
            <a:r>
              <a:rPr lang="zh-CN" altLang="en-US" dirty="0" smtClean="0"/>
              <a:t>）、下一个报头（</a:t>
            </a:r>
            <a:r>
              <a:rPr lang="en-US" altLang="zh-CN" dirty="0" smtClean="0"/>
              <a:t>Next Header</a:t>
            </a:r>
            <a:r>
              <a:rPr lang="zh-CN" altLang="en-US" dirty="0" smtClean="0"/>
              <a:t>）、跳数限制（</a:t>
            </a:r>
            <a:r>
              <a:rPr lang="en-US" altLang="zh-CN" dirty="0" smtClean="0"/>
              <a:t>Hop Limit</a:t>
            </a:r>
            <a:r>
              <a:rPr lang="zh-CN" altLang="en-US" dirty="0" smtClean="0"/>
              <a:t>）、源</a:t>
            </a:r>
            <a:r>
              <a:rPr lang="en-US" altLang="zh-CN" dirty="0" smtClean="0"/>
              <a:t>IPv6</a:t>
            </a:r>
            <a:r>
              <a:rPr lang="zh-CN" altLang="en-US" dirty="0" smtClean="0"/>
              <a:t>地址、目的</a:t>
            </a:r>
            <a:r>
              <a:rPr lang="en-US" altLang="zh-CN" dirty="0" smtClean="0"/>
              <a:t>IPv6</a:t>
            </a:r>
            <a:r>
              <a:rPr lang="zh-CN" altLang="en-US" dirty="0" smtClean="0"/>
              <a:t>地址。</a:t>
            </a:r>
          </a:p>
          <a:p>
            <a:pPr lvl="1"/>
            <a:r>
              <a:rPr lang="zh-CN" altLang="en-US" dirty="0" smtClean="0"/>
              <a:t>版本（</a:t>
            </a:r>
            <a:r>
              <a:rPr lang="en-US" altLang="zh-CN" dirty="0" smtClean="0"/>
              <a:t>Version</a:t>
            </a:r>
            <a:r>
              <a:rPr lang="zh-CN" altLang="en-US" dirty="0" smtClean="0"/>
              <a:t>）：该字段规定了</a:t>
            </a:r>
            <a:r>
              <a:rPr lang="en-US" altLang="zh-CN" dirty="0" smtClean="0"/>
              <a:t>IP</a:t>
            </a:r>
            <a:r>
              <a:rPr lang="zh-CN" altLang="en-US" dirty="0" smtClean="0"/>
              <a:t>协议的版本，其值为</a:t>
            </a:r>
            <a:r>
              <a:rPr lang="en-US" altLang="zh-CN" dirty="0" smtClean="0"/>
              <a:t>6</a:t>
            </a:r>
            <a:r>
              <a:rPr lang="zh-CN" altLang="en-US" dirty="0" smtClean="0"/>
              <a:t>。长度为</a:t>
            </a:r>
            <a:r>
              <a:rPr lang="en-US" altLang="zh-CN" dirty="0" smtClean="0"/>
              <a:t>4 bit</a:t>
            </a:r>
            <a:r>
              <a:rPr lang="zh-CN" altLang="en-US" dirty="0" smtClean="0"/>
              <a:t>。</a:t>
            </a:r>
          </a:p>
          <a:p>
            <a:pPr lvl="1"/>
            <a:r>
              <a:rPr lang="zh-CN" altLang="en-US" dirty="0" smtClean="0"/>
              <a:t>流类别（</a:t>
            </a:r>
            <a:r>
              <a:rPr lang="en-US" altLang="zh-CN" dirty="0" smtClean="0"/>
              <a:t>Traffic Class</a:t>
            </a:r>
            <a:r>
              <a:rPr lang="zh-CN" altLang="en-US" dirty="0" smtClean="0"/>
              <a:t>）：该字段功能和</a:t>
            </a:r>
            <a:r>
              <a:rPr lang="en-US" altLang="zh-CN" dirty="0" smtClean="0"/>
              <a:t>IPv4</a:t>
            </a:r>
            <a:r>
              <a:rPr lang="zh-CN" altLang="en-US" dirty="0" smtClean="0"/>
              <a:t>中的服务类型功能类似，表示</a:t>
            </a:r>
            <a:r>
              <a:rPr lang="en-US" altLang="zh-CN" dirty="0" smtClean="0"/>
              <a:t>IPv6</a:t>
            </a:r>
            <a:r>
              <a:rPr lang="zh-CN" altLang="en-US" dirty="0" smtClean="0"/>
              <a:t>数据报文的类或优先级。长度为</a:t>
            </a:r>
            <a:r>
              <a:rPr lang="en-US" altLang="zh-CN" dirty="0" smtClean="0"/>
              <a:t>8 bit</a:t>
            </a:r>
            <a:r>
              <a:rPr lang="zh-CN" altLang="en-US" dirty="0" smtClean="0"/>
              <a:t>。</a:t>
            </a:r>
          </a:p>
          <a:p>
            <a:pPr lvl="1"/>
            <a:r>
              <a:rPr lang="zh-CN" altLang="en-US" dirty="0" smtClean="0"/>
              <a:t>流标签（</a:t>
            </a:r>
            <a:r>
              <a:rPr lang="en-US" altLang="zh-CN" dirty="0" smtClean="0"/>
              <a:t>Flow Label</a:t>
            </a:r>
            <a:r>
              <a:rPr lang="zh-CN" altLang="en-US" dirty="0" smtClean="0"/>
              <a:t>）：与</a:t>
            </a:r>
            <a:r>
              <a:rPr lang="en-US" altLang="zh-CN" dirty="0" smtClean="0"/>
              <a:t>IPv4</a:t>
            </a:r>
            <a:r>
              <a:rPr lang="zh-CN" altLang="en-US" dirty="0" smtClean="0"/>
              <a:t>相比，该字段是新增的。它用来标识这个数据报属于源节点和目标节点之间的一个特定数据报序列，它需要由中间</a:t>
            </a:r>
            <a:r>
              <a:rPr lang="en-US" altLang="zh-CN" dirty="0" smtClean="0"/>
              <a:t>IPv6</a:t>
            </a:r>
            <a:r>
              <a:rPr lang="zh-CN" altLang="en-US" dirty="0" smtClean="0"/>
              <a:t>路由器进行特殊处理。该字段长度为</a:t>
            </a:r>
            <a:r>
              <a:rPr lang="en-US" altLang="zh-CN" dirty="0" smtClean="0"/>
              <a:t>20 bit</a:t>
            </a:r>
            <a:r>
              <a:rPr lang="zh-CN" altLang="en-US" dirty="0" smtClean="0"/>
              <a:t>。一般来说一个流可以通过源</a:t>
            </a:r>
            <a:r>
              <a:rPr lang="en-US" altLang="zh-CN" dirty="0" smtClean="0"/>
              <a:t>/</a:t>
            </a:r>
            <a:r>
              <a:rPr lang="zh-CN" altLang="en-US" dirty="0" smtClean="0"/>
              <a:t>目的</a:t>
            </a:r>
            <a:r>
              <a:rPr lang="en-US" altLang="zh-CN" dirty="0" smtClean="0"/>
              <a:t>IPv6</a:t>
            </a:r>
            <a:r>
              <a:rPr lang="zh-CN" altLang="en-US" dirty="0" smtClean="0"/>
              <a:t>地址和流标签来确定。</a:t>
            </a:r>
          </a:p>
          <a:p>
            <a:pPr lvl="1"/>
            <a:r>
              <a:rPr lang="zh-CN" altLang="en-US" dirty="0" smtClean="0"/>
              <a:t>有效载荷长度（</a:t>
            </a:r>
            <a:r>
              <a:rPr lang="en-US" altLang="zh-CN" dirty="0" smtClean="0"/>
              <a:t>Payload Length</a:t>
            </a:r>
            <a:r>
              <a:rPr lang="zh-CN" altLang="en-US" dirty="0" smtClean="0"/>
              <a:t>）：该字段表示</a:t>
            </a:r>
            <a:r>
              <a:rPr lang="en-US" altLang="zh-CN" dirty="0" smtClean="0"/>
              <a:t>IPv6</a:t>
            </a:r>
            <a:r>
              <a:rPr lang="zh-CN" altLang="en-US" dirty="0" smtClean="0"/>
              <a:t>数据报有效载荷的长度。有效载荷是指紧跟</a:t>
            </a:r>
            <a:r>
              <a:rPr lang="en-US" altLang="zh-CN" dirty="0" smtClean="0"/>
              <a:t>IPv6</a:t>
            </a:r>
            <a:r>
              <a:rPr lang="zh-CN" altLang="en-US" dirty="0" smtClean="0"/>
              <a:t>报头的数据报的其它部分（即扩展报头和上层协议数据单元）。该字段长度为</a:t>
            </a:r>
            <a:r>
              <a:rPr lang="en-US" altLang="zh-CN" dirty="0" smtClean="0"/>
              <a:t>16 bit</a:t>
            </a:r>
            <a:r>
              <a:rPr lang="zh-CN" altLang="en-US" dirty="0" smtClean="0"/>
              <a:t>，能表示最大长度为</a:t>
            </a:r>
            <a:r>
              <a:rPr lang="en-US" altLang="zh-CN" dirty="0" smtClean="0"/>
              <a:t>65535 Byte</a:t>
            </a:r>
            <a:r>
              <a:rPr lang="zh-CN" altLang="en-US" dirty="0" smtClean="0"/>
              <a:t>的有效载荷。如果有效载荷的长度超过这个值，该字段会置</a:t>
            </a:r>
            <a:r>
              <a:rPr lang="en-US" altLang="zh-CN" dirty="0" smtClean="0"/>
              <a:t>0</a:t>
            </a:r>
            <a:r>
              <a:rPr lang="zh-CN" altLang="en-US" dirty="0" smtClean="0"/>
              <a:t>，而有效载荷的长度用逐跳选项扩展报头中的超大有效载荷选项来表示。</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04997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1"/>
            <a:r>
              <a:rPr lang="zh-CN" altLang="en-US" dirty="0"/>
              <a:t>下一个报头（</a:t>
            </a:r>
            <a:r>
              <a:rPr lang="en-US" altLang="zh-CN" dirty="0"/>
              <a:t>Next Header</a:t>
            </a:r>
            <a:r>
              <a:rPr lang="zh-CN" altLang="en-US" dirty="0"/>
              <a:t>）：</a:t>
            </a:r>
            <a:endParaRPr lang="en-US" altLang="zh-CN" dirty="0"/>
          </a:p>
          <a:p>
            <a:pPr lvl="2"/>
            <a:r>
              <a:rPr lang="zh-CN" altLang="en-US" dirty="0"/>
              <a:t>该字段定义紧跟在</a:t>
            </a:r>
            <a:r>
              <a:rPr lang="en-US" altLang="zh-CN" dirty="0"/>
              <a:t>IPv6</a:t>
            </a:r>
            <a:r>
              <a:rPr lang="zh-CN" altLang="en-US" dirty="0"/>
              <a:t>报头后面的第一个扩展报头（如果存在）的类型，或者上层协议数据单元中的协议类型。该字段长度为</a:t>
            </a:r>
            <a:r>
              <a:rPr lang="en-US" altLang="zh-CN" dirty="0"/>
              <a:t>8 bit</a:t>
            </a:r>
            <a:r>
              <a:rPr lang="zh-CN" altLang="en-US" dirty="0"/>
              <a:t>。</a:t>
            </a:r>
          </a:p>
          <a:p>
            <a:pPr lvl="1"/>
            <a:r>
              <a:rPr lang="zh-CN" altLang="en-US" dirty="0"/>
              <a:t>跳数限制（</a:t>
            </a:r>
            <a:r>
              <a:rPr lang="en-US" altLang="zh-CN" dirty="0"/>
              <a:t>Hop Limit</a:t>
            </a:r>
            <a:r>
              <a:rPr lang="zh-CN" altLang="en-US" dirty="0"/>
              <a:t>）</a:t>
            </a:r>
          </a:p>
          <a:p>
            <a:pPr lvl="2"/>
            <a:r>
              <a:rPr lang="zh-CN" altLang="en-US" dirty="0"/>
              <a:t>该字段类似于</a:t>
            </a:r>
            <a:r>
              <a:rPr lang="en-US" altLang="zh-CN" dirty="0"/>
              <a:t>IPv4</a:t>
            </a:r>
            <a:r>
              <a:rPr lang="zh-CN" altLang="en-US" dirty="0"/>
              <a:t>中的</a:t>
            </a:r>
            <a:r>
              <a:rPr lang="en-US" altLang="zh-CN" dirty="0"/>
              <a:t>TTL</a:t>
            </a:r>
            <a:r>
              <a:rPr lang="zh-CN" altLang="en-US" dirty="0"/>
              <a:t>（</a:t>
            </a:r>
            <a:r>
              <a:rPr lang="en-US" altLang="zh-CN" dirty="0"/>
              <a:t>Time to Live</a:t>
            </a:r>
            <a:r>
              <a:rPr lang="zh-CN" altLang="en-US" dirty="0"/>
              <a:t>）字段。它定义了</a:t>
            </a:r>
            <a:r>
              <a:rPr lang="en-US" altLang="zh-CN" dirty="0"/>
              <a:t>IP</a:t>
            </a:r>
            <a:r>
              <a:rPr lang="zh-CN" altLang="en-US" dirty="0"/>
              <a:t>数据报所能经过的最大跳数。每经过一个路由器，该数值减去</a:t>
            </a:r>
            <a:r>
              <a:rPr lang="en-US" altLang="zh-CN" dirty="0"/>
              <a:t>1</a:t>
            </a:r>
            <a:r>
              <a:rPr lang="zh-CN" altLang="en-US" dirty="0"/>
              <a:t>，当该字段的值为</a:t>
            </a:r>
            <a:r>
              <a:rPr lang="en-US" altLang="zh-CN" dirty="0"/>
              <a:t>0</a:t>
            </a:r>
            <a:r>
              <a:rPr lang="zh-CN" altLang="en-US" dirty="0"/>
              <a:t>时，数据报将被丢弃。该字段长度为</a:t>
            </a:r>
            <a:r>
              <a:rPr lang="en-US" altLang="zh-CN" dirty="0"/>
              <a:t>8 bit</a:t>
            </a:r>
            <a:r>
              <a:rPr lang="zh-CN" altLang="en-US" dirty="0"/>
              <a:t>。</a:t>
            </a:r>
          </a:p>
          <a:p>
            <a:pPr lvl="1"/>
            <a:r>
              <a:rPr lang="zh-CN" altLang="en-US" dirty="0"/>
              <a:t>源地址（</a:t>
            </a:r>
            <a:r>
              <a:rPr lang="en-US" altLang="zh-CN" dirty="0"/>
              <a:t>Source Address</a:t>
            </a:r>
            <a:r>
              <a:rPr lang="zh-CN" altLang="en-US" dirty="0"/>
              <a:t>）：表示发送方的地址，长度为</a:t>
            </a:r>
            <a:r>
              <a:rPr lang="en-US" altLang="zh-CN" dirty="0"/>
              <a:t>128 bit</a:t>
            </a:r>
            <a:r>
              <a:rPr lang="zh-CN" altLang="en-US" dirty="0"/>
              <a:t>。</a:t>
            </a:r>
          </a:p>
          <a:p>
            <a:pPr lvl="1"/>
            <a:r>
              <a:rPr lang="zh-CN" altLang="en-US" dirty="0"/>
              <a:t>目的地址（</a:t>
            </a:r>
            <a:r>
              <a:rPr lang="en-US" altLang="zh-CN" dirty="0"/>
              <a:t>Destination Address</a:t>
            </a:r>
            <a:r>
              <a:rPr lang="zh-CN" altLang="en-US" dirty="0"/>
              <a:t>）：表示接收方的地址，长度为</a:t>
            </a:r>
            <a:r>
              <a:rPr lang="en-US" altLang="zh-CN" dirty="0"/>
              <a:t>128 bit</a:t>
            </a:r>
            <a:r>
              <a:rPr lang="zh-CN" altLang="en-US" dirty="0"/>
              <a:t>。</a:t>
            </a:r>
          </a:p>
          <a:p>
            <a:endParaRPr lang="zh-CN" altLang="en-US" dirty="0"/>
          </a:p>
        </p:txBody>
      </p:sp>
    </p:spTree>
    <p:extLst>
      <p:ext uri="{BB962C8B-B14F-4D97-AF65-F5344CB8AC3E}">
        <p14:creationId xmlns:p14="http://schemas.microsoft.com/office/powerpoint/2010/main" val="1720031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2721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全球单播地址（</a:t>
            </a:r>
            <a:r>
              <a:rPr lang="en-US" altLang="zh-CN" dirty="0" smtClean="0"/>
              <a:t>Global Unicast Address</a:t>
            </a:r>
            <a:r>
              <a:rPr lang="zh-CN" altLang="en-US" dirty="0" smtClean="0"/>
              <a:t>，</a:t>
            </a:r>
            <a:r>
              <a:rPr lang="en-US" altLang="zh-CN" dirty="0" smtClean="0"/>
              <a:t>GUA</a:t>
            </a:r>
            <a:r>
              <a:rPr lang="zh-CN" altLang="en-US" dirty="0" smtClean="0"/>
              <a:t>）：也被称为可聚合全球单播地址。该类地址全球唯一，用于需要有互联网访问需求的主机，相当于</a:t>
            </a:r>
            <a:r>
              <a:rPr lang="en-US" altLang="zh-CN" dirty="0" smtClean="0"/>
              <a:t>IPv4</a:t>
            </a:r>
            <a:r>
              <a:rPr lang="zh-CN" altLang="en-US" dirty="0" smtClean="0"/>
              <a:t>的公网地址。</a:t>
            </a:r>
          </a:p>
          <a:p>
            <a:r>
              <a:rPr lang="zh-CN" altLang="en-US" dirty="0" smtClean="0"/>
              <a:t>唯一本地地址（</a:t>
            </a:r>
            <a:r>
              <a:rPr lang="en-US" altLang="zh-CN" dirty="0" smtClean="0"/>
              <a:t>Unique Local Address</a:t>
            </a:r>
            <a:r>
              <a:rPr lang="zh-CN" altLang="en-US" dirty="0" smtClean="0"/>
              <a:t>，</a:t>
            </a:r>
            <a:r>
              <a:rPr lang="en-US" altLang="zh-CN" dirty="0" smtClean="0"/>
              <a:t>ULA</a:t>
            </a:r>
            <a:r>
              <a:rPr lang="zh-CN" altLang="en-US" dirty="0" smtClean="0"/>
              <a:t>）：</a:t>
            </a:r>
            <a:r>
              <a:rPr lang="en-US" altLang="zh-CN" dirty="0" smtClean="0"/>
              <a:t>IPv6</a:t>
            </a:r>
            <a:r>
              <a:rPr lang="zh-CN" altLang="en-US" dirty="0" smtClean="0"/>
              <a:t>私网地址，只能够在内网中使用。该地址空间在</a:t>
            </a:r>
            <a:r>
              <a:rPr lang="en-US" altLang="zh-CN" dirty="0" smtClean="0"/>
              <a:t>IPv6</a:t>
            </a:r>
            <a:r>
              <a:rPr lang="zh-CN" altLang="en-US" dirty="0" smtClean="0"/>
              <a:t>公网中不可被路由，因此不能直接访问公网。</a:t>
            </a:r>
            <a:endParaRPr lang="en-US" altLang="zh-CN" dirty="0" smtClean="0"/>
          </a:p>
          <a:p>
            <a:r>
              <a:rPr lang="zh-CN" altLang="en-US" dirty="0" smtClean="0"/>
              <a:t>链路本地地址（</a:t>
            </a:r>
            <a:r>
              <a:rPr lang="en-US" altLang="zh-CN" dirty="0" smtClean="0"/>
              <a:t>Link-Local Address</a:t>
            </a:r>
            <a:r>
              <a:rPr lang="zh-CN" altLang="en-US" dirty="0" smtClean="0"/>
              <a:t>，</a:t>
            </a:r>
            <a:r>
              <a:rPr lang="en-US" altLang="zh-CN" dirty="0" smtClean="0"/>
              <a:t>LLA</a:t>
            </a:r>
            <a:r>
              <a:rPr lang="zh-CN" altLang="en-US" dirty="0" smtClean="0"/>
              <a:t>）：</a:t>
            </a:r>
            <a:r>
              <a:rPr lang="en-US" altLang="zh-CN" dirty="0" smtClean="0"/>
              <a:t>IPv6</a:t>
            </a:r>
            <a:r>
              <a:rPr lang="zh-CN" altLang="en-US" dirty="0" smtClean="0"/>
              <a:t>中另一种应用范围受限制的地址类型。</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97444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61387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13274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48135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IPv6</a:t>
            </a:r>
            <a:r>
              <a:rPr lang="zh-CN" altLang="en-US" dirty="0" smtClean="0"/>
              <a:t>地址一般性原则：</a:t>
            </a:r>
            <a:endParaRPr lang="en-US" altLang="zh-CN" dirty="0" smtClean="0"/>
          </a:p>
          <a:p>
            <a:pPr lvl="1"/>
            <a:r>
              <a:rPr lang="zh-CN" altLang="en-US" dirty="0" smtClean="0"/>
              <a:t>层次化原则：</a:t>
            </a:r>
            <a:r>
              <a:rPr lang="en-US" altLang="zh-CN" dirty="0" smtClean="0"/>
              <a:t>IPv6</a:t>
            </a:r>
            <a:r>
              <a:rPr lang="zh-CN" altLang="en-US" dirty="0" smtClean="0"/>
              <a:t>海量地址空间对路由聚合能力提出了更高的要求，</a:t>
            </a:r>
            <a:r>
              <a:rPr lang="en-US" altLang="zh-CN" dirty="0" smtClean="0"/>
              <a:t>IPv6</a:t>
            </a:r>
            <a:r>
              <a:rPr lang="zh-CN" altLang="en-US" dirty="0" smtClean="0"/>
              <a:t>地址规划首要任务是减少网络地址碎片，增强路由聚合能力，提高网络路由效率。层次化设计有利于缩小路由表规模，可扩展、更灵活，便于实施和排除故障，便于管理和容量规划。层次化设计就是将</a:t>
            </a:r>
            <a:r>
              <a:rPr lang="en-US" altLang="zh-CN" dirty="0" smtClean="0"/>
              <a:t>IPv6</a:t>
            </a:r>
            <a:r>
              <a:rPr lang="zh-CN" altLang="en-US" dirty="0" smtClean="0"/>
              <a:t>地址划分为相对独立的几个字段，每个字段可以单独规划。实现路由汇聚，例如将“自定义前缀”划分为多个字段，每个字段赋予不同的涵义。</a:t>
            </a:r>
            <a:endParaRPr lang="en-US" altLang="zh-CN" dirty="0" smtClean="0"/>
          </a:p>
          <a:p>
            <a:pPr lvl="1"/>
            <a:r>
              <a:rPr lang="zh-CN" altLang="en-US" dirty="0" smtClean="0"/>
              <a:t>语义化原则：在层次化原则上，对不同字段进行定义，赋予业务类型、物理位置等含义，便于运维和故障定位。</a:t>
            </a:r>
          </a:p>
          <a:p>
            <a:pPr lvl="1"/>
            <a:r>
              <a:rPr lang="zh-CN" altLang="en-US" dirty="0" smtClean="0"/>
              <a:t>安全性原则：相同业务属性具有相同的安全要求，业务之间的互访需要进行安全控制，同一种业务属性划分到同一段地址空间，有利于安全设计和策略管理。</a:t>
            </a:r>
          </a:p>
          <a:p>
            <a:pPr lvl="1"/>
            <a:r>
              <a:rPr lang="zh-CN" altLang="en-US" dirty="0" smtClean="0"/>
              <a:t>连续性原则：</a:t>
            </a:r>
            <a:r>
              <a:rPr lang="en-US" altLang="zh-CN" dirty="0" smtClean="0"/>
              <a:t>IPv6</a:t>
            </a:r>
            <a:r>
              <a:rPr lang="zh-CN" altLang="en-US" dirty="0" smtClean="0"/>
              <a:t>地址段与段之间、段内地址尽量保持连续。连续的</a:t>
            </a:r>
            <a:r>
              <a:rPr lang="en-US" altLang="zh-CN" dirty="0" smtClean="0"/>
              <a:t>IP</a:t>
            </a:r>
            <a:r>
              <a:rPr lang="zh-CN" altLang="en-US" dirty="0" smtClean="0"/>
              <a:t>地址避免地址浪费，有利于管理和地址汇总；且连续的</a:t>
            </a:r>
            <a:r>
              <a:rPr lang="en-US" altLang="zh-CN" dirty="0" smtClean="0"/>
              <a:t>IP</a:t>
            </a:r>
            <a:r>
              <a:rPr lang="zh-CN" altLang="en-US" dirty="0" smtClean="0"/>
              <a:t>地址易于进行路由汇总，减小路由表，提高路由效率。</a:t>
            </a:r>
          </a:p>
          <a:p>
            <a:pPr lvl="1"/>
            <a:r>
              <a:rPr lang="zh-CN" altLang="en-US" dirty="0" smtClean="0"/>
              <a:t>可扩展性原则：地址分配时要有一定的余量，在规划时预留扩展字段，以满足网络扩展时的需要。</a:t>
            </a:r>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20467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87780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26146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由于</a:t>
            </a:r>
            <a:r>
              <a:rPr lang="en-US" altLang="zh-CN" smtClean="0"/>
              <a:t>IPv4</a:t>
            </a:r>
            <a:r>
              <a:rPr lang="zh-CN" altLang="en-US" smtClean="0"/>
              <a:t>地址的枯竭和</a:t>
            </a:r>
            <a:r>
              <a:rPr lang="en-US" altLang="zh-CN" smtClean="0"/>
              <a:t>IPv6</a:t>
            </a:r>
            <a:r>
              <a:rPr lang="zh-CN" altLang="en-US" smtClean="0"/>
              <a:t>的先进性，</a:t>
            </a:r>
            <a:r>
              <a:rPr lang="en-US" altLang="zh-CN" smtClean="0"/>
              <a:t>IPv4</a:t>
            </a:r>
            <a:r>
              <a:rPr lang="zh-CN" altLang="en-US" smtClean="0"/>
              <a:t>过渡为</a:t>
            </a:r>
            <a:r>
              <a:rPr lang="en-US" altLang="zh-CN" smtClean="0"/>
              <a:t>IPv6</a:t>
            </a:r>
            <a:r>
              <a:rPr lang="zh-CN" altLang="en-US" smtClean="0"/>
              <a:t>势在必行。因为</a:t>
            </a:r>
            <a:r>
              <a:rPr lang="en-US" altLang="zh-CN" smtClean="0"/>
              <a:t>IPv6</a:t>
            </a:r>
            <a:r>
              <a:rPr lang="zh-CN" altLang="en-US" smtClean="0"/>
              <a:t>与</a:t>
            </a:r>
            <a:r>
              <a:rPr lang="en-US" altLang="zh-CN" smtClean="0"/>
              <a:t>IPv4</a:t>
            </a:r>
            <a:r>
              <a:rPr lang="zh-CN" altLang="en-US" smtClean="0"/>
              <a:t>的不兼容性，所以需要对原有的</a:t>
            </a:r>
            <a:r>
              <a:rPr lang="en-US" altLang="zh-CN" smtClean="0"/>
              <a:t>IPv4</a:t>
            </a:r>
            <a:r>
              <a:rPr lang="zh-CN" altLang="en-US" smtClean="0"/>
              <a:t>设备进行替换。但是如果贸然将</a:t>
            </a:r>
            <a:r>
              <a:rPr lang="en-US" altLang="zh-CN" smtClean="0"/>
              <a:t>IPv4</a:t>
            </a:r>
            <a:r>
              <a:rPr lang="zh-CN" altLang="en-US" smtClean="0"/>
              <a:t>设备大量替换所需成本会非常巨大，且现网运行的业务也会中断，显然并不可行。所以，</a:t>
            </a:r>
            <a:r>
              <a:rPr lang="en-US" altLang="zh-CN" smtClean="0"/>
              <a:t>IPv4</a:t>
            </a:r>
            <a:r>
              <a:rPr lang="zh-CN" altLang="en-US" smtClean="0"/>
              <a:t>向</a:t>
            </a:r>
            <a:r>
              <a:rPr lang="en-US" altLang="zh-CN" smtClean="0"/>
              <a:t>IPv6</a:t>
            </a:r>
            <a:r>
              <a:rPr lang="zh-CN" altLang="en-US" smtClean="0"/>
              <a:t>过渡是一个渐进的过程。在过渡初期，</a:t>
            </a:r>
            <a:r>
              <a:rPr lang="en-US" altLang="zh-CN" smtClean="0"/>
              <a:t>IPv4</a:t>
            </a:r>
            <a:r>
              <a:rPr lang="zh-CN" altLang="en-US" smtClean="0"/>
              <a:t>网络已经大量部署，而</a:t>
            </a:r>
            <a:r>
              <a:rPr lang="en-US" altLang="zh-CN" smtClean="0"/>
              <a:t>IPv6</a:t>
            </a:r>
            <a:r>
              <a:rPr lang="zh-CN" altLang="en-US" smtClean="0"/>
              <a:t>网络只是散落在各地的“孤岛”，需要借助各种</a:t>
            </a:r>
            <a:r>
              <a:rPr lang="en-US" altLang="zh-CN" smtClean="0"/>
              <a:t>IPv6</a:t>
            </a:r>
            <a:r>
              <a:rPr lang="zh-CN" altLang="en-US" smtClean="0"/>
              <a:t>过渡技术来实现</a:t>
            </a:r>
            <a:r>
              <a:rPr lang="en-US" altLang="zh-CN" smtClean="0"/>
              <a:t>IPv6</a:t>
            </a:r>
            <a:r>
              <a:rPr lang="zh-CN" altLang="en-US" smtClean="0"/>
              <a:t>业务互通。</a:t>
            </a:r>
            <a:endParaRPr lang="en-US" altLang="zh-CN" smtClean="0"/>
          </a:p>
          <a:p>
            <a:r>
              <a:rPr lang="zh-CN" altLang="en-US" smtClean="0"/>
              <a:t>说明：</a:t>
            </a:r>
            <a:r>
              <a:rPr lang="en-US" altLang="zh-CN" smtClean="0"/>
              <a:t>VXLAN</a:t>
            </a:r>
            <a:r>
              <a:rPr lang="zh-CN" altLang="en-US" smtClean="0"/>
              <a:t>和</a:t>
            </a:r>
            <a:r>
              <a:rPr lang="en-US" altLang="zh-CN" smtClean="0"/>
              <a:t>SRv6</a:t>
            </a:r>
            <a:r>
              <a:rPr lang="zh-CN" altLang="en-US" smtClean="0"/>
              <a:t>技术在后续课程会详细讲解，本课程将不再赘述。</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05946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10122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IPv6 over IPv4</a:t>
            </a:r>
            <a:r>
              <a:rPr lang="zh-CN" altLang="en-US" dirty="0" smtClean="0"/>
              <a:t>手动隧道：</a:t>
            </a:r>
            <a:endParaRPr lang="en-US" altLang="zh-CN" dirty="0" smtClean="0"/>
          </a:p>
          <a:p>
            <a:pPr lvl="1"/>
            <a:r>
              <a:rPr lang="zh-CN" altLang="en-US" dirty="0" smtClean="0"/>
              <a:t>隧道的边界设备必须支持</a:t>
            </a:r>
            <a:r>
              <a:rPr lang="en-US" altLang="zh-CN" dirty="0" smtClean="0"/>
              <a:t>IPv6/IPv4</a:t>
            </a:r>
            <a:r>
              <a:rPr lang="zh-CN" altLang="en-US" dirty="0" smtClean="0"/>
              <a:t>双协议栈。其它设备只需实现单协议栈即可。</a:t>
            </a:r>
            <a:endParaRPr lang="en-US" altLang="zh-CN" dirty="0" smtClean="0"/>
          </a:p>
          <a:p>
            <a:pPr lvl="1"/>
            <a:r>
              <a:rPr lang="zh-CN" altLang="en-US" dirty="0" smtClean="0"/>
              <a:t>因为手动隧道要求在设备上手工配置隧道的源地址和目的地址，如果一个边界设备要与多个设备建立手动隧道，就需要在设备上配置多个隧道，配置比较麻烦。所以手动隧道通常用于两个边界路由器之间，为两个</a:t>
            </a:r>
            <a:r>
              <a:rPr lang="en-US" altLang="zh-CN" dirty="0" smtClean="0"/>
              <a:t>IPv6</a:t>
            </a:r>
            <a:r>
              <a:rPr lang="zh-CN" altLang="en-US" dirty="0" smtClean="0"/>
              <a:t>网络提供连接。</a:t>
            </a:r>
            <a:endParaRPr lang="en-US" altLang="zh-CN" dirty="0" smtClean="0"/>
          </a:p>
          <a:p>
            <a:pPr lvl="1"/>
            <a:r>
              <a:rPr lang="zh-CN" altLang="en-US" dirty="0" smtClean="0"/>
              <a:t>隧道转发机制：当隧道边界设备的</a:t>
            </a:r>
            <a:r>
              <a:rPr lang="en-US" altLang="zh-CN" dirty="0" smtClean="0"/>
              <a:t>IPv6</a:t>
            </a:r>
            <a:r>
              <a:rPr lang="zh-CN" altLang="en-US" dirty="0" smtClean="0"/>
              <a:t>侧收到一个</a:t>
            </a:r>
            <a:r>
              <a:rPr lang="en-US" altLang="zh-CN" dirty="0" smtClean="0"/>
              <a:t>IPv6</a:t>
            </a:r>
            <a:r>
              <a:rPr lang="zh-CN" altLang="en-US" dirty="0" smtClean="0"/>
              <a:t>报文后， 根据</a:t>
            </a:r>
            <a:r>
              <a:rPr lang="en-US" altLang="zh-CN" dirty="0" smtClean="0"/>
              <a:t>IPv6</a:t>
            </a:r>
            <a:r>
              <a:rPr lang="zh-CN" altLang="en-US" dirty="0" smtClean="0"/>
              <a:t>报文的目的地址查找</a:t>
            </a:r>
            <a:r>
              <a:rPr lang="en-US" altLang="zh-CN" dirty="0" smtClean="0"/>
              <a:t>IPv6</a:t>
            </a:r>
            <a:r>
              <a:rPr lang="zh-CN" altLang="en-US" dirty="0" smtClean="0"/>
              <a:t>路由转发表，如果该报文是从此虚拟隧道接口（</a:t>
            </a:r>
            <a:r>
              <a:rPr lang="en-US" altLang="zh-CN" dirty="0" smtClean="0"/>
              <a:t>Tunnel</a:t>
            </a:r>
            <a:r>
              <a:rPr lang="zh-CN" altLang="en-US" dirty="0" smtClean="0"/>
              <a:t>接口）转发出去，则根据隧道接口配置的隧道源和目的</a:t>
            </a:r>
            <a:r>
              <a:rPr lang="en-US" altLang="zh-CN" dirty="0" smtClean="0"/>
              <a:t>IPv4</a:t>
            </a:r>
            <a:r>
              <a:rPr lang="zh-CN" altLang="en-US" dirty="0" smtClean="0"/>
              <a:t>地址进行封装。封装后的报文变成一个</a:t>
            </a:r>
            <a:r>
              <a:rPr lang="en-US" altLang="zh-CN" dirty="0" smtClean="0"/>
              <a:t>IPv4</a:t>
            </a:r>
            <a:r>
              <a:rPr lang="zh-CN" altLang="en-US" dirty="0" smtClean="0"/>
              <a:t>报文，交给</a:t>
            </a:r>
            <a:r>
              <a:rPr lang="en-US" altLang="zh-CN" dirty="0" smtClean="0"/>
              <a:t>IPv4</a:t>
            </a:r>
            <a:r>
              <a:rPr lang="zh-CN" altLang="en-US" dirty="0" smtClean="0"/>
              <a:t>协议栈处理。报文通过</a:t>
            </a:r>
            <a:r>
              <a:rPr lang="en-US" altLang="zh-CN" dirty="0" smtClean="0"/>
              <a:t>IPv4</a:t>
            </a:r>
            <a:r>
              <a:rPr lang="zh-CN" altLang="en-US" dirty="0" smtClean="0"/>
              <a:t>网络转发到隧道的终点。隧道终点收到一个隧道协议报文后，进行隧道解封装。并将解封装后的报文交给</a:t>
            </a:r>
            <a:r>
              <a:rPr lang="en-US" altLang="zh-CN" dirty="0" smtClean="0"/>
              <a:t>IPv6</a:t>
            </a:r>
            <a:r>
              <a:rPr lang="zh-CN" altLang="en-US" dirty="0" smtClean="0"/>
              <a:t>协议栈处理。</a:t>
            </a:r>
            <a:endParaRPr lang="en-US" altLang="zh-CN" dirty="0" smtClean="0"/>
          </a:p>
          <a:p>
            <a:r>
              <a:rPr lang="en-US" altLang="zh-CN" dirty="0" smtClean="0"/>
              <a:t>IPv6 over IPv4 GRE</a:t>
            </a:r>
            <a:r>
              <a:rPr lang="zh-CN" altLang="en-US" dirty="0" smtClean="0"/>
              <a:t>隧道：</a:t>
            </a:r>
            <a:endParaRPr lang="en-US" altLang="zh-CN" dirty="0" smtClean="0"/>
          </a:p>
          <a:p>
            <a:pPr lvl="1"/>
            <a:r>
              <a:rPr lang="zh-CN" altLang="en-US" dirty="0" smtClean="0"/>
              <a:t>隧道转发机制：与</a:t>
            </a:r>
            <a:r>
              <a:rPr lang="en-US" altLang="zh-CN" dirty="0" smtClean="0"/>
              <a:t>IPv6 over IPv4</a:t>
            </a:r>
            <a:r>
              <a:rPr lang="zh-CN" altLang="en-US" dirty="0" smtClean="0"/>
              <a:t>手动隧道相同。</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428432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IPv4</a:t>
            </a:r>
            <a:r>
              <a:rPr lang="zh-CN" altLang="en-US" dirty="0" smtClean="0"/>
              <a:t>兼容</a:t>
            </a:r>
            <a:r>
              <a:rPr lang="en-US" altLang="zh-CN" dirty="0" smtClean="0"/>
              <a:t>IPv6</a:t>
            </a:r>
            <a:r>
              <a:rPr lang="zh-CN" altLang="en-US" dirty="0" smtClean="0"/>
              <a:t>自动隧道数据转发流程：</a:t>
            </a:r>
            <a:endParaRPr lang="en-US" altLang="zh-CN" dirty="0" smtClean="0"/>
          </a:p>
          <a:p>
            <a:pPr lvl="1"/>
            <a:r>
              <a:rPr lang="en-US" altLang="zh-CN" dirty="0" smtClean="0"/>
              <a:t>IPv6</a:t>
            </a:r>
            <a:r>
              <a:rPr lang="zh-CN" altLang="en-US" dirty="0" smtClean="0"/>
              <a:t>报文到达</a:t>
            </a:r>
            <a:r>
              <a:rPr lang="en-US" altLang="zh-CN" dirty="0" smtClean="0"/>
              <a:t>R1</a:t>
            </a:r>
            <a:r>
              <a:rPr lang="zh-CN" altLang="en-US" dirty="0" smtClean="0"/>
              <a:t>后，以目的地址</a:t>
            </a:r>
            <a:r>
              <a:rPr lang="en-US" altLang="zh-CN" dirty="0" smtClean="0"/>
              <a:t>::A01:102</a:t>
            </a:r>
            <a:r>
              <a:rPr lang="zh-CN" altLang="en-US" dirty="0" smtClean="0"/>
              <a:t>查找</a:t>
            </a:r>
            <a:r>
              <a:rPr lang="en-US" altLang="zh-CN" dirty="0" smtClean="0"/>
              <a:t>IPv6</a:t>
            </a:r>
            <a:r>
              <a:rPr lang="zh-CN" altLang="en-US" dirty="0" smtClean="0"/>
              <a:t>路由，发现路由的下一跳为虚拟的</a:t>
            </a:r>
            <a:r>
              <a:rPr lang="en-US" altLang="zh-CN" dirty="0" smtClean="0"/>
              <a:t>Tunnel</a:t>
            </a:r>
            <a:r>
              <a:rPr lang="zh-CN" altLang="en-US" dirty="0" smtClean="0"/>
              <a:t>口。</a:t>
            </a:r>
            <a:endParaRPr lang="en-US" altLang="zh-CN" dirty="0" smtClean="0"/>
          </a:p>
          <a:p>
            <a:pPr lvl="1"/>
            <a:r>
              <a:rPr lang="en-US" altLang="zh-CN" dirty="0" smtClean="0"/>
              <a:t>R1</a:t>
            </a:r>
            <a:r>
              <a:rPr lang="zh-CN" altLang="en-US" dirty="0" smtClean="0"/>
              <a:t>对</a:t>
            </a:r>
            <a:r>
              <a:rPr lang="en-US" altLang="zh-CN" dirty="0" smtClean="0"/>
              <a:t>IPv6</a:t>
            </a:r>
            <a:r>
              <a:rPr lang="zh-CN" altLang="en-US" dirty="0" smtClean="0"/>
              <a:t>报文进行了封装。封装的时候，</a:t>
            </a:r>
            <a:r>
              <a:rPr lang="en-US" altLang="zh-CN" dirty="0" smtClean="0"/>
              <a:t>IPv6</a:t>
            </a:r>
            <a:r>
              <a:rPr lang="zh-CN" altLang="en-US" dirty="0" smtClean="0"/>
              <a:t>报文被封装为</a:t>
            </a:r>
            <a:r>
              <a:rPr lang="en-US" altLang="zh-CN" dirty="0" smtClean="0"/>
              <a:t>IPv4</a:t>
            </a:r>
            <a:r>
              <a:rPr lang="zh-CN" altLang="en-US" dirty="0" smtClean="0"/>
              <a:t>报文，</a:t>
            </a:r>
            <a:r>
              <a:rPr lang="en-US" altLang="zh-CN" dirty="0" smtClean="0"/>
              <a:t>IPv4</a:t>
            </a:r>
            <a:r>
              <a:rPr lang="zh-CN" altLang="en-US" dirty="0" smtClean="0"/>
              <a:t>报文中的源地址为隧道的源</a:t>
            </a:r>
            <a:r>
              <a:rPr lang="en-US" altLang="zh-CN" dirty="0" smtClean="0"/>
              <a:t>IPv4</a:t>
            </a:r>
            <a:r>
              <a:rPr lang="zh-CN" altLang="en-US" dirty="0" smtClean="0"/>
              <a:t>地址</a:t>
            </a:r>
            <a:r>
              <a:rPr lang="en-US" altLang="zh-CN" dirty="0" smtClean="0"/>
              <a:t>10.1.1.1</a:t>
            </a:r>
            <a:r>
              <a:rPr lang="zh-CN" altLang="en-US" dirty="0" smtClean="0"/>
              <a:t>，而目的</a:t>
            </a:r>
            <a:r>
              <a:rPr lang="en-US" altLang="zh-CN" dirty="0" smtClean="0"/>
              <a:t>IPv4</a:t>
            </a:r>
            <a:r>
              <a:rPr lang="zh-CN" altLang="en-US" dirty="0" smtClean="0"/>
              <a:t>地址直接从</a:t>
            </a:r>
            <a:r>
              <a:rPr lang="en-US" altLang="zh-CN" dirty="0" smtClean="0"/>
              <a:t>IPv4</a:t>
            </a:r>
            <a:r>
              <a:rPr lang="zh-CN" altLang="en-US" dirty="0" smtClean="0"/>
              <a:t>兼容</a:t>
            </a:r>
            <a:r>
              <a:rPr lang="en-US" altLang="zh-CN" dirty="0" smtClean="0"/>
              <a:t>IPv6</a:t>
            </a:r>
            <a:r>
              <a:rPr lang="zh-CN" altLang="en-US" dirty="0" smtClean="0"/>
              <a:t>地址</a:t>
            </a:r>
            <a:r>
              <a:rPr lang="en-US" altLang="zh-CN" dirty="0" smtClean="0"/>
              <a:t>::A01:102</a:t>
            </a:r>
            <a:r>
              <a:rPr lang="zh-CN" altLang="en-US" dirty="0" smtClean="0"/>
              <a:t>的后</a:t>
            </a:r>
            <a:r>
              <a:rPr lang="en-US" altLang="zh-CN" dirty="0" smtClean="0"/>
              <a:t>32</a:t>
            </a:r>
            <a:r>
              <a:rPr lang="zh-CN" altLang="en-US" dirty="0" smtClean="0"/>
              <a:t>位拷贝过来即</a:t>
            </a:r>
            <a:r>
              <a:rPr lang="en-US" altLang="zh-CN" dirty="0" smtClean="0"/>
              <a:t>10.1.1.2</a:t>
            </a:r>
            <a:r>
              <a:rPr lang="zh-CN" altLang="en-US" dirty="0" smtClean="0"/>
              <a:t>。</a:t>
            </a:r>
            <a:endParaRPr lang="en-US" altLang="zh-CN" dirty="0" smtClean="0"/>
          </a:p>
          <a:p>
            <a:pPr lvl="1"/>
            <a:r>
              <a:rPr lang="zh-CN" altLang="en-US" dirty="0" smtClean="0"/>
              <a:t>这个报文被路由器从隧道口发出后，在</a:t>
            </a:r>
            <a:r>
              <a:rPr lang="en-US" altLang="zh-CN" dirty="0" smtClean="0"/>
              <a:t>IPv4</a:t>
            </a:r>
            <a:r>
              <a:rPr lang="zh-CN" altLang="en-US" dirty="0" smtClean="0"/>
              <a:t>的网络中被路由转发到目的地</a:t>
            </a:r>
            <a:r>
              <a:rPr lang="en-US" altLang="zh-CN" dirty="0" smtClean="0"/>
              <a:t>10.1.1.2</a:t>
            </a:r>
            <a:r>
              <a:rPr lang="zh-CN" altLang="en-US" dirty="0" smtClean="0"/>
              <a:t>，也就是</a:t>
            </a:r>
            <a:r>
              <a:rPr lang="en-US" altLang="zh-CN" dirty="0" smtClean="0"/>
              <a:t>R2</a:t>
            </a:r>
            <a:r>
              <a:rPr lang="zh-CN" altLang="en-US" dirty="0" smtClean="0"/>
              <a:t>。</a:t>
            </a:r>
            <a:r>
              <a:rPr lang="en-US" altLang="zh-CN" dirty="0" smtClean="0"/>
              <a:t>R2</a:t>
            </a:r>
            <a:r>
              <a:rPr lang="zh-CN" altLang="en-US" dirty="0" smtClean="0"/>
              <a:t>收到报文后，进行解封装，把其中的</a:t>
            </a:r>
            <a:r>
              <a:rPr lang="en-US" altLang="zh-CN" dirty="0" smtClean="0"/>
              <a:t>IPv6</a:t>
            </a:r>
            <a:r>
              <a:rPr lang="zh-CN" altLang="en-US" dirty="0" smtClean="0"/>
              <a:t>报文取出，送给</a:t>
            </a:r>
            <a:r>
              <a:rPr lang="en-US" altLang="zh-CN" dirty="0" smtClean="0"/>
              <a:t>IPv6</a:t>
            </a:r>
            <a:r>
              <a:rPr lang="zh-CN" altLang="en-US" dirty="0" smtClean="0"/>
              <a:t>协议栈进行处理。</a:t>
            </a:r>
            <a:endParaRPr lang="en-US" altLang="zh-CN" dirty="0" smtClean="0"/>
          </a:p>
          <a:p>
            <a:pPr lvl="1"/>
            <a:r>
              <a:rPr lang="en-US" altLang="zh-CN" dirty="0" smtClean="0"/>
              <a:t>R2</a:t>
            </a:r>
            <a:r>
              <a:rPr lang="zh-CN" altLang="en-US" dirty="0" smtClean="0"/>
              <a:t>返回</a:t>
            </a:r>
            <a:r>
              <a:rPr lang="en-US" altLang="zh-CN" dirty="0" smtClean="0"/>
              <a:t>R1</a:t>
            </a:r>
            <a:r>
              <a:rPr lang="zh-CN" altLang="en-US" dirty="0" smtClean="0"/>
              <a:t>的报文也是按照这个过程来进行的。</a:t>
            </a:r>
            <a:endParaRPr lang="en-US" altLang="zh-CN" dirty="0" smtClean="0"/>
          </a:p>
          <a:p>
            <a:r>
              <a:rPr lang="en-US" altLang="zh-CN" dirty="0" smtClean="0"/>
              <a:t>6to4</a:t>
            </a:r>
            <a:r>
              <a:rPr lang="zh-CN" altLang="en-US" dirty="0" smtClean="0"/>
              <a:t>隧道：</a:t>
            </a:r>
            <a:endParaRPr lang="en-US" altLang="zh-CN" dirty="0" smtClean="0"/>
          </a:p>
          <a:p>
            <a:pPr lvl="1"/>
            <a:r>
              <a:rPr lang="en-US" altLang="zh-CN" dirty="0" smtClean="0"/>
              <a:t>6to4</a:t>
            </a:r>
            <a:r>
              <a:rPr lang="zh-CN" altLang="en-US" dirty="0" smtClean="0"/>
              <a:t>地址的网络前缀长度为</a:t>
            </a:r>
            <a:r>
              <a:rPr lang="en-US" altLang="zh-CN" dirty="0" smtClean="0"/>
              <a:t>64 bit</a:t>
            </a:r>
            <a:r>
              <a:rPr lang="zh-CN" altLang="en-US" dirty="0" smtClean="0"/>
              <a:t>：</a:t>
            </a:r>
          </a:p>
          <a:p>
            <a:pPr lvl="2"/>
            <a:r>
              <a:rPr lang="zh-CN" altLang="en-US" dirty="0" smtClean="0"/>
              <a:t>前</a:t>
            </a:r>
            <a:r>
              <a:rPr lang="en-US" altLang="zh-CN" dirty="0" smtClean="0"/>
              <a:t>48 bit</a:t>
            </a:r>
            <a:r>
              <a:rPr lang="zh-CN" altLang="en-US" dirty="0" smtClean="0"/>
              <a:t>（</a:t>
            </a:r>
            <a:r>
              <a:rPr lang="en-US" altLang="zh-CN" dirty="0" smtClean="0"/>
              <a:t>2002: </a:t>
            </a:r>
            <a:r>
              <a:rPr lang="en-US" altLang="zh-CN" dirty="0" err="1" smtClean="0"/>
              <a:t>a.b.c.d</a:t>
            </a:r>
            <a:r>
              <a:rPr lang="zh-CN" altLang="en-US" dirty="0" smtClean="0"/>
              <a:t>）被分配给路由器上的</a:t>
            </a:r>
            <a:r>
              <a:rPr lang="en-US" altLang="zh-CN" dirty="0" smtClean="0"/>
              <a:t>IPv4</a:t>
            </a:r>
            <a:r>
              <a:rPr lang="zh-CN" altLang="en-US" dirty="0" smtClean="0"/>
              <a:t>地址决定了，用户不能改变。</a:t>
            </a:r>
          </a:p>
          <a:p>
            <a:pPr lvl="2"/>
            <a:r>
              <a:rPr lang="zh-CN" altLang="en-US" dirty="0" smtClean="0"/>
              <a:t>后</a:t>
            </a:r>
            <a:r>
              <a:rPr lang="en-US" altLang="zh-CN" dirty="0" smtClean="0"/>
              <a:t>16</a:t>
            </a:r>
            <a:r>
              <a:rPr lang="zh-CN" altLang="en-US" dirty="0" smtClean="0"/>
              <a:t>位（</a:t>
            </a:r>
            <a:r>
              <a:rPr lang="en-US" altLang="zh-CN" dirty="0" smtClean="0"/>
              <a:t>SLA</a:t>
            </a:r>
            <a:r>
              <a:rPr lang="zh-CN" altLang="en-US" dirty="0" smtClean="0"/>
              <a:t>）是由用户自己定义的。</a:t>
            </a:r>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8830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1"/>
            <a:r>
              <a:rPr lang="en-US" altLang="zh-CN" dirty="0"/>
              <a:t>6to4</a:t>
            </a:r>
            <a:r>
              <a:rPr lang="zh-CN" altLang="en-US" dirty="0"/>
              <a:t>地址解释：</a:t>
            </a:r>
            <a:endParaRPr lang="en-US" altLang="zh-CN" dirty="0"/>
          </a:p>
          <a:p>
            <a:pPr lvl="2"/>
            <a:r>
              <a:rPr lang="en-US" altLang="zh-CN" dirty="0"/>
              <a:t>FP</a:t>
            </a:r>
            <a:r>
              <a:rPr lang="zh-CN" altLang="en-US" dirty="0"/>
              <a:t>（</a:t>
            </a:r>
            <a:r>
              <a:rPr lang="en-US" altLang="zh-CN" dirty="0"/>
              <a:t>Format Prefix</a:t>
            </a:r>
            <a:r>
              <a:rPr lang="zh-CN" altLang="en-US" dirty="0"/>
              <a:t>）：可聚合全球单播地址的格式前缀，其值为</a:t>
            </a:r>
            <a:r>
              <a:rPr lang="en-US" altLang="zh-CN" dirty="0"/>
              <a:t>001</a:t>
            </a:r>
            <a:r>
              <a:rPr lang="zh-CN" altLang="en-US" dirty="0"/>
              <a:t>。</a:t>
            </a:r>
          </a:p>
          <a:p>
            <a:pPr lvl="2"/>
            <a:r>
              <a:rPr lang="en-US" altLang="zh-CN" dirty="0"/>
              <a:t>TLA</a:t>
            </a:r>
            <a:r>
              <a:rPr lang="zh-CN" altLang="en-US" dirty="0"/>
              <a:t>（</a:t>
            </a:r>
            <a:r>
              <a:rPr lang="en-US" altLang="zh-CN" dirty="0"/>
              <a:t>Top Level Aggregator</a:t>
            </a:r>
            <a:r>
              <a:rPr lang="zh-CN" altLang="en-US" dirty="0"/>
              <a:t>）：顶级聚合标识符，其值为</a:t>
            </a:r>
            <a:r>
              <a:rPr lang="en-US" altLang="zh-CN" dirty="0"/>
              <a:t>0x0002</a:t>
            </a:r>
            <a:r>
              <a:rPr lang="zh-CN" altLang="en-US" dirty="0"/>
              <a:t>。</a:t>
            </a:r>
          </a:p>
          <a:p>
            <a:pPr lvl="2"/>
            <a:r>
              <a:rPr lang="en-US" altLang="zh-CN" dirty="0"/>
              <a:t>SLA</a:t>
            </a:r>
            <a:r>
              <a:rPr lang="zh-CN" altLang="en-US" dirty="0"/>
              <a:t>（</a:t>
            </a:r>
            <a:r>
              <a:rPr lang="en-US" altLang="zh-CN" dirty="0"/>
              <a:t>Site Level Aggregator</a:t>
            </a:r>
            <a:r>
              <a:rPr lang="zh-CN" altLang="en-US" dirty="0"/>
              <a:t>）：站点级聚合标识符。</a:t>
            </a:r>
          </a:p>
          <a:p>
            <a:pPr lvl="0"/>
            <a:r>
              <a:rPr lang="en-US" altLang="zh-CN" dirty="0"/>
              <a:t>ISATAP</a:t>
            </a:r>
            <a:r>
              <a:rPr lang="zh-CN" altLang="en-US" dirty="0"/>
              <a:t>（</a:t>
            </a:r>
            <a:r>
              <a:rPr lang="en-US" altLang="zh-CN" dirty="0"/>
              <a:t>Intra-Site Automatic Tunnel Addressing Protocol</a:t>
            </a:r>
            <a:r>
              <a:rPr lang="zh-CN" altLang="en-US" dirty="0"/>
              <a:t>）隧道：</a:t>
            </a:r>
            <a:endParaRPr lang="en-US" altLang="zh-CN" dirty="0"/>
          </a:p>
          <a:p>
            <a:pPr lvl="1"/>
            <a:r>
              <a:rPr lang="en-US" altLang="zh-CN" dirty="0"/>
              <a:t>ISATAP</a:t>
            </a:r>
            <a:r>
              <a:rPr lang="zh-CN" altLang="en-US" dirty="0"/>
              <a:t>地址前</a:t>
            </a:r>
            <a:r>
              <a:rPr lang="en-US" altLang="zh-CN" dirty="0"/>
              <a:t>64</a:t>
            </a:r>
            <a:r>
              <a:rPr lang="zh-CN" altLang="en-US" dirty="0"/>
              <a:t>位：通过向</a:t>
            </a:r>
            <a:r>
              <a:rPr lang="en-US" altLang="zh-CN" dirty="0"/>
              <a:t>ISATAP</a:t>
            </a:r>
            <a:r>
              <a:rPr lang="zh-CN" altLang="en-US" dirty="0"/>
              <a:t>路由器发送请求来得到的，它可以进行地址自动配置。在</a:t>
            </a:r>
            <a:r>
              <a:rPr lang="en-US" altLang="zh-CN" dirty="0"/>
              <a:t>ISATAP</a:t>
            </a:r>
            <a:r>
              <a:rPr lang="zh-CN" altLang="en-US" dirty="0"/>
              <a:t>隧道的两端设备之间可以运行</a:t>
            </a:r>
            <a:r>
              <a:rPr lang="en-US" altLang="zh-CN" dirty="0"/>
              <a:t>NDP</a:t>
            </a:r>
            <a:r>
              <a:rPr lang="zh-CN" altLang="en-US" dirty="0"/>
              <a:t>。</a:t>
            </a:r>
          </a:p>
          <a:p>
            <a:pPr lvl="1"/>
            <a:r>
              <a:rPr lang="en-US" altLang="zh-CN" dirty="0"/>
              <a:t>ISATAP</a:t>
            </a:r>
            <a:r>
              <a:rPr lang="zh-CN" altLang="en-US" dirty="0"/>
              <a:t>接口标识解释：</a:t>
            </a:r>
            <a:endParaRPr lang="en-US" altLang="zh-CN" dirty="0"/>
          </a:p>
          <a:p>
            <a:pPr lvl="2"/>
            <a:r>
              <a:rPr lang="zh-CN" altLang="en-US" dirty="0"/>
              <a:t>如果</a:t>
            </a:r>
            <a:r>
              <a:rPr lang="en-US" altLang="zh-CN" dirty="0"/>
              <a:t>IPv4</a:t>
            </a:r>
            <a:r>
              <a:rPr lang="zh-CN" altLang="en-US" dirty="0"/>
              <a:t>地址是全局唯一的，则</a:t>
            </a:r>
            <a:r>
              <a:rPr lang="en-US" altLang="zh-CN" dirty="0"/>
              <a:t>u</a:t>
            </a:r>
            <a:r>
              <a:rPr lang="zh-CN" altLang="en-US" dirty="0"/>
              <a:t>位为</a:t>
            </a:r>
            <a:r>
              <a:rPr lang="en-US" altLang="zh-CN" dirty="0"/>
              <a:t>1</a:t>
            </a:r>
            <a:r>
              <a:rPr lang="zh-CN" altLang="en-US" dirty="0"/>
              <a:t>，否则</a:t>
            </a:r>
            <a:r>
              <a:rPr lang="en-US" altLang="zh-CN" dirty="0"/>
              <a:t>u</a:t>
            </a:r>
            <a:r>
              <a:rPr lang="zh-CN" altLang="en-US" dirty="0"/>
              <a:t>位为</a:t>
            </a:r>
            <a:r>
              <a:rPr lang="en-US" altLang="zh-CN" dirty="0"/>
              <a:t>0</a:t>
            </a:r>
            <a:r>
              <a:rPr lang="zh-CN" altLang="en-US" dirty="0"/>
              <a:t>。典型的</a:t>
            </a:r>
            <a:r>
              <a:rPr lang="en-US" altLang="zh-CN" dirty="0"/>
              <a:t>ISATAP</a:t>
            </a:r>
            <a:r>
              <a:rPr lang="zh-CN" altLang="en-US" dirty="0"/>
              <a:t>隧道应用是在站点内部，因此其内嵌的</a:t>
            </a:r>
            <a:r>
              <a:rPr lang="en-US" altLang="zh-CN" dirty="0"/>
              <a:t>IPv4</a:t>
            </a:r>
            <a:r>
              <a:rPr lang="zh-CN" altLang="en-US" dirty="0"/>
              <a:t>地址不需要是全局唯一的。</a:t>
            </a:r>
          </a:p>
          <a:p>
            <a:pPr lvl="2"/>
            <a:r>
              <a:rPr lang="en-US" altLang="zh-CN" dirty="0"/>
              <a:t>g</a:t>
            </a:r>
            <a:r>
              <a:rPr lang="zh-CN" altLang="en-US" dirty="0"/>
              <a:t>位是</a:t>
            </a:r>
            <a:r>
              <a:rPr lang="en-US" altLang="zh-CN" dirty="0"/>
              <a:t>IEEE</a:t>
            </a:r>
            <a:r>
              <a:rPr lang="zh-CN" altLang="en-US" dirty="0"/>
              <a:t>群体</a:t>
            </a:r>
            <a:r>
              <a:rPr lang="en-US" altLang="zh-CN" dirty="0"/>
              <a:t>/</a:t>
            </a:r>
            <a:r>
              <a:rPr lang="zh-CN" altLang="en-US" dirty="0"/>
              <a:t>个体标志，固定为</a:t>
            </a:r>
            <a:r>
              <a:rPr lang="en-US" altLang="zh-CN" dirty="0"/>
              <a:t>0</a:t>
            </a:r>
            <a:r>
              <a:rPr lang="zh-CN" altLang="en-US" dirty="0"/>
              <a:t>。</a:t>
            </a:r>
          </a:p>
          <a:p>
            <a:pPr lvl="1"/>
            <a:r>
              <a:rPr lang="zh-CN" altLang="en-US" dirty="0"/>
              <a:t>如图所示：在</a:t>
            </a:r>
            <a:r>
              <a:rPr lang="en-US" altLang="zh-CN" dirty="0"/>
              <a:t>IPv4</a:t>
            </a:r>
            <a:r>
              <a:rPr lang="zh-CN" altLang="en-US" dirty="0"/>
              <a:t>网络内部有</a:t>
            </a:r>
            <a:r>
              <a:rPr lang="en-US" altLang="zh-CN" dirty="0"/>
              <a:t>1</a:t>
            </a:r>
            <a:r>
              <a:rPr lang="zh-CN" altLang="en-US" dirty="0"/>
              <a:t>个双栈主机</a:t>
            </a:r>
            <a:r>
              <a:rPr lang="en-US" altLang="zh-CN" dirty="0"/>
              <a:t>Host 2</a:t>
            </a:r>
            <a:r>
              <a:rPr lang="zh-CN" altLang="en-US" dirty="0"/>
              <a:t>，它有一个私网</a:t>
            </a:r>
            <a:r>
              <a:rPr lang="en-US" altLang="zh-CN" dirty="0"/>
              <a:t>IPv4</a:t>
            </a:r>
            <a:r>
              <a:rPr lang="zh-CN" altLang="en-US" dirty="0"/>
              <a:t>地址（</a:t>
            </a:r>
            <a:r>
              <a:rPr lang="en-US" altLang="zh-CN" dirty="0"/>
              <a:t>10.1.1.2/24</a:t>
            </a:r>
            <a:r>
              <a:rPr lang="zh-CN" altLang="en-US" dirty="0"/>
              <a:t>）。要使其具有</a:t>
            </a:r>
            <a:r>
              <a:rPr lang="en-US" altLang="zh-CN" dirty="0"/>
              <a:t>ISATAP</a:t>
            </a:r>
            <a:r>
              <a:rPr lang="zh-CN" altLang="en-US" dirty="0"/>
              <a:t>功能，需要进行如下操作：</a:t>
            </a:r>
          </a:p>
          <a:p>
            <a:pPr lvl="2"/>
            <a:r>
              <a:rPr lang="zh-CN" altLang="en-US" dirty="0"/>
              <a:t>首先配置</a:t>
            </a:r>
            <a:r>
              <a:rPr lang="en-US" altLang="zh-CN" dirty="0"/>
              <a:t>ISATAP</a:t>
            </a:r>
            <a:r>
              <a:rPr lang="zh-CN" altLang="en-US" dirty="0"/>
              <a:t>隧道接口，这时会根据</a:t>
            </a:r>
            <a:r>
              <a:rPr lang="en-US" altLang="zh-CN" dirty="0"/>
              <a:t>IPv4</a:t>
            </a:r>
            <a:r>
              <a:rPr lang="zh-CN" altLang="en-US" dirty="0"/>
              <a:t>地址生成</a:t>
            </a:r>
            <a:r>
              <a:rPr lang="en-US" altLang="zh-CN" dirty="0"/>
              <a:t>ISATAP</a:t>
            </a:r>
            <a:r>
              <a:rPr lang="zh-CN" altLang="en-US" dirty="0"/>
              <a:t>类型的接口</a:t>
            </a:r>
            <a:r>
              <a:rPr lang="en-US" altLang="zh-CN" dirty="0"/>
              <a:t>ID</a:t>
            </a:r>
            <a:r>
              <a:rPr lang="zh-CN" altLang="en-US" dirty="0"/>
              <a:t>。</a:t>
            </a:r>
          </a:p>
          <a:p>
            <a:pPr lvl="2"/>
            <a:r>
              <a:rPr lang="zh-CN" altLang="en-US" dirty="0"/>
              <a:t>根据接口</a:t>
            </a:r>
            <a:r>
              <a:rPr lang="en-US" altLang="zh-CN" dirty="0"/>
              <a:t>ID</a:t>
            </a:r>
            <a:r>
              <a:rPr lang="zh-CN" altLang="en-US" dirty="0"/>
              <a:t>生成一个</a:t>
            </a:r>
            <a:r>
              <a:rPr lang="en-US" altLang="zh-CN" dirty="0"/>
              <a:t>ISATAP</a:t>
            </a:r>
            <a:r>
              <a:rPr lang="zh-CN" altLang="en-US" dirty="0"/>
              <a:t>链路本地</a:t>
            </a:r>
            <a:r>
              <a:rPr lang="en-US" altLang="zh-CN" dirty="0"/>
              <a:t>IPv6</a:t>
            </a:r>
            <a:r>
              <a:rPr lang="zh-CN" altLang="en-US" dirty="0"/>
              <a:t>地址（</a:t>
            </a:r>
            <a:r>
              <a:rPr lang="en-US" altLang="zh-CN" dirty="0"/>
              <a:t>FE80::5EFE:A01:102</a:t>
            </a:r>
            <a:r>
              <a:rPr lang="zh-CN" altLang="en-US" dirty="0"/>
              <a:t>），生成链路本地地址以后，主机就有了在本地链路上进行</a:t>
            </a:r>
            <a:r>
              <a:rPr lang="en-US" altLang="zh-CN" dirty="0"/>
              <a:t>IPv6</a:t>
            </a:r>
            <a:r>
              <a:rPr lang="zh-CN" altLang="en-US" dirty="0"/>
              <a:t>通信的能力。</a:t>
            </a:r>
          </a:p>
          <a:p>
            <a:pPr lvl="2"/>
            <a:r>
              <a:rPr lang="zh-CN" altLang="en-US" dirty="0"/>
              <a:t>配置</a:t>
            </a:r>
            <a:r>
              <a:rPr lang="en-US" altLang="zh-CN" dirty="0"/>
              <a:t>IPv6</a:t>
            </a:r>
            <a:r>
              <a:rPr lang="zh-CN" altLang="en-US" dirty="0"/>
              <a:t>地址自动获取，主机获得</a:t>
            </a:r>
            <a:r>
              <a:rPr lang="en-US" altLang="zh-CN" dirty="0"/>
              <a:t>IPv6</a:t>
            </a:r>
            <a:r>
              <a:rPr lang="zh-CN" altLang="en-US" dirty="0"/>
              <a:t>全球单播地址（</a:t>
            </a:r>
            <a:r>
              <a:rPr lang="en-US" altLang="zh-CN" dirty="0"/>
              <a:t>1::5EFE:A01:102</a:t>
            </a:r>
            <a:r>
              <a:rPr lang="zh-CN" altLang="en-US" dirty="0"/>
              <a:t>）。</a:t>
            </a:r>
          </a:p>
          <a:p>
            <a:pPr lvl="2"/>
            <a:r>
              <a:rPr lang="zh-CN" altLang="en-US" dirty="0"/>
              <a:t>当主机与其它</a:t>
            </a:r>
            <a:r>
              <a:rPr lang="en-US" altLang="zh-CN" dirty="0"/>
              <a:t>IPv6</a:t>
            </a:r>
            <a:r>
              <a:rPr lang="zh-CN" altLang="en-US" dirty="0"/>
              <a:t>主机进行通讯时，从隧道接口转发，将从报文的下一跳</a:t>
            </a:r>
            <a:r>
              <a:rPr lang="en-US" altLang="zh-CN" dirty="0"/>
              <a:t>IPv6</a:t>
            </a:r>
            <a:r>
              <a:rPr lang="zh-CN" altLang="en-US" dirty="0"/>
              <a:t>地址中取出</a:t>
            </a:r>
            <a:r>
              <a:rPr lang="en-US" altLang="zh-CN" dirty="0"/>
              <a:t>IPv4</a:t>
            </a:r>
            <a:r>
              <a:rPr lang="zh-CN" altLang="en-US" dirty="0"/>
              <a:t>地址作为</a:t>
            </a:r>
            <a:r>
              <a:rPr lang="en-US" altLang="zh-CN" dirty="0"/>
              <a:t>IPv4</a:t>
            </a:r>
            <a:r>
              <a:rPr lang="zh-CN" altLang="en-US" dirty="0"/>
              <a:t>封装的目的地址。</a:t>
            </a:r>
          </a:p>
          <a:p>
            <a:pPr lvl="1"/>
            <a:endParaRPr lang="zh-CN" altLang="en-US" dirty="0"/>
          </a:p>
          <a:p>
            <a:endParaRPr lang="zh-CN" altLang="en-US" dirty="0"/>
          </a:p>
        </p:txBody>
      </p:sp>
    </p:spTree>
    <p:extLst>
      <p:ext uri="{BB962C8B-B14F-4D97-AF65-F5344CB8AC3E}">
        <p14:creationId xmlns:p14="http://schemas.microsoft.com/office/powerpoint/2010/main" val="3384386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6PE</a:t>
            </a:r>
            <a:r>
              <a:rPr lang="zh-CN" altLang="en-US" smtClean="0"/>
              <a:t>优势：</a:t>
            </a:r>
          </a:p>
          <a:p>
            <a:pPr lvl="1"/>
            <a:r>
              <a:rPr lang="zh-CN" altLang="en-US" smtClean="0"/>
              <a:t>便于维护：所有配置在</a:t>
            </a:r>
            <a:r>
              <a:rPr lang="en-US" altLang="zh-CN" smtClean="0"/>
              <a:t>PE</a:t>
            </a:r>
            <a:r>
              <a:rPr lang="zh-CN" altLang="en-US" smtClean="0"/>
              <a:t>上完成，用户的</a:t>
            </a:r>
            <a:r>
              <a:rPr lang="en-US" altLang="zh-CN" smtClean="0"/>
              <a:t>IPv6</a:t>
            </a:r>
            <a:r>
              <a:rPr lang="zh-CN" altLang="en-US" smtClean="0"/>
              <a:t>网络感知不到</a:t>
            </a:r>
            <a:r>
              <a:rPr lang="en-US" altLang="zh-CN" smtClean="0"/>
              <a:t>IPv4</a:t>
            </a:r>
            <a:r>
              <a:rPr lang="zh-CN" altLang="en-US" smtClean="0"/>
              <a:t>网络的存在。利用现有的</a:t>
            </a:r>
            <a:r>
              <a:rPr lang="en-US" altLang="zh-CN" smtClean="0"/>
              <a:t>IPv4</a:t>
            </a:r>
            <a:r>
              <a:rPr lang="zh-CN" altLang="en-US" smtClean="0"/>
              <a:t>网络承载</a:t>
            </a:r>
            <a:r>
              <a:rPr lang="en-US" altLang="zh-CN" smtClean="0"/>
              <a:t>IPv6</a:t>
            </a:r>
            <a:r>
              <a:rPr lang="zh-CN" altLang="en-US" smtClean="0"/>
              <a:t>业务，降低了维护难度。</a:t>
            </a:r>
          </a:p>
          <a:p>
            <a:pPr lvl="1"/>
            <a:r>
              <a:rPr lang="zh-CN" altLang="en-US" smtClean="0"/>
              <a:t>建网成本低：运营商能够很好的利用现有的</a:t>
            </a:r>
            <a:r>
              <a:rPr lang="en-US" altLang="zh-CN" smtClean="0"/>
              <a:t>MPLS</a:t>
            </a:r>
            <a:r>
              <a:rPr lang="zh-CN" altLang="en-US" smtClean="0"/>
              <a:t>网络资源，无须对网络进行升级改造就可以为用户提供</a:t>
            </a:r>
            <a:r>
              <a:rPr lang="en-US" altLang="zh-CN" smtClean="0"/>
              <a:t>IPv6</a:t>
            </a:r>
            <a:r>
              <a:rPr lang="zh-CN" altLang="en-US" smtClean="0"/>
              <a:t>服务。</a:t>
            </a:r>
            <a:r>
              <a:rPr lang="en-US" altLang="zh-CN" smtClean="0"/>
              <a:t>6PE</a:t>
            </a:r>
            <a:r>
              <a:rPr lang="zh-CN" altLang="en-US" smtClean="0"/>
              <a:t>设备还可以同时为用户提供</a:t>
            </a:r>
            <a:r>
              <a:rPr lang="en-US" altLang="zh-CN" smtClean="0"/>
              <a:t>IPv6 VPN</a:t>
            </a:r>
            <a:r>
              <a:rPr lang="zh-CN" altLang="en-US" smtClean="0"/>
              <a:t>和</a:t>
            </a:r>
            <a:r>
              <a:rPr lang="en-US" altLang="zh-CN" smtClean="0"/>
              <a:t>IPv4 VPN</a:t>
            </a:r>
            <a:r>
              <a:rPr lang="zh-CN" altLang="en-US" smtClean="0"/>
              <a:t>等多种业务。</a:t>
            </a:r>
            <a:endParaRPr lang="en-US" altLang="zh-CN" smtClean="0"/>
          </a:p>
          <a:p>
            <a:r>
              <a:rPr lang="en-US" altLang="zh-CN" smtClean="0"/>
              <a:t>ISP</a:t>
            </a:r>
            <a:r>
              <a:rPr lang="zh-CN" altLang="en-US" smtClean="0"/>
              <a:t>：</a:t>
            </a:r>
            <a:r>
              <a:rPr lang="en-US" altLang="zh-CN" smtClean="0"/>
              <a:t>Internet Service Provider</a:t>
            </a:r>
            <a:r>
              <a:rPr lang="zh-CN" altLang="en-US" smtClean="0"/>
              <a:t>，互联网服务提供商</a:t>
            </a:r>
            <a:endParaRPr lang="en-US" altLang="zh-CN" smtClean="0"/>
          </a:p>
          <a:p>
            <a:r>
              <a:rPr lang="en-US" altLang="zh-CN" smtClean="0"/>
              <a:t>MP-BGP</a:t>
            </a:r>
            <a:r>
              <a:rPr lang="zh-CN" altLang="en-US" smtClean="0"/>
              <a:t>：</a:t>
            </a:r>
            <a:r>
              <a:rPr lang="pt-BR" altLang="zh-CN" smtClean="0"/>
              <a:t>Multi-protocol Extensions for Border Gateway Protocol</a:t>
            </a:r>
            <a:r>
              <a:rPr lang="zh-CN" altLang="en-US" smtClean="0"/>
              <a:t>，</a:t>
            </a:r>
            <a:r>
              <a:rPr lang="en-US" altLang="zh-CN" smtClean="0"/>
              <a:t>BGP</a:t>
            </a:r>
            <a:r>
              <a:rPr lang="zh-CN" altLang="en-US" smtClean="0"/>
              <a:t>多协议扩展</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119734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单自治域</a:t>
            </a:r>
            <a:r>
              <a:rPr lang="en-US" altLang="zh-CN" dirty="0" smtClean="0"/>
              <a:t>6PE</a:t>
            </a:r>
            <a:r>
              <a:rPr lang="zh-CN" altLang="en-US" dirty="0" smtClean="0"/>
              <a:t>的具体路由传递过程：</a:t>
            </a:r>
          </a:p>
          <a:p>
            <a:pPr lvl="1"/>
            <a:r>
              <a:rPr lang="en-US" altLang="zh-CN" dirty="0" smtClean="0"/>
              <a:t>CE2</a:t>
            </a:r>
            <a:r>
              <a:rPr lang="zh-CN" altLang="en-US" dirty="0" smtClean="0"/>
              <a:t>将域内</a:t>
            </a:r>
            <a:r>
              <a:rPr lang="en-US" altLang="zh-CN" dirty="0" smtClean="0"/>
              <a:t>IPv6</a:t>
            </a:r>
            <a:r>
              <a:rPr lang="zh-CN" altLang="en-US" dirty="0" smtClean="0"/>
              <a:t>路由通过</a:t>
            </a:r>
            <a:r>
              <a:rPr lang="en-US" altLang="zh-CN" dirty="0" smtClean="0"/>
              <a:t>EBGP</a:t>
            </a:r>
            <a:r>
              <a:rPr lang="zh-CN" altLang="en-US" dirty="0" smtClean="0"/>
              <a:t>对等体关系传递给</a:t>
            </a:r>
            <a:r>
              <a:rPr lang="en-US" altLang="zh-CN" dirty="0" smtClean="0"/>
              <a:t>6PE2</a:t>
            </a:r>
            <a:r>
              <a:rPr lang="zh-CN" altLang="en-US" dirty="0" smtClean="0"/>
              <a:t>；</a:t>
            </a:r>
          </a:p>
          <a:p>
            <a:pPr lvl="1"/>
            <a:r>
              <a:rPr lang="en-US" altLang="zh-CN" dirty="0" smtClean="0"/>
              <a:t>6PE2</a:t>
            </a:r>
            <a:r>
              <a:rPr lang="zh-CN" altLang="en-US" dirty="0" smtClean="0"/>
              <a:t>收到</a:t>
            </a:r>
            <a:r>
              <a:rPr lang="en-US" altLang="zh-CN" dirty="0" smtClean="0"/>
              <a:t>CE2</a:t>
            </a:r>
            <a:r>
              <a:rPr lang="zh-CN" altLang="en-US" dirty="0" smtClean="0"/>
              <a:t>发来的</a:t>
            </a:r>
            <a:r>
              <a:rPr lang="en-US" altLang="zh-CN" dirty="0" smtClean="0"/>
              <a:t>IPv6</a:t>
            </a:r>
            <a:r>
              <a:rPr lang="zh-CN" altLang="en-US" dirty="0" smtClean="0"/>
              <a:t>路由后，修改路由的下一跳为自身，并且为</a:t>
            </a:r>
            <a:r>
              <a:rPr lang="en-US" altLang="zh-CN" dirty="0" smtClean="0"/>
              <a:t>IPv6</a:t>
            </a:r>
            <a:r>
              <a:rPr lang="zh-CN" altLang="en-US" dirty="0" smtClean="0"/>
              <a:t>路由分配内层标签，然后将</a:t>
            </a:r>
            <a:r>
              <a:rPr lang="en-US" altLang="zh-CN" dirty="0" smtClean="0"/>
              <a:t>IPv6</a:t>
            </a:r>
            <a:r>
              <a:rPr lang="zh-CN" altLang="en-US" dirty="0" smtClean="0"/>
              <a:t>标签路由通过</a:t>
            </a:r>
            <a:r>
              <a:rPr lang="en-US" altLang="zh-CN" dirty="0" smtClean="0"/>
              <a:t>IBGP</a:t>
            </a:r>
            <a:r>
              <a:rPr lang="zh-CN" altLang="en-US" dirty="0" smtClean="0"/>
              <a:t>对等体关系向</a:t>
            </a:r>
            <a:r>
              <a:rPr lang="en-US" altLang="zh-CN" dirty="0" smtClean="0"/>
              <a:t>6PE1</a:t>
            </a:r>
            <a:r>
              <a:rPr lang="zh-CN" altLang="en-US" dirty="0" smtClean="0"/>
              <a:t>发送；</a:t>
            </a:r>
          </a:p>
          <a:p>
            <a:pPr lvl="1"/>
            <a:r>
              <a:rPr lang="en-US" altLang="zh-CN" dirty="0" smtClean="0"/>
              <a:t>6PE1</a:t>
            </a:r>
            <a:r>
              <a:rPr lang="zh-CN" altLang="en-US" dirty="0" smtClean="0"/>
              <a:t>收到</a:t>
            </a:r>
            <a:r>
              <a:rPr lang="en-US" altLang="zh-CN" dirty="0" smtClean="0"/>
              <a:t>6PE2</a:t>
            </a:r>
            <a:r>
              <a:rPr lang="zh-CN" altLang="en-US" dirty="0" smtClean="0"/>
              <a:t>发来的</a:t>
            </a:r>
            <a:r>
              <a:rPr lang="en-US" altLang="zh-CN" dirty="0" smtClean="0"/>
              <a:t>IPv6</a:t>
            </a:r>
            <a:r>
              <a:rPr lang="zh-CN" altLang="en-US" dirty="0" smtClean="0"/>
              <a:t>标签路由后，为</a:t>
            </a:r>
            <a:r>
              <a:rPr lang="en-US" altLang="zh-CN" dirty="0" smtClean="0"/>
              <a:t>IPv6</a:t>
            </a:r>
            <a:r>
              <a:rPr lang="zh-CN" altLang="en-US" dirty="0" smtClean="0"/>
              <a:t>标签路由迭代隧道，并且将路由信息下发到转发表。然后，</a:t>
            </a:r>
            <a:r>
              <a:rPr lang="en-US" altLang="zh-CN" dirty="0" smtClean="0"/>
              <a:t>6PE1</a:t>
            </a:r>
            <a:r>
              <a:rPr lang="zh-CN" altLang="en-US" dirty="0" smtClean="0"/>
              <a:t>修改路由的下一跳为自身，并且去除</a:t>
            </a:r>
            <a:r>
              <a:rPr lang="en-US" altLang="zh-CN" dirty="0" smtClean="0"/>
              <a:t>IPv6</a:t>
            </a:r>
            <a:r>
              <a:rPr lang="zh-CN" altLang="en-US" dirty="0" smtClean="0"/>
              <a:t>路由的标签，然后通过</a:t>
            </a:r>
            <a:r>
              <a:rPr lang="en-US" altLang="zh-CN" dirty="0" smtClean="0"/>
              <a:t>EBGP</a:t>
            </a:r>
            <a:r>
              <a:rPr lang="zh-CN" altLang="en-US" dirty="0" smtClean="0"/>
              <a:t>对等体关系向</a:t>
            </a:r>
            <a:r>
              <a:rPr lang="en-US" altLang="zh-CN" dirty="0" smtClean="0"/>
              <a:t>CE1</a:t>
            </a:r>
            <a:r>
              <a:rPr lang="zh-CN" altLang="en-US" dirty="0" smtClean="0"/>
              <a:t>发送普通</a:t>
            </a:r>
            <a:r>
              <a:rPr lang="en-US" altLang="zh-CN" dirty="0" smtClean="0"/>
              <a:t>IPv6</a:t>
            </a:r>
            <a:r>
              <a:rPr lang="zh-CN" altLang="en-US" dirty="0" smtClean="0"/>
              <a:t>路由。</a:t>
            </a:r>
            <a:endParaRPr lang="en-US" altLang="zh-CN" dirty="0" smtClean="0"/>
          </a:p>
          <a:p>
            <a:r>
              <a:rPr lang="zh-CN" altLang="en-US" dirty="0" smtClean="0"/>
              <a:t>单自治域</a:t>
            </a:r>
            <a:r>
              <a:rPr lang="en-US" altLang="zh-CN" dirty="0" smtClean="0"/>
              <a:t>6PE</a:t>
            </a:r>
            <a:r>
              <a:rPr lang="zh-CN" altLang="en-US" dirty="0" smtClean="0"/>
              <a:t>的具体报文转发过程：</a:t>
            </a:r>
          </a:p>
          <a:p>
            <a:pPr lvl="1"/>
            <a:r>
              <a:rPr lang="en-US" altLang="zh-CN" dirty="0" smtClean="0"/>
              <a:t>CE1</a:t>
            </a:r>
            <a:r>
              <a:rPr lang="zh-CN" altLang="en-US" dirty="0" smtClean="0"/>
              <a:t>将普通</a:t>
            </a:r>
            <a:r>
              <a:rPr lang="en-US" altLang="zh-CN" dirty="0" smtClean="0"/>
              <a:t>IPv6</a:t>
            </a:r>
            <a:r>
              <a:rPr lang="zh-CN" altLang="en-US" dirty="0" smtClean="0"/>
              <a:t>报文通过公网</a:t>
            </a:r>
            <a:r>
              <a:rPr lang="en-US" altLang="zh-CN" dirty="0" smtClean="0"/>
              <a:t>IPv6</a:t>
            </a:r>
            <a:r>
              <a:rPr lang="zh-CN" altLang="en-US" dirty="0" smtClean="0"/>
              <a:t>链路发送给</a:t>
            </a:r>
            <a:r>
              <a:rPr lang="en-US" altLang="zh-CN" dirty="0" smtClean="0"/>
              <a:t>6PE1</a:t>
            </a:r>
            <a:r>
              <a:rPr lang="zh-CN" altLang="en-US" dirty="0" smtClean="0"/>
              <a:t>；</a:t>
            </a:r>
          </a:p>
          <a:p>
            <a:pPr lvl="1"/>
            <a:r>
              <a:rPr lang="en-US" altLang="zh-CN" dirty="0" smtClean="0"/>
              <a:t>6PE1</a:t>
            </a:r>
            <a:r>
              <a:rPr lang="zh-CN" altLang="en-US" dirty="0" smtClean="0"/>
              <a:t>收到</a:t>
            </a:r>
            <a:r>
              <a:rPr lang="en-US" altLang="zh-CN" dirty="0" smtClean="0"/>
              <a:t>CE1</a:t>
            </a:r>
            <a:r>
              <a:rPr lang="zh-CN" altLang="en-US" dirty="0" smtClean="0"/>
              <a:t>发来的</a:t>
            </a:r>
            <a:r>
              <a:rPr lang="en-US" altLang="zh-CN" dirty="0" smtClean="0"/>
              <a:t>IPv6</a:t>
            </a:r>
            <a:r>
              <a:rPr lang="zh-CN" altLang="en-US" dirty="0" smtClean="0"/>
              <a:t>报文后，根据报文的目的地址查找转发表，然后为报文封装内层标签和外层隧道标签。封装了两层标签的</a:t>
            </a:r>
            <a:r>
              <a:rPr lang="en-US" altLang="zh-CN" dirty="0" smtClean="0"/>
              <a:t>IPv6</a:t>
            </a:r>
            <a:r>
              <a:rPr lang="zh-CN" altLang="en-US" dirty="0" smtClean="0"/>
              <a:t>报文通过公网隧道被转发给</a:t>
            </a:r>
            <a:r>
              <a:rPr lang="en-US" altLang="zh-CN" dirty="0" smtClean="0"/>
              <a:t>6PE2</a:t>
            </a:r>
            <a:r>
              <a:rPr lang="zh-CN" altLang="en-US" dirty="0" smtClean="0"/>
              <a:t>；</a:t>
            </a:r>
          </a:p>
          <a:p>
            <a:pPr lvl="1"/>
            <a:r>
              <a:rPr lang="en-US" altLang="zh-CN" dirty="0" smtClean="0"/>
              <a:t>6PE2</a:t>
            </a:r>
            <a:r>
              <a:rPr lang="zh-CN" altLang="en-US" dirty="0" smtClean="0"/>
              <a:t>收到封装了两层标签的</a:t>
            </a:r>
            <a:r>
              <a:rPr lang="en-US" altLang="zh-CN" dirty="0" smtClean="0"/>
              <a:t>IPv6</a:t>
            </a:r>
            <a:r>
              <a:rPr lang="zh-CN" altLang="en-US" dirty="0" smtClean="0"/>
              <a:t>报文后，弹出两层标签，再根据</a:t>
            </a:r>
            <a:r>
              <a:rPr lang="en-US" altLang="zh-CN" dirty="0" smtClean="0"/>
              <a:t>IPv6</a:t>
            </a:r>
            <a:r>
              <a:rPr lang="zh-CN" altLang="en-US" dirty="0" smtClean="0"/>
              <a:t>报文的目的地址将报文通过</a:t>
            </a:r>
            <a:r>
              <a:rPr lang="en-US" altLang="zh-CN" dirty="0" smtClean="0"/>
              <a:t>IPv6</a:t>
            </a:r>
            <a:r>
              <a:rPr lang="zh-CN" altLang="en-US" dirty="0" smtClean="0"/>
              <a:t>链路转发给</a:t>
            </a:r>
            <a:r>
              <a:rPr lang="en-US" altLang="zh-CN" dirty="0" smtClean="0"/>
              <a:t>CE2</a:t>
            </a:r>
            <a:r>
              <a:rPr lang="zh-CN" altLang="en-US" dirty="0" smtClean="0"/>
              <a:t>。</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944044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在</a:t>
            </a:r>
            <a:r>
              <a:rPr lang="en-US" altLang="zh-CN" dirty="0" smtClean="0"/>
              <a:t>6PE2</a:t>
            </a:r>
            <a:r>
              <a:rPr lang="zh-CN" altLang="en-US" dirty="0" smtClean="0"/>
              <a:t>上使能</a:t>
            </a:r>
            <a:r>
              <a:rPr lang="en-US" altLang="zh-CN" dirty="0" smtClean="0"/>
              <a:t>6PE</a:t>
            </a:r>
            <a:r>
              <a:rPr lang="zh-CN" altLang="en-US" dirty="0" smtClean="0"/>
              <a:t>路由共享显式空标签特性，</a:t>
            </a:r>
            <a:r>
              <a:rPr lang="en-US" altLang="zh-CN" dirty="0" smtClean="0"/>
              <a:t>6PE2</a:t>
            </a:r>
            <a:r>
              <a:rPr lang="zh-CN" altLang="en-US" dirty="0" smtClean="0"/>
              <a:t>发布路由给</a:t>
            </a:r>
            <a:r>
              <a:rPr lang="en-US" altLang="zh-CN" dirty="0" smtClean="0"/>
              <a:t>6PE1</a:t>
            </a:r>
            <a:r>
              <a:rPr lang="zh-CN" altLang="en-US" dirty="0" smtClean="0"/>
              <a:t>时无需申请标签，直接发布显式空标签即可。</a:t>
            </a:r>
          </a:p>
          <a:p>
            <a:r>
              <a:rPr lang="en-US" altLang="zh-CN" dirty="0" smtClean="0"/>
              <a:t>6PE1</a:t>
            </a:r>
            <a:r>
              <a:rPr lang="zh-CN" altLang="en-US" dirty="0" smtClean="0"/>
              <a:t>在向</a:t>
            </a:r>
            <a:r>
              <a:rPr lang="en-US" altLang="zh-CN" dirty="0" smtClean="0"/>
              <a:t>6PE2</a:t>
            </a:r>
            <a:r>
              <a:rPr lang="zh-CN" altLang="en-US" dirty="0" smtClean="0"/>
              <a:t>转发数据时，会携带两层标签，顶层是通过</a:t>
            </a:r>
            <a:r>
              <a:rPr lang="en-US" altLang="zh-CN" dirty="0" smtClean="0"/>
              <a:t>LDP</a:t>
            </a:r>
            <a:r>
              <a:rPr lang="zh-CN" altLang="en-US" dirty="0" smtClean="0"/>
              <a:t>分发的指向</a:t>
            </a:r>
            <a:r>
              <a:rPr lang="en-US" altLang="zh-CN" dirty="0" smtClean="0"/>
              <a:t>6PE2</a:t>
            </a:r>
            <a:r>
              <a:rPr lang="zh-CN" altLang="en-US" dirty="0" smtClean="0"/>
              <a:t>的标签，底层是通过</a:t>
            </a:r>
            <a:r>
              <a:rPr lang="en-US" altLang="zh-CN" dirty="0" smtClean="0"/>
              <a:t>MP-BGP</a:t>
            </a:r>
            <a:r>
              <a:rPr lang="zh-CN" altLang="en-US" dirty="0" smtClean="0"/>
              <a:t>分发的显式空标签。</a:t>
            </a:r>
          </a:p>
          <a:p>
            <a:r>
              <a:rPr lang="zh-CN" altLang="en-US" dirty="0" smtClean="0"/>
              <a:t>数据包转发至</a:t>
            </a:r>
            <a:r>
              <a:rPr lang="en-US" altLang="zh-CN" dirty="0" smtClean="0"/>
              <a:t>6PE2</a:t>
            </a:r>
            <a:r>
              <a:rPr lang="zh-CN" altLang="en-US" dirty="0" smtClean="0"/>
              <a:t>上时，</a:t>
            </a:r>
            <a:r>
              <a:rPr lang="en-US" altLang="zh-CN" dirty="0" smtClean="0"/>
              <a:t>6PE2</a:t>
            </a:r>
            <a:r>
              <a:rPr lang="zh-CN" altLang="en-US" dirty="0" smtClean="0"/>
              <a:t>对显式空标签进行</a:t>
            </a:r>
            <a:r>
              <a:rPr lang="en-US" altLang="zh-CN" dirty="0" smtClean="0"/>
              <a:t>POP</a:t>
            </a:r>
            <a:r>
              <a:rPr lang="zh-CN" altLang="en-US" dirty="0" smtClean="0"/>
              <a:t>操作，然后将</a:t>
            </a:r>
            <a:r>
              <a:rPr lang="en-US" altLang="zh-CN" dirty="0" smtClean="0"/>
              <a:t>IPv6</a:t>
            </a:r>
            <a:r>
              <a:rPr lang="zh-CN" altLang="en-US" dirty="0" smtClean="0"/>
              <a:t>数据包转发至</a:t>
            </a:r>
            <a:r>
              <a:rPr lang="en-US" altLang="zh-CN" dirty="0" smtClean="0"/>
              <a:t>CE2</a:t>
            </a:r>
            <a:r>
              <a:rPr lang="zh-CN" altLang="en-US" dirty="0" smtClean="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127828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在</a:t>
            </a:r>
            <a:r>
              <a:rPr lang="en-US" altLang="zh-CN" dirty="0" smtClean="0"/>
              <a:t>6VPE</a:t>
            </a:r>
            <a:r>
              <a:rPr lang="zh-CN" altLang="en-US" dirty="0" smtClean="0"/>
              <a:t>中，</a:t>
            </a:r>
            <a:r>
              <a:rPr lang="en-US" altLang="zh-CN" dirty="0" smtClean="0"/>
              <a:t>PE</a:t>
            </a:r>
            <a:r>
              <a:rPr lang="zh-CN" altLang="en-US" dirty="0" smtClean="0"/>
              <a:t>和</a:t>
            </a:r>
            <a:r>
              <a:rPr lang="en-US" altLang="zh-CN" dirty="0" smtClean="0"/>
              <a:t>CE</a:t>
            </a:r>
            <a:r>
              <a:rPr lang="zh-CN" altLang="en-US" dirty="0" smtClean="0"/>
              <a:t>之间运行的是</a:t>
            </a:r>
            <a:r>
              <a:rPr lang="en-US" altLang="zh-CN" dirty="0" smtClean="0"/>
              <a:t>IPv6</a:t>
            </a:r>
            <a:r>
              <a:rPr lang="zh-CN" altLang="en-US" dirty="0" smtClean="0"/>
              <a:t>的路由协议，可以选择以下</a:t>
            </a:r>
            <a:r>
              <a:rPr lang="en-US" altLang="zh-CN" dirty="0" smtClean="0"/>
              <a:t>IPv6</a:t>
            </a:r>
            <a:r>
              <a:rPr lang="zh-CN" altLang="en-US" dirty="0" smtClean="0"/>
              <a:t>路由协议为用户提供</a:t>
            </a:r>
            <a:r>
              <a:rPr lang="en-US" altLang="zh-CN" dirty="0" smtClean="0"/>
              <a:t>IPv6</a:t>
            </a:r>
            <a:r>
              <a:rPr lang="zh-CN" altLang="en-US" dirty="0" smtClean="0"/>
              <a:t>的</a:t>
            </a:r>
            <a:r>
              <a:rPr lang="en-US" altLang="zh-CN" dirty="0" smtClean="0"/>
              <a:t>VPN</a:t>
            </a:r>
            <a:r>
              <a:rPr lang="zh-CN" altLang="en-US" dirty="0" smtClean="0"/>
              <a:t>服务。</a:t>
            </a:r>
          </a:p>
          <a:p>
            <a:pPr lvl="1"/>
            <a:r>
              <a:rPr lang="en-US" altLang="zh-CN" dirty="0" smtClean="0"/>
              <a:t>BGP4+</a:t>
            </a:r>
          </a:p>
          <a:p>
            <a:pPr lvl="1"/>
            <a:r>
              <a:rPr lang="zh-CN" altLang="en-US" dirty="0" smtClean="0"/>
              <a:t>静态</a:t>
            </a:r>
            <a:r>
              <a:rPr lang="en-US" altLang="zh-CN" dirty="0" smtClean="0"/>
              <a:t>IPv6</a:t>
            </a:r>
            <a:r>
              <a:rPr lang="zh-CN" altLang="en-US" dirty="0" smtClean="0"/>
              <a:t>路由</a:t>
            </a:r>
          </a:p>
          <a:p>
            <a:pPr lvl="1"/>
            <a:r>
              <a:rPr lang="en-US" altLang="zh-CN" dirty="0" smtClean="0"/>
              <a:t>OSPFv3</a:t>
            </a:r>
          </a:p>
          <a:p>
            <a:pPr lvl="1"/>
            <a:r>
              <a:rPr lang="en-US" altLang="zh-CN" dirty="0" smtClean="0"/>
              <a:t>IS-IS for IPv6</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025981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说明：本课程</a:t>
            </a:r>
            <a:r>
              <a:rPr lang="en-US" altLang="zh-CN" smtClean="0"/>
              <a:t>6VPE</a:t>
            </a:r>
            <a:r>
              <a:rPr lang="zh-CN" altLang="en-US" smtClean="0"/>
              <a:t>配置以华为</a:t>
            </a:r>
            <a:r>
              <a:rPr lang="en-US" altLang="zh-CN" smtClean="0"/>
              <a:t>NetEngine 8000</a:t>
            </a:r>
            <a:r>
              <a:rPr lang="zh-CN" altLang="en-US" smtClean="0"/>
              <a:t>系列路由器为例。</a:t>
            </a:r>
            <a:endParaRPr lang="en-US" altLang="zh-CN" smtClean="0"/>
          </a:p>
          <a:p>
            <a:r>
              <a:rPr lang="zh-CN" altLang="en-US" smtClean="0"/>
              <a:t>命令：</a:t>
            </a:r>
            <a:r>
              <a:rPr lang="en-US" altLang="zh-CN" smtClean="0"/>
              <a:t>&lt;HUAWEI&gt;</a:t>
            </a:r>
            <a:r>
              <a:rPr lang="en-US" altLang="zh-CN" b="1" smtClean="0"/>
              <a:t>system-view</a:t>
            </a:r>
            <a:r>
              <a:rPr lang="en-US" altLang="zh-CN" smtClean="0"/>
              <a:t> [ </a:t>
            </a:r>
            <a:r>
              <a:rPr lang="en-US" altLang="zh-CN" b="1" smtClean="0"/>
              <a:t>immediately</a:t>
            </a:r>
            <a:r>
              <a:rPr lang="en-US" altLang="zh-CN" smtClean="0"/>
              <a:t> ]</a:t>
            </a:r>
          </a:p>
          <a:p>
            <a:pPr lvl="1"/>
            <a:r>
              <a:rPr lang="en-US" altLang="zh-CN" b="1" smtClean="0"/>
              <a:t>immediately</a:t>
            </a:r>
            <a:r>
              <a:rPr lang="zh-CN" altLang="en-US" smtClean="0"/>
              <a:t>：指定配置生效模式为立即生效模式。</a:t>
            </a:r>
          </a:p>
          <a:p>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488821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948063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说明：其余</a:t>
            </a:r>
            <a:r>
              <a:rPr lang="en-US" altLang="zh-CN" smtClean="0"/>
              <a:t>PE</a:t>
            </a:r>
            <a:r>
              <a:rPr lang="zh-CN" altLang="en-US" smtClean="0"/>
              <a:t>和</a:t>
            </a:r>
            <a:r>
              <a:rPr lang="en-US" altLang="zh-CN" smtClean="0"/>
              <a:t>CE</a:t>
            </a:r>
            <a:r>
              <a:rPr lang="zh-CN" altLang="en-US" smtClean="0"/>
              <a:t>间的路由交换方式介绍，请查阅相应产品手册。</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15745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553084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088391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492288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360572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343613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IPv4 over IPv6</a:t>
            </a:r>
            <a:r>
              <a:rPr lang="zh-CN" altLang="en-US" dirty="0" smtClean="0"/>
              <a:t>隧道的报文处理过程：</a:t>
            </a:r>
            <a:endParaRPr lang="en-US" altLang="zh-CN" dirty="0" smtClean="0"/>
          </a:p>
          <a:p>
            <a:pPr marL="588600" lvl="1" indent="-228600">
              <a:buFont typeface="+mj-lt"/>
              <a:buAutoNum type="arabicPeriod"/>
            </a:pPr>
            <a:r>
              <a:rPr lang="en-US" altLang="zh-CN" dirty="0" smtClean="0"/>
              <a:t>IPv4</a:t>
            </a:r>
            <a:r>
              <a:rPr lang="zh-CN" altLang="en-US" dirty="0" smtClean="0"/>
              <a:t>报文转发：</a:t>
            </a:r>
            <a:r>
              <a:rPr lang="en-US" altLang="zh-CN" dirty="0" smtClean="0"/>
              <a:t>Host 1</a:t>
            </a:r>
            <a:r>
              <a:rPr lang="zh-CN" altLang="en-US" dirty="0" smtClean="0"/>
              <a:t>向</a:t>
            </a:r>
            <a:r>
              <a:rPr lang="en-US" altLang="zh-CN" dirty="0" smtClean="0"/>
              <a:t>R1</a:t>
            </a:r>
            <a:r>
              <a:rPr lang="zh-CN" altLang="en-US" dirty="0" smtClean="0"/>
              <a:t>发送</a:t>
            </a:r>
            <a:r>
              <a:rPr lang="en-US" altLang="zh-CN" dirty="0" smtClean="0"/>
              <a:t>IPv4</a:t>
            </a:r>
            <a:r>
              <a:rPr lang="zh-CN" altLang="en-US" dirty="0" smtClean="0"/>
              <a:t>报文，目的</a:t>
            </a:r>
            <a:r>
              <a:rPr lang="en-US" altLang="zh-CN" dirty="0" smtClean="0"/>
              <a:t>IPv4</a:t>
            </a:r>
            <a:r>
              <a:rPr lang="zh-CN" altLang="en-US" dirty="0" smtClean="0"/>
              <a:t>地址为</a:t>
            </a:r>
            <a:r>
              <a:rPr lang="en-US" altLang="zh-CN" dirty="0" smtClean="0"/>
              <a:t>Host 2</a:t>
            </a:r>
            <a:r>
              <a:rPr lang="zh-CN" altLang="en-US" dirty="0" smtClean="0"/>
              <a:t>地址。</a:t>
            </a:r>
          </a:p>
          <a:p>
            <a:pPr marL="588600" lvl="1" indent="-228600">
              <a:buFont typeface="+mj-lt"/>
              <a:buAutoNum type="arabicPeriod"/>
            </a:pPr>
            <a:r>
              <a:rPr lang="zh-CN" altLang="en-US" dirty="0" smtClean="0"/>
              <a:t>隧道封装：</a:t>
            </a:r>
            <a:r>
              <a:rPr lang="en-US" altLang="zh-CN" dirty="0" smtClean="0"/>
              <a:t>R1</a:t>
            </a:r>
            <a:r>
              <a:rPr lang="zh-CN" altLang="en-US" dirty="0" smtClean="0"/>
              <a:t>收到来自</a:t>
            </a:r>
            <a:r>
              <a:rPr lang="en-US" altLang="zh-CN" dirty="0" smtClean="0"/>
              <a:t>IPv4</a:t>
            </a:r>
            <a:r>
              <a:rPr lang="zh-CN" altLang="en-US" dirty="0" smtClean="0"/>
              <a:t>网络侧发来的</a:t>
            </a:r>
            <a:r>
              <a:rPr lang="en-US" altLang="zh-CN" dirty="0" smtClean="0"/>
              <a:t>IPv4</a:t>
            </a:r>
            <a:r>
              <a:rPr lang="zh-CN" altLang="en-US" dirty="0" smtClean="0"/>
              <a:t>报文后，发现</a:t>
            </a:r>
            <a:r>
              <a:rPr lang="en-US" altLang="zh-CN" dirty="0" smtClean="0"/>
              <a:t>IPv4</a:t>
            </a:r>
            <a:r>
              <a:rPr lang="zh-CN" altLang="en-US" dirty="0" smtClean="0"/>
              <a:t>报文的目的地址不是自身且下一跳为</a:t>
            </a:r>
            <a:r>
              <a:rPr lang="en-US" altLang="zh-CN" dirty="0" smtClean="0"/>
              <a:t>Tunnel</a:t>
            </a:r>
            <a:r>
              <a:rPr lang="zh-CN" altLang="en-US" dirty="0" smtClean="0"/>
              <a:t>接口，则为报文添加</a:t>
            </a:r>
            <a:r>
              <a:rPr lang="en-US" altLang="zh-CN" dirty="0" smtClean="0"/>
              <a:t>IPv6</a:t>
            </a:r>
            <a:r>
              <a:rPr lang="zh-CN" altLang="en-US" dirty="0" smtClean="0"/>
              <a:t>报文头。</a:t>
            </a:r>
            <a:r>
              <a:rPr lang="en-US" altLang="zh-CN" dirty="0" smtClean="0"/>
              <a:t>R1</a:t>
            </a:r>
            <a:r>
              <a:rPr lang="zh-CN" altLang="en-US" dirty="0" smtClean="0"/>
              <a:t>将自身的</a:t>
            </a:r>
            <a:r>
              <a:rPr lang="en-US" altLang="zh-CN" dirty="0" smtClean="0"/>
              <a:t>IPv6</a:t>
            </a:r>
            <a:r>
              <a:rPr lang="zh-CN" altLang="en-US" dirty="0" smtClean="0"/>
              <a:t>地址和对端边界节点</a:t>
            </a:r>
            <a:r>
              <a:rPr lang="en-US" altLang="zh-CN" dirty="0" smtClean="0"/>
              <a:t>R2</a:t>
            </a:r>
            <a:r>
              <a:rPr lang="zh-CN" altLang="en-US" dirty="0" smtClean="0"/>
              <a:t>的</a:t>
            </a:r>
            <a:r>
              <a:rPr lang="en-US" altLang="zh-CN" dirty="0" smtClean="0"/>
              <a:t>IPv6</a:t>
            </a:r>
            <a:r>
              <a:rPr lang="zh-CN" altLang="en-US" dirty="0" smtClean="0"/>
              <a:t>地址分别封装到</a:t>
            </a:r>
            <a:r>
              <a:rPr lang="en-US" altLang="zh-CN" dirty="0" smtClean="0"/>
              <a:t>Source Address</a:t>
            </a:r>
            <a:r>
              <a:rPr lang="zh-CN" altLang="en-US" dirty="0" smtClean="0"/>
              <a:t>和</a:t>
            </a:r>
            <a:r>
              <a:rPr lang="en-US" altLang="zh-CN" dirty="0" smtClean="0"/>
              <a:t>Destination Address</a:t>
            </a:r>
            <a:r>
              <a:rPr lang="zh-CN" altLang="en-US" dirty="0" smtClean="0"/>
              <a:t>字段中，设置</a:t>
            </a:r>
            <a:r>
              <a:rPr lang="en-US" altLang="zh-CN" dirty="0" smtClean="0"/>
              <a:t>Version</a:t>
            </a:r>
            <a:r>
              <a:rPr lang="zh-CN" altLang="en-US" dirty="0" smtClean="0"/>
              <a:t>为</a:t>
            </a:r>
            <a:r>
              <a:rPr lang="en-US" altLang="zh-CN" dirty="0" smtClean="0"/>
              <a:t>6</a:t>
            </a:r>
            <a:r>
              <a:rPr lang="zh-CN" altLang="en-US" dirty="0" smtClean="0"/>
              <a:t>、</a:t>
            </a:r>
            <a:r>
              <a:rPr lang="en-US" altLang="zh-CN" dirty="0" smtClean="0"/>
              <a:t>Next Header</a:t>
            </a:r>
            <a:r>
              <a:rPr lang="zh-CN" altLang="en-US" dirty="0" smtClean="0"/>
              <a:t>为</a:t>
            </a:r>
            <a:r>
              <a:rPr lang="en-US" altLang="zh-CN" dirty="0" smtClean="0"/>
              <a:t>4</a:t>
            </a:r>
            <a:r>
              <a:rPr lang="zh-CN" altLang="en-US" dirty="0" smtClean="0"/>
              <a:t>，并根据配置情况封装其他确保报文在隧道中有效传输的字段。</a:t>
            </a:r>
          </a:p>
          <a:p>
            <a:pPr marL="588600" lvl="1" indent="-228600">
              <a:buFont typeface="+mj-lt"/>
              <a:buAutoNum type="arabicPeriod"/>
            </a:pPr>
            <a:r>
              <a:rPr lang="zh-CN" altLang="en-US" dirty="0" smtClean="0"/>
              <a:t>隧道转发：</a:t>
            </a:r>
            <a:r>
              <a:rPr lang="en-US" altLang="zh-CN" dirty="0" smtClean="0"/>
              <a:t>R1</a:t>
            </a:r>
            <a:r>
              <a:rPr lang="zh-CN" altLang="en-US" dirty="0" smtClean="0"/>
              <a:t>根据</a:t>
            </a:r>
            <a:r>
              <a:rPr lang="en-US" altLang="zh-CN" dirty="0" smtClean="0"/>
              <a:t>IPv6</a:t>
            </a:r>
            <a:r>
              <a:rPr lang="zh-CN" altLang="en-US" dirty="0" smtClean="0"/>
              <a:t>报文头的</a:t>
            </a:r>
            <a:r>
              <a:rPr lang="en-US" altLang="zh-CN" dirty="0" smtClean="0"/>
              <a:t>Destination Address</a:t>
            </a:r>
            <a:r>
              <a:rPr lang="zh-CN" altLang="en-US" dirty="0" smtClean="0"/>
              <a:t>查找</a:t>
            </a:r>
            <a:r>
              <a:rPr lang="en-US" altLang="zh-CN" dirty="0" smtClean="0"/>
              <a:t>IPv6</a:t>
            </a:r>
            <a:r>
              <a:rPr lang="zh-CN" altLang="en-US" dirty="0" smtClean="0"/>
              <a:t>路由表，将封装后的</a:t>
            </a:r>
            <a:r>
              <a:rPr lang="en-US" altLang="zh-CN" dirty="0" smtClean="0"/>
              <a:t>IPv6</a:t>
            </a:r>
            <a:r>
              <a:rPr lang="zh-CN" altLang="en-US" dirty="0" smtClean="0"/>
              <a:t>报文转发给</a:t>
            </a:r>
            <a:r>
              <a:rPr lang="en-US" altLang="zh-CN" dirty="0" smtClean="0"/>
              <a:t>R2</a:t>
            </a:r>
            <a:r>
              <a:rPr lang="zh-CN" altLang="en-US" dirty="0" smtClean="0"/>
              <a:t>。对于</a:t>
            </a:r>
            <a:r>
              <a:rPr lang="en-US" altLang="zh-CN" dirty="0" smtClean="0"/>
              <a:t>IPv6</a:t>
            </a:r>
            <a:r>
              <a:rPr lang="zh-CN" altLang="en-US" dirty="0" smtClean="0"/>
              <a:t>网络中的其他节点而言，它们感知不到隧道的存在，只是将隧道封装后报文当作普通的</a:t>
            </a:r>
            <a:r>
              <a:rPr lang="en-US" altLang="zh-CN" dirty="0" smtClean="0"/>
              <a:t>IPv6</a:t>
            </a:r>
            <a:r>
              <a:rPr lang="zh-CN" altLang="en-US" dirty="0" smtClean="0"/>
              <a:t>报文处理。</a:t>
            </a:r>
          </a:p>
          <a:p>
            <a:pPr marL="588600" lvl="1" indent="-228600">
              <a:buFont typeface="+mj-lt"/>
              <a:buAutoNum type="arabicPeriod"/>
            </a:pPr>
            <a:r>
              <a:rPr lang="zh-CN" altLang="en-US" dirty="0" smtClean="0"/>
              <a:t>隧道解封装：</a:t>
            </a:r>
            <a:r>
              <a:rPr lang="en-US" altLang="zh-CN" dirty="0" smtClean="0"/>
              <a:t>R2</a:t>
            </a:r>
            <a:r>
              <a:rPr lang="zh-CN" altLang="en-US" dirty="0" smtClean="0"/>
              <a:t>收到</a:t>
            </a:r>
            <a:r>
              <a:rPr lang="en-US" altLang="zh-CN" dirty="0" smtClean="0"/>
              <a:t>Destination Address</a:t>
            </a:r>
            <a:r>
              <a:rPr lang="zh-CN" altLang="en-US" dirty="0" smtClean="0"/>
              <a:t>为自身的报文后，根据报文头的</a:t>
            </a:r>
            <a:r>
              <a:rPr lang="en-US" altLang="zh-CN" dirty="0" smtClean="0"/>
              <a:t>Version</a:t>
            </a:r>
            <a:r>
              <a:rPr lang="zh-CN" altLang="en-US" dirty="0" smtClean="0"/>
              <a:t>确认由</a:t>
            </a:r>
            <a:r>
              <a:rPr lang="en-US" altLang="zh-CN" dirty="0" smtClean="0"/>
              <a:t>IPv6</a:t>
            </a:r>
            <a:r>
              <a:rPr lang="zh-CN" altLang="en-US" dirty="0" smtClean="0"/>
              <a:t>协议栈解封装报文头，并根据报文头的</a:t>
            </a:r>
            <a:r>
              <a:rPr lang="en-US" altLang="zh-CN" dirty="0" smtClean="0"/>
              <a:t>Next Header</a:t>
            </a:r>
            <a:r>
              <a:rPr lang="zh-CN" altLang="en-US" dirty="0" smtClean="0"/>
              <a:t>确认被封装的报文为</a:t>
            </a:r>
            <a:r>
              <a:rPr lang="en-US" altLang="zh-CN" dirty="0" smtClean="0"/>
              <a:t>IPv4</a:t>
            </a:r>
            <a:r>
              <a:rPr lang="zh-CN" altLang="en-US" dirty="0" smtClean="0"/>
              <a:t>报文。</a:t>
            </a:r>
          </a:p>
          <a:p>
            <a:pPr marL="588600" lvl="1" indent="-228600">
              <a:buFont typeface="+mj-lt"/>
              <a:buAutoNum type="arabicPeriod"/>
            </a:pPr>
            <a:r>
              <a:rPr lang="en-US" altLang="zh-CN" dirty="0" smtClean="0"/>
              <a:t>IPv4</a:t>
            </a:r>
            <a:r>
              <a:rPr lang="zh-CN" altLang="en-US" dirty="0" smtClean="0"/>
              <a:t>报文转发：</a:t>
            </a:r>
            <a:r>
              <a:rPr lang="en-US" altLang="zh-CN" dirty="0" smtClean="0"/>
              <a:t>R2</a:t>
            </a:r>
            <a:r>
              <a:rPr lang="zh-CN" altLang="en-US" dirty="0" smtClean="0"/>
              <a:t>根据</a:t>
            </a:r>
            <a:r>
              <a:rPr lang="en-US" altLang="zh-CN" dirty="0" smtClean="0"/>
              <a:t>IPv4</a:t>
            </a:r>
            <a:r>
              <a:rPr lang="zh-CN" altLang="en-US" dirty="0" smtClean="0"/>
              <a:t>报文的目的地址查找</a:t>
            </a:r>
            <a:r>
              <a:rPr lang="en-US" altLang="zh-CN" dirty="0" smtClean="0"/>
              <a:t>IPv4</a:t>
            </a:r>
            <a:r>
              <a:rPr lang="zh-CN" altLang="en-US" dirty="0" smtClean="0"/>
              <a:t>路由表将报文转发给</a:t>
            </a:r>
            <a:r>
              <a:rPr lang="en-US" altLang="zh-CN" dirty="0" smtClean="0"/>
              <a:t>Host 2</a:t>
            </a:r>
            <a:r>
              <a:rPr lang="zh-CN" altLang="en-US" dirty="0" smtClean="0"/>
              <a:t>。</a:t>
            </a:r>
            <a:endParaRPr lang="en-US" altLang="zh-CN" dirty="0" smtClean="0"/>
          </a:p>
          <a:p>
            <a:pPr lvl="0"/>
            <a:endParaRPr lang="zh-CN" altLang="en-US"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623389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IPv6</a:t>
            </a:r>
            <a:r>
              <a:rPr lang="zh-CN" altLang="en-US" dirty="0" smtClean="0"/>
              <a:t>网络用户访问</a:t>
            </a:r>
            <a:r>
              <a:rPr lang="en-US" altLang="zh-CN" dirty="0" smtClean="0"/>
              <a:t>IPv4</a:t>
            </a:r>
            <a:r>
              <a:rPr lang="zh-CN" altLang="en-US" dirty="0" smtClean="0"/>
              <a:t>网络服务器的应用场景。</a:t>
            </a:r>
          </a:p>
          <a:p>
            <a:pPr lvl="1"/>
            <a:r>
              <a:rPr lang="zh-CN" altLang="en-US" dirty="0" smtClean="0"/>
              <a:t>在向</a:t>
            </a:r>
            <a:r>
              <a:rPr lang="en-US" altLang="zh-CN" dirty="0" smtClean="0"/>
              <a:t>IPv6</a:t>
            </a:r>
            <a:r>
              <a:rPr lang="zh-CN" altLang="en-US" dirty="0" smtClean="0"/>
              <a:t>网络演进的前期，运营商为用户提供</a:t>
            </a:r>
            <a:r>
              <a:rPr lang="en-US" altLang="zh-CN" dirty="0" smtClean="0"/>
              <a:t>IPv6</a:t>
            </a:r>
            <a:r>
              <a:rPr lang="zh-CN" altLang="en-US" dirty="0" smtClean="0"/>
              <a:t>单栈接入能力，而很多</a:t>
            </a:r>
            <a:r>
              <a:rPr lang="en-US" altLang="zh-CN" dirty="0" smtClean="0"/>
              <a:t>Internet</a:t>
            </a:r>
            <a:r>
              <a:rPr lang="zh-CN" altLang="en-US" dirty="0" smtClean="0"/>
              <a:t>服务器还是</a:t>
            </a:r>
            <a:r>
              <a:rPr lang="en-US" altLang="zh-CN" dirty="0" smtClean="0"/>
              <a:t>IPv4</a:t>
            </a:r>
            <a:r>
              <a:rPr lang="zh-CN" altLang="en-US" dirty="0" smtClean="0"/>
              <a:t>的，不具备双栈能力。这种情况下，运营商提供</a:t>
            </a:r>
            <a:r>
              <a:rPr lang="en-US" altLang="zh-CN" dirty="0" smtClean="0"/>
              <a:t>NAT64</a:t>
            </a:r>
            <a:r>
              <a:rPr lang="zh-CN" altLang="en-US" dirty="0" smtClean="0"/>
              <a:t>设备，使</a:t>
            </a:r>
            <a:r>
              <a:rPr lang="en-US" altLang="zh-CN" dirty="0" smtClean="0"/>
              <a:t>IPv6</a:t>
            </a:r>
            <a:r>
              <a:rPr lang="zh-CN" altLang="en-US" dirty="0" smtClean="0"/>
              <a:t>单栈用户可以访问</a:t>
            </a:r>
            <a:r>
              <a:rPr lang="en-US" altLang="zh-CN" dirty="0" smtClean="0"/>
              <a:t>IPv4</a:t>
            </a:r>
            <a:r>
              <a:rPr lang="zh-CN" altLang="en-US" dirty="0" smtClean="0"/>
              <a:t>服务器。</a:t>
            </a:r>
          </a:p>
          <a:p>
            <a:pPr lvl="1"/>
            <a:r>
              <a:rPr lang="zh-CN" altLang="en-US" dirty="0" smtClean="0"/>
              <a:t>该场景下，运营商只为用户分配</a:t>
            </a:r>
            <a:r>
              <a:rPr lang="en-US" altLang="zh-CN" dirty="0" smtClean="0"/>
              <a:t>IPv6</a:t>
            </a:r>
            <a:r>
              <a:rPr lang="zh-CN" altLang="en-US" dirty="0" smtClean="0"/>
              <a:t>地址，</a:t>
            </a:r>
            <a:r>
              <a:rPr lang="en-US" altLang="zh-CN" dirty="0" smtClean="0"/>
              <a:t>NAT64</a:t>
            </a:r>
            <a:r>
              <a:rPr lang="zh-CN" altLang="en-US" dirty="0" smtClean="0"/>
              <a:t>设备支持双栈，纯</a:t>
            </a:r>
            <a:r>
              <a:rPr lang="en-US" altLang="zh-CN" dirty="0" smtClean="0"/>
              <a:t>IPv6</a:t>
            </a:r>
            <a:r>
              <a:rPr lang="zh-CN" altLang="en-US" dirty="0" smtClean="0"/>
              <a:t>的访问通过</a:t>
            </a:r>
            <a:r>
              <a:rPr lang="en-US" altLang="zh-CN" dirty="0" smtClean="0"/>
              <a:t>IPv6</a:t>
            </a:r>
            <a:r>
              <a:rPr lang="zh-CN" altLang="en-US" dirty="0" smtClean="0"/>
              <a:t>路由来实现；而</a:t>
            </a:r>
            <a:r>
              <a:rPr lang="en-US" altLang="zh-CN" dirty="0" smtClean="0"/>
              <a:t>IPv6</a:t>
            </a:r>
            <a:r>
              <a:rPr lang="zh-CN" altLang="en-US" dirty="0" smtClean="0"/>
              <a:t>访问</a:t>
            </a:r>
            <a:r>
              <a:rPr lang="en-US" altLang="zh-CN" dirty="0" smtClean="0"/>
              <a:t>IPv4</a:t>
            </a:r>
            <a:r>
              <a:rPr lang="zh-CN" altLang="en-US" dirty="0" smtClean="0"/>
              <a:t>业务通过</a:t>
            </a:r>
            <a:r>
              <a:rPr lang="en-US" altLang="zh-CN" dirty="0" smtClean="0"/>
              <a:t>NAT64</a:t>
            </a:r>
            <a:r>
              <a:rPr lang="zh-CN" altLang="en-US" dirty="0" smtClean="0"/>
              <a:t>映射技术来完成。</a:t>
            </a:r>
          </a:p>
          <a:p>
            <a:pPr lvl="1"/>
            <a:r>
              <a:rPr lang="zh-CN" altLang="en-US" dirty="0" smtClean="0"/>
              <a:t>当</a:t>
            </a:r>
            <a:r>
              <a:rPr lang="en-US" altLang="zh-CN" dirty="0" smtClean="0"/>
              <a:t>IPv6</a:t>
            </a:r>
            <a:r>
              <a:rPr lang="zh-CN" altLang="en-US" dirty="0" smtClean="0"/>
              <a:t>用户较少且</a:t>
            </a:r>
            <a:r>
              <a:rPr lang="en-US" altLang="zh-CN" dirty="0" smtClean="0"/>
              <a:t>IP</a:t>
            </a:r>
            <a:r>
              <a:rPr lang="zh-CN" altLang="en-US" dirty="0" smtClean="0"/>
              <a:t>地址固定时，可以通过静态</a:t>
            </a:r>
            <a:r>
              <a:rPr lang="en-US" altLang="zh-CN" dirty="0" smtClean="0"/>
              <a:t>NAT64</a:t>
            </a:r>
            <a:r>
              <a:rPr lang="zh-CN" altLang="en-US" dirty="0" smtClean="0"/>
              <a:t>映射实现</a:t>
            </a:r>
            <a:r>
              <a:rPr lang="en-US" altLang="zh-CN" dirty="0" smtClean="0"/>
              <a:t>IPv6</a:t>
            </a:r>
            <a:r>
              <a:rPr lang="zh-CN" altLang="en-US" dirty="0" smtClean="0"/>
              <a:t>访问</a:t>
            </a:r>
            <a:r>
              <a:rPr lang="en-US" altLang="zh-CN" dirty="0" smtClean="0"/>
              <a:t>IPv4</a:t>
            </a:r>
            <a:r>
              <a:rPr lang="zh-CN" altLang="en-US" dirty="0" smtClean="0"/>
              <a:t>业务；当网络中存在大量</a:t>
            </a:r>
            <a:r>
              <a:rPr lang="en-US" altLang="zh-CN" dirty="0" smtClean="0"/>
              <a:t>IPv6</a:t>
            </a:r>
            <a:r>
              <a:rPr lang="zh-CN" altLang="en-US" dirty="0" smtClean="0"/>
              <a:t>用户且</a:t>
            </a:r>
            <a:r>
              <a:rPr lang="en-US" altLang="zh-CN" dirty="0" smtClean="0"/>
              <a:t>IP</a:t>
            </a:r>
            <a:r>
              <a:rPr lang="zh-CN" altLang="en-US" dirty="0" smtClean="0"/>
              <a:t>地址不固定时，可以通过动态</a:t>
            </a:r>
            <a:r>
              <a:rPr lang="en-US" altLang="zh-CN" dirty="0" smtClean="0"/>
              <a:t>NAT64</a:t>
            </a:r>
            <a:r>
              <a:rPr lang="zh-CN" altLang="en-US" dirty="0" smtClean="0"/>
              <a:t>映射实现</a:t>
            </a:r>
            <a:r>
              <a:rPr lang="en-US" altLang="zh-CN" dirty="0" smtClean="0"/>
              <a:t>IPv6</a:t>
            </a:r>
            <a:r>
              <a:rPr lang="zh-CN" altLang="en-US" dirty="0" smtClean="0"/>
              <a:t>访问</a:t>
            </a:r>
            <a:r>
              <a:rPr lang="en-US" altLang="zh-CN" dirty="0" smtClean="0"/>
              <a:t>IPv4</a:t>
            </a:r>
            <a:r>
              <a:rPr lang="zh-CN" altLang="en-US" dirty="0" smtClean="0"/>
              <a:t>业务。</a:t>
            </a:r>
            <a:endParaRPr lang="en-US" altLang="zh-CN" dirty="0" smtClean="0"/>
          </a:p>
          <a:p>
            <a:pPr lvl="0"/>
            <a:r>
              <a:rPr lang="en-US" altLang="zh-CN" dirty="0" smtClean="0"/>
              <a:t>IPv4</a:t>
            </a:r>
            <a:r>
              <a:rPr lang="zh-CN" altLang="en-US" dirty="0" smtClean="0"/>
              <a:t>网络用户访问</a:t>
            </a:r>
            <a:r>
              <a:rPr lang="en-US" altLang="zh-CN" dirty="0" smtClean="0"/>
              <a:t>IPv6</a:t>
            </a:r>
            <a:r>
              <a:rPr lang="zh-CN" altLang="en-US" dirty="0" smtClean="0"/>
              <a:t>网络服务器的应用场景。</a:t>
            </a:r>
          </a:p>
          <a:p>
            <a:pPr lvl="1"/>
            <a:r>
              <a:rPr lang="zh-CN" altLang="en-US" dirty="0" smtClean="0"/>
              <a:t>在向</a:t>
            </a:r>
            <a:r>
              <a:rPr lang="en-US" altLang="zh-CN" dirty="0" smtClean="0"/>
              <a:t>IPv6</a:t>
            </a:r>
            <a:r>
              <a:rPr lang="zh-CN" altLang="en-US" dirty="0" smtClean="0"/>
              <a:t>网络演进的后期，许多服务提供商已经开始提供</a:t>
            </a:r>
            <a:r>
              <a:rPr lang="en-US" altLang="zh-CN" dirty="0" smtClean="0"/>
              <a:t>IPv6</a:t>
            </a:r>
            <a:r>
              <a:rPr lang="zh-CN" altLang="en-US" dirty="0" smtClean="0"/>
              <a:t>服务。而</a:t>
            </a:r>
            <a:r>
              <a:rPr lang="en-US" altLang="zh-CN" dirty="0" smtClean="0"/>
              <a:t>Internet</a:t>
            </a:r>
            <a:r>
              <a:rPr lang="zh-CN" altLang="en-US" dirty="0" smtClean="0"/>
              <a:t>上还有很多</a:t>
            </a:r>
            <a:r>
              <a:rPr lang="en-US" altLang="zh-CN" dirty="0" smtClean="0"/>
              <a:t>IPv4</a:t>
            </a:r>
            <a:r>
              <a:rPr lang="zh-CN" altLang="en-US" dirty="0" smtClean="0"/>
              <a:t>单栈用户存在，为了保留住用户，服务提供商提供</a:t>
            </a:r>
            <a:r>
              <a:rPr lang="en-US" altLang="zh-CN" dirty="0" smtClean="0"/>
              <a:t>NAT64</a:t>
            </a:r>
            <a:r>
              <a:rPr lang="zh-CN" altLang="en-US" dirty="0" smtClean="0"/>
              <a:t>设备，使</a:t>
            </a:r>
            <a:r>
              <a:rPr lang="en-US" altLang="zh-CN" dirty="0" smtClean="0"/>
              <a:t>IPv4</a:t>
            </a:r>
            <a:r>
              <a:rPr lang="zh-CN" altLang="en-US" dirty="0" smtClean="0"/>
              <a:t>单栈用户可以访问服务器。</a:t>
            </a:r>
          </a:p>
          <a:p>
            <a:pPr lvl="1"/>
            <a:r>
              <a:rPr lang="zh-CN" altLang="en-US" dirty="0" smtClean="0"/>
              <a:t>该场景下，服务提供商只为服务器分配</a:t>
            </a:r>
            <a:r>
              <a:rPr lang="en-US" altLang="zh-CN" dirty="0" smtClean="0"/>
              <a:t>IPv6</a:t>
            </a:r>
            <a:r>
              <a:rPr lang="zh-CN" altLang="en-US" dirty="0" smtClean="0"/>
              <a:t>地址，接入设备不需要升级。</a:t>
            </a:r>
            <a:r>
              <a:rPr lang="en-US" altLang="zh-CN" dirty="0" smtClean="0"/>
              <a:t>NAT64</a:t>
            </a:r>
            <a:r>
              <a:rPr lang="zh-CN" altLang="en-US" dirty="0" smtClean="0"/>
              <a:t>设备部署在出口，必须支持双栈，其中纯</a:t>
            </a:r>
            <a:r>
              <a:rPr lang="en-US" altLang="zh-CN" dirty="0" smtClean="0"/>
              <a:t>IPv6</a:t>
            </a:r>
            <a:r>
              <a:rPr lang="zh-CN" altLang="en-US" dirty="0" smtClean="0"/>
              <a:t>的访问通过</a:t>
            </a:r>
            <a:r>
              <a:rPr lang="en-US" altLang="zh-CN" dirty="0" smtClean="0"/>
              <a:t>IPv6</a:t>
            </a:r>
            <a:r>
              <a:rPr lang="zh-CN" altLang="en-US" dirty="0" smtClean="0"/>
              <a:t>路由来实现；而</a:t>
            </a:r>
            <a:r>
              <a:rPr lang="en-US" altLang="zh-CN" dirty="0" smtClean="0"/>
              <a:t>IPv4</a:t>
            </a:r>
            <a:r>
              <a:rPr lang="zh-CN" altLang="en-US" dirty="0" smtClean="0"/>
              <a:t>对</a:t>
            </a:r>
            <a:r>
              <a:rPr lang="en-US" altLang="zh-CN" dirty="0" smtClean="0"/>
              <a:t>IPv6</a:t>
            </a:r>
            <a:r>
              <a:rPr lang="zh-CN" altLang="en-US" dirty="0" smtClean="0"/>
              <a:t>的访问通过静态</a:t>
            </a:r>
            <a:r>
              <a:rPr lang="en-US" altLang="zh-CN" dirty="0" smtClean="0"/>
              <a:t>NAT64</a:t>
            </a:r>
            <a:r>
              <a:rPr lang="zh-CN" altLang="en-US" dirty="0" smtClean="0"/>
              <a:t>映射技术来完成。</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910229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NAT64</a:t>
            </a:r>
            <a:r>
              <a:rPr lang="zh-CN" altLang="en-US" smtClean="0"/>
              <a:t>分类：</a:t>
            </a:r>
            <a:endParaRPr lang="en-US" altLang="zh-CN" smtClean="0"/>
          </a:p>
          <a:p>
            <a:pPr lvl="1"/>
            <a:r>
              <a:rPr lang="zh-CN" altLang="en-US" smtClean="0"/>
              <a:t>基于</a:t>
            </a:r>
            <a:r>
              <a:rPr lang="en-US" altLang="zh-CN" smtClean="0"/>
              <a:t>PAT</a:t>
            </a:r>
            <a:r>
              <a:rPr lang="zh-CN" altLang="en-US" smtClean="0"/>
              <a:t>方式的</a:t>
            </a:r>
            <a:r>
              <a:rPr lang="en-US" altLang="zh-CN" smtClean="0"/>
              <a:t>NAT64</a:t>
            </a:r>
            <a:r>
              <a:rPr lang="zh-CN" altLang="en-US" smtClean="0"/>
              <a:t>转换：</a:t>
            </a:r>
            <a:r>
              <a:rPr lang="en-US" altLang="zh-CN" smtClean="0"/>
              <a:t>NAT64</a:t>
            </a:r>
            <a:r>
              <a:rPr lang="zh-CN" altLang="en-US" smtClean="0"/>
              <a:t>过程中对于地址和端口同时进行转换操作，</a:t>
            </a:r>
            <a:r>
              <a:rPr lang="en-US" altLang="zh-CN" b="1" smtClean="0"/>
              <a:t>[IPv6</a:t>
            </a:r>
            <a:r>
              <a:rPr lang="zh-CN" altLang="en-US" b="1" smtClean="0"/>
              <a:t>地址，端口</a:t>
            </a:r>
            <a:r>
              <a:rPr lang="en-US" altLang="zh-CN" b="1" smtClean="0"/>
              <a:t>]</a:t>
            </a:r>
            <a:r>
              <a:rPr lang="zh-CN" altLang="en-US" smtClean="0"/>
              <a:t>与</a:t>
            </a:r>
            <a:r>
              <a:rPr lang="en-US" altLang="zh-CN" b="1" smtClean="0"/>
              <a:t>[IPv4</a:t>
            </a:r>
            <a:r>
              <a:rPr lang="zh-CN" altLang="en-US" b="1" smtClean="0"/>
              <a:t>地址，端口</a:t>
            </a:r>
            <a:r>
              <a:rPr lang="en-US" altLang="zh-CN" b="1" smtClean="0"/>
              <a:t>]</a:t>
            </a:r>
            <a:r>
              <a:rPr lang="zh-CN" altLang="en-US" smtClean="0"/>
              <a:t>相互映射。即，转换前后的地址是多对一的关系，多个</a:t>
            </a:r>
            <a:r>
              <a:rPr lang="en-US" altLang="zh-CN" smtClean="0"/>
              <a:t>IPv6</a:t>
            </a:r>
            <a:r>
              <a:rPr lang="zh-CN" altLang="en-US" smtClean="0"/>
              <a:t>地址可以转换成同一个</a:t>
            </a:r>
            <a:r>
              <a:rPr lang="en-US" altLang="zh-CN" smtClean="0"/>
              <a:t>IPv4</a:t>
            </a:r>
            <a:r>
              <a:rPr lang="zh-CN" altLang="en-US" smtClean="0"/>
              <a:t>地址（映射关系通过端口的不同来区分）。该方式是常用的</a:t>
            </a:r>
            <a:r>
              <a:rPr lang="en-US" altLang="zh-CN" smtClean="0"/>
              <a:t>NAT64</a:t>
            </a:r>
            <a:r>
              <a:rPr lang="zh-CN" altLang="en-US" smtClean="0"/>
              <a:t>转换方式。</a:t>
            </a:r>
          </a:p>
          <a:p>
            <a:pPr lvl="1"/>
            <a:r>
              <a:rPr lang="zh-CN" altLang="en-US" smtClean="0"/>
              <a:t>基于</a:t>
            </a:r>
            <a:r>
              <a:rPr lang="en-US" altLang="zh-CN" smtClean="0"/>
              <a:t>NO-PAT</a:t>
            </a:r>
            <a:r>
              <a:rPr lang="zh-CN" altLang="en-US" smtClean="0"/>
              <a:t>方式的</a:t>
            </a:r>
            <a:r>
              <a:rPr lang="en-US" altLang="zh-CN" smtClean="0"/>
              <a:t>NAT64</a:t>
            </a:r>
            <a:r>
              <a:rPr lang="zh-CN" altLang="en-US" smtClean="0"/>
              <a:t>转换：</a:t>
            </a:r>
            <a:r>
              <a:rPr lang="en-US" altLang="zh-CN" smtClean="0"/>
              <a:t>NAT64</a:t>
            </a:r>
            <a:r>
              <a:rPr lang="zh-CN" altLang="en-US" smtClean="0"/>
              <a:t>过程中对于地址进行转换操作，不对端口进行转换操作，</a:t>
            </a:r>
            <a:r>
              <a:rPr lang="en-US" altLang="zh-CN" b="1" smtClean="0"/>
              <a:t>[IPv6</a:t>
            </a:r>
            <a:r>
              <a:rPr lang="zh-CN" altLang="en-US" b="1" smtClean="0"/>
              <a:t>地址</a:t>
            </a:r>
            <a:r>
              <a:rPr lang="en-US" altLang="zh-CN" b="1" smtClean="0"/>
              <a:t>]</a:t>
            </a:r>
            <a:r>
              <a:rPr lang="zh-CN" altLang="en-US" smtClean="0"/>
              <a:t>与</a:t>
            </a:r>
            <a:r>
              <a:rPr lang="en-US" altLang="zh-CN" b="1" smtClean="0"/>
              <a:t>[IPv4</a:t>
            </a:r>
            <a:r>
              <a:rPr lang="zh-CN" altLang="en-US" b="1" smtClean="0"/>
              <a:t>地址</a:t>
            </a:r>
            <a:r>
              <a:rPr lang="en-US" altLang="zh-CN" b="1" smtClean="0"/>
              <a:t>]</a:t>
            </a:r>
            <a:r>
              <a:rPr lang="zh-CN" altLang="en-US" smtClean="0"/>
              <a:t>相互映射。即，转换前后的地址是一对一的关系。</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969715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动态</a:t>
            </a:r>
            <a:r>
              <a:rPr lang="en-US" altLang="zh-CN" dirty="0" smtClean="0"/>
              <a:t>NAT64</a:t>
            </a:r>
            <a:r>
              <a:rPr lang="zh-CN" altLang="en-US" dirty="0" smtClean="0"/>
              <a:t>映射流程</a:t>
            </a:r>
            <a:endParaRPr lang="en-US" altLang="zh-CN" dirty="0" smtClean="0"/>
          </a:p>
          <a:p>
            <a:pPr marL="588600" lvl="1" indent="-228600">
              <a:buFont typeface="+mj-lt"/>
              <a:buAutoNum type="arabicPeriod"/>
            </a:pPr>
            <a:r>
              <a:rPr lang="en-US" altLang="zh-CN" dirty="0" smtClean="0"/>
              <a:t>IPv6</a:t>
            </a:r>
            <a:r>
              <a:rPr lang="zh-CN" altLang="en-US" dirty="0" smtClean="0"/>
              <a:t>单栈用户发起远端服务的</a:t>
            </a:r>
            <a:r>
              <a:rPr lang="en-US" altLang="zh-CN" dirty="0" smtClean="0"/>
              <a:t>AAAA DNS</a:t>
            </a:r>
            <a:r>
              <a:rPr lang="zh-CN" altLang="en-US" dirty="0" smtClean="0"/>
              <a:t>请求（</a:t>
            </a:r>
            <a:r>
              <a:rPr lang="en-US" altLang="zh-CN" dirty="0" smtClean="0"/>
              <a:t>example.huawei.com</a:t>
            </a:r>
            <a:r>
              <a:rPr lang="zh-CN" altLang="en-US" dirty="0" smtClean="0"/>
              <a:t>）。</a:t>
            </a:r>
          </a:p>
          <a:p>
            <a:pPr marL="588600" lvl="1" indent="-228600">
              <a:buFont typeface="+mj-lt"/>
              <a:buAutoNum type="arabicPeriod"/>
            </a:pPr>
            <a:r>
              <a:rPr lang="en-US" altLang="zh-CN" dirty="0" smtClean="0"/>
              <a:t>DNS64</a:t>
            </a:r>
            <a:r>
              <a:rPr lang="zh-CN" altLang="en-US" dirty="0" smtClean="0"/>
              <a:t>收到请求报文后，先解析</a:t>
            </a:r>
            <a:r>
              <a:rPr lang="en-US" altLang="zh-CN" dirty="0" smtClean="0"/>
              <a:t>AAAA</a:t>
            </a:r>
            <a:r>
              <a:rPr lang="zh-CN" altLang="en-US" dirty="0" smtClean="0"/>
              <a:t>请求，如果解析不到</a:t>
            </a:r>
            <a:r>
              <a:rPr lang="en-US" altLang="zh-CN" dirty="0" smtClean="0"/>
              <a:t>IPv6</a:t>
            </a:r>
            <a:r>
              <a:rPr lang="zh-CN" altLang="en-US" dirty="0" smtClean="0"/>
              <a:t>地址，再解析</a:t>
            </a:r>
            <a:r>
              <a:rPr lang="en-US" altLang="zh-CN" dirty="0" smtClean="0"/>
              <a:t>A</a:t>
            </a:r>
            <a:r>
              <a:rPr lang="zh-CN" altLang="en-US" dirty="0" smtClean="0"/>
              <a:t>请求，通过解析发现此服务地址为</a:t>
            </a:r>
            <a:r>
              <a:rPr lang="en-US" altLang="zh-CN" dirty="0" smtClean="0"/>
              <a:t>IPv4</a:t>
            </a:r>
            <a:r>
              <a:rPr lang="zh-CN" altLang="en-US" dirty="0" smtClean="0"/>
              <a:t>地址（</a:t>
            </a:r>
            <a:r>
              <a:rPr lang="en-US" altLang="zh-CN" dirty="0" smtClean="0"/>
              <a:t>1.1.1.1</a:t>
            </a:r>
            <a:r>
              <a:rPr lang="zh-CN" altLang="en-US" dirty="0" smtClean="0"/>
              <a:t>），根据配置的</a:t>
            </a:r>
            <a:r>
              <a:rPr lang="en-US" altLang="zh-CN" dirty="0" smtClean="0"/>
              <a:t>Prefix64::/n</a:t>
            </a:r>
            <a:r>
              <a:rPr lang="zh-CN" altLang="en-US" dirty="0" smtClean="0"/>
              <a:t>（</a:t>
            </a:r>
            <a:r>
              <a:rPr lang="en-US" altLang="zh-CN" dirty="0" smtClean="0"/>
              <a:t>64:FF9B::/96</a:t>
            </a:r>
            <a:r>
              <a:rPr lang="zh-CN" altLang="en-US" dirty="0" smtClean="0"/>
              <a:t>），合成</a:t>
            </a:r>
            <a:r>
              <a:rPr lang="en-US" altLang="zh-CN" dirty="0" smtClean="0"/>
              <a:t>NAT64</a:t>
            </a:r>
            <a:r>
              <a:rPr lang="zh-CN" altLang="en-US" dirty="0" smtClean="0"/>
              <a:t>地址（</a:t>
            </a:r>
            <a:r>
              <a:rPr lang="en-US" altLang="zh-CN" dirty="0" smtClean="0"/>
              <a:t>64:FF9B::101:101</a:t>
            </a:r>
            <a:r>
              <a:rPr lang="zh-CN" altLang="en-US" dirty="0" smtClean="0"/>
              <a:t>），然后发给用户，完成地址解析。</a:t>
            </a:r>
          </a:p>
          <a:p>
            <a:pPr marL="588600" lvl="1" indent="-228600">
              <a:buFont typeface="+mj-lt"/>
              <a:buAutoNum type="arabicPeriod"/>
            </a:pPr>
            <a:r>
              <a:rPr lang="zh-CN" altLang="en-US" dirty="0" smtClean="0"/>
              <a:t>用户收到</a:t>
            </a:r>
            <a:r>
              <a:rPr lang="en-US" altLang="zh-CN" dirty="0" smtClean="0"/>
              <a:t>DNS64</a:t>
            </a:r>
            <a:r>
              <a:rPr lang="zh-CN" altLang="en-US" dirty="0" smtClean="0"/>
              <a:t>的回复报文后，把解析的地址作为目的地址发往远端服务器。</a:t>
            </a:r>
          </a:p>
          <a:p>
            <a:pPr marL="588600" lvl="1" indent="-228600">
              <a:buFont typeface="+mj-lt"/>
              <a:buAutoNum type="arabicPeriod"/>
            </a:pPr>
            <a:r>
              <a:rPr lang="en-US" altLang="zh-CN" dirty="0" smtClean="0"/>
              <a:t>NAT64</a:t>
            </a:r>
            <a:r>
              <a:rPr lang="zh-CN" altLang="en-US" dirty="0" smtClean="0"/>
              <a:t>设备收到用户发出的</a:t>
            </a:r>
            <a:r>
              <a:rPr lang="en-US" altLang="zh-CN" dirty="0" smtClean="0"/>
              <a:t>IPv6</a:t>
            </a:r>
            <a:r>
              <a:rPr lang="zh-CN" altLang="en-US" dirty="0" smtClean="0"/>
              <a:t>报文后，使用地址转换算法提取出</a:t>
            </a:r>
            <a:r>
              <a:rPr lang="en-US" altLang="zh-CN" dirty="0" smtClean="0"/>
              <a:t>IPv6</a:t>
            </a:r>
            <a:r>
              <a:rPr lang="zh-CN" altLang="en-US" dirty="0" smtClean="0"/>
              <a:t>报文中的</a:t>
            </a:r>
            <a:r>
              <a:rPr lang="en-US" altLang="zh-CN" dirty="0" smtClean="0"/>
              <a:t>IPv4</a:t>
            </a:r>
            <a:r>
              <a:rPr lang="zh-CN" altLang="en-US" dirty="0" smtClean="0"/>
              <a:t>地址（</a:t>
            </a:r>
            <a:r>
              <a:rPr lang="en-US" altLang="zh-CN" dirty="0" smtClean="0"/>
              <a:t>1.1.1.1</a:t>
            </a:r>
            <a:r>
              <a:rPr lang="zh-CN" altLang="en-US" dirty="0" smtClean="0"/>
              <a:t>），以此</a:t>
            </a:r>
            <a:r>
              <a:rPr lang="en-US" altLang="zh-CN" dirty="0" smtClean="0"/>
              <a:t>IPv4</a:t>
            </a:r>
            <a:r>
              <a:rPr lang="zh-CN" altLang="en-US" dirty="0" smtClean="0"/>
              <a:t>地址作为</a:t>
            </a:r>
            <a:r>
              <a:rPr lang="en-US" altLang="zh-CN" dirty="0" smtClean="0"/>
              <a:t>IPv4</a:t>
            </a:r>
            <a:r>
              <a:rPr lang="zh-CN" altLang="en-US" dirty="0" smtClean="0"/>
              <a:t>报文的目的地址。然后根据</a:t>
            </a:r>
            <a:r>
              <a:rPr lang="en-US" altLang="zh-CN" dirty="0" smtClean="0"/>
              <a:t>NAT64</a:t>
            </a:r>
            <a:r>
              <a:rPr lang="zh-CN" altLang="en-US" dirty="0" smtClean="0"/>
              <a:t>策略配置的映射关系，以</a:t>
            </a:r>
            <a:r>
              <a:rPr lang="en-US" altLang="zh-CN" dirty="0" smtClean="0"/>
              <a:t>NAT</a:t>
            </a:r>
            <a:r>
              <a:rPr lang="zh-CN" altLang="en-US" dirty="0" smtClean="0"/>
              <a:t>地址池中的地址为</a:t>
            </a:r>
            <a:r>
              <a:rPr lang="en-US" altLang="zh-CN" dirty="0" smtClean="0"/>
              <a:t>IPv4</a:t>
            </a:r>
            <a:r>
              <a:rPr lang="zh-CN" altLang="en-US" dirty="0" smtClean="0"/>
              <a:t>报文的源地址（</a:t>
            </a:r>
            <a:r>
              <a:rPr lang="en-US" altLang="zh-CN" dirty="0" smtClean="0"/>
              <a:t>2.1.1.10</a:t>
            </a:r>
            <a:r>
              <a:rPr lang="zh-CN" altLang="en-US" dirty="0" smtClean="0"/>
              <a:t>），将</a:t>
            </a:r>
            <a:r>
              <a:rPr lang="en-US" altLang="zh-CN" dirty="0" smtClean="0"/>
              <a:t>IPv6</a:t>
            </a:r>
            <a:r>
              <a:rPr lang="zh-CN" altLang="en-US" dirty="0" smtClean="0"/>
              <a:t>报文转换为</a:t>
            </a:r>
            <a:r>
              <a:rPr lang="en-US" altLang="zh-CN" dirty="0" smtClean="0"/>
              <a:t>IPv4</a:t>
            </a:r>
            <a:r>
              <a:rPr lang="zh-CN" altLang="en-US" dirty="0" smtClean="0"/>
              <a:t>报文，发送给</a:t>
            </a:r>
            <a:r>
              <a:rPr lang="en-US" altLang="zh-CN" dirty="0" smtClean="0"/>
              <a:t>IPv4</a:t>
            </a:r>
            <a:r>
              <a:rPr lang="zh-CN" altLang="en-US" dirty="0" smtClean="0"/>
              <a:t>网络中的服务器。并生成有地址对应关系的会话表。</a:t>
            </a:r>
          </a:p>
          <a:p>
            <a:pPr marL="588600" lvl="1" indent="-228600">
              <a:buFont typeface="+mj-lt"/>
              <a:buAutoNum type="arabicPeriod"/>
            </a:pPr>
            <a:r>
              <a:rPr lang="en-US" altLang="zh-CN" dirty="0" smtClean="0"/>
              <a:t>IPv4</a:t>
            </a:r>
            <a:r>
              <a:rPr lang="zh-CN" altLang="en-US" dirty="0" smtClean="0"/>
              <a:t>服务器收到报文后，回复响应报文。</a:t>
            </a:r>
          </a:p>
          <a:p>
            <a:pPr marL="588600" lvl="1" indent="-228600">
              <a:buFont typeface="+mj-lt"/>
              <a:buAutoNum type="arabicPeriod"/>
            </a:pPr>
            <a:r>
              <a:rPr lang="en-US" altLang="zh-CN" dirty="0" smtClean="0"/>
              <a:t>NAT64</a:t>
            </a:r>
            <a:r>
              <a:rPr lang="zh-CN" altLang="en-US" dirty="0" smtClean="0"/>
              <a:t>设备收到</a:t>
            </a:r>
            <a:r>
              <a:rPr lang="en-US" altLang="zh-CN" dirty="0" smtClean="0"/>
              <a:t>IPv4</a:t>
            </a:r>
            <a:r>
              <a:rPr lang="zh-CN" altLang="en-US" dirty="0" smtClean="0"/>
              <a:t>网络中服务器的响应报文后，根据会话表将</a:t>
            </a:r>
            <a:r>
              <a:rPr lang="en-US" altLang="zh-CN" dirty="0" smtClean="0"/>
              <a:t>IPv4</a:t>
            </a:r>
            <a:r>
              <a:rPr lang="zh-CN" altLang="en-US" dirty="0" smtClean="0"/>
              <a:t>报文转换为</a:t>
            </a:r>
            <a:r>
              <a:rPr lang="en-US" altLang="zh-CN" dirty="0" smtClean="0"/>
              <a:t>IPv6</a:t>
            </a:r>
            <a:r>
              <a:rPr lang="zh-CN" altLang="en-US" dirty="0" smtClean="0"/>
              <a:t>报文，然后发送至</a:t>
            </a:r>
            <a:r>
              <a:rPr lang="en-US" altLang="zh-CN" dirty="0" smtClean="0"/>
              <a:t>IPv6</a:t>
            </a:r>
            <a:r>
              <a:rPr lang="zh-CN" altLang="en-US" dirty="0" smtClean="0"/>
              <a:t>用户。</a:t>
            </a:r>
            <a:endParaRPr lang="en-US" altLang="zh-CN" dirty="0" smtClean="0"/>
          </a:p>
          <a:p>
            <a:r>
              <a:rPr lang="en-US" altLang="zh-CN" dirty="0" smtClean="0"/>
              <a:t>DNS</a:t>
            </a:r>
            <a:r>
              <a:rPr lang="zh-CN" altLang="en-US" dirty="0" smtClean="0"/>
              <a:t>的</a:t>
            </a:r>
            <a:r>
              <a:rPr lang="en-US" altLang="zh-CN" dirty="0" smtClean="0"/>
              <a:t>AAAA</a:t>
            </a:r>
            <a:r>
              <a:rPr lang="zh-CN" altLang="en-US" dirty="0" smtClean="0"/>
              <a:t>记录和</a:t>
            </a:r>
            <a:r>
              <a:rPr lang="en-US" altLang="zh-CN" dirty="0" smtClean="0"/>
              <a:t>A</a:t>
            </a:r>
            <a:r>
              <a:rPr lang="zh-CN" altLang="en-US" dirty="0" smtClean="0"/>
              <a:t>记录：</a:t>
            </a:r>
            <a:endParaRPr lang="en-US" altLang="zh-CN" dirty="0" smtClean="0"/>
          </a:p>
          <a:p>
            <a:pPr lvl="1"/>
            <a:r>
              <a:rPr lang="en-US" altLang="zh-CN" dirty="0" smtClean="0"/>
              <a:t>AAAA</a:t>
            </a:r>
            <a:r>
              <a:rPr lang="zh-CN" altLang="en-US" dirty="0" smtClean="0"/>
              <a:t>：将主机名（或域名）指向一个</a:t>
            </a:r>
            <a:r>
              <a:rPr lang="en-US" altLang="zh-CN" dirty="0" smtClean="0"/>
              <a:t>IPv6</a:t>
            </a:r>
            <a:r>
              <a:rPr lang="zh-CN" altLang="en-US" dirty="0" smtClean="0"/>
              <a:t>地址。</a:t>
            </a:r>
            <a:endParaRPr lang="en-US" altLang="zh-CN" dirty="0" smtClean="0"/>
          </a:p>
          <a:p>
            <a:pPr lvl="1"/>
            <a:r>
              <a:rPr lang="en-US" altLang="zh-CN" dirty="0" smtClean="0"/>
              <a:t>A</a:t>
            </a:r>
            <a:r>
              <a:rPr lang="zh-CN" altLang="en-US" dirty="0" smtClean="0"/>
              <a:t>：将域名指向一个</a:t>
            </a:r>
            <a:r>
              <a:rPr lang="en-US" altLang="zh-CN" dirty="0" smtClean="0"/>
              <a:t>IPv4</a:t>
            </a:r>
            <a:r>
              <a:rPr lang="zh-CN" altLang="en-US" dirty="0" smtClean="0"/>
              <a:t>地址。</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123687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静态</a:t>
            </a:r>
            <a:r>
              <a:rPr lang="en-US" altLang="zh-CN" dirty="0" smtClean="0"/>
              <a:t>NAT64</a:t>
            </a:r>
            <a:r>
              <a:rPr lang="zh-CN" altLang="en-US" dirty="0" smtClean="0"/>
              <a:t>映射流程</a:t>
            </a:r>
            <a:endParaRPr lang="en-US" altLang="zh-CN" dirty="0" smtClean="0"/>
          </a:p>
          <a:p>
            <a:pPr marL="588600" lvl="1" indent="-228600">
              <a:buFont typeface="+mj-lt"/>
              <a:buAutoNum type="arabicPeriod"/>
            </a:pPr>
            <a:r>
              <a:rPr lang="en-US" altLang="zh-CN" dirty="0" smtClean="0"/>
              <a:t>IPv4</a:t>
            </a:r>
            <a:r>
              <a:rPr lang="zh-CN" altLang="en-US" dirty="0" smtClean="0"/>
              <a:t>用户向</a:t>
            </a:r>
            <a:r>
              <a:rPr lang="en-US" altLang="zh-CN" dirty="0" smtClean="0"/>
              <a:t>DNS</a:t>
            </a:r>
            <a:r>
              <a:rPr lang="zh-CN" altLang="en-US" dirty="0" smtClean="0"/>
              <a:t>发起</a:t>
            </a:r>
            <a:r>
              <a:rPr lang="en-US" altLang="zh-CN" dirty="0" smtClean="0"/>
              <a:t>A</a:t>
            </a:r>
            <a:r>
              <a:rPr lang="zh-CN" altLang="en-US" dirty="0" smtClean="0"/>
              <a:t>请求（</a:t>
            </a:r>
            <a:r>
              <a:rPr lang="en-US" altLang="zh-CN" dirty="0" smtClean="0"/>
              <a:t>example.huawei.com</a:t>
            </a:r>
            <a:r>
              <a:rPr lang="zh-CN" altLang="en-US" dirty="0" smtClean="0"/>
              <a:t>）。</a:t>
            </a:r>
          </a:p>
          <a:p>
            <a:pPr marL="588600" lvl="1" indent="-228600">
              <a:buFont typeface="+mj-lt"/>
              <a:buAutoNum type="arabicPeriod"/>
            </a:pPr>
            <a:r>
              <a:rPr lang="en-US" altLang="zh-CN" dirty="0" smtClean="0"/>
              <a:t>DNS</a:t>
            </a:r>
            <a:r>
              <a:rPr lang="zh-CN" altLang="en-US" dirty="0" smtClean="0"/>
              <a:t>收到请求报文后，解析域名对应的</a:t>
            </a:r>
            <a:r>
              <a:rPr lang="en-US" altLang="zh-CN" dirty="0" smtClean="0"/>
              <a:t>IPv4</a:t>
            </a:r>
            <a:r>
              <a:rPr lang="zh-CN" altLang="en-US" dirty="0" smtClean="0"/>
              <a:t>地址</a:t>
            </a:r>
            <a:r>
              <a:rPr lang="en-US" altLang="zh-CN" dirty="0" smtClean="0"/>
              <a:t>2.1.1.10</a:t>
            </a:r>
            <a:r>
              <a:rPr lang="zh-CN" altLang="en-US" dirty="0" smtClean="0"/>
              <a:t>（</a:t>
            </a:r>
            <a:r>
              <a:rPr lang="en-US" altLang="zh-CN" dirty="0" smtClean="0"/>
              <a:t>A</a:t>
            </a:r>
            <a:r>
              <a:rPr lang="zh-CN" altLang="en-US" dirty="0" smtClean="0"/>
              <a:t>请求如果无法解析</a:t>
            </a:r>
            <a:r>
              <a:rPr lang="en-US" altLang="zh-CN" dirty="0" smtClean="0"/>
              <a:t>IPv4</a:t>
            </a:r>
            <a:r>
              <a:rPr lang="zh-CN" altLang="en-US" dirty="0" smtClean="0"/>
              <a:t>地址，报文将丢弃。此场景中，域名与地址关系一般已经提前在</a:t>
            </a:r>
            <a:r>
              <a:rPr lang="en-US" altLang="zh-CN" dirty="0" smtClean="0"/>
              <a:t>DNS</a:t>
            </a:r>
            <a:r>
              <a:rPr lang="zh-CN" altLang="en-US" dirty="0" smtClean="0"/>
              <a:t>设定好），然后发送回复报文给用户。</a:t>
            </a:r>
          </a:p>
          <a:p>
            <a:pPr marL="588600" lvl="1" indent="-228600">
              <a:buFont typeface="+mj-lt"/>
              <a:buAutoNum type="arabicPeriod"/>
            </a:pPr>
            <a:r>
              <a:rPr lang="zh-CN" altLang="en-US" dirty="0" smtClean="0"/>
              <a:t>用户收到</a:t>
            </a:r>
            <a:r>
              <a:rPr lang="en-US" altLang="zh-CN" dirty="0" smtClean="0"/>
              <a:t>DNS</a:t>
            </a:r>
            <a:r>
              <a:rPr lang="zh-CN" altLang="en-US" dirty="0" smtClean="0"/>
              <a:t>的回复报文后，把解析的地址作为目的地址发往远端服务器。</a:t>
            </a:r>
          </a:p>
          <a:p>
            <a:pPr marL="588600" lvl="1" indent="-228600">
              <a:buFont typeface="+mj-lt"/>
              <a:buAutoNum type="arabicPeriod"/>
            </a:pPr>
            <a:r>
              <a:rPr lang="en-US" altLang="zh-CN" dirty="0" smtClean="0"/>
              <a:t>NAT64</a:t>
            </a:r>
            <a:r>
              <a:rPr lang="zh-CN" altLang="en-US" dirty="0" smtClean="0"/>
              <a:t>设备收到用户发出的</a:t>
            </a:r>
            <a:r>
              <a:rPr lang="en-US" altLang="zh-CN" dirty="0" smtClean="0"/>
              <a:t>IPv4</a:t>
            </a:r>
            <a:r>
              <a:rPr lang="zh-CN" altLang="en-US" dirty="0" smtClean="0"/>
              <a:t>报文后，根据事先设置好的静态映射关系（会生成</a:t>
            </a:r>
            <a:r>
              <a:rPr lang="en-US" altLang="zh-CN" dirty="0" smtClean="0"/>
              <a:t>Server-Map</a:t>
            </a:r>
            <a:r>
              <a:rPr lang="zh-CN" altLang="en-US" dirty="0" smtClean="0"/>
              <a:t>表），把报文的目的</a:t>
            </a:r>
            <a:r>
              <a:rPr lang="en-US" altLang="zh-CN" dirty="0" smtClean="0"/>
              <a:t>IPv4</a:t>
            </a:r>
            <a:r>
              <a:rPr lang="zh-CN" altLang="en-US" dirty="0" smtClean="0"/>
              <a:t>地址转换成对应的</a:t>
            </a:r>
            <a:r>
              <a:rPr lang="en-US" altLang="zh-CN" dirty="0" smtClean="0"/>
              <a:t>IPv6</a:t>
            </a:r>
            <a:r>
              <a:rPr lang="zh-CN" altLang="en-US" dirty="0" smtClean="0"/>
              <a:t>地址</a:t>
            </a:r>
            <a:r>
              <a:rPr lang="en-US" altLang="zh-CN" dirty="0" smtClean="0"/>
              <a:t>2001:DB8::2</a:t>
            </a:r>
            <a:r>
              <a:rPr lang="zh-CN" altLang="en-US" dirty="0" smtClean="0"/>
              <a:t>，以此</a:t>
            </a:r>
            <a:r>
              <a:rPr lang="en-US" altLang="zh-CN" dirty="0" smtClean="0"/>
              <a:t>IPv6</a:t>
            </a:r>
            <a:r>
              <a:rPr lang="zh-CN" altLang="en-US" dirty="0" smtClean="0"/>
              <a:t>地址作为</a:t>
            </a:r>
            <a:r>
              <a:rPr lang="en-US" altLang="zh-CN" dirty="0" smtClean="0"/>
              <a:t>IPv6</a:t>
            </a:r>
            <a:r>
              <a:rPr lang="zh-CN" altLang="en-US" dirty="0" smtClean="0"/>
              <a:t>报文的目的地址，把</a:t>
            </a:r>
            <a:r>
              <a:rPr lang="en-US" altLang="zh-CN" dirty="0" smtClean="0"/>
              <a:t>IPv4</a:t>
            </a:r>
            <a:r>
              <a:rPr lang="zh-CN" altLang="en-US" dirty="0" smtClean="0"/>
              <a:t>报文的源</a:t>
            </a:r>
            <a:r>
              <a:rPr lang="en-US" altLang="zh-CN" dirty="0" smtClean="0"/>
              <a:t>IPv4</a:t>
            </a:r>
            <a:r>
              <a:rPr lang="zh-CN" altLang="en-US" dirty="0" smtClean="0"/>
              <a:t>地址与设置好的</a:t>
            </a:r>
            <a:r>
              <a:rPr lang="en-US" altLang="zh-CN" dirty="0" smtClean="0"/>
              <a:t>NAT64</a:t>
            </a:r>
            <a:r>
              <a:rPr lang="zh-CN" altLang="en-US" dirty="0" smtClean="0"/>
              <a:t>前缀合成</a:t>
            </a:r>
            <a:r>
              <a:rPr lang="en-US" altLang="zh-CN" dirty="0" smtClean="0"/>
              <a:t>IPv6</a:t>
            </a:r>
            <a:r>
              <a:rPr lang="zh-CN" altLang="en-US" dirty="0" smtClean="0"/>
              <a:t>报文的源地址（</a:t>
            </a:r>
            <a:r>
              <a:rPr lang="en-US" altLang="zh-CN" dirty="0" smtClean="0"/>
              <a:t>64:FF9B::101:101</a:t>
            </a:r>
            <a:r>
              <a:rPr lang="zh-CN" altLang="en-US" dirty="0" smtClean="0"/>
              <a:t>），完成</a:t>
            </a:r>
            <a:r>
              <a:rPr lang="en-US" altLang="zh-CN" dirty="0" smtClean="0"/>
              <a:t>IPv4</a:t>
            </a:r>
            <a:r>
              <a:rPr lang="zh-CN" altLang="en-US" dirty="0" smtClean="0"/>
              <a:t>报文到</a:t>
            </a:r>
            <a:r>
              <a:rPr lang="en-US" altLang="zh-CN" dirty="0" smtClean="0"/>
              <a:t>IPv6</a:t>
            </a:r>
            <a:r>
              <a:rPr lang="zh-CN" altLang="en-US" dirty="0" smtClean="0"/>
              <a:t>报文的转换，发送给</a:t>
            </a:r>
            <a:r>
              <a:rPr lang="en-US" altLang="zh-CN" dirty="0" smtClean="0"/>
              <a:t>IPv6</a:t>
            </a:r>
            <a:r>
              <a:rPr lang="zh-CN" altLang="en-US" dirty="0" smtClean="0"/>
              <a:t>网络中的服务器。并生成会话表。</a:t>
            </a:r>
          </a:p>
          <a:p>
            <a:pPr marL="588600" lvl="1" indent="-228600">
              <a:buFont typeface="+mj-lt"/>
              <a:buAutoNum type="arabicPeriod"/>
            </a:pPr>
            <a:r>
              <a:rPr lang="zh-CN" altLang="en-US" dirty="0" smtClean="0"/>
              <a:t>服务器收到报文后，回复响应报文。</a:t>
            </a:r>
          </a:p>
          <a:p>
            <a:pPr marL="588600" lvl="1" indent="-228600">
              <a:buFont typeface="+mj-lt"/>
              <a:buAutoNum type="arabicPeriod"/>
            </a:pPr>
            <a:r>
              <a:rPr lang="en-US" altLang="zh-CN" dirty="0" smtClean="0"/>
              <a:t>NAT64</a:t>
            </a:r>
            <a:r>
              <a:rPr lang="zh-CN" altLang="en-US" dirty="0" smtClean="0"/>
              <a:t>设备收到</a:t>
            </a:r>
            <a:r>
              <a:rPr lang="en-US" altLang="zh-CN" dirty="0" smtClean="0"/>
              <a:t>IPv6</a:t>
            </a:r>
            <a:r>
              <a:rPr lang="zh-CN" altLang="en-US" dirty="0" smtClean="0"/>
              <a:t>网络中服务器的响应报文后，根据会话表将</a:t>
            </a:r>
            <a:r>
              <a:rPr lang="en-US" altLang="zh-CN" dirty="0" smtClean="0"/>
              <a:t>IPv6</a:t>
            </a:r>
            <a:r>
              <a:rPr lang="zh-CN" altLang="en-US" dirty="0" smtClean="0"/>
              <a:t>报文转换为</a:t>
            </a:r>
            <a:r>
              <a:rPr lang="en-US" altLang="zh-CN" dirty="0" smtClean="0"/>
              <a:t>IPv4</a:t>
            </a:r>
            <a:r>
              <a:rPr lang="zh-CN" altLang="en-US" dirty="0" smtClean="0"/>
              <a:t>报文，然后发送至</a:t>
            </a:r>
            <a:r>
              <a:rPr lang="en-US" altLang="zh-CN" dirty="0" smtClean="0"/>
              <a:t>IPv4</a:t>
            </a:r>
            <a:r>
              <a:rPr lang="zh-CN" altLang="en-US" dirty="0" smtClean="0"/>
              <a:t>用户。</a:t>
            </a:r>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61899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配置</a:t>
            </a:r>
            <a:r>
              <a:rPr lang="en-US" altLang="zh-CN" smtClean="0"/>
              <a:t>NAT64</a:t>
            </a:r>
            <a:r>
              <a:rPr lang="zh-CN" altLang="en-US" smtClean="0"/>
              <a:t>前缀：</a:t>
            </a:r>
            <a:endParaRPr lang="en-US" altLang="zh-CN" smtClean="0"/>
          </a:p>
          <a:p>
            <a:pPr lvl="1"/>
            <a:r>
              <a:rPr lang="en-US" altLang="zh-CN" smtClean="0"/>
              <a:t>NAT64</a:t>
            </a:r>
            <a:r>
              <a:rPr lang="zh-CN" altLang="en-US" smtClean="0"/>
              <a:t>前缀不能与设备上任一接口的</a:t>
            </a:r>
            <a:r>
              <a:rPr lang="en-US" altLang="zh-CN" smtClean="0"/>
              <a:t>IPv6</a:t>
            </a:r>
            <a:r>
              <a:rPr lang="zh-CN" altLang="en-US" smtClean="0"/>
              <a:t>地址前缀重叠，否则设备收到目的地址是接口同网段的</a:t>
            </a:r>
            <a:r>
              <a:rPr lang="en-US" altLang="zh-CN" smtClean="0"/>
              <a:t>IPv6</a:t>
            </a:r>
            <a:r>
              <a:rPr lang="zh-CN" altLang="en-US" smtClean="0"/>
              <a:t>地址的报文会被认为是</a:t>
            </a:r>
            <a:r>
              <a:rPr lang="en-US" altLang="zh-CN" smtClean="0"/>
              <a:t>NAT64</a:t>
            </a:r>
            <a:r>
              <a:rPr lang="zh-CN" altLang="en-US" smtClean="0"/>
              <a:t>报文，进入</a:t>
            </a:r>
            <a:r>
              <a:rPr lang="en-US" altLang="zh-CN" smtClean="0"/>
              <a:t>NAT64</a:t>
            </a:r>
            <a:r>
              <a:rPr lang="zh-CN" altLang="en-US" smtClean="0"/>
              <a:t>报文处理流程。</a:t>
            </a:r>
          </a:p>
          <a:p>
            <a:pPr lvl="1"/>
            <a:r>
              <a:rPr lang="zh-CN" altLang="en-US" smtClean="0"/>
              <a:t>配置多个</a:t>
            </a:r>
            <a:r>
              <a:rPr lang="en-US" altLang="zh-CN" smtClean="0"/>
              <a:t>IPv6</a:t>
            </a:r>
            <a:r>
              <a:rPr lang="zh-CN" altLang="en-US" smtClean="0"/>
              <a:t>前缀时，如果使用</a:t>
            </a:r>
            <a:r>
              <a:rPr lang="en-US" altLang="zh-CN" smtClean="0"/>
              <a:t>NAT64</a:t>
            </a:r>
            <a:r>
              <a:rPr lang="zh-CN" altLang="en-US" smtClean="0"/>
              <a:t>动态映射，当</a:t>
            </a:r>
            <a:r>
              <a:rPr lang="en-US" altLang="zh-CN" smtClean="0"/>
              <a:t>IPv6</a:t>
            </a:r>
            <a:r>
              <a:rPr lang="zh-CN" altLang="en-US" smtClean="0"/>
              <a:t>网络主动访问</a:t>
            </a:r>
            <a:r>
              <a:rPr lang="en-US" altLang="zh-CN" smtClean="0"/>
              <a:t>IPv4</a:t>
            </a:r>
            <a:r>
              <a:rPr lang="zh-CN" altLang="en-US" smtClean="0"/>
              <a:t>网络时，所有配置的</a:t>
            </a:r>
            <a:r>
              <a:rPr lang="en-US" altLang="zh-CN" smtClean="0"/>
              <a:t>NAT64</a:t>
            </a:r>
            <a:r>
              <a:rPr lang="zh-CN" altLang="en-US" smtClean="0"/>
              <a:t>前缀都可以被应用在</a:t>
            </a:r>
            <a:r>
              <a:rPr lang="en-US" altLang="zh-CN" smtClean="0"/>
              <a:t>NAT64</a:t>
            </a:r>
            <a:r>
              <a:rPr lang="zh-CN" altLang="en-US" smtClean="0"/>
              <a:t>转换中；如果使用</a:t>
            </a:r>
            <a:r>
              <a:rPr lang="en-US" altLang="zh-CN" smtClean="0"/>
              <a:t>NAT64</a:t>
            </a:r>
            <a:r>
              <a:rPr lang="zh-CN" altLang="en-US" smtClean="0"/>
              <a:t>静态映射，当</a:t>
            </a:r>
            <a:r>
              <a:rPr lang="en-US" altLang="zh-CN" smtClean="0"/>
              <a:t>IPv4</a:t>
            </a:r>
            <a:r>
              <a:rPr lang="zh-CN" altLang="en-US" smtClean="0"/>
              <a:t>网络主动访问</a:t>
            </a:r>
            <a:r>
              <a:rPr lang="en-US" altLang="zh-CN" smtClean="0"/>
              <a:t>IPv6</a:t>
            </a:r>
            <a:r>
              <a:rPr lang="zh-CN" altLang="en-US" smtClean="0"/>
              <a:t>网络时，设备会在前缀列表中随机选择一个前缀来使用。</a:t>
            </a:r>
          </a:p>
          <a:p>
            <a:pPr lvl="0"/>
            <a:r>
              <a:rPr lang="zh-CN" altLang="en-US" smtClean="0"/>
              <a:t>说明：本课程</a:t>
            </a:r>
            <a:r>
              <a:rPr lang="en-US" altLang="zh-CN" smtClean="0"/>
              <a:t>NAT64</a:t>
            </a:r>
            <a:r>
              <a:rPr lang="zh-CN" altLang="en-US" smtClean="0"/>
              <a:t>配置以华为</a:t>
            </a:r>
            <a:r>
              <a:rPr lang="en-US" altLang="zh-CN" smtClean="0"/>
              <a:t>USG6000</a:t>
            </a:r>
            <a:r>
              <a:rPr lang="zh-CN" altLang="en-US" smtClean="0"/>
              <a:t>系列防火墙为例。</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782455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命令：</a:t>
            </a:r>
            <a:r>
              <a:rPr lang="en-US" altLang="zh-CN" b="1" smtClean="0"/>
              <a:t>mode</a:t>
            </a:r>
            <a:r>
              <a:rPr lang="en-US" altLang="zh-CN" smtClean="0"/>
              <a:t> { </a:t>
            </a:r>
            <a:r>
              <a:rPr lang="en-US" altLang="zh-CN" b="1" smtClean="0"/>
              <a:t>pat</a:t>
            </a:r>
            <a:r>
              <a:rPr lang="en-US" altLang="zh-CN" smtClean="0"/>
              <a:t> | </a:t>
            </a:r>
            <a:r>
              <a:rPr lang="en-US" altLang="zh-CN" b="1" smtClean="0"/>
              <a:t>full-cone</a:t>
            </a:r>
            <a:r>
              <a:rPr lang="en-US" altLang="zh-CN" smtClean="0"/>
              <a:t> { </a:t>
            </a:r>
            <a:r>
              <a:rPr lang="en-US" altLang="zh-CN" b="1" smtClean="0"/>
              <a:t>global</a:t>
            </a:r>
            <a:r>
              <a:rPr lang="en-US" altLang="zh-CN" smtClean="0"/>
              <a:t> |</a:t>
            </a:r>
            <a:r>
              <a:rPr lang="en-US" altLang="zh-CN" b="1" smtClean="0"/>
              <a:t> local </a:t>
            </a:r>
            <a:r>
              <a:rPr lang="en-US" altLang="zh-CN" smtClean="0"/>
              <a:t>} [ </a:t>
            </a:r>
            <a:r>
              <a:rPr lang="en-US" altLang="zh-CN" b="1" smtClean="0"/>
              <a:t>no-reverse</a:t>
            </a:r>
            <a:r>
              <a:rPr lang="en-US" altLang="zh-CN" smtClean="0"/>
              <a:t> ] }</a:t>
            </a:r>
          </a:p>
          <a:p>
            <a:pPr lvl="1"/>
            <a:r>
              <a:rPr lang="en-US" altLang="zh-CN" b="1" smtClean="0"/>
              <a:t>pat</a:t>
            </a:r>
            <a:r>
              <a:rPr lang="zh-CN" altLang="en-US" smtClean="0"/>
              <a:t>：表示</a:t>
            </a:r>
            <a:r>
              <a:rPr lang="en-US" altLang="zh-CN" smtClean="0"/>
              <a:t>PAT</a:t>
            </a:r>
            <a:r>
              <a:rPr lang="zh-CN" altLang="en-US" smtClean="0"/>
              <a:t>模式。</a:t>
            </a:r>
            <a:endParaRPr lang="en-US" altLang="zh-CN" smtClean="0"/>
          </a:p>
          <a:p>
            <a:pPr lvl="1"/>
            <a:r>
              <a:rPr lang="en-US" altLang="zh-CN" b="1" smtClean="0"/>
              <a:t>full-cone</a:t>
            </a:r>
            <a:r>
              <a:rPr lang="zh-CN" altLang="en-US" smtClean="0"/>
              <a:t>：表示三元组</a:t>
            </a:r>
            <a:r>
              <a:rPr lang="en-US" altLang="zh-CN" smtClean="0"/>
              <a:t>NAT</a:t>
            </a:r>
            <a:r>
              <a:rPr lang="zh-CN" altLang="en-US" smtClean="0"/>
              <a:t>模式。</a:t>
            </a:r>
            <a:endParaRPr lang="en-US" altLang="zh-CN" smtClean="0"/>
          </a:p>
          <a:p>
            <a:pPr lvl="1"/>
            <a:r>
              <a:rPr lang="en-US" altLang="zh-CN" b="1" smtClean="0"/>
              <a:t>global</a:t>
            </a:r>
            <a:r>
              <a:rPr lang="zh-CN" altLang="en-US" smtClean="0"/>
              <a:t>：表示全局的三元组模式，生成的</a:t>
            </a:r>
            <a:r>
              <a:rPr lang="en-US" altLang="zh-CN" smtClean="0"/>
              <a:t>Server-Map</a:t>
            </a:r>
            <a:r>
              <a:rPr lang="zh-CN" altLang="en-US" smtClean="0"/>
              <a:t>表中不包含安全区域参数，不受域间关系限制。</a:t>
            </a:r>
          </a:p>
          <a:p>
            <a:pPr lvl="1"/>
            <a:r>
              <a:rPr lang="en-US" altLang="zh-CN" b="1" smtClean="0"/>
              <a:t>local</a:t>
            </a:r>
            <a:r>
              <a:rPr lang="zh-CN" altLang="en-US" smtClean="0"/>
              <a:t>：表示本地的三元组模式，生成的</a:t>
            </a:r>
            <a:r>
              <a:rPr lang="en-US" altLang="zh-CN" smtClean="0"/>
              <a:t>Server-Map</a:t>
            </a:r>
            <a:r>
              <a:rPr lang="zh-CN" altLang="en-US" smtClean="0"/>
              <a:t>表中包含安全区域参数，受域间关系限制。</a:t>
            </a:r>
            <a:endParaRPr lang="en-US" altLang="zh-CN" smtClean="0"/>
          </a:p>
          <a:p>
            <a:pPr lvl="1"/>
            <a:r>
              <a:rPr lang="en-US" altLang="zh-CN" b="1" smtClean="0"/>
              <a:t>no-reverse</a:t>
            </a:r>
            <a:r>
              <a:rPr lang="zh-CN" altLang="en-US" smtClean="0"/>
              <a:t>：表示不生成反向</a:t>
            </a:r>
            <a:r>
              <a:rPr lang="en-US" altLang="zh-CN" smtClean="0"/>
              <a:t>Server-Map</a:t>
            </a:r>
            <a:r>
              <a:rPr lang="zh-CN" altLang="en-US" smtClean="0"/>
              <a:t>表。</a:t>
            </a:r>
          </a:p>
          <a:p>
            <a:pPr lvl="1"/>
            <a:endParaRPr lang="en-US" altLang="zh-CN" smtClean="0"/>
          </a:p>
          <a:p>
            <a:pPr lvl="0"/>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555316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939570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621222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IPv6 PC</a:t>
            </a:r>
            <a:r>
              <a:rPr lang="zh-CN" altLang="en-US" dirty="0" smtClean="0"/>
              <a:t>发出的</a:t>
            </a:r>
            <a:r>
              <a:rPr lang="en-US" altLang="zh-CN" dirty="0" smtClean="0"/>
              <a:t>IPv6</a:t>
            </a:r>
            <a:r>
              <a:rPr lang="zh-CN" altLang="en-US" dirty="0" smtClean="0"/>
              <a:t>报文中的目的地址是</a:t>
            </a:r>
            <a:r>
              <a:rPr lang="en-US" altLang="zh-CN" dirty="0" smtClean="0"/>
              <a:t>NAT64</a:t>
            </a:r>
            <a:r>
              <a:rPr lang="zh-CN" altLang="en-US" dirty="0" smtClean="0"/>
              <a:t>地址：</a:t>
            </a:r>
            <a:r>
              <a:rPr lang="en-US" altLang="zh-CN" dirty="0" smtClean="0"/>
              <a:t>2001:DB8:1::101:102/96</a:t>
            </a:r>
            <a:r>
              <a:rPr lang="zh-CN" altLang="en-US" dirty="0" smtClean="0"/>
              <a:t>。</a:t>
            </a:r>
            <a:endParaRPr lang="en-US" altLang="zh-CN" dirty="0" smtClean="0"/>
          </a:p>
          <a:p>
            <a:r>
              <a:rPr lang="zh-CN" altLang="en-US" dirty="0" smtClean="0"/>
              <a:t>其他配置：</a:t>
            </a:r>
            <a:endParaRPr lang="en-US" altLang="zh-CN" dirty="0" smtClean="0"/>
          </a:p>
          <a:p>
            <a:pPr lvl="1"/>
            <a:r>
              <a:rPr lang="zh-CN" altLang="en-US" dirty="0" smtClean="0"/>
              <a:t>配置</a:t>
            </a:r>
            <a:r>
              <a:rPr lang="en-US" altLang="zh-CN" dirty="0" smtClean="0"/>
              <a:t>DNS64</a:t>
            </a:r>
            <a:r>
              <a:rPr lang="zh-CN" altLang="en-US" dirty="0" smtClean="0"/>
              <a:t>设备。</a:t>
            </a:r>
            <a:endParaRPr lang="en-US" altLang="zh-CN" dirty="0" smtClean="0"/>
          </a:p>
          <a:p>
            <a:pPr lvl="2"/>
            <a:r>
              <a:rPr lang="zh-CN" altLang="en-US" dirty="0" smtClean="0"/>
              <a:t>配置</a:t>
            </a:r>
            <a:r>
              <a:rPr lang="en-US" altLang="zh-CN" dirty="0" smtClean="0"/>
              <a:t>DNS64</a:t>
            </a:r>
            <a:r>
              <a:rPr lang="zh-CN" altLang="en-US" dirty="0" smtClean="0"/>
              <a:t>设备的</a:t>
            </a:r>
            <a:r>
              <a:rPr lang="en-US" altLang="zh-CN" dirty="0" smtClean="0"/>
              <a:t>IPv6</a:t>
            </a:r>
            <a:r>
              <a:rPr lang="zh-CN" altLang="en-US" dirty="0" smtClean="0"/>
              <a:t>前缀为</a:t>
            </a:r>
            <a:r>
              <a:rPr lang="en-US" altLang="zh-CN" dirty="0" smtClean="0"/>
              <a:t>FW1</a:t>
            </a:r>
            <a:r>
              <a:rPr lang="zh-CN" altLang="en-US" dirty="0" smtClean="0"/>
              <a:t>的</a:t>
            </a:r>
            <a:r>
              <a:rPr lang="en-US" altLang="zh-CN" dirty="0" smtClean="0"/>
              <a:t>NAT64</a:t>
            </a:r>
            <a:r>
              <a:rPr lang="zh-CN" altLang="en-US" dirty="0" smtClean="0"/>
              <a:t>前缀</a:t>
            </a:r>
            <a:r>
              <a:rPr lang="en-US" altLang="zh-CN" dirty="0" smtClean="0"/>
              <a:t>2001:DB8:1::/96</a:t>
            </a:r>
            <a:r>
              <a:rPr lang="zh-CN" altLang="en-US" dirty="0" smtClean="0"/>
              <a:t>。</a:t>
            </a:r>
          </a:p>
          <a:p>
            <a:pPr lvl="2"/>
            <a:r>
              <a:rPr lang="zh-CN" altLang="en-US" dirty="0" smtClean="0"/>
              <a:t>配置</a:t>
            </a:r>
            <a:r>
              <a:rPr lang="en-US" altLang="zh-CN" dirty="0" smtClean="0"/>
              <a:t>DNS64</a:t>
            </a:r>
            <a:r>
              <a:rPr lang="zh-CN" altLang="en-US" dirty="0" smtClean="0"/>
              <a:t>设备分别与</a:t>
            </a:r>
            <a:r>
              <a:rPr lang="en-US" altLang="zh-CN" dirty="0" smtClean="0"/>
              <a:t>PC</a:t>
            </a:r>
            <a:r>
              <a:rPr lang="zh-CN" altLang="en-US" dirty="0" smtClean="0"/>
              <a:t>和</a:t>
            </a:r>
            <a:r>
              <a:rPr lang="en-US" altLang="zh-CN" dirty="0" smtClean="0"/>
              <a:t>Server</a:t>
            </a:r>
            <a:r>
              <a:rPr lang="zh-CN" altLang="en-US" dirty="0" smtClean="0"/>
              <a:t>路由可达。</a:t>
            </a:r>
            <a:endParaRPr lang="en-US" altLang="zh-CN" dirty="0" smtClean="0"/>
          </a:p>
          <a:p>
            <a:pPr lvl="1"/>
            <a:r>
              <a:rPr lang="zh-CN" altLang="en-US" dirty="0" smtClean="0"/>
              <a:t>配置</a:t>
            </a:r>
            <a:r>
              <a:rPr lang="en-US" altLang="zh-CN" dirty="0" smtClean="0"/>
              <a:t>PC</a:t>
            </a:r>
            <a:r>
              <a:rPr lang="zh-CN" altLang="en-US" dirty="0" smtClean="0"/>
              <a:t>的</a:t>
            </a:r>
            <a:r>
              <a:rPr lang="en-US" altLang="zh-CN" dirty="0" smtClean="0"/>
              <a:t>IPv6</a:t>
            </a:r>
            <a:r>
              <a:rPr lang="zh-CN" altLang="en-US" dirty="0" smtClean="0"/>
              <a:t>地址、路由和</a:t>
            </a:r>
            <a:r>
              <a:rPr lang="en-US" altLang="zh-CN" dirty="0" smtClean="0"/>
              <a:t>DNS server</a:t>
            </a:r>
            <a:r>
              <a:rPr lang="zh-CN" altLang="en-US" dirty="0" smtClean="0"/>
              <a:t>。（</a:t>
            </a:r>
            <a:r>
              <a:rPr lang="en-US" altLang="zh-CN" dirty="0" smtClean="0"/>
              <a:t>IPv6</a:t>
            </a:r>
            <a:r>
              <a:rPr lang="zh-CN" altLang="en-US" dirty="0" smtClean="0"/>
              <a:t>地址和路由的配置方法与</a:t>
            </a:r>
            <a:r>
              <a:rPr lang="en-US" altLang="zh-CN" dirty="0" smtClean="0"/>
              <a:t>PC</a:t>
            </a:r>
            <a:r>
              <a:rPr lang="zh-CN" altLang="en-US" dirty="0" smtClean="0"/>
              <a:t>的操作系统有关，配置方法略。）</a:t>
            </a:r>
          </a:p>
          <a:p>
            <a:pPr lvl="2"/>
            <a:r>
              <a:rPr lang="zh-CN" altLang="en-US" dirty="0" smtClean="0"/>
              <a:t>配置</a:t>
            </a:r>
            <a:r>
              <a:rPr lang="en-US" altLang="zh-CN" dirty="0" smtClean="0"/>
              <a:t>PC</a:t>
            </a:r>
            <a:r>
              <a:rPr lang="zh-CN" altLang="en-US" dirty="0" smtClean="0"/>
              <a:t>的</a:t>
            </a:r>
            <a:r>
              <a:rPr lang="en-US" altLang="zh-CN" dirty="0" smtClean="0"/>
              <a:t>IPv6</a:t>
            </a:r>
            <a:r>
              <a:rPr lang="zh-CN" altLang="en-US" dirty="0" smtClean="0"/>
              <a:t>地址为</a:t>
            </a:r>
            <a:r>
              <a:rPr lang="en-US" altLang="zh-CN" dirty="0" smtClean="0"/>
              <a:t>2001:DB8::1/64</a:t>
            </a:r>
            <a:r>
              <a:rPr lang="zh-CN" altLang="en-US" dirty="0" smtClean="0"/>
              <a:t>，与</a:t>
            </a:r>
            <a:r>
              <a:rPr lang="en-US" altLang="zh-CN" dirty="0" smtClean="0"/>
              <a:t>FW1</a:t>
            </a:r>
            <a:r>
              <a:rPr lang="zh-CN" altLang="en-US" dirty="0" smtClean="0"/>
              <a:t>的接口</a:t>
            </a:r>
            <a:r>
              <a:rPr lang="en-US" altLang="zh-CN" dirty="0" smtClean="0"/>
              <a:t>GE1/0/1</a:t>
            </a:r>
            <a:r>
              <a:rPr lang="zh-CN" altLang="en-US" dirty="0" smtClean="0"/>
              <a:t>同一网段。</a:t>
            </a:r>
          </a:p>
          <a:p>
            <a:pPr lvl="2"/>
            <a:r>
              <a:rPr lang="zh-CN" altLang="en-US" dirty="0" smtClean="0"/>
              <a:t>配置</a:t>
            </a:r>
            <a:r>
              <a:rPr lang="en-US" altLang="zh-CN" dirty="0" smtClean="0"/>
              <a:t>PC</a:t>
            </a:r>
            <a:r>
              <a:rPr lang="zh-CN" altLang="en-US" dirty="0" smtClean="0"/>
              <a:t>去往</a:t>
            </a:r>
            <a:r>
              <a:rPr lang="en-US" altLang="zh-CN" dirty="0" smtClean="0"/>
              <a:t>2001:DB8:1::/96</a:t>
            </a:r>
            <a:r>
              <a:rPr lang="zh-CN" altLang="en-US" dirty="0" smtClean="0"/>
              <a:t>网段的路由下一跳为</a:t>
            </a:r>
            <a:r>
              <a:rPr lang="en-US" altLang="zh-CN" dirty="0" smtClean="0"/>
              <a:t>2001:DB8::2</a:t>
            </a:r>
            <a:r>
              <a:rPr lang="zh-CN" altLang="en-US" dirty="0" smtClean="0"/>
              <a:t>。</a:t>
            </a:r>
          </a:p>
          <a:p>
            <a:pPr lvl="2"/>
            <a:r>
              <a:rPr lang="zh-CN" altLang="en-US" dirty="0" smtClean="0"/>
              <a:t>配置</a:t>
            </a:r>
            <a:r>
              <a:rPr lang="en-US" altLang="zh-CN" dirty="0" smtClean="0"/>
              <a:t>PC</a:t>
            </a:r>
            <a:r>
              <a:rPr lang="zh-CN" altLang="en-US" dirty="0" smtClean="0"/>
              <a:t>的</a:t>
            </a:r>
            <a:r>
              <a:rPr lang="en-US" altLang="zh-CN" dirty="0" smtClean="0"/>
              <a:t>DNS server</a:t>
            </a:r>
            <a:r>
              <a:rPr lang="zh-CN" altLang="en-US" dirty="0" smtClean="0"/>
              <a:t>地址为</a:t>
            </a:r>
            <a:r>
              <a:rPr lang="en-US" altLang="zh-CN" dirty="0" smtClean="0"/>
              <a:t>DNS64</a:t>
            </a:r>
            <a:r>
              <a:rPr lang="zh-CN" altLang="en-US" dirty="0" smtClean="0"/>
              <a:t>设备的</a:t>
            </a:r>
            <a:r>
              <a:rPr lang="en-US" altLang="zh-CN" dirty="0" smtClean="0"/>
              <a:t>IPv6</a:t>
            </a:r>
            <a:r>
              <a:rPr lang="zh-CN" altLang="en-US" dirty="0" smtClean="0"/>
              <a:t>地址。</a:t>
            </a:r>
          </a:p>
          <a:p>
            <a:pPr lvl="1"/>
            <a:r>
              <a:rPr lang="zh-CN" altLang="en-US" dirty="0" smtClean="0"/>
              <a:t>配置</a:t>
            </a:r>
            <a:r>
              <a:rPr lang="en-US" altLang="zh-CN" dirty="0" smtClean="0"/>
              <a:t>Server</a:t>
            </a:r>
            <a:r>
              <a:rPr lang="zh-CN" altLang="en-US" dirty="0" smtClean="0"/>
              <a:t>的</a:t>
            </a:r>
            <a:r>
              <a:rPr lang="en-US" altLang="zh-CN" dirty="0" smtClean="0"/>
              <a:t>IPv4</a:t>
            </a:r>
            <a:r>
              <a:rPr lang="zh-CN" altLang="en-US" dirty="0" smtClean="0"/>
              <a:t>地址。（</a:t>
            </a:r>
            <a:r>
              <a:rPr lang="en-US" altLang="zh-CN" dirty="0" smtClean="0"/>
              <a:t>IPv4</a:t>
            </a:r>
            <a:r>
              <a:rPr lang="zh-CN" altLang="en-US" dirty="0" smtClean="0"/>
              <a:t>地址的配置方法与</a:t>
            </a:r>
            <a:r>
              <a:rPr lang="en-US" altLang="zh-CN" dirty="0" smtClean="0"/>
              <a:t>Server</a:t>
            </a:r>
            <a:r>
              <a:rPr lang="zh-CN" altLang="en-US" dirty="0" smtClean="0"/>
              <a:t>的操作系统有关，配置方法略。）</a:t>
            </a:r>
          </a:p>
          <a:p>
            <a:pPr lvl="2"/>
            <a:r>
              <a:rPr lang="zh-CN" altLang="en-US" dirty="0" smtClean="0"/>
              <a:t>配置</a:t>
            </a:r>
            <a:r>
              <a:rPr lang="en-US" altLang="zh-CN" dirty="0" smtClean="0"/>
              <a:t>Server</a:t>
            </a:r>
            <a:r>
              <a:rPr lang="zh-CN" altLang="en-US" dirty="0" smtClean="0"/>
              <a:t>的</a:t>
            </a:r>
            <a:r>
              <a:rPr lang="en-US" altLang="zh-CN" dirty="0" smtClean="0"/>
              <a:t>IPv4</a:t>
            </a:r>
            <a:r>
              <a:rPr lang="zh-CN" altLang="en-US" dirty="0" smtClean="0"/>
              <a:t>地址为</a:t>
            </a:r>
            <a:r>
              <a:rPr lang="en-US" altLang="zh-CN" dirty="0" smtClean="0"/>
              <a:t>1.1.1.2/24</a:t>
            </a:r>
            <a:r>
              <a:rPr lang="zh-CN" altLang="en-US" dirty="0" smtClean="0"/>
              <a:t>，与</a:t>
            </a:r>
            <a:r>
              <a:rPr lang="en-US" altLang="zh-CN" dirty="0" smtClean="0"/>
              <a:t>FW1</a:t>
            </a:r>
            <a:r>
              <a:rPr lang="zh-CN" altLang="en-US" dirty="0" smtClean="0"/>
              <a:t>的接口</a:t>
            </a:r>
            <a:r>
              <a:rPr lang="en-US" altLang="zh-CN" dirty="0" smtClean="0"/>
              <a:t>GE1/0/2</a:t>
            </a:r>
            <a:r>
              <a:rPr lang="zh-CN" altLang="en-US" dirty="0" smtClean="0"/>
              <a:t>同一网段。</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761754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IVI</a:t>
            </a:r>
            <a:r>
              <a:rPr lang="zh-CN" altLang="en-US" dirty="0" smtClean="0"/>
              <a:t>支持</a:t>
            </a:r>
            <a:r>
              <a:rPr lang="en-US" altLang="zh-CN" dirty="0" smtClean="0"/>
              <a:t>IPv6</a:t>
            </a:r>
            <a:r>
              <a:rPr lang="zh-CN" altLang="en-US" dirty="0" smtClean="0"/>
              <a:t>主机发起的通信，也支持从</a:t>
            </a:r>
            <a:r>
              <a:rPr lang="en-US" altLang="zh-CN" dirty="0" smtClean="0"/>
              <a:t>IPv4</a:t>
            </a:r>
            <a:r>
              <a:rPr lang="zh-CN" altLang="en-US" dirty="0" smtClean="0"/>
              <a:t>主机发起的通信。</a:t>
            </a:r>
            <a:endParaRPr lang="en-US" altLang="zh-CN" dirty="0" smtClean="0"/>
          </a:p>
          <a:p>
            <a:r>
              <a:rPr lang="zh-CN" altLang="en-US" dirty="0" smtClean="0"/>
              <a:t>以</a:t>
            </a:r>
            <a:r>
              <a:rPr lang="en-US" altLang="zh-CN" dirty="0" smtClean="0"/>
              <a:t>IVI6</a:t>
            </a:r>
            <a:r>
              <a:rPr lang="zh-CN" altLang="en-US" dirty="0" smtClean="0"/>
              <a:t>主机访问全球</a:t>
            </a:r>
            <a:r>
              <a:rPr lang="en-US" altLang="zh-CN" dirty="0" smtClean="0"/>
              <a:t>IPv4</a:t>
            </a:r>
            <a:r>
              <a:rPr lang="zh-CN" altLang="en-US" dirty="0" smtClean="0"/>
              <a:t>主机为例：</a:t>
            </a:r>
            <a:endParaRPr lang="en-US" altLang="zh-CN" dirty="0" smtClean="0"/>
          </a:p>
          <a:p>
            <a:pPr marL="588600" lvl="1" indent="-228600">
              <a:buFont typeface="+mj-lt"/>
              <a:buAutoNum type="arabicPeriod"/>
            </a:pPr>
            <a:r>
              <a:rPr lang="zh-CN" altLang="en-US" dirty="0" smtClean="0"/>
              <a:t>由于</a:t>
            </a:r>
            <a:r>
              <a:rPr lang="en-US" altLang="zh-CN" dirty="0" smtClean="0"/>
              <a:t>IVI6</a:t>
            </a:r>
            <a:r>
              <a:rPr lang="zh-CN" altLang="en-US" dirty="0" smtClean="0"/>
              <a:t>地址格式特殊，无法使用无状态</a:t>
            </a:r>
            <a:r>
              <a:rPr lang="en-US" altLang="zh-CN" dirty="0" smtClean="0"/>
              <a:t>IPv6</a:t>
            </a:r>
            <a:r>
              <a:rPr lang="zh-CN" altLang="en-US" dirty="0" smtClean="0"/>
              <a:t>地址自动配置机制，因此</a:t>
            </a:r>
            <a:r>
              <a:rPr lang="en-US" altLang="zh-CN" dirty="0" smtClean="0"/>
              <a:t>IPv6</a:t>
            </a:r>
            <a:r>
              <a:rPr lang="zh-CN" altLang="en-US" dirty="0" smtClean="0"/>
              <a:t>主机通过静态配置或</a:t>
            </a:r>
            <a:r>
              <a:rPr lang="en-US" altLang="zh-CN" dirty="0" smtClean="0"/>
              <a:t>DHCPv6</a:t>
            </a:r>
            <a:r>
              <a:rPr lang="zh-CN" altLang="en-US" dirty="0" smtClean="0"/>
              <a:t>选项得到</a:t>
            </a:r>
            <a:r>
              <a:rPr lang="en-US" altLang="zh-CN" dirty="0" smtClean="0"/>
              <a:t>IVI6</a:t>
            </a:r>
            <a:r>
              <a:rPr lang="zh-CN" altLang="en-US" dirty="0" smtClean="0"/>
              <a:t>地址、默认网关及</a:t>
            </a:r>
            <a:r>
              <a:rPr lang="en-US" altLang="zh-CN" dirty="0" smtClean="0"/>
              <a:t>DNS</a:t>
            </a:r>
            <a:r>
              <a:rPr lang="zh-CN" altLang="en-US" dirty="0" smtClean="0"/>
              <a:t>服务器地址信息。</a:t>
            </a:r>
            <a:endParaRPr lang="en-US" altLang="zh-CN" dirty="0" smtClean="0"/>
          </a:p>
          <a:p>
            <a:pPr marL="588600" lvl="1" indent="-228600">
              <a:buFont typeface="+mj-lt"/>
              <a:buAutoNum type="arabicPeriod"/>
            </a:pPr>
            <a:r>
              <a:rPr lang="en-US" altLang="zh-CN" dirty="0" smtClean="0"/>
              <a:t>IVI6</a:t>
            </a:r>
            <a:r>
              <a:rPr lang="zh-CN" altLang="en-US" dirty="0" smtClean="0"/>
              <a:t>主机向</a:t>
            </a:r>
            <a:r>
              <a:rPr lang="en-US" altLang="zh-CN" dirty="0" smtClean="0"/>
              <a:t>IVI DNS</a:t>
            </a:r>
            <a:r>
              <a:rPr lang="zh-CN" altLang="en-US" dirty="0" smtClean="0"/>
              <a:t>进行</a:t>
            </a:r>
            <a:r>
              <a:rPr lang="en-US" altLang="zh-CN" dirty="0" smtClean="0"/>
              <a:t>AAAA</a:t>
            </a:r>
            <a:r>
              <a:rPr lang="zh-CN" altLang="en-US" dirty="0" smtClean="0"/>
              <a:t>查询。</a:t>
            </a:r>
            <a:r>
              <a:rPr lang="en-US" altLang="zh-CN" dirty="0" smtClean="0"/>
              <a:t>IVI DNS</a:t>
            </a:r>
            <a:r>
              <a:rPr lang="zh-CN" altLang="en-US" dirty="0" smtClean="0"/>
              <a:t>是双栈设备，它存放了</a:t>
            </a:r>
            <a:r>
              <a:rPr lang="en-US" altLang="zh-CN" dirty="0" smtClean="0"/>
              <a:t>IVI</a:t>
            </a:r>
            <a:r>
              <a:rPr lang="zh-CN" altLang="en-US" dirty="0" smtClean="0"/>
              <a:t>服务的</a:t>
            </a:r>
            <a:r>
              <a:rPr lang="en-US" altLang="zh-CN" dirty="0" smtClean="0"/>
              <a:t>IVI4</a:t>
            </a:r>
            <a:r>
              <a:rPr lang="zh-CN" altLang="en-US" dirty="0" smtClean="0"/>
              <a:t>地址和对应的</a:t>
            </a:r>
            <a:r>
              <a:rPr lang="en-US" altLang="zh-CN" dirty="0" smtClean="0"/>
              <a:t>IVI6</a:t>
            </a:r>
            <a:r>
              <a:rPr lang="zh-CN" altLang="en-US" dirty="0" smtClean="0"/>
              <a:t>地址。当它收到</a:t>
            </a:r>
            <a:r>
              <a:rPr lang="en-US" altLang="zh-CN" dirty="0" smtClean="0"/>
              <a:t>AAAA</a:t>
            </a:r>
            <a:r>
              <a:rPr lang="zh-CN" altLang="en-US" dirty="0" smtClean="0"/>
              <a:t>查询请求后，先向目标网络发送</a:t>
            </a:r>
            <a:r>
              <a:rPr lang="en-US" altLang="zh-CN" dirty="0" smtClean="0"/>
              <a:t>AAAA</a:t>
            </a:r>
            <a:r>
              <a:rPr lang="zh-CN" altLang="en-US" dirty="0" smtClean="0"/>
              <a:t>查询请求，如果</a:t>
            </a:r>
            <a:r>
              <a:rPr lang="en-US" altLang="zh-CN" dirty="0" smtClean="0"/>
              <a:t>AAAA</a:t>
            </a:r>
            <a:r>
              <a:rPr lang="zh-CN" altLang="en-US" dirty="0" smtClean="0"/>
              <a:t>记录不存在，再发送</a:t>
            </a:r>
            <a:r>
              <a:rPr lang="en-US" altLang="zh-CN" dirty="0" smtClean="0"/>
              <a:t>A</a:t>
            </a:r>
            <a:r>
              <a:rPr lang="zh-CN" altLang="en-US" dirty="0" smtClean="0"/>
              <a:t>查询请求，并将得到的</a:t>
            </a:r>
            <a:r>
              <a:rPr lang="en-US" altLang="zh-CN" dirty="0" smtClean="0"/>
              <a:t>A</a:t>
            </a:r>
            <a:r>
              <a:rPr lang="zh-CN" altLang="en-US" dirty="0" smtClean="0"/>
              <a:t>记录按照</a:t>
            </a:r>
            <a:r>
              <a:rPr lang="en-US" altLang="zh-CN" dirty="0" smtClean="0"/>
              <a:t>IVI</a:t>
            </a:r>
            <a:r>
              <a:rPr lang="zh-CN" altLang="en-US" dirty="0" smtClean="0"/>
              <a:t>映射的规则将其转换为</a:t>
            </a:r>
            <a:r>
              <a:rPr lang="en-US" altLang="zh-CN" dirty="0" smtClean="0"/>
              <a:t>AAAA</a:t>
            </a:r>
            <a:r>
              <a:rPr lang="zh-CN" altLang="en-US" dirty="0" smtClean="0"/>
              <a:t>记录，将其返回给源</a:t>
            </a:r>
            <a:r>
              <a:rPr lang="en-US" altLang="zh-CN" dirty="0" smtClean="0"/>
              <a:t>IVI6</a:t>
            </a:r>
            <a:r>
              <a:rPr lang="zh-CN" altLang="en-US" dirty="0" smtClean="0"/>
              <a:t>主机。</a:t>
            </a:r>
            <a:endParaRPr lang="en-US" altLang="zh-CN" dirty="0" smtClean="0"/>
          </a:p>
          <a:p>
            <a:pPr marL="588600" lvl="1" indent="-228600">
              <a:buFont typeface="+mj-lt"/>
              <a:buAutoNum type="arabicPeriod"/>
            </a:pPr>
            <a:r>
              <a:rPr lang="en-US" altLang="zh-CN" dirty="0" smtClean="0"/>
              <a:t>IVI6</a:t>
            </a:r>
            <a:r>
              <a:rPr lang="zh-CN" altLang="en-US" dirty="0" smtClean="0"/>
              <a:t>主机发送数据包，当到达</a:t>
            </a:r>
            <a:r>
              <a:rPr lang="en-US" altLang="zh-CN" dirty="0" smtClean="0"/>
              <a:t>IVI</a:t>
            </a:r>
            <a:r>
              <a:rPr lang="zh-CN" altLang="en-US" dirty="0" smtClean="0"/>
              <a:t>网关后，数据包被</a:t>
            </a:r>
            <a:r>
              <a:rPr lang="en-US" altLang="zh-CN" dirty="0" smtClean="0"/>
              <a:t>IVI</a:t>
            </a:r>
            <a:r>
              <a:rPr lang="zh-CN" altLang="en-US" dirty="0" smtClean="0"/>
              <a:t>翻译器无状态地转换为</a:t>
            </a:r>
            <a:r>
              <a:rPr lang="en-US" altLang="zh-CN" dirty="0" smtClean="0"/>
              <a:t>IPv4</a:t>
            </a:r>
            <a:r>
              <a:rPr lang="zh-CN" altLang="en-US" dirty="0" smtClean="0"/>
              <a:t>数据包。其中地址翻译是根据</a:t>
            </a:r>
            <a:r>
              <a:rPr lang="en-US" altLang="zh-CN" dirty="0" smtClean="0"/>
              <a:t>IVI6</a:t>
            </a:r>
            <a:r>
              <a:rPr lang="zh-CN" altLang="en-US" dirty="0" smtClean="0"/>
              <a:t>地址格式取出嵌入其中的</a:t>
            </a:r>
            <a:r>
              <a:rPr lang="en-US" altLang="zh-CN" dirty="0" smtClean="0"/>
              <a:t>IPv4</a:t>
            </a:r>
            <a:r>
              <a:rPr lang="zh-CN" altLang="en-US" dirty="0" smtClean="0"/>
              <a:t>地址，包头的翻译是根据</a:t>
            </a:r>
            <a:r>
              <a:rPr lang="en-US" altLang="zh-CN" dirty="0" smtClean="0"/>
              <a:t>SIIT</a:t>
            </a:r>
            <a:r>
              <a:rPr lang="zh-CN" altLang="en-US" dirty="0" smtClean="0"/>
              <a:t>（ </a:t>
            </a:r>
            <a:r>
              <a:rPr lang="en-US" altLang="zh-CN" dirty="0" smtClean="0"/>
              <a:t>Stateless IP/ICMP Translation</a:t>
            </a:r>
            <a:r>
              <a:rPr lang="zh-CN" altLang="en-US" dirty="0" smtClean="0"/>
              <a:t>，无状态</a:t>
            </a:r>
            <a:r>
              <a:rPr lang="en-US" altLang="zh-CN" dirty="0" smtClean="0"/>
              <a:t>IP/ICMP</a:t>
            </a:r>
            <a:r>
              <a:rPr lang="zh-CN" altLang="en-US" dirty="0" smtClean="0"/>
              <a:t>转换）算法。</a:t>
            </a:r>
            <a:endParaRPr lang="en-US" altLang="zh-CN" dirty="0" smtClean="0"/>
          </a:p>
          <a:p>
            <a:pPr marL="588600" lvl="1" indent="-228600">
              <a:buFont typeface="+mj-lt"/>
              <a:buAutoNum type="arabicPeriod"/>
            </a:pPr>
            <a:r>
              <a:rPr lang="zh-CN" altLang="en-US" dirty="0" smtClean="0"/>
              <a:t>翻译后的</a:t>
            </a:r>
            <a:r>
              <a:rPr lang="en-US" altLang="zh-CN" dirty="0" smtClean="0"/>
              <a:t>IPv4</a:t>
            </a:r>
            <a:r>
              <a:rPr lang="zh-CN" altLang="en-US" dirty="0" smtClean="0"/>
              <a:t>数据包被路由到</a:t>
            </a:r>
            <a:r>
              <a:rPr lang="en-US" altLang="zh-CN" dirty="0" smtClean="0"/>
              <a:t>IPv4</a:t>
            </a:r>
            <a:r>
              <a:rPr lang="zh-CN" altLang="en-US" dirty="0" smtClean="0"/>
              <a:t>网络中，最终实现</a:t>
            </a:r>
            <a:r>
              <a:rPr lang="en-US" altLang="zh-CN" dirty="0" smtClean="0"/>
              <a:t>IVI6</a:t>
            </a:r>
            <a:r>
              <a:rPr lang="zh-CN" altLang="en-US" dirty="0" smtClean="0"/>
              <a:t>主机对</a:t>
            </a:r>
            <a:r>
              <a:rPr lang="en-US" altLang="zh-CN" dirty="0" smtClean="0"/>
              <a:t>IPv4</a:t>
            </a:r>
            <a:r>
              <a:rPr lang="zh-CN" altLang="en-US" dirty="0" smtClean="0"/>
              <a:t>主机的访问。</a:t>
            </a:r>
            <a:endParaRPr lang="en-US" altLang="zh-CN" dirty="0" smtClean="0"/>
          </a:p>
          <a:p>
            <a:pPr lvl="0"/>
            <a:r>
              <a:rPr lang="en-US" altLang="zh-CN" dirty="0" smtClean="0"/>
              <a:t>IVI</a:t>
            </a:r>
            <a:r>
              <a:rPr lang="zh-CN" altLang="en-US" dirty="0" smtClean="0"/>
              <a:t>技术限制：要求主机</a:t>
            </a:r>
            <a:r>
              <a:rPr lang="en-US" altLang="zh-CN" dirty="0" smtClean="0"/>
              <a:t>/</a:t>
            </a:r>
            <a:r>
              <a:rPr lang="zh-CN" altLang="en-US" dirty="0" smtClean="0"/>
              <a:t>服务器的</a:t>
            </a:r>
            <a:r>
              <a:rPr lang="en-US" altLang="zh-CN" dirty="0" smtClean="0"/>
              <a:t>IPv6</a:t>
            </a:r>
            <a:r>
              <a:rPr lang="zh-CN" altLang="en-US" dirty="0" smtClean="0"/>
              <a:t>地址需按照</a:t>
            </a:r>
            <a:r>
              <a:rPr lang="en-US" altLang="zh-CN" dirty="0" smtClean="0"/>
              <a:t>IVI</a:t>
            </a:r>
            <a:r>
              <a:rPr lang="zh-CN" altLang="en-US" dirty="0" smtClean="0"/>
              <a:t>的格式进行规划和配置，无法使用无状态地址分配技术。</a:t>
            </a:r>
          </a:p>
          <a:p>
            <a:pPr lvl="0"/>
            <a:endParaRPr lang="en-US" altLang="zh-CN" dirty="0" smtClean="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801723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smtClean="0"/>
              <a:t>ABD</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665741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785018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706979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xmlns=""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xmlns=""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084624">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067692">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xmlns=""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xmlns=""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xmlns=""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xmlns=""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xmlns=""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xmlns=""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文本占位符 27"/>
          <p:cNvSpPr>
            <a:spLocks noGrp="1"/>
          </p:cNvSpPr>
          <p:nvPr>
            <p:ph type="body" sz="quarter" idx="17"/>
          </p:nvPr>
        </p:nvSpPr>
        <p:spPr/>
        <p:txBody>
          <a:bodyPr/>
          <a:lstStyle/>
          <a:p>
            <a:endParaRPr lang="zh-CN" altLang="en-US"/>
          </a:p>
        </p:txBody>
      </p:sp>
      <p:sp>
        <p:nvSpPr>
          <p:cNvPr id="51" name="文本占位符 50"/>
          <p:cNvSpPr>
            <a:spLocks noGrp="1"/>
          </p:cNvSpPr>
          <p:nvPr>
            <p:ph type="body" sz="quarter" idx="18"/>
          </p:nvPr>
        </p:nvSpPr>
        <p:spPr/>
        <p:txBody>
          <a:bodyPr/>
          <a:lstStyle/>
          <a:p>
            <a:r>
              <a:rPr lang="en-US" altLang="zh-CN" smtClean="0"/>
              <a:t>Datacom</a:t>
            </a:r>
            <a:endParaRPr lang="zh-CN" altLang="en-US" dirty="0"/>
          </a:p>
        </p:txBody>
      </p:sp>
      <p:sp>
        <p:nvSpPr>
          <p:cNvPr id="29" name="文本占位符 28"/>
          <p:cNvSpPr>
            <a:spLocks noGrp="1"/>
          </p:cNvSpPr>
          <p:nvPr>
            <p:ph type="body" sz="quarter" idx="19"/>
          </p:nvPr>
        </p:nvSpPr>
        <p:spPr/>
        <p:txBody>
          <a:bodyPr/>
          <a:lstStyle/>
          <a:p>
            <a:r>
              <a:rPr lang="zh-CN" altLang="en-US" dirty="0" smtClean="0"/>
              <a:t>通用</a:t>
            </a:r>
            <a:endParaRPr lang="zh-CN" altLang="en-US" dirty="0"/>
          </a:p>
        </p:txBody>
      </p:sp>
      <p:sp>
        <p:nvSpPr>
          <p:cNvPr id="53" name="文本占位符 52"/>
          <p:cNvSpPr>
            <a:spLocks noGrp="1"/>
          </p:cNvSpPr>
          <p:nvPr>
            <p:ph type="body" sz="quarter" idx="20"/>
          </p:nvPr>
        </p:nvSpPr>
        <p:spPr/>
        <p:txBody>
          <a:bodyPr/>
          <a:lstStyle/>
          <a:p>
            <a:r>
              <a:rPr lang="en-US" altLang="zh-CN" smtClean="0"/>
              <a:t>V1.0</a:t>
            </a:r>
            <a:endParaRPr lang="zh-CN" altLang="en-US" dirty="0"/>
          </a:p>
        </p:txBody>
      </p:sp>
      <p:sp>
        <p:nvSpPr>
          <p:cNvPr id="46" name="文本占位符 45"/>
          <p:cNvSpPr>
            <a:spLocks noGrp="1"/>
          </p:cNvSpPr>
          <p:nvPr>
            <p:ph type="body" sz="quarter" idx="13"/>
          </p:nvPr>
        </p:nvSpPr>
        <p:spPr/>
        <p:txBody>
          <a:bodyPr/>
          <a:lstStyle/>
          <a:p>
            <a:r>
              <a:rPr lang="zh-CN" altLang="en-US" dirty="0" smtClean="0"/>
              <a:t>卢玥玥</a:t>
            </a:r>
            <a:r>
              <a:rPr lang="en-US" altLang="zh-CN" dirty="0" smtClean="0"/>
              <a:t>/WX445705</a:t>
            </a:r>
            <a:endParaRPr lang="zh-CN" altLang="en-US" dirty="0"/>
          </a:p>
        </p:txBody>
      </p:sp>
      <p:sp>
        <p:nvSpPr>
          <p:cNvPr id="47" name="文本占位符 46"/>
          <p:cNvSpPr>
            <a:spLocks noGrp="1"/>
          </p:cNvSpPr>
          <p:nvPr>
            <p:ph type="body" sz="quarter" idx="14"/>
          </p:nvPr>
        </p:nvSpPr>
        <p:spPr/>
        <p:txBody>
          <a:bodyPr/>
          <a:lstStyle/>
          <a:p>
            <a:r>
              <a:rPr lang="en-US" altLang="zh-CN" dirty="0" smtClean="0"/>
              <a:t>2021.08.15</a:t>
            </a:r>
            <a:endParaRPr lang="zh-CN" altLang="en-US" dirty="0"/>
          </a:p>
        </p:txBody>
      </p:sp>
      <p:sp>
        <p:nvSpPr>
          <p:cNvPr id="48" name="文本占位符 47"/>
          <p:cNvSpPr>
            <a:spLocks noGrp="1"/>
          </p:cNvSpPr>
          <p:nvPr>
            <p:ph type="body" sz="quarter" idx="15"/>
          </p:nvPr>
        </p:nvSpPr>
        <p:spPr/>
        <p:txBody>
          <a:bodyPr/>
          <a:lstStyle/>
          <a:p>
            <a:r>
              <a:rPr lang="zh-CN" altLang="en-US" dirty="0" smtClean="0"/>
              <a:t>王璇</a:t>
            </a:r>
            <a:r>
              <a:rPr lang="en-US" altLang="zh-CN" dirty="0" smtClean="0"/>
              <a:t>/00618840 &amp; </a:t>
            </a:r>
            <a:r>
              <a:rPr lang="zh-CN" altLang="en-US" dirty="0" smtClean="0"/>
              <a:t>朱仕耿</a:t>
            </a:r>
            <a:r>
              <a:rPr lang="en-US" altLang="zh-CN" dirty="0" smtClean="0"/>
              <a:t>/00261992</a:t>
            </a:r>
            <a:endParaRPr lang="zh-CN" altLang="en-US" dirty="0"/>
          </a:p>
        </p:txBody>
      </p:sp>
      <p:sp>
        <p:nvSpPr>
          <p:cNvPr id="49" name="文本占位符 48"/>
          <p:cNvSpPr>
            <a:spLocks noGrp="1"/>
          </p:cNvSpPr>
          <p:nvPr>
            <p:ph type="body" sz="quarter" idx="16"/>
          </p:nvPr>
        </p:nvSpPr>
        <p:spPr/>
        <p:txBody>
          <a:bodyPr/>
          <a:lstStyle/>
          <a:p>
            <a:r>
              <a:rPr lang="zh-CN" altLang="en-US" smtClean="0"/>
              <a:t>新开发</a:t>
            </a:r>
            <a:endParaRPr lang="zh-CN" altLang="en-US" dirty="0"/>
          </a:p>
        </p:txBody>
      </p:sp>
      <p:sp>
        <p:nvSpPr>
          <p:cNvPr id="30" name="文本占位符 29"/>
          <p:cNvSpPr>
            <a:spLocks noGrp="1"/>
          </p:cNvSpPr>
          <p:nvPr>
            <p:ph type="body" sz="quarter" idx="21"/>
          </p:nvPr>
        </p:nvSpPr>
        <p:spPr/>
        <p:txBody>
          <a:bodyPr/>
          <a:lstStyle/>
          <a:p>
            <a:endParaRPr lang="zh-CN" altLang="en-US"/>
          </a:p>
        </p:txBody>
      </p:sp>
      <p:sp>
        <p:nvSpPr>
          <p:cNvPr id="31" name="文本占位符 30"/>
          <p:cNvSpPr>
            <a:spLocks noGrp="1"/>
          </p:cNvSpPr>
          <p:nvPr>
            <p:ph type="body" sz="quarter" idx="22"/>
          </p:nvPr>
        </p:nvSpPr>
        <p:spPr/>
        <p:txBody>
          <a:bodyPr/>
          <a:lstStyle/>
          <a:p>
            <a:endParaRPr lang="zh-CN" altLang="en-US"/>
          </a:p>
        </p:txBody>
      </p:sp>
      <p:sp>
        <p:nvSpPr>
          <p:cNvPr id="32" name="文本占位符 31"/>
          <p:cNvSpPr>
            <a:spLocks noGrp="1"/>
          </p:cNvSpPr>
          <p:nvPr>
            <p:ph type="body" sz="quarter" idx="23"/>
          </p:nvPr>
        </p:nvSpPr>
        <p:spPr/>
        <p:txBody>
          <a:bodyPr/>
          <a:lstStyle/>
          <a:p>
            <a:endParaRPr lang="zh-CN" altLang="en-US"/>
          </a:p>
        </p:txBody>
      </p:sp>
      <p:sp>
        <p:nvSpPr>
          <p:cNvPr id="33" name="文本占位符 32"/>
          <p:cNvSpPr>
            <a:spLocks noGrp="1"/>
          </p:cNvSpPr>
          <p:nvPr>
            <p:ph type="body" sz="quarter" idx="24"/>
          </p:nvPr>
        </p:nvSpPr>
        <p:spPr/>
        <p:txBody>
          <a:bodyPr/>
          <a:lstStyle/>
          <a:p>
            <a:endParaRPr lang="zh-CN" altLang="en-US"/>
          </a:p>
        </p:txBody>
      </p:sp>
      <p:sp>
        <p:nvSpPr>
          <p:cNvPr id="34" name="文本占位符 33"/>
          <p:cNvSpPr>
            <a:spLocks noGrp="1"/>
          </p:cNvSpPr>
          <p:nvPr>
            <p:ph type="body" sz="quarter" idx="25"/>
          </p:nvPr>
        </p:nvSpPr>
        <p:spPr/>
        <p:txBody>
          <a:bodyPr/>
          <a:lstStyle/>
          <a:p>
            <a:endParaRPr lang="zh-CN" altLang="en-US"/>
          </a:p>
        </p:txBody>
      </p:sp>
      <p:sp>
        <p:nvSpPr>
          <p:cNvPr id="35" name="文本占位符 34"/>
          <p:cNvSpPr>
            <a:spLocks noGrp="1"/>
          </p:cNvSpPr>
          <p:nvPr>
            <p:ph type="body" sz="quarter" idx="26"/>
          </p:nvPr>
        </p:nvSpPr>
        <p:spPr/>
        <p:txBody>
          <a:bodyPr/>
          <a:lstStyle/>
          <a:p>
            <a:endParaRPr lang="zh-CN" altLang="en-US"/>
          </a:p>
        </p:txBody>
      </p:sp>
      <p:sp>
        <p:nvSpPr>
          <p:cNvPr id="36" name="文本占位符 35"/>
          <p:cNvSpPr>
            <a:spLocks noGrp="1"/>
          </p:cNvSpPr>
          <p:nvPr>
            <p:ph type="body" sz="quarter" idx="27"/>
          </p:nvPr>
        </p:nvSpPr>
        <p:spPr/>
        <p:txBody>
          <a:bodyPr/>
          <a:lstStyle/>
          <a:p>
            <a:endParaRPr lang="zh-CN" altLang="en-US"/>
          </a:p>
        </p:txBody>
      </p:sp>
      <p:sp>
        <p:nvSpPr>
          <p:cNvPr id="37" name="文本占位符 36"/>
          <p:cNvSpPr>
            <a:spLocks noGrp="1"/>
          </p:cNvSpPr>
          <p:nvPr>
            <p:ph type="body" sz="quarter" idx="28"/>
          </p:nvPr>
        </p:nvSpPr>
        <p:spPr/>
        <p:txBody>
          <a:bodyPr/>
          <a:lstStyle/>
          <a:p>
            <a:endParaRPr lang="zh-CN" altLang="en-US"/>
          </a:p>
        </p:txBody>
      </p:sp>
      <p:sp>
        <p:nvSpPr>
          <p:cNvPr id="38" name="文本占位符 37"/>
          <p:cNvSpPr>
            <a:spLocks noGrp="1"/>
          </p:cNvSpPr>
          <p:nvPr>
            <p:ph type="body" sz="quarter" idx="29"/>
          </p:nvPr>
        </p:nvSpPr>
        <p:spPr/>
        <p:txBody>
          <a:bodyPr/>
          <a:lstStyle/>
          <a:p>
            <a:endParaRPr lang="zh-CN" altLang="en-US"/>
          </a:p>
        </p:txBody>
      </p:sp>
      <p:sp>
        <p:nvSpPr>
          <p:cNvPr id="39" name="文本占位符 38"/>
          <p:cNvSpPr>
            <a:spLocks noGrp="1"/>
          </p:cNvSpPr>
          <p:nvPr>
            <p:ph type="body" sz="quarter" idx="30"/>
          </p:nvPr>
        </p:nvSpPr>
        <p:spPr/>
        <p:txBody>
          <a:bodyPr/>
          <a:lstStyle/>
          <a:p>
            <a:endParaRPr lang="zh-CN" altLang="en-US"/>
          </a:p>
        </p:txBody>
      </p:sp>
      <p:sp>
        <p:nvSpPr>
          <p:cNvPr id="40" name="文本占位符 39"/>
          <p:cNvSpPr>
            <a:spLocks noGrp="1"/>
          </p:cNvSpPr>
          <p:nvPr>
            <p:ph type="body" sz="quarter" idx="31"/>
          </p:nvPr>
        </p:nvSpPr>
        <p:spPr/>
        <p:txBody>
          <a:bodyPr/>
          <a:lstStyle/>
          <a:p>
            <a:endParaRPr lang="zh-CN" altLang="en-US"/>
          </a:p>
        </p:txBody>
      </p:sp>
      <p:sp>
        <p:nvSpPr>
          <p:cNvPr id="41" name="文本占位符 40"/>
          <p:cNvSpPr>
            <a:spLocks noGrp="1"/>
          </p:cNvSpPr>
          <p:nvPr>
            <p:ph type="body" sz="quarter" idx="32"/>
          </p:nvPr>
        </p:nvSpPr>
        <p:spPr/>
        <p:txBody>
          <a:bodyPr/>
          <a:lstStyle/>
          <a:p>
            <a:endParaRPr lang="zh-CN" altLang="en-US"/>
          </a:p>
        </p:txBody>
      </p:sp>
    </p:spTree>
    <p:extLst>
      <p:ext uri="{BB962C8B-B14F-4D97-AF65-F5344CB8AC3E}">
        <p14:creationId xmlns:p14="http://schemas.microsoft.com/office/powerpoint/2010/main" val="11497001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dirty="0" smtClean="0"/>
              <a:t>IPv6</a:t>
            </a:r>
            <a:r>
              <a:rPr lang="zh-CN" altLang="en-US" dirty="0" smtClean="0"/>
              <a:t>过渡技术</a:t>
            </a:r>
            <a:endParaRPr lang="zh-CN" altLang="en-US" dirty="0"/>
          </a:p>
        </p:txBody>
      </p:sp>
    </p:spTree>
    <p:extLst>
      <p:ext uri="{BB962C8B-B14F-4D97-AF65-F5344CB8AC3E}">
        <p14:creationId xmlns:p14="http://schemas.microsoft.com/office/powerpoint/2010/main" val="2080284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smtClean="0"/>
              <a:t>随着</a:t>
            </a:r>
            <a:r>
              <a:rPr lang="en-US" altLang="zh-CN" dirty="0" smtClean="0"/>
              <a:t>IPv4</a:t>
            </a:r>
            <a:r>
              <a:rPr lang="zh-CN" altLang="en-US" dirty="0" smtClean="0"/>
              <a:t>地址短缺问题日益加剧，从</a:t>
            </a:r>
            <a:r>
              <a:rPr lang="en-US" altLang="zh-CN" dirty="0" smtClean="0"/>
              <a:t>IPv4</a:t>
            </a:r>
            <a:r>
              <a:rPr lang="zh-CN" altLang="en-US" dirty="0" smtClean="0"/>
              <a:t>网络向</a:t>
            </a:r>
            <a:r>
              <a:rPr lang="en-US" altLang="zh-CN" dirty="0" smtClean="0"/>
              <a:t>IPv6</a:t>
            </a:r>
            <a:r>
              <a:rPr lang="zh-CN" altLang="en-US" dirty="0" smtClean="0"/>
              <a:t>迁移已经成为各网络当前的工作重点。虽然</a:t>
            </a:r>
            <a:r>
              <a:rPr lang="en-US" altLang="zh-CN" dirty="0" smtClean="0"/>
              <a:t>IPv6</a:t>
            </a:r>
            <a:r>
              <a:rPr lang="zh-CN" altLang="en-US" dirty="0" smtClean="0"/>
              <a:t>是解决地址短缺的终极方案，但由于业务延续性的需要，</a:t>
            </a:r>
            <a:r>
              <a:rPr lang="en-US" altLang="zh-CN" dirty="0" smtClean="0"/>
              <a:t>IPv4</a:t>
            </a:r>
            <a:r>
              <a:rPr lang="zh-CN" altLang="en-US" dirty="0" smtClean="0"/>
              <a:t>网络将继续保留相当长时间。在网络向</a:t>
            </a:r>
            <a:r>
              <a:rPr lang="en-US" altLang="zh-CN" dirty="0" smtClean="0"/>
              <a:t>IPv6</a:t>
            </a:r>
            <a:r>
              <a:rPr lang="zh-CN" altLang="en-US" dirty="0" smtClean="0"/>
              <a:t>演进的过程中，部署</a:t>
            </a:r>
            <a:r>
              <a:rPr lang="en-US" altLang="zh-CN" dirty="0" smtClean="0"/>
              <a:t>IPv4</a:t>
            </a:r>
            <a:r>
              <a:rPr lang="zh-CN" altLang="en-US" dirty="0" smtClean="0"/>
              <a:t>地址和</a:t>
            </a:r>
            <a:r>
              <a:rPr lang="en-US" altLang="zh-CN" dirty="0" smtClean="0"/>
              <a:t>IPv6</a:t>
            </a:r>
            <a:r>
              <a:rPr lang="zh-CN" altLang="en-US" dirty="0" smtClean="0"/>
              <a:t>地址共存的网络将无可回避。</a:t>
            </a:r>
            <a:endParaRPr lang="en-US" altLang="zh-CN" dirty="0" smtClean="0"/>
          </a:p>
          <a:p>
            <a:r>
              <a:rPr lang="zh-CN" altLang="en-US" dirty="0" smtClean="0"/>
              <a:t>本课程将讨论</a:t>
            </a:r>
            <a:r>
              <a:rPr lang="en-US" altLang="zh-CN" dirty="0" smtClean="0"/>
              <a:t>IPv4</a:t>
            </a:r>
            <a:r>
              <a:rPr lang="zh-CN" altLang="en-US" dirty="0" smtClean="0"/>
              <a:t>和</a:t>
            </a:r>
            <a:r>
              <a:rPr lang="en-US" altLang="zh-CN" dirty="0" smtClean="0"/>
              <a:t>IPv6</a:t>
            </a:r>
            <a:r>
              <a:rPr lang="zh-CN" altLang="en-US" dirty="0" smtClean="0"/>
              <a:t>共存时期的过渡技术，包括</a:t>
            </a:r>
            <a:r>
              <a:rPr lang="en-US" altLang="zh-CN" dirty="0" smtClean="0"/>
              <a:t>IPv6 over IPv4</a:t>
            </a:r>
            <a:r>
              <a:rPr lang="zh-CN" altLang="en-US" dirty="0" smtClean="0"/>
              <a:t>隧道、</a:t>
            </a:r>
            <a:r>
              <a:rPr lang="en-US" altLang="zh-CN" dirty="0" smtClean="0"/>
              <a:t>6PE</a:t>
            </a:r>
            <a:r>
              <a:rPr lang="zh-CN" altLang="en-US" dirty="0" smtClean="0"/>
              <a:t>、</a:t>
            </a:r>
            <a:r>
              <a:rPr lang="en-US" altLang="zh-CN" dirty="0" smtClean="0"/>
              <a:t>6VPE</a:t>
            </a:r>
            <a:r>
              <a:rPr lang="zh-CN" altLang="en-US" dirty="0" smtClean="0"/>
              <a:t>、</a:t>
            </a:r>
            <a:r>
              <a:rPr lang="en-US" altLang="zh-CN" dirty="0" smtClean="0"/>
              <a:t>IPv4 over IPv6</a:t>
            </a:r>
            <a:r>
              <a:rPr lang="zh-CN" altLang="en-US" dirty="0" smtClean="0"/>
              <a:t>、</a:t>
            </a:r>
            <a:r>
              <a:rPr lang="en-US" altLang="zh-CN" dirty="0" smtClean="0"/>
              <a:t>NAT64</a:t>
            </a:r>
            <a:r>
              <a:rPr lang="zh-CN" altLang="en-US" dirty="0" smtClean="0"/>
              <a:t>、</a:t>
            </a:r>
            <a:r>
              <a:rPr lang="en-US" altLang="zh-CN" dirty="0" smtClean="0"/>
              <a:t>IVI</a:t>
            </a:r>
            <a:r>
              <a:rPr lang="zh-CN" altLang="en-US" dirty="0" smtClean="0"/>
              <a:t>等。</a:t>
            </a:r>
            <a:endParaRPr lang="zh-CN" altLang="en-US" dirty="0"/>
          </a:p>
        </p:txBody>
      </p:sp>
    </p:spTree>
    <p:extLst>
      <p:ext uri="{BB962C8B-B14F-4D97-AF65-F5344CB8AC3E}">
        <p14:creationId xmlns:p14="http://schemas.microsoft.com/office/powerpoint/2010/main" val="8305123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学完本课程后，您将能够</a:t>
            </a:r>
            <a:r>
              <a:rPr lang="zh-CN" altLang="en-US" dirty="0" smtClean="0"/>
              <a:t>：</a:t>
            </a:r>
            <a:endParaRPr lang="en-US" altLang="zh-CN" dirty="0" smtClean="0"/>
          </a:p>
          <a:p>
            <a:pPr lvl="1"/>
            <a:r>
              <a:rPr lang="zh-CN" altLang="en-US" dirty="0" smtClean="0"/>
              <a:t>描述</a:t>
            </a:r>
            <a:r>
              <a:rPr lang="en-US" altLang="zh-CN" dirty="0" smtClean="0"/>
              <a:t>IPv6</a:t>
            </a:r>
            <a:r>
              <a:rPr lang="zh-CN" altLang="en-US" dirty="0" smtClean="0"/>
              <a:t>基础知识，包括：</a:t>
            </a:r>
            <a:r>
              <a:rPr lang="en-US" altLang="zh-CN" dirty="0" smtClean="0"/>
              <a:t>IPv6</a:t>
            </a:r>
            <a:r>
              <a:rPr lang="zh-CN" altLang="en-US" dirty="0" smtClean="0"/>
              <a:t>地址分类和</a:t>
            </a:r>
            <a:r>
              <a:rPr lang="en-US" altLang="zh-CN" dirty="0" smtClean="0"/>
              <a:t>IPv6</a:t>
            </a:r>
            <a:r>
              <a:rPr lang="zh-CN" altLang="en-US" dirty="0" smtClean="0"/>
              <a:t>地址获取等</a:t>
            </a:r>
            <a:endParaRPr lang="en-US" altLang="zh-CN" dirty="0" smtClean="0"/>
          </a:p>
          <a:p>
            <a:pPr lvl="1"/>
            <a:r>
              <a:rPr lang="zh-CN" altLang="en-US" dirty="0" smtClean="0"/>
              <a:t>描述</a:t>
            </a:r>
            <a:r>
              <a:rPr lang="en-US" altLang="zh-CN" dirty="0" smtClean="0"/>
              <a:t>IPv6</a:t>
            </a:r>
            <a:r>
              <a:rPr lang="zh-CN" altLang="en-US" dirty="0" smtClean="0"/>
              <a:t>过渡技术及其工作原理，并完成其配置</a:t>
            </a:r>
            <a:endParaRPr lang="en-US" altLang="zh-CN" dirty="0"/>
          </a:p>
        </p:txBody>
      </p:sp>
    </p:spTree>
    <p:extLst>
      <p:ext uri="{BB962C8B-B14F-4D97-AF65-F5344CB8AC3E}">
        <p14:creationId xmlns:p14="http://schemas.microsoft.com/office/powerpoint/2010/main" val="1405184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b="1" dirty="0"/>
              <a:t>IPv6</a:t>
            </a:r>
            <a:r>
              <a:rPr lang="zh-CN" altLang="en-US" b="1" dirty="0"/>
              <a:t>基础回顾</a:t>
            </a:r>
          </a:p>
          <a:p>
            <a:r>
              <a:rPr lang="en-US" altLang="zh-CN" dirty="0" smtClean="0">
                <a:solidFill>
                  <a:schemeClr val="bg1">
                    <a:lumMod val="50000"/>
                  </a:schemeClr>
                </a:solidFill>
              </a:rPr>
              <a:t>IPv6</a:t>
            </a:r>
            <a:r>
              <a:rPr lang="zh-CN" altLang="en-US" dirty="0" smtClean="0">
                <a:solidFill>
                  <a:schemeClr val="bg1">
                    <a:lumMod val="50000"/>
                  </a:schemeClr>
                </a:solidFill>
              </a:rPr>
              <a:t>过渡技术介绍</a:t>
            </a:r>
            <a:endParaRPr lang="en-US" altLang="zh-CN" dirty="0" smtClean="0">
              <a:solidFill>
                <a:schemeClr val="bg1">
                  <a:lumMod val="50000"/>
                </a:schemeClr>
              </a:solidFill>
            </a:endParaRPr>
          </a:p>
        </p:txBody>
      </p:sp>
    </p:spTree>
    <p:extLst>
      <p:ext uri="{BB962C8B-B14F-4D97-AF65-F5344CB8AC3E}">
        <p14:creationId xmlns:p14="http://schemas.microsoft.com/office/powerpoint/2010/main" val="18256682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t>IP</a:t>
            </a:r>
            <a:r>
              <a:rPr lang="zh-CN" altLang="en-US" dirty="0" smtClean="0"/>
              <a:t>网络面临的问题与</a:t>
            </a:r>
            <a:r>
              <a:rPr lang="en-US" altLang="zh-CN" dirty="0" smtClean="0"/>
              <a:t>IPv6</a:t>
            </a:r>
            <a:r>
              <a:rPr lang="zh-CN" altLang="en-US" dirty="0" smtClean="0"/>
              <a:t>技术</a:t>
            </a:r>
            <a:endParaRPr lang="zh-CN" altLang="en-US" dirty="0"/>
          </a:p>
        </p:txBody>
      </p:sp>
      <p:sp>
        <p:nvSpPr>
          <p:cNvPr id="4" name="文本占位符 3"/>
          <p:cNvSpPr>
            <a:spLocks noGrp="1"/>
          </p:cNvSpPr>
          <p:nvPr>
            <p:ph type="body" sz="quarter" idx="10"/>
          </p:nvPr>
        </p:nvSpPr>
        <p:spPr>
          <a:xfrm>
            <a:off x="455612" y="1047750"/>
            <a:ext cx="11293475" cy="1914529"/>
          </a:xfrm>
        </p:spPr>
        <p:txBody>
          <a:bodyPr/>
          <a:lstStyle/>
          <a:p>
            <a:r>
              <a:rPr lang="en-US" altLang="zh-CN" sz="1800" dirty="0" smtClean="0"/>
              <a:t>IP</a:t>
            </a:r>
            <a:r>
              <a:rPr lang="zh-CN" altLang="en-US" sz="1800" dirty="0" smtClean="0"/>
              <a:t>网络的发展是由业务和应用驱动的，</a:t>
            </a:r>
            <a:r>
              <a:rPr lang="en-US" altLang="zh-CN" sz="1800" dirty="0" smtClean="0"/>
              <a:t>IP</a:t>
            </a:r>
            <a:r>
              <a:rPr lang="zh-CN" altLang="en-US" sz="1800" dirty="0" smtClean="0"/>
              <a:t>协议要求每个网络终端都具有唯一的可寻址的</a:t>
            </a:r>
            <a:r>
              <a:rPr lang="en-US" altLang="zh-CN" sz="1800" dirty="0" smtClean="0"/>
              <a:t>IP</a:t>
            </a:r>
            <a:r>
              <a:rPr lang="zh-CN" altLang="en-US" sz="1800" dirty="0" smtClean="0"/>
              <a:t>地址。</a:t>
            </a:r>
            <a:r>
              <a:rPr lang="en-US" altLang="zh-CN" sz="1800" dirty="0" smtClean="0"/>
              <a:t>IANA</a:t>
            </a:r>
            <a:r>
              <a:rPr lang="zh-CN" altLang="en-US" sz="1800" dirty="0" smtClean="0"/>
              <a:t>已于</a:t>
            </a:r>
            <a:r>
              <a:rPr lang="en-US" altLang="zh-CN" sz="1800" dirty="0" smtClean="0"/>
              <a:t>2011</a:t>
            </a:r>
            <a:r>
              <a:rPr lang="zh-CN" altLang="en-US" sz="1800" dirty="0" smtClean="0"/>
              <a:t>年</a:t>
            </a:r>
            <a:r>
              <a:rPr lang="en-US" altLang="zh-CN" sz="1800" dirty="0" smtClean="0"/>
              <a:t>2</a:t>
            </a:r>
            <a:r>
              <a:rPr lang="zh-CN" altLang="en-US" sz="1800" dirty="0" smtClean="0"/>
              <a:t>月将最后的</a:t>
            </a:r>
            <a:r>
              <a:rPr lang="en-US" altLang="zh-CN" sz="1800" dirty="0" smtClean="0"/>
              <a:t>5</a:t>
            </a:r>
            <a:r>
              <a:rPr lang="zh-CN" altLang="en-US" sz="1800" dirty="0" smtClean="0"/>
              <a:t>个</a:t>
            </a:r>
            <a:r>
              <a:rPr lang="en-US" altLang="zh-CN" sz="1800" dirty="0" smtClean="0"/>
              <a:t>A</a:t>
            </a:r>
            <a:r>
              <a:rPr lang="zh-CN" altLang="en-US" sz="1800" dirty="0" smtClean="0"/>
              <a:t>类</a:t>
            </a:r>
            <a:r>
              <a:rPr lang="en-US" altLang="zh-CN" sz="1800" dirty="0" smtClean="0"/>
              <a:t>IPv4</a:t>
            </a:r>
            <a:r>
              <a:rPr lang="zh-CN" altLang="en-US" sz="1800" dirty="0" smtClean="0"/>
              <a:t>地址段一次性地分配完毕，以后获取可用的</a:t>
            </a:r>
            <a:r>
              <a:rPr lang="en-US" altLang="zh-CN" sz="1800" dirty="0" smtClean="0"/>
              <a:t>IPv4</a:t>
            </a:r>
            <a:r>
              <a:rPr lang="zh-CN" altLang="en-US" sz="1800" dirty="0" smtClean="0"/>
              <a:t>地址将非常困难。</a:t>
            </a:r>
            <a:endParaRPr lang="en-US" altLang="zh-CN" sz="1800" dirty="0" smtClean="0"/>
          </a:p>
          <a:p>
            <a:r>
              <a:rPr lang="zh-CN" altLang="en-US" sz="1800" dirty="0" smtClean="0"/>
              <a:t>现阶段</a:t>
            </a:r>
            <a:r>
              <a:rPr lang="en-US" altLang="zh-CN" sz="1800" dirty="0" smtClean="0"/>
              <a:t>IP</a:t>
            </a:r>
            <a:r>
              <a:rPr lang="zh-CN" altLang="en-US" sz="1800" dirty="0" smtClean="0"/>
              <a:t>网络面临的问题：新业务需要大量的</a:t>
            </a:r>
            <a:r>
              <a:rPr lang="en-US" altLang="zh-CN" sz="1800" dirty="0" smtClean="0"/>
              <a:t>IP</a:t>
            </a:r>
            <a:r>
              <a:rPr lang="zh-CN" altLang="en-US" sz="1800" dirty="0" smtClean="0"/>
              <a:t>地址。</a:t>
            </a:r>
            <a:endParaRPr lang="en-US" altLang="zh-CN" sz="1800" dirty="0" smtClean="0"/>
          </a:p>
        </p:txBody>
      </p:sp>
      <p:sp>
        <p:nvSpPr>
          <p:cNvPr id="7" name="圆角矩形 75"/>
          <p:cNvSpPr/>
          <p:nvPr/>
        </p:nvSpPr>
        <p:spPr bwMode="gray">
          <a:xfrm>
            <a:off x="853440" y="2786147"/>
            <a:ext cx="4732043" cy="2246357"/>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以</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为核心技术的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获得巨大成功，促使</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技术得到广泛应用。但是，随着因特网的迅猛发展，</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设计的不足也日益</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明显：</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lvl="0" indent="-180000" defTabSz="914400">
              <a:lnSpc>
                <a:spcPct val="150000"/>
              </a:lnSpc>
              <a:buFont typeface="Huawei Sans" panose="020C0503030203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地址空间不足</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lvl="0" indent="-180000" defTabSz="914400">
              <a:lnSpc>
                <a:spcPct val="150000"/>
              </a:lnSpc>
              <a:buFont typeface="Huawei Sans" panose="020C0503030203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设备维护的路由表表项数量过大</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lvl="0" indent="-180000" defTabSz="914400">
              <a:lnSpc>
                <a:spcPct val="150000"/>
              </a:lnSpc>
              <a:buFont typeface="Huawei Sans" panose="020C0503030203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不易进行自动配置和重新编址</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p:cNvSpPr/>
          <p:nvPr/>
        </p:nvSpPr>
        <p:spPr bwMode="gray">
          <a:xfrm>
            <a:off x="6429374" y="2786147"/>
            <a:ext cx="4943475"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技术解决了</a:t>
            </a: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地址短缺的问题</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75"/>
          <p:cNvSpPr/>
          <p:nvPr/>
        </p:nvSpPr>
        <p:spPr bwMode="gray">
          <a:xfrm>
            <a:off x="6429374" y="3232440"/>
            <a:ext cx="4943475" cy="1800063"/>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之间最显著的区别就是</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地址长度从原来的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32</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位升级为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128</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位</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具有简化</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的报文头格式、充足的地址空间、层次化的地址结构、灵活的扩展头、增强的邻居发现</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机制等特点，将在市场</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竞争中充满活力。</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Right Arrow 157"/>
          <p:cNvSpPr/>
          <p:nvPr/>
        </p:nvSpPr>
        <p:spPr bwMode="gray">
          <a:xfrm>
            <a:off x="5683757" y="3731204"/>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gradFill flip="none" rotWithShape="1">
              <a:gsLst>
                <a:gs pos="0">
                  <a:schemeClr val="accent1">
                    <a:lumMod val="5000"/>
                    <a:lumOff val="95000"/>
                  </a:schemeClr>
                </a:gs>
                <a:gs pos="100000">
                  <a:srgbClr val="94DAE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726630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IPv6</a:t>
            </a:r>
            <a:r>
              <a:rPr lang="zh-CN" altLang="en-US" dirty="0"/>
              <a:t>基础回顾：</a:t>
            </a:r>
            <a:r>
              <a:rPr lang="en-US" altLang="zh-CN" dirty="0" smtClean="0"/>
              <a:t>IPv6</a:t>
            </a:r>
            <a:r>
              <a:rPr lang="zh-CN" altLang="en-US" dirty="0" smtClean="0"/>
              <a:t>报文头部</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646622204"/>
              </p:ext>
            </p:extLst>
          </p:nvPr>
        </p:nvGraphicFramePr>
        <p:xfrm>
          <a:off x="535004" y="1331422"/>
          <a:ext cx="4961556" cy="1645920"/>
        </p:xfrm>
        <a:graphic>
          <a:graphicData uri="http://schemas.openxmlformats.org/drawingml/2006/table">
            <a:tbl>
              <a:tblPr firstRow="1" bandRow="1">
                <a:tableStyleId>{2D5ABB26-0587-4C30-8999-92F81FD0307C}</a:tableStyleId>
              </a:tblPr>
              <a:tblGrid>
                <a:gridCol w="957383"/>
                <a:gridCol w="598857"/>
                <a:gridCol w="1098608"/>
                <a:gridCol w="957384"/>
                <a:gridCol w="149414"/>
                <a:gridCol w="1199910"/>
              </a:tblGrid>
              <a:tr h="0">
                <a:tc>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Version</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78" rtl="0" eaLnBrk="1" latinLnBrk="0" hangingPunct="1"/>
                      <a:r>
                        <a:rPr lang="en-US" altLang="zh-CN" sz="1200" strike="sngStrike" kern="1200" baseline="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IHL</a:t>
                      </a:r>
                      <a:endParaRPr lang="zh-CN" altLang="en-US" sz="1200" strike="sngStrike" kern="1200" baseline="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200" dirty="0" err="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ToS</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gridSpan="3">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Total Len</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zh-CN" altLang="en-US"/>
                    </a:p>
                  </a:txBody>
                  <a:tcPr/>
                </a:tc>
                <a:tc hMerge="1">
                  <a:txBody>
                    <a:bodyPr/>
                    <a:lstStyle/>
                    <a:p>
                      <a:endParaRPr lang="zh-CN" altLang="en-US"/>
                    </a:p>
                  </a:txBody>
                  <a:tcPr/>
                </a:tc>
              </a:tr>
              <a:tr h="0">
                <a:tc gridSpan="3">
                  <a:txBody>
                    <a:bodyPr/>
                    <a:lstStyle/>
                    <a:p>
                      <a:pPr algn="ctr"/>
                      <a:r>
                        <a:rPr lang="en-US" altLang="zh-CN" sz="1200" strike="sngStrike" kern="1200" baseline="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Identification</a:t>
                      </a:r>
                      <a:endParaRPr lang="zh-CN" altLang="en-US" sz="1200" strike="sngStrike" kern="1200" baseline="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CN" altLang="en-US"/>
                    </a:p>
                  </a:txBody>
                  <a:tcPr/>
                </a:tc>
                <a:tc hMerge="1">
                  <a:txBody>
                    <a:bodyPr/>
                    <a:lstStyle/>
                    <a:p>
                      <a:endParaRPr lang="zh-CN" altLang="en-US"/>
                    </a:p>
                  </a:txBody>
                  <a:tcPr/>
                </a:tc>
                <a:tc>
                  <a:txBody>
                    <a:bodyPr/>
                    <a:lstStyle/>
                    <a:p>
                      <a:pPr algn="ctr"/>
                      <a:r>
                        <a:rPr lang="en-US" altLang="zh-CN" sz="1200" strike="sngStrike" kern="1200" baseline="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Flags</a:t>
                      </a:r>
                      <a:endParaRPr lang="zh-CN" altLang="en-US" sz="1200" strike="sngStrike" kern="1200" baseline="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altLang="zh-CN" sz="1200" strike="sngStrike" kern="1200" baseline="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Fragment Offset</a:t>
                      </a:r>
                      <a:endParaRPr lang="zh-CN" altLang="en-US" sz="1200" strike="sngStrike" kern="1200" baseline="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CN" altLang="en-US" sz="150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2">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TTL</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zh-CN" altLang="en-US"/>
                    </a:p>
                  </a:txBody>
                  <a:tcPr/>
                </a:tc>
                <a:tc>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Protocol</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gridSpan="3">
                  <a:txBody>
                    <a:bodyPr/>
                    <a:lstStyle/>
                    <a:p>
                      <a:pPr algn="ctr"/>
                      <a:r>
                        <a:rPr lang="en-US" altLang="zh-CN" sz="1200" strike="sngStrike" kern="1200" baseline="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Head Checksum</a:t>
                      </a:r>
                      <a:endParaRPr lang="zh-CN" altLang="en-US" sz="1200" strike="sngStrike" kern="1200" baseline="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CN" altLang="en-US"/>
                    </a:p>
                  </a:txBody>
                  <a:tcPr/>
                </a:tc>
                <a:tc hMerge="1">
                  <a:txBody>
                    <a:bodyPr/>
                    <a:lstStyle/>
                    <a:p>
                      <a:endParaRPr lang="zh-CN" altLang="en-US"/>
                    </a:p>
                  </a:txBody>
                  <a:tcPr/>
                </a:tc>
              </a:tr>
              <a:tr h="0">
                <a:tc gridSpan="6">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Source address</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0">
                <a:tc gridSpan="6">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Destination Address</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0">
                <a:tc gridSpan="5">
                  <a:txBody>
                    <a:bodyPr/>
                    <a:lstStyle/>
                    <a:p>
                      <a:pPr algn="ctr"/>
                      <a:r>
                        <a:rPr lang="en-US" altLang="zh-CN" sz="1200" strike="sngStrike" kern="1200" baseline="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Options</a:t>
                      </a:r>
                      <a:endParaRPr lang="zh-CN" altLang="en-US" sz="1200" strike="sngStrike" kern="1200" baseline="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r>
                        <a:rPr lang="en-US" altLang="zh-CN" sz="1200" strike="sngStrike" kern="1200" baseline="0" dirty="0" smtClean="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padding</a:t>
                      </a:r>
                      <a:endParaRPr lang="zh-CN" altLang="en-US" sz="1200" strike="sngStrike" kern="1200" baseline="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269130086"/>
              </p:ext>
            </p:extLst>
          </p:nvPr>
        </p:nvGraphicFramePr>
        <p:xfrm>
          <a:off x="6552910" y="1329206"/>
          <a:ext cx="5149462" cy="1645200"/>
        </p:xfrm>
        <a:graphic>
          <a:graphicData uri="http://schemas.openxmlformats.org/drawingml/2006/table">
            <a:tbl>
              <a:tblPr firstRow="1" bandRow="1">
                <a:tableStyleId>{2D5ABB26-0587-4C30-8999-92F81FD0307C}</a:tableStyleId>
              </a:tblPr>
              <a:tblGrid>
                <a:gridCol w="1011502"/>
                <a:gridCol w="1103456"/>
                <a:gridCol w="551728"/>
                <a:gridCol w="1103456"/>
                <a:gridCol w="1379320"/>
              </a:tblGrid>
              <a:tr h="277109">
                <a:tc>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Version</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Traffic</a:t>
                      </a:r>
                      <a:r>
                        <a:rPr lang="en-US" altLang="zh-CN" sz="1200" baseline="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 Class</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c gridSpan="3">
                  <a:txBody>
                    <a:bodyPr/>
                    <a:lstStyle/>
                    <a:p>
                      <a:pPr algn="ctr"/>
                      <a:r>
                        <a:rPr lang="en-US" altLang="zh-CN" sz="1200" dirty="0" smtClean="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Flow Label</a:t>
                      </a:r>
                      <a:endParaRPr lang="zh-CN" altLang="en-US" sz="120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hMerge="1">
                  <a:txBody>
                    <a:bodyPr/>
                    <a:lstStyle/>
                    <a:p>
                      <a:endParaRPr lang="zh-CN" altLang="en-US" sz="14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hMerge="1">
                  <a:txBody>
                    <a:bodyPr/>
                    <a:lstStyle/>
                    <a:p>
                      <a:endParaRPr lang="zh-CN" altLang="en-US"/>
                    </a:p>
                  </a:txBody>
                  <a:tcPr/>
                </a:tc>
              </a:tr>
              <a:tr h="277109">
                <a:tc gridSpan="3">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Payload Length</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c hMerge="1">
                  <a:txBody>
                    <a:bodyPr/>
                    <a:lstStyle/>
                    <a:p>
                      <a:endParaRPr lang="zh-CN" altLang="en-US"/>
                    </a:p>
                  </a:txBody>
                  <a:tcPr/>
                </a:tc>
                <a:tc hMerge="1">
                  <a:txBody>
                    <a:bodyPr/>
                    <a:lstStyle/>
                    <a:p>
                      <a:endParaRPr lang="zh-CN" altLang="en-US"/>
                    </a:p>
                  </a:txBody>
                  <a:tcPr/>
                </a:tc>
                <a:tc>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Next Header</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Hop Limit</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75000"/>
                      </a:schemeClr>
                    </a:solidFill>
                  </a:tcPr>
                </a:tc>
              </a:tr>
              <a:tr h="545491">
                <a:tc gridSpan="5">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Source address</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545491">
                <a:tc gridSpan="5">
                  <a:txBody>
                    <a:bodyPr/>
                    <a:lstStyle/>
                    <a:p>
                      <a:pPr algn="ctr"/>
                      <a:r>
                        <a:rPr lang="en-US" altLang="zh-CN"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Destination Address</a:t>
                      </a:r>
                      <a:endPar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bl>
          </a:graphicData>
        </a:graphic>
      </p:graphicFrame>
      <p:sp>
        <p:nvSpPr>
          <p:cNvPr id="6" name="矩形 5"/>
          <p:cNvSpPr/>
          <p:nvPr/>
        </p:nvSpPr>
        <p:spPr bwMode="gray">
          <a:xfrm>
            <a:off x="6636737" y="3252587"/>
            <a:ext cx="1190215" cy="21640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保留的字段</a:t>
            </a:r>
          </a:p>
        </p:txBody>
      </p:sp>
      <p:sp>
        <p:nvSpPr>
          <p:cNvPr id="7" name="矩形 6"/>
          <p:cNvSpPr/>
          <p:nvPr/>
        </p:nvSpPr>
        <p:spPr bwMode="gray">
          <a:xfrm>
            <a:off x="7935153" y="3252587"/>
            <a:ext cx="1190215" cy="216403"/>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strike="sngStrike">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取消的字段</a:t>
            </a:r>
          </a:p>
        </p:txBody>
      </p:sp>
      <p:sp>
        <p:nvSpPr>
          <p:cNvPr id="8" name="矩形 7"/>
          <p:cNvSpPr/>
          <p:nvPr/>
        </p:nvSpPr>
        <p:spPr bwMode="gray">
          <a:xfrm>
            <a:off x="9233570" y="3252587"/>
            <a:ext cx="1190215" cy="216403"/>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名字位置变化</a:t>
            </a:r>
          </a:p>
        </p:txBody>
      </p:sp>
      <p:sp>
        <p:nvSpPr>
          <p:cNvPr id="9" name="矩形 8"/>
          <p:cNvSpPr/>
          <p:nvPr/>
        </p:nvSpPr>
        <p:spPr bwMode="gray">
          <a:xfrm>
            <a:off x="10512157" y="3252587"/>
            <a:ext cx="1190215" cy="216403"/>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新增字段</a:t>
            </a:r>
          </a:p>
        </p:txBody>
      </p:sp>
      <p:sp>
        <p:nvSpPr>
          <p:cNvPr id="10" name="矩形 9"/>
          <p:cNvSpPr/>
          <p:nvPr/>
        </p:nvSpPr>
        <p:spPr bwMode="gray">
          <a:xfrm>
            <a:off x="1763353" y="950758"/>
            <a:ext cx="2898550" cy="338554"/>
          </a:xfrm>
          <a:prstGeom prst="rect">
            <a:avLst/>
          </a:prstGeom>
        </p:spPr>
        <p:txBody>
          <a:bodyPr wrap="none">
            <a:spAutoFit/>
          </a:bodyPr>
          <a:lstStyle/>
          <a:p>
            <a:pPr algn="ctr"/>
            <a:r>
              <a:rPr lang="en-US" altLang="zh-CN" sz="16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IPv4</a:t>
            </a:r>
            <a:r>
              <a:rPr lang="zh-CN" altLang="en-US" sz="16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报文头部（</a:t>
            </a:r>
            <a:r>
              <a:rPr lang="en-US" altLang="zh-CN" sz="16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20-60 Byte</a:t>
            </a:r>
            <a:r>
              <a:rPr lang="zh-CN" altLang="en-US" sz="16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p>
        </p:txBody>
      </p:sp>
      <p:sp>
        <p:nvSpPr>
          <p:cNvPr id="11" name="矩形 10"/>
          <p:cNvSpPr/>
          <p:nvPr/>
        </p:nvSpPr>
        <p:spPr bwMode="gray">
          <a:xfrm>
            <a:off x="7631155" y="950758"/>
            <a:ext cx="2994731" cy="338554"/>
          </a:xfrm>
          <a:prstGeom prst="rect">
            <a:avLst/>
          </a:prstGeom>
        </p:spPr>
        <p:txBody>
          <a:bodyPr wrap="none">
            <a:spAutoFit/>
          </a:bodyPr>
          <a:lstStyle/>
          <a:p>
            <a:pPr algn="ctr"/>
            <a:r>
              <a:rPr lang="en-US" altLang="zh-CN" sz="16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IPv6</a:t>
            </a:r>
            <a:r>
              <a:rPr lang="zh-CN" altLang="en-US" sz="16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基本报文头部（</a:t>
            </a:r>
            <a:r>
              <a:rPr lang="en-US" altLang="zh-CN" sz="16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40 Byte</a:t>
            </a:r>
            <a:r>
              <a:rPr lang="zh-CN" altLang="en-US" sz="16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p>
        </p:txBody>
      </p:sp>
      <p:sp>
        <p:nvSpPr>
          <p:cNvPr id="12" name="圆角矩形 3"/>
          <p:cNvSpPr/>
          <p:nvPr/>
        </p:nvSpPr>
        <p:spPr bwMode="gray">
          <a:xfrm>
            <a:off x="452438" y="4086319"/>
            <a:ext cx="11296649" cy="2114455"/>
          </a:xfrm>
          <a:prstGeom prst="roundRect">
            <a:avLst>
              <a:gd name="adj" fmla="val 96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6000" tIns="96000" rIns="96000" bIns="96000" rtlCol="0" anchor="t" anchorCtr="0"/>
          <a:lstStyle/>
          <a:p>
            <a:pPr marL="171450" indent="-171450" defTabSz="914400">
              <a:lnSpc>
                <a:spcPct val="150000"/>
              </a:lnSpc>
              <a:spcAft>
                <a:spcPts val="800"/>
              </a:spcAft>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取消三层校验：协议</a:t>
            </a:r>
            <a:r>
              <a:rPr lang="zh-CN" altLang="en-US" sz="14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栈</a:t>
            </a:r>
            <a:r>
              <a:rPr lang="zh-CN" altLang="en-US" sz="1400" kern="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中</a:t>
            </a:r>
            <a:r>
              <a:rPr lang="zh-CN" altLang="en-US" sz="14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kern="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二</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层和</a:t>
            </a:r>
            <a:r>
              <a:rPr lang="zh-CN" altLang="en-US" sz="14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四</a:t>
            </a:r>
            <a:r>
              <a:rPr lang="zh-CN" altLang="en-US" sz="1400" kern="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层已</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提供校验，因此</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直接取消了</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的三层校验，节省路由器处理资源。</a:t>
            </a:r>
          </a:p>
          <a:p>
            <a:pPr marL="171450" indent="-171450" defTabSz="914400">
              <a:lnSpc>
                <a:spcPct val="150000"/>
              </a:lnSpc>
              <a:spcAft>
                <a:spcPts val="800"/>
              </a:spcAft>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取消中间节点的分片功能：中间路由器不再处理分片，只在产生数据的源节点处理，省却中间路由器为处理分片而耗费的大量</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资源。</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defTabSz="914400">
              <a:lnSpc>
                <a:spcPct val="150000"/>
              </a:lnSpc>
              <a:spcAft>
                <a:spcPts val="800"/>
              </a:spcAft>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定长的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报头：有利于硬件的快速处理，提高路由器转发效率。</a:t>
            </a:r>
          </a:p>
          <a:p>
            <a:pPr marL="171450" indent="-171450" defTabSz="914400">
              <a:lnSpc>
                <a:spcPct val="150000"/>
              </a:lnSpc>
              <a:spcAft>
                <a:spcPts val="800"/>
              </a:spcAft>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安全选项的支持：</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提供了对</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IPsec</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的完美支持，如此上层协议可以省去许多安全选项。</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defTabSz="914400">
              <a:lnSpc>
                <a:spcPct val="150000"/>
              </a:lnSpc>
              <a:spcAft>
                <a:spcPts val="800"/>
              </a:spcAft>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增加流标签：提高</a:t>
            </a:r>
            <a:r>
              <a:rPr lang="en-US" altLang="zh-CN" sz="1400" kern="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效率。</a:t>
            </a:r>
          </a:p>
        </p:txBody>
      </p:sp>
      <p:sp>
        <p:nvSpPr>
          <p:cNvPr id="13" name="圆角矩形 24"/>
          <p:cNvSpPr/>
          <p:nvPr/>
        </p:nvSpPr>
        <p:spPr bwMode="gray">
          <a:xfrm>
            <a:off x="452438" y="3722425"/>
            <a:ext cx="11296649" cy="324000"/>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头部相较于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的改进</a:t>
            </a:r>
            <a:endParaRPr 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343786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770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基础回顾：</a:t>
            </a:r>
            <a:r>
              <a:rPr lang="en-US" altLang="zh-CN" dirty="0" smtClean="0"/>
              <a:t>IPv6</a:t>
            </a:r>
            <a:r>
              <a:rPr lang="zh-CN" altLang="en-US" dirty="0" smtClean="0"/>
              <a:t>扩展头部</a:t>
            </a:r>
            <a:endParaRPr lang="zh-CN" altLang="en-US" dirty="0"/>
          </a:p>
        </p:txBody>
      </p:sp>
      <p:graphicFrame>
        <p:nvGraphicFramePr>
          <p:cNvPr id="22" name="表格 26"/>
          <p:cNvGraphicFramePr>
            <a:graphicFrameLocks noGrp="1"/>
          </p:cNvGraphicFramePr>
          <p:nvPr>
            <p:extLst>
              <p:ext uri="{D42A27DB-BD31-4B8C-83A1-F6EECF244321}">
                <p14:modId xmlns:p14="http://schemas.microsoft.com/office/powerpoint/2010/main" val="2577767834"/>
              </p:ext>
            </p:extLst>
          </p:nvPr>
        </p:nvGraphicFramePr>
        <p:xfrm>
          <a:off x="1404211" y="1182954"/>
          <a:ext cx="8989856" cy="1141440"/>
        </p:xfrm>
        <a:graphic>
          <a:graphicData uri="http://schemas.openxmlformats.org/drawingml/2006/table">
            <a:tbl>
              <a:tblPr firstRow="1" bandRow="1">
                <a:tableStyleId>{2D5ABB26-0587-4C30-8999-92F81FD0307C}</a:tableStyleId>
              </a:tblPr>
              <a:tblGrid>
                <a:gridCol w="1734929">
                  <a:extLst>
                    <a:ext uri="{9D8B030D-6E8A-4147-A177-3AD203B41FA5}">
                      <a16:colId xmlns="" xmlns:a16="http://schemas.microsoft.com/office/drawing/2014/main" val="20000"/>
                    </a:ext>
                  </a:extLst>
                </a:gridCol>
                <a:gridCol w="1892649">
                  <a:extLst>
                    <a:ext uri="{9D8B030D-6E8A-4147-A177-3AD203B41FA5}">
                      <a16:colId xmlns="" xmlns:a16="http://schemas.microsoft.com/office/drawing/2014/main" val="20001"/>
                    </a:ext>
                  </a:extLst>
                </a:gridCol>
                <a:gridCol w="946325">
                  <a:extLst>
                    <a:ext uri="{9D8B030D-6E8A-4147-A177-3AD203B41FA5}">
                      <a16:colId xmlns="" xmlns:a16="http://schemas.microsoft.com/office/drawing/2014/main" val="20002"/>
                    </a:ext>
                  </a:extLst>
                </a:gridCol>
                <a:gridCol w="2050142">
                  <a:extLst>
                    <a:ext uri="{9D8B030D-6E8A-4147-A177-3AD203B41FA5}">
                      <a16:colId xmlns="" xmlns:a16="http://schemas.microsoft.com/office/drawing/2014/main" val="20003"/>
                    </a:ext>
                  </a:extLst>
                </a:gridCol>
                <a:gridCol w="2365811">
                  <a:extLst>
                    <a:ext uri="{9D8B030D-6E8A-4147-A177-3AD203B41FA5}">
                      <a16:colId xmlns="" xmlns:a16="http://schemas.microsoft.com/office/drawing/2014/main" val="20004"/>
                    </a:ext>
                  </a:extLst>
                </a:gridCol>
              </a:tblGrid>
              <a:tr h="0">
                <a:tc>
                  <a:txBody>
                    <a:bodyPr/>
                    <a:lstStyle/>
                    <a:p>
                      <a:pPr algn="ctr"/>
                      <a:r>
                        <a:rPr lang="en-US" altLang="zh-CN" sz="1400" dirty="0">
                          <a:latin typeface="+mn-lt"/>
                          <a:cs typeface="Arial" pitchFamily="34" charset="0"/>
                        </a:rPr>
                        <a:t>Version</a:t>
                      </a:r>
                      <a:endParaRPr lang="zh-CN" altLang="en-US" sz="1400" dirty="0">
                        <a:latin typeface="+mn-lt"/>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marL="0" algn="ctr" defTabSz="914034" rtl="0" eaLnBrk="1" latinLnBrk="0" hangingPunct="1"/>
                      <a:r>
                        <a:rPr lang="en-US" altLang="zh-CN" sz="1400" kern="1200" dirty="0">
                          <a:solidFill>
                            <a:schemeClr val="tx1"/>
                          </a:solidFill>
                          <a:latin typeface="+mn-lt"/>
                          <a:ea typeface="+mn-ea"/>
                          <a:cs typeface="Arial" pitchFamily="34" charset="0"/>
                        </a:rPr>
                        <a:t>Traffic Class</a:t>
                      </a:r>
                      <a:endParaRPr lang="zh-CN" altLang="en-US" sz="1400" kern="1200" dirty="0">
                        <a:solidFill>
                          <a:schemeClr val="tx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gridSpan="3">
                  <a:txBody>
                    <a:bodyPr/>
                    <a:lstStyle/>
                    <a:p>
                      <a:pPr marL="0" algn="ctr" defTabSz="914034" rtl="0" eaLnBrk="1" latinLnBrk="0" hangingPunct="1"/>
                      <a:r>
                        <a:rPr lang="en-US" altLang="zh-CN" sz="1400" kern="1200" dirty="0">
                          <a:solidFill>
                            <a:schemeClr val="tx1"/>
                          </a:solidFill>
                          <a:latin typeface="+mn-lt"/>
                          <a:ea typeface="+mn-ea"/>
                          <a:cs typeface="Arial" pitchFamily="34" charset="0"/>
                        </a:rPr>
                        <a:t>Flow Label</a:t>
                      </a:r>
                      <a:endParaRPr lang="zh-CN" altLang="en-US" sz="1400" kern="1200" dirty="0">
                        <a:solidFill>
                          <a:schemeClr val="tx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lang="zh-CN" altLang="en-US" sz="1400">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zh-CN" altLang="en-US"/>
                    </a:p>
                  </a:txBody>
                  <a:tcPr/>
                </a:tc>
                <a:extLst>
                  <a:ext uri="{0D108BD9-81ED-4DB2-BD59-A6C34878D82A}">
                    <a16:rowId xmlns="" xmlns:a16="http://schemas.microsoft.com/office/drawing/2014/main" val="10000"/>
                  </a:ext>
                </a:extLst>
              </a:tr>
              <a:tr h="0">
                <a:tc gridSpan="3">
                  <a:txBody>
                    <a:bodyPr/>
                    <a:lstStyle/>
                    <a:p>
                      <a:pPr marL="0" algn="ctr" defTabSz="914034" rtl="0" eaLnBrk="1" latinLnBrk="0" hangingPunct="1"/>
                      <a:r>
                        <a:rPr lang="en-US" altLang="zh-CN" sz="1400" kern="1200" dirty="0">
                          <a:solidFill>
                            <a:schemeClr val="tx1"/>
                          </a:solidFill>
                          <a:latin typeface="+mn-lt"/>
                          <a:ea typeface="+mn-ea"/>
                          <a:cs typeface="Arial" pitchFamily="34" charset="0"/>
                        </a:rPr>
                        <a:t>Payload Length</a:t>
                      </a:r>
                      <a:endParaRPr lang="zh-CN" altLang="en-US" sz="1400" kern="1200" dirty="0">
                        <a:solidFill>
                          <a:schemeClr val="tx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tc>
                  <a:txBody>
                    <a:bodyPr/>
                    <a:lstStyle/>
                    <a:p>
                      <a:pPr marL="0" algn="ctr" defTabSz="914034" rtl="0" eaLnBrk="1" latinLnBrk="0" hangingPunct="1"/>
                      <a:r>
                        <a:rPr lang="en-US" altLang="zh-CN" sz="1400" b="1" kern="1200" dirty="0">
                          <a:solidFill>
                            <a:schemeClr val="bg1"/>
                          </a:solidFill>
                          <a:latin typeface="+mn-lt"/>
                          <a:ea typeface="+mn-ea"/>
                          <a:cs typeface="Arial" pitchFamily="34" charset="0"/>
                        </a:rPr>
                        <a:t>Next Header</a:t>
                      </a:r>
                      <a:endParaRPr lang="zh-CN" altLang="en-US" sz="1400" b="1" kern="1200" dirty="0">
                        <a:solidFill>
                          <a:schemeClr val="bg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marL="0" algn="ctr" defTabSz="914034" rtl="0" eaLnBrk="1" latinLnBrk="0" hangingPunct="1"/>
                      <a:r>
                        <a:rPr lang="en-US" altLang="zh-CN" sz="1400" kern="1200" dirty="0">
                          <a:solidFill>
                            <a:schemeClr val="tx1"/>
                          </a:solidFill>
                          <a:latin typeface="+mn-lt"/>
                          <a:ea typeface="+mn-ea"/>
                          <a:cs typeface="Arial" pitchFamily="34" charset="0"/>
                        </a:rPr>
                        <a:t>Hop Limit</a:t>
                      </a:r>
                      <a:endParaRPr lang="zh-CN" altLang="en-US" sz="1400" kern="1200" dirty="0">
                        <a:solidFill>
                          <a:schemeClr val="tx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0001"/>
                  </a:ext>
                </a:extLst>
              </a:tr>
              <a:tr h="0">
                <a:tc gridSpan="5">
                  <a:txBody>
                    <a:bodyPr/>
                    <a:lstStyle/>
                    <a:p>
                      <a:pPr marL="0" algn="ctr" defTabSz="914034" rtl="0" eaLnBrk="1" latinLnBrk="0" hangingPunct="1"/>
                      <a:r>
                        <a:rPr lang="en-US" altLang="zh-CN" sz="1400" kern="1200" dirty="0">
                          <a:solidFill>
                            <a:schemeClr val="tx1"/>
                          </a:solidFill>
                          <a:latin typeface="+mn-lt"/>
                          <a:ea typeface="+mn-ea"/>
                          <a:cs typeface="Arial" pitchFamily="34" charset="0"/>
                        </a:rPr>
                        <a:t>Source address</a:t>
                      </a:r>
                      <a:endParaRPr lang="zh-CN" altLang="en-US" sz="1400" kern="1200" dirty="0">
                        <a:solidFill>
                          <a:schemeClr val="tx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2"/>
                  </a:ext>
                </a:extLst>
              </a:tr>
              <a:tr h="0">
                <a:tc gridSpan="5">
                  <a:txBody>
                    <a:bodyPr/>
                    <a:lstStyle/>
                    <a:p>
                      <a:pPr marL="0" algn="ctr" defTabSz="914034" rtl="0" eaLnBrk="1" latinLnBrk="0" hangingPunct="1"/>
                      <a:r>
                        <a:rPr lang="en-US" altLang="zh-CN" sz="1400" kern="1200" dirty="0">
                          <a:solidFill>
                            <a:schemeClr val="tx1"/>
                          </a:solidFill>
                          <a:latin typeface="+mn-lt"/>
                          <a:ea typeface="+mn-ea"/>
                          <a:cs typeface="Arial" pitchFamily="34" charset="0"/>
                        </a:rPr>
                        <a:t>Destination address</a:t>
                      </a:r>
                      <a:endParaRPr lang="zh-CN" altLang="en-US" sz="1400" kern="1200" dirty="0">
                        <a:solidFill>
                          <a:schemeClr val="tx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3"/>
                  </a:ext>
                </a:extLst>
              </a:tr>
            </a:tbl>
          </a:graphicData>
        </a:graphic>
      </p:graphicFrame>
      <p:graphicFrame>
        <p:nvGraphicFramePr>
          <p:cNvPr id="23" name="表格 27"/>
          <p:cNvGraphicFramePr>
            <a:graphicFrameLocks noGrp="1"/>
          </p:cNvGraphicFramePr>
          <p:nvPr>
            <p:extLst>
              <p:ext uri="{D42A27DB-BD31-4B8C-83A1-F6EECF244321}">
                <p14:modId xmlns:p14="http://schemas.microsoft.com/office/powerpoint/2010/main" val="3247135299"/>
              </p:ext>
            </p:extLst>
          </p:nvPr>
        </p:nvGraphicFramePr>
        <p:xfrm>
          <a:off x="1404388" y="2401630"/>
          <a:ext cx="8989679" cy="608500"/>
        </p:xfrm>
        <a:graphic>
          <a:graphicData uri="http://schemas.openxmlformats.org/drawingml/2006/table">
            <a:tbl>
              <a:tblPr firstRow="1" bandRow="1">
                <a:tableStyleId>{2D5ABB26-0587-4C30-8999-92F81FD0307C}</a:tableStyleId>
              </a:tblPr>
              <a:tblGrid>
                <a:gridCol w="2729011">
                  <a:extLst>
                    <a:ext uri="{9D8B030D-6E8A-4147-A177-3AD203B41FA5}">
                      <a16:colId xmlns="" xmlns:a16="http://schemas.microsoft.com/office/drawing/2014/main" val="20000"/>
                    </a:ext>
                  </a:extLst>
                </a:gridCol>
                <a:gridCol w="4503740">
                  <a:extLst>
                    <a:ext uri="{9D8B030D-6E8A-4147-A177-3AD203B41FA5}">
                      <a16:colId xmlns="" xmlns:a16="http://schemas.microsoft.com/office/drawing/2014/main" val="20001"/>
                    </a:ext>
                  </a:extLst>
                </a:gridCol>
                <a:gridCol w="1756928">
                  <a:extLst>
                    <a:ext uri="{9D8B030D-6E8A-4147-A177-3AD203B41FA5}">
                      <a16:colId xmlns="" xmlns:a16="http://schemas.microsoft.com/office/drawing/2014/main" val="20002"/>
                    </a:ext>
                  </a:extLst>
                </a:gridCol>
              </a:tblGrid>
              <a:tr h="304250">
                <a:tc>
                  <a:txBody>
                    <a:bodyPr/>
                    <a:lstStyle/>
                    <a:p>
                      <a:pPr marL="0" algn="ctr" defTabSz="914034" rtl="0" eaLnBrk="1" latinLnBrk="0" hangingPunct="1"/>
                      <a:r>
                        <a:rPr lang="en-US" altLang="zh-CN" sz="1400" b="1" kern="1200" dirty="0">
                          <a:solidFill>
                            <a:schemeClr val="bg1"/>
                          </a:solidFill>
                          <a:latin typeface="+mn-lt"/>
                          <a:ea typeface="+mn-ea"/>
                          <a:cs typeface="Arial" pitchFamily="34" charset="0"/>
                        </a:rPr>
                        <a:t>Next Header</a:t>
                      </a:r>
                      <a:endParaRPr lang="zh-CN" altLang="en-US" sz="1400" b="1" kern="1200" dirty="0">
                        <a:solidFill>
                          <a:schemeClr val="bg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marL="0" algn="ctr" defTabSz="914034" rtl="0" eaLnBrk="1" latinLnBrk="0" hangingPunct="1"/>
                      <a:r>
                        <a:rPr lang="en-US" altLang="zh-CN" sz="1400" kern="1200" dirty="0">
                          <a:solidFill>
                            <a:schemeClr val="tx1"/>
                          </a:solidFill>
                          <a:latin typeface="+mn-lt"/>
                          <a:ea typeface="+mn-ea"/>
                          <a:cs typeface="Arial" pitchFamily="34" charset="0"/>
                        </a:rPr>
                        <a:t>Extension header Length</a:t>
                      </a:r>
                      <a:endParaRPr lang="zh-CN" altLang="en-US" sz="1400" kern="1200" dirty="0">
                        <a:solidFill>
                          <a:schemeClr val="tx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lang="zh-CN" altLang="en-US" sz="1200" dirty="0">
                        <a:latin typeface="+mj-lt"/>
                        <a:ea typeface="微软雅黑" pitchFamily="34" charset="-122"/>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0000"/>
                  </a:ext>
                </a:extLst>
              </a:tr>
              <a:tr h="304250">
                <a:tc gridSpan="3">
                  <a:txBody>
                    <a:bodyPr/>
                    <a:lstStyle/>
                    <a:p>
                      <a:pPr marL="0" algn="ctr" defTabSz="914034" rtl="0" eaLnBrk="1" latinLnBrk="0" hangingPunct="1"/>
                      <a:r>
                        <a:rPr lang="zh-CN" altLang="en-US" sz="1400" kern="1200" dirty="0">
                          <a:solidFill>
                            <a:schemeClr val="tx1"/>
                          </a:solidFill>
                          <a:latin typeface="+mn-lt"/>
                          <a:ea typeface="+mn-ea"/>
                          <a:cs typeface="Arial" pitchFamily="34" charset="0"/>
                        </a:rPr>
                        <a:t>扩展报头</a:t>
                      </a:r>
                      <a:r>
                        <a:rPr lang="en-US" altLang="zh-CN" sz="1400" kern="1200" dirty="0">
                          <a:solidFill>
                            <a:schemeClr val="tx1"/>
                          </a:solidFill>
                          <a:latin typeface="+mn-lt"/>
                          <a:ea typeface="+mn-ea"/>
                          <a:cs typeface="Arial" pitchFamily="34" charset="0"/>
                        </a:rPr>
                        <a:t>#1</a:t>
                      </a:r>
                      <a:r>
                        <a:rPr lang="zh-CN" altLang="en-US" sz="1400" kern="1200" dirty="0">
                          <a:solidFill>
                            <a:schemeClr val="tx1"/>
                          </a:solidFill>
                          <a:latin typeface="+mn-lt"/>
                          <a:ea typeface="+mn-ea"/>
                          <a:cs typeface="Arial" pitchFamily="34" charset="0"/>
                        </a:rPr>
                        <a:t>的数据</a:t>
                      </a:r>
                      <a:endParaRPr lang="en-US" altLang="zh-CN" sz="1400" kern="1200" dirty="0">
                        <a:solidFill>
                          <a:schemeClr val="tx1"/>
                        </a:solidFill>
                        <a:latin typeface="+mn-lt"/>
                        <a:ea typeface="+mn-ea"/>
                        <a:cs typeface="Arial" pitchFamily="34" charset="0"/>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1"/>
                  </a:ext>
                </a:extLst>
              </a:tr>
            </a:tbl>
          </a:graphicData>
        </a:graphic>
      </p:graphicFrame>
      <p:graphicFrame>
        <p:nvGraphicFramePr>
          <p:cNvPr id="24" name="表格 28"/>
          <p:cNvGraphicFramePr>
            <a:graphicFrameLocks noGrp="1"/>
          </p:cNvGraphicFramePr>
          <p:nvPr>
            <p:extLst>
              <p:ext uri="{D42A27DB-BD31-4B8C-83A1-F6EECF244321}">
                <p14:modId xmlns:p14="http://schemas.microsoft.com/office/powerpoint/2010/main" val="848472598"/>
              </p:ext>
            </p:extLst>
          </p:nvPr>
        </p:nvGraphicFramePr>
        <p:xfrm>
          <a:off x="1404387" y="3926683"/>
          <a:ext cx="8989677" cy="759796"/>
        </p:xfrm>
        <a:graphic>
          <a:graphicData uri="http://schemas.openxmlformats.org/drawingml/2006/table">
            <a:tbl>
              <a:tblPr firstRow="1" bandRow="1">
                <a:tableStyleId>{2D5ABB26-0587-4C30-8999-92F81FD0307C}</a:tableStyleId>
              </a:tblPr>
              <a:tblGrid>
                <a:gridCol w="8989677">
                  <a:extLst>
                    <a:ext uri="{9D8B030D-6E8A-4147-A177-3AD203B41FA5}">
                      <a16:colId xmlns="" xmlns:a16="http://schemas.microsoft.com/office/drawing/2014/main" val="20000"/>
                    </a:ext>
                  </a:extLst>
                </a:gridCol>
              </a:tblGrid>
              <a:tr h="759796">
                <a:tc>
                  <a:txBody>
                    <a:bodyPr/>
                    <a:lstStyle/>
                    <a:p>
                      <a:pPr marL="0" algn="ctr" defTabSz="914034" rtl="0" eaLnBrk="1" latinLnBrk="0" hangingPunct="1"/>
                      <a:r>
                        <a:rPr lang="zh-CN" altLang="en-US" sz="1400" kern="1200" dirty="0">
                          <a:solidFill>
                            <a:schemeClr val="tx1"/>
                          </a:solidFill>
                          <a:latin typeface="+mn-lt"/>
                          <a:ea typeface="+mn-ea"/>
                          <a:cs typeface="Arial" pitchFamily="34" charset="0"/>
                        </a:rPr>
                        <a:t> 载荷</a:t>
                      </a:r>
                      <a:endParaRPr lang="en-US" altLang="zh-CN" sz="1400" kern="1200" dirty="0">
                        <a:solidFill>
                          <a:schemeClr val="tx1"/>
                        </a:solidFill>
                        <a:latin typeface="+mn-lt"/>
                        <a:ea typeface="+mn-ea"/>
                        <a:cs typeface="Arial" pitchFamily="34" charset="0"/>
                      </a:endParaRPr>
                    </a:p>
                    <a:p>
                      <a:pPr marL="0" algn="ctr" defTabSz="914034" rtl="0" eaLnBrk="1" latinLnBrk="0" hangingPunct="1"/>
                      <a:r>
                        <a:rPr lang="zh-CN" altLang="en-US" sz="1400" kern="1200" dirty="0">
                          <a:solidFill>
                            <a:schemeClr val="tx1"/>
                          </a:solidFill>
                          <a:latin typeface="+mn-lt"/>
                          <a:ea typeface="+mn-ea"/>
                          <a:cs typeface="Arial" pitchFamily="34" charset="0"/>
                        </a:rPr>
                        <a:t>（例如</a:t>
                      </a:r>
                      <a:r>
                        <a:rPr lang="en-US" altLang="zh-CN" sz="1400" kern="1200" dirty="0">
                          <a:solidFill>
                            <a:schemeClr val="tx1"/>
                          </a:solidFill>
                          <a:latin typeface="+mn-lt"/>
                          <a:ea typeface="+mn-ea"/>
                          <a:cs typeface="Arial" pitchFamily="34" charset="0"/>
                        </a:rPr>
                        <a:t>TCP/UDP</a:t>
                      </a:r>
                      <a:r>
                        <a:rPr lang="zh-CN" altLang="en-US" sz="1400" kern="1200" dirty="0">
                          <a:solidFill>
                            <a:schemeClr val="tx1"/>
                          </a:solidFill>
                          <a:latin typeface="+mn-lt"/>
                          <a:ea typeface="+mn-ea"/>
                          <a:cs typeface="Arial" pitchFamily="34" charset="0"/>
                        </a:rPr>
                        <a:t>报文等）</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0000"/>
                  </a:ext>
                </a:extLst>
              </a:tr>
            </a:tbl>
          </a:graphicData>
        </a:graphic>
      </p:graphicFrame>
      <p:cxnSp>
        <p:nvCxnSpPr>
          <p:cNvPr id="25" name="直接连接符 29"/>
          <p:cNvCxnSpPr/>
          <p:nvPr/>
        </p:nvCxnSpPr>
        <p:spPr bwMode="gray">
          <a:xfrm flipH="1">
            <a:off x="2809567" y="1577438"/>
            <a:ext cx="3232418" cy="810373"/>
          </a:xfrm>
          <a:prstGeom prst="line">
            <a:avLst/>
          </a:prstGeom>
          <a:ln w="28575">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接连接符 30"/>
          <p:cNvCxnSpPr/>
          <p:nvPr/>
        </p:nvCxnSpPr>
        <p:spPr bwMode="gray">
          <a:xfrm>
            <a:off x="10562398" y="1194707"/>
            <a:ext cx="19638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31"/>
          <p:cNvCxnSpPr/>
          <p:nvPr/>
        </p:nvCxnSpPr>
        <p:spPr bwMode="gray">
          <a:xfrm>
            <a:off x="10562398" y="2333219"/>
            <a:ext cx="19638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箭头连接符 32"/>
          <p:cNvCxnSpPr/>
          <p:nvPr/>
        </p:nvCxnSpPr>
        <p:spPr bwMode="gray">
          <a:xfrm>
            <a:off x="10660590" y="1194707"/>
            <a:ext cx="0" cy="1126937"/>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33"/>
          <p:cNvCxnSpPr/>
          <p:nvPr/>
        </p:nvCxnSpPr>
        <p:spPr bwMode="gray">
          <a:xfrm>
            <a:off x="10562735" y="2416435"/>
            <a:ext cx="19638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34"/>
          <p:cNvCxnSpPr/>
          <p:nvPr/>
        </p:nvCxnSpPr>
        <p:spPr bwMode="gray">
          <a:xfrm>
            <a:off x="10562735" y="3111704"/>
            <a:ext cx="19638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5"/>
          <p:cNvCxnSpPr/>
          <p:nvPr/>
        </p:nvCxnSpPr>
        <p:spPr bwMode="gray">
          <a:xfrm>
            <a:off x="10660590" y="2425766"/>
            <a:ext cx="0" cy="584364"/>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矩形 36"/>
          <p:cNvSpPr/>
          <p:nvPr/>
        </p:nvSpPr>
        <p:spPr bwMode="gray">
          <a:xfrm>
            <a:off x="10651083" y="1591389"/>
            <a:ext cx="737702" cy="276999"/>
          </a:xfrm>
          <a:prstGeom prst="rect">
            <a:avLst/>
          </a:prstGeom>
        </p:spPr>
        <p:txBody>
          <a:bodyPr wrap="none">
            <a:spAutoFit/>
          </a:bodyPr>
          <a:lstStyle/>
          <a:p>
            <a:r>
              <a:rPr lang="en-US" altLang="zh-CN" sz="1200" b="1" dirty="0" smtClean="0"/>
              <a:t>40 Byte</a:t>
            </a:r>
            <a:endParaRPr lang="zh-CN" altLang="en-US" sz="1200" b="1" dirty="0"/>
          </a:p>
        </p:txBody>
      </p:sp>
      <p:sp>
        <p:nvSpPr>
          <p:cNvPr id="33" name="矩形 37"/>
          <p:cNvSpPr/>
          <p:nvPr/>
        </p:nvSpPr>
        <p:spPr bwMode="gray">
          <a:xfrm>
            <a:off x="10660590" y="2568557"/>
            <a:ext cx="646331" cy="276999"/>
          </a:xfrm>
          <a:prstGeom prst="rect">
            <a:avLst/>
          </a:prstGeom>
        </p:spPr>
        <p:txBody>
          <a:bodyPr wrap="none">
            <a:spAutoFit/>
          </a:bodyPr>
          <a:lstStyle/>
          <a:p>
            <a:r>
              <a:rPr lang="zh-CN" altLang="en-US" sz="1200" b="1" dirty="0"/>
              <a:t>可变长</a:t>
            </a:r>
          </a:p>
        </p:txBody>
      </p:sp>
      <p:graphicFrame>
        <p:nvGraphicFramePr>
          <p:cNvPr id="34" name="表格 33"/>
          <p:cNvGraphicFramePr>
            <a:graphicFrameLocks noGrp="1"/>
          </p:cNvGraphicFramePr>
          <p:nvPr>
            <p:extLst>
              <p:ext uri="{D42A27DB-BD31-4B8C-83A1-F6EECF244321}">
                <p14:modId xmlns:p14="http://schemas.microsoft.com/office/powerpoint/2010/main" val="1095484926"/>
              </p:ext>
            </p:extLst>
          </p:nvPr>
        </p:nvGraphicFramePr>
        <p:xfrm>
          <a:off x="1391072" y="3089641"/>
          <a:ext cx="9002993" cy="738490"/>
        </p:xfrm>
        <a:graphic>
          <a:graphicData uri="http://schemas.openxmlformats.org/drawingml/2006/table">
            <a:tbl>
              <a:tblPr firstRow="1" bandRow="1">
                <a:tableStyleId>{2D5ABB26-0587-4C30-8999-92F81FD0307C}</a:tableStyleId>
              </a:tblPr>
              <a:tblGrid>
                <a:gridCol w="2733051">
                  <a:extLst>
                    <a:ext uri="{9D8B030D-6E8A-4147-A177-3AD203B41FA5}">
                      <a16:colId xmlns="" xmlns:a16="http://schemas.microsoft.com/office/drawing/2014/main" val="20000"/>
                    </a:ext>
                  </a:extLst>
                </a:gridCol>
                <a:gridCol w="4510412">
                  <a:extLst>
                    <a:ext uri="{9D8B030D-6E8A-4147-A177-3AD203B41FA5}">
                      <a16:colId xmlns="" xmlns:a16="http://schemas.microsoft.com/office/drawing/2014/main" val="20001"/>
                    </a:ext>
                  </a:extLst>
                </a:gridCol>
                <a:gridCol w="1759530">
                  <a:extLst>
                    <a:ext uri="{9D8B030D-6E8A-4147-A177-3AD203B41FA5}">
                      <a16:colId xmlns="" xmlns:a16="http://schemas.microsoft.com/office/drawing/2014/main" val="20002"/>
                    </a:ext>
                  </a:extLst>
                </a:gridCol>
              </a:tblGrid>
              <a:tr h="369245">
                <a:tc>
                  <a:txBody>
                    <a:bodyPr/>
                    <a:lstStyle/>
                    <a:p>
                      <a:pPr marL="0" algn="ctr" defTabSz="914034" rtl="0" eaLnBrk="1" latinLnBrk="0" hangingPunct="1"/>
                      <a:r>
                        <a:rPr lang="en-US" altLang="zh-CN" sz="1400" b="1" kern="1200" dirty="0">
                          <a:solidFill>
                            <a:schemeClr val="bg1"/>
                          </a:solidFill>
                          <a:latin typeface="+mn-lt"/>
                          <a:ea typeface="+mn-ea"/>
                          <a:cs typeface="Arial" pitchFamily="34" charset="0"/>
                        </a:rPr>
                        <a:t>Next Header</a:t>
                      </a:r>
                      <a:endParaRPr lang="zh-CN" altLang="en-US" sz="1400" b="1" kern="1200" dirty="0">
                        <a:solidFill>
                          <a:schemeClr val="bg1"/>
                        </a:solidFill>
                        <a:latin typeface="+mn-lt"/>
                        <a:ea typeface="+mn-ea"/>
                        <a:cs typeface="Arial"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marL="0" algn="ctr" defTabSz="914034" rtl="0" eaLnBrk="1" latinLnBrk="0" hangingPunct="1"/>
                      <a:r>
                        <a:rPr lang="en-US" altLang="zh-CN" sz="1400" kern="1200" dirty="0">
                          <a:solidFill>
                            <a:schemeClr val="tx1"/>
                          </a:solidFill>
                          <a:latin typeface="+mn-lt"/>
                          <a:ea typeface="+mn-ea"/>
                          <a:cs typeface="Arial" pitchFamily="34" charset="0"/>
                        </a:rPr>
                        <a:t>Extension header Length</a:t>
                      </a:r>
                      <a:endParaRPr lang="zh-CN" altLang="en-US" sz="1400" kern="1200" dirty="0">
                        <a:solidFill>
                          <a:schemeClr val="tx1"/>
                        </a:solidFill>
                        <a:latin typeface="+mn-lt"/>
                        <a:ea typeface="+mn-ea"/>
                        <a:cs typeface="Arial"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a:endParaRPr lang="zh-CN" altLang="en-US" sz="1200" dirty="0">
                        <a:latin typeface="+mj-lt"/>
                        <a:ea typeface="微软雅黑" pitchFamily="34" charset="-122"/>
                        <a:cs typeface="Arial"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0000"/>
                  </a:ext>
                </a:extLst>
              </a:tr>
              <a:tr h="369245">
                <a:tc gridSpan="3">
                  <a:txBody>
                    <a:bodyPr/>
                    <a:lstStyle/>
                    <a:p>
                      <a:pPr marL="0" algn="ctr" defTabSz="914034" rtl="0" eaLnBrk="1" latinLnBrk="0" hangingPunct="1"/>
                      <a:r>
                        <a:rPr lang="zh-CN" altLang="en-US" sz="1400" kern="1200" dirty="0">
                          <a:solidFill>
                            <a:schemeClr val="tx1"/>
                          </a:solidFill>
                          <a:latin typeface="+mn-lt"/>
                          <a:ea typeface="+mn-ea"/>
                          <a:cs typeface="Arial" pitchFamily="34" charset="0"/>
                        </a:rPr>
                        <a:t>扩展报头</a:t>
                      </a:r>
                      <a:r>
                        <a:rPr lang="en-US" altLang="zh-CN" sz="1400" kern="1200" dirty="0">
                          <a:solidFill>
                            <a:schemeClr val="tx1"/>
                          </a:solidFill>
                          <a:latin typeface="+mn-lt"/>
                          <a:ea typeface="+mn-ea"/>
                          <a:cs typeface="Arial" pitchFamily="34" charset="0"/>
                        </a:rPr>
                        <a:t>#2</a:t>
                      </a:r>
                      <a:r>
                        <a:rPr lang="zh-CN" altLang="en-US" sz="1400" kern="1200" dirty="0">
                          <a:solidFill>
                            <a:schemeClr val="tx1"/>
                          </a:solidFill>
                          <a:latin typeface="+mn-lt"/>
                          <a:ea typeface="+mn-ea"/>
                          <a:cs typeface="Arial" pitchFamily="34" charset="0"/>
                        </a:rPr>
                        <a:t>的数据</a:t>
                      </a:r>
                      <a:endParaRPr lang="en-US" altLang="zh-CN" sz="1400" kern="1200" dirty="0">
                        <a:solidFill>
                          <a:schemeClr val="tx1"/>
                        </a:solidFill>
                        <a:latin typeface="+mn-lt"/>
                        <a:ea typeface="+mn-ea"/>
                        <a:cs typeface="Arial"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9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0001"/>
                  </a:ext>
                </a:extLst>
              </a:tr>
            </a:tbl>
          </a:graphicData>
        </a:graphic>
      </p:graphicFrame>
      <p:sp>
        <p:nvSpPr>
          <p:cNvPr id="35" name="弧形 38"/>
          <p:cNvSpPr/>
          <p:nvPr/>
        </p:nvSpPr>
        <p:spPr bwMode="gray">
          <a:xfrm>
            <a:off x="838672" y="3363021"/>
            <a:ext cx="1033239" cy="827160"/>
          </a:xfrm>
          <a:prstGeom prst="arc">
            <a:avLst>
              <a:gd name="adj1" fmla="val 5001726"/>
              <a:gd name="adj2" fmla="val 16277986"/>
            </a:avLst>
          </a:prstGeom>
          <a:ln w="28575">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6" name="直接连接符 33"/>
          <p:cNvCxnSpPr/>
          <p:nvPr/>
        </p:nvCxnSpPr>
        <p:spPr bwMode="gray">
          <a:xfrm>
            <a:off x="10562398" y="3039855"/>
            <a:ext cx="19638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4"/>
          <p:cNvCxnSpPr/>
          <p:nvPr/>
        </p:nvCxnSpPr>
        <p:spPr bwMode="gray">
          <a:xfrm>
            <a:off x="10552891" y="3859608"/>
            <a:ext cx="19638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箭头连接符 35"/>
          <p:cNvCxnSpPr/>
          <p:nvPr/>
        </p:nvCxnSpPr>
        <p:spPr bwMode="gray">
          <a:xfrm>
            <a:off x="10660590" y="3109193"/>
            <a:ext cx="0" cy="71893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弧形 38"/>
          <p:cNvSpPr/>
          <p:nvPr/>
        </p:nvSpPr>
        <p:spPr bwMode="gray">
          <a:xfrm>
            <a:off x="838671" y="2439722"/>
            <a:ext cx="1033239" cy="827160"/>
          </a:xfrm>
          <a:prstGeom prst="arc">
            <a:avLst>
              <a:gd name="adj1" fmla="val 5001726"/>
              <a:gd name="adj2" fmla="val 16277986"/>
            </a:avLst>
          </a:prstGeom>
          <a:ln w="28575">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矩形 37"/>
          <p:cNvSpPr/>
          <p:nvPr/>
        </p:nvSpPr>
        <p:spPr bwMode="gray">
          <a:xfrm>
            <a:off x="10660590" y="3332464"/>
            <a:ext cx="646331" cy="276999"/>
          </a:xfrm>
          <a:prstGeom prst="rect">
            <a:avLst/>
          </a:prstGeom>
        </p:spPr>
        <p:txBody>
          <a:bodyPr wrap="none">
            <a:spAutoFit/>
          </a:bodyPr>
          <a:lstStyle/>
          <a:p>
            <a:r>
              <a:rPr lang="zh-CN" altLang="en-US" sz="1200" b="1" dirty="0"/>
              <a:t>可变长</a:t>
            </a:r>
          </a:p>
        </p:txBody>
      </p:sp>
      <p:sp>
        <p:nvSpPr>
          <p:cNvPr id="42" name="矩形 41"/>
          <p:cNvSpPr/>
          <p:nvPr/>
        </p:nvSpPr>
        <p:spPr bwMode="gray">
          <a:xfrm>
            <a:off x="1391072" y="4987619"/>
            <a:ext cx="9100453" cy="1220847"/>
          </a:xfrm>
          <a:prstGeom prst="rect">
            <a:avLst/>
          </a:prstGeom>
        </p:spPr>
        <p:txBody>
          <a:bodyPr wrap="square">
            <a:spAutoFit/>
          </a:bodyPr>
          <a:lstStyle/>
          <a:p>
            <a:pPr marL="177800" indent="-177800" algn="just">
              <a:lnSpc>
                <a:spcPts val="2200"/>
              </a:lnSpc>
              <a:buFont typeface="Arial" panose="020B0604020202020204" pitchFamily="34" charset="0"/>
              <a:buChar char="•"/>
            </a:pPr>
            <a:r>
              <a:rPr lang="en-US" altLang="zh-CN" sz="1400" b="1" dirty="0"/>
              <a:t>Next Header</a:t>
            </a:r>
            <a:r>
              <a:rPr lang="zh-CN" altLang="en-US" sz="1400" b="1" dirty="0"/>
              <a:t>：</a:t>
            </a:r>
            <a:r>
              <a:rPr lang="zh-CN" altLang="en-US" sz="1400" dirty="0"/>
              <a:t>下一报头，长度为</a:t>
            </a:r>
            <a:r>
              <a:rPr lang="en-US" altLang="zh-CN" sz="1400" dirty="0" smtClean="0"/>
              <a:t>8 bit</a:t>
            </a:r>
            <a:r>
              <a:rPr lang="zh-CN" altLang="en-US" sz="1400" dirty="0"/>
              <a:t>。与基本报头的</a:t>
            </a:r>
            <a:r>
              <a:rPr lang="en-US" altLang="zh-CN" sz="1400" dirty="0"/>
              <a:t>Next Header</a:t>
            </a:r>
            <a:r>
              <a:rPr lang="zh-CN" altLang="en-US" sz="1400" dirty="0"/>
              <a:t>的作用相同。指明下一个扩展报头（如果存在）或上层协议的类型。</a:t>
            </a:r>
          </a:p>
          <a:p>
            <a:pPr marL="177800" indent="-177800" algn="just">
              <a:lnSpc>
                <a:spcPts val="2200"/>
              </a:lnSpc>
              <a:buFont typeface="Arial" panose="020B0604020202020204" pitchFamily="34" charset="0"/>
              <a:buChar char="•"/>
            </a:pPr>
            <a:r>
              <a:rPr lang="en-US" altLang="zh-CN" sz="1400" b="1" dirty="0"/>
              <a:t>Extension Header Length</a:t>
            </a:r>
            <a:r>
              <a:rPr lang="zh-CN" altLang="en-US" sz="1400" b="1" dirty="0"/>
              <a:t>：</a:t>
            </a:r>
            <a:r>
              <a:rPr lang="zh-CN" altLang="en-US" sz="1400" dirty="0"/>
              <a:t>报头扩展长度，长度为</a:t>
            </a:r>
            <a:r>
              <a:rPr lang="en-US" altLang="zh-CN" sz="1400" dirty="0" smtClean="0"/>
              <a:t>8 bit</a:t>
            </a:r>
            <a:r>
              <a:rPr lang="zh-CN" altLang="en-US" sz="1400" dirty="0"/>
              <a:t>。表示扩展报头的长度（不包含</a:t>
            </a:r>
            <a:r>
              <a:rPr lang="en-US" altLang="zh-CN" sz="1400" dirty="0"/>
              <a:t>Next Header</a:t>
            </a:r>
            <a:r>
              <a:rPr lang="zh-CN" altLang="en-US" sz="1400" dirty="0"/>
              <a:t>字段）。</a:t>
            </a:r>
          </a:p>
          <a:p>
            <a:pPr marL="177800" indent="-177800" algn="just">
              <a:lnSpc>
                <a:spcPts val="2200"/>
              </a:lnSpc>
              <a:buFont typeface="Arial" panose="020B0604020202020204" pitchFamily="34" charset="0"/>
              <a:buChar char="•"/>
            </a:pPr>
            <a:r>
              <a:rPr lang="en-US" altLang="zh-CN" sz="1400" b="1" dirty="0"/>
              <a:t>Extension Header Data</a:t>
            </a:r>
            <a:r>
              <a:rPr lang="zh-CN" altLang="en-US" sz="1400" b="1" dirty="0"/>
              <a:t>：</a:t>
            </a:r>
            <a:r>
              <a:rPr lang="zh-CN" altLang="en-US" sz="1400" dirty="0"/>
              <a:t>扩展报头数据，长度可变。扩展报头的内容，为一系列选项字段和填充字段的组合。</a:t>
            </a:r>
          </a:p>
        </p:txBody>
      </p:sp>
    </p:spTree>
    <p:extLst>
      <p:ext uri="{BB962C8B-B14F-4D97-AF65-F5344CB8AC3E}">
        <p14:creationId xmlns:p14="http://schemas.microsoft.com/office/powerpoint/2010/main" val="19165411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t>IPv6</a:t>
            </a:r>
            <a:r>
              <a:rPr lang="zh-CN" altLang="en-US" dirty="0" smtClean="0"/>
              <a:t>基础回顾：</a:t>
            </a:r>
            <a:r>
              <a:rPr lang="en-US" altLang="zh-CN" dirty="0" smtClean="0"/>
              <a:t>IPv6</a:t>
            </a:r>
            <a:r>
              <a:rPr lang="zh-CN" altLang="en-US" dirty="0" smtClean="0"/>
              <a:t>地址</a:t>
            </a:r>
            <a:endParaRPr lang="zh-CN" altLang="en-US" dirty="0"/>
          </a:p>
        </p:txBody>
      </p:sp>
      <p:sp>
        <p:nvSpPr>
          <p:cNvPr id="3" name="文本占位符 2"/>
          <p:cNvSpPr>
            <a:spLocks noGrp="1"/>
          </p:cNvSpPr>
          <p:nvPr>
            <p:ph type="body" sz="quarter" idx="10"/>
          </p:nvPr>
        </p:nvSpPr>
        <p:spPr bwMode="gray">
          <a:xfrm>
            <a:off x="455612" y="1047750"/>
            <a:ext cx="11293475" cy="436563"/>
          </a:xfrm>
        </p:spPr>
        <p:txBody>
          <a:bodyPr/>
          <a:lstStyle/>
          <a:p>
            <a:r>
              <a:rPr lang="en-US" altLang="zh-CN" sz="1800" dirty="0" smtClean="0"/>
              <a:t>IPv6</a:t>
            </a:r>
            <a:r>
              <a:rPr lang="zh-CN" altLang="en-US" sz="1800" dirty="0" smtClean="0"/>
              <a:t>地址的长度为</a:t>
            </a:r>
            <a:r>
              <a:rPr lang="en-US" altLang="zh-CN" sz="1800" dirty="0" smtClean="0"/>
              <a:t>128 bit</a:t>
            </a:r>
            <a:r>
              <a:rPr lang="zh-CN" altLang="en-US" sz="1800" dirty="0" smtClean="0"/>
              <a:t>。一般用冒号分割为</a:t>
            </a:r>
            <a:r>
              <a:rPr lang="en-US" altLang="zh-CN" sz="1800" dirty="0" smtClean="0"/>
              <a:t>8</a:t>
            </a:r>
            <a:r>
              <a:rPr lang="zh-CN" altLang="en-US" sz="1800" dirty="0" smtClean="0"/>
              <a:t>段，每一段</a:t>
            </a:r>
            <a:r>
              <a:rPr lang="en-US" altLang="zh-CN" sz="1800" dirty="0" smtClean="0"/>
              <a:t>16 bit</a:t>
            </a:r>
            <a:r>
              <a:rPr lang="zh-CN" altLang="en-US" sz="1800" dirty="0" smtClean="0"/>
              <a:t>，每一段内用十六进制表示。</a:t>
            </a:r>
          </a:p>
          <a:p>
            <a:endParaRPr lang="zh-CN" altLang="en-US" sz="2000" dirty="0"/>
          </a:p>
        </p:txBody>
      </p:sp>
      <p:sp>
        <p:nvSpPr>
          <p:cNvPr id="6" name="圆角矩形 75"/>
          <p:cNvSpPr/>
          <p:nvPr/>
        </p:nvSpPr>
        <p:spPr bwMode="gray">
          <a:xfrm>
            <a:off x="838199" y="1531938"/>
            <a:ext cx="518160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地址格式</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838199" y="1978231"/>
            <a:ext cx="5181601" cy="3679619"/>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X:X:X:X:X:X:X:X</a:t>
            </a:r>
          </a:p>
          <a:p>
            <a:pPr marL="360000" indent="-180000" defTabSz="914400">
              <a:lnSpc>
                <a:spcPct val="150000"/>
              </a:lnSpc>
              <a:buFont typeface="Huawei Sans" panose="020C0503030203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128</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位的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地址被分为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8</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组，每组的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位用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个十六进制字符（</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9</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）来表示，组和组之间用冒号（</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）隔开。其中每个“</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”代表</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一组十六进制数值</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为了</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书写方便，每组中的前导“</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”都</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可以省略，地址中包含的连续两个或多个均为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的组，可以用双冒号“</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”来代替。</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比如地址：</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2031:0000:130F:0000:0000:09C0:876A:130B</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，可</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写为</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2031:0:130F::9C0:876A:130B</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defTabSz="914400">
              <a:lnSpc>
                <a:spcPct val="150000"/>
              </a:lnSpc>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地址结构：网络前缀</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接口标识</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网络前缀：</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比特，相当于</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地址中的网络</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标识：</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128-n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比特，相当于</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地址中的主机</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p:cNvSpPr/>
          <p:nvPr/>
        </p:nvSpPr>
        <p:spPr bwMode="gray">
          <a:xfrm>
            <a:off x="6124575" y="1531938"/>
            <a:ext cx="518160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地址分类</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75"/>
          <p:cNvSpPr/>
          <p:nvPr/>
        </p:nvSpPr>
        <p:spPr bwMode="gray">
          <a:xfrm>
            <a:off x="6124575" y="1978231"/>
            <a:ext cx="5181601" cy="3679619"/>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单播地址（</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Unicast</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全球单播</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地址：相当于</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公网地址。</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唯一本地</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地址：相当于</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私网地址，网络前缀是</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FC00</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7</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lvl="0" indent="-180000" defTabSz="914400">
              <a:lnSpc>
                <a:spcPct val="150000"/>
              </a:lnSpc>
              <a:buFont typeface="Huawei Sans" panose="020C0503030203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链路本地地址：有效范围为本地链路，网络前缀是</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FE80::/10</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任</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播</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kern="0" dirty="0" err="1"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Anycast</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组播地址（</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Multicast</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794233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IPv6</a:t>
            </a:r>
            <a:r>
              <a:rPr lang="zh-CN" altLang="en-US" dirty="0"/>
              <a:t>基础回顾</a:t>
            </a:r>
            <a:r>
              <a:rPr lang="zh-CN" altLang="en-US" dirty="0" smtClean="0"/>
              <a:t>：</a:t>
            </a:r>
            <a:r>
              <a:rPr lang="en-US" altLang="zh-CN" dirty="0" smtClean="0"/>
              <a:t>IPv6</a:t>
            </a:r>
            <a:r>
              <a:rPr lang="zh-CN" altLang="en-US" dirty="0" smtClean="0"/>
              <a:t>单播地址业务流程</a:t>
            </a:r>
            <a:endParaRPr lang="zh-CN" altLang="en-US" dirty="0"/>
          </a:p>
        </p:txBody>
      </p:sp>
      <p:sp>
        <p:nvSpPr>
          <p:cNvPr id="3" name="文本占位符 2"/>
          <p:cNvSpPr>
            <a:spLocks noGrp="1"/>
          </p:cNvSpPr>
          <p:nvPr>
            <p:ph type="body" sz="quarter" idx="10"/>
          </p:nvPr>
        </p:nvSpPr>
        <p:spPr bwMode="gray">
          <a:xfrm>
            <a:off x="455612" y="1047751"/>
            <a:ext cx="11293475" cy="778943"/>
          </a:xfrm>
        </p:spPr>
        <p:txBody>
          <a:bodyPr/>
          <a:lstStyle/>
          <a:p>
            <a:r>
              <a:rPr lang="zh-CN" altLang="en-US" sz="1800" dirty="0" smtClean="0"/>
              <a:t>一个接口在发送</a:t>
            </a:r>
            <a:r>
              <a:rPr lang="en-US" altLang="zh-CN" sz="1800" dirty="0" smtClean="0"/>
              <a:t>IPv6</a:t>
            </a:r>
            <a:r>
              <a:rPr lang="zh-CN" altLang="en-US" sz="1800" dirty="0" smtClean="0"/>
              <a:t>报文之前要经历地址配置、</a:t>
            </a:r>
            <a:r>
              <a:rPr lang="en-US" altLang="zh-CN" sz="1800" dirty="0" smtClean="0"/>
              <a:t>DAD</a:t>
            </a:r>
            <a:r>
              <a:rPr lang="zh-CN" altLang="en-US" sz="1800" dirty="0" smtClean="0"/>
              <a:t>、地址解析这三个阶段，其中</a:t>
            </a:r>
            <a:r>
              <a:rPr lang="en-US" altLang="zh-CN" sz="1800" dirty="0" smtClean="0"/>
              <a:t>NDP</a:t>
            </a:r>
            <a:r>
              <a:rPr lang="zh-CN" altLang="en-US" sz="1800" dirty="0" smtClean="0"/>
              <a:t>（</a:t>
            </a:r>
            <a:r>
              <a:rPr lang="en-US" altLang="zh-CN" sz="1800" dirty="0" smtClean="0"/>
              <a:t>Neighbor Discovery Protocol</a:t>
            </a:r>
            <a:r>
              <a:rPr lang="zh-CN" altLang="en-US" sz="1800" dirty="0" smtClean="0"/>
              <a:t>，邻居发现协议）在整个流程中扮演了重要角色。</a:t>
            </a:r>
          </a:p>
        </p:txBody>
      </p:sp>
      <p:sp>
        <p:nvSpPr>
          <p:cNvPr id="6" name="矩形标注 14"/>
          <p:cNvSpPr/>
          <p:nvPr/>
        </p:nvSpPr>
        <p:spPr bwMode="gray">
          <a:xfrm>
            <a:off x="7716232" y="1949268"/>
            <a:ext cx="3205111" cy="1251832"/>
          </a:xfrm>
          <a:custGeom>
            <a:avLst/>
            <a:gdLst>
              <a:gd name="connsiteX0" fmla="*/ 0 w 3648070"/>
              <a:gd name="connsiteY0" fmla="*/ 0 h 1219755"/>
              <a:gd name="connsiteX1" fmla="*/ 608012 w 3648070"/>
              <a:gd name="connsiteY1" fmla="*/ 0 h 1219755"/>
              <a:gd name="connsiteX2" fmla="*/ 608012 w 3648070"/>
              <a:gd name="connsiteY2" fmla="*/ 0 h 1219755"/>
              <a:gd name="connsiteX3" fmla="*/ 1520029 w 3648070"/>
              <a:gd name="connsiteY3" fmla="*/ 0 h 1219755"/>
              <a:gd name="connsiteX4" fmla="*/ 3648070 w 3648070"/>
              <a:gd name="connsiteY4" fmla="*/ 0 h 1219755"/>
              <a:gd name="connsiteX5" fmla="*/ 3648070 w 3648070"/>
              <a:gd name="connsiteY5" fmla="*/ 711524 h 1219755"/>
              <a:gd name="connsiteX6" fmla="*/ 3648070 w 3648070"/>
              <a:gd name="connsiteY6" fmla="*/ 711524 h 1219755"/>
              <a:gd name="connsiteX7" fmla="*/ 3648070 w 3648070"/>
              <a:gd name="connsiteY7" fmla="*/ 1016463 h 1219755"/>
              <a:gd name="connsiteX8" fmla="*/ 3648070 w 3648070"/>
              <a:gd name="connsiteY8" fmla="*/ 1219755 h 1219755"/>
              <a:gd name="connsiteX9" fmla="*/ 1520029 w 3648070"/>
              <a:gd name="connsiteY9" fmla="*/ 1219755 h 1219755"/>
              <a:gd name="connsiteX10" fmla="*/ 1630104 w 3648070"/>
              <a:gd name="connsiteY10" fmla="*/ 1372237 h 1219755"/>
              <a:gd name="connsiteX11" fmla="*/ 608012 w 3648070"/>
              <a:gd name="connsiteY11" fmla="*/ 1219755 h 1219755"/>
              <a:gd name="connsiteX12" fmla="*/ 0 w 3648070"/>
              <a:gd name="connsiteY12" fmla="*/ 1219755 h 1219755"/>
              <a:gd name="connsiteX13" fmla="*/ 0 w 3648070"/>
              <a:gd name="connsiteY13" fmla="*/ 1016463 h 1219755"/>
              <a:gd name="connsiteX14" fmla="*/ 0 w 3648070"/>
              <a:gd name="connsiteY14" fmla="*/ 711524 h 1219755"/>
              <a:gd name="connsiteX15" fmla="*/ 0 w 3648070"/>
              <a:gd name="connsiteY15" fmla="*/ 711524 h 1219755"/>
              <a:gd name="connsiteX16" fmla="*/ 0 w 3648070"/>
              <a:gd name="connsiteY16" fmla="*/ 0 h 1219755"/>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520029 w 3648070"/>
              <a:gd name="connsiteY9" fmla="*/ 1219755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882886 w 3648070"/>
              <a:gd name="connsiteY9" fmla="*/ 1219755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716199 w 3648070"/>
              <a:gd name="connsiteY9" fmla="*/ 1214992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716199 w 3648070"/>
              <a:gd name="connsiteY9" fmla="*/ 1214992 h 1372237"/>
              <a:gd name="connsiteX10" fmla="*/ 1630104 w 3648070"/>
              <a:gd name="connsiteY10" fmla="*/ 1372237 h 1372237"/>
              <a:gd name="connsiteX11" fmla="*/ 1347107 w 3648070"/>
              <a:gd name="connsiteY11" fmla="*/ 1224518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48070" h="1372237">
                <a:moveTo>
                  <a:pt x="0" y="0"/>
                </a:moveTo>
                <a:lnTo>
                  <a:pt x="608012" y="0"/>
                </a:lnTo>
                <a:lnTo>
                  <a:pt x="608012" y="0"/>
                </a:lnTo>
                <a:lnTo>
                  <a:pt x="1520029" y="0"/>
                </a:lnTo>
                <a:lnTo>
                  <a:pt x="3648070" y="0"/>
                </a:lnTo>
                <a:lnTo>
                  <a:pt x="3648070" y="711524"/>
                </a:lnTo>
                <a:lnTo>
                  <a:pt x="3648070" y="711524"/>
                </a:lnTo>
                <a:lnTo>
                  <a:pt x="3648070" y="1016463"/>
                </a:lnTo>
                <a:lnTo>
                  <a:pt x="3648070" y="1219755"/>
                </a:lnTo>
                <a:lnTo>
                  <a:pt x="1716199" y="1214992"/>
                </a:lnTo>
                <a:lnTo>
                  <a:pt x="1630104" y="1372237"/>
                </a:lnTo>
                <a:lnTo>
                  <a:pt x="1347107" y="1224518"/>
                </a:lnTo>
                <a:lnTo>
                  <a:pt x="0" y="1219755"/>
                </a:lnTo>
                <a:lnTo>
                  <a:pt x="0" y="1016463"/>
                </a:lnTo>
                <a:lnTo>
                  <a:pt x="0" y="711524"/>
                </a:lnTo>
                <a:lnTo>
                  <a:pt x="0" y="711524"/>
                </a:lnTo>
                <a:lnTo>
                  <a:pt x="0" y="0"/>
                </a:lnTo>
                <a:close/>
              </a:path>
            </a:pathLst>
          </a:cu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200" kern="0">
              <a:solidFill>
                <a:srgbClr val="1D1D1A"/>
              </a:solidFill>
              <a:latin typeface="Huawei Sans" panose="020C0503030203020204" pitchFamily="34" charset="0"/>
              <a:ea typeface="方正兰亭黑简体" panose="02000000000000000000" pitchFamily="2" charset="-122"/>
            </a:endParaRPr>
          </a:p>
        </p:txBody>
      </p:sp>
      <p:sp>
        <p:nvSpPr>
          <p:cNvPr id="7" name="矩形标注 14"/>
          <p:cNvSpPr/>
          <p:nvPr/>
        </p:nvSpPr>
        <p:spPr bwMode="gray">
          <a:xfrm>
            <a:off x="3889851" y="1957593"/>
            <a:ext cx="3612645" cy="1243507"/>
          </a:xfrm>
          <a:custGeom>
            <a:avLst/>
            <a:gdLst>
              <a:gd name="connsiteX0" fmla="*/ 0 w 3648070"/>
              <a:gd name="connsiteY0" fmla="*/ 0 h 1219755"/>
              <a:gd name="connsiteX1" fmla="*/ 608012 w 3648070"/>
              <a:gd name="connsiteY1" fmla="*/ 0 h 1219755"/>
              <a:gd name="connsiteX2" fmla="*/ 608012 w 3648070"/>
              <a:gd name="connsiteY2" fmla="*/ 0 h 1219755"/>
              <a:gd name="connsiteX3" fmla="*/ 1520029 w 3648070"/>
              <a:gd name="connsiteY3" fmla="*/ 0 h 1219755"/>
              <a:gd name="connsiteX4" fmla="*/ 3648070 w 3648070"/>
              <a:gd name="connsiteY4" fmla="*/ 0 h 1219755"/>
              <a:gd name="connsiteX5" fmla="*/ 3648070 w 3648070"/>
              <a:gd name="connsiteY5" fmla="*/ 711524 h 1219755"/>
              <a:gd name="connsiteX6" fmla="*/ 3648070 w 3648070"/>
              <a:gd name="connsiteY6" fmla="*/ 711524 h 1219755"/>
              <a:gd name="connsiteX7" fmla="*/ 3648070 w 3648070"/>
              <a:gd name="connsiteY7" fmla="*/ 1016463 h 1219755"/>
              <a:gd name="connsiteX8" fmla="*/ 3648070 w 3648070"/>
              <a:gd name="connsiteY8" fmla="*/ 1219755 h 1219755"/>
              <a:gd name="connsiteX9" fmla="*/ 1520029 w 3648070"/>
              <a:gd name="connsiteY9" fmla="*/ 1219755 h 1219755"/>
              <a:gd name="connsiteX10" fmla="*/ 1630104 w 3648070"/>
              <a:gd name="connsiteY10" fmla="*/ 1372237 h 1219755"/>
              <a:gd name="connsiteX11" fmla="*/ 608012 w 3648070"/>
              <a:gd name="connsiteY11" fmla="*/ 1219755 h 1219755"/>
              <a:gd name="connsiteX12" fmla="*/ 0 w 3648070"/>
              <a:gd name="connsiteY12" fmla="*/ 1219755 h 1219755"/>
              <a:gd name="connsiteX13" fmla="*/ 0 w 3648070"/>
              <a:gd name="connsiteY13" fmla="*/ 1016463 h 1219755"/>
              <a:gd name="connsiteX14" fmla="*/ 0 w 3648070"/>
              <a:gd name="connsiteY14" fmla="*/ 711524 h 1219755"/>
              <a:gd name="connsiteX15" fmla="*/ 0 w 3648070"/>
              <a:gd name="connsiteY15" fmla="*/ 711524 h 1219755"/>
              <a:gd name="connsiteX16" fmla="*/ 0 w 3648070"/>
              <a:gd name="connsiteY16" fmla="*/ 0 h 1219755"/>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520029 w 3648070"/>
              <a:gd name="connsiteY9" fmla="*/ 1219755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882886 w 3648070"/>
              <a:gd name="connsiteY9" fmla="*/ 1219755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716199 w 3648070"/>
              <a:gd name="connsiteY9" fmla="*/ 1214992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716199 w 3648070"/>
              <a:gd name="connsiteY9" fmla="*/ 1214992 h 1372237"/>
              <a:gd name="connsiteX10" fmla="*/ 1630104 w 3648070"/>
              <a:gd name="connsiteY10" fmla="*/ 1372237 h 1372237"/>
              <a:gd name="connsiteX11" fmla="*/ 1347107 w 3648070"/>
              <a:gd name="connsiteY11" fmla="*/ 1224518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48070" h="1372237">
                <a:moveTo>
                  <a:pt x="0" y="0"/>
                </a:moveTo>
                <a:lnTo>
                  <a:pt x="608012" y="0"/>
                </a:lnTo>
                <a:lnTo>
                  <a:pt x="608012" y="0"/>
                </a:lnTo>
                <a:lnTo>
                  <a:pt x="1520029" y="0"/>
                </a:lnTo>
                <a:lnTo>
                  <a:pt x="3648070" y="0"/>
                </a:lnTo>
                <a:lnTo>
                  <a:pt x="3648070" y="711524"/>
                </a:lnTo>
                <a:lnTo>
                  <a:pt x="3648070" y="711524"/>
                </a:lnTo>
                <a:lnTo>
                  <a:pt x="3648070" y="1016463"/>
                </a:lnTo>
                <a:lnTo>
                  <a:pt x="3648070" y="1219755"/>
                </a:lnTo>
                <a:lnTo>
                  <a:pt x="1716199" y="1214992"/>
                </a:lnTo>
                <a:lnTo>
                  <a:pt x="1630104" y="1372237"/>
                </a:lnTo>
                <a:lnTo>
                  <a:pt x="1347107" y="1224518"/>
                </a:lnTo>
                <a:lnTo>
                  <a:pt x="0" y="1219755"/>
                </a:lnTo>
                <a:lnTo>
                  <a:pt x="0" y="1016463"/>
                </a:lnTo>
                <a:lnTo>
                  <a:pt x="0" y="711524"/>
                </a:lnTo>
                <a:lnTo>
                  <a:pt x="0" y="711524"/>
                </a:lnTo>
                <a:lnTo>
                  <a:pt x="0" y="0"/>
                </a:lnTo>
                <a:close/>
              </a:path>
            </a:pathLst>
          </a:cu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200" kern="0">
              <a:solidFill>
                <a:srgbClr val="1D1D1A"/>
              </a:solidFill>
              <a:latin typeface="Huawei Sans" panose="020C0503030203020204" pitchFamily="34" charset="0"/>
              <a:ea typeface="方正兰亭黑简体" panose="02000000000000000000" pitchFamily="2" charset="-122"/>
            </a:endParaRPr>
          </a:p>
        </p:txBody>
      </p:sp>
      <p:sp>
        <p:nvSpPr>
          <p:cNvPr id="8" name="矩形标注 14"/>
          <p:cNvSpPr/>
          <p:nvPr/>
        </p:nvSpPr>
        <p:spPr bwMode="gray">
          <a:xfrm>
            <a:off x="803275" y="1946385"/>
            <a:ext cx="2873462" cy="1251832"/>
          </a:xfrm>
          <a:custGeom>
            <a:avLst/>
            <a:gdLst>
              <a:gd name="connsiteX0" fmla="*/ 0 w 3648070"/>
              <a:gd name="connsiteY0" fmla="*/ 0 h 1219755"/>
              <a:gd name="connsiteX1" fmla="*/ 608012 w 3648070"/>
              <a:gd name="connsiteY1" fmla="*/ 0 h 1219755"/>
              <a:gd name="connsiteX2" fmla="*/ 608012 w 3648070"/>
              <a:gd name="connsiteY2" fmla="*/ 0 h 1219755"/>
              <a:gd name="connsiteX3" fmla="*/ 1520029 w 3648070"/>
              <a:gd name="connsiteY3" fmla="*/ 0 h 1219755"/>
              <a:gd name="connsiteX4" fmla="*/ 3648070 w 3648070"/>
              <a:gd name="connsiteY4" fmla="*/ 0 h 1219755"/>
              <a:gd name="connsiteX5" fmla="*/ 3648070 w 3648070"/>
              <a:gd name="connsiteY5" fmla="*/ 711524 h 1219755"/>
              <a:gd name="connsiteX6" fmla="*/ 3648070 w 3648070"/>
              <a:gd name="connsiteY6" fmla="*/ 711524 h 1219755"/>
              <a:gd name="connsiteX7" fmla="*/ 3648070 w 3648070"/>
              <a:gd name="connsiteY7" fmla="*/ 1016463 h 1219755"/>
              <a:gd name="connsiteX8" fmla="*/ 3648070 w 3648070"/>
              <a:gd name="connsiteY8" fmla="*/ 1219755 h 1219755"/>
              <a:gd name="connsiteX9" fmla="*/ 1520029 w 3648070"/>
              <a:gd name="connsiteY9" fmla="*/ 1219755 h 1219755"/>
              <a:gd name="connsiteX10" fmla="*/ 1630104 w 3648070"/>
              <a:gd name="connsiteY10" fmla="*/ 1372237 h 1219755"/>
              <a:gd name="connsiteX11" fmla="*/ 608012 w 3648070"/>
              <a:gd name="connsiteY11" fmla="*/ 1219755 h 1219755"/>
              <a:gd name="connsiteX12" fmla="*/ 0 w 3648070"/>
              <a:gd name="connsiteY12" fmla="*/ 1219755 h 1219755"/>
              <a:gd name="connsiteX13" fmla="*/ 0 w 3648070"/>
              <a:gd name="connsiteY13" fmla="*/ 1016463 h 1219755"/>
              <a:gd name="connsiteX14" fmla="*/ 0 w 3648070"/>
              <a:gd name="connsiteY14" fmla="*/ 711524 h 1219755"/>
              <a:gd name="connsiteX15" fmla="*/ 0 w 3648070"/>
              <a:gd name="connsiteY15" fmla="*/ 711524 h 1219755"/>
              <a:gd name="connsiteX16" fmla="*/ 0 w 3648070"/>
              <a:gd name="connsiteY16" fmla="*/ 0 h 1219755"/>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520029 w 3648070"/>
              <a:gd name="connsiteY9" fmla="*/ 1219755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882886 w 3648070"/>
              <a:gd name="connsiteY9" fmla="*/ 1219755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716199 w 3648070"/>
              <a:gd name="connsiteY9" fmla="*/ 1214992 h 1372237"/>
              <a:gd name="connsiteX10" fmla="*/ 1630104 w 3648070"/>
              <a:gd name="connsiteY10" fmla="*/ 1372237 h 1372237"/>
              <a:gd name="connsiteX11" fmla="*/ 1275669 w 3648070"/>
              <a:gd name="connsiteY11" fmla="*/ 1219755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 name="connsiteX0" fmla="*/ 0 w 3648070"/>
              <a:gd name="connsiteY0" fmla="*/ 0 h 1372237"/>
              <a:gd name="connsiteX1" fmla="*/ 608012 w 3648070"/>
              <a:gd name="connsiteY1" fmla="*/ 0 h 1372237"/>
              <a:gd name="connsiteX2" fmla="*/ 608012 w 3648070"/>
              <a:gd name="connsiteY2" fmla="*/ 0 h 1372237"/>
              <a:gd name="connsiteX3" fmla="*/ 1520029 w 3648070"/>
              <a:gd name="connsiteY3" fmla="*/ 0 h 1372237"/>
              <a:gd name="connsiteX4" fmla="*/ 3648070 w 3648070"/>
              <a:gd name="connsiteY4" fmla="*/ 0 h 1372237"/>
              <a:gd name="connsiteX5" fmla="*/ 3648070 w 3648070"/>
              <a:gd name="connsiteY5" fmla="*/ 711524 h 1372237"/>
              <a:gd name="connsiteX6" fmla="*/ 3648070 w 3648070"/>
              <a:gd name="connsiteY6" fmla="*/ 711524 h 1372237"/>
              <a:gd name="connsiteX7" fmla="*/ 3648070 w 3648070"/>
              <a:gd name="connsiteY7" fmla="*/ 1016463 h 1372237"/>
              <a:gd name="connsiteX8" fmla="*/ 3648070 w 3648070"/>
              <a:gd name="connsiteY8" fmla="*/ 1219755 h 1372237"/>
              <a:gd name="connsiteX9" fmla="*/ 1716199 w 3648070"/>
              <a:gd name="connsiteY9" fmla="*/ 1214992 h 1372237"/>
              <a:gd name="connsiteX10" fmla="*/ 1630104 w 3648070"/>
              <a:gd name="connsiteY10" fmla="*/ 1372237 h 1372237"/>
              <a:gd name="connsiteX11" fmla="*/ 1347107 w 3648070"/>
              <a:gd name="connsiteY11" fmla="*/ 1224518 h 1372237"/>
              <a:gd name="connsiteX12" fmla="*/ 0 w 3648070"/>
              <a:gd name="connsiteY12" fmla="*/ 1219755 h 1372237"/>
              <a:gd name="connsiteX13" fmla="*/ 0 w 3648070"/>
              <a:gd name="connsiteY13" fmla="*/ 1016463 h 1372237"/>
              <a:gd name="connsiteX14" fmla="*/ 0 w 3648070"/>
              <a:gd name="connsiteY14" fmla="*/ 711524 h 1372237"/>
              <a:gd name="connsiteX15" fmla="*/ 0 w 3648070"/>
              <a:gd name="connsiteY15" fmla="*/ 711524 h 1372237"/>
              <a:gd name="connsiteX16" fmla="*/ 0 w 3648070"/>
              <a:gd name="connsiteY16" fmla="*/ 0 h 1372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48070" h="1372237">
                <a:moveTo>
                  <a:pt x="0" y="0"/>
                </a:moveTo>
                <a:lnTo>
                  <a:pt x="608012" y="0"/>
                </a:lnTo>
                <a:lnTo>
                  <a:pt x="608012" y="0"/>
                </a:lnTo>
                <a:lnTo>
                  <a:pt x="1520029" y="0"/>
                </a:lnTo>
                <a:lnTo>
                  <a:pt x="3648070" y="0"/>
                </a:lnTo>
                <a:lnTo>
                  <a:pt x="3648070" y="711524"/>
                </a:lnTo>
                <a:lnTo>
                  <a:pt x="3648070" y="711524"/>
                </a:lnTo>
                <a:lnTo>
                  <a:pt x="3648070" y="1016463"/>
                </a:lnTo>
                <a:lnTo>
                  <a:pt x="3648070" y="1219755"/>
                </a:lnTo>
                <a:lnTo>
                  <a:pt x="1716199" y="1214992"/>
                </a:lnTo>
                <a:lnTo>
                  <a:pt x="1630104" y="1372237"/>
                </a:lnTo>
                <a:lnTo>
                  <a:pt x="1347107" y="1224518"/>
                </a:lnTo>
                <a:lnTo>
                  <a:pt x="0" y="1219755"/>
                </a:lnTo>
                <a:lnTo>
                  <a:pt x="0" y="1016463"/>
                </a:lnTo>
                <a:lnTo>
                  <a:pt x="0" y="711524"/>
                </a:lnTo>
                <a:lnTo>
                  <a:pt x="0" y="711524"/>
                </a:lnTo>
                <a:lnTo>
                  <a:pt x="0" y="0"/>
                </a:lnTo>
                <a:close/>
              </a:path>
            </a:pathLst>
          </a:custGeom>
          <a:solidFill>
            <a:schemeClr val="bg1">
              <a:lumMod val="95000"/>
            </a:schemeClr>
          </a:solidFill>
          <a:ln w="12700" cap="flat" cmpd="sng" algn="ctr">
            <a:solidFill>
              <a:schemeClr val="bg1">
                <a:lumMod val="75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200" kern="0">
              <a:solidFill>
                <a:srgbClr val="1D1D1A"/>
              </a:solidFill>
              <a:latin typeface="Huawei Sans" panose="020C0503030203020204" pitchFamily="34" charset="0"/>
              <a:ea typeface="方正兰亭黑简体" panose="02000000000000000000" pitchFamily="2" charset="-122"/>
            </a:endParaRPr>
          </a:p>
        </p:txBody>
      </p:sp>
      <p:cxnSp>
        <p:nvCxnSpPr>
          <p:cNvPr id="9" name="直接连接符 8"/>
          <p:cNvCxnSpPr/>
          <p:nvPr/>
        </p:nvCxnSpPr>
        <p:spPr bwMode="gray">
          <a:xfrm flipH="1">
            <a:off x="2037771" y="3761898"/>
            <a:ext cx="0" cy="2160000"/>
          </a:xfrm>
          <a:prstGeom prst="line">
            <a:avLst/>
          </a:prstGeom>
          <a:solidFill>
            <a:srgbClr val="D9D9D9"/>
          </a:solidFill>
          <a:ln w="19050" cap="flat" cmpd="sng" algn="ctr">
            <a:solidFill>
              <a:srgbClr val="BEE9EE"/>
            </a:solidFill>
            <a:prstDash val="solid"/>
            <a:round/>
            <a:headEnd type="none" w="med" len="med"/>
            <a:tailEnd type="none" w="med" len="med"/>
          </a:ln>
          <a:effectLst/>
        </p:spPr>
      </p:cxnSp>
      <p:cxnSp>
        <p:nvCxnSpPr>
          <p:cNvPr id="10" name="直接连接符 9"/>
          <p:cNvCxnSpPr/>
          <p:nvPr/>
        </p:nvCxnSpPr>
        <p:spPr bwMode="gray">
          <a:xfrm>
            <a:off x="5662246" y="5018967"/>
            <a:ext cx="432048" cy="0"/>
          </a:xfrm>
          <a:prstGeom prst="line">
            <a:avLst/>
          </a:prstGeom>
          <a:solidFill>
            <a:srgbClr val="D9D9D9"/>
          </a:solidFill>
          <a:ln w="19050" cap="flat" cmpd="sng" algn="ctr">
            <a:solidFill>
              <a:srgbClr val="BEE9EE"/>
            </a:solidFill>
            <a:prstDash val="solid"/>
            <a:round/>
            <a:headEnd type="none" w="med" len="med"/>
            <a:tailEnd type="none" w="med" len="med"/>
          </a:ln>
          <a:effectLst/>
        </p:spPr>
      </p:cxnSp>
      <p:sp>
        <p:nvSpPr>
          <p:cNvPr id="11" name="圆角矩形 10"/>
          <p:cNvSpPr/>
          <p:nvPr/>
        </p:nvSpPr>
        <p:spPr bwMode="gray">
          <a:xfrm>
            <a:off x="5905890" y="4848707"/>
            <a:ext cx="1080000" cy="340519"/>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手工配置</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12" name="直接连接符 11"/>
          <p:cNvCxnSpPr/>
          <p:nvPr/>
        </p:nvCxnSpPr>
        <p:spPr bwMode="gray">
          <a:xfrm>
            <a:off x="5662246" y="5485986"/>
            <a:ext cx="432048" cy="0"/>
          </a:xfrm>
          <a:prstGeom prst="line">
            <a:avLst/>
          </a:prstGeom>
          <a:solidFill>
            <a:srgbClr val="D9D9D9"/>
          </a:solidFill>
          <a:ln w="19050" cap="flat" cmpd="sng" algn="ctr">
            <a:solidFill>
              <a:srgbClr val="BEE9EE"/>
            </a:solidFill>
            <a:prstDash val="solid"/>
            <a:round/>
            <a:headEnd type="none" w="med" len="med"/>
            <a:tailEnd type="none" w="med" len="med"/>
          </a:ln>
          <a:effectLst/>
        </p:spPr>
      </p:cxnSp>
      <p:sp>
        <p:nvSpPr>
          <p:cNvPr id="13" name="圆角矩形 12"/>
          <p:cNvSpPr/>
          <p:nvPr/>
        </p:nvSpPr>
        <p:spPr bwMode="gray">
          <a:xfrm>
            <a:off x="5905890" y="5315726"/>
            <a:ext cx="1080000" cy="340519"/>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系统生成</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14" name="直接连接符 13"/>
          <p:cNvCxnSpPr/>
          <p:nvPr/>
        </p:nvCxnSpPr>
        <p:spPr bwMode="gray">
          <a:xfrm>
            <a:off x="5662246" y="5954244"/>
            <a:ext cx="432048" cy="0"/>
          </a:xfrm>
          <a:prstGeom prst="line">
            <a:avLst/>
          </a:prstGeom>
          <a:solidFill>
            <a:srgbClr val="D9D9D9"/>
          </a:solidFill>
          <a:ln w="19050" cap="flat" cmpd="sng" algn="ctr">
            <a:solidFill>
              <a:srgbClr val="BEE9EE"/>
            </a:solidFill>
            <a:prstDash val="solid"/>
            <a:round/>
            <a:headEnd type="none" w="med" len="med"/>
            <a:tailEnd type="none" w="med" len="med"/>
          </a:ln>
          <a:effectLst/>
        </p:spPr>
      </p:cxnSp>
      <p:sp>
        <p:nvSpPr>
          <p:cNvPr id="15" name="圆角矩形 14"/>
          <p:cNvSpPr/>
          <p:nvPr/>
        </p:nvSpPr>
        <p:spPr bwMode="gray">
          <a:xfrm>
            <a:off x="5905891" y="5774244"/>
            <a:ext cx="2323709" cy="360000"/>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noAutofit/>
          </a:bodyPr>
          <a:lstStyle/>
          <a:p>
            <a:pPr marL="0" marR="0" indent="0" algn="ctr" defTabSz="914400" rtl="0" eaLnBrk="1" fontAlgn="b" latinLnBrk="0" hangingPunct="1">
              <a:lnSpc>
                <a:spcPct val="100000"/>
              </a:lnSpc>
              <a:spcBef>
                <a:spcPct val="0"/>
              </a:spcBef>
              <a:spcAft>
                <a:spcPct val="0"/>
              </a:spcAft>
              <a:buClrTx/>
              <a:buSzTx/>
              <a:buFontTx/>
              <a:buNone/>
              <a:tabLst/>
            </a:pPr>
            <a:r>
              <a:rPr lang="zh-CN" altLang="en-US" sz="1400">
                <a:latin typeface="Huawei Sans" panose="020C0503030203020204" pitchFamily="34" charset="0"/>
                <a:ea typeface="方正兰亭黑简体" panose="02000000000000000000" pitchFamily="2" charset="-122"/>
              </a:rPr>
              <a:t>根据</a:t>
            </a:r>
            <a:r>
              <a:rPr lang="en-US" altLang="zh-CN" sz="1400">
                <a:latin typeface="Huawei Sans" panose="020C0503030203020204" pitchFamily="34" charset="0"/>
                <a:ea typeface="方正兰亭黑简体" panose="02000000000000000000" pitchFamily="2" charset="-122"/>
              </a:rPr>
              <a:t>EUI-64</a:t>
            </a:r>
            <a:r>
              <a:rPr lang="zh-CN" altLang="en-US" sz="1400">
                <a:latin typeface="Huawei Sans" panose="020C0503030203020204" pitchFamily="34" charset="0"/>
                <a:ea typeface="方正兰亭黑简体" panose="02000000000000000000" pitchFamily="2" charset="-122"/>
              </a:rPr>
              <a:t>规范动态生成</a:t>
            </a:r>
            <a:endParaRPr kumimoji="0" lang="en-US" altLang="zh-CN" sz="1400" i="0" u="none" strike="noStrike" cap="none" normalizeH="0" baseline="0">
              <a:ln>
                <a:noFill/>
              </a:ln>
              <a:effectLst/>
              <a:latin typeface="Huawei Sans" panose="020C0503030203020204" pitchFamily="34" charset="0"/>
              <a:ea typeface="方正兰亭黑简体" panose="02000000000000000000" pitchFamily="2" charset="-122"/>
            </a:endParaRPr>
          </a:p>
        </p:txBody>
      </p:sp>
      <p:cxnSp>
        <p:nvCxnSpPr>
          <p:cNvPr id="16" name="直接连接符 15"/>
          <p:cNvCxnSpPr/>
          <p:nvPr/>
        </p:nvCxnSpPr>
        <p:spPr bwMode="gray">
          <a:xfrm>
            <a:off x="5655896" y="4078757"/>
            <a:ext cx="0" cy="1875330"/>
          </a:xfrm>
          <a:prstGeom prst="line">
            <a:avLst/>
          </a:prstGeom>
          <a:solidFill>
            <a:srgbClr val="D9D9D9"/>
          </a:solidFill>
          <a:ln w="19050" cap="flat" cmpd="sng" algn="ctr">
            <a:solidFill>
              <a:srgbClr val="BEE9EE"/>
            </a:solidFill>
            <a:prstDash val="solid"/>
            <a:round/>
            <a:headEnd type="none" w="med" len="med"/>
            <a:tailEnd type="none" w="med" len="med"/>
          </a:ln>
          <a:effectLst/>
        </p:spPr>
      </p:cxnSp>
      <p:sp>
        <p:nvSpPr>
          <p:cNvPr id="17" name="圆角矩形 16"/>
          <p:cNvSpPr/>
          <p:nvPr/>
        </p:nvSpPr>
        <p:spPr bwMode="gray">
          <a:xfrm>
            <a:off x="4819781" y="4257992"/>
            <a:ext cx="1684929" cy="403980"/>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600" dirty="0">
                <a:latin typeface="Huawei Sans" panose="020C0503030203020204" pitchFamily="34" charset="0"/>
                <a:ea typeface="方正兰亭黑简体" panose="02000000000000000000" pitchFamily="2" charset="-122"/>
              </a:rPr>
              <a:t>链路本地地址</a:t>
            </a:r>
            <a:endParaRPr lang="en-US" altLang="zh-CN" sz="1600" dirty="0">
              <a:latin typeface="Huawei Sans" panose="020C0503030203020204" pitchFamily="34" charset="0"/>
              <a:ea typeface="方正兰亭黑简体" panose="02000000000000000000" pitchFamily="2" charset="-122"/>
            </a:endParaRPr>
          </a:p>
        </p:txBody>
      </p:sp>
      <p:sp>
        <p:nvSpPr>
          <p:cNvPr id="18" name="圆角矩形 17"/>
          <p:cNvSpPr/>
          <p:nvPr/>
        </p:nvSpPr>
        <p:spPr bwMode="gray">
          <a:xfrm>
            <a:off x="1203754" y="4260076"/>
            <a:ext cx="1684929" cy="409096"/>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i="0" u="none" strike="noStrike" cap="none" normalizeH="0" baseline="0" dirty="0">
                <a:ln>
                  <a:noFill/>
                </a:ln>
                <a:effectLst/>
                <a:latin typeface="Huawei Sans" panose="020C0503030203020204" pitchFamily="34" charset="0"/>
                <a:ea typeface="方正兰亭黑简体" panose="02000000000000000000" pitchFamily="2" charset="-122"/>
              </a:rPr>
              <a:t>全球单播</a:t>
            </a:r>
            <a:r>
              <a:rPr kumimoji="0" lang="zh-CN" altLang="en-US" sz="1600" i="0" u="none" strike="noStrike" cap="none" normalizeH="0" baseline="0" dirty="0" smtClean="0">
                <a:ln>
                  <a:noFill/>
                </a:ln>
                <a:effectLst/>
                <a:latin typeface="Huawei Sans" panose="020C0503030203020204" pitchFamily="34" charset="0"/>
                <a:ea typeface="方正兰亭黑简体" panose="02000000000000000000" pitchFamily="2" charset="-122"/>
              </a:rPr>
              <a:t>地址</a:t>
            </a:r>
            <a:endParaRPr kumimoji="0" lang="en-US" altLang="zh-CN" sz="16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19" name="直接连接符 18"/>
          <p:cNvCxnSpPr/>
          <p:nvPr/>
        </p:nvCxnSpPr>
        <p:spPr bwMode="gray">
          <a:xfrm>
            <a:off x="2044121" y="5018967"/>
            <a:ext cx="432048" cy="0"/>
          </a:xfrm>
          <a:prstGeom prst="line">
            <a:avLst/>
          </a:prstGeom>
          <a:solidFill>
            <a:srgbClr val="D9D9D9"/>
          </a:solidFill>
          <a:ln w="19050" cap="flat" cmpd="sng" algn="ctr">
            <a:solidFill>
              <a:srgbClr val="BEE9EE"/>
            </a:solidFill>
            <a:prstDash val="solid"/>
            <a:round/>
            <a:headEnd type="none" w="med" len="med"/>
            <a:tailEnd type="none" w="med" len="med"/>
          </a:ln>
          <a:effectLst/>
        </p:spPr>
      </p:cxnSp>
      <p:sp>
        <p:nvSpPr>
          <p:cNvPr id="20" name="圆角矩形 19"/>
          <p:cNvSpPr/>
          <p:nvPr/>
        </p:nvSpPr>
        <p:spPr bwMode="gray">
          <a:xfrm>
            <a:off x="2287766" y="4848707"/>
            <a:ext cx="945292" cy="340519"/>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手工配置</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21" name="直接连接符 20"/>
          <p:cNvCxnSpPr/>
          <p:nvPr/>
        </p:nvCxnSpPr>
        <p:spPr bwMode="gray">
          <a:xfrm>
            <a:off x="2044121" y="5485986"/>
            <a:ext cx="432048" cy="0"/>
          </a:xfrm>
          <a:prstGeom prst="line">
            <a:avLst/>
          </a:prstGeom>
          <a:solidFill>
            <a:srgbClr val="D9D9D9"/>
          </a:solidFill>
          <a:ln w="19050" cap="flat" cmpd="sng" algn="ctr">
            <a:solidFill>
              <a:srgbClr val="BEE9EE"/>
            </a:solidFill>
            <a:prstDash val="solid"/>
            <a:round/>
            <a:headEnd type="none" w="med" len="med"/>
            <a:tailEnd type="none" w="med" len="med"/>
          </a:ln>
          <a:effectLst/>
        </p:spPr>
      </p:cxnSp>
      <p:sp>
        <p:nvSpPr>
          <p:cNvPr id="22" name="圆角矩形 21"/>
          <p:cNvSpPr/>
          <p:nvPr/>
        </p:nvSpPr>
        <p:spPr bwMode="gray">
          <a:xfrm>
            <a:off x="2287765" y="5283539"/>
            <a:ext cx="1836180" cy="340519"/>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defTabSz="914400" rtl="0" eaLnBrk="1"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有</a:t>
            </a:r>
            <a:r>
              <a:rPr lang="zh-CN" altLang="en-US" sz="1400" dirty="0" smtClean="0">
                <a:latin typeface="Huawei Sans" panose="020C0503030203020204" pitchFamily="34" charset="0"/>
                <a:ea typeface="方正兰亭黑简体" panose="02000000000000000000" pitchFamily="2" charset="-122"/>
              </a:rPr>
              <a:t>状态地址自动配置</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23" name="直接连接符 22"/>
          <p:cNvCxnSpPr/>
          <p:nvPr/>
        </p:nvCxnSpPr>
        <p:spPr bwMode="gray">
          <a:xfrm>
            <a:off x="2044121" y="5925216"/>
            <a:ext cx="432048" cy="0"/>
          </a:xfrm>
          <a:prstGeom prst="line">
            <a:avLst/>
          </a:prstGeom>
          <a:solidFill>
            <a:srgbClr val="D9D9D9"/>
          </a:solidFill>
          <a:ln w="19050" cap="flat" cmpd="sng" algn="ctr">
            <a:solidFill>
              <a:srgbClr val="BEE9EE"/>
            </a:solidFill>
            <a:prstDash val="solid"/>
            <a:round/>
            <a:headEnd type="none" w="med" len="med"/>
            <a:tailEnd type="none" w="med" len="med"/>
          </a:ln>
          <a:effectLst/>
        </p:spPr>
      </p:cxnSp>
      <p:sp>
        <p:nvSpPr>
          <p:cNvPr id="24" name="圆角矩形 23"/>
          <p:cNvSpPr/>
          <p:nvPr/>
        </p:nvSpPr>
        <p:spPr bwMode="gray">
          <a:xfrm>
            <a:off x="2287764" y="5754957"/>
            <a:ext cx="1836181" cy="340519"/>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defTabSz="914400" rtl="0" eaLnBrk="1"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无</a:t>
            </a:r>
            <a:r>
              <a:rPr lang="zh-CN" altLang="en-US" sz="1400" dirty="0" smtClean="0">
                <a:latin typeface="Huawei Sans" panose="020C0503030203020204" pitchFamily="34" charset="0"/>
                <a:ea typeface="方正兰亭黑简体" panose="02000000000000000000" pitchFamily="2" charset="-122"/>
              </a:rPr>
              <a:t>状态地址自动配置</a:t>
            </a:r>
            <a:endParaRPr lang="en-US" altLang="zh-CN" sz="1400" dirty="0">
              <a:latin typeface="Huawei Sans" panose="020C0503030203020204" pitchFamily="34" charset="0"/>
              <a:ea typeface="方正兰亭黑简体" panose="02000000000000000000" pitchFamily="2" charset="-122"/>
            </a:endParaRPr>
          </a:p>
        </p:txBody>
      </p:sp>
      <p:cxnSp>
        <p:nvCxnSpPr>
          <p:cNvPr id="25" name="直接连接符 24"/>
          <p:cNvCxnSpPr/>
          <p:nvPr/>
        </p:nvCxnSpPr>
        <p:spPr bwMode="gray">
          <a:xfrm>
            <a:off x="2495068" y="3612076"/>
            <a:ext cx="7920000" cy="1600"/>
          </a:xfrm>
          <a:prstGeom prst="line">
            <a:avLst/>
          </a:prstGeom>
          <a:ln w="44450">
            <a:solidFill>
              <a:srgbClr val="56C4D2"/>
            </a:solidFill>
            <a:tailEnd type="arrow"/>
          </a:ln>
        </p:spPr>
        <p:style>
          <a:lnRef idx="1">
            <a:schemeClr val="accent1"/>
          </a:lnRef>
          <a:fillRef idx="0">
            <a:schemeClr val="accent1"/>
          </a:fillRef>
          <a:effectRef idx="0">
            <a:schemeClr val="accent1"/>
          </a:effectRef>
          <a:fontRef idx="minor">
            <a:schemeClr val="tx1"/>
          </a:fontRef>
        </p:style>
      </p:cxnSp>
      <p:sp>
        <p:nvSpPr>
          <p:cNvPr id="26" name="圆角矩形 25"/>
          <p:cNvSpPr/>
          <p:nvPr/>
        </p:nvSpPr>
        <p:spPr bwMode="gray">
          <a:xfrm>
            <a:off x="5142723" y="3288876"/>
            <a:ext cx="1260000" cy="648000"/>
          </a:xfrm>
          <a:prstGeom prst="roundRect">
            <a:avLst/>
          </a:prstGeom>
          <a:solidFill>
            <a:srgbClr val="F2FBFC"/>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smtClean="0">
                <a:solidFill>
                  <a:srgbClr val="1D1D1A"/>
                </a:solidFill>
                <a:latin typeface="Huawei Sans" panose="020C0503030203020204" pitchFamily="34" charset="0"/>
                <a:ea typeface="方正兰亭黑简体" panose="02000000000000000000" pitchFamily="2" charset="-122"/>
              </a:rPr>
              <a:t>DAD</a:t>
            </a:r>
            <a:endParaRPr lang="en-US" altLang="zh-CN" sz="1600" kern="0" dirty="0">
              <a:solidFill>
                <a:srgbClr val="1D1D1A"/>
              </a:solidFill>
              <a:latin typeface="Huawei Sans" panose="020C0503030203020204" pitchFamily="34" charset="0"/>
              <a:ea typeface="方正兰亭黑简体" panose="02000000000000000000" pitchFamily="2" charset="-122"/>
            </a:endParaRPr>
          </a:p>
        </p:txBody>
      </p:sp>
      <p:sp>
        <p:nvSpPr>
          <p:cNvPr id="27" name="圆角矩形 26"/>
          <p:cNvSpPr/>
          <p:nvPr/>
        </p:nvSpPr>
        <p:spPr bwMode="gray">
          <a:xfrm>
            <a:off x="8229600" y="3288876"/>
            <a:ext cx="1260000" cy="648000"/>
          </a:xfrm>
          <a:prstGeom prst="roundRect">
            <a:avLst/>
          </a:prstGeom>
          <a:solidFill>
            <a:srgbClr val="F2FBFC"/>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a:solidFill>
                  <a:srgbClr val="1D1D1A"/>
                </a:solidFill>
                <a:latin typeface="Huawei Sans" panose="020C0503030203020204" pitchFamily="34" charset="0"/>
                <a:ea typeface="方正兰亭黑简体" panose="02000000000000000000" pitchFamily="2" charset="-122"/>
              </a:rPr>
              <a:t>地址解析</a:t>
            </a:r>
          </a:p>
        </p:txBody>
      </p:sp>
      <p:sp>
        <p:nvSpPr>
          <p:cNvPr id="28" name="圆角矩形 27"/>
          <p:cNvSpPr/>
          <p:nvPr/>
        </p:nvSpPr>
        <p:spPr bwMode="gray">
          <a:xfrm>
            <a:off x="1403336" y="3288876"/>
            <a:ext cx="1260000" cy="648000"/>
          </a:xfrm>
          <a:prstGeom prst="roundRect">
            <a:avLst/>
          </a:prstGeom>
          <a:solidFill>
            <a:srgbClr val="F2FBFC"/>
          </a:solid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rPr>
              <a:t>地址配置</a:t>
            </a:r>
            <a:endParaRPr lang="en-US" altLang="zh-CN" sz="1600" kern="0" dirty="0">
              <a:solidFill>
                <a:srgbClr val="1D1D1A"/>
              </a:solidFill>
              <a:latin typeface="Huawei Sans" panose="020C0503030203020204" pitchFamily="34" charset="0"/>
              <a:ea typeface="方正兰亭黑简体" panose="02000000000000000000" pitchFamily="2" charset="-122"/>
            </a:endParaRPr>
          </a:p>
        </p:txBody>
      </p:sp>
      <p:sp>
        <p:nvSpPr>
          <p:cNvPr id="29" name="圆角矩形 28"/>
          <p:cNvSpPr/>
          <p:nvPr/>
        </p:nvSpPr>
        <p:spPr bwMode="gray">
          <a:xfrm>
            <a:off x="10400045" y="3264021"/>
            <a:ext cx="1235175" cy="648001"/>
          </a:xfrm>
          <a:prstGeom prst="roundRect">
            <a:avLst/>
          </a:prstGeom>
          <a:solidFill>
            <a:srgbClr val="56C4D2"/>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en-US" altLang="zh-CN" sz="1600" i="0" u="none" strike="noStrike" cap="none" normalizeH="0" baseline="0" dirty="0" smtClean="0">
                <a:ln>
                  <a:noFill/>
                </a:ln>
                <a:solidFill>
                  <a:schemeClr val="bg1"/>
                </a:solidFill>
                <a:effectLst/>
                <a:latin typeface="Huawei Sans" panose="020C0503030203020204" pitchFamily="34" charset="0"/>
                <a:ea typeface="方正兰亭黑简体" panose="02000000000000000000" pitchFamily="2" charset="-122"/>
              </a:rPr>
              <a:t>IPv6</a:t>
            </a:r>
          </a:p>
          <a:p>
            <a:pPr marL="0" marR="0" indent="0" algn="ctr" defTabSz="914400" rtl="0" eaLnBrk="1" latinLnBrk="0" hangingPunct="1">
              <a:lnSpc>
                <a:spcPct val="100000"/>
              </a:lnSpc>
              <a:spcBef>
                <a:spcPct val="0"/>
              </a:spcBef>
              <a:spcAft>
                <a:spcPct val="0"/>
              </a:spcAft>
              <a:buClrTx/>
              <a:buSzTx/>
              <a:buFontTx/>
              <a:buNone/>
              <a:tabLst/>
            </a:pPr>
            <a:r>
              <a:rPr kumimoji="0" lang="zh-CN" altLang="en-US" sz="1600" i="0" u="none" strike="noStrike" cap="none" normalizeH="0" baseline="0" dirty="0" smtClean="0">
                <a:ln>
                  <a:noFill/>
                </a:ln>
                <a:solidFill>
                  <a:schemeClr val="bg1"/>
                </a:solidFill>
                <a:effectLst/>
                <a:latin typeface="Huawei Sans" panose="020C0503030203020204" pitchFamily="34" charset="0"/>
                <a:ea typeface="方正兰亭黑简体" panose="02000000000000000000" pitchFamily="2" charset="-122"/>
              </a:rPr>
              <a:t>数据转发</a:t>
            </a:r>
            <a:endParaRPr kumimoji="0" lang="en-US" altLang="zh-CN" sz="160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30" name="文本框 29"/>
          <p:cNvSpPr txBox="1"/>
          <p:nvPr/>
        </p:nvSpPr>
        <p:spPr bwMode="gray">
          <a:xfrm>
            <a:off x="7716232" y="1947706"/>
            <a:ext cx="3301401" cy="98153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ts val="2400"/>
              </a:lnSpc>
            </a:pPr>
            <a:r>
              <a:rPr lang="zh-CN" altLang="en-US" sz="1400" dirty="0" smtClean="0"/>
              <a:t>类似于</a:t>
            </a:r>
            <a:r>
              <a:rPr lang="en-US" altLang="zh-CN" sz="1400" dirty="0" smtClean="0"/>
              <a:t>IPv4</a:t>
            </a:r>
            <a:r>
              <a:rPr lang="zh-CN" altLang="en-US" sz="1400" dirty="0" smtClean="0"/>
              <a:t>中的</a:t>
            </a:r>
            <a:r>
              <a:rPr lang="en-US" altLang="zh-CN" sz="1400" dirty="0" smtClean="0"/>
              <a:t>ARP</a:t>
            </a:r>
            <a:r>
              <a:rPr lang="zh-CN" altLang="en-US" sz="1400" dirty="0" smtClean="0"/>
              <a:t>请求，通过</a:t>
            </a:r>
            <a:r>
              <a:rPr lang="en-US" altLang="zh-CN" sz="1400" dirty="0" smtClean="0"/>
              <a:t>ICMPv6</a:t>
            </a:r>
            <a:r>
              <a:rPr lang="zh-CN" altLang="en-US" sz="1400" dirty="0" smtClean="0"/>
              <a:t>报文形成</a:t>
            </a:r>
            <a:r>
              <a:rPr lang="en-US" altLang="zh-CN" sz="1400" dirty="0" smtClean="0"/>
              <a:t>IPv6</a:t>
            </a:r>
            <a:r>
              <a:rPr lang="zh-CN" altLang="en-US" sz="1400" dirty="0" smtClean="0"/>
              <a:t>地址与数据链路层地址（一般是</a:t>
            </a:r>
            <a:r>
              <a:rPr lang="en-US" altLang="zh-CN" sz="1400" dirty="0" smtClean="0"/>
              <a:t>MAC</a:t>
            </a:r>
            <a:r>
              <a:rPr lang="zh-CN" altLang="en-US" sz="1400" dirty="0" smtClean="0"/>
              <a:t>地址）的映射关系。</a:t>
            </a:r>
          </a:p>
        </p:txBody>
      </p:sp>
      <p:cxnSp>
        <p:nvCxnSpPr>
          <p:cNvPr id="31" name="直接连接符 30"/>
          <p:cNvCxnSpPr/>
          <p:nvPr/>
        </p:nvCxnSpPr>
        <p:spPr bwMode="gray">
          <a:xfrm>
            <a:off x="2037772" y="4078757"/>
            <a:ext cx="3618124" cy="0"/>
          </a:xfrm>
          <a:prstGeom prst="line">
            <a:avLst/>
          </a:prstGeom>
          <a:solidFill>
            <a:srgbClr val="D9D9D9"/>
          </a:solidFill>
          <a:ln w="19050" cap="flat" cmpd="sng" algn="ctr">
            <a:solidFill>
              <a:srgbClr val="BEE9EE"/>
            </a:solidFill>
            <a:prstDash val="solid"/>
            <a:round/>
            <a:headEnd type="none" w="med" len="med"/>
            <a:tailEnd type="none" w="med" len="med"/>
          </a:ln>
          <a:effectLst/>
        </p:spPr>
      </p:cxnSp>
      <p:sp>
        <p:nvSpPr>
          <p:cNvPr id="32" name="文本框 31"/>
          <p:cNvSpPr txBox="1"/>
          <p:nvPr/>
        </p:nvSpPr>
        <p:spPr bwMode="gray">
          <a:xfrm>
            <a:off x="3914703" y="1947706"/>
            <a:ext cx="3587793" cy="101198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ts val="2400"/>
              </a:lnSpc>
            </a:pPr>
            <a:r>
              <a:rPr lang="en-US" altLang="zh-CN" sz="1400" dirty="0"/>
              <a:t>DAD</a:t>
            </a:r>
            <a:r>
              <a:rPr lang="zh-CN" altLang="en-US" sz="1400" dirty="0"/>
              <a:t>（</a:t>
            </a:r>
            <a:r>
              <a:rPr lang="en-US" altLang="zh-CN" sz="1400" dirty="0"/>
              <a:t>Duplicate Address </a:t>
            </a:r>
            <a:r>
              <a:rPr lang="en-US" altLang="zh-CN" sz="1400" dirty="0" smtClean="0"/>
              <a:t>Detection</a:t>
            </a:r>
            <a:r>
              <a:rPr lang="zh-CN" altLang="en-US" sz="1400" dirty="0"/>
              <a:t>，重复地址检测</a:t>
            </a:r>
            <a:r>
              <a:rPr lang="zh-CN" altLang="en-US" sz="1400" dirty="0" smtClean="0"/>
              <a:t>）类似于</a:t>
            </a:r>
            <a:r>
              <a:rPr lang="en-US" altLang="zh-CN" sz="1400" dirty="0"/>
              <a:t>IPv4</a:t>
            </a:r>
            <a:r>
              <a:rPr lang="zh-CN" altLang="en-US" sz="1400" dirty="0"/>
              <a:t>中的免费</a:t>
            </a:r>
            <a:r>
              <a:rPr lang="en-US" altLang="zh-CN" sz="1400" dirty="0"/>
              <a:t>ARP</a:t>
            </a:r>
            <a:r>
              <a:rPr lang="zh-CN" altLang="en-US" sz="1400" dirty="0"/>
              <a:t>检测，用于检测当前地址是否与其他接口冲突</a:t>
            </a:r>
            <a:r>
              <a:rPr lang="zh-CN" altLang="en-US" sz="1400" dirty="0" smtClean="0"/>
              <a:t>。</a:t>
            </a:r>
            <a:endParaRPr lang="zh-CN" altLang="en-US" sz="1400" dirty="0"/>
          </a:p>
        </p:txBody>
      </p:sp>
      <p:sp>
        <p:nvSpPr>
          <p:cNvPr id="33" name="文本框 32"/>
          <p:cNvSpPr txBox="1"/>
          <p:nvPr/>
        </p:nvSpPr>
        <p:spPr bwMode="gray">
          <a:xfrm>
            <a:off x="842931" y="1947706"/>
            <a:ext cx="2833184" cy="98153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ts val="2400"/>
              </a:lnSpc>
            </a:pPr>
            <a:r>
              <a:rPr lang="zh-CN" altLang="en-US" sz="1400" dirty="0" smtClean="0"/>
              <a:t>全球单播地址和链路本地地址是接口上最常见的</a:t>
            </a:r>
            <a:r>
              <a:rPr lang="en-US" altLang="zh-CN" sz="1400" dirty="0" smtClean="0"/>
              <a:t>IPv6</a:t>
            </a:r>
            <a:r>
              <a:rPr lang="zh-CN" altLang="en-US" sz="1400" dirty="0" smtClean="0"/>
              <a:t>单播地址，一个接口上可以配置多个</a:t>
            </a:r>
            <a:r>
              <a:rPr lang="en-US" altLang="zh-CN" sz="1400" dirty="0" smtClean="0"/>
              <a:t>IPv6</a:t>
            </a:r>
            <a:r>
              <a:rPr lang="zh-CN" altLang="en-US" sz="1400" dirty="0" smtClean="0"/>
              <a:t>地址。</a:t>
            </a:r>
          </a:p>
        </p:txBody>
      </p:sp>
    </p:spTree>
    <p:extLst>
      <p:ext uri="{BB962C8B-B14F-4D97-AF65-F5344CB8AC3E}">
        <p14:creationId xmlns:p14="http://schemas.microsoft.com/office/powerpoint/2010/main" val="6292782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IPv6</a:t>
            </a:r>
            <a:r>
              <a:rPr lang="zh-CN" altLang="en-US" dirty="0"/>
              <a:t>基础回顾</a:t>
            </a:r>
            <a:r>
              <a:rPr lang="zh-CN" altLang="en-US" dirty="0" smtClean="0"/>
              <a:t>：全球单播地址</a:t>
            </a:r>
            <a:r>
              <a:rPr lang="zh-CN" altLang="en-US" dirty="0"/>
              <a:t>配置</a:t>
            </a:r>
            <a:r>
              <a:rPr lang="zh-CN" altLang="en-US" dirty="0" smtClean="0"/>
              <a:t>方式</a:t>
            </a:r>
            <a:endParaRPr lang="zh-CN" altLang="en-US" dirty="0"/>
          </a:p>
        </p:txBody>
      </p:sp>
      <p:sp>
        <p:nvSpPr>
          <p:cNvPr id="3" name="文本占位符 2"/>
          <p:cNvSpPr>
            <a:spLocks noGrp="1"/>
          </p:cNvSpPr>
          <p:nvPr>
            <p:ph type="body" sz="quarter" idx="10"/>
          </p:nvPr>
        </p:nvSpPr>
        <p:spPr bwMode="gray">
          <a:xfrm>
            <a:off x="455612" y="1047751"/>
            <a:ext cx="11293475" cy="995100"/>
          </a:xfrm>
        </p:spPr>
        <p:txBody>
          <a:bodyPr/>
          <a:lstStyle/>
          <a:p>
            <a:r>
              <a:rPr lang="zh-CN" altLang="en-US" sz="1800" dirty="0"/>
              <a:t>与</a:t>
            </a:r>
            <a:r>
              <a:rPr lang="en-US" altLang="zh-CN" sz="1800" dirty="0"/>
              <a:t>IPv4</a:t>
            </a:r>
            <a:r>
              <a:rPr lang="zh-CN" altLang="en-US" sz="1800" dirty="0"/>
              <a:t>地址分配方式类似，</a:t>
            </a:r>
            <a:r>
              <a:rPr lang="en-US" altLang="zh-CN" sz="1800" dirty="0"/>
              <a:t>IPv6</a:t>
            </a:r>
            <a:r>
              <a:rPr lang="zh-CN" altLang="en-US" sz="1800" dirty="0"/>
              <a:t>地址分配大致</a:t>
            </a:r>
            <a:r>
              <a:rPr lang="zh-CN" altLang="en-US" sz="1800" dirty="0" smtClean="0"/>
              <a:t>可分为手工</a:t>
            </a:r>
            <a:r>
              <a:rPr lang="zh-CN" altLang="en-US" sz="1800" dirty="0"/>
              <a:t>配置和自动化配置两种方式，而</a:t>
            </a:r>
            <a:r>
              <a:rPr lang="en-US" altLang="zh-CN" sz="1800" dirty="0"/>
              <a:t>IPv6</a:t>
            </a:r>
            <a:r>
              <a:rPr lang="zh-CN" altLang="en-US" sz="1800" dirty="0"/>
              <a:t>地址的自动化配置方式主要有无状态地址自动分配和有状态自动地址分配两种</a:t>
            </a:r>
            <a:r>
              <a:rPr lang="zh-CN" altLang="en-US" sz="1800" dirty="0" smtClean="0"/>
              <a:t>方式。</a:t>
            </a:r>
            <a:endParaRPr lang="zh-CN" altLang="en-US" sz="1800" dirty="0"/>
          </a:p>
        </p:txBody>
      </p:sp>
      <p:sp>
        <p:nvSpPr>
          <p:cNvPr id="4" name="圆角矩形 75"/>
          <p:cNvSpPr/>
          <p:nvPr/>
        </p:nvSpPr>
        <p:spPr bwMode="gray">
          <a:xfrm>
            <a:off x="542926" y="1911539"/>
            <a:ext cx="357187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手工配置静态地址</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542926" y="2357832"/>
            <a:ext cx="3571874" cy="3679619"/>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全球</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单播地址可有如下两种方式配置：</a:t>
            </a:r>
          </a:p>
          <a:p>
            <a:pPr marL="360000" lvl="0" indent="-180000" defTabSz="914400">
              <a:lnSpc>
                <a:spcPct val="150000"/>
              </a:lnSpc>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采用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EUI-64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格式形成</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地址的前缀是所配置的前缀，而接口标识符则由接口自动生成</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lvl="0" indent="-180000" defTabSz="914400">
              <a:lnSpc>
                <a:spcPct val="150000"/>
              </a:lnSpc>
              <a:buFont typeface="Huawei Sans" panose="020C0503030203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手工</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配置：用户手工配置</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全球单播地址。</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4293394" y="1911539"/>
            <a:ext cx="357187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有</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状态地址自动配置（</a:t>
            </a: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DHCPv6</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4293394" y="2357832"/>
            <a:ext cx="3571874" cy="3679619"/>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有状态地址自动配置基于</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DHCPv6</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来</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实现。</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p:cNvSpPr/>
          <p:nvPr/>
        </p:nvSpPr>
        <p:spPr bwMode="gray">
          <a:xfrm>
            <a:off x="8043863" y="1911539"/>
            <a:ext cx="357187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无</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状态地址自动配置（</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SLAAC</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75"/>
          <p:cNvSpPr/>
          <p:nvPr/>
        </p:nvSpPr>
        <p:spPr bwMode="gray">
          <a:xfrm>
            <a:off x="8043863" y="2357832"/>
            <a:ext cx="3571874" cy="3679619"/>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无状态地址自动配置方式基于</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NDP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来实现。</a:t>
            </a:r>
          </a:p>
        </p:txBody>
      </p:sp>
      <p:sp>
        <p:nvSpPr>
          <p:cNvPr id="10" name="Line 22"/>
          <p:cNvSpPr>
            <a:spLocks noChangeShapeType="1"/>
          </p:cNvSpPr>
          <p:nvPr/>
        </p:nvSpPr>
        <p:spPr bwMode="gray">
          <a:xfrm flipV="1">
            <a:off x="8481345" y="3130264"/>
            <a:ext cx="2570857" cy="0"/>
          </a:xfrm>
          <a:prstGeom prst="line">
            <a:avLst/>
          </a:prstGeom>
          <a:noFill/>
          <a:ln w="19050">
            <a:solidFill>
              <a:schemeClr val="tx1"/>
            </a:solidFill>
            <a:round/>
            <a:headEnd/>
            <a:tailEnd/>
          </a:ln>
          <a:effectLst/>
        </p:spPr>
        <p:txBody>
          <a:bodyPr wrap="none" anchor="ctr"/>
          <a:lstStyle/>
          <a:p>
            <a:endParaRPr lang="zh-CN" altLang="en-US" sz="1200"/>
          </a:p>
        </p:txBody>
      </p:sp>
      <p:pic>
        <p:nvPicPr>
          <p:cNvPr id="11" name="图片 1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184020" y="2990561"/>
            <a:ext cx="375193" cy="307658"/>
          </a:xfrm>
          <a:prstGeom prst="rect">
            <a:avLst/>
          </a:prstGeom>
        </p:spPr>
      </p:pic>
      <p:sp>
        <p:nvSpPr>
          <p:cNvPr id="13" name="Oval 4"/>
          <p:cNvSpPr>
            <a:spLocks noChangeAspect="1"/>
          </p:cNvSpPr>
          <p:nvPr/>
        </p:nvSpPr>
        <p:spPr bwMode="gray">
          <a:xfrm>
            <a:off x="10827670" y="3388778"/>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Straight Connector 75"/>
          <p:cNvCxnSpPr/>
          <p:nvPr/>
        </p:nvCxnSpPr>
        <p:spPr bwMode="gray">
          <a:xfrm flipH="1">
            <a:off x="8561614" y="3994052"/>
            <a:ext cx="2226598" cy="0"/>
          </a:xfrm>
          <a:prstGeom prst="line">
            <a:avLst/>
          </a:prstGeom>
          <a:solidFill>
            <a:schemeClr val="accent1"/>
          </a:solidFill>
          <a:ln w="25400" cap="flat" cmpd="sng" algn="ctr">
            <a:solidFill>
              <a:srgbClr val="56C4D2"/>
            </a:solidFill>
            <a:prstDash val="solid"/>
            <a:round/>
            <a:headEnd type="none" w="med" len="med"/>
            <a:tailEnd type="triangle" w="med" len="med"/>
          </a:ln>
          <a:effectLst/>
        </p:spPr>
      </p:cxnSp>
      <p:sp>
        <p:nvSpPr>
          <p:cNvPr id="15" name="文本占位符 2"/>
          <p:cNvSpPr txBox="1">
            <a:spLocks/>
          </p:cNvSpPr>
          <p:nvPr/>
        </p:nvSpPr>
        <p:spPr bwMode="gray">
          <a:xfrm>
            <a:off x="9425990" y="3365289"/>
            <a:ext cx="1432559" cy="26473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r">
              <a:lnSpc>
                <a:spcPct val="100000"/>
              </a:lnSpc>
              <a:buNone/>
            </a:pPr>
            <a:r>
              <a:rPr lang="zh-CN" altLang="en-US" sz="1200" dirty="0"/>
              <a:t>生成链路本地地址</a:t>
            </a:r>
          </a:p>
        </p:txBody>
      </p:sp>
      <p:sp>
        <p:nvSpPr>
          <p:cNvPr id="16" name="Oval 4"/>
          <p:cNvSpPr>
            <a:spLocks noChangeAspect="1"/>
          </p:cNvSpPr>
          <p:nvPr/>
        </p:nvSpPr>
        <p:spPr bwMode="gray">
          <a:xfrm>
            <a:off x="10827670" y="3733234"/>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占位符 2"/>
          <p:cNvSpPr txBox="1">
            <a:spLocks/>
          </p:cNvSpPr>
          <p:nvPr/>
        </p:nvSpPr>
        <p:spPr bwMode="gray">
          <a:xfrm>
            <a:off x="8433079" y="3688286"/>
            <a:ext cx="2421094" cy="32704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r">
              <a:lnSpc>
                <a:spcPct val="100000"/>
              </a:lnSpc>
              <a:buNone/>
            </a:pPr>
            <a:r>
              <a:rPr lang="zh-CN" altLang="en-US" sz="1200" dirty="0"/>
              <a:t>针对链路本地地址执行</a:t>
            </a:r>
            <a:r>
              <a:rPr lang="en-US" altLang="zh-CN" sz="1200" dirty="0"/>
              <a:t>DAD</a:t>
            </a:r>
            <a:r>
              <a:rPr lang="zh-CN" altLang="en-US" sz="1200" dirty="0"/>
              <a:t>检测</a:t>
            </a:r>
          </a:p>
        </p:txBody>
      </p:sp>
      <p:cxnSp>
        <p:nvCxnSpPr>
          <p:cNvPr id="18" name="Straight Connector 75"/>
          <p:cNvCxnSpPr/>
          <p:nvPr/>
        </p:nvCxnSpPr>
        <p:spPr bwMode="gray">
          <a:xfrm flipH="1">
            <a:off x="8561614" y="4499494"/>
            <a:ext cx="2226598" cy="0"/>
          </a:xfrm>
          <a:prstGeom prst="line">
            <a:avLst/>
          </a:prstGeom>
          <a:solidFill>
            <a:schemeClr val="accent1"/>
          </a:solidFill>
          <a:ln w="25400" cap="flat" cmpd="sng" algn="ctr">
            <a:solidFill>
              <a:srgbClr val="56C4D2"/>
            </a:solidFill>
            <a:prstDash val="solid"/>
            <a:round/>
            <a:headEnd type="none" w="med" len="med"/>
            <a:tailEnd type="triangle" w="med" len="med"/>
          </a:ln>
          <a:effectLst/>
        </p:spPr>
      </p:cxnSp>
      <p:sp>
        <p:nvSpPr>
          <p:cNvPr id="19" name="Oval 4"/>
          <p:cNvSpPr>
            <a:spLocks noChangeAspect="1"/>
          </p:cNvSpPr>
          <p:nvPr/>
        </p:nvSpPr>
        <p:spPr bwMode="gray">
          <a:xfrm>
            <a:off x="10827670" y="4284088"/>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占位符 2"/>
          <p:cNvSpPr txBox="1">
            <a:spLocks/>
          </p:cNvSpPr>
          <p:nvPr/>
        </p:nvSpPr>
        <p:spPr bwMode="gray">
          <a:xfrm>
            <a:off x="8979480" y="4225544"/>
            <a:ext cx="1874693" cy="32704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r">
              <a:lnSpc>
                <a:spcPct val="100000"/>
              </a:lnSpc>
              <a:buNone/>
            </a:pPr>
            <a:r>
              <a:rPr lang="zh-CN" altLang="en-US" sz="1200" dirty="0"/>
              <a:t>发送</a:t>
            </a:r>
            <a:r>
              <a:rPr lang="en-US" altLang="zh-CN" sz="1200" dirty="0"/>
              <a:t>RS</a:t>
            </a:r>
            <a:r>
              <a:rPr lang="zh-CN" altLang="en-US" sz="1200" dirty="0"/>
              <a:t>，尝试发现路由器</a:t>
            </a:r>
          </a:p>
        </p:txBody>
      </p:sp>
      <p:cxnSp>
        <p:nvCxnSpPr>
          <p:cNvPr id="21" name="Straight Connector 75"/>
          <p:cNvCxnSpPr/>
          <p:nvPr/>
        </p:nvCxnSpPr>
        <p:spPr bwMode="gray">
          <a:xfrm flipV="1">
            <a:off x="8663674" y="5046492"/>
            <a:ext cx="2226146" cy="0"/>
          </a:xfrm>
          <a:prstGeom prst="line">
            <a:avLst/>
          </a:prstGeom>
          <a:solidFill>
            <a:schemeClr val="accent1"/>
          </a:solidFill>
          <a:ln w="25400" cap="flat" cmpd="sng" algn="ctr">
            <a:solidFill>
              <a:srgbClr val="56C4D2"/>
            </a:solidFill>
            <a:prstDash val="solid"/>
            <a:round/>
            <a:headEnd type="none" w="med" len="med"/>
            <a:tailEnd type="triangle" w="med" len="med"/>
          </a:ln>
          <a:effectLst/>
        </p:spPr>
      </p:cxnSp>
      <p:sp>
        <p:nvSpPr>
          <p:cNvPr id="22" name="Oval 4"/>
          <p:cNvSpPr>
            <a:spLocks noChangeAspect="1"/>
          </p:cNvSpPr>
          <p:nvPr/>
        </p:nvSpPr>
        <p:spPr bwMode="gray">
          <a:xfrm>
            <a:off x="8477509" y="4828934"/>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占位符 2"/>
          <p:cNvSpPr txBox="1">
            <a:spLocks/>
          </p:cNvSpPr>
          <p:nvPr/>
        </p:nvSpPr>
        <p:spPr bwMode="gray">
          <a:xfrm>
            <a:off x="8593429" y="4767924"/>
            <a:ext cx="1745640" cy="32704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ctr">
              <a:lnSpc>
                <a:spcPct val="100000"/>
              </a:lnSpc>
              <a:buNone/>
            </a:pPr>
            <a:r>
              <a:rPr lang="zh-CN" altLang="en-US" sz="1200" dirty="0"/>
              <a:t>回应</a:t>
            </a:r>
            <a:r>
              <a:rPr lang="en-US" altLang="zh-CN" sz="1200" dirty="0"/>
              <a:t>RA</a:t>
            </a:r>
            <a:r>
              <a:rPr lang="zh-CN" altLang="en-US" sz="1200" dirty="0"/>
              <a:t>，携带</a:t>
            </a:r>
            <a:r>
              <a:rPr lang="en-US" altLang="zh-CN" sz="1200" dirty="0"/>
              <a:t>IPv6</a:t>
            </a:r>
            <a:r>
              <a:rPr lang="zh-CN" altLang="en-US" sz="1200" dirty="0"/>
              <a:t>前缀</a:t>
            </a:r>
          </a:p>
        </p:txBody>
      </p:sp>
      <p:sp>
        <p:nvSpPr>
          <p:cNvPr id="24" name="Oval 4"/>
          <p:cNvSpPr>
            <a:spLocks noChangeAspect="1"/>
          </p:cNvSpPr>
          <p:nvPr/>
        </p:nvSpPr>
        <p:spPr bwMode="gray">
          <a:xfrm>
            <a:off x="10827670" y="5248573"/>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占位符 2"/>
          <p:cNvSpPr txBox="1">
            <a:spLocks/>
          </p:cNvSpPr>
          <p:nvPr/>
        </p:nvSpPr>
        <p:spPr bwMode="gray">
          <a:xfrm>
            <a:off x="9482502" y="5216253"/>
            <a:ext cx="1376047" cy="21502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r">
              <a:lnSpc>
                <a:spcPct val="100000"/>
              </a:lnSpc>
              <a:buNone/>
            </a:pPr>
            <a:r>
              <a:rPr lang="zh-CN" altLang="en-US" sz="1200" dirty="0"/>
              <a:t>生成</a:t>
            </a:r>
            <a:r>
              <a:rPr lang="en-US" altLang="zh-CN" sz="1200" dirty="0"/>
              <a:t>IPv6</a:t>
            </a:r>
            <a:r>
              <a:rPr lang="zh-CN" altLang="en-US" sz="1200" dirty="0"/>
              <a:t>单播地址</a:t>
            </a:r>
          </a:p>
        </p:txBody>
      </p:sp>
      <p:cxnSp>
        <p:nvCxnSpPr>
          <p:cNvPr id="26" name="Straight Connector 75"/>
          <p:cNvCxnSpPr/>
          <p:nvPr/>
        </p:nvCxnSpPr>
        <p:spPr bwMode="gray">
          <a:xfrm flipH="1">
            <a:off x="8561614" y="5854020"/>
            <a:ext cx="2267640" cy="1033"/>
          </a:xfrm>
          <a:prstGeom prst="line">
            <a:avLst/>
          </a:prstGeom>
          <a:solidFill>
            <a:schemeClr val="accent1"/>
          </a:solidFill>
          <a:ln w="25400" cap="flat" cmpd="sng" algn="ctr">
            <a:solidFill>
              <a:srgbClr val="56C4D2"/>
            </a:solidFill>
            <a:prstDash val="solid"/>
            <a:round/>
            <a:headEnd type="none" w="med" len="med"/>
            <a:tailEnd type="triangle" w="med" len="med"/>
          </a:ln>
          <a:effectLst/>
        </p:spPr>
      </p:cxnSp>
      <p:sp>
        <p:nvSpPr>
          <p:cNvPr id="27" name="Oval 4"/>
          <p:cNvSpPr>
            <a:spLocks noChangeAspect="1"/>
          </p:cNvSpPr>
          <p:nvPr/>
        </p:nvSpPr>
        <p:spPr bwMode="gray">
          <a:xfrm>
            <a:off x="10827670" y="5602524"/>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占位符 2"/>
          <p:cNvSpPr txBox="1">
            <a:spLocks/>
          </p:cNvSpPr>
          <p:nvPr/>
        </p:nvSpPr>
        <p:spPr bwMode="gray">
          <a:xfrm>
            <a:off x="8532762" y="5558282"/>
            <a:ext cx="2321411" cy="24725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r">
              <a:lnSpc>
                <a:spcPct val="100000"/>
              </a:lnSpc>
              <a:buNone/>
            </a:pPr>
            <a:r>
              <a:rPr lang="zh-CN" altLang="en-US" sz="1200" dirty="0"/>
              <a:t>针对</a:t>
            </a:r>
            <a:r>
              <a:rPr lang="en-US" altLang="zh-CN" sz="1200" dirty="0"/>
              <a:t>IPv6</a:t>
            </a:r>
            <a:r>
              <a:rPr lang="zh-CN" altLang="en-US" sz="1200" dirty="0"/>
              <a:t>单播地址执行</a:t>
            </a:r>
            <a:r>
              <a:rPr lang="en-US" altLang="zh-CN" sz="1200" dirty="0"/>
              <a:t>DAD</a:t>
            </a:r>
            <a:r>
              <a:rPr lang="zh-CN" altLang="en-US" sz="1200" dirty="0"/>
              <a:t>检测</a:t>
            </a:r>
          </a:p>
        </p:txBody>
      </p:sp>
      <p:sp>
        <p:nvSpPr>
          <p:cNvPr id="29" name="文本占位符 2"/>
          <p:cNvSpPr txBox="1">
            <a:spLocks/>
          </p:cNvSpPr>
          <p:nvPr/>
        </p:nvSpPr>
        <p:spPr bwMode="gray">
          <a:xfrm>
            <a:off x="8210938" y="2752754"/>
            <a:ext cx="497345" cy="19989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l">
              <a:lnSpc>
                <a:spcPct val="100000"/>
              </a:lnSpc>
              <a:buNone/>
            </a:pPr>
            <a:r>
              <a:rPr lang="en-US" altLang="zh-CN" sz="1200" dirty="0"/>
              <a:t>R1</a:t>
            </a:r>
            <a:endParaRPr lang="zh-CN" altLang="en-US" sz="1200" dirty="0"/>
          </a:p>
        </p:txBody>
      </p:sp>
      <p:cxnSp>
        <p:nvCxnSpPr>
          <p:cNvPr id="31" name="直接连接符 30"/>
          <p:cNvCxnSpPr/>
          <p:nvPr/>
        </p:nvCxnSpPr>
        <p:spPr bwMode="gray">
          <a:xfrm>
            <a:off x="8371617" y="3378312"/>
            <a:ext cx="0" cy="257126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gray">
          <a:xfrm>
            <a:off x="11162066" y="3347310"/>
            <a:ext cx="0" cy="257126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Line 22"/>
          <p:cNvSpPr>
            <a:spLocks noChangeShapeType="1"/>
          </p:cNvSpPr>
          <p:nvPr/>
        </p:nvSpPr>
        <p:spPr bwMode="gray">
          <a:xfrm flipV="1">
            <a:off x="4815632" y="3130264"/>
            <a:ext cx="2570857" cy="0"/>
          </a:xfrm>
          <a:prstGeom prst="line">
            <a:avLst/>
          </a:prstGeom>
          <a:noFill/>
          <a:ln w="19050">
            <a:solidFill>
              <a:schemeClr val="tx1"/>
            </a:solidFill>
            <a:round/>
            <a:headEnd/>
            <a:tailEnd/>
          </a:ln>
          <a:effectLst/>
        </p:spPr>
        <p:txBody>
          <a:bodyPr wrap="none" anchor="ctr"/>
          <a:lstStyle/>
          <a:p>
            <a:endParaRPr lang="zh-CN" altLang="en-US" sz="1200"/>
          </a:p>
        </p:txBody>
      </p:sp>
      <p:cxnSp>
        <p:nvCxnSpPr>
          <p:cNvPr id="43" name="Straight Connector 75"/>
          <p:cNvCxnSpPr/>
          <p:nvPr/>
        </p:nvCxnSpPr>
        <p:spPr bwMode="gray">
          <a:xfrm flipH="1">
            <a:off x="4993517" y="3700195"/>
            <a:ext cx="2232000" cy="0"/>
          </a:xfrm>
          <a:prstGeom prst="line">
            <a:avLst/>
          </a:prstGeom>
          <a:solidFill>
            <a:schemeClr val="accent1"/>
          </a:solidFill>
          <a:ln w="25400" cap="flat" cmpd="sng" algn="ctr">
            <a:solidFill>
              <a:srgbClr val="56C4D2"/>
            </a:solidFill>
            <a:prstDash val="solid"/>
            <a:round/>
            <a:headEnd type="none" w="med" len="med"/>
            <a:tailEnd type="triangle" w="med" len="med"/>
          </a:ln>
          <a:effectLst/>
        </p:spPr>
      </p:cxnSp>
      <p:sp>
        <p:nvSpPr>
          <p:cNvPr id="45" name="Oval 4"/>
          <p:cNvSpPr>
            <a:spLocks noChangeAspect="1"/>
          </p:cNvSpPr>
          <p:nvPr/>
        </p:nvSpPr>
        <p:spPr bwMode="gray">
          <a:xfrm>
            <a:off x="7286494" y="3512299"/>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占位符 2"/>
          <p:cNvSpPr txBox="1">
            <a:spLocks/>
          </p:cNvSpPr>
          <p:nvPr/>
        </p:nvSpPr>
        <p:spPr bwMode="gray">
          <a:xfrm>
            <a:off x="4976827" y="3455511"/>
            <a:ext cx="2308803" cy="47060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indent="0" algn="r" defTabSz="914034" fontAlgn="auto">
              <a:lnSpc>
                <a:spcPct val="120000"/>
              </a:lnSpc>
              <a:spcBef>
                <a:spcPts val="0"/>
              </a:spcBef>
              <a:buClrTx/>
              <a:buFont typeface="Arial" panose="020B0604020202020204" pitchFamily="34" charset="0"/>
              <a:buNone/>
              <a:defRPr sz="1200">
                <a:cs typeface="Arial" panose="020B0604020202020204" pitchFamily="34" charset="0"/>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dirty="0"/>
              <a:t>Solicit</a:t>
            </a:r>
          </a:p>
          <a:p>
            <a:r>
              <a:rPr lang="zh-CN" altLang="en-US" dirty="0"/>
              <a:t>请求分配</a:t>
            </a:r>
            <a:r>
              <a:rPr lang="en-US" altLang="zh-CN" dirty="0"/>
              <a:t>IPv6</a:t>
            </a:r>
            <a:r>
              <a:rPr lang="zh-CN" altLang="en-US" dirty="0"/>
              <a:t>地址</a:t>
            </a:r>
            <a:r>
              <a:rPr lang="en-US" altLang="zh-CN" dirty="0"/>
              <a:t>/</a:t>
            </a:r>
            <a:r>
              <a:rPr lang="zh-CN" altLang="en-US" dirty="0"/>
              <a:t>前缀</a:t>
            </a:r>
          </a:p>
        </p:txBody>
      </p:sp>
      <p:cxnSp>
        <p:nvCxnSpPr>
          <p:cNvPr id="47" name="Straight Connector 75"/>
          <p:cNvCxnSpPr/>
          <p:nvPr/>
        </p:nvCxnSpPr>
        <p:spPr bwMode="gray">
          <a:xfrm flipH="1">
            <a:off x="4993517" y="4262901"/>
            <a:ext cx="2232000" cy="0"/>
          </a:xfrm>
          <a:prstGeom prst="line">
            <a:avLst/>
          </a:prstGeom>
          <a:solidFill>
            <a:schemeClr val="accent1"/>
          </a:solidFill>
          <a:ln w="25400" cap="flat" cmpd="sng" algn="ctr">
            <a:solidFill>
              <a:srgbClr val="56C4D2"/>
            </a:solidFill>
            <a:prstDash val="solid"/>
            <a:round/>
            <a:headEnd type="triangle" w="med" len="med"/>
            <a:tailEnd type="none" w="med" len="med"/>
          </a:ln>
          <a:effectLst/>
        </p:spPr>
      </p:cxnSp>
      <p:cxnSp>
        <p:nvCxnSpPr>
          <p:cNvPr id="50" name="Straight Connector 75"/>
          <p:cNvCxnSpPr/>
          <p:nvPr/>
        </p:nvCxnSpPr>
        <p:spPr bwMode="gray">
          <a:xfrm flipV="1">
            <a:off x="4993517" y="5389347"/>
            <a:ext cx="2232000" cy="0"/>
          </a:xfrm>
          <a:prstGeom prst="line">
            <a:avLst/>
          </a:prstGeom>
          <a:solidFill>
            <a:schemeClr val="accent1"/>
          </a:solidFill>
          <a:ln w="25400" cap="flat" cmpd="sng" algn="ctr">
            <a:solidFill>
              <a:srgbClr val="56C4D2"/>
            </a:solidFill>
            <a:prstDash val="solid"/>
            <a:round/>
            <a:headEnd type="none" w="med" len="med"/>
            <a:tailEnd type="triangle" w="med" len="med"/>
          </a:ln>
          <a:effectLst/>
        </p:spPr>
      </p:cxnSp>
      <p:cxnSp>
        <p:nvCxnSpPr>
          <p:cNvPr id="55" name="Straight Connector 75"/>
          <p:cNvCxnSpPr/>
          <p:nvPr/>
        </p:nvCxnSpPr>
        <p:spPr bwMode="gray">
          <a:xfrm flipH="1">
            <a:off x="4993517" y="4825607"/>
            <a:ext cx="2232000" cy="1033"/>
          </a:xfrm>
          <a:prstGeom prst="line">
            <a:avLst/>
          </a:prstGeom>
          <a:solidFill>
            <a:schemeClr val="accent1"/>
          </a:solidFill>
          <a:ln w="25400" cap="flat" cmpd="sng" algn="ctr">
            <a:solidFill>
              <a:srgbClr val="56C4D2"/>
            </a:solidFill>
            <a:prstDash val="solid"/>
            <a:round/>
            <a:headEnd type="none" w="med" len="med"/>
            <a:tailEnd type="triangle" w="med" len="med"/>
          </a:ln>
          <a:effectLst/>
        </p:spPr>
      </p:cxnSp>
      <p:sp>
        <p:nvSpPr>
          <p:cNvPr id="58" name="文本占位符 2"/>
          <p:cNvSpPr txBox="1">
            <a:spLocks/>
          </p:cNvSpPr>
          <p:nvPr/>
        </p:nvSpPr>
        <p:spPr bwMode="gray">
          <a:xfrm>
            <a:off x="4270868" y="2752753"/>
            <a:ext cx="1411911" cy="21513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l">
              <a:lnSpc>
                <a:spcPct val="100000"/>
              </a:lnSpc>
              <a:buNone/>
            </a:pPr>
            <a:r>
              <a:rPr lang="en-US" altLang="zh-CN" sz="1200" dirty="0" smtClean="0"/>
              <a:t>DHCPv6 Server</a:t>
            </a:r>
            <a:endParaRPr lang="zh-CN" altLang="en-US" sz="1200" dirty="0"/>
          </a:p>
        </p:txBody>
      </p:sp>
      <p:cxnSp>
        <p:nvCxnSpPr>
          <p:cNvPr id="60" name="直接连接符 59"/>
          <p:cNvCxnSpPr/>
          <p:nvPr/>
        </p:nvCxnSpPr>
        <p:spPr bwMode="gray">
          <a:xfrm>
            <a:off x="4742480" y="3378312"/>
            <a:ext cx="0" cy="257126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gray">
          <a:xfrm>
            <a:off x="7532929" y="3347310"/>
            <a:ext cx="0" cy="257126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62" name="图片 6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577643" y="2989175"/>
            <a:ext cx="368945" cy="302535"/>
          </a:xfrm>
          <a:prstGeom prst="rect">
            <a:avLst/>
          </a:prstGeom>
        </p:spPr>
      </p:pic>
      <p:sp>
        <p:nvSpPr>
          <p:cNvPr id="63" name="Oval 4"/>
          <p:cNvSpPr>
            <a:spLocks noChangeAspect="1"/>
          </p:cNvSpPr>
          <p:nvPr/>
        </p:nvSpPr>
        <p:spPr bwMode="gray">
          <a:xfrm>
            <a:off x="4808241" y="4072915"/>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占位符 2"/>
          <p:cNvSpPr txBox="1">
            <a:spLocks/>
          </p:cNvSpPr>
          <p:nvPr/>
        </p:nvSpPr>
        <p:spPr bwMode="gray">
          <a:xfrm>
            <a:off x="4960125" y="4016676"/>
            <a:ext cx="2520626" cy="46634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indent="0" defTabSz="914034" fontAlgn="auto">
              <a:lnSpc>
                <a:spcPct val="120000"/>
              </a:lnSpc>
              <a:spcBef>
                <a:spcPts val="0"/>
              </a:spcBef>
              <a:buClrTx/>
              <a:buFont typeface="Arial" panose="020B0604020202020204" pitchFamily="34" charset="0"/>
              <a:buNone/>
              <a:defRPr sz="1200">
                <a:cs typeface="Arial" panose="020B0604020202020204" pitchFamily="34" charset="0"/>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dirty="0"/>
              <a:t>Advertise</a:t>
            </a:r>
          </a:p>
          <a:p>
            <a:r>
              <a:rPr lang="zh-CN" altLang="en-US" dirty="0"/>
              <a:t>通知客户端可为其分配</a:t>
            </a:r>
            <a:r>
              <a:rPr lang="zh-CN" altLang="en-US" dirty="0" smtClean="0"/>
              <a:t>地址</a:t>
            </a:r>
            <a:r>
              <a:rPr lang="en-US" altLang="zh-CN" dirty="0" smtClean="0"/>
              <a:t>/</a:t>
            </a:r>
            <a:r>
              <a:rPr lang="zh-CN" altLang="en-US" dirty="0" smtClean="0"/>
              <a:t>前缀</a:t>
            </a:r>
            <a:endParaRPr lang="zh-CN" altLang="en-US" dirty="0"/>
          </a:p>
        </p:txBody>
      </p:sp>
      <p:sp>
        <p:nvSpPr>
          <p:cNvPr id="65" name="文本占位符 2"/>
          <p:cNvSpPr txBox="1">
            <a:spLocks/>
          </p:cNvSpPr>
          <p:nvPr/>
        </p:nvSpPr>
        <p:spPr bwMode="gray">
          <a:xfrm>
            <a:off x="4692994" y="4576195"/>
            <a:ext cx="2592636" cy="52643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indent="0" defTabSz="914034" fontAlgn="auto">
              <a:lnSpc>
                <a:spcPct val="120000"/>
              </a:lnSpc>
              <a:spcBef>
                <a:spcPts val="0"/>
              </a:spcBef>
              <a:buClrTx/>
              <a:buFont typeface="Arial" panose="020B0604020202020204" pitchFamily="34" charset="0"/>
              <a:buNone/>
              <a:defRPr sz="1200">
                <a:cs typeface="Arial" panose="020B0604020202020204" pitchFamily="34" charset="0"/>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pPr algn="r"/>
            <a:r>
              <a:rPr lang="en-US" altLang="zh-CN" dirty="0"/>
              <a:t>Request</a:t>
            </a:r>
          </a:p>
          <a:p>
            <a:pPr algn="r"/>
            <a:r>
              <a:rPr lang="zh-CN" altLang="en-US" dirty="0"/>
              <a:t>请求服务器确认为其分配地址</a:t>
            </a:r>
            <a:r>
              <a:rPr lang="en-US" altLang="zh-CN" dirty="0"/>
              <a:t>/</a:t>
            </a:r>
            <a:r>
              <a:rPr lang="zh-CN" altLang="en-US" dirty="0"/>
              <a:t>前缀</a:t>
            </a:r>
          </a:p>
        </p:txBody>
      </p:sp>
      <p:sp>
        <p:nvSpPr>
          <p:cNvPr id="66" name="文本占位符 2"/>
          <p:cNvSpPr txBox="1">
            <a:spLocks/>
          </p:cNvSpPr>
          <p:nvPr/>
        </p:nvSpPr>
        <p:spPr bwMode="gray">
          <a:xfrm>
            <a:off x="4960125" y="5141599"/>
            <a:ext cx="2520626" cy="51886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indent="0" algn="ctr" defTabSz="914034" fontAlgn="auto">
              <a:lnSpc>
                <a:spcPct val="100000"/>
              </a:lnSpc>
              <a:spcBef>
                <a:spcPts val="0"/>
              </a:spcBef>
              <a:buClrTx/>
              <a:buFont typeface="Arial" panose="020B0604020202020204" pitchFamily="34" charset="0"/>
              <a:buNone/>
              <a:defRPr sz="1200">
                <a:cs typeface="Arial" panose="020B0604020202020204" pitchFamily="34" charset="0"/>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pPr algn="l">
              <a:lnSpc>
                <a:spcPct val="120000"/>
              </a:lnSpc>
            </a:pPr>
            <a:r>
              <a:rPr lang="en-US" altLang="zh-CN" dirty="0"/>
              <a:t>Reply</a:t>
            </a:r>
          </a:p>
          <a:p>
            <a:pPr algn="l">
              <a:lnSpc>
                <a:spcPct val="120000"/>
              </a:lnSpc>
            </a:pPr>
            <a:r>
              <a:rPr lang="zh-CN" altLang="en-US" dirty="0"/>
              <a:t>确认将地址</a:t>
            </a:r>
            <a:r>
              <a:rPr lang="en-US" altLang="zh-CN" dirty="0"/>
              <a:t>/</a:t>
            </a:r>
            <a:r>
              <a:rPr lang="zh-CN" altLang="en-US" dirty="0"/>
              <a:t>前缀分配给客户端使用</a:t>
            </a:r>
          </a:p>
        </p:txBody>
      </p:sp>
      <p:sp>
        <p:nvSpPr>
          <p:cNvPr id="67" name="Oval 4"/>
          <p:cNvSpPr>
            <a:spLocks noChangeAspect="1"/>
          </p:cNvSpPr>
          <p:nvPr/>
        </p:nvSpPr>
        <p:spPr bwMode="gray">
          <a:xfrm>
            <a:off x="7286494" y="4672760"/>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Oval 4"/>
          <p:cNvSpPr>
            <a:spLocks noChangeAspect="1"/>
          </p:cNvSpPr>
          <p:nvPr/>
        </p:nvSpPr>
        <p:spPr bwMode="gray">
          <a:xfrm>
            <a:off x="4845378" y="5190507"/>
            <a:ext cx="175090" cy="175090"/>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1" name="图片 7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953320" y="2990561"/>
            <a:ext cx="375193" cy="307658"/>
          </a:xfrm>
          <a:prstGeom prst="rect">
            <a:avLst/>
          </a:prstGeom>
        </p:spPr>
      </p:pic>
      <p:sp>
        <p:nvSpPr>
          <p:cNvPr id="72" name="文本占位符 2"/>
          <p:cNvSpPr txBox="1">
            <a:spLocks/>
          </p:cNvSpPr>
          <p:nvPr/>
        </p:nvSpPr>
        <p:spPr bwMode="gray">
          <a:xfrm>
            <a:off x="10980238" y="2752754"/>
            <a:ext cx="497345" cy="19989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l">
              <a:lnSpc>
                <a:spcPct val="100000"/>
              </a:lnSpc>
              <a:buNone/>
            </a:pPr>
            <a:r>
              <a:rPr lang="en-US" altLang="zh-CN" sz="1200" dirty="0" smtClean="0"/>
              <a:t>R2</a:t>
            </a:r>
            <a:endParaRPr lang="zh-CN" altLang="en-US" sz="1200" dirty="0"/>
          </a:p>
        </p:txBody>
      </p:sp>
      <p:pic>
        <p:nvPicPr>
          <p:cNvPr id="73" name="图片 7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304334" y="2990561"/>
            <a:ext cx="375193" cy="307658"/>
          </a:xfrm>
          <a:prstGeom prst="rect">
            <a:avLst/>
          </a:prstGeom>
        </p:spPr>
      </p:pic>
      <p:sp>
        <p:nvSpPr>
          <p:cNvPr id="74" name="文本占位符 2"/>
          <p:cNvSpPr txBox="1">
            <a:spLocks/>
          </p:cNvSpPr>
          <p:nvPr/>
        </p:nvSpPr>
        <p:spPr bwMode="gray">
          <a:xfrm>
            <a:off x="7331252" y="2752754"/>
            <a:ext cx="497345" cy="19989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l">
              <a:lnSpc>
                <a:spcPct val="100000"/>
              </a:lnSpc>
              <a:buNone/>
            </a:pPr>
            <a:r>
              <a:rPr lang="en-US" altLang="zh-CN" sz="1200" dirty="0"/>
              <a:t>R1</a:t>
            </a:r>
            <a:endParaRPr lang="zh-CN" altLang="en-US" sz="1200" dirty="0"/>
          </a:p>
        </p:txBody>
      </p:sp>
    </p:spTree>
    <p:extLst>
      <p:ext uri="{BB962C8B-B14F-4D97-AF65-F5344CB8AC3E}">
        <p14:creationId xmlns:p14="http://schemas.microsoft.com/office/powerpoint/2010/main" val="3716711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IPv6</a:t>
            </a:r>
            <a:r>
              <a:rPr lang="zh-CN" altLang="en-US" smtClean="0"/>
              <a:t>地址申请</a:t>
            </a:r>
            <a:endParaRPr lang="zh-CN" altLang="en-US" dirty="0"/>
          </a:p>
        </p:txBody>
      </p:sp>
      <p:sp>
        <p:nvSpPr>
          <p:cNvPr id="3" name="文本占位符 2"/>
          <p:cNvSpPr>
            <a:spLocks noGrp="1"/>
          </p:cNvSpPr>
          <p:nvPr>
            <p:ph type="body" sz="quarter" idx="10"/>
          </p:nvPr>
        </p:nvSpPr>
        <p:spPr bwMode="gray">
          <a:xfrm>
            <a:off x="455612" y="1047750"/>
            <a:ext cx="11293475" cy="436563"/>
          </a:xfrm>
        </p:spPr>
        <p:txBody>
          <a:bodyPr/>
          <a:lstStyle/>
          <a:p>
            <a:r>
              <a:rPr lang="en-US" altLang="zh-CN" sz="1800" dirty="0" smtClean="0"/>
              <a:t>IPv6</a:t>
            </a:r>
            <a:r>
              <a:rPr lang="zh-CN" altLang="en-US" sz="1800" dirty="0" smtClean="0"/>
              <a:t>地址块分成两类：</a:t>
            </a:r>
            <a:r>
              <a:rPr lang="en-US" altLang="zh-CN" sz="1800" dirty="0" smtClean="0"/>
              <a:t>PA</a:t>
            </a:r>
            <a:r>
              <a:rPr lang="zh-CN" altLang="en-US" sz="1800" dirty="0" smtClean="0"/>
              <a:t>地址和</a:t>
            </a:r>
            <a:r>
              <a:rPr lang="en-US" altLang="zh-CN" sz="1800" dirty="0" smtClean="0"/>
              <a:t>PI</a:t>
            </a:r>
            <a:r>
              <a:rPr lang="zh-CN" altLang="en-US" sz="1800" dirty="0" smtClean="0"/>
              <a:t>地址。</a:t>
            </a:r>
            <a:endParaRPr lang="zh-CN" altLang="en-US" sz="1800" dirty="0"/>
          </a:p>
        </p:txBody>
      </p:sp>
      <p:sp>
        <p:nvSpPr>
          <p:cNvPr id="6" name="圆角矩形 75"/>
          <p:cNvSpPr/>
          <p:nvPr/>
        </p:nvSpPr>
        <p:spPr bwMode="gray">
          <a:xfrm>
            <a:off x="838199" y="1537650"/>
            <a:ext cx="518160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地址空间（</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Provider-</a:t>
            </a:r>
            <a:r>
              <a:rPr lang="en-US" altLang="zh-CN" sz="1600" dirty="0" err="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Aggregatable</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 address space</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7" name="圆角矩形 75"/>
          <p:cNvSpPr/>
          <p:nvPr/>
        </p:nvSpPr>
        <p:spPr bwMode="gray">
          <a:xfrm>
            <a:off x="838199" y="1983943"/>
            <a:ext cx="5181601" cy="3998843"/>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地址空间指</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的是一段由区域互联网注册管理</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机构分</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配给互联网服务提供</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商（</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 </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Service Provider</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ISP</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ISP</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可以再根据用户的需求分配地址块，即</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随专线、</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出口等服务同步</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提供给用户，适用于中小型企业，成本较低。但是，切换</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需更换地址</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分配。</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p:cNvSpPr/>
          <p:nvPr/>
        </p:nvSpPr>
        <p:spPr bwMode="gray">
          <a:xfrm>
            <a:off x="6124575" y="1537650"/>
            <a:ext cx="5318488"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PI</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地址空间（</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Provider-</a:t>
            </a:r>
            <a:r>
              <a:rPr lang="en-US" altLang="zh-CN" sz="1600" dirty="0" err="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Indepedent</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 address space</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9" name="圆角矩形 75"/>
          <p:cNvSpPr/>
          <p:nvPr/>
        </p:nvSpPr>
        <p:spPr bwMode="gray">
          <a:xfrm>
            <a:off x="6124575" y="1983943"/>
            <a:ext cx="5318488" cy="3998843"/>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PI</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地址空间是</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由区域互联网注册管理</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机构直接</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分配给最终用户的一段</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。获取了此种地址的用户必须另外联系</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ISP</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来获取互联网的接入</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服务，并将到达相关地址段的路由在互联网上</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通告。</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PI</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地址与</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ISP</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解耦，可以接入多个</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ISP</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，地址规划自主可控，适用于大中型企业。但是，</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PI</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地址使用成本较高。</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2022360" y="3698917"/>
            <a:ext cx="2244840" cy="284213"/>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smtClean="0">
                <a:ln>
                  <a:noFill/>
                </a:ln>
                <a:effectLst/>
                <a:latin typeface="Huawei Sans" panose="020C0503030203020204" pitchFamily="34" charset="0"/>
                <a:ea typeface="方正兰亭黑简体" panose="02000000000000000000" pitchFamily="2" charset="-122"/>
              </a:rPr>
              <a:t>IANA</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11" name="圆角矩形 10"/>
          <p:cNvSpPr/>
          <p:nvPr/>
        </p:nvSpPr>
        <p:spPr bwMode="gray">
          <a:xfrm>
            <a:off x="2022360" y="4168534"/>
            <a:ext cx="2244840" cy="284213"/>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smtClean="0">
                <a:ln>
                  <a:noFill/>
                </a:ln>
                <a:effectLst/>
                <a:latin typeface="Huawei Sans" panose="020C0503030203020204" pitchFamily="34" charset="0"/>
                <a:ea typeface="方正兰亭黑简体" panose="02000000000000000000" pitchFamily="2" charset="-122"/>
              </a:rPr>
              <a:t>区域互联网注册管理机构</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12" name="圆角矩形 11"/>
          <p:cNvSpPr/>
          <p:nvPr/>
        </p:nvSpPr>
        <p:spPr bwMode="gray">
          <a:xfrm>
            <a:off x="2022360" y="4638151"/>
            <a:ext cx="1008223" cy="284213"/>
          </a:xfrm>
          <a:prstGeom prst="roundRect">
            <a:avLst/>
          </a:prstGeom>
          <a:solidFill>
            <a:schemeClr val="accent6">
              <a:lumMod val="20000"/>
              <a:lumOff val="80000"/>
            </a:schemeClr>
          </a:solidFill>
          <a:ln w="952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smtClean="0">
                <a:ln>
                  <a:noFill/>
                </a:ln>
                <a:effectLst/>
                <a:latin typeface="Huawei Sans" panose="020C0503030203020204" pitchFamily="34" charset="0"/>
                <a:ea typeface="方正兰亭黑简体" panose="02000000000000000000" pitchFamily="2" charset="-122"/>
              </a:rPr>
              <a:t>ISP1</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13" name="圆角矩形 12"/>
          <p:cNvSpPr/>
          <p:nvPr/>
        </p:nvSpPr>
        <p:spPr bwMode="gray">
          <a:xfrm>
            <a:off x="2022360" y="5008658"/>
            <a:ext cx="2244840" cy="878334"/>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smtClean="0">
                <a:ln>
                  <a:noFill/>
                </a:ln>
                <a:effectLst/>
                <a:latin typeface="Huawei Sans" panose="020C0503030203020204" pitchFamily="34" charset="0"/>
                <a:ea typeface="方正兰亭黑简体" panose="02000000000000000000" pitchFamily="2" charset="-122"/>
              </a:rPr>
              <a:t>用户</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5" name="直接箭头连接符 4"/>
          <p:cNvCxnSpPr>
            <a:stCxn id="10" idx="2"/>
            <a:endCxn id="11" idx="0"/>
          </p:cNvCxnSpPr>
          <p:nvPr/>
        </p:nvCxnSpPr>
        <p:spPr>
          <a:xfrm>
            <a:off x="3144780" y="3983130"/>
            <a:ext cx="0" cy="185404"/>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endCxn id="12" idx="0"/>
          </p:cNvCxnSpPr>
          <p:nvPr/>
        </p:nvCxnSpPr>
        <p:spPr>
          <a:xfrm>
            <a:off x="2526471" y="4452747"/>
            <a:ext cx="1" cy="185404"/>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2" idx="2"/>
            <a:endCxn id="33" idx="0"/>
          </p:cNvCxnSpPr>
          <p:nvPr/>
        </p:nvCxnSpPr>
        <p:spPr>
          <a:xfrm flipH="1">
            <a:off x="2526471" y="4922364"/>
            <a:ext cx="1" cy="271697"/>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7" name="圆角矩形 26"/>
          <p:cNvSpPr/>
          <p:nvPr/>
        </p:nvSpPr>
        <p:spPr bwMode="gray">
          <a:xfrm>
            <a:off x="3258977" y="4638151"/>
            <a:ext cx="1008223" cy="284213"/>
          </a:xfrm>
          <a:prstGeom prst="roundRect">
            <a:avLst/>
          </a:prstGeom>
          <a:solidFill>
            <a:schemeClr val="accent6">
              <a:lumMod val="20000"/>
              <a:lumOff val="80000"/>
            </a:schemeClr>
          </a:solidFill>
          <a:ln w="952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smtClean="0">
                <a:ln>
                  <a:noFill/>
                </a:ln>
                <a:effectLst/>
                <a:latin typeface="Huawei Sans" panose="020C0503030203020204" pitchFamily="34" charset="0"/>
                <a:ea typeface="方正兰亭黑简体" panose="02000000000000000000" pitchFamily="2" charset="-122"/>
              </a:rPr>
              <a:t>ISP2</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29" name="直接箭头连接符 28"/>
          <p:cNvCxnSpPr/>
          <p:nvPr/>
        </p:nvCxnSpPr>
        <p:spPr>
          <a:xfrm>
            <a:off x="3763088" y="4452747"/>
            <a:ext cx="1" cy="185404"/>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endCxn id="34" idx="0"/>
          </p:cNvCxnSpPr>
          <p:nvPr/>
        </p:nvCxnSpPr>
        <p:spPr>
          <a:xfrm>
            <a:off x="3763088" y="4922364"/>
            <a:ext cx="1" cy="271697"/>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33" name="圆角矩形 32"/>
          <p:cNvSpPr/>
          <p:nvPr/>
        </p:nvSpPr>
        <p:spPr bwMode="gray">
          <a:xfrm>
            <a:off x="2091535" y="5194061"/>
            <a:ext cx="869872" cy="446320"/>
          </a:xfrm>
          <a:prstGeom prst="roundRect">
            <a:avLst/>
          </a:prstGeom>
          <a:solidFill>
            <a:schemeClr val="bg1"/>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r>
              <a:rPr lang="en-US" altLang="zh-CN" sz="1400" dirty="0">
                <a:latin typeface="Huawei Sans" panose="020C0503030203020204" pitchFamily="34" charset="0"/>
                <a:ea typeface="方正兰亭黑简体" panose="02000000000000000000" pitchFamily="2" charset="-122"/>
              </a:rPr>
              <a:t>IPv6</a:t>
            </a:r>
          </a:p>
          <a:p>
            <a:pPr algn="ctr" defTabSz="914400" fontAlgn="base">
              <a:spcBef>
                <a:spcPct val="0"/>
              </a:spcBef>
              <a:spcAft>
                <a:spcPct val="0"/>
              </a:spcAft>
            </a:pPr>
            <a:r>
              <a:rPr lang="zh-CN" altLang="en-US" sz="1400" dirty="0">
                <a:latin typeface="Huawei Sans" panose="020C0503030203020204" pitchFamily="34" charset="0"/>
                <a:ea typeface="方正兰亭黑简体" panose="02000000000000000000" pitchFamily="2" charset="-122"/>
              </a:rPr>
              <a:t>地址块</a:t>
            </a:r>
            <a:r>
              <a:rPr lang="en-US" altLang="zh-CN" sz="1400" dirty="0">
                <a:latin typeface="Huawei Sans" panose="020C0503030203020204" pitchFamily="34" charset="0"/>
                <a:ea typeface="方正兰亭黑简体" panose="02000000000000000000" pitchFamily="2" charset="-122"/>
              </a:rPr>
              <a:t>1</a:t>
            </a:r>
          </a:p>
        </p:txBody>
      </p:sp>
      <p:sp>
        <p:nvSpPr>
          <p:cNvPr id="34" name="圆角矩形 33"/>
          <p:cNvSpPr/>
          <p:nvPr/>
        </p:nvSpPr>
        <p:spPr bwMode="gray">
          <a:xfrm>
            <a:off x="3328153" y="5194061"/>
            <a:ext cx="869872" cy="446320"/>
          </a:xfrm>
          <a:prstGeom prst="roundRect">
            <a:avLst/>
          </a:prstGeom>
          <a:solidFill>
            <a:schemeClr val="bg1"/>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dirty="0" smtClean="0">
                <a:ln>
                  <a:noFill/>
                </a:ln>
                <a:effectLst/>
                <a:latin typeface="Huawei Sans" panose="020C0503030203020204" pitchFamily="34" charset="0"/>
                <a:ea typeface="方正兰亭黑简体" panose="02000000000000000000" pitchFamily="2" charset="-122"/>
              </a:rPr>
              <a:t>IPv6</a:t>
            </a:r>
          </a:p>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400" i="0" u="none" strike="noStrike" cap="none" normalizeH="0" baseline="0" dirty="0" smtClean="0">
                <a:ln>
                  <a:noFill/>
                </a:ln>
                <a:effectLst/>
                <a:latin typeface="Huawei Sans" panose="020C0503030203020204" pitchFamily="34" charset="0"/>
                <a:ea typeface="方正兰亭黑简体" panose="02000000000000000000" pitchFamily="2" charset="-122"/>
              </a:rPr>
              <a:t>地址块</a:t>
            </a:r>
            <a:r>
              <a:rPr kumimoji="0" lang="en-US" altLang="zh-CN" sz="1400" i="0" u="none" strike="noStrike" cap="none" normalizeH="0" baseline="0" dirty="0" smtClean="0">
                <a:ln>
                  <a:noFill/>
                </a:ln>
                <a:effectLst/>
                <a:latin typeface="Huawei Sans" panose="020C0503030203020204" pitchFamily="34" charset="0"/>
                <a:ea typeface="方正兰亭黑简体" panose="02000000000000000000" pitchFamily="2" charset="-122"/>
              </a:rPr>
              <a:t>2</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7" name="圆角矩形 36"/>
          <p:cNvSpPr/>
          <p:nvPr/>
        </p:nvSpPr>
        <p:spPr bwMode="gray">
          <a:xfrm>
            <a:off x="7166107" y="3698917"/>
            <a:ext cx="2244840" cy="284213"/>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smtClean="0">
                <a:ln>
                  <a:noFill/>
                </a:ln>
                <a:effectLst/>
                <a:latin typeface="Huawei Sans" panose="020C0503030203020204" pitchFamily="34" charset="0"/>
                <a:ea typeface="方正兰亭黑简体" panose="02000000000000000000" pitchFamily="2" charset="-122"/>
              </a:rPr>
              <a:t>IANA</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8" name="圆角矩形 37"/>
          <p:cNvSpPr/>
          <p:nvPr/>
        </p:nvSpPr>
        <p:spPr bwMode="gray">
          <a:xfrm>
            <a:off x="7166107" y="4168534"/>
            <a:ext cx="2244840" cy="284213"/>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smtClean="0">
                <a:ln>
                  <a:noFill/>
                </a:ln>
                <a:effectLst/>
                <a:latin typeface="Huawei Sans" panose="020C0503030203020204" pitchFamily="34" charset="0"/>
                <a:ea typeface="方正兰亭黑简体" panose="02000000000000000000" pitchFamily="2" charset="-122"/>
              </a:rPr>
              <a:t>区域互联网注册管理机构</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39" name="圆角矩形 38"/>
          <p:cNvSpPr/>
          <p:nvPr/>
        </p:nvSpPr>
        <p:spPr bwMode="gray">
          <a:xfrm>
            <a:off x="9868679" y="4638151"/>
            <a:ext cx="1008223" cy="284213"/>
          </a:xfrm>
          <a:prstGeom prst="roundRect">
            <a:avLst/>
          </a:prstGeom>
          <a:solidFill>
            <a:schemeClr val="accent6">
              <a:lumMod val="20000"/>
              <a:lumOff val="80000"/>
            </a:schemeClr>
          </a:solidFill>
          <a:ln w="952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smtClean="0">
                <a:ln>
                  <a:noFill/>
                </a:ln>
                <a:effectLst/>
                <a:latin typeface="Huawei Sans" panose="020C0503030203020204" pitchFamily="34" charset="0"/>
                <a:ea typeface="方正兰亭黑简体" panose="02000000000000000000" pitchFamily="2" charset="-122"/>
              </a:rPr>
              <a:t>ISP1</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40" name="圆角矩形 39"/>
          <p:cNvSpPr/>
          <p:nvPr/>
        </p:nvSpPr>
        <p:spPr bwMode="gray">
          <a:xfrm>
            <a:off x="7166107" y="4638151"/>
            <a:ext cx="2244840" cy="878334"/>
          </a:xfrm>
          <a:prstGeom prst="roundRect">
            <a:avLst/>
          </a:prstGeom>
          <a:solidFill>
            <a:srgbClr val="F2FBFC"/>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smtClean="0">
                <a:ln>
                  <a:noFill/>
                </a:ln>
                <a:effectLst/>
                <a:latin typeface="Huawei Sans" panose="020C0503030203020204" pitchFamily="34" charset="0"/>
                <a:ea typeface="方正兰亭黑简体" panose="02000000000000000000" pitchFamily="2" charset="-122"/>
              </a:rPr>
              <a:t>用户</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41" name="直接箭头连接符 40"/>
          <p:cNvCxnSpPr>
            <a:stCxn id="37" idx="2"/>
            <a:endCxn id="38" idx="0"/>
          </p:cNvCxnSpPr>
          <p:nvPr/>
        </p:nvCxnSpPr>
        <p:spPr>
          <a:xfrm>
            <a:off x="8288527" y="3983130"/>
            <a:ext cx="0" cy="185404"/>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47" idx="3"/>
            <a:endCxn id="39" idx="1"/>
          </p:cNvCxnSpPr>
          <p:nvPr/>
        </p:nvCxnSpPr>
        <p:spPr>
          <a:xfrm flipV="1">
            <a:off x="9103620" y="4780258"/>
            <a:ext cx="765059" cy="156668"/>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4" name="圆角矩形 43"/>
          <p:cNvSpPr/>
          <p:nvPr/>
        </p:nvSpPr>
        <p:spPr bwMode="gray">
          <a:xfrm>
            <a:off x="9857055" y="5093595"/>
            <a:ext cx="1008223" cy="284213"/>
          </a:xfrm>
          <a:prstGeom prst="roundRect">
            <a:avLst/>
          </a:prstGeom>
          <a:solidFill>
            <a:schemeClr val="accent6">
              <a:lumMod val="20000"/>
              <a:lumOff val="80000"/>
            </a:schemeClr>
          </a:solidFill>
          <a:ln w="952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i="0" u="none" strike="noStrike" cap="none" normalizeH="0" baseline="0" dirty="0" smtClean="0">
                <a:ln>
                  <a:noFill/>
                </a:ln>
                <a:effectLst/>
                <a:latin typeface="Huawei Sans" panose="020C0503030203020204" pitchFamily="34" charset="0"/>
                <a:ea typeface="方正兰亭黑简体" panose="02000000000000000000" pitchFamily="2" charset="-122"/>
              </a:rPr>
              <a:t>ISP2</a:t>
            </a:r>
            <a:endParaRPr kumimoji="0" lang="en-US" altLang="zh-CN" sz="1400" i="0" u="none" strike="noStrike" cap="none" normalizeH="0" baseline="0" dirty="0">
              <a:ln>
                <a:noFill/>
              </a:ln>
              <a:effectLst/>
              <a:latin typeface="Huawei Sans" panose="020C0503030203020204" pitchFamily="34" charset="0"/>
              <a:ea typeface="方正兰亭黑简体" panose="02000000000000000000" pitchFamily="2" charset="-122"/>
            </a:endParaRPr>
          </a:p>
        </p:txBody>
      </p:sp>
      <p:cxnSp>
        <p:nvCxnSpPr>
          <p:cNvPr id="45" name="直接箭头连接符 44"/>
          <p:cNvCxnSpPr>
            <a:stCxn id="38" idx="2"/>
            <a:endCxn id="47" idx="0"/>
          </p:cNvCxnSpPr>
          <p:nvPr/>
        </p:nvCxnSpPr>
        <p:spPr>
          <a:xfrm>
            <a:off x="8288527" y="4452747"/>
            <a:ext cx="0" cy="32751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7" name="圆角矩形 46"/>
          <p:cNvSpPr/>
          <p:nvPr/>
        </p:nvSpPr>
        <p:spPr bwMode="gray">
          <a:xfrm>
            <a:off x="7473434" y="4780257"/>
            <a:ext cx="1630186" cy="313338"/>
          </a:xfrm>
          <a:prstGeom prst="roundRect">
            <a:avLst/>
          </a:prstGeom>
          <a:solidFill>
            <a:schemeClr val="bg1"/>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r>
              <a:rPr lang="en-US" altLang="zh-CN" sz="1400" dirty="0" smtClean="0">
                <a:latin typeface="Huawei Sans" panose="020C0503030203020204" pitchFamily="34" charset="0"/>
                <a:ea typeface="方正兰亭黑简体" panose="02000000000000000000" pitchFamily="2" charset="-122"/>
              </a:rPr>
              <a:t>IPv6</a:t>
            </a:r>
            <a:r>
              <a:rPr lang="zh-CN" altLang="en-US" sz="1400" dirty="0" smtClean="0">
                <a:latin typeface="Huawei Sans" panose="020C0503030203020204" pitchFamily="34" charset="0"/>
                <a:ea typeface="方正兰亭黑简体" panose="02000000000000000000" pitchFamily="2" charset="-122"/>
              </a:rPr>
              <a:t>地址块</a:t>
            </a:r>
            <a:endParaRPr lang="en-US" altLang="zh-CN" sz="1400" dirty="0">
              <a:latin typeface="Huawei Sans" panose="020C0503030203020204" pitchFamily="34" charset="0"/>
              <a:ea typeface="方正兰亭黑简体" panose="02000000000000000000" pitchFamily="2" charset="-122"/>
            </a:endParaRPr>
          </a:p>
        </p:txBody>
      </p:sp>
      <p:cxnSp>
        <p:nvCxnSpPr>
          <p:cNvPr id="54" name="直接箭头连接符 53"/>
          <p:cNvCxnSpPr>
            <a:stCxn id="47" idx="3"/>
            <a:endCxn id="44" idx="1"/>
          </p:cNvCxnSpPr>
          <p:nvPr/>
        </p:nvCxnSpPr>
        <p:spPr>
          <a:xfrm>
            <a:off x="9103620" y="4936926"/>
            <a:ext cx="753435" cy="298776"/>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997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t>IPv6</a:t>
            </a:r>
            <a:r>
              <a:rPr lang="zh-CN" altLang="en-US" dirty="0" smtClean="0"/>
              <a:t>地址</a:t>
            </a:r>
            <a:r>
              <a:rPr lang="zh-CN" altLang="en-US" dirty="0"/>
              <a:t>规划</a:t>
            </a:r>
          </a:p>
        </p:txBody>
      </p:sp>
      <p:sp>
        <p:nvSpPr>
          <p:cNvPr id="4" name="矩形 6"/>
          <p:cNvSpPr/>
          <p:nvPr/>
        </p:nvSpPr>
        <p:spPr bwMode="gray">
          <a:xfrm>
            <a:off x="752578" y="3077063"/>
            <a:ext cx="2520000" cy="326509"/>
          </a:xfrm>
          <a:prstGeom prst="rect">
            <a:avLst/>
          </a:prstGeom>
          <a:solidFill>
            <a:srgbClr val="BEE9EE"/>
          </a:solidFill>
          <a:ln>
            <a:solidFill>
              <a:srgbClr val="FFFFFF"/>
            </a:solidFill>
          </a:ln>
          <a:effectLst/>
        </p:spPr>
        <p:txBody>
          <a:bodyPr wrap="none" lIns="121935" tIns="60968" rIns="121935" bIns="60968" anchor="ctr" anchorCtr="0">
            <a:noAutofit/>
          </a:bodyPr>
          <a:lstStyle/>
          <a:p>
            <a:pPr marL="214224" indent="-214224" algn="ctr" defTabSz="697421" eaLnBrk="0" hangingPunct="0">
              <a:lnSpc>
                <a:spcPct val="130000"/>
              </a:lnSpc>
              <a:buClr>
                <a:srgbClr val="990000"/>
              </a:buClr>
              <a:buSzPct val="60000"/>
            </a:pPr>
            <a:r>
              <a:rPr lang="en-US" altLang="zh-CN" sz="1400" b="1" kern="0" dirty="0" smtClean="0">
                <a:latin typeface="Huawei Sans" panose="020C0503030203020204" pitchFamily="34" charset="0"/>
                <a:ea typeface="方正兰亭黑简体" panose="02000000000000000000" pitchFamily="2" charset="-122"/>
                <a:cs typeface="Arial" pitchFamily="34" charset="0"/>
                <a:sym typeface="Arial"/>
              </a:rPr>
              <a:t>Step1</a:t>
            </a:r>
            <a:endParaRPr lang="zh-CN" altLang="en-US" sz="1400" b="1" kern="0" dirty="0">
              <a:latin typeface="Huawei Sans" panose="020C0503030203020204" pitchFamily="34" charset="0"/>
              <a:ea typeface="方正兰亭黑简体" panose="02000000000000000000" pitchFamily="2" charset="-122"/>
              <a:cs typeface="Arial" pitchFamily="34" charset="0"/>
              <a:sym typeface="Arial"/>
            </a:endParaRPr>
          </a:p>
        </p:txBody>
      </p:sp>
      <p:sp>
        <p:nvSpPr>
          <p:cNvPr id="5" name="矩形 7"/>
          <p:cNvSpPr/>
          <p:nvPr/>
        </p:nvSpPr>
        <p:spPr bwMode="gray">
          <a:xfrm>
            <a:off x="3250828" y="3077063"/>
            <a:ext cx="2520000" cy="326509"/>
          </a:xfrm>
          <a:prstGeom prst="rect">
            <a:avLst/>
          </a:prstGeom>
          <a:solidFill>
            <a:srgbClr val="56C4D2"/>
          </a:solidFill>
          <a:ln>
            <a:solidFill>
              <a:srgbClr val="FFFFFF"/>
            </a:solidFill>
          </a:ln>
          <a:effectLst/>
        </p:spPr>
        <p:txBody>
          <a:bodyPr wrap="none" lIns="121935" tIns="60968" rIns="121935" bIns="60968" anchor="ctr" anchorCtr="0">
            <a:noAutofit/>
          </a:bodyPr>
          <a:lstStyle/>
          <a:p>
            <a:pPr marL="214224" marR="0" lvl="0" indent="-214224" algn="ctr" defTabSz="697421" eaLnBrk="0" fontAlgn="auto" latinLnBrk="0" hangingPunct="0">
              <a:lnSpc>
                <a:spcPct val="130000"/>
              </a:lnSpc>
              <a:spcBef>
                <a:spcPts val="0"/>
              </a:spcBef>
              <a:spcAft>
                <a:spcPts val="0"/>
              </a:spcAft>
              <a:buClr>
                <a:srgbClr val="990000"/>
              </a:buClr>
              <a:buSzPct val="60000"/>
              <a:buFontTx/>
              <a:buNone/>
              <a:tabLst/>
              <a:defRPr/>
            </a:pPr>
            <a:r>
              <a:rPr kumimoji="0" lang="en-US" altLang="zh-CN" sz="1400" b="1" i="0" u="none" strike="noStrike" kern="0" cap="none" spc="0" normalizeH="0" noProof="0" dirty="0" smtClean="0">
                <a:ln>
                  <a:noFill/>
                </a:ln>
                <a:solidFill>
                  <a:schemeClr val="bg1"/>
                </a:solidFill>
                <a:effectLst/>
                <a:uLnTx/>
                <a:uFillTx/>
                <a:latin typeface="Huawei Sans" panose="020C0503030203020204" pitchFamily="34" charset="0"/>
                <a:ea typeface="方正兰亭黑简体" panose="02000000000000000000" pitchFamily="2" charset="-122"/>
                <a:cs typeface="Arial" pitchFamily="34" charset="0"/>
                <a:sym typeface="Arial"/>
              </a:rPr>
              <a:t>Step2</a:t>
            </a:r>
            <a:endParaRPr kumimoji="0" lang="zh-CN" altLang="en-US" sz="1400" b="1"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cs typeface="Arial" pitchFamily="34" charset="0"/>
              <a:sym typeface="Arial"/>
            </a:endParaRPr>
          </a:p>
        </p:txBody>
      </p:sp>
      <p:sp>
        <p:nvSpPr>
          <p:cNvPr id="7" name="矩形 10"/>
          <p:cNvSpPr/>
          <p:nvPr/>
        </p:nvSpPr>
        <p:spPr bwMode="gray">
          <a:xfrm>
            <a:off x="5770828" y="3077063"/>
            <a:ext cx="2520000" cy="326509"/>
          </a:xfrm>
          <a:prstGeom prst="rect">
            <a:avLst/>
          </a:prstGeom>
          <a:solidFill>
            <a:srgbClr val="BEE9EE"/>
          </a:solidFill>
          <a:ln>
            <a:solidFill>
              <a:srgbClr val="FFFFFF"/>
            </a:solidFill>
          </a:ln>
          <a:effectLst/>
        </p:spPr>
        <p:txBody>
          <a:bodyPr wrap="none" lIns="121935" tIns="60968" rIns="121935" bIns="60968" anchor="ctr" anchorCtr="0">
            <a:noAutofit/>
          </a:bodyPr>
          <a:lstStyle/>
          <a:p>
            <a:pPr marL="214224" indent="-214224" algn="ctr" defTabSz="697421" eaLnBrk="0" hangingPunct="0">
              <a:lnSpc>
                <a:spcPct val="130000"/>
              </a:lnSpc>
              <a:buClr>
                <a:srgbClr val="990000"/>
              </a:buClr>
              <a:buSzPct val="60000"/>
            </a:pPr>
            <a:r>
              <a:rPr lang="en-US" altLang="zh-CN" sz="1400" b="1" kern="0" dirty="0" smtClean="0">
                <a:latin typeface="Huawei Sans" panose="020C0503030203020204" pitchFamily="34" charset="0"/>
                <a:ea typeface="方正兰亭黑简体" panose="02000000000000000000" pitchFamily="2" charset="-122"/>
                <a:cs typeface="Arial" pitchFamily="34" charset="0"/>
                <a:sym typeface="Arial"/>
              </a:rPr>
              <a:t>Step3</a:t>
            </a:r>
            <a:endParaRPr lang="zh-CN" altLang="en-US" sz="1400" b="1" kern="0" dirty="0">
              <a:latin typeface="Huawei Sans" panose="020C0503030203020204" pitchFamily="34" charset="0"/>
              <a:ea typeface="方正兰亭黑简体" panose="02000000000000000000" pitchFamily="2" charset="-122"/>
              <a:cs typeface="Arial" pitchFamily="34" charset="0"/>
              <a:sym typeface="Arial"/>
            </a:endParaRPr>
          </a:p>
        </p:txBody>
      </p:sp>
      <p:sp>
        <p:nvSpPr>
          <p:cNvPr id="11" name="右箭头 10"/>
          <p:cNvSpPr/>
          <p:nvPr/>
        </p:nvSpPr>
        <p:spPr bwMode="gray">
          <a:xfrm>
            <a:off x="8290828" y="2915331"/>
            <a:ext cx="2520000" cy="649973"/>
          </a:xfrm>
          <a:prstGeom prst="rightArrow">
            <a:avLst/>
          </a:prstGeom>
          <a:solidFill>
            <a:srgbClr val="56C4D2"/>
          </a:solidFill>
          <a:ln>
            <a:solidFill>
              <a:srgbClr val="FFFFFF"/>
            </a:solidFill>
          </a:ln>
          <a:effectLst/>
        </p:spPr>
        <p:txBody>
          <a:bodyPr wrap="none" lIns="121935" tIns="60968" rIns="121935" bIns="60968" anchor="ctr" anchorCtr="0">
            <a:noAutofit/>
          </a:bodyPr>
          <a:lstStyle/>
          <a:p>
            <a:pPr marL="214224" indent="-214224" algn="ctr" defTabSz="697421" eaLnBrk="0" hangingPunct="0">
              <a:lnSpc>
                <a:spcPct val="130000"/>
              </a:lnSpc>
              <a:buClr>
                <a:srgbClr val="990000"/>
              </a:buClr>
              <a:buSzPct val="60000"/>
              <a:defRPr/>
            </a:pPr>
            <a:r>
              <a:rPr lang="en-US" altLang="zh-CN" sz="1400" b="1" kern="0" dirty="0" smtClean="0">
                <a:solidFill>
                  <a:schemeClr val="bg1"/>
                </a:solidFill>
                <a:latin typeface="Huawei Sans" panose="020C0503030203020204" pitchFamily="34" charset="0"/>
                <a:ea typeface="方正兰亭黑简体" panose="02000000000000000000" pitchFamily="2" charset="-122"/>
                <a:cs typeface="Arial" pitchFamily="34" charset="0"/>
                <a:sym typeface="Arial"/>
              </a:rPr>
              <a:t>Step4</a:t>
            </a:r>
            <a:endParaRPr lang="zh-CN" altLang="en-US" sz="1400" b="1" kern="0" dirty="0">
              <a:solidFill>
                <a:schemeClr val="bg1"/>
              </a:solidFill>
              <a:latin typeface="Huawei Sans" panose="020C0503030203020204" pitchFamily="34" charset="0"/>
              <a:ea typeface="方正兰亭黑简体" panose="02000000000000000000" pitchFamily="2" charset="-122"/>
              <a:cs typeface="Arial" pitchFamily="34" charset="0"/>
              <a:sym typeface="Arial"/>
            </a:endParaRPr>
          </a:p>
        </p:txBody>
      </p:sp>
      <p:cxnSp>
        <p:nvCxnSpPr>
          <p:cNvPr id="15" name="直接箭头连接符 85"/>
          <p:cNvCxnSpPr/>
          <p:nvPr/>
        </p:nvCxnSpPr>
        <p:spPr bwMode="gray">
          <a:xfrm flipV="1">
            <a:off x="1998314" y="3396500"/>
            <a:ext cx="0" cy="360000"/>
          </a:xfrm>
          <a:prstGeom prst="straightConnector1">
            <a:avLst/>
          </a:prstGeom>
          <a:noFill/>
          <a:ln w="25400">
            <a:solidFill>
              <a:srgbClr val="56C4D2">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箭头连接符 88"/>
          <p:cNvCxnSpPr/>
          <p:nvPr/>
        </p:nvCxnSpPr>
        <p:spPr bwMode="gray">
          <a:xfrm>
            <a:off x="4541192" y="2722539"/>
            <a:ext cx="0" cy="360000"/>
          </a:xfrm>
          <a:prstGeom prst="straightConnector1">
            <a:avLst/>
          </a:prstGeom>
          <a:noFill/>
          <a:ln w="25400">
            <a:solidFill>
              <a:srgbClr val="56C4D2">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85"/>
          <p:cNvCxnSpPr/>
          <p:nvPr/>
        </p:nvCxnSpPr>
        <p:spPr bwMode="gray">
          <a:xfrm flipV="1">
            <a:off x="6992009" y="3396500"/>
            <a:ext cx="0" cy="360000"/>
          </a:xfrm>
          <a:prstGeom prst="straightConnector1">
            <a:avLst/>
          </a:prstGeom>
          <a:noFill/>
          <a:ln w="25400">
            <a:solidFill>
              <a:srgbClr val="56C4D2">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矩形 20"/>
          <p:cNvSpPr/>
          <p:nvPr/>
        </p:nvSpPr>
        <p:spPr bwMode="gray">
          <a:xfrm>
            <a:off x="752578" y="3756500"/>
            <a:ext cx="2498250" cy="1226048"/>
          </a:xfrm>
          <a:prstGeom prst="rect">
            <a:avLst/>
          </a:prstGeom>
          <a:solidFill>
            <a:srgbClr val="EAF8FA"/>
          </a:solidFill>
          <a:ln w="9525" cap="flat" cmpd="sng" algn="ctr">
            <a:solidFill>
              <a:srgbClr val="BEE9E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zh-CN" altLang="en-US" sz="1600" b="1" kern="0" dirty="0" smtClean="0">
                <a:solidFill>
                  <a:srgbClr val="000000"/>
                </a:solidFill>
                <a:latin typeface="Huawei Sans" panose="020C0503030203020204" pitchFamily="34" charset="0"/>
                <a:ea typeface="方正兰亭黑简体" panose="02000000000000000000" pitchFamily="2" charset="-122"/>
              </a:rPr>
              <a:t>需求分析与确认</a:t>
            </a:r>
            <a:endParaRPr lang="zh-CN" altLang="en-US" sz="1600" b="1" kern="0" dirty="0">
              <a:solidFill>
                <a:srgbClr val="000000"/>
              </a:solidFill>
              <a:latin typeface="Huawei Sans" panose="020C0503030203020204" pitchFamily="34" charset="0"/>
              <a:ea typeface="方正兰亭黑简体" panose="02000000000000000000" pitchFamily="2" charset="-122"/>
            </a:endParaRPr>
          </a:p>
        </p:txBody>
      </p:sp>
      <p:sp>
        <p:nvSpPr>
          <p:cNvPr id="22" name="Text Box 978"/>
          <p:cNvSpPr txBox="1">
            <a:spLocks noChangeArrowheads="1"/>
          </p:cNvSpPr>
          <p:nvPr/>
        </p:nvSpPr>
        <p:spPr bwMode="gray">
          <a:xfrm>
            <a:off x="759153" y="4118224"/>
            <a:ext cx="2491675" cy="215444"/>
          </a:xfrm>
          <a:prstGeom prst="rect">
            <a:avLst/>
          </a:prstGeom>
          <a:noFill/>
          <a:ln w="9525" algn="ctr">
            <a:noFill/>
            <a:miter lim="800000"/>
            <a:headEnd/>
            <a:tailEnd/>
          </a:ln>
          <a:effectLst/>
        </p:spPr>
        <p:txBody>
          <a:bodyPr wrap="square" lIns="0" tIns="0" rIns="0" bIns="0">
            <a:spAutoFit/>
          </a:bodyPr>
          <a:lstStyle/>
          <a:p>
            <a:pPr marL="85725" indent="-85725" algn="ctr" defTabSz="914400" fontAlgn="base">
              <a:spcBef>
                <a:spcPct val="0"/>
              </a:spcBef>
              <a:spcAft>
                <a:spcPct val="0"/>
              </a:spcAft>
              <a:defRPr/>
            </a:pPr>
            <a:r>
              <a:rPr lang="zh-CN" altLang="en-US" sz="1400" b="1" dirty="0" smtClean="0">
                <a:latin typeface="Huawei Sans" panose="020C0503030203020204" pitchFamily="34" charset="0"/>
                <a:ea typeface="方正兰亭黑简体" panose="02000000000000000000" pitchFamily="2" charset="-122"/>
              </a:rPr>
              <a:t>本次</a:t>
            </a:r>
            <a:r>
              <a:rPr lang="en-US" altLang="zh-CN" sz="1400" b="1" dirty="0" smtClean="0">
                <a:latin typeface="Huawei Sans" panose="020C0503030203020204" pitchFamily="34" charset="0"/>
                <a:ea typeface="方正兰亭黑简体" panose="02000000000000000000" pitchFamily="2" charset="-122"/>
              </a:rPr>
              <a:t>IPv6</a:t>
            </a:r>
            <a:r>
              <a:rPr lang="zh-CN" altLang="en-US" sz="1400" b="1" dirty="0" smtClean="0">
                <a:latin typeface="Huawei Sans" panose="020C0503030203020204" pitchFamily="34" charset="0"/>
                <a:ea typeface="方正兰亭黑简体" panose="02000000000000000000" pitchFamily="2" charset="-122"/>
              </a:rPr>
              <a:t>地址规划覆盖范围</a:t>
            </a:r>
            <a:endParaRPr lang="en-US" altLang="ko-KR" sz="1400" b="1" dirty="0">
              <a:latin typeface="Huawei Sans" panose="020C0503030203020204" pitchFamily="34" charset="0"/>
              <a:ea typeface="方正兰亭黑简体" panose="02000000000000000000" pitchFamily="2" charset="-122"/>
            </a:endParaRPr>
          </a:p>
        </p:txBody>
      </p:sp>
      <p:sp>
        <p:nvSpPr>
          <p:cNvPr id="23" name="矩形 22"/>
          <p:cNvSpPr/>
          <p:nvPr/>
        </p:nvSpPr>
        <p:spPr bwMode="gray">
          <a:xfrm>
            <a:off x="1408922" y="1134182"/>
            <a:ext cx="6116760" cy="1597687"/>
          </a:xfrm>
          <a:prstGeom prst="rect">
            <a:avLst/>
          </a:prstGeom>
          <a:solidFill>
            <a:srgbClr val="EAF8FA"/>
          </a:solidFill>
          <a:ln w="9525" cap="flat" cmpd="sng" algn="ctr">
            <a:solidFill>
              <a:srgbClr val="BEE9E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zh-CN" altLang="en-US" sz="1600" b="1" kern="0" dirty="0" smtClean="0">
                <a:solidFill>
                  <a:srgbClr val="000000"/>
                </a:solidFill>
                <a:latin typeface="Huawei Sans" panose="020C0503030203020204" pitchFamily="34" charset="0"/>
                <a:ea typeface="方正兰亭黑简体" panose="02000000000000000000" pitchFamily="2" charset="-122"/>
              </a:rPr>
              <a:t>划分地址结构</a:t>
            </a:r>
            <a:endParaRPr lang="zh-CN" altLang="en-US" sz="1600" b="1" kern="0" dirty="0">
              <a:solidFill>
                <a:srgbClr val="000000"/>
              </a:solidFill>
              <a:latin typeface="Huawei Sans" panose="020C0503030203020204" pitchFamily="34" charset="0"/>
              <a:ea typeface="方正兰亭黑简体" panose="02000000000000000000" pitchFamily="2" charset="-122"/>
            </a:endParaRPr>
          </a:p>
        </p:txBody>
      </p:sp>
      <p:sp>
        <p:nvSpPr>
          <p:cNvPr id="31" name="Text Box 978"/>
          <p:cNvSpPr txBox="1">
            <a:spLocks noChangeArrowheads="1"/>
          </p:cNvSpPr>
          <p:nvPr/>
        </p:nvSpPr>
        <p:spPr bwMode="gray">
          <a:xfrm>
            <a:off x="940662" y="4401988"/>
            <a:ext cx="2136710" cy="430887"/>
          </a:xfrm>
          <a:prstGeom prst="rect">
            <a:avLst/>
          </a:prstGeom>
          <a:noFill/>
          <a:ln w="9525" algn="ctr">
            <a:noFill/>
            <a:miter lim="800000"/>
            <a:headEnd/>
            <a:tailEnd/>
          </a:ln>
          <a:effectLst/>
        </p:spPr>
        <p:txBody>
          <a:bodyPr wrap="square" lIns="0" tIns="0" rIns="0" bIns="0">
            <a:spAutoFit/>
          </a:bodyPr>
          <a:lstStyle/>
          <a:p>
            <a:pPr defTabSz="914400" fontAlgn="base">
              <a:spcBef>
                <a:spcPct val="0"/>
              </a:spcBef>
              <a:spcAft>
                <a:spcPct val="0"/>
              </a:spcAft>
              <a:defRPr/>
            </a:pPr>
            <a:r>
              <a:rPr lang="en-US" altLang="zh-CN" sz="1400" dirty="0">
                <a:latin typeface="Huawei Sans" panose="020C0503030203020204" pitchFamily="34" charset="0"/>
                <a:ea typeface="方正兰亭黑简体" panose="02000000000000000000" pitchFamily="2" charset="-122"/>
              </a:rPr>
              <a:t>IPv6</a:t>
            </a:r>
            <a:r>
              <a:rPr lang="zh-CN" altLang="en-US" sz="1400" dirty="0">
                <a:latin typeface="Huawei Sans" panose="020C0503030203020204" pitchFamily="34" charset="0"/>
                <a:ea typeface="方正兰亭黑简体" panose="02000000000000000000" pitchFamily="2" charset="-122"/>
              </a:rPr>
              <a:t>地址规划建议全局考量</a:t>
            </a:r>
            <a:r>
              <a:rPr lang="zh-CN" altLang="en-US" sz="1400" dirty="0" smtClean="0">
                <a:latin typeface="Huawei Sans" panose="020C0503030203020204" pitchFamily="34" charset="0"/>
                <a:ea typeface="方正兰亭黑简体" panose="02000000000000000000" pitchFamily="2" charset="-122"/>
              </a:rPr>
              <a:t>，全网</a:t>
            </a:r>
            <a:r>
              <a:rPr lang="zh-CN" altLang="en-US" sz="1400" dirty="0">
                <a:latin typeface="Huawei Sans" panose="020C0503030203020204" pitchFamily="34" charset="0"/>
                <a:ea typeface="方正兰亭黑简体" panose="02000000000000000000" pitchFamily="2" charset="-122"/>
              </a:rPr>
              <a:t>统一</a:t>
            </a:r>
            <a:r>
              <a:rPr lang="zh-CN" altLang="en-US" sz="1400" dirty="0" smtClean="0">
                <a:latin typeface="Huawei Sans" panose="020C0503030203020204" pitchFamily="34" charset="0"/>
                <a:ea typeface="方正兰亭黑简体" panose="02000000000000000000" pitchFamily="2" charset="-122"/>
              </a:rPr>
              <a:t>规划。</a:t>
            </a:r>
            <a:endParaRPr lang="zh-CN" altLang="en-US" sz="1400" dirty="0">
              <a:latin typeface="Huawei Sans" panose="020C0503030203020204" pitchFamily="34" charset="0"/>
              <a:ea typeface="方正兰亭黑简体" panose="02000000000000000000" pitchFamily="2" charset="-122"/>
            </a:endParaRPr>
          </a:p>
        </p:txBody>
      </p:sp>
      <p:sp>
        <p:nvSpPr>
          <p:cNvPr id="32" name="Text Box 978"/>
          <p:cNvSpPr txBox="1">
            <a:spLocks noChangeArrowheads="1"/>
          </p:cNvSpPr>
          <p:nvPr/>
        </p:nvSpPr>
        <p:spPr bwMode="gray">
          <a:xfrm>
            <a:off x="3279153" y="1484070"/>
            <a:ext cx="2491675" cy="215444"/>
          </a:xfrm>
          <a:prstGeom prst="rect">
            <a:avLst/>
          </a:prstGeom>
          <a:noFill/>
          <a:ln w="9525" algn="ctr">
            <a:noFill/>
            <a:miter lim="800000"/>
            <a:headEnd/>
            <a:tailEnd/>
          </a:ln>
          <a:effectLst/>
        </p:spPr>
        <p:txBody>
          <a:bodyPr wrap="square" lIns="0" tIns="0" rIns="0" bIns="0">
            <a:spAutoFit/>
          </a:bodyPr>
          <a:lstStyle/>
          <a:p>
            <a:pPr marL="85725" indent="-85725" algn="ctr" defTabSz="914400" fontAlgn="base">
              <a:spcBef>
                <a:spcPct val="0"/>
              </a:spcBef>
              <a:spcAft>
                <a:spcPct val="0"/>
              </a:spcAft>
              <a:defRPr/>
            </a:pPr>
            <a:r>
              <a:rPr lang="zh-CN" altLang="en-US" sz="1400" b="1" dirty="0">
                <a:latin typeface="Huawei Sans" panose="020C0503030203020204" pitchFamily="34" charset="0"/>
                <a:ea typeface="方正兰亭黑简体" panose="02000000000000000000" pitchFamily="2" charset="-122"/>
              </a:rPr>
              <a:t>确定</a:t>
            </a:r>
            <a:r>
              <a:rPr lang="en-US" altLang="zh-CN" sz="1400" b="1" dirty="0">
                <a:latin typeface="Huawei Sans" panose="020C0503030203020204" pitchFamily="34" charset="0"/>
                <a:ea typeface="方正兰亭黑简体" panose="02000000000000000000" pitchFamily="2" charset="-122"/>
              </a:rPr>
              <a:t>IPv6</a:t>
            </a:r>
            <a:r>
              <a:rPr lang="zh-CN" altLang="en-US" sz="1400" b="1" dirty="0">
                <a:latin typeface="Huawei Sans" panose="020C0503030203020204" pitchFamily="34" charset="0"/>
                <a:ea typeface="方正兰亭黑简体" panose="02000000000000000000" pitchFamily="2" charset="-122"/>
              </a:rPr>
              <a:t>地址规划的基本结构</a:t>
            </a:r>
          </a:p>
        </p:txBody>
      </p:sp>
      <p:sp>
        <p:nvSpPr>
          <p:cNvPr id="33" name="Text Box 978"/>
          <p:cNvSpPr txBox="1">
            <a:spLocks noChangeArrowheads="1"/>
          </p:cNvSpPr>
          <p:nvPr/>
        </p:nvSpPr>
        <p:spPr bwMode="gray">
          <a:xfrm>
            <a:off x="1495974" y="1759654"/>
            <a:ext cx="6029708"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a:latin typeface="Huawei Sans" panose="020C0503030203020204" pitchFamily="34" charset="0"/>
                <a:ea typeface="方正兰亭黑简体" panose="02000000000000000000" pitchFamily="2" charset="-122"/>
              </a:rPr>
              <a:t>对申请到的</a:t>
            </a:r>
            <a:r>
              <a:rPr lang="en-US" altLang="zh-CN" sz="1400" dirty="0">
                <a:latin typeface="Huawei Sans" panose="020C0503030203020204" pitchFamily="34" charset="0"/>
                <a:ea typeface="方正兰亭黑简体" panose="02000000000000000000" pitchFamily="2" charset="-122"/>
              </a:rPr>
              <a:t>IPv6</a:t>
            </a:r>
            <a:r>
              <a:rPr lang="zh-CN" altLang="en-US" sz="1400" dirty="0">
                <a:latin typeface="Huawei Sans" panose="020C0503030203020204" pitchFamily="34" charset="0"/>
                <a:ea typeface="方正兰亭黑简体" panose="02000000000000000000" pitchFamily="2" charset="-122"/>
              </a:rPr>
              <a:t>地址进行结构化划分：固定前缀、自定义前缀、主机地址</a:t>
            </a:r>
            <a:r>
              <a:rPr lang="zh-CN" altLang="en-US" sz="1400" dirty="0" smtClean="0">
                <a:latin typeface="Huawei Sans" panose="020C0503030203020204" pitchFamily="34" charset="0"/>
                <a:ea typeface="方正兰亭黑简体" panose="02000000000000000000" pitchFamily="2" charset="-122"/>
              </a:rPr>
              <a:t>区。</a:t>
            </a:r>
            <a:endParaRPr lang="zh-CN" altLang="en-US" sz="1400" dirty="0">
              <a:latin typeface="Huawei Sans" panose="020C0503030203020204" pitchFamily="34" charset="0"/>
              <a:ea typeface="方正兰亭黑简体" panose="02000000000000000000" pitchFamily="2" charset="-122"/>
            </a:endParaRPr>
          </a:p>
        </p:txBody>
      </p:sp>
      <p:sp>
        <p:nvSpPr>
          <p:cNvPr id="34" name="矩形 33"/>
          <p:cNvSpPr/>
          <p:nvPr/>
        </p:nvSpPr>
        <p:spPr bwMode="gray">
          <a:xfrm>
            <a:off x="5781703" y="3756500"/>
            <a:ext cx="5610974" cy="2289738"/>
          </a:xfrm>
          <a:prstGeom prst="rect">
            <a:avLst/>
          </a:prstGeom>
          <a:solidFill>
            <a:srgbClr val="EAF8FA"/>
          </a:solidFill>
          <a:ln w="9525" cap="flat" cmpd="sng" algn="ctr">
            <a:solidFill>
              <a:srgbClr val="BEE9E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zh-CN" altLang="en-US" sz="1600" b="1" kern="0" dirty="0" smtClean="0">
                <a:solidFill>
                  <a:srgbClr val="000000"/>
                </a:solidFill>
                <a:latin typeface="Huawei Sans" panose="020C0503030203020204" pitchFamily="34" charset="0"/>
                <a:ea typeface="方正兰亭黑简体" panose="02000000000000000000" pitchFamily="2" charset="-122"/>
              </a:rPr>
              <a:t>细化前缀定义</a:t>
            </a:r>
            <a:endParaRPr lang="zh-CN" altLang="en-US" sz="1600" b="1" kern="0" dirty="0">
              <a:solidFill>
                <a:srgbClr val="000000"/>
              </a:solidFill>
              <a:latin typeface="Huawei Sans" panose="020C0503030203020204" pitchFamily="34" charset="0"/>
              <a:ea typeface="方正兰亭黑简体" panose="02000000000000000000" pitchFamily="2" charset="-122"/>
            </a:endParaRPr>
          </a:p>
        </p:txBody>
      </p:sp>
      <p:sp>
        <p:nvSpPr>
          <p:cNvPr id="35" name="Text Box 978"/>
          <p:cNvSpPr txBox="1">
            <a:spLocks noChangeArrowheads="1"/>
          </p:cNvSpPr>
          <p:nvPr/>
        </p:nvSpPr>
        <p:spPr bwMode="gray">
          <a:xfrm>
            <a:off x="6423418" y="4118224"/>
            <a:ext cx="4327543" cy="215444"/>
          </a:xfrm>
          <a:prstGeom prst="rect">
            <a:avLst/>
          </a:prstGeom>
          <a:noFill/>
          <a:ln w="9525" algn="ctr">
            <a:noFill/>
            <a:miter lim="800000"/>
            <a:headEnd/>
            <a:tailEnd/>
          </a:ln>
          <a:effectLst/>
        </p:spPr>
        <p:txBody>
          <a:bodyPr wrap="square" lIns="0" tIns="0" rIns="0" bIns="0">
            <a:spAutoFit/>
          </a:bodyPr>
          <a:lstStyle/>
          <a:p>
            <a:pPr marL="85725" indent="-85725" algn="ctr" defTabSz="914400" fontAlgn="base">
              <a:spcBef>
                <a:spcPct val="0"/>
              </a:spcBef>
              <a:spcAft>
                <a:spcPct val="0"/>
              </a:spcAft>
              <a:defRPr/>
            </a:pPr>
            <a:r>
              <a:rPr lang="zh-CN" altLang="en-US" sz="1400" b="1" dirty="0">
                <a:latin typeface="Huawei Sans" panose="020C0503030203020204" pitchFamily="34" charset="0"/>
                <a:ea typeface="方正兰亭黑简体" panose="02000000000000000000" pitchFamily="2" charset="-122"/>
              </a:rPr>
              <a:t>收集与地址分配相关的企业内部信息，定义前缀信息</a:t>
            </a:r>
          </a:p>
        </p:txBody>
      </p:sp>
      <p:sp>
        <p:nvSpPr>
          <p:cNvPr id="36" name="Text Box 978"/>
          <p:cNvSpPr txBox="1">
            <a:spLocks noChangeArrowheads="1"/>
          </p:cNvSpPr>
          <p:nvPr/>
        </p:nvSpPr>
        <p:spPr bwMode="gray">
          <a:xfrm>
            <a:off x="6062481" y="4401988"/>
            <a:ext cx="5163231" cy="1551194"/>
          </a:xfrm>
          <a:prstGeom prst="rect">
            <a:avLst/>
          </a:prstGeom>
          <a:noFill/>
          <a:ln w="9525" algn="ctr">
            <a:noFill/>
            <a:miter lim="800000"/>
            <a:headEnd/>
            <a:tailEnd/>
          </a:ln>
          <a:effectLst/>
        </p:spPr>
        <p:txBody>
          <a:bodyPr wrap="square" lIns="0" tIns="0" rIns="0" bIns="0">
            <a:spAutoFit/>
          </a:bodyPr>
          <a:lstStyle/>
          <a:p>
            <a:pPr marL="171450" indent="-171450" defTabSz="914400" fontAlgn="base">
              <a:lnSpc>
                <a:spcPct val="120000"/>
              </a:lnSpc>
              <a:spcBef>
                <a:spcPct val="0"/>
              </a:spcBef>
              <a:spcAft>
                <a:spcPct val="0"/>
              </a:spcAft>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rPr>
              <a:t>区域位置与</a:t>
            </a:r>
            <a:r>
              <a:rPr lang="zh-CN" altLang="en-US" sz="1400" kern="0" dirty="0" smtClean="0">
                <a:solidFill>
                  <a:srgbClr val="000000"/>
                </a:solidFill>
                <a:latin typeface="Huawei Sans" panose="020C0503030203020204" pitchFamily="34" charset="0"/>
                <a:ea typeface="方正兰亭黑简体" panose="02000000000000000000" pitchFamily="2" charset="-122"/>
              </a:rPr>
              <a:t>数量：</a:t>
            </a:r>
            <a:endParaRPr lang="zh-CN" altLang="en-US" sz="1400" kern="0" dirty="0">
              <a:solidFill>
                <a:srgbClr val="000000"/>
              </a:solidFill>
              <a:latin typeface="Huawei Sans" panose="020C0503030203020204" pitchFamily="34" charset="0"/>
              <a:ea typeface="方正兰亭黑简体" panose="02000000000000000000" pitchFamily="2" charset="-122"/>
            </a:endParaRPr>
          </a:p>
          <a:p>
            <a:pPr marL="360000" indent="-180000" defTabSz="914400" fontAlgn="base">
              <a:lnSpc>
                <a:spcPct val="120000"/>
              </a:lnSpc>
              <a:spcBef>
                <a:spcPct val="0"/>
              </a:spcBef>
              <a:spcAft>
                <a:spcPct val="0"/>
              </a:spcAft>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rPr>
              <a:t>国家、区域、省份、地市、县、园区建筑、楼层</a:t>
            </a:r>
            <a:r>
              <a:rPr lang="zh-CN" altLang="en-US" sz="1400" kern="0" dirty="0" smtClean="0">
                <a:solidFill>
                  <a:srgbClr val="000000"/>
                </a:solidFill>
                <a:latin typeface="Huawei Sans" panose="020C0503030203020204" pitchFamily="34" charset="0"/>
                <a:ea typeface="方正兰亭黑简体" panose="02000000000000000000" pitchFamily="2" charset="-122"/>
              </a:rPr>
              <a:t>等；</a:t>
            </a:r>
            <a:endParaRPr lang="zh-CN" altLang="en-US" sz="1400" kern="0" dirty="0">
              <a:solidFill>
                <a:srgbClr val="000000"/>
              </a:solidFill>
              <a:latin typeface="Huawei Sans" panose="020C0503030203020204" pitchFamily="34" charset="0"/>
              <a:ea typeface="方正兰亭黑简体" panose="02000000000000000000" pitchFamily="2" charset="-122"/>
            </a:endParaRPr>
          </a:p>
          <a:p>
            <a:pPr marL="360000" indent="-180000" defTabSz="914400" fontAlgn="base">
              <a:lnSpc>
                <a:spcPct val="120000"/>
              </a:lnSpc>
              <a:spcBef>
                <a:spcPct val="0"/>
              </a:spcBef>
              <a:spcAft>
                <a:spcPct val="0"/>
              </a:spcAft>
              <a:buFont typeface="Huawei Sans" panose="020C0503030203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rPr>
              <a:t>区分物理位置和逻辑位置，如网络</a:t>
            </a:r>
            <a:r>
              <a:rPr lang="en-US" altLang="zh-CN" sz="1400" kern="0" dirty="0">
                <a:solidFill>
                  <a:srgbClr val="000000"/>
                </a:solidFill>
                <a:latin typeface="Huawei Sans" panose="020C0503030203020204" pitchFamily="34" charset="0"/>
                <a:ea typeface="方正兰亭黑简体" panose="02000000000000000000" pitchFamily="2" charset="-122"/>
              </a:rPr>
              <a:t>A</a:t>
            </a:r>
            <a:r>
              <a:rPr lang="zh-CN" altLang="en-US" sz="1400" kern="0" dirty="0">
                <a:solidFill>
                  <a:srgbClr val="000000"/>
                </a:solidFill>
                <a:latin typeface="Huawei Sans" panose="020C0503030203020204" pitchFamily="34" charset="0"/>
                <a:ea typeface="方正兰亭黑简体" panose="02000000000000000000" pitchFamily="2" charset="-122"/>
              </a:rPr>
              <a:t>平面、</a:t>
            </a:r>
            <a:r>
              <a:rPr lang="en-US" altLang="zh-CN" sz="1400" kern="0" dirty="0">
                <a:solidFill>
                  <a:srgbClr val="000000"/>
                </a:solidFill>
                <a:latin typeface="Huawei Sans" panose="020C0503030203020204" pitchFamily="34" charset="0"/>
                <a:ea typeface="方正兰亭黑简体" panose="02000000000000000000" pitchFamily="2" charset="-122"/>
              </a:rPr>
              <a:t>B</a:t>
            </a:r>
            <a:r>
              <a:rPr lang="zh-CN" altLang="en-US" sz="1400" kern="0" dirty="0">
                <a:solidFill>
                  <a:srgbClr val="000000"/>
                </a:solidFill>
                <a:latin typeface="Huawei Sans" panose="020C0503030203020204" pitchFamily="34" charset="0"/>
                <a:ea typeface="方正兰亭黑简体" panose="02000000000000000000" pitchFamily="2" charset="-122"/>
              </a:rPr>
              <a:t>平面、</a:t>
            </a:r>
            <a:r>
              <a:rPr lang="en-US" altLang="zh-CN" sz="1400" kern="0" dirty="0">
                <a:solidFill>
                  <a:srgbClr val="000000"/>
                </a:solidFill>
                <a:latin typeface="Huawei Sans" panose="020C0503030203020204" pitchFamily="34" charset="0"/>
                <a:ea typeface="方正兰亭黑简体" panose="02000000000000000000" pitchFamily="2" charset="-122"/>
              </a:rPr>
              <a:t>xx</a:t>
            </a:r>
            <a:r>
              <a:rPr lang="zh-CN" altLang="en-US" sz="1400" kern="0" dirty="0">
                <a:solidFill>
                  <a:srgbClr val="000000"/>
                </a:solidFill>
                <a:latin typeface="Huawei Sans" panose="020C0503030203020204" pitchFamily="34" charset="0"/>
                <a:ea typeface="方正兰亭黑简体" panose="02000000000000000000" pitchFamily="2" charset="-122"/>
              </a:rPr>
              <a:t>专网</a:t>
            </a:r>
            <a:r>
              <a:rPr lang="zh-CN" altLang="en-US" sz="1400" kern="0" dirty="0" smtClean="0">
                <a:solidFill>
                  <a:srgbClr val="000000"/>
                </a:solidFill>
                <a:latin typeface="Huawei Sans" panose="020C0503030203020204" pitchFamily="34" charset="0"/>
                <a:ea typeface="方正兰亭黑简体" panose="02000000000000000000" pitchFamily="2" charset="-122"/>
              </a:rPr>
              <a:t>等。</a:t>
            </a:r>
            <a:endParaRPr lang="zh-CN" altLang="en-US" sz="1400" kern="0" dirty="0">
              <a:solidFill>
                <a:srgbClr val="000000"/>
              </a:solidFill>
              <a:latin typeface="Huawei Sans" panose="020C0503030203020204" pitchFamily="34" charset="0"/>
              <a:ea typeface="方正兰亭黑简体" panose="02000000000000000000" pitchFamily="2" charset="-122"/>
            </a:endParaRPr>
          </a:p>
          <a:p>
            <a:pPr marL="171450" indent="-171450" defTabSz="914400" fontAlgn="base">
              <a:lnSpc>
                <a:spcPct val="120000"/>
              </a:lnSpc>
              <a:spcBef>
                <a:spcPct val="0"/>
              </a:spcBef>
              <a:spcAft>
                <a:spcPct val="0"/>
              </a:spcAft>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rPr>
              <a:t>每个位置联接的业务、应用、</a:t>
            </a:r>
            <a:r>
              <a:rPr lang="zh-CN" altLang="en-US" sz="1400" kern="0" dirty="0" smtClean="0">
                <a:solidFill>
                  <a:srgbClr val="000000"/>
                </a:solidFill>
                <a:latin typeface="Huawei Sans" panose="020C0503030203020204" pitchFamily="34" charset="0"/>
                <a:ea typeface="方正兰亭黑简体" panose="02000000000000000000" pitchFamily="2" charset="-122"/>
              </a:rPr>
              <a:t>系统：</a:t>
            </a:r>
            <a:endParaRPr lang="zh-CN" altLang="en-US" sz="1400" kern="0" dirty="0">
              <a:solidFill>
                <a:srgbClr val="000000"/>
              </a:solidFill>
              <a:latin typeface="Huawei Sans" panose="020C0503030203020204" pitchFamily="34" charset="0"/>
              <a:ea typeface="方正兰亭黑简体" panose="02000000000000000000" pitchFamily="2" charset="-122"/>
            </a:endParaRPr>
          </a:p>
          <a:p>
            <a:pPr marL="360000" indent="-180000" defTabSz="914400" fontAlgn="base">
              <a:lnSpc>
                <a:spcPct val="120000"/>
              </a:lnSpc>
              <a:spcBef>
                <a:spcPct val="0"/>
              </a:spcBef>
              <a:spcAft>
                <a:spcPct val="0"/>
              </a:spcAft>
              <a:buFont typeface="Huawei Sans" panose="020C0503030203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rPr>
              <a:t>办公、</a:t>
            </a:r>
            <a:r>
              <a:rPr lang="zh-CN" altLang="en-US" sz="1400" kern="0" dirty="0">
                <a:solidFill>
                  <a:srgbClr val="000000"/>
                </a:solidFill>
                <a:latin typeface="Huawei Sans" panose="020C0503030203020204" pitchFamily="34" charset="0"/>
                <a:ea typeface="方正兰亭黑简体" panose="02000000000000000000" pitchFamily="2" charset="-122"/>
              </a:rPr>
              <a:t>研发、销售、行政、财务</a:t>
            </a:r>
            <a:r>
              <a:rPr lang="zh-CN" altLang="en-US" sz="1400" kern="0" dirty="0" smtClean="0">
                <a:solidFill>
                  <a:srgbClr val="000000"/>
                </a:solidFill>
                <a:latin typeface="Huawei Sans" panose="020C0503030203020204" pitchFamily="34" charset="0"/>
                <a:ea typeface="方正兰亭黑简体" panose="02000000000000000000" pitchFamily="2" charset="-122"/>
              </a:rPr>
              <a:t>等。</a:t>
            </a:r>
            <a:endParaRPr lang="zh-CN" altLang="en-US" sz="1400" kern="0" dirty="0">
              <a:solidFill>
                <a:srgbClr val="000000"/>
              </a:solidFill>
              <a:latin typeface="Huawei Sans" panose="020C0503030203020204" pitchFamily="34" charset="0"/>
              <a:ea typeface="方正兰亭黑简体" panose="02000000000000000000" pitchFamily="2" charset="-122"/>
            </a:endParaRPr>
          </a:p>
          <a:p>
            <a:pPr marL="171450" indent="-171450" defTabSz="914400" fontAlgn="base">
              <a:lnSpc>
                <a:spcPct val="120000"/>
              </a:lnSpc>
              <a:spcBef>
                <a:spcPct val="0"/>
              </a:spcBef>
              <a:spcAft>
                <a:spcPct val="0"/>
              </a:spcAft>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rPr>
              <a:t>自上而下</a:t>
            </a:r>
            <a:r>
              <a:rPr lang="zh-CN" altLang="en-US" sz="1400" kern="0" dirty="0">
                <a:solidFill>
                  <a:srgbClr val="000000"/>
                </a:solidFill>
                <a:latin typeface="Huawei Sans" panose="020C0503030203020204" pitchFamily="34" charset="0"/>
                <a:ea typeface="方正兰亭黑简体" panose="02000000000000000000" pitchFamily="2" charset="-122"/>
              </a:rPr>
              <a:t>分配</a:t>
            </a:r>
            <a:r>
              <a:rPr lang="zh-CN" altLang="en-US" sz="1400" kern="0" dirty="0" smtClean="0">
                <a:solidFill>
                  <a:srgbClr val="000000"/>
                </a:solidFill>
                <a:latin typeface="Huawei Sans" panose="020C0503030203020204" pitchFamily="34" charset="0"/>
                <a:ea typeface="方正兰亭黑简体" panose="02000000000000000000" pitchFamily="2" charset="-122"/>
              </a:rPr>
              <a:t>定义。</a:t>
            </a:r>
            <a:endParaRPr lang="zh-CN" altLang="en-US" sz="1400" kern="0" dirty="0">
              <a:solidFill>
                <a:srgbClr val="000000"/>
              </a:solidFill>
              <a:latin typeface="Huawei Sans" panose="020C0503030203020204" pitchFamily="34" charset="0"/>
              <a:ea typeface="方正兰亭黑简体" panose="02000000000000000000" pitchFamily="2" charset="-122"/>
            </a:endParaRPr>
          </a:p>
        </p:txBody>
      </p:sp>
      <p:cxnSp>
        <p:nvCxnSpPr>
          <p:cNvPr id="37" name="直接箭头连接符 88"/>
          <p:cNvCxnSpPr/>
          <p:nvPr/>
        </p:nvCxnSpPr>
        <p:spPr bwMode="gray">
          <a:xfrm>
            <a:off x="9452684" y="2722539"/>
            <a:ext cx="0" cy="360000"/>
          </a:xfrm>
          <a:prstGeom prst="straightConnector1">
            <a:avLst/>
          </a:prstGeom>
          <a:noFill/>
          <a:ln w="25400">
            <a:solidFill>
              <a:srgbClr val="56C4D2">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矩形 37"/>
          <p:cNvSpPr/>
          <p:nvPr/>
        </p:nvSpPr>
        <p:spPr bwMode="gray">
          <a:xfrm>
            <a:off x="8290828" y="1134182"/>
            <a:ext cx="2495121" cy="1597687"/>
          </a:xfrm>
          <a:prstGeom prst="rect">
            <a:avLst/>
          </a:prstGeom>
          <a:solidFill>
            <a:srgbClr val="EAF8FA"/>
          </a:solidFill>
          <a:ln w="9525" cap="flat" cmpd="sng" algn="ctr">
            <a:solidFill>
              <a:srgbClr val="BEE9EE"/>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fontAlgn="base">
              <a:spcBef>
                <a:spcPct val="0"/>
              </a:spcBef>
              <a:spcAft>
                <a:spcPct val="0"/>
              </a:spcAft>
              <a:buClr>
                <a:srgbClr val="CC9900"/>
              </a:buClr>
            </a:pPr>
            <a:r>
              <a:rPr lang="zh-CN" altLang="en-US" sz="1600" b="1" kern="0" dirty="0" smtClean="0">
                <a:solidFill>
                  <a:srgbClr val="000000"/>
                </a:solidFill>
                <a:latin typeface="Huawei Sans" panose="020C0503030203020204" pitchFamily="34" charset="0"/>
                <a:ea typeface="方正兰亭黑简体" panose="02000000000000000000" pitchFamily="2" charset="-122"/>
              </a:rPr>
              <a:t>地址分配</a:t>
            </a:r>
            <a:endParaRPr lang="zh-CN" altLang="en-US" sz="1600" b="1" kern="0" dirty="0">
              <a:solidFill>
                <a:srgbClr val="000000"/>
              </a:solidFill>
              <a:latin typeface="Huawei Sans" panose="020C0503030203020204" pitchFamily="34" charset="0"/>
              <a:ea typeface="方正兰亭黑简体" panose="02000000000000000000" pitchFamily="2" charset="-122"/>
            </a:endParaRPr>
          </a:p>
        </p:txBody>
      </p:sp>
      <p:sp>
        <p:nvSpPr>
          <p:cNvPr id="40" name="Text Box 978"/>
          <p:cNvSpPr txBox="1">
            <a:spLocks noChangeArrowheads="1"/>
          </p:cNvSpPr>
          <p:nvPr/>
        </p:nvSpPr>
        <p:spPr bwMode="gray">
          <a:xfrm>
            <a:off x="8394201" y="1478844"/>
            <a:ext cx="2323323" cy="861774"/>
          </a:xfrm>
          <a:prstGeom prst="rect">
            <a:avLst/>
          </a:prstGeom>
          <a:noFill/>
          <a:ln w="9525" algn="ctr">
            <a:noFill/>
            <a:miter lim="800000"/>
            <a:headEnd/>
            <a:tailEnd/>
          </a:ln>
          <a:effectLst/>
        </p:spPr>
        <p:txBody>
          <a:bodyPr wrap="square" lIns="0" tIns="0" rIns="0" bIns="0">
            <a:spAutoFit/>
          </a:bodyPr>
          <a:lstStyle/>
          <a:p>
            <a:pPr defTabSz="914400" fontAlgn="base">
              <a:spcBef>
                <a:spcPct val="0"/>
              </a:spcBef>
              <a:spcAft>
                <a:spcPct val="0"/>
              </a:spcAft>
              <a:defRPr/>
            </a:pPr>
            <a:r>
              <a:rPr lang="zh-CN" altLang="en-US" sz="1400" dirty="0">
                <a:latin typeface="Huawei Sans" panose="020C0503030203020204" pitchFamily="34" charset="0"/>
                <a:ea typeface="方正兰亭黑简体" panose="02000000000000000000" pitchFamily="2" charset="-122"/>
              </a:rPr>
              <a:t>集团总部完成地址定义规划后，按需分发给下属单位使用，下属单位可自主规划预留的子网</a:t>
            </a:r>
            <a:r>
              <a:rPr lang="zh-CN" altLang="en-US" sz="1400" dirty="0" smtClean="0">
                <a:latin typeface="Huawei Sans" panose="020C0503030203020204" pitchFamily="34" charset="0"/>
                <a:ea typeface="方正兰亭黑简体" panose="02000000000000000000" pitchFamily="2" charset="-122"/>
              </a:rPr>
              <a:t>空间</a:t>
            </a:r>
            <a:r>
              <a:rPr lang="zh-CN" altLang="en-US" sz="1400" dirty="0">
                <a:latin typeface="Huawei Sans" panose="020C0503030203020204" pitchFamily="34" charset="0"/>
                <a:ea typeface="方正兰亭黑简体" panose="02000000000000000000" pitchFamily="2" charset="-122"/>
              </a:rPr>
              <a:t>。</a:t>
            </a:r>
          </a:p>
        </p:txBody>
      </p:sp>
      <p:sp>
        <p:nvSpPr>
          <p:cNvPr id="41" name="矩形 40"/>
          <p:cNvSpPr/>
          <p:nvPr/>
        </p:nvSpPr>
        <p:spPr bwMode="gray">
          <a:xfrm>
            <a:off x="2286825" y="2107588"/>
            <a:ext cx="1079058"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32</a:t>
            </a:r>
            <a:r>
              <a:rPr lang="zh-CN" altLang="en-US" sz="1400" dirty="0" smtClean="0">
                <a:solidFill>
                  <a:schemeClr val="tx1"/>
                </a:solidFill>
              </a:rPr>
              <a:t>位</a:t>
            </a:r>
            <a:endParaRPr lang="zh-CN" altLang="en-US" sz="1400" dirty="0">
              <a:solidFill>
                <a:schemeClr val="tx1"/>
              </a:solidFill>
            </a:endParaRPr>
          </a:p>
        </p:txBody>
      </p:sp>
      <p:sp>
        <p:nvSpPr>
          <p:cNvPr id="42" name="矩形 41"/>
          <p:cNvSpPr/>
          <p:nvPr/>
        </p:nvSpPr>
        <p:spPr bwMode="gray">
          <a:xfrm>
            <a:off x="3433618" y="2107588"/>
            <a:ext cx="1079058"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32</a:t>
            </a:r>
            <a:r>
              <a:rPr lang="zh-CN" altLang="en-US" sz="1400" dirty="0" smtClean="0">
                <a:solidFill>
                  <a:schemeClr val="tx1"/>
                </a:solidFill>
              </a:rPr>
              <a:t>位</a:t>
            </a:r>
            <a:endParaRPr lang="zh-CN" altLang="en-US" sz="1400" dirty="0">
              <a:solidFill>
                <a:schemeClr val="tx1"/>
              </a:solidFill>
            </a:endParaRPr>
          </a:p>
        </p:txBody>
      </p:sp>
      <p:sp>
        <p:nvSpPr>
          <p:cNvPr id="43" name="矩形 42"/>
          <p:cNvSpPr/>
          <p:nvPr/>
        </p:nvSpPr>
        <p:spPr bwMode="gray">
          <a:xfrm>
            <a:off x="4580411" y="2107588"/>
            <a:ext cx="2160000"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64</a:t>
            </a:r>
            <a:r>
              <a:rPr lang="zh-CN" altLang="en-US" sz="1400" dirty="0" smtClean="0">
                <a:solidFill>
                  <a:schemeClr val="tx1"/>
                </a:solidFill>
              </a:rPr>
              <a:t>位</a:t>
            </a:r>
            <a:endParaRPr lang="zh-CN" altLang="en-US" sz="1400" dirty="0">
              <a:solidFill>
                <a:schemeClr val="tx1"/>
              </a:solidFill>
            </a:endParaRPr>
          </a:p>
        </p:txBody>
      </p:sp>
      <p:sp>
        <p:nvSpPr>
          <p:cNvPr id="44" name="Text Box 978"/>
          <p:cNvSpPr txBox="1">
            <a:spLocks noChangeArrowheads="1"/>
          </p:cNvSpPr>
          <p:nvPr/>
        </p:nvSpPr>
        <p:spPr bwMode="gray">
          <a:xfrm>
            <a:off x="2415294" y="2404198"/>
            <a:ext cx="822119"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smtClean="0">
                <a:latin typeface="Huawei Sans" panose="020C0503030203020204" pitchFamily="34" charset="0"/>
                <a:ea typeface="方正兰亭黑简体" panose="02000000000000000000" pitchFamily="2" charset="-122"/>
              </a:rPr>
              <a:t>固定前缀</a:t>
            </a:r>
            <a:endParaRPr lang="zh-CN" altLang="en-US" sz="1400" dirty="0">
              <a:latin typeface="Huawei Sans" panose="020C0503030203020204" pitchFamily="34" charset="0"/>
              <a:ea typeface="方正兰亭黑简体" panose="02000000000000000000" pitchFamily="2" charset="-122"/>
            </a:endParaRPr>
          </a:p>
        </p:txBody>
      </p:sp>
      <p:sp>
        <p:nvSpPr>
          <p:cNvPr id="45" name="Text Box 978"/>
          <p:cNvSpPr txBox="1">
            <a:spLocks noChangeArrowheads="1"/>
          </p:cNvSpPr>
          <p:nvPr/>
        </p:nvSpPr>
        <p:spPr bwMode="gray">
          <a:xfrm>
            <a:off x="3497852" y="2404198"/>
            <a:ext cx="950589"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a:latin typeface="Huawei Sans" panose="020C0503030203020204" pitchFamily="34" charset="0"/>
                <a:ea typeface="方正兰亭黑简体" panose="02000000000000000000" pitchFamily="2" charset="-122"/>
              </a:rPr>
              <a:t>自定义</a:t>
            </a:r>
            <a:r>
              <a:rPr lang="zh-CN" altLang="en-US" sz="1400" dirty="0" smtClean="0">
                <a:latin typeface="Huawei Sans" panose="020C0503030203020204" pitchFamily="34" charset="0"/>
                <a:ea typeface="方正兰亭黑简体" panose="02000000000000000000" pitchFamily="2" charset="-122"/>
              </a:rPr>
              <a:t>前缀</a:t>
            </a:r>
            <a:endParaRPr lang="zh-CN" altLang="en-US" sz="1400" dirty="0">
              <a:latin typeface="Huawei Sans" panose="020C0503030203020204" pitchFamily="34" charset="0"/>
              <a:ea typeface="方正兰亭黑简体" panose="02000000000000000000" pitchFamily="2" charset="-122"/>
            </a:endParaRPr>
          </a:p>
        </p:txBody>
      </p:sp>
      <p:sp>
        <p:nvSpPr>
          <p:cNvPr id="46" name="Text Box 978"/>
          <p:cNvSpPr txBox="1">
            <a:spLocks noChangeArrowheads="1"/>
          </p:cNvSpPr>
          <p:nvPr/>
        </p:nvSpPr>
        <p:spPr bwMode="gray">
          <a:xfrm>
            <a:off x="5185116" y="2404198"/>
            <a:ext cx="950589"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smtClean="0">
                <a:latin typeface="Huawei Sans" panose="020C0503030203020204" pitchFamily="34" charset="0"/>
                <a:ea typeface="方正兰亭黑简体" panose="02000000000000000000" pitchFamily="2" charset="-122"/>
              </a:rPr>
              <a:t>主机地址区</a:t>
            </a:r>
            <a:endParaRPr lang="zh-CN" altLang="en-US" sz="140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582552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t>IPv6</a:t>
            </a:r>
            <a:r>
              <a:rPr lang="zh-CN" altLang="en-US" dirty="0" smtClean="0"/>
              <a:t>地址规划举例</a:t>
            </a:r>
            <a:endParaRPr lang="zh-CN" altLang="en-US" dirty="0"/>
          </a:p>
        </p:txBody>
      </p:sp>
      <p:sp>
        <p:nvSpPr>
          <p:cNvPr id="3" name="文本占位符 2"/>
          <p:cNvSpPr>
            <a:spLocks noGrp="1"/>
          </p:cNvSpPr>
          <p:nvPr>
            <p:ph type="body" sz="quarter" idx="10"/>
          </p:nvPr>
        </p:nvSpPr>
        <p:spPr bwMode="gray">
          <a:xfrm>
            <a:off x="455612" y="1047750"/>
            <a:ext cx="11293475" cy="436563"/>
          </a:xfrm>
        </p:spPr>
        <p:txBody>
          <a:bodyPr/>
          <a:lstStyle/>
          <a:p>
            <a:r>
              <a:rPr lang="en-US" altLang="zh-CN" sz="1800" dirty="0" smtClean="0"/>
              <a:t>XX</a:t>
            </a:r>
            <a:r>
              <a:rPr lang="zh-CN" altLang="en-US" sz="1800" dirty="0" smtClean="0"/>
              <a:t>银行</a:t>
            </a:r>
            <a:r>
              <a:rPr lang="en-US" altLang="zh-CN" sz="1800" dirty="0" smtClean="0"/>
              <a:t>IPv6</a:t>
            </a:r>
            <a:r>
              <a:rPr lang="zh-CN" altLang="en-US" sz="1800" dirty="0" smtClean="0"/>
              <a:t>地址整体规划方案：</a:t>
            </a:r>
            <a:endParaRPr lang="zh-CN" altLang="en-US" sz="1800" dirty="0"/>
          </a:p>
        </p:txBody>
      </p:sp>
      <p:sp>
        <p:nvSpPr>
          <p:cNvPr id="6" name="矩形 5"/>
          <p:cNvSpPr/>
          <p:nvPr/>
        </p:nvSpPr>
        <p:spPr bwMode="gray">
          <a:xfrm>
            <a:off x="1473248" y="2088114"/>
            <a:ext cx="2160000" cy="231899"/>
          </a:xfrm>
          <a:prstGeom prst="rect">
            <a:avLst/>
          </a:prstGeom>
          <a:solidFill>
            <a:srgbClr val="F2FBFC"/>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32</a:t>
            </a:r>
            <a:endParaRPr lang="zh-CN" altLang="en-US" sz="1400" dirty="0">
              <a:solidFill>
                <a:schemeClr val="tx1"/>
              </a:solidFill>
            </a:endParaRPr>
          </a:p>
        </p:txBody>
      </p:sp>
      <p:sp>
        <p:nvSpPr>
          <p:cNvPr id="7" name="矩形 6"/>
          <p:cNvSpPr/>
          <p:nvPr/>
        </p:nvSpPr>
        <p:spPr bwMode="gray">
          <a:xfrm>
            <a:off x="3633248" y="2088114"/>
            <a:ext cx="720000" cy="231899"/>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8</a:t>
            </a:r>
            <a:endParaRPr lang="zh-CN" altLang="en-US" sz="1400" dirty="0">
              <a:solidFill>
                <a:schemeClr val="tx1"/>
              </a:solidFill>
            </a:endParaRPr>
          </a:p>
        </p:txBody>
      </p:sp>
      <p:sp>
        <p:nvSpPr>
          <p:cNvPr id="8" name="矩形 7"/>
          <p:cNvSpPr/>
          <p:nvPr/>
        </p:nvSpPr>
        <p:spPr bwMode="gray">
          <a:xfrm>
            <a:off x="4353248" y="2088114"/>
            <a:ext cx="360000" cy="231899"/>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4</a:t>
            </a:r>
            <a:endParaRPr lang="zh-CN" altLang="en-US" sz="1400" dirty="0">
              <a:solidFill>
                <a:schemeClr val="tx1"/>
              </a:solidFill>
            </a:endParaRPr>
          </a:p>
        </p:txBody>
      </p:sp>
      <p:sp>
        <p:nvSpPr>
          <p:cNvPr id="9" name="矩形 8"/>
          <p:cNvSpPr/>
          <p:nvPr/>
        </p:nvSpPr>
        <p:spPr bwMode="gray">
          <a:xfrm>
            <a:off x="4713248" y="2088114"/>
            <a:ext cx="360000" cy="231899"/>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4</a:t>
            </a:r>
            <a:endParaRPr lang="zh-CN" altLang="en-US" sz="1400" dirty="0">
              <a:solidFill>
                <a:schemeClr val="tx1"/>
              </a:solidFill>
            </a:endParaRPr>
          </a:p>
        </p:txBody>
      </p:sp>
      <p:sp>
        <p:nvSpPr>
          <p:cNvPr id="10" name="矩形 9"/>
          <p:cNvSpPr/>
          <p:nvPr/>
        </p:nvSpPr>
        <p:spPr bwMode="gray">
          <a:xfrm>
            <a:off x="5073248" y="2088114"/>
            <a:ext cx="360000" cy="231899"/>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4</a:t>
            </a:r>
            <a:endParaRPr lang="zh-CN" altLang="en-US" sz="1400" dirty="0">
              <a:solidFill>
                <a:schemeClr val="tx1"/>
              </a:solidFill>
            </a:endParaRPr>
          </a:p>
        </p:txBody>
      </p:sp>
      <p:sp>
        <p:nvSpPr>
          <p:cNvPr id="11" name="矩形 10"/>
          <p:cNvSpPr/>
          <p:nvPr/>
        </p:nvSpPr>
        <p:spPr bwMode="gray">
          <a:xfrm>
            <a:off x="5433248" y="2088114"/>
            <a:ext cx="1080000" cy="231899"/>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12</a:t>
            </a:r>
            <a:endParaRPr lang="zh-CN" altLang="en-US" sz="1400" dirty="0">
              <a:solidFill>
                <a:schemeClr val="tx1"/>
              </a:solidFill>
            </a:endParaRPr>
          </a:p>
        </p:txBody>
      </p:sp>
      <p:sp>
        <p:nvSpPr>
          <p:cNvPr id="12" name="矩形 11"/>
          <p:cNvSpPr/>
          <p:nvPr/>
        </p:nvSpPr>
        <p:spPr bwMode="gray">
          <a:xfrm>
            <a:off x="6513248" y="2088114"/>
            <a:ext cx="4320000" cy="231899"/>
          </a:xfrm>
          <a:prstGeom prst="rect">
            <a:avLst/>
          </a:prstGeom>
          <a:solidFill>
            <a:srgbClr val="F2FBFC"/>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rPr>
              <a:t>Interface ID</a:t>
            </a:r>
            <a:endParaRPr lang="zh-CN" altLang="en-US" sz="1400" dirty="0">
              <a:solidFill>
                <a:schemeClr val="tx1"/>
              </a:solidFill>
            </a:endParaRPr>
          </a:p>
        </p:txBody>
      </p:sp>
      <p:cxnSp>
        <p:nvCxnSpPr>
          <p:cNvPr id="13" name="直接箭头连接符 85"/>
          <p:cNvCxnSpPr/>
          <p:nvPr/>
        </p:nvCxnSpPr>
        <p:spPr bwMode="gray">
          <a:xfrm flipV="1">
            <a:off x="2564371" y="2320013"/>
            <a:ext cx="0" cy="216000"/>
          </a:xfrm>
          <a:prstGeom prst="straightConnector1">
            <a:avLst/>
          </a:prstGeom>
          <a:noFill/>
          <a:ln w="19050">
            <a:solidFill>
              <a:srgbClr val="56C4D2">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 Box 978"/>
          <p:cNvSpPr txBox="1">
            <a:spLocks noChangeArrowheads="1"/>
          </p:cNvSpPr>
          <p:nvPr/>
        </p:nvSpPr>
        <p:spPr bwMode="gray">
          <a:xfrm>
            <a:off x="2059256" y="2540356"/>
            <a:ext cx="987983"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smtClean="0">
                <a:latin typeface="Huawei Sans" panose="020C0503030203020204" pitchFamily="34" charset="0"/>
                <a:ea typeface="方正兰亭黑简体" panose="02000000000000000000" pitchFamily="2" charset="-122"/>
              </a:rPr>
              <a:t>网络前缀</a:t>
            </a:r>
            <a:endParaRPr lang="zh-CN" altLang="en-US" sz="1400" dirty="0">
              <a:latin typeface="Huawei Sans" panose="020C0503030203020204" pitchFamily="34" charset="0"/>
              <a:ea typeface="方正兰亭黑简体" panose="02000000000000000000" pitchFamily="2" charset="-122"/>
            </a:endParaRPr>
          </a:p>
        </p:txBody>
      </p:sp>
      <p:cxnSp>
        <p:nvCxnSpPr>
          <p:cNvPr id="15" name="直接箭头连接符 85"/>
          <p:cNvCxnSpPr/>
          <p:nvPr/>
        </p:nvCxnSpPr>
        <p:spPr bwMode="gray">
          <a:xfrm flipV="1">
            <a:off x="4536209" y="2320013"/>
            <a:ext cx="0" cy="216000"/>
          </a:xfrm>
          <a:prstGeom prst="straightConnector1">
            <a:avLst/>
          </a:prstGeom>
          <a:noFill/>
          <a:ln w="19050">
            <a:solidFill>
              <a:srgbClr val="56C4D2">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Box 978"/>
          <p:cNvSpPr txBox="1">
            <a:spLocks noChangeArrowheads="1"/>
          </p:cNvSpPr>
          <p:nvPr/>
        </p:nvSpPr>
        <p:spPr bwMode="gray">
          <a:xfrm>
            <a:off x="3900466" y="2540356"/>
            <a:ext cx="987983"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a:latin typeface="Huawei Sans" panose="020C0503030203020204" pitchFamily="34" charset="0"/>
                <a:ea typeface="方正兰亭黑简体" panose="02000000000000000000" pitchFamily="2" charset="-122"/>
              </a:rPr>
              <a:t>二</a:t>
            </a:r>
            <a:r>
              <a:rPr lang="zh-CN" altLang="en-US" sz="1400" dirty="0" smtClean="0">
                <a:latin typeface="Huawei Sans" panose="020C0503030203020204" pitchFamily="34" charset="0"/>
                <a:ea typeface="方正兰亭黑简体" panose="02000000000000000000" pitchFamily="2" charset="-122"/>
              </a:rPr>
              <a:t>级机构</a:t>
            </a:r>
            <a:endParaRPr lang="zh-CN" altLang="en-US" sz="1400" dirty="0">
              <a:latin typeface="Huawei Sans" panose="020C0503030203020204" pitchFamily="34" charset="0"/>
              <a:ea typeface="方正兰亭黑简体" panose="02000000000000000000" pitchFamily="2" charset="-122"/>
            </a:endParaRPr>
          </a:p>
        </p:txBody>
      </p:sp>
      <p:cxnSp>
        <p:nvCxnSpPr>
          <p:cNvPr id="17" name="直接箭头连接符 85"/>
          <p:cNvCxnSpPr/>
          <p:nvPr/>
        </p:nvCxnSpPr>
        <p:spPr bwMode="gray">
          <a:xfrm flipV="1">
            <a:off x="5266834" y="2320013"/>
            <a:ext cx="0" cy="216000"/>
          </a:xfrm>
          <a:prstGeom prst="straightConnector1">
            <a:avLst/>
          </a:prstGeom>
          <a:noFill/>
          <a:ln w="19050">
            <a:solidFill>
              <a:srgbClr val="56C4D2">
                <a:alpha val="55000"/>
              </a:srgb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978"/>
          <p:cNvSpPr txBox="1">
            <a:spLocks noChangeArrowheads="1"/>
          </p:cNvSpPr>
          <p:nvPr/>
        </p:nvSpPr>
        <p:spPr bwMode="gray">
          <a:xfrm>
            <a:off x="4939256" y="2540356"/>
            <a:ext cx="987983"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smtClean="0">
                <a:latin typeface="Huawei Sans" panose="020C0503030203020204" pitchFamily="34" charset="0"/>
                <a:ea typeface="方正兰亭黑简体" panose="02000000000000000000" pitchFamily="2" charset="-122"/>
              </a:rPr>
              <a:t>网络分区</a:t>
            </a:r>
            <a:endParaRPr lang="zh-CN" altLang="en-US" sz="1400" dirty="0">
              <a:latin typeface="Huawei Sans" panose="020C0503030203020204" pitchFamily="34" charset="0"/>
              <a:ea typeface="方正兰亭黑简体" panose="02000000000000000000" pitchFamily="2" charset="-122"/>
            </a:endParaRPr>
          </a:p>
        </p:txBody>
      </p:sp>
      <p:cxnSp>
        <p:nvCxnSpPr>
          <p:cNvPr id="19" name="直接箭头连接符 85"/>
          <p:cNvCxnSpPr/>
          <p:nvPr/>
        </p:nvCxnSpPr>
        <p:spPr bwMode="gray">
          <a:xfrm flipV="1">
            <a:off x="4001285" y="1872114"/>
            <a:ext cx="0" cy="216000"/>
          </a:xfrm>
          <a:prstGeom prst="straightConnector1">
            <a:avLst/>
          </a:prstGeom>
          <a:noFill/>
          <a:ln w="19050">
            <a:solidFill>
              <a:srgbClr val="56C4D2">
                <a:alpha val="55000"/>
              </a:srgbClr>
            </a:solidFill>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 Box 978"/>
          <p:cNvSpPr txBox="1">
            <a:spLocks noChangeArrowheads="1"/>
          </p:cNvSpPr>
          <p:nvPr/>
        </p:nvSpPr>
        <p:spPr bwMode="gray">
          <a:xfrm>
            <a:off x="3507293" y="1631545"/>
            <a:ext cx="987983"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smtClean="0">
                <a:latin typeface="Huawei Sans" panose="020C0503030203020204" pitchFamily="34" charset="0"/>
                <a:ea typeface="方正兰亭黑简体" panose="02000000000000000000" pitchFamily="2" charset="-122"/>
              </a:rPr>
              <a:t>机构</a:t>
            </a:r>
            <a:endParaRPr lang="zh-CN" altLang="en-US" sz="1400" dirty="0">
              <a:latin typeface="Huawei Sans" panose="020C0503030203020204" pitchFamily="34" charset="0"/>
              <a:ea typeface="方正兰亭黑简体" panose="02000000000000000000" pitchFamily="2" charset="-122"/>
            </a:endParaRPr>
          </a:p>
        </p:txBody>
      </p:sp>
      <p:cxnSp>
        <p:nvCxnSpPr>
          <p:cNvPr id="21" name="直接箭头连接符 85"/>
          <p:cNvCxnSpPr/>
          <p:nvPr/>
        </p:nvCxnSpPr>
        <p:spPr bwMode="gray">
          <a:xfrm flipV="1">
            <a:off x="4898454" y="1872114"/>
            <a:ext cx="0" cy="216000"/>
          </a:xfrm>
          <a:prstGeom prst="straightConnector1">
            <a:avLst/>
          </a:prstGeom>
          <a:noFill/>
          <a:ln w="19050">
            <a:solidFill>
              <a:srgbClr val="56C4D2">
                <a:alpha val="55000"/>
              </a:srgbClr>
            </a:solidFill>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 Box 978"/>
          <p:cNvSpPr txBox="1">
            <a:spLocks noChangeArrowheads="1"/>
          </p:cNvSpPr>
          <p:nvPr/>
        </p:nvSpPr>
        <p:spPr bwMode="gray">
          <a:xfrm>
            <a:off x="4404462" y="1631545"/>
            <a:ext cx="987983"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smtClean="0">
                <a:latin typeface="Huawei Sans" panose="020C0503030203020204" pitchFamily="34" charset="0"/>
                <a:ea typeface="方正兰亭黑简体" panose="02000000000000000000" pitchFamily="2" charset="-122"/>
              </a:rPr>
              <a:t>应用分类</a:t>
            </a:r>
            <a:endParaRPr lang="zh-CN" altLang="en-US" sz="1400" dirty="0">
              <a:latin typeface="Huawei Sans" panose="020C0503030203020204" pitchFamily="34" charset="0"/>
              <a:ea typeface="方正兰亭黑简体" panose="02000000000000000000" pitchFamily="2" charset="-122"/>
            </a:endParaRPr>
          </a:p>
        </p:txBody>
      </p:sp>
      <p:cxnSp>
        <p:nvCxnSpPr>
          <p:cNvPr id="23" name="直接箭头连接符 85"/>
          <p:cNvCxnSpPr/>
          <p:nvPr/>
        </p:nvCxnSpPr>
        <p:spPr bwMode="gray">
          <a:xfrm flipV="1">
            <a:off x="5970785" y="1872114"/>
            <a:ext cx="0" cy="216000"/>
          </a:xfrm>
          <a:prstGeom prst="straightConnector1">
            <a:avLst/>
          </a:prstGeom>
          <a:noFill/>
          <a:ln w="19050">
            <a:solidFill>
              <a:srgbClr val="56C4D2">
                <a:alpha val="55000"/>
              </a:srgbClr>
            </a:solidFill>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978"/>
          <p:cNvSpPr txBox="1">
            <a:spLocks noChangeArrowheads="1"/>
          </p:cNvSpPr>
          <p:nvPr/>
        </p:nvSpPr>
        <p:spPr bwMode="gray">
          <a:xfrm>
            <a:off x="5356381" y="1631545"/>
            <a:ext cx="1228807" cy="215444"/>
          </a:xfrm>
          <a:prstGeom prst="rect">
            <a:avLst/>
          </a:prstGeom>
          <a:noFill/>
          <a:ln w="9525" algn="ctr">
            <a:noFill/>
            <a:miter lim="800000"/>
            <a:headEnd/>
            <a:tailEnd/>
          </a:ln>
          <a:effectLst/>
        </p:spPr>
        <p:txBody>
          <a:bodyPr wrap="square" lIns="0" tIns="0" rIns="0" bIns="0">
            <a:spAutoFit/>
          </a:bodyPr>
          <a:lstStyle/>
          <a:p>
            <a:pPr algn="ctr" defTabSz="914400" fontAlgn="base">
              <a:spcBef>
                <a:spcPct val="0"/>
              </a:spcBef>
              <a:spcAft>
                <a:spcPct val="0"/>
              </a:spcAft>
              <a:defRPr/>
            </a:pPr>
            <a:r>
              <a:rPr lang="zh-CN" altLang="en-US" sz="1400" dirty="0" smtClean="0">
                <a:latin typeface="Huawei Sans" panose="020C0503030203020204" pitchFamily="34" charset="0"/>
                <a:ea typeface="方正兰亭黑简体" panose="02000000000000000000" pitchFamily="2" charset="-122"/>
              </a:rPr>
              <a:t>可分配地址块</a:t>
            </a:r>
            <a:endParaRPr lang="zh-CN" altLang="en-US" sz="1400" dirty="0">
              <a:latin typeface="Huawei Sans" panose="020C0503030203020204" pitchFamily="34" charset="0"/>
              <a:ea typeface="方正兰亭黑简体" panose="02000000000000000000" pitchFamily="2" charset="-122"/>
            </a:endParaRPr>
          </a:p>
        </p:txBody>
      </p:sp>
      <p:sp>
        <p:nvSpPr>
          <p:cNvPr id="25" name="文本占位符 2"/>
          <p:cNvSpPr txBox="1">
            <a:spLocks/>
          </p:cNvSpPr>
          <p:nvPr/>
        </p:nvSpPr>
        <p:spPr bwMode="gray">
          <a:xfrm>
            <a:off x="455612" y="3059430"/>
            <a:ext cx="11293475" cy="4365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base"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800" dirty="0" smtClean="0"/>
              <a:t>IPv6</a:t>
            </a:r>
            <a:r>
              <a:rPr lang="zh-CN" altLang="en-US" sz="1800" dirty="0" smtClean="0"/>
              <a:t>地址规划举例，如</a:t>
            </a:r>
            <a:r>
              <a:rPr lang="en-US" altLang="zh-CN" sz="1800" dirty="0" smtClean="0"/>
              <a:t>XX</a:t>
            </a:r>
            <a:r>
              <a:rPr lang="zh-CN" altLang="en-US" sz="1800" dirty="0" smtClean="0"/>
              <a:t>银行分配的</a:t>
            </a:r>
            <a:r>
              <a:rPr lang="en-US" altLang="zh-CN" sz="1800" dirty="0" smtClean="0"/>
              <a:t>IPv6</a:t>
            </a:r>
            <a:r>
              <a:rPr lang="zh-CN" altLang="en-US" sz="1800" dirty="0" smtClean="0"/>
              <a:t>网络前缀为：</a:t>
            </a:r>
            <a:r>
              <a:rPr lang="en-US" altLang="zh-CN" sz="1800" dirty="0" smtClean="0"/>
              <a:t>XXXX:XXXX::/32</a:t>
            </a:r>
            <a:r>
              <a:rPr lang="zh-CN" altLang="en-US" sz="1800" dirty="0" smtClean="0"/>
              <a:t>。</a:t>
            </a:r>
            <a:endParaRPr lang="en-US" altLang="zh-CN" sz="1800" dirty="0"/>
          </a:p>
          <a:p>
            <a:endParaRPr lang="zh-CN" altLang="en-US" sz="1800" dirty="0"/>
          </a:p>
        </p:txBody>
      </p:sp>
      <p:graphicFrame>
        <p:nvGraphicFramePr>
          <p:cNvPr id="26" name="内容占位符 40"/>
          <p:cNvGraphicFramePr>
            <a:graphicFrameLocks/>
          </p:cNvGraphicFramePr>
          <p:nvPr>
            <p:extLst>
              <p:ext uri="{D42A27DB-BD31-4B8C-83A1-F6EECF244321}">
                <p14:modId xmlns:p14="http://schemas.microsoft.com/office/powerpoint/2010/main" val="4281202905"/>
              </p:ext>
            </p:extLst>
          </p:nvPr>
        </p:nvGraphicFramePr>
        <p:xfrm>
          <a:off x="808808" y="3585710"/>
          <a:ext cx="1438003" cy="1645920"/>
        </p:xfrm>
        <a:graphic>
          <a:graphicData uri="http://schemas.openxmlformats.org/drawingml/2006/table">
            <a:tbl>
              <a:tblPr firstRow="1" bandRow="1"/>
              <a:tblGrid>
                <a:gridCol w="577061"/>
                <a:gridCol w="860942"/>
              </a:tblGrid>
              <a:tr h="203570">
                <a:tc>
                  <a:txBody>
                    <a:bodyPr/>
                    <a:lstStyle>
                      <a:lvl1pPr marL="0" algn="l" defTabSz="1187798" rtl="0" eaLnBrk="1" latinLnBrk="0" hangingPunct="1">
                        <a:defRPr sz="2338" b="1" kern="1200">
                          <a:solidFill>
                            <a:schemeClr val="lt1"/>
                          </a:solidFill>
                          <a:latin typeface="Calibri" panose="020F0502020204030204"/>
                        </a:defRPr>
                      </a:lvl1pPr>
                      <a:lvl2pPr marL="593900" algn="l" defTabSz="1187798" rtl="0" eaLnBrk="1" latinLnBrk="0" hangingPunct="1">
                        <a:defRPr sz="2338" b="1" kern="1200">
                          <a:solidFill>
                            <a:schemeClr val="lt1"/>
                          </a:solidFill>
                          <a:latin typeface="Calibri" panose="020F0502020204030204"/>
                        </a:defRPr>
                      </a:lvl2pPr>
                      <a:lvl3pPr marL="1187798" algn="l" defTabSz="1187798" rtl="0" eaLnBrk="1" latinLnBrk="0" hangingPunct="1">
                        <a:defRPr sz="2338" b="1" kern="1200">
                          <a:solidFill>
                            <a:schemeClr val="lt1"/>
                          </a:solidFill>
                          <a:latin typeface="Calibri" panose="020F0502020204030204"/>
                        </a:defRPr>
                      </a:lvl3pPr>
                      <a:lvl4pPr marL="1781699" algn="l" defTabSz="1187798" rtl="0" eaLnBrk="1" latinLnBrk="0" hangingPunct="1">
                        <a:defRPr sz="2338" b="1" kern="1200">
                          <a:solidFill>
                            <a:schemeClr val="lt1"/>
                          </a:solidFill>
                          <a:latin typeface="Calibri" panose="020F0502020204030204"/>
                        </a:defRPr>
                      </a:lvl4pPr>
                      <a:lvl5pPr marL="2375598" algn="l" defTabSz="1187798" rtl="0" eaLnBrk="1" latinLnBrk="0" hangingPunct="1">
                        <a:defRPr sz="2338" b="1" kern="1200">
                          <a:solidFill>
                            <a:schemeClr val="lt1"/>
                          </a:solidFill>
                          <a:latin typeface="Calibri" panose="020F0502020204030204"/>
                        </a:defRPr>
                      </a:lvl5pPr>
                      <a:lvl6pPr marL="2969497" algn="l" defTabSz="1187798" rtl="0" eaLnBrk="1" latinLnBrk="0" hangingPunct="1">
                        <a:defRPr sz="2338" b="1" kern="1200">
                          <a:solidFill>
                            <a:schemeClr val="lt1"/>
                          </a:solidFill>
                          <a:latin typeface="Calibri" panose="020F0502020204030204"/>
                        </a:defRPr>
                      </a:lvl6pPr>
                      <a:lvl7pPr marL="3563396" algn="l" defTabSz="1187798" rtl="0" eaLnBrk="1" latinLnBrk="0" hangingPunct="1">
                        <a:defRPr sz="2338" b="1" kern="1200">
                          <a:solidFill>
                            <a:schemeClr val="lt1"/>
                          </a:solidFill>
                          <a:latin typeface="Calibri" panose="020F0502020204030204"/>
                        </a:defRPr>
                      </a:lvl7pPr>
                      <a:lvl8pPr marL="4157297" algn="l" defTabSz="1187798" rtl="0" eaLnBrk="1" latinLnBrk="0" hangingPunct="1">
                        <a:defRPr sz="2338" b="1" kern="1200">
                          <a:solidFill>
                            <a:schemeClr val="lt1"/>
                          </a:solidFill>
                          <a:latin typeface="Calibri" panose="020F0502020204030204"/>
                        </a:defRPr>
                      </a:lvl8pPr>
                      <a:lvl9pPr marL="4751195" algn="l" defTabSz="1187798" rtl="0" eaLnBrk="1" latinLnBrk="0" hangingPunct="1">
                        <a:defRPr sz="2338" b="1" kern="1200">
                          <a:solidFill>
                            <a:schemeClr val="lt1"/>
                          </a:solidFill>
                          <a:latin typeface="Calibri" panose="020F0502020204030204"/>
                        </a:defRPr>
                      </a:lvl9pPr>
                    </a:lstStyle>
                    <a:p>
                      <a:pPr marL="0" marR="0" lvl="0" indent="0" algn="ctr" defTabSz="914583"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n-lt"/>
                          <a:ea typeface="+mn-ea"/>
                        </a:rPr>
                        <a:t>字段</a:t>
                      </a:r>
                      <a:endParaRPr lang="zh-CN" altLang="en-US" sz="1200" b="1" kern="1200" dirty="0">
                        <a:solidFill>
                          <a:schemeClr val="tx1"/>
                        </a:solidFill>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lvl1pPr marL="0" algn="l" defTabSz="1187798" rtl="0" eaLnBrk="1" latinLnBrk="0" hangingPunct="1">
                        <a:defRPr sz="2338" b="1" kern="1200">
                          <a:solidFill>
                            <a:schemeClr val="lt1"/>
                          </a:solidFill>
                          <a:latin typeface="Calibri" panose="020F0502020204030204"/>
                        </a:defRPr>
                      </a:lvl1pPr>
                      <a:lvl2pPr marL="593900" algn="l" defTabSz="1187798" rtl="0" eaLnBrk="1" latinLnBrk="0" hangingPunct="1">
                        <a:defRPr sz="2338" b="1" kern="1200">
                          <a:solidFill>
                            <a:schemeClr val="lt1"/>
                          </a:solidFill>
                          <a:latin typeface="Calibri" panose="020F0502020204030204"/>
                        </a:defRPr>
                      </a:lvl2pPr>
                      <a:lvl3pPr marL="1187798" algn="l" defTabSz="1187798" rtl="0" eaLnBrk="1" latinLnBrk="0" hangingPunct="1">
                        <a:defRPr sz="2338" b="1" kern="1200">
                          <a:solidFill>
                            <a:schemeClr val="lt1"/>
                          </a:solidFill>
                          <a:latin typeface="Calibri" panose="020F0502020204030204"/>
                        </a:defRPr>
                      </a:lvl3pPr>
                      <a:lvl4pPr marL="1781699" algn="l" defTabSz="1187798" rtl="0" eaLnBrk="1" latinLnBrk="0" hangingPunct="1">
                        <a:defRPr sz="2338" b="1" kern="1200">
                          <a:solidFill>
                            <a:schemeClr val="lt1"/>
                          </a:solidFill>
                          <a:latin typeface="Calibri" panose="020F0502020204030204"/>
                        </a:defRPr>
                      </a:lvl4pPr>
                      <a:lvl5pPr marL="2375598" algn="l" defTabSz="1187798" rtl="0" eaLnBrk="1" latinLnBrk="0" hangingPunct="1">
                        <a:defRPr sz="2338" b="1" kern="1200">
                          <a:solidFill>
                            <a:schemeClr val="lt1"/>
                          </a:solidFill>
                          <a:latin typeface="Calibri" panose="020F0502020204030204"/>
                        </a:defRPr>
                      </a:lvl5pPr>
                      <a:lvl6pPr marL="2969497" algn="l" defTabSz="1187798" rtl="0" eaLnBrk="1" latinLnBrk="0" hangingPunct="1">
                        <a:defRPr sz="2338" b="1" kern="1200">
                          <a:solidFill>
                            <a:schemeClr val="lt1"/>
                          </a:solidFill>
                          <a:latin typeface="Calibri" panose="020F0502020204030204"/>
                        </a:defRPr>
                      </a:lvl6pPr>
                      <a:lvl7pPr marL="3563396" algn="l" defTabSz="1187798" rtl="0" eaLnBrk="1" latinLnBrk="0" hangingPunct="1">
                        <a:defRPr sz="2338" b="1" kern="1200">
                          <a:solidFill>
                            <a:schemeClr val="lt1"/>
                          </a:solidFill>
                          <a:latin typeface="Calibri" panose="020F0502020204030204"/>
                        </a:defRPr>
                      </a:lvl7pPr>
                      <a:lvl8pPr marL="4157297" algn="l" defTabSz="1187798" rtl="0" eaLnBrk="1" latinLnBrk="0" hangingPunct="1">
                        <a:defRPr sz="2338" b="1" kern="1200">
                          <a:solidFill>
                            <a:schemeClr val="lt1"/>
                          </a:solidFill>
                          <a:latin typeface="Calibri" panose="020F0502020204030204"/>
                        </a:defRPr>
                      </a:lvl8pPr>
                      <a:lvl9pPr marL="4751195" algn="l" defTabSz="1187798" rtl="0" eaLnBrk="1" latinLnBrk="0" hangingPunct="1">
                        <a:defRPr sz="2338" b="1" kern="1200">
                          <a:solidFill>
                            <a:schemeClr val="lt1"/>
                          </a:solidFill>
                          <a:latin typeface="Calibri" panose="020F0502020204030204"/>
                        </a:defRPr>
                      </a:lvl9pPr>
                    </a:lstStyle>
                    <a:p>
                      <a:pPr marL="0" marR="0" lvl="0" indent="0" algn="ctr" defTabSz="914583" rtl="0" eaLnBrk="1" fontAlgn="auto" latinLnBrk="0" hangingPunct="1">
                        <a:lnSpc>
                          <a:spcPct val="100000"/>
                        </a:lnSpc>
                        <a:spcBef>
                          <a:spcPts val="0"/>
                        </a:spcBef>
                        <a:spcAft>
                          <a:spcPts val="0"/>
                        </a:spcAft>
                        <a:buClrTx/>
                        <a:buSzTx/>
                        <a:buFontTx/>
                        <a:buNone/>
                        <a:tabLst/>
                        <a:defRPr/>
                      </a:pPr>
                      <a:r>
                        <a:rPr lang="zh-CN" altLang="en-US" sz="1200" dirty="0" smtClean="0">
                          <a:solidFill>
                            <a:schemeClr val="tx1"/>
                          </a:solidFill>
                          <a:latin typeface="+mn-lt"/>
                          <a:ea typeface="+mn-ea"/>
                        </a:rPr>
                        <a:t>二级机构</a:t>
                      </a:r>
                      <a:endParaRPr lang="zh-CN" altLang="en-US" sz="1200" dirty="0" smtClean="0">
                        <a:solidFill>
                          <a:schemeClr val="tx1"/>
                        </a:solidFill>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0000</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zh-CN" altLang="en-US" sz="1200" dirty="0" smtClean="0">
                          <a:latin typeface="+mn-lt"/>
                          <a:ea typeface="+mn-ea"/>
                        </a:rPr>
                        <a:t>总行</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0001</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en-US" altLang="zh-CN" sz="1200" dirty="0" smtClean="0">
                          <a:latin typeface="+mn-lt"/>
                          <a:ea typeface="+mn-ea"/>
                        </a:rPr>
                        <a:t>xx</a:t>
                      </a:r>
                      <a:r>
                        <a:rPr lang="zh-CN" altLang="en-US" sz="1200" dirty="0" smtClean="0">
                          <a:latin typeface="+mn-lt"/>
                          <a:ea typeface="+mn-ea"/>
                        </a:rPr>
                        <a:t>分行</a:t>
                      </a:r>
                      <a:endParaRPr lang="en-US" altLang="zh-CN" sz="1200" dirty="0" smtClean="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0010</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0011</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en-US" altLang="zh-CN" sz="1200" dirty="0" smtClean="0">
                          <a:latin typeface="+mn-lt"/>
                          <a:ea typeface="+mn-ea"/>
                        </a:rPr>
                        <a:t>…</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28" name="内容占位符 40"/>
          <p:cNvGraphicFramePr>
            <a:graphicFrameLocks/>
          </p:cNvGraphicFramePr>
          <p:nvPr>
            <p:extLst>
              <p:ext uri="{D42A27DB-BD31-4B8C-83A1-F6EECF244321}">
                <p14:modId xmlns:p14="http://schemas.microsoft.com/office/powerpoint/2010/main" val="387639079"/>
              </p:ext>
            </p:extLst>
          </p:nvPr>
        </p:nvGraphicFramePr>
        <p:xfrm>
          <a:off x="2564371" y="3585710"/>
          <a:ext cx="1997859" cy="2468880"/>
        </p:xfrm>
        <a:graphic>
          <a:graphicData uri="http://schemas.openxmlformats.org/drawingml/2006/table">
            <a:tbl>
              <a:tblPr firstRow="1" bandRow="1"/>
              <a:tblGrid>
                <a:gridCol w="576000"/>
                <a:gridCol w="1421859"/>
              </a:tblGrid>
              <a:tr h="203570">
                <a:tc>
                  <a:txBody>
                    <a:bodyPr/>
                    <a:lstStyle>
                      <a:lvl1pPr marL="0" algn="l" defTabSz="1187798" rtl="0" eaLnBrk="1" latinLnBrk="0" hangingPunct="1">
                        <a:defRPr sz="2338" b="1" kern="1200">
                          <a:solidFill>
                            <a:schemeClr val="lt1"/>
                          </a:solidFill>
                          <a:latin typeface="Calibri" panose="020F0502020204030204"/>
                        </a:defRPr>
                      </a:lvl1pPr>
                      <a:lvl2pPr marL="593900" algn="l" defTabSz="1187798" rtl="0" eaLnBrk="1" latinLnBrk="0" hangingPunct="1">
                        <a:defRPr sz="2338" b="1" kern="1200">
                          <a:solidFill>
                            <a:schemeClr val="lt1"/>
                          </a:solidFill>
                          <a:latin typeface="Calibri" panose="020F0502020204030204"/>
                        </a:defRPr>
                      </a:lvl2pPr>
                      <a:lvl3pPr marL="1187798" algn="l" defTabSz="1187798" rtl="0" eaLnBrk="1" latinLnBrk="0" hangingPunct="1">
                        <a:defRPr sz="2338" b="1" kern="1200">
                          <a:solidFill>
                            <a:schemeClr val="lt1"/>
                          </a:solidFill>
                          <a:latin typeface="Calibri" panose="020F0502020204030204"/>
                        </a:defRPr>
                      </a:lvl3pPr>
                      <a:lvl4pPr marL="1781699" algn="l" defTabSz="1187798" rtl="0" eaLnBrk="1" latinLnBrk="0" hangingPunct="1">
                        <a:defRPr sz="2338" b="1" kern="1200">
                          <a:solidFill>
                            <a:schemeClr val="lt1"/>
                          </a:solidFill>
                          <a:latin typeface="Calibri" panose="020F0502020204030204"/>
                        </a:defRPr>
                      </a:lvl4pPr>
                      <a:lvl5pPr marL="2375598" algn="l" defTabSz="1187798" rtl="0" eaLnBrk="1" latinLnBrk="0" hangingPunct="1">
                        <a:defRPr sz="2338" b="1" kern="1200">
                          <a:solidFill>
                            <a:schemeClr val="lt1"/>
                          </a:solidFill>
                          <a:latin typeface="Calibri" panose="020F0502020204030204"/>
                        </a:defRPr>
                      </a:lvl5pPr>
                      <a:lvl6pPr marL="2969497" algn="l" defTabSz="1187798" rtl="0" eaLnBrk="1" latinLnBrk="0" hangingPunct="1">
                        <a:defRPr sz="2338" b="1" kern="1200">
                          <a:solidFill>
                            <a:schemeClr val="lt1"/>
                          </a:solidFill>
                          <a:latin typeface="Calibri" panose="020F0502020204030204"/>
                        </a:defRPr>
                      </a:lvl6pPr>
                      <a:lvl7pPr marL="3563396" algn="l" defTabSz="1187798" rtl="0" eaLnBrk="1" latinLnBrk="0" hangingPunct="1">
                        <a:defRPr sz="2338" b="1" kern="1200">
                          <a:solidFill>
                            <a:schemeClr val="lt1"/>
                          </a:solidFill>
                          <a:latin typeface="Calibri" panose="020F0502020204030204"/>
                        </a:defRPr>
                      </a:lvl7pPr>
                      <a:lvl8pPr marL="4157297" algn="l" defTabSz="1187798" rtl="0" eaLnBrk="1" latinLnBrk="0" hangingPunct="1">
                        <a:defRPr sz="2338" b="1" kern="1200">
                          <a:solidFill>
                            <a:schemeClr val="lt1"/>
                          </a:solidFill>
                          <a:latin typeface="Calibri" panose="020F0502020204030204"/>
                        </a:defRPr>
                      </a:lvl8pPr>
                      <a:lvl9pPr marL="4751195" algn="l" defTabSz="1187798" rtl="0" eaLnBrk="1" latinLnBrk="0" hangingPunct="1">
                        <a:defRPr sz="2338" b="1" kern="1200">
                          <a:solidFill>
                            <a:schemeClr val="lt1"/>
                          </a:solidFill>
                          <a:latin typeface="Calibri" panose="020F0502020204030204"/>
                        </a:defRPr>
                      </a:lvl9pPr>
                    </a:lstStyle>
                    <a:p>
                      <a:pPr marL="0" marR="0" lvl="0" indent="0" algn="ctr" defTabSz="914583"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n-lt"/>
                          <a:ea typeface="+mn-ea"/>
                        </a:rPr>
                        <a:t>字段</a:t>
                      </a:r>
                      <a:endParaRPr lang="zh-CN" altLang="en-US" sz="1200" b="1" kern="1200" dirty="0">
                        <a:solidFill>
                          <a:schemeClr val="tx1"/>
                        </a:solidFill>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lvl1pPr marL="0" algn="l" defTabSz="1187798" rtl="0" eaLnBrk="1" latinLnBrk="0" hangingPunct="1">
                        <a:defRPr sz="2338" b="1" kern="1200">
                          <a:solidFill>
                            <a:schemeClr val="lt1"/>
                          </a:solidFill>
                          <a:latin typeface="Calibri" panose="020F0502020204030204"/>
                        </a:defRPr>
                      </a:lvl1pPr>
                      <a:lvl2pPr marL="593900" algn="l" defTabSz="1187798" rtl="0" eaLnBrk="1" latinLnBrk="0" hangingPunct="1">
                        <a:defRPr sz="2338" b="1" kern="1200">
                          <a:solidFill>
                            <a:schemeClr val="lt1"/>
                          </a:solidFill>
                          <a:latin typeface="Calibri" panose="020F0502020204030204"/>
                        </a:defRPr>
                      </a:lvl2pPr>
                      <a:lvl3pPr marL="1187798" algn="l" defTabSz="1187798" rtl="0" eaLnBrk="1" latinLnBrk="0" hangingPunct="1">
                        <a:defRPr sz="2338" b="1" kern="1200">
                          <a:solidFill>
                            <a:schemeClr val="lt1"/>
                          </a:solidFill>
                          <a:latin typeface="Calibri" panose="020F0502020204030204"/>
                        </a:defRPr>
                      </a:lvl3pPr>
                      <a:lvl4pPr marL="1781699" algn="l" defTabSz="1187798" rtl="0" eaLnBrk="1" latinLnBrk="0" hangingPunct="1">
                        <a:defRPr sz="2338" b="1" kern="1200">
                          <a:solidFill>
                            <a:schemeClr val="lt1"/>
                          </a:solidFill>
                          <a:latin typeface="Calibri" panose="020F0502020204030204"/>
                        </a:defRPr>
                      </a:lvl4pPr>
                      <a:lvl5pPr marL="2375598" algn="l" defTabSz="1187798" rtl="0" eaLnBrk="1" latinLnBrk="0" hangingPunct="1">
                        <a:defRPr sz="2338" b="1" kern="1200">
                          <a:solidFill>
                            <a:schemeClr val="lt1"/>
                          </a:solidFill>
                          <a:latin typeface="Calibri" panose="020F0502020204030204"/>
                        </a:defRPr>
                      </a:lvl5pPr>
                      <a:lvl6pPr marL="2969497" algn="l" defTabSz="1187798" rtl="0" eaLnBrk="1" latinLnBrk="0" hangingPunct="1">
                        <a:defRPr sz="2338" b="1" kern="1200">
                          <a:solidFill>
                            <a:schemeClr val="lt1"/>
                          </a:solidFill>
                          <a:latin typeface="Calibri" panose="020F0502020204030204"/>
                        </a:defRPr>
                      </a:lvl6pPr>
                      <a:lvl7pPr marL="3563396" algn="l" defTabSz="1187798" rtl="0" eaLnBrk="1" latinLnBrk="0" hangingPunct="1">
                        <a:defRPr sz="2338" b="1" kern="1200">
                          <a:solidFill>
                            <a:schemeClr val="lt1"/>
                          </a:solidFill>
                          <a:latin typeface="Calibri" panose="020F0502020204030204"/>
                        </a:defRPr>
                      </a:lvl7pPr>
                      <a:lvl8pPr marL="4157297" algn="l" defTabSz="1187798" rtl="0" eaLnBrk="1" latinLnBrk="0" hangingPunct="1">
                        <a:defRPr sz="2338" b="1" kern="1200">
                          <a:solidFill>
                            <a:schemeClr val="lt1"/>
                          </a:solidFill>
                          <a:latin typeface="Calibri" panose="020F0502020204030204"/>
                        </a:defRPr>
                      </a:lvl8pPr>
                      <a:lvl9pPr marL="4751195" algn="l" defTabSz="1187798" rtl="0" eaLnBrk="1" latinLnBrk="0" hangingPunct="1">
                        <a:defRPr sz="2338" b="1" kern="1200">
                          <a:solidFill>
                            <a:schemeClr val="lt1"/>
                          </a:solidFill>
                          <a:latin typeface="Calibri" panose="020F0502020204030204"/>
                        </a:defRPr>
                      </a:lvl9pPr>
                    </a:lstStyle>
                    <a:p>
                      <a:pPr marL="0" marR="0" lvl="0" indent="0" algn="ctr" defTabSz="914583" rtl="0" eaLnBrk="1" fontAlgn="auto" latinLnBrk="0" hangingPunct="1">
                        <a:lnSpc>
                          <a:spcPct val="100000"/>
                        </a:lnSpc>
                        <a:spcBef>
                          <a:spcPts val="0"/>
                        </a:spcBef>
                        <a:spcAft>
                          <a:spcPts val="0"/>
                        </a:spcAft>
                        <a:buClrTx/>
                        <a:buSzTx/>
                        <a:buFontTx/>
                        <a:buNone/>
                        <a:tabLst/>
                        <a:defRPr/>
                      </a:pPr>
                      <a:r>
                        <a:rPr lang="zh-CN" altLang="en-US" sz="1200" dirty="0" smtClean="0">
                          <a:solidFill>
                            <a:schemeClr val="tx1"/>
                          </a:solidFill>
                          <a:latin typeface="+mn-lt"/>
                          <a:ea typeface="+mn-ea"/>
                          <a:cs typeface="+mn-cs"/>
                        </a:rPr>
                        <a:t>应用分类</a:t>
                      </a:r>
                      <a:endParaRPr lang="zh-CN" altLang="en-US" sz="1200" dirty="0" smtClean="0">
                        <a:solidFill>
                          <a:schemeClr val="tx1"/>
                        </a:solidFill>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0000</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zh-CN" altLang="en-US" sz="1200" dirty="0" smtClean="0">
                          <a:latin typeface="+mn-lt"/>
                          <a:ea typeface="+mn-ea"/>
                          <a:cs typeface="+mn-cs"/>
                        </a:rPr>
                        <a:t>生产</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0001</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zh-CN" altLang="en-US" sz="1200" dirty="0" smtClean="0">
                          <a:latin typeface="+mn-lt"/>
                          <a:ea typeface="+mn-ea"/>
                          <a:cs typeface="+mn-cs"/>
                        </a:rPr>
                        <a:t>办公</a:t>
                      </a:r>
                      <a:endParaRPr lang="en-US" altLang="zh-CN" sz="1200" dirty="0" smtClean="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0010</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r>
                        <a:rPr lang="zh-CN" altLang="en-US" sz="1200" dirty="0" smtClean="0">
                          <a:latin typeface="+mn-lt"/>
                          <a:ea typeface="+mn-ea"/>
                          <a:cs typeface="Times New Roman" panose="02020603050405020304" pitchFamily="18" charset="0"/>
                        </a:rPr>
                        <a:t>开发测试</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p>
                      <a:pPr algn="ctr"/>
                      <a:r>
                        <a:rPr lang="en-US" altLang="zh-CN" sz="1200" dirty="0" smtClean="0">
                          <a:latin typeface="+mn-lt"/>
                          <a:ea typeface="+mn-ea"/>
                          <a:cs typeface="Times New Roman" panose="02020603050405020304" pitchFamily="18" charset="0"/>
                        </a:rPr>
                        <a:t>0011</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r>
                        <a:rPr lang="zh-CN" altLang="en-US" sz="1200" dirty="0" smtClean="0">
                          <a:latin typeface="+mn-lt"/>
                          <a:ea typeface="+mn-ea"/>
                          <a:cs typeface="Times New Roman" panose="02020603050405020304" pitchFamily="18" charset="0"/>
                        </a:rPr>
                        <a:t>网络设备带外管理</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p>
                      <a:pPr algn="ctr"/>
                      <a:r>
                        <a:rPr lang="en-US" altLang="zh-CN" sz="1200" dirty="0" smtClean="0">
                          <a:latin typeface="+mn-lt"/>
                          <a:ea typeface="+mn-ea"/>
                          <a:cs typeface="Times New Roman" panose="02020603050405020304" pitchFamily="18" charset="0"/>
                        </a:rPr>
                        <a:t>0100</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r>
                        <a:rPr lang="zh-CN" altLang="en-US" sz="1200" dirty="0" smtClean="0">
                          <a:latin typeface="+mn-lt"/>
                          <a:ea typeface="+mn-ea"/>
                          <a:cs typeface="Times New Roman" panose="02020603050405020304" pitchFamily="18" charset="0"/>
                        </a:rPr>
                        <a:t>网络设备互联</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p>
                      <a:pPr algn="ctr"/>
                      <a:r>
                        <a:rPr lang="en-US" altLang="zh-CN" sz="1200" dirty="0" smtClean="0">
                          <a:latin typeface="+mn-lt"/>
                          <a:ea typeface="+mn-ea"/>
                          <a:cs typeface="Times New Roman" panose="02020603050405020304" pitchFamily="18" charset="0"/>
                        </a:rPr>
                        <a:t>0101</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r>
                        <a:rPr lang="zh-CN" altLang="en-US" sz="1200" dirty="0" smtClean="0">
                          <a:latin typeface="+mn-lt"/>
                          <a:ea typeface="+mn-ea"/>
                          <a:cs typeface="Times New Roman" panose="02020603050405020304" pitchFamily="18" charset="0"/>
                        </a:rPr>
                        <a:t>视频监控</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0110</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zh-CN" altLang="en-US" sz="1200" dirty="0" smtClean="0">
                          <a:latin typeface="+mn-lt"/>
                          <a:ea typeface="+mn-ea"/>
                          <a:cs typeface="Times New Roman" panose="02020603050405020304" pitchFamily="18" charset="0"/>
                        </a:rPr>
                        <a:t>网点无线生产</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en-US" altLang="zh-CN" sz="1200" dirty="0" smtClean="0">
                          <a:latin typeface="+mn-lt"/>
                          <a:ea typeface="+mn-ea"/>
                        </a:rPr>
                        <a:t>…</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29" name="内容占位符 40"/>
          <p:cNvGraphicFramePr>
            <a:graphicFrameLocks/>
          </p:cNvGraphicFramePr>
          <p:nvPr>
            <p:extLst>
              <p:ext uri="{D42A27DB-BD31-4B8C-83A1-F6EECF244321}">
                <p14:modId xmlns:p14="http://schemas.microsoft.com/office/powerpoint/2010/main" val="2381707504"/>
              </p:ext>
            </p:extLst>
          </p:nvPr>
        </p:nvGraphicFramePr>
        <p:xfrm>
          <a:off x="4879790" y="3585710"/>
          <a:ext cx="2566039" cy="2468880"/>
        </p:xfrm>
        <a:graphic>
          <a:graphicData uri="http://schemas.openxmlformats.org/drawingml/2006/table">
            <a:tbl>
              <a:tblPr firstRow="1" bandRow="1"/>
              <a:tblGrid>
                <a:gridCol w="850450"/>
                <a:gridCol w="661851"/>
                <a:gridCol w="1053738"/>
              </a:tblGrid>
              <a:tr h="203570">
                <a:tc>
                  <a:txBody>
                    <a:bodyPr/>
                    <a:lstStyle/>
                    <a:p>
                      <a:pPr marL="0" marR="0" lvl="0" indent="0" algn="ctr" defTabSz="914583" rtl="0" eaLnBrk="1" fontAlgn="auto" latinLnBrk="0" hangingPunct="1">
                        <a:lnSpc>
                          <a:spcPct val="100000"/>
                        </a:lnSpc>
                        <a:spcBef>
                          <a:spcPts val="0"/>
                        </a:spcBef>
                        <a:spcAft>
                          <a:spcPts val="0"/>
                        </a:spcAft>
                        <a:buClrTx/>
                        <a:buSzTx/>
                        <a:buFontTx/>
                        <a:buNone/>
                        <a:tabLst/>
                        <a:defRPr/>
                      </a:pPr>
                      <a:r>
                        <a:rPr lang="zh-CN" altLang="en-US" sz="1200" b="1" kern="1200" dirty="0" smtClean="0">
                          <a:solidFill>
                            <a:schemeClr val="tx1"/>
                          </a:solidFill>
                          <a:latin typeface="+mn-lt"/>
                          <a:ea typeface="+mn-ea"/>
                          <a:cs typeface="Times New Roman" panose="02020603050405020304" pitchFamily="18" charset="0"/>
                        </a:rPr>
                        <a:t>应用分类</a:t>
                      </a:r>
                      <a:endParaRPr lang="zh-CN" altLang="en-US" sz="1200" b="1" kern="1200" dirty="0">
                        <a:solidFill>
                          <a:schemeClr val="tx1"/>
                        </a:solidFill>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lvl1pPr marL="0" algn="l" defTabSz="1187798" rtl="0" eaLnBrk="1" latinLnBrk="0" hangingPunct="1">
                        <a:defRPr sz="2338" b="1" kern="1200">
                          <a:solidFill>
                            <a:schemeClr val="lt1"/>
                          </a:solidFill>
                          <a:latin typeface="Calibri" panose="020F0502020204030204"/>
                        </a:defRPr>
                      </a:lvl1pPr>
                      <a:lvl2pPr marL="593900" algn="l" defTabSz="1187798" rtl="0" eaLnBrk="1" latinLnBrk="0" hangingPunct="1">
                        <a:defRPr sz="2338" b="1" kern="1200">
                          <a:solidFill>
                            <a:schemeClr val="lt1"/>
                          </a:solidFill>
                          <a:latin typeface="Calibri" panose="020F0502020204030204"/>
                        </a:defRPr>
                      </a:lvl2pPr>
                      <a:lvl3pPr marL="1187798" algn="l" defTabSz="1187798" rtl="0" eaLnBrk="1" latinLnBrk="0" hangingPunct="1">
                        <a:defRPr sz="2338" b="1" kern="1200">
                          <a:solidFill>
                            <a:schemeClr val="lt1"/>
                          </a:solidFill>
                          <a:latin typeface="Calibri" panose="020F0502020204030204"/>
                        </a:defRPr>
                      </a:lvl3pPr>
                      <a:lvl4pPr marL="1781699" algn="l" defTabSz="1187798" rtl="0" eaLnBrk="1" latinLnBrk="0" hangingPunct="1">
                        <a:defRPr sz="2338" b="1" kern="1200">
                          <a:solidFill>
                            <a:schemeClr val="lt1"/>
                          </a:solidFill>
                          <a:latin typeface="Calibri" panose="020F0502020204030204"/>
                        </a:defRPr>
                      </a:lvl4pPr>
                      <a:lvl5pPr marL="2375598" algn="l" defTabSz="1187798" rtl="0" eaLnBrk="1" latinLnBrk="0" hangingPunct="1">
                        <a:defRPr sz="2338" b="1" kern="1200">
                          <a:solidFill>
                            <a:schemeClr val="lt1"/>
                          </a:solidFill>
                          <a:latin typeface="Calibri" panose="020F0502020204030204"/>
                        </a:defRPr>
                      </a:lvl5pPr>
                      <a:lvl6pPr marL="2969497" algn="l" defTabSz="1187798" rtl="0" eaLnBrk="1" latinLnBrk="0" hangingPunct="1">
                        <a:defRPr sz="2338" b="1" kern="1200">
                          <a:solidFill>
                            <a:schemeClr val="lt1"/>
                          </a:solidFill>
                          <a:latin typeface="Calibri" panose="020F0502020204030204"/>
                        </a:defRPr>
                      </a:lvl6pPr>
                      <a:lvl7pPr marL="3563396" algn="l" defTabSz="1187798" rtl="0" eaLnBrk="1" latinLnBrk="0" hangingPunct="1">
                        <a:defRPr sz="2338" b="1" kern="1200">
                          <a:solidFill>
                            <a:schemeClr val="lt1"/>
                          </a:solidFill>
                          <a:latin typeface="Calibri" panose="020F0502020204030204"/>
                        </a:defRPr>
                      </a:lvl7pPr>
                      <a:lvl8pPr marL="4157297" algn="l" defTabSz="1187798" rtl="0" eaLnBrk="1" latinLnBrk="0" hangingPunct="1">
                        <a:defRPr sz="2338" b="1" kern="1200">
                          <a:solidFill>
                            <a:schemeClr val="lt1"/>
                          </a:solidFill>
                          <a:latin typeface="Calibri" panose="020F0502020204030204"/>
                        </a:defRPr>
                      </a:lvl8pPr>
                      <a:lvl9pPr marL="4751195" algn="l" defTabSz="1187798" rtl="0" eaLnBrk="1" latinLnBrk="0" hangingPunct="1">
                        <a:defRPr sz="2338" b="1" kern="1200">
                          <a:solidFill>
                            <a:schemeClr val="lt1"/>
                          </a:solidFill>
                          <a:latin typeface="Calibri" panose="020F0502020204030204"/>
                        </a:defRPr>
                      </a:lvl9pPr>
                    </a:lstStyle>
                    <a:p>
                      <a:pPr marL="0" marR="0" lvl="0" indent="0" algn="ctr" defTabSz="914583"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solidFill>
                          <a:latin typeface="+mn-lt"/>
                          <a:ea typeface="+mn-ea"/>
                        </a:rPr>
                        <a:t>字段</a:t>
                      </a:r>
                      <a:endParaRPr lang="zh-CN" altLang="en-US" sz="1200" b="1" kern="1200" dirty="0">
                        <a:solidFill>
                          <a:schemeClr val="tx1"/>
                        </a:solidFill>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lvl1pPr marL="0" algn="l" defTabSz="1187798" rtl="0" eaLnBrk="1" latinLnBrk="0" hangingPunct="1">
                        <a:defRPr sz="2338" b="1" kern="1200">
                          <a:solidFill>
                            <a:schemeClr val="lt1"/>
                          </a:solidFill>
                          <a:latin typeface="Calibri" panose="020F0502020204030204"/>
                        </a:defRPr>
                      </a:lvl1pPr>
                      <a:lvl2pPr marL="593900" algn="l" defTabSz="1187798" rtl="0" eaLnBrk="1" latinLnBrk="0" hangingPunct="1">
                        <a:defRPr sz="2338" b="1" kern="1200">
                          <a:solidFill>
                            <a:schemeClr val="lt1"/>
                          </a:solidFill>
                          <a:latin typeface="Calibri" panose="020F0502020204030204"/>
                        </a:defRPr>
                      </a:lvl2pPr>
                      <a:lvl3pPr marL="1187798" algn="l" defTabSz="1187798" rtl="0" eaLnBrk="1" latinLnBrk="0" hangingPunct="1">
                        <a:defRPr sz="2338" b="1" kern="1200">
                          <a:solidFill>
                            <a:schemeClr val="lt1"/>
                          </a:solidFill>
                          <a:latin typeface="Calibri" panose="020F0502020204030204"/>
                        </a:defRPr>
                      </a:lvl3pPr>
                      <a:lvl4pPr marL="1781699" algn="l" defTabSz="1187798" rtl="0" eaLnBrk="1" latinLnBrk="0" hangingPunct="1">
                        <a:defRPr sz="2338" b="1" kern="1200">
                          <a:solidFill>
                            <a:schemeClr val="lt1"/>
                          </a:solidFill>
                          <a:latin typeface="Calibri" panose="020F0502020204030204"/>
                        </a:defRPr>
                      </a:lvl4pPr>
                      <a:lvl5pPr marL="2375598" algn="l" defTabSz="1187798" rtl="0" eaLnBrk="1" latinLnBrk="0" hangingPunct="1">
                        <a:defRPr sz="2338" b="1" kern="1200">
                          <a:solidFill>
                            <a:schemeClr val="lt1"/>
                          </a:solidFill>
                          <a:latin typeface="Calibri" panose="020F0502020204030204"/>
                        </a:defRPr>
                      </a:lvl5pPr>
                      <a:lvl6pPr marL="2969497" algn="l" defTabSz="1187798" rtl="0" eaLnBrk="1" latinLnBrk="0" hangingPunct="1">
                        <a:defRPr sz="2338" b="1" kern="1200">
                          <a:solidFill>
                            <a:schemeClr val="lt1"/>
                          </a:solidFill>
                          <a:latin typeface="Calibri" panose="020F0502020204030204"/>
                        </a:defRPr>
                      </a:lvl6pPr>
                      <a:lvl7pPr marL="3563396" algn="l" defTabSz="1187798" rtl="0" eaLnBrk="1" latinLnBrk="0" hangingPunct="1">
                        <a:defRPr sz="2338" b="1" kern="1200">
                          <a:solidFill>
                            <a:schemeClr val="lt1"/>
                          </a:solidFill>
                          <a:latin typeface="Calibri" panose="020F0502020204030204"/>
                        </a:defRPr>
                      </a:lvl7pPr>
                      <a:lvl8pPr marL="4157297" algn="l" defTabSz="1187798" rtl="0" eaLnBrk="1" latinLnBrk="0" hangingPunct="1">
                        <a:defRPr sz="2338" b="1" kern="1200">
                          <a:solidFill>
                            <a:schemeClr val="lt1"/>
                          </a:solidFill>
                          <a:latin typeface="Calibri" panose="020F0502020204030204"/>
                        </a:defRPr>
                      </a:lvl8pPr>
                      <a:lvl9pPr marL="4751195" algn="l" defTabSz="1187798" rtl="0" eaLnBrk="1" latinLnBrk="0" hangingPunct="1">
                        <a:defRPr sz="2338" b="1" kern="1200">
                          <a:solidFill>
                            <a:schemeClr val="lt1"/>
                          </a:solidFill>
                          <a:latin typeface="Calibri" panose="020F0502020204030204"/>
                        </a:defRPr>
                      </a:lvl9pPr>
                    </a:lstStyle>
                    <a:p>
                      <a:pPr marL="0" marR="0" lvl="0" indent="0" algn="ctr" defTabSz="914583" rtl="0" eaLnBrk="1" fontAlgn="auto" latinLnBrk="0" hangingPunct="1">
                        <a:lnSpc>
                          <a:spcPct val="100000"/>
                        </a:lnSpc>
                        <a:spcBef>
                          <a:spcPts val="0"/>
                        </a:spcBef>
                        <a:spcAft>
                          <a:spcPts val="0"/>
                        </a:spcAft>
                        <a:buClrTx/>
                        <a:buSzTx/>
                        <a:buFontTx/>
                        <a:buNone/>
                        <a:tabLst/>
                        <a:defRPr/>
                      </a:pPr>
                      <a:r>
                        <a:rPr lang="zh-CN" altLang="en-US" sz="1200" dirty="0" smtClean="0">
                          <a:solidFill>
                            <a:schemeClr val="tx1"/>
                          </a:solidFill>
                          <a:latin typeface="+mn-lt"/>
                          <a:ea typeface="+mn-ea"/>
                          <a:cs typeface="+mn-cs"/>
                        </a:rPr>
                        <a:t>网络分区</a:t>
                      </a:r>
                      <a:endParaRPr lang="zh-CN" altLang="en-US" sz="1200" dirty="0" smtClean="0">
                        <a:solidFill>
                          <a:schemeClr val="tx1"/>
                        </a:solidFill>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203570">
                <a:tc rowSpan="8">
                  <a:txBody>
                    <a:bodyPr/>
                    <a:lstStyle/>
                    <a:p>
                      <a:pPr algn="ctr"/>
                      <a:r>
                        <a:rPr lang="zh-CN" altLang="en-US" sz="1200" dirty="0" smtClean="0">
                          <a:latin typeface="+mn-lt"/>
                          <a:ea typeface="+mn-ea"/>
                          <a:cs typeface="Times New Roman" panose="02020603050405020304" pitchFamily="18" charset="0"/>
                        </a:rPr>
                        <a:t>生产</a:t>
                      </a: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0000</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zh-CN" altLang="en-US" sz="1200" dirty="0" smtClean="0">
                          <a:latin typeface="+mn-lt"/>
                          <a:ea typeface="+mn-ea"/>
                          <a:cs typeface="+mn-cs"/>
                        </a:rPr>
                        <a:t>生产终端</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vMerge="1">
                  <a:txBody>
                    <a:bodyPr/>
                    <a:lstStyle/>
                    <a:p>
                      <a:pPr algn="ct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0001</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zh-CN" altLang="en-US" sz="1200" dirty="0" smtClean="0">
                          <a:latin typeface="+mn-lt"/>
                          <a:ea typeface="+mn-ea"/>
                          <a:cs typeface="+mn-cs"/>
                        </a:rPr>
                        <a:t>外联</a:t>
                      </a:r>
                      <a:r>
                        <a:rPr lang="en-US" altLang="zh-CN" sz="1200" dirty="0" smtClean="0">
                          <a:latin typeface="+mn-lt"/>
                          <a:ea typeface="+mn-ea"/>
                          <a:cs typeface="+mn-cs"/>
                        </a:rPr>
                        <a:t>DMZ</a:t>
                      </a:r>
                      <a:endParaRPr lang="en-US" altLang="zh-CN" sz="1200" dirty="0" smtClean="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vMerge="1">
                  <a:txBody>
                    <a:bodyPr/>
                    <a:lstStyle/>
                    <a:p>
                      <a:pPr algn="ct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0010</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r>
                        <a:rPr lang="zh-CN" altLang="en-US" sz="1200" dirty="0" smtClean="0">
                          <a:latin typeface="+mn-lt"/>
                          <a:ea typeface="+mn-ea"/>
                          <a:cs typeface="Times New Roman" panose="02020603050405020304" pitchFamily="18" charset="0"/>
                        </a:rPr>
                        <a:t>网银</a:t>
                      </a:r>
                      <a:r>
                        <a:rPr lang="en-US" altLang="zh-CN" sz="1200" dirty="0" smtClean="0">
                          <a:latin typeface="+mn-lt"/>
                          <a:ea typeface="+mn-ea"/>
                          <a:cs typeface="Times New Roman" panose="02020603050405020304" pitchFamily="18" charset="0"/>
                        </a:rPr>
                        <a:t>Web</a:t>
                      </a:r>
                      <a:r>
                        <a:rPr lang="zh-CN" altLang="en-US" sz="1200" dirty="0" smtClean="0">
                          <a:latin typeface="+mn-lt"/>
                          <a:ea typeface="+mn-ea"/>
                          <a:cs typeface="Times New Roman" panose="02020603050405020304" pitchFamily="18" charset="0"/>
                        </a:rPr>
                        <a:t>区</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vMerge="1">
                  <a:txBody>
                    <a:bodyPr/>
                    <a:lstStyle/>
                    <a:p>
                      <a:pPr algn="ct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smtClean="0">
                          <a:latin typeface="+mn-lt"/>
                          <a:ea typeface="+mn-ea"/>
                          <a:cs typeface="Times New Roman" panose="02020603050405020304" pitchFamily="18" charset="0"/>
                        </a:rPr>
                        <a:t>0011</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r>
                        <a:rPr lang="zh-CN" altLang="en-US" sz="1200" dirty="0" smtClean="0">
                          <a:latin typeface="+mn-lt"/>
                          <a:ea typeface="+mn-ea"/>
                          <a:cs typeface="Times New Roman" panose="02020603050405020304" pitchFamily="18" charset="0"/>
                        </a:rPr>
                        <a:t>网银</a:t>
                      </a:r>
                      <a:r>
                        <a:rPr lang="en-US" altLang="zh-CN" sz="1200" dirty="0" smtClean="0">
                          <a:latin typeface="+mn-lt"/>
                          <a:ea typeface="+mn-ea"/>
                          <a:cs typeface="Times New Roman" panose="02020603050405020304" pitchFamily="18" charset="0"/>
                        </a:rPr>
                        <a:t>APP</a:t>
                      </a:r>
                      <a:r>
                        <a:rPr lang="zh-CN" altLang="en-US" sz="1200" dirty="0" smtClean="0">
                          <a:latin typeface="+mn-lt"/>
                          <a:ea typeface="+mn-ea"/>
                          <a:cs typeface="Times New Roman" panose="02020603050405020304" pitchFamily="18" charset="0"/>
                        </a:rPr>
                        <a:t>区</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vMerge="1">
                  <a:txBody>
                    <a:bodyPr/>
                    <a:lstStyle/>
                    <a:p>
                      <a:pPr algn="ct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smtClean="0">
                          <a:latin typeface="+mn-lt"/>
                          <a:ea typeface="+mn-ea"/>
                          <a:cs typeface="Times New Roman" panose="02020603050405020304" pitchFamily="18" charset="0"/>
                        </a:rPr>
                        <a:t>0100</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r>
                        <a:rPr lang="zh-CN" altLang="en-US" sz="1200" dirty="0" smtClean="0">
                          <a:latin typeface="+mn-lt"/>
                          <a:ea typeface="+mn-ea"/>
                          <a:cs typeface="Times New Roman" panose="02020603050405020304" pitchFamily="18" charset="0"/>
                        </a:rPr>
                        <a:t>生产业务区</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vMerge="1">
                  <a:txBody>
                    <a:bodyPr/>
                    <a:lstStyle/>
                    <a:p>
                      <a:pPr algn="ct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dirty="0" smtClean="0">
                          <a:latin typeface="+mn-lt"/>
                          <a:ea typeface="+mn-ea"/>
                          <a:cs typeface="Times New Roman" panose="02020603050405020304" pitchFamily="18" charset="0"/>
                        </a:rPr>
                        <a:t>0101</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583" rtl="0" eaLnBrk="1" fontAlgn="auto" latinLnBrk="0" hangingPunct="1">
                        <a:lnSpc>
                          <a:spcPct val="100000"/>
                        </a:lnSpc>
                        <a:spcBef>
                          <a:spcPts val="0"/>
                        </a:spcBef>
                        <a:spcAft>
                          <a:spcPts val="0"/>
                        </a:spcAft>
                        <a:buClrTx/>
                        <a:buSzTx/>
                        <a:buFont typeface="Arial" pitchFamily="34" charset="0"/>
                        <a:buNone/>
                        <a:tabLst/>
                        <a:defRPr/>
                      </a:pPr>
                      <a:r>
                        <a:rPr lang="zh-CN" altLang="en-US" sz="1200" dirty="0" smtClean="0">
                          <a:latin typeface="+mn-lt"/>
                          <a:ea typeface="+mn-ea"/>
                          <a:cs typeface="Times New Roman" panose="02020603050405020304" pitchFamily="18" charset="0"/>
                        </a:rPr>
                        <a:t>管理业务区</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vMerge="1">
                  <a:txBody>
                    <a:bodyPr/>
                    <a:lstStyle/>
                    <a:p>
                      <a:pPr algn="ct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0110</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zh-CN" altLang="en-US" sz="1200" dirty="0" smtClean="0">
                          <a:latin typeface="+mn-lt"/>
                          <a:ea typeface="+mn-ea"/>
                          <a:cs typeface="Times New Roman" panose="02020603050405020304" pitchFamily="18" charset="0"/>
                        </a:rPr>
                        <a:t>核心业务区</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03570">
                <a:tc vMerge="1">
                  <a:txBody>
                    <a:bodyPr/>
                    <a:lstStyle/>
                    <a:p>
                      <a:pPr algn="ctr"/>
                      <a:endParaRPr lang="zh-CN" altLang="en-US" sz="1200" dirty="0">
                        <a:latin typeface="+mn-lt"/>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algn="ctr"/>
                      <a:r>
                        <a:rPr lang="en-US" altLang="zh-CN" sz="1200" dirty="0" smtClean="0">
                          <a:latin typeface="+mn-lt"/>
                          <a:ea typeface="+mn-ea"/>
                        </a:rPr>
                        <a:t>…</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lvl1pPr marL="0" algn="l" defTabSz="1187798" rtl="0" eaLnBrk="1" latinLnBrk="0" hangingPunct="1">
                        <a:defRPr sz="2338" kern="1200">
                          <a:solidFill>
                            <a:schemeClr val="dk1"/>
                          </a:solidFill>
                          <a:latin typeface="Calibri" panose="020F0502020204030204"/>
                        </a:defRPr>
                      </a:lvl1pPr>
                      <a:lvl2pPr marL="593900" algn="l" defTabSz="1187798" rtl="0" eaLnBrk="1" latinLnBrk="0" hangingPunct="1">
                        <a:defRPr sz="2338" kern="1200">
                          <a:solidFill>
                            <a:schemeClr val="dk1"/>
                          </a:solidFill>
                          <a:latin typeface="Calibri" panose="020F0502020204030204"/>
                        </a:defRPr>
                      </a:lvl2pPr>
                      <a:lvl3pPr marL="1187798" algn="l" defTabSz="1187798" rtl="0" eaLnBrk="1" latinLnBrk="0" hangingPunct="1">
                        <a:defRPr sz="2338" kern="1200">
                          <a:solidFill>
                            <a:schemeClr val="dk1"/>
                          </a:solidFill>
                          <a:latin typeface="Calibri" panose="020F0502020204030204"/>
                        </a:defRPr>
                      </a:lvl3pPr>
                      <a:lvl4pPr marL="1781699" algn="l" defTabSz="1187798" rtl="0" eaLnBrk="1" latinLnBrk="0" hangingPunct="1">
                        <a:defRPr sz="2338" kern="1200">
                          <a:solidFill>
                            <a:schemeClr val="dk1"/>
                          </a:solidFill>
                          <a:latin typeface="Calibri" panose="020F0502020204030204"/>
                        </a:defRPr>
                      </a:lvl4pPr>
                      <a:lvl5pPr marL="2375598" algn="l" defTabSz="1187798" rtl="0" eaLnBrk="1" latinLnBrk="0" hangingPunct="1">
                        <a:defRPr sz="2338" kern="1200">
                          <a:solidFill>
                            <a:schemeClr val="dk1"/>
                          </a:solidFill>
                          <a:latin typeface="Calibri" panose="020F0502020204030204"/>
                        </a:defRPr>
                      </a:lvl5pPr>
                      <a:lvl6pPr marL="2969497" algn="l" defTabSz="1187798" rtl="0" eaLnBrk="1" latinLnBrk="0" hangingPunct="1">
                        <a:defRPr sz="2338" kern="1200">
                          <a:solidFill>
                            <a:schemeClr val="dk1"/>
                          </a:solidFill>
                          <a:latin typeface="Calibri" panose="020F0502020204030204"/>
                        </a:defRPr>
                      </a:lvl6pPr>
                      <a:lvl7pPr marL="3563396" algn="l" defTabSz="1187798" rtl="0" eaLnBrk="1" latinLnBrk="0" hangingPunct="1">
                        <a:defRPr sz="2338" kern="1200">
                          <a:solidFill>
                            <a:schemeClr val="dk1"/>
                          </a:solidFill>
                          <a:latin typeface="Calibri" panose="020F0502020204030204"/>
                        </a:defRPr>
                      </a:lvl7pPr>
                      <a:lvl8pPr marL="4157297" algn="l" defTabSz="1187798" rtl="0" eaLnBrk="1" latinLnBrk="0" hangingPunct="1">
                        <a:defRPr sz="2338" kern="1200">
                          <a:solidFill>
                            <a:schemeClr val="dk1"/>
                          </a:solidFill>
                          <a:latin typeface="Calibri" panose="020F0502020204030204"/>
                        </a:defRPr>
                      </a:lvl8pPr>
                      <a:lvl9pPr marL="4751195" algn="l" defTabSz="1187798" rtl="0" eaLnBrk="1" latinLnBrk="0" hangingPunct="1">
                        <a:defRPr sz="2338" kern="1200">
                          <a:solidFill>
                            <a:schemeClr val="dk1"/>
                          </a:solidFill>
                          <a:latin typeface="Calibri" panose="020F0502020204030204"/>
                        </a:defRPr>
                      </a:lvl9pPr>
                    </a:lstStyle>
                    <a:p>
                      <a:pPr marL="0" indent="0">
                        <a:buFont typeface="Arial" pitchFamily="34" charset="0"/>
                        <a:buNone/>
                      </a:pPr>
                      <a:r>
                        <a:rPr lang="en-US" altLang="zh-CN" sz="1200" dirty="0" smtClean="0">
                          <a:latin typeface="+mn-lt"/>
                          <a:ea typeface="+mn-ea"/>
                        </a:rPr>
                        <a:t>…</a:t>
                      </a:r>
                      <a:endParaRPr lang="zh-CN" altLang="en-US" sz="1200" dirty="0">
                        <a:latin typeface="+mn-lt"/>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30" name="Right Arrow 157"/>
          <p:cNvSpPr/>
          <p:nvPr/>
        </p:nvSpPr>
        <p:spPr bwMode="gray">
          <a:xfrm>
            <a:off x="7660604" y="4463908"/>
            <a:ext cx="516746" cy="356242"/>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gradFill flip="none" rotWithShape="1">
              <a:gsLst>
                <a:gs pos="0">
                  <a:schemeClr val="accent1">
                    <a:lumMod val="5000"/>
                    <a:lumOff val="95000"/>
                  </a:schemeClr>
                </a:gs>
                <a:gs pos="100000">
                  <a:srgbClr val="94DAE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75"/>
          <p:cNvSpPr/>
          <p:nvPr/>
        </p:nvSpPr>
        <p:spPr bwMode="gray">
          <a:xfrm>
            <a:off x="8286364" y="3939878"/>
            <a:ext cx="3427887" cy="1404301"/>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总行</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生产</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生产业务区的</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地址段为：</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lvl="0" defTabSz="914400">
              <a:lnSpc>
                <a:spcPct val="150000"/>
              </a:lnSpc>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XXXX:XXXX:0000:4000::/64</a:t>
            </a:r>
          </a:p>
          <a:p>
            <a:pPr marL="171450" lvl="0" indent="-171450" defTabSz="914400">
              <a:lnSpc>
                <a:spcPct val="150000"/>
              </a:lnSpc>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总行</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生产</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核心业务区的</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地址段为：</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lvl="0" defTabSz="914400">
              <a:lnSpc>
                <a:spcPct val="150000"/>
              </a:lnSpc>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XXXX:XXXX:0000:6000::/64</a:t>
            </a:r>
          </a:p>
        </p:txBody>
      </p:sp>
    </p:spTree>
    <p:extLst>
      <p:ext uri="{BB962C8B-B14F-4D97-AF65-F5344CB8AC3E}">
        <p14:creationId xmlns:p14="http://schemas.microsoft.com/office/powerpoint/2010/main" val="16126447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en-US" altLang="zh-CN" dirty="0">
                <a:solidFill>
                  <a:schemeClr val="bg1">
                    <a:lumMod val="50000"/>
                  </a:schemeClr>
                </a:solidFill>
              </a:rPr>
              <a:t>IPv6</a:t>
            </a:r>
            <a:r>
              <a:rPr lang="zh-CN" altLang="en-US" dirty="0">
                <a:solidFill>
                  <a:schemeClr val="bg1">
                    <a:lumMod val="50000"/>
                  </a:schemeClr>
                </a:solidFill>
              </a:rPr>
              <a:t>基础回顾</a:t>
            </a:r>
          </a:p>
          <a:p>
            <a:r>
              <a:rPr lang="en-US" altLang="zh-CN" b="1" dirty="0" smtClean="0"/>
              <a:t>IPv6</a:t>
            </a:r>
            <a:r>
              <a:rPr lang="zh-CN" altLang="en-US" b="1" dirty="0" smtClean="0"/>
              <a:t>过渡技术介绍</a:t>
            </a:r>
            <a:endParaRPr lang="en-US" altLang="zh-CN" b="1" dirty="0" smtClean="0"/>
          </a:p>
        </p:txBody>
      </p:sp>
    </p:spTree>
    <p:extLst>
      <p:ext uri="{BB962C8B-B14F-4D97-AF65-F5344CB8AC3E}">
        <p14:creationId xmlns:p14="http://schemas.microsoft.com/office/powerpoint/2010/main" val="7084689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t>IPv6</a:t>
            </a:r>
            <a:r>
              <a:rPr lang="zh-CN" altLang="en-US" smtClean="0"/>
              <a:t>过渡技术简介</a:t>
            </a:r>
            <a:endParaRPr lang="zh-CN" altLang="en-US" dirty="0"/>
          </a:p>
        </p:txBody>
      </p:sp>
      <p:sp>
        <p:nvSpPr>
          <p:cNvPr id="3" name="文本占位符 2"/>
          <p:cNvSpPr>
            <a:spLocks noGrp="1"/>
          </p:cNvSpPr>
          <p:nvPr>
            <p:ph type="body" sz="quarter" idx="10"/>
          </p:nvPr>
        </p:nvSpPr>
        <p:spPr bwMode="gray">
          <a:xfrm>
            <a:off x="455612" y="1047751"/>
            <a:ext cx="11293475" cy="806777"/>
          </a:xfrm>
        </p:spPr>
        <p:txBody>
          <a:bodyPr/>
          <a:lstStyle/>
          <a:p>
            <a:r>
              <a:rPr lang="zh-CN" altLang="en-US" sz="1800" dirty="0" smtClean="0"/>
              <a:t>当前世界上不同地区对部署</a:t>
            </a:r>
            <a:r>
              <a:rPr lang="en-US" altLang="zh-CN" sz="1800" dirty="0" smtClean="0"/>
              <a:t>IPv6</a:t>
            </a:r>
            <a:r>
              <a:rPr lang="zh-CN" altLang="en-US" sz="1800" dirty="0" smtClean="0"/>
              <a:t>的需求强烈程度不一，且当前</a:t>
            </a:r>
            <a:r>
              <a:rPr lang="en-US" altLang="zh-CN" sz="1800" dirty="0" smtClean="0"/>
              <a:t>IPv4</a:t>
            </a:r>
            <a:r>
              <a:rPr lang="zh-CN" altLang="en-US" sz="1800" dirty="0" smtClean="0"/>
              <a:t>网络仍然占主流地位，因此短时间内</a:t>
            </a:r>
            <a:r>
              <a:rPr lang="en-US" altLang="zh-CN" sz="1800" dirty="0" smtClean="0"/>
              <a:t>IPv6</a:t>
            </a:r>
            <a:r>
              <a:rPr lang="zh-CN" altLang="en-US" sz="1800" dirty="0" smtClean="0"/>
              <a:t>和</a:t>
            </a:r>
            <a:r>
              <a:rPr lang="en-US" altLang="zh-CN" sz="1800" dirty="0" smtClean="0"/>
              <a:t>IPv4</a:t>
            </a:r>
            <a:r>
              <a:rPr lang="zh-CN" altLang="en-US" sz="1800" dirty="0" smtClean="0"/>
              <a:t>将会共存，</a:t>
            </a:r>
            <a:r>
              <a:rPr lang="zh-CN" altLang="en-US" sz="1800" dirty="0"/>
              <a:t>可以</a:t>
            </a:r>
            <a:r>
              <a:rPr lang="zh-CN" altLang="en-US" sz="1800" dirty="0" smtClean="0"/>
              <a:t>借助双栈技术、隧道技术、转换技术，实现</a:t>
            </a:r>
            <a:r>
              <a:rPr lang="en-US" altLang="zh-CN" sz="1800" dirty="0" smtClean="0"/>
              <a:t>IPv4/IPv6</a:t>
            </a:r>
            <a:r>
              <a:rPr lang="zh-CN" altLang="en-US" sz="1800" dirty="0" smtClean="0"/>
              <a:t>共存</a:t>
            </a:r>
            <a:r>
              <a:rPr lang="zh-CN" altLang="en-US" sz="1800" dirty="0"/>
              <a:t>业务</a:t>
            </a:r>
            <a:r>
              <a:rPr lang="zh-CN" altLang="en-US" sz="1800" dirty="0" smtClean="0"/>
              <a:t>的互通。</a:t>
            </a:r>
            <a:endParaRPr lang="en-US" altLang="zh-CN" sz="1800" dirty="0" smtClean="0"/>
          </a:p>
        </p:txBody>
      </p:sp>
      <p:sp>
        <p:nvSpPr>
          <p:cNvPr id="4" name="圆角矩形 3"/>
          <p:cNvSpPr/>
          <p:nvPr/>
        </p:nvSpPr>
        <p:spPr bwMode="gray">
          <a:xfrm>
            <a:off x="458575" y="1876757"/>
            <a:ext cx="3661141" cy="28853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rgbClr val="30B5C5"/>
                </a:solidFill>
                <a:latin typeface="Huawei Sans" panose="020C0503030203020204" pitchFamily="34" charset="0"/>
                <a:ea typeface="方正兰亭黑简体" panose="02000000000000000000" pitchFamily="2" charset="-122"/>
              </a:rPr>
              <a:t>IPv4/IPv6</a:t>
            </a:r>
            <a:r>
              <a:rPr lang="zh-CN" altLang="en-US" sz="1400" dirty="0">
                <a:solidFill>
                  <a:srgbClr val="30B5C5"/>
                </a:solidFill>
                <a:latin typeface="Huawei Sans" panose="020C0503030203020204" pitchFamily="34" charset="0"/>
                <a:ea typeface="方正兰亭黑简体" panose="02000000000000000000" pitchFamily="2" charset="-122"/>
              </a:rPr>
              <a:t>双栈</a:t>
            </a:r>
            <a:endParaRPr lang="en-US" sz="1400" dirty="0">
              <a:solidFill>
                <a:srgbClr val="30B5C5"/>
              </a:solidFill>
              <a:latin typeface="Huawei Sans" panose="020C0503030203020204" pitchFamily="34" charset="0"/>
              <a:ea typeface="方正兰亭黑简体" panose="02000000000000000000" pitchFamily="2" charset="-122"/>
            </a:endParaRPr>
          </a:p>
        </p:txBody>
      </p:sp>
      <p:sp>
        <p:nvSpPr>
          <p:cNvPr id="5" name="圆角矩形 4"/>
          <p:cNvSpPr/>
          <p:nvPr/>
        </p:nvSpPr>
        <p:spPr bwMode="gray">
          <a:xfrm>
            <a:off x="4265430" y="1876757"/>
            <a:ext cx="3661141" cy="28853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rPr>
              <a:t>隧道技术</a:t>
            </a:r>
            <a:endParaRPr lang="en-US" sz="1400" dirty="0">
              <a:solidFill>
                <a:srgbClr val="30B5C5"/>
              </a:solidFill>
              <a:latin typeface="Huawei Sans" panose="020C0503030203020204" pitchFamily="34" charset="0"/>
              <a:ea typeface="方正兰亭黑简体" panose="02000000000000000000" pitchFamily="2" charset="-122"/>
            </a:endParaRPr>
          </a:p>
        </p:txBody>
      </p:sp>
      <p:sp>
        <p:nvSpPr>
          <p:cNvPr id="6" name="圆角矩形 5"/>
          <p:cNvSpPr/>
          <p:nvPr/>
        </p:nvSpPr>
        <p:spPr bwMode="gray">
          <a:xfrm>
            <a:off x="8072284" y="1876757"/>
            <a:ext cx="3661141" cy="28853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rPr>
              <a:t>转换技术</a:t>
            </a:r>
            <a:endParaRPr lang="en-US" sz="1400" dirty="0">
              <a:solidFill>
                <a:srgbClr val="30B5C5"/>
              </a:solidFill>
              <a:latin typeface="Huawei Sans" panose="020C0503030203020204" pitchFamily="34" charset="0"/>
              <a:ea typeface="方正兰亭黑简体" panose="02000000000000000000" pitchFamily="2" charset="-122"/>
            </a:endParaRPr>
          </a:p>
        </p:txBody>
      </p:sp>
      <p:sp>
        <p:nvSpPr>
          <p:cNvPr id="7" name="文本框 6"/>
          <p:cNvSpPr txBox="1"/>
          <p:nvPr/>
        </p:nvSpPr>
        <p:spPr bwMode="gray">
          <a:xfrm>
            <a:off x="480578" y="2163328"/>
            <a:ext cx="3639137" cy="1126462"/>
          </a:xfrm>
          <a:prstGeom prst="rect">
            <a:avLst/>
          </a:prstGeom>
          <a:noFill/>
        </p:spPr>
        <p:txBody>
          <a:bodyPr wrap="square" rtlCol="0">
            <a:spAutoFit/>
          </a:bodyPr>
          <a:lstStyle/>
          <a:p>
            <a:pPr marL="171450" indent="-171450">
              <a:lnSpc>
                <a:spcPct val="140000"/>
              </a:lnSpc>
              <a:buFont typeface="Arial" panose="020B0604020202020204" pitchFamily="34" charset="0"/>
              <a:buChar char="•"/>
            </a:pPr>
            <a:r>
              <a:rPr lang="zh-CN" altLang="en-US" sz="1200" dirty="0"/>
              <a:t>设备支持</a:t>
            </a:r>
            <a:r>
              <a:rPr lang="en-US" altLang="zh-CN" sz="1200" dirty="0"/>
              <a:t>IPv4/IPv6</a:t>
            </a:r>
            <a:r>
              <a:rPr lang="zh-CN" altLang="en-US" sz="1200" dirty="0"/>
              <a:t>，</a:t>
            </a:r>
            <a:r>
              <a:rPr lang="en-US" altLang="zh-CN" sz="1200" dirty="0" smtClean="0"/>
              <a:t>IPv4</a:t>
            </a:r>
            <a:r>
              <a:rPr lang="en-US" altLang="zh-CN" sz="1200" dirty="0"/>
              <a:t>/</a:t>
            </a:r>
            <a:r>
              <a:rPr lang="en-US" altLang="zh-CN" sz="1200" dirty="0" smtClean="0"/>
              <a:t>IPv6</a:t>
            </a:r>
            <a:r>
              <a:rPr lang="zh-CN" altLang="en-US" sz="1200" dirty="0"/>
              <a:t>在网络中独立部署，在一段时间内并存。对现有</a:t>
            </a:r>
            <a:r>
              <a:rPr lang="en-US" altLang="zh-CN" sz="1200" dirty="0"/>
              <a:t>IPv4</a:t>
            </a:r>
            <a:r>
              <a:rPr lang="zh-CN" altLang="en-US" sz="1200" dirty="0"/>
              <a:t>业务影响较小。</a:t>
            </a:r>
          </a:p>
          <a:p>
            <a:pPr marL="171450" indent="-171450">
              <a:lnSpc>
                <a:spcPct val="140000"/>
              </a:lnSpc>
              <a:buFont typeface="Arial" panose="020B0604020202020204" pitchFamily="34" charset="0"/>
              <a:buChar char="•"/>
            </a:pPr>
            <a:r>
              <a:rPr lang="zh-CN" altLang="en-US" sz="1200" dirty="0"/>
              <a:t>演进方案相对简单、易理解。网络规划设计工作量相对更少</a:t>
            </a:r>
            <a:r>
              <a:rPr lang="zh-CN" altLang="en-US" sz="1200" dirty="0" smtClean="0"/>
              <a:t>。</a:t>
            </a:r>
            <a:endParaRPr lang="zh-CN" altLang="en-US" sz="1200" dirty="0"/>
          </a:p>
        </p:txBody>
      </p:sp>
      <p:sp>
        <p:nvSpPr>
          <p:cNvPr id="8" name="文本框 7"/>
          <p:cNvSpPr txBox="1"/>
          <p:nvPr/>
        </p:nvSpPr>
        <p:spPr bwMode="gray">
          <a:xfrm>
            <a:off x="4220853" y="2163328"/>
            <a:ext cx="3705718" cy="3323987"/>
          </a:xfrm>
          <a:prstGeom prst="rect">
            <a:avLst/>
          </a:prstGeom>
          <a:noFill/>
        </p:spPr>
        <p:txBody>
          <a:bodyPr wrap="square" rtlCol="0">
            <a:spAutoFit/>
          </a:bodyPr>
          <a:lstStyle/>
          <a:p>
            <a:pPr marL="171450" indent="-171450">
              <a:lnSpc>
                <a:spcPct val="140000"/>
              </a:lnSpc>
              <a:buFont typeface="Arial" panose="020B0604020202020204" pitchFamily="34" charset="0"/>
              <a:buChar char="•"/>
            </a:pPr>
            <a:r>
              <a:rPr lang="en-US" altLang="zh-CN" sz="1200" dirty="0" smtClean="0"/>
              <a:t>IPv6 over IPv4</a:t>
            </a:r>
            <a:r>
              <a:rPr lang="zh-CN" altLang="en-US" sz="1200" dirty="0" smtClean="0"/>
              <a:t>隧道：</a:t>
            </a:r>
            <a:endParaRPr lang="en-US" altLang="zh-CN" sz="1200" dirty="0" smtClean="0"/>
          </a:p>
          <a:p>
            <a:pPr marL="360000" indent="-180000" defTabSz="914400">
              <a:lnSpc>
                <a:spcPct val="150000"/>
              </a:lnSpc>
              <a:buFont typeface="Huawei Sans" panose="020C0503030203020204" pitchFamily="34" charset="0"/>
              <a:buChar char="▫"/>
              <a:defRPr/>
            </a:pPr>
            <a:r>
              <a:rPr lang="zh-CN" altLang="en-US" sz="1200" kern="0" dirty="0">
                <a:solidFill>
                  <a:srgbClr val="000000"/>
                </a:solidFill>
                <a:latin typeface="Huawei Sans" panose="020C0503030203020204" pitchFamily="34" charset="0"/>
                <a:ea typeface="方正兰亭黑简体" panose="02000000000000000000" pitchFamily="2" charset="-122"/>
              </a:rPr>
              <a:t>将</a:t>
            </a:r>
            <a:r>
              <a:rPr lang="en-US" altLang="zh-CN" sz="1200" kern="0" dirty="0">
                <a:solidFill>
                  <a:srgbClr val="000000"/>
                </a:solidFill>
                <a:latin typeface="Huawei Sans" panose="020C0503030203020204" pitchFamily="34" charset="0"/>
                <a:ea typeface="方正兰亭黑简体" panose="02000000000000000000" pitchFamily="2" charset="-122"/>
              </a:rPr>
              <a:t>IPv6</a:t>
            </a:r>
            <a:r>
              <a:rPr lang="zh-CN" altLang="en-US" sz="1200" kern="0" dirty="0">
                <a:solidFill>
                  <a:srgbClr val="000000"/>
                </a:solidFill>
                <a:latin typeface="Huawei Sans" panose="020C0503030203020204" pitchFamily="34" charset="0"/>
                <a:ea typeface="方正兰亭黑简体" panose="02000000000000000000" pitchFamily="2" charset="-122"/>
              </a:rPr>
              <a:t>流量封装在</a:t>
            </a:r>
            <a:r>
              <a:rPr lang="en-US" altLang="zh-CN" sz="1200" kern="0" dirty="0">
                <a:solidFill>
                  <a:srgbClr val="000000"/>
                </a:solidFill>
                <a:latin typeface="Huawei Sans" panose="020C0503030203020204" pitchFamily="34" charset="0"/>
                <a:ea typeface="方正兰亭黑简体" panose="02000000000000000000" pitchFamily="2" charset="-122"/>
              </a:rPr>
              <a:t>IPv4</a:t>
            </a:r>
            <a:r>
              <a:rPr lang="zh-CN" altLang="en-US" sz="1200" kern="0" dirty="0">
                <a:solidFill>
                  <a:srgbClr val="000000"/>
                </a:solidFill>
                <a:latin typeface="Huawei Sans" panose="020C0503030203020204" pitchFamily="34" charset="0"/>
                <a:ea typeface="方正兰亭黑简体" panose="02000000000000000000" pitchFamily="2" charset="-122"/>
              </a:rPr>
              <a:t>隧道，适用于在</a:t>
            </a:r>
            <a:r>
              <a:rPr lang="en-US" altLang="zh-CN" sz="1200" kern="0" dirty="0">
                <a:solidFill>
                  <a:srgbClr val="000000"/>
                </a:solidFill>
                <a:latin typeface="Huawei Sans" panose="020C0503030203020204" pitchFamily="34" charset="0"/>
                <a:ea typeface="方正兰亭黑简体" panose="02000000000000000000" pitchFamily="2" charset="-122"/>
              </a:rPr>
              <a:t>IPv4</a:t>
            </a:r>
            <a:r>
              <a:rPr lang="zh-CN" altLang="en-US" sz="1200" kern="0" dirty="0">
                <a:solidFill>
                  <a:srgbClr val="000000"/>
                </a:solidFill>
                <a:latin typeface="Huawei Sans" panose="020C0503030203020204" pitchFamily="34" charset="0"/>
                <a:ea typeface="方正兰亭黑简体" panose="02000000000000000000" pitchFamily="2" charset="-122"/>
              </a:rPr>
              <a:t>传输网络中实现</a:t>
            </a:r>
            <a:r>
              <a:rPr lang="en-US" altLang="zh-CN" sz="1200" kern="0" dirty="0">
                <a:solidFill>
                  <a:srgbClr val="000000"/>
                </a:solidFill>
                <a:latin typeface="Huawei Sans" panose="020C0503030203020204" pitchFamily="34" charset="0"/>
                <a:ea typeface="方正兰亭黑简体" panose="02000000000000000000" pitchFamily="2" charset="-122"/>
              </a:rPr>
              <a:t>IPv6</a:t>
            </a:r>
            <a:r>
              <a:rPr lang="zh-CN" altLang="en-US" sz="1200" kern="0" dirty="0">
                <a:solidFill>
                  <a:srgbClr val="000000"/>
                </a:solidFill>
                <a:latin typeface="Huawei Sans" panose="020C0503030203020204" pitchFamily="34" charset="0"/>
                <a:ea typeface="方正兰亭黑简体" panose="02000000000000000000" pitchFamily="2" charset="-122"/>
              </a:rPr>
              <a:t>孤岛之间的互通</a:t>
            </a:r>
            <a:r>
              <a:rPr lang="zh-CN" altLang="en-US" sz="1200" kern="0" dirty="0" smtClean="0">
                <a:solidFill>
                  <a:srgbClr val="000000"/>
                </a:solidFill>
                <a:latin typeface="Huawei Sans" panose="020C0503030203020204" pitchFamily="34" charset="0"/>
                <a:ea typeface="方正兰亭黑简体" panose="02000000000000000000" pitchFamily="2" charset="-122"/>
              </a:rPr>
              <a:t>。</a:t>
            </a:r>
            <a:endParaRPr lang="en-US" altLang="zh-CN" sz="1200" kern="0" dirty="0" smtClean="0">
              <a:solidFill>
                <a:srgbClr val="000000"/>
              </a:solidFill>
              <a:latin typeface="Huawei Sans" panose="020C0503030203020204" pitchFamily="34" charset="0"/>
              <a:ea typeface="方正兰亭黑简体" panose="02000000000000000000" pitchFamily="2" charset="-122"/>
            </a:endParaRPr>
          </a:p>
          <a:p>
            <a:pPr marL="360000" indent="-180000" defTabSz="914400">
              <a:lnSpc>
                <a:spcPct val="150000"/>
              </a:lnSpc>
              <a:buFont typeface="Huawei Sans" panose="020C0503030203020204" pitchFamily="34" charset="0"/>
              <a:buChar char="▫"/>
              <a:defRPr/>
            </a:pPr>
            <a:r>
              <a:rPr lang="zh-CN" altLang="en-US" sz="1200" kern="0" dirty="0" smtClean="0">
                <a:solidFill>
                  <a:srgbClr val="000000"/>
                </a:solidFill>
                <a:latin typeface="Huawei Sans" panose="020C0503030203020204" pitchFamily="34" charset="0"/>
                <a:ea typeface="方正兰亭黑简体" panose="02000000000000000000" pitchFamily="2" charset="-122"/>
              </a:rPr>
              <a:t>包括：</a:t>
            </a:r>
            <a:r>
              <a:rPr lang="zh-CN" altLang="en-US" sz="1200" kern="0" dirty="0">
                <a:solidFill>
                  <a:srgbClr val="000000"/>
                </a:solidFill>
                <a:latin typeface="Huawei Sans" panose="020C0503030203020204" pitchFamily="34" charset="0"/>
                <a:ea typeface="方正兰亭黑简体" panose="02000000000000000000" pitchFamily="2" charset="-122"/>
              </a:rPr>
              <a:t>手动隧道、自动隧道、</a:t>
            </a:r>
            <a:r>
              <a:rPr lang="en-US" altLang="zh-CN" sz="1200" kern="0" dirty="0">
                <a:solidFill>
                  <a:srgbClr val="000000"/>
                </a:solidFill>
                <a:latin typeface="Huawei Sans" panose="020C0503030203020204" pitchFamily="34" charset="0"/>
                <a:ea typeface="方正兰亭黑简体" panose="02000000000000000000" pitchFamily="2" charset="-122"/>
              </a:rPr>
              <a:t>6PE</a:t>
            </a:r>
            <a:r>
              <a:rPr lang="zh-CN" altLang="en-US" sz="1200" kern="0" dirty="0">
                <a:solidFill>
                  <a:srgbClr val="000000"/>
                </a:solidFill>
                <a:latin typeface="Huawei Sans" panose="020C0503030203020204" pitchFamily="34" charset="0"/>
                <a:ea typeface="方正兰亭黑简体" panose="02000000000000000000" pitchFamily="2" charset="-122"/>
              </a:rPr>
              <a:t>、</a:t>
            </a:r>
            <a:r>
              <a:rPr lang="en-US" altLang="zh-CN" sz="1200" kern="0" dirty="0" smtClean="0">
                <a:solidFill>
                  <a:srgbClr val="000000"/>
                </a:solidFill>
                <a:latin typeface="Huawei Sans" panose="020C0503030203020204" pitchFamily="34" charset="0"/>
                <a:ea typeface="方正兰亭黑简体" panose="02000000000000000000" pitchFamily="2" charset="-122"/>
              </a:rPr>
              <a:t>6VPE</a:t>
            </a:r>
            <a:r>
              <a:rPr lang="zh-CN" altLang="en-US" sz="1200" kern="0" dirty="0" smtClean="0">
                <a:solidFill>
                  <a:srgbClr val="000000"/>
                </a:solidFill>
                <a:latin typeface="Huawei Sans" panose="020C0503030203020204" pitchFamily="34" charset="0"/>
                <a:ea typeface="方正兰亭黑简体" panose="02000000000000000000" pitchFamily="2" charset="-122"/>
              </a:rPr>
              <a:t>等。</a:t>
            </a:r>
            <a:endParaRPr lang="en-US" altLang="zh-CN" sz="1200" kern="0" dirty="0">
              <a:solidFill>
                <a:srgbClr val="000000"/>
              </a:solidFill>
              <a:latin typeface="Huawei Sans" panose="020C0503030203020204" pitchFamily="34" charset="0"/>
              <a:ea typeface="方正兰亭黑简体" panose="02000000000000000000" pitchFamily="2" charset="-122"/>
            </a:endParaRPr>
          </a:p>
          <a:p>
            <a:pPr marL="171450" indent="-171450">
              <a:lnSpc>
                <a:spcPct val="140000"/>
              </a:lnSpc>
              <a:buFont typeface="Arial" panose="020B0604020202020204" pitchFamily="34" charset="0"/>
              <a:buChar char="•"/>
            </a:pPr>
            <a:endParaRPr lang="en-US" altLang="zh-CN" sz="1200" dirty="0" smtClean="0"/>
          </a:p>
          <a:p>
            <a:pPr marL="171450" indent="-171450">
              <a:lnSpc>
                <a:spcPct val="140000"/>
              </a:lnSpc>
              <a:buFont typeface="Arial" panose="020B0604020202020204" pitchFamily="34" charset="0"/>
              <a:buChar char="•"/>
            </a:pPr>
            <a:endParaRPr lang="en-US" altLang="zh-CN" sz="1200" dirty="0" smtClean="0"/>
          </a:p>
          <a:p>
            <a:pPr marL="171450" indent="-171450">
              <a:lnSpc>
                <a:spcPct val="140000"/>
              </a:lnSpc>
              <a:buFont typeface="Arial" panose="020B0604020202020204" pitchFamily="34" charset="0"/>
              <a:buChar char="•"/>
            </a:pPr>
            <a:endParaRPr lang="en-US" altLang="zh-CN" sz="1200" dirty="0"/>
          </a:p>
          <a:p>
            <a:pPr marL="171450" indent="-171450">
              <a:lnSpc>
                <a:spcPct val="140000"/>
              </a:lnSpc>
              <a:buFont typeface="Arial" panose="020B0604020202020204" pitchFamily="34" charset="0"/>
              <a:buChar char="•"/>
            </a:pPr>
            <a:r>
              <a:rPr lang="en-US" altLang="zh-CN" sz="1200" dirty="0" smtClean="0"/>
              <a:t>IPv4 over IPv6</a:t>
            </a:r>
            <a:r>
              <a:rPr lang="zh-CN" altLang="en-US" sz="1200" dirty="0" smtClean="0"/>
              <a:t>隧道：</a:t>
            </a:r>
            <a:endParaRPr lang="en-US" altLang="zh-CN" sz="1200" dirty="0" smtClean="0"/>
          </a:p>
          <a:p>
            <a:pPr marL="360000" indent="-180000" defTabSz="914400">
              <a:lnSpc>
                <a:spcPct val="150000"/>
              </a:lnSpc>
              <a:buFont typeface="Huawei Sans" panose="020C0503030203020204" pitchFamily="34" charset="0"/>
              <a:buChar char="▫"/>
              <a:defRPr/>
            </a:pPr>
            <a:r>
              <a:rPr lang="zh-CN" altLang="en-US" sz="1200" kern="0" dirty="0">
                <a:solidFill>
                  <a:srgbClr val="000000"/>
                </a:solidFill>
                <a:latin typeface="Huawei Sans" panose="020C0503030203020204" pitchFamily="34" charset="0"/>
                <a:ea typeface="方正兰亭黑简体" panose="02000000000000000000" pitchFamily="2" charset="-122"/>
              </a:rPr>
              <a:t>将</a:t>
            </a:r>
            <a:r>
              <a:rPr lang="en-US" altLang="zh-CN" sz="1200" kern="0" dirty="0">
                <a:solidFill>
                  <a:srgbClr val="000000"/>
                </a:solidFill>
                <a:latin typeface="Huawei Sans" panose="020C0503030203020204" pitchFamily="34" charset="0"/>
                <a:ea typeface="方正兰亭黑简体" panose="02000000000000000000" pitchFamily="2" charset="-122"/>
              </a:rPr>
              <a:t>IPv4</a:t>
            </a:r>
            <a:r>
              <a:rPr lang="zh-CN" altLang="en-US" sz="1200" kern="0" dirty="0">
                <a:solidFill>
                  <a:srgbClr val="000000"/>
                </a:solidFill>
                <a:latin typeface="Huawei Sans" panose="020C0503030203020204" pitchFamily="34" charset="0"/>
                <a:ea typeface="方正兰亭黑简体" panose="02000000000000000000" pitchFamily="2" charset="-122"/>
              </a:rPr>
              <a:t>流量封装在</a:t>
            </a:r>
            <a:r>
              <a:rPr lang="en-US" altLang="zh-CN" sz="1200" kern="0" dirty="0">
                <a:solidFill>
                  <a:srgbClr val="000000"/>
                </a:solidFill>
                <a:latin typeface="Huawei Sans" panose="020C0503030203020204" pitchFamily="34" charset="0"/>
                <a:ea typeface="方正兰亭黑简体" panose="02000000000000000000" pitchFamily="2" charset="-122"/>
              </a:rPr>
              <a:t>IPv6</a:t>
            </a:r>
            <a:r>
              <a:rPr lang="zh-CN" altLang="en-US" sz="1200" kern="0" dirty="0">
                <a:solidFill>
                  <a:srgbClr val="000000"/>
                </a:solidFill>
                <a:latin typeface="Huawei Sans" panose="020C0503030203020204" pitchFamily="34" charset="0"/>
                <a:ea typeface="方正兰亭黑简体" panose="02000000000000000000" pitchFamily="2" charset="-122"/>
              </a:rPr>
              <a:t>隧道中，适用于在</a:t>
            </a:r>
            <a:r>
              <a:rPr lang="en-US" altLang="zh-CN" sz="1200" kern="0" dirty="0">
                <a:solidFill>
                  <a:srgbClr val="000000"/>
                </a:solidFill>
                <a:latin typeface="Huawei Sans" panose="020C0503030203020204" pitchFamily="34" charset="0"/>
                <a:ea typeface="方正兰亭黑简体" panose="02000000000000000000" pitchFamily="2" charset="-122"/>
              </a:rPr>
              <a:t>IPv6</a:t>
            </a:r>
            <a:r>
              <a:rPr lang="zh-CN" altLang="en-US" sz="1200" kern="0" dirty="0">
                <a:solidFill>
                  <a:srgbClr val="000000"/>
                </a:solidFill>
                <a:latin typeface="Huawei Sans" panose="020C0503030203020204" pitchFamily="34" charset="0"/>
                <a:ea typeface="方正兰亭黑简体" panose="02000000000000000000" pitchFamily="2" charset="-122"/>
              </a:rPr>
              <a:t>传输网络中实现</a:t>
            </a:r>
            <a:r>
              <a:rPr lang="en-US" altLang="zh-CN" sz="1200" kern="0" dirty="0">
                <a:solidFill>
                  <a:srgbClr val="000000"/>
                </a:solidFill>
                <a:latin typeface="Huawei Sans" panose="020C0503030203020204" pitchFamily="34" charset="0"/>
                <a:ea typeface="方正兰亭黑简体" panose="02000000000000000000" pitchFamily="2" charset="-122"/>
              </a:rPr>
              <a:t>IPv4</a:t>
            </a:r>
            <a:r>
              <a:rPr lang="zh-CN" altLang="en-US" sz="1200" kern="0" dirty="0">
                <a:solidFill>
                  <a:srgbClr val="000000"/>
                </a:solidFill>
                <a:latin typeface="Huawei Sans" panose="020C0503030203020204" pitchFamily="34" charset="0"/>
                <a:ea typeface="方正兰亭黑简体" panose="02000000000000000000" pitchFamily="2" charset="-122"/>
              </a:rPr>
              <a:t>孤岛之间的互通。</a:t>
            </a:r>
            <a:endParaRPr lang="en-US" altLang="zh-CN" sz="1200" kern="0" dirty="0">
              <a:solidFill>
                <a:srgbClr val="000000"/>
              </a:solidFill>
              <a:latin typeface="Huawei Sans" panose="020C0503030203020204" pitchFamily="34" charset="0"/>
              <a:ea typeface="方正兰亭黑简体" panose="02000000000000000000" pitchFamily="2" charset="-122"/>
            </a:endParaRPr>
          </a:p>
          <a:p>
            <a:pPr marL="360000" indent="-180000" defTabSz="914400">
              <a:lnSpc>
                <a:spcPct val="150000"/>
              </a:lnSpc>
              <a:buFont typeface="Huawei Sans" panose="020C0503030203020204" pitchFamily="34" charset="0"/>
              <a:buChar char="▫"/>
              <a:defRPr/>
            </a:pPr>
            <a:r>
              <a:rPr lang="en-US" altLang="zh-CN" sz="1200" kern="0" dirty="0" smtClean="0">
                <a:solidFill>
                  <a:srgbClr val="000000"/>
                </a:solidFill>
                <a:latin typeface="Huawei Sans" panose="020C0503030203020204" pitchFamily="34" charset="0"/>
                <a:ea typeface="方正兰亭黑简体" panose="02000000000000000000" pitchFamily="2" charset="-122"/>
              </a:rPr>
              <a:t>IPv4 </a:t>
            </a:r>
            <a:r>
              <a:rPr lang="en-US" altLang="zh-CN" sz="1200" kern="0" dirty="0">
                <a:solidFill>
                  <a:srgbClr val="000000"/>
                </a:solidFill>
                <a:latin typeface="Huawei Sans" panose="020C0503030203020204" pitchFamily="34" charset="0"/>
                <a:ea typeface="方正兰亭黑简体" panose="02000000000000000000" pitchFamily="2" charset="-122"/>
              </a:rPr>
              <a:t>over IPv6</a:t>
            </a:r>
            <a:r>
              <a:rPr lang="zh-CN" altLang="en-US" sz="1200" kern="0" dirty="0">
                <a:solidFill>
                  <a:srgbClr val="000000"/>
                </a:solidFill>
                <a:latin typeface="Huawei Sans" panose="020C0503030203020204" pitchFamily="34" charset="0"/>
                <a:ea typeface="方正兰亭黑简体" panose="02000000000000000000" pitchFamily="2" charset="-122"/>
              </a:rPr>
              <a:t>隧道包括：手动隧道</a:t>
            </a:r>
            <a:r>
              <a:rPr lang="zh-CN" altLang="en-US" sz="1200" kern="0" dirty="0" smtClean="0">
                <a:solidFill>
                  <a:srgbClr val="000000"/>
                </a:solidFill>
                <a:latin typeface="Huawei Sans" panose="020C0503030203020204" pitchFamily="34" charset="0"/>
                <a:ea typeface="方正兰亭黑简体" panose="02000000000000000000" pitchFamily="2" charset="-122"/>
              </a:rPr>
              <a:t>、</a:t>
            </a:r>
            <a:r>
              <a:rPr lang="en-US" altLang="zh-CN" sz="1200" kern="0" dirty="0" smtClean="0">
                <a:solidFill>
                  <a:srgbClr val="000000"/>
                </a:solidFill>
                <a:latin typeface="Huawei Sans" panose="020C0503030203020204" pitchFamily="34" charset="0"/>
                <a:ea typeface="方正兰亭黑简体" panose="02000000000000000000" pitchFamily="2" charset="-122"/>
              </a:rPr>
              <a:t>IPv6 VXLAN</a:t>
            </a:r>
            <a:r>
              <a:rPr lang="zh-CN" altLang="en-US" sz="1200" kern="0" dirty="0" smtClean="0">
                <a:solidFill>
                  <a:srgbClr val="000000"/>
                </a:solidFill>
                <a:latin typeface="Huawei Sans" panose="020C0503030203020204" pitchFamily="34" charset="0"/>
                <a:ea typeface="方正兰亭黑简体" panose="02000000000000000000" pitchFamily="2" charset="-122"/>
              </a:rPr>
              <a:t>、</a:t>
            </a:r>
            <a:r>
              <a:rPr lang="en-US" altLang="zh-CN" sz="1200" kern="0" dirty="0" smtClean="0">
                <a:solidFill>
                  <a:srgbClr val="000000"/>
                </a:solidFill>
                <a:latin typeface="Huawei Sans" panose="020C0503030203020204" pitchFamily="34" charset="0"/>
                <a:ea typeface="方正兰亭黑简体" panose="02000000000000000000" pitchFamily="2" charset="-122"/>
              </a:rPr>
              <a:t>SRv6</a:t>
            </a:r>
            <a:r>
              <a:rPr lang="zh-CN" altLang="en-US" sz="1200" kern="0" dirty="0" smtClean="0">
                <a:solidFill>
                  <a:srgbClr val="000000"/>
                </a:solidFill>
                <a:latin typeface="Huawei Sans" panose="020C0503030203020204" pitchFamily="34" charset="0"/>
                <a:ea typeface="方正兰亭黑简体" panose="02000000000000000000" pitchFamily="2" charset="-122"/>
              </a:rPr>
              <a:t>等。</a:t>
            </a:r>
            <a:endParaRPr lang="zh-CN" altLang="en-US" sz="1200" kern="0" dirty="0">
              <a:solidFill>
                <a:srgbClr val="000000"/>
              </a:solidFill>
              <a:latin typeface="Huawei Sans" panose="020C0503030203020204" pitchFamily="34" charset="0"/>
              <a:ea typeface="方正兰亭黑简体" panose="02000000000000000000" pitchFamily="2" charset="-122"/>
            </a:endParaRPr>
          </a:p>
        </p:txBody>
      </p:sp>
      <p:sp>
        <p:nvSpPr>
          <p:cNvPr id="9" name="文本框 8"/>
          <p:cNvSpPr txBox="1"/>
          <p:nvPr/>
        </p:nvSpPr>
        <p:spPr bwMode="gray">
          <a:xfrm>
            <a:off x="8072284" y="2163328"/>
            <a:ext cx="3639137" cy="1643527"/>
          </a:xfrm>
          <a:prstGeom prst="rect">
            <a:avLst/>
          </a:prstGeom>
          <a:noFill/>
        </p:spPr>
        <p:txBody>
          <a:bodyPr wrap="square" rtlCol="0">
            <a:spAutoFit/>
          </a:bodyPr>
          <a:lstStyle/>
          <a:p>
            <a:pPr marL="171450" indent="-171450">
              <a:lnSpc>
                <a:spcPct val="140000"/>
              </a:lnSpc>
              <a:buFont typeface="Arial" panose="020B0604020202020204" pitchFamily="34" charset="0"/>
              <a:buChar char="•"/>
            </a:pPr>
            <a:r>
              <a:rPr lang="zh-CN" altLang="en-US" sz="1200" dirty="0"/>
              <a:t>将</a:t>
            </a:r>
            <a:r>
              <a:rPr lang="en-US" altLang="zh-CN" sz="1200" dirty="0"/>
              <a:t>IPv4</a:t>
            </a:r>
            <a:r>
              <a:rPr lang="zh-CN" altLang="en-US" sz="1200" dirty="0"/>
              <a:t>流量转换成</a:t>
            </a:r>
            <a:r>
              <a:rPr lang="en-US" altLang="zh-CN" sz="1200" dirty="0"/>
              <a:t>IPv6</a:t>
            </a:r>
            <a:r>
              <a:rPr lang="zh-CN" altLang="en-US" sz="1200" dirty="0"/>
              <a:t>（主要是</a:t>
            </a:r>
            <a:r>
              <a:rPr lang="en-US" altLang="zh-CN" sz="1200" dirty="0"/>
              <a:t>IP</a:t>
            </a:r>
            <a:r>
              <a:rPr lang="zh-CN" altLang="en-US" sz="1200" dirty="0"/>
              <a:t>头部的改写），反之亦然</a:t>
            </a:r>
            <a:r>
              <a:rPr lang="zh-CN" altLang="en-US" sz="1200" dirty="0" smtClean="0"/>
              <a:t>。适用于</a:t>
            </a:r>
            <a:r>
              <a:rPr lang="zh-CN" altLang="en-US" sz="1200" dirty="0"/>
              <a:t>纯</a:t>
            </a:r>
            <a:r>
              <a:rPr lang="en-US" altLang="zh-CN" sz="1200" dirty="0"/>
              <a:t>IPv4</a:t>
            </a:r>
            <a:r>
              <a:rPr lang="zh-CN" altLang="en-US" sz="1200" dirty="0"/>
              <a:t>网络与纯</a:t>
            </a:r>
            <a:r>
              <a:rPr lang="en-US" altLang="zh-CN" sz="1200" dirty="0"/>
              <a:t>IPv6</a:t>
            </a:r>
            <a:r>
              <a:rPr lang="zh-CN" altLang="en-US" sz="1200" dirty="0"/>
              <a:t>网络之间的通信，反之亦然</a:t>
            </a:r>
            <a:r>
              <a:rPr lang="zh-CN" altLang="en-US" sz="1200" dirty="0" smtClean="0"/>
              <a:t>。</a:t>
            </a:r>
            <a:endParaRPr lang="en-US" altLang="zh-CN" sz="1200" dirty="0" smtClean="0"/>
          </a:p>
          <a:p>
            <a:pPr marL="171450" indent="-171450">
              <a:lnSpc>
                <a:spcPct val="140000"/>
              </a:lnSpc>
              <a:buFont typeface="Arial" panose="020B0604020202020204" pitchFamily="34" charset="0"/>
              <a:buChar char="•"/>
            </a:pPr>
            <a:r>
              <a:rPr lang="zh-CN" altLang="en-US" sz="1200" dirty="0" smtClean="0"/>
              <a:t>需</a:t>
            </a:r>
            <a:r>
              <a:rPr lang="zh-CN" altLang="en-US" sz="1200" dirty="0"/>
              <a:t>在网络中部署网络层协议转换（</a:t>
            </a:r>
            <a:r>
              <a:rPr lang="en-US" altLang="zh-CN" sz="1200" dirty="0"/>
              <a:t>NAT</a:t>
            </a:r>
            <a:r>
              <a:rPr lang="zh-CN" altLang="en-US" sz="1200" dirty="0"/>
              <a:t>）设备、</a:t>
            </a:r>
            <a:r>
              <a:rPr lang="en-US" altLang="zh-CN" sz="1200" dirty="0"/>
              <a:t>DNS</a:t>
            </a:r>
            <a:r>
              <a:rPr lang="zh-CN" altLang="en-US" sz="1200" dirty="0"/>
              <a:t>设备</a:t>
            </a:r>
            <a:r>
              <a:rPr lang="zh-CN" altLang="en-US" sz="1200" dirty="0" smtClean="0"/>
              <a:t>。</a:t>
            </a:r>
            <a:endParaRPr lang="en-US" altLang="zh-CN" sz="1200" dirty="0" smtClean="0"/>
          </a:p>
          <a:p>
            <a:pPr marL="171450" indent="-171450">
              <a:lnSpc>
                <a:spcPct val="140000"/>
              </a:lnSpc>
              <a:buFont typeface="Arial" panose="020B0604020202020204" pitchFamily="34" charset="0"/>
              <a:buChar char="•"/>
            </a:pPr>
            <a:r>
              <a:rPr lang="zh-CN" altLang="en-US" sz="1200" dirty="0" smtClean="0"/>
              <a:t>包括：</a:t>
            </a:r>
            <a:r>
              <a:rPr lang="en-US" altLang="zh-CN" sz="1200" dirty="0" smtClean="0"/>
              <a:t>NAT64</a:t>
            </a:r>
            <a:r>
              <a:rPr lang="zh-CN" altLang="en-US" sz="1200" dirty="0" smtClean="0"/>
              <a:t>、</a:t>
            </a:r>
            <a:r>
              <a:rPr lang="en-US" altLang="zh-CN" sz="1200" dirty="0" smtClean="0"/>
              <a:t>IVI</a:t>
            </a:r>
            <a:r>
              <a:rPr lang="zh-CN" altLang="en-US" sz="1200" dirty="0"/>
              <a:t>技术</a:t>
            </a:r>
            <a:r>
              <a:rPr lang="zh-CN" altLang="en-US" sz="1200" dirty="0" smtClean="0"/>
              <a:t>。</a:t>
            </a:r>
            <a:endParaRPr lang="zh-CN" altLang="en-US" sz="1200" dirty="0"/>
          </a:p>
        </p:txBody>
      </p:sp>
      <p:grpSp>
        <p:nvGrpSpPr>
          <p:cNvPr id="32" name="组合 31"/>
          <p:cNvGrpSpPr/>
          <p:nvPr/>
        </p:nvGrpSpPr>
        <p:grpSpPr bwMode="gray">
          <a:xfrm>
            <a:off x="483473" y="3289790"/>
            <a:ext cx="3530459" cy="1649666"/>
            <a:chOff x="285958" y="3431121"/>
            <a:chExt cx="3902554" cy="1823534"/>
          </a:xfrm>
        </p:grpSpPr>
        <p:grpSp>
          <p:nvGrpSpPr>
            <p:cNvPr id="13" name="Group 50"/>
            <p:cNvGrpSpPr/>
            <p:nvPr/>
          </p:nvGrpSpPr>
          <p:grpSpPr bwMode="gray">
            <a:xfrm rot="5400000">
              <a:off x="2764332" y="4024693"/>
              <a:ext cx="869173" cy="711627"/>
              <a:chOff x="-1233037" y="914446"/>
              <a:chExt cx="1573823" cy="778776"/>
            </a:xfrm>
          </p:grpSpPr>
          <p:cxnSp>
            <p:nvCxnSpPr>
              <p:cNvPr id="14" name="Straight Connector 52"/>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66"/>
              <p:cNvCxnSpPr/>
              <p:nvPr/>
            </p:nvCxnSpPr>
            <p:spPr bwMode="gray">
              <a:xfrm flipV="1">
                <a:off x="-446125" y="914446"/>
                <a:ext cx="786911" cy="778776"/>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16" name="Freeform 159"/>
            <p:cNvSpPr/>
            <p:nvPr/>
          </p:nvSpPr>
          <p:spPr bwMode="gray">
            <a:xfrm flipH="1">
              <a:off x="3436874" y="3634711"/>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cxnSp>
          <p:nvCxnSpPr>
            <p:cNvPr id="17" name="直接连接符 16"/>
            <p:cNvCxnSpPr>
              <a:stCxn id="41" idx="3"/>
              <a:endCxn id="36" idx="1"/>
            </p:cNvCxnSpPr>
            <p:nvPr/>
          </p:nvCxnSpPr>
          <p:spPr bwMode="gray">
            <a:xfrm>
              <a:off x="1943397" y="4374301"/>
              <a:ext cx="3744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50"/>
            <p:cNvGrpSpPr/>
            <p:nvPr/>
          </p:nvGrpSpPr>
          <p:grpSpPr bwMode="gray">
            <a:xfrm rot="16200000">
              <a:off x="1001310" y="4024693"/>
              <a:ext cx="869173" cy="711627"/>
              <a:chOff x="-1233037" y="914446"/>
              <a:chExt cx="1573823" cy="778776"/>
            </a:xfrm>
          </p:grpSpPr>
          <p:cxnSp>
            <p:nvCxnSpPr>
              <p:cNvPr id="19" name="Straight Connector 52"/>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66"/>
              <p:cNvCxnSpPr/>
              <p:nvPr/>
            </p:nvCxnSpPr>
            <p:spPr bwMode="gray">
              <a:xfrm flipV="1">
                <a:off x="-446125" y="914446"/>
                <a:ext cx="786911" cy="778776"/>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1" name="文本框 20"/>
            <p:cNvSpPr txBox="1"/>
            <p:nvPr/>
          </p:nvSpPr>
          <p:spPr bwMode="gray">
            <a:xfrm>
              <a:off x="337496" y="3431121"/>
              <a:ext cx="943034" cy="306192"/>
            </a:xfrm>
            <a:prstGeom prst="rect">
              <a:avLst/>
            </a:prstGeom>
            <a:noFill/>
          </p:spPr>
          <p:txBody>
            <a:bodyPr wrap="none" rtlCol="0">
              <a:spAutoFit/>
            </a:bodyPr>
            <a:lstStyle/>
            <a:p>
              <a:r>
                <a:rPr lang="en-US" sz="1200" dirty="0">
                  <a:cs typeface="Arial" panose="020B0604020202020204" pitchFamily="34" charset="0"/>
                </a:rPr>
                <a:t>IPv6 Host</a:t>
              </a:r>
            </a:p>
          </p:txBody>
        </p:sp>
        <p:sp>
          <p:nvSpPr>
            <p:cNvPr id="22" name="文本框 21"/>
            <p:cNvSpPr txBox="1"/>
            <p:nvPr/>
          </p:nvSpPr>
          <p:spPr bwMode="gray">
            <a:xfrm>
              <a:off x="285958" y="4948463"/>
              <a:ext cx="943034" cy="306192"/>
            </a:xfrm>
            <a:prstGeom prst="rect">
              <a:avLst/>
            </a:prstGeom>
            <a:noFill/>
          </p:spPr>
          <p:txBody>
            <a:bodyPr wrap="none" rtlCol="0">
              <a:spAutoFit/>
            </a:bodyPr>
            <a:lstStyle/>
            <a:p>
              <a:r>
                <a:rPr lang="en-US" sz="1200" dirty="0">
                  <a:cs typeface="Arial" panose="020B0604020202020204" pitchFamily="34" charset="0"/>
                </a:rPr>
                <a:t>IPv4 Host</a:t>
              </a:r>
            </a:p>
          </p:txBody>
        </p:sp>
        <p:sp>
          <p:nvSpPr>
            <p:cNvPr id="23" name="文本框 22"/>
            <p:cNvSpPr txBox="1"/>
            <p:nvPr/>
          </p:nvSpPr>
          <p:spPr bwMode="gray">
            <a:xfrm>
              <a:off x="3548495" y="3730964"/>
              <a:ext cx="528397" cy="306194"/>
            </a:xfrm>
            <a:prstGeom prst="rect">
              <a:avLst/>
            </a:prstGeom>
            <a:noFill/>
          </p:spPr>
          <p:txBody>
            <a:bodyPr wrap="none" rtlCol="0">
              <a:spAutoFit/>
            </a:bodyPr>
            <a:lstStyle/>
            <a:p>
              <a:pPr algn="ctr"/>
              <a:r>
                <a:rPr lang="en-US" sz="1200" dirty="0">
                  <a:cs typeface="Arial" panose="020B0604020202020204" pitchFamily="34" charset="0"/>
                </a:rPr>
                <a:t>IPv6</a:t>
              </a:r>
            </a:p>
          </p:txBody>
        </p:sp>
        <p:sp>
          <p:nvSpPr>
            <p:cNvPr id="24" name="文本框 23"/>
            <p:cNvSpPr txBox="1"/>
            <p:nvPr/>
          </p:nvSpPr>
          <p:spPr bwMode="gray">
            <a:xfrm>
              <a:off x="1391600" y="3839341"/>
              <a:ext cx="884559" cy="306194"/>
            </a:xfrm>
            <a:prstGeom prst="rect">
              <a:avLst/>
            </a:prstGeom>
            <a:noFill/>
          </p:spPr>
          <p:txBody>
            <a:bodyPr wrap="none" rtlCol="0">
              <a:spAutoFit/>
            </a:bodyPr>
            <a:lstStyle/>
            <a:p>
              <a:r>
                <a:rPr lang="zh-CN" altLang="en-US" sz="1200" b="1" dirty="0">
                  <a:cs typeface="Arial" panose="020B0604020202020204" pitchFamily="34" charset="0"/>
                </a:rPr>
                <a:t>双栈设备</a:t>
              </a:r>
              <a:endParaRPr lang="en-US" sz="1200" b="1" dirty="0">
                <a:cs typeface="Arial" panose="020B0604020202020204" pitchFamily="34" charset="0"/>
              </a:endParaRPr>
            </a:p>
          </p:txBody>
        </p:sp>
        <p:cxnSp>
          <p:nvCxnSpPr>
            <p:cNvPr id="25" name="直接连接符 24"/>
            <p:cNvCxnSpPr/>
            <p:nvPr/>
          </p:nvCxnSpPr>
          <p:spPr bwMode="gray">
            <a:xfrm flipH="1" flipV="1">
              <a:off x="1166412" y="3890050"/>
              <a:ext cx="416864" cy="250345"/>
            </a:xfrm>
            <a:prstGeom prst="line">
              <a:avLst/>
            </a:prstGeom>
            <a:ln w="19050">
              <a:solidFill>
                <a:srgbClr val="30B5C5"/>
              </a:solidFill>
              <a:head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gray">
            <a:xfrm flipH="1">
              <a:off x="1834601" y="4298566"/>
              <a:ext cx="693146" cy="0"/>
            </a:xfrm>
            <a:prstGeom prst="line">
              <a:avLst/>
            </a:prstGeom>
            <a:ln w="19050">
              <a:solidFill>
                <a:srgbClr val="30B5C5"/>
              </a:solidFill>
              <a:headEnd type="triangle"/>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gray">
            <a:xfrm flipH="1">
              <a:off x="2954284" y="3951272"/>
              <a:ext cx="420736" cy="262655"/>
            </a:xfrm>
            <a:prstGeom prst="line">
              <a:avLst/>
            </a:prstGeom>
            <a:ln w="19050">
              <a:solidFill>
                <a:srgbClr val="30B5C5"/>
              </a:solidFill>
              <a:head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gray">
            <a:xfrm flipH="1">
              <a:off x="1174026" y="4609667"/>
              <a:ext cx="389780" cy="240979"/>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gray">
            <a:xfrm flipH="1">
              <a:off x="1834601" y="4465291"/>
              <a:ext cx="692236"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gray">
            <a:xfrm flipH="1" flipV="1">
              <a:off x="2956777" y="4539544"/>
              <a:ext cx="440436" cy="284329"/>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bwMode="gray">
            <a:xfrm>
              <a:off x="2191088" y="3845251"/>
              <a:ext cx="884559" cy="306194"/>
            </a:xfrm>
            <a:prstGeom prst="rect">
              <a:avLst/>
            </a:prstGeom>
            <a:noFill/>
          </p:spPr>
          <p:txBody>
            <a:bodyPr wrap="none" rtlCol="0">
              <a:spAutoFit/>
            </a:bodyPr>
            <a:lstStyle/>
            <a:p>
              <a:r>
                <a:rPr lang="zh-CN" altLang="en-US" sz="1200" b="1" dirty="0">
                  <a:cs typeface="Arial" panose="020B0604020202020204" pitchFamily="34" charset="0"/>
                </a:rPr>
                <a:t>双栈设备</a:t>
              </a:r>
              <a:endParaRPr lang="en-US" sz="1200" b="1" dirty="0">
                <a:cs typeface="Arial" panose="020B0604020202020204" pitchFamily="34" charset="0"/>
              </a:endParaRPr>
            </a:p>
          </p:txBody>
        </p:sp>
        <p:pic>
          <p:nvPicPr>
            <p:cNvPr id="36" name="图片 3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317829" y="4152901"/>
              <a:ext cx="540000" cy="442800"/>
            </a:xfrm>
            <a:prstGeom prst="rect">
              <a:avLst/>
            </a:prstGeom>
          </p:spPr>
        </p:pic>
        <p:pic>
          <p:nvPicPr>
            <p:cNvPr id="37" name="图片 36" descr="PC.png"/>
            <p:cNvPicPr>
              <a:picLocks noChangeAspect="1"/>
            </p:cNvPicPr>
            <p:nvPr/>
          </p:nvPicPr>
          <p:blipFill>
            <a:blip r:embed="rId4" cstate="print"/>
            <a:stretch>
              <a:fillRect/>
            </a:stretch>
          </p:blipFill>
          <p:spPr bwMode="gray">
            <a:xfrm>
              <a:off x="557820" y="4555566"/>
              <a:ext cx="539063" cy="414000"/>
            </a:xfrm>
            <a:prstGeom prst="rect">
              <a:avLst/>
            </a:prstGeom>
          </p:spPr>
        </p:pic>
        <p:pic>
          <p:nvPicPr>
            <p:cNvPr id="38" name="图片 37" descr="PC.png"/>
            <p:cNvPicPr>
              <a:picLocks noChangeAspect="1"/>
            </p:cNvPicPr>
            <p:nvPr/>
          </p:nvPicPr>
          <p:blipFill>
            <a:blip r:embed="rId4" cstate="print"/>
            <a:stretch>
              <a:fillRect/>
            </a:stretch>
          </p:blipFill>
          <p:spPr bwMode="gray">
            <a:xfrm>
              <a:off x="557820" y="3708250"/>
              <a:ext cx="539063" cy="414000"/>
            </a:xfrm>
            <a:prstGeom prst="rect">
              <a:avLst/>
            </a:prstGeom>
          </p:spPr>
        </p:pic>
        <p:sp>
          <p:nvSpPr>
            <p:cNvPr id="39" name="Freeform 159"/>
            <p:cNvSpPr/>
            <p:nvPr/>
          </p:nvSpPr>
          <p:spPr bwMode="gray">
            <a:xfrm flipH="1">
              <a:off x="3436874" y="4525451"/>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40" name="文本框 39"/>
            <p:cNvSpPr txBox="1"/>
            <p:nvPr/>
          </p:nvSpPr>
          <p:spPr bwMode="gray">
            <a:xfrm>
              <a:off x="3548495" y="4621704"/>
              <a:ext cx="528397" cy="306194"/>
            </a:xfrm>
            <a:prstGeom prst="rect">
              <a:avLst/>
            </a:prstGeom>
            <a:noFill/>
          </p:spPr>
          <p:txBody>
            <a:bodyPr wrap="none" rtlCol="0">
              <a:spAutoFit/>
            </a:bodyPr>
            <a:lstStyle/>
            <a:p>
              <a:pPr algn="ctr"/>
              <a:r>
                <a:rPr lang="en-US" sz="1200" dirty="0">
                  <a:cs typeface="Arial" panose="020B0604020202020204" pitchFamily="34" charset="0"/>
                </a:rPr>
                <a:t>IPv4</a:t>
              </a:r>
            </a:p>
          </p:txBody>
        </p: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03397" y="4152901"/>
              <a:ext cx="540000" cy="442800"/>
            </a:xfrm>
            <a:prstGeom prst="rect">
              <a:avLst/>
            </a:prstGeom>
          </p:spPr>
        </p:pic>
      </p:grpSp>
      <p:grpSp>
        <p:nvGrpSpPr>
          <p:cNvPr id="31" name="组合 30"/>
          <p:cNvGrpSpPr/>
          <p:nvPr/>
        </p:nvGrpSpPr>
        <p:grpSpPr bwMode="gray">
          <a:xfrm>
            <a:off x="4563158" y="3320739"/>
            <a:ext cx="2984390" cy="707679"/>
            <a:chOff x="4283070" y="5031827"/>
            <a:chExt cx="3702316" cy="877917"/>
          </a:xfrm>
        </p:grpSpPr>
        <p:sp>
          <p:nvSpPr>
            <p:cNvPr id="10" name="Freeform 159"/>
            <p:cNvSpPr/>
            <p:nvPr/>
          </p:nvSpPr>
          <p:spPr bwMode="gray">
            <a:xfrm flipH="1">
              <a:off x="7233748" y="5373468"/>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11" name="Freeform 159"/>
            <p:cNvSpPr/>
            <p:nvPr/>
          </p:nvSpPr>
          <p:spPr bwMode="gray">
            <a:xfrm flipH="1">
              <a:off x="5383635" y="5139639"/>
              <a:ext cx="1440523" cy="7567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cxnSp>
          <p:nvCxnSpPr>
            <p:cNvPr id="12" name="直接连接符 11"/>
            <p:cNvCxnSpPr>
              <a:stCxn id="44" idx="3"/>
              <a:endCxn id="47" idx="1"/>
            </p:cNvCxnSpPr>
            <p:nvPr/>
          </p:nvCxnSpPr>
          <p:spPr bwMode="gray">
            <a:xfrm>
              <a:off x="5459445" y="5590796"/>
              <a:ext cx="1304592" cy="0"/>
            </a:xfrm>
            <a:prstGeom prst="line">
              <a:avLst/>
            </a:prstGeom>
            <a:ln w="57150">
              <a:solidFill>
                <a:srgbClr val="C7000B"/>
              </a:solidFill>
            </a:ln>
          </p:spPr>
          <p:style>
            <a:lnRef idx="1">
              <a:schemeClr val="accent1"/>
            </a:lnRef>
            <a:fillRef idx="0">
              <a:schemeClr val="accent1"/>
            </a:fillRef>
            <a:effectRef idx="0">
              <a:schemeClr val="accent1"/>
            </a:effectRef>
            <a:fontRef idx="minor">
              <a:schemeClr val="tx1"/>
            </a:fontRef>
          </p:style>
        </p:cxnSp>
        <p:sp>
          <p:nvSpPr>
            <p:cNvPr id="42" name="Freeform 159"/>
            <p:cNvSpPr/>
            <p:nvPr/>
          </p:nvSpPr>
          <p:spPr bwMode="gray">
            <a:xfrm flipH="1">
              <a:off x="4283070" y="5373468"/>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43" name="文本框 42"/>
            <p:cNvSpPr txBox="1"/>
            <p:nvPr/>
          </p:nvSpPr>
          <p:spPr bwMode="gray">
            <a:xfrm>
              <a:off x="4419881" y="5469721"/>
              <a:ext cx="478015" cy="276999"/>
            </a:xfrm>
            <a:prstGeom prst="rect">
              <a:avLst/>
            </a:prstGeom>
            <a:noFill/>
          </p:spPr>
          <p:txBody>
            <a:bodyPr wrap="none" rtlCol="0">
              <a:spAutoFit/>
            </a:bodyPr>
            <a:lstStyle/>
            <a:p>
              <a:pPr algn="ctr"/>
              <a:r>
                <a:rPr lang="en-US" sz="1200" dirty="0">
                  <a:cs typeface="Arial" panose="020B0604020202020204" pitchFamily="34" charset="0"/>
                </a:rPr>
                <a:t>IPv6</a:t>
              </a:r>
            </a:p>
          </p:txBody>
        </p:sp>
        <p:pic>
          <p:nvPicPr>
            <p:cNvPr id="44" name="图片 4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919446" y="5369396"/>
              <a:ext cx="540000" cy="442800"/>
            </a:xfrm>
            <a:prstGeom prst="rect">
              <a:avLst/>
            </a:prstGeom>
          </p:spPr>
        </p:pic>
        <p:sp>
          <p:nvSpPr>
            <p:cNvPr id="45" name="文本框 44"/>
            <p:cNvSpPr txBox="1"/>
            <p:nvPr/>
          </p:nvSpPr>
          <p:spPr bwMode="gray">
            <a:xfrm>
              <a:off x="7386539" y="5451569"/>
              <a:ext cx="478015" cy="276999"/>
            </a:xfrm>
            <a:prstGeom prst="rect">
              <a:avLst/>
            </a:prstGeom>
            <a:noFill/>
          </p:spPr>
          <p:txBody>
            <a:bodyPr wrap="none" rtlCol="0">
              <a:spAutoFit/>
            </a:bodyPr>
            <a:lstStyle/>
            <a:p>
              <a:pPr algn="ctr"/>
              <a:r>
                <a:rPr lang="en-US" sz="1200" dirty="0">
                  <a:cs typeface="Arial" panose="020B0604020202020204" pitchFamily="34" charset="0"/>
                </a:rPr>
                <a:t>IPv6</a:t>
              </a:r>
            </a:p>
          </p:txBody>
        </p:sp>
        <p:cxnSp>
          <p:nvCxnSpPr>
            <p:cNvPr id="46" name="直接连接符 45"/>
            <p:cNvCxnSpPr/>
            <p:nvPr/>
          </p:nvCxnSpPr>
          <p:spPr bwMode="gray">
            <a:xfrm flipH="1" flipV="1">
              <a:off x="4426045" y="5308478"/>
              <a:ext cx="493401" cy="0"/>
            </a:xfrm>
            <a:prstGeom prst="line">
              <a:avLst/>
            </a:prstGeom>
            <a:ln w="19050">
              <a:solidFill>
                <a:srgbClr val="30B5C5"/>
              </a:solidFill>
              <a:headEnd type="triangle"/>
            </a:ln>
          </p:spPr>
          <p:style>
            <a:lnRef idx="1">
              <a:schemeClr val="accent1"/>
            </a:lnRef>
            <a:fillRef idx="0">
              <a:schemeClr val="accent1"/>
            </a:fillRef>
            <a:effectRef idx="0">
              <a:schemeClr val="accent1"/>
            </a:effectRef>
            <a:fontRef idx="minor">
              <a:schemeClr val="tx1"/>
            </a:fontRef>
          </p:style>
        </p:cxnSp>
        <p:pic>
          <p:nvPicPr>
            <p:cNvPr id="47" name="图片 4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764038" y="5369396"/>
              <a:ext cx="540000" cy="442800"/>
            </a:xfrm>
            <a:prstGeom prst="rect">
              <a:avLst/>
            </a:prstGeom>
          </p:spPr>
        </p:pic>
        <p:sp>
          <p:nvSpPr>
            <p:cNvPr id="48" name="文本框 47"/>
            <p:cNvSpPr txBox="1"/>
            <p:nvPr/>
          </p:nvSpPr>
          <p:spPr bwMode="gray">
            <a:xfrm>
              <a:off x="5842939" y="5252839"/>
              <a:ext cx="478015" cy="276999"/>
            </a:xfrm>
            <a:prstGeom prst="rect">
              <a:avLst/>
            </a:prstGeom>
            <a:noFill/>
          </p:spPr>
          <p:txBody>
            <a:bodyPr wrap="none" rtlCol="0">
              <a:spAutoFit/>
            </a:bodyPr>
            <a:lstStyle/>
            <a:p>
              <a:pPr algn="ctr"/>
              <a:r>
                <a:rPr lang="en-US" sz="1200" dirty="0">
                  <a:cs typeface="Arial" panose="020B0604020202020204" pitchFamily="34" charset="0"/>
                </a:rPr>
                <a:t>IPv4</a:t>
              </a:r>
            </a:p>
          </p:txBody>
        </p:sp>
        <p:sp>
          <p:nvSpPr>
            <p:cNvPr id="49" name="文本框 48"/>
            <p:cNvSpPr txBox="1"/>
            <p:nvPr/>
          </p:nvSpPr>
          <p:spPr bwMode="gray">
            <a:xfrm>
              <a:off x="5728454" y="5583555"/>
              <a:ext cx="781873" cy="326189"/>
            </a:xfrm>
            <a:prstGeom prst="rect">
              <a:avLst/>
            </a:prstGeom>
            <a:noFill/>
          </p:spPr>
          <p:txBody>
            <a:bodyPr wrap="none" rtlCol="0">
              <a:spAutoFit/>
            </a:bodyPr>
            <a:lstStyle/>
            <a:p>
              <a:pPr algn="ctr"/>
              <a:r>
                <a:rPr lang="en-US" sz="1200" dirty="0" smtClean="0">
                  <a:solidFill>
                    <a:srgbClr val="C7000B"/>
                  </a:solidFill>
                  <a:cs typeface="Arial" panose="020B0604020202020204" pitchFamily="34" charset="0"/>
                </a:rPr>
                <a:t>T</a:t>
              </a:r>
              <a:r>
                <a:rPr lang="en-US" altLang="zh-CN" sz="1200" dirty="0" smtClean="0">
                  <a:solidFill>
                    <a:srgbClr val="C7000B"/>
                  </a:solidFill>
                  <a:cs typeface="Arial" panose="020B0604020202020204" pitchFamily="34" charset="0"/>
                </a:rPr>
                <a:t>unnel</a:t>
              </a:r>
              <a:endParaRPr lang="en-US" sz="1200" dirty="0">
                <a:solidFill>
                  <a:srgbClr val="C7000B"/>
                </a:solidFill>
                <a:cs typeface="Arial" panose="020B0604020202020204" pitchFamily="34" charset="0"/>
              </a:endParaRPr>
            </a:p>
          </p:txBody>
        </p:sp>
        <p:cxnSp>
          <p:nvCxnSpPr>
            <p:cNvPr id="50" name="直接连接符 49"/>
            <p:cNvCxnSpPr/>
            <p:nvPr/>
          </p:nvCxnSpPr>
          <p:spPr bwMode="gray">
            <a:xfrm flipH="1" flipV="1">
              <a:off x="7304038" y="5308478"/>
              <a:ext cx="493401" cy="0"/>
            </a:xfrm>
            <a:prstGeom prst="line">
              <a:avLst/>
            </a:prstGeom>
            <a:ln w="19050">
              <a:solidFill>
                <a:srgbClr val="30B5C5"/>
              </a:solidFill>
              <a:headEnd type="triangle"/>
            </a:ln>
          </p:spPr>
          <p:style>
            <a:lnRef idx="1">
              <a:schemeClr val="accent1"/>
            </a:lnRef>
            <a:fillRef idx="0">
              <a:schemeClr val="accent1"/>
            </a:fillRef>
            <a:effectRef idx="0">
              <a:schemeClr val="accent1"/>
            </a:effectRef>
            <a:fontRef idx="minor">
              <a:schemeClr val="tx1"/>
            </a:fontRef>
          </p:style>
        </p:cxnSp>
        <p:sp>
          <p:nvSpPr>
            <p:cNvPr id="51" name="任意多边形 50"/>
            <p:cNvSpPr/>
            <p:nvPr/>
          </p:nvSpPr>
          <p:spPr bwMode="gray">
            <a:xfrm>
              <a:off x="5237485" y="5031827"/>
              <a:ext cx="1634837" cy="303689"/>
            </a:xfrm>
            <a:custGeom>
              <a:avLst/>
              <a:gdLst>
                <a:gd name="connsiteX0" fmla="*/ 0 w 1634836"/>
                <a:gd name="connsiteY0" fmla="*/ 346453 h 374162"/>
                <a:gd name="connsiteX1" fmla="*/ 858982 w 1634836"/>
                <a:gd name="connsiteY1" fmla="*/ 89 h 374162"/>
                <a:gd name="connsiteX2" fmla="*/ 1634836 w 1634836"/>
                <a:gd name="connsiteY2" fmla="*/ 374162 h 374162"/>
              </a:gdLst>
              <a:ahLst/>
              <a:cxnLst>
                <a:cxn ang="0">
                  <a:pos x="connsiteX0" y="connsiteY0"/>
                </a:cxn>
                <a:cxn ang="0">
                  <a:pos x="connsiteX1" y="connsiteY1"/>
                </a:cxn>
                <a:cxn ang="0">
                  <a:pos x="connsiteX2" y="connsiteY2"/>
                </a:cxn>
              </a:cxnLst>
              <a:rect l="l" t="t" r="r" b="b"/>
              <a:pathLst>
                <a:path w="1634836" h="374162">
                  <a:moveTo>
                    <a:pt x="0" y="346453"/>
                  </a:moveTo>
                  <a:cubicBezTo>
                    <a:pt x="293254" y="170962"/>
                    <a:pt x="586509" y="-4529"/>
                    <a:pt x="858982" y="89"/>
                  </a:cubicBezTo>
                  <a:cubicBezTo>
                    <a:pt x="1131455" y="4707"/>
                    <a:pt x="1383145" y="189434"/>
                    <a:pt x="1634836" y="374162"/>
                  </a:cubicBezTo>
                </a:path>
              </a:pathLst>
            </a:custGeom>
            <a:ln w="19050">
              <a:solidFill>
                <a:srgbClr val="62B23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grpSp>
      <p:grpSp>
        <p:nvGrpSpPr>
          <p:cNvPr id="33" name="组合 32"/>
          <p:cNvGrpSpPr/>
          <p:nvPr/>
        </p:nvGrpSpPr>
        <p:grpSpPr bwMode="gray">
          <a:xfrm>
            <a:off x="8237388" y="3829409"/>
            <a:ext cx="3278460" cy="1307634"/>
            <a:chOff x="8136825" y="4778868"/>
            <a:chExt cx="3577621" cy="1426956"/>
          </a:xfrm>
        </p:grpSpPr>
        <p:sp>
          <p:nvSpPr>
            <p:cNvPr id="52" name="Freeform 159"/>
            <p:cNvSpPr/>
            <p:nvPr/>
          </p:nvSpPr>
          <p:spPr bwMode="gray">
            <a:xfrm flipH="1">
              <a:off x="10962808" y="5470005"/>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53" name="Freeform 159"/>
            <p:cNvSpPr/>
            <p:nvPr/>
          </p:nvSpPr>
          <p:spPr bwMode="gray">
            <a:xfrm flipH="1">
              <a:off x="8136825" y="5470005"/>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54" name="文本框 53"/>
            <p:cNvSpPr txBox="1"/>
            <p:nvPr/>
          </p:nvSpPr>
          <p:spPr bwMode="gray">
            <a:xfrm>
              <a:off x="8251825" y="5566258"/>
              <a:ext cx="521635" cy="302275"/>
            </a:xfrm>
            <a:prstGeom prst="rect">
              <a:avLst/>
            </a:prstGeom>
            <a:noFill/>
          </p:spPr>
          <p:txBody>
            <a:bodyPr wrap="none" rtlCol="0">
              <a:spAutoFit/>
            </a:bodyPr>
            <a:lstStyle/>
            <a:p>
              <a:pPr algn="ctr"/>
              <a:r>
                <a:rPr lang="en-US" sz="1200" dirty="0">
                  <a:cs typeface="Arial" panose="020B0604020202020204" pitchFamily="34" charset="0"/>
                </a:rPr>
                <a:t>IPv6</a:t>
              </a:r>
            </a:p>
          </p:txBody>
        </p:sp>
        <p:sp>
          <p:nvSpPr>
            <p:cNvPr id="55" name="文本框 54"/>
            <p:cNvSpPr txBox="1"/>
            <p:nvPr/>
          </p:nvSpPr>
          <p:spPr bwMode="gray">
            <a:xfrm>
              <a:off x="11077809" y="5560632"/>
              <a:ext cx="521635" cy="302275"/>
            </a:xfrm>
            <a:prstGeom prst="rect">
              <a:avLst/>
            </a:prstGeom>
            <a:noFill/>
          </p:spPr>
          <p:txBody>
            <a:bodyPr wrap="none" rtlCol="0">
              <a:spAutoFit/>
            </a:bodyPr>
            <a:lstStyle/>
            <a:p>
              <a:pPr algn="ctr"/>
              <a:r>
                <a:rPr lang="en-US" sz="1200" dirty="0">
                  <a:cs typeface="Arial" panose="020B0604020202020204" pitchFamily="34" charset="0"/>
                </a:rPr>
                <a:t>IPv4</a:t>
              </a:r>
            </a:p>
          </p:txBody>
        </p:sp>
        <p:pic>
          <p:nvPicPr>
            <p:cNvPr id="56" name="图片 5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9629882" y="5447258"/>
              <a:ext cx="540000" cy="442174"/>
            </a:xfrm>
            <a:prstGeom prst="rect">
              <a:avLst/>
            </a:prstGeom>
          </p:spPr>
        </p:pic>
        <p:cxnSp>
          <p:nvCxnSpPr>
            <p:cNvPr id="57" name="直接连接符 56"/>
            <p:cNvCxnSpPr/>
            <p:nvPr/>
          </p:nvCxnSpPr>
          <p:spPr bwMode="gray">
            <a:xfrm flipH="1">
              <a:off x="8905881" y="5705405"/>
              <a:ext cx="696179" cy="0"/>
            </a:xfrm>
            <a:prstGeom prst="line">
              <a:avLst/>
            </a:prstGeom>
            <a:ln w="19050">
              <a:solidFill>
                <a:srgbClr val="30B5C5"/>
              </a:solidFill>
              <a:headEnd type="triangle"/>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gray">
            <a:xfrm flipH="1">
              <a:off x="10197592" y="5705405"/>
              <a:ext cx="696179"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bwMode="gray">
            <a:xfrm>
              <a:off x="9235386" y="5903549"/>
              <a:ext cx="1324553" cy="302275"/>
            </a:xfrm>
            <a:prstGeom prst="rect">
              <a:avLst/>
            </a:prstGeom>
            <a:noFill/>
          </p:spPr>
          <p:txBody>
            <a:bodyPr wrap="none" rtlCol="0">
              <a:spAutoFit/>
            </a:bodyPr>
            <a:lstStyle/>
            <a:p>
              <a:pPr algn="ctr"/>
              <a:r>
                <a:rPr lang="en-US" sz="1200" dirty="0" smtClean="0">
                  <a:cs typeface="Arial" panose="020B0604020202020204" pitchFamily="34" charset="0"/>
                </a:rPr>
                <a:t>NAT64/</a:t>
              </a:r>
              <a:r>
                <a:rPr lang="en-US" altLang="zh-CN" sz="1200" dirty="0" smtClean="0">
                  <a:cs typeface="Arial" panose="020B0604020202020204" pitchFamily="34" charset="0"/>
                </a:rPr>
                <a:t>IVI</a:t>
              </a:r>
              <a:r>
                <a:rPr lang="zh-CN" altLang="en-US" sz="1200" dirty="0" smtClean="0">
                  <a:cs typeface="Arial" panose="020B0604020202020204" pitchFamily="34" charset="0"/>
                </a:rPr>
                <a:t>网关</a:t>
              </a:r>
              <a:endParaRPr lang="en-US" sz="1200" dirty="0">
                <a:cs typeface="Arial" panose="020B0604020202020204" pitchFamily="34" charset="0"/>
              </a:endParaRPr>
            </a:p>
          </p:txBody>
        </p:sp>
        <p:pic>
          <p:nvPicPr>
            <p:cNvPr id="60" name="图片 59"/>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9899882" y="4778868"/>
              <a:ext cx="540000" cy="442800"/>
            </a:xfrm>
            <a:prstGeom prst="rect">
              <a:avLst/>
            </a:prstGeom>
          </p:spPr>
        </p:pic>
        <p:sp>
          <p:nvSpPr>
            <p:cNvPr id="61" name="文本框 60"/>
            <p:cNvSpPr txBox="1"/>
            <p:nvPr/>
          </p:nvSpPr>
          <p:spPr bwMode="gray">
            <a:xfrm>
              <a:off x="10434099" y="4841294"/>
              <a:ext cx="540877" cy="302275"/>
            </a:xfrm>
            <a:prstGeom prst="rect">
              <a:avLst/>
            </a:prstGeom>
            <a:noFill/>
          </p:spPr>
          <p:txBody>
            <a:bodyPr wrap="none" rtlCol="0">
              <a:spAutoFit/>
            </a:bodyPr>
            <a:lstStyle/>
            <a:p>
              <a:pPr algn="ctr"/>
              <a:r>
                <a:rPr lang="en-US" sz="1200" dirty="0" smtClean="0">
                  <a:cs typeface="Arial" panose="020B0604020202020204" pitchFamily="34" charset="0"/>
                </a:rPr>
                <a:t>DNS</a:t>
              </a:r>
              <a:endParaRPr lang="en-US" sz="1200" dirty="0">
                <a:cs typeface="Arial" panose="020B0604020202020204" pitchFamily="34" charset="0"/>
              </a:endParaRPr>
            </a:p>
          </p:txBody>
        </p:sp>
      </p:grpSp>
      <p:cxnSp>
        <p:nvCxnSpPr>
          <p:cNvPr id="62" name="直接连接符 61"/>
          <p:cNvCxnSpPr/>
          <p:nvPr/>
        </p:nvCxnSpPr>
        <p:spPr bwMode="gray">
          <a:xfrm flipH="1">
            <a:off x="785885" y="5787995"/>
            <a:ext cx="315967" cy="0"/>
          </a:xfrm>
          <a:prstGeom prst="line">
            <a:avLst/>
          </a:prstGeom>
          <a:ln w="19050">
            <a:solidFill>
              <a:srgbClr val="30B5C5"/>
            </a:solidFill>
            <a:head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bwMode="gray">
          <a:xfrm flipH="1">
            <a:off x="767541" y="5972341"/>
            <a:ext cx="315967"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bwMode="gray">
          <a:xfrm>
            <a:off x="1016106" y="5649496"/>
            <a:ext cx="864340" cy="276999"/>
          </a:xfrm>
          <a:prstGeom prst="rect">
            <a:avLst/>
          </a:prstGeom>
          <a:noFill/>
        </p:spPr>
        <p:txBody>
          <a:bodyPr wrap="none" rtlCol="0">
            <a:spAutoFit/>
          </a:bodyPr>
          <a:lstStyle/>
          <a:p>
            <a:pPr algn="ctr"/>
            <a:r>
              <a:rPr lang="en-US" sz="1200" dirty="0">
                <a:solidFill>
                  <a:srgbClr val="30B5C5"/>
                </a:solidFill>
                <a:cs typeface="Arial" panose="020B0604020202020204" pitchFamily="34" charset="0"/>
              </a:rPr>
              <a:t>IPv6 </a:t>
            </a:r>
            <a:r>
              <a:rPr lang="en-US" altLang="zh-CN" sz="1200" dirty="0" smtClean="0">
                <a:solidFill>
                  <a:srgbClr val="30B5C5"/>
                </a:solidFill>
                <a:cs typeface="Arial" panose="020B0604020202020204" pitchFamily="34" charset="0"/>
              </a:rPr>
              <a:t>D</a:t>
            </a:r>
            <a:r>
              <a:rPr lang="en-US" sz="1200" dirty="0" smtClean="0">
                <a:solidFill>
                  <a:srgbClr val="30B5C5"/>
                </a:solidFill>
                <a:cs typeface="Arial" panose="020B0604020202020204" pitchFamily="34" charset="0"/>
              </a:rPr>
              <a:t>ata</a:t>
            </a:r>
            <a:endParaRPr lang="en-US" sz="1200" dirty="0">
              <a:solidFill>
                <a:srgbClr val="30B5C5"/>
              </a:solidFill>
              <a:cs typeface="Arial" panose="020B0604020202020204" pitchFamily="34" charset="0"/>
            </a:endParaRPr>
          </a:p>
        </p:txBody>
      </p:sp>
      <p:sp>
        <p:nvSpPr>
          <p:cNvPr id="65" name="文本框 64"/>
          <p:cNvSpPr txBox="1"/>
          <p:nvPr/>
        </p:nvSpPr>
        <p:spPr bwMode="gray">
          <a:xfrm>
            <a:off x="1020118" y="5833842"/>
            <a:ext cx="864340" cy="276999"/>
          </a:xfrm>
          <a:prstGeom prst="rect">
            <a:avLst/>
          </a:prstGeom>
          <a:noFill/>
        </p:spPr>
        <p:txBody>
          <a:bodyPr wrap="none" rtlCol="0">
            <a:spAutoFit/>
          </a:bodyPr>
          <a:lstStyle/>
          <a:p>
            <a:pPr algn="ctr"/>
            <a:r>
              <a:rPr lang="en-US" sz="1200" dirty="0">
                <a:solidFill>
                  <a:srgbClr val="62B230"/>
                </a:solidFill>
                <a:cs typeface="Arial" panose="020B0604020202020204" pitchFamily="34" charset="0"/>
              </a:rPr>
              <a:t>IPv4 </a:t>
            </a:r>
            <a:r>
              <a:rPr lang="en-US" altLang="zh-CN" sz="1200" dirty="0" smtClean="0">
                <a:solidFill>
                  <a:srgbClr val="62B230"/>
                </a:solidFill>
                <a:cs typeface="Arial" panose="020B0604020202020204" pitchFamily="34" charset="0"/>
              </a:rPr>
              <a:t>D</a:t>
            </a:r>
            <a:r>
              <a:rPr lang="en-US" sz="1200" dirty="0" smtClean="0">
                <a:solidFill>
                  <a:srgbClr val="62B230"/>
                </a:solidFill>
                <a:cs typeface="Arial" panose="020B0604020202020204" pitchFamily="34" charset="0"/>
              </a:rPr>
              <a:t>ata</a:t>
            </a:r>
            <a:endParaRPr lang="en-US" sz="1200" dirty="0">
              <a:solidFill>
                <a:srgbClr val="62B230"/>
              </a:solidFill>
              <a:cs typeface="Arial" panose="020B0604020202020204" pitchFamily="34" charset="0"/>
            </a:endParaRPr>
          </a:p>
        </p:txBody>
      </p:sp>
      <p:sp>
        <p:nvSpPr>
          <p:cNvPr id="73" name="五边形 72"/>
          <p:cNvSpPr/>
          <p:nvPr/>
        </p:nvSpPr>
        <p:spPr bwMode="gray">
          <a:xfrm>
            <a:off x="6135155" y="126936"/>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74" name="燕尾形 73"/>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75" name="燕尾形 74"/>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6VPE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燕尾形 77"/>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燕尾形 78"/>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0" name="组合 79"/>
          <p:cNvGrpSpPr/>
          <p:nvPr/>
        </p:nvGrpSpPr>
        <p:grpSpPr bwMode="gray">
          <a:xfrm>
            <a:off x="4563158" y="5427280"/>
            <a:ext cx="2984390" cy="707989"/>
            <a:chOff x="4283070" y="5031441"/>
            <a:chExt cx="3702316" cy="878303"/>
          </a:xfrm>
        </p:grpSpPr>
        <p:sp>
          <p:nvSpPr>
            <p:cNvPr id="81" name="Freeform 159"/>
            <p:cNvSpPr/>
            <p:nvPr/>
          </p:nvSpPr>
          <p:spPr bwMode="gray">
            <a:xfrm flipH="1">
              <a:off x="7233748" y="5373468"/>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82" name="Freeform 159"/>
            <p:cNvSpPr/>
            <p:nvPr/>
          </p:nvSpPr>
          <p:spPr bwMode="gray">
            <a:xfrm flipH="1">
              <a:off x="5383635" y="5139639"/>
              <a:ext cx="1440523" cy="7567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cxnSp>
          <p:nvCxnSpPr>
            <p:cNvPr id="83" name="直接连接符 82"/>
            <p:cNvCxnSpPr>
              <a:stCxn id="86" idx="3"/>
              <a:endCxn id="89" idx="1"/>
            </p:cNvCxnSpPr>
            <p:nvPr/>
          </p:nvCxnSpPr>
          <p:spPr bwMode="gray">
            <a:xfrm>
              <a:off x="5459445" y="5590796"/>
              <a:ext cx="1304592" cy="0"/>
            </a:xfrm>
            <a:prstGeom prst="line">
              <a:avLst/>
            </a:prstGeom>
            <a:ln w="57150">
              <a:solidFill>
                <a:srgbClr val="C7000B"/>
              </a:solidFill>
            </a:ln>
          </p:spPr>
          <p:style>
            <a:lnRef idx="1">
              <a:schemeClr val="accent1"/>
            </a:lnRef>
            <a:fillRef idx="0">
              <a:schemeClr val="accent1"/>
            </a:fillRef>
            <a:effectRef idx="0">
              <a:schemeClr val="accent1"/>
            </a:effectRef>
            <a:fontRef idx="minor">
              <a:schemeClr val="tx1"/>
            </a:fontRef>
          </p:style>
        </p:cxnSp>
        <p:sp>
          <p:nvSpPr>
            <p:cNvPr id="84" name="Freeform 159"/>
            <p:cNvSpPr/>
            <p:nvPr/>
          </p:nvSpPr>
          <p:spPr bwMode="gray">
            <a:xfrm flipH="1">
              <a:off x="4283070" y="5373468"/>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85" name="文本框 84"/>
            <p:cNvSpPr txBox="1"/>
            <p:nvPr/>
          </p:nvSpPr>
          <p:spPr bwMode="gray">
            <a:xfrm>
              <a:off x="4336281" y="5469721"/>
              <a:ext cx="593008" cy="343634"/>
            </a:xfrm>
            <a:prstGeom prst="rect">
              <a:avLst/>
            </a:prstGeom>
            <a:noFill/>
          </p:spPr>
          <p:txBody>
            <a:bodyPr wrap="none" rtlCol="0">
              <a:spAutoFit/>
            </a:bodyPr>
            <a:lstStyle/>
            <a:p>
              <a:pPr algn="ctr"/>
              <a:r>
                <a:rPr lang="en-US" sz="1200" dirty="0" smtClean="0">
                  <a:cs typeface="Arial" panose="020B0604020202020204" pitchFamily="34" charset="0"/>
                </a:rPr>
                <a:t>IPv4</a:t>
              </a:r>
              <a:endParaRPr lang="en-US" sz="1200" dirty="0">
                <a:cs typeface="Arial" panose="020B0604020202020204" pitchFamily="34" charset="0"/>
              </a:endParaRPr>
            </a:p>
          </p:txBody>
        </p:sp>
        <p:pic>
          <p:nvPicPr>
            <p:cNvPr id="86" name="图片 8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919446" y="5369396"/>
              <a:ext cx="540000" cy="442800"/>
            </a:xfrm>
            <a:prstGeom prst="rect">
              <a:avLst/>
            </a:prstGeom>
          </p:spPr>
        </p:pic>
        <p:sp>
          <p:nvSpPr>
            <p:cNvPr id="87" name="文本框 86"/>
            <p:cNvSpPr txBox="1"/>
            <p:nvPr/>
          </p:nvSpPr>
          <p:spPr bwMode="gray">
            <a:xfrm>
              <a:off x="7254234" y="5474608"/>
              <a:ext cx="593008" cy="343634"/>
            </a:xfrm>
            <a:prstGeom prst="rect">
              <a:avLst/>
            </a:prstGeom>
            <a:noFill/>
          </p:spPr>
          <p:txBody>
            <a:bodyPr wrap="none" rtlCol="0">
              <a:spAutoFit/>
            </a:bodyPr>
            <a:lstStyle/>
            <a:p>
              <a:pPr algn="ctr"/>
              <a:r>
                <a:rPr lang="en-US" sz="1200" dirty="0" smtClean="0">
                  <a:cs typeface="Arial" panose="020B0604020202020204" pitchFamily="34" charset="0"/>
                </a:rPr>
                <a:t>IPv4</a:t>
              </a:r>
              <a:endParaRPr lang="en-US" sz="1200" dirty="0">
                <a:cs typeface="Arial" panose="020B0604020202020204" pitchFamily="34" charset="0"/>
              </a:endParaRPr>
            </a:p>
          </p:txBody>
        </p:sp>
        <p:cxnSp>
          <p:nvCxnSpPr>
            <p:cNvPr id="88" name="直接连接符 87"/>
            <p:cNvCxnSpPr/>
            <p:nvPr/>
          </p:nvCxnSpPr>
          <p:spPr bwMode="gray">
            <a:xfrm flipH="1" flipV="1">
              <a:off x="4426045" y="5308478"/>
              <a:ext cx="493401"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pic>
          <p:nvPicPr>
            <p:cNvPr id="89" name="图片 8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764038" y="5369396"/>
              <a:ext cx="540000" cy="442800"/>
            </a:xfrm>
            <a:prstGeom prst="rect">
              <a:avLst/>
            </a:prstGeom>
          </p:spPr>
        </p:pic>
        <p:sp>
          <p:nvSpPr>
            <p:cNvPr id="90" name="文本框 89"/>
            <p:cNvSpPr txBox="1"/>
            <p:nvPr/>
          </p:nvSpPr>
          <p:spPr bwMode="gray">
            <a:xfrm>
              <a:off x="5785443" y="5252839"/>
              <a:ext cx="593008" cy="343634"/>
            </a:xfrm>
            <a:prstGeom prst="rect">
              <a:avLst/>
            </a:prstGeom>
            <a:noFill/>
          </p:spPr>
          <p:txBody>
            <a:bodyPr wrap="none" rtlCol="0">
              <a:spAutoFit/>
            </a:bodyPr>
            <a:lstStyle/>
            <a:p>
              <a:pPr algn="ctr"/>
              <a:r>
                <a:rPr lang="en-US" sz="1200" dirty="0" smtClean="0">
                  <a:cs typeface="Arial" panose="020B0604020202020204" pitchFamily="34" charset="0"/>
                </a:rPr>
                <a:t>IPv6</a:t>
              </a:r>
              <a:endParaRPr lang="en-US" sz="1200" dirty="0">
                <a:cs typeface="Arial" panose="020B0604020202020204" pitchFamily="34" charset="0"/>
              </a:endParaRPr>
            </a:p>
          </p:txBody>
        </p:sp>
        <p:sp>
          <p:nvSpPr>
            <p:cNvPr id="91" name="文本框 90"/>
            <p:cNvSpPr txBox="1"/>
            <p:nvPr/>
          </p:nvSpPr>
          <p:spPr bwMode="gray">
            <a:xfrm>
              <a:off x="5728454" y="5583555"/>
              <a:ext cx="781873" cy="326189"/>
            </a:xfrm>
            <a:prstGeom prst="rect">
              <a:avLst/>
            </a:prstGeom>
            <a:noFill/>
          </p:spPr>
          <p:txBody>
            <a:bodyPr wrap="none" rtlCol="0">
              <a:spAutoFit/>
            </a:bodyPr>
            <a:lstStyle/>
            <a:p>
              <a:pPr algn="ctr"/>
              <a:r>
                <a:rPr lang="en-US" sz="1200" dirty="0" smtClean="0">
                  <a:solidFill>
                    <a:srgbClr val="C7000B"/>
                  </a:solidFill>
                  <a:cs typeface="Arial" panose="020B0604020202020204" pitchFamily="34" charset="0"/>
                </a:rPr>
                <a:t>T</a:t>
              </a:r>
              <a:r>
                <a:rPr lang="en-US" altLang="zh-CN" sz="1200" dirty="0" smtClean="0">
                  <a:solidFill>
                    <a:srgbClr val="C7000B"/>
                  </a:solidFill>
                  <a:cs typeface="Arial" panose="020B0604020202020204" pitchFamily="34" charset="0"/>
                </a:rPr>
                <a:t>unnel</a:t>
              </a:r>
              <a:endParaRPr lang="en-US" sz="1200" dirty="0">
                <a:solidFill>
                  <a:srgbClr val="C7000B"/>
                </a:solidFill>
                <a:cs typeface="Arial" panose="020B0604020202020204" pitchFamily="34" charset="0"/>
              </a:endParaRPr>
            </a:p>
          </p:txBody>
        </p:sp>
        <p:cxnSp>
          <p:nvCxnSpPr>
            <p:cNvPr id="92" name="直接连接符 91"/>
            <p:cNvCxnSpPr/>
            <p:nvPr/>
          </p:nvCxnSpPr>
          <p:spPr bwMode="gray">
            <a:xfrm flipH="1" flipV="1">
              <a:off x="7304038" y="5308478"/>
              <a:ext cx="493401"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93" name="任意多边形 92"/>
            <p:cNvSpPr/>
            <p:nvPr/>
          </p:nvSpPr>
          <p:spPr bwMode="gray">
            <a:xfrm>
              <a:off x="5237485" y="5031441"/>
              <a:ext cx="1634837" cy="304378"/>
            </a:xfrm>
            <a:custGeom>
              <a:avLst/>
              <a:gdLst>
                <a:gd name="connsiteX0" fmla="*/ 0 w 1634836"/>
                <a:gd name="connsiteY0" fmla="*/ 346453 h 374162"/>
                <a:gd name="connsiteX1" fmla="*/ 858982 w 1634836"/>
                <a:gd name="connsiteY1" fmla="*/ 89 h 374162"/>
                <a:gd name="connsiteX2" fmla="*/ 1634836 w 1634836"/>
                <a:gd name="connsiteY2" fmla="*/ 374162 h 374162"/>
              </a:gdLst>
              <a:ahLst/>
              <a:cxnLst>
                <a:cxn ang="0">
                  <a:pos x="connsiteX0" y="connsiteY0"/>
                </a:cxn>
                <a:cxn ang="0">
                  <a:pos x="connsiteX1" y="connsiteY1"/>
                </a:cxn>
                <a:cxn ang="0">
                  <a:pos x="connsiteX2" y="connsiteY2"/>
                </a:cxn>
              </a:cxnLst>
              <a:rect l="l" t="t" r="r" b="b"/>
              <a:pathLst>
                <a:path w="1634836" h="374162">
                  <a:moveTo>
                    <a:pt x="0" y="346453"/>
                  </a:moveTo>
                  <a:cubicBezTo>
                    <a:pt x="293254" y="170962"/>
                    <a:pt x="586509" y="-4529"/>
                    <a:pt x="858982" y="89"/>
                  </a:cubicBezTo>
                  <a:cubicBezTo>
                    <a:pt x="1131455" y="4707"/>
                    <a:pt x="1383145" y="189434"/>
                    <a:pt x="1634836" y="374162"/>
                  </a:cubicBezTo>
                </a:path>
              </a:pathLst>
            </a:custGeom>
            <a:ln w="19050">
              <a:solidFill>
                <a:srgbClr val="30B5C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grpSp>
    </p:spTree>
    <p:extLst>
      <p:ext uri="{BB962C8B-B14F-4D97-AF65-F5344CB8AC3E}">
        <p14:creationId xmlns:p14="http://schemas.microsoft.com/office/powerpoint/2010/main" val="4400955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159"/>
          <p:cNvSpPr/>
          <p:nvPr/>
        </p:nvSpPr>
        <p:spPr bwMode="gray">
          <a:xfrm flipH="1">
            <a:off x="1350127" y="2798389"/>
            <a:ext cx="937298" cy="48995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22" name="文本框 21"/>
          <p:cNvSpPr txBox="1"/>
          <p:nvPr/>
        </p:nvSpPr>
        <p:spPr bwMode="gray">
          <a:xfrm>
            <a:off x="1554208" y="2939388"/>
            <a:ext cx="478015" cy="276999"/>
          </a:xfrm>
          <a:prstGeom prst="rect">
            <a:avLst/>
          </a:prstGeom>
          <a:noFill/>
        </p:spPr>
        <p:txBody>
          <a:bodyPr wrap="none" rtlCol="0">
            <a:spAutoFit/>
          </a:bodyPr>
          <a:lstStyle/>
          <a:p>
            <a:pPr algn="ctr"/>
            <a:r>
              <a:rPr lang="en-US" sz="1200" dirty="0">
                <a:cs typeface="Arial" panose="020B0604020202020204" pitchFamily="34" charset="0"/>
              </a:rPr>
              <a:t>IPv6</a:t>
            </a:r>
          </a:p>
        </p:txBody>
      </p:sp>
      <p:sp>
        <p:nvSpPr>
          <p:cNvPr id="2" name="标题 1"/>
          <p:cNvSpPr>
            <a:spLocks noGrp="1"/>
          </p:cNvSpPr>
          <p:nvPr>
            <p:ph type="title"/>
          </p:nvPr>
        </p:nvSpPr>
        <p:spPr bwMode="gray"/>
        <p:txBody>
          <a:bodyPr/>
          <a:lstStyle/>
          <a:p>
            <a:r>
              <a:rPr lang="zh-CN" altLang="en-US" dirty="0" smtClean="0"/>
              <a:t>隧道技术：</a:t>
            </a:r>
            <a:r>
              <a:rPr lang="en-US" altLang="zh-CN" dirty="0" smtClean="0"/>
              <a:t>IPv6 over IPv4</a:t>
            </a:r>
            <a:endParaRPr lang="zh-CN" altLang="en-US" dirty="0"/>
          </a:p>
        </p:txBody>
      </p:sp>
      <p:sp>
        <p:nvSpPr>
          <p:cNvPr id="3" name="文本占位符 2"/>
          <p:cNvSpPr>
            <a:spLocks noGrp="1"/>
          </p:cNvSpPr>
          <p:nvPr>
            <p:ph type="body" sz="quarter" idx="10"/>
          </p:nvPr>
        </p:nvSpPr>
        <p:spPr bwMode="gray">
          <a:xfrm>
            <a:off x="455612" y="1047750"/>
            <a:ext cx="11293475" cy="941331"/>
          </a:xfrm>
        </p:spPr>
        <p:txBody>
          <a:bodyPr/>
          <a:lstStyle/>
          <a:p>
            <a:r>
              <a:rPr lang="en-US" altLang="zh-CN" sz="1800" dirty="0" smtClean="0"/>
              <a:t>IPv6 </a:t>
            </a:r>
            <a:r>
              <a:rPr lang="en-US" altLang="zh-CN" sz="1800" dirty="0"/>
              <a:t>over </a:t>
            </a:r>
            <a:r>
              <a:rPr lang="en-US" altLang="zh-CN" sz="1800" dirty="0" smtClean="0"/>
              <a:t>IPv4</a:t>
            </a:r>
            <a:r>
              <a:rPr lang="zh-CN" altLang="en-US" sz="1800" dirty="0" smtClean="0"/>
              <a:t>是</a:t>
            </a:r>
            <a:r>
              <a:rPr lang="zh-CN" altLang="en-US" sz="1800" dirty="0"/>
              <a:t>通过隧道技术，使</a:t>
            </a:r>
            <a:r>
              <a:rPr lang="en-US" altLang="zh-CN" sz="1800" dirty="0"/>
              <a:t>IPv6</a:t>
            </a:r>
            <a:r>
              <a:rPr lang="zh-CN" altLang="en-US" sz="1800" dirty="0"/>
              <a:t>报文在</a:t>
            </a:r>
            <a:r>
              <a:rPr lang="en-US" altLang="zh-CN" sz="1800" dirty="0"/>
              <a:t>IPv4</a:t>
            </a:r>
            <a:r>
              <a:rPr lang="zh-CN" altLang="en-US" sz="1800" dirty="0"/>
              <a:t>网络中传输，实现</a:t>
            </a:r>
            <a:r>
              <a:rPr lang="en-US" altLang="zh-CN" sz="1800" dirty="0"/>
              <a:t>IPv6</a:t>
            </a:r>
            <a:r>
              <a:rPr lang="zh-CN" altLang="en-US" sz="1800" dirty="0"/>
              <a:t>网络之间的孤岛互连</a:t>
            </a:r>
            <a:r>
              <a:rPr lang="zh-CN" altLang="en-US" sz="1800" dirty="0" smtClean="0"/>
              <a:t>。</a:t>
            </a:r>
            <a:endParaRPr lang="en-US" altLang="zh-CN" sz="1800" dirty="0" smtClean="0"/>
          </a:p>
          <a:p>
            <a:r>
              <a:rPr lang="en-US" altLang="zh-CN" sz="1800" dirty="0"/>
              <a:t>IPv6 over IPv4</a:t>
            </a:r>
            <a:r>
              <a:rPr lang="zh-CN" altLang="en-US" sz="1800" dirty="0" smtClean="0"/>
              <a:t>隧道原理：</a:t>
            </a:r>
            <a:endParaRPr lang="zh-CN" altLang="en-US" sz="1800" dirty="0"/>
          </a:p>
        </p:txBody>
      </p:sp>
      <p:sp>
        <p:nvSpPr>
          <p:cNvPr id="4" name="Freeform 159"/>
          <p:cNvSpPr/>
          <p:nvPr/>
        </p:nvSpPr>
        <p:spPr bwMode="gray">
          <a:xfrm flipH="1">
            <a:off x="5075429" y="2798389"/>
            <a:ext cx="937298" cy="48995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5" name="Freeform 159"/>
          <p:cNvSpPr/>
          <p:nvPr/>
        </p:nvSpPr>
        <p:spPr bwMode="gray">
          <a:xfrm flipH="1">
            <a:off x="2614644" y="2302905"/>
            <a:ext cx="2158522" cy="119990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150457" y="2861818"/>
            <a:ext cx="540000" cy="442800"/>
          </a:xfrm>
          <a:prstGeom prst="rect">
            <a:avLst/>
          </a:prstGeom>
        </p:spPr>
      </p:pic>
      <p:sp>
        <p:nvSpPr>
          <p:cNvPr id="10" name="文本框 9"/>
          <p:cNvSpPr txBox="1"/>
          <p:nvPr/>
        </p:nvSpPr>
        <p:spPr bwMode="gray">
          <a:xfrm>
            <a:off x="5279510" y="2939388"/>
            <a:ext cx="478015" cy="276999"/>
          </a:xfrm>
          <a:prstGeom prst="rect">
            <a:avLst/>
          </a:prstGeom>
          <a:noFill/>
        </p:spPr>
        <p:txBody>
          <a:bodyPr wrap="none" rtlCol="0">
            <a:spAutoFit/>
          </a:bodyPr>
          <a:lstStyle/>
          <a:p>
            <a:pPr algn="ctr"/>
            <a:r>
              <a:rPr lang="en-US" sz="1200" dirty="0">
                <a:cs typeface="Arial" panose="020B0604020202020204" pitchFamily="34" charset="0"/>
              </a:rPr>
              <a:t>IPv6</a:t>
            </a:r>
          </a:p>
        </p:txBody>
      </p:sp>
      <p:cxnSp>
        <p:nvCxnSpPr>
          <p:cNvPr id="11" name="直接连接符 10"/>
          <p:cNvCxnSpPr/>
          <p:nvPr/>
        </p:nvCxnSpPr>
        <p:spPr bwMode="gray">
          <a:xfrm>
            <a:off x="3710835" y="3307591"/>
            <a:ext cx="0" cy="828000"/>
          </a:xfrm>
          <a:prstGeom prst="line">
            <a:avLst/>
          </a:prstGeom>
          <a:ln w="19050">
            <a:solidFill>
              <a:srgbClr val="56C4D2"/>
            </a:solidFill>
            <a:headEnd type="triangle"/>
          </a:ln>
        </p:spPr>
        <p:style>
          <a:lnRef idx="1">
            <a:schemeClr val="accent1"/>
          </a:lnRef>
          <a:fillRef idx="0">
            <a:schemeClr val="accent1"/>
          </a:fillRef>
          <a:effectRef idx="0">
            <a:schemeClr val="accent1"/>
          </a:effectRef>
          <a:fontRef idx="minor">
            <a:schemeClr val="tx1"/>
          </a:fontRef>
        </p:style>
      </p:cxnSp>
      <p:pic>
        <p:nvPicPr>
          <p:cNvPr id="12" name="图片 1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642045" y="2861818"/>
            <a:ext cx="540000" cy="442800"/>
          </a:xfrm>
          <a:prstGeom prst="rect">
            <a:avLst/>
          </a:prstGeom>
        </p:spPr>
      </p:pic>
      <p:sp>
        <p:nvSpPr>
          <p:cNvPr id="13" name="文本框 12"/>
          <p:cNvSpPr txBox="1"/>
          <p:nvPr/>
        </p:nvSpPr>
        <p:spPr bwMode="gray">
          <a:xfrm>
            <a:off x="3430050" y="2539306"/>
            <a:ext cx="527709" cy="307777"/>
          </a:xfrm>
          <a:prstGeom prst="rect">
            <a:avLst/>
          </a:prstGeom>
          <a:noFill/>
        </p:spPr>
        <p:txBody>
          <a:bodyPr wrap="none" rtlCol="0">
            <a:spAutoFit/>
          </a:bodyPr>
          <a:lstStyle/>
          <a:p>
            <a:pPr algn="ctr"/>
            <a:r>
              <a:rPr lang="en-US" sz="1400" dirty="0">
                <a:cs typeface="Arial" panose="020B0604020202020204" pitchFamily="34" charset="0"/>
              </a:rPr>
              <a:t>IPv4</a:t>
            </a:r>
          </a:p>
        </p:txBody>
      </p:sp>
      <p:sp>
        <p:nvSpPr>
          <p:cNvPr id="18" name="Can 9"/>
          <p:cNvSpPr/>
          <p:nvPr/>
        </p:nvSpPr>
        <p:spPr bwMode="gray">
          <a:xfrm rot="5400000">
            <a:off x="3549888" y="2114201"/>
            <a:ext cx="253196" cy="1896281"/>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auto">
          <a:xfrm>
            <a:off x="2728346" y="2927682"/>
            <a:ext cx="1807513" cy="276999"/>
          </a:xfrm>
          <a:prstGeom prst="rect">
            <a:avLst/>
          </a:prstGeom>
          <a:noFill/>
        </p:spPr>
        <p:txBody>
          <a:bodyPr wrap="square" rtlCol="0">
            <a:spAutoFit/>
          </a:bodyPr>
          <a:lstStyle/>
          <a:p>
            <a:pPr algn="ctr"/>
            <a:r>
              <a:rPr lang="en-US" sz="1200" b="1" dirty="0">
                <a:solidFill>
                  <a:srgbClr val="56C4D2"/>
                </a:solidFill>
                <a:cs typeface="Arial" panose="020B0604020202020204" pitchFamily="34" charset="0"/>
              </a:rPr>
              <a:t>IPv6 Over </a:t>
            </a:r>
            <a:r>
              <a:rPr lang="en-US" sz="1200" b="1" dirty="0" smtClean="0">
                <a:solidFill>
                  <a:srgbClr val="56C4D2"/>
                </a:solidFill>
                <a:cs typeface="Arial" panose="020B0604020202020204" pitchFamily="34" charset="0"/>
              </a:rPr>
              <a:t>IPv4 T</a:t>
            </a:r>
            <a:r>
              <a:rPr lang="en-US" altLang="zh-CN" sz="1200" b="1" dirty="0" smtClean="0">
                <a:solidFill>
                  <a:srgbClr val="56C4D2"/>
                </a:solidFill>
                <a:cs typeface="Arial" panose="020B0604020202020204" pitchFamily="34" charset="0"/>
              </a:rPr>
              <a:t>unnel</a:t>
            </a:r>
            <a:endParaRPr lang="en-US" sz="1200" b="1" dirty="0">
              <a:solidFill>
                <a:srgbClr val="56C4D2"/>
              </a:solidFill>
              <a:cs typeface="Arial" panose="020B0604020202020204" pitchFamily="34" charset="0"/>
            </a:endParaRPr>
          </a:p>
        </p:txBody>
      </p:sp>
      <p:pic>
        <p:nvPicPr>
          <p:cNvPr id="19" name="图片 18" descr="PC.png"/>
          <p:cNvPicPr>
            <a:picLocks noChangeAspect="1"/>
          </p:cNvPicPr>
          <p:nvPr/>
        </p:nvPicPr>
        <p:blipFill>
          <a:blip r:embed="rId4" cstate="print"/>
          <a:stretch>
            <a:fillRect/>
          </a:stretch>
        </p:blipFill>
        <p:spPr bwMode="gray">
          <a:xfrm>
            <a:off x="5845246" y="2872263"/>
            <a:ext cx="445577" cy="342203"/>
          </a:xfrm>
          <a:prstGeom prst="rect">
            <a:avLst/>
          </a:prstGeom>
        </p:spPr>
      </p:pic>
      <p:sp>
        <p:nvSpPr>
          <p:cNvPr id="20" name="文本框 19"/>
          <p:cNvSpPr txBox="1"/>
          <p:nvPr/>
        </p:nvSpPr>
        <p:spPr bwMode="gray">
          <a:xfrm>
            <a:off x="5629509" y="2597590"/>
            <a:ext cx="853118" cy="276999"/>
          </a:xfrm>
          <a:prstGeom prst="rect">
            <a:avLst/>
          </a:prstGeom>
          <a:noFill/>
        </p:spPr>
        <p:txBody>
          <a:bodyPr wrap="none" rtlCol="0">
            <a:spAutoFit/>
          </a:bodyPr>
          <a:lstStyle/>
          <a:p>
            <a:pPr algn="ctr"/>
            <a:r>
              <a:rPr lang="en-US" sz="1200" dirty="0" smtClean="0">
                <a:cs typeface="Arial" panose="020B0604020202020204" pitchFamily="34" charset="0"/>
              </a:rPr>
              <a:t>IPv6 Host</a:t>
            </a:r>
            <a:endParaRPr lang="en-US" sz="1200" dirty="0">
              <a:cs typeface="Arial" panose="020B0604020202020204" pitchFamily="34" charset="0"/>
            </a:endParaRPr>
          </a:p>
        </p:txBody>
      </p:sp>
      <p:pic>
        <p:nvPicPr>
          <p:cNvPr id="23" name="图片 22" descr="PC.png"/>
          <p:cNvPicPr>
            <a:picLocks noChangeAspect="1"/>
          </p:cNvPicPr>
          <p:nvPr/>
        </p:nvPicPr>
        <p:blipFill>
          <a:blip r:embed="rId4" cstate="print"/>
          <a:stretch>
            <a:fillRect/>
          </a:stretch>
        </p:blipFill>
        <p:spPr bwMode="gray">
          <a:xfrm>
            <a:off x="1049660" y="2872263"/>
            <a:ext cx="445577" cy="342203"/>
          </a:xfrm>
          <a:prstGeom prst="rect">
            <a:avLst/>
          </a:prstGeom>
        </p:spPr>
      </p:pic>
      <p:sp>
        <p:nvSpPr>
          <p:cNvPr id="24" name="文本框 23"/>
          <p:cNvSpPr txBox="1"/>
          <p:nvPr/>
        </p:nvSpPr>
        <p:spPr bwMode="gray">
          <a:xfrm>
            <a:off x="833923" y="2597590"/>
            <a:ext cx="853118" cy="276999"/>
          </a:xfrm>
          <a:prstGeom prst="rect">
            <a:avLst/>
          </a:prstGeom>
          <a:noFill/>
        </p:spPr>
        <p:txBody>
          <a:bodyPr wrap="none" rtlCol="0">
            <a:spAutoFit/>
          </a:bodyPr>
          <a:lstStyle/>
          <a:p>
            <a:pPr algn="ctr"/>
            <a:r>
              <a:rPr lang="en-US" sz="1200" dirty="0" smtClean="0">
                <a:cs typeface="Arial" panose="020B0604020202020204" pitchFamily="34" charset="0"/>
              </a:rPr>
              <a:t>IPv6 Host</a:t>
            </a:r>
            <a:endParaRPr lang="en-US" sz="1200" dirty="0">
              <a:cs typeface="Arial" panose="020B0604020202020204" pitchFamily="34" charset="0"/>
            </a:endParaRPr>
          </a:p>
        </p:txBody>
      </p:sp>
      <p:sp>
        <p:nvSpPr>
          <p:cNvPr id="27" name="矩形 26"/>
          <p:cNvSpPr/>
          <p:nvPr/>
        </p:nvSpPr>
        <p:spPr bwMode="gray">
          <a:xfrm>
            <a:off x="4644883" y="3567731"/>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Header</a:t>
            </a:r>
            <a:endParaRPr lang="zh-CN" altLang="en-US" sz="1200" dirty="0">
              <a:solidFill>
                <a:schemeClr val="tx1"/>
              </a:solidFill>
            </a:endParaRPr>
          </a:p>
        </p:txBody>
      </p:sp>
      <p:sp>
        <p:nvSpPr>
          <p:cNvPr id="28" name="矩形 27"/>
          <p:cNvSpPr/>
          <p:nvPr/>
        </p:nvSpPr>
        <p:spPr bwMode="gray">
          <a:xfrm>
            <a:off x="5680702" y="3567731"/>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Data</a:t>
            </a:r>
            <a:endParaRPr lang="zh-CN" altLang="en-US" sz="1200" dirty="0">
              <a:solidFill>
                <a:schemeClr val="tx1"/>
              </a:solidFill>
            </a:endParaRPr>
          </a:p>
        </p:txBody>
      </p:sp>
      <p:sp>
        <p:nvSpPr>
          <p:cNvPr id="31" name="矩形 30"/>
          <p:cNvSpPr/>
          <p:nvPr/>
        </p:nvSpPr>
        <p:spPr bwMode="gray">
          <a:xfrm>
            <a:off x="2532231" y="4164515"/>
            <a:ext cx="1044000" cy="231899"/>
          </a:xfrm>
          <a:prstGeom prst="rect">
            <a:avLst/>
          </a:prstGeom>
          <a:solidFill>
            <a:srgbClr val="EAF8FA"/>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Header</a:t>
            </a:r>
            <a:endParaRPr lang="zh-CN" altLang="en-US" sz="1200" dirty="0">
              <a:solidFill>
                <a:schemeClr val="tx1"/>
              </a:solidFill>
            </a:endParaRPr>
          </a:p>
        </p:txBody>
      </p:sp>
      <p:sp>
        <p:nvSpPr>
          <p:cNvPr id="34" name="圆角矩形 75"/>
          <p:cNvSpPr/>
          <p:nvPr/>
        </p:nvSpPr>
        <p:spPr bwMode="gray">
          <a:xfrm>
            <a:off x="7181896" y="1742044"/>
            <a:ext cx="4489533" cy="3380056"/>
          </a:xfrm>
          <a:prstGeom prst="roundRect">
            <a:avLst>
              <a:gd name="adj" fmla="val 2049"/>
            </a:avLst>
          </a:prstGeom>
          <a:noFill/>
          <a:ln w="9525" cap="flat" cmpd="sng" algn="ctr">
            <a:noFill/>
            <a:prstDash val="solid"/>
            <a:miter lim="800000"/>
          </a:ln>
          <a:effectLst/>
        </p:spPr>
        <p:txBody>
          <a:bodyPr wrap="square" lIns="72000" tIns="72000" rIns="72000" bIns="72000" rtlCol="0" anchor="t" anchorCtr="0"/>
          <a:lstStyle/>
          <a:p>
            <a:pPr marL="342900" lvl="0" indent="-342900" defTabSz="914400">
              <a:lnSpc>
                <a:spcPct val="150000"/>
              </a:lnSpc>
              <a:buFont typeface="+mj-lt"/>
              <a:buAutoNum type="arabicPeriod"/>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边界设备</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启动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双协议栈，并配置</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 over 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a:t>
            </a:r>
          </a:p>
          <a:p>
            <a:pPr marL="342900" lvl="0" indent="-342900" defTabSz="914400">
              <a:lnSpc>
                <a:spcPct val="150000"/>
              </a:lnSpc>
              <a:buFont typeface="+mj-lt"/>
              <a:buAutoNum type="arabicPeriod"/>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收到</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从</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网络侧发来的报文后，如果报文的目的地址不是自身且下一</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跳为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Tunnel</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接口，就要把收到的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报文作为数据部分，加上</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报文头，封装成</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a:t>
            </a:r>
          </a:p>
          <a:p>
            <a:pPr marL="342900" lvl="0" indent="-342900" defTabSz="914400">
              <a:lnSpc>
                <a:spcPct val="150000"/>
              </a:lnSpc>
              <a:buFont typeface="+mj-lt"/>
              <a:buAutoNum type="arabicPeriod"/>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网络中，封装后的报文被传递到对端的边界</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设备</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defTabSz="914400">
              <a:lnSpc>
                <a:spcPct val="150000"/>
              </a:lnSpc>
              <a:buFont typeface="+mj-lt"/>
              <a:buAutoNum type="arabicPeriod"/>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对</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报文解封装，去掉</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报文头，然后将解封装后的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报文发送到</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网络中。</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bwMode="gray">
          <a:xfrm>
            <a:off x="3571681" y="4164515"/>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Header</a:t>
            </a:r>
            <a:endParaRPr lang="zh-CN" altLang="en-US" sz="1200" dirty="0">
              <a:solidFill>
                <a:schemeClr val="tx1"/>
              </a:solidFill>
            </a:endParaRPr>
          </a:p>
        </p:txBody>
      </p:sp>
      <p:sp>
        <p:nvSpPr>
          <p:cNvPr id="38" name="矩形 37"/>
          <p:cNvSpPr/>
          <p:nvPr/>
        </p:nvSpPr>
        <p:spPr bwMode="gray">
          <a:xfrm>
            <a:off x="4616927" y="4164515"/>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Data</a:t>
            </a:r>
            <a:endParaRPr lang="zh-CN" altLang="en-US" sz="1200" dirty="0">
              <a:solidFill>
                <a:schemeClr val="tx1"/>
              </a:solidFill>
            </a:endParaRPr>
          </a:p>
        </p:txBody>
      </p:sp>
      <p:sp>
        <p:nvSpPr>
          <p:cNvPr id="39" name="文本框 38"/>
          <p:cNvSpPr txBox="1"/>
          <p:nvPr/>
        </p:nvSpPr>
        <p:spPr bwMode="gray">
          <a:xfrm>
            <a:off x="2080866" y="3282625"/>
            <a:ext cx="673582" cy="276999"/>
          </a:xfrm>
          <a:prstGeom prst="rect">
            <a:avLst/>
          </a:prstGeom>
          <a:noFill/>
        </p:spPr>
        <p:txBody>
          <a:bodyPr wrap="none" rtlCol="0">
            <a:spAutoFit/>
          </a:bodyPr>
          <a:lstStyle/>
          <a:p>
            <a:pPr algn="ctr"/>
            <a:r>
              <a:rPr lang="en-US" altLang="zh-CN" sz="1200" dirty="0" smtClean="0">
                <a:cs typeface="Arial" panose="020B0604020202020204" pitchFamily="34" charset="0"/>
              </a:rPr>
              <a:t>R1</a:t>
            </a:r>
            <a:r>
              <a:rPr lang="zh-CN" altLang="en-US" sz="1200" dirty="0" smtClean="0">
                <a:cs typeface="Arial" panose="020B0604020202020204" pitchFamily="34" charset="0"/>
              </a:rPr>
              <a:t>双</a:t>
            </a:r>
            <a:r>
              <a:rPr lang="zh-CN" altLang="en-US" sz="1200" dirty="0">
                <a:cs typeface="Arial" panose="020B0604020202020204" pitchFamily="34" charset="0"/>
              </a:rPr>
              <a:t>栈</a:t>
            </a:r>
            <a:endParaRPr lang="en-US" sz="1200" dirty="0">
              <a:cs typeface="Arial" panose="020B0604020202020204" pitchFamily="34" charset="0"/>
            </a:endParaRPr>
          </a:p>
        </p:txBody>
      </p:sp>
      <p:sp>
        <p:nvSpPr>
          <p:cNvPr id="29" name="文本占位符 2"/>
          <p:cNvSpPr txBox="1">
            <a:spLocks/>
          </p:cNvSpPr>
          <p:nvPr/>
        </p:nvSpPr>
        <p:spPr bwMode="gray">
          <a:xfrm>
            <a:off x="455612" y="4913088"/>
            <a:ext cx="11293475" cy="128768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base"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800" dirty="0" smtClean="0"/>
              <a:t>IPv6 over IPv4</a:t>
            </a:r>
            <a:r>
              <a:rPr lang="zh-CN" altLang="en-US" sz="1800" dirty="0" smtClean="0"/>
              <a:t>隧道</a:t>
            </a:r>
            <a:r>
              <a:rPr lang="zh-CN" altLang="en-US" sz="1800" dirty="0"/>
              <a:t>分类</a:t>
            </a:r>
            <a:r>
              <a:rPr lang="zh-CN" altLang="en-US" sz="1800" dirty="0" smtClean="0"/>
              <a:t>：</a:t>
            </a:r>
            <a:endParaRPr lang="en-US" altLang="zh-CN" sz="1800" dirty="0" smtClean="0"/>
          </a:p>
          <a:p>
            <a:pPr lvl="1"/>
            <a:r>
              <a:rPr lang="en-US" altLang="zh-CN" sz="1600" dirty="0" smtClean="0"/>
              <a:t>IPv6 </a:t>
            </a:r>
            <a:r>
              <a:rPr lang="en-US" altLang="zh-CN" sz="1600" dirty="0"/>
              <a:t>over IPv4</a:t>
            </a:r>
            <a:r>
              <a:rPr lang="zh-CN" altLang="en-US" sz="1600" dirty="0"/>
              <a:t>隧道</a:t>
            </a:r>
            <a:r>
              <a:rPr lang="zh-CN" altLang="en-US" sz="1600" dirty="0" smtClean="0"/>
              <a:t>的源</a:t>
            </a:r>
            <a:r>
              <a:rPr lang="en-US" altLang="zh-CN" sz="1600" dirty="0" smtClean="0"/>
              <a:t>IPv4</a:t>
            </a:r>
            <a:r>
              <a:rPr lang="zh-CN" altLang="en-US" sz="1600" dirty="0"/>
              <a:t>地址必须为手工配置，</a:t>
            </a:r>
            <a:r>
              <a:rPr lang="zh-CN" altLang="en-US" sz="1600" dirty="0" smtClean="0"/>
              <a:t>而目的</a:t>
            </a:r>
            <a:r>
              <a:rPr lang="en-US" altLang="zh-CN" sz="1600" dirty="0" smtClean="0"/>
              <a:t>IPv4</a:t>
            </a:r>
            <a:r>
              <a:rPr lang="zh-CN" altLang="en-US" sz="1600" dirty="0" smtClean="0"/>
              <a:t>地址有</a:t>
            </a:r>
            <a:r>
              <a:rPr lang="zh-CN" altLang="en-US" sz="1600" dirty="0"/>
              <a:t>手工配置和自动获取两种方式。根据</a:t>
            </a:r>
            <a:r>
              <a:rPr lang="zh-CN" altLang="en-US" sz="1600" dirty="0" smtClean="0"/>
              <a:t>隧道目的</a:t>
            </a:r>
            <a:r>
              <a:rPr lang="en-US" altLang="zh-CN" sz="1600" dirty="0" smtClean="0"/>
              <a:t>IPv4</a:t>
            </a:r>
            <a:r>
              <a:rPr lang="zh-CN" altLang="en-US" sz="1600" dirty="0"/>
              <a:t>地址的获取方式不同可以将</a:t>
            </a:r>
            <a:r>
              <a:rPr lang="en-US" altLang="zh-CN" sz="1600" dirty="0"/>
              <a:t>IPv6 over IPv4</a:t>
            </a:r>
            <a:r>
              <a:rPr lang="zh-CN" altLang="en-US" sz="1600" dirty="0"/>
              <a:t>隧道分为</a:t>
            </a:r>
            <a:r>
              <a:rPr lang="zh-CN" altLang="en-US" sz="1600" u="sng" dirty="0"/>
              <a:t>手动隧道</a:t>
            </a:r>
            <a:r>
              <a:rPr lang="zh-CN" altLang="en-US" sz="1600" dirty="0"/>
              <a:t>和</a:t>
            </a:r>
            <a:r>
              <a:rPr lang="zh-CN" altLang="en-US" sz="1600" u="sng" dirty="0"/>
              <a:t>自动隧道</a:t>
            </a:r>
            <a:r>
              <a:rPr lang="zh-CN" altLang="en-US" sz="1600" dirty="0"/>
              <a:t>。</a:t>
            </a:r>
            <a:endParaRPr lang="en-US" altLang="zh-CN" sz="1600" dirty="0" smtClean="0"/>
          </a:p>
        </p:txBody>
      </p:sp>
      <p:sp>
        <p:nvSpPr>
          <p:cNvPr id="51" name="五边形 50"/>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52" name="燕尾形 51"/>
          <p:cNvSpPr/>
          <p:nvPr/>
        </p:nvSpPr>
        <p:spPr bwMode="gray">
          <a:xfrm>
            <a:off x="6770642" y="126936"/>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53" name="燕尾形 52"/>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6VPE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525879" y="3567731"/>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Header</a:t>
            </a:r>
            <a:endParaRPr lang="zh-CN" altLang="en-US" sz="1200" dirty="0">
              <a:solidFill>
                <a:schemeClr val="tx1"/>
              </a:solidFill>
            </a:endParaRPr>
          </a:p>
        </p:txBody>
      </p:sp>
      <p:sp>
        <p:nvSpPr>
          <p:cNvPr id="59" name="矩形 58"/>
          <p:cNvSpPr/>
          <p:nvPr/>
        </p:nvSpPr>
        <p:spPr bwMode="gray">
          <a:xfrm>
            <a:off x="1561698" y="3567731"/>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Data</a:t>
            </a:r>
            <a:endParaRPr lang="zh-CN" altLang="en-US" sz="1200" dirty="0">
              <a:solidFill>
                <a:schemeClr val="tx1"/>
              </a:solidFill>
            </a:endParaRPr>
          </a:p>
        </p:txBody>
      </p:sp>
      <p:sp>
        <p:nvSpPr>
          <p:cNvPr id="41" name="文本框 40"/>
          <p:cNvSpPr txBox="1"/>
          <p:nvPr/>
        </p:nvSpPr>
        <p:spPr bwMode="gray">
          <a:xfrm>
            <a:off x="2455567" y="4422499"/>
            <a:ext cx="2464136" cy="461665"/>
          </a:xfrm>
          <a:prstGeom prst="rect">
            <a:avLst/>
          </a:prstGeom>
          <a:noFill/>
        </p:spPr>
        <p:txBody>
          <a:bodyPr wrap="none" rtlCol="0">
            <a:spAutoFit/>
          </a:bodyPr>
          <a:lstStyle/>
          <a:p>
            <a:r>
              <a:rPr lang="zh-CN" altLang="en-US" sz="1200" dirty="0" smtClean="0">
                <a:cs typeface="Arial" panose="020B0604020202020204" pitchFamily="34" charset="0"/>
              </a:rPr>
              <a:t>源</a:t>
            </a:r>
            <a:r>
              <a:rPr lang="en-US" altLang="zh-CN" sz="1200" dirty="0" smtClean="0">
                <a:cs typeface="Arial" panose="020B0604020202020204" pitchFamily="34" charset="0"/>
              </a:rPr>
              <a:t>IPv4</a:t>
            </a:r>
            <a:r>
              <a:rPr lang="zh-CN" altLang="en-US" sz="1200" dirty="0" smtClean="0">
                <a:cs typeface="Arial" panose="020B0604020202020204" pitchFamily="34" charset="0"/>
              </a:rPr>
              <a:t>地址：隧道源</a:t>
            </a:r>
            <a:r>
              <a:rPr lang="en-US" altLang="zh-CN" sz="1200" dirty="0" smtClean="0">
                <a:cs typeface="Arial" panose="020B0604020202020204" pitchFamily="34" charset="0"/>
              </a:rPr>
              <a:t>IPv4</a:t>
            </a:r>
            <a:r>
              <a:rPr lang="zh-CN" altLang="en-US" sz="1200" dirty="0" smtClean="0">
                <a:cs typeface="Arial" panose="020B0604020202020204" pitchFamily="34" charset="0"/>
              </a:rPr>
              <a:t>地址</a:t>
            </a:r>
            <a:endParaRPr lang="en-US" altLang="zh-CN" sz="1200" dirty="0" smtClean="0">
              <a:cs typeface="Arial" panose="020B0604020202020204" pitchFamily="34" charset="0"/>
            </a:endParaRPr>
          </a:p>
          <a:p>
            <a:r>
              <a:rPr lang="zh-CN" altLang="en-US" sz="1200" dirty="0" smtClean="0">
                <a:cs typeface="Arial" panose="020B0604020202020204" pitchFamily="34" charset="0"/>
              </a:rPr>
              <a:t>目的</a:t>
            </a:r>
            <a:r>
              <a:rPr lang="en-US" altLang="zh-CN" sz="1200" dirty="0" smtClean="0">
                <a:cs typeface="Arial" panose="020B0604020202020204" pitchFamily="34" charset="0"/>
              </a:rPr>
              <a:t>IPv4</a:t>
            </a:r>
            <a:r>
              <a:rPr lang="zh-CN" altLang="en-US" sz="1200" dirty="0" smtClean="0">
                <a:cs typeface="Arial" panose="020B0604020202020204" pitchFamily="34" charset="0"/>
              </a:rPr>
              <a:t>地址：隧道目的</a:t>
            </a:r>
            <a:r>
              <a:rPr lang="en-US" altLang="zh-CN" sz="1200" dirty="0" smtClean="0">
                <a:cs typeface="Arial" panose="020B0604020202020204" pitchFamily="34" charset="0"/>
              </a:rPr>
              <a:t>IPv4</a:t>
            </a:r>
            <a:r>
              <a:rPr lang="zh-CN" altLang="en-US" sz="1200" dirty="0" smtClean="0">
                <a:cs typeface="Arial" panose="020B0604020202020204" pitchFamily="34" charset="0"/>
              </a:rPr>
              <a:t>地址</a:t>
            </a:r>
            <a:endParaRPr lang="en-US" sz="1200" dirty="0">
              <a:cs typeface="Arial" panose="020B0604020202020204" pitchFamily="34" charset="0"/>
            </a:endParaRPr>
          </a:p>
        </p:txBody>
      </p:sp>
      <p:sp>
        <p:nvSpPr>
          <p:cNvPr id="43" name="文本框 42"/>
          <p:cNvSpPr txBox="1"/>
          <p:nvPr/>
        </p:nvSpPr>
        <p:spPr bwMode="gray">
          <a:xfrm>
            <a:off x="1786086" y="2357188"/>
            <a:ext cx="1247457" cy="461665"/>
          </a:xfrm>
          <a:prstGeom prst="rect">
            <a:avLst/>
          </a:prstGeom>
          <a:noFill/>
        </p:spPr>
        <p:txBody>
          <a:bodyPr wrap="none" rtlCol="0">
            <a:spAutoFit/>
          </a:bodyPr>
          <a:lstStyle/>
          <a:p>
            <a:pPr algn="ctr"/>
            <a:r>
              <a:rPr lang="zh-CN" altLang="en-US" sz="1200" dirty="0">
                <a:cs typeface="Arial" panose="020B0604020202020204" pitchFamily="34" charset="0"/>
              </a:rPr>
              <a:t>隧道</a:t>
            </a:r>
            <a:r>
              <a:rPr lang="zh-CN" altLang="en-US" sz="1200" dirty="0" smtClean="0">
                <a:cs typeface="Arial" panose="020B0604020202020204" pitchFamily="34" charset="0"/>
              </a:rPr>
              <a:t>源</a:t>
            </a:r>
            <a:r>
              <a:rPr lang="en-US" altLang="zh-CN" sz="1200" dirty="0" smtClean="0">
                <a:cs typeface="Arial" panose="020B0604020202020204" pitchFamily="34" charset="0"/>
              </a:rPr>
              <a:t>IPv4</a:t>
            </a:r>
            <a:r>
              <a:rPr lang="zh-CN" altLang="en-US" sz="1200" dirty="0" smtClean="0">
                <a:cs typeface="Arial" panose="020B0604020202020204" pitchFamily="34" charset="0"/>
              </a:rPr>
              <a:t>地址</a:t>
            </a:r>
            <a:endParaRPr lang="en-US" altLang="zh-CN" sz="1200" dirty="0">
              <a:cs typeface="Arial" panose="020B0604020202020204" pitchFamily="34" charset="0"/>
            </a:endParaRPr>
          </a:p>
          <a:p>
            <a:pPr algn="ctr"/>
            <a:r>
              <a:rPr lang="en-US" altLang="zh-CN" sz="1200" dirty="0" smtClean="0">
                <a:cs typeface="Arial" panose="020B0604020202020204" pitchFamily="34" charset="0"/>
              </a:rPr>
              <a:t>Loopback0</a:t>
            </a:r>
            <a:endParaRPr lang="en-US" sz="1200" dirty="0">
              <a:cs typeface="Arial" panose="020B0604020202020204" pitchFamily="34" charset="0"/>
            </a:endParaRPr>
          </a:p>
        </p:txBody>
      </p:sp>
      <p:sp>
        <p:nvSpPr>
          <p:cNvPr id="46" name="文本框 45"/>
          <p:cNvSpPr txBox="1"/>
          <p:nvPr/>
        </p:nvSpPr>
        <p:spPr bwMode="gray">
          <a:xfrm>
            <a:off x="493355" y="3812044"/>
            <a:ext cx="2371162" cy="276999"/>
          </a:xfrm>
          <a:prstGeom prst="rect">
            <a:avLst/>
          </a:prstGeom>
          <a:noFill/>
        </p:spPr>
        <p:txBody>
          <a:bodyPr wrap="none" rtlCol="0">
            <a:spAutoFit/>
          </a:bodyPr>
          <a:lstStyle/>
          <a:p>
            <a:r>
              <a:rPr lang="zh-CN" altLang="en-US" sz="1200" dirty="0" smtClean="0">
                <a:cs typeface="Arial" panose="020B0604020202020204" pitchFamily="34" charset="0"/>
              </a:rPr>
              <a:t>下一跳：对端</a:t>
            </a:r>
            <a:r>
              <a:rPr lang="en-US" altLang="zh-CN" sz="1200" dirty="0" smtClean="0">
                <a:cs typeface="Arial" panose="020B0604020202020204" pitchFamily="34" charset="0"/>
              </a:rPr>
              <a:t>Tunnel 1 IPv6</a:t>
            </a:r>
            <a:r>
              <a:rPr lang="zh-CN" altLang="en-US" sz="1200" dirty="0" smtClean="0">
                <a:cs typeface="Arial" panose="020B0604020202020204" pitchFamily="34" charset="0"/>
              </a:rPr>
              <a:t>地址</a:t>
            </a:r>
            <a:endParaRPr lang="en-US" sz="1200" dirty="0">
              <a:cs typeface="Arial" panose="020B0604020202020204" pitchFamily="34" charset="0"/>
            </a:endParaRPr>
          </a:p>
        </p:txBody>
      </p:sp>
      <p:sp>
        <p:nvSpPr>
          <p:cNvPr id="49" name="文本框 48"/>
          <p:cNvSpPr txBox="1"/>
          <p:nvPr/>
        </p:nvSpPr>
        <p:spPr bwMode="gray">
          <a:xfrm>
            <a:off x="2613970" y="3188940"/>
            <a:ext cx="798616" cy="276999"/>
          </a:xfrm>
          <a:prstGeom prst="rect">
            <a:avLst/>
          </a:prstGeom>
          <a:noFill/>
        </p:spPr>
        <p:txBody>
          <a:bodyPr wrap="none" rtlCol="0">
            <a:spAutoFit/>
          </a:bodyPr>
          <a:lstStyle/>
          <a:p>
            <a:pPr algn="ctr"/>
            <a:r>
              <a:rPr lang="en-US" altLang="zh-CN" sz="1200" dirty="0" smtClean="0">
                <a:cs typeface="Arial" panose="020B0604020202020204" pitchFamily="34" charset="0"/>
              </a:rPr>
              <a:t>Tunnel 1</a:t>
            </a:r>
            <a:endParaRPr lang="en-US" sz="1200" dirty="0">
              <a:cs typeface="Arial" panose="020B0604020202020204" pitchFamily="34" charset="0"/>
            </a:endParaRPr>
          </a:p>
        </p:txBody>
      </p:sp>
      <p:sp>
        <p:nvSpPr>
          <p:cNvPr id="50" name="文本框 49"/>
          <p:cNvSpPr txBox="1"/>
          <p:nvPr/>
        </p:nvSpPr>
        <p:spPr bwMode="gray">
          <a:xfrm>
            <a:off x="3891427" y="3188940"/>
            <a:ext cx="798617" cy="276999"/>
          </a:xfrm>
          <a:prstGeom prst="rect">
            <a:avLst/>
          </a:prstGeom>
          <a:noFill/>
        </p:spPr>
        <p:txBody>
          <a:bodyPr wrap="none" rtlCol="0">
            <a:spAutoFit/>
          </a:bodyPr>
          <a:lstStyle/>
          <a:p>
            <a:pPr algn="ctr"/>
            <a:r>
              <a:rPr lang="en-US" altLang="zh-CN" sz="1200" dirty="0" smtClean="0">
                <a:cs typeface="Arial" panose="020B0604020202020204" pitchFamily="34" charset="0"/>
              </a:rPr>
              <a:t>Tunnel 1</a:t>
            </a:r>
            <a:endParaRPr lang="en-US" sz="1200" dirty="0">
              <a:cs typeface="Arial" panose="020B0604020202020204" pitchFamily="34" charset="0"/>
            </a:endParaRPr>
          </a:p>
        </p:txBody>
      </p:sp>
      <p:cxnSp>
        <p:nvCxnSpPr>
          <p:cNvPr id="7" name="直接连接符 6"/>
          <p:cNvCxnSpPr/>
          <p:nvPr/>
        </p:nvCxnSpPr>
        <p:spPr>
          <a:xfrm flipV="1">
            <a:off x="2426807" y="2789578"/>
            <a:ext cx="0" cy="7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2327414" y="2789578"/>
            <a:ext cx="173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bwMode="gray">
          <a:xfrm>
            <a:off x="4268527" y="2357188"/>
            <a:ext cx="1401346" cy="461665"/>
          </a:xfrm>
          <a:prstGeom prst="rect">
            <a:avLst/>
          </a:prstGeom>
          <a:noFill/>
        </p:spPr>
        <p:txBody>
          <a:bodyPr wrap="none" rtlCol="0">
            <a:spAutoFit/>
          </a:bodyPr>
          <a:lstStyle/>
          <a:p>
            <a:pPr algn="ctr"/>
            <a:r>
              <a:rPr lang="zh-CN" altLang="en-US" sz="1200" dirty="0" smtClean="0">
                <a:cs typeface="Arial" panose="020B0604020202020204" pitchFamily="34" charset="0"/>
              </a:rPr>
              <a:t>隧道目的</a:t>
            </a:r>
            <a:r>
              <a:rPr lang="en-US" altLang="zh-CN" sz="1200" dirty="0" smtClean="0">
                <a:cs typeface="Arial" panose="020B0604020202020204" pitchFamily="34" charset="0"/>
              </a:rPr>
              <a:t>IPv4</a:t>
            </a:r>
            <a:r>
              <a:rPr lang="zh-CN" altLang="en-US" sz="1200" dirty="0" smtClean="0">
                <a:cs typeface="Arial" panose="020B0604020202020204" pitchFamily="34" charset="0"/>
              </a:rPr>
              <a:t>地址</a:t>
            </a:r>
            <a:endParaRPr lang="en-US" altLang="zh-CN" sz="1200" dirty="0">
              <a:cs typeface="Arial" panose="020B0604020202020204" pitchFamily="34" charset="0"/>
            </a:endParaRPr>
          </a:p>
          <a:p>
            <a:pPr algn="ctr"/>
            <a:r>
              <a:rPr lang="en-US" altLang="zh-CN" sz="1200" dirty="0" smtClean="0">
                <a:cs typeface="Arial" panose="020B0604020202020204" pitchFamily="34" charset="0"/>
              </a:rPr>
              <a:t>Loopback0</a:t>
            </a:r>
            <a:endParaRPr lang="en-US" sz="1200" dirty="0">
              <a:cs typeface="Arial" panose="020B0604020202020204" pitchFamily="34" charset="0"/>
            </a:endParaRPr>
          </a:p>
        </p:txBody>
      </p:sp>
      <p:cxnSp>
        <p:nvCxnSpPr>
          <p:cNvPr id="65" name="直接连接符 64"/>
          <p:cNvCxnSpPr/>
          <p:nvPr/>
        </p:nvCxnSpPr>
        <p:spPr>
          <a:xfrm flipV="1">
            <a:off x="4909448" y="2789578"/>
            <a:ext cx="0" cy="72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810055" y="2789578"/>
            <a:ext cx="173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bwMode="gray">
          <a:xfrm>
            <a:off x="4575423" y="3282625"/>
            <a:ext cx="673582" cy="276999"/>
          </a:xfrm>
          <a:prstGeom prst="rect">
            <a:avLst/>
          </a:prstGeom>
          <a:noFill/>
        </p:spPr>
        <p:txBody>
          <a:bodyPr wrap="none" rtlCol="0">
            <a:spAutoFit/>
          </a:bodyPr>
          <a:lstStyle/>
          <a:p>
            <a:pPr algn="ctr"/>
            <a:r>
              <a:rPr lang="en-US" altLang="zh-CN" sz="1200" dirty="0" smtClean="0">
                <a:cs typeface="Arial" panose="020B0604020202020204" pitchFamily="34" charset="0"/>
              </a:rPr>
              <a:t>R2</a:t>
            </a:r>
            <a:r>
              <a:rPr lang="zh-CN" altLang="en-US" sz="1200" dirty="0" smtClean="0">
                <a:cs typeface="Arial" panose="020B0604020202020204" pitchFamily="34" charset="0"/>
              </a:rPr>
              <a:t>双</a:t>
            </a:r>
            <a:r>
              <a:rPr lang="zh-CN" altLang="en-US" sz="1200" dirty="0">
                <a:cs typeface="Arial" panose="020B0604020202020204" pitchFamily="34" charset="0"/>
              </a:rPr>
              <a:t>栈</a:t>
            </a:r>
            <a:endParaRPr lang="en-US" sz="1200" dirty="0">
              <a:cs typeface="Arial" panose="020B0604020202020204" pitchFamily="34" charset="0"/>
            </a:endParaRPr>
          </a:p>
        </p:txBody>
      </p:sp>
    </p:spTree>
    <p:extLst>
      <p:ext uri="{BB962C8B-B14F-4D97-AF65-F5344CB8AC3E}">
        <p14:creationId xmlns:p14="http://schemas.microsoft.com/office/powerpoint/2010/main" val="27484343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t>手动隧道</a:t>
            </a:r>
            <a:endParaRPr lang="zh-CN" altLang="en-US" dirty="0"/>
          </a:p>
        </p:txBody>
      </p:sp>
      <p:sp>
        <p:nvSpPr>
          <p:cNvPr id="3" name="文本占位符 2"/>
          <p:cNvSpPr>
            <a:spLocks noGrp="1"/>
          </p:cNvSpPr>
          <p:nvPr>
            <p:ph type="body" sz="quarter" idx="10"/>
          </p:nvPr>
        </p:nvSpPr>
        <p:spPr bwMode="gray">
          <a:xfrm>
            <a:off x="455612" y="1047751"/>
            <a:ext cx="11293475" cy="487507"/>
          </a:xfrm>
        </p:spPr>
        <p:txBody>
          <a:bodyPr/>
          <a:lstStyle/>
          <a:p>
            <a:r>
              <a:rPr lang="zh-CN" altLang="en-US" sz="1800" dirty="0"/>
              <a:t>手动隧道即边界设备不能自动获得</a:t>
            </a:r>
            <a:r>
              <a:rPr lang="zh-CN" altLang="en-US" sz="1800" dirty="0" smtClean="0"/>
              <a:t>隧道目的</a:t>
            </a:r>
            <a:r>
              <a:rPr lang="en-US" altLang="zh-CN" sz="1800" dirty="0"/>
              <a:t>IPv4</a:t>
            </a:r>
            <a:r>
              <a:rPr lang="zh-CN" altLang="en-US" sz="1800" dirty="0"/>
              <a:t>地址，需要手工</a:t>
            </a:r>
            <a:r>
              <a:rPr lang="zh-CN" altLang="en-US" sz="1800" dirty="0" smtClean="0"/>
              <a:t>配置，</a:t>
            </a:r>
            <a:r>
              <a:rPr lang="zh-CN" altLang="en-US" sz="1800" dirty="0"/>
              <a:t>报文才能正确发送至隧道终点。</a:t>
            </a:r>
          </a:p>
        </p:txBody>
      </p:sp>
      <p:sp>
        <p:nvSpPr>
          <p:cNvPr id="4" name="圆角矩形 75"/>
          <p:cNvSpPr/>
          <p:nvPr/>
        </p:nvSpPr>
        <p:spPr bwMode="gray">
          <a:xfrm>
            <a:off x="874656" y="1649559"/>
            <a:ext cx="518160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IPv6 over IPv4</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手动隧道</a:t>
            </a:r>
            <a:endPar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874656" y="2095852"/>
            <a:ext cx="5181601" cy="3711345"/>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手动隧道直接把</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报文封装到</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报文中去，</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报文作为</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报文的净载荷。手动隧道的源地址和目的地址也是手工指定的，它提供了一个点到点的连接</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手动隧道可以建立在两个边界路由器之间为被</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网络分离的</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网络提供稳定的连接，或建立在终端系统与边界路由器之间为终端系统访问</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网络提供连接。</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6161032" y="1649559"/>
            <a:ext cx="5181601"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IPv6 over </a:t>
            </a:r>
            <a:r>
              <a:rPr lang="en-US" altLang="zh-CN"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IPv4 GRE</a:t>
            </a:r>
            <a:r>
              <a:rPr lang="zh-CN" altLang="en-US" sz="16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6161032" y="2095852"/>
            <a:ext cx="5181601" cy="3711345"/>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 over IPv4 GRE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隧道使用标准的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GRE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隧道技术提供了点到点连接服务，需要手工指定隧道的端点地址</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Freeform 159"/>
          <p:cNvSpPr/>
          <p:nvPr/>
        </p:nvSpPr>
        <p:spPr bwMode="gray">
          <a:xfrm flipH="1">
            <a:off x="2351243" y="3191641"/>
            <a:ext cx="1882446" cy="9640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11" name="Freeform 159"/>
          <p:cNvSpPr/>
          <p:nvPr/>
        </p:nvSpPr>
        <p:spPr bwMode="gray">
          <a:xfrm flipH="1">
            <a:off x="1252525" y="3500091"/>
            <a:ext cx="816726" cy="47003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12" name="文本框 11"/>
          <p:cNvSpPr txBox="1"/>
          <p:nvPr/>
        </p:nvSpPr>
        <p:spPr bwMode="gray">
          <a:xfrm>
            <a:off x="1421880" y="3642227"/>
            <a:ext cx="478015" cy="276999"/>
          </a:xfrm>
          <a:prstGeom prst="rect">
            <a:avLst/>
          </a:prstGeom>
          <a:noFill/>
        </p:spPr>
        <p:txBody>
          <a:bodyPr wrap="none" rtlCol="0">
            <a:spAutoFit/>
          </a:bodyPr>
          <a:lstStyle/>
          <a:p>
            <a:pPr algn="ctr"/>
            <a:r>
              <a:rPr lang="en-US" sz="1200" dirty="0">
                <a:cs typeface="Arial" panose="020B0604020202020204" pitchFamily="34" charset="0"/>
              </a:rPr>
              <a:t>IPv6</a:t>
            </a:r>
          </a:p>
        </p:txBody>
      </p:sp>
      <p:pic>
        <p:nvPicPr>
          <p:cNvPr id="13" name="图片 1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957917" y="3615061"/>
            <a:ext cx="447899" cy="367277"/>
          </a:xfrm>
          <a:prstGeom prst="rect">
            <a:avLst/>
          </a:prstGeom>
        </p:spPr>
      </p:pic>
      <p:sp>
        <p:nvSpPr>
          <p:cNvPr id="17" name="文本框 16"/>
          <p:cNvSpPr txBox="1"/>
          <p:nvPr/>
        </p:nvSpPr>
        <p:spPr bwMode="gray">
          <a:xfrm>
            <a:off x="3045426" y="3389775"/>
            <a:ext cx="478015" cy="276999"/>
          </a:xfrm>
          <a:prstGeom prst="rect">
            <a:avLst/>
          </a:prstGeom>
          <a:noFill/>
        </p:spPr>
        <p:txBody>
          <a:bodyPr wrap="none" rtlCol="0">
            <a:spAutoFit/>
          </a:bodyPr>
          <a:lstStyle/>
          <a:p>
            <a:pPr algn="ctr"/>
            <a:r>
              <a:rPr lang="en-US" sz="1200" dirty="0">
                <a:cs typeface="Arial" panose="020B0604020202020204" pitchFamily="34" charset="0"/>
              </a:rPr>
              <a:t>IPv4</a:t>
            </a:r>
          </a:p>
        </p:txBody>
      </p:sp>
      <p:sp>
        <p:nvSpPr>
          <p:cNvPr id="21" name="文本框 20"/>
          <p:cNvSpPr txBox="1"/>
          <p:nvPr/>
        </p:nvSpPr>
        <p:spPr bwMode="gray">
          <a:xfrm>
            <a:off x="1348046" y="3963274"/>
            <a:ext cx="1446230" cy="461665"/>
          </a:xfrm>
          <a:prstGeom prst="rect">
            <a:avLst/>
          </a:prstGeom>
          <a:noFill/>
        </p:spPr>
        <p:txBody>
          <a:bodyPr wrap="none" rtlCol="0">
            <a:spAutoFit/>
          </a:bodyPr>
          <a:lstStyle/>
          <a:p>
            <a:pPr algn="ctr"/>
            <a:r>
              <a:rPr lang="zh-CN" altLang="en-US" sz="1200" dirty="0" smtClean="0">
                <a:cs typeface="Arial" panose="020B0604020202020204" pitchFamily="34" charset="0"/>
              </a:rPr>
              <a:t>边界设备</a:t>
            </a:r>
            <a:endParaRPr lang="en-US" altLang="zh-CN" sz="1200" dirty="0" smtClean="0">
              <a:cs typeface="Arial" panose="020B0604020202020204" pitchFamily="34" charset="0"/>
            </a:endParaRPr>
          </a:p>
          <a:p>
            <a:pPr algn="ctr"/>
            <a:r>
              <a:rPr lang="zh-CN" altLang="en-US" sz="1200" dirty="0" smtClean="0">
                <a:cs typeface="Arial" panose="020B0604020202020204" pitchFamily="34" charset="0"/>
              </a:rPr>
              <a:t>支持</a:t>
            </a:r>
            <a:r>
              <a:rPr lang="en-US" altLang="zh-CN" sz="1200" dirty="0" smtClean="0">
                <a:cs typeface="Arial" panose="020B0604020202020204" pitchFamily="34" charset="0"/>
              </a:rPr>
              <a:t>IPv4/IPv6</a:t>
            </a:r>
            <a:r>
              <a:rPr lang="zh-CN" altLang="en-US" sz="1200" dirty="0" smtClean="0">
                <a:cs typeface="Arial" panose="020B0604020202020204" pitchFamily="34" charset="0"/>
              </a:rPr>
              <a:t>双栈</a:t>
            </a:r>
            <a:endParaRPr lang="en-US" sz="1200" dirty="0">
              <a:cs typeface="Arial" panose="020B0604020202020204" pitchFamily="34" charset="0"/>
            </a:endParaRPr>
          </a:p>
        </p:txBody>
      </p:sp>
      <p:sp>
        <p:nvSpPr>
          <p:cNvPr id="22" name="文本框 21"/>
          <p:cNvSpPr txBox="1"/>
          <p:nvPr/>
        </p:nvSpPr>
        <p:spPr bwMode="gray">
          <a:xfrm>
            <a:off x="3814499" y="3963646"/>
            <a:ext cx="1446230" cy="461665"/>
          </a:xfrm>
          <a:prstGeom prst="rect">
            <a:avLst/>
          </a:prstGeom>
          <a:noFill/>
        </p:spPr>
        <p:txBody>
          <a:bodyPr wrap="none" rtlCol="0">
            <a:spAutoFit/>
          </a:bodyPr>
          <a:lstStyle/>
          <a:p>
            <a:pPr algn="ctr"/>
            <a:r>
              <a:rPr lang="zh-CN" altLang="en-US" sz="1200" dirty="0" smtClean="0">
                <a:cs typeface="Arial" panose="020B0604020202020204" pitchFamily="34" charset="0"/>
              </a:rPr>
              <a:t>边界设备</a:t>
            </a:r>
            <a:endParaRPr lang="en-US" altLang="zh-CN" sz="1200" dirty="0" smtClean="0">
              <a:cs typeface="Arial" panose="020B0604020202020204" pitchFamily="34" charset="0"/>
            </a:endParaRPr>
          </a:p>
          <a:p>
            <a:pPr algn="ctr"/>
            <a:r>
              <a:rPr lang="zh-CN" altLang="en-US" sz="1200" dirty="0" smtClean="0">
                <a:cs typeface="Arial" panose="020B0604020202020204" pitchFamily="34" charset="0"/>
              </a:rPr>
              <a:t>支持</a:t>
            </a:r>
            <a:r>
              <a:rPr lang="en-US" altLang="zh-CN" sz="1200" dirty="0" smtClean="0">
                <a:cs typeface="Arial" panose="020B0604020202020204" pitchFamily="34" charset="0"/>
              </a:rPr>
              <a:t>IPv4/IPv6</a:t>
            </a:r>
            <a:r>
              <a:rPr lang="zh-CN" altLang="en-US" sz="1200" dirty="0" smtClean="0">
                <a:cs typeface="Arial" panose="020B0604020202020204" pitchFamily="34" charset="0"/>
              </a:rPr>
              <a:t>双栈</a:t>
            </a:r>
            <a:endParaRPr lang="en-US" sz="1200" dirty="0">
              <a:cs typeface="Arial" panose="020B0604020202020204" pitchFamily="34" charset="0"/>
            </a:endParaRPr>
          </a:p>
        </p:txBody>
      </p:sp>
      <p:sp>
        <p:nvSpPr>
          <p:cNvPr id="25" name="Can 9"/>
          <p:cNvSpPr/>
          <p:nvPr/>
        </p:nvSpPr>
        <p:spPr bwMode="gray">
          <a:xfrm rot="5400000">
            <a:off x="3186051" y="2936339"/>
            <a:ext cx="253196" cy="1735751"/>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2430569" y="3664656"/>
            <a:ext cx="1729961" cy="276999"/>
          </a:xfrm>
          <a:prstGeom prst="rect">
            <a:avLst/>
          </a:prstGeom>
          <a:noFill/>
        </p:spPr>
        <p:txBody>
          <a:bodyPr wrap="none" rtlCol="0">
            <a:spAutoFit/>
          </a:bodyPr>
          <a:lstStyle/>
          <a:p>
            <a:pPr algn="ctr"/>
            <a:r>
              <a:rPr lang="en-US" sz="1200" dirty="0">
                <a:cs typeface="Arial" panose="020B0604020202020204" pitchFamily="34" charset="0"/>
              </a:rPr>
              <a:t>IPv6 Over </a:t>
            </a:r>
            <a:r>
              <a:rPr lang="en-US" sz="1200" dirty="0" smtClean="0">
                <a:cs typeface="Arial" panose="020B0604020202020204" pitchFamily="34" charset="0"/>
              </a:rPr>
              <a:t>IPv4 T</a:t>
            </a:r>
            <a:r>
              <a:rPr lang="en-US" altLang="zh-CN" sz="1200" dirty="0" smtClean="0">
                <a:cs typeface="Arial" panose="020B0604020202020204" pitchFamily="34" charset="0"/>
              </a:rPr>
              <a:t>unnel</a:t>
            </a:r>
            <a:endParaRPr lang="en-US" sz="1200" dirty="0">
              <a:cs typeface="Arial" panose="020B0604020202020204" pitchFamily="34" charset="0"/>
            </a:endParaRPr>
          </a:p>
        </p:txBody>
      </p:sp>
      <p:sp>
        <p:nvSpPr>
          <p:cNvPr id="26" name="Freeform 159"/>
          <p:cNvSpPr/>
          <p:nvPr/>
        </p:nvSpPr>
        <p:spPr bwMode="gray">
          <a:xfrm flipH="1">
            <a:off x="4477092" y="3500091"/>
            <a:ext cx="816726" cy="47003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27" name="文本框 26"/>
          <p:cNvSpPr txBox="1"/>
          <p:nvPr/>
        </p:nvSpPr>
        <p:spPr bwMode="gray">
          <a:xfrm>
            <a:off x="4646447" y="3642227"/>
            <a:ext cx="478015" cy="276999"/>
          </a:xfrm>
          <a:prstGeom prst="rect">
            <a:avLst/>
          </a:prstGeom>
          <a:noFill/>
        </p:spPr>
        <p:txBody>
          <a:bodyPr wrap="none" rtlCol="0">
            <a:spAutoFit/>
          </a:bodyPr>
          <a:lstStyle/>
          <a:p>
            <a:pPr algn="ctr"/>
            <a:r>
              <a:rPr lang="en-US" sz="1200" dirty="0">
                <a:cs typeface="Arial" panose="020B0604020202020204" pitchFamily="34" charset="0"/>
              </a:rPr>
              <a:t>IPv6</a:t>
            </a:r>
          </a:p>
        </p:txBody>
      </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194729" y="3615061"/>
            <a:ext cx="447899" cy="367277"/>
          </a:xfrm>
          <a:prstGeom prst="rect">
            <a:avLst/>
          </a:prstGeom>
        </p:spPr>
      </p:pic>
      <p:cxnSp>
        <p:nvCxnSpPr>
          <p:cNvPr id="29" name="直接连接符 28"/>
          <p:cNvCxnSpPr/>
          <p:nvPr/>
        </p:nvCxnSpPr>
        <p:spPr bwMode="gray">
          <a:xfrm>
            <a:off x="3323195" y="3970128"/>
            <a:ext cx="0" cy="524091"/>
          </a:xfrm>
          <a:prstGeom prst="line">
            <a:avLst/>
          </a:prstGeom>
          <a:ln w="19050">
            <a:solidFill>
              <a:srgbClr val="56C4D2"/>
            </a:solidFill>
            <a:head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bwMode="gray">
          <a:xfrm>
            <a:off x="1754108" y="4494219"/>
            <a:ext cx="1044000" cy="231899"/>
          </a:xfrm>
          <a:prstGeom prst="rect">
            <a:avLst/>
          </a:prstGeom>
          <a:solidFill>
            <a:srgbClr val="EAF8FA"/>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Header</a:t>
            </a:r>
            <a:endParaRPr lang="zh-CN" altLang="en-US" sz="1200" dirty="0">
              <a:solidFill>
                <a:schemeClr val="tx1"/>
              </a:solidFill>
            </a:endParaRPr>
          </a:p>
        </p:txBody>
      </p:sp>
      <p:sp>
        <p:nvSpPr>
          <p:cNvPr id="31" name="矩形 30"/>
          <p:cNvSpPr/>
          <p:nvPr/>
        </p:nvSpPr>
        <p:spPr bwMode="gray">
          <a:xfrm>
            <a:off x="2794276" y="4494219"/>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Header</a:t>
            </a:r>
            <a:endParaRPr lang="zh-CN" altLang="en-US" sz="1200" dirty="0">
              <a:solidFill>
                <a:schemeClr val="tx1"/>
              </a:solidFill>
            </a:endParaRPr>
          </a:p>
        </p:txBody>
      </p:sp>
      <p:sp>
        <p:nvSpPr>
          <p:cNvPr id="32" name="矩形 31"/>
          <p:cNvSpPr/>
          <p:nvPr/>
        </p:nvSpPr>
        <p:spPr bwMode="gray">
          <a:xfrm>
            <a:off x="3839522" y="4494219"/>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Data</a:t>
            </a:r>
            <a:endParaRPr lang="zh-CN" altLang="en-US" sz="1200" dirty="0">
              <a:solidFill>
                <a:schemeClr val="tx1"/>
              </a:solidFill>
            </a:endParaRPr>
          </a:p>
        </p:txBody>
      </p:sp>
      <p:sp>
        <p:nvSpPr>
          <p:cNvPr id="34" name="Freeform 159"/>
          <p:cNvSpPr/>
          <p:nvPr/>
        </p:nvSpPr>
        <p:spPr bwMode="gray">
          <a:xfrm flipH="1">
            <a:off x="7780946" y="3191641"/>
            <a:ext cx="1882446" cy="9640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35" name="Freeform 159"/>
          <p:cNvSpPr/>
          <p:nvPr/>
        </p:nvSpPr>
        <p:spPr bwMode="gray">
          <a:xfrm flipH="1">
            <a:off x="6682228" y="3500091"/>
            <a:ext cx="816726" cy="47003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36" name="文本框 35"/>
          <p:cNvSpPr txBox="1"/>
          <p:nvPr/>
        </p:nvSpPr>
        <p:spPr bwMode="gray">
          <a:xfrm>
            <a:off x="6851583" y="3642227"/>
            <a:ext cx="478015" cy="276999"/>
          </a:xfrm>
          <a:prstGeom prst="rect">
            <a:avLst/>
          </a:prstGeom>
          <a:noFill/>
        </p:spPr>
        <p:txBody>
          <a:bodyPr wrap="none" rtlCol="0">
            <a:spAutoFit/>
          </a:bodyPr>
          <a:lstStyle/>
          <a:p>
            <a:pPr algn="ctr"/>
            <a:r>
              <a:rPr lang="en-US" sz="1200" dirty="0">
                <a:cs typeface="Arial" panose="020B0604020202020204" pitchFamily="34" charset="0"/>
              </a:rPr>
              <a:t>IPv6</a:t>
            </a:r>
          </a:p>
        </p:txBody>
      </p:sp>
      <p:pic>
        <p:nvPicPr>
          <p:cNvPr id="37" name="图片 3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387620" y="3615061"/>
            <a:ext cx="447899" cy="367277"/>
          </a:xfrm>
          <a:prstGeom prst="rect">
            <a:avLst/>
          </a:prstGeom>
        </p:spPr>
      </p:pic>
      <p:sp>
        <p:nvSpPr>
          <p:cNvPr id="38" name="文本框 37"/>
          <p:cNvSpPr txBox="1"/>
          <p:nvPr/>
        </p:nvSpPr>
        <p:spPr bwMode="gray">
          <a:xfrm>
            <a:off x="8475129" y="3389775"/>
            <a:ext cx="478015" cy="276999"/>
          </a:xfrm>
          <a:prstGeom prst="rect">
            <a:avLst/>
          </a:prstGeom>
          <a:noFill/>
        </p:spPr>
        <p:txBody>
          <a:bodyPr wrap="none" rtlCol="0">
            <a:spAutoFit/>
          </a:bodyPr>
          <a:lstStyle/>
          <a:p>
            <a:pPr algn="ctr"/>
            <a:r>
              <a:rPr lang="en-US" sz="1200" dirty="0">
                <a:cs typeface="Arial" panose="020B0604020202020204" pitchFamily="34" charset="0"/>
              </a:rPr>
              <a:t>IPv4</a:t>
            </a:r>
          </a:p>
        </p:txBody>
      </p:sp>
      <p:sp>
        <p:nvSpPr>
          <p:cNvPr id="39" name="文本框 38"/>
          <p:cNvSpPr txBox="1"/>
          <p:nvPr/>
        </p:nvSpPr>
        <p:spPr bwMode="gray">
          <a:xfrm>
            <a:off x="6777749" y="3963274"/>
            <a:ext cx="1446230" cy="461665"/>
          </a:xfrm>
          <a:prstGeom prst="rect">
            <a:avLst/>
          </a:prstGeom>
          <a:noFill/>
        </p:spPr>
        <p:txBody>
          <a:bodyPr wrap="none" rtlCol="0">
            <a:spAutoFit/>
          </a:bodyPr>
          <a:lstStyle/>
          <a:p>
            <a:pPr algn="ctr"/>
            <a:r>
              <a:rPr lang="zh-CN" altLang="en-US" sz="1200" dirty="0" smtClean="0">
                <a:cs typeface="Arial" panose="020B0604020202020204" pitchFamily="34" charset="0"/>
              </a:rPr>
              <a:t>边界设备</a:t>
            </a:r>
            <a:endParaRPr lang="en-US" altLang="zh-CN" sz="1200" dirty="0" smtClean="0">
              <a:cs typeface="Arial" panose="020B0604020202020204" pitchFamily="34" charset="0"/>
            </a:endParaRPr>
          </a:p>
          <a:p>
            <a:pPr algn="ctr"/>
            <a:r>
              <a:rPr lang="zh-CN" altLang="en-US" sz="1200" dirty="0" smtClean="0">
                <a:cs typeface="Arial" panose="020B0604020202020204" pitchFamily="34" charset="0"/>
              </a:rPr>
              <a:t>支持</a:t>
            </a:r>
            <a:r>
              <a:rPr lang="en-US" altLang="zh-CN" sz="1200" dirty="0" smtClean="0">
                <a:cs typeface="Arial" panose="020B0604020202020204" pitchFamily="34" charset="0"/>
              </a:rPr>
              <a:t>IPv4/IPv6</a:t>
            </a:r>
            <a:r>
              <a:rPr lang="zh-CN" altLang="en-US" sz="1200" dirty="0" smtClean="0">
                <a:cs typeface="Arial" panose="020B0604020202020204" pitchFamily="34" charset="0"/>
              </a:rPr>
              <a:t>双栈</a:t>
            </a:r>
            <a:endParaRPr lang="en-US" sz="1200" dirty="0">
              <a:cs typeface="Arial" panose="020B0604020202020204" pitchFamily="34" charset="0"/>
            </a:endParaRPr>
          </a:p>
        </p:txBody>
      </p:sp>
      <p:sp>
        <p:nvSpPr>
          <p:cNvPr id="40" name="文本框 39"/>
          <p:cNvSpPr txBox="1"/>
          <p:nvPr/>
        </p:nvSpPr>
        <p:spPr bwMode="gray">
          <a:xfrm>
            <a:off x="9244202" y="3963646"/>
            <a:ext cx="1446230" cy="461665"/>
          </a:xfrm>
          <a:prstGeom prst="rect">
            <a:avLst/>
          </a:prstGeom>
          <a:noFill/>
        </p:spPr>
        <p:txBody>
          <a:bodyPr wrap="none" rtlCol="0">
            <a:spAutoFit/>
          </a:bodyPr>
          <a:lstStyle/>
          <a:p>
            <a:pPr algn="ctr"/>
            <a:r>
              <a:rPr lang="zh-CN" altLang="en-US" sz="1200" dirty="0" smtClean="0">
                <a:cs typeface="Arial" panose="020B0604020202020204" pitchFamily="34" charset="0"/>
              </a:rPr>
              <a:t>边界设备</a:t>
            </a:r>
            <a:endParaRPr lang="en-US" altLang="zh-CN" sz="1200" dirty="0" smtClean="0">
              <a:cs typeface="Arial" panose="020B0604020202020204" pitchFamily="34" charset="0"/>
            </a:endParaRPr>
          </a:p>
          <a:p>
            <a:pPr algn="ctr"/>
            <a:r>
              <a:rPr lang="zh-CN" altLang="en-US" sz="1200" dirty="0" smtClean="0">
                <a:cs typeface="Arial" panose="020B0604020202020204" pitchFamily="34" charset="0"/>
              </a:rPr>
              <a:t>支持</a:t>
            </a:r>
            <a:r>
              <a:rPr lang="en-US" altLang="zh-CN" sz="1200" dirty="0" smtClean="0">
                <a:cs typeface="Arial" panose="020B0604020202020204" pitchFamily="34" charset="0"/>
              </a:rPr>
              <a:t>IPv4/IPv6</a:t>
            </a:r>
            <a:r>
              <a:rPr lang="zh-CN" altLang="en-US" sz="1200" dirty="0" smtClean="0">
                <a:cs typeface="Arial" panose="020B0604020202020204" pitchFamily="34" charset="0"/>
              </a:rPr>
              <a:t>双栈</a:t>
            </a:r>
            <a:endParaRPr lang="en-US" sz="1200" dirty="0">
              <a:cs typeface="Arial" panose="020B0604020202020204" pitchFamily="34" charset="0"/>
            </a:endParaRPr>
          </a:p>
        </p:txBody>
      </p:sp>
      <p:sp>
        <p:nvSpPr>
          <p:cNvPr id="41" name="Can 9"/>
          <p:cNvSpPr/>
          <p:nvPr/>
        </p:nvSpPr>
        <p:spPr bwMode="gray">
          <a:xfrm rot="5400000">
            <a:off x="8615754" y="2936339"/>
            <a:ext cx="253196" cy="1735751"/>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8224955" y="3664656"/>
            <a:ext cx="1000595" cy="276999"/>
          </a:xfrm>
          <a:prstGeom prst="rect">
            <a:avLst/>
          </a:prstGeom>
          <a:noFill/>
        </p:spPr>
        <p:txBody>
          <a:bodyPr wrap="none" rtlCol="0">
            <a:spAutoFit/>
          </a:bodyPr>
          <a:lstStyle/>
          <a:p>
            <a:pPr algn="ctr"/>
            <a:r>
              <a:rPr lang="en-US" altLang="zh-CN" sz="1200" dirty="0" smtClean="0">
                <a:cs typeface="Arial" panose="020B0604020202020204" pitchFamily="34" charset="0"/>
              </a:rPr>
              <a:t>GRE </a:t>
            </a:r>
            <a:r>
              <a:rPr lang="en-US" sz="1200" dirty="0" smtClean="0">
                <a:cs typeface="Arial" panose="020B0604020202020204" pitchFamily="34" charset="0"/>
              </a:rPr>
              <a:t>T</a:t>
            </a:r>
            <a:r>
              <a:rPr lang="en-US" altLang="zh-CN" sz="1200" dirty="0" smtClean="0">
                <a:cs typeface="Arial" panose="020B0604020202020204" pitchFamily="34" charset="0"/>
              </a:rPr>
              <a:t>unnel</a:t>
            </a:r>
            <a:endParaRPr lang="en-US" sz="1200" dirty="0">
              <a:cs typeface="Arial" panose="020B0604020202020204" pitchFamily="34" charset="0"/>
            </a:endParaRPr>
          </a:p>
        </p:txBody>
      </p:sp>
      <p:sp>
        <p:nvSpPr>
          <p:cNvPr id="43" name="Freeform 159"/>
          <p:cNvSpPr/>
          <p:nvPr/>
        </p:nvSpPr>
        <p:spPr bwMode="gray">
          <a:xfrm flipH="1">
            <a:off x="9906795" y="3500091"/>
            <a:ext cx="816726" cy="47003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44" name="文本框 43"/>
          <p:cNvSpPr txBox="1"/>
          <p:nvPr/>
        </p:nvSpPr>
        <p:spPr bwMode="gray">
          <a:xfrm>
            <a:off x="10076150" y="3642227"/>
            <a:ext cx="478015" cy="276999"/>
          </a:xfrm>
          <a:prstGeom prst="rect">
            <a:avLst/>
          </a:prstGeom>
          <a:noFill/>
        </p:spPr>
        <p:txBody>
          <a:bodyPr wrap="none" rtlCol="0">
            <a:spAutoFit/>
          </a:bodyPr>
          <a:lstStyle/>
          <a:p>
            <a:pPr algn="ctr"/>
            <a:r>
              <a:rPr lang="en-US" sz="1200" dirty="0">
                <a:cs typeface="Arial" panose="020B0604020202020204" pitchFamily="34" charset="0"/>
              </a:rPr>
              <a:t>IPv6</a:t>
            </a:r>
          </a:p>
        </p:txBody>
      </p:sp>
      <p:pic>
        <p:nvPicPr>
          <p:cNvPr id="45" name="图片 4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624432" y="3615061"/>
            <a:ext cx="447899" cy="367277"/>
          </a:xfrm>
          <a:prstGeom prst="rect">
            <a:avLst/>
          </a:prstGeom>
        </p:spPr>
      </p:pic>
      <p:cxnSp>
        <p:nvCxnSpPr>
          <p:cNvPr id="46" name="直接连接符 45"/>
          <p:cNvCxnSpPr/>
          <p:nvPr/>
        </p:nvCxnSpPr>
        <p:spPr bwMode="gray">
          <a:xfrm>
            <a:off x="8752898" y="3970128"/>
            <a:ext cx="0" cy="524091"/>
          </a:xfrm>
          <a:prstGeom prst="line">
            <a:avLst/>
          </a:prstGeom>
          <a:ln w="19050">
            <a:solidFill>
              <a:srgbClr val="56C4D2"/>
            </a:solidFill>
            <a:head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bwMode="gray">
          <a:xfrm>
            <a:off x="6663653" y="4494219"/>
            <a:ext cx="1044000" cy="231899"/>
          </a:xfrm>
          <a:prstGeom prst="rect">
            <a:avLst/>
          </a:prstGeom>
          <a:solidFill>
            <a:srgbClr val="EAF8FA"/>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Header</a:t>
            </a:r>
            <a:endParaRPr lang="zh-CN" altLang="en-US" sz="1200" dirty="0">
              <a:solidFill>
                <a:schemeClr val="tx1"/>
              </a:solidFill>
            </a:endParaRPr>
          </a:p>
        </p:txBody>
      </p:sp>
      <p:sp>
        <p:nvSpPr>
          <p:cNvPr id="48" name="矩形 47"/>
          <p:cNvSpPr/>
          <p:nvPr/>
        </p:nvSpPr>
        <p:spPr bwMode="gray">
          <a:xfrm>
            <a:off x="8754688" y="4494219"/>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Header</a:t>
            </a:r>
            <a:endParaRPr lang="zh-CN" altLang="en-US" sz="1200" dirty="0">
              <a:solidFill>
                <a:schemeClr val="tx1"/>
              </a:solidFill>
            </a:endParaRPr>
          </a:p>
        </p:txBody>
      </p:sp>
      <p:sp>
        <p:nvSpPr>
          <p:cNvPr id="49" name="矩形 48"/>
          <p:cNvSpPr/>
          <p:nvPr/>
        </p:nvSpPr>
        <p:spPr bwMode="gray">
          <a:xfrm>
            <a:off x="9799934" y="4494219"/>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Data</a:t>
            </a:r>
            <a:endParaRPr lang="zh-CN" altLang="en-US" sz="1200" dirty="0">
              <a:solidFill>
                <a:schemeClr val="tx1"/>
              </a:solidFill>
            </a:endParaRPr>
          </a:p>
        </p:txBody>
      </p:sp>
      <p:sp>
        <p:nvSpPr>
          <p:cNvPr id="50" name="矩形 49"/>
          <p:cNvSpPr/>
          <p:nvPr/>
        </p:nvSpPr>
        <p:spPr bwMode="gray">
          <a:xfrm>
            <a:off x="7701979" y="4494219"/>
            <a:ext cx="1044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GRE</a:t>
            </a:r>
            <a:r>
              <a:rPr lang="en-US" altLang="zh-CN" sz="1200" dirty="0" smtClean="0">
                <a:solidFill>
                  <a:schemeClr val="tx1"/>
                </a:solidFill>
              </a:rPr>
              <a:t> Header</a:t>
            </a:r>
            <a:endParaRPr lang="zh-CN" altLang="en-US" sz="1200" dirty="0">
              <a:solidFill>
                <a:schemeClr val="tx1"/>
              </a:solidFill>
            </a:endParaRPr>
          </a:p>
        </p:txBody>
      </p:sp>
      <p:sp>
        <p:nvSpPr>
          <p:cNvPr id="64" name="五边形 63"/>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65" name="燕尾形 64"/>
          <p:cNvSpPr/>
          <p:nvPr/>
        </p:nvSpPr>
        <p:spPr bwMode="gray">
          <a:xfrm>
            <a:off x="6770642" y="126936"/>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66" name="燕尾形 65"/>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66"/>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6VPE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67"/>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68"/>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燕尾形 69"/>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49212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1" name="直接连接符 260"/>
          <p:cNvCxnSpPr>
            <a:stCxn id="251" idx="1"/>
            <a:endCxn id="260" idx="3"/>
          </p:cNvCxnSpPr>
          <p:nvPr/>
        </p:nvCxnSpPr>
        <p:spPr bwMode="gray">
          <a:xfrm flipH="1">
            <a:off x="8522642" y="5462434"/>
            <a:ext cx="2743749"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9" name="Freeform 159"/>
          <p:cNvSpPr/>
          <p:nvPr/>
        </p:nvSpPr>
        <p:spPr bwMode="gray">
          <a:xfrm flipH="1">
            <a:off x="1405949" y="4849090"/>
            <a:ext cx="1787645" cy="7692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smtClean="0"/>
              <a:t>自动隧道</a:t>
            </a:r>
            <a:endParaRPr lang="zh-CN" altLang="en-US" dirty="0"/>
          </a:p>
        </p:txBody>
      </p:sp>
      <p:sp>
        <p:nvSpPr>
          <p:cNvPr id="3" name="文本占位符 2"/>
          <p:cNvSpPr>
            <a:spLocks noGrp="1"/>
          </p:cNvSpPr>
          <p:nvPr>
            <p:ph type="body" sz="quarter" idx="10"/>
          </p:nvPr>
        </p:nvSpPr>
        <p:spPr bwMode="gray">
          <a:xfrm>
            <a:off x="455612" y="1047751"/>
            <a:ext cx="11293475" cy="1186402"/>
          </a:xfrm>
        </p:spPr>
        <p:txBody>
          <a:bodyPr/>
          <a:lstStyle/>
          <a:p>
            <a:r>
              <a:rPr lang="zh-CN" altLang="en-US" sz="1800" dirty="0"/>
              <a:t>自动隧道中，用户仅需要配置设备隧道</a:t>
            </a:r>
            <a:r>
              <a:rPr lang="zh-CN" altLang="en-US" sz="1800" dirty="0" smtClean="0"/>
              <a:t>的源</a:t>
            </a:r>
            <a:r>
              <a:rPr lang="en-US" altLang="zh-CN" sz="1800" dirty="0" smtClean="0"/>
              <a:t>IPv4</a:t>
            </a:r>
            <a:r>
              <a:rPr lang="zh-CN" altLang="en-US" sz="1800" dirty="0" smtClean="0"/>
              <a:t>地址，</a:t>
            </a:r>
            <a:r>
              <a:rPr lang="zh-CN" altLang="en-US" sz="1800" dirty="0"/>
              <a:t>隧道</a:t>
            </a:r>
            <a:r>
              <a:rPr lang="zh-CN" altLang="en-US" sz="1800" dirty="0" smtClean="0"/>
              <a:t>的目的</a:t>
            </a:r>
            <a:r>
              <a:rPr lang="en-US" altLang="zh-CN" sz="1800" dirty="0" smtClean="0"/>
              <a:t>IPv4</a:t>
            </a:r>
            <a:r>
              <a:rPr lang="zh-CN" altLang="en-US" sz="1800" dirty="0" smtClean="0"/>
              <a:t>地址由</a:t>
            </a:r>
            <a:r>
              <a:rPr lang="zh-CN" altLang="en-US" sz="1800" dirty="0"/>
              <a:t>设备自动生成。为了使设备能够自动</a:t>
            </a:r>
            <a:r>
              <a:rPr lang="zh-CN" altLang="en-US" sz="1800" dirty="0" smtClean="0"/>
              <a:t>产生目的</a:t>
            </a:r>
            <a:r>
              <a:rPr lang="en-US" altLang="zh-CN" sz="1800" dirty="0" smtClean="0"/>
              <a:t>IPv4</a:t>
            </a:r>
            <a:r>
              <a:rPr lang="zh-CN" altLang="en-US" sz="1800" dirty="0" smtClean="0"/>
              <a:t>地址，</a:t>
            </a:r>
            <a:r>
              <a:rPr lang="zh-CN" altLang="en-US" sz="1800" dirty="0"/>
              <a:t>隧道接口的</a:t>
            </a:r>
            <a:r>
              <a:rPr lang="en-US" altLang="zh-CN" sz="1800" dirty="0"/>
              <a:t>IPv6</a:t>
            </a:r>
            <a:r>
              <a:rPr lang="zh-CN" altLang="en-US" sz="1800" dirty="0"/>
              <a:t>地址采用内嵌</a:t>
            </a:r>
            <a:r>
              <a:rPr lang="en-US" altLang="zh-CN" sz="1800" dirty="0"/>
              <a:t>IPv4</a:t>
            </a:r>
            <a:r>
              <a:rPr lang="zh-CN" altLang="en-US" sz="1800" dirty="0"/>
              <a:t>地址的特殊</a:t>
            </a:r>
            <a:r>
              <a:rPr lang="en-US" altLang="zh-CN" sz="1800" dirty="0"/>
              <a:t>IPv6</a:t>
            </a:r>
            <a:r>
              <a:rPr lang="zh-CN" altLang="en-US" sz="1800" dirty="0"/>
              <a:t>地址形式。设备从</a:t>
            </a:r>
            <a:r>
              <a:rPr lang="en-US" altLang="zh-CN" sz="1800" dirty="0"/>
              <a:t>IPv6</a:t>
            </a:r>
            <a:r>
              <a:rPr lang="zh-CN" altLang="en-US" sz="1800" dirty="0"/>
              <a:t>报文中的目的</a:t>
            </a:r>
            <a:r>
              <a:rPr lang="en-US" altLang="zh-CN" sz="1800" dirty="0"/>
              <a:t>IPv6</a:t>
            </a:r>
            <a:r>
              <a:rPr lang="zh-CN" altLang="en-US" sz="1800" dirty="0"/>
              <a:t>地址中解析出</a:t>
            </a:r>
            <a:r>
              <a:rPr lang="en-US" altLang="zh-CN" sz="1800" dirty="0"/>
              <a:t>IPv4</a:t>
            </a:r>
            <a:r>
              <a:rPr lang="zh-CN" altLang="en-US" sz="1800" dirty="0"/>
              <a:t>地址，然后以这个</a:t>
            </a:r>
            <a:r>
              <a:rPr lang="en-US" altLang="zh-CN" sz="1800" dirty="0"/>
              <a:t>IPv4</a:t>
            </a:r>
            <a:r>
              <a:rPr lang="zh-CN" altLang="en-US" sz="1800" dirty="0"/>
              <a:t>地址代表的节点作为隧道</a:t>
            </a:r>
            <a:r>
              <a:rPr lang="zh-CN" altLang="en-US" sz="1800" dirty="0" smtClean="0"/>
              <a:t>的终点。</a:t>
            </a:r>
            <a:endParaRPr lang="zh-CN" altLang="en-US" sz="1800" dirty="0"/>
          </a:p>
        </p:txBody>
      </p:sp>
      <p:sp>
        <p:nvSpPr>
          <p:cNvPr id="57" name="圆角矩形 75"/>
          <p:cNvSpPr/>
          <p:nvPr/>
        </p:nvSpPr>
        <p:spPr bwMode="gray">
          <a:xfrm>
            <a:off x="455613" y="2219913"/>
            <a:ext cx="3678491" cy="317678"/>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兼容</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自动隧道</a:t>
            </a:r>
          </a:p>
        </p:txBody>
      </p:sp>
      <p:sp>
        <p:nvSpPr>
          <p:cNvPr id="58" name="圆角矩形 75"/>
          <p:cNvSpPr/>
          <p:nvPr/>
        </p:nvSpPr>
        <p:spPr bwMode="gray">
          <a:xfrm>
            <a:off x="455613" y="2595603"/>
            <a:ext cx="3678491" cy="3605172"/>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承载</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报文的目的地址（即自动隧道所使用的特殊地址）是</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兼容</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地址，该地址</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的前</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96</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位全部为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，后</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32</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位为</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p>
        </p:txBody>
      </p:sp>
      <p:sp>
        <p:nvSpPr>
          <p:cNvPr id="59" name="圆角矩形 75"/>
          <p:cNvSpPr/>
          <p:nvPr/>
        </p:nvSpPr>
        <p:spPr bwMode="gray">
          <a:xfrm>
            <a:off x="4263105" y="2219913"/>
            <a:ext cx="3678491" cy="317678"/>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6to4</a:t>
            </a:r>
            <a:r>
              <a:rPr lang="zh-CN" altLang="en-US"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75"/>
          <p:cNvSpPr/>
          <p:nvPr/>
        </p:nvSpPr>
        <p:spPr bwMode="gray">
          <a:xfrm>
            <a:off x="4263105" y="2595603"/>
            <a:ext cx="3678491" cy="3605172"/>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6to4</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隧道也是使用内嵌在</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地址中的</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地址建立</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6to4</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是使用</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做网络</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前缀。</a:t>
            </a:r>
            <a:endPar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6to4</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地址格式：</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75"/>
          <p:cNvSpPr/>
          <p:nvPr/>
        </p:nvSpPr>
        <p:spPr bwMode="gray">
          <a:xfrm>
            <a:off x="8070597" y="2219913"/>
            <a:ext cx="3678491" cy="317678"/>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ISATAP</a:t>
            </a:r>
            <a:r>
              <a:rPr lang="zh-CN" altLang="en-US"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隧道 </a:t>
            </a:r>
            <a:endParaRPr lang="en-US" altLang="zh-CN" sz="140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圆角矩形 75"/>
          <p:cNvSpPr/>
          <p:nvPr/>
        </p:nvSpPr>
        <p:spPr bwMode="gray">
          <a:xfrm>
            <a:off x="8070597" y="2595603"/>
            <a:ext cx="3678491" cy="3605172"/>
          </a:xfrm>
          <a:prstGeom prst="roundRect">
            <a:avLst>
              <a:gd name="adj" fmla="val 2049"/>
            </a:avLst>
          </a:prstGeom>
          <a:noFill/>
          <a:ln w="9525" cap="flat" cmpd="sng" algn="ctr">
            <a:solidFill>
              <a:sysClr val="window" lastClr="FFFFFF">
                <a:lumMod val="75000"/>
              </a:sysClr>
            </a:solidFill>
            <a:prstDash val="solid"/>
            <a:miter lim="800000"/>
          </a:ln>
          <a:effectLst/>
        </p:spPr>
        <p:txBody>
          <a:bodyPr wrap="square" lIns="72000" tIns="72000" rIns="72000" bIns="72000" rtlCol="0" anchor="t" anchorCtr="0"/>
          <a:lstStyle/>
          <a:p>
            <a:pPr marL="171450" lvl="0" indent="-171450" defTabSz="914400">
              <a:lnSpc>
                <a:spcPct val="150000"/>
              </a:lnSpc>
              <a:buFont typeface="Arial" panose="020B0604020202020204" pitchFamily="34" charset="0"/>
              <a:buChar char="•"/>
              <a:defRPr/>
            </a:pPr>
            <a:r>
              <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ISATAP</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隧道同样使用了内嵌</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地址的特殊</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地址形式</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，用</a:t>
            </a: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地址做为接口</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标识。</a:t>
            </a:r>
            <a:endPar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ISATAP</a:t>
            </a: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接口标识格式：</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Freeform 159"/>
          <p:cNvSpPr/>
          <p:nvPr/>
        </p:nvSpPr>
        <p:spPr bwMode="gray">
          <a:xfrm flipH="1">
            <a:off x="3248906" y="5251144"/>
            <a:ext cx="561329" cy="3556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90" name="文本框 89"/>
          <p:cNvSpPr txBox="1"/>
          <p:nvPr/>
        </p:nvSpPr>
        <p:spPr bwMode="gray">
          <a:xfrm>
            <a:off x="3277276" y="5341375"/>
            <a:ext cx="511754" cy="276999"/>
          </a:xfrm>
          <a:prstGeom prst="rect">
            <a:avLst/>
          </a:prstGeom>
          <a:noFill/>
        </p:spPr>
        <p:txBody>
          <a:bodyPr wrap="square" rtlCol="0">
            <a:spAutoFit/>
          </a:bodyPr>
          <a:lstStyle/>
          <a:p>
            <a:pPr algn="ctr"/>
            <a:r>
              <a:rPr lang="en-US" sz="1200" dirty="0">
                <a:cs typeface="Arial" panose="020B0604020202020204" pitchFamily="34" charset="0"/>
              </a:rPr>
              <a:t>IPv6</a:t>
            </a:r>
          </a:p>
        </p:txBody>
      </p:sp>
      <p:sp>
        <p:nvSpPr>
          <p:cNvPr id="64" name="Freeform 159"/>
          <p:cNvSpPr/>
          <p:nvPr/>
        </p:nvSpPr>
        <p:spPr bwMode="gray">
          <a:xfrm flipH="1">
            <a:off x="777121" y="5251144"/>
            <a:ext cx="561329" cy="3556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65" name="文本框 64"/>
          <p:cNvSpPr txBox="1"/>
          <p:nvPr/>
        </p:nvSpPr>
        <p:spPr bwMode="gray">
          <a:xfrm>
            <a:off x="805491" y="5341375"/>
            <a:ext cx="511754" cy="276999"/>
          </a:xfrm>
          <a:prstGeom prst="rect">
            <a:avLst/>
          </a:prstGeom>
          <a:noFill/>
        </p:spPr>
        <p:txBody>
          <a:bodyPr wrap="square" rtlCol="0">
            <a:spAutoFit/>
          </a:bodyPr>
          <a:lstStyle/>
          <a:p>
            <a:pPr algn="ctr"/>
            <a:r>
              <a:rPr lang="en-US" sz="1200" dirty="0">
                <a:cs typeface="Arial" panose="020B0604020202020204" pitchFamily="34" charset="0"/>
              </a:rPr>
              <a:t>IPv6</a:t>
            </a:r>
          </a:p>
        </p:txBody>
      </p:sp>
      <p:pic>
        <p:nvPicPr>
          <p:cNvPr id="68" name="图片 6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254282" y="5296977"/>
            <a:ext cx="391948" cy="321397"/>
          </a:xfrm>
          <a:prstGeom prst="rect">
            <a:avLst/>
          </a:prstGeom>
        </p:spPr>
      </p:pic>
      <p:sp>
        <p:nvSpPr>
          <p:cNvPr id="72" name="Can 9"/>
          <p:cNvSpPr/>
          <p:nvPr/>
        </p:nvSpPr>
        <p:spPr bwMode="gray">
          <a:xfrm rot="5400000">
            <a:off x="2226575" y="4803465"/>
            <a:ext cx="170239" cy="1296000"/>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auto">
          <a:xfrm>
            <a:off x="1587135" y="5577525"/>
            <a:ext cx="1424630" cy="461665"/>
          </a:xfrm>
          <a:prstGeom prst="rect">
            <a:avLst/>
          </a:prstGeom>
          <a:noFill/>
        </p:spPr>
        <p:txBody>
          <a:bodyPr wrap="square" rtlCol="0">
            <a:spAutoFit/>
          </a:bodyPr>
          <a:lstStyle/>
          <a:p>
            <a:pPr algn="ctr"/>
            <a:r>
              <a:rPr lang="en-US" sz="1200" dirty="0" smtClean="0">
                <a:solidFill>
                  <a:srgbClr val="56C4D2"/>
                </a:solidFill>
                <a:cs typeface="Arial" panose="020B0604020202020204" pitchFamily="34" charset="0"/>
              </a:rPr>
              <a:t>IPv4-Compatible IPv6 T</a:t>
            </a:r>
            <a:r>
              <a:rPr lang="en-US" altLang="zh-CN" sz="1200" dirty="0" smtClean="0">
                <a:solidFill>
                  <a:srgbClr val="56C4D2"/>
                </a:solidFill>
                <a:cs typeface="Arial" panose="020B0604020202020204" pitchFamily="34" charset="0"/>
              </a:rPr>
              <a:t>unnel</a:t>
            </a:r>
            <a:endParaRPr lang="en-US" sz="1200" dirty="0">
              <a:solidFill>
                <a:srgbClr val="56C4D2"/>
              </a:solidFill>
              <a:cs typeface="Arial" panose="020B0604020202020204" pitchFamily="34" charset="0"/>
            </a:endParaRPr>
          </a:p>
        </p:txBody>
      </p:sp>
      <p:pic>
        <p:nvPicPr>
          <p:cNvPr id="76" name="图片 75" descr="PC.png"/>
          <p:cNvPicPr>
            <a:picLocks noChangeAspect="1"/>
          </p:cNvPicPr>
          <p:nvPr/>
        </p:nvPicPr>
        <p:blipFill>
          <a:blip r:embed="rId4" cstate="print"/>
          <a:stretch>
            <a:fillRect/>
          </a:stretch>
        </p:blipFill>
        <p:spPr bwMode="gray">
          <a:xfrm>
            <a:off x="542567" y="5325017"/>
            <a:ext cx="323413" cy="248381"/>
          </a:xfrm>
          <a:prstGeom prst="rect">
            <a:avLst/>
          </a:prstGeom>
        </p:spPr>
      </p:pic>
      <p:sp>
        <p:nvSpPr>
          <p:cNvPr id="78" name="文本框 77"/>
          <p:cNvSpPr txBox="1"/>
          <p:nvPr/>
        </p:nvSpPr>
        <p:spPr bwMode="gray">
          <a:xfrm>
            <a:off x="1262887" y="5563715"/>
            <a:ext cx="369677" cy="276999"/>
          </a:xfrm>
          <a:prstGeom prst="rect">
            <a:avLst/>
          </a:prstGeom>
          <a:noFill/>
        </p:spPr>
        <p:txBody>
          <a:bodyPr wrap="square" rtlCol="0">
            <a:spAutoFit/>
          </a:bodyPr>
          <a:lstStyle/>
          <a:p>
            <a:pPr algn="ctr"/>
            <a:r>
              <a:rPr lang="en-US" altLang="zh-CN" sz="1200" dirty="0" smtClean="0">
                <a:cs typeface="Arial" panose="020B0604020202020204" pitchFamily="34" charset="0"/>
              </a:rPr>
              <a:t>R1</a:t>
            </a:r>
            <a:endParaRPr lang="en-US" sz="1200" dirty="0">
              <a:cs typeface="Arial" panose="020B0604020202020204" pitchFamily="34" charset="0"/>
            </a:endParaRPr>
          </a:p>
        </p:txBody>
      </p:sp>
      <p:sp>
        <p:nvSpPr>
          <p:cNvPr id="82" name="文本框 81"/>
          <p:cNvSpPr txBox="1"/>
          <p:nvPr/>
        </p:nvSpPr>
        <p:spPr bwMode="gray">
          <a:xfrm>
            <a:off x="651706" y="5720863"/>
            <a:ext cx="1085458" cy="461665"/>
          </a:xfrm>
          <a:prstGeom prst="rect">
            <a:avLst/>
          </a:prstGeom>
          <a:noFill/>
        </p:spPr>
        <p:txBody>
          <a:bodyPr wrap="square" rtlCol="0">
            <a:spAutoFit/>
          </a:bodyPr>
          <a:lstStyle/>
          <a:p>
            <a:pPr algn="r"/>
            <a:r>
              <a:rPr lang="en-US" altLang="zh-CN" sz="1200" dirty="0" smtClean="0">
                <a:solidFill>
                  <a:srgbClr val="C7000B"/>
                </a:solidFill>
                <a:cs typeface="Arial" panose="020B0604020202020204" pitchFamily="34" charset="0"/>
              </a:rPr>
              <a:t>Tunnel 1</a:t>
            </a:r>
          </a:p>
          <a:p>
            <a:pPr algn="r"/>
            <a:r>
              <a:rPr lang="en-US" altLang="zh-CN" sz="1200" dirty="0" smtClean="0">
                <a:solidFill>
                  <a:srgbClr val="C7000B"/>
                </a:solidFill>
                <a:cs typeface="Arial" panose="020B0604020202020204" pitchFamily="34" charset="0"/>
              </a:rPr>
              <a:t>::A01:101/96</a:t>
            </a:r>
            <a:endParaRPr lang="en-US" sz="1200" dirty="0">
              <a:solidFill>
                <a:srgbClr val="C7000B"/>
              </a:solidFill>
              <a:cs typeface="Arial" panose="020B0604020202020204" pitchFamily="34" charset="0"/>
            </a:endParaRPr>
          </a:p>
        </p:txBody>
      </p:sp>
      <p:sp>
        <p:nvSpPr>
          <p:cNvPr id="83" name="文本框 82"/>
          <p:cNvSpPr txBox="1"/>
          <p:nvPr/>
        </p:nvSpPr>
        <p:spPr bwMode="gray">
          <a:xfrm>
            <a:off x="2891794" y="5723784"/>
            <a:ext cx="1055400" cy="461665"/>
          </a:xfrm>
          <a:prstGeom prst="rect">
            <a:avLst/>
          </a:prstGeom>
          <a:noFill/>
        </p:spPr>
        <p:txBody>
          <a:bodyPr wrap="square" rtlCol="0">
            <a:spAutoFit/>
          </a:bodyPr>
          <a:lstStyle/>
          <a:p>
            <a:r>
              <a:rPr lang="en-US" altLang="zh-CN" sz="1200" dirty="0" smtClean="0">
                <a:solidFill>
                  <a:srgbClr val="C7000B"/>
                </a:solidFill>
                <a:cs typeface="Arial" panose="020B0604020202020204" pitchFamily="34" charset="0"/>
              </a:rPr>
              <a:t>Tunnel 1</a:t>
            </a:r>
          </a:p>
          <a:p>
            <a:r>
              <a:rPr lang="en-US" altLang="zh-CN" sz="1200" dirty="0" smtClean="0">
                <a:solidFill>
                  <a:srgbClr val="C7000B"/>
                </a:solidFill>
                <a:cs typeface="Arial" panose="020B0604020202020204" pitchFamily="34" charset="0"/>
              </a:rPr>
              <a:t>::A01:102/96</a:t>
            </a:r>
            <a:endParaRPr lang="en-US" sz="1200" dirty="0">
              <a:solidFill>
                <a:srgbClr val="C7000B"/>
              </a:solidFill>
              <a:cs typeface="Arial" panose="020B0604020202020204" pitchFamily="34" charset="0"/>
            </a:endParaRPr>
          </a:p>
        </p:txBody>
      </p:sp>
      <p:pic>
        <p:nvPicPr>
          <p:cNvPr id="91" name="图片 9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78549" y="5296977"/>
            <a:ext cx="391948" cy="321397"/>
          </a:xfrm>
          <a:prstGeom prst="rect">
            <a:avLst/>
          </a:prstGeom>
        </p:spPr>
      </p:pic>
      <p:pic>
        <p:nvPicPr>
          <p:cNvPr id="92" name="图片 91" descr="PC.png"/>
          <p:cNvPicPr>
            <a:picLocks noChangeAspect="1"/>
          </p:cNvPicPr>
          <p:nvPr/>
        </p:nvPicPr>
        <p:blipFill>
          <a:blip r:embed="rId4" cstate="print"/>
          <a:stretch>
            <a:fillRect/>
          </a:stretch>
        </p:blipFill>
        <p:spPr bwMode="gray">
          <a:xfrm>
            <a:off x="3747782" y="5325017"/>
            <a:ext cx="323413" cy="248381"/>
          </a:xfrm>
          <a:prstGeom prst="rect">
            <a:avLst/>
          </a:prstGeom>
        </p:spPr>
      </p:pic>
      <p:sp>
        <p:nvSpPr>
          <p:cNvPr id="94" name="文本框 93"/>
          <p:cNvSpPr txBox="1"/>
          <p:nvPr/>
        </p:nvSpPr>
        <p:spPr bwMode="gray">
          <a:xfrm>
            <a:off x="2987946" y="5563715"/>
            <a:ext cx="369677" cy="276999"/>
          </a:xfrm>
          <a:prstGeom prst="rect">
            <a:avLst/>
          </a:prstGeom>
          <a:noFill/>
        </p:spPr>
        <p:txBody>
          <a:bodyPr wrap="square" rtlCol="0">
            <a:spAutoFit/>
          </a:bodyPr>
          <a:lstStyle/>
          <a:p>
            <a:pPr algn="ctr"/>
            <a:r>
              <a:rPr lang="en-US" altLang="zh-CN" sz="1200" dirty="0" smtClean="0">
                <a:cs typeface="Arial" panose="020B0604020202020204" pitchFamily="34" charset="0"/>
              </a:rPr>
              <a:t>R2</a:t>
            </a:r>
            <a:endParaRPr lang="en-US" sz="1200" dirty="0">
              <a:cs typeface="Arial" panose="020B0604020202020204" pitchFamily="34" charset="0"/>
            </a:endParaRPr>
          </a:p>
        </p:txBody>
      </p:sp>
      <p:grpSp>
        <p:nvGrpSpPr>
          <p:cNvPr id="10" name="组合 9"/>
          <p:cNvGrpSpPr/>
          <p:nvPr/>
        </p:nvGrpSpPr>
        <p:grpSpPr bwMode="gray">
          <a:xfrm>
            <a:off x="386062" y="3812201"/>
            <a:ext cx="3705970" cy="727603"/>
            <a:chOff x="386062" y="5453489"/>
            <a:chExt cx="3705970" cy="727603"/>
          </a:xfrm>
        </p:grpSpPr>
        <p:sp>
          <p:nvSpPr>
            <p:cNvPr id="95" name="矩形 94"/>
            <p:cNvSpPr/>
            <p:nvPr/>
          </p:nvSpPr>
          <p:spPr bwMode="gray">
            <a:xfrm>
              <a:off x="963099" y="5453489"/>
              <a:ext cx="1044000" cy="231899"/>
            </a:xfrm>
            <a:prstGeom prst="rect">
              <a:avLst/>
            </a:prstGeom>
            <a:solidFill>
              <a:srgbClr val="EAF8FA"/>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Header</a:t>
              </a:r>
              <a:endParaRPr lang="zh-CN" altLang="en-US" sz="1200" dirty="0">
                <a:solidFill>
                  <a:schemeClr val="tx1"/>
                </a:solidFill>
              </a:endParaRPr>
            </a:p>
          </p:txBody>
        </p:sp>
        <p:sp>
          <p:nvSpPr>
            <p:cNvPr id="96" name="矩形 95"/>
            <p:cNvSpPr/>
            <p:nvPr/>
          </p:nvSpPr>
          <p:spPr bwMode="gray">
            <a:xfrm>
              <a:off x="2003267" y="5453489"/>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Header</a:t>
              </a:r>
              <a:endParaRPr lang="zh-CN" altLang="en-US" sz="1200" dirty="0">
                <a:solidFill>
                  <a:schemeClr val="tx1"/>
                </a:solidFill>
              </a:endParaRPr>
            </a:p>
          </p:txBody>
        </p:sp>
        <p:sp>
          <p:nvSpPr>
            <p:cNvPr id="97" name="矩形 96"/>
            <p:cNvSpPr/>
            <p:nvPr/>
          </p:nvSpPr>
          <p:spPr bwMode="gray">
            <a:xfrm>
              <a:off x="3048513" y="5453489"/>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Data</a:t>
              </a:r>
              <a:endParaRPr lang="zh-CN" altLang="en-US" sz="1200" dirty="0">
                <a:solidFill>
                  <a:schemeClr val="tx1"/>
                </a:solidFill>
              </a:endParaRPr>
            </a:p>
          </p:txBody>
        </p:sp>
        <p:sp>
          <p:nvSpPr>
            <p:cNvPr id="98" name="文本框 97"/>
            <p:cNvSpPr txBox="1"/>
            <p:nvPr/>
          </p:nvSpPr>
          <p:spPr bwMode="gray">
            <a:xfrm>
              <a:off x="386062" y="5719427"/>
              <a:ext cx="1478290" cy="461665"/>
            </a:xfrm>
            <a:prstGeom prst="rect">
              <a:avLst/>
            </a:prstGeom>
            <a:noFill/>
          </p:spPr>
          <p:txBody>
            <a:bodyPr wrap="none" rtlCol="0">
              <a:spAutoFit/>
            </a:bodyPr>
            <a:lstStyle/>
            <a:p>
              <a:pPr algn="r"/>
              <a:r>
                <a:rPr lang="zh-CN" altLang="en-US" sz="1200" dirty="0" smtClean="0">
                  <a:cs typeface="Arial" panose="020B0604020202020204" pitchFamily="34" charset="0"/>
                </a:rPr>
                <a:t>源</a:t>
              </a:r>
              <a:r>
                <a:rPr lang="en-US" altLang="zh-CN" sz="1200" dirty="0" smtClean="0">
                  <a:cs typeface="Arial" panose="020B0604020202020204" pitchFamily="34" charset="0"/>
                </a:rPr>
                <a:t>IPv4</a:t>
              </a:r>
              <a:r>
                <a:rPr lang="zh-CN" altLang="en-US" sz="1200" dirty="0" smtClean="0">
                  <a:cs typeface="Arial" panose="020B0604020202020204" pitchFamily="34" charset="0"/>
                </a:rPr>
                <a:t>：</a:t>
              </a:r>
              <a:r>
                <a:rPr lang="en-US" altLang="zh-CN" sz="1200" dirty="0" smtClean="0">
                  <a:cs typeface="Arial" panose="020B0604020202020204" pitchFamily="34" charset="0"/>
                </a:rPr>
                <a:t>10.1.1.1</a:t>
              </a:r>
            </a:p>
            <a:p>
              <a:pPr algn="r"/>
              <a:r>
                <a:rPr lang="zh-CN" altLang="en-US" sz="1200" dirty="0" smtClean="0">
                  <a:cs typeface="Arial" panose="020B0604020202020204" pitchFamily="34" charset="0"/>
                </a:rPr>
                <a:t>目的</a:t>
              </a:r>
              <a:r>
                <a:rPr lang="en-US" altLang="zh-CN" sz="1200" dirty="0" smtClean="0">
                  <a:cs typeface="Arial" panose="020B0604020202020204" pitchFamily="34" charset="0"/>
                </a:rPr>
                <a:t>IPv4</a:t>
              </a:r>
              <a:r>
                <a:rPr lang="zh-CN" altLang="en-US" sz="1200" dirty="0" smtClean="0">
                  <a:cs typeface="Arial" panose="020B0604020202020204" pitchFamily="34" charset="0"/>
                </a:rPr>
                <a:t>：</a:t>
              </a:r>
              <a:r>
                <a:rPr lang="en-US" altLang="zh-CN" sz="1200" dirty="0" smtClean="0">
                  <a:cs typeface="Arial" panose="020B0604020202020204" pitchFamily="34" charset="0"/>
                </a:rPr>
                <a:t>1</a:t>
              </a:r>
              <a:r>
                <a:rPr lang="en-US" altLang="zh-CN" sz="1200" dirty="0" smtClean="0">
                  <a:cs typeface="Arial" panose="020B0604020202020204" pitchFamily="34" charset="0"/>
                </a:rPr>
                <a:t>0.1.1.2</a:t>
              </a:r>
              <a:endParaRPr lang="en-US" sz="1200" dirty="0">
                <a:cs typeface="Arial" panose="020B0604020202020204" pitchFamily="34" charset="0"/>
              </a:endParaRPr>
            </a:p>
          </p:txBody>
        </p:sp>
        <p:sp>
          <p:nvSpPr>
            <p:cNvPr id="99" name="文本框 98"/>
            <p:cNvSpPr txBox="1"/>
            <p:nvPr/>
          </p:nvSpPr>
          <p:spPr bwMode="gray">
            <a:xfrm>
              <a:off x="1897196" y="5719427"/>
              <a:ext cx="1579278" cy="461665"/>
            </a:xfrm>
            <a:prstGeom prst="rect">
              <a:avLst/>
            </a:prstGeom>
            <a:noFill/>
          </p:spPr>
          <p:txBody>
            <a:bodyPr wrap="none" rtlCol="0">
              <a:spAutoFit/>
            </a:bodyPr>
            <a:lstStyle/>
            <a:p>
              <a:pPr algn="r"/>
              <a:r>
                <a:rPr lang="zh-CN" altLang="en-US" sz="1200" dirty="0" smtClean="0">
                  <a:cs typeface="Arial" panose="020B0604020202020204" pitchFamily="34" charset="0"/>
                </a:rPr>
                <a:t>源</a:t>
              </a:r>
              <a:r>
                <a:rPr lang="en-US" altLang="zh-CN" sz="1200" dirty="0" smtClean="0">
                  <a:cs typeface="Arial" panose="020B0604020202020204" pitchFamily="34" charset="0"/>
                </a:rPr>
                <a:t>IPv6</a:t>
              </a:r>
              <a:r>
                <a:rPr lang="zh-CN" altLang="en-US" sz="1200" dirty="0" smtClean="0">
                  <a:cs typeface="Arial" panose="020B0604020202020204" pitchFamily="34" charset="0"/>
                </a:rPr>
                <a:t>：</a:t>
              </a:r>
              <a:r>
                <a:rPr lang="en-US" altLang="zh-CN" sz="1200" dirty="0">
                  <a:cs typeface="Arial" panose="020B0604020202020204" pitchFamily="34" charset="0"/>
                </a:rPr>
                <a:t>::</a:t>
              </a:r>
              <a:r>
                <a:rPr lang="en-US" altLang="zh-CN" sz="1200" dirty="0" smtClean="0">
                  <a:cs typeface="Arial" panose="020B0604020202020204" pitchFamily="34" charset="0"/>
                </a:rPr>
                <a:t>A01:101</a:t>
              </a:r>
            </a:p>
            <a:p>
              <a:pPr algn="r"/>
              <a:r>
                <a:rPr lang="zh-CN" altLang="en-US" sz="1200" dirty="0" smtClean="0">
                  <a:cs typeface="Arial" panose="020B0604020202020204" pitchFamily="34" charset="0"/>
                </a:rPr>
                <a:t>目的</a:t>
              </a:r>
              <a:r>
                <a:rPr lang="en-US" altLang="zh-CN" sz="1200" dirty="0" smtClean="0">
                  <a:cs typeface="Arial" panose="020B0604020202020204" pitchFamily="34" charset="0"/>
                </a:rPr>
                <a:t>IPv6</a:t>
              </a:r>
              <a:r>
                <a:rPr lang="zh-CN" altLang="en-US" sz="1200" dirty="0" smtClean="0">
                  <a:cs typeface="Arial" panose="020B0604020202020204" pitchFamily="34" charset="0"/>
                </a:rPr>
                <a:t>：</a:t>
              </a:r>
              <a:r>
                <a:rPr lang="en-US" altLang="zh-CN" sz="1200" dirty="0">
                  <a:cs typeface="Arial" panose="020B0604020202020204" pitchFamily="34" charset="0"/>
                </a:rPr>
                <a:t>::A01:102</a:t>
              </a:r>
              <a:endParaRPr lang="en-US" sz="1200" dirty="0">
                <a:cs typeface="Arial" panose="020B0604020202020204" pitchFamily="34" charset="0"/>
              </a:endParaRPr>
            </a:p>
          </p:txBody>
        </p:sp>
      </p:grpSp>
      <p:grpSp>
        <p:nvGrpSpPr>
          <p:cNvPr id="100" name="组合 99"/>
          <p:cNvGrpSpPr/>
          <p:nvPr/>
        </p:nvGrpSpPr>
        <p:grpSpPr bwMode="gray">
          <a:xfrm>
            <a:off x="4462976" y="3552286"/>
            <a:ext cx="3361271" cy="1049260"/>
            <a:chOff x="5313972" y="2898139"/>
            <a:chExt cx="4744398" cy="709062"/>
          </a:xfrm>
        </p:grpSpPr>
        <p:sp>
          <p:nvSpPr>
            <p:cNvPr id="101" name="矩形 100"/>
            <p:cNvSpPr/>
            <p:nvPr/>
          </p:nvSpPr>
          <p:spPr bwMode="gray">
            <a:xfrm>
              <a:off x="5742771" y="2898139"/>
              <a:ext cx="72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TLA</a:t>
              </a:r>
              <a:endParaRPr lang="zh-CN" altLang="en-US" sz="1200" dirty="0">
                <a:solidFill>
                  <a:schemeClr val="tx1"/>
                </a:solidFill>
              </a:endParaRPr>
            </a:p>
          </p:txBody>
        </p:sp>
        <p:sp>
          <p:nvSpPr>
            <p:cNvPr id="102" name="矩形 101"/>
            <p:cNvSpPr/>
            <p:nvPr/>
          </p:nvSpPr>
          <p:spPr bwMode="gray">
            <a:xfrm>
              <a:off x="6462771" y="2898139"/>
              <a:ext cx="1240326"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smtClean="0">
                  <a:solidFill>
                    <a:schemeClr val="tx1"/>
                  </a:solidFill>
                </a:rPr>
                <a:t>IPv4 Address</a:t>
              </a:r>
              <a:endParaRPr lang="zh-CN" altLang="en-US" sz="1200" dirty="0">
                <a:solidFill>
                  <a:schemeClr val="tx1"/>
                </a:solidFill>
              </a:endParaRPr>
            </a:p>
          </p:txBody>
        </p:sp>
        <p:sp>
          <p:nvSpPr>
            <p:cNvPr id="103" name="右大括号 102"/>
            <p:cNvSpPr/>
            <p:nvPr/>
          </p:nvSpPr>
          <p:spPr bwMode="gray">
            <a:xfrm rot="5400000">
              <a:off x="6034839" y="2888900"/>
              <a:ext cx="135862" cy="720001"/>
            </a:xfrm>
            <a:prstGeom prst="righ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右大括号 103"/>
            <p:cNvSpPr/>
            <p:nvPr/>
          </p:nvSpPr>
          <p:spPr bwMode="gray">
            <a:xfrm rot="5400000">
              <a:off x="7015004" y="2628739"/>
              <a:ext cx="135861" cy="1240325"/>
            </a:xfrm>
            <a:prstGeom prst="rightBrace">
              <a:avLst/>
            </a:prstGeom>
            <a:ln>
              <a:solidFill>
                <a:srgbClr val="94DAE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 name="文本框 104"/>
            <p:cNvSpPr txBox="1"/>
            <p:nvPr/>
          </p:nvSpPr>
          <p:spPr bwMode="gray">
            <a:xfrm>
              <a:off x="5313972" y="3330201"/>
              <a:ext cx="502061" cy="276999"/>
            </a:xfrm>
            <a:prstGeom prst="rect">
              <a:avLst/>
            </a:prstGeom>
            <a:noFill/>
          </p:spPr>
          <p:txBody>
            <a:bodyPr wrap="none" rtlCol="0">
              <a:spAutoFit/>
            </a:bodyPr>
            <a:lstStyle/>
            <a:p>
              <a:pPr algn="ctr"/>
              <a:r>
                <a:rPr lang="en-US" sz="1200" dirty="0">
                  <a:cs typeface="Arial" panose="020B0604020202020204" pitchFamily="34" charset="0"/>
                </a:rPr>
                <a:t>3</a:t>
              </a:r>
              <a:r>
                <a:rPr lang="en-US" sz="1200" dirty="0" smtClean="0">
                  <a:cs typeface="Arial" panose="020B0604020202020204" pitchFamily="34" charset="0"/>
                </a:rPr>
                <a:t> </a:t>
              </a:r>
              <a:r>
                <a:rPr lang="en-US" altLang="zh-CN" sz="1200" dirty="0" smtClean="0">
                  <a:cs typeface="Arial" panose="020B0604020202020204" pitchFamily="34" charset="0"/>
                </a:rPr>
                <a:t>bit</a:t>
              </a:r>
              <a:endParaRPr lang="en-US" sz="1200" dirty="0">
                <a:cs typeface="Arial" panose="020B0604020202020204" pitchFamily="34" charset="0"/>
              </a:endParaRPr>
            </a:p>
          </p:txBody>
        </p:sp>
        <p:sp>
          <p:nvSpPr>
            <p:cNvPr id="106" name="文本框 105"/>
            <p:cNvSpPr txBox="1"/>
            <p:nvPr/>
          </p:nvSpPr>
          <p:spPr bwMode="gray">
            <a:xfrm>
              <a:off x="6788622" y="3330201"/>
              <a:ext cx="588623" cy="276999"/>
            </a:xfrm>
            <a:prstGeom prst="rect">
              <a:avLst/>
            </a:prstGeom>
            <a:noFill/>
          </p:spPr>
          <p:txBody>
            <a:bodyPr wrap="none" rtlCol="0">
              <a:spAutoFit/>
            </a:bodyPr>
            <a:lstStyle/>
            <a:p>
              <a:pPr algn="ctr"/>
              <a:r>
                <a:rPr lang="en-US" sz="1200" dirty="0" smtClean="0">
                  <a:cs typeface="Arial" panose="020B0604020202020204" pitchFamily="34" charset="0"/>
                </a:rPr>
                <a:t>32 </a:t>
              </a:r>
              <a:r>
                <a:rPr lang="en-US" altLang="zh-CN" sz="1200" dirty="0" smtClean="0">
                  <a:cs typeface="Arial" panose="020B0604020202020204" pitchFamily="34" charset="0"/>
                </a:rPr>
                <a:t>bit</a:t>
              </a:r>
              <a:endParaRPr lang="en-US" sz="1200" dirty="0">
                <a:cs typeface="Arial" panose="020B0604020202020204" pitchFamily="34" charset="0"/>
              </a:endParaRPr>
            </a:p>
          </p:txBody>
        </p:sp>
        <p:sp>
          <p:nvSpPr>
            <p:cNvPr id="107" name="矩形 106"/>
            <p:cNvSpPr/>
            <p:nvPr/>
          </p:nvSpPr>
          <p:spPr bwMode="gray">
            <a:xfrm>
              <a:off x="5382771" y="2898139"/>
              <a:ext cx="36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smtClean="0">
                  <a:solidFill>
                    <a:schemeClr val="tx1"/>
                  </a:solidFill>
                </a:rPr>
                <a:t>FP</a:t>
              </a:r>
              <a:endParaRPr lang="zh-CN" altLang="en-US" sz="1200" dirty="0">
                <a:solidFill>
                  <a:schemeClr val="tx1"/>
                </a:solidFill>
              </a:endParaRPr>
            </a:p>
          </p:txBody>
        </p:sp>
        <p:sp>
          <p:nvSpPr>
            <p:cNvPr id="108" name="矩形 107"/>
            <p:cNvSpPr/>
            <p:nvPr/>
          </p:nvSpPr>
          <p:spPr bwMode="gray">
            <a:xfrm>
              <a:off x="7703097" y="2898139"/>
              <a:ext cx="864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SLA ID</a:t>
              </a:r>
              <a:endParaRPr lang="zh-CN" altLang="en-US" sz="1200" dirty="0">
                <a:solidFill>
                  <a:schemeClr val="tx1"/>
                </a:solidFill>
              </a:endParaRPr>
            </a:p>
          </p:txBody>
        </p:sp>
        <p:sp>
          <p:nvSpPr>
            <p:cNvPr id="109" name="矩形 108"/>
            <p:cNvSpPr/>
            <p:nvPr/>
          </p:nvSpPr>
          <p:spPr bwMode="gray">
            <a:xfrm>
              <a:off x="8567098" y="2898139"/>
              <a:ext cx="1491272"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Interface ID</a:t>
              </a:r>
              <a:endParaRPr lang="zh-CN" altLang="en-US" sz="1200" dirty="0">
                <a:solidFill>
                  <a:schemeClr val="tx1"/>
                </a:solidFill>
              </a:endParaRPr>
            </a:p>
          </p:txBody>
        </p:sp>
        <p:sp>
          <p:nvSpPr>
            <p:cNvPr id="110" name="右大括号 109"/>
            <p:cNvSpPr/>
            <p:nvPr/>
          </p:nvSpPr>
          <p:spPr bwMode="gray">
            <a:xfrm rot="5400000">
              <a:off x="9244616" y="2503454"/>
              <a:ext cx="136236" cy="1491272"/>
            </a:xfrm>
            <a:prstGeom prst="rightBrace">
              <a:avLst/>
            </a:prstGeom>
            <a:ln>
              <a:solidFill>
                <a:srgbClr val="94DAE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1" name="文本框 110"/>
            <p:cNvSpPr txBox="1"/>
            <p:nvPr/>
          </p:nvSpPr>
          <p:spPr bwMode="gray">
            <a:xfrm>
              <a:off x="9014665" y="3330202"/>
              <a:ext cx="588623" cy="276999"/>
            </a:xfrm>
            <a:prstGeom prst="rect">
              <a:avLst/>
            </a:prstGeom>
            <a:noFill/>
          </p:spPr>
          <p:txBody>
            <a:bodyPr wrap="none" rtlCol="0">
              <a:spAutoFit/>
            </a:bodyPr>
            <a:lstStyle/>
            <a:p>
              <a:pPr algn="ctr"/>
              <a:r>
                <a:rPr lang="en-US" sz="1200" dirty="0" smtClean="0">
                  <a:cs typeface="Arial" panose="020B0604020202020204" pitchFamily="34" charset="0"/>
                </a:rPr>
                <a:t>64 </a:t>
              </a:r>
              <a:r>
                <a:rPr lang="en-US" altLang="zh-CN" sz="1200" dirty="0" smtClean="0">
                  <a:cs typeface="Arial" panose="020B0604020202020204" pitchFamily="34" charset="0"/>
                </a:rPr>
                <a:t>bit</a:t>
              </a:r>
              <a:endParaRPr lang="en-US" sz="1200" dirty="0">
                <a:cs typeface="Arial" panose="020B0604020202020204" pitchFamily="34" charset="0"/>
              </a:endParaRPr>
            </a:p>
          </p:txBody>
        </p:sp>
        <p:sp>
          <p:nvSpPr>
            <p:cNvPr id="112" name="右大括号 111"/>
            <p:cNvSpPr/>
            <p:nvPr/>
          </p:nvSpPr>
          <p:spPr bwMode="gray">
            <a:xfrm rot="5400000">
              <a:off x="5494839" y="3068902"/>
              <a:ext cx="135862" cy="359997"/>
            </a:xfrm>
            <a:prstGeom prst="righ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 name="右大括号 112"/>
            <p:cNvSpPr/>
            <p:nvPr/>
          </p:nvSpPr>
          <p:spPr bwMode="gray">
            <a:xfrm rot="5400000">
              <a:off x="8067164" y="2816899"/>
              <a:ext cx="135861" cy="863999"/>
            </a:xfrm>
            <a:prstGeom prst="righ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 name="文本框 113"/>
            <p:cNvSpPr txBox="1"/>
            <p:nvPr/>
          </p:nvSpPr>
          <p:spPr bwMode="gray">
            <a:xfrm>
              <a:off x="5808460" y="3330201"/>
              <a:ext cx="588623" cy="276999"/>
            </a:xfrm>
            <a:prstGeom prst="rect">
              <a:avLst/>
            </a:prstGeom>
            <a:noFill/>
          </p:spPr>
          <p:txBody>
            <a:bodyPr wrap="none" rtlCol="0">
              <a:spAutoFit/>
            </a:bodyPr>
            <a:lstStyle/>
            <a:p>
              <a:pPr algn="ctr"/>
              <a:r>
                <a:rPr lang="en-US" sz="1200" dirty="0" smtClean="0">
                  <a:cs typeface="Arial" panose="020B0604020202020204" pitchFamily="34" charset="0"/>
                </a:rPr>
                <a:t>13 </a:t>
              </a:r>
              <a:r>
                <a:rPr lang="en-US" altLang="zh-CN" sz="1200" dirty="0" smtClean="0">
                  <a:cs typeface="Arial" panose="020B0604020202020204" pitchFamily="34" charset="0"/>
                </a:rPr>
                <a:t>bit</a:t>
              </a:r>
              <a:endParaRPr lang="en-US" sz="1200" dirty="0">
                <a:cs typeface="Arial" panose="020B0604020202020204" pitchFamily="34" charset="0"/>
              </a:endParaRPr>
            </a:p>
          </p:txBody>
        </p:sp>
        <p:sp>
          <p:nvSpPr>
            <p:cNvPr id="115" name="文本框 114"/>
            <p:cNvSpPr txBox="1"/>
            <p:nvPr/>
          </p:nvSpPr>
          <p:spPr bwMode="gray">
            <a:xfrm>
              <a:off x="7840784" y="3330201"/>
              <a:ext cx="588623" cy="276999"/>
            </a:xfrm>
            <a:prstGeom prst="rect">
              <a:avLst/>
            </a:prstGeom>
            <a:noFill/>
          </p:spPr>
          <p:txBody>
            <a:bodyPr wrap="none" rtlCol="0">
              <a:spAutoFit/>
            </a:bodyPr>
            <a:lstStyle/>
            <a:p>
              <a:pPr algn="ctr"/>
              <a:r>
                <a:rPr lang="en-US" sz="1200" dirty="0" smtClean="0">
                  <a:cs typeface="Arial" panose="020B0604020202020204" pitchFamily="34" charset="0"/>
                </a:rPr>
                <a:t>16 </a:t>
              </a:r>
              <a:r>
                <a:rPr lang="en-US" altLang="zh-CN" sz="1200" dirty="0" smtClean="0">
                  <a:cs typeface="Arial" panose="020B0604020202020204" pitchFamily="34" charset="0"/>
                </a:rPr>
                <a:t>bit</a:t>
              </a:r>
              <a:endParaRPr lang="en-US" sz="1200" dirty="0">
                <a:cs typeface="Arial" panose="020B0604020202020204" pitchFamily="34" charset="0"/>
              </a:endParaRPr>
            </a:p>
          </p:txBody>
        </p:sp>
      </p:grpSp>
      <p:sp>
        <p:nvSpPr>
          <p:cNvPr id="156" name="Freeform 159"/>
          <p:cNvSpPr/>
          <p:nvPr/>
        </p:nvSpPr>
        <p:spPr bwMode="gray">
          <a:xfrm flipH="1">
            <a:off x="7074884" y="5251144"/>
            <a:ext cx="561329" cy="3556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157" name="文本框 156"/>
          <p:cNvSpPr txBox="1"/>
          <p:nvPr/>
        </p:nvSpPr>
        <p:spPr bwMode="gray">
          <a:xfrm>
            <a:off x="7103254" y="5341375"/>
            <a:ext cx="511754" cy="276999"/>
          </a:xfrm>
          <a:prstGeom prst="rect">
            <a:avLst/>
          </a:prstGeom>
          <a:noFill/>
        </p:spPr>
        <p:txBody>
          <a:bodyPr wrap="square" rtlCol="0">
            <a:spAutoFit/>
          </a:bodyPr>
          <a:lstStyle/>
          <a:p>
            <a:pPr algn="ctr"/>
            <a:r>
              <a:rPr lang="en-US" altLang="zh-CN" sz="1200" dirty="0">
                <a:cs typeface="Arial" panose="020B0604020202020204" pitchFamily="34" charset="0"/>
              </a:rPr>
              <a:t>6to4</a:t>
            </a:r>
          </a:p>
        </p:txBody>
      </p:sp>
      <p:sp>
        <p:nvSpPr>
          <p:cNvPr id="158" name="Freeform 159"/>
          <p:cNvSpPr/>
          <p:nvPr/>
        </p:nvSpPr>
        <p:spPr bwMode="gray">
          <a:xfrm flipH="1">
            <a:off x="4603099" y="5251144"/>
            <a:ext cx="561329" cy="3556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159" name="文本框 158"/>
          <p:cNvSpPr txBox="1"/>
          <p:nvPr/>
        </p:nvSpPr>
        <p:spPr bwMode="gray">
          <a:xfrm>
            <a:off x="4631469" y="5341375"/>
            <a:ext cx="511754" cy="276999"/>
          </a:xfrm>
          <a:prstGeom prst="rect">
            <a:avLst/>
          </a:prstGeom>
          <a:noFill/>
        </p:spPr>
        <p:txBody>
          <a:bodyPr wrap="square" rtlCol="0">
            <a:spAutoFit/>
          </a:bodyPr>
          <a:lstStyle/>
          <a:p>
            <a:pPr algn="ctr"/>
            <a:r>
              <a:rPr lang="en-US" sz="1200" dirty="0" smtClean="0">
                <a:cs typeface="Arial" panose="020B0604020202020204" pitchFamily="34" charset="0"/>
              </a:rPr>
              <a:t>6</a:t>
            </a:r>
            <a:r>
              <a:rPr lang="en-US" altLang="zh-CN" sz="1200" dirty="0" smtClean="0">
                <a:cs typeface="Arial" panose="020B0604020202020204" pitchFamily="34" charset="0"/>
              </a:rPr>
              <a:t>to4</a:t>
            </a:r>
            <a:endParaRPr lang="en-US" sz="1200" dirty="0">
              <a:cs typeface="Arial" panose="020B0604020202020204" pitchFamily="34" charset="0"/>
            </a:endParaRPr>
          </a:p>
        </p:txBody>
      </p:sp>
      <p:sp>
        <p:nvSpPr>
          <p:cNvPr id="160" name="Freeform 159"/>
          <p:cNvSpPr/>
          <p:nvPr/>
        </p:nvSpPr>
        <p:spPr bwMode="gray">
          <a:xfrm flipH="1">
            <a:off x="5233948" y="4849090"/>
            <a:ext cx="1787645" cy="7692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pic>
        <p:nvPicPr>
          <p:cNvPr id="161" name="图片 16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080260" y="5296977"/>
            <a:ext cx="391948" cy="321397"/>
          </a:xfrm>
          <a:prstGeom prst="rect">
            <a:avLst/>
          </a:prstGeom>
        </p:spPr>
      </p:pic>
      <p:sp>
        <p:nvSpPr>
          <p:cNvPr id="162" name="文本框 161"/>
          <p:cNvSpPr txBox="1"/>
          <p:nvPr/>
        </p:nvSpPr>
        <p:spPr bwMode="gray">
          <a:xfrm>
            <a:off x="5852142" y="4998420"/>
            <a:ext cx="476717" cy="276999"/>
          </a:xfrm>
          <a:prstGeom prst="rect">
            <a:avLst/>
          </a:prstGeom>
          <a:noFill/>
        </p:spPr>
        <p:txBody>
          <a:bodyPr wrap="square" rtlCol="0">
            <a:spAutoFit/>
          </a:bodyPr>
          <a:lstStyle/>
          <a:p>
            <a:pPr algn="ctr"/>
            <a:r>
              <a:rPr lang="en-US" sz="1200" dirty="0">
                <a:cs typeface="Arial" panose="020B0604020202020204" pitchFamily="34" charset="0"/>
              </a:rPr>
              <a:t>IPv4</a:t>
            </a:r>
          </a:p>
        </p:txBody>
      </p:sp>
      <p:sp>
        <p:nvSpPr>
          <p:cNvPr id="163" name="Can 9"/>
          <p:cNvSpPr/>
          <p:nvPr/>
        </p:nvSpPr>
        <p:spPr bwMode="gray">
          <a:xfrm rot="5400000">
            <a:off x="6052553" y="4803465"/>
            <a:ext cx="170239" cy="1296000"/>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文本框 163"/>
          <p:cNvSpPr txBox="1"/>
          <p:nvPr/>
        </p:nvSpPr>
        <p:spPr bwMode="auto">
          <a:xfrm>
            <a:off x="5590105" y="5325017"/>
            <a:ext cx="1099296" cy="276999"/>
          </a:xfrm>
          <a:prstGeom prst="rect">
            <a:avLst/>
          </a:prstGeom>
          <a:noFill/>
        </p:spPr>
        <p:txBody>
          <a:bodyPr wrap="square" rtlCol="0">
            <a:spAutoFit/>
          </a:bodyPr>
          <a:lstStyle/>
          <a:p>
            <a:pPr algn="ctr"/>
            <a:r>
              <a:rPr lang="en-US" sz="1200" dirty="0" smtClean="0">
                <a:solidFill>
                  <a:srgbClr val="56C4D2"/>
                </a:solidFill>
                <a:cs typeface="Arial" panose="020B0604020202020204" pitchFamily="34" charset="0"/>
              </a:rPr>
              <a:t>6to4 </a:t>
            </a:r>
            <a:r>
              <a:rPr lang="en-US" altLang="zh-CN" sz="1200" dirty="0">
                <a:solidFill>
                  <a:srgbClr val="56C4D2"/>
                </a:solidFill>
                <a:cs typeface="Arial" panose="020B0604020202020204" pitchFamily="34" charset="0"/>
              </a:rPr>
              <a:t>T</a:t>
            </a:r>
            <a:r>
              <a:rPr lang="en-US" altLang="zh-CN" sz="1200" dirty="0" smtClean="0">
                <a:solidFill>
                  <a:srgbClr val="56C4D2"/>
                </a:solidFill>
                <a:cs typeface="Arial" panose="020B0604020202020204" pitchFamily="34" charset="0"/>
              </a:rPr>
              <a:t>unnel</a:t>
            </a:r>
            <a:endParaRPr lang="en-US" sz="1200" dirty="0">
              <a:solidFill>
                <a:srgbClr val="56C4D2"/>
              </a:solidFill>
              <a:cs typeface="Arial" panose="020B0604020202020204" pitchFamily="34" charset="0"/>
            </a:endParaRPr>
          </a:p>
        </p:txBody>
      </p:sp>
      <p:pic>
        <p:nvPicPr>
          <p:cNvPr id="165" name="图片 164" descr="PC.png"/>
          <p:cNvPicPr>
            <a:picLocks noChangeAspect="1"/>
          </p:cNvPicPr>
          <p:nvPr/>
        </p:nvPicPr>
        <p:blipFill>
          <a:blip r:embed="rId4" cstate="print"/>
          <a:stretch>
            <a:fillRect/>
          </a:stretch>
        </p:blipFill>
        <p:spPr bwMode="gray">
          <a:xfrm>
            <a:off x="4368545" y="5325017"/>
            <a:ext cx="323413" cy="248381"/>
          </a:xfrm>
          <a:prstGeom prst="rect">
            <a:avLst/>
          </a:prstGeom>
        </p:spPr>
      </p:pic>
      <p:sp>
        <p:nvSpPr>
          <p:cNvPr id="167" name="文本框 166"/>
          <p:cNvSpPr txBox="1"/>
          <p:nvPr/>
        </p:nvSpPr>
        <p:spPr bwMode="gray">
          <a:xfrm>
            <a:off x="4758489" y="5582569"/>
            <a:ext cx="1035233" cy="276999"/>
          </a:xfrm>
          <a:prstGeom prst="rect">
            <a:avLst/>
          </a:prstGeom>
          <a:noFill/>
        </p:spPr>
        <p:txBody>
          <a:bodyPr wrap="square" rtlCol="0">
            <a:spAutoFit/>
          </a:bodyPr>
          <a:lstStyle/>
          <a:p>
            <a:pPr algn="ctr"/>
            <a:r>
              <a:rPr lang="en-US" altLang="zh-CN" sz="1200" dirty="0">
                <a:cs typeface="Arial" panose="020B0604020202020204" pitchFamily="34" charset="0"/>
              </a:rPr>
              <a:t>6to4 Router</a:t>
            </a:r>
          </a:p>
        </p:txBody>
      </p:sp>
      <p:sp>
        <p:nvSpPr>
          <p:cNvPr id="168" name="文本框 167"/>
          <p:cNvSpPr txBox="1"/>
          <p:nvPr/>
        </p:nvSpPr>
        <p:spPr bwMode="gray">
          <a:xfrm>
            <a:off x="4621984" y="4758974"/>
            <a:ext cx="1002763" cy="276999"/>
          </a:xfrm>
          <a:prstGeom prst="rect">
            <a:avLst/>
          </a:prstGeom>
          <a:noFill/>
        </p:spPr>
        <p:txBody>
          <a:bodyPr wrap="square" rtlCol="0">
            <a:spAutoFit/>
          </a:bodyPr>
          <a:lstStyle/>
          <a:p>
            <a:pPr algn="ctr"/>
            <a:r>
              <a:rPr lang="en-US" altLang="zh-CN" sz="1200" dirty="0" smtClean="0">
                <a:solidFill>
                  <a:srgbClr val="C7000B"/>
                </a:solidFill>
                <a:cs typeface="Arial" panose="020B0604020202020204" pitchFamily="34" charset="0"/>
              </a:rPr>
              <a:t>10.1.1.1/24</a:t>
            </a:r>
            <a:endParaRPr lang="en-US" sz="1200" dirty="0">
              <a:solidFill>
                <a:srgbClr val="C7000B"/>
              </a:solidFill>
              <a:cs typeface="Arial" panose="020B0604020202020204" pitchFamily="34" charset="0"/>
            </a:endParaRPr>
          </a:p>
        </p:txBody>
      </p:sp>
      <p:sp>
        <p:nvSpPr>
          <p:cNvPr id="169" name="文本框 168"/>
          <p:cNvSpPr txBox="1"/>
          <p:nvPr/>
        </p:nvSpPr>
        <p:spPr bwMode="gray">
          <a:xfrm>
            <a:off x="6585780" y="4757616"/>
            <a:ext cx="1004388" cy="276999"/>
          </a:xfrm>
          <a:prstGeom prst="rect">
            <a:avLst/>
          </a:prstGeom>
          <a:noFill/>
        </p:spPr>
        <p:txBody>
          <a:bodyPr wrap="square" rtlCol="0">
            <a:spAutoFit/>
          </a:bodyPr>
          <a:lstStyle/>
          <a:p>
            <a:pPr algn="ctr"/>
            <a:r>
              <a:rPr lang="en-US" altLang="zh-CN" sz="1200" dirty="0" smtClean="0">
                <a:solidFill>
                  <a:srgbClr val="C7000B"/>
                </a:solidFill>
                <a:cs typeface="Arial" panose="020B0604020202020204" pitchFamily="34" charset="0"/>
              </a:rPr>
              <a:t>10.1.1.2/24</a:t>
            </a:r>
            <a:endParaRPr lang="en-US" sz="1200" dirty="0">
              <a:solidFill>
                <a:srgbClr val="C7000B"/>
              </a:solidFill>
              <a:cs typeface="Arial" panose="020B0604020202020204" pitchFamily="34" charset="0"/>
            </a:endParaRPr>
          </a:p>
        </p:txBody>
      </p:sp>
      <p:sp>
        <p:nvSpPr>
          <p:cNvPr id="170" name="文本框 169"/>
          <p:cNvSpPr txBox="1"/>
          <p:nvPr/>
        </p:nvSpPr>
        <p:spPr bwMode="gray">
          <a:xfrm>
            <a:off x="4183842" y="5785906"/>
            <a:ext cx="1609879" cy="461665"/>
          </a:xfrm>
          <a:prstGeom prst="rect">
            <a:avLst/>
          </a:prstGeom>
          <a:noFill/>
        </p:spPr>
        <p:txBody>
          <a:bodyPr wrap="square" rtlCol="0">
            <a:spAutoFit/>
          </a:bodyPr>
          <a:lstStyle/>
          <a:p>
            <a:pPr algn="r"/>
            <a:r>
              <a:rPr lang="en-US" altLang="zh-CN" sz="1200" dirty="0" smtClean="0">
                <a:cs typeface="Arial" panose="020B0604020202020204" pitchFamily="34" charset="0"/>
              </a:rPr>
              <a:t>Tunnel 1</a:t>
            </a:r>
          </a:p>
          <a:p>
            <a:pPr algn="r"/>
            <a:r>
              <a:rPr lang="en-US" altLang="zh-CN" sz="1200" dirty="0" smtClean="0">
                <a:cs typeface="Arial" panose="020B0604020202020204" pitchFamily="34" charset="0"/>
              </a:rPr>
              <a:t>2002:</a:t>
            </a:r>
            <a:r>
              <a:rPr lang="en-US" altLang="zh-CN" sz="1200" dirty="0" smtClean="0">
                <a:solidFill>
                  <a:srgbClr val="C7000B"/>
                </a:solidFill>
                <a:cs typeface="Arial" panose="020B0604020202020204" pitchFamily="34" charset="0"/>
              </a:rPr>
              <a:t>A01:101</a:t>
            </a:r>
            <a:r>
              <a:rPr lang="en-US" altLang="zh-CN" sz="1200" dirty="0" smtClean="0">
                <a:cs typeface="Arial" panose="020B0604020202020204" pitchFamily="34" charset="0"/>
              </a:rPr>
              <a:t>::1/48</a:t>
            </a:r>
            <a:endParaRPr lang="en-US" altLang="zh-CN" sz="1200" dirty="0">
              <a:cs typeface="Arial" panose="020B0604020202020204" pitchFamily="34" charset="0"/>
            </a:endParaRPr>
          </a:p>
        </p:txBody>
      </p:sp>
      <p:sp>
        <p:nvSpPr>
          <p:cNvPr id="171" name="文本框 170"/>
          <p:cNvSpPr txBox="1"/>
          <p:nvPr/>
        </p:nvSpPr>
        <p:spPr bwMode="gray">
          <a:xfrm>
            <a:off x="6437548" y="5780346"/>
            <a:ext cx="1556003" cy="461665"/>
          </a:xfrm>
          <a:prstGeom prst="rect">
            <a:avLst/>
          </a:prstGeom>
          <a:noFill/>
        </p:spPr>
        <p:txBody>
          <a:bodyPr wrap="square" rtlCol="0">
            <a:spAutoFit/>
          </a:bodyPr>
          <a:lstStyle/>
          <a:p>
            <a:r>
              <a:rPr lang="en-US" altLang="zh-CN" sz="1200" dirty="0" smtClean="0">
                <a:cs typeface="Arial" panose="020B0604020202020204" pitchFamily="34" charset="0"/>
              </a:rPr>
              <a:t>Tunnel 1</a:t>
            </a:r>
          </a:p>
          <a:p>
            <a:r>
              <a:rPr lang="en-US" altLang="zh-CN" sz="1200" dirty="0" smtClean="0">
                <a:cs typeface="Arial" panose="020B0604020202020204" pitchFamily="34" charset="0"/>
              </a:rPr>
              <a:t>2002:</a:t>
            </a:r>
            <a:r>
              <a:rPr lang="en-US" altLang="zh-CN" sz="1200" dirty="0" smtClean="0">
                <a:solidFill>
                  <a:srgbClr val="C7000B"/>
                </a:solidFill>
                <a:cs typeface="Arial" panose="020B0604020202020204" pitchFamily="34" charset="0"/>
              </a:rPr>
              <a:t>A01:102</a:t>
            </a:r>
            <a:r>
              <a:rPr lang="en-US" altLang="zh-CN" sz="1200" dirty="0" smtClean="0">
                <a:cs typeface="Arial" panose="020B0604020202020204" pitchFamily="34" charset="0"/>
              </a:rPr>
              <a:t>::1/48</a:t>
            </a:r>
            <a:endParaRPr lang="en-US" altLang="zh-CN" sz="1200" dirty="0">
              <a:cs typeface="Arial" panose="020B0604020202020204" pitchFamily="34" charset="0"/>
            </a:endParaRPr>
          </a:p>
        </p:txBody>
      </p:sp>
      <p:pic>
        <p:nvPicPr>
          <p:cNvPr id="172" name="图片 17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804527" y="5296977"/>
            <a:ext cx="391948" cy="321397"/>
          </a:xfrm>
          <a:prstGeom prst="rect">
            <a:avLst/>
          </a:prstGeom>
        </p:spPr>
      </p:pic>
      <p:pic>
        <p:nvPicPr>
          <p:cNvPr id="173" name="图片 172" descr="PC.png"/>
          <p:cNvPicPr>
            <a:picLocks noChangeAspect="1"/>
          </p:cNvPicPr>
          <p:nvPr/>
        </p:nvPicPr>
        <p:blipFill>
          <a:blip r:embed="rId4" cstate="print"/>
          <a:stretch>
            <a:fillRect/>
          </a:stretch>
        </p:blipFill>
        <p:spPr bwMode="gray">
          <a:xfrm>
            <a:off x="7573760" y="5325017"/>
            <a:ext cx="323413" cy="248381"/>
          </a:xfrm>
          <a:prstGeom prst="rect">
            <a:avLst/>
          </a:prstGeom>
        </p:spPr>
      </p:pic>
      <p:sp>
        <p:nvSpPr>
          <p:cNvPr id="176" name="文本框 175"/>
          <p:cNvSpPr txBox="1"/>
          <p:nvPr/>
        </p:nvSpPr>
        <p:spPr bwMode="gray">
          <a:xfrm>
            <a:off x="6486450" y="5582569"/>
            <a:ext cx="1035233" cy="276999"/>
          </a:xfrm>
          <a:prstGeom prst="rect">
            <a:avLst/>
          </a:prstGeom>
          <a:noFill/>
        </p:spPr>
        <p:txBody>
          <a:bodyPr wrap="square" rtlCol="0">
            <a:spAutoFit/>
          </a:bodyPr>
          <a:lstStyle/>
          <a:p>
            <a:pPr algn="ctr"/>
            <a:r>
              <a:rPr lang="en-US" altLang="zh-CN" sz="1200" dirty="0">
                <a:cs typeface="Arial" panose="020B0604020202020204" pitchFamily="34" charset="0"/>
              </a:rPr>
              <a:t>6to4 Router</a:t>
            </a:r>
          </a:p>
        </p:txBody>
      </p:sp>
      <p:cxnSp>
        <p:nvCxnSpPr>
          <p:cNvPr id="177" name="直接连接符 176"/>
          <p:cNvCxnSpPr/>
          <p:nvPr/>
        </p:nvCxnSpPr>
        <p:spPr bwMode="gray">
          <a:xfrm>
            <a:off x="5439075" y="5001451"/>
            <a:ext cx="0" cy="323566"/>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bwMode="gray">
          <a:xfrm>
            <a:off x="6831350" y="5001451"/>
            <a:ext cx="0" cy="323566"/>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0" name="文本框 179"/>
          <p:cNvSpPr txBox="1"/>
          <p:nvPr/>
        </p:nvSpPr>
        <p:spPr bwMode="gray">
          <a:xfrm>
            <a:off x="2056282" y="4998420"/>
            <a:ext cx="476717" cy="276999"/>
          </a:xfrm>
          <a:prstGeom prst="rect">
            <a:avLst/>
          </a:prstGeom>
          <a:noFill/>
        </p:spPr>
        <p:txBody>
          <a:bodyPr wrap="square" rtlCol="0">
            <a:spAutoFit/>
          </a:bodyPr>
          <a:lstStyle/>
          <a:p>
            <a:pPr algn="ctr"/>
            <a:r>
              <a:rPr lang="en-US" sz="1200" dirty="0">
                <a:cs typeface="Arial" panose="020B0604020202020204" pitchFamily="34" charset="0"/>
              </a:rPr>
              <a:t>IPv4</a:t>
            </a:r>
          </a:p>
        </p:txBody>
      </p:sp>
      <p:sp>
        <p:nvSpPr>
          <p:cNvPr id="181" name="文本框 180"/>
          <p:cNvSpPr txBox="1"/>
          <p:nvPr/>
        </p:nvSpPr>
        <p:spPr bwMode="gray">
          <a:xfrm>
            <a:off x="814238" y="4758974"/>
            <a:ext cx="1002763" cy="276999"/>
          </a:xfrm>
          <a:prstGeom prst="rect">
            <a:avLst/>
          </a:prstGeom>
          <a:noFill/>
        </p:spPr>
        <p:txBody>
          <a:bodyPr wrap="square" rtlCol="0">
            <a:spAutoFit/>
          </a:bodyPr>
          <a:lstStyle/>
          <a:p>
            <a:pPr algn="ctr"/>
            <a:r>
              <a:rPr lang="en-US" altLang="zh-CN" sz="1200" dirty="0" smtClean="0">
                <a:solidFill>
                  <a:srgbClr val="C7000B"/>
                </a:solidFill>
                <a:cs typeface="Arial" panose="020B0604020202020204" pitchFamily="34" charset="0"/>
              </a:rPr>
              <a:t>10.1.1.1/24</a:t>
            </a:r>
            <a:endParaRPr lang="en-US" sz="1200" dirty="0">
              <a:solidFill>
                <a:srgbClr val="C7000B"/>
              </a:solidFill>
              <a:cs typeface="Arial" panose="020B0604020202020204" pitchFamily="34" charset="0"/>
            </a:endParaRPr>
          </a:p>
        </p:txBody>
      </p:sp>
      <p:sp>
        <p:nvSpPr>
          <p:cNvPr id="182" name="文本框 181"/>
          <p:cNvSpPr txBox="1"/>
          <p:nvPr/>
        </p:nvSpPr>
        <p:spPr bwMode="gray">
          <a:xfrm>
            <a:off x="2757375" y="4757616"/>
            <a:ext cx="1004388" cy="276999"/>
          </a:xfrm>
          <a:prstGeom prst="rect">
            <a:avLst/>
          </a:prstGeom>
          <a:noFill/>
        </p:spPr>
        <p:txBody>
          <a:bodyPr wrap="square" rtlCol="0">
            <a:spAutoFit/>
          </a:bodyPr>
          <a:lstStyle/>
          <a:p>
            <a:pPr algn="ctr"/>
            <a:r>
              <a:rPr lang="en-US" altLang="zh-CN" sz="1200" dirty="0" smtClean="0">
                <a:solidFill>
                  <a:srgbClr val="C7000B"/>
                </a:solidFill>
                <a:cs typeface="Arial" panose="020B0604020202020204" pitchFamily="34" charset="0"/>
              </a:rPr>
              <a:t>10.1.1.2/24</a:t>
            </a:r>
            <a:endParaRPr lang="en-US" sz="1200" dirty="0">
              <a:solidFill>
                <a:srgbClr val="C7000B"/>
              </a:solidFill>
              <a:cs typeface="Arial" panose="020B0604020202020204" pitchFamily="34" charset="0"/>
            </a:endParaRPr>
          </a:p>
        </p:txBody>
      </p:sp>
      <p:cxnSp>
        <p:nvCxnSpPr>
          <p:cNvPr id="183" name="直接连接符 182"/>
          <p:cNvCxnSpPr/>
          <p:nvPr/>
        </p:nvCxnSpPr>
        <p:spPr bwMode="gray">
          <a:xfrm>
            <a:off x="1631329" y="5001451"/>
            <a:ext cx="0" cy="323566"/>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bwMode="gray">
          <a:xfrm>
            <a:off x="3002136" y="5001451"/>
            <a:ext cx="0" cy="323566"/>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85" name="组合 184"/>
          <p:cNvGrpSpPr/>
          <p:nvPr/>
        </p:nvGrpSpPr>
        <p:grpSpPr bwMode="gray">
          <a:xfrm>
            <a:off x="8108101" y="3547870"/>
            <a:ext cx="3596432" cy="902008"/>
            <a:chOff x="4979149" y="2914240"/>
            <a:chExt cx="3944997" cy="602670"/>
          </a:xfrm>
        </p:grpSpPr>
        <p:sp>
          <p:nvSpPr>
            <p:cNvPr id="186" name="矩形 185"/>
            <p:cNvSpPr/>
            <p:nvPr/>
          </p:nvSpPr>
          <p:spPr bwMode="gray">
            <a:xfrm>
              <a:off x="8219150" y="2914240"/>
              <a:ext cx="704996"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IPv4 Address</a:t>
              </a:r>
              <a:endParaRPr lang="zh-CN" altLang="en-US" sz="1200" dirty="0">
                <a:solidFill>
                  <a:schemeClr val="tx1"/>
                </a:solidFill>
              </a:endParaRPr>
            </a:p>
          </p:txBody>
        </p:sp>
        <p:sp>
          <p:nvSpPr>
            <p:cNvPr id="187" name="右大括号 186"/>
            <p:cNvSpPr/>
            <p:nvPr/>
          </p:nvSpPr>
          <p:spPr bwMode="gray">
            <a:xfrm rot="5400000">
              <a:off x="7344867" y="2451352"/>
              <a:ext cx="118113" cy="1609549"/>
            </a:xfrm>
            <a:prstGeom prst="righ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8" name="右大括号 187"/>
            <p:cNvSpPr/>
            <p:nvPr/>
          </p:nvSpPr>
          <p:spPr bwMode="gray">
            <a:xfrm rot="5400000">
              <a:off x="8512590" y="2903632"/>
              <a:ext cx="118112" cy="704996"/>
            </a:xfrm>
            <a:prstGeom prst="rightBrace">
              <a:avLst/>
            </a:prstGeom>
            <a:ln>
              <a:solidFill>
                <a:srgbClr val="94DAE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9" name="文本框 188"/>
            <p:cNvSpPr txBox="1"/>
            <p:nvPr/>
          </p:nvSpPr>
          <p:spPr bwMode="gray">
            <a:xfrm>
              <a:off x="8248809" y="3331835"/>
              <a:ext cx="645673" cy="185075"/>
            </a:xfrm>
            <a:prstGeom prst="rect">
              <a:avLst/>
            </a:prstGeom>
            <a:noFill/>
          </p:spPr>
          <p:txBody>
            <a:bodyPr wrap="none" rtlCol="0">
              <a:noAutofit/>
            </a:bodyPr>
            <a:lstStyle>
              <a:defPPr>
                <a:defRPr lang="en-US"/>
              </a:defPPr>
              <a:lvl1pPr algn="ctr">
                <a:defRPr sz="1200">
                  <a:cs typeface="Arial" panose="020B0604020202020204" pitchFamily="34" charset="0"/>
                </a:defRPr>
              </a:lvl1pPr>
            </a:lstStyle>
            <a:p>
              <a:r>
                <a:rPr lang="en-US" dirty="0"/>
                <a:t>32 </a:t>
              </a:r>
              <a:r>
                <a:rPr lang="en-US" altLang="zh-CN" dirty="0"/>
                <a:t>bit</a:t>
              </a:r>
              <a:endParaRPr lang="en-US" dirty="0"/>
            </a:p>
          </p:txBody>
        </p:sp>
        <p:sp>
          <p:nvSpPr>
            <p:cNvPr id="190" name="矩形 189"/>
            <p:cNvSpPr/>
            <p:nvPr/>
          </p:nvSpPr>
          <p:spPr bwMode="gray">
            <a:xfrm>
              <a:off x="4979149" y="2914240"/>
              <a:ext cx="162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000000ug00000000</a:t>
              </a:r>
              <a:endParaRPr lang="zh-CN" altLang="en-US" sz="1200" dirty="0">
                <a:solidFill>
                  <a:schemeClr val="tx1"/>
                </a:solidFill>
              </a:endParaRPr>
            </a:p>
          </p:txBody>
        </p:sp>
        <p:sp>
          <p:nvSpPr>
            <p:cNvPr id="191" name="矩形 190"/>
            <p:cNvSpPr/>
            <p:nvPr/>
          </p:nvSpPr>
          <p:spPr bwMode="gray">
            <a:xfrm>
              <a:off x="6599149" y="2914240"/>
              <a:ext cx="162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0101111011111110</a:t>
              </a:r>
              <a:endParaRPr lang="zh-CN" altLang="en-US" sz="1200" dirty="0">
                <a:solidFill>
                  <a:schemeClr val="tx1"/>
                </a:solidFill>
              </a:endParaRPr>
            </a:p>
          </p:txBody>
        </p:sp>
        <p:sp>
          <p:nvSpPr>
            <p:cNvPr id="192" name="右大括号 191"/>
            <p:cNvSpPr/>
            <p:nvPr/>
          </p:nvSpPr>
          <p:spPr bwMode="gray">
            <a:xfrm rot="5400000">
              <a:off x="5735317" y="2451352"/>
              <a:ext cx="118113" cy="1609549"/>
            </a:xfrm>
            <a:prstGeom prst="righ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3" name="文本框 192"/>
            <p:cNvSpPr txBox="1"/>
            <p:nvPr/>
          </p:nvSpPr>
          <p:spPr bwMode="gray">
            <a:xfrm>
              <a:off x="7089723" y="3331835"/>
              <a:ext cx="645673" cy="185075"/>
            </a:xfrm>
            <a:prstGeom prst="rect">
              <a:avLst/>
            </a:prstGeom>
            <a:noFill/>
          </p:spPr>
          <p:txBody>
            <a:bodyPr wrap="none" rtlCol="0">
              <a:noAutofit/>
            </a:bodyPr>
            <a:lstStyle>
              <a:defPPr>
                <a:defRPr lang="en-US"/>
              </a:defPPr>
              <a:lvl1pPr algn="ctr">
                <a:defRPr sz="1200">
                  <a:cs typeface="Arial" panose="020B0604020202020204" pitchFamily="34" charset="0"/>
                </a:defRPr>
              </a:lvl1pPr>
            </a:lstStyle>
            <a:p>
              <a:r>
                <a:rPr lang="en-US" dirty="0"/>
                <a:t>16 </a:t>
              </a:r>
              <a:r>
                <a:rPr lang="en-US" altLang="zh-CN" dirty="0"/>
                <a:t>bit</a:t>
              </a:r>
              <a:endParaRPr lang="en-US" dirty="0"/>
            </a:p>
          </p:txBody>
        </p:sp>
        <p:sp>
          <p:nvSpPr>
            <p:cNvPr id="194" name="文本框 193"/>
            <p:cNvSpPr txBox="1"/>
            <p:nvPr/>
          </p:nvSpPr>
          <p:spPr bwMode="gray">
            <a:xfrm>
              <a:off x="5491428" y="3331836"/>
              <a:ext cx="588624" cy="165106"/>
            </a:xfrm>
            <a:prstGeom prst="rect">
              <a:avLst/>
            </a:prstGeom>
            <a:noFill/>
          </p:spPr>
          <p:txBody>
            <a:bodyPr wrap="none" rtlCol="0">
              <a:noAutofit/>
            </a:bodyPr>
            <a:lstStyle/>
            <a:p>
              <a:pPr algn="ctr"/>
              <a:r>
                <a:rPr lang="en-US" sz="1200" dirty="0" smtClean="0">
                  <a:cs typeface="Arial" panose="020B0604020202020204" pitchFamily="34" charset="0"/>
                </a:rPr>
                <a:t>16 </a:t>
              </a:r>
              <a:r>
                <a:rPr lang="en-US" altLang="zh-CN" sz="1200" dirty="0" smtClean="0">
                  <a:cs typeface="Arial" panose="020B0604020202020204" pitchFamily="34" charset="0"/>
                </a:rPr>
                <a:t>bit</a:t>
              </a:r>
              <a:endParaRPr lang="en-US" sz="1200" dirty="0">
                <a:cs typeface="Arial" panose="020B0604020202020204" pitchFamily="34" charset="0"/>
              </a:endParaRPr>
            </a:p>
          </p:txBody>
        </p:sp>
      </p:grpSp>
      <p:sp>
        <p:nvSpPr>
          <p:cNvPr id="237" name="Freeform 159"/>
          <p:cNvSpPr/>
          <p:nvPr/>
        </p:nvSpPr>
        <p:spPr bwMode="gray">
          <a:xfrm flipH="1">
            <a:off x="8617827" y="5251144"/>
            <a:ext cx="561329" cy="3556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238" name="文本框 237"/>
          <p:cNvSpPr txBox="1"/>
          <p:nvPr/>
        </p:nvSpPr>
        <p:spPr bwMode="gray">
          <a:xfrm>
            <a:off x="8646197" y="5341375"/>
            <a:ext cx="511754" cy="276999"/>
          </a:xfrm>
          <a:prstGeom prst="rect">
            <a:avLst/>
          </a:prstGeom>
          <a:noFill/>
        </p:spPr>
        <p:txBody>
          <a:bodyPr wrap="square" rtlCol="0">
            <a:spAutoFit/>
          </a:bodyPr>
          <a:lstStyle/>
          <a:p>
            <a:pPr algn="ctr"/>
            <a:r>
              <a:rPr lang="en-US" sz="1200" dirty="0" smtClean="0">
                <a:cs typeface="Arial" panose="020B0604020202020204" pitchFamily="34" charset="0"/>
              </a:rPr>
              <a:t>IPv6</a:t>
            </a:r>
            <a:endParaRPr lang="en-US" sz="1200" dirty="0">
              <a:cs typeface="Arial" panose="020B0604020202020204" pitchFamily="34" charset="0"/>
            </a:endParaRPr>
          </a:p>
        </p:txBody>
      </p:sp>
      <p:sp>
        <p:nvSpPr>
          <p:cNvPr id="239" name="Freeform 159"/>
          <p:cNvSpPr/>
          <p:nvPr/>
        </p:nvSpPr>
        <p:spPr bwMode="gray">
          <a:xfrm flipH="1">
            <a:off x="9595671" y="4998420"/>
            <a:ext cx="1502673" cy="61995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pic>
        <p:nvPicPr>
          <p:cNvPr id="240" name="图片 23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268706" y="5296977"/>
            <a:ext cx="391948" cy="321397"/>
          </a:xfrm>
          <a:prstGeom prst="rect">
            <a:avLst/>
          </a:prstGeom>
        </p:spPr>
      </p:pic>
      <p:sp>
        <p:nvSpPr>
          <p:cNvPr id="241" name="文本框 240"/>
          <p:cNvSpPr txBox="1"/>
          <p:nvPr/>
        </p:nvSpPr>
        <p:spPr bwMode="gray">
          <a:xfrm>
            <a:off x="10048956" y="5056405"/>
            <a:ext cx="476717" cy="276999"/>
          </a:xfrm>
          <a:prstGeom prst="rect">
            <a:avLst/>
          </a:prstGeom>
          <a:noFill/>
        </p:spPr>
        <p:txBody>
          <a:bodyPr wrap="square" rtlCol="0">
            <a:spAutoFit/>
          </a:bodyPr>
          <a:lstStyle/>
          <a:p>
            <a:pPr algn="ctr"/>
            <a:r>
              <a:rPr lang="en-US" sz="1200" dirty="0">
                <a:cs typeface="Arial" panose="020B0604020202020204" pitchFamily="34" charset="0"/>
              </a:rPr>
              <a:t>IPv4</a:t>
            </a:r>
          </a:p>
        </p:txBody>
      </p:sp>
      <p:sp>
        <p:nvSpPr>
          <p:cNvPr id="242" name="Can 9"/>
          <p:cNvSpPr/>
          <p:nvPr/>
        </p:nvSpPr>
        <p:spPr bwMode="gray">
          <a:xfrm rot="5400000">
            <a:off x="10361524" y="4711815"/>
            <a:ext cx="169200" cy="1478262"/>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3" name="文本框 242"/>
          <p:cNvSpPr txBox="1"/>
          <p:nvPr/>
        </p:nvSpPr>
        <p:spPr bwMode="auto">
          <a:xfrm>
            <a:off x="9770023" y="5324119"/>
            <a:ext cx="1285447" cy="276999"/>
          </a:xfrm>
          <a:prstGeom prst="rect">
            <a:avLst/>
          </a:prstGeom>
          <a:noFill/>
        </p:spPr>
        <p:txBody>
          <a:bodyPr wrap="square" rtlCol="0">
            <a:spAutoFit/>
          </a:bodyPr>
          <a:lstStyle/>
          <a:p>
            <a:pPr algn="ctr"/>
            <a:r>
              <a:rPr lang="en-US" sz="1200" dirty="0" smtClean="0">
                <a:solidFill>
                  <a:srgbClr val="56C4D2"/>
                </a:solidFill>
                <a:cs typeface="Arial" panose="020B0604020202020204" pitchFamily="34" charset="0"/>
              </a:rPr>
              <a:t>ISATAP </a:t>
            </a:r>
            <a:r>
              <a:rPr lang="en-US" altLang="zh-CN" sz="1200" dirty="0">
                <a:solidFill>
                  <a:srgbClr val="56C4D2"/>
                </a:solidFill>
                <a:cs typeface="Arial" panose="020B0604020202020204" pitchFamily="34" charset="0"/>
              </a:rPr>
              <a:t>T</a:t>
            </a:r>
            <a:r>
              <a:rPr lang="en-US" altLang="zh-CN" sz="1200" dirty="0" smtClean="0">
                <a:solidFill>
                  <a:srgbClr val="56C4D2"/>
                </a:solidFill>
                <a:cs typeface="Arial" panose="020B0604020202020204" pitchFamily="34" charset="0"/>
              </a:rPr>
              <a:t>unnel</a:t>
            </a:r>
            <a:endParaRPr lang="en-US" sz="1200" dirty="0">
              <a:solidFill>
                <a:srgbClr val="56C4D2"/>
              </a:solidFill>
              <a:cs typeface="Arial" panose="020B0604020202020204" pitchFamily="34" charset="0"/>
            </a:endParaRPr>
          </a:p>
        </p:txBody>
      </p:sp>
      <p:sp>
        <p:nvSpPr>
          <p:cNvPr id="245" name="文本框 244"/>
          <p:cNvSpPr txBox="1"/>
          <p:nvPr/>
        </p:nvSpPr>
        <p:spPr bwMode="gray">
          <a:xfrm>
            <a:off x="8996569" y="5582569"/>
            <a:ext cx="1322716" cy="276999"/>
          </a:xfrm>
          <a:prstGeom prst="rect">
            <a:avLst/>
          </a:prstGeom>
          <a:noFill/>
        </p:spPr>
        <p:txBody>
          <a:bodyPr wrap="square" rtlCol="0">
            <a:spAutoFit/>
          </a:bodyPr>
          <a:lstStyle/>
          <a:p>
            <a:pPr algn="ctr"/>
            <a:r>
              <a:rPr lang="en-US" altLang="zh-CN" sz="1200" dirty="0" smtClean="0">
                <a:cs typeface="Arial" panose="020B0604020202020204" pitchFamily="34" charset="0"/>
              </a:rPr>
              <a:t>ISATAP </a:t>
            </a:r>
            <a:r>
              <a:rPr lang="en-US" altLang="zh-CN" sz="1200" dirty="0">
                <a:cs typeface="Arial" panose="020B0604020202020204" pitchFamily="34" charset="0"/>
              </a:rPr>
              <a:t>Router</a:t>
            </a:r>
          </a:p>
        </p:txBody>
      </p:sp>
      <p:pic>
        <p:nvPicPr>
          <p:cNvPr id="251" name="图片 250" descr="PC.png"/>
          <p:cNvPicPr>
            <a:picLocks noChangeAspect="1"/>
          </p:cNvPicPr>
          <p:nvPr/>
        </p:nvPicPr>
        <p:blipFill>
          <a:blip r:embed="rId4" cstate="print"/>
          <a:stretch>
            <a:fillRect/>
          </a:stretch>
        </p:blipFill>
        <p:spPr bwMode="gray">
          <a:xfrm>
            <a:off x="11266391" y="5296893"/>
            <a:ext cx="431097" cy="331082"/>
          </a:xfrm>
          <a:prstGeom prst="rect">
            <a:avLst/>
          </a:prstGeom>
        </p:spPr>
      </p:pic>
      <p:cxnSp>
        <p:nvCxnSpPr>
          <p:cNvPr id="253" name="直接连接符 252"/>
          <p:cNvCxnSpPr/>
          <p:nvPr/>
        </p:nvCxnSpPr>
        <p:spPr bwMode="gray">
          <a:xfrm>
            <a:off x="9677761" y="5107330"/>
            <a:ext cx="0" cy="18000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bwMode="gray">
          <a:xfrm flipV="1">
            <a:off x="9617473" y="5820783"/>
            <a:ext cx="0" cy="18000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6" name="文本框 255"/>
          <p:cNvSpPr txBox="1"/>
          <p:nvPr/>
        </p:nvSpPr>
        <p:spPr bwMode="gray">
          <a:xfrm>
            <a:off x="8878800" y="5955880"/>
            <a:ext cx="1681871" cy="276999"/>
          </a:xfrm>
          <a:prstGeom prst="rect">
            <a:avLst/>
          </a:prstGeom>
          <a:noFill/>
        </p:spPr>
        <p:txBody>
          <a:bodyPr wrap="none" rtlCol="0">
            <a:spAutoFit/>
          </a:bodyPr>
          <a:lstStyle/>
          <a:p>
            <a:pPr algn="ctr"/>
            <a:r>
              <a:rPr lang="en-US" altLang="zh-CN" sz="1200" dirty="0" smtClean="0">
                <a:cs typeface="Arial" panose="020B0604020202020204" pitchFamily="34" charset="0"/>
              </a:rPr>
              <a:t>GE0/0/1</a:t>
            </a:r>
            <a:r>
              <a:rPr lang="zh-CN" altLang="en-US" sz="1200" dirty="0" smtClean="0">
                <a:cs typeface="Arial" panose="020B0604020202020204" pitchFamily="34" charset="0"/>
              </a:rPr>
              <a:t>：</a:t>
            </a:r>
            <a:r>
              <a:rPr lang="en-US" altLang="zh-CN" sz="1200" dirty="0" smtClean="0">
                <a:cs typeface="Arial" panose="020B0604020202020204" pitchFamily="34" charset="0"/>
              </a:rPr>
              <a:t>10.1.1.1/24</a:t>
            </a:r>
            <a:endParaRPr lang="en-US" sz="1200" dirty="0">
              <a:cs typeface="Arial" panose="020B0604020202020204" pitchFamily="34" charset="0"/>
            </a:endParaRPr>
          </a:p>
        </p:txBody>
      </p:sp>
      <p:sp>
        <p:nvSpPr>
          <p:cNvPr id="257" name="文本框 256"/>
          <p:cNvSpPr txBox="1"/>
          <p:nvPr/>
        </p:nvSpPr>
        <p:spPr bwMode="gray">
          <a:xfrm>
            <a:off x="8684305" y="4435808"/>
            <a:ext cx="2614818" cy="646331"/>
          </a:xfrm>
          <a:prstGeom prst="rect">
            <a:avLst/>
          </a:prstGeom>
          <a:noFill/>
        </p:spPr>
        <p:txBody>
          <a:bodyPr wrap="none" rtlCol="0">
            <a:spAutoFit/>
          </a:bodyPr>
          <a:lstStyle/>
          <a:p>
            <a:r>
              <a:rPr lang="en-US" altLang="zh-CN" sz="1200" dirty="0" smtClean="0">
                <a:cs typeface="Arial" panose="020B0604020202020204" pitchFamily="34" charset="0"/>
              </a:rPr>
              <a:t>Tunnel 1</a:t>
            </a:r>
          </a:p>
          <a:p>
            <a:r>
              <a:rPr lang="zh-CN" altLang="en-US" sz="1200" dirty="0" smtClean="0">
                <a:cs typeface="Arial" panose="020B0604020202020204" pitchFamily="34" charset="0"/>
              </a:rPr>
              <a:t>链路本地地址：</a:t>
            </a:r>
            <a:r>
              <a:rPr lang="en-US" altLang="zh-CN" sz="1200" dirty="0" smtClean="0">
                <a:cs typeface="Arial" panose="020B0604020202020204" pitchFamily="34" charset="0"/>
              </a:rPr>
              <a:t>FE80::5EFE:</a:t>
            </a:r>
            <a:r>
              <a:rPr lang="en-US" altLang="zh-CN" sz="1200" dirty="0" smtClean="0">
                <a:solidFill>
                  <a:srgbClr val="C7000B"/>
                </a:solidFill>
                <a:cs typeface="Arial" panose="020B0604020202020204" pitchFamily="34" charset="0"/>
              </a:rPr>
              <a:t>A01:101</a:t>
            </a:r>
          </a:p>
          <a:p>
            <a:r>
              <a:rPr lang="zh-CN" altLang="en-US" sz="1200" dirty="0" smtClean="0">
                <a:cs typeface="Arial" panose="020B0604020202020204" pitchFamily="34" charset="0"/>
              </a:rPr>
              <a:t>全球单播地址：</a:t>
            </a:r>
            <a:r>
              <a:rPr lang="en-US" sz="1200" dirty="0" smtClean="0">
                <a:cs typeface="Arial" panose="020B0604020202020204" pitchFamily="34" charset="0"/>
              </a:rPr>
              <a:t>1::</a:t>
            </a:r>
            <a:r>
              <a:rPr lang="en-US" altLang="zh-CN" sz="1200" dirty="0" smtClean="0">
                <a:cs typeface="Arial" panose="020B0604020202020204" pitchFamily="34" charset="0"/>
              </a:rPr>
              <a:t>5EFE:A01:101</a:t>
            </a:r>
            <a:endParaRPr lang="en-US" altLang="zh-CN" sz="1200" dirty="0">
              <a:cs typeface="Arial" panose="020B0604020202020204" pitchFamily="34" charset="0"/>
            </a:endParaRPr>
          </a:p>
        </p:txBody>
      </p:sp>
      <p:sp>
        <p:nvSpPr>
          <p:cNvPr id="258" name="文本框 257"/>
          <p:cNvSpPr txBox="1"/>
          <p:nvPr/>
        </p:nvSpPr>
        <p:spPr bwMode="gray">
          <a:xfrm>
            <a:off x="8009989" y="5601163"/>
            <a:ext cx="646331" cy="461665"/>
          </a:xfrm>
          <a:prstGeom prst="rect">
            <a:avLst/>
          </a:prstGeom>
          <a:noFill/>
        </p:spPr>
        <p:txBody>
          <a:bodyPr wrap="none" rtlCol="0">
            <a:spAutoFit/>
          </a:bodyPr>
          <a:lstStyle/>
          <a:p>
            <a:pPr algn="ctr"/>
            <a:r>
              <a:rPr lang="en-US" sz="1200" dirty="0" smtClean="0">
                <a:cs typeface="Arial" panose="020B0604020202020204" pitchFamily="34" charset="0"/>
              </a:rPr>
              <a:t>Host 1</a:t>
            </a:r>
          </a:p>
          <a:p>
            <a:pPr algn="ctr"/>
            <a:r>
              <a:rPr lang="en-US" sz="1200" dirty="0" smtClean="0">
                <a:cs typeface="Arial" panose="020B0604020202020204" pitchFamily="34" charset="0"/>
              </a:rPr>
              <a:t>3::8</a:t>
            </a:r>
            <a:endParaRPr lang="en-US" sz="1200" dirty="0">
              <a:cs typeface="Arial" panose="020B0604020202020204" pitchFamily="34" charset="0"/>
            </a:endParaRPr>
          </a:p>
        </p:txBody>
      </p:sp>
      <p:sp>
        <p:nvSpPr>
          <p:cNvPr id="259" name="文本框 258"/>
          <p:cNvSpPr txBox="1"/>
          <p:nvPr/>
        </p:nvSpPr>
        <p:spPr bwMode="gray">
          <a:xfrm>
            <a:off x="11156381" y="5597302"/>
            <a:ext cx="646331" cy="276999"/>
          </a:xfrm>
          <a:prstGeom prst="rect">
            <a:avLst/>
          </a:prstGeom>
          <a:noFill/>
        </p:spPr>
        <p:txBody>
          <a:bodyPr wrap="none" rtlCol="0">
            <a:spAutoFit/>
          </a:bodyPr>
          <a:lstStyle/>
          <a:p>
            <a:pPr algn="ctr"/>
            <a:r>
              <a:rPr lang="en-US" sz="1200" dirty="0" smtClean="0">
                <a:cs typeface="Arial" panose="020B0604020202020204" pitchFamily="34" charset="0"/>
              </a:rPr>
              <a:t>Host 2</a:t>
            </a:r>
            <a:endParaRPr lang="en-US" sz="1200" dirty="0">
              <a:cs typeface="Arial" panose="020B0604020202020204" pitchFamily="34" charset="0"/>
            </a:endParaRPr>
          </a:p>
        </p:txBody>
      </p:sp>
      <p:pic>
        <p:nvPicPr>
          <p:cNvPr id="260" name="图片 259" descr="PC.png"/>
          <p:cNvPicPr>
            <a:picLocks noChangeAspect="1"/>
          </p:cNvPicPr>
          <p:nvPr/>
        </p:nvPicPr>
        <p:blipFill>
          <a:blip r:embed="rId4" cstate="print"/>
          <a:stretch>
            <a:fillRect/>
          </a:stretch>
        </p:blipFill>
        <p:spPr bwMode="gray">
          <a:xfrm>
            <a:off x="8091545" y="5296893"/>
            <a:ext cx="431097" cy="331082"/>
          </a:xfrm>
          <a:prstGeom prst="rect">
            <a:avLst/>
          </a:prstGeom>
        </p:spPr>
      </p:pic>
      <p:sp>
        <p:nvSpPr>
          <p:cNvPr id="272" name="五边形 271"/>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273" name="燕尾形 272"/>
          <p:cNvSpPr/>
          <p:nvPr/>
        </p:nvSpPr>
        <p:spPr bwMode="gray">
          <a:xfrm>
            <a:off x="6770642" y="126936"/>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274" name="燕尾形 273"/>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5" name="燕尾形 274"/>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6VPE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6" name="燕尾形 275"/>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7" name="燕尾形 276"/>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8" name="燕尾形 277"/>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576439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71861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t>隧道技术：</a:t>
            </a:r>
            <a:r>
              <a:rPr lang="en-US" altLang="zh-CN" dirty="0" smtClean="0"/>
              <a:t>6PE</a:t>
            </a:r>
            <a:endParaRPr lang="zh-CN" altLang="en-US" dirty="0"/>
          </a:p>
        </p:txBody>
      </p:sp>
      <p:sp>
        <p:nvSpPr>
          <p:cNvPr id="3" name="文本占位符 2"/>
          <p:cNvSpPr>
            <a:spLocks noGrp="1"/>
          </p:cNvSpPr>
          <p:nvPr>
            <p:ph type="body" sz="quarter" idx="10"/>
          </p:nvPr>
        </p:nvSpPr>
        <p:spPr bwMode="gray">
          <a:xfrm>
            <a:off x="455612" y="1047751"/>
            <a:ext cx="11293475" cy="2508250"/>
          </a:xfrm>
        </p:spPr>
        <p:txBody>
          <a:bodyPr/>
          <a:lstStyle/>
          <a:p>
            <a:r>
              <a:rPr lang="zh-CN" altLang="en-US" sz="1800" dirty="0" smtClean="0"/>
              <a:t>对于</a:t>
            </a:r>
            <a:r>
              <a:rPr lang="zh-CN" altLang="en-US" sz="1800" dirty="0"/>
              <a:t>网络中的运营商来说，无须另外新建</a:t>
            </a:r>
            <a:r>
              <a:rPr lang="en-US" altLang="zh-CN" sz="1800" dirty="0"/>
              <a:t>IPv6</a:t>
            </a:r>
            <a:r>
              <a:rPr lang="zh-CN" altLang="en-US" sz="1800" dirty="0"/>
              <a:t>骨干</a:t>
            </a:r>
            <a:r>
              <a:rPr lang="zh-CN" altLang="en-US" sz="1800" dirty="0" smtClean="0"/>
              <a:t>网络，可以利用现有</a:t>
            </a:r>
            <a:r>
              <a:rPr lang="en-US" altLang="zh-CN" sz="1800" dirty="0"/>
              <a:t>IPv4</a:t>
            </a:r>
            <a:r>
              <a:rPr lang="zh-CN" altLang="en-US" sz="1800" dirty="0" smtClean="0"/>
              <a:t>网络为</a:t>
            </a:r>
            <a:r>
              <a:rPr lang="zh-CN" altLang="en-US" sz="1800" dirty="0"/>
              <a:t>用户提供</a:t>
            </a:r>
            <a:r>
              <a:rPr lang="en-US" altLang="zh-CN" sz="1800" dirty="0"/>
              <a:t>IPv6</a:t>
            </a:r>
            <a:r>
              <a:rPr lang="zh-CN" altLang="en-US" sz="1800" dirty="0"/>
              <a:t>服务来连接网络中的</a:t>
            </a:r>
            <a:r>
              <a:rPr lang="en-US" altLang="zh-CN" sz="1800" dirty="0"/>
              <a:t>IPv6</a:t>
            </a:r>
            <a:r>
              <a:rPr lang="zh-CN" altLang="en-US" sz="1800" dirty="0"/>
              <a:t>孤岛，</a:t>
            </a:r>
            <a:r>
              <a:rPr lang="en-US" altLang="zh-CN" sz="1800" dirty="0"/>
              <a:t>6PE</a:t>
            </a:r>
            <a:r>
              <a:rPr lang="zh-CN" altLang="en-US" sz="1800" dirty="0"/>
              <a:t>（</a:t>
            </a:r>
            <a:r>
              <a:rPr lang="en-US" altLang="zh-CN" sz="1800" dirty="0"/>
              <a:t>IPv6 Provider </a:t>
            </a:r>
            <a:r>
              <a:rPr lang="en-US" altLang="zh-CN" sz="1800" dirty="0" smtClean="0"/>
              <a:t>Edge</a:t>
            </a:r>
            <a:r>
              <a:rPr lang="zh-CN" altLang="en-US" sz="1800" dirty="0" smtClean="0"/>
              <a:t>，</a:t>
            </a:r>
            <a:r>
              <a:rPr lang="en-US" altLang="zh-CN" sz="1800" dirty="0"/>
              <a:t>IPv6</a:t>
            </a:r>
            <a:r>
              <a:rPr lang="zh-CN" altLang="en-US" sz="1800" dirty="0"/>
              <a:t>供应商边缘路由器）正是基于这个理念来设计的</a:t>
            </a:r>
            <a:r>
              <a:rPr lang="zh-CN" altLang="en-US" sz="1800" dirty="0" smtClean="0"/>
              <a:t>。</a:t>
            </a:r>
            <a:endParaRPr lang="en-US" altLang="zh-CN" sz="1800" dirty="0" smtClean="0"/>
          </a:p>
          <a:p>
            <a:r>
              <a:rPr lang="en-US" altLang="zh-CN" sz="1800" dirty="0" smtClean="0"/>
              <a:t>6PE</a:t>
            </a:r>
            <a:r>
              <a:rPr lang="zh-CN" altLang="en-US" sz="1800" dirty="0"/>
              <a:t>是一种在目前的</a:t>
            </a:r>
            <a:r>
              <a:rPr lang="en-US" altLang="zh-CN" sz="1800" dirty="0"/>
              <a:t>IPv4</a:t>
            </a:r>
            <a:r>
              <a:rPr lang="zh-CN" altLang="en-US" sz="1800" dirty="0"/>
              <a:t>网络中利用</a:t>
            </a:r>
            <a:r>
              <a:rPr lang="en-US" altLang="zh-CN" sz="1800" dirty="0"/>
              <a:t>MPLS</a:t>
            </a:r>
            <a:r>
              <a:rPr lang="zh-CN" altLang="en-US" sz="1800" dirty="0"/>
              <a:t>隧道技术为不同地区的被分割的</a:t>
            </a:r>
            <a:r>
              <a:rPr lang="en-US" altLang="zh-CN" sz="1800" dirty="0"/>
              <a:t>IPv6</a:t>
            </a:r>
            <a:r>
              <a:rPr lang="zh-CN" altLang="en-US" sz="1800" dirty="0"/>
              <a:t>网络提供连通服务的解决方案，它是在</a:t>
            </a:r>
            <a:r>
              <a:rPr lang="en-US" altLang="zh-CN" sz="1800" dirty="0" smtClean="0"/>
              <a:t>ISP</a:t>
            </a:r>
            <a:r>
              <a:rPr lang="zh-CN" altLang="en-US" sz="1800" dirty="0" smtClean="0"/>
              <a:t>的</a:t>
            </a:r>
            <a:r>
              <a:rPr lang="en-US" altLang="zh-CN" sz="1800" dirty="0"/>
              <a:t>PE</a:t>
            </a:r>
            <a:r>
              <a:rPr lang="zh-CN" altLang="en-US" sz="1800" dirty="0"/>
              <a:t>上实现</a:t>
            </a:r>
            <a:r>
              <a:rPr lang="en-US" altLang="zh-CN" sz="1800" dirty="0"/>
              <a:t>IPv4/IPv6</a:t>
            </a:r>
            <a:r>
              <a:rPr lang="zh-CN" altLang="en-US" sz="1800" dirty="0"/>
              <a:t>双协议栈，利用</a:t>
            </a:r>
            <a:r>
              <a:rPr lang="en-US" altLang="zh-CN" sz="1800" dirty="0" smtClean="0"/>
              <a:t>MP-BGP</a:t>
            </a:r>
            <a:r>
              <a:rPr lang="zh-CN" altLang="en-US" sz="1800" dirty="0" smtClean="0"/>
              <a:t>为</a:t>
            </a:r>
            <a:r>
              <a:rPr lang="zh-CN" altLang="en-US" sz="1800" dirty="0"/>
              <a:t>其分配的标签标识</a:t>
            </a:r>
            <a:r>
              <a:rPr lang="en-US" altLang="zh-CN" sz="1800" dirty="0"/>
              <a:t>IPv6</a:t>
            </a:r>
            <a:r>
              <a:rPr lang="zh-CN" altLang="en-US" sz="1800" dirty="0"/>
              <a:t>路由，从而通过</a:t>
            </a:r>
            <a:r>
              <a:rPr lang="en-US" altLang="zh-CN" sz="1800" dirty="0"/>
              <a:t>PE</a:t>
            </a:r>
            <a:r>
              <a:rPr lang="zh-CN" altLang="en-US" sz="1800" dirty="0"/>
              <a:t>之间的</a:t>
            </a:r>
            <a:r>
              <a:rPr lang="en-US" altLang="zh-CN" sz="1800" dirty="0"/>
              <a:t>IPv4</a:t>
            </a:r>
            <a:r>
              <a:rPr lang="zh-CN" altLang="en-US" sz="1800" dirty="0"/>
              <a:t>隧道实现</a:t>
            </a:r>
            <a:r>
              <a:rPr lang="en-US" altLang="zh-CN" sz="1800" dirty="0"/>
              <a:t>IPv6</a:t>
            </a:r>
            <a:r>
              <a:rPr lang="zh-CN" altLang="en-US" sz="1800" dirty="0"/>
              <a:t>孤岛之间的互通。</a:t>
            </a:r>
          </a:p>
        </p:txBody>
      </p:sp>
      <p:sp>
        <p:nvSpPr>
          <p:cNvPr id="7" name="Freeform 159"/>
          <p:cNvSpPr/>
          <p:nvPr/>
        </p:nvSpPr>
        <p:spPr bwMode="gray">
          <a:xfrm flipH="1">
            <a:off x="5056083" y="3266713"/>
            <a:ext cx="2158522" cy="119990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591896" y="3825626"/>
            <a:ext cx="540000" cy="442800"/>
          </a:xfrm>
          <a:prstGeom prst="rect">
            <a:avLst/>
          </a:prstGeom>
        </p:spPr>
      </p:pic>
      <p:pic>
        <p:nvPicPr>
          <p:cNvPr id="10" name="图片 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083484" y="3825626"/>
            <a:ext cx="540000" cy="442800"/>
          </a:xfrm>
          <a:prstGeom prst="rect">
            <a:avLst/>
          </a:prstGeom>
        </p:spPr>
      </p:pic>
      <p:sp>
        <p:nvSpPr>
          <p:cNvPr id="11" name="文本框 10"/>
          <p:cNvSpPr txBox="1"/>
          <p:nvPr/>
        </p:nvSpPr>
        <p:spPr bwMode="gray">
          <a:xfrm>
            <a:off x="5871489" y="3503114"/>
            <a:ext cx="527709" cy="307777"/>
          </a:xfrm>
          <a:prstGeom prst="rect">
            <a:avLst/>
          </a:prstGeom>
          <a:noFill/>
        </p:spPr>
        <p:txBody>
          <a:bodyPr wrap="none" rtlCol="0">
            <a:spAutoFit/>
          </a:bodyPr>
          <a:lstStyle/>
          <a:p>
            <a:pPr algn="ctr"/>
            <a:r>
              <a:rPr lang="en-US" sz="1400" dirty="0">
                <a:cs typeface="Arial" panose="020B0604020202020204" pitchFamily="34" charset="0"/>
              </a:rPr>
              <a:t>IPv4</a:t>
            </a:r>
          </a:p>
        </p:txBody>
      </p:sp>
      <p:sp>
        <p:nvSpPr>
          <p:cNvPr id="12" name="Can 9"/>
          <p:cNvSpPr/>
          <p:nvPr/>
        </p:nvSpPr>
        <p:spPr bwMode="gray">
          <a:xfrm rot="5400000">
            <a:off x="5991327" y="3078009"/>
            <a:ext cx="253196" cy="1896281"/>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auto">
          <a:xfrm>
            <a:off x="5220807" y="3887649"/>
            <a:ext cx="1807513" cy="276999"/>
          </a:xfrm>
          <a:prstGeom prst="rect">
            <a:avLst/>
          </a:prstGeom>
          <a:noFill/>
        </p:spPr>
        <p:txBody>
          <a:bodyPr wrap="square" rtlCol="0">
            <a:spAutoFit/>
          </a:bodyPr>
          <a:lstStyle/>
          <a:p>
            <a:pPr algn="ctr"/>
            <a:r>
              <a:rPr lang="en-US" altLang="zh-CN" sz="1200" b="1" dirty="0" smtClean="0">
                <a:solidFill>
                  <a:srgbClr val="56C4D2"/>
                </a:solidFill>
                <a:cs typeface="Arial" panose="020B0604020202020204" pitchFamily="34" charset="0"/>
              </a:rPr>
              <a:t>IPv4 Tunnel</a:t>
            </a:r>
            <a:r>
              <a:rPr lang="zh-CN" altLang="en-US" sz="1200" b="1" dirty="0" smtClean="0">
                <a:solidFill>
                  <a:srgbClr val="56C4D2"/>
                </a:solidFill>
                <a:cs typeface="Arial" panose="020B0604020202020204" pitchFamily="34" charset="0"/>
              </a:rPr>
              <a:t>（</a:t>
            </a:r>
            <a:r>
              <a:rPr lang="en-US" altLang="zh-CN" sz="1200" b="1" dirty="0" smtClean="0">
                <a:solidFill>
                  <a:srgbClr val="56C4D2"/>
                </a:solidFill>
                <a:cs typeface="Arial" panose="020B0604020202020204" pitchFamily="34" charset="0"/>
              </a:rPr>
              <a:t>MPLS</a:t>
            </a:r>
            <a:r>
              <a:rPr lang="zh-CN" altLang="en-US" sz="1200" b="1" dirty="0" smtClean="0">
                <a:solidFill>
                  <a:srgbClr val="56C4D2"/>
                </a:solidFill>
                <a:cs typeface="Arial" panose="020B0604020202020204" pitchFamily="34" charset="0"/>
              </a:rPr>
              <a:t>）</a:t>
            </a:r>
            <a:endParaRPr lang="en-US" sz="1200" b="1" dirty="0">
              <a:solidFill>
                <a:srgbClr val="56C4D2"/>
              </a:solidFill>
              <a:cs typeface="Arial" panose="020B0604020202020204" pitchFamily="34" charset="0"/>
            </a:endParaRPr>
          </a:p>
        </p:txBody>
      </p:sp>
      <p:sp>
        <p:nvSpPr>
          <p:cNvPr id="18" name="文本框 17"/>
          <p:cNvSpPr txBox="1"/>
          <p:nvPr/>
        </p:nvSpPr>
        <p:spPr bwMode="gray">
          <a:xfrm>
            <a:off x="4552497" y="3323053"/>
            <a:ext cx="601448" cy="523220"/>
          </a:xfrm>
          <a:prstGeom prst="rect">
            <a:avLst/>
          </a:prstGeom>
          <a:noFill/>
        </p:spPr>
        <p:txBody>
          <a:bodyPr wrap="none" rtlCol="0">
            <a:spAutoFit/>
          </a:bodyPr>
          <a:lstStyle/>
          <a:p>
            <a:pPr algn="ctr"/>
            <a:r>
              <a:rPr lang="zh-CN" altLang="en-US" sz="1400" b="1" dirty="0">
                <a:cs typeface="Arial" panose="020B0604020202020204" pitchFamily="34" charset="0"/>
              </a:rPr>
              <a:t>双</a:t>
            </a:r>
            <a:r>
              <a:rPr lang="zh-CN" altLang="en-US" sz="1400" b="1" dirty="0" smtClean="0">
                <a:cs typeface="Arial" panose="020B0604020202020204" pitchFamily="34" charset="0"/>
              </a:rPr>
              <a:t>栈</a:t>
            </a:r>
            <a:endParaRPr lang="en-US" altLang="zh-CN" sz="1400" b="1" dirty="0" smtClean="0">
              <a:cs typeface="Arial" panose="020B0604020202020204" pitchFamily="34" charset="0"/>
            </a:endParaRPr>
          </a:p>
          <a:p>
            <a:pPr algn="ctr"/>
            <a:r>
              <a:rPr lang="en-US" altLang="zh-CN" sz="1400" b="1" dirty="0" smtClean="0">
                <a:cs typeface="Arial" panose="020B0604020202020204" pitchFamily="34" charset="0"/>
              </a:rPr>
              <a:t>6PE1</a:t>
            </a:r>
          </a:p>
        </p:txBody>
      </p:sp>
      <p:pic>
        <p:nvPicPr>
          <p:cNvPr id="20" name="图片 1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541774" y="3825626"/>
            <a:ext cx="540000" cy="442800"/>
          </a:xfrm>
          <a:prstGeom prst="rect">
            <a:avLst/>
          </a:prstGeom>
        </p:spPr>
      </p:pic>
      <p:sp>
        <p:nvSpPr>
          <p:cNvPr id="21" name="文本框 20"/>
          <p:cNvSpPr txBox="1"/>
          <p:nvPr/>
        </p:nvSpPr>
        <p:spPr bwMode="gray">
          <a:xfrm>
            <a:off x="8565552" y="3535998"/>
            <a:ext cx="492444" cy="307777"/>
          </a:xfrm>
          <a:prstGeom prst="rect">
            <a:avLst/>
          </a:prstGeom>
          <a:noFill/>
        </p:spPr>
        <p:txBody>
          <a:bodyPr wrap="none" rtlCol="0">
            <a:spAutoFit/>
          </a:bodyPr>
          <a:lstStyle/>
          <a:p>
            <a:pPr algn="ctr"/>
            <a:r>
              <a:rPr lang="en-US" altLang="zh-CN" sz="1400" dirty="0" smtClean="0">
                <a:cs typeface="Arial" panose="020B0604020202020204" pitchFamily="34" charset="0"/>
              </a:rPr>
              <a:t>CE2</a:t>
            </a:r>
            <a:endParaRPr lang="en-US" sz="1400" dirty="0">
              <a:cs typeface="Arial" panose="020B0604020202020204" pitchFamily="34" charset="0"/>
            </a:endParaRPr>
          </a:p>
        </p:txBody>
      </p:sp>
      <p:pic>
        <p:nvPicPr>
          <p:cNvPr id="22" name="图片 2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133606" y="3825626"/>
            <a:ext cx="540000" cy="442800"/>
          </a:xfrm>
          <a:prstGeom prst="rect">
            <a:avLst/>
          </a:prstGeom>
        </p:spPr>
      </p:pic>
      <p:sp>
        <p:nvSpPr>
          <p:cNvPr id="23" name="文本框 22"/>
          <p:cNvSpPr txBox="1"/>
          <p:nvPr/>
        </p:nvSpPr>
        <p:spPr bwMode="gray">
          <a:xfrm>
            <a:off x="3154764" y="3535998"/>
            <a:ext cx="492444" cy="307777"/>
          </a:xfrm>
          <a:prstGeom prst="rect">
            <a:avLst/>
          </a:prstGeom>
          <a:noFill/>
        </p:spPr>
        <p:txBody>
          <a:bodyPr wrap="none" rtlCol="0">
            <a:spAutoFit/>
          </a:bodyPr>
          <a:lstStyle/>
          <a:p>
            <a:pPr algn="ctr"/>
            <a:r>
              <a:rPr lang="en-US" altLang="zh-CN" sz="1400" dirty="0" smtClean="0">
                <a:cs typeface="Arial" panose="020B0604020202020204" pitchFamily="34" charset="0"/>
              </a:rPr>
              <a:t>CE1</a:t>
            </a:r>
            <a:endParaRPr lang="en-US" sz="1400" dirty="0">
              <a:cs typeface="Arial" panose="020B0604020202020204" pitchFamily="34" charset="0"/>
            </a:endParaRPr>
          </a:p>
        </p:txBody>
      </p:sp>
      <p:cxnSp>
        <p:nvCxnSpPr>
          <p:cNvPr id="24" name="直接连接符 23"/>
          <p:cNvCxnSpPr>
            <a:stCxn id="22" idx="3"/>
            <a:endCxn id="8" idx="1"/>
          </p:cNvCxnSpPr>
          <p:nvPr/>
        </p:nvCxnSpPr>
        <p:spPr bwMode="gray">
          <a:xfrm>
            <a:off x="3673606" y="4047026"/>
            <a:ext cx="9182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0" idx="3"/>
            <a:endCxn id="20" idx="1"/>
          </p:cNvCxnSpPr>
          <p:nvPr/>
        </p:nvCxnSpPr>
        <p:spPr bwMode="gray">
          <a:xfrm>
            <a:off x="7623484" y="4047026"/>
            <a:ext cx="91829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bwMode="gray">
          <a:xfrm>
            <a:off x="3672528" y="3742763"/>
            <a:ext cx="920445" cy="307777"/>
          </a:xfrm>
          <a:prstGeom prst="rect">
            <a:avLst/>
          </a:prstGeom>
          <a:noFill/>
        </p:spPr>
        <p:txBody>
          <a:bodyPr wrap="none" rtlCol="0">
            <a:spAutoFit/>
          </a:bodyPr>
          <a:lstStyle/>
          <a:p>
            <a:pPr algn="ctr"/>
            <a:r>
              <a:rPr lang="en-US" sz="1400" dirty="0" smtClean="0">
                <a:cs typeface="Arial" panose="020B0604020202020204" pitchFamily="34" charset="0"/>
              </a:rPr>
              <a:t>IPv6 Link</a:t>
            </a:r>
            <a:endParaRPr lang="en-US" sz="1400" dirty="0">
              <a:cs typeface="Arial" panose="020B0604020202020204" pitchFamily="34" charset="0"/>
            </a:endParaRPr>
          </a:p>
        </p:txBody>
      </p:sp>
      <p:sp>
        <p:nvSpPr>
          <p:cNvPr id="31" name="文本框 30"/>
          <p:cNvSpPr txBox="1"/>
          <p:nvPr/>
        </p:nvSpPr>
        <p:spPr bwMode="gray">
          <a:xfrm>
            <a:off x="7622406" y="3742763"/>
            <a:ext cx="920445" cy="307777"/>
          </a:xfrm>
          <a:prstGeom prst="rect">
            <a:avLst/>
          </a:prstGeom>
          <a:noFill/>
        </p:spPr>
        <p:txBody>
          <a:bodyPr wrap="none" rtlCol="0">
            <a:spAutoFit/>
          </a:bodyPr>
          <a:lstStyle/>
          <a:p>
            <a:pPr algn="ctr"/>
            <a:r>
              <a:rPr lang="en-US" sz="1400" dirty="0" smtClean="0">
                <a:cs typeface="Arial" panose="020B0604020202020204" pitchFamily="34" charset="0"/>
              </a:rPr>
              <a:t>IPv6 Link</a:t>
            </a:r>
            <a:endParaRPr lang="en-US" sz="1400" dirty="0">
              <a:cs typeface="Arial" panose="020B0604020202020204" pitchFamily="34" charset="0"/>
            </a:endParaRPr>
          </a:p>
        </p:txBody>
      </p:sp>
      <p:sp>
        <p:nvSpPr>
          <p:cNvPr id="32" name="文本框 31"/>
          <p:cNvSpPr txBox="1"/>
          <p:nvPr/>
        </p:nvSpPr>
        <p:spPr bwMode="gray">
          <a:xfrm>
            <a:off x="7052488" y="3323053"/>
            <a:ext cx="601448" cy="523220"/>
          </a:xfrm>
          <a:prstGeom prst="rect">
            <a:avLst/>
          </a:prstGeom>
          <a:noFill/>
        </p:spPr>
        <p:txBody>
          <a:bodyPr wrap="none" rtlCol="0">
            <a:spAutoFit/>
          </a:bodyPr>
          <a:lstStyle/>
          <a:p>
            <a:pPr algn="ctr"/>
            <a:r>
              <a:rPr lang="zh-CN" altLang="en-US" sz="1400" b="1" dirty="0">
                <a:cs typeface="Arial" panose="020B0604020202020204" pitchFamily="34" charset="0"/>
              </a:rPr>
              <a:t>双栈</a:t>
            </a:r>
            <a:endParaRPr lang="en-US" altLang="zh-CN" sz="1400" b="1" dirty="0">
              <a:cs typeface="Arial" panose="020B0604020202020204" pitchFamily="34" charset="0"/>
            </a:endParaRPr>
          </a:p>
          <a:p>
            <a:pPr algn="ctr"/>
            <a:r>
              <a:rPr lang="en-US" altLang="zh-CN" sz="1400" b="1" dirty="0" smtClean="0">
                <a:cs typeface="Arial" panose="020B0604020202020204" pitchFamily="34" charset="0"/>
              </a:rPr>
              <a:t>6PE2</a:t>
            </a:r>
          </a:p>
        </p:txBody>
      </p:sp>
      <p:sp>
        <p:nvSpPr>
          <p:cNvPr id="33" name="右大括号 32"/>
          <p:cNvSpPr/>
          <p:nvPr/>
        </p:nvSpPr>
        <p:spPr bwMode="gray">
          <a:xfrm rot="5400000">
            <a:off x="3922428" y="3908455"/>
            <a:ext cx="262552" cy="1305484"/>
          </a:xfrm>
          <a:prstGeom prst="righ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文本框 33"/>
          <p:cNvSpPr txBox="1"/>
          <p:nvPr/>
        </p:nvSpPr>
        <p:spPr bwMode="gray">
          <a:xfrm>
            <a:off x="3400962" y="4785302"/>
            <a:ext cx="1305484" cy="1316415"/>
          </a:xfrm>
          <a:prstGeom prst="roundRect">
            <a:avLst/>
          </a:prstGeom>
          <a:solidFill>
            <a:schemeClr val="bg1">
              <a:lumMod val="95000"/>
            </a:schemeClr>
          </a:solidFill>
          <a:ln>
            <a:solidFill>
              <a:schemeClr val="bg1">
                <a:lumMod val="75000"/>
              </a:schemeClr>
            </a:solidFill>
          </a:ln>
        </p:spPr>
        <p:txBody>
          <a:bodyPr wrap="square" rtlCol="0">
            <a:spAutoFit/>
          </a:bodyPr>
          <a:lstStyle/>
          <a:p>
            <a:r>
              <a:rPr lang="en-US" altLang="zh-CN" sz="1200" dirty="0" smtClean="0">
                <a:cs typeface="Arial" panose="020B0604020202020204" pitchFamily="34" charset="0"/>
              </a:rPr>
              <a:t>CE</a:t>
            </a:r>
            <a:r>
              <a:rPr lang="zh-CN" altLang="en-US" sz="1200" dirty="0" smtClean="0">
                <a:cs typeface="Arial" panose="020B0604020202020204" pitchFamily="34" charset="0"/>
              </a:rPr>
              <a:t>和</a:t>
            </a:r>
            <a:r>
              <a:rPr lang="en-US" altLang="zh-CN" sz="1200" dirty="0" smtClean="0">
                <a:cs typeface="Arial" panose="020B0604020202020204" pitchFamily="34" charset="0"/>
              </a:rPr>
              <a:t>PE</a:t>
            </a:r>
            <a:r>
              <a:rPr lang="zh-CN" altLang="en-US" sz="1200" dirty="0" smtClean="0">
                <a:cs typeface="Arial" panose="020B0604020202020204" pitchFamily="34" charset="0"/>
              </a:rPr>
              <a:t>之间利用</a:t>
            </a:r>
            <a:r>
              <a:rPr lang="en-US" altLang="zh-CN" sz="1200" dirty="0">
                <a:cs typeface="Arial" panose="020B0604020202020204" pitchFamily="34" charset="0"/>
              </a:rPr>
              <a:t>IPv6</a:t>
            </a:r>
            <a:r>
              <a:rPr lang="zh-CN" altLang="en-US" sz="1200" dirty="0">
                <a:cs typeface="Arial" panose="020B0604020202020204" pitchFamily="34" charset="0"/>
              </a:rPr>
              <a:t>协议中的</a:t>
            </a:r>
            <a:r>
              <a:rPr lang="en-US" altLang="zh-CN" sz="1200" dirty="0">
                <a:cs typeface="Arial" panose="020B0604020202020204" pitchFamily="34" charset="0"/>
              </a:rPr>
              <a:t>IGP</a:t>
            </a:r>
            <a:r>
              <a:rPr lang="zh-CN" altLang="en-US" sz="1200" dirty="0">
                <a:cs typeface="Arial" panose="020B0604020202020204" pitchFamily="34" charset="0"/>
              </a:rPr>
              <a:t>、</a:t>
            </a:r>
            <a:r>
              <a:rPr lang="en-US" altLang="zh-CN" sz="1200" dirty="0">
                <a:cs typeface="Arial" panose="020B0604020202020204" pitchFamily="34" charset="0"/>
              </a:rPr>
              <a:t>EBGP</a:t>
            </a:r>
            <a:r>
              <a:rPr lang="zh-CN" altLang="en-US" sz="1200" dirty="0">
                <a:cs typeface="Arial" panose="020B0604020202020204" pitchFamily="34" charset="0"/>
              </a:rPr>
              <a:t>和静态路由等方式交换</a:t>
            </a:r>
            <a:r>
              <a:rPr lang="en-US" altLang="zh-CN" sz="1200" dirty="0">
                <a:cs typeface="Arial" panose="020B0604020202020204" pitchFamily="34" charset="0"/>
              </a:rPr>
              <a:t>IPv6</a:t>
            </a:r>
            <a:r>
              <a:rPr lang="zh-CN" altLang="en-US" sz="1200" dirty="0" smtClean="0">
                <a:cs typeface="Arial" panose="020B0604020202020204" pitchFamily="34" charset="0"/>
              </a:rPr>
              <a:t>路由。</a:t>
            </a:r>
            <a:endParaRPr lang="en-US" sz="1200" dirty="0">
              <a:cs typeface="Arial" panose="020B0604020202020204" pitchFamily="34" charset="0"/>
            </a:endParaRPr>
          </a:p>
        </p:txBody>
      </p:sp>
      <p:sp>
        <p:nvSpPr>
          <p:cNvPr id="35" name="右大括号 34"/>
          <p:cNvSpPr/>
          <p:nvPr/>
        </p:nvSpPr>
        <p:spPr bwMode="gray">
          <a:xfrm rot="5400000">
            <a:off x="6004068" y="3481935"/>
            <a:ext cx="262552" cy="2158523"/>
          </a:xfrm>
          <a:prstGeom prst="rightBrace">
            <a:avLst/>
          </a:prstGeom>
          <a:ln>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文本框 35"/>
          <p:cNvSpPr txBox="1"/>
          <p:nvPr/>
        </p:nvSpPr>
        <p:spPr bwMode="gray">
          <a:xfrm>
            <a:off x="5056083" y="4802104"/>
            <a:ext cx="2158523" cy="919401"/>
          </a:xfrm>
          <a:prstGeom prst="roundRect">
            <a:avLst/>
          </a:prstGeom>
          <a:solidFill>
            <a:srgbClr val="F2FBFC"/>
          </a:solidFill>
          <a:ln>
            <a:solidFill>
              <a:srgbClr val="94DAE2"/>
            </a:solidFill>
          </a:ln>
        </p:spPr>
        <p:txBody>
          <a:bodyPr wrap="square" rtlCol="0">
            <a:spAutoFit/>
          </a:bodyPr>
          <a:lstStyle/>
          <a:p>
            <a:r>
              <a:rPr lang="en-US" altLang="zh-CN" sz="1200" dirty="0">
                <a:cs typeface="Arial" panose="020B0604020202020204" pitchFamily="34" charset="0"/>
              </a:rPr>
              <a:t>PE</a:t>
            </a:r>
            <a:r>
              <a:rPr lang="zh-CN" altLang="en-US" sz="1200" dirty="0">
                <a:cs typeface="Arial" panose="020B0604020202020204" pitchFamily="34" charset="0"/>
              </a:rPr>
              <a:t>和</a:t>
            </a:r>
            <a:r>
              <a:rPr lang="en-US" altLang="zh-CN" sz="1200" dirty="0">
                <a:cs typeface="Arial" panose="020B0604020202020204" pitchFamily="34" charset="0"/>
              </a:rPr>
              <a:t>P</a:t>
            </a:r>
            <a:r>
              <a:rPr lang="zh-CN" altLang="en-US" sz="1200" dirty="0">
                <a:cs typeface="Arial" panose="020B0604020202020204" pitchFamily="34" charset="0"/>
              </a:rPr>
              <a:t>、其他</a:t>
            </a:r>
            <a:r>
              <a:rPr lang="en-US" altLang="zh-CN" sz="1200" dirty="0">
                <a:cs typeface="Arial" panose="020B0604020202020204" pitchFamily="34" charset="0"/>
              </a:rPr>
              <a:t>PE</a:t>
            </a:r>
            <a:r>
              <a:rPr lang="zh-CN" altLang="en-US" sz="1200" dirty="0">
                <a:cs typeface="Arial" panose="020B0604020202020204" pitchFamily="34" charset="0"/>
              </a:rPr>
              <a:t>之间利用</a:t>
            </a:r>
            <a:r>
              <a:rPr lang="en-US" altLang="zh-CN" sz="1200" dirty="0">
                <a:cs typeface="Arial" panose="020B0604020202020204" pitchFamily="34" charset="0"/>
              </a:rPr>
              <a:t>IPv4</a:t>
            </a:r>
            <a:r>
              <a:rPr lang="zh-CN" altLang="en-US" sz="1200" dirty="0">
                <a:cs typeface="Arial" panose="020B0604020202020204" pitchFamily="34" charset="0"/>
              </a:rPr>
              <a:t>路由协议交换路由</a:t>
            </a:r>
            <a:r>
              <a:rPr lang="zh-CN" altLang="en-US" sz="1200" dirty="0" smtClean="0">
                <a:cs typeface="Arial" panose="020B0604020202020204" pitchFamily="34" charset="0"/>
              </a:rPr>
              <a:t>。</a:t>
            </a:r>
            <a:endParaRPr lang="en-US" altLang="zh-CN" sz="1200" dirty="0" smtClean="0">
              <a:cs typeface="Arial" panose="020B0604020202020204" pitchFamily="34" charset="0"/>
            </a:endParaRPr>
          </a:p>
          <a:p>
            <a:r>
              <a:rPr lang="en-US" altLang="zh-CN" sz="1200" dirty="0" smtClean="0">
                <a:cs typeface="Arial" panose="020B0604020202020204" pitchFamily="34" charset="0"/>
              </a:rPr>
              <a:t>PE</a:t>
            </a:r>
            <a:r>
              <a:rPr lang="zh-CN" altLang="en-US" sz="1200" dirty="0">
                <a:cs typeface="Arial" panose="020B0604020202020204" pitchFamily="34" charset="0"/>
              </a:rPr>
              <a:t>之间需要创建</a:t>
            </a:r>
            <a:r>
              <a:rPr lang="en-US" altLang="zh-CN" sz="1200" dirty="0">
                <a:cs typeface="Arial" panose="020B0604020202020204" pitchFamily="34" charset="0"/>
              </a:rPr>
              <a:t>Tunnel</a:t>
            </a:r>
            <a:r>
              <a:rPr lang="zh-CN" altLang="en-US" sz="1200" dirty="0">
                <a:cs typeface="Arial" panose="020B0604020202020204" pitchFamily="34" charset="0"/>
              </a:rPr>
              <a:t>来透明传输</a:t>
            </a:r>
            <a:r>
              <a:rPr lang="en-US" altLang="zh-CN" sz="1200" dirty="0">
                <a:cs typeface="Arial" panose="020B0604020202020204" pitchFamily="34" charset="0"/>
              </a:rPr>
              <a:t>IPv6</a:t>
            </a:r>
            <a:r>
              <a:rPr lang="zh-CN" altLang="en-US" sz="1200" dirty="0">
                <a:cs typeface="Arial" panose="020B0604020202020204" pitchFamily="34" charset="0"/>
              </a:rPr>
              <a:t>报文。</a:t>
            </a:r>
            <a:endParaRPr lang="en-US" sz="1200" dirty="0">
              <a:cs typeface="Arial" panose="020B0604020202020204" pitchFamily="34" charset="0"/>
            </a:endParaRPr>
          </a:p>
        </p:txBody>
      </p:sp>
      <p:sp>
        <p:nvSpPr>
          <p:cNvPr id="41" name="五边形 40"/>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2" name="燕尾形 41"/>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43" name="燕尾形 42"/>
          <p:cNvSpPr/>
          <p:nvPr/>
        </p:nvSpPr>
        <p:spPr bwMode="gray">
          <a:xfrm>
            <a:off x="7946129"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44" name="燕尾形 43"/>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6VPE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402396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t>单自治域</a:t>
            </a:r>
            <a:r>
              <a:rPr lang="en-US" altLang="zh-CN" dirty="0" smtClean="0"/>
              <a:t>6PE</a:t>
            </a:r>
            <a:endParaRPr lang="zh-CN" altLang="en-US" dirty="0"/>
          </a:p>
        </p:txBody>
      </p:sp>
      <p:sp>
        <p:nvSpPr>
          <p:cNvPr id="3" name="文本占位符 2"/>
          <p:cNvSpPr>
            <a:spLocks noGrp="1"/>
          </p:cNvSpPr>
          <p:nvPr>
            <p:ph type="body" sz="quarter" idx="10"/>
          </p:nvPr>
        </p:nvSpPr>
        <p:spPr bwMode="gray">
          <a:xfrm>
            <a:off x="455612" y="1047750"/>
            <a:ext cx="11293475" cy="2187982"/>
          </a:xfrm>
        </p:spPr>
        <p:txBody>
          <a:bodyPr/>
          <a:lstStyle/>
          <a:p>
            <a:r>
              <a:rPr lang="en-US" altLang="zh-CN" sz="1800" dirty="0" smtClean="0"/>
              <a:t>IPv6</a:t>
            </a:r>
            <a:r>
              <a:rPr lang="zh-CN" altLang="en-US" sz="1800" dirty="0"/>
              <a:t>孤岛连接到同一个自治域，处于同一个自治域内的</a:t>
            </a:r>
            <a:r>
              <a:rPr lang="en-US" altLang="zh-CN" sz="1800" dirty="0"/>
              <a:t>PE</a:t>
            </a:r>
            <a:r>
              <a:rPr lang="zh-CN" altLang="en-US" sz="1800" dirty="0"/>
              <a:t>之间通过</a:t>
            </a:r>
            <a:r>
              <a:rPr lang="en-US" altLang="zh-CN" sz="1800" dirty="0"/>
              <a:t>MP-IBGP</a:t>
            </a:r>
            <a:r>
              <a:rPr lang="zh-CN" altLang="en-US" sz="1800" dirty="0"/>
              <a:t>关系传递</a:t>
            </a:r>
            <a:r>
              <a:rPr lang="en-US" altLang="zh-CN" sz="1800" dirty="0"/>
              <a:t>IPv6</a:t>
            </a:r>
            <a:r>
              <a:rPr lang="zh-CN" altLang="en-US" sz="1800" dirty="0"/>
              <a:t>路由</a:t>
            </a:r>
            <a:r>
              <a:rPr lang="zh-CN" altLang="en-US" sz="1800" dirty="0" smtClean="0"/>
              <a:t>。</a:t>
            </a:r>
            <a:endParaRPr lang="en-US" altLang="zh-CN" sz="1800" dirty="0" smtClean="0"/>
          </a:p>
          <a:p>
            <a:r>
              <a:rPr lang="zh-CN" altLang="en-US" sz="1800" dirty="0" smtClean="0"/>
              <a:t>单</a:t>
            </a:r>
            <a:r>
              <a:rPr lang="zh-CN" altLang="en-US" sz="1800" dirty="0"/>
              <a:t>自治域</a:t>
            </a:r>
            <a:r>
              <a:rPr lang="en-US" altLang="zh-CN" sz="1800" dirty="0"/>
              <a:t>6PE</a:t>
            </a:r>
            <a:r>
              <a:rPr lang="zh-CN" altLang="en-US" sz="1800" dirty="0"/>
              <a:t>的路由传递和数据转发过程如</a:t>
            </a:r>
            <a:r>
              <a:rPr lang="zh-CN" altLang="en-US" sz="1800" dirty="0" smtClean="0"/>
              <a:t>图所</a:t>
            </a:r>
            <a:r>
              <a:rPr lang="zh-CN" altLang="en-US" sz="1800" dirty="0"/>
              <a:t>示，该图表示的是</a:t>
            </a:r>
            <a:r>
              <a:rPr lang="en-US" altLang="zh-CN" sz="1800" dirty="0"/>
              <a:t>CE2</a:t>
            </a:r>
            <a:r>
              <a:rPr lang="zh-CN" altLang="en-US" sz="1800" dirty="0"/>
              <a:t>发送路由给</a:t>
            </a:r>
            <a:r>
              <a:rPr lang="en-US" altLang="zh-CN" sz="1800" dirty="0"/>
              <a:t>CE1</a:t>
            </a:r>
            <a:r>
              <a:rPr lang="zh-CN" altLang="en-US" sz="1800" dirty="0"/>
              <a:t>，</a:t>
            </a:r>
            <a:r>
              <a:rPr lang="en-US" altLang="zh-CN" sz="1800" dirty="0"/>
              <a:t>CE1</a:t>
            </a:r>
            <a:r>
              <a:rPr lang="zh-CN" altLang="en-US" sz="1800" dirty="0"/>
              <a:t>发送报文给</a:t>
            </a:r>
            <a:r>
              <a:rPr lang="en-US" altLang="zh-CN" sz="1800" dirty="0"/>
              <a:t>CE2</a:t>
            </a:r>
            <a:r>
              <a:rPr lang="zh-CN" altLang="en-US" sz="1800" dirty="0"/>
              <a:t>的过程</a:t>
            </a:r>
            <a:r>
              <a:rPr lang="zh-CN" altLang="en-US" sz="1800" dirty="0" smtClean="0"/>
              <a:t>。</a:t>
            </a:r>
            <a:endParaRPr lang="en-US" altLang="zh-CN" sz="1800" dirty="0" smtClean="0"/>
          </a:p>
          <a:p>
            <a:pPr lvl="1"/>
            <a:r>
              <a:rPr lang="en-US" altLang="zh-CN" sz="1600" dirty="0" smtClean="0"/>
              <a:t>I-L</a:t>
            </a:r>
            <a:r>
              <a:rPr lang="zh-CN" altLang="en-US" sz="1600" dirty="0"/>
              <a:t>表示内层</a:t>
            </a:r>
            <a:r>
              <a:rPr lang="zh-CN" altLang="en-US" sz="1600" dirty="0" smtClean="0"/>
              <a:t>标签（</a:t>
            </a:r>
            <a:r>
              <a:rPr lang="en-US" altLang="zh-CN" sz="1600" dirty="0" smtClean="0"/>
              <a:t>MP-IBGP Label</a:t>
            </a:r>
            <a:r>
              <a:rPr lang="zh-CN" altLang="en-US" sz="1600" dirty="0" smtClean="0"/>
              <a:t>），</a:t>
            </a:r>
            <a:r>
              <a:rPr lang="zh-CN" altLang="en-US" sz="1600" dirty="0"/>
              <a:t>内层</a:t>
            </a:r>
            <a:r>
              <a:rPr lang="zh-CN" altLang="en-US" sz="1600" dirty="0" smtClean="0"/>
              <a:t>标签由</a:t>
            </a:r>
            <a:r>
              <a:rPr lang="en-US" altLang="zh-CN" sz="1600" dirty="0" smtClean="0"/>
              <a:t>MP-BGP</a:t>
            </a:r>
            <a:r>
              <a:rPr lang="zh-CN" altLang="en-US" sz="1600" dirty="0" smtClean="0"/>
              <a:t>分配，表示</a:t>
            </a:r>
            <a:r>
              <a:rPr lang="zh-CN" altLang="en-US" sz="1600" dirty="0"/>
              <a:t>报文的出接口或者报文属于哪个</a:t>
            </a:r>
            <a:r>
              <a:rPr lang="en-US" altLang="zh-CN" sz="1600" dirty="0"/>
              <a:t>CE</a:t>
            </a:r>
            <a:r>
              <a:rPr lang="zh-CN" altLang="en-US" sz="1600" dirty="0"/>
              <a:t>。</a:t>
            </a:r>
            <a:endParaRPr lang="en-US" altLang="zh-CN" sz="1600" dirty="0" smtClean="0"/>
          </a:p>
          <a:p>
            <a:pPr lvl="1"/>
            <a:r>
              <a:rPr lang="en-US" altLang="zh-CN" sz="1600" dirty="0" smtClean="0"/>
              <a:t>O-L</a:t>
            </a:r>
            <a:r>
              <a:rPr lang="zh-CN" altLang="en-US" sz="1600" dirty="0"/>
              <a:t>表示外层隧道</a:t>
            </a:r>
            <a:r>
              <a:rPr lang="zh-CN" altLang="en-US" sz="1600" dirty="0" smtClean="0"/>
              <a:t>标签（</a:t>
            </a:r>
            <a:r>
              <a:rPr lang="en-US" altLang="zh-CN" sz="1600" dirty="0" smtClean="0"/>
              <a:t>MPLS Label</a:t>
            </a:r>
            <a:r>
              <a:rPr lang="zh-CN" altLang="en-US" sz="1600" dirty="0" smtClean="0"/>
              <a:t>），外层</a:t>
            </a:r>
            <a:r>
              <a:rPr lang="zh-CN" altLang="en-US" sz="1600" dirty="0"/>
              <a:t>隧道标签由</a:t>
            </a:r>
            <a:r>
              <a:rPr lang="en-US" altLang="zh-CN" sz="1600" dirty="0"/>
              <a:t>MPLS</a:t>
            </a:r>
            <a:r>
              <a:rPr lang="zh-CN" altLang="en-US" sz="1600" dirty="0"/>
              <a:t>分配，用来指示如何到达</a:t>
            </a:r>
            <a:r>
              <a:rPr lang="en-US" altLang="zh-CN" sz="1600" dirty="0"/>
              <a:t>BGP</a:t>
            </a:r>
            <a:r>
              <a:rPr lang="zh-CN" altLang="en-US" sz="1600" dirty="0"/>
              <a:t>下一</a:t>
            </a:r>
            <a:r>
              <a:rPr lang="zh-CN" altLang="en-US" sz="1600" dirty="0" smtClean="0"/>
              <a:t>跳</a:t>
            </a:r>
            <a:r>
              <a:rPr lang="zh-CN" altLang="en-US" sz="1600" dirty="0"/>
              <a:t>。</a:t>
            </a:r>
          </a:p>
        </p:txBody>
      </p:sp>
      <p:sp>
        <p:nvSpPr>
          <p:cNvPr id="4" name="Freeform 159"/>
          <p:cNvSpPr/>
          <p:nvPr/>
        </p:nvSpPr>
        <p:spPr bwMode="gray">
          <a:xfrm flipH="1">
            <a:off x="1990899" y="3319115"/>
            <a:ext cx="2158522" cy="119990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26712" y="3878028"/>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8300" y="3878028"/>
            <a:ext cx="540000" cy="442800"/>
          </a:xfrm>
          <a:prstGeom prst="rect">
            <a:avLst/>
          </a:prstGeom>
        </p:spPr>
      </p:pic>
      <p:sp>
        <p:nvSpPr>
          <p:cNvPr id="10" name="文本框 9"/>
          <p:cNvSpPr txBox="1"/>
          <p:nvPr/>
        </p:nvSpPr>
        <p:spPr bwMode="gray">
          <a:xfrm>
            <a:off x="1494526" y="3593998"/>
            <a:ext cx="587020" cy="307777"/>
          </a:xfrm>
          <a:prstGeom prst="rect">
            <a:avLst/>
          </a:prstGeom>
          <a:noFill/>
        </p:spPr>
        <p:txBody>
          <a:bodyPr wrap="none" rtlCol="0">
            <a:spAutoFit/>
          </a:bodyPr>
          <a:lstStyle/>
          <a:p>
            <a:pPr algn="ctr"/>
            <a:r>
              <a:rPr lang="en-US" altLang="zh-CN" sz="1400" dirty="0" smtClean="0">
                <a:cs typeface="Arial" panose="020B0604020202020204" pitchFamily="34" charset="0"/>
              </a:rPr>
              <a:t>6PE1</a:t>
            </a:r>
          </a:p>
        </p:txBody>
      </p:sp>
      <p:sp>
        <p:nvSpPr>
          <p:cNvPr id="14" name="文本框 13"/>
          <p:cNvSpPr txBox="1"/>
          <p:nvPr/>
        </p:nvSpPr>
        <p:spPr bwMode="gray">
          <a:xfrm>
            <a:off x="988628" y="5713716"/>
            <a:ext cx="492444" cy="307777"/>
          </a:xfrm>
          <a:prstGeom prst="rect">
            <a:avLst/>
          </a:prstGeom>
          <a:noFill/>
        </p:spPr>
        <p:txBody>
          <a:bodyPr wrap="none" rtlCol="0">
            <a:spAutoFit/>
          </a:bodyPr>
          <a:lstStyle/>
          <a:p>
            <a:pPr algn="ctr"/>
            <a:r>
              <a:rPr lang="en-US" altLang="zh-CN" sz="1400" dirty="0" smtClean="0">
                <a:cs typeface="Arial" panose="020B0604020202020204" pitchFamily="34" charset="0"/>
              </a:rPr>
              <a:t>CE1</a:t>
            </a:r>
            <a:endParaRPr lang="en-US" sz="1400" dirty="0">
              <a:cs typeface="Arial" panose="020B0604020202020204" pitchFamily="34" charset="0"/>
            </a:endParaRPr>
          </a:p>
        </p:txBody>
      </p:sp>
      <p:cxnSp>
        <p:nvCxnSpPr>
          <p:cNvPr id="15" name="直接连接符 14"/>
          <p:cNvCxnSpPr>
            <a:stCxn id="25" idx="0"/>
            <a:endCxn id="5" idx="2"/>
          </p:cNvCxnSpPr>
          <p:nvPr/>
        </p:nvCxnSpPr>
        <p:spPr bwMode="gray">
          <a:xfrm flipV="1">
            <a:off x="1243525" y="4320828"/>
            <a:ext cx="553187" cy="9707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6" idx="2"/>
            <a:endCxn id="28" idx="0"/>
          </p:cNvCxnSpPr>
          <p:nvPr/>
        </p:nvCxnSpPr>
        <p:spPr bwMode="gray">
          <a:xfrm>
            <a:off x="4288300" y="4320828"/>
            <a:ext cx="562116" cy="9707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bwMode="gray">
          <a:xfrm rot="17965038">
            <a:off x="946536" y="4645327"/>
            <a:ext cx="901209"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EBGP</a:t>
            </a:r>
            <a:endParaRPr lang="en-US" sz="1200" dirty="0">
              <a:cs typeface="Arial" panose="020B0604020202020204" pitchFamily="34" charset="0"/>
            </a:endParaRPr>
          </a:p>
        </p:txBody>
      </p:sp>
      <p:sp>
        <p:nvSpPr>
          <p:cNvPr id="19" name="文本框 18"/>
          <p:cNvSpPr txBox="1"/>
          <p:nvPr/>
        </p:nvSpPr>
        <p:spPr bwMode="gray">
          <a:xfrm>
            <a:off x="3994517" y="3593998"/>
            <a:ext cx="587020" cy="307777"/>
          </a:xfrm>
          <a:prstGeom prst="rect">
            <a:avLst/>
          </a:prstGeom>
          <a:noFill/>
        </p:spPr>
        <p:txBody>
          <a:bodyPr wrap="none" rtlCol="0">
            <a:spAutoFit/>
          </a:bodyPr>
          <a:lstStyle/>
          <a:p>
            <a:pPr algn="ctr"/>
            <a:r>
              <a:rPr lang="en-US" altLang="zh-CN" sz="1400" dirty="0" smtClean="0">
                <a:cs typeface="Arial" panose="020B0604020202020204" pitchFamily="34" charset="0"/>
              </a:rPr>
              <a:t>6PE2</a:t>
            </a:r>
          </a:p>
        </p:txBody>
      </p:sp>
      <p:pic>
        <p:nvPicPr>
          <p:cNvPr id="25" name="图片 2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73525" y="5291563"/>
            <a:ext cx="540000" cy="442800"/>
          </a:xfrm>
          <a:prstGeom prst="rect">
            <a:avLst/>
          </a:prstGeom>
        </p:spPr>
      </p:pic>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580416" y="5291563"/>
            <a:ext cx="540000" cy="442800"/>
          </a:xfrm>
          <a:prstGeom prst="rect">
            <a:avLst/>
          </a:prstGeom>
        </p:spPr>
      </p:pic>
      <p:sp>
        <p:nvSpPr>
          <p:cNvPr id="31" name="文本框 30"/>
          <p:cNvSpPr txBox="1"/>
          <p:nvPr/>
        </p:nvSpPr>
        <p:spPr bwMode="gray">
          <a:xfrm>
            <a:off x="4604194" y="5713716"/>
            <a:ext cx="492443" cy="307777"/>
          </a:xfrm>
          <a:prstGeom prst="rect">
            <a:avLst/>
          </a:prstGeom>
          <a:noFill/>
        </p:spPr>
        <p:txBody>
          <a:bodyPr wrap="none" rtlCol="0">
            <a:spAutoFit/>
          </a:bodyPr>
          <a:lstStyle/>
          <a:p>
            <a:pPr algn="ctr"/>
            <a:r>
              <a:rPr lang="en-US" altLang="zh-CN" sz="1400" dirty="0" smtClean="0">
                <a:cs typeface="Arial" panose="020B0604020202020204" pitchFamily="34" charset="0"/>
              </a:rPr>
              <a:t>CE2</a:t>
            </a:r>
            <a:endParaRPr lang="en-US" sz="1400" dirty="0">
              <a:cs typeface="Arial" panose="020B0604020202020204" pitchFamily="34" charset="0"/>
            </a:endParaRPr>
          </a:p>
        </p:txBody>
      </p:sp>
      <p:sp>
        <p:nvSpPr>
          <p:cNvPr id="32" name="文本框 31"/>
          <p:cNvSpPr txBox="1"/>
          <p:nvPr/>
        </p:nvSpPr>
        <p:spPr bwMode="gray">
          <a:xfrm rot="3625063">
            <a:off x="4235901" y="4604481"/>
            <a:ext cx="901209"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EBGP</a:t>
            </a:r>
            <a:endParaRPr lang="en-US" sz="1200" dirty="0">
              <a:cs typeface="Arial" panose="020B0604020202020204" pitchFamily="34" charset="0"/>
            </a:endParaRPr>
          </a:p>
        </p:txBody>
      </p:sp>
      <p:cxnSp>
        <p:nvCxnSpPr>
          <p:cNvPr id="33" name="直接连接符 32"/>
          <p:cNvCxnSpPr>
            <a:stCxn id="5" idx="3"/>
            <a:endCxn id="6" idx="1"/>
          </p:cNvCxnSpPr>
          <p:nvPr/>
        </p:nvCxnSpPr>
        <p:spPr bwMode="gray">
          <a:xfrm>
            <a:off x="2066712" y="4099428"/>
            <a:ext cx="19515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bwMode="gray">
          <a:xfrm>
            <a:off x="2642124" y="3722052"/>
            <a:ext cx="859531" cy="276999"/>
          </a:xfrm>
          <a:prstGeom prst="rect">
            <a:avLst/>
          </a:prstGeom>
          <a:noFill/>
        </p:spPr>
        <p:txBody>
          <a:bodyPr wrap="none" rtlCol="0">
            <a:spAutoFit/>
          </a:bodyPr>
          <a:lstStyle/>
          <a:p>
            <a:pPr algn="ctr"/>
            <a:r>
              <a:rPr lang="en-US" altLang="zh-CN" sz="1200" dirty="0" smtClean="0">
                <a:cs typeface="Arial" panose="020B0604020202020204" pitchFamily="34" charset="0"/>
              </a:rPr>
              <a:t>IPv4 IBGP</a:t>
            </a:r>
            <a:endParaRPr lang="en-US" sz="1200" dirty="0">
              <a:cs typeface="Arial" panose="020B0604020202020204" pitchFamily="34" charset="0"/>
            </a:endParaRPr>
          </a:p>
        </p:txBody>
      </p:sp>
      <p:sp>
        <p:nvSpPr>
          <p:cNvPr id="37" name="Can 9"/>
          <p:cNvSpPr/>
          <p:nvPr/>
        </p:nvSpPr>
        <p:spPr bwMode="gray">
          <a:xfrm rot="5400000">
            <a:off x="2918081" y="3151288"/>
            <a:ext cx="253196" cy="1896281"/>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auto">
          <a:xfrm>
            <a:off x="2620075" y="3972830"/>
            <a:ext cx="899605" cy="276999"/>
          </a:xfrm>
          <a:prstGeom prst="rect">
            <a:avLst/>
          </a:prstGeom>
          <a:noFill/>
        </p:spPr>
        <p:txBody>
          <a:bodyPr wrap="square" rtlCol="0">
            <a:spAutoFit/>
          </a:bodyPr>
          <a:lstStyle>
            <a:defPPr>
              <a:defRPr lang="en-US"/>
            </a:defPPr>
            <a:lvl1pPr algn="ctr">
              <a:defRPr sz="1200" b="1">
                <a:solidFill>
                  <a:srgbClr val="56C4D2"/>
                </a:solidFill>
                <a:cs typeface="Arial" panose="020B0604020202020204" pitchFamily="34" charset="0"/>
              </a:defRPr>
            </a:lvl1pPr>
          </a:lstStyle>
          <a:p>
            <a:r>
              <a:rPr lang="en-US" altLang="zh-CN" dirty="0"/>
              <a:t>MPLS LSP</a:t>
            </a:r>
            <a:endParaRPr lang="en-US" dirty="0"/>
          </a:p>
        </p:txBody>
      </p: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048755" y="3934928"/>
            <a:ext cx="540000" cy="442800"/>
          </a:xfrm>
          <a:prstGeom prst="rect">
            <a:avLst/>
          </a:prstGeom>
        </p:spPr>
      </p:pic>
      <p:pic>
        <p:nvPicPr>
          <p:cNvPr id="42" name="图片 4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520503" y="3934928"/>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988807" y="3934928"/>
            <a:ext cx="540000" cy="442800"/>
          </a:xfrm>
          <a:prstGeom prst="rect">
            <a:avLst/>
          </a:prstGeom>
        </p:spPr>
      </p:pic>
      <p:pic>
        <p:nvPicPr>
          <p:cNvPr id="44" name="图片 4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457111" y="3934928"/>
            <a:ext cx="540000" cy="442800"/>
          </a:xfrm>
          <a:prstGeom prst="rect">
            <a:avLst/>
          </a:prstGeom>
        </p:spPr>
      </p:pic>
      <p:cxnSp>
        <p:nvCxnSpPr>
          <p:cNvPr id="45" name="直接连接符 44"/>
          <p:cNvCxnSpPr>
            <a:stCxn id="41" idx="3"/>
            <a:endCxn id="42" idx="1"/>
          </p:cNvCxnSpPr>
          <p:nvPr/>
        </p:nvCxnSpPr>
        <p:spPr bwMode="gray">
          <a:xfrm>
            <a:off x="6588755" y="4156328"/>
            <a:ext cx="9317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42" idx="3"/>
            <a:endCxn id="43" idx="1"/>
          </p:cNvCxnSpPr>
          <p:nvPr/>
        </p:nvCxnSpPr>
        <p:spPr bwMode="gray">
          <a:xfrm>
            <a:off x="8060503" y="4156328"/>
            <a:ext cx="92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43" idx="3"/>
            <a:endCxn id="44" idx="1"/>
          </p:cNvCxnSpPr>
          <p:nvPr/>
        </p:nvCxnSpPr>
        <p:spPr bwMode="gray">
          <a:xfrm>
            <a:off x="9528807" y="4156328"/>
            <a:ext cx="92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bwMode="gray">
          <a:xfrm>
            <a:off x="10499924" y="3687891"/>
            <a:ext cx="450764" cy="276999"/>
          </a:xfrm>
          <a:prstGeom prst="rect">
            <a:avLst/>
          </a:prstGeom>
          <a:noFill/>
        </p:spPr>
        <p:txBody>
          <a:bodyPr wrap="none" rtlCol="0">
            <a:spAutoFit/>
          </a:bodyPr>
          <a:lstStyle/>
          <a:p>
            <a:pPr algn="ctr"/>
            <a:r>
              <a:rPr lang="en-US" altLang="zh-CN" sz="1200" dirty="0" smtClean="0">
                <a:cs typeface="Arial" panose="020B0604020202020204" pitchFamily="34" charset="0"/>
              </a:rPr>
              <a:t>CE2</a:t>
            </a:r>
            <a:endParaRPr lang="en-US" sz="1200" dirty="0">
              <a:cs typeface="Arial" panose="020B0604020202020204" pitchFamily="34" charset="0"/>
            </a:endParaRPr>
          </a:p>
        </p:txBody>
      </p:sp>
      <p:sp>
        <p:nvSpPr>
          <p:cNvPr id="55" name="文本框 54"/>
          <p:cNvSpPr txBox="1"/>
          <p:nvPr/>
        </p:nvSpPr>
        <p:spPr bwMode="gray">
          <a:xfrm>
            <a:off x="8998579" y="3687891"/>
            <a:ext cx="530915" cy="276999"/>
          </a:xfrm>
          <a:prstGeom prst="rect">
            <a:avLst/>
          </a:prstGeom>
          <a:noFill/>
        </p:spPr>
        <p:txBody>
          <a:bodyPr wrap="none" rtlCol="0">
            <a:spAutoFit/>
          </a:bodyPr>
          <a:lstStyle/>
          <a:p>
            <a:pPr algn="ctr"/>
            <a:r>
              <a:rPr lang="en-US" altLang="zh-CN" sz="1200" dirty="0" smtClean="0">
                <a:cs typeface="Arial" panose="020B0604020202020204" pitchFamily="34" charset="0"/>
              </a:rPr>
              <a:t>6PE2</a:t>
            </a:r>
            <a:endParaRPr lang="en-US" sz="1200" dirty="0">
              <a:cs typeface="Arial" panose="020B0604020202020204" pitchFamily="34" charset="0"/>
            </a:endParaRPr>
          </a:p>
        </p:txBody>
      </p:sp>
      <p:sp>
        <p:nvSpPr>
          <p:cNvPr id="56" name="文本框 55"/>
          <p:cNvSpPr txBox="1"/>
          <p:nvPr/>
        </p:nvSpPr>
        <p:spPr bwMode="gray">
          <a:xfrm>
            <a:off x="7526831" y="3687891"/>
            <a:ext cx="530915" cy="276999"/>
          </a:xfrm>
          <a:prstGeom prst="rect">
            <a:avLst/>
          </a:prstGeom>
          <a:noFill/>
        </p:spPr>
        <p:txBody>
          <a:bodyPr wrap="none" rtlCol="0">
            <a:spAutoFit/>
          </a:bodyPr>
          <a:lstStyle/>
          <a:p>
            <a:pPr algn="ctr"/>
            <a:r>
              <a:rPr lang="en-US" altLang="zh-CN" sz="1200" dirty="0" smtClean="0">
                <a:cs typeface="Arial" panose="020B0604020202020204" pitchFamily="34" charset="0"/>
              </a:rPr>
              <a:t>6PE1</a:t>
            </a:r>
            <a:endParaRPr lang="en-US" sz="1200" dirty="0">
              <a:cs typeface="Arial" panose="020B0604020202020204" pitchFamily="34" charset="0"/>
            </a:endParaRPr>
          </a:p>
        </p:txBody>
      </p:sp>
      <p:sp>
        <p:nvSpPr>
          <p:cNvPr id="57" name="文本框 56"/>
          <p:cNvSpPr txBox="1"/>
          <p:nvPr/>
        </p:nvSpPr>
        <p:spPr bwMode="gray">
          <a:xfrm>
            <a:off x="6095158" y="3687891"/>
            <a:ext cx="450764" cy="276999"/>
          </a:xfrm>
          <a:prstGeom prst="rect">
            <a:avLst/>
          </a:prstGeom>
          <a:noFill/>
        </p:spPr>
        <p:txBody>
          <a:bodyPr wrap="none" rtlCol="0">
            <a:spAutoFit/>
          </a:bodyPr>
          <a:lstStyle/>
          <a:p>
            <a:pPr algn="ctr"/>
            <a:r>
              <a:rPr lang="en-US" altLang="zh-CN" sz="1200" dirty="0" smtClean="0">
                <a:cs typeface="Arial" panose="020B0604020202020204" pitchFamily="34" charset="0"/>
              </a:rPr>
              <a:t>CE1</a:t>
            </a:r>
            <a:endParaRPr lang="en-US" sz="1200" dirty="0">
              <a:cs typeface="Arial" panose="020B0604020202020204" pitchFamily="34" charset="0"/>
            </a:endParaRPr>
          </a:p>
        </p:txBody>
      </p:sp>
      <p:sp>
        <p:nvSpPr>
          <p:cNvPr id="58" name="矩形 57"/>
          <p:cNvSpPr/>
          <p:nvPr/>
        </p:nvSpPr>
        <p:spPr bwMode="gray">
          <a:xfrm>
            <a:off x="6074319" y="4538409"/>
            <a:ext cx="5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Data</a:t>
            </a:r>
            <a:endParaRPr lang="zh-CN" altLang="en-US" sz="1200" dirty="0">
              <a:solidFill>
                <a:schemeClr val="tx1"/>
              </a:solidFill>
            </a:endParaRPr>
          </a:p>
        </p:txBody>
      </p:sp>
      <p:sp>
        <p:nvSpPr>
          <p:cNvPr id="60" name="矩形 59"/>
          <p:cNvSpPr/>
          <p:nvPr/>
        </p:nvSpPr>
        <p:spPr bwMode="gray">
          <a:xfrm>
            <a:off x="7520503" y="4538409"/>
            <a:ext cx="5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Data</a:t>
            </a:r>
            <a:endParaRPr lang="zh-CN" altLang="en-US" sz="1200" dirty="0">
              <a:solidFill>
                <a:schemeClr val="tx1"/>
              </a:solidFill>
            </a:endParaRPr>
          </a:p>
        </p:txBody>
      </p:sp>
      <p:sp>
        <p:nvSpPr>
          <p:cNvPr id="61" name="矩形 60"/>
          <p:cNvSpPr/>
          <p:nvPr/>
        </p:nvSpPr>
        <p:spPr bwMode="gray">
          <a:xfrm>
            <a:off x="7520503" y="4770308"/>
            <a:ext cx="54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I-L1</a:t>
            </a:r>
            <a:endParaRPr lang="zh-CN" altLang="en-US" sz="1200" dirty="0">
              <a:solidFill>
                <a:schemeClr val="tx1"/>
              </a:solidFill>
            </a:endParaRPr>
          </a:p>
        </p:txBody>
      </p:sp>
      <p:sp>
        <p:nvSpPr>
          <p:cNvPr id="62" name="矩形 61"/>
          <p:cNvSpPr/>
          <p:nvPr/>
        </p:nvSpPr>
        <p:spPr bwMode="gray">
          <a:xfrm>
            <a:off x="7520503" y="4988336"/>
            <a:ext cx="54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O-L1</a:t>
            </a:r>
            <a:endParaRPr lang="zh-CN" altLang="en-US" sz="1200" dirty="0">
              <a:solidFill>
                <a:schemeClr val="tx1"/>
              </a:solidFill>
            </a:endParaRPr>
          </a:p>
        </p:txBody>
      </p:sp>
      <p:sp>
        <p:nvSpPr>
          <p:cNvPr id="63" name="矩形 62"/>
          <p:cNvSpPr/>
          <p:nvPr/>
        </p:nvSpPr>
        <p:spPr bwMode="gray">
          <a:xfrm>
            <a:off x="8988807" y="4538409"/>
            <a:ext cx="5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Data</a:t>
            </a:r>
            <a:endParaRPr lang="zh-CN" altLang="en-US" sz="1200" dirty="0">
              <a:solidFill>
                <a:schemeClr val="tx1"/>
              </a:solidFill>
            </a:endParaRPr>
          </a:p>
        </p:txBody>
      </p:sp>
      <p:sp>
        <p:nvSpPr>
          <p:cNvPr id="64" name="矩形 63"/>
          <p:cNvSpPr/>
          <p:nvPr/>
        </p:nvSpPr>
        <p:spPr bwMode="gray">
          <a:xfrm>
            <a:off x="10457111" y="4538409"/>
            <a:ext cx="5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Data</a:t>
            </a:r>
            <a:endParaRPr lang="zh-CN" altLang="en-US" sz="1200" dirty="0">
              <a:solidFill>
                <a:schemeClr val="tx1"/>
              </a:solidFill>
            </a:endParaRPr>
          </a:p>
        </p:txBody>
      </p:sp>
      <p:cxnSp>
        <p:nvCxnSpPr>
          <p:cNvPr id="65" name="直接箭头连接符 64"/>
          <p:cNvCxnSpPr/>
          <p:nvPr/>
        </p:nvCxnSpPr>
        <p:spPr bwMode="gray">
          <a:xfrm>
            <a:off x="9529494" y="3724349"/>
            <a:ext cx="932556" cy="0"/>
          </a:xfrm>
          <a:prstGeom prst="straightConnector1">
            <a:avLst/>
          </a:prstGeom>
          <a:ln w="19050">
            <a:solidFill>
              <a:srgbClr val="ED6D00"/>
            </a:solidFill>
            <a:prstDash val="dashDot"/>
            <a:headEnd type="triangle"/>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44" idx="3"/>
          </p:cNvCxnSpPr>
          <p:nvPr/>
        </p:nvCxnSpPr>
        <p:spPr bwMode="gray">
          <a:xfrm>
            <a:off x="10997111" y="4156328"/>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bwMode="gray">
          <a:xfrm rot="5400000">
            <a:off x="11003508" y="4156328"/>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bwMode="gray">
          <a:xfrm>
            <a:off x="11051111" y="4018850"/>
            <a:ext cx="747320" cy="276999"/>
          </a:xfrm>
          <a:prstGeom prst="rect">
            <a:avLst/>
          </a:prstGeom>
          <a:noFill/>
        </p:spPr>
        <p:txBody>
          <a:bodyPr wrap="none" rtlCol="0">
            <a:spAutoFit/>
          </a:bodyPr>
          <a:lstStyle/>
          <a:p>
            <a:pPr algn="ctr"/>
            <a:r>
              <a:rPr lang="en-US" altLang="zh-CN" sz="1200" dirty="0" smtClean="0">
                <a:cs typeface="Arial" panose="020B0604020202020204" pitchFamily="34" charset="0"/>
              </a:rPr>
              <a:t>1::1/128</a:t>
            </a:r>
            <a:endParaRPr lang="en-US" sz="1200" dirty="0">
              <a:cs typeface="Arial" panose="020B0604020202020204" pitchFamily="34" charset="0"/>
            </a:endParaRPr>
          </a:p>
        </p:txBody>
      </p:sp>
      <p:sp>
        <p:nvSpPr>
          <p:cNvPr id="74" name="文本框 73"/>
          <p:cNvSpPr txBox="1"/>
          <p:nvPr/>
        </p:nvSpPr>
        <p:spPr bwMode="gray">
          <a:xfrm>
            <a:off x="9619299" y="3450211"/>
            <a:ext cx="747320" cy="276999"/>
          </a:xfrm>
          <a:prstGeom prst="rect">
            <a:avLst/>
          </a:prstGeom>
          <a:noFill/>
        </p:spPr>
        <p:txBody>
          <a:bodyPr wrap="none" rtlCol="0">
            <a:spAutoFit/>
          </a:bodyPr>
          <a:lstStyle/>
          <a:p>
            <a:pPr algn="ctr"/>
            <a:r>
              <a:rPr lang="en-US" altLang="zh-CN" sz="1200" dirty="0" smtClean="0">
                <a:cs typeface="Arial" panose="020B0604020202020204" pitchFamily="34" charset="0"/>
              </a:rPr>
              <a:t>1::1/128</a:t>
            </a:r>
            <a:endParaRPr lang="en-US" sz="1200" dirty="0">
              <a:cs typeface="Arial" panose="020B0604020202020204" pitchFamily="34" charset="0"/>
            </a:endParaRPr>
          </a:p>
        </p:txBody>
      </p:sp>
      <p:cxnSp>
        <p:nvCxnSpPr>
          <p:cNvPr id="75" name="直接箭头连接符 74"/>
          <p:cNvCxnSpPr/>
          <p:nvPr/>
        </p:nvCxnSpPr>
        <p:spPr bwMode="gray">
          <a:xfrm>
            <a:off x="8028149" y="3724349"/>
            <a:ext cx="932556" cy="0"/>
          </a:xfrm>
          <a:prstGeom prst="straightConnector1">
            <a:avLst/>
          </a:prstGeom>
          <a:ln w="19050">
            <a:solidFill>
              <a:srgbClr val="ED6D00"/>
            </a:solidFill>
            <a:prstDash val="dashDot"/>
            <a:headEnd type="triangl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bwMode="gray">
          <a:xfrm>
            <a:off x="7960340" y="3265545"/>
            <a:ext cx="1221809" cy="461665"/>
          </a:xfrm>
          <a:prstGeom prst="rect">
            <a:avLst/>
          </a:prstGeom>
          <a:noFill/>
        </p:spPr>
        <p:txBody>
          <a:bodyPr wrap="none" rtlCol="0">
            <a:spAutoFit/>
          </a:bodyPr>
          <a:lstStyle/>
          <a:p>
            <a:r>
              <a:rPr lang="en-US" altLang="zh-CN" sz="1200" dirty="0" smtClean="0">
                <a:cs typeface="Arial" panose="020B0604020202020204" pitchFamily="34" charset="0"/>
              </a:rPr>
              <a:t>1::1/128 I-L1</a:t>
            </a:r>
          </a:p>
          <a:p>
            <a:r>
              <a:rPr lang="en-US" sz="1200" dirty="0" err="1" smtClean="0">
                <a:cs typeface="Arial" panose="020B0604020202020204" pitchFamily="34" charset="0"/>
              </a:rPr>
              <a:t>NextHop</a:t>
            </a:r>
            <a:r>
              <a:rPr lang="zh-CN" altLang="en-US" sz="1200" dirty="0" smtClean="0">
                <a:cs typeface="Arial" panose="020B0604020202020204" pitchFamily="34" charset="0"/>
              </a:rPr>
              <a:t>：</a:t>
            </a:r>
            <a:r>
              <a:rPr lang="en-US" altLang="zh-CN" sz="1200" dirty="0" smtClean="0">
                <a:cs typeface="Arial" panose="020B0604020202020204" pitchFamily="34" charset="0"/>
              </a:rPr>
              <a:t>PE2</a:t>
            </a:r>
            <a:endParaRPr lang="en-US" sz="1200" dirty="0">
              <a:cs typeface="Arial" panose="020B0604020202020204" pitchFamily="34" charset="0"/>
            </a:endParaRPr>
          </a:p>
        </p:txBody>
      </p:sp>
      <p:cxnSp>
        <p:nvCxnSpPr>
          <p:cNvPr id="77" name="直接箭头连接符 76"/>
          <p:cNvCxnSpPr/>
          <p:nvPr/>
        </p:nvCxnSpPr>
        <p:spPr bwMode="gray">
          <a:xfrm>
            <a:off x="6577688" y="3724349"/>
            <a:ext cx="932556" cy="0"/>
          </a:xfrm>
          <a:prstGeom prst="straightConnector1">
            <a:avLst/>
          </a:prstGeom>
          <a:ln w="19050">
            <a:solidFill>
              <a:srgbClr val="ED6D00"/>
            </a:solidFill>
            <a:prstDash val="dashDot"/>
            <a:headEnd type="triangle"/>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bwMode="gray">
          <a:xfrm>
            <a:off x="6667493" y="3450211"/>
            <a:ext cx="747320" cy="276999"/>
          </a:xfrm>
          <a:prstGeom prst="rect">
            <a:avLst/>
          </a:prstGeom>
          <a:noFill/>
        </p:spPr>
        <p:txBody>
          <a:bodyPr wrap="none" rtlCol="0">
            <a:spAutoFit/>
          </a:bodyPr>
          <a:lstStyle/>
          <a:p>
            <a:pPr algn="ctr"/>
            <a:r>
              <a:rPr lang="en-US" altLang="zh-CN" sz="1200" dirty="0" smtClean="0">
                <a:cs typeface="Arial" panose="020B0604020202020204" pitchFamily="34" charset="0"/>
              </a:rPr>
              <a:t>1::1/128</a:t>
            </a:r>
            <a:endParaRPr lang="en-US" sz="1200" dirty="0">
              <a:cs typeface="Arial" panose="020B0604020202020204" pitchFamily="34" charset="0"/>
            </a:endParaRPr>
          </a:p>
        </p:txBody>
      </p:sp>
      <p:cxnSp>
        <p:nvCxnSpPr>
          <p:cNvPr id="79" name="直接箭头连接符 78"/>
          <p:cNvCxnSpPr/>
          <p:nvPr/>
        </p:nvCxnSpPr>
        <p:spPr bwMode="gray">
          <a:xfrm flipH="1">
            <a:off x="6667493" y="4663357"/>
            <a:ext cx="736847"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bwMode="gray">
          <a:xfrm>
            <a:off x="6987190" y="4711337"/>
            <a:ext cx="583814" cy="276999"/>
          </a:xfrm>
          <a:prstGeom prst="rect">
            <a:avLst/>
          </a:prstGeom>
          <a:noFill/>
        </p:spPr>
        <p:txBody>
          <a:bodyPr wrap="none" rtlCol="0">
            <a:spAutoFit/>
          </a:bodyPr>
          <a:lstStyle/>
          <a:p>
            <a:pPr algn="ctr"/>
            <a:r>
              <a:rPr lang="en-US" altLang="zh-CN" sz="1200" dirty="0" smtClean="0">
                <a:cs typeface="Arial" panose="020B0604020202020204" pitchFamily="34" charset="0"/>
              </a:rPr>
              <a:t>PUSH</a:t>
            </a:r>
            <a:endParaRPr lang="en-US" sz="1200" dirty="0">
              <a:cs typeface="Arial" panose="020B0604020202020204" pitchFamily="34" charset="0"/>
            </a:endParaRPr>
          </a:p>
        </p:txBody>
      </p:sp>
      <p:cxnSp>
        <p:nvCxnSpPr>
          <p:cNvPr id="83" name="直接箭头连接符 82"/>
          <p:cNvCxnSpPr/>
          <p:nvPr/>
        </p:nvCxnSpPr>
        <p:spPr bwMode="gray">
          <a:xfrm flipH="1">
            <a:off x="8172096" y="4663357"/>
            <a:ext cx="736847" cy="0"/>
          </a:xfrm>
          <a:prstGeom prst="straightConnector1">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bwMode="gray">
          <a:xfrm>
            <a:off x="8555215" y="4667695"/>
            <a:ext cx="481222" cy="276999"/>
          </a:xfrm>
          <a:prstGeom prst="rect">
            <a:avLst/>
          </a:prstGeom>
          <a:noFill/>
        </p:spPr>
        <p:txBody>
          <a:bodyPr wrap="none" rtlCol="0">
            <a:spAutoFit/>
          </a:bodyPr>
          <a:lstStyle/>
          <a:p>
            <a:pPr algn="ctr"/>
            <a:r>
              <a:rPr lang="en-US" altLang="zh-CN" sz="1200" dirty="0" smtClean="0">
                <a:cs typeface="Arial" panose="020B0604020202020204" pitchFamily="34" charset="0"/>
              </a:rPr>
              <a:t>POP</a:t>
            </a:r>
            <a:endParaRPr lang="en-US" sz="1200" dirty="0">
              <a:cs typeface="Arial" panose="020B0604020202020204" pitchFamily="34" charset="0"/>
            </a:endParaRPr>
          </a:p>
        </p:txBody>
      </p:sp>
      <p:cxnSp>
        <p:nvCxnSpPr>
          <p:cNvPr id="85" name="直接连接符 84"/>
          <p:cNvCxnSpPr/>
          <p:nvPr/>
        </p:nvCxnSpPr>
        <p:spPr bwMode="gray">
          <a:xfrm flipH="1">
            <a:off x="10501371" y="5536690"/>
            <a:ext cx="315967" cy="0"/>
          </a:xfrm>
          <a:prstGeom prst="line">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bwMode="gray">
          <a:xfrm flipH="1">
            <a:off x="10501371" y="5787078"/>
            <a:ext cx="315967"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bwMode="gray">
          <a:xfrm>
            <a:off x="10731592" y="5398191"/>
            <a:ext cx="864340" cy="276999"/>
          </a:xfrm>
          <a:prstGeom prst="rect">
            <a:avLst/>
          </a:prstGeom>
          <a:noFill/>
        </p:spPr>
        <p:txBody>
          <a:bodyPr wrap="none" rtlCol="0">
            <a:spAutoFit/>
          </a:bodyPr>
          <a:lstStyle/>
          <a:p>
            <a:pPr algn="ctr"/>
            <a:r>
              <a:rPr lang="en-US" sz="1200" dirty="0">
                <a:solidFill>
                  <a:srgbClr val="30B5C5"/>
                </a:solidFill>
                <a:cs typeface="Arial" panose="020B0604020202020204" pitchFamily="34" charset="0"/>
              </a:rPr>
              <a:t>IPv6 </a:t>
            </a:r>
            <a:r>
              <a:rPr lang="en-US" altLang="zh-CN" sz="1200" dirty="0" smtClean="0">
                <a:solidFill>
                  <a:srgbClr val="30B5C5"/>
                </a:solidFill>
                <a:cs typeface="Arial" panose="020B0604020202020204" pitchFamily="34" charset="0"/>
              </a:rPr>
              <a:t>D</a:t>
            </a:r>
            <a:r>
              <a:rPr lang="en-US" sz="1200" dirty="0" smtClean="0">
                <a:solidFill>
                  <a:srgbClr val="30B5C5"/>
                </a:solidFill>
                <a:cs typeface="Arial" panose="020B0604020202020204" pitchFamily="34" charset="0"/>
              </a:rPr>
              <a:t>ata</a:t>
            </a:r>
            <a:endParaRPr lang="en-US" sz="1200" dirty="0">
              <a:solidFill>
                <a:srgbClr val="30B5C5"/>
              </a:solidFill>
              <a:cs typeface="Arial" panose="020B0604020202020204" pitchFamily="34" charset="0"/>
            </a:endParaRPr>
          </a:p>
        </p:txBody>
      </p:sp>
      <p:sp>
        <p:nvSpPr>
          <p:cNvPr id="88" name="文本框 87"/>
          <p:cNvSpPr txBox="1"/>
          <p:nvPr/>
        </p:nvSpPr>
        <p:spPr bwMode="gray">
          <a:xfrm>
            <a:off x="10731592" y="5648579"/>
            <a:ext cx="864340" cy="276999"/>
          </a:xfrm>
          <a:prstGeom prst="rect">
            <a:avLst/>
          </a:prstGeom>
          <a:noFill/>
        </p:spPr>
        <p:txBody>
          <a:bodyPr wrap="none" rtlCol="0">
            <a:spAutoFit/>
          </a:bodyPr>
          <a:lstStyle/>
          <a:p>
            <a:pPr algn="ctr"/>
            <a:r>
              <a:rPr lang="en-US" sz="1200" dirty="0">
                <a:solidFill>
                  <a:srgbClr val="62B230"/>
                </a:solidFill>
                <a:cs typeface="Arial" panose="020B0604020202020204" pitchFamily="34" charset="0"/>
              </a:rPr>
              <a:t>IPv4 </a:t>
            </a:r>
            <a:r>
              <a:rPr lang="en-US" altLang="zh-CN" sz="1200" dirty="0" smtClean="0">
                <a:solidFill>
                  <a:srgbClr val="62B230"/>
                </a:solidFill>
                <a:cs typeface="Arial" panose="020B0604020202020204" pitchFamily="34" charset="0"/>
              </a:rPr>
              <a:t>D</a:t>
            </a:r>
            <a:r>
              <a:rPr lang="en-US" sz="1200" dirty="0" smtClean="0">
                <a:solidFill>
                  <a:srgbClr val="62B230"/>
                </a:solidFill>
                <a:cs typeface="Arial" panose="020B0604020202020204" pitchFamily="34" charset="0"/>
              </a:rPr>
              <a:t>ata</a:t>
            </a:r>
            <a:endParaRPr lang="en-US" sz="1200" dirty="0">
              <a:solidFill>
                <a:srgbClr val="62B230"/>
              </a:solidFill>
              <a:cs typeface="Arial" panose="020B0604020202020204" pitchFamily="34" charset="0"/>
            </a:endParaRPr>
          </a:p>
        </p:txBody>
      </p:sp>
      <p:cxnSp>
        <p:nvCxnSpPr>
          <p:cNvPr id="89" name="直接箭头连接符 88"/>
          <p:cNvCxnSpPr/>
          <p:nvPr/>
        </p:nvCxnSpPr>
        <p:spPr bwMode="gray">
          <a:xfrm flipH="1">
            <a:off x="9629772" y="4663357"/>
            <a:ext cx="736847"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bwMode="gray">
          <a:xfrm flipH="1">
            <a:off x="10501371" y="6037465"/>
            <a:ext cx="315967" cy="0"/>
          </a:xfrm>
          <a:prstGeom prst="line">
            <a:avLst/>
          </a:prstGeom>
          <a:ln w="19050">
            <a:solidFill>
              <a:srgbClr val="ED6D00"/>
            </a:solidFill>
            <a:prstDash val="dashDot"/>
            <a:headEnd type="triangle"/>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bwMode="gray">
          <a:xfrm>
            <a:off x="10763653" y="5898966"/>
            <a:ext cx="800219" cy="276999"/>
          </a:xfrm>
          <a:prstGeom prst="rect">
            <a:avLst/>
          </a:prstGeom>
          <a:noFill/>
        </p:spPr>
        <p:txBody>
          <a:bodyPr wrap="none" rtlCol="0">
            <a:spAutoFit/>
          </a:bodyPr>
          <a:lstStyle/>
          <a:p>
            <a:pPr algn="ctr"/>
            <a:r>
              <a:rPr lang="zh-CN" altLang="en-US" sz="1200" dirty="0" smtClean="0">
                <a:solidFill>
                  <a:srgbClr val="ED6D00"/>
                </a:solidFill>
                <a:cs typeface="Arial" panose="020B0604020202020204" pitchFamily="34" charset="0"/>
              </a:rPr>
              <a:t>路由传递</a:t>
            </a:r>
            <a:endParaRPr lang="en-US" sz="1200" dirty="0">
              <a:solidFill>
                <a:srgbClr val="ED6D00"/>
              </a:solidFill>
              <a:cs typeface="Arial" panose="020B0604020202020204" pitchFamily="34" charset="0"/>
            </a:endParaRPr>
          </a:p>
        </p:txBody>
      </p:sp>
      <p:sp>
        <p:nvSpPr>
          <p:cNvPr id="92" name="下箭头 63"/>
          <p:cNvSpPr/>
          <p:nvPr/>
        </p:nvSpPr>
        <p:spPr bwMode="gray">
          <a:xfrm rot="5400000" flipV="1">
            <a:off x="5245825" y="3953305"/>
            <a:ext cx="542859" cy="506105"/>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BEE9EE"/>
              </a:gs>
              <a:gs pos="100000">
                <a:schemeClr val="bg1">
                  <a:alpha val="0"/>
                </a:schemeClr>
              </a:gs>
            </a:gsLst>
            <a:lin ang="16200000" scaled="1"/>
            <a:tileRect/>
          </a:gradFill>
          <a:ln w="19050">
            <a:gradFill flip="none" rotWithShape="1">
              <a:gsLst>
                <a:gs pos="100000">
                  <a:schemeClr val="bg1">
                    <a:lumMod val="100000"/>
                    <a:alpha val="0"/>
                  </a:schemeClr>
                </a:gs>
                <a:gs pos="31000">
                  <a:srgbClr val="94DAE2"/>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bwMode="gray">
          <a:xfrm>
            <a:off x="9509479" y="3869397"/>
            <a:ext cx="901209"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EBGP</a:t>
            </a:r>
            <a:endParaRPr lang="en-US" sz="1200" dirty="0">
              <a:cs typeface="Arial" panose="020B0604020202020204" pitchFamily="34" charset="0"/>
            </a:endParaRPr>
          </a:p>
        </p:txBody>
      </p:sp>
      <p:sp>
        <p:nvSpPr>
          <p:cNvPr id="94" name="文本框 93"/>
          <p:cNvSpPr txBox="1"/>
          <p:nvPr/>
        </p:nvSpPr>
        <p:spPr bwMode="gray">
          <a:xfrm>
            <a:off x="6600357" y="3869397"/>
            <a:ext cx="901209"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EBGP</a:t>
            </a:r>
            <a:endParaRPr lang="en-US" sz="1200" dirty="0">
              <a:cs typeface="Arial" panose="020B0604020202020204" pitchFamily="34" charset="0"/>
            </a:endParaRPr>
          </a:p>
        </p:txBody>
      </p:sp>
      <p:sp>
        <p:nvSpPr>
          <p:cNvPr id="95" name="文本框 94"/>
          <p:cNvSpPr txBox="1"/>
          <p:nvPr/>
        </p:nvSpPr>
        <p:spPr bwMode="gray">
          <a:xfrm>
            <a:off x="8100946" y="3869397"/>
            <a:ext cx="859531" cy="276999"/>
          </a:xfrm>
          <a:prstGeom prst="rect">
            <a:avLst/>
          </a:prstGeom>
          <a:noFill/>
        </p:spPr>
        <p:txBody>
          <a:bodyPr wrap="none" rtlCol="0">
            <a:spAutoFit/>
          </a:bodyPr>
          <a:lstStyle/>
          <a:p>
            <a:pPr algn="ctr"/>
            <a:r>
              <a:rPr lang="en-US" sz="1200" dirty="0" smtClean="0">
                <a:cs typeface="Arial" panose="020B0604020202020204" pitchFamily="34" charset="0"/>
              </a:rPr>
              <a:t>IPv4 I</a:t>
            </a:r>
            <a:r>
              <a:rPr lang="en-US" altLang="zh-CN" sz="1200" dirty="0" smtClean="0">
                <a:cs typeface="Arial" panose="020B0604020202020204" pitchFamily="34" charset="0"/>
              </a:rPr>
              <a:t>BGP</a:t>
            </a:r>
            <a:endParaRPr lang="en-US" sz="1200" dirty="0">
              <a:cs typeface="Arial" panose="020B0604020202020204" pitchFamily="34" charset="0"/>
            </a:endParaRPr>
          </a:p>
        </p:txBody>
      </p:sp>
      <p:sp>
        <p:nvSpPr>
          <p:cNvPr id="81" name="五边形 80"/>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96" name="燕尾形 95"/>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97" name="燕尾形 96"/>
          <p:cNvSpPr/>
          <p:nvPr/>
        </p:nvSpPr>
        <p:spPr bwMode="gray">
          <a:xfrm>
            <a:off x="7946129"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98" name="燕尾形 97"/>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6VPE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燕尾形 98"/>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燕尾形 99"/>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燕尾形 100"/>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621787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t>6PE</a:t>
            </a:r>
            <a:r>
              <a:rPr lang="zh-CN" altLang="en-US" dirty="0" smtClean="0"/>
              <a:t>路由共享显式空标签</a:t>
            </a:r>
            <a:endParaRPr lang="zh-CN" altLang="en-US" dirty="0"/>
          </a:p>
        </p:txBody>
      </p:sp>
      <p:sp>
        <p:nvSpPr>
          <p:cNvPr id="3" name="文本占位符 2"/>
          <p:cNvSpPr>
            <a:spLocks noGrp="1"/>
          </p:cNvSpPr>
          <p:nvPr>
            <p:ph type="body" sz="quarter" idx="10"/>
          </p:nvPr>
        </p:nvSpPr>
        <p:spPr bwMode="gray">
          <a:xfrm>
            <a:off x="455612" y="1047751"/>
            <a:ext cx="11293475" cy="2242102"/>
          </a:xfrm>
        </p:spPr>
        <p:txBody>
          <a:bodyPr/>
          <a:lstStyle/>
          <a:p>
            <a:r>
              <a:rPr lang="zh-CN" altLang="en-US" sz="1800" dirty="0" smtClean="0"/>
              <a:t>在</a:t>
            </a:r>
            <a:r>
              <a:rPr lang="en-US" altLang="zh-CN" sz="1800" dirty="0" smtClean="0"/>
              <a:t>6PE</a:t>
            </a:r>
            <a:r>
              <a:rPr lang="zh-CN" altLang="en-US" sz="1800" dirty="0" smtClean="0"/>
              <a:t>组网中，默认情况下，</a:t>
            </a:r>
            <a:r>
              <a:rPr lang="en-US" altLang="zh-CN" sz="1800" dirty="0" smtClean="0"/>
              <a:t>6PE</a:t>
            </a:r>
            <a:r>
              <a:rPr lang="zh-CN" altLang="en-US" sz="1800" dirty="0" smtClean="0"/>
              <a:t>路由是每路由每标签方式，即每条发送到其他</a:t>
            </a:r>
            <a:r>
              <a:rPr lang="en-US" altLang="zh-CN" sz="1800" dirty="0" smtClean="0"/>
              <a:t>6PE</a:t>
            </a:r>
            <a:r>
              <a:rPr lang="zh-CN" altLang="en-US" sz="1800" dirty="0" smtClean="0"/>
              <a:t>对等体的路由都需要申请一个标签，占用标签的数量与需要发送的</a:t>
            </a:r>
            <a:r>
              <a:rPr lang="en-US" altLang="zh-CN" sz="1800" dirty="0" smtClean="0"/>
              <a:t>6PE</a:t>
            </a:r>
            <a:r>
              <a:rPr lang="zh-CN" altLang="en-US" sz="1800" dirty="0" smtClean="0"/>
              <a:t>路由数成正比，当要发送大量</a:t>
            </a:r>
            <a:r>
              <a:rPr lang="en-US" altLang="zh-CN" sz="1800" dirty="0" smtClean="0"/>
              <a:t>6PE</a:t>
            </a:r>
            <a:r>
              <a:rPr lang="zh-CN" altLang="en-US" sz="1800" dirty="0" smtClean="0"/>
              <a:t>路由时会占用大量的标签资源。</a:t>
            </a:r>
          </a:p>
          <a:p>
            <a:r>
              <a:rPr lang="zh-CN" altLang="en-US" sz="1800" dirty="0" smtClean="0"/>
              <a:t>使能</a:t>
            </a:r>
            <a:r>
              <a:rPr lang="en-US" altLang="zh-CN" sz="1800" dirty="0" smtClean="0"/>
              <a:t>6PE</a:t>
            </a:r>
            <a:r>
              <a:rPr lang="zh-CN" altLang="en-US" sz="1800" dirty="0" smtClean="0"/>
              <a:t>路由共享显式空标签后，所有发往其他对等体的</a:t>
            </a:r>
            <a:r>
              <a:rPr lang="en-US" altLang="zh-CN" sz="1800" dirty="0" smtClean="0"/>
              <a:t>6PE</a:t>
            </a:r>
            <a:r>
              <a:rPr lang="zh-CN" altLang="en-US" sz="1800" dirty="0" smtClean="0"/>
              <a:t>路由会共享显式空标签</a:t>
            </a:r>
            <a:r>
              <a:rPr lang="en-US" altLang="zh-CN" sz="1800" dirty="0" smtClean="0"/>
              <a:t>2</a:t>
            </a:r>
            <a:r>
              <a:rPr lang="zh-CN" altLang="en-US" sz="1800" dirty="0" smtClean="0"/>
              <a:t>，而不用再为每条路由申请标签，占用标签的数量与</a:t>
            </a:r>
            <a:r>
              <a:rPr lang="en-US" altLang="zh-CN" sz="1800" dirty="0" smtClean="0"/>
              <a:t>6PE</a:t>
            </a:r>
            <a:r>
              <a:rPr lang="zh-CN" altLang="en-US" sz="1800" dirty="0" smtClean="0"/>
              <a:t>的路由量无关，这样就大大节省了</a:t>
            </a:r>
            <a:r>
              <a:rPr lang="en-US" altLang="zh-CN" sz="1800" dirty="0" smtClean="0"/>
              <a:t>6PE</a:t>
            </a:r>
            <a:r>
              <a:rPr lang="zh-CN" altLang="en-US" sz="1800" dirty="0" smtClean="0"/>
              <a:t>设备上的标签资源。</a:t>
            </a:r>
          </a:p>
          <a:p>
            <a:r>
              <a:rPr lang="zh-CN" altLang="en-US" sz="1800" dirty="0" smtClean="0"/>
              <a:t>显式空标签</a:t>
            </a:r>
            <a:r>
              <a:rPr lang="en-US" altLang="zh-CN" sz="1800" dirty="0" smtClean="0"/>
              <a:t>2</a:t>
            </a:r>
            <a:r>
              <a:rPr lang="zh-CN" altLang="en-US" sz="1800" dirty="0" smtClean="0"/>
              <a:t>是一种特殊标签，表示该标签在</a:t>
            </a:r>
            <a:r>
              <a:rPr lang="en-US" altLang="zh-CN" sz="1800" dirty="0" smtClean="0"/>
              <a:t>Egress PE</a:t>
            </a:r>
            <a:r>
              <a:rPr lang="zh-CN" altLang="en-US" sz="1800" dirty="0" smtClean="0"/>
              <a:t>上必须被弹出，且报文的转发必须基于</a:t>
            </a:r>
            <a:r>
              <a:rPr lang="en-US" altLang="zh-CN" sz="1800" dirty="0" smtClean="0"/>
              <a:t>IPv6</a:t>
            </a:r>
            <a:r>
              <a:rPr lang="zh-CN" altLang="en-US" sz="1800" dirty="0" smtClean="0"/>
              <a:t>。</a:t>
            </a:r>
          </a:p>
          <a:p>
            <a:endParaRPr lang="zh-CN" altLang="en-US" sz="1800" dirty="0"/>
          </a:p>
        </p:txBody>
      </p:sp>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402667" y="4108721"/>
            <a:ext cx="540000" cy="442800"/>
          </a:xfrm>
          <a:prstGeom prst="rect">
            <a:avLst/>
          </a:prstGeom>
        </p:spPr>
      </p:pic>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74415" y="4108721"/>
            <a:ext cx="540000" cy="442800"/>
          </a:xfrm>
          <a:prstGeom prst="rect">
            <a:avLst/>
          </a:prstGeom>
        </p:spPr>
      </p:pic>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342719" y="4108721"/>
            <a:ext cx="540000" cy="442800"/>
          </a:xfrm>
          <a:prstGeom prst="rect">
            <a:avLst/>
          </a:prstGeom>
        </p:spPr>
      </p:pic>
      <p:pic>
        <p:nvPicPr>
          <p:cNvPr id="10" name="图片 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811023" y="4108721"/>
            <a:ext cx="540000" cy="442800"/>
          </a:xfrm>
          <a:prstGeom prst="rect">
            <a:avLst/>
          </a:prstGeom>
        </p:spPr>
      </p:pic>
      <p:cxnSp>
        <p:nvCxnSpPr>
          <p:cNvPr id="11" name="直接连接符 10"/>
          <p:cNvCxnSpPr>
            <a:stCxn id="7" idx="3"/>
            <a:endCxn id="8" idx="1"/>
          </p:cNvCxnSpPr>
          <p:nvPr/>
        </p:nvCxnSpPr>
        <p:spPr bwMode="gray">
          <a:xfrm>
            <a:off x="3942667" y="4330121"/>
            <a:ext cx="9317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8" idx="3"/>
            <a:endCxn id="9" idx="1"/>
          </p:cNvCxnSpPr>
          <p:nvPr/>
        </p:nvCxnSpPr>
        <p:spPr bwMode="gray">
          <a:xfrm>
            <a:off x="5414415" y="4330121"/>
            <a:ext cx="92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3"/>
            <a:endCxn id="10" idx="1"/>
          </p:cNvCxnSpPr>
          <p:nvPr/>
        </p:nvCxnSpPr>
        <p:spPr bwMode="gray">
          <a:xfrm>
            <a:off x="6882719" y="4330121"/>
            <a:ext cx="92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bwMode="gray">
          <a:xfrm>
            <a:off x="7853836" y="3861684"/>
            <a:ext cx="450764" cy="276999"/>
          </a:xfrm>
          <a:prstGeom prst="rect">
            <a:avLst/>
          </a:prstGeom>
          <a:noFill/>
        </p:spPr>
        <p:txBody>
          <a:bodyPr wrap="none" rtlCol="0">
            <a:spAutoFit/>
          </a:bodyPr>
          <a:lstStyle/>
          <a:p>
            <a:pPr algn="ctr"/>
            <a:r>
              <a:rPr lang="en-US" altLang="zh-CN" sz="1200" dirty="0" smtClean="0">
                <a:cs typeface="Arial" panose="020B0604020202020204" pitchFamily="34" charset="0"/>
              </a:rPr>
              <a:t>CE2</a:t>
            </a:r>
            <a:endParaRPr lang="en-US" sz="1200" dirty="0">
              <a:cs typeface="Arial" panose="020B0604020202020204" pitchFamily="34" charset="0"/>
            </a:endParaRPr>
          </a:p>
        </p:txBody>
      </p:sp>
      <p:sp>
        <p:nvSpPr>
          <p:cNvPr id="15" name="文本框 14"/>
          <p:cNvSpPr txBox="1"/>
          <p:nvPr/>
        </p:nvSpPr>
        <p:spPr bwMode="gray">
          <a:xfrm>
            <a:off x="6352491" y="3861684"/>
            <a:ext cx="530915" cy="276999"/>
          </a:xfrm>
          <a:prstGeom prst="rect">
            <a:avLst/>
          </a:prstGeom>
          <a:noFill/>
        </p:spPr>
        <p:txBody>
          <a:bodyPr wrap="none" rtlCol="0">
            <a:spAutoFit/>
          </a:bodyPr>
          <a:lstStyle/>
          <a:p>
            <a:pPr algn="ctr"/>
            <a:r>
              <a:rPr lang="en-US" altLang="zh-CN" sz="1200" dirty="0" smtClean="0">
                <a:cs typeface="Arial" panose="020B0604020202020204" pitchFamily="34" charset="0"/>
              </a:rPr>
              <a:t>6PE2</a:t>
            </a:r>
            <a:endParaRPr lang="en-US" sz="1200" dirty="0">
              <a:cs typeface="Arial" panose="020B0604020202020204" pitchFamily="34" charset="0"/>
            </a:endParaRPr>
          </a:p>
        </p:txBody>
      </p:sp>
      <p:sp>
        <p:nvSpPr>
          <p:cNvPr id="16" name="文本框 15"/>
          <p:cNvSpPr txBox="1"/>
          <p:nvPr/>
        </p:nvSpPr>
        <p:spPr bwMode="gray">
          <a:xfrm>
            <a:off x="4880743" y="3861684"/>
            <a:ext cx="530915" cy="276999"/>
          </a:xfrm>
          <a:prstGeom prst="rect">
            <a:avLst/>
          </a:prstGeom>
          <a:noFill/>
        </p:spPr>
        <p:txBody>
          <a:bodyPr wrap="none" rtlCol="0">
            <a:spAutoFit/>
          </a:bodyPr>
          <a:lstStyle/>
          <a:p>
            <a:pPr algn="ctr"/>
            <a:r>
              <a:rPr lang="en-US" altLang="zh-CN" sz="1200" dirty="0" smtClean="0">
                <a:cs typeface="Arial" panose="020B0604020202020204" pitchFamily="34" charset="0"/>
              </a:rPr>
              <a:t>6PE1</a:t>
            </a:r>
            <a:endParaRPr lang="en-US" sz="1200" dirty="0">
              <a:cs typeface="Arial" panose="020B0604020202020204" pitchFamily="34" charset="0"/>
            </a:endParaRPr>
          </a:p>
        </p:txBody>
      </p:sp>
      <p:sp>
        <p:nvSpPr>
          <p:cNvPr id="17" name="文本框 16"/>
          <p:cNvSpPr txBox="1"/>
          <p:nvPr/>
        </p:nvSpPr>
        <p:spPr bwMode="gray">
          <a:xfrm>
            <a:off x="3449070" y="3861684"/>
            <a:ext cx="450764" cy="276999"/>
          </a:xfrm>
          <a:prstGeom prst="rect">
            <a:avLst/>
          </a:prstGeom>
          <a:noFill/>
        </p:spPr>
        <p:txBody>
          <a:bodyPr wrap="none" rtlCol="0">
            <a:spAutoFit/>
          </a:bodyPr>
          <a:lstStyle/>
          <a:p>
            <a:pPr algn="ctr"/>
            <a:r>
              <a:rPr lang="en-US" altLang="zh-CN" sz="1200" dirty="0" smtClean="0">
                <a:cs typeface="Arial" panose="020B0604020202020204" pitchFamily="34" charset="0"/>
              </a:rPr>
              <a:t>CE1</a:t>
            </a:r>
            <a:endParaRPr lang="en-US" sz="1200" dirty="0">
              <a:cs typeface="Arial" panose="020B0604020202020204" pitchFamily="34" charset="0"/>
            </a:endParaRPr>
          </a:p>
        </p:txBody>
      </p:sp>
      <p:sp>
        <p:nvSpPr>
          <p:cNvPr id="18" name="矩形 17"/>
          <p:cNvSpPr/>
          <p:nvPr/>
        </p:nvSpPr>
        <p:spPr bwMode="gray">
          <a:xfrm>
            <a:off x="3428231" y="4712202"/>
            <a:ext cx="5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Data</a:t>
            </a:r>
            <a:endParaRPr lang="zh-CN" altLang="en-US" sz="1200" dirty="0">
              <a:solidFill>
                <a:schemeClr val="tx1"/>
              </a:solidFill>
            </a:endParaRPr>
          </a:p>
        </p:txBody>
      </p:sp>
      <p:sp>
        <p:nvSpPr>
          <p:cNvPr id="19" name="矩形 18"/>
          <p:cNvSpPr/>
          <p:nvPr/>
        </p:nvSpPr>
        <p:spPr bwMode="gray">
          <a:xfrm>
            <a:off x="4874415" y="4712202"/>
            <a:ext cx="5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Data</a:t>
            </a:r>
            <a:endParaRPr lang="zh-CN" altLang="en-US" sz="1200" dirty="0">
              <a:solidFill>
                <a:schemeClr val="tx1"/>
              </a:solidFill>
            </a:endParaRPr>
          </a:p>
        </p:txBody>
      </p:sp>
      <p:sp>
        <p:nvSpPr>
          <p:cNvPr id="20" name="矩形 19"/>
          <p:cNvSpPr/>
          <p:nvPr/>
        </p:nvSpPr>
        <p:spPr bwMode="gray">
          <a:xfrm>
            <a:off x="4874415" y="4944101"/>
            <a:ext cx="54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rgbClr val="ED6D00"/>
                </a:solidFill>
              </a:rPr>
              <a:t>2</a:t>
            </a:r>
            <a:endParaRPr lang="zh-CN" altLang="en-US" sz="1200" dirty="0">
              <a:solidFill>
                <a:srgbClr val="ED6D00"/>
              </a:solidFill>
            </a:endParaRPr>
          </a:p>
        </p:txBody>
      </p:sp>
      <p:sp>
        <p:nvSpPr>
          <p:cNvPr id="21" name="矩形 20"/>
          <p:cNvSpPr/>
          <p:nvPr/>
        </p:nvSpPr>
        <p:spPr bwMode="gray">
          <a:xfrm>
            <a:off x="4874415" y="5162129"/>
            <a:ext cx="54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O-L1</a:t>
            </a:r>
            <a:endParaRPr lang="zh-CN" altLang="en-US" sz="1200" dirty="0">
              <a:solidFill>
                <a:schemeClr val="tx1"/>
              </a:solidFill>
            </a:endParaRPr>
          </a:p>
        </p:txBody>
      </p:sp>
      <p:sp>
        <p:nvSpPr>
          <p:cNvPr id="22" name="矩形 21"/>
          <p:cNvSpPr/>
          <p:nvPr/>
        </p:nvSpPr>
        <p:spPr bwMode="gray">
          <a:xfrm>
            <a:off x="6342719" y="4712202"/>
            <a:ext cx="5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Data</a:t>
            </a:r>
            <a:endParaRPr lang="zh-CN" altLang="en-US" sz="1200" dirty="0">
              <a:solidFill>
                <a:schemeClr val="tx1"/>
              </a:solidFill>
            </a:endParaRPr>
          </a:p>
        </p:txBody>
      </p:sp>
      <p:sp>
        <p:nvSpPr>
          <p:cNvPr id="23" name="矩形 22"/>
          <p:cNvSpPr/>
          <p:nvPr/>
        </p:nvSpPr>
        <p:spPr bwMode="gray">
          <a:xfrm>
            <a:off x="7811023" y="4712202"/>
            <a:ext cx="5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Data</a:t>
            </a:r>
            <a:endParaRPr lang="zh-CN" altLang="en-US" sz="1200" dirty="0">
              <a:solidFill>
                <a:schemeClr val="tx1"/>
              </a:solidFill>
            </a:endParaRPr>
          </a:p>
        </p:txBody>
      </p:sp>
      <p:cxnSp>
        <p:nvCxnSpPr>
          <p:cNvPr id="24" name="直接箭头连接符 23"/>
          <p:cNvCxnSpPr/>
          <p:nvPr/>
        </p:nvCxnSpPr>
        <p:spPr bwMode="gray">
          <a:xfrm>
            <a:off x="6883406" y="3898142"/>
            <a:ext cx="932556" cy="0"/>
          </a:xfrm>
          <a:prstGeom prst="straightConnector1">
            <a:avLst/>
          </a:prstGeom>
          <a:ln w="19050">
            <a:solidFill>
              <a:srgbClr val="ED6D00"/>
            </a:solidFill>
            <a:prstDash val="dashDot"/>
            <a:headEnd type="triangle"/>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0" idx="3"/>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bwMode="gray">
          <a:xfrm>
            <a:off x="8405023" y="4192643"/>
            <a:ext cx="747320" cy="276999"/>
          </a:xfrm>
          <a:prstGeom prst="rect">
            <a:avLst/>
          </a:prstGeom>
          <a:noFill/>
        </p:spPr>
        <p:txBody>
          <a:bodyPr wrap="none" rtlCol="0">
            <a:spAutoFit/>
          </a:bodyPr>
          <a:lstStyle/>
          <a:p>
            <a:pPr algn="ctr"/>
            <a:r>
              <a:rPr lang="en-US" altLang="zh-CN" sz="1200" dirty="0" smtClean="0">
                <a:cs typeface="Arial" panose="020B0604020202020204" pitchFamily="34" charset="0"/>
              </a:rPr>
              <a:t>1::1/128</a:t>
            </a:r>
            <a:endParaRPr lang="en-US" sz="1200" dirty="0">
              <a:cs typeface="Arial" panose="020B0604020202020204" pitchFamily="34" charset="0"/>
            </a:endParaRPr>
          </a:p>
        </p:txBody>
      </p:sp>
      <p:sp>
        <p:nvSpPr>
          <p:cNvPr id="28" name="文本框 27"/>
          <p:cNvSpPr txBox="1"/>
          <p:nvPr/>
        </p:nvSpPr>
        <p:spPr bwMode="gray">
          <a:xfrm>
            <a:off x="6973211" y="3624004"/>
            <a:ext cx="747320" cy="276999"/>
          </a:xfrm>
          <a:prstGeom prst="rect">
            <a:avLst/>
          </a:prstGeom>
          <a:noFill/>
        </p:spPr>
        <p:txBody>
          <a:bodyPr wrap="none" rtlCol="0">
            <a:spAutoFit/>
          </a:bodyPr>
          <a:lstStyle/>
          <a:p>
            <a:pPr algn="ctr"/>
            <a:r>
              <a:rPr lang="en-US" altLang="zh-CN" sz="1200" dirty="0" smtClean="0">
                <a:cs typeface="Arial" panose="020B0604020202020204" pitchFamily="34" charset="0"/>
              </a:rPr>
              <a:t>1::1/128</a:t>
            </a:r>
            <a:endParaRPr lang="en-US" sz="1200" dirty="0">
              <a:cs typeface="Arial" panose="020B0604020202020204" pitchFamily="34" charset="0"/>
            </a:endParaRPr>
          </a:p>
        </p:txBody>
      </p:sp>
      <p:cxnSp>
        <p:nvCxnSpPr>
          <p:cNvPr id="29" name="直接箭头连接符 28"/>
          <p:cNvCxnSpPr/>
          <p:nvPr/>
        </p:nvCxnSpPr>
        <p:spPr bwMode="gray">
          <a:xfrm>
            <a:off x="5382061" y="3898142"/>
            <a:ext cx="932556" cy="0"/>
          </a:xfrm>
          <a:prstGeom prst="straightConnector1">
            <a:avLst/>
          </a:prstGeom>
          <a:ln w="19050">
            <a:solidFill>
              <a:srgbClr val="ED6D00"/>
            </a:solidFill>
            <a:prstDash val="dashDot"/>
            <a:head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bwMode="gray">
          <a:xfrm>
            <a:off x="5314252" y="3439338"/>
            <a:ext cx="1221809" cy="461665"/>
          </a:xfrm>
          <a:prstGeom prst="rect">
            <a:avLst/>
          </a:prstGeom>
          <a:noFill/>
        </p:spPr>
        <p:txBody>
          <a:bodyPr wrap="none" rtlCol="0">
            <a:spAutoFit/>
          </a:bodyPr>
          <a:lstStyle/>
          <a:p>
            <a:r>
              <a:rPr lang="en-US" altLang="zh-CN" sz="1200" dirty="0" smtClean="0">
                <a:cs typeface="Arial" panose="020B0604020202020204" pitchFamily="34" charset="0"/>
              </a:rPr>
              <a:t>1::1/128 I-L1</a:t>
            </a:r>
          </a:p>
          <a:p>
            <a:r>
              <a:rPr lang="en-US" sz="1200" dirty="0" err="1" smtClean="0">
                <a:cs typeface="Arial" panose="020B0604020202020204" pitchFamily="34" charset="0"/>
              </a:rPr>
              <a:t>NextHop</a:t>
            </a:r>
            <a:r>
              <a:rPr lang="zh-CN" altLang="en-US" sz="1200" dirty="0" smtClean="0">
                <a:cs typeface="Arial" panose="020B0604020202020204" pitchFamily="34" charset="0"/>
              </a:rPr>
              <a:t>：</a:t>
            </a:r>
            <a:r>
              <a:rPr lang="en-US" altLang="zh-CN" sz="1200" dirty="0" smtClean="0">
                <a:cs typeface="Arial" panose="020B0604020202020204" pitchFamily="34" charset="0"/>
              </a:rPr>
              <a:t>PE2</a:t>
            </a:r>
            <a:endParaRPr lang="en-US" sz="1200" dirty="0">
              <a:cs typeface="Arial" panose="020B0604020202020204" pitchFamily="34" charset="0"/>
            </a:endParaRPr>
          </a:p>
        </p:txBody>
      </p:sp>
      <p:cxnSp>
        <p:nvCxnSpPr>
          <p:cNvPr id="31" name="直接箭头连接符 30"/>
          <p:cNvCxnSpPr/>
          <p:nvPr/>
        </p:nvCxnSpPr>
        <p:spPr bwMode="gray">
          <a:xfrm>
            <a:off x="3931600" y="3898142"/>
            <a:ext cx="932556" cy="0"/>
          </a:xfrm>
          <a:prstGeom prst="straightConnector1">
            <a:avLst/>
          </a:prstGeom>
          <a:ln w="19050">
            <a:solidFill>
              <a:srgbClr val="ED6D00"/>
            </a:solidFill>
            <a:prstDash val="dashDot"/>
            <a:head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bwMode="gray">
          <a:xfrm>
            <a:off x="4021405" y="3624004"/>
            <a:ext cx="747320" cy="276999"/>
          </a:xfrm>
          <a:prstGeom prst="rect">
            <a:avLst/>
          </a:prstGeom>
          <a:noFill/>
        </p:spPr>
        <p:txBody>
          <a:bodyPr wrap="none" rtlCol="0">
            <a:spAutoFit/>
          </a:bodyPr>
          <a:lstStyle/>
          <a:p>
            <a:pPr algn="ctr"/>
            <a:r>
              <a:rPr lang="en-US" altLang="zh-CN" sz="1200" dirty="0" smtClean="0">
                <a:cs typeface="Arial" panose="020B0604020202020204" pitchFamily="34" charset="0"/>
              </a:rPr>
              <a:t>1::1/128</a:t>
            </a:r>
            <a:endParaRPr lang="en-US" sz="1200" dirty="0">
              <a:cs typeface="Arial" panose="020B0604020202020204" pitchFamily="34" charset="0"/>
            </a:endParaRPr>
          </a:p>
        </p:txBody>
      </p:sp>
      <p:cxnSp>
        <p:nvCxnSpPr>
          <p:cNvPr id="33" name="直接箭头连接符 32"/>
          <p:cNvCxnSpPr/>
          <p:nvPr/>
        </p:nvCxnSpPr>
        <p:spPr bwMode="gray">
          <a:xfrm flipH="1">
            <a:off x="4021405" y="4837150"/>
            <a:ext cx="736847"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bwMode="gray">
          <a:xfrm>
            <a:off x="4341102" y="4885130"/>
            <a:ext cx="583814" cy="276999"/>
          </a:xfrm>
          <a:prstGeom prst="rect">
            <a:avLst/>
          </a:prstGeom>
          <a:noFill/>
        </p:spPr>
        <p:txBody>
          <a:bodyPr wrap="none" rtlCol="0">
            <a:spAutoFit/>
          </a:bodyPr>
          <a:lstStyle/>
          <a:p>
            <a:pPr algn="ctr"/>
            <a:r>
              <a:rPr lang="en-US" altLang="zh-CN" sz="1200" dirty="0" smtClean="0">
                <a:cs typeface="Arial" panose="020B0604020202020204" pitchFamily="34" charset="0"/>
              </a:rPr>
              <a:t>PUSH</a:t>
            </a:r>
            <a:endParaRPr lang="en-US" sz="1200" dirty="0">
              <a:cs typeface="Arial" panose="020B0604020202020204" pitchFamily="34" charset="0"/>
            </a:endParaRPr>
          </a:p>
        </p:txBody>
      </p:sp>
      <p:cxnSp>
        <p:nvCxnSpPr>
          <p:cNvPr id="35" name="直接箭头连接符 34"/>
          <p:cNvCxnSpPr/>
          <p:nvPr/>
        </p:nvCxnSpPr>
        <p:spPr bwMode="gray">
          <a:xfrm flipH="1">
            <a:off x="5526008" y="4837150"/>
            <a:ext cx="736847" cy="0"/>
          </a:xfrm>
          <a:prstGeom prst="straightConnector1">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bwMode="gray">
          <a:xfrm>
            <a:off x="5909127" y="4841488"/>
            <a:ext cx="481222" cy="276999"/>
          </a:xfrm>
          <a:prstGeom prst="rect">
            <a:avLst/>
          </a:prstGeom>
          <a:noFill/>
        </p:spPr>
        <p:txBody>
          <a:bodyPr wrap="none" rtlCol="0">
            <a:spAutoFit/>
          </a:bodyPr>
          <a:lstStyle/>
          <a:p>
            <a:pPr algn="ctr"/>
            <a:r>
              <a:rPr lang="en-US" altLang="zh-CN" sz="1200" dirty="0" smtClean="0">
                <a:cs typeface="Arial" panose="020B0604020202020204" pitchFamily="34" charset="0"/>
              </a:rPr>
              <a:t>POP</a:t>
            </a:r>
            <a:endParaRPr lang="en-US" sz="1200" dirty="0">
              <a:cs typeface="Arial" panose="020B0604020202020204" pitchFamily="34" charset="0"/>
            </a:endParaRPr>
          </a:p>
        </p:txBody>
      </p:sp>
      <p:cxnSp>
        <p:nvCxnSpPr>
          <p:cNvPr id="37" name="直接箭头连接符 36"/>
          <p:cNvCxnSpPr/>
          <p:nvPr/>
        </p:nvCxnSpPr>
        <p:spPr bwMode="gray">
          <a:xfrm flipH="1">
            <a:off x="6983684" y="4837150"/>
            <a:ext cx="736847"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bwMode="gray">
          <a:xfrm>
            <a:off x="6863391" y="4043190"/>
            <a:ext cx="901209"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EBGP</a:t>
            </a:r>
            <a:endParaRPr lang="en-US" sz="1200" dirty="0">
              <a:cs typeface="Arial" panose="020B0604020202020204" pitchFamily="34" charset="0"/>
            </a:endParaRPr>
          </a:p>
        </p:txBody>
      </p:sp>
      <p:sp>
        <p:nvSpPr>
          <p:cNvPr id="39" name="文本框 38"/>
          <p:cNvSpPr txBox="1"/>
          <p:nvPr/>
        </p:nvSpPr>
        <p:spPr bwMode="gray">
          <a:xfrm>
            <a:off x="3954269" y="4043190"/>
            <a:ext cx="901209"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EBGP</a:t>
            </a:r>
            <a:endParaRPr lang="en-US" sz="1200" dirty="0">
              <a:cs typeface="Arial" panose="020B0604020202020204" pitchFamily="34" charset="0"/>
            </a:endParaRPr>
          </a:p>
        </p:txBody>
      </p:sp>
      <p:sp>
        <p:nvSpPr>
          <p:cNvPr id="40" name="文本框 39"/>
          <p:cNvSpPr txBox="1"/>
          <p:nvPr/>
        </p:nvSpPr>
        <p:spPr bwMode="gray">
          <a:xfrm>
            <a:off x="5454858" y="4043190"/>
            <a:ext cx="859531" cy="276999"/>
          </a:xfrm>
          <a:prstGeom prst="rect">
            <a:avLst/>
          </a:prstGeom>
          <a:noFill/>
        </p:spPr>
        <p:txBody>
          <a:bodyPr wrap="none" rtlCol="0">
            <a:spAutoFit/>
          </a:bodyPr>
          <a:lstStyle/>
          <a:p>
            <a:pPr algn="ctr"/>
            <a:r>
              <a:rPr lang="en-US" sz="1200" dirty="0" smtClean="0">
                <a:cs typeface="Arial" panose="020B0604020202020204" pitchFamily="34" charset="0"/>
              </a:rPr>
              <a:t>IPv4 I</a:t>
            </a:r>
            <a:r>
              <a:rPr lang="en-US" altLang="zh-CN" sz="1200" dirty="0" smtClean="0">
                <a:cs typeface="Arial" panose="020B0604020202020204" pitchFamily="34" charset="0"/>
              </a:rPr>
              <a:t>BGP</a:t>
            </a:r>
            <a:endParaRPr lang="en-US" sz="1200" dirty="0">
              <a:cs typeface="Arial" panose="020B0604020202020204" pitchFamily="34" charset="0"/>
            </a:endParaRPr>
          </a:p>
        </p:txBody>
      </p:sp>
      <p:sp>
        <p:nvSpPr>
          <p:cNvPr id="47" name="五边形 46"/>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8" name="燕尾形 47"/>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49" name="燕尾形 48"/>
          <p:cNvSpPr/>
          <p:nvPr/>
        </p:nvSpPr>
        <p:spPr bwMode="gray">
          <a:xfrm>
            <a:off x="7946129"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50" name="燕尾形 49"/>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6VPE</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168970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Freeform 159"/>
          <p:cNvSpPr/>
          <p:nvPr/>
        </p:nvSpPr>
        <p:spPr bwMode="gray">
          <a:xfrm flipH="1">
            <a:off x="5407397" y="4593406"/>
            <a:ext cx="1117012" cy="6209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73" name="Freeform 159"/>
          <p:cNvSpPr/>
          <p:nvPr/>
        </p:nvSpPr>
        <p:spPr bwMode="gray">
          <a:xfrm flipH="1">
            <a:off x="5407397" y="2731004"/>
            <a:ext cx="1117012" cy="6209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smtClean="0"/>
              <a:t>隧道技术：</a:t>
            </a:r>
            <a:r>
              <a:rPr lang="en-US" altLang="zh-CN" dirty="0" smtClean="0"/>
              <a:t>6VPE</a:t>
            </a:r>
            <a:endParaRPr lang="zh-CN" altLang="en-US" dirty="0"/>
          </a:p>
        </p:txBody>
      </p:sp>
      <p:sp>
        <p:nvSpPr>
          <p:cNvPr id="3" name="文本占位符 2"/>
          <p:cNvSpPr>
            <a:spLocks noGrp="1"/>
          </p:cNvSpPr>
          <p:nvPr>
            <p:ph type="body" sz="quarter" idx="10"/>
          </p:nvPr>
        </p:nvSpPr>
        <p:spPr bwMode="gray">
          <a:xfrm>
            <a:off x="455612" y="1047751"/>
            <a:ext cx="11293475" cy="1816748"/>
          </a:xfrm>
        </p:spPr>
        <p:txBody>
          <a:bodyPr/>
          <a:lstStyle/>
          <a:p>
            <a:r>
              <a:rPr lang="en-US" altLang="zh-CN" sz="1800" dirty="0"/>
              <a:t>6PE</a:t>
            </a:r>
            <a:r>
              <a:rPr lang="zh-CN" altLang="en-US" sz="1800" dirty="0"/>
              <a:t>技术本质上相当于将所有通过</a:t>
            </a:r>
            <a:r>
              <a:rPr lang="en-US" altLang="zh-CN" sz="1800" dirty="0"/>
              <a:t>6PE</a:t>
            </a:r>
            <a:r>
              <a:rPr lang="zh-CN" altLang="en-US" sz="1800" dirty="0"/>
              <a:t>连接的</a:t>
            </a:r>
            <a:r>
              <a:rPr lang="en-US" altLang="zh-CN" sz="1800" dirty="0"/>
              <a:t>IPv6</a:t>
            </a:r>
            <a:r>
              <a:rPr lang="zh-CN" altLang="en-US" sz="1800" dirty="0"/>
              <a:t>业务都放在一个</a:t>
            </a:r>
            <a:r>
              <a:rPr lang="en-US" altLang="zh-CN" sz="1800" dirty="0"/>
              <a:t>VPN</a:t>
            </a:r>
            <a:r>
              <a:rPr lang="zh-CN" altLang="en-US" sz="1800" dirty="0"/>
              <a:t>内，无法做逻辑隔离，因此只能用于开放的、无保护的</a:t>
            </a:r>
            <a:r>
              <a:rPr lang="en-US" altLang="zh-CN" sz="1800" dirty="0"/>
              <a:t>IPv6</a:t>
            </a:r>
            <a:r>
              <a:rPr lang="zh-CN" altLang="en-US" sz="1800" dirty="0"/>
              <a:t>网络互联，如果需对所连接的</a:t>
            </a:r>
            <a:r>
              <a:rPr lang="en-US" altLang="zh-CN" sz="1800" dirty="0"/>
              <a:t>IPv6</a:t>
            </a:r>
            <a:r>
              <a:rPr lang="zh-CN" altLang="en-US" sz="1800" dirty="0"/>
              <a:t>业务做逻辑隔离，即实现</a:t>
            </a:r>
            <a:r>
              <a:rPr lang="en-US" altLang="zh-CN" sz="1800" dirty="0"/>
              <a:t>IPv6 VPN</a:t>
            </a:r>
            <a:r>
              <a:rPr lang="zh-CN" altLang="en-US" sz="1800" dirty="0"/>
              <a:t>，则需要借助于</a:t>
            </a:r>
            <a:r>
              <a:rPr lang="en-US" altLang="zh-CN" sz="1800" dirty="0" smtClean="0"/>
              <a:t>6VPE</a:t>
            </a:r>
            <a:r>
              <a:rPr lang="zh-CN" altLang="en-US" sz="1800" dirty="0" smtClean="0"/>
              <a:t>（</a:t>
            </a:r>
            <a:r>
              <a:rPr lang="en-US" altLang="zh-CN" sz="1800" dirty="0" smtClean="0"/>
              <a:t>IPv6 </a:t>
            </a:r>
            <a:r>
              <a:rPr lang="en-US" altLang="zh-CN" sz="1800" dirty="0"/>
              <a:t>VPN </a:t>
            </a:r>
            <a:r>
              <a:rPr lang="en-US" altLang="zh-CN" sz="1800" dirty="0" smtClean="0"/>
              <a:t>Provider Edge</a:t>
            </a:r>
            <a:r>
              <a:rPr lang="zh-CN" altLang="en-US" sz="1800" dirty="0" smtClean="0"/>
              <a:t>，</a:t>
            </a:r>
            <a:r>
              <a:rPr lang="en-US" altLang="zh-CN" sz="1800" dirty="0"/>
              <a:t> </a:t>
            </a:r>
            <a:r>
              <a:rPr lang="en-US" altLang="zh-CN" sz="1800" dirty="0" smtClean="0"/>
              <a:t>IPv6 VPN</a:t>
            </a:r>
            <a:r>
              <a:rPr lang="zh-CN" altLang="en-US" sz="1800" dirty="0" smtClean="0"/>
              <a:t>供应</a:t>
            </a:r>
            <a:r>
              <a:rPr lang="zh-CN" altLang="en-US" sz="1800" dirty="0"/>
              <a:t>商边缘路由器</a:t>
            </a:r>
            <a:r>
              <a:rPr lang="zh-CN" altLang="en-US" sz="1800" dirty="0" smtClean="0"/>
              <a:t>）技术。</a:t>
            </a:r>
            <a:endParaRPr lang="en-US" altLang="zh-CN" sz="1800" dirty="0" smtClean="0"/>
          </a:p>
          <a:p>
            <a:r>
              <a:rPr lang="en-US" altLang="zh-CN" sz="1800" dirty="0" smtClean="0"/>
              <a:t>6VPE</a:t>
            </a:r>
            <a:r>
              <a:rPr lang="zh-CN" altLang="en-US" sz="1800" dirty="0"/>
              <a:t>技术</a:t>
            </a:r>
            <a:r>
              <a:rPr lang="zh-CN" altLang="en-US" sz="1800" dirty="0" smtClean="0"/>
              <a:t>是</a:t>
            </a:r>
            <a:r>
              <a:rPr lang="zh-CN" altLang="en-US" sz="1800" dirty="0"/>
              <a:t>基于</a:t>
            </a:r>
            <a:r>
              <a:rPr lang="en-US" altLang="zh-CN" sz="1800" dirty="0" smtClean="0"/>
              <a:t>BGP/MPLS </a:t>
            </a:r>
            <a:r>
              <a:rPr lang="en-US" altLang="zh-CN" sz="1800" dirty="0"/>
              <a:t>IPv6 </a:t>
            </a:r>
            <a:r>
              <a:rPr lang="en-US" altLang="zh-CN" sz="1800" dirty="0" smtClean="0"/>
              <a:t>VPN</a:t>
            </a:r>
            <a:r>
              <a:rPr lang="zh-CN" altLang="en-US" sz="1800" dirty="0" smtClean="0"/>
              <a:t>的扩展技术，在</a:t>
            </a:r>
            <a:r>
              <a:rPr lang="en-US" altLang="zh-CN" sz="1800" dirty="0"/>
              <a:t>IPv4 MPLS</a:t>
            </a:r>
            <a:r>
              <a:rPr lang="zh-CN" altLang="en-US" sz="1800" dirty="0"/>
              <a:t>骨干网上承载</a:t>
            </a:r>
            <a:r>
              <a:rPr lang="en-US" altLang="zh-CN" sz="1800" dirty="0"/>
              <a:t>IPv6</a:t>
            </a:r>
            <a:r>
              <a:rPr lang="zh-CN" altLang="en-US" sz="1800" dirty="0"/>
              <a:t>的</a:t>
            </a:r>
            <a:r>
              <a:rPr lang="en-US" altLang="zh-CN" sz="1800" dirty="0"/>
              <a:t>VPN</a:t>
            </a:r>
            <a:r>
              <a:rPr lang="zh-CN" altLang="en-US" sz="1800" dirty="0"/>
              <a:t>业务</a:t>
            </a:r>
            <a:r>
              <a:rPr lang="zh-CN" altLang="en-US" sz="1800" dirty="0" smtClean="0"/>
              <a:t>。</a:t>
            </a:r>
            <a:endParaRPr lang="zh-CN" altLang="en-US" sz="1800" dirty="0"/>
          </a:p>
        </p:txBody>
      </p:sp>
      <p:sp>
        <p:nvSpPr>
          <p:cNvPr id="28" name="Freeform 159"/>
          <p:cNvSpPr/>
          <p:nvPr/>
        </p:nvSpPr>
        <p:spPr bwMode="gray">
          <a:xfrm flipH="1">
            <a:off x="2784832" y="3192233"/>
            <a:ext cx="2158522" cy="119990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38" name="文本框 37"/>
          <p:cNvSpPr txBox="1"/>
          <p:nvPr/>
        </p:nvSpPr>
        <p:spPr bwMode="gray">
          <a:xfrm>
            <a:off x="3343758" y="3428634"/>
            <a:ext cx="1040671" cy="307777"/>
          </a:xfrm>
          <a:prstGeom prst="rect">
            <a:avLst/>
          </a:prstGeom>
          <a:noFill/>
        </p:spPr>
        <p:txBody>
          <a:bodyPr wrap="none" rtlCol="0">
            <a:spAutoFit/>
          </a:bodyPr>
          <a:lstStyle/>
          <a:p>
            <a:pPr algn="ctr"/>
            <a:r>
              <a:rPr lang="en-US" sz="1400" dirty="0" smtClean="0">
                <a:cs typeface="Arial" panose="020B0604020202020204" pitchFamily="34" charset="0"/>
              </a:rPr>
              <a:t>IPv4 MPLS</a:t>
            </a:r>
            <a:endParaRPr lang="en-US" sz="1400" dirty="0">
              <a:cs typeface="Arial" panose="020B0604020202020204" pitchFamily="34" charset="0"/>
            </a:endParaRPr>
          </a:p>
        </p:txBody>
      </p:sp>
      <p:sp>
        <p:nvSpPr>
          <p:cNvPr id="39" name="Can 9"/>
          <p:cNvSpPr/>
          <p:nvPr/>
        </p:nvSpPr>
        <p:spPr bwMode="gray">
          <a:xfrm rot="5400000">
            <a:off x="3720076" y="3003529"/>
            <a:ext cx="253196" cy="1896281"/>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auto">
          <a:xfrm>
            <a:off x="2949556" y="3813169"/>
            <a:ext cx="1807513" cy="276999"/>
          </a:xfrm>
          <a:prstGeom prst="rect">
            <a:avLst/>
          </a:prstGeom>
          <a:noFill/>
        </p:spPr>
        <p:txBody>
          <a:bodyPr wrap="square" rtlCol="0">
            <a:spAutoFit/>
          </a:bodyPr>
          <a:lstStyle/>
          <a:p>
            <a:pPr algn="ctr"/>
            <a:r>
              <a:rPr lang="en-US" altLang="zh-CN" sz="1200" b="1" dirty="0">
                <a:solidFill>
                  <a:srgbClr val="56C4D2"/>
                </a:solidFill>
                <a:cs typeface="Arial" panose="020B0604020202020204" pitchFamily="34" charset="0"/>
              </a:rPr>
              <a:t>BGP/MPLS IPv6 VPN</a:t>
            </a:r>
            <a:endParaRPr lang="en-US" sz="1200" b="1" dirty="0">
              <a:solidFill>
                <a:srgbClr val="56C4D2"/>
              </a:solidFill>
              <a:cs typeface="Arial" panose="020B0604020202020204" pitchFamily="34" charset="0"/>
            </a:endParaRPr>
          </a:p>
        </p:txBody>
      </p:sp>
      <p:sp>
        <p:nvSpPr>
          <p:cNvPr id="41" name="文本框 40"/>
          <p:cNvSpPr txBox="1"/>
          <p:nvPr/>
        </p:nvSpPr>
        <p:spPr bwMode="gray">
          <a:xfrm>
            <a:off x="2220333" y="3248573"/>
            <a:ext cx="723275" cy="523220"/>
          </a:xfrm>
          <a:prstGeom prst="rect">
            <a:avLst/>
          </a:prstGeom>
          <a:noFill/>
        </p:spPr>
        <p:txBody>
          <a:bodyPr wrap="none" rtlCol="0">
            <a:spAutoFit/>
          </a:bodyPr>
          <a:lstStyle/>
          <a:p>
            <a:pPr algn="ctr"/>
            <a:r>
              <a:rPr lang="zh-CN" altLang="en-US" sz="1400" b="1" dirty="0">
                <a:cs typeface="Arial" panose="020B0604020202020204" pitchFamily="34" charset="0"/>
              </a:rPr>
              <a:t>双</a:t>
            </a:r>
            <a:r>
              <a:rPr lang="zh-CN" altLang="en-US" sz="1400" b="1" dirty="0" smtClean="0">
                <a:cs typeface="Arial" panose="020B0604020202020204" pitchFamily="34" charset="0"/>
              </a:rPr>
              <a:t>栈</a:t>
            </a:r>
            <a:endParaRPr lang="en-US" altLang="zh-CN" sz="1400" b="1" dirty="0" smtClean="0">
              <a:cs typeface="Arial" panose="020B0604020202020204" pitchFamily="34" charset="0"/>
            </a:endParaRPr>
          </a:p>
          <a:p>
            <a:pPr algn="ctr"/>
            <a:r>
              <a:rPr lang="en-US" altLang="zh-CN" sz="1400" b="1" dirty="0" smtClean="0">
                <a:cs typeface="Arial" panose="020B0604020202020204" pitchFamily="34" charset="0"/>
              </a:rPr>
              <a:t>6VPE1</a:t>
            </a:r>
          </a:p>
        </p:txBody>
      </p:sp>
      <p:sp>
        <p:nvSpPr>
          <p:cNvPr id="50" name="文本框 49"/>
          <p:cNvSpPr txBox="1"/>
          <p:nvPr/>
        </p:nvSpPr>
        <p:spPr bwMode="gray">
          <a:xfrm>
            <a:off x="4720324" y="3248573"/>
            <a:ext cx="723275" cy="523220"/>
          </a:xfrm>
          <a:prstGeom prst="rect">
            <a:avLst/>
          </a:prstGeom>
          <a:noFill/>
        </p:spPr>
        <p:txBody>
          <a:bodyPr wrap="none" rtlCol="0">
            <a:spAutoFit/>
          </a:bodyPr>
          <a:lstStyle/>
          <a:p>
            <a:pPr algn="ctr"/>
            <a:r>
              <a:rPr lang="zh-CN" altLang="en-US" sz="1400" b="1" dirty="0">
                <a:cs typeface="Arial" panose="020B0604020202020204" pitchFamily="34" charset="0"/>
              </a:rPr>
              <a:t>双栈</a:t>
            </a:r>
            <a:endParaRPr lang="en-US" altLang="zh-CN" sz="1400" b="1" dirty="0">
              <a:cs typeface="Arial" panose="020B0604020202020204" pitchFamily="34" charset="0"/>
            </a:endParaRPr>
          </a:p>
          <a:p>
            <a:pPr algn="ctr"/>
            <a:r>
              <a:rPr lang="en-US" altLang="zh-CN" sz="1400" b="1" dirty="0" smtClean="0">
                <a:cs typeface="Arial" panose="020B0604020202020204" pitchFamily="34" charset="0"/>
              </a:rPr>
              <a:t>6VPE2</a:t>
            </a:r>
          </a:p>
        </p:txBody>
      </p:sp>
      <p:sp>
        <p:nvSpPr>
          <p:cNvPr id="53" name="右大括号 52"/>
          <p:cNvSpPr/>
          <p:nvPr/>
        </p:nvSpPr>
        <p:spPr bwMode="gray">
          <a:xfrm rot="5400000">
            <a:off x="3732817" y="3407455"/>
            <a:ext cx="262552" cy="2158523"/>
          </a:xfrm>
          <a:prstGeom prst="rightBrace">
            <a:avLst/>
          </a:prstGeom>
          <a:ln>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4" name="文本框 53"/>
          <p:cNvSpPr txBox="1"/>
          <p:nvPr/>
        </p:nvSpPr>
        <p:spPr bwMode="gray">
          <a:xfrm>
            <a:off x="3006528" y="4694450"/>
            <a:ext cx="1721855" cy="715089"/>
          </a:xfrm>
          <a:prstGeom prst="roundRect">
            <a:avLst/>
          </a:prstGeom>
          <a:solidFill>
            <a:srgbClr val="F2FBFC"/>
          </a:solidFill>
          <a:ln>
            <a:solidFill>
              <a:srgbClr val="94DAE2"/>
            </a:solidFill>
          </a:ln>
        </p:spPr>
        <p:txBody>
          <a:bodyPr wrap="square" rtlCol="0">
            <a:spAutoFit/>
          </a:bodyPr>
          <a:lstStyle/>
          <a:p>
            <a:r>
              <a:rPr lang="en-US" altLang="zh-CN" sz="1200" dirty="0" smtClean="0">
                <a:cs typeface="Arial" panose="020B0604020202020204" pitchFamily="34" charset="0"/>
              </a:rPr>
              <a:t>PE</a:t>
            </a:r>
            <a:r>
              <a:rPr lang="zh-CN" altLang="en-US" sz="1200" dirty="0" smtClean="0">
                <a:cs typeface="Arial" panose="020B0604020202020204" pitchFamily="34" charset="0"/>
              </a:rPr>
              <a:t>之间</a:t>
            </a:r>
            <a:r>
              <a:rPr lang="zh-CN" altLang="en-US" sz="1200" dirty="0">
                <a:cs typeface="Arial" panose="020B0604020202020204" pitchFamily="34" charset="0"/>
              </a:rPr>
              <a:t>建立</a:t>
            </a:r>
            <a:r>
              <a:rPr lang="en-US" altLang="zh-CN" sz="1200" dirty="0">
                <a:cs typeface="Arial" panose="020B0604020202020204" pitchFamily="34" charset="0"/>
              </a:rPr>
              <a:t>BGP/MPLS IPv6 </a:t>
            </a:r>
            <a:r>
              <a:rPr lang="en-US" altLang="zh-CN" sz="1200" dirty="0" smtClean="0">
                <a:cs typeface="Arial" panose="020B0604020202020204" pitchFamily="34" charset="0"/>
              </a:rPr>
              <a:t>VPN</a:t>
            </a:r>
            <a:r>
              <a:rPr lang="zh-CN" altLang="en-US" sz="1200" dirty="0" smtClean="0">
                <a:cs typeface="Arial" panose="020B0604020202020204" pitchFamily="34" charset="0"/>
              </a:rPr>
              <a:t>传递</a:t>
            </a:r>
            <a:r>
              <a:rPr lang="en-US" altLang="zh-CN" sz="1200" dirty="0" smtClean="0">
                <a:cs typeface="Arial" panose="020B0604020202020204" pitchFamily="34" charset="0"/>
              </a:rPr>
              <a:t>IPv6</a:t>
            </a:r>
            <a:r>
              <a:rPr lang="zh-CN" altLang="en-US" sz="1200" dirty="0" smtClean="0">
                <a:cs typeface="Arial" panose="020B0604020202020204" pitchFamily="34" charset="0"/>
              </a:rPr>
              <a:t>私网路由。</a:t>
            </a:r>
            <a:endParaRPr lang="en-US" sz="1200" dirty="0">
              <a:cs typeface="Arial" panose="020B0604020202020204" pitchFamily="34" charset="0"/>
            </a:endParaRPr>
          </a:p>
        </p:txBody>
      </p:sp>
      <p:sp>
        <p:nvSpPr>
          <p:cNvPr id="30" name="Freeform 159"/>
          <p:cNvSpPr/>
          <p:nvPr/>
        </p:nvSpPr>
        <p:spPr bwMode="gray">
          <a:xfrm flipH="1">
            <a:off x="1156428" y="4593406"/>
            <a:ext cx="1117012" cy="6209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31" name="文本框 30"/>
          <p:cNvSpPr txBox="1"/>
          <p:nvPr/>
        </p:nvSpPr>
        <p:spPr bwMode="gray">
          <a:xfrm>
            <a:off x="1424603" y="4743634"/>
            <a:ext cx="593432" cy="461665"/>
          </a:xfrm>
          <a:prstGeom prst="rect">
            <a:avLst/>
          </a:prstGeom>
          <a:noFill/>
        </p:spPr>
        <p:txBody>
          <a:bodyPr wrap="none" rtlCol="0">
            <a:spAutoFit/>
          </a:bodyPr>
          <a:lstStyle/>
          <a:p>
            <a:pPr algn="ctr"/>
            <a:r>
              <a:rPr lang="en-US" sz="1200" b="1" dirty="0" smtClean="0">
                <a:cs typeface="Arial" panose="020B0604020202020204" pitchFamily="34" charset="0"/>
              </a:rPr>
              <a:t>VPN2</a:t>
            </a:r>
          </a:p>
          <a:p>
            <a:pPr algn="ctr"/>
            <a:r>
              <a:rPr lang="en-US" sz="1200" dirty="0" smtClean="0">
                <a:cs typeface="Arial" panose="020B0604020202020204" pitchFamily="34" charset="0"/>
              </a:rPr>
              <a:t>Site</a:t>
            </a:r>
            <a:endParaRPr lang="en-US" sz="1200" dirty="0">
              <a:cs typeface="Arial" panose="020B0604020202020204" pitchFamily="34" charset="0"/>
            </a:endParaRPr>
          </a:p>
        </p:txBody>
      </p:sp>
      <p:sp>
        <p:nvSpPr>
          <p:cNvPr id="32" name="Freeform 159"/>
          <p:cNvSpPr/>
          <p:nvPr/>
        </p:nvSpPr>
        <p:spPr bwMode="gray">
          <a:xfrm flipH="1">
            <a:off x="1156428" y="2731004"/>
            <a:ext cx="1117012" cy="6209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33" name="文本框 32"/>
          <p:cNvSpPr txBox="1"/>
          <p:nvPr/>
        </p:nvSpPr>
        <p:spPr bwMode="gray">
          <a:xfrm>
            <a:off x="1424603" y="2767253"/>
            <a:ext cx="593432" cy="461665"/>
          </a:xfrm>
          <a:prstGeom prst="rect">
            <a:avLst/>
          </a:prstGeom>
          <a:noFill/>
        </p:spPr>
        <p:txBody>
          <a:bodyPr wrap="none" rtlCol="0">
            <a:spAutoFit/>
          </a:bodyPr>
          <a:lstStyle/>
          <a:p>
            <a:pPr algn="ctr"/>
            <a:r>
              <a:rPr lang="en-US" sz="1200" b="1" dirty="0" smtClean="0">
                <a:cs typeface="Arial" panose="020B0604020202020204" pitchFamily="34" charset="0"/>
              </a:rPr>
              <a:t>VPN1</a:t>
            </a:r>
          </a:p>
          <a:p>
            <a:pPr algn="ctr"/>
            <a:r>
              <a:rPr lang="en-US" sz="1200" dirty="0" smtClean="0">
                <a:cs typeface="Arial" panose="020B0604020202020204" pitchFamily="34" charset="0"/>
              </a:rPr>
              <a:t>Site</a:t>
            </a:r>
            <a:endParaRPr lang="en-US" sz="1200" dirty="0">
              <a:cs typeface="Arial" panose="020B0604020202020204" pitchFamily="34" charset="0"/>
            </a:endParaRPr>
          </a:p>
        </p:txBody>
      </p:sp>
      <p:sp>
        <p:nvSpPr>
          <p:cNvPr id="34" name="文本框 33"/>
          <p:cNvSpPr txBox="1"/>
          <p:nvPr/>
        </p:nvSpPr>
        <p:spPr bwMode="gray">
          <a:xfrm>
            <a:off x="1213608" y="3567561"/>
            <a:ext cx="965328" cy="276999"/>
          </a:xfrm>
          <a:prstGeom prst="rect">
            <a:avLst/>
          </a:prstGeom>
          <a:noFill/>
        </p:spPr>
        <p:txBody>
          <a:bodyPr wrap="none" rtlCol="0">
            <a:spAutoFit/>
          </a:bodyPr>
          <a:lstStyle/>
          <a:p>
            <a:pPr algn="ctr"/>
            <a:r>
              <a:rPr lang="en-US" altLang="zh-CN" sz="1200" dirty="0" smtClean="0">
                <a:cs typeface="Arial" panose="020B0604020202020204" pitchFamily="34" charset="0"/>
              </a:rPr>
              <a:t>CE</a:t>
            </a:r>
            <a:r>
              <a:rPr lang="zh-CN" altLang="en-US" sz="1200" dirty="0" smtClean="0">
                <a:cs typeface="Arial" panose="020B0604020202020204" pitchFamily="34" charset="0"/>
              </a:rPr>
              <a:t>（</a:t>
            </a:r>
            <a:r>
              <a:rPr lang="en-US" altLang="zh-CN" sz="1200" dirty="0" smtClean="0">
                <a:cs typeface="Arial" panose="020B0604020202020204" pitchFamily="34" charset="0"/>
              </a:rPr>
              <a:t>IPv6</a:t>
            </a:r>
            <a:r>
              <a:rPr lang="zh-CN" altLang="en-US" sz="1200" dirty="0" smtClean="0">
                <a:cs typeface="Arial" panose="020B0604020202020204" pitchFamily="34" charset="0"/>
              </a:rPr>
              <a:t>）</a:t>
            </a:r>
            <a:endParaRPr lang="en-US" sz="1200" dirty="0">
              <a:cs typeface="Arial" panose="020B0604020202020204" pitchFamily="34" charset="0"/>
            </a:endParaRPr>
          </a:p>
        </p:txBody>
      </p:sp>
      <p:cxnSp>
        <p:nvCxnSpPr>
          <p:cNvPr id="35" name="直接连接符 34"/>
          <p:cNvCxnSpPr/>
          <p:nvPr/>
        </p:nvCxnSpPr>
        <p:spPr bwMode="gray">
          <a:xfrm>
            <a:off x="1708378" y="3388189"/>
            <a:ext cx="894695" cy="6113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gray">
          <a:xfrm flipV="1">
            <a:off x="1704610" y="3985915"/>
            <a:ext cx="861533" cy="6385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0" name="图片 5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96842" y="3202706"/>
            <a:ext cx="444945" cy="364855"/>
          </a:xfrm>
          <a:prstGeom prst="rect">
            <a:avLst/>
          </a:prstGeom>
        </p:spPr>
      </p:pic>
      <p:pic>
        <p:nvPicPr>
          <p:cNvPr id="61" name="图片 6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496842" y="4417845"/>
            <a:ext cx="444945" cy="364855"/>
          </a:xfrm>
          <a:prstGeom prst="rect">
            <a:avLst/>
          </a:prstGeom>
        </p:spPr>
      </p:pic>
      <p:sp>
        <p:nvSpPr>
          <p:cNvPr id="62" name="文本框 61"/>
          <p:cNvSpPr txBox="1"/>
          <p:nvPr/>
        </p:nvSpPr>
        <p:spPr bwMode="gray">
          <a:xfrm>
            <a:off x="1213608" y="4131803"/>
            <a:ext cx="965328" cy="276999"/>
          </a:xfrm>
          <a:prstGeom prst="rect">
            <a:avLst/>
          </a:prstGeom>
          <a:noFill/>
        </p:spPr>
        <p:txBody>
          <a:bodyPr wrap="none" rtlCol="0">
            <a:spAutoFit/>
          </a:bodyPr>
          <a:lstStyle/>
          <a:p>
            <a:pPr algn="ctr"/>
            <a:r>
              <a:rPr lang="en-US" altLang="zh-CN" sz="1200" dirty="0" smtClean="0">
                <a:cs typeface="Arial" panose="020B0604020202020204" pitchFamily="34" charset="0"/>
              </a:rPr>
              <a:t>CE</a:t>
            </a:r>
            <a:r>
              <a:rPr lang="zh-CN" altLang="en-US" sz="1200" dirty="0" smtClean="0">
                <a:cs typeface="Arial" panose="020B0604020202020204" pitchFamily="34" charset="0"/>
              </a:rPr>
              <a:t>（</a:t>
            </a:r>
            <a:r>
              <a:rPr lang="en-US" altLang="zh-CN" sz="1200" dirty="0" smtClean="0">
                <a:cs typeface="Arial" panose="020B0604020202020204" pitchFamily="34" charset="0"/>
              </a:rPr>
              <a:t>IPv6</a:t>
            </a:r>
            <a:r>
              <a:rPr lang="zh-CN" altLang="en-US" sz="1200" dirty="0" smtClean="0">
                <a:cs typeface="Arial" panose="020B0604020202020204" pitchFamily="34" charset="0"/>
              </a:rPr>
              <a:t>）</a:t>
            </a:r>
            <a:endParaRPr lang="en-US" sz="1200" dirty="0">
              <a:cs typeface="Arial" panose="020B0604020202020204" pitchFamily="34" charset="0"/>
            </a:endParaRPr>
          </a:p>
        </p:txBody>
      </p:sp>
      <p:pic>
        <p:nvPicPr>
          <p:cNvPr id="29" name="图片 2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320645" y="3751146"/>
            <a:ext cx="540000" cy="442800"/>
          </a:xfrm>
          <a:prstGeom prst="rect">
            <a:avLst/>
          </a:prstGeom>
        </p:spPr>
      </p:pic>
      <p:cxnSp>
        <p:nvCxnSpPr>
          <p:cNvPr id="64" name="直接连接符 63"/>
          <p:cNvCxnSpPr/>
          <p:nvPr/>
        </p:nvCxnSpPr>
        <p:spPr bwMode="gray">
          <a:xfrm flipV="1">
            <a:off x="5070046" y="3388189"/>
            <a:ext cx="875614" cy="5783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bwMode="gray">
          <a:xfrm>
            <a:off x="5064210" y="3951109"/>
            <a:ext cx="885822" cy="6208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bwMode="gray">
          <a:xfrm>
            <a:off x="5673870" y="4743634"/>
            <a:ext cx="593432" cy="461665"/>
          </a:xfrm>
          <a:prstGeom prst="rect">
            <a:avLst/>
          </a:prstGeom>
          <a:noFill/>
        </p:spPr>
        <p:txBody>
          <a:bodyPr wrap="none" rtlCol="0">
            <a:spAutoFit/>
          </a:bodyPr>
          <a:lstStyle/>
          <a:p>
            <a:pPr algn="ctr"/>
            <a:r>
              <a:rPr lang="en-US" sz="1200" b="1" dirty="0" smtClean="0">
                <a:cs typeface="Arial" panose="020B0604020202020204" pitchFamily="34" charset="0"/>
              </a:rPr>
              <a:t>VPN2</a:t>
            </a:r>
          </a:p>
          <a:p>
            <a:pPr algn="ctr"/>
            <a:r>
              <a:rPr lang="en-US" sz="1200" dirty="0" smtClean="0">
                <a:cs typeface="Arial" panose="020B0604020202020204" pitchFamily="34" charset="0"/>
              </a:rPr>
              <a:t>Site</a:t>
            </a:r>
            <a:endParaRPr lang="en-US" sz="1200" dirty="0">
              <a:cs typeface="Arial" panose="020B0604020202020204" pitchFamily="34" charset="0"/>
            </a:endParaRPr>
          </a:p>
        </p:txBody>
      </p:sp>
      <p:sp>
        <p:nvSpPr>
          <p:cNvPr id="67" name="文本框 66"/>
          <p:cNvSpPr txBox="1"/>
          <p:nvPr/>
        </p:nvSpPr>
        <p:spPr bwMode="gray">
          <a:xfrm>
            <a:off x="5673870" y="2767253"/>
            <a:ext cx="593432" cy="461665"/>
          </a:xfrm>
          <a:prstGeom prst="rect">
            <a:avLst/>
          </a:prstGeom>
          <a:noFill/>
        </p:spPr>
        <p:txBody>
          <a:bodyPr wrap="none" rtlCol="0">
            <a:spAutoFit/>
          </a:bodyPr>
          <a:lstStyle/>
          <a:p>
            <a:pPr algn="ctr"/>
            <a:r>
              <a:rPr lang="en-US" sz="1200" b="1" dirty="0" smtClean="0">
                <a:cs typeface="Arial" panose="020B0604020202020204" pitchFamily="34" charset="0"/>
              </a:rPr>
              <a:t>VPN1</a:t>
            </a:r>
          </a:p>
          <a:p>
            <a:pPr algn="ctr"/>
            <a:r>
              <a:rPr lang="en-US" sz="1200" dirty="0" smtClean="0">
                <a:cs typeface="Arial" panose="020B0604020202020204" pitchFamily="34" charset="0"/>
              </a:rPr>
              <a:t>Site</a:t>
            </a:r>
            <a:endParaRPr lang="en-US" sz="1200" dirty="0">
              <a:cs typeface="Arial" panose="020B0604020202020204" pitchFamily="34" charset="0"/>
            </a:endParaRPr>
          </a:p>
        </p:txBody>
      </p:sp>
      <p:sp>
        <p:nvSpPr>
          <p:cNvPr id="68" name="文本框 67"/>
          <p:cNvSpPr txBox="1"/>
          <p:nvPr/>
        </p:nvSpPr>
        <p:spPr bwMode="gray">
          <a:xfrm>
            <a:off x="5575920" y="3567561"/>
            <a:ext cx="965328" cy="276999"/>
          </a:xfrm>
          <a:prstGeom prst="rect">
            <a:avLst/>
          </a:prstGeom>
          <a:noFill/>
        </p:spPr>
        <p:txBody>
          <a:bodyPr wrap="none" rtlCol="0">
            <a:spAutoFit/>
          </a:bodyPr>
          <a:lstStyle/>
          <a:p>
            <a:pPr algn="ctr"/>
            <a:r>
              <a:rPr lang="en-US" altLang="zh-CN" sz="1200" dirty="0" smtClean="0">
                <a:cs typeface="Arial" panose="020B0604020202020204" pitchFamily="34" charset="0"/>
              </a:rPr>
              <a:t>CE</a:t>
            </a:r>
            <a:r>
              <a:rPr lang="zh-CN" altLang="en-US" sz="1200" dirty="0" smtClean="0">
                <a:cs typeface="Arial" panose="020B0604020202020204" pitchFamily="34" charset="0"/>
              </a:rPr>
              <a:t>（</a:t>
            </a:r>
            <a:r>
              <a:rPr lang="en-US" altLang="zh-CN" sz="1200" dirty="0" smtClean="0">
                <a:cs typeface="Arial" panose="020B0604020202020204" pitchFamily="34" charset="0"/>
              </a:rPr>
              <a:t>IPv6</a:t>
            </a:r>
            <a:r>
              <a:rPr lang="zh-CN" altLang="en-US" sz="1200" dirty="0" smtClean="0">
                <a:cs typeface="Arial" panose="020B0604020202020204" pitchFamily="34" charset="0"/>
              </a:rPr>
              <a:t>）</a:t>
            </a:r>
            <a:endParaRPr lang="en-US" sz="1200" dirty="0">
              <a:cs typeface="Arial" panose="020B0604020202020204" pitchFamily="34" charset="0"/>
            </a:endParaRPr>
          </a:p>
        </p:txBody>
      </p:sp>
      <p:pic>
        <p:nvPicPr>
          <p:cNvPr id="69" name="图片 6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746109" y="3202706"/>
            <a:ext cx="444945" cy="364855"/>
          </a:xfrm>
          <a:prstGeom prst="rect">
            <a:avLst/>
          </a:prstGeom>
        </p:spPr>
      </p:pic>
      <p:pic>
        <p:nvPicPr>
          <p:cNvPr id="70" name="图片 6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746109" y="4417845"/>
            <a:ext cx="444945" cy="364855"/>
          </a:xfrm>
          <a:prstGeom prst="rect">
            <a:avLst/>
          </a:prstGeom>
        </p:spPr>
      </p:pic>
      <p:sp>
        <p:nvSpPr>
          <p:cNvPr id="71" name="文本框 70"/>
          <p:cNvSpPr txBox="1"/>
          <p:nvPr/>
        </p:nvSpPr>
        <p:spPr bwMode="gray">
          <a:xfrm>
            <a:off x="5575920" y="4131803"/>
            <a:ext cx="965328" cy="276999"/>
          </a:xfrm>
          <a:prstGeom prst="rect">
            <a:avLst/>
          </a:prstGeom>
          <a:noFill/>
        </p:spPr>
        <p:txBody>
          <a:bodyPr wrap="none" rtlCol="0">
            <a:spAutoFit/>
          </a:bodyPr>
          <a:lstStyle/>
          <a:p>
            <a:pPr algn="ctr"/>
            <a:r>
              <a:rPr lang="en-US" altLang="zh-CN" sz="1200" dirty="0" smtClean="0">
                <a:cs typeface="Arial" panose="020B0604020202020204" pitchFamily="34" charset="0"/>
              </a:rPr>
              <a:t>CE</a:t>
            </a:r>
            <a:r>
              <a:rPr lang="zh-CN" altLang="en-US" sz="1200" dirty="0" smtClean="0">
                <a:cs typeface="Arial" panose="020B0604020202020204" pitchFamily="34" charset="0"/>
              </a:rPr>
              <a:t>（</a:t>
            </a:r>
            <a:r>
              <a:rPr lang="en-US" altLang="zh-CN" sz="1200" dirty="0" smtClean="0">
                <a:cs typeface="Arial" panose="020B0604020202020204" pitchFamily="34" charset="0"/>
              </a:rPr>
              <a:t>IPv6</a:t>
            </a:r>
            <a:r>
              <a:rPr lang="zh-CN" altLang="en-US" sz="1200" dirty="0" smtClean="0">
                <a:cs typeface="Arial" panose="020B0604020202020204" pitchFamily="34" charset="0"/>
              </a:rPr>
              <a:t>）</a:t>
            </a:r>
            <a:endParaRPr lang="en-US" sz="1200" dirty="0">
              <a:cs typeface="Arial" panose="020B0604020202020204" pitchFamily="34" charset="0"/>
            </a:endParaRPr>
          </a:p>
        </p:txBody>
      </p:sp>
      <p:pic>
        <p:nvPicPr>
          <p:cNvPr id="37" name="图片 3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12233" y="3751146"/>
            <a:ext cx="540000" cy="442800"/>
          </a:xfrm>
          <a:prstGeom prst="rect">
            <a:avLst/>
          </a:prstGeom>
        </p:spPr>
      </p:pic>
      <p:sp>
        <p:nvSpPr>
          <p:cNvPr id="74" name="右大括号 73"/>
          <p:cNvSpPr/>
          <p:nvPr/>
        </p:nvSpPr>
        <p:spPr bwMode="gray">
          <a:xfrm rot="5400000">
            <a:off x="2113444" y="4895301"/>
            <a:ext cx="262552" cy="1080222"/>
          </a:xfrm>
          <a:prstGeom prst="rightBrac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文本框 74"/>
          <p:cNvSpPr txBox="1"/>
          <p:nvPr/>
        </p:nvSpPr>
        <p:spPr bwMode="gray">
          <a:xfrm>
            <a:off x="805437" y="5643722"/>
            <a:ext cx="2878566" cy="510778"/>
          </a:xfrm>
          <a:prstGeom prst="roundRect">
            <a:avLst/>
          </a:prstGeom>
          <a:solidFill>
            <a:schemeClr val="bg1">
              <a:lumMod val="95000"/>
            </a:schemeClr>
          </a:solidFill>
          <a:ln>
            <a:solidFill>
              <a:schemeClr val="bg1">
                <a:lumMod val="75000"/>
              </a:schemeClr>
            </a:solidFill>
          </a:ln>
        </p:spPr>
        <p:txBody>
          <a:bodyPr wrap="square" rtlCol="0">
            <a:spAutoFit/>
          </a:bodyPr>
          <a:lstStyle/>
          <a:p>
            <a:r>
              <a:rPr lang="en-US" altLang="zh-CN" sz="1200" dirty="0" smtClean="0">
                <a:cs typeface="Arial" panose="020B0604020202020204" pitchFamily="34" charset="0"/>
              </a:rPr>
              <a:t>CE</a:t>
            </a:r>
            <a:r>
              <a:rPr lang="zh-CN" altLang="en-US" sz="1200" dirty="0" smtClean="0">
                <a:cs typeface="Arial" panose="020B0604020202020204" pitchFamily="34" charset="0"/>
              </a:rPr>
              <a:t>和</a:t>
            </a:r>
            <a:r>
              <a:rPr lang="en-US" altLang="zh-CN" sz="1200" dirty="0" smtClean="0">
                <a:cs typeface="Arial" panose="020B0604020202020204" pitchFamily="34" charset="0"/>
              </a:rPr>
              <a:t>PE</a:t>
            </a:r>
            <a:r>
              <a:rPr lang="zh-CN" altLang="en-US" sz="1200" dirty="0" smtClean="0">
                <a:cs typeface="Arial" panose="020B0604020202020204" pitchFamily="34" charset="0"/>
              </a:rPr>
              <a:t>之间</a:t>
            </a:r>
            <a:r>
              <a:rPr lang="zh-CN" altLang="en-US" sz="1200" dirty="0">
                <a:cs typeface="Arial" panose="020B0604020202020204" pitchFamily="34" charset="0"/>
              </a:rPr>
              <a:t>利用</a:t>
            </a:r>
            <a:r>
              <a:rPr lang="en-US" altLang="zh-CN" sz="1200" dirty="0">
                <a:cs typeface="Arial" panose="020B0604020202020204" pitchFamily="34" charset="0"/>
              </a:rPr>
              <a:t>IPv6</a:t>
            </a:r>
            <a:r>
              <a:rPr lang="zh-CN" altLang="en-US" sz="1200" dirty="0">
                <a:cs typeface="Arial" panose="020B0604020202020204" pitchFamily="34" charset="0"/>
              </a:rPr>
              <a:t>协议中的</a:t>
            </a:r>
            <a:r>
              <a:rPr lang="en-US" altLang="zh-CN" sz="1200" dirty="0">
                <a:cs typeface="Arial" panose="020B0604020202020204" pitchFamily="34" charset="0"/>
              </a:rPr>
              <a:t>IGP</a:t>
            </a:r>
            <a:r>
              <a:rPr lang="zh-CN" altLang="en-US" sz="1200" dirty="0">
                <a:cs typeface="Arial" panose="020B0604020202020204" pitchFamily="34" charset="0"/>
              </a:rPr>
              <a:t>、</a:t>
            </a:r>
            <a:r>
              <a:rPr lang="en-US" altLang="zh-CN" sz="1200" dirty="0">
                <a:cs typeface="Arial" panose="020B0604020202020204" pitchFamily="34" charset="0"/>
              </a:rPr>
              <a:t>EBGP</a:t>
            </a:r>
            <a:r>
              <a:rPr lang="zh-CN" altLang="en-US" sz="1200" dirty="0">
                <a:cs typeface="Arial" panose="020B0604020202020204" pitchFamily="34" charset="0"/>
              </a:rPr>
              <a:t>和静态路由等方式交换</a:t>
            </a:r>
            <a:r>
              <a:rPr lang="en-US" altLang="zh-CN" sz="1200" dirty="0">
                <a:cs typeface="Arial" panose="020B0604020202020204" pitchFamily="34" charset="0"/>
              </a:rPr>
              <a:t>IPv6</a:t>
            </a:r>
            <a:r>
              <a:rPr lang="zh-CN" altLang="en-US" sz="1200" dirty="0">
                <a:cs typeface="Arial" panose="020B0604020202020204" pitchFamily="34" charset="0"/>
              </a:rPr>
              <a:t>路由。</a:t>
            </a:r>
          </a:p>
        </p:txBody>
      </p:sp>
      <p:sp>
        <p:nvSpPr>
          <p:cNvPr id="76" name="圆角矩形 75"/>
          <p:cNvSpPr/>
          <p:nvPr/>
        </p:nvSpPr>
        <p:spPr bwMode="gray">
          <a:xfrm>
            <a:off x="6926193" y="2864870"/>
            <a:ext cx="4712339" cy="3057948"/>
          </a:xfrm>
          <a:prstGeom prst="roundRect">
            <a:avLst>
              <a:gd name="adj" fmla="val 2049"/>
            </a:avLst>
          </a:prstGeom>
          <a:noFill/>
          <a:ln w="9525" cap="flat" cmpd="sng" algn="ctr">
            <a:noFill/>
            <a:prstDash val="solid"/>
            <a:miter lim="800000"/>
          </a:ln>
          <a:effectLst/>
        </p:spPr>
        <p:txBody>
          <a:bodyPr wrap="square" lIns="72000" tIns="72000" rIns="72000" bIns="72000" rtlCol="0" anchor="t" anchorCtr="0"/>
          <a:lstStyle/>
          <a:p>
            <a:pPr marL="171450" indent="-171450" defTabSz="914400">
              <a:lnSpc>
                <a:spcPct val="150000"/>
              </a:lnSpc>
              <a:buFont typeface="Arial" panose="020B0604020202020204" pitchFamily="34" charset="0"/>
              <a:buChar char="•"/>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6PE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技术相比，</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6VPE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技术通过</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 MPLS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骨干网发布</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路由，通过</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分配标签来标识</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报文，并使用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LSP</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MPLS TE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等隧道机制在骨干网上实现私网数据的传送</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在</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骨干网络是</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的情况下，</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之间使用</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地址建立</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邻居，传递</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路由，</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VPNv6</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路由可以选择骨干网中的</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隧道来承载</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IPv6 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业务。</a:t>
            </a:r>
          </a:p>
          <a:p>
            <a:pPr marL="171450" lvl="0" indent="-171450" defTabSz="914400">
              <a:lnSpc>
                <a:spcPct val="150000"/>
              </a:lnSpc>
              <a:buFont typeface="Arial" panose="020B0604020202020204" pitchFamily="34" charset="0"/>
              <a:buChar char="•"/>
              <a:defRPr/>
            </a:pP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6VPE</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除</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之间运行的路由协议与</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 VPN</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不同外，其它所有特性原理都与</a:t>
            </a:r>
            <a:r>
              <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IPv4 VPN</a:t>
            </a:r>
            <a:r>
              <a:rPr lang="zh-CN" altLang="en-US"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相同。</a:t>
            </a:r>
            <a:endParaRPr lang="en-US" altLang="zh-CN" sz="14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lvl="0" indent="-171450" defTabSz="914400">
              <a:lnSpc>
                <a:spcPct val="150000"/>
              </a:lnSpc>
              <a:buFont typeface="Arial" panose="020B0604020202020204" pitchFamily="34" charset="0"/>
              <a:buChar char="•"/>
              <a:defRPr/>
            </a:pPr>
            <a:endPar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五边形 76"/>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78" name="燕尾形 77"/>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79" name="燕尾形 78"/>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80" name="燕尾形 79"/>
          <p:cNvSpPr/>
          <p:nvPr/>
        </p:nvSpPr>
        <p:spPr bwMode="gray">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81" name="燕尾形 80"/>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燕尾形 81"/>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燕尾形 82"/>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433234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配置</a:t>
            </a:r>
            <a:r>
              <a:rPr lang="en-US" altLang="zh-CN" dirty="0" smtClean="0"/>
              <a:t>6VPE (1)</a:t>
            </a:r>
            <a:endParaRPr lang="zh-CN" altLang="en-US" dirty="0"/>
          </a:p>
        </p:txBody>
      </p:sp>
      <p:sp>
        <p:nvSpPr>
          <p:cNvPr id="5" name="矩形 4"/>
          <p:cNvSpPr/>
          <p:nvPr/>
        </p:nvSpPr>
        <p:spPr>
          <a:xfrm>
            <a:off x="1031917" y="1535171"/>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[HUAWEI] </a:t>
            </a:r>
            <a:r>
              <a:rPr lang="en-US" altLang="zh-CN" sz="1600" b="1" dirty="0" err="1">
                <a:cs typeface="Courier New" panose="02070309020205020404" pitchFamily="49" charset="0"/>
              </a:rPr>
              <a:t>ip</a:t>
            </a:r>
            <a:r>
              <a:rPr lang="en-US" altLang="zh-CN" sz="1600" b="1" dirty="0">
                <a:cs typeface="Courier New" panose="02070309020205020404" pitchFamily="49" charset="0"/>
              </a:rPr>
              <a:t> vpn-instance</a:t>
            </a:r>
            <a:r>
              <a:rPr lang="en-US" altLang="zh-CN" sz="1600" dirty="0">
                <a:cs typeface="Courier New" panose="02070309020205020404" pitchFamily="49" charset="0"/>
              </a:rPr>
              <a:t> </a:t>
            </a:r>
            <a:r>
              <a:rPr lang="en-US" altLang="zh-CN" sz="1600" i="1" dirty="0" smtClean="0">
                <a:cs typeface="Courier New" panose="02070309020205020404" pitchFamily="49" charset="0"/>
              </a:rPr>
              <a:t>vpn-instance-name</a:t>
            </a:r>
            <a:endParaRPr lang="zh-CN" altLang="en-US" sz="1600" i="1" dirty="0">
              <a:cs typeface="Courier New" panose="02070309020205020404" pitchFamily="49" charset="0"/>
            </a:endParaRPr>
          </a:p>
        </p:txBody>
      </p:sp>
      <p:sp>
        <p:nvSpPr>
          <p:cNvPr id="6" name="矩形 5"/>
          <p:cNvSpPr/>
          <p:nvPr/>
        </p:nvSpPr>
        <p:spPr>
          <a:xfrm>
            <a:off x="551384" y="1079499"/>
            <a:ext cx="11089232" cy="405432"/>
          </a:xfrm>
          <a:prstGeom prst="rect">
            <a:avLst/>
          </a:prstGeom>
        </p:spPr>
        <p:txBody>
          <a:bodyPr wrap="square">
            <a:spAutoFit/>
          </a:bodyPr>
          <a:lstStyle/>
          <a:p>
            <a:pPr marL="342900" indent="-342900" fontAlgn="auto">
              <a:lnSpc>
                <a:spcPct val="140000"/>
              </a:lnSpc>
              <a:buFont typeface="+mj-lt"/>
              <a:buAutoNum type="arabicPeriod"/>
            </a:pPr>
            <a:r>
              <a:rPr lang="zh-CN" altLang="en-US" sz="1600" dirty="0" smtClean="0">
                <a:cs typeface="Courier New" panose="02070309020205020404" pitchFamily="49" charset="0"/>
              </a:rPr>
              <a:t>配置</a:t>
            </a:r>
            <a:r>
              <a:rPr lang="en-US" altLang="zh-CN" sz="1600" dirty="0" smtClean="0">
                <a:cs typeface="Courier New" panose="02070309020205020404" pitchFamily="49" charset="0"/>
              </a:rPr>
              <a:t>VPN</a:t>
            </a:r>
            <a:r>
              <a:rPr lang="zh-CN" altLang="en-US" sz="1600" dirty="0" smtClean="0">
                <a:cs typeface="Courier New" panose="02070309020205020404" pitchFamily="49" charset="0"/>
              </a:rPr>
              <a:t>实例。</a:t>
            </a:r>
            <a:endParaRPr lang="en-US" altLang="zh-CN" sz="1600" dirty="0" smtClean="0">
              <a:cs typeface="Courier New" panose="02070309020205020404" pitchFamily="49" charset="0"/>
            </a:endParaRPr>
          </a:p>
        </p:txBody>
      </p:sp>
      <p:sp>
        <p:nvSpPr>
          <p:cNvPr id="14" name="矩形 13"/>
          <p:cNvSpPr/>
          <p:nvPr/>
        </p:nvSpPr>
        <p:spPr>
          <a:xfrm>
            <a:off x="1031917" y="3046500"/>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地址族的</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RD</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VPN-target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扩展团体</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属性。</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a:xfrm>
            <a:off x="1031917" y="1969282"/>
            <a:ext cx="10608699" cy="1077218"/>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[HUAWEI-vpn-instance-vpna</a:t>
            </a:r>
            <a:r>
              <a:rPr lang="en-US" altLang="zh-CN" sz="1600" dirty="0">
                <a:cs typeface="Courier New" panose="02070309020205020404" pitchFamily="49" charset="0"/>
              </a:rPr>
              <a:t>] </a:t>
            </a:r>
            <a:r>
              <a:rPr lang="en-US" altLang="zh-CN" sz="1600" b="1" dirty="0">
                <a:cs typeface="Courier New" panose="02070309020205020404" pitchFamily="49" charset="0"/>
              </a:rPr>
              <a:t>ipv6-family</a:t>
            </a:r>
          </a:p>
          <a:p>
            <a:pPr fontAlgn="base"/>
            <a:r>
              <a:rPr lang="en-US" altLang="zh-CN" sz="1600" dirty="0" smtClean="0">
                <a:cs typeface="Courier New" panose="02070309020205020404" pitchFamily="49" charset="0"/>
              </a:rPr>
              <a:t>[HUAWEI-vpn-instance-vpna-af-ipv6</a:t>
            </a:r>
            <a:r>
              <a:rPr lang="en-US" altLang="zh-CN" sz="1600" dirty="0">
                <a:cs typeface="Courier New" panose="02070309020205020404" pitchFamily="49" charset="0"/>
              </a:rPr>
              <a:t>] </a:t>
            </a:r>
            <a:r>
              <a:rPr lang="en-US" altLang="zh-CN" sz="1600" b="1" dirty="0">
                <a:cs typeface="Courier New" panose="02070309020205020404" pitchFamily="49" charset="0"/>
              </a:rPr>
              <a:t>route-distinguisher</a:t>
            </a:r>
            <a:r>
              <a:rPr lang="en-US" altLang="zh-CN" sz="1600" dirty="0">
                <a:cs typeface="Courier New" panose="02070309020205020404" pitchFamily="49" charset="0"/>
              </a:rPr>
              <a:t> </a:t>
            </a:r>
            <a:r>
              <a:rPr lang="en-US" altLang="zh-CN" sz="1600" i="1" dirty="0" err="1">
                <a:cs typeface="Courier New" panose="02070309020205020404" pitchFamily="49" charset="0"/>
              </a:rPr>
              <a:t>route-distinguisher</a:t>
            </a:r>
            <a:r>
              <a:rPr lang="en-US" altLang="zh-CN" sz="1600" i="1" dirty="0">
                <a:cs typeface="Courier New" panose="02070309020205020404" pitchFamily="49" charset="0"/>
              </a:rPr>
              <a:t> </a:t>
            </a:r>
            <a:endParaRPr lang="en-US" altLang="zh-CN" sz="1600" dirty="0">
              <a:cs typeface="Courier New" panose="02070309020205020404" pitchFamily="49" charset="0"/>
            </a:endParaRPr>
          </a:p>
          <a:p>
            <a:pPr fontAlgn="base"/>
            <a:r>
              <a:rPr lang="en-US" altLang="zh-CN" sz="1600" dirty="0" smtClean="0">
                <a:cs typeface="Courier New" panose="02070309020205020404" pitchFamily="49" charset="0"/>
              </a:rPr>
              <a:t>[HUAWEI-vpn-instance-vpna-af-ipv6</a:t>
            </a:r>
            <a:r>
              <a:rPr lang="en-US" altLang="zh-CN" sz="1600" dirty="0">
                <a:cs typeface="Courier New" panose="02070309020205020404" pitchFamily="49" charset="0"/>
              </a:rPr>
              <a:t>] </a:t>
            </a:r>
            <a:r>
              <a:rPr lang="en-US" altLang="zh-CN" sz="1600" b="1" dirty="0">
                <a:cs typeface="Courier New" panose="02070309020205020404" pitchFamily="49" charset="0"/>
              </a:rPr>
              <a:t>vpn-target</a:t>
            </a:r>
            <a:r>
              <a:rPr lang="en-US" altLang="zh-CN" sz="1600" dirty="0">
                <a:cs typeface="Courier New" panose="02070309020205020404" pitchFamily="49" charset="0"/>
              </a:rPr>
              <a:t> </a:t>
            </a:r>
            <a:r>
              <a:rPr lang="en-US" altLang="zh-CN" sz="1600" i="1" dirty="0" err="1"/>
              <a:t>vpn-target</a:t>
            </a:r>
            <a:r>
              <a:rPr lang="en-US" altLang="zh-CN" sz="1600" dirty="0"/>
              <a:t>  [ </a:t>
            </a:r>
            <a:r>
              <a:rPr lang="en-US" altLang="zh-CN" sz="1600" b="1" dirty="0"/>
              <a:t>both</a:t>
            </a:r>
            <a:r>
              <a:rPr lang="en-US" altLang="zh-CN" sz="1600" dirty="0"/>
              <a:t> | </a:t>
            </a:r>
            <a:r>
              <a:rPr lang="en-US" altLang="zh-CN" sz="1600" b="1" dirty="0"/>
              <a:t>export-</a:t>
            </a:r>
            <a:r>
              <a:rPr lang="en-US" altLang="zh-CN" sz="1600" b="1" dirty="0" err="1"/>
              <a:t>extcommunity</a:t>
            </a:r>
            <a:r>
              <a:rPr lang="en-US" altLang="zh-CN" sz="1600" dirty="0"/>
              <a:t> | </a:t>
            </a:r>
            <a:r>
              <a:rPr lang="en-US" altLang="zh-CN" sz="1600" b="1" dirty="0"/>
              <a:t>import-</a:t>
            </a:r>
            <a:r>
              <a:rPr lang="en-US" altLang="zh-CN" sz="1600" b="1" dirty="0" err="1"/>
              <a:t>extcommunity</a:t>
            </a:r>
            <a:r>
              <a:rPr lang="en-US" altLang="zh-CN" sz="1600" dirty="0"/>
              <a:t> ]</a:t>
            </a:r>
            <a:endParaRPr lang="zh-CN" altLang="en-US" sz="1600" dirty="0">
              <a:cs typeface="Courier New" panose="02070309020205020404" pitchFamily="49" charset="0"/>
            </a:endParaRPr>
          </a:p>
        </p:txBody>
      </p:sp>
      <p:sp>
        <p:nvSpPr>
          <p:cNvPr id="21" name="矩形 20"/>
          <p:cNvSpPr/>
          <p:nvPr/>
        </p:nvSpPr>
        <p:spPr>
          <a:xfrm>
            <a:off x="551384" y="3989627"/>
            <a:ext cx="11089232" cy="437043"/>
          </a:xfrm>
          <a:prstGeom prst="rect">
            <a:avLst/>
          </a:prstGeom>
        </p:spPr>
        <p:txBody>
          <a:bodyPr wrap="square">
            <a:spAutoFit/>
          </a:bodyPr>
          <a:lstStyle/>
          <a:p>
            <a:pPr marL="342900" indent="-342900" fontAlgn="auto">
              <a:lnSpc>
                <a:spcPct val="140000"/>
              </a:lnSpc>
              <a:buFont typeface="+mj-lt"/>
              <a:buAutoNum type="arabicPeriod" startAt="2"/>
            </a:pPr>
            <a:r>
              <a:rPr lang="zh-CN" altLang="en-US" sz="1600" dirty="0">
                <a:cs typeface="Courier New" panose="02070309020205020404" pitchFamily="49" charset="0"/>
              </a:rPr>
              <a:t>配置接口与</a:t>
            </a:r>
            <a:r>
              <a:rPr lang="en-US" altLang="zh-CN" sz="1600" dirty="0">
                <a:cs typeface="Courier New" panose="02070309020205020404" pitchFamily="49" charset="0"/>
              </a:rPr>
              <a:t>VPN</a:t>
            </a:r>
            <a:r>
              <a:rPr lang="zh-CN" altLang="en-US" sz="1600" dirty="0">
                <a:cs typeface="Courier New" panose="02070309020205020404" pitchFamily="49" charset="0"/>
              </a:rPr>
              <a:t>实例绑定</a:t>
            </a:r>
            <a:r>
              <a:rPr lang="zh-CN" altLang="en-US" sz="1600" dirty="0" smtClean="0">
                <a:cs typeface="Courier New" panose="02070309020205020404" pitchFamily="49" charset="0"/>
              </a:rPr>
              <a:t>。</a:t>
            </a:r>
            <a:endParaRPr lang="en-US" altLang="zh-CN" sz="1600" dirty="0" smtClean="0">
              <a:cs typeface="Courier New" panose="02070309020205020404" pitchFamily="49" charset="0"/>
            </a:endParaRPr>
          </a:p>
        </p:txBody>
      </p:sp>
      <p:sp>
        <p:nvSpPr>
          <p:cNvPr id="16" name="五边形 15"/>
          <p:cNvSpPr/>
          <p:nvPr/>
        </p:nvSpPr>
        <p:spPr bwMode="auto">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9" name="燕尾形 18"/>
          <p:cNvSpPr/>
          <p:nvPr/>
        </p:nvSpPr>
        <p:spPr bwMode="auto">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20" name="燕尾形 19"/>
          <p:cNvSpPr/>
          <p:nvPr/>
        </p:nvSpPr>
        <p:spPr bwMode="auto">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22" name="燕尾形 21"/>
          <p:cNvSpPr/>
          <p:nvPr/>
        </p:nvSpPr>
        <p:spPr bwMode="auto">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23" name="燕尾形 22"/>
          <p:cNvSpPr/>
          <p:nvPr/>
        </p:nvSpPr>
        <p:spPr bwMode="auto">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auto">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auto">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a:xfrm>
            <a:off x="1031917" y="4459177"/>
            <a:ext cx="10608699" cy="861774"/>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[HUAWEI-GigabitEthernet0/0/1] </a:t>
            </a:r>
            <a:r>
              <a:rPr lang="en-US" altLang="zh-CN" sz="1600" b="1" dirty="0" err="1">
                <a:cs typeface="Courier New" panose="02070309020205020404" pitchFamily="49" charset="0"/>
              </a:rPr>
              <a:t>ip</a:t>
            </a:r>
            <a:r>
              <a:rPr lang="en-US" altLang="zh-CN" sz="1600" b="1" dirty="0">
                <a:cs typeface="Courier New" panose="02070309020205020404" pitchFamily="49" charset="0"/>
              </a:rPr>
              <a:t> binding vpn-instance </a:t>
            </a:r>
            <a:r>
              <a:rPr lang="en-US" altLang="zh-CN" sz="1600" i="1" dirty="0" smtClean="0">
                <a:cs typeface="Courier New" panose="02070309020205020404" pitchFamily="49" charset="0"/>
              </a:rPr>
              <a:t>vpn-instance-name</a:t>
            </a:r>
          </a:p>
          <a:p>
            <a:pPr fontAlgn="base"/>
            <a:r>
              <a:rPr lang="en-US" altLang="zh-CN" sz="1600" dirty="0">
                <a:cs typeface="Courier New" panose="02070309020205020404" pitchFamily="49" charset="0"/>
              </a:rPr>
              <a:t>[HUAWEI-GigabitEthernet0/0/1</a:t>
            </a:r>
            <a:r>
              <a:rPr lang="en-US" altLang="zh-CN" sz="1600" dirty="0" smtClean="0">
                <a:cs typeface="Courier New" panose="02070309020205020404" pitchFamily="49" charset="0"/>
              </a:rPr>
              <a:t>] </a:t>
            </a:r>
            <a:r>
              <a:rPr lang="en-US" altLang="zh-CN" sz="1600" b="1" dirty="0" smtClean="0">
                <a:cs typeface="Courier New" panose="02070309020205020404" pitchFamily="49" charset="0"/>
              </a:rPr>
              <a:t>ipv6 enable</a:t>
            </a:r>
          </a:p>
          <a:p>
            <a:pPr fontAlgn="base"/>
            <a:r>
              <a:rPr lang="en-US" altLang="zh-CN" sz="1600" dirty="0">
                <a:cs typeface="Courier New" panose="02070309020205020404" pitchFamily="49" charset="0"/>
              </a:rPr>
              <a:t>[HUAWEI-GigabitEthernet0/0/1</a:t>
            </a:r>
            <a:r>
              <a:rPr lang="en-US" altLang="zh-CN" sz="1600" dirty="0" smtClean="0">
                <a:cs typeface="Courier New" panose="02070309020205020404" pitchFamily="49" charset="0"/>
              </a:rPr>
              <a:t>] </a:t>
            </a:r>
            <a:r>
              <a:rPr lang="en-US" altLang="zh-CN" sz="1600" b="1" dirty="0" smtClean="0">
                <a:cs typeface="Courier New" panose="02070309020205020404" pitchFamily="49" charset="0"/>
              </a:rPr>
              <a:t>ipv6 address </a:t>
            </a:r>
            <a:r>
              <a:rPr lang="en-US" altLang="zh-CN" sz="1600" dirty="0"/>
              <a:t>{ </a:t>
            </a:r>
            <a:r>
              <a:rPr lang="en-US" altLang="zh-CN" sz="1600" i="1" dirty="0"/>
              <a:t>ipv6-address</a:t>
            </a:r>
            <a:r>
              <a:rPr lang="en-US" altLang="zh-CN" sz="1600" dirty="0"/>
              <a:t> </a:t>
            </a:r>
            <a:r>
              <a:rPr lang="en-US" altLang="zh-CN" sz="1600" i="1" dirty="0"/>
              <a:t>prefix-length</a:t>
            </a:r>
            <a:r>
              <a:rPr lang="en-US" altLang="zh-CN" sz="1600" dirty="0"/>
              <a:t> | </a:t>
            </a:r>
            <a:r>
              <a:rPr lang="en-US" altLang="zh-CN" sz="1600" i="1" dirty="0"/>
              <a:t>ipv6-address</a:t>
            </a:r>
            <a:r>
              <a:rPr lang="en-US" altLang="zh-CN" sz="1600" dirty="0"/>
              <a:t>/</a:t>
            </a:r>
            <a:r>
              <a:rPr lang="en-US" altLang="zh-CN" sz="1600" i="1" dirty="0"/>
              <a:t>prefix-length</a:t>
            </a:r>
            <a:r>
              <a:rPr lang="en-US" altLang="zh-CN" sz="1600" dirty="0"/>
              <a:t> }</a:t>
            </a:r>
            <a:endParaRPr lang="en-US" altLang="zh-CN" sz="1600" i="1" dirty="0" smtClean="0">
              <a:cs typeface="Courier New" panose="02070309020205020404" pitchFamily="49" charset="0"/>
            </a:endParaRPr>
          </a:p>
        </p:txBody>
      </p:sp>
    </p:spTree>
    <p:extLst>
      <p:ext uri="{BB962C8B-B14F-4D97-AF65-F5344CB8AC3E}">
        <p14:creationId xmlns:p14="http://schemas.microsoft.com/office/powerpoint/2010/main" val="28568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配置</a:t>
            </a:r>
            <a:r>
              <a:rPr lang="en-US" altLang="zh-CN" dirty="0" smtClean="0"/>
              <a:t>6VPE (2)</a:t>
            </a:r>
            <a:endParaRPr lang="zh-CN" altLang="en-US" dirty="0"/>
          </a:p>
        </p:txBody>
      </p:sp>
      <p:sp>
        <p:nvSpPr>
          <p:cNvPr id="6" name="矩形 5"/>
          <p:cNvSpPr/>
          <p:nvPr/>
        </p:nvSpPr>
        <p:spPr>
          <a:xfrm>
            <a:off x="551384" y="1079499"/>
            <a:ext cx="11089232" cy="437043"/>
          </a:xfrm>
          <a:prstGeom prst="rect">
            <a:avLst/>
          </a:prstGeom>
        </p:spPr>
        <p:txBody>
          <a:bodyPr wrap="square">
            <a:spAutoFit/>
          </a:bodyPr>
          <a:lstStyle/>
          <a:p>
            <a:pPr marL="342900" indent="-342900" fontAlgn="auto">
              <a:lnSpc>
                <a:spcPct val="140000"/>
              </a:lnSpc>
              <a:buFont typeface="+mj-lt"/>
              <a:buAutoNum type="arabicPeriod" startAt="3"/>
            </a:pPr>
            <a:r>
              <a:rPr lang="zh-CN" altLang="en-US" sz="1600" dirty="0">
                <a:cs typeface="Courier New" panose="02070309020205020404" pitchFamily="49" charset="0"/>
              </a:rPr>
              <a:t>配置</a:t>
            </a:r>
            <a:r>
              <a:rPr lang="en-US" altLang="zh-CN" sz="1600" dirty="0" smtClean="0">
                <a:cs typeface="Courier New" panose="02070309020205020404" pitchFamily="49" charset="0"/>
              </a:rPr>
              <a:t>PE</a:t>
            </a:r>
            <a:r>
              <a:rPr lang="zh-CN" altLang="en-US" sz="1600" dirty="0" smtClean="0">
                <a:cs typeface="Courier New" panose="02070309020205020404" pitchFamily="49" charset="0"/>
              </a:rPr>
              <a:t>之间</a:t>
            </a:r>
            <a:r>
              <a:rPr lang="zh-CN" altLang="en-US" sz="1600" dirty="0">
                <a:cs typeface="Courier New" panose="02070309020205020404" pitchFamily="49" charset="0"/>
              </a:rPr>
              <a:t>使用</a:t>
            </a:r>
            <a:r>
              <a:rPr lang="en-US" altLang="zh-CN" sz="1600" dirty="0" smtClean="0">
                <a:cs typeface="Courier New" panose="02070309020205020404" pitchFamily="49" charset="0"/>
              </a:rPr>
              <a:t>MP-IBGP</a:t>
            </a:r>
            <a:r>
              <a:rPr lang="zh-CN" altLang="en-US" sz="1600" dirty="0" smtClean="0">
                <a:cs typeface="Courier New" panose="02070309020205020404" pitchFamily="49" charset="0"/>
              </a:rPr>
              <a:t>，传递</a:t>
            </a:r>
            <a:r>
              <a:rPr lang="en-US" altLang="zh-CN" sz="1600" dirty="0" smtClean="0">
                <a:cs typeface="Courier New" panose="02070309020205020404" pitchFamily="49" charset="0"/>
              </a:rPr>
              <a:t>VPNv6</a:t>
            </a:r>
            <a:r>
              <a:rPr lang="zh-CN" altLang="en-US" sz="1600" dirty="0" smtClean="0">
                <a:cs typeface="Courier New" panose="02070309020205020404" pitchFamily="49" charset="0"/>
              </a:rPr>
              <a:t>路由。</a:t>
            </a:r>
            <a:endParaRPr lang="en-US" altLang="zh-CN" sz="1600" dirty="0" smtClean="0">
              <a:cs typeface="Courier New" panose="02070309020205020404" pitchFamily="49" charset="0"/>
            </a:endParaRPr>
          </a:p>
        </p:txBody>
      </p:sp>
      <p:sp>
        <p:nvSpPr>
          <p:cNvPr id="8" name="矩形 7"/>
          <p:cNvSpPr/>
          <p:nvPr/>
        </p:nvSpPr>
        <p:spPr>
          <a:xfrm>
            <a:off x="1031917" y="1587529"/>
            <a:ext cx="10608699" cy="830997"/>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a:t>
            </a:r>
            <a:r>
              <a:rPr lang="en-US" altLang="zh-CN" sz="1600" dirty="0"/>
              <a:t>HUAWEI</a:t>
            </a:r>
            <a:r>
              <a:rPr lang="en-US" altLang="zh-CN" sz="1600" dirty="0" smtClean="0">
                <a:cs typeface="Courier New" panose="02070309020205020404" pitchFamily="49" charset="0"/>
              </a:rPr>
              <a:t>] </a:t>
            </a:r>
            <a:r>
              <a:rPr lang="en-US" altLang="zh-CN" sz="1600" b="1" dirty="0" err="1" smtClean="0"/>
              <a:t>bgp</a:t>
            </a:r>
            <a:r>
              <a:rPr lang="en-US" altLang="zh-CN" sz="1600" b="1" dirty="0" smtClean="0"/>
              <a:t> </a:t>
            </a:r>
            <a:r>
              <a:rPr lang="en-US" altLang="zh-CN" sz="1600" i="1" dirty="0" smtClean="0"/>
              <a:t>as-number</a:t>
            </a:r>
          </a:p>
          <a:p>
            <a:pPr fontAlgn="base"/>
            <a:r>
              <a:rPr lang="en-US" altLang="zh-CN" sz="1600" dirty="0" smtClean="0">
                <a:cs typeface="Courier New" panose="02070309020205020404" pitchFamily="49" charset="0"/>
              </a:rPr>
              <a:t>[HUAWEI-</a:t>
            </a:r>
            <a:r>
              <a:rPr lang="en-US" altLang="zh-CN" sz="1600" dirty="0" err="1" smtClean="0">
                <a:cs typeface="Courier New" panose="02070309020205020404" pitchFamily="49" charset="0"/>
              </a:rPr>
              <a:t>bgp</a:t>
            </a:r>
            <a:r>
              <a:rPr lang="en-US" altLang="zh-CN" sz="1600" dirty="0">
                <a:cs typeface="Courier New" panose="02070309020205020404" pitchFamily="49" charset="0"/>
              </a:rPr>
              <a:t>] </a:t>
            </a:r>
            <a:r>
              <a:rPr lang="en-US" altLang="zh-CN" sz="1600" b="1" dirty="0">
                <a:cs typeface="Courier New" panose="02070309020205020404" pitchFamily="49" charset="0"/>
              </a:rPr>
              <a:t>peer </a:t>
            </a:r>
            <a:r>
              <a:rPr lang="en-US" altLang="zh-CN" sz="1600" i="1" dirty="0">
                <a:cs typeface="Courier New" panose="02070309020205020404" pitchFamily="49" charset="0"/>
              </a:rPr>
              <a:t>ipv4-address </a:t>
            </a:r>
            <a:r>
              <a:rPr lang="en-US" altLang="zh-CN" sz="1600" b="1" dirty="0">
                <a:cs typeface="Courier New" panose="02070309020205020404" pitchFamily="49" charset="0"/>
              </a:rPr>
              <a:t>as-number </a:t>
            </a:r>
            <a:r>
              <a:rPr lang="en-US" altLang="zh-CN" sz="1600" i="1" dirty="0" err="1" smtClean="0">
                <a:cs typeface="Courier New" panose="02070309020205020404" pitchFamily="49" charset="0"/>
              </a:rPr>
              <a:t>as-number</a:t>
            </a:r>
            <a:endParaRPr lang="en-US" altLang="zh-CN" sz="1600" i="1" dirty="0" smtClean="0">
              <a:cs typeface="Courier New" panose="02070309020205020404" pitchFamily="49" charset="0"/>
            </a:endParaRPr>
          </a:p>
          <a:p>
            <a:pPr fontAlgn="base"/>
            <a:r>
              <a:rPr lang="en-US" altLang="zh-CN" sz="1600" dirty="0">
                <a:cs typeface="Courier New" panose="02070309020205020404" pitchFamily="49" charset="0"/>
              </a:rPr>
              <a:t>[HUAWEI-</a:t>
            </a:r>
            <a:r>
              <a:rPr lang="en-US" altLang="zh-CN" sz="1600" dirty="0" err="1">
                <a:cs typeface="Courier New" panose="02070309020205020404" pitchFamily="49" charset="0"/>
              </a:rPr>
              <a:t>bgp</a:t>
            </a:r>
            <a:r>
              <a:rPr lang="en-US" altLang="zh-CN" sz="1600" dirty="0">
                <a:cs typeface="Courier New" panose="02070309020205020404" pitchFamily="49" charset="0"/>
              </a:rPr>
              <a:t>] </a:t>
            </a:r>
            <a:r>
              <a:rPr lang="en-US" altLang="zh-CN" sz="1600" b="1" dirty="0">
                <a:cs typeface="Courier New" panose="02070309020205020404" pitchFamily="49" charset="0"/>
              </a:rPr>
              <a:t>peer </a:t>
            </a:r>
            <a:r>
              <a:rPr lang="en-US" altLang="zh-CN" sz="1600" i="1" dirty="0">
                <a:cs typeface="Courier New" panose="02070309020205020404" pitchFamily="49" charset="0"/>
              </a:rPr>
              <a:t>ipv4-address </a:t>
            </a:r>
            <a:r>
              <a:rPr lang="en-US" altLang="zh-CN" sz="1600" b="1" dirty="0" smtClean="0">
                <a:cs typeface="Courier New" panose="02070309020205020404" pitchFamily="49" charset="0"/>
              </a:rPr>
              <a:t>connect-interface</a:t>
            </a:r>
            <a:r>
              <a:rPr lang="en-US" altLang="zh-CN" sz="1600" i="1" dirty="0">
                <a:cs typeface="Courier New" panose="02070309020205020404" pitchFamily="49" charset="0"/>
              </a:rPr>
              <a:t> </a:t>
            </a:r>
            <a:r>
              <a:rPr lang="en-US" altLang="zh-CN" sz="1600" i="1" dirty="0" smtClean="0">
                <a:cs typeface="Courier New" panose="02070309020205020404" pitchFamily="49" charset="0"/>
              </a:rPr>
              <a:t>interface-number</a:t>
            </a:r>
            <a:endParaRPr lang="zh-CN" altLang="en-US" sz="1600" i="1" dirty="0">
              <a:cs typeface="Courier New" panose="02070309020205020404" pitchFamily="49" charset="0"/>
            </a:endParaRPr>
          </a:p>
        </p:txBody>
      </p:sp>
      <p:sp>
        <p:nvSpPr>
          <p:cNvPr id="9" name="矩形 8"/>
          <p:cNvSpPr/>
          <p:nvPr/>
        </p:nvSpPr>
        <p:spPr>
          <a:xfrm>
            <a:off x="1031917" y="3626046"/>
            <a:ext cx="10608699" cy="400110"/>
          </a:xfrm>
          <a:prstGeom prst="rect">
            <a:avLst/>
          </a:prstGeom>
        </p:spPr>
        <p:txBody>
          <a:bodyPr wrap="square">
            <a:spAutoFit/>
          </a:bodyPr>
          <a:lstStyle/>
          <a:p>
            <a:pPr>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使能并进入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BGP-VPNv6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地址族视图</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能对等体交换</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路由信息的能力。</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a:xfrm>
            <a:off x="1031917" y="3041271"/>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t>HUAWEI-</a:t>
            </a:r>
            <a:r>
              <a:rPr lang="en-US" altLang="zh-CN" sz="1600" dirty="0" err="1" smtClean="0"/>
              <a:t>bgp</a:t>
            </a:r>
            <a:r>
              <a:rPr lang="en-US" altLang="zh-CN" sz="1600" dirty="0" smtClean="0">
                <a:cs typeface="Courier New" panose="02070309020205020404" pitchFamily="49" charset="0"/>
              </a:rPr>
              <a:t>] </a:t>
            </a:r>
            <a:r>
              <a:rPr lang="en-US" altLang="zh-CN" sz="1600" b="1" dirty="0"/>
              <a:t>ipv6-family </a:t>
            </a:r>
            <a:r>
              <a:rPr lang="en-US" altLang="zh-CN" sz="1600" b="1" dirty="0" smtClean="0"/>
              <a:t>vpnv6</a:t>
            </a:r>
            <a:endParaRPr lang="en-US" altLang="zh-CN" sz="1600" dirty="0" smtClean="0">
              <a:cs typeface="Courier New" panose="02070309020205020404" pitchFamily="49" charset="0"/>
            </a:endParaRPr>
          </a:p>
          <a:p>
            <a:pPr fontAlgn="base"/>
            <a:r>
              <a:rPr lang="en-US" altLang="zh-CN" sz="1600" dirty="0" smtClean="0">
                <a:cs typeface="Courier New" panose="02070309020205020404" pitchFamily="49" charset="0"/>
              </a:rPr>
              <a:t>[</a:t>
            </a:r>
            <a:r>
              <a:rPr lang="en-US" altLang="zh-CN" sz="1600" dirty="0"/>
              <a:t>HUAWEI</a:t>
            </a:r>
            <a:r>
              <a:rPr lang="en-US" altLang="zh-CN" sz="1600" dirty="0" smtClean="0">
                <a:cs typeface="Courier New" panose="02070309020205020404" pitchFamily="49" charset="0"/>
              </a:rPr>
              <a:t>-bgp-af-ipv6</a:t>
            </a:r>
            <a:r>
              <a:rPr lang="en-US" altLang="zh-CN" sz="1600" dirty="0">
                <a:cs typeface="Courier New" panose="02070309020205020404" pitchFamily="49" charset="0"/>
              </a:rPr>
              <a:t>] </a:t>
            </a:r>
            <a:r>
              <a:rPr lang="en-US" altLang="zh-CN" sz="1600" b="1" dirty="0"/>
              <a:t>peer </a:t>
            </a:r>
            <a:r>
              <a:rPr lang="en-US" altLang="zh-CN" sz="1600" i="1" dirty="0"/>
              <a:t>ipv4-address </a:t>
            </a:r>
            <a:r>
              <a:rPr lang="en-US" altLang="zh-CN" sz="1600" b="1" dirty="0"/>
              <a:t>enable</a:t>
            </a:r>
            <a:endParaRPr lang="zh-CN" altLang="en-US" sz="1600" dirty="0">
              <a:cs typeface="Courier New" panose="02070309020205020404" pitchFamily="49" charset="0"/>
            </a:endParaRPr>
          </a:p>
        </p:txBody>
      </p:sp>
      <p:sp>
        <p:nvSpPr>
          <p:cNvPr id="11" name="矩形 10"/>
          <p:cNvSpPr/>
          <p:nvPr/>
        </p:nvSpPr>
        <p:spPr>
          <a:xfrm>
            <a:off x="1031917" y="2431675"/>
            <a:ext cx="10608699" cy="400110"/>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视图，将对端</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配置为</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IBGP</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对等体。</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五边形 17"/>
          <p:cNvSpPr/>
          <p:nvPr/>
        </p:nvSpPr>
        <p:spPr bwMode="auto">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9" name="燕尾形 18"/>
          <p:cNvSpPr/>
          <p:nvPr/>
        </p:nvSpPr>
        <p:spPr bwMode="auto">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22" name="燕尾形 21"/>
          <p:cNvSpPr/>
          <p:nvPr/>
        </p:nvSpPr>
        <p:spPr bwMode="auto">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23" name="燕尾形 22"/>
          <p:cNvSpPr/>
          <p:nvPr/>
        </p:nvSpPr>
        <p:spPr bwMode="auto">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24" name="燕尾形 23"/>
          <p:cNvSpPr/>
          <p:nvPr/>
        </p:nvSpPr>
        <p:spPr bwMode="auto">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auto">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72980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配置</a:t>
            </a:r>
            <a:r>
              <a:rPr lang="en-US" altLang="zh-CN" dirty="0" smtClean="0"/>
              <a:t>6VPE (3)</a:t>
            </a:r>
            <a:endParaRPr lang="zh-CN" altLang="en-US" dirty="0"/>
          </a:p>
        </p:txBody>
      </p:sp>
      <p:sp>
        <p:nvSpPr>
          <p:cNvPr id="22" name="五边形 21"/>
          <p:cNvSpPr/>
          <p:nvPr/>
        </p:nvSpPr>
        <p:spPr bwMode="auto">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23" name="燕尾形 22"/>
          <p:cNvSpPr/>
          <p:nvPr/>
        </p:nvSpPr>
        <p:spPr bwMode="auto">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25" name="燕尾形 24"/>
          <p:cNvSpPr/>
          <p:nvPr/>
        </p:nvSpPr>
        <p:spPr bwMode="auto">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26" name="燕尾形 25"/>
          <p:cNvSpPr/>
          <p:nvPr/>
        </p:nvSpPr>
        <p:spPr bwMode="auto">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27" name="燕尾形 26"/>
          <p:cNvSpPr/>
          <p:nvPr/>
        </p:nvSpPr>
        <p:spPr bwMode="auto">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a:xfrm>
            <a:off x="551384" y="1079499"/>
            <a:ext cx="11089232" cy="405432"/>
          </a:xfrm>
          <a:prstGeom prst="rect">
            <a:avLst/>
          </a:prstGeom>
        </p:spPr>
        <p:txBody>
          <a:bodyPr wrap="square">
            <a:spAutoFit/>
          </a:bodyPr>
          <a:lstStyle/>
          <a:p>
            <a:pPr marL="342900" indent="-342900" fontAlgn="auto">
              <a:lnSpc>
                <a:spcPct val="140000"/>
              </a:lnSpc>
              <a:buFont typeface="+mj-lt"/>
              <a:buAutoNum type="arabicPeriod" startAt="4"/>
            </a:pPr>
            <a:r>
              <a:rPr lang="zh-CN" altLang="en-US" sz="1600" dirty="0">
                <a:cs typeface="Courier New" panose="02070309020205020404" pitchFamily="49" charset="0"/>
              </a:rPr>
              <a:t>配置</a:t>
            </a:r>
            <a:r>
              <a:rPr lang="en-US" altLang="zh-CN" sz="1600" dirty="0">
                <a:cs typeface="Courier New" panose="02070309020205020404" pitchFamily="49" charset="0"/>
              </a:rPr>
              <a:t>PE</a:t>
            </a:r>
            <a:r>
              <a:rPr lang="zh-CN" altLang="en-US" sz="1600" dirty="0">
                <a:cs typeface="Courier New" panose="02070309020205020404" pitchFamily="49" charset="0"/>
              </a:rPr>
              <a:t>和</a:t>
            </a:r>
            <a:r>
              <a:rPr lang="en-US" altLang="zh-CN" sz="1600" dirty="0">
                <a:cs typeface="Courier New" panose="02070309020205020404" pitchFamily="49" charset="0"/>
              </a:rPr>
              <a:t>CE</a:t>
            </a:r>
            <a:r>
              <a:rPr lang="zh-CN" altLang="en-US" sz="1600" dirty="0">
                <a:cs typeface="Courier New" panose="02070309020205020404" pitchFamily="49" charset="0"/>
              </a:rPr>
              <a:t>间的路由交换。（以静态路由为例，</a:t>
            </a:r>
            <a:r>
              <a:rPr lang="en-US" altLang="zh-CN" sz="1600" dirty="0">
                <a:cs typeface="Courier New" panose="02070309020205020404" pitchFamily="49" charset="0"/>
              </a:rPr>
              <a:t>CE</a:t>
            </a:r>
            <a:r>
              <a:rPr lang="zh-CN" altLang="en-US" sz="1600" dirty="0">
                <a:cs typeface="Courier New" panose="02070309020205020404" pitchFamily="49" charset="0"/>
              </a:rPr>
              <a:t>上的配置方法与普通</a:t>
            </a:r>
            <a:r>
              <a:rPr lang="en-US" altLang="zh-CN" sz="1600" dirty="0">
                <a:cs typeface="Courier New" panose="02070309020205020404" pitchFamily="49" charset="0"/>
              </a:rPr>
              <a:t>IPv6</a:t>
            </a:r>
            <a:r>
              <a:rPr lang="zh-CN" altLang="en-US" sz="1600" dirty="0">
                <a:cs typeface="Courier New" panose="02070309020205020404" pitchFamily="49" charset="0"/>
              </a:rPr>
              <a:t>静态路由相同，介绍略。）</a:t>
            </a:r>
          </a:p>
        </p:txBody>
      </p:sp>
      <p:sp>
        <p:nvSpPr>
          <p:cNvPr id="31" name="矩形 30"/>
          <p:cNvSpPr/>
          <p:nvPr/>
        </p:nvSpPr>
        <p:spPr>
          <a:xfrm>
            <a:off x="1031917" y="1587529"/>
            <a:ext cx="10608699" cy="830997"/>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[PE] </a:t>
            </a:r>
            <a:r>
              <a:rPr lang="en-US" altLang="zh-CN" sz="1600" b="1" dirty="0"/>
              <a:t>ipv6 route-static vpn-instance</a:t>
            </a:r>
            <a:r>
              <a:rPr lang="en-US" altLang="zh-CN" sz="1600" dirty="0"/>
              <a:t> </a:t>
            </a:r>
            <a:r>
              <a:rPr lang="en-US" altLang="zh-CN" sz="1600" i="1" dirty="0"/>
              <a:t>vpn-instance-name</a:t>
            </a:r>
            <a:r>
              <a:rPr lang="en-US" altLang="zh-CN" sz="1600" dirty="0"/>
              <a:t> </a:t>
            </a:r>
            <a:r>
              <a:rPr lang="en-US" altLang="zh-CN" sz="1600" i="1" dirty="0"/>
              <a:t>dest-ipv6-address</a:t>
            </a:r>
            <a:r>
              <a:rPr lang="en-US" altLang="zh-CN" sz="1600" dirty="0"/>
              <a:t> </a:t>
            </a:r>
            <a:r>
              <a:rPr lang="en-US" altLang="zh-CN" sz="1600" i="1" dirty="0"/>
              <a:t>prefix-length</a:t>
            </a:r>
            <a:r>
              <a:rPr lang="en-US" altLang="zh-CN" sz="1600" dirty="0"/>
              <a:t> { </a:t>
            </a:r>
            <a:r>
              <a:rPr lang="en-US" altLang="zh-CN" sz="1600" i="1" dirty="0"/>
              <a:t>interface-type</a:t>
            </a:r>
            <a:r>
              <a:rPr lang="en-US" altLang="zh-CN" sz="1600" dirty="0"/>
              <a:t> </a:t>
            </a:r>
            <a:r>
              <a:rPr lang="en-US" altLang="zh-CN" sz="1600" i="1" dirty="0"/>
              <a:t>interface-number</a:t>
            </a:r>
            <a:r>
              <a:rPr lang="en-US" altLang="zh-CN" sz="1600" dirty="0"/>
              <a:t> [ </a:t>
            </a:r>
            <a:r>
              <a:rPr lang="en-US" altLang="zh-CN" sz="1600" i="1" dirty="0"/>
              <a:t>nexthop-ipv6-address</a:t>
            </a:r>
            <a:r>
              <a:rPr lang="en-US" altLang="zh-CN" sz="1600" dirty="0"/>
              <a:t> ] | </a:t>
            </a:r>
            <a:r>
              <a:rPr lang="en-US" altLang="zh-CN" sz="1600" b="1" dirty="0"/>
              <a:t>vpn-instance</a:t>
            </a:r>
            <a:r>
              <a:rPr lang="en-US" altLang="zh-CN" sz="1600" dirty="0"/>
              <a:t> </a:t>
            </a:r>
            <a:r>
              <a:rPr lang="en-US" altLang="zh-CN" sz="1600" i="1" dirty="0"/>
              <a:t>vpn-destination-name</a:t>
            </a:r>
            <a:r>
              <a:rPr lang="en-US" altLang="zh-CN" sz="1600" dirty="0"/>
              <a:t> </a:t>
            </a:r>
            <a:r>
              <a:rPr lang="en-US" altLang="zh-CN" sz="1600" i="1" dirty="0"/>
              <a:t>nexthop-ipv6-address</a:t>
            </a:r>
            <a:r>
              <a:rPr lang="en-US" altLang="zh-CN" sz="1600" dirty="0"/>
              <a:t> | </a:t>
            </a:r>
            <a:r>
              <a:rPr lang="en-US" altLang="zh-CN" sz="1600" i="1" dirty="0"/>
              <a:t>nexthop-ipv6-address</a:t>
            </a:r>
            <a:r>
              <a:rPr lang="en-US" altLang="zh-CN" sz="1600" dirty="0"/>
              <a:t> </a:t>
            </a:r>
            <a:r>
              <a:rPr lang="en-US" altLang="zh-CN" sz="1600" dirty="0" smtClean="0"/>
              <a:t>} </a:t>
            </a:r>
            <a:r>
              <a:rPr lang="en-US" altLang="zh-CN" sz="1600" dirty="0"/>
              <a:t>[ </a:t>
            </a:r>
            <a:r>
              <a:rPr lang="en-US" altLang="zh-CN" sz="1600" b="1" dirty="0"/>
              <a:t>preference</a:t>
            </a:r>
            <a:r>
              <a:rPr lang="en-US" altLang="zh-CN" sz="1600" dirty="0"/>
              <a:t> </a:t>
            </a:r>
            <a:r>
              <a:rPr lang="en-US" altLang="zh-CN" sz="1600" i="1" dirty="0" err="1" smtClean="0"/>
              <a:t>preference</a:t>
            </a:r>
            <a:r>
              <a:rPr lang="en-US" altLang="zh-CN" sz="1600" dirty="0"/>
              <a:t> </a:t>
            </a:r>
            <a:r>
              <a:rPr lang="en-US" altLang="zh-CN" sz="1600" dirty="0" smtClean="0"/>
              <a:t>]</a:t>
            </a:r>
            <a:endParaRPr lang="en-US" altLang="zh-CN" sz="1600" dirty="0">
              <a:cs typeface="Courier New" panose="02070309020205020404" pitchFamily="49" charset="0"/>
            </a:endParaRPr>
          </a:p>
        </p:txBody>
      </p:sp>
      <p:sp>
        <p:nvSpPr>
          <p:cNvPr id="32" name="矩形 31"/>
          <p:cNvSpPr/>
          <p:nvPr/>
        </p:nvSpPr>
        <p:spPr>
          <a:xfrm>
            <a:off x="1031917" y="2418526"/>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地址族的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实例下配置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静态路由</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3" name="矩形 32"/>
          <p:cNvSpPr/>
          <p:nvPr/>
        </p:nvSpPr>
        <p:spPr>
          <a:xfrm>
            <a:off x="1031917" y="3064858"/>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PE-</a:t>
            </a:r>
            <a:r>
              <a:rPr lang="en-US" altLang="zh-CN" sz="1600" dirty="0" err="1" smtClean="0">
                <a:cs typeface="Courier New" panose="02070309020205020404" pitchFamily="49" charset="0"/>
              </a:rPr>
              <a:t>bgp</a:t>
            </a:r>
            <a:r>
              <a:rPr lang="en-US" altLang="zh-CN" sz="1600" dirty="0" smtClean="0">
                <a:cs typeface="Courier New" panose="02070309020205020404" pitchFamily="49" charset="0"/>
              </a:rPr>
              <a:t>] </a:t>
            </a:r>
            <a:r>
              <a:rPr lang="en-US" altLang="zh-CN" sz="1600" b="1" dirty="0"/>
              <a:t>ipv6-family</a:t>
            </a:r>
            <a:r>
              <a:rPr lang="en-US" altLang="zh-CN" sz="1600" dirty="0"/>
              <a:t> </a:t>
            </a:r>
            <a:r>
              <a:rPr lang="en-US" altLang="zh-CN" sz="1600" b="1" dirty="0"/>
              <a:t>vpn-instance</a:t>
            </a:r>
            <a:r>
              <a:rPr lang="en-US" altLang="zh-CN" sz="1600" dirty="0"/>
              <a:t> </a:t>
            </a:r>
            <a:r>
              <a:rPr lang="en-US" altLang="zh-CN" sz="1600" i="1" dirty="0" smtClean="0"/>
              <a:t>vpn-instance-name</a:t>
            </a:r>
          </a:p>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PE-bgp-bgp6-vpnb] </a:t>
            </a:r>
            <a:r>
              <a:rPr lang="en-US" altLang="zh-CN" sz="1600" b="1" dirty="0" smtClean="0">
                <a:cs typeface="Courier New" panose="02070309020205020404" pitchFamily="49" charset="0"/>
              </a:rPr>
              <a:t>import-route static </a:t>
            </a:r>
            <a:r>
              <a:rPr lang="en-US" altLang="zh-CN" sz="1600" dirty="0"/>
              <a:t>[ </a:t>
            </a:r>
            <a:r>
              <a:rPr lang="en-US" altLang="zh-CN" sz="1600" b="1" dirty="0"/>
              <a:t>med</a:t>
            </a:r>
            <a:r>
              <a:rPr lang="en-US" altLang="zh-CN" sz="1600" dirty="0"/>
              <a:t> </a:t>
            </a:r>
            <a:r>
              <a:rPr lang="en-US" altLang="zh-CN" sz="1600" i="1" dirty="0" err="1"/>
              <a:t>med</a:t>
            </a:r>
            <a:r>
              <a:rPr lang="en-US" altLang="zh-CN" sz="1600" dirty="0"/>
              <a:t> | </a:t>
            </a:r>
            <a:r>
              <a:rPr lang="en-US" altLang="zh-CN" sz="1600" b="1" dirty="0"/>
              <a:t>route-policy</a:t>
            </a:r>
            <a:r>
              <a:rPr lang="en-US" altLang="zh-CN" sz="1600" dirty="0"/>
              <a:t> </a:t>
            </a:r>
            <a:r>
              <a:rPr lang="en-US" altLang="zh-CN" sz="1600" i="1" dirty="0"/>
              <a:t>route-policy-name</a:t>
            </a:r>
            <a:r>
              <a:rPr lang="en-US" altLang="zh-CN" sz="1600" dirty="0"/>
              <a:t> ] </a:t>
            </a:r>
            <a:endParaRPr lang="en-US" altLang="zh-CN" sz="1600" dirty="0">
              <a:cs typeface="Courier New" panose="02070309020205020404" pitchFamily="49" charset="0"/>
            </a:endParaRPr>
          </a:p>
        </p:txBody>
      </p:sp>
      <p:sp>
        <p:nvSpPr>
          <p:cNvPr id="34" name="矩形 33"/>
          <p:cNvSpPr/>
          <p:nvPr/>
        </p:nvSpPr>
        <p:spPr>
          <a:xfrm>
            <a:off x="1031917" y="3654591"/>
            <a:ext cx="10608699" cy="1323439"/>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BGP-VPN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地址族视图，将配置的静态路由引入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BGP-VPN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实例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地址族路由表</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med</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med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：指定引入路由的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med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。整数形式，取值范围是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4294967295</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b="1" dirty="0"/>
              <a:t>route-policy</a:t>
            </a:r>
            <a:r>
              <a:rPr lang="en-US" altLang="zh-CN" sz="1600" dirty="0"/>
              <a:t> </a:t>
            </a:r>
            <a:r>
              <a:rPr lang="en-US" altLang="zh-CN" sz="1600" i="1" dirty="0" smtClean="0"/>
              <a:t>route-policy-name</a:t>
            </a:r>
            <a:r>
              <a:rPr lang="zh-CN" altLang="en-US" sz="1600" dirty="0"/>
              <a:t>：从其他路由协议引入路由时，可以使用该参数指定的</a:t>
            </a:r>
            <a:r>
              <a:rPr lang="en-US" altLang="zh-CN" sz="1600" dirty="0"/>
              <a:t>Route-Policy</a:t>
            </a:r>
            <a:r>
              <a:rPr lang="zh-CN" altLang="en-US" sz="1600" dirty="0"/>
              <a:t>过滤器过滤路由和修改路由属性。</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8070362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文本框 87"/>
          <p:cNvSpPr txBox="1"/>
          <p:nvPr/>
        </p:nvSpPr>
        <p:spPr bwMode="gray">
          <a:xfrm>
            <a:off x="3859822" y="2463742"/>
            <a:ext cx="2241972" cy="1672012"/>
          </a:xfrm>
          <a:prstGeom prst="rect">
            <a:avLst/>
          </a:prstGeom>
          <a:solidFill>
            <a:schemeClr val="bg1">
              <a:lumMod val="95000"/>
            </a:schemeClr>
          </a:solidFill>
          <a:ln>
            <a:solidFill>
              <a:schemeClr val="bg1">
                <a:lumMod val="75000"/>
              </a:schemeClr>
            </a:solidFill>
            <a:prstDash val="dash"/>
          </a:ln>
        </p:spPr>
        <p:txBody>
          <a:bodyPr wrap="square" rtlCol="0">
            <a:noAutofit/>
          </a:bodyPr>
          <a:lstStyle/>
          <a:p>
            <a:endParaRPr lang="en-US" altLang="zh-CN" sz="1200" dirty="0">
              <a:cs typeface="Arial" panose="020B0604020202020204" pitchFamily="34" charset="0"/>
            </a:endParaRPr>
          </a:p>
        </p:txBody>
      </p:sp>
      <p:sp>
        <p:nvSpPr>
          <p:cNvPr id="87" name="文本框 86"/>
          <p:cNvSpPr txBox="1"/>
          <p:nvPr/>
        </p:nvSpPr>
        <p:spPr bwMode="gray">
          <a:xfrm>
            <a:off x="455614" y="2463742"/>
            <a:ext cx="2270170" cy="1672012"/>
          </a:xfrm>
          <a:prstGeom prst="rect">
            <a:avLst/>
          </a:prstGeom>
          <a:solidFill>
            <a:schemeClr val="bg1">
              <a:lumMod val="95000"/>
            </a:schemeClr>
          </a:solidFill>
          <a:ln>
            <a:solidFill>
              <a:schemeClr val="bg1">
                <a:lumMod val="75000"/>
              </a:schemeClr>
            </a:solidFill>
            <a:prstDash val="dash"/>
          </a:ln>
        </p:spPr>
        <p:txBody>
          <a:bodyPr wrap="square" rtlCol="0">
            <a:noAutofit/>
          </a:bodyPr>
          <a:lstStyle/>
          <a:p>
            <a:endParaRPr lang="en-US" altLang="zh-CN" sz="1200" dirty="0">
              <a:cs typeface="Arial" panose="020B0604020202020204" pitchFamily="34" charset="0"/>
            </a:endParaRPr>
          </a:p>
        </p:txBody>
      </p:sp>
      <p:sp>
        <p:nvSpPr>
          <p:cNvPr id="60" name="文本框 59"/>
          <p:cNvSpPr txBox="1"/>
          <p:nvPr/>
        </p:nvSpPr>
        <p:spPr bwMode="gray">
          <a:xfrm>
            <a:off x="455614" y="1067356"/>
            <a:ext cx="5631486" cy="1247691"/>
          </a:xfrm>
          <a:prstGeom prst="rect">
            <a:avLst/>
          </a:prstGeom>
          <a:solidFill>
            <a:srgbClr val="F2FBFC"/>
          </a:solidFill>
          <a:ln>
            <a:solidFill>
              <a:srgbClr val="94DAE2"/>
            </a:solidFill>
            <a:prstDash val="dash"/>
          </a:ln>
        </p:spPr>
        <p:txBody>
          <a:bodyPr wrap="square" rtlCol="0">
            <a:noAutofit/>
          </a:bodyPr>
          <a:lstStyle/>
          <a:p>
            <a:endParaRPr lang="en-US" altLang="zh-CN" sz="1200" dirty="0">
              <a:cs typeface="Arial" panose="020B0604020202020204" pitchFamily="34" charset="0"/>
            </a:endParaRPr>
          </a:p>
        </p:txBody>
      </p:sp>
      <p:sp>
        <p:nvSpPr>
          <p:cNvPr id="2" name="标题 1"/>
          <p:cNvSpPr>
            <a:spLocks noGrp="1"/>
          </p:cNvSpPr>
          <p:nvPr>
            <p:ph type="title"/>
          </p:nvPr>
        </p:nvSpPr>
        <p:spPr bwMode="gray"/>
        <p:txBody>
          <a:bodyPr/>
          <a:lstStyle/>
          <a:p>
            <a:r>
              <a:rPr lang="en-US" altLang="zh-CN" smtClean="0"/>
              <a:t>6VPE</a:t>
            </a:r>
            <a:r>
              <a:rPr lang="zh-CN" altLang="en-US" smtClean="0"/>
              <a:t>配置举例 </a:t>
            </a:r>
            <a:r>
              <a:rPr lang="en-US" altLang="zh-CN" smtClean="0"/>
              <a:t>(1)</a:t>
            </a:r>
            <a:endParaRPr lang="zh-CN" altLang="en-US" dirty="0"/>
          </a:p>
        </p:txBody>
      </p:sp>
      <p:sp>
        <p:nvSpPr>
          <p:cNvPr id="44" name="文本占位符 43"/>
          <p:cNvSpPr>
            <a:spLocks noGrp="1"/>
          </p:cNvSpPr>
          <p:nvPr>
            <p:ph type="body" sz="quarter" idx="10"/>
          </p:nvPr>
        </p:nvSpPr>
        <p:spPr bwMode="gray">
          <a:xfrm>
            <a:off x="455613" y="4150716"/>
            <a:ext cx="5646182" cy="2050059"/>
          </a:xfrm>
        </p:spPr>
        <p:txBody>
          <a:bodyPr/>
          <a:lstStyle/>
          <a:p>
            <a:r>
              <a:rPr lang="zh-CN" altLang="en-US" sz="1600" dirty="0" smtClean="0"/>
              <a:t>配置需求：</a:t>
            </a:r>
            <a:endParaRPr lang="en-US" altLang="zh-CN" sz="1600" dirty="0" smtClean="0"/>
          </a:p>
          <a:p>
            <a:pPr lvl="1"/>
            <a:r>
              <a:rPr lang="zh-CN" altLang="en-US" sz="1400" dirty="0" smtClean="0"/>
              <a:t>不同用户站点希望通过公网进行</a:t>
            </a:r>
            <a:r>
              <a:rPr lang="en-US" altLang="zh-CN" sz="1400" dirty="0" smtClean="0"/>
              <a:t>IPv6</a:t>
            </a:r>
            <a:r>
              <a:rPr lang="zh-CN" altLang="en-US" sz="1400" dirty="0" smtClean="0"/>
              <a:t>的数据通信，而又不希望公网感知到站点内部的路由信息，且希望实现业务隔离。</a:t>
            </a:r>
            <a:endParaRPr lang="en-US" altLang="zh-CN" sz="1400" dirty="0" smtClean="0"/>
          </a:p>
          <a:p>
            <a:pPr lvl="1"/>
            <a:r>
              <a:rPr lang="zh-CN" altLang="en-US" sz="1400" dirty="0" smtClean="0"/>
              <a:t>如图所示，</a:t>
            </a:r>
            <a:r>
              <a:rPr lang="en-US" altLang="zh-CN" sz="1400" dirty="0" smtClean="0"/>
              <a:t>CE1</a:t>
            </a:r>
            <a:r>
              <a:rPr lang="zh-CN" altLang="en-US" sz="1400" dirty="0" smtClean="0"/>
              <a:t>和</a:t>
            </a:r>
            <a:r>
              <a:rPr lang="en-US" altLang="zh-CN" sz="1400" dirty="0" smtClean="0"/>
              <a:t>CE2</a:t>
            </a:r>
            <a:r>
              <a:rPr lang="zh-CN" altLang="en-US" sz="1400" dirty="0" smtClean="0"/>
              <a:t>属于</a:t>
            </a:r>
            <a:r>
              <a:rPr lang="en-US" altLang="zh-CN" sz="1400" dirty="0" err="1" smtClean="0"/>
              <a:t>vpna</a:t>
            </a:r>
            <a:r>
              <a:rPr lang="zh-CN" altLang="en-US" sz="1400" dirty="0" smtClean="0"/>
              <a:t>。希望通过配置</a:t>
            </a:r>
            <a:r>
              <a:rPr lang="en-US" altLang="zh-CN" sz="1400" dirty="0" smtClean="0"/>
              <a:t>6VPE</a:t>
            </a:r>
            <a:r>
              <a:rPr lang="zh-CN" altLang="en-US" sz="1400" dirty="0" smtClean="0"/>
              <a:t>，使得</a:t>
            </a:r>
            <a:r>
              <a:rPr lang="en-US" altLang="zh-CN" sz="1400" dirty="0" err="1" smtClean="0"/>
              <a:t>vpna</a:t>
            </a:r>
            <a:r>
              <a:rPr lang="zh-CN" altLang="en-US" sz="1400" dirty="0" smtClean="0"/>
              <a:t>的内部站点可以通过</a:t>
            </a:r>
            <a:r>
              <a:rPr lang="en-US" altLang="zh-CN" sz="1400" dirty="0" smtClean="0"/>
              <a:t>MPLS</a:t>
            </a:r>
            <a:r>
              <a:rPr lang="zh-CN" altLang="en-US" sz="1400" dirty="0" smtClean="0"/>
              <a:t>骨干网互相访问，同时希望</a:t>
            </a:r>
            <a:r>
              <a:rPr lang="en-US" altLang="zh-CN" sz="1400" dirty="0" smtClean="0"/>
              <a:t>PE</a:t>
            </a:r>
            <a:r>
              <a:rPr lang="zh-CN" altLang="en-US" sz="1400" dirty="0" smtClean="0"/>
              <a:t>与</a:t>
            </a:r>
            <a:r>
              <a:rPr lang="en-US" altLang="zh-CN" sz="1400" dirty="0" smtClean="0"/>
              <a:t>CE</a:t>
            </a:r>
            <a:r>
              <a:rPr lang="zh-CN" altLang="en-US" sz="1400" dirty="0" smtClean="0"/>
              <a:t>之间采用静态路由的方式来交换路由。</a:t>
            </a:r>
            <a:endParaRPr lang="zh-CN" altLang="en-US" sz="1400" dirty="0"/>
          </a:p>
        </p:txBody>
      </p:sp>
      <p:cxnSp>
        <p:nvCxnSpPr>
          <p:cNvPr id="39" name="直接连接符 38"/>
          <p:cNvCxnSpPr>
            <a:stCxn id="41" idx="2"/>
            <a:endCxn id="70" idx="0"/>
          </p:cNvCxnSpPr>
          <p:nvPr/>
        </p:nvCxnSpPr>
        <p:spPr bwMode="gray">
          <a:xfrm>
            <a:off x="2308652" y="1832808"/>
            <a:ext cx="0" cy="131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8652" y="1390008"/>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9748" y="1390008"/>
            <a:ext cx="540000" cy="442800"/>
          </a:xfrm>
          <a:prstGeom prst="rect">
            <a:avLst/>
          </a:prstGeom>
        </p:spPr>
      </p:pic>
      <p:cxnSp>
        <p:nvCxnSpPr>
          <p:cNvPr id="45" name="直接连接符 44"/>
          <p:cNvCxnSpPr>
            <a:stCxn id="41" idx="3"/>
            <a:endCxn id="43" idx="1"/>
          </p:cNvCxnSpPr>
          <p:nvPr/>
        </p:nvCxnSpPr>
        <p:spPr bwMode="gray">
          <a:xfrm>
            <a:off x="2578652" y="1611408"/>
            <a:ext cx="14410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bwMode="gray">
          <a:xfrm>
            <a:off x="2513764" y="1162301"/>
            <a:ext cx="955711" cy="461665"/>
          </a:xfrm>
          <a:prstGeom prst="rect">
            <a:avLst/>
          </a:prstGeom>
          <a:noFill/>
        </p:spPr>
        <p:txBody>
          <a:bodyPr wrap="none" rtlCol="0">
            <a:spAutoFit/>
          </a:bodyPr>
          <a:lstStyle/>
          <a:p>
            <a:r>
              <a:rPr lang="en-US" altLang="zh-CN" sz="1200" dirty="0" smtClean="0">
                <a:cs typeface="Arial" panose="020B0604020202020204" pitchFamily="34" charset="0"/>
              </a:rPr>
              <a:t>GE0/0/2</a:t>
            </a:r>
          </a:p>
          <a:p>
            <a:r>
              <a:rPr lang="en-US" sz="1200" dirty="0" smtClean="0">
                <a:cs typeface="Arial" panose="020B0604020202020204" pitchFamily="34" charset="0"/>
              </a:rPr>
              <a:t>10.0.0.1/30</a:t>
            </a:r>
            <a:endParaRPr lang="en-US" sz="1200" dirty="0">
              <a:cs typeface="Arial" panose="020B0604020202020204" pitchFamily="34" charset="0"/>
            </a:endParaRPr>
          </a:p>
        </p:txBody>
      </p:sp>
      <p:sp>
        <p:nvSpPr>
          <p:cNvPr id="48" name="文本框 47"/>
          <p:cNvSpPr txBox="1"/>
          <p:nvPr/>
        </p:nvSpPr>
        <p:spPr bwMode="gray">
          <a:xfrm>
            <a:off x="3109171" y="1578942"/>
            <a:ext cx="955711" cy="461665"/>
          </a:xfrm>
          <a:prstGeom prst="rect">
            <a:avLst/>
          </a:prstGeom>
          <a:noFill/>
        </p:spPr>
        <p:txBody>
          <a:bodyPr wrap="none" rtlCol="0">
            <a:spAutoFit/>
          </a:bodyPr>
          <a:lstStyle/>
          <a:p>
            <a:pPr algn="r"/>
            <a:r>
              <a:rPr lang="en-US" altLang="zh-CN" sz="1200" dirty="0" smtClean="0">
                <a:cs typeface="Arial" panose="020B0604020202020204" pitchFamily="34" charset="0"/>
              </a:rPr>
              <a:t>GE0/0/2</a:t>
            </a:r>
          </a:p>
          <a:p>
            <a:pPr algn="r"/>
            <a:r>
              <a:rPr lang="en-US" sz="1200" dirty="0" smtClean="0">
                <a:cs typeface="Arial" panose="020B0604020202020204" pitchFamily="34" charset="0"/>
              </a:rPr>
              <a:t>10.0.0.2/30</a:t>
            </a:r>
            <a:endParaRPr lang="en-US" sz="1200" dirty="0">
              <a:cs typeface="Arial" panose="020B0604020202020204" pitchFamily="34" charset="0"/>
            </a:endParaRPr>
          </a:p>
        </p:txBody>
      </p:sp>
      <p:grpSp>
        <p:nvGrpSpPr>
          <p:cNvPr id="4" name="组合 3"/>
          <p:cNvGrpSpPr/>
          <p:nvPr/>
        </p:nvGrpSpPr>
        <p:grpSpPr bwMode="gray">
          <a:xfrm>
            <a:off x="4559748" y="1509556"/>
            <a:ext cx="114397" cy="216000"/>
            <a:chOff x="8351023" y="4222121"/>
            <a:chExt cx="114397" cy="216000"/>
          </a:xfrm>
        </p:grpSpPr>
        <p:cxnSp>
          <p:nvCxnSpPr>
            <p:cNvPr id="50" name="直接连接符 49"/>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bwMode="gray">
          <a:xfrm flipH="1">
            <a:off x="1917858" y="1509556"/>
            <a:ext cx="114397" cy="216000"/>
            <a:chOff x="8351023" y="4222121"/>
            <a:chExt cx="114397" cy="216000"/>
          </a:xfrm>
        </p:grpSpPr>
        <p:cxnSp>
          <p:nvCxnSpPr>
            <p:cNvPr id="57" name="直接连接符 56"/>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 name="文本框 58"/>
          <p:cNvSpPr txBox="1"/>
          <p:nvPr/>
        </p:nvSpPr>
        <p:spPr bwMode="gray">
          <a:xfrm>
            <a:off x="4674145" y="1393133"/>
            <a:ext cx="939681" cy="461665"/>
          </a:xfrm>
          <a:prstGeom prst="rect">
            <a:avLst/>
          </a:prstGeom>
          <a:noFill/>
        </p:spPr>
        <p:txBody>
          <a:bodyPr wrap="none" rtlCol="0">
            <a:spAutoFit/>
          </a:bodyPr>
          <a:lstStyle/>
          <a:p>
            <a:r>
              <a:rPr lang="en-US" altLang="zh-CN" sz="1200" dirty="0" smtClean="0">
                <a:cs typeface="Arial" panose="020B0604020202020204" pitchFamily="34" charset="0"/>
              </a:rPr>
              <a:t>Loopback0</a:t>
            </a:r>
            <a:endParaRPr lang="en-US" altLang="zh-CN" sz="1200" dirty="0">
              <a:cs typeface="Arial" panose="020B0604020202020204" pitchFamily="34" charset="0"/>
            </a:endParaRPr>
          </a:p>
          <a:p>
            <a:r>
              <a:rPr lang="en-US" sz="1200" dirty="0" smtClean="0">
                <a:cs typeface="Arial" panose="020B0604020202020204" pitchFamily="34" charset="0"/>
              </a:rPr>
              <a:t>3.3.3.3/32</a:t>
            </a:r>
            <a:endParaRPr lang="en-US" sz="1200" dirty="0">
              <a:cs typeface="Arial" panose="020B0604020202020204" pitchFamily="34" charset="0"/>
            </a:endParaRPr>
          </a:p>
        </p:txBody>
      </p:sp>
      <p:sp>
        <p:nvSpPr>
          <p:cNvPr id="69" name="文本框 68"/>
          <p:cNvSpPr txBox="1"/>
          <p:nvPr/>
        </p:nvSpPr>
        <p:spPr bwMode="gray">
          <a:xfrm>
            <a:off x="971780" y="1393133"/>
            <a:ext cx="939681" cy="461665"/>
          </a:xfrm>
          <a:prstGeom prst="rect">
            <a:avLst/>
          </a:prstGeom>
          <a:noFill/>
        </p:spPr>
        <p:txBody>
          <a:bodyPr wrap="none" rtlCol="0">
            <a:spAutoFit/>
          </a:bodyPr>
          <a:lstStyle/>
          <a:p>
            <a:pPr algn="r"/>
            <a:r>
              <a:rPr lang="en-US" altLang="zh-CN" sz="1200" dirty="0" smtClean="0">
                <a:cs typeface="Arial" panose="020B0604020202020204" pitchFamily="34" charset="0"/>
              </a:rPr>
              <a:t>Loopback0</a:t>
            </a:r>
            <a:endParaRPr lang="en-US" altLang="zh-CN" sz="1200" dirty="0">
              <a:cs typeface="Arial" panose="020B0604020202020204" pitchFamily="34" charset="0"/>
            </a:endParaRPr>
          </a:p>
          <a:p>
            <a:pPr algn="r"/>
            <a:r>
              <a:rPr lang="en-US" sz="1200" dirty="0" smtClean="0">
                <a:cs typeface="Arial" panose="020B0604020202020204" pitchFamily="34" charset="0"/>
              </a:rPr>
              <a:t>2.2.2.2/32</a:t>
            </a:r>
            <a:endParaRPr lang="en-US" sz="1200" dirty="0">
              <a:cs typeface="Arial" panose="020B0604020202020204" pitchFamily="34" charset="0"/>
            </a:endParaRPr>
          </a:p>
        </p:txBody>
      </p:sp>
      <p:pic>
        <p:nvPicPr>
          <p:cNvPr id="70" name="图片 6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8652" y="3148586"/>
            <a:ext cx="540000" cy="442800"/>
          </a:xfrm>
          <a:prstGeom prst="rect">
            <a:avLst/>
          </a:prstGeom>
        </p:spPr>
      </p:pic>
      <p:sp>
        <p:nvSpPr>
          <p:cNvPr id="73" name="文本框 72"/>
          <p:cNvSpPr txBox="1"/>
          <p:nvPr/>
        </p:nvSpPr>
        <p:spPr bwMode="gray">
          <a:xfrm>
            <a:off x="936905" y="1837948"/>
            <a:ext cx="1369286" cy="461665"/>
          </a:xfrm>
          <a:prstGeom prst="rect">
            <a:avLst/>
          </a:prstGeom>
          <a:noFill/>
        </p:spPr>
        <p:txBody>
          <a:bodyPr wrap="none" rtlCol="0">
            <a:spAutoFit/>
          </a:bodyPr>
          <a:lstStyle/>
          <a:p>
            <a:pPr algn="r"/>
            <a:r>
              <a:rPr lang="en-US" altLang="zh-CN" sz="1200" dirty="0" smtClean="0">
                <a:cs typeface="Arial" panose="020B0604020202020204" pitchFamily="34" charset="0"/>
              </a:rPr>
              <a:t>GE0/0/1</a:t>
            </a:r>
          </a:p>
          <a:p>
            <a:pPr algn="r"/>
            <a:r>
              <a:rPr lang="en-US" sz="1200" dirty="0" smtClean="0">
                <a:cs typeface="Arial" panose="020B0604020202020204" pitchFamily="34" charset="0"/>
              </a:rPr>
              <a:t>2001:DB8:1::2/64</a:t>
            </a:r>
            <a:endParaRPr lang="en-US" sz="1200" dirty="0">
              <a:cs typeface="Arial" panose="020B0604020202020204" pitchFamily="34" charset="0"/>
            </a:endParaRPr>
          </a:p>
        </p:txBody>
      </p:sp>
      <p:cxnSp>
        <p:nvCxnSpPr>
          <p:cNvPr id="74" name="直接连接符 73"/>
          <p:cNvCxnSpPr>
            <a:stCxn id="43" idx="2"/>
            <a:endCxn id="75" idx="0"/>
          </p:cNvCxnSpPr>
          <p:nvPr/>
        </p:nvCxnSpPr>
        <p:spPr bwMode="gray">
          <a:xfrm>
            <a:off x="4289748" y="1832808"/>
            <a:ext cx="0" cy="131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7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9748" y="3148586"/>
            <a:ext cx="540000" cy="442800"/>
          </a:xfrm>
          <a:prstGeom prst="rect">
            <a:avLst/>
          </a:prstGeom>
        </p:spPr>
      </p:pic>
      <p:sp>
        <p:nvSpPr>
          <p:cNvPr id="76" name="文本框 75"/>
          <p:cNvSpPr txBox="1"/>
          <p:nvPr/>
        </p:nvSpPr>
        <p:spPr bwMode="gray">
          <a:xfrm>
            <a:off x="4290816" y="1837948"/>
            <a:ext cx="1369286" cy="461665"/>
          </a:xfrm>
          <a:prstGeom prst="rect">
            <a:avLst/>
          </a:prstGeom>
          <a:noFill/>
        </p:spPr>
        <p:txBody>
          <a:bodyPr wrap="none" rtlCol="0">
            <a:spAutoFit/>
          </a:bodyPr>
          <a:lstStyle/>
          <a:p>
            <a:r>
              <a:rPr lang="en-US" altLang="zh-CN" sz="1200" dirty="0" smtClean="0">
                <a:cs typeface="Arial" panose="020B0604020202020204" pitchFamily="34" charset="0"/>
              </a:rPr>
              <a:t>GE0/0/1</a:t>
            </a:r>
          </a:p>
          <a:p>
            <a:r>
              <a:rPr lang="en-US" sz="1200" dirty="0" smtClean="0">
                <a:cs typeface="Arial" panose="020B0604020202020204" pitchFamily="34" charset="0"/>
              </a:rPr>
              <a:t>2001:DB8:2::2/64</a:t>
            </a:r>
            <a:endParaRPr lang="en-US" sz="1200" dirty="0">
              <a:cs typeface="Arial" panose="020B0604020202020204" pitchFamily="34" charset="0"/>
            </a:endParaRPr>
          </a:p>
        </p:txBody>
      </p:sp>
      <p:sp>
        <p:nvSpPr>
          <p:cNvPr id="77" name="文本框 76"/>
          <p:cNvSpPr txBox="1"/>
          <p:nvPr/>
        </p:nvSpPr>
        <p:spPr bwMode="gray">
          <a:xfrm>
            <a:off x="936905" y="2690133"/>
            <a:ext cx="1369286" cy="461665"/>
          </a:xfrm>
          <a:prstGeom prst="rect">
            <a:avLst/>
          </a:prstGeom>
          <a:noFill/>
        </p:spPr>
        <p:txBody>
          <a:bodyPr wrap="none" rtlCol="0">
            <a:spAutoFit/>
          </a:bodyPr>
          <a:lstStyle/>
          <a:p>
            <a:pPr algn="r"/>
            <a:r>
              <a:rPr lang="en-US" altLang="zh-CN" sz="1200" dirty="0" smtClean="0">
                <a:cs typeface="Arial" panose="020B0604020202020204" pitchFamily="34" charset="0"/>
              </a:rPr>
              <a:t>GE0/0/1</a:t>
            </a:r>
          </a:p>
          <a:p>
            <a:pPr algn="r"/>
            <a:r>
              <a:rPr lang="en-US" sz="1200" dirty="0" smtClean="0">
                <a:cs typeface="Arial" panose="020B0604020202020204" pitchFamily="34" charset="0"/>
              </a:rPr>
              <a:t>2001:DB8:1::1/64</a:t>
            </a:r>
            <a:endParaRPr lang="en-US" sz="1200" dirty="0">
              <a:cs typeface="Arial" panose="020B0604020202020204" pitchFamily="34" charset="0"/>
            </a:endParaRPr>
          </a:p>
        </p:txBody>
      </p:sp>
      <p:sp>
        <p:nvSpPr>
          <p:cNvPr id="78" name="文本框 77"/>
          <p:cNvSpPr txBox="1"/>
          <p:nvPr/>
        </p:nvSpPr>
        <p:spPr bwMode="gray">
          <a:xfrm>
            <a:off x="4290816" y="2690133"/>
            <a:ext cx="1369286" cy="461665"/>
          </a:xfrm>
          <a:prstGeom prst="rect">
            <a:avLst/>
          </a:prstGeom>
          <a:noFill/>
        </p:spPr>
        <p:txBody>
          <a:bodyPr wrap="none" rtlCol="0">
            <a:spAutoFit/>
          </a:bodyPr>
          <a:lstStyle/>
          <a:p>
            <a:r>
              <a:rPr lang="en-US" altLang="zh-CN" sz="1200" dirty="0" smtClean="0">
                <a:cs typeface="Arial" panose="020B0604020202020204" pitchFamily="34" charset="0"/>
              </a:rPr>
              <a:t>GE0/0/1</a:t>
            </a:r>
          </a:p>
          <a:p>
            <a:r>
              <a:rPr lang="en-US" sz="1200" dirty="0" smtClean="0">
                <a:cs typeface="Arial" panose="020B0604020202020204" pitchFamily="34" charset="0"/>
              </a:rPr>
              <a:t>2001:DB8:2::1/64</a:t>
            </a:r>
            <a:endParaRPr lang="en-US" sz="1200" dirty="0">
              <a:cs typeface="Arial" panose="020B0604020202020204" pitchFamily="34" charset="0"/>
            </a:endParaRPr>
          </a:p>
        </p:txBody>
      </p:sp>
      <p:grpSp>
        <p:nvGrpSpPr>
          <p:cNvPr id="79" name="组合 78"/>
          <p:cNvGrpSpPr/>
          <p:nvPr/>
        </p:nvGrpSpPr>
        <p:grpSpPr bwMode="gray">
          <a:xfrm flipH="1">
            <a:off x="1917858" y="3270921"/>
            <a:ext cx="114397" cy="216000"/>
            <a:chOff x="8351023" y="4222121"/>
            <a:chExt cx="114397" cy="216000"/>
          </a:xfrm>
        </p:grpSpPr>
        <p:cxnSp>
          <p:nvCxnSpPr>
            <p:cNvPr id="80" name="直接连接符 79"/>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 name="文本框 81"/>
          <p:cNvSpPr txBox="1"/>
          <p:nvPr/>
        </p:nvSpPr>
        <p:spPr bwMode="gray">
          <a:xfrm>
            <a:off x="455613" y="3154498"/>
            <a:ext cx="1455848" cy="461665"/>
          </a:xfrm>
          <a:prstGeom prst="rect">
            <a:avLst/>
          </a:prstGeom>
          <a:noFill/>
        </p:spPr>
        <p:txBody>
          <a:bodyPr wrap="none" rtlCol="0">
            <a:spAutoFit/>
          </a:bodyPr>
          <a:lstStyle/>
          <a:p>
            <a:pPr algn="r"/>
            <a:r>
              <a:rPr lang="en-US" altLang="zh-CN" sz="1200" dirty="0" smtClean="0">
                <a:cs typeface="Arial" panose="020B0604020202020204" pitchFamily="34" charset="0"/>
              </a:rPr>
              <a:t>Loopback1</a:t>
            </a:r>
            <a:endParaRPr lang="en-US" altLang="zh-CN" sz="1200" dirty="0">
              <a:cs typeface="Arial" panose="020B0604020202020204" pitchFamily="34" charset="0"/>
            </a:endParaRPr>
          </a:p>
          <a:p>
            <a:pPr algn="r"/>
            <a:r>
              <a:rPr lang="en-US" altLang="zh-CN" sz="1200" dirty="0" smtClean="0">
                <a:cs typeface="Arial" panose="020B0604020202020204" pitchFamily="34" charset="0"/>
              </a:rPr>
              <a:t>2001:DB8:5::5/128</a:t>
            </a:r>
            <a:endParaRPr lang="en-US" altLang="zh-CN" sz="1200" dirty="0">
              <a:cs typeface="Arial" panose="020B0604020202020204" pitchFamily="34" charset="0"/>
            </a:endParaRPr>
          </a:p>
        </p:txBody>
      </p:sp>
      <p:grpSp>
        <p:nvGrpSpPr>
          <p:cNvPr id="83" name="组合 82"/>
          <p:cNvGrpSpPr/>
          <p:nvPr/>
        </p:nvGrpSpPr>
        <p:grpSpPr bwMode="gray">
          <a:xfrm>
            <a:off x="4559748" y="3270921"/>
            <a:ext cx="114397" cy="216000"/>
            <a:chOff x="8351023" y="4222121"/>
            <a:chExt cx="114397" cy="216000"/>
          </a:xfrm>
        </p:grpSpPr>
        <p:cxnSp>
          <p:nvCxnSpPr>
            <p:cNvPr id="84" name="直接连接符 83"/>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文本框 85"/>
          <p:cNvSpPr txBox="1"/>
          <p:nvPr/>
        </p:nvSpPr>
        <p:spPr bwMode="gray">
          <a:xfrm>
            <a:off x="4674145" y="3154498"/>
            <a:ext cx="1455848" cy="461665"/>
          </a:xfrm>
          <a:prstGeom prst="rect">
            <a:avLst/>
          </a:prstGeom>
          <a:noFill/>
        </p:spPr>
        <p:txBody>
          <a:bodyPr wrap="none" rtlCol="0">
            <a:spAutoFit/>
          </a:bodyPr>
          <a:lstStyle/>
          <a:p>
            <a:r>
              <a:rPr lang="en-US" altLang="zh-CN" sz="1200" dirty="0" smtClean="0">
                <a:cs typeface="Arial" panose="020B0604020202020204" pitchFamily="34" charset="0"/>
              </a:rPr>
              <a:t>Loopback1</a:t>
            </a:r>
            <a:endParaRPr lang="en-US" altLang="zh-CN" sz="1200" dirty="0">
              <a:cs typeface="Arial" panose="020B0604020202020204" pitchFamily="34" charset="0"/>
            </a:endParaRPr>
          </a:p>
          <a:p>
            <a:r>
              <a:rPr lang="en-US" altLang="zh-CN" sz="1200" dirty="0" smtClean="0">
                <a:cs typeface="Arial" panose="020B0604020202020204" pitchFamily="34" charset="0"/>
              </a:rPr>
              <a:t>2001:DB8:6::6/128</a:t>
            </a:r>
            <a:endParaRPr lang="en-US" altLang="zh-CN" sz="1200" dirty="0">
              <a:cs typeface="Arial" panose="020B0604020202020204" pitchFamily="34" charset="0"/>
            </a:endParaRPr>
          </a:p>
        </p:txBody>
      </p:sp>
      <p:sp>
        <p:nvSpPr>
          <p:cNvPr id="89" name="文本框 88"/>
          <p:cNvSpPr txBox="1"/>
          <p:nvPr/>
        </p:nvSpPr>
        <p:spPr bwMode="gray">
          <a:xfrm>
            <a:off x="493628" y="1086536"/>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200</a:t>
            </a:r>
            <a:endParaRPr lang="en-US" sz="1200" b="1" dirty="0">
              <a:cs typeface="Arial" panose="020B0604020202020204" pitchFamily="34" charset="0"/>
            </a:endParaRPr>
          </a:p>
        </p:txBody>
      </p:sp>
      <p:sp>
        <p:nvSpPr>
          <p:cNvPr id="90" name="文本框 89"/>
          <p:cNvSpPr txBox="1"/>
          <p:nvPr/>
        </p:nvSpPr>
        <p:spPr bwMode="gray">
          <a:xfrm>
            <a:off x="493628" y="2478704"/>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100</a:t>
            </a:r>
            <a:endParaRPr lang="en-US" sz="1200" b="1" dirty="0">
              <a:cs typeface="Arial" panose="020B0604020202020204" pitchFamily="34" charset="0"/>
            </a:endParaRPr>
          </a:p>
        </p:txBody>
      </p:sp>
      <p:sp>
        <p:nvSpPr>
          <p:cNvPr id="91" name="文本框 90"/>
          <p:cNvSpPr txBox="1"/>
          <p:nvPr/>
        </p:nvSpPr>
        <p:spPr bwMode="gray">
          <a:xfrm>
            <a:off x="5372963" y="2478704"/>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300</a:t>
            </a:r>
            <a:endParaRPr lang="en-US" sz="1200" b="1" dirty="0">
              <a:cs typeface="Arial" panose="020B0604020202020204" pitchFamily="34" charset="0"/>
            </a:endParaRPr>
          </a:p>
        </p:txBody>
      </p:sp>
      <p:sp>
        <p:nvSpPr>
          <p:cNvPr id="92" name="文本框 91"/>
          <p:cNvSpPr txBox="1"/>
          <p:nvPr/>
        </p:nvSpPr>
        <p:spPr bwMode="gray">
          <a:xfrm>
            <a:off x="2045951" y="3577838"/>
            <a:ext cx="545342" cy="461665"/>
          </a:xfrm>
          <a:prstGeom prst="rect">
            <a:avLst/>
          </a:prstGeom>
          <a:noFill/>
        </p:spPr>
        <p:txBody>
          <a:bodyPr wrap="none" rtlCol="0">
            <a:spAutoFit/>
          </a:bodyPr>
          <a:lstStyle/>
          <a:p>
            <a:pPr algn="ctr"/>
            <a:r>
              <a:rPr lang="en-US" altLang="zh-CN" sz="1200" b="1" dirty="0" smtClean="0">
                <a:cs typeface="Arial" panose="020B0604020202020204" pitchFamily="34" charset="0"/>
              </a:rPr>
              <a:t>CE1</a:t>
            </a:r>
          </a:p>
          <a:p>
            <a:pPr algn="ctr"/>
            <a:r>
              <a:rPr lang="en-US" altLang="zh-CN" sz="1200" b="1" dirty="0" err="1" smtClean="0">
                <a:cs typeface="Arial" panose="020B0604020202020204" pitchFamily="34" charset="0"/>
              </a:rPr>
              <a:t>vpna</a:t>
            </a:r>
            <a:endParaRPr lang="en-US" sz="1200" b="1" dirty="0">
              <a:cs typeface="Arial" panose="020B0604020202020204" pitchFamily="34" charset="0"/>
            </a:endParaRPr>
          </a:p>
        </p:txBody>
      </p:sp>
      <p:sp>
        <p:nvSpPr>
          <p:cNvPr id="94" name="文本框 93"/>
          <p:cNvSpPr txBox="1"/>
          <p:nvPr/>
        </p:nvSpPr>
        <p:spPr bwMode="gray">
          <a:xfrm>
            <a:off x="2082468" y="1128506"/>
            <a:ext cx="452368" cy="276999"/>
          </a:xfrm>
          <a:prstGeom prst="rect">
            <a:avLst/>
          </a:prstGeom>
          <a:noFill/>
        </p:spPr>
        <p:txBody>
          <a:bodyPr wrap="none" rtlCol="0">
            <a:spAutoFit/>
          </a:bodyPr>
          <a:lstStyle/>
          <a:p>
            <a:pPr algn="ctr"/>
            <a:r>
              <a:rPr lang="en-US" altLang="zh-CN" sz="1200" b="1" dirty="0">
                <a:cs typeface="Arial" panose="020B0604020202020204" pitchFamily="34" charset="0"/>
              </a:rPr>
              <a:t>P</a:t>
            </a:r>
            <a:r>
              <a:rPr lang="en-US" altLang="zh-CN" sz="1200" b="1" dirty="0" smtClean="0">
                <a:cs typeface="Arial" panose="020B0604020202020204" pitchFamily="34" charset="0"/>
              </a:rPr>
              <a:t>E1</a:t>
            </a:r>
            <a:endParaRPr lang="en-US" sz="1200" b="1" dirty="0">
              <a:cs typeface="Arial" panose="020B0604020202020204" pitchFamily="34" charset="0"/>
            </a:endParaRPr>
          </a:p>
        </p:txBody>
      </p:sp>
      <p:sp>
        <p:nvSpPr>
          <p:cNvPr id="95" name="文本框 94"/>
          <p:cNvSpPr txBox="1"/>
          <p:nvPr/>
        </p:nvSpPr>
        <p:spPr bwMode="gray">
          <a:xfrm>
            <a:off x="4064882" y="1128506"/>
            <a:ext cx="455574" cy="276999"/>
          </a:xfrm>
          <a:prstGeom prst="rect">
            <a:avLst/>
          </a:prstGeom>
          <a:noFill/>
        </p:spPr>
        <p:txBody>
          <a:bodyPr wrap="none" rtlCol="0">
            <a:spAutoFit/>
          </a:bodyPr>
          <a:lstStyle/>
          <a:p>
            <a:pPr algn="ctr"/>
            <a:r>
              <a:rPr lang="en-US" altLang="zh-CN" sz="1200" b="1" dirty="0" smtClean="0">
                <a:cs typeface="Arial" panose="020B0604020202020204" pitchFamily="34" charset="0"/>
              </a:rPr>
              <a:t>PE2</a:t>
            </a:r>
            <a:endParaRPr lang="en-US" sz="1200" b="1" dirty="0">
              <a:cs typeface="Arial" panose="020B0604020202020204" pitchFamily="34" charset="0"/>
            </a:endParaRPr>
          </a:p>
        </p:txBody>
      </p:sp>
      <p:sp>
        <p:nvSpPr>
          <p:cNvPr id="72" name="五边形 71"/>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96" name="燕尾形 95"/>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97" name="燕尾形 96"/>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98" name="燕尾形 97"/>
          <p:cNvSpPr/>
          <p:nvPr/>
        </p:nvSpPr>
        <p:spPr bwMode="gray">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99" name="燕尾形 98"/>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燕尾形 99"/>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燕尾形 100"/>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31"/>
          <p:cNvSpPr txBox="1"/>
          <p:nvPr/>
        </p:nvSpPr>
        <p:spPr bwMode="gray">
          <a:xfrm>
            <a:off x="6215740" y="1066755"/>
            <a:ext cx="5227643"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、配置各接口的</a:t>
            </a:r>
            <a:r>
              <a:rPr lang="en-US" altLang="zh-CN" sz="1600" dirty="0" smtClean="0">
                <a:solidFill>
                  <a:prstClr val="black"/>
                </a:solidFill>
              </a:rPr>
              <a:t>IPv4</a:t>
            </a:r>
            <a:r>
              <a:rPr lang="zh-CN" altLang="en-US" sz="1600" dirty="0" smtClean="0">
                <a:solidFill>
                  <a:prstClr val="black"/>
                </a:solidFill>
              </a:rPr>
              <a:t>和</a:t>
            </a:r>
            <a:r>
              <a:rPr lang="en-US" altLang="zh-CN" sz="1600" dirty="0" smtClean="0">
                <a:solidFill>
                  <a:prstClr val="black"/>
                </a:solidFill>
              </a:rPr>
              <a:t>IPv6</a:t>
            </a:r>
            <a:r>
              <a:rPr lang="zh-CN" altLang="en-US" sz="1600" dirty="0" smtClean="0">
                <a:solidFill>
                  <a:prstClr val="black"/>
                </a:solidFill>
              </a:rPr>
              <a:t>地址。（略）</a:t>
            </a:r>
            <a:endParaRPr lang="zh-CN" altLang="en-US" sz="1600" dirty="0">
              <a:solidFill>
                <a:prstClr val="black"/>
              </a:solidFill>
            </a:endParaRPr>
          </a:p>
        </p:txBody>
      </p:sp>
      <p:sp>
        <p:nvSpPr>
          <p:cNvPr id="103" name="文本框 32"/>
          <p:cNvSpPr txBox="1"/>
          <p:nvPr/>
        </p:nvSpPr>
        <p:spPr bwMode="gray">
          <a:xfrm>
            <a:off x="6419894" y="3189588"/>
            <a:ext cx="5125037" cy="1815882"/>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[PE1</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mpls</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lsr</a:t>
            </a:r>
            <a:r>
              <a:rPr lang="en-US" altLang="zh-CN" sz="1400" dirty="0">
                <a:solidFill>
                  <a:prstClr val="black"/>
                </a:solidFill>
                <a:cs typeface="Courier New" panose="02070309020205020404" pitchFamily="49" charset="0"/>
              </a:rPr>
              <a:t>-id 2.2.2.2</a:t>
            </a:r>
          </a:p>
          <a:p>
            <a:r>
              <a:rPr lang="en-US" altLang="zh-CN" sz="1400" dirty="0" smtClean="0">
                <a:solidFill>
                  <a:prstClr val="black"/>
                </a:solidFill>
                <a:cs typeface="Courier New" panose="02070309020205020404" pitchFamily="49" charset="0"/>
              </a:rPr>
              <a:t>[PE1</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mpls</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[PE1-mpls</a:t>
            </a:r>
            <a:r>
              <a:rPr lang="en-US" altLang="zh-CN" sz="1400" dirty="0">
                <a:solidFill>
                  <a:prstClr val="black"/>
                </a:solidFill>
                <a:cs typeface="Courier New" panose="02070309020205020404" pitchFamily="49" charset="0"/>
              </a:rPr>
              <a:t>] quit</a:t>
            </a:r>
          </a:p>
          <a:p>
            <a:r>
              <a:rPr lang="en-US" altLang="zh-CN" sz="1400" dirty="0" smtClean="0">
                <a:solidFill>
                  <a:prstClr val="black"/>
                </a:solidFill>
                <a:cs typeface="Courier New" panose="02070309020205020404" pitchFamily="49" charset="0"/>
              </a:rPr>
              <a:t>[PE1</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mpls</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ldp</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[PE1-mpls-ldp</a:t>
            </a:r>
            <a:r>
              <a:rPr lang="en-US" altLang="zh-CN" sz="1400" dirty="0">
                <a:solidFill>
                  <a:prstClr val="black"/>
                </a:solidFill>
                <a:cs typeface="Courier New" panose="02070309020205020404" pitchFamily="49" charset="0"/>
              </a:rPr>
              <a:t>] quit</a:t>
            </a:r>
          </a:p>
          <a:p>
            <a:r>
              <a:rPr lang="en-US" altLang="zh-CN" sz="1400" dirty="0" smtClean="0">
                <a:solidFill>
                  <a:prstClr val="black"/>
                </a:solidFill>
                <a:cs typeface="Courier New" panose="02070309020205020404" pitchFamily="49" charset="0"/>
              </a:rPr>
              <a:t>[PE1</a:t>
            </a:r>
            <a:r>
              <a:rPr lang="en-US" altLang="zh-CN" sz="1400" dirty="0">
                <a:solidFill>
                  <a:prstClr val="black"/>
                </a:solidFill>
                <a:cs typeface="Courier New" panose="02070309020205020404" pitchFamily="49" charset="0"/>
              </a:rPr>
              <a:t>] interface </a:t>
            </a:r>
            <a:r>
              <a:rPr lang="en-US" altLang="zh-CN" sz="1400" dirty="0" smtClean="0">
                <a:solidFill>
                  <a:prstClr val="black"/>
                </a:solidFill>
                <a:cs typeface="Courier New" panose="02070309020205020404" pitchFamily="49" charset="0"/>
              </a:rPr>
              <a:t>GigabitEthernet0/0/2</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[PE1-GigabitEthernet2/0/0</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mpls</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[PE1-GigabitEthernet2/0/0</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mpls</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ldp</a:t>
            </a:r>
            <a:endParaRPr lang="en-US" altLang="zh-CN" sz="1400" dirty="0">
              <a:solidFill>
                <a:prstClr val="black"/>
              </a:solidFill>
              <a:cs typeface="Courier New" panose="02070309020205020404" pitchFamily="49" charset="0"/>
            </a:endParaRPr>
          </a:p>
        </p:txBody>
      </p:sp>
      <p:sp>
        <p:nvSpPr>
          <p:cNvPr id="104" name="文本框 33"/>
          <p:cNvSpPr txBox="1"/>
          <p:nvPr/>
        </p:nvSpPr>
        <p:spPr bwMode="gray">
          <a:xfrm>
            <a:off x="6215740" y="2851034"/>
            <a:ext cx="5533347"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3</a:t>
            </a:r>
            <a:r>
              <a:rPr lang="zh-CN" altLang="en-US" sz="1600" dirty="0">
                <a:solidFill>
                  <a:prstClr val="black"/>
                </a:solidFill>
              </a:rPr>
              <a:t>、骨干网上使能</a:t>
            </a:r>
            <a:r>
              <a:rPr lang="en-US" altLang="zh-CN" sz="1600" dirty="0">
                <a:solidFill>
                  <a:prstClr val="black"/>
                </a:solidFill>
              </a:rPr>
              <a:t>MPLS</a:t>
            </a:r>
            <a:r>
              <a:rPr lang="zh-CN" altLang="en-US" sz="1600" dirty="0">
                <a:solidFill>
                  <a:prstClr val="black"/>
                </a:solidFill>
              </a:rPr>
              <a:t>、</a:t>
            </a:r>
            <a:r>
              <a:rPr lang="en-US" altLang="zh-CN" sz="1600" dirty="0">
                <a:solidFill>
                  <a:prstClr val="black"/>
                </a:solidFill>
              </a:rPr>
              <a:t>MPLS LDP</a:t>
            </a:r>
            <a:r>
              <a:rPr lang="zh-CN" altLang="en-US" sz="1600" dirty="0">
                <a:solidFill>
                  <a:prstClr val="black"/>
                </a:solidFill>
              </a:rPr>
              <a:t>，</a:t>
            </a:r>
            <a:r>
              <a:rPr lang="en-US" altLang="zh-CN" sz="1600" dirty="0">
                <a:solidFill>
                  <a:prstClr val="black"/>
                </a:solidFill>
              </a:rPr>
              <a:t>PE</a:t>
            </a:r>
            <a:r>
              <a:rPr lang="zh-CN" altLang="en-US" sz="1600" dirty="0">
                <a:solidFill>
                  <a:prstClr val="black"/>
                </a:solidFill>
              </a:rPr>
              <a:t>之间建立</a:t>
            </a:r>
            <a:r>
              <a:rPr lang="en-US" altLang="zh-CN" sz="1600" dirty="0">
                <a:solidFill>
                  <a:prstClr val="black"/>
                </a:solidFill>
              </a:rPr>
              <a:t>LDP </a:t>
            </a:r>
            <a:r>
              <a:rPr lang="en-US" altLang="zh-CN" sz="1600" dirty="0" smtClean="0">
                <a:solidFill>
                  <a:prstClr val="black"/>
                </a:solidFill>
              </a:rPr>
              <a:t>LSP</a:t>
            </a:r>
            <a:r>
              <a:rPr lang="zh-CN" altLang="en-US" sz="1600" dirty="0" smtClean="0">
                <a:solidFill>
                  <a:prstClr val="black"/>
                </a:solidFill>
              </a:rPr>
              <a:t>。</a:t>
            </a:r>
            <a:endParaRPr lang="zh-CN" altLang="en-US" sz="1600" dirty="0">
              <a:solidFill>
                <a:prstClr val="black"/>
              </a:solidFill>
            </a:endParaRPr>
          </a:p>
        </p:txBody>
      </p:sp>
      <p:sp>
        <p:nvSpPr>
          <p:cNvPr id="105" name="文本框 33"/>
          <p:cNvSpPr txBox="1"/>
          <p:nvPr/>
        </p:nvSpPr>
        <p:spPr bwMode="gray">
          <a:xfrm>
            <a:off x="6215740" y="1832808"/>
            <a:ext cx="5533347" cy="584775"/>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2</a:t>
            </a:r>
            <a:r>
              <a:rPr lang="zh-CN" altLang="en-US" sz="1600" dirty="0">
                <a:solidFill>
                  <a:prstClr val="black"/>
                </a:solidFill>
              </a:rPr>
              <a:t>、配置</a:t>
            </a:r>
            <a:r>
              <a:rPr lang="en-US" altLang="zh-CN" sz="1600" dirty="0">
                <a:solidFill>
                  <a:prstClr val="black"/>
                </a:solidFill>
              </a:rPr>
              <a:t>PE1</a:t>
            </a:r>
            <a:r>
              <a:rPr lang="zh-CN" altLang="en-US" sz="1600" dirty="0">
                <a:solidFill>
                  <a:prstClr val="black"/>
                </a:solidFill>
              </a:rPr>
              <a:t>和</a:t>
            </a:r>
            <a:r>
              <a:rPr lang="en-US" altLang="zh-CN" sz="1600" dirty="0">
                <a:solidFill>
                  <a:prstClr val="black"/>
                </a:solidFill>
              </a:rPr>
              <a:t>PE2</a:t>
            </a:r>
            <a:r>
              <a:rPr lang="zh-CN" altLang="en-US" sz="1600" dirty="0">
                <a:solidFill>
                  <a:prstClr val="black"/>
                </a:solidFill>
              </a:rPr>
              <a:t>之间</a:t>
            </a:r>
            <a:r>
              <a:rPr lang="zh-CN" altLang="en-US" sz="1600" dirty="0" smtClean="0">
                <a:solidFill>
                  <a:prstClr val="black"/>
                </a:solidFill>
              </a:rPr>
              <a:t>的</a:t>
            </a:r>
            <a:r>
              <a:rPr lang="en-US" altLang="zh-CN" sz="1600" dirty="0" smtClean="0">
                <a:solidFill>
                  <a:prstClr val="black"/>
                </a:solidFill>
              </a:rPr>
              <a:t>IS-IS</a:t>
            </a:r>
            <a:r>
              <a:rPr lang="zh-CN" altLang="en-US" sz="1600" dirty="0" smtClean="0">
                <a:solidFill>
                  <a:prstClr val="black"/>
                </a:solidFill>
              </a:rPr>
              <a:t>路由</a:t>
            </a:r>
            <a:r>
              <a:rPr lang="zh-CN" altLang="en-US" sz="1600" dirty="0">
                <a:solidFill>
                  <a:prstClr val="black"/>
                </a:solidFill>
              </a:rPr>
              <a:t>协议，使</a:t>
            </a:r>
            <a:r>
              <a:rPr lang="en-US" altLang="zh-CN" sz="1600" dirty="0">
                <a:solidFill>
                  <a:prstClr val="black"/>
                </a:solidFill>
              </a:rPr>
              <a:t>PE</a:t>
            </a:r>
            <a:r>
              <a:rPr lang="zh-CN" altLang="en-US" sz="1600" dirty="0">
                <a:solidFill>
                  <a:prstClr val="black"/>
                </a:solidFill>
              </a:rPr>
              <a:t>之间可以互相学习到去往对方</a:t>
            </a:r>
            <a:r>
              <a:rPr lang="en-US" altLang="zh-CN" sz="1600" dirty="0" smtClean="0">
                <a:solidFill>
                  <a:prstClr val="black"/>
                </a:solidFill>
              </a:rPr>
              <a:t>Loopback0</a:t>
            </a:r>
            <a:r>
              <a:rPr lang="zh-CN" altLang="en-US" sz="1600" dirty="0" smtClean="0">
                <a:solidFill>
                  <a:prstClr val="black"/>
                </a:solidFill>
              </a:rPr>
              <a:t>的路由。（略）</a:t>
            </a:r>
            <a:endParaRPr lang="zh-CN" altLang="en-US" sz="1600" dirty="0">
              <a:solidFill>
                <a:prstClr val="black"/>
              </a:solidFill>
            </a:endParaRPr>
          </a:p>
        </p:txBody>
      </p:sp>
      <p:sp>
        <p:nvSpPr>
          <p:cNvPr id="106" name="文本框 105"/>
          <p:cNvSpPr txBox="1"/>
          <p:nvPr/>
        </p:nvSpPr>
        <p:spPr bwMode="gray">
          <a:xfrm>
            <a:off x="9962606" y="5838339"/>
            <a:ext cx="1786482" cy="350865"/>
          </a:xfrm>
          <a:prstGeom prst="rect">
            <a:avLst/>
          </a:prstGeom>
          <a:noFill/>
        </p:spPr>
        <p:txBody>
          <a:bodyPr wrap="square" rtlCol="0">
            <a:spAutoFit/>
          </a:bodyPr>
          <a:lstStyle/>
          <a:p>
            <a:pPr>
              <a:lnSpc>
                <a:spcPct val="140000"/>
              </a:lnSpc>
            </a:pPr>
            <a:r>
              <a:rPr lang="en-US" altLang="zh-CN" sz="1200" dirty="0" smtClean="0"/>
              <a:t>PE2</a:t>
            </a:r>
            <a:r>
              <a:rPr lang="zh-CN" altLang="en-US" sz="1200" dirty="0" smtClean="0"/>
              <a:t>与</a:t>
            </a:r>
            <a:r>
              <a:rPr lang="en-US" altLang="zh-CN" sz="1200" dirty="0" smtClean="0"/>
              <a:t>PE1</a:t>
            </a:r>
            <a:r>
              <a:rPr lang="zh-CN" altLang="en-US" sz="1200" dirty="0" smtClean="0"/>
              <a:t>配置类似，略。</a:t>
            </a:r>
            <a:endParaRPr lang="zh-CN" altLang="en-US" sz="1200" dirty="0"/>
          </a:p>
        </p:txBody>
      </p:sp>
      <p:sp>
        <p:nvSpPr>
          <p:cNvPr id="107" name="文本框 106"/>
          <p:cNvSpPr txBox="1"/>
          <p:nvPr/>
        </p:nvSpPr>
        <p:spPr bwMode="gray">
          <a:xfrm>
            <a:off x="4017299" y="3577838"/>
            <a:ext cx="545342" cy="461665"/>
          </a:xfrm>
          <a:prstGeom prst="rect">
            <a:avLst/>
          </a:prstGeom>
          <a:noFill/>
        </p:spPr>
        <p:txBody>
          <a:bodyPr wrap="none" rtlCol="0">
            <a:spAutoFit/>
          </a:bodyPr>
          <a:lstStyle/>
          <a:p>
            <a:pPr algn="ctr"/>
            <a:r>
              <a:rPr lang="en-US" altLang="zh-CN" sz="1200" b="1" dirty="0" smtClean="0">
                <a:cs typeface="Arial" panose="020B0604020202020204" pitchFamily="34" charset="0"/>
              </a:rPr>
              <a:t>CE2</a:t>
            </a:r>
          </a:p>
          <a:p>
            <a:pPr algn="ctr"/>
            <a:r>
              <a:rPr lang="en-US" altLang="zh-CN" sz="1200" b="1" dirty="0" err="1" smtClean="0">
                <a:cs typeface="Arial" panose="020B0604020202020204" pitchFamily="34" charset="0"/>
              </a:rPr>
              <a:t>vpna</a:t>
            </a:r>
            <a:endParaRPr lang="en-US" sz="1200" b="1" dirty="0">
              <a:cs typeface="Arial" panose="020B0604020202020204" pitchFamily="34" charset="0"/>
            </a:endParaRPr>
          </a:p>
        </p:txBody>
      </p:sp>
    </p:spTree>
    <p:extLst>
      <p:ext uri="{BB962C8B-B14F-4D97-AF65-F5344CB8AC3E}">
        <p14:creationId xmlns:p14="http://schemas.microsoft.com/office/powerpoint/2010/main" val="36760670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文本框 87"/>
          <p:cNvSpPr txBox="1"/>
          <p:nvPr/>
        </p:nvSpPr>
        <p:spPr bwMode="gray">
          <a:xfrm>
            <a:off x="3859822" y="2463742"/>
            <a:ext cx="2241972" cy="1672012"/>
          </a:xfrm>
          <a:prstGeom prst="rect">
            <a:avLst/>
          </a:prstGeom>
          <a:solidFill>
            <a:schemeClr val="bg1">
              <a:lumMod val="95000"/>
            </a:schemeClr>
          </a:solidFill>
          <a:ln>
            <a:solidFill>
              <a:schemeClr val="bg1">
                <a:lumMod val="75000"/>
              </a:schemeClr>
            </a:solidFill>
            <a:prstDash val="dash"/>
          </a:ln>
        </p:spPr>
        <p:txBody>
          <a:bodyPr wrap="square" rtlCol="0">
            <a:noAutofit/>
          </a:bodyPr>
          <a:lstStyle/>
          <a:p>
            <a:endParaRPr lang="en-US" altLang="zh-CN" sz="1200" dirty="0">
              <a:cs typeface="Arial" panose="020B0604020202020204" pitchFamily="34" charset="0"/>
            </a:endParaRPr>
          </a:p>
        </p:txBody>
      </p:sp>
      <p:sp>
        <p:nvSpPr>
          <p:cNvPr id="87" name="文本框 86"/>
          <p:cNvSpPr txBox="1"/>
          <p:nvPr/>
        </p:nvSpPr>
        <p:spPr bwMode="gray">
          <a:xfrm>
            <a:off x="455614" y="2463742"/>
            <a:ext cx="2270170" cy="1672012"/>
          </a:xfrm>
          <a:prstGeom prst="rect">
            <a:avLst/>
          </a:prstGeom>
          <a:solidFill>
            <a:schemeClr val="bg1">
              <a:lumMod val="95000"/>
            </a:schemeClr>
          </a:solidFill>
          <a:ln>
            <a:solidFill>
              <a:schemeClr val="bg1">
                <a:lumMod val="75000"/>
              </a:schemeClr>
            </a:solidFill>
            <a:prstDash val="dash"/>
          </a:ln>
        </p:spPr>
        <p:txBody>
          <a:bodyPr wrap="square" rtlCol="0">
            <a:noAutofit/>
          </a:bodyPr>
          <a:lstStyle/>
          <a:p>
            <a:endParaRPr lang="en-US" altLang="zh-CN" sz="1200" dirty="0">
              <a:cs typeface="Arial" panose="020B0604020202020204" pitchFamily="34" charset="0"/>
            </a:endParaRPr>
          </a:p>
        </p:txBody>
      </p:sp>
      <p:sp>
        <p:nvSpPr>
          <p:cNvPr id="60" name="文本框 59"/>
          <p:cNvSpPr txBox="1"/>
          <p:nvPr/>
        </p:nvSpPr>
        <p:spPr bwMode="gray">
          <a:xfrm>
            <a:off x="455614" y="1067356"/>
            <a:ext cx="5631486" cy="1247691"/>
          </a:xfrm>
          <a:prstGeom prst="rect">
            <a:avLst/>
          </a:prstGeom>
          <a:solidFill>
            <a:srgbClr val="F2FBFC"/>
          </a:solidFill>
          <a:ln>
            <a:solidFill>
              <a:srgbClr val="94DAE2"/>
            </a:solidFill>
            <a:prstDash val="dash"/>
          </a:ln>
        </p:spPr>
        <p:txBody>
          <a:bodyPr wrap="square" rtlCol="0">
            <a:noAutofit/>
          </a:bodyPr>
          <a:lstStyle/>
          <a:p>
            <a:endParaRPr lang="en-US" altLang="zh-CN" sz="1200" dirty="0">
              <a:cs typeface="Arial" panose="020B0604020202020204" pitchFamily="34" charset="0"/>
            </a:endParaRPr>
          </a:p>
        </p:txBody>
      </p:sp>
      <p:sp>
        <p:nvSpPr>
          <p:cNvPr id="2" name="标题 1"/>
          <p:cNvSpPr>
            <a:spLocks noGrp="1"/>
          </p:cNvSpPr>
          <p:nvPr>
            <p:ph type="title"/>
          </p:nvPr>
        </p:nvSpPr>
        <p:spPr bwMode="gray"/>
        <p:txBody>
          <a:bodyPr/>
          <a:lstStyle/>
          <a:p>
            <a:r>
              <a:rPr lang="en-US" altLang="zh-CN" dirty="0" smtClean="0"/>
              <a:t>6VPE</a:t>
            </a:r>
            <a:r>
              <a:rPr lang="zh-CN" altLang="en-US" dirty="0" smtClean="0"/>
              <a:t>配置举例 </a:t>
            </a:r>
            <a:r>
              <a:rPr lang="en-US" altLang="zh-CN" dirty="0" smtClean="0"/>
              <a:t>(2)</a:t>
            </a:r>
            <a:endParaRPr lang="zh-CN" altLang="en-US" dirty="0"/>
          </a:p>
        </p:txBody>
      </p:sp>
      <p:sp>
        <p:nvSpPr>
          <p:cNvPr id="44" name="文本占位符 43"/>
          <p:cNvSpPr>
            <a:spLocks noGrp="1"/>
          </p:cNvSpPr>
          <p:nvPr>
            <p:ph type="body" sz="quarter" idx="10"/>
          </p:nvPr>
        </p:nvSpPr>
        <p:spPr bwMode="gray">
          <a:xfrm>
            <a:off x="455613" y="4150716"/>
            <a:ext cx="5646182" cy="2050059"/>
          </a:xfrm>
        </p:spPr>
        <p:txBody>
          <a:bodyPr/>
          <a:lstStyle/>
          <a:p>
            <a:r>
              <a:rPr lang="zh-CN" altLang="en-US" sz="1600" dirty="0" smtClean="0"/>
              <a:t>配置需求：</a:t>
            </a:r>
            <a:endParaRPr lang="en-US" altLang="zh-CN" sz="1600" dirty="0" smtClean="0"/>
          </a:p>
          <a:p>
            <a:pPr lvl="1"/>
            <a:r>
              <a:rPr lang="zh-CN" altLang="en-US" sz="1400" dirty="0" smtClean="0"/>
              <a:t>不同用户站点希望通过公网进行</a:t>
            </a:r>
            <a:r>
              <a:rPr lang="en-US" altLang="zh-CN" sz="1400" dirty="0" smtClean="0"/>
              <a:t>IPv6</a:t>
            </a:r>
            <a:r>
              <a:rPr lang="zh-CN" altLang="en-US" sz="1400" dirty="0" smtClean="0"/>
              <a:t>的数据通信，而又不希望公网感知到站点内部的路由信息，且希望实现业务隔离。</a:t>
            </a:r>
            <a:endParaRPr lang="en-US" altLang="zh-CN" sz="1400" dirty="0" smtClean="0"/>
          </a:p>
          <a:p>
            <a:pPr lvl="1"/>
            <a:r>
              <a:rPr lang="zh-CN" altLang="en-US" sz="1400" dirty="0" smtClean="0"/>
              <a:t>如图所示，</a:t>
            </a:r>
            <a:r>
              <a:rPr lang="en-US" altLang="zh-CN" sz="1400" dirty="0" smtClean="0"/>
              <a:t>CE1</a:t>
            </a:r>
            <a:r>
              <a:rPr lang="zh-CN" altLang="en-US" sz="1400" dirty="0" smtClean="0"/>
              <a:t>和</a:t>
            </a:r>
            <a:r>
              <a:rPr lang="en-US" altLang="zh-CN" sz="1400" dirty="0" smtClean="0"/>
              <a:t>CE2</a:t>
            </a:r>
            <a:r>
              <a:rPr lang="zh-CN" altLang="en-US" sz="1400" dirty="0" smtClean="0"/>
              <a:t>属于</a:t>
            </a:r>
            <a:r>
              <a:rPr lang="en-US" altLang="zh-CN" sz="1400" dirty="0" err="1" smtClean="0"/>
              <a:t>vpna</a:t>
            </a:r>
            <a:r>
              <a:rPr lang="zh-CN" altLang="en-US" sz="1400" dirty="0" smtClean="0"/>
              <a:t>。希望通过配置</a:t>
            </a:r>
            <a:r>
              <a:rPr lang="en-US" altLang="zh-CN" sz="1400" dirty="0" smtClean="0"/>
              <a:t>6VPE</a:t>
            </a:r>
            <a:r>
              <a:rPr lang="zh-CN" altLang="en-US" sz="1400" dirty="0" smtClean="0"/>
              <a:t>，使得</a:t>
            </a:r>
            <a:r>
              <a:rPr lang="en-US" altLang="zh-CN" sz="1400" dirty="0" err="1" smtClean="0"/>
              <a:t>vpna</a:t>
            </a:r>
            <a:r>
              <a:rPr lang="zh-CN" altLang="en-US" sz="1400" dirty="0" smtClean="0"/>
              <a:t>的内部站点可以通过</a:t>
            </a:r>
            <a:r>
              <a:rPr lang="en-US" altLang="zh-CN" sz="1400" dirty="0" smtClean="0"/>
              <a:t>MPLS</a:t>
            </a:r>
            <a:r>
              <a:rPr lang="zh-CN" altLang="en-US" sz="1400" dirty="0" smtClean="0"/>
              <a:t>骨干网互相访问，同时希望</a:t>
            </a:r>
            <a:r>
              <a:rPr lang="en-US" altLang="zh-CN" sz="1400" dirty="0" smtClean="0"/>
              <a:t>PE</a:t>
            </a:r>
            <a:r>
              <a:rPr lang="zh-CN" altLang="en-US" sz="1400" dirty="0" smtClean="0"/>
              <a:t>与</a:t>
            </a:r>
            <a:r>
              <a:rPr lang="en-US" altLang="zh-CN" sz="1400" dirty="0" smtClean="0"/>
              <a:t>CE</a:t>
            </a:r>
            <a:r>
              <a:rPr lang="zh-CN" altLang="en-US" sz="1400" dirty="0" smtClean="0"/>
              <a:t>之间采用静态路由的方式来交换路由。</a:t>
            </a:r>
            <a:endParaRPr lang="zh-CN" altLang="en-US" sz="1400" dirty="0"/>
          </a:p>
        </p:txBody>
      </p:sp>
      <p:cxnSp>
        <p:nvCxnSpPr>
          <p:cNvPr id="39" name="直接连接符 38"/>
          <p:cNvCxnSpPr>
            <a:stCxn id="41" idx="2"/>
            <a:endCxn id="70" idx="0"/>
          </p:cNvCxnSpPr>
          <p:nvPr/>
        </p:nvCxnSpPr>
        <p:spPr bwMode="gray">
          <a:xfrm>
            <a:off x="2308652" y="1832808"/>
            <a:ext cx="0" cy="131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8652" y="1390008"/>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9748" y="1390008"/>
            <a:ext cx="540000" cy="442800"/>
          </a:xfrm>
          <a:prstGeom prst="rect">
            <a:avLst/>
          </a:prstGeom>
        </p:spPr>
      </p:pic>
      <p:cxnSp>
        <p:nvCxnSpPr>
          <p:cNvPr id="45" name="直接连接符 44"/>
          <p:cNvCxnSpPr>
            <a:stCxn id="41" idx="3"/>
            <a:endCxn id="43" idx="1"/>
          </p:cNvCxnSpPr>
          <p:nvPr/>
        </p:nvCxnSpPr>
        <p:spPr bwMode="gray">
          <a:xfrm>
            <a:off x="2578652" y="1611408"/>
            <a:ext cx="14410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bwMode="gray">
          <a:xfrm>
            <a:off x="2513764" y="1162301"/>
            <a:ext cx="955711" cy="461665"/>
          </a:xfrm>
          <a:prstGeom prst="rect">
            <a:avLst/>
          </a:prstGeom>
          <a:noFill/>
        </p:spPr>
        <p:txBody>
          <a:bodyPr wrap="none" rtlCol="0">
            <a:spAutoFit/>
          </a:bodyPr>
          <a:lstStyle/>
          <a:p>
            <a:r>
              <a:rPr lang="en-US" altLang="zh-CN" sz="1200" dirty="0" smtClean="0">
                <a:cs typeface="Arial" panose="020B0604020202020204" pitchFamily="34" charset="0"/>
              </a:rPr>
              <a:t>GE0/0/2</a:t>
            </a:r>
          </a:p>
          <a:p>
            <a:r>
              <a:rPr lang="en-US" sz="1200" dirty="0" smtClean="0">
                <a:cs typeface="Arial" panose="020B0604020202020204" pitchFamily="34" charset="0"/>
              </a:rPr>
              <a:t>10.0.0.1/30</a:t>
            </a:r>
            <a:endParaRPr lang="en-US" sz="1200" dirty="0">
              <a:cs typeface="Arial" panose="020B0604020202020204" pitchFamily="34" charset="0"/>
            </a:endParaRPr>
          </a:p>
        </p:txBody>
      </p:sp>
      <p:sp>
        <p:nvSpPr>
          <p:cNvPr id="48" name="文本框 47"/>
          <p:cNvSpPr txBox="1"/>
          <p:nvPr/>
        </p:nvSpPr>
        <p:spPr bwMode="gray">
          <a:xfrm>
            <a:off x="3109171" y="1578942"/>
            <a:ext cx="955711" cy="461665"/>
          </a:xfrm>
          <a:prstGeom prst="rect">
            <a:avLst/>
          </a:prstGeom>
          <a:noFill/>
        </p:spPr>
        <p:txBody>
          <a:bodyPr wrap="none" rtlCol="0">
            <a:spAutoFit/>
          </a:bodyPr>
          <a:lstStyle/>
          <a:p>
            <a:pPr algn="r"/>
            <a:r>
              <a:rPr lang="en-US" altLang="zh-CN" sz="1200" dirty="0" smtClean="0">
                <a:cs typeface="Arial" panose="020B0604020202020204" pitchFamily="34" charset="0"/>
              </a:rPr>
              <a:t>GE0/0/2</a:t>
            </a:r>
          </a:p>
          <a:p>
            <a:pPr algn="r"/>
            <a:r>
              <a:rPr lang="en-US" sz="1200" dirty="0" smtClean="0">
                <a:cs typeface="Arial" panose="020B0604020202020204" pitchFamily="34" charset="0"/>
              </a:rPr>
              <a:t>10.0.0.2/30</a:t>
            </a:r>
            <a:endParaRPr lang="en-US" sz="1200" dirty="0">
              <a:cs typeface="Arial" panose="020B0604020202020204" pitchFamily="34" charset="0"/>
            </a:endParaRPr>
          </a:p>
        </p:txBody>
      </p:sp>
      <p:grpSp>
        <p:nvGrpSpPr>
          <p:cNvPr id="4" name="组合 3"/>
          <p:cNvGrpSpPr/>
          <p:nvPr/>
        </p:nvGrpSpPr>
        <p:grpSpPr bwMode="gray">
          <a:xfrm>
            <a:off x="4559748" y="1509556"/>
            <a:ext cx="114397" cy="216000"/>
            <a:chOff x="8351023" y="4222121"/>
            <a:chExt cx="114397" cy="216000"/>
          </a:xfrm>
        </p:grpSpPr>
        <p:cxnSp>
          <p:nvCxnSpPr>
            <p:cNvPr id="50" name="直接连接符 49"/>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bwMode="gray">
          <a:xfrm flipH="1">
            <a:off x="1917858" y="1509556"/>
            <a:ext cx="114397" cy="216000"/>
            <a:chOff x="8351023" y="4222121"/>
            <a:chExt cx="114397" cy="216000"/>
          </a:xfrm>
        </p:grpSpPr>
        <p:cxnSp>
          <p:nvCxnSpPr>
            <p:cNvPr id="57" name="直接连接符 56"/>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 name="文本框 58"/>
          <p:cNvSpPr txBox="1"/>
          <p:nvPr/>
        </p:nvSpPr>
        <p:spPr bwMode="gray">
          <a:xfrm>
            <a:off x="4674145" y="1393133"/>
            <a:ext cx="939681" cy="461665"/>
          </a:xfrm>
          <a:prstGeom prst="rect">
            <a:avLst/>
          </a:prstGeom>
          <a:noFill/>
        </p:spPr>
        <p:txBody>
          <a:bodyPr wrap="none" rtlCol="0">
            <a:spAutoFit/>
          </a:bodyPr>
          <a:lstStyle/>
          <a:p>
            <a:r>
              <a:rPr lang="en-US" altLang="zh-CN" sz="1200" dirty="0" smtClean="0">
                <a:cs typeface="Arial" panose="020B0604020202020204" pitchFamily="34" charset="0"/>
              </a:rPr>
              <a:t>Loopback0</a:t>
            </a:r>
            <a:endParaRPr lang="en-US" altLang="zh-CN" sz="1200" dirty="0">
              <a:cs typeface="Arial" panose="020B0604020202020204" pitchFamily="34" charset="0"/>
            </a:endParaRPr>
          </a:p>
          <a:p>
            <a:r>
              <a:rPr lang="en-US" sz="1200" dirty="0" smtClean="0">
                <a:cs typeface="Arial" panose="020B0604020202020204" pitchFamily="34" charset="0"/>
              </a:rPr>
              <a:t>3.3.3.3/32</a:t>
            </a:r>
            <a:endParaRPr lang="en-US" sz="1200" dirty="0">
              <a:cs typeface="Arial" panose="020B0604020202020204" pitchFamily="34" charset="0"/>
            </a:endParaRPr>
          </a:p>
        </p:txBody>
      </p:sp>
      <p:sp>
        <p:nvSpPr>
          <p:cNvPr id="69" name="文本框 68"/>
          <p:cNvSpPr txBox="1"/>
          <p:nvPr/>
        </p:nvSpPr>
        <p:spPr bwMode="gray">
          <a:xfrm>
            <a:off x="971780" y="1393133"/>
            <a:ext cx="939681" cy="461665"/>
          </a:xfrm>
          <a:prstGeom prst="rect">
            <a:avLst/>
          </a:prstGeom>
          <a:noFill/>
        </p:spPr>
        <p:txBody>
          <a:bodyPr wrap="none" rtlCol="0">
            <a:spAutoFit/>
          </a:bodyPr>
          <a:lstStyle/>
          <a:p>
            <a:pPr algn="r"/>
            <a:r>
              <a:rPr lang="en-US" altLang="zh-CN" sz="1200" dirty="0" smtClean="0">
                <a:cs typeface="Arial" panose="020B0604020202020204" pitchFamily="34" charset="0"/>
              </a:rPr>
              <a:t>Loopback0</a:t>
            </a:r>
            <a:endParaRPr lang="en-US" altLang="zh-CN" sz="1200" dirty="0">
              <a:cs typeface="Arial" panose="020B0604020202020204" pitchFamily="34" charset="0"/>
            </a:endParaRPr>
          </a:p>
          <a:p>
            <a:pPr algn="r"/>
            <a:r>
              <a:rPr lang="en-US" sz="1200" dirty="0" smtClean="0">
                <a:cs typeface="Arial" panose="020B0604020202020204" pitchFamily="34" charset="0"/>
              </a:rPr>
              <a:t>2.2.2.2/32</a:t>
            </a:r>
            <a:endParaRPr lang="en-US" sz="1200" dirty="0">
              <a:cs typeface="Arial" panose="020B0604020202020204" pitchFamily="34" charset="0"/>
            </a:endParaRPr>
          </a:p>
        </p:txBody>
      </p:sp>
      <p:pic>
        <p:nvPicPr>
          <p:cNvPr id="70" name="图片 6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8652" y="3148586"/>
            <a:ext cx="540000" cy="442800"/>
          </a:xfrm>
          <a:prstGeom prst="rect">
            <a:avLst/>
          </a:prstGeom>
        </p:spPr>
      </p:pic>
      <p:sp>
        <p:nvSpPr>
          <p:cNvPr id="73" name="文本框 72"/>
          <p:cNvSpPr txBox="1"/>
          <p:nvPr/>
        </p:nvSpPr>
        <p:spPr bwMode="gray">
          <a:xfrm>
            <a:off x="936905" y="1837948"/>
            <a:ext cx="1369286" cy="461665"/>
          </a:xfrm>
          <a:prstGeom prst="rect">
            <a:avLst/>
          </a:prstGeom>
          <a:noFill/>
        </p:spPr>
        <p:txBody>
          <a:bodyPr wrap="none" rtlCol="0">
            <a:spAutoFit/>
          </a:bodyPr>
          <a:lstStyle/>
          <a:p>
            <a:pPr algn="r"/>
            <a:r>
              <a:rPr lang="en-US" altLang="zh-CN" sz="1200" dirty="0" smtClean="0">
                <a:cs typeface="Arial" panose="020B0604020202020204" pitchFamily="34" charset="0"/>
              </a:rPr>
              <a:t>GE0/0/1</a:t>
            </a:r>
          </a:p>
          <a:p>
            <a:pPr algn="r"/>
            <a:r>
              <a:rPr lang="en-US" sz="1200" dirty="0" smtClean="0">
                <a:cs typeface="Arial" panose="020B0604020202020204" pitchFamily="34" charset="0"/>
              </a:rPr>
              <a:t>2001:DB8:1::2/64</a:t>
            </a:r>
            <a:endParaRPr lang="en-US" sz="1200" dirty="0">
              <a:cs typeface="Arial" panose="020B0604020202020204" pitchFamily="34" charset="0"/>
            </a:endParaRPr>
          </a:p>
        </p:txBody>
      </p:sp>
      <p:cxnSp>
        <p:nvCxnSpPr>
          <p:cNvPr id="74" name="直接连接符 73"/>
          <p:cNvCxnSpPr>
            <a:stCxn id="43" idx="2"/>
            <a:endCxn id="75" idx="0"/>
          </p:cNvCxnSpPr>
          <p:nvPr/>
        </p:nvCxnSpPr>
        <p:spPr bwMode="gray">
          <a:xfrm>
            <a:off x="4289748" y="1832808"/>
            <a:ext cx="0" cy="131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7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9748" y="3148586"/>
            <a:ext cx="540000" cy="442800"/>
          </a:xfrm>
          <a:prstGeom prst="rect">
            <a:avLst/>
          </a:prstGeom>
        </p:spPr>
      </p:pic>
      <p:sp>
        <p:nvSpPr>
          <p:cNvPr id="76" name="文本框 75"/>
          <p:cNvSpPr txBox="1"/>
          <p:nvPr/>
        </p:nvSpPr>
        <p:spPr bwMode="gray">
          <a:xfrm>
            <a:off x="4290816" y="1837948"/>
            <a:ext cx="1369286" cy="461665"/>
          </a:xfrm>
          <a:prstGeom prst="rect">
            <a:avLst/>
          </a:prstGeom>
          <a:noFill/>
        </p:spPr>
        <p:txBody>
          <a:bodyPr wrap="none" rtlCol="0">
            <a:spAutoFit/>
          </a:bodyPr>
          <a:lstStyle/>
          <a:p>
            <a:r>
              <a:rPr lang="en-US" altLang="zh-CN" sz="1200" dirty="0" smtClean="0">
                <a:cs typeface="Arial" panose="020B0604020202020204" pitchFamily="34" charset="0"/>
              </a:rPr>
              <a:t>GE0/0/1</a:t>
            </a:r>
          </a:p>
          <a:p>
            <a:r>
              <a:rPr lang="en-US" sz="1200" dirty="0" smtClean="0">
                <a:cs typeface="Arial" panose="020B0604020202020204" pitchFamily="34" charset="0"/>
              </a:rPr>
              <a:t>2001:DB8:2::2/64</a:t>
            </a:r>
            <a:endParaRPr lang="en-US" sz="1200" dirty="0">
              <a:cs typeface="Arial" panose="020B0604020202020204" pitchFamily="34" charset="0"/>
            </a:endParaRPr>
          </a:p>
        </p:txBody>
      </p:sp>
      <p:sp>
        <p:nvSpPr>
          <p:cNvPr id="77" name="文本框 76"/>
          <p:cNvSpPr txBox="1"/>
          <p:nvPr/>
        </p:nvSpPr>
        <p:spPr bwMode="gray">
          <a:xfrm>
            <a:off x="936905" y="2690133"/>
            <a:ext cx="1369286" cy="461665"/>
          </a:xfrm>
          <a:prstGeom prst="rect">
            <a:avLst/>
          </a:prstGeom>
          <a:noFill/>
        </p:spPr>
        <p:txBody>
          <a:bodyPr wrap="none" rtlCol="0">
            <a:spAutoFit/>
          </a:bodyPr>
          <a:lstStyle/>
          <a:p>
            <a:pPr algn="r"/>
            <a:r>
              <a:rPr lang="en-US" altLang="zh-CN" sz="1200" dirty="0" smtClean="0">
                <a:cs typeface="Arial" panose="020B0604020202020204" pitchFamily="34" charset="0"/>
              </a:rPr>
              <a:t>GE0/0/1</a:t>
            </a:r>
          </a:p>
          <a:p>
            <a:pPr algn="r"/>
            <a:r>
              <a:rPr lang="en-US" sz="1200" dirty="0" smtClean="0">
                <a:cs typeface="Arial" panose="020B0604020202020204" pitchFamily="34" charset="0"/>
              </a:rPr>
              <a:t>2001:DB8:1::1/64</a:t>
            </a:r>
            <a:endParaRPr lang="en-US" sz="1200" dirty="0">
              <a:cs typeface="Arial" panose="020B0604020202020204" pitchFamily="34" charset="0"/>
            </a:endParaRPr>
          </a:p>
        </p:txBody>
      </p:sp>
      <p:sp>
        <p:nvSpPr>
          <p:cNvPr id="78" name="文本框 77"/>
          <p:cNvSpPr txBox="1"/>
          <p:nvPr/>
        </p:nvSpPr>
        <p:spPr bwMode="gray">
          <a:xfrm>
            <a:off x="4290816" y="2690133"/>
            <a:ext cx="1369286" cy="461665"/>
          </a:xfrm>
          <a:prstGeom prst="rect">
            <a:avLst/>
          </a:prstGeom>
          <a:noFill/>
        </p:spPr>
        <p:txBody>
          <a:bodyPr wrap="none" rtlCol="0">
            <a:spAutoFit/>
          </a:bodyPr>
          <a:lstStyle/>
          <a:p>
            <a:r>
              <a:rPr lang="en-US" altLang="zh-CN" sz="1200" dirty="0" smtClean="0">
                <a:cs typeface="Arial" panose="020B0604020202020204" pitchFamily="34" charset="0"/>
              </a:rPr>
              <a:t>GE0/0/1</a:t>
            </a:r>
          </a:p>
          <a:p>
            <a:r>
              <a:rPr lang="en-US" sz="1200" dirty="0" smtClean="0">
                <a:cs typeface="Arial" panose="020B0604020202020204" pitchFamily="34" charset="0"/>
              </a:rPr>
              <a:t>2001:DB8:2::1/64</a:t>
            </a:r>
            <a:endParaRPr lang="en-US" sz="1200" dirty="0">
              <a:cs typeface="Arial" panose="020B0604020202020204" pitchFamily="34" charset="0"/>
            </a:endParaRPr>
          </a:p>
        </p:txBody>
      </p:sp>
      <p:grpSp>
        <p:nvGrpSpPr>
          <p:cNvPr id="79" name="组合 78"/>
          <p:cNvGrpSpPr/>
          <p:nvPr/>
        </p:nvGrpSpPr>
        <p:grpSpPr bwMode="gray">
          <a:xfrm flipH="1">
            <a:off x="1917858" y="3270921"/>
            <a:ext cx="114397" cy="216000"/>
            <a:chOff x="8351023" y="4222121"/>
            <a:chExt cx="114397" cy="216000"/>
          </a:xfrm>
        </p:grpSpPr>
        <p:cxnSp>
          <p:nvCxnSpPr>
            <p:cNvPr id="80" name="直接连接符 79"/>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 name="文本框 81"/>
          <p:cNvSpPr txBox="1"/>
          <p:nvPr/>
        </p:nvSpPr>
        <p:spPr bwMode="gray">
          <a:xfrm>
            <a:off x="455613" y="3154498"/>
            <a:ext cx="1455848" cy="461665"/>
          </a:xfrm>
          <a:prstGeom prst="rect">
            <a:avLst/>
          </a:prstGeom>
          <a:noFill/>
        </p:spPr>
        <p:txBody>
          <a:bodyPr wrap="none" rtlCol="0">
            <a:spAutoFit/>
          </a:bodyPr>
          <a:lstStyle/>
          <a:p>
            <a:pPr algn="r"/>
            <a:r>
              <a:rPr lang="en-US" altLang="zh-CN" sz="1200" dirty="0" smtClean="0">
                <a:cs typeface="Arial" panose="020B0604020202020204" pitchFamily="34" charset="0"/>
              </a:rPr>
              <a:t>Loopback1</a:t>
            </a:r>
            <a:endParaRPr lang="en-US" altLang="zh-CN" sz="1200" dirty="0">
              <a:cs typeface="Arial" panose="020B0604020202020204" pitchFamily="34" charset="0"/>
            </a:endParaRPr>
          </a:p>
          <a:p>
            <a:pPr algn="r"/>
            <a:r>
              <a:rPr lang="en-US" altLang="zh-CN" sz="1200" dirty="0" smtClean="0">
                <a:cs typeface="Arial" panose="020B0604020202020204" pitchFamily="34" charset="0"/>
              </a:rPr>
              <a:t>2001:DB8:5::5/128</a:t>
            </a:r>
            <a:endParaRPr lang="en-US" altLang="zh-CN" sz="1200" dirty="0">
              <a:cs typeface="Arial" panose="020B0604020202020204" pitchFamily="34" charset="0"/>
            </a:endParaRPr>
          </a:p>
        </p:txBody>
      </p:sp>
      <p:grpSp>
        <p:nvGrpSpPr>
          <p:cNvPr id="83" name="组合 82"/>
          <p:cNvGrpSpPr/>
          <p:nvPr/>
        </p:nvGrpSpPr>
        <p:grpSpPr bwMode="gray">
          <a:xfrm>
            <a:off x="4559748" y="3270921"/>
            <a:ext cx="114397" cy="216000"/>
            <a:chOff x="8351023" y="4222121"/>
            <a:chExt cx="114397" cy="216000"/>
          </a:xfrm>
        </p:grpSpPr>
        <p:cxnSp>
          <p:nvCxnSpPr>
            <p:cNvPr id="84" name="直接连接符 83"/>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文本框 85"/>
          <p:cNvSpPr txBox="1"/>
          <p:nvPr/>
        </p:nvSpPr>
        <p:spPr bwMode="gray">
          <a:xfrm>
            <a:off x="4674145" y="3154498"/>
            <a:ext cx="1455848" cy="461665"/>
          </a:xfrm>
          <a:prstGeom prst="rect">
            <a:avLst/>
          </a:prstGeom>
          <a:noFill/>
        </p:spPr>
        <p:txBody>
          <a:bodyPr wrap="none" rtlCol="0">
            <a:spAutoFit/>
          </a:bodyPr>
          <a:lstStyle/>
          <a:p>
            <a:r>
              <a:rPr lang="en-US" altLang="zh-CN" sz="1200" dirty="0" smtClean="0">
                <a:cs typeface="Arial" panose="020B0604020202020204" pitchFamily="34" charset="0"/>
              </a:rPr>
              <a:t>Loopback1</a:t>
            </a:r>
            <a:endParaRPr lang="en-US" altLang="zh-CN" sz="1200" dirty="0">
              <a:cs typeface="Arial" panose="020B0604020202020204" pitchFamily="34" charset="0"/>
            </a:endParaRPr>
          </a:p>
          <a:p>
            <a:r>
              <a:rPr lang="en-US" altLang="zh-CN" sz="1200" dirty="0" smtClean="0">
                <a:cs typeface="Arial" panose="020B0604020202020204" pitchFamily="34" charset="0"/>
              </a:rPr>
              <a:t>2001:DB8:6::6/128</a:t>
            </a:r>
            <a:endParaRPr lang="en-US" altLang="zh-CN" sz="1200" dirty="0">
              <a:cs typeface="Arial" panose="020B0604020202020204" pitchFamily="34" charset="0"/>
            </a:endParaRPr>
          </a:p>
        </p:txBody>
      </p:sp>
      <p:sp>
        <p:nvSpPr>
          <p:cNvPr id="89" name="文本框 88"/>
          <p:cNvSpPr txBox="1"/>
          <p:nvPr/>
        </p:nvSpPr>
        <p:spPr bwMode="gray">
          <a:xfrm>
            <a:off x="493628" y="1086536"/>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200</a:t>
            </a:r>
            <a:endParaRPr lang="en-US" sz="1200" b="1" dirty="0">
              <a:cs typeface="Arial" panose="020B0604020202020204" pitchFamily="34" charset="0"/>
            </a:endParaRPr>
          </a:p>
        </p:txBody>
      </p:sp>
      <p:sp>
        <p:nvSpPr>
          <p:cNvPr id="90" name="文本框 89"/>
          <p:cNvSpPr txBox="1"/>
          <p:nvPr/>
        </p:nvSpPr>
        <p:spPr bwMode="gray">
          <a:xfrm>
            <a:off x="493628" y="2478704"/>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100</a:t>
            </a:r>
            <a:endParaRPr lang="en-US" sz="1200" b="1" dirty="0">
              <a:cs typeface="Arial" panose="020B0604020202020204" pitchFamily="34" charset="0"/>
            </a:endParaRPr>
          </a:p>
        </p:txBody>
      </p:sp>
      <p:sp>
        <p:nvSpPr>
          <p:cNvPr id="91" name="文本框 90"/>
          <p:cNvSpPr txBox="1"/>
          <p:nvPr/>
        </p:nvSpPr>
        <p:spPr bwMode="gray">
          <a:xfrm>
            <a:off x="5372963" y="2478704"/>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300</a:t>
            </a:r>
            <a:endParaRPr lang="en-US" sz="1200" b="1" dirty="0">
              <a:cs typeface="Arial" panose="020B0604020202020204" pitchFamily="34" charset="0"/>
            </a:endParaRPr>
          </a:p>
        </p:txBody>
      </p:sp>
      <p:sp>
        <p:nvSpPr>
          <p:cNvPr id="92" name="文本框 91"/>
          <p:cNvSpPr txBox="1"/>
          <p:nvPr/>
        </p:nvSpPr>
        <p:spPr bwMode="gray">
          <a:xfrm>
            <a:off x="2045951" y="3577838"/>
            <a:ext cx="545342" cy="461665"/>
          </a:xfrm>
          <a:prstGeom prst="rect">
            <a:avLst/>
          </a:prstGeom>
          <a:noFill/>
        </p:spPr>
        <p:txBody>
          <a:bodyPr wrap="none" rtlCol="0">
            <a:spAutoFit/>
          </a:bodyPr>
          <a:lstStyle/>
          <a:p>
            <a:pPr algn="ctr"/>
            <a:r>
              <a:rPr lang="en-US" altLang="zh-CN" sz="1200" b="1" dirty="0" smtClean="0">
                <a:cs typeface="Arial" panose="020B0604020202020204" pitchFamily="34" charset="0"/>
              </a:rPr>
              <a:t>CE1</a:t>
            </a:r>
          </a:p>
          <a:p>
            <a:pPr algn="ctr"/>
            <a:r>
              <a:rPr lang="en-US" altLang="zh-CN" sz="1200" b="1" dirty="0" err="1" smtClean="0">
                <a:cs typeface="Arial" panose="020B0604020202020204" pitchFamily="34" charset="0"/>
              </a:rPr>
              <a:t>vpna</a:t>
            </a:r>
            <a:endParaRPr lang="en-US" sz="1200" b="1" dirty="0">
              <a:cs typeface="Arial" panose="020B0604020202020204" pitchFamily="34" charset="0"/>
            </a:endParaRPr>
          </a:p>
        </p:txBody>
      </p:sp>
      <p:sp>
        <p:nvSpPr>
          <p:cNvPr id="94" name="文本框 93"/>
          <p:cNvSpPr txBox="1"/>
          <p:nvPr/>
        </p:nvSpPr>
        <p:spPr bwMode="gray">
          <a:xfrm>
            <a:off x="2082468" y="1128506"/>
            <a:ext cx="452368" cy="276999"/>
          </a:xfrm>
          <a:prstGeom prst="rect">
            <a:avLst/>
          </a:prstGeom>
          <a:noFill/>
        </p:spPr>
        <p:txBody>
          <a:bodyPr wrap="none" rtlCol="0">
            <a:spAutoFit/>
          </a:bodyPr>
          <a:lstStyle/>
          <a:p>
            <a:pPr algn="ctr"/>
            <a:r>
              <a:rPr lang="en-US" altLang="zh-CN" sz="1200" b="1" dirty="0">
                <a:cs typeface="Arial" panose="020B0604020202020204" pitchFamily="34" charset="0"/>
              </a:rPr>
              <a:t>P</a:t>
            </a:r>
            <a:r>
              <a:rPr lang="en-US" altLang="zh-CN" sz="1200" b="1" dirty="0" smtClean="0">
                <a:cs typeface="Arial" panose="020B0604020202020204" pitchFamily="34" charset="0"/>
              </a:rPr>
              <a:t>E1</a:t>
            </a:r>
            <a:endParaRPr lang="en-US" sz="1200" b="1" dirty="0">
              <a:cs typeface="Arial" panose="020B0604020202020204" pitchFamily="34" charset="0"/>
            </a:endParaRPr>
          </a:p>
        </p:txBody>
      </p:sp>
      <p:sp>
        <p:nvSpPr>
          <p:cNvPr id="95" name="文本框 94"/>
          <p:cNvSpPr txBox="1"/>
          <p:nvPr/>
        </p:nvSpPr>
        <p:spPr bwMode="gray">
          <a:xfrm>
            <a:off x="4064882" y="1128506"/>
            <a:ext cx="455574" cy="276999"/>
          </a:xfrm>
          <a:prstGeom prst="rect">
            <a:avLst/>
          </a:prstGeom>
          <a:noFill/>
        </p:spPr>
        <p:txBody>
          <a:bodyPr wrap="none" rtlCol="0">
            <a:spAutoFit/>
          </a:bodyPr>
          <a:lstStyle/>
          <a:p>
            <a:pPr algn="ctr"/>
            <a:r>
              <a:rPr lang="en-US" altLang="zh-CN" sz="1200" b="1" dirty="0" smtClean="0">
                <a:cs typeface="Arial" panose="020B0604020202020204" pitchFamily="34" charset="0"/>
              </a:rPr>
              <a:t>PE2</a:t>
            </a:r>
            <a:endParaRPr lang="en-US" sz="1200" b="1" dirty="0">
              <a:cs typeface="Arial" panose="020B0604020202020204" pitchFamily="34" charset="0"/>
            </a:endParaRPr>
          </a:p>
        </p:txBody>
      </p:sp>
      <p:sp>
        <p:nvSpPr>
          <p:cNvPr id="72" name="五边形 71"/>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96" name="燕尾形 95"/>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97" name="燕尾形 96"/>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98" name="燕尾形 97"/>
          <p:cNvSpPr/>
          <p:nvPr/>
        </p:nvSpPr>
        <p:spPr bwMode="gray">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99" name="燕尾形 98"/>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燕尾形 99"/>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燕尾形 100"/>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文本框 106"/>
          <p:cNvSpPr txBox="1"/>
          <p:nvPr/>
        </p:nvSpPr>
        <p:spPr bwMode="gray">
          <a:xfrm>
            <a:off x="4017299" y="3577838"/>
            <a:ext cx="545342" cy="461665"/>
          </a:xfrm>
          <a:prstGeom prst="rect">
            <a:avLst/>
          </a:prstGeom>
          <a:noFill/>
        </p:spPr>
        <p:txBody>
          <a:bodyPr wrap="none" rtlCol="0">
            <a:spAutoFit/>
          </a:bodyPr>
          <a:lstStyle/>
          <a:p>
            <a:pPr algn="ctr"/>
            <a:r>
              <a:rPr lang="en-US" altLang="zh-CN" sz="1200" b="1" dirty="0" smtClean="0">
                <a:cs typeface="Arial" panose="020B0604020202020204" pitchFamily="34" charset="0"/>
              </a:rPr>
              <a:t>CE2</a:t>
            </a:r>
          </a:p>
          <a:p>
            <a:pPr algn="ctr"/>
            <a:r>
              <a:rPr lang="en-US" altLang="zh-CN" sz="1200" b="1" dirty="0" err="1" smtClean="0">
                <a:cs typeface="Arial" panose="020B0604020202020204" pitchFamily="34" charset="0"/>
              </a:rPr>
              <a:t>vpna</a:t>
            </a:r>
            <a:endParaRPr lang="en-US" sz="1200" b="1" dirty="0">
              <a:cs typeface="Arial" panose="020B0604020202020204" pitchFamily="34" charset="0"/>
            </a:endParaRPr>
          </a:p>
        </p:txBody>
      </p:sp>
      <p:sp>
        <p:nvSpPr>
          <p:cNvPr id="55" name="文本框 31"/>
          <p:cNvSpPr txBox="1"/>
          <p:nvPr/>
        </p:nvSpPr>
        <p:spPr bwMode="gray">
          <a:xfrm>
            <a:off x="6215740" y="1066755"/>
            <a:ext cx="5227643" cy="584775"/>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4</a:t>
            </a:r>
            <a:r>
              <a:rPr lang="zh-CN" altLang="en-US" sz="1600" dirty="0" smtClean="0">
                <a:solidFill>
                  <a:prstClr val="black"/>
                </a:solidFill>
              </a:rPr>
              <a:t>、</a:t>
            </a:r>
            <a:r>
              <a:rPr lang="en-US" altLang="zh-CN" sz="1600" dirty="0">
                <a:solidFill>
                  <a:prstClr val="black"/>
                </a:solidFill>
              </a:rPr>
              <a:t>PE</a:t>
            </a:r>
            <a:r>
              <a:rPr lang="zh-CN" altLang="en-US" sz="1600" dirty="0">
                <a:solidFill>
                  <a:prstClr val="black"/>
                </a:solidFill>
              </a:rPr>
              <a:t>上创建支持</a:t>
            </a:r>
            <a:r>
              <a:rPr lang="en-US" altLang="zh-CN" sz="1600" dirty="0">
                <a:solidFill>
                  <a:prstClr val="black"/>
                </a:solidFill>
              </a:rPr>
              <a:t>IPv6</a:t>
            </a:r>
            <a:r>
              <a:rPr lang="zh-CN" altLang="en-US" sz="1600" dirty="0">
                <a:solidFill>
                  <a:prstClr val="black"/>
                </a:solidFill>
              </a:rPr>
              <a:t>地址族的</a:t>
            </a:r>
            <a:r>
              <a:rPr lang="en-US" altLang="zh-CN" sz="1600" dirty="0">
                <a:solidFill>
                  <a:prstClr val="black"/>
                </a:solidFill>
              </a:rPr>
              <a:t>VPN</a:t>
            </a:r>
            <a:r>
              <a:rPr lang="zh-CN" altLang="en-US" sz="1600" dirty="0">
                <a:solidFill>
                  <a:prstClr val="black"/>
                </a:solidFill>
              </a:rPr>
              <a:t>实例，并将</a:t>
            </a:r>
            <a:r>
              <a:rPr lang="en-US" altLang="zh-CN" sz="1600" dirty="0">
                <a:solidFill>
                  <a:prstClr val="black"/>
                </a:solidFill>
              </a:rPr>
              <a:t>PE</a:t>
            </a:r>
            <a:r>
              <a:rPr lang="zh-CN" altLang="en-US" sz="1600" dirty="0">
                <a:solidFill>
                  <a:prstClr val="black"/>
                </a:solidFill>
              </a:rPr>
              <a:t>连接</a:t>
            </a:r>
            <a:r>
              <a:rPr lang="en-US" altLang="zh-CN" sz="1600" dirty="0">
                <a:solidFill>
                  <a:prstClr val="black"/>
                </a:solidFill>
              </a:rPr>
              <a:t>CE</a:t>
            </a:r>
            <a:r>
              <a:rPr lang="zh-CN" altLang="en-US" sz="1600" dirty="0">
                <a:solidFill>
                  <a:prstClr val="black"/>
                </a:solidFill>
              </a:rPr>
              <a:t>的接口与</a:t>
            </a:r>
            <a:r>
              <a:rPr lang="en-US" altLang="zh-CN" sz="1600" dirty="0">
                <a:solidFill>
                  <a:prstClr val="black"/>
                </a:solidFill>
              </a:rPr>
              <a:t>VPN</a:t>
            </a:r>
            <a:r>
              <a:rPr lang="zh-CN" altLang="en-US" sz="1600" dirty="0">
                <a:solidFill>
                  <a:prstClr val="black"/>
                </a:solidFill>
              </a:rPr>
              <a:t>实例绑定。</a:t>
            </a:r>
          </a:p>
        </p:txBody>
      </p:sp>
      <p:sp>
        <p:nvSpPr>
          <p:cNvPr id="56" name="文本框 32"/>
          <p:cNvSpPr txBox="1"/>
          <p:nvPr/>
        </p:nvSpPr>
        <p:spPr bwMode="gray">
          <a:xfrm>
            <a:off x="6419894" y="1683534"/>
            <a:ext cx="5125037" cy="954107"/>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[PE1</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ip</a:t>
            </a:r>
            <a:r>
              <a:rPr lang="en-US" altLang="zh-CN" sz="1400" dirty="0">
                <a:solidFill>
                  <a:prstClr val="black"/>
                </a:solidFill>
                <a:cs typeface="Courier New" panose="02070309020205020404" pitchFamily="49" charset="0"/>
              </a:rPr>
              <a:t> vpn-instance </a:t>
            </a:r>
            <a:r>
              <a:rPr lang="en-US" altLang="zh-CN" sz="1400" dirty="0" err="1">
                <a:solidFill>
                  <a:prstClr val="black"/>
                </a:solidFill>
                <a:cs typeface="Courier New" panose="02070309020205020404" pitchFamily="49" charset="0"/>
              </a:rPr>
              <a:t>vpna</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[PE1-vpn-instance-vpna</a:t>
            </a:r>
            <a:r>
              <a:rPr lang="en-US" altLang="zh-CN" sz="1400" dirty="0">
                <a:solidFill>
                  <a:prstClr val="black"/>
                </a:solidFill>
                <a:cs typeface="Courier New" panose="02070309020205020404" pitchFamily="49" charset="0"/>
              </a:rPr>
              <a:t>] ipv6-family</a:t>
            </a:r>
          </a:p>
          <a:p>
            <a:r>
              <a:rPr lang="en-US" altLang="zh-CN" sz="1400" dirty="0" smtClean="0">
                <a:solidFill>
                  <a:prstClr val="black"/>
                </a:solidFill>
                <a:cs typeface="Courier New" panose="02070309020205020404" pitchFamily="49" charset="0"/>
              </a:rPr>
              <a:t>[PE1-vpn-instance-vpna-af-ipv6</a:t>
            </a:r>
            <a:r>
              <a:rPr lang="en-US" altLang="zh-CN" sz="1400" dirty="0">
                <a:solidFill>
                  <a:prstClr val="black"/>
                </a:solidFill>
                <a:cs typeface="Courier New" panose="02070309020205020404" pitchFamily="49" charset="0"/>
              </a:rPr>
              <a:t>] route-distinguisher 100:1</a:t>
            </a:r>
          </a:p>
          <a:p>
            <a:r>
              <a:rPr lang="en-US" altLang="zh-CN" sz="1400" dirty="0" smtClean="0">
                <a:solidFill>
                  <a:prstClr val="black"/>
                </a:solidFill>
                <a:cs typeface="Courier New" panose="02070309020205020404" pitchFamily="49" charset="0"/>
              </a:rPr>
              <a:t>[PE1-vpn-instance-vpna-af-ipv6</a:t>
            </a:r>
            <a:r>
              <a:rPr lang="en-US" altLang="zh-CN" sz="1400" dirty="0">
                <a:solidFill>
                  <a:prstClr val="black"/>
                </a:solidFill>
                <a:cs typeface="Courier New" panose="02070309020205020404" pitchFamily="49" charset="0"/>
              </a:rPr>
              <a:t>] vpn-target 22:22 </a:t>
            </a:r>
            <a:r>
              <a:rPr lang="en-US" altLang="zh-CN" sz="1400" dirty="0" smtClean="0">
                <a:solidFill>
                  <a:prstClr val="black"/>
                </a:solidFill>
                <a:cs typeface="Courier New" panose="02070309020205020404" pitchFamily="49" charset="0"/>
              </a:rPr>
              <a:t>both</a:t>
            </a:r>
            <a:endParaRPr lang="en-US" altLang="zh-CN" sz="1400" dirty="0">
              <a:solidFill>
                <a:prstClr val="black"/>
              </a:solidFill>
              <a:cs typeface="Courier New" panose="02070309020205020404" pitchFamily="49" charset="0"/>
            </a:endParaRPr>
          </a:p>
        </p:txBody>
      </p:sp>
      <p:sp>
        <p:nvSpPr>
          <p:cNvPr id="61" name="文本框 32"/>
          <p:cNvSpPr txBox="1"/>
          <p:nvPr/>
        </p:nvSpPr>
        <p:spPr bwMode="gray">
          <a:xfrm>
            <a:off x="6419894" y="2822694"/>
            <a:ext cx="5125037" cy="954107"/>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[PE1</a:t>
            </a:r>
            <a:r>
              <a:rPr lang="en-US" altLang="zh-CN" sz="1400" dirty="0">
                <a:solidFill>
                  <a:prstClr val="black"/>
                </a:solidFill>
                <a:cs typeface="Courier New" panose="02070309020205020404" pitchFamily="49" charset="0"/>
              </a:rPr>
              <a:t>] interface </a:t>
            </a:r>
            <a:r>
              <a:rPr lang="en-US" altLang="zh-CN" sz="1400" dirty="0" smtClean="0">
                <a:solidFill>
                  <a:prstClr val="black"/>
                </a:solidFill>
                <a:cs typeface="Courier New" panose="02070309020205020404" pitchFamily="49" charset="0"/>
              </a:rPr>
              <a:t>GigabitEthernet0/0/1</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[PE1-GigabitEthernet0/0/1] </a:t>
            </a:r>
            <a:r>
              <a:rPr lang="en-US" altLang="zh-CN" sz="1400" dirty="0" err="1">
                <a:solidFill>
                  <a:prstClr val="black"/>
                </a:solidFill>
                <a:cs typeface="Courier New" panose="02070309020205020404" pitchFamily="49" charset="0"/>
              </a:rPr>
              <a:t>ip</a:t>
            </a:r>
            <a:r>
              <a:rPr lang="en-US" altLang="zh-CN" sz="1400" dirty="0">
                <a:solidFill>
                  <a:prstClr val="black"/>
                </a:solidFill>
                <a:cs typeface="Courier New" panose="02070309020205020404" pitchFamily="49" charset="0"/>
              </a:rPr>
              <a:t> binding vpn-instance </a:t>
            </a:r>
            <a:r>
              <a:rPr lang="en-US" altLang="zh-CN" sz="1400" dirty="0" err="1">
                <a:solidFill>
                  <a:prstClr val="black"/>
                </a:solidFill>
                <a:cs typeface="Courier New" panose="02070309020205020404" pitchFamily="49" charset="0"/>
              </a:rPr>
              <a:t>vpna</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[PE1-GigabitEthernet0/0/1] </a:t>
            </a:r>
            <a:r>
              <a:rPr lang="en-US" altLang="zh-CN" sz="1400" dirty="0">
                <a:solidFill>
                  <a:prstClr val="black"/>
                </a:solidFill>
                <a:cs typeface="Courier New" panose="02070309020205020404" pitchFamily="49" charset="0"/>
              </a:rPr>
              <a:t>ipv6 enable</a:t>
            </a:r>
          </a:p>
          <a:p>
            <a:r>
              <a:rPr lang="en-US" altLang="zh-CN" sz="1400" dirty="0" smtClean="0">
                <a:solidFill>
                  <a:prstClr val="black"/>
                </a:solidFill>
                <a:cs typeface="Courier New" panose="02070309020205020404" pitchFamily="49" charset="0"/>
              </a:rPr>
              <a:t>[PE1-GigabitEthernet0/0/1] </a:t>
            </a:r>
            <a:r>
              <a:rPr lang="en-US" altLang="zh-CN" sz="1400" dirty="0">
                <a:solidFill>
                  <a:prstClr val="black"/>
                </a:solidFill>
                <a:cs typeface="Courier New" panose="02070309020205020404" pitchFamily="49" charset="0"/>
              </a:rPr>
              <a:t>ipv6 address </a:t>
            </a:r>
            <a:r>
              <a:rPr lang="en-US" altLang="zh-CN" sz="1400" dirty="0" smtClean="0">
                <a:solidFill>
                  <a:prstClr val="black"/>
                </a:solidFill>
                <a:cs typeface="Courier New" panose="02070309020205020404" pitchFamily="49" charset="0"/>
              </a:rPr>
              <a:t>2001:DB8:1</a:t>
            </a:r>
            <a:r>
              <a:rPr lang="en-US" altLang="zh-CN" sz="1400" dirty="0">
                <a:solidFill>
                  <a:prstClr val="black"/>
                </a:solidFill>
                <a:cs typeface="Courier New" panose="02070309020205020404" pitchFamily="49" charset="0"/>
              </a:rPr>
              <a:t>::2 64</a:t>
            </a:r>
          </a:p>
        </p:txBody>
      </p:sp>
      <p:sp>
        <p:nvSpPr>
          <p:cNvPr id="63" name="文本框 62"/>
          <p:cNvSpPr txBox="1"/>
          <p:nvPr/>
        </p:nvSpPr>
        <p:spPr bwMode="gray">
          <a:xfrm>
            <a:off x="9962606" y="5838339"/>
            <a:ext cx="1786482" cy="350865"/>
          </a:xfrm>
          <a:prstGeom prst="rect">
            <a:avLst/>
          </a:prstGeom>
          <a:noFill/>
        </p:spPr>
        <p:txBody>
          <a:bodyPr wrap="square" rtlCol="0">
            <a:spAutoFit/>
          </a:bodyPr>
          <a:lstStyle/>
          <a:p>
            <a:pPr>
              <a:lnSpc>
                <a:spcPct val="140000"/>
              </a:lnSpc>
            </a:pPr>
            <a:r>
              <a:rPr lang="en-US" altLang="zh-CN" sz="1200" dirty="0" smtClean="0"/>
              <a:t>PE2</a:t>
            </a:r>
            <a:r>
              <a:rPr lang="zh-CN" altLang="en-US" sz="1200" dirty="0" smtClean="0"/>
              <a:t>与</a:t>
            </a:r>
            <a:r>
              <a:rPr lang="en-US" altLang="zh-CN" sz="1200" dirty="0" smtClean="0"/>
              <a:t>PE1</a:t>
            </a:r>
            <a:r>
              <a:rPr lang="zh-CN" altLang="en-US" sz="1200" dirty="0" smtClean="0"/>
              <a:t>配置类似，略。</a:t>
            </a:r>
            <a:endParaRPr lang="zh-CN" altLang="en-US" sz="1200" dirty="0"/>
          </a:p>
        </p:txBody>
      </p:sp>
    </p:spTree>
    <p:extLst>
      <p:ext uri="{BB962C8B-B14F-4D97-AF65-F5344CB8AC3E}">
        <p14:creationId xmlns:p14="http://schemas.microsoft.com/office/powerpoint/2010/main" val="22113452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文本框 87"/>
          <p:cNvSpPr txBox="1"/>
          <p:nvPr/>
        </p:nvSpPr>
        <p:spPr bwMode="gray">
          <a:xfrm>
            <a:off x="3859822" y="2463742"/>
            <a:ext cx="2241972" cy="1672012"/>
          </a:xfrm>
          <a:prstGeom prst="rect">
            <a:avLst/>
          </a:prstGeom>
          <a:solidFill>
            <a:schemeClr val="bg1">
              <a:lumMod val="95000"/>
            </a:schemeClr>
          </a:solidFill>
          <a:ln>
            <a:solidFill>
              <a:schemeClr val="bg1">
                <a:lumMod val="75000"/>
              </a:schemeClr>
            </a:solidFill>
            <a:prstDash val="dash"/>
          </a:ln>
        </p:spPr>
        <p:txBody>
          <a:bodyPr wrap="square" rtlCol="0">
            <a:noAutofit/>
          </a:bodyPr>
          <a:lstStyle/>
          <a:p>
            <a:endParaRPr lang="en-US" altLang="zh-CN" sz="1200" dirty="0">
              <a:cs typeface="Arial" panose="020B0604020202020204" pitchFamily="34" charset="0"/>
            </a:endParaRPr>
          </a:p>
        </p:txBody>
      </p:sp>
      <p:sp>
        <p:nvSpPr>
          <p:cNvPr id="87" name="文本框 86"/>
          <p:cNvSpPr txBox="1"/>
          <p:nvPr/>
        </p:nvSpPr>
        <p:spPr bwMode="gray">
          <a:xfrm>
            <a:off x="455614" y="2463742"/>
            <a:ext cx="2270170" cy="1672012"/>
          </a:xfrm>
          <a:prstGeom prst="rect">
            <a:avLst/>
          </a:prstGeom>
          <a:solidFill>
            <a:schemeClr val="bg1">
              <a:lumMod val="95000"/>
            </a:schemeClr>
          </a:solidFill>
          <a:ln>
            <a:solidFill>
              <a:schemeClr val="bg1">
                <a:lumMod val="75000"/>
              </a:schemeClr>
            </a:solidFill>
            <a:prstDash val="dash"/>
          </a:ln>
        </p:spPr>
        <p:txBody>
          <a:bodyPr wrap="square" rtlCol="0">
            <a:noAutofit/>
          </a:bodyPr>
          <a:lstStyle/>
          <a:p>
            <a:endParaRPr lang="en-US" altLang="zh-CN" sz="1200" dirty="0">
              <a:cs typeface="Arial" panose="020B0604020202020204" pitchFamily="34" charset="0"/>
            </a:endParaRPr>
          </a:p>
        </p:txBody>
      </p:sp>
      <p:sp>
        <p:nvSpPr>
          <p:cNvPr id="60" name="文本框 59"/>
          <p:cNvSpPr txBox="1"/>
          <p:nvPr/>
        </p:nvSpPr>
        <p:spPr bwMode="gray">
          <a:xfrm>
            <a:off x="455614" y="1067356"/>
            <a:ext cx="5631486" cy="1247691"/>
          </a:xfrm>
          <a:prstGeom prst="rect">
            <a:avLst/>
          </a:prstGeom>
          <a:solidFill>
            <a:srgbClr val="F2FBFC"/>
          </a:solidFill>
          <a:ln>
            <a:solidFill>
              <a:srgbClr val="94DAE2"/>
            </a:solidFill>
            <a:prstDash val="dash"/>
          </a:ln>
        </p:spPr>
        <p:txBody>
          <a:bodyPr wrap="square" rtlCol="0">
            <a:noAutofit/>
          </a:bodyPr>
          <a:lstStyle/>
          <a:p>
            <a:endParaRPr lang="en-US" altLang="zh-CN" sz="1200" dirty="0">
              <a:cs typeface="Arial" panose="020B0604020202020204" pitchFamily="34" charset="0"/>
            </a:endParaRPr>
          </a:p>
        </p:txBody>
      </p:sp>
      <p:sp>
        <p:nvSpPr>
          <p:cNvPr id="2" name="标题 1"/>
          <p:cNvSpPr>
            <a:spLocks noGrp="1"/>
          </p:cNvSpPr>
          <p:nvPr>
            <p:ph type="title"/>
          </p:nvPr>
        </p:nvSpPr>
        <p:spPr bwMode="gray"/>
        <p:txBody>
          <a:bodyPr/>
          <a:lstStyle/>
          <a:p>
            <a:r>
              <a:rPr lang="en-US" altLang="zh-CN" dirty="0" smtClean="0"/>
              <a:t>6VPE</a:t>
            </a:r>
            <a:r>
              <a:rPr lang="zh-CN" altLang="en-US" dirty="0" smtClean="0"/>
              <a:t>配置举例 </a:t>
            </a:r>
            <a:r>
              <a:rPr lang="en-US" altLang="zh-CN" dirty="0" smtClean="0"/>
              <a:t>(3)</a:t>
            </a:r>
            <a:endParaRPr lang="zh-CN" altLang="en-US" dirty="0"/>
          </a:p>
        </p:txBody>
      </p:sp>
      <p:sp>
        <p:nvSpPr>
          <p:cNvPr id="44" name="文本占位符 43"/>
          <p:cNvSpPr>
            <a:spLocks noGrp="1"/>
          </p:cNvSpPr>
          <p:nvPr>
            <p:ph type="body" sz="quarter" idx="10"/>
          </p:nvPr>
        </p:nvSpPr>
        <p:spPr bwMode="gray">
          <a:xfrm>
            <a:off x="455613" y="4150716"/>
            <a:ext cx="5646182" cy="2050059"/>
          </a:xfrm>
        </p:spPr>
        <p:txBody>
          <a:bodyPr/>
          <a:lstStyle/>
          <a:p>
            <a:r>
              <a:rPr lang="zh-CN" altLang="en-US" sz="1600" dirty="0" smtClean="0"/>
              <a:t>配置需求：</a:t>
            </a:r>
            <a:endParaRPr lang="en-US" altLang="zh-CN" sz="1600" dirty="0" smtClean="0"/>
          </a:p>
          <a:p>
            <a:pPr lvl="1"/>
            <a:r>
              <a:rPr lang="zh-CN" altLang="en-US" sz="1400" dirty="0" smtClean="0"/>
              <a:t>不同用户站点希望通过公网进行</a:t>
            </a:r>
            <a:r>
              <a:rPr lang="en-US" altLang="zh-CN" sz="1400" dirty="0" smtClean="0"/>
              <a:t>IPv6</a:t>
            </a:r>
            <a:r>
              <a:rPr lang="zh-CN" altLang="en-US" sz="1400" dirty="0" smtClean="0"/>
              <a:t>的数据通信，而又不希望公网感知到站点内部的路由信息，且希望实现业务隔离。</a:t>
            </a:r>
            <a:endParaRPr lang="en-US" altLang="zh-CN" sz="1400" dirty="0" smtClean="0"/>
          </a:p>
          <a:p>
            <a:pPr lvl="1"/>
            <a:r>
              <a:rPr lang="zh-CN" altLang="en-US" sz="1400" dirty="0" smtClean="0"/>
              <a:t>如图所示，</a:t>
            </a:r>
            <a:r>
              <a:rPr lang="en-US" altLang="zh-CN" sz="1400" dirty="0" smtClean="0"/>
              <a:t>CE1</a:t>
            </a:r>
            <a:r>
              <a:rPr lang="zh-CN" altLang="en-US" sz="1400" dirty="0" smtClean="0"/>
              <a:t>和</a:t>
            </a:r>
            <a:r>
              <a:rPr lang="en-US" altLang="zh-CN" sz="1400" dirty="0" smtClean="0"/>
              <a:t>CE2</a:t>
            </a:r>
            <a:r>
              <a:rPr lang="zh-CN" altLang="en-US" sz="1400" dirty="0" smtClean="0"/>
              <a:t>属于</a:t>
            </a:r>
            <a:r>
              <a:rPr lang="en-US" altLang="zh-CN" sz="1400" dirty="0" err="1" smtClean="0"/>
              <a:t>vpna</a:t>
            </a:r>
            <a:r>
              <a:rPr lang="zh-CN" altLang="en-US" sz="1400" dirty="0" smtClean="0"/>
              <a:t>。希望通过配置</a:t>
            </a:r>
            <a:r>
              <a:rPr lang="en-US" altLang="zh-CN" sz="1400" dirty="0" smtClean="0"/>
              <a:t>6VPE</a:t>
            </a:r>
            <a:r>
              <a:rPr lang="zh-CN" altLang="en-US" sz="1400" dirty="0" smtClean="0"/>
              <a:t>，使得</a:t>
            </a:r>
            <a:r>
              <a:rPr lang="en-US" altLang="zh-CN" sz="1400" dirty="0" err="1" smtClean="0"/>
              <a:t>vpna</a:t>
            </a:r>
            <a:r>
              <a:rPr lang="zh-CN" altLang="en-US" sz="1400" dirty="0" smtClean="0"/>
              <a:t>的内部站点可以通过</a:t>
            </a:r>
            <a:r>
              <a:rPr lang="en-US" altLang="zh-CN" sz="1400" dirty="0" smtClean="0"/>
              <a:t>MPLS</a:t>
            </a:r>
            <a:r>
              <a:rPr lang="zh-CN" altLang="en-US" sz="1400" dirty="0" smtClean="0"/>
              <a:t>骨干网互相访问，同时希望</a:t>
            </a:r>
            <a:r>
              <a:rPr lang="en-US" altLang="zh-CN" sz="1400" dirty="0" smtClean="0"/>
              <a:t>PE</a:t>
            </a:r>
            <a:r>
              <a:rPr lang="zh-CN" altLang="en-US" sz="1400" dirty="0" smtClean="0"/>
              <a:t>与</a:t>
            </a:r>
            <a:r>
              <a:rPr lang="en-US" altLang="zh-CN" sz="1400" dirty="0" smtClean="0"/>
              <a:t>CE</a:t>
            </a:r>
            <a:r>
              <a:rPr lang="zh-CN" altLang="en-US" sz="1400" dirty="0" smtClean="0"/>
              <a:t>之间采用静态路由的方式来交换路由。</a:t>
            </a:r>
            <a:endParaRPr lang="zh-CN" altLang="en-US" sz="1400" dirty="0"/>
          </a:p>
        </p:txBody>
      </p:sp>
      <p:cxnSp>
        <p:nvCxnSpPr>
          <p:cNvPr id="39" name="直接连接符 38"/>
          <p:cNvCxnSpPr>
            <a:stCxn id="41" idx="2"/>
            <a:endCxn id="70" idx="0"/>
          </p:cNvCxnSpPr>
          <p:nvPr/>
        </p:nvCxnSpPr>
        <p:spPr bwMode="gray">
          <a:xfrm>
            <a:off x="2308652" y="1832808"/>
            <a:ext cx="0" cy="131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8652" y="1390008"/>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9748" y="1390008"/>
            <a:ext cx="540000" cy="442800"/>
          </a:xfrm>
          <a:prstGeom prst="rect">
            <a:avLst/>
          </a:prstGeom>
        </p:spPr>
      </p:pic>
      <p:cxnSp>
        <p:nvCxnSpPr>
          <p:cNvPr id="45" name="直接连接符 44"/>
          <p:cNvCxnSpPr>
            <a:stCxn id="41" idx="3"/>
            <a:endCxn id="43" idx="1"/>
          </p:cNvCxnSpPr>
          <p:nvPr/>
        </p:nvCxnSpPr>
        <p:spPr bwMode="gray">
          <a:xfrm>
            <a:off x="2578652" y="1611408"/>
            <a:ext cx="14410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bwMode="gray">
          <a:xfrm>
            <a:off x="2513764" y="1162301"/>
            <a:ext cx="955711" cy="461665"/>
          </a:xfrm>
          <a:prstGeom prst="rect">
            <a:avLst/>
          </a:prstGeom>
          <a:noFill/>
        </p:spPr>
        <p:txBody>
          <a:bodyPr wrap="none" rtlCol="0">
            <a:spAutoFit/>
          </a:bodyPr>
          <a:lstStyle/>
          <a:p>
            <a:r>
              <a:rPr lang="en-US" altLang="zh-CN" sz="1200" dirty="0" smtClean="0">
                <a:cs typeface="Arial" panose="020B0604020202020204" pitchFamily="34" charset="0"/>
              </a:rPr>
              <a:t>GE0/0/2</a:t>
            </a:r>
          </a:p>
          <a:p>
            <a:r>
              <a:rPr lang="en-US" sz="1200" dirty="0" smtClean="0">
                <a:cs typeface="Arial" panose="020B0604020202020204" pitchFamily="34" charset="0"/>
              </a:rPr>
              <a:t>10.0.0.1/30</a:t>
            </a:r>
            <a:endParaRPr lang="en-US" sz="1200" dirty="0">
              <a:cs typeface="Arial" panose="020B0604020202020204" pitchFamily="34" charset="0"/>
            </a:endParaRPr>
          </a:p>
        </p:txBody>
      </p:sp>
      <p:sp>
        <p:nvSpPr>
          <p:cNvPr id="48" name="文本框 47"/>
          <p:cNvSpPr txBox="1"/>
          <p:nvPr/>
        </p:nvSpPr>
        <p:spPr bwMode="gray">
          <a:xfrm>
            <a:off x="3109171" y="1578942"/>
            <a:ext cx="955711" cy="461665"/>
          </a:xfrm>
          <a:prstGeom prst="rect">
            <a:avLst/>
          </a:prstGeom>
          <a:noFill/>
        </p:spPr>
        <p:txBody>
          <a:bodyPr wrap="none" rtlCol="0">
            <a:spAutoFit/>
          </a:bodyPr>
          <a:lstStyle/>
          <a:p>
            <a:pPr algn="r"/>
            <a:r>
              <a:rPr lang="en-US" altLang="zh-CN" sz="1200" dirty="0" smtClean="0">
                <a:cs typeface="Arial" panose="020B0604020202020204" pitchFamily="34" charset="0"/>
              </a:rPr>
              <a:t>GE0/0/2</a:t>
            </a:r>
          </a:p>
          <a:p>
            <a:pPr algn="r"/>
            <a:r>
              <a:rPr lang="en-US" sz="1200" dirty="0" smtClean="0">
                <a:cs typeface="Arial" panose="020B0604020202020204" pitchFamily="34" charset="0"/>
              </a:rPr>
              <a:t>10.0.0.2/30</a:t>
            </a:r>
            <a:endParaRPr lang="en-US" sz="1200" dirty="0">
              <a:cs typeface="Arial" panose="020B0604020202020204" pitchFamily="34" charset="0"/>
            </a:endParaRPr>
          </a:p>
        </p:txBody>
      </p:sp>
      <p:grpSp>
        <p:nvGrpSpPr>
          <p:cNvPr id="4" name="组合 3"/>
          <p:cNvGrpSpPr/>
          <p:nvPr/>
        </p:nvGrpSpPr>
        <p:grpSpPr bwMode="gray">
          <a:xfrm>
            <a:off x="4559748" y="1509556"/>
            <a:ext cx="114397" cy="216000"/>
            <a:chOff x="8351023" y="4222121"/>
            <a:chExt cx="114397" cy="216000"/>
          </a:xfrm>
        </p:grpSpPr>
        <p:cxnSp>
          <p:nvCxnSpPr>
            <p:cNvPr id="50" name="直接连接符 49"/>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bwMode="gray">
          <a:xfrm flipH="1">
            <a:off x="1917858" y="1509556"/>
            <a:ext cx="114397" cy="216000"/>
            <a:chOff x="8351023" y="4222121"/>
            <a:chExt cx="114397" cy="216000"/>
          </a:xfrm>
        </p:grpSpPr>
        <p:cxnSp>
          <p:nvCxnSpPr>
            <p:cNvPr id="57" name="直接连接符 56"/>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 name="文本框 58"/>
          <p:cNvSpPr txBox="1"/>
          <p:nvPr/>
        </p:nvSpPr>
        <p:spPr bwMode="gray">
          <a:xfrm>
            <a:off x="4674145" y="1393133"/>
            <a:ext cx="939681" cy="461665"/>
          </a:xfrm>
          <a:prstGeom prst="rect">
            <a:avLst/>
          </a:prstGeom>
          <a:noFill/>
        </p:spPr>
        <p:txBody>
          <a:bodyPr wrap="none" rtlCol="0">
            <a:spAutoFit/>
          </a:bodyPr>
          <a:lstStyle/>
          <a:p>
            <a:r>
              <a:rPr lang="en-US" altLang="zh-CN" sz="1200" dirty="0" smtClean="0">
                <a:cs typeface="Arial" panose="020B0604020202020204" pitchFamily="34" charset="0"/>
              </a:rPr>
              <a:t>Loopback0</a:t>
            </a:r>
            <a:endParaRPr lang="en-US" altLang="zh-CN" sz="1200" dirty="0">
              <a:cs typeface="Arial" panose="020B0604020202020204" pitchFamily="34" charset="0"/>
            </a:endParaRPr>
          </a:p>
          <a:p>
            <a:r>
              <a:rPr lang="en-US" sz="1200" dirty="0" smtClean="0">
                <a:cs typeface="Arial" panose="020B0604020202020204" pitchFamily="34" charset="0"/>
              </a:rPr>
              <a:t>3.3.3.3/32</a:t>
            </a:r>
            <a:endParaRPr lang="en-US" sz="1200" dirty="0">
              <a:cs typeface="Arial" panose="020B0604020202020204" pitchFamily="34" charset="0"/>
            </a:endParaRPr>
          </a:p>
        </p:txBody>
      </p:sp>
      <p:sp>
        <p:nvSpPr>
          <p:cNvPr id="69" name="文本框 68"/>
          <p:cNvSpPr txBox="1"/>
          <p:nvPr/>
        </p:nvSpPr>
        <p:spPr bwMode="gray">
          <a:xfrm>
            <a:off x="971780" y="1393133"/>
            <a:ext cx="939681" cy="461665"/>
          </a:xfrm>
          <a:prstGeom prst="rect">
            <a:avLst/>
          </a:prstGeom>
          <a:noFill/>
        </p:spPr>
        <p:txBody>
          <a:bodyPr wrap="none" rtlCol="0">
            <a:spAutoFit/>
          </a:bodyPr>
          <a:lstStyle/>
          <a:p>
            <a:pPr algn="r"/>
            <a:r>
              <a:rPr lang="en-US" altLang="zh-CN" sz="1200" dirty="0" smtClean="0">
                <a:cs typeface="Arial" panose="020B0604020202020204" pitchFamily="34" charset="0"/>
              </a:rPr>
              <a:t>Loopback0</a:t>
            </a:r>
            <a:endParaRPr lang="en-US" altLang="zh-CN" sz="1200" dirty="0">
              <a:cs typeface="Arial" panose="020B0604020202020204" pitchFamily="34" charset="0"/>
            </a:endParaRPr>
          </a:p>
          <a:p>
            <a:pPr algn="r"/>
            <a:r>
              <a:rPr lang="en-US" sz="1200" dirty="0" smtClean="0">
                <a:cs typeface="Arial" panose="020B0604020202020204" pitchFamily="34" charset="0"/>
              </a:rPr>
              <a:t>2.2.2.2/32</a:t>
            </a:r>
            <a:endParaRPr lang="en-US" sz="1200" dirty="0">
              <a:cs typeface="Arial" panose="020B0604020202020204" pitchFamily="34" charset="0"/>
            </a:endParaRPr>
          </a:p>
        </p:txBody>
      </p:sp>
      <p:pic>
        <p:nvPicPr>
          <p:cNvPr id="70" name="图片 6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8652" y="3148586"/>
            <a:ext cx="540000" cy="442800"/>
          </a:xfrm>
          <a:prstGeom prst="rect">
            <a:avLst/>
          </a:prstGeom>
        </p:spPr>
      </p:pic>
      <p:sp>
        <p:nvSpPr>
          <p:cNvPr id="73" name="文本框 72"/>
          <p:cNvSpPr txBox="1"/>
          <p:nvPr/>
        </p:nvSpPr>
        <p:spPr bwMode="gray">
          <a:xfrm>
            <a:off x="936905" y="1837948"/>
            <a:ext cx="1369286" cy="461665"/>
          </a:xfrm>
          <a:prstGeom prst="rect">
            <a:avLst/>
          </a:prstGeom>
          <a:noFill/>
        </p:spPr>
        <p:txBody>
          <a:bodyPr wrap="none" rtlCol="0">
            <a:spAutoFit/>
          </a:bodyPr>
          <a:lstStyle/>
          <a:p>
            <a:pPr algn="r"/>
            <a:r>
              <a:rPr lang="en-US" altLang="zh-CN" sz="1200" dirty="0" smtClean="0">
                <a:cs typeface="Arial" panose="020B0604020202020204" pitchFamily="34" charset="0"/>
              </a:rPr>
              <a:t>GE0/0/1</a:t>
            </a:r>
          </a:p>
          <a:p>
            <a:pPr algn="r"/>
            <a:r>
              <a:rPr lang="en-US" sz="1200" dirty="0" smtClean="0">
                <a:cs typeface="Arial" panose="020B0604020202020204" pitchFamily="34" charset="0"/>
              </a:rPr>
              <a:t>2001:DB8:1::2/64</a:t>
            </a:r>
            <a:endParaRPr lang="en-US" sz="1200" dirty="0">
              <a:cs typeface="Arial" panose="020B0604020202020204" pitchFamily="34" charset="0"/>
            </a:endParaRPr>
          </a:p>
        </p:txBody>
      </p:sp>
      <p:cxnSp>
        <p:nvCxnSpPr>
          <p:cNvPr id="74" name="直接连接符 73"/>
          <p:cNvCxnSpPr>
            <a:stCxn id="43" idx="2"/>
            <a:endCxn id="75" idx="0"/>
          </p:cNvCxnSpPr>
          <p:nvPr/>
        </p:nvCxnSpPr>
        <p:spPr bwMode="gray">
          <a:xfrm>
            <a:off x="4289748" y="1832808"/>
            <a:ext cx="0" cy="131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7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9748" y="3148586"/>
            <a:ext cx="540000" cy="442800"/>
          </a:xfrm>
          <a:prstGeom prst="rect">
            <a:avLst/>
          </a:prstGeom>
        </p:spPr>
      </p:pic>
      <p:sp>
        <p:nvSpPr>
          <p:cNvPr id="76" name="文本框 75"/>
          <p:cNvSpPr txBox="1"/>
          <p:nvPr/>
        </p:nvSpPr>
        <p:spPr bwMode="gray">
          <a:xfrm>
            <a:off x="4290816" y="1837948"/>
            <a:ext cx="1369286" cy="461665"/>
          </a:xfrm>
          <a:prstGeom prst="rect">
            <a:avLst/>
          </a:prstGeom>
          <a:noFill/>
        </p:spPr>
        <p:txBody>
          <a:bodyPr wrap="none" rtlCol="0">
            <a:spAutoFit/>
          </a:bodyPr>
          <a:lstStyle/>
          <a:p>
            <a:r>
              <a:rPr lang="en-US" altLang="zh-CN" sz="1200" dirty="0" smtClean="0">
                <a:cs typeface="Arial" panose="020B0604020202020204" pitchFamily="34" charset="0"/>
              </a:rPr>
              <a:t>GE0/0/1</a:t>
            </a:r>
          </a:p>
          <a:p>
            <a:r>
              <a:rPr lang="en-US" sz="1200" dirty="0" smtClean="0">
                <a:cs typeface="Arial" panose="020B0604020202020204" pitchFamily="34" charset="0"/>
              </a:rPr>
              <a:t>2001:DB8:2::2/64</a:t>
            </a:r>
            <a:endParaRPr lang="en-US" sz="1200" dirty="0">
              <a:cs typeface="Arial" panose="020B0604020202020204" pitchFamily="34" charset="0"/>
            </a:endParaRPr>
          </a:p>
        </p:txBody>
      </p:sp>
      <p:sp>
        <p:nvSpPr>
          <p:cNvPr id="77" name="文本框 76"/>
          <p:cNvSpPr txBox="1"/>
          <p:nvPr/>
        </p:nvSpPr>
        <p:spPr bwMode="gray">
          <a:xfrm>
            <a:off x="936905" y="2690133"/>
            <a:ext cx="1369286" cy="461665"/>
          </a:xfrm>
          <a:prstGeom prst="rect">
            <a:avLst/>
          </a:prstGeom>
          <a:noFill/>
        </p:spPr>
        <p:txBody>
          <a:bodyPr wrap="none" rtlCol="0">
            <a:spAutoFit/>
          </a:bodyPr>
          <a:lstStyle/>
          <a:p>
            <a:pPr algn="r"/>
            <a:r>
              <a:rPr lang="en-US" altLang="zh-CN" sz="1200" dirty="0" smtClean="0">
                <a:cs typeface="Arial" panose="020B0604020202020204" pitchFamily="34" charset="0"/>
              </a:rPr>
              <a:t>GE0/0/1</a:t>
            </a:r>
          </a:p>
          <a:p>
            <a:pPr algn="r"/>
            <a:r>
              <a:rPr lang="en-US" sz="1200" dirty="0" smtClean="0">
                <a:cs typeface="Arial" panose="020B0604020202020204" pitchFamily="34" charset="0"/>
              </a:rPr>
              <a:t>2001:DB8:1::1/64</a:t>
            </a:r>
            <a:endParaRPr lang="en-US" sz="1200" dirty="0">
              <a:cs typeface="Arial" panose="020B0604020202020204" pitchFamily="34" charset="0"/>
            </a:endParaRPr>
          </a:p>
        </p:txBody>
      </p:sp>
      <p:sp>
        <p:nvSpPr>
          <p:cNvPr id="78" name="文本框 77"/>
          <p:cNvSpPr txBox="1"/>
          <p:nvPr/>
        </p:nvSpPr>
        <p:spPr bwMode="gray">
          <a:xfrm>
            <a:off x="4290816" y="2690133"/>
            <a:ext cx="1369286" cy="461665"/>
          </a:xfrm>
          <a:prstGeom prst="rect">
            <a:avLst/>
          </a:prstGeom>
          <a:noFill/>
        </p:spPr>
        <p:txBody>
          <a:bodyPr wrap="none" rtlCol="0">
            <a:spAutoFit/>
          </a:bodyPr>
          <a:lstStyle/>
          <a:p>
            <a:r>
              <a:rPr lang="en-US" altLang="zh-CN" sz="1200" dirty="0" smtClean="0">
                <a:cs typeface="Arial" panose="020B0604020202020204" pitchFamily="34" charset="0"/>
              </a:rPr>
              <a:t>GE0/0/1</a:t>
            </a:r>
          </a:p>
          <a:p>
            <a:r>
              <a:rPr lang="en-US" sz="1200" dirty="0" smtClean="0">
                <a:cs typeface="Arial" panose="020B0604020202020204" pitchFamily="34" charset="0"/>
              </a:rPr>
              <a:t>2001:DB8:2::1/64</a:t>
            </a:r>
            <a:endParaRPr lang="en-US" sz="1200" dirty="0">
              <a:cs typeface="Arial" panose="020B0604020202020204" pitchFamily="34" charset="0"/>
            </a:endParaRPr>
          </a:p>
        </p:txBody>
      </p:sp>
      <p:grpSp>
        <p:nvGrpSpPr>
          <p:cNvPr id="79" name="组合 78"/>
          <p:cNvGrpSpPr/>
          <p:nvPr/>
        </p:nvGrpSpPr>
        <p:grpSpPr bwMode="gray">
          <a:xfrm flipH="1">
            <a:off x="1917858" y="3270921"/>
            <a:ext cx="114397" cy="216000"/>
            <a:chOff x="8351023" y="4222121"/>
            <a:chExt cx="114397" cy="216000"/>
          </a:xfrm>
        </p:grpSpPr>
        <p:cxnSp>
          <p:nvCxnSpPr>
            <p:cNvPr id="80" name="直接连接符 79"/>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 name="文本框 81"/>
          <p:cNvSpPr txBox="1"/>
          <p:nvPr/>
        </p:nvSpPr>
        <p:spPr bwMode="gray">
          <a:xfrm>
            <a:off x="455613" y="3154498"/>
            <a:ext cx="1455848" cy="461665"/>
          </a:xfrm>
          <a:prstGeom prst="rect">
            <a:avLst/>
          </a:prstGeom>
          <a:noFill/>
        </p:spPr>
        <p:txBody>
          <a:bodyPr wrap="none" rtlCol="0">
            <a:spAutoFit/>
          </a:bodyPr>
          <a:lstStyle/>
          <a:p>
            <a:pPr algn="r"/>
            <a:r>
              <a:rPr lang="en-US" altLang="zh-CN" sz="1200" dirty="0" smtClean="0">
                <a:cs typeface="Arial" panose="020B0604020202020204" pitchFamily="34" charset="0"/>
              </a:rPr>
              <a:t>Loopback1</a:t>
            </a:r>
            <a:endParaRPr lang="en-US" altLang="zh-CN" sz="1200" dirty="0">
              <a:cs typeface="Arial" panose="020B0604020202020204" pitchFamily="34" charset="0"/>
            </a:endParaRPr>
          </a:p>
          <a:p>
            <a:pPr algn="r"/>
            <a:r>
              <a:rPr lang="en-US" altLang="zh-CN" sz="1200" dirty="0" smtClean="0">
                <a:cs typeface="Arial" panose="020B0604020202020204" pitchFamily="34" charset="0"/>
              </a:rPr>
              <a:t>2001:DB8:5::5/128</a:t>
            </a:r>
            <a:endParaRPr lang="en-US" altLang="zh-CN" sz="1200" dirty="0">
              <a:cs typeface="Arial" panose="020B0604020202020204" pitchFamily="34" charset="0"/>
            </a:endParaRPr>
          </a:p>
        </p:txBody>
      </p:sp>
      <p:grpSp>
        <p:nvGrpSpPr>
          <p:cNvPr id="83" name="组合 82"/>
          <p:cNvGrpSpPr/>
          <p:nvPr/>
        </p:nvGrpSpPr>
        <p:grpSpPr bwMode="gray">
          <a:xfrm>
            <a:off x="4559748" y="3270921"/>
            <a:ext cx="114397" cy="216000"/>
            <a:chOff x="8351023" y="4222121"/>
            <a:chExt cx="114397" cy="216000"/>
          </a:xfrm>
        </p:grpSpPr>
        <p:cxnSp>
          <p:nvCxnSpPr>
            <p:cNvPr id="84" name="直接连接符 83"/>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文本框 85"/>
          <p:cNvSpPr txBox="1"/>
          <p:nvPr/>
        </p:nvSpPr>
        <p:spPr bwMode="gray">
          <a:xfrm>
            <a:off x="4674145" y="3154498"/>
            <a:ext cx="1455848" cy="461665"/>
          </a:xfrm>
          <a:prstGeom prst="rect">
            <a:avLst/>
          </a:prstGeom>
          <a:noFill/>
        </p:spPr>
        <p:txBody>
          <a:bodyPr wrap="none" rtlCol="0">
            <a:spAutoFit/>
          </a:bodyPr>
          <a:lstStyle/>
          <a:p>
            <a:r>
              <a:rPr lang="en-US" altLang="zh-CN" sz="1200" dirty="0" smtClean="0">
                <a:cs typeface="Arial" panose="020B0604020202020204" pitchFamily="34" charset="0"/>
              </a:rPr>
              <a:t>Loopback1</a:t>
            </a:r>
            <a:endParaRPr lang="en-US" altLang="zh-CN" sz="1200" dirty="0">
              <a:cs typeface="Arial" panose="020B0604020202020204" pitchFamily="34" charset="0"/>
            </a:endParaRPr>
          </a:p>
          <a:p>
            <a:r>
              <a:rPr lang="en-US" altLang="zh-CN" sz="1200" dirty="0" smtClean="0">
                <a:cs typeface="Arial" panose="020B0604020202020204" pitchFamily="34" charset="0"/>
              </a:rPr>
              <a:t>2001:DB8:6::6/128</a:t>
            </a:r>
            <a:endParaRPr lang="en-US" altLang="zh-CN" sz="1200" dirty="0">
              <a:cs typeface="Arial" panose="020B0604020202020204" pitchFamily="34" charset="0"/>
            </a:endParaRPr>
          </a:p>
        </p:txBody>
      </p:sp>
      <p:sp>
        <p:nvSpPr>
          <p:cNvPr id="89" name="文本框 88"/>
          <p:cNvSpPr txBox="1"/>
          <p:nvPr/>
        </p:nvSpPr>
        <p:spPr bwMode="gray">
          <a:xfrm>
            <a:off x="493628" y="1086536"/>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200</a:t>
            </a:r>
            <a:endParaRPr lang="en-US" sz="1200" b="1" dirty="0">
              <a:cs typeface="Arial" panose="020B0604020202020204" pitchFamily="34" charset="0"/>
            </a:endParaRPr>
          </a:p>
        </p:txBody>
      </p:sp>
      <p:sp>
        <p:nvSpPr>
          <p:cNvPr id="90" name="文本框 89"/>
          <p:cNvSpPr txBox="1"/>
          <p:nvPr/>
        </p:nvSpPr>
        <p:spPr bwMode="gray">
          <a:xfrm>
            <a:off x="493628" y="2478704"/>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100</a:t>
            </a:r>
            <a:endParaRPr lang="en-US" sz="1200" b="1" dirty="0">
              <a:cs typeface="Arial" panose="020B0604020202020204" pitchFamily="34" charset="0"/>
            </a:endParaRPr>
          </a:p>
        </p:txBody>
      </p:sp>
      <p:sp>
        <p:nvSpPr>
          <p:cNvPr id="91" name="文本框 90"/>
          <p:cNvSpPr txBox="1"/>
          <p:nvPr/>
        </p:nvSpPr>
        <p:spPr bwMode="gray">
          <a:xfrm>
            <a:off x="5372963" y="2478704"/>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300</a:t>
            </a:r>
            <a:endParaRPr lang="en-US" sz="1200" b="1" dirty="0">
              <a:cs typeface="Arial" panose="020B0604020202020204" pitchFamily="34" charset="0"/>
            </a:endParaRPr>
          </a:p>
        </p:txBody>
      </p:sp>
      <p:sp>
        <p:nvSpPr>
          <p:cNvPr id="92" name="文本框 91"/>
          <p:cNvSpPr txBox="1"/>
          <p:nvPr/>
        </p:nvSpPr>
        <p:spPr bwMode="gray">
          <a:xfrm>
            <a:off x="2045951" y="3577838"/>
            <a:ext cx="545342" cy="461665"/>
          </a:xfrm>
          <a:prstGeom prst="rect">
            <a:avLst/>
          </a:prstGeom>
          <a:noFill/>
        </p:spPr>
        <p:txBody>
          <a:bodyPr wrap="none" rtlCol="0">
            <a:spAutoFit/>
          </a:bodyPr>
          <a:lstStyle/>
          <a:p>
            <a:pPr algn="ctr"/>
            <a:r>
              <a:rPr lang="en-US" altLang="zh-CN" sz="1200" b="1" dirty="0" smtClean="0">
                <a:cs typeface="Arial" panose="020B0604020202020204" pitchFamily="34" charset="0"/>
              </a:rPr>
              <a:t>CE1</a:t>
            </a:r>
          </a:p>
          <a:p>
            <a:pPr algn="ctr"/>
            <a:r>
              <a:rPr lang="en-US" altLang="zh-CN" sz="1200" b="1" dirty="0" err="1" smtClean="0">
                <a:cs typeface="Arial" panose="020B0604020202020204" pitchFamily="34" charset="0"/>
              </a:rPr>
              <a:t>vpna</a:t>
            </a:r>
            <a:endParaRPr lang="en-US" sz="1200" b="1" dirty="0">
              <a:cs typeface="Arial" panose="020B0604020202020204" pitchFamily="34" charset="0"/>
            </a:endParaRPr>
          </a:p>
        </p:txBody>
      </p:sp>
      <p:sp>
        <p:nvSpPr>
          <p:cNvPr id="94" name="文本框 93"/>
          <p:cNvSpPr txBox="1"/>
          <p:nvPr/>
        </p:nvSpPr>
        <p:spPr bwMode="gray">
          <a:xfrm>
            <a:off x="2082468" y="1128506"/>
            <a:ext cx="452368" cy="276999"/>
          </a:xfrm>
          <a:prstGeom prst="rect">
            <a:avLst/>
          </a:prstGeom>
          <a:noFill/>
        </p:spPr>
        <p:txBody>
          <a:bodyPr wrap="none" rtlCol="0">
            <a:spAutoFit/>
          </a:bodyPr>
          <a:lstStyle/>
          <a:p>
            <a:pPr algn="ctr"/>
            <a:r>
              <a:rPr lang="en-US" altLang="zh-CN" sz="1200" b="1" dirty="0">
                <a:cs typeface="Arial" panose="020B0604020202020204" pitchFamily="34" charset="0"/>
              </a:rPr>
              <a:t>P</a:t>
            </a:r>
            <a:r>
              <a:rPr lang="en-US" altLang="zh-CN" sz="1200" b="1" dirty="0" smtClean="0">
                <a:cs typeface="Arial" panose="020B0604020202020204" pitchFamily="34" charset="0"/>
              </a:rPr>
              <a:t>E1</a:t>
            </a:r>
            <a:endParaRPr lang="en-US" sz="1200" b="1" dirty="0">
              <a:cs typeface="Arial" panose="020B0604020202020204" pitchFamily="34" charset="0"/>
            </a:endParaRPr>
          </a:p>
        </p:txBody>
      </p:sp>
      <p:sp>
        <p:nvSpPr>
          <p:cNvPr id="95" name="文本框 94"/>
          <p:cNvSpPr txBox="1"/>
          <p:nvPr/>
        </p:nvSpPr>
        <p:spPr bwMode="gray">
          <a:xfrm>
            <a:off x="4064882" y="1128506"/>
            <a:ext cx="455574" cy="276999"/>
          </a:xfrm>
          <a:prstGeom prst="rect">
            <a:avLst/>
          </a:prstGeom>
          <a:noFill/>
        </p:spPr>
        <p:txBody>
          <a:bodyPr wrap="none" rtlCol="0">
            <a:spAutoFit/>
          </a:bodyPr>
          <a:lstStyle/>
          <a:p>
            <a:pPr algn="ctr"/>
            <a:r>
              <a:rPr lang="en-US" altLang="zh-CN" sz="1200" b="1" dirty="0" smtClean="0">
                <a:cs typeface="Arial" panose="020B0604020202020204" pitchFamily="34" charset="0"/>
              </a:rPr>
              <a:t>PE2</a:t>
            </a:r>
            <a:endParaRPr lang="en-US" sz="1200" b="1" dirty="0">
              <a:cs typeface="Arial" panose="020B0604020202020204" pitchFamily="34" charset="0"/>
            </a:endParaRPr>
          </a:p>
        </p:txBody>
      </p:sp>
      <p:sp>
        <p:nvSpPr>
          <p:cNvPr id="72" name="五边形 71"/>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96" name="燕尾形 95"/>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97" name="燕尾形 96"/>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98" name="燕尾形 97"/>
          <p:cNvSpPr/>
          <p:nvPr/>
        </p:nvSpPr>
        <p:spPr bwMode="gray">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99" name="燕尾形 98"/>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燕尾形 99"/>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燕尾形 100"/>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文本框 106"/>
          <p:cNvSpPr txBox="1"/>
          <p:nvPr/>
        </p:nvSpPr>
        <p:spPr bwMode="gray">
          <a:xfrm>
            <a:off x="4017299" y="3577838"/>
            <a:ext cx="545342" cy="461665"/>
          </a:xfrm>
          <a:prstGeom prst="rect">
            <a:avLst/>
          </a:prstGeom>
          <a:noFill/>
        </p:spPr>
        <p:txBody>
          <a:bodyPr wrap="none" rtlCol="0">
            <a:spAutoFit/>
          </a:bodyPr>
          <a:lstStyle/>
          <a:p>
            <a:pPr algn="ctr"/>
            <a:r>
              <a:rPr lang="en-US" altLang="zh-CN" sz="1200" b="1" dirty="0" smtClean="0">
                <a:cs typeface="Arial" panose="020B0604020202020204" pitchFamily="34" charset="0"/>
              </a:rPr>
              <a:t>CE2</a:t>
            </a:r>
          </a:p>
          <a:p>
            <a:pPr algn="ctr"/>
            <a:r>
              <a:rPr lang="en-US" altLang="zh-CN" sz="1200" b="1" dirty="0" err="1" smtClean="0">
                <a:cs typeface="Arial" panose="020B0604020202020204" pitchFamily="34" charset="0"/>
              </a:rPr>
              <a:t>vpna</a:t>
            </a:r>
            <a:endParaRPr lang="en-US" sz="1200" b="1" dirty="0">
              <a:cs typeface="Arial" panose="020B0604020202020204" pitchFamily="34" charset="0"/>
            </a:endParaRPr>
          </a:p>
        </p:txBody>
      </p:sp>
      <p:sp>
        <p:nvSpPr>
          <p:cNvPr id="55" name="文本框 31"/>
          <p:cNvSpPr txBox="1"/>
          <p:nvPr/>
        </p:nvSpPr>
        <p:spPr bwMode="gray">
          <a:xfrm>
            <a:off x="6215740" y="1066755"/>
            <a:ext cx="5227643"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5</a:t>
            </a:r>
            <a:r>
              <a:rPr lang="zh-CN" altLang="en-US" sz="1600" dirty="0" smtClean="0">
                <a:solidFill>
                  <a:prstClr val="black"/>
                </a:solidFill>
              </a:rPr>
              <a:t>、</a:t>
            </a:r>
            <a:r>
              <a:rPr lang="en-US" altLang="zh-CN" sz="1600" dirty="0">
                <a:solidFill>
                  <a:prstClr val="black"/>
                </a:solidFill>
              </a:rPr>
              <a:t>PE</a:t>
            </a:r>
            <a:r>
              <a:rPr lang="zh-CN" altLang="en-US" sz="1600" dirty="0">
                <a:solidFill>
                  <a:prstClr val="black"/>
                </a:solidFill>
              </a:rPr>
              <a:t>之间建立</a:t>
            </a:r>
            <a:r>
              <a:rPr lang="en-US" altLang="zh-CN" sz="1600" dirty="0">
                <a:solidFill>
                  <a:prstClr val="black"/>
                </a:solidFill>
              </a:rPr>
              <a:t>VPNv6</a:t>
            </a:r>
            <a:r>
              <a:rPr lang="zh-CN" altLang="en-US" sz="1600" dirty="0">
                <a:solidFill>
                  <a:prstClr val="black"/>
                </a:solidFill>
              </a:rPr>
              <a:t>对等体关系。</a:t>
            </a:r>
          </a:p>
        </p:txBody>
      </p:sp>
      <p:sp>
        <p:nvSpPr>
          <p:cNvPr id="56" name="文本框 32"/>
          <p:cNvSpPr txBox="1"/>
          <p:nvPr/>
        </p:nvSpPr>
        <p:spPr bwMode="gray">
          <a:xfrm>
            <a:off x="6419894" y="1401563"/>
            <a:ext cx="5125037" cy="1169551"/>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[PE1</a:t>
            </a: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200</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3.3.3.3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200</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3.3.3.3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[PE1-bgp</a:t>
            </a:r>
            <a:r>
              <a:rPr lang="en-US" altLang="zh-CN" sz="1400" dirty="0">
                <a:solidFill>
                  <a:prstClr val="black"/>
                </a:solidFill>
                <a:cs typeface="Courier New" panose="02070309020205020404" pitchFamily="49" charset="0"/>
              </a:rPr>
              <a:t>] ipv6-family vpnv6</a:t>
            </a:r>
          </a:p>
          <a:p>
            <a:r>
              <a:rPr lang="en-US" altLang="zh-CN" sz="1400" dirty="0" smtClean="0">
                <a:solidFill>
                  <a:prstClr val="black"/>
                </a:solidFill>
                <a:cs typeface="Courier New" panose="02070309020205020404" pitchFamily="49" charset="0"/>
              </a:rPr>
              <a:t>[PE1-bgp-af-vpnv6</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3.3.3.3 </a:t>
            </a:r>
            <a:r>
              <a:rPr lang="en-US" altLang="zh-CN" sz="1400" dirty="0">
                <a:solidFill>
                  <a:prstClr val="black"/>
                </a:solidFill>
                <a:cs typeface="Courier New" panose="02070309020205020404" pitchFamily="49" charset="0"/>
              </a:rPr>
              <a:t>enable</a:t>
            </a:r>
          </a:p>
        </p:txBody>
      </p:sp>
      <p:sp>
        <p:nvSpPr>
          <p:cNvPr id="62" name="文本框 32"/>
          <p:cNvSpPr txBox="1"/>
          <p:nvPr/>
        </p:nvSpPr>
        <p:spPr bwMode="gray">
          <a:xfrm>
            <a:off x="6419894" y="2779862"/>
            <a:ext cx="5125037" cy="1169551"/>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[PE2] </a:t>
            </a:r>
            <a:r>
              <a:rPr lang="en-US" altLang="zh-CN" sz="1400" dirty="0" err="1">
                <a:solidFill>
                  <a:prstClr val="black"/>
                </a:solidFill>
                <a:cs typeface="Courier New" panose="02070309020205020404" pitchFamily="49" charset="0"/>
              </a:rPr>
              <a:t>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200</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2.2.2.2 </a:t>
            </a:r>
            <a:r>
              <a:rPr lang="en-US" altLang="zh-CN" sz="1400" dirty="0">
                <a:solidFill>
                  <a:prstClr val="black"/>
                </a:solidFill>
                <a:cs typeface="Courier New" panose="02070309020205020404" pitchFamily="49" charset="0"/>
              </a:rPr>
              <a:t>as-number </a:t>
            </a:r>
            <a:r>
              <a:rPr lang="en-US" altLang="zh-CN" sz="1400" dirty="0" smtClean="0">
                <a:solidFill>
                  <a:prstClr val="black"/>
                </a:solidFill>
                <a:cs typeface="Courier New" panose="02070309020205020404" pitchFamily="49" charset="0"/>
              </a:rPr>
              <a:t>200</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[PE2-bgp</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2.2.2.2 </a:t>
            </a:r>
            <a:r>
              <a:rPr lang="en-US" altLang="zh-CN" sz="1400" dirty="0">
                <a:solidFill>
                  <a:prstClr val="black"/>
                </a:solidFill>
                <a:cs typeface="Courier New" panose="02070309020205020404" pitchFamily="49" charset="0"/>
              </a:rPr>
              <a:t>connect-interface loopback </a:t>
            </a:r>
            <a:r>
              <a:rPr lang="en-US" altLang="zh-CN" sz="1400" dirty="0" smtClean="0">
                <a:solidFill>
                  <a:prstClr val="black"/>
                </a:solidFill>
                <a:cs typeface="Courier New" panose="02070309020205020404" pitchFamily="49" charset="0"/>
              </a:rPr>
              <a:t>0</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[PE2-bgp</a:t>
            </a:r>
            <a:r>
              <a:rPr lang="en-US" altLang="zh-CN" sz="1400" dirty="0">
                <a:solidFill>
                  <a:prstClr val="black"/>
                </a:solidFill>
                <a:cs typeface="Courier New" panose="02070309020205020404" pitchFamily="49" charset="0"/>
              </a:rPr>
              <a:t>] ipv6-family vpnv6</a:t>
            </a:r>
          </a:p>
          <a:p>
            <a:r>
              <a:rPr lang="en-US" altLang="zh-CN" sz="1400" dirty="0" smtClean="0">
                <a:solidFill>
                  <a:prstClr val="black"/>
                </a:solidFill>
                <a:cs typeface="Courier New" panose="02070309020205020404" pitchFamily="49" charset="0"/>
              </a:rPr>
              <a:t>[PE2-bgp-af-vpnv6</a:t>
            </a:r>
            <a:r>
              <a:rPr lang="en-US" altLang="zh-CN" sz="1400" dirty="0">
                <a:solidFill>
                  <a:prstClr val="black"/>
                </a:solidFill>
                <a:cs typeface="Courier New" panose="02070309020205020404" pitchFamily="49" charset="0"/>
              </a:rPr>
              <a:t>] peer </a:t>
            </a:r>
            <a:r>
              <a:rPr lang="en-US" altLang="zh-CN" sz="1400" dirty="0" smtClean="0">
                <a:solidFill>
                  <a:prstClr val="black"/>
                </a:solidFill>
                <a:cs typeface="Courier New" panose="02070309020205020404" pitchFamily="49" charset="0"/>
              </a:rPr>
              <a:t>2.2.2.2 </a:t>
            </a:r>
            <a:r>
              <a:rPr lang="en-US" altLang="zh-CN" sz="1400" dirty="0">
                <a:solidFill>
                  <a:prstClr val="black"/>
                </a:solidFill>
                <a:cs typeface="Courier New" panose="02070309020205020404" pitchFamily="49" charset="0"/>
              </a:rPr>
              <a:t>enable</a:t>
            </a:r>
          </a:p>
        </p:txBody>
      </p:sp>
    </p:spTree>
    <p:extLst>
      <p:ext uri="{BB962C8B-B14F-4D97-AF65-F5344CB8AC3E}">
        <p14:creationId xmlns:p14="http://schemas.microsoft.com/office/powerpoint/2010/main" val="11080807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文本框 87"/>
          <p:cNvSpPr txBox="1"/>
          <p:nvPr/>
        </p:nvSpPr>
        <p:spPr bwMode="gray">
          <a:xfrm>
            <a:off x="3859822" y="2463742"/>
            <a:ext cx="2241972" cy="1672012"/>
          </a:xfrm>
          <a:prstGeom prst="rect">
            <a:avLst/>
          </a:prstGeom>
          <a:solidFill>
            <a:schemeClr val="bg1">
              <a:lumMod val="95000"/>
            </a:schemeClr>
          </a:solidFill>
          <a:ln>
            <a:solidFill>
              <a:schemeClr val="bg1">
                <a:lumMod val="75000"/>
              </a:schemeClr>
            </a:solidFill>
            <a:prstDash val="dash"/>
          </a:ln>
        </p:spPr>
        <p:txBody>
          <a:bodyPr wrap="square" rtlCol="0">
            <a:noAutofit/>
          </a:bodyPr>
          <a:lstStyle/>
          <a:p>
            <a:endParaRPr lang="en-US" altLang="zh-CN" sz="1200" dirty="0">
              <a:cs typeface="Arial" panose="020B0604020202020204" pitchFamily="34" charset="0"/>
            </a:endParaRPr>
          </a:p>
        </p:txBody>
      </p:sp>
      <p:sp>
        <p:nvSpPr>
          <p:cNvPr id="87" name="文本框 86"/>
          <p:cNvSpPr txBox="1"/>
          <p:nvPr/>
        </p:nvSpPr>
        <p:spPr bwMode="gray">
          <a:xfrm>
            <a:off x="455614" y="2463742"/>
            <a:ext cx="2270170" cy="1672012"/>
          </a:xfrm>
          <a:prstGeom prst="rect">
            <a:avLst/>
          </a:prstGeom>
          <a:solidFill>
            <a:schemeClr val="bg1">
              <a:lumMod val="95000"/>
            </a:schemeClr>
          </a:solidFill>
          <a:ln>
            <a:solidFill>
              <a:schemeClr val="bg1">
                <a:lumMod val="75000"/>
              </a:schemeClr>
            </a:solidFill>
            <a:prstDash val="dash"/>
          </a:ln>
        </p:spPr>
        <p:txBody>
          <a:bodyPr wrap="square" rtlCol="0">
            <a:noAutofit/>
          </a:bodyPr>
          <a:lstStyle/>
          <a:p>
            <a:endParaRPr lang="en-US" altLang="zh-CN" sz="1200" dirty="0">
              <a:cs typeface="Arial" panose="020B0604020202020204" pitchFamily="34" charset="0"/>
            </a:endParaRPr>
          </a:p>
        </p:txBody>
      </p:sp>
      <p:sp>
        <p:nvSpPr>
          <p:cNvPr id="60" name="文本框 59"/>
          <p:cNvSpPr txBox="1"/>
          <p:nvPr/>
        </p:nvSpPr>
        <p:spPr bwMode="gray">
          <a:xfrm>
            <a:off x="455614" y="1067356"/>
            <a:ext cx="5631486" cy="1247691"/>
          </a:xfrm>
          <a:prstGeom prst="rect">
            <a:avLst/>
          </a:prstGeom>
          <a:solidFill>
            <a:srgbClr val="F2FBFC"/>
          </a:solidFill>
          <a:ln>
            <a:solidFill>
              <a:srgbClr val="94DAE2"/>
            </a:solidFill>
            <a:prstDash val="dash"/>
          </a:ln>
        </p:spPr>
        <p:txBody>
          <a:bodyPr wrap="square" rtlCol="0">
            <a:noAutofit/>
          </a:bodyPr>
          <a:lstStyle/>
          <a:p>
            <a:endParaRPr lang="en-US" altLang="zh-CN" sz="1200" dirty="0">
              <a:cs typeface="Arial" panose="020B0604020202020204" pitchFamily="34" charset="0"/>
            </a:endParaRPr>
          </a:p>
        </p:txBody>
      </p:sp>
      <p:sp>
        <p:nvSpPr>
          <p:cNvPr id="2" name="标题 1"/>
          <p:cNvSpPr>
            <a:spLocks noGrp="1"/>
          </p:cNvSpPr>
          <p:nvPr>
            <p:ph type="title"/>
          </p:nvPr>
        </p:nvSpPr>
        <p:spPr bwMode="gray"/>
        <p:txBody>
          <a:bodyPr/>
          <a:lstStyle/>
          <a:p>
            <a:r>
              <a:rPr lang="en-US" altLang="zh-CN" dirty="0" smtClean="0"/>
              <a:t>6VPE</a:t>
            </a:r>
            <a:r>
              <a:rPr lang="zh-CN" altLang="en-US" dirty="0" smtClean="0"/>
              <a:t>配置举例 </a:t>
            </a:r>
            <a:r>
              <a:rPr lang="en-US" altLang="zh-CN" dirty="0" smtClean="0"/>
              <a:t>(4)</a:t>
            </a:r>
            <a:endParaRPr lang="zh-CN" altLang="en-US" dirty="0"/>
          </a:p>
        </p:txBody>
      </p:sp>
      <p:sp>
        <p:nvSpPr>
          <p:cNvPr id="44" name="文本占位符 43"/>
          <p:cNvSpPr>
            <a:spLocks noGrp="1"/>
          </p:cNvSpPr>
          <p:nvPr>
            <p:ph type="body" sz="quarter" idx="10"/>
          </p:nvPr>
        </p:nvSpPr>
        <p:spPr bwMode="gray">
          <a:xfrm>
            <a:off x="455613" y="4150716"/>
            <a:ext cx="5646182" cy="2050059"/>
          </a:xfrm>
        </p:spPr>
        <p:txBody>
          <a:bodyPr/>
          <a:lstStyle/>
          <a:p>
            <a:r>
              <a:rPr lang="zh-CN" altLang="en-US" sz="1600" dirty="0" smtClean="0"/>
              <a:t>配置需求：</a:t>
            </a:r>
            <a:endParaRPr lang="en-US" altLang="zh-CN" sz="1600" dirty="0" smtClean="0"/>
          </a:p>
          <a:p>
            <a:pPr lvl="1"/>
            <a:r>
              <a:rPr lang="zh-CN" altLang="en-US" sz="1400" dirty="0" smtClean="0"/>
              <a:t>不同用户站点希望通过公网进行</a:t>
            </a:r>
            <a:r>
              <a:rPr lang="en-US" altLang="zh-CN" sz="1400" dirty="0" smtClean="0"/>
              <a:t>IPv6</a:t>
            </a:r>
            <a:r>
              <a:rPr lang="zh-CN" altLang="en-US" sz="1400" dirty="0" smtClean="0"/>
              <a:t>的数据通信，而又不希望公网感知到站点内部的路由信息，且希望实现业务隔离。</a:t>
            </a:r>
            <a:endParaRPr lang="en-US" altLang="zh-CN" sz="1400" dirty="0" smtClean="0"/>
          </a:p>
          <a:p>
            <a:pPr lvl="1"/>
            <a:r>
              <a:rPr lang="zh-CN" altLang="en-US" sz="1400" dirty="0" smtClean="0"/>
              <a:t>如图所示，</a:t>
            </a:r>
            <a:r>
              <a:rPr lang="en-US" altLang="zh-CN" sz="1400" dirty="0" smtClean="0"/>
              <a:t>CE1</a:t>
            </a:r>
            <a:r>
              <a:rPr lang="zh-CN" altLang="en-US" sz="1400" dirty="0" smtClean="0"/>
              <a:t>和</a:t>
            </a:r>
            <a:r>
              <a:rPr lang="en-US" altLang="zh-CN" sz="1400" dirty="0" smtClean="0"/>
              <a:t>CE2</a:t>
            </a:r>
            <a:r>
              <a:rPr lang="zh-CN" altLang="en-US" sz="1400" dirty="0" smtClean="0"/>
              <a:t>属于</a:t>
            </a:r>
            <a:r>
              <a:rPr lang="en-US" altLang="zh-CN" sz="1400" dirty="0" err="1" smtClean="0"/>
              <a:t>vpna</a:t>
            </a:r>
            <a:r>
              <a:rPr lang="zh-CN" altLang="en-US" sz="1400" dirty="0" smtClean="0"/>
              <a:t>。希望通过配置</a:t>
            </a:r>
            <a:r>
              <a:rPr lang="en-US" altLang="zh-CN" sz="1400" dirty="0" smtClean="0"/>
              <a:t>6VPE</a:t>
            </a:r>
            <a:r>
              <a:rPr lang="zh-CN" altLang="en-US" sz="1400" dirty="0" smtClean="0"/>
              <a:t>，使得</a:t>
            </a:r>
            <a:r>
              <a:rPr lang="en-US" altLang="zh-CN" sz="1400" dirty="0" err="1" smtClean="0"/>
              <a:t>vpna</a:t>
            </a:r>
            <a:r>
              <a:rPr lang="zh-CN" altLang="en-US" sz="1400" dirty="0" smtClean="0"/>
              <a:t>的内部站点可以通过</a:t>
            </a:r>
            <a:r>
              <a:rPr lang="en-US" altLang="zh-CN" sz="1400" dirty="0" smtClean="0"/>
              <a:t>MPLS</a:t>
            </a:r>
            <a:r>
              <a:rPr lang="zh-CN" altLang="en-US" sz="1400" dirty="0" smtClean="0"/>
              <a:t>骨干网互相访问，同时希望</a:t>
            </a:r>
            <a:r>
              <a:rPr lang="en-US" altLang="zh-CN" sz="1400" dirty="0" smtClean="0"/>
              <a:t>PE</a:t>
            </a:r>
            <a:r>
              <a:rPr lang="zh-CN" altLang="en-US" sz="1400" dirty="0" smtClean="0"/>
              <a:t>与</a:t>
            </a:r>
            <a:r>
              <a:rPr lang="en-US" altLang="zh-CN" sz="1400" dirty="0" smtClean="0"/>
              <a:t>CE</a:t>
            </a:r>
            <a:r>
              <a:rPr lang="zh-CN" altLang="en-US" sz="1400" dirty="0" smtClean="0"/>
              <a:t>之间采用静态路由的方式来交换路由。</a:t>
            </a:r>
            <a:endParaRPr lang="zh-CN" altLang="en-US" sz="1400" dirty="0"/>
          </a:p>
        </p:txBody>
      </p:sp>
      <p:cxnSp>
        <p:nvCxnSpPr>
          <p:cNvPr id="39" name="直接连接符 38"/>
          <p:cNvCxnSpPr>
            <a:stCxn id="41" idx="2"/>
            <a:endCxn id="70" idx="0"/>
          </p:cNvCxnSpPr>
          <p:nvPr/>
        </p:nvCxnSpPr>
        <p:spPr bwMode="gray">
          <a:xfrm>
            <a:off x="2308652" y="1832808"/>
            <a:ext cx="0" cy="131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图片 4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8652" y="1390008"/>
            <a:ext cx="540000" cy="442800"/>
          </a:xfrm>
          <a:prstGeom prst="rect">
            <a:avLst/>
          </a:prstGeom>
        </p:spPr>
      </p:pic>
      <p:pic>
        <p:nvPicPr>
          <p:cNvPr id="43" name="图片 4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9748" y="1390008"/>
            <a:ext cx="540000" cy="442800"/>
          </a:xfrm>
          <a:prstGeom prst="rect">
            <a:avLst/>
          </a:prstGeom>
        </p:spPr>
      </p:pic>
      <p:cxnSp>
        <p:nvCxnSpPr>
          <p:cNvPr id="45" name="直接连接符 44"/>
          <p:cNvCxnSpPr>
            <a:stCxn id="41" idx="3"/>
            <a:endCxn id="43" idx="1"/>
          </p:cNvCxnSpPr>
          <p:nvPr/>
        </p:nvCxnSpPr>
        <p:spPr bwMode="gray">
          <a:xfrm>
            <a:off x="2578652" y="1611408"/>
            <a:ext cx="14410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bwMode="gray">
          <a:xfrm>
            <a:off x="2513764" y="1162301"/>
            <a:ext cx="955711" cy="461665"/>
          </a:xfrm>
          <a:prstGeom prst="rect">
            <a:avLst/>
          </a:prstGeom>
          <a:noFill/>
        </p:spPr>
        <p:txBody>
          <a:bodyPr wrap="none" rtlCol="0">
            <a:spAutoFit/>
          </a:bodyPr>
          <a:lstStyle/>
          <a:p>
            <a:r>
              <a:rPr lang="en-US" altLang="zh-CN" sz="1200" dirty="0" smtClean="0">
                <a:cs typeface="Arial" panose="020B0604020202020204" pitchFamily="34" charset="0"/>
              </a:rPr>
              <a:t>GE0/0/2</a:t>
            </a:r>
          </a:p>
          <a:p>
            <a:r>
              <a:rPr lang="en-US" sz="1200" dirty="0" smtClean="0">
                <a:cs typeface="Arial" panose="020B0604020202020204" pitchFamily="34" charset="0"/>
              </a:rPr>
              <a:t>10.0.0.1/30</a:t>
            </a:r>
            <a:endParaRPr lang="en-US" sz="1200" dirty="0">
              <a:cs typeface="Arial" panose="020B0604020202020204" pitchFamily="34" charset="0"/>
            </a:endParaRPr>
          </a:p>
        </p:txBody>
      </p:sp>
      <p:sp>
        <p:nvSpPr>
          <p:cNvPr id="48" name="文本框 47"/>
          <p:cNvSpPr txBox="1"/>
          <p:nvPr/>
        </p:nvSpPr>
        <p:spPr bwMode="gray">
          <a:xfrm>
            <a:off x="3109171" y="1578942"/>
            <a:ext cx="955711" cy="461665"/>
          </a:xfrm>
          <a:prstGeom prst="rect">
            <a:avLst/>
          </a:prstGeom>
          <a:noFill/>
        </p:spPr>
        <p:txBody>
          <a:bodyPr wrap="none" rtlCol="0">
            <a:spAutoFit/>
          </a:bodyPr>
          <a:lstStyle/>
          <a:p>
            <a:pPr algn="r"/>
            <a:r>
              <a:rPr lang="en-US" altLang="zh-CN" sz="1200" dirty="0" smtClean="0">
                <a:cs typeface="Arial" panose="020B0604020202020204" pitchFamily="34" charset="0"/>
              </a:rPr>
              <a:t>GE0/0/2</a:t>
            </a:r>
          </a:p>
          <a:p>
            <a:pPr algn="r"/>
            <a:r>
              <a:rPr lang="en-US" sz="1200" dirty="0" smtClean="0">
                <a:cs typeface="Arial" panose="020B0604020202020204" pitchFamily="34" charset="0"/>
              </a:rPr>
              <a:t>10.0.0.2/30</a:t>
            </a:r>
            <a:endParaRPr lang="en-US" sz="1200" dirty="0">
              <a:cs typeface="Arial" panose="020B0604020202020204" pitchFamily="34" charset="0"/>
            </a:endParaRPr>
          </a:p>
        </p:txBody>
      </p:sp>
      <p:grpSp>
        <p:nvGrpSpPr>
          <p:cNvPr id="4" name="组合 3"/>
          <p:cNvGrpSpPr/>
          <p:nvPr/>
        </p:nvGrpSpPr>
        <p:grpSpPr bwMode="gray">
          <a:xfrm>
            <a:off x="4559748" y="1509556"/>
            <a:ext cx="114397" cy="216000"/>
            <a:chOff x="8351023" y="4222121"/>
            <a:chExt cx="114397" cy="216000"/>
          </a:xfrm>
        </p:grpSpPr>
        <p:cxnSp>
          <p:nvCxnSpPr>
            <p:cNvPr id="50" name="直接连接符 49"/>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bwMode="gray">
          <a:xfrm flipH="1">
            <a:off x="1917858" y="1509556"/>
            <a:ext cx="114397" cy="216000"/>
            <a:chOff x="8351023" y="4222121"/>
            <a:chExt cx="114397" cy="216000"/>
          </a:xfrm>
        </p:grpSpPr>
        <p:cxnSp>
          <p:nvCxnSpPr>
            <p:cNvPr id="57" name="直接连接符 56"/>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 name="文本框 58"/>
          <p:cNvSpPr txBox="1"/>
          <p:nvPr/>
        </p:nvSpPr>
        <p:spPr bwMode="gray">
          <a:xfrm>
            <a:off x="4674145" y="1393133"/>
            <a:ext cx="939681" cy="461665"/>
          </a:xfrm>
          <a:prstGeom prst="rect">
            <a:avLst/>
          </a:prstGeom>
          <a:noFill/>
        </p:spPr>
        <p:txBody>
          <a:bodyPr wrap="none" rtlCol="0">
            <a:spAutoFit/>
          </a:bodyPr>
          <a:lstStyle/>
          <a:p>
            <a:r>
              <a:rPr lang="en-US" altLang="zh-CN" sz="1200" dirty="0" smtClean="0">
                <a:cs typeface="Arial" panose="020B0604020202020204" pitchFamily="34" charset="0"/>
              </a:rPr>
              <a:t>Loopback0</a:t>
            </a:r>
            <a:endParaRPr lang="en-US" altLang="zh-CN" sz="1200" dirty="0">
              <a:cs typeface="Arial" panose="020B0604020202020204" pitchFamily="34" charset="0"/>
            </a:endParaRPr>
          </a:p>
          <a:p>
            <a:r>
              <a:rPr lang="en-US" sz="1200" dirty="0" smtClean="0">
                <a:cs typeface="Arial" panose="020B0604020202020204" pitchFamily="34" charset="0"/>
              </a:rPr>
              <a:t>3.3.3.3/32</a:t>
            </a:r>
            <a:endParaRPr lang="en-US" sz="1200" dirty="0">
              <a:cs typeface="Arial" panose="020B0604020202020204" pitchFamily="34" charset="0"/>
            </a:endParaRPr>
          </a:p>
        </p:txBody>
      </p:sp>
      <p:sp>
        <p:nvSpPr>
          <p:cNvPr id="69" name="文本框 68"/>
          <p:cNvSpPr txBox="1"/>
          <p:nvPr/>
        </p:nvSpPr>
        <p:spPr bwMode="gray">
          <a:xfrm>
            <a:off x="971780" y="1393133"/>
            <a:ext cx="939681" cy="461665"/>
          </a:xfrm>
          <a:prstGeom prst="rect">
            <a:avLst/>
          </a:prstGeom>
          <a:noFill/>
        </p:spPr>
        <p:txBody>
          <a:bodyPr wrap="none" rtlCol="0">
            <a:spAutoFit/>
          </a:bodyPr>
          <a:lstStyle/>
          <a:p>
            <a:pPr algn="r"/>
            <a:r>
              <a:rPr lang="en-US" altLang="zh-CN" sz="1200" dirty="0" smtClean="0">
                <a:cs typeface="Arial" panose="020B0604020202020204" pitchFamily="34" charset="0"/>
              </a:rPr>
              <a:t>Loopback0</a:t>
            </a:r>
            <a:endParaRPr lang="en-US" altLang="zh-CN" sz="1200" dirty="0">
              <a:cs typeface="Arial" panose="020B0604020202020204" pitchFamily="34" charset="0"/>
            </a:endParaRPr>
          </a:p>
          <a:p>
            <a:pPr algn="r"/>
            <a:r>
              <a:rPr lang="en-US" sz="1200" dirty="0" smtClean="0">
                <a:cs typeface="Arial" panose="020B0604020202020204" pitchFamily="34" charset="0"/>
              </a:rPr>
              <a:t>2.2.2.2/32</a:t>
            </a:r>
            <a:endParaRPr lang="en-US" sz="1200" dirty="0">
              <a:cs typeface="Arial" panose="020B0604020202020204" pitchFamily="34" charset="0"/>
            </a:endParaRPr>
          </a:p>
        </p:txBody>
      </p:sp>
      <p:pic>
        <p:nvPicPr>
          <p:cNvPr id="70" name="图片 6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38652" y="3148586"/>
            <a:ext cx="540000" cy="442800"/>
          </a:xfrm>
          <a:prstGeom prst="rect">
            <a:avLst/>
          </a:prstGeom>
        </p:spPr>
      </p:pic>
      <p:sp>
        <p:nvSpPr>
          <p:cNvPr id="73" name="文本框 72"/>
          <p:cNvSpPr txBox="1"/>
          <p:nvPr/>
        </p:nvSpPr>
        <p:spPr bwMode="gray">
          <a:xfrm>
            <a:off x="936905" y="1837948"/>
            <a:ext cx="1369286" cy="461665"/>
          </a:xfrm>
          <a:prstGeom prst="rect">
            <a:avLst/>
          </a:prstGeom>
          <a:noFill/>
        </p:spPr>
        <p:txBody>
          <a:bodyPr wrap="none" rtlCol="0">
            <a:spAutoFit/>
          </a:bodyPr>
          <a:lstStyle/>
          <a:p>
            <a:pPr algn="r"/>
            <a:r>
              <a:rPr lang="en-US" altLang="zh-CN" sz="1200" dirty="0" smtClean="0">
                <a:cs typeface="Arial" panose="020B0604020202020204" pitchFamily="34" charset="0"/>
              </a:rPr>
              <a:t>GE0/0/1</a:t>
            </a:r>
          </a:p>
          <a:p>
            <a:pPr algn="r"/>
            <a:r>
              <a:rPr lang="en-US" sz="1200" dirty="0" smtClean="0">
                <a:cs typeface="Arial" panose="020B0604020202020204" pitchFamily="34" charset="0"/>
              </a:rPr>
              <a:t>2001:DB8:1::2/64</a:t>
            </a:r>
            <a:endParaRPr lang="en-US" sz="1200" dirty="0">
              <a:cs typeface="Arial" panose="020B0604020202020204" pitchFamily="34" charset="0"/>
            </a:endParaRPr>
          </a:p>
        </p:txBody>
      </p:sp>
      <p:cxnSp>
        <p:nvCxnSpPr>
          <p:cNvPr id="74" name="直接连接符 73"/>
          <p:cNvCxnSpPr>
            <a:stCxn id="43" idx="2"/>
            <a:endCxn id="75" idx="0"/>
          </p:cNvCxnSpPr>
          <p:nvPr/>
        </p:nvCxnSpPr>
        <p:spPr bwMode="gray">
          <a:xfrm>
            <a:off x="4289748" y="1832808"/>
            <a:ext cx="0" cy="1315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7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19748" y="3148586"/>
            <a:ext cx="540000" cy="442800"/>
          </a:xfrm>
          <a:prstGeom prst="rect">
            <a:avLst/>
          </a:prstGeom>
        </p:spPr>
      </p:pic>
      <p:sp>
        <p:nvSpPr>
          <p:cNvPr id="76" name="文本框 75"/>
          <p:cNvSpPr txBox="1"/>
          <p:nvPr/>
        </p:nvSpPr>
        <p:spPr bwMode="gray">
          <a:xfrm>
            <a:off x="4290816" y="1837948"/>
            <a:ext cx="1369286" cy="461665"/>
          </a:xfrm>
          <a:prstGeom prst="rect">
            <a:avLst/>
          </a:prstGeom>
          <a:noFill/>
        </p:spPr>
        <p:txBody>
          <a:bodyPr wrap="none" rtlCol="0">
            <a:spAutoFit/>
          </a:bodyPr>
          <a:lstStyle/>
          <a:p>
            <a:r>
              <a:rPr lang="en-US" altLang="zh-CN" sz="1200" dirty="0" smtClean="0">
                <a:cs typeface="Arial" panose="020B0604020202020204" pitchFamily="34" charset="0"/>
              </a:rPr>
              <a:t>GE0/0/1</a:t>
            </a:r>
          </a:p>
          <a:p>
            <a:r>
              <a:rPr lang="en-US" sz="1200" dirty="0" smtClean="0">
                <a:cs typeface="Arial" panose="020B0604020202020204" pitchFamily="34" charset="0"/>
              </a:rPr>
              <a:t>2001:DB8:2::2/64</a:t>
            </a:r>
            <a:endParaRPr lang="en-US" sz="1200" dirty="0">
              <a:cs typeface="Arial" panose="020B0604020202020204" pitchFamily="34" charset="0"/>
            </a:endParaRPr>
          </a:p>
        </p:txBody>
      </p:sp>
      <p:sp>
        <p:nvSpPr>
          <p:cNvPr id="77" name="文本框 76"/>
          <p:cNvSpPr txBox="1"/>
          <p:nvPr/>
        </p:nvSpPr>
        <p:spPr bwMode="gray">
          <a:xfrm>
            <a:off x="936905" y="2690133"/>
            <a:ext cx="1369286" cy="461665"/>
          </a:xfrm>
          <a:prstGeom prst="rect">
            <a:avLst/>
          </a:prstGeom>
          <a:noFill/>
        </p:spPr>
        <p:txBody>
          <a:bodyPr wrap="none" rtlCol="0">
            <a:spAutoFit/>
          </a:bodyPr>
          <a:lstStyle/>
          <a:p>
            <a:pPr algn="r"/>
            <a:r>
              <a:rPr lang="en-US" altLang="zh-CN" sz="1200" dirty="0" smtClean="0">
                <a:cs typeface="Arial" panose="020B0604020202020204" pitchFamily="34" charset="0"/>
              </a:rPr>
              <a:t>GE0/0/1</a:t>
            </a:r>
          </a:p>
          <a:p>
            <a:pPr algn="r"/>
            <a:r>
              <a:rPr lang="en-US" sz="1200" dirty="0" smtClean="0">
                <a:cs typeface="Arial" panose="020B0604020202020204" pitchFamily="34" charset="0"/>
              </a:rPr>
              <a:t>2001:DB8:1::1/64</a:t>
            </a:r>
            <a:endParaRPr lang="en-US" sz="1200" dirty="0">
              <a:cs typeface="Arial" panose="020B0604020202020204" pitchFamily="34" charset="0"/>
            </a:endParaRPr>
          </a:p>
        </p:txBody>
      </p:sp>
      <p:sp>
        <p:nvSpPr>
          <p:cNvPr id="78" name="文本框 77"/>
          <p:cNvSpPr txBox="1"/>
          <p:nvPr/>
        </p:nvSpPr>
        <p:spPr bwMode="gray">
          <a:xfrm>
            <a:off x="4290816" y="2690133"/>
            <a:ext cx="1369286" cy="461665"/>
          </a:xfrm>
          <a:prstGeom prst="rect">
            <a:avLst/>
          </a:prstGeom>
          <a:noFill/>
        </p:spPr>
        <p:txBody>
          <a:bodyPr wrap="none" rtlCol="0">
            <a:spAutoFit/>
          </a:bodyPr>
          <a:lstStyle/>
          <a:p>
            <a:r>
              <a:rPr lang="en-US" altLang="zh-CN" sz="1200" dirty="0" smtClean="0">
                <a:cs typeface="Arial" panose="020B0604020202020204" pitchFamily="34" charset="0"/>
              </a:rPr>
              <a:t>GE0/0/1</a:t>
            </a:r>
          </a:p>
          <a:p>
            <a:r>
              <a:rPr lang="en-US" sz="1200" dirty="0" smtClean="0">
                <a:cs typeface="Arial" panose="020B0604020202020204" pitchFamily="34" charset="0"/>
              </a:rPr>
              <a:t>2001:DB8:2::1/64</a:t>
            </a:r>
            <a:endParaRPr lang="en-US" sz="1200" dirty="0">
              <a:cs typeface="Arial" panose="020B0604020202020204" pitchFamily="34" charset="0"/>
            </a:endParaRPr>
          </a:p>
        </p:txBody>
      </p:sp>
      <p:grpSp>
        <p:nvGrpSpPr>
          <p:cNvPr id="79" name="组合 78"/>
          <p:cNvGrpSpPr/>
          <p:nvPr/>
        </p:nvGrpSpPr>
        <p:grpSpPr bwMode="gray">
          <a:xfrm flipH="1">
            <a:off x="1917858" y="3270921"/>
            <a:ext cx="114397" cy="216000"/>
            <a:chOff x="8351023" y="4222121"/>
            <a:chExt cx="114397" cy="216000"/>
          </a:xfrm>
        </p:grpSpPr>
        <p:cxnSp>
          <p:nvCxnSpPr>
            <p:cNvPr id="80" name="直接连接符 79"/>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 name="文本框 81"/>
          <p:cNvSpPr txBox="1"/>
          <p:nvPr/>
        </p:nvSpPr>
        <p:spPr bwMode="gray">
          <a:xfrm>
            <a:off x="455613" y="3154498"/>
            <a:ext cx="1455848" cy="461665"/>
          </a:xfrm>
          <a:prstGeom prst="rect">
            <a:avLst/>
          </a:prstGeom>
          <a:noFill/>
        </p:spPr>
        <p:txBody>
          <a:bodyPr wrap="none" rtlCol="0">
            <a:spAutoFit/>
          </a:bodyPr>
          <a:lstStyle/>
          <a:p>
            <a:pPr algn="r"/>
            <a:r>
              <a:rPr lang="en-US" altLang="zh-CN" sz="1200" dirty="0" smtClean="0">
                <a:cs typeface="Arial" panose="020B0604020202020204" pitchFamily="34" charset="0"/>
              </a:rPr>
              <a:t>Loopback1</a:t>
            </a:r>
            <a:endParaRPr lang="en-US" altLang="zh-CN" sz="1200" dirty="0">
              <a:cs typeface="Arial" panose="020B0604020202020204" pitchFamily="34" charset="0"/>
            </a:endParaRPr>
          </a:p>
          <a:p>
            <a:pPr algn="r"/>
            <a:r>
              <a:rPr lang="en-US" altLang="zh-CN" sz="1200" dirty="0" smtClean="0">
                <a:cs typeface="Arial" panose="020B0604020202020204" pitchFamily="34" charset="0"/>
              </a:rPr>
              <a:t>2001:DB8:5::5/128</a:t>
            </a:r>
            <a:endParaRPr lang="en-US" altLang="zh-CN" sz="1200" dirty="0">
              <a:cs typeface="Arial" panose="020B0604020202020204" pitchFamily="34" charset="0"/>
            </a:endParaRPr>
          </a:p>
        </p:txBody>
      </p:sp>
      <p:grpSp>
        <p:nvGrpSpPr>
          <p:cNvPr id="83" name="组合 82"/>
          <p:cNvGrpSpPr/>
          <p:nvPr/>
        </p:nvGrpSpPr>
        <p:grpSpPr bwMode="gray">
          <a:xfrm>
            <a:off x="4559748" y="3270921"/>
            <a:ext cx="114397" cy="216000"/>
            <a:chOff x="8351023" y="4222121"/>
            <a:chExt cx="114397" cy="216000"/>
          </a:xfrm>
        </p:grpSpPr>
        <p:cxnSp>
          <p:nvCxnSpPr>
            <p:cNvPr id="84" name="直接连接符 83"/>
            <p:cNvCxnSpPr/>
            <p:nvPr/>
          </p:nvCxnSpPr>
          <p:spPr bwMode="gray">
            <a:xfrm>
              <a:off x="8351023" y="4330121"/>
              <a:ext cx="10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bwMode="gray">
            <a:xfrm rot="5400000">
              <a:off x="8357420" y="4330121"/>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文本框 85"/>
          <p:cNvSpPr txBox="1"/>
          <p:nvPr/>
        </p:nvSpPr>
        <p:spPr bwMode="gray">
          <a:xfrm>
            <a:off x="4674145" y="3154498"/>
            <a:ext cx="1455848" cy="461665"/>
          </a:xfrm>
          <a:prstGeom prst="rect">
            <a:avLst/>
          </a:prstGeom>
          <a:noFill/>
        </p:spPr>
        <p:txBody>
          <a:bodyPr wrap="none" rtlCol="0">
            <a:spAutoFit/>
          </a:bodyPr>
          <a:lstStyle/>
          <a:p>
            <a:r>
              <a:rPr lang="en-US" altLang="zh-CN" sz="1200" dirty="0" smtClean="0">
                <a:cs typeface="Arial" panose="020B0604020202020204" pitchFamily="34" charset="0"/>
              </a:rPr>
              <a:t>Loopback1</a:t>
            </a:r>
            <a:endParaRPr lang="en-US" altLang="zh-CN" sz="1200" dirty="0">
              <a:cs typeface="Arial" panose="020B0604020202020204" pitchFamily="34" charset="0"/>
            </a:endParaRPr>
          </a:p>
          <a:p>
            <a:r>
              <a:rPr lang="en-US" altLang="zh-CN" sz="1200" dirty="0" smtClean="0">
                <a:cs typeface="Arial" panose="020B0604020202020204" pitchFamily="34" charset="0"/>
              </a:rPr>
              <a:t>2001:DB8:6::6/128</a:t>
            </a:r>
            <a:endParaRPr lang="en-US" altLang="zh-CN" sz="1200" dirty="0">
              <a:cs typeface="Arial" panose="020B0604020202020204" pitchFamily="34" charset="0"/>
            </a:endParaRPr>
          </a:p>
        </p:txBody>
      </p:sp>
      <p:sp>
        <p:nvSpPr>
          <p:cNvPr id="89" name="文本框 88"/>
          <p:cNvSpPr txBox="1"/>
          <p:nvPr/>
        </p:nvSpPr>
        <p:spPr bwMode="gray">
          <a:xfrm>
            <a:off x="493628" y="1086536"/>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200</a:t>
            </a:r>
            <a:endParaRPr lang="en-US" sz="1200" b="1" dirty="0">
              <a:cs typeface="Arial" panose="020B0604020202020204" pitchFamily="34" charset="0"/>
            </a:endParaRPr>
          </a:p>
        </p:txBody>
      </p:sp>
      <p:sp>
        <p:nvSpPr>
          <p:cNvPr id="90" name="文本框 89"/>
          <p:cNvSpPr txBox="1"/>
          <p:nvPr/>
        </p:nvSpPr>
        <p:spPr bwMode="gray">
          <a:xfrm>
            <a:off x="493628" y="2478704"/>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100</a:t>
            </a:r>
            <a:endParaRPr lang="en-US" sz="1200" b="1" dirty="0">
              <a:cs typeface="Arial" panose="020B0604020202020204" pitchFamily="34" charset="0"/>
            </a:endParaRPr>
          </a:p>
        </p:txBody>
      </p:sp>
      <p:sp>
        <p:nvSpPr>
          <p:cNvPr id="91" name="文本框 90"/>
          <p:cNvSpPr txBox="1"/>
          <p:nvPr/>
        </p:nvSpPr>
        <p:spPr bwMode="gray">
          <a:xfrm>
            <a:off x="5372963" y="2478704"/>
            <a:ext cx="688009" cy="276999"/>
          </a:xfrm>
          <a:prstGeom prst="rect">
            <a:avLst/>
          </a:prstGeom>
          <a:noFill/>
        </p:spPr>
        <p:txBody>
          <a:bodyPr wrap="none" rtlCol="0">
            <a:spAutoFit/>
          </a:bodyPr>
          <a:lstStyle/>
          <a:p>
            <a:pPr algn="ctr"/>
            <a:r>
              <a:rPr lang="en-US" altLang="zh-CN" sz="1200" b="1" dirty="0" smtClean="0">
                <a:cs typeface="Arial" panose="020B0604020202020204" pitchFamily="34" charset="0"/>
              </a:rPr>
              <a:t>AS 300</a:t>
            </a:r>
            <a:endParaRPr lang="en-US" sz="1200" b="1" dirty="0">
              <a:cs typeface="Arial" panose="020B0604020202020204" pitchFamily="34" charset="0"/>
            </a:endParaRPr>
          </a:p>
        </p:txBody>
      </p:sp>
      <p:sp>
        <p:nvSpPr>
          <p:cNvPr id="92" name="文本框 91"/>
          <p:cNvSpPr txBox="1"/>
          <p:nvPr/>
        </p:nvSpPr>
        <p:spPr bwMode="gray">
          <a:xfrm>
            <a:off x="2045951" y="3577838"/>
            <a:ext cx="545342" cy="461665"/>
          </a:xfrm>
          <a:prstGeom prst="rect">
            <a:avLst/>
          </a:prstGeom>
          <a:noFill/>
        </p:spPr>
        <p:txBody>
          <a:bodyPr wrap="none" rtlCol="0">
            <a:spAutoFit/>
          </a:bodyPr>
          <a:lstStyle/>
          <a:p>
            <a:pPr algn="ctr"/>
            <a:r>
              <a:rPr lang="en-US" altLang="zh-CN" sz="1200" b="1" dirty="0" smtClean="0">
                <a:cs typeface="Arial" panose="020B0604020202020204" pitchFamily="34" charset="0"/>
              </a:rPr>
              <a:t>CE1</a:t>
            </a:r>
          </a:p>
          <a:p>
            <a:pPr algn="ctr"/>
            <a:r>
              <a:rPr lang="en-US" altLang="zh-CN" sz="1200" b="1" dirty="0" err="1" smtClean="0">
                <a:cs typeface="Arial" panose="020B0604020202020204" pitchFamily="34" charset="0"/>
              </a:rPr>
              <a:t>vpna</a:t>
            </a:r>
            <a:endParaRPr lang="en-US" sz="1200" b="1" dirty="0">
              <a:cs typeface="Arial" panose="020B0604020202020204" pitchFamily="34" charset="0"/>
            </a:endParaRPr>
          </a:p>
        </p:txBody>
      </p:sp>
      <p:sp>
        <p:nvSpPr>
          <p:cNvPr id="94" name="文本框 93"/>
          <p:cNvSpPr txBox="1"/>
          <p:nvPr/>
        </p:nvSpPr>
        <p:spPr bwMode="gray">
          <a:xfrm>
            <a:off x="2082468" y="1128506"/>
            <a:ext cx="452368" cy="276999"/>
          </a:xfrm>
          <a:prstGeom prst="rect">
            <a:avLst/>
          </a:prstGeom>
          <a:noFill/>
        </p:spPr>
        <p:txBody>
          <a:bodyPr wrap="none" rtlCol="0">
            <a:spAutoFit/>
          </a:bodyPr>
          <a:lstStyle/>
          <a:p>
            <a:pPr algn="ctr"/>
            <a:r>
              <a:rPr lang="en-US" altLang="zh-CN" sz="1200" b="1" dirty="0">
                <a:cs typeface="Arial" panose="020B0604020202020204" pitchFamily="34" charset="0"/>
              </a:rPr>
              <a:t>P</a:t>
            </a:r>
            <a:r>
              <a:rPr lang="en-US" altLang="zh-CN" sz="1200" b="1" dirty="0" smtClean="0">
                <a:cs typeface="Arial" panose="020B0604020202020204" pitchFamily="34" charset="0"/>
              </a:rPr>
              <a:t>E1</a:t>
            </a:r>
            <a:endParaRPr lang="en-US" sz="1200" b="1" dirty="0">
              <a:cs typeface="Arial" panose="020B0604020202020204" pitchFamily="34" charset="0"/>
            </a:endParaRPr>
          </a:p>
        </p:txBody>
      </p:sp>
      <p:sp>
        <p:nvSpPr>
          <p:cNvPr id="95" name="文本框 94"/>
          <p:cNvSpPr txBox="1"/>
          <p:nvPr/>
        </p:nvSpPr>
        <p:spPr bwMode="gray">
          <a:xfrm>
            <a:off x="4064882" y="1128506"/>
            <a:ext cx="455574" cy="276999"/>
          </a:xfrm>
          <a:prstGeom prst="rect">
            <a:avLst/>
          </a:prstGeom>
          <a:noFill/>
        </p:spPr>
        <p:txBody>
          <a:bodyPr wrap="none" rtlCol="0">
            <a:spAutoFit/>
          </a:bodyPr>
          <a:lstStyle/>
          <a:p>
            <a:pPr algn="ctr"/>
            <a:r>
              <a:rPr lang="en-US" altLang="zh-CN" sz="1200" b="1" dirty="0" smtClean="0">
                <a:cs typeface="Arial" panose="020B0604020202020204" pitchFamily="34" charset="0"/>
              </a:rPr>
              <a:t>PE2</a:t>
            </a:r>
            <a:endParaRPr lang="en-US" sz="1200" b="1" dirty="0">
              <a:cs typeface="Arial" panose="020B0604020202020204" pitchFamily="34" charset="0"/>
            </a:endParaRPr>
          </a:p>
        </p:txBody>
      </p:sp>
      <p:sp>
        <p:nvSpPr>
          <p:cNvPr id="72" name="五边形 71"/>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96" name="燕尾形 95"/>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97" name="燕尾形 96"/>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98" name="燕尾形 97"/>
          <p:cNvSpPr/>
          <p:nvPr/>
        </p:nvSpPr>
        <p:spPr bwMode="gray">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99" name="燕尾形 98"/>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燕尾形 99"/>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燕尾形 100"/>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文本框 106"/>
          <p:cNvSpPr txBox="1"/>
          <p:nvPr/>
        </p:nvSpPr>
        <p:spPr bwMode="gray">
          <a:xfrm>
            <a:off x="4017299" y="3577838"/>
            <a:ext cx="545342" cy="461665"/>
          </a:xfrm>
          <a:prstGeom prst="rect">
            <a:avLst/>
          </a:prstGeom>
          <a:noFill/>
        </p:spPr>
        <p:txBody>
          <a:bodyPr wrap="none" rtlCol="0">
            <a:spAutoFit/>
          </a:bodyPr>
          <a:lstStyle/>
          <a:p>
            <a:pPr algn="ctr"/>
            <a:r>
              <a:rPr lang="en-US" altLang="zh-CN" sz="1200" b="1" dirty="0" smtClean="0">
                <a:cs typeface="Arial" panose="020B0604020202020204" pitchFamily="34" charset="0"/>
              </a:rPr>
              <a:t>CE2</a:t>
            </a:r>
          </a:p>
          <a:p>
            <a:pPr algn="ctr"/>
            <a:r>
              <a:rPr lang="en-US" altLang="zh-CN" sz="1200" b="1" dirty="0" err="1" smtClean="0">
                <a:cs typeface="Arial" panose="020B0604020202020204" pitchFamily="34" charset="0"/>
              </a:rPr>
              <a:t>vpna</a:t>
            </a:r>
            <a:endParaRPr lang="en-US" sz="1200" b="1" dirty="0">
              <a:cs typeface="Arial" panose="020B0604020202020204" pitchFamily="34" charset="0"/>
            </a:endParaRPr>
          </a:p>
        </p:txBody>
      </p:sp>
      <p:sp>
        <p:nvSpPr>
          <p:cNvPr id="55" name="文本框 31"/>
          <p:cNvSpPr txBox="1"/>
          <p:nvPr/>
        </p:nvSpPr>
        <p:spPr bwMode="gray">
          <a:xfrm>
            <a:off x="6215740" y="1066755"/>
            <a:ext cx="5227643" cy="584775"/>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6</a:t>
            </a:r>
            <a:r>
              <a:rPr lang="zh-CN" altLang="en-US" sz="1600" dirty="0">
                <a:solidFill>
                  <a:prstClr val="black"/>
                </a:solidFill>
              </a:rPr>
              <a:t>、在</a:t>
            </a:r>
            <a:r>
              <a:rPr lang="en-US" altLang="zh-CN" sz="1600" dirty="0">
                <a:solidFill>
                  <a:prstClr val="black"/>
                </a:solidFill>
              </a:rPr>
              <a:t>PE</a:t>
            </a:r>
            <a:r>
              <a:rPr lang="zh-CN" altLang="en-US" sz="1600" dirty="0">
                <a:solidFill>
                  <a:prstClr val="black"/>
                </a:solidFill>
              </a:rPr>
              <a:t>和</a:t>
            </a:r>
            <a:r>
              <a:rPr lang="en-US" altLang="zh-CN" sz="1600" dirty="0">
                <a:solidFill>
                  <a:prstClr val="black"/>
                </a:solidFill>
              </a:rPr>
              <a:t>CE</a:t>
            </a:r>
            <a:r>
              <a:rPr lang="zh-CN" altLang="en-US" sz="1600" dirty="0">
                <a:solidFill>
                  <a:prstClr val="black"/>
                </a:solidFill>
              </a:rPr>
              <a:t>上配置静态</a:t>
            </a:r>
            <a:r>
              <a:rPr lang="zh-CN" altLang="en-US" sz="1600" dirty="0" smtClean="0">
                <a:solidFill>
                  <a:prstClr val="black"/>
                </a:solidFill>
              </a:rPr>
              <a:t>路由，并在</a:t>
            </a:r>
            <a:r>
              <a:rPr lang="en-US" altLang="zh-CN" sz="1600" dirty="0" smtClean="0">
                <a:solidFill>
                  <a:prstClr val="black"/>
                </a:solidFill>
              </a:rPr>
              <a:t>PE</a:t>
            </a:r>
            <a:r>
              <a:rPr lang="zh-CN" altLang="en-US" sz="1600" dirty="0" smtClean="0">
                <a:solidFill>
                  <a:prstClr val="black"/>
                </a:solidFill>
              </a:rPr>
              <a:t>上将静态</a:t>
            </a:r>
            <a:r>
              <a:rPr lang="zh-CN" altLang="en-US" sz="1600" dirty="0">
                <a:solidFill>
                  <a:prstClr val="black"/>
                </a:solidFill>
              </a:rPr>
              <a:t>路由引入到</a:t>
            </a:r>
            <a:r>
              <a:rPr lang="en-US" altLang="zh-CN" sz="1600" dirty="0">
                <a:solidFill>
                  <a:prstClr val="black"/>
                </a:solidFill>
              </a:rPr>
              <a:t>BGP-VPN</a:t>
            </a:r>
            <a:r>
              <a:rPr lang="zh-CN" altLang="en-US" sz="1600" dirty="0">
                <a:solidFill>
                  <a:prstClr val="black"/>
                </a:solidFill>
              </a:rPr>
              <a:t>实例</a:t>
            </a:r>
            <a:r>
              <a:rPr lang="en-US" altLang="zh-CN" sz="1600" dirty="0">
                <a:solidFill>
                  <a:prstClr val="black"/>
                </a:solidFill>
              </a:rPr>
              <a:t>IPv6</a:t>
            </a:r>
            <a:r>
              <a:rPr lang="zh-CN" altLang="en-US" sz="1600" dirty="0">
                <a:solidFill>
                  <a:prstClr val="black"/>
                </a:solidFill>
              </a:rPr>
              <a:t>地址族路由表中。</a:t>
            </a:r>
          </a:p>
        </p:txBody>
      </p:sp>
      <p:sp>
        <p:nvSpPr>
          <p:cNvPr id="56" name="文本框 32"/>
          <p:cNvSpPr txBox="1"/>
          <p:nvPr/>
        </p:nvSpPr>
        <p:spPr bwMode="gray">
          <a:xfrm>
            <a:off x="6419894" y="1652247"/>
            <a:ext cx="5125037" cy="1169551"/>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a:solidFill>
                  <a:prstClr val="black"/>
                </a:solidFill>
                <a:cs typeface="Courier New" panose="02070309020205020404" pitchFamily="49" charset="0"/>
              </a:rPr>
              <a:t>[PE1] ipv6 route-static vpn-instance </a:t>
            </a:r>
            <a:r>
              <a:rPr lang="en-US" altLang="zh-CN" sz="1400" dirty="0" err="1">
                <a:solidFill>
                  <a:prstClr val="black"/>
                </a:solidFill>
                <a:cs typeface="Courier New" panose="02070309020205020404" pitchFamily="49" charset="0"/>
              </a:rPr>
              <a:t>vpna</a:t>
            </a:r>
            <a:r>
              <a:rPr lang="en-US" altLang="zh-CN" sz="1400" dirty="0">
                <a:solidFill>
                  <a:prstClr val="black"/>
                </a:solidFill>
                <a:cs typeface="Courier New" panose="02070309020205020404" pitchFamily="49" charset="0"/>
              </a:rPr>
              <a:t> 2001:DB8:5:: 64 2001:DB8:1::1</a:t>
            </a:r>
          </a:p>
          <a:p>
            <a:r>
              <a:rPr lang="en-US" altLang="zh-CN" sz="1400" dirty="0">
                <a:solidFill>
                  <a:prstClr val="black"/>
                </a:solidFill>
                <a:cs typeface="Courier New" panose="02070309020205020404" pitchFamily="49" charset="0"/>
              </a:rPr>
              <a:t>[PE1] </a:t>
            </a:r>
            <a:r>
              <a:rPr lang="en-US" altLang="zh-CN" sz="1400" dirty="0" err="1">
                <a:solidFill>
                  <a:prstClr val="black"/>
                </a:solidFill>
                <a:cs typeface="Courier New" panose="02070309020205020404" pitchFamily="49" charset="0"/>
              </a:rPr>
              <a:t>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200</a:t>
            </a:r>
            <a:endParaRPr lang="en-US" altLang="zh-CN" sz="1400" dirty="0">
              <a:solidFill>
                <a:prstClr val="black"/>
              </a:solidFill>
              <a:cs typeface="Courier New" panose="02070309020205020404" pitchFamily="49" charset="0"/>
            </a:endParaRPr>
          </a:p>
          <a:p>
            <a:r>
              <a:rPr lang="en-US" altLang="zh-CN" sz="1400" dirty="0">
                <a:solidFill>
                  <a:prstClr val="black"/>
                </a:solidFill>
                <a:cs typeface="Courier New" panose="02070309020205020404" pitchFamily="49" charset="0"/>
              </a:rPr>
              <a:t>[PE1-bgp] ipv6-family vpn-instance </a:t>
            </a:r>
            <a:r>
              <a:rPr lang="en-US" altLang="zh-CN" sz="1400" dirty="0" err="1" smtClean="0">
                <a:solidFill>
                  <a:prstClr val="black"/>
                </a:solidFill>
                <a:cs typeface="Courier New" panose="02070309020205020404" pitchFamily="49" charset="0"/>
              </a:rPr>
              <a:t>vpna</a:t>
            </a:r>
            <a:endParaRPr lang="en-US" altLang="zh-CN" sz="1400" dirty="0">
              <a:solidFill>
                <a:prstClr val="black"/>
              </a:solidFill>
              <a:cs typeface="Courier New" panose="02070309020205020404" pitchFamily="49" charset="0"/>
            </a:endParaRPr>
          </a:p>
          <a:p>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PE1-bgp6-vpna] </a:t>
            </a:r>
            <a:r>
              <a:rPr lang="en-US" altLang="zh-CN" sz="1400" dirty="0">
                <a:solidFill>
                  <a:prstClr val="black"/>
                </a:solidFill>
                <a:cs typeface="Courier New" panose="02070309020205020404" pitchFamily="49" charset="0"/>
              </a:rPr>
              <a:t>import-route static</a:t>
            </a:r>
          </a:p>
        </p:txBody>
      </p:sp>
      <p:sp>
        <p:nvSpPr>
          <p:cNvPr id="62" name="文本框 32"/>
          <p:cNvSpPr txBox="1"/>
          <p:nvPr/>
        </p:nvSpPr>
        <p:spPr bwMode="gray">
          <a:xfrm>
            <a:off x="6419894" y="2982134"/>
            <a:ext cx="5125037" cy="307777"/>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[CE1] </a:t>
            </a:r>
            <a:r>
              <a:rPr lang="en-US" altLang="zh-CN" sz="1400" dirty="0">
                <a:solidFill>
                  <a:prstClr val="black"/>
                </a:solidFill>
                <a:cs typeface="Courier New" panose="02070309020205020404" pitchFamily="49" charset="0"/>
              </a:rPr>
              <a:t>ipv6 route-static :: 0 </a:t>
            </a:r>
            <a:r>
              <a:rPr lang="en-US" altLang="zh-CN" sz="1400" dirty="0" smtClean="0">
                <a:solidFill>
                  <a:prstClr val="black"/>
                </a:solidFill>
                <a:cs typeface="Courier New" panose="02070309020205020404" pitchFamily="49" charset="0"/>
              </a:rPr>
              <a:t>2001:DB8:1::</a:t>
            </a:r>
            <a:r>
              <a:rPr lang="en-US" altLang="zh-CN" sz="1400" dirty="0">
                <a:solidFill>
                  <a:prstClr val="black"/>
                </a:solidFill>
                <a:cs typeface="Courier New" panose="02070309020205020404" pitchFamily="49" charset="0"/>
              </a:rPr>
              <a:t>2</a:t>
            </a:r>
          </a:p>
        </p:txBody>
      </p:sp>
      <p:sp>
        <p:nvSpPr>
          <p:cNvPr id="61" name="文本框 32"/>
          <p:cNvSpPr txBox="1"/>
          <p:nvPr/>
        </p:nvSpPr>
        <p:spPr bwMode="gray">
          <a:xfrm>
            <a:off x="6419894" y="3540595"/>
            <a:ext cx="5125037" cy="1169551"/>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PE2] </a:t>
            </a:r>
            <a:r>
              <a:rPr lang="en-US" altLang="zh-CN" sz="1400" dirty="0">
                <a:solidFill>
                  <a:prstClr val="black"/>
                </a:solidFill>
                <a:cs typeface="Courier New" panose="02070309020205020404" pitchFamily="49" charset="0"/>
              </a:rPr>
              <a:t>ipv6 route-static vpn-instance </a:t>
            </a:r>
            <a:r>
              <a:rPr lang="en-US" altLang="zh-CN" sz="1400" dirty="0" err="1">
                <a:solidFill>
                  <a:prstClr val="black"/>
                </a:solidFill>
                <a:cs typeface="Courier New" panose="02070309020205020404" pitchFamily="49" charset="0"/>
              </a:rPr>
              <a:t>vpna</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2001:DB8:6:: </a:t>
            </a:r>
            <a:r>
              <a:rPr lang="en-US" altLang="zh-CN" sz="1400" dirty="0">
                <a:solidFill>
                  <a:prstClr val="black"/>
                </a:solidFill>
                <a:cs typeface="Courier New" panose="02070309020205020404" pitchFamily="49" charset="0"/>
              </a:rPr>
              <a:t>64 </a:t>
            </a:r>
            <a:r>
              <a:rPr lang="en-US" altLang="zh-CN" sz="1400" dirty="0" smtClean="0">
                <a:solidFill>
                  <a:prstClr val="black"/>
                </a:solidFill>
                <a:cs typeface="Courier New" panose="02070309020205020404" pitchFamily="49" charset="0"/>
              </a:rPr>
              <a:t>2001:DB8:2::</a:t>
            </a:r>
            <a:r>
              <a:rPr lang="en-US" altLang="zh-CN" sz="1400" dirty="0">
                <a:solidFill>
                  <a:prstClr val="black"/>
                </a:solidFill>
                <a:cs typeface="Courier New" panose="02070309020205020404" pitchFamily="49" charset="0"/>
              </a:rPr>
              <a:t>1</a:t>
            </a:r>
          </a:p>
          <a:p>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PE2] </a:t>
            </a:r>
            <a:r>
              <a:rPr lang="en-US" altLang="zh-CN" sz="1400" dirty="0" err="1">
                <a:solidFill>
                  <a:prstClr val="black"/>
                </a:solidFill>
                <a:cs typeface="Courier New" panose="02070309020205020404" pitchFamily="49" charset="0"/>
              </a:rPr>
              <a:t>bgp</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200</a:t>
            </a:r>
            <a:endParaRPr lang="en-US" altLang="zh-CN" sz="1400" dirty="0">
              <a:solidFill>
                <a:prstClr val="black"/>
              </a:solidFill>
              <a:cs typeface="Courier New" panose="02070309020205020404" pitchFamily="49" charset="0"/>
            </a:endParaRPr>
          </a:p>
          <a:p>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PE2-bgp</a:t>
            </a:r>
            <a:r>
              <a:rPr lang="en-US" altLang="zh-CN" sz="1400" dirty="0">
                <a:solidFill>
                  <a:prstClr val="black"/>
                </a:solidFill>
                <a:cs typeface="Courier New" panose="02070309020205020404" pitchFamily="49" charset="0"/>
              </a:rPr>
              <a:t>] ipv6-family vpn-instance </a:t>
            </a:r>
            <a:r>
              <a:rPr lang="en-US" altLang="zh-CN" sz="1400" dirty="0" err="1" smtClean="0">
                <a:solidFill>
                  <a:prstClr val="black"/>
                </a:solidFill>
                <a:cs typeface="Courier New" panose="02070309020205020404" pitchFamily="49" charset="0"/>
              </a:rPr>
              <a:t>vpna</a:t>
            </a:r>
            <a:endParaRPr lang="en-US" altLang="zh-CN" sz="1400" dirty="0">
              <a:solidFill>
                <a:prstClr val="black"/>
              </a:solidFill>
              <a:cs typeface="Courier New" panose="02070309020205020404" pitchFamily="49" charset="0"/>
            </a:endParaRPr>
          </a:p>
          <a:p>
            <a:r>
              <a:rPr lang="en-US" altLang="zh-CN" sz="1400" dirty="0">
                <a:solidFill>
                  <a:prstClr val="black"/>
                </a:solidFill>
                <a:cs typeface="Courier New" panose="02070309020205020404" pitchFamily="49" charset="0"/>
              </a:rPr>
              <a:t>[</a:t>
            </a:r>
            <a:r>
              <a:rPr lang="en-US" altLang="zh-CN" sz="1400" dirty="0" smtClean="0">
                <a:solidFill>
                  <a:prstClr val="black"/>
                </a:solidFill>
                <a:cs typeface="Courier New" panose="02070309020205020404" pitchFamily="49" charset="0"/>
              </a:rPr>
              <a:t>PE2-bgp6-vpna] </a:t>
            </a:r>
            <a:r>
              <a:rPr lang="en-US" altLang="zh-CN" sz="1400" dirty="0">
                <a:solidFill>
                  <a:prstClr val="black"/>
                </a:solidFill>
                <a:cs typeface="Courier New" panose="02070309020205020404" pitchFamily="49" charset="0"/>
              </a:rPr>
              <a:t>import-route static</a:t>
            </a:r>
          </a:p>
        </p:txBody>
      </p:sp>
      <p:sp>
        <p:nvSpPr>
          <p:cNvPr id="63" name="文本框 32"/>
          <p:cNvSpPr txBox="1"/>
          <p:nvPr/>
        </p:nvSpPr>
        <p:spPr bwMode="gray">
          <a:xfrm>
            <a:off x="6419894" y="4870482"/>
            <a:ext cx="5125037" cy="307777"/>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[CE2] </a:t>
            </a:r>
            <a:r>
              <a:rPr lang="en-US" altLang="zh-CN" sz="1400" dirty="0">
                <a:solidFill>
                  <a:prstClr val="black"/>
                </a:solidFill>
                <a:cs typeface="Courier New" panose="02070309020205020404" pitchFamily="49" charset="0"/>
              </a:rPr>
              <a:t>ipv6 route-static :: 0 </a:t>
            </a:r>
            <a:r>
              <a:rPr lang="en-US" altLang="zh-CN" sz="1400" dirty="0" smtClean="0">
                <a:solidFill>
                  <a:prstClr val="black"/>
                </a:solidFill>
                <a:cs typeface="Courier New" panose="02070309020205020404" pitchFamily="49" charset="0"/>
              </a:rPr>
              <a:t>2001:DB8:2::</a:t>
            </a:r>
            <a:r>
              <a:rPr lang="en-US" altLang="zh-CN" sz="1400" dirty="0">
                <a:solidFill>
                  <a:prstClr val="black"/>
                </a:solidFill>
                <a:cs typeface="Courier New" panose="02070309020205020404" pitchFamily="49" charset="0"/>
              </a:rPr>
              <a:t>2</a:t>
            </a:r>
          </a:p>
        </p:txBody>
      </p:sp>
    </p:spTree>
    <p:extLst>
      <p:ext uri="{BB962C8B-B14F-4D97-AF65-F5344CB8AC3E}">
        <p14:creationId xmlns:p14="http://schemas.microsoft.com/office/powerpoint/2010/main" val="3283765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t>查看配置结果</a:t>
            </a:r>
            <a:endParaRPr lang="zh-CN" altLang="en-US" dirty="0"/>
          </a:p>
        </p:txBody>
      </p:sp>
      <p:sp>
        <p:nvSpPr>
          <p:cNvPr id="4" name="文本框 31"/>
          <p:cNvSpPr txBox="1"/>
          <p:nvPr/>
        </p:nvSpPr>
        <p:spPr bwMode="gray">
          <a:xfrm>
            <a:off x="604114" y="966628"/>
            <a:ext cx="4260117" cy="307777"/>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smtClean="0">
                <a:solidFill>
                  <a:prstClr val="black"/>
                </a:solidFill>
              </a:rPr>
              <a:t>1. </a:t>
            </a:r>
            <a:r>
              <a:rPr lang="zh-CN" altLang="en-US" sz="1400" dirty="0" smtClean="0">
                <a:solidFill>
                  <a:prstClr val="black"/>
                </a:solidFill>
              </a:rPr>
              <a:t>在</a:t>
            </a:r>
            <a:r>
              <a:rPr lang="en-US" altLang="zh-CN" sz="1400" dirty="0">
                <a:solidFill>
                  <a:prstClr val="black"/>
                </a:solidFill>
              </a:rPr>
              <a:t>PE</a:t>
            </a:r>
            <a:r>
              <a:rPr lang="zh-CN" altLang="en-US" sz="1400" dirty="0">
                <a:solidFill>
                  <a:prstClr val="black"/>
                </a:solidFill>
              </a:rPr>
              <a:t>上查看</a:t>
            </a:r>
            <a:r>
              <a:rPr lang="en-US" altLang="zh-CN" sz="1400" dirty="0">
                <a:solidFill>
                  <a:prstClr val="black"/>
                </a:solidFill>
              </a:rPr>
              <a:t>VPNv6</a:t>
            </a:r>
            <a:r>
              <a:rPr lang="zh-CN" altLang="en-US" sz="1400" dirty="0">
                <a:solidFill>
                  <a:prstClr val="black"/>
                </a:solidFill>
              </a:rPr>
              <a:t>对等体的建立情况。</a:t>
            </a:r>
          </a:p>
        </p:txBody>
      </p:sp>
      <p:sp>
        <p:nvSpPr>
          <p:cNvPr id="14" name="五边形 13"/>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15" name="燕尾形 14"/>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16" name="燕尾形 15"/>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17" name="燕尾形 16"/>
          <p:cNvSpPr/>
          <p:nvPr/>
        </p:nvSpPr>
        <p:spPr bwMode="gray">
          <a:xfrm>
            <a:off x="8581616"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18" name="燕尾形 17"/>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IPv4 over IPv6</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32"/>
          <p:cNvSpPr txBox="1"/>
          <p:nvPr/>
        </p:nvSpPr>
        <p:spPr bwMode="gray">
          <a:xfrm>
            <a:off x="868381" y="1274405"/>
            <a:ext cx="7437748" cy="1384995"/>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200" dirty="0">
                <a:solidFill>
                  <a:prstClr val="black"/>
                </a:solidFill>
                <a:cs typeface="Courier New" panose="02070309020205020404" pitchFamily="49" charset="0"/>
              </a:rPr>
              <a:t>[PE1]display </a:t>
            </a:r>
            <a:r>
              <a:rPr lang="en-US" altLang="zh-CN" sz="1200" dirty="0" err="1">
                <a:solidFill>
                  <a:prstClr val="black"/>
                </a:solidFill>
                <a:cs typeface="Courier New" panose="02070309020205020404" pitchFamily="49" charset="0"/>
              </a:rPr>
              <a:t>bgp</a:t>
            </a:r>
            <a:r>
              <a:rPr lang="en-US" altLang="zh-CN" sz="1200" dirty="0">
                <a:solidFill>
                  <a:prstClr val="black"/>
                </a:solidFill>
                <a:cs typeface="Courier New" panose="02070309020205020404" pitchFamily="49" charset="0"/>
              </a:rPr>
              <a:t> vpnv6 all peer</a:t>
            </a:r>
          </a:p>
          <a:p>
            <a:pPr fontAlgn="auto">
              <a:spcBef>
                <a:spcPts val="0"/>
              </a:spcBef>
              <a:spcAft>
                <a:spcPts val="0"/>
              </a:spcAft>
            </a:pPr>
            <a:r>
              <a:rPr lang="en-US" altLang="zh-CN" sz="1200" dirty="0">
                <a:solidFill>
                  <a:prstClr val="black"/>
                </a:solidFill>
                <a:cs typeface="Courier New" panose="02070309020205020404" pitchFamily="49" charset="0"/>
              </a:rPr>
              <a:t> </a:t>
            </a:r>
            <a:r>
              <a:rPr lang="en-US" altLang="zh-CN" sz="1200" dirty="0" smtClean="0">
                <a:solidFill>
                  <a:prstClr val="black"/>
                </a:solidFill>
                <a:cs typeface="Courier New" panose="02070309020205020404" pitchFamily="49" charset="0"/>
              </a:rPr>
              <a:t>BGP </a:t>
            </a:r>
            <a:r>
              <a:rPr lang="en-US" altLang="zh-CN" sz="1200" dirty="0">
                <a:solidFill>
                  <a:prstClr val="black"/>
                </a:solidFill>
                <a:cs typeface="Courier New" panose="02070309020205020404" pitchFamily="49" charset="0"/>
              </a:rPr>
              <a:t>local router ID : 10.0.0.1</a:t>
            </a:r>
          </a:p>
          <a:p>
            <a:pPr fontAlgn="auto">
              <a:spcBef>
                <a:spcPts val="0"/>
              </a:spcBef>
              <a:spcAft>
                <a:spcPts val="0"/>
              </a:spcAft>
            </a:pPr>
            <a:r>
              <a:rPr lang="en-US" altLang="zh-CN" sz="1200" dirty="0">
                <a:solidFill>
                  <a:prstClr val="black"/>
                </a:solidFill>
                <a:cs typeface="Courier New" panose="02070309020205020404" pitchFamily="49" charset="0"/>
              </a:rPr>
              <a:t> Local AS number : 200</a:t>
            </a:r>
          </a:p>
          <a:p>
            <a:pPr fontAlgn="auto">
              <a:spcBef>
                <a:spcPts val="0"/>
              </a:spcBef>
              <a:spcAft>
                <a:spcPts val="0"/>
              </a:spcAft>
            </a:pPr>
            <a:r>
              <a:rPr lang="en-US" altLang="zh-CN" sz="1200" dirty="0">
                <a:solidFill>
                  <a:prstClr val="black"/>
                </a:solidFill>
                <a:cs typeface="Courier New" panose="02070309020205020404" pitchFamily="49" charset="0"/>
              </a:rPr>
              <a:t> Total number of peers : 1                 Peers in established state : 1</a:t>
            </a:r>
          </a:p>
          <a:p>
            <a:pPr fontAlgn="auto">
              <a:spcBef>
                <a:spcPts val="0"/>
              </a:spcBef>
              <a:spcAft>
                <a:spcPts val="0"/>
              </a:spcAft>
            </a:pP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t>
            </a:r>
            <a:r>
              <a:rPr lang="en-US" altLang="zh-CN" sz="1200" dirty="0" smtClean="0">
                <a:solidFill>
                  <a:prstClr val="black"/>
                </a:solidFill>
                <a:cs typeface="Courier New" panose="02070309020205020404" pitchFamily="49" charset="0"/>
              </a:rPr>
              <a:t>Peer	V     AS	</a:t>
            </a:r>
            <a:r>
              <a:rPr lang="en-US" altLang="zh-CN" sz="1200" dirty="0" err="1" smtClean="0">
                <a:solidFill>
                  <a:prstClr val="black"/>
                </a:solidFill>
                <a:cs typeface="Courier New" panose="02070309020205020404" pitchFamily="49" charset="0"/>
              </a:rPr>
              <a:t>MsgRcvd</a:t>
            </a:r>
            <a:r>
              <a:rPr lang="en-US" altLang="zh-CN" sz="1200" dirty="0" smtClean="0">
                <a:solidFill>
                  <a:prstClr val="black"/>
                </a:solidFill>
                <a:cs typeface="Courier New" panose="02070309020205020404" pitchFamily="49" charset="0"/>
              </a:rPr>
              <a:t>	</a:t>
            </a:r>
            <a:r>
              <a:rPr lang="en-US" altLang="zh-CN" sz="1200" dirty="0" err="1" smtClean="0">
                <a:solidFill>
                  <a:prstClr val="black"/>
                </a:solidFill>
                <a:cs typeface="Courier New" panose="02070309020205020404" pitchFamily="49" charset="0"/>
              </a:rPr>
              <a:t>MsgSent</a:t>
            </a:r>
            <a:r>
              <a:rPr lang="en-US" altLang="zh-CN" sz="1200" dirty="0" smtClean="0">
                <a:solidFill>
                  <a:prstClr val="black"/>
                </a:solidFill>
                <a:cs typeface="Courier New" panose="02070309020205020404" pitchFamily="49" charset="0"/>
              </a:rPr>
              <a:t>	</a:t>
            </a:r>
            <a:r>
              <a:rPr lang="en-US" altLang="zh-CN" sz="1200" dirty="0" err="1" smtClean="0">
                <a:solidFill>
                  <a:prstClr val="black"/>
                </a:solidFill>
                <a:cs typeface="Courier New" panose="02070309020205020404" pitchFamily="49" charset="0"/>
              </a:rPr>
              <a:t>OutQ</a:t>
            </a:r>
            <a:r>
              <a:rPr lang="en-US" altLang="zh-CN" sz="1200" dirty="0" smtClean="0">
                <a:solidFill>
                  <a:prstClr val="black"/>
                </a:solidFill>
                <a:cs typeface="Courier New" panose="02070309020205020404" pitchFamily="49" charset="0"/>
              </a:rPr>
              <a:t>	Up/Down	State	</a:t>
            </a:r>
            <a:r>
              <a:rPr lang="en-US" altLang="zh-CN" sz="1200" dirty="0" err="1" smtClean="0">
                <a:solidFill>
                  <a:prstClr val="black"/>
                </a:solidFill>
                <a:cs typeface="Courier New" panose="02070309020205020404" pitchFamily="49" charset="0"/>
              </a:rPr>
              <a:t>PrefRcv</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t>
            </a:r>
            <a:r>
              <a:rPr lang="en-US" altLang="zh-CN" sz="1200" dirty="0" smtClean="0">
                <a:solidFill>
                  <a:prstClr val="black"/>
                </a:solidFill>
                <a:cs typeface="Courier New" panose="02070309020205020404" pitchFamily="49" charset="0"/>
              </a:rPr>
              <a:t>3.3.3.3	4     200	19       	19     	 0 	00:12:25 	Established    1</a:t>
            </a:r>
            <a:endParaRPr lang="en-US" altLang="zh-CN" sz="1200" dirty="0">
              <a:solidFill>
                <a:prstClr val="black"/>
              </a:solidFill>
              <a:cs typeface="Courier New" panose="02070309020205020404" pitchFamily="49" charset="0"/>
            </a:endParaRPr>
          </a:p>
        </p:txBody>
      </p:sp>
      <p:sp>
        <p:nvSpPr>
          <p:cNvPr id="24" name="文本框 31"/>
          <p:cNvSpPr txBox="1"/>
          <p:nvPr/>
        </p:nvSpPr>
        <p:spPr bwMode="gray">
          <a:xfrm>
            <a:off x="604114" y="2662611"/>
            <a:ext cx="4260117" cy="307777"/>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smtClean="0">
                <a:solidFill>
                  <a:prstClr val="black"/>
                </a:solidFill>
              </a:rPr>
              <a:t>2. </a:t>
            </a:r>
            <a:r>
              <a:rPr lang="en-US" altLang="zh-CN" sz="1400" dirty="0">
                <a:solidFill>
                  <a:prstClr val="black"/>
                </a:solidFill>
              </a:rPr>
              <a:t>CE1</a:t>
            </a:r>
            <a:r>
              <a:rPr lang="zh-CN" altLang="en-US" sz="1400" dirty="0">
                <a:solidFill>
                  <a:prstClr val="black"/>
                </a:solidFill>
              </a:rPr>
              <a:t>可以</a:t>
            </a:r>
            <a:r>
              <a:rPr lang="en-US" altLang="zh-CN" sz="1400" dirty="0">
                <a:solidFill>
                  <a:prstClr val="black"/>
                </a:solidFill>
              </a:rPr>
              <a:t>Ping</a:t>
            </a:r>
            <a:r>
              <a:rPr lang="zh-CN" altLang="en-US" sz="1400" dirty="0">
                <a:solidFill>
                  <a:prstClr val="black"/>
                </a:solidFill>
              </a:rPr>
              <a:t>通</a:t>
            </a:r>
            <a:r>
              <a:rPr lang="en-US" altLang="zh-CN" sz="1400" dirty="0">
                <a:solidFill>
                  <a:prstClr val="black"/>
                </a:solidFill>
              </a:rPr>
              <a:t>CE2</a:t>
            </a:r>
            <a:r>
              <a:rPr lang="zh-CN" altLang="en-US" sz="1400" dirty="0">
                <a:solidFill>
                  <a:prstClr val="black"/>
                </a:solidFill>
              </a:rPr>
              <a:t>的</a:t>
            </a:r>
            <a:r>
              <a:rPr lang="en-US" altLang="zh-CN" sz="1400" dirty="0">
                <a:solidFill>
                  <a:prstClr val="black"/>
                </a:solidFill>
              </a:rPr>
              <a:t>Loopback1</a:t>
            </a:r>
            <a:r>
              <a:rPr lang="zh-CN" altLang="en-US" sz="1400" dirty="0">
                <a:solidFill>
                  <a:prstClr val="black"/>
                </a:solidFill>
              </a:rPr>
              <a:t>地址。</a:t>
            </a:r>
          </a:p>
        </p:txBody>
      </p:sp>
      <p:sp>
        <p:nvSpPr>
          <p:cNvPr id="25" name="文本框 32"/>
          <p:cNvSpPr txBox="1"/>
          <p:nvPr/>
        </p:nvSpPr>
        <p:spPr bwMode="gray">
          <a:xfrm>
            <a:off x="868381" y="2970388"/>
            <a:ext cx="7437748" cy="3231654"/>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200" dirty="0">
                <a:solidFill>
                  <a:prstClr val="black"/>
                </a:solidFill>
                <a:cs typeface="Courier New" panose="02070309020205020404" pitchFamily="49" charset="0"/>
              </a:rPr>
              <a:t>[CE1]ping ipv6 -a 2001:db8:5::5 2001:db8:6::6</a:t>
            </a:r>
          </a:p>
          <a:p>
            <a:pPr fontAlgn="auto">
              <a:spcBef>
                <a:spcPts val="0"/>
              </a:spcBef>
              <a:spcAft>
                <a:spcPts val="0"/>
              </a:spcAft>
            </a:pPr>
            <a:r>
              <a:rPr lang="en-US" altLang="zh-CN" sz="1200" dirty="0">
                <a:solidFill>
                  <a:prstClr val="black"/>
                </a:solidFill>
                <a:cs typeface="Courier New" panose="02070309020205020404" pitchFamily="49" charset="0"/>
              </a:rPr>
              <a:t>  PING 2001:db8:6::6 : 56  data bytes, press CTRL_C to break</a:t>
            </a:r>
          </a:p>
          <a:p>
            <a:pPr fontAlgn="auto">
              <a:spcBef>
                <a:spcPts val="0"/>
              </a:spcBef>
              <a:spcAft>
                <a:spcPts val="0"/>
              </a:spcAft>
            </a:pPr>
            <a:r>
              <a:rPr lang="en-US" altLang="zh-CN" sz="1200" dirty="0">
                <a:solidFill>
                  <a:prstClr val="black"/>
                </a:solidFill>
                <a:cs typeface="Courier New" panose="02070309020205020404" pitchFamily="49" charset="0"/>
              </a:rPr>
              <a:t>    Request time out</a:t>
            </a:r>
          </a:p>
          <a:p>
            <a:pPr fontAlgn="auto">
              <a:spcBef>
                <a:spcPts val="0"/>
              </a:spcBef>
              <a:spcAft>
                <a:spcPts val="0"/>
              </a:spcAft>
            </a:pPr>
            <a:r>
              <a:rPr lang="en-US" altLang="zh-CN" sz="1200" dirty="0">
                <a:solidFill>
                  <a:prstClr val="black"/>
                </a:solidFill>
                <a:cs typeface="Courier New" panose="02070309020205020404" pitchFamily="49" charset="0"/>
              </a:rPr>
              <a:t>    Reply from 2001:DB8:6::6 </a:t>
            </a:r>
          </a:p>
          <a:p>
            <a:pPr fontAlgn="auto">
              <a:spcBef>
                <a:spcPts val="0"/>
              </a:spcBef>
              <a:spcAft>
                <a:spcPts val="0"/>
              </a:spcAft>
            </a:pPr>
            <a:r>
              <a:rPr lang="en-US" altLang="zh-CN" sz="1200" dirty="0">
                <a:solidFill>
                  <a:prstClr val="black"/>
                </a:solidFill>
                <a:cs typeface="Courier New" panose="02070309020205020404" pitchFamily="49" charset="0"/>
              </a:rPr>
              <a:t>    bytes=56 Sequence=2 hop limit=62  time = 50 </a:t>
            </a:r>
            <a:r>
              <a:rPr lang="en-US" altLang="zh-CN" sz="1200" dirty="0" err="1">
                <a:solidFill>
                  <a:prstClr val="black"/>
                </a:solidFill>
                <a:cs typeface="Courier New" panose="02070309020205020404" pitchFamily="49" charset="0"/>
              </a:rPr>
              <a:t>ms</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Reply from 2001:DB8:6::6 </a:t>
            </a:r>
          </a:p>
          <a:p>
            <a:pPr fontAlgn="auto">
              <a:spcBef>
                <a:spcPts val="0"/>
              </a:spcBef>
              <a:spcAft>
                <a:spcPts val="0"/>
              </a:spcAft>
            </a:pPr>
            <a:r>
              <a:rPr lang="en-US" altLang="zh-CN" sz="1200" dirty="0">
                <a:solidFill>
                  <a:prstClr val="black"/>
                </a:solidFill>
                <a:cs typeface="Courier New" panose="02070309020205020404" pitchFamily="49" charset="0"/>
              </a:rPr>
              <a:t>    bytes=56 Sequence=3 hop limit=62  time = 40 </a:t>
            </a:r>
            <a:r>
              <a:rPr lang="en-US" altLang="zh-CN" sz="1200" dirty="0" err="1">
                <a:solidFill>
                  <a:prstClr val="black"/>
                </a:solidFill>
                <a:cs typeface="Courier New" panose="02070309020205020404" pitchFamily="49" charset="0"/>
              </a:rPr>
              <a:t>ms</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Reply from 2001:DB8:6::6 </a:t>
            </a:r>
          </a:p>
          <a:p>
            <a:pPr fontAlgn="auto">
              <a:spcBef>
                <a:spcPts val="0"/>
              </a:spcBef>
              <a:spcAft>
                <a:spcPts val="0"/>
              </a:spcAft>
            </a:pPr>
            <a:r>
              <a:rPr lang="en-US" altLang="zh-CN" sz="1200" dirty="0">
                <a:solidFill>
                  <a:prstClr val="black"/>
                </a:solidFill>
                <a:cs typeface="Courier New" panose="02070309020205020404" pitchFamily="49" charset="0"/>
              </a:rPr>
              <a:t>    bytes=56 Sequence=4 hop limit=62  time = 30 </a:t>
            </a:r>
            <a:r>
              <a:rPr lang="en-US" altLang="zh-CN" sz="1200" dirty="0" err="1">
                <a:solidFill>
                  <a:prstClr val="black"/>
                </a:solidFill>
                <a:cs typeface="Courier New" panose="02070309020205020404" pitchFamily="49" charset="0"/>
              </a:rPr>
              <a:t>ms</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Reply from 2001:DB8:6::6 </a:t>
            </a:r>
          </a:p>
          <a:p>
            <a:pPr fontAlgn="auto">
              <a:spcBef>
                <a:spcPts val="0"/>
              </a:spcBef>
              <a:spcAft>
                <a:spcPts val="0"/>
              </a:spcAft>
            </a:pPr>
            <a:r>
              <a:rPr lang="en-US" altLang="zh-CN" sz="1200" dirty="0">
                <a:solidFill>
                  <a:prstClr val="black"/>
                </a:solidFill>
                <a:cs typeface="Courier New" panose="02070309020205020404" pitchFamily="49" charset="0"/>
              </a:rPr>
              <a:t>    bytes=56 Sequence=5 hop limit=62  time = 30 </a:t>
            </a:r>
            <a:r>
              <a:rPr lang="en-US" altLang="zh-CN" sz="1200" dirty="0" err="1">
                <a:solidFill>
                  <a:prstClr val="black"/>
                </a:solidFill>
                <a:cs typeface="Courier New" panose="02070309020205020404" pitchFamily="49" charset="0"/>
              </a:rPr>
              <a:t>ms</a:t>
            </a:r>
            <a:endParaRPr lang="en-US" altLang="zh-CN" sz="1200" dirty="0">
              <a:solidFill>
                <a:prstClr val="black"/>
              </a:solidFill>
              <a:cs typeface="Courier New" panose="02070309020205020404" pitchFamily="49" charset="0"/>
            </a:endParaRPr>
          </a:p>
          <a:p>
            <a:pPr fontAlgn="auto">
              <a:spcBef>
                <a:spcPts val="0"/>
              </a:spcBef>
              <a:spcAft>
                <a:spcPts val="0"/>
              </a:spcAft>
            </a:pP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--- 2001:db8:6::6 ping statistics ---</a:t>
            </a:r>
          </a:p>
          <a:p>
            <a:pPr fontAlgn="auto">
              <a:spcBef>
                <a:spcPts val="0"/>
              </a:spcBef>
              <a:spcAft>
                <a:spcPts val="0"/>
              </a:spcAft>
            </a:pPr>
            <a:r>
              <a:rPr lang="en-US" altLang="zh-CN" sz="1200" dirty="0">
                <a:solidFill>
                  <a:prstClr val="black"/>
                </a:solidFill>
                <a:cs typeface="Courier New" panose="02070309020205020404" pitchFamily="49" charset="0"/>
              </a:rPr>
              <a:t>    5 packet(s) transmitted</a:t>
            </a:r>
          </a:p>
          <a:p>
            <a:pPr fontAlgn="auto">
              <a:spcBef>
                <a:spcPts val="0"/>
              </a:spcBef>
              <a:spcAft>
                <a:spcPts val="0"/>
              </a:spcAft>
            </a:pPr>
            <a:r>
              <a:rPr lang="en-US" altLang="zh-CN" sz="1200" dirty="0">
                <a:solidFill>
                  <a:prstClr val="black"/>
                </a:solidFill>
                <a:cs typeface="Courier New" panose="02070309020205020404" pitchFamily="49" charset="0"/>
              </a:rPr>
              <a:t>    4 packet(s) received</a:t>
            </a:r>
          </a:p>
          <a:p>
            <a:pPr fontAlgn="auto">
              <a:spcBef>
                <a:spcPts val="0"/>
              </a:spcBef>
              <a:spcAft>
                <a:spcPts val="0"/>
              </a:spcAft>
            </a:pPr>
            <a:r>
              <a:rPr lang="en-US" altLang="zh-CN" sz="1200" dirty="0">
                <a:solidFill>
                  <a:prstClr val="black"/>
                </a:solidFill>
                <a:cs typeface="Courier New" panose="02070309020205020404" pitchFamily="49" charset="0"/>
              </a:rPr>
              <a:t>    20.00% packet loss</a:t>
            </a:r>
          </a:p>
          <a:p>
            <a:pPr fontAlgn="auto">
              <a:spcBef>
                <a:spcPts val="0"/>
              </a:spcBef>
              <a:spcAft>
                <a:spcPts val="0"/>
              </a:spcAft>
            </a:pPr>
            <a:r>
              <a:rPr lang="en-US" altLang="zh-CN" sz="1200" dirty="0">
                <a:solidFill>
                  <a:prstClr val="black"/>
                </a:solidFill>
                <a:cs typeface="Courier New" panose="02070309020205020404" pitchFamily="49" charset="0"/>
              </a:rPr>
              <a:t>    round-trip min/</a:t>
            </a:r>
            <a:r>
              <a:rPr lang="en-US" altLang="zh-CN" sz="1200" dirty="0" err="1">
                <a:solidFill>
                  <a:prstClr val="black"/>
                </a:solidFill>
                <a:cs typeface="Courier New" panose="02070309020205020404" pitchFamily="49" charset="0"/>
              </a:rPr>
              <a:t>avg</a:t>
            </a:r>
            <a:r>
              <a:rPr lang="en-US" altLang="zh-CN" sz="1200" dirty="0">
                <a:solidFill>
                  <a:prstClr val="black"/>
                </a:solidFill>
                <a:cs typeface="Courier New" panose="02070309020205020404" pitchFamily="49" charset="0"/>
              </a:rPr>
              <a:t>/max = 30/37/50 </a:t>
            </a:r>
            <a:r>
              <a:rPr lang="en-US" altLang="zh-CN" sz="1200" dirty="0" err="1">
                <a:solidFill>
                  <a:prstClr val="black"/>
                </a:solidFill>
                <a:cs typeface="Courier New" panose="02070309020205020404" pitchFamily="49" charset="0"/>
              </a:rPr>
              <a:t>ms</a:t>
            </a:r>
            <a:endParaRPr lang="en-US" altLang="zh-CN" sz="1200" dirty="0">
              <a:solidFill>
                <a:prstClr val="black"/>
              </a:solidFill>
              <a:cs typeface="Courier New" panose="02070309020205020404" pitchFamily="49" charset="0"/>
            </a:endParaRPr>
          </a:p>
        </p:txBody>
      </p:sp>
    </p:spTree>
    <p:extLst>
      <p:ext uri="{BB962C8B-B14F-4D97-AF65-F5344CB8AC3E}">
        <p14:creationId xmlns:p14="http://schemas.microsoft.com/office/powerpoint/2010/main" val="1463603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t>隧道技术：</a:t>
            </a:r>
            <a:r>
              <a:rPr lang="en-US" altLang="zh-CN" dirty="0" smtClean="0"/>
              <a:t>IPv4 over IPv6</a:t>
            </a:r>
            <a:endParaRPr lang="zh-CN" altLang="en-US" dirty="0"/>
          </a:p>
        </p:txBody>
      </p:sp>
      <p:sp>
        <p:nvSpPr>
          <p:cNvPr id="3" name="文本占位符 2"/>
          <p:cNvSpPr>
            <a:spLocks noGrp="1"/>
          </p:cNvSpPr>
          <p:nvPr>
            <p:ph type="body" sz="quarter" idx="10"/>
          </p:nvPr>
        </p:nvSpPr>
        <p:spPr bwMode="gray">
          <a:xfrm>
            <a:off x="455612" y="1047750"/>
            <a:ext cx="11293475" cy="1673278"/>
          </a:xfrm>
        </p:spPr>
        <p:txBody>
          <a:bodyPr/>
          <a:lstStyle/>
          <a:p>
            <a:r>
              <a:rPr lang="zh-CN" altLang="en-US" sz="1800" dirty="0"/>
              <a:t>在</a:t>
            </a:r>
            <a:r>
              <a:rPr lang="en-US" altLang="zh-CN" sz="1800" dirty="0"/>
              <a:t>IPv4</a:t>
            </a:r>
            <a:r>
              <a:rPr lang="zh-CN" altLang="en-US" sz="1800" dirty="0"/>
              <a:t>网络向</a:t>
            </a:r>
            <a:r>
              <a:rPr lang="en-US" altLang="zh-CN" sz="1800" dirty="0"/>
              <a:t>IPv6</a:t>
            </a:r>
            <a:r>
              <a:rPr lang="zh-CN" altLang="en-US" sz="1800" dirty="0"/>
              <a:t>网络过渡后期，</a:t>
            </a:r>
            <a:r>
              <a:rPr lang="en-US" altLang="zh-CN" sz="1800" dirty="0"/>
              <a:t>IPv6</a:t>
            </a:r>
            <a:r>
              <a:rPr lang="zh-CN" altLang="en-US" sz="1800" dirty="0"/>
              <a:t>网络已被大量部署，而</a:t>
            </a:r>
            <a:r>
              <a:rPr lang="en-US" altLang="zh-CN" sz="1800" dirty="0"/>
              <a:t>IPv4</a:t>
            </a:r>
            <a:r>
              <a:rPr lang="zh-CN" altLang="en-US" sz="1800" dirty="0"/>
              <a:t>网络只是被</a:t>
            </a:r>
            <a:r>
              <a:rPr lang="en-US" altLang="zh-CN" sz="1800" dirty="0"/>
              <a:t>IPv6</a:t>
            </a:r>
            <a:r>
              <a:rPr lang="zh-CN" altLang="en-US" sz="1800" dirty="0"/>
              <a:t>网络隔离开的局部网络。采用专用的线路将这些</a:t>
            </a:r>
            <a:r>
              <a:rPr lang="en-US" altLang="zh-CN" sz="1800" dirty="0"/>
              <a:t>IPv4</a:t>
            </a:r>
            <a:r>
              <a:rPr lang="zh-CN" altLang="en-US" sz="1800" dirty="0"/>
              <a:t>网络互连起来，显然是不经济的，通常的做法是采用隧道技术</a:t>
            </a:r>
            <a:r>
              <a:rPr lang="zh-CN" altLang="en-US" sz="1800" dirty="0" smtClean="0"/>
              <a:t>。</a:t>
            </a:r>
            <a:endParaRPr lang="en-US" altLang="zh-CN" sz="1800" dirty="0" smtClean="0"/>
          </a:p>
          <a:p>
            <a:r>
              <a:rPr lang="zh-CN" altLang="en-US" sz="1800" dirty="0" smtClean="0"/>
              <a:t>利用</a:t>
            </a:r>
            <a:r>
              <a:rPr lang="zh-CN" altLang="en-US" sz="1800" dirty="0"/>
              <a:t>隧道技术可以在</a:t>
            </a:r>
            <a:r>
              <a:rPr lang="en-US" altLang="zh-CN" sz="1800" dirty="0"/>
              <a:t>IPv6</a:t>
            </a:r>
            <a:r>
              <a:rPr lang="zh-CN" altLang="en-US" sz="1800" dirty="0"/>
              <a:t>网络上创建隧道，使</a:t>
            </a:r>
            <a:r>
              <a:rPr lang="en-US" altLang="zh-CN" sz="1800" dirty="0"/>
              <a:t>IPv4</a:t>
            </a:r>
            <a:r>
              <a:rPr lang="zh-CN" altLang="en-US" sz="1800" dirty="0"/>
              <a:t>网络能通过</a:t>
            </a:r>
            <a:r>
              <a:rPr lang="en-US" altLang="zh-CN" sz="1800" dirty="0"/>
              <a:t>IPv6</a:t>
            </a:r>
            <a:r>
              <a:rPr lang="zh-CN" altLang="en-US" sz="1800" dirty="0"/>
              <a:t>公网访问其他</a:t>
            </a:r>
            <a:r>
              <a:rPr lang="en-US" altLang="zh-CN" sz="1800" dirty="0"/>
              <a:t>IPv4</a:t>
            </a:r>
            <a:r>
              <a:rPr lang="zh-CN" altLang="en-US" sz="1800" dirty="0"/>
              <a:t>网络，从而实现</a:t>
            </a:r>
            <a:r>
              <a:rPr lang="en-US" altLang="zh-CN" sz="1800" dirty="0"/>
              <a:t>IPv4</a:t>
            </a:r>
            <a:r>
              <a:rPr lang="zh-CN" altLang="en-US" sz="1800" dirty="0"/>
              <a:t>网络之间的互连，这种隧道称为</a:t>
            </a:r>
            <a:r>
              <a:rPr lang="en-US" altLang="zh-CN" sz="1800" dirty="0"/>
              <a:t>IPv4 over IPv6</a:t>
            </a:r>
            <a:r>
              <a:rPr lang="zh-CN" altLang="en-US" sz="1800" dirty="0"/>
              <a:t>隧道</a:t>
            </a:r>
            <a:r>
              <a:rPr lang="zh-CN" altLang="en-US" sz="1800" dirty="0" smtClean="0"/>
              <a:t>。</a:t>
            </a:r>
            <a:endParaRPr lang="en-US" altLang="zh-CN" sz="1800" dirty="0" smtClean="0"/>
          </a:p>
        </p:txBody>
      </p:sp>
      <p:sp>
        <p:nvSpPr>
          <p:cNvPr id="21" name="Freeform 159"/>
          <p:cNvSpPr/>
          <p:nvPr/>
        </p:nvSpPr>
        <p:spPr bwMode="gray">
          <a:xfrm flipH="1">
            <a:off x="1350127" y="3629178"/>
            <a:ext cx="937298" cy="48995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22" name="文本框 21"/>
          <p:cNvSpPr txBox="1"/>
          <p:nvPr/>
        </p:nvSpPr>
        <p:spPr bwMode="gray">
          <a:xfrm>
            <a:off x="1554207" y="3770177"/>
            <a:ext cx="478016" cy="276999"/>
          </a:xfrm>
          <a:prstGeom prst="rect">
            <a:avLst/>
          </a:prstGeom>
          <a:noFill/>
        </p:spPr>
        <p:txBody>
          <a:bodyPr wrap="none" rtlCol="0">
            <a:spAutoFit/>
          </a:bodyPr>
          <a:lstStyle/>
          <a:p>
            <a:pPr algn="ctr"/>
            <a:r>
              <a:rPr lang="en-US" sz="1200" dirty="0" smtClean="0">
                <a:cs typeface="Arial" panose="020B0604020202020204" pitchFamily="34" charset="0"/>
              </a:rPr>
              <a:t>IPv4</a:t>
            </a:r>
            <a:endParaRPr lang="en-US" sz="1200" dirty="0">
              <a:cs typeface="Arial" panose="020B0604020202020204" pitchFamily="34" charset="0"/>
            </a:endParaRPr>
          </a:p>
        </p:txBody>
      </p:sp>
      <p:sp>
        <p:nvSpPr>
          <p:cNvPr id="4" name="Freeform 159"/>
          <p:cNvSpPr/>
          <p:nvPr/>
        </p:nvSpPr>
        <p:spPr bwMode="gray">
          <a:xfrm flipH="1">
            <a:off x="5075429" y="3629178"/>
            <a:ext cx="937298" cy="48995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sp>
        <p:nvSpPr>
          <p:cNvPr id="5" name="Freeform 159"/>
          <p:cNvSpPr/>
          <p:nvPr/>
        </p:nvSpPr>
        <p:spPr bwMode="gray">
          <a:xfrm flipH="1">
            <a:off x="2614644" y="3133694"/>
            <a:ext cx="2158522" cy="119990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ym typeface="Huawei Sans" panose="020C0503030203020204" pitchFamily="34" charset="0"/>
            </a:endParaRPr>
          </a:p>
        </p:txBody>
      </p:sp>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150457" y="3692607"/>
            <a:ext cx="540000" cy="442800"/>
          </a:xfrm>
          <a:prstGeom prst="rect">
            <a:avLst/>
          </a:prstGeom>
        </p:spPr>
      </p:pic>
      <p:sp>
        <p:nvSpPr>
          <p:cNvPr id="10" name="文本框 9"/>
          <p:cNvSpPr txBox="1"/>
          <p:nvPr/>
        </p:nvSpPr>
        <p:spPr bwMode="gray">
          <a:xfrm>
            <a:off x="5279509" y="3770177"/>
            <a:ext cx="478016" cy="276999"/>
          </a:xfrm>
          <a:prstGeom prst="rect">
            <a:avLst/>
          </a:prstGeom>
          <a:noFill/>
        </p:spPr>
        <p:txBody>
          <a:bodyPr wrap="none" rtlCol="0">
            <a:spAutoFit/>
          </a:bodyPr>
          <a:lstStyle/>
          <a:p>
            <a:pPr algn="ctr"/>
            <a:r>
              <a:rPr lang="en-US" sz="1200" dirty="0" smtClean="0">
                <a:cs typeface="Arial" panose="020B0604020202020204" pitchFamily="34" charset="0"/>
              </a:rPr>
              <a:t>IPv4</a:t>
            </a:r>
            <a:endParaRPr lang="en-US" sz="1200" dirty="0">
              <a:cs typeface="Arial" panose="020B0604020202020204" pitchFamily="34" charset="0"/>
            </a:endParaRPr>
          </a:p>
        </p:txBody>
      </p:sp>
      <p:cxnSp>
        <p:nvCxnSpPr>
          <p:cNvPr id="11" name="直接连接符 10"/>
          <p:cNvCxnSpPr/>
          <p:nvPr/>
        </p:nvCxnSpPr>
        <p:spPr bwMode="gray">
          <a:xfrm>
            <a:off x="3710835" y="4085049"/>
            <a:ext cx="0" cy="706691"/>
          </a:xfrm>
          <a:prstGeom prst="line">
            <a:avLst/>
          </a:prstGeom>
          <a:ln w="19050">
            <a:solidFill>
              <a:srgbClr val="56C4D2"/>
            </a:solidFill>
            <a:headEnd type="triangle"/>
          </a:ln>
        </p:spPr>
        <p:style>
          <a:lnRef idx="1">
            <a:schemeClr val="accent1"/>
          </a:lnRef>
          <a:fillRef idx="0">
            <a:schemeClr val="accent1"/>
          </a:fillRef>
          <a:effectRef idx="0">
            <a:schemeClr val="accent1"/>
          </a:effectRef>
          <a:fontRef idx="minor">
            <a:schemeClr val="tx1"/>
          </a:fontRef>
        </p:style>
      </p:cxnSp>
      <p:pic>
        <p:nvPicPr>
          <p:cNvPr id="12" name="图片 1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642045" y="3692607"/>
            <a:ext cx="540000" cy="442800"/>
          </a:xfrm>
          <a:prstGeom prst="rect">
            <a:avLst/>
          </a:prstGeom>
        </p:spPr>
      </p:pic>
      <p:sp>
        <p:nvSpPr>
          <p:cNvPr id="13" name="文本框 12"/>
          <p:cNvSpPr txBox="1"/>
          <p:nvPr/>
        </p:nvSpPr>
        <p:spPr bwMode="gray">
          <a:xfrm>
            <a:off x="3430050" y="3370095"/>
            <a:ext cx="527709" cy="307777"/>
          </a:xfrm>
          <a:prstGeom prst="rect">
            <a:avLst/>
          </a:prstGeom>
          <a:noFill/>
        </p:spPr>
        <p:txBody>
          <a:bodyPr wrap="none" rtlCol="0">
            <a:spAutoFit/>
          </a:bodyPr>
          <a:lstStyle/>
          <a:p>
            <a:pPr algn="ctr"/>
            <a:r>
              <a:rPr lang="en-US" sz="1400" dirty="0" smtClean="0">
                <a:cs typeface="Arial" panose="020B0604020202020204" pitchFamily="34" charset="0"/>
              </a:rPr>
              <a:t>IPv6</a:t>
            </a:r>
            <a:endParaRPr lang="en-US" sz="1400" dirty="0">
              <a:cs typeface="Arial" panose="020B0604020202020204" pitchFamily="34" charset="0"/>
            </a:endParaRPr>
          </a:p>
        </p:txBody>
      </p:sp>
      <p:sp>
        <p:nvSpPr>
          <p:cNvPr id="18" name="Can 9"/>
          <p:cNvSpPr/>
          <p:nvPr/>
        </p:nvSpPr>
        <p:spPr bwMode="gray">
          <a:xfrm rot="5400000">
            <a:off x="3549888" y="2944990"/>
            <a:ext cx="253196" cy="1896281"/>
          </a:xfrm>
          <a:prstGeom prst="can">
            <a:avLst>
              <a:gd name="adj" fmla="val 40000"/>
            </a:avLst>
          </a:prstGeom>
          <a:solidFill>
            <a:srgbClr val="F2FBFC"/>
          </a:soli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auto">
          <a:xfrm>
            <a:off x="2728346" y="3758471"/>
            <a:ext cx="1807513" cy="276999"/>
          </a:xfrm>
          <a:prstGeom prst="rect">
            <a:avLst/>
          </a:prstGeom>
          <a:noFill/>
        </p:spPr>
        <p:txBody>
          <a:bodyPr wrap="square" rtlCol="0">
            <a:spAutoFit/>
          </a:bodyPr>
          <a:lstStyle/>
          <a:p>
            <a:pPr algn="ctr"/>
            <a:r>
              <a:rPr lang="en-US" sz="1200" b="1" dirty="0" smtClean="0">
                <a:solidFill>
                  <a:srgbClr val="56C4D2"/>
                </a:solidFill>
                <a:cs typeface="Arial" panose="020B0604020202020204" pitchFamily="34" charset="0"/>
              </a:rPr>
              <a:t>IPv4 </a:t>
            </a:r>
            <a:r>
              <a:rPr lang="en-US" sz="1200" b="1" dirty="0">
                <a:solidFill>
                  <a:srgbClr val="56C4D2"/>
                </a:solidFill>
                <a:cs typeface="Arial" panose="020B0604020202020204" pitchFamily="34" charset="0"/>
              </a:rPr>
              <a:t>Over </a:t>
            </a:r>
            <a:r>
              <a:rPr lang="en-US" sz="1200" b="1" dirty="0" smtClean="0">
                <a:solidFill>
                  <a:srgbClr val="56C4D2"/>
                </a:solidFill>
                <a:cs typeface="Arial" panose="020B0604020202020204" pitchFamily="34" charset="0"/>
              </a:rPr>
              <a:t>IPv6 T</a:t>
            </a:r>
            <a:r>
              <a:rPr lang="en-US" altLang="zh-CN" sz="1200" b="1" dirty="0" smtClean="0">
                <a:solidFill>
                  <a:srgbClr val="56C4D2"/>
                </a:solidFill>
                <a:cs typeface="Arial" panose="020B0604020202020204" pitchFamily="34" charset="0"/>
              </a:rPr>
              <a:t>unnel</a:t>
            </a:r>
            <a:endParaRPr lang="en-US" sz="1200" b="1" dirty="0">
              <a:solidFill>
                <a:srgbClr val="56C4D2"/>
              </a:solidFill>
              <a:cs typeface="Arial" panose="020B0604020202020204" pitchFamily="34" charset="0"/>
            </a:endParaRPr>
          </a:p>
        </p:txBody>
      </p:sp>
      <p:pic>
        <p:nvPicPr>
          <p:cNvPr id="19" name="图片 18" descr="PC.png"/>
          <p:cNvPicPr>
            <a:picLocks noChangeAspect="1"/>
          </p:cNvPicPr>
          <p:nvPr/>
        </p:nvPicPr>
        <p:blipFill>
          <a:blip r:embed="rId4" cstate="print"/>
          <a:stretch>
            <a:fillRect/>
          </a:stretch>
        </p:blipFill>
        <p:spPr bwMode="gray">
          <a:xfrm>
            <a:off x="5845246" y="3703052"/>
            <a:ext cx="445577" cy="342203"/>
          </a:xfrm>
          <a:prstGeom prst="rect">
            <a:avLst/>
          </a:prstGeom>
        </p:spPr>
      </p:pic>
      <p:sp>
        <p:nvSpPr>
          <p:cNvPr id="20" name="文本框 19"/>
          <p:cNvSpPr txBox="1"/>
          <p:nvPr/>
        </p:nvSpPr>
        <p:spPr bwMode="gray">
          <a:xfrm>
            <a:off x="5494858" y="3402979"/>
            <a:ext cx="1122423" cy="307777"/>
          </a:xfrm>
          <a:prstGeom prst="rect">
            <a:avLst/>
          </a:prstGeom>
          <a:noFill/>
        </p:spPr>
        <p:txBody>
          <a:bodyPr wrap="none" rtlCol="0">
            <a:spAutoFit/>
          </a:bodyPr>
          <a:lstStyle/>
          <a:p>
            <a:pPr algn="ctr"/>
            <a:r>
              <a:rPr lang="en-US" sz="1400" dirty="0" smtClean="0">
                <a:cs typeface="Arial" panose="020B0604020202020204" pitchFamily="34" charset="0"/>
              </a:rPr>
              <a:t>IPv4 Host 2</a:t>
            </a:r>
            <a:endParaRPr lang="en-US" sz="1400" dirty="0">
              <a:cs typeface="Arial" panose="020B0604020202020204" pitchFamily="34" charset="0"/>
            </a:endParaRPr>
          </a:p>
        </p:txBody>
      </p:sp>
      <p:pic>
        <p:nvPicPr>
          <p:cNvPr id="23" name="图片 22" descr="PC.png"/>
          <p:cNvPicPr>
            <a:picLocks noChangeAspect="1"/>
          </p:cNvPicPr>
          <p:nvPr/>
        </p:nvPicPr>
        <p:blipFill>
          <a:blip r:embed="rId4" cstate="print"/>
          <a:stretch>
            <a:fillRect/>
          </a:stretch>
        </p:blipFill>
        <p:spPr bwMode="gray">
          <a:xfrm>
            <a:off x="1049660" y="3703052"/>
            <a:ext cx="445577" cy="342203"/>
          </a:xfrm>
          <a:prstGeom prst="rect">
            <a:avLst/>
          </a:prstGeom>
        </p:spPr>
      </p:pic>
      <p:sp>
        <p:nvSpPr>
          <p:cNvPr id="24" name="文本框 23"/>
          <p:cNvSpPr txBox="1"/>
          <p:nvPr/>
        </p:nvSpPr>
        <p:spPr bwMode="gray">
          <a:xfrm>
            <a:off x="699272" y="3402979"/>
            <a:ext cx="1122423" cy="307777"/>
          </a:xfrm>
          <a:prstGeom prst="rect">
            <a:avLst/>
          </a:prstGeom>
          <a:noFill/>
        </p:spPr>
        <p:txBody>
          <a:bodyPr wrap="none" rtlCol="0">
            <a:spAutoFit/>
          </a:bodyPr>
          <a:lstStyle/>
          <a:p>
            <a:pPr algn="ctr"/>
            <a:r>
              <a:rPr lang="en-US" sz="1400" dirty="0" smtClean="0">
                <a:cs typeface="Arial" panose="020B0604020202020204" pitchFamily="34" charset="0"/>
              </a:rPr>
              <a:t>IPv4 Host 1</a:t>
            </a:r>
            <a:endParaRPr lang="en-US" sz="1400" dirty="0">
              <a:cs typeface="Arial" panose="020B0604020202020204" pitchFamily="34" charset="0"/>
            </a:endParaRPr>
          </a:p>
        </p:txBody>
      </p:sp>
      <p:sp>
        <p:nvSpPr>
          <p:cNvPr id="27" name="矩形 26"/>
          <p:cNvSpPr/>
          <p:nvPr/>
        </p:nvSpPr>
        <p:spPr bwMode="gray">
          <a:xfrm>
            <a:off x="4974823" y="4398520"/>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Header</a:t>
            </a:r>
            <a:endParaRPr lang="zh-CN" altLang="en-US" sz="1200" dirty="0">
              <a:solidFill>
                <a:schemeClr val="tx1"/>
              </a:solidFill>
            </a:endParaRPr>
          </a:p>
        </p:txBody>
      </p:sp>
      <p:sp>
        <p:nvSpPr>
          <p:cNvPr id="28" name="矩形 27"/>
          <p:cNvSpPr/>
          <p:nvPr/>
        </p:nvSpPr>
        <p:spPr bwMode="gray">
          <a:xfrm>
            <a:off x="6020069" y="4398520"/>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Data</a:t>
            </a:r>
            <a:endParaRPr lang="zh-CN" altLang="en-US" sz="1200" dirty="0">
              <a:solidFill>
                <a:schemeClr val="tx1"/>
              </a:solidFill>
            </a:endParaRPr>
          </a:p>
        </p:txBody>
      </p:sp>
      <p:sp>
        <p:nvSpPr>
          <p:cNvPr id="31" name="矩形 30"/>
          <p:cNvSpPr/>
          <p:nvPr/>
        </p:nvSpPr>
        <p:spPr bwMode="gray">
          <a:xfrm>
            <a:off x="2133039" y="4791740"/>
            <a:ext cx="1044000" cy="231899"/>
          </a:xfrm>
          <a:prstGeom prst="rect">
            <a:avLst/>
          </a:prstGeom>
          <a:solidFill>
            <a:srgbClr val="EAF8FA"/>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IPv6 Header</a:t>
            </a:r>
            <a:endParaRPr lang="zh-CN" altLang="en-US" sz="1200" dirty="0">
              <a:solidFill>
                <a:schemeClr val="tx1"/>
              </a:solidFill>
            </a:endParaRPr>
          </a:p>
        </p:txBody>
      </p:sp>
      <p:sp>
        <p:nvSpPr>
          <p:cNvPr id="35" name="矩形 34"/>
          <p:cNvSpPr/>
          <p:nvPr/>
        </p:nvSpPr>
        <p:spPr bwMode="gray">
          <a:xfrm>
            <a:off x="570632" y="4398520"/>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Header</a:t>
            </a:r>
            <a:endParaRPr lang="zh-CN" altLang="en-US" sz="1200" dirty="0">
              <a:solidFill>
                <a:schemeClr val="tx1"/>
              </a:solidFill>
            </a:endParaRPr>
          </a:p>
        </p:txBody>
      </p:sp>
      <p:sp>
        <p:nvSpPr>
          <p:cNvPr id="36" name="矩形 35"/>
          <p:cNvSpPr/>
          <p:nvPr/>
        </p:nvSpPr>
        <p:spPr bwMode="gray">
          <a:xfrm>
            <a:off x="1607169" y="4398520"/>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Data</a:t>
            </a:r>
            <a:endParaRPr lang="zh-CN" altLang="en-US" sz="1200" dirty="0">
              <a:solidFill>
                <a:schemeClr val="tx1"/>
              </a:solidFill>
            </a:endParaRPr>
          </a:p>
        </p:txBody>
      </p:sp>
      <p:sp>
        <p:nvSpPr>
          <p:cNvPr id="37" name="矩形 36"/>
          <p:cNvSpPr/>
          <p:nvPr/>
        </p:nvSpPr>
        <p:spPr bwMode="gray">
          <a:xfrm>
            <a:off x="3181916" y="4791740"/>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Header</a:t>
            </a:r>
            <a:endParaRPr lang="zh-CN" altLang="en-US" sz="1200" dirty="0">
              <a:solidFill>
                <a:schemeClr val="tx1"/>
              </a:solidFill>
            </a:endParaRPr>
          </a:p>
        </p:txBody>
      </p:sp>
      <p:sp>
        <p:nvSpPr>
          <p:cNvPr id="38" name="矩形 37"/>
          <p:cNvSpPr/>
          <p:nvPr/>
        </p:nvSpPr>
        <p:spPr bwMode="gray">
          <a:xfrm>
            <a:off x="4227162" y="4791740"/>
            <a:ext cx="1043519" cy="231899"/>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Data</a:t>
            </a:r>
            <a:endParaRPr lang="zh-CN" altLang="en-US" sz="1200" dirty="0">
              <a:solidFill>
                <a:schemeClr val="tx1"/>
              </a:solidFill>
            </a:endParaRPr>
          </a:p>
        </p:txBody>
      </p:sp>
      <p:sp>
        <p:nvSpPr>
          <p:cNvPr id="39" name="文本框 38"/>
          <p:cNvSpPr txBox="1"/>
          <p:nvPr/>
        </p:nvSpPr>
        <p:spPr bwMode="gray">
          <a:xfrm>
            <a:off x="2171893" y="3212060"/>
            <a:ext cx="543740" cy="523220"/>
          </a:xfrm>
          <a:prstGeom prst="rect">
            <a:avLst/>
          </a:prstGeom>
          <a:noFill/>
        </p:spPr>
        <p:txBody>
          <a:bodyPr wrap="none" rtlCol="0">
            <a:spAutoFit/>
          </a:bodyPr>
          <a:lstStyle/>
          <a:p>
            <a:pPr algn="ctr"/>
            <a:r>
              <a:rPr lang="en-US" altLang="zh-CN" sz="1400" dirty="0" smtClean="0">
                <a:cs typeface="Arial" panose="020B0604020202020204" pitchFamily="34" charset="0"/>
              </a:rPr>
              <a:t>R1</a:t>
            </a:r>
          </a:p>
          <a:p>
            <a:pPr algn="ctr"/>
            <a:r>
              <a:rPr lang="zh-CN" altLang="en-US" sz="1400" dirty="0">
                <a:cs typeface="Arial" panose="020B0604020202020204" pitchFamily="34" charset="0"/>
              </a:rPr>
              <a:t>双栈</a:t>
            </a:r>
            <a:endParaRPr lang="en-US" sz="1400" dirty="0">
              <a:cs typeface="Arial" panose="020B0604020202020204" pitchFamily="34" charset="0"/>
            </a:endParaRPr>
          </a:p>
        </p:txBody>
      </p:sp>
      <p:sp>
        <p:nvSpPr>
          <p:cNvPr id="40" name="文本框 39"/>
          <p:cNvSpPr txBox="1"/>
          <p:nvPr/>
        </p:nvSpPr>
        <p:spPr bwMode="gray">
          <a:xfrm>
            <a:off x="4637555" y="3212060"/>
            <a:ext cx="543740" cy="523220"/>
          </a:xfrm>
          <a:prstGeom prst="rect">
            <a:avLst/>
          </a:prstGeom>
          <a:noFill/>
        </p:spPr>
        <p:txBody>
          <a:bodyPr wrap="none" rtlCol="0">
            <a:spAutoFit/>
          </a:bodyPr>
          <a:lstStyle/>
          <a:p>
            <a:pPr algn="ctr"/>
            <a:r>
              <a:rPr lang="en-US" altLang="zh-CN" sz="1400" dirty="0" smtClean="0">
                <a:cs typeface="Arial" panose="020B0604020202020204" pitchFamily="34" charset="0"/>
              </a:rPr>
              <a:t>R2</a:t>
            </a:r>
          </a:p>
          <a:p>
            <a:pPr algn="ctr"/>
            <a:r>
              <a:rPr lang="zh-CN" altLang="en-US" sz="1400" dirty="0">
                <a:cs typeface="Arial" panose="020B0604020202020204" pitchFamily="34" charset="0"/>
              </a:rPr>
              <a:t>双栈</a:t>
            </a:r>
            <a:endParaRPr lang="en-US" sz="1400" dirty="0">
              <a:cs typeface="Arial" panose="020B0604020202020204" pitchFamily="34" charset="0"/>
            </a:endParaRPr>
          </a:p>
        </p:txBody>
      </p:sp>
      <p:sp>
        <p:nvSpPr>
          <p:cNvPr id="42" name="文本框 41"/>
          <p:cNvSpPr txBox="1"/>
          <p:nvPr/>
        </p:nvSpPr>
        <p:spPr bwMode="gray">
          <a:xfrm>
            <a:off x="7192604" y="2693438"/>
            <a:ext cx="4518818" cy="3410164"/>
          </a:xfrm>
          <a:prstGeom prst="rect">
            <a:avLst/>
          </a:prstGeom>
          <a:noFill/>
        </p:spPr>
        <p:txBody>
          <a:bodyPr wrap="square" rtlCol="0">
            <a:spAutoFit/>
          </a:bodyPr>
          <a:lstStyle/>
          <a:p>
            <a:pPr marL="171450" indent="-171450">
              <a:lnSpc>
                <a:spcPct val="140000"/>
              </a:lnSpc>
              <a:buFont typeface="Arial" panose="020B0604020202020204" pitchFamily="34" charset="0"/>
              <a:buChar char="•"/>
            </a:pPr>
            <a:r>
              <a:rPr lang="en-US" altLang="zh-CN" sz="1400" dirty="0"/>
              <a:t>IPv4 over IPv6</a:t>
            </a:r>
            <a:r>
              <a:rPr lang="zh-CN" altLang="en-US" sz="1400" dirty="0"/>
              <a:t>隧道是在隧道两端的边界路由器上通过手动配置而创建的，需要静态指定隧道的源地址</a:t>
            </a:r>
            <a:r>
              <a:rPr lang="en-US" altLang="zh-CN" sz="1400" dirty="0"/>
              <a:t>/</a:t>
            </a:r>
            <a:r>
              <a:rPr lang="zh-CN" altLang="en-US" sz="1400" dirty="0"/>
              <a:t>源接口和目的地址</a:t>
            </a:r>
            <a:r>
              <a:rPr lang="zh-CN" altLang="en-US" sz="1400" dirty="0" smtClean="0"/>
              <a:t>。</a:t>
            </a:r>
            <a:endParaRPr lang="zh-CN" altLang="en-US" sz="1400" dirty="0"/>
          </a:p>
          <a:p>
            <a:pPr marL="171450" indent="-171450">
              <a:lnSpc>
                <a:spcPct val="140000"/>
              </a:lnSpc>
              <a:buFont typeface="Arial" panose="020B0604020202020204" pitchFamily="34" charset="0"/>
              <a:buChar char="•"/>
            </a:pPr>
            <a:r>
              <a:rPr lang="zh-CN" altLang="en-US" sz="1400" dirty="0"/>
              <a:t>如</a:t>
            </a:r>
            <a:r>
              <a:rPr lang="zh-CN" altLang="en-US" sz="1400" dirty="0" smtClean="0"/>
              <a:t>图所</a:t>
            </a:r>
            <a:r>
              <a:rPr lang="zh-CN" altLang="en-US" sz="1400" dirty="0"/>
              <a:t>示，</a:t>
            </a:r>
            <a:r>
              <a:rPr lang="en-US" altLang="zh-CN" sz="1400" dirty="0"/>
              <a:t>IPv4 over IPv6</a:t>
            </a:r>
            <a:r>
              <a:rPr lang="zh-CN" altLang="en-US" sz="1400" dirty="0"/>
              <a:t>隧道对报文的处理都是在两个边界节点上</a:t>
            </a:r>
            <a:r>
              <a:rPr lang="zh-CN" altLang="en-US" sz="1400" dirty="0" smtClean="0"/>
              <a:t>（</a:t>
            </a:r>
            <a:r>
              <a:rPr lang="en-US" altLang="zh-CN" sz="1400" dirty="0" smtClean="0"/>
              <a:t>R1</a:t>
            </a:r>
            <a:r>
              <a:rPr lang="zh-CN" altLang="en-US" sz="1400" dirty="0" smtClean="0"/>
              <a:t>和</a:t>
            </a:r>
            <a:r>
              <a:rPr lang="en-US" altLang="zh-CN" sz="1400" dirty="0" smtClean="0"/>
              <a:t>R2</a:t>
            </a:r>
            <a:r>
              <a:rPr lang="zh-CN" altLang="en-US" sz="1400" dirty="0" smtClean="0"/>
              <a:t>）</a:t>
            </a:r>
            <a:r>
              <a:rPr lang="zh-CN" altLang="en-US" sz="1400" dirty="0"/>
              <a:t>完成的，其余节点</a:t>
            </a:r>
            <a:r>
              <a:rPr lang="zh-CN" altLang="en-US" sz="1400" dirty="0" smtClean="0"/>
              <a:t>（</a:t>
            </a:r>
            <a:r>
              <a:rPr lang="en-US" altLang="zh-CN" sz="1400" dirty="0" smtClean="0"/>
              <a:t>Host 1</a:t>
            </a:r>
            <a:r>
              <a:rPr lang="zh-CN" altLang="en-US" sz="1400" dirty="0" smtClean="0"/>
              <a:t>，</a:t>
            </a:r>
            <a:r>
              <a:rPr lang="en-US" altLang="zh-CN" sz="1400" dirty="0" smtClean="0"/>
              <a:t>Host 2</a:t>
            </a:r>
            <a:r>
              <a:rPr lang="zh-CN" altLang="en-US" sz="1400" dirty="0" smtClean="0"/>
              <a:t>，以及</a:t>
            </a:r>
            <a:r>
              <a:rPr lang="en-US" altLang="zh-CN" sz="1400" dirty="0" smtClean="0"/>
              <a:t>R1</a:t>
            </a:r>
            <a:r>
              <a:rPr lang="zh-CN" altLang="en-US" sz="1400" dirty="0" smtClean="0"/>
              <a:t>和</a:t>
            </a:r>
            <a:r>
              <a:rPr lang="en-US" altLang="zh-CN" sz="1400" dirty="0" smtClean="0"/>
              <a:t>R2</a:t>
            </a:r>
            <a:r>
              <a:rPr lang="zh-CN" altLang="en-US" sz="1400" dirty="0" smtClean="0"/>
              <a:t>之间</a:t>
            </a:r>
            <a:r>
              <a:rPr lang="zh-CN" altLang="en-US" sz="1400" dirty="0"/>
              <a:t>的节点）都感知不到隧道的存在。</a:t>
            </a:r>
            <a:r>
              <a:rPr lang="zh-CN" altLang="en-US" sz="1400" dirty="0" smtClean="0"/>
              <a:t>因为</a:t>
            </a:r>
            <a:r>
              <a:rPr lang="en-US" altLang="zh-CN" sz="1400" dirty="0" smtClean="0"/>
              <a:t>Host 1</a:t>
            </a:r>
            <a:r>
              <a:rPr lang="zh-CN" altLang="en-US" sz="1400" dirty="0" smtClean="0"/>
              <a:t>与</a:t>
            </a:r>
            <a:r>
              <a:rPr lang="en-US" altLang="zh-CN" sz="1400" dirty="0"/>
              <a:t>R1</a:t>
            </a:r>
            <a:r>
              <a:rPr lang="zh-CN" altLang="en-US" sz="1400" dirty="0" smtClean="0"/>
              <a:t>、</a:t>
            </a:r>
            <a:r>
              <a:rPr lang="en-US" altLang="zh-CN" sz="1400" dirty="0" smtClean="0"/>
              <a:t>R2</a:t>
            </a:r>
            <a:r>
              <a:rPr lang="zh-CN" altLang="en-US" sz="1400" dirty="0" smtClean="0"/>
              <a:t>与</a:t>
            </a:r>
            <a:r>
              <a:rPr lang="en-US" altLang="zh-CN" sz="1400" dirty="0" smtClean="0"/>
              <a:t>Host 2</a:t>
            </a:r>
            <a:r>
              <a:rPr lang="zh-CN" altLang="en-US" sz="1400" dirty="0" smtClean="0"/>
              <a:t>之间</a:t>
            </a:r>
            <a:r>
              <a:rPr lang="zh-CN" altLang="en-US" sz="1400" dirty="0"/>
              <a:t>转发的是</a:t>
            </a:r>
            <a:r>
              <a:rPr lang="en-US" altLang="zh-CN" sz="1400" dirty="0"/>
              <a:t>IPv4</a:t>
            </a:r>
            <a:r>
              <a:rPr lang="zh-CN" altLang="en-US" sz="1400" dirty="0"/>
              <a:t>报文</a:t>
            </a:r>
            <a:r>
              <a:rPr lang="zh-CN" altLang="en-US" sz="1400" dirty="0" smtClean="0"/>
              <a:t>，</a:t>
            </a:r>
            <a:r>
              <a:rPr lang="en-US" altLang="zh-CN" sz="1400" dirty="0" smtClean="0"/>
              <a:t>R1</a:t>
            </a:r>
            <a:r>
              <a:rPr lang="zh-CN" altLang="en-US" sz="1400" dirty="0" smtClean="0"/>
              <a:t>与</a:t>
            </a:r>
            <a:r>
              <a:rPr lang="en-US" altLang="zh-CN" sz="1400" dirty="0" smtClean="0"/>
              <a:t>R2</a:t>
            </a:r>
            <a:r>
              <a:rPr lang="zh-CN" altLang="en-US" sz="1400" dirty="0" smtClean="0"/>
              <a:t>之间</a:t>
            </a:r>
            <a:r>
              <a:rPr lang="zh-CN" altLang="en-US" sz="1400" dirty="0"/>
              <a:t>转发的是</a:t>
            </a:r>
            <a:r>
              <a:rPr lang="en-US" altLang="zh-CN" sz="1400" dirty="0"/>
              <a:t>IPv6</a:t>
            </a:r>
            <a:r>
              <a:rPr lang="zh-CN" altLang="en-US" sz="1400" dirty="0"/>
              <a:t>报文，所以边界节点</a:t>
            </a:r>
            <a:r>
              <a:rPr lang="zh-CN" altLang="en-US" sz="1400" dirty="0" smtClean="0"/>
              <a:t>（</a:t>
            </a:r>
            <a:r>
              <a:rPr lang="en-US" altLang="zh-CN" sz="1400" dirty="0"/>
              <a:t> </a:t>
            </a:r>
            <a:r>
              <a:rPr lang="en-US" altLang="zh-CN" sz="1400" dirty="0" smtClean="0"/>
              <a:t>R1</a:t>
            </a:r>
            <a:r>
              <a:rPr lang="zh-CN" altLang="en-US" sz="1400" dirty="0" smtClean="0"/>
              <a:t>和</a:t>
            </a:r>
            <a:r>
              <a:rPr lang="en-US" altLang="zh-CN" sz="1400" dirty="0" smtClean="0"/>
              <a:t>R2 </a:t>
            </a:r>
            <a:r>
              <a:rPr lang="zh-CN" altLang="en-US" sz="1400" dirty="0" smtClean="0"/>
              <a:t>）</a:t>
            </a:r>
            <a:r>
              <a:rPr lang="zh-CN" altLang="en-US" sz="1400" dirty="0"/>
              <a:t>需要能同时处理</a:t>
            </a:r>
            <a:r>
              <a:rPr lang="en-US" altLang="zh-CN" sz="1400" dirty="0"/>
              <a:t>IPv4/IPv6</a:t>
            </a:r>
            <a:r>
              <a:rPr lang="zh-CN" altLang="en-US" sz="1400" dirty="0"/>
              <a:t>报文，即：</a:t>
            </a:r>
            <a:r>
              <a:rPr lang="en-US" altLang="zh-CN" sz="1400" dirty="0"/>
              <a:t>IPv4</a:t>
            </a:r>
            <a:r>
              <a:rPr lang="zh-CN" altLang="en-US" sz="1400" dirty="0"/>
              <a:t>网络与</a:t>
            </a:r>
            <a:r>
              <a:rPr lang="en-US" altLang="zh-CN" sz="1400" dirty="0"/>
              <a:t>IPv6</a:t>
            </a:r>
            <a:r>
              <a:rPr lang="zh-CN" altLang="en-US" sz="1400" dirty="0"/>
              <a:t>网络交界的边界路由器上均需要支持并启动</a:t>
            </a:r>
            <a:r>
              <a:rPr lang="en-US" altLang="zh-CN" sz="1400" dirty="0"/>
              <a:t>IPv4/IPv6</a:t>
            </a:r>
            <a:r>
              <a:rPr lang="zh-CN" altLang="en-US" sz="1400" dirty="0"/>
              <a:t>双协议栈。</a:t>
            </a:r>
          </a:p>
        </p:txBody>
      </p:sp>
      <p:sp>
        <p:nvSpPr>
          <p:cNvPr id="43" name="五边形 42"/>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51" name="燕尾形 50"/>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52" name="燕尾形 51"/>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53" name="燕尾形 52"/>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54" name="燕尾形 53"/>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NAT64</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9217103" y="126936"/>
            <a:ext cx="126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56" name="燕尾形 55"/>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766983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转换</a:t>
            </a:r>
            <a:r>
              <a:rPr lang="zh-CN" altLang="en-US" dirty="0" smtClean="0"/>
              <a:t>技术：</a:t>
            </a:r>
            <a:r>
              <a:rPr lang="en-US" altLang="zh-CN" dirty="0" smtClean="0"/>
              <a:t>NAT64</a:t>
            </a:r>
            <a:endParaRPr lang="zh-CN" altLang="en-US" dirty="0"/>
          </a:p>
        </p:txBody>
      </p:sp>
      <p:sp>
        <p:nvSpPr>
          <p:cNvPr id="3" name="文本占位符 2"/>
          <p:cNvSpPr>
            <a:spLocks noGrp="1"/>
          </p:cNvSpPr>
          <p:nvPr>
            <p:ph type="body" sz="quarter" idx="10"/>
          </p:nvPr>
        </p:nvSpPr>
        <p:spPr bwMode="gray">
          <a:xfrm>
            <a:off x="455612" y="1047751"/>
            <a:ext cx="11293475" cy="1390650"/>
          </a:xfrm>
        </p:spPr>
        <p:txBody>
          <a:bodyPr/>
          <a:lstStyle/>
          <a:p>
            <a:r>
              <a:rPr lang="en-US" altLang="zh-CN" sz="1800" dirty="0"/>
              <a:t>NAT64</a:t>
            </a:r>
            <a:r>
              <a:rPr lang="zh-CN" altLang="en-US" sz="1800" dirty="0"/>
              <a:t>是一种将</a:t>
            </a:r>
            <a:r>
              <a:rPr lang="en-US" altLang="zh-CN" sz="1800" dirty="0"/>
              <a:t>IPv6</a:t>
            </a:r>
            <a:r>
              <a:rPr lang="zh-CN" altLang="en-US" sz="1800" dirty="0"/>
              <a:t>网络地址转换成</a:t>
            </a:r>
            <a:r>
              <a:rPr lang="en-US" altLang="zh-CN" sz="1800" dirty="0"/>
              <a:t>IPv4</a:t>
            </a:r>
            <a:r>
              <a:rPr lang="zh-CN" altLang="en-US" sz="1800" dirty="0"/>
              <a:t>网络地址的</a:t>
            </a:r>
            <a:r>
              <a:rPr lang="en-US" altLang="zh-CN" sz="1800" dirty="0"/>
              <a:t>NAT</a:t>
            </a:r>
            <a:r>
              <a:rPr lang="zh-CN" altLang="en-US" sz="1800" dirty="0"/>
              <a:t>（</a:t>
            </a:r>
            <a:r>
              <a:rPr lang="en-US" altLang="zh-CN" sz="1800" dirty="0"/>
              <a:t>Net Address Translation</a:t>
            </a:r>
            <a:r>
              <a:rPr lang="zh-CN" altLang="en-US" sz="1800" dirty="0"/>
              <a:t>，网络地址转换）技术。</a:t>
            </a:r>
            <a:endParaRPr lang="en-US" altLang="zh-CN" sz="1800" dirty="0" smtClean="0"/>
          </a:p>
          <a:p>
            <a:r>
              <a:rPr lang="zh-CN" altLang="en-US" sz="1800" dirty="0" smtClean="0"/>
              <a:t>当</a:t>
            </a:r>
            <a:r>
              <a:rPr lang="en-US" altLang="zh-CN" sz="1800" dirty="0" smtClean="0"/>
              <a:t>IPv4</a:t>
            </a:r>
            <a:r>
              <a:rPr lang="zh-CN" altLang="en-US" sz="1800" dirty="0" smtClean="0"/>
              <a:t>网络的节点需要直接与</a:t>
            </a:r>
            <a:r>
              <a:rPr lang="en-US" altLang="zh-CN" sz="1800" dirty="0" smtClean="0"/>
              <a:t>IPv6</a:t>
            </a:r>
            <a:r>
              <a:rPr lang="zh-CN" altLang="en-US" sz="1800" dirty="0" smtClean="0"/>
              <a:t>网络的节点进行通信时，默认情况下是行不通的，因为两个协议栈无法兼容。但是借助一台设备，由该设备来实现</a:t>
            </a:r>
            <a:r>
              <a:rPr lang="en-US" altLang="zh-CN" sz="1800" dirty="0" smtClean="0"/>
              <a:t>IPv6</a:t>
            </a:r>
            <a:r>
              <a:rPr lang="zh-CN" altLang="en-US" sz="1800" dirty="0" smtClean="0"/>
              <a:t>与</a:t>
            </a:r>
            <a:r>
              <a:rPr lang="en-US" altLang="zh-CN" sz="1800" dirty="0" smtClean="0"/>
              <a:t>IPv4</a:t>
            </a:r>
            <a:r>
              <a:rPr lang="zh-CN" altLang="en-US" sz="1800" dirty="0" smtClean="0"/>
              <a:t>的互转，那么上述通信就可以实现了。</a:t>
            </a:r>
            <a:endParaRPr lang="en-US" altLang="zh-CN" sz="1800" dirty="0" smtClean="0"/>
          </a:p>
        </p:txBody>
      </p:sp>
      <p:sp>
        <p:nvSpPr>
          <p:cNvPr id="31" name="文本占位符 2"/>
          <p:cNvSpPr txBox="1">
            <a:spLocks/>
          </p:cNvSpPr>
          <p:nvPr/>
        </p:nvSpPr>
        <p:spPr bwMode="gray">
          <a:xfrm>
            <a:off x="6102349" y="2638650"/>
            <a:ext cx="5584554" cy="287462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base"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smtClean="0"/>
              <a:t>NAT64</a:t>
            </a:r>
            <a:r>
              <a:rPr lang="zh-CN" altLang="en-US" sz="1600"/>
              <a:t>设备判断数据报文的依据是目的地址的</a:t>
            </a:r>
            <a:r>
              <a:rPr lang="en-US" altLang="zh-CN" sz="1600"/>
              <a:t>IPv6</a:t>
            </a:r>
            <a:r>
              <a:rPr lang="zh-CN" altLang="en-US" sz="1600"/>
              <a:t>前缀，因此要进行</a:t>
            </a:r>
            <a:r>
              <a:rPr lang="en-US" altLang="zh-CN" sz="1600"/>
              <a:t>NAT64</a:t>
            </a:r>
            <a:r>
              <a:rPr lang="zh-CN" altLang="en-US" sz="1600"/>
              <a:t>处理的报文前缀需要提前被定义。</a:t>
            </a:r>
            <a:endParaRPr lang="en-US" altLang="zh-CN" sz="1600" dirty="0" smtClean="0"/>
          </a:p>
          <a:p>
            <a:pPr lvl="1"/>
            <a:r>
              <a:rPr lang="zh-CN" altLang="en-US" sz="1400" dirty="0"/>
              <a:t>如果设备接收到的</a:t>
            </a:r>
            <a:r>
              <a:rPr lang="en-US" altLang="zh-CN" sz="1400" dirty="0"/>
              <a:t>IPv6</a:t>
            </a:r>
            <a:r>
              <a:rPr lang="zh-CN" altLang="en-US" sz="1400" dirty="0"/>
              <a:t>报文的前缀是设备为</a:t>
            </a:r>
            <a:r>
              <a:rPr lang="en-US" altLang="zh-CN" sz="1400" dirty="0"/>
              <a:t>NAT64</a:t>
            </a:r>
            <a:r>
              <a:rPr lang="zh-CN" altLang="en-US" sz="1400" dirty="0"/>
              <a:t>定义的前缀，说明报文的目的地址是</a:t>
            </a:r>
            <a:r>
              <a:rPr lang="en-US" altLang="zh-CN" sz="1400" dirty="0"/>
              <a:t>IPv4</a:t>
            </a:r>
            <a:r>
              <a:rPr lang="zh-CN" altLang="en-US" sz="1400" dirty="0"/>
              <a:t>网络，报文将经过</a:t>
            </a:r>
            <a:r>
              <a:rPr lang="en-US" altLang="zh-CN" sz="1400" dirty="0"/>
              <a:t>NAT64</a:t>
            </a:r>
            <a:r>
              <a:rPr lang="zh-CN" altLang="en-US" sz="1400" dirty="0"/>
              <a:t>处理后被转发至</a:t>
            </a:r>
            <a:r>
              <a:rPr lang="en-US" altLang="zh-CN" sz="1400" dirty="0"/>
              <a:t>IPv4</a:t>
            </a:r>
            <a:r>
              <a:rPr lang="zh-CN" altLang="en-US" sz="1400" dirty="0"/>
              <a:t>网络。</a:t>
            </a:r>
          </a:p>
          <a:p>
            <a:pPr lvl="1"/>
            <a:r>
              <a:rPr lang="zh-CN" altLang="en-US" sz="1400" dirty="0"/>
              <a:t>如果设备接收到的</a:t>
            </a:r>
            <a:r>
              <a:rPr lang="en-US" altLang="zh-CN" sz="1400" dirty="0"/>
              <a:t>IPv6</a:t>
            </a:r>
            <a:r>
              <a:rPr lang="zh-CN" altLang="en-US" sz="1400" dirty="0"/>
              <a:t>报文的前缀不是设备为</a:t>
            </a:r>
            <a:r>
              <a:rPr lang="en-US" altLang="zh-CN" sz="1400" dirty="0"/>
              <a:t>NAT64</a:t>
            </a:r>
            <a:r>
              <a:rPr lang="zh-CN" altLang="en-US" sz="1400" dirty="0"/>
              <a:t>定义的前缀，说明报文的目的地址是</a:t>
            </a:r>
            <a:r>
              <a:rPr lang="en-US" altLang="zh-CN" sz="1400" dirty="0"/>
              <a:t>IPv6</a:t>
            </a:r>
            <a:r>
              <a:rPr lang="zh-CN" altLang="en-US" sz="1400" dirty="0"/>
              <a:t>网络，报文将不经过</a:t>
            </a:r>
            <a:r>
              <a:rPr lang="en-US" altLang="zh-CN" sz="1400" dirty="0"/>
              <a:t>NAT64</a:t>
            </a:r>
            <a:r>
              <a:rPr lang="zh-CN" altLang="en-US" sz="1400" dirty="0"/>
              <a:t>处理，直接被转发至</a:t>
            </a:r>
            <a:r>
              <a:rPr lang="en-US" altLang="zh-CN" sz="1400" dirty="0"/>
              <a:t>IPv6</a:t>
            </a:r>
            <a:r>
              <a:rPr lang="zh-CN" altLang="en-US" sz="1400" dirty="0"/>
              <a:t>网络</a:t>
            </a:r>
            <a:r>
              <a:rPr lang="zh-CN" altLang="en-US" sz="1400" dirty="0" smtClean="0"/>
              <a:t>。</a:t>
            </a:r>
            <a:endParaRPr lang="en-US" altLang="zh-CN" sz="1400" dirty="0" smtClean="0"/>
          </a:p>
        </p:txBody>
      </p:sp>
      <p:sp>
        <p:nvSpPr>
          <p:cNvPr id="18" name="圆角矩形 17"/>
          <p:cNvSpPr/>
          <p:nvPr/>
        </p:nvSpPr>
        <p:spPr bwMode="gray">
          <a:xfrm>
            <a:off x="3614057" y="5342616"/>
            <a:ext cx="1654629" cy="764866"/>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bwMode="gray">
          <a:xfrm>
            <a:off x="3614057" y="2571480"/>
            <a:ext cx="1654629" cy="764866"/>
          </a:xfrm>
          <a:prstGeom prst="roundRect">
            <a:avLst/>
          </a:prstGeom>
          <a:solidFill>
            <a:srgbClr val="F2FBFC"/>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a:endCxn id="45" idx="1"/>
          </p:cNvCxnSpPr>
          <p:nvPr/>
        </p:nvCxnSpPr>
        <p:spPr bwMode="gray">
          <a:xfrm flipV="1">
            <a:off x="2547996" y="3821235"/>
            <a:ext cx="1344130" cy="6129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48" idx="1"/>
          </p:cNvCxnSpPr>
          <p:nvPr/>
        </p:nvCxnSpPr>
        <p:spPr bwMode="gray">
          <a:xfrm>
            <a:off x="2537664" y="4457209"/>
            <a:ext cx="1354462" cy="584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49" idx="0"/>
            <a:endCxn id="48" idx="0"/>
          </p:cNvCxnSpPr>
          <p:nvPr/>
        </p:nvCxnSpPr>
        <p:spPr bwMode="gray">
          <a:xfrm flipV="1">
            <a:off x="4082303" y="4903143"/>
            <a:ext cx="350997" cy="5438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50" idx="0"/>
            <a:endCxn id="48" idx="0"/>
          </p:cNvCxnSpPr>
          <p:nvPr/>
        </p:nvCxnSpPr>
        <p:spPr bwMode="gray">
          <a:xfrm flipH="1" flipV="1">
            <a:off x="4433300" y="4903143"/>
            <a:ext cx="354998" cy="5429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40" idx="2"/>
            <a:endCxn id="45" idx="0"/>
          </p:cNvCxnSpPr>
          <p:nvPr/>
        </p:nvCxnSpPr>
        <p:spPr bwMode="gray">
          <a:xfrm>
            <a:off x="4082303" y="3277204"/>
            <a:ext cx="350997" cy="4055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43" idx="2"/>
            <a:endCxn id="45" idx="0"/>
          </p:cNvCxnSpPr>
          <p:nvPr/>
        </p:nvCxnSpPr>
        <p:spPr bwMode="gray">
          <a:xfrm flipH="1">
            <a:off x="4433300" y="3277204"/>
            <a:ext cx="354998" cy="4055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159"/>
          <p:cNvSpPr/>
          <p:nvPr/>
        </p:nvSpPr>
        <p:spPr bwMode="gray">
          <a:xfrm flipH="1">
            <a:off x="1077485" y="4140494"/>
            <a:ext cx="873543" cy="48370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35" name="文本框 34"/>
          <p:cNvSpPr txBox="1"/>
          <p:nvPr/>
        </p:nvSpPr>
        <p:spPr bwMode="gray">
          <a:xfrm>
            <a:off x="1268358" y="4286050"/>
            <a:ext cx="478016" cy="276999"/>
          </a:xfrm>
          <a:prstGeom prst="rect">
            <a:avLst/>
          </a:prstGeom>
          <a:noFill/>
        </p:spPr>
        <p:txBody>
          <a:bodyPr wrap="none" rtlCol="0">
            <a:spAutoFit/>
          </a:bodyPr>
          <a:lstStyle/>
          <a:p>
            <a:pPr algn="ctr"/>
            <a:r>
              <a:rPr lang="en-US" sz="1200" dirty="0" smtClean="0">
                <a:cs typeface="Arial" panose="020B0604020202020204" pitchFamily="34" charset="0"/>
              </a:rPr>
              <a:t>IPv6</a:t>
            </a:r>
            <a:endParaRPr lang="en-US" sz="1200" dirty="0">
              <a:cs typeface="Arial" panose="020B0604020202020204" pitchFamily="34" charset="0"/>
            </a:endParaRPr>
          </a:p>
        </p:txBody>
      </p:sp>
      <p:pic>
        <p:nvPicPr>
          <p:cNvPr id="36" name="图片 35" descr="PC.png"/>
          <p:cNvPicPr>
            <a:picLocks noChangeAspect="1"/>
          </p:cNvPicPr>
          <p:nvPr/>
        </p:nvPicPr>
        <p:blipFill>
          <a:blip r:embed="rId3" cstate="print"/>
          <a:stretch>
            <a:fillRect/>
          </a:stretch>
        </p:blipFill>
        <p:spPr bwMode="gray">
          <a:xfrm>
            <a:off x="814758" y="4138020"/>
            <a:ext cx="445577" cy="342203"/>
          </a:xfrm>
          <a:prstGeom prst="rect">
            <a:avLst/>
          </a:prstGeom>
        </p:spPr>
      </p:pic>
      <p:cxnSp>
        <p:nvCxnSpPr>
          <p:cNvPr id="37" name="直接连接符 36"/>
          <p:cNvCxnSpPr>
            <a:stCxn id="33" idx="8"/>
          </p:cNvCxnSpPr>
          <p:nvPr/>
        </p:nvCxnSpPr>
        <p:spPr bwMode="gray">
          <a:xfrm flipV="1">
            <a:off x="1951028" y="4467805"/>
            <a:ext cx="4281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bwMode="gray">
          <a:xfrm>
            <a:off x="464745" y="4564486"/>
            <a:ext cx="843501"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User</a:t>
            </a:r>
            <a:endParaRPr lang="en-US" sz="1200" dirty="0">
              <a:cs typeface="Arial" panose="020B0604020202020204" pitchFamily="34" charset="0"/>
            </a:endParaRPr>
          </a:p>
        </p:txBody>
      </p:sp>
      <p:pic>
        <p:nvPicPr>
          <p:cNvPr id="40" name="图片 3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865207" y="2921167"/>
            <a:ext cx="434191" cy="356037"/>
          </a:xfrm>
          <a:prstGeom prst="rect">
            <a:avLst/>
          </a:prstGeom>
        </p:spPr>
      </p:pic>
      <p:pic>
        <p:nvPicPr>
          <p:cNvPr id="41" name="图片 4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378897" y="3255616"/>
            <a:ext cx="435249" cy="356904"/>
          </a:xfrm>
          <a:prstGeom prst="rect">
            <a:avLst/>
          </a:prstGeom>
        </p:spPr>
      </p:pic>
      <p:sp>
        <p:nvSpPr>
          <p:cNvPr id="42" name="文本框 41"/>
          <p:cNvSpPr txBox="1"/>
          <p:nvPr/>
        </p:nvSpPr>
        <p:spPr bwMode="gray">
          <a:xfrm>
            <a:off x="2246823" y="2978136"/>
            <a:ext cx="668773" cy="276999"/>
          </a:xfrm>
          <a:prstGeom prst="rect">
            <a:avLst/>
          </a:prstGeom>
          <a:noFill/>
        </p:spPr>
        <p:txBody>
          <a:bodyPr wrap="none" rtlCol="0">
            <a:spAutoFit/>
          </a:bodyPr>
          <a:lstStyle/>
          <a:p>
            <a:pPr algn="ctr"/>
            <a:r>
              <a:rPr lang="en-US" altLang="zh-CN" sz="1200" dirty="0" smtClean="0">
                <a:cs typeface="Arial" panose="020B0604020202020204" pitchFamily="34" charset="0"/>
              </a:rPr>
              <a:t>DNS64</a:t>
            </a:r>
            <a:endParaRPr lang="en-US" sz="1200" dirty="0">
              <a:cs typeface="Arial" panose="020B0604020202020204" pitchFamily="34" charset="0"/>
            </a:endParaRPr>
          </a:p>
        </p:txBody>
      </p:sp>
      <p:pic>
        <p:nvPicPr>
          <p:cNvPr id="43" name="图片 4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570673" y="2920300"/>
            <a:ext cx="435249" cy="356904"/>
          </a:xfrm>
          <a:prstGeom prst="rect">
            <a:avLst/>
          </a:prstGeom>
        </p:spPr>
      </p:pic>
      <p:sp>
        <p:nvSpPr>
          <p:cNvPr id="44" name="Freeform 159"/>
          <p:cNvSpPr/>
          <p:nvPr/>
        </p:nvSpPr>
        <p:spPr bwMode="gray">
          <a:xfrm flipH="1">
            <a:off x="3882283" y="3403794"/>
            <a:ext cx="1102034" cy="610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45" name="文本框 44"/>
          <p:cNvSpPr txBox="1"/>
          <p:nvPr/>
        </p:nvSpPr>
        <p:spPr bwMode="gray">
          <a:xfrm>
            <a:off x="3892126" y="3682735"/>
            <a:ext cx="1082348"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Internet</a:t>
            </a:r>
            <a:endParaRPr lang="en-US" sz="1200" dirty="0">
              <a:cs typeface="Arial" panose="020B0604020202020204" pitchFamily="34" charset="0"/>
            </a:endParaRPr>
          </a:p>
        </p:txBody>
      </p:sp>
      <p:sp>
        <p:nvSpPr>
          <p:cNvPr id="46" name="文本框 45"/>
          <p:cNvSpPr txBox="1"/>
          <p:nvPr/>
        </p:nvSpPr>
        <p:spPr bwMode="gray">
          <a:xfrm>
            <a:off x="3952242" y="2638650"/>
            <a:ext cx="962122" cy="276999"/>
          </a:xfrm>
          <a:prstGeom prst="rect">
            <a:avLst/>
          </a:prstGeom>
          <a:noFill/>
        </p:spPr>
        <p:txBody>
          <a:bodyPr wrap="none" rtlCol="0">
            <a:spAutoFit/>
          </a:bodyPr>
          <a:lstStyle/>
          <a:p>
            <a:pPr algn="ctr"/>
            <a:r>
              <a:rPr lang="en-US" altLang="zh-CN" sz="1200" dirty="0" smtClean="0">
                <a:cs typeface="Arial" panose="020B0604020202020204" pitchFamily="34" charset="0"/>
              </a:rPr>
              <a:t>IPv6 Server</a:t>
            </a:r>
            <a:endParaRPr lang="en-US" sz="1200" dirty="0">
              <a:cs typeface="Arial" panose="020B0604020202020204" pitchFamily="34" charset="0"/>
            </a:endParaRPr>
          </a:p>
        </p:txBody>
      </p:sp>
      <p:sp>
        <p:nvSpPr>
          <p:cNvPr id="47" name="Freeform 159"/>
          <p:cNvSpPr/>
          <p:nvPr/>
        </p:nvSpPr>
        <p:spPr bwMode="gray">
          <a:xfrm flipH="1">
            <a:off x="3882283" y="4624202"/>
            <a:ext cx="1102034" cy="610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48" name="文本框 47"/>
          <p:cNvSpPr txBox="1"/>
          <p:nvPr/>
        </p:nvSpPr>
        <p:spPr bwMode="gray">
          <a:xfrm>
            <a:off x="3892126" y="4903143"/>
            <a:ext cx="1082348" cy="276999"/>
          </a:xfrm>
          <a:prstGeom prst="rect">
            <a:avLst/>
          </a:prstGeom>
          <a:noFill/>
        </p:spPr>
        <p:txBody>
          <a:bodyPr wrap="none" rtlCol="0">
            <a:spAutoFit/>
          </a:bodyPr>
          <a:lstStyle/>
          <a:p>
            <a:pPr algn="ctr"/>
            <a:r>
              <a:rPr lang="en-US" sz="1200" dirty="0" smtClean="0">
                <a:cs typeface="Arial" panose="020B0604020202020204" pitchFamily="34" charset="0"/>
              </a:rPr>
              <a:t>IPv4 </a:t>
            </a:r>
            <a:r>
              <a:rPr lang="en-US" altLang="zh-CN" sz="1200" dirty="0" smtClean="0">
                <a:cs typeface="Arial" panose="020B0604020202020204" pitchFamily="34" charset="0"/>
              </a:rPr>
              <a:t>Internet</a:t>
            </a:r>
            <a:endParaRPr lang="en-US" sz="1200" dirty="0">
              <a:cs typeface="Arial" panose="020B0604020202020204" pitchFamily="34" charset="0"/>
            </a:endParaRPr>
          </a:p>
        </p:txBody>
      </p:sp>
      <p:pic>
        <p:nvPicPr>
          <p:cNvPr id="49" name="图片 4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865207" y="5446975"/>
            <a:ext cx="434191" cy="356037"/>
          </a:xfrm>
          <a:prstGeom prst="rect">
            <a:avLst/>
          </a:prstGeom>
        </p:spPr>
      </p:pic>
      <p:pic>
        <p:nvPicPr>
          <p:cNvPr id="50" name="图片 4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570673" y="5446108"/>
            <a:ext cx="435249" cy="356904"/>
          </a:xfrm>
          <a:prstGeom prst="rect">
            <a:avLst/>
          </a:prstGeom>
        </p:spPr>
      </p:pic>
      <p:sp>
        <p:nvSpPr>
          <p:cNvPr id="51" name="文本框 50"/>
          <p:cNvSpPr txBox="1"/>
          <p:nvPr/>
        </p:nvSpPr>
        <p:spPr bwMode="gray">
          <a:xfrm>
            <a:off x="3952242" y="5792497"/>
            <a:ext cx="962123" cy="276999"/>
          </a:xfrm>
          <a:prstGeom prst="rect">
            <a:avLst/>
          </a:prstGeom>
          <a:noFill/>
        </p:spPr>
        <p:txBody>
          <a:bodyPr wrap="none" rtlCol="0">
            <a:spAutoFit/>
          </a:bodyPr>
          <a:lstStyle/>
          <a:p>
            <a:pPr algn="ctr"/>
            <a:r>
              <a:rPr lang="en-US" altLang="zh-CN" sz="1200" dirty="0" smtClean="0">
                <a:cs typeface="Arial" panose="020B0604020202020204" pitchFamily="34" charset="0"/>
              </a:rPr>
              <a:t>IPv4 Server</a:t>
            </a:r>
            <a:endParaRPr lang="en-US" sz="1200" dirty="0">
              <a:cs typeface="Arial" panose="020B0604020202020204" pitchFamily="34" charset="0"/>
            </a:endParaRPr>
          </a:p>
        </p:txBody>
      </p:sp>
      <p:cxnSp>
        <p:nvCxnSpPr>
          <p:cNvPr id="52" name="直接连接符 51"/>
          <p:cNvCxnSpPr>
            <a:endCxn id="41" idx="2"/>
          </p:cNvCxnSpPr>
          <p:nvPr/>
        </p:nvCxnSpPr>
        <p:spPr bwMode="gray">
          <a:xfrm flipH="1" flipV="1">
            <a:off x="2596522" y="3612520"/>
            <a:ext cx="119" cy="6769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gray">
          <a:xfrm flipH="1">
            <a:off x="758919" y="5651777"/>
            <a:ext cx="315967" cy="0"/>
          </a:xfrm>
          <a:prstGeom prst="line">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gray">
          <a:xfrm flipH="1">
            <a:off x="758919" y="5902165"/>
            <a:ext cx="315967"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989140" y="5513278"/>
            <a:ext cx="864340" cy="276999"/>
          </a:xfrm>
          <a:prstGeom prst="rect">
            <a:avLst/>
          </a:prstGeom>
          <a:noFill/>
        </p:spPr>
        <p:txBody>
          <a:bodyPr wrap="none" rtlCol="0">
            <a:spAutoFit/>
          </a:bodyPr>
          <a:lstStyle/>
          <a:p>
            <a:pPr algn="ctr"/>
            <a:r>
              <a:rPr lang="en-US" sz="1200" dirty="0">
                <a:solidFill>
                  <a:srgbClr val="30B5C5"/>
                </a:solidFill>
                <a:cs typeface="Arial" panose="020B0604020202020204" pitchFamily="34" charset="0"/>
              </a:rPr>
              <a:t>IPv6 </a:t>
            </a:r>
            <a:r>
              <a:rPr lang="en-US" altLang="zh-CN" sz="1200" dirty="0" smtClean="0">
                <a:solidFill>
                  <a:srgbClr val="30B5C5"/>
                </a:solidFill>
                <a:cs typeface="Arial" panose="020B0604020202020204" pitchFamily="34" charset="0"/>
              </a:rPr>
              <a:t>D</a:t>
            </a:r>
            <a:r>
              <a:rPr lang="en-US" sz="1200" dirty="0" smtClean="0">
                <a:solidFill>
                  <a:srgbClr val="30B5C5"/>
                </a:solidFill>
                <a:cs typeface="Arial" panose="020B0604020202020204" pitchFamily="34" charset="0"/>
              </a:rPr>
              <a:t>ata</a:t>
            </a:r>
            <a:endParaRPr lang="en-US" sz="1200" dirty="0">
              <a:solidFill>
                <a:srgbClr val="30B5C5"/>
              </a:solidFill>
              <a:cs typeface="Arial" panose="020B0604020202020204" pitchFamily="34" charset="0"/>
            </a:endParaRPr>
          </a:p>
        </p:txBody>
      </p:sp>
      <p:sp>
        <p:nvSpPr>
          <p:cNvPr id="57" name="文本框 56"/>
          <p:cNvSpPr txBox="1"/>
          <p:nvPr/>
        </p:nvSpPr>
        <p:spPr bwMode="gray">
          <a:xfrm>
            <a:off x="989140" y="5763666"/>
            <a:ext cx="864340" cy="276999"/>
          </a:xfrm>
          <a:prstGeom prst="rect">
            <a:avLst/>
          </a:prstGeom>
          <a:noFill/>
        </p:spPr>
        <p:txBody>
          <a:bodyPr wrap="none" rtlCol="0">
            <a:spAutoFit/>
          </a:bodyPr>
          <a:lstStyle/>
          <a:p>
            <a:pPr algn="ctr"/>
            <a:r>
              <a:rPr lang="en-US" sz="1200" dirty="0">
                <a:solidFill>
                  <a:srgbClr val="62B230"/>
                </a:solidFill>
                <a:cs typeface="Arial" panose="020B0604020202020204" pitchFamily="34" charset="0"/>
              </a:rPr>
              <a:t>IPv4 </a:t>
            </a:r>
            <a:r>
              <a:rPr lang="en-US" altLang="zh-CN" sz="1200" dirty="0" smtClean="0">
                <a:solidFill>
                  <a:srgbClr val="62B230"/>
                </a:solidFill>
                <a:cs typeface="Arial" panose="020B0604020202020204" pitchFamily="34" charset="0"/>
              </a:rPr>
              <a:t>D</a:t>
            </a:r>
            <a:r>
              <a:rPr lang="en-US" sz="1200" dirty="0" smtClean="0">
                <a:solidFill>
                  <a:srgbClr val="62B230"/>
                </a:solidFill>
                <a:cs typeface="Arial" panose="020B0604020202020204" pitchFamily="34" charset="0"/>
              </a:rPr>
              <a:t>ata</a:t>
            </a:r>
            <a:endParaRPr lang="en-US" sz="1200" dirty="0">
              <a:solidFill>
                <a:srgbClr val="62B230"/>
              </a:solidFill>
              <a:cs typeface="Arial" panose="020B0604020202020204" pitchFamily="34" charset="0"/>
            </a:endParaRPr>
          </a:p>
        </p:txBody>
      </p:sp>
      <p:cxnSp>
        <p:nvCxnSpPr>
          <p:cNvPr id="12" name="直接箭头连接符 11"/>
          <p:cNvCxnSpPr/>
          <p:nvPr/>
        </p:nvCxnSpPr>
        <p:spPr bwMode="gray">
          <a:xfrm flipV="1">
            <a:off x="1355174" y="4749426"/>
            <a:ext cx="900000" cy="0"/>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bwMode="gray">
          <a:xfrm>
            <a:off x="2213363" y="4644531"/>
            <a:ext cx="766557" cy="307777"/>
          </a:xfrm>
          <a:prstGeom prst="rect">
            <a:avLst/>
          </a:prstGeom>
          <a:noFill/>
        </p:spPr>
        <p:txBody>
          <a:bodyPr wrap="none" rtlCol="0">
            <a:spAutoFit/>
          </a:bodyPr>
          <a:lstStyle/>
          <a:p>
            <a:pPr algn="ctr"/>
            <a:r>
              <a:rPr lang="en-US" altLang="zh-CN" sz="1400" b="1" dirty="0" smtClean="0">
                <a:solidFill>
                  <a:srgbClr val="C7000B"/>
                </a:solidFill>
                <a:cs typeface="Arial" panose="020B0604020202020204" pitchFamily="34" charset="0"/>
              </a:rPr>
              <a:t>NAT64</a:t>
            </a:r>
            <a:endParaRPr lang="en-US" sz="1400" b="1" dirty="0">
              <a:solidFill>
                <a:srgbClr val="C7000B"/>
              </a:solidFill>
              <a:cs typeface="Arial" panose="020B0604020202020204" pitchFamily="34" charset="0"/>
            </a:endParaRPr>
          </a:p>
        </p:txBody>
      </p:sp>
      <p:cxnSp>
        <p:nvCxnSpPr>
          <p:cNvPr id="58" name="直接箭头连接符 57"/>
          <p:cNvCxnSpPr/>
          <p:nvPr/>
        </p:nvCxnSpPr>
        <p:spPr bwMode="gray">
          <a:xfrm>
            <a:off x="2938704" y="4821813"/>
            <a:ext cx="926503" cy="412620"/>
          </a:xfrm>
          <a:prstGeom prst="straightConnector1">
            <a:avLst/>
          </a:prstGeom>
          <a:ln w="19050">
            <a:solidFill>
              <a:srgbClr val="62B23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0" name="图片 5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333010" y="4208386"/>
            <a:ext cx="540000" cy="442174"/>
          </a:xfrm>
          <a:prstGeom prst="rect">
            <a:avLst/>
          </a:prstGeom>
        </p:spPr>
      </p:pic>
      <p:sp>
        <p:nvSpPr>
          <p:cNvPr id="10" name="任意多边形 9"/>
          <p:cNvSpPr/>
          <p:nvPr/>
        </p:nvSpPr>
        <p:spPr bwMode="gray">
          <a:xfrm>
            <a:off x="1358537" y="3422469"/>
            <a:ext cx="2621280" cy="896982"/>
          </a:xfrm>
          <a:custGeom>
            <a:avLst/>
            <a:gdLst>
              <a:gd name="connsiteX0" fmla="*/ 0 w 2621280"/>
              <a:gd name="connsiteY0" fmla="*/ 896982 h 896982"/>
              <a:gd name="connsiteX1" fmla="*/ 0 w 2621280"/>
              <a:gd name="connsiteY1" fmla="*/ 896982 h 896982"/>
              <a:gd name="connsiteX2" fmla="*/ 1175657 w 2621280"/>
              <a:gd name="connsiteY2" fmla="*/ 896982 h 896982"/>
              <a:gd name="connsiteX3" fmla="*/ 2621280 w 2621280"/>
              <a:gd name="connsiteY3" fmla="*/ 0 h 896982"/>
            </a:gdLst>
            <a:ahLst/>
            <a:cxnLst>
              <a:cxn ang="0">
                <a:pos x="connsiteX0" y="connsiteY0"/>
              </a:cxn>
              <a:cxn ang="0">
                <a:pos x="connsiteX1" y="connsiteY1"/>
              </a:cxn>
              <a:cxn ang="0">
                <a:pos x="connsiteX2" y="connsiteY2"/>
              </a:cxn>
              <a:cxn ang="0">
                <a:pos x="connsiteX3" y="connsiteY3"/>
              </a:cxn>
            </a:cxnLst>
            <a:rect l="l" t="t" r="r" b="b"/>
            <a:pathLst>
              <a:path w="2621280" h="896982">
                <a:moveTo>
                  <a:pt x="0" y="896982"/>
                </a:moveTo>
                <a:lnTo>
                  <a:pt x="0" y="896982"/>
                </a:lnTo>
                <a:lnTo>
                  <a:pt x="1175657" y="896982"/>
                </a:lnTo>
                <a:lnTo>
                  <a:pt x="2621280" y="0"/>
                </a:lnTo>
              </a:path>
            </a:pathLst>
          </a:cu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五边形 64"/>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66" name="燕尾形 65"/>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67" name="燕尾形 66"/>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68" name="燕尾形 67"/>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69" name="燕尾形 68"/>
          <p:cNvSpPr/>
          <p:nvPr/>
        </p:nvSpPr>
        <p:spPr bwMode="gray">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70" name="燕尾形 69"/>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71" name="燕尾形 70"/>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470892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smtClean="0"/>
              <a:t>NAT64</a:t>
            </a:r>
            <a:r>
              <a:rPr lang="zh-CN" altLang="en-US" dirty="0" smtClean="0"/>
              <a:t>前缀</a:t>
            </a:r>
            <a:endParaRPr lang="zh-CN" altLang="en-US" dirty="0"/>
          </a:p>
        </p:txBody>
      </p:sp>
      <p:sp>
        <p:nvSpPr>
          <p:cNvPr id="3" name="文本占位符 2"/>
          <p:cNvSpPr>
            <a:spLocks noGrp="1"/>
          </p:cNvSpPr>
          <p:nvPr>
            <p:ph type="body" sz="quarter" idx="10"/>
          </p:nvPr>
        </p:nvSpPr>
        <p:spPr bwMode="gray">
          <a:xfrm>
            <a:off x="455612" y="1047751"/>
            <a:ext cx="11293475" cy="3048700"/>
          </a:xfrm>
        </p:spPr>
        <p:txBody>
          <a:bodyPr/>
          <a:lstStyle/>
          <a:p>
            <a:r>
              <a:rPr lang="zh-CN" altLang="en-US" sz="1800" dirty="0"/>
              <a:t>设备通过判断</a:t>
            </a:r>
            <a:r>
              <a:rPr lang="en-US" altLang="zh-CN" sz="1800" dirty="0"/>
              <a:t>IPv6</a:t>
            </a:r>
            <a:r>
              <a:rPr lang="zh-CN" altLang="en-US" sz="1800" dirty="0"/>
              <a:t>报文的目的地址中是否包含</a:t>
            </a:r>
            <a:r>
              <a:rPr lang="en-US" altLang="zh-CN" sz="1800" dirty="0"/>
              <a:t>NAT64</a:t>
            </a:r>
            <a:r>
              <a:rPr lang="zh-CN" altLang="en-US" sz="1800" dirty="0"/>
              <a:t>前缀来初步判断是否对该</a:t>
            </a:r>
            <a:r>
              <a:rPr lang="en-US" altLang="zh-CN" sz="1800" dirty="0"/>
              <a:t>IPv6</a:t>
            </a:r>
            <a:r>
              <a:rPr lang="zh-CN" altLang="en-US" sz="1800" dirty="0"/>
              <a:t>报文进行</a:t>
            </a:r>
            <a:r>
              <a:rPr lang="en-US" altLang="zh-CN" sz="1800" dirty="0"/>
              <a:t>NAT64</a:t>
            </a:r>
            <a:r>
              <a:rPr lang="zh-CN" altLang="en-US" sz="1800" dirty="0"/>
              <a:t>处理。</a:t>
            </a:r>
          </a:p>
          <a:p>
            <a:r>
              <a:rPr lang="en-US" altLang="zh-CN" sz="1800" dirty="0" smtClean="0"/>
              <a:t>NAT64</a:t>
            </a:r>
            <a:r>
              <a:rPr lang="zh-CN" altLang="en-US" sz="1800" dirty="0"/>
              <a:t>前缀</a:t>
            </a:r>
            <a:r>
              <a:rPr lang="zh-CN" altLang="en-US" sz="1800" dirty="0" smtClean="0"/>
              <a:t>分为两种形式：</a:t>
            </a:r>
            <a:endParaRPr lang="zh-CN" altLang="en-US" sz="1800" dirty="0"/>
          </a:p>
          <a:p>
            <a:pPr lvl="1"/>
            <a:r>
              <a:rPr lang="zh-CN" altLang="en-US" sz="1600" dirty="0" smtClean="0"/>
              <a:t>知名前缀：即</a:t>
            </a:r>
            <a:r>
              <a:rPr lang="en-US" altLang="zh-CN" sz="1600" dirty="0" smtClean="0"/>
              <a:t>64:FF9B::/</a:t>
            </a:r>
            <a:r>
              <a:rPr lang="en-US" altLang="zh-CN" sz="1600" dirty="0"/>
              <a:t>96</a:t>
            </a:r>
            <a:r>
              <a:rPr lang="zh-CN" altLang="en-US" sz="1600" dirty="0"/>
              <a:t>，缺省情况下已存在，无需配置。</a:t>
            </a:r>
          </a:p>
          <a:p>
            <a:pPr lvl="1"/>
            <a:r>
              <a:rPr lang="zh-CN" altLang="en-US" sz="1600" dirty="0" smtClean="0"/>
              <a:t>自定义前缀：前缀</a:t>
            </a:r>
            <a:r>
              <a:rPr lang="zh-CN" altLang="en-US" sz="1600" dirty="0"/>
              <a:t>长度为</a:t>
            </a:r>
            <a:r>
              <a:rPr lang="en-US" altLang="zh-CN" sz="1600" dirty="0"/>
              <a:t>32</a:t>
            </a:r>
            <a:r>
              <a:rPr lang="zh-CN" altLang="en-US" sz="1600" dirty="0"/>
              <a:t>、</a:t>
            </a:r>
            <a:r>
              <a:rPr lang="en-US" altLang="zh-CN" sz="1600" dirty="0"/>
              <a:t>40</a:t>
            </a:r>
            <a:r>
              <a:rPr lang="zh-CN" altLang="en-US" sz="1600" dirty="0"/>
              <a:t>、</a:t>
            </a:r>
            <a:r>
              <a:rPr lang="en-US" altLang="zh-CN" sz="1600" dirty="0"/>
              <a:t>48</a:t>
            </a:r>
            <a:r>
              <a:rPr lang="zh-CN" altLang="en-US" sz="1600" dirty="0"/>
              <a:t>、</a:t>
            </a:r>
            <a:r>
              <a:rPr lang="en-US" altLang="zh-CN" sz="1600" dirty="0"/>
              <a:t>56</a:t>
            </a:r>
            <a:r>
              <a:rPr lang="zh-CN" altLang="en-US" sz="1600" dirty="0"/>
              <a:t>、</a:t>
            </a:r>
            <a:r>
              <a:rPr lang="en-US" altLang="zh-CN" sz="1600" dirty="0"/>
              <a:t>64</a:t>
            </a:r>
            <a:r>
              <a:rPr lang="zh-CN" altLang="en-US" sz="1600" dirty="0"/>
              <a:t>或</a:t>
            </a:r>
            <a:r>
              <a:rPr lang="en-US" altLang="zh-CN" sz="1600" dirty="0"/>
              <a:t>96</a:t>
            </a:r>
            <a:r>
              <a:rPr lang="zh-CN" altLang="en-US" sz="1600" dirty="0"/>
              <a:t>。</a:t>
            </a:r>
          </a:p>
          <a:p>
            <a:r>
              <a:rPr lang="zh-CN" altLang="en-US" sz="1800" dirty="0" smtClean="0"/>
              <a:t>根据</a:t>
            </a:r>
            <a:r>
              <a:rPr lang="zh-CN" altLang="en-US" sz="1800" dirty="0"/>
              <a:t>前缀长度不同，</a:t>
            </a:r>
            <a:r>
              <a:rPr lang="en-US" altLang="zh-CN" sz="1800" dirty="0"/>
              <a:t>IPv4</a:t>
            </a:r>
            <a:r>
              <a:rPr lang="zh-CN" altLang="en-US" sz="1800" dirty="0"/>
              <a:t>地址嵌入</a:t>
            </a:r>
            <a:r>
              <a:rPr lang="en-US" altLang="zh-CN" sz="1800" dirty="0"/>
              <a:t>IPv6</a:t>
            </a:r>
            <a:r>
              <a:rPr lang="zh-CN" altLang="en-US" sz="1800" dirty="0"/>
              <a:t>地址时，嵌入的位置存在差异，具体差异如</a:t>
            </a:r>
            <a:r>
              <a:rPr lang="zh-CN" altLang="en-US" sz="1800" dirty="0" smtClean="0"/>
              <a:t>图所示。</a:t>
            </a:r>
            <a:endParaRPr lang="en-US" altLang="zh-CN" sz="1800" dirty="0" smtClean="0"/>
          </a:p>
          <a:p>
            <a:pPr lvl="1"/>
            <a:r>
              <a:rPr lang="en-US" altLang="zh-CN" sz="1600" dirty="0" smtClean="0"/>
              <a:t>PL</a:t>
            </a:r>
            <a:r>
              <a:rPr lang="zh-CN" altLang="en-US" sz="1600" dirty="0"/>
              <a:t>（</a:t>
            </a:r>
            <a:r>
              <a:rPr lang="en-US" altLang="zh-CN" sz="1600" dirty="0"/>
              <a:t>Prefix Length</a:t>
            </a:r>
            <a:r>
              <a:rPr lang="zh-CN" altLang="en-US" sz="1600" dirty="0"/>
              <a:t>）表示前缀长度</a:t>
            </a:r>
            <a:r>
              <a:rPr lang="zh-CN" altLang="en-US" sz="1600" dirty="0" smtClean="0"/>
              <a:t>；</a:t>
            </a:r>
            <a:r>
              <a:rPr lang="en-US" altLang="zh-CN" sz="1600" dirty="0" smtClean="0"/>
              <a:t>Suffix</a:t>
            </a:r>
            <a:r>
              <a:rPr lang="zh-CN" altLang="en-US" sz="1600" dirty="0"/>
              <a:t>表示后缀，可以任意取值，设备不处理该字段；</a:t>
            </a:r>
            <a:r>
              <a:rPr lang="en-US" altLang="zh-CN" sz="1600" dirty="0"/>
              <a:t>U</a:t>
            </a:r>
            <a:r>
              <a:rPr lang="zh-CN" altLang="en-US" sz="1600" dirty="0"/>
              <a:t>为保留位</a:t>
            </a:r>
            <a:r>
              <a:rPr lang="zh-CN" altLang="en-US" sz="1600" dirty="0" smtClean="0"/>
              <a:t>，</a:t>
            </a:r>
            <a:r>
              <a:rPr lang="en-US" altLang="zh-CN" sz="1600" dirty="0" smtClean="0"/>
              <a:t>8 bit</a:t>
            </a:r>
            <a:r>
              <a:rPr lang="zh-CN" altLang="en-US" sz="1600" dirty="0" smtClean="0"/>
              <a:t>，取值</a:t>
            </a:r>
            <a:r>
              <a:rPr lang="zh-CN" altLang="en-US" sz="1600" dirty="0"/>
              <a:t>必须为</a:t>
            </a:r>
            <a:r>
              <a:rPr lang="en-US" altLang="zh-CN" sz="1600" dirty="0"/>
              <a:t>0</a:t>
            </a:r>
            <a:r>
              <a:rPr lang="zh-CN" altLang="en-US" sz="1600" dirty="0"/>
              <a:t>。</a:t>
            </a:r>
          </a:p>
        </p:txBody>
      </p:sp>
      <p:grpSp>
        <p:nvGrpSpPr>
          <p:cNvPr id="44" name="组合 43"/>
          <p:cNvGrpSpPr/>
          <p:nvPr/>
        </p:nvGrpSpPr>
        <p:grpSpPr bwMode="gray">
          <a:xfrm>
            <a:off x="1199592" y="4207368"/>
            <a:ext cx="4714382" cy="1652657"/>
            <a:chOff x="1530213" y="3694336"/>
            <a:chExt cx="4714382" cy="1652657"/>
          </a:xfrm>
        </p:grpSpPr>
        <p:sp>
          <p:nvSpPr>
            <p:cNvPr id="4" name="矩形 3"/>
            <p:cNvSpPr/>
            <p:nvPr/>
          </p:nvSpPr>
          <p:spPr bwMode="gray">
            <a:xfrm>
              <a:off x="1924595" y="3955593"/>
              <a:ext cx="108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Prefix</a:t>
              </a:r>
              <a:r>
                <a:rPr lang="zh-CN" altLang="en-US" sz="1200" dirty="0" smtClean="0">
                  <a:solidFill>
                    <a:schemeClr val="tx1"/>
                  </a:solidFill>
                </a:rPr>
                <a:t>（</a:t>
              </a:r>
              <a:r>
                <a:rPr lang="en-US" altLang="zh-CN" sz="1200" dirty="0" smtClean="0">
                  <a:solidFill>
                    <a:schemeClr val="tx1"/>
                  </a:solidFill>
                </a:rPr>
                <a:t>32</a:t>
              </a:r>
              <a:r>
                <a:rPr lang="zh-CN" altLang="en-US" sz="1200" dirty="0" smtClean="0">
                  <a:solidFill>
                    <a:schemeClr val="tx1"/>
                  </a:solidFill>
                </a:rPr>
                <a:t>）</a:t>
              </a:r>
              <a:endParaRPr lang="zh-CN" altLang="en-US" sz="1200" dirty="0">
                <a:solidFill>
                  <a:schemeClr val="tx1"/>
                </a:solidFill>
              </a:endParaRPr>
            </a:p>
          </p:txBody>
        </p:sp>
        <p:sp>
          <p:nvSpPr>
            <p:cNvPr id="5" name="矩形 4"/>
            <p:cNvSpPr/>
            <p:nvPr/>
          </p:nvSpPr>
          <p:spPr bwMode="gray">
            <a:xfrm>
              <a:off x="1530213" y="3955594"/>
              <a:ext cx="394382"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32</a:t>
              </a:r>
              <a:endParaRPr lang="zh-CN" altLang="en-US" sz="1200" dirty="0">
                <a:solidFill>
                  <a:schemeClr val="tx1"/>
                </a:solidFill>
              </a:endParaRPr>
            </a:p>
          </p:txBody>
        </p:sp>
        <p:sp>
          <p:nvSpPr>
            <p:cNvPr id="6" name="矩形 5"/>
            <p:cNvSpPr/>
            <p:nvPr/>
          </p:nvSpPr>
          <p:spPr bwMode="gray">
            <a:xfrm>
              <a:off x="3004595" y="3955594"/>
              <a:ext cx="108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v</a:t>
              </a:r>
              <a:r>
                <a:rPr lang="en-US" altLang="zh-CN" sz="1200" dirty="0" smtClean="0">
                  <a:solidFill>
                    <a:schemeClr val="tx1"/>
                  </a:solidFill>
                </a:rPr>
                <a:t>4</a:t>
              </a:r>
              <a:r>
                <a:rPr lang="zh-CN" altLang="en-US" sz="1200" dirty="0" smtClean="0">
                  <a:solidFill>
                    <a:schemeClr val="tx1"/>
                  </a:solidFill>
                </a:rPr>
                <a:t>（</a:t>
              </a:r>
              <a:r>
                <a:rPr lang="en-US" altLang="zh-CN" sz="1200" dirty="0" smtClean="0">
                  <a:solidFill>
                    <a:schemeClr val="tx1"/>
                  </a:solidFill>
                </a:rPr>
                <a:t>32</a:t>
              </a:r>
              <a:r>
                <a:rPr lang="zh-CN" altLang="en-US" sz="1200" dirty="0" smtClean="0">
                  <a:solidFill>
                    <a:schemeClr val="tx1"/>
                  </a:solidFill>
                </a:rPr>
                <a:t>）</a:t>
              </a:r>
              <a:endParaRPr lang="zh-CN" altLang="en-US" sz="1200" dirty="0">
                <a:solidFill>
                  <a:schemeClr val="tx1"/>
                </a:solidFill>
              </a:endParaRPr>
            </a:p>
          </p:txBody>
        </p:sp>
        <p:sp>
          <p:nvSpPr>
            <p:cNvPr id="7" name="矩形 6"/>
            <p:cNvSpPr/>
            <p:nvPr/>
          </p:nvSpPr>
          <p:spPr bwMode="gray">
            <a:xfrm>
              <a:off x="4084595" y="3955594"/>
              <a:ext cx="27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U</a:t>
              </a:r>
              <a:endParaRPr lang="zh-CN" altLang="en-US" sz="1200" dirty="0">
                <a:solidFill>
                  <a:schemeClr val="tx1"/>
                </a:solidFill>
              </a:endParaRPr>
            </a:p>
          </p:txBody>
        </p:sp>
        <p:sp>
          <p:nvSpPr>
            <p:cNvPr id="9" name="矩形 8"/>
            <p:cNvSpPr/>
            <p:nvPr/>
          </p:nvSpPr>
          <p:spPr bwMode="gray">
            <a:xfrm>
              <a:off x="4354595" y="3955594"/>
              <a:ext cx="189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Suffix</a:t>
              </a:r>
              <a:endParaRPr lang="zh-CN" altLang="en-US" sz="1200" dirty="0">
                <a:solidFill>
                  <a:schemeClr val="tx1"/>
                </a:solidFill>
              </a:endParaRPr>
            </a:p>
          </p:txBody>
        </p:sp>
        <p:sp>
          <p:nvSpPr>
            <p:cNvPr id="10" name="矩形 9"/>
            <p:cNvSpPr/>
            <p:nvPr/>
          </p:nvSpPr>
          <p:spPr bwMode="gray">
            <a:xfrm>
              <a:off x="1924595" y="4187492"/>
              <a:ext cx="135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Prefix</a:t>
              </a:r>
              <a:r>
                <a:rPr lang="zh-CN" altLang="en-US" sz="1200" dirty="0" smtClean="0">
                  <a:solidFill>
                    <a:schemeClr val="tx1"/>
                  </a:solidFill>
                </a:rPr>
                <a:t>（</a:t>
              </a:r>
              <a:r>
                <a:rPr lang="en-US" altLang="zh-CN" sz="1200" dirty="0" smtClean="0">
                  <a:solidFill>
                    <a:schemeClr val="tx1"/>
                  </a:solidFill>
                </a:rPr>
                <a:t>40</a:t>
              </a:r>
              <a:r>
                <a:rPr lang="zh-CN" altLang="en-US" sz="1200" dirty="0" smtClean="0">
                  <a:solidFill>
                    <a:schemeClr val="tx1"/>
                  </a:solidFill>
                </a:rPr>
                <a:t>）</a:t>
              </a:r>
              <a:endParaRPr lang="zh-CN" altLang="en-US" sz="1200" dirty="0">
                <a:solidFill>
                  <a:schemeClr val="tx1"/>
                </a:solidFill>
              </a:endParaRPr>
            </a:p>
          </p:txBody>
        </p:sp>
        <p:sp>
          <p:nvSpPr>
            <p:cNvPr id="11" name="矩形 10"/>
            <p:cNvSpPr/>
            <p:nvPr/>
          </p:nvSpPr>
          <p:spPr bwMode="gray">
            <a:xfrm>
              <a:off x="1530213" y="4187493"/>
              <a:ext cx="394382"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40</a:t>
              </a:r>
              <a:endParaRPr lang="zh-CN" altLang="en-US" sz="1200" dirty="0">
                <a:solidFill>
                  <a:schemeClr val="tx1"/>
                </a:solidFill>
              </a:endParaRPr>
            </a:p>
          </p:txBody>
        </p:sp>
        <p:sp>
          <p:nvSpPr>
            <p:cNvPr id="12" name="矩形 11"/>
            <p:cNvSpPr/>
            <p:nvPr/>
          </p:nvSpPr>
          <p:spPr bwMode="gray">
            <a:xfrm>
              <a:off x="3274595" y="4187493"/>
              <a:ext cx="81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v</a:t>
              </a:r>
              <a:r>
                <a:rPr lang="en-US" altLang="zh-CN" sz="1200" dirty="0" smtClean="0">
                  <a:solidFill>
                    <a:schemeClr val="tx1"/>
                  </a:solidFill>
                </a:rPr>
                <a:t>4</a:t>
              </a:r>
              <a:r>
                <a:rPr lang="zh-CN" altLang="en-US" sz="1200" dirty="0" smtClean="0">
                  <a:solidFill>
                    <a:schemeClr val="tx1"/>
                  </a:solidFill>
                </a:rPr>
                <a:t>（</a:t>
              </a:r>
              <a:r>
                <a:rPr lang="en-US" altLang="zh-CN" sz="1200" dirty="0" smtClean="0">
                  <a:solidFill>
                    <a:schemeClr val="tx1"/>
                  </a:solidFill>
                </a:rPr>
                <a:t>24</a:t>
              </a:r>
              <a:r>
                <a:rPr lang="zh-CN" altLang="en-US" sz="1200" dirty="0" smtClean="0">
                  <a:solidFill>
                    <a:schemeClr val="tx1"/>
                  </a:solidFill>
                </a:rPr>
                <a:t>）</a:t>
              </a:r>
              <a:endParaRPr lang="zh-CN" altLang="en-US" sz="1200" dirty="0">
                <a:solidFill>
                  <a:schemeClr val="tx1"/>
                </a:solidFill>
              </a:endParaRPr>
            </a:p>
          </p:txBody>
        </p:sp>
        <p:sp>
          <p:nvSpPr>
            <p:cNvPr id="13" name="矩形 12"/>
            <p:cNvSpPr/>
            <p:nvPr/>
          </p:nvSpPr>
          <p:spPr bwMode="gray">
            <a:xfrm>
              <a:off x="4084595" y="4187493"/>
              <a:ext cx="27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U</a:t>
              </a:r>
              <a:endParaRPr lang="zh-CN" altLang="en-US" sz="1200" dirty="0">
                <a:solidFill>
                  <a:schemeClr val="tx1"/>
                </a:solidFill>
              </a:endParaRPr>
            </a:p>
          </p:txBody>
        </p:sp>
        <p:sp>
          <p:nvSpPr>
            <p:cNvPr id="14" name="矩形 13"/>
            <p:cNvSpPr/>
            <p:nvPr/>
          </p:nvSpPr>
          <p:spPr bwMode="gray">
            <a:xfrm>
              <a:off x="4624595" y="4187493"/>
              <a:ext cx="162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Suffix</a:t>
              </a:r>
              <a:endParaRPr lang="zh-CN" altLang="en-US" sz="1200" dirty="0">
                <a:solidFill>
                  <a:schemeClr val="tx1"/>
                </a:solidFill>
              </a:endParaRPr>
            </a:p>
          </p:txBody>
        </p:sp>
        <p:sp>
          <p:nvSpPr>
            <p:cNvPr id="15" name="矩形 14"/>
            <p:cNvSpPr/>
            <p:nvPr/>
          </p:nvSpPr>
          <p:spPr bwMode="gray">
            <a:xfrm>
              <a:off x="1924595" y="4419392"/>
              <a:ext cx="162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Prefix</a:t>
              </a:r>
              <a:r>
                <a:rPr lang="zh-CN" altLang="en-US" sz="1200" dirty="0" smtClean="0">
                  <a:solidFill>
                    <a:schemeClr val="tx1"/>
                  </a:solidFill>
                </a:rPr>
                <a:t>（</a:t>
              </a:r>
              <a:r>
                <a:rPr lang="en-US" altLang="zh-CN" sz="1200" dirty="0" smtClean="0">
                  <a:solidFill>
                    <a:schemeClr val="tx1"/>
                  </a:solidFill>
                </a:rPr>
                <a:t>48</a:t>
              </a:r>
              <a:r>
                <a:rPr lang="zh-CN" altLang="en-US" sz="1200" dirty="0" smtClean="0">
                  <a:solidFill>
                    <a:schemeClr val="tx1"/>
                  </a:solidFill>
                </a:rPr>
                <a:t>）</a:t>
              </a:r>
              <a:endParaRPr lang="zh-CN" altLang="en-US" sz="1200" dirty="0">
                <a:solidFill>
                  <a:schemeClr val="tx1"/>
                </a:solidFill>
              </a:endParaRPr>
            </a:p>
          </p:txBody>
        </p:sp>
        <p:sp>
          <p:nvSpPr>
            <p:cNvPr id="16" name="矩形 15"/>
            <p:cNvSpPr/>
            <p:nvPr/>
          </p:nvSpPr>
          <p:spPr bwMode="gray">
            <a:xfrm>
              <a:off x="1530213" y="4419393"/>
              <a:ext cx="394382"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48</a:t>
              </a:r>
              <a:endParaRPr lang="zh-CN" altLang="en-US" sz="1200" dirty="0">
                <a:solidFill>
                  <a:schemeClr val="tx1"/>
                </a:solidFill>
              </a:endParaRPr>
            </a:p>
          </p:txBody>
        </p:sp>
        <p:sp>
          <p:nvSpPr>
            <p:cNvPr id="17" name="矩形 16"/>
            <p:cNvSpPr/>
            <p:nvPr/>
          </p:nvSpPr>
          <p:spPr bwMode="gray">
            <a:xfrm>
              <a:off x="3544595" y="4419393"/>
              <a:ext cx="54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a:t>
              </a:r>
              <a:r>
                <a:rPr lang="en-US" altLang="zh-CN" sz="1200" dirty="0" smtClean="0">
                  <a:solidFill>
                    <a:schemeClr val="tx1"/>
                  </a:solidFill>
                </a:rPr>
                <a:t>16</a:t>
              </a:r>
              <a:r>
                <a:rPr lang="zh-CN" altLang="en-US" sz="1200" dirty="0" smtClean="0">
                  <a:solidFill>
                    <a:schemeClr val="tx1"/>
                  </a:solidFill>
                </a:rPr>
                <a:t>）</a:t>
              </a:r>
              <a:endParaRPr lang="zh-CN" altLang="en-US" sz="1200" dirty="0">
                <a:solidFill>
                  <a:schemeClr val="tx1"/>
                </a:solidFill>
              </a:endParaRPr>
            </a:p>
          </p:txBody>
        </p:sp>
        <p:sp>
          <p:nvSpPr>
            <p:cNvPr id="18" name="矩形 17"/>
            <p:cNvSpPr/>
            <p:nvPr/>
          </p:nvSpPr>
          <p:spPr bwMode="gray">
            <a:xfrm>
              <a:off x="4084595" y="4419393"/>
              <a:ext cx="27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U</a:t>
              </a:r>
              <a:endParaRPr lang="zh-CN" altLang="en-US" sz="1200" dirty="0">
                <a:solidFill>
                  <a:schemeClr val="tx1"/>
                </a:solidFill>
              </a:endParaRPr>
            </a:p>
          </p:txBody>
        </p:sp>
        <p:sp>
          <p:nvSpPr>
            <p:cNvPr id="19" name="矩形 18"/>
            <p:cNvSpPr/>
            <p:nvPr/>
          </p:nvSpPr>
          <p:spPr bwMode="gray">
            <a:xfrm>
              <a:off x="4894595" y="4419393"/>
              <a:ext cx="135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Suffix</a:t>
              </a:r>
              <a:endParaRPr lang="zh-CN" altLang="en-US" sz="1200" dirty="0">
                <a:solidFill>
                  <a:schemeClr val="tx1"/>
                </a:solidFill>
              </a:endParaRPr>
            </a:p>
          </p:txBody>
        </p:sp>
        <p:sp>
          <p:nvSpPr>
            <p:cNvPr id="20" name="矩形 19"/>
            <p:cNvSpPr/>
            <p:nvPr/>
          </p:nvSpPr>
          <p:spPr bwMode="gray">
            <a:xfrm>
              <a:off x="1924595" y="4651290"/>
              <a:ext cx="189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Prefix</a:t>
              </a:r>
              <a:r>
                <a:rPr lang="zh-CN" altLang="en-US" sz="1200" dirty="0" smtClean="0">
                  <a:solidFill>
                    <a:schemeClr val="tx1"/>
                  </a:solidFill>
                </a:rPr>
                <a:t>（</a:t>
              </a:r>
              <a:r>
                <a:rPr lang="en-US" altLang="zh-CN" sz="1200" dirty="0" smtClean="0">
                  <a:solidFill>
                    <a:schemeClr val="tx1"/>
                  </a:solidFill>
                </a:rPr>
                <a:t>56</a:t>
              </a:r>
              <a:r>
                <a:rPr lang="zh-CN" altLang="en-US" sz="1200" dirty="0" smtClean="0">
                  <a:solidFill>
                    <a:schemeClr val="tx1"/>
                  </a:solidFill>
                </a:rPr>
                <a:t>）</a:t>
              </a:r>
              <a:endParaRPr lang="zh-CN" altLang="en-US" sz="1200" dirty="0">
                <a:solidFill>
                  <a:schemeClr val="tx1"/>
                </a:solidFill>
              </a:endParaRPr>
            </a:p>
          </p:txBody>
        </p:sp>
        <p:sp>
          <p:nvSpPr>
            <p:cNvPr id="21" name="矩形 20"/>
            <p:cNvSpPr/>
            <p:nvPr/>
          </p:nvSpPr>
          <p:spPr bwMode="gray">
            <a:xfrm>
              <a:off x="1530213" y="4651291"/>
              <a:ext cx="394382"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56</a:t>
              </a:r>
              <a:endParaRPr lang="zh-CN" altLang="en-US" sz="1200" dirty="0">
                <a:solidFill>
                  <a:schemeClr val="tx1"/>
                </a:solidFill>
              </a:endParaRPr>
            </a:p>
          </p:txBody>
        </p:sp>
        <p:sp>
          <p:nvSpPr>
            <p:cNvPr id="22" name="矩形 21"/>
            <p:cNvSpPr/>
            <p:nvPr/>
          </p:nvSpPr>
          <p:spPr bwMode="gray">
            <a:xfrm>
              <a:off x="3814595" y="4651291"/>
              <a:ext cx="27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200" dirty="0" smtClean="0">
                  <a:solidFill>
                    <a:schemeClr val="tx1"/>
                  </a:solidFill>
                </a:rPr>
                <a:t>（</a:t>
              </a:r>
              <a:r>
                <a:rPr lang="en-US" altLang="zh-CN" sz="1200" dirty="0" smtClean="0">
                  <a:solidFill>
                    <a:schemeClr val="tx1"/>
                  </a:solidFill>
                </a:rPr>
                <a:t>8</a:t>
              </a:r>
              <a:r>
                <a:rPr lang="zh-CN" altLang="en-US" sz="1200" dirty="0" smtClean="0">
                  <a:solidFill>
                    <a:schemeClr val="tx1"/>
                  </a:solidFill>
                </a:rPr>
                <a:t>）</a:t>
              </a:r>
              <a:endParaRPr lang="zh-CN" altLang="en-US" sz="1200" dirty="0">
                <a:solidFill>
                  <a:schemeClr val="tx1"/>
                </a:solidFill>
              </a:endParaRPr>
            </a:p>
          </p:txBody>
        </p:sp>
        <p:sp>
          <p:nvSpPr>
            <p:cNvPr id="23" name="矩形 22"/>
            <p:cNvSpPr/>
            <p:nvPr/>
          </p:nvSpPr>
          <p:spPr bwMode="gray">
            <a:xfrm>
              <a:off x="4084595" y="4651291"/>
              <a:ext cx="27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U</a:t>
              </a:r>
              <a:endParaRPr lang="zh-CN" altLang="en-US" sz="1200" dirty="0">
                <a:solidFill>
                  <a:schemeClr val="tx1"/>
                </a:solidFill>
              </a:endParaRPr>
            </a:p>
          </p:txBody>
        </p:sp>
        <p:sp>
          <p:nvSpPr>
            <p:cNvPr id="24" name="矩形 23"/>
            <p:cNvSpPr/>
            <p:nvPr/>
          </p:nvSpPr>
          <p:spPr bwMode="gray">
            <a:xfrm>
              <a:off x="5164595" y="4651291"/>
              <a:ext cx="108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Suffix</a:t>
              </a:r>
              <a:endParaRPr lang="zh-CN" altLang="en-US" sz="1200" dirty="0">
                <a:solidFill>
                  <a:schemeClr val="tx1"/>
                </a:solidFill>
              </a:endParaRPr>
            </a:p>
          </p:txBody>
        </p:sp>
        <p:sp>
          <p:nvSpPr>
            <p:cNvPr id="25" name="矩形 24"/>
            <p:cNvSpPr/>
            <p:nvPr/>
          </p:nvSpPr>
          <p:spPr bwMode="gray">
            <a:xfrm>
              <a:off x="1924595" y="4883187"/>
              <a:ext cx="216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Prefix</a:t>
              </a:r>
              <a:r>
                <a:rPr lang="zh-CN" altLang="en-US" sz="1200" dirty="0" smtClean="0">
                  <a:solidFill>
                    <a:schemeClr val="tx1"/>
                  </a:solidFill>
                </a:rPr>
                <a:t>（</a:t>
              </a:r>
              <a:r>
                <a:rPr lang="en-US" altLang="zh-CN" sz="1200" dirty="0" smtClean="0">
                  <a:solidFill>
                    <a:schemeClr val="tx1"/>
                  </a:solidFill>
                </a:rPr>
                <a:t>64</a:t>
              </a:r>
              <a:r>
                <a:rPr lang="zh-CN" altLang="en-US" sz="1200" dirty="0" smtClean="0">
                  <a:solidFill>
                    <a:schemeClr val="tx1"/>
                  </a:solidFill>
                </a:rPr>
                <a:t>）</a:t>
              </a:r>
              <a:endParaRPr lang="zh-CN" altLang="en-US" sz="1200" dirty="0">
                <a:solidFill>
                  <a:schemeClr val="tx1"/>
                </a:solidFill>
              </a:endParaRPr>
            </a:p>
          </p:txBody>
        </p:sp>
        <p:sp>
          <p:nvSpPr>
            <p:cNvPr id="26" name="矩形 25"/>
            <p:cNvSpPr/>
            <p:nvPr/>
          </p:nvSpPr>
          <p:spPr bwMode="gray">
            <a:xfrm>
              <a:off x="1530213" y="4883188"/>
              <a:ext cx="394382"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64</a:t>
              </a:r>
              <a:endParaRPr lang="zh-CN" altLang="en-US" sz="1200" dirty="0">
                <a:solidFill>
                  <a:schemeClr val="tx1"/>
                </a:solidFill>
              </a:endParaRPr>
            </a:p>
          </p:txBody>
        </p:sp>
        <p:sp>
          <p:nvSpPr>
            <p:cNvPr id="28" name="矩形 27"/>
            <p:cNvSpPr/>
            <p:nvPr/>
          </p:nvSpPr>
          <p:spPr bwMode="gray">
            <a:xfrm>
              <a:off x="4084595" y="4883188"/>
              <a:ext cx="27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U</a:t>
              </a:r>
              <a:endParaRPr lang="zh-CN" altLang="en-US" sz="1200" dirty="0">
                <a:solidFill>
                  <a:schemeClr val="tx1"/>
                </a:solidFill>
              </a:endParaRPr>
            </a:p>
          </p:txBody>
        </p:sp>
        <p:sp>
          <p:nvSpPr>
            <p:cNvPr id="29" name="矩形 28"/>
            <p:cNvSpPr/>
            <p:nvPr/>
          </p:nvSpPr>
          <p:spPr bwMode="gray">
            <a:xfrm>
              <a:off x="5434595" y="4883188"/>
              <a:ext cx="81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Suffix</a:t>
              </a:r>
              <a:endParaRPr lang="zh-CN" altLang="en-US" sz="1200" dirty="0">
                <a:solidFill>
                  <a:schemeClr val="tx1"/>
                </a:solidFill>
              </a:endParaRPr>
            </a:p>
          </p:txBody>
        </p:sp>
        <p:sp>
          <p:nvSpPr>
            <p:cNvPr id="32" name="矩形 31"/>
            <p:cNvSpPr/>
            <p:nvPr/>
          </p:nvSpPr>
          <p:spPr bwMode="gray">
            <a:xfrm>
              <a:off x="4354595" y="4187490"/>
              <a:ext cx="27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200" dirty="0" smtClean="0">
                  <a:solidFill>
                    <a:schemeClr val="tx1"/>
                  </a:solidFill>
                </a:rPr>
                <a:t>（</a:t>
              </a:r>
              <a:r>
                <a:rPr lang="en-US" altLang="zh-CN" sz="1200" dirty="0" smtClean="0">
                  <a:solidFill>
                    <a:schemeClr val="tx1"/>
                  </a:solidFill>
                </a:rPr>
                <a:t>8</a:t>
              </a:r>
              <a:r>
                <a:rPr lang="zh-CN" altLang="en-US" sz="1200" dirty="0" smtClean="0">
                  <a:solidFill>
                    <a:schemeClr val="tx1"/>
                  </a:solidFill>
                </a:rPr>
                <a:t>）</a:t>
              </a:r>
              <a:endParaRPr lang="zh-CN" altLang="en-US" sz="1200" dirty="0">
                <a:solidFill>
                  <a:schemeClr val="tx1"/>
                </a:solidFill>
              </a:endParaRPr>
            </a:p>
          </p:txBody>
        </p:sp>
        <p:sp>
          <p:nvSpPr>
            <p:cNvPr id="33" name="矩形 32"/>
            <p:cNvSpPr/>
            <p:nvPr/>
          </p:nvSpPr>
          <p:spPr bwMode="gray">
            <a:xfrm>
              <a:off x="4354595" y="4419393"/>
              <a:ext cx="54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a:t>
              </a:r>
              <a:r>
                <a:rPr lang="en-US" altLang="zh-CN" sz="1200" dirty="0" smtClean="0">
                  <a:solidFill>
                    <a:schemeClr val="tx1"/>
                  </a:solidFill>
                </a:rPr>
                <a:t>16</a:t>
              </a:r>
              <a:r>
                <a:rPr lang="zh-CN" altLang="en-US" sz="1200" dirty="0" smtClean="0">
                  <a:solidFill>
                    <a:schemeClr val="tx1"/>
                  </a:solidFill>
                </a:rPr>
                <a:t>）</a:t>
              </a:r>
              <a:endParaRPr lang="zh-CN" altLang="en-US" sz="1200" dirty="0">
                <a:solidFill>
                  <a:schemeClr val="tx1"/>
                </a:solidFill>
              </a:endParaRPr>
            </a:p>
          </p:txBody>
        </p:sp>
        <p:sp>
          <p:nvSpPr>
            <p:cNvPr id="34" name="矩形 33"/>
            <p:cNvSpPr/>
            <p:nvPr/>
          </p:nvSpPr>
          <p:spPr bwMode="gray">
            <a:xfrm>
              <a:off x="4354595" y="4651292"/>
              <a:ext cx="81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v</a:t>
              </a:r>
              <a:r>
                <a:rPr lang="en-US" altLang="zh-CN" sz="1200" dirty="0" smtClean="0">
                  <a:solidFill>
                    <a:schemeClr val="tx1"/>
                  </a:solidFill>
                </a:rPr>
                <a:t>4</a:t>
              </a:r>
              <a:r>
                <a:rPr lang="zh-CN" altLang="en-US" sz="1200" dirty="0" smtClean="0">
                  <a:solidFill>
                    <a:schemeClr val="tx1"/>
                  </a:solidFill>
                </a:rPr>
                <a:t>（</a:t>
              </a:r>
              <a:r>
                <a:rPr lang="en-US" altLang="zh-CN" sz="1200" dirty="0" smtClean="0">
                  <a:solidFill>
                    <a:schemeClr val="tx1"/>
                  </a:solidFill>
                </a:rPr>
                <a:t>24</a:t>
              </a:r>
              <a:r>
                <a:rPr lang="zh-CN" altLang="en-US" sz="1200" dirty="0" smtClean="0">
                  <a:solidFill>
                    <a:schemeClr val="tx1"/>
                  </a:solidFill>
                </a:rPr>
                <a:t>）</a:t>
              </a:r>
              <a:endParaRPr lang="zh-CN" altLang="en-US" sz="1200" dirty="0">
                <a:solidFill>
                  <a:schemeClr val="tx1"/>
                </a:solidFill>
              </a:endParaRPr>
            </a:p>
          </p:txBody>
        </p:sp>
        <p:sp>
          <p:nvSpPr>
            <p:cNvPr id="35" name="矩形 34"/>
            <p:cNvSpPr/>
            <p:nvPr/>
          </p:nvSpPr>
          <p:spPr bwMode="gray">
            <a:xfrm>
              <a:off x="4354595" y="4883191"/>
              <a:ext cx="108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v</a:t>
              </a:r>
              <a:r>
                <a:rPr lang="en-US" altLang="zh-CN" sz="1200" dirty="0" smtClean="0">
                  <a:solidFill>
                    <a:schemeClr val="tx1"/>
                  </a:solidFill>
                </a:rPr>
                <a:t>4</a:t>
              </a:r>
              <a:r>
                <a:rPr lang="zh-CN" altLang="en-US" sz="1200" dirty="0" smtClean="0">
                  <a:solidFill>
                    <a:schemeClr val="tx1"/>
                  </a:solidFill>
                </a:rPr>
                <a:t>（</a:t>
              </a:r>
              <a:r>
                <a:rPr lang="en-US" altLang="zh-CN" sz="1200" dirty="0" smtClean="0">
                  <a:solidFill>
                    <a:schemeClr val="tx1"/>
                  </a:solidFill>
                </a:rPr>
                <a:t>32</a:t>
              </a:r>
              <a:r>
                <a:rPr lang="zh-CN" altLang="en-US" sz="1200" dirty="0" smtClean="0">
                  <a:solidFill>
                    <a:schemeClr val="tx1"/>
                  </a:solidFill>
                </a:rPr>
                <a:t>）</a:t>
              </a:r>
              <a:endParaRPr lang="zh-CN" altLang="en-US" sz="1200" dirty="0">
                <a:solidFill>
                  <a:schemeClr val="tx1"/>
                </a:solidFill>
              </a:endParaRPr>
            </a:p>
          </p:txBody>
        </p:sp>
        <p:sp>
          <p:nvSpPr>
            <p:cNvPr id="36" name="矩形 35"/>
            <p:cNvSpPr/>
            <p:nvPr/>
          </p:nvSpPr>
          <p:spPr bwMode="gray">
            <a:xfrm>
              <a:off x="1924595" y="5115090"/>
              <a:ext cx="324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Prefix</a:t>
              </a:r>
              <a:r>
                <a:rPr lang="zh-CN" altLang="en-US" sz="1200" dirty="0" smtClean="0">
                  <a:solidFill>
                    <a:schemeClr val="tx1"/>
                  </a:solidFill>
                </a:rPr>
                <a:t>（</a:t>
              </a:r>
              <a:r>
                <a:rPr lang="en-US" altLang="zh-CN" sz="1200" dirty="0" smtClean="0">
                  <a:solidFill>
                    <a:schemeClr val="tx1"/>
                  </a:solidFill>
                </a:rPr>
                <a:t>96</a:t>
              </a:r>
              <a:r>
                <a:rPr lang="zh-CN" altLang="en-US" sz="1200" dirty="0" smtClean="0">
                  <a:solidFill>
                    <a:schemeClr val="tx1"/>
                  </a:solidFill>
                </a:rPr>
                <a:t>）</a:t>
              </a:r>
              <a:endParaRPr lang="zh-CN" altLang="en-US" sz="1200" dirty="0">
                <a:solidFill>
                  <a:schemeClr val="tx1"/>
                </a:solidFill>
              </a:endParaRPr>
            </a:p>
          </p:txBody>
        </p:sp>
        <p:sp>
          <p:nvSpPr>
            <p:cNvPr id="37" name="矩形 36"/>
            <p:cNvSpPr/>
            <p:nvPr/>
          </p:nvSpPr>
          <p:spPr bwMode="gray">
            <a:xfrm>
              <a:off x="1530213" y="5115091"/>
              <a:ext cx="394382"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96</a:t>
              </a:r>
              <a:endParaRPr lang="zh-CN" altLang="en-US" sz="1200" dirty="0">
                <a:solidFill>
                  <a:schemeClr val="tx1"/>
                </a:solidFill>
              </a:endParaRPr>
            </a:p>
          </p:txBody>
        </p:sp>
        <p:sp>
          <p:nvSpPr>
            <p:cNvPr id="40" name="矩形 39"/>
            <p:cNvSpPr/>
            <p:nvPr/>
          </p:nvSpPr>
          <p:spPr bwMode="gray">
            <a:xfrm>
              <a:off x="5164595" y="5115094"/>
              <a:ext cx="108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v</a:t>
              </a:r>
              <a:r>
                <a:rPr lang="en-US" altLang="zh-CN" sz="1200" dirty="0" smtClean="0">
                  <a:solidFill>
                    <a:schemeClr val="tx1"/>
                  </a:solidFill>
                </a:rPr>
                <a:t>4</a:t>
              </a:r>
              <a:r>
                <a:rPr lang="zh-CN" altLang="en-US" sz="1200" dirty="0" smtClean="0">
                  <a:solidFill>
                    <a:schemeClr val="tx1"/>
                  </a:solidFill>
                </a:rPr>
                <a:t>（</a:t>
              </a:r>
              <a:r>
                <a:rPr lang="en-US" altLang="zh-CN" sz="1200" dirty="0" smtClean="0">
                  <a:solidFill>
                    <a:schemeClr val="tx1"/>
                  </a:solidFill>
                </a:rPr>
                <a:t>32</a:t>
              </a:r>
              <a:r>
                <a:rPr lang="zh-CN" altLang="en-US" sz="1200" dirty="0" smtClean="0">
                  <a:solidFill>
                    <a:schemeClr val="tx1"/>
                  </a:solidFill>
                </a:rPr>
                <a:t>）</a:t>
              </a:r>
              <a:endParaRPr lang="zh-CN" altLang="en-US" sz="1200" dirty="0">
                <a:solidFill>
                  <a:schemeClr val="tx1"/>
                </a:solidFill>
              </a:endParaRPr>
            </a:p>
          </p:txBody>
        </p:sp>
        <p:sp>
          <p:nvSpPr>
            <p:cNvPr id="41" name="文本框 40"/>
            <p:cNvSpPr txBox="1"/>
            <p:nvPr/>
          </p:nvSpPr>
          <p:spPr bwMode="gray">
            <a:xfrm>
              <a:off x="1551715" y="3694336"/>
              <a:ext cx="351378" cy="276999"/>
            </a:xfrm>
            <a:prstGeom prst="rect">
              <a:avLst/>
            </a:prstGeom>
            <a:noFill/>
          </p:spPr>
          <p:txBody>
            <a:bodyPr wrap="none" rtlCol="0">
              <a:spAutoFit/>
            </a:bodyPr>
            <a:lstStyle/>
            <a:p>
              <a:pPr algn="ctr"/>
              <a:r>
                <a:rPr lang="en-US" altLang="zh-CN" sz="1200" dirty="0" smtClean="0">
                  <a:cs typeface="Arial" panose="020B0604020202020204" pitchFamily="34" charset="0"/>
                </a:rPr>
                <a:t>PL</a:t>
              </a:r>
              <a:endParaRPr lang="en-US" sz="1200" dirty="0">
                <a:cs typeface="Arial" panose="020B0604020202020204" pitchFamily="34" charset="0"/>
              </a:endParaRPr>
            </a:p>
          </p:txBody>
        </p:sp>
      </p:grpSp>
      <p:sp>
        <p:nvSpPr>
          <p:cNvPr id="46" name="文本框 45"/>
          <p:cNvSpPr txBox="1"/>
          <p:nvPr/>
        </p:nvSpPr>
        <p:spPr bwMode="gray">
          <a:xfrm>
            <a:off x="6095999" y="4448148"/>
            <a:ext cx="5182821" cy="1384995"/>
          </a:xfrm>
          <a:prstGeom prst="rect">
            <a:avLst/>
          </a:prstGeom>
          <a:noFill/>
        </p:spPr>
        <p:txBody>
          <a:bodyPr wrap="square" rtlCol="0">
            <a:spAutoFit/>
          </a:bodyPr>
          <a:lstStyle/>
          <a:p>
            <a:pPr marL="171450" indent="-171450">
              <a:lnSpc>
                <a:spcPct val="140000"/>
              </a:lnSpc>
              <a:buFont typeface="Arial" panose="020B0604020202020204" pitchFamily="34" charset="0"/>
              <a:buChar char="•"/>
            </a:pPr>
            <a:r>
              <a:rPr lang="zh-CN" altLang="en-US" sz="1200" dirty="0"/>
              <a:t>以</a:t>
            </a:r>
            <a:r>
              <a:rPr lang="en-US" altLang="zh-CN" sz="1200" dirty="0"/>
              <a:t>IPv4</a:t>
            </a:r>
            <a:r>
              <a:rPr lang="zh-CN" altLang="en-US" sz="1200" dirty="0"/>
              <a:t>地址为</a:t>
            </a:r>
            <a:r>
              <a:rPr lang="en-US" altLang="zh-CN" sz="1200" dirty="0"/>
              <a:t>192.168.0.1</a:t>
            </a:r>
            <a:r>
              <a:rPr lang="zh-CN" altLang="en-US" sz="1200" dirty="0"/>
              <a:t>，</a:t>
            </a:r>
            <a:r>
              <a:rPr lang="en-US" altLang="zh-CN" sz="1200" dirty="0"/>
              <a:t>NAT</a:t>
            </a:r>
            <a:r>
              <a:rPr lang="zh-CN" altLang="en-US" sz="1200" dirty="0"/>
              <a:t>前缀为</a:t>
            </a:r>
            <a:r>
              <a:rPr lang="en-US" altLang="zh-CN" sz="1200" dirty="0" smtClean="0"/>
              <a:t>2001:DB8</a:t>
            </a:r>
            <a:r>
              <a:rPr lang="en-US" altLang="zh-CN" sz="1200" dirty="0"/>
              <a:t>::/64</a:t>
            </a:r>
            <a:r>
              <a:rPr lang="zh-CN" altLang="en-US" sz="1200" dirty="0"/>
              <a:t>为例，该</a:t>
            </a:r>
            <a:r>
              <a:rPr lang="en-US" altLang="zh-CN" sz="1200" dirty="0"/>
              <a:t>IPv4</a:t>
            </a:r>
            <a:r>
              <a:rPr lang="zh-CN" altLang="en-US" sz="1200" dirty="0"/>
              <a:t>地址对应的</a:t>
            </a:r>
            <a:r>
              <a:rPr lang="en-US" altLang="zh-CN" sz="1200" dirty="0"/>
              <a:t>IPv6</a:t>
            </a:r>
            <a:r>
              <a:rPr lang="zh-CN" altLang="en-US" sz="1200" dirty="0" smtClean="0"/>
              <a:t>地址为：</a:t>
            </a:r>
            <a:r>
              <a:rPr lang="en-US" altLang="zh-CN" sz="1200" dirty="0" smtClean="0"/>
              <a:t>2001:0DB8:0000:0000:00C0:A800:0100:0000</a:t>
            </a:r>
            <a:r>
              <a:rPr lang="zh-CN" altLang="en-US" sz="1200" dirty="0"/>
              <a:t>，即</a:t>
            </a:r>
            <a:r>
              <a:rPr lang="en-US" altLang="zh-CN" sz="1200" dirty="0" smtClean="0"/>
              <a:t>2001:DB8::C0:A800:100:0</a:t>
            </a:r>
            <a:r>
              <a:rPr lang="zh-CN" altLang="en-US" sz="1200" dirty="0"/>
              <a:t>。</a:t>
            </a:r>
          </a:p>
          <a:p>
            <a:pPr marL="171450" indent="-171450">
              <a:lnSpc>
                <a:spcPct val="140000"/>
              </a:lnSpc>
              <a:buFont typeface="Arial" panose="020B0604020202020204" pitchFamily="34" charset="0"/>
              <a:buChar char="•"/>
            </a:pPr>
            <a:r>
              <a:rPr lang="zh-CN" altLang="en-US" sz="1200" dirty="0" smtClean="0"/>
              <a:t>配置</a:t>
            </a:r>
            <a:r>
              <a:rPr lang="en-US" altLang="zh-CN" sz="1200" dirty="0"/>
              <a:t>DNS64</a:t>
            </a:r>
            <a:r>
              <a:rPr lang="zh-CN" altLang="en-US" sz="1200" dirty="0"/>
              <a:t>设备时，需要确保</a:t>
            </a:r>
            <a:r>
              <a:rPr lang="en-US" altLang="zh-CN" sz="1200" dirty="0"/>
              <a:t>NAT64</a:t>
            </a:r>
            <a:r>
              <a:rPr lang="zh-CN" altLang="en-US" sz="1200" dirty="0"/>
              <a:t>前缀和前缀长度与</a:t>
            </a:r>
            <a:r>
              <a:rPr lang="en-US" altLang="zh-CN" sz="1200" dirty="0"/>
              <a:t>NAT64</a:t>
            </a:r>
            <a:r>
              <a:rPr lang="zh-CN" altLang="en-US" sz="1200" dirty="0"/>
              <a:t>设备上的配置相同。</a:t>
            </a:r>
          </a:p>
        </p:txBody>
      </p:sp>
      <p:sp>
        <p:nvSpPr>
          <p:cNvPr id="48" name="五边形 47"/>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9" name="燕尾形 48"/>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50" name="燕尾形 49"/>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51" name="燕尾形 50"/>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52" name="燕尾形 51"/>
          <p:cNvSpPr/>
          <p:nvPr/>
        </p:nvSpPr>
        <p:spPr bwMode="gray">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53" name="燕尾形 52"/>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54" name="燕尾形 53"/>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112855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t>动态</a:t>
            </a:r>
            <a:r>
              <a:rPr lang="en-US" altLang="zh-CN" dirty="0" smtClean="0"/>
              <a:t>NAT64</a:t>
            </a:r>
            <a:r>
              <a:rPr lang="zh-CN" altLang="en-US" dirty="0" smtClean="0"/>
              <a:t>映射</a:t>
            </a:r>
            <a:endParaRPr lang="zh-CN" altLang="en-US" dirty="0"/>
          </a:p>
        </p:txBody>
      </p:sp>
      <p:sp>
        <p:nvSpPr>
          <p:cNvPr id="95" name="文本占位符 94"/>
          <p:cNvSpPr>
            <a:spLocks noGrp="1"/>
          </p:cNvSpPr>
          <p:nvPr>
            <p:ph type="body" sz="quarter" idx="10"/>
          </p:nvPr>
        </p:nvSpPr>
        <p:spPr bwMode="gray">
          <a:xfrm>
            <a:off x="455612" y="1047751"/>
            <a:ext cx="11293475" cy="1547436"/>
          </a:xfrm>
        </p:spPr>
        <p:txBody>
          <a:bodyPr/>
          <a:lstStyle/>
          <a:p>
            <a:r>
              <a:rPr lang="zh-CN" altLang="en-US" sz="1600" dirty="0"/>
              <a:t>当网络中存在大量</a:t>
            </a:r>
            <a:r>
              <a:rPr lang="en-US" altLang="zh-CN" sz="1600" dirty="0"/>
              <a:t>IPv6</a:t>
            </a:r>
            <a:r>
              <a:rPr lang="zh-CN" altLang="en-US" sz="1600" dirty="0"/>
              <a:t>用户且</a:t>
            </a:r>
            <a:r>
              <a:rPr lang="en-US" altLang="zh-CN" sz="1600" dirty="0"/>
              <a:t>IP</a:t>
            </a:r>
            <a:r>
              <a:rPr lang="zh-CN" altLang="en-US" sz="1600" dirty="0"/>
              <a:t>地址不固定时，</a:t>
            </a:r>
            <a:r>
              <a:rPr lang="en-US" altLang="zh-CN" sz="1600" dirty="0"/>
              <a:t>IPv6</a:t>
            </a:r>
            <a:r>
              <a:rPr lang="zh-CN" altLang="en-US" sz="1600" dirty="0"/>
              <a:t>用户访问</a:t>
            </a:r>
            <a:r>
              <a:rPr lang="en-US" altLang="zh-CN" sz="1600" dirty="0"/>
              <a:t>IPv4 Server</a:t>
            </a:r>
            <a:r>
              <a:rPr lang="zh-CN" altLang="en-US" sz="1600" dirty="0"/>
              <a:t>，报文到达设备后，设备会将</a:t>
            </a:r>
            <a:r>
              <a:rPr lang="en-US" altLang="zh-CN" sz="1600" dirty="0"/>
              <a:t>IPv6</a:t>
            </a:r>
            <a:r>
              <a:rPr lang="zh-CN" altLang="en-US" sz="1600" dirty="0"/>
              <a:t>地址动态转换为地址池中的</a:t>
            </a:r>
            <a:r>
              <a:rPr lang="en-US" altLang="zh-CN" sz="1600" dirty="0"/>
              <a:t>IPv4</a:t>
            </a:r>
            <a:r>
              <a:rPr lang="zh-CN" altLang="en-US" sz="1600" dirty="0"/>
              <a:t>地址，并将</a:t>
            </a:r>
            <a:r>
              <a:rPr lang="en-US" altLang="zh-CN" sz="1600" dirty="0"/>
              <a:t>IPv6</a:t>
            </a:r>
            <a:r>
              <a:rPr lang="zh-CN" altLang="en-US" sz="1600" dirty="0"/>
              <a:t>报文转换为</a:t>
            </a:r>
            <a:r>
              <a:rPr lang="en-US" altLang="zh-CN" sz="1600" dirty="0"/>
              <a:t>IPv4</a:t>
            </a:r>
            <a:r>
              <a:rPr lang="zh-CN" altLang="en-US" sz="1600" dirty="0"/>
              <a:t>报文，发送给</a:t>
            </a:r>
            <a:r>
              <a:rPr lang="en-US" altLang="zh-CN" sz="1600" dirty="0"/>
              <a:t>IPv4 Server</a:t>
            </a:r>
            <a:r>
              <a:rPr lang="zh-CN" altLang="en-US" sz="1600" dirty="0"/>
              <a:t>，实现</a:t>
            </a:r>
            <a:r>
              <a:rPr lang="en-US" altLang="zh-CN" sz="1600" dirty="0"/>
              <a:t>IPv6</a:t>
            </a:r>
            <a:r>
              <a:rPr lang="zh-CN" altLang="en-US" sz="1600" dirty="0"/>
              <a:t>用户访问</a:t>
            </a:r>
            <a:r>
              <a:rPr lang="en-US" altLang="zh-CN" sz="1600" dirty="0"/>
              <a:t>IPv4</a:t>
            </a:r>
            <a:r>
              <a:rPr lang="zh-CN" altLang="en-US" sz="1600" dirty="0"/>
              <a:t>业务</a:t>
            </a:r>
            <a:r>
              <a:rPr lang="zh-CN" altLang="en-US" sz="1600" dirty="0" smtClean="0"/>
              <a:t>。</a:t>
            </a:r>
            <a:endParaRPr lang="en-US" altLang="zh-CN" sz="1600" dirty="0" smtClean="0"/>
          </a:p>
          <a:p>
            <a:r>
              <a:rPr lang="zh-CN" altLang="en-US" sz="1600" dirty="0" smtClean="0"/>
              <a:t>在此</a:t>
            </a:r>
            <a:r>
              <a:rPr lang="zh-CN" altLang="en-US" sz="1600" dirty="0"/>
              <a:t>场景中</a:t>
            </a:r>
            <a:r>
              <a:rPr lang="en-US" altLang="zh-CN" sz="1600" dirty="0"/>
              <a:t>NAT64</a:t>
            </a:r>
            <a:r>
              <a:rPr lang="zh-CN" altLang="en-US" sz="1600" dirty="0"/>
              <a:t>设备通过</a:t>
            </a:r>
            <a:r>
              <a:rPr lang="en-US" altLang="zh-CN" sz="1600" dirty="0"/>
              <a:t>IPv6</a:t>
            </a:r>
            <a:r>
              <a:rPr lang="zh-CN" altLang="en-US" sz="1600" dirty="0"/>
              <a:t>到</a:t>
            </a:r>
            <a:r>
              <a:rPr lang="en-US" altLang="zh-CN" sz="1600" dirty="0"/>
              <a:t>IPv4</a:t>
            </a:r>
            <a:r>
              <a:rPr lang="zh-CN" altLang="en-US" sz="1600" dirty="0"/>
              <a:t>的流量触发创建会话表，并记录地址映射关系；</a:t>
            </a:r>
            <a:r>
              <a:rPr lang="en-US" altLang="zh-CN" sz="1600" dirty="0"/>
              <a:t>IPv4</a:t>
            </a:r>
            <a:r>
              <a:rPr lang="zh-CN" altLang="en-US" sz="1600" dirty="0"/>
              <a:t>到</a:t>
            </a:r>
            <a:r>
              <a:rPr lang="en-US" altLang="zh-CN" sz="1600" dirty="0"/>
              <a:t>IPv6</a:t>
            </a:r>
            <a:r>
              <a:rPr lang="zh-CN" altLang="en-US" sz="1600" dirty="0"/>
              <a:t>的流量匹配会话表后，查找地址映射关系进行</a:t>
            </a:r>
            <a:r>
              <a:rPr lang="zh-CN" altLang="en-US" sz="1600" dirty="0" smtClean="0"/>
              <a:t>反向回复</a:t>
            </a:r>
            <a:r>
              <a:rPr lang="zh-CN" altLang="en-US" sz="1600" dirty="0"/>
              <a:t>。</a:t>
            </a:r>
          </a:p>
        </p:txBody>
      </p:sp>
      <p:pic>
        <p:nvPicPr>
          <p:cNvPr id="6" name="图片 5" descr="PC.png"/>
          <p:cNvPicPr>
            <a:picLocks noChangeAspect="1"/>
          </p:cNvPicPr>
          <p:nvPr/>
        </p:nvPicPr>
        <p:blipFill>
          <a:blip r:embed="rId3" cstate="print"/>
          <a:stretch>
            <a:fillRect/>
          </a:stretch>
        </p:blipFill>
        <p:spPr bwMode="gray">
          <a:xfrm>
            <a:off x="1086076" y="4294025"/>
            <a:ext cx="445577" cy="342203"/>
          </a:xfrm>
          <a:prstGeom prst="rect">
            <a:avLst/>
          </a:prstGeom>
        </p:spPr>
      </p:pic>
      <p:cxnSp>
        <p:nvCxnSpPr>
          <p:cNvPr id="7" name="直接连接符 6"/>
          <p:cNvCxnSpPr>
            <a:stCxn id="6" idx="3"/>
            <a:endCxn id="18" idx="1"/>
          </p:cNvCxnSpPr>
          <p:nvPr/>
        </p:nvCxnSpPr>
        <p:spPr bwMode="gray">
          <a:xfrm>
            <a:off x="1531653" y="4465127"/>
            <a:ext cx="15388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bwMode="gray">
          <a:xfrm>
            <a:off x="887113" y="4631786"/>
            <a:ext cx="843501"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User</a:t>
            </a:r>
            <a:endParaRPr lang="en-US" sz="1200" dirty="0">
              <a:cs typeface="Arial" panose="020B0604020202020204" pitchFamily="34" charset="0"/>
            </a:endParaRPr>
          </a:p>
        </p:txBody>
      </p:sp>
      <p:pic>
        <p:nvPicPr>
          <p:cNvPr id="9"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070488" y="3043938"/>
            <a:ext cx="435249" cy="356904"/>
          </a:xfrm>
          <a:prstGeom prst="rect">
            <a:avLst/>
          </a:prstGeom>
        </p:spPr>
      </p:pic>
      <p:sp>
        <p:nvSpPr>
          <p:cNvPr id="10" name="文本框 9"/>
          <p:cNvSpPr txBox="1"/>
          <p:nvPr/>
        </p:nvSpPr>
        <p:spPr bwMode="gray">
          <a:xfrm>
            <a:off x="2938414" y="2766458"/>
            <a:ext cx="668773" cy="276999"/>
          </a:xfrm>
          <a:prstGeom prst="rect">
            <a:avLst/>
          </a:prstGeom>
          <a:noFill/>
        </p:spPr>
        <p:txBody>
          <a:bodyPr wrap="none" rtlCol="0">
            <a:spAutoFit/>
          </a:bodyPr>
          <a:lstStyle/>
          <a:p>
            <a:pPr algn="ctr"/>
            <a:r>
              <a:rPr lang="en-US" altLang="zh-CN" sz="1200" dirty="0" smtClean="0">
                <a:cs typeface="Arial" panose="020B0604020202020204" pitchFamily="34" charset="0"/>
              </a:rPr>
              <a:t>DNS64</a:t>
            </a:r>
            <a:endParaRPr lang="en-US" sz="1200" dirty="0">
              <a:cs typeface="Arial" panose="020B0604020202020204" pitchFamily="34" charset="0"/>
            </a:endParaRPr>
          </a:p>
        </p:txBody>
      </p:sp>
      <p:sp>
        <p:nvSpPr>
          <p:cNvPr id="11" name="Freeform 159"/>
          <p:cNvSpPr/>
          <p:nvPr/>
        </p:nvSpPr>
        <p:spPr bwMode="gray">
          <a:xfrm flipH="1">
            <a:off x="6012621" y="4033250"/>
            <a:ext cx="1102034" cy="610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12" name="文本框 11"/>
          <p:cNvSpPr txBox="1"/>
          <p:nvPr/>
        </p:nvSpPr>
        <p:spPr bwMode="gray">
          <a:xfrm>
            <a:off x="6012621" y="4326627"/>
            <a:ext cx="1082348" cy="276999"/>
          </a:xfrm>
          <a:prstGeom prst="rect">
            <a:avLst/>
          </a:prstGeom>
          <a:noFill/>
        </p:spPr>
        <p:txBody>
          <a:bodyPr wrap="none" rtlCol="0">
            <a:spAutoFit/>
          </a:bodyPr>
          <a:lstStyle/>
          <a:p>
            <a:pPr algn="ctr"/>
            <a:r>
              <a:rPr lang="en-US" sz="1200" dirty="0" smtClean="0">
                <a:cs typeface="Arial" panose="020B0604020202020204" pitchFamily="34" charset="0"/>
              </a:rPr>
              <a:t>IPv4 </a:t>
            </a:r>
            <a:r>
              <a:rPr lang="en-US" altLang="zh-CN" sz="1200" dirty="0" smtClean="0">
                <a:cs typeface="Arial" panose="020B0604020202020204" pitchFamily="34" charset="0"/>
              </a:rPr>
              <a:t>Internet</a:t>
            </a:r>
            <a:endParaRPr lang="en-US" sz="1200" dirty="0">
              <a:cs typeface="Arial" panose="020B0604020202020204" pitchFamily="34" charset="0"/>
            </a:endParaRPr>
          </a:p>
        </p:txBody>
      </p:sp>
      <p:pic>
        <p:nvPicPr>
          <p:cNvPr id="13" name="图片 1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6587698" y="3937988"/>
            <a:ext cx="434191" cy="356037"/>
          </a:xfrm>
          <a:prstGeom prst="rect">
            <a:avLst/>
          </a:prstGeom>
        </p:spPr>
      </p:pic>
      <p:cxnSp>
        <p:nvCxnSpPr>
          <p:cNvPr id="14" name="直接连接符 13"/>
          <p:cNvCxnSpPr>
            <a:stCxn id="18" idx="0"/>
            <a:endCxn id="9" idx="2"/>
          </p:cNvCxnSpPr>
          <p:nvPr/>
        </p:nvCxnSpPr>
        <p:spPr bwMode="gray">
          <a:xfrm flipV="1">
            <a:off x="3287994" y="3400842"/>
            <a:ext cx="119" cy="88593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gray">
          <a:xfrm>
            <a:off x="2038414" y="4660899"/>
            <a:ext cx="2223194" cy="0"/>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bwMode="gray">
          <a:xfrm>
            <a:off x="4149832" y="4044686"/>
            <a:ext cx="766557" cy="307777"/>
          </a:xfrm>
          <a:prstGeom prst="rect">
            <a:avLst/>
          </a:prstGeom>
          <a:noFill/>
        </p:spPr>
        <p:txBody>
          <a:bodyPr wrap="none" rtlCol="0">
            <a:spAutoFit/>
          </a:bodyPr>
          <a:lstStyle/>
          <a:p>
            <a:pPr algn="ctr"/>
            <a:r>
              <a:rPr lang="en-US" altLang="zh-CN" sz="1400" dirty="0" smtClean="0">
                <a:cs typeface="Arial" panose="020B0604020202020204" pitchFamily="34" charset="0"/>
              </a:rPr>
              <a:t>NAT64</a:t>
            </a:r>
            <a:endParaRPr lang="en-US" sz="1400" dirty="0">
              <a:cs typeface="Arial" panose="020B0604020202020204" pitchFamily="34" charset="0"/>
            </a:endParaRPr>
          </a:p>
        </p:txBody>
      </p:sp>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324155" y="4294025"/>
            <a:ext cx="417912" cy="342203"/>
          </a:xfrm>
          <a:prstGeom prst="rect">
            <a:avLst/>
          </a:prstGeom>
        </p:spPr>
      </p:pic>
      <p:pic>
        <p:nvPicPr>
          <p:cNvPr id="18" name="图片 17"/>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3070488" y="4286772"/>
            <a:ext cx="435011" cy="356709"/>
          </a:xfrm>
          <a:prstGeom prst="rect">
            <a:avLst/>
          </a:prstGeom>
        </p:spPr>
      </p:pic>
      <p:cxnSp>
        <p:nvCxnSpPr>
          <p:cNvPr id="24" name="直接连接符 23"/>
          <p:cNvCxnSpPr>
            <a:stCxn id="18" idx="3"/>
            <a:endCxn id="17" idx="1"/>
          </p:cNvCxnSpPr>
          <p:nvPr/>
        </p:nvCxnSpPr>
        <p:spPr bwMode="gray">
          <a:xfrm>
            <a:off x="3505499" y="4465127"/>
            <a:ext cx="8186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7" idx="3"/>
            <a:endCxn id="12" idx="1"/>
          </p:cNvCxnSpPr>
          <p:nvPr/>
        </p:nvCxnSpPr>
        <p:spPr bwMode="gray">
          <a:xfrm>
            <a:off x="4742067" y="4465127"/>
            <a:ext cx="12705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bwMode="gray">
          <a:xfrm>
            <a:off x="6323732" y="3697123"/>
            <a:ext cx="962122" cy="276999"/>
          </a:xfrm>
          <a:prstGeom prst="rect">
            <a:avLst/>
          </a:prstGeom>
          <a:noFill/>
        </p:spPr>
        <p:txBody>
          <a:bodyPr wrap="none" rtlCol="0">
            <a:spAutoFit/>
          </a:bodyPr>
          <a:lstStyle/>
          <a:p>
            <a:pPr algn="ctr"/>
            <a:r>
              <a:rPr lang="en-US" sz="1200" dirty="0" smtClean="0">
                <a:cs typeface="Arial" panose="020B0604020202020204" pitchFamily="34" charset="0"/>
              </a:rPr>
              <a:t>IPv4 Server</a:t>
            </a:r>
            <a:endParaRPr lang="en-US" sz="1200" dirty="0">
              <a:cs typeface="Arial" panose="020B0604020202020204" pitchFamily="34" charset="0"/>
            </a:endParaRPr>
          </a:p>
        </p:txBody>
      </p:sp>
      <p:sp>
        <p:nvSpPr>
          <p:cNvPr id="34" name="任意多边形 33"/>
          <p:cNvSpPr/>
          <p:nvPr/>
        </p:nvSpPr>
        <p:spPr bwMode="gray">
          <a:xfrm>
            <a:off x="1620935" y="3578593"/>
            <a:ext cx="1492737" cy="775063"/>
          </a:xfrm>
          <a:custGeom>
            <a:avLst/>
            <a:gdLst>
              <a:gd name="connsiteX0" fmla="*/ 0 w 984069"/>
              <a:gd name="connsiteY0" fmla="*/ 775063 h 775063"/>
              <a:gd name="connsiteX1" fmla="*/ 984069 w 984069"/>
              <a:gd name="connsiteY1" fmla="*/ 775063 h 775063"/>
              <a:gd name="connsiteX2" fmla="*/ 984069 w 984069"/>
              <a:gd name="connsiteY2" fmla="*/ 0 h 775063"/>
            </a:gdLst>
            <a:ahLst/>
            <a:cxnLst>
              <a:cxn ang="0">
                <a:pos x="connsiteX0" y="connsiteY0"/>
              </a:cxn>
              <a:cxn ang="0">
                <a:pos x="connsiteX1" y="connsiteY1"/>
              </a:cxn>
              <a:cxn ang="0">
                <a:pos x="connsiteX2" y="connsiteY2"/>
              </a:cxn>
            </a:cxnLst>
            <a:rect l="l" t="t" r="r" b="b"/>
            <a:pathLst>
              <a:path w="984069" h="775063">
                <a:moveTo>
                  <a:pt x="0" y="775063"/>
                </a:moveTo>
                <a:lnTo>
                  <a:pt x="984069" y="775063"/>
                </a:lnTo>
                <a:lnTo>
                  <a:pt x="984069" y="0"/>
                </a:lnTo>
              </a:path>
            </a:pathLst>
          </a:cu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5" name="直接箭头连接符 34"/>
          <p:cNvCxnSpPr/>
          <p:nvPr/>
        </p:nvCxnSpPr>
        <p:spPr bwMode="gray">
          <a:xfrm flipH="1">
            <a:off x="1643690" y="3469287"/>
            <a:ext cx="1370307" cy="629756"/>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bwMode="gray">
          <a:xfrm>
            <a:off x="4916389" y="4660899"/>
            <a:ext cx="952332" cy="0"/>
          </a:xfrm>
          <a:prstGeom prst="straightConnector1">
            <a:avLst/>
          </a:prstGeom>
          <a:ln w="19050">
            <a:solidFill>
              <a:srgbClr val="62B23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bwMode="gray">
          <a:xfrm>
            <a:off x="2038414" y="5433361"/>
            <a:ext cx="2223194"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bwMode="gray">
          <a:xfrm>
            <a:off x="4916389" y="5433361"/>
            <a:ext cx="952332" cy="0"/>
          </a:xfrm>
          <a:prstGeom prst="straightConnector1">
            <a:avLst/>
          </a:prstGeom>
          <a:ln w="19050">
            <a:solidFill>
              <a:srgbClr val="62B23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椭圆 41"/>
          <p:cNvSpPr/>
          <p:nvPr/>
        </p:nvSpPr>
        <p:spPr bwMode="gray">
          <a:xfrm>
            <a:off x="2615602" y="3984417"/>
            <a:ext cx="144000" cy="144000"/>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a:t>
            </a:r>
            <a:endParaRPr lang="zh-CN" altLang="en-US" sz="1200" dirty="0"/>
          </a:p>
        </p:txBody>
      </p:sp>
      <p:sp>
        <p:nvSpPr>
          <p:cNvPr id="43" name="椭圆 42"/>
          <p:cNvSpPr/>
          <p:nvPr/>
        </p:nvSpPr>
        <p:spPr bwMode="gray">
          <a:xfrm>
            <a:off x="1568789" y="3871904"/>
            <a:ext cx="144000" cy="144000"/>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2</a:t>
            </a:r>
            <a:endParaRPr lang="zh-CN" altLang="en-US" sz="1200" dirty="0"/>
          </a:p>
        </p:txBody>
      </p:sp>
      <p:sp>
        <p:nvSpPr>
          <p:cNvPr id="44" name="椭圆 43"/>
          <p:cNvSpPr/>
          <p:nvPr/>
        </p:nvSpPr>
        <p:spPr bwMode="gray">
          <a:xfrm>
            <a:off x="2038427" y="4745462"/>
            <a:ext cx="144000" cy="144000"/>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3</a:t>
            </a:r>
            <a:endParaRPr lang="zh-CN" altLang="en-US" sz="1200" dirty="0"/>
          </a:p>
        </p:txBody>
      </p:sp>
      <p:sp>
        <p:nvSpPr>
          <p:cNvPr id="48" name="文本框 47"/>
          <p:cNvSpPr txBox="1"/>
          <p:nvPr/>
        </p:nvSpPr>
        <p:spPr bwMode="gray">
          <a:xfrm>
            <a:off x="1580076" y="4083070"/>
            <a:ext cx="1553631" cy="276999"/>
          </a:xfrm>
          <a:prstGeom prst="rect">
            <a:avLst/>
          </a:prstGeom>
          <a:noFill/>
        </p:spPr>
        <p:txBody>
          <a:bodyPr wrap="none" rtlCol="0">
            <a:spAutoFit/>
          </a:bodyPr>
          <a:lstStyle/>
          <a:p>
            <a:pPr algn="ctr"/>
            <a:r>
              <a:rPr lang="en-US" altLang="zh-CN" sz="1200" dirty="0" smtClean="0">
                <a:cs typeface="Arial" panose="020B0604020202020204" pitchFamily="34" charset="0"/>
              </a:rPr>
              <a:t>DNS AAAA Request</a:t>
            </a:r>
            <a:endParaRPr lang="en-US" sz="1200" dirty="0">
              <a:cs typeface="Arial" panose="020B0604020202020204" pitchFamily="34" charset="0"/>
            </a:endParaRPr>
          </a:p>
        </p:txBody>
      </p:sp>
      <p:sp>
        <p:nvSpPr>
          <p:cNvPr id="51" name="文本框 50"/>
          <p:cNvSpPr txBox="1"/>
          <p:nvPr/>
        </p:nvSpPr>
        <p:spPr bwMode="gray">
          <a:xfrm rot="20118772">
            <a:off x="1515686" y="3344062"/>
            <a:ext cx="1489510" cy="461665"/>
          </a:xfrm>
          <a:prstGeom prst="rect">
            <a:avLst/>
          </a:prstGeom>
          <a:noFill/>
        </p:spPr>
        <p:txBody>
          <a:bodyPr wrap="none" rtlCol="0">
            <a:spAutoFit/>
          </a:bodyPr>
          <a:lstStyle/>
          <a:p>
            <a:r>
              <a:rPr lang="en-US" altLang="zh-CN" sz="1200" dirty="0" smtClean="0">
                <a:cs typeface="Arial" panose="020B0604020202020204" pitchFamily="34" charset="0"/>
              </a:rPr>
              <a:t>DNS AAAA Reply</a:t>
            </a:r>
          </a:p>
          <a:p>
            <a:r>
              <a:rPr lang="en-US" sz="1200" dirty="0" smtClean="0">
                <a:cs typeface="Arial" panose="020B0604020202020204" pitchFamily="34" charset="0"/>
              </a:rPr>
              <a:t>(64:FF9B::101:101)</a:t>
            </a:r>
            <a:endParaRPr lang="en-US" sz="1200" dirty="0">
              <a:cs typeface="Arial" panose="020B0604020202020204" pitchFamily="34" charset="0"/>
            </a:endParaRPr>
          </a:p>
        </p:txBody>
      </p:sp>
      <p:sp>
        <p:nvSpPr>
          <p:cNvPr id="52" name="文本框 51"/>
          <p:cNvSpPr txBox="1"/>
          <p:nvPr/>
        </p:nvSpPr>
        <p:spPr bwMode="gray">
          <a:xfrm>
            <a:off x="2148764" y="4682653"/>
            <a:ext cx="2310248" cy="646331"/>
          </a:xfrm>
          <a:prstGeom prst="rect">
            <a:avLst/>
          </a:prstGeom>
          <a:noFill/>
        </p:spPr>
        <p:txBody>
          <a:bodyPr wrap="none" rtlCol="0">
            <a:spAutoFit/>
          </a:bodyPr>
          <a:lstStyle/>
          <a:p>
            <a:r>
              <a:rPr lang="en-US" altLang="zh-CN" sz="1200" dirty="0">
                <a:cs typeface="Arial" panose="020B0604020202020204" pitchFamily="34" charset="0"/>
              </a:rPr>
              <a:t>HTTP</a:t>
            </a:r>
            <a:r>
              <a:rPr lang="en-US" altLang="zh-CN" sz="1200" dirty="0" smtClean="0">
                <a:cs typeface="Arial" panose="020B0604020202020204" pitchFamily="34" charset="0"/>
              </a:rPr>
              <a:t> Request</a:t>
            </a:r>
          </a:p>
          <a:p>
            <a:r>
              <a:rPr lang="en-US" sz="1200" dirty="0" smtClean="0">
                <a:cs typeface="Arial" panose="020B0604020202020204" pitchFamily="34" charset="0"/>
              </a:rPr>
              <a:t>SA/Port</a:t>
            </a:r>
            <a:r>
              <a:rPr lang="zh-CN" altLang="en-US" sz="1200" dirty="0" smtClean="0">
                <a:cs typeface="Arial" panose="020B0604020202020204" pitchFamily="34" charset="0"/>
              </a:rPr>
              <a:t>：</a:t>
            </a:r>
            <a:r>
              <a:rPr lang="en-US" altLang="zh-CN" sz="1200" dirty="0" smtClean="0">
                <a:cs typeface="Arial" panose="020B0604020202020204" pitchFamily="34" charset="0"/>
              </a:rPr>
              <a:t>2001:DB8::2/90</a:t>
            </a:r>
          </a:p>
          <a:p>
            <a:r>
              <a:rPr lang="en-US" sz="1200" dirty="0" smtClean="0">
                <a:cs typeface="Arial" panose="020B0604020202020204" pitchFamily="34" charset="0"/>
              </a:rPr>
              <a:t>DA/Port</a:t>
            </a:r>
            <a:r>
              <a:rPr lang="zh-CN" altLang="en-US" sz="1200" dirty="0" smtClean="0">
                <a:cs typeface="Arial" panose="020B0604020202020204" pitchFamily="34" charset="0"/>
              </a:rPr>
              <a:t>：</a:t>
            </a:r>
            <a:r>
              <a:rPr lang="en-US" altLang="zh-CN" sz="1200" dirty="0" smtClean="0">
                <a:solidFill>
                  <a:srgbClr val="ED6D00"/>
                </a:solidFill>
                <a:cs typeface="Arial" panose="020B0604020202020204" pitchFamily="34" charset="0"/>
              </a:rPr>
              <a:t>64:FF9B</a:t>
            </a:r>
            <a:r>
              <a:rPr lang="en-US" altLang="zh-CN" sz="1200" dirty="0">
                <a:solidFill>
                  <a:srgbClr val="ED6D00"/>
                </a:solidFill>
                <a:cs typeface="Arial" panose="020B0604020202020204" pitchFamily="34" charset="0"/>
              </a:rPr>
              <a:t>::</a:t>
            </a:r>
            <a:r>
              <a:rPr lang="en-US" altLang="zh-CN" sz="1200" dirty="0" smtClean="0">
                <a:solidFill>
                  <a:srgbClr val="ED6D00"/>
                </a:solidFill>
                <a:cs typeface="Arial" panose="020B0604020202020204" pitchFamily="34" charset="0"/>
              </a:rPr>
              <a:t>101:101/80</a:t>
            </a:r>
            <a:endParaRPr lang="en-US" sz="1200" dirty="0">
              <a:solidFill>
                <a:srgbClr val="ED6D00"/>
              </a:solidFill>
              <a:cs typeface="Arial" panose="020B0604020202020204" pitchFamily="34" charset="0"/>
            </a:endParaRPr>
          </a:p>
        </p:txBody>
      </p:sp>
      <p:sp>
        <p:nvSpPr>
          <p:cNvPr id="53" name="文本框 52"/>
          <p:cNvSpPr txBox="1"/>
          <p:nvPr/>
        </p:nvSpPr>
        <p:spPr bwMode="gray">
          <a:xfrm>
            <a:off x="685136" y="4811625"/>
            <a:ext cx="1247457" cy="276999"/>
          </a:xfrm>
          <a:prstGeom prst="rect">
            <a:avLst/>
          </a:prstGeom>
          <a:noFill/>
        </p:spPr>
        <p:txBody>
          <a:bodyPr wrap="none" rtlCol="0">
            <a:spAutoFit/>
          </a:bodyPr>
          <a:lstStyle/>
          <a:p>
            <a:pPr algn="ctr"/>
            <a:r>
              <a:rPr lang="en-US" altLang="zh-CN" sz="1200" dirty="0" smtClean="0">
                <a:cs typeface="Arial" panose="020B0604020202020204" pitchFamily="34" charset="0"/>
              </a:rPr>
              <a:t>2001:DB8::2</a:t>
            </a:r>
            <a:r>
              <a:rPr lang="en-US" altLang="zh-CN" sz="1200" dirty="0">
                <a:cs typeface="Arial" panose="020B0604020202020204" pitchFamily="34" charset="0"/>
              </a:rPr>
              <a:t>/</a:t>
            </a:r>
            <a:r>
              <a:rPr lang="en-US" altLang="zh-CN" sz="1200" dirty="0" smtClean="0">
                <a:cs typeface="Arial" panose="020B0604020202020204" pitchFamily="34" charset="0"/>
              </a:rPr>
              <a:t>64</a:t>
            </a:r>
            <a:endParaRPr lang="en-US" sz="1200" dirty="0">
              <a:cs typeface="Arial" panose="020B0604020202020204" pitchFamily="34" charset="0"/>
            </a:endParaRPr>
          </a:p>
        </p:txBody>
      </p:sp>
      <p:sp>
        <p:nvSpPr>
          <p:cNvPr id="59" name="椭圆 58"/>
          <p:cNvSpPr/>
          <p:nvPr/>
        </p:nvSpPr>
        <p:spPr bwMode="gray">
          <a:xfrm>
            <a:off x="4747160" y="4745462"/>
            <a:ext cx="144000" cy="144000"/>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4</a:t>
            </a:r>
            <a:endParaRPr lang="zh-CN" altLang="en-US" sz="1200" dirty="0"/>
          </a:p>
        </p:txBody>
      </p:sp>
      <p:sp>
        <p:nvSpPr>
          <p:cNvPr id="60" name="文本框 59"/>
          <p:cNvSpPr txBox="1"/>
          <p:nvPr/>
        </p:nvSpPr>
        <p:spPr bwMode="gray">
          <a:xfrm>
            <a:off x="4857497" y="4682653"/>
            <a:ext cx="1728358" cy="646331"/>
          </a:xfrm>
          <a:prstGeom prst="rect">
            <a:avLst/>
          </a:prstGeom>
          <a:noFill/>
        </p:spPr>
        <p:txBody>
          <a:bodyPr wrap="none" rtlCol="0">
            <a:spAutoFit/>
          </a:bodyPr>
          <a:lstStyle/>
          <a:p>
            <a:r>
              <a:rPr lang="en-US" altLang="zh-CN" sz="1200" dirty="0">
                <a:cs typeface="Arial" panose="020B0604020202020204" pitchFamily="34" charset="0"/>
              </a:rPr>
              <a:t>HTTP</a:t>
            </a:r>
            <a:r>
              <a:rPr lang="en-US" altLang="zh-CN" sz="1200" dirty="0" smtClean="0">
                <a:cs typeface="Arial" panose="020B0604020202020204" pitchFamily="34" charset="0"/>
              </a:rPr>
              <a:t> Request</a:t>
            </a:r>
          </a:p>
          <a:p>
            <a:r>
              <a:rPr lang="en-US" sz="1200" dirty="0" smtClean="0">
                <a:cs typeface="Arial" panose="020B0604020202020204" pitchFamily="34" charset="0"/>
              </a:rPr>
              <a:t>SA/Port</a:t>
            </a:r>
            <a:r>
              <a:rPr lang="zh-CN" altLang="en-US" sz="1200" dirty="0" smtClean="0">
                <a:cs typeface="Arial" panose="020B0604020202020204" pitchFamily="34" charset="0"/>
              </a:rPr>
              <a:t>：</a:t>
            </a:r>
            <a:r>
              <a:rPr lang="en-US" altLang="zh-CN" sz="1200" dirty="0" smtClean="0">
                <a:solidFill>
                  <a:srgbClr val="C7000B"/>
                </a:solidFill>
                <a:cs typeface="Arial" panose="020B0604020202020204" pitchFamily="34" charset="0"/>
              </a:rPr>
              <a:t>2.1.1.10/190</a:t>
            </a:r>
          </a:p>
          <a:p>
            <a:r>
              <a:rPr lang="en-US" sz="1200" dirty="0" smtClean="0">
                <a:cs typeface="Arial" panose="020B0604020202020204" pitchFamily="34" charset="0"/>
              </a:rPr>
              <a:t>DA/Port</a:t>
            </a:r>
            <a:r>
              <a:rPr lang="zh-CN" altLang="en-US" sz="1200" dirty="0" smtClean="0">
                <a:cs typeface="Arial" panose="020B0604020202020204" pitchFamily="34" charset="0"/>
              </a:rPr>
              <a:t>：</a:t>
            </a:r>
            <a:r>
              <a:rPr lang="en-US" altLang="zh-CN" sz="1200" dirty="0" smtClean="0">
                <a:cs typeface="Arial" panose="020B0604020202020204" pitchFamily="34" charset="0"/>
              </a:rPr>
              <a:t>1.1.1.1/80</a:t>
            </a:r>
            <a:endParaRPr lang="en-US" sz="1200" dirty="0">
              <a:cs typeface="Arial" panose="020B0604020202020204" pitchFamily="34" charset="0"/>
            </a:endParaRPr>
          </a:p>
        </p:txBody>
      </p:sp>
      <p:sp>
        <p:nvSpPr>
          <p:cNvPr id="61" name="文本框 60"/>
          <p:cNvSpPr txBox="1"/>
          <p:nvPr/>
        </p:nvSpPr>
        <p:spPr bwMode="gray">
          <a:xfrm>
            <a:off x="7021889" y="3898404"/>
            <a:ext cx="1651413" cy="461665"/>
          </a:xfrm>
          <a:prstGeom prst="rect">
            <a:avLst/>
          </a:prstGeom>
          <a:noFill/>
        </p:spPr>
        <p:txBody>
          <a:bodyPr wrap="none" rtlCol="0">
            <a:spAutoFit/>
          </a:bodyPr>
          <a:lstStyle/>
          <a:p>
            <a:r>
              <a:rPr lang="en-US" altLang="zh-CN" sz="1200" dirty="0" smtClean="0">
                <a:cs typeface="Arial" panose="020B0604020202020204" pitchFamily="34" charset="0"/>
              </a:rPr>
              <a:t>example.huawei.com</a:t>
            </a:r>
          </a:p>
          <a:p>
            <a:r>
              <a:rPr lang="en-US" sz="1200" dirty="0" smtClean="0">
                <a:cs typeface="Arial" panose="020B0604020202020204" pitchFamily="34" charset="0"/>
              </a:rPr>
              <a:t>1.1.1.1</a:t>
            </a:r>
            <a:endParaRPr lang="en-US" sz="1200" dirty="0">
              <a:cs typeface="Arial" panose="020B0604020202020204" pitchFamily="34" charset="0"/>
            </a:endParaRPr>
          </a:p>
        </p:txBody>
      </p:sp>
      <p:sp>
        <p:nvSpPr>
          <p:cNvPr id="62" name="椭圆 61"/>
          <p:cNvSpPr/>
          <p:nvPr/>
        </p:nvSpPr>
        <p:spPr bwMode="gray">
          <a:xfrm>
            <a:off x="2038427" y="5517357"/>
            <a:ext cx="144000" cy="144000"/>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6</a:t>
            </a:r>
            <a:endParaRPr lang="zh-CN" altLang="en-US" sz="1200" dirty="0"/>
          </a:p>
        </p:txBody>
      </p:sp>
      <p:sp>
        <p:nvSpPr>
          <p:cNvPr id="63" name="文本框 62"/>
          <p:cNvSpPr txBox="1"/>
          <p:nvPr/>
        </p:nvSpPr>
        <p:spPr bwMode="gray">
          <a:xfrm>
            <a:off x="2148764" y="5454548"/>
            <a:ext cx="2310248" cy="646331"/>
          </a:xfrm>
          <a:prstGeom prst="rect">
            <a:avLst/>
          </a:prstGeom>
          <a:noFill/>
        </p:spPr>
        <p:txBody>
          <a:bodyPr wrap="none" rtlCol="0">
            <a:spAutoFit/>
          </a:bodyPr>
          <a:lstStyle/>
          <a:p>
            <a:r>
              <a:rPr lang="en-US" altLang="zh-CN" sz="1200" dirty="0">
                <a:cs typeface="Arial" panose="020B0604020202020204" pitchFamily="34" charset="0"/>
              </a:rPr>
              <a:t>HTTP</a:t>
            </a:r>
            <a:r>
              <a:rPr lang="en-US" altLang="zh-CN" sz="1200" dirty="0" smtClean="0">
                <a:cs typeface="Arial" panose="020B0604020202020204" pitchFamily="34" charset="0"/>
              </a:rPr>
              <a:t> Reply</a:t>
            </a:r>
          </a:p>
          <a:p>
            <a:r>
              <a:rPr lang="en-US" sz="1200" dirty="0" smtClean="0">
                <a:cs typeface="Arial" panose="020B0604020202020204" pitchFamily="34" charset="0"/>
              </a:rPr>
              <a:t>SA/Port</a:t>
            </a:r>
            <a:r>
              <a:rPr lang="zh-CN" altLang="en-US" sz="1200" dirty="0" smtClean="0">
                <a:cs typeface="Arial" panose="020B0604020202020204" pitchFamily="34" charset="0"/>
              </a:rPr>
              <a:t>：</a:t>
            </a:r>
            <a:r>
              <a:rPr lang="en-US" altLang="zh-CN" sz="1200" dirty="0" smtClean="0">
                <a:solidFill>
                  <a:srgbClr val="ED6D00"/>
                </a:solidFill>
                <a:cs typeface="Arial" panose="020B0604020202020204" pitchFamily="34" charset="0"/>
              </a:rPr>
              <a:t>64:FF9B</a:t>
            </a:r>
            <a:r>
              <a:rPr lang="en-US" altLang="zh-CN" sz="1200" dirty="0">
                <a:solidFill>
                  <a:srgbClr val="ED6D00"/>
                </a:solidFill>
                <a:cs typeface="Arial" panose="020B0604020202020204" pitchFamily="34" charset="0"/>
              </a:rPr>
              <a:t>::101:101/80</a:t>
            </a:r>
            <a:endParaRPr lang="en-US" altLang="zh-CN" sz="1200" dirty="0" smtClean="0">
              <a:cs typeface="Arial" panose="020B0604020202020204" pitchFamily="34" charset="0"/>
            </a:endParaRPr>
          </a:p>
          <a:p>
            <a:r>
              <a:rPr lang="en-US" sz="1200" dirty="0" smtClean="0">
                <a:cs typeface="Arial" panose="020B0604020202020204" pitchFamily="34" charset="0"/>
              </a:rPr>
              <a:t>DA/Port</a:t>
            </a:r>
            <a:r>
              <a:rPr lang="zh-CN" altLang="en-US" sz="1200" dirty="0" smtClean="0">
                <a:cs typeface="Arial" panose="020B0604020202020204" pitchFamily="34" charset="0"/>
              </a:rPr>
              <a:t>：</a:t>
            </a:r>
            <a:r>
              <a:rPr lang="en-US" altLang="zh-CN" sz="1200" dirty="0">
                <a:cs typeface="Arial" panose="020B0604020202020204" pitchFamily="34" charset="0"/>
              </a:rPr>
              <a:t>2001:DB8::2/90</a:t>
            </a:r>
          </a:p>
        </p:txBody>
      </p:sp>
      <p:sp>
        <p:nvSpPr>
          <p:cNvPr id="64" name="椭圆 63"/>
          <p:cNvSpPr/>
          <p:nvPr/>
        </p:nvSpPr>
        <p:spPr bwMode="gray">
          <a:xfrm>
            <a:off x="4747160" y="5517357"/>
            <a:ext cx="144000" cy="144000"/>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5</a:t>
            </a:r>
            <a:endParaRPr lang="zh-CN" altLang="en-US" sz="1200" dirty="0"/>
          </a:p>
        </p:txBody>
      </p:sp>
      <p:sp>
        <p:nvSpPr>
          <p:cNvPr id="65" name="文本框 64"/>
          <p:cNvSpPr txBox="1"/>
          <p:nvPr/>
        </p:nvSpPr>
        <p:spPr bwMode="gray">
          <a:xfrm>
            <a:off x="4857497" y="5454548"/>
            <a:ext cx="1758815" cy="646331"/>
          </a:xfrm>
          <a:prstGeom prst="rect">
            <a:avLst/>
          </a:prstGeom>
          <a:noFill/>
        </p:spPr>
        <p:txBody>
          <a:bodyPr wrap="none" rtlCol="0">
            <a:spAutoFit/>
          </a:bodyPr>
          <a:lstStyle/>
          <a:p>
            <a:r>
              <a:rPr lang="en-US" altLang="zh-CN" sz="1200" dirty="0">
                <a:cs typeface="Arial" panose="020B0604020202020204" pitchFamily="34" charset="0"/>
              </a:rPr>
              <a:t>HTTP</a:t>
            </a:r>
            <a:r>
              <a:rPr lang="en-US" altLang="zh-CN" sz="1200" dirty="0" smtClean="0">
                <a:cs typeface="Arial" panose="020B0604020202020204" pitchFamily="34" charset="0"/>
              </a:rPr>
              <a:t> Reply</a:t>
            </a:r>
          </a:p>
          <a:p>
            <a:r>
              <a:rPr lang="en-US" sz="1200" dirty="0" smtClean="0">
                <a:cs typeface="Arial" panose="020B0604020202020204" pitchFamily="34" charset="0"/>
              </a:rPr>
              <a:t>SA/Port</a:t>
            </a:r>
            <a:r>
              <a:rPr lang="zh-CN" altLang="en-US" sz="1200" dirty="0" smtClean="0">
                <a:cs typeface="Arial" panose="020B0604020202020204" pitchFamily="34" charset="0"/>
              </a:rPr>
              <a:t>：</a:t>
            </a:r>
            <a:r>
              <a:rPr lang="en-US" altLang="zh-CN" sz="1200" dirty="0">
                <a:cs typeface="Arial" panose="020B0604020202020204" pitchFamily="34" charset="0"/>
              </a:rPr>
              <a:t>1.1.1.1/80</a:t>
            </a:r>
          </a:p>
          <a:p>
            <a:r>
              <a:rPr lang="en-US" sz="1200" dirty="0" smtClean="0">
                <a:cs typeface="Arial" panose="020B0604020202020204" pitchFamily="34" charset="0"/>
              </a:rPr>
              <a:t>DA/Port</a:t>
            </a:r>
            <a:r>
              <a:rPr lang="zh-CN" altLang="en-US" sz="1200" dirty="0" smtClean="0">
                <a:cs typeface="Arial" panose="020B0604020202020204" pitchFamily="34" charset="0"/>
              </a:rPr>
              <a:t>：</a:t>
            </a:r>
            <a:r>
              <a:rPr lang="en-US" altLang="zh-CN" sz="1200" dirty="0">
                <a:solidFill>
                  <a:srgbClr val="C7000B"/>
                </a:solidFill>
                <a:cs typeface="Arial" panose="020B0604020202020204" pitchFamily="34" charset="0"/>
              </a:rPr>
              <a:t>2.1.1.10/190</a:t>
            </a:r>
          </a:p>
        </p:txBody>
      </p:sp>
      <p:sp>
        <p:nvSpPr>
          <p:cNvPr id="66" name="文本框 65"/>
          <p:cNvSpPr txBox="1"/>
          <p:nvPr/>
        </p:nvSpPr>
        <p:spPr bwMode="gray">
          <a:xfrm>
            <a:off x="4639934" y="3551014"/>
            <a:ext cx="1428596" cy="461665"/>
          </a:xfrm>
          <a:prstGeom prst="rect">
            <a:avLst/>
          </a:prstGeom>
          <a:solidFill>
            <a:schemeClr val="bg1">
              <a:lumMod val="95000"/>
            </a:schemeClr>
          </a:solidFill>
          <a:ln>
            <a:solidFill>
              <a:schemeClr val="bg1">
                <a:lumMod val="75000"/>
              </a:schemeClr>
            </a:solidFill>
            <a:prstDash val="dash"/>
          </a:ln>
        </p:spPr>
        <p:txBody>
          <a:bodyPr wrap="none" rtlCol="0">
            <a:spAutoFit/>
          </a:bodyPr>
          <a:lstStyle/>
          <a:p>
            <a:pPr algn="ctr"/>
            <a:r>
              <a:rPr lang="en-US" altLang="zh-CN" sz="1200" dirty="0" smtClean="0">
                <a:cs typeface="Arial" panose="020B0604020202020204" pitchFamily="34" charset="0"/>
              </a:rPr>
              <a:t>IPv4 Address Pool</a:t>
            </a:r>
          </a:p>
          <a:p>
            <a:pPr algn="ctr"/>
            <a:r>
              <a:rPr lang="en-US" altLang="zh-CN" sz="1200" dirty="0" smtClean="0">
                <a:cs typeface="Arial" panose="020B0604020202020204" pitchFamily="34" charset="0"/>
              </a:rPr>
              <a:t>2.1.1.10/24</a:t>
            </a:r>
            <a:endParaRPr lang="en-US" altLang="zh-CN" sz="1200" dirty="0">
              <a:cs typeface="Arial" panose="020B0604020202020204" pitchFamily="34" charset="0"/>
            </a:endParaRPr>
          </a:p>
        </p:txBody>
      </p:sp>
      <p:grpSp>
        <p:nvGrpSpPr>
          <p:cNvPr id="81" name="组合 80"/>
          <p:cNvGrpSpPr/>
          <p:nvPr/>
        </p:nvGrpSpPr>
        <p:grpSpPr bwMode="gray">
          <a:xfrm>
            <a:off x="3861643" y="2172431"/>
            <a:ext cx="1674618" cy="1148516"/>
            <a:chOff x="6250182" y="4332511"/>
            <a:chExt cx="1674618" cy="1148516"/>
          </a:xfrm>
        </p:grpSpPr>
        <p:sp>
          <p:nvSpPr>
            <p:cNvPr id="80" name="文本框 79"/>
            <p:cNvSpPr txBox="1"/>
            <p:nvPr/>
          </p:nvSpPr>
          <p:spPr bwMode="gray">
            <a:xfrm>
              <a:off x="6250182" y="4374024"/>
              <a:ext cx="1613657" cy="1089195"/>
            </a:xfrm>
            <a:prstGeom prst="rect">
              <a:avLst/>
            </a:prstGeom>
            <a:solidFill>
              <a:schemeClr val="bg1">
                <a:lumMod val="95000"/>
              </a:schemeClr>
            </a:solidFill>
            <a:ln>
              <a:solidFill>
                <a:schemeClr val="bg1">
                  <a:lumMod val="75000"/>
                </a:schemeClr>
              </a:solidFill>
              <a:prstDash val="dash"/>
            </a:ln>
          </p:spPr>
          <p:txBody>
            <a:bodyPr wrap="square" rtlCol="0">
              <a:noAutofit/>
            </a:bodyPr>
            <a:lstStyle/>
            <a:p>
              <a:pPr algn="ctr"/>
              <a:endParaRPr lang="en-US" altLang="zh-CN" sz="1200" dirty="0">
                <a:cs typeface="Arial" panose="020B0604020202020204" pitchFamily="34" charset="0"/>
              </a:endParaRPr>
            </a:p>
          </p:txBody>
        </p:sp>
        <p:sp>
          <p:nvSpPr>
            <p:cNvPr id="67" name="文本框 66"/>
            <p:cNvSpPr txBox="1"/>
            <p:nvPr/>
          </p:nvSpPr>
          <p:spPr bwMode="gray">
            <a:xfrm>
              <a:off x="6250183" y="4735668"/>
              <a:ext cx="1674617" cy="276999"/>
            </a:xfrm>
            <a:prstGeom prst="rect">
              <a:avLst/>
            </a:prstGeom>
            <a:noFill/>
            <a:ln>
              <a:noFill/>
              <a:prstDash val="dash"/>
            </a:ln>
          </p:spPr>
          <p:txBody>
            <a:bodyPr wrap="square" rtlCol="0">
              <a:spAutoFit/>
            </a:bodyPr>
            <a:lstStyle/>
            <a:p>
              <a:pPr algn="ctr"/>
              <a:r>
                <a:rPr lang="en-US" altLang="zh-CN" sz="1200" dirty="0">
                  <a:cs typeface="Arial" panose="020B0604020202020204" pitchFamily="34" charset="0"/>
                </a:rPr>
                <a:t>64:FF9B</a:t>
              </a:r>
              <a:r>
                <a:rPr lang="en-US" altLang="zh-CN" sz="1200" dirty="0" smtClean="0">
                  <a:cs typeface="Arial" panose="020B0604020202020204" pitchFamily="34" charset="0"/>
                </a:rPr>
                <a:t>::</a:t>
              </a:r>
              <a:r>
                <a:rPr lang="en-US" altLang="zh-CN" sz="1200" dirty="0" smtClean="0">
                  <a:solidFill>
                    <a:srgbClr val="ED6D00"/>
                  </a:solidFill>
                  <a:cs typeface="Arial" panose="020B0604020202020204" pitchFamily="34" charset="0"/>
                </a:rPr>
                <a:t>0101</a:t>
              </a:r>
              <a:r>
                <a:rPr lang="en-US" altLang="zh-CN" sz="1200" dirty="0" smtClean="0">
                  <a:cs typeface="Arial" panose="020B0604020202020204" pitchFamily="34" charset="0"/>
                </a:rPr>
                <a:t>:</a:t>
              </a:r>
              <a:r>
                <a:rPr lang="en-US" altLang="zh-CN" sz="1200" dirty="0" smtClean="0">
                  <a:solidFill>
                    <a:srgbClr val="C7000B"/>
                  </a:solidFill>
                  <a:cs typeface="Arial" panose="020B0604020202020204" pitchFamily="34" charset="0"/>
                </a:rPr>
                <a:t>0101</a:t>
              </a:r>
              <a:endParaRPr lang="en-US" altLang="zh-CN" sz="1200" dirty="0">
                <a:solidFill>
                  <a:srgbClr val="C7000B"/>
                </a:solidFill>
                <a:cs typeface="Arial" panose="020B0604020202020204" pitchFamily="34" charset="0"/>
              </a:endParaRPr>
            </a:p>
          </p:txBody>
        </p:sp>
        <p:sp>
          <p:nvSpPr>
            <p:cNvPr id="68" name="文本框 67"/>
            <p:cNvSpPr txBox="1"/>
            <p:nvPr/>
          </p:nvSpPr>
          <p:spPr bwMode="gray">
            <a:xfrm>
              <a:off x="7061366" y="4332511"/>
              <a:ext cx="647943" cy="276999"/>
            </a:xfrm>
            <a:prstGeom prst="rect">
              <a:avLst/>
            </a:prstGeom>
            <a:noFill/>
            <a:ln>
              <a:noFill/>
              <a:prstDash val="dash"/>
            </a:ln>
          </p:spPr>
          <p:txBody>
            <a:bodyPr wrap="square" rtlCol="0">
              <a:spAutoFit/>
            </a:bodyPr>
            <a:lstStyle/>
            <a:p>
              <a:pPr algn="ctr"/>
              <a:r>
                <a:rPr lang="en-US" altLang="zh-CN" sz="1200" dirty="0" smtClean="0">
                  <a:solidFill>
                    <a:srgbClr val="ED6D00"/>
                  </a:solidFill>
                  <a:cs typeface="Arial" panose="020B0604020202020204" pitchFamily="34" charset="0"/>
                </a:rPr>
                <a:t>1.1.</a:t>
              </a:r>
              <a:r>
                <a:rPr lang="en-US" altLang="zh-CN" sz="1200" dirty="0" smtClean="0">
                  <a:solidFill>
                    <a:srgbClr val="C7000B"/>
                  </a:solidFill>
                  <a:cs typeface="Arial" panose="020B0604020202020204" pitchFamily="34" charset="0"/>
                </a:rPr>
                <a:t>1.1</a:t>
              </a:r>
              <a:endParaRPr lang="en-US" altLang="zh-CN" sz="1200" dirty="0">
                <a:solidFill>
                  <a:srgbClr val="C7000B"/>
                </a:solidFill>
                <a:cs typeface="Arial" panose="020B0604020202020204" pitchFamily="34" charset="0"/>
              </a:endParaRPr>
            </a:p>
          </p:txBody>
        </p:sp>
        <p:cxnSp>
          <p:nvCxnSpPr>
            <p:cNvPr id="69" name="直接箭头连接符 68"/>
            <p:cNvCxnSpPr/>
            <p:nvPr/>
          </p:nvCxnSpPr>
          <p:spPr bwMode="gray">
            <a:xfrm flipH="1">
              <a:off x="7201989" y="4609510"/>
              <a:ext cx="69668" cy="126158"/>
            </a:xfrm>
            <a:prstGeom prst="straightConnector1">
              <a:avLst/>
            </a:prstGeom>
            <a:ln w="12700">
              <a:solidFill>
                <a:srgbClr val="ED6D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bwMode="gray">
            <a:xfrm>
              <a:off x="7528560" y="4609510"/>
              <a:ext cx="69668" cy="126158"/>
            </a:xfrm>
            <a:prstGeom prst="straightConnector1">
              <a:avLst/>
            </a:prstGeom>
            <a:ln w="12700">
              <a:solidFill>
                <a:srgbClr val="C7000B"/>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右大括号 75"/>
            <p:cNvSpPr/>
            <p:nvPr/>
          </p:nvSpPr>
          <p:spPr bwMode="gray">
            <a:xfrm rot="5400000">
              <a:off x="6610519" y="4859994"/>
              <a:ext cx="139339" cy="496707"/>
            </a:xfrm>
            <a:prstGeom prst="rightBrac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 name="文本框 76"/>
            <p:cNvSpPr txBox="1"/>
            <p:nvPr/>
          </p:nvSpPr>
          <p:spPr bwMode="gray">
            <a:xfrm>
              <a:off x="6385876" y="5204028"/>
              <a:ext cx="588623" cy="276999"/>
            </a:xfrm>
            <a:prstGeom prst="rect">
              <a:avLst/>
            </a:prstGeom>
            <a:noFill/>
          </p:spPr>
          <p:txBody>
            <a:bodyPr wrap="none" rtlCol="0">
              <a:spAutoFit/>
            </a:bodyPr>
            <a:lstStyle/>
            <a:p>
              <a:pPr algn="ctr"/>
              <a:r>
                <a:rPr lang="en-US" altLang="zh-CN" sz="1200" dirty="0" smtClean="0">
                  <a:cs typeface="Arial" panose="020B0604020202020204" pitchFamily="34" charset="0"/>
                </a:rPr>
                <a:t>96 bit</a:t>
              </a:r>
              <a:endParaRPr lang="en-US" sz="1200" dirty="0">
                <a:cs typeface="Arial" panose="020B0604020202020204" pitchFamily="34" charset="0"/>
              </a:endParaRPr>
            </a:p>
          </p:txBody>
        </p:sp>
        <p:sp>
          <p:nvSpPr>
            <p:cNvPr id="78" name="右大括号 77"/>
            <p:cNvSpPr/>
            <p:nvPr/>
          </p:nvSpPr>
          <p:spPr bwMode="gray">
            <a:xfrm rot="5400000">
              <a:off x="7295684" y="4790404"/>
              <a:ext cx="165350" cy="661898"/>
            </a:xfrm>
            <a:prstGeom prst="rightBrac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 name="文本框 78"/>
            <p:cNvSpPr txBox="1"/>
            <p:nvPr/>
          </p:nvSpPr>
          <p:spPr bwMode="gray">
            <a:xfrm>
              <a:off x="7091025" y="5204028"/>
              <a:ext cx="588624" cy="276999"/>
            </a:xfrm>
            <a:prstGeom prst="rect">
              <a:avLst/>
            </a:prstGeom>
            <a:noFill/>
          </p:spPr>
          <p:txBody>
            <a:bodyPr wrap="none" rtlCol="0">
              <a:spAutoFit/>
            </a:bodyPr>
            <a:lstStyle/>
            <a:p>
              <a:pPr algn="ctr"/>
              <a:r>
                <a:rPr lang="en-US" altLang="zh-CN" sz="1200" dirty="0" smtClean="0">
                  <a:cs typeface="Arial" panose="020B0604020202020204" pitchFamily="34" charset="0"/>
                </a:rPr>
                <a:t>32 bit</a:t>
              </a:r>
              <a:endParaRPr lang="en-US" sz="1200" dirty="0">
                <a:cs typeface="Arial" panose="020B0604020202020204" pitchFamily="34" charset="0"/>
              </a:endParaRPr>
            </a:p>
          </p:txBody>
        </p:sp>
      </p:grpSp>
      <p:cxnSp>
        <p:nvCxnSpPr>
          <p:cNvPr id="82" name="直接箭头连接符 81"/>
          <p:cNvCxnSpPr>
            <a:stCxn id="9" idx="3"/>
          </p:cNvCxnSpPr>
          <p:nvPr/>
        </p:nvCxnSpPr>
        <p:spPr bwMode="gray">
          <a:xfrm flipV="1">
            <a:off x="3505737" y="3221812"/>
            <a:ext cx="326247" cy="578"/>
          </a:xfrm>
          <a:prstGeom prst="straightConnector1">
            <a:avLst/>
          </a:prstGeom>
          <a:ln w="1270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stCxn id="16" idx="0"/>
          </p:cNvCxnSpPr>
          <p:nvPr/>
        </p:nvCxnSpPr>
        <p:spPr bwMode="gray">
          <a:xfrm flipH="1" flipV="1">
            <a:off x="4155024" y="3440506"/>
            <a:ext cx="378087" cy="604180"/>
          </a:xfrm>
          <a:prstGeom prst="straightConnector1">
            <a:avLst/>
          </a:prstGeom>
          <a:ln w="1270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16" idx="0"/>
            <a:endCxn id="66" idx="1"/>
          </p:cNvCxnSpPr>
          <p:nvPr/>
        </p:nvCxnSpPr>
        <p:spPr bwMode="gray">
          <a:xfrm flipV="1">
            <a:off x="4533111" y="3781847"/>
            <a:ext cx="106823" cy="262839"/>
          </a:xfrm>
          <a:prstGeom prst="straightConnector1">
            <a:avLst/>
          </a:prstGeom>
          <a:ln w="1270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96" name="表格 95"/>
          <p:cNvGraphicFramePr>
            <a:graphicFrameLocks noGrp="1"/>
          </p:cNvGraphicFramePr>
          <p:nvPr>
            <p:extLst>
              <p:ext uri="{D42A27DB-BD31-4B8C-83A1-F6EECF244321}">
                <p14:modId xmlns:p14="http://schemas.microsoft.com/office/powerpoint/2010/main" val="2141244339"/>
              </p:ext>
            </p:extLst>
          </p:nvPr>
        </p:nvGraphicFramePr>
        <p:xfrm>
          <a:off x="6804793" y="4949437"/>
          <a:ext cx="4910608" cy="731520"/>
        </p:xfrm>
        <a:graphic>
          <a:graphicData uri="http://schemas.openxmlformats.org/drawingml/2006/table">
            <a:tbl>
              <a:tblPr firstRow="1" bandRow="1"/>
              <a:tblGrid>
                <a:gridCol w="1209808"/>
                <a:gridCol w="1368000"/>
                <a:gridCol w="1144800"/>
                <a:gridCol w="1188000"/>
              </a:tblGrid>
              <a:tr h="170572">
                <a:tc>
                  <a:txBody>
                    <a:bodyPr/>
                    <a:lstStyle/>
                    <a:p>
                      <a:pPr algn="ctr"/>
                      <a:r>
                        <a:rPr lang="en-US" altLang="zh-CN" sz="1200" b="1" dirty="0" smtClean="0"/>
                        <a:t>IN_SA/Port</a:t>
                      </a:r>
                      <a:endParaRPr lang="zh-CN" altLang="en-US" sz="1200" b="1"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smtClean="0"/>
                        <a:t>IN_DA/Port</a:t>
                      </a:r>
                      <a:endParaRPr lang="zh-CN" altLang="en-US" sz="1200" b="1" dirty="0"/>
                    </a:p>
                  </a:txBody>
                  <a:tcPr anchor="ctr">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smtClean="0"/>
                        <a:t>OUT_SA/Port</a:t>
                      </a:r>
                      <a:endParaRPr lang="zh-CN" altLang="en-US" sz="1200" b="1" dirty="0"/>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smtClean="0"/>
                        <a:t>OUT_DA/Port</a:t>
                      </a:r>
                      <a:endParaRPr lang="zh-CN" altLang="en-US" sz="1200" b="1" dirty="0"/>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70572">
                <a:tc>
                  <a:txBody>
                    <a:bodyPr/>
                    <a:lstStyle/>
                    <a:p>
                      <a:pPr algn="ctr"/>
                      <a:r>
                        <a:rPr lang="en-US" altLang="zh-CN" sz="1200" dirty="0" smtClean="0"/>
                        <a:t>2001:DB8::2</a:t>
                      </a:r>
                    </a:p>
                    <a:p>
                      <a:pPr algn="ctr"/>
                      <a:r>
                        <a:rPr lang="en-US" altLang="zh-CN" sz="1200" dirty="0" smtClean="0"/>
                        <a:t>/90</a:t>
                      </a:r>
                      <a:endParaRPr lang="zh-CN" altLang="en-US" sz="1200" dirty="0"/>
                    </a:p>
                  </a:txBody>
                  <a:tcPr anchor="ct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smtClean="0"/>
                        <a:t>64:FF9B::101:101</a:t>
                      </a:r>
                    </a:p>
                    <a:p>
                      <a:pPr algn="ctr"/>
                      <a:r>
                        <a:rPr lang="en-US" altLang="zh-CN" sz="1200" dirty="0" smtClean="0"/>
                        <a:t>/80</a:t>
                      </a: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smtClean="0"/>
                        <a:t>2.1.1.10</a:t>
                      </a:r>
                    </a:p>
                    <a:p>
                      <a:pPr algn="ctr"/>
                      <a:r>
                        <a:rPr lang="en-US" altLang="zh-CN" sz="1200" dirty="0" smtClean="0"/>
                        <a:t>/190</a:t>
                      </a: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smtClean="0"/>
                        <a:t>1.1.1.1</a:t>
                      </a:r>
                    </a:p>
                    <a:p>
                      <a:pPr algn="ctr"/>
                      <a:r>
                        <a:rPr lang="en-US" altLang="zh-CN" sz="1200" dirty="0" smtClean="0"/>
                        <a:t>/80</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97" name="文本框 96"/>
          <p:cNvSpPr txBox="1"/>
          <p:nvPr/>
        </p:nvSpPr>
        <p:spPr bwMode="gray">
          <a:xfrm>
            <a:off x="8016791" y="4623592"/>
            <a:ext cx="2709396" cy="307777"/>
          </a:xfrm>
          <a:prstGeom prst="rect">
            <a:avLst/>
          </a:prstGeom>
          <a:noFill/>
        </p:spPr>
        <p:txBody>
          <a:bodyPr wrap="none" rtlCol="0">
            <a:spAutoFit/>
          </a:bodyPr>
          <a:lstStyle/>
          <a:p>
            <a:pPr algn="ctr"/>
            <a:r>
              <a:rPr lang="en-US" altLang="zh-CN" sz="1400" b="1" dirty="0" smtClean="0">
                <a:cs typeface="Arial" panose="020B0604020202020204" pitchFamily="34" charset="0"/>
              </a:rPr>
              <a:t>NAT64</a:t>
            </a:r>
            <a:r>
              <a:rPr lang="zh-CN" altLang="en-US" sz="1400" b="1" dirty="0" smtClean="0">
                <a:cs typeface="Arial" panose="020B0604020202020204" pitchFamily="34" charset="0"/>
              </a:rPr>
              <a:t>防火墙的</a:t>
            </a:r>
            <a:r>
              <a:rPr lang="en-US" sz="1400" b="1" dirty="0" smtClean="0">
                <a:cs typeface="Arial" panose="020B0604020202020204" pitchFamily="34" charset="0"/>
              </a:rPr>
              <a:t>Session Table</a:t>
            </a:r>
            <a:endParaRPr lang="en-US" sz="1400" b="1" dirty="0">
              <a:cs typeface="Arial" panose="020B0604020202020204" pitchFamily="34" charset="0"/>
            </a:endParaRPr>
          </a:p>
        </p:txBody>
      </p:sp>
      <p:cxnSp>
        <p:nvCxnSpPr>
          <p:cNvPr id="99" name="肘形连接符 98"/>
          <p:cNvCxnSpPr/>
          <p:nvPr/>
        </p:nvCxnSpPr>
        <p:spPr bwMode="gray">
          <a:xfrm rot="5400000">
            <a:off x="8666951" y="4488867"/>
            <a:ext cx="12700" cy="2433017"/>
          </a:xfrm>
          <a:prstGeom prst="bentConnector3">
            <a:avLst>
              <a:gd name="adj1" fmla="val 1800000"/>
            </a:avLst>
          </a:prstGeom>
          <a:ln w="19050">
            <a:solidFill>
              <a:schemeClr val="bg1">
                <a:lumMod val="50000"/>
              </a:schemeClr>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肘形连接符 101"/>
          <p:cNvCxnSpPr/>
          <p:nvPr/>
        </p:nvCxnSpPr>
        <p:spPr bwMode="gray">
          <a:xfrm rot="5400000">
            <a:off x="9883460" y="4488868"/>
            <a:ext cx="12700" cy="2433017"/>
          </a:xfrm>
          <a:prstGeom prst="bentConnector3">
            <a:avLst>
              <a:gd name="adj1" fmla="val 2925000"/>
            </a:avLst>
          </a:prstGeom>
          <a:ln w="19050">
            <a:solidFill>
              <a:srgbClr val="30B5C5"/>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gray">
          <a:xfrm flipH="1">
            <a:off x="543509" y="5773041"/>
            <a:ext cx="315967" cy="0"/>
          </a:xfrm>
          <a:prstGeom prst="line">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bwMode="gray">
          <a:xfrm flipH="1">
            <a:off x="543509" y="6023429"/>
            <a:ext cx="315967"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106" name="文本框 105"/>
          <p:cNvSpPr txBox="1"/>
          <p:nvPr/>
        </p:nvSpPr>
        <p:spPr bwMode="gray">
          <a:xfrm>
            <a:off x="773730" y="5634542"/>
            <a:ext cx="864340" cy="276999"/>
          </a:xfrm>
          <a:prstGeom prst="rect">
            <a:avLst/>
          </a:prstGeom>
          <a:noFill/>
        </p:spPr>
        <p:txBody>
          <a:bodyPr wrap="none" rtlCol="0">
            <a:spAutoFit/>
          </a:bodyPr>
          <a:lstStyle/>
          <a:p>
            <a:pPr algn="ctr"/>
            <a:r>
              <a:rPr lang="en-US" sz="1200" dirty="0">
                <a:solidFill>
                  <a:srgbClr val="30B5C5"/>
                </a:solidFill>
                <a:cs typeface="Arial" panose="020B0604020202020204" pitchFamily="34" charset="0"/>
              </a:rPr>
              <a:t>IPv6 </a:t>
            </a:r>
            <a:r>
              <a:rPr lang="en-US" altLang="zh-CN" sz="1200" dirty="0" smtClean="0">
                <a:solidFill>
                  <a:srgbClr val="30B5C5"/>
                </a:solidFill>
                <a:cs typeface="Arial" panose="020B0604020202020204" pitchFamily="34" charset="0"/>
              </a:rPr>
              <a:t>D</a:t>
            </a:r>
            <a:r>
              <a:rPr lang="en-US" sz="1200" dirty="0" smtClean="0">
                <a:solidFill>
                  <a:srgbClr val="30B5C5"/>
                </a:solidFill>
                <a:cs typeface="Arial" panose="020B0604020202020204" pitchFamily="34" charset="0"/>
              </a:rPr>
              <a:t>ata</a:t>
            </a:r>
            <a:endParaRPr lang="en-US" sz="1200" dirty="0">
              <a:solidFill>
                <a:srgbClr val="30B5C5"/>
              </a:solidFill>
              <a:cs typeface="Arial" panose="020B0604020202020204" pitchFamily="34" charset="0"/>
            </a:endParaRPr>
          </a:p>
        </p:txBody>
      </p:sp>
      <p:sp>
        <p:nvSpPr>
          <p:cNvPr id="107" name="文本框 106"/>
          <p:cNvSpPr txBox="1"/>
          <p:nvPr/>
        </p:nvSpPr>
        <p:spPr bwMode="gray">
          <a:xfrm>
            <a:off x="773730" y="5884930"/>
            <a:ext cx="864340" cy="276999"/>
          </a:xfrm>
          <a:prstGeom prst="rect">
            <a:avLst/>
          </a:prstGeom>
          <a:noFill/>
        </p:spPr>
        <p:txBody>
          <a:bodyPr wrap="none" rtlCol="0">
            <a:spAutoFit/>
          </a:bodyPr>
          <a:lstStyle/>
          <a:p>
            <a:pPr algn="ctr"/>
            <a:r>
              <a:rPr lang="en-US" sz="1200" dirty="0">
                <a:solidFill>
                  <a:srgbClr val="62B230"/>
                </a:solidFill>
                <a:cs typeface="Arial" panose="020B0604020202020204" pitchFamily="34" charset="0"/>
              </a:rPr>
              <a:t>IPv4 </a:t>
            </a:r>
            <a:r>
              <a:rPr lang="en-US" altLang="zh-CN" sz="1200" dirty="0" smtClean="0">
                <a:solidFill>
                  <a:srgbClr val="62B230"/>
                </a:solidFill>
                <a:cs typeface="Arial" panose="020B0604020202020204" pitchFamily="34" charset="0"/>
              </a:rPr>
              <a:t>D</a:t>
            </a:r>
            <a:r>
              <a:rPr lang="en-US" sz="1200" dirty="0" smtClean="0">
                <a:solidFill>
                  <a:srgbClr val="62B230"/>
                </a:solidFill>
                <a:cs typeface="Arial" panose="020B0604020202020204" pitchFamily="34" charset="0"/>
              </a:rPr>
              <a:t>ata</a:t>
            </a:r>
            <a:endParaRPr lang="en-US" sz="1200" dirty="0">
              <a:solidFill>
                <a:srgbClr val="62B230"/>
              </a:solidFill>
              <a:cs typeface="Arial" panose="020B0604020202020204" pitchFamily="34" charset="0"/>
            </a:endParaRPr>
          </a:p>
        </p:txBody>
      </p:sp>
      <p:sp>
        <p:nvSpPr>
          <p:cNvPr id="84" name="五边形 83"/>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85" name="燕尾形 84"/>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87" name="燕尾形 86"/>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88" name="燕尾形 87"/>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90" name="燕尾形 89"/>
          <p:cNvSpPr/>
          <p:nvPr/>
        </p:nvSpPr>
        <p:spPr bwMode="gray">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91" name="燕尾形 90"/>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92" name="燕尾形 91"/>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5279139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静态</a:t>
            </a:r>
            <a:r>
              <a:rPr lang="en-US" altLang="zh-CN" dirty="0" smtClean="0"/>
              <a:t>NAT64</a:t>
            </a:r>
            <a:r>
              <a:rPr lang="zh-CN" altLang="en-US" dirty="0" smtClean="0"/>
              <a:t>映射</a:t>
            </a:r>
            <a:endParaRPr lang="zh-CN" altLang="en-US" dirty="0"/>
          </a:p>
        </p:txBody>
      </p:sp>
      <p:sp>
        <p:nvSpPr>
          <p:cNvPr id="95" name="文本占位符 94"/>
          <p:cNvSpPr>
            <a:spLocks noGrp="1"/>
          </p:cNvSpPr>
          <p:nvPr>
            <p:ph type="body" sz="quarter" idx="10"/>
          </p:nvPr>
        </p:nvSpPr>
        <p:spPr bwMode="gray">
          <a:xfrm>
            <a:off x="455612" y="1047751"/>
            <a:ext cx="11293475" cy="1547436"/>
          </a:xfrm>
        </p:spPr>
        <p:txBody>
          <a:bodyPr/>
          <a:lstStyle/>
          <a:p>
            <a:r>
              <a:rPr lang="zh-CN" altLang="en-US" sz="1600" dirty="0"/>
              <a:t>静态</a:t>
            </a:r>
            <a:r>
              <a:rPr lang="en-US" altLang="zh-CN" sz="1600" dirty="0"/>
              <a:t>NAT64</a:t>
            </a:r>
            <a:r>
              <a:rPr lang="zh-CN" altLang="en-US" sz="1600" dirty="0"/>
              <a:t>通过静态配置</a:t>
            </a:r>
            <a:r>
              <a:rPr lang="en-US" altLang="zh-CN" sz="1600" dirty="0"/>
              <a:t>IPv6</a:t>
            </a:r>
            <a:r>
              <a:rPr lang="zh-CN" altLang="en-US" sz="1600" dirty="0"/>
              <a:t>和</a:t>
            </a:r>
            <a:r>
              <a:rPr lang="en-US" altLang="zh-CN" sz="1600" dirty="0"/>
              <a:t>IPv4</a:t>
            </a:r>
            <a:r>
              <a:rPr lang="zh-CN" altLang="en-US" sz="1600" dirty="0" smtClean="0"/>
              <a:t>地址的</a:t>
            </a:r>
            <a:r>
              <a:rPr lang="zh-CN" altLang="en-US" sz="1600" dirty="0"/>
              <a:t>映射关系，不需要刷新也不老化，一直存在。这样</a:t>
            </a:r>
            <a:r>
              <a:rPr lang="en-US" altLang="zh-CN" sz="1600" dirty="0"/>
              <a:t>IPv6</a:t>
            </a:r>
            <a:r>
              <a:rPr lang="zh-CN" altLang="en-US" sz="1600" dirty="0"/>
              <a:t>到</a:t>
            </a:r>
            <a:r>
              <a:rPr lang="en-US" altLang="zh-CN" sz="1600" dirty="0"/>
              <a:t>IPv4</a:t>
            </a:r>
            <a:r>
              <a:rPr lang="zh-CN" altLang="en-US" sz="1600" dirty="0"/>
              <a:t>以及</a:t>
            </a:r>
            <a:r>
              <a:rPr lang="en-US" altLang="zh-CN" sz="1600" dirty="0"/>
              <a:t>IPv4</a:t>
            </a:r>
            <a:r>
              <a:rPr lang="zh-CN" altLang="en-US" sz="1600" dirty="0"/>
              <a:t>到</a:t>
            </a:r>
            <a:r>
              <a:rPr lang="en-US" altLang="zh-CN" sz="1600" dirty="0"/>
              <a:t>IPv6</a:t>
            </a:r>
            <a:r>
              <a:rPr lang="zh-CN" altLang="en-US" sz="1600" dirty="0"/>
              <a:t>的流量都能够触发创建会话表，这不仅可以实现</a:t>
            </a:r>
            <a:r>
              <a:rPr lang="en-US" altLang="zh-CN" sz="1600" dirty="0"/>
              <a:t>IPv6</a:t>
            </a:r>
            <a:r>
              <a:rPr lang="zh-CN" altLang="en-US" sz="1600" dirty="0"/>
              <a:t>用户访问</a:t>
            </a:r>
            <a:r>
              <a:rPr lang="en-US" altLang="zh-CN" sz="1600" dirty="0"/>
              <a:t>IPv4</a:t>
            </a:r>
            <a:r>
              <a:rPr lang="zh-CN" altLang="en-US" sz="1600" dirty="0"/>
              <a:t>服务器，也为</a:t>
            </a:r>
            <a:r>
              <a:rPr lang="en-US" altLang="zh-CN" sz="1600" dirty="0"/>
              <a:t>IPv4</a:t>
            </a:r>
            <a:r>
              <a:rPr lang="zh-CN" altLang="en-US" sz="1600" dirty="0"/>
              <a:t>用户访问</a:t>
            </a:r>
            <a:r>
              <a:rPr lang="en-US" altLang="zh-CN" sz="1600" dirty="0"/>
              <a:t>IPv6</a:t>
            </a:r>
            <a:r>
              <a:rPr lang="zh-CN" altLang="en-US" sz="1600" dirty="0"/>
              <a:t>服务器提供了一种方案</a:t>
            </a:r>
            <a:r>
              <a:rPr lang="zh-CN" altLang="en-US" sz="1600" dirty="0" smtClean="0"/>
              <a:t>。</a:t>
            </a:r>
            <a:endParaRPr lang="en-US" altLang="zh-CN" sz="1600" dirty="0" smtClean="0"/>
          </a:p>
          <a:p>
            <a:r>
              <a:rPr lang="en-US" altLang="zh-CN" sz="1600" dirty="0" smtClean="0"/>
              <a:t>IPv6</a:t>
            </a:r>
            <a:r>
              <a:rPr lang="zh-CN" altLang="en-US" sz="1600" dirty="0"/>
              <a:t>用户访问</a:t>
            </a:r>
            <a:r>
              <a:rPr lang="en-US" altLang="zh-CN" sz="1600" dirty="0"/>
              <a:t>IPv4</a:t>
            </a:r>
            <a:r>
              <a:rPr lang="zh-CN" altLang="en-US" sz="1600" dirty="0"/>
              <a:t>业务时，设备将报文的目的</a:t>
            </a:r>
            <a:r>
              <a:rPr lang="en-US" altLang="zh-CN" sz="1600" dirty="0"/>
              <a:t>IPv6</a:t>
            </a:r>
            <a:r>
              <a:rPr lang="zh-CN" altLang="en-US" sz="1600" dirty="0"/>
              <a:t>地址静态映射为</a:t>
            </a:r>
            <a:r>
              <a:rPr lang="en-US" altLang="zh-CN" sz="1600" dirty="0"/>
              <a:t>IPv4</a:t>
            </a:r>
            <a:r>
              <a:rPr lang="zh-CN" altLang="en-US" sz="1600" dirty="0"/>
              <a:t>地址；</a:t>
            </a:r>
            <a:r>
              <a:rPr lang="en-US" altLang="zh-CN" sz="1600" dirty="0"/>
              <a:t>IPv4</a:t>
            </a:r>
            <a:r>
              <a:rPr lang="zh-CN" altLang="en-US" sz="1600" dirty="0"/>
              <a:t>用户访问</a:t>
            </a:r>
            <a:r>
              <a:rPr lang="en-US" altLang="zh-CN" sz="1600" dirty="0"/>
              <a:t>IPv6</a:t>
            </a:r>
            <a:r>
              <a:rPr lang="zh-CN" altLang="en-US" sz="1600" dirty="0"/>
              <a:t>业务时，设备将报文的目的</a:t>
            </a:r>
            <a:r>
              <a:rPr lang="en-US" altLang="zh-CN" sz="1600" dirty="0"/>
              <a:t>IPv4</a:t>
            </a:r>
            <a:r>
              <a:rPr lang="zh-CN" altLang="en-US" sz="1600" dirty="0"/>
              <a:t>地址静态映射为</a:t>
            </a:r>
            <a:r>
              <a:rPr lang="en-US" altLang="zh-CN" sz="1600" dirty="0"/>
              <a:t>IPv6</a:t>
            </a:r>
            <a:r>
              <a:rPr lang="zh-CN" altLang="en-US" sz="1600" dirty="0"/>
              <a:t>地址。</a:t>
            </a:r>
          </a:p>
        </p:txBody>
      </p:sp>
      <p:cxnSp>
        <p:nvCxnSpPr>
          <p:cNvPr id="7" name="直接连接符 6"/>
          <p:cNvCxnSpPr>
            <a:stCxn id="13" idx="3"/>
            <a:endCxn id="17" idx="1"/>
          </p:cNvCxnSpPr>
          <p:nvPr/>
        </p:nvCxnSpPr>
        <p:spPr bwMode="gray">
          <a:xfrm>
            <a:off x="1535841" y="4470800"/>
            <a:ext cx="225910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654885" y="3043938"/>
            <a:ext cx="435249" cy="356904"/>
          </a:xfrm>
          <a:prstGeom prst="rect">
            <a:avLst/>
          </a:prstGeom>
        </p:spPr>
      </p:pic>
      <p:sp>
        <p:nvSpPr>
          <p:cNvPr id="10" name="文本框 9"/>
          <p:cNvSpPr txBox="1"/>
          <p:nvPr/>
        </p:nvSpPr>
        <p:spPr bwMode="gray">
          <a:xfrm>
            <a:off x="4596604" y="2766458"/>
            <a:ext cx="495649" cy="276999"/>
          </a:xfrm>
          <a:prstGeom prst="rect">
            <a:avLst/>
          </a:prstGeom>
          <a:noFill/>
        </p:spPr>
        <p:txBody>
          <a:bodyPr wrap="none" rtlCol="0">
            <a:spAutoFit/>
          </a:bodyPr>
          <a:lstStyle/>
          <a:p>
            <a:pPr algn="ctr"/>
            <a:r>
              <a:rPr lang="en-US" altLang="zh-CN" sz="1200" dirty="0" smtClean="0">
                <a:cs typeface="Arial" panose="020B0604020202020204" pitchFamily="34" charset="0"/>
              </a:rPr>
              <a:t>DNS</a:t>
            </a:r>
            <a:endParaRPr lang="en-US" sz="1200" dirty="0">
              <a:cs typeface="Arial" panose="020B0604020202020204" pitchFamily="34" charset="0"/>
            </a:endParaRPr>
          </a:p>
        </p:txBody>
      </p:sp>
      <p:sp>
        <p:nvSpPr>
          <p:cNvPr id="11" name="Freeform 159"/>
          <p:cNvSpPr/>
          <p:nvPr/>
        </p:nvSpPr>
        <p:spPr bwMode="gray">
          <a:xfrm flipH="1">
            <a:off x="6430436" y="4033250"/>
            <a:ext cx="1102034" cy="610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12" name="文本框 11"/>
          <p:cNvSpPr txBox="1"/>
          <p:nvPr/>
        </p:nvSpPr>
        <p:spPr bwMode="gray">
          <a:xfrm>
            <a:off x="6430436" y="4326627"/>
            <a:ext cx="1082348" cy="276999"/>
          </a:xfrm>
          <a:prstGeom prst="rect">
            <a:avLst/>
          </a:prstGeom>
          <a:noFill/>
        </p:spPr>
        <p:txBody>
          <a:bodyPr wrap="none" rtlCol="0">
            <a:spAutoFit/>
          </a:bodyPr>
          <a:lstStyle/>
          <a:p>
            <a:pPr algn="ctr"/>
            <a:r>
              <a:rPr lang="en-US" sz="1200" dirty="0" smtClean="0">
                <a:cs typeface="Arial" panose="020B0604020202020204" pitchFamily="34" charset="0"/>
              </a:rPr>
              <a:t>IPv4 </a:t>
            </a:r>
            <a:r>
              <a:rPr lang="en-US" altLang="zh-CN" sz="1200" dirty="0" smtClean="0">
                <a:cs typeface="Arial" panose="020B0604020202020204" pitchFamily="34" charset="0"/>
              </a:rPr>
              <a:t>Internet</a:t>
            </a:r>
            <a:endParaRPr lang="en-US" sz="1200" dirty="0">
              <a:cs typeface="Arial" panose="020B0604020202020204" pitchFamily="34" charset="0"/>
            </a:endParaRPr>
          </a:p>
        </p:txBody>
      </p:sp>
      <p:pic>
        <p:nvPicPr>
          <p:cNvPr id="13" name="图片 1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101650" y="4292781"/>
            <a:ext cx="434191" cy="356037"/>
          </a:xfrm>
          <a:prstGeom prst="rect">
            <a:avLst/>
          </a:prstGeom>
        </p:spPr>
      </p:pic>
      <p:cxnSp>
        <p:nvCxnSpPr>
          <p:cNvPr id="14" name="直接连接符 13"/>
          <p:cNvCxnSpPr>
            <a:stCxn id="18" idx="0"/>
            <a:endCxn id="9" idx="2"/>
          </p:cNvCxnSpPr>
          <p:nvPr/>
        </p:nvCxnSpPr>
        <p:spPr bwMode="gray">
          <a:xfrm flipV="1">
            <a:off x="4872391" y="3400842"/>
            <a:ext cx="119" cy="891603"/>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gray">
          <a:xfrm flipH="1">
            <a:off x="1545955" y="4660899"/>
            <a:ext cx="2223194" cy="0"/>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bwMode="gray">
          <a:xfrm>
            <a:off x="3620619" y="4044686"/>
            <a:ext cx="766557" cy="307777"/>
          </a:xfrm>
          <a:prstGeom prst="rect">
            <a:avLst/>
          </a:prstGeom>
          <a:noFill/>
        </p:spPr>
        <p:txBody>
          <a:bodyPr wrap="none" rtlCol="0">
            <a:spAutoFit/>
          </a:bodyPr>
          <a:lstStyle/>
          <a:p>
            <a:pPr algn="ctr"/>
            <a:r>
              <a:rPr lang="en-US" altLang="zh-CN" sz="1400" dirty="0" smtClean="0">
                <a:cs typeface="Arial" panose="020B0604020202020204" pitchFamily="34" charset="0"/>
              </a:rPr>
              <a:t>NAT64</a:t>
            </a:r>
            <a:endParaRPr lang="en-US" sz="1400" dirty="0">
              <a:cs typeface="Arial" panose="020B0604020202020204" pitchFamily="34" charset="0"/>
            </a:endParaRPr>
          </a:p>
        </p:txBody>
      </p:sp>
      <p:pic>
        <p:nvPicPr>
          <p:cNvPr id="17" name="图片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794942" y="4299698"/>
            <a:ext cx="417912" cy="342203"/>
          </a:xfrm>
          <a:prstGeom prst="rect">
            <a:avLst/>
          </a:prstGeom>
        </p:spPr>
      </p:pic>
      <p:pic>
        <p:nvPicPr>
          <p:cNvPr id="18" name="图片 1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4654885" y="4292445"/>
            <a:ext cx="435011" cy="356709"/>
          </a:xfrm>
          <a:prstGeom prst="rect">
            <a:avLst/>
          </a:prstGeom>
        </p:spPr>
      </p:pic>
      <p:cxnSp>
        <p:nvCxnSpPr>
          <p:cNvPr id="24" name="直接连接符 23"/>
          <p:cNvCxnSpPr>
            <a:stCxn id="18" idx="1"/>
            <a:endCxn id="17" idx="3"/>
          </p:cNvCxnSpPr>
          <p:nvPr/>
        </p:nvCxnSpPr>
        <p:spPr bwMode="gray">
          <a:xfrm flipH="1">
            <a:off x="4212854" y="4470800"/>
            <a:ext cx="44203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8" idx="3"/>
            <a:endCxn id="12" idx="1"/>
          </p:cNvCxnSpPr>
          <p:nvPr/>
        </p:nvCxnSpPr>
        <p:spPr bwMode="gray">
          <a:xfrm flipV="1">
            <a:off x="5089896" y="4465127"/>
            <a:ext cx="13405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任意多边形 33"/>
          <p:cNvSpPr/>
          <p:nvPr/>
        </p:nvSpPr>
        <p:spPr bwMode="gray">
          <a:xfrm flipH="1">
            <a:off x="5070481" y="3494293"/>
            <a:ext cx="1297735" cy="775063"/>
          </a:xfrm>
          <a:custGeom>
            <a:avLst/>
            <a:gdLst>
              <a:gd name="connsiteX0" fmla="*/ 0 w 984069"/>
              <a:gd name="connsiteY0" fmla="*/ 775063 h 775063"/>
              <a:gd name="connsiteX1" fmla="*/ 984069 w 984069"/>
              <a:gd name="connsiteY1" fmla="*/ 775063 h 775063"/>
              <a:gd name="connsiteX2" fmla="*/ 984069 w 984069"/>
              <a:gd name="connsiteY2" fmla="*/ 0 h 775063"/>
            </a:gdLst>
            <a:ahLst/>
            <a:cxnLst>
              <a:cxn ang="0">
                <a:pos x="connsiteX0" y="connsiteY0"/>
              </a:cxn>
              <a:cxn ang="0">
                <a:pos x="connsiteX1" y="connsiteY1"/>
              </a:cxn>
              <a:cxn ang="0">
                <a:pos x="connsiteX2" y="connsiteY2"/>
              </a:cxn>
            </a:cxnLst>
            <a:rect l="l" t="t" r="r" b="b"/>
            <a:pathLst>
              <a:path w="984069" h="775063">
                <a:moveTo>
                  <a:pt x="0" y="775063"/>
                </a:moveTo>
                <a:lnTo>
                  <a:pt x="984069" y="775063"/>
                </a:lnTo>
                <a:lnTo>
                  <a:pt x="984069" y="0"/>
                </a:lnTo>
              </a:path>
            </a:pathLst>
          </a:custGeom>
          <a:ln w="19050">
            <a:solidFill>
              <a:srgbClr val="62B23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5" name="直接箭头连接符 34"/>
          <p:cNvCxnSpPr/>
          <p:nvPr/>
        </p:nvCxnSpPr>
        <p:spPr bwMode="gray">
          <a:xfrm>
            <a:off x="5191584" y="3414896"/>
            <a:ext cx="1328580" cy="675364"/>
          </a:xfrm>
          <a:prstGeom prst="straightConnector1">
            <a:avLst/>
          </a:prstGeom>
          <a:ln w="19050">
            <a:solidFill>
              <a:srgbClr val="62B23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bwMode="gray">
          <a:xfrm flipH="1">
            <a:off x="4305300" y="4670424"/>
            <a:ext cx="1981236" cy="0"/>
          </a:xfrm>
          <a:prstGeom prst="straightConnector1">
            <a:avLst/>
          </a:prstGeom>
          <a:ln w="19050">
            <a:solidFill>
              <a:srgbClr val="62B23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bwMode="gray">
          <a:xfrm flipH="1">
            <a:off x="1545955" y="5433361"/>
            <a:ext cx="2223194"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椭圆 41"/>
          <p:cNvSpPr/>
          <p:nvPr/>
        </p:nvSpPr>
        <p:spPr bwMode="gray">
          <a:xfrm>
            <a:off x="5115988" y="4050905"/>
            <a:ext cx="144000" cy="144000"/>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1</a:t>
            </a:r>
            <a:endParaRPr lang="zh-CN" altLang="en-US" sz="1200" dirty="0"/>
          </a:p>
        </p:txBody>
      </p:sp>
      <p:sp>
        <p:nvSpPr>
          <p:cNvPr id="43" name="椭圆 42"/>
          <p:cNvSpPr/>
          <p:nvPr/>
        </p:nvSpPr>
        <p:spPr bwMode="gray">
          <a:xfrm>
            <a:off x="5409208" y="3298522"/>
            <a:ext cx="144000" cy="144000"/>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2</a:t>
            </a:r>
            <a:endParaRPr lang="zh-CN" altLang="en-US" sz="1200" dirty="0"/>
          </a:p>
        </p:txBody>
      </p:sp>
      <p:sp>
        <p:nvSpPr>
          <p:cNvPr id="44" name="椭圆 43"/>
          <p:cNvSpPr/>
          <p:nvPr/>
        </p:nvSpPr>
        <p:spPr bwMode="gray">
          <a:xfrm>
            <a:off x="1545968" y="4745462"/>
            <a:ext cx="144000" cy="144000"/>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4</a:t>
            </a:r>
            <a:endParaRPr lang="zh-CN" altLang="en-US" sz="1200" dirty="0"/>
          </a:p>
        </p:txBody>
      </p:sp>
      <p:sp>
        <p:nvSpPr>
          <p:cNvPr id="48" name="文本框 47"/>
          <p:cNvSpPr txBox="1"/>
          <p:nvPr/>
        </p:nvSpPr>
        <p:spPr bwMode="gray">
          <a:xfrm>
            <a:off x="5193731" y="3987454"/>
            <a:ext cx="1250662" cy="276999"/>
          </a:xfrm>
          <a:prstGeom prst="rect">
            <a:avLst/>
          </a:prstGeom>
          <a:noFill/>
        </p:spPr>
        <p:txBody>
          <a:bodyPr wrap="none" rtlCol="0">
            <a:spAutoFit/>
          </a:bodyPr>
          <a:lstStyle/>
          <a:p>
            <a:pPr algn="ctr"/>
            <a:r>
              <a:rPr lang="en-US" altLang="zh-CN" sz="1200" dirty="0" smtClean="0">
                <a:cs typeface="Arial" panose="020B0604020202020204" pitchFamily="34" charset="0"/>
              </a:rPr>
              <a:t>DNS A Request</a:t>
            </a:r>
            <a:endParaRPr lang="en-US" sz="1200" dirty="0">
              <a:cs typeface="Arial" panose="020B0604020202020204" pitchFamily="34" charset="0"/>
            </a:endParaRPr>
          </a:p>
        </p:txBody>
      </p:sp>
      <p:sp>
        <p:nvSpPr>
          <p:cNvPr id="51" name="文本框 50"/>
          <p:cNvSpPr txBox="1"/>
          <p:nvPr/>
        </p:nvSpPr>
        <p:spPr bwMode="gray">
          <a:xfrm rot="1604649">
            <a:off x="5457144" y="3325657"/>
            <a:ext cx="1074333" cy="461665"/>
          </a:xfrm>
          <a:prstGeom prst="rect">
            <a:avLst/>
          </a:prstGeom>
          <a:noFill/>
        </p:spPr>
        <p:txBody>
          <a:bodyPr wrap="none" rtlCol="0">
            <a:spAutoFit/>
          </a:bodyPr>
          <a:lstStyle/>
          <a:p>
            <a:r>
              <a:rPr lang="en-US" altLang="zh-CN" sz="1200" dirty="0" smtClean="0">
                <a:cs typeface="Arial" panose="020B0604020202020204" pitchFamily="34" charset="0"/>
              </a:rPr>
              <a:t>DNS A Reply</a:t>
            </a:r>
          </a:p>
          <a:p>
            <a:r>
              <a:rPr lang="zh-CN" altLang="en-US" sz="1200" dirty="0" smtClean="0">
                <a:cs typeface="Arial" panose="020B0604020202020204" pitchFamily="34" charset="0"/>
              </a:rPr>
              <a:t>（</a:t>
            </a:r>
            <a:r>
              <a:rPr lang="en-US" sz="1200" dirty="0" smtClean="0">
                <a:cs typeface="Arial" panose="020B0604020202020204" pitchFamily="34" charset="0"/>
              </a:rPr>
              <a:t>2.1.1.10</a:t>
            </a:r>
            <a:r>
              <a:rPr lang="zh-CN" altLang="en-US" sz="1200" dirty="0" smtClean="0">
                <a:cs typeface="Arial" panose="020B0604020202020204" pitchFamily="34" charset="0"/>
              </a:rPr>
              <a:t>）</a:t>
            </a:r>
            <a:endParaRPr lang="en-US" sz="1200" dirty="0">
              <a:cs typeface="Arial" panose="020B0604020202020204" pitchFamily="34" charset="0"/>
            </a:endParaRPr>
          </a:p>
        </p:txBody>
      </p:sp>
      <p:sp>
        <p:nvSpPr>
          <p:cNvPr id="52" name="文本框 51"/>
          <p:cNvSpPr txBox="1"/>
          <p:nvPr/>
        </p:nvSpPr>
        <p:spPr bwMode="gray">
          <a:xfrm>
            <a:off x="1656305" y="4682653"/>
            <a:ext cx="2279791" cy="646331"/>
          </a:xfrm>
          <a:prstGeom prst="rect">
            <a:avLst/>
          </a:prstGeom>
          <a:noFill/>
        </p:spPr>
        <p:txBody>
          <a:bodyPr wrap="none" rtlCol="0">
            <a:spAutoFit/>
          </a:bodyPr>
          <a:lstStyle/>
          <a:p>
            <a:r>
              <a:rPr lang="en-US" altLang="zh-CN" sz="1200" dirty="0">
                <a:cs typeface="Arial" panose="020B0604020202020204" pitchFamily="34" charset="0"/>
              </a:rPr>
              <a:t>HTTP</a:t>
            </a:r>
            <a:r>
              <a:rPr lang="en-US" altLang="zh-CN" sz="1200" dirty="0" smtClean="0">
                <a:cs typeface="Arial" panose="020B0604020202020204" pitchFamily="34" charset="0"/>
              </a:rPr>
              <a:t> Request</a:t>
            </a:r>
          </a:p>
          <a:p>
            <a:r>
              <a:rPr lang="en-US" sz="1200" dirty="0" smtClean="0">
                <a:cs typeface="Arial" panose="020B0604020202020204" pitchFamily="34" charset="0"/>
              </a:rPr>
              <a:t>SA/Port</a:t>
            </a:r>
            <a:r>
              <a:rPr lang="zh-CN" altLang="en-US" sz="1200" dirty="0" smtClean="0">
                <a:cs typeface="Arial" panose="020B0604020202020204" pitchFamily="34" charset="0"/>
              </a:rPr>
              <a:t>：</a:t>
            </a:r>
            <a:r>
              <a:rPr lang="en-US" altLang="zh-CN" sz="1200" dirty="0">
                <a:solidFill>
                  <a:srgbClr val="ED6D00"/>
                </a:solidFill>
                <a:cs typeface="Arial" panose="020B0604020202020204" pitchFamily="34" charset="0"/>
              </a:rPr>
              <a:t>64:FF9B</a:t>
            </a:r>
            <a:r>
              <a:rPr lang="en-US" altLang="zh-CN" sz="1200" dirty="0" smtClean="0">
                <a:solidFill>
                  <a:srgbClr val="ED6D00"/>
                </a:solidFill>
                <a:cs typeface="Arial" panose="020B0604020202020204" pitchFamily="34" charset="0"/>
              </a:rPr>
              <a:t>::101:101/80</a:t>
            </a:r>
            <a:endParaRPr lang="en-US" altLang="zh-CN" sz="1200" dirty="0">
              <a:solidFill>
                <a:srgbClr val="ED6D00"/>
              </a:solidFill>
              <a:cs typeface="Arial" panose="020B0604020202020204" pitchFamily="34" charset="0"/>
            </a:endParaRPr>
          </a:p>
          <a:p>
            <a:r>
              <a:rPr lang="en-US" sz="1200" dirty="0" smtClean="0">
                <a:cs typeface="Arial" panose="020B0604020202020204" pitchFamily="34" charset="0"/>
              </a:rPr>
              <a:t>DA/Port</a:t>
            </a:r>
            <a:r>
              <a:rPr lang="zh-CN" altLang="en-US" sz="1200" dirty="0" smtClean="0">
                <a:cs typeface="Arial" panose="020B0604020202020204" pitchFamily="34" charset="0"/>
              </a:rPr>
              <a:t>：</a:t>
            </a:r>
            <a:r>
              <a:rPr lang="en-US" altLang="zh-CN" sz="1200" dirty="0">
                <a:solidFill>
                  <a:srgbClr val="C7000B"/>
                </a:solidFill>
                <a:cs typeface="Arial" panose="020B0604020202020204" pitchFamily="34" charset="0"/>
              </a:rPr>
              <a:t>2001:DB8::</a:t>
            </a:r>
            <a:r>
              <a:rPr lang="en-US" altLang="zh-CN" sz="1200" dirty="0" smtClean="0">
                <a:solidFill>
                  <a:srgbClr val="C7000B"/>
                </a:solidFill>
                <a:cs typeface="Arial" panose="020B0604020202020204" pitchFamily="34" charset="0"/>
              </a:rPr>
              <a:t>2/90</a:t>
            </a:r>
            <a:endParaRPr lang="en-US" altLang="zh-CN" sz="1200" dirty="0">
              <a:solidFill>
                <a:srgbClr val="C7000B"/>
              </a:solidFill>
              <a:cs typeface="Arial" panose="020B0604020202020204" pitchFamily="34" charset="0"/>
            </a:endParaRPr>
          </a:p>
        </p:txBody>
      </p:sp>
      <p:sp>
        <p:nvSpPr>
          <p:cNvPr id="53" name="文本框 52"/>
          <p:cNvSpPr txBox="1"/>
          <p:nvPr/>
        </p:nvSpPr>
        <p:spPr bwMode="gray">
          <a:xfrm>
            <a:off x="531013" y="3869471"/>
            <a:ext cx="1651414" cy="461665"/>
          </a:xfrm>
          <a:prstGeom prst="rect">
            <a:avLst/>
          </a:prstGeom>
          <a:noFill/>
        </p:spPr>
        <p:txBody>
          <a:bodyPr wrap="none" rtlCol="0">
            <a:spAutoFit/>
          </a:bodyPr>
          <a:lstStyle/>
          <a:p>
            <a:pPr algn="ctr"/>
            <a:r>
              <a:rPr lang="en-US" altLang="zh-CN" sz="1200" dirty="0" smtClean="0">
                <a:cs typeface="Arial" panose="020B0604020202020204" pitchFamily="34" charset="0"/>
              </a:rPr>
              <a:t>example.huawei.com</a:t>
            </a:r>
          </a:p>
          <a:p>
            <a:pPr algn="ctr"/>
            <a:r>
              <a:rPr lang="en-US" altLang="zh-CN" sz="1200" dirty="0" smtClean="0">
                <a:cs typeface="Arial" panose="020B0604020202020204" pitchFamily="34" charset="0"/>
              </a:rPr>
              <a:t>2001:DB8::2</a:t>
            </a:r>
            <a:r>
              <a:rPr lang="en-US" altLang="zh-CN" sz="1200" dirty="0">
                <a:cs typeface="Arial" panose="020B0604020202020204" pitchFamily="34" charset="0"/>
              </a:rPr>
              <a:t>/</a:t>
            </a:r>
            <a:r>
              <a:rPr lang="en-US" altLang="zh-CN" sz="1200" dirty="0" smtClean="0">
                <a:cs typeface="Arial" panose="020B0604020202020204" pitchFamily="34" charset="0"/>
              </a:rPr>
              <a:t>64</a:t>
            </a:r>
            <a:endParaRPr lang="en-US" sz="1200" dirty="0">
              <a:cs typeface="Arial" panose="020B0604020202020204" pitchFamily="34" charset="0"/>
            </a:endParaRPr>
          </a:p>
        </p:txBody>
      </p:sp>
      <p:sp>
        <p:nvSpPr>
          <p:cNvPr id="59" name="椭圆 58"/>
          <p:cNvSpPr/>
          <p:nvPr/>
        </p:nvSpPr>
        <p:spPr bwMode="gray">
          <a:xfrm>
            <a:off x="4385840" y="4745462"/>
            <a:ext cx="144000" cy="144000"/>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3</a:t>
            </a:r>
            <a:endParaRPr lang="zh-CN" altLang="en-US" sz="1200" dirty="0"/>
          </a:p>
        </p:txBody>
      </p:sp>
      <p:sp>
        <p:nvSpPr>
          <p:cNvPr id="60" name="文本框 59"/>
          <p:cNvSpPr txBox="1"/>
          <p:nvPr/>
        </p:nvSpPr>
        <p:spPr bwMode="gray">
          <a:xfrm>
            <a:off x="4496177" y="4682653"/>
            <a:ext cx="1758815" cy="646331"/>
          </a:xfrm>
          <a:prstGeom prst="rect">
            <a:avLst/>
          </a:prstGeom>
          <a:noFill/>
        </p:spPr>
        <p:txBody>
          <a:bodyPr wrap="none" rtlCol="0">
            <a:spAutoFit/>
          </a:bodyPr>
          <a:lstStyle/>
          <a:p>
            <a:r>
              <a:rPr lang="en-US" altLang="zh-CN" sz="1200" dirty="0">
                <a:cs typeface="Arial" panose="020B0604020202020204" pitchFamily="34" charset="0"/>
              </a:rPr>
              <a:t>HTTP</a:t>
            </a:r>
            <a:r>
              <a:rPr lang="en-US" altLang="zh-CN" sz="1200" dirty="0" smtClean="0">
                <a:cs typeface="Arial" panose="020B0604020202020204" pitchFamily="34" charset="0"/>
              </a:rPr>
              <a:t> Request</a:t>
            </a:r>
          </a:p>
          <a:p>
            <a:r>
              <a:rPr lang="en-US" sz="1200" dirty="0" smtClean="0">
                <a:cs typeface="Arial" panose="020B0604020202020204" pitchFamily="34" charset="0"/>
              </a:rPr>
              <a:t>SA/Port</a:t>
            </a:r>
            <a:r>
              <a:rPr lang="zh-CN" altLang="en-US" sz="1200" dirty="0" smtClean="0">
                <a:cs typeface="Arial" panose="020B0604020202020204" pitchFamily="34" charset="0"/>
              </a:rPr>
              <a:t>：</a:t>
            </a:r>
            <a:r>
              <a:rPr lang="en-US" altLang="zh-CN" sz="1200" dirty="0">
                <a:cs typeface="Arial" panose="020B0604020202020204" pitchFamily="34" charset="0"/>
              </a:rPr>
              <a:t>1.1.1.1/80</a:t>
            </a:r>
          </a:p>
          <a:p>
            <a:r>
              <a:rPr lang="en-US" sz="1200" dirty="0" smtClean="0">
                <a:cs typeface="Arial" panose="020B0604020202020204" pitchFamily="34" charset="0"/>
              </a:rPr>
              <a:t>DA/Port</a:t>
            </a:r>
            <a:r>
              <a:rPr lang="zh-CN" altLang="en-US" sz="1200" dirty="0" smtClean="0">
                <a:cs typeface="Arial" panose="020B0604020202020204" pitchFamily="34" charset="0"/>
              </a:rPr>
              <a:t>：</a:t>
            </a:r>
            <a:r>
              <a:rPr lang="en-US" altLang="zh-CN" sz="1200" dirty="0" smtClean="0">
                <a:solidFill>
                  <a:srgbClr val="C7000B"/>
                </a:solidFill>
                <a:cs typeface="Arial" panose="020B0604020202020204" pitchFamily="34" charset="0"/>
              </a:rPr>
              <a:t>2.1.1.10/190</a:t>
            </a:r>
            <a:endParaRPr lang="en-US" altLang="zh-CN" sz="1200" dirty="0">
              <a:solidFill>
                <a:srgbClr val="C7000B"/>
              </a:solidFill>
              <a:cs typeface="Arial" panose="020B0604020202020204" pitchFamily="34" charset="0"/>
            </a:endParaRPr>
          </a:p>
        </p:txBody>
      </p:sp>
      <p:sp>
        <p:nvSpPr>
          <p:cNvPr id="61" name="文本框 60"/>
          <p:cNvSpPr txBox="1"/>
          <p:nvPr/>
        </p:nvSpPr>
        <p:spPr bwMode="gray">
          <a:xfrm>
            <a:off x="7439704" y="3898404"/>
            <a:ext cx="869149" cy="461665"/>
          </a:xfrm>
          <a:prstGeom prst="rect">
            <a:avLst/>
          </a:prstGeom>
          <a:noFill/>
        </p:spPr>
        <p:txBody>
          <a:bodyPr wrap="none" rtlCol="0">
            <a:spAutoFit/>
          </a:bodyPr>
          <a:lstStyle/>
          <a:p>
            <a:r>
              <a:rPr lang="en-US" altLang="zh-CN" sz="1200" dirty="0">
                <a:cs typeface="Arial" panose="020B0604020202020204" pitchFamily="34" charset="0"/>
              </a:rPr>
              <a:t>IPv4 User</a:t>
            </a:r>
          </a:p>
          <a:p>
            <a:r>
              <a:rPr lang="en-US" sz="1200" dirty="0" smtClean="0">
                <a:cs typeface="Arial" panose="020B0604020202020204" pitchFamily="34" charset="0"/>
              </a:rPr>
              <a:t>1.1.1.1/24</a:t>
            </a:r>
            <a:endParaRPr lang="en-US" sz="1200" dirty="0">
              <a:cs typeface="Arial" panose="020B0604020202020204" pitchFamily="34" charset="0"/>
            </a:endParaRPr>
          </a:p>
        </p:txBody>
      </p:sp>
      <p:sp>
        <p:nvSpPr>
          <p:cNvPr id="62" name="椭圆 61"/>
          <p:cNvSpPr/>
          <p:nvPr/>
        </p:nvSpPr>
        <p:spPr bwMode="gray">
          <a:xfrm>
            <a:off x="1545968" y="5517357"/>
            <a:ext cx="144000" cy="144000"/>
          </a:xfrm>
          <a:prstGeom prst="ellipse">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5</a:t>
            </a:r>
            <a:endParaRPr lang="zh-CN" altLang="en-US" sz="1200" dirty="0"/>
          </a:p>
        </p:txBody>
      </p:sp>
      <p:sp>
        <p:nvSpPr>
          <p:cNvPr id="63" name="文本框 62"/>
          <p:cNvSpPr txBox="1"/>
          <p:nvPr/>
        </p:nvSpPr>
        <p:spPr bwMode="gray">
          <a:xfrm>
            <a:off x="1656305" y="5454548"/>
            <a:ext cx="2310248" cy="646331"/>
          </a:xfrm>
          <a:prstGeom prst="rect">
            <a:avLst/>
          </a:prstGeom>
          <a:noFill/>
        </p:spPr>
        <p:txBody>
          <a:bodyPr wrap="none" rtlCol="0">
            <a:spAutoFit/>
          </a:bodyPr>
          <a:lstStyle/>
          <a:p>
            <a:r>
              <a:rPr lang="en-US" altLang="zh-CN" sz="1200" dirty="0">
                <a:cs typeface="Arial" panose="020B0604020202020204" pitchFamily="34" charset="0"/>
              </a:rPr>
              <a:t>HTTP</a:t>
            </a:r>
            <a:r>
              <a:rPr lang="en-US" altLang="zh-CN" sz="1200" dirty="0" smtClean="0">
                <a:cs typeface="Arial" panose="020B0604020202020204" pitchFamily="34" charset="0"/>
              </a:rPr>
              <a:t> Reply</a:t>
            </a:r>
          </a:p>
          <a:p>
            <a:r>
              <a:rPr lang="en-US" sz="1200" dirty="0" smtClean="0">
                <a:cs typeface="Arial" panose="020B0604020202020204" pitchFamily="34" charset="0"/>
              </a:rPr>
              <a:t>SA/Port</a:t>
            </a:r>
            <a:r>
              <a:rPr lang="zh-CN" altLang="en-US" sz="1200" dirty="0" smtClean="0">
                <a:cs typeface="Arial" panose="020B0604020202020204" pitchFamily="34" charset="0"/>
              </a:rPr>
              <a:t>：</a:t>
            </a:r>
            <a:r>
              <a:rPr lang="en-US" altLang="zh-CN" sz="1200" dirty="0">
                <a:solidFill>
                  <a:srgbClr val="C7000B"/>
                </a:solidFill>
                <a:cs typeface="Arial" panose="020B0604020202020204" pitchFamily="34" charset="0"/>
              </a:rPr>
              <a:t>2001:DB8::</a:t>
            </a:r>
            <a:r>
              <a:rPr lang="en-US" altLang="zh-CN" sz="1200" dirty="0" smtClean="0">
                <a:solidFill>
                  <a:srgbClr val="C7000B"/>
                </a:solidFill>
                <a:cs typeface="Arial" panose="020B0604020202020204" pitchFamily="34" charset="0"/>
              </a:rPr>
              <a:t>2/90</a:t>
            </a:r>
            <a:endParaRPr lang="en-US" altLang="zh-CN" sz="1200" dirty="0">
              <a:solidFill>
                <a:srgbClr val="C7000B"/>
              </a:solidFill>
              <a:cs typeface="Arial" panose="020B0604020202020204" pitchFamily="34" charset="0"/>
            </a:endParaRPr>
          </a:p>
          <a:p>
            <a:r>
              <a:rPr lang="en-US" sz="1200" dirty="0" smtClean="0">
                <a:cs typeface="Arial" panose="020B0604020202020204" pitchFamily="34" charset="0"/>
              </a:rPr>
              <a:t>DA/Port</a:t>
            </a:r>
            <a:r>
              <a:rPr lang="zh-CN" altLang="en-US" sz="1200" dirty="0" smtClean="0">
                <a:cs typeface="Arial" panose="020B0604020202020204" pitchFamily="34" charset="0"/>
              </a:rPr>
              <a:t>：</a:t>
            </a:r>
            <a:r>
              <a:rPr lang="en-US" altLang="zh-CN" sz="1200" dirty="0">
                <a:solidFill>
                  <a:srgbClr val="ED6D00"/>
                </a:solidFill>
                <a:cs typeface="Arial" panose="020B0604020202020204" pitchFamily="34" charset="0"/>
              </a:rPr>
              <a:t>64:FF9B::101:101/80</a:t>
            </a:r>
            <a:endParaRPr lang="en-US" altLang="zh-CN" sz="1200" dirty="0">
              <a:cs typeface="Arial" panose="020B0604020202020204" pitchFamily="34" charset="0"/>
            </a:endParaRPr>
          </a:p>
        </p:txBody>
      </p:sp>
      <p:sp>
        <p:nvSpPr>
          <p:cNvPr id="64" name="椭圆 63"/>
          <p:cNvSpPr/>
          <p:nvPr/>
        </p:nvSpPr>
        <p:spPr bwMode="gray">
          <a:xfrm>
            <a:off x="4385840" y="5517357"/>
            <a:ext cx="144000" cy="144000"/>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6</a:t>
            </a:r>
            <a:endParaRPr lang="zh-CN" altLang="en-US" sz="1200" dirty="0"/>
          </a:p>
        </p:txBody>
      </p:sp>
      <p:sp>
        <p:nvSpPr>
          <p:cNvPr id="65" name="文本框 64"/>
          <p:cNvSpPr txBox="1"/>
          <p:nvPr/>
        </p:nvSpPr>
        <p:spPr bwMode="gray">
          <a:xfrm>
            <a:off x="4496177" y="5454548"/>
            <a:ext cx="1728358" cy="646331"/>
          </a:xfrm>
          <a:prstGeom prst="rect">
            <a:avLst/>
          </a:prstGeom>
          <a:noFill/>
        </p:spPr>
        <p:txBody>
          <a:bodyPr wrap="none" rtlCol="0">
            <a:spAutoFit/>
          </a:bodyPr>
          <a:lstStyle/>
          <a:p>
            <a:r>
              <a:rPr lang="en-US" altLang="zh-CN" sz="1200" dirty="0">
                <a:cs typeface="Arial" panose="020B0604020202020204" pitchFamily="34" charset="0"/>
              </a:rPr>
              <a:t>HTTP</a:t>
            </a:r>
            <a:r>
              <a:rPr lang="en-US" altLang="zh-CN" sz="1200" dirty="0" smtClean="0">
                <a:cs typeface="Arial" panose="020B0604020202020204" pitchFamily="34" charset="0"/>
              </a:rPr>
              <a:t> Reply</a:t>
            </a:r>
          </a:p>
          <a:p>
            <a:r>
              <a:rPr lang="en-US" sz="1200" dirty="0" smtClean="0">
                <a:cs typeface="Arial" panose="020B0604020202020204" pitchFamily="34" charset="0"/>
              </a:rPr>
              <a:t>SA/Port</a:t>
            </a:r>
            <a:r>
              <a:rPr lang="zh-CN" altLang="en-US" sz="1200" dirty="0" smtClean="0">
                <a:cs typeface="Arial" panose="020B0604020202020204" pitchFamily="34" charset="0"/>
              </a:rPr>
              <a:t>：</a:t>
            </a:r>
            <a:r>
              <a:rPr lang="en-US" altLang="zh-CN" sz="1200" dirty="0" smtClean="0">
                <a:solidFill>
                  <a:srgbClr val="C7000B"/>
                </a:solidFill>
                <a:cs typeface="Arial" panose="020B0604020202020204" pitchFamily="34" charset="0"/>
              </a:rPr>
              <a:t>2.1.1.10/190</a:t>
            </a:r>
            <a:endParaRPr lang="en-US" altLang="zh-CN" sz="1200" dirty="0">
              <a:solidFill>
                <a:srgbClr val="C7000B"/>
              </a:solidFill>
              <a:cs typeface="Arial" panose="020B0604020202020204" pitchFamily="34" charset="0"/>
            </a:endParaRPr>
          </a:p>
          <a:p>
            <a:r>
              <a:rPr lang="en-US" sz="1200" dirty="0" smtClean="0">
                <a:cs typeface="Arial" panose="020B0604020202020204" pitchFamily="34" charset="0"/>
              </a:rPr>
              <a:t>DA/Port</a:t>
            </a:r>
            <a:r>
              <a:rPr lang="zh-CN" altLang="en-US" sz="1200" dirty="0" smtClean="0">
                <a:cs typeface="Arial" panose="020B0604020202020204" pitchFamily="34" charset="0"/>
              </a:rPr>
              <a:t>：</a:t>
            </a:r>
            <a:r>
              <a:rPr lang="en-US" altLang="zh-CN" sz="1200" dirty="0" smtClean="0">
                <a:cs typeface="Arial" panose="020B0604020202020204" pitchFamily="34" charset="0"/>
              </a:rPr>
              <a:t>1.1.1.1/80</a:t>
            </a:r>
            <a:endParaRPr lang="en-US" altLang="zh-CN" sz="1200" dirty="0">
              <a:cs typeface="Arial" panose="020B0604020202020204" pitchFamily="34" charset="0"/>
            </a:endParaRPr>
          </a:p>
        </p:txBody>
      </p:sp>
      <p:graphicFrame>
        <p:nvGraphicFramePr>
          <p:cNvPr id="96" name="表格 95"/>
          <p:cNvGraphicFramePr>
            <a:graphicFrameLocks noGrp="1"/>
          </p:cNvGraphicFramePr>
          <p:nvPr>
            <p:extLst>
              <p:ext uri="{D42A27DB-BD31-4B8C-83A1-F6EECF244321}">
                <p14:modId xmlns:p14="http://schemas.microsoft.com/office/powerpoint/2010/main" val="2578279264"/>
              </p:ext>
            </p:extLst>
          </p:nvPr>
        </p:nvGraphicFramePr>
        <p:xfrm>
          <a:off x="6804793" y="4949437"/>
          <a:ext cx="4910608" cy="731520"/>
        </p:xfrm>
        <a:graphic>
          <a:graphicData uri="http://schemas.openxmlformats.org/drawingml/2006/table">
            <a:tbl>
              <a:tblPr firstRow="1" bandRow="1"/>
              <a:tblGrid>
                <a:gridCol w="1209808"/>
                <a:gridCol w="1368000"/>
                <a:gridCol w="1144800"/>
                <a:gridCol w="1188000"/>
              </a:tblGrid>
              <a:tr h="170572">
                <a:tc>
                  <a:txBody>
                    <a:bodyPr/>
                    <a:lstStyle/>
                    <a:p>
                      <a:pPr algn="ctr"/>
                      <a:r>
                        <a:rPr lang="en-US" altLang="zh-CN" sz="1200" b="1" dirty="0" smtClean="0"/>
                        <a:t>OUT_DA/Port</a:t>
                      </a:r>
                      <a:endParaRPr lang="zh-CN" altLang="en-US" sz="1200" b="1"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smtClean="0"/>
                        <a:t>OUT_SA/Port</a:t>
                      </a:r>
                      <a:endParaRPr lang="zh-CN" altLang="en-US" sz="1200" b="1" dirty="0"/>
                    </a:p>
                  </a:txBody>
                  <a:tcPr anchor="ctr">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smtClean="0"/>
                        <a:t>IN_DA/Port</a:t>
                      </a:r>
                      <a:endParaRPr lang="zh-CN" altLang="en-US" sz="1200" b="1" dirty="0"/>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smtClean="0"/>
                        <a:t>IN_SA/Port</a:t>
                      </a:r>
                      <a:endParaRPr lang="zh-CN" altLang="en-US" sz="1200" b="1" dirty="0"/>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170572">
                <a:tc>
                  <a:txBody>
                    <a:bodyPr/>
                    <a:lstStyle/>
                    <a:p>
                      <a:pPr algn="ctr"/>
                      <a:r>
                        <a:rPr lang="en-US" altLang="zh-CN" sz="1200" dirty="0" smtClean="0"/>
                        <a:t>2001:DB8::2</a:t>
                      </a:r>
                    </a:p>
                    <a:p>
                      <a:pPr algn="ctr"/>
                      <a:r>
                        <a:rPr lang="en-US" altLang="zh-CN" sz="1200" dirty="0" smtClean="0"/>
                        <a:t>/90</a:t>
                      </a:r>
                      <a:endParaRPr lang="zh-CN" altLang="en-US" sz="1200" dirty="0"/>
                    </a:p>
                  </a:txBody>
                  <a:tcPr anchor="ct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smtClean="0"/>
                        <a:t>64:FF9B::101:101</a:t>
                      </a:r>
                    </a:p>
                    <a:p>
                      <a:pPr algn="ctr"/>
                      <a:r>
                        <a:rPr lang="en-US" altLang="zh-CN" sz="1200" dirty="0" smtClean="0"/>
                        <a:t>/80</a:t>
                      </a: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smtClean="0"/>
                        <a:t>2.1.1.10</a:t>
                      </a:r>
                    </a:p>
                    <a:p>
                      <a:pPr algn="ctr"/>
                      <a:r>
                        <a:rPr lang="en-US" altLang="zh-CN" sz="1200" dirty="0" smtClean="0"/>
                        <a:t>/190</a:t>
                      </a: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smtClean="0"/>
                        <a:t>1.1.1.1</a:t>
                      </a:r>
                    </a:p>
                    <a:p>
                      <a:pPr algn="ctr"/>
                      <a:r>
                        <a:rPr lang="en-US" altLang="zh-CN" sz="1200" dirty="0" smtClean="0"/>
                        <a:t>/80</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97" name="文本框 96"/>
          <p:cNvSpPr txBox="1"/>
          <p:nvPr/>
        </p:nvSpPr>
        <p:spPr bwMode="gray">
          <a:xfrm>
            <a:off x="8044843" y="4623592"/>
            <a:ext cx="2653290" cy="307777"/>
          </a:xfrm>
          <a:prstGeom prst="rect">
            <a:avLst/>
          </a:prstGeom>
          <a:noFill/>
        </p:spPr>
        <p:txBody>
          <a:bodyPr wrap="none" rtlCol="0">
            <a:spAutoFit/>
          </a:bodyPr>
          <a:lstStyle/>
          <a:p>
            <a:pPr algn="ctr"/>
            <a:r>
              <a:rPr lang="en-US" altLang="zh-CN" sz="1400" b="1" dirty="0">
                <a:cs typeface="Arial" panose="020B0604020202020204" pitchFamily="34" charset="0"/>
              </a:rPr>
              <a:t>NAT64</a:t>
            </a:r>
            <a:r>
              <a:rPr lang="zh-CN" altLang="en-US" sz="1400" b="1" dirty="0">
                <a:cs typeface="Arial" panose="020B0604020202020204" pitchFamily="34" charset="0"/>
              </a:rPr>
              <a:t>防火墙的</a:t>
            </a:r>
            <a:r>
              <a:rPr lang="en-US" sz="1400" b="1" dirty="0" smtClean="0">
                <a:cs typeface="Arial" panose="020B0604020202020204" pitchFamily="34" charset="0"/>
              </a:rPr>
              <a:t>Session Table</a:t>
            </a:r>
            <a:endParaRPr lang="en-US" sz="1400" b="1" dirty="0">
              <a:cs typeface="Arial" panose="020B0604020202020204" pitchFamily="34" charset="0"/>
            </a:endParaRPr>
          </a:p>
        </p:txBody>
      </p:sp>
      <p:cxnSp>
        <p:nvCxnSpPr>
          <p:cNvPr id="99" name="肘形连接符 98"/>
          <p:cNvCxnSpPr/>
          <p:nvPr/>
        </p:nvCxnSpPr>
        <p:spPr bwMode="gray">
          <a:xfrm rot="5400000">
            <a:off x="8666951" y="4488867"/>
            <a:ext cx="12700" cy="2433017"/>
          </a:xfrm>
          <a:prstGeom prst="bentConnector3">
            <a:avLst>
              <a:gd name="adj1" fmla="val 1800000"/>
            </a:avLst>
          </a:prstGeom>
          <a:ln w="19050">
            <a:solidFill>
              <a:schemeClr val="bg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2" name="肘形连接符 101"/>
          <p:cNvCxnSpPr/>
          <p:nvPr/>
        </p:nvCxnSpPr>
        <p:spPr bwMode="gray">
          <a:xfrm rot="5400000">
            <a:off x="9883460" y="4488868"/>
            <a:ext cx="12700" cy="2433017"/>
          </a:xfrm>
          <a:prstGeom prst="bentConnector3">
            <a:avLst>
              <a:gd name="adj1" fmla="val 2925000"/>
            </a:avLst>
          </a:prstGeom>
          <a:ln w="19050">
            <a:solidFill>
              <a:srgbClr val="30B5C5"/>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83" name="图片 82" descr="PC.png"/>
          <p:cNvPicPr>
            <a:picLocks noChangeAspect="1"/>
          </p:cNvPicPr>
          <p:nvPr/>
        </p:nvPicPr>
        <p:blipFill>
          <a:blip r:embed="rId7" cstate="print"/>
          <a:stretch>
            <a:fillRect/>
          </a:stretch>
        </p:blipFill>
        <p:spPr bwMode="gray">
          <a:xfrm>
            <a:off x="7011706" y="3922250"/>
            <a:ext cx="445577" cy="342203"/>
          </a:xfrm>
          <a:prstGeom prst="rect">
            <a:avLst/>
          </a:prstGeom>
        </p:spPr>
      </p:pic>
      <p:cxnSp>
        <p:nvCxnSpPr>
          <p:cNvPr id="85" name="直接箭头连接符 84"/>
          <p:cNvCxnSpPr/>
          <p:nvPr/>
        </p:nvCxnSpPr>
        <p:spPr bwMode="gray">
          <a:xfrm flipH="1">
            <a:off x="4305300" y="5427010"/>
            <a:ext cx="1981236" cy="0"/>
          </a:xfrm>
          <a:prstGeom prst="straightConnector1">
            <a:avLst/>
          </a:prstGeom>
          <a:ln w="19050">
            <a:solidFill>
              <a:srgbClr val="62B23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bwMode="gray">
          <a:xfrm>
            <a:off x="2113616" y="2569845"/>
            <a:ext cx="2178802" cy="830997"/>
          </a:xfrm>
          <a:prstGeom prst="rect">
            <a:avLst/>
          </a:prstGeom>
          <a:solidFill>
            <a:schemeClr val="bg1">
              <a:lumMod val="95000"/>
            </a:schemeClr>
          </a:solidFill>
          <a:ln>
            <a:solidFill>
              <a:schemeClr val="bg1">
                <a:lumMod val="75000"/>
              </a:schemeClr>
            </a:solidFill>
            <a:prstDash val="dash"/>
          </a:ln>
        </p:spPr>
        <p:txBody>
          <a:bodyPr wrap="none" rtlCol="0">
            <a:spAutoFit/>
          </a:bodyPr>
          <a:lstStyle/>
          <a:p>
            <a:r>
              <a:rPr lang="en-US" altLang="zh-CN" sz="1200" b="1" dirty="0" smtClean="0">
                <a:cs typeface="Arial" panose="020B0604020202020204" pitchFamily="34" charset="0"/>
              </a:rPr>
              <a:t>Static Mapping:</a:t>
            </a:r>
          </a:p>
          <a:p>
            <a:r>
              <a:rPr lang="en-US" altLang="zh-CN" sz="1200" dirty="0" smtClean="0">
                <a:cs typeface="Arial" panose="020B0604020202020204" pitchFamily="34" charset="0"/>
              </a:rPr>
              <a:t>2001:DB8::2  </a:t>
            </a:r>
            <a:r>
              <a:rPr lang="en-US" altLang="zh-CN" sz="1200" dirty="0" smtClean="0">
                <a:cs typeface="Arial" panose="020B0604020202020204" pitchFamily="34" charset="0"/>
                <a:sym typeface="Wingdings" panose="05000000000000000000" pitchFamily="2" charset="2"/>
              </a:rPr>
              <a:t>&lt;-----&gt; 2.1.1.10</a:t>
            </a:r>
          </a:p>
          <a:p>
            <a:r>
              <a:rPr lang="en-US" altLang="zh-CN" sz="1200" dirty="0" smtClean="0">
                <a:cs typeface="Arial" panose="020B0604020202020204" pitchFamily="34" charset="0"/>
                <a:sym typeface="Wingdings" panose="05000000000000000000" pitchFamily="2" charset="2"/>
              </a:rPr>
              <a:t>      </a:t>
            </a:r>
            <a:r>
              <a:rPr lang="en-US" altLang="zh-CN" sz="1200" b="1" dirty="0" smtClean="0">
                <a:cs typeface="Arial" panose="020B0604020202020204" pitchFamily="34" charset="0"/>
                <a:sym typeface="Wingdings" panose="05000000000000000000" pitchFamily="2" charset="2"/>
              </a:rPr>
              <a:t>Prefix64:</a:t>
            </a:r>
          </a:p>
          <a:p>
            <a:r>
              <a:rPr lang="en-US" altLang="zh-CN" sz="1200" dirty="0" smtClean="0">
                <a:cs typeface="Arial" panose="020B0604020202020204" pitchFamily="34" charset="0"/>
                <a:sym typeface="Wingdings" panose="05000000000000000000" pitchFamily="2" charset="2"/>
              </a:rPr>
              <a:t>      64:FF9B::/96</a:t>
            </a:r>
            <a:endParaRPr lang="en-US" altLang="zh-CN" sz="1200" dirty="0">
              <a:cs typeface="Arial" panose="020B0604020202020204" pitchFamily="34" charset="0"/>
            </a:endParaRPr>
          </a:p>
        </p:txBody>
      </p:sp>
      <p:cxnSp>
        <p:nvCxnSpPr>
          <p:cNvPr id="88" name="直接箭头连接符 87"/>
          <p:cNvCxnSpPr>
            <a:stCxn id="16" idx="0"/>
          </p:cNvCxnSpPr>
          <p:nvPr/>
        </p:nvCxnSpPr>
        <p:spPr bwMode="gray">
          <a:xfrm flipV="1">
            <a:off x="4003898" y="3442522"/>
            <a:ext cx="0" cy="602164"/>
          </a:xfrm>
          <a:prstGeom prst="straightConnector1">
            <a:avLst/>
          </a:prstGeom>
          <a:ln w="1270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bwMode="gray">
          <a:xfrm>
            <a:off x="5229711" y="2616680"/>
            <a:ext cx="1877437" cy="276999"/>
          </a:xfrm>
          <a:prstGeom prst="rect">
            <a:avLst/>
          </a:prstGeom>
          <a:solidFill>
            <a:schemeClr val="bg1">
              <a:lumMod val="95000"/>
            </a:schemeClr>
          </a:solidFill>
          <a:ln>
            <a:solidFill>
              <a:schemeClr val="bg1">
                <a:lumMod val="75000"/>
              </a:schemeClr>
            </a:solidFill>
            <a:prstDash val="dash"/>
          </a:ln>
        </p:spPr>
        <p:txBody>
          <a:bodyPr wrap="none" rtlCol="0">
            <a:spAutoFit/>
          </a:bodyPr>
          <a:lstStyle/>
          <a:p>
            <a:r>
              <a:rPr lang="zh-CN" altLang="en-US" sz="1200" dirty="0" smtClean="0">
                <a:cs typeface="Arial" panose="020B0604020202020204" pitchFamily="34" charset="0"/>
              </a:rPr>
              <a:t>域名与地址关系已经注册</a:t>
            </a:r>
            <a:endParaRPr lang="en-US" altLang="zh-CN" sz="1200" dirty="0">
              <a:cs typeface="Arial" panose="020B0604020202020204" pitchFamily="34" charset="0"/>
            </a:endParaRPr>
          </a:p>
        </p:txBody>
      </p:sp>
      <p:cxnSp>
        <p:nvCxnSpPr>
          <p:cNvPr id="91" name="直接箭头连接符 90"/>
          <p:cNvCxnSpPr>
            <a:stCxn id="9" idx="3"/>
          </p:cNvCxnSpPr>
          <p:nvPr/>
        </p:nvCxnSpPr>
        <p:spPr bwMode="gray">
          <a:xfrm flipV="1">
            <a:off x="5090134" y="2908830"/>
            <a:ext cx="242169" cy="313560"/>
          </a:xfrm>
          <a:prstGeom prst="straightConnector1">
            <a:avLst/>
          </a:prstGeom>
          <a:ln w="1270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bwMode="gray">
          <a:xfrm flipH="1">
            <a:off x="543509" y="5773041"/>
            <a:ext cx="315967" cy="0"/>
          </a:xfrm>
          <a:prstGeom prst="line">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gray">
          <a:xfrm flipH="1">
            <a:off x="543509" y="6023429"/>
            <a:ext cx="315967"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773730" y="5634542"/>
            <a:ext cx="864340" cy="276999"/>
          </a:xfrm>
          <a:prstGeom prst="rect">
            <a:avLst/>
          </a:prstGeom>
          <a:noFill/>
        </p:spPr>
        <p:txBody>
          <a:bodyPr wrap="none" rtlCol="0">
            <a:spAutoFit/>
          </a:bodyPr>
          <a:lstStyle/>
          <a:p>
            <a:pPr algn="ctr"/>
            <a:r>
              <a:rPr lang="en-US" sz="1200" dirty="0">
                <a:solidFill>
                  <a:srgbClr val="30B5C5"/>
                </a:solidFill>
                <a:cs typeface="Arial" panose="020B0604020202020204" pitchFamily="34" charset="0"/>
              </a:rPr>
              <a:t>IPv6 </a:t>
            </a:r>
            <a:r>
              <a:rPr lang="en-US" altLang="zh-CN" sz="1200" dirty="0" smtClean="0">
                <a:solidFill>
                  <a:srgbClr val="30B5C5"/>
                </a:solidFill>
                <a:cs typeface="Arial" panose="020B0604020202020204" pitchFamily="34" charset="0"/>
              </a:rPr>
              <a:t>D</a:t>
            </a:r>
            <a:r>
              <a:rPr lang="en-US" sz="1200" dirty="0" smtClean="0">
                <a:solidFill>
                  <a:srgbClr val="30B5C5"/>
                </a:solidFill>
                <a:cs typeface="Arial" panose="020B0604020202020204" pitchFamily="34" charset="0"/>
              </a:rPr>
              <a:t>ata</a:t>
            </a:r>
            <a:endParaRPr lang="en-US" sz="1200" dirty="0">
              <a:solidFill>
                <a:srgbClr val="30B5C5"/>
              </a:solidFill>
              <a:cs typeface="Arial" panose="020B0604020202020204" pitchFamily="34" charset="0"/>
            </a:endParaRPr>
          </a:p>
        </p:txBody>
      </p:sp>
      <p:sp>
        <p:nvSpPr>
          <p:cNvPr id="101" name="文本框 100"/>
          <p:cNvSpPr txBox="1"/>
          <p:nvPr/>
        </p:nvSpPr>
        <p:spPr bwMode="gray">
          <a:xfrm>
            <a:off x="773730" y="5884930"/>
            <a:ext cx="864340" cy="276999"/>
          </a:xfrm>
          <a:prstGeom prst="rect">
            <a:avLst/>
          </a:prstGeom>
          <a:noFill/>
        </p:spPr>
        <p:txBody>
          <a:bodyPr wrap="none" rtlCol="0">
            <a:spAutoFit/>
          </a:bodyPr>
          <a:lstStyle/>
          <a:p>
            <a:pPr algn="ctr"/>
            <a:r>
              <a:rPr lang="en-US" sz="1200" dirty="0">
                <a:solidFill>
                  <a:srgbClr val="62B230"/>
                </a:solidFill>
                <a:cs typeface="Arial" panose="020B0604020202020204" pitchFamily="34" charset="0"/>
              </a:rPr>
              <a:t>IPv4 </a:t>
            </a:r>
            <a:r>
              <a:rPr lang="en-US" altLang="zh-CN" sz="1200" dirty="0" smtClean="0">
                <a:solidFill>
                  <a:srgbClr val="62B230"/>
                </a:solidFill>
                <a:cs typeface="Arial" panose="020B0604020202020204" pitchFamily="34" charset="0"/>
              </a:rPr>
              <a:t>D</a:t>
            </a:r>
            <a:r>
              <a:rPr lang="en-US" sz="1200" dirty="0" smtClean="0">
                <a:solidFill>
                  <a:srgbClr val="62B230"/>
                </a:solidFill>
                <a:cs typeface="Arial" panose="020B0604020202020204" pitchFamily="34" charset="0"/>
              </a:rPr>
              <a:t>ata</a:t>
            </a:r>
            <a:endParaRPr lang="en-US" sz="1200" dirty="0">
              <a:solidFill>
                <a:srgbClr val="62B230"/>
              </a:solidFill>
              <a:cs typeface="Arial" panose="020B0604020202020204" pitchFamily="34" charset="0"/>
            </a:endParaRPr>
          </a:p>
        </p:txBody>
      </p:sp>
      <p:sp>
        <p:nvSpPr>
          <p:cNvPr id="58" name="五边形 57"/>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66" name="燕尾形 65"/>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67" name="燕尾形 66"/>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68" name="燕尾形 67"/>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69" name="燕尾形 68"/>
          <p:cNvSpPr/>
          <p:nvPr/>
        </p:nvSpPr>
        <p:spPr bwMode="gray">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70" name="燕尾形 69"/>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71" name="燕尾形 70"/>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760298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配置</a:t>
            </a:r>
            <a:r>
              <a:rPr lang="en-US" altLang="zh-CN" dirty="0" smtClean="0"/>
              <a:t>NAT64</a:t>
            </a:r>
            <a:r>
              <a:rPr lang="zh-CN" altLang="en-US" dirty="0" smtClean="0"/>
              <a:t>前缀</a:t>
            </a:r>
            <a:endParaRPr lang="zh-CN" altLang="en-US" dirty="0"/>
          </a:p>
        </p:txBody>
      </p:sp>
      <p:sp>
        <p:nvSpPr>
          <p:cNvPr id="5" name="矩形 4"/>
          <p:cNvSpPr/>
          <p:nvPr/>
        </p:nvSpPr>
        <p:spPr>
          <a:xfrm>
            <a:off x="1031917" y="1587529"/>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a:t>
            </a:r>
            <a:r>
              <a:rPr lang="en-US" altLang="zh-CN" sz="1600" dirty="0" smtClean="0">
                <a:cs typeface="Courier New" panose="02070309020205020404" pitchFamily="49" charset="0"/>
              </a:rPr>
              <a:t>] </a:t>
            </a:r>
            <a:r>
              <a:rPr lang="en-US" altLang="zh-CN" sz="1600" b="1" dirty="0"/>
              <a:t>nat64 enable</a:t>
            </a:r>
            <a:endParaRPr lang="zh-CN" altLang="en-US" sz="1600" dirty="0">
              <a:cs typeface="Courier New" panose="02070309020205020404" pitchFamily="49" charset="0"/>
            </a:endParaRPr>
          </a:p>
        </p:txBody>
      </p:sp>
      <p:sp>
        <p:nvSpPr>
          <p:cNvPr id="6" name="矩形 5"/>
          <p:cNvSpPr/>
          <p:nvPr/>
        </p:nvSpPr>
        <p:spPr>
          <a:xfrm>
            <a:off x="551384" y="1172807"/>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cs typeface="Courier New" panose="02070309020205020404" pitchFamily="49" charset="0"/>
              </a:rPr>
              <a:t>开启全局</a:t>
            </a:r>
            <a:r>
              <a:rPr lang="en-US" altLang="zh-CN" sz="1600" dirty="0" smtClean="0">
                <a:cs typeface="Courier New" panose="02070309020205020404" pitchFamily="49" charset="0"/>
              </a:rPr>
              <a:t>/</a:t>
            </a:r>
            <a:r>
              <a:rPr lang="zh-CN" altLang="en-US" sz="1600" dirty="0" smtClean="0">
                <a:cs typeface="Courier New" panose="02070309020205020404" pitchFamily="49" charset="0"/>
              </a:rPr>
              <a:t>接口下</a:t>
            </a:r>
            <a:r>
              <a:rPr lang="en-US" altLang="zh-CN" sz="1600" dirty="0" smtClean="0">
                <a:cs typeface="Courier New" panose="02070309020205020404" pitchFamily="49" charset="0"/>
              </a:rPr>
              <a:t>NAT64</a:t>
            </a:r>
            <a:r>
              <a:rPr lang="zh-CN" altLang="en-US" sz="1600" dirty="0">
                <a:cs typeface="Courier New" panose="02070309020205020404" pitchFamily="49" charset="0"/>
              </a:rPr>
              <a:t>功能。</a:t>
            </a:r>
          </a:p>
        </p:txBody>
      </p:sp>
      <p:sp>
        <p:nvSpPr>
          <p:cNvPr id="7" name="矩形 6"/>
          <p:cNvSpPr/>
          <p:nvPr/>
        </p:nvSpPr>
        <p:spPr>
          <a:xfrm>
            <a:off x="1031917" y="2323604"/>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开启全局</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NAT64</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功能后，所有接口的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NAT64</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功能都被启用。</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a:xfrm>
            <a:off x="1031917" y="3327318"/>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a:t>
            </a:r>
            <a:r>
              <a:rPr lang="en-US" altLang="zh-CN" sz="1600" dirty="0" smtClean="0">
                <a:cs typeface="Courier New" panose="02070309020205020404" pitchFamily="49" charset="0"/>
              </a:rPr>
              <a:t>] </a:t>
            </a:r>
            <a:r>
              <a:rPr lang="en-US" altLang="zh-CN" sz="1600" b="1" dirty="0"/>
              <a:t>nat64 prefix </a:t>
            </a:r>
            <a:r>
              <a:rPr lang="en-US" altLang="zh-CN" sz="1600" i="1" dirty="0" err="1"/>
              <a:t>prefix</a:t>
            </a:r>
            <a:r>
              <a:rPr lang="en-US" altLang="zh-CN" sz="1600" dirty="0"/>
              <a:t> </a:t>
            </a:r>
            <a:r>
              <a:rPr lang="en-US" altLang="zh-CN" sz="1600" i="1" dirty="0"/>
              <a:t>prefix-length</a:t>
            </a:r>
            <a:endParaRPr lang="zh-CN" altLang="en-US" sz="1600" i="1" dirty="0">
              <a:cs typeface="Courier New" panose="02070309020205020404" pitchFamily="49" charset="0"/>
            </a:endParaRPr>
          </a:p>
        </p:txBody>
      </p:sp>
      <p:sp>
        <p:nvSpPr>
          <p:cNvPr id="9" name="矩形 8"/>
          <p:cNvSpPr/>
          <p:nvPr/>
        </p:nvSpPr>
        <p:spPr>
          <a:xfrm>
            <a:off x="551384" y="2904478"/>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t>配置</a:t>
            </a:r>
            <a:r>
              <a:rPr lang="en-US" altLang="zh-CN" sz="1600" dirty="0"/>
              <a:t>NAT64</a:t>
            </a:r>
            <a:r>
              <a:rPr lang="zh-CN" altLang="en-US" sz="1600" dirty="0" smtClean="0"/>
              <a:t>前缀</a:t>
            </a:r>
            <a:r>
              <a:rPr lang="zh-CN" altLang="en-US" sz="1600" dirty="0"/>
              <a:t>。</a:t>
            </a:r>
            <a:endParaRPr lang="zh-CN" altLang="en-US" sz="1600" dirty="0">
              <a:cs typeface="Courier New" panose="02070309020205020404" pitchFamily="49" charset="0"/>
            </a:endParaRPr>
          </a:p>
        </p:txBody>
      </p:sp>
      <p:sp>
        <p:nvSpPr>
          <p:cNvPr id="15" name="矩形 14"/>
          <p:cNvSpPr/>
          <p:nvPr/>
        </p:nvSpPr>
        <p:spPr>
          <a:xfrm>
            <a:off x="1031917" y="1987655"/>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HUAWEI-GE1/0/1] </a:t>
            </a:r>
            <a:r>
              <a:rPr lang="en-US" altLang="zh-CN" sz="1600" b="1" dirty="0"/>
              <a:t>nat64 enable</a:t>
            </a:r>
            <a:endParaRPr lang="zh-CN" altLang="en-US" sz="1600" dirty="0">
              <a:cs typeface="Courier New" panose="02070309020205020404" pitchFamily="49" charset="0"/>
            </a:endParaRPr>
          </a:p>
        </p:txBody>
      </p:sp>
      <p:sp>
        <p:nvSpPr>
          <p:cNvPr id="16" name="矩形 15"/>
          <p:cNvSpPr/>
          <p:nvPr/>
        </p:nvSpPr>
        <p:spPr>
          <a:xfrm>
            <a:off x="1031917" y="3662108"/>
            <a:ext cx="10608699" cy="707886"/>
          </a:xfrm>
          <a:prstGeom prst="rect">
            <a:avLst/>
          </a:prstGeom>
        </p:spPr>
        <p:txBody>
          <a:bodyPr wrap="square">
            <a:spAutoFit/>
          </a:bodyPr>
          <a:lstStyle/>
          <a:p>
            <a:pPr fontAlgn="auto">
              <a:lnSpc>
                <a:spcPts val="2400"/>
              </a:lnSpc>
            </a:pPr>
            <a:r>
              <a:rPr lang="en-US" altLang="zh-CN" sz="1600" i="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prefix</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地址前缀</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i="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prefix-length</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：前缀</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长度</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取值为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32</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48</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64</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96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a:xfrm>
            <a:off x="1031917" y="5063497"/>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a:t>
            </a:r>
            <a:r>
              <a:rPr lang="en-US" altLang="zh-CN" sz="1600" dirty="0" smtClean="0">
                <a:cs typeface="Courier New" panose="02070309020205020404" pitchFamily="49" charset="0"/>
              </a:rPr>
              <a:t>] </a:t>
            </a:r>
            <a:r>
              <a:rPr lang="en-US" altLang="zh-CN" sz="1600" b="1" dirty="0"/>
              <a:t>display nat64 prefix</a:t>
            </a:r>
            <a:endParaRPr lang="zh-CN" altLang="en-US" sz="1600" i="1" dirty="0">
              <a:cs typeface="Courier New" panose="02070309020205020404" pitchFamily="49" charset="0"/>
            </a:endParaRPr>
          </a:p>
        </p:txBody>
      </p:sp>
      <p:sp>
        <p:nvSpPr>
          <p:cNvPr id="18" name="矩形 17"/>
          <p:cNvSpPr/>
          <p:nvPr/>
        </p:nvSpPr>
        <p:spPr>
          <a:xfrm>
            <a:off x="551384" y="4640657"/>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t>查看</a:t>
            </a:r>
            <a:r>
              <a:rPr lang="en-US" altLang="zh-CN" sz="1600" dirty="0" smtClean="0"/>
              <a:t>NAT64</a:t>
            </a:r>
            <a:r>
              <a:rPr lang="zh-CN" altLang="en-US" sz="1600" dirty="0" smtClean="0"/>
              <a:t>前缀配置结果。</a:t>
            </a:r>
            <a:endParaRPr lang="zh-CN" altLang="en-US" sz="1600" dirty="0">
              <a:cs typeface="Courier New" panose="02070309020205020404" pitchFamily="49" charset="0"/>
            </a:endParaRPr>
          </a:p>
        </p:txBody>
      </p:sp>
      <p:sp>
        <p:nvSpPr>
          <p:cNvPr id="22" name="五边形 21"/>
          <p:cNvSpPr/>
          <p:nvPr/>
        </p:nvSpPr>
        <p:spPr bwMode="auto">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23" name="燕尾形 22"/>
          <p:cNvSpPr/>
          <p:nvPr/>
        </p:nvSpPr>
        <p:spPr bwMode="auto">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24" name="燕尾形 23"/>
          <p:cNvSpPr/>
          <p:nvPr/>
        </p:nvSpPr>
        <p:spPr bwMode="auto">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25" name="燕尾形 24"/>
          <p:cNvSpPr/>
          <p:nvPr/>
        </p:nvSpPr>
        <p:spPr bwMode="auto">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26" name="燕尾形 25"/>
          <p:cNvSpPr/>
          <p:nvPr/>
        </p:nvSpPr>
        <p:spPr bwMode="auto">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27" name="燕尾形 26"/>
          <p:cNvSpPr/>
          <p:nvPr/>
        </p:nvSpPr>
        <p:spPr bwMode="auto">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28" name="燕尾形 27"/>
          <p:cNvSpPr/>
          <p:nvPr/>
        </p:nvSpPr>
        <p:spPr bwMode="auto">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321785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配置动态</a:t>
            </a:r>
            <a:r>
              <a:rPr lang="en-US" altLang="zh-CN" dirty="0" smtClean="0"/>
              <a:t>NAT64</a:t>
            </a:r>
            <a:r>
              <a:rPr lang="zh-CN" altLang="en-US" dirty="0" smtClean="0"/>
              <a:t>映射</a:t>
            </a:r>
            <a:endParaRPr lang="zh-CN" altLang="en-US" dirty="0"/>
          </a:p>
        </p:txBody>
      </p:sp>
      <p:sp>
        <p:nvSpPr>
          <p:cNvPr id="5" name="矩形 4"/>
          <p:cNvSpPr/>
          <p:nvPr/>
        </p:nvSpPr>
        <p:spPr>
          <a:xfrm>
            <a:off x="1031917" y="1587529"/>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 </a:t>
            </a:r>
            <a:r>
              <a:rPr lang="en-US" altLang="zh-CN" sz="1600" b="1" dirty="0"/>
              <a:t>nat address-group </a:t>
            </a:r>
            <a:r>
              <a:rPr lang="en-US" altLang="zh-CN" sz="1600" i="1" dirty="0"/>
              <a:t>group-name</a:t>
            </a:r>
            <a:r>
              <a:rPr lang="en-US" altLang="zh-CN" sz="1600" dirty="0"/>
              <a:t> [ </a:t>
            </a:r>
            <a:r>
              <a:rPr lang="en-US" altLang="zh-CN" sz="1600" i="1" dirty="0"/>
              <a:t>group-number</a:t>
            </a:r>
            <a:r>
              <a:rPr lang="en-US" altLang="zh-CN" sz="1600" dirty="0"/>
              <a:t> ]</a:t>
            </a:r>
            <a:endParaRPr lang="zh-CN" altLang="en-US" sz="1600" dirty="0">
              <a:cs typeface="Courier New" panose="02070309020205020404" pitchFamily="49" charset="0"/>
            </a:endParaRPr>
          </a:p>
        </p:txBody>
      </p:sp>
      <p:sp>
        <p:nvSpPr>
          <p:cNvPr id="6" name="矩形 5"/>
          <p:cNvSpPr/>
          <p:nvPr/>
        </p:nvSpPr>
        <p:spPr>
          <a:xfrm>
            <a:off x="551384" y="1172807"/>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cs typeface="Courier New" panose="02070309020205020404" pitchFamily="49" charset="0"/>
              </a:rPr>
              <a:t>配置</a:t>
            </a:r>
            <a:r>
              <a:rPr lang="en-US" altLang="zh-CN" sz="1600" dirty="0" smtClean="0">
                <a:cs typeface="Courier New" panose="02070309020205020404" pitchFamily="49" charset="0"/>
              </a:rPr>
              <a:t>NAT</a:t>
            </a:r>
            <a:r>
              <a:rPr lang="zh-CN" altLang="en-US" sz="1600" dirty="0" smtClean="0">
                <a:cs typeface="Courier New" panose="02070309020205020404" pitchFamily="49" charset="0"/>
              </a:rPr>
              <a:t>地址池。</a:t>
            </a:r>
            <a:endParaRPr lang="zh-CN" altLang="en-US" sz="1600" dirty="0">
              <a:cs typeface="Courier New" panose="02070309020205020404" pitchFamily="49" charset="0"/>
            </a:endParaRPr>
          </a:p>
        </p:txBody>
      </p:sp>
      <p:sp>
        <p:nvSpPr>
          <p:cNvPr id="15" name="矩形 14"/>
          <p:cNvSpPr/>
          <p:nvPr/>
        </p:nvSpPr>
        <p:spPr>
          <a:xfrm>
            <a:off x="1031917" y="1987655"/>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a:t>
            </a:r>
            <a:r>
              <a:rPr lang="en-US" altLang="zh-CN" sz="1600" dirty="0">
                <a:cs typeface="Courier New" panose="02070309020205020404" pitchFamily="49" charset="0"/>
              </a:rPr>
              <a:t>HUAWEI-address-group-</a:t>
            </a:r>
            <a:r>
              <a:rPr lang="en-US" altLang="zh-CN" sz="1600" dirty="0" err="1">
                <a:cs typeface="Courier New" panose="02070309020205020404" pitchFamily="49" charset="0"/>
              </a:rPr>
              <a:t>nataddr</a:t>
            </a:r>
            <a:r>
              <a:rPr lang="en-US" altLang="zh-CN" sz="1600" dirty="0">
                <a:cs typeface="Courier New" panose="02070309020205020404" pitchFamily="49" charset="0"/>
              </a:rPr>
              <a:t>] </a:t>
            </a:r>
            <a:r>
              <a:rPr lang="en-US" altLang="zh-CN" sz="1600" b="1" dirty="0"/>
              <a:t>mode </a:t>
            </a:r>
            <a:r>
              <a:rPr lang="en-US" altLang="zh-CN" sz="1600" dirty="0"/>
              <a:t>{</a:t>
            </a:r>
            <a:r>
              <a:rPr lang="en-US" altLang="zh-CN" sz="1600" b="1" dirty="0"/>
              <a:t> pat </a:t>
            </a:r>
            <a:r>
              <a:rPr lang="en-US" altLang="zh-CN" sz="1600" dirty="0"/>
              <a:t>|</a:t>
            </a:r>
            <a:r>
              <a:rPr lang="en-US" altLang="zh-CN" sz="1600" b="1" dirty="0"/>
              <a:t> full-cone </a:t>
            </a:r>
            <a:r>
              <a:rPr lang="en-US" altLang="zh-CN" sz="1600" dirty="0"/>
              <a:t>{ </a:t>
            </a:r>
            <a:r>
              <a:rPr lang="en-US" altLang="zh-CN" sz="1600" b="1" dirty="0"/>
              <a:t>global </a:t>
            </a:r>
            <a:r>
              <a:rPr lang="en-US" altLang="zh-CN" sz="1600" dirty="0"/>
              <a:t>|</a:t>
            </a:r>
            <a:r>
              <a:rPr lang="en-US" altLang="zh-CN" sz="1600" b="1" dirty="0"/>
              <a:t> local </a:t>
            </a:r>
            <a:r>
              <a:rPr lang="en-US" altLang="zh-CN" sz="1600" dirty="0"/>
              <a:t>} [</a:t>
            </a:r>
            <a:r>
              <a:rPr lang="en-US" altLang="zh-CN" sz="1600" b="1" dirty="0"/>
              <a:t> no-reverse </a:t>
            </a:r>
            <a:r>
              <a:rPr lang="en-US" altLang="zh-CN" sz="1600" dirty="0"/>
              <a:t>] }</a:t>
            </a:r>
            <a:endParaRPr lang="zh-CN" altLang="en-US" sz="1600" dirty="0">
              <a:cs typeface="Courier New" panose="02070309020205020404" pitchFamily="49" charset="0"/>
            </a:endParaRPr>
          </a:p>
        </p:txBody>
      </p:sp>
      <p:sp>
        <p:nvSpPr>
          <p:cNvPr id="14" name="矩形 13"/>
          <p:cNvSpPr/>
          <p:nvPr/>
        </p:nvSpPr>
        <p:spPr>
          <a:xfrm>
            <a:off x="1031917" y="27435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a:t>
            </a:r>
            <a:r>
              <a:rPr lang="en-US" altLang="zh-CN" sz="1600" dirty="0">
                <a:cs typeface="Courier New" panose="02070309020205020404" pitchFamily="49" charset="0"/>
              </a:rPr>
              <a:t>HUAWEI-address-group-</a:t>
            </a:r>
            <a:r>
              <a:rPr lang="en-US" altLang="zh-CN" sz="1600" dirty="0" err="1">
                <a:cs typeface="Courier New" panose="02070309020205020404" pitchFamily="49" charset="0"/>
              </a:rPr>
              <a:t>nataddr</a:t>
            </a:r>
            <a:r>
              <a:rPr lang="en-US" altLang="zh-CN" sz="1600" dirty="0">
                <a:cs typeface="Courier New" panose="02070309020205020404" pitchFamily="49" charset="0"/>
              </a:rPr>
              <a:t>] </a:t>
            </a:r>
            <a:r>
              <a:rPr lang="en-US" altLang="zh-CN" sz="1600" b="1" dirty="0"/>
              <a:t>section </a:t>
            </a:r>
            <a:r>
              <a:rPr lang="en-US" altLang="zh-CN" sz="1600" i="1" dirty="0"/>
              <a:t>section-id</a:t>
            </a:r>
            <a:r>
              <a:rPr lang="en-US" altLang="zh-CN" sz="1600" dirty="0"/>
              <a:t> </a:t>
            </a:r>
            <a:r>
              <a:rPr lang="en-US" altLang="zh-CN" sz="1600" i="1" dirty="0"/>
              <a:t>start-address</a:t>
            </a:r>
            <a:r>
              <a:rPr lang="en-US" altLang="zh-CN" sz="1600" dirty="0"/>
              <a:t> [ </a:t>
            </a:r>
            <a:r>
              <a:rPr lang="en-US" altLang="zh-CN" sz="1600" i="1" dirty="0"/>
              <a:t>end-address</a:t>
            </a:r>
            <a:r>
              <a:rPr lang="en-US" altLang="zh-CN" sz="1600" dirty="0"/>
              <a:t> ]</a:t>
            </a:r>
            <a:endParaRPr lang="zh-CN" altLang="en-US" sz="1600" dirty="0">
              <a:cs typeface="Courier New" panose="02070309020205020404" pitchFamily="49" charset="0"/>
            </a:endParaRPr>
          </a:p>
        </p:txBody>
      </p:sp>
      <p:sp>
        <p:nvSpPr>
          <p:cNvPr id="19" name="矩形 18"/>
          <p:cNvSpPr/>
          <p:nvPr/>
        </p:nvSpPr>
        <p:spPr>
          <a:xfrm>
            <a:off x="1031917" y="308763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地址池中的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地址段。</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a:xfrm>
            <a:off x="1031917" y="2326209"/>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配置地址池的应用</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情况</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下为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p:cNvSpPr/>
          <p:nvPr/>
        </p:nvSpPr>
        <p:spPr>
          <a:xfrm>
            <a:off x="1031917" y="4083719"/>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a:t>
            </a:r>
            <a:r>
              <a:rPr lang="en-US" altLang="zh-CN" sz="1600" dirty="0" smtClean="0">
                <a:cs typeface="Courier New" panose="02070309020205020404" pitchFamily="49" charset="0"/>
              </a:rPr>
              <a:t>] </a:t>
            </a:r>
            <a:r>
              <a:rPr lang="en-US" altLang="zh-CN" sz="1600" b="1" dirty="0"/>
              <a:t>nat-policy</a:t>
            </a:r>
            <a:endParaRPr lang="zh-CN" altLang="en-US" sz="1600" i="1" dirty="0">
              <a:cs typeface="Courier New" panose="02070309020205020404" pitchFamily="49" charset="0"/>
            </a:endParaRPr>
          </a:p>
        </p:txBody>
      </p:sp>
      <p:sp>
        <p:nvSpPr>
          <p:cNvPr id="22" name="矩形 21"/>
          <p:cNvSpPr/>
          <p:nvPr/>
        </p:nvSpPr>
        <p:spPr>
          <a:xfrm>
            <a:off x="551384" y="3660879"/>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smtClean="0"/>
              <a:t>配置</a:t>
            </a:r>
            <a:r>
              <a:rPr lang="en-US" altLang="zh-CN" sz="1600" dirty="0" smtClean="0"/>
              <a:t>NAT</a:t>
            </a:r>
            <a:r>
              <a:rPr lang="zh-CN" altLang="en-US" sz="1600" dirty="0" smtClean="0"/>
              <a:t>策略。</a:t>
            </a:r>
            <a:endParaRPr lang="zh-CN" altLang="en-US" sz="1600" dirty="0">
              <a:cs typeface="Courier New" panose="02070309020205020404" pitchFamily="49" charset="0"/>
            </a:endParaRPr>
          </a:p>
        </p:txBody>
      </p:sp>
      <p:sp>
        <p:nvSpPr>
          <p:cNvPr id="23" name="矩形 22"/>
          <p:cNvSpPr/>
          <p:nvPr/>
        </p:nvSpPr>
        <p:spPr>
          <a:xfrm>
            <a:off x="1031917" y="4478350"/>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HUAWEI-policy-nat] </a:t>
            </a:r>
            <a:r>
              <a:rPr lang="en-US" altLang="zh-CN" sz="1600" b="1" dirty="0"/>
              <a:t>rule name </a:t>
            </a:r>
            <a:r>
              <a:rPr lang="en-US" altLang="zh-CN" sz="1600" i="1" dirty="0"/>
              <a:t>rule-name</a:t>
            </a:r>
            <a:endParaRPr lang="zh-CN" altLang="en-US" sz="1600" i="1" dirty="0">
              <a:cs typeface="Courier New" panose="02070309020205020404" pitchFamily="49" charset="0"/>
            </a:endParaRPr>
          </a:p>
        </p:txBody>
      </p:sp>
      <p:sp>
        <p:nvSpPr>
          <p:cNvPr id="24" name="矩形 23"/>
          <p:cNvSpPr/>
          <p:nvPr/>
        </p:nvSpPr>
        <p:spPr>
          <a:xfrm>
            <a:off x="1031917" y="4872981"/>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HUAWEI-policy-nat-rule-</a:t>
            </a:r>
            <a:r>
              <a:rPr lang="en-US" altLang="zh-CN" sz="1600" dirty="0" err="1" smtClean="0">
                <a:cs typeface="Courier New" panose="02070309020205020404" pitchFamily="49" charset="0"/>
              </a:rPr>
              <a:t>abc</a:t>
            </a:r>
            <a:r>
              <a:rPr lang="en-US" altLang="zh-CN" sz="1600" dirty="0">
                <a:cs typeface="Courier New" panose="02070309020205020404" pitchFamily="49" charset="0"/>
              </a:rPr>
              <a:t>] </a:t>
            </a:r>
            <a:r>
              <a:rPr lang="en-US" altLang="zh-CN" sz="1600" b="1" dirty="0"/>
              <a:t>nat-type </a:t>
            </a:r>
            <a:r>
              <a:rPr lang="en-US" altLang="zh-CN" sz="1600" b="1" dirty="0" smtClean="0"/>
              <a:t>nat64</a:t>
            </a:r>
            <a:endParaRPr lang="zh-CN" altLang="en-US" sz="1600" i="1" dirty="0">
              <a:cs typeface="Courier New" panose="02070309020205020404" pitchFamily="49" charset="0"/>
            </a:endParaRPr>
          </a:p>
        </p:txBody>
      </p:sp>
      <p:sp>
        <p:nvSpPr>
          <p:cNvPr id="25" name="矩形 24"/>
          <p:cNvSpPr/>
          <p:nvPr/>
        </p:nvSpPr>
        <p:spPr>
          <a:xfrm>
            <a:off x="1031917" y="5211535"/>
            <a:ext cx="10608699" cy="400110"/>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NAT</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策略的类型。</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6" name="文本框 25"/>
          <p:cNvSpPr txBox="1"/>
          <p:nvPr/>
        </p:nvSpPr>
        <p:spPr bwMode="gray">
          <a:xfrm>
            <a:off x="8429625" y="5838339"/>
            <a:ext cx="3319463" cy="350865"/>
          </a:xfrm>
          <a:prstGeom prst="rect">
            <a:avLst/>
          </a:prstGeom>
          <a:noFill/>
        </p:spPr>
        <p:txBody>
          <a:bodyPr wrap="square" rtlCol="0">
            <a:spAutoFit/>
          </a:bodyPr>
          <a:lstStyle/>
          <a:p>
            <a:pPr>
              <a:lnSpc>
                <a:spcPct val="140000"/>
              </a:lnSpc>
            </a:pPr>
            <a:r>
              <a:rPr lang="zh-CN" altLang="en-US" sz="1200" dirty="0" smtClean="0"/>
              <a:t>其余配置介绍省略，与防火墙的</a:t>
            </a:r>
            <a:r>
              <a:rPr lang="en-US" altLang="zh-CN" sz="1200" dirty="0" smtClean="0"/>
              <a:t>NAT</a:t>
            </a:r>
            <a:r>
              <a:rPr lang="zh-CN" altLang="en-US" sz="1200" dirty="0" smtClean="0"/>
              <a:t>配置类似。</a:t>
            </a:r>
            <a:endParaRPr lang="zh-CN" altLang="en-US" sz="1200" dirty="0"/>
          </a:p>
        </p:txBody>
      </p:sp>
      <p:sp>
        <p:nvSpPr>
          <p:cNvPr id="30" name="五边形 29"/>
          <p:cNvSpPr/>
          <p:nvPr/>
        </p:nvSpPr>
        <p:spPr bwMode="auto">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31" name="燕尾形 30"/>
          <p:cNvSpPr/>
          <p:nvPr/>
        </p:nvSpPr>
        <p:spPr bwMode="auto">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32" name="燕尾形 31"/>
          <p:cNvSpPr/>
          <p:nvPr/>
        </p:nvSpPr>
        <p:spPr bwMode="auto">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33" name="燕尾形 32"/>
          <p:cNvSpPr/>
          <p:nvPr/>
        </p:nvSpPr>
        <p:spPr bwMode="auto">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34" name="燕尾形 33"/>
          <p:cNvSpPr/>
          <p:nvPr/>
        </p:nvSpPr>
        <p:spPr bwMode="auto">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35" name="燕尾形 34"/>
          <p:cNvSpPr/>
          <p:nvPr/>
        </p:nvSpPr>
        <p:spPr bwMode="auto">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36" name="燕尾形 35"/>
          <p:cNvSpPr/>
          <p:nvPr/>
        </p:nvSpPr>
        <p:spPr bwMode="auto">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3231333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配置静态</a:t>
            </a:r>
            <a:r>
              <a:rPr lang="en-US" altLang="zh-CN" dirty="0" smtClean="0"/>
              <a:t>NAT64</a:t>
            </a:r>
            <a:r>
              <a:rPr lang="zh-CN" altLang="en-US" dirty="0" smtClean="0"/>
              <a:t>映射</a:t>
            </a:r>
            <a:endParaRPr lang="zh-CN" altLang="en-US" dirty="0"/>
          </a:p>
        </p:txBody>
      </p:sp>
      <p:sp>
        <p:nvSpPr>
          <p:cNvPr id="5" name="矩形 4"/>
          <p:cNvSpPr/>
          <p:nvPr/>
        </p:nvSpPr>
        <p:spPr>
          <a:xfrm>
            <a:off x="1031917" y="1587529"/>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a:t>
            </a:r>
            <a:r>
              <a:rPr lang="en-US" altLang="zh-CN" sz="1600" dirty="0" smtClean="0">
                <a:cs typeface="Courier New" panose="02070309020205020404" pitchFamily="49" charset="0"/>
              </a:rPr>
              <a:t>HUAWEI] </a:t>
            </a:r>
            <a:r>
              <a:rPr lang="en-US" altLang="zh-CN" sz="1600" b="1" dirty="0"/>
              <a:t>nat64 static </a:t>
            </a:r>
            <a:r>
              <a:rPr lang="en-US" altLang="zh-CN" sz="1600" i="1" dirty="0"/>
              <a:t>ipv6-address ipv4-address </a:t>
            </a:r>
            <a:r>
              <a:rPr lang="en-US" altLang="zh-CN" sz="1600" dirty="0"/>
              <a:t>[</a:t>
            </a:r>
            <a:r>
              <a:rPr lang="en-US" altLang="zh-CN" sz="1600" b="1" dirty="0"/>
              <a:t> route </a:t>
            </a:r>
            <a:r>
              <a:rPr lang="en-US" altLang="zh-CN" sz="1600" dirty="0"/>
              <a:t>]</a:t>
            </a:r>
            <a:endParaRPr lang="zh-CN" altLang="en-US" sz="1600" dirty="0">
              <a:cs typeface="Courier New" panose="02070309020205020404" pitchFamily="49" charset="0"/>
            </a:endParaRPr>
          </a:p>
        </p:txBody>
      </p:sp>
      <p:sp>
        <p:nvSpPr>
          <p:cNvPr id="6" name="矩形 5"/>
          <p:cNvSpPr/>
          <p:nvPr/>
        </p:nvSpPr>
        <p:spPr>
          <a:xfrm>
            <a:off x="551384" y="1172807"/>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cs typeface="Courier New" panose="02070309020205020404" pitchFamily="49" charset="0"/>
              </a:rPr>
              <a:t>配置静态</a:t>
            </a:r>
            <a:r>
              <a:rPr lang="en-US" altLang="zh-CN" sz="1600" dirty="0" smtClean="0">
                <a:cs typeface="Courier New" panose="02070309020205020404" pitchFamily="49" charset="0"/>
              </a:rPr>
              <a:t>NAT64</a:t>
            </a:r>
            <a:r>
              <a:rPr lang="zh-CN" altLang="en-US" sz="1600" dirty="0" smtClean="0">
                <a:cs typeface="Courier New" panose="02070309020205020404" pitchFamily="49" charset="0"/>
              </a:rPr>
              <a:t>映射。</a:t>
            </a:r>
            <a:endParaRPr lang="zh-CN" altLang="en-US" sz="1600" dirty="0">
              <a:cs typeface="Courier New" panose="02070309020205020404" pitchFamily="49" charset="0"/>
            </a:endParaRPr>
          </a:p>
        </p:txBody>
      </p:sp>
      <p:sp>
        <p:nvSpPr>
          <p:cNvPr id="15" name="矩形 14"/>
          <p:cNvSpPr/>
          <p:nvPr/>
        </p:nvSpPr>
        <p:spPr>
          <a:xfrm>
            <a:off x="1031917" y="2405000"/>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[HUAWEI] </a:t>
            </a:r>
            <a:r>
              <a:rPr lang="en-US" altLang="zh-CN" sz="1600" b="1" dirty="0"/>
              <a:t>nat64 static protocol </a:t>
            </a:r>
            <a:r>
              <a:rPr lang="en-US" altLang="zh-CN" sz="1600" b="1" dirty="0" err="1"/>
              <a:t>icmp</a:t>
            </a:r>
            <a:r>
              <a:rPr lang="en-US" altLang="zh-CN" sz="1600" b="1" dirty="0"/>
              <a:t> </a:t>
            </a:r>
            <a:r>
              <a:rPr lang="en-US" altLang="zh-CN" sz="1600" i="1" dirty="0"/>
              <a:t>ipv6-address ipv4-address </a:t>
            </a:r>
            <a:r>
              <a:rPr lang="en-US" altLang="zh-CN" sz="1600" dirty="0"/>
              <a:t>[</a:t>
            </a:r>
            <a:r>
              <a:rPr lang="en-US" altLang="zh-CN" sz="1600" b="1" dirty="0"/>
              <a:t> route </a:t>
            </a:r>
            <a:r>
              <a:rPr lang="en-US" altLang="zh-CN" sz="1600" dirty="0"/>
              <a:t>]</a:t>
            </a:r>
            <a:endParaRPr lang="zh-CN" altLang="en-US" sz="1600" dirty="0">
              <a:cs typeface="Courier New" panose="02070309020205020404" pitchFamily="49" charset="0"/>
            </a:endParaRPr>
          </a:p>
        </p:txBody>
      </p:sp>
      <p:sp>
        <p:nvSpPr>
          <p:cNvPr id="14" name="矩形 13"/>
          <p:cNvSpPr/>
          <p:nvPr/>
        </p:nvSpPr>
        <p:spPr>
          <a:xfrm>
            <a:off x="1031917" y="326567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cs typeface="Courier New" panose="02070309020205020404" pitchFamily="49" charset="0"/>
              </a:rPr>
              <a:t>[HUAWEI] </a:t>
            </a:r>
            <a:r>
              <a:rPr lang="en-US" altLang="zh-CN" sz="1600" b="1" dirty="0"/>
              <a:t>nat64 static protocol </a:t>
            </a:r>
            <a:r>
              <a:rPr lang="en-US" altLang="zh-CN" sz="1600" dirty="0"/>
              <a:t>{</a:t>
            </a:r>
            <a:r>
              <a:rPr lang="en-US" altLang="zh-CN" sz="1600" b="1" dirty="0"/>
              <a:t> </a:t>
            </a:r>
            <a:r>
              <a:rPr lang="en-US" altLang="zh-CN" sz="1600" b="1" dirty="0" err="1"/>
              <a:t>tcp</a:t>
            </a:r>
            <a:r>
              <a:rPr lang="en-US" altLang="zh-CN" sz="1600" b="1" dirty="0"/>
              <a:t> </a:t>
            </a:r>
            <a:r>
              <a:rPr lang="en-US" altLang="zh-CN" sz="1600" dirty="0"/>
              <a:t>| </a:t>
            </a:r>
            <a:r>
              <a:rPr lang="en-US" altLang="zh-CN" sz="1600" b="1" dirty="0" err="1"/>
              <a:t>udp</a:t>
            </a:r>
            <a:r>
              <a:rPr lang="en-US" altLang="zh-CN" sz="1600" b="1" dirty="0"/>
              <a:t> </a:t>
            </a:r>
            <a:r>
              <a:rPr lang="en-US" altLang="zh-CN" sz="1600" dirty="0"/>
              <a:t>} </a:t>
            </a:r>
            <a:r>
              <a:rPr lang="en-US" altLang="zh-CN" sz="1600" i="1" dirty="0"/>
              <a:t>ipv6-address</a:t>
            </a:r>
            <a:r>
              <a:rPr lang="en-US" altLang="zh-CN" sz="1600" b="1" dirty="0"/>
              <a:t> </a:t>
            </a:r>
            <a:r>
              <a:rPr lang="en-US" altLang="zh-CN" sz="1600" dirty="0"/>
              <a:t>[ </a:t>
            </a:r>
            <a:r>
              <a:rPr lang="en-US" altLang="zh-CN" sz="1600" i="1" dirty="0"/>
              <a:t>ipv6-port </a:t>
            </a:r>
            <a:r>
              <a:rPr lang="en-US" altLang="zh-CN" sz="1600" dirty="0"/>
              <a:t>] </a:t>
            </a:r>
            <a:r>
              <a:rPr lang="en-US" altLang="zh-CN" sz="1600" i="1" dirty="0"/>
              <a:t>ipv4-address</a:t>
            </a:r>
            <a:r>
              <a:rPr lang="en-US" altLang="zh-CN" sz="1600" dirty="0"/>
              <a:t> [</a:t>
            </a:r>
            <a:r>
              <a:rPr lang="en-US" altLang="zh-CN" sz="1600" i="1" dirty="0"/>
              <a:t>ipv4-port </a:t>
            </a:r>
            <a:r>
              <a:rPr lang="en-US" altLang="zh-CN" sz="1600" dirty="0"/>
              <a:t>] [ </a:t>
            </a:r>
            <a:r>
              <a:rPr lang="en-US" altLang="zh-CN" sz="1600" b="1" dirty="0"/>
              <a:t>route </a:t>
            </a:r>
            <a:r>
              <a:rPr lang="en-US" altLang="zh-CN" sz="1600" dirty="0"/>
              <a:t>]</a:t>
            </a:r>
            <a:endParaRPr lang="zh-CN" altLang="en-US" sz="1600" dirty="0">
              <a:cs typeface="Courier New" panose="02070309020205020404" pitchFamily="49" charset="0"/>
            </a:endParaRPr>
          </a:p>
        </p:txBody>
      </p:sp>
      <p:sp>
        <p:nvSpPr>
          <p:cNvPr id="19" name="矩形 18"/>
          <p:cNvSpPr/>
          <p:nvPr/>
        </p:nvSpPr>
        <p:spPr>
          <a:xfrm>
            <a:off x="1031917" y="360975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配置协议类型为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TCP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UDP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NAT64</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静态映射。</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a:xfrm>
            <a:off x="1031917" y="2743554"/>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配置协议类型为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ICMP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NAT64</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静态映射。</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a:xfrm>
            <a:off x="1031917" y="1926083"/>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配置指定</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NAT64</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静态</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映射。</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五边形 20"/>
          <p:cNvSpPr/>
          <p:nvPr/>
        </p:nvSpPr>
        <p:spPr bwMode="auto">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22" name="燕尾形 21"/>
          <p:cNvSpPr/>
          <p:nvPr/>
        </p:nvSpPr>
        <p:spPr bwMode="auto">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23" name="燕尾形 22"/>
          <p:cNvSpPr/>
          <p:nvPr/>
        </p:nvSpPr>
        <p:spPr bwMode="auto">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24" name="燕尾形 23"/>
          <p:cNvSpPr/>
          <p:nvPr/>
        </p:nvSpPr>
        <p:spPr bwMode="auto">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25" name="燕尾形 24"/>
          <p:cNvSpPr/>
          <p:nvPr/>
        </p:nvSpPr>
        <p:spPr bwMode="auto">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26" name="燕尾形 25"/>
          <p:cNvSpPr/>
          <p:nvPr/>
        </p:nvSpPr>
        <p:spPr bwMode="auto">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27" name="燕尾形 26"/>
          <p:cNvSpPr/>
          <p:nvPr/>
        </p:nvSpPr>
        <p:spPr bwMode="auto">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344199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文本框 60"/>
          <p:cNvSpPr txBox="1"/>
          <p:nvPr/>
        </p:nvSpPr>
        <p:spPr bwMode="gray">
          <a:xfrm>
            <a:off x="3848976" y="2191859"/>
            <a:ext cx="2002857" cy="1524479"/>
          </a:xfrm>
          <a:prstGeom prst="rect">
            <a:avLst/>
          </a:prstGeom>
          <a:solidFill>
            <a:schemeClr val="bg1">
              <a:lumMod val="95000"/>
            </a:schemeClr>
          </a:solidFill>
          <a:ln>
            <a:solidFill>
              <a:schemeClr val="bg1">
                <a:lumMod val="75000"/>
              </a:schemeClr>
            </a:solidFill>
            <a:prstDash val="dash"/>
          </a:ln>
        </p:spPr>
        <p:txBody>
          <a:bodyPr wrap="square" rtlCol="0">
            <a:spAutoFit/>
          </a:bodyPr>
          <a:lstStyle/>
          <a:p>
            <a:endParaRPr lang="en-US" altLang="zh-CN" sz="1200" dirty="0">
              <a:cs typeface="Arial" panose="020B0604020202020204" pitchFamily="34" charset="0"/>
            </a:endParaRPr>
          </a:p>
        </p:txBody>
      </p:sp>
      <p:sp>
        <p:nvSpPr>
          <p:cNvPr id="60" name="文本框 59"/>
          <p:cNvSpPr txBox="1"/>
          <p:nvPr/>
        </p:nvSpPr>
        <p:spPr bwMode="gray">
          <a:xfrm>
            <a:off x="626423" y="2191859"/>
            <a:ext cx="3093082" cy="1524479"/>
          </a:xfrm>
          <a:prstGeom prst="rect">
            <a:avLst/>
          </a:prstGeom>
          <a:solidFill>
            <a:schemeClr val="bg1">
              <a:lumMod val="95000"/>
            </a:schemeClr>
          </a:solidFill>
          <a:ln>
            <a:solidFill>
              <a:schemeClr val="bg1">
                <a:lumMod val="75000"/>
              </a:schemeClr>
            </a:solidFill>
            <a:prstDash val="dash"/>
          </a:ln>
        </p:spPr>
        <p:txBody>
          <a:bodyPr wrap="square" rtlCol="0">
            <a:spAutoFit/>
          </a:bodyPr>
          <a:lstStyle/>
          <a:p>
            <a:endParaRPr lang="en-US" altLang="zh-CN" sz="1200" dirty="0">
              <a:cs typeface="Arial" panose="020B0604020202020204" pitchFamily="34" charset="0"/>
            </a:endParaRPr>
          </a:p>
        </p:txBody>
      </p:sp>
      <p:sp>
        <p:nvSpPr>
          <p:cNvPr id="51" name="Freeform 159"/>
          <p:cNvSpPr/>
          <p:nvPr/>
        </p:nvSpPr>
        <p:spPr bwMode="gray">
          <a:xfrm flipH="1">
            <a:off x="774687" y="2414905"/>
            <a:ext cx="1365732" cy="75624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smtClean="0"/>
              <a:t>动态</a:t>
            </a:r>
            <a:r>
              <a:rPr lang="en-US" altLang="zh-CN" dirty="0" smtClean="0"/>
              <a:t>NAT64</a:t>
            </a:r>
            <a:r>
              <a:rPr lang="zh-CN" altLang="en-US" dirty="0" smtClean="0"/>
              <a:t>配置举例 </a:t>
            </a:r>
            <a:r>
              <a:rPr lang="en-US" altLang="zh-CN" dirty="0" smtClean="0"/>
              <a:t>(1)</a:t>
            </a:r>
            <a:endParaRPr lang="zh-CN" altLang="en-US" dirty="0"/>
          </a:p>
        </p:txBody>
      </p:sp>
      <p:sp>
        <p:nvSpPr>
          <p:cNvPr id="44" name="文本占位符 43"/>
          <p:cNvSpPr>
            <a:spLocks noGrp="1"/>
          </p:cNvSpPr>
          <p:nvPr>
            <p:ph type="body" sz="quarter" idx="10"/>
          </p:nvPr>
        </p:nvSpPr>
        <p:spPr bwMode="gray">
          <a:xfrm>
            <a:off x="455613" y="4263580"/>
            <a:ext cx="5640388" cy="1575245"/>
          </a:xfrm>
        </p:spPr>
        <p:txBody>
          <a:bodyPr/>
          <a:lstStyle/>
          <a:p>
            <a:r>
              <a:rPr lang="zh-CN" altLang="en-US" sz="1600" dirty="0" smtClean="0"/>
              <a:t>配置需求：</a:t>
            </a:r>
            <a:endParaRPr lang="en-US" altLang="zh-CN" sz="1600" dirty="0" smtClean="0"/>
          </a:p>
          <a:p>
            <a:pPr lvl="1"/>
            <a:r>
              <a:rPr lang="en-US" altLang="zh-CN" sz="1400" dirty="0"/>
              <a:t>FW1</a:t>
            </a:r>
            <a:r>
              <a:rPr lang="zh-CN" altLang="en-US" sz="1400" dirty="0"/>
              <a:t>支持双协议栈，连接</a:t>
            </a:r>
            <a:r>
              <a:rPr lang="en-US" altLang="zh-CN" sz="1400" dirty="0"/>
              <a:t>IPv6</a:t>
            </a:r>
            <a:r>
              <a:rPr lang="zh-CN" altLang="en-US" sz="1400" dirty="0"/>
              <a:t>网络以及</a:t>
            </a:r>
            <a:r>
              <a:rPr lang="en-US" altLang="zh-CN" sz="1400" dirty="0"/>
              <a:t>IPv4</a:t>
            </a:r>
            <a:r>
              <a:rPr lang="zh-CN" altLang="en-US" sz="1400" dirty="0"/>
              <a:t>网络。</a:t>
            </a:r>
          </a:p>
          <a:p>
            <a:pPr lvl="1"/>
            <a:r>
              <a:rPr lang="zh-CN" altLang="en-US" sz="1400" dirty="0"/>
              <a:t>位于</a:t>
            </a:r>
            <a:r>
              <a:rPr lang="en-US" altLang="zh-CN" sz="1400" dirty="0"/>
              <a:t>IPv6</a:t>
            </a:r>
            <a:r>
              <a:rPr lang="zh-CN" altLang="en-US" sz="1400" dirty="0"/>
              <a:t>网络中的</a:t>
            </a:r>
            <a:r>
              <a:rPr lang="en-US" altLang="zh-CN" sz="1400" dirty="0"/>
              <a:t>PC</a:t>
            </a:r>
            <a:r>
              <a:rPr lang="zh-CN" altLang="en-US" sz="1400" dirty="0"/>
              <a:t>（</a:t>
            </a:r>
            <a:r>
              <a:rPr lang="en-US" altLang="zh-CN" sz="1400" dirty="0"/>
              <a:t>IP</a:t>
            </a:r>
            <a:r>
              <a:rPr lang="zh-CN" altLang="en-US" sz="1400" dirty="0"/>
              <a:t>地址不固定且数量较多）通过域名</a:t>
            </a:r>
            <a:r>
              <a:rPr lang="en-US" altLang="zh-CN" sz="1400" dirty="0"/>
              <a:t>example.huawei.com</a:t>
            </a:r>
            <a:r>
              <a:rPr lang="zh-CN" altLang="en-US" sz="1400" dirty="0"/>
              <a:t>能够访问位于</a:t>
            </a:r>
            <a:r>
              <a:rPr lang="en-US" altLang="zh-CN" sz="1400" dirty="0"/>
              <a:t>IPv4</a:t>
            </a:r>
            <a:r>
              <a:rPr lang="zh-CN" altLang="en-US" sz="1400" dirty="0"/>
              <a:t>网络中的</a:t>
            </a:r>
            <a:r>
              <a:rPr lang="en-US" altLang="zh-CN" sz="1400" dirty="0"/>
              <a:t>Server</a:t>
            </a:r>
            <a:r>
              <a:rPr lang="zh-CN" altLang="en-US" sz="1400" dirty="0"/>
              <a:t>。</a:t>
            </a:r>
          </a:p>
        </p:txBody>
      </p:sp>
      <p:pic>
        <p:nvPicPr>
          <p:cNvPr id="31" name="图片 30" descr="PC.png"/>
          <p:cNvPicPr>
            <a:picLocks noChangeAspect="1"/>
          </p:cNvPicPr>
          <p:nvPr/>
        </p:nvPicPr>
        <p:blipFill>
          <a:blip r:embed="rId3" cstate="print"/>
          <a:stretch>
            <a:fillRect/>
          </a:stretch>
        </p:blipFill>
        <p:spPr bwMode="gray">
          <a:xfrm>
            <a:off x="1187644" y="2760929"/>
            <a:ext cx="445577" cy="342203"/>
          </a:xfrm>
          <a:prstGeom prst="rect">
            <a:avLst/>
          </a:prstGeom>
        </p:spPr>
      </p:pic>
      <p:cxnSp>
        <p:nvCxnSpPr>
          <p:cNvPr id="32" name="直接连接符 31"/>
          <p:cNvCxnSpPr>
            <a:stCxn id="31" idx="3"/>
            <a:endCxn id="37" idx="1"/>
          </p:cNvCxnSpPr>
          <p:nvPr/>
        </p:nvCxnSpPr>
        <p:spPr bwMode="gray">
          <a:xfrm>
            <a:off x="1633221" y="2932031"/>
            <a:ext cx="19530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49244" y="1449388"/>
            <a:ext cx="435249" cy="356904"/>
          </a:xfrm>
          <a:prstGeom prst="rect">
            <a:avLst/>
          </a:prstGeom>
        </p:spPr>
      </p:pic>
      <p:sp>
        <p:nvSpPr>
          <p:cNvPr id="34" name="文本框 33"/>
          <p:cNvSpPr txBox="1"/>
          <p:nvPr/>
        </p:nvSpPr>
        <p:spPr bwMode="gray">
          <a:xfrm>
            <a:off x="2617170" y="1171908"/>
            <a:ext cx="668773" cy="276999"/>
          </a:xfrm>
          <a:prstGeom prst="rect">
            <a:avLst/>
          </a:prstGeom>
          <a:noFill/>
        </p:spPr>
        <p:txBody>
          <a:bodyPr wrap="none" rtlCol="0">
            <a:spAutoFit/>
          </a:bodyPr>
          <a:lstStyle/>
          <a:p>
            <a:pPr algn="ctr"/>
            <a:r>
              <a:rPr lang="en-US" altLang="zh-CN" sz="1200" dirty="0" smtClean="0">
                <a:cs typeface="Arial" panose="020B0604020202020204" pitchFamily="34" charset="0"/>
              </a:rPr>
              <a:t>DNS64</a:t>
            </a:r>
            <a:endParaRPr lang="en-US" sz="1200" dirty="0">
              <a:cs typeface="Arial" panose="020B0604020202020204" pitchFamily="34" charset="0"/>
            </a:endParaRPr>
          </a:p>
        </p:txBody>
      </p:sp>
      <p:pic>
        <p:nvPicPr>
          <p:cNvPr id="35" name="图片 3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153676" y="2754012"/>
            <a:ext cx="434191" cy="356037"/>
          </a:xfrm>
          <a:prstGeom prst="rect">
            <a:avLst/>
          </a:prstGeom>
        </p:spPr>
      </p:pic>
      <p:sp>
        <p:nvSpPr>
          <p:cNvPr id="36" name="文本框 35"/>
          <p:cNvSpPr txBox="1"/>
          <p:nvPr/>
        </p:nvSpPr>
        <p:spPr bwMode="gray">
          <a:xfrm>
            <a:off x="3525108" y="3062860"/>
            <a:ext cx="502061" cy="276999"/>
          </a:xfrm>
          <a:prstGeom prst="rect">
            <a:avLst/>
          </a:prstGeom>
          <a:noFill/>
        </p:spPr>
        <p:txBody>
          <a:bodyPr wrap="none" rtlCol="0">
            <a:spAutoFit/>
          </a:bodyPr>
          <a:lstStyle/>
          <a:p>
            <a:pPr algn="ctr"/>
            <a:r>
              <a:rPr lang="en-US" altLang="zh-CN" sz="1200" dirty="0" smtClean="0">
                <a:cs typeface="Arial" panose="020B0604020202020204" pitchFamily="34" charset="0"/>
              </a:rPr>
              <a:t>FW1</a:t>
            </a:r>
            <a:endParaRPr lang="en-US" sz="1200" dirty="0">
              <a:cs typeface="Arial" panose="020B0604020202020204" pitchFamily="34" charset="0"/>
            </a:endParaRPr>
          </a:p>
        </p:txBody>
      </p:sp>
      <p:pic>
        <p:nvPicPr>
          <p:cNvPr id="37" name="图片 3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3586264" y="2760929"/>
            <a:ext cx="417912" cy="342203"/>
          </a:xfrm>
          <a:prstGeom prst="rect">
            <a:avLst/>
          </a:prstGeom>
        </p:spPr>
      </p:pic>
      <p:cxnSp>
        <p:nvCxnSpPr>
          <p:cNvPr id="40" name="直接连接符 39"/>
          <p:cNvCxnSpPr>
            <a:stCxn id="37" idx="3"/>
            <a:endCxn id="35" idx="1"/>
          </p:cNvCxnSpPr>
          <p:nvPr/>
        </p:nvCxnSpPr>
        <p:spPr bwMode="gray">
          <a:xfrm>
            <a:off x="4004176" y="2932031"/>
            <a:ext cx="1149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bwMode="gray">
          <a:xfrm>
            <a:off x="793434" y="3141416"/>
            <a:ext cx="1247456" cy="461665"/>
          </a:xfrm>
          <a:prstGeom prst="rect">
            <a:avLst/>
          </a:prstGeom>
          <a:noFill/>
        </p:spPr>
        <p:txBody>
          <a:bodyPr wrap="none" rtlCol="0">
            <a:spAutoFit/>
          </a:bodyPr>
          <a:lstStyle/>
          <a:p>
            <a:pPr algn="ctr"/>
            <a:r>
              <a:rPr lang="en-US" altLang="zh-CN" sz="1200" dirty="0" smtClean="0">
                <a:cs typeface="Arial" panose="020B0604020202020204" pitchFamily="34" charset="0"/>
              </a:rPr>
              <a:t>IPv6 PC</a:t>
            </a:r>
          </a:p>
          <a:p>
            <a:pPr algn="ctr"/>
            <a:r>
              <a:rPr lang="en-US" altLang="zh-CN" sz="1200" dirty="0" smtClean="0">
                <a:cs typeface="Arial" panose="020B0604020202020204" pitchFamily="34" charset="0"/>
              </a:rPr>
              <a:t>2001:DB8::1/64</a:t>
            </a:r>
            <a:endParaRPr lang="en-US" sz="1200" dirty="0">
              <a:cs typeface="Arial" panose="020B0604020202020204" pitchFamily="34" charset="0"/>
            </a:endParaRPr>
          </a:p>
        </p:txBody>
      </p:sp>
      <p:sp>
        <p:nvSpPr>
          <p:cNvPr id="47" name="文本框 46"/>
          <p:cNvSpPr txBox="1"/>
          <p:nvPr/>
        </p:nvSpPr>
        <p:spPr bwMode="gray">
          <a:xfrm>
            <a:off x="4889710" y="3093733"/>
            <a:ext cx="962123" cy="461665"/>
          </a:xfrm>
          <a:prstGeom prst="rect">
            <a:avLst/>
          </a:prstGeom>
          <a:noFill/>
        </p:spPr>
        <p:txBody>
          <a:bodyPr wrap="none" rtlCol="0">
            <a:spAutoFit/>
          </a:bodyPr>
          <a:lstStyle/>
          <a:p>
            <a:pPr algn="ctr"/>
            <a:r>
              <a:rPr lang="en-US" altLang="zh-CN" sz="1200" dirty="0" smtClean="0">
                <a:cs typeface="Arial" panose="020B0604020202020204" pitchFamily="34" charset="0"/>
              </a:rPr>
              <a:t>IPv4 Server</a:t>
            </a:r>
          </a:p>
          <a:p>
            <a:pPr algn="ctr"/>
            <a:r>
              <a:rPr lang="en-US" altLang="zh-CN" sz="1200" dirty="0" smtClean="0">
                <a:cs typeface="Arial" panose="020B0604020202020204" pitchFamily="34" charset="0"/>
              </a:rPr>
              <a:t>1.1.1.2/24</a:t>
            </a:r>
            <a:endParaRPr lang="en-US" sz="1200" dirty="0">
              <a:cs typeface="Arial" panose="020B0604020202020204" pitchFamily="34" charset="0"/>
            </a:endParaRPr>
          </a:p>
        </p:txBody>
      </p:sp>
      <p:cxnSp>
        <p:nvCxnSpPr>
          <p:cNvPr id="49" name="直接连接符 48"/>
          <p:cNvCxnSpPr>
            <a:stCxn id="53" idx="3"/>
            <a:endCxn id="33" idx="2"/>
          </p:cNvCxnSpPr>
          <p:nvPr/>
        </p:nvCxnSpPr>
        <p:spPr bwMode="gray">
          <a:xfrm flipV="1">
            <a:off x="2034160" y="1806292"/>
            <a:ext cx="932709" cy="856412"/>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bwMode="gray">
          <a:xfrm>
            <a:off x="905325" y="2524204"/>
            <a:ext cx="1128835" cy="276999"/>
          </a:xfrm>
          <a:prstGeom prst="rect">
            <a:avLst/>
          </a:prstGeom>
          <a:noFill/>
        </p:spPr>
        <p:txBody>
          <a:bodyPr wrap="none" rtlCol="0">
            <a:spAutoFit/>
          </a:bodyPr>
          <a:lstStyle/>
          <a:p>
            <a:pPr algn="ctr"/>
            <a:r>
              <a:rPr lang="en-US" altLang="zh-CN" sz="1200" dirty="0" smtClean="0">
                <a:cs typeface="Arial" panose="020B0604020202020204" pitchFamily="34" charset="0"/>
              </a:rPr>
              <a:t>IPv6 Network</a:t>
            </a:r>
            <a:endParaRPr lang="en-US" sz="1200" dirty="0">
              <a:cs typeface="Arial" panose="020B0604020202020204" pitchFamily="34" charset="0"/>
            </a:endParaRPr>
          </a:p>
        </p:txBody>
      </p:sp>
      <p:sp>
        <p:nvSpPr>
          <p:cNvPr id="55" name="文本框 54"/>
          <p:cNvSpPr txBox="1"/>
          <p:nvPr/>
        </p:nvSpPr>
        <p:spPr bwMode="gray">
          <a:xfrm>
            <a:off x="2421313" y="2721628"/>
            <a:ext cx="1247456" cy="461665"/>
          </a:xfrm>
          <a:prstGeom prst="rect">
            <a:avLst/>
          </a:prstGeom>
          <a:noFill/>
        </p:spPr>
        <p:txBody>
          <a:bodyPr wrap="none" rtlCol="0">
            <a:spAutoFit/>
          </a:bodyPr>
          <a:lstStyle/>
          <a:p>
            <a:pPr algn="r"/>
            <a:r>
              <a:rPr lang="en-US" altLang="zh-CN" sz="1200" dirty="0" smtClean="0">
                <a:cs typeface="Arial" panose="020B0604020202020204" pitchFamily="34" charset="0"/>
              </a:rPr>
              <a:t>GE1/0/1</a:t>
            </a:r>
          </a:p>
          <a:p>
            <a:pPr algn="r"/>
            <a:r>
              <a:rPr lang="en-US" altLang="zh-CN" sz="1200" dirty="0" smtClean="0">
                <a:cs typeface="Arial" panose="020B0604020202020204" pitchFamily="34" charset="0"/>
              </a:rPr>
              <a:t>2001:DB8::2/64</a:t>
            </a:r>
            <a:endParaRPr lang="en-US" sz="1200" dirty="0">
              <a:cs typeface="Arial" panose="020B0604020202020204" pitchFamily="34" charset="0"/>
            </a:endParaRPr>
          </a:p>
        </p:txBody>
      </p:sp>
      <p:sp>
        <p:nvSpPr>
          <p:cNvPr id="56" name="文本框 55"/>
          <p:cNvSpPr txBox="1"/>
          <p:nvPr/>
        </p:nvSpPr>
        <p:spPr bwMode="gray">
          <a:xfrm>
            <a:off x="4002016" y="2721628"/>
            <a:ext cx="869149" cy="461665"/>
          </a:xfrm>
          <a:prstGeom prst="rect">
            <a:avLst/>
          </a:prstGeom>
          <a:noFill/>
        </p:spPr>
        <p:txBody>
          <a:bodyPr wrap="none" rtlCol="0">
            <a:spAutoFit/>
          </a:bodyPr>
          <a:lstStyle/>
          <a:p>
            <a:r>
              <a:rPr lang="en-US" altLang="zh-CN" sz="1200" dirty="0" smtClean="0">
                <a:cs typeface="Arial" panose="020B0604020202020204" pitchFamily="34" charset="0"/>
              </a:rPr>
              <a:t>GE1/0/2</a:t>
            </a:r>
          </a:p>
          <a:p>
            <a:r>
              <a:rPr lang="en-US" altLang="zh-CN" sz="1200" dirty="0" smtClean="0">
                <a:cs typeface="Arial" panose="020B0604020202020204" pitchFamily="34" charset="0"/>
              </a:rPr>
              <a:t>1.1.1.1/24</a:t>
            </a:r>
            <a:endParaRPr lang="en-US" sz="1200" dirty="0">
              <a:cs typeface="Arial" panose="020B0604020202020204" pitchFamily="34" charset="0"/>
            </a:endParaRPr>
          </a:p>
        </p:txBody>
      </p:sp>
      <p:sp>
        <p:nvSpPr>
          <p:cNvPr id="62" name="文本框 61"/>
          <p:cNvSpPr txBox="1"/>
          <p:nvPr/>
        </p:nvSpPr>
        <p:spPr bwMode="gray">
          <a:xfrm>
            <a:off x="3812400" y="2195936"/>
            <a:ext cx="569388" cy="276999"/>
          </a:xfrm>
          <a:prstGeom prst="rect">
            <a:avLst/>
          </a:prstGeom>
          <a:noFill/>
        </p:spPr>
        <p:txBody>
          <a:bodyPr wrap="none" rtlCol="0">
            <a:spAutoFit/>
          </a:bodyPr>
          <a:lstStyle/>
          <a:p>
            <a:pPr algn="ctr"/>
            <a:r>
              <a:rPr lang="en-US" altLang="zh-CN" sz="1200" b="1" dirty="0" smtClean="0">
                <a:cs typeface="Arial" panose="020B0604020202020204" pitchFamily="34" charset="0"/>
              </a:rPr>
              <a:t>Trust</a:t>
            </a:r>
            <a:endParaRPr lang="en-US" sz="1200" b="1" dirty="0">
              <a:cs typeface="Arial" panose="020B0604020202020204" pitchFamily="34" charset="0"/>
            </a:endParaRPr>
          </a:p>
        </p:txBody>
      </p:sp>
      <p:sp>
        <p:nvSpPr>
          <p:cNvPr id="63" name="文本框 62"/>
          <p:cNvSpPr txBox="1"/>
          <p:nvPr/>
        </p:nvSpPr>
        <p:spPr bwMode="gray">
          <a:xfrm>
            <a:off x="2900544" y="2195936"/>
            <a:ext cx="750526" cy="276999"/>
          </a:xfrm>
          <a:prstGeom prst="rect">
            <a:avLst/>
          </a:prstGeom>
          <a:noFill/>
        </p:spPr>
        <p:txBody>
          <a:bodyPr wrap="none" rtlCol="0">
            <a:spAutoFit/>
          </a:bodyPr>
          <a:lstStyle/>
          <a:p>
            <a:pPr algn="ctr"/>
            <a:r>
              <a:rPr lang="en-US" altLang="zh-CN" sz="1200" b="1" dirty="0" err="1" smtClean="0">
                <a:cs typeface="Arial" panose="020B0604020202020204" pitchFamily="34" charset="0"/>
              </a:rPr>
              <a:t>Untrust</a:t>
            </a:r>
            <a:endParaRPr lang="en-US" sz="1200" b="1" dirty="0">
              <a:cs typeface="Arial" panose="020B0604020202020204" pitchFamily="34" charset="0"/>
            </a:endParaRPr>
          </a:p>
        </p:txBody>
      </p:sp>
      <p:sp>
        <p:nvSpPr>
          <p:cNvPr id="64" name="文本框 31"/>
          <p:cNvSpPr txBox="1"/>
          <p:nvPr/>
        </p:nvSpPr>
        <p:spPr bwMode="gray">
          <a:xfrm>
            <a:off x="6452006" y="1066755"/>
            <a:ext cx="5227643"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1</a:t>
            </a:r>
            <a:r>
              <a:rPr lang="zh-CN" altLang="en-US" sz="1600" dirty="0" smtClean="0">
                <a:solidFill>
                  <a:prstClr val="black"/>
                </a:solidFill>
              </a:rPr>
              <a:t>、配置</a:t>
            </a:r>
            <a:r>
              <a:rPr lang="en-US" altLang="zh-CN" sz="1600" dirty="0" smtClean="0">
                <a:solidFill>
                  <a:prstClr val="black"/>
                </a:solidFill>
              </a:rPr>
              <a:t>FW1</a:t>
            </a:r>
            <a:r>
              <a:rPr lang="zh-CN" altLang="en-US" sz="1600" dirty="0" smtClean="0">
                <a:solidFill>
                  <a:prstClr val="black"/>
                </a:solidFill>
              </a:rPr>
              <a:t>的</a:t>
            </a:r>
            <a:r>
              <a:rPr lang="en-US" altLang="zh-CN" sz="1600" dirty="0" smtClean="0">
                <a:solidFill>
                  <a:prstClr val="black"/>
                </a:solidFill>
              </a:rPr>
              <a:t>IPv4</a:t>
            </a:r>
            <a:r>
              <a:rPr lang="zh-CN" altLang="en-US" sz="1600" dirty="0" smtClean="0">
                <a:solidFill>
                  <a:prstClr val="black"/>
                </a:solidFill>
              </a:rPr>
              <a:t>和</a:t>
            </a:r>
            <a:r>
              <a:rPr lang="en-US" altLang="zh-CN" sz="1600" dirty="0" smtClean="0">
                <a:solidFill>
                  <a:prstClr val="black"/>
                </a:solidFill>
              </a:rPr>
              <a:t>IPv6</a:t>
            </a:r>
            <a:r>
              <a:rPr lang="zh-CN" altLang="en-US" sz="1600" dirty="0" smtClean="0">
                <a:solidFill>
                  <a:prstClr val="black"/>
                </a:solidFill>
              </a:rPr>
              <a:t>地址，配置安全区域。（略）</a:t>
            </a:r>
            <a:endParaRPr lang="zh-CN" altLang="en-US" sz="1600" dirty="0">
              <a:solidFill>
                <a:prstClr val="black"/>
              </a:solidFill>
            </a:endParaRPr>
          </a:p>
        </p:txBody>
      </p:sp>
      <p:sp>
        <p:nvSpPr>
          <p:cNvPr id="65" name="文本框 32"/>
          <p:cNvSpPr txBox="1"/>
          <p:nvPr/>
        </p:nvSpPr>
        <p:spPr bwMode="gray">
          <a:xfrm>
            <a:off x="6624050" y="4132501"/>
            <a:ext cx="5125037" cy="523220"/>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[FW1] </a:t>
            </a:r>
            <a:r>
              <a:rPr lang="en-US" altLang="zh-CN" sz="1400" dirty="0">
                <a:solidFill>
                  <a:prstClr val="black"/>
                </a:solidFill>
                <a:cs typeface="Courier New" panose="02070309020205020404" pitchFamily="49" charset="0"/>
              </a:rPr>
              <a:t>interface </a:t>
            </a:r>
            <a:r>
              <a:rPr lang="en-US" altLang="zh-CN" sz="1400" dirty="0" err="1">
                <a:solidFill>
                  <a:prstClr val="black"/>
                </a:solidFill>
                <a:cs typeface="Courier New" panose="02070309020205020404" pitchFamily="49" charset="0"/>
              </a:rPr>
              <a:t>GigabitEthernet</a:t>
            </a:r>
            <a:r>
              <a:rPr lang="en-US" altLang="zh-CN" sz="1400" dirty="0">
                <a:solidFill>
                  <a:prstClr val="black"/>
                </a:solidFill>
                <a:cs typeface="Courier New" panose="02070309020205020404" pitchFamily="49" charset="0"/>
              </a:rPr>
              <a:t> </a:t>
            </a:r>
            <a:r>
              <a:rPr lang="en-US" altLang="zh-CN" sz="1400" dirty="0" smtClean="0">
                <a:solidFill>
                  <a:prstClr val="black"/>
                </a:solidFill>
                <a:cs typeface="Courier New" panose="02070309020205020404" pitchFamily="49" charset="0"/>
              </a:rPr>
              <a:t>1/0/1</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[FW1-GigabitEthernet1/0/1] nat64 enable</a:t>
            </a:r>
            <a:endParaRPr lang="en-US" altLang="zh-CN" sz="1400" dirty="0">
              <a:solidFill>
                <a:prstClr val="black"/>
              </a:solidFill>
              <a:cs typeface="Courier New" panose="02070309020205020404" pitchFamily="49" charset="0"/>
            </a:endParaRPr>
          </a:p>
        </p:txBody>
      </p:sp>
      <p:sp>
        <p:nvSpPr>
          <p:cNvPr id="66" name="文本框 33"/>
          <p:cNvSpPr txBox="1"/>
          <p:nvPr/>
        </p:nvSpPr>
        <p:spPr bwMode="gray">
          <a:xfrm>
            <a:off x="6452006" y="3773919"/>
            <a:ext cx="4374443"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3</a:t>
            </a:r>
            <a:r>
              <a:rPr lang="zh-CN" altLang="en-US" sz="1600" dirty="0" smtClean="0">
                <a:solidFill>
                  <a:prstClr val="black"/>
                </a:solidFill>
              </a:rPr>
              <a:t>、开启</a:t>
            </a:r>
            <a:r>
              <a:rPr lang="en-US" altLang="zh-CN" sz="1600" dirty="0" smtClean="0">
                <a:solidFill>
                  <a:prstClr val="black"/>
                </a:solidFill>
              </a:rPr>
              <a:t>FW1</a:t>
            </a:r>
            <a:r>
              <a:rPr lang="zh-CN" altLang="en-US" sz="1600" dirty="0" smtClean="0">
                <a:solidFill>
                  <a:prstClr val="black"/>
                </a:solidFill>
              </a:rPr>
              <a:t>接口</a:t>
            </a:r>
            <a:r>
              <a:rPr lang="en-US" altLang="zh-CN" sz="1600" dirty="0" smtClean="0">
                <a:solidFill>
                  <a:prstClr val="black"/>
                </a:solidFill>
              </a:rPr>
              <a:t>GE1/0/1</a:t>
            </a:r>
            <a:r>
              <a:rPr lang="zh-CN" altLang="en-US" sz="1600" dirty="0" smtClean="0">
                <a:solidFill>
                  <a:prstClr val="black"/>
                </a:solidFill>
              </a:rPr>
              <a:t>的</a:t>
            </a:r>
            <a:r>
              <a:rPr lang="en-US" altLang="zh-CN" sz="1600" dirty="0" smtClean="0">
                <a:solidFill>
                  <a:prstClr val="black"/>
                </a:solidFill>
              </a:rPr>
              <a:t>NAT64</a:t>
            </a:r>
            <a:r>
              <a:rPr lang="zh-CN" altLang="en-US" sz="1600" dirty="0" smtClean="0">
                <a:solidFill>
                  <a:prstClr val="black"/>
                </a:solidFill>
              </a:rPr>
              <a:t>功能。</a:t>
            </a:r>
            <a:endParaRPr lang="zh-CN" altLang="en-US" sz="1600" dirty="0">
              <a:solidFill>
                <a:prstClr val="black"/>
              </a:solidFill>
            </a:endParaRPr>
          </a:p>
        </p:txBody>
      </p:sp>
      <p:sp>
        <p:nvSpPr>
          <p:cNvPr id="67" name="文本框 32"/>
          <p:cNvSpPr txBox="1"/>
          <p:nvPr/>
        </p:nvSpPr>
        <p:spPr bwMode="gray">
          <a:xfrm>
            <a:off x="6624050" y="5477922"/>
            <a:ext cx="5125037" cy="307777"/>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[FW1</a:t>
            </a:r>
            <a:r>
              <a:rPr lang="en-US" altLang="zh-CN" sz="1400" dirty="0">
                <a:solidFill>
                  <a:prstClr val="black"/>
                </a:solidFill>
                <a:cs typeface="Courier New" panose="02070309020205020404" pitchFamily="49" charset="0"/>
              </a:rPr>
              <a:t>] nat64 prefix 2001:db8:1:: 96</a:t>
            </a:r>
          </a:p>
        </p:txBody>
      </p:sp>
      <p:sp>
        <p:nvSpPr>
          <p:cNvPr id="68" name="文本框 33"/>
          <p:cNvSpPr txBox="1"/>
          <p:nvPr/>
        </p:nvSpPr>
        <p:spPr bwMode="gray">
          <a:xfrm>
            <a:off x="6452006" y="5119340"/>
            <a:ext cx="5297082"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4</a:t>
            </a:r>
            <a:r>
              <a:rPr lang="zh-CN" altLang="en-US" sz="1600" dirty="0" smtClean="0">
                <a:solidFill>
                  <a:prstClr val="black"/>
                </a:solidFill>
              </a:rPr>
              <a:t>、</a:t>
            </a:r>
            <a:r>
              <a:rPr lang="zh-CN" altLang="en-US" sz="1600" dirty="0">
                <a:solidFill>
                  <a:prstClr val="black"/>
                </a:solidFill>
              </a:rPr>
              <a:t>配置</a:t>
            </a:r>
            <a:r>
              <a:rPr lang="en-US" altLang="zh-CN" sz="1600" dirty="0">
                <a:solidFill>
                  <a:prstClr val="black"/>
                </a:solidFill>
              </a:rPr>
              <a:t>NAT64</a:t>
            </a:r>
            <a:r>
              <a:rPr lang="zh-CN" altLang="en-US" sz="1600" dirty="0">
                <a:solidFill>
                  <a:prstClr val="black"/>
                </a:solidFill>
              </a:rPr>
              <a:t>的前缀为</a:t>
            </a:r>
            <a:r>
              <a:rPr lang="en-US" altLang="zh-CN" sz="1600" dirty="0">
                <a:solidFill>
                  <a:prstClr val="black"/>
                </a:solidFill>
              </a:rPr>
              <a:t>2001:db8:1::/</a:t>
            </a:r>
            <a:r>
              <a:rPr lang="en-US" altLang="zh-CN" sz="1600" dirty="0" smtClean="0">
                <a:solidFill>
                  <a:prstClr val="black"/>
                </a:solidFill>
              </a:rPr>
              <a:t>96</a:t>
            </a:r>
            <a:r>
              <a:rPr lang="zh-CN" altLang="en-US" sz="1600" dirty="0" smtClean="0">
                <a:solidFill>
                  <a:prstClr val="black"/>
                </a:solidFill>
              </a:rPr>
              <a:t>（自定义前缀）。</a:t>
            </a:r>
            <a:endParaRPr lang="zh-CN" altLang="en-US" sz="1600" dirty="0">
              <a:solidFill>
                <a:prstClr val="black"/>
              </a:solidFill>
            </a:endParaRPr>
          </a:p>
        </p:txBody>
      </p:sp>
      <p:sp>
        <p:nvSpPr>
          <p:cNvPr id="71" name="文本框 32"/>
          <p:cNvSpPr txBox="1"/>
          <p:nvPr/>
        </p:nvSpPr>
        <p:spPr bwMode="gray">
          <a:xfrm>
            <a:off x="6624050" y="1992037"/>
            <a:ext cx="5125037" cy="1384995"/>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[FW1] </a:t>
            </a:r>
            <a:r>
              <a:rPr lang="en-US" altLang="zh-CN" sz="1400" dirty="0">
                <a:solidFill>
                  <a:prstClr val="black"/>
                </a:solidFill>
                <a:cs typeface="Courier New" panose="02070309020205020404" pitchFamily="49" charset="0"/>
              </a:rPr>
              <a:t>security-policy</a:t>
            </a:r>
          </a:p>
          <a:p>
            <a:r>
              <a:rPr lang="en-US" altLang="zh-CN" sz="1400" dirty="0" smtClean="0">
                <a:solidFill>
                  <a:prstClr val="black"/>
                </a:solidFill>
                <a:cs typeface="Courier New" panose="02070309020205020404" pitchFamily="49" charset="0"/>
              </a:rPr>
              <a:t>[FW1-policy-security</a:t>
            </a:r>
            <a:r>
              <a:rPr lang="en-US" altLang="zh-CN" sz="1400" dirty="0">
                <a:solidFill>
                  <a:prstClr val="black"/>
                </a:solidFill>
                <a:cs typeface="Courier New" panose="02070309020205020404" pitchFamily="49" charset="0"/>
              </a:rPr>
              <a:t>] rule name </a:t>
            </a:r>
            <a:r>
              <a:rPr lang="en-US" altLang="zh-CN" sz="1400" dirty="0" smtClean="0">
                <a:solidFill>
                  <a:prstClr val="black"/>
                </a:solidFill>
                <a:cs typeface="Courier New" panose="02070309020205020404" pitchFamily="49" charset="0"/>
              </a:rPr>
              <a:t>sec1</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[FW1-policy-security-rule-sec1</a:t>
            </a:r>
            <a:r>
              <a:rPr lang="en-US" altLang="zh-CN" sz="1400" dirty="0">
                <a:solidFill>
                  <a:prstClr val="black"/>
                </a:solidFill>
                <a:cs typeface="Courier New" panose="02070309020205020404" pitchFamily="49" charset="0"/>
              </a:rPr>
              <a:t>] source-zone </a:t>
            </a:r>
            <a:r>
              <a:rPr lang="en-US" altLang="zh-CN" sz="1400" dirty="0" err="1">
                <a:solidFill>
                  <a:prstClr val="black"/>
                </a:solidFill>
                <a:cs typeface="Courier New" panose="02070309020205020404" pitchFamily="49" charset="0"/>
              </a:rPr>
              <a:t>untrust</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[FW1-policy-security-rule-sec1</a:t>
            </a:r>
            <a:r>
              <a:rPr lang="en-US" altLang="zh-CN" sz="1400" dirty="0">
                <a:solidFill>
                  <a:prstClr val="black"/>
                </a:solidFill>
                <a:cs typeface="Courier New" panose="02070309020205020404" pitchFamily="49" charset="0"/>
              </a:rPr>
              <a:t>] destination-zone trust</a:t>
            </a:r>
          </a:p>
          <a:p>
            <a:r>
              <a:rPr lang="en-US" altLang="zh-CN" sz="1400" dirty="0" smtClean="0">
                <a:solidFill>
                  <a:prstClr val="black"/>
                </a:solidFill>
                <a:cs typeface="Courier New" panose="02070309020205020404" pitchFamily="49" charset="0"/>
              </a:rPr>
              <a:t>[FW1-policy-security-rule-sec1</a:t>
            </a:r>
            <a:r>
              <a:rPr lang="en-US" altLang="zh-CN" sz="1400" dirty="0">
                <a:solidFill>
                  <a:prstClr val="black"/>
                </a:solidFill>
                <a:cs typeface="Courier New" panose="02070309020205020404" pitchFamily="49" charset="0"/>
              </a:rPr>
              <a:t>] source-address 2001:db8:: 64</a:t>
            </a:r>
          </a:p>
          <a:p>
            <a:r>
              <a:rPr lang="en-US" altLang="zh-CN" sz="1400" dirty="0" smtClean="0">
                <a:solidFill>
                  <a:prstClr val="black"/>
                </a:solidFill>
                <a:cs typeface="Courier New" panose="02070309020205020404" pitchFamily="49" charset="0"/>
              </a:rPr>
              <a:t>[FW1-policy-security-rule-sec1</a:t>
            </a:r>
            <a:r>
              <a:rPr lang="en-US" altLang="zh-CN" sz="1400" dirty="0">
                <a:solidFill>
                  <a:prstClr val="black"/>
                </a:solidFill>
                <a:cs typeface="Courier New" panose="02070309020205020404" pitchFamily="49" charset="0"/>
              </a:rPr>
              <a:t>] action </a:t>
            </a:r>
            <a:r>
              <a:rPr lang="en-US" altLang="zh-CN" sz="1400" dirty="0" smtClean="0">
                <a:solidFill>
                  <a:prstClr val="black"/>
                </a:solidFill>
                <a:cs typeface="Courier New" panose="02070309020205020404" pitchFamily="49" charset="0"/>
              </a:rPr>
              <a:t>permit</a:t>
            </a:r>
            <a:endParaRPr lang="en-US" altLang="zh-CN" sz="1400" dirty="0">
              <a:solidFill>
                <a:prstClr val="black"/>
              </a:solidFill>
              <a:cs typeface="Courier New" panose="02070309020205020404" pitchFamily="49" charset="0"/>
            </a:endParaRPr>
          </a:p>
        </p:txBody>
      </p:sp>
      <p:sp>
        <p:nvSpPr>
          <p:cNvPr id="72" name="文本框 33"/>
          <p:cNvSpPr txBox="1"/>
          <p:nvPr/>
        </p:nvSpPr>
        <p:spPr bwMode="gray">
          <a:xfrm>
            <a:off x="6452006" y="1633455"/>
            <a:ext cx="4374443"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2</a:t>
            </a:r>
            <a:r>
              <a:rPr lang="zh-CN" altLang="en-US" sz="1600" dirty="0" smtClean="0">
                <a:solidFill>
                  <a:prstClr val="black"/>
                </a:solidFill>
              </a:rPr>
              <a:t>、配置安全策略。</a:t>
            </a:r>
            <a:endParaRPr lang="zh-CN" altLang="en-US" sz="1600" dirty="0">
              <a:solidFill>
                <a:prstClr val="black"/>
              </a:solidFill>
            </a:endParaRPr>
          </a:p>
        </p:txBody>
      </p:sp>
      <p:sp>
        <p:nvSpPr>
          <p:cNvPr id="46" name="五边形 45"/>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48" name="燕尾形 47"/>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50" name="燕尾形 49"/>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52" name="燕尾形 51"/>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54" name="燕尾形 53"/>
          <p:cNvSpPr/>
          <p:nvPr/>
        </p:nvSpPr>
        <p:spPr bwMode="gray">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57" name="燕尾形 56"/>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58" name="燕尾形 57"/>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0578731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文本框 60"/>
          <p:cNvSpPr txBox="1"/>
          <p:nvPr/>
        </p:nvSpPr>
        <p:spPr bwMode="gray">
          <a:xfrm>
            <a:off x="3848976" y="2191859"/>
            <a:ext cx="2002857" cy="1524479"/>
          </a:xfrm>
          <a:prstGeom prst="rect">
            <a:avLst/>
          </a:prstGeom>
          <a:solidFill>
            <a:schemeClr val="bg1">
              <a:lumMod val="95000"/>
            </a:schemeClr>
          </a:solidFill>
          <a:ln>
            <a:solidFill>
              <a:schemeClr val="bg1">
                <a:lumMod val="75000"/>
              </a:schemeClr>
            </a:solidFill>
            <a:prstDash val="dash"/>
          </a:ln>
        </p:spPr>
        <p:txBody>
          <a:bodyPr wrap="square" rtlCol="0">
            <a:spAutoFit/>
          </a:bodyPr>
          <a:lstStyle/>
          <a:p>
            <a:endParaRPr lang="en-US" altLang="zh-CN" sz="1200" dirty="0">
              <a:cs typeface="Arial" panose="020B0604020202020204" pitchFamily="34" charset="0"/>
            </a:endParaRPr>
          </a:p>
        </p:txBody>
      </p:sp>
      <p:sp>
        <p:nvSpPr>
          <p:cNvPr id="60" name="文本框 59"/>
          <p:cNvSpPr txBox="1"/>
          <p:nvPr/>
        </p:nvSpPr>
        <p:spPr bwMode="gray">
          <a:xfrm>
            <a:off x="626423" y="2191859"/>
            <a:ext cx="3093082" cy="1524479"/>
          </a:xfrm>
          <a:prstGeom prst="rect">
            <a:avLst/>
          </a:prstGeom>
          <a:solidFill>
            <a:schemeClr val="bg1">
              <a:lumMod val="95000"/>
            </a:schemeClr>
          </a:solidFill>
          <a:ln>
            <a:solidFill>
              <a:schemeClr val="bg1">
                <a:lumMod val="75000"/>
              </a:schemeClr>
            </a:solidFill>
            <a:prstDash val="dash"/>
          </a:ln>
        </p:spPr>
        <p:txBody>
          <a:bodyPr wrap="square" rtlCol="0">
            <a:spAutoFit/>
          </a:bodyPr>
          <a:lstStyle/>
          <a:p>
            <a:endParaRPr lang="en-US" altLang="zh-CN" sz="1200" dirty="0">
              <a:cs typeface="Arial" panose="020B0604020202020204" pitchFamily="34" charset="0"/>
            </a:endParaRPr>
          </a:p>
        </p:txBody>
      </p:sp>
      <p:sp>
        <p:nvSpPr>
          <p:cNvPr id="51" name="Freeform 159"/>
          <p:cNvSpPr/>
          <p:nvPr/>
        </p:nvSpPr>
        <p:spPr bwMode="gray">
          <a:xfrm flipH="1">
            <a:off x="774687" y="2414905"/>
            <a:ext cx="1365732" cy="75624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smtClean="0"/>
              <a:t>动态</a:t>
            </a:r>
            <a:r>
              <a:rPr lang="en-US" altLang="zh-CN" dirty="0" smtClean="0"/>
              <a:t>NAT64</a:t>
            </a:r>
            <a:r>
              <a:rPr lang="zh-CN" altLang="en-US" dirty="0" smtClean="0"/>
              <a:t>配置举例 </a:t>
            </a:r>
            <a:r>
              <a:rPr lang="en-US" altLang="zh-CN" dirty="0" smtClean="0"/>
              <a:t>(2)</a:t>
            </a:r>
            <a:endParaRPr lang="zh-CN" altLang="en-US" dirty="0"/>
          </a:p>
        </p:txBody>
      </p:sp>
      <p:sp>
        <p:nvSpPr>
          <p:cNvPr id="44" name="文本占位符 43"/>
          <p:cNvSpPr>
            <a:spLocks noGrp="1"/>
          </p:cNvSpPr>
          <p:nvPr>
            <p:ph type="body" sz="quarter" idx="10"/>
          </p:nvPr>
        </p:nvSpPr>
        <p:spPr bwMode="gray">
          <a:xfrm>
            <a:off x="455613" y="4263580"/>
            <a:ext cx="5640388" cy="1575245"/>
          </a:xfrm>
        </p:spPr>
        <p:txBody>
          <a:bodyPr/>
          <a:lstStyle/>
          <a:p>
            <a:r>
              <a:rPr lang="zh-CN" altLang="en-US" sz="1600" dirty="0" smtClean="0"/>
              <a:t>配置需求：</a:t>
            </a:r>
            <a:endParaRPr lang="en-US" altLang="zh-CN" sz="1600" dirty="0" smtClean="0"/>
          </a:p>
          <a:p>
            <a:pPr lvl="1"/>
            <a:r>
              <a:rPr lang="en-US" altLang="zh-CN" sz="1400" dirty="0"/>
              <a:t>FW1</a:t>
            </a:r>
            <a:r>
              <a:rPr lang="zh-CN" altLang="en-US" sz="1400" dirty="0"/>
              <a:t>支持双协议栈，连接</a:t>
            </a:r>
            <a:r>
              <a:rPr lang="en-US" altLang="zh-CN" sz="1400" dirty="0"/>
              <a:t>IPv6</a:t>
            </a:r>
            <a:r>
              <a:rPr lang="zh-CN" altLang="en-US" sz="1400" dirty="0"/>
              <a:t>网络以及</a:t>
            </a:r>
            <a:r>
              <a:rPr lang="en-US" altLang="zh-CN" sz="1400" dirty="0"/>
              <a:t>IPv4</a:t>
            </a:r>
            <a:r>
              <a:rPr lang="zh-CN" altLang="en-US" sz="1400" dirty="0"/>
              <a:t>网络。</a:t>
            </a:r>
          </a:p>
          <a:p>
            <a:pPr lvl="1"/>
            <a:r>
              <a:rPr lang="zh-CN" altLang="en-US" sz="1400" dirty="0"/>
              <a:t>位于</a:t>
            </a:r>
            <a:r>
              <a:rPr lang="en-US" altLang="zh-CN" sz="1400" dirty="0"/>
              <a:t>IPv6</a:t>
            </a:r>
            <a:r>
              <a:rPr lang="zh-CN" altLang="en-US" sz="1400" dirty="0"/>
              <a:t>网络中的</a:t>
            </a:r>
            <a:r>
              <a:rPr lang="en-US" altLang="zh-CN" sz="1400" dirty="0"/>
              <a:t>PC</a:t>
            </a:r>
            <a:r>
              <a:rPr lang="zh-CN" altLang="en-US" sz="1400" dirty="0"/>
              <a:t>（</a:t>
            </a:r>
            <a:r>
              <a:rPr lang="en-US" altLang="zh-CN" sz="1400" dirty="0"/>
              <a:t>IP</a:t>
            </a:r>
            <a:r>
              <a:rPr lang="zh-CN" altLang="en-US" sz="1400" dirty="0"/>
              <a:t>地址不固定且数量较多）通过域名</a:t>
            </a:r>
            <a:r>
              <a:rPr lang="en-US" altLang="zh-CN" sz="1400" dirty="0"/>
              <a:t>example.huawei.com</a:t>
            </a:r>
            <a:r>
              <a:rPr lang="zh-CN" altLang="en-US" sz="1400" dirty="0"/>
              <a:t>能够访问位于</a:t>
            </a:r>
            <a:r>
              <a:rPr lang="en-US" altLang="zh-CN" sz="1400" dirty="0"/>
              <a:t>IPv4</a:t>
            </a:r>
            <a:r>
              <a:rPr lang="zh-CN" altLang="en-US" sz="1400" dirty="0"/>
              <a:t>网络中的</a:t>
            </a:r>
            <a:r>
              <a:rPr lang="en-US" altLang="zh-CN" sz="1400" dirty="0"/>
              <a:t>Server</a:t>
            </a:r>
            <a:r>
              <a:rPr lang="zh-CN" altLang="en-US" sz="1400" dirty="0"/>
              <a:t>。</a:t>
            </a:r>
          </a:p>
        </p:txBody>
      </p:sp>
      <p:pic>
        <p:nvPicPr>
          <p:cNvPr id="31" name="图片 30" descr="PC.png"/>
          <p:cNvPicPr>
            <a:picLocks noChangeAspect="1"/>
          </p:cNvPicPr>
          <p:nvPr/>
        </p:nvPicPr>
        <p:blipFill>
          <a:blip r:embed="rId3" cstate="print"/>
          <a:stretch>
            <a:fillRect/>
          </a:stretch>
        </p:blipFill>
        <p:spPr bwMode="gray">
          <a:xfrm>
            <a:off x="1187644" y="2760929"/>
            <a:ext cx="445577" cy="342203"/>
          </a:xfrm>
          <a:prstGeom prst="rect">
            <a:avLst/>
          </a:prstGeom>
        </p:spPr>
      </p:pic>
      <p:cxnSp>
        <p:nvCxnSpPr>
          <p:cNvPr id="32" name="直接连接符 31"/>
          <p:cNvCxnSpPr>
            <a:stCxn id="31" idx="3"/>
            <a:endCxn id="37" idx="1"/>
          </p:cNvCxnSpPr>
          <p:nvPr/>
        </p:nvCxnSpPr>
        <p:spPr bwMode="gray">
          <a:xfrm>
            <a:off x="1633221" y="2932031"/>
            <a:ext cx="19530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49244" y="1449388"/>
            <a:ext cx="435249" cy="356904"/>
          </a:xfrm>
          <a:prstGeom prst="rect">
            <a:avLst/>
          </a:prstGeom>
        </p:spPr>
      </p:pic>
      <p:sp>
        <p:nvSpPr>
          <p:cNvPr id="34" name="文本框 33"/>
          <p:cNvSpPr txBox="1"/>
          <p:nvPr/>
        </p:nvSpPr>
        <p:spPr bwMode="gray">
          <a:xfrm>
            <a:off x="2617170" y="1171908"/>
            <a:ext cx="668773" cy="276999"/>
          </a:xfrm>
          <a:prstGeom prst="rect">
            <a:avLst/>
          </a:prstGeom>
          <a:noFill/>
        </p:spPr>
        <p:txBody>
          <a:bodyPr wrap="none" rtlCol="0">
            <a:spAutoFit/>
          </a:bodyPr>
          <a:lstStyle/>
          <a:p>
            <a:pPr algn="ctr"/>
            <a:r>
              <a:rPr lang="en-US" altLang="zh-CN" sz="1200" dirty="0" smtClean="0">
                <a:cs typeface="Arial" panose="020B0604020202020204" pitchFamily="34" charset="0"/>
              </a:rPr>
              <a:t>DNS64</a:t>
            </a:r>
            <a:endParaRPr lang="en-US" sz="1200" dirty="0">
              <a:cs typeface="Arial" panose="020B0604020202020204" pitchFamily="34" charset="0"/>
            </a:endParaRPr>
          </a:p>
        </p:txBody>
      </p:sp>
      <p:pic>
        <p:nvPicPr>
          <p:cNvPr id="35" name="图片 3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153676" y="2754012"/>
            <a:ext cx="434191" cy="356037"/>
          </a:xfrm>
          <a:prstGeom prst="rect">
            <a:avLst/>
          </a:prstGeom>
        </p:spPr>
      </p:pic>
      <p:sp>
        <p:nvSpPr>
          <p:cNvPr id="36" name="文本框 35"/>
          <p:cNvSpPr txBox="1"/>
          <p:nvPr/>
        </p:nvSpPr>
        <p:spPr bwMode="gray">
          <a:xfrm>
            <a:off x="3525108" y="3062860"/>
            <a:ext cx="502061" cy="276999"/>
          </a:xfrm>
          <a:prstGeom prst="rect">
            <a:avLst/>
          </a:prstGeom>
          <a:noFill/>
        </p:spPr>
        <p:txBody>
          <a:bodyPr wrap="none" rtlCol="0">
            <a:spAutoFit/>
          </a:bodyPr>
          <a:lstStyle/>
          <a:p>
            <a:pPr algn="ctr"/>
            <a:r>
              <a:rPr lang="en-US" altLang="zh-CN" sz="1200" dirty="0" smtClean="0">
                <a:cs typeface="Arial" panose="020B0604020202020204" pitchFamily="34" charset="0"/>
              </a:rPr>
              <a:t>FW1</a:t>
            </a:r>
            <a:endParaRPr lang="en-US" sz="1200" dirty="0">
              <a:cs typeface="Arial" panose="020B0604020202020204" pitchFamily="34" charset="0"/>
            </a:endParaRPr>
          </a:p>
        </p:txBody>
      </p:sp>
      <p:pic>
        <p:nvPicPr>
          <p:cNvPr id="37" name="图片 3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3586264" y="2760929"/>
            <a:ext cx="417912" cy="342203"/>
          </a:xfrm>
          <a:prstGeom prst="rect">
            <a:avLst/>
          </a:prstGeom>
        </p:spPr>
      </p:pic>
      <p:cxnSp>
        <p:nvCxnSpPr>
          <p:cNvPr id="40" name="直接连接符 39"/>
          <p:cNvCxnSpPr>
            <a:stCxn id="37" idx="3"/>
            <a:endCxn id="35" idx="1"/>
          </p:cNvCxnSpPr>
          <p:nvPr/>
        </p:nvCxnSpPr>
        <p:spPr bwMode="gray">
          <a:xfrm>
            <a:off x="4004176" y="2932031"/>
            <a:ext cx="1149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bwMode="gray">
          <a:xfrm>
            <a:off x="793434" y="3141416"/>
            <a:ext cx="1247456" cy="461665"/>
          </a:xfrm>
          <a:prstGeom prst="rect">
            <a:avLst/>
          </a:prstGeom>
          <a:noFill/>
        </p:spPr>
        <p:txBody>
          <a:bodyPr wrap="none" rtlCol="0">
            <a:spAutoFit/>
          </a:bodyPr>
          <a:lstStyle/>
          <a:p>
            <a:pPr algn="ctr"/>
            <a:r>
              <a:rPr lang="en-US" altLang="zh-CN" sz="1200" dirty="0" smtClean="0">
                <a:cs typeface="Arial" panose="020B0604020202020204" pitchFamily="34" charset="0"/>
              </a:rPr>
              <a:t>IPv6 PC</a:t>
            </a:r>
          </a:p>
          <a:p>
            <a:pPr algn="ctr"/>
            <a:r>
              <a:rPr lang="en-US" altLang="zh-CN" sz="1200" dirty="0" smtClean="0">
                <a:cs typeface="Arial" panose="020B0604020202020204" pitchFamily="34" charset="0"/>
              </a:rPr>
              <a:t>2001:DB8::1/64</a:t>
            </a:r>
            <a:endParaRPr lang="en-US" sz="1200" dirty="0">
              <a:cs typeface="Arial" panose="020B0604020202020204" pitchFamily="34" charset="0"/>
            </a:endParaRPr>
          </a:p>
        </p:txBody>
      </p:sp>
      <p:sp>
        <p:nvSpPr>
          <p:cNvPr id="47" name="文本框 46"/>
          <p:cNvSpPr txBox="1"/>
          <p:nvPr/>
        </p:nvSpPr>
        <p:spPr bwMode="gray">
          <a:xfrm>
            <a:off x="4889710" y="3093733"/>
            <a:ext cx="962123" cy="461665"/>
          </a:xfrm>
          <a:prstGeom prst="rect">
            <a:avLst/>
          </a:prstGeom>
          <a:noFill/>
        </p:spPr>
        <p:txBody>
          <a:bodyPr wrap="none" rtlCol="0">
            <a:spAutoFit/>
          </a:bodyPr>
          <a:lstStyle/>
          <a:p>
            <a:pPr algn="ctr"/>
            <a:r>
              <a:rPr lang="en-US" altLang="zh-CN" sz="1200" dirty="0" smtClean="0">
                <a:cs typeface="Arial" panose="020B0604020202020204" pitchFamily="34" charset="0"/>
              </a:rPr>
              <a:t>IPv4 Server</a:t>
            </a:r>
          </a:p>
          <a:p>
            <a:pPr algn="ctr"/>
            <a:r>
              <a:rPr lang="en-US" altLang="zh-CN" sz="1200" dirty="0" smtClean="0">
                <a:cs typeface="Arial" panose="020B0604020202020204" pitchFamily="34" charset="0"/>
              </a:rPr>
              <a:t>1.1.1.2/24</a:t>
            </a:r>
            <a:endParaRPr lang="en-US" sz="1200" dirty="0">
              <a:cs typeface="Arial" panose="020B0604020202020204" pitchFamily="34" charset="0"/>
            </a:endParaRPr>
          </a:p>
        </p:txBody>
      </p:sp>
      <p:cxnSp>
        <p:nvCxnSpPr>
          <p:cNvPr id="49" name="直接连接符 48"/>
          <p:cNvCxnSpPr>
            <a:stCxn id="53" idx="3"/>
            <a:endCxn id="33" idx="2"/>
          </p:cNvCxnSpPr>
          <p:nvPr/>
        </p:nvCxnSpPr>
        <p:spPr bwMode="gray">
          <a:xfrm flipV="1">
            <a:off x="2034160" y="1806292"/>
            <a:ext cx="932709" cy="856412"/>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bwMode="gray">
          <a:xfrm>
            <a:off x="905325" y="2524204"/>
            <a:ext cx="1128835" cy="276999"/>
          </a:xfrm>
          <a:prstGeom prst="rect">
            <a:avLst/>
          </a:prstGeom>
          <a:noFill/>
        </p:spPr>
        <p:txBody>
          <a:bodyPr wrap="none" rtlCol="0">
            <a:spAutoFit/>
          </a:bodyPr>
          <a:lstStyle/>
          <a:p>
            <a:pPr algn="ctr"/>
            <a:r>
              <a:rPr lang="en-US" altLang="zh-CN" sz="1200" dirty="0" smtClean="0">
                <a:cs typeface="Arial" panose="020B0604020202020204" pitchFamily="34" charset="0"/>
              </a:rPr>
              <a:t>IPv6 Network</a:t>
            </a:r>
            <a:endParaRPr lang="en-US" sz="1200" dirty="0">
              <a:cs typeface="Arial" panose="020B0604020202020204" pitchFamily="34" charset="0"/>
            </a:endParaRPr>
          </a:p>
        </p:txBody>
      </p:sp>
      <p:sp>
        <p:nvSpPr>
          <p:cNvPr id="55" name="文本框 54"/>
          <p:cNvSpPr txBox="1"/>
          <p:nvPr/>
        </p:nvSpPr>
        <p:spPr bwMode="gray">
          <a:xfrm>
            <a:off x="2421313" y="2721628"/>
            <a:ext cx="1247456" cy="461665"/>
          </a:xfrm>
          <a:prstGeom prst="rect">
            <a:avLst/>
          </a:prstGeom>
          <a:noFill/>
        </p:spPr>
        <p:txBody>
          <a:bodyPr wrap="none" rtlCol="0">
            <a:spAutoFit/>
          </a:bodyPr>
          <a:lstStyle/>
          <a:p>
            <a:pPr algn="r"/>
            <a:r>
              <a:rPr lang="en-US" altLang="zh-CN" sz="1200" dirty="0" smtClean="0">
                <a:cs typeface="Arial" panose="020B0604020202020204" pitchFamily="34" charset="0"/>
              </a:rPr>
              <a:t>GE1/0/1</a:t>
            </a:r>
          </a:p>
          <a:p>
            <a:pPr algn="r"/>
            <a:r>
              <a:rPr lang="en-US" altLang="zh-CN" sz="1200" dirty="0" smtClean="0">
                <a:cs typeface="Arial" panose="020B0604020202020204" pitchFamily="34" charset="0"/>
              </a:rPr>
              <a:t>2001:DB8::2/64</a:t>
            </a:r>
            <a:endParaRPr lang="en-US" sz="1200" dirty="0">
              <a:cs typeface="Arial" panose="020B0604020202020204" pitchFamily="34" charset="0"/>
            </a:endParaRPr>
          </a:p>
        </p:txBody>
      </p:sp>
      <p:sp>
        <p:nvSpPr>
          <p:cNvPr id="56" name="文本框 55"/>
          <p:cNvSpPr txBox="1"/>
          <p:nvPr/>
        </p:nvSpPr>
        <p:spPr bwMode="gray">
          <a:xfrm>
            <a:off x="4002016" y="2721628"/>
            <a:ext cx="869149" cy="461665"/>
          </a:xfrm>
          <a:prstGeom prst="rect">
            <a:avLst/>
          </a:prstGeom>
          <a:noFill/>
        </p:spPr>
        <p:txBody>
          <a:bodyPr wrap="none" rtlCol="0">
            <a:spAutoFit/>
          </a:bodyPr>
          <a:lstStyle/>
          <a:p>
            <a:r>
              <a:rPr lang="en-US" altLang="zh-CN" sz="1200" dirty="0" smtClean="0">
                <a:cs typeface="Arial" panose="020B0604020202020204" pitchFamily="34" charset="0"/>
              </a:rPr>
              <a:t>GE1/0/2</a:t>
            </a:r>
          </a:p>
          <a:p>
            <a:r>
              <a:rPr lang="en-US" altLang="zh-CN" sz="1200" dirty="0" smtClean="0">
                <a:cs typeface="Arial" panose="020B0604020202020204" pitchFamily="34" charset="0"/>
              </a:rPr>
              <a:t>1.1.1.1/24</a:t>
            </a:r>
            <a:endParaRPr lang="en-US" sz="1200" dirty="0">
              <a:cs typeface="Arial" panose="020B0604020202020204" pitchFamily="34" charset="0"/>
            </a:endParaRPr>
          </a:p>
        </p:txBody>
      </p:sp>
      <p:sp>
        <p:nvSpPr>
          <p:cNvPr id="62" name="文本框 61"/>
          <p:cNvSpPr txBox="1"/>
          <p:nvPr/>
        </p:nvSpPr>
        <p:spPr bwMode="gray">
          <a:xfrm>
            <a:off x="3812400" y="2195936"/>
            <a:ext cx="569388" cy="276999"/>
          </a:xfrm>
          <a:prstGeom prst="rect">
            <a:avLst/>
          </a:prstGeom>
          <a:noFill/>
        </p:spPr>
        <p:txBody>
          <a:bodyPr wrap="none" rtlCol="0">
            <a:spAutoFit/>
          </a:bodyPr>
          <a:lstStyle/>
          <a:p>
            <a:pPr algn="ctr"/>
            <a:r>
              <a:rPr lang="en-US" altLang="zh-CN" sz="1200" b="1" dirty="0" smtClean="0">
                <a:cs typeface="Arial" panose="020B0604020202020204" pitchFamily="34" charset="0"/>
              </a:rPr>
              <a:t>Trust</a:t>
            </a:r>
            <a:endParaRPr lang="en-US" sz="1200" b="1" dirty="0">
              <a:cs typeface="Arial" panose="020B0604020202020204" pitchFamily="34" charset="0"/>
            </a:endParaRPr>
          </a:p>
        </p:txBody>
      </p:sp>
      <p:sp>
        <p:nvSpPr>
          <p:cNvPr id="63" name="文本框 62"/>
          <p:cNvSpPr txBox="1"/>
          <p:nvPr/>
        </p:nvSpPr>
        <p:spPr bwMode="gray">
          <a:xfrm>
            <a:off x="2900544" y="2195936"/>
            <a:ext cx="750526" cy="276999"/>
          </a:xfrm>
          <a:prstGeom prst="rect">
            <a:avLst/>
          </a:prstGeom>
          <a:noFill/>
        </p:spPr>
        <p:txBody>
          <a:bodyPr wrap="none" rtlCol="0">
            <a:spAutoFit/>
          </a:bodyPr>
          <a:lstStyle/>
          <a:p>
            <a:pPr algn="ctr"/>
            <a:r>
              <a:rPr lang="en-US" altLang="zh-CN" sz="1200" b="1" dirty="0" err="1" smtClean="0">
                <a:cs typeface="Arial" panose="020B0604020202020204" pitchFamily="34" charset="0"/>
              </a:rPr>
              <a:t>Untrust</a:t>
            </a:r>
            <a:endParaRPr lang="en-US" sz="1200" b="1" dirty="0">
              <a:cs typeface="Arial" panose="020B0604020202020204" pitchFamily="34" charset="0"/>
            </a:endParaRPr>
          </a:p>
        </p:txBody>
      </p:sp>
      <p:sp>
        <p:nvSpPr>
          <p:cNvPr id="30" name="文本框 32"/>
          <p:cNvSpPr txBox="1"/>
          <p:nvPr/>
        </p:nvSpPr>
        <p:spPr bwMode="gray">
          <a:xfrm>
            <a:off x="6624050" y="2756864"/>
            <a:ext cx="5125037" cy="1815882"/>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[FW1] </a:t>
            </a:r>
            <a:r>
              <a:rPr lang="en-US" altLang="zh-CN" sz="1400" dirty="0">
                <a:solidFill>
                  <a:prstClr val="black"/>
                </a:solidFill>
                <a:cs typeface="Courier New" panose="02070309020205020404" pitchFamily="49" charset="0"/>
              </a:rPr>
              <a:t>nat-policy</a:t>
            </a:r>
          </a:p>
          <a:p>
            <a:r>
              <a:rPr lang="en-US" altLang="zh-CN" sz="1400" dirty="0" smtClean="0">
                <a:solidFill>
                  <a:prstClr val="black"/>
                </a:solidFill>
                <a:cs typeface="Courier New" panose="02070309020205020404" pitchFamily="49" charset="0"/>
              </a:rPr>
              <a:t>[FW1-policy-nat</a:t>
            </a:r>
            <a:r>
              <a:rPr lang="en-US" altLang="zh-CN" sz="1400" dirty="0">
                <a:solidFill>
                  <a:prstClr val="black"/>
                </a:solidFill>
                <a:cs typeface="Courier New" panose="02070309020205020404" pitchFamily="49" charset="0"/>
              </a:rPr>
              <a:t>] rule name </a:t>
            </a:r>
            <a:r>
              <a:rPr lang="en-US" altLang="zh-CN" sz="1400" dirty="0" smtClean="0">
                <a:solidFill>
                  <a:prstClr val="black"/>
                </a:solidFill>
                <a:cs typeface="Courier New" panose="02070309020205020404" pitchFamily="49" charset="0"/>
              </a:rPr>
              <a:t>nat64</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[FW1-policy-nat-rule-nat64</a:t>
            </a:r>
            <a:r>
              <a:rPr lang="en-US" altLang="zh-CN" sz="1400" dirty="0">
                <a:solidFill>
                  <a:prstClr val="black"/>
                </a:solidFill>
                <a:cs typeface="Courier New" panose="02070309020205020404" pitchFamily="49" charset="0"/>
              </a:rPr>
              <a:t>] nat-type nat64</a:t>
            </a:r>
          </a:p>
          <a:p>
            <a:r>
              <a:rPr lang="en-US" altLang="zh-CN" sz="1400" dirty="0" smtClean="0">
                <a:solidFill>
                  <a:prstClr val="black"/>
                </a:solidFill>
                <a:cs typeface="Courier New" panose="02070309020205020404" pitchFamily="49" charset="0"/>
              </a:rPr>
              <a:t>[FW1-policy-nat-rule-nat64</a:t>
            </a:r>
            <a:r>
              <a:rPr lang="en-US" altLang="zh-CN" sz="1400" dirty="0">
                <a:solidFill>
                  <a:prstClr val="black"/>
                </a:solidFill>
                <a:cs typeface="Courier New" panose="02070309020205020404" pitchFamily="49" charset="0"/>
              </a:rPr>
              <a:t>] source-zone </a:t>
            </a:r>
            <a:r>
              <a:rPr lang="en-US" altLang="zh-CN" sz="1400" dirty="0" err="1">
                <a:solidFill>
                  <a:prstClr val="black"/>
                </a:solidFill>
                <a:cs typeface="Courier New" panose="02070309020205020404" pitchFamily="49" charset="0"/>
              </a:rPr>
              <a:t>untrust</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[FW1-policy-nat-rule-nat64</a:t>
            </a:r>
            <a:r>
              <a:rPr lang="en-US" altLang="zh-CN" sz="1400" dirty="0">
                <a:solidFill>
                  <a:prstClr val="black"/>
                </a:solidFill>
                <a:cs typeface="Courier New" panose="02070309020205020404" pitchFamily="49" charset="0"/>
              </a:rPr>
              <a:t>] destination-zone trust</a:t>
            </a:r>
          </a:p>
          <a:p>
            <a:r>
              <a:rPr lang="en-US" altLang="zh-CN" sz="1400" dirty="0" smtClean="0">
                <a:solidFill>
                  <a:prstClr val="black"/>
                </a:solidFill>
                <a:cs typeface="Courier New" panose="02070309020205020404" pitchFamily="49" charset="0"/>
              </a:rPr>
              <a:t>[FW1-policy-nat-rule-nat64</a:t>
            </a:r>
            <a:r>
              <a:rPr lang="en-US" altLang="zh-CN" sz="1400" dirty="0">
                <a:solidFill>
                  <a:prstClr val="black"/>
                </a:solidFill>
                <a:cs typeface="Courier New" panose="02070309020205020404" pitchFamily="49" charset="0"/>
              </a:rPr>
              <a:t>] source-address 2001:db8:: 64</a:t>
            </a:r>
          </a:p>
          <a:p>
            <a:r>
              <a:rPr lang="en-US" altLang="zh-CN" sz="1400" dirty="0" smtClean="0">
                <a:solidFill>
                  <a:prstClr val="black"/>
                </a:solidFill>
                <a:cs typeface="Courier New" panose="02070309020205020404" pitchFamily="49" charset="0"/>
              </a:rPr>
              <a:t>[FW1-policy-nat-rule-nat64</a:t>
            </a:r>
            <a:r>
              <a:rPr lang="en-US" altLang="zh-CN" sz="1400" dirty="0">
                <a:solidFill>
                  <a:prstClr val="black"/>
                </a:solidFill>
                <a:cs typeface="Courier New" panose="02070309020205020404" pitchFamily="49" charset="0"/>
              </a:rPr>
              <a:t>] action source-nat address-group </a:t>
            </a:r>
            <a:r>
              <a:rPr lang="en-US" altLang="zh-CN" sz="1400" dirty="0" smtClean="0">
                <a:solidFill>
                  <a:prstClr val="black"/>
                </a:solidFill>
                <a:cs typeface="Courier New" panose="02070309020205020404" pitchFamily="49" charset="0"/>
              </a:rPr>
              <a:t>pool1</a:t>
            </a:r>
            <a:endParaRPr lang="en-US" altLang="zh-CN" sz="1400" dirty="0">
              <a:solidFill>
                <a:prstClr val="black"/>
              </a:solidFill>
              <a:cs typeface="Courier New" panose="02070309020205020404" pitchFamily="49" charset="0"/>
            </a:endParaRPr>
          </a:p>
        </p:txBody>
      </p:sp>
      <p:sp>
        <p:nvSpPr>
          <p:cNvPr id="38" name="文本框 33"/>
          <p:cNvSpPr txBox="1"/>
          <p:nvPr/>
        </p:nvSpPr>
        <p:spPr bwMode="gray">
          <a:xfrm>
            <a:off x="6452006" y="2398282"/>
            <a:ext cx="4374443"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smtClean="0">
                <a:solidFill>
                  <a:prstClr val="black"/>
                </a:solidFill>
              </a:rPr>
              <a:t>6</a:t>
            </a:r>
            <a:r>
              <a:rPr lang="zh-CN" altLang="en-US" sz="1600" dirty="0">
                <a:solidFill>
                  <a:prstClr val="black"/>
                </a:solidFill>
              </a:rPr>
              <a:t>、配置</a:t>
            </a:r>
            <a:r>
              <a:rPr lang="en-US" altLang="zh-CN" sz="1600" dirty="0">
                <a:solidFill>
                  <a:prstClr val="black"/>
                </a:solidFill>
              </a:rPr>
              <a:t>NAT64</a:t>
            </a:r>
            <a:r>
              <a:rPr lang="zh-CN" altLang="en-US" sz="1600" dirty="0">
                <a:solidFill>
                  <a:prstClr val="black"/>
                </a:solidFill>
              </a:rPr>
              <a:t>动态映射</a:t>
            </a:r>
            <a:r>
              <a:rPr lang="zh-CN" altLang="en-US" sz="1600" dirty="0" smtClean="0">
                <a:solidFill>
                  <a:prstClr val="black"/>
                </a:solidFill>
              </a:rPr>
              <a:t>。</a:t>
            </a:r>
            <a:endParaRPr lang="zh-CN" altLang="en-US" sz="1600" dirty="0">
              <a:solidFill>
                <a:prstClr val="black"/>
              </a:solidFill>
            </a:endParaRPr>
          </a:p>
        </p:txBody>
      </p:sp>
      <p:sp>
        <p:nvSpPr>
          <p:cNvPr id="39" name="文本框 32"/>
          <p:cNvSpPr txBox="1"/>
          <p:nvPr/>
        </p:nvSpPr>
        <p:spPr bwMode="gray">
          <a:xfrm>
            <a:off x="6624050" y="1425337"/>
            <a:ext cx="5125037" cy="738664"/>
          </a:xfrm>
          <a:prstGeom prst="rect">
            <a:avLst/>
          </a:prstGeom>
          <a:solidFill>
            <a:schemeClr val="bg1">
              <a:lumMod val="85000"/>
            </a:schemeClr>
          </a:solidFill>
          <a:ln>
            <a:no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400" dirty="0" smtClean="0">
                <a:solidFill>
                  <a:prstClr val="black"/>
                </a:solidFill>
                <a:cs typeface="Courier New" panose="02070309020205020404" pitchFamily="49" charset="0"/>
              </a:rPr>
              <a:t>[FW1] </a:t>
            </a:r>
            <a:r>
              <a:rPr lang="en-US" altLang="zh-CN" sz="1400" dirty="0">
                <a:solidFill>
                  <a:prstClr val="black"/>
                </a:solidFill>
                <a:cs typeface="Courier New" panose="02070309020205020404" pitchFamily="49" charset="0"/>
              </a:rPr>
              <a:t>nat address-group </a:t>
            </a:r>
            <a:r>
              <a:rPr lang="en-US" altLang="zh-CN" sz="1400" dirty="0" smtClean="0">
                <a:solidFill>
                  <a:prstClr val="black"/>
                </a:solidFill>
                <a:cs typeface="Courier New" panose="02070309020205020404" pitchFamily="49" charset="0"/>
              </a:rPr>
              <a:t>pool1</a:t>
            </a:r>
            <a:endParaRPr lang="en-US" altLang="zh-CN" sz="1400" dirty="0">
              <a:solidFill>
                <a:prstClr val="black"/>
              </a:solidFill>
              <a:cs typeface="Courier New" panose="02070309020205020404" pitchFamily="49" charset="0"/>
            </a:endParaRPr>
          </a:p>
          <a:p>
            <a:r>
              <a:rPr lang="en-US" altLang="zh-CN" sz="1400" dirty="0" smtClean="0">
                <a:solidFill>
                  <a:prstClr val="black"/>
                </a:solidFill>
                <a:cs typeface="Courier New" panose="02070309020205020404" pitchFamily="49" charset="0"/>
              </a:rPr>
              <a:t>[FW1-address-group-pool1</a:t>
            </a:r>
            <a:r>
              <a:rPr lang="en-US" altLang="zh-CN" sz="1400" dirty="0">
                <a:solidFill>
                  <a:prstClr val="black"/>
                </a:solidFill>
                <a:cs typeface="Courier New" panose="02070309020205020404" pitchFamily="49" charset="0"/>
              </a:rPr>
              <a:t>] mode pat</a:t>
            </a:r>
          </a:p>
          <a:p>
            <a:r>
              <a:rPr lang="en-US" altLang="zh-CN" sz="1400" dirty="0" smtClean="0">
                <a:solidFill>
                  <a:prstClr val="black"/>
                </a:solidFill>
                <a:cs typeface="Courier New" panose="02070309020205020404" pitchFamily="49" charset="0"/>
              </a:rPr>
              <a:t>[FW1-address-group-pool1</a:t>
            </a:r>
            <a:r>
              <a:rPr lang="en-US" altLang="zh-CN" sz="1400" dirty="0">
                <a:solidFill>
                  <a:prstClr val="black"/>
                </a:solidFill>
                <a:cs typeface="Courier New" panose="02070309020205020404" pitchFamily="49" charset="0"/>
              </a:rPr>
              <a:t>] section 1 1.1.1.6 </a:t>
            </a:r>
            <a:r>
              <a:rPr lang="en-US" altLang="zh-CN" sz="1400" dirty="0" smtClean="0">
                <a:solidFill>
                  <a:prstClr val="black"/>
                </a:solidFill>
                <a:cs typeface="Courier New" panose="02070309020205020404" pitchFamily="49" charset="0"/>
              </a:rPr>
              <a:t>1.1.1.10</a:t>
            </a:r>
            <a:endParaRPr lang="en-US" altLang="zh-CN" sz="1400" dirty="0">
              <a:solidFill>
                <a:prstClr val="black"/>
              </a:solidFill>
              <a:cs typeface="Courier New" panose="02070309020205020404" pitchFamily="49" charset="0"/>
            </a:endParaRPr>
          </a:p>
        </p:txBody>
      </p:sp>
      <p:sp>
        <p:nvSpPr>
          <p:cNvPr id="41" name="文本框 33"/>
          <p:cNvSpPr txBox="1"/>
          <p:nvPr/>
        </p:nvSpPr>
        <p:spPr bwMode="gray">
          <a:xfrm>
            <a:off x="6452006" y="1066755"/>
            <a:ext cx="4374443"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5</a:t>
            </a:r>
            <a:r>
              <a:rPr lang="zh-CN" altLang="en-US" sz="1600" dirty="0" smtClean="0">
                <a:solidFill>
                  <a:prstClr val="black"/>
                </a:solidFill>
              </a:rPr>
              <a:t>、配置</a:t>
            </a:r>
            <a:r>
              <a:rPr lang="en-US" altLang="zh-CN" sz="1600" dirty="0" smtClean="0">
                <a:solidFill>
                  <a:prstClr val="black"/>
                </a:solidFill>
              </a:rPr>
              <a:t>NAT64</a:t>
            </a:r>
            <a:r>
              <a:rPr lang="zh-CN" altLang="en-US" sz="1600" dirty="0" smtClean="0">
                <a:solidFill>
                  <a:prstClr val="black"/>
                </a:solidFill>
              </a:rPr>
              <a:t>地址池。</a:t>
            </a:r>
            <a:endParaRPr lang="zh-CN" altLang="en-US" sz="1600" dirty="0">
              <a:solidFill>
                <a:prstClr val="black"/>
              </a:solidFill>
            </a:endParaRPr>
          </a:p>
        </p:txBody>
      </p:sp>
      <p:sp>
        <p:nvSpPr>
          <p:cNvPr id="48" name="五边形 47"/>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50" name="燕尾形 49"/>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52" name="燕尾形 51"/>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54" name="燕尾形 53"/>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57" name="燕尾形 56"/>
          <p:cNvSpPr/>
          <p:nvPr/>
        </p:nvSpPr>
        <p:spPr bwMode="gray">
          <a:xfrm>
            <a:off x="10392590"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58" name="燕尾形 57"/>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59" name="燕尾形 58"/>
          <p:cNvSpPr/>
          <p:nvPr/>
        </p:nvSpPr>
        <p:spPr bwMode="gray">
          <a:xfrm>
            <a:off x="11028075"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IVI</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1876952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转换</a:t>
            </a:r>
            <a:r>
              <a:rPr lang="zh-CN" altLang="en-US" dirty="0" smtClean="0"/>
              <a:t>技术：</a:t>
            </a:r>
            <a:r>
              <a:rPr lang="en-US" altLang="zh-CN" dirty="0" smtClean="0"/>
              <a:t>IVI</a:t>
            </a:r>
            <a:endParaRPr lang="zh-CN" altLang="en-US" dirty="0"/>
          </a:p>
        </p:txBody>
      </p:sp>
      <p:sp>
        <p:nvSpPr>
          <p:cNvPr id="3" name="文本占位符 2"/>
          <p:cNvSpPr>
            <a:spLocks noGrp="1"/>
          </p:cNvSpPr>
          <p:nvPr>
            <p:ph type="body" sz="quarter" idx="10"/>
          </p:nvPr>
        </p:nvSpPr>
        <p:spPr bwMode="gray">
          <a:xfrm>
            <a:off x="455612" y="1047750"/>
            <a:ext cx="11293475" cy="2212571"/>
          </a:xfrm>
        </p:spPr>
        <p:txBody>
          <a:bodyPr/>
          <a:lstStyle/>
          <a:p>
            <a:r>
              <a:rPr lang="en-US" altLang="zh-CN" sz="1800" dirty="0" smtClean="0"/>
              <a:t>IVI</a:t>
            </a:r>
            <a:r>
              <a:rPr lang="zh-CN" altLang="en-US" sz="1800" dirty="0" smtClean="0"/>
              <a:t>无</a:t>
            </a:r>
            <a:r>
              <a:rPr lang="zh-CN" altLang="en-US" sz="1800" dirty="0"/>
              <a:t>状态</a:t>
            </a:r>
            <a:r>
              <a:rPr lang="zh-CN" altLang="en-US" sz="1800" dirty="0" smtClean="0"/>
              <a:t>地址转换技术的主要</a:t>
            </a:r>
            <a:r>
              <a:rPr lang="zh-CN" altLang="en-US" sz="1800" dirty="0"/>
              <a:t>思想是运营商保留一段</a:t>
            </a:r>
            <a:r>
              <a:rPr lang="en-US" altLang="zh-CN" sz="1800" dirty="0"/>
              <a:t>IPv4</a:t>
            </a:r>
            <a:r>
              <a:rPr lang="zh-CN" altLang="en-US" sz="1800" dirty="0"/>
              <a:t>地址（称为</a:t>
            </a:r>
            <a:r>
              <a:rPr lang="en-US" altLang="zh-CN" sz="1800" dirty="0"/>
              <a:t>IVI4</a:t>
            </a:r>
            <a:r>
              <a:rPr lang="zh-CN" altLang="en-US" sz="1800" dirty="0"/>
              <a:t>地址</a:t>
            </a:r>
            <a:r>
              <a:rPr lang="zh-CN" altLang="en-US" sz="1800" dirty="0" smtClean="0"/>
              <a:t>），将</a:t>
            </a:r>
            <a:r>
              <a:rPr lang="zh-CN" altLang="en-US" sz="1800" dirty="0"/>
              <a:t>其唯一映射为一段特殊的</a:t>
            </a:r>
            <a:r>
              <a:rPr lang="en-US" altLang="zh-CN" sz="1800" dirty="0"/>
              <a:t>IPv6</a:t>
            </a:r>
            <a:r>
              <a:rPr lang="zh-CN" altLang="en-US" sz="1800" dirty="0"/>
              <a:t>地址（称为</a:t>
            </a:r>
            <a:r>
              <a:rPr lang="en-US" altLang="zh-CN" sz="1800" dirty="0"/>
              <a:t>IVI6</a:t>
            </a:r>
            <a:r>
              <a:rPr lang="zh-CN" altLang="en-US" sz="1800" dirty="0"/>
              <a:t>地址），通过地址嵌套的方式，可以实现这部分地址的无状态转换</a:t>
            </a:r>
            <a:r>
              <a:rPr lang="zh-CN" altLang="en-US" sz="1800" dirty="0" smtClean="0"/>
              <a:t>。</a:t>
            </a:r>
            <a:endParaRPr lang="en-US" altLang="zh-CN" sz="1800" dirty="0" smtClean="0"/>
          </a:p>
          <a:p>
            <a:r>
              <a:rPr lang="zh-CN" altLang="en-US" sz="1800" dirty="0" smtClean="0"/>
              <a:t>获得</a:t>
            </a:r>
            <a:r>
              <a:rPr lang="en-US" altLang="zh-CN" sz="1800" dirty="0"/>
              <a:t>IVI6</a:t>
            </a:r>
            <a:r>
              <a:rPr lang="zh-CN" altLang="en-US" sz="1800" dirty="0"/>
              <a:t>地址的用户可以直接访问全球</a:t>
            </a:r>
            <a:r>
              <a:rPr lang="en-US" altLang="zh-CN" sz="1800" dirty="0"/>
              <a:t>IPv6</a:t>
            </a:r>
            <a:r>
              <a:rPr lang="zh-CN" altLang="en-US" sz="1800" dirty="0"/>
              <a:t>网络，通过</a:t>
            </a:r>
            <a:r>
              <a:rPr lang="en-US" altLang="zh-CN" sz="1800" dirty="0"/>
              <a:t>IVI</a:t>
            </a:r>
            <a:r>
              <a:rPr lang="zh-CN" altLang="en-US" sz="1800" dirty="0"/>
              <a:t>网关翻译器可将地址转换</a:t>
            </a:r>
            <a:r>
              <a:rPr lang="en-US" altLang="zh-CN" sz="1800" dirty="0"/>
              <a:t>IVI4</a:t>
            </a:r>
            <a:r>
              <a:rPr lang="zh-CN" altLang="en-US" sz="1800" dirty="0"/>
              <a:t>地址，可以和全球</a:t>
            </a:r>
            <a:r>
              <a:rPr lang="en-US" altLang="zh-CN" sz="1800" dirty="0"/>
              <a:t>IPv4</a:t>
            </a:r>
            <a:r>
              <a:rPr lang="zh-CN" altLang="en-US" sz="1800" dirty="0"/>
              <a:t>网络通信，实现</a:t>
            </a:r>
            <a:r>
              <a:rPr lang="en-US" altLang="zh-CN" sz="1800" dirty="0"/>
              <a:t>IPv4</a:t>
            </a:r>
            <a:r>
              <a:rPr lang="zh-CN" altLang="en-US" sz="1800" dirty="0"/>
              <a:t>和</a:t>
            </a:r>
            <a:r>
              <a:rPr lang="en-US" altLang="zh-CN" sz="1800" dirty="0"/>
              <a:t>IPv6</a:t>
            </a:r>
            <a:r>
              <a:rPr lang="zh-CN" altLang="en-US" sz="1800" dirty="0"/>
              <a:t>的互访</a:t>
            </a:r>
            <a:r>
              <a:rPr lang="zh-CN" altLang="en-US" sz="1800" dirty="0" smtClean="0"/>
              <a:t>。</a:t>
            </a:r>
            <a:endParaRPr lang="en-US" altLang="zh-CN" sz="1800" dirty="0" smtClean="0"/>
          </a:p>
          <a:p>
            <a:r>
              <a:rPr lang="en-US" altLang="zh-CN" sz="1800" dirty="0" smtClean="0"/>
              <a:t>IVI6</a:t>
            </a:r>
            <a:r>
              <a:rPr lang="zh-CN" altLang="en-US" sz="1800" dirty="0" smtClean="0"/>
              <a:t>地址结构：</a:t>
            </a:r>
            <a:endParaRPr lang="en-US" altLang="zh-CN" sz="1800" dirty="0" smtClean="0"/>
          </a:p>
        </p:txBody>
      </p:sp>
      <p:grpSp>
        <p:nvGrpSpPr>
          <p:cNvPr id="4" name="组合 3"/>
          <p:cNvGrpSpPr/>
          <p:nvPr/>
        </p:nvGrpSpPr>
        <p:grpSpPr bwMode="gray">
          <a:xfrm>
            <a:off x="6090129" y="2510234"/>
            <a:ext cx="4803941" cy="3536002"/>
            <a:chOff x="464745" y="2571480"/>
            <a:chExt cx="4803941" cy="3536002"/>
          </a:xfrm>
        </p:grpSpPr>
        <p:sp>
          <p:nvSpPr>
            <p:cNvPr id="18" name="圆角矩形 17"/>
            <p:cNvSpPr/>
            <p:nvPr/>
          </p:nvSpPr>
          <p:spPr bwMode="gray">
            <a:xfrm>
              <a:off x="3614057" y="5342616"/>
              <a:ext cx="1654629" cy="764866"/>
            </a:xfrm>
            <a:prstGeom prst="round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bwMode="gray">
            <a:xfrm>
              <a:off x="3614057" y="2571480"/>
              <a:ext cx="1654629" cy="764866"/>
            </a:xfrm>
            <a:prstGeom prst="roundRect">
              <a:avLst/>
            </a:prstGeom>
            <a:solidFill>
              <a:srgbClr val="F2FBFC"/>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a:endCxn id="45" idx="1"/>
            </p:cNvCxnSpPr>
            <p:nvPr/>
          </p:nvCxnSpPr>
          <p:spPr bwMode="gray">
            <a:xfrm flipV="1">
              <a:off x="2547996" y="3821235"/>
              <a:ext cx="1344130" cy="6129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48" idx="1"/>
            </p:cNvCxnSpPr>
            <p:nvPr/>
          </p:nvCxnSpPr>
          <p:spPr bwMode="gray">
            <a:xfrm>
              <a:off x="2537664" y="4457209"/>
              <a:ext cx="1354462" cy="584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49" idx="0"/>
              <a:endCxn id="48" idx="0"/>
            </p:cNvCxnSpPr>
            <p:nvPr/>
          </p:nvCxnSpPr>
          <p:spPr bwMode="gray">
            <a:xfrm flipV="1">
              <a:off x="4082303" y="4903143"/>
              <a:ext cx="350997" cy="5438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50" idx="0"/>
              <a:endCxn id="48" idx="0"/>
            </p:cNvCxnSpPr>
            <p:nvPr/>
          </p:nvCxnSpPr>
          <p:spPr bwMode="gray">
            <a:xfrm flipH="1" flipV="1">
              <a:off x="4433300" y="4903143"/>
              <a:ext cx="354998" cy="5429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40" idx="2"/>
              <a:endCxn id="45" idx="0"/>
            </p:cNvCxnSpPr>
            <p:nvPr/>
          </p:nvCxnSpPr>
          <p:spPr bwMode="gray">
            <a:xfrm>
              <a:off x="4082303" y="3277204"/>
              <a:ext cx="350997" cy="4055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43" idx="2"/>
              <a:endCxn id="45" idx="0"/>
            </p:cNvCxnSpPr>
            <p:nvPr/>
          </p:nvCxnSpPr>
          <p:spPr bwMode="gray">
            <a:xfrm flipH="1">
              <a:off x="4433300" y="3277204"/>
              <a:ext cx="354998" cy="4055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159"/>
            <p:cNvSpPr/>
            <p:nvPr/>
          </p:nvSpPr>
          <p:spPr bwMode="gray">
            <a:xfrm flipH="1">
              <a:off x="1077485" y="4140494"/>
              <a:ext cx="873543" cy="48370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35" name="文本框 34"/>
            <p:cNvSpPr txBox="1"/>
            <p:nvPr/>
          </p:nvSpPr>
          <p:spPr bwMode="gray">
            <a:xfrm>
              <a:off x="1268358" y="4286050"/>
              <a:ext cx="478016" cy="276999"/>
            </a:xfrm>
            <a:prstGeom prst="rect">
              <a:avLst/>
            </a:prstGeom>
            <a:noFill/>
          </p:spPr>
          <p:txBody>
            <a:bodyPr wrap="none" rtlCol="0">
              <a:spAutoFit/>
            </a:bodyPr>
            <a:lstStyle/>
            <a:p>
              <a:pPr algn="ctr"/>
              <a:r>
                <a:rPr lang="en-US" sz="1200" dirty="0" smtClean="0">
                  <a:cs typeface="Arial" panose="020B0604020202020204" pitchFamily="34" charset="0"/>
                </a:rPr>
                <a:t>IPv6</a:t>
              </a:r>
              <a:endParaRPr lang="en-US" sz="1200" dirty="0">
                <a:cs typeface="Arial" panose="020B0604020202020204" pitchFamily="34" charset="0"/>
              </a:endParaRPr>
            </a:p>
          </p:txBody>
        </p:sp>
        <p:pic>
          <p:nvPicPr>
            <p:cNvPr id="36" name="图片 35" descr="PC.png"/>
            <p:cNvPicPr>
              <a:picLocks noChangeAspect="1"/>
            </p:cNvPicPr>
            <p:nvPr/>
          </p:nvPicPr>
          <p:blipFill>
            <a:blip r:embed="rId3" cstate="print"/>
            <a:stretch>
              <a:fillRect/>
            </a:stretch>
          </p:blipFill>
          <p:spPr bwMode="gray">
            <a:xfrm>
              <a:off x="814758" y="4138020"/>
              <a:ext cx="445577" cy="342203"/>
            </a:xfrm>
            <a:prstGeom prst="rect">
              <a:avLst/>
            </a:prstGeom>
          </p:spPr>
        </p:pic>
        <p:cxnSp>
          <p:nvCxnSpPr>
            <p:cNvPr id="37" name="直接连接符 36"/>
            <p:cNvCxnSpPr>
              <a:stCxn id="33" idx="8"/>
            </p:cNvCxnSpPr>
            <p:nvPr/>
          </p:nvCxnSpPr>
          <p:spPr bwMode="gray">
            <a:xfrm flipV="1">
              <a:off x="1951028" y="4467805"/>
              <a:ext cx="4281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bwMode="gray">
            <a:xfrm>
              <a:off x="464745" y="4564486"/>
              <a:ext cx="843501"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User</a:t>
              </a:r>
              <a:endParaRPr lang="en-US" sz="1200" dirty="0">
                <a:cs typeface="Arial" panose="020B0604020202020204" pitchFamily="34" charset="0"/>
              </a:endParaRPr>
            </a:p>
          </p:txBody>
        </p:sp>
        <p:pic>
          <p:nvPicPr>
            <p:cNvPr id="40" name="图片 3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865207" y="2921167"/>
              <a:ext cx="434191" cy="356037"/>
            </a:xfrm>
            <a:prstGeom prst="rect">
              <a:avLst/>
            </a:prstGeom>
          </p:spPr>
        </p:pic>
        <p:pic>
          <p:nvPicPr>
            <p:cNvPr id="41" name="图片 4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378897" y="3255616"/>
              <a:ext cx="435249" cy="356904"/>
            </a:xfrm>
            <a:prstGeom prst="rect">
              <a:avLst/>
            </a:prstGeom>
          </p:spPr>
        </p:pic>
        <p:sp>
          <p:nvSpPr>
            <p:cNvPr id="42" name="文本框 41"/>
            <p:cNvSpPr txBox="1"/>
            <p:nvPr/>
          </p:nvSpPr>
          <p:spPr bwMode="gray">
            <a:xfrm>
              <a:off x="2217168" y="2978136"/>
              <a:ext cx="728084" cy="276999"/>
            </a:xfrm>
            <a:prstGeom prst="rect">
              <a:avLst/>
            </a:prstGeom>
            <a:noFill/>
          </p:spPr>
          <p:txBody>
            <a:bodyPr wrap="none" rtlCol="0">
              <a:spAutoFit/>
            </a:bodyPr>
            <a:lstStyle/>
            <a:p>
              <a:pPr algn="ctr"/>
              <a:r>
                <a:rPr lang="en-US" altLang="zh-CN" sz="1200" dirty="0" smtClean="0">
                  <a:cs typeface="Arial" panose="020B0604020202020204" pitchFamily="34" charset="0"/>
                </a:rPr>
                <a:t>IVI DNS</a:t>
              </a:r>
              <a:endParaRPr lang="en-US" sz="1200" dirty="0">
                <a:cs typeface="Arial" panose="020B0604020202020204" pitchFamily="34" charset="0"/>
              </a:endParaRPr>
            </a:p>
          </p:txBody>
        </p:sp>
        <p:pic>
          <p:nvPicPr>
            <p:cNvPr id="43" name="图片 4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570673" y="2920300"/>
              <a:ext cx="435249" cy="356904"/>
            </a:xfrm>
            <a:prstGeom prst="rect">
              <a:avLst/>
            </a:prstGeom>
          </p:spPr>
        </p:pic>
        <p:sp>
          <p:nvSpPr>
            <p:cNvPr id="44" name="Freeform 159"/>
            <p:cNvSpPr/>
            <p:nvPr/>
          </p:nvSpPr>
          <p:spPr bwMode="gray">
            <a:xfrm flipH="1">
              <a:off x="3882283" y="3403794"/>
              <a:ext cx="1102034" cy="610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45" name="文本框 44"/>
            <p:cNvSpPr txBox="1"/>
            <p:nvPr/>
          </p:nvSpPr>
          <p:spPr bwMode="gray">
            <a:xfrm>
              <a:off x="3892126" y="3682735"/>
              <a:ext cx="1082348" cy="276999"/>
            </a:xfrm>
            <a:prstGeom prst="rect">
              <a:avLst/>
            </a:prstGeom>
            <a:noFill/>
          </p:spPr>
          <p:txBody>
            <a:bodyPr wrap="none" rtlCol="0">
              <a:spAutoFit/>
            </a:bodyPr>
            <a:lstStyle/>
            <a:p>
              <a:pPr algn="ctr"/>
              <a:r>
                <a:rPr lang="en-US" sz="1200" dirty="0" smtClean="0">
                  <a:cs typeface="Arial" panose="020B0604020202020204" pitchFamily="34" charset="0"/>
                </a:rPr>
                <a:t>IPv6 </a:t>
              </a:r>
              <a:r>
                <a:rPr lang="en-US" altLang="zh-CN" sz="1200" dirty="0" smtClean="0">
                  <a:cs typeface="Arial" panose="020B0604020202020204" pitchFamily="34" charset="0"/>
                </a:rPr>
                <a:t>Internet</a:t>
              </a:r>
              <a:endParaRPr lang="en-US" sz="1200" dirty="0">
                <a:cs typeface="Arial" panose="020B0604020202020204" pitchFamily="34" charset="0"/>
              </a:endParaRPr>
            </a:p>
          </p:txBody>
        </p:sp>
        <p:sp>
          <p:nvSpPr>
            <p:cNvPr id="46" name="文本框 45"/>
            <p:cNvSpPr txBox="1"/>
            <p:nvPr/>
          </p:nvSpPr>
          <p:spPr bwMode="gray">
            <a:xfrm>
              <a:off x="3952242" y="2638650"/>
              <a:ext cx="962122" cy="276999"/>
            </a:xfrm>
            <a:prstGeom prst="rect">
              <a:avLst/>
            </a:prstGeom>
            <a:noFill/>
          </p:spPr>
          <p:txBody>
            <a:bodyPr wrap="none" rtlCol="0">
              <a:spAutoFit/>
            </a:bodyPr>
            <a:lstStyle/>
            <a:p>
              <a:pPr algn="ctr"/>
              <a:r>
                <a:rPr lang="en-US" altLang="zh-CN" sz="1200" dirty="0" smtClean="0">
                  <a:cs typeface="Arial" panose="020B0604020202020204" pitchFamily="34" charset="0"/>
                </a:rPr>
                <a:t>IPv6 Server</a:t>
              </a:r>
              <a:endParaRPr lang="en-US" sz="1200" dirty="0">
                <a:cs typeface="Arial" panose="020B0604020202020204" pitchFamily="34" charset="0"/>
              </a:endParaRPr>
            </a:p>
          </p:txBody>
        </p:sp>
        <p:sp>
          <p:nvSpPr>
            <p:cNvPr id="47" name="Freeform 159"/>
            <p:cNvSpPr/>
            <p:nvPr/>
          </p:nvSpPr>
          <p:spPr bwMode="gray">
            <a:xfrm flipH="1">
              <a:off x="3882283" y="4624202"/>
              <a:ext cx="1102034" cy="6102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sym typeface="Huawei Sans" panose="020C0503030203020204" pitchFamily="34" charset="0"/>
              </a:endParaRPr>
            </a:p>
          </p:txBody>
        </p:sp>
        <p:sp>
          <p:nvSpPr>
            <p:cNvPr id="48" name="文本框 47"/>
            <p:cNvSpPr txBox="1"/>
            <p:nvPr/>
          </p:nvSpPr>
          <p:spPr bwMode="gray">
            <a:xfrm>
              <a:off x="3892126" y="4903143"/>
              <a:ext cx="1082348" cy="276999"/>
            </a:xfrm>
            <a:prstGeom prst="rect">
              <a:avLst/>
            </a:prstGeom>
            <a:noFill/>
          </p:spPr>
          <p:txBody>
            <a:bodyPr wrap="none" rtlCol="0">
              <a:spAutoFit/>
            </a:bodyPr>
            <a:lstStyle/>
            <a:p>
              <a:pPr algn="ctr"/>
              <a:r>
                <a:rPr lang="en-US" sz="1200" dirty="0" smtClean="0">
                  <a:cs typeface="Arial" panose="020B0604020202020204" pitchFamily="34" charset="0"/>
                </a:rPr>
                <a:t>IPv4 </a:t>
              </a:r>
              <a:r>
                <a:rPr lang="en-US" altLang="zh-CN" sz="1200" dirty="0" smtClean="0">
                  <a:cs typeface="Arial" panose="020B0604020202020204" pitchFamily="34" charset="0"/>
                </a:rPr>
                <a:t>Internet</a:t>
              </a:r>
              <a:endParaRPr lang="en-US" sz="1200" dirty="0">
                <a:cs typeface="Arial" panose="020B0604020202020204" pitchFamily="34" charset="0"/>
              </a:endParaRPr>
            </a:p>
          </p:txBody>
        </p:sp>
        <p:pic>
          <p:nvPicPr>
            <p:cNvPr id="49" name="图片 4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865207" y="5446975"/>
              <a:ext cx="434191" cy="356037"/>
            </a:xfrm>
            <a:prstGeom prst="rect">
              <a:avLst/>
            </a:prstGeom>
          </p:spPr>
        </p:pic>
        <p:pic>
          <p:nvPicPr>
            <p:cNvPr id="50" name="图片 4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570673" y="5446108"/>
              <a:ext cx="435249" cy="356904"/>
            </a:xfrm>
            <a:prstGeom prst="rect">
              <a:avLst/>
            </a:prstGeom>
          </p:spPr>
        </p:pic>
        <p:sp>
          <p:nvSpPr>
            <p:cNvPr id="51" name="文本框 50"/>
            <p:cNvSpPr txBox="1"/>
            <p:nvPr/>
          </p:nvSpPr>
          <p:spPr bwMode="gray">
            <a:xfrm>
              <a:off x="3952242" y="5792497"/>
              <a:ext cx="962123" cy="276999"/>
            </a:xfrm>
            <a:prstGeom prst="rect">
              <a:avLst/>
            </a:prstGeom>
            <a:noFill/>
          </p:spPr>
          <p:txBody>
            <a:bodyPr wrap="none" rtlCol="0">
              <a:spAutoFit/>
            </a:bodyPr>
            <a:lstStyle/>
            <a:p>
              <a:pPr algn="ctr"/>
              <a:r>
                <a:rPr lang="en-US" altLang="zh-CN" sz="1200" dirty="0" smtClean="0">
                  <a:cs typeface="Arial" panose="020B0604020202020204" pitchFamily="34" charset="0"/>
                </a:rPr>
                <a:t>IPv4 Server</a:t>
              </a:r>
              <a:endParaRPr lang="en-US" sz="1200" dirty="0">
                <a:cs typeface="Arial" panose="020B0604020202020204" pitchFamily="34" charset="0"/>
              </a:endParaRPr>
            </a:p>
          </p:txBody>
        </p:sp>
        <p:cxnSp>
          <p:nvCxnSpPr>
            <p:cNvPr id="52" name="直接连接符 51"/>
            <p:cNvCxnSpPr>
              <a:endCxn id="41" idx="2"/>
            </p:cNvCxnSpPr>
            <p:nvPr/>
          </p:nvCxnSpPr>
          <p:spPr bwMode="gray">
            <a:xfrm flipH="1" flipV="1">
              <a:off x="2596522" y="3612520"/>
              <a:ext cx="119" cy="6769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gray">
            <a:xfrm flipH="1">
              <a:off x="758919" y="5651777"/>
              <a:ext cx="315967" cy="0"/>
            </a:xfrm>
            <a:prstGeom prst="line">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gray">
            <a:xfrm flipH="1">
              <a:off x="758919" y="5902165"/>
              <a:ext cx="315967" cy="0"/>
            </a:xfrm>
            <a:prstGeom prst="line">
              <a:avLst/>
            </a:prstGeom>
            <a:ln w="19050">
              <a:solidFill>
                <a:srgbClr val="62B230"/>
              </a:solidFill>
              <a:prstDash val="dash"/>
              <a:head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989140" y="5513278"/>
              <a:ext cx="864340" cy="276999"/>
            </a:xfrm>
            <a:prstGeom prst="rect">
              <a:avLst/>
            </a:prstGeom>
            <a:noFill/>
          </p:spPr>
          <p:txBody>
            <a:bodyPr wrap="none" rtlCol="0">
              <a:spAutoFit/>
            </a:bodyPr>
            <a:lstStyle/>
            <a:p>
              <a:pPr algn="ctr"/>
              <a:r>
                <a:rPr lang="en-US" sz="1200" dirty="0">
                  <a:solidFill>
                    <a:srgbClr val="30B5C5"/>
                  </a:solidFill>
                  <a:cs typeface="Arial" panose="020B0604020202020204" pitchFamily="34" charset="0"/>
                </a:rPr>
                <a:t>IPv6 </a:t>
              </a:r>
              <a:r>
                <a:rPr lang="en-US" altLang="zh-CN" sz="1200" dirty="0" smtClean="0">
                  <a:solidFill>
                    <a:srgbClr val="30B5C5"/>
                  </a:solidFill>
                  <a:cs typeface="Arial" panose="020B0604020202020204" pitchFamily="34" charset="0"/>
                </a:rPr>
                <a:t>D</a:t>
              </a:r>
              <a:r>
                <a:rPr lang="en-US" sz="1200" dirty="0" smtClean="0">
                  <a:solidFill>
                    <a:srgbClr val="30B5C5"/>
                  </a:solidFill>
                  <a:cs typeface="Arial" panose="020B0604020202020204" pitchFamily="34" charset="0"/>
                </a:rPr>
                <a:t>ata</a:t>
              </a:r>
              <a:endParaRPr lang="en-US" sz="1200" dirty="0">
                <a:solidFill>
                  <a:srgbClr val="30B5C5"/>
                </a:solidFill>
                <a:cs typeface="Arial" panose="020B0604020202020204" pitchFamily="34" charset="0"/>
              </a:endParaRPr>
            </a:p>
          </p:txBody>
        </p:sp>
        <p:sp>
          <p:nvSpPr>
            <p:cNvPr id="57" name="文本框 56"/>
            <p:cNvSpPr txBox="1"/>
            <p:nvPr/>
          </p:nvSpPr>
          <p:spPr bwMode="gray">
            <a:xfrm>
              <a:off x="989140" y="5763666"/>
              <a:ext cx="864340" cy="276999"/>
            </a:xfrm>
            <a:prstGeom prst="rect">
              <a:avLst/>
            </a:prstGeom>
            <a:noFill/>
          </p:spPr>
          <p:txBody>
            <a:bodyPr wrap="none" rtlCol="0">
              <a:spAutoFit/>
            </a:bodyPr>
            <a:lstStyle/>
            <a:p>
              <a:pPr algn="ctr"/>
              <a:r>
                <a:rPr lang="en-US" sz="1200" dirty="0">
                  <a:solidFill>
                    <a:srgbClr val="62B230"/>
                  </a:solidFill>
                  <a:cs typeface="Arial" panose="020B0604020202020204" pitchFamily="34" charset="0"/>
                </a:rPr>
                <a:t>IPv4 </a:t>
              </a:r>
              <a:r>
                <a:rPr lang="en-US" altLang="zh-CN" sz="1200" dirty="0" smtClean="0">
                  <a:solidFill>
                    <a:srgbClr val="62B230"/>
                  </a:solidFill>
                  <a:cs typeface="Arial" panose="020B0604020202020204" pitchFamily="34" charset="0"/>
                </a:rPr>
                <a:t>D</a:t>
              </a:r>
              <a:r>
                <a:rPr lang="en-US" sz="1200" dirty="0" smtClean="0">
                  <a:solidFill>
                    <a:srgbClr val="62B230"/>
                  </a:solidFill>
                  <a:cs typeface="Arial" panose="020B0604020202020204" pitchFamily="34" charset="0"/>
                </a:rPr>
                <a:t>ata</a:t>
              </a:r>
              <a:endParaRPr lang="en-US" sz="1200" dirty="0">
                <a:solidFill>
                  <a:srgbClr val="62B230"/>
                </a:solidFill>
                <a:cs typeface="Arial" panose="020B0604020202020204" pitchFamily="34" charset="0"/>
              </a:endParaRPr>
            </a:p>
          </p:txBody>
        </p:sp>
        <p:cxnSp>
          <p:nvCxnSpPr>
            <p:cNvPr id="12" name="直接箭头连接符 11"/>
            <p:cNvCxnSpPr/>
            <p:nvPr/>
          </p:nvCxnSpPr>
          <p:spPr bwMode="gray">
            <a:xfrm flipV="1">
              <a:off x="1355174" y="4749426"/>
              <a:ext cx="900000" cy="0"/>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bwMode="gray">
            <a:xfrm>
              <a:off x="2207752" y="4644531"/>
              <a:ext cx="777778" cy="307777"/>
            </a:xfrm>
            <a:prstGeom prst="rect">
              <a:avLst/>
            </a:prstGeom>
            <a:noFill/>
          </p:spPr>
          <p:txBody>
            <a:bodyPr wrap="none" rtlCol="0">
              <a:spAutoFit/>
            </a:bodyPr>
            <a:lstStyle/>
            <a:p>
              <a:pPr algn="ctr"/>
              <a:r>
                <a:rPr lang="en-US" altLang="zh-CN" sz="1400" b="1" dirty="0" smtClean="0">
                  <a:solidFill>
                    <a:srgbClr val="C7000B"/>
                  </a:solidFill>
                  <a:cs typeface="Arial" panose="020B0604020202020204" pitchFamily="34" charset="0"/>
                </a:rPr>
                <a:t>IVI</a:t>
              </a:r>
              <a:r>
                <a:rPr lang="zh-CN" altLang="en-US" sz="1400" b="1" dirty="0" smtClean="0">
                  <a:solidFill>
                    <a:srgbClr val="C7000B"/>
                  </a:solidFill>
                  <a:cs typeface="Arial" panose="020B0604020202020204" pitchFamily="34" charset="0"/>
                </a:rPr>
                <a:t>网关</a:t>
              </a:r>
              <a:endParaRPr lang="en-US" sz="1400" b="1" dirty="0">
                <a:solidFill>
                  <a:srgbClr val="C7000B"/>
                </a:solidFill>
                <a:cs typeface="Arial" panose="020B0604020202020204" pitchFamily="34" charset="0"/>
              </a:endParaRPr>
            </a:p>
          </p:txBody>
        </p:sp>
        <p:cxnSp>
          <p:nvCxnSpPr>
            <p:cNvPr id="58" name="直接箭头连接符 57"/>
            <p:cNvCxnSpPr/>
            <p:nvPr/>
          </p:nvCxnSpPr>
          <p:spPr bwMode="gray">
            <a:xfrm>
              <a:off x="2938704" y="4821813"/>
              <a:ext cx="926503" cy="412620"/>
            </a:xfrm>
            <a:prstGeom prst="straightConnector1">
              <a:avLst/>
            </a:prstGeom>
            <a:ln w="19050">
              <a:solidFill>
                <a:srgbClr val="62B23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0" name="图片 5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333010" y="4208386"/>
              <a:ext cx="540000" cy="442174"/>
            </a:xfrm>
            <a:prstGeom prst="rect">
              <a:avLst/>
            </a:prstGeom>
          </p:spPr>
        </p:pic>
        <p:sp>
          <p:nvSpPr>
            <p:cNvPr id="10" name="任意多边形 9"/>
            <p:cNvSpPr/>
            <p:nvPr/>
          </p:nvSpPr>
          <p:spPr bwMode="gray">
            <a:xfrm>
              <a:off x="1358537" y="3422469"/>
              <a:ext cx="2621280" cy="896982"/>
            </a:xfrm>
            <a:custGeom>
              <a:avLst/>
              <a:gdLst>
                <a:gd name="connsiteX0" fmla="*/ 0 w 2621280"/>
                <a:gd name="connsiteY0" fmla="*/ 896982 h 896982"/>
                <a:gd name="connsiteX1" fmla="*/ 0 w 2621280"/>
                <a:gd name="connsiteY1" fmla="*/ 896982 h 896982"/>
                <a:gd name="connsiteX2" fmla="*/ 1175657 w 2621280"/>
                <a:gd name="connsiteY2" fmla="*/ 896982 h 896982"/>
                <a:gd name="connsiteX3" fmla="*/ 2621280 w 2621280"/>
                <a:gd name="connsiteY3" fmla="*/ 0 h 896982"/>
              </a:gdLst>
              <a:ahLst/>
              <a:cxnLst>
                <a:cxn ang="0">
                  <a:pos x="connsiteX0" y="connsiteY0"/>
                </a:cxn>
                <a:cxn ang="0">
                  <a:pos x="connsiteX1" y="connsiteY1"/>
                </a:cxn>
                <a:cxn ang="0">
                  <a:pos x="connsiteX2" y="connsiteY2"/>
                </a:cxn>
                <a:cxn ang="0">
                  <a:pos x="connsiteX3" y="connsiteY3"/>
                </a:cxn>
              </a:cxnLst>
              <a:rect l="l" t="t" r="r" b="b"/>
              <a:pathLst>
                <a:path w="2621280" h="896982">
                  <a:moveTo>
                    <a:pt x="0" y="896982"/>
                  </a:moveTo>
                  <a:lnTo>
                    <a:pt x="0" y="896982"/>
                  </a:lnTo>
                  <a:lnTo>
                    <a:pt x="1175657" y="896982"/>
                  </a:lnTo>
                  <a:lnTo>
                    <a:pt x="2621280" y="0"/>
                  </a:lnTo>
                </a:path>
              </a:pathLst>
            </a:cu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8" name="文本框 107"/>
            <p:cNvSpPr txBox="1"/>
            <p:nvPr/>
          </p:nvSpPr>
          <p:spPr bwMode="gray">
            <a:xfrm>
              <a:off x="1366409" y="4772833"/>
              <a:ext cx="763351" cy="2769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olidFill>
                    <a:schemeClr val="tx1"/>
                  </a:solidFill>
                </a:rPr>
                <a:t>IVI6</a:t>
              </a:r>
              <a:r>
                <a:rPr lang="zh-CN" altLang="en-US" dirty="0">
                  <a:solidFill>
                    <a:schemeClr val="tx1"/>
                  </a:solidFill>
                </a:rPr>
                <a:t>地址</a:t>
              </a:r>
              <a:endParaRPr lang="en-US" dirty="0">
                <a:solidFill>
                  <a:schemeClr val="tx1"/>
                </a:solidFill>
              </a:endParaRPr>
            </a:p>
          </p:txBody>
        </p:sp>
        <p:sp>
          <p:nvSpPr>
            <p:cNvPr id="110" name="文本框 109"/>
            <p:cNvSpPr txBox="1"/>
            <p:nvPr/>
          </p:nvSpPr>
          <p:spPr bwMode="gray">
            <a:xfrm>
              <a:off x="1366409" y="3989822"/>
              <a:ext cx="763351" cy="2769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olidFill>
                    <a:schemeClr val="tx1"/>
                  </a:solidFill>
                </a:rPr>
                <a:t>IVI6</a:t>
              </a:r>
              <a:r>
                <a:rPr lang="zh-CN" altLang="en-US" dirty="0">
                  <a:solidFill>
                    <a:schemeClr val="tx1"/>
                  </a:solidFill>
                </a:rPr>
                <a:t>地址</a:t>
              </a:r>
              <a:endParaRPr lang="en-US" dirty="0">
                <a:solidFill>
                  <a:schemeClr val="tx1"/>
                </a:solidFill>
              </a:endParaRPr>
            </a:p>
          </p:txBody>
        </p:sp>
        <p:sp>
          <p:nvSpPr>
            <p:cNvPr id="111" name="文本框 110"/>
            <p:cNvSpPr txBox="1"/>
            <p:nvPr/>
          </p:nvSpPr>
          <p:spPr bwMode="gray">
            <a:xfrm rot="19806813">
              <a:off x="2825219" y="3522272"/>
              <a:ext cx="763351" cy="2769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olidFill>
                    <a:schemeClr val="tx1"/>
                  </a:solidFill>
                </a:rPr>
                <a:t>IVI6</a:t>
              </a:r>
              <a:r>
                <a:rPr lang="zh-CN" altLang="en-US" dirty="0">
                  <a:solidFill>
                    <a:schemeClr val="tx1"/>
                  </a:solidFill>
                </a:rPr>
                <a:t>地址</a:t>
              </a:r>
              <a:endParaRPr lang="en-US" dirty="0">
                <a:solidFill>
                  <a:schemeClr val="tx1"/>
                </a:solidFill>
              </a:endParaRPr>
            </a:p>
          </p:txBody>
        </p:sp>
        <p:sp>
          <p:nvSpPr>
            <p:cNvPr id="112" name="文本框 111"/>
            <p:cNvSpPr txBox="1"/>
            <p:nvPr/>
          </p:nvSpPr>
          <p:spPr bwMode="gray">
            <a:xfrm rot="1298826">
              <a:off x="2853258" y="5029870"/>
              <a:ext cx="763351" cy="276999"/>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smtClean="0">
                  <a:solidFill>
                    <a:schemeClr val="tx1"/>
                  </a:solidFill>
                </a:rPr>
                <a:t>IVI4</a:t>
              </a:r>
              <a:r>
                <a:rPr lang="zh-CN" altLang="en-US" dirty="0" smtClean="0">
                  <a:solidFill>
                    <a:schemeClr val="tx1"/>
                  </a:solidFill>
                </a:rPr>
                <a:t>地址</a:t>
              </a:r>
              <a:endParaRPr lang="en-US" dirty="0">
                <a:solidFill>
                  <a:schemeClr val="tx1"/>
                </a:solidFill>
              </a:endParaRPr>
            </a:p>
          </p:txBody>
        </p:sp>
      </p:grpSp>
      <p:sp>
        <p:nvSpPr>
          <p:cNvPr id="65" name="五边形 64"/>
          <p:cNvSpPr/>
          <p:nvPr/>
        </p:nvSpPr>
        <p:spPr bwMode="gray">
          <a:xfrm>
            <a:off x="6135155" y="126936"/>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66" name="燕尾形 65"/>
          <p:cNvSpPr/>
          <p:nvPr/>
        </p:nvSpPr>
        <p:spPr bwMode="gray">
          <a:xfrm>
            <a:off x="6770642"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 over IPv4</a:t>
            </a:r>
          </a:p>
        </p:txBody>
      </p:sp>
      <p:sp>
        <p:nvSpPr>
          <p:cNvPr id="67" name="燕尾形 66"/>
          <p:cNvSpPr/>
          <p:nvPr/>
        </p:nvSpPr>
        <p:spPr bwMode="gray">
          <a:xfrm>
            <a:off x="7946129"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6PE</a:t>
            </a:r>
          </a:p>
        </p:txBody>
      </p:sp>
      <p:sp>
        <p:nvSpPr>
          <p:cNvPr id="68" name="燕尾形 67"/>
          <p:cNvSpPr/>
          <p:nvPr/>
        </p:nvSpPr>
        <p:spPr bwMode="gray">
          <a:xfrm>
            <a:off x="8581616"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6VPE</a:t>
            </a:r>
          </a:p>
        </p:txBody>
      </p:sp>
      <p:sp>
        <p:nvSpPr>
          <p:cNvPr id="69" name="燕尾形 68"/>
          <p:cNvSpPr/>
          <p:nvPr/>
        </p:nvSpPr>
        <p:spPr bwMode="gray">
          <a:xfrm>
            <a:off x="10392590" y="126936"/>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NAT64</a:t>
            </a:r>
          </a:p>
        </p:txBody>
      </p:sp>
      <p:sp>
        <p:nvSpPr>
          <p:cNvPr id="70" name="燕尾形 69"/>
          <p:cNvSpPr/>
          <p:nvPr/>
        </p:nvSpPr>
        <p:spPr bwMode="gray">
          <a:xfrm>
            <a:off x="9217103" y="126936"/>
            <a:ext cx="12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 over IPv6</a:t>
            </a:r>
          </a:p>
        </p:txBody>
      </p:sp>
      <p:sp>
        <p:nvSpPr>
          <p:cNvPr id="71" name="燕尾形 70"/>
          <p:cNvSpPr/>
          <p:nvPr/>
        </p:nvSpPr>
        <p:spPr bwMode="gray">
          <a:xfrm>
            <a:off x="11028075" y="126936"/>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IVI</a:t>
            </a:r>
          </a:p>
        </p:txBody>
      </p:sp>
      <p:grpSp>
        <p:nvGrpSpPr>
          <p:cNvPr id="5" name="组合 4"/>
          <p:cNvGrpSpPr/>
          <p:nvPr/>
        </p:nvGrpSpPr>
        <p:grpSpPr bwMode="gray">
          <a:xfrm>
            <a:off x="812328" y="3371801"/>
            <a:ext cx="4741670" cy="462637"/>
            <a:chOff x="684758" y="3691002"/>
            <a:chExt cx="4741670" cy="462637"/>
          </a:xfrm>
        </p:grpSpPr>
        <p:sp>
          <p:nvSpPr>
            <p:cNvPr id="59" name="矩形 58"/>
            <p:cNvSpPr/>
            <p:nvPr/>
          </p:nvSpPr>
          <p:spPr bwMode="gray">
            <a:xfrm>
              <a:off x="812328" y="3921739"/>
              <a:ext cx="1080000" cy="231899"/>
            </a:xfrm>
            <a:prstGeom prst="rect">
              <a:avLst/>
            </a:prstGeom>
            <a:solidFill>
              <a:srgbClr val="FDEFE7"/>
            </a:solidFill>
            <a:ln>
              <a:solidFill>
                <a:srgbClr val="F6B7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IVI Prefix</a:t>
              </a:r>
              <a:endParaRPr lang="zh-CN" altLang="en-US" sz="1200" dirty="0">
                <a:solidFill>
                  <a:schemeClr val="tx1"/>
                </a:solidFill>
              </a:endParaRPr>
            </a:p>
          </p:txBody>
        </p:sp>
        <p:sp>
          <p:nvSpPr>
            <p:cNvPr id="62" name="矩形 61"/>
            <p:cNvSpPr/>
            <p:nvPr/>
          </p:nvSpPr>
          <p:spPr bwMode="gray">
            <a:xfrm>
              <a:off x="1892960" y="3921740"/>
              <a:ext cx="36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FF</a:t>
              </a:r>
              <a:endParaRPr lang="zh-CN" altLang="en-US" sz="1200" dirty="0">
                <a:solidFill>
                  <a:schemeClr val="tx1"/>
                </a:solidFill>
              </a:endParaRPr>
            </a:p>
          </p:txBody>
        </p:sp>
        <p:sp>
          <p:nvSpPr>
            <p:cNvPr id="64" name="矩形 63"/>
            <p:cNvSpPr/>
            <p:nvPr/>
          </p:nvSpPr>
          <p:spPr bwMode="gray">
            <a:xfrm>
              <a:off x="3323851" y="3921740"/>
              <a:ext cx="1890000" cy="231899"/>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a:t>
              </a:r>
              <a:r>
                <a:rPr lang="en-US" altLang="zh-CN" sz="1200" dirty="0" smtClean="0">
                  <a:solidFill>
                    <a:schemeClr val="tx1"/>
                  </a:solidFill>
                </a:rPr>
                <a:t>uffix</a:t>
              </a:r>
              <a:endParaRPr lang="zh-CN" altLang="en-US" sz="1200" dirty="0">
                <a:solidFill>
                  <a:schemeClr val="tx1"/>
                </a:solidFill>
              </a:endParaRPr>
            </a:p>
          </p:txBody>
        </p:sp>
        <p:sp>
          <p:nvSpPr>
            <p:cNvPr id="98" name="文本框 97"/>
            <p:cNvSpPr txBox="1"/>
            <p:nvPr/>
          </p:nvSpPr>
          <p:spPr bwMode="gray">
            <a:xfrm>
              <a:off x="684758" y="3691002"/>
              <a:ext cx="271228" cy="276999"/>
            </a:xfrm>
            <a:prstGeom prst="rect">
              <a:avLst/>
            </a:prstGeom>
            <a:noFill/>
          </p:spPr>
          <p:txBody>
            <a:bodyPr wrap="none" rtlCol="0">
              <a:spAutoFit/>
            </a:bodyPr>
            <a:lstStyle/>
            <a:p>
              <a:pPr algn="ctr"/>
              <a:r>
                <a:rPr lang="en-US" altLang="zh-CN" sz="1200" dirty="0" smtClean="0">
                  <a:cs typeface="Arial" panose="020B0604020202020204" pitchFamily="34" charset="0"/>
                </a:rPr>
                <a:t>0</a:t>
              </a:r>
              <a:endParaRPr lang="en-US" sz="1200" dirty="0">
                <a:cs typeface="Arial" panose="020B0604020202020204" pitchFamily="34" charset="0"/>
              </a:endParaRPr>
            </a:p>
          </p:txBody>
        </p:sp>
        <p:sp>
          <p:nvSpPr>
            <p:cNvPr id="99" name="矩形 98"/>
            <p:cNvSpPr/>
            <p:nvPr/>
          </p:nvSpPr>
          <p:spPr bwMode="gray">
            <a:xfrm>
              <a:off x="2249044" y="3921739"/>
              <a:ext cx="1080000" cy="231899"/>
            </a:xfrm>
            <a:prstGeom prst="rect">
              <a:avLst/>
            </a:prstGeom>
            <a:solidFill>
              <a:srgbClr val="EAF8FA"/>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schemeClr val="tx1"/>
                  </a:solidFill>
                </a:rPr>
                <a:t>IPv4 Address</a:t>
              </a:r>
            </a:p>
          </p:txBody>
        </p:sp>
        <p:sp>
          <p:nvSpPr>
            <p:cNvPr id="103" name="文本框 102"/>
            <p:cNvSpPr txBox="1"/>
            <p:nvPr/>
          </p:nvSpPr>
          <p:spPr bwMode="gray">
            <a:xfrm>
              <a:off x="1714065" y="3691002"/>
              <a:ext cx="357790" cy="276999"/>
            </a:xfrm>
            <a:prstGeom prst="rect">
              <a:avLst/>
            </a:prstGeom>
            <a:noFill/>
          </p:spPr>
          <p:txBody>
            <a:bodyPr wrap="none" rtlCol="0">
              <a:spAutoFit/>
            </a:bodyPr>
            <a:lstStyle/>
            <a:p>
              <a:pPr algn="ctr"/>
              <a:r>
                <a:rPr lang="en-US" altLang="zh-CN" sz="1200" dirty="0" smtClean="0">
                  <a:cs typeface="Arial" panose="020B0604020202020204" pitchFamily="34" charset="0"/>
                </a:rPr>
                <a:t>31</a:t>
              </a:r>
              <a:endParaRPr lang="en-US" sz="1200" dirty="0">
                <a:cs typeface="Arial" panose="020B0604020202020204" pitchFamily="34" charset="0"/>
              </a:endParaRPr>
            </a:p>
          </p:txBody>
        </p:sp>
        <p:sp>
          <p:nvSpPr>
            <p:cNvPr id="104" name="文本框 103"/>
            <p:cNvSpPr txBox="1"/>
            <p:nvPr/>
          </p:nvSpPr>
          <p:spPr bwMode="gray">
            <a:xfrm>
              <a:off x="2080701" y="3691002"/>
              <a:ext cx="357790" cy="276999"/>
            </a:xfrm>
            <a:prstGeom prst="rect">
              <a:avLst/>
            </a:prstGeom>
            <a:noFill/>
          </p:spPr>
          <p:txBody>
            <a:bodyPr wrap="none" rtlCol="0">
              <a:spAutoFit/>
            </a:bodyPr>
            <a:lstStyle/>
            <a:p>
              <a:pPr algn="ctr"/>
              <a:r>
                <a:rPr lang="en-US" altLang="zh-CN" sz="1200" dirty="0" smtClean="0">
                  <a:cs typeface="Arial" panose="020B0604020202020204" pitchFamily="34" charset="0"/>
                </a:rPr>
                <a:t>39</a:t>
              </a:r>
              <a:endParaRPr lang="en-US" sz="1200" dirty="0">
                <a:cs typeface="Arial" panose="020B0604020202020204" pitchFamily="34" charset="0"/>
              </a:endParaRPr>
            </a:p>
          </p:txBody>
        </p:sp>
        <p:sp>
          <p:nvSpPr>
            <p:cNvPr id="105" name="文本框 104"/>
            <p:cNvSpPr txBox="1"/>
            <p:nvPr/>
          </p:nvSpPr>
          <p:spPr bwMode="gray">
            <a:xfrm>
              <a:off x="3159992" y="3691002"/>
              <a:ext cx="357790" cy="276999"/>
            </a:xfrm>
            <a:prstGeom prst="rect">
              <a:avLst/>
            </a:prstGeom>
            <a:noFill/>
          </p:spPr>
          <p:txBody>
            <a:bodyPr wrap="none" rtlCol="0">
              <a:spAutoFit/>
            </a:bodyPr>
            <a:lstStyle/>
            <a:p>
              <a:pPr algn="ctr"/>
              <a:r>
                <a:rPr lang="en-US" altLang="zh-CN" sz="1200" dirty="0" smtClean="0">
                  <a:cs typeface="Arial" panose="020B0604020202020204" pitchFamily="34" charset="0"/>
                </a:rPr>
                <a:t>71</a:t>
              </a:r>
              <a:endParaRPr lang="en-US" sz="1200" dirty="0">
                <a:cs typeface="Arial" panose="020B0604020202020204" pitchFamily="34" charset="0"/>
              </a:endParaRPr>
            </a:p>
          </p:txBody>
        </p:sp>
        <p:sp>
          <p:nvSpPr>
            <p:cNvPr id="106" name="文本框 105"/>
            <p:cNvSpPr txBox="1"/>
            <p:nvPr/>
          </p:nvSpPr>
          <p:spPr bwMode="gray">
            <a:xfrm>
              <a:off x="4982076" y="3691002"/>
              <a:ext cx="444352" cy="276999"/>
            </a:xfrm>
            <a:prstGeom prst="rect">
              <a:avLst/>
            </a:prstGeom>
            <a:noFill/>
          </p:spPr>
          <p:txBody>
            <a:bodyPr wrap="none" rtlCol="0">
              <a:spAutoFit/>
            </a:bodyPr>
            <a:lstStyle/>
            <a:p>
              <a:pPr algn="ctr"/>
              <a:r>
                <a:rPr lang="en-US" altLang="zh-CN" sz="1200" dirty="0" smtClean="0">
                  <a:cs typeface="Arial" panose="020B0604020202020204" pitchFamily="34" charset="0"/>
                </a:rPr>
                <a:t>127</a:t>
              </a:r>
              <a:endParaRPr lang="en-US" sz="1200" dirty="0">
                <a:cs typeface="Arial" panose="020B0604020202020204" pitchFamily="34" charset="0"/>
              </a:endParaRPr>
            </a:p>
          </p:txBody>
        </p:sp>
      </p:grpSp>
      <p:sp>
        <p:nvSpPr>
          <p:cNvPr id="107" name="文本框 106"/>
          <p:cNvSpPr txBox="1"/>
          <p:nvPr/>
        </p:nvSpPr>
        <p:spPr bwMode="gray">
          <a:xfrm>
            <a:off x="897184" y="4096458"/>
            <a:ext cx="4444237" cy="867930"/>
          </a:xfrm>
          <a:prstGeom prst="rect">
            <a:avLst/>
          </a:prstGeom>
          <a:noFill/>
        </p:spPr>
        <p:txBody>
          <a:bodyPr wrap="square" rtlCol="0">
            <a:spAutoFit/>
          </a:bodyPr>
          <a:lstStyle/>
          <a:p>
            <a:pPr marL="171450" indent="-171450">
              <a:lnSpc>
                <a:spcPct val="140000"/>
              </a:lnSpc>
              <a:buFont typeface="Arial" panose="020B0604020202020204" pitchFamily="34" charset="0"/>
              <a:buChar char="•"/>
            </a:pPr>
            <a:r>
              <a:rPr lang="en-US" altLang="zh-CN" sz="1200" dirty="0" smtClean="0"/>
              <a:t>IVI6</a:t>
            </a:r>
            <a:r>
              <a:rPr lang="zh-CN" altLang="en-US" sz="1200" dirty="0"/>
              <a:t>地址的前</a:t>
            </a:r>
            <a:r>
              <a:rPr lang="en-US" altLang="zh-CN" sz="1200" dirty="0"/>
              <a:t>32</a:t>
            </a:r>
            <a:r>
              <a:rPr lang="zh-CN" altLang="en-US" sz="1200" dirty="0"/>
              <a:t>位为</a:t>
            </a:r>
            <a:r>
              <a:rPr lang="en-US" altLang="zh-CN" sz="1200" dirty="0"/>
              <a:t>IVI</a:t>
            </a:r>
            <a:r>
              <a:rPr lang="zh-CN" altLang="en-US" sz="1200" dirty="0"/>
              <a:t>的</a:t>
            </a:r>
            <a:r>
              <a:rPr lang="en-US" altLang="zh-CN" sz="1200" dirty="0"/>
              <a:t>IPv6</a:t>
            </a:r>
            <a:r>
              <a:rPr lang="zh-CN" altLang="en-US" sz="1200" dirty="0"/>
              <a:t>地址前缀，后面</a:t>
            </a:r>
            <a:r>
              <a:rPr lang="en-US" altLang="zh-CN" sz="1200" dirty="0"/>
              <a:t>8</a:t>
            </a:r>
            <a:r>
              <a:rPr lang="zh-CN" altLang="en-US" sz="1200" dirty="0"/>
              <a:t>位固定为</a:t>
            </a:r>
            <a:r>
              <a:rPr lang="en-US" altLang="zh-CN" sz="1200" dirty="0"/>
              <a:t>FF</a:t>
            </a:r>
            <a:r>
              <a:rPr lang="zh-CN" altLang="en-US" sz="1200" dirty="0"/>
              <a:t>；</a:t>
            </a:r>
          </a:p>
          <a:p>
            <a:pPr marL="171450" indent="-171450">
              <a:lnSpc>
                <a:spcPct val="140000"/>
              </a:lnSpc>
              <a:buFont typeface="Arial" panose="020B0604020202020204" pitchFamily="34" charset="0"/>
              <a:buChar char="•"/>
            </a:pPr>
            <a:r>
              <a:rPr lang="en-US" altLang="zh-CN" sz="1200" dirty="0" smtClean="0"/>
              <a:t>IVI6</a:t>
            </a:r>
            <a:r>
              <a:rPr lang="zh-CN" altLang="en-US" sz="1200" dirty="0"/>
              <a:t>地址从第</a:t>
            </a:r>
            <a:r>
              <a:rPr lang="en-US" altLang="zh-CN" sz="1200" dirty="0"/>
              <a:t>41</a:t>
            </a:r>
            <a:r>
              <a:rPr lang="zh-CN" altLang="en-US" sz="1200" dirty="0"/>
              <a:t>位到</a:t>
            </a:r>
            <a:r>
              <a:rPr lang="en-US" altLang="zh-CN" sz="1200" dirty="0"/>
              <a:t>72</a:t>
            </a:r>
            <a:r>
              <a:rPr lang="zh-CN" altLang="en-US" sz="1200" dirty="0"/>
              <a:t>位为嵌入的</a:t>
            </a:r>
            <a:r>
              <a:rPr lang="en-US" altLang="zh-CN" sz="1200" dirty="0"/>
              <a:t>IPv4</a:t>
            </a:r>
            <a:r>
              <a:rPr lang="zh-CN" altLang="en-US" sz="1200" dirty="0"/>
              <a:t>地址；</a:t>
            </a:r>
          </a:p>
          <a:p>
            <a:pPr marL="171450" indent="-171450">
              <a:lnSpc>
                <a:spcPct val="140000"/>
              </a:lnSpc>
              <a:buFont typeface="Arial" panose="020B0604020202020204" pitchFamily="34" charset="0"/>
              <a:buChar char="•"/>
            </a:pPr>
            <a:r>
              <a:rPr lang="en-US" altLang="zh-CN" sz="1200" dirty="0" smtClean="0"/>
              <a:t>Suffix</a:t>
            </a:r>
            <a:r>
              <a:rPr lang="zh-CN" altLang="en-US" sz="1200" dirty="0"/>
              <a:t>保持全</a:t>
            </a:r>
            <a:r>
              <a:rPr lang="en-US" altLang="zh-CN" sz="1200" dirty="0" smtClean="0"/>
              <a:t>0</a:t>
            </a:r>
            <a:r>
              <a:rPr lang="zh-CN" altLang="en-US" sz="1200" dirty="0" smtClean="0"/>
              <a:t>。</a:t>
            </a:r>
            <a:endParaRPr lang="en-US" altLang="zh-CN" sz="1200" dirty="0"/>
          </a:p>
        </p:txBody>
      </p:sp>
    </p:spTree>
    <p:extLst>
      <p:ext uri="{BB962C8B-B14F-4D97-AF65-F5344CB8AC3E}">
        <p14:creationId xmlns:p14="http://schemas.microsoft.com/office/powerpoint/2010/main" val="90754696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t>(</a:t>
            </a:r>
            <a:r>
              <a:rPr lang="zh-CN" altLang="en-US" dirty="0" smtClean="0"/>
              <a:t>多选题</a:t>
            </a:r>
            <a:r>
              <a:rPr lang="en-US" altLang="zh-CN" dirty="0" smtClean="0"/>
              <a:t>)</a:t>
            </a:r>
            <a:r>
              <a:rPr lang="zh-CN" altLang="en-US" dirty="0" smtClean="0"/>
              <a:t>以下哪些选项技术可以实现在</a:t>
            </a:r>
            <a:r>
              <a:rPr lang="en-US" altLang="zh-CN" dirty="0" smtClean="0"/>
              <a:t>IPv4</a:t>
            </a:r>
            <a:r>
              <a:rPr lang="zh-CN" altLang="en-US" dirty="0" smtClean="0"/>
              <a:t>广域网承载</a:t>
            </a:r>
            <a:r>
              <a:rPr lang="en-US" altLang="zh-CN" dirty="0" smtClean="0"/>
              <a:t>IPv6</a:t>
            </a:r>
            <a:r>
              <a:rPr lang="zh-CN" altLang="en-US" dirty="0" smtClean="0"/>
              <a:t>业务流量？</a:t>
            </a:r>
            <a:r>
              <a:rPr lang="en-US" altLang="zh-CN" dirty="0" smtClean="0"/>
              <a:t>(     )</a:t>
            </a:r>
          </a:p>
          <a:p>
            <a:pPr lvl="1"/>
            <a:r>
              <a:rPr lang="en-US" altLang="zh-CN" dirty="0" smtClean="0"/>
              <a:t>GRE</a:t>
            </a:r>
            <a:r>
              <a:rPr lang="zh-CN" altLang="en-US" dirty="0" smtClean="0"/>
              <a:t>隧道技术</a:t>
            </a:r>
            <a:endParaRPr lang="en-US" altLang="zh-CN" dirty="0" smtClean="0"/>
          </a:p>
          <a:p>
            <a:pPr lvl="1"/>
            <a:r>
              <a:rPr lang="en-US" altLang="zh-CN" dirty="0" smtClean="0"/>
              <a:t>6PE</a:t>
            </a:r>
            <a:r>
              <a:rPr lang="zh-CN" altLang="en-US" dirty="0" smtClean="0"/>
              <a:t>技术</a:t>
            </a:r>
            <a:endParaRPr lang="en-US" altLang="zh-CN" dirty="0" smtClean="0"/>
          </a:p>
          <a:p>
            <a:pPr lvl="1"/>
            <a:r>
              <a:rPr lang="en-US" altLang="zh-CN" dirty="0" smtClean="0"/>
              <a:t>NAT64</a:t>
            </a:r>
            <a:r>
              <a:rPr lang="zh-CN" altLang="en-US" dirty="0" smtClean="0"/>
              <a:t>技术</a:t>
            </a:r>
            <a:endParaRPr lang="en-US" altLang="zh-CN" dirty="0" smtClean="0"/>
          </a:p>
          <a:p>
            <a:pPr lvl="1"/>
            <a:r>
              <a:rPr lang="en-US" altLang="zh-CN" dirty="0" smtClean="0"/>
              <a:t>6VPE</a:t>
            </a:r>
            <a:r>
              <a:rPr lang="zh-CN" altLang="en-US" dirty="0" smtClean="0"/>
              <a:t>技术</a:t>
            </a:r>
            <a:endParaRPr lang="en-US" altLang="zh-CN" dirty="0" smtClean="0"/>
          </a:p>
        </p:txBody>
      </p:sp>
    </p:spTree>
    <p:extLst>
      <p:ext uri="{BB962C8B-B14F-4D97-AF65-F5344CB8AC3E}">
        <p14:creationId xmlns:p14="http://schemas.microsoft.com/office/powerpoint/2010/main" val="225360230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sz="2000" dirty="0" smtClean="0"/>
              <a:t>IPv6</a:t>
            </a:r>
            <a:r>
              <a:rPr lang="zh-CN" altLang="en-US" sz="2000" dirty="0" smtClean="0"/>
              <a:t>能够提供海量的网络地址资源，是实现万物互联，促进生产生活数字化、网络化、智能化发展的关键要素。发展基于</a:t>
            </a:r>
            <a:r>
              <a:rPr lang="en-US" altLang="zh-CN" sz="2000" dirty="0" smtClean="0"/>
              <a:t>IPv6</a:t>
            </a:r>
            <a:r>
              <a:rPr lang="zh-CN" altLang="en-US" sz="2000" dirty="0" smtClean="0"/>
              <a:t>的下一代互联网，是互联网演进升级的必然趋势。</a:t>
            </a:r>
            <a:endParaRPr lang="en-US" altLang="zh-CN" sz="2000" dirty="0" smtClean="0"/>
          </a:p>
          <a:p>
            <a:r>
              <a:rPr lang="zh-CN" altLang="en-US" sz="2000" dirty="0"/>
              <a:t>在</a:t>
            </a:r>
            <a:r>
              <a:rPr lang="en-US" altLang="zh-CN" sz="2000" dirty="0"/>
              <a:t>IPv4</a:t>
            </a:r>
            <a:r>
              <a:rPr lang="zh-CN" altLang="en-US" sz="2000" dirty="0"/>
              <a:t>网络向</a:t>
            </a:r>
            <a:r>
              <a:rPr lang="en-US" altLang="zh-CN" sz="2000" dirty="0"/>
              <a:t>IPv6</a:t>
            </a:r>
            <a:r>
              <a:rPr lang="zh-CN" altLang="en-US" sz="2000" dirty="0"/>
              <a:t>网络过渡的初期，</a:t>
            </a:r>
            <a:r>
              <a:rPr lang="en-US" altLang="zh-CN" sz="2000" dirty="0"/>
              <a:t>IPv4</a:t>
            </a:r>
            <a:r>
              <a:rPr lang="zh-CN" altLang="en-US" sz="2000" dirty="0"/>
              <a:t>网络已被大量部署，而</a:t>
            </a:r>
            <a:r>
              <a:rPr lang="en-US" altLang="zh-CN" sz="2000" dirty="0"/>
              <a:t>IPv6</a:t>
            </a:r>
            <a:r>
              <a:rPr lang="zh-CN" altLang="en-US" sz="2000" dirty="0"/>
              <a:t>网络只是散布在世界各地的一些孤岛</a:t>
            </a:r>
            <a:r>
              <a:rPr lang="zh-CN" altLang="en-US" sz="2000" dirty="0" smtClean="0"/>
              <a:t>。可以利用</a:t>
            </a:r>
            <a:r>
              <a:rPr lang="zh-CN" altLang="en-US" sz="2000" dirty="0"/>
              <a:t>隧道</a:t>
            </a:r>
            <a:r>
              <a:rPr lang="zh-CN" altLang="en-US" sz="2000" dirty="0" smtClean="0"/>
              <a:t>技术在</a:t>
            </a:r>
            <a:r>
              <a:rPr lang="en-US" altLang="zh-CN" sz="2000" dirty="0"/>
              <a:t>IPv4</a:t>
            </a:r>
            <a:r>
              <a:rPr lang="zh-CN" altLang="en-US" sz="2000" dirty="0"/>
              <a:t>网络上创建隧道，从而实现</a:t>
            </a:r>
            <a:r>
              <a:rPr lang="en-US" altLang="zh-CN" sz="2000" dirty="0"/>
              <a:t>IPv6</a:t>
            </a:r>
            <a:r>
              <a:rPr lang="zh-CN" altLang="en-US" sz="2000" dirty="0"/>
              <a:t>孤岛之间的互连</a:t>
            </a:r>
            <a:r>
              <a:rPr lang="zh-CN" altLang="en-US" sz="2000" dirty="0" smtClean="0"/>
              <a:t>。也可以利用地址转换技术进行</a:t>
            </a:r>
            <a:r>
              <a:rPr lang="en-US" altLang="zh-CN" sz="2000" dirty="0"/>
              <a:t>IPv6</a:t>
            </a:r>
            <a:r>
              <a:rPr lang="zh-CN" altLang="en-US" sz="2000" dirty="0"/>
              <a:t>与</a:t>
            </a:r>
            <a:r>
              <a:rPr lang="en-US" altLang="zh-CN" sz="2000" dirty="0"/>
              <a:t>IPv4</a:t>
            </a:r>
            <a:r>
              <a:rPr lang="zh-CN" altLang="en-US" sz="2000" dirty="0"/>
              <a:t>之间的网络地址与协议的转换，从而实现</a:t>
            </a:r>
            <a:r>
              <a:rPr lang="en-US" altLang="zh-CN" sz="2000" dirty="0"/>
              <a:t>IPv6</a:t>
            </a:r>
            <a:r>
              <a:rPr lang="zh-CN" altLang="en-US" sz="2000" dirty="0"/>
              <a:t>网络与</a:t>
            </a:r>
            <a:r>
              <a:rPr lang="en-US" altLang="zh-CN" sz="2000" dirty="0"/>
              <a:t>IPv4</a:t>
            </a:r>
            <a:r>
              <a:rPr lang="zh-CN" altLang="en-US" sz="2000" dirty="0"/>
              <a:t>网络的双向互访。</a:t>
            </a:r>
            <a:endParaRPr lang="en-US" altLang="zh-CN" sz="2000" dirty="0" smtClean="0"/>
          </a:p>
          <a:p>
            <a:r>
              <a:rPr lang="zh-CN" altLang="en-US" sz="2000" dirty="0" smtClean="0"/>
              <a:t>本课程主要介绍了</a:t>
            </a:r>
            <a:r>
              <a:rPr lang="en-US" altLang="zh-CN" sz="2000" dirty="0" smtClean="0"/>
              <a:t>IPv6</a:t>
            </a:r>
            <a:r>
              <a:rPr lang="zh-CN" altLang="en-US" sz="2000" dirty="0" smtClean="0"/>
              <a:t>网络演进过程中的过渡技术原理及应用，包括</a:t>
            </a:r>
            <a:r>
              <a:rPr lang="en-US" altLang="zh-CN" sz="2000" dirty="0"/>
              <a:t>IPv6 over IPv4</a:t>
            </a:r>
            <a:r>
              <a:rPr lang="zh-CN" altLang="en-US" sz="2000" dirty="0"/>
              <a:t>隧道、</a:t>
            </a:r>
            <a:r>
              <a:rPr lang="en-US" altLang="zh-CN" sz="2000" dirty="0"/>
              <a:t>6PE</a:t>
            </a:r>
            <a:r>
              <a:rPr lang="zh-CN" altLang="en-US" sz="2000" dirty="0" smtClean="0"/>
              <a:t>、</a:t>
            </a:r>
            <a:r>
              <a:rPr lang="en-US" altLang="zh-CN" sz="2000" dirty="0" smtClean="0"/>
              <a:t>6VPE</a:t>
            </a:r>
            <a:r>
              <a:rPr lang="zh-CN" altLang="en-US" sz="2000" dirty="0" smtClean="0"/>
              <a:t>、</a:t>
            </a:r>
            <a:r>
              <a:rPr lang="en-US" altLang="zh-CN" sz="2000" dirty="0" smtClean="0"/>
              <a:t>IPv4 over IPv6</a:t>
            </a:r>
            <a:r>
              <a:rPr lang="zh-CN" altLang="en-US" sz="2000" dirty="0" smtClean="0"/>
              <a:t>隧道、</a:t>
            </a:r>
            <a:r>
              <a:rPr lang="en-US" altLang="zh-CN" sz="2000" dirty="0" smtClean="0"/>
              <a:t>NAT64</a:t>
            </a:r>
            <a:r>
              <a:rPr lang="zh-CN" altLang="en-US" sz="2000" dirty="0" smtClean="0"/>
              <a:t>、</a:t>
            </a:r>
            <a:r>
              <a:rPr lang="en-US" altLang="zh-CN" sz="2000" dirty="0" smtClean="0"/>
              <a:t>IVI</a:t>
            </a:r>
            <a:r>
              <a:rPr lang="zh-CN" altLang="en-US" sz="2000" dirty="0" smtClean="0"/>
              <a:t>等</a:t>
            </a:r>
            <a:r>
              <a:rPr lang="zh-CN" altLang="en-US" sz="2000" dirty="0"/>
              <a:t>。</a:t>
            </a:r>
          </a:p>
        </p:txBody>
      </p:sp>
    </p:spTree>
    <p:extLst>
      <p:ext uri="{BB962C8B-B14F-4D97-AF65-F5344CB8AC3E}">
        <p14:creationId xmlns:p14="http://schemas.microsoft.com/office/powerpoint/2010/main" val="1632717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9935987"/>
      </p:ext>
    </p:extLst>
  </p:cSld>
  <p:clrMapOvr>
    <a:masterClrMapping/>
  </p:clrMapOvr>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51A8024-B3EF-4E6E-B541-667711BA5A0E}"/>
</file>

<file path=customXml/itemProps2.xml><?xml version="1.0" encoding="utf-8"?>
<ds:datastoreItem xmlns:ds="http://schemas.openxmlformats.org/officeDocument/2006/customXml" ds:itemID="{DA5960F2-6186-408B-A0DC-5CA5E58B604F}">
  <ds:schemaRefs>
    <ds:schemaRef ds:uri="http://schemas.microsoft.com/office/2006/metadata/properties"/>
    <ds:schemaRef ds:uri="http://schemas.microsoft.com/office/infopath/2007/PartnerControls"/>
    <ds:schemaRef ds:uri="http://purl.org/dc/dcmitype/"/>
    <ds:schemaRef ds:uri="http://purl.org/dc/terms/"/>
    <ds:schemaRef ds:uri="475f1e55-3009-46d8-9566-5d569a2b3a98"/>
    <ds:schemaRef ds:uri="http://schemas.microsoft.com/office/2006/documentManagement/types"/>
    <ds:schemaRef ds:uri="http://purl.org/dc/elements/1.1/"/>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10575</TotalTime>
  <Words>11649</Words>
  <Application>Microsoft Office PowerPoint</Application>
  <PresentationFormat>宽屏</PresentationFormat>
  <Paragraphs>1438</Paragraphs>
  <Slides>47</Slides>
  <Notes>47</Notes>
  <HiddenSlides>3</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47</vt:i4>
      </vt:variant>
    </vt:vector>
  </HeadingPairs>
  <TitlesOfParts>
    <vt:vector size="59" baseType="lpstr">
      <vt:lpstr>方正兰亭黑简体</vt:lpstr>
      <vt:lpstr>Microsoft YaHei</vt:lpstr>
      <vt:lpstr>Microsoft YaHei</vt:lpstr>
      <vt:lpstr>Arial</vt:lpstr>
      <vt:lpstr>Courier New</vt:lpstr>
      <vt:lpstr>Huawei Sans</vt:lpstr>
      <vt:lpstr>Times New Roman</vt:lpstr>
      <vt:lpstr>Wingdings</vt:lpstr>
      <vt:lpstr>2_标题页模板</vt:lpstr>
      <vt:lpstr>3_功能页模板</vt:lpstr>
      <vt:lpstr>4_内容页模板</vt:lpstr>
      <vt:lpstr>5_感谢页模板</vt:lpstr>
      <vt:lpstr>PowerPoint 演示文稿</vt:lpstr>
      <vt:lpstr>IPv6过渡技术</vt:lpstr>
      <vt:lpstr>PowerPoint 演示文稿</vt:lpstr>
      <vt:lpstr>PowerPoint 演示文稿</vt:lpstr>
      <vt:lpstr>PowerPoint 演示文稿</vt:lpstr>
      <vt:lpstr>IP网络面临的问题与IPv6技术</vt:lpstr>
      <vt:lpstr>IPv6基础回顾：IPv6报文头部</vt:lpstr>
      <vt:lpstr>PowerPoint 演示文稿</vt:lpstr>
      <vt:lpstr>IPv6基础回顾：IPv6扩展头部</vt:lpstr>
      <vt:lpstr>IPv6基础回顾：IPv6地址</vt:lpstr>
      <vt:lpstr>IPv6基础回顾：IPv6单播地址业务流程</vt:lpstr>
      <vt:lpstr>IPv6基础回顾：全球单播地址配置方式</vt:lpstr>
      <vt:lpstr>IPv6地址申请</vt:lpstr>
      <vt:lpstr>IPv6地址规划</vt:lpstr>
      <vt:lpstr>IPv6地址规划举例</vt:lpstr>
      <vt:lpstr>PowerPoint 演示文稿</vt:lpstr>
      <vt:lpstr>IPv6过渡技术简介</vt:lpstr>
      <vt:lpstr>隧道技术：IPv6 over IPv4</vt:lpstr>
      <vt:lpstr>手动隧道</vt:lpstr>
      <vt:lpstr>自动隧道</vt:lpstr>
      <vt:lpstr>PowerPoint 演示文稿</vt:lpstr>
      <vt:lpstr>隧道技术：6PE</vt:lpstr>
      <vt:lpstr>单自治域6PE</vt:lpstr>
      <vt:lpstr>6PE路由共享显式空标签</vt:lpstr>
      <vt:lpstr>隧道技术：6VPE</vt:lpstr>
      <vt:lpstr>配置6VPE (1)</vt:lpstr>
      <vt:lpstr>配置6VPE (2)</vt:lpstr>
      <vt:lpstr>配置6VPE (3)</vt:lpstr>
      <vt:lpstr>6VPE配置举例 (1)</vt:lpstr>
      <vt:lpstr>6VPE配置举例 (2)</vt:lpstr>
      <vt:lpstr>6VPE配置举例 (3)</vt:lpstr>
      <vt:lpstr>6VPE配置举例 (4)</vt:lpstr>
      <vt:lpstr>查看配置结果</vt:lpstr>
      <vt:lpstr>隧道技术：IPv4 over IPv6</vt:lpstr>
      <vt:lpstr>转换技术：NAT64</vt:lpstr>
      <vt:lpstr>NAT64前缀</vt:lpstr>
      <vt:lpstr>动态NAT64映射</vt:lpstr>
      <vt:lpstr>静态NAT64映射</vt:lpstr>
      <vt:lpstr>配置NAT64前缀</vt:lpstr>
      <vt:lpstr>配置动态NAT64映射</vt:lpstr>
      <vt:lpstr>配置静态NAT64映射</vt:lpstr>
      <vt:lpstr>动态NAT64配置举例 (1)</vt:lpstr>
      <vt:lpstr>动态NAT64配置举例 (2)</vt:lpstr>
      <vt:lpstr>转换技术：IVI</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luyueyuezjhw</cp:lastModifiedBy>
  <cp:revision>1930</cp:revision>
  <cp:lastPrinted>2020-07-31T09:33:18Z</cp:lastPrinted>
  <dcterms:created xsi:type="dcterms:W3CDTF">2018-11-29T10:16:29Z</dcterms:created>
  <dcterms:modified xsi:type="dcterms:W3CDTF">2021-10-19T13:51:22Z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(3)0TfgrLPZna0G2uVH6sx9wyooHKH3Kzl9h+F1P5coSXewzoA26GYiG4sMTHOW/S2Yk5jzE3or
8JOaiAL4iaoMa60J5NWPPE366Rwh2l7D/b4uSb3Xa472KT0aL8mPB2OwH+TtkZ8qQuhMQd8m
xt0o31DM9+UMw8nEQ+GEQ6PmSjkY2isEVboe1oxHunAPehfeo98694VuY6AjYl/RCtU2iB6M
vZgEAf8WNU093rgRqw</vt:lpwstr>
  </property>
  <property fmtid="{D5CDD505-2E9C-101B-9397-08002B2CF9AE}" pid="3" name="_2015_ms_pID_7253431">
    <vt:lpwstr>ssGadplKHSQ2AUr8b9UUb/O3uk3zC7/GPg+uZtgAcColMZleV5lMUQ
ZkfzihIaycaNBVzh0n+zGo6SvcsgF4IDJO7kYmREZNwKhYHayeu0lHrIyUKMYHuFklIYQlT1
CSjtzsBwsLqCdtq6wLGxp80aqnQfelQhhmQAp/9xTLR+g4kEAv3sBe7sjc5c7SkGBBhByPB2
yvKuUEZmMraJW1VM+0GHd/YjXn/TKbuxtP1m</vt:lpwstr>
  </property>
  <property fmtid="{D5CDD505-2E9C-101B-9397-08002B2CF9AE}" pid="4" name="_2015_ms_pID_7253432">
    <vt:lpwstr>1g==</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1634649982</vt:lpwstr>
  </property>
</Properties>
</file>