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xml" ContentType="application/vnd.openxmlformats-officedocument.presentationml.tags+xml"/>
  <Override PartName="/ppt/notesSlides/notesSlide14.xml" ContentType="application/vnd.openxmlformats-officedocument.presentationml.notesSlide+xml"/>
  <Override PartName="/ppt/tags/tag2.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72" r:id="rId4"/>
    <p:sldMasterId id="2147483874" r:id="rId5"/>
    <p:sldMasterId id="2147483885" r:id="rId6"/>
    <p:sldMasterId id="2147483891" r:id="rId7"/>
  </p:sldMasterIdLst>
  <p:notesMasterIdLst>
    <p:notesMasterId r:id="rId73"/>
  </p:notesMasterIdLst>
  <p:handoutMasterIdLst>
    <p:handoutMasterId r:id="rId74"/>
  </p:handoutMasterIdLst>
  <p:sldIdLst>
    <p:sldId id="256" r:id="rId8"/>
    <p:sldId id="257" r:id="rId9"/>
    <p:sldId id="258" r:id="rId10"/>
    <p:sldId id="259" r:id="rId11"/>
    <p:sldId id="373" r:id="rId12"/>
    <p:sldId id="345" r:id="rId13"/>
    <p:sldId id="346" r:id="rId14"/>
    <p:sldId id="347" r:id="rId15"/>
    <p:sldId id="348" r:id="rId16"/>
    <p:sldId id="349" r:id="rId17"/>
    <p:sldId id="350" r:id="rId18"/>
    <p:sldId id="386" r:id="rId19"/>
    <p:sldId id="389" r:id="rId20"/>
    <p:sldId id="390" r:id="rId21"/>
    <p:sldId id="391" r:id="rId22"/>
    <p:sldId id="392" r:id="rId23"/>
    <p:sldId id="393" r:id="rId24"/>
    <p:sldId id="394" r:id="rId25"/>
    <p:sldId id="395" r:id="rId26"/>
    <p:sldId id="396" r:id="rId27"/>
    <p:sldId id="397" r:id="rId28"/>
    <p:sldId id="398" r:id="rId29"/>
    <p:sldId id="385" r:id="rId30"/>
    <p:sldId id="275" r:id="rId31"/>
    <p:sldId id="276" r:id="rId32"/>
    <p:sldId id="319" r:id="rId33"/>
    <p:sldId id="278" r:id="rId34"/>
    <p:sldId id="279" r:id="rId35"/>
    <p:sldId id="378" r:id="rId36"/>
    <p:sldId id="281" r:id="rId37"/>
    <p:sldId id="282" r:id="rId38"/>
    <p:sldId id="283" r:id="rId39"/>
    <p:sldId id="376" r:id="rId40"/>
    <p:sldId id="377" r:id="rId41"/>
    <p:sldId id="284" r:id="rId42"/>
    <p:sldId id="285" r:id="rId43"/>
    <p:sldId id="286" r:id="rId44"/>
    <p:sldId id="288" r:id="rId45"/>
    <p:sldId id="289" r:id="rId46"/>
    <p:sldId id="290" r:id="rId47"/>
    <p:sldId id="291" r:id="rId48"/>
    <p:sldId id="292" r:id="rId49"/>
    <p:sldId id="293" r:id="rId50"/>
    <p:sldId id="357" r:id="rId51"/>
    <p:sldId id="344" r:id="rId52"/>
    <p:sldId id="296" r:id="rId53"/>
    <p:sldId id="297" r:id="rId54"/>
    <p:sldId id="343" r:id="rId55"/>
    <p:sldId id="295" r:id="rId56"/>
    <p:sldId id="303" r:id="rId57"/>
    <p:sldId id="384" r:id="rId58"/>
    <p:sldId id="305" r:id="rId59"/>
    <p:sldId id="340" r:id="rId60"/>
    <p:sldId id="364" r:id="rId61"/>
    <p:sldId id="360" r:id="rId62"/>
    <p:sldId id="361" r:id="rId63"/>
    <p:sldId id="362" r:id="rId64"/>
    <p:sldId id="363" r:id="rId65"/>
    <p:sldId id="358" r:id="rId66"/>
    <p:sldId id="359" r:id="rId67"/>
    <p:sldId id="365" r:id="rId68"/>
    <p:sldId id="375" r:id="rId69"/>
    <p:sldId id="265" r:id="rId70"/>
    <p:sldId id="267" r:id="rId71"/>
    <p:sldId id="270" r:id="rId72"/>
  </p:sldIdLst>
  <p:sldSz cx="12192000" cy="6858000"/>
  <p:notesSz cx="7010400" cy="9296400"/>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userDrawn="1">
          <p15:clr>
            <a:srgbClr val="A4A3A4"/>
          </p15:clr>
        </p15:guide>
        <p15:guide id="2"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hanglinruizjhw (Leroy)" initials="Z(" lastIdx="18" clrIdx="0">
    <p:extLst>
      <p:ext uri="{19B8F6BF-5375-455C-9EA6-DF929625EA0E}">
        <p15:presenceInfo xmlns:p15="http://schemas.microsoft.com/office/powerpoint/2012/main" userId="S-1-5-21-147214757-305610072-1517763936-5615262" providerId="AD"/>
      </p:ext>
    </p:extLst>
  </p:cmAuthor>
  <p:cmAuthor id="2" name="luyueyuezjhw" initials="l" lastIdx="15" clrIdx="1">
    <p:extLst>
      <p:ext uri="{19B8F6BF-5375-455C-9EA6-DF929625EA0E}">
        <p15:presenceInfo xmlns:p15="http://schemas.microsoft.com/office/powerpoint/2012/main" userId="S-1-5-21-147214757-305610072-1517763936-4736116" providerId="AD"/>
      </p:ext>
    </p:extLst>
  </p:cmAuthor>
  <p:cmAuthor id="3" name="Lixianzhi (Nick)" initials="L(" lastIdx="18" clrIdx="2">
    <p:extLst>
      <p:ext uri="{19B8F6BF-5375-455C-9EA6-DF929625EA0E}">
        <p15:presenceInfo xmlns:p15="http://schemas.microsoft.com/office/powerpoint/2012/main" userId="S-1-5-21-147214757-305610072-1517763936-3312251" providerId="AD"/>
      </p:ext>
    </p:extLst>
  </p:cmAuthor>
  <p:cmAuthor id="4" name="hejunjianzjhw" initials="h" lastIdx="3" clrIdx="3">
    <p:extLst>
      <p:ext uri="{19B8F6BF-5375-455C-9EA6-DF929625EA0E}">
        <p15:presenceInfo xmlns:p15="http://schemas.microsoft.com/office/powerpoint/2012/main" userId="S-1-5-21-147214757-305610072-1517763936-568267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000B"/>
    <a:srgbClr val="30B5C5"/>
    <a:srgbClr val="62B230"/>
    <a:srgbClr val="D0E8C4"/>
    <a:srgbClr val="DEF4F6"/>
    <a:srgbClr val="56C4D2"/>
    <a:srgbClr val="94DAE2"/>
    <a:srgbClr val="EAF8FA"/>
    <a:srgbClr val="AFD89C"/>
    <a:srgbClr val="FEF5D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107" autoAdjust="0"/>
    <p:restoredTop sz="88581" autoAdjust="0"/>
  </p:normalViewPr>
  <p:slideViewPr>
    <p:cSldViewPr snapToGrid="0" snapToObjects="1">
      <p:cViewPr varScale="1">
        <p:scale>
          <a:sx n="83" d="100"/>
          <a:sy n="83" d="100"/>
        </p:scale>
        <p:origin x="40" y="108"/>
      </p:cViewPr>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66" d="100"/>
        <a:sy n="66" d="100"/>
      </p:scale>
      <p:origin x="0" y="0"/>
    </p:cViewPr>
  </p:sorterViewPr>
  <p:notesViewPr>
    <p:cSldViewPr snapToGrid="0" snapToObjects="1">
      <p:cViewPr>
        <p:scale>
          <a:sx n="125" d="100"/>
          <a:sy n="125" d="100"/>
        </p:scale>
        <p:origin x="2868" y="-2334"/>
      </p:cViewPr>
      <p:guideLst>
        <p:guide orient="horz"/>
        <p:guide pos="2208"/>
      </p:guideLst>
    </p:cSldViewPr>
  </p:notes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16" Type="http://schemas.openxmlformats.org/officeDocument/2006/relationships/slide" Target="slides/slide9.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slide" Target="slides/slide59.xml"/><Relationship Id="rId74" Type="http://schemas.openxmlformats.org/officeDocument/2006/relationships/handoutMaster" Target="handoutMasters/handoutMaster1.xml"/><Relationship Id="rId79" Type="http://schemas.openxmlformats.org/officeDocument/2006/relationships/tableStyles" Target="tableStyles.xml"/><Relationship Id="rId5" Type="http://schemas.openxmlformats.org/officeDocument/2006/relationships/slideMaster" Target="slideMasters/slideMaster2.xml"/><Relationship Id="rId61" Type="http://schemas.openxmlformats.org/officeDocument/2006/relationships/slide" Target="slides/slide54.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slide" Target="slides/slide62.xml"/><Relationship Id="rId77" Type="http://schemas.openxmlformats.org/officeDocument/2006/relationships/viewProps" Target="viewProps.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slide" Target="slides/slide63.xml"/><Relationship Id="rId75"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notesMaster" Target="notesMasters/notesMaster1.xml"/><Relationship Id="rId78"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presProps" Target="presProps.xml"/><Relationship Id="rId7" Type="http://schemas.openxmlformats.org/officeDocument/2006/relationships/slideMaster" Target="slideMasters/slideMaster4.xml"/><Relationship Id="rId71" Type="http://schemas.openxmlformats.org/officeDocument/2006/relationships/slide" Target="slides/slide64.xml"/><Relationship Id="rId2" Type="http://schemas.openxmlformats.org/officeDocument/2006/relationships/customXml" Target="../customXml/item2.xml"/><Relationship Id="rId29" Type="http://schemas.openxmlformats.org/officeDocument/2006/relationships/slide" Target="slides/slide2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CC198DB-AFBD-584A-8986-364FF2B03F46}"/>
              </a:ext>
            </a:extLst>
          </p:cNvPr>
          <p:cNvSpPr>
            <a:spLocks noGrp="1"/>
          </p:cNvSpPr>
          <p:nvPr>
            <p:ph type="hdr" sz="quarter"/>
          </p:nvPr>
        </p:nvSpPr>
        <p:spPr>
          <a:xfrm>
            <a:off x="0" y="1"/>
            <a:ext cx="3037840" cy="466435"/>
          </a:xfrm>
          <a:prstGeom prst="rect">
            <a:avLst/>
          </a:prstGeom>
        </p:spPr>
        <p:txBody>
          <a:bodyPr vert="horz" lIns="91440" tIns="45720" rIns="91440" bIns="45720" rtlCol="0"/>
          <a:lstStyle>
            <a:lvl1pPr algn="l">
              <a:defRPr sz="1200"/>
            </a:lvl1pPr>
          </a:lstStyle>
          <a:p>
            <a:endParaRPr lang="en-US" dirty="0">
              <a:latin typeface="Huawei Sans" panose="020C0503030203020204" pitchFamily="34" charset="0"/>
            </a:endParaRPr>
          </a:p>
        </p:txBody>
      </p:sp>
      <p:sp>
        <p:nvSpPr>
          <p:cNvPr id="3" name="Date Placeholder 2">
            <a:extLst>
              <a:ext uri="{FF2B5EF4-FFF2-40B4-BE49-F238E27FC236}">
                <a16:creationId xmlns:a16="http://schemas.microsoft.com/office/drawing/2014/main" id="{AD01315C-523F-A043-8029-B9921497126E}"/>
              </a:ext>
            </a:extLst>
          </p:cNvPr>
          <p:cNvSpPr>
            <a:spLocks noGrp="1"/>
          </p:cNvSpPr>
          <p:nvPr>
            <p:ph type="dt" sz="quarter" idx="1"/>
          </p:nvPr>
        </p:nvSpPr>
        <p:spPr>
          <a:xfrm>
            <a:off x="3970938" y="1"/>
            <a:ext cx="3037840" cy="466435"/>
          </a:xfrm>
          <a:prstGeom prst="rect">
            <a:avLst/>
          </a:prstGeom>
        </p:spPr>
        <p:txBody>
          <a:bodyPr vert="horz" lIns="91440" tIns="45720" rIns="91440" bIns="45720" rtlCol="0"/>
          <a:lstStyle>
            <a:lvl1pPr algn="r">
              <a:defRPr sz="1200"/>
            </a:lvl1pPr>
          </a:lstStyle>
          <a:p>
            <a:fld id="{E8CF71B8-DF2A-2E41-BE66-2E18A767DA8A}" type="datetimeFigureOut">
              <a:rPr lang="en-US" smtClean="0">
                <a:latin typeface="Huawei Sans" panose="020C0503030203020204" pitchFamily="34" charset="0"/>
              </a:rPr>
              <a:t>11/6/2023</a:t>
            </a:fld>
            <a:endParaRPr lang="en-US" dirty="0">
              <a:latin typeface="Huawei Sans" panose="020C0503030203020204" pitchFamily="34" charset="0"/>
            </a:endParaRPr>
          </a:p>
        </p:txBody>
      </p:sp>
      <p:sp>
        <p:nvSpPr>
          <p:cNvPr id="4" name="Footer Placeholder 3">
            <a:extLst>
              <a:ext uri="{FF2B5EF4-FFF2-40B4-BE49-F238E27FC236}">
                <a16:creationId xmlns:a16="http://schemas.microsoft.com/office/drawing/2014/main" id="{B9601424-70F4-1643-8E3A-557A0258D6B6}"/>
              </a:ext>
            </a:extLst>
          </p:cNvPr>
          <p:cNvSpPr>
            <a:spLocks noGrp="1"/>
          </p:cNvSpPr>
          <p:nvPr>
            <p:ph type="ftr" sz="quarter" idx="2"/>
          </p:nvPr>
        </p:nvSpPr>
        <p:spPr>
          <a:xfrm>
            <a:off x="0" y="8829968"/>
            <a:ext cx="3037840" cy="466434"/>
          </a:xfrm>
          <a:prstGeom prst="rect">
            <a:avLst/>
          </a:prstGeom>
        </p:spPr>
        <p:txBody>
          <a:bodyPr vert="horz" lIns="91440" tIns="45720" rIns="91440" bIns="45720" rtlCol="0" anchor="b"/>
          <a:lstStyle>
            <a:lvl1pPr algn="l">
              <a:defRPr sz="1200"/>
            </a:lvl1pPr>
          </a:lstStyle>
          <a:p>
            <a:endParaRPr lang="en-US" dirty="0">
              <a:latin typeface="Huawei Sans" panose="020C0503030203020204" pitchFamily="34" charset="0"/>
            </a:endParaRPr>
          </a:p>
        </p:txBody>
      </p:sp>
      <p:sp>
        <p:nvSpPr>
          <p:cNvPr id="5" name="Slide Number Placeholder 4">
            <a:extLst>
              <a:ext uri="{FF2B5EF4-FFF2-40B4-BE49-F238E27FC236}">
                <a16:creationId xmlns:a16="http://schemas.microsoft.com/office/drawing/2014/main" id="{E85BF48A-FF5C-8145-95A7-EE66A87C73DF}"/>
              </a:ext>
            </a:extLst>
          </p:cNvPr>
          <p:cNvSpPr>
            <a:spLocks noGrp="1"/>
          </p:cNvSpPr>
          <p:nvPr>
            <p:ph type="sldNum" sz="quarter" idx="3"/>
          </p:nvPr>
        </p:nvSpPr>
        <p:spPr>
          <a:xfrm>
            <a:off x="3970938" y="8829968"/>
            <a:ext cx="3037840" cy="466434"/>
          </a:xfrm>
          <a:prstGeom prst="rect">
            <a:avLst/>
          </a:prstGeom>
        </p:spPr>
        <p:txBody>
          <a:bodyPr vert="horz" lIns="91440" tIns="45720" rIns="91440" bIns="45720" rtlCol="0" anchor="b"/>
          <a:lstStyle>
            <a:lvl1pPr algn="r">
              <a:defRPr sz="1200"/>
            </a:lvl1pPr>
          </a:lstStyle>
          <a:p>
            <a:fld id="{A35F0CC5-85BE-A64A-BD47-54C66F7E93E3}" type="slidenum">
              <a:rPr lang="en-US" smtClean="0">
                <a:latin typeface="Huawei Sans" panose="020C0503030203020204" pitchFamily="34" charset="0"/>
              </a:rPr>
              <a:t>‹#›</a:t>
            </a:fld>
            <a:endParaRPr lang="en-US" dirty="0">
              <a:latin typeface="Huawei Sans" panose="020C0503030203020204" pitchFamily="34" charset="0"/>
            </a:endParaRPr>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742950" y="717550"/>
            <a:ext cx="5557838" cy="3125788"/>
          </a:xfrm>
          <a:prstGeom prst="rect">
            <a:avLst/>
          </a:prstGeom>
          <a:noFill/>
          <a:ln w="12700">
            <a:solidFill>
              <a:prstClr val="black"/>
            </a:solidFill>
          </a:ln>
        </p:spPr>
        <p:txBody>
          <a:bodyPr vert="horz" lIns="91440" tIns="45720" rIns="91440" bIns="45720" rtlCol="0" anchor="ctr"/>
          <a:lstStyle/>
          <a:p>
            <a:pPr marL="0" lvl="0"/>
            <a:endParaRPr lang="en-US"/>
          </a:p>
        </p:txBody>
      </p:sp>
      <p:sp>
        <p:nvSpPr>
          <p:cNvPr id="5" name="Notes Placeholder 4"/>
          <p:cNvSpPr>
            <a:spLocks noGrp="1"/>
          </p:cNvSpPr>
          <p:nvPr>
            <p:ph type="body" sz="quarter" idx="3"/>
          </p:nvPr>
        </p:nvSpPr>
        <p:spPr>
          <a:xfrm>
            <a:off x="731838" y="4310765"/>
            <a:ext cx="5580062" cy="4784070"/>
          </a:xfrm>
          <a:prstGeom prst="rect">
            <a:avLst/>
          </a:prstGeom>
        </p:spPr>
        <p:txBody>
          <a:bodyPr vert="horz" lIns="97200" tIns="45720" rIns="9720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180000" indent="-180000" algn="l" defTabSz="1219304" rtl="0" eaLnBrk="1" fontAlgn="ctr" latinLnBrk="0" hangingPunct="1">
      <a:lnSpc>
        <a:spcPct val="125000"/>
      </a:lnSpc>
      <a:spcAft>
        <a:spcPts val="600"/>
      </a:spcAft>
      <a:buFont typeface="Huawei Sans" panose="020C0503030203020204" pitchFamily="34" charset="0"/>
      <a:buChar char="•"/>
      <a:defRPr lang="en-US" sz="1100" kern="1200" baseline="0">
        <a:solidFill>
          <a:schemeClr val="tx1"/>
        </a:solidFill>
        <a:latin typeface="Huawei Sans" panose="020C0503030203020204" pitchFamily="34" charset="0"/>
        <a:ea typeface="方正兰亭黑简体" panose="02000000000000000000" pitchFamily="2" charset="-122"/>
        <a:cs typeface="+mn-cs"/>
      </a:defRPr>
    </a:lvl1pPr>
    <a:lvl2pPr marL="540000" indent="-180000" algn="l" defTabSz="1219304" rtl="0" eaLnBrk="1" fontAlgn="ctr" latinLnBrk="0" hangingPunct="1">
      <a:lnSpc>
        <a:spcPct val="125000"/>
      </a:lnSpc>
      <a:spcAft>
        <a:spcPts val="600"/>
      </a:spcAft>
      <a:buClrTx/>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2pPr>
    <a:lvl3pPr marL="900000" indent="-180000" algn="l" defTabSz="1219304" rtl="0" eaLnBrk="1" fontAlgn="ctr" latinLnBrk="0" hangingPunct="1">
      <a:lnSpc>
        <a:spcPct val="125000"/>
      </a:lnSpc>
      <a:spcAft>
        <a:spcPts val="600"/>
      </a:spcAft>
      <a:buFont typeface="微软雅黑" panose="020B0503020204020204" pitchFamily="34" charset="-122"/>
      <a:buChar char="▪"/>
      <a:defRPr sz="1100" kern="1200" baseline="0">
        <a:solidFill>
          <a:schemeClr val="tx1"/>
        </a:solidFill>
        <a:latin typeface="Huawei Sans" panose="020C0503030203020204" pitchFamily="34" charset="0"/>
        <a:ea typeface="方正兰亭黑简体" panose="02000000000000000000" pitchFamily="2" charset="-122"/>
        <a:cs typeface="+mn-cs"/>
      </a:defRPr>
    </a:lvl3pPr>
    <a:lvl4pPr marL="126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4pPr>
    <a:lvl5pPr marL="162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extLst>
    <p:ext uri="{620B2872-D7B9-4A21-9093-7833F8D536E1}">
      <p15:sldGuideLst xmlns:p15="http://schemas.microsoft.com/office/powerpoint/2012/main">
        <p15:guide id="2" orient="horz" pos="2704" userDrawn="1">
          <p15:clr>
            <a:srgbClr val="F26B43"/>
          </p15:clr>
        </p15:guide>
        <p15:guide id="3" orient="horz" pos="459" userDrawn="1">
          <p15:clr>
            <a:srgbClr val="F26B43"/>
          </p15:clr>
        </p15:guide>
        <p15:guide id="4" orient="horz" pos="2432" userDrawn="1">
          <p15:clr>
            <a:srgbClr val="F26B43"/>
          </p15:clr>
        </p15:guide>
        <p15:guide id="7" pos="461" userDrawn="1">
          <p15:clr>
            <a:srgbClr val="F26B43"/>
          </p15:clr>
        </p15:guide>
        <p15:guide id="9" pos="2207" userDrawn="1">
          <p15:clr>
            <a:srgbClr val="F26B43"/>
          </p15:clr>
        </p15:guide>
        <p15:guide id="10" pos="397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幻灯片图像占位符 7"/>
          <p:cNvSpPr>
            <a:spLocks noGrp="1" noRot="1" noChangeAspect="1"/>
          </p:cNvSpPr>
          <p:nvPr>
            <p:ph type="sldImg"/>
          </p:nvPr>
        </p:nvSpPr>
        <p:spPr>
          <a:xfrm>
            <a:off x="744538" y="717550"/>
            <a:ext cx="5556250" cy="3125788"/>
          </a:xfrm>
        </p:spPr>
      </p:sp>
      <p:sp>
        <p:nvSpPr>
          <p:cNvPr id="9" name="备注占位符 8"/>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012980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幻灯片图像占位符 16"/>
          <p:cNvSpPr>
            <a:spLocks noGrp="1" noRot="1" noChangeAspect="1"/>
          </p:cNvSpPr>
          <p:nvPr>
            <p:ph type="sldImg"/>
          </p:nvPr>
        </p:nvSpPr>
        <p:spPr>
          <a:xfrm>
            <a:off x="744538" y="717550"/>
            <a:ext cx="5556250" cy="3125788"/>
          </a:xfrm>
        </p:spPr>
      </p:sp>
      <p:sp>
        <p:nvSpPr>
          <p:cNvPr id="18" name="备注占位符 17"/>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8659770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85948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4538" y="717550"/>
            <a:ext cx="5556250"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5813931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4538" y="717550"/>
            <a:ext cx="5556250"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3682791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39775"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239767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5314124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5175999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7002060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981577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6165964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3304588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CIO</a:t>
            </a:r>
            <a:r>
              <a:rPr lang="zh-CN" altLang="en-US" dirty="0"/>
              <a:t>：</a:t>
            </a:r>
            <a:r>
              <a:rPr lang="en-US" altLang="zh-CN" dirty="0"/>
              <a:t>Chief Information Officer</a:t>
            </a:r>
            <a:r>
              <a:rPr lang="zh-CN" altLang="en-US" dirty="0"/>
              <a:t>，首席信息官</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5647808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220357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a:lnSpc>
                <a:spcPct val="100000"/>
              </a:lnSpc>
            </a:pPr>
            <a:r>
              <a:rPr lang="zh-CN" altLang="en-US" dirty="0"/>
              <a:t>第一代园区网络：</a:t>
            </a:r>
            <a:r>
              <a:rPr lang="en-US" altLang="zh-CN" dirty="0"/>
              <a:t>1980</a:t>
            </a:r>
            <a:r>
              <a:rPr lang="zh-CN" altLang="en-US" dirty="0"/>
              <a:t>年，随着</a:t>
            </a:r>
            <a:r>
              <a:rPr lang="en-US" altLang="zh-CN" dirty="0"/>
              <a:t>IEEE</a:t>
            </a:r>
            <a:r>
              <a:rPr lang="zh-CN" altLang="en-US" dirty="0"/>
              <a:t>对</a:t>
            </a:r>
            <a:r>
              <a:rPr lang="en-US" altLang="zh-CN" dirty="0"/>
              <a:t>802.3</a:t>
            </a:r>
            <a:r>
              <a:rPr lang="zh-CN" altLang="en-US" dirty="0"/>
              <a:t>协议的批准，以太网技术正式诞生。相比之前的组网技术，使用双绞线连接的以太网更为廉价和易于实施，快速成为园区网络的主流。早期的园区网络使用</a:t>
            </a:r>
            <a:r>
              <a:rPr lang="en-US" altLang="zh-CN" dirty="0"/>
              <a:t>HUB</a:t>
            </a:r>
            <a:r>
              <a:rPr lang="zh-CN" altLang="en-US" dirty="0"/>
              <a:t>作为接入设备。由于</a:t>
            </a:r>
            <a:r>
              <a:rPr lang="en-US" altLang="zh-CN" dirty="0"/>
              <a:t>HUB</a:t>
            </a:r>
            <a:r>
              <a:rPr lang="zh-CN" altLang="en-US" dirty="0"/>
              <a:t>是共享媒介的物理层设备，会因为冲突域的增大而严重影响网络性能，故无法接入大量用户并限制了局域网的规模。八十年代末期，出现了以太网交换机。由于以太网交换机在工作机制上相比</a:t>
            </a:r>
            <a:r>
              <a:rPr lang="en-US" altLang="zh-CN" dirty="0"/>
              <a:t>HUB</a:t>
            </a:r>
            <a:r>
              <a:rPr lang="zh-CN" altLang="en-US" dirty="0"/>
              <a:t>有着巨大的优势，所以以太网交换机迅速取代</a:t>
            </a:r>
            <a:r>
              <a:rPr lang="en-US" altLang="zh-CN" dirty="0"/>
              <a:t>HUB</a:t>
            </a:r>
            <a:r>
              <a:rPr lang="zh-CN" altLang="en-US" dirty="0"/>
              <a:t>，成为园区网络的标准部件。</a:t>
            </a:r>
            <a:endParaRPr lang="en-US" altLang="zh-CN" dirty="0"/>
          </a:p>
          <a:p>
            <a:pPr>
              <a:lnSpc>
                <a:spcPct val="100000"/>
              </a:lnSpc>
            </a:pPr>
            <a:r>
              <a:rPr lang="zh-CN" altLang="en-US" dirty="0"/>
              <a:t>第二代园区网络：进入到</a:t>
            </a:r>
            <a:r>
              <a:rPr lang="en-US" altLang="zh-CN" dirty="0"/>
              <a:t>90</a:t>
            </a:r>
            <a:r>
              <a:rPr lang="zh-CN" altLang="en-US" dirty="0"/>
              <a:t>年代，随着</a:t>
            </a:r>
            <a:r>
              <a:rPr lang="en-US" altLang="zh-CN" dirty="0"/>
              <a:t>WWW</a:t>
            </a:r>
            <a:r>
              <a:rPr lang="zh-CN" altLang="en-US" dirty="0"/>
              <a:t>和即时通讯软件的流行，对园区网络的带宽提出了极大的挑战，基于路由器的园区骨干网无法满足要求。在这个背景下，三层交换机在</a:t>
            </a:r>
            <a:r>
              <a:rPr lang="en-US" altLang="zh-CN" dirty="0"/>
              <a:t>1996</a:t>
            </a:r>
            <a:r>
              <a:rPr lang="zh-CN" altLang="en-US" dirty="0"/>
              <a:t>年被发明出来。三层交换机集成了二层交换功能和三层路由功能，也被称为路由式交换机。它针对园区场景优化设计的三层转发引擎简单高效，三层路由能力接近或者等同于二层交换性能。三层园区网络满足了计算机终端接入园区网络的需求，能够提供高性能的网络连接，满足基于</a:t>
            </a:r>
            <a:r>
              <a:rPr lang="en-US" altLang="zh-CN" dirty="0"/>
              <a:t>WWW</a:t>
            </a:r>
            <a:r>
              <a:rPr lang="zh-CN" altLang="en-US" dirty="0"/>
              <a:t>的各种多媒体业务和各种办公系统的需要。</a:t>
            </a:r>
            <a:endParaRPr lang="en-US" altLang="zh-CN" dirty="0"/>
          </a:p>
          <a:p>
            <a:pPr>
              <a:lnSpc>
                <a:spcPct val="100000"/>
              </a:lnSpc>
            </a:pPr>
            <a:r>
              <a:rPr lang="zh-CN" altLang="en-US" dirty="0"/>
              <a:t>第三代园区网络：大家一般公认</a:t>
            </a:r>
            <a:r>
              <a:rPr lang="en-US" altLang="zh-CN" dirty="0"/>
              <a:t>2007</a:t>
            </a:r>
            <a:r>
              <a:rPr lang="zh-CN" altLang="en-US" dirty="0"/>
              <a:t>年为智能移动终端元年，在随后的几年中，智能移动终端快速普及，应用越来越广泛。伴随着智能终端快速成长的还有</a:t>
            </a:r>
            <a:r>
              <a:rPr lang="en-US" altLang="zh-CN" dirty="0"/>
              <a:t>Wi-Fi</a:t>
            </a:r>
            <a:r>
              <a:rPr lang="zh-CN" altLang="en-US" dirty="0"/>
              <a:t>。</a:t>
            </a:r>
            <a:r>
              <a:rPr lang="en-US" altLang="zh-CN" dirty="0"/>
              <a:t>Wi-Fi</a:t>
            </a:r>
            <a:r>
              <a:rPr lang="zh-CN" altLang="en-US" dirty="0"/>
              <a:t>业务被统一接入园区网络，成为这一代园区网络的典型特征。而且</a:t>
            </a:r>
            <a:r>
              <a:rPr lang="en-US" altLang="zh-CN" dirty="0"/>
              <a:t>SDN</a:t>
            </a:r>
            <a:r>
              <a:rPr lang="zh-CN" altLang="en-US" dirty="0"/>
              <a:t>概念开始被引入，用于实现业务简化。这一代网络非常好的满足了企业在无线化转型初期的需求，但是，</a:t>
            </a:r>
            <a:r>
              <a:rPr lang="en-US" altLang="zh-CN" dirty="0"/>
              <a:t>Wi-Fi</a:t>
            </a:r>
            <a:r>
              <a:rPr lang="zh-CN" altLang="en-US" dirty="0"/>
              <a:t>网络的服务质量不够好，还是只能作为有线网络的补充。</a:t>
            </a:r>
            <a:endParaRPr lang="en-US" altLang="zh-CN" dirty="0"/>
          </a:p>
          <a:p>
            <a:pPr>
              <a:lnSpc>
                <a:spcPct val="100000"/>
              </a:lnSpc>
            </a:pPr>
            <a:r>
              <a:rPr lang="zh-CN" altLang="en-US" dirty="0"/>
              <a:t>园区网络经历了前面几个阶段的演进，在带宽、规模以及业务融合等几个方面都有了长足的发展。然而，随着行业数字化转型的推进，园区网络在连接、体验、运维、安全、生态等几个方面又面临新的挑战，例如物联网业务要求连接无处不在，高清视频、 </a:t>
            </a:r>
            <a:r>
              <a:rPr lang="en-US" altLang="zh-CN" dirty="0"/>
              <a:t>AR</a:t>
            </a:r>
            <a:r>
              <a:rPr lang="zh-CN" altLang="en-US" dirty="0"/>
              <a:t>（</a:t>
            </a:r>
            <a:r>
              <a:rPr lang="en-US" altLang="zh-CN" dirty="0"/>
              <a:t>Augmented Reality</a:t>
            </a:r>
            <a:r>
              <a:rPr lang="zh-CN" altLang="en-US" dirty="0"/>
              <a:t>，增强现实）</a:t>
            </a:r>
            <a:r>
              <a:rPr lang="en-US" altLang="zh-CN" dirty="0"/>
              <a:t>/VR</a:t>
            </a:r>
            <a:r>
              <a:rPr lang="zh-CN" altLang="en-US" dirty="0"/>
              <a:t>（</a:t>
            </a:r>
            <a:r>
              <a:rPr lang="en-US" altLang="zh-CN" dirty="0"/>
              <a:t>Virtual Reality</a:t>
            </a:r>
            <a:r>
              <a:rPr lang="zh-CN" altLang="en-US" dirty="0"/>
              <a:t>，虚拟现实）等业务需要高品质的体验，海量的设备需要极简的业务部署和网络运维等。为了应对上述挑战，业界厂商也逐步将</a:t>
            </a:r>
            <a:r>
              <a:rPr lang="en-US" altLang="zh-CN" dirty="0"/>
              <a:t>AI</a:t>
            </a:r>
            <a:r>
              <a:rPr lang="zh-CN" altLang="en-US" dirty="0"/>
              <a:t>、大数据等新技术引入园区网络，并推出一系列新的解决方案。</a:t>
            </a:r>
          </a:p>
        </p:txBody>
      </p:sp>
      <p:sp>
        <p:nvSpPr>
          <p:cNvPr id="4" name="幻灯片图像占位符 3"/>
          <p:cNvSpPr>
            <a:spLocks noGrp="1" noRot="1" noChangeAspect="1"/>
          </p:cNvSpPr>
          <p:nvPr>
            <p:ph type="sldImg"/>
          </p:nvPr>
        </p:nvSpPr>
        <p:spPr/>
      </p:sp>
    </p:spTree>
    <p:extLst>
      <p:ext uri="{BB962C8B-B14F-4D97-AF65-F5344CB8AC3E}">
        <p14:creationId xmlns:p14="http://schemas.microsoft.com/office/powerpoint/2010/main" val="2638928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003181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530199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084686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8021160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1083168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8147634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2985462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4538" y="717550"/>
            <a:ext cx="5556250"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484693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除基于接口划分</a:t>
            </a:r>
            <a:r>
              <a:rPr lang="en-US" altLang="zh-CN" dirty="0"/>
              <a:t>VLAN</a:t>
            </a:r>
            <a:r>
              <a:rPr lang="zh-CN" altLang="en-US" dirty="0"/>
              <a:t>的方式外，还可以通过以下几种方式对</a:t>
            </a:r>
            <a:r>
              <a:rPr lang="en-US" altLang="zh-CN" dirty="0"/>
              <a:t>VLAN</a:t>
            </a:r>
            <a:r>
              <a:rPr lang="zh-CN" altLang="en-US" dirty="0"/>
              <a:t>进行划分：</a:t>
            </a:r>
            <a:endParaRPr lang="en-US" altLang="zh-CN" dirty="0"/>
          </a:p>
          <a:p>
            <a:pPr lvl="1"/>
            <a:r>
              <a:rPr lang="zh-CN" altLang="en-US" dirty="0"/>
              <a:t>基于</a:t>
            </a:r>
            <a:r>
              <a:rPr lang="en-US" altLang="zh-CN" dirty="0"/>
              <a:t>MAC</a:t>
            </a:r>
            <a:r>
              <a:rPr lang="zh-CN" altLang="en-US" dirty="0"/>
              <a:t>地址，根据数据帧的源</a:t>
            </a:r>
            <a:r>
              <a:rPr lang="en-US" altLang="zh-CN" dirty="0"/>
              <a:t>MAC</a:t>
            </a:r>
            <a:r>
              <a:rPr lang="zh-CN" altLang="en-US" dirty="0"/>
              <a:t>地址来划分</a:t>
            </a:r>
            <a:r>
              <a:rPr lang="en-US" altLang="zh-CN" dirty="0"/>
              <a:t>VLAN</a:t>
            </a:r>
            <a:r>
              <a:rPr lang="zh-CN" altLang="en-US" dirty="0"/>
              <a:t>。适用于用户位置经常移动但网卡不经常更换的小型网络。</a:t>
            </a:r>
          </a:p>
          <a:p>
            <a:pPr lvl="1"/>
            <a:r>
              <a:rPr lang="zh-CN" altLang="en-US" dirty="0"/>
              <a:t>基于子网划分，根据数据帧中的源</a:t>
            </a:r>
            <a:r>
              <a:rPr lang="en-US" altLang="zh-CN" dirty="0"/>
              <a:t>IP</a:t>
            </a:r>
            <a:r>
              <a:rPr lang="zh-CN" altLang="en-US" dirty="0"/>
              <a:t>地址来划分</a:t>
            </a:r>
            <a:r>
              <a:rPr lang="en-US" altLang="zh-CN" dirty="0"/>
              <a:t>VLAN</a:t>
            </a:r>
            <a:r>
              <a:rPr lang="zh-CN" altLang="en-US" dirty="0"/>
              <a:t>。适用于对安全需求不高、对移动性和简易管理需求较高的场景。</a:t>
            </a:r>
          </a:p>
          <a:p>
            <a:pPr lvl="1"/>
            <a:r>
              <a:rPr lang="zh-CN" altLang="en-US" dirty="0"/>
              <a:t>基于协议划分，根据数据帧所属的协议（族）类型及封装格式来划分</a:t>
            </a:r>
            <a:r>
              <a:rPr lang="en-US" altLang="zh-CN" dirty="0"/>
              <a:t>VLAN</a:t>
            </a:r>
            <a:r>
              <a:rPr lang="zh-CN" altLang="en-US" dirty="0"/>
              <a:t>。适用于需要同时运行多协议的网络。</a:t>
            </a:r>
          </a:p>
          <a:p>
            <a:pPr lvl="1"/>
            <a:r>
              <a:rPr lang="zh-CN" altLang="en-US" dirty="0"/>
              <a:t>基于策略（</a:t>
            </a:r>
            <a:r>
              <a:rPr lang="en-US" altLang="zh-CN" dirty="0"/>
              <a:t>MAC</a:t>
            </a:r>
            <a:r>
              <a:rPr lang="zh-CN" altLang="en-US" dirty="0"/>
              <a:t>地址、</a:t>
            </a:r>
            <a:r>
              <a:rPr lang="en-US" altLang="zh-CN" dirty="0"/>
              <a:t>IP</a:t>
            </a:r>
            <a:r>
              <a:rPr lang="zh-CN" altLang="en-US" dirty="0"/>
              <a:t>地址、接口）划分，根据配置的策略划分</a:t>
            </a:r>
            <a:r>
              <a:rPr lang="en-US" altLang="zh-CN" dirty="0"/>
              <a:t>VLAN</a:t>
            </a:r>
            <a:r>
              <a:rPr lang="zh-CN" altLang="en-US" dirty="0"/>
              <a:t>，能实现多种组合的划分方式，包括接口、</a:t>
            </a:r>
            <a:r>
              <a:rPr lang="en-US" altLang="zh-CN" dirty="0"/>
              <a:t>MAC</a:t>
            </a:r>
            <a:r>
              <a:rPr lang="zh-CN" altLang="en-US" dirty="0"/>
              <a:t>地址、</a:t>
            </a:r>
            <a:r>
              <a:rPr lang="en-US" altLang="zh-CN" dirty="0"/>
              <a:t>IP</a:t>
            </a:r>
            <a:r>
              <a:rPr lang="zh-CN" altLang="en-US" dirty="0"/>
              <a:t>地址等。适用于需求比较复杂的环境。</a:t>
            </a:r>
          </a:p>
        </p:txBody>
      </p:sp>
      <p:sp>
        <p:nvSpPr>
          <p:cNvPr id="4" name="幻灯片图像占位符 3"/>
          <p:cNvSpPr>
            <a:spLocks noGrp="1" noRot="1" noChangeAspect="1"/>
          </p:cNvSpPr>
          <p:nvPr>
            <p:ph type="sldImg"/>
          </p:nvPr>
        </p:nvSpPr>
        <p:spPr/>
      </p:sp>
    </p:spTree>
    <p:extLst>
      <p:ext uri="{BB962C8B-B14F-4D97-AF65-F5344CB8AC3E}">
        <p14:creationId xmlns:p14="http://schemas.microsoft.com/office/powerpoint/2010/main" val="15433323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r>
              <a:rPr lang="en-US" altLang="zh-CN" dirty="0"/>
              <a:t>Voice VLAN</a:t>
            </a:r>
            <a:r>
              <a:rPr lang="zh-CN" altLang="en-US" dirty="0"/>
              <a:t>可以通过以下两种方式来实现对语音数据流的识别：</a:t>
            </a:r>
            <a:endParaRPr lang="en-US" altLang="zh-CN" dirty="0"/>
          </a:p>
          <a:p>
            <a:pPr lvl="1"/>
            <a:r>
              <a:rPr lang="zh-CN" altLang="en-US" dirty="0"/>
              <a:t>通过收到报文的源</a:t>
            </a:r>
            <a:r>
              <a:rPr lang="en-US" altLang="zh-CN" dirty="0"/>
              <a:t>MAC</a:t>
            </a:r>
            <a:r>
              <a:rPr lang="zh-CN" altLang="en-US" dirty="0"/>
              <a:t>地址，即基于</a:t>
            </a:r>
            <a:r>
              <a:rPr lang="en-US" altLang="zh-CN" dirty="0"/>
              <a:t>MAC</a:t>
            </a:r>
            <a:r>
              <a:rPr lang="zh-CN" altLang="en-US" dirty="0"/>
              <a:t>地址的方式。设备可以根据进入接口的数据报文中的源</a:t>
            </a:r>
            <a:r>
              <a:rPr lang="en-US" altLang="zh-CN" dirty="0"/>
              <a:t>MAC</a:t>
            </a:r>
            <a:r>
              <a:rPr lang="zh-CN" altLang="en-US" dirty="0"/>
              <a:t>地址字段来判断该数据流是否为语音数据流。源</a:t>
            </a:r>
            <a:r>
              <a:rPr lang="en-US" altLang="zh-CN" dirty="0"/>
              <a:t>MAC</a:t>
            </a:r>
            <a:r>
              <a:rPr lang="zh-CN" altLang="en-US" dirty="0"/>
              <a:t>地址匹配系统设置的语音设备的组织唯一标识符（</a:t>
            </a:r>
            <a:r>
              <a:rPr lang="en-US" altLang="zh-CN" dirty="0"/>
              <a:t>Organizationally Unique Identifier</a:t>
            </a:r>
            <a:r>
              <a:rPr lang="zh-CN" altLang="en-US" dirty="0"/>
              <a:t>，</a:t>
            </a:r>
            <a:r>
              <a:rPr lang="en-US" altLang="zh-CN" dirty="0"/>
              <a:t>OUI</a:t>
            </a:r>
            <a:r>
              <a:rPr lang="zh-CN" altLang="en-US" dirty="0"/>
              <a:t>）的报文被认为是语音数据流。用户需要预先设置</a:t>
            </a:r>
            <a:r>
              <a:rPr lang="en-US" altLang="zh-CN" dirty="0"/>
              <a:t>OUI</a:t>
            </a:r>
            <a:r>
              <a:rPr lang="zh-CN" altLang="en-US" dirty="0"/>
              <a:t>，适用于</a:t>
            </a:r>
            <a:r>
              <a:rPr lang="en-US" altLang="zh-CN" dirty="0"/>
              <a:t>IP</a:t>
            </a:r>
            <a:r>
              <a:rPr lang="zh-CN" altLang="en-US" dirty="0"/>
              <a:t>电话上送</a:t>
            </a:r>
            <a:r>
              <a:rPr lang="en-US" altLang="zh-CN" dirty="0"/>
              <a:t>untagged</a:t>
            </a:r>
            <a:r>
              <a:rPr lang="zh-CN" altLang="en-US" dirty="0"/>
              <a:t>语音报文的场景。</a:t>
            </a:r>
            <a:endParaRPr lang="en-US" altLang="zh-CN" dirty="0"/>
          </a:p>
          <a:p>
            <a:pPr lvl="1"/>
            <a:r>
              <a:rPr lang="zh-CN" altLang="en-US" dirty="0"/>
              <a:t>通过报文携带的</a:t>
            </a:r>
            <a:r>
              <a:rPr lang="en-US" altLang="zh-CN" dirty="0"/>
              <a:t>VLAN Tag</a:t>
            </a:r>
            <a:r>
              <a:rPr lang="zh-CN" altLang="en-US" dirty="0"/>
              <a:t>，即基于</a:t>
            </a:r>
            <a:r>
              <a:rPr lang="en-US" altLang="zh-CN" dirty="0"/>
              <a:t>VLAN</a:t>
            </a:r>
            <a:r>
              <a:rPr lang="zh-CN" altLang="en-US" dirty="0"/>
              <a:t>的方式。若有大量</a:t>
            </a:r>
            <a:r>
              <a:rPr lang="en-US" altLang="zh-CN" dirty="0"/>
              <a:t>IP</a:t>
            </a:r>
            <a:r>
              <a:rPr lang="zh-CN" altLang="en-US" dirty="0"/>
              <a:t>电话接入交换机，配置</a:t>
            </a:r>
            <a:r>
              <a:rPr lang="en-US" altLang="zh-CN" dirty="0"/>
              <a:t>IP</a:t>
            </a:r>
            <a:r>
              <a:rPr lang="zh-CN" altLang="en-US" dirty="0"/>
              <a:t>电话的</a:t>
            </a:r>
            <a:r>
              <a:rPr lang="en-US" altLang="zh-CN" dirty="0"/>
              <a:t>OUI</a:t>
            </a:r>
            <a:r>
              <a:rPr lang="zh-CN" altLang="en-US" dirty="0"/>
              <a:t>会非常繁琐。可在交换机上配置基于</a:t>
            </a:r>
            <a:r>
              <a:rPr lang="en-US" altLang="zh-CN" dirty="0"/>
              <a:t>VLAN</a:t>
            </a:r>
            <a:r>
              <a:rPr lang="zh-CN" altLang="en-US" dirty="0"/>
              <a:t>来提升语音报文的优先级，此时设备会根据进入接口的报文的</a:t>
            </a:r>
            <a:r>
              <a:rPr lang="en-US" altLang="zh-CN" dirty="0"/>
              <a:t>VLAN ID</a:t>
            </a:r>
            <a:r>
              <a:rPr lang="zh-CN" altLang="en-US" dirty="0"/>
              <a:t>来判断该数据报文是否为语音报文。当</a:t>
            </a:r>
            <a:r>
              <a:rPr lang="en-US" altLang="zh-CN" dirty="0"/>
              <a:t>VLAN ID</a:t>
            </a:r>
            <a:r>
              <a:rPr lang="zh-CN" altLang="en-US" dirty="0"/>
              <a:t>匹配系统配置的</a:t>
            </a:r>
            <a:r>
              <a:rPr lang="en-US" altLang="zh-CN" dirty="0"/>
              <a:t>Voice VLAN</a:t>
            </a:r>
            <a:r>
              <a:rPr lang="zh-CN" altLang="en-US" dirty="0"/>
              <a:t>后，则认为是语音数据流。这种方式实现的前提是</a:t>
            </a:r>
            <a:r>
              <a:rPr lang="en-US" altLang="zh-CN" dirty="0"/>
              <a:t>IP</a:t>
            </a:r>
            <a:r>
              <a:rPr lang="zh-CN" altLang="en-US" dirty="0"/>
              <a:t>电话支持获取交换机上配置的</a:t>
            </a:r>
            <a:r>
              <a:rPr lang="en-US" altLang="zh-CN" dirty="0"/>
              <a:t>Voice VLAN</a:t>
            </a:r>
            <a:r>
              <a:rPr lang="zh-CN" altLang="en-US" dirty="0"/>
              <a:t>信息的功能，在大量</a:t>
            </a:r>
            <a:r>
              <a:rPr lang="en-US" altLang="zh-CN" dirty="0"/>
              <a:t>IP</a:t>
            </a:r>
            <a:r>
              <a:rPr lang="zh-CN" altLang="en-US" dirty="0"/>
              <a:t>电话接入的情况下，可以简化配置。</a:t>
            </a:r>
          </a:p>
        </p:txBody>
      </p:sp>
    </p:spTree>
    <p:extLst>
      <p:ext uri="{BB962C8B-B14F-4D97-AF65-F5344CB8AC3E}">
        <p14:creationId xmlns:p14="http://schemas.microsoft.com/office/powerpoint/2010/main" val="40594670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r>
              <a:rPr lang="zh-CN" altLang="en-US" dirty="0"/>
              <a:t>如何生成</a:t>
            </a:r>
            <a:r>
              <a:rPr lang="en-US" altLang="zh-CN" dirty="0"/>
              <a:t>STP</a:t>
            </a:r>
            <a:r>
              <a:rPr lang="zh-CN" altLang="en-US" dirty="0"/>
              <a:t>树？</a:t>
            </a:r>
          </a:p>
          <a:p>
            <a:pPr lvl="1"/>
            <a:r>
              <a:rPr lang="zh-CN" altLang="en-US" dirty="0"/>
              <a:t>主要通过比较</a:t>
            </a:r>
            <a:r>
              <a:rPr lang="en-US" altLang="zh-CN" dirty="0"/>
              <a:t>4</a:t>
            </a:r>
            <a:r>
              <a:rPr lang="zh-CN" altLang="en-US" dirty="0"/>
              <a:t>个参数：根桥</a:t>
            </a:r>
            <a:r>
              <a:rPr lang="en-US" altLang="zh-CN" dirty="0"/>
              <a:t>ID</a:t>
            </a:r>
            <a:r>
              <a:rPr lang="zh-CN" altLang="en-US" dirty="0"/>
              <a:t>、根路径开销、网桥</a:t>
            </a:r>
            <a:r>
              <a:rPr lang="en-US" altLang="zh-CN" dirty="0"/>
              <a:t>ID</a:t>
            </a:r>
            <a:r>
              <a:rPr lang="zh-CN" altLang="en-US" dirty="0"/>
              <a:t>和端口</a:t>
            </a:r>
            <a:r>
              <a:rPr lang="en-US" altLang="zh-CN" dirty="0"/>
              <a:t>ID</a:t>
            </a:r>
            <a:r>
              <a:rPr lang="zh-CN" altLang="en-US" dirty="0"/>
              <a:t>，值越小，越优先。而这些参数，都是报文</a:t>
            </a:r>
            <a:r>
              <a:rPr lang="en-US" altLang="zh-CN" dirty="0"/>
              <a:t>BPDU</a:t>
            </a:r>
            <a:r>
              <a:rPr lang="zh-CN" altLang="en-US" dirty="0"/>
              <a:t>中的字段。</a:t>
            </a:r>
          </a:p>
          <a:p>
            <a:pPr lvl="2"/>
            <a:r>
              <a:rPr lang="zh-CN" altLang="en-US" dirty="0"/>
              <a:t>根桥选举：比较根桥</a:t>
            </a:r>
            <a:r>
              <a:rPr lang="en-US" altLang="zh-CN" dirty="0"/>
              <a:t>ID</a:t>
            </a:r>
            <a:r>
              <a:rPr lang="zh-CN" altLang="en-US" dirty="0"/>
              <a:t>，最小胜出。</a:t>
            </a:r>
          </a:p>
          <a:p>
            <a:pPr lvl="2"/>
            <a:r>
              <a:rPr lang="zh-CN" altLang="en-US" dirty="0"/>
              <a:t>根端口选举：依次比较</a:t>
            </a:r>
            <a:r>
              <a:rPr lang="en-US" altLang="zh-CN" dirty="0"/>
              <a:t>RPC</a:t>
            </a:r>
            <a:r>
              <a:rPr lang="zh-CN" altLang="en-US" dirty="0"/>
              <a:t>、对端</a:t>
            </a:r>
            <a:r>
              <a:rPr lang="en-US" altLang="zh-CN" dirty="0"/>
              <a:t>BID</a:t>
            </a:r>
            <a:r>
              <a:rPr lang="zh-CN" altLang="en-US" dirty="0"/>
              <a:t>、对端</a:t>
            </a:r>
            <a:r>
              <a:rPr lang="en-US" altLang="zh-CN" dirty="0"/>
              <a:t>PID</a:t>
            </a:r>
            <a:r>
              <a:rPr lang="zh-CN" altLang="en-US" dirty="0"/>
              <a:t>和本端</a:t>
            </a:r>
            <a:r>
              <a:rPr lang="en-US" altLang="zh-CN" dirty="0"/>
              <a:t>PID</a:t>
            </a:r>
            <a:r>
              <a:rPr lang="zh-CN" altLang="en-US" dirty="0"/>
              <a:t>，最小胜出。</a:t>
            </a:r>
          </a:p>
          <a:p>
            <a:pPr lvl="2"/>
            <a:r>
              <a:rPr lang="zh-CN" altLang="en-US" dirty="0"/>
              <a:t>指定端口选举：依次比较</a:t>
            </a:r>
            <a:r>
              <a:rPr lang="en-US" altLang="zh-CN" dirty="0"/>
              <a:t>RPC</a:t>
            </a:r>
            <a:r>
              <a:rPr lang="zh-CN" altLang="en-US" dirty="0"/>
              <a:t>、本端</a:t>
            </a:r>
            <a:r>
              <a:rPr lang="en-US" altLang="zh-CN" dirty="0"/>
              <a:t>BID</a:t>
            </a:r>
            <a:r>
              <a:rPr lang="zh-CN" altLang="en-US" dirty="0"/>
              <a:t>和本端</a:t>
            </a:r>
            <a:r>
              <a:rPr lang="en-US" altLang="zh-CN" dirty="0"/>
              <a:t>PID</a:t>
            </a:r>
            <a:r>
              <a:rPr lang="zh-CN" altLang="en-US" dirty="0"/>
              <a:t>，最小胜出。</a:t>
            </a:r>
          </a:p>
          <a:p>
            <a:pPr lvl="2"/>
            <a:r>
              <a:rPr lang="zh-CN" altLang="en-US" dirty="0"/>
              <a:t>在确定了根端口和指定端口之后，交换机上所有剩余的非根端口和非指定端口被阻塞。</a:t>
            </a:r>
          </a:p>
          <a:p>
            <a:endParaRPr lang="zh-CN" altLang="en-US" dirty="0"/>
          </a:p>
        </p:txBody>
      </p:sp>
    </p:spTree>
    <p:extLst>
      <p:ext uri="{BB962C8B-B14F-4D97-AF65-F5344CB8AC3E}">
        <p14:creationId xmlns:p14="http://schemas.microsoft.com/office/powerpoint/2010/main" val="30613396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443626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4211359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9901225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PBR</a:t>
            </a:r>
            <a:r>
              <a:rPr lang="zh-CN" altLang="en-US" dirty="0"/>
              <a:t>在敏捷园区业务编排场景、多出口场景、</a:t>
            </a:r>
            <a:r>
              <a:rPr lang="en-US" altLang="zh-CN" dirty="0"/>
              <a:t>Anti-</a:t>
            </a:r>
            <a:r>
              <a:rPr lang="en-US" altLang="zh-CN" dirty="0" err="1"/>
              <a:t>DDoS</a:t>
            </a:r>
            <a:r>
              <a:rPr lang="zh-CN" altLang="en-US" dirty="0"/>
              <a:t>旁挂场景等均有应用。</a:t>
            </a:r>
            <a:endParaRPr lang="en-US" altLang="zh-CN" dirty="0"/>
          </a:p>
          <a:p>
            <a:r>
              <a:rPr lang="en-US" altLang="zh-CN" dirty="0"/>
              <a:t>MQC</a:t>
            </a:r>
            <a:r>
              <a:rPr lang="zh-CN" altLang="en-US" dirty="0"/>
              <a:t>：</a:t>
            </a:r>
            <a:r>
              <a:rPr lang="en-US" altLang="zh-CN" dirty="0"/>
              <a:t>Modular </a:t>
            </a:r>
            <a:r>
              <a:rPr lang="en-US" altLang="zh-CN" dirty="0" err="1"/>
              <a:t>QoS</a:t>
            </a:r>
            <a:r>
              <a:rPr lang="en-US" altLang="zh-CN" dirty="0"/>
              <a:t> Command Line Interface</a:t>
            </a:r>
            <a:r>
              <a:rPr lang="zh-CN" altLang="en-US" dirty="0"/>
              <a:t>，模块化</a:t>
            </a:r>
            <a:r>
              <a:rPr lang="en-US" altLang="zh-CN" dirty="0" err="1"/>
              <a:t>QoS</a:t>
            </a:r>
            <a:r>
              <a:rPr lang="zh-CN" altLang="en-US" dirty="0"/>
              <a:t>命令</a:t>
            </a:r>
          </a:p>
          <a:p>
            <a:endParaRPr lang="zh-CN" altLang="en-US" dirty="0"/>
          </a:p>
          <a:p>
            <a:endParaRPr lang="zh-CN" altLang="en-US" dirty="0"/>
          </a:p>
        </p:txBody>
      </p:sp>
      <p:sp>
        <p:nvSpPr>
          <p:cNvPr id="5" name="幻灯片图像占位符 4"/>
          <p:cNvSpPr>
            <a:spLocks noGrp="1" noRot="1" noChangeAspect="1"/>
          </p:cNvSpPr>
          <p:nvPr>
            <p:ph type="sldImg"/>
          </p:nvPr>
        </p:nvSpPr>
        <p:spPr>
          <a:xfrm>
            <a:off x="744538" y="717550"/>
            <a:ext cx="5556250" cy="3125788"/>
          </a:xfrm>
        </p:spPr>
      </p:sp>
    </p:spTree>
    <p:extLst>
      <p:ext uri="{BB962C8B-B14F-4D97-AF65-F5344CB8AC3E}">
        <p14:creationId xmlns:p14="http://schemas.microsoft.com/office/powerpoint/2010/main" val="30574441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0204404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7141202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11238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764161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通常，同一网段内的所有主机上都设置一条相同的、以网关为下一跳的缺省路由。主机发往其他网段的报文将通过缺省路由发往网关，再由网关进行转发，从而实现主机与外部网络的通信。当网关发生故障时，本网段内所有以网关为缺省路由的主机将无法与外部网络通信。</a:t>
            </a:r>
            <a:endParaRPr lang="en-US" altLang="zh-CN" dirty="0"/>
          </a:p>
          <a:p>
            <a:pPr lvl="0"/>
            <a:r>
              <a:rPr lang="zh-CN" altLang="en-US" dirty="0"/>
              <a:t>虚拟路由冗余协议（</a:t>
            </a:r>
            <a:r>
              <a:rPr lang="en-US" altLang="zh-CN" dirty="0"/>
              <a:t>Virtual Router Redundancy Protocol</a:t>
            </a:r>
            <a:r>
              <a:rPr lang="zh-CN" altLang="en-US" dirty="0"/>
              <a:t>，</a:t>
            </a:r>
            <a:r>
              <a:rPr lang="en-US" altLang="zh-CN" dirty="0"/>
              <a:t>VRRP</a:t>
            </a:r>
            <a:r>
              <a:rPr lang="zh-CN" altLang="en-US" dirty="0"/>
              <a:t>）通过把几台路由设备联合组成一台虚拟的路由设备，将虚拟路由设备的</a:t>
            </a:r>
            <a:r>
              <a:rPr lang="en-US" altLang="zh-CN" dirty="0"/>
              <a:t>IP</a:t>
            </a:r>
            <a:r>
              <a:rPr lang="zh-CN" altLang="en-US" dirty="0"/>
              <a:t>地址作为用户的默认网关实现与外部网络通信。当网关设备发生故障时，</a:t>
            </a:r>
            <a:r>
              <a:rPr lang="en-US" altLang="zh-CN" dirty="0"/>
              <a:t>VRRP</a:t>
            </a:r>
            <a:r>
              <a:rPr lang="zh-CN" altLang="en-US" dirty="0"/>
              <a:t>机制能够选举新的网关设备承担数据流量，从而保障网络的可靠通信。</a:t>
            </a:r>
          </a:p>
          <a:p>
            <a:pPr lvl="1"/>
            <a:r>
              <a:rPr lang="zh-CN" altLang="en-US" dirty="0"/>
              <a:t>冗余备份：</a:t>
            </a:r>
            <a:r>
              <a:rPr lang="en-US" altLang="zh-CN" dirty="0"/>
              <a:t>VRRP</a:t>
            </a:r>
            <a:r>
              <a:rPr lang="zh-CN" altLang="en-US" dirty="0"/>
              <a:t>可以将多台路由设备配置为缺省网关路由器，当出现单点故障的时候通过备份链路进行业务传输，从而降低网络故障的可能性，保证用户的各种业务不中断传输。</a:t>
            </a:r>
          </a:p>
          <a:p>
            <a:pPr lvl="1"/>
            <a:r>
              <a:rPr lang="zh-CN" altLang="en-US" dirty="0"/>
              <a:t>负载分担：</a:t>
            </a:r>
            <a:r>
              <a:rPr lang="en-US" altLang="zh-CN" dirty="0"/>
              <a:t>VRRP</a:t>
            </a:r>
            <a:r>
              <a:rPr lang="zh-CN" altLang="en-US" dirty="0"/>
              <a:t>可以实现多台设备同时承担业务流量，从而减轻主用设备上数据流量的承载压力，在路由设备之间更均衡地分担流量。</a:t>
            </a:r>
          </a:p>
          <a:p>
            <a:pPr lvl="1"/>
            <a:r>
              <a:rPr lang="zh-CN" altLang="en-US" dirty="0"/>
              <a:t>联动功能：</a:t>
            </a:r>
            <a:r>
              <a:rPr lang="en-US" altLang="zh-CN" dirty="0"/>
              <a:t>VRRP</a:t>
            </a:r>
            <a:r>
              <a:rPr lang="zh-CN" altLang="en-US" dirty="0"/>
              <a:t>联动可以监视上行链路的故障。当上行接口或链路故障时，</a:t>
            </a:r>
            <a:r>
              <a:rPr lang="en-US" altLang="zh-CN" dirty="0"/>
              <a:t>VRRP</a:t>
            </a:r>
            <a:r>
              <a:rPr lang="zh-CN" altLang="en-US" dirty="0"/>
              <a:t>备份组的</a:t>
            </a:r>
            <a:r>
              <a:rPr lang="en-US" altLang="zh-CN" dirty="0"/>
              <a:t>Master</a:t>
            </a:r>
            <a:r>
              <a:rPr lang="zh-CN" altLang="en-US" dirty="0"/>
              <a:t>设备降低优先级，重新进行选举，确保</a:t>
            </a:r>
            <a:r>
              <a:rPr lang="en-US" altLang="zh-CN" dirty="0"/>
              <a:t>Master</a:t>
            </a:r>
            <a:r>
              <a:rPr lang="zh-CN" altLang="en-US" dirty="0"/>
              <a:t>路由器为最佳的</a:t>
            </a:r>
            <a:r>
              <a:rPr lang="en-US" altLang="zh-CN" dirty="0"/>
              <a:t>VRRP</a:t>
            </a:r>
            <a:r>
              <a:rPr lang="zh-CN" altLang="en-US" dirty="0"/>
              <a:t>路由设备，保证流量的正常转发。</a:t>
            </a:r>
            <a:r>
              <a:rPr lang="en-US" altLang="zh-CN" dirty="0"/>
              <a:t>VRRP</a:t>
            </a:r>
            <a:r>
              <a:rPr lang="zh-CN" altLang="en-US" dirty="0"/>
              <a:t>与</a:t>
            </a:r>
            <a:r>
              <a:rPr lang="en-US" altLang="zh-CN" dirty="0"/>
              <a:t>BFD</a:t>
            </a:r>
            <a:r>
              <a:rPr lang="zh-CN" altLang="en-US" dirty="0"/>
              <a:t>联动可以提高</a:t>
            </a:r>
            <a:r>
              <a:rPr lang="en-US" altLang="zh-CN" dirty="0"/>
              <a:t>VRRP</a:t>
            </a:r>
            <a:r>
              <a:rPr lang="zh-CN" altLang="en-US" dirty="0"/>
              <a:t>备份组中主备设备的切换速度。利用</a:t>
            </a:r>
            <a:r>
              <a:rPr lang="en-US" altLang="zh-CN" dirty="0"/>
              <a:t>BFD</a:t>
            </a:r>
            <a:r>
              <a:rPr lang="zh-CN" altLang="en-US" dirty="0"/>
              <a:t>检测速度快的特点，在</a:t>
            </a:r>
            <a:r>
              <a:rPr lang="en-US" altLang="zh-CN" dirty="0"/>
              <a:t>Master</a:t>
            </a:r>
            <a:r>
              <a:rPr lang="zh-CN" altLang="en-US" dirty="0"/>
              <a:t>设备和</a:t>
            </a:r>
            <a:r>
              <a:rPr lang="en-US" altLang="zh-CN" dirty="0"/>
              <a:t>Backup</a:t>
            </a:r>
            <a:r>
              <a:rPr lang="zh-CN" altLang="en-US" dirty="0"/>
              <a:t>设备之间建立</a:t>
            </a:r>
            <a:r>
              <a:rPr lang="en-US" altLang="zh-CN" dirty="0"/>
              <a:t>BFD</a:t>
            </a:r>
            <a:r>
              <a:rPr lang="zh-CN" altLang="en-US" dirty="0"/>
              <a:t>会话并与</a:t>
            </a:r>
            <a:r>
              <a:rPr lang="en-US" altLang="zh-CN" dirty="0"/>
              <a:t>VRRP</a:t>
            </a:r>
            <a:r>
              <a:rPr lang="zh-CN" altLang="en-US" dirty="0"/>
              <a:t>备份组进行绑定，实现</a:t>
            </a:r>
            <a:r>
              <a:rPr lang="en-US" altLang="zh-CN" dirty="0"/>
              <a:t>Master</a:t>
            </a:r>
            <a:r>
              <a:rPr lang="zh-CN" altLang="en-US" dirty="0"/>
              <a:t>设备和</a:t>
            </a:r>
            <a:r>
              <a:rPr lang="en-US" altLang="zh-CN" dirty="0"/>
              <a:t>Backup</a:t>
            </a:r>
            <a:r>
              <a:rPr lang="zh-CN" altLang="en-US" dirty="0"/>
              <a:t>设备之间的链路出现故障时，</a:t>
            </a:r>
            <a:r>
              <a:rPr lang="en-US" altLang="zh-CN" dirty="0"/>
              <a:t>Backup</a:t>
            </a:r>
            <a:r>
              <a:rPr lang="zh-CN" altLang="en-US" dirty="0"/>
              <a:t>设备迅速切换为</a:t>
            </a:r>
            <a:r>
              <a:rPr lang="en-US" altLang="zh-CN" dirty="0"/>
              <a:t>Master</a:t>
            </a:r>
            <a:r>
              <a:rPr lang="zh-CN" altLang="en-US" dirty="0"/>
              <a:t>，承担网络流量。</a:t>
            </a:r>
          </a:p>
          <a:p>
            <a:endParaRPr lang="zh-CN" altLang="en-US" dirty="0"/>
          </a:p>
        </p:txBody>
      </p:sp>
      <p:sp>
        <p:nvSpPr>
          <p:cNvPr id="5" name="幻灯片图像占位符 4"/>
          <p:cNvSpPr>
            <a:spLocks noGrp="1" noRot="1" noChangeAspect="1"/>
          </p:cNvSpPr>
          <p:nvPr>
            <p:ph type="sldImg"/>
          </p:nvPr>
        </p:nvSpPr>
        <p:spPr/>
      </p:sp>
    </p:spTree>
    <p:extLst>
      <p:ext uri="{BB962C8B-B14F-4D97-AF65-F5344CB8AC3E}">
        <p14:creationId xmlns:p14="http://schemas.microsoft.com/office/powerpoint/2010/main" val="205837401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473631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a:t>NQA</a:t>
            </a:r>
            <a:r>
              <a:rPr lang="zh-CN" altLang="en-US"/>
              <a:t>监测网络上运行的多种协议的性能，使用户能够实时采集到各种网络运行指标。</a:t>
            </a:r>
            <a:endParaRPr lang="en-US" altLang="zh-CN"/>
          </a:p>
          <a:p>
            <a:endParaRPr lang="zh-CN" altLang="en-US" dirty="0"/>
          </a:p>
        </p:txBody>
      </p:sp>
      <p:sp>
        <p:nvSpPr>
          <p:cNvPr id="5" name="幻灯片图像占位符 4"/>
          <p:cNvSpPr>
            <a:spLocks noGrp="1" noRot="1" noChangeAspect="1"/>
          </p:cNvSpPr>
          <p:nvPr>
            <p:ph type="sldImg"/>
          </p:nvPr>
        </p:nvSpPr>
        <p:spPr/>
      </p:sp>
    </p:spTree>
    <p:extLst>
      <p:ext uri="{BB962C8B-B14F-4D97-AF65-F5344CB8AC3E}">
        <p14:creationId xmlns:p14="http://schemas.microsoft.com/office/powerpoint/2010/main" val="350390594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端口隔离功能为用户提供了更安全、更灵活的组网方案。</a:t>
            </a:r>
          </a:p>
          <a:p>
            <a:r>
              <a:rPr lang="zh-CN" altLang="en-US" dirty="0"/>
              <a:t>在某些场景中，我们可能希望同一个</a:t>
            </a:r>
            <a:r>
              <a:rPr lang="en-US" altLang="zh-CN" dirty="0"/>
              <a:t>VLAN</a:t>
            </a:r>
            <a:r>
              <a:rPr lang="zh-CN" altLang="en-US" dirty="0"/>
              <a:t>内的终端之间交互的数据通过上层设备集中转发，而不是直接通过接入层交换机交互，这样可以确保流量不会通过接入层交换机直接交互，而必须经由上层设备转发，便于在上层设备部署流量管控策略，我们将这种模式称为集中转发模式。对于集中转发模式，由于下行二层设备都配置了端口隔离，需要网关上配置对应的</a:t>
            </a:r>
            <a:r>
              <a:rPr lang="en-US" altLang="zh-CN" dirty="0"/>
              <a:t>ARP</a:t>
            </a:r>
            <a:r>
              <a:rPr lang="zh-CN" altLang="en-US" dirty="0"/>
              <a:t>代理，一般采用的是</a:t>
            </a:r>
            <a:r>
              <a:rPr lang="en-US" altLang="zh-CN" dirty="0"/>
              <a:t>VLAN</a:t>
            </a:r>
            <a:r>
              <a:rPr lang="zh-CN" altLang="en-US" dirty="0"/>
              <a:t>内</a:t>
            </a:r>
            <a:r>
              <a:rPr lang="en-US" altLang="zh-CN" dirty="0"/>
              <a:t>ARP</a:t>
            </a:r>
            <a:r>
              <a:rPr lang="zh-CN" altLang="en-US" dirty="0"/>
              <a:t>代理。 </a:t>
            </a:r>
          </a:p>
        </p:txBody>
      </p:sp>
      <p:sp>
        <p:nvSpPr>
          <p:cNvPr id="5" name="幻灯片图像占位符 4"/>
          <p:cNvSpPr>
            <a:spLocks noGrp="1" noRot="1" noChangeAspect="1"/>
          </p:cNvSpPr>
          <p:nvPr>
            <p:ph type="sldImg"/>
          </p:nvPr>
        </p:nvSpPr>
        <p:spPr/>
      </p:sp>
    </p:spTree>
    <p:extLst>
      <p:ext uri="{BB962C8B-B14F-4D97-AF65-F5344CB8AC3E}">
        <p14:creationId xmlns:p14="http://schemas.microsoft.com/office/powerpoint/2010/main" val="265954059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通过在交换机的特定接口上部署端口安全，可以限制接口的</a:t>
            </a:r>
            <a:r>
              <a:rPr lang="en-US" altLang="zh-CN"/>
              <a:t>MAC</a:t>
            </a:r>
            <a:r>
              <a:rPr lang="zh-CN" altLang="en-US"/>
              <a:t>地址学习数量，并且配置出现违例时的惩罚措施。</a:t>
            </a:r>
            <a:endParaRPr lang="en-US" altLang="zh-CN"/>
          </a:p>
          <a:p>
            <a:r>
              <a:rPr lang="zh-CN" altLang="en-US"/>
              <a:t>另外，部署了端口安全的接口可以将其学习到的</a:t>
            </a:r>
            <a:r>
              <a:rPr lang="en-US" altLang="zh-CN"/>
              <a:t>MAC</a:t>
            </a:r>
            <a:r>
              <a:rPr lang="zh-CN" altLang="en-US"/>
              <a:t>地址转换为安全</a:t>
            </a:r>
            <a:r>
              <a:rPr lang="en-US" altLang="zh-CN"/>
              <a:t>MAC</a:t>
            </a:r>
            <a:r>
              <a:rPr lang="zh-CN" altLang="en-US"/>
              <a:t>地址，从而阻止除了安全地址之外的其他</a:t>
            </a:r>
            <a:r>
              <a:rPr lang="en-US" altLang="zh-CN"/>
              <a:t>MAC</a:t>
            </a:r>
            <a:r>
              <a:rPr lang="zh-CN" altLang="en-US"/>
              <a:t>地址通过该接口接入网络。</a:t>
            </a:r>
            <a:endParaRPr lang="en-US" altLang="zh-CN"/>
          </a:p>
          <a:p>
            <a:endParaRPr lang="zh-CN" altLang="en-US"/>
          </a:p>
          <a:p>
            <a:endParaRPr lang="zh-CN" altLang="en-US" dirty="0"/>
          </a:p>
        </p:txBody>
      </p:sp>
      <p:sp>
        <p:nvSpPr>
          <p:cNvPr id="5" name="幻灯片图像占位符 4"/>
          <p:cNvSpPr>
            <a:spLocks noGrp="1" noRot="1" noChangeAspect="1"/>
          </p:cNvSpPr>
          <p:nvPr>
            <p:ph type="sldImg"/>
          </p:nvPr>
        </p:nvSpPr>
        <p:spPr/>
      </p:sp>
    </p:spTree>
    <p:extLst>
      <p:ext uri="{BB962C8B-B14F-4D97-AF65-F5344CB8AC3E}">
        <p14:creationId xmlns:p14="http://schemas.microsoft.com/office/powerpoint/2010/main" val="98612900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689203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使能了</a:t>
            </a:r>
            <a:r>
              <a:rPr lang="en-US" altLang="zh-CN"/>
              <a:t>DHCP Snooping</a:t>
            </a:r>
            <a:r>
              <a:rPr lang="zh-CN" altLang="en-US"/>
              <a:t>的设备将用户（</a:t>
            </a:r>
            <a:r>
              <a:rPr lang="en-US" altLang="zh-CN"/>
              <a:t>DHCP</a:t>
            </a:r>
            <a:r>
              <a:rPr lang="zh-CN" altLang="en-US"/>
              <a:t>客户端）的</a:t>
            </a:r>
            <a:r>
              <a:rPr lang="en-US" altLang="zh-CN"/>
              <a:t>DHCP</a:t>
            </a:r>
            <a:r>
              <a:rPr lang="zh-CN" altLang="en-US"/>
              <a:t>请求报文通过信任接口发送给合法的</a:t>
            </a:r>
            <a:r>
              <a:rPr lang="en-US" altLang="zh-CN"/>
              <a:t>DHCP</a:t>
            </a:r>
            <a:r>
              <a:rPr lang="zh-CN" altLang="en-US"/>
              <a:t>服务器。之后设备根据</a:t>
            </a:r>
            <a:r>
              <a:rPr lang="en-US" altLang="zh-CN"/>
              <a:t>DHCP</a:t>
            </a:r>
            <a:r>
              <a:rPr lang="zh-CN" altLang="en-US"/>
              <a:t>服务器回应的</a:t>
            </a:r>
            <a:r>
              <a:rPr lang="en-US" altLang="zh-CN"/>
              <a:t>DHCP ACK</a:t>
            </a:r>
            <a:r>
              <a:rPr lang="zh-CN" altLang="en-US"/>
              <a:t>报文信息生成</a:t>
            </a:r>
            <a:r>
              <a:rPr lang="en-US" altLang="zh-CN"/>
              <a:t>DHCP Snooping</a:t>
            </a:r>
            <a:r>
              <a:rPr lang="zh-CN" altLang="en-US"/>
              <a:t>绑定表。后续设备再从使能了</a:t>
            </a:r>
            <a:r>
              <a:rPr lang="en-US" altLang="zh-CN"/>
              <a:t>DHCP Snooping</a:t>
            </a:r>
            <a:r>
              <a:rPr lang="zh-CN" altLang="en-US"/>
              <a:t>的接口接收用户发来的</a:t>
            </a:r>
            <a:r>
              <a:rPr lang="en-US" altLang="zh-CN"/>
              <a:t>DHCP</a:t>
            </a:r>
            <a:r>
              <a:rPr lang="zh-CN" altLang="en-US"/>
              <a:t>报文时，会进行匹配检查，能够有效防范非法用户的攻击。除此之外，</a:t>
            </a:r>
            <a:r>
              <a:rPr lang="en-US" altLang="zh-CN"/>
              <a:t>DHCP Snooping</a:t>
            </a:r>
            <a:r>
              <a:rPr lang="zh-CN" altLang="en-US"/>
              <a:t>还支持诸多安全特性，例如限制</a:t>
            </a:r>
            <a:r>
              <a:rPr lang="en-US" altLang="zh-CN"/>
              <a:t>DHCP</a:t>
            </a:r>
            <a:r>
              <a:rPr lang="zh-CN" altLang="en-US"/>
              <a:t>报文上送速率等。</a:t>
            </a:r>
          </a:p>
          <a:p>
            <a:endParaRPr lang="zh-CN" altLang="en-US" dirty="0"/>
          </a:p>
        </p:txBody>
      </p:sp>
      <p:sp>
        <p:nvSpPr>
          <p:cNvPr id="5" name="幻灯片图像占位符 4"/>
          <p:cNvSpPr>
            <a:spLocks noGrp="1" noRot="1" noChangeAspect="1"/>
          </p:cNvSpPr>
          <p:nvPr>
            <p:ph type="sldImg"/>
          </p:nvPr>
        </p:nvSpPr>
        <p:spPr/>
      </p:sp>
    </p:spTree>
    <p:extLst>
      <p:ext uri="{BB962C8B-B14F-4D97-AF65-F5344CB8AC3E}">
        <p14:creationId xmlns:p14="http://schemas.microsoft.com/office/powerpoint/2010/main" val="257595874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中间人攻击（</a:t>
            </a:r>
            <a:r>
              <a:rPr lang="en-US" altLang="zh-CN" dirty="0"/>
              <a:t>Man-in-the-middle attack</a:t>
            </a:r>
            <a:r>
              <a:rPr lang="zh-CN" altLang="en-US" dirty="0"/>
              <a:t>）是指攻击者与通讯的两端分别创建独立的联系，并交换其所收到的数据，使通讯的两端认为与对方直接对话，但事实上整个会话都被攻击者完全控制。在中间人攻击中，攻击者可以拦截通讯双方的通话并插入新的内容。</a:t>
            </a:r>
          </a:p>
          <a:p>
            <a:r>
              <a:rPr lang="zh-CN" altLang="en-US" dirty="0"/>
              <a:t>为了防御中间人攻击，可以在</a:t>
            </a:r>
            <a:r>
              <a:rPr lang="en-US" altLang="zh-CN" dirty="0"/>
              <a:t>Switch</a:t>
            </a:r>
            <a:r>
              <a:rPr lang="zh-CN" altLang="en-US" dirty="0"/>
              <a:t>上部署动态</a:t>
            </a:r>
            <a:r>
              <a:rPr lang="en-US" altLang="zh-CN" dirty="0"/>
              <a:t>ARP</a:t>
            </a:r>
            <a:r>
              <a:rPr lang="zh-CN" altLang="en-US" dirty="0"/>
              <a:t>检测功能。</a:t>
            </a:r>
          </a:p>
          <a:p>
            <a:pPr lvl="1"/>
            <a:r>
              <a:rPr lang="zh-CN" altLang="en-US" dirty="0"/>
              <a:t>动态</a:t>
            </a:r>
            <a:r>
              <a:rPr lang="en-US" altLang="zh-CN" dirty="0"/>
              <a:t>ARP</a:t>
            </a:r>
            <a:r>
              <a:rPr lang="zh-CN" altLang="en-US" dirty="0"/>
              <a:t>检测是利用绑定表来防御中间人攻击的。当交换机收到</a:t>
            </a:r>
            <a:r>
              <a:rPr lang="en-US" altLang="zh-CN" dirty="0"/>
              <a:t>ARP</a:t>
            </a:r>
            <a:r>
              <a:rPr lang="zh-CN" altLang="en-US" dirty="0"/>
              <a:t>报文时，将此</a:t>
            </a:r>
            <a:r>
              <a:rPr lang="en-US" altLang="zh-CN" dirty="0"/>
              <a:t>ARP</a:t>
            </a:r>
            <a:r>
              <a:rPr lang="zh-CN" altLang="en-US" dirty="0"/>
              <a:t>报文对应的源</a:t>
            </a:r>
            <a:r>
              <a:rPr lang="en-US" altLang="zh-CN" dirty="0"/>
              <a:t>IP</a:t>
            </a:r>
            <a:r>
              <a:rPr lang="zh-CN" altLang="en-US" dirty="0"/>
              <a:t>、源</a:t>
            </a:r>
            <a:r>
              <a:rPr lang="en-US" altLang="zh-CN" dirty="0"/>
              <a:t>MAC</a:t>
            </a:r>
            <a:r>
              <a:rPr lang="zh-CN" altLang="en-US" dirty="0"/>
              <a:t>、</a:t>
            </a:r>
            <a:r>
              <a:rPr lang="en-US" altLang="zh-CN" dirty="0"/>
              <a:t>VLAN</a:t>
            </a:r>
            <a:r>
              <a:rPr lang="zh-CN" altLang="en-US" dirty="0"/>
              <a:t>以及接口信息和绑定表的信息进行比较，如果信息匹配，说明发送该</a:t>
            </a:r>
            <a:r>
              <a:rPr lang="en-US" altLang="zh-CN" dirty="0"/>
              <a:t>ARP</a:t>
            </a:r>
            <a:r>
              <a:rPr lang="zh-CN" altLang="en-US" dirty="0"/>
              <a:t>报文的用户是合法用户，允许此用户的</a:t>
            </a:r>
            <a:r>
              <a:rPr lang="en-US" altLang="zh-CN" dirty="0"/>
              <a:t>ARP</a:t>
            </a:r>
            <a:r>
              <a:rPr lang="zh-CN" altLang="en-US" dirty="0"/>
              <a:t>报文通过，否则就认为是攻击，丢弃该</a:t>
            </a:r>
            <a:r>
              <a:rPr lang="en-US" altLang="zh-CN" dirty="0"/>
              <a:t>ARP</a:t>
            </a:r>
            <a:r>
              <a:rPr lang="zh-CN" altLang="en-US" dirty="0"/>
              <a:t>报文。</a:t>
            </a:r>
          </a:p>
          <a:p>
            <a:pPr lvl="1"/>
            <a:r>
              <a:rPr lang="zh-CN" altLang="en-US" dirty="0"/>
              <a:t>动态</a:t>
            </a:r>
            <a:r>
              <a:rPr lang="en-US" altLang="zh-CN" dirty="0"/>
              <a:t>ARP</a:t>
            </a:r>
            <a:r>
              <a:rPr lang="zh-CN" altLang="en-US" dirty="0"/>
              <a:t>检测功能仅适用于</a:t>
            </a:r>
            <a:r>
              <a:rPr lang="en-US" altLang="zh-CN" dirty="0"/>
              <a:t>DHCP Snooping</a:t>
            </a:r>
            <a:r>
              <a:rPr lang="zh-CN" altLang="en-US" dirty="0"/>
              <a:t>场景。设备使能</a:t>
            </a:r>
            <a:r>
              <a:rPr lang="en-US" altLang="zh-CN" dirty="0"/>
              <a:t>DHCP Snooping</a:t>
            </a:r>
            <a:r>
              <a:rPr lang="zh-CN" altLang="en-US" dirty="0"/>
              <a:t>功能后，当</a:t>
            </a:r>
            <a:r>
              <a:rPr lang="en-US" altLang="zh-CN" dirty="0"/>
              <a:t>DHCP</a:t>
            </a:r>
            <a:r>
              <a:rPr lang="zh-CN" altLang="en-US" dirty="0"/>
              <a:t>用户上线时，设备会自动生成</a:t>
            </a:r>
            <a:r>
              <a:rPr lang="en-US" altLang="zh-CN" dirty="0"/>
              <a:t>DHCP Snooping</a:t>
            </a:r>
            <a:r>
              <a:rPr lang="zh-CN" altLang="en-US" dirty="0"/>
              <a:t>绑定表；对于静态配置</a:t>
            </a:r>
            <a:r>
              <a:rPr lang="en-US" altLang="zh-CN" dirty="0"/>
              <a:t>IP</a:t>
            </a:r>
            <a:r>
              <a:rPr lang="zh-CN" altLang="en-US" dirty="0"/>
              <a:t>地址的用户，交换机不会生成</a:t>
            </a:r>
            <a:r>
              <a:rPr lang="en-US" altLang="zh-CN" dirty="0"/>
              <a:t>DHCP Snooping</a:t>
            </a:r>
            <a:r>
              <a:rPr lang="zh-CN" altLang="en-US" dirty="0"/>
              <a:t>绑定表，所以需要手动添加静态绑定表。</a:t>
            </a:r>
            <a:endParaRPr lang="en-US" altLang="zh-CN" dirty="0"/>
          </a:p>
          <a:p>
            <a:pPr lvl="1"/>
            <a:r>
              <a:rPr lang="zh-CN" altLang="en-US" dirty="0"/>
              <a:t>当交换机上部署动态</a:t>
            </a:r>
            <a:r>
              <a:rPr lang="en-US" altLang="zh-CN" dirty="0"/>
              <a:t>ARP</a:t>
            </a:r>
            <a:r>
              <a:rPr lang="zh-CN" altLang="en-US" dirty="0"/>
              <a:t>检测功能后，如果攻击者连接到交换机并试图发送伪造的</a:t>
            </a:r>
            <a:r>
              <a:rPr lang="en-US" altLang="zh-CN" dirty="0"/>
              <a:t>ARP</a:t>
            </a:r>
            <a:r>
              <a:rPr lang="zh-CN" altLang="en-US" dirty="0"/>
              <a:t>报文，交换机会根据绑定表检测到这种攻击行为，对该</a:t>
            </a:r>
            <a:r>
              <a:rPr lang="en-US" altLang="zh-CN" dirty="0"/>
              <a:t>ARP</a:t>
            </a:r>
            <a:r>
              <a:rPr lang="zh-CN" altLang="en-US" dirty="0"/>
              <a:t>报文进行丢弃处理。如果交换机上同时使能了动态</a:t>
            </a:r>
            <a:r>
              <a:rPr lang="en-US" altLang="zh-CN" dirty="0"/>
              <a:t>ARP</a:t>
            </a:r>
            <a:r>
              <a:rPr lang="zh-CN" altLang="en-US" dirty="0"/>
              <a:t>检测丢弃报文告警功能，则当</a:t>
            </a:r>
            <a:r>
              <a:rPr lang="en-US" altLang="zh-CN" dirty="0"/>
              <a:t>ARP</a:t>
            </a:r>
            <a:r>
              <a:rPr lang="zh-CN" altLang="en-US" dirty="0"/>
              <a:t>报文因不匹配绑定表而被丢弃的数量超过了告警阈值时，交换机会发出告警通知管理员。</a:t>
            </a:r>
          </a:p>
          <a:p>
            <a:endParaRPr lang="zh-CN" altLang="en-US" dirty="0"/>
          </a:p>
        </p:txBody>
      </p:sp>
      <p:sp>
        <p:nvSpPr>
          <p:cNvPr id="5" name="幻灯片图像占位符 4"/>
          <p:cNvSpPr>
            <a:spLocks noGrp="1" noRot="1" noChangeAspect="1"/>
          </p:cNvSpPr>
          <p:nvPr>
            <p:ph type="sldImg"/>
          </p:nvPr>
        </p:nvSpPr>
        <p:spPr/>
      </p:sp>
    </p:spTree>
    <p:extLst>
      <p:ext uri="{BB962C8B-B14F-4D97-AF65-F5344CB8AC3E}">
        <p14:creationId xmlns:p14="http://schemas.microsoft.com/office/powerpoint/2010/main" val="334100485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r>
              <a:rPr lang="zh-CN" altLang="en-US" dirty="0"/>
              <a:t>随着网络规模越来越大，通过伪造源</a:t>
            </a:r>
            <a:r>
              <a:rPr lang="en-US" altLang="zh-CN" dirty="0"/>
              <a:t>IP</a:t>
            </a:r>
            <a:r>
              <a:rPr lang="zh-CN" altLang="en-US" dirty="0"/>
              <a:t>地址实施的网络攻击（简称</a:t>
            </a:r>
            <a:r>
              <a:rPr lang="en-US" altLang="zh-CN" dirty="0"/>
              <a:t>IP</a:t>
            </a:r>
            <a:r>
              <a:rPr lang="zh-CN" altLang="en-US" dirty="0"/>
              <a:t>地址欺骗攻击）也逐渐增多。一些攻击者通过伪造合法用户的</a:t>
            </a:r>
            <a:r>
              <a:rPr lang="en-US" altLang="zh-CN" dirty="0"/>
              <a:t>IP</a:t>
            </a:r>
            <a:r>
              <a:rPr lang="zh-CN" altLang="en-US" dirty="0"/>
              <a:t>地址获取网络访问权限，非法访问网络，甚至造成合法用户无法访问网络，或者信息泄露。</a:t>
            </a:r>
            <a:endParaRPr lang="en-US" altLang="zh-CN" dirty="0"/>
          </a:p>
          <a:p>
            <a:r>
              <a:rPr lang="en-US" altLang="zh-CN" dirty="0"/>
              <a:t>IPSG</a:t>
            </a:r>
            <a:r>
              <a:rPr lang="zh-CN" altLang="en-US" dirty="0"/>
              <a:t>针对</a:t>
            </a:r>
            <a:r>
              <a:rPr lang="en-US" altLang="zh-CN" dirty="0"/>
              <a:t>IP</a:t>
            </a:r>
            <a:r>
              <a:rPr lang="zh-CN" altLang="en-US" dirty="0"/>
              <a:t>地址欺骗攻击提供了一种防御机制，可以有效阻止此类网络攻击行为。</a:t>
            </a:r>
            <a:endParaRPr lang="en-US" altLang="zh-CN" dirty="0"/>
          </a:p>
          <a:p>
            <a:pPr lvl="1"/>
            <a:r>
              <a:rPr lang="zh-CN" altLang="en-US" dirty="0"/>
              <a:t>绑定表可以是静态的，也可以是</a:t>
            </a:r>
            <a:r>
              <a:rPr lang="en-US" altLang="zh-CN" dirty="0"/>
              <a:t>DHCP Snooping</a:t>
            </a:r>
            <a:r>
              <a:rPr lang="zh-CN" altLang="en-US" dirty="0"/>
              <a:t>动态绑定表。</a:t>
            </a:r>
            <a:endParaRPr lang="en-US" altLang="zh-CN" dirty="0"/>
          </a:p>
          <a:p>
            <a:pPr lvl="1"/>
            <a:r>
              <a:rPr lang="en-US" altLang="zh-CN" dirty="0"/>
              <a:t>IPSG</a:t>
            </a:r>
            <a:r>
              <a:rPr lang="zh-CN" altLang="en-US" dirty="0"/>
              <a:t>只匹配检查主机发送的</a:t>
            </a:r>
            <a:r>
              <a:rPr lang="en-US" altLang="zh-CN" dirty="0"/>
              <a:t>IP</a:t>
            </a:r>
            <a:r>
              <a:rPr lang="zh-CN" altLang="en-US" dirty="0"/>
              <a:t>报文，对于</a:t>
            </a:r>
            <a:r>
              <a:rPr lang="en-US" altLang="zh-CN" dirty="0"/>
              <a:t>ARP</a:t>
            </a:r>
            <a:r>
              <a:rPr lang="zh-CN" altLang="en-US" dirty="0"/>
              <a:t>等非</a:t>
            </a:r>
            <a:r>
              <a:rPr lang="en-US" altLang="zh-CN" dirty="0"/>
              <a:t>IP</a:t>
            </a:r>
            <a:r>
              <a:rPr lang="zh-CN" altLang="en-US" dirty="0"/>
              <a:t>报文不做匹配检查。</a:t>
            </a:r>
          </a:p>
        </p:txBody>
      </p:sp>
    </p:spTree>
    <p:extLst>
      <p:ext uri="{BB962C8B-B14F-4D97-AF65-F5344CB8AC3E}">
        <p14:creationId xmlns:p14="http://schemas.microsoft.com/office/powerpoint/2010/main" val="116057095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4538" y="717550"/>
            <a:ext cx="5556250"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4569685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pPr marL="180000" marR="0" lvl="0" indent="-180000" algn="l" defTabSz="1219304" rtl="0" eaLnBrk="1" fontAlgn="ctr" latinLnBrk="0" hangingPunct="1">
              <a:lnSpc>
                <a:spcPct val="125000"/>
              </a:lnSpc>
              <a:spcBef>
                <a:spcPts val="0"/>
              </a:spcBef>
              <a:spcAft>
                <a:spcPts val="600"/>
              </a:spcAft>
              <a:buClrTx/>
              <a:buSzTx/>
              <a:buFont typeface="Huawei Sans" panose="020C0503030203020204" pitchFamily="34" charset="0"/>
              <a:buChar char="•"/>
              <a:tabLst/>
              <a:defRPr/>
            </a:pPr>
            <a:r>
              <a:rPr lang="zh-CN" altLang="en-US" dirty="0"/>
              <a:t>除了使用</a:t>
            </a:r>
            <a:r>
              <a:rPr lang="en-US" altLang="zh-CN" dirty="0"/>
              <a:t>NAC</a:t>
            </a:r>
            <a:r>
              <a:rPr lang="zh-CN" altLang="en-US" dirty="0"/>
              <a:t>技术实现对接入网络的用户进行认证和权限控制以外，园区网络中也经常需要对管理员用户（又称</a:t>
            </a:r>
            <a:r>
              <a:rPr lang="en-US" altLang="zh-CN" dirty="0"/>
              <a:t>Login</a:t>
            </a:r>
            <a:r>
              <a:rPr lang="zh-CN" altLang="en-US" dirty="0"/>
              <a:t>用户，指可以登录设备的用户。包括通过</a:t>
            </a:r>
            <a:r>
              <a:rPr lang="en-US" altLang="zh-CN" dirty="0"/>
              <a:t>FTP</a:t>
            </a:r>
            <a:r>
              <a:rPr lang="zh-CN" altLang="en-US" dirty="0"/>
              <a:t>、</a:t>
            </a:r>
            <a:r>
              <a:rPr lang="en-US" altLang="zh-CN" dirty="0"/>
              <a:t>HTTP</a:t>
            </a:r>
            <a:r>
              <a:rPr lang="zh-CN" altLang="en-US" dirty="0"/>
              <a:t>、</a:t>
            </a:r>
            <a:r>
              <a:rPr lang="en-US" altLang="zh-CN" dirty="0"/>
              <a:t>SSH</a:t>
            </a:r>
            <a:r>
              <a:rPr lang="zh-CN" altLang="en-US" dirty="0"/>
              <a:t>、</a:t>
            </a:r>
            <a:r>
              <a:rPr lang="en-US" altLang="zh-CN" dirty="0"/>
              <a:t>Telnet</a:t>
            </a:r>
            <a:r>
              <a:rPr lang="zh-CN" altLang="en-US" dirty="0"/>
              <a:t>和</a:t>
            </a:r>
            <a:r>
              <a:rPr lang="en-US" altLang="zh-CN" dirty="0"/>
              <a:t>Console</a:t>
            </a:r>
            <a:r>
              <a:rPr lang="zh-CN" altLang="en-US" dirty="0"/>
              <a:t>方式登录设备的用户）进行认证和权限控制。</a:t>
            </a:r>
            <a:endParaRPr lang="en-US" altLang="zh-CN" dirty="0"/>
          </a:p>
          <a:p>
            <a:endParaRPr lang="zh-CN" altLang="en-US" dirty="0"/>
          </a:p>
        </p:txBody>
      </p:sp>
    </p:spTree>
    <p:extLst>
      <p:ext uri="{BB962C8B-B14F-4D97-AF65-F5344CB8AC3E}">
        <p14:creationId xmlns:p14="http://schemas.microsoft.com/office/powerpoint/2010/main" val="8923001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动态主机配置协议（</a:t>
            </a:r>
            <a:r>
              <a:rPr lang="en-US" altLang="zh-CN" dirty="0"/>
              <a:t>Dynamic Host Configuration Protocol</a:t>
            </a:r>
            <a:r>
              <a:rPr lang="zh-CN" altLang="en-US" dirty="0"/>
              <a:t>，</a:t>
            </a:r>
            <a:r>
              <a:rPr lang="en-US" altLang="zh-CN" dirty="0"/>
              <a:t>DHCP</a:t>
            </a:r>
            <a:r>
              <a:rPr lang="zh-CN" altLang="en-US" dirty="0"/>
              <a:t>）是一种用于集中对用户</a:t>
            </a:r>
            <a:r>
              <a:rPr lang="en-US" altLang="zh-CN" dirty="0"/>
              <a:t>IP</a:t>
            </a:r>
            <a:r>
              <a:rPr lang="zh-CN" altLang="en-US" dirty="0"/>
              <a:t>地址进行动态管理和配置的技术。</a:t>
            </a:r>
            <a:r>
              <a:rPr lang="en-US" altLang="zh-CN" dirty="0"/>
              <a:t>DHCP</a:t>
            </a:r>
            <a:r>
              <a:rPr lang="zh-CN" altLang="en-US" dirty="0"/>
              <a:t>由</a:t>
            </a:r>
            <a:r>
              <a:rPr lang="en-US" altLang="zh-CN" dirty="0"/>
              <a:t>RFC2131</a:t>
            </a:r>
            <a:r>
              <a:rPr lang="zh-CN" altLang="en-US" dirty="0"/>
              <a:t>定义，采用客户端</a:t>
            </a:r>
            <a:r>
              <a:rPr lang="en-US" altLang="zh-CN" dirty="0"/>
              <a:t>/</a:t>
            </a:r>
            <a:r>
              <a:rPr lang="zh-CN" altLang="en-US" dirty="0"/>
              <a:t>服务器通信模式，由客户端（</a:t>
            </a:r>
            <a:r>
              <a:rPr lang="en-US" altLang="zh-CN" dirty="0"/>
              <a:t>DHCP Client</a:t>
            </a:r>
            <a:r>
              <a:rPr lang="zh-CN" altLang="en-US" dirty="0"/>
              <a:t>）向服务器（</a:t>
            </a:r>
            <a:r>
              <a:rPr lang="en-US" altLang="zh-CN" dirty="0"/>
              <a:t>DHCP Server</a:t>
            </a:r>
            <a:r>
              <a:rPr lang="zh-CN" altLang="en-US" dirty="0"/>
              <a:t>）提出配置申请，服务器返回为客户端分配的配置信息。</a:t>
            </a:r>
          </a:p>
          <a:p>
            <a:pPr lvl="1"/>
            <a:r>
              <a:rPr lang="en-US" altLang="zh-CN" dirty="0"/>
              <a:t>DHCP</a:t>
            </a:r>
            <a:r>
              <a:rPr lang="zh-CN" altLang="en-US" dirty="0"/>
              <a:t>允许计算机动态地获取</a:t>
            </a:r>
            <a:r>
              <a:rPr lang="en-US" altLang="zh-CN" dirty="0"/>
              <a:t>IP</a:t>
            </a:r>
            <a:r>
              <a:rPr lang="zh-CN" altLang="en-US" dirty="0"/>
              <a:t>地址，而不是静态为每台主机指定地址。</a:t>
            </a:r>
          </a:p>
          <a:p>
            <a:pPr lvl="1"/>
            <a:r>
              <a:rPr lang="en-US" altLang="zh-CN" dirty="0"/>
              <a:t>DHCP</a:t>
            </a:r>
            <a:r>
              <a:rPr lang="zh-CN" altLang="en-US" dirty="0"/>
              <a:t>能够分配其他配置参数，例如客户端的启动配置文件，使客户端仅用一个消息就获取它所需要的所有配置信息。</a:t>
            </a:r>
          </a:p>
          <a:p>
            <a:pPr lvl="1"/>
            <a:r>
              <a:rPr lang="en-US" altLang="zh-CN" dirty="0"/>
              <a:t>DHCP</a:t>
            </a:r>
            <a:r>
              <a:rPr lang="zh-CN" altLang="en-US" dirty="0"/>
              <a:t>可以提供两种地址分配机制，网络管理员可以根据网络需求为不同的主机选择不同的分配策略。</a:t>
            </a:r>
          </a:p>
          <a:p>
            <a:pPr lvl="2"/>
            <a:r>
              <a:rPr lang="zh-CN" altLang="en-US" dirty="0"/>
              <a:t>动态分配机制：通过</a:t>
            </a:r>
            <a:r>
              <a:rPr lang="en-US" altLang="zh-CN" dirty="0"/>
              <a:t>DHCP</a:t>
            </a:r>
            <a:r>
              <a:rPr lang="zh-CN" altLang="en-US" dirty="0"/>
              <a:t>为主机分配一个有使用期限（这个使用期限通常叫做租期）的</a:t>
            </a:r>
            <a:r>
              <a:rPr lang="en-US" altLang="zh-CN" dirty="0"/>
              <a:t>IP</a:t>
            </a:r>
            <a:r>
              <a:rPr lang="zh-CN" altLang="en-US" dirty="0"/>
              <a:t>地址。这种分配机制适用于主机需要临时接入网络或者空闲地址数小于网络主机总数且主机不需要永久连接网络的场景。</a:t>
            </a:r>
          </a:p>
          <a:p>
            <a:pPr lvl="2"/>
            <a:r>
              <a:rPr lang="zh-CN" altLang="en-US" dirty="0"/>
              <a:t>静态分配机制：网络管理员通过</a:t>
            </a:r>
            <a:r>
              <a:rPr lang="en-US" altLang="zh-CN" dirty="0"/>
              <a:t>DHCP</a:t>
            </a:r>
            <a:r>
              <a:rPr lang="zh-CN" altLang="en-US" dirty="0"/>
              <a:t>为指定的主机分配固定的</a:t>
            </a:r>
            <a:r>
              <a:rPr lang="en-US" altLang="zh-CN" dirty="0"/>
              <a:t>IP</a:t>
            </a:r>
            <a:r>
              <a:rPr lang="zh-CN" altLang="en-US" dirty="0"/>
              <a:t>地址。相比手工静态配置</a:t>
            </a:r>
            <a:r>
              <a:rPr lang="en-US" altLang="zh-CN" dirty="0"/>
              <a:t>IP</a:t>
            </a:r>
            <a:r>
              <a:rPr lang="zh-CN" altLang="en-US" dirty="0"/>
              <a:t>地址，通过</a:t>
            </a:r>
            <a:r>
              <a:rPr lang="en-US" altLang="zh-CN" dirty="0"/>
              <a:t>DHCP</a:t>
            </a:r>
            <a:r>
              <a:rPr lang="zh-CN" altLang="en-US" dirty="0"/>
              <a:t>方式静态分配机制避免人工配置发生错误，方便管理员统一维护管理。</a:t>
            </a:r>
            <a:endParaRPr lang="en-US" altLang="zh-CN" dirty="0"/>
          </a:p>
          <a:p>
            <a:r>
              <a:rPr lang="en-US" altLang="zh-CN" dirty="0"/>
              <a:t>DHCP</a:t>
            </a:r>
            <a:r>
              <a:rPr lang="zh-CN" altLang="en-US" dirty="0"/>
              <a:t>主要有以下两个优点：</a:t>
            </a:r>
          </a:p>
          <a:p>
            <a:pPr lvl="1"/>
            <a:r>
              <a:rPr lang="zh-CN" altLang="en-US" dirty="0"/>
              <a:t>降低客户端的配置和维护成本。</a:t>
            </a:r>
          </a:p>
          <a:p>
            <a:pPr lvl="1"/>
            <a:r>
              <a:rPr lang="zh-CN" altLang="en-US" dirty="0"/>
              <a:t>集中管理有限的</a:t>
            </a:r>
            <a:r>
              <a:rPr lang="en-US" altLang="zh-CN" dirty="0"/>
              <a:t>IP</a:t>
            </a:r>
            <a:r>
              <a:rPr lang="zh-CN" altLang="en-US" dirty="0"/>
              <a:t>地址资源。</a:t>
            </a:r>
          </a:p>
          <a:p>
            <a:endParaRPr lang="zh-CN" altLang="en-US" dirty="0"/>
          </a:p>
        </p:txBody>
      </p:sp>
      <p:sp>
        <p:nvSpPr>
          <p:cNvPr id="5" name="幻灯片图像占位符 4"/>
          <p:cNvSpPr>
            <a:spLocks noGrp="1" noRot="1" noChangeAspect="1"/>
          </p:cNvSpPr>
          <p:nvPr>
            <p:ph type="sldImg"/>
          </p:nvPr>
        </p:nvSpPr>
        <p:spPr/>
      </p:sp>
    </p:spTree>
    <p:extLst>
      <p:ext uri="{BB962C8B-B14F-4D97-AF65-F5344CB8AC3E}">
        <p14:creationId xmlns:p14="http://schemas.microsoft.com/office/powerpoint/2010/main" val="186390705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90543454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27942354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93713006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r>
              <a:rPr lang="zh-CN" altLang="en-US" dirty="0"/>
              <a:t>设备即插即用的本质就是设备与控制器之间建立起</a:t>
            </a:r>
            <a:r>
              <a:rPr lang="en-US" altLang="zh-CN" dirty="0"/>
              <a:t>NETCONF</a:t>
            </a:r>
            <a:r>
              <a:rPr lang="zh-CN" altLang="en-US" dirty="0"/>
              <a:t>会话，随即控制器会向设备下发配置。</a:t>
            </a:r>
          </a:p>
        </p:txBody>
      </p:sp>
    </p:spTree>
    <p:extLst>
      <p:ext uri="{BB962C8B-B14F-4D97-AF65-F5344CB8AC3E}">
        <p14:creationId xmlns:p14="http://schemas.microsoft.com/office/powerpoint/2010/main" val="71885739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71400506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r>
              <a:rPr lang="en-US" altLang="zh-CN" dirty="0"/>
              <a:t>LLDP</a:t>
            </a:r>
            <a:r>
              <a:rPr lang="zh-CN" altLang="en-US" dirty="0"/>
              <a:t>（</a:t>
            </a:r>
            <a:r>
              <a:rPr lang="en-US" altLang="zh-CN" dirty="0"/>
              <a:t>Link Layer Discovery Protocol</a:t>
            </a:r>
            <a:r>
              <a:rPr lang="zh-CN" altLang="en-US" dirty="0"/>
              <a:t>，链路层发现协议）是</a:t>
            </a:r>
            <a:r>
              <a:rPr lang="en-US" altLang="zh-CN" dirty="0"/>
              <a:t>IEEE 802.1ab</a:t>
            </a:r>
            <a:r>
              <a:rPr lang="zh-CN" altLang="en-US" dirty="0"/>
              <a:t>中定义的链路层发现协议。</a:t>
            </a:r>
            <a:r>
              <a:rPr lang="en-US" altLang="zh-CN" dirty="0"/>
              <a:t>LLDP</a:t>
            </a:r>
            <a:r>
              <a:rPr lang="zh-CN" altLang="en-US" dirty="0"/>
              <a:t>是一种标准的二层发现方式，可以将本端设备的管理地址、设备标识、接口标识等信息组织起来，并发布给自己的邻居设备，邻居设备收到这些信息后将其以标准的管理信息库（</a:t>
            </a:r>
            <a:r>
              <a:rPr lang="en-US" altLang="zh-CN" dirty="0"/>
              <a:t>Management Information Base</a:t>
            </a:r>
            <a:r>
              <a:rPr lang="zh-CN" altLang="en-US" dirty="0"/>
              <a:t>，</a:t>
            </a:r>
            <a:r>
              <a:rPr lang="en-US" altLang="zh-CN" dirty="0"/>
              <a:t>MIB</a:t>
            </a:r>
            <a:r>
              <a:rPr lang="zh-CN" altLang="en-US" dirty="0"/>
              <a:t>）的形式保存起来，以供网络管理系统查询及判断链路的通信状况。</a:t>
            </a:r>
          </a:p>
          <a:p>
            <a:r>
              <a:rPr lang="zh-CN" altLang="en-US" dirty="0"/>
              <a:t>随着网络规模越来越大，网络设备种类繁多，并且各自的配置错综复杂，对网络管理能力的要求也越来越高。传统网络管理系统多数只能分析到三层网络拓扑结构，无法确定网络设备的详细拓扑信息、是否存在配置冲突等。因此需要有一个标准的二层信息交流协议。</a:t>
            </a:r>
          </a:p>
          <a:p>
            <a:r>
              <a:rPr lang="en-US" altLang="zh-CN" dirty="0"/>
              <a:t>LLDP</a:t>
            </a:r>
            <a:r>
              <a:rPr lang="zh-CN" altLang="en-US" dirty="0"/>
              <a:t>提供了一种标准的链路层发现方式。通过</a:t>
            </a:r>
            <a:r>
              <a:rPr lang="en-US" altLang="zh-CN" dirty="0"/>
              <a:t>LLDP</a:t>
            </a:r>
            <a:r>
              <a:rPr lang="zh-CN" altLang="en-US" dirty="0"/>
              <a:t>获取的设备二层信息能够快速获取相连设备的拓扑状态；显示出客户端、交换机、路由器、应用服务器以及网络服务器之间的路径；检测设备间的配置冲突、查询网络失败的原因。企业网用户可以通过使用网管系统，对支持运行</a:t>
            </a:r>
            <a:r>
              <a:rPr lang="en-US" altLang="zh-CN" dirty="0"/>
              <a:t>LLDP</a:t>
            </a:r>
            <a:r>
              <a:rPr lang="zh-CN" altLang="en-US" dirty="0"/>
              <a:t>协议的设备进行链路状态监控，在网络发生故障的时候快速进行故障定位。</a:t>
            </a:r>
          </a:p>
          <a:p>
            <a:endParaRPr lang="zh-CN" altLang="en-US" i="0" dirty="0"/>
          </a:p>
        </p:txBody>
      </p:sp>
    </p:spTree>
    <p:extLst>
      <p:ext uri="{BB962C8B-B14F-4D97-AF65-F5344CB8AC3E}">
        <p14:creationId xmlns:p14="http://schemas.microsoft.com/office/powerpoint/2010/main" val="284472223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71549221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0862824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8536904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2674635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92603304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r>
              <a:rPr lang="en-US" altLang="zh-CN" dirty="0"/>
              <a:t>B/S</a:t>
            </a:r>
            <a:r>
              <a:rPr lang="zh-CN" altLang="en-US" dirty="0"/>
              <a:t>：</a:t>
            </a:r>
            <a:r>
              <a:rPr lang="en-US" altLang="zh-CN" dirty="0"/>
              <a:t>Browser/Server</a:t>
            </a:r>
            <a:r>
              <a:rPr lang="zh-CN" altLang="en-US" dirty="0"/>
              <a:t>，浏览器</a:t>
            </a:r>
            <a:r>
              <a:rPr lang="en-US" altLang="zh-CN" dirty="0"/>
              <a:t>/</a:t>
            </a:r>
            <a:r>
              <a:rPr lang="zh-CN" altLang="en-US" dirty="0"/>
              <a:t>服务器模式</a:t>
            </a:r>
          </a:p>
          <a:p>
            <a:endParaRPr lang="zh-CN" altLang="en-US" dirty="0"/>
          </a:p>
        </p:txBody>
      </p:sp>
    </p:spTree>
    <p:extLst>
      <p:ext uri="{BB962C8B-B14F-4D97-AF65-F5344CB8AC3E}">
        <p14:creationId xmlns:p14="http://schemas.microsoft.com/office/powerpoint/2010/main" val="50268745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幻灯片图像占位符 5"/>
          <p:cNvSpPr>
            <a:spLocks noGrp="1" noRot="1" noChangeAspect="1"/>
          </p:cNvSpPr>
          <p:nvPr>
            <p:ph type="sldImg"/>
          </p:nvPr>
        </p:nvSpPr>
        <p:spPr>
          <a:xfrm>
            <a:off x="744538" y="717550"/>
            <a:ext cx="5556250" cy="3125788"/>
          </a:xfrm>
        </p:spPr>
      </p:sp>
      <p:sp>
        <p:nvSpPr>
          <p:cNvPr id="7" name="备注占位符 6"/>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2217170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5257027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56346386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r>
              <a:rPr lang="en-US" altLang="zh-CN" dirty="0"/>
              <a:t>ERP</a:t>
            </a:r>
            <a:r>
              <a:rPr lang="zh-CN" altLang="en-US" dirty="0"/>
              <a:t>：</a:t>
            </a:r>
            <a:r>
              <a:rPr lang="en-US" altLang="zh-CN" dirty="0"/>
              <a:t>Enterprise Resource Planning</a:t>
            </a:r>
            <a:r>
              <a:rPr lang="zh-CN" altLang="en-US"/>
              <a:t>，企业资源计划</a:t>
            </a:r>
          </a:p>
          <a:p>
            <a:endParaRPr lang="zh-CN" altLang="en-US"/>
          </a:p>
        </p:txBody>
      </p:sp>
    </p:spTree>
    <p:extLst>
      <p:ext uri="{BB962C8B-B14F-4D97-AF65-F5344CB8AC3E}">
        <p14:creationId xmlns:p14="http://schemas.microsoft.com/office/powerpoint/2010/main" val="227279489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pPr marL="228600" lvl="0" indent="-228600">
              <a:buFont typeface="+mj-lt"/>
              <a:buAutoNum type="arabicPeriod"/>
            </a:pPr>
            <a:r>
              <a:rPr lang="en-US" altLang="zh-CN" dirty="0"/>
              <a:t>BCD</a:t>
            </a:r>
          </a:p>
          <a:p>
            <a:pPr marL="228600" lvl="0" indent="-228600">
              <a:buFont typeface="+mj-lt"/>
              <a:buAutoNum type="arabicPeriod"/>
            </a:pPr>
            <a:r>
              <a:rPr lang="en-US" altLang="zh-CN" dirty="0"/>
              <a:t>A</a:t>
            </a:r>
            <a:endParaRPr lang="zh-CN" altLang="en-US" dirty="0"/>
          </a:p>
        </p:txBody>
      </p:sp>
    </p:spTree>
    <p:extLst>
      <p:ext uri="{BB962C8B-B14F-4D97-AF65-F5344CB8AC3E}">
        <p14:creationId xmlns:p14="http://schemas.microsoft.com/office/powerpoint/2010/main" val="132420644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4136020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4538" y="717550"/>
            <a:ext cx="5556250"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788044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2#总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21"/>
            <a:ext cx="12192000" cy="5602224"/>
          </a:xfrm>
          <a:prstGeom prst="rect">
            <a:avLst/>
          </a:prstGeom>
          <a:ln>
            <a:noFill/>
            <a:prstDash val="dash"/>
          </a:ln>
        </p:spPr>
      </p:pic>
      <p:sp>
        <p:nvSpPr>
          <p:cNvPr id="8" name="L 形 7"/>
          <p:cNvSpPr/>
          <p:nvPr userDrawn="1"/>
        </p:nvSpPr>
        <p:spPr>
          <a:xfrm rot="16200000" flipH="1">
            <a:off x="6634196" y="2578036"/>
            <a:ext cx="701032" cy="71765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baseline="0">
              <a:latin typeface="Huawei Sans" panose="020C0503030203020204" pitchFamily="34" charset="0"/>
              <a:ea typeface="方正兰亭黑简体" panose="02000000000000000000" pitchFamily="2" charset="-122"/>
            </a:endParaRPr>
          </a:p>
        </p:txBody>
      </p:sp>
      <p:sp>
        <p:nvSpPr>
          <p:cNvPr id="9" name="Title 1">
            <a:extLst>
              <a:ext uri="{FF2B5EF4-FFF2-40B4-BE49-F238E27FC236}">
                <a16:creationId xmlns:a16="http://schemas.microsoft.com/office/drawing/2014/main" id="{8227DEE9-8BE9-0D49-BF96-9E83C5312E00}"/>
              </a:ext>
            </a:extLst>
          </p:cNvPr>
          <p:cNvSpPr>
            <a:spLocks noGrp="1"/>
          </p:cNvSpPr>
          <p:nvPr>
            <p:ph type="ctrTitle" hasCustomPrompt="1"/>
          </p:nvPr>
        </p:nvSpPr>
        <p:spPr>
          <a:xfrm>
            <a:off x="916560" y="907092"/>
            <a:ext cx="8125839" cy="690255"/>
          </a:xfrm>
          <a:prstGeom prst="rect">
            <a:avLst/>
          </a:prstGeom>
          <a:ln>
            <a:noFill/>
            <a:prstDash val="dash"/>
          </a:ln>
        </p:spPr>
        <p:txBody>
          <a:bodyPr lIns="0" tIns="0" rIns="0" bIns="0" anchor="t">
            <a:normAutofit/>
          </a:bodyPr>
          <a:lstStyle>
            <a:lvl1pPr>
              <a:defRPr lang="en-US" sz="3200" b="0" i="0" baseline="0" dirty="0">
                <a:latin typeface="Huawei Sans" panose="020C0503030203020204" pitchFamily="34" charset="0"/>
                <a:ea typeface="方正兰亭黑简体" panose="02000000000000000000" pitchFamily="2" charset="-122"/>
              </a:defRPr>
            </a:lvl1pPr>
          </a:lstStyle>
          <a:p>
            <a:pPr lvl="0" defTabSz="914034">
              <a:lnSpc>
                <a:spcPts val="3439"/>
              </a:lnSpc>
            </a:pPr>
            <a:r>
              <a:rPr lang="zh-CN" altLang="en-US" dirty="0"/>
              <a:t>单击此处添加标题</a:t>
            </a:r>
            <a:endParaRPr lang="en-US" dirty="0"/>
          </a:p>
        </p:txBody>
      </p:sp>
      <p:sp>
        <p:nvSpPr>
          <p:cNvPr id="10" name="Text Placeholder 5">
            <a:extLst>
              <a:ext uri="{FF2B5EF4-FFF2-40B4-BE49-F238E27FC236}">
                <a16:creationId xmlns:a16="http://schemas.microsoft.com/office/drawing/2014/main" id="{2F43DA98-D48D-6947-95EF-BA3B05E68822}"/>
              </a:ext>
            </a:extLst>
          </p:cNvPr>
          <p:cNvSpPr>
            <a:spLocks noGrp="1"/>
          </p:cNvSpPr>
          <p:nvPr>
            <p:ph type="body" sz="quarter" idx="10" hasCustomPrompt="1"/>
          </p:nvPr>
        </p:nvSpPr>
        <p:spPr>
          <a:xfrm>
            <a:off x="916561" y="1949372"/>
            <a:ext cx="8125840" cy="643926"/>
          </a:xfrm>
          <a:prstGeom prst="rect">
            <a:avLst/>
          </a:prstGeom>
        </p:spPr>
        <p:txBody>
          <a:bodyPr vert="horz" lIns="0" tIns="0" rIns="0" bIns="0" rtlCol="0">
            <a:noAutofit/>
          </a:bodyPr>
          <a:lstStyle>
            <a:lvl1pPr marL="228600" indent="-228600" fontAlgn="base">
              <a:buNone/>
              <a:defRPr lang="en-US" sz="1400" baseline="0" dirty="0">
                <a:latin typeface="Huawei Sans" panose="020C0503030203020204" pitchFamily="34" charset="0"/>
                <a:ea typeface="方正兰亭黑简体" panose="02000000000000000000" pitchFamily="2" charset="-122"/>
                <a:cs typeface="Huawei Sans" panose="020C0503030203020204" pitchFamily="34" charset="0"/>
              </a:defRPr>
            </a:lvl1pPr>
          </a:lstStyle>
          <a:p>
            <a:pPr marL="0" lvl="0" indent="0">
              <a:lnSpc>
                <a:spcPct val="100000"/>
              </a:lnSpc>
              <a:spcBef>
                <a:spcPts val="0"/>
              </a:spcBef>
            </a:pPr>
            <a:r>
              <a:rPr lang="zh-CN" altLang="en-US" dirty="0"/>
              <a:t>单击此处添加文本</a:t>
            </a:r>
            <a:endParaRPr lang="en-US" dirty="0"/>
          </a:p>
        </p:txBody>
      </p:sp>
    </p:spTree>
    <p:extLst>
      <p:ext uri="{BB962C8B-B14F-4D97-AF65-F5344CB8AC3E}">
        <p14:creationId xmlns:p14="http://schemas.microsoft.com/office/powerpoint/2010/main" val="13918138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nvGraphicFramePr>
        <p:xfrm>
          <a:off x="1007140" y="1398424"/>
          <a:ext cx="10194260" cy="1082675"/>
        </p:xfrm>
        <a:graphic>
          <a:graphicData uri="http://schemas.openxmlformats.org/drawingml/2006/table">
            <a:tbl>
              <a:tblPr/>
              <a:tblGrid>
                <a:gridCol w="3119031">
                  <a:extLst>
                    <a:ext uri="{9D8B030D-6E8A-4147-A177-3AD203B41FA5}">
                      <a16:colId xmlns:a16="http://schemas.microsoft.com/office/drawing/2014/main" val="20000"/>
                    </a:ext>
                  </a:extLst>
                </a:gridCol>
                <a:gridCol w="1967450">
                  <a:extLst>
                    <a:ext uri="{9D8B030D-6E8A-4147-A177-3AD203B41FA5}">
                      <a16:colId xmlns:a16="http://schemas.microsoft.com/office/drawing/2014/main" val="20001"/>
                    </a:ext>
                  </a:extLst>
                </a:gridCol>
                <a:gridCol w="3023155">
                  <a:extLst>
                    <a:ext uri="{9D8B030D-6E8A-4147-A177-3AD203B41FA5}">
                      <a16:colId xmlns:a16="http://schemas.microsoft.com/office/drawing/2014/main" val="20002"/>
                    </a:ext>
                  </a:extLst>
                </a:gridCol>
                <a:gridCol w="2084624">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课程编码</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适用产品</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产品版本</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课程版本</a:t>
                      </a:r>
                      <a:endPar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4" name="Group 21"/>
          <p:cNvGraphicFramePr>
            <a:graphicFrameLocks noGrp="1"/>
          </p:cNvGraphicFramePr>
          <p:nvPr userDrawn="1"/>
        </p:nvGraphicFramePr>
        <p:xfrm>
          <a:off x="1007140" y="2920836"/>
          <a:ext cx="10177327" cy="2549525"/>
        </p:xfrm>
        <a:graphic>
          <a:graphicData uri="http://schemas.openxmlformats.org/drawingml/2006/table">
            <a:tbl>
              <a:tblPr/>
              <a:tblGrid>
                <a:gridCol w="3119030">
                  <a:extLst>
                    <a:ext uri="{9D8B030D-6E8A-4147-A177-3AD203B41FA5}">
                      <a16:colId xmlns:a16="http://schemas.microsoft.com/office/drawing/2014/main" val="20000"/>
                    </a:ext>
                  </a:extLst>
                </a:gridCol>
                <a:gridCol w="1967450">
                  <a:extLst>
                    <a:ext uri="{9D8B030D-6E8A-4147-A177-3AD203B41FA5}">
                      <a16:colId xmlns:a16="http://schemas.microsoft.com/office/drawing/2014/main" val="20001"/>
                    </a:ext>
                  </a:extLst>
                </a:gridCol>
                <a:gridCol w="3023155">
                  <a:extLst>
                    <a:ext uri="{9D8B030D-6E8A-4147-A177-3AD203B41FA5}">
                      <a16:colId xmlns:a16="http://schemas.microsoft.com/office/drawing/2014/main" val="20002"/>
                    </a:ext>
                  </a:extLst>
                </a:gridCol>
                <a:gridCol w="2067692">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作者</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时间</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审核人</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新开发/优化</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 name="文本占位符 7"/>
          <p:cNvSpPr>
            <a:spLocks noGrp="1"/>
          </p:cNvSpPr>
          <p:nvPr>
            <p:ph type="body" sz="quarter" idx="17" hasCustomPrompt="1"/>
          </p:nvPr>
        </p:nvSpPr>
        <p:spPr>
          <a:xfrm>
            <a:off x="1007139" y="1969626"/>
            <a:ext cx="3119030" cy="504887"/>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课程编码</a:t>
            </a:r>
          </a:p>
        </p:txBody>
      </p:sp>
      <p:sp>
        <p:nvSpPr>
          <p:cNvPr id="6" name="文本占位符 7"/>
          <p:cNvSpPr>
            <a:spLocks noGrp="1"/>
          </p:cNvSpPr>
          <p:nvPr>
            <p:ph type="body" sz="quarter" idx="18" hasCustomPrompt="1"/>
          </p:nvPr>
        </p:nvSpPr>
        <p:spPr>
          <a:xfrm>
            <a:off x="4126170" y="1969626"/>
            <a:ext cx="196745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适用的产品</a:t>
            </a:r>
          </a:p>
        </p:txBody>
      </p:sp>
      <p:sp>
        <p:nvSpPr>
          <p:cNvPr id="7" name="文本占位符 7"/>
          <p:cNvSpPr>
            <a:spLocks noGrp="1"/>
          </p:cNvSpPr>
          <p:nvPr>
            <p:ph type="body" sz="quarter" idx="19" hasCustomPrompt="1"/>
          </p:nvPr>
        </p:nvSpPr>
        <p:spPr>
          <a:xfrm>
            <a:off x="6093619" y="1969626"/>
            <a:ext cx="302315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969626"/>
            <a:ext cx="2084625" cy="504887"/>
          </a:xfrm>
          <a:prstGeom prst="rect">
            <a:avLst/>
          </a:prstGeom>
        </p:spPr>
        <p:txBody>
          <a:bodyPr anchor="ctr"/>
          <a:lstStyle>
            <a:lvl1pPr algn="ctr">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V1R1</a:t>
            </a:r>
            <a:endParaRPr lang="zh-CN" altLang="en-US" dirty="0"/>
          </a:p>
        </p:txBody>
      </p:sp>
      <p:sp>
        <p:nvSpPr>
          <p:cNvPr id="9" name="文本占位符 7"/>
          <p:cNvSpPr>
            <a:spLocks noGrp="1"/>
          </p:cNvSpPr>
          <p:nvPr>
            <p:ph type="body" sz="quarter" idx="13" hasCustomPrompt="1"/>
          </p:nvPr>
        </p:nvSpPr>
        <p:spPr>
          <a:xfrm>
            <a:off x="1007042" y="3517796"/>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0" name="文本占位符 7"/>
          <p:cNvSpPr>
            <a:spLocks noGrp="1"/>
          </p:cNvSpPr>
          <p:nvPr>
            <p:ph type="body" sz="quarter" idx="14" hasCustomPrompt="1"/>
          </p:nvPr>
        </p:nvSpPr>
        <p:spPr>
          <a:xfrm>
            <a:off x="4126170" y="3517796"/>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1" name="文本占位符 7"/>
          <p:cNvSpPr>
            <a:spLocks noGrp="1"/>
          </p:cNvSpPr>
          <p:nvPr>
            <p:ph type="body" sz="quarter" idx="15" hasCustomPrompt="1"/>
          </p:nvPr>
        </p:nvSpPr>
        <p:spPr>
          <a:xfrm>
            <a:off x="6093619" y="3517796"/>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2" name="文本占位符 7"/>
          <p:cNvSpPr>
            <a:spLocks noGrp="1"/>
          </p:cNvSpPr>
          <p:nvPr>
            <p:ph type="body" sz="quarter" idx="16" hasCustomPrompt="1"/>
          </p:nvPr>
        </p:nvSpPr>
        <p:spPr>
          <a:xfrm>
            <a:off x="9116775" y="3481792"/>
            <a:ext cx="2056050"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新开发</a:t>
            </a:r>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headEnd/>
            <a:tailEnd/>
          </a:ln>
        </p:spPr>
        <p:txBody>
          <a:bodyPr lIns="78227" tIns="39112" rIns="78227" bIns="39112" anchor="ctr"/>
          <a:lstStyle/>
          <a:p>
            <a:pPr algn="l" defTabSz="1001223" rtl="0" eaLnBrk="0" fontAlgn="ctr" hangingPunct="0">
              <a:spcBef>
                <a:spcPct val="0"/>
              </a:spcBef>
              <a:spcAft>
                <a:spcPct val="0"/>
              </a:spcAft>
            </a:pPr>
            <a:r>
              <a:rPr lang="zh-CN" altLang="en-US" sz="3499" b="0"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修订记录</a:t>
            </a: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headEnd/>
            <a:tailEnd/>
          </a:ln>
        </p:spPr>
        <p:txBody>
          <a:bodyPr wrap="square">
            <a:spAutoFit/>
          </a:bodyPr>
          <a:lstStyle/>
          <a:p>
            <a:pPr fontAlgn="ctr">
              <a:spcBef>
                <a:spcPct val="50000"/>
              </a:spcBef>
            </a:pPr>
            <a:r>
              <a:rPr lang="zh-CN" altLang="en-US" sz="3998" i="0" baseline="0" dirty="0">
                <a:solidFill>
                  <a:schemeClr val="bg2">
                    <a:lumMod val="50000"/>
                  </a:schemeClr>
                </a:solidFill>
                <a:latin typeface="Huawei Sans" panose="020C0503030203020204" pitchFamily="34" charset="0"/>
                <a:ea typeface="方正兰亭黑简体" panose="02000000000000000000" pitchFamily="2" charset="-122"/>
                <a:cs typeface="Huawei Sans" panose="020C0503030203020204" pitchFamily="34" charset="0"/>
              </a:rPr>
              <a:t>本页不打印</a:t>
            </a:r>
          </a:p>
        </p:txBody>
      </p:sp>
      <p:sp>
        <p:nvSpPr>
          <p:cNvPr id="15" name="文本占位符 7"/>
          <p:cNvSpPr>
            <a:spLocks noGrp="1"/>
          </p:cNvSpPr>
          <p:nvPr>
            <p:ph type="body" sz="quarter" idx="21" hasCustomPrompt="1"/>
          </p:nvPr>
        </p:nvSpPr>
        <p:spPr>
          <a:xfrm>
            <a:off x="1007042" y="4021852"/>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6" name="文本占位符 7"/>
          <p:cNvSpPr>
            <a:spLocks noGrp="1"/>
          </p:cNvSpPr>
          <p:nvPr>
            <p:ph type="body" sz="quarter" idx="22" hasCustomPrompt="1"/>
          </p:nvPr>
        </p:nvSpPr>
        <p:spPr>
          <a:xfrm>
            <a:off x="4126170" y="4021852"/>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7" name="文本占位符 7"/>
          <p:cNvSpPr>
            <a:spLocks noGrp="1"/>
          </p:cNvSpPr>
          <p:nvPr>
            <p:ph type="body" sz="quarter" idx="23" hasCustomPrompt="1"/>
          </p:nvPr>
        </p:nvSpPr>
        <p:spPr>
          <a:xfrm>
            <a:off x="6093619" y="4021852"/>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8" name="文本占位符 7"/>
          <p:cNvSpPr>
            <a:spLocks noGrp="1"/>
          </p:cNvSpPr>
          <p:nvPr>
            <p:ph type="body" sz="quarter" idx="24" hasCustomPrompt="1"/>
          </p:nvPr>
        </p:nvSpPr>
        <p:spPr>
          <a:xfrm>
            <a:off x="9116775" y="3985848"/>
            <a:ext cx="2084625"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19" name="文本占位符 7"/>
          <p:cNvSpPr>
            <a:spLocks noGrp="1"/>
          </p:cNvSpPr>
          <p:nvPr>
            <p:ph type="body" sz="quarter" idx="25" hasCustomPrompt="1"/>
          </p:nvPr>
        </p:nvSpPr>
        <p:spPr>
          <a:xfrm>
            <a:off x="1007042" y="448990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0" name="文本占位符 7"/>
          <p:cNvSpPr>
            <a:spLocks noGrp="1"/>
          </p:cNvSpPr>
          <p:nvPr>
            <p:ph type="body" sz="quarter" idx="26" hasCustomPrompt="1"/>
          </p:nvPr>
        </p:nvSpPr>
        <p:spPr>
          <a:xfrm>
            <a:off x="4126170" y="4489904"/>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1" name="文本占位符 7"/>
          <p:cNvSpPr>
            <a:spLocks noGrp="1"/>
          </p:cNvSpPr>
          <p:nvPr>
            <p:ph type="body" sz="quarter" idx="27" hasCustomPrompt="1"/>
          </p:nvPr>
        </p:nvSpPr>
        <p:spPr>
          <a:xfrm>
            <a:off x="6093619" y="448990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2" name="文本占位符 7"/>
          <p:cNvSpPr>
            <a:spLocks noGrp="1"/>
          </p:cNvSpPr>
          <p:nvPr>
            <p:ph type="body" sz="quarter" idx="28" hasCustomPrompt="1"/>
          </p:nvPr>
        </p:nvSpPr>
        <p:spPr>
          <a:xfrm>
            <a:off x="9116775" y="4489904"/>
            <a:ext cx="20560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3" name="文本占位符 7"/>
          <p:cNvSpPr>
            <a:spLocks noGrp="1"/>
          </p:cNvSpPr>
          <p:nvPr>
            <p:ph type="body" sz="quarter" idx="29" hasCustomPrompt="1"/>
          </p:nvPr>
        </p:nvSpPr>
        <p:spPr>
          <a:xfrm>
            <a:off x="1007042" y="499907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4" name="文本占位符 7"/>
          <p:cNvSpPr>
            <a:spLocks noGrp="1"/>
          </p:cNvSpPr>
          <p:nvPr>
            <p:ph type="body" sz="quarter" idx="30" hasCustomPrompt="1"/>
          </p:nvPr>
        </p:nvSpPr>
        <p:spPr>
          <a:xfrm>
            <a:off x="4126170" y="4999074"/>
            <a:ext cx="1967450" cy="468052"/>
          </a:xfrm>
          <a:prstGeom prst="rect">
            <a:avLst/>
          </a:prstGeom>
        </p:spPr>
        <p:txBody>
          <a:bodyPr anchor="ctr"/>
          <a:lstStyle>
            <a:lvl1pPr algn="ctr" fontAlgn="base">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5" name="文本占位符 7"/>
          <p:cNvSpPr>
            <a:spLocks noGrp="1"/>
          </p:cNvSpPr>
          <p:nvPr>
            <p:ph type="body" sz="quarter" idx="31" hasCustomPrompt="1"/>
          </p:nvPr>
        </p:nvSpPr>
        <p:spPr>
          <a:xfrm>
            <a:off x="6093619" y="499907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6" name="文本占位符 7"/>
          <p:cNvSpPr>
            <a:spLocks noGrp="1"/>
          </p:cNvSpPr>
          <p:nvPr>
            <p:ph type="body" sz="quarter" idx="32" hasCustomPrompt="1"/>
          </p:nvPr>
        </p:nvSpPr>
        <p:spPr>
          <a:xfrm>
            <a:off x="9116775" y="4999074"/>
            <a:ext cx="208462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Tree>
    <p:extLst>
      <p:ext uri="{BB962C8B-B14F-4D97-AF65-F5344CB8AC3E}">
        <p14:creationId xmlns:p14="http://schemas.microsoft.com/office/powerpoint/2010/main" val="800252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3#前言">
    <p:bg bwMode="auto">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1117614"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前言</a:t>
            </a:r>
          </a:p>
        </p:txBody>
      </p:sp>
    </p:spTree>
    <p:extLst>
      <p:ext uri="{BB962C8B-B14F-4D97-AF65-F5344CB8AC3E}">
        <p14:creationId xmlns:p14="http://schemas.microsoft.com/office/powerpoint/2010/main" val="4191700454"/>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4#目标">
    <p:bg bwMode="auto">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eaLnBrk="1" fontAlgn="ctr" hangingPunct="1">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学完本课程后，您将能够：</a:t>
            </a:r>
            <a:endParaRPr lang="en-US" altLang="zh-CN" dirty="0"/>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1120820" cy="652486"/>
          </a:xfrm>
          <a:prstGeom prst="rect">
            <a:avLst/>
          </a:prstGeom>
          <a:noFill/>
        </p:spPr>
        <p:txBody>
          <a:bodyPr wrap="none" rtlCol="0">
            <a:spAutoFit/>
          </a:bodyPr>
          <a:lstStyle/>
          <a:p>
            <a:pPr defTabSz="1001223" eaLnBrk="0" fontAlgn="ctr" hangingPunct="0"/>
            <a:r>
              <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目标</a:t>
            </a:r>
            <a:endParaRPr lang="en-US" altLang="zh-CN"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46285438"/>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5#目录">
    <p:bg bwMode="auto">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017" marR="0" indent="-457017" algn="just" defTabSz="801367" rtl="0" eaLnBrk="1" fontAlgn="ctr" latinLnBrk="0" hangingPunct="1">
              <a:lnSpc>
                <a:spcPct val="140000"/>
              </a:lnSpc>
              <a:spcBef>
                <a:spcPct val="30000"/>
              </a:spcBef>
              <a:spcAft>
                <a:spcPct val="0"/>
              </a:spcAft>
              <a:buClrTx/>
              <a:buSzPct val="100000"/>
              <a:buFont typeface="+mj-lt"/>
              <a:buAutoNum type="arabicPeriod"/>
              <a:tabLst/>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ctr">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a:extLst>
              <a:ext uri="{FF2B5EF4-FFF2-40B4-BE49-F238E27FC236}">
                <a16:creationId xmlns:a16="http://schemas.microsoft.com/office/drawing/2014/main" id="{568EC886-2612-1F43-AB51-21A76A078357}"/>
              </a:ext>
            </a:extLst>
          </p:cNvPr>
          <p:cNvSpPr txBox="1"/>
          <p:nvPr userDrawn="1"/>
        </p:nvSpPr>
        <p:spPr>
          <a:xfrm>
            <a:off x="918916" y="630373"/>
            <a:ext cx="1147485" cy="653509"/>
          </a:xfrm>
          <a:prstGeom prst="rect">
            <a:avLst/>
          </a:prstGeom>
          <a:noFill/>
        </p:spPr>
        <p:txBody>
          <a:bodyPr wrap="none" rtlCol="0">
            <a:spAutoFit/>
          </a:bodyPr>
          <a:lstStyle>
            <a:defPPr>
              <a:defRPr lang="en-US"/>
            </a:defPPr>
            <a:lvl1pPr defTabSz="1001223"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目录</a:t>
            </a:r>
          </a:p>
        </p:txBody>
      </p:sp>
    </p:spTree>
    <p:extLst>
      <p:ext uri="{BB962C8B-B14F-4D97-AF65-F5344CB8AC3E}">
        <p14:creationId xmlns:p14="http://schemas.microsoft.com/office/powerpoint/2010/main" val="3525239466"/>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本节概述和学习目标(可选)">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p:nvPr>
        </p:nvSpPr>
        <p:spPr>
          <a:xfrm>
            <a:off x="1019174" y="1844675"/>
            <a:ext cx="10153651" cy="4082668"/>
          </a:xfrm>
          <a:prstGeom prst="rect">
            <a:avLst/>
          </a:prstGeom>
        </p:spPr>
        <p:txBody>
          <a:bodyPr/>
          <a:lstStyle>
            <a:lvl1pPr marL="302279" indent="-302279"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414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4397358" cy="652486"/>
          </a:xfrm>
          <a:prstGeom prst="rect">
            <a:avLst/>
          </a:prstGeom>
          <a:noFill/>
        </p:spPr>
        <p:txBody>
          <a:bodyPr wrap="none" rtlCol="0">
            <a:spAutoFit/>
          </a:bodyPr>
          <a:lstStyle/>
          <a:p>
            <a:pPr defTabSz="1001223" eaLnBrk="0" fontAlgn="ctr" hangingPunct="0"/>
            <a:r>
              <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本节概述和学习目标</a:t>
            </a:r>
          </a:p>
        </p:txBody>
      </p:sp>
    </p:spTree>
    <p:extLst>
      <p:ext uri="{BB962C8B-B14F-4D97-AF65-F5344CB8AC3E}">
        <p14:creationId xmlns:p14="http://schemas.microsoft.com/office/powerpoint/2010/main" val="1036787055"/>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1019176" y="1844675"/>
            <a:ext cx="10153650" cy="4068812"/>
          </a:xfrm>
          <a:prstGeom prst="rect">
            <a:avLst/>
          </a:prstGeom>
        </p:spPr>
        <p:txBody>
          <a:bodyPr/>
          <a:lstStyle>
            <a:lvl1pPr marL="457200" marR="0" indent="-457200" algn="just" defTabSz="801688" rtl="0" eaLnBrk="1" fontAlgn="base" latinLnBrk="0" hangingPunct="1">
              <a:lnSpc>
                <a:spcPct val="140000"/>
              </a:lnSpc>
              <a:spcBef>
                <a:spcPct val="30000"/>
              </a:spcBef>
              <a:spcAft>
                <a:spcPct val="0"/>
              </a:spcAft>
              <a:buClr>
                <a:schemeClr val="tx1"/>
              </a:buClr>
              <a:buSzPct val="100000"/>
              <a:buFont typeface="+mj-lt"/>
              <a:buAutoNum type="arabicPeriod"/>
              <a:tabLst/>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537" indent="-342900" algn="just" fontAlgn="base">
              <a:buSzPct val="100000"/>
              <a:buFont typeface="+mj-lt"/>
              <a:buAutoNum type="alphaUcPeriod"/>
              <a:defRPr sz="1800" baseline="0">
                <a:latin typeface="Huawei Sans" panose="020C0503030203020204" pitchFamily="34" charset="0"/>
              </a:defRPr>
            </a:lvl2pPr>
            <a:lvl3pPr>
              <a:defRPr/>
            </a:lvl3pPr>
            <a:lvl5pPr>
              <a:buNone/>
              <a:defRPr/>
            </a:lvl5pPr>
          </a:lstStyle>
          <a:p>
            <a:r>
              <a:rPr lang="zh-CN" altLang="en-US" dirty="0"/>
              <a:t>此版式用于思考题</a:t>
            </a:r>
            <a:r>
              <a:rPr lang="en-US" altLang="zh-CN" dirty="0"/>
              <a:t>-201501</a:t>
            </a:r>
            <a:r>
              <a:rPr lang="zh-CN" altLang="en-US" dirty="0"/>
              <a:t>具体格式（序号格式需以模板展示）</a:t>
            </a:r>
            <a:endParaRPr lang="en-US" altLang="zh-CN" dirty="0"/>
          </a:p>
          <a:p>
            <a:pPr lvl="1"/>
            <a:endParaRPr lang="en-US" altLang="zh-CN" dirty="0"/>
          </a:p>
        </p:txBody>
      </p:sp>
      <p:cxnSp>
        <p:nvCxnSpPr>
          <p:cNvPr id="2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368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5" name="文本框 16">
            <a:extLst>
              <a:ext uri="{FF2B5EF4-FFF2-40B4-BE49-F238E27FC236}">
                <a16:creationId xmlns:a16="http://schemas.microsoft.com/office/drawing/2014/main" id="{568EC886-2612-1F43-AB51-21A76A078357}"/>
              </a:ext>
            </a:extLst>
          </p:cNvPr>
          <p:cNvSpPr txBox="1"/>
          <p:nvPr userDrawn="1"/>
        </p:nvSpPr>
        <p:spPr>
          <a:xfrm>
            <a:off x="918916" y="630373"/>
            <a:ext cx="1584088"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思考题</a:t>
            </a:r>
          </a:p>
        </p:txBody>
      </p:sp>
    </p:spTree>
    <p:extLst>
      <p:ext uri="{BB962C8B-B14F-4D97-AF65-F5344CB8AC3E}">
        <p14:creationId xmlns:p14="http://schemas.microsoft.com/office/powerpoint/2010/main" val="35571046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11#本节小结（可选）">
    <p:spTree>
      <p:nvGrpSpPr>
        <p:cNvPr id="1" name=""/>
        <p:cNvGrpSpPr/>
        <p:nvPr/>
      </p:nvGrpSpPr>
      <p:grpSpPr>
        <a:xfrm>
          <a:off x="0" y="0"/>
          <a:ext cx="0" cy="0"/>
          <a:chOff x="0" y="0"/>
          <a:chExt cx="0" cy="0"/>
        </a:xfrm>
      </p:grpSpPr>
      <p:sp>
        <p:nvSpPr>
          <p:cNvPr id="10" name="内容占位符 6"/>
          <p:cNvSpPr>
            <a:spLocks noGrp="1"/>
          </p:cNvSpPr>
          <p:nvPr>
            <p:ph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此版式用于每一节的小结</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11"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2"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本节小结</a:t>
            </a:r>
          </a:p>
        </p:txBody>
      </p:sp>
    </p:spTree>
    <p:extLst>
      <p:ext uri="{BB962C8B-B14F-4D97-AF65-F5344CB8AC3E}">
        <p14:creationId xmlns:p14="http://schemas.microsoft.com/office/powerpoint/2010/main" val="329529313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2#本章总结">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9"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1"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本章总结</a:t>
            </a:r>
          </a:p>
        </p:txBody>
      </p:sp>
    </p:spTree>
    <p:extLst>
      <p:ext uri="{BB962C8B-B14F-4D97-AF65-F5344CB8AC3E}">
        <p14:creationId xmlns:p14="http://schemas.microsoft.com/office/powerpoint/2010/main" val="17337867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zh-CN" altLang="en-US" dirty="0"/>
              <a:t>此版式用于提供给学员更多学习信息。</a:t>
            </a:r>
          </a:p>
        </p:txBody>
      </p:sp>
      <p:cxnSp>
        <p:nvCxnSpPr>
          <p:cNvPr id="12"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3"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更多信息</a:t>
            </a:r>
          </a:p>
        </p:txBody>
      </p:sp>
    </p:spTree>
    <p:extLst>
      <p:ext uri="{BB962C8B-B14F-4D97-AF65-F5344CB8AC3E}">
        <p14:creationId xmlns:p14="http://schemas.microsoft.com/office/powerpoint/2010/main" val="1051668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5"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学习推荐</a:t>
            </a:r>
          </a:p>
        </p:txBody>
      </p:sp>
    </p:spTree>
    <p:extLst>
      <p:ext uri="{BB962C8B-B14F-4D97-AF65-F5344CB8AC3E}">
        <p14:creationId xmlns:p14="http://schemas.microsoft.com/office/powerpoint/2010/main" val="42597678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7#标题和内容">
    <p:spTree>
      <p:nvGrpSpPr>
        <p:cNvPr id="1" name=""/>
        <p:cNvGrpSpPr/>
        <p:nvPr/>
      </p:nvGrpSpPr>
      <p:grpSpPr>
        <a:xfrm>
          <a:off x="0" y="0"/>
          <a:ext cx="0" cy="0"/>
          <a:chOff x="0" y="0"/>
          <a:chExt cx="0" cy="0"/>
        </a:xfrm>
      </p:grpSpPr>
      <p:sp>
        <p:nvSpPr>
          <p:cNvPr id="3" name="标题 1"/>
          <p:cNvSpPr>
            <a:spLocks noGrp="1"/>
          </p:cNvSpPr>
          <p:nvPr>
            <p:ph type="title"/>
          </p:nvPr>
        </p:nvSpPr>
        <p:spPr>
          <a:xfrm>
            <a:off x="455612" y="447468"/>
            <a:ext cx="11293475"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455612" y="1484312"/>
            <a:ext cx="11293476" cy="4443243"/>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26498624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4"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455612" y="1047750"/>
            <a:ext cx="11293475" cy="4879805"/>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1288804162"/>
      </p:ext>
    </p:extLst>
  </p:cSld>
  <p:clrMapOvr>
    <a:masterClrMapping/>
  </p:clrMapOvr>
  <p:extLst>
    <p:ext uri="{DCECCB84-F9BA-43D5-87BE-67443E8EF086}">
      <p15:sldGuideLst xmlns:p15="http://schemas.microsoft.com/office/powerpoint/2012/main">
        <p15:guide id="1" orient="horz" pos="595">
          <p15:clr>
            <a:srgbClr val="FBAE40"/>
          </p15:clr>
        </p15:guide>
        <p15:guide id="2" orient="horz" pos="663">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5" cy="1001920"/>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38519249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2438" y="447468"/>
            <a:ext cx="11296649" cy="497095"/>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99998166"/>
      </p:ext>
    </p:extLst>
  </p:cSld>
  <p:clrMapOvr>
    <a:masterClrMapping/>
  </p:clrMapOvr>
  <p:extLst>
    <p:ext uri="{DCECCB84-F9BA-43D5-87BE-67443E8EF086}">
      <p15:sldGuideLst xmlns:p15="http://schemas.microsoft.com/office/powerpoint/2012/main">
        <p15:guide id="1" orient="horz" pos="59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46979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15#谢谢">
    <p:bg>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42AF307D-40F4-EC4C-9108-79E948007529}"/>
              </a:ext>
            </a:extLst>
          </p:cNvPr>
          <p:cNvSpPr txBox="1"/>
          <p:nvPr userDrawn="1"/>
        </p:nvSpPr>
        <p:spPr>
          <a:xfrm>
            <a:off x="607486" y="1402064"/>
            <a:ext cx="3921034" cy="854717"/>
          </a:xfrm>
          <a:prstGeom prst="rect">
            <a:avLst/>
          </a:prstGeom>
          <a:noFill/>
        </p:spPr>
        <p:txBody>
          <a:bodyPr wrap="square" rtlCol="0">
            <a:spAutoFit/>
          </a:bodyPr>
          <a:lstStyle/>
          <a:p>
            <a:pPr algn="l"/>
            <a:r>
              <a:rPr lang="en-US" sz="4940" dirty="0">
                <a:solidFill>
                  <a:schemeClr val="tx1"/>
                </a:solidFill>
              </a:rPr>
              <a:t>Thank you.</a:t>
            </a:r>
          </a:p>
        </p:txBody>
      </p:sp>
    </p:spTree>
    <p:extLst>
      <p:ext uri="{BB962C8B-B14F-4D97-AF65-F5344CB8AC3E}">
        <p14:creationId xmlns:p14="http://schemas.microsoft.com/office/powerpoint/2010/main" val="102829940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3.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3.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3.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203089" y="5976169"/>
            <a:ext cx="2257507" cy="482533"/>
          </a:xfrm>
          <a:prstGeom prst="rect">
            <a:avLst/>
          </a:prstGeom>
        </p:spPr>
      </p:pic>
      <p:grpSp>
        <p:nvGrpSpPr>
          <p:cNvPr id="30"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1"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2"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3"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4"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5"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6"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7"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8"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9"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40"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1"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2"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3"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4"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5"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6"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7"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48"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49"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50"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51"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52"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53"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54"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55"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56"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57"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58"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59"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0"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61"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62"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63"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64"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65"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66"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67"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68"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69"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70"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4070073675"/>
      </p:ext>
    </p:extLst>
  </p:cSld>
  <p:clrMap bg1="lt1" tx1="dk1" bg2="lt2" tx2="dk2" accent1="accent1" accent2="accent2" accent3="accent3" accent4="accent4" accent5="accent5" accent6="accent6" hlink="hlink" folHlink="folHlink"/>
  <p:sldLayoutIdLst>
    <p:sldLayoutId id="21474838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baseline="0">
          <a:solidFill>
            <a:schemeClr val="tx1"/>
          </a:solidFill>
          <a:latin typeface="Huawei Sans" panose="020C0503030203020204" pitchFamily="34" charset="0"/>
          <a:ea typeface="方正兰亭黑简体" panose="02000000000000000000"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06">
          <p15:clr>
            <a:srgbClr val="F26B43"/>
          </p15:clr>
        </p15:guide>
        <p15:guide id="2" pos="574">
          <p15:clr>
            <a:srgbClr val="F26B43"/>
          </p15:clr>
        </p15:guide>
        <p15:guide id="3" orient="horz" pos="572">
          <p15:clr>
            <a:srgbClr val="F26B43"/>
          </p15:clr>
        </p15:guide>
        <p15:guide id="4" orient="horz" pos="1230">
          <p15:clr>
            <a:srgbClr val="F26B43"/>
          </p15:clr>
        </p15:guide>
        <p15:guide id="5" orient="horz" pos="2160">
          <p15:clr>
            <a:srgbClr val="F26B43"/>
          </p15:clr>
        </p15:guide>
        <p15:guide id="6" pos="3840">
          <p15:clr>
            <a:srgbClr val="F26B43"/>
          </p15:clr>
        </p15:guide>
        <p15:guide id="7" orient="horz" pos="368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rgbClr val="EBEBEB"/>
        </a:solidFill>
        <a:effectLst/>
      </p:bgPr>
    </p:bg>
    <p:spTree>
      <p:nvGrpSpPr>
        <p:cNvPr id="1" name=""/>
        <p:cNvGrpSpPr/>
        <p:nvPr/>
      </p:nvGrpSpPr>
      <p:grpSpPr>
        <a:xfrm>
          <a:off x="0" y="0"/>
          <a:ext cx="0" cy="0"/>
          <a:chOff x="0" y="0"/>
          <a:chExt cx="0" cy="0"/>
        </a:xfrm>
      </p:grpSpPr>
      <p:sp>
        <p:nvSpPr>
          <p:cNvPr id="23" name="TextBox 2">
            <a:extLst>
              <a:ext uri="{FF2B5EF4-FFF2-40B4-BE49-F238E27FC236}">
                <a16:creationId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7"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28"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29"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0"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1"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2"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3"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4"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5"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6"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7"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38"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39"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0"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1"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2"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3"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4"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5"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6"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7"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68"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9"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0"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1"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2"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3"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4"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5"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6"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7"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78"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79"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0"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1"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2"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3"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4"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5"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6"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7"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970965524"/>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Lst>
  <p:txStyles>
    <p:titleStyle>
      <a:lvl1pPr algn="l" defTabSz="914034" rtl="0" eaLnBrk="1" fontAlgn="ctr"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42">
          <p15:clr>
            <a:srgbClr val="F26B43"/>
          </p15:clr>
        </p15:guide>
        <p15:guide id="2" pos="7038">
          <p15:clr>
            <a:srgbClr val="F26B43"/>
          </p15:clr>
        </p15:guide>
        <p15:guide id="3" orient="horz" pos="3680">
          <p15:clr>
            <a:srgbClr val="F26B43"/>
          </p15:clr>
        </p15:guide>
        <p15:guide id="4" orient="horz" pos="3906">
          <p15:clr>
            <a:srgbClr val="F26B43"/>
          </p15:clr>
        </p15:guide>
        <p15:guide id="5" orient="horz" pos="1162">
          <p15:clr>
            <a:srgbClr val="F26B43"/>
          </p15:clr>
        </p15:guide>
        <p15:guide id="6" pos="3840">
          <p15:clr>
            <a:srgbClr val="F26B43"/>
          </p15:clr>
        </p15:guide>
        <p15:guide id="7" orient="horz" pos="731">
          <p15:clr>
            <a:srgbClr val="F26B43"/>
          </p15:clr>
        </p15:guide>
        <p15:guide id="8" orient="horz" pos="867">
          <p15:clr>
            <a:srgbClr val="F26B43"/>
          </p15:clr>
        </p15:guide>
        <p15:guide id="9" orient="horz" pos="234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457905" y="457499"/>
            <a:ext cx="11291061" cy="980113"/>
          </a:xfrm>
          <a:prstGeom prst="rect">
            <a:avLst/>
          </a:prstGeom>
        </p:spPr>
        <p:txBody>
          <a:bodyPr lIns="0" tIns="0" rIns="0" bIns="0" anchor="t">
            <a:normAutofit/>
          </a:body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28" name="Rectangle 57"/>
          <p:cNvSpPr>
            <a:spLocks noGrp="1" noChangeArrowheads="1"/>
          </p:cNvSpPr>
          <p:nvPr>
            <p:ph type="body" idx="1"/>
          </p:nvPr>
        </p:nvSpPr>
        <p:spPr bwMode="auto">
          <a:xfrm>
            <a:off x="455613" y="1484313"/>
            <a:ext cx="11293475" cy="444376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3" name="TextBox 2">
            <a:extLst>
              <a:ext uri="{FF2B5EF4-FFF2-40B4-BE49-F238E27FC236}">
                <a16:creationId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9"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1"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2"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3"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4"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5"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6"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7"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8"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9"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0"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1"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2"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3"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4"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65"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66"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7"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8"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9"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70"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1"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2"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3"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4"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5"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6"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7"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8"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9"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80"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81"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2"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3"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4"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5"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6"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7"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8"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9"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855767675"/>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0" r:id="rId5"/>
  </p:sldLayoutIdLst>
  <p:txStyles>
    <p:titleStyle>
      <a:lvl1pPr algn="l" defTabSz="914034"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9">
          <p15:clr>
            <a:srgbClr val="F26B43"/>
          </p15:clr>
        </p15:guide>
        <p15:guide id="2" pos="7401">
          <p15:clr>
            <a:srgbClr val="F26B43"/>
          </p15:clr>
        </p15:guide>
        <p15:guide id="3" orient="horz" pos="2341">
          <p15:clr>
            <a:srgbClr val="F26B43"/>
          </p15:clr>
        </p15:guide>
        <p15:guide id="4" orient="horz" pos="3906">
          <p15:clr>
            <a:srgbClr val="F26B43"/>
          </p15:clr>
        </p15:guide>
        <p15:guide id="5" orient="horz" pos="935">
          <p15:clr>
            <a:srgbClr val="F26B43"/>
          </p15:clr>
        </p15:guide>
        <p15:guide id="6" pos="3840">
          <p15:clr>
            <a:srgbClr val="F26B43"/>
          </p15:clr>
        </p15:guide>
        <p15:guide id="7" orient="horz" pos="278">
          <p15:clr>
            <a:srgbClr val="F26B43"/>
          </p15:clr>
        </p15:guide>
        <p15:guide id="8" orient="horz" pos="913">
          <p15:clr>
            <a:srgbClr val="F26B43"/>
          </p15:clr>
        </p15:guide>
        <p15:guide id="9" orient="horz" pos="368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9"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1"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3"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4"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5"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6"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7"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8"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0"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1"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2"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3"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4"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5"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6"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47"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48"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49"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50"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51"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52"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53"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54"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55"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56"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57"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58"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59"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60"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61"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62"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63"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64"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65"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66"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67"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68"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69"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
        <p:nvSpPr>
          <p:cNvPr id="70" name="Title Placeholder 1">
            <a:extLst>
              <a:ext uri="{FF2B5EF4-FFF2-40B4-BE49-F238E27FC236}">
                <a16:creationId xmlns:a16="http://schemas.microsoft.com/office/drawing/2014/main" id="{145F1158-B1AA-8F41-AF0A-FEA0EC1874AC}"/>
              </a:ext>
            </a:extLst>
          </p:cNvPr>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71" name="Text Placeholder 1">
            <a:extLst>
              <a:ext uri="{FF2B5EF4-FFF2-40B4-BE49-F238E27FC236}">
                <a16:creationId xmlns:a16="http://schemas.microsoft.com/office/drawing/2014/main" id="{F8FC7CCD-75EB-9C44-BC7D-29679334A8CA}"/>
              </a:ext>
            </a:extLst>
          </p:cNvPr>
          <p:cNvSpPr txBox="1">
            <a:spLocks/>
          </p:cNvSpPr>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a:solidFill>
                  <a:srgbClr val="1D1D1B"/>
                </a:solidFill>
                <a:latin typeface="+mj-lt"/>
              </a:rPr>
              <a:t>Copyright©2021 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br>
              <a:rPr kumimoji="1" lang="en-US" altLang="zh-CN" sz="779" dirty="0">
                <a:solidFill>
                  <a:srgbClr val="1D1D1B"/>
                </a:solidFill>
                <a:latin typeface="+mn-lt"/>
              </a:rPr>
            </a:br>
            <a:br>
              <a:rPr kumimoji="1" lang="en-US" altLang="zh-CN" sz="779" dirty="0">
                <a:solidFill>
                  <a:srgbClr val="1D1D1B"/>
                </a:solidFill>
                <a:latin typeface="+mn-lt"/>
              </a:rPr>
            </a:br>
            <a:r>
              <a:rPr kumimoji="1" lang="en-US" altLang="zh-CN" sz="850" baseline="0" dirty="0">
                <a:solidFill>
                  <a:srgbClr val="1D1D1B"/>
                </a:solidFill>
                <a:latin typeface="+mn-lt"/>
                <a:cs typeface="Arial" panose="020B0604020202020204" pitchFamily="34" charset="0"/>
              </a:rPr>
              <a:t>The information in this document may contain predictive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statements including, without limitation, statements regarding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 future financial and operating results, future product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portfolio, new technology, etc. There are a number of factors that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could cause actual results and developments to differ materially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from those expressed or implied in the predictive statements.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Therefore, such information is provided for reference purpose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only and constitutes neither an offer nor an acceptance. Huawei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may change the information at any time without notice. </a:t>
            </a:r>
          </a:p>
          <a:p>
            <a:pPr>
              <a:lnSpc>
                <a:spcPts val="1065"/>
              </a:lnSpc>
            </a:pPr>
            <a:endParaRPr kumimoji="1" lang="zh-CN" altLang="en-US" sz="779" dirty="0">
              <a:solidFill>
                <a:srgbClr val="1D1D1B"/>
              </a:solidFill>
              <a:latin typeface="+mn-lt"/>
            </a:endParaRPr>
          </a:p>
        </p:txBody>
      </p:sp>
      <p:sp>
        <p:nvSpPr>
          <p:cNvPr id="72" name="Subtitle 6">
            <a:extLst>
              <a:ext uri="{FF2B5EF4-FFF2-40B4-BE49-F238E27FC236}">
                <a16:creationId xmlns:a16="http://schemas.microsoft.com/office/drawing/2014/main" id="{12B8F806-ABD5-064C-8793-5E22C72554FD}"/>
              </a:ext>
            </a:extLst>
          </p:cNvPr>
          <p:cNvSpPr txBox="1">
            <a:spLocks/>
          </p:cNvSpPr>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1"/>
              </a:lnSpc>
              <a:spcBef>
                <a:spcPts val="0"/>
              </a:spcBef>
            </a:pPr>
            <a:r>
              <a:rPr kumimoji="1" lang="zh-CN" altLang="en-US" sz="1300" dirty="0">
                <a:solidFill>
                  <a:srgbClr val="1D1D1B"/>
                </a:solidFill>
                <a:latin typeface="Microsoft YaHei" charset="-122"/>
                <a:ea typeface="Microsoft YaHei" charset="-122"/>
                <a:cs typeface="Microsoft YaHei" charset="-122"/>
              </a:rPr>
              <a:t>把数字世界带入每个人、每个家庭、</a:t>
            </a:r>
            <a:br>
              <a:rPr kumimoji="1" lang="en-US" altLang="zh-CN" sz="1300" dirty="0">
                <a:solidFill>
                  <a:srgbClr val="1D1D1B"/>
                </a:solidFill>
                <a:latin typeface="Microsoft YaHei" charset="-122"/>
                <a:ea typeface="Microsoft YaHei" charset="-122"/>
                <a:cs typeface="Microsoft YaHei" charset="-122"/>
              </a:rPr>
            </a:br>
            <a:r>
              <a:rPr kumimoji="1" lang="zh-CN" altLang="en-US" sz="1300" dirty="0">
                <a:solidFill>
                  <a:srgbClr val="1D1D1B"/>
                </a:solidFill>
                <a:latin typeface="Microsoft YaHei" charset="-122"/>
                <a:ea typeface="Microsoft YaHei" charset="-122"/>
                <a:cs typeface="Microsoft YaHei" charset="-122"/>
              </a:rPr>
              <a:t>每个组织，构建万物互联的智能世界。</a:t>
            </a:r>
          </a:p>
        </p:txBody>
      </p:sp>
      <p:sp>
        <p:nvSpPr>
          <p:cNvPr id="73" name="Subtitle 6">
            <a:extLst>
              <a:ext uri="{FF2B5EF4-FFF2-40B4-BE49-F238E27FC236}">
                <a16:creationId xmlns:a16="http://schemas.microsoft.com/office/drawing/2014/main" id="{F1235B6F-D691-2C40-93D4-EC5427ADDFB0}"/>
              </a:ext>
            </a:extLst>
          </p:cNvPr>
          <p:cNvSpPr txBox="1">
            <a:spLocks/>
          </p:cNvSpPr>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4"/>
              </a:lnSpc>
            </a:pPr>
            <a:r>
              <a:rPr kumimoji="1" lang="en-US" altLang="zh-CN" sz="1200" dirty="0">
                <a:solidFill>
                  <a:srgbClr val="1D1D1B"/>
                </a:solidFill>
                <a:latin typeface="+mn-lt"/>
                <a:cs typeface="Arial" panose="020B0604020202020204" pitchFamily="34" charset="0"/>
              </a:rPr>
              <a:t>Bring digital to every person, home, and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organization for a fully connected,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intelligent world.</a:t>
            </a:r>
            <a:endParaRPr kumimoji="1" lang="zh-CN" altLang="en-US" sz="1200" dirty="0">
              <a:solidFill>
                <a:srgbClr val="1D1D1B"/>
              </a:solidFill>
              <a:latin typeface="+mn-lt"/>
              <a:ea typeface="Microsoft YaHei" charset="-122"/>
              <a:cs typeface="Microsoft YaHei" charset="-122"/>
            </a:endParaRPr>
          </a:p>
        </p:txBody>
      </p:sp>
      <p:pic>
        <p:nvPicPr>
          <p:cNvPr id="74" name="图片 7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5497" y="5251150"/>
            <a:ext cx="1869596" cy="399462"/>
          </a:xfrm>
          <a:prstGeom prst="rect">
            <a:avLst/>
          </a:prstGeom>
        </p:spPr>
      </p:pic>
    </p:spTree>
    <p:extLst>
      <p:ext uri="{BB962C8B-B14F-4D97-AF65-F5344CB8AC3E}">
        <p14:creationId xmlns:p14="http://schemas.microsoft.com/office/powerpoint/2010/main" val="3019321380"/>
      </p:ext>
    </p:extLst>
  </p:cSld>
  <p:clrMap bg1="lt1" tx1="dk1" bg2="lt2" tx2="dk2" accent1="accent1" accent2="accent2" accent3="accent3" accent4="accent4" accent5="accent5" accent6="accent6" hlink="hlink" folHlink="folHlink"/>
  <p:sldLayoutIdLst>
    <p:sldLayoutId id="2147483892" r:id="rId1"/>
  </p:sldLayoutIdLst>
  <p:hf hdr="0" ftr="0" dt="0"/>
  <p:txStyles>
    <p:titleStyle>
      <a:lvl1pPr algn="l" defTabSz="1187323" rtl="0" eaLnBrk="1" latinLnBrk="0" hangingPunct="1">
        <a:lnSpc>
          <a:spcPct val="90000"/>
        </a:lnSpc>
        <a:spcBef>
          <a:spcPct val="0"/>
        </a:spcBef>
        <a:buNone/>
        <a:defRPr sz="4998" b="0" kern="12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p:titleStyle>
    <p:bodyStyle>
      <a:lvl1pPr marL="0" indent="0" algn="l" defTabSz="1187323" rtl="0" eaLnBrk="1" latinLnBrk="0" hangingPunct="1">
        <a:lnSpc>
          <a:spcPct val="90000"/>
        </a:lnSpc>
        <a:spcBef>
          <a:spcPts val="1298"/>
        </a:spcBef>
        <a:buFont typeface="Arial" panose="020B0604020202020204" pitchFamily="34" charset="0"/>
        <a:buNone/>
        <a:defRPr sz="1818" kern="1200">
          <a:solidFill>
            <a:srgbClr val="FFFFFF"/>
          </a:solidFill>
          <a:latin typeface="Microsoft YaHei" panose="020B0503020204020204" pitchFamily="34" charset="-122"/>
          <a:ea typeface="Microsoft YaHei" panose="020B0503020204020204" pitchFamily="34" charset="-122"/>
          <a:cs typeface="+mn-cs"/>
        </a:defRPr>
      </a:lvl1pPr>
      <a:lvl2pPr marL="593662" indent="0" algn="l" defTabSz="1187323" rtl="0" eaLnBrk="1" latinLnBrk="0" hangingPunct="1">
        <a:lnSpc>
          <a:spcPct val="90000"/>
        </a:lnSpc>
        <a:spcBef>
          <a:spcPts val="650"/>
        </a:spcBef>
        <a:buFont typeface="Arial" panose="020B0604020202020204" pitchFamily="34" charset="0"/>
        <a:buNone/>
        <a:defRPr sz="3117" kern="1200">
          <a:solidFill>
            <a:schemeClr val="tx1"/>
          </a:solidFill>
          <a:latin typeface="+mn-lt"/>
          <a:ea typeface="+mn-ea"/>
          <a:cs typeface="+mn-cs"/>
        </a:defRPr>
      </a:lvl2pPr>
      <a:lvl3pPr marL="1187323" indent="0" algn="l" defTabSz="1187323" rtl="0" eaLnBrk="1" latinLnBrk="0" hangingPunct="1">
        <a:lnSpc>
          <a:spcPct val="90000"/>
        </a:lnSpc>
        <a:spcBef>
          <a:spcPts val="650"/>
        </a:spcBef>
        <a:buFont typeface="Arial" panose="020B0604020202020204" pitchFamily="34" charset="0"/>
        <a:buNone/>
        <a:defRPr sz="2597" kern="1200">
          <a:solidFill>
            <a:schemeClr val="tx1"/>
          </a:solidFill>
          <a:latin typeface="+mn-lt"/>
          <a:ea typeface="+mn-ea"/>
          <a:cs typeface="+mn-cs"/>
        </a:defRPr>
      </a:lvl3pPr>
      <a:lvl4pPr marL="1780986"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4pPr>
      <a:lvl5pPr marL="2374648"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323" rtl="0" eaLnBrk="1" latinLnBrk="0" hangingPunct="1">
        <a:defRPr sz="2337" kern="1200">
          <a:solidFill>
            <a:schemeClr val="tx1"/>
          </a:solidFill>
          <a:latin typeface="+mn-lt"/>
          <a:ea typeface="+mn-ea"/>
          <a:cs typeface="+mn-cs"/>
        </a:defRPr>
      </a:lvl1pPr>
      <a:lvl2pPr marL="593662" algn="l" defTabSz="1187323" rtl="0" eaLnBrk="1" latinLnBrk="0" hangingPunct="1">
        <a:defRPr sz="2337" kern="1200">
          <a:solidFill>
            <a:schemeClr val="tx1"/>
          </a:solidFill>
          <a:latin typeface="+mn-lt"/>
          <a:ea typeface="+mn-ea"/>
          <a:cs typeface="+mn-cs"/>
        </a:defRPr>
      </a:lvl2pPr>
      <a:lvl3pPr marL="1187323" algn="l" defTabSz="1187323" rtl="0" eaLnBrk="1" latinLnBrk="0" hangingPunct="1">
        <a:defRPr sz="2337" kern="1200">
          <a:solidFill>
            <a:schemeClr val="tx1"/>
          </a:solidFill>
          <a:latin typeface="+mn-lt"/>
          <a:ea typeface="+mn-ea"/>
          <a:cs typeface="+mn-cs"/>
        </a:defRPr>
      </a:lvl3pPr>
      <a:lvl4pPr marL="1780986" algn="l" defTabSz="1187323" rtl="0" eaLnBrk="1" latinLnBrk="0" hangingPunct="1">
        <a:defRPr sz="2337" kern="1200">
          <a:solidFill>
            <a:schemeClr val="tx1"/>
          </a:solidFill>
          <a:latin typeface="+mn-lt"/>
          <a:ea typeface="+mn-ea"/>
          <a:cs typeface="+mn-cs"/>
        </a:defRPr>
      </a:lvl4pPr>
      <a:lvl5pPr marL="2374648" algn="l" defTabSz="1187323" rtl="0" eaLnBrk="1" latinLnBrk="0" hangingPunct="1">
        <a:defRPr sz="2337" kern="1200">
          <a:solidFill>
            <a:schemeClr val="tx1"/>
          </a:solidFill>
          <a:latin typeface="+mn-lt"/>
          <a:ea typeface="+mn-ea"/>
          <a:cs typeface="+mn-cs"/>
        </a:defRPr>
      </a:lvl5pPr>
      <a:lvl6pPr marL="2968309" algn="l" defTabSz="1187323" rtl="0" eaLnBrk="1" latinLnBrk="0" hangingPunct="1">
        <a:defRPr sz="2337" kern="1200">
          <a:solidFill>
            <a:schemeClr val="tx1"/>
          </a:solidFill>
          <a:latin typeface="+mn-lt"/>
          <a:ea typeface="+mn-ea"/>
          <a:cs typeface="+mn-cs"/>
        </a:defRPr>
      </a:lvl6pPr>
      <a:lvl7pPr marL="3561971" algn="l" defTabSz="1187323" rtl="0" eaLnBrk="1" latinLnBrk="0" hangingPunct="1">
        <a:defRPr sz="2337" kern="1200">
          <a:solidFill>
            <a:schemeClr val="tx1"/>
          </a:solidFill>
          <a:latin typeface="+mn-lt"/>
          <a:ea typeface="+mn-ea"/>
          <a:cs typeface="+mn-cs"/>
        </a:defRPr>
      </a:lvl7pPr>
      <a:lvl8pPr marL="4155634" algn="l" defTabSz="1187323" rtl="0" eaLnBrk="1" latinLnBrk="0" hangingPunct="1">
        <a:defRPr sz="2337" kern="1200">
          <a:solidFill>
            <a:schemeClr val="tx1"/>
          </a:solidFill>
          <a:latin typeface="+mn-lt"/>
          <a:ea typeface="+mn-ea"/>
          <a:cs typeface="+mn-cs"/>
        </a:defRPr>
      </a:lvl8pPr>
      <a:lvl9pPr marL="4749295" algn="l" defTabSz="1187323" rtl="0" eaLnBrk="1" latinLnBrk="0" hangingPunct="1">
        <a:defRPr sz="233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1">
          <p15:clr>
            <a:srgbClr val="F26B43"/>
          </p15:clr>
        </p15:guide>
        <p15:guide id="2" pos="3842">
          <p15:clr>
            <a:srgbClr val="F26B43"/>
          </p15:clr>
        </p15:guide>
        <p15:guide id="3" pos="461">
          <p15:clr>
            <a:srgbClr val="F26B43"/>
          </p15:clr>
        </p15:guide>
        <p15:guide id="4" pos="7197">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5.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5" Type="http://schemas.openxmlformats.org/officeDocument/2006/relationships/image" Target="../media/image2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3.xml"/><Relationship Id="rId1" Type="http://schemas.openxmlformats.org/officeDocument/2006/relationships/slideLayout" Target="../slideLayouts/slideLayout15.xml"/><Relationship Id="rId5" Type="http://schemas.openxmlformats.org/officeDocument/2006/relationships/image" Target="../media/image25.jpeg"/><Relationship Id="rId4" Type="http://schemas.openxmlformats.org/officeDocument/2006/relationships/image" Target="../media/image24.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5.xml"/><Relationship Id="rId1" Type="http://schemas.openxmlformats.org/officeDocument/2006/relationships/tags" Target="../tags/tag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tags" Target="../tags/tag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6.png"/><Relationship Id="rId7"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15.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30.png"/><Relationship Id="rId7"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5.xml"/><Relationship Id="rId6" Type="http://schemas.openxmlformats.org/officeDocument/2006/relationships/image" Target="../media/image10.png"/><Relationship Id="rId5" Type="http://schemas.openxmlformats.org/officeDocument/2006/relationships/image" Target="../media/image26.png"/><Relationship Id="rId4" Type="http://schemas.openxmlformats.org/officeDocument/2006/relationships/image" Target="../media/image31.png"/><Relationship Id="rId9"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15.xml"/><Relationship Id="rId4" Type="http://schemas.openxmlformats.org/officeDocument/2006/relationships/image" Target="../media/image33.e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13.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15.xml"/><Relationship Id="rId6" Type="http://schemas.openxmlformats.org/officeDocument/2006/relationships/image" Target="../media/image20.png"/><Relationship Id="rId5" Type="http://schemas.openxmlformats.org/officeDocument/2006/relationships/image" Target="../media/image16.png"/><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13.xml"/><Relationship Id="rId5" Type="http://schemas.openxmlformats.org/officeDocument/2006/relationships/image" Target="../media/image26.png"/><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15.xml"/><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8.xml"/><Relationship Id="rId1" Type="http://schemas.openxmlformats.org/officeDocument/2006/relationships/slideLayout" Target="../slideLayouts/slideLayout15.xml"/><Relationship Id="rId5" Type="http://schemas.openxmlformats.org/officeDocument/2006/relationships/image" Target="../media/image39.png"/><Relationship Id="rId4" Type="http://schemas.openxmlformats.org/officeDocument/2006/relationships/image" Target="../media/image37.png"/></Relationships>
</file>

<file path=ppt/slides/_rels/slide29.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10.png"/><Relationship Id="rId3" Type="http://schemas.openxmlformats.org/officeDocument/2006/relationships/image" Target="../media/image12.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15.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4.png"/><Relationship Id="rId10" Type="http://schemas.openxmlformats.org/officeDocument/2006/relationships/image" Target="../media/image20.png"/><Relationship Id="rId4" Type="http://schemas.openxmlformats.org/officeDocument/2006/relationships/image" Target="../media/image13.png"/><Relationship Id="rId9" Type="http://schemas.openxmlformats.org/officeDocument/2006/relationships/image" Target="../media/image19.png"/></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15.xml"/><Relationship Id="rId6" Type="http://schemas.openxmlformats.org/officeDocument/2006/relationships/image" Target="../media/image40.png"/><Relationship Id="rId5" Type="http://schemas.openxmlformats.org/officeDocument/2006/relationships/image" Target="../media/image22.png"/><Relationship Id="rId4" Type="http://schemas.openxmlformats.org/officeDocument/2006/relationships/image" Target="../media/image18.png"/></Relationships>
</file>

<file path=ppt/slides/_rels/slide31.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1.png"/><Relationship Id="rId7"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15.xml"/><Relationship Id="rId6" Type="http://schemas.openxmlformats.org/officeDocument/2006/relationships/image" Target="../media/image10.png"/><Relationship Id="rId5" Type="http://schemas.openxmlformats.org/officeDocument/2006/relationships/image" Target="../media/image21.png"/><Relationship Id="rId4" Type="http://schemas.openxmlformats.org/officeDocument/2006/relationships/image" Target="../media/image19.png"/><Relationship Id="rId9" Type="http://schemas.openxmlformats.org/officeDocument/2006/relationships/image" Target="../media/image12.png"/></Relationships>
</file>

<file path=ppt/slides/_rels/slide32.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7.png"/><Relationship Id="rId3" Type="http://schemas.openxmlformats.org/officeDocument/2006/relationships/image" Target="../media/image26.png"/><Relationship Id="rId7" Type="http://schemas.openxmlformats.org/officeDocument/2006/relationships/image" Target="../media/image19.png"/><Relationship Id="rId12"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15.xml"/><Relationship Id="rId6" Type="http://schemas.openxmlformats.org/officeDocument/2006/relationships/image" Target="../media/image41.png"/><Relationship Id="rId11" Type="http://schemas.openxmlformats.org/officeDocument/2006/relationships/image" Target="../media/image11.png"/><Relationship Id="rId5" Type="http://schemas.openxmlformats.org/officeDocument/2006/relationships/image" Target="../media/image22.png"/><Relationship Id="rId10" Type="http://schemas.openxmlformats.org/officeDocument/2006/relationships/image" Target="../media/image42.png"/><Relationship Id="rId4" Type="http://schemas.openxmlformats.org/officeDocument/2006/relationships/image" Target="../media/image10.png"/><Relationship Id="rId9" Type="http://schemas.openxmlformats.org/officeDocument/2006/relationships/image" Target="../media/image16.png"/><Relationship Id="rId14" Type="http://schemas.openxmlformats.org/officeDocument/2006/relationships/image" Target="../media/image28.png"/></Relationships>
</file>

<file path=ppt/slides/_rels/slide3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9.png"/><Relationship Id="rId7" Type="http://schemas.openxmlformats.org/officeDocument/2006/relationships/image" Target="../media/image26.png"/><Relationship Id="rId2" Type="http://schemas.openxmlformats.org/officeDocument/2006/relationships/notesSlide" Target="../notesSlides/notesSlide33.xml"/><Relationship Id="rId1" Type="http://schemas.openxmlformats.org/officeDocument/2006/relationships/slideLayout" Target="../slideLayouts/slideLayout15.xml"/><Relationship Id="rId6" Type="http://schemas.openxmlformats.org/officeDocument/2006/relationships/image" Target="../media/image16.png"/><Relationship Id="rId5" Type="http://schemas.openxmlformats.org/officeDocument/2006/relationships/image" Target="../media/image10.png"/><Relationship Id="rId4" Type="http://schemas.openxmlformats.org/officeDocument/2006/relationships/image" Target="../media/image21.png"/><Relationship Id="rId9" Type="http://schemas.openxmlformats.org/officeDocument/2006/relationships/image" Target="../media/image41.png"/></Relationships>
</file>

<file path=ppt/slides/_rels/slide3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0.png"/><Relationship Id="rId7"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15.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43.png"/></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5.xml"/><Relationship Id="rId1" Type="http://schemas.openxmlformats.org/officeDocument/2006/relationships/slideLayout" Target="../slideLayouts/slideLayout15.xml"/><Relationship Id="rId6" Type="http://schemas.openxmlformats.org/officeDocument/2006/relationships/image" Target="../media/image18.png"/><Relationship Id="rId5" Type="http://schemas.openxmlformats.org/officeDocument/2006/relationships/image" Target="../media/image44.png"/><Relationship Id="rId4" Type="http://schemas.openxmlformats.org/officeDocument/2006/relationships/image" Target="../media/image26.png"/></Relationships>
</file>

<file path=ppt/slides/_rels/slide36.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6.png"/><Relationship Id="rId2" Type="http://schemas.openxmlformats.org/officeDocument/2006/relationships/notesSlide" Target="../notesSlides/notesSlide36.xml"/><Relationship Id="rId1" Type="http://schemas.openxmlformats.org/officeDocument/2006/relationships/slideLayout" Target="../slideLayouts/slideLayout15.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4.png"/></Relationships>
</file>

<file path=ppt/slides/_rels/slide3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20.png"/><Relationship Id="rId2" Type="http://schemas.openxmlformats.org/officeDocument/2006/relationships/notesSlide" Target="../notesSlides/notesSlide38.xml"/><Relationship Id="rId1" Type="http://schemas.openxmlformats.org/officeDocument/2006/relationships/slideLayout" Target="../slideLayouts/slideLayout15.xml"/><Relationship Id="rId6" Type="http://schemas.openxmlformats.org/officeDocument/2006/relationships/image" Target="../media/image18.png"/><Relationship Id="rId5" Type="http://schemas.openxmlformats.org/officeDocument/2006/relationships/image" Target="../media/image16.png"/><Relationship Id="rId4" Type="http://schemas.openxmlformats.org/officeDocument/2006/relationships/image" Target="../media/image26.png"/></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8.png"/><Relationship Id="rId2" Type="http://schemas.openxmlformats.org/officeDocument/2006/relationships/notesSlide" Target="../notesSlides/notesSlide39.xml"/><Relationship Id="rId1" Type="http://schemas.openxmlformats.org/officeDocument/2006/relationships/slideLayout" Target="../slideLayouts/slideLayout15.xml"/><Relationship Id="rId6" Type="http://schemas.openxmlformats.org/officeDocument/2006/relationships/image" Target="../media/image20.png"/><Relationship Id="rId5" Type="http://schemas.openxmlformats.org/officeDocument/2006/relationships/image" Target="../media/image16.png"/><Relationship Id="rId4" Type="http://schemas.openxmlformats.org/officeDocument/2006/relationships/image" Target="../media/image26.png"/></Relationships>
</file>

<file path=ppt/slides/_rels/slide4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0.xml"/><Relationship Id="rId1" Type="http://schemas.openxmlformats.org/officeDocument/2006/relationships/slideLayout" Target="../slideLayouts/slideLayout15.xml"/><Relationship Id="rId6" Type="http://schemas.openxmlformats.org/officeDocument/2006/relationships/image" Target="../media/image16.png"/><Relationship Id="rId5" Type="http://schemas.openxmlformats.org/officeDocument/2006/relationships/image" Target="../media/image26.png"/><Relationship Id="rId4" Type="http://schemas.openxmlformats.org/officeDocument/2006/relationships/image" Target="../media/image12.png"/></Relationships>
</file>

<file path=ppt/slides/_rels/slide4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1.xml"/><Relationship Id="rId1" Type="http://schemas.openxmlformats.org/officeDocument/2006/relationships/slideLayout" Target="../slideLayouts/slideLayout15.xml"/><Relationship Id="rId5" Type="http://schemas.openxmlformats.org/officeDocument/2006/relationships/image" Target="../media/image26.png"/><Relationship Id="rId4" Type="http://schemas.openxmlformats.org/officeDocument/2006/relationships/image" Target="../media/image49.png"/></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2.xml"/><Relationship Id="rId1" Type="http://schemas.openxmlformats.org/officeDocument/2006/relationships/slideLayout" Target="../slideLayouts/slideLayout15.xml"/><Relationship Id="rId5" Type="http://schemas.openxmlformats.org/officeDocument/2006/relationships/image" Target="../media/image18.png"/><Relationship Id="rId4" Type="http://schemas.openxmlformats.org/officeDocument/2006/relationships/image" Target="../media/image49.png"/></Relationships>
</file>

<file path=ppt/slides/_rels/slide4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3.xml"/><Relationship Id="rId1" Type="http://schemas.openxmlformats.org/officeDocument/2006/relationships/slideLayout" Target="../slideLayouts/slideLayout15.xml"/><Relationship Id="rId6" Type="http://schemas.openxmlformats.org/officeDocument/2006/relationships/image" Target="../media/image18.png"/><Relationship Id="rId5" Type="http://schemas.openxmlformats.org/officeDocument/2006/relationships/image" Target="../media/image16.png"/><Relationship Id="rId4" Type="http://schemas.openxmlformats.org/officeDocument/2006/relationships/image" Target="../media/image26.png"/></Relationships>
</file>

<file path=ppt/slides/_rels/slide44.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6.png"/><Relationship Id="rId7" Type="http://schemas.openxmlformats.org/officeDocument/2006/relationships/image" Target="../media/image10.png"/><Relationship Id="rId2" Type="http://schemas.openxmlformats.org/officeDocument/2006/relationships/notesSlide" Target="../notesSlides/notesSlide44.xml"/><Relationship Id="rId1" Type="http://schemas.openxmlformats.org/officeDocument/2006/relationships/slideLayout" Target="../slideLayouts/slideLayout15.xml"/><Relationship Id="rId6" Type="http://schemas.openxmlformats.org/officeDocument/2006/relationships/image" Target="../media/image12.png"/><Relationship Id="rId5" Type="http://schemas.openxmlformats.org/officeDocument/2006/relationships/image" Target="../media/image13.png"/><Relationship Id="rId4" Type="http://schemas.openxmlformats.org/officeDocument/2006/relationships/image" Target="../media/image20.png"/><Relationship Id="rId9" Type="http://schemas.openxmlformats.org/officeDocument/2006/relationships/image" Target="../media/image43.png"/></Relationships>
</file>

<file path=ppt/slides/_rels/slide45.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43.png"/><Relationship Id="rId2" Type="http://schemas.openxmlformats.org/officeDocument/2006/relationships/notesSlide" Target="../notesSlides/notesSlide45.xml"/><Relationship Id="rId16" Type="http://schemas.openxmlformats.org/officeDocument/2006/relationships/image" Target="../media/image26.png"/><Relationship Id="rId1" Type="http://schemas.openxmlformats.org/officeDocument/2006/relationships/slideLayout" Target="../slideLayouts/slideLayout15.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5" Type="http://schemas.openxmlformats.org/officeDocument/2006/relationships/image" Target="../media/image2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s>
</file>

<file path=ppt/slides/_rels/slide4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6.png"/><Relationship Id="rId7" Type="http://schemas.openxmlformats.org/officeDocument/2006/relationships/image" Target="../media/image11.png"/><Relationship Id="rId2" Type="http://schemas.openxmlformats.org/officeDocument/2006/relationships/notesSlide" Target="../notesSlides/notesSlide46.xml"/><Relationship Id="rId1" Type="http://schemas.openxmlformats.org/officeDocument/2006/relationships/slideLayout" Target="../slideLayouts/slideLayout15.xml"/><Relationship Id="rId6" Type="http://schemas.openxmlformats.org/officeDocument/2006/relationships/image" Target="../media/image12.png"/><Relationship Id="rId11" Type="http://schemas.openxmlformats.org/officeDocument/2006/relationships/image" Target="../media/image19.png"/><Relationship Id="rId5" Type="http://schemas.openxmlformats.org/officeDocument/2006/relationships/image" Target="../media/image26.png"/><Relationship Id="rId10" Type="http://schemas.openxmlformats.org/officeDocument/2006/relationships/image" Target="../media/image18.png"/><Relationship Id="rId4" Type="http://schemas.openxmlformats.org/officeDocument/2006/relationships/image" Target="../media/image49.png"/><Relationship Id="rId9" Type="http://schemas.openxmlformats.org/officeDocument/2006/relationships/image" Target="../media/image10.png"/></Relationships>
</file>

<file path=ppt/slides/_rels/slide4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7.xml"/><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50.png"/><Relationship Id="rId2" Type="http://schemas.openxmlformats.org/officeDocument/2006/relationships/notesSlide" Target="../notesSlides/notesSlide48.xml"/><Relationship Id="rId1" Type="http://schemas.openxmlformats.org/officeDocument/2006/relationships/slideLayout" Target="../slideLayouts/slideLayout15.xml"/><Relationship Id="rId6" Type="http://schemas.openxmlformats.org/officeDocument/2006/relationships/image" Target="../media/image39.png"/><Relationship Id="rId5" Type="http://schemas.openxmlformats.org/officeDocument/2006/relationships/image" Target="../media/image26.png"/><Relationship Id="rId4" Type="http://schemas.openxmlformats.org/officeDocument/2006/relationships/image" Target="../media/image13.png"/></Relationships>
</file>

<file path=ppt/slides/_rels/slide4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9.xml"/><Relationship Id="rId1" Type="http://schemas.openxmlformats.org/officeDocument/2006/relationships/slideLayout" Target="../slideLayouts/slideLayout15.xml"/><Relationship Id="rId6" Type="http://schemas.openxmlformats.org/officeDocument/2006/relationships/image" Target="../media/image49.png"/><Relationship Id="rId5" Type="http://schemas.openxmlformats.org/officeDocument/2006/relationships/image" Target="../media/image26.png"/><Relationship Id="rId4" Type="http://schemas.openxmlformats.org/officeDocument/2006/relationships/image" Target="../media/image13.png"/></Relationships>
</file>

<file path=ppt/slides/_rels/slide5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0.xml"/><Relationship Id="rId1" Type="http://schemas.openxmlformats.org/officeDocument/2006/relationships/slideLayout" Target="../slideLayouts/slideLayout13.xml"/><Relationship Id="rId6" Type="http://schemas.openxmlformats.org/officeDocument/2006/relationships/image" Target="../media/image52.png"/><Relationship Id="rId5" Type="http://schemas.openxmlformats.org/officeDocument/2006/relationships/image" Target="../media/image43.png"/><Relationship Id="rId4" Type="http://schemas.openxmlformats.org/officeDocument/2006/relationships/image" Target="../media/image51.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53.png"/><Relationship Id="rId2" Type="http://schemas.openxmlformats.org/officeDocument/2006/relationships/notesSlide" Target="../notesSlides/notesSlide52.xml"/><Relationship Id="rId1" Type="http://schemas.openxmlformats.org/officeDocument/2006/relationships/slideLayout" Target="../slideLayouts/slideLayout15.xml"/><Relationship Id="rId6" Type="http://schemas.openxmlformats.org/officeDocument/2006/relationships/image" Target="../media/image43.png"/><Relationship Id="rId5" Type="http://schemas.openxmlformats.org/officeDocument/2006/relationships/image" Target="../media/image26.png"/><Relationship Id="rId4" Type="http://schemas.openxmlformats.org/officeDocument/2006/relationships/image" Target="../media/image13.png"/></Relationships>
</file>

<file path=ppt/slides/_rels/slide5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3.xml"/><Relationship Id="rId1" Type="http://schemas.openxmlformats.org/officeDocument/2006/relationships/slideLayout" Target="../slideLayouts/slideLayout13.xml"/><Relationship Id="rId5" Type="http://schemas.openxmlformats.org/officeDocument/2006/relationships/image" Target="../media/image50.png"/><Relationship Id="rId4" Type="http://schemas.openxmlformats.org/officeDocument/2006/relationships/image" Target="../media/image34.png"/></Relationships>
</file>

<file path=ppt/slides/_rels/slide5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4.xml"/><Relationship Id="rId1" Type="http://schemas.openxmlformats.org/officeDocument/2006/relationships/slideLayout" Target="../slideLayouts/slideLayout15.xml"/><Relationship Id="rId5" Type="http://schemas.openxmlformats.org/officeDocument/2006/relationships/image" Target="../media/image55.png"/><Relationship Id="rId4" Type="http://schemas.openxmlformats.org/officeDocument/2006/relationships/image" Target="../media/image39.png"/></Relationships>
</file>

<file path=ppt/slides/_rels/slide5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5.xml"/><Relationship Id="rId1" Type="http://schemas.openxmlformats.org/officeDocument/2006/relationships/slideLayout" Target="../slideLayouts/slideLayout15.xml"/><Relationship Id="rId4" Type="http://schemas.openxmlformats.org/officeDocument/2006/relationships/image" Target="../media/image15.png"/></Relationships>
</file>

<file path=ppt/slides/_rels/slide5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6.xml"/><Relationship Id="rId1" Type="http://schemas.openxmlformats.org/officeDocument/2006/relationships/slideLayout" Target="../slideLayouts/slideLayout15.xml"/><Relationship Id="rId4" Type="http://schemas.openxmlformats.org/officeDocument/2006/relationships/image" Target="../media/image15.png"/></Relationships>
</file>

<file path=ppt/slides/_rels/slide5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7.xml"/><Relationship Id="rId1" Type="http://schemas.openxmlformats.org/officeDocument/2006/relationships/slideLayout" Target="../slideLayouts/slideLayout15.xml"/><Relationship Id="rId5" Type="http://schemas.openxmlformats.org/officeDocument/2006/relationships/image" Target="../media/image34.png"/><Relationship Id="rId4" Type="http://schemas.openxmlformats.org/officeDocument/2006/relationships/image" Target="../media/image57.png"/></Relationships>
</file>

<file path=ppt/slides/_rels/slide5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8.xml"/><Relationship Id="rId1" Type="http://schemas.openxmlformats.org/officeDocument/2006/relationships/slideLayout" Target="../slideLayouts/slideLayout15.xml"/><Relationship Id="rId5" Type="http://schemas.openxmlformats.org/officeDocument/2006/relationships/image" Target="../media/image48.png"/><Relationship Id="rId4" Type="http://schemas.openxmlformats.org/officeDocument/2006/relationships/image" Target="../media/image58.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notesSlide" Target="../notesSlides/notesSlide60.xml"/><Relationship Id="rId1" Type="http://schemas.openxmlformats.org/officeDocument/2006/relationships/slideLayout" Target="../slideLayouts/slideLayout15.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5" Type="http://schemas.openxmlformats.org/officeDocument/2006/relationships/image" Target="../media/image2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s>
</file>

<file path=ppt/slides/_rels/slide61.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notesSlide" Target="../notesSlides/notesSlide61.xml"/><Relationship Id="rId16" Type="http://schemas.openxmlformats.org/officeDocument/2006/relationships/image" Target="../media/image30.png"/><Relationship Id="rId1" Type="http://schemas.openxmlformats.org/officeDocument/2006/relationships/slideLayout" Target="../slideLayouts/slideLayout15.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5" Type="http://schemas.openxmlformats.org/officeDocument/2006/relationships/image" Target="../media/image2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s>
</file>

<file path=ppt/slides/_rels/slide6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2.xml"/><Relationship Id="rId1" Type="http://schemas.openxmlformats.org/officeDocument/2006/relationships/slideLayout" Target="../slideLayouts/slideLayout15.xml"/><Relationship Id="rId5" Type="http://schemas.openxmlformats.org/officeDocument/2006/relationships/image" Target="../media/image43.png"/><Relationship Id="rId4" Type="http://schemas.openxmlformats.org/officeDocument/2006/relationships/image" Target="../media/image59.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0" name="文本占位符 49"/>
          <p:cNvSpPr>
            <a:spLocks noGrp="1"/>
          </p:cNvSpPr>
          <p:nvPr>
            <p:ph type="body" sz="quarter" idx="17"/>
          </p:nvPr>
        </p:nvSpPr>
        <p:spPr/>
        <p:txBody>
          <a:bodyPr/>
          <a:lstStyle/>
          <a:p>
            <a:endParaRPr lang="zh-CN" altLang="en-US">
              <a:sym typeface="Huawei Sans" panose="020C0503030203020204" pitchFamily="34" charset="0"/>
            </a:endParaRPr>
          </a:p>
        </p:txBody>
      </p:sp>
      <p:sp>
        <p:nvSpPr>
          <p:cNvPr id="51" name="文本占位符 50"/>
          <p:cNvSpPr>
            <a:spLocks noGrp="1"/>
          </p:cNvSpPr>
          <p:nvPr>
            <p:ph type="body" sz="quarter" idx="18"/>
          </p:nvPr>
        </p:nvSpPr>
        <p:spPr/>
        <p:txBody>
          <a:bodyPr/>
          <a:lstStyle/>
          <a:p>
            <a:r>
              <a:rPr lang="en-US" altLang="zh-CN" dirty="0" err="1">
                <a:sym typeface="Huawei Sans" panose="020C0503030203020204" pitchFamily="34" charset="0"/>
              </a:rPr>
              <a:t>Datacom</a:t>
            </a:r>
            <a:endParaRPr lang="zh-CN" altLang="en-US" dirty="0">
              <a:sym typeface="Huawei Sans" panose="020C0503030203020204" pitchFamily="34" charset="0"/>
            </a:endParaRPr>
          </a:p>
        </p:txBody>
      </p:sp>
      <p:sp>
        <p:nvSpPr>
          <p:cNvPr id="52" name="文本占位符 51"/>
          <p:cNvSpPr>
            <a:spLocks noGrp="1"/>
          </p:cNvSpPr>
          <p:nvPr>
            <p:ph type="body" sz="quarter" idx="19"/>
          </p:nvPr>
        </p:nvSpPr>
        <p:spPr/>
        <p:txBody>
          <a:bodyPr/>
          <a:lstStyle/>
          <a:p>
            <a:r>
              <a:rPr lang="zh-CN" altLang="en-US" dirty="0">
                <a:sym typeface="Huawei Sans" panose="020C0503030203020204" pitchFamily="34" charset="0"/>
              </a:rPr>
              <a:t>通用</a:t>
            </a:r>
          </a:p>
        </p:txBody>
      </p:sp>
      <p:sp>
        <p:nvSpPr>
          <p:cNvPr id="53" name="文本占位符 52"/>
          <p:cNvSpPr>
            <a:spLocks noGrp="1"/>
          </p:cNvSpPr>
          <p:nvPr>
            <p:ph type="body" sz="quarter" idx="20"/>
          </p:nvPr>
        </p:nvSpPr>
        <p:spPr/>
        <p:txBody>
          <a:bodyPr/>
          <a:lstStyle/>
          <a:p>
            <a:r>
              <a:rPr lang="en-US" altLang="zh-CN" dirty="0">
                <a:sym typeface="Huawei Sans" panose="020C0503030203020204" pitchFamily="34" charset="0"/>
              </a:rPr>
              <a:t>V1.0</a:t>
            </a:r>
            <a:endParaRPr lang="zh-CN" altLang="en-US" dirty="0">
              <a:sym typeface="Huawei Sans" panose="020C0503030203020204" pitchFamily="34" charset="0"/>
            </a:endParaRPr>
          </a:p>
        </p:txBody>
      </p:sp>
      <p:sp>
        <p:nvSpPr>
          <p:cNvPr id="46" name="文本占位符 45"/>
          <p:cNvSpPr>
            <a:spLocks noGrp="1"/>
          </p:cNvSpPr>
          <p:nvPr>
            <p:ph type="body" sz="quarter" idx="13"/>
          </p:nvPr>
        </p:nvSpPr>
        <p:spPr/>
        <p:txBody>
          <a:bodyPr/>
          <a:lstStyle/>
          <a:p>
            <a:r>
              <a:rPr lang="zh-CN" altLang="en-US" dirty="0">
                <a:sym typeface="Huawei Sans" panose="020C0503030203020204" pitchFamily="34" charset="0"/>
              </a:rPr>
              <a:t>张凛睿</a:t>
            </a:r>
            <a:r>
              <a:rPr lang="en-US" altLang="zh-CN" dirty="0">
                <a:sym typeface="Huawei Sans" panose="020C0503030203020204" pitchFamily="34" charset="0"/>
              </a:rPr>
              <a:t>/WX570554</a:t>
            </a:r>
            <a:endParaRPr lang="zh-CN" altLang="en-US" dirty="0">
              <a:sym typeface="Huawei Sans" panose="020C0503030203020204" pitchFamily="34" charset="0"/>
            </a:endParaRPr>
          </a:p>
        </p:txBody>
      </p:sp>
      <p:sp>
        <p:nvSpPr>
          <p:cNvPr id="47" name="文本占位符 46"/>
          <p:cNvSpPr>
            <a:spLocks noGrp="1"/>
          </p:cNvSpPr>
          <p:nvPr>
            <p:ph type="body" sz="quarter" idx="14"/>
          </p:nvPr>
        </p:nvSpPr>
        <p:spPr/>
        <p:txBody>
          <a:bodyPr/>
          <a:lstStyle/>
          <a:p>
            <a:r>
              <a:rPr lang="en-US" altLang="zh-CN" dirty="0">
                <a:sym typeface="Huawei Sans" panose="020C0503030203020204" pitchFamily="34" charset="0"/>
              </a:rPr>
              <a:t>2021.02.15</a:t>
            </a:r>
            <a:endParaRPr lang="zh-CN" altLang="en-US" dirty="0">
              <a:sym typeface="Huawei Sans" panose="020C0503030203020204" pitchFamily="34" charset="0"/>
            </a:endParaRPr>
          </a:p>
        </p:txBody>
      </p:sp>
      <p:sp>
        <p:nvSpPr>
          <p:cNvPr id="48" name="文本占位符 47"/>
          <p:cNvSpPr>
            <a:spLocks noGrp="1"/>
          </p:cNvSpPr>
          <p:nvPr>
            <p:ph type="body" sz="quarter" idx="15"/>
          </p:nvPr>
        </p:nvSpPr>
        <p:spPr/>
        <p:txBody>
          <a:bodyPr/>
          <a:lstStyle/>
          <a:p>
            <a:r>
              <a:rPr lang="zh-CN" altLang="en-US" dirty="0">
                <a:sym typeface="Huawei Sans" panose="020C0503030203020204" pitchFamily="34" charset="0"/>
              </a:rPr>
              <a:t>李先之</a:t>
            </a:r>
            <a:r>
              <a:rPr lang="en-US" altLang="zh-CN" dirty="0">
                <a:sym typeface="Huawei Sans" panose="020C0503030203020204" pitchFamily="34" charset="0"/>
              </a:rPr>
              <a:t>/00354681</a:t>
            </a:r>
            <a:endParaRPr lang="zh-CN" altLang="en-US" dirty="0">
              <a:sym typeface="Huawei Sans" panose="020C0503030203020204" pitchFamily="34" charset="0"/>
            </a:endParaRPr>
          </a:p>
        </p:txBody>
      </p:sp>
      <p:sp>
        <p:nvSpPr>
          <p:cNvPr id="49" name="文本占位符 48"/>
          <p:cNvSpPr>
            <a:spLocks noGrp="1"/>
          </p:cNvSpPr>
          <p:nvPr>
            <p:ph type="body" sz="quarter" idx="16"/>
          </p:nvPr>
        </p:nvSpPr>
        <p:spPr/>
        <p:txBody>
          <a:bodyPr/>
          <a:lstStyle/>
          <a:p>
            <a:r>
              <a:rPr lang="zh-CN" altLang="en-US" dirty="0">
                <a:sym typeface="Huawei Sans" panose="020C0503030203020204" pitchFamily="34" charset="0"/>
              </a:rPr>
              <a:t>新开发</a:t>
            </a:r>
          </a:p>
        </p:txBody>
      </p:sp>
      <p:sp>
        <p:nvSpPr>
          <p:cNvPr id="54" name="文本占位符 53"/>
          <p:cNvSpPr>
            <a:spLocks noGrp="1"/>
          </p:cNvSpPr>
          <p:nvPr>
            <p:ph type="body" sz="quarter" idx="21"/>
          </p:nvPr>
        </p:nvSpPr>
        <p:spPr/>
        <p:txBody>
          <a:bodyPr/>
          <a:lstStyle/>
          <a:p>
            <a:r>
              <a:rPr lang="zh-CN" altLang="en-US" dirty="0">
                <a:sym typeface="Huawei Sans" panose="020C0503030203020204" pitchFamily="34" charset="0"/>
              </a:rPr>
              <a:t>卢玥玥</a:t>
            </a:r>
            <a:r>
              <a:rPr lang="en-US" altLang="zh-CN" dirty="0">
                <a:sym typeface="Huawei Sans" panose="020C0503030203020204" pitchFamily="34" charset="0"/>
              </a:rPr>
              <a:t>/WX445705</a:t>
            </a:r>
            <a:endParaRPr lang="zh-CN" altLang="en-US" dirty="0">
              <a:sym typeface="Huawei Sans" panose="020C0503030203020204" pitchFamily="34" charset="0"/>
            </a:endParaRPr>
          </a:p>
        </p:txBody>
      </p:sp>
      <p:sp>
        <p:nvSpPr>
          <p:cNvPr id="55" name="文本占位符 54"/>
          <p:cNvSpPr>
            <a:spLocks noGrp="1"/>
          </p:cNvSpPr>
          <p:nvPr>
            <p:ph type="body" sz="quarter" idx="22"/>
          </p:nvPr>
        </p:nvSpPr>
        <p:spPr/>
        <p:txBody>
          <a:bodyPr/>
          <a:lstStyle/>
          <a:p>
            <a:r>
              <a:rPr lang="en-US" altLang="zh-CN" dirty="0">
                <a:sym typeface="Huawei Sans" panose="020C0503030203020204" pitchFamily="34" charset="0"/>
              </a:rPr>
              <a:t>2021.07.15</a:t>
            </a:r>
            <a:endParaRPr lang="zh-CN" altLang="en-US" dirty="0">
              <a:sym typeface="Huawei Sans" panose="020C0503030203020204" pitchFamily="34" charset="0"/>
            </a:endParaRPr>
          </a:p>
        </p:txBody>
      </p:sp>
      <p:sp>
        <p:nvSpPr>
          <p:cNvPr id="56" name="文本占位符 55"/>
          <p:cNvSpPr>
            <a:spLocks noGrp="1"/>
          </p:cNvSpPr>
          <p:nvPr>
            <p:ph type="body" sz="quarter" idx="23"/>
          </p:nvPr>
        </p:nvSpPr>
        <p:spPr/>
        <p:txBody>
          <a:bodyPr/>
          <a:lstStyle/>
          <a:p>
            <a:r>
              <a:rPr lang="zh-CN" altLang="en-US" dirty="0">
                <a:sym typeface="Huawei Sans" panose="020C0503030203020204" pitchFamily="34" charset="0"/>
              </a:rPr>
              <a:t>何军建</a:t>
            </a:r>
            <a:r>
              <a:rPr lang="en-US" altLang="zh-CN" dirty="0">
                <a:sym typeface="Huawei Sans" panose="020C0503030203020204" pitchFamily="34" charset="0"/>
              </a:rPr>
              <a:t>/WX580230</a:t>
            </a:r>
            <a:endParaRPr lang="zh-CN" altLang="en-US" dirty="0">
              <a:sym typeface="Huawei Sans" panose="020C0503030203020204" pitchFamily="34" charset="0"/>
            </a:endParaRPr>
          </a:p>
        </p:txBody>
      </p:sp>
      <p:sp>
        <p:nvSpPr>
          <p:cNvPr id="57" name="文本占位符 56"/>
          <p:cNvSpPr>
            <a:spLocks noGrp="1"/>
          </p:cNvSpPr>
          <p:nvPr>
            <p:ph type="body" sz="quarter" idx="24"/>
          </p:nvPr>
        </p:nvSpPr>
        <p:spPr/>
        <p:txBody>
          <a:bodyPr/>
          <a:lstStyle/>
          <a:p>
            <a:r>
              <a:rPr lang="zh-CN" altLang="en-US" dirty="0">
                <a:sym typeface="Huawei Sans" panose="020C0503030203020204" pitchFamily="34" charset="0"/>
              </a:rPr>
              <a:t>优化</a:t>
            </a:r>
          </a:p>
        </p:txBody>
      </p:sp>
      <p:sp>
        <p:nvSpPr>
          <p:cNvPr id="58" name="文本占位符 57"/>
          <p:cNvSpPr>
            <a:spLocks noGrp="1"/>
          </p:cNvSpPr>
          <p:nvPr>
            <p:ph type="body" sz="quarter" idx="25"/>
          </p:nvPr>
        </p:nvSpPr>
        <p:spPr/>
        <p:txBody>
          <a:bodyPr/>
          <a:lstStyle/>
          <a:p>
            <a:endParaRPr lang="zh-CN" altLang="en-US" dirty="0">
              <a:sym typeface="Huawei Sans" panose="020C0503030203020204" pitchFamily="34" charset="0"/>
            </a:endParaRPr>
          </a:p>
        </p:txBody>
      </p:sp>
      <p:sp>
        <p:nvSpPr>
          <p:cNvPr id="59" name="文本占位符 58"/>
          <p:cNvSpPr>
            <a:spLocks noGrp="1"/>
          </p:cNvSpPr>
          <p:nvPr>
            <p:ph type="body" sz="quarter" idx="26"/>
          </p:nvPr>
        </p:nvSpPr>
        <p:spPr/>
        <p:txBody>
          <a:bodyPr/>
          <a:lstStyle/>
          <a:p>
            <a:endParaRPr lang="zh-CN" altLang="en-US">
              <a:sym typeface="Huawei Sans" panose="020C0503030203020204" pitchFamily="34" charset="0"/>
            </a:endParaRPr>
          </a:p>
        </p:txBody>
      </p:sp>
      <p:sp>
        <p:nvSpPr>
          <p:cNvPr id="60" name="文本占位符 59"/>
          <p:cNvSpPr>
            <a:spLocks noGrp="1"/>
          </p:cNvSpPr>
          <p:nvPr>
            <p:ph type="body" sz="quarter" idx="27"/>
          </p:nvPr>
        </p:nvSpPr>
        <p:spPr/>
        <p:txBody>
          <a:bodyPr/>
          <a:lstStyle/>
          <a:p>
            <a:endParaRPr lang="zh-CN" altLang="en-US" dirty="0">
              <a:sym typeface="Huawei Sans" panose="020C0503030203020204" pitchFamily="34" charset="0"/>
            </a:endParaRPr>
          </a:p>
        </p:txBody>
      </p:sp>
      <p:sp>
        <p:nvSpPr>
          <p:cNvPr id="61" name="文本占位符 60"/>
          <p:cNvSpPr>
            <a:spLocks noGrp="1"/>
          </p:cNvSpPr>
          <p:nvPr>
            <p:ph type="body" sz="quarter" idx="28"/>
          </p:nvPr>
        </p:nvSpPr>
        <p:spPr/>
        <p:txBody>
          <a:bodyPr/>
          <a:lstStyle/>
          <a:p>
            <a:endParaRPr lang="zh-CN" altLang="en-US">
              <a:sym typeface="Huawei Sans" panose="020C0503030203020204" pitchFamily="34" charset="0"/>
            </a:endParaRPr>
          </a:p>
        </p:txBody>
      </p:sp>
      <p:sp>
        <p:nvSpPr>
          <p:cNvPr id="62" name="文本占位符 61"/>
          <p:cNvSpPr>
            <a:spLocks noGrp="1"/>
          </p:cNvSpPr>
          <p:nvPr>
            <p:ph type="body" sz="quarter" idx="29"/>
          </p:nvPr>
        </p:nvSpPr>
        <p:spPr/>
        <p:txBody>
          <a:bodyPr/>
          <a:lstStyle/>
          <a:p>
            <a:endParaRPr lang="zh-CN" altLang="en-US">
              <a:sym typeface="Huawei Sans" panose="020C0503030203020204" pitchFamily="34" charset="0"/>
            </a:endParaRPr>
          </a:p>
        </p:txBody>
      </p:sp>
      <p:sp>
        <p:nvSpPr>
          <p:cNvPr id="63" name="文本占位符 62"/>
          <p:cNvSpPr>
            <a:spLocks noGrp="1"/>
          </p:cNvSpPr>
          <p:nvPr>
            <p:ph type="body" sz="quarter" idx="30"/>
          </p:nvPr>
        </p:nvSpPr>
        <p:spPr/>
        <p:txBody>
          <a:bodyPr/>
          <a:lstStyle/>
          <a:p>
            <a:endParaRPr lang="zh-CN" altLang="en-US">
              <a:sym typeface="Huawei Sans" panose="020C0503030203020204" pitchFamily="34" charset="0"/>
            </a:endParaRPr>
          </a:p>
        </p:txBody>
      </p:sp>
      <p:sp>
        <p:nvSpPr>
          <p:cNvPr id="64" name="文本占位符 63"/>
          <p:cNvSpPr>
            <a:spLocks noGrp="1"/>
          </p:cNvSpPr>
          <p:nvPr>
            <p:ph type="body" sz="quarter" idx="31"/>
          </p:nvPr>
        </p:nvSpPr>
        <p:spPr/>
        <p:txBody>
          <a:bodyPr/>
          <a:lstStyle/>
          <a:p>
            <a:endParaRPr lang="zh-CN" altLang="en-US">
              <a:sym typeface="Huawei Sans" panose="020C0503030203020204" pitchFamily="34" charset="0"/>
            </a:endParaRPr>
          </a:p>
        </p:txBody>
      </p:sp>
      <p:sp>
        <p:nvSpPr>
          <p:cNvPr id="65" name="文本占位符 64"/>
          <p:cNvSpPr>
            <a:spLocks noGrp="1"/>
          </p:cNvSpPr>
          <p:nvPr>
            <p:ph type="body" sz="quarter" idx="32"/>
          </p:nvPr>
        </p:nvSpPr>
        <p:spPr/>
        <p:txBody>
          <a:bodyPr/>
          <a:lstStyle/>
          <a:p>
            <a:endParaRPr lang="zh-CN" altLang="en-US">
              <a:sym typeface="Huawei Sans" panose="020C0503030203020204" pitchFamily="34" charset="0"/>
            </a:endParaRPr>
          </a:p>
        </p:txBody>
      </p:sp>
    </p:spTree>
    <p:extLst>
      <p:ext uri="{BB962C8B-B14F-4D97-AF65-F5344CB8AC3E}">
        <p14:creationId xmlns:p14="http://schemas.microsoft.com/office/powerpoint/2010/main" val="1149700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lstStyle/>
          <a:p>
            <a:r>
              <a:rPr lang="zh-CN" altLang="en-US" dirty="0">
                <a:sym typeface="Huawei Sans" panose="020C0503030203020204" pitchFamily="34" charset="0"/>
              </a:rPr>
              <a:t>企业园区网络综述</a:t>
            </a:r>
          </a:p>
        </p:txBody>
      </p:sp>
    </p:spTree>
    <p:extLst>
      <p:ext uri="{BB962C8B-B14F-4D97-AF65-F5344CB8AC3E}">
        <p14:creationId xmlns:p14="http://schemas.microsoft.com/office/powerpoint/2010/main" val="2080284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sz="2000" dirty="0">
                <a:sym typeface="Huawei Sans" panose="020C0503030203020204" pitchFamily="34" charset="0"/>
              </a:rPr>
              <a:t>在一个城市中，除了马路和家庭之外，可以说都是园区：如工厂、政府机关、商场、写字楼、校园、公园等。据统计，</a:t>
            </a:r>
            <a:r>
              <a:rPr lang="en-US" altLang="zh-CN" sz="2000" dirty="0">
                <a:sym typeface="Huawei Sans" panose="020C0503030203020204" pitchFamily="34" charset="0"/>
              </a:rPr>
              <a:t>90%</a:t>
            </a:r>
            <a:r>
              <a:rPr lang="zh-CN" altLang="en-US" sz="2000" dirty="0">
                <a:sym typeface="Huawei Sans" panose="020C0503030203020204" pitchFamily="34" charset="0"/>
              </a:rPr>
              <a:t>的城市居民工作与生活在园区，</a:t>
            </a:r>
            <a:r>
              <a:rPr lang="en-US" altLang="zh-CN" sz="2000" dirty="0">
                <a:sym typeface="Huawei Sans" panose="020C0503030203020204" pitchFamily="34" charset="0"/>
              </a:rPr>
              <a:t>80%</a:t>
            </a:r>
            <a:r>
              <a:rPr lang="zh-CN" altLang="en-US" sz="2000" dirty="0">
                <a:sym typeface="Huawei Sans" panose="020C0503030203020204" pitchFamily="34" charset="0"/>
              </a:rPr>
              <a:t>的</a:t>
            </a:r>
            <a:r>
              <a:rPr lang="en-US" altLang="zh-CN" sz="2000" dirty="0">
                <a:sym typeface="Huawei Sans" panose="020C0503030203020204" pitchFamily="34" charset="0"/>
              </a:rPr>
              <a:t>GDP</a:t>
            </a:r>
            <a:r>
              <a:rPr lang="zh-CN" altLang="en-US" sz="2000" dirty="0">
                <a:sym typeface="Huawei Sans" panose="020C0503030203020204" pitchFamily="34" charset="0"/>
              </a:rPr>
              <a:t>（</a:t>
            </a:r>
            <a:r>
              <a:rPr lang="en-US" altLang="zh-CN" sz="2000" dirty="0">
                <a:sym typeface="Huawei Sans" panose="020C0503030203020204" pitchFamily="34" charset="0"/>
              </a:rPr>
              <a:t>Gross Domestic Product</a:t>
            </a:r>
            <a:r>
              <a:rPr lang="zh-CN" altLang="en-US" sz="2000" dirty="0">
                <a:sym typeface="Huawei Sans" panose="020C0503030203020204" pitchFamily="34" charset="0"/>
              </a:rPr>
              <a:t>，国内生产总值）创造在园区，而每个人每天有</a:t>
            </a:r>
            <a:r>
              <a:rPr lang="en-US" altLang="zh-CN" sz="2000" dirty="0">
                <a:sym typeface="Huawei Sans" panose="020C0503030203020204" pitchFamily="34" charset="0"/>
              </a:rPr>
              <a:t>18</a:t>
            </a:r>
            <a:r>
              <a:rPr lang="zh-CN" altLang="en-US" sz="2000" dirty="0">
                <a:sym typeface="Huawei Sans" panose="020C0503030203020204" pitchFamily="34" charset="0"/>
              </a:rPr>
              <a:t>个小时都身处在园区中。园区网络作为园区通向数字世界的基础设施，是园区建设不可或缺的一部分，并且在日常办公、研发生产、运营管理中扮演着越来越重要的角色。</a:t>
            </a:r>
          </a:p>
          <a:p>
            <a:r>
              <a:rPr lang="zh-CN" altLang="en-US" sz="2000" dirty="0">
                <a:sym typeface="Huawei Sans" panose="020C0503030203020204" pitchFamily="34" charset="0"/>
              </a:rPr>
              <a:t>本课程主要介绍企业园区网络的概念、园区网络的常见架构、园区网络的趋势与挑战，以及常见的园区网络技术，并介绍这些技术的典型应用，以便读者能更好地学习后续园区网络设计相关内容。</a:t>
            </a:r>
          </a:p>
          <a:p>
            <a:endParaRPr lang="zh-CN" altLang="en-US" sz="2000" dirty="0">
              <a:sym typeface="Huawei Sans" panose="020C0503030203020204" pitchFamily="34" charset="0"/>
            </a:endParaRPr>
          </a:p>
        </p:txBody>
      </p:sp>
    </p:spTree>
    <p:extLst>
      <p:ext uri="{BB962C8B-B14F-4D97-AF65-F5344CB8AC3E}">
        <p14:creationId xmlns:p14="http://schemas.microsoft.com/office/powerpoint/2010/main" val="830512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dirty="0">
                <a:sym typeface="Huawei Sans" panose="020C0503030203020204" pitchFamily="34" charset="0"/>
              </a:rPr>
              <a:t>学习完本课程后，您将能够：</a:t>
            </a:r>
          </a:p>
          <a:p>
            <a:pPr lvl="1"/>
            <a:r>
              <a:rPr lang="zh-CN" altLang="en-US" dirty="0">
                <a:sym typeface="Huawei Sans" panose="020C0503030203020204" pitchFamily="34" charset="0"/>
              </a:rPr>
              <a:t>描述什么是园区网络</a:t>
            </a:r>
            <a:endParaRPr lang="en-US" altLang="zh-CN" dirty="0">
              <a:sym typeface="Huawei Sans" panose="020C0503030203020204" pitchFamily="34" charset="0"/>
            </a:endParaRPr>
          </a:p>
          <a:p>
            <a:pPr lvl="1"/>
            <a:r>
              <a:rPr lang="zh-CN" altLang="en-US" dirty="0">
                <a:sym typeface="Huawei Sans" panose="020C0503030203020204" pitchFamily="34" charset="0"/>
              </a:rPr>
              <a:t>描述园区网络的典型架构</a:t>
            </a:r>
            <a:endParaRPr lang="en-US" altLang="zh-CN" dirty="0">
              <a:sym typeface="Huawei Sans" panose="020C0503030203020204" pitchFamily="34" charset="0"/>
            </a:endParaRPr>
          </a:p>
          <a:p>
            <a:pPr lvl="1"/>
            <a:r>
              <a:rPr lang="zh-CN" altLang="en-US" dirty="0">
                <a:sym typeface="Huawei Sans" panose="020C0503030203020204" pitchFamily="34" charset="0"/>
              </a:rPr>
              <a:t>描述园区网络的发展趋势与面临的挑战</a:t>
            </a:r>
          </a:p>
          <a:p>
            <a:pPr lvl="1"/>
            <a:r>
              <a:rPr lang="zh-CN" altLang="en-US" dirty="0">
                <a:sym typeface="Huawei Sans" panose="020C0503030203020204" pitchFamily="34" charset="0"/>
              </a:rPr>
              <a:t>描述华为云园区网络解决方案</a:t>
            </a:r>
          </a:p>
          <a:p>
            <a:pPr lvl="1"/>
            <a:r>
              <a:rPr lang="zh-CN" altLang="en-US" dirty="0">
                <a:sym typeface="Huawei Sans" panose="020C0503030203020204" pitchFamily="34" charset="0"/>
              </a:rPr>
              <a:t>理解园区网络使用的常见技术</a:t>
            </a:r>
            <a:endParaRPr lang="en-US" altLang="zh-CN" dirty="0">
              <a:sym typeface="Huawei Sans" panose="020C0503030203020204" pitchFamily="34" charset="0"/>
            </a:endParaRPr>
          </a:p>
          <a:p>
            <a:pPr lvl="1"/>
            <a:r>
              <a:rPr lang="zh-CN" altLang="en-US" dirty="0">
                <a:sym typeface="Huawei Sans" panose="020C0503030203020204" pitchFamily="34" charset="0"/>
              </a:rPr>
              <a:t>描述常见园区网络的技术应用</a:t>
            </a:r>
          </a:p>
        </p:txBody>
      </p:sp>
    </p:spTree>
    <p:extLst>
      <p:ext uri="{BB962C8B-B14F-4D97-AF65-F5344CB8AC3E}">
        <p14:creationId xmlns:p14="http://schemas.microsoft.com/office/powerpoint/2010/main" val="1405184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bwMode="gray"/>
        <p:txBody>
          <a:bodyPr/>
          <a:lstStyle/>
          <a:p>
            <a:r>
              <a:rPr lang="zh-CN" altLang="en-US" b="1" dirty="0">
                <a:sym typeface="Huawei Sans" panose="020C0503030203020204" pitchFamily="34" charset="0"/>
              </a:rPr>
              <a:t>园区网络概述</a:t>
            </a:r>
          </a:p>
          <a:p>
            <a:r>
              <a:rPr lang="zh-CN" altLang="en-US" dirty="0">
                <a:solidFill>
                  <a:schemeClr val="bg1">
                    <a:lumMod val="50000"/>
                  </a:schemeClr>
                </a:solidFill>
                <a:sym typeface="Huawei Sans" panose="020C0503030203020204" pitchFamily="34" charset="0"/>
              </a:rPr>
              <a:t>园区网络的挑战与华为云园区网络解决方案</a:t>
            </a:r>
            <a:endParaRPr lang="en-US" altLang="zh-CN" dirty="0">
              <a:solidFill>
                <a:schemeClr val="bg1">
                  <a:lumMod val="50000"/>
                </a:schemeClr>
              </a:solidFill>
              <a:sym typeface="Huawei Sans" panose="020C0503030203020204" pitchFamily="34" charset="0"/>
            </a:endParaRPr>
          </a:p>
          <a:p>
            <a:r>
              <a:rPr lang="zh-CN" altLang="en-US" dirty="0">
                <a:solidFill>
                  <a:schemeClr val="bg1">
                    <a:lumMod val="50000"/>
                  </a:schemeClr>
                </a:solidFill>
                <a:sym typeface="Huawei Sans" panose="020C0503030203020204" pitchFamily="34" charset="0"/>
              </a:rPr>
              <a:t>典型园区网络技术</a:t>
            </a:r>
            <a:endParaRPr lang="en-US" altLang="zh-CN" dirty="0">
              <a:solidFill>
                <a:schemeClr val="bg1">
                  <a:lumMod val="50000"/>
                </a:schemeClr>
              </a:solidFill>
              <a:sym typeface="Huawei Sans" panose="020C0503030203020204" pitchFamily="34" charset="0"/>
            </a:endParaRPr>
          </a:p>
          <a:p>
            <a:r>
              <a:rPr lang="zh-CN" altLang="en-US" dirty="0">
                <a:solidFill>
                  <a:schemeClr val="bg1">
                    <a:lumMod val="50000"/>
                  </a:schemeClr>
                </a:solidFill>
                <a:sym typeface="Huawei Sans" panose="020C0503030203020204" pitchFamily="34" charset="0"/>
              </a:rPr>
              <a:t>典型园区网络案例</a:t>
            </a:r>
          </a:p>
          <a:p>
            <a:endParaRPr lang="en-US" altLang="zh-CN" dirty="0">
              <a:solidFill>
                <a:schemeClr val="bg1">
                  <a:lumMod val="50000"/>
                </a:schemeClr>
              </a:solidFill>
              <a:sym typeface="Huawei Sans" panose="020C0503030203020204" pitchFamily="34" charset="0"/>
            </a:endParaRPr>
          </a:p>
        </p:txBody>
      </p:sp>
    </p:spTree>
    <p:extLst>
      <p:ext uri="{BB962C8B-B14F-4D97-AF65-F5344CB8AC3E}">
        <p14:creationId xmlns:p14="http://schemas.microsoft.com/office/powerpoint/2010/main" val="1648518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sym typeface="Huawei Sans" panose="020C0503030203020204" pitchFamily="34" charset="0"/>
              </a:rPr>
              <a:t>园区无处不在</a:t>
            </a:r>
          </a:p>
        </p:txBody>
      </p:sp>
      <p:sp>
        <p:nvSpPr>
          <p:cNvPr id="6" name="等腰三角形 5"/>
          <p:cNvSpPr/>
          <p:nvPr/>
        </p:nvSpPr>
        <p:spPr bwMode="gray">
          <a:xfrm rot="10800000" flipV="1">
            <a:off x="1841633" y="3415922"/>
            <a:ext cx="8508734" cy="2558580"/>
          </a:xfrm>
          <a:prstGeom prst="triangle">
            <a:avLst/>
          </a:prstGeom>
          <a:gradFill>
            <a:gsLst>
              <a:gs pos="0">
                <a:schemeClr val="bg2"/>
              </a:gs>
              <a:gs pos="65000">
                <a:schemeClr val="bg1"/>
              </a:gs>
            </a:gsLst>
            <a:lin ang="5400000" scaled="1"/>
          </a:gradFill>
          <a:ln>
            <a:noFill/>
          </a:ln>
          <a:effectLst/>
        </p:spPr>
        <p:txBody>
          <a:bodyPr vert="horz" wrap="square" lIns="91404" tIns="45702" rIns="91404" bIns="45702" numCol="1" rtlCol="0" anchor="t" anchorCtr="0" compatLnSpc="1">
            <a:prstTxWarp prst="textNoShape">
              <a:avLst/>
            </a:prstTxWarp>
          </a:bodyPr>
          <a:lstStyle/>
          <a:p>
            <a:pPr defTabSz="914034" fontAlgn="base">
              <a:spcBef>
                <a:spcPct val="0"/>
              </a:spcBef>
              <a:spcAft>
                <a:spcPct val="0"/>
              </a:spcAft>
              <a:buClr>
                <a:srgbClr val="CC9900"/>
              </a:buClr>
              <a:buFont typeface="Wingdings" pitchFamily="2" charset="2"/>
              <a:buChar char="n"/>
            </a:pPr>
            <a:endParaRPr lang="zh-CN" altLang="en-US" sz="1799" kern="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等腰三角形 6"/>
          <p:cNvSpPr/>
          <p:nvPr/>
        </p:nvSpPr>
        <p:spPr bwMode="gray">
          <a:xfrm rot="16200000" flipH="1" flipV="1">
            <a:off x="1517538" y="1381118"/>
            <a:ext cx="4769478" cy="4103421"/>
          </a:xfrm>
          <a:prstGeom prst="triangle">
            <a:avLst/>
          </a:prstGeom>
          <a:gradFill>
            <a:gsLst>
              <a:gs pos="0">
                <a:schemeClr val="bg2"/>
              </a:gs>
              <a:gs pos="65000">
                <a:schemeClr val="bg1"/>
              </a:gs>
            </a:gsLst>
            <a:lin ang="5400000" scaled="1"/>
          </a:gradFill>
          <a:ln>
            <a:noFill/>
          </a:ln>
          <a:effectLst/>
        </p:spPr>
        <p:txBody>
          <a:bodyPr vert="horz" wrap="square" lIns="91404" tIns="45702" rIns="91404" bIns="45702" numCol="1" rtlCol="0" anchor="t" anchorCtr="0" compatLnSpc="1">
            <a:prstTxWarp prst="textNoShape">
              <a:avLst/>
            </a:prstTxWarp>
          </a:bodyPr>
          <a:lstStyle/>
          <a:p>
            <a:pPr defTabSz="914034" fontAlgn="base">
              <a:spcBef>
                <a:spcPct val="0"/>
              </a:spcBef>
              <a:spcAft>
                <a:spcPct val="0"/>
              </a:spcAft>
              <a:buClr>
                <a:srgbClr val="CC9900"/>
              </a:buClr>
              <a:buFont typeface="Wingdings" pitchFamily="2" charset="2"/>
              <a:buChar char="n"/>
            </a:pPr>
            <a:endParaRPr lang="zh-CN" altLang="en-US" sz="1799" ker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等腰三角形 7"/>
          <p:cNvSpPr/>
          <p:nvPr/>
        </p:nvSpPr>
        <p:spPr bwMode="gray">
          <a:xfrm rot="5400000" flipV="1">
            <a:off x="5913918" y="1381118"/>
            <a:ext cx="4769478" cy="4103421"/>
          </a:xfrm>
          <a:prstGeom prst="triangle">
            <a:avLst/>
          </a:prstGeom>
          <a:gradFill>
            <a:gsLst>
              <a:gs pos="0">
                <a:schemeClr val="bg2"/>
              </a:gs>
              <a:gs pos="65000">
                <a:schemeClr val="bg1"/>
              </a:gs>
            </a:gsLst>
            <a:lin ang="5400000" scaled="1"/>
          </a:gradFill>
          <a:ln>
            <a:noFill/>
          </a:ln>
          <a:effectLst/>
        </p:spPr>
        <p:txBody>
          <a:bodyPr vert="horz" wrap="square" lIns="91404" tIns="45702" rIns="91404" bIns="45702" numCol="1" rtlCol="0" anchor="t" anchorCtr="0" compatLnSpc="1">
            <a:prstTxWarp prst="textNoShape">
              <a:avLst/>
            </a:prstTxWarp>
          </a:bodyPr>
          <a:lstStyle/>
          <a:p>
            <a:pPr defTabSz="914034" fontAlgn="base">
              <a:spcBef>
                <a:spcPct val="0"/>
              </a:spcBef>
              <a:spcAft>
                <a:spcPct val="0"/>
              </a:spcAft>
              <a:buClr>
                <a:srgbClr val="CC9900"/>
              </a:buClr>
              <a:buFont typeface="Wingdings" pitchFamily="2" charset="2"/>
              <a:buChar char="n"/>
            </a:pPr>
            <a:endParaRPr lang="zh-CN" altLang="en-US" sz="1799" ker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TextBox 54">
            <a:hlinkClick r:id="" action="ppaction://noaction"/>
          </p:cNvPr>
          <p:cNvSpPr txBox="1"/>
          <p:nvPr/>
        </p:nvSpPr>
        <p:spPr bwMode="gray">
          <a:xfrm>
            <a:off x="3198348" y="2947798"/>
            <a:ext cx="1262700" cy="453183"/>
          </a:xfrm>
          <a:prstGeom prst="rect">
            <a:avLst/>
          </a:prstGeom>
          <a:noFill/>
        </p:spPr>
        <p:txBody>
          <a:bodyPr wrap="none" lIns="72000" tIns="72000" rIns="72000" bIns="72000" anchor="ctr" anchorCtr="0">
            <a:spAutoFit/>
          </a:bodyPr>
          <a:lstStyle/>
          <a:p>
            <a:pPr algn="ctr" defTabSz="457231" fontAlgn="auto">
              <a:spcBef>
                <a:spcPts val="0"/>
              </a:spcBef>
              <a:spcAft>
                <a:spcPts val="0"/>
              </a:spcAft>
              <a:defRPr/>
            </a:pPr>
            <a:r>
              <a:rPr lang="en-US" altLang="zh-CN" sz="2000" b="1" kern="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5 h&amp;22 h</a:t>
            </a:r>
          </a:p>
        </p:txBody>
      </p:sp>
      <p:sp>
        <p:nvSpPr>
          <p:cNvPr id="10" name="TextBox 55">
            <a:hlinkClick r:id="" action="ppaction://noaction"/>
          </p:cNvPr>
          <p:cNvSpPr txBox="1"/>
          <p:nvPr/>
        </p:nvSpPr>
        <p:spPr bwMode="gray">
          <a:xfrm>
            <a:off x="5618602" y="1560796"/>
            <a:ext cx="913245" cy="453183"/>
          </a:xfrm>
          <a:prstGeom prst="rect">
            <a:avLst/>
          </a:prstGeom>
          <a:noFill/>
        </p:spPr>
        <p:txBody>
          <a:bodyPr wrap="none" lIns="72000" tIns="72000" rIns="72000" bIns="72000" anchor="ctr" anchorCtr="0">
            <a:spAutoFit/>
          </a:bodyPr>
          <a:lstStyle>
            <a:defPPr>
              <a:defRPr lang="en-US"/>
            </a:defPPr>
            <a:lvl1pPr algn="ctr" defTabSz="457231" fontAlgn="auto">
              <a:spcBef>
                <a:spcPts val="0"/>
              </a:spcBef>
              <a:spcAft>
                <a:spcPts val="0"/>
              </a:spcAft>
              <a:defRPr sz="2000" b="1" kern="0">
                <a:solidFill>
                  <a:srgbClr val="C7000B"/>
                </a:solidFill>
                <a:latin typeface="Huawei Sans" panose="020C0503030203020204" pitchFamily="34" charset="0"/>
                <a:ea typeface="方正兰亭黑简体" panose="02000000000000000000" pitchFamily="2" charset="-122"/>
                <a:cs typeface="Arial" panose="020B0604020202020204" pitchFamily="34" charset="0"/>
              </a:defRPr>
            </a:lvl1pPr>
          </a:lstStyle>
          <a:p>
            <a:r>
              <a:rPr lang="en-US" dirty="0">
                <a:sym typeface="Huawei Sans" panose="020C0503030203020204" pitchFamily="34" charset="0"/>
              </a:rPr>
              <a:t>90% +</a:t>
            </a:r>
          </a:p>
        </p:txBody>
      </p:sp>
      <p:sp>
        <p:nvSpPr>
          <p:cNvPr id="11" name="TextBox 56">
            <a:hlinkClick r:id="" action="ppaction://noaction"/>
          </p:cNvPr>
          <p:cNvSpPr txBox="1"/>
          <p:nvPr/>
        </p:nvSpPr>
        <p:spPr bwMode="gray">
          <a:xfrm>
            <a:off x="7612228" y="2947797"/>
            <a:ext cx="913245" cy="453183"/>
          </a:xfrm>
          <a:prstGeom prst="rect">
            <a:avLst/>
          </a:prstGeom>
          <a:noFill/>
        </p:spPr>
        <p:txBody>
          <a:bodyPr wrap="none" lIns="72000" tIns="72000" rIns="72000" bIns="72000" anchor="ctr" anchorCtr="0">
            <a:spAutoFit/>
          </a:bodyPr>
          <a:lstStyle>
            <a:defPPr>
              <a:defRPr lang="en-US"/>
            </a:defPPr>
            <a:lvl1pPr algn="ctr" defTabSz="457231" fontAlgn="auto">
              <a:spcBef>
                <a:spcPts val="0"/>
              </a:spcBef>
              <a:spcAft>
                <a:spcPts val="0"/>
              </a:spcAft>
              <a:defRPr sz="2000" b="1" kern="0">
                <a:solidFill>
                  <a:srgbClr val="C7000B"/>
                </a:solidFill>
                <a:latin typeface="Huawei Sans" panose="020C0503030203020204" pitchFamily="34" charset="0"/>
                <a:ea typeface="方正兰亭黑简体" panose="02000000000000000000" pitchFamily="2" charset="-122"/>
                <a:cs typeface="Arial" panose="020B0604020202020204" pitchFamily="34" charset="0"/>
              </a:defRPr>
            </a:lvl1pPr>
          </a:lstStyle>
          <a:p>
            <a:r>
              <a:rPr lang="en-US" dirty="0">
                <a:sym typeface="Huawei Sans" panose="020C0503030203020204" pitchFamily="34" charset="0"/>
              </a:rPr>
              <a:t>80% +</a:t>
            </a:r>
          </a:p>
        </p:txBody>
      </p:sp>
      <p:sp>
        <p:nvSpPr>
          <p:cNvPr id="12" name="TextBox 57">
            <a:hlinkClick r:id="" action="ppaction://noaction"/>
          </p:cNvPr>
          <p:cNvSpPr txBox="1"/>
          <p:nvPr/>
        </p:nvSpPr>
        <p:spPr bwMode="gray">
          <a:xfrm>
            <a:off x="5618602" y="4530193"/>
            <a:ext cx="913245" cy="453183"/>
          </a:xfrm>
          <a:prstGeom prst="rect">
            <a:avLst/>
          </a:prstGeom>
          <a:noFill/>
        </p:spPr>
        <p:txBody>
          <a:bodyPr wrap="none" lIns="72000" tIns="72000" rIns="72000" bIns="72000" anchor="ctr" anchorCtr="0">
            <a:spAutoFit/>
          </a:bodyPr>
          <a:lstStyle>
            <a:defPPr>
              <a:defRPr lang="en-US"/>
            </a:defPPr>
            <a:lvl1pPr algn="ctr" defTabSz="457231" fontAlgn="auto">
              <a:spcBef>
                <a:spcPts val="0"/>
              </a:spcBef>
              <a:spcAft>
                <a:spcPts val="0"/>
              </a:spcAft>
              <a:defRPr sz="2000" b="1" kern="0">
                <a:solidFill>
                  <a:srgbClr val="C7000B"/>
                </a:solidFill>
                <a:latin typeface="Huawei Sans" panose="020C0503030203020204" pitchFamily="34" charset="0"/>
                <a:ea typeface="方正兰亭黑简体" panose="02000000000000000000" pitchFamily="2" charset="-122"/>
                <a:cs typeface="Arial" panose="020B0604020202020204" pitchFamily="34" charset="0"/>
              </a:defRPr>
            </a:lvl1pPr>
          </a:lstStyle>
          <a:p>
            <a:r>
              <a:rPr lang="en-US" dirty="0">
                <a:sym typeface="Huawei Sans" panose="020C0503030203020204" pitchFamily="34" charset="0"/>
              </a:rPr>
              <a:t>90% +</a:t>
            </a:r>
          </a:p>
        </p:txBody>
      </p:sp>
      <p:sp>
        <p:nvSpPr>
          <p:cNvPr id="14" name="Rounded Rectangle 85"/>
          <p:cNvSpPr/>
          <p:nvPr/>
        </p:nvSpPr>
        <p:spPr bwMode="gray">
          <a:xfrm>
            <a:off x="4583609" y="1987792"/>
            <a:ext cx="2983230" cy="442674"/>
          </a:xfrm>
          <a:prstGeom prst="roundRect">
            <a:avLst/>
          </a:prstGeom>
          <a:noFill/>
          <a:ln>
            <a:noFill/>
          </a:ln>
          <a:effectLst/>
        </p:spPr>
        <p:txBody>
          <a:bodyPr wrap="square" anchor="ctr">
            <a:spAutoFit/>
          </a:bodyPr>
          <a:lstStyle/>
          <a:p>
            <a:pPr algn="ctr" defTabSz="914034">
              <a:lnSpc>
                <a:spcPts val="2400"/>
              </a:lnSpc>
            </a:pPr>
            <a:r>
              <a:rPr lang="zh-CN" altLang="en-US" kern="0" dirty="0">
                <a:latin typeface="Huawei Sans" panose="020C0503030203020204" pitchFamily="34" charset="0"/>
                <a:ea typeface="方正兰亭黑简体" panose="02000000000000000000" pitchFamily="2" charset="-122"/>
                <a:sym typeface="Huawei Sans" panose="020C0503030203020204" pitchFamily="34" charset="0"/>
              </a:rPr>
              <a:t>城市居民工作与生活在园区</a:t>
            </a:r>
          </a:p>
        </p:txBody>
      </p:sp>
      <p:sp>
        <p:nvSpPr>
          <p:cNvPr id="15" name="Rounded Rectangle 85"/>
          <p:cNvSpPr/>
          <p:nvPr/>
        </p:nvSpPr>
        <p:spPr bwMode="gray">
          <a:xfrm>
            <a:off x="7566839" y="3382708"/>
            <a:ext cx="1836952" cy="442674"/>
          </a:xfrm>
          <a:prstGeom prst="roundRect">
            <a:avLst/>
          </a:prstGeom>
          <a:noFill/>
          <a:ln>
            <a:noFill/>
          </a:ln>
          <a:effectLst/>
        </p:spPr>
        <p:txBody>
          <a:bodyPr wrap="square" anchor="ctr">
            <a:spAutoFit/>
          </a:bodyPr>
          <a:lstStyle/>
          <a:p>
            <a:pPr defTabSz="914034">
              <a:lnSpc>
                <a:spcPts val="2400"/>
              </a:lnSpc>
            </a:pPr>
            <a:r>
              <a:rPr lang="en-US" altLang="zh-CN" kern="0">
                <a:latin typeface="Huawei Sans" panose="020C0503030203020204" pitchFamily="34" charset="0"/>
                <a:ea typeface="方正兰亭黑简体" panose="02000000000000000000" pitchFamily="2" charset="-122"/>
                <a:sym typeface="Huawei Sans" panose="020C0503030203020204" pitchFamily="34" charset="0"/>
              </a:rPr>
              <a:t>GDP</a:t>
            </a:r>
            <a:r>
              <a:rPr lang="zh-CN" altLang="en-US" kern="0">
                <a:latin typeface="Huawei Sans" panose="020C0503030203020204" pitchFamily="34" charset="0"/>
                <a:ea typeface="方正兰亭黑简体" panose="02000000000000000000" pitchFamily="2" charset="-122"/>
                <a:sym typeface="Huawei Sans" panose="020C0503030203020204" pitchFamily="34" charset="0"/>
              </a:rPr>
              <a:t>创造在园区</a:t>
            </a:r>
          </a:p>
        </p:txBody>
      </p:sp>
      <p:sp>
        <p:nvSpPr>
          <p:cNvPr id="16" name="Rounded Rectangle 85"/>
          <p:cNvSpPr/>
          <p:nvPr/>
        </p:nvSpPr>
        <p:spPr bwMode="gray">
          <a:xfrm>
            <a:off x="5157565" y="4982542"/>
            <a:ext cx="1835319" cy="442674"/>
          </a:xfrm>
          <a:prstGeom prst="roundRect">
            <a:avLst/>
          </a:prstGeom>
          <a:noFill/>
          <a:ln>
            <a:noFill/>
          </a:ln>
          <a:effectLst/>
        </p:spPr>
        <p:txBody>
          <a:bodyPr wrap="square" anchor="ctr">
            <a:spAutoFit/>
          </a:bodyPr>
          <a:lstStyle/>
          <a:p>
            <a:pPr algn="ctr" defTabSz="914034">
              <a:lnSpc>
                <a:spcPts val="2400"/>
              </a:lnSpc>
            </a:pPr>
            <a:r>
              <a:rPr lang="zh-CN" altLang="en-US" kern="0">
                <a:latin typeface="Huawei Sans" panose="020C0503030203020204" pitchFamily="34" charset="0"/>
                <a:ea typeface="方正兰亭黑简体" panose="02000000000000000000" pitchFamily="2" charset="-122"/>
                <a:sym typeface="Huawei Sans" panose="020C0503030203020204" pitchFamily="34" charset="0"/>
              </a:rPr>
              <a:t>创新发生在园区</a:t>
            </a:r>
          </a:p>
        </p:txBody>
      </p:sp>
      <p:sp>
        <p:nvSpPr>
          <p:cNvPr id="17" name="Rounded Rectangle 85"/>
          <p:cNvSpPr/>
          <p:nvPr/>
        </p:nvSpPr>
        <p:spPr bwMode="gray">
          <a:xfrm>
            <a:off x="1902981" y="3348636"/>
            <a:ext cx="2590735" cy="783193"/>
          </a:xfrm>
          <a:prstGeom prst="roundRect">
            <a:avLst/>
          </a:prstGeom>
          <a:noFill/>
          <a:ln>
            <a:noFill/>
          </a:ln>
          <a:effectLst/>
        </p:spPr>
        <p:txBody>
          <a:bodyPr wrap="square" anchor="ctr">
            <a:spAutoFit/>
          </a:bodyPr>
          <a:lstStyle/>
          <a:p>
            <a:pPr algn="r" defTabSz="914034">
              <a:lnSpc>
                <a:spcPts val="2400"/>
              </a:lnSpc>
            </a:pPr>
            <a:r>
              <a:rPr lang="zh-CN" altLang="en-US" kern="0" dirty="0">
                <a:latin typeface="Huawei Sans" panose="020C0503030203020204" pitchFamily="34" charset="0"/>
                <a:ea typeface="方正兰亭黑简体" panose="02000000000000000000" pitchFamily="2" charset="-122"/>
                <a:sym typeface="Huawei Sans" panose="020C0503030203020204" pitchFamily="34" charset="0"/>
              </a:rPr>
              <a:t>每天智能终端使用时间</a:t>
            </a:r>
            <a:r>
              <a:rPr lang="en-US" altLang="zh-CN" kern="0" dirty="0">
                <a:latin typeface="Huawei Sans" panose="020C0503030203020204" pitchFamily="34" charset="0"/>
                <a:ea typeface="方正兰亭黑简体" panose="02000000000000000000" pitchFamily="2" charset="-122"/>
                <a:sym typeface="Huawei Sans" panose="020C0503030203020204" pitchFamily="34" charset="0"/>
              </a:rPr>
              <a:t>&amp;</a:t>
            </a:r>
            <a:r>
              <a:rPr lang="zh-CN" altLang="en-US" kern="0" dirty="0">
                <a:latin typeface="Huawei Sans" panose="020C0503030203020204" pitchFamily="34" charset="0"/>
                <a:ea typeface="方正兰亭黑简体" panose="02000000000000000000" pitchFamily="2" charset="-122"/>
                <a:sym typeface="Huawei Sans" panose="020C0503030203020204" pitchFamily="34" charset="0"/>
              </a:rPr>
              <a:t>在园区内的时间</a:t>
            </a:r>
          </a:p>
        </p:txBody>
      </p:sp>
      <p:pic>
        <p:nvPicPr>
          <p:cNvPr id="4" name="图片 3"/>
          <p:cNvPicPr>
            <a:picLocks/>
          </p:cNvPicPr>
          <p:nvPr/>
        </p:nvPicPr>
        <p:blipFill>
          <a:blip r:embed="rId3"/>
          <a:stretch>
            <a:fillRect/>
          </a:stretch>
        </p:blipFill>
        <p:spPr>
          <a:xfrm>
            <a:off x="4701450" y="2460203"/>
            <a:ext cx="2664000" cy="1776866"/>
          </a:xfrm>
          <a:prstGeom prst="roundRect">
            <a:avLst>
              <a:gd name="adj" fmla="val 50000"/>
            </a:avLst>
          </a:prstGeom>
        </p:spPr>
      </p:pic>
    </p:spTree>
    <p:extLst>
      <p:ext uri="{BB962C8B-B14F-4D97-AF65-F5344CB8AC3E}">
        <p14:creationId xmlns:p14="http://schemas.microsoft.com/office/powerpoint/2010/main" val="4066191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sym typeface="Huawei Sans" panose="020C0503030203020204" pitchFamily="34" charset="0"/>
              </a:rPr>
              <a:t>什么是园区网络？</a:t>
            </a:r>
            <a:endParaRPr lang="zh-CN" altLang="en-US" dirty="0">
              <a:sym typeface="Huawei Sans" panose="020C0503030203020204" pitchFamily="34" charset="0"/>
            </a:endParaRPr>
          </a:p>
        </p:txBody>
      </p:sp>
      <p:sp>
        <p:nvSpPr>
          <p:cNvPr id="3" name="文本占位符 2"/>
          <p:cNvSpPr>
            <a:spLocks noGrp="1"/>
          </p:cNvSpPr>
          <p:nvPr>
            <p:ph type="body" sz="quarter" idx="4294967295"/>
          </p:nvPr>
        </p:nvSpPr>
        <p:spPr>
          <a:xfrm>
            <a:off x="5205413" y="2068286"/>
            <a:ext cx="6507162" cy="3038475"/>
          </a:xfrm>
        </p:spPr>
        <p:txBody>
          <a:bodyPr/>
          <a:lstStyle/>
          <a:p>
            <a:r>
              <a:rPr lang="zh-CN" altLang="en-US" sz="1800" dirty="0">
                <a:sym typeface="Huawei Sans" panose="020C0503030203020204" pitchFamily="34" charset="0"/>
              </a:rPr>
              <a:t>园区网络一般是指企业或者机构的内部网络，与广域网络、数据中心网络相对应。</a:t>
            </a:r>
          </a:p>
          <a:p>
            <a:r>
              <a:rPr lang="zh-CN" altLang="en-US" sz="1800" dirty="0">
                <a:sym typeface="Huawei Sans" panose="020C0503030203020204" pitchFamily="34" charset="0"/>
              </a:rPr>
              <a:t>园区网络的主要目的是使企业的主营业务运作更有效率。</a:t>
            </a:r>
          </a:p>
          <a:p>
            <a:r>
              <a:rPr lang="zh-CN" altLang="en-US" sz="1800" dirty="0">
                <a:sym typeface="Huawei Sans" panose="020C0503030203020204" pitchFamily="34" charset="0"/>
              </a:rPr>
              <a:t>按规模可以划分成大中型园区网络、中小型园区网络。</a:t>
            </a:r>
          </a:p>
          <a:p>
            <a:r>
              <a:rPr lang="zh-CN" altLang="en-US" sz="1800" dirty="0">
                <a:sym typeface="Huawei Sans" panose="020C0503030203020204" pitchFamily="34" charset="0"/>
              </a:rPr>
              <a:t>有些企业还存在不同地域的办公分支机构，每个分支机构网络可看作一个单园区网络。</a:t>
            </a:r>
          </a:p>
        </p:txBody>
      </p:sp>
      <p:pic>
        <p:nvPicPr>
          <p:cNvPr id="4" name="图片 3"/>
          <p:cNvPicPr>
            <a:picLocks/>
          </p:cNvPicPr>
          <p:nvPr/>
        </p:nvPicPr>
        <p:blipFill>
          <a:blip r:embed="rId3"/>
          <a:stretch>
            <a:fillRect/>
          </a:stretch>
        </p:blipFill>
        <p:spPr>
          <a:xfrm>
            <a:off x="1342193" y="2224087"/>
            <a:ext cx="3410782" cy="2257261"/>
          </a:xfrm>
          <a:prstGeom prst="roundRect">
            <a:avLst>
              <a:gd name="adj" fmla="val 8487"/>
            </a:avLst>
          </a:prstGeom>
        </p:spPr>
      </p:pic>
    </p:spTree>
    <p:extLst>
      <p:ext uri="{BB962C8B-B14F-4D97-AF65-F5344CB8AC3E}">
        <p14:creationId xmlns:p14="http://schemas.microsoft.com/office/powerpoint/2010/main" val="3910514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sym typeface="Huawei Sans" panose="020C0503030203020204" pitchFamily="34" charset="0"/>
              </a:rPr>
              <a:t>园区网络的分类 </a:t>
            </a:r>
            <a:r>
              <a:rPr lang="en-US" altLang="zh-CN" dirty="0">
                <a:sym typeface="Huawei Sans" panose="020C0503030203020204" pitchFamily="34" charset="0"/>
              </a:rPr>
              <a:t>(1)</a:t>
            </a:r>
            <a:endParaRPr lang="zh-CN" altLang="en-US" dirty="0">
              <a:sym typeface="Huawei Sans" panose="020C0503030203020204" pitchFamily="34" charset="0"/>
            </a:endParaRPr>
          </a:p>
        </p:txBody>
      </p:sp>
      <p:sp>
        <p:nvSpPr>
          <p:cNvPr id="4" name="Oval 7"/>
          <p:cNvSpPr>
            <a:spLocks noChangeAspect="1" noChangeArrowheads="1"/>
          </p:cNvSpPr>
          <p:nvPr/>
        </p:nvSpPr>
        <p:spPr bwMode="gray">
          <a:xfrm>
            <a:off x="1963801" y="2101367"/>
            <a:ext cx="2655298" cy="2655298"/>
          </a:xfrm>
          <a:prstGeom prst="ellipse">
            <a:avLst/>
          </a:prstGeom>
          <a:noFill/>
          <a:ln w="15875">
            <a:solidFill>
              <a:srgbClr val="94DAE2"/>
            </a:solidFill>
            <a:round/>
            <a:headEnd/>
            <a:tailEnd/>
          </a:ln>
        </p:spPr>
        <p:txBody>
          <a:bodyPr vert="horz" wrap="square" lIns="0" tIns="0" rIns="0" bIns="0" numCol="1" anchor="ctr" anchorCtr="0" compatLnSpc="1">
            <a:prstTxWarp prst="textNoShape">
              <a:avLst/>
            </a:prstTxWarp>
          </a:bodyPr>
          <a:lstStyle/>
          <a:p>
            <a:pPr algn="ctr" defTabSz="914034" fontAlgn="base">
              <a:spcBef>
                <a:spcPct val="0"/>
              </a:spcBef>
              <a:spcAft>
                <a:spcPct val="0"/>
              </a:spcAft>
            </a:pPr>
            <a:endParaRPr lang="zh-CN" altLang="en-US" sz="16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Oval 7"/>
          <p:cNvSpPr>
            <a:spLocks noChangeAspect="1" noChangeArrowheads="1"/>
          </p:cNvSpPr>
          <p:nvPr/>
        </p:nvSpPr>
        <p:spPr bwMode="gray">
          <a:xfrm>
            <a:off x="2818786" y="2956352"/>
            <a:ext cx="945328" cy="945328"/>
          </a:xfrm>
          <a:prstGeom prst="ellipse">
            <a:avLst/>
          </a:prstGeom>
          <a:solidFill>
            <a:srgbClr val="30B5C5"/>
          </a:solidFill>
          <a:ln w="9525">
            <a:noFill/>
            <a:round/>
            <a:headEnd/>
            <a:tailEnd/>
          </a:ln>
        </p:spPr>
        <p:txBody>
          <a:bodyPr vert="horz" wrap="square" lIns="91404" tIns="45702" rIns="91404" bIns="45702" numCol="1" anchor="ctr" anchorCtr="0" compatLnSpc="1">
            <a:prstTxWarp prst="textNoShape">
              <a:avLst/>
            </a:prstTxWarp>
          </a:bodyPr>
          <a:lstStyle/>
          <a:p>
            <a:pPr algn="ctr" defTabSz="914034" fontAlgn="base">
              <a:spcBef>
                <a:spcPct val="0"/>
              </a:spcBef>
              <a:spcAft>
                <a:spcPct val="0"/>
              </a:spcAft>
            </a:pPr>
            <a:r>
              <a:rPr lang="zh-CN" altLang="en-US">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规模</a:t>
            </a:r>
          </a:p>
        </p:txBody>
      </p:sp>
      <p:sp>
        <p:nvSpPr>
          <p:cNvPr id="6" name="Oval 7"/>
          <p:cNvSpPr>
            <a:spLocks noChangeAspect="1" noChangeArrowheads="1"/>
          </p:cNvSpPr>
          <p:nvPr/>
        </p:nvSpPr>
        <p:spPr bwMode="gray">
          <a:xfrm>
            <a:off x="2820185" y="1706841"/>
            <a:ext cx="942531" cy="942531"/>
          </a:xfrm>
          <a:prstGeom prst="ellipse">
            <a:avLst/>
          </a:prstGeom>
          <a:solidFill>
            <a:srgbClr val="BEE9EE"/>
          </a:solidFill>
          <a:ln w="15875">
            <a:solidFill>
              <a:srgbClr val="94DAE2"/>
            </a:solidFill>
            <a:round/>
            <a:headEnd/>
            <a:tailEnd/>
          </a:ln>
        </p:spPr>
        <p:txBody>
          <a:bodyPr vert="horz" wrap="square" lIns="0" tIns="0" rIns="0" bIns="0" numCol="1" anchor="ctr" anchorCtr="0" compatLnSpc="1">
            <a:prstTxWarp prst="textNoShape">
              <a:avLst/>
            </a:prstTxWarp>
          </a:bodyPr>
          <a:lstStyle/>
          <a:p>
            <a:pPr algn="ctr" defTabSz="914034" fontAlgn="base">
              <a:spcBef>
                <a:spcPct val="0"/>
              </a:spcBef>
              <a:spcAft>
                <a:spcPct val="0"/>
              </a:spcAft>
            </a:pPr>
            <a:r>
              <a:rPr lang="zh-CN" altLang="en-US" sz="1600" kern="0">
                <a:latin typeface="Huawei Sans" panose="020C0503030203020204" pitchFamily="34" charset="0"/>
                <a:ea typeface="方正兰亭黑简体" panose="02000000000000000000" pitchFamily="2" charset="-122"/>
                <a:sym typeface="Huawei Sans" panose="020C0503030203020204" pitchFamily="34" charset="0"/>
              </a:rPr>
              <a:t>大型园区网络</a:t>
            </a:r>
          </a:p>
        </p:txBody>
      </p:sp>
      <p:sp>
        <p:nvSpPr>
          <p:cNvPr id="7" name="矩形 6"/>
          <p:cNvSpPr/>
          <p:nvPr/>
        </p:nvSpPr>
        <p:spPr bwMode="gray">
          <a:xfrm>
            <a:off x="2568882" y="3933476"/>
            <a:ext cx="1445136" cy="461665"/>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按照终端用户数量或者网元数量分类</a:t>
            </a:r>
          </a:p>
        </p:txBody>
      </p:sp>
      <p:sp>
        <p:nvSpPr>
          <p:cNvPr id="8" name="Oval 7"/>
          <p:cNvSpPr>
            <a:spLocks noChangeAspect="1" noChangeArrowheads="1"/>
          </p:cNvSpPr>
          <p:nvPr/>
        </p:nvSpPr>
        <p:spPr bwMode="gray">
          <a:xfrm>
            <a:off x="1628008" y="3739559"/>
            <a:ext cx="942531" cy="942531"/>
          </a:xfrm>
          <a:prstGeom prst="ellipse">
            <a:avLst/>
          </a:prstGeom>
          <a:solidFill>
            <a:srgbClr val="BEE9EE"/>
          </a:solidFill>
          <a:ln w="15875">
            <a:solidFill>
              <a:srgbClr val="94DAE2"/>
            </a:solidFill>
            <a:round/>
            <a:headEnd/>
            <a:tailEnd/>
          </a:ln>
        </p:spPr>
        <p:txBody>
          <a:bodyPr vert="horz" wrap="square" lIns="0" tIns="0" rIns="0" bIns="0" numCol="1" anchor="ctr" anchorCtr="0" compatLnSpc="1">
            <a:prstTxWarp prst="textNoShape">
              <a:avLst/>
            </a:prstTxWarp>
          </a:bodyPr>
          <a:lstStyle/>
          <a:p>
            <a:pPr algn="ctr" defTabSz="914034" fontAlgn="base">
              <a:spcBef>
                <a:spcPct val="0"/>
              </a:spcBef>
              <a:spcAft>
                <a:spcPct val="0"/>
              </a:spcAft>
            </a:pPr>
            <a:r>
              <a:rPr lang="zh-CN" altLang="en-US" sz="1600" kern="0">
                <a:latin typeface="Huawei Sans" panose="020C0503030203020204" pitchFamily="34" charset="0"/>
                <a:ea typeface="方正兰亭黑简体" panose="02000000000000000000" pitchFamily="2" charset="-122"/>
                <a:sym typeface="Huawei Sans" panose="020C0503030203020204" pitchFamily="34" charset="0"/>
              </a:rPr>
              <a:t>中型园区网络</a:t>
            </a:r>
          </a:p>
        </p:txBody>
      </p:sp>
      <p:sp>
        <p:nvSpPr>
          <p:cNvPr id="9" name="Oval 7"/>
          <p:cNvSpPr>
            <a:spLocks noChangeAspect="1" noChangeArrowheads="1"/>
          </p:cNvSpPr>
          <p:nvPr/>
        </p:nvSpPr>
        <p:spPr bwMode="gray">
          <a:xfrm>
            <a:off x="4020829" y="3739559"/>
            <a:ext cx="942531" cy="942531"/>
          </a:xfrm>
          <a:prstGeom prst="ellipse">
            <a:avLst/>
          </a:prstGeom>
          <a:solidFill>
            <a:srgbClr val="BEE9EE"/>
          </a:solidFill>
          <a:ln w="15875">
            <a:solidFill>
              <a:srgbClr val="94DAE2"/>
            </a:solidFill>
            <a:round/>
            <a:headEnd/>
            <a:tailEnd/>
          </a:ln>
        </p:spPr>
        <p:txBody>
          <a:bodyPr vert="horz" wrap="square" lIns="0" tIns="0" rIns="0" bIns="0" numCol="1" anchor="ctr" anchorCtr="0" compatLnSpc="1">
            <a:prstTxWarp prst="textNoShape">
              <a:avLst/>
            </a:prstTxWarp>
          </a:bodyPr>
          <a:lstStyle/>
          <a:p>
            <a:pPr algn="ctr" defTabSz="914034" fontAlgn="base">
              <a:spcBef>
                <a:spcPct val="0"/>
              </a:spcBef>
              <a:spcAft>
                <a:spcPct val="0"/>
              </a:spcAft>
            </a:pPr>
            <a:r>
              <a:rPr lang="zh-CN" altLang="en-US" sz="1600" kern="0">
                <a:latin typeface="Huawei Sans" panose="020C0503030203020204" pitchFamily="34" charset="0"/>
                <a:ea typeface="方正兰亭黑简体" panose="02000000000000000000" pitchFamily="2" charset="-122"/>
                <a:sym typeface="Huawei Sans" panose="020C0503030203020204" pitchFamily="34" charset="0"/>
              </a:rPr>
              <a:t>小型园区网络</a:t>
            </a:r>
          </a:p>
        </p:txBody>
      </p:sp>
      <p:sp>
        <p:nvSpPr>
          <p:cNvPr id="10" name="矩形 9"/>
          <p:cNvSpPr/>
          <p:nvPr/>
        </p:nvSpPr>
        <p:spPr bwMode="gray">
          <a:xfrm>
            <a:off x="2322274" y="940101"/>
            <a:ext cx="2303836" cy="678712"/>
          </a:xfrm>
          <a:prstGeom prst="rect">
            <a:avLst/>
          </a:prstGeom>
        </p:spPr>
        <p:txBody>
          <a:bodyPr wrap="none">
            <a:spAutoFit/>
          </a:bodyPr>
          <a:lstStyle/>
          <a:p>
            <a:pPr marL="171450" indent="-171450">
              <a:lnSpc>
                <a:spcPts val="24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终端用户数量</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个 </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&gt; 2000</a:t>
            </a:r>
          </a:p>
          <a:p>
            <a:pPr marL="171450" indent="-171450">
              <a:lnSpc>
                <a:spcPts val="24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网元数量</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个 </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&gt; 100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矩形 10"/>
          <p:cNvSpPr/>
          <p:nvPr/>
        </p:nvSpPr>
        <p:spPr bwMode="gray">
          <a:xfrm>
            <a:off x="679476" y="4679059"/>
            <a:ext cx="2553904" cy="678712"/>
          </a:xfrm>
          <a:prstGeom prst="rect">
            <a:avLst/>
          </a:prstGeom>
        </p:spPr>
        <p:txBody>
          <a:bodyPr wrap="none">
            <a:spAutoFit/>
          </a:bodyPr>
          <a:lstStyle/>
          <a:p>
            <a:pPr marL="171450" indent="-171450">
              <a:lnSpc>
                <a:spcPts val="24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终端用户数量</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个 </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200~2000</a:t>
            </a:r>
          </a:p>
          <a:p>
            <a:pPr marL="171450" indent="-171450">
              <a:lnSpc>
                <a:spcPts val="24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网元数量</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个 </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25~100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矩形 11"/>
          <p:cNvSpPr/>
          <p:nvPr/>
        </p:nvSpPr>
        <p:spPr bwMode="gray">
          <a:xfrm>
            <a:off x="3764114" y="4679058"/>
            <a:ext cx="2202847" cy="678712"/>
          </a:xfrm>
          <a:prstGeom prst="rect">
            <a:avLst/>
          </a:prstGeom>
        </p:spPr>
        <p:txBody>
          <a:bodyPr wrap="none">
            <a:spAutoFit/>
          </a:bodyPr>
          <a:lstStyle/>
          <a:p>
            <a:pPr marL="171450" indent="-171450">
              <a:lnSpc>
                <a:spcPts val="24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终端用户数量</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个 </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&lt; 200</a:t>
            </a:r>
          </a:p>
          <a:p>
            <a:pPr marL="171450" indent="-171450">
              <a:lnSpc>
                <a:spcPts val="24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网元数量</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个 </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&lt; 25</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矩形 12"/>
          <p:cNvSpPr/>
          <p:nvPr/>
        </p:nvSpPr>
        <p:spPr bwMode="gray">
          <a:xfrm>
            <a:off x="887040" y="5709258"/>
            <a:ext cx="5079921" cy="307777"/>
          </a:xfrm>
          <a:prstGeom prst="rect">
            <a:avLst/>
          </a:prstGeom>
          <a:solidFill>
            <a:schemeClr val="bg1">
              <a:lumMod val="95000"/>
            </a:schemeClr>
          </a:solidFill>
        </p:spPr>
        <p:txBody>
          <a:bodyPr wrap="square">
            <a:spAutoFit/>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不同规模的网络，其需求及痛点各不相同。</a:t>
            </a:r>
          </a:p>
        </p:txBody>
      </p:sp>
      <p:sp>
        <p:nvSpPr>
          <p:cNvPr id="15" name="Oval 7"/>
          <p:cNvSpPr>
            <a:spLocks noChangeAspect="1" noChangeArrowheads="1"/>
          </p:cNvSpPr>
          <p:nvPr/>
        </p:nvSpPr>
        <p:spPr bwMode="gray">
          <a:xfrm>
            <a:off x="8369163" y="2958842"/>
            <a:ext cx="945328" cy="945328"/>
          </a:xfrm>
          <a:prstGeom prst="ellipse">
            <a:avLst/>
          </a:prstGeom>
          <a:solidFill>
            <a:srgbClr val="30B5C5"/>
          </a:solidFill>
          <a:ln w="9525">
            <a:noFill/>
            <a:round/>
            <a:headEnd/>
            <a:tailEnd/>
          </a:ln>
        </p:spPr>
        <p:txBody>
          <a:bodyPr vert="horz" wrap="square" lIns="91404" tIns="45702" rIns="91404" bIns="45702" numCol="1" anchor="ctr" anchorCtr="0" compatLnSpc="1">
            <a:prstTxWarp prst="textNoShape">
              <a:avLst/>
            </a:prstTxWarp>
          </a:bodyPr>
          <a:lstStyle/>
          <a:p>
            <a:pPr algn="ctr" defTabSz="914034" fontAlgn="base">
              <a:spcBef>
                <a:spcPct val="0"/>
              </a:spcBef>
              <a:spcAft>
                <a:spcPct val="0"/>
              </a:spcAft>
            </a:pPr>
            <a:r>
              <a:rPr lang="zh-CN" altLang="en-US"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服务对象</a:t>
            </a:r>
          </a:p>
        </p:txBody>
      </p:sp>
      <p:sp>
        <p:nvSpPr>
          <p:cNvPr id="17" name="矩形 16"/>
          <p:cNvSpPr/>
          <p:nvPr/>
        </p:nvSpPr>
        <p:spPr bwMode="gray">
          <a:xfrm>
            <a:off x="8119259" y="3935966"/>
            <a:ext cx="1445136" cy="461665"/>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按照园区网络的服务对象分类</a:t>
            </a:r>
          </a:p>
        </p:txBody>
      </p:sp>
      <p:sp>
        <p:nvSpPr>
          <p:cNvPr id="19" name="矩形 18"/>
          <p:cNvSpPr/>
          <p:nvPr/>
        </p:nvSpPr>
        <p:spPr bwMode="gray">
          <a:xfrm>
            <a:off x="7529751" y="1194456"/>
            <a:ext cx="3768980" cy="678712"/>
          </a:xfrm>
          <a:prstGeom prst="rect">
            <a:avLst/>
          </a:prstGeom>
        </p:spPr>
        <p:txBody>
          <a:bodyPr wrap="none">
            <a:spAutoFit/>
          </a:bodyPr>
          <a:lstStyle/>
          <a:p>
            <a:pPr marL="171450" indent="-171450">
              <a:lnSpc>
                <a:spcPts val="24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使用者：仅内部人员。</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a:lnSpc>
                <a:spcPts val="24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安全需求：网络准入控制、外部威胁防御。</a:t>
            </a:r>
          </a:p>
        </p:txBody>
      </p:sp>
      <p:sp>
        <p:nvSpPr>
          <p:cNvPr id="20" name="矩形 19"/>
          <p:cNvSpPr/>
          <p:nvPr/>
        </p:nvSpPr>
        <p:spPr bwMode="gray">
          <a:xfrm>
            <a:off x="6460031" y="4801050"/>
            <a:ext cx="5025735" cy="678712"/>
          </a:xfrm>
          <a:prstGeom prst="rect">
            <a:avLst/>
          </a:prstGeom>
        </p:spPr>
        <p:txBody>
          <a:bodyPr wrap="none">
            <a:spAutoFit/>
          </a:bodyPr>
          <a:lstStyle/>
          <a:p>
            <a:pPr marL="171450" indent="-171450">
              <a:lnSpc>
                <a:spcPts val="24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使用者：含外部人员，例如公众。</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a:lnSpc>
                <a:spcPts val="24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安全需求：准入控制及身份识别、行为管控、安全防御等。</a:t>
            </a:r>
          </a:p>
        </p:txBody>
      </p:sp>
      <p:sp>
        <p:nvSpPr>
          <p:cNvPr id="21" name="矩形 20"/>
          <p:cNvSpPr/>
          <p:nvPr/>
        </p:nvSpPr>
        <p:spPr bwMode="gray">
          <a:xfrm>
            <a:off x="6460031" y="5709258"/>
            <a:ext cx="4838700" cy="307777"/>
          </a:xfrm>
          <a:prstGeom prst="rect">
            <a:avLst/>
          </a:prstGeom>
          <a:solidFill>
            <a:schemeClr val="bg1">
              <a:lumMod val="95000"/>
            </a:schemeClr>
          </a:solidFill>
        </p:spPr>
        <p:txBody>
          <a:bodyPr wrap="square">
            <a:spAutoFit/>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实际运行的园区网络，通常兼具封闭子网和开放子网。</a:t>
            </a:r>
          </a:p>
        </p:txBody>
      </p:sp>
      <p:sp>
        <p:nvSpPr>
          <p:cNvPr id="24" name="Oval 7"/>
          <p:cNvSpPr>
            <a:spLocks noChangeAspect="1" noChangeArrowheads="1"/>
          </p:cNvSpPr>
          <p:nvPr/>
        </p:nvSpPr>
        <p:spPr bwMode="gray">
          <a:xfrm>
            <a:off x="7512381" y="2099982"/>
            <a:ext cx="2655298" cy="2655298"/>
          </a:xfrm>
          <a:prstGeom prst="ellipse">
            <a:avLst/>
          </a:prstGeom>
          <a:noFill/>
          <a:ln w="15875">
            <a:solidFill>
              <a:srgbClr val="94DAE2"/>
            </a:solidFill>
            <a:round/>
            <a:headEnd/>
            <a:tailEnd/>
          </a:ln>
        </p:spPr>
        <p:txBody>
          <a:bodyPr vert="horz" wrap="square" lIns="0" tIns="0" rIns="0" bIns="0" numCol="1" anchor="ctr" anchorCtr="0" compatLnSpc="1">
            <a:prstTxWarp prst="textNoShape">
              <a:avLst/>
            </a:prstTxWarp>
          </a:bodyPr>
          <a:lstStyle/>
          <a:p>
            <a:pPr algn="ctr" defTabSz="914034" fontAlgn="base">
              <a:spcBef>
                <a:spcPct val="0"/>
              </a:spcBef>
              <a:spcAft>
                <a:spcPct val="0"/>
              </a:spcAft>
            </a:pPr>
            <a:endParaRPr lang="zh-CN" altLang="en-US" sz="16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Oval 7"/>
          <p:cNvSpPr>
            <a:spLocks noChangeAspect="1" noChangeArrowheads="1"/>
          </p:cNvSpPr>
          <p:nvPr/>
        </p:nvSpPr>
        <p:spPr bwMode="gray">
          <a:xfrm>
            <a:off x="9093129" y="1854173"/>
            <a:ext cx="942531" cy="942531"/>
          </a:xfrm>
          <a:prstGeom prst="ellipse">
            <a:avLst/>
          </a:prstGeom>
          <a:solidFill>
            <a:srgbClr val="BEE9EE"/>
          </a:solidFill>
          <a:ln w="15875">
            <a:solidFill>
              <a:srgbClr val="94DAE2"/>
            </a:solidFill>
            <a:round/>
            <a:headEnd/>
            <a:tailEnd/>
          </a:ln>
        </p:spPr>
        <p:txBody>
          <a:bodyPr vert="horz" wrap="square" lIns="0" tIns="0" rIns="0" bIns="0" numCol="1" anchor="ctr" anchorCtr="0" compatLnSpc="1">
            <a:prstTxWarp prst="textNoShape">
              <a:avLst/>
            </a:prstTxWarp>
          </a:bodyPr>
          <a:lstStyle/>
          <a:p>
            <a:pPr algn="ctr" defTabSz="914034" fontAlgn="base">
              <a:spcBef>
                <a:spcPct val="0"/>
              </a:spcBef>
              <a:spcAft>
                <a:spcPct val="0"/>
              </a:spcAft>
            </a:pPr>
            <a:r>
              <a:rPr lang="zh-CN" altLang="en-US" sz="1600" kern="0" dirty="0">
                <a:latin typeface="Huawei Sans" panose="020C0503030203020204" pitchFamily="34" charset="0"/>
                <a:ea typeface="方正兰亭黑简体" panose="02000000000000000000" pitchFamily="2" charset="-122"/>
                <a:sym typeface="Huawei Sans" panose="020C0503030203020204" pitchFamily="34" charset="0"/>
              </a:rPr>
              <a:t>封闭园区网络</a:t>
            </a:r>
          </a:p>
        </p:txBody>
      </p:sp>
      <p:sp>
        <p:nvSpPr>
          <p:cNvPr id="25" name="Oval 7"/>
          <p:cNvSpPr>
            <a:spLocks noChangeAspect="1" noChangeArrowheads="1"/>
          </p:cNvSpPr>
          <p:nvPr/>
        </p:nvSpPr>
        <p:spPr bwMode="gray">
          <a:xfrm>
            <a:off x="7165618" y="3691657"/>
            <a:ext cx="942531" cy="942531"/>
          </a:xfrm>
          <a:prstGeom prst="ellipse">
            <a:avLst/>
          </a:prstGeom>
          <a:solidFill>
            <a:srgbClr val="BEE9EE"/>
          </a:solidFill>
          <a:ln w="15875">
            <a:solidFill>
              <a:srgbClr val="94DAE2"/>
            </a:solidFill>
            <a:round/>
            <a:headEnd/>
            <a:tailEnd/>
          </a:ln>
        </p:spPr>
        <p:txBody>
          <a:bodyPr vert="horz" wrap="square" lIns="0" tIns="0" rIns="0" bIns="0" numCol="1" anchor="ctr" anchorCtr="0" compatLnSpc="1">
            <a:prstTxWarp prst="textNoShape">
              <a:avLst/>
            </a:prstTxWarp>
          </a:bodyPr>
          <a:lstStyle/>
          <a:p>
            <a:pPr algn="ctr" defTabSz="914034" fontAlgn="base">
              <a:spcBef>
                <a:spcPct val="0"/>
              </a:spcBef>
              <a:spcAft>
                <a:spcPct val="0"/>
              </a:spcAft>
            </a:pPr>
            <a:r>
              <a:rPr lang="zh-CN" altLang="en-US" sz="1600" kern="0" dirty="0">
                <a:latin typeface="Huawei Sans" panose="020C0503030203020204" pitchFamily="34" charset="0"/>
                <a:ea typeface="方正兰亭黑简体" panose="02000000000000000000" pitchFamily="2" charset="-122"/>
                <a:sym typeface="Huawei Sans" panose="020C0503030203020204" pitchFamily="34" charset="0"/>
              </a:rPr>
              <a:t>开放园区网络</a:t>
            </a:r>
          </a:p>
        </p:txBody>
      </p:sp>
    </p:spTree>
    <p:extLst>
      <p:ext uri="{BB962C8B-B14F-4D97-AF65-F5344CB8AC3E}">
        <p14:creationId xmlns:p14="http://schemas.microsoft.com/office/powerpoint/2010/main" val="288414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sym typeface="Huawei Sans" panose="020C0503030203020204" pitchFamily="34" charset="0"/>
              </a:rPr>
              <a:t>园区网络的分类 </a:t>
            </a:r>
            <a:r>
              <a:rPr lang="en-US" altLang="zh-CN" dirty="0">
                <a:sym typeface="Huawei Sans" panose="020C0503030203020204" pitchFamily="34" charset="0"/>
              </a:rPr>
              <a:t>(2)</a:t>
            </a:r>
            <a:endParaRPr lang="zh-CN" altLang="en-US" dirty="0">
              <a:sym typeface="Huawei Sans" panose="020C0503030203020204" pitchFamily="34" charset="0"/>
            </a:endParaRPr>
          </a:p>
        </p:txBody>
      </p:sp>
      <p:sp>
        <p:nvSpPr>
          <p:cNvPr id="13" name="矩形 12"/>
          <p:cNvSpPr/>
          <p:nvPr/>
        </p:nvSpPr>
        <p:spPr bwMode="gray">
          <a:xfrm>
            <a:off x="887040" y="5709258"/>
            <a:ext cx="5079921" cy="307777"/>
          </a:xfrm>
          <a:prstGeom prst="rect">
            <a:avLst/>
          </a:prstGeom>
          <a:solidFill>
            <a:schemeClr val="bg1">
              <a:lumMod val="95000"/>
            </a:schemeClr>
          </a:solidFill>
        </p:spPr>
        <p:txBody>
          <a:bodyPr wrap="square">
            <a:spAutoFit/>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承载业务的复杂程度决定了园区网络架构的复杂性。</a:t>
            </a:r>
          </a:p>
        </p:txBody>
      </p:sp>
      <p:sp>
        <p:nvSpPr>
          <p:cNvPr id="21" name="矩形 20"/>
          <p:cNvSpPr/>
          <p:nvPr/>
        </p:nvSpPr>
        <p:spPr bwMode="gray">
          <a:xfrm>
            <a:off x="6394795" y="5709258"/>
            <a:ext cx="4838700" cy="307777"/>
          </a:xfrm>
          <a:prstGeom prst="rect">
            <a:avLst/>
          </a:prstGeom>
          <a:solidFill>
            <a:schemeClr val="bg1">
              <a:lumMod val="95000"/>
            </a:schemeClr>
          </a:solidFill>
        </p:spPr>
        <p:txBody>
          <a:bodyPr wrap="square">
            <a:spAutoFit/>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当前的园区网络大多数为有线和无线混合网络。</a:t>
            </a:r>
          </a:p>
        </p:txBody>
      </p:sp>
      <p:sp>
        <p:nvSpPr>
          <p:cNvPr id="22" name="Oval 7"/>
          <p:cNvSpPr>
            <a:spLocks noChangeAspect="1" noChangeArrowheads="1"/>
          </p:cNvSpPr>
          <p:nvPr/>
        </p:nvSpPr>
        <p:spPr bwMode="gray">
          <a:xfrm>
            <a:off x="1905658" y="2123974"/>
            <a:ext cx="2655298" cy="2655298"/>
          </a:xfrm>
          <a:prstGeom prst="ellipse">
            <a:avLst/>
          </a:prstGeom>
          <a:noFill/>
          <a:ln w="15875">
            <a:solidFill>
              <a:srgbClr val="94DAE2"/>
            </a:solidFill>
            <a:round/>
            <a:headEnd/>
            <a:tailEnd/>
          </a:ln>
        </p:spPr>
        <p:txBody>
          <a:bodyPr vert="horz" wrap="square" lIns="0" tIns="0" rIns="0" bIns="0" numCol="1" anchor="ctr" anchorCtr="0" compatLnSpc="1">
            <a:prstTxWarp prst="textNoShape">
              <a:avLst/>
            </a:prstTxWarp>
          </a:bodyPr>
          <a:lstStyle/>
          <a:p>
            <a:pPr algn="ctr" defTabSz="914034" fontAlgn="base">
              <a:spcBef>
                <a:spcPct val="0"/>
              </a:spcBef>
              <a:spcAft>
                <a:spcPct val="0"/>
              </a:spcAft>
            </a:pPr>
            <a:endParaRPr lang="zh-CN" altLang="en-US" sz="16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Oval 7"/>
          <p:cNvSpPr>
            <a:spLocks noChangeAspect="1" noChangeArrowheads="1"/>
          </p:cNvSpPr>
          <p:nvPr/>
        </p:nvSpPr>
        <p:spPr bwMode="gray">
          <a:xfrm>
            <a:off x="2760643" y="2978959"/>
            <a:ext cx="945328" cy="945328"/>
          </a:xfrm>
          <a:prstGeom prst="ellipse">
            <a:avLst/>
          </a:prstGeom>
          <a:solidFill>
            <a:srgbClr val="30B5C5"/>
          </a:solidFill>
          <a:ln w="9525">
            <a:noFill/>
            <a:round/>
            <a:headEnd/>
            <a:tailEnd/>
          </a:ln>
        </p:spPr>
        <p:txBody>
          <a:bodyPr vert="horz" wrap="square" lIns="91404" tIns="45702" rIns="91404" bIns="45702" numCol="1" anchor="ctr" anchorCtr="0" compatLnSpc="1">
            <a:prstTxWarp prst="textNoShape">
              <a:avLst/>
            </a:prstTxWarp>
          </a:bodyPr>
          <a:lstStyle/>
          <a:p>
            <a:pPr algn="ctr" defTabSz="914034" fontAlgn="base">
              <a:spcBef>
                <a:spcPct val="0"/>
              </a:spcBef>
              <a:spcAft>
                <a:spcPct val="0"/>
              </a:spcAft>
            </a:pPr>
            <a:r>
              <a:rPr lang="zh-CN" altLang="en-US">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业务</a:t>
            </a:r>
          </a:p>
        </p:txBody>
      </p:sp>
      <p:sp>
        <p:nvSpPr>
          <p:cNvPr id="24" name="Oval 7"/>
          <p:cNvSpPr>
            <a:spLocks noChangeAspect="1" noChangeArrowheads="1"/>
          </p:cNvSpPr>
          <p:nvPr/>
        </p:nvSpPr>
        <p:spPr bwMode="gray">
          <a:xfrm>
            <a:off x="3416049" y="1729448"/>
            <a:ext cx="942531" cy="942531"/>
          </a:xfrm>
          <a:prstGeom prst="ellipse">
            <a:avLst/>
          </a:prstGeom>
          <a:solidFill>
            <a:srgbClr val="BEE9EE"/>
          </a:solidFill>
          <a:ln w="15875">
            <a:solidFill>
              <a:srgbClr val="94DAE2"/>
            </a:solidFill>
            <a:round/>
            <a:headEnd/>
            <a:tailEnd/>
          </a:ln>
        </p:spPr>
        <p:txBody>
          <a:bodyPr vert="horz" wrap="square" lIns="0" tIns="0" rIns="0" bIns="0" numCol="1" anchor="ctr" anchorCtr="0" compatLnSpc="1">
            <a:prstTxWarp prst="textNoShape">
              <a:avLst/>
            </a:prstTxWarp>
          </a:bodyPr>
          <a:lstStyle/>
          <a:p>
            <a:pPr algn="ctr" defTabSz="914034" fontAlgn="base">
              <a:spcBef>
                <a:spcPct val="0"/>
              </a:spcBef>
              <a:spcAft>
                <a:spcPct val="0"/>
              </a:spcAft>
            </a:pPr>
            <a:r>
              <a:rPr lang="zh-CN" altLang="en-US" sz="1600" kern="0">
                <a:latin typeface="Huawei Sans" panose="020C0503030203020204" pitchFamily="34" charset="0"/>
                <a:ea typeface="方正兰亭黑简体" panose="02000000000000000000" pitchFamily="2" charset="-122"/>
                <a:sym typeface="Huawei Sans" panose="020C0503030203020204" pitchFamily="34" charset="0"/>
              </a:rPr>
              <a:t>单业务园区网络</a:t>
            </a:r>
          </a:p>
        </p:txBody>
      </p:sp>
      <p:sp>
        <p:nvSpPr>
          <p:cNvPr id="25" name="矩形 24"/>
          <p:cNvSpPr/>
          <p:nvPr/>
        </p:nvSpPr>
        <p:spPr bwMode="gray">
          <a:xfrm>
            <a:off x="2510739" y="3956083"/>
            <a:ext cx="1445136" cy="276999"/>
          </a:xfrm>
          <a:prstGeom prst="rect">
            <a:avLst/>
          </a:prstGeom>
        </p:spPr>
        <p:txBody>
          <a:bodyPr wrap="square">
            <a:spAutoFit/>
          </a:bodyPr>
          <a:lstStyle/>
          <a:p>
            <a:pPr algn="ct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按照业务承载分类</a:t>
            </a:r>
          </a:p>
        </p:txBody>
      </p:sp>
      <p:sp>
        <p:nvSpPr>
          <p:cNvPr id="26" name="Oval 7"/>
          <p:cNvSpPr>
            <a:spLocks noChangeAspect="1" noChangeArrowheads="1"/>
          </p:cNvSpPr>
          <p:nvPr/>
        </p:nvSpPr>
        <p:spPr bwMode="gray">
          <a:xfrm>
            <a:off x="1569865" y="3762166"/>
            <a:ext cx="942531" cy="942531"/>
          </a:xfrm>
          <a:prstGeom prst="ellipse">
            <a:avLst/>
          </a:prstGeom>
          <a:solidFill>
            <a:srgbClr val="BEE9EE"/>
          </a:solidFill>
          <a:ln w="15875">
            <a:solidFill>
              <a:srgbClr val="94DAE2"/>
            </a:solidFill>
            <a:round/>
            <a:headEnd/>
            <a:tailEnd/>
          </a:ln>
        </p:spPr>
        <p:txBody>
          <a:bodyPr vert="horz" wrap="square" lIns="0" tIns="0" rIns="0" bIns="0" numCol="1" anchor="ctr" anchorCtr="0" compatLnSpc="1">
            <a:prstTxWarp prst="textNoShape">
              <a:avLst/>
            </a:prstTxWarp>
          </a:bodyPr>
          <a:lstStyle/>
          <a:p>
            <a:pPr algn="ctr" defTabSz="914034" fontAlgn="base">
              <a:spcBef>
                <a:spcPct val="0"/>
              </a:spcBef>
              <a:spcAft>
                <a:spcPct val="0"/>
              </a:spcAft>
            </a:pPr>
            <a:r>
              <a:rPr lang="zh-CN" altLang="en-US" sz="1600" kern="0" dirty="0">
                <a:latin typeface="Huawei Sans" panose="020C0503030203020204" pitchFamily="34" charset="0"/>
                <a:ea typeface="方正兰亭黑简体" panose="02000000000000000000" pitchFamily="2" charset="-122"/>
                <a:sym typeface="Huawei Sans" panose="020C0503030203020204" pitchFamily="34" charset="0"/>
              </a:rPr>
              <a:t>多业务园区网络</a:t>
            </a:r>
          </a:p>
        </p:txBody>
      </p:sp>
      <p:sp>
        <p:nvSpPr>
          <p:cNvPr id="27" name="矩形 26"/>
          <p:cNvSpPr/>
          <p:nvPr/>
        </p:nvSpPr>
        <p:spPr bwMode="gray">
          <a:xfrm>
            <a:off x="3058834" y="983755"/>
            <a:ext cx="1973617" cy="678712"/>
          </a:xfrm>
          <a:prstGeom prst="rect">
            <a:avLst/>
          </a:prstGeom>
        </p:spPr>
        <p:txBody>
          <a:bodyPr wrap="none">
            <a:spAutoFit/>
          </a:bodyPr>
          <a:lstStyle/>
          <a:p>
            <a:pPr marL="171450" indent="-171450">
              <a:lnSpc>
                <a:spcPts val="24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业务单一。</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a:lnSpc>
                <a:spcPts val="24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网络架构相对简单。</a:t>
            </a:r>
          </a:p>
        </p:txBody>
      </p:sp>
      <p:sp>
        <p:nvSpPr>
          <p:cNvPr id="28" name="矩形 27"/>
          <p:cNvSpPr/>
          <p:nvPr/>
        </p:nvSpPr>
        <p:spPr bwMode="gray">
          <a:xfrm>
            <a:off x="621333" y="4869004"/>
            <a:ext cx="5743880" cy="678712"/>
          </a:xfrm>
          <a:prstGeom prst="rect">
            <a:avLst/>
          </a:prstGeom>
        </p:spPr>
        <p:txBody>
          <a:bodyPr wrap="none">
            <a:spAutoFit/>
          </a:bodyPr>
          <a:lstStyle/>
          <a:p>
            <a:pPr marL="171450" indent="-171450">
              <a:lnSpc>
                <a:spcPts val="24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网络需承载的服务多，网络规模较大；不同的业务间需隔离和保障。</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a:lnSpc>
                <a:spcPts val="24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园区网络的架构也开始复杂化和虚拟化。</a:t>
            </a:r>
          </a:p>
        </p:txBody>
      </p:sp>
      <p:sp>
        <p:nvSpPr>
          <p:cNvPr id="29" name="Oval 7"/>
          <p:cNvSpPr>
            <a:spLocks noChangeAspect="1" noChangeArrowheads="1"/>
          </p:cNvSpPr>
          <p:nvPr/>
        </p:nvSpPr>
        <p:spPr bwMode="gray">
          <a:xfrm>
            <a:off x="7512381" y="2099982"/>
            <a:ext cx="2655298" cy="2655298"/>
          </a:xfrm>
          <a:prstGeom prst="ellipse">
            <a:avLst/>
          </a:prstGeom>
          <a:noFill/>
          <a:ln w="15875">
            <a:solidFill>
              <a:srgbClr val="94DAE2"/>
            </a:solidFill>
            <a:round/>
            <a:headEnd/>
            <a:tailEnd/>
          </a:ln>
        </p:spPr>
        <p:txBody>
          <a:bodyPr vert="horz" wrap="square" lIns="0" tIns="0" rIns="0" bIns="0" numCol="1" anchor="ctr" anchorCtr="0" compatLnSpc="1">
            <a:prstTxWarp prst="textNoShape">
              <a:avLst/>
            </a:prstTxWarp>
          </a:bodyPr>
          <a:lstStyle/>
          <a:p>
            <a:pPr algn="ctr" defTabSz="914034" fontAlgn="base">
              <a:spcBef>
                <a:spcPct val="0"/>
              </a:spcBef>
              <a:spcAft>
                <a:spcPct val="0"/>
              </a:spcAft>
            </a:pPr>
            <a:endParaRPr lang="zh-CN" altLang="en-US" sz="16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Oval 7"/>
          <p:cNvSpPr>
            <a:spLocks noChangeAspect="1" noChangeArrowheads="1"/>
          </p:cNvSpPr>
          <p:nvPr/>
        </p:nvSpPr>
        <p:spPr bwMode="gray">
          <a:xfrm>
            <a:off x="8367366" y="2954967"/>
            <a:ext cx="945328" cy="945328"/>
          </a:xfrm>
          <a:prstGeom prst="ellipse">
            <a:avLst/>
          </a:prstGeom>
          <a:solidFill>
            <a:srgbClr val="30B5C5"/>
          </a:solidFill>
          <a:ln w="9525">
            <a:noFill/>
            <a:round/>
            <a:headEnd/>
            <a:tailEnd/>
          </a:ln>
        </p:spPr>
        <p:txBody>
          <a:bodyPr vert="horz" wrap="square" lIns="91404" tIns="45702" rIns="91404" bIns="45702" numCol="1" anchor="ctr" anchorCtr="0" compatLnSpc="1">
            <a:prstTxWarp prst="textNoShape">
              <a:avLst/>
            </a:prstTxWarp>
          </a:bodyPr>
          <a:lstStyle/>
          <a:p>
            <a:pPr algn="ctr" defTabSz="914034" fontAlgn="base">
              <a:spcBef>
                <a:spcPct val="0"/>
              </a:spcBef>
              <a:spcAft>
                <a:spcPct val="0"/>
              </a:spcAft>
            </a:pPr>
            <a:r>
              <a:rPr lang="zh-CN" altLang="en-US">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接入方式</a:t>
            </a:r>
          </a:p>
        </p:txBody>
      </p:sp>
      <p:sp>
        <p:nvSpPr>
          <p:cNvPr id="31" name="Oval 7"/>
          <p:cNvSpPr>
            <a:spLocks noChangeAspect="1" noChangeArrowheads="1"/>
          </p:cNvSpPr>
          <p:nvPr/>
        </p:nvSpPr>
        <p:spPr bwMode="gray">
          <a:xfrm>
            <a:off x="9091332" y="1850298"/>
            <a:ext cx="942531" cy="942531"/>
          </a:xfrm>
          <a:prstGeom prst="ellipse">
            <a:avLst/>
          </a:prstGeom>
          <a:solidFill>
            <a:srgbClr val="BEE9EE"/>
          </a:solidFill>
          <a:ln w="15875">
            <a:solidFill>
              <a:srgbClr val="94DAE2"/>
            </a:solidFill>
            <a:round/>
            <a:headEnd/>
            <a:tailEnd/>
          </a:ln>
        </p:spPr>
        <p:txBody>
          <a:bodyPr vert="horz" wrap="square" lIns="0" tIns="0" rIns="0" bIns="0" numCol="1" anchor="ctr" anchorCtr="0" compatLnSpc="1">
            <a:prstTxWarp prst="textNoShape">
              <a:avLst/>
            </a:prstTxWarp>
          </a:bodyPr>
          <a:lstStyle/>
          <a:p>
            <a:pPr algn="ctr" defTabSz="914034" fontAlgn="base">
              <a:spcBef>
                <a:spcPct val="0"/>
              </a:spcBef>
              <a:spcAft>
                <a:spcPct val="0"/>
              </a:spcAft>
            </a:pPr>
            <a:r>
              <a:rPr lang="zh-CN" altLang="en-US" sz="1600" kern="0">
                <a:latin typeface="Huawei Sans" panose="020C0503030203020204" pitchFamily="34" charset="0"/>
                <a:ea typeface="方正兰亭黑简体" panose="02000000000000000000" pitchFamily="2" charset="-122"/>
                <a:sym typeface="Huawei Sans" panose="020C0503030203020204" pitchFamily="34" charset="0"/>
              </a:rPr>
              <a:t>有线</a:t>
            </a:r>
            <a:endParaRPr lang="en-US" altLang="zh-CN" sz="1600" kern="0">
              <a:latin typeface="Huawei Sans" panose="020C0503030203020204" pitchFamily="34" charset="0"/>
              <a:ea typeface="方正兰亭黑简体" panose="02000000000000000000" pitchFamily="2" charset="-122"/>
              <a:sym typeface="Huawei Sans" panose="020C0503030203020204" pitchFamily="34" charset="0"/>
            </a:endParaRPr>
          </a:p>
          <a:p>
            <a:pPr algn="ctr" defTabSz="914034" fontAlgn="base">
              <a:spcBef>
                <a:spcPct val="0"/>
              </a:spcBef>
              <a:spcAft>
                <a:spcPct val="0"/>
              </a:spcAft>
            </a:pPr>
            <a:r>
              <a:rPr lang="zh-CN" altLang="en-US" sz="1600" kern="0">
                <a:latin typeface="Huawei Sans" panose="020C0503030203020204" pitchFamily="34" charset="0"/>
                <a:ea typeface="方正兰亭黑简体" panose="02000000000000000000" pitchFamily="2" charset="-122"/>
                <a:sym typeface="Huawei Sans" panose="020C0503030203020204" pitchFamily="34" charset="0"/>
              </a:rPr>
              <a:t>园区</a:t>
            </a:r>
          </a:p>
        </p:txBody>
      </p:sp>
      <p:sp>
        <p:nvSpPr>
          <p:cNvPr id="32" name="矩形 31"/>
          <p:cNvSpPr/>
          <p:nvPr/>
        </p:nvSpPr>
        <p:spPr bwMode="gray">
          <a:xfrm>
            <a:off x="8117462" y="3932091"/>
            <a:ext cx="1445136" cy="461665"/>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按照园区网络的接入方式分类</a:t>
            </a:r>
          </a:p>
        </p:txBody>
      </p:sp>
      <p:sp>
        <p:nvSpPr>
          <p:cNvPr id="33" name="Oval 7"/>
          <p:cNvSpPr>
            <a:spLocks noChangeAspect="1" noChangeArrowheads="1"/>
          </p:cNvSpPr>
          <p:nvPr/>
        </p:nvSpPr>
        <p:spPr bwMode="gray">
          <a:xfrm>
            <a:off x="7165618" y="3691657"/>
            <a:ext cx="942531" cy="942531"/>
          </a:xfrm>
          <a:prstGeom prst="ellipse">
            <a:avLst/>
          </a:prstGeom>
          <a:solidFill>
            <a:srgbClr val="BEE9EE"/>
          </a:solidFill>
          <a:ln w="15875">
            <a:solidFill>
              <a:srgbClr val="94DAE2"/>
            </a:solidFill>
            <a:round/>
            <a:headEnd/>
            <a:tailEnd/>
          </a:ln>
        </p:spPr>
        <p:txBody>
          <a:bodyPr vert="horz" wrap="square" lIns="0" tIns="0" rIns="0" bIns="0" numCol="1" anchor="ctr" anchorCtr="0" compatLnSpc="1">
            <a:prstTxWarp prst="textNoShape">
              <a:avLst/>
            </a:prstTxWarp>
          </a:bodyPr>
          <a:lstStyle/>
          <a:p>
            <a:pPr algn="ctr" defTabSz="914034" fontAlgn="base">
              <a:spcBef>
                <a:spcPct val="0"/>
              </a:spcBef>
              <a:spcAft>
                <a:spcPct val="0"/>
              </a:spcAft>
            </a:pPr>
            <a:r>
              <a:rPr lang="zh-CN" altLang="en-US" sz="1600" kern="0">
                <a:latin typeface="Huawei Sans" panose="020C0503030203020204" pitchFamily="34" charset="0"/>
                <a:ea typeface="方正兰亭黑简体" panose="02000000000000000000" pitchFamily="2" charset="-122"/>
                <a:sym typeface="Huawei Sans" panose="020C0503030203020204" pitchFamily="34" charset="0"/>
              </a:rPr>
              <a:t>无线</a:t>
            </a:r>
            <a:endParaRPr lang="en-US" altLang="zh-CN" sz="1600" kern="0">
              <a:latin typeface="Huawei Sans" panose="020C0503030203020204" pitchFamily="34" charset="0"/>
              <a:ea typeface="方正兰亭黑简体" panose="02000000000000000000" pitchFamily="2" charset="-122"/>
              <a:sym typeface="Huawei Sans" panose="020C0503030203020204" pitchFamily="34" charset="0"/>
            </a:endParaRPr>
          </a:p>
          <a:p>
            <a:pPr algn="ctr" defTabSz="914034" fontAlgn="base">
              <a:spcBef>
                <a:spcPct val="0"/>
              </a:spcBef>
              <a:spcAft>
                <a:spcPct val="0"/>
              </a:spcAft>
            </a:pPr>
            <a:r>
              <a:rPr lang="zh-CN" altLang="en-US" sz="1600" kern="0">
                <a:latin typeface="Huawei Sans" panose="020C0503030203020204" pitchFamily="34" charset="0"/>
                <a:ea typeface="方正兰亭黑简体" panose="02000000000000000000" pitchFamily="2" charset="-122"/>
                <a:sym typeface="Huawei Sans" panose="020C0503030203020204" pitchFamily="34" charset="0"/>
              </a:rPr>
              <a:t>园区</a:t>
            </a:r>
          </a:p>
        </p:txBody>
      </p:sp>
      <p:sp>
        <p:nvSpPr>
          <p:cNvPr id="34" name="矩形 33"/>
          <p:cNvSpPr/>
          <p:nvPr/>
        </p:nvSpPr>
        <p:spPr bwMode="gray">
          <a:xfrm>
            <a:off x="6552419" y="1094511"/>
            <a:ext cx="4869519" cy="678712"/>
          </a:xfrm>
          <a:prstGeom prst="rect">
            <a:avLst/>
          </a:prstGeom>
        </p:spPr>
        <p:txBody>
          <a:bodyPr wrap="square">
            <a:spAutoFit/>
          </a:bodyPr>
          <a:lstStyle/>
          <a:p>
            <a:pPr marL="171450" indent="-171450">
              <a:lnSpc>
                <a:spcPts val="24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每台接入网络的设备都需通过网线连接到预置的网口上。</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a:lnSpc>
                <a:spcPts val="24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架构通常是结构化、层次化的，逻辑清晰，故障易于排查。</a:t>
            </a:r>
          </a:p>
        </p:txBody>
      </p:sp>
      <p:sp>
        <p:nvSpPr>
          <p:cNvPr id="35" name="矩形 34"/>
          <p:cNvSpPr/>
          <p:nvPr/>
        </p:nvSpPr>
        <p:spPr bwMode="gray">
          <a:xfrm>
            <a:off x="6288655" y="4702378"/>
            <a:ext cx="5065810" cy="1015663"/>
          </a:xfrm>
          <a:prstGeom prst="rect">
            <a:avLst/>
          </a:prstGeom>
        </p:spPr>
        <p:txBody>
          <a:bodyPr wrap="none">
            <a:spAutoFit/>
          </a:bodyPr>
          <a:lstStyle/>
          <a:p>
            <a:pPr marL="171450" indent="-171450">
              <a:lnSpc>
                <a:spcPts val="24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无线网络通常基于</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802.11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协议（即</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Wi-Fi</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），也称为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a:lnSpc>
                <a:spcPts val="2400"/>
              </a:lnSpc>
              <a:buFont typeface="Arial" panose="020B0604020202020204" pitchFamily="34" charset="0"/>
              <a:buChar cha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部署及安装影响覆盖效果；存在干扰及冲突，需定期优化</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a:lnSpc>
                <a:spcPts val="24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网络故障定位难。</a:t>
            </a:r>
          </a:p>
        </p:txBody>
      </p:sp>
    </p:spTree>
    <p:extLst>
      <p:ext uri="{BB962C8B-B14F-4D97-AF65-F5344CB8AC3E}">
        <p14:creationId xmlns:p14="http://schemas.microsoft.com/office/powerpoint/2010/main" val="22346665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sym typeface="Huawei Sans" panose="020C0503030203020204" pitchFamily="34" charset="0"/>
              </a:rPr>
              <a:t>园区网络的分类 </a:t>
            </a:r>
            <a:r>
              <a:rPr lang="en-US" altLang="zh-CN" dirty="0">
                <a:sym typeface="Huawei Sans" panose="020C0503030203020204" pitchFamily="34" charset="0"/>
              </a:rPr>
              <a:t>(3)</a:t>
            </a:r>
            <a:endParaRPr lang="zh-CN" altLang="en-US" dirty="0">
              <a:sym typeface="Huawei Sans" panose="020C0503030203020204" pitchFamily="34" charset="0"/>
            </a:endParaRPr>
          </a:p>
        </p:txBody>
      </p:sp>
      <p:sp>
        <p:nvSpPr>
          <p:cNvPr id="4" name="矩形 3"/>
          <p:cNvSpPr/>
          <p:nvPr/>
        </p:nvSpPr>
        <p:spPr bwMode="gray">
          <a:xfrm>
            <a:off x="458953" y="964459"/>
            <a:ext cx="11253622" cy="646331"/>
          </a:xfrm>
          <a:prstGeom prst="rect">
            <a:avLst/>
          </a:prstGeom>
          <a:noFill/>
        </p:spPr>
        <p:txBody>
          <a:bodyPr wrap="square">
            <a:spAutoFit/>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为了满足不同行业园区的需求，园区网络架构会根据其服务的行业特点进行设计，最终打造的是带有行业属性的园区网络方案。</a:t>
            </a:r>
          </a:p>
        </p:txBody>
      </p:sp>
      <p:sp>
        <p:nvSpPr>
          <p:cNvPr id="5" name="圆角矩形 75"/>
          <p:cNvSpPr/>
          <p:nvPr/>
        </p:nvSpPr>
        <p:spPr bwMode="gray">
          <a:xfrm>
            <a:off x="482608" y="1629976"/>
            <a:ext cx="2700000"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企业园区网络</a:t>
            </a:r>
          </a:p>
        </p:txBody>
      </p:sp>
      <p:sp>
        <p:nvSpPr>
          <p:cNvPr id="6" name="圆角矩形 75"/>
          <p:cNvSpPr/>
          <p:nvPr/>
        </p:nvSpPr>
        <p:spPr bwMode="gray">
          <a:xfrm>
            <a:off x="482608" y="2033934"/>
            <a:ext cx="2700000" cy="4144529"/>
          </a:xfrm>
          <a:prstGeom prst="roundRect">
            <a:avLst>
              <a:gd name="adj" fmla="val 719"/>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en-US" altLang="zh-CN" sz="1400" dirty="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7" name="矩形 16"/>
          <p:cNvSpPr/>
          <p:nvPr/>
        </p:nvSpPr>
        <p:spPr bwMode="gray">
          <a:xfrm>
            <a:off x="458953" y="4033455"/>
            <a:ext cx="2747310" cy="1541448"/>
          </a:xfrm>
          <a:prstGeom prst="rect">
            <a:avLst/>
          </a:prstGeom>
          <a:noFill/>
        </p:spPr>
        <p:txBody>
          <a:bodyPr wrap="square">
            <a:spAutoFit/>
          </a:bodyPr>
          <a:lstStyle/>
          <a:p>
            <a:pPr marL="176213" indent="-176213">
              <a:lnSpc>
                <a:spcPts val="2200"/>
              </a:lnSpc>
              <a:spcAft>
                <a:spcPts val="300"/>
              </a:spcAft>
              <a:buFont typeface="Arial" panose="020B0604020202020204" pitchFamily="34" charset="0"/>
              <a:buChar char="•"/>
            </a:pP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此处特指基于以太网的企业办公网。</a:t>
            </a:r>
            <a:endParaRPr lang="en-US" altLang="zh-CN" sz="140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200"/>
              </a:lnSpc>
              <a:spcAft>
                <a:spcPts val="300"/>
              </a:spcAft>
              <a:buFont typeface="Arial" panose="020B0604020202020204" pitchFamily="34" charset="0"/>
              <a:buChar char="•"/>
            </a:pP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关注网络可靠性、先进性，持续提升员工的办公体验，保障运营生产的效率和质量。</a:t>
            </a:r>
          </a:p>
        </p:txBody>
      </p:sp>
      <p:sp>
        <p:nvSpPr>
          <p:cNvPr id="7" name="圆角矩形 75"/>
          <p:cNvSpPr/>
          <p:nvPr/>
        </p:nvSpPr>
        <p:spPr bwMode="gray">
          <a:xfrm>
            <a:off x="3326458" y="1629976"/>
            <a:ext cx="2700000"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校园网络</a:t>
            </a:r>
          </a:p>
        </p:txBody>
      </p:sp>
      <p:sp>
        <p:nvSpPr>
          <p:cNvPr id="8" name="圆角矩形 75"/>
          <p:cNvSpPr/>
          <p:nvPr/>
        </p:nvSpPr>
        <p:spPr bwMode="gray">
          <a:xfrm>
            <a:off x="3326458" y="2033934"/>
            <a:ext cx="2700000" cy="4144529"/>
          </a:xfrm>
          <a:prstGeom prst="roundRect">
            <a:avLst>
              <a:gd name="adj" fmla="val 719"/>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en-US" altLang="zh-CN" sz="1400" dirty="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8" name="矩形 17"/>
          <p:cNvSpPr/>
          <p:nvPr/>
        </p:nvSpPr>
        <p:spPr bwMode="gray">
          <a:xfrm>
            <a:off x="3302803" y="4033455"/>
            <a:ext cx="2747310" cy="1862048"/>
          </a:xfrm>
          <a:prstGeom prst="rect">
            <a:avLst/>
          </a:prstGeom>
          <a:noFill/>
        </p:spPr>
        <p:txBody>
          <a:bodyPr wrap="square">
            <a:spAutoFit/>
          </a:bodyPr>
          <a:lstStyle/>
          <a:p>
            <a:pPr marL="176213" indent="-176213">
              <a:lnSpc>
                <a:spcPts val="2200"/>
              </a:lnSpc>
              <a:spcAft>
                <a:spcPts val="3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分为普教园区和高教园区。</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200"/>
              </a:lnSpc>
              <a:spcAft>
                <a:spcPts val="3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高教园区相对复杂，通常存在教研网、学生网，还可能有运营性的宿舍网络。</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200"/>
              </a:lnSpc>
              <a:spcAft>
                <a:spcPts val="3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网络可管理性、安全性要求高；对网络先进性亦有要求。</a:t>
            </a:r>
          </a:p>
        </p:txBody>
      </p:sp>
      <p:sp>
        <p:nvSpPr>
          <p:cNvPr id="9" name="圆角矩形 75"/>
          <p:cNvSpPr/>
          <p:nvPr/>
        </p:nvSpPr>
        <p:spPr bwMode="gray">
          <a:xfrm>
            <a:off x="6170308" y="1629976"/>
            <a:ext cx="2700000"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政务园区网络</a:t>
            </a:r>
          </a:p>
        </p:txBody>
      </p:sp>
      <p:sp>
        <p:nvSpPr>
          <p:cNvPr id="10" name="圆角矩形 75"/>
          <p:cNvSpPr/>
          <p:nvPr/>
        </p:nvSpPr>
        <p:spPr bwMode="gray">
          <a:xfrm>
            <a:off x="6170308" y="2033934"/>
            <a:ext cx="2700000" cy="4144529"/>
          </a:xfrm>
          <a:prstGeom prst="roundRect">
            <a:avLst>
              <a:gd name="adj" fmla="val 719"/>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en-US" altLang="zh-CN" sz="1400" dirty="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9" name="矩形 18"/>
          <p:cNvSpPr/>
          <p:nvPr/>
        </p:nvSpPr>
        <p:spPr bwMode="gray">
          <a:xfrm>
            <a:off x="6146653" y="4033455"/>
            <a:ext cx="2747310" cy="1259319"/>
          </a:xfrm>
          <a:prstGeom prst="rect">
            <a:avLst/>
          </a:prstGeom>
          <a:noFill/>
        </p:spPr>
        <p:txBody>
          <a:bodyPr wrap="square">
            <a:spAutoFit/>
          </a:bodyPr>
          <a:lstStyle/>
          <a:p>
            <a:pPr marL="176213" indent="-176213">
              <a:lnSpc>
                <a:spcPts val="2200"/>
              </a:lnSpc>
              <a:spcAft>
                <a:spcPts val="3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通常指政府机构的内部网络。</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200"/>
              </a:lnSpc>
              <a:spcAft>
                <a:spcPts val="3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安全要求极高，通常采用内网和外网隔离的措施保障涉密信息的绝对安全。</a:t>
            </a:r>
          </a:p>
        </p:txBody>
      </p:sp>
      <p:sp>
        <p:nvSpPr>
          <p:cNvPr id="11" name="圆角矩形 75"/>
          <p:cNvSpPr/>
          <p:nvPr/>
        </p:nvSpPr>
        <p:spPr bwMode="gray">
          <a:xfrm>
            <a:off x="9014157" y="1629976"/>
            <a:ext cx="2700000"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商业园区网络</a:t>
            </a:r>
          </a:p>
        </p:txBody>
      </p:sp>
      <p:sp>
        <p:nvSpPr>
          <p:cNvPr id="20" name="矩形 19"/>
          <p:cNvSpPr/>
          <p:nvPr/>
        </p:nvSpPr>
        <p:spPr bwMode="gray">
          <a:xfrm>
            <a:off x="8990502" y="4033455"/>
            <a:ext cx="2747310" cy="2144177"/>
          </a:xfrm>
          <a:prstGeom prst="rect">
            <a:avLst/>
          </a:prstGeom>
          <a:noFill/>
        </p:spPr>
        <p:txBody>
          <a:bodyPr wrap="square">
            <a:spAutoFit/>
          </a:bodyPr>
          <a:lstStyle/>
          <a:p>
            <a:pPr marL="176213" indent="-176213">
              <a:lnSpc>
                <a:spcPts val="2200"/>
              </a:lnSpc>
              <a:spcAft>
                <a:spcPts val="300"/>
              </a:spcAft>
              <a:buFont typeface="Arial" panose="020B0604020202020204" pitchFamily="34" charset="0"/>
              <a:buChar char="•"/>
            </a:pP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商场、超市、酒店、公园等。</a:t>
            </a:r>
            <a:endParaRPr lang="en-US" altLang="zh-CN" sz="140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200"/>
              </a:lnSpc>
              <a:spcAft>
                <a:spcPts val="300"/>
              </a:spcAft>
              <a:buFont typeface="Arial" panose="020B0604020202020204" pitchFamily="34" charset="0"/>
              <a:buChar char="•"/>
            </a:pP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网络主要用于服务消费者，此外还包含服务内部办公的子网。</a:t>
            </a:r>
            <a:endParaRPr lang="en-US" altLang="zh-CN" sz="140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200"/>
              </a:lnSpc>
              <a:spcAft>
                <a:spcPts val="300"/>
              </a:spcAft>
              <a:buFont typeface="Arial" panose="020B0604020202020204" pitchFamily="34" charset="0"/>
              <a:buChar char="•"/>
            </a:pP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提供上网服务，并构建商业智能化系统提升用户体验，降低运维成本，提升商业效率，实现价值转移。</a:t>
            </a:r>
            <a:endParaRPr lang="en-US" altLang="zh-CN"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圆角矩形 75"/>
          <p:cNvSpPr/>
          <p:nvPr/>
        </p:nvSpPr>
        <p:spPr bwMode="gray">
          <a:xfrm>
            <a:off x="9014157" y="2033934"/>
            <a:ext cx="2700000" cy="4144529"/>
          </a:xfrm>
          <a:prstGeom prst="roundRect">
            <a:avLst>
              <a:gd name="adj" fmla="val 719"/>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en-US" altLang="zh-CN" sz="1400" dirty="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pic>
        <p:nvPicPr>
          <p:cNvPr id="3" name="图片 2"/>
          <p:cNvPicPr>
            <a:picLocks/>
          </p:cNvPicPr>
          <p:nvPr/>
        </p:nvPicPr>
        <p:blipFill>
          <a:blip r:embed="rId3"/>
          <a:stretch>
            <a:fillRect/>
          </a:stretch>
        </p:blipFill>
        <p:spPr>
          <a:xfrm>
            <a:off x="3424570" y="2184737"/>
            <a:ext cx="2520000" cy="1800000"/>
          </a:xfrm>
          <a:prstGeom prst="roundRect">
            <a:avLst>
              <a:gd name="adj" fmla="val 3026"/>
            </a:avLst>
          </a:prstGeom>
          <a:noFill/>
        </p:spPr>
      </p:pic>
      <p:pic>
        <p:nvPicPr>
          <p:cNvPr id="12" name="图片 11"/>
          <p:cNvPicPr>
            <a:picLocks/>
          </p:cNvPicPr>
          <p:nvPr/>
        </p:nvPicPr>
        <p:blipFill>
          <a:blip r:embed="rId4"/>
          <a:stretch>
            <a:fillRect/>
          </a:stretch>
        </p:blipFill>
        <p:spPr>
          <a:xfrm>
            <a:off x="588868" y="2184737"/>
            <a:ext cx="2520000" cy="1800000"/>
          </a:xfrm>
          <a:prstGeom prst="roundRect">
            <a:avLst>
              <a:gd name="adj" fmla="val 3026"/>
            </a:avLst>
          </a:prstGeom>
          <a:noFill/>
        </p:spPr>
      </p:pic>
      <p:pic>
        <p:nvPicPr>
          <p:cNvPr id="22" name="图片 21"/>
          <p:cNvPicPr>
            <a:picLocks/>
          </p:cNvPicPr>
          <p:nvPr/>
        </p:nvPicPr>
        <p:blipFill>
          <a:blip r:embed="rId5"/>
          <a:stretch>
            <a:fillRect/>
          </a:stretch>
        </p:blipFill>
        <p:spPr>
          <a:xfrm>
            <a:off x="6273544" y="2184737"/>
            <a:ext cx="2520000" cy="1800000"/>
          </a:xfrm>
          <a:prstGeom prst="roundRect">
            <a:avLst>
              <a:gd name="adj" fmla="val 3026"/>
            </a:avLst>
          </a:prstGeom>
          <a:noFill/>
        </p:spPr>
      </p:pic>
      <p:pic>
        <p:nvPicPr>
          <p:cNvPr id="23" name="图片 22"/>
          <p:cNvPicPr>
            <a:picLocks/>
          </p:cNvPicPr>
          <p:nvPr/>
        </p:nvPicPr>
        <p:blipFill>
          <a:blip r:embed="rId6"/>
          <a:stretch>
            <a:fillRect/>
          </a:stretch>
        </p:blipFill>
        <p:spPr>
          <a:xfrm>
            <a:off x="9104087" y="2184737"/>
            <a:ext cx="2520000" cy="1800000"/>
          </a:xfrm>
          <a:prstGeom prst="roundRect">
            <a:avLst>
              <a:gd name="adj" fmla="val 3026"/>
            </a:avLst>
          </a:prstGeom>
          <a:noFill/>
        </p:spPr>
      </p:pic>
    </p:spTree>
    <p:extLst>
      <p:ext uri="{BB962C8B-B14F-4D97-AF65-F5344CB8AC3E}">
        <p14:creationId xmlns:p14="http://schemas.microsoft.com/office/powerpoint/2010/main" val="34119609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bwMode="gray"/>
        <p:txBody>
          <a:bodyPr>
            <a:normAutofit/>
          </a:bodyPr>
          <a:lstStyle/>
          <a:p>
            <a:r>
              <a:rPr lang="zh-CN" altLang="en-US">
                <a:sym typeface="Huawei Sans" panose="020C0503030203020204" pitchFamily="34" charset="0"/>
              </a:rPr>
              <a:t>园区网络典型物理架构</a:t>
            </a:r>
            <a:endParaRPr lang="zh-CN" altLang="en-US" dirty="0">
              <a:sym typeface="Huawei Sans" panose="020C0503030203020204" pitchFamily="34" charset="0"/>
            </a:endParaRPr>
          </a:p>
        </p:txBody>
      </p:sp>
      <p:cxnSp>
        <p:nvCxnSpPr>
          <p:cNvPr id="109" name="Straight Connector 79"/>
          <p:cNvCxnSpPr/>
          <p:nvPr/>
        </p:nvCxnSpPr>
        <p:spPr bwMode="gray">
          <a:xfrm flipH="1">
            <a:off x="4087301" y="2702295"/>
            <a:ext cx="309238" cy="330261"/>
          </a:xfrm>
          <a:prstGeom prst="line">
            <a:avLst/>
          </a:prstGeom>
          <a:noFill/>
          <a:ln w="19050" cap="flat" cmpd="sng" algn="ctr">
            <a:solidFill>
              <a:sysClr val="windowText" lastClr="000000"/>
            </a:solidFill>
            <a:prstDash val="solid"/>
            <a:miter lim="800000"/>
          </a:ln>
          <a:effectLst/>
        </p:spPr>
      </p:cxnSp>
      <p:cxnSp>
        <p:nvCxnSpPr>
          <p:cNvPr id="110" name="Straight Connector 79"/>
          <p:cNvCxnSpPr/>
          <p:nvPr/>
        </p:nvCxnSpPr>
        <p:spPr bwMode="gray">
          <a:xfrm flipH="1">
            <a:off x="4390651" y="2704518"/>
            <a:ext cx="1185521" cy="0"/>
          </a:xfrm>
          <a:prstGeom prst="line">
            <a:avLst/>
          </a:prstGeom>
          <a:noFill/>
          <a:ln w="19050" cap="flat" cmpd="sng" algn="ctr">
            <a:solidFill>
              <a:sysClr val="windowText" lastClr="000000"/>
            </a:solidFill>
            <a:prstDash val="solid"/>
            <a:miter lim="800000"/>
          </a:ln>
          <a:effectLst/>
        </p:spPr>
      </p:cxnSp>
      <p:cxnSp>
        <p:nvCxnSpPr>
          <p:cNvPr id="111" name="Straight Connector 79"/>
          <p:cNvCxnSpPr/>
          <p:nvPr/>
        </p:nvCxnSpPr>
        <p:spPr bwMode="gray">
          <a:xfrm flipH="1">
            <a:off x="3261716" y="2639822"/>
            <a:ext cx="309238" cy="330261"/>
          </a:xfrm>
          <a:prstGeom prst="line">
            <a:avLst/>
          </a:prstGeom>
          <a:noFill/>
          <a:ln w="19050" cap="flat" cmpd="sng" algn="ctr">
            <a:solidFill>
              <a:sysClr val="windowText" lastClr="000000"/>
            </a:solidFill>
            <a:prstDash val="solid"/>
            <a:miter lim="800000"/>
          </a:ln>
          <a:effectLst/>
        </p:spPr>
      </p:cxnSp>
      <p:cxnSp>
        <p:nvCxnSpPr>
          <p:cNvPr id="112" name="Straight Connector 79"/>
          <p:cNvCxnSpPr/>
          <p:nvPr/>
        </p:nvCxnSpPr>
        <p:spPr bwMode="gray">
          <a:xfrm flipH="1" flipV="1">
            <a:off x="3649928" y="2584599"/>
            <a:ext cx="343673" cy="363166"/>
          </a:xfrm>
          <a:prstGeom prst="line">
            <a:avLst/>
          </a:prstGeom>
          <a:noFill/>
          <a:ln w="19050" cap="flat" cmpd="sng" algn="ctr">
            <a:solidFill>
              <a:sysClr val="windowText" lastClr="000000"/>
            </a:solidFill>
            <a:prstDash val="solid"/>
            <a:miter lim="800000"/>
          </a:ln>
          <a:effectLst/>
        </p:spPr>
      </p:cxnSp>
      <p:cxnSp>
        <p:nvCxnSpPr>
          <p:cNvPr id="113" name="Straight Connector 79"/>
          <p:cNvCxnSpPr/>
          <p:nvPr/>
        </p:nvCxnSpPr>
        <p:spPr bwMode="gray">
          <a:xfrm flipH="1" flipV="1">
            <a:off x="2894489" y="2642045"/>
            <a:ext cx="343673" cy="363166"/>
          </a:xfrm>
          <a:prstGeom prst="line">
            <a:avLst/>
          </a:prstGeom>
          <a:noFill/>
          <a:ln w="19050" cap="flat" cmpd="sng" algn="ctr">
            <a:solidFill>
              <a:sysClr val="windowText" lastClr="000000"/>
            </a:solidFill>
            <a:prstDash val="solid"/>
            <a:miter lim="800000"/>
          </a:ln>
          <a:effectLst/>
        </p:spPr>
      </p:cxnSp>
      <p:cxnSp>
        <p:nvCxnSpPr>
          <p:cNvPr id="114" name="Straight Connector 79"/>
          <p:cNvCxnSpPr/>
          <p:nvPr/>
        </p:nvCxnSpPr>
        <p:spPr bwMode="gray">
          <a:xfrm flipH="1">
            <a:off x="4176088" y="3005211"/>
            <a:ext cx="887838" cy="1"/>
          </a:xfrm>
          <a:prstGeom prst="line">
            <a:avLst/>
          </a:prstGeom>
          <a:noFill/>
          <a:ln w="19050" cap="flat" cmpd="sng" algn="ctr">
            <a:solidFill>
              <a:sysClr val="windowText" lastClr="000000"/>
            </a:solidFill>
            <a:prstDash val="solid"/>
            <a:miter lim="800000"/>
          </a:ln>
          <a:effectLst/>
        </p:spPr>
      </p:cxnSp>
      <p:cxnSp>
        <p:nvCxnSpPr>
          <p:cNvPr id="115" name="Straight Connector 76"/>
          <p:cNvCxnSpPr/>
          <p:nvPr/>
        </p:nvCxnSpPr>
        <p:spPr bwMode="gray">
          <a:xfrm>
            <a:off x="845111" y="2407372"/>
            <a:ext cx="4611636" cy="0"/>
          </a:xfrm>
          <a:prstGeom prst="line">
            <a:avLst/>
          </a:prstGeom>
          <a:noFill/>
          <a:ln w="19050" cap="flat" cmpd="sng" algn="ctr">
            <a:solidFill>
              <a:sysClr val="window" lastClr="FFFFFF">
                <a:lumMod val="85000"/>
              </a:sysClr>
            </a:solidFill>
            <a:prstDash val="sysDot"/>
            <a:miter lim="800000"/>
          </a:ln>
          <a:effectLst/>
        </p:spPr>
      </p:cxnSp>
      <p:cxnSp>
        <p:nvCxnSpPr>
          <p:cNvPr id="116" name="Straight Connector 77"/>
          <p:cNvCxnSpPr/>
          <p:nvPr/>
        </p:nvCxnSpPr>
        <p:spPr bwMode="gray">
          <a:xfrm>
            <a:off x="845111" y="1478391"/>
            <a:ext cx="4611636" cy="0"/>
          </a:xfrm>
          <a:prstGeom prst="line">
            <a:avLst/>
          </a:prstGeom>
          <a:noFill/>
          <a:ln w="19050" cap="flat" cmpd="sng" algn="ctr">
            <a:solidFill>
              <a:sysClr val="window" lastClr="FFFFFF">
                <a:lumMod val="85000"/>
              </a:sysClr>
            </a:solidFill>
            <a:prstDash val="sysDot"/>
            <a:miter lim="800000"/>
          </a:ln>
          <a:effectLst/>
        </p:spPr>
      </p:cxnSp>
      <p:cxnSp>
        <p:nvCxnSpPr>
          <p:cNvPr id="117" name="Straight Connector 78"/>
          <p:cNvCxnSpPr/>
          <p:nvPr/>
        </p:nvCxnSpPr>
        <p:spPr bwMode="gray">
          <a:xfrm>
            <a:off x="845111" y="3570208"/>
            <a:ext cx="4611636" cy="0"/>
          </a:xfrm>
          <a:prstGeom prst="line">
            <a:avLst/>
          </a:prstGeom>
          <a:noFill/>
          <a:ln w="19050" cap="flat" cmpd="sng" algn="ctr">
            <a:solidFill>
              <a:sysClr val="window" lastClr="FFFFFF">
                <a:lumMod val="85000"/>
              </a:sysClr>
            </a:solidFill>
            <a:prstDash val="sysDot"/>
            <a:miter lim="800000"/>
          </a:ln>
          <a:effectLst/>
        </p:spPr>
      </p:cxnSp>
      <p:cxnSp>
        <p:nvCxnSpPr>
          <p:cNvPr id="118" name="Straight Connector 80"/>
          <p:cNvCxnSpPr/>
          <p:nvPr/>
        </p:nvCxnSpPr>
        <p:spPr bwMode="gray">
          <a:xfrm>
            <a:off x="845111" y="4259225"/>
            <a:ext cx="4611636" cy="0"/>
          </a:xfrm>
          <a:prstGeom prst="line">
            <a:avLst/>
          </a:prstGeom>
          <a:noFill/>
          <a:ln w="19050" cap="flat" cmpd="sng" algn="ctr">
            <a:solidFill>
              <a:sysClr val="window" lastClr="FFFFFF">
                <a:lumMod val="85000"/>
              </a:sysClr>
            </a:solidFill>
            <a:prstDash val="sysDot"/>
            <a:miter lim="800000"/>
          </a:ln>
          <a:effectLst/>
        </p:spPr>
      </p:cxnSp>
      <p:cxnSp>
        <p:nvCxnSpPr>
          <p:cNvPr id="119" name="Straight Connector 81"/>
          <p:cNvCxnSpPr/>
          <p:nvPr/>
        </p:nvCxnSpPr>
        <p:spPr bwMode="gray">
          <a:xfrm>
            <a:off x="845111" y="5459180"/>
            <a:ext cx="4611636" cy="0"/>
          </a:xfrm>
          <a:prstGeom prst="line">
            <a:avLst/>
          </a:prstGeom>
          <a:noFill/>
          <a:ln w="19050" cap="flat" cmpd="sng" algn="ctr">
            <a:solidFill>
              <a:sysClr val="window" lastClr="FFFFFF">
                <a:lumMod val="85000"/>
              </a:sysClr>
            </a:solidFill>
            <a:prstDash val="sysDot"/>
            <a:miter lim="800000"/>
          </a:ln>
          <a:effectLst/>
        </p:spPr>
      </p:cxnSp>
      <p:cxnSp>
        <p:nvCxnSpPr>
          <p:cNvPr id="120" name="Straight Connector 82"/>
          <p:cNvCxnSpPr/>
          <p:nvPr/>
        </p:nvCxnSpPr>
        <p:spPr bwMode="gray">
          <a:xfrm>
            <a:off x="845111" y="5959743"/>
            <a:ext cx="4611636" cy="0"/>
          </a:xfrm>
          <a:prstGeom prst="line">
            <a:avLst/>
          </a:prstGeom>
          <a:noFill/>
          <a:ln w="19050" cap="flat" cmpd="sng" algn="ctr">
            <a:solidFill>
              <a:sysClr val="window" lastClr="FFFFFF">
                <a:lumMod val="85000"/>
              </a:sysClr>
            </a:solidFill>
            <a:prstDash val="sysDot"/>
            <a:miter lim="800000"/>
          </a:ln>
          <a:effectLst/>
        </p:spPr>
      </p:cxnSp>
      <p:pic>
        <p:nvPicPr>
          <p:cNvPr id="121" name="图片 105" descr="AP.png"/>
          <p:cNvPicPr>
            <a:picLocks noChangeAspect="1"/>
          </p:cNvPicPr>
          <p:nvPr/>
        </p:nvPicPr>
        <p:blipFill>
          <a:blip r:embed="rId3" cstate="print"/>
          <a:stretch>
            <a:fillRect/>
          </a:stretch>
        </p:blipFill>
        <p:spPr bwMode="gray">
          <a:xfrm>
            <a:off x="4900666" y="5159297"/>
            <a:ext cx="335297" cy="274335"/>
          </a:xfrm>
          <a:prstGeom prst="rect">
            <a:avLst/>
          </a:prstGeom>
        </p:spPr>
      </p:pic>
      <p:cxnSp>
        <p:nvCxnSpPr>
          <p:cNvPr id="122" name="Straight Connector 74"/>
          <p:cNvCxnSpPr>
            <a:stCxn id="121" idx="0"/>
            <a:endCxn id="152" idx="2"/>
          </p:cNvCxnSpPr>
          <p:nvPr/>
        </p:nvCxnSpPr>
        <p:spPr bwMode="gray">
          <a:xfrm flipV="1">
            <a:off x="5068315" y="4927200"/>
            <a:ext cx="927" cy="232097"/>
          </a:xfrm>
          <a:prstGeom prst="line">
            <a:avLst/>
          </a:prstGeom>
          <a:noFill/>
          <a:ln w="19050" cap="flat" cmpd="sng" algn="ctr">
            <a:solidFill>
              <a:sysClr val="windowText" lastClr="000000"/>
            </a:solidFill>
            <a:prstDash val="solid"/>
            <a:miter lim="800000"/>
          </a:ln>
          <a:effectLst/>
        </p:spPr>
      </p:cxnSp>
      <p:pic>
        <p:nvPicPr>
          <p:cNvPr id="123" name="图片 105" descr="AP.png"/>
          <p:cNvPicPr>
            <a:picLocks noChangeAspect="1"/>
          </p:cNvPicPr>
          <p:nvPr/>
        </p:nvPicPr>
        <p:blipFill>
          <a:blip r:embed="rId3" cstate="print"/>
          <a:stretch>
            <a:fillRect/>
          </a:stretch>
        </p:blipFill>
        <p:spPr bwMode="gray">
          <a:xfrm>
            <a:off x="2886100" y="5159297"/>
            <a:ext cx="335297" cy="274335"/>
          </a:xfrm>
          <a:prstGeom prst="rect">
            <a:avLst/>
          </a:prstGeom>
        </p:spPr>
      </p:pic>
      <p:pic>
        <p:nvPicPr>
          <p:cNvPr id="124" name="图片 102" descr="AC-蓝.png"/>
          <p:cNvPicPr>
            <a:picLocks noChangeAspect="1"/>
          </p:cNvPicPr>
          <p:nvPr/>
        </p:nvPicPr>
        <p:blipFill>
          <a:blip r:embed="rId4" cstate="print"/>
          <a:stretch>
            <a:fillRect/>
          </a:stretch>
        </p:blipFill>
        <p:spPr bwMode="gray">
          <a:xfrm>
            <a:off x="2133499" y="2867310"/>
            <a:ext cx="337091" cy="275802"/>
          </a:xfrm>
          <a:prstGeom prst="rect">
            <a:avLst/>
          </a:prstGeom>
        </p:spPr>
      </p:pic>
      <p:pic>
        <p:nvPicPr>
          <p:cNvPr id="125" name="图片 86" descr="核心交换机.png"/>
          <p:cNvPicPr>
            <a:picLocks noChangeAspect="1"/>
          </p:cNvPicPr>
          <p:nvPr/>
        </p:nvPicPr>
        <p:blipFill>
          <a:blip r:embed="rId5" cstate="print"/>
          <a:stretch>
            <a:fillRect/>
          </a:stretch>
        </p:blipFill>
        <p:spPr bwMode="gray">
          <a:xfrm>
            <a:off x="3072618" y="2868044"/>
            <a:ext cx="335297" cy="274335"/>
          </a:xfrm>
          <a:prstGeom prst="rect">
            <a:avLst/>
          </a:prstGeom>
        </p:spPr>
      </p:pic>
      <p:pic>
        <p:nvPicPr>
          <p:cNvPr id="126" name="图片 86" descr="核心交换机.png"/>
          <p:cNvPicPr>
            <a:picLocks noChangeAspect="1"/>
          </p:cNvPicPr>
          <p:nvPr/>
        </p:nvPicPr>
        <p:blipFill>
          <a:blip r:embed="rId5" cstate="print"/>
          <a:stretch>
            <a:fillRect/>
          </a:stretch>
        </p:blipFill>
        <p:spPr bwMode="gray">
          <a:xfrm>
            <a:off x="3894340" y="2868044"/>
            <a:ext cx="335297" cy="274335"/>
          </a:xfrm>
          <a:prstGeom prst="rect">
            <a:avLst/>
          </a:prstGeom>
        </p:spPr>
      </p:pic>
      <p:cxnSp>
        <p:nvCxnSpPr>
          <p:cNvPr id="127" name="Straight Connector 13"/>
          <p:cNvCxnSpPr>
            <a:stCxn id="125" idx="3"/>
            <a:endCxn id="126" idx="1"/>
          </p:cNvCxnSpPr>
          <p:nvPr/>
        </p:nvCxnSpPr>
        <p:spPr bwMode="gray">
          <a:xfrm>
            <a:off x="3407915" y="3005212"/>
            <a:ext cx="486425" cy="0"/>
          </a:xfrm>
          <a:prstGeom prst="line">
            <a:avLst/>
          </a:prstGeom>
          <a:noFill/>
          <a:ln w="19050" cap="flat" cmpd="sng" algn="ctr">
            <a:solidFill>
              <a:srgbClr val="0070C0"/>
            </a:solidFill>
            <a:prstDash val="solid"/>
            <a:miter lim="800000"/>
          </a:ln>
          <a:effectLst/>
        </p:spPr>
      </p:cxnSp>
      <p:pic>
        <p:nvPicPr>
          <p:cNvPr id="128" name="图片 87" descr="汇聚交换机.png"/>
          <p:cNvPicPr>
            <a:picLocks noChangeAspect="1"/>
          </p:cNvPicPr>
          <p:nvPr/>
        </p:nvPicPr>
        <p:blipFill>
          <a:blip r:embed="rId6" cstate="print"/>
          <a:stretch>
            <a:fillRect/>
          </a:stretch>
        </p:blipFill>
        <p:spPr bwMode="gray">
          <a:xfrm>
            <a:off x="2067338" y="3770805"/>
            <a:ext cx="335297" cy="274335"/>
          </a:xfrm>
          <a:prstGeom prst="rect">
            <a:avLst/>
          </a:prstGeom>
        </p:spPr>
      </p:pic>
      <p:pic>
        <p:nvPicPr>
          <p:cNvPr id="129" name="图片 87" descr="汇聚交换机.png"/>
          <p:cNvPicPr>
            <a:picLocks noChangeAspect="1"/>
          </p:cNvPicPr>
          <p:nvPr/>
        </p:nvPicPr>
        <p:blipFill>
          <a:blip r:embed="rId6" cstate="print"/>
          <a:stretch>
            <a:fillRect/>
          </a:stretch>
        </p:blipFill>
        <p:spPr bwMode="gray">
          <a:xfrm>
            <a:off x="2887087" y="3770805"/>
            <a:ext cx="335297" cy="274335"/>
          </a:xfrm>
          <a:prstGeom prst="rect">
            <a:avLst/>
          </a:prstGeom>
        </p:spPr>
      </p:pic>
      <p:cxnSp>
        <p:nvCxnSpPr>
          <p:cNvPr id="130" name="Straight Connector 16"/>
          <p:cNvCxnSpPr>
            <a:stCxn id="128" idx="3"/>
            <a:endCxn id="129" idx="1"/>
          </p:cNvCxnSpPr>
          <p:nvPr/>
        </p:nvCxnSpPr>
        <p:spPr bwMode="gray">
          <a:xfrm>
            <a:off x="2402635" y="3907973"/>
            <a:ext cx="484452" cy="0"/>
          </a:xfrm>
          <a:prstGeom prst="line">
            <a:avLst/>
          </a:prstGeom>
          <a:noFill/>
          <a:ln w="19050" cap="flat" cmpd="sng" algn="ctr">
            <a:solidFill>
              <a:srgbClr val="0070C0"/>
            </a:solidFill>
            <a:prstDash val="solid"/>
            <a:miter lim="800000"/>
          </a:ln>
          <a:effectLst/>
        </p:spPr>
      </p:cxnSp>
      <p:cxnSp>
        <p:nvCxnSpPr>
          <p:cNvPr id="131" name="Straight Connector 19"/>
          <p:cNvCxnSpPr/>
          <p:nvPr/>
        </p:nvCxnSpPr>
        <p:spPr bwMode="gray">
          <a:xfrm>
            <a:off x="3980024" y="6082853"/>
            <a:ext cx="268482" cy="0"/>
          </a:xfrm>
          <a:prstGeom prst="line">
            <a:avLst/>
          </a:prstGeom>
          <a:noFill/>
          <a:ln w="19050" cap="flat" cmpd="sng" algn="ctr">
            <a:solidFill>
              <a:srgbClr val="0070C0"/>
            </a:solidFill>
            <a:prstDash val="solid"/>
            <a:miter lim="800000"/>
          </a:ln>
          <a:effectLst/>
        </p:spPr>
      </p:cxnSp>
      <p:sp>
        <p:nvSpPr>
          <p:cNvPr id="132" name="TextBox 20"/>
          <p:cNvSpPr txBox="1"/>
          <p:nvPr/>
        </p:nvSpPr>
        <p:spPr bwMode="gray">
          <a:xfrm>
            <a:off x="4248506" y="5951013"/>
            <a:ext cx="1223412" cy="276999"/>
          </a:xfrm>
          <a:prstGeom prst="rect">
            <a:avLst/>
          </a:prstGeom>
          <a:noFill/>
        </p:spPr>
        <p:txBody>
          <a:bodyPr wrap="none" rtlCol="0">
            <a:spAutoFit/>
          </a:bodyPr>
          <a:lstStyle/>
          <a:p>
            <a:pPr fontAlgn="auto">
              <a:spcBef>
                <a:spcPts val="0"/>
              </a:spcBef>
              <a:spcAft>
                <a:spcPts val="0"/>
              </a:spcAft>
            </a:pPr>
            <a:r>
              <a:rPr lang="en-US" altLang="zh-CN" sz="1200" dirty="0" err="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iStack</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/CSS</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链路</a:t>
            </a:r>
          </a:p>
        </p:txBody>
      </p:sp>
      <p:pic>
        <p:nvPicPr>
          <p:cNvPr id="133" name="图片 87" descr="汇聚交换机.png"/>
          <p:cNvPicPr>
            <a:picLocks noChangeAspect="1"/>
          </p:cNvPicPr>
          <p:nvPr/>
        </p:nvPicPr>
        <p:blipFill>
          <a:blip r:embed="rId6" cstate="print"/>
          <a:stretch>
            <a:fillRect/>
          </a:stretch>
        </p:blipFill>
        <p:spPr bwMode="gray">
          <a:xfrm>
            <a:off x="4080857" y="3770805"/>
            <a:ext cx="335297" cy="274335"/>
          </a:xfrm>
          <a:prstGeom prst="rect">
            <a:avLst/>
          </a:prstGeom>
        </p:spPr>
      </p:pic>
      <p:pic>
        <p:nvPicPr>
          <p:cNvPr id="134" name="图片 87" descr="汇聚交换机.png"/>
          <p:cNvPicPr>
            <a:picLocks noChangeAspect="1"/>
          </p:cNvPicPr>
          <p:nvPr/>
        </p:nvPicPr>
        <p:blipFill>
          <a:blip r:embed="rId6" cstate="print"/>
          <a:stretch>
            <a:fillRect/>
          </a:stretch>
        </p:blipFill>
        <p:spPr bwMode="gray">
          <a:xfrm>
            <a:off x="4901593" y="3770805"/>
            <a:ext cx="335297" cy="274335"/>
          </a:xfrm>
          <a:prstGeom prst="rect">
            <a:avLst/>
          </a:prstGeom>
        </p:spPr>
      </p:pic>
      <p:cxnSp>
        <p:nvCxnSpPr>
          <p:cNvPr id="135" name="Straight Connector 29"/>
          <p:cNvCxnSpPr>
            <a:stCxn id="133" idx="3"/>
            <a:endCxn id="134" idx="1"/>
          </p:cNvCxnSpPr>
          <p:nvPr/>
        </p:nvCxnSpPr>
        <p:spPr bwMode="gray">
          <a:xfrm>
            <a:off x="4416154" y="3907973"/>
            <a:ext cx="485439" cy="0"/>
          </a:xfrm>
          <a:prstGeom prst="line">
            <a:avLst/>
          </a:prstGeom>
          <a:noFill/>
          <a:ln w="19050" cap="flat" cmpd="sng" algn="ctr">
            <a:solidFill>
              <a:srgbClr val="0070C0"/>
            </a:solidFill>
            <a:prstDash val="solid"/>
            <a:miter lim="800000"/>
          </a:ln>
          <a:effectLst/>
        </p:spPr>
      </p:cxnSp>
      <p:cxnSp>
        <p:nvCxnSpPr>
          <p:cNvPr id="136" name="Straight Connector 30"/>
          <p:cNvCxnSpPr>
            <a:stCxn id="128" idx="0"/>
            <a:endCxn id="125" idx="2"/>
          </p:cNvCxnSpPr>
          <p:nvPr/>
        </p:nvCxnSpPr>
        <p:spPr bwMode="gray">
          <a:xfrm flipV="1">
            <a:off x="2234987" y="3142379"/>
            <a:ext cx="1005280" cy="628426"/>
          </a:xfrm>
          <a:prstGeom prst="line">
            <a:avLst/>
          </a:prstGeom>
          <a:noFill/>
          <a:ln w="19050" cap="flat" cmpd="sng" algn="ctr">
            <a:solidFill>
              <a:sysClr val="windowText" lastClr="000000"/>
            </a:solidFill>
            <a:prstDash val="solid"/>
            <a:miter lim="800000"/>
          </a:ln>
          <a:effectLst/>
        </p:spPr>
      </p:cxnSp>
      <p:cxnSp>
        <p:nvCxnSpPr>
          <p:cNvPr id="137" name="Straight Connector 33"/>
          <p:cNvCxnSpPr>
            <a:stCxn id="129" idx="0"/>
            <a:endCxn id="126" idx="2"/>
          </p:cNvCxnSpPr>
          <p:nvPr/>
        </p:nvCxnSpPr>
        <p:spPr bwMode="gray">
          <a:xfrm flipV="1">
            <a:off x="3054736" y="3142379"/>
            <a:ext cx="1007253" cy="628426"/>
          </a:xfrm>
          <a:prstGeom prst="line">
            <a:avLst/>
          </a:prstGeom>
          <a:noFill/>
          <a:ln w="19050" cap="flat" cmpd="sng" algn="ctr">
            <a:solidFill>
              <a:sysClr val="windowText" lastClr="000000"/>
            </a:solidFill>
            <a:prstDash val="solid"/>
            <a:miter lim="800000"/>
          </a:ln>
          <a:effectLst/>
        </p:spPr>
      </p:cxnSp>
      <p:cxnSp>
        <p:nvCxnSpPr>
          <p:cNvPr id="138" name="Straight Connector 36"/>
          <p:cNvCxnSpPr>
            <a:stCxn id="133" idx="0"/>
            <a:endCxn id="125" idx="2"/>
          </p:cNvCxnSpPr>
          <p:nvPr/>
        </p:nvCxnSpPr>
        <p:spPr bwMode="gray">
          <a:xfrm flipH="1" flipV="1">
            <a:off x="3240267" y="3142379"/>
            <a:ext cx="1008239" cy="628426"/>
          </a:xfrm>
          <a:prstGeom prst="line">
            <a:avLst/>
          </a:prstGeom>
          <a:noFill/>
          <a:ln w="19050" cap="flat" cmpd="sng" algn="ctr">
            <a:solidFill>
              <a:sysClr val="windowText" lastClr="000000"/>
            </a:solidFill>
            <a:prstDash val="solid"/>
            <a:miter lim="800000"/>
          </a:ln>
          <a:effectLst/>
        </p:spPr>
      </p:cxnSp>
      <p:cxnSp>
        <p:nvCxnSpPr>
          <p:cNvPr id="139" name="Straight Connector 39"/>
          <p:cNvCxnSpPr>
            <a:stCxn id="134" idx="0"/>
            <a:endCxn id="126" idx="2"/>
          </p:cNvCxnSpPr>
          <p:nvPr/>
        </p:nvCxnSpPr>
        <p:spPr bwMode="gray">
          <a:xfrm flipH="1" flipV="1">
            <a:off x="4061989" y="3142379"/>
            <a:ext cx="1007253" cy="628426"/>
          </a:xfrm>
          <a:prstGeom prst="line">
            <a:avLst/>
          </a:prstGeom>
          <a:noFill/>
          <a:ln w="19050" cap="flat" cmpd="sng" algn="ctr">
            <a:solidFill>
              <a:sysClr val="windowText" lastClr="000000"/>
            </a:solidFill>
            <a:prstDash val="solid"/>
            <a:miter lim="800000"/>
          </a:ln>
          <a:effectLst/>
        </p:spPr>
      </p:cxnSp>
      <p:sp>
        <p:nvSpPr>
          <p:cNvPr id="140" name="Oval 42"/>
          <p:cNvSpPr/>
          <p:nvPr/>
        </p:nvSpPr>
        <p:spPr bwMode="gray">
          <a:xfrm rot="3077028">
            <a:off x="2848295" y="3421118"/>
            <a:ext cx="580554" cy="91395"/>
          </a:xfrm>
          <a:prstGeom prst="ellipse">
            <a:avLst/>
          </a:prstGeom>
          <a:noFill/>
          <a:ln w="190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41" name="图片 106" descr="堆叠交换机蓝.png"/>
          <p:cNvPicPr>
            <a:picLocks noChangeAspect="1"/>
          </p:cNvPicPr>
          <p:nvPr/>
        </p:nvPicPr>
        <p:blipFill>
          <a:blip r:embed="rId7" cstate="print"/>
          <a:stretch>
            <a:fillRect/>
          </a:stretch>
        </p:blipFill>
        <p:spPr bwMode="gray">
          <a:xfrm>
            <a:off x="2066441" y="4651398"/>
            <a:ext cx="337091" cy="275802"/>
          </a:xfrm>
          <a:prstGeom prst="rect">
            <a:avLst/>
          </a:prstGeom>
        </p:spPr>
      </p:pic>
      <p:pic>
        <p:nvPicPr>
          <p:cNvPr id="142" name="图片 106" descr="堆叠交换机蓝.png"/>
          <p:cNvPicPr>
            <a:picLocks noChangeAspect="1"/>
          </p:cNvPicPr>
          <p:nvPr/>
        </p:nvPicPr>
        <p:blipFill>
          <a:blip r:embed="rId7" cstate="print"/>
          <a:stretch>
            <a:fillRect/>
          </a:stretch>
        </p:blipFill>
        <p:spPr bwMode="gray">
          <a:xfrm>
            <a:off x="2886190" y="4651398"/>
            <a:ext cx="337091" cy="275802"/>
          </a:xfrm>
          <a:prstGeom prst="rect">
            <a:avLst/>
          </a:prstGeom>
        </p:spPr>
      </p:pic>
      <p:cxnSp>
        <p:nvCxnSpPr>
          <p:cNvPr id="143" name="Straight Connector 34"/>
          <p:cNvCxnSpPr>
            <a:stCxn id="141" idx="0"/>
            <a:endCxn id="128" idx="2"/>
          </p:cNvCxnSpPr>
          <p:nvPr/>
        </p:nvCxnSpPr>
        <p:spPr bwMode="gray">
          <a:xfrm flipV="1">
            <a:off x="2234987" y="4045140"/>
            <a:ext cx="0" cy="606258"/>
          </a:xfrm>
          <a:prstGeom prst="line">
            <a:avLst/>
          </a:prstGeom>
          <a:noFill/>
          <a:ln w="19050" cap="flat" cmpd="sng" algn="ctr">
            <a:solidFill>
              <a:sysClr val="windowText" lastClr="000000"/>
            </a:solidFill>
            <a:prstDash val="solid"/>
            <a:miter lim="800000"/>
          </a:ln>
          <a:effectLst/>
        </p:spPr>
      </p:cxnSp>
      <p:cxnSp>
        <p:nvCxnSpPr>
          <p:cNvPr id="144" name="Straight Connector 35"/>
          <p:cNvCxnSpPr>
            <a:stCxn id="141" idx="0"/>
            <a:endCxn id="129" idx="2"/>
          </p:cNvCxnSpPr>
          <p:nvPr/>
        </p:nvCxnSpPr>
        <p:spPr bwMode="gray">
          <a:xfrm flipV="1">
            <a:off x="2234987" y="4045140"/>
            <a:ext cx="819749" cy="606258"/>
          </a:xfrm>
          <a:prstGeom prst="line">
            <a:avLst/>
          </a:prstGeom>
          <a:noFill/>
          <a:ln w="19050" cap="flat" cmpd="sng" algn="ctr">
            <a:solidFill>
              <a:sysClr val="windowText" lastClr="000000"/>
            </a:solidFill>
            <a:prstDash val="solid"/>
            <a:miter lim="800000"/>
          </a:ln>
          <a:effectLst/>
        </p:spPr>
      </p:cxnSp>
      <p:cxnSp>
        <p:nvCxnSpPr>
          <p:cNvPr id="145" name="Straight Connector 37"/>
          <p:cNvCxnSpPr>
            <a:stCxn id="142" idx="0"/>
            <a:endCxn id="128" idx="2"/>
          </p:cNvCxnSpPr>
          <p:nvPr/>
        </p:nvCxnSpPr>
        <p:spPr bwMode="gray">
          <a:xfrm flipH="1" flipV="1">
            <a:off x="2234987" y="4045140"/>
            <a:ext cx="819749" cy="606258"/>
          </a:xfrm>
          <a:prstGeom prst="line">
            <a:avLst/>
          </a:prstGeom>
          <a:noFill/>
          <a:ln w="19050" cap="flat" cmpd="sng" algn="ctr">
            <a:solidFill>
              <a:sysClr val="windowText" lastClr="000000"/>
            </a:solidFill>
            <a:prstDash val="solid"/>
            <a:miter lim="800000"/>
          </a:ln>
          <a:effectLst/>
        </p:spPr>
      </p:cxnSp>
      <p:cxnSp>
        <p:nvCxnSpPr>
          <p:cNvPr id="146" name="Straight Connector 38"/>
          <p:cNvCxnSpPr>
            <a:stCxn id="142" idx="0"/>
            <a:endCxn id="129" idx="2"/>
          </p:cNvCxnSpPr>
          <p:nvPr/>
        </p:nvCxnSpPr>
        <p:spPr bwMode="gray">
          <a:xfrm flipV="1">
            <a:off x="3054736" y="4045140"/>
            <a:ext cx="0" cy="606258"/>
          </a:xfrm>
          <a:prstGeom prst="line">
            <a:avLst/>
          </a:prstGeom>
          <a:noFill/>
          <a:ln w="19050" cap="flat" cmpd="sng" algn="ctr">
            <a:solidFill>
              <a:sysClr val="windowText" lastClr="000000"/>
            </a:solidFill>
            <a:prstDash val="solid"/>
            <a:miter lim="800000"/>
          </a:ln>
          <a:effectLst/>
        </p:spPr>
      </p:cxnSp>
      <p:grpSp>
        <p:nvGrpSpPr>
          <p:cNvPr id="147" name="Group 40"/>
          <p:cNvGrpSpPr/>
          <p:nvPr/>
        </p:nvGrpSpPr>
        <p:grpSpPr bwMode="gray">
          <a:xfrm>
            <a:off x="2513878" y="4757501"/>
            <a:ext cx="261965" cy="61979"/>
            <a:chOff x="559282" y="6488261"/>
            <a:chExt cx="261965" cy="61979"/>
          </a:xfrm>
          <a:solidFill>
            <a:sysClr val="window" lastClr="FFFFFF">
              <a:lumMod val="50000"/>
            </a:sysClr>
          </a:solidFill>
        </p:grpSpPr>
        <p:sp>
          <p:nvSpPr>
            <p:cNvPr id="148" name="Oval 41"/>
            <p:cNvSpPr>
              <a:spLocks noChangeAspect="1"/>
            </p:cNvSpPr>
            <p:nvPr/>
          </p:nvSpPr>
          <p:spPr bwMode="gray">
            <a:xfrm>
              <a:off x="759268" y="6488261"/>
              <a:ext cx="61979" cy="61979"/>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9" name="Oval 44"/>
            <p:cNvSpPr>
              <a:spLocks noChangeAspect="1"/>
            </p:cNvSpPr>
            <p:nvPr/>
          </p:nvSpPr>
          <p:spPr bwMode="gray">
            <a:xfrm>
              <a:off x="559282" y="6488261"/>
              <a:ext cx="61979" cy="61979"/>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0" name="Oval 45"/>
            <p:cNvSpPr>
              <a:spLocks noChangeAspect="1"/>
            </p:cNvSpPr>
            <p:nvPr/>
          </p:nvSpPr>
          <p:spPr bwMode="gray">
            <a:xfrm>
              <a:off x="659275" y="6488261"/>
              <a:ext cx="61979" cy="61979"/>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151" name="图片 106" descr="堆叠交换机蓝.png"/>
          <p:cNvPicPr>
            <a:picLocks noChangeAspect="1"/>
          </p:cNvPicPr>
          <p:nvPr/>
        </p:nvPicPr>
        <p:blipFill>
          <a:blip r:embed="rId7" cstate="print"/>
          <a:stretch>
            <a:fillRect/>
          </a:stretch>
        </p:blipFill>
        <p:spPr bwMode="gray">
          <a:xfrm>
            <a:off x="4079960" y="4651398"/>
            <a:ext cx="337091" cy="275802"/>
          </a:xfrm>
          <a:prstGeom prst="rect">
            <a:avLst/>
          </a:prstGeom>
        </p:spPr>
      </p:pic>
      <p:pic>
        <p:nvPicPr>
          <p:cNvPr id="152" name="图片 106" descr="堆叠交换机蓝.png"/>
          <p:cNvPicPr>
            <a:picLocks noChangeAspect="1"/>
          </p:cNvPicPr>
          <p:nvPr/>
        </p:nvPicPr>
        <p:blipFill>
          <a:blip r:embed="rId7" cstate="print"/>
          <a:stretch>
            <a:fillRect/>
          </a:stretch>
        </p:blipFill>
        <p:spPr bwMode="gray">
          <a:xfrm>
            <a:off x="4900696" y="4651398"/>
            <a:ext cx="337091" cy="275802"/>
          </a:xfrm>
          <a:prstGeom prst="rect">
            <a:avLst/>
          </a:prstGeom>
        </p:spPr>
      </p:pic>
      <p:grpSp>
        <p:nvGrpSpPr>
          <p:cNvPr id="153" name="Group 54"/>
          <p:cNvGrpSpPr/>
          <p:nvPr/>
        </p:nvGrpSpPr>
        <p:grpSpPr bwMode="gray">
          <a:xfrm>
            <a:off x="4528384" y="4757501"/>
            <a:ext cx="261965" cy="61979"/>
            <a:chOff x="559282" y="6488261"/>
            <a:chExt cx="261965" cy="61979"/>
          </a:xfrm>
          <a:solidFill>
            <a:sysClr val="window" lastClr="FFFFFF">
              <a:lumMod val="50000"/>
            </a:sysClr>
          </a:solidFill>
        </p:grpSpPr>
        <p:sp>
          <p:nvSpPr>
            <p:cNvPr id="154" name="Oval 55"/>
            <p:cNvSpPr>
              <a:spLocks noChangeAspect="1"/>
            </p:cNvSpPr>
            <p:nvPr/>
          </p:nvSpPr>
          <p:spPr bwMode="gray">
            <a:xfrm>
              <a:off x="759268" y="6488261"/>
              <a:ext cx="61979" cy="61979"/>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5" name="Oval 56"/>
            <p:cNvSpPr>
              <a:spLocks noChangeAspect="1"/>
            </p:cNvSpPr>
            <p:nvPr/>
          </p:nvSpPr>
          <p:spPr bwMode="gray">
            <a:xfrm>
              <a:off x="559282" y="6488261"/>
              <a:ext cx="61979" cy="61979"/>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6" name="Oval 57"/>
            <p:cNvSpPr>
              <a:spLocks noChangeAspect="1"/>
            </p:cNvSpPr>
            <p:nvPr/>
          </p:nvSpPr>
          <p:spPr bwMode="gray">
            <a:xfrm>
              <a:off x="659275" y="6488261"/>
              <a:ext cx="61979" cy="61979"/>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157" name="Straight Connector 58"/>
          <p:cNvCxnSpPr>
            <a:stCxn id="151" idx="0"/>
            <a:endCxn id="133" idx="2"/>
          </p:cNvCxnSpPr>
          <p:nvPr/>
        </p:nvCxnSpPr>
        <p:spPr bwMode="gray">
          <a:xfrm flipV="1">
            <a:off x="4248506" y="4045140"/>
            <a:ext cx="0" cy="606258"/>
          </a:xfrm>
          <a:prstGeom prst="line">
            <a:avLst/>
          </a:prstGeom>
          <a:noFill/>
          <a:ln w="19050" cap="flat" cmpd="sng" algn="ctr">
            <a:solidFill>
              <a:sysClr val="windowText" lastClr="000000"/>
            </a:solidFill>
            <a:prstDash val="solid"/>
            <a:miter lim="800000"/>
          </a:ln>
          <a:effectLst/>
        </p:spPr>
      </p:cxnSp>
      <p:cxnSp>
        <p:nvCxnSpPr>
          <p:cNvPr id="158" name="Straight Connector 61"/>
          <p:cNvCxnSpPr>
            <a:stCxn id="152" idx="0"/>
            <a:endCxn id="134" idx="2"/>
          </p:cNvCxnSpPr>
          <p:nvPr/>
        </p:nvCxnSpPr>
        <p:spPr bwMode="gray">
          <a:xfrm flipV="1">
            <a:off x="5069242" y="4045140"/>
            <a:ext cx="0" cy="606258"/>
          </a:xfrm>
          <a:prstGeom prst="line">
            <a:avLst/>
          </a:prstGeom>
          <a:noFill/>
          <a:ln w="19050" cap="flat" cmpd="sng" algn="ctr">
            <a:solidFill>
              <a:sysClr val="windowText" lastClr="000000"/>
            </a:solidFill>
            <a:prstDash val="solid"/>
            <a:miter lim="800000"/>
          </a:ln>
          <a:effectLst/>
        </p:spPr>
      </p:cxnSp>
      <p:cxnSp>
        <p:nvCxnSpPr>
          <p:cNvPr id="159" name="Straight Connector 64"/>
          <p:cNvCxnSpPr>
            <a:stCxn id="151" idx="0"/>
            <a:endCxn id="134" idx="2"/>
          </p:cNvCxnSpPr>
          <p:nvPr/>
        </p:nvCxnSpPr>
        <p:spPr bwMode="gray">
          <a:xfrm flipV="1">
            <a:off x="4248506" y="4045140"/>
            <a:ext cx="820736" cy="606258"/>
          </a:xfrm>
          <a:prstGeom prst="line">
            <a:avLst/>
          </a:prstGeom>
          <a:noFill/>
          <a:ln w="19050" cap="flat" cmpd="sng" algn="ctr">
            <a:solidFill>
              <a:sysClr val="windowText" lastClr="000000"/>
            </a:solidFill>
            <a:prstDash val="solid"/>
            <a:miter lim="800000"/>
          </a:ln>
          <a:effectLst/>
        </p:spPr>
      </p:cxnSp>
      <p:cxnSp>
        <p:nvCxnSpPr>
          <p:cNvPr id="160" name="Straight Connector 67"/>
          <p:cNvCxnSpPr>
            <a:stCxn id="152" idx="0"/>
            <a:endCxn id="133" idx="2"/>
          </p:cNvCxnSpPr>
          <p:nvPr/>
        </p:nvCxnSpPr>
        <p:spPr bwMode="gray">
          <a:xfrm flipH="1" flipV="1">
            <a:off x="4248506" y="4045140"/>
            <a:ext cx="820736" cy="606258"/>
          </a:xfrm>
          <a:prstGeom prst="line">
            <a:avLst/>
          </a:prstGeom>
          <a:noFill/>
          <a:ln w="19050" cap="flat" cmpd="sng" algn="ctr">
            <a:solidFill>
              <a:sysClr val="windowText" lastClr="000000"/>
            </a:solidFill>
            <a:prstDash val="solid"/>
            <a:miter lim="800000"/>
          </a:ln>
          <a:effectLst/>
        </p:spPr>
      </p:cxnSp>
      <p:cxnSp>
        <p:nvCxnSpPr>
          <p:cNvPr id="161" name="Straight Connector 70"/>
          <p:cNvCxnSpPr>
            <a:stCxn id="123" idx="0"/>
            <a:endCxn id="142" idx="2"/>
          </p:cNvCxnSpPr>
          <p:nvPr/>
        </p:nvCxnSpPr>
        <p:spPr bwMode="gray">
          <a:xfrm flipV="1">
            <a:off x="3053749" y="4927200"/>
            <a:ext cx="987" cy="232097"/>
          </a:xfrm>
          <a:prstGeom prst="line">
            <a:avLst/>
          </a:prstGeom>
          <a:noFill/>
          <a:ln w="19050" cap="flat" cmpd="sng" algn="ctr">
            <a:solidFill>
              <a:sysClr val="windowText" lastClr="000000"/>
            </a:solidFill>
            <a:prstDash val="solid"/>
            <a:miter lim="800000"/>
          </a:ln>
          <a:effectLst/>
        </p:spPr>
      </p:cxnSp>
      <p:cxnSp>
        <p:nvCxnSpPr>
          <p:cNvPr id="162" name="Straight Connector 79"/>
          <p:cNvCxnSpPr>
            <a:stCxn id="125" idx="1"/>
            <a:endCxn id="124" idx="3"/>
          </p:cNvCxnSpPr>
          <p:nvPr/>
        </p:nvCxnSpPr>
        <p:spPr bwMode="gray">
          <a:xfrm flipH="1" flipV="1">
            <a:off x="2470590" y="3005211"/>
            <a:ext cx="602028" cy="1"/>
          </a:xfrm>
          <a:prstGeom prst="line">
            <a:avLst/>
          </a:prstGeom>
          <a:noFill/>
          <a:ln w="19050" cap="flat" cmpd="sng" algn="ctr">
            <a:solidFill>
              <a:sysClr val="windowText" lastClr="000000"/>
            </a:solidFill>
            <a:prstDash val="solid"/>
            <a:miter lim="800000"/>
          </a:ln>
          <a:effectLst/>
        </p:spPr>
      </p:cxnSp>
      <p:pic>
        <p:nvPicPr>
          <p:cNvPr id="163" name="Picture 2" descr="G:\做的项目\公共\扁平图标切换\更新2015_01_21\oss扁平图标库2015_01_21更新-04.png"/>
          <p:cNvPicPr>
            <a:picLocks noChangeAspect="1" noChangeArrowheads="1"/>
          </p:cNvPicPr>
          <p:nvPr/>
        </p:nvPicPr>
        <p:blipFill>
          <a:blip r:embed="rId8" cstate="print"/>
          <a:stretch>
            <a:fillRect/>
          </a:stretch>
        </p:blipFill>
        <p:spPr bwMode="gray">
          <a:xfrm>
            <a:off x="3069617" y="1592807"/>
            <a:ext cx="337091" cy="275801"/>
          </a:xfrm>
          <a:prstGeom prst="rect">
            <a:avLst/>
          </a:prstGeom>
          <a:noFill/>
        </p:spPr>
      </p:pic>
      <p:pic>
        <p:nvPicPr>
          <p:cNvPr id="164" name="Picture 2" descr="G:\做的项目\公共\扁平图标切换\更新2015_01_21\oss扁平图标库2015_01_21更新-04.png"/>
          <p:cNvPicPr>
            <a:picLocks noChangeAspect="1" noChangeArrowheads="1"/>
          </p:cNvPicPr>
          <p:nvPr/>
        </p:nvPicPr>
        <p:blipFill>
          <a:blip r:embed="rId8" cstate="print"/>
          <a:stretch>
            <a:fillRect/>
          </a:stretch>
        </p:blipFill>
        <p:spPr bwMode="gray">
          <a:xfrm>
            <a:off x="3893443" y="1592807"/>
            <a:ext cx="337091" cy="275801"/>
          </a:xfrm>
          <a:prstGeom prst="rect">
            <a:avLst/>
          </a:prstGeom>
          <a:noFill/>
        </p:spPr>
      </p:pic>
      <p:cxnSp>
        <p:nvCxnSpPr>
          <p:cNvPr id="165" name="Straight Connector 98"/>
          <p:cNvCxnSpPr>
            <a:stCxn id="164" idx="2"/>
            <a:endCxn id="126" idx="0"/>
          </p:cNvCxnSpPr>
          <p:nvPr/>
        </p:nvCxnSpPr>
        <p:spPr bwMode="gray">
          <a:xfrm>
            <a:off x="4061989" y="1868608"/>
            <a:ext cx="0" cy="999436"/>
          </a:xfrm>
          <a:prstGeom prst="line">
            <a:avLst/>
          </a:prstGeom>
          <a:noFill/>
          <a:ln w="19050" cap="flat" cmpd="sng" algn="ctr">
            <a:solidFill>
              <a:sysClr val="windowText" lastClr="000000"/>
            </a:solidFill>
            <a:prstDash val="solid"/>
            <a:miter lim="800000"/>
          </a:ln>
          <a:effectLst/>
        </p:spPr>
      </p:cxnSp>
      <p:cxnSp>
        <p:nvCxnSpPr>
          <p:cNvPr id="166" name="Straight Connector 101"/>
          <p:cNvCxnSpPr>
            <a:stCxn id="163" idx="2"/>
            <a:endCxn id="125" idx="0"/>
          </p:cNvCxnSpPr>
          <p:nvPr/>
        </p:nvCxnSpPr>
        <p:spPr bwMode="gray">
          <a:xfrm>
            <a:off x="3238163" y="1868608"/>
            <a:ext cx="2104" cy="999436"/>
          </a:xfrm>
          <a:prstGeom prst="line">
            <a:avLst/>
          </a:prstGeom>
          <a:noFill/>
          <a:ln w="19050" cap="flat" cmpd="sng" algn="ctr">
            <a:solidFill>
              <a:sysClr val="windowText" lastClr="000000"/>
            </a:solidFill>
            <a:prstDash val="solid"/>
            <a:miter lim="800000"/>
          </a:ln>
          <a:effectLst/>
        </p:spPr>
      </p:cxnSp>
      <p:cxnSp>
        <p:nvCxnSpPr>
          <p:cNvPr id="167" name="Straight Connector 104"/>
          <p:cNvCxnSpPr>
            <a:stCxn id="163" idx="3"/>
            <a:endCxn id="164" idx="1"/>
          </p:cNvCxnSpPr>
          <p:nvPr/>
        </p:nvCxnSpPr>
        <p:spPr bwMode="gray">
          <a:xfrm>
            <a:off x="3406708" y="1730708"/>
            <a:ext cx="486735" cy="0"/>
          </a:xfrm>
          <a:prstGeom prst="line">
            <a:avLst/>
          </a:prstGeom>
          <a:noFill/>
          <a:ln w="19050" cap="flat" cmpd="sng" algn="ctr">
            <a:solidFill>
              <a:sysClr val="windowText" lastClr="000000"/>
            </a:solidFill>
            <a:prstDash val="solid"/>
            <a:miter lim="800000"/>
          </a:ln>
          <a:effectLst/>
        </p:spPr>
      </p:cxnSp>
      <p:sp>
        <p:nvSpPr>
          <p:cNvPr id="168" name="Oval 59"/>
          <p:cNvSpPr/>
          <p:nvPr/>
        </p:nvSpPr>
        <p:spPr bwMode="gray">
          <a:xfrm rot="1782887">
            <a:off x="2157803" y="4446857"/>
            <a:ext cx="311619" cy="90813"/>
          </a:xfrm>
          <a:prstGeom prst="ellipse">
            <a:avLst/>
          </a:prstGeom>
          <a:noFill/>
          <a:ln w="190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9" name="Oval 62"/>
          <p:cNvSpPr/>
          <p:nvPr/>
        </p:nvSpPr>
        <p:spPr bwMode="gray">
          <a:xfrm rot="19401600">
            <a:off x="2815704" y="4459608"/>
            <a:ext cx="311619" cy="90813"/>
          </a:xfrm>
          <a:prstGeom prst="ellipse">
            <a:avLst/>
          </a:prstGeom>
          <a:noFill/>
          <a:ln w="190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0" name="Oval 63"/>
          <p:cNvSpPr/>
          <p:nvPr/>
        </p:nvSpPr>
        <p:spPr bwMode="gray">
          <a:xfrm rot="1782887">
            <a:off x="4159217" y="4478736"/>
            <a:ext cx="311619" cy="90813"/>
          </a:xfrm>
          <a:prstGeom prst="ellipse">
            <a:avLst/>
          </a:prstGeom>
          <a:noFill/>
          <a:ln w="190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1" name="Oval 65"/>
          <p:cNvSpPr/>
          <p:nvPr/>
        </p:nvSpPr>
        <p:spPr bwMode="gray">
          <a:xfrm rot="19401600">
            <a:off x="4854041" y="4453924"/>
            <a:ext cx="311619" cy="90813"/>
          </a:xfrm>
          <a:prstGeom prst="ellipse">
            <a:avLst/>
          </a:prstGeom>
          <a:noFill/>
          <a:ln w="190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72" name="图片 14" descr="日志告警服务器-蓝.png"/>
          <p:cNvPicPr>
            <a:picLocks noChangeAspect="1"/>
          </p:cNvPicPr>
          <p:nvPr/>
        </p:nvPicPr>
        <p:blipFill>
          <a:blip r:embed="rId9" cstate="print"/>
          <a:stretch>
            <a:fillRect/>
          </a:stretch>
        </p:blipFill>
        <p:spPr bwMode="gray">
          <a:xfrm>
            <a:off x="1971030" y="5630177"/>
            <a:ext cx="304595" cy="190195"/>
          </a:xfrm>
          <a:prstGeom prst="rect">
            <a:avLst/>
          </a:prstGeom>
        </p:spPr>
      </p:pic>
      <p:pic>
        <p:nvPicPr>
          <p:cNvPr id="173" name="图片 42" descr="IP电话.png"/>
          <p:cNvPicPr>
            <a:picLocks noChangeAspect="1"/>
          </p:cNvPicPr>
          <p:nvPr/>
        </p:nvPicPr>
        <p:blipFill>
          <a:blip r:embed="rId10" cstate="print"/>
          <a:stretch>
            <a:fillRect/>
          </a:stretch>
        </p:blipFill>
        <p:spPr bwMode="gray">
          <a:xfrm>
            <a:off x="2826674" y="5567684"/>
            <a:ext cx="335265" cy="315180"/>
          </a:xfrm>
          <a:prstGeom prst="rect">
            <a:avLst/>
          </a:prstGeom>
        </p:spPr>
      </p:pic>
      <p:pic>
        <p:nvPicPr>
          <p:cNvPr id="174" name="图片 11" descr="开放网络-蓝.png"/>
          <p:cNvPicPr>
            <a:picLocks noChangeAspect="1"/>
          </p:cNvPicPr>
          <p:nvPr/>
        </p:nvPicPr>
        <p:blipFill>
          <a:blip r:embed="rId11" cstate="print"/>
          <a:stretch>
            <a:fillRect/>
          </a:stretch>
        </p:blipFill>
        <p:spPr bwMode="gray">
          <a:xfrm>
            <a:off x="4015240" y="5608038"/>
            <a:ext cx="304595" cy="234472"/>
          </a:xfrm>
          <a:prstGeom prst="rect">
            <a:avLst/>
          </a:prstGeom>
        </p:spPr>
      </p:pic>
      <p:pic>
        <p:nvPicPr>
          <p:cNvPr id="175" name="图片 158" descr="SAN网络-蓝.png"/>
          <p:cNvPicPr>
            <a:picLocks noChangeAspect="1"/>
          </p:cNvPicPr>
          <p:nvPr/>
        </p:nvPicPr>
        <p:blipFill>
          <a:blip r:embed="rId12" cstate="print"/>
          <a:stretch>
            <a:fillRect/>
          </a:stretch>
        </p:blipFill>
        <p:spPr bwMode="gray">
          <a:xfrm>
            <a:off x="2468089" y="5589196"/>
            <a:ext cx="166121" cy="272157"/>
          </a:xfrm>
          <a:prstGeom prst="rect">
            <a:avLst/>
          </a:prstGeom>
        </p:spPr>
      </p:pic>
      <p:pic>
        <p:nvPicPr>
          <p:cNvPr id="176" name="图片 47" descr="打印机.png"/>
          <p:cNvPicPr>
            <a:picLocks noChangeAspect="1"/>
          </p:cNvPicPr>
          <p:nvPr/>
        </p:nvPicPr>
        <p:blipFill>
          <a:blip r:embed="rId13" cstate="print"/>
          <a:stretch>
            <a:fillRect/>
          </a:stretch>
        </p:blipFill>
        <p:spPr bwMode="gray">
          <a:xfrm>
            <a:off x="4891141" y="5592272"/>
            <a:ext cx="334175" cy="266004"/>
          </a:xfrm>
          <a:prstGeom prst="rect">
            <a:avLst/>
          </a:prstGeom>
        </p:spPr>
      </p:pic>
      <p:pic>
        <p:nvPicPr>
          <p:cNvPr id="177" name="图片 157" descr="故障链路.png"/>
          <p:cNvPicPr>
            <a:picLocks noChangeAspect="1"/>
          </p:cNvPicPr>
          <p:nvPr/>
        </p:nvPicPr>
        <p:blipFill>
          <a:blip r:embed="rId14" cstate="print"/>
          <a:stretch>
            <a:fillRect/>
          </a:stretch>
        </p:blipFill>
        <p:spPr bwMode="gray">
          <a:xfrm>
            <a:off x="4437840" y="5600262"/>
            <a:ext cx="335297" cy="250025"/>
          </a:xfrm>
          <a:prstGeom prst="rect">
            <a:avLst/>
          </a:prstGeom>
        </p:spPr>
      </p:pic>
      <p:sp>
        <p:nvSpPr>
          <p:cNvPr id="178" name="TextBox 85"/>
          <p:cNvSpPr txBox="1"/>
          <p:nvPr/>
        </p:nvSpPr>
        <p:spPr bwMode="gray">
          <a:xfrm>
            <a:off x="757382" y="2114052"/>
            <a:ext cx="646331" cy="276999"/>
          </a:xfrm>
          <a:prstGeom prst="rect">
            <a:avLst/>
          </a:prstGeom>
          <a:noFill/>
        </p:spPr>
        <p:txBody>
          <a:bodyPr wrap="none" rtlCol="0">
            <a:spAutoFit/>
          </a:bodyPr>
          <a:lstStyle/>
          <a:p>
            <a:pPr fontAlgn="auto">
              <a:spcBef>
                <a:spcPts val="0"/>
              </a:spcBef>
              <a:spcAft>
                <a:spcPts val="0"/>
              </a:spcAft>
            </a:pP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出口区</a:t>
            </a:r>
          </a:p>
        </p:txBody>
      </p:sp>
      <p:sp>
        <p:nvSpPr>
          <p:cNvPr id="179" name="TextBox 86"/>
          <p:cNvSpPr txBox="1"/>
          <p:nvPr/>
        </p:nvSpPr>
        <p:spPr bwMode="gray">
          <a:xfrm>
            <a:off x="757382" y="3314006"/>
            <a:ext cx="646331" cy="276999"/>
          </a:xfrm>
          <a:prstGeom prst="rect">
            <a:avLst/>
          </a:prstGeom>
          <a:noFill/>
        </p:spPr>
        <p:txBody>
          <a:bodyPr wrap="none" rtlCol="0">
            <a:spAutoFit/>
          </a:bodyPr>
          <a:lstStyle/>
          <a:p>
            <a:pPr fontAlgn="auto">
              <a:spcBef>
                <a:spcPts val="0"/>
              </a:spcBef>
              <a:spcAft>
                <a:spcPts val="0"/>
              </a:spcAft>
            </a:pP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核心层</a:t>
            </a:r>
          </a:p>
        </p:txBody>
      </p:sp>
      <p:sp>
        <p:nvSpPr>
          <p:cNvPr id="180" name="TextBox 88"/>
          <p:cNvSpPr txBox="1"/>
          <p:nvPr/>
        </p:nvSpPr>
        <p:spPr bwMode="gray">
          <a:xfrm>
            <a:off x="757382" y="3953662"/>
            <a:ext cx="646331" cy="276999"/>
          </a:xfrm>
          <a:prstGeom prst="rect">
            <a:avLst/>
          </a:prstGeom>
          <a:noFill/>
        </p:spPr>
        <p:txBody>
          <a:bodyPr wrap="none" rtlCol="0">
            <a:spAutoFit/>
          </a:bodyPr>
          <a:lstStyle/>
          <a:p>
            <a:pPr fontAlgn="auto">
              <a:spcBef>
                <a:spcPts val="0"/>
              </a:spcBef>
              <a:spcAft>
                <a:spcPts val="0"/>
              </a:spcAft>
            </a:pPr>
            <a:r>
              <a:rPr lang="zh-CN" altLang="en-US"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汇聚层</a:t>
            </a:r>
          </a:p>
        </p:txBody>
      </p:sp>
      <p:sp>
        <p:nvSpPr>
          <p:cNvPr id="181" name="TextBox 89"/>
          <p:cNvSpPr txBox="1"/>
          <p:nvPr/>
        </p:nvSpPr>
        <p:spPr bwMode="gray">
          <a:xfrm>
            <a:off x="757382" y="5171709"/>
            <a:ext cx="646331" cy="276999"/>
          </a:xfrm>
          <a:prstGeom prst="rect">
            <a:avLst/>
          </a:prstGeom>
          <a:noFill/>
        </p:spPr>
        <p:txBody>
          <a:bodyPr wrap="none" rtlCol="0">
            <a:spAutoFit/>
          </a:bodyPr>
          <a:lstStyle/>
          <a:p>
            <a:pPr fontAlgn="auto">
              <a:spcBef>
                <a:spcPts val="0"/>
              </a:spcBef>
              <a:spcAft>
                <a:spcPts val="0"/>
              </a:spcAft>
            </a:pP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接入层</a:t>
            </a:r>
          </a:p>
        </p:txBody>
      </p:sp>
      <p:sp>
        <p:nvSpPr>
          <p:cNvPr id="182" name="TextBox 91"/>
          <p:cNvSpPr txBox="1"/>
          <p:nvPr/>
        </p:nvSpPr>
        <p:spPr bwMode="gray">
          <a:xfrm>
            <a:off x="757382" y="5672271"/>
            <a:ext cx="646331" cy="276999"/>
          </a:xfrm>
          <a:prstGeom prst="rect">
            <a:avLst/>
          </a:prstGeom>
          <a:noFill/>
        </p:spPr>
        <p:txBody>
          <a:bodyPr wrap="none" rtlCol="0">
            <a:spAutoFit/>
          </a:bodyPr>
          <a:lstStyle/>
          <a:p>
            <a:pPr fontAlgn="auto">
              <a:spcBef>
                <a:spcPts val="0"/>
              </a:spcBef>
              <a:spcAft>
                <a:spcPts val="0"/>
              </a:spcAft>
            </a:pPr>
            <a:r>
              <a:rPr lang="zh-CN" altLang="en-US"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终端层</a:t>
            </a:r>
          </a:p>
        </p:txBody>
      </p:sp>
      <p:sp>
        <p:nvSpPr>
          <p:cNvPr id="183" name="Oval 92"/>
          <p:cNvSpPr/>
          <p:nvPr/>
        </p:nvSpPr>
        <p:spPr bwMode="gray">
          <a:xfrm rot="18651691">
            <a:off x="3892603" y="3438606"/>
            <a:ext cx="580554" cy="91395"/>
          </a:xfrm>
          <a:prstGeom prst="ellipse">
            <a:avLst/>
          </a:prstGeom>
          <a:noFill/>
          <a:ln w="190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85" name="组合 35"/>
          <p:cNvGrpSpPr/>
          <p:nvPr/>
        </p:nvGrpSpPr>
        <p:grpSpPr bwMode="gray">
          <a:xfrm>
            <a:off x="2931996" y="1023140"/>
            <a:ext cx="633070" cy="358898"/>
            <a:chOff x="3269076" y="1744970"/>
            <a:chExt cx="1860118" cy="1054529"/>
          </a:xfrm>
          <a:solidFill>
            <a:schemeClr val="bg1">
              <a:lumMod val="85000"/>
            </a:schemeClr>
          </a:solidFill>
        </p:grpSpPr>
        <p:sp>
          <p:nvSpPr>
            <p:cNvPr id="187" name="矩形 36"/>
            <p:cNvSpPr/>
            <p:nvPr/>
          </p:nvSpPr>
          <p:spPr bwMode="gray">
            <a:xfrm>
              <a:off x="3495526" y="2457907"/>
              <a:ext cx="1426464" cy="341592"/>
            </a:xfrm>
            <a:prstGeom prst="rect">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8" name="Oval 62"/>
            <p:cNvSpPr/>
            <p:nvPr/>
          </p:nvSpPr>
          <p:spPr bwMode="gray">
            <a:xfrm>
              <a:off x="3452774" y="1920065"/>
              <a:ext cx="761732" cy="698886"/>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9" name="Oval 63"/>
            <p:cNvSpPr/>
            <p:nvPr/>
          </p:nvSpPr>
          <p:spPr bwMode="gray">
            <a:xfrm>
              <a:off x="3269076" y="2248790"/>
              <a:ext cx="545661" cy="550709"/>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0" name="Oval 64"/>
            <p:cNvSpPr/>
            <p:nvPr/>
          </p:nvSpPr>
          <p:spPr bwMode="gray">
            <a:xfrm>
              <a:off x="4633138" y="2298856"/>
              <a:ext cx="496056" cy="500643"/>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1" name="Oval 65"/>
            <p:cNvSpPr/>
            <p:nvPr/>
          </p:nvSpPr>
          <p:spPr bwMode="gray">
            <a:xfrm>
              <a:off x="3759782" y="2292552"/>
              <a:ext cx="496056" cy="3761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2" name="Oval 64"/>
            <p:cNvSpPr/>
            <p:nvPr/>
          </p:nvSpPr>
          <p:spPr bwMode="gray">
            <a:xfrm>
              <a:off x="3924619" y="1744970"/>
              <a:ext cx="998406" cy="10076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86" name="TextBox 114"/>
          <p:cNvSpPr txBox="1"/>
          <p:nvPr/>
        </p:nvSpPr>
        <p:spPr bwMode="gray">
          <a:xfrm>
            <a:off x="2854032" y="1121348"/>
            <a:ext cx="788999" cy="276999"/>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Internet</a:t>
            </a:r>
            <a:endParaRPr kumimoji="0" lang="zh-CN" altLang="en-US" sz="12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94" name="组合 35"/>
          <p:cNvGrpSpPr/>
          <p:nvPr/>
        </p:nvGrpSpPr>
        <p:grpSpPr bwMode="gray">
          <a:xfrm>
            <a:off x="3745453" y="1023140"/>
            <a:ext cx="633070" cy="358898"/>
            <a:chOff x="3269076" y="1744970"/>
            <a:chExt cx="1860118" cy="1054529"/>
          </a:xfrm>
          <a:solidFill>
            <a:schemeClr val="bg1">
              <a:lumMod val="85000"/>
            </a:schemeClr>
          </a:solidFill>
        </p:grpSpPr>
        <p:sp>
          <p:nvSpPr>
            <p:cNvPr id="196" name="矩形 36"/>
            <p:cNvSpPr/>
            <p:nvPr/>
          </p:nvSpPr>
          <p:spPr bwMode="gray">
            <a:xfrm>
              <a:off x="3495526" y="2457907"/>
              <a:ext cx="1426464" cy="341592"/>
            </a:xfrm>
            <a:prstGeom prst="rect">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7" name="Oval 62"/>
            <p:cNvSpPr/>
            <p:nvPr/>
          </p:nvSpPr>
          <p:spPr bwMode="gray">
            <a:xfrm>
              <a:off x="3452774" y="1920065"/>
              <a:ext cx="761732" cy="698886"/>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8" name="Oval 63"/>
            <p:cNvSpPr/>
            <p:nvPr/>
          </p:nvSpPr>
          <p:spPr bwMode="gray">
            <a:xfrm>
              <a:off x="3269076" y="2248790"/>
              <a:ext cx="545661" cy="550709"/>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9" name="Oval 64"/>
            <p:cNvSpPr/>
            <p:nvPr/>
          </p:nvSpPr>
          <p:spPr bwMode="gray">
            <a:xfrm>
              <a:off x="4633138" y="2298856"/>
              <a:ext cx="496056" cy="500643"/>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0" name="Oval 65"/>
            <p:cNvSpPr/>
            <p:nvPr/>
          </p:nvSpPr>
          <p:spPr bwMode="gray">
            <a:xfrm>
              <a:off x="3759782" y="2292552"/>
              <a:ext cx="496056" cy="3761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1" name="Oval 64"/>
            <p:cNvSpPr/>
            <p:nvPr/>
          </p:nvSpPr>
          <p:spPr bwMode="gray">
            <a:xfrm>
              <a:off x="3924619" y="1744970"/>
              <a:ext cx="998406" cy="10076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95" name="TextBox 117"/>
          <p:cNvSpPr txBox="1"/>
          <p:nvPr/>
        </p:nvSpPr>
        <p:spPr bwMode="gray">
          <a:xfrm>
            <a:off x="3775693" y="1121348"/>
            <a:ext cx="572593" cy="276999"/>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WAN</a:t>
            </a:r>
            <a:endParaRPr kumimoji="0" lang="zh-CN" altLang="en-US" sz="1200" b="1"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02" name="图片 9"/>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bwMode="gray">
          <a:xfrm>
            <a:off x="3059148" y="2016159"/>
            <a:ext cx="337091" cy="275801"/>
          </a:xfrm>
          <a:prstGeom prst="rect">
            <a:avLst/>
          </a:prstGeom>
        </p:spPr>
      </p:pic>
      <p:pic>
        <p:nvPicPr>
          <p:cNvPr id="203" name="图片 9"/>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bwMode="gray">
          <a:xfrm>
            <a:off x="3893443" y="2016159"/>
            <a:ext cx="337091" cy="275801"/>
          </a:xfrm>
          <a:prstGeom prst="rect">
            <a:avLst/>
          </a:prstGeom>
        </p:spPr>
      </p:pic>
      <p:cxnSp>
        <p:nvCxnSpPr>
          <p:cNvPr id="204" name="Straight Connector 127"/>
          <p:cNvCxnSpPr>
            <a:stCxn id="202" idx="3"/>
            <a:endCxn id="203" idx="1"/>
          </p:cNvCxnSpPr>
          <p:nvPr/>
        </p:nvCxnSpPr>
        <p:spPr bwMode="gray">
          <a:xfrm>
            <a:off x="3396239" y="2154060"/>
            <a:ext cx="497204" cy="0"/>
          </a:xfrm>
          <a:prstGeom prst="line">
            <a:avLst/>
          </a:prstGeom>
          <a:noFill/>
          <a:ln w="19050" cap="flat" cmpd="sng" algn="ctr">
            <a:solidFill>
              <a:sysClr val="windowText" lastClr="000000"/>
            </a:solidFill>
            <a:prstDash val="sysDash"/>
            <a:miter lim="800000"/>
          </a:ln>
          <a:effectLst/>
        </p:spPr>
      </p:cxnSp>
      <p:pic>
        <p:nvPicPr>
          <p:cNvPr id="205" name="图片 102" descr="AC-蓝.png"/>
          <p:cNvPicPr>
            <a:picLocks noChangeAspect="1"/>
          </p:cNvPicPr>
          <p:nvPr/>
        </p:nvPicPr>
        <p:blipFill>
          <a:blip r:embed="rId4" cstate="print"/>
          <a:stretch>
            <a:fillRect/>
          </a:stretch>
        </p:blipFill>
        <p:spPr bwMode="gray">
          <a:xfrm>
            <a:off x="4862028" y="2867310"/>
            <a:ext cx="337091" cy="275802"/>
          </a:xfrm>
          <a:prstGeom prst="rect">
            <a:avLst/>
          </a:prstGeom>
        </p:spPr>
      </p:pic>
      <p:sp>
        <p:nvSpPr>
          <p:cNvPr id="206" name="圆角矩形 205"/>
          <p:cNvSpPr/>
          <p:nvPr/>
        </p:nvSpPr>
        <p:spPr bwMode="gray">
          <a:xfrm>
            <a:off x="4750585" y="2513475"/>
            <a:ext cx="1002778" cy="278033"/>
          </a:xfrm>
          <a:prstGeom prst="roundRect">
            <a:avLst>
              <a:gd name="adj" fmla="val 2563"/>
            </a:avLst>
          </a:prstGeom>
          <a:solidFill>
            <a:sysClr val="window" lastClr="FFFFFF">
              <a:lumMod val="95000"/>
            </a:sysClr>
          </a:solidFill>
          <a:ln w="12700" cap="flat" cmpd="sng" algn="ctr">
            <a:solidFill>
              <a:sysClr val="window" lastClr="FFFFFF">
                <a:lumMod val="75000"/>
              </a:sysClr>
            </a:solidFill>
            <a:prstDash val="sysDot"/>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7" name="TextBox 20"/>
          <p:cNvSpPr txBox="1"/>
          <p:nvPr/>
        </p:nvSpPr>
        <p:spPr bwMode="gray">
          <a:xfrm>
            <a:off x="4799256" y="2521686"/>
            <a:ext cx="954107" cy="276999"/>
          </a:xfrm>
          <a:prstGeom prst="rect">
            <a:avLst/>
          </a:prstGeom>
          <a:noFill/>
        </p:spPr>
        <p:txBody>
          <a:bodyPr wrap="none" rtlCol="0">
            <a:spAutoFit/>
          </a:bodyPr>
          <a:lstStyle/>
          <a:p>
            <a:pPr fontAlgn="auto">
              <a:spcBef>
                <a:spcPts val="0"/>
              </a:spcBef>
              <a:spcAft>
                <a:spcPts val="0"/>
              </a:spcAft>
            </a:pP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网管运维区</a:t>
            </a:r>
          </a:p>
        </p:txBody>
      </p:sp>
      <p:cxnSp>
        <p:nvCxnSpPr>
          <p:cNvPr id="208" name="Straight Connector 79"/>
          <p:cNvCxnSpPr/>
          <p:nvPr/>
        </p:nvCxnSpPr>
        <p:spPr bwMode="gray">
          <a:xfrm flipH="1">
            <a:off x="2470591" y="2582674"/>
            <a:ext cx="1190149" cy="0"/>
          </a:xfrm>
          <a:prstGeom prst="line">
            <a:avLst/>
          </a:prstGeom>
          <a:noFill/>
          <a:ln w="19050" cap="flat" cmpd="sng" algn="ctr">
            <a:solidFill>
              <a:sysClr val="windowText" lastClr="000000"/>
            </a:solidFill>
            <a:prstDash val="solid"/>
            <a:miter lim="800000"/>
          </a:ln>
          <a:effectLst/>
        </p:spPr>
      </p:cxnSp>
      <p:cxnSp>
        <p:nvCxnSpPr>
          <p:cNvPr id="209" name="Straight Connector 79"/>
          <p:cNvCxnSpPr/>
          <p:nvPr/>
        </p:nvCxnSpPr>
        <p:spPr bwMode="gray">
          <a:xfrm flipH="1">
            <a:off x="2470591" y="2642045"/>
            <a:ext cx="430513" cy="0"/>
          </a:xfrm>
          <a:prstGeom prst="line">
            <a:avLst/>
          </a:prstGeom>
          <a:noFill/>
          <a:ln w="19050" cap="flat" cmpd="sng" algn="ctr">
            <a:solidFill>
              <a:sysClr val="windowText" lastClr="000000"/>
            </a:solidFill>
            <a:prstDash val="solid"/>
            <a:miter lim="800000"/>
          </a:ln>
          <a:effectLst/>
        </p:spPr>
      </p:cxnSp>
      <p:sp>
        <p:nvSpPr>
          <p:cNvPr id="210" name="Freeform 159"/>
          <p:cNvSpPr/>
          <p:nvPr/>
        </p:nvSpPr>
        <p:spPr bwMode="gray">
          <a:xfrm flipH="1">
            <a:off x="1772681" y="2289711"/>
            <a:ext cx="1012066"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ysClr val="window" lastClr="FFFFFF">
              <a:lumMod val="95000"/>
            </a:sysClr>
          </a:solidFill>
          <a:ln w="28575" cap="flat" cmpd="sng" algn="ctr">
            <a:solidFill>
              <a:sysClr val="window" lastClr="FFFFFF">
                <a:lumMod val="65000"/>
              </a:sysClr>
            </a:solidFill>
            <a:prstDash val="solid"/>
            <a:miter lim="800000"/>
          </a:ln>
          <a:effectLst/>
        </p:spPr>
        <p:txBody>
          <a:bodyPr wrap="square" tIns="18000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200" b="1" kern="0" dirty="0">
                <a:solidFill>
                  <a:prstClr val="white">
                    <a:lumMod val="50000"/>
                  </a:prstClr>
                </a:solidFill>
                <a:latin typeface="Huawei Sans" panose="020C0503030203020204" pitchFamily="34" charset="0"/>
                <a:ea typeface="方正兰亭黑简体" panose="02000000000000000000" pitchFamily="2" charset="-122"/>
                <a:sym typeface="Huawei Sans" panose="020C0503030203020204" pitchFamily="34" charset="0"/>
              </a:rPr>
              <a:t>数据中心</a:t>
            </a:r>
            <a:endParaRPr kumimoji="0" lang="en-US" sz="1200" b="1" i="0" u="none" strike="noStrike" kern="0" cap="none" spc="0" normalizeH="0" baseline="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11" name="Straight Connector 79"/>
          <p:cNvCxnSpPr/>
          <p:nvPr/>
        </p:nvCxnSpPr>
        <p:spPr bwMode="gray">
          <a:xfrm flipH="1">
            <a:off x="3565066" y="2642045"/>
            <a:ext cx="1185521" cy="0"/>
          </a:xfrm>
          <a:prstGeom prst="line">
            <a:avLst/>
          </a:prstGeom>
          <a:noFill/>
          <a:ln w="19050" cap="flat" cmpd="sng" algn="ctr">
            <a:solidFill>
              <a:sysClr val="windowText" lastClr="000000"/>
            </a:solidFill>
            <a:prstDash val="solid"/>
            <a:miter lim="800000"/>
          </a:ln>
          <a:effectLst/>
        </p:spPr>
      </p:cxnSp>
      <p:sp>
        <p:nvSpPr>
          <p:cNvPr id="212" name="矩形 211"/>
          <p:cNvSpPr/>
          <p:nvPr/>
        </p:nvSpPr>
        <p:spPr bwMode="gray">
          <a:xfrm>
            <a:off x="5922235" y="1136795"/>
            <a:ext cx="5790339" cy="5068054"/>
          </a:xfrm>
          <a:prstGeom prst="rect">
            <a:avLst/>
          </a:prstGeom>
        </p:spPr>
        <p:txBody>
          <a:bodyPr wrap="square">
            <a:spAutoFit/>
          </a:bodyPr>
          <a:lstStyle/>
          <a:p>
            <a:pPr marL="285750" indent="-285750" algn="just">
              <a:lnSpc>
                <a:spcPts val="2200"/>
              </a:lnSpc>
              <a:spcAft>
                <a:spcPts val="600"/>
              </a:spcAft>
              <a:buFont typeface="Arial" panose="020B0604020202020204" pitchFamily="34" charset="0"/>
              <a:buChar char="•"/>
            </a:pPr>
            <a:r>
              <a:rPr lang="zh-CN" altLang="en-US"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出口区</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：园区内部网络到外部网络的边界，用于实现内部用户接入到公网，外部用户（包括客户、合作伙伴、分支机构、远程用户等）接入到内部网络。可以在出口区部署防火墙设备保证内部网络的安全性。</a:t>
            </a:r>
          </a:p>
          <a:p>
            <a:pPr marL="285750" indent="-285750" algn="just" fontAlgn="auto">
              <a:lnSpc>
                <a:spcPts val="2200"/>
              </a:lnSpc>
              <a:spcBef>
                <a:spcPts val="0"/>
              </a:spcBef>
              <a:spcAft>
                <a:spcPts val="600"/>
              </a:spcAft>
              <a:buFont typeface="Arial" panose="020B0604020202020204" pitchFamily="34" charset="0"/>
              <a:buChar char="•"/>
            </a:pPr>
            <a:r>
              <a:rPr lang="zh-CN" altLang="en-US"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核心层</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：是园区数据交换的核心，联接园区网的各个组成部分，如数据中心、管理中心、园区出口等。</a:t>
            </a:r>
          </a:p>
          <a:p>
            <a:pPr marL="285750" indent="-285750" algn="just">
              <a:lnSpc>
                <a:spcPts val="2200"/>
              </a:lnSpc>
              <a:spcAft>
                <a:spcPts val="600"/>
              </a:spcAft>
              <a:buFont typeface="Arial" panose="020B0604020202020204" pitchFamily="34" charset="0"/>
              <a:buChar char="•"/>
            </a:pPr>
            <a:r>
              <a:rPr lang="zh-CN" altLang="en-US"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汇聚层</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zh-CN" sz="1400" dirty="0">
                <a:latin typeface="Huawei Sans" panose="020C0503030203020204" pitchFamily="34" charset="0"/>
                <a:ea typeface="方正兰亭黑简体" panose="02000000000000000000" pitchFamily="2" charset="-122"/>
                <a:sym typeface="Huawei Sans" panose="020C0503030203020204" pitchFamily="34" charset="0"/>
              </a:rPr>
              <a:t>主要用于转发用户间的“横向”流量，同时转发到核心层的“纵向”流量。汇聚层可作为部门或区域内部的交换核心，另外还可以扩展接入终端的数量。</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gn="just" fontAlgn="auto">
              <a:lnSpc>
                <a:spcPts val="2200"/>
              </a:lnSpc>
              <a:spcBef>
                <a:spcPts val="0"/>
              </a:spcBef>
              <a:spcAft>
                <a:spcPts val="600"/>
              </a:spcAft>
              <a:buFont typeface="Arial" panose="020B0604020202020204" pitchFamily="34" charset="0"/>
              <a:buChar char="•"/>
            </a:pPr>
            <a:r>
              <a:rPr lang="zh-CN" altLang="en-US"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接入层</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zh-CN" sz="1400" dirty="0">
                <a:latin typeface="Huawei Sans" panose="020C0503030203020204" pitchFamily="34" charset="0"/>
                <a:ea typeface="方正兰亭黑简体" panose="02000000000000000000" pitchFamily="2" charset="-122"/>
                <a:sym typeface="Huawei Sans" panose="020C0503030203020204" pitchFamily="34" charset="0"/>
              </a:rPr>
              <a:t>为用户提供各种接入方式，是终端接入网络的第一层。</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gn="just">
              <a:lnSpc>
                <a:spcPts val="2200"/>
              </a:lnSpc>
              <a:spcAft>
                <a:spcPts val="600"/>
              </a:spcAft>
              <a:buFont typeface="Arial" panose="020B0604020202020204" pitchFamily="34" charset="0"/>
              <a:buChar char="•"/>
            </a:pPr>
            <a:r>
              <a:rPr lang="zh-CN" altLang="en-US"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终端层：</a:t>
            </a:r>
            <a:r>
              <a:rPr lang="zh-CN" altLang="zh-CN" sz="1400" dirty="0">
                <a:latin typeface="Huawei Sans" panose="020C0503030203020204" pitchFamily="34" charset="0"/>
                <a:ea typeface="方正兰亭黑简体" panose="02000000000000000000" pitchFamily="2" charset="-122"/>
                <a:sym typeface="Huawei Sans" panose="020C0503030203020204" pitchFamily="34" charset="0"/>
              </a:rPr>
              <a:t>终端层是指接入园区网络的各种终端设备，例如电脑、打印机、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zh-CN" sz="1400" dirty="0">
                <a:latin typeface="Huawei Sans" panose="020C0503030203020204" pitchFamily="34" charset="0"/>
                <a:ea typeface="方正兰亭黑简体" panose="02000000000000000000" pitchFamily="2" charset="-122"/>
                <a:sym typeface="Huawei Sans" panose="020C0503030203020204" pitchFamily="34" charset="0"/>
              </a:rPr>
              <a:t>话机、手机、摄像头等。</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gn="just" fontAlgn="auto">
              <a:lnSpc>
                <a:spcPts val="2200"/>
              </a:lnSpc>
              <a:spcBef>
                <a:spcPts val="0"/>
              </a:spcBef>
              <a:spcAft>
                <a:spcPts val="600"/>
              </a:spcAft>
              <a:buFont typeface="Arial" panose="020B0604020202020204" pitchFamily="34" charset="0"/>
              <a:buChar char="•"/>
            </a:pPr>
            <a:r>
              <a:rPr lang="zh-CN" altLang="en-US"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数据中心</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：部署服务器和应用系统的区域，为企业内部和外部用户提供数据和应用服务。</a:t>
            </a:r>
          </a:p>
          <a:p>
            <a:pPr marL="285750" indent="-285750" algn="just" fontAlgn="auto">
              <a:lnSpc>
                <a:spcPts val="2200"/>
              </a:lnSpc>
              <a:spcBef>
                <a:spcPts val="0"/>
              </a:spcBef>
              <a:spcAft>
                <a:spcPts val="600"/>
              </a:spcAft>
              <a:buFont typeface="Arial" panose="020B0604020202020204" pitchFamily="34" charset="0"/>
              <a:buChar char="•"/>
            </a:pPr>
            <a:r>
              <a:rPr lang="zh-CN" altLang="en-US"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网管运维区：</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管理网络服务器（例如网管系统、认证服务器等）的区域。</a:t>
            </a:r>
          </a:p>
        </p:txBody>
      </p:sp>
    </p:spTree>
    <p:extLst>
      <p:ext uri="{BB962C8B-B14F-4D97-AF65-F5344CB8AC3E}">
        <p14:creationId xmlns:p14="http://schemas.microsoft.com/office/powerpoint/2010/main" val="33878205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a:solidFill>
                  <a:schemeClr val="bg1">
                    <a:lumMod val="50000"/>
                  </a:schemeClr>
                </a:solidFill>
              </a:rPr>
              <a:t>园区网络概述</a:t>
            </a:r>
          </a:p>
          <a:p>
            <a:r>
              <a:rPr lang="zh-CN" altLang="en-US" b="1" dirty="0"/>
              <a:t>园区网络的挑战与华为云园区网络解决方案</a:t>
            </a:r>
          </a:p>
          <a:p>
            <a:r>
              <a:rPr lang="zh-CN" altLang="en-US" dirty="0">
                <a:solidFill>
                  <a:schemeClr val="bg1">
                    <a:lumMod val="50000"/>
                  </a:schemeClr>
                </a:solidFill>
              </a:rPr>
              <a:t>典型园区网络技术</a:t>
            </a:r>
          </a:p>
          <a:p>
            <a:r>
              <a:rPr lang="zh-CN" altLang="en-US" dirty="0">
                <a:solidFill>
                  <a:schemeClr val="bg1">
                    <a:lumMod val="50000"/>
                  </a:schemeClr>
                </a:solidFill>
              </a:rPr>
              <a:t>典型园区网络案例</a:t>
            </a:r>
          </a:p>
        </p:txBody>
      </p:sp>
    </p:spTree>
    <p:extLst>
      <p:ext uri="{BB962C8B-B14F-4D97-AF65-F5344CB8AC3E}">
        <p14:creationId xmlns:p14="http://schemas.microsoft.com/office/powerpoint/2010/main" val="10321680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a:sym typeface="Huawei Sans" panose="020C0503030203020204" pitchFamily="34" charset="0"/>
              </a:rPr>
              <a:t>行业数字化转型，提升生产效率和客户满意度</a:t>
            </a:r>
            <a:endParaRPr lang="zh-CN" altLang="en-US" dirty="0">
              <a:sym typeface="Huawei Sans" panose="020C0503030203020204" pitchFamily="34" charset="0"/>
            </a:endParaRPr>
          </a:p>
        </p:txBody>
      </p:sp>
      <p:sp>
        <p:nvSpPr>
          <p:cNvPr id="3" name="圆角矩形 2"/>
          <p:cNvSpPr>
            <a:spLocks/>
          </p:cNvSpPr>
          <p:nvPr/>
        </p:nvSpPr>
        <p:spPr bwMode="gray">
          <a:xfrm>
            <a:off x="700009" y="1730037"/>
            <a:ext cx="3311234" cy="4208964"/>
          </a:xfrm>
          <a:prstGeom prst="roundRect">
            <a:avLst>
              <a:gd name="adj" fmla="val 729"/>
            </a:avLst>
          </a:prstGeom>
          <a:noFill/>
          <a:ln w="9525">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zh-CN" altLang="en-US" sz="140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4" name="圆角矩形 3"/>
          <p:cNvSpPr>
            <a:spLocks/>
          </p:cNvSpPr>
          <p:nvPr/>
        </p:nvSpPr>
        <p:spPr bwMode="gray">
          <a:xfrm>
            <a:off x="8169273" y="1730037"/>
            <a:ext cx="3311234" cy="4208964"/>
          </a:xfrm>
          <a:prstGeom prst="roundRect">
            <a:avLst>
              <a:gd name="adj" fmla="val 729"/>
            </a:avLst>
          </a:prstGeom>
          <a:noFill/>
          <a:ln w="9525">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zh-CN" altLang="en-US" sz="140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5" name="圆角矩形 4"/>
          <p:cNvSpPr>
            <a:spLocks/>
          </p:cNvSpPr>
          <p:nvPr/>
        </p:nvSpPr>
        <p:spPr bwMode="gray">
          <a:xfrm>
            <a:off x="4447790" y="1730037"/>
            <a:ext cx="3311234" cy="4208964"/>
          </a:xfrm>
          <a:prstGeom prst="roundRect">
            <a:avLst>
              <a:gd name="adj" fmla="val 985"/>
            </a:avLst>
          </a:prstGeom>
          <a:noFill/>
          <a:ln w="9525">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zh-CN" altLang="en-US" sz="140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6" name="圆角矩形 5"/>
          <p:cNvSpPr/>
          <p:nvPr/>
        </p:nvSpPr>
        <p:spPr bwMode="gray">
          <a:xfrm flipH="1">
            <a:off x="699031" y="1277474"/>
            <a:ext cx="3311234" cy="360000"/>
          </a:xfrm>
          <a:prstGeom prst="roundRect">
            <a:avLst>
              <a:gd name="adj" fmla="val 6643"/>
            </a:avLst>
          </a:prstGeom>
          <a:solidFill>
            <a:srgbClr val="F3FBFE"/>
          </a:solidFill>
          <a:ln w="12700" cap="flat" cmpd="sng" algn="ctr">
            <a:solidFill>
              <a:srgbClr val="BEE9EE"/>
            </a:solidFill>
            <a:prstDash val="solid"/>
            <a:miter lim="800000"/>
          </a:ln>
          <a:effectLst/>
        </p:spPr>
        <p:txBody>
          <a:bodyPr wrap="square" tIns="0" rtlCol="0" anchor="ctr" anchorCtr="0">
            <a:noAutofit/>
          </a:bodyPr>
          <a:lstStyle/>
          <a:p>
            <a:pPr algn="ctr" defTabSz="914400">
              <a:lnSpc>
                <a:spcPct val="150000"/>
              </a:lnSpc>
            </a:pPr>
            <a:r>
              <a:rPr lang="zh-CN" altLang="en-US"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数字化办公</a:t>
            </a:r>
            <a:endParaRPr lang="en-US" altLang="zh-CN"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圆角矩形 6"/>
          <p:cNvSpPr/>
          <p:nvPr/>
        </p:nvSpPr>
        <p:spPr bwMode="gray">
          <a:xfrm flipH="1">
            <a:off x="8169273" y="1277474"/>
            <a:ext cx="3311234" cy="360000"/>
          </a:xfrm>
          <a:prstGeom prst="roundRect">
            <a:avLst>
              <a:gd name="adj" fmla="val 6643"/>
            </a:avLst>
          </a:prstGeom>
          <a:solidFill>
            <a:srgbClr val="F3FBFE"/>
          </a:solidFill>
          <a:ln w="12700" cap="flat" cmpd="sng" algn="ctr">
            <a:solidFill>
              <a:srgbClr val="BEE9EE"/>
            </a:solidFill>
            <a:prstDash val="solid"/>
            <a:miter lim="800000"/>
          </a:ln>
          <a:effectLst/>
        </p:spPr>
        <p:txBody>
          <a:bodyPr wrap="square" tIns="0" rtlCol="0" anchor="ctr" anchorCtr="0">
            <a:noAutofit/>
          </a:bodyPr>
          <a:lstStyle/>
          <a:p>
            <a:pPr algn="ctr" defTabSz="914400">
              <a:lnSpc>
                <a:spcPct val="150000"/>
              </a:lnSpc>
            </a:pPr>
            <a:r>
              <a:rPr lang="zh-CN" altLang="en-US"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数字化制造</a:t>
            </a:r>
            <a:endParaRPr lang="en-US" altLang="zh-CN"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文本框 7"/>
          <p:cNvSpPr txBox="1"/>
          <p:nvPr/>
        </p:nvSpPr>
        <p:spPr bwMode="gray">
          <a:xfrm>
            <a:off x="709605" y="4772392"/>
            <a:ext cx="3300660" cy="1015663"/>
          </a:xfrm>
          <a:prstGeom prst="rect">
            <a:avLst/>
          </a:prstGeom>
          <a:noFill/>
        </p:spPr>
        <p:txBody>
          <a:bodyPr wrap="square" rtlCol="0">
            <a:spAutoFit/>
          </a:bodyPr>
          <a:lstStyle/>
          <a:p>
            <a:pPr defTabSz="1219028">
              <a:lnSpc>
                <a:spcPts val="2400"/>
              </a:lnSpc>
            </a:pP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Source</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IDC</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发布的</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2019</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年全球数字化转型预测报告指出：“到</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2020</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年，至少有</a:t>
            </a: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55%</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的组织将是数字化的坚定支持者。”</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文本框 8"/>
          <p:cNvSpPr txBox="1"/>
          <p:nvPr/>
        </p:nvSpPr>
        <p:spPr bwMode="gray">
          <a:xfrm>
            <a:off x="8166150" y="4772392"/>
            <a:ext cx="3331582" cy="1015663"/>
          </a:xfrm>
          <a:prstGeom prst="rect">
            <a:avLst/>
          </a:prstGeom>
          <a:noFill/>
        </p:spPr>
        <p:txBody>
          <a:bodyPr wrap="square" rtlCol="0">
            <a:spAutoFit/>
          </a:bodyPr>
          <a:lstStyle/>
          <a:p>
            <a:pPr defTabSz="1219028">
              <a:lnSpc>
                <a:spcPts val="2400"/>
              </a:lnSpc>
            </a:pP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Source</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IDC</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发布的</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2018</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年制造行业调研结果显示：“</a:t>
            </a: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84.9%</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的制造企业正在数字化转型，驱动商业模式创新和商业生态重构”。</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圆角矩形 9"/>
          <p:cNvSpPr/>
          <p:nvPr/>
        </p:nvSpPr>
        <p:spPr bwMode="gray">
          <a:xfrm flipH="1">
            <a:off x="4447790" y="1277474"/>
            <a:ext cx="3311234" cy="360000"/>
          </a:xfrm>
          <a:prstGeom prst="roundRect">
            <a:avLst>
              <a:gd name="adj" fmla="val 6643"/>
            </a:avLst>
          </a:prstGeom>
          <a:solidFill>
            <a:srgbClr val="F3FBFE"/>
          </a:solidFill>
          <a:ln w="12700" cap="flat" cmpd="sng" algn="ctr">
            <a:solidFill>
              <a:srgbClr val="BEE9EE"/>
            </a:solidFill>
            <a:prstDash val="solid"/>
            <a:miter lim="800000"/>
          </a:ln>
          <a:effectLst/>
        </p:spPr>
        <p:txBody>
          <a:bodyPr wrap="square" tIns="0" rtlCol="0" anchor="ctr" anchorCtr="0">
            <a:noAutofit/>
          </a:bodyPr>
          <a:lstStyle/>
          <a:p>
            <a:pPr algn="ctr" defTabSz="914400">
              <a:lnSpc>
                <a:spcPct val="150000"/>
              </a:lnSpc>
            </a:pPr>
            <a:r>
              <a:rPr lang="zh-CN" altLang="en-US"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数字化教育</a:t>
            </a:r>
            <a:endParaRPr lang="en-US" altLang="zh-CN"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文本框 10"/>
          <p:cNvSpPr txBox="1"/>
          <p:nvPr/>
        </p:nvSpPr>
        <p:spPr bwMode="gray">
          <a:xfrm>
            <a:off x="4442581" y="4772392"/>
            <a:ext cx="3316443" cy="1015663"/>
          </a:xfrm>
          <a:prstGeom prst="rect">
            <a:avLst/>
          </a:prstGeom>
          <a:noFill/>
        </p:spPr>
        <p:txBody>
          <a:bodyPr wrap="square" rtlCol="0">
            <a:spAutoFit/>
          </a:bodyPr>
          <a:lstStyle/>
          <a:p>
            <a:pPr defTabSz="1219028">
              <a:lnSpc>
                <a:spcPts val="2400"/>
              </a:lnSpc>
            </a:pP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Source</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Gartner</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发布的</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2019</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年高等教育行业洞察报告指出：“</a:t>
            </a: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86%</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的高教</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CIO</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将</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IT</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视为使能教育商业转型的关键因素。”</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文本框 11"/>
          <p:cNvSpPr txBox="1"/>
          <p:nvPr/>
        </p:nvSpPr>
        <p:spPr bwMode="gray">
          <a:xfrm>
            <a:off x="8251181" y="1856286"/>
            <a:ext cx="3147418" cy="658367"/>
          </a:xfrm>
          <a:prstGeom prst="rect">
            <a:avLst/>
          </a:prstGeom>
          <a:noFill/>
        </p:spPr>
        <p:txBody>
          <a:bodyPr wrap="square" lIns="108000" tIns="72000" rIns="108000" bIns="72000" rtlCol="0">
            <a:spAutoFit/>
          </a:bodyPr>
          <a:lstStyle>
            <a:defPPr>
              <a:defRPr lang="zh-CN"/>
            </a:defPPr>
            <a:lvl1pPr algn="ctr">
              <a:lnSpc>
                <a:spcPts val="2000"/>
              </a:lnSpc>
              <a:defRPr sz="1200">
                <a:latin typeface="Gotham" panose="02000604040000020004" pitchFamily="50" charset="0"/>
                <a:ea typeface="微软雅黑" panose="020B0503020204020204" pitchFamily="34" charset="-122"/>
              </a:defRPr>
            </a:lvl1pPr>
          </a:lstStyle>
          <a:p>
            <a:pPr defTabSz="1219028"/>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海量终端</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传感器永久在线，生产数据实时采集，自动化精准控制。</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文本框 12"/>
          <p:cNvSpPr txBox="1"/>
          <p:nvPr/>
        </p:nvSpPr>
        <p:spPr bwMode="gray">
          <a:xfrm>
            <a:off x="791166" y="1882892"/>
            <a:ext cx="3137368" cy="605154"/>
          </a:xfrm>
          <a:prstGeom prst="rect">
            <a:avLst/>
          </a:prstGeom>
          <a:noFill/>
        </p:spPr>
        <p:txBody>
          <a:bodyPr wrap="square" lIns="108000" rIns="108000" rtlCol="0">
            <a:spAutoFit/>
          </a:bodyPr>
          <a:lstStyle/>
          <a:p>
            <a:pPr algn="ctr" defTabSz="1219028">
              <a:lnSpc>
                <a:spcPts val="2000"/>
              </a:lnSpc>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全无线接入，随时随地办公，</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APP</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一键会议预订，灯光温度自动调节。</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3"/>
          <p:cNvSpPr txBox="1"/>
          <p:nvPr/>
        </p:nvSpPr>
        <p:spPr bwMode="gray">
          <a:xfrm>
            <a:off x="4533737" y="1856286"/>
            <a:ext cx="3147418" cy="658367"/>
          </a:xfrm>
          <a:prstGeom prst="rect">
            <a:avLst/>
          </a:prstGeom>
          <a:noFill/>
        </p:spPr>
        <p:txBody>
          <a:bodyPr wrap="square" lIns="108000" tIns="72000" rIns="108000" bIns="72000" rtlCol="0">
            <a:spAutoFit/>
          </a:bodyPr>
          <a:lstStyle>
            <a:defPPr>
              <a:defRPr lang="zh-CN"/>
            </a:defPPr>
            <a:lvl1pPr algn="ctr">
              <a:lnSpc>
                <a:spcPts val="2000"/>
              </a:lnSpc>
              <a:defRPr sz="1200">
                <a:latin typeface="Gotham" panose="02000604040000020004" pitchFamily="50" charset="0"/>
                <a:ea typeface="微软雅黑" panose="020B0503020204020204" pitchFamily="34" charset="-122"/>
              </a:defRPr>
            </a:lvl1pPr>
          </a:lstStyle>
          <a:p>
            <a:pPr defTabSz="1219028"/>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从填鸭式到浸入式，优质教学资源按需获取，实景教学。</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5" name="Picture 2" descr="http://3ms.huawei.com/multimedia/ImageDetailServlet?f_id=img201911070433&amp;type=2&amp;loc=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935166" y="2652536"/>
            <a:ext cx="2880000" cy="1922400"/>
          </a:xfrm>
          <a:prstGeom prst="roundRect">
            <a:avLst>
              <a:gd name="adj" fmla="val 3895"/>
            </a:avLst>
          </a:prstGeom>
          <a:noFill/>
          <a:extLst>
            <a:ext uri="{909E8E84-426E-40DD-AFC4-6F175D3DCCD1}">
              <a14:hiddenFill xmlns:a14="http://schemas.microsoft.com/office/drawing/2010/main">
                <a:solidFill>
                  <a:srgbClr val="FFFFFF"/>
                </a:solidFill>
              </a14:hiddenFill>
            </a:ext>
          </a:extLst>
        </p:spPr>
      </p:pic>
      <p:pic>
        <p:nvPicPr>
          <p:cNvPr id="16" name="Picture 4" descr="http://3ms.huawei.com/multimedia/ImageDetailServlet?f_id=img201909270561&amp;type=2&amp;loc=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4677737" y="2652536"/>
            <a:ext cx="2880000" cy="1922400"/>
          </a:xfrm>
          <a:prstGeom prst="roundRect">
            <a:avLst>
              <a:gd name="adj" fmla="val 3895"/>
            </a:avLst>
          </a:prstGeom>
          <a:noFill/>
          <a:extLst>
            <a:ext uri="{909E8E84-426E-40DD-AFC4-6F175D3DCCD1}">
              <a14:hiddenFill xmlns:a14="http://schemas.microsoft.com/office/drawing/2010/main">
                <a:solidFill>
                  <a:srgbClr val="FFFFFF"/>
                </a:solidFill>
              </a14:hiddenFill>
            </a:ext>
          </a:extLst>
        </p:spPr>
      </p:pic>
      <p:pic>
        <p:nvPicPr>
          <p:cNvPr id="17" name="Picture 6" descr="http://3ms.huawei.com/multimedia/ImageDetailServlet?f_id=img201909260824&amp;type=2&amp;loc=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gray">
          <a:xfrm>
            <a:off x="8395181" y="2601734"/>
            <a:ext cx="2880000" cy="1922400"/>
          </a:xfrm>
          <a:prstGeom prst="roundRect">
            <a:avLst>
              <a:gd name="adj" fmla="val 3895"/>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6084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a:sym typeface="Huawei Sans" panose="020C0503030203020204" pitchFamily="34" charset="0"/>
              </a:rPr>
              <a:t>数字化时代，园区网络如何支撑行业数字化转型？</a:t>
            </a:r>
            <a:endParaRPr lang="zh-CN" altLang="en-US" dirty="0">
              <a:sym typeface="Huawei Sans" panose="020C0503030203020204" pitchFamily="34" charset="0"/>
            </a:endParaRPr>
          </a:p>
        </p:txBody>
      </p:sp>
      <p:grpSp>
        <p:nvGrpSpPr>
          <p:cNvPr id="6" name="组合 5"/>
          <p:cNvGrpSpPr/>
          <p:nvPr/>
        </p:nvGrpSpPr>
        <p:grpSpPr bwMode="gray">
          <a:xfrm>
            <a:off x="3138164" y="2103400"/>
            <a:ext cx="2319866" cy="3176435"/>
            <a:chOff x="3362590" y="2103400"/>
            <a:chExt cx="2319866" cy="3176435"/>
          </a:xfrm>
        </p:grpSpPr>
        <p:grpSp>
          <p:nvGrpSpPr>
            <p:cNvPr id="46" name="组合 45"/>
            <p:cNvGrpSpPr/>
            <p:nvPr/>
          </p:nvGrpSpPr>
          <p:grpSpPr bwMode="gray">
            <a:xfrm>
              <a:off x="3660749" y="2103400"/>
              <a:ext cx="1723549" cy="2116711"/>
              <a:chOff x="4859174" y="2103400"/>
              <a:chExt cx="1723549" cy="2116711"/>
            </a:xfrm>
          </p:grpSpPr>
          <p:sp>
            <p:nvSpPr>
              <p:cNvPr id="37" name="矩形 36"/>
              <p:cNvSpPr/>
              <p:nvPr/>
            </p:nvSpPr>
            <p:spPr bwMode="gray">
              <a:xfrm>
                <a:off x="4859174" y="2103400"/>
                <a:ext cx="1723549" cy="400110"/>
              </a:xfrm>
              <a:prstGeom prst="rect">
                <a:avLst/>
              </a:prstGeom>
            </p:spPr>
            <p:txBody>
              <a:bodyPr wrap="none">
                <a:spAutoFit/>
              </a:bodyPr>
              <a:lstStyle/>
              <a:p>
                <a:pPr marL="0" marR="0" lvl="0" indent="0" algn="ctr" defTabSz="1219028" eaLnBrk="1" fontAlgn="base" latinLnBrk="0" hangingPunct="1">
                  <a:lnSpc>
                    <a:spcPct val="100000"/>
                  </a:lnSpc>
                  <a:spcBef>
                    <a:spcPct val="0"/>
                  </a:spcBef>
                  <a:spcAft>
                    <a:spcPct val="0"/>
                  </a:spcAft>
                  <a:buClr>
                    <a:srgbClr val="CC9900"/>
                  </a:buClr>
                  <a:buSzTx/>
                  <a:buFontTx/>
                  <a:buNone/>
                  <a:tabLst/>
                  <a:defRPr/>
                </a:pPr>
                <a:r>
                  <a:rPr kumimoji="1" lang="zh-CN" altLang="en-US" sz="2000" b="1" i="0" u="none" strike="noStrike" kern="0" cap="none" spc="0" normalizeH="0" baseline="0" noProof="0" dirty="0">
                    <a:ln>
                      <a:noFill/>
                    </a:ln>
                    <a:solidFill>
                      <a:srgbClr val="30B5C5"/>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业务即需即得</a:t>
                </a:r>
                <a:endParaRPr kumimoji="1" lang="en-US" altLang="zh-CN" sz="2000" b="1" i="0" u="none" strike="noStrike" kern="0" cap="none" spc="0" normalizeH="0" baseline="0" noProof="0" dirty="0">
                  <a:ln>
                    <a:noFill/>
                  </a:ln>
                  <a:solidFill>
                    <a:srgbClr val="30B5C5"/>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4" name="组合 43"/>
              <p:cNvGrpSpPr/>
              <p:nvPr/>
            </p:nvGrpSpPr>
            <p:grpSpPr bwMode="gray">
              <a:xfrm>
                <a:off x="4968329" y="2757827"/>
                <a:ext cx="1505239" cy="1462284"/>
                <a:chOff x="4939373" y="2757827"/>
                <a:chExt cx="1505239" cy="1462284"/>
              </a:xfrm>
            </p:grpSpPr>
            <p:sp>
              <p:nvSpPr>
                <p:cNvPr id="38" name="椭圆 37">
                  <a:extLst>
                    <a:ext uri="{FF2B5EF4-FFF2-40B4-BE49-F238E27FC236}">
                      <a16:creationId xmlns:a16="http://schemas.microsoft.com/office/drawing/2014/main" id="{ED8394DC-89C4-4587-B2DC-858A22EC31E1}"/>
                    </a:ext>
                  </a:extLst>
                </p:cNvPr>
                <p:cNvSpPr>
                  <a:spLocks/>
                </p:cNvSpPr>
                <p:nvPr/>
              </p:nvSpPr>
              <p:spPr bwMode="gray">
                <a:xfrm>
                  <a:off x="4939373" y="2757827"/>
                  <a:ext cx="1505239" cy="1462284"/>
                </a:xfrm>
                <a:prstGeom prst="ellipse">
                  <a:avLst/>
                </a:prstGeom>
                <a:solidFill>
                  <a:sysClr val="window" lastClr="FFFFFF"/>
                </a:solidFill>
                <a:ln w="19050" cap="flat" cmpd="sng" algn="ctr">
                  <a:solidFill>
                    <a:srgbClr val="30B5C5"/>
                  </a:solidFill>
                  <a:prstDash val="solid"/>
                  <a:round/>
                  <a:headEnd type="none" w="med" len="med"/>
                  <a:tailEnd type="none" w="med" len="med"/>
                </a:ln>
                <a:effectLst/>
              </p:spPr>
              <p:txBody>
                <a:bodyPr vert="horz" wrap="square" lIns="91419" tIns="45709" rIns="91419" bIns="45709" numCol="1" rtlCol="0" anchor="t" anchorCtr="0" compatLnSpc="1">
                  <a:prstTxWarp prst="textNoShape">
                    <a:avLst/>
                  </a:prstTxWarp>
                </a:bodyPr>
                <a:lstStyle/>
                <a:p>
                  <a:pPr marL="0" marR="0" lvl="0" indent="0" defTabSz="914217"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1" i="0" u="none" strike="noStrike" kern="0" cap="none" spc="0" normalizeH="0" baseline="0" noProof="0">
                    <a:ln>
                      <a:noFill/>
                    </a:ln>
                    <a:solidFill>
                      <a:srgbClr val="1D1D1B"/>
                    </a:solidFill>
                    <a:effectLst/>
                    <a:uLnTx/>
                    <a:uFillTx/>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39" name="Freeform 15"/>
                <p:cNvSpPr>
                  <a:spLocks noChangeAspect="1" noEditPoints="1"/>
                </p:cNvSpPr>
                <p:nvPr/>
              </p:nvSpPr>
              <p:spPr bwMode="gray">
                <a:xfrm>
                  <a:off x="5425217" y="3164969"/>
                  <a:ext cx="533550" cy="648000"/>
                </a:xfrm>
                <a:custGeom>
                  <a:avLst/>
                  <a:gdLst>
                    <a:gd name="T0" fmla="*/ 18 w 36"/>
                    <a:gd name="T1" fmla="*/ 5 h 44"/>
                    <a:gd name="T2" fmla="*/ 36 w 36"/>
                    <a:gd name="T3" fmla="*/ 23 h 44"/>
                    <a:gd name="T4" fmla="*/ 22 w 36"/>
                    <a:gd name="T5" fmla="*/ 40 h 44"/>
                    <a:gd name="T6" fmla="*/ 31 w 36"/>
                    <a:gd name="T7" fmla="*/ 43 h 44"/>
                    <a:gd name="T8" fmla="*/ 31 w 36"/>
                    <a:gd name="T9" fmla="*/ 44 h 44"/>
                    <a:gd name="T10" fmla="*/ 5 w 36"/>
                    <a:gd name="T11" fmla="*/ 44 h 44"/>
                    <a:gd name="T12" fmla="*/ 5 w 36"/>
                    <a:gd name="T13" fmla="*/ 43 h 44"/>
                    <a:gd name="T14" fmla="*/ 13 w 36"/>
                    <a:gd name="T15" fmla="*/ 40 h 44"/>
                    <a:gd name="T16" fmla="*/ 0 w 36"/>
                    <a:gd name="T17" fmla="*/ 23 h 44"/>
                    <a:gd name="T18" fmla="*/ 18 w 36"/>
                    <a:gd name="T19" fmla="*/ 5 h 44"/>
                    <a:gd name="T20" fmla="*/ 18 w 36"/>
                    <a:gd name="T21" fmla="*/ 5 h 44"/>
                    <a:gd name="T22" fmla="*/ 17 w 36"/>
                    <a:gd name="T23" fmla="*/ 21 h 44"/>
                    <a:gd name="T24" fmla="*/ 16 w 36"/>
                    <a:gd name="T25" fmla="*/ 16 h 44"/>
                    <a:gd name="T26" fmla="*/ 18 w 36"/>
                    <a:gd name="T27" fmla="*/ 14 h 44"/>
                    <a:gd name="T28" fmla="*/ 19 w 36"/>
                    <a:gd name="T29" fmla="*/ 16 h 44"/>
                    <a:gd name="T30" fmla="*/ 18 w 36"/>
                    <a:gd name="T31" fmla="*/ 21 h 44"/>
                    <a:gd name="T32" fmla="*/ 19 w 36"/>
                    <a:gd name="T33" fmla="*/ 23 h 44"/>
                    <a:gd name="T34" fmla="*/ 19 w 36"/>
                    <a:gd name="T35" fmla="*/ 24 h 44"/>
                    <a:gd name="T36" fmla="*/ 24 w 36"/>
                    <a:gd name="T37" fmla="*/ 28 h 44"/>
                    <a:gd name="T38" fmla="*/ 27 w 36"/>
                    <a:gd name="T39" fmla="*/ 32 h 44"/>
                    <a:gd name="T40" fmla="*/ 22 w 36"/>
                    <a:gd name="T41" fmla="*/ 29 h 44"/>
                    <a:gd name="T42" fmla="*/ 19 w 36"/>
                    <a:gd name="T43" fmla="*/ 24 h 44"/>
                    <a:gd name="T44" fmla="*/ 18 w 36"/>
                    <a:gd name="T45" fmla="*/ 25 h 44"/>
                    <a:gd name="T46" fmla="*/ 16 w 36"/>
                    <a:gd name="T47" fmla="*/ 23 h 44"/>
                    <a:gd name="T48" fmla="*/ 17 w 36"/>
                    <a:gd name="T49" fmla="*/ 21 h 44"/>
                    <a:gd name="T50" fmla="*/ 17 w 36"/>
                    <a:gd name="T51" fmla="*/ 21 h 44"/>
                    <a:gd name="T52" fmla="*/ 4 w 36"/>
                    <a:gd name="T53" fmla="*/ 22 h 44"/>
                    <a:gd name="T54" fmla="*/ 6 w 36"/>
                    <a:gd name="T55" fmla="*/ 22 h 44"/>
                    <a:gd name="T56" fmla="*/ 6 w 36"/>
                    <a:gd name="T57" fmla="*/ 24 h 44"/>
                    <a:gd name="T58" fmla="*/ 4 w 36"/>
                    <a:gd name="T59" fmla="*/ 24 h 44"/>
                    <a:gd name="T60" fmla="*/ 17 w 36"/>
                    <a:gd name="T61" fmla="*/ 37 h 44"/>
                    <a:gd name="T62" fmla="*/ 17 w 36"/>
                    <a:gd name="T63" fmla="*/ 35 h 44"/>
                    <a:gd name="T64" fmla="*/ 18 w 36"/>
                    <a:gd name="T65" fmla="*/ 35 h 44"/>
                    <a:gd name="T66" fmla="*/ 18 w 36"/>
                    <a:gd name="T67" fmla="*/ 37 h 44"/>
                    <a:gd name="T68" fmla="*/ 32 w 36"/>
                    <a:gd name="T69" fmla="*/ 24 h 44"/>
                    <a:gd name="T70" fmla="*/ 29 w 36"/>
                    <a:gd name="T71" fmla="*/ 24 h 44"/>
                    <a:gd name="T72" fmla="*/ 29 w 36"/>
                    <a:gd name="T73" fmla="*/ 22 h 44"/>
                    <a:gd name="T74" fmla="*/ 32 w 36"/>
                    <a:gd name="T75" fmla="*/ 22 h 44"/>
                    <a:gd name="T76" fmla="*/ 18 w 36"/>
                    <a:gd name="T77" fmla="*/ 9 h 44"/>
                    <a:gd name="T78" fmla="*/ 18 w 36"/>
                    <a:gd name="T79" fmla="*/ 11 h 44"/>
                    <a:gd name="T80" fmla="*/ 17 w 36"/>
                    <a:gd name="T81" fmla="*/ 11 h 44"/>
                    <a:gd name="T82" fmla="*/ 17 w 36"/>
                    <a:gd name="T83" fmla="*/ 9 h 44"/>
                    <a:gd name="T84" fmla="*/ 4 w 36"/>
                    <a:gd name="T85" fmla="*/ 22 h 44"/>
                    <a:gd name="T86" fmla="*/ 4 w 36"/>
                    <a:gd name="T87" fmla="*/ 22 h 44"/>
                    <a:gd name="T88" fmla="*/ 17 w 36"/>
                    <a:gd name="T89" fmla="*/ 0 h 44"/>
                    <a:gd name="T90" fmla="*/ 19 w 36"/>
                    <a:gd name="T91" fmla="*/ 0 h 44"/>
                    <a:gd name="T92" fmla="*/ 20 w 36"/>
                    <a:gd name="T93" fmla="*/ 2 h 44"/>
                    <a:gd name="T94" fmla="*/ 20 w 36"/>
                    <a:gd name="T95" fmla="*/ 4 h 44"/>
                    <a:gd name="T96" fmla="*/ 18 w 36"/>
                    <a:gd name="T97" fmla="*/ 3 h 44"/>
                    <a:gd name="T98" fmla="*/ 15 w 36"/>
                    <a:gd name="T99" fmla="*/ 4 h 44"/>
                    <a:gd name="T100" fmla="*/ 15 w 36"/>
                    <a:gd name="T101" fmla="*/ 2 h 44"/>
                    <a:gd name="T102" fmla="*/ 17 w 36"/>
                    <a:gd name="T103" fmla="*/ 0 h 44"/>
                    <a:gd name="T104" fmla="*/ 17 w 36"/>
                    <a:gd name="T105"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6" h="44">
                      <a:moveTo>
                        <a:pt x="18" y="5"/>
                      </a:moveTo>
                      <a:cubicBezTo>
                        <a:pt x="27" y="5"/>
                        <a:pt x="36" y="13"/>
                        <a:pt x="36" y="23"/>
                      </a:cubicBezTo>
                      <a:cubicBezTo>
                        <a:pt x="36" y="31"/>
                        <a:pt x="30" y="39"/>
                        <a:pt x="22" y="40"/>
                      </a:cubicBezTo>
                      <a:cubicBezTo>
                        <a:pt x="31" y="43"/>
                        <a:pt x="31" y="43"/>
                        <a:pt x="31" y="43"/>
                      </a:cubicBezTo>
                      <a:cubicBezTo>
                        <a:pt x="31" y="44"/>
                        <a:pt x="31" y="44"/>
                        <a:pt x="31" y="44"/>
                      </a:cubicBezTo>
                      <a:cubicBezTo>
                        <a:pt x="5" y="44"/>
                        <a:pt x="5" y="44"/>
                        <a:pt x="5" y="44"/>
                      </a:cubicBezTo>
                      <a:cubicBezTo>
                        <a:pt x="5" y="43"/>
                        <a:pt x="5" y="43"/>
                        <a:pt x="5" y="43"/>
                      </a:cubicBezTo>
                      <a:cubicBezTo>
                        <a:pt x="13" y="40"/>
                        <a:pt x="13" y="40"/>
                        <a:pt x="13" y="40"/>
                      </a:cubicBezTo>
                      <a:cubicBezTo>
                        <a:pt x="6" y="39"/>
                        <a:pt x="0" y="31"/>
                        <a:pt x="0" y="23"/>
                      </a:cubicBezTo>
                      <a:cubicBezTo>
                        <a:pt x="0" y="13"/>
                        <a:pt x="8" y="5"/>
                        <a:pt x="18" y="5"/>
                      </a:cubicBezTo>
                      <a:cubicBezTo>
                        <a:pt x="18" y="5"/>
                        <a:pt x="18" y="5"/>
                        <a:pt x="18" y="5"/>
                      </a:cubicBezTo>
                      <a:close/>
                      <a:moveTo>
                        <a:pt x="17" y="21"/>
                      </a:moveTo>
                      <a:cubicBezTo>
                        <a:pt x="16" y="16"/>
                        <a:pt x="16" y="16"/>
                        <a:pt x="16" y="16"/>
                      </a:cubicBezTo>
                      <a:cubicBezTo>
                        <a:pt x="18" y="14"/>
                        <a:pt x="18" y="14"/>
                        <a:pt x="18" y="14"/>
                      </a:cubicBezTo>
                      <a:cubicBezTo>
                        <a:pt x="19" y="16"/>
                        <a:pt x="19" y="16"/>
                        <a:pt x="19" y="16"/>
                      </a:cubicBezTo>
                      <a:cubicBezTo>
                        <a:pt x="18" y="21"/>
                        <a:pt x="18" y="21"/>
                        <a:pt x="18" y="21"/>
                      </a:cubicBezTo>
                      <a:cubicBezTo>
                        <a:pt x="19" y="22"/>
                        <a:pt x="19" y="22"/>
                        <a:pt x="19" y="23"/>
                      </a:cubicBezTo>
                      <a:cubicBezTo>
                        <a:pt x="19" y="23"/>
                        <a:pt x="19" y="24"/>
                        <a:pt x="19" y="24"/>
                      </a:cubicBezTo>
                      <a:cubicBezTo>
                        <a:pt x="24" y="28"/>
                        <a:pt x="24" y="28"/>
                        <a:pt x="24" y="28"/>
                      </a:cubicBezTo>
                      <a:cubicBezTo>
                        <a:pt x="27" y="32"/>
                        <a:pt x="27" y="32"/>
                        <a:pt x="27" y="32"/>
                      </a:cubicBezTo>
                      <a:cubicBezTo>
                        <a:pt x="22" y="29"/>
                        <a:pt x="22" y="29"/>
                        <a:pt x="22" y="29"/>
                      </a:cubicBezTo>
                      <a:cubicBezTo>
                        <a:pt x="19" y="24"/>
                        <a:pt x="19" y="24"/>
                        <a:pt x="19" y="24"/>
                      </a:cubicBezTo>
                      <a:cubicBezTo>
                        <a:pt x="19" y="25"/>
                        <a:pt x="18" y="25"/>
                        <a:pt x="18" y="25"/>
                      </a:cubicBezTo>
                      <a:cubicBezTo>
                        <a:pt x="17" y="25"/>
                        <a:pt x="16" y="24"/>
                        <a:pt x="16" y="23"/>
                      </a:cubicBezTo>
                      <a:cubicBezTo>
                        <a:pt x="16" y="22"/>
                        <a:pt x="16" y="22"/>
                        <a:pt x="17" y="21"/>
                      </a:cubicBezTo>
                      <a:cubicBezTo>
                        <a:pt x="17" y="21"/>
                        <a:pt x="17" y="21"/>
                        <a:pt x="17" y="21"/>
                      </a:cubicBezTo>
                      <a:close/>
                      <a:moveTo>
                        <a:pt x="4" y="22"/>
                      </a:moveTo>
                      <a:cubicBezTo>
                        <a:pt x="6" y="22"/>
                        <a:pt x="6" y="22"/>
                        <a:pt x="6" y="22"/>
                      </a:cubicBezTo>
                      <a:cubicBezTo>
                        <a:pt x="6" y="24"/>
                        <a:pt x="6" y="24"/>
                        <a:pt x="6" y="24"/>
                      </a:cubicBezTo>
                      <a:cubicBezTo>
                        <a:pt x="4" y="24"/>
                        <a:pt x="4" y="24"/>
                        <a:pt x="4" y="24"/>
                      </a:cubicBezTo>
                      <a:cubicBezTo>
                        <a:pt x="4" y="31"/>
                        <a:pt x="10" y="36"/>
                        <a:pt x="17" y="37"/>
                      </a:cubicBezTo>
                      <a:cubicBezTo>
                        <a:pt x="17" y="35"/>
                        <a:pt x="17" y="35"/>
                        <a:pt x="17" y="35"/>
                      </a:cubicBezTo>
                      <a:cubicBezTo>
                        <a:pt x="18" y="35"/>
                        <a:pt x="18" y="35"/>
                        <a:pt x="18" y="35"/>
                      </a:cubicBezTo>
                      <a:cubicBezTo>
                        <a:pt x="18" y="37"/>
                        <a:pt x="18" y="37"/>
                        <a:pt x="18" y="37"/>
                      </a:cubicBezTo>
                      <a:cubicBezTo>
                        <a:pt x="25" y="36"/>
                        <a:pt x="31" y="31"/>
                        <a:pt x="32" y="24"/>
                      </a:cubicBezTo>
                      <a:cubicBezTo>
                        <a:pt x="29" y="24"/>
                        <a:pt x="29" y="24"/>
                        <a:pt x="29" y="24"/>
                      </a:cubicBezTo>
                      <a:cubicBezTo>
                        <a:pt x="29" y="22"/>
                        <a:pt x="29" y="22"/>
                        <a:pt x="29" y="22"/>
                      </a:cubicBezTo>
                      <a:cubicBezTo>
                        <a:pt x="32" y="22"/>
                        <a:pt x="32" y="22"/>
                        <a:pt x="32" y="22"/>
                      </a:cubicBezTo>
                      <a:cubicBezTo>
                        <a:pt x="31" y="15"/>
                        <a:pt x="25" y="9"/>
                        <a:pt x="18" y="9"/>
                      </a:cubicBezTo>
                      <a:cubicBezTo>
                        <a:pt x="18" y="11"/>
                        <a:pt x="18" y="11"/>
                        <a:pt x="18" y="11"/>
                      </a:cubicBezTo>
                      <a:cubicBezTo>
                        <a:pt x="17" y="11"/>
                        <a:pt x="17" y="11"/>
                        <a:pt x="17" y="11"/>
                      </a:cubicBezTo>
                      <a:cubicBezTo>
                        <a:pt x="17" y="9"/>
                        <a:pt x="17" y="9"/>
                        <a:pt x="17" y="9"/>
                      </a:cubicBezTo>
                      <a:cubicBezTo>
                        <a:pt x="10" y="9"/>
                        <a:pt x="4" y="15"/>
                        <a:pt x="4" y="22"/>
                      </a:cubicBezTo>
                      <a:cubicBezTo>
                        <a:pt x="4" y="22"/>
                        <a:pt x="4" y="22"/>
                        <a:pt x="4" y="22"/>
                      </a:cubicBezTo>
                      <a:close/>
                      <a:moveTo>
                        <a:pt x="17" y="0"/>
                      </a:moveTo>
                      <a:cubicBezTo>
                        <a:pt x="19" y="0"/>
                        <a:pt x="19" y="0"/>
                        <a:pt x="19" y="0"/>
                      </a:cubicBezTo>
                      <a:cubicBezTo>
                        <a:pt x="20" y="0"/>
                        <a:pt x="20" y="1"/>
                        <a:pt x="20" y="2"/>
                      </a:cubicBezTo>
                      <a:cubicBezTo>
                        <a:pt x="20" y="4"/>
                        <a:pt x="20" y="4"/>
                        <a:pt x="20" y="4"/>
                      </a:cubicBezTo>
                      <a:cubicBezTo>
                        <a:pt x="19" y="4"/>
                        <a:pt x="19" y="3"/>
                        <a:pt x="18" y="3"/>
                      </a:cubicBezTo>
                      <a:cubicBezTo>
                        <a:pt x="17" y="3"/>
                        <a:pt x="16" y="4"/>
                        <a:pt x="15" y="4"/>
                      </a:cubicBezTo>
                      <a:cubicBezTo>
                        <a:pt x="15" y="2"/>
                        <a:pt x="15" y="2"/>
                        <a:pt x="15" y="2"/>
                      </a:cubicBezTo>
                      <a:cubicBezTo>
                        <a:pt x="15" y="1"/>
                        <a:pt x="16" y="0"/>
                        <a:pt x="17" y="0"/>
                      </a:cubicBezTo>
                      <a:cubicBezTo>
                        <a:pt x="17" y="0"/>
                        <a:pt x="17" y="0"/>
                        <a:pt x="17" y="0"/>
                      </a:cubicBezTo>
                      <a:close/>
                    </a:path>
                  </a:pathLst>
                </a:custGeom>
                <a:solidFill>
                  <a:srgbClr val="666666">
                    <a:lumMod val="75000"/>
                  </a:srgbClr>
                </a:solidFill>
                <a:ln>
                  <a:noFill/>
                </a:ln>
              </p:spPr>
              <p:txBody>
                <a:bodyPr vert="horz" wrap="square" lIns="91419" tIns="45709" rIns="91419" bIns="45709" numCol="1" anchor="t" anchorCtr="0" compatLnSpc="1">
                  <a:prstTxWarp prst="textNoShape">
                    <a:avLst/>
                  </a:prstTxWarp>
                </a:bodyPr>
                <a:lstStyle/>
                <a:p>
                  <a:pPr marL="0" marR="0" lvl="0" indent="0" defTabSz="1219028"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1D1D1B"/>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40" name="矩形 39"/>
            <p:cNvSpPr/>
            <p:nvPr/>
          </p:nvSpPr>
          <p:spPr bwMode="gray">
            <a:xfrm>
              <a:off x="3362590" y="4486605"/>
              <a:ext cx="2319866" cy="793230"/>
            </a:xfrm>
            <a:prstGeom prst="rect">
              <a:avLst/>
            </a:prstGeom>
          </p:spPr>
          <p:txBody>
            <a:bodyPr wrap="none">
              <a:spAutoFit/>
            </a:bodyPr>
            <a:lstStyle/>
            <a:p>
              <a:pPr marL="285693" marR="0" lvl="0" indent="-285693" defTabSz="1219028" eaLnBrk="1" fontAlgn="base" latinLnBrk="0" hangingPunct="1">
                <a:lnSpc>
                  <a:spcPct val="150000"/>
                </a:lnSpc>
                <a:spcBef>
                  <a:spcPct val="0"/>
                </a:spcBef>
                <a:spcAft>
                  <a:spcPct val="0"/>
                </a:spcAft>
                <a:buClr>
                  <a:prstClr val="black"/>
                </a:buClr>
                <a:buSzTx/>
                <a:buFont typeface="Arial" panose="020B0604020202020204" pitchFamily="34" charset="0"/>
                <a:buChar char="•"/>
                <a:tabLst/>
                <a:defRPr/>
              </a:pPr>
              <a:r>
                <a:rPr kumimoji="1" lang="zh-CN" altLang="en-US" sz="1600" b="0" i="0" u="none" strike="noStrike" kern="0" cap="none" spc="0" normalizeH="0" baseline="0" noProof="0" dirty="0">
                  <a:ln>
                    <a:noFill/>
                  </a:ln>
                  <a:solidFill>
                    <a:srgbClr val="1D1D1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业务快速部署及调整</a:t>
              </a:r>
              <a:endParaRPr kumimoji="1" lang="en-US" altLang="zh-CN" sz="1600" b="0" i="0" u="none" strike="noStrike" kern="0" cap="none" spc="0" normalizeH="0" baseline="0" noProof="0" dirty="0">
                <a:ln>
                  <a:noFill/>
                </a:ln>
                <a:solidFill>
                  <a:srgbClr val="1D1D1B"/>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285693" marR="0" lvl="0" indent="-285693" defTabSz="1219028" eaLnBrk="1" fontAlgn="base" latinLnBrk="0" hangingPunct="1">
                <a:lnSpc>
                  <a:spcPct val="150000"/>
                </a:lnSpc>
                <a:spcBef>
                  <a:spcPct val="0"/>
                </a:spcBef>
                <a:spcAft>
                  <a:spcPct val="0"/>
                </a:spcAft>
                <a:buClr>
                  <a:prstClr val="black"/>
                </a:buClr>
                <a:buSzTx/>
                <a:buFont typeface="Arial" panose="020B0604020202020204" pitchFamily="34" charset="0"/>
                <a:buChar char="•"/>
                <a:tabLst/>
                <a:defRPr/>
              </a:pPr>
              <a:r>
                <a:rPr kumimoji="1" lang="zh-CN" altLang="en-US" sz="1600" b="0" i="0" u="none" strike="noStrike" kern="0" cap="none" spc="0" normalizeH="0" baseline="0" noProof="0" dirty="0">
                  <a:ln>
                    <a:noFill/>
                  </a:ln>
                  <a:solidFill>
                    <a:srgbClr val="1D1D1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增值类应用快速上线</a:t>
              </a:r>
              <a:endParaRPr kumimoji="1" lang="en-US" altLang="zh-CN" sz="1600" b="0" i="0" u="none" strike="noStrike" kern="0" cap="none" spc="0" normalizeH="0" baseline="0" noProof="0" dirty="0">
                <a:ln>
                  <a:noFill/>
                </a:ln>
                <a:solidFill>
                  <a:srgbClr val="1D1D1B"/>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7" name="组合 6"/>
          <p:cNvGrpSpPr/>
          <p:nvPr/>
        </p:nvGrpSpPr>
        <p:grpSpPr bwMode="gray">
          <a:xfrm>
            <a:off x="931093" y="2103400"/>
            <a:ext cx="1909497" cy="3176435"/>
            <a:chOff x="931093" y="2103400"/>
            <a:chExt cx="1909497" cy="3176435"/>
          </a:xfrm>
        </p:grpSpPr>
        <p:sp>
          <p:nvSpPr>
            <p:cNvPr id="30" name="矩形 29"/>
            <p:cNvSpPr/>
            <p:nvPr/>
          </p:nvSpPr>
          <p:spPr bwMode="gray">
            <a:xfrm>
              <a:off x="931093" y="4486605"/>
              <a:ext cx="1909497" cy="793230"/>
            </a:xfrm>
            <a:prstGeom prst="rect">
              <a:avLst/>
            </a:prstGeom>
          </p:spPr>
          <p:txBody>
            <a:bodyPr wrap="none">
              <a:spAutoFit/>
            </a:bodyPr>
            <a:lstStyle/>
            <a:p>
              <a:pPr marL="285693" marR="0" lvl="0" indent="-285693" defTabSz="1219028" eaLnBrk="1" fontAlgn="base" latinLnBrk="0" hangingPunct="1">
                <a:lnSpc>
                  <a:spcPct val="150000"/>
                </a:lnSpc>
                <a:spcBef>
                  <a:spcPct val="0"/>
                </a:spcBef>
                <a:spcAft>
                  <a:spcPct val="0"/>
                </a:spcAft>
                <a:buClr>
                  <a:prstClr val="black"/>
                </a:buClr>
                <a:buSzTx/>
                <a:buFont typeface="Arial" panose="020B0604020202020204" pitchFamily="34" charset="0"/>
                <a:buChar char="•"/>
                <a:tabLst/>
                <a:defRPr/>
              </a:pPr>
              <a:r>
                <a:rPr kumimoji="1" lang="zh-CN" altLang="en-US" sz="1600" b="0" i="0" u="none" strike="noStrike" kern="0" cap="none" spc="0" normalizeH="0" baseline="0" noProof="0" dirty="0">
                  <a:ln>
                    <a:noFill/>
                  </a:ln>
                  <a:solidFill>
                    <a:srgbClr val="1D1D1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随时随地接入</a:t>
              </a:r>
              <a:endParaRPr kumimoji="1" lang="en-US" altLang="zh-CN" sz="1600" b="0" i="0" u="none" strike="noStrike" kern="0" cap="none" spc="0" normalizeH="0" baseline="0" noProof="0" dirty="0">
                <a:ln>
                  <a:noFill/>
                </a:ln>
                <a:solidFill>
                  <a:srgbClr val="1D1D1B"/>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285693" marR="0" lvl="0" indent="-285693" defTabSz="1219028" eaLnBrk="1" fontAlgn="base" latinLnBrk="0" hangingPunct="1">
                <a:lnSpc>
                  <a:spcPct val="150000"/>
                </a:lnSpc>
                <a:spcBef>
                  <a:spcPct val="0"/>
                </a:spcBef>
                <a:spcAft>
                  <a:spcPct val="0"/>
                </a:spcAft>
                <a:buClr>
                  <a:prstClr val="black"/>
                </a:buClr>
                <a:buSzTx/>
                <a:buFont typeface="Arial" panose="020B0604020202020204" pitchFamily="34" charset="0"/>
                <a:buChar char="•"/>
                <a:tabLst/>
                <a:defRPr/>
              </a:pPr>
              <a:r>
                <a:rPr kumimoji="1" lang="zh-CN" altLang="en-US" sz="1600" b="0" i="0" u="none" strike="noStrike" kern="0" cap="none" spc="0" normalizeH="0" baseline="0" noProof="0" dirty="0">
                  <a:ln>
                    <a:noFill/>
                  </a:ln>
                  <a:solidFill>
                    <a:srgbClr val="1D1D1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高品质业务承载</a:t>
              </a:r>
              <a:endParaRPr kumimoji="1" lang="en-US" altLang="zh-CN" sz="1600" b="0" i="0" u="none" strike="noStrike" kern="0" cap="none" spc="0" normalizeH="0" baseline="0" noProof="0" dirty="0">
                <a:ln>
                  <a:noFill/>
                </a:ln>
                <a:solidFill>
                  <a:srgbClr val="1D1D1B"/>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2" name="组合 51"/>
            <p:cNvGrpSpPr/>
            <p:nvPr/>
          </p:nvGrpSpPr>
          <p:grpSpPr bwMode="gray">
            <a:xfrm>
              <a:off x="1024067" y="2103400"/>
              <a:ext cx="1723549" cy="2116711"/>
              <a:chOff x="1457819" y="2103400"/>
              <a:chExt cx="1723549" cy="2116711"/>
            </a:xfrm>
          </p:grpSpPr>
          <p:sp>
            <p:nvSpPr>
              <p:cNvPr id="26" name="任意多边形 85"/>
              <p:cNvSpPr/>
              <p:nvPr/>
            </p:nvSpPr>
            <p:spPr bwMode="gray">
              <a:xfrm>
                <a:off x="1864430" y="3217594"/>
                <a:ext cx="910327" cy="690238"/>
              </a:xfrm>
              <a:custGeom>
                <a:avLst/>
                <a:gdLst>
                  <a:gd name="connsiteX0" fmla="*/ 96105 w 628567"/>
                  <a:gd name="connsiteY0" fmla="*/ 192304 h 476598"/>
                  <a:gd name="connsiteX1" fmla="*/ 96105 w 628567"/>
                  <a:gd name="connsiteY1" fmla="*/ 476598 h 476598"/>
                  <a:gd name="connsiteX2" fmla="*/ 0 w 628567"/>
                  <a:gd name="connsiteY2" fmla="*/ 476598 h 476598"/>
                  <a:gd name="connsiteX3" fmla="*/ 0 w 628567"/>
                  <a:gd name="connsiteY3" fmla="*/ 267440 h 476598"/>
                  <a:gd name="connsiteX4" fmla="*/ 451079 w 628567"/>
                  <a:gd name="connsiteY4" fmla="*/ 149738 h 476598"/>
                  <a:gd name="connsiteX5" fmla="*/ 451079 w 628567"/>
                  <a:gd name="connsiteY5" fmla="*/ 476598 h 476598"/>
                  <a:gd name="connsiteX6" fmla="*/ 354974 w 628567"/>
                  <a:gd name="connsiteY6" fmla="*/ 476598 h 476598"/>
                  <a:gd name="connsiteX7" fmla="*/ 354974 w 628567"/>
                  <a:gd name="connsiteY7" fmla="*/ 196833 h 476598"/>
                  <a:gd name="connsiteX8" fmla="*/ 357633 w 628567"/>
                  <a:gd name="connsiteY8" fmla="*/ 200277 h 476598"/>
                  <a:gd name="connsiteX9" fmla="*/ 359009 w 628567"/>
                  <a:gd name="connsiteY9" fmla="*/ 199214 h 476598"/>
                  <a:gd name="connsiteX10" fmla="*/ 372907 w 628567"/>
                  <a:gd name="connsiteY10" fmla="*/ 215687 h 476598"/>
                  <a:gd name="connsiteX11" fmla="*/ 255352 w 628567"/>
                  <a:gd name="connsiteY11" fmla="*/ 67803 h 476598"/>
                  <a:gd name="connsiteX12" fmla="*/ 273592 w 628567"/>
                  <a:gd name="connsiteY12" fmla="*/ 91427 h 476598"/>
                  <a:gd name="connsiteX13" fmla="*/ 273592 w 628567"/>
                  <a:gd name="connsiteY13" fmla="*/ 476598 h 476598"/>
                  <a:gd name="connsiteX14" fmla="*/ 177487 w 628567"/>
                  <a:gd name="connsiteY14" fmla="*/ 476598 h 476598"/>
                  <a:gd name="connsiteX15" fmla="*/ 177487 w 628567"/>
                  <a:gd name="connsiteY15" fmla="*/ 128679 h 476598"/>
                  <a:gd name="connsiteX16" fmla="*/ 628567 w 628567"/>
                  <a:gd name="connsiteY16" fmla="*/ 0 h 476598"/>
                  <a:gd name="connsiteX17" fmla="*/ 628567 w 628567"/>
                  <a:gd name="connsiteY17" fmla="*/ 476598 h 476598"/>
                  <a:gd name="connsiteX18" fmla="*/ 532462 w 628567"/>
                  <a:gd name="connsiteY18" fmla="*/ 476598 h 476598"/>
                  <a:gd name="connsiteX19" fmla="*/ 532462 w 628567"/>
                  <a:gd name="connsiteY19" fmla="*/ 81079 h 476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28567" h="476598">
                    <a:moveTo>
                      <a:pt x="96105" y="192304"/>
                    </a:moveTo>
                    <a:lnTo>
                      <a:pt x="96105" y="476598"/>
                    </a:lnTo>
                    <a:lnTo>
                      <a:pt x="0" y="476598"/>
                    </a:lnTo>
                    <a:lnTo>
                      <a:pt x="0" y="267440"/>
                    </a:lnTo>
                    <a:close/>
                    <a:moveTo>
                      <a:pt x="451079" y="149738"/>
                    </a:moveTo>
                    <a:lnTo>
                      <a:pt x="451079" y="476598"/>
                    </a:lnTo>
                    <a:lnTo>
                      <a:pt x="354974" y="476598"/>
                    </a:lnTo>
                    <a:lnTo>
                      <a:pt x="354974" y="196833"/>
                    </a:lnTo>
                    <a:lnTo>
                      <a:pt x="357633" y="200277"/>
                    </a:lnTo>
                    <a:lnTo>
                      <a:pt x="359009" y="199214"/>
                    </a:lnTo>
                    <a:lnTo>
                      <a:pt x="372907" y="215687"/>
                    </a:lnTo>
                    <a:close/>
                    <a:moveTo>
                      <a:pt x="255352" y="67803"/>
                    </a:moveTo>
                    <a:lnTo>
                      <a:pt x="273592" y="91427"/>
                    </a:lnTo>
                    <a:lnTo>
                      <a:pt x="273592" y="476598"/>
                    </a:lnTo>
                    <a:lnTo>
                      <a:pt x="177487" y="476598"/>
                    </a:lnTo>
                    <a:lnTo>
                      <a:pt x="177487" y="128679"/>
                    </a:lnTo>
                    <a:close/>
                    <a:moveTo>
                      <a:pt x="628567" y="0"/>
                    </a:moveTo>
                    <a:lnTo>
                      <a:pt x="628567" y="476598"/>
                    </a:lnTo>
                    <a:lnTo>
                      <a:pt x="532462" y="476598"/>
                    </a:lnTo>
                    <a:lnTo>
                      <a:pt x="532462" y="81079"/>
                    </a:lnTo>
                    <a:close/>
                  </a:path>
                </a:pathLst>
              </a:custGeom>
              <a:solidFill>
                <a:srgbClr val="666666">
                  <a:lumMod val="75000"/>
                </a:srgbClr>
              </a:solidFill>
              <a:ln w="25400" cap="flat" cmpd="sng" algn="ctr">
                <a:noFill/>
                <a:prstDash val="solid"/>
              </a:ln>
              <a:effectLst/>
            </p:spPr>
            <p:txBody>
              <a:bodyPr rot="0" spcFirstLastPara="0" vertOverflow="overflow" horzOverflow="overflow" vert="horz" wrap="square" lIns="91419" tIns="45709" rIns="91419" bIns="45709" numCol="1" spcCol="0" rtlCol="0" fromWordArt="0" anchor="ctr" anchorCtr="0" forceAA="0" compatLnSpc="1">
                <a:prstTxWarp prst="textNoShape">
                  <a:avLst/>
                </a:prstTxWarp>
                <a:noAutofit/>
              </a:bodyPr>
              <a:lstStyle/>
              <a:p>
                <a:pPr marL="0" marR="0" lvl="0" indent="0" algn="ctr" defTabSz="1219028"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任意多边形 86"/>
              <p:cNvSpPr/>
              <p:nvPr/>
            </p:nvSpPr>
            <p:spPr bwMode="gray">
              <a:xfrm rot="13790841">
                <a:off x="2083589" y="2733760"/>
                <a:ext cx="472008" cy="1144704"/>
              </a:xfrm>
              <a:custGeom>
                <a:avLst/>
                <a:gdLst>
                  <a:gd name="connsiteX0" fmla="*/ 97660 w 325915"/>
                  <a:gd name="connsiteY0" fmla="*/ 790400 h 790400"/>
                  <a:gd name="connsiteX1" fmla="*/ 0 w 325915"/>
                  <a:gd name="connsiteY1" fmla="*/ 664808 h 790400"/>
                  <a:gd name="connsiteX2" fmla="*/ 70970 w 325915"/>
                  <a:gd name="connsiteY2" fmla="*/ 664808 h 790400"/>
                  <a:gd name="connsiteX3" fmla="*/ 70970 w 325915"/>
                  <a:gd name="connsiteY3" fmla="*/ 320500 h 790400"/>
                  <a:gd name="connsiteX4" fmla="*/ 92523 w 325915"/>
                  <a:gd name="connsiteY4" fmla="*/ 320500 h 790400"/>
                  <a:gd name="connsiteX5" fmla="*/ 92598 w 325915"/>
                  <a:gd name="connsiteY5" fmla="*/ 318763 h 790400"/>
                  <a:gd name="connsiteX6" fmla="*/ 259805 w 325915"/>
                  <a:gd name="connsiteY6" fmla="*/ 326009 h 790400"/>
                  <a:gd name="connsiteX7" fmla="*/ 271953 w 325915"/>
                  <a:gd name="connsiteY7" fmla="*/ 0 h 790400"/>
                  <a:gd name="connsiteX8" fmla="*/ 325915 w 325915"/>
                  <a:gd name="connsiteY8" fmla="*/ 2011 h 790400"/>
                  <a:gd name="connsiteX9" fmla="*/ 311729 w 325915"/>
                  <a:gd name="connsiteY9" fmla="*/ 382747 h 790400"/>
                  <a:gd name="connsiteX10" fmla="*/ 257766 w 325915"/>
                  <a:gd name="connsiteY10" fmla="*/ 380736 h 790400"/>
                  <a:gd name="connsiteX11" fmla="*/ 257794 w 325915"/>
                  <a:gd name="connsiteY11" fmla="*/ 379973 h 790400"/>
                  <a:gd name="connsiteX12" fmla="*/ 124349 w 325915"/>
                  <a:gd name="connsiteY12" fmla="*/ 374190 h 790400"/>
                  <a:gd name="connsiteX13" fmla="*/ 124349 w 325915"/>
                  <a:gd name="connsiteY13" fmla="*/ 664808 h 790400"/>
                  <a:gd name="connsiteX14" fmla="*/ 195319 w 325915"/>
                  <a:gd name="connsiteY14" fmla="*/ 664808 h 79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5915" h="790400">
                    <a:moveTo>
                      <a:pt x="97660" y="790400"/>
                    </a:moveTo>
                    <a:lnTo>
                      <a:pt x="0" y="664808"/>
                    </a:lnTo>
                    <a:lnTo>
                      <a:pt x="70970" y="664808"/>
                    </a:lnTo>
                    <a:lnTo>
                      <a:pt x="70970" y="320500"/>
                    </a:lnTo>
                    <a:lnTo>
                      <a:pt x="92523" y="320500"/>
                    </a:lnTo>
                    <a:lnTo>
                      <a:pt x="92598" y="318763"/>
                    </a:lnTo>
                    <a:lnTo>
                      <a:pt x="259805" y="326009"/>
                    </a:lnTo>
                    <a:lnTo>
                      <a:pt x="271953" y="0"/>
                    </a:lnTo>
                    <a:lnTo>
                      <a:pt x="325915" y="2011"/>
                    </a:lnTo>
                    <a:lnTo>
                      <a:pt x="311729" y="382747"/>
                    </a:lnTo>
                    <a:lnTo>
                      <a:pt x="257766" y="380736"/>
                    </a:lnTo>
                    <a:lnTo>
                      <a:pt x="257794" y="379973"/>
                    </a:lnTo>
                    <a:lnTo>
                      <a:pt x="124349" y="374190"/>
                    </a:lnTo>
                    <a:lnTo>
                      <a:pt x="124349" y="664808"/>
                    </a:lnTo>
                    <a:lnTo>
                      <a:pt x="195319" y="664808"/>
                    </a:lnTo>
                    <a:close/>
                  </a:path>
                </a:pathLst>
              </a:custGeom>
              <a:solidFill>
                <a:sysClr val="window" lastClr="FFFFFF"/>
              </a:solidFill>
              <a:ln w="25400" cap="flat" cmpd="sng" algn="ctr">
                <a:noFill/>
                <a:prstDash val="solid"/>
              </a:ln>
              <a:effectLst/>
            </p:spPr>
            <p:txBody>
              <a:bodyPr rot="0" spcFirstLastPara="0" vertOverflow="overflow" horzOverflow="overflow" vert="horz" wrap="square" lIns="91419" tIns="45709" rIns="91419" bIns="45709" numCol="1" spcCol="0" rtlCol="0" fromWordArt="0" anchor="ctr" anchorCtr="0" forceAA="0" compatLnSpc="1">
                <a:prstTxWarp prst="textNoShape">
                  <a:avLst/>
                </a:prstTxWarp>
                <a:noAutofit/>
              </a:bodyPr>
              <a:lstStyle/>
              <a:p>
                <a:pPr marL="0" marR="0" lvl="0" indent="0" algn="ctr" defTabSz="1219028"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8" name="组合 47"/>
              <p:cNvGrpSpPr/>
              <p:nvPr/>
            </p:nvGrpSpPr>
            <p:grpSpPr bwMode="gray">
              <a:xfrm>
                <a:off x="1457819" y="2103400"/>
                <a:ext cx="1723549" cy="2116711"/>
                <a:chOff x="1457819" y="2103400"/>
                <a:chExt cx="1723549" cy="2116711"/>
              </a:xfrm>
            </p:grpSpPr>
            <p:sp>
              <p:nvSpPr>
                <p:cNvPr id="28" name="矩形 27"/>
                <p:cNvSpPr/>
                <p:nvPr/>
              </p:nvSpPr>
              <p:spPr bwMode="gray">
                <a:xfrm>
                  <a:off x="1457819" y="2103400"/>
                  <a:ext cx="1723549" cy="400110"/>
                </a:xfrm>
                <a:prstGeom prst="rect">
                  <a:avLst/>
                </a:prstGeom>
              </p:spPr>
              <p:txBody>
                <a:bodyPr wrap="none">
                  <a:spAutoFit/>
                </a:bodyPr>
                <a:lstStyle/>
                <a:p>
                  <a:pPr marL="0" marR="0" lvl="0" indent="0" algn="ctr" defTabSz="1219028" eaLnBrk="1" fontAlgn="base" latinLnBrk="0" hangingPunct="1">
                    <a:lnSpc>
                      <a:spcPct val="100000"/>
                    </a:lnSpc>
                    <a:spcBef>
                      <a:spcPct val="0"/>
                    </a:spcBef>
                    <a:spcAft>
                      <a:spcPct val="0"/>
                    </a:spcAft>
                    <a:buClr>
                      <a:srgbClr val="CC9900"/>
                    </a:buClr>
                    <a:buSzTx/>
                    <a:buFontTx/>
                    <a:buNone/>
                    <a:tabLst/>
                    <a:defRPr/>
                  </a:pPr>
                  <a:r>
                    <a:rPr kumimoji="1" lang="zh-CN" altLang="en-US" sz="2000" b="1" i="0" u="none" strike="noStrike" kern="0" cap="none" spc="0" normalizeH="0" baseline="0" noProof="0" dirty="0">
                      <a:ln>
                        <a:noFill/>
                      </a:ln>
                      <a:solidFill>
                        <a:srgbClr val="30B5C5"/>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联接无处不在</a:t>
                  </a:r>
                  <a:endParaRPr kumimoji="1" lang="en-US" altLang="zh-CN" sz="2000" b="1" i="0" u="none" strike="noStrike" kern="0" cap="none" spc="0" normalizeH="0" baseline="0" noProof="0" dirty="0">
                    <a:ln>
                      <a:noFill/>
                    </a:ln>
                    <a:solidFill>
                      <a:srgbClr val="30B5C5"/>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5" name="组合 44"/>
                <p:cNvGrpSpPr/>
                <p:nvPr/>
              </p:nvGrpSpPr>
              <p:grpSpPr bwMode="gray">
                <a:xfrm>
                  <a:off x="1560308" y="2757827"/>
                  <a:ext cx="1505239" cy="1462284"/>
                  <a:chOff x="1560308" y="2757827"/>
                  <a:chExt cx="1505239" cy="1462284"/>
                </a:xfrm>
              </p:grpSpPr>
              <p:sp>
                <p:nvSpPr>
                  <p:cNvPr id="29" name="椭圆 28">
                    <a:extLst>
                      <a:ext uri="{FF2B5EF4-FFF2-40B4-BE49-F238E27FC236}">
                        <a16:creationId xmlns:a16="http://schemas.microsoft.com/office/drawing/2014/main" id="{8F387102-E817-4CFB-9E15-DB2712D97A23}"/>
                      </a:ext>
                    </a:extLst>
                  </p:cNvPr>
                  <p:cNvSpPr>
                    <a:spLocks/>
                  </p:cNvSpPr>
                  <p:nvPr/>
                </p:nvSpPr>
                <p:spPr bwMode="gray">
                  <a:xfrm>
                    <a:off x="1560308" y="2757827"/>
                    <a:ext cx="1505239" cy="1462284"/>
                  </a:xfrm>
                  <a:prstGeom prst="ellipse">
                    <a:avLst/>
                  </a:prstGeom>
                  <a:solidFill>
                    <a:sysClr val="window" lastClr="FFFFFF"/>
                  </a:solidFill>
                  <a:ln w="19050" cap="flat" cmpd="sng" algn="ctr">
                    <a:solidFill>
                      <a:srgbClr val="30B5C5"/>
                    </a:solidFill>
                    <a:prstDash val="solid"/>
                    <a:round/>
                    <a:headEnd type="none" w="med" len="med"/>
                    <a:tailEnd type="none" w="med" len="med"/>
                  </a:ln>
                  <a:effectLst/>
                </p:spPr>
                <p:txBody>
                  <a:bodyPr vert="horz" wrap="square" lIns="91419" tIns="45709" rIns="91419" bIns="45709" numCol="1" rtlCol="0" anchor="t" anchorCtr="0" compatLnSpc="1">
                    <a:prstTxWarp prst="textNoShape">
                      <a:avLst/>
                    </a:prstTxWarp>
                  </a:bodyPr>
                  <a:lstStyle/>
                  <a:p>
                    <a:pPr marL="0" marR="0" lvl="0" indent="0" defTabSz="914217"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1" i="0" u="none" strike="noStrike" kern="0" cap="none" spc="0" normalizeH="0" baseline="0" noProof="0" dirty="0">
                      <a:ln>
                        <a:noFill/>
                      </a:ln>
                      <a:solidFill>
                        <a:srgbClr val="1D1D1B"/>
                      </a:solidFill>
                      <a:effectLst/>
                      <a:uLnTx/>
                      <a:uFillTx/>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31" name="Freeform 5"/>
                  <p:cNvSpPr>
                    <a:spLocks noEditPoints="1"/>
                  </p:cNvSpPr>
                  <p:nvPr/>
                </p:nvSpPr>
                <p:spPr bwMode="gray">
                  <a:xfrm>
                    <a:off x="1984824" y="3165007"/>
                    <a:ext cx="669538" cy="647924"/>
                  </a:xfrm>
                  <a:custGeom>
                    <a:avLst/>
                    <a:gdLst>
                      <a:gd name="T0" fmla="*/ 2147483646 w 667"/>
                      <a:gd name="T1" fmla="*/ 2147483646 h 646"/>
                      <a:gd name="T2" fmla="*/ 2147483646 w 667"/>
                      <a:gd name="T3" fmla="*/ 2147483646 h 646"/>
                      <a:gd name="T4" fmla="*/ 0 w 667"/>
                      <a:gd name="T5" fmla="*/ 2147483646 h 646"/>
                      <a:gd name="T6" fmla="*/ 2147483646 w 667"/>
                      <a:gd name="T7" fmla="*/ 2147483646 h 646"/>
                      <a:gd name="T8" fmla="*/ 2147483646 w 667"/>
                      <a:gd name="T9" fmla="*/ 2147483646 h 646"/>
                      <a:gd name="T10" fmla="*/ 2147483646 w 667"/>
                      <a:gd name="T11" fmla="*/ 2147483646 h 646"/>
                      <a:gd name="T12" fmla="*/ 2147483646 w 667"/>
                      <a:gd name="T13" fmla="*/ 2147483646 h 646"/>
                      <a:gd name="T14" fmla="*/ 2147483646 w 667"/>
                      <a:gd name="T15" fmla="*/ 2147483646 h 646"/>
                      <a:gd name="T16" fmla="*/ 2147483646 w 667"/>
                      <a:gd name="T17" fmla="*/ 2147483646 h 646"/>
                      <a:gd name="T18" fmla="*/ 2147483646 w 667"/>
                      <a:gd name="T19" fmla="*/ 2147483646 h 646"/>
                      <a:gd name="T20" fmla="*/ 2147483646 w 667"/>
                      <a:gd name="T21" fmla="*/ 2147483646 h 646"/>
                      <a:gd name="T22" fmla="*/ 2147483646 w 667"/>
                      <a:gd name="T23" fmla="*/ 2147483646 h 646"/>
                      <a:gd name="T24" fmla="*/ 2147483646 w 667"/>
                      <a:gd name="T25" fmla="*/ 2147483646 h 646"/>
                      <a:gd name="T26" fmla="*/ 2147483646 w 667"/>
                      <a:gd name="T27" fmla="*/ 2147483646 h 646"/>
                      <a:gd name="T28" fmla="*/ 2147483646 w 667"/>
                      <a:gd name="T29" fmla="*/ 2147483646 h 646"/>
                      <a:gd name="T30" fmla="*/ 2147483646 w 667"/>
                      <a:gd name="T31" fmla="*/ 2147483646 h 646"/>
                      <a:gd name="T32" fmla="*/ 2147483646 w 667"/>
                      <a:gd name="T33" fmla="*/ 2147483646 h 646"/>
                      <a:gd name="T34" fmla="*/ 2147483646 w 667"/>
                      <a:gd name="T35" fmla="*/ 2147483646 h 646"/>
                      <a:gd name="T36" fmla="*/ 2147483646 w 667"/>
                      <a:gd name="T37" fmla="*/ 2147483646 h 646"/>
                      <a:gd name="T38" fmla="*/ 2147483646 w 667"/>
                      <a:gd name="T39" fmla="*/ 2147483646 h 646"/>
                      <a:gd name="T40" fmla="*/ 2147483646 w 667"/>
                      <a:gd name="T41" fmla="*/ 2147483646 h 646"/>
                      <a:gd name="T42" fmla="*/ 2147483646 w 667"/>
                      <a:gd name="T43" fmla="*/ 2147483646 h 646"/>
                      <a:gd name="T44" fmla="*/ 2147483646 w 667"/>
                      <a:gd name="T45" fmla="*/ 2147483646 h 646"/>
                      <a:gd name="T46" fmla="*/ 2147483646 w 667"/>
                      <a:gd name="T47" fmla="*/ 2147483646 h 646"/>
                      <a:gd name="T48" fmla="*/ 2147483646 w 667"/>
                      <a:gd name="T49" fmla="*/ 2147483646 h 646"/>
                      <a:gd name="T50" fmla="*/ 2147483646 w 667"/>
                      <a:gd name="T51" fmla="*/ 2147483646 h 646"/>
                      <a:gd name="T52" fmla="*/ 2147483646 w 667"/>
                      <a:gd name="T53" fmla="*/ 2147483646 h 646"/>
                      <a:gd name="T54" fmla="*/ 2147483646 w 667"/>
                      <a:gd name="T55" fmla="*/ 2147483646 h 646"/>
                      <a:gd name="T56" fmla="*/ 2147483646 w 667"/>
                      <a:gd name="T57" fmla="*/ 2147483646 h 646"/>
                      <a:gd name="T58" fmla="*/ 2147483646 w 667"/>
                      <a:gd name="T59" fmla="*/ 2147483646 h 646"/>
                      <a:gd name="T60" fmla="*/ 2147483646 w 667"/>
                      <a:gd name="T61" fmla="*/ 2147483646 h 646"/>
                      <a:gd name="T62" fmla="*/ 2147483646 w 667"/>
                      <a:gd name="T63" fmla="*/ 2147483646 h 646"/>
                      <a:gd name="T64" fmla="*/ 2147483646 w 667"/>
                      <a:gd name="T65" fmla="*/ 2147483646 h 646"/>
                      <a:gd name="T66" fmla="*/ 2147483646 w 667"/>
                      <a:gd name="T67" fmla="*/ 2147483646 h 646"/>
                      <a:gd name="T68" fmla="*/ 2147483646 w 667"/>
                      <a:gd name="T69" fmla="*/ 2147483646 h 646"/>
                      <a:gd name="T70" fmla="*/ 2147483646 w 667"/>
                      <a:gd name="T71" fmla="*/ 2147483646 h 646"/>
                      <a:gd name="T72" fmla="*/ 2147483646 w 667"/>
                      <a:gd name="T73" fmla="*/ 2147483646 h 646"/>
                      <a:gd name="T74" fmla="*/ 2147483646 w 667"/>
                      <a:gd name="T75" fmla="*/ 2147483646 h 646"/>
                      <a:gd name="T76" fmla="*/ 2147483646 w 667"/>
                      <a:gd name="T77" fmla="*/ 2147483646 h 646"/>
                      <a:gd name="T78" fmla="*/ 2147483646 w 667"/>
                      <a:gd name="T79" fmla="*/ 2147483646 h 646"/>
                      <a:gd name="T80" fmla="*/ 2147483646 w 667"/>
                      <a:gd name="T81" fmla="*/ 2147483646 h 646"/>
                      <a:gd name="T82" fmla="*/ 2147483646 w 667"/>
                      <a:gd name="T83" fmla="*/ 2147483646 h 646"/>
                      <a:gd name="T84" fmla="*/ 2147483646 w 667"/>
                      <a:gd name="T85" fmla="*/ 2147483646 h 646"/>
                      <a:gd name="T86" fmla="*/ 2147483646 w 667"/>
                      <a:gd name="T87" fmla="*/ 2147483646 h 646"/>
                      <a:gd name="T88" fmla="*/ 2147483646 w 667"/>
                      <a:gd name="T89" fmla="*/ 2147483646 h 646"/>
                      <a:gd name="T90" fmla="*/ 2147483646 w 667"/>
                      <a:gd name="T91" fmla="*/ 2147483646 h 646"/>
                      <a:gd name="T92" fmla="*/ 2147483646 w 667"/>
                      <a:gd name="T93" fmla="*/ 2147483646 h 646"/>
                      <a:gd name="T94" fmla="*/ 2147483646 w 667"/>
                      <a:gd name="T95" fmla="*/ 2147483646 h 646"/>
                      <a:gd name="T96" fmla="*/ 2147483646 w 667"/>
                      <a:gd name="T97" fmla="*/ 2147483646 h 64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667"/>
                      <a:gd name="T148" fmla="*/ 0 h 646"/>
                      <a:gd name="T149" fmla="*/ 667 w 667"/>
                      <a:gd name="T150" fmla="*/ 646 h 64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667" h="646">
                        <a:moveTo>
                          <a:pt x="44" y="155"/>
                        </a:moveTo>
                        <a:cubicBezTo>
                          <a:pt x="44" y="113"/>
                          <a:pt x="60" y="71"/>
                          <a:pt x="92" y="39"/>
                        </a:cubicBezTo>
                        <a:cubicBezTo>
                          <a:pt x="92" y="39"/>
                          <a:pt x="92" y="39"/>
                          <a:pt x="92" y="39"/>
                        </a:cubicBezTo>
                        <a:cubicBezTo>
                          <a:pt x="101" y="31"/>
                          <a:pt x="101" y="17"/>
                          <a:pt x="92" y="8"/>
                        </a:cubicBezTo>
                        <a:cubicBezTo>
                          <a:pt x="83" y="0"/>
                          <a:pt x="70" y="0"/>
                          <a:pt x="61" y="8"/>
                        </a:cubicBezTo>
                        <a:cubicBezTo>
                          <a:pt x="21" y="49"/>
                          <a:pt x="0" y="102"/>
                          <a:pt x="0" y="155"/>
                        </a:cubicBezTo>
                        <a:cubicBezTo>
                          <a:pt x="0" y="208"/>
                          <a:pt x="21" y="261"/>
                          <a:pt x="61" y="302"/>
                        </a:cubicBezTo>
                        <a:cubicBezTo>
                          <a:pt x="65" y="306"/>
                          <a:pt x="71" y="308"/>
                          <a:pt x="77" y="308"/>
                        </a:cubicBezTo>
                        <a:cubicBezTo>
                          <a:pt x="82" y="308"/>
                          <a:pt x="88" y="306"/>
                          <a:pt x="92" y="302"/>
                        </a:cubicBezTo>
                        <a:cubicBezTo>
                          <a:pt x="101" y="293"/>
                          <a:pt x="101" y="279"/>
                          <a:pt x="92" y="271"/>
                        </a:cubicBezTo>
                        <a:cubicBezTo>
                          <a:pt x="60" y="239"/>
                          <a:pt x="44" y="197"/>
                          <a:pt x="44" y="155"/>
                        </a:cubicBezTo>
                        <a:close/>
                        <a:moveTo>
                          <a:pt x="442" y="196"/>
                        </a:moveTo>
                        <a:cubicBezTo>
                          <a:pt x="446" y="201"/>
                          <a:pt x="451" y="203"/>
                          <a:pt x="457" y="203"/>
                        </a:cubicBezTo>
                        <a:cubicBezTo>
                          <a:pt x="463" y="203"/>
                          <a:pt x="468" y="201"/>
                          <a:pt x="473" y="196"/>
                        </a:cubicBezTo>
                        <a:cubicBezTo>
                          <a:pt x="484" y="185"/>
                          <a:pt x="490" y="170"/>
                          <a:pt x="490" y="155"/>
                        </a:cubicBezTo>
                        <a:cubicBezTo>
                          <a:pt x="490" y="140"/>
                          <a:pt x="484" y="125"/>
                          <a:pt x="473" y="113"/>
                        </a:cubicBezTo>
                        <a:cubicBezTo>
                          <a:pt x="464" y="105"/>
                          <a:pt x="450" y="105"/>
                          <a:pt x="442" y="113"/>
                        </a:cubicBezTo>
                        <a:cubicBezTo>
                          <a:pt x="433" y="122"/>
                          <a:pt x="433" y="136"/>
                          <a:pt x="442" y="144"/>
                        </a:cubicBezTo>
                        <a:cubicBezTo>
                          <a:pt x="442" y="144"/>
                          <a:pt x="442" y="144"/>
                          <a:pt x="442" y="144"/>
                        </a:cubicBezTo>
                        <a:cubicBezTo>
                          <a:pt x="445" y="147"/>
                          <a:pt x="446" y="151"/>
                          <a:pt x="446" y="155"/>
                        </a:cubicBezTo>
                        <a:cubicBezTo>
                          <a:pt x="446" y="159"/>
                          <a:pt x="444" y="162"/>
                          <a:pt x="442" y="165"/>
                        </a:cubicBezTo>
                        <a:cubicBezTo>
                          <a:pt x="433" y="174"/>
                          <a:pt x="433" y="188"/>
                          <a:pt x="442" y="196"/>
                        </a:cubicBezTo>
                        <a:close/>
                        <a:moveTo>
                          <a:pt x="131" y="155"/>
                        </a:moveTo>
                        <a:cubicBezTo>
                          <a:pt x="131" y="134"/>
                          <a:pt x="139" y="113"/>
                          <a:pt x="155" y="97"/>
                        </a:cubicBezTo>
                        <a:cubicBezTo>
                          <a:pt x="155" y="97"/>
                          <a:pt x="155" y="97"/>
                          <a:pt x="155" y="97"/>
                        </a:cubicBezTo>
                        <a:cubicBezTo>
                          <a:pt x="164" y="88"/>
                          <a:pt x="164" y="74"/>
                          <a:pt x="155" y="66"/>
                        </a:cubicBezTo>
                        <a:cubicBezTo>
                          <a:pt x="147" y="57"/>
                          <a:pt x="133" y="57"/>
                          <a:pt x="125" y="66"/>
                        </a:cubicBezTo>
                        <a:cubicBezTo>
                          <a:pt x="100" y="90"/>
                          <a:pt x="88" y="123"/>
                          <a:pt x="88" y="155"/>
                        </a:cubicBezTo>
                        <a:cubicBezTo>
                          <a:pt x="88" y="187"/>
                          <a:pt x="100" y="220"/>
                          <a:pt x="125" y="244"/>
                        </a:cubicBezTo>
                        <a:cubicBezTo>
                          <a:pt x="129" y="248"/>
                          <a:pt x="134" y="251"/>
                          <a:pt x="140" y="251"/>
                        </a:cubicBezTo>
                        <a:cubicBezTo>
                          <a:pt x="146" y="251"/>
                          <a:pt x="151" y="248"/>
                          <a:pt x="155" y="244"/>
                        </a:cubicBezTo>
                        <a:cubicBezTo>
                          <a:pt x="164" y="236"/>
                          <a:pt x="164" y="222"/>
                          <a:pt x="156" y="213"/>
                        </a:cubicBezTo>
                        <a:cubicBezTo>
                          <a:pt x="139" y="197"/>
                          <a:pt x="131" y="176"/>
                          <a:pt x="131" y="155"/>
                        </a:cubicBezTo>
                        <a:close/>
                        <a:moveTo>
                          <a:pt x="210" y="203"/>
                        </a:moveTo>
                        <a:cubicBezTo>
                          <a:pt x="216" y="203"/>
                          <a:pt x="221" y="201"/>
                          <a:pt x="225" y="196"/>
                        </a:cubicBezTo>
                        <a:cubicBezTo>
                          <a:pt x="234" y="188"/>
                          <a:pt x="234" y="174"/>
                          <a:pt x="225" y="165"/>
                        </a:cubicBezTo>
                        <a:cubicBezTo>
                          <a:pt x="223" y="162"/>
                          <a:pt x="221" y="159"/>
                          <a:pt x="221" y="155"/>
                        </a:cubicBezTo>
                        <a:cubicBezTo>
                          <a:pt x="221" y="151"/>
                          <a:pt x="223" y="147"/>
                          <a:pt x="225" y="144"/>
                        </a:cubicBezTo>
                        <a:cubicBezTo>
                          <a:pt x="225" y="144"/>
                          <a:pt x="225" y="144"/>
                          <a:pt x="225" y="144"/>
                        </a:cubicBezTo>
                        <a:cubicBezTo>
                          <a:pt x="234" y="136"/>
                          <a:pt x="234" y="122"/>
                          <a:pt x="225" y="113"/>
                        </a:cubicBezTo>
                        <a:cubicBezTo>
                          <a:pt x="217" y="105"/>
                          <a:pt x="203" y="105"/>
                          <a:pt x="195" y="113"/>
                        </a:cubicBezTo>
                        <a:cubicBezTo>
                          <a:pt x="183" y="125"/>
                          <a:pt x="177" y="140"/>
                          <a:pt x="177" y="155"/>
                        </a:cubicBezTo>
                        <a:cubicBezTo>
                          <a:pt x="177" y="170"/>
                          <a:pt x="183" y="185"/>
                          <a:pt x="194" y="196"/>
                        </a:cubicBezTo>
                        <a:cubicBezTo>
                          <a:pt x="199" y="201"/>
                          <a:pt x="204" y="203"/>
                          <a:pt x="210" y="203"/>
                        </a:cubicBezTo>
                        <a:close/>
                        <a:moveTo>
                          <a:pt x="543" y="66"/>
                        </a:moveTo>
                        <a:cubicBezTo>
                          <a:pt x="534" y="57"/>
                          <a:pt x="520" y="57"/>
                          <a:pt x="512" y="66"/>
                        </a:cubicBezTo>
                        <a:cubicBezTo>
                          <a:pt x="503" y="74"/>
                          <a:pt x="503" y="88"/>
                          <a:pt x="512" y="97"/>
                        </a:cubicBezTo>
                        <a:cubicBezTo>
                          <a:pt x="512" y="97"/>
                          <a:pt x="512" y="97"/>
                          <a:pt x="512" y="97"/>
                        </a:cubicBezTo>
                        <a:cubicBezTo>
                          <a:pt x="528" y="113"/>
                          <a:pt x="536" y="134"/>
                          <a:pt x="536" y="155"/>
                        </a:cubicBezTo>
                        <a:cubicBezTo>
                          <a:pt x="536" y="176"/>
                          <a:pt x="528" y="197"/>
                          <a:pt x="512" y="213"/>
                        </a:cubicBezTo>
                        <a:cubicBezTo>
                          <a:pt x="503" y="222"/>
                          <a:pt x="503" y="236"/>
                          <a:pt x="512" y="244"/>
                        </a:cubicBezTo>
                        <a:cubicBezTo>
                          <a:pt x="516" y="248"/>
                          <a:pt x="521" y="251"/>
                          <a:pt x="527" y="251"/>
                        </a:cubicBezTo>
                        <a:cubicBezTo>
                          <a:pt x="533" y="251"/>
                          <a:pt x="538" y="248"/>
                          <a:pt x="543" y="244"/>
                        </a:cubicBezTo>
                        <a:cubicBezTo>
                          <a:pt x="567" y="220"/>
                          <a:pt x="580" y="187"/>
                          <a:pt x="580" y="155"/>
                        </a:cubicBezTo>
                        <a:cubicBezTo>
                          <a:pt x="580" y="123"/>
                          <a:pt x="567" y="90"/>
                          <a:pt x="543" y="66"/>
                        </a:cubicBezTo>
                        <a:close/>
                        <a:moveTo>
                          <a:pt x="373" y="202"/>
                        </a:moveTo>
                        <a:cubicBezTo>
                          <a:pt x="385" y="192"/>
                          <a:pt x="393" y="175"/>
                          <a:pt x="393" y="158"/>
                        </a:cubicBezTo>
                        <a:cubicBezTo>
                          <a:pt x="393" y="125"/>
                          <a:pt x="366" y="98"/>
                          <a:pt x="334" y="98"/>
                        </a:cubicBezTo>
                        <a:cubicBezTo>
                          <a:pt x="301" y="98"/>
                          <a:pt x="274" y="125"/>
                          <a:pt x="274" y="158"/>
                        </a:cubicBezTo>
                        <a:cubicBezTo>
                          <a:pt x="274" y="175"/>
                          <a:pt x="282" y="192"/>
                          <a:pt x="294" y="202"/>
                        </a:cubicBezTo>
                        <a:cubicBezTo>
                          <a:pt x="173" y="627"/>
                          <a:pt x="173" y="627"/>
                          <a:pt x="173" y="627"/>
                        </a:cubicBezTo>
                        <a:cubicBezTo>
                          <a:pt x="170" y="638"/>
                          <a:pt x="176" y="646"/>
                          <a:pt x="187" y="646"/>
                        </a:cubicBezTo>
                        <a:cubicBezTo>
                          <a:pt x="192" y="646"/>
                          <a:pt x="192" y="646"/>
                          <a:pt x="192" y="646"/>
                        </a:cubicBezTo>
                        <a:cubicBezTo>
                          <a:pt x="203" y="646"/>
                          <a:pt x="215" y="638"/>
                          <a:pt x="219" y="628"/>
                        </a:cubicBezTo>
                        <a:cubicBezTo>
                          <a:pt x="250" y="552"/>
                          <a:pt x="250" y="552"/>
                          <a:pt x="250" y="552"/>
                        </a:cubicBezTo>
                        <a:cubicBezTo>
                          <a:pt x="252" y="547"/>
                          <a:pt x="257" y="544"/>
                          <a:pt x="262" y="544"/>
                        </a:cubicBezTo>
                        <a:cubicBezTo>
                          <a:pt x="405" y="544"/>
                          <a:pt x="405" y="544"/>
                          <a:pt x="405" y="544"/>
                        </a:cubicBezTo>
                        <a:cubicBezTo>
                          <a:pt x="410" y="544"/>
                          <a:pt x="415" y="547"/>
                          <a:pt x="417" y="552"/>
                        </a:cubicBezTo>
                        <a:cubicBezTo>
                          <a:pt x="448" y="628"/>
                          <a:pt x="448" y="628"/>
                          <a:pt x="448" y="628"/>
                        </a:cubicBezTo>
                        <a:cubicBezTo>
                          <a:pt x="452" y="638"/>
                          <a:pt x="464" y="646"/>
                          <a:pt x="475" y="646"/>
                        </a:cubicBezTo>
                        <a:cubicBezTo>
                          <a:pt x="480" y="646"/>
                          <a:pt x="480" y="646"/>
                          <a:pt x="480" y="646"/>
                        </a:cubicBezTo>
                        <a:cubicBezTo>
                          <a:pt x="491" y="646"/>
                          <a:pt x="497" y="638"/>
                          <a:pt x="494" y="627"/>
                        </a:cubicBezTo>
                        <a:lnTo>
                          <a:pt x="373" y="202"/>
                        </a:lnTo>
                        <a:close/>
                        <a:moveTo>
                          <a:pt x="297" y="378"/>
                        </a:moveTo>
                        <a:cubicBezTo>
                          <a:pt x="370" y="378"/>
                          <a:pt x="370" y="378"/>
                          <a:pt x="370" y="378"/>
                        </a:cubicBezTo>
                        <a:cubicBezTo>
                          <a:pt x="379" y="378"/>
                          <a:pt x="387" y="386"/>
                          <a:pt x="387" y="396"/>
                        </a:cubicBezTo>
                        <a:cubicBezTo>
                          <a:pt x="387" y="405"/>
                          <a:pt x="379" y="413"/>
                          <a:pt x="370" y="413"/>
                        </a:cubicBezTo>
                        <a:cubicBezTo>
                          <a:pt x="297" y="413"/>
                          <a:pt x="297" y="413"/>
                          <a:pt x="297" y="413"/>
                        </a:cubicBezTo>
                        <a:cubicBezTo>
                          <a:pt x="288" y="413"/>
                          <a:pt x="280" y="405"/>
                          <a:pt x="280" y="396"/>
                        </a:cubicBezTo>
                        <a:cubicBezTo>
                          <a:pt x="280" y="386"/>
                          <a:pt x="288" y="378"/>
                          <a:pt x="297" y="378"/>
                        </a:cubicBezTo>
                        <a:close/>
                        <a:moveTo>
                          <a:pt x="384" y="488"/>
                        </a:moveTo>
                        <a:cubicBezTo>
                          <a:pt x="283" y="488"/>
                          <a:pt x="283" y="488"/>
                          <a:pt x="283" y="488"/>
                        </a:cubicBezTo>
                        <a:cubicBezTo>
                          <a:pt x="273" y="488"/>
                          <a:pt x="265" y="480"/>
                          <a:pt x="265" y="470"/>
                        </a:cubicBezTo>
                        <a:cubicBezTo>
                          <a:pt x="265" y="461"/>
                          <a:pt x="273" y="453"/>
                          <a:pt x="283" y="453"/>
                        </a:cubicBezTo>
                        <a:cubicBezTo>
                          <a:pt x="384" y="453"/>
                          <a:pt x="384" y="453"/>
                          <a:pt x="384" y="453"/>
                        </a:cubicBezTo>
                        <a:cubicBezTo>
                          <a:pt x="394" y="453"/>
                          <a:pt x="402" y="461"/>
                          <a:pt x="402" y="470"/>
                        </a:cubicBezTo>
                        <a:cubicBezTo>
                          <a:pt x="402" y="480"/>
                          <a:pt x="394" y="488"/>
                          <a:pt x="384" y="488"/>
                        </a:cubicBezTo>
                        <a:close/>
                        <a:moveTo>
                          <a:pt x="606" y="8"/>
                        </a:moveTo>
                        <a:cubicBezTo>
                          <a:pt x="597" y="0"/>
                          <a:pt x="584" y="0"/>
                          <a:pt x="575" y="8"/>
                        </a:cubicBezTo>
                        <a:cubicBezTo>
                          <a:pt x="566" y="17"/>
                          <a:pt x="566" y="31"/>
                          <a:pt x="575" y="39"/>
                        </a:cubicBezTo>
                        <a:cubicBezTo>
                          <a:pt x="575" y="39"/>
                          <a:pt x="575" y="39"/>
                          <a:pt x="575" y="39"/>
                        </a:cubicBezTo>
                        <a:cubicBezTo>
                          <a:pt x="607" y="71"/>
                          <a:pt x="623" y="113"/>
                          <a:pt x="623" y="155"/>
                        </a:cubicBezTo>
                        <a:cubicBezTo>
                          <a:pt x="623" y="197"/>
                          <a:pt x="607" y="239"/>
                          <a:pt x="575" y="271"/>
                        </a:cubicBezTo>
                        <a:cubicBezTo>
                          <a:pt x="566" y="279"/>
                          <a:pt x="566" y="293"/>
                          <a:pt x="575" y="302"/>
                        </a:cubicBezTo>
                        <a:cubicBezTo>
                          <a:pt x="579" y="306"/>
                          <a:pt x="585" y="308"/>
                          <a:pt x="591" y="308"/>
                        </a:cubicBezTo>
                        <a:cubicBezTo>
                          <a:pt x="596" y="308"/>
                          <a:pt x="602" y="306"/>
                          <a:pt x="606" y="302"/>
                        </a:cubicBezTo>
                        <a:cubicBezTo>
                          <a:pt x="647" y="261"/>
                          <a:pt x="667" y="208"/>
                          <a:pt x="667" y="155"/>
                        </a:cubicBezTo>
                        <a:cubicBezTo>
                          <a:pt x="667" y="102"/>
                          <a:pt x="647" y="49"/>
                          <a:pt x="606" y="8"/>
                        </a:cubicBezTo>
                        <a:close/>
                      </a:path>
                    </a:pathLst>
                  </a:custGeom>
                  <a:solidFill>
                    <a:srgbClr val="666666">
                      <a:lumMod val="75000"/>
                    </a:srgbClr>
                  </a:solidFill>
                  <a:ln>
                    <a:noFill/>
                  </a:ln>
                </p:spPr>
                <p:txBody>
                  <a:bodyPr lIns="27645" tIns="13822" rIns="27645" bIns="13822"/>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grpSp>
      <p:grpSp>
        <p:nvGrpSpPr>
          <p:cNvPr id="4" name="组合 3"/>
          <p:cNvGrpSpPr/>
          <p:nvPr/>
        </p:nvGrpSpPr>
        <p:grpSpPr bwMode="gray">
          <a:xfrm>
            <a:off x="5755604" y="2066788"/>
            <a:ext cx="3127779" cy="3176435"/>
            <a:chOff x="6347407" y="2106651"/>
            <a:chExt cx="3127779" cy="3176435"/>
          </a:xfrm>
        </p:grpSpPr>
        <p:sp>
          <p:nvSpPr>
            <p:cNvPr id="34" name="矩形 33"/>
            <p:cNvSpPr/>
            <p:nvPr/>
          </p:nvSpPr>
          <p:spPr bwMode="gray">
            <a:xfrm>
              <a:off x="6347407" y="4489856"/>
              <a:ext cx="3127779" cy="793230"/>
            </a:xfrm>
            <a:prstGeom prst="rect">
              <a:avLst/>
            </a:prstGeom>
          </p:spPr>
          <p:txBody>
            <a:bodyPr wrap="none">
              <a:spAutoFit/>
            </a:bodyPr>
            <a:lstStyle/>
            <a:p>
              <a:pPr marL="285693" marR="0" lvl="0" indent="-285693" defTabSz="1219028" eaLnBrk="1" fontAlgn="base" latinLnBrk="0" hangingPunct="1">
                <a:lnSpc>
                  <a:spcPct val="150000"/>
                </a:lnSpc>
                <a:spcBef>
                  <a:spcPct val="0"/>
                </a:spcBef>
                <a:spcAft>
                  <a:spcPct val="0"/>
                </a:spcAft>
                <a:buClr>
                  <a:prstClr val="black"/>
                </a:buClr>
                <a:buSzTx/>
                <a:buFont typeface="Arial" panose="020B0604020202020204" pitchFamily="34" charset="0"/>
                <a:buChar char="•"/>
                <a:tabLst/>
                <a:defRPr/>
              </a:pPr>
              <a:r>
                <a:rPr kumimoji="1" lang="zh-CN" altLang="en-US" sz="1600" kern="0" noProof="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rPr>
                <a:t>精确测量与评估用户体验</a:t>
              </a:r>
              <a:endParaRPr kumimoji="1" lang="en-US" altLang="zh-CN" sz="1600" b="0" i="0" u="none" strike="noStrike" kern="0" cap="none" spc="0" normalizeH="0" baseline="0" noProof="0" dirty="0">
                <a:ln>
                  <a:noFill/>
                </a:ln>
                <a:solidFill>
                  <a:srgbClr val="1D1D1B"/>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285693" marR="0" lvl="0" indent="-285693" defTabSz="1219028" eaLnBrk="1" fontAlgn="base" latinLnBrk="0" hangingPunct="1">
                <a:lnSpc>
                  <a:spcPct val="150000"/>
                </a:lnSpc>
                <a:spcBef>
                  <a:spcPct val="0"/>
                </a:spcBef>
                <a:spcAft>
                  <a:spcPct val="0"/>
                </a:spcAft>
                <a:buClr>
                  <a:prstClr val="black"/>
                </a:buClr>
                <a:buSzTx/>
                <a:buFont typeface="Arial" panose="020B0604020202020204" pitchFamily="34" charset="0"/>
                <a:buChar char="•"/>
                <a:tabLst/>
                <a:defRPr/>
              </a:pPr>
              <a:r>
                <a:rPr kumimoji="1" lang="zh-CN" altLang="en-US" sz="1600" kern="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rPr>
                <a:t>通过</a:t>
              </a:r>
              <a:r>
                <a:rPr kumimoji="1" lang="en-US" altLang="zh-CN" sz="1600" kern="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rPr>
                <a:t>AI</a:t>
              </a:r>
              <a:r>
                <a:rPr kumimoji="1" lang="zh-CN" altLang="en-US" sz="1600" kern="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rPr>
                <a:t>技术自动调整资源分配</a:t>
              </a:r>
              <a:endParaRPr kumimoji="1" lang="en-US" altLang="zh-CN" sz="1600" b="0" i="0" u="none" strike="noStrike" kern="0" cap="none" spc="0" normalizeH="0" baseline="0" noProof="0" dirty="0">
                <a:ln>
                  <a:noFill/>
                </a:ln>
                <a:solidFill>
                  <a:srgbClr val="1D1D1B"/>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 name="组合 2"/>
            <p:cNvGrpSpPr/>
            <p:nvPr/>
          </p:nvGrpSpPr>
          <p:grpSpPr bwMode="gray">
            <a:xfrm>
              <a:off x="6845941" y="2106651"/>
              <a:ext cx="1733167" cy="2116711"/>
              <a:chOff x="6845941" y="2106651"/>
              <a:chExt cx="1733167" cy="2116711"/>
            </a:xfrm>
          </p:grpSpPr>
          <p:grpSp>
            <p:nvGrpSpPr>
              <p:cNvPr id="47" name="组合 46"/>
              <p:cNvGrpSpPr/>
              <p:nvPr/>
            </p:nvGrpSpPr>
            <p:grpSpPr bwMode="gray">
              <a:xfrm>
                <a:off x="6845941" y="2106651"/>
                <a:ext cx="1733167" cy="2116711"/>
                <a:chOff x="8580745" y="2103400"/>
                <a:chExt cx="1733167" cy="2116711"/>
              </a:xfrm>
            </p:grpSpPr>
            <p:sp>
              <p:nvSpPr>
                <p:cNvPr id="33" name="矩形 32"/>
                <p:cNvSpPr/>
                <p:nvPr/>
              </p:nvSpPr>
              <p:spPr bwMode="gray">
                <a:xfrm>
                  <a:off x="8580745" y="2103400"/>
                  <a:ext cx="1733167" cy="400110"/>
                </a:xfrm>
                <a:prstGeom prst="rect">
                  <a:avLst/>
                </a:prstGeom>
              </p:spPr>
              <p:txBody>
                <a:bodyPr wrap="none">
                  <a:spAutoFit/>
                </a:bodyPr>
                <a:lstStyle/>
                <a:p>
                  <a:pPr marL="0" marR="0" lvl="0" indent="0" algn="ctr" defTabSz="1219028" eaLnBrk="1" fontAlgn="base" latinLnBrk="0" hangingPunct="1">
                    <a:lnSpc>
                      <a:spcPct val="100000"/>
                    </a:lnSpc>
                    <a:spcBef>
                      <a:spcPct val="0"/>
                    </a:spcBef>
                    <a:spcAft>
                      <a:spcPct val="0"/>
                    </a:spcAft>
                    <a:buClr>
                      <a:srgbClr val="CC9900"/>
                    </a:buClr>
                    <a:buSzTx/>
                    <a:buFontTx/>
                    <a:buNone/>
                    <a:tabLst/>
                    <a:defRPr/>
                  </a:pPr>
                  <a:r>
                    <a:rPr kumimoji="1" lang="zh-CN" altLang="en-US" sz="2000" b="1" i="0" u="none" strike="noStrike" kern="0" cap="none" spc="0" normalizeH="0" baseline="0" noProof="0" dirty="0">
                      <a:ln>
                        <a:noFill/>
                      </a:ln>
                      <a:solidFill>
                        <a:srgbClr val="30B5C5"/>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体验可感可知</a:t>
                  </a:r>
                  <a:endParaRPr kumimoji="1" lang="en-US" altLang="zh-CN" sz="2000" b="1" i="0" u="none" strike="noStrike" kern="0" cap="none" spc="0" normalizeH="0" baseline="0" noProof="0" dirty="0">
                    <a:ln>
                      <a:noFill/>
                    </a:ln>
                    <a:solidFill>
                      <a:srgbClr val="30B5C5"/>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椭圆 31">
                  <a:extLst>
                    <a:ext uri="{FF2B5EF4-FFF2-40B4-BE49-F238E27FC236}">
                      <a16:creationId xmlns:a16="http://schemas.microsoft.com/office/drawing/2014/main" id="{34A90377-791A-4E41-8715-62E028600663}"/>
                    </a:ext>
                  </a:extLst>
                </p:cNvPr>
                <p:cNvSpPr>
                  <a:spLocks/>
                </p:cNvSpPr>
                <p:nvPr/>
              </p:nvSpPr>
              <p:spPr bwMode="gray">
                <a:xfrm>
                  <a:off x="8694710" y="2757827"/>
                  <a:ext cx="1505239" cy="1462284"/>
                </a:xfrm>
                <a:prstGeom prst="ellipse">
                  <a:avLst/>
                </a:prstGeom>
                <a:solidFill>
                  <a:sysClr val="window" lastClr="FFFFFF"/>
                </a:solidFill>
                <a:ln w="19050" cap="flat" cmpd="sng" algn="ctr">
                  <a:solidFill>
                    <a:srgbClr val="30B5C5"/>
                  </a:solidFill>
                  <a:prstDash val="solid"/>
                  <a:round/>
                  <a:headEnd type="none" w="med" len="med"/>
                  <a:tailEnd type="none" w="med" len="med"/>
                </a:ln>
                <a:effectLst/>
              </p:spPr>
              <p:txBody>
                <a:bodyPr vert="horz" wrap="square" lIns="91419" tIns="45709" rIns="91419" bIns="45709" numCol="1" rtlCol="0" anchor="t" anchorCtr="0" compatLnSpc="1">
                  <a:prstTxWarp prst="textNoShape">
                    <a:avLst/>
                  </a:prstTxWarp>
                </a:bodyPr>
                <a:lstStyle/>
                <a:p>
                  <a:pPr marL="0" marR="0" lvl="0" indent="0" defTabSz="914217"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1" i="0" u="none" strike="noStrike" kern="0" cap="none" spc="0" normalizeH="0" baseline="0" noProof="0">
                    <a:ln>
                      <a:noFill/>
                    </a:ln>
                    <a:solidFill>
                      <a:srgbClr val="1D1D1B"/>
                    </a:solidFill>
                    <a:effectLst/>
                    <a:uLnTx/>
                    <a:uFillTx/>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sp>
            <p:nvSpPr>
              <p:cNvPr id="41" name="iconfont-1187-868526"/>
              <p:cNvSpPr>
                <a:spLocks noChangeAspect="1"/>
              </p:cNvSpPr>
              <p:nvPr/>
            </p:nvSpPr>
            <p:spPr bwMode="gray">
              <a:xfrm>
                <a:off x="7363210" y="3269469"/>
                <a:ext cx="698629" cy="399380"/>
              </a:xfrm>
              <a:custGeom>
                <a:avLst/>
                <a:gdLst>
                  <a:gd name="T0" fmla="*/ 6403 w 12806"/>
                  <a:gd name="T1" fmla="*/ 0 h 7319"/>
                  <a:gd name="T2" fmla="*/ 0 w 12806"/>
                  <a:gd name="T3" fmla="*/ 3659 h 7319"/>
                  <a:gd name="T4" fmla="*/ 6403 w 12806"/>
                  <a:gd name="T5" fmla="*/ 7319 h 7319"/>
                  <a:gd name="T6" fmla="*/ 12806 w 12806"/>
                  <a:gd name="T7" fmla="*/ 3701 h 7319"/>
                  <a:gd name="T8" fmla="*/ 6403 w 12806"/>
                  <a:gd name="T9" fmla="*/ 0 h 7319"/>
                  <a:gd name="T10" fmla="*/ 6403 w 12806"/>
                  <a:gd name="T11" fmla="*/ 6269 h 7319"/>
                  <a:gd name="T12" fmla="*/ 3842 w 12806"/>
                  <a:gd name="T13" fmla="*/ 3659 h 7319"/>
                  <a:gd name="T14" fmla="*/ 6403 w 12806"/>
                  <a:gd name="T15" fmla="*/ 1050 h 7319"/>
                  <a:gd name="T16" fmla="*/ 8965 w 12806"/>
                  <a:gd name="T17" fmla="*/ 3659 h 7319"/>
                  <a:gd name="T18" fmla="*/ 6403 w 12806"/>
                  <a:gd name="T19" fmla="*/ 6269 h 7319"/>
                  <a:gd name="T20" fmla="*/ 6403 w 12806"/>
                  <a:gd name="T21" fmla="*/ 6269 h 7319"/>
                  <a:gd name="T22" fmla="*/ 6403 w 12806"/>
                  <a:gd name="T23" fmla="*/ 2744 h 7319"/>
                  <a:gd name="T24" fmla="*/ 6621 w 12806"/>
                  <a:gd name="T25" fmla="*/ 2151 h 7319"/>
                  <a:gd name="T26" fmla="*/ 6403 w 12806"/>
                  <a:gd name="T27" fmla="*/ 2135 h 7319"/>
                  <a:gd name="T28" fmla="*/ 4908 w 12806"/>
                  <a:gd name="T29" fmla="*/ 3659 h 7319"/>
                  <a:gd name="T30" fmla="*/ 6403 w 12806"/>
                  <a:gd name="T31" fmla="*/ 5183 h 7319"/>
                  <a:gd name="T32" fmla="*/ 7898 w 12806"/>
                  <a:gd name="T33" fmla="*/ 3659 h 7319"/>
                  <a:gd name="T34" fmla="*/ 7886 w 12806"/>
                  <a:gd name="T35" fmla="*/ 3461 h 7319"/>
                  <a:gd name="T36" fmla="*/ 7319 w 12806"/>
                  <a:gd name="T37" fmla="*/ 3659 h 7319"/>
                  <a:gd name="T38" fmla="*/ 6403 w 12806"/>
                  <a:gd name="T39" fmla="*/ 2744 h 7319"/>
                  <a:gd name="T40" fmla="*/ 6403 w 12806"/>
                  <a:gd name="T41" fmla="*/ 2744 h 7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806" h="7319">
                    <a:moveTo>
                      <a:pt x="6403" y="0"/>
                    </a:moveTo>
                    <a:cubicBezTo>
                      <a:pt x="4063" y="0"/>
                      <a:pt x="2238" y="1396"/>
                      <a:pt x="0" y="3659"/>
                    </a:cubicBezTo>
                    <a:cubicBezTo>
                      <a:pt x="1927" y="5593"/>
                      <a:pt x="3544" y="7319"/>
                      <a:pt x="6403" y="7319"/>
                    </a:cubicBezTo>
                    <a:cubicBezTo>
                      <a:pt x="9259" y="7319"/>
                      <a:pt x="11359" y="5135"/>
                      <a:pt x="12806" y="3701"/>
                    </a:cubicBezTo>
                    <a:cubicBezTo>
                      <a:pt x="11327" y="2020"/>
                      <a:pt x="9227" y="0"/>
                      <a:pt x="6403" y="0"/>
                    </a:cubicBezTo>
                    <a:close/>
                    <a:moveTo>
                      <a:pt x="6403" y="6269"/>
                    </a:moveTo>
                    <a:cubicBezTo>
                      <a:pt x="4991" y="6269"/>
                      <a:pt x="3842" y="5097"/>
                      <a:pt x="3842" y="3659"/>
                    </a:cubicBezTo>
                    <a:cubicBezTo>
                      <a:pt x="3842" y="2219"/>
                      <a:pt x="4991" y="1050"/>
                      <a:pt x="6403" y="1050"/>
                    </a:cubicBezTo>
                    <a:cubicBezTo>
                      <a:pt x="7815" y="1050"/>
                      <a:pt x="8965" y="2222"/>
                      <a:pt x="8965" y="3659"/>
                    </a:cubicBezTo>
                    <a:cubicBezTo>
                      <a:pt x="8965" y="5100"/>
                      <a:pt x="7815" y="6269"/>
                      <a:pt x="6403" y="6269"/>
                    </a:cubicBezTo>
                    <a:close/>
                    <a:moveTo>
                      <a:pt x="6403" y="6269"/>
                    </a:moveTo>
                    <a:close/>
                    <a:moveTo>
                      <a:pt x="6403" y="2744"/>
                    </a:moveTo>
                    <a:cubicBezTo>
                      <a:pt x="6403" y="2516"/>
                      <a:pt x="6487" y="2311"/>
                      <a:pt x="6621" y="2151"/>
                    </a:cubicBezTo>
                    <a:cubicBezTo>
                      <a:pt x="6550" y="2138"/>
                      <a:pt x="6477" y="2135"/>
                      <a:pt x="6403" y="2135"/>
                    </a:cubicBezTo>
                    <a:cubicBezTo>
                      <a:pt x="5580" y="2135"/>
                      <a:pt x="4908" y="2817"/>
                      <a:pt x="4908" y="3659"/>
                    </a:cubicBezTo>
                    <a:cubicBezTo>
                      <a:pt x="4908" y="4501"/>
                      <a:pt x="5580" y="5183"/>
                      <a:pt x="6403" y="5183"/>
                    </a:cubicBezTo>
                    <a:cubicBezTo>
                      <a:pt x="7226" y="5183"/>
                      <a:pt x="7898" y="4501"/>
                      <a:pt x="7898" y="3659"/>
                    </a:cubicBezTo>
                    <a:cubicBezTo>
                      <a:pt x="7898" y="3592"/>
                      <a:pt x="7892" y="3528"/>
                      <a:pt x="7886" y="3461"/>
                    </a:cubicBezTo>
                    <a:cubicBezTo>
                      <a:pt x="7729" y="3582"/>
                      <a:pt x="7533" y="3659"/>
                      <a:pt x="7319" y="3659"/>
                    </a:cubicBezTo>
                    <a:cubicBezTo>
                      <a:pt x="6813" y="3659"/>
                      <a:pt x="6403" y="3249"/>
                      <a:pt x="6403" y="2744"/>
                    </a:cubicBezTo>
                    <a:close/>
                    <a:moveTo>
                      <a:pt x="6403" y="2744"/>
                    </a:moveTo>
                    <a:close/>
                  </a:path>
                </a:pathLst>
              </a:custGeom>
              <a:solidFill>
                <a:srgbClr val="4D4D4D"/>
              </a:solidFill>
              <a:ln>
                <a:noFill/>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5" name="组合 4"/>
          <p:cNvGrpSpPr/>
          <p:nvPr/>
        </p:nvGrpSpPr>
        <p:grpSpPr bwMode="gray">
          <a:xfrm>
            <a:off x="9180956" y="2089019"/>
            <a:ext cx="2114681" cy="3144003"/>
            <a:chOff x="9180956" y="2089019"/>
            <a:chExt cx="2114681" cy="3144003"/>
          </a:xfrm>
        </p:grpSpPr>
        <p:grpSp>
          <p:nvGrpSpPr>
            <p:cNvPr id="49" name="组合 48"/>
            <p:cNvGrpSpPr/>
            <p:nvPr/>
          </p:nvGrpSpPr>
          <p:grpSpPr bwMode="gray">
            <a:xfrm>
              <a:off x="9180956" y="2089019"/>
              <a:ext cx="2114681" cy="3144003"/>
              <a:chOff x="6655183" y="2106651"/>
              <a:chExt cx="2114681" cy="3144003"/>
            </a:xfrm>
          </p:grpSpPr>
          <p:sp>
            <p:nvSpPr>
              <p:cNvPr id="50" name="矩形 49"/>
              <p:cNvSpPr/>
              <p:nvPr/>
            </p:nvSpPr>
            <p:spPr bwMode="gray">
              <a:xfrm>
                <a:off x="6655183" y="4457424"/>
                <a:ext cx="2114681" cy="793230"/>
              </a:xfrm>
              <a:prstGeom prst="rect">
                <a:avLst/>
              </a:prstGeom>
            </p:spPr>
            <p:txBody>
              <a:bodyPr wrap="none">
                <a:spAutoFit/>
              </a:bodyPr>
              <a:lstStyle/>
              <a:p>
                <a:pPr marL="285693" marR="0" lvl="0" indent="-285693" defTabSz="1219028" eaLnBrk="1" fontAlgn="base" latinLnBrk="0" hangingPunct="1">
                  <a:lnSpc>
                    <a:spcPct val="150000"/>
                  </a:lnSpc>
                  <a:spcBef>
                    <a:spcPct val="0"/>
                  </a:spcBef>
                  <a:spcAft>
                    <a:spcPct val="0"/>
                  </a:spcAft>
                  <a:buClr>
                    <a:prstClr val="black"/>
                  </a:buClr>
                  <a:buSzTx/>
                  <a:buFont typeface="Arial" panose="020B0604020202020204" pitchFamily="34" charset="0"/>
                  <a:buChar char="•"/>
                  <a:tabLst/>
                  <a:defRPr/>
                </a:pPr>
                <a:r>
                  <a:rPr kumimoji="1" lang="zh-CN" altLang="en-US" sz="1600" kern="0" noProof="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rPr>
                  <a:t>基于业务下发配置</a:t>
                </a:r>
                <a:endParaRPr kumimoji="1" lang="en-US" altLang="zh-CN" sz="1600" kern="0" noProof="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endParaRPr>
              </a:p>
              <a:p>
                <a:pPr marL="285693" marR="0" lvl="0" indent="-285693" defTabSz="1219028" eaLnBrk="1" fontAlgn="base" latinLnBrk="0" hangingPunct="1">
                  <a:lnSpc>
                    <a:spcPct val="150000"/>
                  </a:lnSpc>
                  <a:spcBef>
                    <a:spcPct val="0"/>
                  </a:spcBef>
                  <a:spcAft>
                    <a:spcPct val="0"/>
                  </a:spcAft>
                  <a:buClr>
                    <a:prstClr val="black"/>
                  </a:buClr>
                  <a:buSzTx/>
                  <a:buFont typeface="Arial" panose="020B0604020202020204" pitchFamily="34" charset="0"/>
                  <a:buChar char="•"/>
                  <a:tabLst/>
                  <a:defRPr/>
                </a:pPr>
                <a:r>
                  <a:rPr kumimoji="1" lang="zh-CN" altLang="en-US" sz="1600" kern="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rPr>
                  <a:t>快速准确</a:t>
                </a:r>
                <a:r>
                  <a:rPr kumimoji="1" lang="zh-CN" altLang="en-US" sz="1600" kern="0" noProof="0" dirty="0">
                    <a:solidFill>
                      <a:srgbClr val="1D1D1B"/>
                    </a:solidFill>
                    <a:latin typeface="Huawei Sans" panose="020C0503030203020204" pitchFamily="34" charset="0"/>
                    <a:ea typeface="方正兰亭黑简体" panose="02000000000000000000" pitchFamily="2" charset="-122"/>
                    <a:sym typeface="Huawei Sans" panose="020C0503030203020204" pitchFamily="34" charset="0"/>
                  </a:rPr>
                  <a:t>定位故障</a:t>
                </a:r>
                <a:endParaRPr kumimoji="1" lang="en-US" altLang="zh-CN" sz="1600" b="0" i="0" u="none" strike="noStrike" kern="0" cap="none" spc="0" normalizeH="0" baseline="0" noProof="0" dirty="0">
                  <a:ln>
                    <a:noFill/>
                  </a:ln>
                  <a:solidFill>
                    <a:srgbClr val="1D1D1B"/>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3" name="组合 52"/>
              <p:cNvGrpSpPr/>
              <p:nvPr/>
            </p:nvGrpSpPr>
            <p:grpSpPr bwMode="gray">
              <a:xfrm>
                <a:off x="6845941" y="2106651"/>
                <a:ext cx="1733167" cy="2116711"/>
                <a:chOff x="8580745" y="2103400"/>
                <a:chExt cx="1733167" cy="2116711"/>
              </a:xfrm>
            </p:grpSpPr>
            <p:sp>
              <p:nvSpPr>
                <p:cNvPr id="55" name="矩形 54"/>
                <p:cNvSpPr/>
                <p:nvPr/>
              </p:nvSpPr>
              <p:spPr bwMode="gray">
                <a:xfrm>
                  <a:off x="8580745" y="2103400"/>
                  <a:ext cx="1733167" cy="400110"/>
                </a:xfrm>
                <a:prstGeom prst="rect">
                  <a:avLst/>
                </a:prstGeom>
              </p:spPr>
              <p:txBody>
                <a:bodyPr wrap="none">
                  <a:spAutoFit/>
                </a:bodyPr>
                <a:lstStyle/>
                <a:p>
                  <a:pPr marL="0" marR="0" lvl="0" indent="0" algn="ctr" defTabSz="1219028" eaLnBrk="1" fontAlgn="base" latinLnBrk="0" hangingPunct="1">
                    <a:lnSpc>
                      <a:spcPct val="100000"/>
                    </a:lnSpc>
                    <a:spcBef>
                      <a:spcPct val="0"/>
                    </a:spcBef>
                    <a:spcAft>
                      <a:spcPct val="0"/>
                    </a:spcAft>
                    <a:buClr>
                      <a:srgbClr val="CC9900"/>
                    </a:buClr>
                    <a:buSzTx/>
                    <a:buFontTx/>
                    <a:buNone/>
                    <a:tabLst/>
                    <a:defRPr/>
                  </a:pPr>
                  <a:r>
                    <a:rPr kumimoji="1" lang="zh-CN" altLang="en-US" sz="2000" b="1" i="0" u="none" strike="noStrike" kern="0" cap="none" spc="0" normalizeH="0" baseline="0" noProof="0" dirty="0">
                      <a:ln>
                        <a:noFill/>
                      </a:ln>
                      <a:solidFill>
                        <a:srgbClr val="30B5C5"/>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运维如臂使指</a:t>
                  </a:r>
                  <a:endParaRPr kumimoji="1" lang="en-US" altLang="zh-CN" sz="2000" b="1" i="0" u="none" strike="noStrike" kern="0" cap="none" spc="0" normalizeH="0" baseline="0" noProof="0" dirty="0">
                    <a:ln>
                      <a:noFill/>
                    </a:ln>
                    <a:solidFill>
                      <a:srgbClr val="30B5C5"/>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椭圆 55">
                  <a:extLst>
                    <a:ext uri="{FF2B5EF4-FFF2-40B4-BE49-F238E27FC236}">
                      <a16:creationId xmlns:a16="http://schemas.microsoft.com/office/drawing/2014/main" id="{34A90377-791A-4E41-8715-62E028600663}"/>
                    </a:ext>
                  </a:extLst>
                </p:cNvPr>
                <p:cNvSpPr>
                  <a:spLocks/>
                </p:cNvSpPr>
                <p:nvPr/>
              </p:nvSpPr>
              <p:spPr bwMode="gray">
                <a:xfrm>
                  <a:off x="8694710" y="2757827"/>
                  <a:ext cx="1505239" cy="1462284"/>
                </a:xfrm>
                <a:prstGeom prst="ellipse">
                  <a:avLst/>
                </a:prstGeom>
                <a:solidFill>
                  <a:sysClr val="window" lastClr="FFFFFF"/>
                </a:solidFill>
                <a:ln w="19050" cap="flat" cmpd="sng" algn="ctr">
                  <a:solidFill>
                    <a:srgbClr val="30B5C5"/>
                  </a:solidFill>
                  <a:prstDash val="solid"/>
                  <a:round/>
                  <a:headEnd type="none" w="med" len="med"/>
                  <a:tailEnd type="none" w="med" len="med"/>
                </a:ln>
                <a:effectLst/>
              </p:spPr>
              <p:txBody>
                <a:bodyPr vert="horz" wrap="square" lIns="91419" tIns="45709" rIns="91419" bIns="45709" numCol="1" rtlCol="0" anchor="t" anchorCtr="0" compatLnSpc="1">
                  <a:prstTxWarp prst="textNoShape">
                    <a:avLst/>
                  </a:prstTxWarp>
                </a:bodyPr>
                <a:lstStyle/>
                <a:p>
                  <a:pPr marL="0" marR="0" lvl="0" indent="0" defTabSz="914217" eaLnBrk="1" fontAlgn="base" latinLnBrk="0" hangingPunct="1">
                    <a:lnSpc>
                      <a:spcPct val="100000"/>
                    </a:lnSpc>
                    <a:spcBef>
                      <a:spcPct val="0"/>
                    </a:spcBef>
                    <a:spcAft>
                      <a:spcPct val="0"/>
                    </a:spcAft>
                    <a:buClr>
                      <a:srgbClr val="CC9900"/>
                    </a:buClr>
                    <a:buSzTx/>
                    <a:buFont typeface="Wingdings" pitchFamily="2" charset="2"/>
                    <a:buChar char="n"/>
                    <a:tabLst/>
                    <a:defRPr/>
                  </a:pPr>
                  <a:endParaRPr kumimoji="0" lang="zh-CN" altLang="en-US" sz="1800" b="1" i="0" u="none" strike="noStrike" kern="0" cap="none" spc="0" normalizeH="0" baseline="0" noProof="0">
                    <a:ln>
                      <a:noFill/>
                    </a:ln>
                    <a:solidFill>
                      <a:srgbClr val="1D1D1B"/>
                    </a:solidFill>
                    <a:effectLst/>
                    <a:uLnTx/>
                    <a:uFillTx/>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grpSp>
        <p:sp>
          <p:nvSpPr>
            <p:cNvPr id="62" name="iconfont-1177-865983"/>
            <p:cNvSpPr>
              <a:spLocks noChangeAspect="1"/>
            </p:cNvSpPr>
            <p:nvPr/>
          </p:nvSpPr>
          <p:spPr bwMode="gray">
            <a:xfrm>
              <a:off x="9933453" y="3164969"/>
              <a:ext cx="609685" cy="598393"/>
            </a:xfrm>
            <a:custGeom>
              <a:avLst/>
              <a:gdLst>
                <a:gd name="T0" fmla="*/ 5204 w 6300"/>
                <a:gd name="T1" fmla="*/ 4432 h 6181"/>
                <a:gd name="T2" fmla="*/ 3924 w 6300"/>
                <a:gd name="T3" fmla="*/ 3151 h 6181"/>
                <a:gd name="T4" fmla="*/ 4963 w 6300"/>
                <a:gd name="T5" fmla="*/ 2112 h 6181"/>
                <a:gd name="T6" fmla="*/ 5932 w 6300"/>
                <a:gd name="T7" fmla="*/ 1837 h 6181"/>
                <a:gd name="T8" fmla="*/ 6179 w 6300"/>
                <a:gd name="T9" fmla="*/ 773 h 6181"/>
                <a:gd name="T10" fmla="*/ 5690 w 6300"/>
                <a:gd name="T11" fmla="*/ 1262 h 6181"/>
                <a:gd name="T12" fmla="*/ 5051 w 6300"/>
                <a:gd name="T13" fmla="*/ 1250 h 6181"/>
                <a:gd name="T14" fmla="*/ 5038 w 6300"/>
                <a:gd name="T15" fmla="*/ 611 h 6181"/>
                <a:gd name="T16" fmla="*/ 5527 w 6300"/>
                <a:gd name="T17" fmla="*/ 122 h 6181"/>
                <a:gd name="T18" fmla="*/ 4463 w 6300"/>
                <a:gd name="T19" fmla="*/ 368 h 6181"/>
                <a:gd name="T20" fmla="*/ 4189 w 6300"/>
                <a:gd name="T21" fmla="*/ 1338 h 6181"/>
                <a:gd name="T22" fmla="*/ 3150 w 6300"/>
                <a:gd name="T23" fmla="*/ 2376 h 6181"/>
                <a:gd name="T24" fmla="*/ 2111 w 6300"/>
                <a:gd name="T25" fmla="*/ 1338 h 6181"/>
                <a:gd name="T26" fmla="*/ 1837 w 6300"/>
                <a:gd name="T27" fmla="*/ 368 h 6181"/>
                <a:gd name="T28" fmla="*/ 773 w 6300"/>
                <a:gd name="T29" fmla="*/ 122 h 6181"/>
                <a:gd name="T30" fmla="*/ 1261 w 6300"/>
                <a:gd name="T31" fmla="*/ 611 h 6181"/>
                <a:gd name="T32" fmla="*/ 1249 w 6300"/>
                <a:gd name="T33" fmla="*/ 1250 h 6181"/>
                <a:gd name="T34" fmla="*/ 610 w 6300"/>
                <a:gd name="T35" fmla="*/ 1262 h 6181"/>
                <a:gd name="T36" fmla="*/ 122 w 6300"/>
                <a:gd name="T37" fmla="*/ 773 h 6181"/>
                <a:gd name="T38" fmla="*/ 368 w 6300"/>
                <a:gd name="T39" fmla="*/ 1838 h 6181"/>
                <a:gd name="T40" fmla="*/ 1338 w 6300"/>
                <a:gd name="T41" fmla="*/ 2112 h 6181"/>
                <a:gd name="T42" fmla="*/ 2376 w 6300"/>
                <a:gd name="T43" fmla="*/ 3150 h 6181"/>
                <a:gd name="T44" fmla="*/ 1096 w 6300"/>
                <a:gd name="T45" fmla="*/ 4430 h 6181"/>
                <a:gd name="T46" fmla="*/ 448 w 6300"/>
                <a:gd name="T47" fmla="*/ 4670 h 6181"/>
                <a:gd name="T48" fmla="*/ 448 w 6300"/>
                <a:gd name="T49" fmla="*/ 5854 h 6181"/>
                <a:gd name="T50" fmla="*/ 1631 w 6300"/>
                <a:gd name="T51" fmla="*/ 5854 h 6181"/>
                <a:gd name="T52" fmla="*/ 1871 w 6300"/>
                <a:gd name="T53" fmla="*/ 5204 h 6181"/>
                <a:gd name="T54" fmla="*/ 3150 w 6300"/>
                <a:gd name="T55" fmla="*/ 3925 h 6181"/>
                <a:gd name="T56" fmla="*/ 4430 w 6300"/>
                <a:gd name="T57" fmla="*/ 5205 h 6181"/>
                <a:gd name="T58" fmla="*/ 4670 w 6300"/>
                <a:gd name="T59" fmla="*/ 5854 h 6181"/>
                <a:gd name="T60" fmla="*/ 5853 w 6300"/>
                <a:gd name="T61" fmla="*/ 5854 h 6181"/>
                <a:gd name="T62" fmla="*/ 5853 w 6300"/>
                <a:gd name="T63" fmla="*/ 4670 h 6181"/>
                <a:gd name="T64" fmla="*/ 5204 w 6300"/>
                <a:gd name="T65" fmla="*/ 4432 h 6181"/>
                <a:gd name="T66" fmla="*/ 1153 w 6300"/>
                <a:gd name="T67" fmla="*/ 5687 h 6181"/>
                <a:gd name="T68" fmla="*/ 727 w 6300"/>
                <a:gd name="T69" fmla="*/ 5573 h 6181"/>
                <a:gd name="T70" fmla="*/ 614 w 6300"/>
                <a:gd name="T71" fmla="*/ 5148 h 6181"/>
                <a:gd name="T72" fmla="*/ 925 w 6300"/>
                <a:gd name="T73" fmla="*/ 4836 h 6181"/>
                <a:gd name="T74" fmla="*/ 1350 w 6300"/>
                <a:gd name="T75" fmla="*/ 4950 h 6181"/>
                <a:gd name="T76" fmla="*/ 1464 w 6300"/>
                <a:gd name="T77" fmla="*/ 5375 h 6181"/>
                <a:gd name="T78" fmla="*/ 1153 w 6300"/>
                <a:gd name="T79" fmla="*/ 5687 h 6181"/>
                <a:gd name="T80" fmla="*/ 5573 w 6300"/>
                <a:gd name="T81" fmla="*/ 5574 h 6181"/>
                <a:gd name="T82" fmla="*/ 5147 w 6300"/>
                <a:gd name="T83" fmla="*/ 5688 h 6181"/>
                <a:gd name="T84" fmla="*/ 4836 w 6300"/>
                <a:gd name="T85" fmla="*/ 5376 h 6181"/>
                <a:gd name="T86" fmla="*/ 4949 w 6300"/>
                <a:gd name="T87" fmla="*/ 4951 h 6181"/>
                <a:gd name="T88" fmla="*/ 5375 w 6300"/>
                <a:gd name="T89" fmla="*/ 4837 h 6181"/>
                <a:gd name="T90" fmla="*/ 5687 w 6300"/>
                <a:gd name="T91" fmla="*/ 5148 h 6181"/>
                <a:gd name="T92" fmla="*/ 5573 w 6300"/>
                <a:gd name="T93" fmla="*/ 5574 h 6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300" h="6181">
                  <a:moveTo>
                    <a:pt x="5204" y="4432"/>
                  </a:moveTo>
                  <a:lnTo>
                    <a:pt x="3924" y="3151"/>
                  </a:lnTo>
                  <a:lnTo>
                    <a:pt x="4963" y="2112"/>
                  </a:lnTo>
                  <a:cubicBezTo>
                    <a:pt x="5300" y="2191"/>
                    <a:pt x="5669" y="2101"/>
                    <a:pt x="5932" y="1837"/>
                  </a:cubicBezTo>
                  <a:cubicBezTo>
                    <a:pt x="6221" y="1549"/>
                    <a:pt x="6300" y="1135"/>
                    <a:pt x="6179" y="773"/>
                  </a:cubicBezTo>
                  <a:lnTo>
                    <a:pt x="5690" y="1262"/>
                  </a:lnTo>
                  <a:cubicBezTo>
                    <a:pt x="5516" y="1435"/>
                    <a:pt x="5231" y="1430"/>
                    <a:pt x="5051" y="1250"/>
                  </a:cubicBezTo>
                  <a:cubicBezTo>
                    <a:pt x="4871" y="1070"/>
                    <a:pt x="4865" y="784"/>
                    <a:pt x="5038" y="611"/>
                  </a:cubicBezTo>
                  <a:lnTo>
                    <a:pt x="5527" y="122"/>
                  </a:lnTo>
                  <a:cubicBezTo>
                    <a:pt x="5166" y="0"/>
                    <a:pt x="4752" y="80"/>
                    <a:pt x="4463" y="368"/>
                  </a:cubicBezTo>
                  <a:cubicBezTo>
                    <a:pt x="4200" y="631"/>
                    <a:pt x="4111" y="1000"/>
                    <a:pt x="4189" y="1338"/>
                  </a:cubicBezTo>
                  <a:lnTo>
                    <a:pt x="3150" y="2376"/>
                  </a:lnTo>
                  <a:lnTo>
                    <a:pt x="2111" y="1338"/>
                  </a:lnTo>
                  <a:cubicBezTo>
                    <a:pt x="2190" y="1000"/>
                    <a:pt x="2099" y="632"/>
                    <a:pt x="1837" y="368"/>
                  </a:cubicBezTo>
                  <a:cubicBezTo>
                    <a:pt x="1549" y="80"/>
                    <a:pt x="1135" y="1"/>
                    <a:pt x="773" y="122"/>
                  </a:cubicBezTo>
                  <a:lnTo>
                    <a:pt x="1261" y="611"/>
                  </a:lnTo>
                  <a:cubicBezTo>
                    <a:pt x="1435" y="784"/>
                    <a:pt x="1430" y="1070"/>
                    <a:pt x="1249" y="1250"/>
                  </a:cubicBezTo>
                  <a:cubicBezTo>
                    <a:pt x="1069" y="1430"/>
                    <a:pt x="784" y="1435"/>
                    <a:pt x="610" y="1262"/>
                  </a:cubicBezTo>
                  <a:lnTo>
                    <a:pt x="122" y="773"/>
                  </a:lnTo>
                  <a:cubicBezTo>
                    <a:pt x="0" y="1135"/>
                    <a:pt x="80" y="1549"/>
                    <a:pt x="368" y="1838"/>
                  </a:cubicBezTo>
                  <a:cubicBezTo>
                    <a:pt x="631" y="2101"/>
                    <a:pt x="999" y="2190"/>
                    <a:pt x="1338" y="2112"/>
                  </a:cubicBezTo>
                  <a:lnTo>
                    <a:pt x="2376" y="3150"/>
                  </a:lnTo>
                  <a:lnTo>
                    <a:pt x="1096" y="4430"/>
                  </a:lnTo>
                  <a:cubicBezTo>
                    <a:pt x="863" y="4414"/>
                    <a:pt x="625" y="4492"/>
                    <a:pt x="448" y="4670"/>
                  </a:cubicBezTo>
                  <a:cubicBezTo>
                    <a:pt x="120" y="4997"/>
                    <a:pt x="120" y="5527"/>
                    <a:pt x="448" y="5854"/>
                  </a:cubicBezTo>
                  <a:cubicBezTo>
                    <a:pt x="774" y="6180"/>
                    <a:pt x="1304" y="6180"/>
                    <a:pt x="1631" y="5854"/>
                  </a:cubicBezTo>
                  <a:cubicBezTo>
                    <a:pt x="1809" y="5676"/>
                    <a:pt x="1886" y="5437"/>
                    <a:pt x="1871" y="5204"/>
                  </a:cubicBezTo>
                  <a:lnTo>
                    <a:pt x="3150" y="3925"/>
                  </a:lnTo>
                  <a:lnTo>
                    <a:pt x="4430" y="5205"/>
                  </a:lnTo>
                  <a:cubicBezTo>
                    <a:pt x="4414" y="5438"/>
                    <a:pt x="4492" y="5676"/>
                    <a:pt x="4670" y="5854"/>
                  </a:cubicBezTo>
                  <a:cubicBezTo>
                    <a:pt x="4996" y="6181"/>
                    <a:pt x="5527" y="6181"/>
                    <a:pt x="5853" y="5854"/>
                  </a:cubicBezTo>
                  <a:cubicBezTo>
                    <a:pt x="6180" y="5527"/>
                    <a:pt x="6180" y="4997"/>
                    <a:pt x="5853" y="4670"/>
                  </a:cubicBezTo>
                  <a:cubicBezTo>
                    <a:pt x="5675" y="4493"/>
                    <a:pt x="5437" y="4415"/>
                    <a:pt x="5204" y="4432"/>
                  </a:cubicBezTo>
                  <a:close/>
                  <a:moveTo>
                    <a:pt x="1153" y="5687"/>
                  </a:moveTo>
                  <a:lnTo>
                    <a:pt x="727" y="5573"/>
                  </a:lnTo>
                  <a:lnTo>
                    <a:pt x="614" y="5148"/>
                  </a:lnTo>
                  <a:lnTo>
                    <a:pt x="925" y="4836"/>
                  </a:lnTo>
                  <a:lnTo>
                    <a:pt x="1350" y="4950"/>
                  </a:lnTo>
                  <a:lnTo>
                    <a:pt x="1464" y="5375"/>
                  </a:lnTo>
                  <a:lnTo>
                    <a:pt x="1153" y="5687"/>
                  </a:lnTo>
                  <a:close/>
                  <a:moveTo>
                    <a:pt x="5573" y="5574"/>
                  </a:moveTo>
                  <a:lnTo>
                    <a:pt x="5147" y="5688"/>
                  </a:lnTo>
                  <a:lnTo>
                    <a:pt x="4836" y="5376"/>
                  </a:lnTo>
                  <a:lnTo>
                    <a:pt x="4949" y="4951"/>
                  </a:lnTo>
                  <a:lnTo>
                    <a:pt x="5375" y="4837"/>
                  </a:lnTo>
                  <a:lnTo>
                    <a:pt x="5687" y="5148"/>
                  </a:lnTo>
                  <a:lnTo>
                    <a:pt x="5573" y="5574"/>
                  </a:lnTo>
                  <a:close/>
                </a:path>
              </a:pathLst>
            </a:custGeom>
            <a:solidFill>
              <a:srgbClr val="4D4D4D"/>
            </a:solidFill>
            <a:ln>
              <a:noFill/>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custDataLst>
      <p:tags r:id="rId1"/>
    </p:custDataLst>
    <p:extLst>
      <p:ext uri="{BB962C8B-B14F-4D97-AF65-F5344CB8AC3E}">
        <p14:creationId xmlns:p14="http://schemas.microsoft.com/office/powerpoint/2010/main" val="3469723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a:sym typeface="Huawei Sans" panose="020C0503030203020204" pitchFamily="34" charset="0"/>
              </a:rPr>
              <a:t>园区网络发展</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a:xfrm>
            <a:off x="455612" y="1047751"/>
            <a:ext cx="11293475" cy="1809204"/>
          </a:xfrm>
        </p:spPr>
        <p:txBody>
          <a:bodyPr/>
          <a:lstStyle/>
          <a:p>
            <a:r>
              <a:rPr lang="zh-CN" altLang="en-US" sz="1800" dirty="0">
                <a:sym typeface="Huawei Sans" panose="020C0503030203020204" pitchFamily="34" charset="0"/>
              </a:rPr>
              <a:t>当前人类社会来到以人工智能技术为代表的第四次工业革命的门前，新的</a:t>
            </a:r>
            <a:r>
              <a:rPr lang="en-US" altLang="zh-CN" sz="1800" dirty="0">
                <a:sym typeface="Huawei Sans" panose="020C0503030203020204" pitchFamily="34" charset="0"/>
              </a:rPr>
              <a:t>ICT</a:t>
            </a:r>
            <a:r>
              <a:rPr lang="zh-CN" altLang="en-US" sz="1800" dirty="0">
                <a:sym typeface="Huawei Sans" panose="020C0503030203020204" pitchFamily="34" charset="0"/>
              </a:rPr>
              <a:t>技术将会把人类社会从信息时代推进到智能时代。人工智能作为第四次工业革命的关键引擎，将推动全球范围内各行业的进步与发展。数据网络作为信息技术时代的关键驱动力，在人工智能时代将最先得到发展和优化。</a:t>
            </a:r>
          </a:p>
          <a:p>
            <a:r>
              <a:rPr lang="zh-CN" altLang="en-US" sz="1800" dirty="0">
                <a:sym typeface="Huawei Sans" panose="020C0503030203020204" pitchFamily="34" charset="0"/>
              </a:rPr>
              <a:t>园区网络逐步具备了智能化的特征，可以为客户提供极简的业务部署和网络运维等能力。</a:t>
            </a:r>
          </a:p>
        </p:txBody>
      </p:sp>
      <p:sp>
        <p:nvSpPr>
          <p:cNvPr id="26" name="Right Arrow 28"/>
          <p:cNvSpPr/>
          <p:nvPr/>
        </p:nvSpPr>
        <p:spPr bwMode="gray">
          <a:xfrm>
            <a:off x="638964" y="3011514"/>
            <a:ext cx="10939477" cy="672655"/>
          </a:xfrm>
          <a:prstGeom prst="rightArrow">
            <a:avLst>
              <a:gd name="adj1" fmla="val 82971"/>
              <a:gd name="adj2" fmla="val 37278"/>
            </a:avLst>
          </a:prstGeom>
          <a:gradFill flip="none" rotWithShape="1">
            <a:gsLst>
              <a:gs pos="5000">
                <a:sysClr val="window" lastClr="FFFFFF">
                  <a:alpha val="0"/>
                </a:sysClr>
              </a:gs>
              <a:gs pos="100000">
                <a:srgbClr val="BEE9EE"/>
              </a:gs>
            </a:gsLst>
            <a:lin ang="0" scaled="1"/>
            <a:tileRect/>
          </a:gradFill>
          <a:ln w="12700" cap="flat" cmpd="sng" algn="ctr">
            <a:gradFill flip="none" rotWithShape="1">
              <a:gsLst>
                <a:gs pos="0">
                  <a:sysClr val="window" lastClr="FFFFFF"/>
                </a:gs>
                <a:gs pos="67000">
                  <a:srgbClr val="30B5C5"/>
                </a:gs>
              </a:gsLst>
              <a:lin ang="0" scaled="1"/>
              <a:tileRect/>
            </a:gradFill>
            <a:prstDash val="solid"/>
            <a:miter lim="800000"/>
          </a:ln>
          <a:effectLst/>
        </p:spPr>
        <p:txBody>
          <a:bodyPr lIns="91413" tIns="45705" rIns="91413" bIns="45705"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 name="组合 3"/>
          <p:cNvGrpSpPr/>
          <p:nvPr/>
        </p:nvGrpSpPr>
        <p:grpSpPr bwMode="gray">
          <a:xfrm>
            <a:off x="1208630" y="3163190"/>
            <a:ext cx="1979901" cy="2527287"/>
            <a:chOff x="1208630" y="3163190"/>
            <a:chExt cx="1979901" cy="2527287"/>
          </a:xfrm>
        </p:grpSpPr>
        <p:sp>
          <p:nvSpPr>
            <p:cNvPr id="15" name="Rectangle 34"/>
            <p:cNvSpPr>
              <a:spLocks/>
            </p:cNvSpPr>
            <p:nvPr/>
          </p:nvSpPr>
          <p:spPr bwMode="gray">
            <a:xfrm>
              <a:off x="1208630" y="3983352"/>
              <a:ext cx="1979901" cy="1707125"/>
            </a:xfrm>
            <a:prstGeom prst="roundRect">
              <a:avLst>
                <a:gd name="adj" fmla="val 6365"/>
              </a:avLst>
            </a:prstGeom>
            <a:solidFill>
              <a:srgbClr val="F3FBFE"/>
            </a:solidFill>
            <a:ln w="12700" cap="flat" cmpd="sng" algn="ctr">
              <a:solidFill>
                <a:srgbClr val="BEE9EE"/>
              </a:solidFill>
              <a:prstDash val="solid"/>
              <a:miter lim="800000"/>
            </a:ln>
            <a:effectLst/>
          </p:spPr>
          <p:txBody>
            <a:bodyPr wrap="square" tIns="0" rtlCol="0" anchor="ctr" anchorCtr="0">
              <a:noAutofit/>
            </a:bodyPr>
            <a:lstStyle/>
            <a:p>
              <a:pPr algn="ctr" defTabSz="914400">
                <a:lnSpc>
                  <a:spcPct val="150000"/>
                </a:lnSpc>
              </a:pPr>
              <a:r>
                <a:rPr lang="zh-CN" altLang="en-US"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第一代</a:t>
              </a:r>
              <a:endParaRPr lang="en-US" altLang="zh-CN"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defTabSz="914400">
                <a:lnSpc>
                  <a:spcPct val="150000"/>
                </a:lnSpc>
              </a:pPr>
              <a:r>
                <a:rPr lang="zh-CN" altLang="en-US"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从共享到交换</a:t>
              </a:r>
              <a:endParaRPr lang="en-US" altLang="zh-CN"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Rectangle 34"/>
            <p:cNvSpPr/>
            <p:nvPr/>
          </p:nvSpPr>
          <p:spPr bwMode="gray">
            <a:xfrm>
              <a:off x="1375305" y="3163190"/>
              <a:ext cx="1646551" cy="369302"/>
            </a:xfrm>
            <a:prstGeom prst="rect">
              <a:avLst/>
            </a:prstGeom>
          </p:spPr>
          <p:txBody>
            <a:bodyPr wrap="none" lIns="91413" tIns="45705" rIns="91413" bIns="45705">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1980</a:t>
              </a:r>
              <a:r>
                <a:rPr kumimoji="0" lang="zh-CN" altLang="en-US" sz="1800" b="1" i="0" u="none" strike="noStrike" kern="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年代末期</a:t>
              </a:r>
            </a:p>
          </p:txBody>
        </p:sp>
      </p:grpSp>
      <p:grpSp>
        <p:nvGrpSpPr>
          <p:cNvPr id="5" name="组合 4"/>
          <p:cNvGrpSpPr/>
          <p:nvPr/>
        </p:nvGrpSpPr>
        <p:grpSpPr bwMode="gray">
          <a:xfrm>
            <a:off x="3904738" y="3163190"/>
            <a:ext cx="1979901" cy="2527287"/>
            <a:chOff x="3904738" y="3163190"/>
            <a:chExt cx="1979901" cy="2527287"/>
          </a:xfrm>
        </p:grpSpPr>
        <p:sp>
          <p:nvSpPr>
            <p:cNvPr id="16" name="Rectangle 34"/>
            <p:cNvSpPr>
              <a:spLocks/>
            </p:cNvSpPr>
            <p:nvPr/>
          </p:nvSpPr>
          <p:spPr bwMode="gray">
            <a:xfrm>
              <a:off x="3904738" y="3983352"/>
              <a:ext cx="1979901" cy="1707125"/>
            </a:xfrm>
            <a:prstGeom prst="roundRect">
              <a:avLst>
                <a:gd name="adj" fmla="val 6365"/>
              </a:avLst>
            </a:prstGeom>
            <a:solidFill>
              <a:srgbClr val="F3FBFE"/>
            </a:solidFill>
            <a:ln w="12700" cap="flat" cmpd="sng" algn="ctr">
              <a:solidFill>
                <a:srgbClr val="BEE9EE"/>
              </a:solidFill>
              <a:prstDash val="solid"/>
              <a:miter lim="800000"/>
            </a:ln>
            <a:effectLst/>
          </p:spPr>
          <p:txBody>
            <a:bodyPr wrap="square" tIns="0" rtlCol="0" anchor="ctr" anchorCtr="0">
              <a:noAutofit/>
            </a:bodyPr>
            <a:lstStyle/>
            <a:p>
              <a:pPr algn="ctr" defTabSz="914400">
                <a:lnSpc>
                  <a:spcPct val="150000"/>
                </a:lnSpc>
              </a:pPr>
              <a:r>
                <a:rPr lang="zh-CN" altLang="en-US"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第二代</a:t>
              </a:r>
              <a:endParaRPr lang="en-US" altLang="zh-CN"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defTabSz="914400">
                <a:lnSpc>
                  <a:spcPct val="150000"/>
                </a:lnSpc>
              </a:pPr>
              <a:r>
                <a:rPr lang="zh-CN" altLang="en-US"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三层路由式交换</a:t>
              </a:r>
              <a:endParaRPr lang="en-US" altLang="zh-CN"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Rectangle 34"/>
            <p:cNvSpPr/>
            <p:nvPr/>
          </p:nvSpPr>
          <p:spPr bwMode="gray">
            <a:xfrm>
              <a:off x="4071413" y="3163190"/>
              <a:ext cx="1646551" cy="369302"/>
            </a:xfrm>
            <a:prstGeom prst="rect">
              <a:avLst/>
            </a:prstGeom>
          </p:spPr>
          <p:txBody>
            <a:bodyPr wrap="none" lIns="91413" tIns="45705" rIns="91413" bIns="45705">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1990</a:t>
              </a:r>
              <a:r>
                <a:rPr kumimoji="0" lang="zh-CN" altLang="en-US" sz="1800" b="1" i="0" u="none" strike="noStrike" kern="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年代初期</a:t>
              </a:r>
            </a:p>
          </p:txBody>
        </p:sp>
      </p:grpSp>
      <p:grpSp>
        <p:nvGrpSpPr>
          <p:cNvPr id="6" name="组合 5"/>
          <p:cNvGrpSpPr/>
          <p:nvPr/>
        </p:nvGrpSpPr>
        <p:grpSpPr bwMode="gray">
          <a:xfrm>
            <a:off x="6600846" y="3172953"/>
            <a:ext cx="1979901" cy="2517524"/>
            <a:chOff x="6661765" y="3172953"/>
            <a:chExt cx="1979901" cy="2517524"/>
          </a:xfrm>
        </p:grpSpPr>
        <p:sp>
          <p:nvSpPr>
            <p:cNvPr id="17" name="Rectangle 34"/>
            <p:cNvSpPr>
              <a:spLocks/>
            </p:cNvSpPr>
            <p:nvPr/>
          </p:nvSpPr>
          <p:spPr bwMode="gray">
            <a:xfrm>
              <a:off x="6661765" y="3983352"/>
              <a:ext cx="1979901" cy="1707125"/>
            </a:xfrm>
            <a:prstGeom prst="roundRect">
              <a:avLst>
                <a:gd name="adj" fmla="val 6365"/>
              </a:avLst>
            </a:prstGeom>
            <a:solidFill>
              <a:srgbClr val="F3FBFE"/>
            </a:solidFill>
            <a:ln w="12700" cap="flat" cmpd="sng" algn="ctr">
              <a:solidFill>
                <a:srgbClr val="BEE9EE"/>
              </a:solidFill>
              <a:prstDash val="solid"/>
              <a:miter lim="800000"/>
            </a:ln>
            <a:effectLst/>
          </p:spPr>
          <p:txBody>
            <a:bodyPr wrap="square" tIns="0" rtlCol="0" anchor="ctr" anchorCtr="0">
              <a:noAutofit/>
            </a:bodyPr>
            <a:lstStyle/>
            <a:p>
              <a:pPr algn="ctr" defTabSz="914400">
                <a:lnSpc>
                  <a:spcPct val="150000"/>
                </a:lnSpc>
              </a:pPr>
              <a:r>
                <a:rPr lang="zh-CN" altLang="en-US"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第三代</a:t>
              </a:r>
              <a:endParaRPr lang="en-US" altLang="zh-CN"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defTabSz="914400">
                <a:lnSpc>
                  <a:spcPct val="150000"/>
                </a:lnSpc>
              </a:pPr>
              <a:r>
                <a:rPr lang="zh-CN" altLang="en-US"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多业务融合承载</a:t>
              </a:r>
              <a:endParaRPr lang="en-US" altLang="zh-CN"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Rectangle 34"/>
            <p:cNvSpPr/>
            <p:nvPr/>
          </p:nvSpPr>
          <p:spPr bwMode="gray">
            <a:xfrm>
              <a:off x="6828440" y="3172953"/>
              <a:ext cx="1646551" cy="369302"/>
            </a:xfrm>
            <a:prstGeom prst="rect">
              <a:avLst/>
            </a:prstGeom>
          </p:spPr>
          <p:txBody>
            <a:bodyPr wrap="none" lIns="91413" tIns="45705" rIns="91413" bIns="45705">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2000</a:t>
              </a:r>
              <a:r>
                <a:rPr kumimoji="0" lang="zh-CN" altLang="en-US" sz="1800" b="1" i="0" u="none" strike="noStrike" kern="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年代中期</a:t>
              </a:r>
            </a:p>
          </p:txBody>
        </p:sp>
      </p:grpSp>
      <p:sp>
        <p:nvSpPr>
          <p:cNvPr id="12" name="question_222392"/>
          <p:cNvSpPr>
            <a:spLocks noChangeAspect="1"/>
          </p:cNvSpPr>
          <p:nvPr/>
        </p:nvSpPr>
        <p:spPr bwMode="gray">
          <a:xfrm rot="570101">
            <a:off x="10814529" y="2856411"/>
            <a:ext cx="540947" cy="934140"/>
          </a:xfrm>
          <a:custGeom>
            <a:avLst/>
            <a:gdLst>
              <a:gd name="connsiteX0" fmla="*/ 175673 w 351345"/>
              <a:gd name="connsiteY0" fmla="*/ 527548 h 606722"/>
              <a:gd name="connsiteX1" fmla="*/ 215296 w 351345"/>
              <a:gd name="connsiteY1" fmla="*/ 567135 h 606722"/>
              <a:gd name="connsiteX2" fmla="*/ 175673 w 351345"/>
              <a:gd name="connsiteY2" fmla="*/ 606722 h 606722"/>
              <a:gd name="connsiteX3" fmla="*/ 136050 w 351345"/>
              <a:gd name="connsiteY3" fmla="*/ 567135 h 606722"/>
              <a:gd name="connsiteX4" fmla="*/ 175673 w 351345"/>
              <a:gd name="connsiteY4" fmla="*/ 527548 h 606722"/>
              <a:gd name="connsiteX5" fmla="*/ 175628 w 351345"/>
              <a:gd name="connsiteY5" fmla="*/ 0 h 606722"/>
              <a:gd name="connsiteX6" fmla="*/ 351345 w 351345"/>
              <a:gd name="connsiteY6" fmla="*/ 175446 h 606722"/>
              <a:gd name="connsiteX7" fmla="*/ 299894 w 351345"/>
              <a:gd name="connsiteY7" fmla="*/ 299431 h 606722"/>
              <a:gd name="connsiteX8" fmla="*/ 215329 w 351345"/>
              <a:gd name="connsiteY8" fmla="*/ 379511 h 606722"/>
              <a:gd name="connsiteX9" fmla="*/ 215329 w 351345"/>
              <a:gd name="connsiteY9" fmla="*/ 488031 h 606722"/>
              <a:gd name="connsiteX10" fmla="*/ 136016 w 351345"/>
              <a:gd name="connsiteY10" fmla="*/ 488031 h 606722"/>
              <a:gd name="connsiteX11" fmla="*/ 136016 w 351345"/>
              <a:gd name="connsiteY11" fmla="*/ 344937 h 606722"/>
              <a:gd name="connsiteX12" fmla="*/ 148745 w 351345"/>
              <a:gd name="connsiteY12" fmla="*/ 333205 h 606722"/>
              <a:gd name="connsiteX13" fmla="*/ 243814 w 351345"/>
              <a:gd name="connsiteY13" fmla="*/ 243527 h 606722"/>
              <a:gd name="connsiteX14" fmla="*/ 272121 w 351345"/>
              <a:gd name="connsiteY14" fmla="*/ 175446 h 606722"/>
              <a:gd name="connsiteX15" fmla="*/ 175628 w 351345"/>
              <a:gd name="connsiteY15" fmla="*/ 79102 h 606722"/>
              <a:gd name="connsiteX16" fmla="*/ 79224 w 351345"/>
              <a:gd name="connsiteY16" fmla="*/ 175446 h 606722"/>
              <a:gd name="connsiteX17" fmla="*/ 0 w 351345"/>
              <a:gd name="connsiteY17" fmla="*/ 175446 h 606722"/>
              <a:gd name="connsiteX18" fmla="*/ 175628 w 351345"/>
              <a:gd name="connsiteY1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51345" h="606722">
                <a:moveTo>
                  <a:pt x="175673" y="527548"/>
                </a:moveTo>
                <a:cubicBezTo>
                  <a:pt x="197556" y="527548"/>
                  <a:pt x="215296" y="545272"/>
                  <a:pt x="215296" y="567135"/>
                </a:cubicBezTo>
                <a:cubicBezTo>
                  <a:pt x="215296" y="588998"/>
                  <a:pt x="197556" y="606722"/>
                  <a:pt x="175673" y="606722"/>
                </a:cubicBezTo>
                <a:cubicBezTo>
                  <a:pt x="153790" y="606722"/>
                  <a:pt x="136050" y="588998"/>
                  <a:pt x="136050" y="567135"/>
                </a:cubicBezTo>
                <a:cubicBezTo>
                  <a:pt x="136050" y="545272"/>
                  <a:pt x="153790" y="527548"/>
                  <a:pt x="175673" y="527548"/>
                </a:cubicBezTo>
                <a:close/>
                <a:moveTo>
                  <a:pt x="175628" y="0"/>
                </a:moveTo>
                <a:cubicBezTo>
                  <a:pt x="272566" y="0"/>
                  <a:pt x="351345" y="78657"/>
                  <a:pt x="351345" y="175446"/>
                </a:cubicBezTo>
                <a:cubicBezTo>
                  <a:pt x="351345" y="222285"/>
                  <a:pt x="333097" y="266368"/>
                  <a:pt x="299894" y="299431"/>
                </a:cubicBezTo>
                <a:cubicBezTo>
                  <a:pt x="281201" y="318184"/>
                  <a:pt x="237138" y="359157"/>
                  <a:pt x="215329" y="379511"/>
                </a:cubicBezTo>
                <a:lnTo>
                  <a:pt x="215329" y="488031"/>
                </a:lnTo>
                <a:lnTo>
                  <a:pt x="136016" y="488031"/>
                </a:lnTo>
                <a:lnTo>
                  <a:pt x="136016" y="344937"/>
                </a:lnTo>
                <a:lnTo>
                  <a:pt x="148745" y="333205"/>
                </a:lnTo>
                <a:cubicBezTo>
                  <a:pt x="149457" y="332494"/>
                  <a:pt x="220047" y="267257"/>
                  <a:pt x="243814" y="243527"/>
                </a:cubicBezTo>
                <a:cubicBezTo>
                  <a:pt x="262062" y="225307"/>
                  <a:pt x="272121" y="201132"/>
                  <a:pt x="272121" y="175446"/>
                </a:cubicBezTo>
                <a:cubicBezTo>
                  <a:pt x="272121" y="122297"/>
                  <a:pt x="228859" y="79102"/>
                  <a:pt x="175628" y="79102"/>
                </a:cubicBezTo>
                <a:cubicBezTo>
                  <a:pt x="122486" y="79102"/>
                  <a:pt x="79224" y="122297"/>
                  <a:pt x="79224" y="175446"/>
                </a:cubicBezTo>
                <a:lnTo>
                  <a:pt x="0" y="175446"/>
                </a:lnTo>
                <a:cubicBezTo>
                  <a:pt x="0" y="78657"/>
                  <a:pt x="78779" y="0"/>
                  <a:pt x="175628" y="0"/>
                </a:cubicBezTo>
                <a:close/>
              </a:path>
            </a:pathLst>
          </a:custGeom>
          <a:solidFill>
            <a:srgbClr val="30B5C5"/>
          </a:solidFill>
          <a:ln>
            <a:noFill/>
          </a:ln>
        </p:spPr>
        <p:txBody>
          <a:bodyPr/>
          <a:lstStyle/>
          <a:p>
            <a:endParaRPr lang="zh-CN" altLang="en-US">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Rectangle 34"/>
          <p:cNvSpPr/>
          <p:nvPr/>
        </p:nvSpPr>
        <p:spPr bwMode="gray">
          <a:xfrm>
            <a:off x="9569055" y="3178936"/>
            <a:ext cx="1346789" cy="369302"/>
          </a:xfrm>
          <a:prstGeom prst="rect">
            <a:avLst/>
          </a:prstGeom>
        </p:spPr>
        <p:txBody>
          <a:bodyPr wrap="none" lIns="91413" tIns="45705" rIns="91413" bIns="45705">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b="1" kern="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下一代方案</a:t>
            </a:r>
            <a:endParaRPr kumimoji="0" lang="zh-CN" altLang="en-US" sz="1800" b="1" i="0" u="none" strike="noStrike" kern="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Rectangle 34"/>
          <p:cNvSpPr>
            <a:spLocks/>
          </p:cNvSpPr>
          <p:nvPr/>
        </p:nvSpPr>
        <p:spPr bwMode="gray">
          <a:xfrm>
            <a:off x="9252498" y="3983352"/>
            <a:ext cx="1979901" cy="1707125"/>
          </a:xfrm>
          <a:prstGeom prst="roundRect">
            <a:avLst>
              <a:gd name="adj" fmla="val 6365"/>
            </a:avLst>
          </a:prstGeom>
          <a:solidFill>
            <a:srgbClr val="F3FBFE"/>
          </a:solidFill>
          <a:ln w="12700" cap="flat" cmpd="sng" algn="ctr">
            <a:solidFill>
              <a:srgbClr val="BEE9EE"/>
            </a:solidFill>
            <a:prstDash val="solid"/>
            <a:miter lim="800000"/>
          </a:ln>
          <a:effectLst/>
        </p:spPr>
        <p:txBody>
          <a:bodyPr wrap="square" tIns="0" rtlCol="0" anchor="ctr" anchorCtr="0">
            <a:noAutofit/>
          </a:bodyPr>
          <a:lstStyle/>
          <a:p>
            <a:pPr marL="285750" indent="-285750" algn="just">
              <a:lnSpc>
                <a:spcPts val="2400"/>
              </a:lnSpc>
              <a:spcAft>
                <a:spcPts val="600"/>
              </a:spcAft>
              <a:buFont typeface="Arial" panose="020B0604020202020204" pitchFamily="34" charset="0"/>
              <a:buChar char="•"/>
            </a:pPr>
            <a:r>
              <a:rPr lang="zh-CN" altLang="en-US"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自动驾驶</a:t>
            </a:r>
            <a:endParaRPr lang="en-US" altLang="zh-CN"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gn="just">
              <a:lnSpc>
                <a:spcPts val="2400"/>
              </a:lnSpc>
              <a:spcAft>
                <a:spcPts val="600"/>
              </a:spcAft>
              <a:buFont typeface="Arial" panose="020B0604020202020204" pitchFamily="34" charset="0"/>
              <a:buChar char="•"/>
            </a:pPr>
            <a:r>
              <a:rPr lang="zh-CN" altLang="en-US"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智能运维</a:t>
            </a:r>
            <a:endParaRPr lang="en-US" altLang="zh-CN"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gn="just">
              <a:lnSpc>
                <a:spcPts val="2400"/>
              </a:lnSpc>
              <a:spcAft>
                <a:spcPts val="600"/>
              </a:spcAft>
              <a:buFont typeface="Arial" panose="020B0604020202020204" pitchFamily="34" charset="0"/>
              <a:buChar char="•"/>
            </a:pPr>
            <a:r>
              <a:rPr lang="zh-CN" altLang="en-US"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智能联接</a:t>
            </a:r>
            <a:endParaRPr lang="en-US" altLang="zh-CN"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gn="just">
              <a:lnSpc>
                <a:spcPts val="2400"/>
              </a:lnSpc>
              <a:spcAft>
                <a:spcPts val="600"/>
              </a:spcAft>
              <a:buFont typeface="Arial" panose="020B0604020202020204" pitchFamily="34" charset="0"/>
              <a:buChar char="•"/>
            </a:pPr>
            <a:r>
              <a:rPr lang="zh-CN" altLang="en-US"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智能超宽</a:t>
            </a:r>
            <a:r>
              <a:rPr lang="en-US" altLang="zh-CN"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Tree>
    <p:custDataLst>
      <p:tags r:id="rId1"/>
    </p:custDataLst>
    <p:extLst>
      <p:ext uri="{BB962C8B-B14F-4D97-AF65-F5344CB8AC3E}">
        <p14:creationId xmlns:p14="http://schemas.microsoft.com/office/powerpoint/2010/main" val="35259016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a:sym typeface="Huawei Sans" panose="020C0503030203020204" pitchFamily="34" charset="0"/>
              </a:rPr>
              <a:t>大中型园区网络的业务需求与挑战</a:t>
            </a:r>
            <a:endParaRPr lang="zh-CN" altLang="en-US" dirty="0">
              <a:sym typeface="Huawei Sans" panose="020C0503030203020204" pitchFamily="34" charset="0"/>
            </a:endParaRPr>
          </a:p>
        </p:txBody>
      </p:sp>
      <p:grpSp>
        <p:nvGrpSpPr>
          <p:cNvPr id="11" name="组合 10"/>
          <p:cNvGrpSpPr>
            <a:grpSpLocks/>
          </p:cNvGrpSpPr>
          <p:nvPr/>
        </p:nvGrpSpPr>
        <p:grpSpPr bwMode="gray">
          <a:xfrm>
            <a:off x="524077" y="1645701"/>
            <a:ext cx="3565970" cy="3722166"/>
            <a:chOff x="524077" y="1645701"/>
            <a:chExt cx="2674800" cy="3722166"/>
          </a:xfrm>
        </p:grpSpPr>
        <p:sp>
          <p:nvSpPr>
            <p:cNvPr id="3" name="圆角矩形 2"/>
            <p:cNvSpPr/>
            <p:nvPr/>
          </p:nvSpPr>
          <p:spPr bwMode="gray">
            <a:xfrm>
              <a:off x="524077" y="1645701"/>
              <a:ext cx="2674800" cy="364249"/>
            </a:xfrm>
            <a:prstGeom prst="roundRect">
              <a:avLst/>
            </a:prstGeom>
            <a:solidFill>
              <a:srgbClr val="F3FBFE"/>
            </a:solidFill>
            <a:ln w="12700" cap="flat" cmpd="sng" algn="ctr">
              <a:solidFill>
                <a:srgbClr val="BEE9EE"/>
              </a:solidFill>
              <a:prstDash val="solid"/>
              <a:miter lim="800000"/>
            </a:ln>
            <a:effectLst/>
          </p:spPr>
          <p:txBody>
            <a:bodyPr wrap="square" tIns="0" rtlCol="0" anchor="ctr" anchorCtr="0">
              <a:noAutofit/>
            </a:bodyPr>
            <a:lstStyle/>
            <a:p>
              <a:pPr algn="ctr" defTabSz="914400">
                <a:lnSpc>
                  <a:spcPct val="150000"/>
                </a:lnSpc>
              </a:pPr>
              <a:r>
                <a:rPr lang="zh-CN" altLang="en-US"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融合承载</a:t>
              </a:r>
            </a:p>
          </p:txBody>
        </p:sp>
        <p:sp>
          <p:nvSpPr>
            <p:cNvPr id="4" name="圆角矩形 3"/>
            <p:cNvSpPr/>
            <p:nvPr/>
          </p:nvSpPr>
          <p:spPr bwMode="gray">
            <a:xfrm>
              <a:off x="524077" y="2068793"/>
              <a:ext cx="2674800" cy="3299074"/>
            </a:xfrm>
            <a:prstGeom prst="roundRect">
              <a:avLst>
                <a:gd name="adj" fmla="val 2222"/>
              </a:avLst>
            </a:prstGeom>
            <a:noFill/>
            <a:ln w="9525">
              <a:solidFill>
                <a:srgbClr val="94DAE2"/>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nSpc>
                  <a:spcPts val="2400"/>
                </a:lnSpc>
                <a:spcAft>
                  <a:spcPts val="600"/>
                </a:spcAft>
              </a:pP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需求：</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接入终端及业务多样化，需融合承载的网络。</a:t>
              </a:r>
            </a:p>
            <a:p>
              <a:pPr>
                <a:lnSpc>
                  <a:spcPts val="2400"/>
                </a:lnSpc>
                <a:spcAft>
                  <a:spcPts val="600"/>
                </a:spcAft>
              </a:pP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挑战：</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Wi-Fi</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及</a:t>
              </a:r>
              <a:r>
                <a:rPr lang="en-US" altLang="zh-CN" sz="1400" dirty="0" err="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IoT</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等业务各自独立规划、部署、管理，网络总体建设成本高。</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网络管理、运维工作量大。</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nSpc>
                  <a:spcPts val="2400"/>
                </a:lnSpc>
                <a:spcAft>
                  <a:spcPts val="600"/>
                </a:spcAft>
              </a:pP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2" name="组合 11"/>
          <p:cNvGrpSpPr>
            <a:grpSpLocks/>
          </p:cNvGrpSpPr>
          <p:nvPr/>
        </p:nvGrpSpPr>
        <p:grpSpPr bwMode="gray">
          <a:xfrm>
            <a:off x="4262603" y="1645701"/>
            <a:ext cx="3565970" cy="3722166"/>
            <a:chOff x="3299282" y="1645701"/>
            <a:chExt cx="2678857" cy="3722166"/>
          </a:xfrm>
        </p:grpSpPr>
        <p:sp>
          <p:nvSpPr>
            <p:cNvPr id="5" name="圆角矩形 4"/>
            <p:cNvSpPr/>
            <p:nvPr/>
          </p:nvSpPr>
          <p:spPr bwMode="gray">
            <a:xfrm>
              <a:off x="3299282" y="1645701"/>
              <a:ext cx="2674800" cy="364249"/>
            </a:xfrm>
            <a:prstGeom prst="roundRect">
              <a:avLst/>
            </a:prstGeom>
            <a:solidFill>
              <a:srgbClr val="F3FBFE"/>
            </a:solidFill>
            <a:ln w="12700" cap="flat" cmpd="sng" algn="ctr">
              <a:solidFill>
                <a:srgbClr val="BEE9EE"/>
              </a:solidFill>
              <a:prstDash val="solid"/>
              <a:miter lim="800000"/>
            </a:ln>
            <a:effectLst/>
          </p:spPr>
          <p:txBody>
            <a:bodyPr wrap="square" tIns="0" rtlCol="0" anchor="ctr" anchorCtr="0">
              <a:noAutofit/>
            </a:bodyPr>
            <a:lstStyle/>
            <a:p>
              <a:pPr algn="ctr" defTabSz="914400">
                <a:lnSpc>
                  <a:spcPct val="150000"/>
                </a:lnSpc>
              </a:pPr>
              <a:r>
                <a:rPr lang="zh-CN" altLang="en-US"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用户体验感知</a:t>
              </a:r>
            </a:p>
          </p:txBody>
        </p:sp>
        <p:sp>
          <p:nvSpPr>
            <p:cNvPr id="6" name="圆角矩形 5"/>
            <p:cNvSpPr/>
            <p:nvPr/>
          </p:nvSpPr>
          <p:spPr bwMode="gray">
            <a:xfrm>
              <a:off x="3303339" y="2068793"/>
              <a:ext cx="2674800" cy="3299074"/>
            </a:xfrm>
            <a:prstGeom prst="roundRect">
              <a:avLst>
                <a:gd name="adj" fmla="val 2222"/>
              </a:avLst>
            </a:prstGeom>
            <a:noFill/>
            <a:ln w="9525">
              <a:solidFill>
                <a:srgbClr val="94DAE2"/>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nSpc>
                  <a:spcPts val="2400"/>
                </a:lnSpc>
                <a:spcAft>
                  <a:spcPts val="600"/>
                </a:spcAft>
              </a:pP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需求：</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网络运维需自动化、智能化，随时随地感知用户体验。</a:t>
              </a:r>
            </a:p>
            <a:p>
              <a:pPr>
                <a:lnSpc>
                  <a:spcPts val="2400"/>
                </a:lnSpc>
                <a:spcAft>
                  <a:spcPts val="600"/>
                </a:spcAft>
              </a:pP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挑战：</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无法第一时间感知业务故障。</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故障发生后更多是依赖专业人员的运维经验判定业务故障原因，故障无法快速定位。</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网络无法实现自主优化。</a:t>
              </a:r>
            </a:p>
          </p:txBody>
        </p:sp>
      </p:grpSp>
      <p:grpSp>
        <p:nvGrpSpPr>
          <p:cNvPr id="13" name="组合 12"/>
          <p:cNvGrpSpPr>
            <a:grpSpLocks/>
          </p:cNvGrpSpPr>
          <p:nvPr/>
        </p:nvGrpSpPr>
        <p:grpSpPr bwMode="gray">
          <a:xfrm>
            <a:off x="8001129" y="1645701"/>
            <a:ext cx="3565970" cy="3722166"/>
            <a:chOff x="6078544" y="1645701"/>
            <a:chExt cx="2827178" cy="3722166"/>
          </a:xfrm>
        </p:grpSpPr>
        <p:sp>
          <p:nvSpPr>
            <p:cNvPr id="7" name="圆角矩形 6"/>
            <p:cNvSpPr/>
            <p:nvPr/>
          </p:nvSpPr>
          <p:spPr bwMode="gray">
            <a:xfrm>
              <a:off x="6078544" y="1645701"/>
              <a:ext cx="2827178" cy="364249"/>
            </a:xfrm>
            <a:prstGeom prst="roundRect">
              <a:avLst/>
            </a:prstGeom>
            <a:solidFill>
              <a:srgbClr val="F3FBFE"/>
            </a:solidFill>
            <a:ln w="12700" cap="flat" cmpd="sng" algn="ctr">
              <a:solidFill>
                <a:srgbClr val="BEE9EE"/>
              </a:solidFill>
              <a:prstDash val="solid"/>
              <a:miter lim="800000"/>
            </a:ln>
            <a:effectLst/>
          </p:spPr>
          <p:txBody>
            <a:bodyPr wrap="square" tIns="0" rtlCol="0" anchor="ctr" anchorCtr="0">
              <a:noAutofit/>
            </a:bodyPr>
            <a:lstStyle/>
            <a:p>
              <a:pPr algn="ctr" defTabSz="914400">
                <a:lnSpc>
                  <a:spcPct val="150000"/>
                </a:lnSpc>
              </a:pPr>
              <a:r>
                <a:rPr lang="zh-CN" altLang="en-US"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网络自动化</a:t>
              </a:r>
            </a:p>
          </p:txBody>
        </p:sp>
        <p:sp>
          <p:nvSpPr>
            <p:cNvPr id="8" name="圆角矩形 7"/>
            <p:cNvSpPr/>
            <p:nvPr/>
          </p:nvSpPr>
          <p:spPr bwMode="gray">
            <a:xfrm>
              <a:off x="6078544" y="2068793"/>
              <a:ext cx="2827178" cy="3299074"/>
            </a:xfrm>
            <a:prstGeom prst="roundRect">
              <a:avLst>
                <a:gd name="adj" fmla="val 2222"/>
              </a:avLst>
            </a:prstGeom>
            <a:noFill/>
            <a:ln w="9525">
              <a:solidFill>
                <a:srgbClr val="94DAE2"/>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t" anchorCtr="0"/>
            <a:lstStyle/>
            <a:p>
              <a:pPr>
                <a:lnSpc>
                  <a:spcPts val="2400"/>
                </a:lnSpc>
                <a:spcAft>
                  <a:spcPts val="600"/>
                </a:spcAft>
              </a:pP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需求：</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应用和业务激增带来的部署、策略复杂性，网络需实现自动化。</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nSpc>
                  <a:spcPts val="2400"/>
                </a:lnSpc>
                <a:spcAft>
                  <a:spcPts val="600"/>
                </a:spcAft>
              </a:pP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挑战：</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重复工作量大，手工配置繁琐。</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新业务上线需逐台设备进行配置，周期长，成本高。</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网络策略部署与调整工作量大。</a:t>
              </a:r>
            </a:p>
          </p:txBody>
        </p:sp>
      </p:grpSp>
    </p:spTree>
    <p:extLst>
      <p:ext uri="{BB962C8B-B14F-4D97-AF65-F5344CB8AC3E}">
        <p14:creationId xmlns:p14="http://schemas.microsoft.com/office/powerpoint/2010/main" val="28050218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a:sym typeface="Huawei Sans" panose="020C0503030203020204" pitchFamily="34" charset="0"/>
              </a:rPr>
              <a:t>中小型园区网络的业务需求与挑战</a:t>
            </a:r>
            <a:endParaRPr lang="zh-CN" altLang="en-US" dirty="0">
              <a:sym typeface="Huawei Sans" panose="020C0503030203020204" pitchFamily="34" charset="0"/>
            </a:endParaRPr>
          </a:p>
        </p:txBody>
      </p:sp>
      <p:sp>
        <p:nvSpPr>
          <p:cNvPr id="3" name="圆角矩形 2"/>
          <p:cNvSpPr/>
          <p:nvPr/>
        </p:nvSpPr>
        <p:spPr bwMode="gray">
          <a:xfrm>
            <a:off x="838202" y="1323254"/>
            <a:ext cx="3420532" cy="400674"/>
          </a:xfrm>
          <a:prstGeom prst="roundRect">
            <a:avLst>
              <a:gd name="adj" fmla="val 14624"/>
            </a:avLst>
          </a:prstGeom>
          <a:solidFill>
            <a:srgbClr val="F3FBFE"/>
          </a:solidFill>
          <a:ln w="12700" cap="flat" cmpd="sng" algn="ctr">
            <a:solidFill>
              <a:srgbClr val="BEE9EE"/>
            </a:solidFill>
            <a:prstDash val="solid"/>
            <a:miter lim="800000"/>
          </a:ln>
          <a:effectLst/>
        </p:spPr>
        <p:txBody>
          <a:bodyPr wrap="square" tIns="0" rtlCol="0" anchor="ctr" anchorCtr="0">
            <a:noAutofit/>
          </a:bodyPr>
          <a:lstStyle/>
          <a:p>
            <a:pPr algn="ctr" defTabSz="914400">
              <a:lnSpc>
                <a:spcPct val="150000"/>
              </a:lnSpc>
            </a:pPr>
            <a:r>
              <a:rPr lang="zh-CN" altLang="en-US" sz="1600"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网络设备即插即用，提升部署效率</a:t>
            </a:r>
          </a:p>
        </p:txBody>
      </p:sp>
      <p:sp>
        <p:nvSpPr>
          <p:cNvPr id="4" name="圆角矩形 3"/>
          <p:cNvSpPr/>
          <p:nvPr/>
        </p:nvSpPr>
        <p:spPr bwMode="gray">
          <a:xfrm>
            <a:off x="838201" y="1759220"/>
            <a:ext cx="3420532" cy="4026386"/>
          </a:xfrm>
          <a:prstGeom prst="roundRect">
            <a:avLst>
              <a:gd name="adj" fmla="val 2222"/>
            </a:avLst>
          </a:prstGeom>
          <a:noFill/>
          <a:ln w="952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a:lnSpc>
                <a:spcPts val="2400"/>
              </a:lnSpc>
              <a:spcAft>
                <a:spcPts val="600"/>
              </a:spcAft>
            </a:pPr>
            <a:endPar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矩形 4"/>
          <p:cNvSpPr/>
          <p:nvPr/>
        </p:nvSpPr>
        <p:spPr bwMode="gray">
          <a:xfrm>
            <a:off x="884305" y="4314280"/>
            <a:ext cx="3328323" cy="1400383"/>
          </a:xfrm>
          <a:prstGeom prst="rect">
            <a:avLst/>
          </a:prstGeom>
        </p:spPr>
        <p:txBody>
          <a:bodyPr wrap="square">
            <a:spAutoFit/>
          </a:bodyPr>
          <a:lstStyle/>
          <a:p>
            <a:pPr marL="182563" indent="-182563">
              <a:lnSpc>
                <a:spcPts val="24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集中统一下发多站点网络配置，减少现场配置调试工作，提升部署效率。</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网络即插即用，按需扩展，网络升级成本低。</a:t>
            </a:r>
          </a:p>
        </p:txBody>
      </p:sp>
      <p:sp>
        <p:nvSpPr>
          <p:cNvPr id="6" name="圆角矩形 5"/>
          <p:cNvSpPr/>
          <p:nvPr/>
        </p:nvSpPr>
        <p:spPr bwMode="gray">
          <a:xfrm>
            <a:off x="4385736" y="1323254"/>
            <a:ext cx="3420532" cy="400674"/>
          </a:xfrm>
          <a:prstGeom prst="roundRect">
            <a:avLst>
              <a:gd name="adj" fmla="val 14624"/>
            </a:avLst>
          </a:prstGeom>
          <a:solidFill>
            <a:srgbClr val="F3FBFE"/>
          </a:solidFill>
          <a:ln w="12700" cap="flat" cmpd="sng" algn="ctr">
            <a:solidFill>
              <a:srgbClr val="BEE9EE"/>
            </a:solidFill>
            <a:prstDash val="solid"/>
            <a:miter lim="800000"/>
          </a:ln>
          <a:effectLst/>
        </p:spPr>
        <p:txBody>
          <a:bodyPr wrap="square" tIns="0" rtlCol="0" anchor="ctr" anchorCtr="0">
            <a:noAutofit/>
          </a:bodyPr>
          <a:lstStyle/>
          <a:p>
            <a:pPr algn="ctr" defTabSz="914400">
              <a:lnSpc>
                <a:spcPct val="150000"/>
              </a:lnSpc>
            </a:pPr>
            <a:r>
              <a:rPr lang="zh-CN" altLang="en-US" sz="1600" ker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云端集中运维，简化多站点运维</a:t>
            </a:r>
          </a:p>
        </p:txBody>
      </p:sp>
      <p:sp>
        <p:nvSpPr>
          <p:cNvPr id="7" name="圆角矩形 6"/>
          <p:cNvSpPr/>
          <p:nvPr/>
        </p:nvSpPr>
        <p:spPr bwMode="gray">
          <a:xfrm>
            <a:off x="4385735" y="1759220"/>
            <a:ext cx="3420532" cy="4026386"/>
          </a:xfrm>
          <a:prstGeom prst="roundRect">
            <a:avLst>
              <a:gd name="adj" fmla="val 2222"/>
            </a:avLst>
          </a:prstGeom>
          <a:noFill/>
          <a:ln w="952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a:lnSpc>
                <a:spcPts val="2400"/>
              </a:lnSpc>
              <a:spcAft>
                <a:spcPts val="600"/>
              </a:spcAft>
            </a:pPr>
            <a:endPar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矩形 7"/>
          <p:cNvSpPr/>
          <p:nvPr/>
        </p:nvSpPr>
        <p:spPr bwMode="gray">
          <a:xfrm>
            <a:off x="4431839" y="4314280"/>
            <a:ext cx="3328324" cy="1015663"/>
          </a:xfrm>
          <a:prstGeom prst="rect">
            <a:avLst/>
          </a:prstGeom>
        </p:spPr>
        <p:txBody>
          <a:bodyPr wrap="square">
            <a:spAutoFit/>
          </a:bodyPr>
          <a:lstStyle/>
          <a:p>
            <a:pPr>
              <a:lnSpc>
                <a:spcPts val="2400"/>
              </a:lnSpc>
            </a:pP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通过互联网将分散的园区分支网络集中到云端管理，并且集成排障、监控等多种自动化工具，实现远程自动化运维。</a:t>
            </a:r>
          </a:p>
        </p:txBody>
      </p:sp>
      <p:sp>
        <p:nvSpPr>
          <p:cNvPr id="9" name="圆角矩形 8"/>
          <p:cNvSpPr/>
          <p:nvPr/>
        </p:nvSpPr>
        <p:spPr bwMode="gray">
          <a:xfrm>
            <a:off x="7933269" y="1323254"/>
            <a:ext cx="3420532" cy="400674"/>
          </a:xfrm>
          <a:prstGeom prst="roundRect">
            <a:avLst>
              <a:gd name="adj" fmla="val 14624"/>
            </a:avLst>
          </a:prstGeom>
          <a:solidFill>
            <a:srgbClr val="F3FBFE"/>
          </a:solidFill>
          <a:ln w="12700" cap="flat" cmpd="sng" algn="ctr">
            <a:solidFill>
              <a:srgbClr val="BEE9EE"/>
            </a:solidFill>
            <a:prstDash val="solid"/>
            <a:miter lim="800000"/>
          </a:ln>
          <a:effectLst/>
        </p:spPr>
        <p:txBody>
          <a:bodyPr wrap="square" tIns="0" rtlCol="0" anchor="ctr" anchorCtr="0">
            <a:noAutofit/>
          </a:bodyPr>
          <a:lstStyle/>
          <a:p>
            <a:pPr algn="ctr" defTabSz="914400">
              <a:lnSpc>
                <a:spcPct val="150000"/>
              </a:lnSpc>
            </a:pPr>
            <a:r>
              <a:rPr lang="zh-CN" altLang="en-US" sz="1600" ker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开放的</a:t>
            </a:r>
            <a:r>
              <a:rPr lang="en-US" altLang="zh-CN" sz="1600" ker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API</a:t>
            </a:r>
            <a:r>
              <a:rPr lang="zh-CN" altLang="en-US" sz="1600" ker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，加速商业应用集成</a:t>
            </a:r>
          </a:p>
        </p:txBody>
      </p:sp>
      <p:sp>
        <p:nvSpPr>
          <p:cNvPr id="10" name="圆角矩形 9"/>
          <p:cNvSpPr/>
          <p:nvPr/>
        </p:nvSpPr>
        <p:spPr bwMode="gray">
          <a:xfrm>
            <a:off x="7933268" y="1759220"/>
            <a:ext cx="3420532" cy="4026386"/>
          </a:xfrm>
          <a:prstGeom prst="roundRect">
            <a:avLst>
              <a:gd name="adj" fmla="val 2222"/>
            </a:avLst>
          </a:prstGeom>
          <a:noFill/>
          <a:ln w="952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chorCtr="0"/>
          <a:lstStyle/>
          <a:p>
            <a:pPr>
              <a:lnSpc>
                <a:spcPts val="2400"/>
              </a:lnSpc>
              <a:spcAft>
                <a:spcPts val="600"/>
              </a:spcAft>
            </a:pPr>
            <a:endPar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矩形 10"/>
          <p:cNvSpPr/>
          <p:nvPr/>
        </p:nvSpPr>
        <p:spPr bwMode="gray">
          <a:xfrm>
            <a:off x="7979373" y="4314280"/>
            <a:ext cx="3328323" cy="1323439"/>
          </a:xfrm>
          <a:prstGeom prst="rect">
            <a:avLst/>
          </a:prstGeom>
        </p:spPr>
        <p:txBody>
          <a:bodyPr wrap="square">
            <a:spAutoFit/>
          </a:bodyPr>
          <a:lstStyle/>
          <a:p>
            <a:pPr>
              <a:lnSpc>
                <a:spcPts val="2400"/>
              </a:lnSpc>
            </a:pP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具备</a:t>
            </a:r>
            <a:r>
              <a:rPr lang="zh-CN" altLang="zh-CN" sz="1400">
                <a:latin typeface="Huawei Sans" panose="020C0503030203020204" pitchFamily="34" charset="0"/>
                <a:ea typeface="方正兰亭黑简体" panose="02000000000000000000" pitchFamily="2" charset="-122"/>
                <a:sym typeface="Huawei Sans" panose="020C0503030203020204" pitchFamily="34" charset="0"/>
              </a:rPr>
              <a:t>开放性和大数据分析能力，可以合并和对接多个管理系统，实现网络统一管理。也可以提供更多增值应用，引导企业数字化转型。</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Freeform 159"/>
          <p:cNvSpPr/>
          <p:nvPr/>
        </p:nvSpPr>
        <p:spPr bwMode="gray">
          <a:xfrm flipH="1">
            <a:off x="1371599" y="2773361"/>
            <a:ext cx="2353734" cy="123036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3" name="图片 76" descr="接入交换机.png"/>
          <p:cNvPicPr>
            <a:picLocks noChangeAspect="1"/>
          </p:cNvPicPr>
          <p:nvPr/>
        </p:nvPicPr>
        <p:blipFill>
          <a:blip r:embed="rId3"/>
          <a:stretch>
            <a:fillRect/>
          </a:stretch>
        </p:blipFill>
        <p:spPr bwMode="gray">
          <a:xfrm>
            <a:off x="2575301" y="3454887"/>
            <a:ext cx="335297" cy="274335"/>
          </a:xfrm>
          <a:prstGeom prst="rect">
            <a:avLst/>
          </a:prstGeom>
        </p:spPr>
      </p:pic>
      <p:pic>
        <p:nvPicPr>
          <p:cNvPr id="14" name="图片 105" descr="AP.png"/>
          <p:cNvPicPr>
            <a:picLocks noChangeAspect="1"/>
          </p:cNvPicPr>
          <p:nvPr/>
        </p:nvPicPr>
        <p:blipFill>
          <a:blip r:embed="rId4"/>
          <a:stretch>
            <a:fillRect/>
          </a:stretch>
        </p:blipFill>
        <p:spPr bwMode="gray">
          <a:xfrm>
            <a:off x="2200878" y="3454887"/>
            <a:ext cx="335297" cy="274335"/>
          </a:xfrm>
          <a:prstGeom prst="rect">
            <a:avLst/>
          </a:prstGeom>
        </p:spPr>
      </p:pic>
      <p:pic>
        <p:nvPicPr>
          <p:cNvPr id="15" name="图片 114" descr="中心AP.png"/>
          <p:cNvPicPr>
            <a:picLocks noChangeAspect="1"/>
          </p:cNvPicPr>
          <p:nvPr/>
        </p:nvPicPr>
        <p:blipFill>
          <a:blip r:embed="rId5"/>
          <a:stretch>
            <a:fillRect/>
          </a:stretch>
        </p:blipFill>
        <p:spPr bwMode="gray">
          <a:xfrm>
            <a:off x="2949724" y="3456817"/>
            <a:ext cx="330578" cy="270474"/>
          </a:xfrm>
          <a:prstGeom prst="rect">
            <a:avLst/>
          </a:prstGeom>
        </p:spPr>
      </p:pic>
      <p:pic>
        <p:nvPicPr>
          <p:cNvPr id="16" name="图片 20" descr="RRU蓝.png"/>
          <p:cNvPicPr>
            <a:picLocks noChangeAspect="1"/>
          </p:cNvPicPr>
          <p:nvPr/>
        </p:nvPicPr>
        <p:blipFill>
          <a:blip r:embed="rId6"/>
          <a:stretch>
            <a:fillRect/>
          </a:stretch>
        </p:blipFill>
        <p:spPr bwMode="gray">
          <a:xfrm>
            <a:off x="3319428" y="3456817"/>
            <a:ext cx="330578" cy="270474"/>
          </a:xfrm>
          <a:prstGeom prst="rect">
            <a:avLst/>
          </a:prstGeom>
        </p:spPr>
      </p:pic>
      <p:pic>
        <p:nvPicPr>
          <p:cNvPr id="17" name="图片 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1451943" y="3454887"/>
            <a:ext cx="335297" cy="274335"/>
          </a:xfrm>
          <a:prstGeom prst="rect">
            <a:avLst/>
          </a:prstGeom>
        </p:spPr>
      </p:pic>
      <p:pic>
        <p:nvPicPr>
          <p:cNvPr id="18" name="Picture 2" descr="G:\做的项目\公共\扁平图标切换\更新2015_01_21\oss扁平图标库2015_01_21更新-04.png"/>
          <p:cNvPicPr>
            <a:picLocks noChangeAspect="1" noChangeArrowheads="1"/>
          </p:cNvPicPr>
          <p:nvPr/>
        </p:nvPicPr>
        <p:blipFill>
          <a:blip r:embed="rId8"/>
          <a:stretch>
            <a:fillRect/>
          </a:stretch>
        </p:blipFill>
        <p:spPr bwMode="gray">
          <a:xfrm>
            <a:off x="1826366" y="3456817"/>
            <a:ext cx="335386" cy="270474"/>
          </a:xfrm>
          <a:prstGeom prst="rect">
            <a:avLst/>
          </a:prstGeom>
          <a:noFill/>
        </p:spPr>
      </p:pic>
      <p:sp>
        <p:nvSpPr>
          <p:cNvPr id="19" name="文本框 18"/>
          <p:cNvSpPr txBox="1"/>
          <p:nvPr/>
        </p:nvSpPr>
        <p:spPr bwMode="gray">
          <a:xfrm>
            <a:off x="2021303" y="3124623"/>
            <a:ext cx="1107996"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站点网络设备</a:t>
            </a:r>
          </a:p>
        </p:txBody>
      </p:sp>
      <p:sp>
        <p:nvSpPr>
          <p:cNvPr id="20" name="Right Arrow 158"/>
          <p:cNvSpPr/>
          <p:nvPr/>
        </p:nvSpPr>
        <p:spPr bwMode="gray">
          <a:xfrm rot="5400000">
            <a:off x="2258599" y="2432579"/>
            <a:ext cx="633403" cy="494305"/>
          </a:xfrm>
          <a:prstGeom prst="rightArrow">
            <a:avLst>
              <a:gd name="adj1" fmla="val 79333"/>
              <a:gd name="adj2" fmla="val 50000"/>
            </a:avLst>
          </a:prstGeom>
          <a:gradFill flip="none" rotWithShape="1">
            <a:gsLst>
              <a:gs pos="15000">
                <a:schemeClr val="accent1">
                  <a:lumMod val="5000"/>
                  <a:lumOff val="95000"/>
                  <a:alpha val="0"/>
                </a:schemeClr>
              </a:gs>
              <a:gs pos="81000">
                <a:srgbClr val="FDD351"/>
              </a:gs>
            </a:gsLst>
            <a:lin ang="0" scaled="1"/>
            <a:tileRect/>
          </a:gradFill>
          <a:ln>
            <a:gradFill flip="none" rotWithShape="1">
              <a:gsLst>
                <a:gs pos="11000">
                  <a:schemeClr val="accent1">
                    <a:lumMod val="0"/>
                    <a:lumOff val="100000"/>
                    <a:alpha val="0"/>
                  </a:schemeClr>
                </a:gs>
                <a:gs pos="67000">
                  <a:srgbClr val="FF9933"/>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文本框 20"/>
          <p:cNvSpPr txBox="1"/>
          <p:nvPr/>
        </p:nvSpPr>
        <p:spPr bwMode="gray">
          <a:xfrm>
            <a:off x="1675056" y="2075199"/>
            <a:ext cx="1800494" cy="307777"/>
          </a:xfrm>
          <a:prstGeom prst="rect">
            <a:avLst/>
          </a:prstGeom>
          <a:noFill/>
        </p:spPr>
        <p:txBody>
          <a:bodyPr wrap="none" rtlCol="0">
            <a:spAutoFit/>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统一管理、集中配置</a:t>
            </a:r>
          </a:p>
        </p:txBody>
      </p:sp>
      <p:sp>
        <p:nvSpPr>
          <p:cNvPr id="22" name="文本框 21"/>
          <p:cNvSpPr txBox="1"/>
          <p:nvPr/>
        </p:nvSpPr>
        <p:spPr bwMode="gray">
          <a:xfrm>
            <a:off x="1790474" y="3733575"/>
            <a:ext cx="1569660" cy="276999"/>
          </a:xfrm>
          <a:prstGeom prst="rect">
            <a:avLst/>
          </a:prstGeom>
          <a:noFill/>
        </p:spPr>
        <p:txBody>
          <a:bodyPr wrap="none" rtlCol="0">
            <a:spAutoFit/>
          </a:bodyPr>
          <a:lstStyle/>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即插即用、按需扩展</a:t>
            </a:r>
          </a:p>
        </p:txBody>
      </p:sp>
      <p:sp>
        <p:nvSpPr>
          <p:cNvPr id="23" name="Right Arrow 158"/>
          <p:cNvSpPr/>
          <p:nvPr/>
        </p:nvSpPr>
        <p:spPr bwMode="gray">
          <a:xfrm rot="5400000">
            <a:off x="5851048" y="2379194"/>
            <a:ext cx="526633" cy="494305"/>
          </a:xfrm>
          <a:prstGeom prst="rightArrow">
            <a:avLst>
              <a:gd name="adj1" fmla="val 79333"/>
              <a:gd name="adj2" fmla="val 50000"/>
            </a:avLst>
          </a:prstGeom>
          <a:gradFill flip="none" rotWithShape="1">
            <a:gsLst>
              <a:gs pos="15000">
                <a:schemeClr val="accent1">
                  <a:lumMod val="5000"/>
                  <a:lumOff val="95000"/>
                  <a:alpha val="0"/>
                </a:schemeClr>
              </a:gs>
              <a:gs pos="81000">
                <a:srgbClr val="FDD351"/>
              </a:gs>
            </a:gsLst>
            <a:lin ang="0" scaled="1"/>
            <a:tileRect/>
          </a:gradFill>
          <a:ln>
            <a:gradFill flip="none" rotWithShape="1">
              <a:gsLst>
                <a:gs pos="11000">
                  <a:schemeClr val="accent1">
                    <a:lumMod val="0"/>
                    <a:lumOff val="100000"/>
                    <a:alpha val="0"/>
                  </a:schemeClr>
                </a:gs>
                <a:gs pos="67000">
                  <a:srgbClr val="FF9933"/>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文本框 23"/>
          <p:cNvSpPr txBox="1"/>
          <p:nvPr/>
        </p:nvSpPr>
        <p:spPr bwMode="gray">
          <a:xfrm>
            <a:off x="4495978" y="2075199"/>
            <a:ext cx="3236785" cy="307777"/>
          </a:xfrm>
          <a:prstGeom prst="rect">
            <a:avLst/>
          </a:prstGeom>
          <a:noFill/>
        </p:spPr>
        <p:txBody>
          <a:bodyPr wrap="none" rtlCol="0">
            <a:spAutoFit/>
          </a:bodyPr>
          <a:lstStyle/>
          <a:p>
            <a:pPr algn="ct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多分支集中云端管理，远程自动化运维</a:t>
            </a:r>
          </a:p>
        </p:txBody>
      </p:sp>
      <p:sp>
        <p:nvSpPr>
          <p:cNvPr id="25" name="Freeform 159"/>
          <p:cNvSpPr/>
          <p:nvPr/>
        </p:nvSpPr>
        <p:spPr bwMode="gray">
          <a:xfrm flipH="1">
            <a:off x="5974987" y="2889663"/>
            <a:ext cx="992273" cy="51868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文本框 25"/>
          <p:cNvSpPr txBox="1"/>
          <p:nvPr/>
        </p:nvSpPr>
        <p:spPr bwMode="gray">
          <a:xfrm>
            <a:off x="4966462" y="3473049"/>
            <a:ext cx="886781" cy="276999"/>
          </a:xfrm>
          <a:prstGeom prst="rect">
            <a:avLst/>
          </a:prstGeom>
          <a:noFill/>
        </p:spPr>
        <p:txBody>
          <a:bodyPr wrap="none" rtlCol="0">
            <a:spAutoFit/>
          </a:bodyPr>
          <a:lstStyle/>
          <a:p>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站点网络</a:t>
            </a: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Freeform 159"/>
          <p:cNvSpPr/>
          <p:nvPr/>
        </p:nvSpPr>
        <p:spPr bwMode="gray">
          <a:xfrm flipH="1">
            <a:off x="4913717" y="3278261"/>
            <a:ext cx="992273" cy="51868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文本框 27"/>
          <p:cNvSpPr txBox="1"/>
          <p:nvPr/>
        </p:nvSpPr>
        <p:spPr bwMode="gray">
          <a:xfrm>
            <a:off x="6027732" y="3085298"/>
            <a:ext cx="886781" cy="276999"/>
          </a:xfrm>
          <a:prstGeom prst="rect">
            <a:avLst/>
          </a:prstGeom>
          <a:noFill/>
        </p:spPr>
        <p:txBody>
          <a:bodyPr wrap="none" rtlCol="0">
            <a:spAutoFit/>
          </a:bodyPr>
          <a:lstStyle/>
          <a:p>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站点网络</a:t>
            </a: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Freeform 159"/>
          <p:cNvSpPr/>
          <p:nvPr/>
        </p:nvSpPr>
        <p:spPr bwMode="gray">
          <a:xfrm flipH="1">
            <a:off x="6418376" y="3516319"/>
            <a:ext cx="992273" cy="51868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文本框 29"/>
          <p:cNvSpPr txBox="1"/>
          <p:nvPr/>
        </p:nvSpPr>
        <p:spPr bwMode="gray">
          <a:xfrm>
            <a:off x="6471121" y="3711954"/>
            <a:ext cx="917239" cy="276999"/>
          </a:xfrm>
          <a:prstGeom prst="rect">
            <a:avLst/>
          </a:prstGeom>
          <a:noFill/>
        </p:spPr>
        <p:txBody>
          <a:bodyPr wrap="none" rtlCol="0">
            <a:spAutoFit/>
          </a:bodyPr>
          <a:lstStyle/>
          <a:p>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站点网络</a:t>
            </a: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N</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1" name="Group 3"/>
          <p:cNvGrpSpPr/>
          <p:nvPr/>
        </p:nvGrpSpPr>
        <p:grpSpPr bwMode="gray">
          <a:xfrm>
            <a:off x="6068183" y="3617258"/>
            <a:ext cx="261965" cy="61979"/>
            <a:chOff x="559282" y="6488261"/>
            <a:chExt cx="261965" cy="61979"/>
          </a:xfrm>
          <a:solidFill>
            <a:schemeClr val="bg1">
              <a:lumMod val="50000"/>
            </a:schemeClr>
          </a:solidFill>
        </p:grpSpPr>
        <p:sp>
          <p:nvSpPr>
            <p:cNvPr id="32"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5" name="文本框 34"/>
          <p:cNvSpPr txBox="1"/>
          <p:nvPr/>
        </p:nvSpPr>
        <p:spPr bwMode="gray">
          <a:xfrm>
            <a:off x="9207283" y="3805442"/>
            <a:ext cx="886782" cy="276999"/>
          </a:xfrm>
          <a:prstGeom prst="rect">
            <a:avLst/>
          </a:prstGeom>
          <a:noFill/>
        </p:spPr>
        <p:txBody>
          <a:bodyPr wrap="none" rtlCol="0">
            <a:spAutoFit/>
          </a:bodyPr>
          <a:lstStyle>
            <a:defPPr>
              <a:defRPr lang="en-US"/>
            </a:defPPr>
            <a:lvl1pPr algn="ctr">
              <a:defRPr sz="1200">
                <a:latin typeface="Huawei Sans" panose="020C0503030203020204" pitchFamily="34" charset="0"/>
                <a:ea typeface="方正兰亭黑简体" panose="02000000000000000000" pitchFamily="2" charset="-122"/>
              </a:defRPr>
            </a:lvl1pPr>
          </a:lstStyle>
          <a:p>
            <a:r>
              <a:rPr lang="zh-CN" altLang="en-US" dirty="0">
                <a:sym typeface="Huawei Sans" panose="020C0503030203020204" pitchFamily="34" charset="0"/>
              </a:rPr>
              <a:t>站点网络</a:t>
            </a:r>
            <a:r>
              <a:rPr lang="en-US" altLang="zh-CN" dirty="0">
                <a:sym typeface="Huawei Sans" panose="020C0503030203020204" pitchFamily="34" charset="0"/>
              </a:rPr>
              <a:t>2</a:t>
            </a:r>
            <a:endParaRPr lang="zh-CN" altLang="en-US" dirty="0">
              <a:sym typeface="Huawei Sans" panose="020C0503030203020204" pitchFamily="34" charset="0"/>
            </a:endParaRPr>
          </a:p>
        </p:txBody>
      </p:sp>
      <p:sp>
        <p:nvSpPr>
          <p:cNvPr id="36" name="Freeform 159"/>
          <p:cNvSpPr/>
          <p:nvPr/>
        </p:nvSpPr>
        <p:spPr bwMode="gray">
          <a:xfrm flipH="1">
            <a:off x="9154537" y="3610654"/>
            <a:ext cx="992273" cy="51868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Freeform 159"/>
          <p:cNvSpPr/>
          <p:nvPr/>
        </p:nvSpPr>
        <p:spPr bwMode="gray">
          <a:xfrm flipH="1">
            <a:off x="9154537" y="2708626"/>
            <a:ext cx="992273" cy="51868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56C4D2"/>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b">
            <a:noAutofit/>
          </a:bodyPr>
          <a:lstStyle/>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云管理平台</a:t>
            </a:r>
            <a:endParaRPr 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Right Arrow 158"/>
          <p:cNvSpPr/>
          <p:nvPr/>
        </p:nvSpPr>
        <p:spPr bwMode="gray">
          <a:xfrm rot="5400000" flipH="1">
            <a:off x="9384189" y="2241811"/>
            <a:ext cx="518689" cy="494305"/>
          </a:xfrm>
          <a:prstGeom prst="rightArrow">
            <a:avLst>
              <a:gd name="adj1" fmla="val 79333"/>
              <a:gd name="adj2" fmla="val 50000"/>
            </a:avLst>
          </a:prstGeom>
          <a:gradFill flip="none" rotWithShape="1">
            <a:gsLst>
              <a:gs pos="15000">
                <a:schemeClr val="accent1">
                  <a:lumMod val="5000"/>
                  <a:lumOff val="95000"/>
                  <a:alpha val="0"/>
                </a:schemeClr>
              </a:gs>
              <a:gs pos="81000">
                <a:srgbClr val="FDD351"/>
              </a:gs>
            </a:gsLst>
            <a:lin ang="0" scaled="1"/>
            <a:tileRect/>
          </a:gradFill>
          <a:ln>
            <a:gradFill flip="none" rotWithShape="1">
              <a:gsLst>
                <a:gs pos="11000">
                  <a:schemeClr val="accent1">
                    <a:lumMod val="0"/>
                    <a:lumOff val="100000"/>
                    <a:alpha val="0"/>
                  </a:schemeClr>
                </a:gs>
                <a:gs pos="67000">
                  <a:srgbClr val="FF9933"/>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p:cNvSpPr txBox="1"/>
          <p:nvPr/>
        </p:nvSpPr>
        <p:spPr bwMode="gray">
          <a:xfrm>
            <a:off x="8171729" y="3527510"/>
            <a:ext cx="886781" cy="276999"/>
          </a:xfrm>
          <a:prstGeom prst="rect">
            <a:avLst/>
          </a:prstGeom>
          <a:noFill/>
        </p:spPr>
        <p:txBody>
          <a:bodyPr wrap="none" rtlCol="0">
            <a:spAutoFit/>
          </a:bodyPr>
          <a:lstStyle/>
          <a:p>
            <a:pPr algn="ct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站点网络</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Freeform 159"/>
          <p:cNvSpPr/>
          <p:nvPr/>
        </p:nvSpPr>
        <p:spPr bwMode="gray">
          <a:xfrm flipH="1">
            <a:off x="8148686" y="3332722"/>
            <a:ext cx="992273" cy="51868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文本框 40"/>
          <p:cNvSpPr txBox="1"/>
          <p:nvPr/>
        </p:nvSpPr>
        <p:spPr bwMode="gray">
          <a:xfrm>
            <a:off x="10250113" y="3527510"/>
            <a:ext cx="917239" cy="276999"/>
          </a:xfrm>
          <a:prstGeom prst="rect">
            <a:avLst/>
          </a:prstGeom>
          <a:noFill/>
        </p:spPr>
        <p:txBody>
          <a:bodyPr wrap="none" rtlCol="0">
            <a:spAutoFit/>
          </a:bodyPr>
          <a:lstStyle>
            <a:defPPr>
              <a:defRPr lang="en-US"/>
            </a:defPPr>
            <a:lvl1pPr algn="ctr">
              <a:defRPr sz="1200">
                <a:latin typeface="Huawei Sans" panose="020C0503030203020204" pitchFamily="34" charset="0"/>
                <a:ea typeface="方正兰亭黑简体" panose="02000000000000000000" pitchFamily="2" charset="-122"/>
              </a:defRPr>
            </a:lvl1pPr>
          </a:lstStyle>
          <a:p>
            <a:r>
              <a:rPr lang="zh-CN" altLang="en-US" dirty="0">
                <a:sym typeface="Huawei Sans" panose="020C0503030203020204" pitchFamily="34" charset="0"/>
              </a:rPr>
              <a:t>站点网络</a:t>
            </a:r>
            <a:r>
              <a:rPr lang="en-US" altLang="zh-CN" dirty="0">
                <a:sym typeface="Huawei Sans" panose="020C0503030203020204" pitchFamily="34" charset="0"/>
              </a:rPr>
              <a:t>N</a:t>
            </a:r>
            <a:endParaRPr lang="zh-CN" altLang="en-US" dirty="0">
              <a:sym typeface="Huawei Sans" panose="020C0503030203020204" pitchFamily="34" charset="0"/>
            </a:endParaRPr>
          </a:p>
        </p:txBody>
      </p:sp>
      <p:sp>
        <p:nvSpPr>
          <p:cNvPr id="42" name="Freeform 159"/>
          <p:cNvSpPr/>
          <p:nvPr/>
        </p:nvSpPr>
        <p:spPr bwMode="gray">
          <a:xfrm flipH="1">
            <a:off x="10212596" y="3332722"/>
            <a:ext cx="992273" cy="51868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文本框 42"/>
          <p:cNvSpPr txBox="1"/>
          <p:nvPr/>
        </p:nvSpPr>
        <p:spPr bwMode="gray">
          <a:xfrm>
            <a:off x="8653518" y="1937980"/>
            <a:ext cx="1980030" cy="307777"/>
          </a:xfrm>
          <a:prstGeom prst="rect">
            <a:avLst/>
          </a:prstGeom>
          <a:noFill/>
        </p:spPr>
        <p:txBody>
          <a:bodyPr wrap="none" rtlCol="0">
            <a:spAutoFit/>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开放、大数据分析能力</a:t>
            </a:r>
          </a:p>
        </p:txBody>
      </p:sp>
      <p:grpSp>
        <p:nvGrpSpPr>
          <p:cNvPr id="44" name="Group 3"/>
          <p:cNvGrpSpPr/>
          <p:nvPr/>
        </p:nvGrpSpPr>
        <p:grpSpPr bwMode="gray">
          <a:xfrm>
            <a:off x="10247257" y="3957963"/>
            <a:ext cx="261965" cy="61979"/>
            <a:chOff x="559282" y="6488261"/>
            <a:chExt cx="261965" cy="61979"/>
          </a:xfrm>
          <a:solidFill>
            <a:schemeClr val="bg1">
              <a:lumMod val="50000"/>
            </a:schemeClr>
          </a:solidFill>
        </p:grpSpPr>
        <p:sp>
          <p:nvSpPr>
            <p:cNvPr id="45"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28683628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dirty="0">
                <a:sym typeface="Huawei Sans" panose="020C0503030203020204" pitchFamily="34" charset="0"/>
              </a:rPr>
              <a:t>多园区网络互联的业务需求与挑战</a:t>
            </a:r>
          </a:p>
        </p:txBody>
      </p:sp>
      <p:sp>
        <p:nvSpPr>
          <p:cNvPr id="3" name="圆角矩形 2"/>
          <p:cNvSpPr/>
          <p:nvPr/>
        </p:nvSpPr>
        <p:spPr bwMode="gray">
          <a:xfrm>
            <a:off x="2722808" y="1710210"/>
            <a:ext cx="2176400" cy="364249"/>
          </a:xfrm>
          <a:prstGeom prst="roundRect">
            <a:avLst/>
          </a:prstGeom>
          <a:solidFill>
            <a:srgbClr val="F3FBFE"/>
          </a:solidFill>
          <a:ln w="12700" cap="flat" cmpd="sng" algn="ctr">
            <a:solidFill>
              <a:srgbClr val="BEE9EE"/>
            </a:solidFill>
            <a:prstDash val="solid"/>
            <a:miter lim="800000"/>
          </a:ln>
          <a:effectLst/>
        </p:spPr>
        <p:txBody>
          <a:bodyPr wrap="square" tIns="0" bIns="0" rtlCol="0" anchor="ctr" anchorCtr="0">
            <a:noAutofit/>
          </a:bodyPr>
          <a:lstStyle/>
          <a:p>
            <a:pPr algn="ctr" defTabSz="914400">
              <a:lnSpc>
                <a:spcPct val="150000"/>
              </a:lnSpc>
            </a:pPr>
            <a:r>
              <a:rPr lang="zh-CN" altLang="en-US" sz="1600"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业务开通周期</a:t>
            </a:r>
          </a:p>
        </p:txBody>
      </p:sp>
      <p:sp>
        <p:nvSpPr>
          <p:cNvPr id="4" name="圆角矩形 3"/>
          <p:cNvSpPr/>
          <p:nvPr/>
        </p:nvSpPr>
        <p:spPr bwMode="gray">
          <a:xfrm>
            <a:off x="4988885" y="1710210"/>
            <a:ext cx="2176400" cy="364249"/>
          </a:xfrm>
          <a:prstGeom prst="roundRect">
            <a:avLst/>
          </a:prstGeom>
          <a:solidFill>
            <a:srgbClr val="F3FBFE"/>
          </a:solidFill>
          <a:ln w="12700" cap="flat" cmpd="sng" algn="ctr">
            <a:solidFill>
              <a:srgbClr val="BEE9EE"/>
            </a:solidFill>
            <a:prstDash val="solid"/>
            <a:miter lim="800000"/>
          </a:ln>
          <a:effectLst/>
        </p:spPr>
        <p:txBody>
          <a:bodyPr wrap="square" tIns="0" bIns="0" rtlCol="0" anchor="ctr" anchorCtr="0">
            <a:noAutofit/>
          </a:bodyPr>
          <a:lstStyle/>
          <a:p>
            <a:pPr algn="ctr" defTabSz="914400">
              <a:lnSpc>
                <a:spcPct val="150000"/>
              </a:lnSpc>
            </a:pPr>
            <a:r>
              <a:rPr lang="zh-CN" altLang="en-US" sz="1600"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业务体验</a:t>
            </a:r>
          </a:p>
        </p:txBody>
      </p:sp>
      <p:sp>
        <p:nvSpPr>
          <p:cNvPr id="5" name="圆角矩形 4"/>
          <p:cNvSpPr/>
          <p:nvPr/>
        </p:nvSpPr>
        <p:spPr bwMode="gray">
          <a:xfrm>
            <a:off x="7254962" y="1710210"/>
            <a:ext cx="2176400" cy="364249"/>
          </a:xfrm>
          <a:prstGeom prst="roundRect">
            <a:avLst/>
          </a:prstGeom>
          <a:solidFill>
            <a:srgbClr val="F3FBFE"/>
          </a:solidFill>
          <a:ln w="12700" cap="flat" cmpd="sng" algn="ctr">
            <a:solidFill>
              <a:srgbClr val="BEE9EE"/>
            </a:solidFill>
            <a:prstDash val="solid"/>
            <a:miter lim="800000"/>
          </a:ln>
          <a:effectLst/>
        </p:spPr>
        <p:txBody>
          <a:bodyPr wrap="square" tIns="0" bIns="0" rtlCol="0" anchor="ctr" anchorCtr="0">
            <a:noAutofit/>
          </a:bodyPr>
          <a:lstStyle/>
          <a:p>
            <a:pPr algn="ctr" defTabSz="914400">
              <a:lnSpc>
                <a:spcPct val="150000"/>
              </a:lnSpc>
            </a:pPr>
            <a:r>
              <a:rPr lang="zh-CN" altLang="en-US" sz="1600"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管理运维</a:t>
            </a:r>
          </a:p>
        </p:txBody>
      </p:sp>
      <p:sp>
        <p:nvSpPr>
          <p:cNvPr id="6" name="圆角矩形 5"/>
          <p:cNvSpPr/>
          <p:nvPr/>
        </p:nvSpPr>
        <p:spPr bwMode="gray">
          <a:xfrm>
            <a:off x="9521038" y="1710210"/>
            <a:ext cx="2176400" cy="364249"/>
          </a:xfrm>
          <a:prstGeom prst="roundRect">
            <a:avLst/>
          </a:prstGeom>
          <a:solidFill>
            <a:srgbClr val="F3FBFE"/>
          </a:solidFill>
          <a:ln w="12700" cap="flat" cmpd="sng" algn="ctr">
            <a:solidFill>
              <a:srgbClr val="BEE9EE"/>
            </a:solidFill>
            <a:prstDash val="solid"/>
            <a:miter lim="800000"/>
          </a:ln>
          <a:effectLst/>
        </p:spPr>
        <p:txBody>
          <a:bodyPr wrap="square" tIns="0" bIns="0" rtlCol="0" anchor="ctr" anchorCtr="0">
            <a:noAutofit/>
          </a:bodyPr>
          <a:lstStyle/>
          <a:p>
            <a:pPr algn="ctr" defTabSz="914400">
              <a:lnSpc>
                <a:spcPct val="150000"/>
              </a:lnSpc>
            </a:pPr>
            <a:r>
              <a:rPr lang="zh-CN" altLang="en-US" sz="1600"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统一管理</a:t>
            </a:r>
          </a:p>
        </p:txBody>
      </p:sp>
      <p:sp>
        <p:nvSpPr>
          <p:cNvPr id="7" name="圆角矩形 6"/>
          <p:cNvSpPr/>
          <p:nvPr/>
        </p:nvSpPr>
        <p:spPr bwMode="gray">
          <a:xfrm>
            <a:off x="456731" y="1710210"/>
            <a:ext cx="2176400" cy="364249"/>
          </a:xfrm>
          <a:prstGeom prst="roundRect">
            <a:avLst/>
          </a:prstGeom>
          <a:solidFill>
            <a:srgbClr val="F3FBFE"/>
          </a:solidFill>
          <a:ln w="12700" cap="flat" cmpd="sng" algn="ctr">
            <a:solidFill>
              <a:srgbClr val="BEE9EE"/>
            </a:solidFill>
            <a:prstDash val="solid"/>
            <a:miter lim="800000"/>
          </a:ln>
          <a:effectLst/>
        </p:spPr>
        <p:txBody>
          <a:bodyPr wrap="square" tIns="0" bIns="0" rtlCol="0" anchor="ctr" anchorCtr="0">
            <a:noAutofit/>
          </a:bodyPr>
          <a:lstStyle/>
          <a:p>
            <a:pPr algn="ctr" defTabSz="914400">
              <a:lnSpc>
                <a:spcPct val="150000"/>
              </a:lnSpc>
            </a:pPr>
            <a:r>
              <a:rPr lang="zh-CN" altLang="en-US" sz="1600"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分支互联成本</a:t>
            </a:r>
          </a:p>
        </p:txBody>
      </p:sp>
      <p:sp>
        <p:nvSpPr>
          <p:cNvPr id="8" name="圆角矩形 7"/>
          <p:cNvSpPr/>
          <p:nvPr/>
        </p:nvSpPr>
        <p:spPr bwMode="gray">
          <a:xfrm>
            <a:off x="456731" y="2119420"/>
            <a:ext cx="2176400" cy="3248448"/>
          </a:xfrm>
          <a:prstGeom prst="roundRect">
            <a:avLst>
              <a:gd name="adj" fmla="val 2222"/>
            </a:avLst>
          </a:prstGeom>
          <a:noFill/>
          <a:ln w="952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nchorCtr="0"/>
          <a:lstStyle/>
          <a:p>
            <a:pPr>
              <a:lnSpc>
                <a:spcPts val="2400"/>
              </a:lnSpc>
              <a:spcAft>
                <a:spcPts val="600"/>
              </a:spcAft>
            </a:pP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需求：</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降低分支之间广域互联的成本。</a:t>
            </a:r>
          </a:p>
          <a:p>
            <a:pPr>
              <a:lnSpc>
                <a:spcPts val="2400"/>
              </a:lnSpc>
              <a:spcAft>
                <a:spcPts val="600"/>
              </a:spcAft>
            </a:pP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挑战：</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运营商的物理专线或</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MPLS VPN</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专线虽质量有保障，但价格比较昂贵。</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nSpc>
                <a:spcPts val="2400"/>
              </a:lnSpc>
              <a:spcAft>
                <a:spcPts val="600"/>
              </a:spcAft>
            </a:pP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圆角矩形 8"/>
          <p:cNvSpPr/>
          <p:nvPr/>
        </p:nvSpPr>
        <p:spPr bwMode="gray">
          <a:xfrm>
            <a:off x="2724702" y="2119420"/>
            <a:ext cx="2176400" cy="3248448"/>
          </a:xfrm>
          <a:prstGeom prst="roundRect">
            <a:avLst>
              <a:gd name="adj" fmla="val 2222"/>
            </a:avLst>
          </a:prstGeom>
          <a:noFill/>
          <a:ln w="952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nchorCtr="0"/>
          <a:lstStyle/>
          <a:p>
            <a:pPr>
              <a:lnSpc>
                <a:spcPts val="2400"/>
              </a:lnSpc>
              <a:spcAft>
                <a:spcPts val="600"/>
              </a:spcAft>
            </a:pP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需求：</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需要提升网络部署效率，缩短业务开通周期。</a:t>
            </a:r>
          </a:p>
          <a:p>
            <a:pPr>
              <a:lnSpc>
                <a:spcPts val="2400"/>
              </a:lnSpc>
              <a:spcAft>
                <a:spcPts val="600"/>
              </a:spcAft>
            </a:pP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挑战：</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传统专线发放周期长。</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业务开通主要靠网络工程师去现场手工配置，技能要求高，效率低。</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圆角矩形 9"/>
          <p:cNvSpPr/>
          <p:nvPr/>
        </p:nvSpPr>
        <p:spPr bwMode="gray">
          <a:xfrm>
            <a:off x="4988412" y="2119420"/>
            <a:ext cx="2176400" cy="3248448"/>
          </a:xfrm>
          <a:prstGeom prst="roundRect">
            <a:avLst>
              <a:gd name="adj" fmla="val 2222"/>
            </a:avLst>
          </a:prstGeom>
          <a:noFill/>
          <a:ln w="952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nchorCtr="0"/>
          <a:lstStyle/>
          <a:p>
            <a:pPr>
              <a:lnSpc>
                <a:spcPts val="2400"/>
              </a:lnSpc>
              <a:spcAft>
                <a:spcPts val="600"/>
              </a:spcAft>
            </a:pP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需求：</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需加强应用识别能力，保障关键业务体验。</a:t>
            </a:r>
          </a:p>
          <a:p>
            <a:pPr>
              <a:lnSpc>
                <a:spcPts val="2400"/>
              </a:lnSpc>
              <a:spcAft>
                <a:spcPts val="600"/>
              </a:spcAft>
            </a:pP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挑战：</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企业不同的应用对链路质量有着不同的要求。</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传统专线无法感知应用的状态，无法随时保障关键业务。</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圆角矩形 10"/>
          <p:cNvSpPr/>
          <p:nvPr/>
        </p:nvSpPr>
        <p:spPr bwMode="gray">
          <a:xfrm>
            <a:off x="7254962" y="2119420"/>
            <a:ext cx="2176400" cy="3248448"/>
          </a:xfrm>
          <a:prstGeom prst="roundRect">
            <a:avLst>
              <a:gd name="adj" fmla="val 2222"/>
            </a:avLst>
          </a:prstGeom>
          <a:noFill/>
          <a:ln w="952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nchorCtr="0"/>
          <a:lstStyle/>
          <a:p>
            <a:pPr>
              <a:lnSpc>
                <a:spcPts val="2400"/>
              </a:lnSpc>
              <a:spcAft>
                <a:spcPts val="600"/>
              </a:spcAft>
            </a:pP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需求：</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需具备可视化手段，降低管理运维复杂度。</a:t>
            </a:r>
          </a:p>
          <a:p>
            <a:pPr>
              <a:lnSpc>
                <a:spcPts val="2400"/>
              </a:lnSpc>
              <a:spcAft>
                <a:spcPts val="600"/>
              </a:spcAft>
            </a:pP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挑战：</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基于命令行的方式效率低，缺乏可视化运维手段。</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若企业分支众多，现场运维增加成本。</a:t>
            </a:r>
          </a:p>
        </p:txBody>
      </p:sp>
      <p:sp>
        <p:nvSpPr>
          <p:cNvPr id="12" name="圆角矩形 11"/>
          <p:cNvSpPr/>
          <p:nvPr/>
        </p:nvSpPr>
        <p:spPr bwMode="gray">
          <a:xfrm>
            <a:off x="9521038" y="2119420"/>
            <a:ext cx="2176400" cy="3248448"/>
          </a:xfrm>
          <a:prstGeom prst="roundRect">
            <a:avLst>
              <a:gd name="adj" fmla="val 2222"/>
            </a:avLst>
          </a:prstGeom>
          <a:noFill/>
          <a:ln w="952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t" anchorCtr="0"/>
          <a:lstStyle/>
          <a:p>
            <a:pPr>
              <a:lnSpc>
                <a:spcPts val="2400"/>
              </a:lnSpc>
              <a:spcAft>
                <a:spcPts val="600"/>
              </a:spcAft>
            </a:pP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需求：</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需要对</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LAN</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WAN</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侧业务统一管理。</a:t>
            </a:r>
          </a:p>
          <a:p>
            <a:pPr>
              <a:lnSpc>
                <a:spcPts val="2400"/>
              </a:lnSpc>
              <a:spcAft>
                <a:spcPts val="600"/>
              </a:spcAft>
            </a:pPr>
            <a:r>
              <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挑战：</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82563" indent="-18256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无法做到统一的配置管理、运维。</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nSpc>
                <a:spcPts val="2400"/>
              </a:lnSpc>
              <a:spcAft>
                <a:spcPts val="600"/>
              </a:spcAft>
            </a:pP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5311911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sym typeface="Huawei Sans" panose="020C0503030203020204" pitchFamily="34" charset="0"/>
              </a:rPr>
              <a:t>华为云园区网络解决方案 </a:t>
            </a:r>
            <a:r>
              <a:rPr lang="en-US" altLang="zh-CN" dirty="0">
                <a:sym typeface="Huawei Sans" panose="020C0503030203020204" pitchFamily="34" charset="0"/>
              </a:rPr>
              <a:t>(</a:t>
            </a:r>
            <a:r>
              <a:rPr lang="en-US" altLang="zh-CN" dirty="0" err="1">
                <a:sym typeface="Huawei Sans" panose="020C0503030203020204" pitchFamily="34" charset="0"/>
              </a:rPr>
              <a:t>CloudCampus</a:t>
            </a:r>
            <a:r>
              <a:rPr lang="en-US" altLang="zh-CN" dirty="0">
                <a:sym typeface="Huawei Sans" panose="020C0503030203020204" pitchFamily="34" charset="0"/>
              </a:rPr>
              <a:t> 3.0)</a:t>
            </a:r>
            <a:endParaRPr lang="zh-CN" altLang="en-US" dirty="0">
              <a:sym typeface="Huawei Sans" panose="020C0503030203020204" pitchFamily="34" charset="0"/>
            </a:endParaRPr>
          </a:p>
        </p:txBody>
      </p:sp>
      <p:grpSp>
        <p:nvGrpSpPr>
          <p:cNvPr id="102" name="Group 165"/>
          <p:cNvGrpSpPr/>
          <p:nvPr/>
        </p:nvGrpSpPr>
        <p:grpSpPr bwMode="gray">
          <a:xfrm>
            <a:off x="2939869" y="3854230"/>
            <a:ext cx="1307763" cy="340548"/>
            <a:chOff x="-1233037" y="914446"/>
            <a:chExt cx="4919386" cy="778776"/>
          </a:xfrm>
        </p:grpSpPr>
        <p:cxnSp>
          <p:nvCxnSpPr>
            <p:cNvPr id="103" name="Straight Connector 166"/>
            <p:cNvCxnSpPr/>
            <p:nvPr/>
          </p:nvCxnSpPr>
          <p:spPr bwMode="gray">
            <a:xfrm flipH="1" flipV="1">
              <a:off x="-1233037" y="914446"/>
              <a:ext cx="786912" cy="7787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4" name="Straight Connector 167"/>
            <p:cNvCxnSpPr/>
            <p:nvPr/>
          </p:nvCxnSpPr>
          <p:spPr bwMode="gray">
            <a:xfrm flipV="1">
              <a:off x="2899439" y="914446"/>
              <a:ext cx="786910" cy="778776"/>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105" name="直接连接符 104"/>
          <p:cNvCxnSpPr/>
          <p:nvPr/>
        </p:nvCxnSpPr>
        <p:spPr bwMode="gray">
          <a:xfrm>
            <a:off x="4283982" y="3864922"/>
            <a:ext cx="939031"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06" name="Group 165"/>
          <p:cNvGrpSpPr/>
          <p:nvPr/>
        </p:nvGrpSpPr>
        <p:grpSpPr bwMode="gray">
          <a:xfrm rot="10800000">
            <a:off x="4988582" y="3897007"/>
            <a:ext cx="523792" cy="340548"/>
            <a:chOff x="-1233037" y="914446"/>
            <a:chExt cx="1573823" cy="778776"/>
          </a:xfrm>
        </p:grpSpPr>
        <p:cxnSp>
          <p:nvCxnSpPr>
            <p:cNvPr id="107" name="Straight Connector 166"/>
            <p:cNvCxnSpPr/>
            <p:nvPr/>
          </p:nvCxnSpPr>
          <p:spPr bwMode="gray">
            <a:xfrm flipH="1" flipV="1">
              <a:off x="-1233037" y="914446"/>
              <a:ext cx="786912" cy="7787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8" name="Straight Connector 167"/>
            <p:cNvCxnSpPr/>
            <p:nvPr/>
          </p:nvCxnSpPr>
          <p:spPr bwMode="gray">
            <a:xfrm flipV="1">
              <a:off x="-446125" y="914446"/>
              <a:ext cx="786911" cy="778776"/>
            </a:xfrm>
            <a:prstGeom prst="line">
              <a:avLst/>
            </a:prstGeom>
          </p:spPr>
          <p:style>
            <a:lnRef idx="1">
              <a:schemeClr val="accent1"/>
            </a:lnRef>
            <a:fillRef idx="0">
              <a:schemeClr val="accent1"/>
            </a:fillRef>
            <a:effectRef idx="0">
              <a:schemeClr val="accent1"/>
            </a:effectRef>
            <a:fontRef idx="minor">
              <a:schemeClr val="tx1"/>
            </a:fontRef>
          </p:style>
        </p:cxnSp>
      </p:grpSp>
      <p:sp>
        <p:nvSpPr>
          <p:cNvPr id="109" name="圆角矩形 108"/>
          <p:cNvSpPr/>
          <p:nvPr/>
        </p:nvSpPr>
        <p:spPr bwMode="gray">
          <a:xfrm>
            <a:off x="479694" y="3410259"/>
            <a:ext cx="2415207" cy="1555769"/>
          </a:xfrm>
          <a:prstGeom prst="roundRect">
            <a:avLst>
              <a:gd name="adj" fmla="val 1973"/>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0" name="直接连接符 109"/>
          <p:cNvCxnSpPr/>
          <p:nvPr/>
        </p:nvCxnSpPr>
        <p:spPr bwMode="gray">
          <a:xfrm flipV="1">
            <a:off x="1299785" y="3581802"/>
            <a:ext cx="0" cy="2201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bwMode="gray">
          <a:xfrm flipV="1">
            <a:off x="1852849" y="3581802"/>
            <a:ext cx="0" cy="2201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152" idx="0"/>
            <a:endCxn id="156" idx="2"/>
          </p:cNvCxnSpPr>
          <p:nvPr/>
        </p:nvCxnSpPr>
        <p:spPr bwMode="gray">
          <a:xfrm flipV="1">
            <a:off x="754242" y="4409627"/>
            <a:ext cx="0" cy="2923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bwMode="gray">
          <a:xfrm flipV="1">
            <a:off x="1304948" y="4409627"/>
            <a:ext cx="0" cy="24667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bwMode="gray">
          <a:xfrm flipV="1">
            <a:off x="1857929" y="4409627"/>
            <a:ext cx="0" cy="24667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bwMode="gray">
          <a:xfrm flipV="1">
            <a:off x="2408635" y="4409627"/>
            <a:ext cx="0" cy="246672"/>
          </a:xfrm>
          <a:prstGeom prst="line">
            <a:avLst/>
          </a:prstGeom>
        </p:spPr>
        <p:style>
          <a:lnRef idx="1">
            <a:schemeClr val="accent1"/>
          </a:lnRef>
          <a:fillRef idx="0">
            <a:schemeClr val="accent1"/>
          </a:fillRef>
          <a:effectRef idx="0">
            <a:schemeClr val="accent1"/>
          </a:effectRef>
          <a:fontRef idx="minor">
            <a:schemeClr val="tx1"/>
          </a:fontRef>
        </p:style>
      </p:cxnSp>
      <p:grpSp>
        <p:nvGrpSpPr>
          <p:cNvPr id="116" name="组合 115"/>
          <p:cNvGrpSpPr/>
          <p:nvPr/>
        </p:nvGrpSpPr>
        <p:grpSpPr bwMode="gray">
          <a:xfrm>
            <a:off x="769253" y="3817346"/>
            <a:ext cx="1101413" cy="488985"/>
            <a:chOff x="2498773" y="3870388"/>
            <a:chExt cx="1101413" cy="294842"/>
          </a:xfrm>
        </p:grpSpPr>
        <p:cxnSp>
          <p:nvCxnSpPr>
            <p:cNvPr id="117" name="直接连接符 116"/>
            <p:cNvCxnSpPr/>
            <p:nvPr/>
          </p:nvCxnSpPr>
          <p:spPr bwMode="gray">
            <a:xfrm>
              <a:off x="3044482" y="3870388"/>
              <a:ext cx="5557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bwMode="gray">
            <a:xfrm flipV="1">
              <a:off x="2498773" y="3870388"/>
              <a:ext cx="545709" cy="2948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bwMode="gray">
            <a:xfrm flipV="1">
              <a:off x="3054477" y="3870388"/>
              <a:ext cx="545709" cy="2948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bwMode="gray">
            <a:xfrm flipH="1">
              <a:off x="2498773" y="4165230"/>
              <a:ext cx="560721"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21" name="组合 120"/>
          <p:cNvGrpSpPr/>
          <p:nvPr/>
        </p:nvGrpSpPr>
        <p:grpSpPr bwMode="gray">
          <a:xfrm flipH="1">
            <a:off x="1304948" y="3817346"/>
            <a:ext cx="1101600" cy="488985"/>
            <a:chOff x="2498773" y="3870388"/>
            <a:chExt cx="1101413" cy="294842"/>
          </a:xfrm>
        </p:grpSpPr>
        <p:cxnSp>
          <p:nvCxnSpPr>
            <p:cNvPr id="122" name="直接连接符 121"/>
            <p:cNvCxnSpPr/>
            <p:nvPr/>
          </p:nvCxnSpPr>
          <p:spPr bwMode="gray">
            <a:xfrm>
              <a:off x="3044482" y="3870388"/>
              <a:ext cx="5557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bwMode="gray">
            <a:xfrm flipV="1">
              <a:off x="2498773" y="3870388"/>
              <a:ext cx="545709" cy="2948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bwMode="gray">
            <a:xfrm flipV="1">
              <a:off x="3054477" y="3870388"/>
              <a:ext cx="545709" cy="2948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bwMode="gray">
            <a:xfrm flipH="1">
              <a:off x="2498773" y="4165230"/>
              <a:ext cx="560721"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126" name="圆角矩形 125"/>
          <p:cNvSpPr/>
          <p:nvPr/>
        </p:nvSpPr>
        <p:spPr bwMode="gray">
          <a:xfrm>
            <a:off x="6391235" y="1341211"/>
            <a:ext cx="5011287" cy="331135"/>
          </a:xfrm>
          <a:prstGeom prst="roundRect">
            <a:avLst>
              <a:gd name="adj" fmla="val 14624"/>
            </a:avLst>
          </a:prstGeom>
          <a:solidFill>
            <a:srgbClr val="F3FBFE"/>
          </a:solidFill>
          <a:ln w="12700" cap="flat" cmpd="sng" algn="ctr">
            <a:solidFill>
              <a:srgbClr val="BEE9EE"/>
            </a:solidFill>
            <a:prstDash val="solid"/>
            <a:miter lim="800000"/>
          </a:ln>
          <a:effectLst/>
        </p:spPr>
        <p:txBody>
          <a:bodyPr wrap="square" tIns="0" bIns="0" rtlCol="0" anchor="ctr" anchorCtr="0">
            <a:noAutofit/>
          </a:bodyPr>
          <a:lstStyle/>
          <a:p>
            <a:pPr algn="ctr" defTabSz="914400">
              <a:lnSpc>
                <a:spcPct val="150000"/>
              </a:lnSpc>
            </a:pPr>
            <a:r>
              <a:rPr lang="zh-CN" altLang="en-US" sz="1600" b="1"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网络设计自动化</a:t>
            </a:r>
            <a:r>
              <a:rPr lang="zh-CN" altLang="en-US" sz="1600"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，准确匹配业务意图</a:t>
            </a:r>
          </a:p>
        </p:txBody>
      </p:sp>
      <p:sp>
        <p:nvSpPr>
          <p:cNvPr id="127" name="圆角矩形 126"/>
          <p:cNvSpPr/>
          <p:nvPr/>
        </p:nvSpPr>
        <p:spPr bwMode="gray">
          <a:xfrm>
            <a:off x="6391234" y="1717284"/>
            <a:ext cx="5011287" cy="601444"/>
          </a:xfrm>
          <a:prstGeom prst="roundRect">
            <a:avLst>
              <a:gd name="adj" fmla="val 2222"/>
            </a:avLst>
          </a:prstGeom>
          <a:noFill/>
          <a:ln w="12700">
            <a:solidFill>
              <a:srgbClr val="94DAE2"/>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176213" indent="-17621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通过网络管理平台实现业务需求与配置命令的精确转换。</a:t>
            </a:r>
          </a:p>
        </p:txBody>
      </p:sp>
      <p:sp>
        <p:nvSpPr>
          <p:cNvPr id="128" name="圆角矩形 127"/>
          <p:cNvSpPr/>
          <p:nvPr/>
        </p:nvSpPr>
        <p:spPr bwMode="gray">
          <a:xfrm>
            <a:off x="6391234" y="2462624"/>
            <a:ext cx="5011287" cy="331135"/>
          </a:xfrm>
          <a:prstGeom prst="roundRect">
            <a:avLst>
              <a:gd name="adj" fmla="val 14624"/>
            </a:avLst>
          </a:prstGeom>
          <a:solidFill>
            <a:srgbClr val="F3FBFE"/>
          </a:solidFill>
          <a:ln w="12700" cap="flat" cmpd="sng" algn="ctr">
            <a:solidFill>
              <a:srgbClr val="BEE9EE"/>
            </a:solidFill>
            <a:prstDash val="solid"/>
            <a:miter lim="800000"/>
          </a:ln>
          <a:effectLst/>
        </p:spPr>
        <p:txBody>
          <a:bodyPr wrap="square" tIns="0" bIns="0" rtlCol="0" anchor="ctr" anchorCtr="0">
            <a:noAutofit/>
          </a:bodyPr>
          <a:lstStyle/>
          <a:p>
            <a:pPr algn="ctr" defTabSz="914400">
              <a:lnSpc>
                <a:spcPct val="150000"/>
              </a:lnSpc>
            </a:pPr>
            <a:r>
              <a:rPr lang="zh-CN" altLang="en-US" sz="1600" b="1"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网络部署自动化</a:t>
            </a:r>
            <a:r>
              <a:rPr lang="zh-CN" altLang="en-US" sz="1600"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，分钟级上线</a:t>
            </a:r>
          </a:p>
        </p:txBody>
      </p:sp>
      <p:sp>
        <p:nvSpPr>
          <p:cNvPr id="129" name="圆角矩形 128"/>
          <p:cNvSpPr/>
          <p:nvPr/>
        </p:nvSpPr>
        <p:spPr bwMode="gray">
          <a:xfrm>
            <a:off x="6391233" y="2838696"/>
            <a:ext cx="5011287" cy="1588291"/>
          </a:xfrm>
          <a:prstGeom prst="roundRect">
            <a:avLst>
              <a:gd name="adj" fmla="val 2222"/>
            </a:avLst>
          </a:prstGeom>
          <a:noFill/>
          <a:ln w="12700">
            <a:solidFill>
              <a:srgbClr val="94DAE2"/>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176213" indent="-17621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设备即插即用，物理网络自动化部署。</a:t>
            </a:r>
          </a:p>
          <a:p>
            <a:pPr marL="176213" indent="-17621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网络资源池化，一网多用，业务自动化发放。</a:t>
            </a:r>
          </a:p>
          <a:p>
            <a:pPr marL="176213" indent="-17621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支持基于虚拟网、安全组和应用的智能策略（访问策略、带宽、优先级等），实现精细化控制。</a:t>
            </a:r>
          </a:p>
        </p:txBody>
      </p:sp>
      <p:sp>
        <p:nvSpPr>
          <p:cNvPr id="130" name="圆角矩形 129"/>
          <p:cNvSpPr/>
          <p:nvPr/>
        </p:nvSpPr>
        <p:spPr bwMode="gray">
          <a:xfrm>
            <a:off x="6407053" y="4481845"/>
            <a:ext cx="5011287" cy="331135"/>
          </a:xfrm>
          <a:prstGeom prst="roundRect">
            <a:avLst>
              <a:gd name="adj" fmla="val 14624"/>
            </a:avLst>
          </a:prstGeom>
          <a:solidFill>
            <a:srgbClr val="F3FBFE"/>
          </a:solidFill>
          <a:ln w="12700" cap="flat" cmpd="sng" algn="ctr">
            <a:solidFill>
              <a:srgbClr val="BEE9EE"/>
            </a:solidFill>
            <a:prstDash val="solid"/>
            <a:miter lim="800000"/>
          </a:ln>
          <a:effectLst/>
        </p:spPr>
        <p:txBody>
          <a:bodyPr wrap="square" tIns="0" bIns="0" rtlCol="0" anchor="ctr" anchorCtr="0">
            <a:noAutofit/>
          </a:bodyPr>
          <a:lstStyle/>
          <a:p>
            <a:pPr algn="ctr" defTabSz="914400">
              <a:lnSpc>
                <a:spcPct val="150000"/>
              </a:lnSpc>
            </a:pPr>
            <a:r>
              <a:rPr lang="zh-CN" altLang="en-US" sz="1600" b="1"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智能运维自动化，</a:t>
            </a:r>
            <a:r>
              <a:rPr lang="zh-CN" altLang="en-US" sz="1600"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整网性能提升</a:t>
            </a:r>
          </a:p>
        </p:txBody>
      </p:sp>
      <p:grpSp>
        <p:nvGrpSpPr>
          <p:cNvPr id="132" name="组合 131"/>
          <p:cNvGrpSpPr/>
          <p:nvPr/>
        </p:nvGrpSpPr>
        <p:grpSpPr bwMode="gray">
          <a:xfrm>
            <a:off x="1743462" y="1176943"/>
            <a:ext cx="2971076" cy="1743308"/>
            <a:chOff x="1702524" y="1229197"/>
            <a:chExt cx="2971076" cy="1743308"/>
          </a:xfrm>
        </p:grpSpPr>
        <p:sp>
          <p:nvSpPr>
            <p:cNvPr id="133" name="TextBox 63"/>
            <p:cNvSpPr txBox="1"/>
            <p:nvPr/>
          </p:nvSpPr>
          <p:spPr bwMode="gray">
            <a:xfrm>
              <a:off x="2685262" y="1410535"/>
              <a:ext cx="543739" cy="307777"/>
            </a:xfrm>
            <a:prstGeom prst="rect">
              <a:avLst/>
            </a:prstGeom>
            <a:noFill/>
          </p:spPr>
          <p:txBody>
            <a:bodyPr wrap="none" rtlCol="0">
              <a:spAutoFit/>
            </a:bodyPr>
            <a:lstStyle/>
            <a:p>
              <a:pPr algn="ctr" defTabSz="914112"/>
              <a:r>
                <a:rPr lang="zh-CN" altLang="en-US" sz="1400" b="1" dirty="0">
                  <a:latin typeface="Huawei Sans" panose="020C0503030203020204" pitchFamily="34" charset="0"/>
                  <a:ea typeface="方正兰亭黑简体" panose="02000000000000000000" pitchFamily="2" charset="-122"/>
                  <a:cs typeface="+mn-ea"/>
                  <a:sym typeface="Huawei Sans" panose="020C0503030203020204" pitchFamily="34" charset="0"/>
                </a:rPr>
                <a:t>分析</a:t>
              </a:r>
              <a:endParaRPr lang="en-US" altLang="zh-CN" sz="14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4" name="TextBox 63"/>
            <p:cNvSpPr txBox="1"/>
            <p:nvPr/>
          </p:nvSpPr>
          <p:spPr bwMode="gray">
            <a:xfrm>
              <a:off x="2193852" y="1852100"/>
              <a:ext cx="543739" cy="307777"/>
            </a:xfrm>
            <a:prstGeom prst="rect">
              <a:avLst/>
            </a:prstGeom>
            <a:noFill/>
          </p:spPr>
          <p:txBody>
            <a:bodyPr wrap="none" rtlCol="0">
              <a:spAutoFit/>
            </a:bodyPr>
            <a:lstStyle/>
            <a:p>
              <a:pPr algn="ctr" defTabSz="914112"/>
              <a:r>
                <a:rPr lang="zh-CN" altLang="en-US" sz="1400" b="1" dirty="0">
                  <a:latin typeface="Huawei Sans" panose="020C0503030203020204" pitchFamily="34" charset="0"/>
                  <a:ea typeface="方正兰亭黑简体" panose="02000000000000000000" pitchFamily="2" charset="-122"/>
                  <a:cs typeface="+mn-ea"/>
                  <a:sym typeface="Huawei Sans" panose="020C0503030203020204" pitchFamily="34" charset="0"/>
                </a:rPr>
                <a:t>管理</a:t>
              </a:r>
              <a:endParaRPr lang="en-US" altLang="zh-CN" sz="14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5" name="TextBox 63"/>
            <p:cNvSpPr txBox="1"/>
            <p:nvPr/>
          </p:nvSpPr>
          <p:spPr bwMode="gray">
            <a:xfrm>
              <a:off x="3176672" y="1852100"/>
              <a:ext cx="543739" cy="307777"/>
            </a:xfrm>
            <a:prstGeom prst="rect">
              <a:avLst/>
            </a:prstGeom>
            <a:noFill/>
          </p:spPr>
          <p:txBody>
            <a:bodyPr wrap="none" rtlCol="0">
              <a:spAutoFit/>
            </a:bodyPr>
            <a:lstStyle/>
            <a:p>
              <a:pPr algn="ctr" defTabSz="914112"/>
              <a:r>
                <a:rPr lang="zh-CN" altLang="en-US" sz="1400" b="1">
                  <a:latin typeface="Huawei Sans" panose="020C0503030203020204" pitchFamily="34" charset="0"/>
                  <a:ea typeface="方正兰亭黑简体" panose="02000000000000000000" pitchFamily="2" charset="-122"/>
                  <a:cs typeface="+mn-ea"/>
                  <a:sym typeface="Huawei Sans" panose="020C0503030203020204" pitchFamily="34" charset="0"/>
                </a:rPr>
                <a:t>控制</a:t>
              </a:r>
              <a:endParaRPr lang="en-US" altLang="zh-CN" sz="14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6" name="Freeform 159"/>
            <p:cNvSpPr/>
            <p:nvPr/>
          </p:nvSpPr>
          <p:spPr bwMode="gray">
            <a:xfrm flipH="1">
              <a:off x="1702524" y="1229197"/>
              <a:ext cx="2971076" cy="155306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noFill/>
            <a:ln w="28575">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endParaRPr lang="en-US" sz="1200" b="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7" name="椭圆 136"/>
            <p:cNvSpPr/>
            <p:nvPr/>
          </p:nvSpPr>
          <p:spPr bwMode="gray">
            <a:xfrm>
              <a:off x="2792538" y="1813001"/>
              <a:ext cx="329184" cy="329184"/>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8" name="椭圆 137"/>
            <p:cNvSpPr>
              <a:spLocks noChangeAspect="1"/>
            </p:cNvSpPr>
            <p:nvPr/>
          </p:nvSpPr>
          <p:spPr bwMode="gray">
            <a:xfrm>
              <a:off x="2895702" y="1747942"/>
              <a:ext cx="122854" cy="122854"/>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9" name="椭圆 138"/>
            <p:cNvSpPr>
              <a:spLocks noChangeAspect="1"/>
            </p:cNvSpPr>
            <p:nvPr/>
          </p:nvSpPr>
          <p:spPr bwMode="gray">
            <a:xfrm>
              <a:off x="2731110" y="1916165"/>
              <a:ext cx="122854" cy="122854"/>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0" name="椭圆 139"/>
            <p:cNvSpPr>
              <a:spLocks noChangeAspect="1"/>
            </p:cNvSpPr>
            <p:nvPr/>
          </p:nvSpPr>
          <p:spPr bwMode="gray">
            <a:xfrm>
              <a:off x="3060294" y="1916165"/>
              <a:ext cx="122854" cy="122854"/>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1" name="TextBox 63"/>
            <p:cNvSpPr txBox="1"/>
            <p:nvPr/>
          </p:nvSpPr>
          <p:spPr bwMode="gray">
            <a:xfrm>
              <a:off x="1978286" y="2334567"/>
              <a:ext cx="447676" cy="228927"/>
            </a:xfrm>
            <a:prstGeom prst="roundRect">
              <a:avLst/>
            </a:prstGeom>
            <a:solidFill>
              <a:srgbClr val="30B5C5"/>
            </a:solidFill>
            <a:ln>
              <a:noFill/>
            </a:ln>
          </p:spPr>
          <p:txBody>
            <a:bodyPr wrap="none" rtlCol="0" anchor="ctr" anchorCtr="0">
              <a:noAutofit/>
            </a:bodyPr>
            <a:lstStyle/>
            <a:p>
              <a:pPr algn="ctr" defTabSz="914112"/>
              <a:r>
                <a:rPr lang="zh-CN" altLang="en-US" sz="14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设计</a:t>
              </a:r>
              <a:endParaRPr lang="en-US" altLang="zh-CN" sz="14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2" name="TextBox 63"/>
            <p:cNvSpPr txBox="1"/>
            <p:nvPr/>
          </p:nvSpPr>
          <p:spPr bwMode="gray">
            <a:xfrm>
              <a:off x="2964277" y="2334567"/>
              <a:ext cx="447676" cy="228927"/>
            </a:xfrm>
            <a:prstGeom prst="roundRect">
              <a:avLst/>
            </a:prstGeom>
            <a:solidFill>
              <a:srgbClr val="30B5C5"/>
            </a:solidFill>
            <a:ln>
              <a:noFill/>
            </a:ln>
          </p:spPr>
          <p:txBody>
            <a:bodyPr wrap="none" rtlCol="0" anchor="ctr" anchorCtr="0">
              <a:noAutofit/>
            </a:bodyPr>
            <a:lstStyle/>
            <a:p>
              <a:pPr algn="ctr" defTabSz="914112"/>
              <a:r>
                <a:rPr lang="zh-CN" altLang="en-US" sz="140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部署</a:t>
              </a:r>
              <a:endParaRPr lang="en-US" altLang="zh-CN" sz="14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3" name="TextBox 63"/>
            <p:cNvSpPr txBox="1"/>
            <p:nvPr/>
          </p:nvSpPr>
          <p:spPr bwMode="gray">
            <a:xfrm>
              <a:off x="3950268" y="2334567"/>
              <a:ext cx="447676" cy="228927"/>
            </a:xfrm>
            <a:prstGeom prst="roundRect">
              <a:avLst/>
            </a:prstGeom>
            <a:solidFill>
              <a:srgbClr val="30B5C5"/>
            </a:solidFill>
            <a:ln>
              <a:noFill/>
            </a:ln>
          </p:spPr>
          <p:txBody>
            <a:bodyPr wrap="none" rtlCol="0" anchor="ctr" anchorCtr="0">
              <a:noAutofit/>
            </a:bodyPr>
            <a:lstStyle/>
            <a:p>
              <a:pPr algn="ctr" defTabSz="914112"/>
              <a:r>
                <a:rPr lang="zh-CN" altLang="en-US" sz="14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策略</a:t>
              </a:r>
              <a:endParaRPr lang="en-US" altLang="zh-CN" sz="14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4" name="Right Arrow 158"/>
            <p:cNvSpPr/>
            <p:nvPr/>
          </p:nvSpPr>
          <p:spPr bwMode="gray">
            <a:xfrm>
              <a:off x="2419468" y="2330921"/>
              <a:ext cx="457738" cy="233525"/>
            </a:xfrm>
            <a:prstGeom prst="rightArrow">
              <a:avLst>
                <a:gd name="adj1" fmla="val 79333"/>
                <a:gd name="adj2" fmla="val 50000"/>
              </a:avLst>
            </a:prstGeom>
            <a:gradFill flip="none" rotWithShape="1">
              <a:gsLst>
                <a:gs pos="15000">
                  <a:schemeClr val="accent1">
                    <a:lumMod val="5000"/>
                    <a:lumOff val="95000"/>
                    <a:alpha val="0"/>
                  </a:schemeClr>
                </a:gs>
                <a:gs pos="81000">
                  <a:srgbClr val="56C4D2"/>
                </a:gs>
              </a:gsLst>
              <a:lin ang="0" scaled="1"/>
              <a:tileRect/>
            </a:gradFill>
            <a:ln w="9525">
              <a:gradFill flip="none" rotWithShape="1">
                <a:gsLst>
                  <a:gs pos="11000">
                    <a:schemeClr val="accent1">
                      <a:lumMod val="0"/>
                      <a:lumOff val="100000"/>
                      <a:alpha val="0"/>
                    </a:schemeClr>
                  </a:gs>
                  <a:gs pos="67000">
                    <a:srgbClr val="30B5C5"/>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5" name="Right Arrow 158"/>
            <p:cNvSpPr/>
            <p:nvPr/>
          </p:nvSpPr>
          <p:spPr bwMode="gray">
            <a:xfrm>
              <a:off x="3405459" y="2330921"/>
              <a:ext cx="457738" cy="233525"/>
            </a:xfrm>
            <a:prstGeom prst="rightArrow">
              <a:avLst>
                <a:gd name="adj1" fmla="val 79333"/>
                <a:gd name="adj2" fmla="val 50000"/>
              </a:avLst>
            </a:prstGeom>
            <a:gradFill flip="none" rotWithShape="1">
              <a:gsLst>
                <a:gs pos="15000">
                  <a:schemeClr val="accent1">
                    <a:lumMod val="5000"/>
                    <a:lumOff val="95000"/>
                    <a:alpha val="0"/>
                  </a:schemeClr>
                </a:gs>
                <a:gs pos="81000">
                  <a:srgbClr val="56C4D2"/>
                </a:gs>
              </a:gsLst>
              <a:lin ang="0" scaled="1"/>
              <a:tileRect/>
            </a:gradFill>
            <a:ln w="9525">
              <a:gradFill flip="none" rotWithShape="1">
                <a:gsLst>
                  <a:gs pos="11000">
                    <a:schemeClr val="accent1">
                      <a:lumMod val="0"/>
                      <a:lumOff val="100000"/>
                      <a:alpha val="0"/>
                    </a:schemeClr>
                  </a:gs>
                  <a:gs pos="67000">
                    <a:srgbClr val="30B5C5"/>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6" name="圆角矩形 145"/>
            <p:cNvSpPr/>
            <p:nvPr/>
          </p:nvSpPr>
          <p:spPr bwMode="gray">
            <a:xfrm>
              <a:off x="3411952" y="1559117"/>
              <a:ext cx="1261647" cy="211435"/>
            </a:xfrm>
            <a:prstGeom prst="roundRect">
              <a:avLst>
                <a:gd name="adj" fmla="val 50000"/>
              </a:avLst>
            </a:prstGeom>
            <a:solidFill>
              <a:srgbClr val="30B5C5"/>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Autofit/>
            </a:bodyPr>
            <a:lstStyle/>
            <a:p>
              <a:pPr algn="ctr" defTabSz="2436959" eaLnBrk="0" fontAlgn="base">
                <a:spcBef>
                  <a:spcPct val="0"/>
                </a:spcBef>
                <a:spcAft>
                  <a:spcPct val="0"/>
                </a:spcAft>
              </a:pPr>
              <a:r>
                <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一站式管理平台</a:t>
              </a:r>
              <a:endParaRPr lang="en-US" altLang="zh-CN"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147" name="组合 146"/>
            <p:cNvGrpSpPr/>
            <p:nvPr/>
          </p:nvGrpSpPr>
          <p:grpSpPr bwMode="gray">
            <a:xfrm>
              <a:off x="2480791" y="2681575"/>
              <a:ext cx="1496420" cy="290930"/>
              <a:chOff x="1859158" y="3463346"/>
              <a:chExt cx="1496420" cy="290930"/>
            </a:xfrm>
          </p:grpSpPr>
          <p:sp>
            <p:nvSpPr>
              <p:cNvPr id="148" name="矩形 147"/>
              <p:cNvSpPr/>
              <p:nvPr/>
            </p:nvSpPr>
            <p:spPr bwMode="gray">
              <a:xfrm>
                <a:off x="1859158" y="3463346"/>
                <a:ext cx="1496420" cy="2693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49" name="图片 148"/>
              <p:cNvPicPr>
                <a:picLocks noChangeAspect="1"/>
              </p:cNvPicPr>
              <p:nvPr/>
            </p:nvPicPr>
            <p:blipFill rotWithShape="1">
              <a:blip r:embed="rId3" cstate="print">
                <a:extLst>
                  <a:ext uri="{28A0092B-C50C-407E-A947-70E740481C1C}">
                    <a14:useLocalDpi xmlns:a14="http://schemas.microsoft.com/office/drawing/2010/main" val="0"/>
                  </a:ext>
                </a:extLst>
              </a:blip>
              <a:srcRect b="80571"/>
              <a:stretch/>
            </p:blipFill>
            <p:spPr bwMode="gray">
              <a:xfrm>
                <a:off x="1963145" y="3468480"/>
                <a:ext cx="1288446" cy="285796"/>
              </a:xfrm>
              <a:prstGeom prst="rect">
                <a:avLst/>
              </a:prstGeom>
            </p:spPr>
          </p:pic>
        </p:grpSp>
      </p:grpSp>
      <p:pic>
        <p:nvPicPr>
          <p:cNvPr id="150" name="Picture 3" descr="E:\01转移\PTT元素\射光-01.png"/>
          <p:cNvPicPr>
            <a:picLocks noChangeAspect="1" noChangeArrowheads="1"/>
          </p:cNvPicPr>
          <p:nvPr/>
        </p:nvPicPr>
        <p:blipFill>
          <a:blip r:embed="rId4" cstate="print">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gray">
          <a:xfrm rot="10800000">
            <a:off x="845036" y="2946127"/>
            <a:ext cx="4767929" cy="406785"/>
          </a:xfrm>
          <a:prstGeom prst="rect">
            <a:avLst/>
          </a:prstGeom>
          <a:noFill/>
          <a:extLst>
            <a:ext uri="{909E8E84-426E-40DD-AFC4-6F175D3DCCD1}">
              <a14:hiddenFill xmlns:a14="http://schemas.microsoft.com/office/drawing/2010/main">
                <a:solidFill>
                  <a:srgbClr val="FFFFFF"/>
                </a:solidFill>
              </a14:hiddenFill>
            </a:ext>
          </a:extLst>
        </p:spPr>
      </p:pic>
      <p:sp>
        <p:nvSpPr>
          <p:cNvPr id="151" name="矩形 150"/>
          <p:cNvSpPr/>
          <p:nvPr/>
        </p:nvSpPr>
        <p:spPr bwMode="gray">
          <a:xfrm>
            <a:off x="2525121" y="3025557"/>
            <a:ext cx="1407758" cy="276999"/>
          </a:xfrm>
          <a:prstGeom prst="rect">
            <a:avLst/>
          </a:prstGeom>
          <a:noFill/>
          <a:ln>
            <a:noFill/>
          </a:ln>
          <a:effectLst/>
        </p:spPr>
        <p:txBody>
          <a:bodyPr wrap="none">
            <a:spAutoFit/>
          </a:bodyPr>
          <a:lstStyle/>
          <a:p>
            <a:pPr algn="ctr"/>
            <a:r>
              <a:rPr lang="en-US" altLang="zh-CN" sz="1200" b="1"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NETCONF/YANG</a:t>
            </a:r>
          </a:p>
        </p:txBody>
      </p:sp>
      <p:pic>
        <p:nvPicPr>
          <p:cNvPr id="152" name="图片 76" descr="接入交换机.png"/>
          <p:cNvPicPr>
            <a:picLocks noChangeAspect="1"/>
          </p:cNvPicPr>
          <p:nvPr/>
        </p:nvPicPr>
        <p:blipFill>
          <a:blip r:embed="rId5" cstate="print"/>
          <a:stretch>
            <a:fillRect/>
          </a:stretch>
        </p:blipFill>
        <p:spPr bwMode="gray">
          <a:xfrm>
            <a:off x="628285" y="4702019"/>
            <a:ext cx="251914" cy="206112"/>
          </a:xfrm>
          <a:prstGeom prst="rect">
            <a:avLst/>
          </a:prstGeom>
        </p:spPr>
      </p:pic>
      <p:pic>
        <p:nvPicPr>
          <p:cNvPr id="153" name="图片 105" descr="AP.png"/>
          <p:cNvPicPr>
            <a:picLocks noChangeAspect="1"/>
          </p:cNvPicPr>
          <p:nvPr/>
        </p:nvPicPr>
        <p:blipFill>
          <a:blip r:embed="rId6" cstate="print"/>
          <a:stretch>
            <a:fillRect/>
          </a:stretch>
        </p:blipFill>
        <p:spPr bwMode="gray">
          <a:xfrm>
            <a:off x="1178991" y="4689502"/>
            <a:ext cx="251914" cy="206112"/>
          </a:xfrm>
          <a:prstGeom prst="rect">
            <a:avLst/>
          </a:prstGeom>
        </p:spPr>
      </p:pic>
      <p:pic>
        <p:nvPicPr>
          <p:cNvPr id="154" name="图片 86" descr="核心交换机.png"/>
          <p:cNvPicPr>
            <a:picLocks noChangeAspect="1"/>
          </p:cNvPicPr>
          <p:nvPr/>
        </p:nvPicPr>
        <p:blipFill>
          <a:blip r:embed="rId7" cstate="print"/>
          <a:stretch>
            <a:fillRect/>
          </a:stretch>
        </p:blipFill>
        <p:spPr bwMode="gray">
          <a:xfrm>
            <a:off x="1178991" y="3702561"/>
            <a:ext cx="251914" cy="206112"/>
          </a:xfrm>
          <a:prstGeom prst="rect">
            <a:avLst/>
          </a:prstGeom>
        </p:spPr>
      </p:pic>
      <p:pic>
        <p:nvPicPr>
          <p:cNvPr id="155" name="图片 86" descr="核心交换机.png"/>
          <p:cNvPicPr>
            <a:picLocks noChangeAspect="1"/>
          </p:cNvPicPr>
          <p:nvPr/>
        </p:nvPicPr>
        <p:blipFill>
          <a:blip r:embed="rId7" cstate="print"/>
          <a:stretch>
            <a:fillRect/>
          </a:stretch>
        </p:blipFill>
        <p:spPr bwMode="gray">
          <a:xfrm>
            <a:off x="1732197" y="3702561"/>
            <a:ext cx="251914" cy="206112"/>
          </a:xfrm>
          <a:prstGeom prst="rect">
            <a:avLst/>
          </a:prstGeom>
        </p:spPr>
      </p:pic>
      <p:pic>
        <p:nvPicPr>
          <p:cNvPr id="156" name="图片 87" descr="汇聚交换机.png"/>
          <p:cNvPicPr>
            <a:picLocks noChangeAspect="1"/>
          </p:cNvPicPr>
          <p:nvPr/>
        </p:nvPicPr>
        <p:blipFill>
          <a:blip r:embed="rId8" cstate="print"/>
          <a:stretch>
            <a:fillRect/>
          </a:stretch>
        </p:blipFill>
        <p:spPr bwMode="gray">
          <a:xfrm>
            <a:off x="628285" y="4203515"/>
            <a:ext cx="251914" cy="206112"/>
          </a:xfrm>
          <a:prstGeom prst="rect">
            <a:avLst/>
          </a:prstGeom>
        </p:spPr>
      </p:pic>
      <p:pic>
        <p:nvPicPr>
          <p:cNvPr id="157" name="图片 87" descr="汇聚交换机.png"/>
          <p:cNvPicPr>
            <a:picLocks noChangeAspect="1"/>
          </p:cNvPicPr>
          <p:nvPr/>
        </p:nvPicPr>
        <p:blipFill>
          <a:blip r:embed="rId8" cstate="print"/>
          <a:stretch>
            <a:fillRect/>
          </a:stretch>
        </p:blipFill>
        <p:spPr bwMode="gray">
          <a:xfrm>
            <a:off x="1178991" y="4203515"/>
            <a:ext cx="251914" cy="206112"/>
          </a:xfrm>
          <a:prstGeom prst="rect">
            <a:avLst/>
          </a:prstGeom>
        </p:spPr>
      </p:pic>
      <p:pic>
        <p:nvPicPr>
          <p:cNvPr id="158" name="图片 76" descr="接入交换机.png"/>
          <p:cNvPicPr>
            <a:picLocks noChangeAspect="1"/>
          </p:cNvPicPr>
          <p:nvPr/>
        </p:nvPicPr>
        <p:blipFill>
          <a:blip r:embed="rId5" cstate="print"/>
          <a:stretch>
            <a:fillRect/>
          </a:stretch>
        </p:blipFill>
        <p:spPr bwMode="gray">
          <a:xfrm>
            <a:off x="1732197" y="4702019"/>
            <a:ext cx="251914" cy="206112"/>
          </a:xfrm>
          <a:prstGeom prst="rect">
            <a:avLst/>
          </a:prstGeom>
        </p:spPr>
      </p:pic>
      <p:pic>
        <p:nvPicPr>
          <p:cNvPr id="159" name="图片 105" descr="AP.png"/>
          <p:cNvPicPr>
            <a:picLocks noChangeAspect="1"/>
          </p:cNvPicPr>
          <p:nvPr/>
        </p:nvPicPr>
        <p:blipFill>
          <a:blip r:embed="rId6" cstate="print"/>
          <a:stretch>
            <a:fillRect/>
          </a:stretch>
        </p:blipFill>
        <p:spPr bwMode="gray">
          <a:xfrm>
            <a:off x="2285403" y="4689502"/>
            <a:ext cx="251914" cy="206112"/>
          </a:xfrm>
          <a:prstGeom prst="rect">
            <a:avLst/>
          </a:prstGeom>
        </p:spPr>
      </p:pic>
      <p:pic>
        <p:nvPicPr>
          <p:cNvPr id="160" name="图片 87" descr="汇聚交换机.png"/>
          <p:cNvPicPr>
            <a:picLocks noChangeAspect="1"/>
          </p:cNvPicPr>
          <p:nvPr/>
        </p:nvPicPr>
        <p:blipFill>
          <a:blip r:embed="rId8" cstate="print"/>
          <a:stretch>
            <a:fillRect/>
          </a:stretch>
        </p:blipFill>
        <p:spPr bwMode="gray">
          <a:xfrm>
            <a:off x="1732197" y="4203515"/>
            <a:ext cx="251914" cy="206112"/>
          </a:xfrm>
          <a:prstGeom prst="rect">
            <a:avLst/>
          </a:prstGeom>
        </p:spPr>
      </p:pic>
      <p:pic>
        <p:nvPicPr>
          <p:cNvPr id="161" name="图片 87" descr="汇聚交换机.png"/>
          <p:cNvPicPr>
            <a:picLocks noChangeAspect="1"/>
          </p:cNvPicPr>
          <p:nvPr/>
        </p:nvPicPr>
        <p:blipFill>
          <a:blip r:embed="rId8" cstate="print"/>
          <a:stretch>
            <a:fillRect/>
          </a:stretch>
        </p:blipFill>
        <p:spPr bwMode="gray">
          <a:xfrm>
            <a:off x="2285403" y="4203515"/>
            <a:ext cx="251914" cy="206112"/>
          </a:xfrm>
          <a:prstGeom prst="rect">
            <a:avLst/>
          </a:prstGeom>
        </p:spPr>
      </p:pic>
      <p:sp>
        <p:nvSpPr>
          <p:cNvPr id="162" name="梯形 161"/>
          <p:cNvSpPr/>
          <p:nvPr/>
        </p:nvSpPr>
        <p:spPr bwMode="gray">
          <a:xfrm>
            <a:off x="562362" y="4160593"/>
            <a:ext cx="2045370" cy="499842"/>
          </a:xfrm>
          <a:prstGeom prst="trapezoid">
            <a:avLst>
              <a:gd name="adj" fmla="val 22961"/>
            </a:avLst>
          </a:prstGeom>
          <a:gradFill flip="none" rotWithShape="1">
            <a:gsLst>
              <a:gs pos="0">
                <a:schemeClr val="bg1">
                  <a:alpha val="4000"/>
                </a:schemeClr>
              </a:gs>
              <a:gs pos="100000">
                <a:schemeClr val="accent4">
                  <a:lumMod val="60000"/>
                  <a:lumOff val="40000"/>
                  <a:alpha val="70000"/>
                </a:schemeClr>
              </a:gs>
            </a:gsLst>
            <a:lin ang="5400000" scaled="1"/>
            <a:tileRect/>
          </a:gradFill>
          <a:ln>
            <a:gradFill flip="none" rotWithShape="1">
              <a:gsLst>
                <a:gs pos="0">
                  <a:schemeClr val="accent1">
                    <a:lumMod val="5000"/>
                    <a:lumOff val="95000"/>
                    <a:alpha val="0"/>
                  </a:schemeClr>
                </a:gs>
                <a:gs pos="82000">
                  <a:srgbClr val="FCC800"/>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3" name="梯形 162"/>
          <p:cNvSpPr/>
          <p:nvPr/>
        </p:nvSpPr>
        <p:spPr bwMode="gray">
          <a:xfrm>
            <a:off x="562362" y="3637685"/>
            <a:ext cx="2045370" cy="501291"/>
          </a:xfrm>
          <a:prstGeom prst="trapezoid">
            <a:avLst>
              <a:gd name="adj" fmla="val 22961"/>
            </a:avLst>
          </a:prstGeom>
          <a:gradFill flip="none" rotWithShape="1">
            <a:gsLst>
              <a:gs pos="0">
                <a:schemeClr val="bg1">
                  <a:alpha val="0"/>
                </a:schemeClr>
              </a:gs>
              <a:gs pos="100000">
                <a:srgbClr val="C00000">
                  <a:alpha val="21000"/>
                </a:srgbClr>
              </a:gs>
            </a:gsLst>
            <a:lin ang="5400000" scaled="1"/>
            <a:tileRect/>
          </a:gradFill>
          <a:ln>
            <a:gradFill flip="none" rotWithShape="1">
              <a:gsLst>
                <a:gs pos="0">
                  <a:schemeClr val="accent1">
                    <a:lumMod val="5000"/>
                    <a:lumOff val="95000"/>
                    <a:alpha val="0"/>
                  </a:schemeClr>
                </a:gs>
                <a:gs pos="90000">
                  <a:srgbClr val="C00000">
                    <a:alpha val="82000"/>
                  </a:srgb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4" name="圆角矩形 163"/>
          <p:cNvSpPr/>
          <p:nvPr/>
        </p:nvSpPr>
        <p:spPr bwMode="gray">
          <a:xfrm>
            <a:off x="4301911" y="3410259"/>
            <a:ext cx="1671700" cy="1555769"/>
          </a:xfrm>
          <a:prstGeom prst="roundRect">
            <a:avLst>
              <a:gd name="adj" fmla="val 1973"/>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65" name="Picture 2" descr="G:\做的项目\公共\扁平图标切换\更新2015_01_21\oss扁平图标库2015_01_21更新-04.png"/>
          <p:cNvPicPr>
            <a:picLocks noChangeAspect="1" noChangeArrowheads="1"/>
          </p:cNvPicPr>
          <p:nvPr/>
        </p:nvPicPr>
        <p:blipFill>
          <a:blip r:embed="rId9" cstate="print"/>
          <a:stretch>
            <a:fillRect/>
          </a:stretch>
        </p:blipFill>
        <p:spPr bwMode="gray">
          <a:xfrm>
            <a:off x="4160475" y="3760791"/>
            <a:ext cx="277105" cy="226723"/>
          </a:xfrm>
          <a:prstGeom prst="rect">
            <a:avLst/>
          </a:prstGeom>
          <a:noFill/>
        </p:spPr>
      </p:pic>
      <p:sp>
        <p:nvSpPr>
          <p:cNvPr id="166" name="Freeform 159"/>
          <p:cNvSpPr/>
          <p:nvPr/>
        </p:nvSpPr>
        <p:spPr bwMode="gray">
          <a:xfrm flipH="1">
            <a:off x="3117186" y="3941769"/>
            <a:ext cx="1000430" cy="52295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200" b="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WAN/</a:t>
            </a:r>
          </a:p>
          <a:p>
            <a:pPr algn="ctr"/>
            <a:r>
              <a:rPr lang="en-US" sz="1200" b="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Internet</a:t>
            </a:r>
          </a:p>
        </p:txBody>
      </p:sp>
      <p:cxnSp>
        <p:nvCxnSpPr>
          <p:cNvPr id="167" name="直接连接符 166"/>
          <p:cNvCxnSpPr/>
          <p:nvPr/>
        </p:nvCxnSpPr>
        <p:spPr bwMode="gray">
          <a:xfrm>
            <a:off x="1299785" y="3581802"/>
            <a:ext cx="137483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8" name="直接连接符 167"/>
          <p:cNvCxnSpPr>
            <a:endCxn id="169" idx="2"/>
          </p:cNvCxnSpPr>
          <p:nvPr/>
        </p:nvCxnSpPr>
        <p:spPr bwMode="gray">
          <a:xfrm>
            <a:off x="2674620" y="3581802"/>
            <a:ext cx="235981" cy="405712"/>
          </a:xfrm>
          <a:prstGeom prst="line">
            <a:avLst/>
          </a:prstGeom>
        </p:spPr>
        <p:style>
          <a:lnRef idx="1">
            <a:schemeClr val="accent1"/>
          </a:lnRef>
          <a:fillRef idx="0">
            <a:schemeClr val="accent1"/>
          </a:fillRef>
          <a:effectRef idx="0">
            <a:schemeClr val="accent1"/>
          </a:effectRef>
          <a:fontRef idx="minor">
            <a:schemeClr val="tx1"/>
          </a:fontRef>
        </p:style>
      </p:cxnSp>
      <p:pic>
        <p:nvPicPr>
          <p:cNvPr id="169" name="Picture 2" descr="G:\做的项目\公共\扁平图标切换\更新2015_01_21\oss扁平图标库2015_01_21更新-04.png"/>
          <p:cNvPicPr>
            <a:picLocks noChangeAspect="1" noChangeArrowheads="1"/>
          </p:cNvPicPr>
          <p:nvPr/>
        </p:nvPicPr>
        <p:blipFill>
          <a:blip r:embed="rId9" cstate="print"/>
          <a:stretch>
            <a:fillRect/>
          </a:stretch>
        </p:blipFill>
        <p:spPr bwMode="gray">
          <a:xfrm>
            <a:off x="2772048" y="3760791"/>
            <a:ext cx="277105" cy="226723"/>
          </a:xfrm>
          <a:prstGeom prst="rect">
            <a:avLst/>
          </a:prstGeom>
          <a:noFill/>
        </p:spPr>
      </p:pic>
      <p:pic>
        <p:nvPicPr>
          <p:cNvPr id="170" name="图片 105" descr="AP.png"/>
          <p:cNvPicPr>
            <a:picLocks noChangeAspect="1"/>
          </p:cNvPicPr>
          <p:nvPr/>
        </p:nvPicPr>
        <p:blipFill>
          <a:blip r:embed="rId6" cstate="print"/>
          <a:stretch>
            <a:fillRect/>
          </a:stretch>
        </p:blipFill>
        <p:spPr bwMode="gray">
          <a:xfrm>
            <a:off x="4848868" y="4222775"/>
            <a:ext cx="251914" cy="206112"/>
          </a:xfrm>
          <a:prstGeom prst="rect">
            <a:avLst/>
          </a:prstGeom>
        </p:spPr>
      </p:pic>
      <p:pic>
        <p:nvPicPr>
          <p:cNvPr id="171" name="图片 105" descr="AP.png"/>
          <p:cNvPicPr>
            <a:picLocks noChangeAspect="1"/>
          </p:cNvPicPr>
          <p:nvPr/>
        </p:nvPicPr>
        <p:blipFill>
          <a:blip r:embed="rId6" cstate="print"/>
          <a:stretch>
            <a:fillRect/>
          </a:stretch>
        </p:blipFill>
        <p:spPr bwMode="gray">
          <a:xfrm>
            <a:off x="5392354" y="4222775"/>
            <a:ext cx="251914" cy="206112"/>
          </a:xfrm>
          <a:prstGeom prst="rect">
            <a:avLst/>
          </a:prstGeom>
        </p:spPr>
      </p:pic>
      <p:pic>
        <p:nvPicPr>
          <p:cNvPr id="172" name="图片 76" descr="接入交换机.png"/>
          <p:cNvPicPr>
            <a:picLocks noChangeAspect="1"/>
          </p:cNvPicPr>
          <p:nvPr/>
        </p:nvPicPr>
        <p:blipFill>
          <a:blip r:embed="rId5" cstate="print"/>
          <a:stretch>
            <a:fillRect/>
          </a:stretch>
        </p:blipFill>
        <p:spPr bwMode="gray">
          <a:xfrm>
            <a:off x="5120611" y="3768112"/>
            <a:ext cx="251914" cy="206112"/>
          </a:xfrm>
          <a:prstGeom prst="rect">
            <a:avLst/>
          </a:prstGeom>
        </p:spPr>
      </p:pic>
      <p:sp>
        <p:nvSpPr>
          <p:cNvPr id="173" name="圆角矩形 172"/>
          <p:cNvSpPr/>
          <p:nvPr/>
        </p:nvSpPr>
        <p:spPr bwMode="gray">
          <a:xfrm>
            <a:off x="607684" y="3258323"/>
            <a:ext cx="1016735" cy="255288"/>
          </a:xfrm>
          <a:prstGeom prst="roundRect">
            <a:avLst/>
          </a:prstGeom>
          <a:solidFill>
            <a:srgbClr val="888888"/>
          </a:solidFill>
          <a:ln w="25400" cap="flat" cmpd="sng" algn="ctr">
            <a:noFill/>
            <a:prstDash val="solid"/>
          </a:ln>
          <a:effectLst/>
        </p:spPr>
        <p:txBody>
          <a:bodyPr rtlCol="0" anchor="ctr"/>
          <a:lstStyle/>
          <a:p>
            <a:pPr algn="ctr" defTabSz="1219062"/>
            <a:r>
              <a:rPr lang="zh-CN" altLang="en-US"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多业务园区</a:t>
            </a:r>
          </a:p>
        </p:txBody>
      </p:sp>
      <p:sp>
        <p:nvSpPr>
          <p:cNvPr id="174" name="圆角矩形 173"/>
          <p:cNvSpPr/>
          <p:nvPr/>
        </p:nvSpPr>
        <p:spPr bwMode="gray">
          <a:xfrm>
            <a:off x="4632822" y="3252638"/>
            <a:ext cx="1135040" cy="314452"/>
          </a:xfrm>
          <a:prstGeom prst="roundRect">
            <a:avLst/>
          </a:prstGeom>
          <a:solidFill>
            <a:srgbClr val="888888"/>
          </a:solidFill>
          <a:ln w="25400" cap="flat" cmpd="sng" algn="ctr">
            <a:noFill/>
            <a:prstDash val="solid"/>
          </a:ln>
          <a:effectLst/>
        </p:spPr>
        <p:txBody>
          <a:bodyPr rtlCol="0" anchor="ctr"/>
          <a:lstStyle/>
          <a:p>
            <a:pPr algn="ctr" defTabSz="1219062"/>
            <a:r>
              <a:rPr lang="zh-CN" altLang="en-US"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简单业务园区</a:t>
            </a:r>
          </a:p>
        </p:txBody>
      </p:sp>
      <p:sp>
        <p:nvSpPr>
          <p:cNvPr id="175" name="圆角矩形 174"/>
          <p:cNvSpPr/>
          <p:nvPr/>
        </p:nvSpPr>
        <p:spPr bwMode="gray">
          <a:xfrm>
            <a:off x="3140347" y="3448830"/>
            <a:ext cx="954107" cy="275627"/>
          </a:xfrm>
          <a:prstGeom prst="roundRect">
            <a:avLst/>
          </a:prstGeom>
          <a:solidFill>
            <a:srgbClr val="888888"/>
          </a:solidFill>
          <a:ln w="25400" cap="flat" cmpd="sng" algn="ctr">
            <a:noFill/>
            <a:prstDash val="solid"/>
          </a:ln>
          <a:effectLst/>
        </p:spPr>
        <p:txBody>
          <a:bodyPr rtlCol="0" anchor="ctr"/>
          <a:lstStyle/>
          <a:p>
            <a:pPr algn="ctr" defTabSz="1219062"/>
            <a:r>
              <a:rPr lang="zh-CN" altLang="en-US" sz="1200"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园区互联</a:t>
            </a:r>
            <a:endParaRPr lang="zh-CN" altLang="en-US"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6" name="圆角矩形 175"/>
          <p:cNvSpPr/>
          <p:nvPr/>
        </p:nvSpPr>
        <p:spPr bwMode="gray">
          <a:xfrm>
            <a:off x="1640477" y="3935677"/>
            <a:ext cx="954107" cy="189195"/>
          </a:xfrm>
          <a:prstGeom prst="roundRect">
            <a:avLst/>
          </a:prstGeom>
          <a:noFill/>
        </p:spPr>
        <p:txBody>
          <a:bodyPr wrap="none" anchor="ctr" anchorCtr="0">
            <a:noAutofit/>
          </a:bodyPr>
          <a:lstStyle/>
          <a:p>
            <a:pPr algn="ctr"/>
            <a:r>
              <a:rPr lang="zh-CN" altLang="en-US" sz="120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办公虚拟网</a:t>
            </a:r>
            <a:endParaRPr lang="zh-CN" altLang="en-US" sz="110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77" name="圆角矩形 176"/>
          <p:cNvSpPr/>
          <p:nvPr/>
        </p:nvSpPr>
        <p:spPr bwMode="gray">
          <a:xfrm>
            <a:off x="1640477" y="4431497"/>
            <a:ext cx="954107" cy="189195"/>
          </a:xfrm>
          <a:prstGeom prst="roundRect">
            <a:avLst/>
          </a:prstGeom>
          <a:noFill/>
        </p:spPr>
        <p:txBody>
          <a:bodyPr wrap="none" anchor="ctr" anchorCtr="0">
            <a:noAutofit/>
          </a:bodyPr>
          <a:lstStyle/>
          <a:p>
            <a:pPr algn="ctr"/>
            <a:r>
              <a:rPr lang="zh-CN" altLang="en-US" sz="1200" dirty="0">
                <a:solidFill>
                  <a:schemeClr val="accent2">
                    <a:lumMod val="7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研发虚拟网</a:t>
            </a:r>
            <a:endParaRPr lang="zh-CN" altLang="en-US" sz="1100" dirty="0">
              <a:solidFill>
                <a:schemeClr val="accent2">
                  <a:lumMod val="7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78" name="梯形 177"/>
          <p:cNvSpPr/>
          <p:nvPr/>
        </p:nvSpPr>
        <p:spPr bwMode="gray">
          <a:xfrm>
            <a:off x="562362" y="5656548"/>
            <a:ext cx="3428844" cy="499842"/>
          </a:xfrm>
          <a:prstGeom prst="trapezoid">
            <a:avLst>
              <a:gd name="adj" fmla="val 22961"/>
            </a:avLst>
          </a:prstGeom>
          <a:gradFill flip="none" rotWithShape="1">
            <a:gsLst>
              <a:gs pos="0">
                <a:schemeClr val="bg1">
                  <a:alpha val="4000"/>
                </a:schemeClr>
              </a:gs>
              <a:gs pos="100000">
                <a:schemeClr val="accent4">
                  <a:lumMod val="60000"/>
                  <a:lumOff val="40000"/>
                  <a:alpha val="70000"/>
                </a:schemeClr>
              </a:gs>
            </a:gsLst>
            <a:lin ang="5400000" scaled="1"/>
            <a:tileRect/>
          </a:gradFill>
          <a:ln>
            <a:gradFill flip="none" rotWithShape="1">
              <a:gsLst>
                <a:gs pos="0">
                  <a:schemeClr val="accent1">
                    <a:lumMod val="5000"/>
                    <a:lumOff val="95000"/>
                    <a:alpha val="0"/>
                  </a:schemeClr>
                </a:gs>
                <a:gs pos="82000">
                  <a:srgbClr val="FCC800"/>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9" name="梯形 178"/>
          <p:cNvSpPr/>
          <p:nvPr/>
        </p:nvSpPr>
        <p:spPr bwMode="gray">
          <a:xfrm>
            <a:off x="562362" y="5133640"/>
            <a:ext cx="3428844" cy="501291"/>
          </a:xfrm>
          <a:prstGeom prst="trapezoid">
            <a:avLst>
              <a:gd name="adj" fmla="val 22961"/>
            </a:avLst>
          </a:prstGeom>
          <a:gradFill flip="none" rotWithShape="1">
            <a:gsLst>
              <a:gs pos="0">
                <a:schemeClr val="bg1">
                  <a:alpha val="0"/>
                </a:schemeClr>
              </a:gs>
              <a:gs pos="100000">
                <a:srgbClr val="C00000">
                  <a:alpha val="21000"/>
                </a:srgbClr>
              </a:gs>
            </a:gsLst>
            <a:lin ang="5400000" scaled="1"/>
            <a:tileRect/>
          </a:gradFill>
          <a:ln>
            <a:gradFill flip="none" rotWithShape="1">
              <a:gsLst>
                <a:gs pos="0">
                  <a:schemeClr val="accent1">
                    <a:lumMod val="5000"/>
                    <a:lumOff val="95000"/>
                    <a:alpha val="0"/>
                  </a:schemeClr>
                </a:gs>
                <a:gs pos="90000">
                  <a:srgbClr val="C00000">
                    <a:alpha val="82000"/>
                  </a:srgb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0" name="圆角矩形 179"/>
          <p:cNvSpPr/>
          <p:nvPr/>
        </p:nvSpPr>
        <p:spPr bwMode="gray">
          <a:xfrm>
            <a:off x="640070" y="5408877"/>
            <a:ext cx="954107" cy="189195"/>
          </a:xfrm>
          <a:prstGeom prst="roundRect">
            <a:avLst/>
          </a:prstGeom>
          <a:noFill/>
        </p:spPr>
        <p:txBody>
          <a:bodyPr wrap="none" anchor="ctr" anchorCtr="0">
            <a:noAutofit/>
          </a:bodyPr>
          <a:lstStyle/>
          <a:p>
            <a:pPr algn="ctr"/>
            <a:r>
              <a:rPr lang="zh-CN" altLang="en-US" sz="120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办公虚拟网</a:t>
            </a:r>
            <a:endParaRPr lang="zh-CN" altLang="en-US" sz="110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81" name="圆角矩形 180"/>
          <p:cNvSpPr/>
          <p:nvPr/>
        </p:nvSpPr>
        <p:spPr bwMode="gray">
          <a:xfrm>
            <a:off x="640070" y="5904697"/>
            <a:ext cx="954107" cy="189195"/>
          </a:xfrm>
          <a:prstGeom prst="roundRect">
            <a:avLst/>
          </a:prstGeom>
          <a:noFill/>
        </p:spPr>
        <p:txBody>
          <a:bodyPr wrap="none" anchor="ctr" anchorCtr="0">
            <a:noAutofit/>
          </a:bodyPr>
          <a:lstStyle/>
          <a:p>
            <a:pPr algn="ctr"/>
            <a:r>
              <a:rPr lang="zh-CN" altLang="en-US" sz="1200">
                <a:solidFill>
                  <a:schemeClr val="accent2">
                    <a:lumMod val="7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研发虚拟网</a:t>
            </a:r>
            <a:endParaRPr lang="zh-CN" altLang="en-US" sz="1100" dirty="0">
              <a:solidFill>
                <a:schemeClr val="accent2">
                  <a:lumMod val="7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82" name="圆角矩形 181"/>
          <p:cNvSpPr/>
          <p:nvPr/>
        </p:nvSpPr>
        <p:spPr bwMode="gray">
          <a:xfrm>
            <a:off x="1702772" y="5348889"/>
            <a:ext cx="592425" cy="189195"/>
          </a:xfrm>
          <a:prstGeom prst="roundRect">
            <a:avLst/>
          </a:prstGeom>
          <a:solidFill>
            <a:srgbClr val="FF9999"/>
          </a:solidFill>
        </p:spPr>
        <p:txBody>
          <a:bodyPr wrap="none" anchor="ctr" anchorCtr="0">
            <a:noAutofit/>
          </a:bodyPr>
          <a:lstStyle/>
          <a:p>
            <a:pPr algn="ctr"/>
            <a:r>
              <a:rPr lang="zh-CN" altLang="en-US" sz="12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安全组</a:t>
            </a:r>
            <a:r>
              <a:rPr lang="en-US" altLang="zh-CN" sz="12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a:t>
            </a:r>
            <a:endParaRPr lang="zh-CN" altLang="en-US" sz="11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83" name="圆角矩形 182"/>
          <p:cNvSpPr/>
          <p:nvPr/>
        </p:nvSpPr>
        <p:spPr bwMode="gray">
          <a:xfrm>
            <a:off x="2505043" y="5348889"/>
            <a:ext cx="592425" cy="189195"/>
          </a:xfrm>
          <a:prstGeom prst="roundRect">
            <a:avLst/>
          </a:prstGeom>
          <a:solidFill>
            <a:srgbClr val="FF9999"/>
          </a:solidFill>
        </p:spPr>
        <p:txBody>
          <a:bodyPr wrap="none" anchor="ctr" anchorCtr="0">
            <a:noAutofit/>
          </a:bodyPr>
          <a:lstStyle/>
          <a:p>
            <a:pPr algn="ctr"/>
            <a:r>
              <a:rPr lang="zh-CN" altLang="en-US" sz="120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安全组</a:t>
            </a:r>
            <a:r>
              <a:rPr lang="en-US" altLang="zh-CN" sz="120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2</a:t>
            </a:r>
            <a:endParaRPr lang="zh-CN" altLang="en-US" sz="11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84" name="圆角矩形 183"/>
          <p:cNvSpPr/>
          <p:nvPr/>
        </p:nvSpPr>
        <p:spPr bwMode="gray">
          <a:xfrm>
            <a:off x="3307314" y="5348889"/>
            <a:ext cx="592425" cy="189195"/>
          </a:xfrm>
          <a:prstGeom prst="roundRect">
            <a:avLst/>
          </a:prstGeom>
          <a:solidFill>
            <a:srgbClr val="FF9999"/>
          </a:solidFill>
        </p:spPr>
        <p:txBody>
          <a:bodyPr wrap="none" anchor="ctr" anchorCtr="0">
            <a:noAutofit/>
          </a:bodyPr>
          <a:lstStyle/>
          <a:p>
            <a:pPr algn="ctr"/>
            <a:r>
              <a:rPr lang="zh-CN" altLang="en-US" sz="120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安全组</a:t>
            </a:r>
            <a:r>
              <a:rPr lang="en-US" altLang="zh-CN" sz="120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3</a:t>
            </a:r>
            <a:endParaRPr lang="zh-CN" altLang="en-US" sz="11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85" name="圆角矩形 184"/>
          <p:cNvSpPr/>
          <p:nvPr/>
        </p:nvSpPr>
        <p:spPr bwMode="gray">
          <a:xfrm>
            <a:off x="1702772" y="5904697"/>
            <a:ext cx="592425" cy="189195"/>
          </a:xfrm>
          <a:prstGeom prst="roundRect">
            <a:avLst/>
          </a:prstGeom>
          <a:solidFill>
            <a:srgbClr val="FFCC66"/>
          </a:solidFill>
        </p:spPr>
        <p:txBody>
          <a:bodyPr wrap="none" anchor="ctr" anchorCtr="0">
            <a:noAutofit/>
          </a:bodyPr>
          <a:lstStyle/>
          <a:p>
            <a:pPr algn="ctr"/>
            <a:r>
              <a:rPr lang="zh-CN" altLang="en-US" sz="120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安全组</a:t>
            </a:r>
            <a:r>
              <a:rPr lang="en-US" altLang="zh-CN" sz="120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4</a:t>
            </a:r>
            <a:endParaRPr lang="zh-CN" altLang="en-US" sz="11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86" name="圆角矩形 185"/>
          <p:cNvSpPr/>
          <p:nvPr/>
        </p:nvSpPr>
        <p:spPr bwMode="gray">
          <a:xfrm>
            <a:off x="3308854" y="5904697"/>
            <a:ext cx="592425" cy="189195"/>
          </a:xfrm>
          <a:prstGeom prst="roundRect">
            <a:avLst/>
          </a:prstGeom>
          <a:solidFill>
            <a:srgbClr val="FFCC66"/>
          </a:solidFill>
        </p:spPr>
        <p:txBody>
          <a:bodyPr wrap="none" anchor="ctr" anchorCtr="0">
            <a:noAutofit/>
          </a:bodyPr>
          <a:lstStyle/>
          <a:p>
            <a:pPr algn="ctr"/>
            <a:r>
              <a:rPr lang="zh-CN" altLang="en-US" sz="120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安全组</a:t>
            </a:r>
            <a:r>
              <a:rPr lang="en-US" altLang="zh-CN" sz="120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5</a:t>
            </a:r>
            <a:endParaRPr lang="zh-CN" altLang="en-US" sz="1100" dirty="0">
              <a:solidFill>
                <a:schemeClr val="bg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87" name="弧形 186"/>
          <p:cNvSpPr/>
          <p:nvPr/>
        </p:nvSpPr>
        <p:spPr bwMode="gray">
          <a:xfrm>
            <a:off x="2085303" y="5133640"/>
            <a:ext cx="591241" cy="367114"/>
          </a:xfrm>
          <a:prstGeom prst="arc">
            <a:avLst>
              <a:gd name="adj1" fmla="val 11049573"/>
              <a:gd name="adj2" fmla="val 0"/>
            </a:avLst>
          </a:prstGeom>
          <a:ln>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8" name="弧形 187"/>
          <p:cNvSpPr/>
          <p:nvPr/>
        </p:nvSpPr>
        <p:spPr bwMode="gray">
          <a:xfrm>
            <a:off x="2906771" y="5133640"/>
            <a:ext cx="591241" cy="367114"/>
          </a:xfrm>
          <a:prstGeom prst="arc">
            <a:avLst>
              <a:gd name="adj1" fmla="val 11049573"/>
              <a:gd name="adj2" fmla="val 0"/>
            </a:avLst>
          </a:prstGeom>
          <a:ln>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9" name="弧形 188"/>
          <p:cNvSpPr/>
          <p:nvPr/>
        </p:nvSpPr>
        <p:spPr bwMode="gray">
          <a:xfrm>
            <a:off x="2215740" y="5706623"/>
            <a:ext cx="1152162" cy="367114"/>
          </a:xfrm>
          <a:prstGeom prst="arc">
            <a:avLst>
              <a:gd name="adj1" fmla="val 11049573"/>
              <a:gd name="adj2" fmla="val 0"/>
            </a:avLst>
          </a:prstGeom>
          <a:ln>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90" name="组合 189"/>
          <p:cNvGrpSpPr>
            <a:grpSpLocks noChangeAspect="1"/>
          </p:cNvGrpSpPr>
          <p:nvPr/>
        </p:nvGrpSpPr>
        <p:grpSpPr bwMode="gray">
          <a:xfrm>
            <a:off x="2310555" y="5067998"/>
            <a:ext cx="166104" cy="166104"/>
            <a:chOff x="10441953" y="5633214"/>
            <a:chExt cx="264000" cy="264000"/>
          </a:xfrm>
        </p:grpSpPr>
        <p:sp>
          <p:nvSpPr>
            <p:cNvPr id="191" name="椭圆 190"/>
            <p:cNvSpPr>
              <a:spLocks noChangeAspect="1"/>
            </p:cNvSpPr>
            <p:nvPr/>
          </p:nvSpPr>
          <p:spPr bwMode="gray">
            <a:xfrm>
              <a:off x="10441953" y="5633214"/>
              <a:ext cx="264000" cy="26400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5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2" name="任意多边形 191"/>
            <p:cNvSpPr/>
            <p:nvPr/>
          </p:nvSpPr>
          <p:spPr bwMode="gray">
            <a:xfrm>
              <a:off x="10506830" y="5719982"/>
              <a:ext cx="138959" cy="73584"/>
            </a:xfrm>
            <a:custGeom>
              <a:avLst/>
              <a:gdLst>
                <a:gd name="connsiteX0" fmla="*/ 0 w 221456"/>
                <a:gd name="connsiteY0" fmla="*/ 47625 h 126206"/>
                <a:gd name="connsiteX1" fmla="*/ 83344 w 221456"/>
                <a:gd name="connsiteY1" fmla="*/ 126206 h 126206"/>
                <a:gd name="connsiteX2" fmla="*/ 221456 w 221456"/>
                <a:gd name="connsiteY2" fmla="*/ 0 h 126206"/>
                <a:gd name="connsiteX0" fmla="*/ 0 w 250659"/>
                <a:gd name="connsiteY0" fmla="*/ 33024 h 126206"/>
                <a:gd name="connsiteX1" fmla="*/ 112547 w 250659"/>
                <a:gd name="connsiteY1" fmla="*/ 126206 h 126206"/>
                <a:gd name="connsiteX2" fmla="*/ 250659 w 250659"/>
                <a:gd name="connsiteY2" fmla="*/ 0 h 126206"/>
                <a:gd name="connsiteX0" fmla="*/ 0 w 259419"/>
                <a:gd name="connsiteY0" fmla="*/ 35944 h 126206"/>
                <a:gd name="connsiteX1" fmla="*/ 121307 w 259419"/>
                <a:gd name="connsiteY1" fmla="*/ 126206 h 126206"/>
                <a:gd name="connsiteX2" fmla="*/ 259419 w 259419"/>
                <a:gd name="connsiteY2" fmla="*/ 0 h 126206"/>
                <a:gd name="connsiteX0" fmla="*/ 0 w 259419"/>
                <a:gd name="connsiteY0" fmla="*/ 35944 h 126206"/>
                <a:gd name="connsiteX1" fmla="*/ 106706 w 259419"/>
                <a:gd name="connsiteY1" fmla="*/ 126206 h 126206"/>
                <a:gd name="connsiteX2" fmla="*/ 259419 w 259419"/>
                <a:gd name="connsiteY2" fmla="*/ 0 h 126206"/>
                <a:gd name="connsiteX0" fmla="*/ 0 w 279861"/>
                <a:gd name="connsiteY0" fmla="*/ 35944 h 126206"/>
                <a:gd name="connsiteX1" fmla="*/ 106706 w 279861"/>
                <a:gd name="connsiteY1" fmla="*/ 126206 h 126206"/>
                <a:gd name="connsiteX2" fmla="*/ 279861 w 279861"/>
                <a:gd name="connsiteY2" fmla="*/ 0 h 126206"/>
                <a:gd name="connsiteX0" fmla="*/ 0 w 276940"/>
                <a:gd name="connsiteY0" fmla="*/ 56386 h 146648"/>
                <a:gd name="connsiteX1" fmla="*/ 106706 w 276940"/>
                <a:gd name="connsiteY1" fmla="*/ 146648 h 146648"/>
                <a:gd name="connsiteX2" fmla="*/ 276940 w 276940"/>
                <a:gd name="connsiteY2" fmla="*/ 0 h 146648"/>
                <a:gd name="connsiteX0" fmla="*/ 0 w 276940"/>
                <a:gd name="connsiteY0" fmla="*/ 56386 h 146648"/>
                <a:gd name="connsiteX1" fmla="*/ 121308 w 276940"/>
                <a:gd name="connsiteY1" fmla="*/ 146648 h 146648"/>
                <a:gd name="connsiteX2" fmla="*/ 276940 w 276940"/>
                <a:gd name="connsiteY2" fmla="*/ 0 h 146648"/>
              </a:gdLst>
              <a:ahLst/>
              <a:cxnLst>
                <a:cxn ang="0">
                  <a:pos x="connsiteX0" y="connsiteY0"/>
                </a:cxn>
                <a:cxn ang="0">
                  <a:pos x="connsiteX1" y="connsiteY1"/>
                </a:cxn>
                <a:cxn ang="0">
                  <a:pos x="connsiteX2" y="connsiteY2"/>
                </a:cxn>
              </a:cxnLst>
              <a:rect l="l" t="t" r="r" b="b"/>
              <a:pathLst>
                <a:path w="276940" h="146648">
                  <a:moveTo>
                    <a:pt x="0" y="56386"/>
                  </a:moveTo>
                  <a:lnTo>
                    <a:pt x="121308" y="146648"/>
                  </a:lnTo>
                  <a:lnTo>
                    <a:pt x="276940" y="0"/>
                  </a:lnTo>
                </a:path>
              </a:pathLst>
            </a:custGeom>
            <a:noFill/>
            <a:ln w="12700" cap="rnd" cmpd="sng">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93" name="组合 28"/>
          <p:cNvGrpSpPr/>
          <p:nvPr/>
        </p:nvGrpSpPr>
        <p:grpSpPr bwMode="gray">
          <a:xfrm>
            <a:off x="3106824" y="5070594"/>
            <a:ext cx="163115" cy="163118"/>
            <a:chOff x="5076056" y="3356992"/>
            <a:chExt cx="436268" cy="436277"/>
          </a:xfrm>
        </p:grpSpPr>
        <p:sp>
          <p:nvSpPr>
            <p:cNvPr id="194" name="椭圆 27"/>
            <p:cNvSpPr/>
            <p:nvPr/>
          </p:nvSpPr>
          <p:spPr bwMode="gray">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5" name="禁止符 23"/>
            <p:cNvSpPr/>
            <p:nvPr/>
          </p:nvSpPr>
          <p:spPr bwMode="gray">
            <a:xfrm>
              <a:off x="5076056" y="3357000"/>
              <a:ext cx="436268" cy="436269"/>
            </a:xfrm>
            <a:prstGeom prst="noSmoking">
              <a:avLst>
                <a:gd name="adj" fmla="val 15475"/>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96" name="组合 28"/>
          <p:cNvGrpSpPr/>
          <p:nvPr/>
        </p:nvGrpSpPr>
        <p:grpSpPr bwMode="gray">
          <a:xfrm>
            <a:off x="2719697" y="5656548"/>
            <a:ext cx="163115" cy="163118"/>
            <a:chOff x="5076056" y="3356992"/>
            <a:chExt cx="436268" cy="436277"/>
          </a:xfrm>
        </p:grpSpPr>
        <p:sp>
          <p:nvSpPr>
            <p:cNvPr id="197" name="椭圆 27"/>
            <p:cNvSpPr/>
            <p:nvPr/>
          </p:nvSpPr>
          <p:spPr bwMode="gray">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8" name="禁止符 23"/>
            <p:cNvSpPr/>
            <p:nvPr/>
          </p:nvSpPr>
          <p:spPr bwMode="gray">
            <a:xfrm>
              <a:off x="5076056" y="3357000"/>
              <a:ext cx="436268" cy="436269"/>
            </a:xfrm>
            <a:prstGeom prst="noSmoking">
              <a:avLst>
                <a:gd name="adj" fmla="val 15475"/>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99" name="矩形 198"/>
          <p:cNvSpPr/>
          <p:nvPr/>
        </p:nvSpPr>
        <p:spPr bwMode="gray">
          <a:xfrm>
            <a:off x="4128071" y="5316560"/>
            <a:ext cx="1694816" cy="784830"/>
          </a:xfrm>
          <a:prstGeom prst="rect">
            <a:avLst/>
          </a:prstGeom>
        </p:spPr>
        <p:txBody>
          <a:bodyPr wrap="square">
            <a:spAutoFit/>
          </a:bodyPr>
          <a:lstStyle/>
          <a:p>
            <a:pPr marL="171450" indent="-171450">
              <a:lnSpc>
                <a:spcPts val="1800"/>
              </a:lnSpc>
              <a:buFont typeface="Arial" panose="020B0604020202020204" pitchFamily="34" charset="0"/>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访问策略</a:t>
            </a:r>
          </a:p>
          <a:p>
            <a:pPr marL="171450" indent="-171450">
              <a:lnSpc>
                <a:spcPts val="1800"/>
              </a:lnSpc>
              <a:buFont typeface="Arial" panose="020B0604020202020204" pitchFamily="34" charset="0"/>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带宽</a:t>
            </a:r>
          </a:p>
          <a:p>
            <a:pPr marL="171450" indent="-171450">
              <a:lnSpc>
                <a:spcPts val="1800"/>
              </a:lnSpc>
              <a:buFont typeface="Arial" panose="020B0604020202020204" pitchFamily="34" charset="0"/>
              <a:buChar char="•"/>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优先级</a:t>
            </a:r>
          </a:p>
        </p:txBody>
      </p:sp>
      <p:sp>
        <p:nvSpPr>
          <p:cNvPr id="200" name="圆角矩形 199"/>
          <p:cNvSpPr/>
          <p:nvPr/>
        </p:nvSpPr>
        <p:spPr bwMode="gray">
          <a:xfrm>
            <a:off x="6391232" y="4912664"/>
            <a:ext cx="5011287" cy="1202409"/>
          </a:xfrm>
          <a:prstGeom prst="roundRect">
            <a:avLst>
              <a:gd name="adj" fmla="val 2222"/>
            </a:avLst>
          </a:prstGeom>
          <a:noFill/>
          <a:ln w="12700">
            <a:solidFill>
              <a:srgbClr val="94DAE2"/>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t" anchorCtr="0"/>
          <a:lstStyle/>
          <a:p>
            <a:pPr marL="176213" indent="-17621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实时体验可视：每时刻、每用户、每区域的网络体验可视。</a:t>
            </a:r>
          </a:p>
          <a:p>
            <a:pPr marL="176213" indent="-17621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精准故障分析：主动识别典型网络问题并给出建议。</a:t>
            </a:r>
          </a:p>
          <a:p>
            <a:pPr marL="176213" indent="-176213">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智能网络调优：基于历史数据的无线网络预测性调优。</a:t>
            </a:r>
          </a:p>
        </p:txBody>
      </p:sp>
    </p:spTree>
    <p:extLst>
      <p:ext uri="{BB962C8B-B14F-4D97-AF65-F5344CB8AC3E}">
        <p14:creationId xmlns:p14="http://schemas.microsoft.com/office/powerpoint/2010/main" val="17955169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a:sym typeface="Huawei Sans" panose="020C0503030203020204" pitchFamily="34" charset="0"/>
              </a:rPr>
              <a:t>全场景：单园区到多分支互联全覆盖</a:t>
            </a:r>
            <a:endParaRPr lang="zh-CN" altLang="en-US" dirty="0">
              <a:sym typeface="Huawei Sans" panose="020C0503030203020204" pitchFamily="34" charset="0"/>
            </a:endParaRPr>
          </a:p>
        </p:txBody>
      </p:sp>
      <p:grpSp>
        <p:nvGrpSpPr>
          <p:cNvPr id="101" name="组合 100"/>
          <p:cNvGrpSpPr/>
          <p:nvPr/>
        </p:nvGrpSpPr>
        <p:grpSpPr bwMode="gray">
          <a:xfrm>
            <a:off x="7822377" y="2071162"/>
            <a:ext cx="3527788" cy="1368198"/>
            <a:chOff x="2458370" y="2301397"/>
            <a:chExt cx="3527788" cy="1368198"/>
          </a:xfrm>
        </p:grpSpPr>
        <p:sp>
          <p:nvSpPr>
            <p:cNvPr id="102" name="梯形 101"/>
            <p:cNvSpPr/>
            <p:nvPr/>
          </p:nvSpPr>
          <p:spPr bwMode="gray">
            <a:xfrm>
              <a:off x="2458370" y="2301397"/>
              <a:ext cx="3527788" cy="1368198"/>
            </a:xfrm>
            <a:prstGeom prst="trapezoid">
              <a:avLst>
                <a:gd name="adj" fmla="val 98051"/>
              </a:avLst>
            </a:prstGeom>
            <a:gradFill flip="none" rotWithShape="1">
              <a:gsLst>
                <a:gs pos="0">
                  <a:schemeClr val="bg1">
                    <a:alpha val="0"/>
                  </a:schemeClr>
                </a:gs>
                <a:gs pos="35000">
                  <a:srgbClr val="99DFF9">
                    <a:alpha val="35000"/>
                  </a:srgb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3" name="梯形 102"/>
            <p:cNvSpPr/>
            <p:nvPr/>
          </p:nvSpPr>
          <p:spPr bwMode="gray">
            <a:xfrm>
              <a:off x="2929423" y="2301397"/>
              <a:ext cx="2585682" cy="1368198"/>
            </a:xfrm>
            <a:prstGeom prst="trapezoid">
              <a:avLst>
                <a:gd name="adj" fmla="val 67520"/>
              </a:avLst>
            </a:prstGeom>
            <a:gradFill flip="none" rotWithShape="1">
              <a:gsLst>
                <a:gs pos="0">
                  <a:schemeClr val="bg1">
                    <a:alpha val="0"/>
                  </a:schemeClr>
                </a:gs>
                <a:gs pos="43000">
                  <a:srgbClr val="99DFF9">
                    <a:alpha val="35000"/>
                  </a:srgb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4" name="梯形 103"/>
            <p:cNvSpPr/>
            <p:nvPr/>
          </p:nvSpPr>
          <p:spPr bwMode="gray">
            <a:xfrm>
              <a:off x="3266979" y="2301397"/>
              <a:ext cx="1934088" cy="1368198"/>
            </a:xfrm>
            <a:prstGeom prst="trapezoid">
              <a:avLst>
                <a:gd name="adj" fmla="val 47346"/>
              </a:avLst>
            </a:prstGeom>
            <a:gradFill flip="none" rotWithShape="1">
              <a:gsLst>
                <a:gs pos="0">
                  <a:schemeClr val="bg1">
                    <a:alpha val="0"/>
                  </a:schemeClr>
                </a:gs>
                <a:gs pos="56000">
                  <a:srgbClr val="99DFF9">
                    <a:alpha val="57000"/>
                  </a:srgb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05" name="组合 104"/>
          <p:cNvGrpSpPr/>
          <p:nvPr/>
        </p:nvGrpSpPr>
        <p:grpSpPr bwMode="gray">
          <a:xfrm>
            <a:off x="4336193" y="2071162"/>
            <a:ext cx="3527788" cy="1368198"/>
            <a:chOff x="2458370" y="2301397"/>
            <a:chExt cx="3527788" cy="1368198"/>
          </a:xfrm>
        </p:grpSpPr>
        <p:sp>
          <p:nvSpPr>
            <p:cNvPr id="106" name="梯形 105"/>
            <p:cNvSpPr/>
            <p:nvPr/>
          </p:nvSpPr>
          <p:spPr bwMode="gray">
            <a:xfrm>
              <a:off x="2458370" y="2301397"/>
              <a:ext cx="3527788" cy="1368198"/>
            </a:xfrm>
            <a:prstGeom prst="trapezoid">
              <a:avLst>
                <a:gd name="adj" fmla="val 98051"/>
              </a:avLst>
            </a:prstGeom>
            <a:gradFill flip="none" rotWithShape="1">
              <a:gsLst>
                <a:gs pos="0">
                  <a:schemeClr val="bg1">
                    <a:alpha val="0"/>
                  </a:schemeClr>
                </a:gs>
                <a:gs pos="35000">
                  <a:srgbClr val="99DFF9">
                    <a:alpha val="35000"/>
                  </a:srgb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7" name="梯形 106"/>
            <p:cNvSpPr/>
            <p:nvPr/>
          </p:nvSpPr>
          <p:spPr bwMode="gray">
            <a:xfrm>
              <a:off x="2929423" y="2301397"/>
              <a:ext cx="2585682" cy="1368198"/>
            </a:xfrm>
            <a:prstGeom prst="trapezoid">
              <a:avLst>
                <a:gd name="adj" fmla="val 67520"/>
              </a:avLst>
            </a:prstGeom>
            <a:gradFill flip="none" rotWithShape="1">
              <a:gsLst>
                <a:gs pos="0">
                  <a:schemeClr val="bg1">
                    <a:alpha val="0"/>
                  </a:schemeClr>
                </a:gs>
                <a:gs pos="43000">
                  <a:srgbClr val="99DFF9">
                    <a:alpha val="35000"/>
                  </a:srgb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8" name="梯形 107"/>
            <p:cNvSpPr/>
            <p:nvPr/>
          </p:nvSpPr>
          <p:spPr bwMode="gray">
            <a:xfrm>
              <a:off x="3266979" y="2301397"/>
              <a:ext cx="1934088" cy="1368198"/>
            </a:xfrm>
            <a:prstGeom prst="trapezoid">
              <a:avLst>
                <a:gd name="adj" fmla="val 47346"/>
              </a:avLst>
            </a:prstGeom>
            <a:gradFill flip="none" rotWithShape="1">
              <a:gsLst>
                <a:gs pos="0">
                  <a:schemeClr val="bg1">
                    <a:alpha val="0"/>
                  </a:schemeClr>
                </a:gs>
                <a:gs pos="56000">
                  <a:srgbClr val="99DFF9">
                    <a:alpha val="57000"/>
                  </a:srgb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09" name="梯形 108"/>
          <p:cNvSpPr/>
          <p:nvPr/>
        </p:nvSpPr>
        <p:spPr bwMode="gray">
          <a:xfrm>
            <a:off x="500649" y="2071162"/>
            <a:ext cx="3527788" cy="1368198"/>
          </a:xfrm>
          <a:prstGeom prst="trapezoid">
            <a:avLst>
              <a:gd name="adj" fmla="val 98051"/>
            </a:avLst>
          </a:prstGeom>
          <a:gradFill flip="none" rotWithShape="1">
            <a:gsLst>
              <a:gs pos="0">
                <a:schemeClr val="bg1">
                  <a:alpha val="0"/>
                </a:schemeClr>
              </a:gs>
              <a:gs pos="35000">
                <a:srgbClr val="99DFF9">
                  <a:alpha val="35000"/>
                </a:srgb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0" name="梯形 109"/>
          <p:cNvSpPr/>
          <p:nvPr/>
        </p:nvSpPr>
        <p:spPr bwMode="gray">
          <a:xfrm>
            <a:off x="971702" y="2071162"/>
            <a:ext cx="2585682" cy="1368198"/>
          </a:xfrm>
          <a:prstGeom prst="trapezoid">
            <a:avLst>
              <a:gd name="adj" fmla="val 67520"/>
            </a:avLst>
          </a:prstGeom>
          <a:gradFill flip="none" rotWithShape="1">
            <a:gsLst>
              <a:gs pos="0">
                <a:schemeClr val="bg1">
                  <a:alpha val="0"/>
                </a:schemeClr>
              </a:gs>
              <a:gs pos="43000">
                <a:srgbClr val="99DFF9">
                  <a:alpha val="35000"/>
                </a:srgb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1" name="梯形 110"/>
          <p:cNvSpPr/>
          <p:nvPr/>
        </p:nvSpPr>
        <p:spPr bwMode="gray">
          <a:xfrm>
            <a:off x="1456110" y="2071162"/>
            <a:ext cx="1640384" cy="1368198"/>
          </a:xfrm>
          <a:prstGeom prst="trapezoid">
            <a:avLst>
              <a:gd name="adj" fmla="val 40539"/>
            </a:avLst>
          </a:prstGeom>
          <a:gradFill flip="none" rotWithShape="1">
            <a:gsLst>
              <a:gs pos="0">
                <a:schemeClr val="bg1">
                  <a:alpha val="0"/>
                </a:schemeClr>
              </a:gs>
              <a:gs pos="56000">
                <a:srgbClr val="99DFF9">
                  <a:alpha val="57000"/>
                </a:srgb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12" name="组合 111"/>
          <p:cNvGrpSpPr/>
          <p:nvPr/>
        </p:nvGrpSpPr>
        <p:grpSpPr bwMode="gray">
          <a:xfrm>
            <a:off x="4119644" y="1052252"/>
            <a:ext cx="3690243" cy="2983146"/>
            <a:chOff x="4136734" y="1282487"/>
            <a:chExt cx="3690243" cy="3454468"/>
          </a:xfrm>
        </p:grpSpPr>
        <p:cxnSp>
          <p:nvCxnSpPr>
            <p:cNvPr id="113" name="直接连接符 112"/>
            <p:cNvCxnSpPr/>
            <p:nvPr/>
          </p:nvCxnSpPr>
          <p:spPr bwMode="gray">
            <a:xfrm flipH="1">
              <a:off x="4136734" y="1282487"/>
              <a:ext cx="17090" cy="3454468"/>
            </a:xfrm>
            <a:prstGeom prst="line">
              <a:avLst/>
            </a:prstGeom>
            <a:ln w="190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bwMode="gray">
            <a:xfrm flipH="1">
              <a:off x="7809887" y="1282487"/>
              <a:ext cx="17090" cy="3454468"/>
            </a:xfrm>
            <a:prstGeom prst="line">
              <a:avLst/>
            </a:prstGeom>
            <a:ln w="190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115" name="矩形 114"/>
          <p:cNvSpPr/>
          <p:nvPr/>
        </p:nvSpPr>
        <p:spPr bwMode="gray">
          <a:xfrm>
            <a:off x="9012202" y="1127261"/>
            <a:ext cx="1815821" cy="338554"/>
          </a:xfrm>
          <a:prstGeom prst="rect">
            <a:avLst/>
          </a:prstGeom>
        </p:spPr>
        <p:txBody>
          <a:bodyPr wrap="square">
            <a:spAutoFit/>
          </a:bodyPr>
          <a:lstStyle/>
          <a:p>
            <a:pPr algn="ctr"/>
            <a:r>
              <a:rPr kumimoji="1"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多分支互联园区</a:t>
            </a:r>
            <a:endParaRPr kumimoji="1" lang="en-US" altLang="zh-CN" sz="1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6" name="矩形 115"/>
          <p:cNvSpPr/>
          <p:nvPr/>
        </p:nvSpPr>
        <p:spPr bwMode="gray">
          <a:xfrm>
            <a:off x="5494793" y="1127261"/>
            <a:ext cx="1210588" cy="338554"/>
          </a:xfrm>
          <a:prstGeom prst="rect">
            <a:avLst/>
          </a:prstGeom>
        </p:spPr>
        <p:txBody>
          <a:bodyPr wrap="none">
            <a:spAutoFit/>
          </a:bodyPr>
          <a:lstStyle/>
          <a:p>
            <a:pPr algn="ct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多业务园区</a:t>
            </a:r>
          </a:p>
        </p:txBody>
      </p:sp>
      <p:sp>
        <p:nvSpPr>
          <p:cNvPr id="117" name="矩形 116"/>
          <p:cNvSpPr/>
          <p:nvPr/>
        </p:nvSpPr>
        <p:spPr bwMode="gray">
          <a:xfrm>
            <a:off x="1553030" y="1127261"/>
            <a:ext cx="1415772" cy="338554"/>
          </a:xfrm>
          <a:prstGeom prst="rect">
            <a:avLst/>
          </a:prstGeom>
        </p:spPr>
        <p:txBody>
          <a:bodyPr wrap="none">
            <a:spAutoFit/>
          </a:bodyPr>
          <a:lstStyle/>
          <a:p>
            <a:pPr algn="ct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简单业务园区</a:t>
            </a:r>
          </a:p>
        </p:txBody>
      </p:sp>
      <p:pic>
        <p:nvPicPr>
          <p:cNvPr id="119" name="图片 11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398106" y="1616696"/>
            <a:ext cx="1725620" cy="446632"/>
          </a:xfrm>
          <a:prstGeom prst="rect">
            <a:avLst/>
          </a:prstGeom>
        </p:spPr>
      </p:pic>
      <p:sp>
        <p:nvSpPr>
          <p:cNvPr id="120" name="Freeform 159"/>
          <p:cNvSpPr/>
          <p:nvPr/>
        </p:nvSpPr>
        <p:spPr bwMode="gray">
          <a:xfrm flipH="1">
            <a:off x="1806175" y="2489330"/>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Internet</a:t>
            </a:r>
          </a:p>
        </p:txBody>
      </p:sp>
      <p:sp>
        <p:nvSpPr>
          <p:cNvPr id="121" name="文本框 120"/>
          <p:cNvSpPr txBox="1"/>
          <p:nvPr/>
        </p:nvSpPr>
        <p:spPr bwMode="gray">
          <a:xfrm>
            <a:off x="2314047" y="3779091"/>
            <a:ext cx="543739" cy="307777"/>
          </a:xfrm>
          <a:prstGeom prst="rect">
            <a:avLst/>
          </a:prstGeom>
          <a:noFill/>
        </p:spPr>
        <p:txBody>
          <a:bodyPr wrap="none" rtlCol="0">
            <a:spAutoFit/>
          </a:bodyPr>
          <a:lstStyle/>
          <a:p>
            <a:pPr marL="212657" indent="-212657" algn="ctr" defTabSz="1218194" fontAlgn="auto">
              <a:spcBef>
                <a:spcPts val="0"/>
              </a:spcBef>
              <a:spcAft>
                <a:spcPts val="0"/>
              </a:spcAft>
              <a:defRPr/>
            </a:pPr>
            <a:r>
              <a:rPr lang="zh-CN" altLang="en-US" sz="1400"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酒店</a:t>
            </a:r>
            <a:endParaRPr lang="en-US" altLang="zh-CN" sz="1400"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22" name="文本框 121"/>
          <p:cNvSpPr txBox="1"/>
          <p:nvPr/>
        </p:nvSpPr>
        <p:spPr bwMode="gray">
          <a:xfrm>
            <a:off x="3177896" y="3779091"/>
            <a:ext cx="723275" cy="307777"/>
          </a:xfrm>
          <a:prstGeom prst="rect">
            <a:avLst/>
          </a:prstGeom>
          <a:noFill/>
        </p:spPr>
        <p:txBody>
          <a:bodyPr wrap="none" rtlCol="0">
            <a:spAutoFit/>
          </a:bodyPr>
          <a:lstStyle/>
          <a:p>
            <a:pPr algn="ctr"/>
            <a:r>
              <a:rPr lang="zh-CN" altLang="en-US"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大企业</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23" name="文本框 122"/>
          <p:cNvSpPr txBox="1"/>
          <p:nvPr/>
        </p:nvSpPr>
        <p:spPr bwMode="gray">
          <a:xfrm>
            <a:off x="1450198" y="3779091"/>
            <a:ext cx="543739" cy="307777"/>
          </a:xfrm>
          <a:prstGeom prst="rect">
            <a:avLst/>
          </a:prstGeom>
          <a:noFill/>
        </p:spPr>
        <p:txBody>
          <a:bodyPr wrap="none" rtlCol="0">
            <a:spAutoFit/>
          </a:bodyPr>
          <a:lstStyle/>
          <a:p>
            <a:pPr marL="212657" indent="-212657" algn="ctr" defTabSz="1218194" fontAlgn="auto">
              <a:spcBef>
                <a:spcPts val="0"/>
              </a:spcBef>
              <a:spcAft>
                <a:spcPts val="0"/>
              </a:spcAft>
              <a:defRPr/>
            </a:pPr>
            <a:r>
              <a:rPr lang="zh-CN" altLang="en-US" sz="1400"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普教</a:t>
            </a:r>
            <a:endParaRPr lang="en-US" altLang="zh-CN" sz="1400"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24" name="文本框 123"/>
          <p:cNvSpPr txBox="1"/>
          <p:nvPr/>
        </p:nvSpPr>
        <p:spPr bwMode="gray">
          <a:xfrm>
            <a:off x="586349" y="3779091"/>
            <a:ext cx="543739" cy="307777"/>
          </a:xfrm>
          <a:prstGeom prst="rect">
            <a:avLst/>
          </a:prstGeom>
          <a:noFill/>
        </p:spPr>
        <p:txBody>
          <a:bodyPr wrap="none" rtlCol="0">
            <a:spAutoFit/>
          </a:bodyPr>
          <a:lstStyle/>
          <a:p>
            <a:pPr marL="212657" indent="-212657" algn="ctr" defTabSz="1218194" fontAlgn="auto">
              <a:spcBef>
                <a:spcPts val="0"/>
              </a:spcBef>
              <a:spcAft>
                <a:spcPts val="0"/>
              </a:spcAft>
              <a:defRPr/>
            </a:pPr>
            <a:r>
              <a:rPr lang="zh-CN" altLang="en-US" sz="1400" kern="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门店</a:t>
            </a:r>
            <a:endParaRPr lang="en-US" altLang="zh-CN" sz="1400" kern="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25" name="Freeform 186"/>
          <p:cNvSpPr>
            <a:spLocks noEditPoints="1"/>
          </p:cNvSpPr>
          <p:nvPr/>
        </p:nvSpPr>
        <p:spPr bwMode="gray">
          <a:xfrm>
            <a:off x="1511417" y="3312306"/>
            <a:ext cx="419835" cy="421028"/>
          </a:xfrm>
          <a:custGeom>
            <a:avLst/>
            <a:gdLst/>
            <a:ahLst/>
            <a:cxnLst>
              <a:cxn ang="0">
                <a:pos x="12772" y="618"/>
              </a:cxn>
              <a:cxn ang="0">
                <a:pos x="0" y="15651"/>
              </a:cxn>
              <a:cxn ang="0">
                <a:pos x="1941" y="4867"/>
              </a:cxn>
              <a:cxn ang="0">
                <a:pos x="5964" y="4867"/>
              </a:cxn>
              <a:cxn ang="0">
                <a:pos x="7512" y="618"/>
              </a:cxn>
              <a:cxn ang="0">
                <a:pos x="1277" y="12419"/>
              </a:cxn>
              <a:cxn ang="0">
                <a:pos x="5523" y="7916"/>
              </a:cxn>
              <a:cxn ang="0">
                <a:pos x="4108" y="7916"/>
              </a:cxn>
              <a:cxn ang="0">
                <a:pos x="2692" y="7916"/>
              </a:cxn>
              <a:cxn ang="0">
                <a:pos x="1277" y="7916"/>
              </a:cxn>
              <a:cxn ang="0">
                <a:pos x="5523" y="9417"/>
              </a:cxn>
              <a:cxn ang="0">
                <a:pos x="4108" y="9417"/>
              </a:cxn>
              <a:cxn ang="0">
                <a:pos x="2692" y="9417"/>
              </a:cxn>
              <a:cxn ang="0">
                <a:pos x="1277" y="9417"/>
              </a:cxn>
              <a:cxn ang="0">
                <a:pos x="5523" y="10919"/>
              </a:cxn>
              <a:cxn ang="0">
                <a:pos x="4108" y="10919"/>
              </a:cxn>
              <a:cxn ang="0">
                <a:pos x="2692" y="10919"/>
              </a:cxn>
              <a:cxn ang="0">
                <a:pos x="1277" y="10919"/>
              </a:cxn>
              <a:cxn ang="0">
                <a:pos x="5523" y="12419"/>
              </a:cxn>
              <a:cxn ang="0">
                <a:pos x="4108" y="12419"/>
              </a:cxn>
              <a:cxn ang="0">
                <a:pos x="2692" y="12419"/>
              </a:cxn>
              <a:cxn ang="0">
                <a:pos x="8086" y="1911"/>
              </a:cxn>
              <a:cxn ang="0">
                <a:pos x="8086" y="12419"/>
              </a:cxn>
              <a:cxn ang="0">
                <a:pos x="9500" y="12419"/>
              </a:cxn>
              <a:cxn ang="0">
                <a:pos x="10915" y="12419"/>
              </a:cxn>
              <a:cxn ang="0">
                <a:pos x="12331" y="12419"/>
              </a:cxn>
              <a:cxn ang="0">
                <a:pos x="8086" y="10919"/>
              </a:cxn>
              <a:cxn ang="0">
                <a:pos x="9500" y="10919"/>
              </a:cxn>
              <a:cxn ang="0">
                <a:pos x="10915" y="10919"/>
              </a:cxn>
              <a:cxn ang="0">
                <a:pos x="12331" y="10919"/>
              </a:cxn>
              <a:cxn ang="0">
                <a:pos x="8086" y="9417"/>
              </a:cxn>
              <a:cxn ang="0">
                <a:pos x="9500" y="9417"/>
              </a:cxn>
              <a:cxn ang="0">
                <a:pos x="10915" y="9417"/>
              </a:cxn>
              <a:cxn ang="0">
                <a:pos x="12331" y="9417"/>
              </a:cxn>
              <a:cxn ang="0">
                <a:pos x="8086" y="7916"/>
              </a:cxn>
              <a:cxn ang="0">
                <a:pos x="9500" y="7916"/>
              </a:cxn>
              <a:cxn ang="0">
                <a:pos x="10915" y="7916"/>
              </a:cxn>
              <a:cxn ang="0">
                <a:pos x="12331" y="7916"/>
              </a:cxn>
              <a:cxn ang="0">
                <a:pos x="8086" y="6414"/>
              </a:cxn>
              <a:cxn ang="0">
                <a:pos x="9500" y="6414"/>
              </a:cxn>
              <a:cxn ang="0">
                <a:pos x="10915" y="6414"/>
              </a:cxn>
              <a:cxn ang="0">
                <a:pos x="12331" y="6414"/>
              </a:cxn>
              <a:cxn ang="0">
                <a:pos x="8086" y="4914"/>
              </a:cxn>
              <a:cxn ang="0">
                <a:pos x="9500" y="4914"/>
              </a:cxn>
              <a:cxn ang="0">
                <a:pos x="10915" y="4914"/>
              </a:cxn>
              <a:cxn ang="0">
                <a:pos x="12331" y="4914"/>
              </a:cxn>
              <a:cxn ang="0">
                <a:pos x="8086" y="3413"/>
              </a:cxn>
              <a:cxn ang="0">
                <a:pos x="9500" y="3413"/>
              </a:cxn>
              <a:cxn ang="0">
                <a:pos x="10915" y="3413"/>
              </a:cxn>
              <a:cxn ang="0">
                <a:pos x="9500" y="1911"/>
              </a:cxn>
              <a:cxn ang="0">
                <a:pos x="10915" y="1911"/>
              </a:cxn>
              <a:cxn ang="0">
                <a:pos x="12331" y="1911"/>
              </a:cxn>
              <a:cxn ang="0">
                <a:pos x="12331" y="3413"/>
              </a:cxn>
            </a:cxnLst>
            <a:rect l="0" t="0" r="r" b="b"/>
            <a:pathLst>
              <a:path w="16169" h="15651">
                <a:moveTo>
                  <a:pt x="7512" y="618"/>
                </a:moveTo>
                <a:lnTo>
                  <a:pt x="8749" y="618"/>
                </a:lnTo>
                <a:lnTo>
                  <a:pt x="8749" y="0"/>
                </a:lnTo>
                <a:lnTo>
                  <a:pt x="12772" y="0"/>
                </a:lnTo>
                <a:lnTo>
                  <a:pt x="12772" y="618"/>
                </a:lnTo>
                <a:lnTo>
                  <a:pt x="14010" y="618"/>
                </a:lnTo>
                <a:lnTo>
                  <a:pt x="14010" y="13875"/>
                </a:lnTo>
                <a:lnTo>
                  <a:pt x="16169" y="13875"/>
                </a:lnTo>
                <a:lnTo>
                  <a:pt x="16169" y="15651"/>
                </a:lnTo>
                <a:lnTo>
                  <a:pt x="0" y="15651"/>
                </a:lnTo>
                <a:lnTo>
                  <a:pt x="0" y="13875"/>
                </a:lnTo>
                <a:lnTo>
                  <a:pt x="781" y="13875"/>
                </a:lnTo>
                <a:lnTo>
                  <a:pt x="781" y="6103"/>
                </a:lnTo>
                <a:lnTo>
                  <a:pt x="1941" y="6103"/>
                </a:lnTo>
                <a:lnTo>
                  <a:pt x="1941" y="4867"/>
                </a:lnTo>
                <a:lnTo>
                  <a:pt x="4469" y="4867"/>
                </a:lnTo>
                <a:lnTo>
                  <a:pt x="4469" y="2808"/>
                </a:lnTo>
                <a:lnTo>
                  <a:pt x="5088" y="2808"/>
                </a:lnTo>
                <a:lnTo>
                  <a:pt x="5088" y="4867"/>
                </a:lnTo>
                <a:lnTo>
                  <a:pt x="5964" y="4867"/>
                </a:lnTo>
                <a:lnTo>
                  <a:pt x="5964" y="6103"/>
                </a:lnTo>
                <a:lnTo>
                  <a:pt x="7124" y="6103"/>
                </a:lnTo>
                <a:lnTo>
                  <a:pt x="7124" y="13875"/>
                </a:lnTo>
                <a:lnTo>
                  <a:pt x="7512" y="13875"/>
                </a:lnTo>
                <a:lnTo>
                  <a:pt x="7512" y="618"/>
                </a:lnTo>
                <a:close/>
                <a:moveTo>
                  <a:pt x="1277" y="12419"/>
                </a:moveTo>
                <a:lnTo>
                  <a:pt x="2383" y="12419"/>
                </a:lnTo>
                <a:lnTo>
                  <a:pt x="2383" y="13523"/>
                </a:lnTo>
                <a:lnTo>
                  <a:pt x="1277" y="13523"/>
                </a:lnTo>
                <a:lnTo>
                  <a:pt x="1277" y="12419"/>
                </a:lnTo>
                <a:close/>
                <a:moveTo>
                  <a:pt x="5523" y="7916"/>
                </a:moveTo>
                <a:lnTo>
                  <a:pt x="6628" y="7916"/>
                </a:lnTo>
                <a:lnTo>
                  <a:pt x="6628" y="9020"/>
                </a:lnTo>
                <a:lnTo>
                  <a:pt x="5523" y="9020"/>
                </a:lnTo>
                <a:lnTo>
                  <a:pt x="5523" y="7916"/>
                </a:lnTo>
                <a:close/>
                <a:moveTo>
                  <a:pt x="4108" y="7916"/>
                </a:moveTo>
                <a:lnTo>
                  <a:pt x="5213" y="7916"/>
                </a:lnTo>
                <a:lnTo>
                  <a:pt x="5213" y="9020"/>
                </a:lnTo>
                <a:lnTo>
                  <a:pt x="4108" y="9020"/>
                </a:lnTo>
                <a:lnTo>
                  <a:pt x="4108" y="7916"/>
                </a:lnTo>
                <a:close/>
                <a:moveTo>
                  <a:pt x="2692" y="7916"/>
                </a:moveTo>
                <a:lnTo>
                  <a:pt x="3798" y="7916"/>
                </a:lnTo>
                <a:lnTo>
                  <a:pt x="3798" y="9020"/>
                </a:lnTo>
                <a:lnTo>
                  <a:pt x="2692" y="9020"/>
                </a:lnTo>
                <a:lnTo>
                  <a:pt x="2692" y="7916"/>
                </a:lnTo>
                <a:close/>
                <a:moveTo>
                  <a:pt x="1277" y="7916"/>
                </a:moveTo>
                <a:lnTo>
                  <a:pt x="2383" y="7916"/>
                </a:lnTo>
                <a:lnTo>
                  <a:pt x="2383" y="9020"/>
                </a:lnTo>
                <a:lnTo>
                  <a:pt x="1277" y="9020"/>
                </a:lnTo>
                <a:lnTo>
                  <a:pt x="1277" y="7916"/>
                </a:lnTo>
                <a:close/>
                <a:moveTo>
                  <a:pt x="5523" y="9417"/>
                </a:moveTo>
                <a:lnTo>
                  <a:pt x="6628" y="9417"/>
                </a:lnTo>
                <a:lnTo>
                  <a:pt x="6628" y="10521"/>
                </a:lnTo>
                <a:lnTo>
                  <a:pt x="5523" y="10521"/>
                </a:lnTo>
                <a:lnTo>
                  <a:pt x="5523" y="9417"/>
                </a:lnTo>
                <a:close/>
                <a:moveTo>
                  <a:pt x="4108" y="9417"/>
                </a:moveTo>
                <a:lnTo>
                  <a:pt x="5213" y="9417"/>
                </a:lnTo>
                <a:lnTo>
                  <a:pt x="5213" y="10521"/>
                </a:lnTo>
                <a:lnTo>
                  <a:pt x="4108" y="10521"/>
                </a:lnTo>
                <a:lnTo>
                  <a:pt x="4108" y="9417"/>
                </a:lnTo>
                <a:close/>
                <a:moveTo>
                  <a:pt x="2692" y="9417"/>
                </a:moveTo>
                <a:lnTo>
                  <a:pt x="3798" y="9417"/>
                </a:lnTo>
                <a:lnTo>
                  <a:pt x="3798" y="10521"/>
                </a:lnTo>
                <a:lnTo>
                  <a:pt x="2692" y="10521"/>
                </a:lnTo>
                <a:lnTo>
                  <a:pt x="2692" y="9417"/>
                </a:lnTo>
                <a:close/>
                <a:moveTo>
                  <a:pt x="1277" y="9417"/>
                </a:moveTo>
                <a:lnTo>
                  <a:pt x="2383" y="9417"/>
                </a:lnTo>
                <a:lnTo>
                  <a:pt x="2383" y="10521"/>
                </a:lnTo>
                <a:lnTo>
                  <a:pt x="1277" y="10521"/>
                </a:lnTo>
                <a:lnTo>
                  <a:pt x="1277" y="9417"/>
                </a:lnTo>
                <a:close/>
                <a:moveTo>
                  <a:pt x="5523" y="10919"/>
                </a:moveTo>
                <a:lnTo>
                  <a:pt x="6628" y="10919"/>
                </a:lnTo>
                <a:lnTo>
                  <a:pt x="6628" y="12023"/>
                </a:lnTo>
                <a:lnTo>
                  <a:pt x="5523" y="12023"/>
                </a:lnTo>
                <a:lnTo>
                  <a:pt x="5523" y="10919"/>
                </a:lnTo>
                <a:close/>
                <a:moveTo>
                  <a:pt x="4108" y="10919"/>
                </a:moveTo>
                <a:lnTo>
                  <a:pt x="5213" y="10919"/>
                </a:lnTo>
                <a:lnTo>
                  <a:pt x="5213" y="12023"/>
                </a:lnTo>
                <a:lnTo>
                  <a:pt x="4108" y="12023"/>
                </a:lnTo>
                <a:lnTo>
                  <a:pt x="4108" y="10919"/>
                </a:lnTo>
                <a:close/>
                <a:moveTo>
                  <a:pt x="2692" y="10919"/>
                </a:moveTo>
                <a:lnTo>
                  <a:pt x="3798" y="10919"/>
                </a:lnTo>
                <a:lnTo>
                  <a:pt x="3798" y="12023"/>
                </a:lnTo>
                <a:lnTo>
                  <a:pt x="2692" y="12023"/>
                </a:lnTo>
                <a:lnTo>
                  <a:pt x="2692" y="10919"/>
                </a:lnTo>
                <a:close/>
                <a:moveTo>
                  <a:pt x="1277" y="10919"/>
                </a:moveTo>
                <a:lnTo>
                  <a:pt x="2383" y="10919"/>
                </a:lnTo>
                <a:lnTo>
                  <a:pt x="2383" y="12023"/>
                </a:lnTo>
                <a:lnTo>
                  <a:pt x="1277" y="12023"/>
                </a:lnTo>
                <a:lnTo>
                  <a:pt x="1277" y="10919"/>
                </a:lnTo>
                <a:close/>
                <a:moveTo>
                  <a:pt x="5523" y="12419"/>
                </a:moveTo>
                <a:lnTo>
                  <a:pt x="6628" y="12419"/>
                </a:lnTo>
                <a:lnTo>
                  <a:pt x="6628" y="13523"/>
                </a:lnTo>
                <a:lnTo>
                  <a:pt x="5523" y="13523"/>
                </a:lnTo>
                <a:lnTo>
                  <a:pt x="5523" y="12419"/>
                </a:lnTo>
                <a:close/>
                <a:moveTo>
                  <a:pt x="4108" y="12419"/>
                </a:moveTo>
                <a:lnTo>
                  <a:pt x="5213" y="12419"/>
                </a:lnTo>
                <a:lnTo>
                  <a:pt x="5213" y="13523"/>
                </a:lnTo>
                <a:lnTo>
                  <a:pt x="4108" y="13523"/>
                </a:lnTo>
                <a:lnTo>
                  <a:pt x="4108" y="12419"/>
                </a:lnTo>
                <a:close/>
                <a:moveTo>
                  <a:pt x="2692" y="12419"/>
                </a:moveTo>
                <a:lnTo>
                  <a:pt x="3798" y="12419"/>
                </a:lnTo>
                <a:lnTo>
                  <a:pt x="3798" y="13523"/>
                </a:lnTo>
                <a:lnTo>
                  <a:pt x="2692" y="13523"/>
                </a:lnTo>
                <a:lnTo>
                  <a:pt x="2692" y="12419"/>
                </a:lnTo>
                <a:close/>
                <a:moveTo>
                  <a:pt x="8086" y="1911"/>
                </a:moveTo>
                <a:lnTo>
                  <a:pt x="9191" y="1911"/>
                </a:lnTo>
                <a:lnTo>
                  <a:pt x="9191" y="3015"/>
                </a:lnTo>
                <a:lnTo>
                  <a:pt x="8086" y="3015"/>
                </a:lnTo>
                <a:lnTo>
                  <a:pt x="8086" y="1911"/>
                </a:lnTo>
                <a:close/>
                <a:moveTo>
                  <a:pt x="8086" y="12419"/>
                </a:moveTo>
                <a:lnTo>
                  <a:pt x="9191" y="12419"/>
                </a:lnTo>
                <a:lnTo>
                  <a:pt x="9191" y="13523"/>
                </a:lnTo>
                <a:lnTo>
                  <a:pt x="8086" y="13523"/>
                </a:lnTo>
                <a:lnTo>
                  <a:pt x="8086" y="12419"/>
                </a:lnTo>
                <a:close/>
                <a:moveTo>
                  <a:pt x="9500" y="12419"/>
                </a:moveTo>
                <a:lnTo>
                  <a:pt x="10606" y="12419"/>
                </a:lnTo>
                <a:lnTo>
                  <a:pt x="10606" y="13523"/>
                </a:lnTo>
                <a:lnTo>
                  <a:pt x="9500" y="13523"/>
                </a:lnTo>
                <a:lnTo>
                  <a:pt x="9500" y="12419"/>
                </a:lnTo>
                <a:close/>
                <a:moveTo>
                  <a:pt x="10915" y="12419"/>
                </a:moveTo>
                <a:lnTo>
                  <a:pt x="12021" y="12419"/>
                </a:lnTo>
                <a:lnTo>
                  <a:pt x="12021" y="13523"/>
                </a:lnTo>
                <a:lnTo>
                  <a:pt x="10915" y="13523"/>
                </a:lnTo>
                <a:lnTo>
                  <a:pt x="10915" y="12419"/>
                </a:lnTo>
                <a:close/>
                <a:moveTo>
                  <a:pt x="12331" y="12419"/>
                </a:moveTo>
                <a:lnTo>
                  <a:pt x="13436" y="12419"/>
                </a:lnTo>
                <a:lnTo>
                  <a:pt x="13436" y="13523"/>
                </a:lnTo>
                <a:lnTo>
                  <a:pt x="12331" y="13523"/>
                </a:lnTo>
                <a:lnTo>
                  <a:pt x="12331" y="12419"/>
                </a:lnTo>
                <a:close/>
                <a:moveTo>
                  <a:pt x="8086" y="10919"/>
                </a:moveTo>
                <a:lnTo>
                  <a:pt x="9191" y="10919"/>
                </a:lnTo>
                <a:lnTo>
                  <a:pt x="9191" y="12023"/>
                </a:lnTo>
                <a:lnTo>
                  <a:pt x="8086" y="12023"/>
                </a:lnTo>
                <a:lnTo>
                  <a:pt x="8086" y="10919"/>
                </a:lnTo>
                <a:close/>
                <a:moveTo>
                  <a:pt x="9500" y="10919"/>
                </a:moveTo>
                <a:lnTo>
                  <a:pt x="10606" y="10919"/>
                </a:lnTo>
                <a:lnTo>
                  <a:pt x="10606" y="12023"/>
                </a:lnTo>
                <a:lnTo>
                  <a:pt x="9500" y="12023"/>
                </a:lnTo>
                <a:lnTo>
                  <a:pt x="9500" y="10919"/>
                </a:lnTo>
                <a:close/>
                <a:moveTo>
                  <a:pt x="10915" y="10919"/>
                </a:moveTo>
                <a:lnTo>
                  <a:pt x="12021" y="10919"/>
                </a:lnTo>
                <a:lnTo>
                  <a:pt x="12021" y="12023"/>
                </a:lnTo>
                <a:lnTo>
                  <a:pt x="10915" y="12023"/>
                </a:lnTo>
                <a:lnTo>
                  <a:pt x="10915" y="10919"/>
                </a:lnTo>
                <a:close/>
                <a:moveTo>
                  <a:pt x="12331" y="10919"/>
                </a:moveTo>
                <a:lnTo>
                  <a:pt x="13436" y="10919"/>
                </a:lnTo>
                <a:lnTo>
                  <a:pt x="13436" y="12023"/>
                </a:lnTo>
                <a:lnTo>
                  <a:pt x="12331" y="12023"/>
                </a:lnTo>
                <a:lnTo>
                  <a:pt x="12331" y="10919"/>
                </a:lnTo>
                <a:close/>
                <a:moveTo>
                  <a:pt x="8086" y="9417"/>
                </a:moveTo>
                <a:lnTo>
                  <a:pt x="9191" y="9417"/>
                </a:lnTo>
                <a:lnTo>
                  <a:pt x="9191" y="10521"/>
                </a:lnTo>
                <a:lnTo>
                  <a:pt x="8086" y="10521"/>
                </a:lnTo>
                <a:lnTo>
                  <a:pt x="8086" y="9417"/>
                </a:lnTo>
                <a:close/>
                <a:moveTo>
                  <a:pt x="9500" y="9417"/>
                </a:moveTo>
                <a:lnTo>
                  <a:pt x="10606" y="9417"/>
                </a:lnTo>
                <a:lnTo>
                  <a:pt x="10606" y="10521"/>
                </a:lnTo>
                <a:lnTo>
                  <a:pt x="9500" y="10521"/>
                </a:lnTo>
                <a:lnTo>
                  <a:pt x="9500" y="9417"/>
                </a:lnTo>
                <a:close/>
                <a:moveTo>
                  <a:pt x="10915" y="9417"/>
                </a:moveTo>
                <a:lnTo>
                  <a:pt x="12021" y="9417"/>
                </a:lnTo>
                <a:lnTo>
                  <a:pt x="12021" y="10521"/>
                </a:lnTo>
                <a:lnTo>
                  <a:pt x="10915" y="10521"/>
                </a:lnTo>
                <a:lnTo>
                  <a:pt x="10915" y="9417"/>
                </a:lnTo>
                <a:close/>
                <a:moveTo>
                  <a:pt x="12331" y="9417"/>
                </a:moveTo>
                <a:lnTo>
                  <a:pt x="13436" y="9417"/>
                </a:lnTo>
                <a:lnTo>
                  <a:pt x="13436" y="10521"/>
                </a:lnTo>
                <a:lnTo>
                  <a:pt x="12331" y="10521"/>
                </a:lnTo>
                <a:lnTo>
                  <a:pt x="12331" y="9417"/>
                </a:lnTo>
                <a:close/>
                <a:moveTo>
                  <a:pt x="8086" y="7916"/>
                </a:moveTo>
                <a:lnTo>
                  <a:pt x="9191" y="7916"/>
                </a:lnTo>
                <a:lnTo>
                  <a:pt x="9191" y="9020"/>
                </a:lnTo>
                <a:lnTo>
                  <a:pt x="8086" y="9020"/>
                </a:lnTo>
                <a:lnTo>
                  <a:pt x="8086" y="7916"/>
                </a:lnTo>
                <a:close/>
                <a:moveTo>
                  <a:pt x="9500" y="7916"/>
                </a:moveTo>
                <a:lnTo>
                  <a:pt x="10606" y="7916"/>
                </a:lnTo>
                <a:lnTo>
                  <a:pt x="10606" y="9020"/>
                </a:lnTo>
                <a:lnTo>
                  <a:pt x="9500" y="9020"/>
                </a:lnTo>
                <a:lnTo>
                  <a:pt x="9500" y="7916"/>
                </a:lnTo>
                <a:close/>
                <a:moveTo>
                  <a:pt x="10915" y="7916"/>
                </a:moveTo>
                <a:lnTo>
                  <a:pt x="12021" y="7916"/>
                </a:lnTo>
                <a:lnTo>
                  <a:pt x="12021" y="9020"/>
                </a:lnTo>
                <a:lnTo>
                  <a:pt x="10915" y="9020"/>
                </a:lnTo>
                <a:lnTo>
                  <a:pt x="10915" y="7916"/>
                </a:lnTo>
                <a:close/>
                <a:moveTo>
                  <a:pt x="12331" y="7916"/>
                </a:moveTo>
                <a:lnTo>
                  <a:pt x="13436" y="7916"/>
                </a:lnTo>
                <a:lnTo>
                  <a:pt x="13436" y="9020"/>
                </a:lnTo>
                <a:lnTo>
                  <a:pt x="12331" y="9020"/>
                </a:lnTo>
                <a:lnTo>
                  <a:pt x="12331" y="7916"/>
                </a:lnTo>
                <a:close/>
                <a:moveTo>
                  <a:pt x="8086" y="6414"/>
                </a:moveTo>
                <a:lnTo>
                  <a:pt x="9191" y="6414"/>
                </a:lnTo>
                <a:lnTo>
                  <a:pt x="9191" y="7518"/>
                </a:lnTo>
                <a:lnTo>
                  <a:pt x="8086" y="7518"/>
                </a:lnTo>
                <a:lnTo>
                  <a:pt x="8086" y="6414"/>
                </a:lnTo>
                <a:close/>
                <a:moveTo>
                  <a:pt x="9500" y="6414"/>
                </a:moveTo>
                <a:lnTo>
                  <a:pt x="10606" y="6414"/>
                </a:lnTo>
                <a:lnTo>
                  <a:pt x="10606" y="7518"/>
                </a:lnTo>
                <a:lnTo>
                  <a:pt x="9500" y="7518"/>
                </a:lnTo>
                <a:lnTo>
                  <a:pt x="9500" y="6414"/>
                </a:lnTo>
                <a:close/>
                <a:moveTo>
                  <a:pt x="10915" y="6414"/>
                </a:moveTo>
                <a:lnTo>
                  <a:pt x="12021" y="6414"/>
                </a:lnTo>
                <a:lnTo>
                  <a:pt x="12021" y="7518"/>
                </a:lnTo>
                <a:lnTo>
                  <a:pt x="10915" y="7518"/>
                </a:lnTo>
                <a:lnTo>
                  <a:pt x="10915" y="6414"/>
                </a:lnTo>
                <a:close/>
                <a:moveTo>
                  <a:pt x="12331" y="6414"/>
                </a:moveTo>
                <a:lnTo>
                  <a:pt x="13436" y="6414"/>
                </a:lnTo>
                <a:lnTo>
                  <a:pt x="13436" y="7518"/>
                </a:lnTo>
                <a:lnTo>
                  <a:pt x="12331" y="7518"/>
                </a:lnTo>
                <a:lnTo>
                  <a:pt x="12331" y="6414"/>
                </a:lnTo>
                <a:close/>
                <a:moveTo>
                  <a:pt x="8086" y="4914"/>
                </a:moveTo>
                <a:lnTo>
                  <a:pt x="9191" y="4914"/>
                </a:lnTo>
                <a:lnTo>
                  <a:pt x="9191" y="6018"/>
                </a:lnTo>
                <a:lnTo>
                  <a:pt x="8086" y="6018"/>
                </a:lnTo>
                <a:lnTo>
                  <a:pt x="8086" y="4914"/>
                </a:lnTo>
                <a:close/>
                <a:moveTo>
                  <a:pt x="9500" y="4914"/>
                </a:moveTo>
                <a:lnTo>
                  <a:pt x="10606" y="4914"/>
                </a:lnTo>
                <a:lnTo>
                  <a:pt x="10606" y="6018"/>
                </a:lnTo>
                <a:lnTo>
                  <a:pt x="9500" y="6018"/>
                </a:lnTo>
                <a:lnTo>
                  <a:pt x="9500" y="4914"/>
                </a:lnTo>
                <a:close/>
                <a:moveTo>
                  <a:pt x="10915" y="4914"/>
                </a:moveTo>
                <a:lnTo>
                  <a:pt x="12021" y="4914"/>
                </a:lnTo>
                <a:lnTo>
                  <a:pt x="12021" y="6018"/>
                </a:lnTo>
                <a:lnTo>
                  <a:pt x="10915" y="6018"/>
                </a:lnTo>
                <a:lnTo>
                  <a:pt x="10915" y="4914"/>
                </a:lnTo>
                <a:close/>
                <a:moveTo>
                  <a:pt x="12331" y="4914"/>
                </a:moveTo>
                <a:lnTo>
                  <a:pt x="13436" y="4914"/>
                </a:lnTo>
                <a:lnTo>
                  <a:pt x="13436" y="6018"/>
                </a:lnTo>
                <a:lnTo>
                  <a:pt x="12331" y="6018"/>
                </a:lnTo>
                <a:lnTo>
                  <a:pt x="12331" y="4914"/>
                </a:lnTo>
                <a:close/>
                <a:moveTo>
                  <a:pt x="8086" y="3413"/>
                </a:moveTo>
                <a:lnTo>
                  <a:pt x="9191" y="3413"/>
                </a:lnTo>
                <a:lnTo>
                  <a:pt x="9191" y="4516"/>
                </a:lnTo>
                <a:lnTo>
                  <a:pt x="8086" y="4516"/>
                </a:lnTo>
                <a:lnTo>
                  <a:pt x="8086" y="3413"/>
                </a:lnTo>
                <a:close/>
                <a:moveTo>
                  <a:pt x="9500" y="3413"/>
                </a:moveTo>
                <a:lnTo>
                  <a:pt x="10606" y="3413"/>
                </a:lnTo>
                <a:lnTo>
                  <a:pt x="10606" y="4516"/>
                </a:lnTo>
                <a:lnTo>
                  <a:pt x="9500" y="4516"/>
                </a:lnTo>
                <a:lnTo>
                  <a:pt x="9500" y="3413"/>
                </a:lnTo>
                <a:close/>
                <a:moveTo>
                  <a:pt x="10915" y="3413"/>
                </a:moveTo>
                <a:lnTo>
                  <a:pt x="12021" y="3413"/>
                </a:lnTo>
                <a:lnTo>
                  <a:pt x="12021" y="4516"/>
                </a:lnTo>
                <a:lnTo>
                  <a:pt x="10915" y="4516"/>
                </a:lnTo>
                <a:lnTo>
                  <a:pt x="10915" y="3413"/>
                </a:lnTo>
                <a:close/>
                <a:moveTo>
                  <a:pt x="9500" y="1911"/>
                </a:moveTo>
                <a:lnTo>
                  <a:pt x="10606" y="1911"/>
                </a:lnTo>
                <a:lnTo>
                  <a:pt x="10606" y="3015"/>
                </a:lnTo>
                <a:lnTo>
                  <a:pt x="9500" y="3015"/>
                </a:lnTo>
                <a:lnTo>
                  <a:pt x="9500" y="1911"/>
                </a:lnTo>
                <a:close/>
                <a:moveTo>
                  <a:pt x="10915" y="1911"/>
                </a:moveTo>
                <a:lnTo>
                  <a:pt x="12021" y="1911"/>
                </a:lnTo>
                <a:lnTo>
                  <a:pt x="12021" y="3015"/>
                </a:lnTo>
                <a:lnTo>
                  <a:pt x="10915" y="3015"/>
                </a:lnTo>
                <a:lnTo>
                  <a:pt x="10915" y="1911"/>
                </a:lnTo>
                <a:close/>
                <a:moveTo>
                  <a:pt x="12331" y="1911"/>
                </a:moveTo>
                <a:lnTo>
                  <a:pt x="13436" y="1911"/>
                </a:lnTo>
                <a:lnTo>
                  <a:pt x="13436" y="3015"/>
                </a:lnTo>
                <a:lnTo>
                  <a:pt x="12331" y="3015"/>
                </a:lnTo>
                <a:lnTo>
                  <a:pt x="12331" y="1911"/>
                </a:lnTo>
                <a:close/>
                <a:moveTo>
                  <a:pt x="12331" y="3413"/>
                </a:moveTo>
                <a:lnTo>
                  <a:pt x="13436" y="3413"/>
                </a:lnTo>
                <a:lnTo>
                  <a:pt x="13436" y="4516"/>
                </a:lnTo>
                <a:lnTo>
                  <a:pt x="12331" y="4516"/>
                </a:lnTo>
                <a:lnTo>
                  <a:pt x="12331" y="3413"/>
                </a:lnTo>
                <a:close/>
              </a:path>
            </a:pathLst>
          </a:custGeom>
          <a:solidFill>
            <a:schemeClr val="bg1">
              <a:lumMod val="50000"/>
            </a:schemeClr>
          </a:solidFill>
          <a:ln w="9525">
            <a:noFill/>
            <a:round/>
            <a:headEnd/>
            <a:tailEnd/>
          </a:ln>
        </p:spPr>
        <p:txBody>
          <a:bodyPr/>
          <a:lstStyle/>
          <a:p>
            <a:pPr algn="ctr">
              <a:defRPr/>
            </a:pPr>
            <a:endParaRPr lang="zh-CN" altLang="en-US">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26" name="组合 125"/>
          <p:cNvGrpSpPr/>
          <p:nvPr/>
        </p:nvGrpSpPr>
        <p:grpSpPr bwMode="gray">
          <a:xfrm>
            <a:off x="739684" y="3432495"/>
            <a:ext cx="237067" cy="300839"/>
            <a:chOff x="546923" y="2951440"/>
            <a:chExt cx="195923" cy="248627"/>
          </a:xfrm>
        </p:grpSpPr>
        <p:sp>
          <p:nvSpPr>
            <p:cNvPr id="127" name="Freeform 12"/>
            <p:cNvSpPr>
              <a:spLocks/>
            </p:cNvSpPr>
            <p:nvPr/>
          </p:nvSpPr>
          <p:spPr bwMode="gray">
            <a:xfrm>
              <a:off x="546923" y="2951440"/>
              <a:ext cx="195195" cy="99627"/>
            </a:xfrm>
            <a:custGeom>
              <a:avLst/>
              <a:gdLst/>
              <a:ahLst/>
              <a:cxnLst>
                <a:cxn ang="0">
                  <a:pos x="3890" y="0"/>
                </a:cxn>
                <a:cxn ang="0">
                  <a:pos x="5834" y="1638"/>
                </a:cxn>
                <a:cxn ang="0">
                  <a:pos x="7779" y="3275"/>
                </a:cxn>
                <a:cxn ang="0">
                  <a:pos x="3890" y="3275"/>
                </a:cxn>
                <a:cxn ang="0">
                  <a:pos x="0" y="3275"/>
                </a:cxn>
                <a:cxn ang="0">
                  <a:pos x="1945" y="1638"/>
                </a:cxn>
                <a:cxn ang="0">
                  <a:pos x="3890" y="0"/>
                </a:cxn>
              </a:cxnLst>
              <a:rect l="0" t="0" r="r" b="b"/>
              <a:pathLst>
                <a:path w="7779" h="3275">
                  <a:moveTo>
                    <a:pt x="3890" y="0"/>
                  </a:moveTo>
                  <a:lnTo>
                    <a:pt x="5834" y="1638"/>
                  </a:lnTo>
                  <a:lnTo>
                    <a:pt x="7779" y="3275"/>
                  </a:lnTo>
                  <a:lnTo>
                    <a:pt x="3890" y="3275"/>
                  </a:lnTo>
                  <a:lnTo>
                    <a:pt x="0" y="3275"/>
                  </a:lnTo>
                  <a:lnTo>
                    <a:pt x="1945" y="1638"/>
                  </a:lnTo>
                  <a:lnTo>
                    <a:pt x="3890" y="0"/>
                  </a:lnTo>
                  <a:close/>
                </a:path>
              </a:pathLst>
            </a:custGeom>
            <a:solidFill>
              <a:schemeClr val="bg1">
                <a:lumMod val="50000"/>
              </a:schemeClr>
            </a:solidFill>
            <a:ln w="9525">
              <a:noFill/>
              <a:round/>
              <a:headEnd/>
              <a:tailEnd/>
            </a:ln>
          </p:spPr>
          <p:txBody>
            <a:bodyPr/>
            <a:lstStyle/>
            <a:p>
              <a:pPr algn="ctr">
                <a:defRPr/>
              </a:pPr>
              <a:endParaRPr lang="zh-CN" altLang="en-US">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8" name="Freeform 13"/>
            <p:cNvSpPr>
              <a:spLocks noEditPoints="1"/>
            </p:cNvSpPr>
            <p:nvPr/>
          </p:nvSpPr>
          <p:spPr bwMode="gray">
            <a:xfrm>
              <a:off x="546923" y="3063410"/>
              <a:ext cx="195923" cy="136657"/>
            </a:xfrm>
            <a:custGeom>
              <a:avLst/>
              <a:gdLst/>
              <a:ahLst/>
              <a:cxnLst>
                <a:cxn ang="0">
                  <a:pos x="7792" y="0"/>
                </a:cxn>
                <a:cxn ang="0">
                  <a:pos x="0" y="0"/>
                </a:cxn>
                <a:cxn ang="0">
                  <a:pos x="0" y="4498"/>
                </a:cxn>
                <a:cxn ang="0">
                  <a:pos x="7792" y="4498"/>
                </a:cxn>
                <a:cxn ang="0">
                  <a:pos x="7792" y="0"/>
                </a:cxn>
                <a:cxn ang="0">
                  <a:pos x="687" y="578"/>
                </a:cxn>
                <a:cxn ang="0">
                  <a:pos x="2079" y="578"/>
                </a:cxn>
                <a:cxn ang="0">
                  <a:pos x="2079" y="1971"/>
                </a:cxn>
                <a:cxn ang="0">
                  <a:pos x="687" y="1971"/>
                </a:cxn>
                <a:cxn ang="0">
                  <a:pos x="687" y="578"/>
                </a:cxn>
                <a:cxn ang="0">
                  <a:pos x="687" y="2473"/>
                </a:cxn>
                <a:cxn ang="0">
                  <a:pos x="2079" y="2473"/>
                </a:cxn>
                <a:cxn ang="0">
                  <a:pos x="2079" y="3866"/>
                </a:cxn>
                <a:cxn ang="0">
                  <a:pos x="687" y="3866"/>
                </a:cxn>
                <a:cxn ang="0">
                  <a:pos x="687" y="2473"/>
                </a:cxn>
                <a:cxn ang="0">
                  <a:pos x="2361" y="2473"/>
                </a:cxn>
                <a:cxn ang="0">
                  <a:pos x="3755" y="2473"/>
                </a:cxn>
                <a:cxn ang="0">
                  <a:pos x="3755" y="3866"/>
                </a:cxn>
                <a:cxn ang="0">
                  <a:pos x="2361" y="3866"/>
                </a:cxn>
                <a:cxn ang="0">
                  <a:pos x="2361" y="2473"/>
                </a:cxn>
                <a:cxn ang="0">
                  <a:pos x="4037" y="2473"/>
                </a:cxn>
                <a:cxn ang="0">
                  <a:pos x="5429" y="2473"/>
                </a:cxn>
                <a:cxn ang="0">
                  <a:pos x="5429" y="3866"/>
                </a:cxn>
                <a:cxn ang="0">
                  <a:pos x="4037" y="3866"/>
                </a:cxn>
                <a:cxn ang="0">
                  <a:pos x="4037" y="2473"/>
                </a:cxn>
                <a:cxn ang="0">
                  <a:pos x="2361" y="578"/>
                </a:cxn>
                <a:cxn ang="0">
                  <a:pos x="3755" y="578"/>
                </a:cxn>
                <a:cxn ang="0">
                  <a:pos x="3755" y="1971"/>
                </a:cxn>
                <a:cxn ang="0">
                  <a:pos x="2361" y="1971"/>
                </a:cxn>
                <a:cxn ang="0">
                  <a:pos x="2361" y="578"/>
                </a:cxn>
                <a:cxn ang="0">
                  <a:pos x="4037" y="578"/>
                </a:cxn>
                <a:cxn ang="0">
                  <a:pos x="5429" y="578"/>
                </a:cxn>
                <a:cxn ang="0">
                  <a:pos x="5429" y="1971"/>
                </a:cxn>
                <a:cxn ang="0">
                  <a:pos x="4037" y="1971"/>
                </a:cxn>
                <a:cxn ang="0">
                  <a:pos x="4037" y="578"/>
                </a:cxn>
                <a:cxn ang="0">
                  <a:pos x="5713" y="578"/>
                </a:cxn>
                <a:cxn ang="0">
                  <a:pos x="7105" y="578"/>
                </a:cxn>
                <a:cxn ang="0">
                  <a:pos x="7105" y="1971"/>
                </a:cxn>
                <a:cxn ang="0">
                  <a:pos x="5713" y="1971"/>
                </a:cxn>
                <a:cxn ang="0">
                  <a:pos x="5713" y="578"/>
                </a:cxn>
                <a:cxn ang="0">
                  <a:pos x="5713" y="2473"/>
                </a:cxn>
                <a:cxn ang="0">
                  <a:pos x="7105" y="2473"/>
                </a:cxn>
                <a:cxn ang="0">
                  <a:pos x="7105" y="3866"/>
                </a:cxn>
                <a:cxn ang="0">
                  <a:pos x="5713" y="3866"/>
                </a:cxn>
                <a:cxn ang="0">
                  <a:pos x="5713" y="2473"/>
                </a:cxn>
              </a:cxnLst>
              <a:rect l="0" t="0" r="r" b="b"/>
              <a:pathLst>
                <a:path w="7792" h="4498">
                  <a:moveTo>
                    <a:pt x="7792" y="0"/>
                  </a:moveTo>
                  <a:lnTo>
                    <a:pt x="0" y="0"/>
                  </a:lnTo>
                  <a:lnTo>
                    <a:pt x="0" y="4498"/>
                  </a:lnTo>
                  <a:lnTo>
                    <a:pt x="7792" y="4498"/>
                  </a:lnTo>
                  <a:lnTo>
                    <a:pt x="7792" y="0"/>
                  </a:lnTo>
                  <a:close/>
                  <a:moveTo>
                    <a:pt x="687" y="578"/>
                  </a:moveTo>
                  <a:lnTo>
                    <a:pt x="2079" y="578"/>
                  </a:lnTo>
                  <a:lnTo>
                    <a:pt x="2079" y="1971"/>
                  </a:lnTo>
                  <a:lnTo>
                    <a:pt x="687" y="1971"/>
                  </a:lnTo>
                  <a:lnTo>
                    <a:pt x="687" y="578"/>
                  </a:lnTo>
                  <a:close/>
                  <a:moveTo>
                    <a:pt x="687" y="2473"/>
                  </a:moveTo>
                  <a:lnTo>
                    <a:pt x="2079" y="2473"/>
                  </a:lnTo>
                  <a:lnTo>
                    <a:pt x="2079" y="3866"/>
                  </a:lnTo>
                  <a:lnTo>
                    <a:pt x="687" y="3866"/>
                  </a:lnTo>
                  <a:lnTo>
                    <a:pt x="687" y="2473"/>
                  </a:lnTo>
                  <a:close/>
                  <a:moveTo>
                    <a:pt x="2361" y="2473"/>
                  </a:moveTo>
                  <a:lnTo>
                    <a:pt x="3755" y="2473"/>
                  </a:lnTo>
                  <a:lnTo>
                    <a:pt x="3755" y="3866"/>
                  </a:lnTo>
                  <a:lnTo>
                    <a:pt x="2361" y="3866"/>
                  </a:lnTo>
                  <a:lnTo>
                    <a:pt x="2361" y="2473"/>
                  </a:lnTo>
                  <a:close/>
                  <a:moveTo>
                    <a:pt x="4037" y="2473"/>
                  </a:moveTo>
                  <a:lnTo>
                    <a:pt x="5429" y="2473"/>
                  </a:lnTo>
                  <a:lnTo>
                    <a:pt x="5429" y="3866"/>
                  </a:lnTo>
                  <a:lnTo>
                    <a:pt x="4037" y="3866"/>
                  </a:lnTo>
                  <a:lnTo>
                    <a:pt x="4037" y="2473"/>
                  </a:lnTo>
                  <a:close/>
                  <a:moveTo>
                    <a:pt x="2361" y="578"/>
                  </a:moveTo>
                  <a:lnTo>
                    <a:pt x="3755" y="578"/>
                  </a:lnTo>
                  <a:lnTo>
                    <a:pt x="3755" y="1971"/>
                  </a:lnTo>
                  <a:lnTo>
                    <a:pt x="2361" y="1971"/>
                  </a:lnTo>
                  <a:lnTo>
                    <a:pt x="2361" y="578"/>
                  </a:lnTo>
                  <a:close/>
                  <a:moveTo>
                    <a:pt x="4037" y="578"/>
                  </a:moveTo>
                  <a:lnTo>
                    <a:pt x="5429" y="578"/>
                  </a:lnTo>
                  <a:lnTo>
                    <a:pt x="5429" y="1971"/>
                  </a:lnTo>
                  <a:lnTo>
                    <a:pt x="4037" y="1971"/>
                  </a:lnTo>
                  <a:lnTo>
                    <a:pt x="4037" y="578"/>
                  </a:lnTo>
                  <a:close/>
                  <a:moveTo>
                    <a:pt x="5713" y="578"/>
                  </a:moveTo>
                  <a:lnTo>
                    <a:pt x="7105" y="578"/>
                  </a:lnTo>
                  <a:lnTo>
                    <a:pt x="7105" y="1971"/>
                  </a:lnTo>
                  <a:lnTo>
                    <a:pt x="5713" y="1971"/>
                  </a:lnTo>
                  <a:lnTo>
                    <a:pt x="5713" y="578"/>
                  </a:lnTo>
                  <a:close/>
                  <a:moveTo>
                    <a:pt x="5713" y="2473"/>
                  </a:moveTo>
                  <a:lnTo>
                    <a:pt x="7105" y="2473"/>
                  </a:lnTo>
                  <a:lnTo>
                    <a:pt x="7105" y="3866"/>
                  </a:lnTo>
                  <a:lnTo>
                    <a:pt x="5713" y="3866"/>
                  </a:lnTo>
                  <a:lnTo>
                    <a:pt x="5713" y="2473"/>
                  </a:lnTo>
                  <a:close/>
                </a:path>
              </a:pathLst>
            </a:custGeom>
            <a:solidFill>
              <a:schemeClr val="bg1">
                <a:lumMod val="50000"/>
              </a:schemeClr>
            </a:solidFill>
            <a:ln w="9525">
              <a:noFill/>
              <a:round/>
              <a:headEnd/>
              <a:tailEnd/>
            </a:ln>
          </p:spPr>
          <p:txBody>
            <a:bodyPr/>
            <a:lstStyle/>
            <a:p>
              <a:pPr algn="ctr">
                <a:defRPr/>
              </a:pPr>
              <a:endParaRPr lang="zh-CN" altLang="en-US">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29" name="Freeform 30"/>
          <p:cNvSpPr>
            <a:spLocks noEditPoints="1"/>
          </p:cNvSpPr>
          <p:nvPr/>
        </p:nvSpPr>
        <p:spPr bwMode="gray">
          <a:xfrm>
            <a:off x="2467077" y="3215168"/>
            <a:ext cx="212680" cy="518166"/>
          </a:xfrm>
          <a:custGeom>
            <a:avLst/>
            <a:gdLst/>
            <a:ahLst/>
            <a:cxnLst>
              <a:cxn ang="0">
                <a:pos x="2156" y="993"/>
              </a:cxn>
              <a:cxn ang="0">
                <a:pos x="4056" y="3975"/>
              </a:cxn>
              <a:cxn ang="0">
                <a:pos x="3497" y="2787"/>
              </a:cxn>
              <a:cxn ang="0">
                <a:pos x="3497" y="3320"/>
              </a:cxn>
              <a:cxn ang="0">
                <a:pos x="4076" y="4477"/>
              </a:cxn>
              <a:cxn ang="0">
                <a:pos x="3574" y="13182"/>
              </a:cxn>
              <a:cxn ang="0">
                <a:pos x="3574" y="13682"/>
              </a:cxn>
              <a:cxn ang="0">
                <a:pos x="3763" y="11440"/>
              </a:cxn>
              <a:cxn ang="0">
                <a:pos x="1316" y="11940"/>
              </a:cxn>
              <a:cxn ang="0">
                <a:pos x="4076" y="8829"/>
              </a:cxn>
              <a:cxn ang="0">
                <a:pos x="2822" y="8829"/>
              </a:cxn>
              <a:cxn ang="0">
                <a:pos x="1818" y="8458"/>
              </a:cxn>
              <a:cxn ang="0">
                <a:pos x="564" y="7088"/>
              </a:cxn>
              <a:cxn ang="0">
                <a:pos x="3679" y="7587"/>
              </a:cxn>
              <a:cxn ang="0">
                <a:pos x="1065" y="4477"/>
              </a:cxn>
              <a:cxn ang="0">
                <a:pos x="1096" y="4477"/>
              </a:cxn>
              <a:cxn ang="0">
                <a:pos x="2570" y="4976"/>
              </a:cxn>
              <a:cxn ang="0">
                <a:pos x="1086" y="4976"/>
              </a:cxn>
              <a:cxn ang="0">
                <a:pos x="3574" y="15423"/>
              </a:cxn>
              <a:cxn ang="0">
                <a:pos x="2822" y="15423"/>
              </a:cxn>
              <a:cxn ang="0">
                <a:pos x="2070" y="15423"/>
              </a:cxn>
              <a:cxn ang="0">
                <a:pos x="1316" y="15423"/>
              </a:cxn>
              <a:cxn ang="0">
                <a:pos x="564" y="15423"/>
              </a:cxn>
              <a:cxn ang="0">
                <a:pos x="2822" y="14552"/>
              </a:cxn>
              <a:cxn ang="0">
                <a:pos x="1316" y="14552"/>
              </a:cxn>
              <a:cxn ang="0">
                <a:pos x="564" y="14552"/>
              </a:cxn>
              <a:cxn ang="0">
                <a:pos x="3574" y="12811"/>
              </a:cxn>
              <a:cxn ang="0">
                <a:pos x="2822" y="12811"/>
              </a:cxn>
              <a:cxn ang="0">
                <a:pos x="2070" y="12811"/>
              </a:cxn>
              <a:cxn ang="0">
                <a:pos x="1316" y="12811"/>
              </a:cxn>
              <a:cxn ang="0">
                <a:pos x="564" y="12811"/>
              </a:cxn>
              <a:cxn ang="0">
                <a:pos x="3574" y="11070"/>
              </a:cxn>
              <a:cxn ang="0">
                <a:pos x="2822" y="11070"/>
              </a:cxn>
              <a:cxn ang="0">
                <a:pos x="2070" y="11070"/>
              </a:cxn>
              <a:cxn ang="0">
                <a:pos x="1316" y="11070"/>
              </a:cxn>
              <a:cxn ang="0">
                <a:pos x="564" y="11070"/>
              </a:cxn>
              <a:cxn ang="0">
                <a:pos x="3574" y="10199"/>
              </a:cxn>
              <a:cxn ang="0">
                <a:pos x="1316" y="10199"/>
              </a:cxn>
              <a:cxn ang="0">
                <a:pos x="564" y="10199"/>
              </a:cxn>
              <a:cxn ang="0">
                <a:pos x="2070" y="9329"/>
              </a:cxn>
              <a:cxn ang="0">
                <a:pos x="1316" y="9329"/>
              </a:cxn>
              <a:cxn ang="0">
                <a:pos x="564" y="9329"/>
              </a:cxn>
              <a:cxn ang="0">
                <a:pos x="3574" y="8458"/>
              </a:cxn>
              <a:cxn ang="0">
                <a:pos x="2070" y="8458"/>
              </a:cxn>
              <a:cxn ang="0">
                <a:pos x="3574" y="6717"/>
              </a:cxn>
              <a:cxn ang="0">
                <a:pos x="2070" y="6717"/>
              </a:cxn>
              <a:cxn ang="0">
                <a:pos x="1316" y="6717"/>
              </a:cxn>
              <a:cxn ang="0">
                <a:pos x="564" y="6717"/>
              </a:cxn>
              <a:cxn ang="0">
                <a:pos x="3574" y="5847"/>
              </a:cxn>
              <a:cxn ang="0">
                <a:pos x="2822" y="5847"/>
              </a:cxn>
              <a:cxn ang="0">
                <a:pos x="2070" y="5847"/>
              </a:cxn>
              <a:cxn ang="0">
                <a:pos x="564" y="5847"/>
              </a:cxn>
            </a:cxnLst>
            <a:rect l="0" t="0" r="r" b="b"/>
            <a:pathLst>
              <a:path w="4640" h="16096">
                <a:moveTo>
                  <a:pt x="0" y="16096"/>
                </a:moveTo>
                <a:lnTo>
                  <a:pt x="0" y="3975"/>
                </a:lnTo>
                <a:lnTo>
                  <a:pt x="584" y="3975"/>
                </a:lnTo>
                <a:lnTo>
                  <a:pt x="584" y="2624"/>
                </a:lnTo>
                <a:lnTo>
                  <a:pt x="2156" y="993"/>
                </a:lnTo>
                <a:lnTo>
                  <a:pt x="2156" y="0"/>
                </a:lnTo>
                <a:lnTo>
                  <a:pt x="2484" y="0"/>
                </a:lnTo>
                <a:lnTo>
                  <a:pt x="2484" y="1015"/>
                </a:lnTo>
                <a:lnTo>
                  <a:pt x="4056" y="2624"/>
                </a:lnTo>
                <a:lnTo>
                  <a:pt x="4056" y="3975"/>
                </a:lnTo>
                <a:lnTo>
                  <a:pt x="4640" y="3975"/>
                </a:lnTo>
                <a:lnTo>
                  <a:pt x="4640" y="16096"/>
                </a:lnTo>
                <a:lnTo>
                  <a:pt x="0" y="16096"/>
                </a:lnTo>
                <a:close/>
                <a:moveTo>
                  <a:pt x="1143" y="2787"/>
                </a:moveTo>
                <a:lnTo>
                  <a:pt x="3497" y="2787"/>
                </a:lnTo>
                <a:lnTo>
                  <a:pt x="3497" y="3158"/>
                </a:lnTo>
                <a:lnTo>
                  <a:pt x="1143" y="3158"/>
                </a:lnTo>
                <a:lnTo>
                  <a:pt x="1143" y="2787"/>
                </a:lnTo>
                <a:close/>
                <a:moveTo>
                  <a:pt x="1143" y="3320"/>
                </a:moveTo>
                <a:lnTo>
                  <a:pt x="3497" y="3320"/>
                </a:lnTo>
                <a:lnTo>
                  <a:pt x="3497" y="3692"/>
                </a:lnTo>
                <a:lnTo>
                  <a:pt x="1143" y="3692"/>
                </a:lnTo>
                <a:lnTo>
                  <a:pt x="1143" y="3320"/>
                </a:lnTo>
                <a:close/>
                <a:moveTo>
                  <a:pt x="3574" y="4477"/>
                </a:moveTo>
                <a:lnTo>
                  <a:pt x="4076" y="4477"/>
                </a:lnTo>
                <a:lnTo>
                  <a:pt x="4076" y="4976"/>
                </a:lnTo>
                <a:lnTo>
                  <a:pt x="3574" y="4976"/>
                </a:lnTo>
                <a:lnTo>
                  <a:pt x="3574" y="4477"/>
                </a:lnTo>
                <a:close/>
                <a:moveTo>
                  <a:pt x="1316" y="13182"/>
                </a:moveTo>
                <a:lnTo>
                  <a:pt x="3574" y="13182"/>
                </a:lnTo>
                <a:lnTo>
                  <a:pt x="3846" y="13182"/>
                </a:lnTo>
                <a:lnTo>
                  <a:pt x="4076" y="13182"/>
                </a:lnTo>
                <a:lnTo>
                  <a:pt x="4076" y="13682"/>
                </a:lnTo>
                <a:lnTo>
                  <a:pt x="3846" y="13682"/>
                </a:lnTo>
                <a:lnTo>
                  <a:pt x="3574" y="13682"/>
                </a:lnTo>
                <a:lnTo>
                  <a:pt x="1316" y="13682"/>
                </a:lnTo>
                <a:lnTo>
                  <a:pt x="1316" y="13182"/>
                </a:lnTo>
                <a:close/>
                <a:moveTo>
                  <a:pt x="1316" y="11440"/>
                </a:moveTo>
                <a:lnTo>
                  <a:pt x="3574" y="11440"/>
                </a:lnTo>
                <a:lnTo>
                  <a:pt x="3763" y="11440"/>
                </a:lnTo>
                <a:lnTo>
                  <a:pt x="4076" y="11440"/>
                </a:lnTo>
                <a:lnTo>
                  <a:pt x="4076" y="11940"/>
                </a:lnTo>
                <a:lnTo>
                  <a:pt x="3763" y="11940"/>
                </a:lnTo>
                <a:lnTo>
                  <a:pt x="3574" y="11940"/>
                </a:lnTo>
                <a:lnTo>
                  <a:pt x="1316" y="11940"/>
                </a:lnTo>
                <a:lnTo>
                  <a:pt x="1316" y="11440"/>
                </a:lnTo>
                <a:close/>
                <a:moveTo>
                  <a:pt x="2822" y="8829"/>
                </a:moveTo>
                <a:lnTo>
                  <a:pt x="3220" y="8829"/>
                </a:lnTo>
                <a:lnTo>
                  <a:pt x="3324" y="8829"/>
                </a:lnTo>
                <a:lnTo>
                  <a:pt x="4076" y="8829"/>
                </a:lnTo>
                <a:lnTo>
                  <a:pt x="4076" y="9329"/>
                </a:lnTo>
                <a:lnTo>
                  <a:pt x="3324" y="9329"/>
                </a:lnTo>
                <a:lnTo>
                  <a:pt x="3220" y="9329"/>
                </a:lnTo>
                <a:lnTo>
                  <a:pt x="2822" y="9329"/>
                </a:lnTo>
                <a:lnTo>
                  <a:pt x="2822" y="8829"/>
                </a:lnTo>
                <a:close/>
                <a:moveTo>
                  <a:pt x="564" y="7958"/>
                </a:moveTo>
                <a:lnTo>
                  <a:pt x="878" y="7958"/>
                </a:lnTo>
                <a:lnTo>
                  <a:pt x="1066" y="7958"/>
                </a:lnTo>
                <a:lnTo>
                  <a:pt x="1818" y="7958"/>
                </a:lnTo>
                <a:lnTo>
                  <a:pt x="1818" y="8458"/>
                </a:lnTo>
                <a:lnTo>
                  <a:pt x="1066" y="8458"/>
                </a:lnTo>
                <a:lnTo>
                  <a:pt x="878" y="8458"/>
                </a:lnTo>
                <a:lnTo>
                  <a:pt x="564" y="8458"/>
                </a:lnTo>
                <a:lnTo>
                  <a:pt x="564" y="7958"/>
                </a:lnTo>
                <a:close/>
                <a:moveTo>
                  <a:pt x="564" y="7088"/>
                </a:moveTo>
                <a:lnTo>
                  <a:pt x="3574" y="7088"/>
                </a:lnTo>
                <a:lnTo>
                  <a:pt x="3679" y="7088"/>
                </a:lnTo>
                <a:lnTo>
                  <a:pt x="4076" y="7088"/>
                </a:lnTo>
                <a:lnTo>
                  <a:pt x="4076" y="7587"/>
                </a:lnTo>
                <a:lnTo>
                  <a:pt x="3679" y="7587"/>
                </a:lnTo>
                <a:lnTo>
                  <a:pt x="3574" y="7587"/>
                </a:lnTo>
                <a:lnTo>
                  <a:pt x="564" y="7587"/>
                </a:lnTo>
                <a:lnTo>
                  <a:pt x="564" y="7088"/>
                </a:lnTo>
                <a:close/>
                <a:moveTo>
                  <a:pt x="564" y="4477"/>
                </a:moveTo>
                <a:lnTo>
                  <a:pt x="1065" y="4477"/>
                </a:lnTo>
                <a:lnTo>
                  <a:pt x="1065" y="4976"/>
                </a:lnTo>
                <a:lnTo>
                  <a:pt x="564" y="4976"/>
                </a:lnTo>
                <a:lnTo>
                  <a:pt x="564" y="4477"/>
                </a:lnTo>
                <a:close/>
                <a:moveTo>
                  <a:pt x="1086" y="4477"/>
                </a:moveTo>
                <a:lnTo>
                  <a:pt x="1096" y="4477"/>
                </a:lnTo>
                <a:lnTo>
                  <a:pt x="1160" y="4477"/>
                </a:lnTo>
                <a:lnTo>
                  <a:pt x="1164" y="4477"/>
                </a:lnTo>
                <a:lnTo>
                  <a:pt x="1382" y="4477"/>
                </a:lnTo>
                <a:lnTo>
                  <a:pt x="2570" y="4477"/>
                </a:lnTo>
                <a:lnTo>
                  <a:pt x="2570" y="4976"/>
                </a:lnTo>
                <a:lnTo>
                  <a:pt x="1382" y="4976"/>
                </a:lnTo>
                <a:lnTo>
                  <a:pt x="1164" y="4976"/>
                </a:lnTo>
                <a:lnTo>
                  <a:pt x="1160" y="4976"/>
                </a:lnTo>
                <a:lnTo>
                  <a:pt x="1096" y="4976"/>
                </a:lnTo>
                <a:lnTo>
                  <a:pt x="1086" y="4976"/>
                </a:lnTo>
                <a:lnTo>
                  <a:pt x="1086" y="4477"/>
                </a:lnTo>
                <a:close/>
                <a:moveTo>
                  <a:pt x="3574" y="14923"/>
                </a:moveTo>
                <a:lnTo>
                  <a:pt x="4076" y="14923"/>
                </a:lnTo>
                <a:lnTo>
                  <a:pt x="4076" y="15423"/>
                </a:lnTo>
                <a:lnTo>
                  <a:pt x="3574" y="15423"/>
                </a:lnTo>
                <a:lnTo>
                  <a:pt x="3574" y="14923"/>
                </a:lnTo>
                <a:close/>
                <a:moveTo>
                  <a:pt x="2822" y="14923"/>
                </a:moveTo>
                <a:lnTo>
                  <a:pt x="3324" y="14923"/>
                </a:lnTo>
                <a:lnTo>
                  <a:pt x="3324" y="15423"/>
                </a:lnTo>
                <a:lnTo>
                  <a:pt x="2822" y="15423"/>
                </a:lnTo>
                <a:lnTo>
                  <a:pt x="2822" y="14923"/>
                </a:lnTo>
                <a:close/>
                <a:moveTo>
                  <a:pt x="2070" y="14923"/>
                </a:moveTo>
                <a:lnTo>
                  <a:pt x="2570" y="14923"/>
                </a:lnTo>
                <a:lnTo>
                  <a:pt x="2570" y="15423"/>
                </a:lnTo>
                <a:lnTo>
                  <a:pt x="2070" y="15423"/>
                </a:lnTo>
                <a:lnTo>
                  <a:pt x="2070" y="14923"/>
                </a:lnTo>
                <a:close/>
                <a:moveTo>
                  <a:pt x="1316" y="14923"/>
                </a:moveTo>
                <a:lnTo>
                  <a:pt x="1818" y="14923"/>
                </a:lnTo>
                <a:lnTo>
                  <a:pt x="1818" y="15423"/>
                </a:lnTo>
                <a:lnTo>
                  <a:pt x="1316" y="15423"/>
                </a:lnTo>
                <a:lnTo>
                  <a:pt x="1316" y="14923"/>
                </a:lnTo>
                <a:close/>
                <a:moveTo>
                  <a:pt x="564" y="14923"/>
                </a:moveTo>
                <a:lnTo>
                  <a:pt x="1066" y="14923"/>
                </a:lnTo>
                <a:lnTo>
                  <a:pt x="1066" y="15423"/>
                </a:lnTo>
                <a:lnTo>
                  <a:pt x="564" y="15423"/>
                </a:lnTo>
                <a:lnTo>
                  <a:pt x="564" y="14923"/>
                </a:lnTo>
                <a:close/>
                <a:moveTo>
                  <a:pt x="2822" y="14052"/>
                </a:moveTo>
                <a:lnTo>
                  <a:pt x="3324" y="14052"/>
                </a:lnTo>
                <a:lnTo>
                  <a:pt x="3324" y="14552"/>
                </a:lnTo>
                <a:lnTo>
                  <a:pt x="2822" y="14552"/>
                </a:lnTo>
                <a:lnTo>
                  <a:pt x="2822" y="14052"/>
                </a:lnTo>
                <a:close/>
                <a:moveTo>
                  <a:pt x="1316" y="14052"/>
                </a:moveTo>
                <a:lnTo>
                  <a:pt x="1818" y="14052"/>
                </a:lnTo>
                <a:lnTo>
                  <a:pt x="1818" y="14552"/>
                </a:lnTo>
                <a:lnTo>
                  <a:pt x="1316" y="14552"/>
                </a:lnTo>
                <a:lnTo>
                  <a:pt x="1316" y="14052"/>
                </a:lnTo>
                <a:close/>
                <a:moveTo>
                  <a:pt x="564" y="14052"/>
                </a:moveTo>
                <a:lnTo>
                  <a:pt x="1066" y="14052"/>
                </a:lnTo>
                <a:lnTo>
                  <a:pt x="1066" y="14552"/>
                </a:lnTo>
                <a:lnTo>
                  <a:pt x="564" y="14552"/>
                </a:lnTo>
                <a:lnTo>
                  <a:pt x="564" y="14052"/>
                </a:lnTo>
                <a:close/>
                <a:moveTo>
                  <a:pt x="3574" y="12311"/>
                </a:moveTo>
                <a:lnTo>
                  <a:pt x="4076" y="12311"/>
                </a:lnTo>
                <a:lnTo>
                  <a:pt x="4076" y="12811"/>
                </a:lnTo>
                <a:lnTo>
                  <a:pt x="3574" y="12811"/>
                </a:lnTo>
                <a:lnTo>
                  <a:pt x="3574" y="12311"/>
                </a:lnTo>
                <a:close/>
                <a:moveTo>
                  <a:pt x="2822" y="12311"/>
                </a:moveTo>
                <a:lnTo>
                  <a:pt x="3324" y="12311"/>
                </a:lnTo>
                <a:lnTo>
                  <a:pt x="3324" y="12811"/>
                </a:lnTo>
                <a:lnTo>
                  <a:pt x="2822" y="12811"/>
                </a:lnTo>
                <a:lnTo>
                  <a:pt x="2822" y="12311"/>
                </a:lnTo>
                <a:close/>
                <a:moveTo>
                  <a:pt x="2070" y="12311"/>
                </a:moveTo>
                <a:lnTo>
                  <a:pt x="2570" y="12311"/>
                </a:lnTo>
                <a:lnTo>
                  <a:pt x="2570" y="12811"/>
                </a:lnTo>
                <a:lnTo>
                  <a:pt x="2070" y="12811"/>
                </a:lnTo>
                <a:lnTo>
                  <a:pt x="2070" y="12311"/>
                </a:lnTo>
                <a:close/>
                <a:moveTo>
                  <a:pt x="1316" y="12311"/>
                </a:moveTo>
                <a:lnTo>
                  <a:pt x="1818" y="12311"/>
                </a:lnTo>
                <a:lnTo>
                  <a:pt x="1818" y="12811"/>
                </a:lnTo>
                <a:lnTo>
                  <a:pt x="1316" y="12811"/>
                </a:lnTo>
                <a:lnTo>
                  <a:pt x="1316" y="12311"/>
                </a:lnTo>
                <a:close/>
                <a:moveTo>
                  <a:pt x="564" y="12311"/>
                </a:moveTo>
                <a:lnTo>
                  <a:pt x="1066" y="12311"/>
                </a:lnTo>
                <a:lnTo>
                  <a:pt x="1066" y="12811"/>
                </a:lnTo>
                <a:lnTo>
                  <a:pt x="564" y="12811"/>
                </a:lnTo>
                <a:lnTo>
                  <a:pt x="564" y="12311"/>
                </a:lnTo>
                <a:close/>
                <a:moveTo>
                  <a:pt x="3574" y="10570"/>
                </a:moveTo>
                <a:lnTo>
                  <a:pt x="4076" y="10570"/>
                </a:lnTo>
                <a:lnTo>
                  <a:pt x="4076" y="11070"/>
                </a:lnTo>
                <a:lnTo>
                  <a:pt x="3574" y="11070"/>
                </a:lnTo>
                <a:lnTo>
                  <a:pt x="3574" y="10570"/>
                </a:lnTo>
                <a:close/>
                <a:moveTo>
                  <a:pt x="2822" y="10570"/>
                </a:moveTo>
                <a:lnTo>
                  <a:pt x="3324" y="10570"/>
                </a:lnTo>
                <a:lnTo>
                  <a:pt x="3324" y="11070"/>
                </a:lnTo>
                <a:lnTo>
                  <a:pt x="2822" y="11070"/>
                </a:lnTo>
                <a:lnTo>
                  <a:pt x="2822" y="10570"/>
                </a:lnTo>
                <a:close/>
                <a:moveTo>
                  <a:pt x="2070" y="10570"/>
                </a:moveTo>
                <a:lnTo>
                  <a:pt x="2570" y="10570"/>
                </a:lnTo>
                <a:lnTo>
                  <a:pt x="2570" y="11070"/>
                </a:lnTo>
                <a:lnTo>
                  <a:pt x="2070" y="11070"/>
                </a:lnTo>
                <a:lnTo>
                  <a:pt x="2070" y="10570"/>
                </a:lnTo>
                <a:close/>
                <a:moveTo>
                  <a:pt x="1316" y="10570"/>
                </a:moveTo>
                <a:lnTo>
                  <a:pt x="1818" y="10570"/>
                </a:lnTo>
                <a:lnTo>
                  <a:pt x="1818" y="11070"/>
                </a:lnTo>
                <a:lnTo>
                  <a:pt x="1316" y="11070"/>
                </a:lnTo>
                <a:lnTo>
                  <a:pt x="1316" y="10570"/>
                </a:lnTo>
                <a:close/>
                <a:moveTo>
                  <a:pt x="564" y="10570"/>
                </a:moveTo>
                <a:lnTo>
                  <a:pt x="1066" y="10570"/>
                </a:lnTo>
                <a:lnTo>
                  <a:pt x="1066" y="11070"/>
                </a:lnTo>
                <a:lnTo>
                  <a:pt x="564" y="11070"/>
                </a:lnTo>
                <a:lnTo>
                  <a:pt x="564" y="10570"/>
                </a:lnTo>
                <a:close/>
                <a:moveTo>
                  <a:pt x="3574" y="9700"/>
                </a:moveTo>
                <a:lnTo>
                  <a:pt x="4076" y="9700"/>
                </a:lnTo>
                <a:lnTo>
                  <a:pt x="4076" y="10199"/>
                </a:lnTo>
                <a:lnTo>
                  <a:pt x="3574" y="10199"/>
                </a:lnTo>
                <a:lnTo>
                  <a:pt x="3574" y="9700"/>
                </a:lnTo>
                <a:close/>
                <a:moveTo>
                  <a:pt x="1316" y="9700"/>
                </a:moveTo>
                <a:lnTo>
                  <a:pt x="1818" y="9700"/>
                </a:lnTo>
                <a:lnTo>
                  <a:pt x="1818" y="10199"/>
                </a:lnTo>
                <a:lnTo>
                  <a:pt x="1316" y="10199"/>
                </a:lnTo>
                <a:lnTo>
                  <a:pt x="1316" y="9700"/>
                </a:lnTo>
                <a:close/>
                <a:moveTo>
                  <a:pt x="564" y="9700"/>
                </a:moveTo>
                <a:lnTo>
                  <a:pt x="1066" y="9700"/>
                </a:lnTo>
                <a:lnTo>
                  <a:pt x="1066" y="10199"/>
                </a:lnTo>
                <a:lnTo>
                  <a:pt x="564" y="10199"/>
                </a:lnTo>
                <a:lnTo>
                  <a:pt x="564" y="9700"/>
                </a:lnTo>
                <a:close/>
                <a:moveTo>
                  <a:pt x="2070" y="8829"/>
                </a:moveTo>
                <a:lnTo>
                  <a:pt x="2570" y="8829"/>
                </a:lnTo>
                <a:lnTo>
                  <a:pt x="2570" y="9329"/>
                </a:lnTo>
                <a:lnTo>
                  <a:pt x="2070" y="9329"/>
                </a:lnTo>
                <a:lnTo>
                  <a:pt x="2070" y="8829"/>
                </a:lnTo>
                <a:close/>
                <a:moveTo>
                  <a:pt x="1316" y="8829"/>
                </a:moveTo>
                <a:lnTo>
                  <a:pt x="1818" y="8829"/>
                </a:lnTo>
                <a:lnTo>
                  <a:pt x="1818" y="9329"/>
                </a:lnTo>
                <a:lnTo>
                  <a:pt x="1316" y="9329"/>
                </a:lnTo>
                <a:lnTo>
                  <a:pt x="1316" y="8829"/>
                </a:lnTo>
                <a:close/>
                <a:moveTo>
                  <a:pt x="564" y="8829"/>
                </a:moveTo>
                <a:lnTo>
                  <a:pt x="1066" y="8829"/>
                </a:lnTo>
                <a:lnTo>
                  <a:pt x="1066" y="9329"/>
                </a:lnTo>
                <a:lnTo>
                  <a:pt x="564" y="9329"/>
                </a:lnTo>
                <a:lnTo>
                  <a:pt x="564" y="8829"/>
                </a:lnTo>
                <a:close/>
                <a:moveTo>
                  <a:pt x="3574" y="7958"/>
                </a:moveTo>
                <a:lnTo>
                  <a:pt x="4076" y="7958"/>
                </a:lnTo>
                <a:lnTo>
                  <a:pt x="4076" y="8458"/>
                </a:lnTo>
                <a:lnTo>
                  <a:pt x="3574" y="8458"/>
                </a:lnTo>
                <a:lnTo>
                  <a:pt x="3574" y="7958"/>
                </a:lnTo>
                <a:close/>
                <a:moveTo>
                  <a:pt x="2070" y="7958"/>
                </a:moveTo>
                <a:lnTo>
                  <a:pt x="2570" y="7958"/>
                </a:lnTo>
                <a:lnTo>
                  <a:pt x="2570" y="8458"/>
                </a:lnTo>
                <a:lnTo>
                  <a:pt x="2070" y="8458"/>
                </a:lnTo>
                <a:lnTo>
                  <a:pt x="2070" y="7958"/>
                </a:lnTo>
                <a:close/>
                <a:moveTo>
                  <a:pt x="3574" y="6217"/>
                </a:moveTo>
                <a:lnTo>
                  <a:pt x="4076" y="6217"/>
                </a:lnTo>
                <a:lnTo>
                  <a:pt x="4076" y="6717"/>
                </a:lnTo>
                <a:lnTo>
                  <a:pt x="3574" y="6717"/>
                </a:lnTo>
                <a:lnTo>
                  <a:pt x="3574" y="6217"/>
                </a:lnTo>
                <a:close/>
                <a:moveTo>
                  <a:pt x="2070" y="6217"/>
                </a:moveTo>
                <a:lnTo>
                  <a:pt x="2570" y="6217"/>
                </a:lnTo>
                <a:lnTo>
                  <a:pt x="2570" y="6717"/>
                </a:lnTo>
                <a:lnTo>
                  <a:pt x="2070" y="6717"/>
                </a:lnTo>
                <a:lnTo>
                  <a:pt x="2070" y="6217"/>
                </a:lnTo>
                <a:close/>
                <a:moveTo>
                  <a:pt x="1316" y="6217"/>
                </a:moveTo>
                <a:lnTo>
                  <a:pt x="1818" y="6217"/>
                </a:lnTo>
                <a:lnTo>
                  <a:pt x="1818" y="6717"/>
                </a:lnTo>
                <a:lnTo>
                  <a:pt x="1316" y="6717"/>
                </a:lnTo>
                <a:lnTo>
                  <a:pt x="1316" y="6217"/>
                </a:lnTo>
                <a:close/>
                <a:moveTo>
                  <a:pt x="564" y="6217"/>
                </a:moveTo>
                <a:lnTo>
                  <a:pt x="1066" y="6217"/>
                </a:lnTo>
                <a:lnTo>
                  <a:pt x="1066" y="6717"/>
                </a:lnTo>
                <a:lnTo>
                  <a:pt x="564" y="6717"/>
                </a:lnTo>
                <a:lnTo>
                  <a:pt x="564" y="6217"/>
                </a:lnTo>
                <a:close/>
                <a:moveTo>
                  <a:pt x="3574" y="5347"/>
                </a:moveTo>
                <a:lnTo>
                  <a:pt x="4076" y="5347"/>
                </a:lnTo>
                <a:lnTo>
                  <a:pt x="4076" y="5847"/>
                </a:lnTo>
                <a:lnTo>
                  <a:pt x="3574" y="5847"/>
                </a:lnTo>
                <a:lnTo>
                  <a:pt x="3574" y="5347"/>
                </a:lnTo>
                <a:close/>
                <a:moveTo>
                  <a:pt x="2822" y="5347"/>
                </a:moveTo>
                <a:lnTo>
                  <a:pt x="3324" y="5347"/>
                </a:lnTo>
                <a:lnTo>
                  <a:pt x="3324" y="5847"/>
                </a:lnTo>
                <a:lnTo>
                  <a:pt x="2822" y="5847"/>
                </a:lnTo>
                <a:lnTo>
                  <a:pt x="2822" y="5347"/>
                </a:lnTo>
                <a:close/>
                <a:moveTo>
                  <a:pt x="2070" y="5347"/>
                </a:moveTo>
                <a:lnTo>
                  <a:pt x="2570" y="5347"/>
                </a:lnTo>
                <a:lnTo>
                  <a:pt x="2570" y="5847"/>
                </a:lnTo>
                <a:lnTo>
                  <a:pt x="2070" y="5847"/>
                </a:lnTo>
                <a:lnTo>
                  <a:pt x="2070" y="5347"/>
                </a:lnTo>
                <a:close/>
                <a:moveTo>
                  <a:pt x="564" y="5347"/>
                </a:moveTo>
                <a:lnTo>
                  <a:pt x="1066" y="5347"/>
                </a:lnTo>
                <a:lnTo>
                  <a:pt x="1066" y="5847"/>
                </a:lnTo>
                <a:lnTo>
                  <a:pt x="564" y="5847"/>
                </a:lnTo>
                <a:lnTo>
                  <a:pt x="564" y="5347"/>
                </a:lnTo>
                <a:close/>
              </a:path>
            </a:pathLst>
          </a:custGeom>
          <a:solidFill>
            <a:schemeClr val="bg1">
              <a:lumMod val="50000"/>
            </a:schemeClr>
          </a:solidFill>
          <a:ln w="9525">
            <a:noFill/>
            <a:round/>
            <a:headEnd/>
            <a:tailEnd/>
          </a:ln>
        </p:spPr>
        <p:txBody>
          <a:bodyPr/>
          <a:lstStyle/>
          <a:p>
            <a:pPr algn="ctr">
              <a:defRPr/>
            </a:pPr>
            <a:endParaRPr lang="zh-CN" altLang="en-US">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30" name="图片 129"/>
          <p:cNvPicPr>
            <a:picLocks noChangeAspect="1"/>
          </p:cNvPicPr>
          <p:nvPr/>
        </p:nvPicPr>
        <p:blipFill>
          <a:blip r:embed="rId4"/>
          <a:stretch>
            <a:fillRect/>
          </a:stretch>
        </p:blipFill>
        <p:spPr bwMode="gray">
          <a:xfrm>
            <a:off x="3149050" y="3231983"/>
            <a:ext cx="786433" cy="501351"/>
          </a:xfrm>
          <a:prstGeom prst="rect">
            <a:avLst/>
          </a:prstGeom>
        </p:spPr>
      </p:pic>
      <p:pic>
        <p:nvPicPr>
          <p:cNvPr id="131" name="图片 13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5237277" y="1616696"/>
            <a:ext cx="1725620" cy="446632"/>
          </a:xfrm>
          <a:prstGeom prst="rect">
            <a:avLst/>
          </a:prstGeom>
        </p:spPr>
      </p:pic>
      <p:pic>
        <p:nvPicPr>
          <p:cNvPr id="132" name="图片 13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819852" y="1616696"/>
            <a:ext cx="1725620" cy="446632"/>
          </a:xfrm>
          <a:prstGeom prst="rect">
            <a:avLst/>
          </a:prstGeom>
        </p:spPr>
      </p:pic>
      <p:sp>
        <p:nvSpPr>
          <p:cNvPr id="133" name="梯形 132"/>
          <p:cNvSpPr/>
          <p:nvPr/>
        </p:nvSpPr>
        <p:spPr bwMode="gray">
          <a:xfrm>
            <a:off x="4973184" y="2878117"/>
            <a:ext cx="2253806" cy="296995"/>
          </a:xfrm>
          <a:prstGeom prst="trapezoid">
            <a:avLst>
              <a:gd name="adj" fmla="val 55460"/>
            </a:avLst>
          </a:prstGeom>
          <a:gradFill flip="none" rotWithShape="1">
            <a:gsLst>
              <a:gs pos="0">
                <a:schemeClr val="bg1"/>
              </a:gs>
              <a:gs pos="100000">
                <a:srgbClr val="30B5C5"/>
              </a:gs>
            </a:gsLst>
            <a:lin ang="5400000" scaled="1"/>
            <a:tileRect/>
          </a:gradFill>
          <a:ln>
            <a:gradFill flip="none" rotWithShape="1">
              <a:gsLst>
                <a:gs pos="0">
                  <a:schemeClr val="accent1">
                    <a:lumMod val="5000"/>
                    <a:lumOff val="95000"/>
                    <a:alpha val="0"/>
                  </a:schemeClr>
                </a:gs>
                <a:gs pos="90000">
                  <a:srgbClr val="30B5C5"/>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4" name="梯形 133"/>
          <p:cNvSpPr/>
          <p:nvPr/>
        </p:nvSpPr>
        <p:spPr bwMode="gray">
          <a:xfrm>
            <a:off x="4973184" y="2603980"/>
            <a:ext cx="2253806" cy="280769"/>
          </a:xfrm>
          <a:prstGeom prst="trapezoid">
            <a:avLst>
              <a:gd name="adj" fmla="val 60956"/>
            </a:avLst>
          </a:prstGeom>
          <a:gradFill flip="none" rotWithShape="1">
            <a:gsLst>
              <a:gs pos="0">
                <a:schemeClr val="bg1"/>
              </a:gs>
              <a:gs pos="100000">
                <a:srgbClr val="FCC800"/>
              </a:gs>
            </a:gsLst>
            <a:lin ang="5400000" scaled="1"/>
            <a:tileRect/>
          </a:gradFill>
          <a:ln>
            <a:gradFill flip="none" rotWithShape="1">
              <a:gsLst>
                <a:gs pos="0">
                  <a:schemeClr val="accent1">
                    <a:lumMod val="5000"/>
                    <a:lumOff val="95000"/>
                    <a:alpha val="0"/>
                  </a:schemeClr>
                </a:gs>
                <a:gs pos="90000">
                  <a:srgbClr val="FCC800"/>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5" name="梯形 134"/>
          <p:cNvSpPr/>
          <p:nvPr/>
        </p:nvSpPr>
        <p:spPr bwMode="gray">
          <a:xfrm>
            <a:off x="4973184" y="2329030"/>
            <a:ext cx="2253806" cy="281583"/>
          </a:xfrm>
          <a:prstGeom prst="trapezoid">
            <a:avLst>
              <a:gd name="adj" fmla="val 51827"/>
            </a:avLst>
          </a:prstGeom>
          <a:gradFill flip="none" rotWithShape="1">
            <a:gsLst>
              <a:gs pos="0">
                <a:schemeClr val="bg1">
                  <a:alpha val="29000"/>
                </a:schemeClr>
              </a:gs>
              <a:gs pos="100000">
                <a:srgbClr val="ED6D00"/>
              </a:gs>
            </a:gsLst>
            <a:lin ang="5400000" scaled="1"/>
            <a:tileRect/>
          </a:gradFill>
          <a:ln>
            <a:gradFill flip="none" rotWithShape="1">
              <a:gsLst>
                <a:gs pos="0">
                  <a:schemeClr val="accent1">
                    <a:lumMod val="5000"/>
                    <a:lumOff val="95000"/>
                    <a:alpha val="0"/>
                  </a:schemeClr>
                </a:gs>
                <a:gs pos="90000">
                  <a:srgbClr val="ED6D00"/>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36" name="组合 44284"/>
          <p:cNvGrpSpPr>
            <a:grpSpLocks/>
          </p:cNvGrpSpPr>
          <p:nvPr/>
        </p:nvGrpSpPr>
        <p:grpSpPr bwMode="gray">
          <a:xfrm>
            <a:off x="5684385" y="3187722"/>
            <a:ext cx="831406" cy="543474"/>
            <a:chOff x="2974975" y="2452688"/>
            <a:chExt cx="827088" cy="541338"/>
          </a:xfrm>
        </p:grpSpPr>
        <p:sp>
          <p:nvSpPr>
            <p:cNvPr id="137" name="Freeform 196"/>
            <p:cNvSpPr>
              <a:spLocks/>
            </p:cNvSpPr>
            <p:nvPr/>
          </p:nvSpPr>
          <p:spPr bwMode="gray">
            <a:xfrm>
              <a:off x="3084513" y="2655888"/>
              <a:ext cx="36513" cy="36513"/>
            </a:xfrm>
            <a:custGeom>
              <a:avLst/>
              <a:gdLst>
                <a:gd name="T0" fmla="*/ 2147483647 w 87"/>
                <a:gd name="T1" fmla="*/ 2147483647 h 86"/>
                <a:gd name="T2" fmla="*/ 2147483647 w 87"/>
                <a:gd name="T3" fmla="*/ 2147483647 h 86"/>
                <a:gd name="T4" fmla="*/ 0 w 87"/>
                <a:gd name="T5" fmla="*/ 2147483647 h 86"/>
                <a:gd name="T6" fmla="*/ 0 w 87"/>
                <a:gd name="T7" fmla="*/ 0 h 86"/>
                <a:gd name="T8" fmla="*/ 2147483647 w 87"/>
                <a:gd name="T9" fmla="*/ 0 h 86"/>
                <a:gd name="T10" fmla="*/ 2147483647 w 87"/>
                <a:gd name="T11" fmla="*/ 2147483647 h 8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6">
                  <a:moveTo>
                    <a:pt x="87" y="86"/>
                  </a:moveTo>
                  <a:lnTo>
                    <a:pt x="87" y="86"/>
                  </a:lnTo>
                  <a:lnTo>
                    <a:pt x="0" y="86"/>
                  </a:lnTo>
                  <a:lnTo>
                    <a:pt x="0" y="0"/>
                  </a:lnTo>
                  <a:lnTo>
                    <a:pt x="87" y="0"/>
                  </a:lnTo>
                  <a:lnTo>
                    <a:pt x="87" y="86"/>
                  </a:lnTo>
                  <a:close/>
                </a:path>
              </a:pathLst>
            </a:custGeom>
            <a:solidFill>
              <a:srgbClr val="FEFEFE"/>
            </a:solidFill>
            <a:ln w="0">
              <a:solidFill>
                <a:srgbClr val="000000"/>
              </a:solidFill>
              <a:prstDash val="solid"/>
              <a:round/>
              <a:headEnd/>
              <a:tailEnd/>
            </a:ln>
          </p:spPr>
          <p:txBody>
            <a:bodyPr/>
            <a:lstStyle/>
            <a:p>
              <a:pPr marL="0" marR="0" lvl="0" indent="0" defTabSz="454025" eaLnBrk="1" fontAlgn="base" latinLnBrk="0" hangingPunct="1">
                <a:lnSpc>
                  <a:spcPct val="100000"/>
                </a:lnSpc>
                <a:spcBef>
                  <a:spcPct val="0"/>
                </a:spcBef>
                <a:spcAft>
                  <a:spcPct val="0"/>
                </a:spcAft>
                <a:buClrTx/>
                <a:buSzTx/>
                <a:buFontTx/>
                <a:buNone/>
                <a:tabLst/>
                <a:defRPr/>
              </a:pPr>
              <a:endParaRPr kumimoji="1"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8" name="Freeform 197"/>
            <p:cNvSpPr>
              <a:spLocks/>
            </p:cNvSpPr>
            <p:nvPr/>
          </p:nvSpPr>
          <p:spPr bwMode="gray">
            <a:xfrm>
              <a:off x="3278188" y="2778126"/>
              <a:ext cx="22225" cy="36513"/>
            </a:xfrm>
            <a:custGeom>
              <a:avLst/>
              <a:gdLst>
                <a:gd name="T0" fmla="*/ 2147483647 w 54"/>
                <a:gd name="T1" fmla="*/ 2147483647 h 87"/>
                <a:gd name="T2" fmla="*/ 2147483647 w 54"/>
                <a:gd name="T3" fmla="*/ 2147483647 h 87"/>
                <a:gd name="T4" fmla="*/ 0 w 54"/>
                <a:gd name="T5" fmla="*/ 2147483647 h 87"/>
                <a:gd name="T6" fmla="*/ 0 w 54"/>
                <a:gd name="T7" fmla="*/ 0 h 87"/>
                <a:gd name="T8" fmla="*/ 2147483647 w 54"/>
                <a:gd name="T9" fmla="*/ 0 h 87"/>
                <a:gd name="T10" fmla="*/ 2147483647 w 54"/>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4" h="87">
                  <a:moveTo>
                    <a:pt x="54" y="87"/>
                  </a:moveTo>
                  <a:lnTo>
                    <a:pt x="54" y="87"/>
                  </a:lnTo>
                  <a:lnTo>
                    <a:pt x="0" y="87"/>
                  </a:lnTo>
                  <a:lnTo>
                    <a:pt x="0" y="0"/>
                  </a:lnTo>
                  <a:lnTo>
                    <a:pt x="54" y="0"/>
                  </a:lnTo>
                  <a:lnTo>
                    <a:pt x="54" y="87"/>
                  </a:lnTo>
                  <a:close/>
                </a:path>
              </a:pathLst>
            </a:custGeom>
            <a:solidFill>
              <a:srgbClr val="FEFEFE"/>
            </a:solidFill>
            <a:ln w="0">
              <a:solidFill>
                <a:srgbClr val="000000"/>
              </a:solidFill>
              <a:prstDash val="solid"/>
              <a:round/>
              <a:headEnd/>
              <a:tailEnd/>
            </a:ln>
          </p:spPr>
          <p:txBody>
            <a:bodyPr/>
            <a:lstStyle/>
            <a:p>
              <a:pPr marL="0" marR="0" lvl="0" indent="0" defTabSz="454025" eaLnBrk="1" fontAlgn="base" latinLnBrk="0" hangingPunct="1">
                <a:lnSpc>
                  <a:spcPct val="100000"/>
                </a:lnSpc>
                <a:spcBef>
                  <a:spcPct val="0"/>
                </a:spcBef>
                <a:spcAft>
                  <a:spcPct val="0"/>
                </a:spcAft>
                <a:buClrTx/>
                <a:buSzTx/>
                <a:buFontTx/>
                <a:buNone/>
                <a:tabLst/>
                <a:defRPr/>
              </a:pPr>
              <a:endParaRPr kumimoji="1"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9" name="Freeform 198"/>
            <p:cNvSpPr>
              <a:spLocks/>
            </p:cNvSpPr>
            <p:nvPr/>
          </p:nvSpPr>
          <p:spPr bwMode="gray">
            <a:xfrm>
              <a:off x="3517900" y="2519363"/>
              <a:ext cx="19050" cy="346075"/>
            </a:xfrm>
            <a:custGeom>
              <a:avLst/>
              <a:gdLst>
                <a:gd name="T0" fmla="*/ 2147483647 w 42"/>
                <a:gd name="T1" fmla="*/ 2147483647 h 827"/>
                <a:gd name="T2" fmla="*/ 2147483647 w 42"/>
                <a:gd name="T3" fmla="*/ 2147483647 h 827"/>
                <a:gd name="T4" fmla="*/ 0 w 42"/>
                <a:gd name="T5" fmla="*/ 2147483647 h 827"/>
                <a:gd name="T6" fmla="*/ 0 w 42"/>
                <a:gd name="T7" fmla="*/ 0 h 827"/>
                <a:gd name="T8" fmla="*/ 2147483647 w 42"/>
                <a:gd name="T9" fmla="*/ 0 h 827"/>
                <a:gd name="T10" fmla="*/ 2147483647 w 42"/>
                <a:gd name="T11" fmla="*/ 2147483647 h 8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 h="827">
                  <a:moveTo>
                    <a:pt x="42" y="827"/>
                  </a:moveTo>
                  <a:lnTo>
                    <a:pt x="42" y="827"/>
                  </a:lnTo>
                  <a:lnTo>
                    <a:pt x="0" y="827"/>
                  </a:lnTo>
                  <a:lnTo>
                    <a:pt x="0" y="0"/>
                  </a:lnTo>
                  <a:lnTo>
                    <a:pt x="42" y="0"/>
                  </a:lnTo>
                  <a:lnTo>
                    <a:pt x="42" y="827"/>
                  </a:lnTo>
                  <a:close/>
                </a:path>
              </a:pathLst>
            </a:custGeom>
            <a:solidFill>
              <a:srgbClr val="FEFEFE"/>
            </a:solidFill>
            <a:ln w="0">
              <a:solidFill>
                <a:srgbClr val="000000"/>
              </a:solidFill>
              <a:prstDash val="solid"/>
              <a:round/>
              <a:headEnd/>
              <a:tailEnd/>
            </a:ln>
          </p:spPr>
          <p:txBody>
            <a:bodyPr/>
            <a:lstStyle/>
            <a:p>
              <a:pPr marL="0" marR="0" lvl="0" indent="0" defTabSz="454025" eaLnBrk="1" fontAlgn="base" latinLnBrk="0" hangingPunct="1">
                <a:lnSpc>
                  <a:spcPct val="100000"/>
                </a:lnSpc>
                <a:spcBef>
                  <a:spcPct val="0"/>
                </a:spcBef>
                <a:spcAft>
                  <a:spcPct val="0"/>
                </a:spcAft>
                <a:buClrTx/>
                <a:buSzTx/>
                <a:buFontTx/>
                <a:buNone/>
                <a:tabLst/>
                <a:defRPr/>
              </a:pPr>
              <a:endParaRPr kumimoji="1"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0" name="Freeform 199"/>
            <p:cNvSpPr>
              <a:spLocks/>
            </p:cNvSpPr>
            <p:nvPr/>
          </p:nvSpPr>
          <p:spPr bwMode="gray">
            <a:xfrm>
              <a:off x="3556000" y="2519363"/>
              <a:ext cx="17463" cy="346075"/>
            </a:xfrm>
            <a:custGeom>
              <a:avLst/>
              <a:gdLst>
                <a:gd name="T0" fmla="*/ 2147483647 w 42"/>
                <a:gd name="T1" fmla="*/ 2147483647 h 827"/>
                <a:gd name="T2" fmla="*/ 2147483647 w 42"/>
                <a:gd name="T3" fmla="*/ 2147483647 h 827"/>
                <a:gd name="T4" fmla="*/ 0 w 42"/>
                <a:gd name="T5" fmla="*/ 2147483647 h 827"/>
                <a:gd name="T6" fmla="*/ 0 w 42"/>
                <a:gd name="T7" fmla="*/ 0 h 827"/>
                <a:gd name="T8" fmla="*/ 2147483647 w 42"/>
                <a:gd name="T9" fmla="*/ 0 h 827"/>
                <a:gd name="T10" fmla="*/ 2147483647 w 42"/>
                <a:gd name="T11" fmla="*/ 2147483647 h 8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 h="827">
                  <a:moveTo>
                    <a:pt x="42" y="827"/>
                  </a:moveTo>
                  <a:lnTo>
                    <a:pt x="42" y="827"/>
                  </a:lnTo>
                  <a:lnTo>
                    <a:pt x="0" y="827"/>
                  </a:lnTo>
                  <a:lnTo>
                    <a:pt x="0" y="0"/>
                  </a:lnTo>
                  <a:lnTo>
                    <a:pt x="42" y="0"/>
                  </a:lnTo>
                  <a:lnTo>
                    <a:pt x="42" y="827"/>
                  </a:lnTo>
                  <a:close/>
                </a:path>
              </a:pathLst>
            </a:custGeom>
            <a:solidFill>
              <a:srgbClr val="FEFEFE"/>
            </a:solidFill>
            <a:ln w="0">
              <a:solidFill>
                <a:srgbClr val="000000"/>
              </a:solidFill>
              <a:prstDash val="solid"/>
              <a:round/>
              <a:headEnd/>
              <a:tailEnd/>
            </a:ln>
          </p:spPr>
          <p:txBody>
            <a:bodyPr/>
            <a:lstStyle/>
            <a:p>
              <a:pPr marL="0" marR="0" lvl="0" indent="0" defTabSz="454025" eaLnBrk="1" fontAlgn="base" latinLnBrk="0" hangingPunct="1">
                <a:lnSpc>
                  <a:spcPct val="100000"/>
                </a:lnSpc>
                <a:spcBef>
                  <a:spcPct val="0"/>
                </a:spcBef>
                <a:spcAft>
                  <a:spcPct val="0"/>
                </a:spcAft>
                <a:buClrTx/>
                <a:buSzTx/>
                <a:buFontTx/>
                <a:buNone/>
                <a:tabLst/>
                <a:defRPr/>
              </a:pPr>
              <a:endParaRPr kumimoji="1"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1" name="Freeform 200"/>
            <p:cNvSpPr>
              <a:spLocks/>
            </p:cNvSpPr>
            <p:nvPr/>
          </p:nvSpPr>
          <p:spPr bwMode="gray">
            <a:xfrm>
              <a:off x="3592513" y="2519363"/>
              <a:ext cx="17463" cy="346075"/>
            </a:xfrm>
            <a:custGeom>
              <a:avLst/>
              <a:gdLst>
                <a:gd name="T0" fmla="*/ 2147483647 w 42"/>
                <a:gd name="T1" fmla="*/ 2147483647 h 827"/>
                <a:gd name="T2" fmla="*/ 2147483647 w 42"/>
                <a:gd name="T3" fmla="*/ 2147483647 h 827"/>
                <a:gd name="T4" fmla="*/ 0 w 42"/>
                <a:gd name="T5" fmla="*/ 2147483647 h 827"/>
                <a:gd name="T6" fmla="*/ 0 w 42"/>
                <a:gd name="T7" fmla="*/ 0 h 827"/>
                <a:gd name="T8" fmla="*/ 2147483647 w 42"/>
                <a:gd name="T9" fmla="*/ 0 h 827"/>
                <a:gd name="T10" fmla="*/ 2147483647 w 42"/>
                <a:gd name="T11" fmla="*/ 2147483647 h 8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 h="827">
                  <a:moveTo>
                    <a:pt x="42" y="827"/>
                  </a:moveTo>
                  <a:lnTo>
                    <a:pt x="42" y="827"/>
                  </a:lnTo>
                  <a:lnTo>
                    <a:pt x="0" y="827"/>
                  </a:lnTo>
                  <a:lnTo>
                    <a:pt x="0" y="0"/>
                  </a:lnTo>
                  <a:lnTo>
                    <a:pt x="42" y="0"/>
                  </a:lnTo>
                  <a:lnTo>
                    <a:pt x="42" y="827"/>
                  </a:lnTo>
                  <a:close/>
                </a:path>
              </a:pathLst>
            </a:custGeom>
            <a:solidFill>
              <a:srgbClr val="FEFEFE"/>
            </a:solidFill>
            <a:ln w="0">
              <a:solidFill>
                <a:srgbClr val="000000"/>
              </a:solidFill>
              <a:prstDash val="solid"/>
              <a:round/>
              <a:headEnd/>
              <a:tailEnd/>
            </a:ln>
          </p:spPr>
          <p:txBody>
            <a:bodyPr/>
            <a:lstStyle/>
            <a:p>
              <a:pPr marL="0" marR="0" lvl="0" indent="0" defTabSz="454025" eaLnBrk="1" fontAlgn="base" latinLnBrk="0" hangingPunct="1">
                <a:lnSpc>
                  <a:spcPct val="100000"/>
                </a:lnSpc>
                <a:spcBef>
                  <a:spcPct val="0"/>
                </a:spcBef>
                <a:spcAft>
                  <a:spcPct val="0"/>
                </a:spcAft>
                <a:buClrTx/>
                <a:buSzTx/>
                <a:buFontTx/>
                <a:buNone/>
                <a:tabLst/>
                <a:defRPr/>
              </a:pPr>
              <a:endParaRPr kumimoji="1"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2" name="Freeform 201"/>
            <p:cNvSpPr>
              <a:spLocks/>
            </p:cNvSpPr>
            <p:nvPr/>
          </p:nvSpPr>
          <p:spPr bwMode="gray">
            <a:xfrm>
              <a:off x="3309938" y="2778126"/>
              <a:ext cx="38100" cy="36513"/>
            </a:xfrm>
            <a:custGeom>
              <a:avLst/>
              <a:gdLst>
                <a:gd name="T0" fmla="*/ 2147483647 w 92"/>
                <a:gd name="T1" fmla="*/ 2147483647 h 87"/>
                <a:gd name="T2" fmla="*/ 2147483647 w 92"/>
                <a:gd name="T3" fmla="*/ 2147483647 h 87"/>
                <a:gd name="T4" fmla="*/ 0 w 92"/>
                <a:gd name="T5" fmla="*/ 2147483647 h 87"/>
                <a:gd name="T6" fmla="*/ 0 w 92"/>
                <a:gd name="T7" fmla="*/ 0 h 87"/>
                <a:gd name="T8" fmla="*/ 2147483647 w 92"/>
                <a:gd name="T9" fmla="*/ 0 h 87"/>
                <a:gd name="T10" fmla="*/ 2147483647 w 92"/>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2" h="87">
                  <a:moveTo>
                    <a:pt x="92" y="87"/>
                  </a:moveTo>
                  <a:lnTo>
                    <a:pt x="92" y="87"/>
                  </a:lnTo>
                  <a:lnTo>
                    <a:pt x="0" y="87"/>
                  </a:lnTo>
                  <a:lnTo>
                    <a:pt x="0" y="0"/>
                  </a:lnTo>
                  <a:lnTo>
                    <a:pt x="92" y="0"/>
                  </a:lnTo>
                  <a:lnTo>
                    <a:pt x="92" y="87"/>
                  </a:lnTo>
                  <a:close/>
                </a:path>
              </a:pathLst>
            </a:custGeom>
            <a:solidFill>
              <a:srgbClr val="FEFEFE"/>
            </a:solidFill>
            <a:ln w="0">
              <a:solidFill>
                <a:srgbClr val="000000"/>
              </a:solidFill>
              <a:prstDash val="solid"/>
              <a:round/>
              <a:headEnd/>
              <a:tailEnd/>
            </a:ln>
          </p:spPr>
          <p:txBody>
            <a:bodyPr/>
            <a:lstStyle/>
            <a:p>
              <a:pPr marL="0" marR="0" lvl="0" indent="0" defTabSz="454025" eaLnBrk="1" fontAlgn="base" latinLnBrk="0" hangingPunct="1">
                <a:lnSpc>
                  <a:spcPct val="100000"/>
                </a:lnSpc>
                <a:spcBef>
                  <a:spcPct val="0"/>
                </a:spcBef>
                <a:spcAft>
                  <a:spcPct val="0"/>
                </a:spcAft>
                <a:buClrTx/>
                <a:buSzTx/>
                <a:buFontTx/>
                <a:buNone/>
                <a:tabLst/>
                <a:defRPr/>
              </a:pPr>
              <a:endParaRPr kumimoji="1"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3" name="Freeform 202"/>
            <p:cNvSpPr>
              <a:spLocks/>
            </p:cNvSpPr>
            <p:nvPr/>
          </p:nvSpPr>
          <p:spPr bwMode="gray">
            <a:xfrm>
              <a:off x="3360738" y="2778126"/>
              <a:ext cx="50800" cy="36513"/>
            </a:xfrm>
            <a:custGeom>
              <a:avLst/>
              <a:gdLst>
                <a:gd name="T0" fmla="*/ 2147483647 w 123"/>
                <a:gd name="T1" fmla="*/ 2147483647 h 87"/>
                <a:gd name="T2" fmla="*/ 2147483647 w 123"/>
                <a:gd name="T3" fmla="*/ 2147483647 h 87"/>
                <a:gd name="T4" fmla="*/ 0 w 123"/>
                <a:gd name="T5" fmla="*/ 2147483647 h 87"/>
                <a:gd name="T6" fmla="*/ 0 w 123"/>
                <a:gd name="T7" fmla="*/ 0 h 87"/>
                <a:gd name="T8" fmla="*/ 2147483647 w 123"/>
                <a:gd name="T9" fmla="*/ 0 h 87"/>
                <a:gd name="T10" fmla="*/ 2147483647 w 123"/>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3" h="87">
                  <a:moveTo>
                    <a:pt x="123" y="87"/>
                  </a:moveTo>
                  <a:lnTo>
                    <a:pt x="123" y="87"/>
                  </a:lnTo>
                  <a:lnTo>
                    <a:pt x="0" y="87"/>
                  </a:lnTo>
                  <a:lnTo>
                    <a:pt x="0" y="0"/>
                  </a:lnTo>
                  <a:lnTo>
                    <a:pt x="123" y="0"/>
                  </a:lnTo>
                  <a:lnTo>
                    <a:pt x="123" y="87"/>
                  </a:lnTo>
                  <a:close/>
                </a:path>
              </a:pathLst>
            </a:custGeom>
            <a:solidFill>
              <a:srgbClr val="FEFEFE"/>
            </a:solidFill>
            <a:ln w="0">
              <a:solidFill>
                <a:srgbClr val="000000"/>
              </a:solidFill>
              <a:prstDash val="solid"/>
              <a:round/>
              <a:headEnd/>
              <a:tailEnd/>
            </a:ln>
          </p:spPr>
          <p:txBody>
            <a:bodyPr/>
            <a:lstStyle/>
            <a:p>
              <a:pPr marL="0" marR="0" lvl="0" indent="0" defTabSz="454025" eaLnBrk="1" fontAlgn="base" latinLnBrk="0" hangingPunct="1">
                <a:lnSpc>
                  <a:spcPct val="100000"/>
                </a:lnSpc>
                <a:spcBef>
                  <a:spcPct val="0"/>
                </a:spcBef>
                <a:spcAft>
                  <a:spcPct val="0"/>
                </a:spcAft>
                <a:buClrTx/>
                <a:buSzTx/>
                <a:buFontTx/>
                <a:buNone/>
                <a:tabLst/>
                <a:defRPr/>
              </a:pPr>
              <a:endParaRPr kumimoji="1"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4" name="Freeform 203"/>
            <p:cNvSpPr>
              <a:spLocks/>
            </p:cNvSpPr>
            <p:nvPr/>
          </p:nvSpPr>
          <p:spPr bwMode="gray">
            <a:xfrm>
              <a:off x="3084513" y="2774951"/>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w="0">
              <a:solidFill>
                <a:srgbClr val="000000"/>
              </a:solidFill>
              <a:prstDash val="solid"/>
              <a:round/>
              <a:headEnd/>
              <a:tailEnd/>
            </a:ln>
          </p:spPr>
          <p:txBody>
            <a:bodyPr/>
            <a:lstStyle/>
            <a:p>
              <a:pPr marL="0" marR="0" lvl="0" indent="0" defTabSz="454025" eaLnBrk="1" fontAlgn="base" latinLnBrk="0" hangingPunct="1">
                <a:lnSpc>
                  <a:spcPct val="100000"/>
                </a:lnSpc>
                <a:spcBef>
                  <a:spcPct val="0"/>
                </a:spcBef>
                <a:spcAft>
                  <a:spcPct val="0"/>
                </a:spcAft>
                <a:buClrTx/>
                <a:buSzTx/>
                <a:buFontTx/>
                <a:buNone/>
                <a:tabLst/>
                <a:defRPr/>
              </a:pPr>
              <a:endParaRPr kumimoji="1"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5" name="Freeform 204"/>
            <p:cNvSpPr>
              <a:spLocks/>
            </p:cNvSpPr>
            <p:nvPr/>
          </p:nvSpPr>
          <p:spPr bwMode="gray">
            <a:xfrm>
              <a:off x="3141663" y="2724151"/>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w="0">
              <a:solidFill>
                <a:srgbClr val="000000"/>
              </a:solidFill>
              <a:prstDash val="solid"/>
              <a:round/>
              <a:headEnd/>
              <a:tailEnd/>
            </a:ln>
          </p:spPr>
          <p:txBody>
            <a:bodyPr/>
            <a:lstStyle/>
            <a:p>
              <a:pPr marL="0" marR="0" lvl="0" indent="0" defTabSz="454025" eaLnBrk="1" fontAlgn="base" latinLnBrk="0" hangingPunct="1">
                <a:lnSpc>
                  <a:spcPct val="100000"/>
                </a:lnSpc>
                <a:spcBef>
                  <a:spcPct val="0"/>
                </a:spcBef>
                <a:spcAft>
                  <a:spcPct val="0"/>
                </a:spcAft>
                <a:buClrTx/>
                <a:buSzTx/>
                <a:buFontTx/>
                <a:buNone/>
                <a:tabLst/>
                <a:defRPr/>
              </a:pPr>
              <a:endParaRPr kumimoji="1"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6" name="Freeform 205"/>
            <p:cNvSpPr>
              <a:spLocks/>
            </p:cNvSpPr>
            <p:nvPr/>
          </p:nvSpPr>
          <p:spPr bwMode="gray">
            <a:xfrm>
              <a:off x="3141663" y="2843213"/>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w="0">
              <a:solidFill>
                <a:srgbClr val="000000"/>
              </a:solidFill>
              <a:prstDash val="solid"/>
              <a:round/>
              <a:headEnd/>
              <a:tailEnd/>
            </a:ln>
          </p:spPr>
          <p:txBody>
            <a:bodyPr/>
            <a:lstStyle/>
            <a:p>
              <a:pPr marL="0" marR="0" lvl="0" indent="0" defTabSz="454025" eaLnBrk="1" fontAlgn="base" latinLnBrk="0" hangingPunct="1">
                <a:lnSpc>
                  <a:spcPct val="100000"/>
                </a:lnSpc>
                <a:spcBef>
                  <a:spcPct val="0"/>
                </a:spcBef>
                <a:spcAft>
                  <a:spcPct val="0"/>
                </a:spcAft>
                <a:buClrTx/>
                <a:buSzTx/>
                <a:buFontTx/>
                <a:buNone/>
                <a:tabLst/>
                <a:defRPr/>
              </a:pPr>
              <a:endParaRPr kumimoji="1"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7" name="Freeform 206"/>
            <p:cNvSpPr>
              <a:spLocks/>
            </p:cNvSpPr>
            <p:nvPr/>
          </p:nvSpPr>
          <p:spPr bwMode="gray">
            <a:xfrm>
              <a:off x="2974975" y="2452688"/>
              <a:ext cx="827088" cy="527050"/>
            </a:xfrm>
            <a:custGeom>
              <a:avLst/>
              <a:gdLst>
                <a:gd name="T0" fmla="*/ 2147483647 w 1972"/>
                <a:gd name="T1" fmla="*/ 2147483647 h 1255"/>
                <a:gd name="T2" fmla="*/ 2147483647 w 1972"/>
                <a:gd name="T3" fmla="*/ 2147483647 h 1255"/>
                <a:gd name="T4" fmla="*/ 2147483647 w 1972"/>
                <a:gd name="T5" fmla="*/ 2147483647 h 1255"/>
                <a:gd name="T6" fmla="*/ 2147483647 w 1972"/>
                <a:gd name="T7" fmla="*/ 2147483647 h 1255"/>
                <a:gd name="T8" fmla="*/ 2147483647 w 1972"/>
                <a:gd name="T9" fmla="*/ 2147483647 h 1255"/>
                <a:gd name="T10" fmla="*/ 2147483647 w 1972"/>
                <a:gd name="T11" fmla="*/ 2147483647 h 1255"/>
                <a:gd name="T12" fmla="*/ 2147483647 w 1972"/>
                <a:gd name="T13" fmla="*/ 2147483647 h 1255"/>
                <a:gd name="T14" fmla="*/ 2147483647 w 1972"/>
                <a:gd name="T15" fmla="*/ 2147483647 h 1255"/>
                <a:gd name="T16" fmla="*/ 2147483647 w 1972"/>
                <a:gd name="T17" fmla="*/ 2147483647 h 1255"/>
                <a:gd name="T18" fmla="*/ 2147483647 w 1972"/>
                <a:gd name="T19" fmla="*/ 2147483647 h 1255"/>
                <a:gd name="T20" fmla="*/ 2147483647 w 1972"/>
                <a:gd name="T21" fmla="*/ 2147483647 h 1255"/>
                <a:gd name="T22" fmla="*/ 2147483647 w 1972"/>
                <a:gd name="T23" fmla="*/ 2147483647 h 1255"/>
                <a:gd name="T24" fmla="*/ 2147483647 w 1972"/>
                <a:gd name="T25" fmla="*/ 2147483647 h 1255"/>
                <a:gd name="T26" fmla="*/ 2147483647 w 1972"/>
                <a:gd name="T27" fmla="*/ 2147483647 h 1255"/>
                <a:gd name="T28" fmla="*/ 2147483647 w 1972"/>
                <a:gd name="T29" fmla="*/ 2147483647 h 1255"/>
                <a:gd name="T30" fmla="*/ 2147483647 w 1972"/>
                <a:gd name="T31" fmla="*/ 2147483647 h 1255"/>
                <a:gd name="T32" fmla="*/ 2147483647 w 1972"/>
                <a:gd name="T33" fmla="*/ 2147483647 h 1255"/>
                <a:gd name="T34" fmla="*/ 2147483647 w 1972"/>
                <a:gd name="T35" fmla="*/ 2147483647 h 1255"/>
                <a:gd name="T36" fmla="*/ 2147483647 w 1972"/>
                <a:gd name="T37" fmla="*/ 2147483647 h 1255"/>
                <a:gd name="T38" fmla="*/ 2147483647 w 1972"/>
                <a:gd name="T39" fmla="*/ 2147483647 h 1255"/>
                <a:gd name="T40" fmla="*/ 2147483647 w 1972"/>
                <a:gd name="T41" fmla="*/ 2147483647 h 1255"/>
                <a:gd name="T42" fmla="*/ 2147483647 w 1972"/>
                <a:gd name="T43" fmla="*/ 2147483647 h 1255"/>
                <a:gd name="T44" fmla="*/ 2147483647 w 1972"/>
                <a:gd name="T45" fmla="*/ 2147483647 h 1255"/>
                <a:gd name="T46" fmla="*/ 2147483647 w 1972"/>
                <a:gd name="T47" fmla="*/ 2147483647 h 1255"/>
                <a:gd name="T48" fmla="*/ 2147483647 w 1972"/>
                <a:gd name="T49" fmla="*/ 2147483647 h 1255"/>
                <a:gd name="T50" fmla="*/ 2147483647 w 1972"/>
                <a:gd name="T51" fmla="*/ 2147483647 h 1255"/>
                <a:gd name="T52" fmla="*/ 2147483647 w 1972"/>
                <a:gd name="T53" fmla="*/ 2147483647 h 1255"/>
                <a:gd name="T54" fmla="*/ 2147483647 w 1972"/>
                <a:gd name="T55" fmla="*/ 2147483647 h 1255"/>
                <a:gd name="T56" fmla="*/ 2147483647 w 1972"/>
                <a:gd name="T57" fmla="*/ 2147483647 h 1255"/>
                <a:gd name="T58" fmla="*/ 2147483647 w 1972"/>
                <a:gd name="T59" fmla="*/ 2147483647 h 1255"/>
                <a:gd name="T60" fmla="*/ 2147483647 w 1972"/>
                <a:gd name="T61" fmla="*/ 2147483647 h 1255"/>
                <a:gd name="T62" fmla="*/ 2147483647 w 1972"/>
                <a:gd name="T63" fmla="*/ 2147483647 h 1255"/>
                <a:gd name="T64" fmla="*/ 2147483647 w 1972"/>
                <a:gd name="T65" fmla="*/ 2147483647 h 1255"/>
                <a:gd name="T66" fmla="*/ 2147483647 w 1972"/>
                <a:gd name="T67" fmla="*/ 0 h 1255"/>
                <a:gd name="T68" fmla="*/ 2147483647 w 1972"/>
                <a:gd name="T69" fmla="*/ 2147483647 h 1255"/>
                <a:gd name="T70" fmla="*/ 2147483647 w 1972"/>
                <a:gd name="T71" fmla="*/ 2147483647 h 1255"/>
                <a:gd name="T72" fmla="*/ 2147483647 w 1972"/>
                <a:gd name="T73" fmla="*/ 2147483647 h 1255"/>
                <a:gd name="T74" fmla="*/ 2147483647 w 1972"/>
                <a:gd name="T75" fmla="*/ 2147483647 h 1255"/>
                <a:gd name="T76" fmla="*/ 2147483647 w 1972"/>
                <a:gd name="T77" fmla="*/ 2147483647 h 1255"/>
                <a:gd name="T78" fmla="*/ 2147483647 w 1972"/>
                <a:gd name="T79" fmla="*/ 2147483647 h 1255"/>
                <a:gd name="T80" fmla="*/ 2147483647 w 1972"/>
                <a:gd name="T81" fmla="*/ 2147483647 h 125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972" h="1255">
                  <a:moveTo>
                    <a:pt x="1937" y="1255"/>
                  </a:moveTo>
                  <a:lnTo>
                    <a:pt x="1937" y="1255"/>
                  </a:lnTo>
                  <a:lnTo>
                    <a:pt x="1515" y="1255"/>
                  </a:lnTo>
                  <a:cubicBezTo>
                    <a:pt x="1497" y="1255"/>
                    <a:pt x="1482" y="1240"/>
                    <a:pt x="1482" y="1222"/>
                  </a:cubicBezTo>
                  <a:cubicBezTo>
                    <a:pt x="1482" y="1203"/>
                    <a:pt x="1497" y="1188"/>
                    <a:pt x="1515" y="1188"/>
                  </a:cubicBezTo>
                  <a:lnTo>
                    <a:pt x="1882" y="1188"/>
                  </a:lnTo>
                  <a:lnTo>
                    <a:pt x="1833" y="1094"/>
                  </a:lnTo>
                  <a:lnTo>
                    <a:pt x="1798" y="1094"/>
                  </a:lnTo>
                  <a:cubicBezTo>
                    <a:pt x="1780" y="1094"/>
                    <a:pt x="1765" y="1079"/>
                    <a:pt x="1765" y="1061"/>
                  </a:cubicBezTo>
                  <a:lnTo>
                    <a:pt x="1765" y="790"/>
                  </a:lnTo>
                  <a:cubicBezTo>
                    <a:pt x="1765" y="782"/>
                    <a:pt x="1765" y="777"/>
                    <a:pt x="1749" y="759"/>
                  </a:cubicBezTo>
                  <a:lnTo>
                    <a:pt x="1717" y="723"/>
                  </a:lnTo>
                  <a:lnTo>
                    <a:pt x="1717" y="1061"/>
                  </a:lnTo>
                  <a:cubicBezTo>
                    <a:pt x="1717" y="1079"/>
                    <a:pt x="1702" y="1094"/>
                    <a:pt x="1684" y="1094"/>
                  </a:cubicBezTo>
                  <a:lnTo>
                    <a:pt x="1593" y="1094"/>
                  </a:lnTo>
                  <a:cubicBezTo>
                    <a:pt x="1574" y="1094"/>
                    <a:pt x="1560" y="1079"/>
                    <a:pt x="1560" y="1061"/>
                  </a:cubicBezTo>
                  <a:lnTo>
                    <a:pt x="1560" y="118"/>
                  </a:lnTo>
                  <a:cubicBezTo>
                    <a:pt x="1560" y="90"/>
                    <a:pt x="1537" y="67"/>
                    <a:pt x="1508" y="67"/>
                  </a:cubicBezTo>
                  <a:lnTo>
                    <a:pt x="1303" y="67"/>
                  </a:lnTo>
                  <a:cubicBezTo>
                    <a:pt x="1275" y="67"/>
                    <a:pt x="1252" y="90"/>
                    <a:pt x="1252" y="118"/>
                  </a:cubicBezTo>
                  <a:lnTo>
                    <a:pt x="1252" y="1061"/>
                  </a:lnTo>
                  <a:cubicBezTo>
                    <a:pt x="1252" y="1079"/>
                    <a:pt x="1237" y="1094"/>
                    <a:pt x="1218" y="1094"/>
                  </a:cubicBezTo>
                  <a:lnTo>
                    <a:pt x="1105" y="1094"/>
                  </a:lnTo>
                  <a:cubicBezTo>
                    <a:pt x="1086" y="1094"/>
                    <a:pt x="1071" y="1079"/>
                    <a:pt x="1071" y="1061"/>
                  </a:cubicBezTo>
                  <a:lnTo>
                    <a:pt x="1071" y="629"/>
                  </a:lnTo>
                  <a:cubicBezTo>
                    <a:pt x="1071" y="614"/>
                    <a:pt x="1067" y="602"/>
                    <a:pt x="1058" y="596"/>
                  </a:cubicBezTo>
                  <a:cubicBezTo>
                    <a:pt x="1048" y="589"/>
                    <a:pt x="1034" y="588"/>
                    <a:pt x="1020" y="592"/>
                  </a:cubicBezTo>
                  <a:lnTo>
                    <a:pt x="772" y="687"/>
                  </a:lnTo>
                  <a:cubicBezTo>
                    <a:pt x="709" y="708"/>
                    <a:pt x="698" y="725"/>
                    <a:pt x="698" y="751"/>
                  </a:cubicBezTo>
                  <a:lnTo>
                    <a:pt x="698" y="1061"/>
                  </a:lnTo>
                  <a:cubicBezTo>
                    <a:pt x="698" y="1079"/>
                    <a:pt x="683" y="1094"/>
                    <a:pt x="665" y="1094"/>
                  </a:cubicBezTo>
                  <a:lnTo>
                    <a:pt x="556" y="1094"/>
                  </a:lnTo>
                  <a:cubicBezTo>
                    <a:pt x="537" y="1094"/>
                    <a:pt x="522" y="1079"/>
                    <a:pt x="522" y="1061"/>
                  </a:cubicBezTo>
                  <a:lnTo>
                    <a:pt x="522" y="329"/>
                  </a:lnTo>
                  <a:cubicBezTo>
                    <a:pt x="522" y="318"/>
                    <a:pt x="519" y="310"/>
                    <a:pt x="513" y="306"/>
                  </a:cubicBezTo>
                  <a:cubicBezTo>
                    <a:pt x="507" y="301"/>
                    <a:pt x="497" y="300"/>
                    <a:pt x="487" y="304"/>
                  </a:cubicBezTo>
                  <a:lnTo>
                    <a:pt x="279" y="383"/>
                  </a:lnTo>
                  <a:cubicBezTo>
                    <a:pt x="226" y="401"/>
                    <a:pt x="222" y="415"/>
                    <a:pt x="222" y="431"/>
                  </a:cubicBezTo>
                  <a:lnTo>
                    <a:pt x="222" y="1061"/>
                  </a:lnTo>
                  <a:cubicBezTo>
                    <a:pt x="222" y="1079"/>
                    <a:pt x="207" y="1094"/>
                    <a:pt x="188" y="1094"/>
                  </a:cubicBezTo>
                  <a:lnTo>
                    <a:pt x="140" y="1094"/>
                  </a:lnTo>
                  <a:lnTo>
                    <a:pt x="90" y="1188"/>
                  </a:lnTo>
                  <a:lnTo>
                    <a:pt x="1292" y="1188"/>
                  </a:lnTo>
                  <a:cubicBezTo>
                    <a:pt x="1310" y="1188"/>
                    <a:pt x="1325" y="1203"/>
                    <a:pt x="1325" y="1222"/>
                  </a:cubicBezTo>
                  <a:cubicBezTo>
                    <a:pt x="1325" y="1240"/>
                    <a:pt x="1310" y="1255"/>
                    <a:pt x="1292" y="1255"/>
                  </a:cubicBezTo>
                  <a:lnTo>
                    <a:pt x="35" y="1255"/>
                  </a:lnTo>
                  <a:cubicBezTo>
                    <a:pt x="24" y="1255"/>
                    <a:pt x="13" y="1249"/>
                    <a:pt x="7" y="1239"/>
                  </a:cubicBezTo>
                  <a:cubicBezTo>
                    <a:pt x="1" y="1229"/>
                    <a:pt x="0" y="1217"/>
                    <a:pt x="6" y="1206"/>
                  </a:cubicBezTo>
                  <a:lnTo>
                    <a:pt x="90" y="1045"/>
                  </a:lnTo>
                  <a:cubicBezTo>
                    <a:pt x="96" y="1034"/>
                    <a:pt x="107" y="1028"/>
                    <a:pt x="120" y="1028"/>
                  </a:cubicBezTo>
                  <a:lnTo>
                    <a:pt x="155" y="1028"/>
                  </a:lnTo>
                  <a:lnTo>
                    <a:pt x="155" y="431"/>
                  </a:lnTo>
                  <a:cubicBezTo>
                    <a:pt x="155" y="354"/>
                    <a:pt x="224" y="331"/>
                    <a:pt x="257" y="320"/>
                  </a:cubicBezTo>
                  <a:lnTo>
                    <a:pt x="464" y="241"/>
                  </a:lnTo>
                  <a:cubicBezTo>
                    <a:pt x="496" y="230"/>
                    <a:pt x="528" y="234"/>
                    <a:pt x="552" y="252"/>
                  </a:cubicBezTo>
                  <a:cubicBezTo>
                    <a:pt x="576" y="269"/>
                    <a:pt x="589" y="296"/>
                    <a:pt x="589" y="329"/>
                  </a:cubicBezTo>
                  <a:lnTo>
                    <a:pt x="589" y="1028"/>
                  </a:lnTo>
                  <a:lnTo>
                    <a:pt x="631" y="1028"/>
                  </a:lnTo>
                  <a:lnTo>
                    <a:pt x="631" y="751"/>
                  </a:lnTo>
                  <a:cubicBezTo>
                    <a:pt x="631" y="664"/>
                    <a:pt x="711" y="637"/>
                    <a:pt x="749" y="624"/>
                  </a:cubicBezTo>
                  <a:lnTo>
                    <a:pt x="998" y="530"/>
                  </a:lnTo>
                  <a:cubicBezTo>
                    <a:pt x="1033" y="518"/>
                    <a:pt x="1070" y="522"/>
                    <a:pt x="1097" y="542"/>
                  </a:cubicBezTo>
                  <a:cubicBezTo>
                    <a:pt x="1123" y="561"/>
                    <a:pt x="1138" y="592"/>
                    <a:pt x="1138" y="629"/>
                  </a:cubicBezTo>
                  <a:lnTo>
                    <a:pt x="1138" y="1028"/>
                  </a:lnTo>
                  <a:lnTo>
                    <a:pt x="1185" y="1028"/>
                  </a:lnTo>
                  <a:lnTo>
                    <a:pt x="1185" y="118"/>
                  </a:lnTo>
                  <a:cubicBezTo>
                    <a:pt x="1185" y="53"/>
                    <a:pt x="1238" y="0"/>
                    <a:pt x="1303" y="0"/>
                  </a:cubicBezTo>
                  <a:lnTo>
                    <a:pt x="1508" y="0"/>
                  </a:lnTo>
                  <a:cubicBezTo>
                    <a:pt x="1573" y="0"/>
                    <a:pt x="1626" y="53"/>
                    <a:pt x="1626" y="118"/>
                  </a:cubicBezTo>
                  <a:lnTo>
                    <a:pt x="1626" y="1028"/>
                  </a:lnTo>
                  <a:lnTo>
                    <a:pt x="1650" y="1028"/>
                  </a:lnTo>
                  <a:lnTo>
                    <a:pt x="1650" y="681"/>
                  </a:lnTo>
                  <a:cubicBezTo>
                    <a:pt x="1650" y="656"/>
                    <a:pt x="1663" y="636"/>
                    <a:pt x="1682" y="628"/>
                  </a:cubicBezTo>
                  <a:cubicBezTo>
                    <a:pt x="1700" y="621"/>
                    <a:pt x="1720" y="626"/>
                    <a:pt x="1733" y="641"/>
                  </a:cubicBezTo>
                  <a:lnTo>
                    <a:pt x="1799" y="714"/>
                  </a:lnTo>
                  <a:cubicBezTo>
                    <a:pt x="1829" y="749"/>
                    <a:pt x="1832" y="769"/>
                    <a:pt x="1832" y="790"/>
                  </a:cubicBezTo>
                  <a:lnTo>
                    <a:pt x="1832" y="1028"/>
                  </a:lnTo>
                  <a:lnTo>
                    <a:pt x="1853" y="1028"/>
                  </a:lnTo>
                  <a:cubicBezTo>
                    <a:pt x="1865" y="1028"/>
                    <a:pt x="1877" y="1034"/>
                    <a:pt x="1882" y="1045"/>
                  </a:cubicBezTo>
                  <a:lnTo>
                    <a:pt x="1967" y="1206"/>
                  </a:lnTo>
                  <a:cubicBezTo>
                    <a:pt x="1972" y="1217"/>
                    <a:pt x="1972" y="1229"/>
                    <a:pt x="1966" y="1239"/>
                  </a:cubicBezTo>
                  <a:cubicBezTo>
                    <a:pt x="1960" y="1249"/>
                    <a:pt x="1949" y="1255"/>
                    <a:pt x="1937" y="1255"/>
                  </a:cubicBezTo>
                  <a:close/>
                </a:path>
              </a:pathLst>
            </a:custGeom>
            <a:solidFill>
              <a:srgbClr val="FEFEFE"/>
            </a:solidFill>
            <a:ln w="0">
              <a:solidFill>
                <a:srgbClr val="000000"/>
              </a:solidFill>
              <a:prstDash val="solid"/>
              <a:round/>
              <a:headEnd/>
              <a:tailEnd/>
            </a:ln>
          </p:spPr>
          <p:txBody>
            <a:bodyPr/>
            <a:lstStyle/>
            <a:p>
              <a:pPr marL="0" marR="0" lvl="0" indent="0" defTabSz="454025" eaLnBrk="1" fontAlgn="base" latinLnBrk="0" hangingPunct="1">
                <a:lnSpc>
                  <a:spcPct val="100000"/>
                </a:lnSpc>
                <a:spcBef>
                  <a:spcPct val="0"/>
                </a:spcBef>
                <a:spcAft>
                  <a:spcPct val="0"/>
                </a:spcAft>
                <a:buClrTx/>
                <a:buSzTx/>
                <a:buFontTx/>
                <a:buNone/>
                <a:tabLst/>
                <a:defRPr/>
              </a:pPr>
              <a:endParaRPr kumimoji="1"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8" name="Freeform 207"/>
            <p:cNvSpPr>
              <a:spLocks/>
            </p:cNvSpPr>
            <p:nvPr/>
          </p:nvSpPr>
          <p:spPr bwMode="gray">
            <a:xfrm>
              <a:off x="3486150" y="2936876"/>
              <a:ext cx="58738" cy="57150"/>
            </a:xfrm>
            <a:custGeom>
              <a:avLst/>
              <a:gdLst>
                <a:gd name="T0" fmla="*/ 2147483647 w 139"/>
                <a:gd name="T1" fmla="*/ 2147483647 h 139"/>
                <a:gd name="T2" fmla="*/ 2147483647 w 139"/>
                <a:gd name="T3" fmla="*/ 2147483647 h 139"/>
                <a:gd name="T4" fmla="*/ 2147483647 w 139"/>
                <a:gd name="T5" fmla="*/ 2147483647 h 139"/>
                <a:gd name="T6" fmla="*/ 0 w 139"/>
                <a:gd name="T7" fmla="*/ 2147483647 h 139"/>
                <a:gd name="T8" fmla="*/ 2147483647 w 139"/>
                <a:gd name="T9" fmla="*/ 0 h 139"/>
                <a:gd name="T10" fmla="*/ 2147483647 w 139"/>
                <a:gd name="T11" fmla="*/ 2147483647 h 1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9" h="139">
                  <a:moveTo>
                    <a:pt x="139" y="70"/>
                  </a:moveTo>
                  <a:lnTo>
                    <a:pt x="139" y="70"/>
                  </a:lnTo>
                  <a:cubicBezTo>
                    <a:pt x="139" y="108"/>
                    <a:pt x="107" y="139"/>
                    <a:pt x="69" y="139"/>
                  </a:cubicBezTo>
                  <a:cubicBezTo>
                    <a:pt x="31" y="139"/>
                    <a:pt x="0" y="108"/>
                    <a:pt x="0" y="70"/>
                  </a:cubicBezTo>
                  <a:cubicBezTo>
                    <a:pt x="0" y="31"/>
                    <a:pt x="31" y="0"/>
                    <a:pt x="69" y="0"/>
                  </a:cubicBezTo>
                  <a:cubicBezTo>
                    <a:pt x="107" y="0"/>
                    <a:pt x="139" y="31"/>
                    <a:pt x="139" y="70"/>
                  </a:cubicBezTo>
                  <a:close/>
                </a:path>
              </a:pathLst>
            </a:custGeom>
            <a:solidFill>
              <a:srgbClr val="FEFEFE"/>
            </a:solidFill>
            <a:ln w="0">
              <a:solidFill>
                <a:srgbClr val="000000"/>
              </a:solidFill>
              <a:prstDash val="solid"/>
              <a:round/>
              <a:headEnd/>
              <a:tailEnd/>
            </a:ln>
          </p:spPr>
          <p:txBody>
            <a:bodyPr/>
            <a:lstStyle/>
            <a:p>
              <a:pPr marL="0" marR="0" lvl="0" indent="0" defTabSz="454025" eaLnBrk="1" fontAlgn="base" latinLnBrk="0" hangingPunct="1">
                <a:lnSpc>
                  <a:spcPct val="100000"/>
                </a:lnSpc>
                <a:spcBef>
                  <a:spcPct val="0"/>
                </a:spcBef>
                <a:spcAft>
                  <a:spcPct val="0"/>
                </a:spcAft>
                <a:buClrTx/>
                <a:buSzTx/>
                <a:buFontTx/>
                <a:buNone/>
                <a:tabLst/>
                <a:defRPr/>
              </a:pPr>
              <a:endParaRPr kumimoji="1"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9" name="Freeform 208"/>
            <p:cNvSpPr>
              <a:spLocks/>
            </p:cNvSpPr>
            <p:nvPr/>
          </p:nvSpPr>
          <p:spPr bwMode="gray">
            <a:xfrm>
              <a:off x="3584575" y="2936876"/>
              <a:ext cx="57150" cy="57150"/>
            </a:xfrm>
            <a:custGeom>
              <a:avLst/>
              <a:gdLst>
                <a:gd name="T0" fmla="*/ 2147483647 w 138"/>
                <a:gd name="T1" fmla="*/ 2147483647 h 139"/>
                <a:gd name="T2" fmla="*/ 2147483647 w 138"/>
                <a:gd name="T3" fmla="*/ 2147483647 h 139"/>
                <a:gd name="T4" fmla="*/ 2147483647 w 138"/>
                <a:gd name="T5" fmla="*/ 2147483647 h 139"/>
                <a:gd name="T6" fmla="*/ 0 w 138"/>
                <a:gd name="T7" fmla="*/ 2147483647 h 139"/>
                <a:gd name="T8" fmla="*/ 2147483647 w 138"/>
                <a:gd name="T9" fmla="*/ 0 h 139"/>
                <a:gd name="T10" fmla="*/ 2147483647 w 138"/>
                <a:gd name="T11" fmla="*/ 2147483647 h 1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8" h="139">
                  <a:moveTo>
                    <a:pt x="138" y="70"/>
                  </a:moveTo>
                  <a:lnTo>
                    <a:pt x="138" y="70"/>
                  </a:lnTo>
                  <a:cubicBezTo>
                    <a:pt x="138" y="108"/>
                    <a:pt x="107" y="139"/>
                    <a:pt x="69" y="139"/>
                  </a:cubicBezTo>
                  <a:cubicBezTo>
                    <a:pt x="31" y="139"/>
                    <a:pt x="0" y="108"/>
                    <a:pt x="0" y="70"/>
                  </a:cubicBezTo>
                  <a:cubicBezTo>
                    <a:pt x="0" y="31"/>
                    <a:pt x="31" y="0"/>
                    <a:pt x="69" y="0"/>
                  </a:cubicBezTo>
                  <a:cubicBezTo>
                    <a:pt x="107" y="0"/>
                    <a:pt x="138" y="31"/>
                    <a:pt x="138" y="70"/>
                  </a:cubicBezTo>
                  <a:close/>
                </a:path>
              </a:pathLst>
            </a:custGeom>
            <a:solidFill>
              <a:srgbClr val="FEFEFE"/>
            </a:solidFill>
            <a:ln w="0">
              <a:solidFill>
                <a:srgbClr val="000000"/>
              </a:solidFill>
              <a:prstDash val="solid"/>
              <a:round/>
              <a:headEnd/>
              <a:tailEnd/>
            </a:ln>
          </p:spPr>
          <p:txBody>
            <a:bodyPr/>
            <a:lstStyle/>
            <a:p>
              <a:pPr marL="0" marR="0" lvl="0" indent="0" defTabSz="454025" eaLnBrk="1" fontAlgn="base" latinLnBrk="0" hangingPunct="1">
                <a:lnSpc>
                  <a:spcPct val="100000"/>
                </a:lnSpc>
                <a:spcBef>
                  <a:spcPct val="0"/>
                </a:spcBef>
                <a:spcAft>
                  <a:spcPct val="0"/>
                </a:spcAft>
                <a:buClrTx/>
                <a:buSzTx/>
                <a:buFontTx/>
                <a:buNone/>
                <a:tabLst/>
                <a:defRPr/>
              </a:pPr>
              <a:endParaRPr kumimoji="1"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50" name="文本框 149"/>
          <p:cNvSpPr txBox="1"/>
          <p:nvPr/>
        </p:nvSpPr>
        <p:spPr bwMode="gray">
          <a:xfrm>
            <a:off x="5469145" y="3779091"/>
            <a:ext cx="1261884" cy="307777"/>
          </a:xfrm>
          <a:prstGeom prst="rect">
            <a:avLst/>
          </a:prstGeom>
          <a:noFill/>
        </p:spPr>
        <p:txBody>
          <a:bodyPr wrap="none" rtlCol="0">
            <a:spAutoFit/>
          </a:bodyPr>
          <a:lstStyle/>
          <a:p>
            <a:pPr algn="ctr"/>
            <a:r>
              <a:rPr lang="zh-CN" altLang="en-US" sz="140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高教、大企业</a:t>
            </a:r>
            <a:endParaRPr lang="en-US" altLang="zh-CN" sz="14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51" name="文本框 150"/>
          <p:cNvSpPr txBox="1"/>
          <p:nvPr/>
        </p:nvSpPr>
        <p:spPr bwMode="gray">
          <a:xfrm>
            <a:off x="5657498" y="2313590"/>
            <a:ext cx="885178" cy="276999"/>
          </a:xfrm>
          <a:prstGeom prst="rect">
            <a:avLst/>
          </a:prstGeom>
          <a:noFill/>
        </p:spPr>
        <p:txBody>
          <a:bodyPr wrap="none" rtlCol="0">
            <a:spAutoFit/>
          </a:bodyPr>
          <a:lstStyle/>
          <a:p>
            <a:pPr algn="ctr"/>
            <a:r>
              <a:rPr lang="zh-CN" altLang="en-US"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虚拟网络</a:t>
            </a:r>
            <a:r>
              <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a:t>
            </a:r>
          </a:p>
        </p:txBody>
      </p:sp>
      <p:sp>
        <p:nvSpPr>
          <p:cNvPr id="152" name="文本框 151"/>
          <p:cNvSpPr txBox="1"/>
          <p:nvPr/>
        </p:nvSpPr>
        <p:spPr bwMode="gray">
          <a:xfrm>
            <a:off x="5657498" y="2608978"/>
            <a:ext cx="885178" cy="276999"/>
          </a:xfrm>
          <a:prstGeom prst="rect">
            <a:avLst/>
          </a:prstGeom>
          <a:noFill/>
        </p:spPr>
        <p:txBody>
          <a:bodyPr wrap="none" rtlCol="0">
            <a:spAutoFit/>
          </a:bodyPr>
          <a:lstStyle/>
          <a:p>
            <a:pPr algn="ctr"/>
            <a:r>
              <a:rPr lang="zh-CN" altLang="en-US" sz="120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虚拟网络</a:t>
            </a:r>
            <a:r>
              <a:rPr lang="en-US" altLang="zh-CN" sz="120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2</a:t>
            </a:r>
            <a:endPar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53" name="文本框 152"/>
          <p:cNvSpPr txBox="1"/>
          <p:nvPr/>
        </p:nvSpPr>
        <p:spPr bwMode="gray">
          <a:xfrm>
            <a:off x="5657498" y="2904366"/>
            <a:ext cx="885178" cy="276999"/>
          </a:xfrm>
          <a:prstGeom prst="rect">
            <a:avLst/>
          </a:prstGeom>
          <a:noFill/>
        </p:spPr>
        <p:txBody>
          <a:bodyPr wrap="none" rtlCol="0">
            <a:spAutoFit/>
          </a:bodyPr>
          <a:lstStyle/>
          <a:p>
            <a:pPr algn="ctr"/>
            <a:r>
              <a:rPr lang="zh-CN" altLang="en-US" sz="120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虚拟网络</a:t>
            </a:r>
            <a:r>
              <a:rPr lang="en-US" altLang="zh-CN" sz="120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3</a:t>
            </a:r>
            <a:endParaRPr lang="en-US" altLang="zh-CN" sz="1200" dirty="0">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54" name="Freeform 186"/>
          <p:cNvSpPr>
            <a:spLocks noEditPoints="1"/>
          </p:cNvSpPr>
          <p:nvPr/>
        </p:nvSpPr>
        <p:spPr bwMode="gray">
          <a:xfrm>
            <a:off x="8381981" y="2621837"/>
            <a:ext cx="419835" cy="421028"/>
          </a:xfrm>
          <a:custGeom>
            <a:avLst/>
            <a:gdLst/>
            <a:ahLst/>
            <a:cxnLst>
              <a:cxn ang="0">
                <a:pos x="12772" y="618"/>
              </a:cxn>
              <a:cxn ang="0">
                <a:pos x="0" y="15651"/>
              </a:cxn>
              <a:cxn ang="0">
                <a:pos x="1941" y="4867"/>
              </a:cxn>
              <a:cxn ang="0">
                <a:pos x="5964" y="4867"/>
              </a:cxn>
              <a:cxn ang="0">
                <a:pos x="7512" y="618"/>
              </a:cxn>
              <a:cxn ang="0">
                <a:pos x="1277" y="12419"/>
              </a:cxn>
              <a:cxn ang="0">
                <a:pos x="5523" y="7916"/>
              </a:cxn>
              <a:cxn ang="0">
                <a:pos x="4108" y="7916"/>
              </a:cxn>
              <a:cxn ang="0">
                <a:pos x="2692" y="7916"/>
              </a:cxn>
              <a:cxn ang="0">
                <a:pos x="1277" y="7916"/>
              </a:cxn>
              <a:cxn ang="0">
                <a:pos x="5523" y="9417"/>
              </a:cxn>
              <a:cxn ang="0">
                <a:pos x="4108" y="9417"/>
              </a:cxn>
              <a:cxn ang="0">
                <a:pos x="2692" y="9417"/>
              </a:cxn>
              <a:cxn ang="0">
                <a:pos x="1277" y="9417"/>
              </a:cxn>
              <a:cxn ang="0">
                <a:pos x="5523" y="10919"/>
              </a:cxn>
              <a:cxn ang="0">
                <a:pos x="4108" y="10919"/>
              </a:cxn>
              <a:cxn ang="0">
                <a:pos x="2692" y="10919"/>
              </a:cxn>
              <a:cxn ang="0">
                <a:pos x="1277" y="10919"/>
              </a:cxn>
              <a:cxn ang="0">
                <a:pos x="5523" y="12419"/>
              </a:cxn>
              <a:cxn ang="0">
                <a:pos x="4108" y="12419"/>
              </a:cxn>
              <a:cxn ang="0">
                <a:pos x="2692" y="12419"/>
              </a:cxn>
              <a:cxn ang="0">
                <a:pos x="8086" y="1911"/>
              </a:cxn>
              <a:cxn ang="0">
                <a:pos x="8086" y="12419"/>
              </a:cxn>
              <a:cxn ang="0">
                <a:pos x="9500" y="12419"/>
              </a:cxn>
              <a:cxn ang="0">
                <a:pos x="10915" y="12419"/>
              </a:cxn>
              <a:cxn ang="0">
                <a:pos x="12331" y="12419"/>
              </a:cxn>
              <a:cxn ang="0">
                <a:pos x="8086" y="10919"/>
              </a:cxn>
              <a:cxn ang="0">
                <a:pos x="9500" y="10919"/>
              </a:cxn>
              <a:cxn ang="0">
                <a:pos x="10915" y="10919"/>
              </a:cxn>
              <a:cxn ang="0">
                <a:pos x="12331" y="10919"/>
              </a:cxn>
              <a:cxn ang="0">
                <a:pos x="8086" y="9417"/>
              </a:cxn>
              <a:cxn ang="0">
                <a:pos x="9500" y="9417"/>
              </a:cxn>
              <a:cxn ang="0">
                <a:pos x="10915" y="9417"/>
              </a:cxn>
              <a:cxn ang="0">
                <a:pos x="12331" y="9417"/>
              </a:cxn>
              <a:cxn ang="0">
                <a:pos x="8086" y="7916"/>
              </a:cxn>
              <a:cxn ang="0">
                <a:pos x="9500" y="7916"/>
              </a:cxn>
              <a:cxn ang="0">
                <a:pos x="10915" y="7916"/>
              </a:cxn>
              <a:cxn ang="0">
                <a:pos x="12331" y="7916"/>
              </a:cxn>
              <a:cxn ang="0">
                <a:pos x="8086" y="6414"/>
              </a:cxn>
              <a:cxn ang="0">
                <a:pos x="9500" y="6414"/>
              </a:cxn>
              <a:cxn ang="0">
                <a:pos x="10915" y="6414"/>
              </a:cxn>
              <a:cxn ang="0">
                <a:pos x="12331" y="6414"/>
              </a:cxn>
              <a:cxn ang="0">
                <a:pos x="8086" y="4914"/>
              </a:cxn>
              <a:cxn ang="0">
                <a:pos x="9500" y="4914"/>
              </a:cxn>
              <a:cxn ang="0">
                <a:pos x="10915" y="4914"/>
              </a:cxn>
              <a:cxn ang="0">
                <a:pos x="12331" y="4914"/>
              </a:cxn>
              <a:cxn ang="0">
                <a:pos x="8086" y="3413"/>
              </a:cxn>
              <a:cxn ang="0">
                <a:pos x="9500" y="3413"/>
              </a:cxn>
              <a:cxn ang="0">
                <a:pos x="10915" y="3413"/>
              </a:cxn>
              <a:cxn ang="0">
                <a:pos x="9500" y="1911"/>
              </a:cxn>
              <a:cxn ang="0">
                <a:pos x="10915" y="1911"/>
              </a:cxn>
              <a:cxn ang="0">
                <a:pos x="12331" y="1911"/>
              </a:cxn>
              <a:cxn ang="0">
                <a:pos x="12331" y="3413"/>
              </a:cxn>
            </a:cxnLst>
            <a:rect l="0" t="0" r="r" b="b"/>
            <a:pathLst>
              <a:path w="16169" h="15651">
                <a:moveTo>
                  <a:pt x="7512" y="618"/>
                </a:moveTo>
                <a:lnTo>
                  <a:pt x="8749" y="618"/>
                </a:lnTo>
                <a:lnTo>
                  <a:pt x="8749" y="0"/>
                </a:lnTo>
                <a:lnTo>
                  <a:pt x="12772" y="0"/>
                </a:lnTo>
                <a:lnTo>
                  <a:pt x="12772" y="618"/>
                </a:lnTo>
                <a:lnTo>
                  <a:pt x="14010" y="618"/>
                </a:lnTo>
                <a:lnTo>
                  <a:pt x="14010" y="13875"/>
                </a:lnTo>
                <a:lnTo>
                  <a:pt x="16169" y="13875"/>
                </a:lnTo>
                <a:lnTo>
                  <a:pt x="16169" y="15651"/>
                </a:lnTo>
                <a:lnTo>
                  <a:pt x="0" y="15651"/>
                </a:lnTo>
                <a:lnTo>
                  <a:pt x="0" y="13875"/>
                </a:lnTo>
                <a:lnTo>
                  <a:pt x="781" y="13875"/>
                </a:lnTo>
                <a:lnTo>
                  <a:pt x="781" y="6103"/>
                </a:lnTo>
                <a:lnTo>
                  <a:pt x="1941" y="6103"/>
                </a:lnTo>
                <a:lnTo>
                  <a:pt x="1941" y="4867"/>
                </a:lnTo>
                <a:lnTo>
                  <a:pt x="4469" y="4867"/>
                </a:lnTo>
                <a:lnTo>
                  <a:pt x="4469" y="2808"/>
                </a:lnTo>
                <a:lnTo>
                  <a:pt x="5088" y="2808"/>
                </a:lnTo>
                <a:lnTo>
                  <a:pt x="5088" y="4867"/>
                </a:lnTo>
                <a:lnTo>
                  <a:pt x="5964" y="4867"/>
                </a:lnTo>
                <a:lnTo>
                  <a:pt x="5964" y="6103"/>
                </a:lnTo>
                <a:lnTo>
                  <a:pt x="7124" y="6103"/>
                </a:lnTo>
                <a:lnTo>
                  <a:pt x="7124" y="13875"/>
                </a:lnTo>
                <a:lnTo>
                  <a:pt x="7512" y="13875"/>
                </a:lnTo>
                <a:lnTo>
                  <a:pt x="7512" y="618"/>
                </a:lnTo>
                <a:close/>
                <a:moveTo>
                  <a:pt x="1277" y="12419"/>
                </a:moveTo>
                <a:lnTo>
                  <a:pt x="2383" y="12419"/>
                </a:lnTo>
                <a:lnTo>
                  <a:pt x="2383" y="13523"/>
                </a:lnTo>
                <a:lnTo>
                  <a:pt x="1277" y="13523"/>
                </a:lnTo>
                <a:lnTo>
                  <a:pt x="1277" y="12419"/>
                </a:lnTo>
                <a:close/>
                <a:moveTo>
                  <a:pt x="5523" y="7916"/>
                </a:moveTo>
                <a:lnTo>
                  <a:pt x="6628" y="7916"/>
                </a:lnTo>
                <a:lnTo>
                  <a:pt x="6628" y="9020"/>
                </a:lnTo>
                <a:lnTo>
                  <a:pt x="5523" y="9020"/>
                </a:lnTo>
                <a:lnTo>
                  <a:pt x="5523" y="7916"/>
                </a:lnTo>
                <a:close/>
                <a:moveTo>
                  <a:pt x="4108" y="7916"/>
                </a:moveTo>
                <a:lnTo>
                  <a:pt x="5213" y="7916"/>
                </a:lnTo>
                <a:lnTo>
                  <a:pt x="5213" y="9020"/>
                </a:lnTo>
                <a:lnTo>
                  <a:pt x="4108" y="9020"/>
                </a:lnTo>
                <a:lnTo>
                  <a:pt x="4108" y="7916"/>
                </a:lnTo>
                <a:close/>
                <a:moveTo>
                  <a:pt x="2692" y="7916"/>
                </a:moveTo>
                <a:lnTo>
                  <a:pt x="3798" y="7916"/>
                </a:lnTo>
                <a:lnTo>
                  <a:pt x="3798" y="9020"/>
                </a:lnTo>
                <a:lnTo>
                  <a:pt x="2692" y="9020"/>
                </a:lnTo>
                <a:lnTo>
                  <a:pt x="2692" y="7916"/>
                </a:lnTo>
                <a:close/>
                <a:moveTo>
                  <a:pt x="1277" y="7916"/>
                </a:moveTo>
                <a:lnTo>
                  <a:pt x="2383" y="7916"/>
                </a:lnTo>
                <a:lnTo>
                  <a:pt x="2383" y="9020"/>
                </a:lnTo>
                <a:lnTo>
                  <a:pt x="1277" y="9020"/>
                </a:lnTo>
                <a:lnTo>
                  <a:pt x="1277" y="7916"/>
                </a:lnTo>
                <a:close/>
                <a:moveTo>
                  <a:pt x="5523" y="9417"/>
                </a:moveTo>
                <a:lnTo>
                  <a:pt x="6628" y="9417"/>
                </a:lnTo>
                <a:lnTo>
                  <a:pt x="6628" y="10521"/>
                </a:lnTo>
                <a:lnTo>
                  <a:pt x="5523" y="10521"/>
                </a:lnTo>
                <a:lnTo>
                  <a:pt x="5523" y="9417"/>
                </a:lnTo>
                <a:close/>
                <a:moveTo>
                  <a:pt x="4108" y="9417"/>
                </a:moveTo>
                <a:lnTo>
                  <a:pt x="5213" y="9417"/>
                </a:lnTo>
                <a:lnTo>
                  <a:pt x="5213" y="10521"/>
                </a:lnTo>
                <a:lnTo>
                  <a:pt x="4108" y="10521"/>
                </a:lnTo>
                <a:lnTo>
                  <a:pt x="4108" y="9417"/>
                </a:lnTo>
                <a:close/>
                <a:moveTo>
                  <a:pt x="2692" y="9417"/>
                </a:moveTo>
                <a:lnTo>
                  <a:pt x="3798" y="9417"/>
                </a:lnTo>
                <a:lnTo>
                  <a:pt x="3798" y="10521"/>
                </a:lnTo>
                <a:lnTo>
                  <a:pt x="2692" y="10521"/>
                </a:lnTo>
                <a:lnTo>
                  <a:pt x="2692" y="9417"/>
                </a:lnTo>
                <a:close/>
                <a:moveTo>
                  <a:pt x="1277" y="9417"/>
                </a:moveTo>
                <a:lnTo>
                  <a:pt x="2383" y="9417"/>
                </a:lnTo>
                <a:lnTo>
                  <a:pt x="2383" y="10521"/>
                </a:lnTo>
                <a:lnTo>
                  <a:pt x="1277" y="10521"/>
                </a:lnTo>
                <a:lnTo>
                  <a:pt x="1277" y="9417"/>
                </a:lnTo>
                <a:close/>
                <a:moveTo>
                  <a:pt x="5523" y="10919"/>
                </a:moveTo>
                <a:lnTo>
                  <a:pt x="6628" y="10919"/>
                </a:lnTo>
                <a:lnTo>
                  <a:pt x="6628" y="12023"/>
                </a:lnTo>
                <a:lnTo>
                  <a:pt x="5523" y="12023"/>
                </a:lnTo>
                <a:lnTo>
                  <a:pt x="5523" y="10919"/>
                </a:lnTo>
                <a:close/>
                <a:moveTo>
                  <a:pt x="4108" y="10919"/>
                </a:moveTo>
                <a:lnTo>
                  <a:pt x="5213" y="10919"/>
                </a:lnTo>
                <a:lnTo>
                  <a:pt x="5213" y="12023"/>
                </a:lnTo>
                <a:lnTo>
                  <a:pt x="4108" y="12023"/>
                </a:lnTo>
                <a:lnTo>
                  <a:pt x="4108" y="10919"/>
                </a:lnTo>
                <a:close/>
                <a:moveTo>
                  <a:pt x="2692" y="10919"/>
                </a:moveTo>
                <a:lnTo>
                  <a:pt x="3798" y="10919"/>
                </a:lnTo>
                <a:lnTo>
                  <a:pt x="3798" y="12023"/>
                </a:lnTo>
                <a:lnTo>
                  <a:pt x="2692" y="12023"/>
                </a:lnTo>
                <a:lnTo>
                  <a:pt x="2692" y="10919"/>
                </a:lnTo>
                <a:close/>
                <a:moveTo>
                  <a:pt x="1277" y="10919"/>
                </a:moveTo>
                <a:lnTo>
                  <a:pt x="2383" y="10919"/>
                </a:lnTo>
                <a:lnTo>
                  <a:pt x="2383" y="12023"/>
                </a:lnTo>
                <a:lnTo>
                  <a:pt x="1277" y="12023"/>
                </a:lnTo>
                <a:lnTo>
                  <a:pt x="1277" y="10919"/>
                </a:lnTo>
                <a:close/>
                <a:moveTo>
                  <a:pt x="5523" y="12419"/>
                </a:moveTo>
                <a:lnTo>
                  <a:pt x="6628" y="12419"/>
                </a:lnTo>
                <a:lnTo>
                  <a:pt x="6628" y="13523"/>
                </a:lnTo>
                <a:lnTo>
                  <a:pt x="5523" y="13523"/>
                </a:lnTo>
                <a:lnTo>
                  <a:pt x="5523" y="12419"/>
                </a:lnTo>
                <a:close/>
                <a:moveTo>
                  <a:pt x="4108" y="12419"/>
                </a:moveTo>
                <a:lnTo>
                  <a:pt x="5213" y="12419"/>
                </a:lnTo>
                <a:lnTo>
                  <a:pt x="5213" y="13523"/>
                </a:lnTo>
                <a:lnTo>
                  <a:pt x="4108" y="13523"/>
                </a:lnTo>
                <a:lnTo>
                  <a:pt x="4108" y="12419"/>
                </a:lnTo>
                <a:close/>
                <a:moveTo>
                  <a:pt x="2692" y="12419"/>
                </a:moveTo>
                <a:lnTo>
                  <a:pt x="3798" y="12419"/>
                </a:lnTo>
                <a:lnTo>
                  <a:pt x="3798" y="13523"/>
                </a:lnTo>
                <a:lnTo>
                  <a:pt x="2692" y="13523"/>
                </a:lnTo>
                <a:lnTo>
                  <a:pt x="2692" y="12419"/>
                </a:lnTo>
                <a:close/>
                <a:moveTo>
                  <a:pt x="8086" y="1911"/>
                </a:moveTo>
                <a:lnTo>
                  <a:pt x="9191" y="1911"/>
                </a:lnTo>
                <a:lnTo>
                  <a:pt x="9191" y="3015"/>
                </a:lnTo>
                <a:lnTo>
                  <a:pt x="8086" y="3015"/>
                </a:lnTo>
                <a:lnTo>
                  <a:pt x="8086" y="1911"/>
                </a:lnTo>
                <a:close/>
                <a:moveTo>
                  <a:pt x="8086" y="12419"/>
                </a:moveTo>
                <a:lnTo>
                  <a:pt x="9191" y="12419"/>
                </a:lnTo>
                <a:lnTo>
                  <a:pt x="9191" y="13523"/>
                </a:lnTo>
                <a:lnTo>
                  <a:pt x="8086" y="13523"/>
                </a:lnTo>
                <a:lnTo>
                  <a:pt x="8086" y="12419"/>
                </a:lnTo>
                <a:close/>
                <a:moveTo>
                  <a:pt x="9500" y="12419"/>
                </a:moveTo>
                <a:lnTo>
                  <a:pt x="10606" y="12419"/>
                </a:lnTo>
                <a:lnTo>
                  <a:pt x="10606" y="13523"/>
                </a:lnTo>
                <a:lnTo>
                  <a:pt x="9500" y="13523"/>
                </a:lnTo>
                <a:lnTo>
                  <a:pt x="9500" y="12419"/>
                </a:lnTo>
                <a:close/>
                <a:moveTo>
                  <a:pt x="10915" y="12419"/>
                </a:moveTo>
                <a:lnTo>
                  <a:pt x="12021" y="12419"/>
                </a:lnTo>
                <a:lnTo>
                  <a:pt x="12021" y="13523"/>
                </a:lnTo>
                <a:lnTo>
                  <a:pt x="10915" y="13523"/>
                </a:lnTo>
                <a:lnTo>
                  <a:pt x="10915" y="12419"/>
                </a:lnTo>
                <a:close/>
                <a:moveTo>
                  <a:pt x="12331" y="12419"/>
                </a:moveTo>
                <a:lnTo>
                  <a:pt x="13436" y="12419"/>
                </a:lnTo>
                <a:lnTo>
                  <a:pt x="13436" y="13523"/>
                </a:lnTo>
                <a:lnTo>
                  <a:pt x="12331" y="13523"/>
                </a:lnTo>
                <a:lnTo>
                  <a:pt x="12331" y="12419"/>
                </a:lnTo>
                <a:close/>
                <a:moveTo>
                  <a:pt x="8086" y="10919"/>
                </a:moveTo>
                <a:lnTo>
                  <a:pt x="9191" y="10919"/>
                </a:lnTo>
                <a:lnTo>
                  <a:pt x="9191" y="12023"/>
                </a:lnTo>
                <a:lnTo>
                  <a:pt x="8086" y="12023"/>
                </a:lnTo>
                <a:lnTo>
                  <a:pt x="8086" y="10919"/>
                </a:lnTo>
                <a:close/>
                <a:moveTo>
                  <a:pt x="9500" y="10919"/>
                </a:moveTo>
                <a:lnTo>
                  <a:pt x="10606" y="10919"/>
                </a:lnTo>
                <a:lnTo>
                  <a:pt x="10606" y="12023"/>
                </a:lnTo>
                <a:lnTo>
                  <a:pt x="9500" y="12023"/>
                </a:lnTo>
                <a:lnTo>
                  <a:pt x="9500" y="10919"/>
                </a:lnTo>
                <a:close/>
                <a:moveTo>
                  <a:pt x="10915" y="10919"/>
                </a:moveTo>
                <a:lnTo>
                  <a:pt x="12021" y="10919"/>
                </a:lnTo>
                <a:lnTo>
                  <a:pt x="12021" y="12023"/>
                </a:lnTo>
                <a:lnTo>
                  <a:pt x="10915" y="12023"/>
                </a:lnTo>
                <a:lnTo>
                  <a:pt x="10915" y="10919"/>
                </a:lnTo>
                <a:close/>
                <a:moveTo>
                  <a:pt x="12331" y="10919"/>
                </a:moveTo>
                <a:lnTo>
                  <a:pt x="13436" y="10919"/>
                </a:lnTo>
                <a:lnTo>
                  <a:pt x="13436" y="12023"/>
                </a:lnTo>
                <a:lnTo>
                  <a:pt x="12331" y="12023"/>
                </a:lnTo>
                <a:lnTo>
                  <a:pt x="12331" y="10919"/>
                </a:lnTo>
                <a:close/>
                <a:moveTo>
                  <a:pt x="8086" y="9417"/>
                </a:moveTo>
                <a:lnTo>
                  <a:pt x="9191" y="9417"/>
                </a:lnTo>
                <a:lnTo>
                  <a:pt x="9191" y="10521"/>
                </a:lnTo>
                <a:lnTo>
                  <a:pt x="8086" y="10521"/>
                </a:lnTo>
                <a:lnTo>
                  <a:pt x="8086" y="9417"/>
                </a:lnTo>
                <a:close/>
                <a:moveTo>
                  <a:pt x="9500" y="9417"/>
                </a:moveTo>
                <a:lnTo>
                  <a:pt x="10606" y="9417"/>
                </a:lnTo>
                <a:lnTo>
                  <a:pt x="10606" y="10521"/>
                </a:lnTo>
                <a:lnTo>
                  <a:pt x="9500" y="10521"/>
                </a:lnTo>
                <a:lnTo>
                  <a:pt x="9500" y="9417"/>
                </a:lnTo>
                <a:close/>
                <a:moveTo>
                  <a:pt x="10915" y="9417"/>
                </a:moveTo>
                <a:lnTo>
                  <a:pt x="12021" y="9417"/>
                </a:lnTo>
                <a:lnTo>
                  <a:pt x="12021" y="10521"/>
                </a:lnTo>
                <a:lnTo>
                  <a:pt x="10915" y="10521"/>
                </a:lnTo>
                <a:lnTo>
                  <a:pt x="10915" y="9417"/>
                </a:lnTo>
                <a:close/>
                <a:moveTo>
                  <a:pt x="12331" y="9417"/>
                </a:moveTo>
                <a:lnTo>
                  <a:pt x="13436" y="9417"/>
                </a:lnTo>
                <a:lnTo>
                  <a:pt x="13436" y="10521"/>
                </a:lnTo>
                <a:lnTo>
                  <a:pt x="12331" y="10521"/>
                </a:lnTo>
                <a:lnTo>
                  <a:pt x="12331" y="9417"/>
                </a:lnTo>
                <a:close/>
                <a:moveTo>
                  <a:pt x="8086" y="7916"/>
                </a:moveTo>
                <a:lnTo>
                  <a:pt x="9191" y="7916"/>
                </a:lnTo>
                <a:lnTo>
                  <a:pt x="9191" y="9020"/>
                </a:lnTo>
                <a:lnTo>
                  <a:pt x="8086" y="9020"/>
                </a:lnTo>
                <a:lnTo>
                  <a:pt x="8086" y="7916"/>
                </a:lnTo>
                <a:close/>
                <a:moveTo>
                  <a:pt x="9500" y="7916"/>
                </a:moveTo>
                <a:lnTo>
                  <a:pt x="10606" y="7916"/>
                </a:lnTo>
                <a:lnTo>
                  <a:pt x="10606" y="9020"/>
                </a:lnTo>
                <a:lnTo>
                  <a:pt x="9500" y="9020"/>
                </a:lnTo>
                <a:lnTo>
                  <a:pt x="9500" y="7916"/>
                </a:lnTo>
                <a:close/>
                <a:moveTo>
                  <a:pt x="10915" y="7916"/>
                </a:moveTo>
                <a:lnTo>
                  <a:pt x="12021" y="7916"/>
                </a:lnTo>
                <a:lnTo>
                  <a:pt x="12021" y="9020"/>
                </a:lnTo>
                <a:lnTo>
                  <a:pt x="10915" y="9020"/>
                </a:lnTo>
                <a:lnTo>
                  <a:pt x="10915" y="7916"/>
                </a:lnTo>
                <a:close/>
                <a:moveTo>
                  <a:pt x="12331" y="7916"/>
                </a:moveTo>
                <a:lnTo>
                  <a:pt x="13436" y="7916"/>
                </a:lnTo>
                <a:lnTo>
                  <a:pt x="13436" y="9020"/>
                </a:lnTo>
                <a:lnTo>
                  <a:pt x="12331" y="9020"/>
                </a:lnTo>
                <a:lnTo>
                  <a:pt x="12331" y="7916"/>
                </a:lnTo>
                <a:close/>
                <a:moveTo>
                  <a:pt x="8086" y="6414"/>
                </a:moveTo>
                <a:lnTo>
                  <a:pt x="9191" y="6414"/>
                </a:lnTo>
                <a:lnTo>
                  <a:pt x="9191" y="7518"/>
                </a:lnTo>
                <a:lnTo>
                  <a:pt x="8086" y="7518"/>
                </a:lnTo>
                <a:lnTo>
                  <a:pt x="8086" y="6414"/>
                </a:lnTo>
                <a:close/>
                <a:moveTo>
                  <a:pt x="9500" y="6414"/>
                </a:moveTo>
                <a:lnTo>
                  <a:pt x="10606" y="6414"/>
                </a:lnTo>
                <a:lnTo>
                  <a:pt x="10606" y="7518"/>
                </a:lnTo>
                <a:lnTo>
                  <a:pt x="9500" y="7518"/>
                </a:lnTo>
                <a:lnTo>
                  <a:pt x="9500" y="6414"/>
                </a:lnTo>
                <a:close/>
                <a:moveTo>
                  <a:pt x="10915" y="6414"/>
                </a:moveTo>
                <a:lnTo>
                  <a:pt x="12021" y="6414"/>
                </a:lnTo>
                <a:lnTo>
                  <a:pt x="12021" y="7518"/>
                </a:lnTo>
                <a:lnTo>
                  <a:pt x="10915" y="7518"/>
                </a:lnTo>
                <a:lnTo>
                  <a:pt x="10915" y="6414"/>
                </a:lnTo>
                <a:close/>
                <a:moveTo>
                  <a:pt x="12331" y="6414"/>
                </a:moveTo>
                <a:lnTo>
                  <a:pt x="13436" y="6414"/>
                </a:lnTo>
                <a:lnTo>
                  <a:pt x="13436" y="7518"/>
                </a:lnTo>
                <a:lnTo>
                  <a:pt x="12331" y="7518"/>
                </a:lnTo>
                <a:lnTo>
                  <a:pt x="12331" y="6414"/>
                </a:lnTo>
                <a:close/>
                <a:moveTo>
                  <a:pt x="8086" y="4914"/>
                </a:moveTo>
                <a:lnTo>
                  <a:pt x="9191" y="4914"/>
                </a:lnTo>
                <a:lnTo>
                  <a:pt x="9191" y="6018"/>
                </a:lnTo>
                <a:lnTo>
                  <a:pt x="8086" y="6018"/>
                </a:lnTo>
                <a:lnTo>
                  <a:pt x="8086" y="4914"/>
                </a:lnTo>
                <a:close/>
                <a:moveTo>
                  <a:pt x="9500" y="4914"/>
                </a:moveTo>
                <a:lnTo>
                  <a:pt x="10606" y="4914"/>
                </a:lnTo>
                <a:lnTo>
                  <a:pt x="10606" y="6018"/>
                </a:lnTo>
                <a:lnTo>
                  <a:pt x="9500" y="6018"/>
                </a:lnTo>
                <a:lnTo>
                  <a:pt x="9500" y="4914"/>
                </a:lnTo>
                <a:close/>
                <a:moveTo>
                  <a:pt x="10915" y="4914"/>
                </a:moveTo>
                <a:lnTo>
                  <a:pt x="12021" y="4914"/>
                </a:lnTo>
                <a:lnTo>
                  <a:pt x="12021" y="6018"/>
                </a:lnTo>
                <a:lnTo>
                  <a:pt x="10915" y="6018"/>
                </a:lnTo>
                <a:lnTo>
                  <a:pt x="10915" y="4914"/>
                </a:lnTo>
                <a:close/>
                <a:moveTo>
                  <a:pt x="12331" y="4914"/>
                </a:moveTo>
                <a:lnTo>
                  <a:pt x="13436" y="4914"/>
                </a:lnTo>
                <a:lnTo>
                  <a:pt x="13436" y="6018"/>
                </a:lnTo>
                <a:lnTo>
                  <a:pt x="12331" y="6018"/>
                </a:lnTo>
                <a:lnTo>
                  <a:pt x="12331" y="4914"/>
                </a:lnTo>
                <a:close/>
                <a:moveTo>
                  <a:pt x="8086" y="3413"/>
                </a:moveTo>
                <a:lnTo>
                  <a:pt x="9191" y="3413"/>
                </a:lnTo>
                <a:lnTo>
                  <a:pt x="9191" y="4516"/>
                </a:lnTo>
                <a:lnTo>
                  <a:pt x="8086" y="4516"/>
                </a:lnTo>
                <a:lnTo>
                  <a:pt x="8086" y="3413"/>
                </a:lnTo>
                <a:close/>
                <a:moveTo>
                  <a:pt x="9500" y="3413"/>
                </a:moveTo>
                <a:lnTo>
                  <a:pt x="10606" y="3413"/>
                </a:lnTo>
                <a:lnTo>
                  <a:pt x="10606" y="4516"/>
                </a:lnTo>
                <a:lnTo>
                  <a:pt x="9500" y="4516"/>
                </a:lnTo>
                <a:lnTo>
                  <a:pt x="9500" y="3413"/>
                </a:lnTo>
                <a:close/>
                <a:moveTo>
                  <a:pt x="10915" y="3413"/>
                </a:moveTo>
                <a:lnTo>
                  <a:pt x="12021" y="3413"/>
                </a:lnTo>
                <a:lnTo>
                  <a:pt x="12021" y="4516"/>
                </a:lnTo>
                <a:lnTo>
                  <a:pt x="10915" y="4516"/>
                </a:lnTo>
                <a:lnTo>
                  <a:pt x="10915" y="3413"/>
                </a:lnTo>
                <a:close/>
                <a:moveTo>
                  <a:pt x="9500" y="1911"/>
                </a:moveTo>
                <a:lnTo>
                  <a:pt x="10606" y="1911"/>
                </a:lnTo>
                <a:lnTo>
                  <a:pt x="10606" y="3015"/>
                </a:lnTo>
                <a:lnTo>
                  <a:pt x="9500" y="3015"/>
                </a:lnTo>
                <a:lnTo>
                  <a:pt x="9500" y="1911"/>
                </a:lnTo>
                <a:close/>
                <a:moveTo>
                  <a:pt x="10915" y="1911"/>
                </a:moveTo>
                <a:lnTo>
                  <a:pt x="12021" y="1911"/>
                </a:lnTo>
                <a:lnTo>
                  <a:pt x="12021" y="3015"/>
                </a:lnTo>
                <a:lnTo>
                  <a:pt x="10915" y="3015"/>
                </a:lnTo>
                <a:lnTo>
                  <a:pt x="10915" y="1911"/>
                </a:lnTo>
                <a:close/>
                <a:moveTo>
                  <a:pt x="12331" y="1911"/>
                </a:moveTo>
                <a:lnTo>
                  <a:pt x="13436" y="1911"/>
                </a:lnTo>
                <a:lnTo>
                  <a:pt x="13436" y="3015"/>
                </a:lnTo>
                <a:lnTo>
                  <a:pt x="12331" y="3015"/>
                </a:lnTo>
                <a:lnTo>
                  <a:pt x="12331" y="1911"/>
                </a:lnTo>
                <a:close/>
                <a:moveTo>
                  <a:pt x="12331" y="3413"/>
                </a:moveTo>
                <a:lnTo>
                  <a:pt x="13436" y="3413"/>
                </a:lnTo>
                <a:lnTo>
                  <a:pt x="13436" y="4516"/>
                </a:lnTo>
                <a:lnTo>
                  <a:pt x="12331" y="4516"/>
                </a:lnTo>
                <a:lnTo>
                  <a:pt x="12331" y="3413"/>
                </a:lnTo>
                <a:close/>
              </a:path>
            </a:pathLst>
          </a:custGeom>
          <a:solidFill>
            <a:schemeClr val="bg1">
              <a:lumMod val="50000"/>
            </a:schemeClr>
          </a:solidFill>
          <a:ln w="9525">
            <a:noFill/>
            <a:round/>
            <a:headEnd/>
            <a:tailEnd/>
          </a:ln>
        </p:spPr>
        <p:txBody>
          <a:bodyPr/>
          <a:lstStyle/>
          <a:p>
            <a:pPr algn="ctr">
              <a:defRPr/>
            </a:pPr>
            <a:endParaRPr lang="zh-CN" altLang="en-US">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55" name="组合 44284"/>
          <p:cNvGrpSpPr>
            <a:grpSpLocks/>
          </p:cNvGrpSpPr>
          <p:nvPr/>
        </p:nvGrpSpPr>
        <p:grpSpPr bwMode="gray">
          <a:xfrm>
            <a:off x="10658600" y="3207248"/>
            <a:ext cx="927091" cy="606021"/>
            <a:chOff x="2974975" y="2452688"/>
            <a:chExt cx="827088" cy="541338"/>
          </a:xfrm>
        </p:grpSpPr>
        <p:sp>
          <p:nvSpPr>
            <p:cNvPr id="156" name="Freeform 196"/>
            <p:cNvSpPr>
              <a:spLocks/>
            </p:cNvSpPr>
            <p:nvPr/>
          </p:nvSpPr>
          <p:spPr bwMode="gray">
            <a:xfrm>
              <a:off x="3084513" y="2655888"/>
              <a:ext cx="36513" cy="36513"/>
            </a:xfrm>
            <a:custGeom>
              <a:avLst/>
              <a:gdLst>
                <a:gd name="T0" fmla="*/ 2147483647 w 87"/>
                <a:gd name="T1" fmla="*/ 2147483647 h 86"/>
                <a:gd name="T2" fmla="*/ 2147483647 w 87"/>
                <a:gd name="T3" fmla="*/ 2147483647 h 86"/>
                <a:gd name="T4" fmla="*/ 0 w 87"/>
                <a:gd name="T5" fmla="*/ 2147483647 h 86"/>
                <a:gd name="T6" fmla="*/ 0 w 87"/>
                <a:gd name="T7" fmla="*/ 0 h 86"/>
                <a:gd name="T8" fmla="*/ 2147483647 w 87"/>
                <a:gd name="T9" fmla="*/ 0 h 86"/>
                <a:gd name="T10" fmla="*/ 2147483647 w 87"/>
                <a:gd name="T11" fmla="*/ 2147483647 h 8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6">
                  <a:moveTo>
                    <a:pt x="87" y="86"/>
                  </a:moveTo>
                  <a:lnTo>
                    <a:pt x="87" y="86"/>
                  </a:lnTo>
                  <a:lnTo>
                    <a:pt x="0" y="86"/>
                  </a:lnTo>
                  <a:lnTo>
                    <a:pt x="0" y="0"/>
                  </a:lnTo>
                  <a:lnTo>
                    <a:pt x="87" y="0"/>
                  </a:lnTo>
                  <a:lnTo>
                    <a:pt x="87" y="86"/>
                  </a:lnTo>
                  <a:close/>
                </a:path>
              </a:pathLst>
            </a:custGeom>
            <a:solidFill>
              <a:srgbClr val="FEFEFE"/>
            </a:solidFill>
            <a:ln w="0">
              <a:solidFill>
                <a:srgbClr val="000000"/>
              </a:solidFill>
              <a:prstDash val="solid"/>
              <a:round/>
              <a:headEnd/>
              <a:tailEnd/>
            </a:ln>
          </p:spPr>
          <p:txBody>
            <a:bodyPr/>
            <a:lstStyle/>
            <a:p>
              <a:pPr marL="0" marR="0" lvl="0" indent="0" defTabSz="454025" eaLnBrk="1" fontAlgn="base" latinLnBrk="0" hangingPunct="1">
                <a:lnSpc>
                  <a:spcPct val="100000"/>
                </a:lnSpc>
                <a:spcBef>
                  <a:spcPct val="0"/>
                </a:spcBef>
                <a:spcAft>
                  <a:spcPct val="0"/>
                </a:spcAft>
                <a:buClrTx/>
                <a:buSzTx/>
                <a:buFontTx/>
                <a:buNone/>
                <a:tabLst/>
                <a:defRPr/>
              </a:pPr>
              <a:endParaRPr kumimoji="1"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7" name="Freeform 197"/>
            <p:cNvSpPr>
              <a:spLocks/>
            </p:cNvSpPr>
            <p:nvPr/>
          </p:nvSpPr>
          <p:spPr bwMode="gray">
            <a:xfrm>
              <a:off x="3278188" y="2778126"/>
              <a:ext cx="22225" cy="36513"/>
            </a:xfrm>
            <a:custGeom>
              <a:avLst/>
              <a:gdLst>
                <a:gd name="T0" fmla="*/ 2147483647 w 54"/>
                <a:gd name="T1" fmla="*/ 2147483647 h 87"/>
                <a:gd name="T2" fmla="*/ 2147483647 w 54"/>
                <a:gd name="T3" fmla="*/ 2147483647 h 87"/>
                <a:gd name="T4" fmla="*/ 0 w 54"/>
                <a:gd name="T5" fmla="*/ 2147483647 h 87"/>
                <a:gd name="T6" fmla="*/ 0 w 54"/>
                <a:gd name="T7" fmla="*/ 0 h 87"/>
                <a:gd name="T8" fmla="*/ 2147483647 w 54"/>
                <a:gd name="T9" fmla="*/ 0 h 87"/>
                <a:gd name="T10" fmla="*/ 2147483647 w 54"/>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4" h="87">
                  <a:moveTo>
                    <a:pt x="54" y="87"/>
                  </a:moveTo>
                  <a:lnTo>
                    <a:pt x="54" y="87"/>
                  </a:lnTo>
                  <a:lnTo>
                    <a:pt x="0" y="87"/>
                  </a:lnTo>
                  <a:lnTo>
                    <a:pt x="0" y="0"/>
                  </a:lnTo>
                  <a:lnTo>
                    <a:pt x="54" y="0"/>
                  </a:lnTo>
                  <a:lnTo>
                    <a:pt x="54" y="87"/>
                  </a:lnTo>
                  <a:close/>
                </a:path>
              </a:pathLst>
            </a:custGeom>
            <a:solidFill>
              <a:srgbClr val="FEFEFE"/>
            </a:solidFill>
            <a:ln w="0">
              <a:solidFill>
                <a:srgbClr val="000000"/>
              </a:solidFill>
              <a:prstDash val="solid"/>
              <a:round/>
              <a:headEnd/>
              <a:tailEnd/>
            </a:ln>
          </p:spPr>
          <p:txBody>
            <a:bodyPr/>
            <a:lstStyle/>
            <a:p>
              <a:pPr marL="0" marR="0" lvl="0" indent="0" defTabSz="454025" eaLnBrk="1" fontAlgn="base" latinLnBrk="0" hangingPunct="1">
                <a:lnSpc>
                  <a:spcPct val="100000"/>
                </a:lnSpc>
                <a:spcBef>
                  <a:spcPct val="0"/>
                </a:spcBef>
                <a:spcAft>
                  <a:spcPct val="0"/>
                </a:spcAft>
                <a:buClrTx/>
                <a:buSzTx/>
                <a:buFontTx/>
                <a:buNone/>
                <a:tabLst/>
                <a:defRPr/>
              </a:pPr>
              <a:endParaRPr kumimoji="1"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8" name="Freeform 198"/>
            <p:cNvSpPr>
              <a:spLocks/>
            </p:cNvSpPr>
            <p:nvPr/>
          </p:nvSpPr>
          <p:spPr bwMode="gray">
            <a:xfrm>
              <a:off x="3517900" y="2519363"/>
              <a:ext cx="19050" cy="346075"/>
            </a:xfrm>
            <a:custGeom>
              <a:avLst/>
              <a:gdLst>
                <a:gd name="T0" fmla="*/ 2147483647 w 42"/>
                <a:gd name="T1" fmla="*/ 2147483647 h 827"/>
                <a:gd name="T2" fmla="*/ 2147483647 w 42"/>
                <a:gd name="T3" fmla="*/ 2147483647 h 827"/>
                <a:gd name="T4" fmla="*/ 0 w 42"/>
                <a:gd name="T5" fmla="*/ 2147483647 h 827"/>
                <a:gd name="T6" fmla="*/ 0 w 42"/>
                <a:gd name="T7" fmla="*/ 0 h 827"/>
                <a:gd name="T8" fmla="*/ 2147483647 w 42"/>
                <a:gd name="T9" fmla="*/ 0 h 827"/>
                <a:gd name="T10" fmla="*/ 2147483647 w 42"/>
                <a:gd name="T11" fmla="*/ 2147483647 h 8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 h="827">
                  <a:moveTo>
                    <a:pt x="42" y="827"/>
                  </a:moveTo>
                  <a:lnTo>
                    <a:pt x="42" y="827"/>
                  </a:lnTo>
                  <a:lnTo>
                    <a:pt x="0" y="827"/>
                  </a:lnTo>
                  <a:lnTo>
                    <a:pt x="0" y="0"/>
                  </a:lnTo>
                  <a:lnTo>
                    <a:pt x="42" y="0"/>
                  </a:lnTo>
                  <a:lnTo>
                    <a:pt x="42" y="827"/>
                  </a:lnTo>
                  <a:close/>
                </a:path>
              </a:pathLst>
            </a:custGeom>
            <a:solidFill>
              <a:srgbClr val="FEFEFE"/>
            </a:solidFill>
            <a:ln w="0">
              <a:solidFill>
                <a:srgbClr val="000000"/>
              </a:solidFill>
              <a:prstDash val="solid"/>
              <a:round/>
              <a:headEnd/>
              <a:tailEnd/>
            </a:ln>
          </p:spPr>
          <p:txBody>
            <a:bodyPr/>
            <a:lstStyle/>
            <a:p>
              <a:pPr marL="0" marR="0" lvl="0" indent="0" defTabSz="454025" eaLnBrk="1" fontAlgn="base" latinLnBrk="0" hangingPunct="1">
                <a:lnSpc>
                  <a:spcPct val="100000"/>
                </a:lnSpc>
                <a:spcBef>
                  <a:spcPct val="0"/>
                </a:spcBef>
                <a:spcAft>
                  <a:spcPct val="0"/>
                </a:spcAft>
                <a:buClrTx/>
                <a:buSzTx/>
                <a:buFontTx/>
                <a:buNone/>
                <a:tabLst/>
                <a:defRPr/>
              </a:pPr>
              <a:endParaRPr kumimoji="1"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9" name="Freeform 199"/>
            <p:cNvSpPr>
              <a:spLocks/>
            </p:cNvSpPr>
            <p:nvPr/>
          </p:nvSpPr>
          <p:spPr bwMode="gray">
            <a:xfrm>
              <a:off x="3556000" y="2519363"/>
              <a:ext cx="17463" cy="346075"/>
            </a:xfrm>
            <a:custGeom>
              <a:avLst/>
              <a:gdLst>
                <a:gd name="T0" fmla="*/ 2147483647 w 42"/>
                <a:gd name="T1" fmla="*/ 2147483647 h 827"/>
                <a:gd name="T2" fmla="*/ 2147483647 w 42"/>
                <a:gd name="T3" fmla="*/ 2147483647 h 827"/>
                <a:gd name="T4" fmla="*/ 0 w 42"/>
                <a:gd name="T5" fmla="*/ 2147483647 h 827"/>
                <a:gd name="T6" fmla="*/ 0 w 42"/>
                <a:gd name="T7" fmla="*/ 0 h 827"/>
                <a:gd name="T8" fmla="*/ 2147483647 w 42"/>
                <a:gd name="T9" fmla="*/ 0 h 827"/>
                <a:gd name="T10" fmla="*/ 2147483647 w 42"/>
                <a:gd name="T11" fmla="*/ 2147483647 h 8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 h="827">
                  <a:moveTo>
                    <a:pt x="42" y="827"/>
                  </a:moveTo>
                  <a:lnTo>
                    <a:pt x="42" y="827"/>
                  </a:lnTo>
                  <a:lnTo>
                    <a:pt x="0" y="827"/>
                  </a:lnTo>
                  <a:lnTo>
                    <a:pt x="0" y="0"/>
                  </a:lnTo>
                  <a:lnTo>
                    <a:pt x="42" y="0"/>
                  </a:lnTo>
                  <a:lnTo>
                    <a:pt x="42" y="827"/>
                  </a:lnTo>
                  <a:close/>
                </a:path>
              </a:pathLst>
            </a:custGeom>
            <a:solidFill>
              <a:srgbClr val="FEFEFE"/>
            </a:solidFill>
            <a:ln w="0">
              <a:solidFill>
                <a:srgbClr val="000000"/>
              </a:solidFill>
              <a:prstDash val="solid"/>
              <a:round/>
              <a:headEnd/>
              <a:tailEnd/>
            </a:ln>
          </p:spPr>
          <p:txBody>
            <a:bodyPr/>
            <a:lstStyle/>
            <a:p>
              <a:pPr marL="0" marR="0" lvl="0" indent="0" defTabSz="454025" eaLnBrk="1" fontAlgn="base" latinLnBrk="0" hangingPunct="1">
                <a:lnSpc>
                  <a:spcPct val="100000"/>
                </a:lnSpc>
                <a:spcBef>
                  <a:spcPct val="0"/>
                </a:spcBef>
                <a:spcAft>
                  <a:spcPct val="0"/>
                </a:spcAft>
                <a:buClrTx/>
                <a:buSzTx/>
                <a:buFontTx/>
                <a:buNone/>
                <a:tabLst/>
                <a:defRPr/>
              </a:pPr>
              <a:endParaRPr kumimoji="1"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0" name="Freeform 200"/>
            <p:cNvSpPr>
              <a:spLocks/>
            </p:cNvSpPr>
            <p:nvPr/>
          </p:nvSpPr>
          <p:spPr bwMode="gray">
            <a:xfrm>
              <a:off x="3592513" y="2519363"/>
              <a:ext cx="17463" cy="346075"/>
            </a:xfrm>
            <a:custGeom>
              <a:avLst/>
              <a:gdLst>
                <a:gd name="T0" fmla="*/ 2147483647 w 42"/>
                <a:gd name="T1" fmla="*/ 2147483647 h 827"/>
                <a:gd name="T2" fmla="*/ 2147483647 w 42"/>
                <a:gd name="T3" fmla="*/ 2147483647 h 827"/>
                <a:gd name="T4" fmla="*/ 0 w 42"/>
                <a:gd name="T5" fmla="*/ 2147483647 h 827"/>
                <a:gd name="T6" fmla="*/ 0 w 42"/>
                <a:gd name="T7" fmla="*/ 0 h 827"/>
                <a:gd name="T8" fmla="*/ 2147483647 w 42"/>
                <a:gd name="T9" fmla="*/ 0 h 827"/>
                <a:gd name="T10" fmla="*/ 2147483647 w 42"/>
                <a:gd name="T11" fmla="*/ 2147483647 h 8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 h="827">
                  <a:moveTo>
                    <a:pt x="42" y="827"/>
                  </a:moveTo>
                  <a:lnTo>
                    <a:pt x="42" y="827"/>
                  </a:lnTo>
                  <a:lnTo>
                    <a:pt x="0" y="827"/>
                  </a:lnTo>
                  <a:lnTo>
                    <a:pt x="0" y="0"/>
                  </a:lnTo>
                  <a:lnTo>
                    <a:pt x="42" y="0"/>
                  </a:lnTo>
                  <a:lnTo>
                    <a:pt x="42" y="827"/>
                  </a:lnTo>
                  <a:close/>
                </a:path>
              </a:pathLst>
            </a:custGeom>
            <a:solidFill>
              <a:srgbClr val="FEFEFE"/>
            </a:solidFill>
            <a:ln w="0">
              <a:solidFill>
                <a:srgbClr val="000000"/>
              </a:solidFill>
              <a:prstDash val="solid"/>
              <a:round/>
              <a:headEnd/>
              <a:tailEnd/>
            </a:ln>
          </p:spPr>
          <p:txBody>
            <a:bodyPr/>
            <a:lstStyle/>
            <a:p>
              <a:pPr marL="0" marR="0" lvl="0" indent="0" defTabSz="454025" eaLnBrk="1" fontAlgn="base" latinLnBrk="0" hangingPunct="1">
                <a:lnSpc>
                  <a:spcPct val="100000"/>
                </a:lnSpc>
                <a:spcBef>
                  <a:spcPct val="0"/>
                </a:spcBef>
                <a:spcAft>
                  <a:spcPct val="0"/>
                </a:spcAft>
                <a:buClrTx/>
                <a:buSzTx/>
                <a:buFontTx/>
                <a:buNone/>
                <a:tabLst/>
                <a:defRPr/>
              </a:pPr>
              <a:endParaRPr kumimoji="1"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1" name="Freeform 201"/>
            <p:cNvSpPr>
              <a:spLocks/>
            </p:cNvSpPr>
            <p:nvPr/>
          </p:nvSpPr>
          <p:spPr bwMode="gray">
            <a:xfrm>
              <a:off x="3309938" y="2778126"/>
              <a:ext cx="38100" cy="36513"/>
            </a:xfrm>
            <a:custGeom>
              <a:avLst/>
              <a:gdLst>
                <a:gd name="T0" fmla="*/ 2147483647 w 92"/>
                <a:gd name="T1" fmla="*/ 2147483647 h 87"/>
                <a:gd name="T2" fmla="*/ 2147483647 w 92"/>
                <a:gd name="T3" fmla="*/ 2147483647 h 87"/>
                <a:gd name="T4" fmla="*/ 0 w 92"/>
                <a:gd name="T5" fmla="*/ 2147483647 h 87"/>
                <a:gd name="T6" fmla="*/ 0 w 92"/>
                <a:gd name="T7" fmla="*/ 0 h 87"/>
                <a:gd name="T8" fmla="*/ 2147483647 w 92"/>
                <a:gd name="T9" fmla="*/ 0 h 87"/>
                <a:gd name="T10" fmla="*/ 2147483647 w 92"/>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2" h="87">
                  <a:moveTo>
                    <a:pt x="92" y="87"/>
                  </a:moveTo>
                  <a:lnTo>
                    <a:pt x="92" y="87"/>
                  </a:lnTo>
                  <a:lnTo>
                    <a:pt x="0" y="87"/>
                  </a:lnTo>
                  <a:lnTo>
                    <a:pt x="0" y="0"/>
                  </a:lnTo>
                  <a:lnTo>
                    <a:pt x="92" y="0"/>
                  </a:lnTo>
                  <a:lnTo>
                    <a:pt x="92" y="87"/>
                  </a:lnTo>
                  <a:close/>
                </a:path>
              </a:pathLst>
            </a:custGeom>
            <a:solidFill>
              <a:srgbClr val="FEFEFE"/>
            </a:solidFill>
            <a:ln w="0">
              <a:solidFill>
                <a:srgbClr val="000000"/>
              </a:solidFill>
              <a:prstDash val="solid"/>
              <a:round/>
              <a:headEnd/>
              <a:tailEnd/>
            </a:ln>
          </p:spPr>
          <p:txBody>
            <a:bodyPr/>
            <a:lstStyle/>
            <a:p>
              <a:pPr marL="0" marR="0" lvl="0" indent="0" defTabSz="454025" eaLnBrk="1" fontAlgn="base" latinLnBrk="0" hangingPunct="1">
                <a:lnSpc>
                  <a:spcPct val="100000"/>
                </a:lnSpc>
                <a:spcBef>
                  <a:spcPct val="0"/>
                </a:spcBef>
                <a:spcAft>
                  <a:spcPct val="0"/>
                </a:spcAft>
                <a:buClrTx/>
                <a:buSzTx/>
                <a:buFontTx/>
                <a:buNone/>
                <a:tabLst/>
                <a:defRPr/>
              </a:pPr>
              <a:endParaRPr kumimoji="1"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2" name="Freeform 202"/>
            <p:cNvSpPr>
              <a:spLocks/>
            </p:cNvSpPr>
            <p:nvPr/>
          </p:nvSpPr>
          <p:spPr bwMode="gray">
            <a:xfrm>
              <a:off x="3360738" y="2778126"/>
              <a:ext cx="50800" cy="36513"/>
            </a:xfrm>
            <a:custGeom>
              <a:avLst/>
              <a:gdLst>
                <a:gd name="T0" fmla="*/ 2147483647 w 123"/>
                <a:gd name="T1" fmla="*/ 2147483647 h 87"/>
                <a:gd name="T2" fmla="*/ 2147483647 w 123"/>
                <a:gd name="T3" fmla="*/ 2147483647 h 87"/>
                <a:gd name="T4" fmla="*/ 0 w 123"/>
                <a:gd name="T5" fmla="*/ 2147483647 h 87"/>
                <a:gd name="T6" fmla="*/ 0 w 123"/>
                <a:gd name="T7" fmla="*/ 0 h 87"/>
                <a:gd name="T8" fmla="*/ 2147483647 w 123"/>
                <a:gd name="T9" fmla="*/ 0 h 87"/>
                <a:gd name="T10" fmla="*/ 2147483647 w 123"/>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3" h="87">
                  <a:moveTo>
                    <a:pt x="123" y="87"/>
                  </a:moveTo>
                  <a:lnTo>
                    <a:pt x="123" y="87"/>
                  </a:lnTo>
                  <a:lnTo>
                    <a:pt x="0" y="87"/>
                  </a:lnTo>
                  <a:lnTo>
                    <a:pt x="0" y="0"/>
                  </a:lnTo>
                  <a:lnTo>
                    <a:pt x="123" y="0"/>
                  </a:lnTo>
                  <a:lnTo>
                    <a:pt x="123" y="87"/>
                  </a:lnTo>
                  <a:close/>
                </a:path>
              </a:pathLst>
            </a:custGeom>
            <a:solidFill>
              <a:srgbClr val="FEFEFE"/>
            </a:solidFill>
            <a:ln w="0">
              <a:solidFill>
                <a:srgbClr val="000000"/>
              </a:solidFill>
              <a:prstDash val="solid"/>
              <a:round/>
              <a:headEnd/>
              <a:tailEnd/>
            </a:ln>
          </p:spPr>
          <p:txBody>
            <a:bodyPr/>
            <a:lstStyle/>
            <a:p>
              <a:pPr marL="0" marR="0" lvl="0" indent="0" defTabSz="454025" eaLnBrk="1" fontAlgn="base" latinLnBrk="0" hangingPunct="1">
                <a:lnSpc>
                  <a:spcPct val="100000"/>
                </a:lnSpc>
                <a:spcBef>
                  <a:spcPct val="0"/>
                </a:spcBef>
                <a:spcAft>
                  <a:spcPct val="0"/>
                </a:spcAft>
                <a:buClrTx/>
                <a:buSzTx/>
                <a:buFontTx/>
                <a:buNone/>
                <a:tabLst/>
                <a:defRPr/>
              </a:pPr>
              <a:endParaRPr kumimoji="1"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3" name="Freeform 203"/>
            <p:cNvSpPr>
              <a:spLocks/>
            </p:cNvSpPr>
            <p:nvPr/>
          </p:nvSpPr>
          <p:spPr bwMode="gray">
            <a:xfrm>
              <a:off x="3084513" y="2774951"/>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w="0">
              <a:solidFill>
                <a:srgbClr val="000000"/>
              </a:solidFill>
              <a:prstDash val="solid"/>
              <a:round/>
              <a:headEnd/>
              <a:tailEnd/>
            </a:ln>
          </p:spPr>
          <p:txBody>
            <a:bodyPr/>
            <a:lstStyle/>
            <a:p>
              <a:pPr marL="0" marR="0" lvl="0" indent="0" defTabSz="454025" eaLnBrk="1" fontAlgn="base" latinLnBrk="0" hangingPunct="1">
                <a:lnSpc>
                  <a:spcPct val="100000"/>
                </a:lnSpc>
                <a:spcBef>
                  <a:spcPct val="0"/>
                </a:spcBef>
                <a:spcAft>
                  <a:spcPct val="0"/>
                </a:spcAft>
                <a:buClrTx/>
                <a:buSzTx/>
                <a:buFontTx/>
                <a:buNone/>
                <a:tabLst/>
                <a:defRPr/>
              </a:pPr>
              <a:endParaRPr kumimoji="1"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4" name="Freeform 204"/>
            <p:cNvSpPr>
              <a:spLocks/>
            </p:cNvSpPr>
            <p:nvPr/>
          </p:nvSpPr>
          <p:spPr bwMode="gray">
            <a:xfrm>
              <a:off x="3141663" y="2724151"/>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w="0">
              <a:solidFill>
                <a:srgbClr val="000000"/>
              </a:solidFill>
              <a:prstDash val="solid"/>
              <a:round/>
              <a:headEnd/>
              <a:tailEnd/>
            </a:ln>
          </p:spPr>
          <p:txBody>
            <a:bodyPr/>
            <a:lstStyle/>
            <a:p>
              <a:pPr marL="0" marR="0" lvl="0" indent="0" defTabSz="454025" eaLnBrk="1" fontAlgn="base" latinLnBrk="0" hangingPunct="1">
                <a:lnSpc>
                  <a:spcPct val="100000"/>
                </a:lnSpc>
                <a:spcBef>
                  <a:spcPct val="0"/>
                </a:spcBef>
                <a:spcAft>
                  <a:spcPct val="0"/>
                </a:spcAft>
                <a:buClrTx/>
                <a:buSzTx/>
                <a:buFontTx/>
                <a:buNone/>
                <a:tabLst/>
                <a:defRPr/>
              </a:pPr>
              <a:endParaRPr kumimoji="1"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5" name="Freeform 205"/>
            <p:cNvSpPr>
              <a:spLocks/>
            </p:cNvSpPr>
            <p:nvPr/>
          </p:nvSpPr>
          <p:spPr bwMode="gray">
            <a:xfrm>
              <a:off x="3141663" y="2843213"/>
              <a:ext cx="36513" cy="36513"/>
            </a:xfrm>
            <a:custGeom>
              <a:avLst/>
              <a:gdLst>
                <a:gd name="T0" fmla="*/ 2147483647 w 87"/>
                <a:gd name="T1" fmla="*/ 2147483647 h 87"/>
                <a:gd name="T2" fmla="*/ 2147483647 w 87"/>
                <a:gd name="T3" fmla="*/ 2147483647 h 87"/>
                <a:gd name="T4" fmla="*/ 0 w 87"/>
                <a:gd name="T5" fmla="*/ 2147483647 h 87"/>
                <a:gd name="T6" fmla="*/ 0 w 87"/>
                <a:gd name="T7" fmla="*/ 0 h 87"/>
                <a:gd name="T8" fmla="*/ 2147483647 w 87"/>
                <a:gd name="T9" fmla="*/ 0 h 87"/>
                <a:gd name="T10" fmla="*/ 2147483647 w 87"/>
                <a:gd name="T11" fmla="*/ 2147483647 h 8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7" h="87">
                  <a:moveTo>
                    <a:pt x="87" y="87"/>
                  </a:moveTo>
                  <a:lnTo>
                    <a:pt x="87" y="87"/>
                  </a:lnTo>
                  <a:lnTo>
                    <a:pt x="0" y="87"/>
                  </a:lnTo>
                  <a:lnTo>
                    <a:pt x="0" y="0"/>
                  </a:lnTo>
                  <a:lnTo>
                    <a:pt x="87" y="0"/>
                  </a:lnTo>
                  <a:lnTo>
                    <a:pt x="87" y="87"/>
                  </a:lnTo>
                  <a:close/>
                </a:path>
              </a:pathLst>
            </a:custGeom>
            <a:solidFill>
              <a:srgbClr val="FEFEFE"/>
            </a:solidFill>
            <a:ln w="0">
              <a:solidFill>
                <a:srgbClr val="000000"/>
              </a:solidFill>
              <a:prstDash val="solid"/>
              <a:round/>
              <a:headEnd/>
              <a:tailEnd/>
            </a:ln>
          </p:spPr>
          <p:txBody>
            <a:bodyPr/>
            <a:lstStyle/>
            <a:p>
              <a:pPr marL="0" marR="0" lvl="0" indent="0" defTabSz="454025" eaLnBrk="1" fontAlgn="base" latinLnBrk="0" hangingPunct="1">
                <a:lnSpc>
                  <a:spcPct val="100000"/>
                </a:lnSpc>
                <a:spcBef>
                  <a:spcPct val="0"/>
                </a:spcBef>
                <a:spcAft>
                  <a:spcPct val="0"/>
                </a:spcAft>
                <a:buClrTx/>
                <a:buSzTx/>
                <a:buFontTx/>
                <a:buNone/>
                <a:tabLst/>
                <a:defRPr/>
              </a:pPr>
              <a:endParaRPr kumimoji="1"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6" name="Freeform 206"/>
            <p:cNvSpPr>
              <a:spLocks/>
            </p:cNvSpPr>
            <p:nvPr/>
          </p:nvSpPr>
          <p:spPr bwMode="gray">
            <a:xfrm>
              <a:off x="2974975" y="2452688"/>
              <a:ext cx="827088" cy="527050"/>
            </a:xfrm>
            <a:custGeom>
              <a:avLst/>
              <a:gdLst>
                <a:gd name="T0" fmla="*/ 2147483647 w 1972"/>
                <a:gd name="T1" fmla="*/ 2147483647 h 1255"/>
                <a:gd name="T2" fmla="*/ 2147483647 w 1972"/>
                <a:gd name="T3" fmla="*/ 2147483647 h 1255"/>
                <a:gd name="T4" fmla="*/ 2147483647 w 1972"/>
                <a:gd name="T5" fmla="*/ 2147483647 h 1255"/>
                <a:gd name="T6" fmla="*/ 2147483647 w 1972"/>
                <a:gd name="T7" fmla="*/ 2147483647 h 1255"/>
                <a:gd name="T8" fmla="*/ 2147483647 w 1972"/>
                <a:gd name="T9" fmla="*/ 2147483647 h 1255"/>
                <a:gd name="T10" fmla="*/ 2147483647 w 1972"/>
                <a:gd name="T11" fmla="*/ 2147483647 h 1255"/>
                <a:gd name="T12" fmla="*/ 2147483647 w 1972"/>
                <a:gd name="T13" fmla="*/ 2147483647 h 1255"/>
                <a:gd name="T14" fmla="*/ 2147483647 w 1972"/>
                <a:gd name="T15" fmla="*/ 2147483647 h 1255"/>
                <a:gd name="T16" fmla="*/ 2147483647 w 1972"/>
                <a:gd name="T17" fmla="*/ 2147483647 h 1255"/>
                <a:gd name="T18" fmla="*/ 2147483647 w 1972"/>
                <a:gd name="T19" fmla="*/ 2147483647 h 1255"/>
                <a:gd name="T20" fmla="*/ 2147483647 w 1972"/>
                <a:gd name="T21" fmla="*/ 2147483647 h 1255"/>
                <a:gd name="T22" fmla="*/ 2147483647 w 1972"/>
                <a:gd name="T23" fmla="*/ 2147483647 h 1255"/>
                <a:gd name="T24" fmla="*/ 2147483647 w 1972"/>
                <a:gd name="T25" fmla="*/ 2147483647 h 1255"/>
                <a:gd name="T26" fmla="*/ 2147483647 w 1972"/>
                <a:gd name="T27" fmla="*/ 2147483647 h 1255"/>
                <a:gd name="T28" fmla="*/ 2147483647 w 1972"/>
                <a:gd name="T29" fmla="*/ 2147483647 h 1255"/>
                <a:gd name="T30" fmla="*/ 2147483647 w 1972"/>
                <a:gd name="T31" fmla="*/ 2147483647 h 1255"/>
                <a:gd name="T32" fmla="*/ 2147483647 w 1972"/>
                <a:gd name="T33" fmla="*/ 2147483647 h 1255"/>
                <a:gd name="T34" fmla="*/ 2147483647 w 1972"/>
                <a:gd name="T35" fmla="*/ 2147483647 h 1255"/>
                <a:gd name="T36" fmla="*/ 2147483647 w 1972"/>
                <a:gd name="T37" fmla="*/ 2147483647 h 1255"/>
                <a:gd name="T38" fmla="*/ 2147483647 w 1972"/>
                <a:gd name="T39" fmla="*/ 2147483647 h 1255"/>
                <a:gd name="T40" fmla="*/ 2147483647 w 1972"/>
                <a:gd name="T41" fmla="*/ 2147483647 h 1255"/>
                <a:gd name="T42" fmla="*/ 2147483647 w 1972"/>
                <a:gd name="T43" fmla="*/ 2147483647 h 1255"/>
                <a:gd name="T44" fmla="*/ 2147483647 w 1972"/>
                <a:gd name="T45" fmla="*/ 2147483647 h 1255"/>
                <a:gd name="T46" fmla="*/ 2147483647 w 1972"/>
                <a:gd name="T47" fmla="*/ 2147483647 h 1255"/>
                <a:gd name="T48" fmla="*/ 2147483647 w 1972"/>
                <a:gd name="T49" fmla="*/ 2147483647 h 1255"/>
                <a:gd name="T50" fmla="*/ 2147483647 w 1972"/>
                <a:gd name="T51" fmla="*/ 2147483647 h 1255"/>
                <a:gd name="T52" fmla="*/ 2147483647 w 1972"/>
                <a:gd name="T53" fmla="*/ 2147483647 h 1255"/>
                <a:gd name="T54" fmla="*/ 2147483647 w 1972"/>
                <a:gd name="T55" fmla="*/ 2147483647 h 1255"/>
                <a:gd name="T56" fmla="*/ 2147483647 w 1972"/>
                <a:gd name="T57" fmla="*/ 2147483647 h 1255"/>
                <a:gd name="T58" fmla="*/ 2147483647 w 1972"/>
                <a:gd name="T59" fmla="*/ 2147483647 h 1255"/>
                <a:gd name="T60" fmla="*/ 2147483647 w 1972"/>
                <a:gd name="T61" fmla="*/ 2147483647 h 1255"/>
                <a:gd name="T62" fmla="*/ 2147483647 w 1972"/>
                <a:gd name="T63" fmla="*/ 2147483647 h 1255"/>
                <a:gd name="T64" fmla="*/ 2147483647 w 1972"/>
                <a:gd name="T65" fmla="*/ 2147483647 h 1255"/>
                <a:gd name="T66" fmla="*/ 2147483647 w 1972"/>
                <a:gd name="T67" fmla="*/ 0 h 1255"/>
                <a:gd name="T68" fmla="*/ 2147483647 w 1972"/>
                <a:gd name="T69" fmla="*/ 2147483647 h 1255"/>
                <a:gd name="T70" fmla="*/ 2147483647 w 1972"/>
                <a:gd name="T71" fmla="*/ 2147483647 h 1255"/>
                <a:gd name="T72" fmla="*/ 2147483647 w 1972"/>
                <a:gd name="T73" fmla="*/ 2147483647 h 1255"/>
                <a:gd name="T74" fmla="*/ 2147483647 w 1972"/>
                <a:gd name="T75" fmla="*/ 2147483647 h 1255"/>
                <a:gd name="T76" fmla="*/ 2147483647 w 1972"/>
                <a:gd name="T77" fmla="*/ 2147483647 h 1255"/>
                <a:gd name="T78" fmla="*/ 2147483647 w 1972"/>
                <a:gd name="T79" fmla="*/ 2147483647 h 1255"/>
                <a:gd name="T80" fmla="*/ 2147483647 w 1972"/>
                <a:gd name="T81" fmla="*/ 2147483647 h 125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972" h="1255">
                  <a:moveTo>
                    <a:pt x="1937" y="1255"/>
                  </a:moveTo>
                  <a:lnTo>
                    <a:pt x="1937" y="1255"/>
                  </a:lnTo>
                  <a:lnTo>
                    <a:pt x="1515" y="1255"/>
                  </a:lnTo>
                  <a:cubicBezTo>
                    <a:pt x="1497" y="1255"/>
                    <a:pt x="1482" y="1240"/>
                    <a:pt x="1482" y="1222"/>
                  </a:cubicBezTo>
                  <a:cubicBezTo>
                    <a:pt x="1482" y="1203"/>
                    <a:pt x="1497" y="1188"/>
                    <a:pt x="1515" y="1188"/>
                  </a:cubicBezTo>
                  <a:lnTo>
                    <a:pt x="1882" y="1188"/>
                  </a:lnTo>
                  <a:lnTo>
                    <a:pt x="1833" y="1094"/>
                  </a:lnTo>
                  <a:lnTo>
                    <a:pt x="1798" y="1094"/>
                  </a:lnTo>
                  <a:cubicBezTo>
                    <a:pt x="1780" y="1094"/>
                    <a:pt x="1765" y="1079"/>
                    <a:pt x="1765" y="1061"/>
                  </a:cubicBezTo>
                  <a:lnTo>
                    <a:pt x="1765" y="790"/>
                  </a:lnTo>
                  <a:cubicBezTo>
                    <a:pt x="1765" y="782"/>
                    <a:pt x="1765" y="777"/>
                    <a:pt x="1749" y="759"/>
                  </a:cubicBezTo>
                  <a:lnTo>
                    <a:pt x="1717" y="723"/>
                  </a:lnTo>
                  <a:lnTo>
                    <a:pt x="1717" y="1061"/>
                  </a:lnTo>
                  <a:cubicBezTo>
                    <a:pt x="1717" y="1079"/>
                    <a:pt x="1702" y="1094"/>
                    <a:pt x="1684" y="1094"/>
                  </a:cubicBezTo>
                  <a:lnTo>
                    <a:pt x="1593" y="1094"/>
                  </a:lnTo>
                  <a:cubicBezTo>
                    <a:pt x="1574" y="1094"/>
                    <a:pt x="1560" y="1079"/>
                    <a:pt x="1560" y="1061"/>
                  </a:cubicBezTo>
                  <a:lnTo>
                    <a:pt x="1560" y="118"/>
                  </a:lnTo>
                  <a:cubicBezTo>
                    <a:pt x="1560" y="90"/>
                    <a:pt x="1537" y="67"/>
                    <a:pt x="1508" y="67"/>
                  </a:cubicBezTo>
                  <a:lnTo>
                    <a:pt x="1303" y="67"/>
                  </a:lnTo>
                  <a:cubicBezTo>
                    <a:pt x="1275" y="67"/>
                    <a:pt x="1252" y="90"/>
                    <a:pt x="1252" y="118"/>
                  </a:cubicBezTo>
                  <a:lnTo>
                    <a:pt x="1252" y="1061"/>
                  </a:lnTo>
                  <a:cubicBezTo>
                    <a:pt x="1252" y="1079"/>
                    <a:pt x="1237" y="1094"/>
                    <a:pt x="1218" y="1094"/>
                  </a:cubicBezTo>
                  <a:lnTo>
                    <a:pt x="1105" y="1094"/>
                  </a:lnTo>
                  <a:cubicBezTo>
                    <a:pt x="1086" y="1094"/>
                    <a:pt x="1071" y="1079"/>
                    <a:pt x="1071" y="1061"/>
                  </a:cubicBezTo>
                  <a:lnTo>
                    <a:pt x="1071" y="629"/>
                  </a:lnTo>
                  <a:cubicBezTo>
                    <a:pt x="1071" y="614"/>
                    <a:pt x="1067" y="602"/>
                    <a:pt x="1058" y="596"/>
                  </a:cubicBezTo>
                  <a:cubicBezTo>
                    <a:pt x="1048" y="589"/>
                    <a:pt x="1034" y="588"/>
                    <a:pt x="1020" y="592"/>
                  </a:cubicBezTo>
                  <a:lnTo>
                    <a:pt x="772" y="687"/>
                  </a:lnTo>
                  <a:cubicBezTo>
                    <a:pt x="709" y="708"/>
                    <a:pt x="698" y="725"/>
                    <a:pt x="698" y="751"/>
                  </a:cubicBezTo>
                  <a:lnTo>
                    <a:pt x="698" y="1061"/>
                  </a:lnTo>
                  <a:cubicBezTo>
                    <a:pt x="698" y="1079"/>
                    <a:pt x="683" y="1094"/>
                    <a:pt x="665" y="1094"/>
                  </a:cubicBezTo>
                  <a:lnTo>
                    <a:pt x="556" y="1094"/>
                  </a:lnTo>
                  <a:cubicBezTo>
                    <a:pt x="537" y="1094"/>
                    <a:pt x="522" y="1079"/>
                    <a:pt x="522" y="1061"/>
                  </a:cubicBezTo>
                  <a:lnTo>
                    <a:pt x="522" y="329"/>
                  </a:lnTo>
                  <a:cubicBezTo>
                    <a:pt x="522" y="318"/>
                    <a:pt x="519" y="310"/>
                    <a:pt x="513" y="306"/>
                  </a:cubicBezTo>
                  <a:cubicBezTo>
                    <a:pt x="507" y="301"/>
                    <a:pt x="497" y="300"/>
                    <a:pt x="487" y="304"/>
                  </a:cubicBezTo>
                  <a:lnTo>
                    <a:pt x="279" y="383"/>
                  </a:lnTo>
                  <a:cubicBezTo>
                    <a:pt x="226" y="401"/>
                    <a:pt x="222" y="415"/>
                    <a:pt x="222" y="431"/>
                  </a:cubicBezTo>
                  <a:lnTo>
                    <a:pt x="222" y="1061"/>
                  </a:lnTo>
                  <a:cubicBezTo>
                    <a:pt x="222" y="1079"/>
                    <a:pt x="207" y="1094"/>
                    <a:pt x="188" y="1094"/>
                  </a:cubicBezTo>
                  <a:lnTo>
                    <a:pt x="140" y="1094"/>
                  </a:lnTo>
                  <a:lnTo>
                    <a:pt x="90" y="1188"/>
                  </a:lnTo>
                  <a:lnTo>
                    <a:pt x="1292" y="1188"/>
                  </a:lnTo>
                  <a:cubicBezTo>
                    <a:pt x="1310" y="1188"/>
                    <a:pt x="1325" y="1203"/>
                    <a:pt x="1325" y="1222"/>
                  </a:cubicBezTo>
                  <a:cubicBezTo>
                    <a:pt x="1325" y="1240"/>
                    <a:pt x="1310" y="1255"/>
                    <a:pt x="1292" y="1255"/>
                  </a:cubicBezTo>
                  <a:lnTo>
                    <a:pt x="35" y="1255"/>
                  </a:lnTo>
                  <a:cubicBezTo>
                    <a:pt x="24" y="1255"/>
                    <a:pt x="13" y="1249"/>
                    <a:pt x="7" y="1239"/>
                  </a:cubicBezTo>
                  <a:cubicBezTo>
                    <a:pt x="1" y="1229"/>
                    <a:pt x="0" y="1217"/>
                    <a:pt x="6" y="1206"/>
                  </a:cubicBezTo>
                  <a:lnTo>
                    <a:pt x="90" y="1045"/>
                  </a:lnTo>
                  <a:cubicBezTo>
                    <a:pt x="96" y="1034"/>
                    <a:pt x="107" y="1028"/>
                    <a:pt x="120" y="1028"/>
                  </a:cubicBezTo>
                  <a:lnTo>
                    <a:pt x="155" y="1028"/>
                  </a:lnTo>
                  <a:lnTo>
                    <a:pt x="155" y="431"/>
                  </a:lnTo>
                  <a:cubicBezTo>
                    <a:pt x="155" y="354"/>
                    <a:pt x="224" y="331"/>
                    <a:pt x="257" y="320"/>
                  </a:cubicBezTo>
                  <a:lnTo>
                    <a:pt x="464" y="241"/>
                  </a:lnTo>
                  <a:cubicBezTo>
                    <a:pt x="496" y="230"/>
                    <a:pt x="528" y="234"/>
                    <a:pt x="552" y="252"/>
                  </a:cubicBezTo>
                  <a:cubicBezTo>
                    <a:pt x="576" y="269"/>
                    <a:pt x="589" y="296"/>
                    <a:pt x="589" y="329"/>
                  </a:cubicBezTo>
                  <a:lnTo>
                    <a:pt x="589" y="1028"/>
                  </a:lnTo>
                  <a:lnTo>
                    <a:pt x="631" y="1028"/>
                  </a:lnTo>
                  <a:lnTo>
                    <a:pt x="631" y="751"/>
                  </a:lnTo>
                  <a:cubicBezTo>
                    <a:pt x="631" y="664"/>
                    <a:pt x="711" y="637"/>
                    <a:pt x="749" y="624"/>
                  </a:cubicBezTo>
                  <a:lnTo>
                    <a:pt x="998" y="530"/>
                  </a:lnTo>
                  <a:cubicBezTo>
                    <a:pt x="1033" y="518"/>
                    <a:pt x="1070" y="522"/>
                    <a:pt x="1097" y="542"/>
                  </a:cubicBezTo>
                  <a:cubicBezTo>
                    <a:pt x="1123" y="561"/>
                    <a:pt x="1138" y="592"/>
                    <a:pt x="1138" y="629"/>
                  </a:cubicBezTo>
                  <a:lnTo>
                    <a:pt x="1138" y="1028"/>
                  </a:lnTo>
                  <a:lnTo>
                    <a:pt x="1185" y="1028"/>
                  </a:lnTo>
                  <a:lnTo>
                    <a:pt x="1185" y="118"/>
                  </a:lnTo>
                  <a:cubicBezTo>
                    <a:pt x="1185" y="53"/>
                    <a:pt x="1238" y="0"/>
                    <a:pt x="1303" y="0"/>
                  </a:cubicBezTo>
                  <a:lnTo>
                    <a:pt x="1508" y="0"/>
                  </a:lnTo>
                  <a:cubicBezTo>
                    <a:pt x="1573" y="0"/>
                    <a:pt x="1626" y="53"/>
                    <a:pt x="1626" y="118"/>
                  </a:cubicBezTo>
                  <a:lnTo>
                    <a:pt x="1626" y="1028"/>
                  </a:lnTo>
                  <a:lnTo>
                    <a:pt x="1650" y="1028"/>
                  </a:lnTo>
                  <a:lnTo>
                    <a:pt x="1650" y="681"/>
                  </a:lnTo>
                  <a:cubicBezTo>
                    <a:pt x="1650" y="656"/>
                    <a:pt x="1663" y="636"/>
                    <a:pt x="1682" y="628"/>
                  </a:cubicBezTo>
                  <a:cubicBezTo>
                    <a:pt x="1700" y="621"/>
                    <a:pt x="1720" y="626"/>
                    <a:pt x="1733" y="641"/>
                  </a:cubicBezTo>
                  <a:lnTo>
                    <a:pt x="1799" y="714"/>
                  </a:lnTo>
                  <a:cubicBezTo>
                    <a:pt x="1829" y="749"/>
                    <a:pt x="1832" y="769"/>
                    <a:pt x="1832" y="790"/>
                  </a:cubicBezTo>
                  <a:lnTo>
                    <a:pt x="1832" y="1028"/>
                  </a:lnTo>
                  <a:lnTo>
                    <a:pt x="1853" y="1028"/>
                  </a:lnTo>
                  <a:cubicBezTo>
                    <a:pt x="1865" y="1028"/>
                    <a:pt x="1877" y="1034"/>
                    <a:pt x="1882" y="1045"/>
                  </a:cubicBezTo>
                  <a:lnTo>
                    <a:pt x="1967" y="1206"/>
                  </a:lnTo>
                  <a:cubicBezTo>
                    <a:pt x="1972" y="1217"/>
                    <a:pt x="1972" y="1229"/>
                    <a:pt x="1966" y="1239"/>
                  </a:cubicBezTo>
                  <a:cubicBezTo>
                    <a:pt x="1960" y="1249"/>
                    <a:pt x="1949" y="1255"/>
                    <a:pt x="1937" y="1255"/>
                  </a:cubicBezTo>
                  <a:close/>
                </a:path>
              </a:pathLst>
            </a:custGeom>
            <a:solidFill>
              <a:srgbClr val="FEFEFE"/>
            </a:solidFill>
            <a:ln w="0">
              <a:solidFill>
                <a:srgbClr val="000000"/>
              </a:solidFill>
              <a:prstDash val="solid"/>
              <a:round/>
              <a:headEnd/>
              <a:tailEnd/>
            </a:ln>
          </p:spPr>
          <p:txBody>
            <a:bodyPr/>
            <a:lstStyle/>
            <a:p>
              <a:pPr marL="0" marR="0" lvl="0" indent="0" defTabSz="454025" eaLnBrk="1" fontAlgn="base" latinLnBrk="0" hangingPunct="1">
                <a:lnSpc>
                  <a:spcPct val="100000"/>
                </a:lnSpc>
                <a:spcBef>
                  <a:spcPct val="0"/>
                </a:spcBef>
                <a:spcAft>
                  <a:spcPct val="0"/>
                </a:spcAft>
                <a:buClrTx/>
                <a:buSzTx/>
                <a:buFontTx/>
                <a:buNone/>
                <a:tabLst/>
                <a:defRPr/>
              </a:pPr>
              <a:endParaRPr kumimoji="1"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7" name="Freeform 207"/>
            <p:cNvSpPr>
              <a:spLocks/>
            </p:cNvSpPr>
            <p:nvPr/>
          </p:nvSpPr>
          <p:spPr bwMode="gray">
            <a:xfrm>
              <a:off x="3486150" y="2936876"/>
              <a:ext cx="58738" cy="57150"/>
            </a:xfrm>
            <a:custGeom>
              <a:avLst/>
              <a:gdLst>
                <a:gd name="T0" fmla="*/ 2147483647 w 139"/>
                <a:gd name="T1" fmla="*/ 2147483647 h 139"/>
                <a:gd name="T2" fmla="*/ 2147483647 w 139"/>
                <a:gd name="T3" fmla="*/ 2147483647 h 139"/>
                <a:gd name="T4" fmla="*/ 2147483647 w 139"/>
                <a:gd name="T5" fmla="*/ 2147483647 h 139"/>
                <a:gd name="T6" fmla="*/ 0 w 139"/>
                <a:gd name="T7" fmla="*/ 2147483647 h 139"/>
                <a:gd name="T8" fmla="*/ 2147483647 w 139"/>
                <a:gd name="T9" fmla="*/ 0 h 139"/>
                <a:gd name="T10" fmla="*/ 2147483647 w 139"/>
                <a:gd name="T11" fmla="*/ 2147483647 h 1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9" h="139">
                  <a:moveTo>
                    <a:pt x="139" y="70"/>
                  </a:moveTo>
                  <a:lnTo>
                    <a:pt x="139" y="70"/>
                  </a:lnTo>
                  <a:cubicBezTo>
                    <a:pt x="139" y="108"/>
                    <a:pt x="107" y="139"/>
                    <a:pt x="69" y="139"/>
                  </a:cubicBezTo>
                  <a:cubicBezTo>
                    <a:pt x="31" y="139"/>
                    <a:pt x="0" y="108"/>
                    <a:pt x="0" y="70"/>
                  </a:cubicBezTo>
                  <a:cubicBezTo>
                    <a:pt x="0" y="31"/>
                    <a:pt x="31" y="0"/>
                    <a:pt x="69" y="0"/>
                  </a:cubicBezTo>
                  <a:cubicBezTo>
                    <a:pt x="107" y="0"/>
                    <a:pt x="139" y="31"/>
                    <a:pt x="139" y="70"/>
                  </a:cubicBezTo>
                  <a:close/>
                </a:path>
              </a:pathLst>
            </a:custGeom>
            <a:solidFill>
              <a:srgbClr val="FEFEFE"/>
            </a:solidFill>
            <a:ln w="0">
              <a:solidFill>
                <a:srgbClr val="000000"/>
              </a:solidFill>
              <a:prstDash val="solid"/>
              <a:round/>
              <a:headEnd/>
              <a:tailEnd/>
            </a:ln>
          </p:spPr>
          <p:txBody>
            <a:bodyPr/>
            <a:lstStyle/>
            <a:p>
              <a:pPr marL="0" marR="0" lvl="0" indent="0" defTabSz="454025" eaLnBrk="1" fontAlgn="base" latinLnBrk="0" hangingPunct="1">
                <a:lnSpc>
                  <a:spcPct val="100000"/>
                </a:lnSpc>
                <a:spcBef>
                  <a:spcPct val="0"/>
                </a:spcBef>
                <a:spcAft>
                  <a:spcPct val="0"/>
                </a:spcAft>
                <a:buClrTx/>
                <a:buSzTx/>
                <a:buFontTx/>
                <a:buNone/>
                <a:tabLst/>
                <a:defRPr/>
              </a:pPr>
              <a:endParaRPr kumimoji="1"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8" name="Freeform 208"/>
            <p:cNvSpPr>
              <a:spLocks/>
            </p:cNvSpPr>
            <p:nvPr/>
          </p:nvSpPr>
          <p:spPr bwMode="gray">
            <a:xfrm>
              <a:off x="3584575" y="2936876"/>
              <a:ext cx="57150" cy="57150"/>
            </a:xfrm>
            <a:custGeom>
              <a:avLst/>
              <a:gdLst>
                <a:gd name="T0" fmla="*/ 2147483647 w 138"/>
                <a:gd name="T1" fmla="*/ 2147483647 h 139"/>
                <a:gd name="T2" fmla="*/ 2147483647 w 138"/>
                <a:gd name="T3" fmla="*/ 2147483647 h 139"/>
                <a:gd name="T4" fmla="*/ 2147483647 w 138"/>
                <a:gd name="T5" fmla="*/ 2147483647 h 139"/>
                <a:gd name="T6" fmla="*/ 0 w 138"/>
                <a:gd name="T7" fmla="*/ 2147483647 h 139"/>
                <a:gd name="T8" fmla="*/ 2147483647 w 138"/>
                <a:gd name="T9" fmla="*/ 0 h 139"/>
                <a:gd name="T10" fmla="*/ 2147483647 w 138"/>
                <a:gd name="T11" fmla="*/ 2147483647 h 1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8" h="139">
                  <a:moveTo>
                    <a:pt x="138" y="70"/>
                  </a:moveTo>
                  <a:lnTo>
                    <a:pt x="138" y="70"/>
                  </a:lnTo>
                  <a:cubicBezTo>
                    <a:pt x="138" y="108"/>
                    <a:pt x="107" y="139"/>
                    <a:pt x="69" y="139"/>
                  </a:cubicBezTo>
                  <a:cubicBezTo>
                    <a:pt x="31" y="139"/>
                    <a:pt x="0" y="108"/>
                    <a:pt x="0" y="70"/>
                  </a:cubicBezTo>
                  <a:cubicBezTo>
                    <a:pt x="0" y="31"/>
                    <a:pt x="31" y="0"/>
                    <a:pt x="69" y="0"/>
                  </a:cubicBezTo>
                  <a:cubicBezTo>
                    <a:pt x="107" y="0"/>
                    <a:pt x="138" y="31"/>
                    <a:pt x="138" y="70"/>
                  </a:cubicBezTo>
                  <a:close/>
                </a:path>
              </a:pathLst>
            </a:custGeom>
            <a:solidFill>
              <a:srgbClr val="FEFEFE"/>
            </a:solidFill>
            <a:ln w="0">
              <a:solidFill>
                <a:srgbClr val="000000"/>
              </a:solidFill>
              <a:prstDash val="solid"/>
              <a:round/>
              <a:headEnd/>
              <a:tailEnd/>
            </a:ln>
          </p:spPr>
          <p:txBody>
            <a:bodyPr/>
            <a:lstStyle/>
            <a:p>
              <a:pPr marL="0" marR="0" lvl="0" indent="0" defTabSz="454025" eaLnBrk="1" fontAlgn="base" latinLnBrk="0" hangingPunct="1">
                <a:lnSpc>
                  <a:spcPct val="100000"/>
                </a:lnSpc>
                <a:spcBef>
                  <a:spcPct val="0"/>
                </a:spcBef>
                <a:spcAft>
                  <a:spcPct val="0"/>
                </a:spcAft>
                <a:buClrTx/>
                <a:buSzTx/>
                <a:buFontTx/>
                <a:buNone/>
                <a:tabLst/>
                <a:defRPr/>
              </a:pPr>
              <a:endParaRPr kumimoji="1"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69" name="Freeform 186"/>
          <p:cNvSpPr>
            <a:spLocks noEditPoints="1"/>
          </p:cNvSpPr>
          <p:nvPr/>
        </p:nvSpPr>
        <p:spPr bwMode="gray">
          <a:xfrm>
            <a:off x="8023902" y="3341509"/>
            <a:ext cx="419835" cy="421028"/>
          </a:xfrm>
          <a:custGeom>
            <a:avLst/>
            <a:gdLst/>
            <a:ahLst/>
            <a:cxnLst>
              <a:cxn ang="0">
                <a:pos x="12772" y="618"/>
              </a:cxn>
              <a:cxn ang="0">
                <a:pos x="0" y="15651"/>
              </a:cxn>
              <a:cxn ang="0">
                <a:pos x="1941" y="4867"/>
              </a:cxn>
              <a:cxn ang="0">
                <a:pos x="5964" y="4867"/>
              </a:cxn>
              <a:cxn ang="0">
                <a:pos x="7512" y="618"/>
              </a:cxn>
              <a:cxn ang="0">
                <a:pos x="1277" y="12419"/>
              </a:cxn>
              <a:cxn ang="0">
                <a:pos x="5523" y="7916"/>
              </a:cxn>
              <a:cxn ang="0">
                <a:pos x="4108" y="7916"/>
              </a:cxn>
              <a:cxn ang="0">
                <a:pos x="2692" y="7916"/>
              </a:cxn>
              <a:cxn ang="0">
                <a:pos x="1277" y="7916"/>
              </a:cxn>
              <a:cxn ang="0">
                <a:pos x="5523" y="9417"/>
              </a:cxn>
              <a:cxn ang="0">
                <a:pos x="4108" y="9417"/>
              </a:cxn>
              <a:cxn ang="0">
                <a:pos x="2692" y="9417"/>
              </a:cxn>
              <a:cxn ang="0">
                <a:pos x="1277" y="9417"/>
              </a:cxn>
              <a:cxn ang="0">
                <a:pos x="5523" y="10919"/>
              </a:cxn>
              <a:cxn ang="0">
                <a:pos x="4108" y="10919"/>
              </a:cxn>
              <a:cxn ang="0">
                <a:pos x="2692" y="10919"/>
              </a:cxn>
              <a:cxn ang="0">
                <a:pos x="1277" y="10919"/>
              </a:cxn>
              <a:cxn ang="0">
                <a:pos x="5523" y="12419"/>
              </a:cxn>
              <a:cxn ang="0">
                <a:pos x="4108" y="12419"/>
              </a:cxn>
              <a:cxn ang="0">
                <a:pos x="2692" y="12419"/>
              </a:cxn>
              <a:cxn ang="0">
                <a:pos x="8086" y="1911"/>
              </a:cxn>
              <a:cxn ang="0">
                <a:pos x="8086" y="12419"/>
              </a:cxn>
              <a:cxn ang="0">
                <a:pos x="9500" y="12419"/>
              </a:cxn>
              <a:cxn ang="0">
                <a:pos x="10915" y="12419"/>
              </a:cxn>
              <a:cxn ang="0">
                <a:pos x="12331" y="12419"/>
              </a:cxn>
              <a:cxn ang="0">
                <a:pos x="8086" y="10919"/>
              </a:cxn>
              <a:cxn ang="0">
                <a:pos x="9500" y="10919"/>
              </a:cxn>
              <a:cxn ang="0">
                <a:pos x="10915" y="10919"/>
              </a:cxn>
              <a:cxn ang="0">
                <a:pos x="12331" y="10919"/>
              </a:cxn>
              <a:cxn ang="0">
                <a:pos x="8086" y="9417"/>
              </a:cxn>
              <a:cxn ang="0">
                <a:pos x="9500" y="9417"/>
              </a:cxn>
              <a:cxn ang="0">
                <a:pos x="10915" y="9417"/>
              </a:cxn>
              <a:cxn ang="0">
                <a:pos x="12331" y="9417"/>
              </a:cxn>
              <a:cxn ang="0">
                <a:pos x="8086" y="7916"/>
              </a:cxn>
              <a:cxn ang="0">
                <a:pos x="9500" y="7916"/>
              </a:cxn>
              <a:cxn ang="0">
                <a:pos x="10915" y="7916"/>
              </a:cxn>
              <a:cxn ang="0">
                <a:pos x="12331" y="7916"/>
              </a:cxn>
              <a:cxn ang="0">
                <a:pos x="8086" y="6414"/>
              </a:cxn>
              <a:cxn ang="0">
                <a:pos x="9500" y="6414"/>
              </a:cxn>
              <a:cxn ang="0">
                <a:pos x="10915" y="6414"/>
              </a:cxn>
              <a:cxn ang="0">
                <a:pos x="12331" y="6414"/>
              </a:cxn>
              <a:cxn ang="0">
                <a:pos x="8086" y="4914"/>
              </a:cxn>
              <a:cxn ang="0">
                <a:pos x="9500" y="4914"/>
              </a:cxn>
              <a:cxn ang="0">
                <a:pos x="10915" y="4914"/>
              </a:cxn>
              <a:cxn ang="0">
                <a:pos x="12331" y="4914"/>
              </a:cxn>
              <a:cxn ang="0">
                <a:pos x="8086" y="3413"/>
              </a:cxn>
              <a:cxn ang="0">
                <a:pos x="9500" y="3413"/>
              </a:cxn>
              <a:cxn ang="0">
                <a:pos x="10915" y="3413"/>
              </a:cxn>
              <a:cxn ang="0">
                <a:pos x="9500" y="1911"/>
              </a:cxn>
              <a:cxn ang="0">
                <a:pos x="10915" y="1911"/>
              </a:cxn>
              <a:cxn ang="0">
                <a:pos x="12331" y="1911"/>
              </a:cxn>
              <a:cxn ang="0">
                <a:pos x="12331" y="3413"/>
              </a:cxn>
            </a:cxnLst>
            <a:rect l="0" t="0" r="r" b="b"/>
            <a:pathLst>
              <a:path w="16169" h="15651">
                <a:moveTo>
                  <a:pt x="7512" y="618"/>
                </a:moveTo>
                <a:lnTo>
                  <a:pt x="8749" y="618"/>
                </a:lnTo>
                <a:lnTo>
                  <a:pt x="8749" y="0"/>
                </a:lnTo>
                <a:lnTo>
                  <a:pt x="12772" y="0"/>
                </a:lnTo>
                <a:lnTo>
                  <a:pt x="12772" y="618"/>
                </a:lnTo>
                <a:lnTo>
                  <a:pt x="14010" y="618"/>
                </a:lnTo>
                <a:lnTo>
                  <a:pt x="14010" y="13875"/>
                </a:lnTo>
                <a:lnTo>
                  <a:pt x="16169" y="13875"/>
                </a:lnTo>
                <a:lnTo>
                  <a:pt x="16169" y="15651"/>
                </a:lnTo>
                <a:lnTo>
                  <a:pt x="0" y="15651"/>
                </a:lnTo>
                <a:lnTo>
                  <a:pt x="0" y="13875"/>
                </a:lnTo>
                <a:lnTo>
                  <a:pt x="781" y="13875"/>
                </a:lnTo>
                <a:lnTo>
                  <a:pt x="781" y="6103"/>
                </a:lnTo>
                <a:lnTo>
                  <a:pt x="1941" y="6103"/>
                </a:lnTo>
                <a:lnTo>
                  <a:pt x="1941" y="4867"/>
                </a:lnTo>
                <a:lnTo>
                  <a:pt x="4469" y="4867"/>
                </a:lnTo>
                <a:lnTo>
                  <a:pt x="4469" y="2808"/>
                </a:lnTo>
                <a:lnTo>
                  <a:pt x="5088" y="2808"/>
                </a:lnTo>
                <a:lnTo>
                  <a:pt x="5088" y="4867"/>
                </a:lnTo>
                <a:lnTo>
                  <a:pt x="5964" y="4867"/>
                </a:lnTo>
                <a:lnTo>
                  <a:pt x="5964" y="6103"/>
                </a:lnTo>
                <a:lnTo>
                  <a:pt x="7124" y="6103"/>
                </a:lnTo>
                <a:lnTo>
                  <a:pt x="7124" y="13875"/>
                </a:lnTo>
                <a:lnTo>
                  <a:pt x="7512" y="13875"/>
                </a:lnTo>
                <a:lnTo>
                  <a:pt x="7512" y="618"/>
                </a:lnTo>
                <a:close/>
                <a:moveTo>
                  <a:pt x="1277" y="12419"/>
                </a:moveTo>
                <a:lnTo>
                  <a:pt x="2383" y="12419"/>
                </a:lnTo>
                <a:lnTo>
                  <a:pt x="2383" y="13523"/>
                </a:lnTo>
                <a:lnTo>
                  <a:pt x="1277" y="13523"/>
                </a:lnTo>
                <a:lnTo>
                  <a:pt x="1277" y="12419"/>
                </a:lnTo>
                <a:close/>
                <a:moveTo>
                  <a:pt x="5523" y="7916"/>
                </a:moveTo>
                <a:lnTo>
                  <a:pt x="6628" y="7916"/>
                </a:lnTo>
                <a:lnTo>
                  <a:pt x="6628" y="9020"/>
                </a:lnTo>
                <a:lnTo>
                  <a:pt x="5523" y="9020"/>
                </a:lnTo>
                <a:lnTo>
                  <a:pt x="5523" y="7916"/>
                </a:lnTo>
                <a:close/>
                <a:moveTo>
                  <a:pt x="4108" y="7916"/>
                </a:moveTo>
                <a:lnTo>
                  <a:pt x="5213" y="7916"/>
                </a:lnTo>
                <a:lnTo>
                  <a:pt x="5213" y="9020"/>
                </a:lnTo>
                <a:lnTo>
                  <a:pt x="4108" y="9020"/>
                </a:lnTo>
                <a:lnTo>
                  <a:pt x="4108" y="7916"/>
                </a:lnTo>
                <a:close/>
                <a:moveTo>
                  <a:pt x="2692" y="7916"/>
                </a:moveTo>
                <a:lnTo>
                  <a:pt x="3798" y="7916"/>
                </a:lnTo>
                <a:lnTo>
                  <a:pt x="3798" y="9020"/>
                </a:lnTo>
                <a:lnTo>
                  <a:pt x="2692" y="9020"/>
                </a:lnTo>
                <a:lnTo>
                  <a:pt x="2692" y="7916"/>
                </a:lnTo>
                <a:close/>
                <a:moveTo>
                  <a:pt x="1277" y="7916"/>
                </a:moveTo>
                <a:lnTo>
                  <a:pt x="2383" y="7916"/>
                </a:lnTo>
                <a:lnTo>
                  <a:pt x="2383" y="9020"/>
                </a:lnTo>
                <a:lnTo>
                  <a:pt x="1277" y="9020"/>
                </a:lnTo>
                <a:lnTo>
                  <a:pt x="1277" y="7916"/>
                </a:lnTo>
                <a:close/>
                <a:moveTo>
                  <a:pt x="5523" y="9417"/>
                </a:moveTo>
                <a:lnTo>
                  <a:pt x="6628" y="9417"/>
                </a:lnTo>
                <a:lnTo>
                  <a:pt x="6628" y="10521"/>
                </a:lnTo>
                <a:lnTo>
                  <a:pt x="5523" y="10521"/>
                </a:lnTo>
                <a:lnTo>
                  <a:pt x="5523" y="9417"/>
                </a:lnTo>
                <a:close/>
                <a:moveTo>
                  <a:pt x="4108" y="9417"/>
                </a:moveTo>
                <a:lnTo>
                  <a:pt x="5213" y="9417"/>
                </a:lnTo>
                <a:lnTo>
                  <a:pt x="5213" y="10521"/>
                </a:lnTo>
                <a:lnTo>
                  <a:pt x="4108" y="10521"/>
                </a:lnTo>
                <a:lnTo>
                  <a:pt x="4108" y="9417"/>
                </a:lnTo>
                <a:close/>
                <a:moveTo>
                  <a:pt x="2692" y="9417"/>
                </a:moveTo>
                <a:lnTo>
                  <a:pt x="3798" y="9417"/>
                </a:lnTo>
                <a:lnTo>
                  <a:pt x="3798" y="10521"/>
                </a:lnTo>
                <a:lnTo>
                  <a:pt x="2692" y="10521"/>
                </a:lnTo>
                <a:lnTo>
                  <a:pt x="2692" y="9417"/>
                </a:lnTo>
                <a:close/>
                <a:moveTo>
                  <a:pt x="1277" y="9417"/>
                </a:moveTo>
                <a:lnTo>
                  <a:pt x="2383" y="9417"/>
                </a:lnTo>
                <a:lnTo>
                  <a:pt x="2383" y="10521"/>
                </a:lnTo>
                <a:lnTo>
                  <a:pt x="1277" y="10521"/>
                </a:lnTo>
                <a:lnTo>
                  <a:pt x="1277" y="9417"/>
                </a:lnTo>
                <a:close/>
                <a:moveTo>
                  <a:pt x="5523" y="10919"/>
                </a:moveTo>
                <a:lnTo>
                  <a:pt x="6628" y="10919"/>
                </a:lnTo>
                <a:lnTo>
                  <a:pt x="6628" y="12023"/>
                </a:lnTo>
                <a:lnTo>
                  <a:pt x="5523" y="12023"/>
                </a:lnTo>
                <a:lnTo>
                  <a:pt x="5523" y="10919"/>
                </a:lnTo>
                <a:close/>
                <a:moveTo>
                  <a:pt x="4108" y="10919"/>
                </a:moveTo>
                <a:lnTo>
                  <a:pt x="5213" y="10919"/>
                </a:lnTo>
                <a:lnTo>
                  <a:pt x="5213" y="12023"/>
                </a:lnTo>
                <a:lnTo>
                  <a:pt x="4108" y="12023"/>
                </a:lnTo>
                <a:lnTo>
                  <a:pt x="4108" y="10919"/>
                </a:lnTo>
                <a:close/>
                <a:moveTo>
                  <a:pt x="2692" y="10919"/>
                </a:moveTo>
                <a:lnTo>
                  <a:pt x="3798" y="10919"/>
                </a:lnTo>
                <a:lnTo>
                  <a:pt x="3798" y="12023"/>
                </a:lnTo>
                <a:lnTo>
                  <a:pt x="2692" y="12023"/>
                </a:lnTo>
                <a:lnTo>
                  <a:pt x="2692" y="10919"/>
                </a:lnTo>
                <a:close/>
                <a:moveTo>
                  <a:pt x="1277" y="10919"/>
                </a:moveTo>
                <a:lnTo>
                  <a:pt x="2383" y="10919"/>
                </a:lnTo>
                <a:lnTo>
                  <a:pt x="2383" y="12023"/>
                </a:lnTo>
                <a:lnTo>
                  <a:pt x="1277" y="12023"/>
                </a:lnTo>
                <a:lnTo>
                  <a:pt x="1277" y="10919"/>
                </a:lnTo>
                <a:close/>
                <a:moveTo>
                  <a:pt x="5523" y="12419"/>
                </a:moveTo>
                <a:lnTo>
                  <a:pt x="6628" y="12419"/>
                </a:lnTo>
                <a:lnTo>
                  <a:pt x="6628" y="13523"/>
                </a:lnTo>
                <a:lnTo>
                  <a:pt x="5523" y="13523"/>
                </a:lnTo>
                <a:lnTo>
                  <a:pt x="5523" y="12419"/>
                </a:lnTo>
                <a:close/>
                <a:moveTo>
                  <a:pt x="4108" y="12419"/>
                </a:moveTo>
                <a:lnTo>
                  <a:pt x="5213" y="12419"/>
                </a:lnTo>
                <a:lnTo>
                  <a:pt x="5213" y="13523"/>
                </a:lnTo>
                <a:lnTo>
                  <a:pt x="4108" y="13523"/>
                </a:lnTo>
                <a:lnTo>
                  <a:pt x="4108" y="12419"/>
                </a:lnTo>
                <a:close/>
                <a:moveTo>
                  <a:pt x="2692" y="12419"/>
                </a:moveTo>
                <a:lnTo>
                  <a:pt x="3798" y="12419"/>
                </a:lnTo>
                <a:lnTo>
                  <a:pt x="3798" y="13523"/>
                </a:lnTo>
                <a:lnTo>
                  <a:pt x="2692" y="13523"/>
                </a:lnTo>
                <a:lnTo>
                  <a:pt x="2692" y="12419"/>
                </a:lnTo>
                <a:close/>
                <a:moveTo>
                  <a:pt x="8086" y="1911"/>
                </a:moveTo>
                <a:lnTo>
                  <a:pt x="9191" y="1911"/>
                </a:lnTo>
                <a:lnTo>
                  <a:pt x="9191" y="3015"/>
                </a:lnTo>
                <a:lnTo>
                  <a:pt x="8086" y="3015"/>
                </a:lnTo>
                <a:lnTo>
                  <a:pt x="8086" y="1911"/>
                </a:lnTo>
                <a:close/>
                <a:moveTo>
                  <a:pt x="8086" y="12419"/>
                </a:moveTo>
                <a:lnTo>
                  <a:pt x="9191" y="12419"/>
                </a:lnTo>
                <a:lnTo>
                  <a:pt x="9191" y="13523"/>
                </a:lnTo>
                <a:lnTo>
                  <a:pt x="8086" y="13523"/>
                </a:lnTo>
                <a:lnTo>
                  <a:pt x="8086" y="12419"/>
                </a:lnTo>
                <a:close/>
                <a:moveTo>
                  <a:pt x="9500" y="12419"/>
                </a:moveTo>
                <a:lnTo>
                  <a:pt x="10606" y="12419"/>
                </a:lnTo>
                <a:lnTo>
                  <a:pt x="10606" y="13523"/>
                </a:lnTo>
                <a:lnTo>
                  <a:pt x="9500" y="13523"/>
                </a:lnTo>
                <a:lnTo>
                  <a:pt x="9500" y="12419"/>
                </a:lnTo>
                <a:close/>
                <a:moveTo>
                  <a:pt x="10915" y="12419"/>
                </a:moveTo>
                <a:lnTo>
                  <a:pt x="12021" y="12419"/>
                </a:lnTo>
                <a:lnTo>
                  <a:pt x="12021" y="13523"/>
                </a:lnTo>
                <a:lnTo>
                  <a:pt x="10915" y="13523"/>
                </a:lnTo>
                <a:lnTo>
                  <a:pt x="10915" y="12419"/>
                </a:lnTo>
                <a:close/>
                <a:moveTo>
                  <a:pt x="12331" y="12419"/>
                </a:moveTo>
                <a:lnTo>
                  <a:pt x="13436" y="12419"/>
                </a:lnTo>
                <a:lnTo>
                  <a:pt x="13436" y="13523"/>
                </a:lnTo>
                <a:lnTo>
                  <a:pt x="12331" y="13523"/>
                </a:lnTo>
                <a:lnTo>
                  <a:pt x="12331" y="12419"/>
                </a:lnTo>
                <a:close/>
                <a:moveTo>
                  <a:pt x="8086" y="10919"/>
                </a:moveTo>
                <a:lnTo>
                  <a:pt x="9191" y="10919"/>
                </a:lnTo>
                <a:lnTo>
                  <a:pt x="9191" y="12023"/>
                </a:lnTo>
                <a:lnTo>
                  <a:pt x="8086" y="12023"/>
                </a:lnTo>
                <a:lnTo>
                  <a:pt x="8086" y="10919"/>
                </a:lnTo>
                <a:close/>
                <a:moveTo>
                  <a:pt x="9500" y="10919"/>
                </a:moveTo>
                <a:lnTo>
                  <a:pt x="10606" y="10919"/>
                </a:lnTo>
                <a:lnTo>
                  <a:pt x="10606" y="12023"/>
                </a:lnTo>
                <a:lnTo>
                  <a:pt x="9500" y="12023"/>
                </a:lnTo>
                <a:lnTo>
                  <a:pt x="9500" y="10919"/>
                </a:lnTo>
                <a:close/>
                <a:moveTo>
                  <a:pt x="10915" y="10919"/>
                </a:moveTo>
                <a:lnTo>
                  <a:pt x="12021" y="10919"/>
                </a:lnTo>
                <a:lnTo>
                  <a:pt x="12021" y="12023"/>
                </a:lnTo>
                <a:lnTo>
                  <a:pt x="10915" y="12023"/>
                </a:lnTo>
                <a:lnTo>
                  <a:pt x="10915" y="10919"/>
                </a:lnTo>
                <a:close/>
                <a:moveTo>
                  <a:pt x="12331" y="10919"/>
                </a:moveTo>
                <a:lnTo>
                  <a:pt x="13436" y="10919"/>
                </a:lnTo>
                <a:lnTo>
                  <a:pt x="13436" y="12023"/>
                </a:lnTo>
                <a:lnTo>
                  <a:pt x="12331" y="12023"/>
                </a:lnTo>
                <a:lnTo>
                  <a:pt x="12331" y="10919"/>
                </a:lnTo>
                <a:close/>
                <a:moveTo>
                  <a:pt x="8086" y="9417"/>
                </a:moveTo>
                <a:lnTo>
                  <a:pt x="9191" y="9417"/>
                </a:lnTo>
                <a:lnTo>
                  <a:pt x="9191" y="10521"/>
                </a:lnTo>
                <a:lnTo>
                  <a:pt x="8086" y="10521"/>
                </a:lnTo>
                <a:lnTo>
                  <a:pt x="8086" y="9417"/>
                </a:lnTo>
                <a:close/>
                <a:moveTo>
                  <a:pt x="9500" y="9417"/>
                </a:moveTo>
                <a:lnTo>
                  <a:pt x="10606" y="9417"/>
                </a:lnTo>
                <a:lnTo>
                  <a:pt x="10606" y="10521"/>
                </a:lnTo>
                <a:lnTo>
                  <a:pt x="9500" y="10521"/>
                </a:lnTo>
                <a:lnTo>
                  <a:pt x="9500" y="9417"/>
                </a:lnTo>
                <a:close/>
                <a:moveTo>
                  <a:pt x="10915" y="9417"/>
                </a:moveTo>
                <a:lnTo>
                  <a:pt x="12021" y="9417"/>
                </a:lnTo>
                <a:lnTo>
                  <a:pt x="12021" y="10521"/>
                </a:lnTo>
                <a:lnTo>
                  <a:pt x="10915" y="10521"/>
                </a:lnTo>
                <a:lnTo>
                  <a:pt x="10915" y="9417"/>
                </a:lnTo>
                <a:close/>
                <a:moveTo>
                  <a:pt x="12331" y="9417"/>
                </a:moveTo>
                <a:lnTo>
                  <a:pt x="13436" y="9417"/>
                </a:lnTo>
                <a:lnTo>
                  <a:pt x="13436" y="10521"/>
                </a:lnTo>
                <a:lnTo>
                  <a:pt x="12331" y="10521"/>
                </a:lnTo>
                <a:lnTo>
                  <a:pt x="12331" y="9417"/>
                </a:lnTo>
                <a:close/>
                <a:moveTo>
                  <a:pt x="8086" y="7916"/>
                </a:moveTo>
                <a:lnTo>
                  <a:pt x="9191" y="7916"/>
                </a:lnTo>
                <a:lnTo>
                  <a:pt x="9191" y="9020"/>
                </a:lnTo>
                <a:lnTo>
                  <a:pt x="8086" y="9020"/>
                </a:lnTo>
                <a:lnTo>
                  <a:pt x="8086" y="7916"/>
                </a:lnTo>
                <a:close/>
                <a:moveTo>
                  <a:pt x="9500" y="7916"/>
                </a:moveTo>
                <a:lnTo>
                  <a:pt x="10606" y="7916"/>
                </a:lnTo>
                <a:lnTo>
                  <a:pt x="10606" y="9020"/>
                </a:lnTo>
                <a:lnTo>
                  <a:pt x="9500" y="9020"/>
                </a:lnTo>
                <a:lnTo>
                  <a:pt x="9500" y="7916"/>
                </a:lnTo>
                <a:close/>
                <a:moveTo>
                  <a:pt x="10915" y="7916"/>
                </a:moveTo>
                <a:lnTo>
                  <a:pt x="12021" y="7916"/>
                </a:lnTo>
                <a:lnTo>
                  <a:pt x="12021" y="9020"/>
                </a:lnTo>
                <a:lnTo>
                  <a:pt x="10915" y="9020"/>
                </a:lnTo>
                <a:lnTo>
                  <a:pt x="10915" y="7916"/>
                </a:lnTo>
                <a:close/>
                <a:moveTo>
                  <a:pt x="12331" y="7916"/>
                </a:moveTo>
                <a:lnTo>
                  <a:pt x="13436" y="7916"/>
                </a:lnTo>
                <a:lnTo>
                  <a:pt x="13436" y="9020"/>
                </a:lnTo>
                <a:lnTo>
                  <a:pt x="12331" y="9020"/>
                </a:lnTo>
                <a:lnTo>
                  <a:pt x="12331" y="7916"/>
                </a:lnTo>
                <a:close/>
                <a:moveTo>
                  <a:pt x="8086" y="6414"/>
                </a:moveTo>
                <a:lnTo>
                  <a:pt x="9191" y="6414"/>
                </a:lnTo>
                <a:lnTo>
                  <a:pt x="9191" y="7518"/>
                </a:lnTo>
                <a:lnTo>
                  <a:pt x="8086" y="7518"/>
                </a:lnTo>
                <a:lnTo>
                  <a:pt x="8086" y="6414"/>
                </a:lnTo>
                <a:close/>
                <a:moveTo>
                  <a:pt x="9500" y="6414"/>
                </a:moveTo>
                <a:lnTo>
                  <a:pt x="10606" y="6414"/>
                </a:lnTo>
                <a:lnTo>
                  <a:pt x="10606" y="7518"/>
                </a:lnTo>
                <a:lnTo>
                  <a:pt x="9500" y="7518"/>
                </a:lnTo>
                <a:lnTo>
                  <a:pt x="9500" y="6414"/>
                </a:lnTo>
                <a:close/>
                <a:moveTo>
                  <a:pt x="10915" y="6414"/>
                </a:moveTo>
                <a:lnTo>
                  <a:pt x="12021" y="6414"/>
                </a:lnTo>
                <a:lnTo>
                  <a:pt x="12021" y="7518"/>
                </a:lnTo>
                <a:lnTo>
                  <a:pt x="10915" y="7518"/>
                </a:lnTo>
                <a:lnTo>
                  <a:pt x="10915" y="6414"/>
                </a:lnTo>
                <a:close/>
                <a:moveTo>
                  <a:pt x="12331" y="6414"/>
                </a:moveTo>
                <a:lnTo>
                  <a:pt x="13436" y="6414"/>
                </a:lnTo>
                <a:lnTo>
                  <a:pt x="13436" y="7518"/>
                </a:lnTo>
                <a:lnTo>
                  <a:pt x="12331" y="7518"/>
                </a:lnTo>
                <a:lnTo>
                  <a:pt x="12331" y="6414"/>
                </a:lnTo>
                <a:close/>
                <a:moveTo>
                  <a:pt x="8086" y="4914"/>
                </a:moveTo>
                <a:lnTo>
                  <a:pt x="9191" y="4914"/>
                </a:lnTo>
                <a:lnTo>
                  <a:pt x="9191" y="6018"/>
                </a:lnTo>
                <a:lnTo>
                  <a:pt x="8086" y="6018"/>
                </a:lnTo>
                <a:lnTo>
                  <a:pt x="8086" y="4914"/>
                </a:lnTo>
                <a:close/>
                <a:moveTo>
                  <a:pt x="9500" y="4914"/>
                </a:moveTo>
                <a:lnTo>
                  <a:pt x="10606" y="4914"/>
                </a:lnTo>
                <a:lnTo>
                  <a:pt x="10606" y="6018"/>
                </a:lnTo>
                <a:lnTo>
                  <a:pt x="9500" y="6018"/>
                </a:lnTo>
                <a:lnTo>
                  <a:pt x="9500" y="4914"/>
                </a:lnTo>
                <a:close/>
                <a:moveTo>
                  <a:pt x="10915" y="4914"/>
                </a:moveTo>
                <a:lnTo>
                  <a:pt x="12021" y="4914"/>
                </a:lnTo>
                <a:lnTo>
                  <a:pt x="12021" y="6018"/>
                </a:lnTo>
                <a:lnTo>
                  <a:pt x="10915" y="6018"/>
                </a:lnTo>
                <a:lnTo>
                  <a:pt x="10915" y="4914"/>
                </a:lnTo>
                <a:close/>
                <a:moveTo>
                  <a:pt x="12331" y="4914"/>
                </a:moveTo>
                <a:lnTo>
                  <a:pt x="13436" y="4914"/>
                </a:lnTo>
                <a:lnTo>
                  <a:pt x="13436" y="6018"/>
                </a:lnTo>
                <a:lnTo>
                  <a:pt x="12331" y="6018"/>
                </a:lnTo>
                <a:lnTo>
                  <a:pt x="12331" y="4914"/>
                </a:lnTo>
                <a:close/>
                <a:moveTo>
                  <a:pt x="8086" y="3413"/>
                </a:moveTo>
                <a:lnTo>
                  <a:pt x="9191" y="3413"/>
                </a:lnTo>
                <a:lnTo>
                  <a:pt x="9191" y="4516"/>
                </a:lnTo>
                <a:lnTo>
                  <a:pt x="8086" y="4516"/>
                </a:lnTo>
                <a:lnTo>
                  <a:pt x="8086" y="3413"/>
                </a:lnTo>
                <a:close/>
                <a:moveTo>
                  <a:pt x="9500" y="3413"/>
                </a:moveTo>
                <a:lnTo>
                  <a:pt x="10606" y="3413"/>
                </a:lnTo>
                <a:lnTo>
                  <a:pt x="10606" y="4516"/>
                </a:lnTo>
                <a:lnTo>
                  <a:pt x="9500" y="4516"/>
                </a:lnTo>
                <a:lnTo>
                  <a:pt x="9500" y="3413"/>
                </a:lnTo>
                <a:close/>
                <a:moveTo>
                  <a:pt x="10915" y="3413"/>
                </a:moveTo>
                <a:lnTo>
                  <a:pt x="12021" y="3413"/>
                </a:lnTo>
                <a:lnTo>
                  <a:pt x="12021" y="4516"/>
                </a:lnTo>
                <a:lnTo>
                  <a:pt x="10915" y="4516"/>
                </a:lnTo>
                <a:lnTo>
                  <a:pt x="10915" y="3413"/>
                </a:lnTo>
                <a:close/>
                <a:moveTo>
                  <a:pt x="9500" y="1911"/>
                </a:moveTo>
                <a:lnTo>
                  <a:pt x="10606" y="1911"/>
                </a:lnTo>
                <a:lnTo>
                  <a:pt x="10606" y="3015"/>
                </a:lnTo>
                <a:lnTo>
                  <a:pt x="9500" y="3015"/>
                </a:lnTo>
                <a:lnTo>
                  <a:pt x="9500" y="1911"/>
                </a:lnTo>
                <a:close/>
                <a:moveTo>
                  <a:pt x="10915" y="1911"/>
                </a:moveTo>
                <a:lnTo>
                  <a:pt x="12021" y="1911"/>
                </a:lnTo>
                <a:lnTo>
                  <a:pt x="12021" y="3015"/>
                </a:lnTo>
                <a:lnTo>
                  <a:pt x="10915" y="3015"/>
                </a:lnTo>
                <a:lnTo>
                  <a:pt x="10915" y="1911"/>
                </a:lnTo>
                <a:close/>
                <a:moveTo>
                  <a:pt x="12331" y="1911"/>
                </a:moveTo>
                <a:lnTo>
                  <a:pt x="13436" y="1911"/>
                </a:lnTo>
                <a:lnTo>
                  <a:pt x="13436" y="3015"/>
                </a:lnTo>
                <a:lnTo>
                  <a:pt x="12331" y="3015"/>
                </a:lnTo>
                <a:lnTo>
                  <a:pt x="12331" y="1911"/>
                </a:lnTo>
                <a:close/>
                <a:moveTo>
                  <a:pt x="12331" y="3413"/>
                </a:moveTo>
                <a:lnTo>
                  <a:pt x="13436" y="3413"/>
                </a:lnTo>
                <a:lnTo>
                  <a:pt x="13436" y="4516"/>
                </a:lnTo>
                <a:lnTo>
                  <a:pt x="12331" y="4516"/>
                </a:lnTo>
                <a:lnTo>
                  <a:pt x="12331" y="3413"/>
                </a:lnTo>
                <a:close/>
              </a:path>
            </a:pathLst>
          </a:custGeom>
          <a:solidFill>
            <a:schemeClr val="bg1">
              <a:lumMod val="50000"/>
            </a:schemeClr>
          </a:solidFill>
          <a:ln w="9525">
            <a:noFill/>
            <a:round/>
            <a:headEnd/>
            <a:tailEnd/>
          </a:ln>
        </p:spPr>
        <p:txBody>
          <a:bodyPr/>
          <a:lstStyle/>
          <a:p>
            <a:pPr algn="ctr">
              <a:defRPr/>
            </a:pPr>
            <a:endParaRPr lang="zh-CN" altLang="en-US">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0" name="Freeform 159"/>
          <p:cNvSpPr/>
          <p:nvPr/>
        </p:nvSpPr>
        <p:spPr bwMode="gray">
          <a:xfrm flipH="1">
            <a:off x="9465371" y="2620167"/>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sz="1200" b="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Internet</a:t>
            </a:r>
          </a:p>
        </p:txBody>
      </p:sp>
      <p:sp>
        <p:nvSpPr>
          <p:cNvPr id="171" name="Freeform 159"/>
          <p:cNvSpPr/>
          <p:nvPr/>
        </p:nvSpPr>
        <p:spPr bwMode="gray">
          <a:xfrm flipH="1">
            <a:off x="9012202" y="3439360"/>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sz="1200" b="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MPLS</a:t>
            </a:r>
          </a:p>
        </p:txBody>
      </p:sp>
      <p:grpSp>
        <p:nvGrpSpPr>
          <p:cNvPr id="172" name="组合 171"/>
          <p:cNvGrpSpPr/>
          <p:nvPr/>
        </p:nvGrpSpPr>
        <p:grpSpPr bwMode="gray">
          <a:xfrm>
            <a:off x="8488074" y="2898288"/>
            <a:ext cx="2283013" cy="766586"/>
            <a:chOff x="8505164" y="3128523"/>
            <a:chExt cx="2283013" cy="766586"/>
          </a:xfrm>
        </p:grpSpPr>
        <p:cxnSp>
          <p:nvCxnSpPr>
            <p:cNvPr id="173" name="直接连接符 172"/>
            <p:cNvCxnSpPr/>
            <p:nvPr/>
          </p:nvCxnSpPr>
          <p:spPr bwMode="gray">
            <a:xfrm>
              <a:off x="8818906" y="3134601"/>
              <a:ext cx="663555" cy="0"/>
            </a:xfrm>
            <a:prstGeom prst="line">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4" name="直接连接符 173"/>
            <p:cNvCxnSpPr/>
            <p:nvPr/>
          </p:nvCxnSpPr>
          <p:spPr bwMode="gray">
            <a:xfrm>
              <a:off x="8505164" y="3895109"/>
              <a:ext cx="572796" cy="0"/>
            </a:xfrm>
            <a:prstGeom prst="line">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5" name="直接连接符 174"/>
            <p:cNvCxnSpPr/>
            <p:nvPr/>
          </p:nvCxnSpPr>
          <p:spPr bwMode="gray">
            <a:xfrm>
              <a:off x="8505164" y="3796247"/>
              <a:ext cx="331778" cy="0"/>
            </a:xfrm>
            <a:prstGeom prst="line">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6" name="直接连接符 175"/>
            <p:cNvCxnSpPr>
              <a:endCxn id="170" idx="21"/>
            </p:cNvCxnSpPr>
            <p:nvPr/>
          </p:nvCxnSpPr>
          <p:spPr bwMode="gray">
            <a:xfrm flipV="1">
              <a:off x="8818267" y="3183712"/>
              <a:ext cx="664194" cy="620987"/>
            </a:xfrm>
            <a:prstGeom prst="line">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7" name="直接连接符 176"/>
            <p:cNvCxnSpPr/>
            <p:nvPr/>
          </p:nvCxnSpPr>
          <p:spPr bwMode="gray">
            <a:xfrm>
              <a:off x="8818906" y="3251426"/>
              <a:ext cx="331777" cy="0"/>
            </a:xfrm>
            <a:prstGeom prst="line">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8" name="直接连接符 177"/>
            <p:cNvCxnSpPr/>
            <p:nvPr/>
          </p:nvCxnSpPr>
          <p:spPr bwMode="gray">
            <a:xfrm>
              <a:off x="9150683" y="3251426"/>
              <a:ext cx="99997" cy="454412"/>
            </a:xfrm>
            <a:prstGeom prst="line">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bwMode="gray">
            <a:xfrm>
              <a:off x="10391943" y="3134601"/>
              <a:ext cx="283747" cy="0"/>
            </a:xfrm>
            <a:prstGeom prst="line">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80" name="直接连接符 179"/>
            <p:cNvCxnSpPr/>
            <p:nvPr/>
          </p:nvCxnSpPr>
          <p:spPr bwMode="gray">
            <a:xfrm>
              <a:off x="10688180" y="3128523"/>
              <a:ext cx="99997" cy="454412"/>
            </a:xfrm>
            <a:prstGeom prst="line">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81" name="直接连接符 180"/>
            <p:cNvCxnSpPr/>
            <p:nvPr/>
          </p:nvCxnSpPr>
          <p:spPr bwMode="gray">
            <a:xfrm>
              <a:off x="9810724" y="3796247"/>
              <a:ext cx="927454" cy="0"/>
            </a:xfrm>
            <a:prstGeom prst="line">
              <a:avLst/>
            </a:prstGeom>
            <a:ln w="1905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85" name="表格 84"/>
          <p:cNvGraphicFramePr>
            <a:graphicFrameLocks noGrp="1"/>
          </p:cNvGraphicFramePr>
          <p:nvPr>
            <p:extLst>
              <p:ext uri="{D42A27DB-BD31-4B8C-83A1-F6EECF244321}">
                <p14:modId xmlns:p14="http://schemas.microsoft.com/office/powerpoint/2010/main" val="2836091454"/>
              </p:ext>
            </p:extLst>
          </p:nvPr>
        </p:nvGraphicFramePr>
        <p:xfrm>
          <a:off x="539555" y="4443019"/>
          <a:ext cx="10999342" cy="1407160"/>
        </p:xfrm>
        <a:graphic>
          <a:graphicData uri="http://schemas.openxmlformats.org/drawingml/2006/table">
            <a:tbl>
              <a:tblPr firstRow="1" bandRow="1"/>
              <a:tblGrid>
                <a:gridCol w="1201009">
                  <a:extLst>
                    <a:ext uri="{9D8B030D-6E8A-4147-A177-3AD203B41FA5}">
                      <a16:colId xmlns:a16="http://schemas.microsoft.com/office/drawing/2014/main" val="20000"/>
                    </a:ext>
                  </a:extLst>
                </a:gridCol>
                <a:gridCol w="2873603">
                  <a:extLst>
                    <a:ext uri="{9D8B030D-6E8A-4147-A177-3AD203B41FA5}">
                      <a16:colId xmlns:a16="http://schemas.microsoft.com/office/drawing/2014/main" val="20001"/>
                    </a:ext>
                  </a:extLst>
                </a:gridCol>
                <a:gridCol w="3329732">
                  <a:extLst>
                    <a:ext uri="{9D8B030D-6E8A-4147-A177-3AD203B41FA5}">
                      <a16:colId xmlns:a16="http://schemas.microsoft.com/office/drawing/2014/main" val="20002"/>
                    </a:ext>
                  </a:extLst>
                </a:gridCol>
                <a:gridCol w="3594998">
                  <a:extLst>
                    <a:ext uri="{9D8B030D-6E8A-4147-A177-3AD203B41FA5}">
                      <a16:colId xmlns:a16="http://schemas.microsoft.com/office/drawing/2014/main" val="20003"/>
                    </a:ext>
                  </a:extLst>
                </a:gridCol>
              </a:tblGrid>
              <a:tr h="370840">
                <a:tc>
                  <a:txBody>
                    <a:bodyPr/>
                    <a:lstStyle/>
                    <a:p>
                      <a:pPr algn="ct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简单业务园区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多业务园区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多分支互联园区</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70840">
                <a:tc>
                  <a:txBody>
                    <a:bodyPr/>
                    <a:lstStyle/>
                    <a:p>
                      <a:pPr marL="0" indent="0" algn="ctr" defTabSz="914034" rtl="0" eaLnBrk="1" latinLnBrk="0" hangingPunct="1">
                        <a:lnSpc>
                          <a:spcPct val="100000"/>
                        </a:lnSpc>
                        <a:buFont typeface="Wingdings" panose="05000000000000000000" pitchFamily="2" charset="2"/>
                        <a:buNone/>
                      </a:pPr>
                      <a:r>
                        <a:rPr lang="zh-CN" altLang="en-US" sz="1400" kern="1200" dirty="0">
                          <a:solidFill>
                            <a:srgbClr val="000000"/>
                          </a:solidFill>
                          <a:latin typeface="Huawei Sans" panose="020C0503030203020204" pitchFamily="34" charset="0"/>
                          <a:ea typeface="方正兰亭黑简体" panose="02000000000000000000" pitchFamily="2" charset="-122"/>
                          <a:cs typeface="+mn-cs"/>
                          <a:sym typeface="Huawei Sans" panose="020C0503030203020204" pitchFamily="34" charset="0"/>
                        </a:rPr>
                        <a:t>网络特征</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defTabSz="914034" rtl="0" eaLnBrk="1" latinLnBrk="0" hangingPunct="1">
                        <a:lnSpc>
                          <a:spcPct val="100000"/>
                        </a:lnSpc>
                        <a:buFont typeface="Wingdings" panose="05000000000000000000" pitchFamily="2" charset="2"/>
                        <a:buNone/>
                      </a:pPr>
                      <a:r>
                        <a:rPr lang="zh-CN" altLang="en-US" sz="1400" kern="1200" dirty="0">
                          <a:solidFill>
                            <a:srgbClr val="000000"/>
                          </a:solidFill>
                          <a:latin typeface="Huawei Sans" panose="020C0503030203020204" pitchFamily="34" charset="0"/>
                          <a:ea typeface="方正兰亭黑简体" panose="02000000000000000000" pitchFamily="2" charset="-122"/>
                          <a:cs typeface="+mn-cs"/>
                          <a:sym typeface="Huawei Sans" panose="020C0503030203020204" pitchFamily="34" charset="0"/>
                        </a:rPr>
                        <a:t>规模较小、业务简单；</a:t>
                      </a:r>
                      <a:endParaRPr lang="en-US" altLang="zh-CN" sz="1400" kern="1200" dirty="0">
                        <a:solidFill>
                          <a:srgbClr val="000000"/>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0" indent="0" algn="l" defTabSz="914034" rtl="0" eaLnBrk="1" latinLnBrk="0" hangingPunct="1">
                        <a:lnSpc>
                          <a:spcPct val="100000"/>
                        </a:lnSpc>
                        <a:buFont typeface="Wingdings" panose="05000000000000000000" pitchFamily="2" charset="2"/>
                        <a:buNone/>
                      </a:pPr>
                      <a:r>
                        <a:rPr lang="zh-CN" altLang="en-US" sz="1400" kern="1200" dirty="0">
                          <a:solidFill>
                            <a:srgbClr val="000000"/>
                          </a:solidFill>
                          <a:latin typeface="Huawei Sans" panose="020C0503030203020204" pitchFamily="34" charset="0"/>
                          <a:ea typeface="方正兰亭黑简体" panose="02000000000000000000" pitchFamily="2" charset="-122"/>
                          <a:cs typeface="+mn-cs"/>
                          <a:sym typeface="Huawei Sans" panose="020C0503030203020204" pitchFamily="34" charset="0"/>
                        </a:rPr>
                        <a:t>站点数量多，模型相似。</a:t>
                      </a:r>
                      <a:endParaRPr lang="en-US" altLang="zh-CN" sz="1400" kern="1200" dirty="0">
                        <a:solidFill>
                          <a:srgbClr val="000000"/>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034" rtl="0" eaLnBrk="1" fontAlgn="auto" latinLnBrk="0" hangingPunct="1">
                        <a:lnSpc>
                          <a:spcPct val="100000"/>
                        </a:lnSpc>
                        <a:spcBef>
                          <a:spcPts val="0"/>
                        </a:spcBef>
                        <a:spcAft>
                          <a:spcPts val="0"/>
                        </a:spcAft>
                        <a:buClrTx/>
                        <a:buSzTx/>
                        <a:buFont typeface="Wingdings" panose="05000000000000000000" pitchFamily="2" charset="2"/>
                        <a:buNone/>
                        <a:tabLst/>
                        <a:defRPr/>
                      </a:pPr>
                      <a:r>
                        <a:rPr lang="zh-CN" altLang="en-US" sz="1400" kern="1200" dirty="0">
                          <a:solidFill>
                            <a:srgbClr val="000000"/>
                          </a:solidFill>
                          <a:latin typeface="Huawei Sans" panose="020C0503030203020204" pitchFamily="34" charset="0"/>
                          <a:ea typeface="方正兰亭黑简体" panose="02000000000000000000" pitchFamily="2" charset="-122"/>
                          <a:cs typeface="+mn-cs"/>
                          <a:sym typeface="Huawei Sans" panose="020C0503030203020204" pitchFamily="34" charset="0"/>
                        </a:rPr>
                        <a:t>规模较大、业务复杂、多业务共存。</a:t>
                      </a:r>
                      <a:endParaRPr lang="en-US" altLang="zh-CN" sz="1400" kern="1200" dirty="0">
                        <a:solidFill>
                          <a:srgbClr val="000000"/>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defTabSz="914034" rtl="0" eaLnBrk="1" latinLnBrk="0" hangingPunct="1">
                        <a:lnSpc>
                          <a:spcPct val="100000"/>
                        </a:lnSpc>
                        <a:buFont typeface="Wingdings" panose="05000000000000000000" pitchFamily="2" charset="2"/>
                        <a:buNone/>
                      </a:pPr>
                      <a:r>
                        <a:rPr lang="zh-CN" altLang="en-US" sz="1400" kern="1200" dirty="0">
                          <a:solidFill>
                            <a:srgbClr val="000000"/>
                          </a:solidFill>
                          <a:latin typeface="Huawei Sans" panose="020C0503030203020204" pitchFamily="34" charset="0"/>
                          <a:ea typeface="方正兰亭黑简体" panose="02000000000000000000" pitchFamily="2" charset="-122"/>
                          <a:cs typeface="+mn-cs"/>
                          <a:sym typeface="Huawei Sans" panose="020C0503030203020204" pitchFamily="34" charset="0"/>
                        </a:rPr>
                        <a:t>存在多个分支站点，站点间存在通过混合</a:t>
                      </a:r>
                      <a:r>
                        <a:rPr lang="en-US" altLang="zh-CN" sz="1400" kern="1200" dirty="0">
                          <a:solidFill>
                            <a:srgbClr val="000000"/>
                          </a:solidFill>
                          <a:latin typeface="Huawei Sans" panose="020C0503030203020204" pitchFamily="34" charset="0"/>
                          <a:ea typeface="方正兰亭黑简体" panose="02000000000000000000" pitchFamily="2" charset="-122"/>
                          <a:cs typeface="+mn-cs"/>
                          <a:sym typeface="Huawei Sans" panose="020C0503030203020204" pitchFamily="34" charset="0"/>
                        </a:rPr>
                        <a:t>WAN</a:t>
                      </a:r>
                      <a:r>
                        <a:rPr lang="zh-CN" altLang="en-US" sz="1400" kern="1200" dirty="0">
                          <a:solidFill>
                            <a:srgbClr val="000000"/>
                          </a:solidFill>
                          <a:latin typeface="Huawei Sans" panose="020C0503030203020204" pitchFamily="34" charset="0"/>
                          <a:ea typeface="方正兰亭黑简体" panose="02000000000000000000" pitchFamily="2" charset="-122"/>
                          <a:cs typeface="+mn-cs"/>
                          <a:sym typeface="Huawei Sans" panose="020C0503030203020204" pitchFamily="34" charset="0"/>
                        </a:rPr>
                        <a:t>链路互访需求。</a:t>
                      </a:r>
                      <a:endParaRPr lang="en-US" altLang="zh-CN" sz="1400" kern="1200" dirty="0">
                        <a:solidFill>
                          <a:srgbClr val="000000"/>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marL="0" indent="0" algn="ctr" defTabSz="914034" rtl="0" eaLnBrk="1" latinLnBrk="0" hangingPunct="1">
                        <a:lnSpc>
                          <a:spcPct val="100000"/>
                        </a:lnSpc>
                        <a:buFont typeface="Wingdings" panose="05000000000000000000" pitchFamily="2" charset="2"/>
                        <a:buNone/>
                      </a:pPr>
                      <a:r>
                        <a:rPr lang="zh-CN" altLang="en-US" sz="1400" kern="1200" dirty="0">
                          <a:solidFill>
                            <a:srgbClr val="000000"/>
                          </a:solidFill>
                          <a:latin typeface="Huawei Sans" panose="020C0503030203020204" pitchFamily="34" charset="0"/>
                          <a:ea typeface="方正兰亭黑简体" panose="02000000000000000000" pitchFamily="2" charset="-122"/>
                          <a:cs typeface="+mn-cs"/>
                          <a:sym typeface="Huawei Sans" panose="020C0503030203020204" pitchFamily="34" charset="0"/>
                        </a:rPr>
                        <a:t>典型场景</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0" indent="0" algn="l" defTabSz="914034" rtl="0" eaLnBrk="1" fontAlgn="auto" latinLnBrk="0" hangingPunct="1">
                        <a:lnSpc>
                          <a:spcPct val="100000"/>
                        </a:lnSpc>
                        <a:spcBef>
                          <a:spcPts val="0"/>
                        </a:spcBef>
                        <a:spcAft>
                          <a:spcPts val="0"/>
                        </a:spcAft>
                        <a:buClrTx/>
                        <a:buSzTx/>
                        <a:buFont typeface="Wingdings" panose="05000000000000000000" pitchFamily="2" charset="2"/>
                        <a:buNone/>
                        <a:tabLst/>
                        <a:defRPr/>
                      </a:pPr>
                      <a:r>
                        <a:rPr lang="zh-CN" altLang="en-US" sz="1400" kern="1200" dirty="0">
                          <a:solidFill>
                            <a:srgbClr val="000000"/>
                          </a:solidFill>
                          <a:latin typeface="Huawei Sans" panose="020C0503030203020204" pitchFamily="34" charset="0"/>
                          <a:ea typeface="方正兰亭黑简体" panose="02000000000000000000" pitchFamily="2" charset="-122"/>
                          <a:cs typeface="+mn-cs"/>
                          <a:sym typeface="Huawei Sans" panose="020C0503030203020204" pitchFamily="34" charset="0"/>
                        </a:rPr>
                        <a:t>酒店、普教等多分支及小型企业园区。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0" indent="0" algn="l" defTabSz="914034" rtl="0" eaLnBrk="1" fontAlgn="auto" latinLnBrk="0" hangingPunct="1">
                        <a:lnSpc>
                          <a:spcPct val="100000"/>
                        </a:lnSpc>
                        <a:spcBef>
                          <a:spcPts val="0"/>
                        </a:spcBef>
                        <a:spcAft>
                          <a:spcPts val="0"/>
                        </a:spcAft>
                        <a:buClrTx/>
                        <a:buSzTx/>
                        <a:buFont typeface="Wingdings" panose="05000000000000000000" pitchFamily="2" charset="2"/>
                        <a:buNone/>
                        <a:tabLst/>
                        <a:defRPr/>
                      </a:pPr>
                      <a:r>
                        <a:rPr lang="zh-CN" altLang="en-US" sz="1400" kern="1200" dirty="0">
                          <a:solidFill>
                            <a:srgbClr val="000000"/>
                          </a:solidFill>
                          <a:latin typeface="Huawei Sans" panose="020C0503030203020204" pitchFamily="34" charset="0"/>
                          <a:ea typeface="方正兰亭黑简体" panose="02000000000000000000" pitchFamily="2" charset="-122"/>
                          <a:cs typeface="+mn-cs"/>
                          <a:sym typeface="Huawei Sans" panose="020C0503030203020204" pitchFamily="34" charset="0"/>
                        </a:rPr>
                        <a:t>高校、政府、大企业园区等。</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0" indent="0" algn="l" defTabSz="914034" rtl="0" eaLnBrk="1" fontAlgn="auto" latinLnBrk="0" hangingPunct="1">
                        <a:lnSpc>
                          <a:spcPct val="100000"/>
                        </a:lnSpc>
                        <a:spcBef>
                          <a:spcPts val="0"/>
                        </a:spcBef>
                        <a:spcAft>
                          <a:spcPts val="0"/>
                        </a:spcAft>
                        <a:buClrTx/>
                        <a:buSzTx/>
                        <a:buFont typeface="Wingdings" panose="05000000000000000000" pitchFamily="2" charset="2"/>
                        <a:buNone/>
                        <a:tabLst/>
                        <a:defRPr/>
                      </a:pPr>
                      <a:r>
                        <a:rPr lang="zh-CN" altLang="en-US" sz="1400" kern="1200" dirty="0">
                          <a:solidFill>
                            <a:srgbClr val="000000"/>
                          </a:solidFill>
                          <a:latin typeface="Huawei Sans" panose="020C0503030203020204" pitchFamily="34" charset="0"/>
                          <a:ea typeface="方正兰亭黑简体" panose="02000000000000000000" pitchFamily="2" charset="-122"/>
                          <a:cs typeface="+mn-cs"/>
                          <a:sym typeface="Huawei Sans" panose="020C0503030203020204" pitchFamily="34" charset="0"/>
                        </a:rPr>
                        <a:t>大企业、金融网点等。</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1134282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a:sym typeface="Huawei Sans" panose="020C0503030203020204" pitchFamily="34" charset="0"/>
              </a:rPr>
              <a:t>全周期：规建维优</a:t>
            </a:r>
            <a:endParaRPr lang="zh-CN" altLang="en-US" dirty="0">
              <a:sym typeface="Huawei Sans" panose="020C0503030203020204" pitchFamily="34" charset="0"/>
            </a:endParaRPr>
          </a:p>
        </p:txBody>
      </p:sp>
      <p:sp>
        <p:nvSpPr>
          <p:cNvPr id="31" name="Right Arrow 28"/>
          <p:cNvSpPr/>
          <p:nvPr/>
        </p:nvSpPr>
        <p:spPr bwMode="gray">
          <a:xfrm>
            <a:off x="455613" y="1236515"/>
            <a:ext cx="11256962" cy="592250"/>
          </a:xfrm>
          <a:prstGeom prst="rightArrow">
            <a:avLst>
              <a:gd name="adj1" fmla="val 100000"/>
              <a:gd name="adj2" fmla="val 37278"/>
            </a:avLst>
          </a:prstGeom>
          <a:gradFill flip="none" rotWithShape="1">
            <a:gsLst>
              <a:gs pos="0">
                <a:srgbClr val="BEE9EE"/>
              </a:gs>
              <a:gs pos="96000">
                <a:srgbClr val="94DAE2"/>
              </a:gs>
            </a:gsLst>
            <a:lin ang="0" scaled="1"/>
            <a:tileRect/>
          </a:gradFill>
          <a:ln w="12700" cap="flat" cmpd="sng" algn="ctr">
            <a:noFill/>
            <a:prstDash val="solid"/>
            <a:miter lim="800000"/>
          </a:ln>
          <a:effectLst/>
        </p:spPr>
        <p:txBody>
          <a:bodyPr lIns="91413" tIns="45705" rIns="91413" bIns="45705"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圆角矩形 31"/>
          <p:cNvSpPr/>
          <p:nvPr/>
        </p:nvSpPr>
        <p:spPr bwMode="gray">
          <a:xfrm>
            <a:off x="671486" y="1307681"/>
            <a:ext cx="2317553" cy="396000"/>
          </a:xfrm>
          <a:prstGeom prst="roundRect">
            <a:avLst/>
          </a:prstGeom>
          <a:solidFill>
            <a:srgbClr val="F3FBFE"/>
          </a:solidFill>
          <a:ln w="12700" cap="flat" cmpd="sng" algn="ctr">
            <a:solidFill>
              <a:srgbClr val="BEE9EE"/>
            </a:solidFill>
            <a:prstDash val="solid"/>
            <a:miter lim="800000"/>
          </a:ln>
          <a:effectLst>
            <a:outerShdw blurRad="50800" dist="38100" dir="5400000" algn="t" rotWithShape="0">
              <a:prstClr val="black">
                <a:alpha val="40000"/>
              </a:prstClr>
            </a:outerShdw>
          </a:effectLst>
        </p:spPr>
        <p:txBody>
          <a:bodyPr wrap="square" tIns="0" bIns="0" rtlCol="0" anchor="ctr" anchorCtr="0">
            <a:noAutofit/>
          </a:bodyPr>
          <a:lstStyle/>
          <a:p>
            <a:pPr algn="ctr" defTabSz="914400">
              <a:lnSpc>
                <a:spcPct val="150000"/>
              </a:lnSpc>
            </a:pPr>
            <a:r>
              <a:rPr lang="zh-CN" altLang="en-US" sz="1600"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规划（</a:t>
            </a:r>
            <a:r>
              <a:rPr lang="en-US" altLang="zh-CN" sz="1600"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Day 0</a:t>
            </a:r>
            <a:r>
              <a:rPr lang="zh-CN" altLang="en-US" sz="1600"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33" name="圆角矩形 32"/>
          <p:cNvSpPr/>
          <p:nvPr/>
        </p:nvSpPr>
        <p:spPr bwMode="gray">
          <a:xfrm>
            <a:off x="3465486" y="1307681"/>
            <a:ext cx="2317553" cy="396000"/>
          </a:xfrm>
          <a:prstGeom prst="roundRect">
            <a:avLst/>
          </a:prstGeom>
          <a:solidFill>
            <a:srgbClr val="F3FBFE"/>
          </a:solidFill>
          <a:ln w="12700" cap="flat" cmpd="sng" algn="ctr">
            <a:solidFill>
              <a:srgbClr val="BEE9EE"/>
            </a:solidFill>
            <a:prstDash val="solid"/>
            <a:miter lim="800000"/>
          </a:ln>
          <a:effectLst>
            <a:outerShdw blurRad="50800" dist="38100" dir="5400000" algn="t" rotWithShape="0">
              <a:prstClr val="black">
                <a:alpha val="40000"/>
              </a:prstClr>
            </a:outerShdw>
          </a:effectLst>
        </p:spPr>
        <p:txBody>
          <a:bodyPr wrap="square" tIns="0" bIns="0" rtlCol="0" anchor="ctr" anchorCtr="0">
            <a:noAutofit/>
          </a:bodyPr>
          <a:lstStyle/>
          <a:p>
            <a:pPr algn="ctr" defTabSz="914400">
              <a:lnSpc>
                <a:spcPct val="150000"/>
              </a:lnSpc>
            </a:pPr>
            <a:r>
              <a:rPr lang="zh-CN" altLang="en-US" sz="1600" ker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建设（</a:t>
            </a:r>
            <a:r>
              <a:rPr lang="en-US" altLang="zh-CN" sz="1600" ker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Day1~2</a:t>
            </a:r>
            <a:r>
              <a:rPr lang="zh-CN" altLang="en-US" sz="1600" ker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34" name="圆角矩形 33"/>
          <p:cNvSpPr/>
          <p:nvPr/>
        </p:nvSpPr>
        <p:spPr bwMode="gray">
          <a:xfrm>
            <a:off x="6259486" y="1307681"/>
            <a:ext cx="2317553" cy="396000"/>
          </a:xfrm>
          <a:prstGeom prst="roundRect">
            <a:avLst/>
          </a:prstGeom>
          <a:solidFill>
            <a:srgbClr val="F3FBFE"/>
          </a:solidFill>
          <a:ln w="12700" cap="flat" cmpd="sng" algn="ctr">
            <a:solidFill>
              <a:srgbClr val="BEE9EE"/>
            </a:solidFill>
            <a:prstDash val="solid"/>
            <a:miter lim="800000"/>
          </a:ln>
          <a:effectLst>
            <a:outerShdw blurRad="50800" dist="38100" dir="5400000" algn="t" rotWithShape="0">
              <a:prstClr val="black">
                <a:alpha val="40000"/>
              </a:prstClr>
            </a:outerShdw>
          </a:effectLst>
        </p:spPr>
        <p:txBody>
          <a:bodyPr wrap="square" tIns="0" bIns="0" rtlCol="0" anchor="ctr" anchorCtr="0">
            <a:noAutofit/>
          </a:bodyPr>
          <a:lstStyle/>
          <a:p>
            <a:pPr algn="ctr" defTabSz="914400">
              <a:lnSpc>
                <a:spcPct val="150000"/>
              </a:lnSpc>
            </a:pPr>
            <a:r>
              <a:rPr lang="zh-CN" altLang="en-US" sz="1600"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运维（</a:t>
            </a:r>
            <a:r>
              <a:rPr lang="en-US" altLang="zh-CN" sz="1600"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Day N</a:t>
            </a:r>
            <a:r>
              <a:rPr lang="zh-CN" altLang="en-US" sz="1600" kern="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35" name="圆角矩形 34"/>
          <p:cNvSpPr/>
          <p:nvPr/>
        </p:nvSpPr>
        <p:spPr bwMode="gray">
          <a:xfrm>
            <a:off x="9053486" y="1307681"/>
            <a:ext cx="2317553" cy="396000"/>
          </a:xfrm>
          <a:prstGeom prst="roundRect">
            <a:avLst/>
          </a:prstGeom>
          <a:solidFill>
            <a:srgbClr val="F3FBFE"/>
          </a:solidFill>
          <a:ln w="12700" cap="flat" cmpd="sng" algn="ctr">
            <a:solidFill>
              <a:srgbClr val="BEE9EE"/>
            </a:solidFill>
            <a:prstDash val="solid"/>
            <a:miter lim="800000"/>
          </a:ln>
          <a:effectLst>
            <a:outerShdw blurRad="50800" dist="38100" dir="5400000" algn="t" rotWithShape="0">
              <a:prstClr val="black">
                <a:alpha val="40000"/>
              </a:prstClr>
            </a:outerShdw>
          </a:effectLst>
        </p:spPr>
        <p:txBody>
          <a:bodyPr wrap="square" tIns="0" bIns="0" rtlCol="0" anchor="ctr" anchorCtr="0">
            <a:noAutofit/>
          </a:bodyPr>
          <a:lstStyle/>
          <a:p>
            <a:pPr algn="ctr" defTabSz="914400">
              <a:lnSpc>
                <a:spcPct val="150000"/>
              </a:lnSpc>
            </a:pPr>
            <a:r>
              <a:rPr lang="zh-CN" altLang="en-US" sz="1600" ker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优化（</a:t>
            </a:r>
            <a:r>
              <a:rPr lang="en-US" altLang="zh-CN" sz="1600" ker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Day N</a:t>
            </a:r>
            <a:r>
              <a:rPr lang="zh-CN" altLang="en-US" sz="1600" kern="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36" name="圆角矩形 35"/>
          <p:cNvSpPr/>
          <p:nvPr/>
        </p:nvSpPr>
        <p:spPr bwMode="gray">
          <a:xfrm>
            <a:off x="671486" y="1948289"/>
            <a:ext cx="2317553" cy="3933380"/>
          </a:xfrm>
          <a:prstGeom prst="roundRect">
            <a:avLst>
              <a:gd name="adj" fmla="val 4220"/>
            </a:avLst>
          </a:prstGeom>
          <a:solidFill>
            <a:sysClr val="window" lastClr="FFFFFF">
              <a:lumMod val="95000"/>
            </a:sysClr>
          </a:solidFill>
          <a:ln w="12700" cap="flat" cmpd="sng" algn="ctr">
            <a:noFill/>
            <a:prstDash val="solid"/>
            <a:miter lim="800000"/>
          </a:ln>
          <a:effectLst/>
        </p:spPr>
        <p:txBody>
          <a:bodyPr lIns="72000" tIns="72000" rIns="72000" bIns="72000" rtlCol="0" anchor="ctr"/>
          <a:lstStyle/>
          <a:p>
            <a:pPr marL="182563" marR="0" lvl="0" indent="-182563" defTabSz="914400" eaLnBrk="1" fontAlgn="auto" latinLnBrk="0" hangingPunct="1">
              <a:lnSpc>
                <a:spcPts val="2000"/>
              </a:lnSpc>
              <a:spcBef>
                <a:spcPts val="0"/>
              </a:spcBef>
              <a:spcAft>
                <a:spcPts val="600"/>
              </a:spcAft>
              <a:buClrTx/>
              <a:buSzTx/>
              <a:buFont typeface="Arial" panose="020B0604020202020204" pitchFamily="34" charset="0"/>
              <a:buChar char="•"/>
              <a:tabLst/>
              <a:defRPr/>
            </a:pPr>
            <a:endParaRPr kumimoji="0" lang="en-US" altLang="zh-CN" sz="1400" b="0" i="0" u="none" strike="noStrike" kern="0" cap="none" spc="0" normalizeH="0" baseline="0" noProof="0">
              <a:ln>
                <a:noFill/>
              </a:ln>
              <a:solidFill>
                <a:prstClr val="black">
                  <a:lumMod val="65000"/>
                  <a:lumOff val="35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圆角矩形 36"/>
          <p:cNvSpPr/>
          <p:nvPr/>
        </p:nvSpPr>
        <p:spPr bwMode="gray">
          <a:xfrm>
            <a:off x="991732" y="3068089"/>
            <a:ext cx="1677060" cy="338555"/>
          </a:xfrm>
          <a:prstGeom prst="roundRect">
            <a:avLst/>
          </a:prstGeom>
          <a:solidFill>
            <a:srgbClr val="FDD351"/>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有线网络规划</a:t>
            </a:r>
          </a:p>
        </p:txBody>
      </p:sp>
      <p:sp>
        <p:nvSpPr>
          <p:cNvPr id="38" name="圆角矩形 37"/>
          <p:cNvSpPr/>
          <p:nvPr/>
        </p:nvSpPr>
        <p:spPr bwMode="gray">
          <a:xfrm>
            <a:off x="991732" y="3831834"/>
            <a:ext cx="1677060" cy="338555"/>
          </a:xfrm>
          <a:prstGeom prst="roundRect">
            <a:avLst/>
          </a:prstGeom>
          <a:solidFill>
            <a:srgbClr val="30B5C5"/>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站点设计</a:t>
            </a:r>
          </a:p>
        </p:txBody>
      </p:sp>
      <p:sp>
        <p:nvSpPr>
          <p:cNvPr id="39" name="圆角矩形 38"/>
          <p:cNvSpPr/>
          <p:nvPr/>
        </p:nvSpPr>
        <p:spPr bwMode="gray">
          <a:xfrm>
            <a:off x="991732" y="4595580"/>
            <a:ext cx="1677060" cy="338555"/>
          </a:xfrm>
          <a:prstGeom prst="roundRect">
            <a:avLst/>
          </a:prstGeom>
          <a:solidFill>
            <a:srgbClr val="30B5C5"/>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网络资源规划</a:t>
            </a:r>
          </a:p>
        </p:txBody>
      </p:sp>
      <p:sp>
        <p:nvSpPr>
          <p:cNvPr id="40" name="圆角矩形 39"/>
          <p:cNvSpPr/>
          <p:nvPr/>
        </p:nvSpPr>
        <p:spPr bwMode="gray">
          <a:xfrm>
            <a:off x="991732" y="2304344"/>
            <a:ext cx="1677060" cy="338555"/>
          </a:xfrm>
          <a:prstGeom prst="roundRect">
            <a:avLst/>
          </a:prstGeom>
          <a:solidFill>
            <a:srgbClr val="FDD351"/>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无线网络规划</a:t>
            </a:r>
          </a:p>
        </p:txBody>
      </p:sp>
      <p:sp>
        <p:nvSpPr>
          <p:cNvPr id="41" name="圆角矩形 40"/>
          <p:cNvSpPr/>
          <p:nvPr/>
        </p:nvSpPr>
        <p:spPr bwMode="gray">
          <a:xfrm>
            <a:off x="3465486" y="1948289"/>
            <a:ext cx="2317553" cy="3933380"/>
          </a:xfrm>
          <a:prstGeom prst="roundRect">
            <a:avLst>
              <a:gd name="adj" fmla="val 4220"/>
            </a:avLst>
          </a:prstGeom>
          <a:solidFill>
            <a:sysClr val="window" lastClr="FFFFFF">
              <a:lumMod val="95000"/>
            </a:sysClr>
          </a:solidFill>
          <a:ln w="12700" cap="flat" cmpd="sng" algn="ctr">
            <a:noFill/>
            <a:prstDash val="solid"/>
            <a:miter lim="800000"/>
          </a:ln>
          <a:effectLst/>
        </p:spPr>
        <p:txBody>
          <a:bodyPr lIns="72000" tIns="72000" rIns="72000" bIns="72000" rtlCol="0" anchor="ctr"/>
          <a:lstStyle/>
          <a:p>
            <a:pPr marL="182563" marR="0" lvl="0" indent="-182563" defTabSz="914400" eaLnBrk="1" fontAlgn="auto" latinLnBrk="0" hangingPunct="1">
              <a:lnSpc>
                <a:spcPts val="2000"/>
              </a:lnSpc>
              <a:spcBef>
                <a:spcPts val="0"/>
              </a:spcBef>
              <a:spcAft>
                <a:spcPts val="600"/>
              </a:spcAft>
              <a:buClrTx/>
              <a:buSzTx/>
              <a:buFont typeface="Arial" panose="020B0604020202020204" pitchFamily="34" charset="0"/>
              <a:buChar char="•"/>
              <a:tabLst/>
              <a:defRPr/>
            </a:pPr>
            <a:endParaRPr kumimoji="0" lang="en-US" altLang="zh-CN" sz="1400" b="0" i="0" u="none" strike="noStrike" kern="0" cap="none" spc="0" normalizeH="0" baseline="0" noProof="0">
              <a:ln>
                <a:noFill/>
              </a:ln>
              <a:solidFill>
                <a:prstClr val="black">
                  <a:lumMod val="65000"/>
                  <a:lumOff val="35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圆角矩形 41"/>
          <p:cNvSpPr/>
          <p:nvPr/>
        </p:nvSpPr>
        <p:spPr bwMode="gray">
          <a:xfrm>
            <a:off x="3785732" y="3068089"/>
            <a:ext cx="1677060" cy="338555"/>
          </a:xfrm>
          <a:prstGeom prst="roundRect">
            <a:avLst/>
          </a:prstGeom>
          <a:solidFill>
            <a:srgbClr val="30B5C5"/>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物理网络部署</a:t>
            </a:r>
          </a:p>
        </p:txBody>
      </p:sp>
      <p:sp>
        <p:nvSpPr>
          <p:cNvPr id="43" name="圆角矩形 42"/>
          <p:cNvSpPr/>
          <p:nvPr/>
        </p:nvSpPr>
        <p:spPr bwMode="gray">
          <a:xfrm>
            <a:off x="3785732" y="3831834"/>
            <a:ext cx="1677060" cy="338555"/>
          </a:xfrm>
          <a:prstGeom prst="roundRect">
            <a:avLst/>
          </a:prstGeom>
          <a:solidFill>
            <a:srgbClr val="30B5C5"/>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虚拟网络部署</a:t>
            </a:r>
          </a:p>
        </p:txBody>
      </p:sp>
      <p:sp>
        <p:nvSpPr>
          <p:cNvPr id="44" name="圆角矩形 43"/>
          <p:cNvSpPr/>
          <p:nvPr/>
        </p:nvSpPr>
        <p:spPr bwMode="gray">
          <a:xfrm>
            <a:off x="3785732" y="4595580"/>
            <a:ext cx="1677060" cy="338555"/>
          </a:xfrm>
          <a:prstGeom prst="roundRect">
            <a:avLst/>
          </a:prstGeom>
          <a:solidFill>
            <a:srgbClr val="30B5C5"/>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业务策略发放</a:t>
            </a:r>
          </a:p>
        </p:txBody>
      </p:sp>
      <p:sp>
        <p:nvSpPr>
          <p:cNvPr id="45" name="圆角矩形 44"/>
          <p:cNvSpPr/>
          <p:nvPr/>
        </p:nvSpPr>
        <p:spPr bwMode="gray">
          <a:xfrm>
            <a:off x="3785732" y="2304344"/>
            <a:ext cx="1677060" cy="338555"/>
          </a:xfrm>
          <a:prstGeom prst="roundRect">
            <a:avLst/>
          </a:prstGeom>
          <a:solidFill>
            <a:srgbClr val="FDD351"/>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硬件安装</a:t>
            </a:r>
          </a:p>
        </p:txBody>
      </p:sp>
      <p:sp>
        <p:nvSpPr>
          <p:cNvPr id="46" name="圆角矩形 45"/>
          <p:cNvSpPr/>
          <p:nvPr/>
        </p:nvSpPr>
        <p:spPr bwMode="gray">
          <a:xfrm>
            <a:off x="6259486" y="1948289"/>
            <a:ext cx="2317553" cy="3933380"/>
          </a:xfrm>
          <a:prstGeom prst="roundRect">
            <a:avLst>
              <a:gd name="adj" fmla="val 4220"/>
            </a:avLst>
          </a:prstGeom>
          <a:solidFill>
            <a:sysClr val="window" lastClr="FFFFFF">
              <a:lumMod val="95000"/>
            </a:sysClr>
          </a:solidFill>
          <a:ln w="12700" cap="flat" cmpd="sng" algn="ctr">
            <a:noFill/>
            <a:prstDash val="solid"/>
            <a:miter lim="800000"/>
          </a:ln>
          <a:effectLst/>
        </p:spPr>
        <p:txBody>
          <a:bodyPr lIns="72000" tIns="72000" rIns="72000" bIns="72000" rtlCol="0" anchor="ctr"/>
          <a:lstStyle/>
          <a:p>
            <a:pPr marL="182563" marR="0" lvl="0" indent="-182563" defTabSz="914400" eaLnBrk="1" fontAlgn="auto" latinLnBrk="0" hangingPunct="1">
              <a:lnSpc>
                <a:spcPts val="2000"/>
              </a:lnSpc>
              <a:spcBef>
                <a:spcPts val="0"/>
              </a:spcBef>
              <a:spcAft>
                <a:spcPts val="600"/>
              </a:spcAft>
              <a:buClrTx/>
              <a:buSzTx/>
              <a:buFont typeface="Arial" panose="020B0604020202020204" pitchFamily="34" charset="0"/>
              <a:buChar char="•"/>
              <a:tabLst/>
              <a:defRPr/>
            </a:pPr>
            <a:endParaRPr kumimoji="0" lang="en-US" altLang="zh-CN" sz="1400" b="0" i="0" u="none" strike="noStrike" kern="0" cap="none" spc="0" normalizeH="0" baseline="0" noProof="0">
              <a:ln>
                <a:noFill/>
              </a:ln>
              <a:solidFill>
                <a:prstClr val="black">
                  <a:lumMod val="65000"/>
                  <a:lumOff val="35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圆角矩形 46"/>
          <p:cNvSpPr/>
          <p:nvPr/>
        </p:nvSpPr>
        <p:spPr bwMode="gray">
          <a:xfrm>
            <a:off x="6579732" y="2892989"/>
            <a:ext cx="1677060" cy="338555"/>
          </a:xfrm>
          <a:prstGeom prst="roundRect">
            <a:avLst/>
          </a:prstGeom>
          <a:solidFill>
            <a:srgbClr val="30B5C5"/>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定期维护</a:t>
            </a:r>
            <a:r>
              <a:rPr kumimoji="0" lang="en-US" altLang="zh-CN" sz="14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r>
              <a:rPr kumimoji="0" lang="zh-CN" altLang="en-US" sz="14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对设备</a:t>
            </a:r>
          </a:p>
        </p:txBody>
      </p:sp>
      <p:sp>
        <p:nvSpPr>
          <p:cNvPr id="48" name="圆角矩形 47"/>
          <p:cNvSpPr/>
          <p:nvPr/>
        </p:nvSpPr>
        <p:spPr bwMode="gray">
          <a:xfrm>
            <a:off x="6579732" y="3481634"/>
            <a:ext cx="1677060" cy="338555"/>
          </a:xfrm>
          <a:prstGeom prst="roundRect">
            <a:avLst/>
          </a:prstGeom>
          <a:solidFill>
            <a:srgbClr val="30B5C5"/>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系统维护</a:t>
            </a:r>
            <a:r>
              <a:rPr kumimoji="0" lang="en-US" altLang="zh-CN" sz="14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r>
              <a:rPr kumimoji="0" lang="zh-CN" altLang="en-US" sz="14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对控制器</a:t>
            </a:r>
          </a:p>
        </p:txBody>
      </p:sp>
      <p:sp>
        <p:nvSpPr>
          <p:cNvPr id="49" name="圆角矩形 48"/>
          <p:cNvSpPr/>
          <p:nvPr/>
        </p:nvSpPr>
        <p:spPr bwMode="gray">
          <a:xfrm>
            <a:off x="6579732" y="4070279"/>
            <a:ext cx="1677060" cy="338555"/>
          </a:xfrm>
          <a:prstGeom prst="roundRect">
            <a:avLst/>
          </a:prstGeom>
          <a:solidFill>
            <a:srgbClr val="30B5C5"/>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体验可视</a:t>
            </a:r>
          </a:p>
        </p:txBody>
      </p:sp>
      <p:sp>
        <p:nvSpPr>
          <p:cNvPr id="50" name="圆角矩形 49"/>
          <p:cNvSpPr/>
          <p:nvPr/>
        </p:nvSpPr>
        <p:spPr bwMode="gray">
          <a:xfrm>
            <a:off x="6579732" y="2304344"/>
            <a:ext cx="1677060" cy="338555"/>
          </a:xfrm>
          <a:prstGeom prst="roundRect">
            <a:avLst/>
          </a:prstGeom>
          <a:solidFill>
            <a:srgbClr val="30B5C5"/>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网络监控</a:t>
            </a:r>
          </a:p>
        </p:txBody>
      </p:sp>
      <p:sp>
        <p:nvSpPr>
          <p:cNvPr id="51" name="圆角矩形 50"/>
          <p:cNvSpPr/>
          <p:nvPr/>
        </p:nvSpPr>
        <p:spPr bwMode="gray">
          <a:xfrm>
            <a:off x="9053486" y="1948289"/>
            <a:ext cx="2317553" cy="3933380"/>
          </a:xfrm>
          <a:prstGeom prst="roundRect">
            <a:avLst>
              <a:gd name="adj" fmla="val 4220"/>
            </a:avLst>
          </a:prstGeom>
          <a:solidFill>
            <a:sysClr val="window" lastClr="FFFFFF">
              <a:lumMod val="95000"/>
            </a:sysClr>
          </a:solidFill>
          <a:ln w="12700" cap="flat" cmpd="sng" algn="ctr">
            <a:noFill/>
            <a:prstDash val="solid"/>
            <a:miter lim="800000"/>
          </a:ln>
          <a:effectLst/>
        </p:spPr>
        <p:txBody>
          <a:bodyPr lIns="72000" tIns="72000" rIns="72000" bIns="72000" rtlCol="0" anchor="ctr"/>
          <a:lstStyle/>
          <a:p>
            <a:pPr marL="182563" marR="0" lvl="0" indent="-182563" defTabSz="914400" eaLnBrk="1" fontAlgn="auto" latinLnBrk="0" hangingPunct="1">
              <a:lnSpc>
                <a:spcPts val="2000"/>
              </a:lnSpc>
              <a:spcBef>
                <a:spcPts val="0"/>
              </a:spcBef>
              <a:spcAft>
                <a:spcPts val="600"/>
              </a:spcAft>
              <a:buClrTx/>
              <a:buSzTx/>
              <a:buFont typeface="Arial" panose="020B0604020202020204" pitchFamily="34" charset="0"/>
              <a:buChar char="•"/>
              <a:tabLst/>
              <a:defRPr/>
            </a:pPr>
            <a:endParaRPr kumimoji="0" lang="en-US" altLang="zh-CN" sz="1400" b="0" i="0" u="none" strike="noStrike" kern="0" cap="none" spc="0" normalizeH="0" baseline="0" noProof="0">
              <a:ln>
                <a:noFill/>
              </a:ln>
              <a:solidFill>
                <a:prstClr val="black">
                  <a:lumMod val="65000"/>
                  <a:lumOff val="35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圆角矩形 51"/>
          <p:cNvSpPr/>
          <p:nvPr/>
        </p:nvSpPr>
        <p:spPr bwMode="gray">
          <a:xfrm>
            <a:off x="9373732" y="2304344"/>
            <a:ext cx="1677060" cy="338555"/>
          </a:xfrm>
          <a:prstGeom prst="roundRect">
            <a:avLst/>
          </a:prstGeom>
          <a:solidFill>
            <a:srgbClr val="30B5C5"/>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网络调优</a:t>
            </a:r>
          </a:p>
        </p:txBody>
      </p:sp>
      <p:sp>
        <p:nvSpPr>
          <p:cNvPr id="53" name="文本框 52"/>
          <p:cNvSpPr txBox="1"/>
          <p:nvPr/>
        </p:nvSpPr>
        <p:spPr bwMode="gray">
          <a:xfrm>
            <a:off x="1226588" y="2638996"/>
            <a:ext cx="1212191" cy="276999"/>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chemeClr val="bg1">
                    <a:lumMod val="50000"/>
                  </a:schemeClr>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WLAN Planner</a:t>
            </a:r>
            <a:endParaRPr kumimoji="0" lang="zh-CN" altLang="en-US" sz="1200" b="0" i="0" u="none" strike="noStrike" kern="0" cap="none" spc="0" normalizeH="0" baseline="0" noProof="0" dirty="0">
              <a:ln>
                <a:noFill/>
              </a:ln>
              <a:solidFill>
                <a:schemeClr val="bg1">
                  <a:lumMod val="50000"/>
                </a:scheme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文本框 53"/>
          <p:cNvSpPr txBox="1"/>
          <p:nvPr/>
        </p:nvSpPr>
        <p:spPr bwMode="gray">
          <a:xfrm>
            <a:off x="1432573" y="3402741"/>
            <a:ext cx="800219" cy="276999"/>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a:ln>
                  <a:noFill/>
                </a:ln>
                <a:solidFill>
                  <a:schemeClr val="bg1">
                    <a:lumMod val="50000"/>
                  </a:schemeClr>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人工规划</a:t>
            </a:r>
            <a:endParaRPr kumimoji="0" lang="zh-CN" altLang="en-US" sz="1200" b="0" i="0" u="none" strike="noStrike" kern="0" cap="none" spc="0" normalizeH="0" baseline="0" noProof="0">
              <a:ln>
                <a:noFill/>
              </a:ln>
              <a:solidFill>
                <a:schemeClr val="bg1">
                  <a:lumMod val="50000"/>
                </a:scheme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文本框 54"/>
          <p:cNvSpPr txBox="1"/>
          <p:nvPr/>
        </p:nvSpPr>
        <p:spPr bwMode="gray">
          <a:xfrm>
            <a:off x="4224151" y="2635217"/>
            <a:ext cx="800219" cy="276999"/>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a:ln>
                  <a:noFill/>
                </a:ln>
                <a:solidFill>
                  <a:schemeClr val="bg1">
                    <a:lumMod val="50000"/>
                  </a:schemeClr>
                </a:solidFill>
                <a:effectLst/>
                <a:uLnTx/>
                <a:uFillTx/>
                <a:latin typeface="Huawei Sans" panose="020C0503030203020204" pitchFamily="34" charset="0"/>
                <a:ea typeface="方正兰亭黑简体" panose="02000000000000000000" pitchFamily="2" charset="-122"/>
                <a:cs typeface="+mn-ea"/>
                <a:sym typeface="Huawei Sans" panose="020C0503030203020204" pitchFamily="34" charset="0"/>
              </a:rPr>
              <a:t>人工安装</a:t>
            </a:r>
            <a:endParaRPr kumimoji="0" lang="zh-CN" altLang="en-US" sz="1200" b="0" i="0" u="none" strike="noStrike" kern="0" cap="none" spc="0" normalizeH="0" baseline="0" noProof="0">
              <a:ln>
                <a:noFill/>
              </a:ln>
              <a:solidFill>
                <a:schemeClr val="bg1">
                  <a:lumMod val="50000"/>
                </a:scheme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圆角矩形 55"/>
          <p:cNvSpPr/>
          <p:nvPr/>
        </p:nvSpPr>
        <p:spPr bwMode="gray">
          <a:xfrm>
            <a:off x="6579732" y="4658924"/>
            <a:ext cx="1677060" cy="338555"/>
          </a:xfrm>
          <a:prstGeom prst="roundRect">
            <a:avLst/>
          </a:prstGeom>
          <a:solidFill>
            <a:srgbClr val="30B5C5"/>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异常识别</a:t>
            </a:r>
          </a:p>
        </p:txBody>
      </p:sp>
      <p:sp>
        <p:nvSpPr>
          <p:cNvPr id="57" name="圆角矩形 56"/>
          <p:cNvSpPr/>
          <p:nvPr/>
        </p:nvSpPr>
        <p:spPr bwMode="gray">
          <a:xfrm>
            <a:off x="6579732" y="5247569"/>
            <a:ext cx="1677060" cy="338555"/>
          </a:xfrm>
          <a:prstGeom prst="roundRect">
            <a:avLst/>
          </a:prstGeom>
          <a:solidFill>
            <a:srgbClr val="30B5C5"/>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故障定界</a:t>
            </a:r>
          </a:p>
        </p:txBody>
      </p:sp>
      <p:sp>
        <p:nvSpPr>
          <p:cNvPr id="58" name="圆角矩形 57"/>
          <p:cNvSpPr/>
          <p:nvPr/>
        </p:nvSpPr>
        <p:spPr bwMode="gray">
          <a:xfrm>
            <a:off x="6259486" y="5963658"/>
            <a:ext cx="5111553" cy="227881"/>
          </a:xfrm>
          <a:prstGeom prst="roundRect">
            <a:avLst/>
          </a:prstGeom>
          <a:solidFill>
            <a:srgbClr val="30B5C5"/>
          </a:soli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绿色背景部分为</a:t>
            </a:r>
            <a:r>
              <a:rPr kumimoji="0" lang="en-US" altLang="zh-CN" sz="1200" b="0" i="0" u="none" strike="noStrike" kern="0" cap="none" spc="0" normalizeH="0" baseline="0" noProof="0" dirty="0" err="1">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iMaster</a:t>
            </a:r>
            <a:r>
              <a:rPr kumimoji="0" lang="en-US" altLang="zh-CN" sz="1200" b="0"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 NCE-Campus</a:t>
            </a:r>
            <a:r>
              <a:rPr kumimoji="0" lang="zh-CN" altLang="en-US" sz="1200" b="0"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提供的网络全生命周期管理服务。</a:t>
            </a:r>
          </a:p>
        </p:txBody>
      </p:sp>
    </p:spTree>
    <p:extLst>
      <p:ext uri="{BB962C8B-B14F-4D97-AF65-F5344CB8AC3E}">
        <p14:creationId xmlns:p14="http://schemas.microsoft.com/office/powerpoint/2010/main" val="16142919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zh-CN" altLang="en-US">
                <a:sym typeface="Huawei Sans" panose="020C0503030203020204" pitchFamily="34" charset="0"/>
              </a:rPr>
              <a:t>全融合：一套控制器管理</a:t>
            </a:r>
            <a:r>
              <a:rPr lang="en-US" altLang="zh-CN">
                <a:sym typeface="Huawei Sans" panose="020C0503030203020204" pitchFamily="34" charset="0"/>
              </a:rPr>
              <a:t>LAN</a:t>
            </a:r>
            <a:r>
              <a:rPr lang="zh-CN" altLang="en-US">
                <a:sym typeface="Huawei Sans" panose="020C0503030203020204" pitchFamily="34" charset="0"/>
              </a:rPr>
              <a:t>侧、</a:t>
            </a:r>
            <a:r>
              <a:rPr lang="en-US" altLang="zh-CN">
                <a:sym typeface="Huawei Sans" panose="020C0503030203020204" pitchFamily="34" charset="0"/>
              </a:rPr>
              <a:t>WAN</a:t>
            </a:r>
            <a:r>
              <a:rPr lang="zh-CN" altLang="en-US">
                <a:sym typeface="Huawei Sans" panose="020C0503030203020204" pitchFamily="34" charset="0"/>
              </a:rPr>
              <a:t>侧</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a:xfrm>
            <a:off x="455612" y="1047751"/>
            <a:ext cx="11293475" cy="818154"/>
          </a:xfrm>
        </p:spPr>
        <p:txBody>
          <a:bodyPr/>
          <a:lstStyle/>
          <a:p>
            <a:r>
              <a:rPr lang="en-US" altLang="zh-CN" sz="1800" dirty="0" err="1">
                <a:sym typeface="Huawei Sans" panose="020C0503030203020204" pitchFamily="34" charset="0"/>
              </a:rPr>
              <a:t>CloudCampus</a:t>
            </a:r>
            <a:r>
              <a:rPr lang="zh-CN" altLang="en-US" sz="1800" dirty="0">
                <a:sym typeface="Huawei Sans" panose="020C0503030203020204" pitchFamily="34" charset="0"/>
              </a:rPr>
              <a:t>解决方案融合了园区</a:t>
            </a:r>
            <a:r>
              <a:rPr lang="en-US" altLang="zh-CN" sz="1800" dirty="0">
                <a:sym typeface="Huawei Sans" panose="020C0503030203020204" pitchFamily="34" charset="0"/>
              </a:rPr>
              <a:t>LAN</a:t>
            </a:r>
            <a:r>
              <a:rPr lang="zh-CN" altLang="en-US" sz="1800" dirty="0">
                <a:sym typeface="Huawei Sans" panose="020C0503030203020204" pitchFamily="34" charset="0"/>
              </a:rPr>
              <a:t>、</a:t>
            </a:r>
            <a:r>
              <a:rPr lang="en-US" altLang="zh-CN" sz="1800" dirty="0">
                <a:sym typeface="Huawei Sans" panose="020C0503030203020204" pitchFamily="34" charset="0"/>
              </a:rPr>
              <a:t>WAN</a:t>
            </a:r>
            <a:r>
              <a:rPr lang="zh-CN" altLang="en-US" sz="1800" dirty="0">
                <a:sym typeface="Huawei Sans" panose="020C0503030203020204" pitchFamily="34" charset="0"/>
              </a:rPr>
              <a:t>业务的配置和管理模型，除了提供园区</a:t>
            </a:r>
            <a:r>
              <a:rPr lang="en-US" altLang="zh-CN" sz="1800" dirty="0">
                <a:sym typeface="Huawei Sans" panose="020C0503030203020204" pitchFamily="34" charset="0"/>
              </a:rPr>
              <a:t>LAN</a:t>
            </a:r>
            <a:r>
              <a:rPr lang="zh-CN" altLang="en-US" sz="1800" dirty="0">
                <a:sym typeface="Huawei Sans" panose="020C0503030203020204" pitchFamily="34" charset="0"/>
              </a:rPr>
              <a:t>侧业务的配置管理外，同时也支持对</a:t>
            </a:r>
            <a:r>
              <a:rPr lang="en-US" altLang="zh-CN" sz="1800" dirty="0">
                <a:sym typeface="Huawei Sans" panose="020C0503030203020204" pitchFamily="34" charset="0"/>
              </a:rPr>
              <a:t>WAN</a:t>
            </a:r>
            <a:r>
              <a:rPr lang="zh-CN" altLang="en-US" sz="1800" dirty="0">
                <a:sym typeface="Huawei Sans" panose="020C0503030203020204" pitchFamily="34" charset="0"/>
              </a:rPr>
              <a:t>侧互联业务的管理，实现</a:t>
            </a:r>
            <a:r>
              <a:rPr lang="en-US" altLang="zh-CN" sz="1800" dirty="0">
                <a:sym typeface="Huawei Sans" panose="020C0503030203020204" pitchFamily="34" charset="0"/>
              </a:rPr>
              <a:t>LAN-WAN</a:t>
            </a:r>
            <a:r>
              <a:rPr lang="zh-CN" altLang="en-US" sz="1800" dirty="0">
                <a:sym typeface="Huawei Sans" panose="020C0503030203020204" pitchFamily="34" charset="0"/>
              </a:rPr>
              <a:t>一体化的融合管理。</a:t>
            </a:r>
          </a:p>
          <a:p>
            <a:endParaRPr lang="zh-CN" altLang="en-US" dirty="0">
              <a:sym typeface="Huawei Sans" panose="020C0503030203020204" pitchFamily="34" charset="0"/>
            </a:endParaRPr>
          </a:p>
        </p:txBody>
      </p:sp>
      <p:sp>
        <p:nvSpPr>
          <p:cNvPr id="4" name="圆角矩形 3"/>
          <p:cNvSpPr/>
          <p:nvPr/>
        </p:nvSpPr>
        <p:spPr bwMode="gray">
          <a:xfrm>
            <a:off x="4265475" y="1848248"/>
            <a:ext cx="3629716" cy="2138666"/>
          </a:xfrm>
          <a:prstGeom prst="roundRect">
            <a:avLst>
              <a:gd name="adj" fmla="val 6668"/>
            </a:avLst>
          </a:prstGeom>
          <a:gradFill>
            <a:gsLst>
              <a:gs pos="0">
                <a:schemeClr val="bg1"/>
              </a:gs>
              <a:gs pos="100000">
                <a:srgbClr val="BEE9EE"/>
              </a:gs>
            </a:gsLst>
            <a:lin ang="54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b" anchorCtr="0">
            <a:noAutofit/>
          </a:bodyPr>
          <a:lstStyle/>
          <a:p>
            <a:pPr algn="ctr"/>
            <a:r>
              <a:rPr lang="zh-CN" altLang="en-US" sz="1400" b="1">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配置简化</a:t>
            </a:r>
            <a:endParaRPr lang="zh-CN" altLang="zh-CN" sz="1400" b="1">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任意多边形 4"/>
          <p:cNvSpPr/>
          <p:nvPr/>
        </p:nvSpPr>
        <p:spPr bwMode="gray">
          <a:xfrm rot="16200000">
            <a:off x="4863372" y="2064776"/>
            <a:ext cx="1219200" cy="1256587"/>
          </a:xfrm>
          <a:custGeom>
            <a:avLst/>
            <a:gdLst>
              <a:gd name="connsiteX0" fmla="*/ 406400 w 1219200"/>
              <a:gd name="connsiteY0" fmla="*/ 42333 h 618066"/>
              <a:gd name="connsiteX1" fmla="*/ 0 w 1219200"/>
              <a:gd name="connsiteY1" fmla="*/ 618066 h 618066"/>
              <a:gd name="connsiteX2" fmla="*/ 1219200 w 1219200"/>
              <a:gd name="connsiteY2" fmla="*/ 618066 h 618066"/>
              <a:gd name="connsiteX3" fmla="*/ 812800 w 1219200"/>
              <a:gd name="connsiteY3" fmla="*/ 0 h 618066"/>
              <a:gd name="connsiteX0" fmla="*/ 425450 w 1219200"/>
              <a:gd name="connsiteY0" fmla="*/ 15663 h 618066"/>
              <a:gd name="connsiteX1" fmla="*/ 0 w 1219200"/>
              <a:gd name="connsiteY1" fmla="*/ 618066 h 618066"/>
              <a:gd name="connsiteX2" fmla="*/ 1219200 w 1219200"/>
              <a:gd name="connsiteY2" fmla="*/ 618066 h 618066"/>
              <a:gd name="connsiteX3" fmla="*/ 812800 w 1219200"/>
              <a:gd name="connsiteY3" fmla="*/ 0 h 618066"/>
              <a:gd name="connsiteX0" fmla="*/ 433070 w 1219200"/>
              <a:gd name="connsiteY0" fmla="*/ 423 h 618066"/>
              <a:gd name="connsiteX1" fmla="*/ 0 w 1219200"/>
              <a:gd name="connsiteY1" fmla="*/ 618066 h 618066"/>
              <a:gd name="connsiteX2" fmla="*/ 1219200 w 1219200"/>
              <a:gd name="connsiteY2" fmla="*/ 618066 h 618066"/>
              <a:gd name="connsiteX3" fmla="*/ 812800 w 1219200"/>
              <a:gd name="connsiteY3" fmla="*/ 0 h 618066"/>
              <a:gd name="connsiteX0" fmla="*/ 433070 w 1219200"/>
              <a:gd name="connsiteY0" fmla="*/ 0 h 617643"/>
              <a:gd name="connsiteX1" fmla="*/ 0 w 1219200"/>
              <a:gd name="connsiteY1" fmla="*/ 617643 h 617643"/>
              <a:gd name="connsiteX2" fmla="*/ 1219200 w 1219200"/>
              <a:gd name="connsiteY2" fmla="*/ 617643 h 617643"/>
              <a:gd name="connsiteX0" fmla="*/ 534670 w 1219200"/>
              <a:gd name="connsiteY0" fmla="*/ 0 h 643043"/>
              <a:gd name="connsiteX1" fmla="*/ 0 w 1219200"/>
              <a:gd name="connsiteY1" fmla="*/ 643043 h 643043"/>
              <a:gd name="connsiteX2" fmla="*/ 1219200 w 1219200"/>
              <a:gd name="connsiteY2" fmla="*/ 643043 h 643043"/>
              <a:gd name="connsiteX0" fmla="*/ 560070 w 1219200"/>
              <a:gd name="connsiteY0" fmla="*/ 0 h 659976"/>
              <a:gd name="connsiteX1" fmla="*/ 0 w 1219200"/>
              <a:gd name="connsiteY1" fmla="*/ 659976 h 659976"/>
              <a:gd name="connsiteX2" fmla="*/ 1219200 w 1219200"/>
              <a:gd name="connsiteY2" fmla="*/ 659976 h 659976"/>
              <a:gd name="connsiteX0" fmla="*/ 560070 w 1219200"/>
              <a:gd name="connsiteY0" fmla="*/ 0 h 659976"/>
              <a:gd name="connsiteX1" fmla="*/ 0 w 1219200"/>
              <a:gd name="connsiteY1" fmla="*/ 659976 h 659976"/>
              <a:gd name="connsiteX2" fmla="*/ 1219200 w 1219200"/>
              <a:gd name="connsiteY2" fmla="*/ 659976 h 659976"/>
              <a:gd name="connsiteX3" fmla="*/ 560070 w 1219200"/>
              <a:gd name="connsiteY3" fmla="*/ 0 h 659976"/>
              <a:gd name="connsiteX0" fmla="*/ 602404 w 1219200"/>
              <a:gd name="connsiteY0" fmla="*/ 0 h 659976"/>
              <a:gd name="connsiteX1" fmla="*/ 0 w 1219200"/>
              <a:gd name="connsiteY1" fmla="*/ 659976 h 659976"/>
              <a:gd name="connsiteX2" fmla="*/ 1219200 w 1219200"/>
              <a:gd name="connsiteY2" fmla="*/ 659976 h 659976"/>
              <a:gd name="connsiteX3" fmla="*/ 602404 w 1219200"/>
              <a:gd name="connsiteY3" fmla="*/ 0 h 659976"/>
            </a:gdLst>
            <a:ahLst/>
            <a:cxnLst>
              <a:cxn ang="0">
                <a:pos x="connsiteX0" y="connsiteY0"/>
              </a:cxn>
              <a:cxn ang="0">
                <a:pos x="connsiteX1" y="connsiteY1"/>
              </a:cxn>
              <a:cxn ang="0">
                <a:pos x="connsiteX2" y="connsiteY2"/>
              </a:cxn>
              <a:cxn ang="0">
                <a:pos x="connsiteX3" y="connsiteY3"/>
              </a:cxn>
            </a:cxnLst>
            <a:rect l="l" t="t" r="r" b="b"/>
            <a:pathLst>
              <a:path w="1219200" h="659976">
                <a:moveTo>
                  <a:pt x="602404" y="0"/>
                </a:moveTo>
                <a:lnTo>
                  <a:pt x="0" y="659976"/>
                </a:lnTo>
                <a:lnTo>
                  <a:pt x="1219200" y="659976"/>
                </a:lnTo>
                <a:lnTo>
                  <a:pt x="602404" y="0"/>
                </a:lnTo>
                <a:close/>
              </a:path>
            </a:pathLst>
          </a:custGeom>
          <a:gradFill flip="none" rotWithShape="1">
            <a:gsLst>
              <a:gs pos="15000">
                <a:schemeClr val="accent1">
                  <a:lumMod val="5000"/>
                  <a:lumOff val="95000"/>
                  <a:alpha val="0"/>
                </a:schemeClr>
              </a:gs>
              <a:gs pos="81000">
                <a:srgbClr val="FFCC66"/>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圆角矩形 5"/>
          <p:cNvSpPr/>
          <p:nvPr/>
        </p:nvSpPr>
        <p:spPr bwMode="gray">
          <a:xfrm>
            <a:off x="468317" y="1848248"/>
            <a:ext cx="3629716" cy="2138666"/>
          </a:xfrm>
          <a:prstGeom prst="roundRect">
            <a:avLst>
              <a:gd name="adj" fmla="val 6668"/>
            </a:avLst>
          </a:prstGeom>
          <a:gradFill>
            <a:gsLst>
              <a:gs pos="0">
                <a:schemeClr val="bg1"/>
              </a:gs>
              <a:gs pos="100000">
                <a:srgbClr val="BEE9EE"/>
              </a:gs>
            </a:gsLst>
            <a:lin ang="54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b" anchorCtr="0">
            <a:noAutofit/>
          </a:bodyPr>
          <a:lstStyle/>
          <a:p>
            <a:pPr algn="ctr"/>
            <a:r>
              <a:rPr lang="zh-CN" altLang="zh-CN" sz="1400" b="1">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部署简单</a:t>
            </a:r>
          </a:p>
        </p:txBody>
      </p:sp>
      <p:sp>
        <p:nvSpPr>
          <p:cNvPr id="8" name="圆角矩形 7"/>
          <p:cNvSpPr/>
          <p:nvPr/>
        </p:nvSpPr>
        <p:spPr bwMode="gray">
          <a:xfrm>
            <a:off x="468317" y="4041116"/>
            <a:ext cx="5483869" cy="2138666"/>
          </a:xfrm>
          <a:prstGeom prst="roundRect">
            <a:avLst>
              <a:gd name="adj" fmla="val 6668"/>
            </a:avLst>
          </a:prstGeom>
          <a:gradFill>
            <a:gsLst>
              <a:gs pos="0">
                <a:schemeClr val="bg1"/>
              </a:gs>
              <a:gs pos="100000">
                <a:srgbClr val="BEE9EE"/>
              </a:gs>
            </a:gsLst>
            <a:lin ang="54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b" anchorCtr="0">
            <a:noAutofit/>
          </a:bodyPr>
          <a:lstStyle/>
          <a:p>
            <a:pPr algn="ctr"/>
            <a:r>
              <a:rPr lang="zh-CN" altLang="en-US" sz="1400" b="1">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运维简单</a:t>
            </a:r>
            <a:endParaRPr lang="zh-CN" altLang="zh-CN" sz="1400" b="1">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圆角矩形 8"/>
          <p:cNvSpPr/>
          <p:nvPr/>
        </p:nvSpPr>
        <p:spPr bwMode="gray">
          <a:xfrm>
            <a:off x="8114784" y="1848248"/>
            <a:ext cx="3608585" cy="2138666"/>
          </a:xfrm>
          <a:prstGeom prst="roundRect">
            <a:avLst>
              <a:gd name="adj" fmla="val 6668"/>
            </a:avLst>
          </a:prstGeom>
          <a:gradFill>
            <a:gsLst>
              <a:gs pos="0">
                <a:schemeClr val="bg1"/>
              </a:gs>
              <a:gs pos="100000">
                <a:srgbClr val="BEE9EE"/>
              </a:gs>
            </a:gsLst>
            <a:lin ang="54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b" anchorCtr="0">
            <a:noAutofit/>
          </a:bodyPr>
          <a:lstStyle/>
          <a:p>
            <a:pPr algn="ctr"/>
            <a:r>
              <a:rPr lang="zh-CN" altLang="en-US" sz="14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转控分离</a:t>
            </a:r>
            <a:endParaRPr lang="zh-CN" altLang="zh-CN" sz="14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圆角矩形 9"/>
          <p:cNvSpPr/>
          <p:nvPr/>
        </p:nvSpPr>
        <p:spPr bwMode="gray">
          <a:xfrm>
            <a:off x="6260631" y="4041116"/>
            <a:ext cx="5451943" cy="2138666"/>
          </a:xfrm>
          <a:prstGeom prst="roundRect">
            <a:avLst>
              <a:gd name="adj" fmla="val 6668"/>
            </a:avLst>
          </a:prstGeom>
          <a:gradFill>
            <a:gsLst>
              <a:gs pos="0">
                <a:schemeClr val="bg1"/>
              </a:gs>
              <a:gs pos="100000">
                <a:srgbClr val="BEE9EE"/>
              </a:gs>
            </a:gsLst>
            <a:lin ang="54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b" anchorCtr="0">
            <a:noAutofit/>
          </a:bodyPr>
          <a:lstStyle/>
          <a:p>
            <a:pPr algn="ctr"/>
            <a:r>
              <a:rPr lang="zh-CN" altLang="en-US" sz="1400" b="1">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价值延伸</a:t>
            </a:r>
            <a:endParaRPr lang="zh-CN" altLang="zh-CN" sz="1400" b="1">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矩形 10"/>
          <p:cNvSpPr/>
          <p:nvPr/>
        </p:nvSpPr>
        <p:spPr bwMode="gray">
          <a:xfrm>
            <a:off x="468317" y="3344240"/>
            <a:ext cx="3629716"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一套控制器，支持管理纯</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LAN</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LAN/WAN</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融合。</a:t>
            </a:r>
          </a:p>
        </p:txBody>
      </p:sp>
      <p:pic>
        <p:nvPicPr>
          <p:cNvPr id="13" name="图片 12" descr="接入交换机.png"/>
          <p:cNvPicPr>
            <a:picLocks noChangeAspect="1"/>
          </p:cNvPicPr>
          <p:nvPr/>
        </p:nvPicPr>
        <p:blipFill>
          <a:blip r:embed="rId3" cstate="print"/>
          <a:stretch>
            <a:fillRect/>
          </a:stretch>
        </p:blipFill>
        <p:spPr bwMode="gray">
          <a:xfrm>
            <a:off x="1898075" y="2597767"/>
            <a:ext cx="277105" cy="226723"/>
          </a:xfrm>
          <a:prstGeom prst="rect">
            <a:avLst/>
          </a:prstGeom>
        </p:spPr>
      </p:pic>
      <p:pic>
        <p:nvPicPr>
          <p:cNvPr id="14" name="图片 13" descr="AP.png"/>
          <p:cNvPicPr>
            <a:picLocks noChangeAspect="1"/>
          </p:cNvPicPr>
          <p:nvPr/>
        </p:nvPicPr>
        <p:blipFill>
          <a:blip r:embed="rId4" cstate="print"/>
          <a:stretch>
            <a:fillRect/>
          </a:stretch>
        </p:blipFill>
        <p:spPr bwMode="gray">
          <a:xfrm>
            <a:off x="1898074" y="2941387"/>
            <a:ext cx="277105" cy="226723"/>
          </a:xfrm>
          <a:prstGeom prst="rect">
            <a:avLst/>
          </a:prstGeom>
        </p:spPr>
      </p:pic>
      <p:sp>
        <p:nvSpPr>
          <p:cNvPr id="15" name="任意多边形 14"/>
          <p:cNvSpPr/>
          <p:nvPr/>
        </p:nvSpPr>
        <p:spPr bwMode="gray">
          <a:xfrm rot="16200000">
            <a:off x="913338" y="2103451"/>
            <a:ext cx="1219200" cy="1148208"/>
          </a:xfrm>
          <a:custGeom>
            <a:avLst/>
            <a:gdLst>
              <a:gd name="connsiteX0" fmla="*/ 406400 w 1219200"/>
              <a:gd name="connsiteY0" fmla="*/ 42333 h 618066"/>
              <a:gd name="connsiteX1" fmla="*/ 0 w 1219200"/>
              <a:gd name="connsiteY1" fmla="*/ 618066 h 618066"/>
              <a:gd name="connsiteX2" fmla="*/ 1219200 w 1219200"/>
              <a:gd name="connsiteY2" fmla="*/ 618066 h 618066"/>
              <a:gd name="connsiteX3" fmla="*/ 812800 w 1219200"/>
              <a:gd name="connsiteY3" fmla="*/ 0 h 618066"/>
              <a:gd name="connsiteX0" fmla="*/ 425450 w 1219200"/>
              <a:gd name="connsiteY0" fmla="*/ 15663 h 618066"/>
              <a:gd name="connsiteX1" fmla="*/ 0 w 1219200"/>
              <a:gd name="connsiteY1" fmla="*/ 618066 h 618066"/>
              <a:gd name="connsiteX2" fmla="*/ 1219200 w 1219200"/>
              <a:gd name="connsiteY2" fmla="*/ 618066 h 618066"/>
              <a:gd name="connsiteX3" fmla="*/ 812800 w 1219200"/>
              <a:gd name="connsiteY3" fmla="*/ 0 h 618066"/>
              <a:gd name="connsiteX0" fmla="*/ 433070 w 1219200"/>
              <a:gd name="connsiteY0" fmla="*/ 423 h 618066"/>
              <a:gd name="connsiteX1" fmla="*/ 0 w 1219200"/>
              <a:gd name="connsiteY1" fmla="*/ 618066 h 618066"/>
              <a:gd name="connsiteX2" fmla="*/ 1219200 w 1219200"/>
              <a:gd name="connsiteY2" fmla="*/ 618066 h 618066"/>
              <a:gd name="connsiteX3" fmla="*/ 812800 w 1219200"/>
              <a:gd name="connsiteY3" fmla="*/ 0 h 618066"/>
              <a:gd name="connsiteX0" fmla="*/ 433070 w 1219200"/>
              <a:gd name="connsiteY0" fmla="*/ 0 h 617643"/>
              <a:gd name="connsiteX1" fmla="*/ 0 w 1219200"/>
              <a:gd name="connsiteY1" fmla="*/ 617643 h 617643"/>
              <a:gd name="connsiteX2" fmla="*/ 1219200 w 1219200"/>
              <a:gd name="connsiteY2" fmla="*/ 617643 h 617643"/>
              <a:gd name="connsiteX0" fmla="*/ 534670 w 1219200"/>
              <a:gd name="connsiteY0" fmla="*/ 0 h 643043"/>
              <a:gd name="connsiteX1" fmla="*/ 0 w 1219200"/>
              <a:gd name="connsiteY1" fmla="*/ 643043 h 643043"/>
              <a:gd name="connsiteX2" fmla="*/ 1219200 w 1219200"/>
              <a:gd name="connsiteY2" fmla="*/ 643043 h 643043"/>
              <a:gd name="connsiteX0" fmla="*/ 560070 w 1219200"/>
              <a:gd name="connsiteY0" fmla="*/ 0 h 659976"/>
              <a:gd name="connsiteX1" fmla="*/ 0 w 1219200"/>
              <a:gd name="connsiteY1" fmla="*/ 659976 h 659976"/>
              <a:gd name="connsiteX2" fmla="*/ 1219200 w 1219200"/>
              <a:gd name="connsiteY2" fmla="*/ 659976 h 659976"/>
              <a:gd name="connsiteX0" fmla="*/ 560070 w 1219200"/>
              <a:gd name="connsiteY0" fmla="*/ 0 h 659976"/>
              <a:gd name="connsiteX1" fmla="*/ 0 w 1219200"/>
              <a:gd name="connsiteY1" fmla="*/ 659976 h 659976"/>
              <a:gd name="connsiteX2" fmla="*/ 1219200 w 1219200"/>
              <a:gd name="connsiteY2" fmla="*/ 659976 h 659976"/>
              <a:gd name="connsiteX3" fmla="*/ 560070 w 1219200"/>
              <a:gd name="connsiteY3" fmla="*/ 0 h 659976"/>
              <a:gd name="connsiteX0" fmla="*/ 602404 w 1219200"/>
              <a:gd name="connsiteY0" fmla="*/ 0 h 659976"/>
              <a:gd name="connsiteX1" fmla="*/ 0 w 1219200"/>
              <a:gd name="connsiteY1" fmla="*/ 659976 h 659976"/>
              <a:gd name="connsiteX2" fmla="*/ 1219200 w 1219200"/>
              <a:gd name="connsiteY2" fmla="*/ 659976 h 659976"/>
              <a:gd name="connsiteX3" fmla="*/ 602404 w 1219200"/>
              <a:gd name="connsiteY3" fmla="*/ 0 h 659976"/>
            </a:gdLst>
            <a:ahLst/>
            <a:cxnLst>
              <a:cxn ang="0">
                <a:pos x="connsiteX0" y="connsiteY0"/>
              </a:cxn>
              <a:cxn ang="0">
                <a:pos x="connsiteX1" y="connsiteY1"/>
              </a:cxn>
              <a:cxn ang="0">
                <a:pos x="connsiteX2" y="connsiteY2"/>
              </a:cxn>
              <a:cxn ang="0">
                <a:pos x="connsiteX3" y="connsiteY3"/>
              </a:cxn>
            </a:cxnLst>
            <a:rect l="l" t="t" r="r" b="b"/>
            <a:pathLst>
              <a:path w="1219200" h="659976">
                <a:moveTo>
                  <a:pt x="602404" y="0"/>
                </a:moveTo>
                <a:lnTo>
                  <a:pt x="0" y="659976"/>
                </a:lnTo>
                <a:lnTo>
                  <a:pt x="1219200" y="659976"/>
                </a:lnTo>
                <a:lnTo>
                  <a:pt x="602404" y="0"/>
                </a:lnTo>
                <a:close/>
              </a:path>
            </a:pathLst>
          </a:custGeom>
          <a:gradFill flip="none" rotWithShape="1">
            <a:gsLst>
              <a:gs pos="15000">
                <a:schemeClr val="accent1">
                  <a:lumMod val="5000"/>
                  <a:lumOff val="95000"/>
                  <a:alpha val="0"/>
                </a:schemeClr>
              </a:gs>
              <a:gs pos="81000">
                <a:srgbClr val="FFCC66"/>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6" name="直接连接符 15"/>
          <p:cNvCxnSpPr/>
          <p:nvPr/>
        </p:nvCxnSpPr>
        <p:spPr bwMode="gray">
          <a:xfrm>
            <a:off x="1898075" y="2512605"/>
            <a:ext cx="1984455" cy="0"/>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bwMode="gray">
          <a:xfrm>
            <a:off x="2231816" y="2235690"/>
            <a:ext cx="705642" cy="276999"/>
          </a:xfrm>
          <a:prstGeom prst="rect">
            <a:avLst/>
          </a:prstGeom>
          <a:noFill/>
        </p:spPr>
        <p:txBody>
          <a:bodyPr wrap="none" rtlCol="0">
            <a:spAutoFit/>
          </a:bodyPr>
          <a:lstStyle/>
          <a:p>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WAN</a:t>
            </a: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侧</a:t>
            </a:r>
          </a:p>
        </p:txBody>
      </p:sp>
      <p:sp>
        <p:nvSpPr>
          <p:cNvPr id="18" name="文本框 17"/>
          <p:cNvSpPr txBox="1"/>
          <p:nvPr/>
        </p:nvSpPr>
        <p:spPr bwMode="gray">
          <a:xfrm>
            <a:off x="2231816" y="2559014"/>
            <a:ext cx="1866217" cy="276999"/>
          </a:xfrm>
          <a:prstGeom prst="rect">
            <a:avLst/>
          </a:prstGeom>
          <a:noFill/>
        </p:spPr>
        <p:txBody>
          <a:bodyPr wrap="none" rtlCol="0">
            <a:spAutoFit/>
          </a:bodyPr>
          <a:lstStyle/>
          <a:p>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LAN</a:t>
            </a: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侧（大型或中小型）</a:t>
            </a:r>
          </a:p>
        </p:txBody>
      </p:sp>
      <p:sp>
        <p:nvSpPr>
          <p:cNvPr id="19" name="圆角矩形 75"/>
          <p:cNvSpPr/>
          <p:nvPr/>
        </p:nvSpPr>
        <p:spPr bwMode="gray">
          <a:xfrm>
            <a:off x="5575251" y="2289318"/>
            <a:ext cx="956291" cy="336340"/>
          </a:xfrm>
          <a:prstGeom prst="roundRect">
            <a:avLst>
              <a:gd name="adj" fmla="val 10604"/>
            </a:avLst>
          </a:prstGeom>
          <a:gradFill>
            <a:gsLst>
              <a:gs pos="0">
                <a:schemeClr val="bg1"/>
              </a:gs>
              <a:gs pos="100000">
                <a:srgbClr val="BEE9EE"/>
              </a:gs>
            </a:gsLst>
            <a:lin ang="5400000" scaled="1"/>
          </a:gra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defTabSz="914478"/>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IPsec VPN</a:t>
            </a:r>
            <a:endParaRPr lang="zh-CN" altLang="en-US"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圆角矩形 75"/>
          <p:cNvSpPr/>
          <p:nvPr/>
        </p:nvSpPr>
        <p:spPr bwMode="gray">
          <a:xfrm>
            <a:off x="6732363" y="2289318"/>
            <a:ext cx="956291" cy="336340"/>
          </a:xfrm>
          <a:prstGeom prst="roundRect">
            <a:avLst>
              <a:gd name="adj" fmla="val 10604"/>
            </a:avLst>
          </a:prstGeom>
          <a:gradFill>
            <a:gsLst>
              <a:gs pos="0">
                <a:schemeClr val="bg1"/>
              </a:gs>
              <a:gs pos="100000">
                <a:srgbClr val="BEE9EE"/>
              </a:gs>
            </a:gsLst>
            <a:lin ang="5400000" scaled="1"/>
          </a:gra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defTabSz="914478"/>
            <a:r>
              <a:rPr lang="en-US" altLang="zh-CN" sz="12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EVPN</a:t>
            </a:r>
            <a:endParaRPr lang="zh-CN" altLang="en-US" sz="12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圆角矩形 75"/>
          <p:cNvSpPr/>
          <p:nvPr/>
        </p:nvSpPr>
        <p:spPr bwMode="gray">
          <a:xfrm>
            <a:off x="5575251" y="2724194"/>
            <a:ext cx="2113403" cy="336340"/>
          </a:xfrm>
          <a:prstGeom prst="roundRect">
            <a:avLst>
              <a:gd name="adj" fmla="val 10604"/>
            </a:avLst>
          </a:prstGeom>
          <a:gradFill>
            <a:gsLst>
              <a:gs pos="0">
                <a:schemeClr val="bg1"/>
              </a:gs>
              <a:gs pos="100000">
                <a:srgbClr val="BEE9EE"/>
              </a:gs>
            </a:gsLst>
            <a:lin ang="5400000" scaled="1"/>
          </a:gra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defTabSz="914478"/>
            <a:r>
              <a:rPr lang="zh-CN" altLang="en-US" sz="12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集中管理</a:t>
            </a:r>
          </a:p>
        </p:txBody>
      </p:sp>
      <p:sp>
        <p:nvSpPr>
          <p:cNvPr id="22" name="文本框 21"/>
          <p:cNvSpPr txBox="1"/>
          <p:nvPr/>
        </p:nvSpPr>
        <p:spPr bwMode="gray">
          <a:xfrm>
            <a:off x="4298854" y="2220602"/>
            <a:ext cx="954107" cy="276999"/>
          </a:xfrm>
          <a:prstGeom prst="rect">
            <a:avLst/>
          </a:prstGeom>
          <a:noFill/>
        </p:spPr>
        <p:txBody>
          <a:bodyPr wrap="none" rtlCol="0">
            <a:spAutoFit/>
          </a:bodyPr>
          <a:lstStyle/>
          <a:p>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图形化界面</a:t>
            </a:r>
          </a:p>
        </p:txBody>
      </p:sp>
      <p:sp>
        <p:nvSpPr>
          <p:cNvPr id="23" name="矩形 22"/>
          <p:cNvSpPr/>
          <p:nvPr/>
        </p:nvSpPr>
        <p:spPr bwMode="gray">
          <a:xfrm>
            <a:off x="4265475" y="3344240"/>
            <a:ext cx="3629716"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图形化界面，灵活组网，设备即插即用。</a:t>
            </a:r>
          </a:p>
        </p:txBody>
      </p:sp>
      <p:sp>
        <p:nvSpPr>
          <p:cNvPr id="24" name="矩形 23"/>
          <p:cNvSpPr/>
          <p:nvPr/>
        </p:nvSpPr>
        <p:spPr bwMode="gray">
          <a:xfrm>
            <a:off x="8114784" y="3344240"/>
            <a:ext cx="3629716"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对控制面进行集中管理，灵活控制，也提升扩展性。</a:t>
            </a:r>
          </a:p>
        </p:txBody>
      </p:sp>
      <p:sp>
        <p:nvSpPr>
          <p:cNvPr id="25" name="梯形 24"/>
          <p:cNvSpPr/>
          <p:nvPr/>
        </p:nvSpPr>
        <p:spPr bwMode="gray">
          <a:xfrm>
            <a:off x="8841574" y="2584085"/>
            <a:ext cx="2425183" cy="628950"/>
          </a:xfrm>
          <a:prstGeom prst="trapezoid">
            <a:avLst>
              <a:gd name="adj" fmla="val 22961"/>
            </a:avLst>
          </a:prstGeom>
          <a:gradFill flip="none" rotWithShape="1">
            <a:gsLst>
              <a:gs pos="0">
                <a:schemeClr val="bg1">
                  <a:alpha val="0"/>
                </a:schemeClr>
              </a:gs>
              <a:gs pos="100000">
                <a:srgbClr val="92D050">
                  <a:alpha val="49000"/>
                </a:srgbClr>
              </a:gs>
            </a:gsLst>
            <a:lin ang="5400000" scaled="1"/>
            <a:tileRect/>
          </a:gradFill>
          <a:ln>
            <a:gradFill flip="none" rotWithShape="1">
              <a:gsLst>
                <a:gs pos="0">
                  <a:schemeClr val="accent1">
                    <a:lumMod val="5000"/>
                    <a:lumOff val="95000"/>
                    <a:alpha val="0"/>
                  </a:schemeClr>
                </a:gs>
                <a:gs pos="90000">
                  <a:srgbClr val="00B050"/>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梯形 25"/>
          <p:cNvSpPr/>
          <p:nvPr/>
        </p:nvSpPr>
        <p:spPr bwMode="gray">
          <a:xfrm>
            <a:off x="8966097" y="1945165"/>
            <a:ext cx="2176136" cy="520939"/>
          </a:xfrm>
          <a:prstGeom prst="trapezoid">
            <a:avLst>
              <a:gd name="adj" fmla="val 22961"/>
            </a:avLst>
          </a:prstGeom>
          <a:gradFill flip="none" rotWithShape="1">
            <a:gsLst>
              <a:gs pos="0">
                <a:schemeClr val="bg1">
                  <a:alpha val="4000"/>
                </a:schemeClr>
              </a:gs>
              <a:gs pos="100000">
                <a:srgbClr val="FFD17D"/>
              </a:gs>
            </a:gsLst>
            <a:lin ang="5400000" scaled="1"/>
            <a:tileRect/>
          </a:gradFill>
          <a:ln>
            <a:gradFill flip="none" rotWithShape="1">
              <a:gsLst>
                <a:gs pos="0">
                  <a:schemeClr val="accent1">
                    <a:lumMod val="5000"/>
                    <a:lumOff val="95000"/>
                    <a:alpha val="0"/>
                  </a:schemeClr>
                </a:gs>
                <a:gs pos="82000">
                  <a:srgbClr val="F08500"/>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文本框 26"/>
          <p:cNvSpPr txBox="1"/>
          <p:nvPr/>
        </p:nvSpPr>
        <p:spPr bwMode="gray">
          <a:xfrm>
            <a:off x="8211831" y="2149044"/>
            <a:ext cx="646331" cy="276999"/>
          </a:xfrm>
          <a:prstGeom prst="rect">
            <a:avLst/>
          </a:prstGeom>
          <a:noFill/>
        </p:spPr>
        <p:txBody>
          <a:bodyPr wrap="none" rtlCol="0">
            <a:spAutoFit/>
          </a:bodyPr>
          <a:lstStyle/>
          <a:p>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控制面</a:t>
            </a:r>
          </a:p>
        </p:txBody>
      </p:sp>
      <p:sp>
        <p:nvSpPr>
          <p:cNvPr id="28" name="文本框 27"/>
          <p:cNvSpPr txBox="1"/>
          <p:nvPr/>
        </p:nvSpPr>
        <p:spPr bwMode="gray">
          <a:xfrm>
            <a:off x="8211831" y="2770700"/>
            <a:ext cx="646331" cy="276999"/>
          </a:xfrm>
          <a:prstGeom prst="rect">
            <a:avLst/>
          </a:prstGeom>
          <a:noFill/>
        </p:spPr>
        <p:txBody>
          <a:bodyPr wrap="none" rtlCol="0">
            <a:spAutoFit/>
          </a:bodyPr>
          <a:lstStyle/>
          <a:p>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转发面</a:t>
            </a:r>
          </a:p>
        </p:txBody>
      </p:sp>
      <p:sp>
        <p:nvSpPr>
          <p:cNvPr id="29" name="文本框 28"/>
          <p:cNvSpPr txBox="1"/>
          <p:nvPr/>
        </p:nvSpPr>
        <p:spPr bwMode="gray">
          <a:xfrm>
            <a:off x="9819099" y="2027122"/>
            <a:ext cx="1082348" cy="307777"/>
          </a:xfrm>
          <a:prstGeom prst="rect">
            <a:avLst/>
          </a:prstGeom>
          <a:noFill/>
        </p:spPr>
        <p:txBody>
          <a:bodyPr wrap="none" rtlCol="0">
            <a:spAutoFit/>
          </a:bodyPr>
          <a:lstStyle/>
          <a:p>
            <a:r>
              <a:rPr lang="zh-CN" altLang="en-US" sz="14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区域控制器</a:t>
            </a:r>
            <a:endParaRPr lang="en-US" altLang="zh-CN" sz="14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0" name="图片 2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9371054" y="2913062"/>
            <a:ext cx="251914" cy="206569"/>
          </a:xfrm>
          <a:prstGeom prst="rect">
            <a:avLst/>
          </a:prstGeom>
        </p:spPr>
      </p:pic>
      <p:pic>
        <p:nvPicPr>
          <p:cNvPr id="31" name="图片 3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9979235" y="2551905"/>
            <a:ext cx="251914" cy="206569"/>
          </a:xfrm>
          <a:prstGeom prst="rect">
            <a:avLst/>
          </a:prstGeom>
        </p:spPr>
      </p:pic>
      <p:pic>
        <p:nvPicPr>
          <p:cNvPr id="32" name="图片 3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10406644" y="2913062"/>
            <a:ext cx="251914" cy="206569"/>
          </a:xfrm>
          <a:prstGeom prst="rect">
            <a:avLst/>
          </a:prstGeom>
        </p:spPr>
      </p:pic>
      <p:pic>
        <p:nvPicPr>
          <p:cNvPr id="33" name="图片 32"/>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9455319" y="2042844"/>
            <a:ext cx="335297" cy="274944"/>
          </a:xfrm>
          <a:prstGeom prst="rect">
            <a:avLst/>
          </a:prstGeom>
        </p:spPr>
      </p:pic>
      <p:cxnSp>
        <p:nvCxnSpPr>
          <p:cNvPr id="34" name="直接箭头连接符 33"/>
          <p:cNvCxnSpPr/>
          <p:nvPr/>
        </p:nvCxnSpPr>
        <p:spPr bwMode="gray">
          <a:xfrm flipV="1">
            <a:off x="9622968" y="2644180"/>
            <a:ext cx="328752" cy="273401"/>
          </a:xfrm>
          <a:prstGeom prst="straightConnector1">
            <a:avLst/>
          </a:prstGeom>
          <a:ln>
            <a:solidFill>
              <a:schemeClr val="accent6">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bwMode="gray">
          <a:xfrm>
            <a:off x="9658590" y="3016347"/>
            <a:ext cx="712433" cy="0"/>
          </a:xfrm>
          <a:prstGeom prst="straightConnector1">
            <a:avLst/>
          </a:prstGeom>
          <a:ln>
            <a:solidFill>
              <a:schemeClr val="accent6">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bwMode="gray">
          <a:xfrm flipH="1" flipV="1">
            <a:off x="10258664" y="2671550"/>
            <a:ext cx="241402" cy="213315"/>
          </a:xfrm>
          <a:prstGeom prst="straightConnector1">
            <a:avLst/>
          </a:prstGeom>
          <a:ln>
            <a:solidFill>
              <a:schemeClr val="accent6">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7" name="矩形 36"/>
          <p:cNvSpPr/>
          <p:nvPr/>
        </p:nvSpPr>
        <p:spPr bwMode="gray">
          <a:xfrm>
            <a:off x="468317" y="5553871"/>
            <a:ext cx="5483868"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网络业务数据可视化，对全网络的状态进行监控、分析。</a:t>
            </a:r>
          </a:p>
        </p:txBody>
      </p:sp>
      <p:sp>
        <p:nvSpPr>
          <p:cNvPr id="38" name="矩形 37"/>
          <p:cNvSpPr/>
          <p:nvPr/>
        </p:nvSpPr>
        <p:spPr bwMode="gray">
          <a:xfrm>
            <a:off x="6260630" y="5553871"/>
            <a:ext cx="548387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运营商提供的业务可从</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WAN</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延伸到</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LAN</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及增值服务。</a:t>
            </a:r>
          </a:p>
        </p:txBody>
      </p:sp>
      <p:cxnSp>
        <p:nvCxnSpPr>
          <p:cNvPr id="39" name="直接连接符 38"/>
          <p:cNvCxnSpPr/>
          <p:nvPr/>
        </p:nvCxnSpPr>
        <p:spPr bwMode="gray">
          <a:xfrm>
            <a:off x="7404573" y="4969643"/>
            <a:ext cx="3195985" cy="0"/>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sp>
        <p:nvSpPr>
          <p:cNvPr id="40" name="文本框 39"/>
          <p:cNvSpPr txBox="1"/>
          <p:nvPr/>
        </p:nvSpPr>
        <p:spPr bwMode="gray">
          <a:xfrm>
            <a:off x="8649744" y="4692728"/>
            <a:ext cx="705642" cy="276999"/>
          </a:xfrm>
          <a:prstGeom prst="rect">
            <a:avLst/>
          </a:prstGeom>
          <a:noFill/>
        </p:spPr>
        <p:txBody>
          <a:bodyPr wrap="none" rtlCol="0">
            <a:spAutoFit/>
          </a:bodyPr>
          <a:lstStyle/>
          <a:p>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WAN</a:t>
            </a: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侧</a:t>
            </a:r>
          </a:p>
        </p:txBody>
      </p:sp>
      <p:sp>
        <p:nvSpPr>
          <p:cNvPr id="41" name="文本框 40"/>
          <p:cNvSpPr txBox="1"/>
          <p:nvPr/>
        </p:nvSpPr>
        <p:spPr bwMode="gray">
          <a:xfrm>
            <a:off x="8685010" y="5016052"/>
            <a:ext cx="635110" cy="276999"/>
          </a:xfrm>
          <a:prstGeom prst="rect">
            <a:avLst/>
          </a:prstGeom>
          <a:noFill/>
        </p:spPr>
        <p:txBody>
          <a:bodyPr wrap="none" rtlCol="0">
            <a:spAutoFit/>
          </a:bodyPr>
          <a:lstStyle/>
          <a:p>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LAN</a:t>
            </a: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侧</a:t>
            </a:r>
          </a:p>
        </p:txBody>
      </p:sp>
      <p:sp>
        <p:nvSpPr>
          <p:cNvPr id="42" name="Right Arrow 158"/>
          <p:cNvSpPr/>
          <p:nvPr/>
        </p:nvSpPr>
        <p:spPr bwMode="gray">
          <a:xfrm rot="16200000">
            <a:off x="7392606" y="4487529"/>
            <a:ext cx="633403" cy="494305"/>
          </a:xfrm>
          <a:prstGeom prst="rightArrow">
            <a:avLst>
              <a:gd name="adj1" fmla="val 79333"/>
              <a:gd name="adj2" fmla="val 50000"/>
            </a:avLst>
          </a:prstGeom>
          <a:gradFill flip="none" rotWithShape="1">
            <a:gsLst>
              <a:gs pos="15000">
                <a:schemeClr val="accent1">
                  <a:lumMod val="5000"/>
                  <a:lumOff val="95000"/>
                  <a:alpha val="0"/>
                </a:schemeClr>
              </a:gs>
              <a:gs pos="81000">
                <a:srgbClr val="FFCC66"/>
              </a:gs>
            </a:gsLst>
            <a:lin ang="0" scaled="1"/>
            <a:tileRect/>
          </a:gradFill>
          <a:ln>
            <a:gradFill flip="none" rotWithShape="1">
              <a:gsLst>
                <a:gs pos="11000">
                  <a:schemeClr val="accent1">
                    <a:lumMod val="0"/>
                    <a:lumOff val="100000"/>
                    <a:alpha val="0"/>
                  </a:schemeClr>
                </a:gs>
                <a:gs pos="67000">
                  <a:srgbClr val="FF9933"/>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3" name="组合 42"/>
          <p:cNvGrpSpPr/>
          <p:nvPr/>
        </p:nvGrpSpPr>
        <p:grpSpPr bwMode="gray">
          <a:xfrm>
            <a:off x="8110683" y="4238068"/>
            <a:ext cx="1783765" cy="473996"/>
            <a:chOff x="8029120" y="4433006"/>
            <a:chExt cx="1783765" cy="473996"/>
          </a:xfrm>
        </p:grpSpPr>
        <p:sp>
          <p:nvSpPr>
            <p:cNvPr id="44" name="任意多边形 43"/>
            <p:cNvSpPr/>
            <p:nvPr/>
          </p:nvSpPr>
          <p:spPr bwMode="gray">
            <a:xfrm>
              <a:off x="8029120" y="4433006"/>
              <a:ext cx="708913" cy="473996"/>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tIns="108000" rtlCol="0" anchor="ctr">
              <a:noAutofit/>
            </a:bodyPr>
            <a:lstStyle/>
            <a:p>
              <a:pPr algn="ctr"/>
              <a:r>
                <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专线</a:t>
              </a:r>
            </a:p>
          </p:txBody>
        </p:sp>
        <p:sp>
          <p:nvSpPr>
            <p:cNvPr id="45" name="任意多边形 44"/>
            <p:cNvSpPr/>
            <p:nvPr/>
          </p:nvSpPr>
          <p:spPr bwMode="gray">
            <a:xfrm>
              <a:off x="9103972" y="4433006"/>
              <a:ext cx="708913" cy="473996"/>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tIns="108000" rtlCol="0" anchor="ctr">
              <a:noAutofit/>
            </a:bodyPr>
            <a:lstStyle/>
            <a:p>
              <a:pPr algn="ctr"/>
              <a:r>
                <a:rPr lang="en-US" altLang="zh-CN"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6" name="Right Arrow 158"/>
          <p:cNvSpPr/>
          <p:nvPr/>
        </p:nvSpPr>
        <p:spPr bwMode="gray">
          <a:xfrm rot="16200000" flipH="1">
            <a:off x="7428401" y="4932736"/>
            <a:ext cx="561813" cy="494305"/>
          </a:xfrm>
          <a:prstGeom prst="rightArrow">
            <a:avLst>
              <a:gd name="adj1" fmla="val 79333"/>
              <a:gd name="adj2" fmla="val 50000"/>
            </a:avLst>
          </a:prstGeom>
          <a:gradFill flip="none" rotWithShape="1">
            <a:gsLst>
              <a:gs pos="15000">
                <a:schemeClr val="accent1">
                  <a:lumMod val="5000"/>
                  <a:lumOff val="95000"/>
                  <a:alpha val="0"/>
                </a:schemeClr>
              </a:gs>
              <a:gs pos="81000">
                <a:srgbClr val="FFCC66"/>
              </a:gs>
            </a:gsLst>
            <a:lin ang="0" scaled="1"/>
            <a:tileRect/>
          </a:gradFill>
          <a:ln>
            <a:gradFill flip="none" rotWithShape="1">
              <a:gsLst>
                <a:gs pos="11000">
                  <a:schemeClr val="accent1">
                    <a:lumMod val="0"/>
                    <a:lumOff val="100000"/>
                    <a:alpha val="0"/>
                  </a:schemeClr>
                </a:gs>
                <a:gs pos="67000">
                  <a:srgbClr val="FF9933"/>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7" name="直接连接符 46"/>
          <p:cNvCxnSpPr/>
          <p:nvPr/>
        </p:nvCxnSpPr>
        <p:spPr bwMode="gray">
          <a:xfrm>
            <a:off x="667774" y="4969643"/>
            <a:ext cx="765094" cy="0"/>
          </a:xfrm>
          <a:prstGeom prst="line">
            <a:avLst/>
          </a:prstGeom>
          <a:ln w="12700">
            <a:prstDash val="sysDot"/>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bwMode="gray">
          <a:xfrm>
            <a:off x="697500" y="4692728"/>
            <a:ext cx="705642" cy="276999"/>
          </a:xfrm>
          <a:prstGeom prst="rect">
            <a:avLst/>
          </a:prstGeom>
          <a:noFill/>
        </p:spPr>
        <p:txBody>
          <a:bodyPr wrap="none" rtlCol="0">
            <a:spAutoFit/>
          </a:bodyPr>
          <a:lstStyle/>
          <a:p>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WAN</a:t>
            </a: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侧</a:t>
            </a:r>
          </a:p>
        </p:txBody>
      </p:sp>
      <p:sp>
        <p:nvSpPr>
          <p:cNvPr id="49" name="文本框 48"/>
          <p:cNvSpPr txBox="1"/>
          <p:nvPr/>
        </p:nvSpPr>
        <p:spPr bwMode="gray">
          <a:xfrm>
            <a:off x="732766" y="5016052"/>
            <a:ext cx="635110" cy="276999"/>
          </a:xfrm>
          <a:prstGeom prst="rect">
            <a:avLst/>
          </a:prstGeom>
          <a:noFill/>
        </p:spPr>
        <p:txBody>
          <a:bodyPr wrap="none" rtlCol="0">
            <a:spAutoFit/>
          </a:bodyPr>
          <a:lstStyle/>
          <a:p>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LAN</a:t>
            </a: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侧</a:t>
            </a:r>
          </a:p>
        </p:txBody>
      </p:sp>
      <p:sp>
        <p:nvSpPr>
          <p:cNvPr id="50" name="圆角矩形 75"/>
          <p:cNvSpPr/>
          <p:nvPr/>
        </p:nvSpPr>
        <p:spPr bwMode="gray">
          <a:xfrm>
            <a:off x="1509383" y="4724023"/>
            <a:ext cx="956291" cy="491240"/>
          </a:xfrm>
          <a:prstGeom prst="roundRect">
            <a:avLst>
              <a:gd name="adj" fmla="val 10604"/>
            </a:avLst>
          </a:prstGeom>
          <a:gradFill>
            <a:gsLst>
              <a:gs pos="0">
                <a:schemeClr val="bg1"/>
              </a:gs>
              <a:gs pos="100000">
                <a:srgbClr val="BEE9EE"/>
              </a:gs>
            </a:gsLst>
            <a:lin ang="5400000" scaled="1"/>
          </a:gra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defTabSz="914478"/>
            <a:r>
              <a:rPr lang="zh-CN" altLang="en-US" sz="12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实时监控</a:t>
            </a:r>
          </a:p>
        </p:txBody>
      </p:sp>
      <p:sp>
        <p:nvSpPr>
          <p:cNvPr id="51" name="圆角矩形 75"/>
          <p:cNvSpPr/>
          <p:nvPr/>
        </p:nvSpPr>
        <p:spPr bwMode="gray">
          <a:xfrm>
            <a:off x="2552436" y="4724023"/>
            <a:ext cx="956291" cy="491240"/>
          </a:xfrm>
          <a:prstGeom prst="roundRect">
            <a:avLst>
              <a:gd name="adj" fmla="val 10604"/>
            </a:avLst>
          </a:prstGeom>
          <a:gradFill>
            <a:gsLst>
              <a:gs pos="0">
                <a:schemeClr val="bg1"/>
              </a:gs>
              <a:gs pos="100000">
                <a:srgbClr val="BEE9EE"/>
              </a:gs>
            </a:gsLst>
            <a:lin ang="5400000" scaled="1"/>
          </a:gra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defTabSz="914478"/>
            <a:r>
              <a:rPr lang="zh-CN" altLang="en-US" sz="12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拓扑可视</a:t>
            </a:r>
          </a:p>
        </p:txBody>
      </p:sp>
      <p:sp>
        <p:nvSpPr>
          <p:cNvPr id="52" name="圆角矩形 75"/>
          <p:cNvSpPr/>
          <p:nvPr/>
        </p:nvSpPr>
        <p:spPr bwMode="gray">
          <a:xfrm>
            <a:off x="3595489" y="4724023"/>
            <a:ext cx="956291" cy="491240"/>
          </a:xfrm>
          <a:prstGeom prst="roundRect">
            <a:avLst>
              <a:gd name="adj" fmla="val 10604"/>
            </a:avLst>
          </a:prstGeom>
          <a:gradFill>
            <a:gsLst>
              <a:gs pos="0">
                <a:schemeClr val="bg1"/>
              </a:gs>
              <a:gs pos="100000">
                <a:srgbClr val="BEE9EE"/>
              </a:gs>
            </a:gsLst>
            <a:lin ang="5400000" scaled="1"/>
          </a:gra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defTabSz="914478"/>
            <a:r>
              <a:rPr lang="zh-CN" altLang="en-US" sz="12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报表丰富</a:t>
            </a:r>
          </a:p>
        </p:txBody>
      </p:sp>
      <p:sp>
        <p:nvSpPr>
          <p:cNvPr id="53" name="圆角矩形 75"/>
          <p:cNvSpPr/>
          <p:nvPr/>
        </p:nvSpPr>
        <p:spPr bwMode="gray">
          <a:xfrm>
            <a:off x="4638543" y="4724023"/>
            <a:ext cx="956291" cy="491240"/>
          </a:xfrm>
          <a:prstGeom prst="roundRect">
            <a:avLst>
              <a:gd name="adj" fmla="val 10604"/>
            </a:avLst>
          </a:prstGeom>
          <a:gradFill>
            <a:gsLst>
              <a:gs pos="0">
                <a:schemeClr val="bg1"/>
              </a:gs>
              <a:gs pos="100000">
                <a:srgbClr val="BEE9EE"/>
              </a:gs>
            </a:gsLst>
            <a:lin ang="5400000" scaled="1"/>
          </a:gra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defTabSz="914478"/>
            <a:r>
              <a:rPr lang="zh-CN" altLang="en-US" sz="12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智能分析</a:t>
            </a:r>
          </a:p>
        </p:txBody>
      </p:sp>
      <p:sp>
        <p:nvSpPr>
          <p:cNvPr id="54" name="任意多边形 53"/>
          <p:cNvSpPr/>
          <p:nvPr/>
        </p:nvSpPr>
        <p:spPr bwMode="gray">
          <a:xfrm>
            <a:off x="8172200" y="5083348"/>
            <a:ext cx="585878" cy="391732"/>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tIns="108000" rtlCol="0" anchor="ctr">
            <a:noAutofit/>
          </a:bodyPr>
          <a:lstStyle/>
          <a:p>
            <a:pPr algn="ctr"/>
            <a:r>
              <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有线</a:t>
            </a:r>
          </a:p>
        </p:txBody>
      </p:sp>
      <p:sp>
        <p:nvSpPr>
          <p:cNvPr id="55" name="任意多边形 54"/>
          <p:cNvSpPr/>
          <p:nvPr/>
        </p:nvSpPr>
        <p:spPr bwMode="gray">
          <a:xfrm>
            <a:off x="9247052" y="5083348"/>
            <a:ext cx="585878" cy="391732"/>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tIns="108000" rtlCol="0" anchor="ctr">
            <a:noAutofit/>
          </a:bodyP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无线</a:t>
            </a:r>
          </a:p>
        </p:txBody>
      </p:sp>
      <p:pic>
        <p:nvPicPr>
          <p:cNvPr id="56" name="图片 55"/>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542792" y="2571371"/>
            <a:ext cx="786452" cy="447063"/>
          </a:xfrm>
          <a:prstGeom prst="rect">
            <a:avLst/>
          </a:prstGeom>
        </p:spPr>
      </p:pic>
      <p:pic>
        <p:nvPicPr>
          <p:cNvPr id="57" name="图片 5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4327874" y="2571371"/>
            <a:ext cx="786452" cy="447063"/>
          </a:xfrm>
          <a:prstGeom prst="rect">
            <a:avLst/>
          </a:prstGeom>
        </p:spPr>
      </p:pic>
      <p:sp>
        <p:nvSpPr>
          <p:cNvPr id="58" name="Freeform 159"/>
          <p:cNvSpPr/>
          <p:nvPr/>
        </p:nvSpPr>
        <p:spPr bwMode="gray">
          <a:xfrm flipH="1">
            <a:off x="1660807" y="1876737"/>
            <a:ext cx="751638" cy="3929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WAN</a:t>
            </a:r>
          </a:p>
        </p:txBody>
      </p:sp>
      <p:pic>
        <p:nvPicPr>
          <p:cNvPr id="12" name="图片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1888224" y="2193083"/>
            <a:ext cx="304816" cy="249949"/>
          </a:xfrm>
          <a:prstGeom prst="rect">
            <a:avLst/>
          </a:prstGeom>
        </p:spPr>
      </p:pic>
    </p:spTree>
    <p:extLst>
      <p:ext uri="{BB962C8B-B14F-4D97-AF65-F5344CB8AC3E}">
        <p14:creationId xmlns:p14="http://schemas.microsoft.com/office/powerpoint/2010/main" val="26722855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bwMode="gray"/>
        <p:txBody>
          <a:bodyPr/>
          <a:lstStyle/>
          <a:p>
            <a:r>
              <a:rPr lang="zh-CN" altLang="en-US">
                <a:solidFill>
                  <a:schemeClr val="bg1">
                    <a:lumMod val="50000"/>
                  </a:schemeClr>
                </a:solidFill>
                <a:sym typeface="Huawei Sans" panose="020C0503030203020204" pitchFamily="34" charset="0"/>
              </a:rPr>
              <a:t>园区网络概述</a:t>
            </a:r>
            <a:endParaRPr lang="en-US" altLang="zh-CN">
              <a:solidFill>
                <a:schemeClr val="bg1">
                  <a:lumMod val="50000"/>
                </a:schemeClr>
              </a:solidFill>
              <a:sym typeface="Huawei Sans" panose="020C0503030203020204" pitchFamily="34" charset="0"/>
            </a:endParaRPr>
          </a:p>
          <a:p>
            <a:r>
              <a:rPr lang="zh-CN" altLang="en-US">
                <a:solidFill>
                  <a:schemeClr val="bg1">
                    <a:lumMod val="50000"/>
                  </a:schemeClr>
                </a:solidFill>
                <a:sym typeface="Huawei Sans" panose="020C0503030203020204" pitchFamily="34" charset="0"/>
              </a:rPr>
              <a:t>园区网络的挑战与华为云园区网络解决方案</a:t>
            </a:r>
            <a:endParaRPr lang="en-US" altLang="zh-CN">
              <a:solidFill>
                <a:schemeClr val="bg1">
                  <a:lumMod val="50000"/>
                </a:schemeClr>
              </a:solidFill>
              <a:sym typeface="Huawei Sans" panose="020C0503030203020204" pitchFamily="34" charset="0"/>
            </a:endParaRPr>
          </a:p>
          <a:p>
            <a:r>
              <a:rPr lang="zh-CN" altLang="en-US" b="1">
                <a:sym typeface="Huawei Sans" panose="020C0503030203020204" pitchFamily="34" charset="0"/>
              </a:rPr>
              <a:t>典型园区网络技术</a:t>
            </a:r>
            <a:endParaRPr lang="en-US" altLang="zh-CN" b="1">
              <a:sym typeface="Huawei Sans" panose="020C0503030203020204" pitchFamily="34" charset="0"/>
            </a:endParaRPr>
          </a:p>
          <a:p>
            <a:r>
              <a:rPr lang="zh-CN" altLang="en-US">
                <a:solidFill>
                  <a:schemeClr val="bg1">
                    <a:lumMod val="50000"/>
                  </a:schemeClr>
                </a:solidFill>
                <a:sym typeface="Huawei Sans" panose="020C0503030203020204" pitchFamily="34" charset="0"/>
              </a:rPr>
              <a:t>典型园区网络案例</a:t>
            </a:r>
          </a:p>
          <a:p>
            <a:endParaRPr lang="en-US" altLang="zh-CN" dirty="0">
              <a:solidFill>
                <a:schemeClr val="bg1">
                  <a:lumMod val="50000"/>
                </a:schemeClr>
              </a:solidFill>
              <a:sym typeface="Huawei Sans" panose="020C0503030203020204" pitchFamily="34" charset="0"/>
            </a:endParaRPr>
          </a:p>
        </p:txBody>
      </p:sp>
    </p:spTree>
    <p:extLst>
      <p:ext uri="{BB962C8B-B14F-4D97-AF65-F5344CB8AC3E}">
        <p14:creationId xmlns:p14="http://schemas.microsoft.com/office/powerpoint/2010/main" val="41443240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Huawei Sans" panose="020C0503030203020204" pitchFamily="34" charset="0"/>
              </a:rPr>
              <a:t>VLAN</a:t>
            </a:r>
            <a:endParaRPr lang="zh-CN" altLang="en-US" dirty="0">
              <a:sym typeface="Huawei Sans" panose="020C0503030203020204" pitchFamily="34" charset="0"/>
            </a:endParaRPr>
          </a:p>
        </p:txBody>
      </p:sp>
      <p:sp>
        <p:nvSpPr>
          <p:cNvPr id="13" name="圆角矩形 12"/>
          <p:cNvSpPr/>
          <p:nvPr/>
        </p:nvSpPr>
        <p:spPr bwMode="gray">
          <a:xfrm>
            <a:off x="4683700" y="4198641"/>
            <a:ext cx="1420046" cy="1343931"/>
          </a:xfrm>
          <a:prstGeom prst="roundRect">
            <a:avLst>
              <a:gd name="adj" fmla="val 7445"/>
            </a:avLst>
          </a:prstGeom>
          <a:solidFill>
            <a:srgbClr val="FFF2C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圆角矩形 13"/>
          <p:cNvSpPr/>
          <p:nvPr/>
        </p:nvSpPr>
        <p:spPr bwMode="gray">
          <a:xfrm>
            <a:off x="446088" y="4198641"/>
            <a:ext cx="4053557" cy="1343931"/>
          </a:xfrm>
          <a:prstGeom prst="roundRect">
            <a:avLst>
              <a:gd name="adj" fmla="val 7445"/>
            </a:avLst>
          </a:prstGeom>
          <a:solidFill>
            <a:srgbClr val="BEE9EE"/>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5" name="Group 165"/>
          <p:cNvGrpSpPr/>
          <p:nvPr/>
        </p:nvGrpSpPr>
        <p:grpSpPr bwMode="gray">
          <a:xfrm rot="10800000">
            <a:off x="1893855" y="2286096"/>
            <a:ext cx="2803836" cy="1205915"/>
            <a:chOff x="-1233037" y="914446"/>
            <a:chExt cx="1573823" cy="778776"/>
          </a:xfrm>
        </p:grpSpPr>
        <p:cxnSp>
          <p:nvCxnSpPr>
            <p:cNvPr id="16" name="Straight Connector 166"/>
            <p:cNvCxnSpPr/>
            <p:nvPr/>
          </p:nvCxnSpPr>
          <p:spPr bwMode="gray">
            <a:xfrm flipH="1" flipV="1">
              <a:off x="-1233037" y="914446"/>
              <a:ext cx="786912" cy="778776"/>
            </a:xfrm>
            <a:prstGeom prst="line">
              <a:avLst/>
            </a:prstGeom>
            <a:noFill/>
            <a:ln w="19050" cap="flat" cmpd="sng" algn="ctr">
              <a:solidFill>
                <a:sysClr val="windowText" lastClr="000000"/>
              </a:solidFill>
              <a:prstDash val="solid"/>
              <a:miter lim="800000"/>
            </a:ln>
            <a:effectLst/>
          </p:spPr>
        </p:cxnSp>
        <p:cxnSp>
          <p:nvCxnSpPr>
            <p:cNvPr id="17" name="Straight Connector 167"/>
            <p:cNvCxnSpPr/>
            <p:nvPr/>
          </p:nvCxnSpPr>
          <p:spPr bwMode="gray">
            <a:xfrm flipV="1">
              <a:off x="-446125" y="914446"/>
              <a:ext cx="786911" cy="778776"/>
            </a:xfrm>
            <a:prstGeom prst="line">
              <a:avLst/>
            </a:prstGeom>
            <a:noFill/>
            <a:ln w="19050" cap="flat" cmpd="sng" algn="ctr">
              <a:solidFill>
                <a:sysClr val="windowText" lastClr="000000"/>
              </a:solidFill>
              <a:prstDash val="solid"/>
              <a:miter lim="800000"/>
            </a:ln>
            <a:effectLst/>
          </p:spPr>
        </p:cxnSp>
      </p:grpSp>
      <p:sp>
        <p:nvSpPr>
          <p:cNvPr id="18" name="矩形 17"/>
          <p:cNvSpPr/>
          <p:nvPr/>
        </p:nvSpPr>
        <p:spPr bwMode="gray">
          <a:xfrm>
            <a:off x="6434410" y="1770186"/>
            <a:ext cx="5314677" cy="3093154"/>
          </a:xfrm>
          <a:prstGeom prst="rect">
            <a:avLst/>
          </a:prstGeom>
        </p:spPr>
        <p:txBody>
          <a:bodyPr wrap="square">
            <a:spAutoFit/>
          </a:bodyPr>
          <a:lstStyle/>
          <a:p>
            <a:pPr marL="176213" indent="-176213">
              <a:lnSpc>
                <a:spcPts val="2400"/>
              </a:lnSpc>
              <a:spcAft>
                <a:spcPts val="600"/>
              </a:spcAft>
              <a:buFont typeface="Arial" panose="020B0604020202020204" pitchFamily="34" charset="0"/>
              <a:buChar cha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Virtual Local Area Network</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）即虚拟局域网，是将一个物理的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在逻辑上划分成多个广播域的通信技术。</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4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一个</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中所有设备都是在同一广播域内，不同的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为不同的广播域。</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内的设备间可以直接通信，而</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间需通过三层设备实现相互通信。</a:t>
            </a:r>
          </a:p>
          <a:p>
            <a:pPr marL="176213" indent="-176213">
              <a:lnSpc>
                <a:spcPts val="24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一个</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一般对应一个逻辑子网。</a:t>
            </a:r>
          </a:p>
          <a:p>
            <a:pPr marL="176213" indent="-176213">
              <a:lnSpc>
                <a:spcPts val="2400"/>
              </a:lnSpc>
              <a:spcAft>
                <a:spcPts val="600"/>
              </a:spcAft>
              <a:buFont typeface="Arial" panose="020B0604020202020204" pitchFamily="34" charset="0"/>
              <a:buChar cha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中成员多基于交换机的接口分配，所谓的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划分，通常指的是将交换机的接口添加到特定的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中，从而该接口所连接的设备也即加入到了该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p>
        </p:txBody>
      </p:sp>
      <p:grpSp>
        <p:nvGrpSpPr>
          <p:cNvPr id="19" name="Group 165"/>
          <p:cNvGrpSpPr/>
          <p:nvPr/>
        </p:nvGrpSpPr>
        <p:grpSpPr bwMode="gray">
          <a:xfrm rot="10800000">
            <a:off x="1001528" y="3590553"/>
            <a:ext cx="1689846" cy="867073"/>
            <a:chOff x="-1233037" y="914446"/>
            <a:chExt cx="1573823" cy="778776"/>
          </a:xfrm>
        </p:grpSpPr>
        <p:cxnSp>
          <p:nvCxnSpPr>
            <p:cNvPr id="20" name="Straight Connector 166"/>
            <p:cNvCxnSpPr/>
            <p:nvPr/>
          </p:nvCxnSpPr>
          <p:spPr bwMode="gray">
            <a:xfrm flipH="1" flipV="1">
              <a:off x="-1233037" y="914446"/>
              <a:ext cx="786912" cy="778776"/>
            </a:xfrm>
            <a:prstGeom prst="line">
              <a:avLst/>
            </a:prstGeom>
            <a:noFill/>
            <a:ln w="19050" cap="flat" cmpd="sng" algn="ctr">
              <a:solidFill>
                <a:sysClr val="windowText" lastClr="000000"/>
              </a:solidFill>
              <a:prstDash val="solid"/>
              <a:miter lim="800000"/>
            </a:ln>
            <a:effectLst/>
          </p:spPr>
        </p:cxnSp>
        <p:cxnSp>
          <p:nvCxnSpPr>
            <p:cNvPr id="21" name="Straight Connector 167"/>
            <p:cNvCxnSpPr/>
            <p:nvPr/>
          </p:nvCxnSpPr>
          <p:spPr bwMode="gray">
            <a:xfrm flipV="1">
              <a:off x="-446125" y="914446"/>
              <a:ext cx="786911" cy="778776"/>
            </a:xfrm>
            <a:prstGeom prst="line">
              <a:avLst/>
            </a:prstGeom>
            <a:noFill/>
            <a:ln w="19050" cap="flat" cmpd="sng" algn="ctr">
              <a:solidFill>
                <a:sysClr val="windowText" lastClr="000000"/>
              </a:solidFill>
              <a:prstDash val="solid"/>
              <a:miter lim="800000"/>
            </a:ln>
            <a:effectLst/>
          </p:spPr>
        </p:cxnSp>
      </p:grpSp>
      <p:grpSp>
        <p:nvGrpSpPr>
          <p:cNvPr id="22" name="Group 165"/>
          <p:cNvGrpSpPr/>
          <p:nvPr/>
        </p:nvGrpSpPr>
        <p:grpSpPr bwMode="gray">
          <a:xfrm rot="10800000">
            <a:off x="3876526" y="3590553"/>
            <a:ext cx="1689846" cy="867073"/>
            <a:chOff x="-1233037" y="914446"/>
            <a:chExt cx="1573823" cy="778776"/>
          </a:xfrm>
        </p:grpSpPr>
        <p:cxnSp>
          <p:nvCxnSpPr>
            <p:cNvPr id="23" name="Straight Connector 166"/>
            <p:cNvCxnSpPr/>
            <p:nvPr/>
          </p:nvCxnSpPr>
          <p:spPr bwMode="gray">
            <a:xfrm flipH="1" flipV="1">
              <a:off x="-1233037" y="914446"/>
              <a:ext cx="786912" cy="778776"/>
            </a:xfrm>
            <a:prstGeom prst="line">
              <a:avLst/>
            </a:prstGeom>
            <a:noFill/>
            <a:ln w="19050" cap="flat" cmpd="sng" algn="ctr">
              <a:solidFill>
                <a:sysClr val="windowText" lastClr="000000"/>
              </a:solidFill>
              <a:prstDash val="solid"/>
              <a:miter lim="800000"/>
            </a:ln>
            <a:effectLst/>
          </p:spPr>
        </p:cxnSp>
        <p:cxnSp>
          <p:nvCxnSpPr>
            <p:cNvPr id="24" name="Straight Connector 167"/>
            <p:cNvCxnSpPr/>
            <p:nvPr/>
          </p:nvCxnSpPr>
          <p:spPr bwMode="gray">
            <a:xfrm flipV="1">
              <a:off x="-446125" y="914446"/>
              <a:ext cx="786911" cy="778776"/>
            </a:xfrm>
            <a:prstGeom prst="line">
              <a:avLst/>
            </a:prstGeom>
            <a:noFill/>
            <a:ln w="19050" cap="flat" cmpd="sng" algn="ctr">
              <a:solidFill>
                <a:sysClr val="windowText" lastClr="000000"/>
              </a:solidFill>
              <a:prstDash val="solid"/>
              <a:miter lim="800000"/>
            </a:ln>
            <a:effectLst/>
          </p:spPr>
        </p:cxnSp>
      </p:grpSp>
      <p:pic>
        <p:nvPicPr>
          <p:cNvPr id="25" name="图片 87" descr="汇聚交换机.png"/>
          <p:cNvPicPr>
            <a:picLocks noChangeAspect="1"/>
          </p:cNvPicPr>
          <p:nvPr/>
        </p:nvPicPr>
        <p:blipFill>
          <a:blip r:embed="rId3" cstate="print"/>
          <a:stretch>
            <a:fillRect/>
          </a:stretch>
        </p:blipFill>
        <p:spPr bwMode="gray">
          <a:xfrm>
            <a:off x="3050321" y="2085272"/>
            <a:ext cx="490909" cy="401653"/>
          </a:xfrm>
          <a:prstGeom prst="rect">
            <a:avLst/>
          </a:prstGeom>
        </p:spPr>
      </p:pic>
      <p:pic>
        <p:nvPicPr>
          <p:cNvPr id="26" name="图片 76" descr="接入交换机.png"/>
          <p:cNvPicPr>
            <a:picLocks noChangeAspect="1"/>
          </p:cNvPicPr>
          <p:nvPr/>
        </p:nvPicPr>
        <p:blipFill>
          <a:blip r:embed="rId4" cstate="print"/>
          <a:stretch>
            <a:fillRect/>
          </a:stretch>
        </p:blipFill>
        <p:spPr bwMode="gray">
          <a:xfrm>
            <a:off x="1600997" y="3345914"/>
            <a:ext cx="490909" cy="401653"/>
          </a:xfrm>
          <a:prstGeom prst="rect">
            <a:avLst/>
          </a:prstGeom>
        </p:spPr>
      </p:pic>
      <p:pic>
        <p:nvPicPr>
          <p:cNvPr id="27" name="图片 76" descr="接入交换机.png"/>
          <p:cNvPicPr>
            <a:picLocks noChangeAspect="1"/>
          </p:cNvPicPr>
          <p:nvPr/>
        </p:nvPicPr>
        <p:blipFill>
          <a:blip r:embed="rId4" cstate="print"/>
          <a:stretch>
            <a:fillRect/>
          </a:stretch>
        </p:blipFill>
        <p:spPr bwMode="gray">
          <a:xfrm>
            <a:off x="4499645" y="3345914"/>
            <a:ext cx="490909" cy="401653"/>
          </a:xfrm>
          <a:prstGeom prst="rect">
            <a:avLst/>
          </a:prstGeom>
        </p:spPr>
      </p:pic>
      <p:pic>
        <p:nvPicPr>
          <p:cNvPr id="28" name="图片 14" descr="日志告警服务器-蓝.png"/>
          <p:cNvPicPr>
            <a:picLocks noChangeAspect="1"/>
          </p:cNvPicPr>
          <p:nvPr/>
        </p:nvPicPr>
        <p:blipFill>
          <a:blip r:embed="rId5" cstate="print"/>
          <a:stretch>
            <a:fillRect/>
          </a:stretch>
        </p:blipFill>
        <p:spPr bwMode="gray">
          <a:xfrm>
            <a:off x="810253" y="4387025"/>
            <a:ext cx="490552" cy="306312"/>
          </a:xfrm>
          <a:prstGeom prst="rect">
            <a:avLst/>
          </a:prstGeom>
        </p:spPr>
      </p:pic>
      <p:pic>
        <p:nvPicPr>
          <p:cNvPr id="29" name="图片 47" descr="打印机.png"/>
          <p:cNvPicPr>
            <a:picLocks noChangeAspect="1"/>
          </p:cNvPicPr>
          <p:nvPr/>
        </p:nvPicPr>
        <p:blipFill>
          <a:blip r:embed="rId6" cstate="print"/>
          <a:stretch>
            <a:fillRect/>
          </a:stretch>
        </p:blipFill>
        <p:spPr bwMode="gray">
          <a:xfrm>
            <a:off x="3744764" y="4362619"/>
            <a:ext cx="444786" cy="365835"/>
          </a:xfrm>
          <a:prstGeom prst="rect">
            <a:avLst/>
          </a:prstGeom>
        </p:spPr>
      </p:pic>
      <p:grpSp>
        <p:nvGrpSpPr>
          <p:cNvPr id="30" name="组合 211"/>
          <p:cNvGrpSpPr/>
          <p:nvPr/>
        </p:nvGrpSpPr>
        <p:grpSpPr bwMode="gray">
          <a:xfrm>
            <a:off x="5270764" y="4457717"/>
            <a:ext cx="515863" cy="256225"/>
            <a:chOff x="5310188" y="1243013"/>
            <a:chExt cx="915988" cy="414338"/>
          </a:xfrm>
          <a:solidFill>
            <a:srgbClr val="7A7B7C"/>
          </a:solidFill>
        </p:grpSpPr>
        <p:sp>
          <p:nvSpPr>
            <p:cNvPr id="31" name="Freeform 106"/>
            <p:cNvSpPr>
              <a:spLocks/>
            </p:cNvSpPr>
            <p:nvPr/>
          </p:nvSpPr>
          <p:spPr bwMode="gray">
            <a:xfrm>
              <a:off x="5310188" y="1243013"/>
              <a:ext cx="915988" cy="414338"/>
            </a:xfrm>
            <a:custGeom>
              <a:avLst/>
              <a:gdLst/>
              <a:ahLst/>
              <a:cxnLst>
                <a:cxn ang="0">
                  <a:pos x="680" y="989"/>
                </a:cxn>
                <a:cxn ang="0">
                  <a:pos x="680" y="989"/>
                </a:cxn>
                <a:cxn ang="0">
                  <a:pos x="453" y="923"/>
                </a:cxn>
                <a:cxn ang="0">
                  <a:pos x="448" y="921"/>
                </a:cxn>
                <a:cxn ang="0">
                  <a:pos x="223" y="748"/>
                </a:cxn>
                <a:cxn ang="0">
                  <a:pos x="221" y="745"/>
                </a:cxn>
                <a:cxn ang="0">
                  <a:pos x="189" y="507"/>
                </a:cxn>
                <a:cxn ang="0">
                  <a:pos x="50" y="395"/>
                </a:cxn>
                <a:cxn ang="0">
                  <a:pos x="43" y="376"/>
                </a:cxn>
                <a:cxn ang="0">
                  <a:pos x="14" y="188"/>
                </a:cxn>
                <a:cxn ang="0">
                  <a:pos x="297" y="65"/>
                </a:cxn>
                <a:cxn ang="0">
                  <a:pos x="1609" y="5"/>
                </a:cxn>
                <a:cxn ang="0">
                  <a:pos x="1900" y="18"/>
                </a:cxn>
                <a:cxn ang="0">
                  <a:pos x="1953" y="25"/>
                </a:cxn>
                <a:cxn ang="0">
                  <a:pos x="2168" y="213"/>
                </a:cxn>
                <a:cxn ang="0">
                  <a:pos x="2135" y="394"/>
                </a:cxn>
                <a:cxn ang="0">
                  <a:pos x="2100" y="409"/>
                </a:cxn>
                <a:cxn ang="0">
                  <a:pos x="2100" y="472"/>
                </a:cxn>
                <a:cxn ang="0">
                  <a:pos x="1997" y="599"/>
                </a:cxn>
                <a:cxn ang="0">
                  <a:pos x="1814" y="656"/>
                </a:cxn>
                <a:cxn ang="0">
                  <a:pos x="1773" y="634"/>
                </a:cxn>
                <a:cxn ang="0">
                  <a:pos x="1795" y="592"/>
                </a:cxn>
                <a:cxn ang="0">
                  <a:pos x="1975" y="536"/>
                </a:cxn>
                <a:cxn ang="0">
                  <a:pos x="2033" y="472"/>
                </a:cxn>
                <a:cxn ang="0">
                  <a:pos x="2033" y="384"/>
                </a:cxn>
                <a:cxn ang="0">
                  <a:pos x="2060" y="351"/>
                </a:cxn>
                <a:cxn ang="0">
                  <a:pos x="2098" y="339"/>
                </a:cxn>
                <a:cxn ang="0">
                  <a:pos x="2102" y="224"/>
                </a:cxn>
                <a:cxn ang="0">
                  <a:pos x="1944" y="91"/>
                </a:cxn>
                <a:cxn ang="0">
                  <a:pos x="1892" y="84"/>
                </a:cxn>
                <a:cxn ang="0">
                  <a:pos x="1611" y="72"/>
                </a:cxn>
                <a:cxn ang="0">
                  <a:pos x="302" y="131"/>
                </a:cxn>
                <a:cxn ang="0">
                  <a:pos x="79" y="200"/>
                </a:cxn>
                <a:cxn ang="0">
                  <a:pos x="105" y="351"/>
                </a:cxn>
                <a:cxn ang="0">
                  <a:pos x="113" y="372"/>
                </a:cxn>
                <a:cxn ang="0">
                  <a:pos x="217" y="439"/>
                </a:cxn>
                <a:cxn ang="0">
                  <a:pos x="243" y="447"/>
                </a:cxn>
                <a:cxn ang="0">
                  <a:pos x="255" y="471"/>
                </a:cxn>
                <a:cxn ang="0">
                  <a:pos x="281" y="714"/>
                </a:cxn>
                <a:cxn ang="0">
                  <a:pos x="282" y="717"/>
                </a:cxn>
                <a:cxn ang="0">
                  <a:pos x="471" y="859"/>
                </a:cxn>
                <a:cxn ang="0">
                  <a:pos x="477" y="861"/>
                </a:cxn>
                <a:cxn ang="0">
                  <a:pos x="717" y="917"/>
                </a:cxn>
                <a:cxn ang="0">
                  <a:pos x="1620" y="645"/>
                </a:cxn>
                <a:cxn ang="0">
                  <a:pos x="1662" y="668"/>
                </a:cxn>
                <a:cxn ang="0">
                  <a:pos x="1639" y="709"/>
                </a:cxn>
                <a:cxn ang="0">
                  <a:pos x="733" y="982"/>
                </a:cxn>
                <a:cxn ang="0">
                  <a:pos x="680" y="989"/>
                </a:cxn>
              </a:cxnLst>
              <a:rect l="0" t="0" r="r" b="b"/>
              <a:pathLst>
                <a:path w="2184" h="989">
                  <a:moveTo>
                    <a:pt x="680" y="989"/>
                  </a:moveTo>
                  <a:lnTo>
                    <a:pt x="680" y="989"/>
                  </a:lnTo>
                  <a:cubicBezTo>
                    <a:pt x="627" y="989"/>
                    <a:pt x="571" y="968"/>
                    <a:pt x="453" y="923"/>
                  </a:cubicBezTo>
                  <a:lnTo>
                    <a:pt x="448" y="921"/>
                  </a:lnTo>
                  <a:cubicBezTo>
                    <a:pt x="280" y="858"/>
                    <a:pt x="251" y="802"/>
                    <a:pt x="223" y="748"/>
                  </a:cubicBezTo>
                  <a:lnTo>
                    <a:pt x="221" y="745"/>
                  </a:lnTo>
                  <a:cubicBezTo>
                    <a:pt x="198" y="699"/>
                    <a:pt x="191" y="573"/>
                    <a:pt x="189" y="507"/>
                  </a:cubicBezTo>
                  <a:cubicBezTo>
                    <a:pt x="93" y="506"/>
                    <a:pt x="70" y="448"/>
                    <a:pt x="50" y="395"/>
                  </a:cubicBezTo>
                  <a:cubicBezTo>
                    <a:pt x="48" y="389"/>
                    <a:pt x="45" y="382"/>
                    <a:pt x="43" y="376"/>
                  </a:cubicBezTo>
                  <a:cubicBezTo>
                    <a:pt x="23" y="324"/>
                    <a:pt x="0" y="266"/>
                    <a:pt x="14" y="188"/>
                  </a:cubicBezTo>
                  <a:cubicBezTo>
                    <a:pt x="32" y="84"/>
                    <a:pt x="126" y="77"/>
                    <a:pt x="297" y="65"/>
                  </a:cubicBezTo>
                  <a:cubicBezTo>
                    <a:pt x="469" y="52"/>
                    <a:pt x="1427" y="11"/>
                    <a:pt x="1609" y="5"/>
                  </a:cubicBezTo>
                  <a:cubicBezTo>
                    <a:pt x="1769" y="0"/>
                    <a:pt x="1824" y="8"/>
                    <a:pt x="1900" y="18"/>
                  </a:cubicBezTo>
                  <a:cubicBezTo>
                    <a:pt x="1916" y="20"/>
                    <a:pt x="1933" y="22"/>
                    <a:pt x="1953" y="25"/>
                  </a:cubicBezTo>
                  <a:cubicBezTo>
                    <a:pt x="2065" y="39"/>
                    <a:pt x="2145" y="76"/>
                    <a:pt x="2168" y="213"/>
                  </a:cubicBezTo>
                  <a:cubicBezTo>
                    <a:pt x="2184" y="310"/>
                    <a:pt x="2174" y="368"/>
                    <a:pt x="2135" y="394"/>
                  </a:cubicBezTo>
                  <a:cubicBezTo>
                    <a:pt x="2125" y="401"/>
                    <a:pt x="2112" y="406"/>
                    <a:pt x="2100" y="409"/>
                  </a:cubicBezTo>
                  <a:lnTo>
                    <a:pt x="2100" y="472"/>
                  </a:lnTo>
                  <a:cubicBezTo>
                    <a:pt x="2100" y="531"/>
                    <a:pt x="2063" y="576"/>
                    <a:pt x="1997" y="599"/>
                  </a:cubicBezTo>
                  <a:cubicBezTo>
                    <a:pt x="1985" y="603"/>
                    <a:pt x="1924" y="622"/>
                    <a:pt x="1814" y="656"/>
                  </a:cubicBezTo>
                  <a:cubicBezTo>
                    <a:pt x="1797" y="661"/>
                    <a:pt x="1778" y="651"/>
                    <a:pt x="1773" y="634"/>
                  </a:cubicBezTo>
                  <a:cubicBezTo>
                    <a:pt x="1767" y="616"/>
                    <a:pt x="1777" y="597"/>
                    <a:pt x="1795" y="592"/>
                  </a:cubicBezTo>
                  <a:cubicBezTo>
                    <a:pt x="1937" y="548"/>
                    <a:pt x="1969" y="538"/>
                    <a:pt x="1975" y="536"/>
                  </a:cubicBezTo>
                  <a:cubicBezTo>
                    <a:pt x="2033" y="516"/>
                    <a:pt x="2033" y="483"/>
                    <a:pt x="2033" y="472"/>
                  </a:cubicBezTo>
                  <a:lnTo>
                    <a:pt x="2033" y="384"/>
                  </a:lnTo>
                  <a:cubicBezTo>
                    <a:pt x="2033" y="368"/>
                    <a:pt x="2044" y="354"/>
                    <a:pt x="2060" y="351"/>
                  </a:cubicBezTo>
                  <a:cubicBezTo>
                    <a:pt x="2073" y="348"/>
                    <a:pt x="2092" y="342"/>
                    <a:pt x="2098" y="339"/>
                  </a:cubicBezTo>
                  <a:cubicBezTo>
                    <a:pt x="2106" y="333"/>
                    <a:pt x="2116" y="303"/>
                    <a:pt x="2102" y="224"/>
                  </a:cubicBezTo>
                  <a:cubicBezTo>
                    <a:pt x="2087" y="135"/>
                    <a:pt x="2051" y="104"/>
                    <a:pt x="1944" y="91"/>
                  </a:cubicBezTo>
                  <a:cubicBezTo>
                    <a:pt x="1925" y="89"/>
                    <a:pt x="1908" y="86"/>
                    <a:pt x="1892" y="84"/>
                  </a:cubicBezTo>
                  <a:cubicBezTo>
                    <a:pt x="1815" y="74"/>
                    <a:pt x="1765" y="67"/>
                    <a:pt x="1611" y="72"/>
                  </a:cubicBezTo>
                  <a:cubicBezTo>
                    <a:pt x="1429" y="77"/>
                    <a:pt x="473" y="119"/>
                    <a:pt x="302" y="131"/>
                  </a:cubicBezTo>
                  <a:cubicBezTo>
                    <a:pt x="129" y="144"/>
                    <a:pt x="88" y="152"/>
                    <a:pt x="79" y="200"/>
                  </a:cubicBezTo>
                  <a:cubicBezTo>
                    <a:pt x="69" y="259"/>
                    <a:pt x="86" y="304"/>
                    <a:pt x="105" y="351"/>
                  </a:cubicBezTo>
                  <a:cubicBezTo>
                    <a:pt x="108" y="358"/>
                    <a:pt x="110" y="365"/>
                    <a:pt x="113" y="372"/>
                  </a:cubicBezTo>
                  <a:cubicBezTo>
                    <a:pt x="133" y="425"/>
                    <a:pt x="142" y="448"/>
                    <a:pt x="217" y="439"/>
                  </a:cubicBezTo>
                  <a:cubicBezTo>
                    <a:pt x="227" y="438"/>
                    <a:pt x="236" y="441"/>
                    <a:pt x="243" y="447"/>
                  </a:cubicBezTo>
                  <a:cubicBezTo>
                    <a:pt x="250" y="453"/>
                    <a:pt x="254" y="462"/>
                    <a:pt x="255" y="471"/>
                  </a:cubicBezTo>
                  <a:cubicBezTo>
                    <a:pt x="256" y="553"/>
                    <a:pt x="264" y="683"/>
                    <a:pt x="281" y="714"/>
                  </a:cubicBezTo>
                  <a:lnTo>
                    <a:pt x="282" y="717"/>
                  </a:lnTo>
                  <a:cubicBezTo>
                    <a:pt x="306" y="764"/>
                    <a:pt x="328" y="805"/>
                    <a:pt x="471" y="859"/>
                  </a:cubicBezTo>
                  <a:lnTo>
                    <a:pt x="477" y="861"/>
                  </a:lnTo>
                  <a:cubicBezTo>
                    <a:pt x="632" y="920"/>
                    <a:pt x="663" y="930"/>
                    <a:pt x="717" y="917"/>
                  </a:cubicBezTo>
                  <a:cubicBezTo>
                    <a:pt x="757" y="908"/>
                    <a:pt x="1217" y="769"/>
                    <a:pt x="1620" y="645"/>
                  </a:cubicBezTo>
                  <a:cubicBezTo>
                    <a:pt x="1638" y="640"/>
                    <a:pt x="1656" y="650"/>
                    <a:pt x="1662" y="668"/>
                  </a:cubicBezTo>
                  <a:cubicBezTo>
                    <a:pt x="1667" y="685"/>
                    <a:pt x="1657" y="704"/>
                    <a:pt x="1639" y="709"/>
                  </a:cubicBezTo>
                  <a:cubicBezTo>
                    <a:pt x="1290" y="816"/>
                    <a:pt x="778" y="971"/>
                    <a:pt x="733" y="982"/>
                  </a:cubicBezTo>
                  <a:cubicBezTo>
                    <a:pt x="714" y="986"/>
                    <a:pt x="697" y="989"/>
                    <a:pt x="680" y="989"/>
                  </a:cubicBezTo>
                  <a:close/>
                </a:path>
              </a:pathLst>
            </a:custGeom>
            <a:grpFill/>
            <a:ln w="0">
              <a:noFill/>
              <a:prstDash val="solid"/>
              <a:round/>
              <a:headEnd/>
              <a:tailEnd/>
            </a:ln>
          </p:spPr>
          <p:txBody>
            <a:bodyPr/>
            <a:lstStyle/>
            <a:p>
              <a:pPr marL="0" marR="0" lvl="0" indent="0" defTabSz="456512"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Freeform 107"/>
            <p:cNvSpPr>
              <a:spLocks/>
            </p:cNvSpPr>
            <p:nvPr/>
          </p:nvSpPr>
          <p:spPr bwMode="gray">
            <a:xfrm>
              <a:off x="5322888" y="1287463"/>
              <a:ext cx="868363" cy="230188"/>
            </a:xfrm>
            <a:custGeom>
              <a:avLst/>
              <a:gdLst/>
              <a:ahLst/>
              <a:cxnLst>
                <a:cxn ang="0">
                  <a:pos x="753" y="549"/>
                </a:cxn>
                <a:cxn ang="0">
                  <a:pos x="753" y="549"/>
                </a:cxn>
                <a:cxn ang="0">
                  <a:pos x="643" y="465"/>
                </a:cxn>
                <a:cxn ang="0">
                  <a:pos x="636" y="449"/>
                </a:cxn>
                <a:cxn ang="0">
                  <a:pos x="507" y="208"/>
                </a:cxn>
                <a:cxn ang="0">
                  <a:pos x="223" y="79"/>
                </a:cxn>
                <a:cxn ang="0">
                  <a:pos x="47" y="74"/>
                </a:cxn>
                <a:cxn ang="0">
                  <a:pos x="12" y="72"/>
                </a:cxn>
                <a:cxn ang="0">
                  <a:pos x="11" y="34"/>
                </a:cxn>
                <a:cxn ang="0">
                  <a:pos x="231" y="26"/>
                </a:cxn>
                <a:cxn ang="0">
                  <a:pos x="548" y="174"/>
                </a:cxn>
                <a:cxn ang="0">
                  <a:pos x="685" y="428"/>
                </a:cxn>
                <a:cxn ang="0">
                  <a:pos x="692" y="444"/>
                </a:cxn>
                <a:cxn ang="0">
                  <a:pos x="829" y="486"/>
                </a:cxn>
                <a:cxn ang="0">
                  <a:pos x="1733" y="302"/>
                </a:cxn>
                <a:cxn ang="0">
                  <a:pos x="2033" y="241"/>
                </a:cxn>
                <a:cxn ang="0">
                  <a:pos x="2065" y="261"/>
                </a:cxn>
                <a:cxn ang="0">
                  <a:pos x="2044" y="293"/>
                </a:cxn>
                <a:cxn ang="0">
                  <a:pos x="1743" y="354"/>
                </a:cxn>
                <a:cxn ang="0">
                  <a:pos x="840" y="538"/>
                </a:cxn>
                <a:cxn ang="0">
                  <a:pos x="753" y="549"/>
                </a:cxn>
              </a:cxnLst>
              <a:rect l="0" t="0" r="r" b="b"/>
              <a:pathLst>
                <a:path w="2068" h="549">
                  <a:moveTo>
                    <a:pt x="753" y="549"/>
                  </a:moveTo>
                  <a:lnTo>
                    <a:pt x="753" y="549"/>
                  </a:lnTo>
                  <a:cubicBezTo>
                    <a:pt x="687" y="549"/>
                    <a:pt x="666" y="519"/>
                    <a:pt x="643" y="465"/>
                  </a:cubicBezTo>
                  <a:lnTo>
                    <a:pt x="636" y="449"/>
                  </a:lnTo>
                  <a:cubicBezTo>
                    <a:pt x="610" y="387"/>
                    <a:pt x="561" y="272"/>
                    <a:pt x="507" y="208"/>
                  </a:cubicBezTo>
                  <a:cubicBezTo>
                    <a:pt x="457" y="147"/>
                    <a:pt x="394" y="107"/>
                    <a:pt x="223" y="79"/>
                  </a:cubicBezTo>
                  <a:cubicBezTo>
                    <a:pt x="87" y="57"/>
                    <a:pt x="51" y="71"/>
                    <a:pt x="47" y="74"/>
                  </a:cubicBezTo>
                  <a:cubicBezTo>
                    <a:pt x="36" y="82"/>
                    <a:pt x="21" y="81"/>
                    <a:pt x="12" y="72"/>
                  </a:cubicBezTo>
                  <a:cubicBezTo>
                    <a:pt x="1" y="62"/>
                    <a:pt x="0" y="45"/>
                    <a:pt x="11" y="34"/>
                  </a:cubicBezTo>
                  <a:cubicBezTo>
                    <a:pt x="24" y="20"/>
                    <a:pt x="71" y="0"/>
                    <a:pt x="231" y="26"/>
                  </a:cubicBezTo>
                  <a:cubicBezTo>
                    <a:pt x="395" y="53"/>
                    <a:pt x="481" y="93"/>
                    <a:pt x="548" y="174"/>
                  </a:cubicBezTo>
                  <a:cubicBezTo>
                    <a:pt x="607" y="244"/>
                    <a:pt x="656" y="359"/>
                    <a:pt x="685" y="428"/>
                  </a:cubicBezTo>
                  <a:lnTo>
                    <a:pt x="692" y="444"/>
                  </a:lnTo>
                  <a:cubicBezTo>
                    <a:pt x="714" y="495"/>
                    <a:pt x="719" y="509"/>
                    <a:pt x="829" y="486"/>
                  </a:cubicBezTo>
                  <a:cubicBezTo>
                    <a:pt x="922" y="466"/>
                    <a:pt x="1410" y="367"/>
                    <a:pt x="1733" y="302"/>
                  </a:cubicBezTo>
                  <a:cubicBezTo>
                    <a:pt x="1893" y="269"/>
                    <a:pt x="2020" y="243"/>
                    <a:pt x="2033" y="241"/>
                  </a:cubicBezTo>
                  <a:cubicBezTo>
                    <a:pt x="2048" y="238"/>
                    <a:pt x="2062" y="247"/>
                    <a:pt x="2065" y="261"/>
                  </a:cubicBezTo>
                  <a:cubicBezTo>
                    <a:pt x="2068" y="276"/>
                    <a:pt x="2059" y="290"/>
                    <a:pt x="2044" y="293"/>
                  </a:cubicBezTo>
                  <a:cubicBezTo>
                    <a:pt x="2031" y="296"/>
                    <a:pt x="1910" y="320"/>
                    <a:pt x="1743" y="354"/>
                  </a:cubicBezTo>
                  <a:cubicBezTo>
                    <a:pt x="1421" y="419"/>
                    <a:pt x="933" y="518"/>
                    <a:pt x="840" y="538"/>
                  </a:cubicBezTo>
                  <a:cubicBezTo>
                    <a:pt x="804" y="545"/>
                    <a:pt x="776" y="549"/>
                    <a:pt x="753" y="549"/>
                  </a:cubicBezTo>
                  <a:close/>
                </a:path>
              </a:pathLst>
            </a:custGeom>
            <a:grpFill/>
            <a:ln w="0">
              <a:noFill/>
              <a:prstDash val="solid"/>
              <a:round/>
              <a:headEnd/>
              <a:tailEnd/>
            </a:ln>
          </p:spPr>
          <p:txBody>
            <a:bodyPr/>
            <a:lstStyle/>
            <a:p>
              <a:pPr marL="0" marR="0" lvl="0" indent="0" defTabSz="456512"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Freeform 108"/>
            <p:cNvSpPr>
              <a:spLocks/>
            </p:cNvSpPr>
            <p:nvPr/>
          </p:nvSpPr>
          <p:spPr bwMode="gray">
            <a:xfrm>
              <a:off x="5564188" y="1495425"/>
              <a:ext cx="87313" cy="157163"/>
            </a:xfrm>
            <a:custGeom>
              <a:avLst/>
              <a:gdLst/>
              <a:ahLst/>
              <a:cxnLst>
                <a:cxn ang="0">
                  <a:pos x="45" y="375"/>
                </a:cxn>
                <a:cxn ang="0">
                  <a:pos x="45" y="375"/>
                </a:cxn>
                <a:cxn ang="0">
                  <a:pos x="25" y="375"/>
                </a:cxn>
                <a:cxn ang="0">
                  <a:pos x="0" y="346"/>
                </a:cxn>
                <a:cxn ang="0">
                  <a:pos x="29" y="321"/>
                </a:cxn>
                <a:cxn ang="0">
                  <a:pos x="143" y="237"/>
                </a:cxn>
                <a:cxn ang="0">
                  <a:pos x="144" y="232"/>
                </a:cxn>
                <a:cxn ang="0">
                  <a:pos x="153" y="28"/>
                </a:cxn>
                <a:cxn ang="0">
                  <a:pos x="179" y="1"/>
                </a:cxn>
                <a:cxn ang="0">
                  <a:pos x="206" y="27"/>
                </a:cxn>
                <a:cxn ang="0">
                  <a:pos x="196" y="245"/>
                </a:cxn>
                <a:cxn ang="0">
                  <a:pos x="195" y="249"/>
                </a:cxn>
                <a:cxn ang="0">
                  <a:pos x="45" y="375"/>
                </a:cxn>
              </a:cxnLst>
              <a:rect l="0" t="0" r="r" b="b"/>
              <a:pathLst>
                <a:path w="210" h="375">
                  <a:moveTo>
                    <a:pt x="45" y="375"/>
                  </a:moveTo>
                  <a:lnTo>
                    <a:pt x="45" y="375"/>
                  </a:lnTo>
                  <a:cubicBezTo>
                    <a:pt x="39" y="375"/>
                    <a:pt x="32" y="375"/>
                    <a:pt x="25" y="375"/>
                  </a:cubicBezTo>
                  <a:cubicBezTo>
                    <a:pt x="11" y="374"/>
                    <a:pt x="0" y="361"/>
                    <a:pt x="0" y="346"/>
                  </a:cubicBezTo>
                  <a:cubicBezTo>
                    <a:pt x="1" y="332"/>
                    <a:pt x="14" y="320"/>
                    <a:pt x="29" y="321"/>
                  </a:cubicBezTo>
                  <a:cubicBezTo>
                    <a:pt x="121" y="327"/>
                    <a:pt x="130" y="291"/>
                    <a:pt x="143" y="237"/>
                  </a:cubicBezTo>
                  <a:lnTo>
                    <a:pt x="144" y="232"/>
                  </a:lnTo>
                  <a:cubicBezTo>
                    <a:pt x="155" y="189"/>
                    <a:pt x="154" y="70"/>
                    <a:pt x="153" y="28"/>
                  </a:cubicBezTo>
                  <a:cubicBezTo>
                    <a:pt x="153" y="13"/>
                    <a:pt x="164" y="1"/>
                    <a:pt x="179" y="1"/>
                  </a:cubicBezTo>
                  <a:cubicBezTo>
                    <a:pt x="194" y="0"/>
                    <a:pt x="206" y="12"/>
                    <a:pt x="206" y="27"/>
                  </a:cubicBezTo>
                  <a:cubicBezTo>
                    <a:pt x="206" y="33"/>
                    <a:pt x="210" y="186"/>
                    <a:pt x="196" y="245"/>
                  </a:cubicBezTo>
                  <a:lnTo>
                    <a:pt x="195" y="249"/>
                  </a:lnTo>
                  <a:cubicBezTo>
                    <a:pt x="182" y="303"/>
                    <a:pt x="164" y="375"/>
                    <a:pt x="45" y="375"/>
                  </a:cubicBezTo>
                  <a:close/>
                </a:path>
              </a:pathLst>
            </a:custGeom>
            <a:grpFill/>
            <a:ln w="0">
              <a:noFill/>
              <a:prstDash val="solid"/>
              <a:round/>
              <a:headEnd/>
              <a:tailEnd/>
            </a:ln>
          </p:spPr>
          <p:txBody>
            <a:bodyPr/>
            <a:lstStyle/>
            <a:p>
              <a:pPr marL="0" marR="0" lvl="0" indent="0" defTabSz="456512"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Freeform 109"/>
            <p:cNvSpPr>
              <a:spLocks/>
            </p:cNvSpPr>
            <p:nvPr/>
          </p:nvSpPr>
          <p:spPr bwMode="gray">
            <a:xfrm>
              <a:off x="5394325" y="1303338"/>
              <a:ext cx="87313" cy="147638"/>
            </a:xfrm>
            <a:custGeom>
              <a:avLst/>
              <a:gdLst/>
              <a:ahLst/>
              <a:cxnLst>
                <a:cxn ang="0">
                  <a:pos x="27" y="353"/>
                </a:cxn>
                <a:cxn ang="0">
                  <a:pos x="27" y="353"/>
                </a:cxn>
                <a:cxn ang="0">
                  <a:pos x="0" y="327"/>
                </a:cxn>
                <a:cxn ang="0">
                  <a:pos x="0" y="169"/>
                </a:cxn>
                <a:cxn ang="0">
                  <a:pos x="52" y="31"/>
                </a:cxn>
                <a:cxn ang="0">
                  <a:pos x="184" y="14"/>
                </a:cxn>
                <a:cxn ang="0">
                  <a:pos x="203" y="46"/>
                </a:cxn>
                <a:cxn ang="0">
                  <a:pos x="171" y="66"/>
                </a:cxn>
                <a:cxn ang="0">
                  <a:pos x="84" y="73"/>
                </a:cxn>
                <a:cxn ang="0">
                  <a:pos x="54" y="169"/>
                </a:cxn>
                <a:cxn ang="0">
                  <a:pos x="54" y="327"/>
                </a:cxn>
                <a:cxn ang="0">
                  <a:pos x="27" y="353"/>
                </a:cxn>
              </a:cxnLst>
              <a:rect l="0" t="0" r="r" b="b"/>
              <a:pathLst>
                <a:path w="207" h="353">
                  <a:moveTo>
                    <a:pt x="27" y="353"/>
                  </a:moveTo>
                  <a:lnTo>
                    <a:pt x="27" y="353"/>
                  </a:lnTo>
                  <a:cubicBezTo>
                    <a:pt x="12" y="353"/>
                    <a:pt x="0" y="342"/>
                    <a:pt x="0" y="327"/>
                  </a:cubicBezTo>
                  <a:lnTo>
                    <a:pt x="0" y="169"/>
                  </a:lnTo>
                  <a:cubicBezTo>
                    <a:pt x="0" y="104"/>
                    <a:pt x="17" y="57"/>
                    <a:pt x="52" y="31"/>
                  </a:cubicBezTo>
                  <a:cubicBezTo>
                    <a:pt x="84" y="6"/>
                    <a:pt x="128" y="0"/>
                    <a:pt x="184" y="14"/>
                  </a:cubicBezTo>
                  <a:cubicBezTo>
                    <a:pt x="198" y="17"/>
                    <a:pt x="207" y="32"/>
                    <a:pt x="203" y="46"/>
                  </a:cubicBezTo>
                  <a:cubicBezTo>
                    <a:pt x="200" y="61"/>
                    <a:pt x="185" y="69"/>
                    <a:pt x="171" y="66"/>
                  </a:cubicBezTo>
                  <a:cubicBezTo>
                    <a:pt x="132" y="56"/>
                    <a:pt x="103" y="58"/>
                    <a:pt x="84" y="73"/>
                  </a:cubicBezTo>
                  <a:cubicBezTo>
                    <a:pt x="64" y="89"/>
                    <a:pt x="54" y="121"/>
                    <a:pt x="54" y="169"/>
                  </a:cubicBezTo>
                  <a:lnTo>
                    <a:pt x="54" y="327"/>
                  </a:lnTo>
                  <a:cubicBezTo>
                    <a:pt x="54" y="342"/>
                    <a:pt x="42" y="353"/>
                    <a:pt x="27" y="353"/>
                  </a:cubicBezTo>
                  <a:close/>
                </a:path>
              </a:pathLst>
            </a:custGeom>
            <a:grpFill/>
            <a:ln w="0">
              <a:noFill/>
              <a:prstDash val="solid"/>
              <a:round/>
              <a:headEnd/>
              <a:tailEnd/>
            </a:ln>
          </p:spPr>
          <p:txBody>
            <a:bodyPr/>
            <a:lstStyle/>
            <a:p>
              <a:pPr marL="0" marR="0" lvl="0" indent="0" defTabSz="456512"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Freeform 110"/>
            <p:cNvSpPr>
              <a:spLocks/>
            </p:cNvSpPr>
            <p:nvPr/>
          </p:nvSpPr>
          <p:spPr bwMode="gray">
            <a:xfrm>
              <a:off x="5437188" y="1339850"/>
              <a:ext cx="165100" cy="247650"/>
            </a:xfrm>
            <a:custGeom>
              <a:avLst/>
              <a:gdLst/>
              <a:ahLst/>
              <a:cxnLst>
                <a:cxn ang="0">
                  <a:pos x="233" y="591"/>
                </a:cxn>
                <a:cxn ang="0">
                  <a:pos x="233" y="591"/>
                </a:cxn>
                <a:cxn ang="0">
                  <a:pos x="108" y="521"/>
                </a:cxn>
                <a:cxn ang="0">
                  <a:pos x="26" y="326"/>
                </a:cxn>
                <a:cxn ang="0">
                  <a:pos x="157" y="5"/>
                </a:cxn>
                <a:cxn ang="0">
                  <a:pos x="243" y="23"/>
                </a:cxn>
                <a:cxn ang="0">
                  <a:pos x="250" y="50"/>
                </a:cxn>
                <a:cxn ang="0">
                  <a:pos x="223" y="57"/>
                </a:cxn>
                <a:cxn ang="0">
                  <a:pos x="163" y="44"/>
                </a:cxn>
                <a:cxn ang="0">
                  <a:pos x="66" y="320"/>
                </a:cxn>
                <a:cxn ang="0">
                  <a:pos x="139" y="495"/>
                </a:cxn>
                <a:cxn ang="0">
                  <a:pos x="245" y="550"/>
                </a:cxn>
                <a:cxn ang="0">
                  <a:pos x="329" y="465"/>
                </a:cxn>
                <a:cxn ang="0">
                  <a:pos x="343" y="275"/>
                </a:cxn>
                <a:cxn ang="0">
                  <a:pos x="337" y="247"/>
                </a:cxn>
                <a:cxn ang="0">
                  <a:pos x="352" y="223"/>
                </a:cxn>
                <a:cxn ang="0">
                  <a:pos x="376" y="238"/>
                </a:cxn>
                <a:cxn ang="0">
                  <a:pos x="382" y="268"/>
                </a:cxn>
                <a:cxn ang="0">
                  <a:pos x="366" y="479"/>
                </a:cxn>
                <a:cxn ang="0">
                  <a:pos x="252" y="590"/>
                </a:cxn>
                <a:cxn ang="0">
                  <a:pos x="233" y="591"/>
                </a:cxn>
              </a:cxnLst>
              <a:rect l="0" t="0" r="r" b="b"/>
              <a:pathLst>
                <a:path w="395" h="591">
                  <a:moveTo>
                    <a:pt x="233" y="591"/>
                  </a:moveTo>
                  <a:lnTo>
                    <a:pt x="233" y="591"/>
                  </a:lnTo>
                  <a:cubicBezTo>
                    <a:pt x="190" y="591"/>
                    <a:pt x="146" y="567"/>
                    <a:pt x="108" y="521"/>
                  </a:cubicBezTo>
                  <a:cubicBezTo>
                    <a:pt x="68" y="471"/>
                    <a:pt x="39" y="402"/>
                    <a:pt x="26" y="326"/>
                  </a:cubicBezTo>
                  <a:cubicBezTo>
                    <a:pt x="0" y="162"/>
                    <a:pt x="57" y="21"/>
                    <a:pt x="157" y="5"/>
                  </a:cubicBezTo>
                  <a:cubicBezTo>
                    <a:pt x="185" y="0"/>
                    <a:pt x="215" y="6"/>
                    <a:pt x="243" y="23"/>
                  </a:cubicBezTo>
                  <a:cubicBezTo>
                    <a:pt x="253" y="28"/>
                    <a:pt x="256" y="41"/>
                    <a:pt x="250" y="50"/>
                  </a:cubicBezTo>
                  <a:cubicBezTo>
                    <a:pt x="245" y="60"/>
                    <a:pt x="232" y="63"/>
                    <a:pt x="223" y="57"/>
                  </a:cubicBezTo>
                  <a:cubicBezTo>
                    <a:pt x="202" y="45"/>
                    <a:pt x="182" y="41"/>
                    <a:pt x="163" y="44"/>
                  </a:cubicBezTo>
                  <a:cubicBezTo>
                    <a:pt x="88" y="56"/>
                    <a:pt x="43" y="182"/>
                    <a:pt x="66" y="320"/>
                  </a:cubicBezTo>
                  <a:cubicBezTo>
                    <a:pt x="77" y="389"/>
                    <a:pt x="103" y="452"/>
                    <a:pt x="139" y="495"/>
                  </a:cubicBezTo>
                  <a:cubicBezTo>
                    <a:pt x="173" y="536"/>
                    <a:pt x="210" y="556"/>
                    <a:pt x="245" y="550"/>
                  </a:cubicBezTo>
                  <a:cubicBezTo>
                    <a:pt x="280" y="544"/>
                    <a:pt x="310" y="514"/>
                    <a:pt x="329" y="465"/>
                  </a:cubicBezTo>
                  <a:cubicBezTo>
                    <a:pt x="349" y="412"/>
                    <a:pt x="354" y="344"/>
                    <a:pt x="343" y="275"/>
                  </a:cubicBezTo>
                  <a:cubicBezTo>
                    <a:pt x="341" y="265"/>
                    <a:pt x="339" y="256"/>
                    <a:pt x="337" y="247"/>
                  </a:cubicBezTo>
                  <a:cubicBezTo>
                    <a:pt x="335" y="236"/>
                    <a:pt x="342" y="225"/>
                    <a:pt x="352" y="223"/>
                  </a:cubicBezTo>
                  <a:cubicBezTo>
                    <a:pt x="363" y="221"/>
                    <a:pt x="374" y="227"/>
                    <a:pt x="376" y="238"/>
                  </a:cubicBezTo>
                  <a:cubicBezTo>
                    <a:pt x="379" y="248"/>
                    <a:pt x="380" y="258"/>
                    <a:pt x="382" y="268"/>
                  </a:cubicBezTo>
                  <a:cubicBezTo>
                    <a:pt x="395" y="344"/>
                    <a:pt x="389" y="419"/>
                    <a:pt x="366" y="479"/>
                  </a:cubicBezTo>
                  <a:cubicBezTo>
                    <a:pt x="342" y="542"/>
                    <a:pt x="301" y="582"/>
                    <a:pt x="252" y="590"/>
                  </a:cubicBezTo>
                  <a:cubicBezTo>
                    <a:pt x="246" y="591"/>
                    <a:pt x="239" y="591"/>
                    <a:pt x="233" y="591"/>
                  </a:cubicBezTo>
                  <a:close/>
                </a:path>
              </a:pathLst>
            </a:custGeom>
            <a:grpFill/>
            <a:ln w="0">
              <a:noFill/>
              <a:prstDash val="solid"/>
              <a:round/>
              <a:headEnd/>
              <a:tailEnd/>
            </a:ln>
          </p:spPr>
          <p:txBody>
            <a:bodyPr/>
            <a:lstStyle/>
            <a:p>
              <a:pPr marL="0" marR="0" lvl="0" indent="0" defTabSz="456512"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Freeform 111"/>
            <p:cNvSpPr>
              <a:spLocks noEditPoints="1"/>
            </p:cNvSpPr>
            <p:nvPr/>
          </p:nvSpPr>
          <p:spPr bwMode="gray">
            <a:xfrm>
              <a:off x="5478463" y="1400175"/>
              <a:ext cx="87313" cy="123825"/>
            </a:xfrm>
            <a:custGeom>
              <a:avLst/>
              <a:gdLst/>
              <a:ahLst/>
              <a:cxnLst>
                <a:cxn ang="0">
                  <a:pos x="91" y="47"/>
                </a:cxn>
                <a:cxn ang="0">
                  <a:pos x="91" y="47"/>
                </a:cxn>
                <a:cxn ang="0">
                  <a:pos x="87" y="48"/>
                </a:cxn>
                <a:cxn ang="0">
                  <a:pos x="53" y="159"/>
                </a:cxn>
                <a:cxn ang="0">
                  <a:pos x="117" y="255"/>
                </a:cxn>
                <a:cxn ang="0">
                  <a:pos x="121" y="255"/>
                </a:cxn>
                <a:cxn ang="0">
                  <a:pos x="156" y="143"/>
                </a:cxn>
                <a:cxn ang="0">
                  <a:pos x="91" y="47"/>
                </a:cxn>
                <a:cxn ang="0">
                  <a:pos x="117" y="295"/>
                </a:cxn>
                <a:cxn ang="0">
                  <a:pos x="117" y="295"/>
                </a:cxn>
                <a:cxn ang="0">
                  <a:pos x="13" y="166"/>
                </a:cxn>
                <a:cxn ang="0">
                  <a:pos x="81" y="8"/>
                </a:cxn>
                <a:cxn ang="0">
                  <a:pos x="195" y="136"/>
                </a:cxn>
                <a:cxn ang="0">
                  <a:pos x="127" y="294"/>
                </a:cxn>
                <a:cxn ang="0">
                  <a:pos x="117" y="295"/>
                </a:cxn>
              </a:cxnLst>
              <a:rect l="0" t="0" r="r" b="b"/>
              <a:pathLst>
                <a:path w="208" h="295">
                  <a:moveTo>
                    <a:pt x="91" y="47"/>
                  </a:moveTo>
                  <a:lnTo>
                    <a:pt x="91" y="47"/>
                  </a:lnTo>
                  <a:cubicBezTo>
                    <a:pt x="90" y="47"/>
                    <a:pt x="89" y="47"/>
                    <a:pt x="87" y="48"/>
                  </a:cubicBezTo>
                  <a:cubicBezTo>
                    <a:pt x="63" y="52"/>
                    <a:pt x="43" y="99"/>
                    <a:pt x="53" y="159"/>
                  </a:cubicBezTo>
                  <a:cubicBezTo>
                    <a:pt x="62" y="217"/>
                    <a:pt x="94" y="255"/>
                    <a:pt x="117" y="255"/>
                  </a:cubicBezTo>
                  <a:cubicBezTo>
                    <a:pt x="119" y="255"/>
                    <a:pt x="120" y="255"/>
                    <a:pt x="121" y="255"/>
                  </a:cubicBezTo>
                  <a:cubicBezTo>
                    <a:pt x="145" y="251"/>
                    <a:pt x="166" y="204"/>
                    <a:pt x="156" y="143"/>
                  </a:cubicBezTo>
                  <a:cubicBezTo>
                    <a:pt x="147" y="86"/>
                    <a:pt x="115" y="47"/>
                    <a:pt x="91" y="47"/>
                  </a:cubicBezTo>
                  <a:close/>
                  <a:moveTo>
                    <a:pt x="117" y="295"/>
                  </a:moveTo>
                  <a:lnTo>
                    <a:pt x="117" y="295"/>
                  </a:lnTo>
                  <a:cubicBezTo>
                    <a:pt x="69" y="295"/>
                    <a:pt x="25" y="241"/>
                    <a:pt x="13" y="166"/>
                  </a:cubicBezTo>
                  <a:cubicBezTo>
                    <a:pt x="0" y="86"/>
                    <a:pt x="30" y="17"/>
                    <a:pt x="81" y="8"/>
                  </a:cubicBezTo>
                  <a:cubicBezTo>
                    <a:pt x="133" y="0"/>
                    <a:pt x="182" y="56"/>
                    <a:pt x="195" y="136"/>
                  </a:cubicBezTo>
                  <a:cubicBezTo>
                    <a:pt x="208" y="216"/>
                    <a:pt x="179" y="286"/>
                    <a:pt x="127" y="294"/>
                  </a:cubicBezTo>
                  <a:cubicBezTo>
                    <a:pt x="124" y="295"/>
                    <a:pt x="121" y="295"/>
                    <a:pt x="117" y="295"/>
                  </a:cubicBezTo>
                  <a:close/>
                </a:path>
              </a:pathLst>
            </a:custGeom>
            <a:grpFill/>
            <a:ln w="0">
              <a:noFill/>
              <a:prstDash val="solid"/>
              <a:round/>
              <a:headEnd/>
              <a:tailEnd/>
            </a:ln>
          </p:spPr>
          <p:txBody>
            <a:bodyPr/>
            <a:lstStyle/>
            <a:p>
              <a:pPr marL="0" marR="0" lvl="0" indent="0" defTabSz="456512"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Freeform 112"/>
            <p:cNvSpPr>
              <a:spLocks/>
            </p:cNvSpPr>
            <p:nvPr/>
          </p:nvSpPr>
          <p:spPr bwMode="gray">
            <a:xfrm>
              <a:off x="5953125" y="1495425"/>
              <a:ext cx="65088" cy="65088"/>
            </a:xfrm>
            <a:custGeom>
              <a:avLst/>
              <a:gdLst/>
              <a:ahLst/>
              <a:cxnLst>
                <a:cxn ang="0">
                  <a:pos x="97" y="144"/>
                </a:cxn>
                <a:cxn ang="0">
                  <a:pos x="97" y="144"/>
                </a:cxn>
                <a:cxn ang="0">
                  <a:pos x="11" y="97"/>
                </a:cxn>
                <a:cxn ang="0">
                  <a:pos x="58" y="11"/>
                </a:cxn>
                <a:cxn ang="0">
                  <a:pos x="144" y="58"/>
                </a:cxn>
                <a:cxn ang="0">
                  <a:pos x="97" y="144"/>
                </a:cxn>
              </a:cxnLst>
              <a:rect l="0" t="0" r="r" b="b"/>
              <a:pathLst>
                <a:path w="155" h="155">
                  <a:moveTo>
                    <a:pt x="97" y="144"/>
                  </a:moveTo>
                  <a:lnTo>
                    <a:pt x="97" y="144"/>
                  </a:lnTo>
                  <a:cubicBezTo>
                    <a:pt x="60" y="155"/>
                    <a:pt x="22" y="134"/>
                    <a:pt x="11" y="97"/>
                  </a:cubicBezTo>
                  <a:cubicBezTo>
                    <a:pt x="0" y="60"/>
                    <a:pt x="21" y="22"/>
                    <a:pt x="58" y="11"/>
                  </a:cubicBezTo>
                  <a:cubicBezTo>
                    <a:pt x="95" y="0"/>
                    <a:pt x="133" y="21"/>
                    <a:pt x="144" y="58"/>
                  </a:cubicBezTo>
                  <a:cubicBezTo>
                    <a:pt x="155" y="95"/>
                    <a:pt x="134" y="133"/>
                    <a:pt x="97" y="144"/>
                  </a:cubicBezTo>
                  <a:close/>
                </a:path>
              </a:pathLst>
            </a:custGeom>
            <a:grpFill/>
            <a:ln w="0">
              <a:noFill/>
              <a:prstDash val="solid"/>
              <a:round/>
              <a:headEnd/>
              <a:tailEnd/>
            </a:ln>
          </p:spPr>
          <p:txBody>
            <a:bodyPr/>
            <a:lstStyle/>
            <a:p>
              <a:pPr marL="0" marR="0" lvl="0" indent="0" defTabSz="456512"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Freeform 113"/>
            <p:cNvSpPr>
              <a:spLocks/>
            </p:cNvSpPr>
            <p:nvPr/>
          </p:nvSpPr>
          <p:spPr bwMode="gray">
            <a:xfrm>
              <a:off x="6038850" y="1470025"/>
              <a:ext cx="65088" cy="65088"/>
            </a:xfrm>
            <a:custGeom>
              <a:avLst/>
              <a:gdLst/>
              <a:ahLst/>
              <a:cxnLst>
                <a:cxn ang="0">
                  <a:pos x="97" y="144"/>
                </a:cxn>
                <a:cxn ang="0">
                  <a:pos x="97" y="144"/>
                </a:cxn>
                <a:cxn ang="0">
                  <a:pos x="11" y="97"/>
                </a:cxn>
                <a:cxn ang="0">
                  <a:pos x="58" y="11"/>
                </a:cxn>
                <a:cxn ang="0">
                  <a:pos x="144" y="58"/>
                </a:cxn>
                <a:cxn ang="0">
                  <a:pos x="97" y="144"/>
                </a:cxn>
              </a:cxnLst>
              <a:rect l="0" t="0" r="r" b="b"/>
              <a:pathLst>
                <a:path w="155" h="155">
                  <a:moveTo>
                    <a:pt x="97" y="144"/>
                  </a:moveTo>
                  <a:lnTo>
                    <a:pt x="97" y="144"/>
                  </a:lnTo>
                  <a:cubicBezTo>
                    <a:pt x="60" y="155"/>
                    <a:pt x="22" y="134"/>
                    <a:pt x="11" y="97"/>
                  </a:cubicBezTo>
                  <a:cubicBezTo>
                    <a:pt x="0" y="60"/>
                    <a:pt x="21" y="22"/>
                    <a:pt x="58" y="11"/>
                  </a:cubicBezTo>
                  <a:cubicBezTo>
                    <a:pt x="95" y="0"/>
                    <a:pt x="134" y="21"/>
                    <a:pt x="144" y="58"/>
                  </a:cubicBezTo>
                  <a:cubicBezTo>
                    <a:pt x="155" y="95"/>
                    <a:pt x="134" y="134"/>
                    <a:pt x="97" y="144"/>
                  </a:cubicBezTo>
                  <a:close/>
                </a:path>
              </a:pathLst>
            </a:custGeom>
            <a:grpFill/>
            <a:ln w="0">
              <a:noFill/>
              <a:prstDash val="solid"/>
              <a:round/>
              <a:headEnd/>
              <a:tailEnd/>
            </a:ln>
          </p:spPr>
          <p:txBody>
            <a:bodyPr/>
            <a:lstStyle/>
            <a:p>
              <a:pPr marL="0" marR="0" lvl="0" indent="0" defTabSz="456512"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39" name="组合 38"/>
          <p:cNvGrpSpPr/>
          <p:nvPr/>
        </p:nvGrpSpPr>
        <p:grpSpPr bwMode="gray">
          <a:xfrm>
            <a:off x="2438414" y="4351372"/>
            <a:ext cx="445956" cy="377619"/>
            <a:chOff x="2557450" y="4936459"/>
            <a:chExt cx="445956" cy="343290"/>
          </a:xfrm>
        </p:grpSpPr>
        <p:pic>
          <p:nvPicPr>
            <p:cNvPr id="40" name="图片 11" descr="开放网络-蓝.png"/>
            <p:cNvPicPr>
              <a:picLocks noChangeAspect="1"/>
            </p:cNvPicPr>
            <p:nvPr/>
          </p:nvPicPr>
          <p:blipFill>
            <a:blip r:embed="rId7" cstate="print"/>
            <a:stretch>
              <a:fillRect/>
            </a:stretch>
          </p:blipFill>
          <p:spPr bwMode="gray">
            <a:xfrm>
              <a:off x="2557450" y="4936459"/>
              <a:ext cx="445956" cy="343290"/>
            </a:xfrm>
            <a:prstGeom prst="rect">
              <a:avLst/>
            </a:prstGeom>
          </p:spPr>
        </p:pic>
        <p:sp>
          <p:nvSpPr>
            <p:cNvPr id="41" name="矩形 40"/>
            <p:cNvSpPr/>
            <p:nvPr/>
          </p:nvSpPr>
          <p:spPr bwMode="gray">
            <a:xfrm>
              <a:off x="2591651" y="4996057"/>
              <a:ext cx="262770" cy="202688"/>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2" name="文本框 41"/>
          <p:cNvSpPr txBox="1"/>
          <p:nvPr/>
        </p:nvSpPr>
        <p:spPr bwMode="gray">
          <a:xfrm>
            <a:off x="2908644" y="1770186"/>
            <a:ext cx="936475"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Core-SW</a:t>
            </a:r>
            <a:endParaRPr kumimoji="0" lang="zh-CN" altLang="en-US" sz="1400" b="1"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文本框 42"/>
          <p:cNvSpPr txBox="1"/>
          <p:nvPr/>
        </p:nvSpPr>
        <p:spPr bwMode="gray">
          <a:xfrm>
            <a:off x="420572" y="3408240"/>
            <a:ext cx="1204176" cy="307777"/>
          </a:xfrm>
          <a:prstGeom prst="rect">
            <a:avLst/>
          </a:prstGeom>
          <a:noFill/>
        </p:spPr>
        <p:txBody>
          <a:bodyPr wrap="non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Access-SW1</a:t>
            </a:r>
            <a:endParaRPr kumimoji="0" lang="zh-CN" altLang="en-US" sz="14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文本框 43"/>
          <p:cNvSpPr txBox="1"/>
          <p:nvPr/>
        </p:nvSpPr>
        <p:spPr bwMode="gray">
          <a:xfrm>
            <a:off x="4974308" y="3408240"/>
            <a:ext cx="1204176"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Access-SW2</a:t>
            </a:r>
            <a:endParaRPr kumimoji="0" lang="zh-CN" altLang="en-US" sz="1400" b="1"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文本框 44"/>
          <p:cNvSpPr txBox="1"/>
          <p:nvPr/>
        </p:nvSpPr>
        <p:spPr bwMode="gray">
          <a:xfrm>
            <a:off x="623558" y="4758687"/>
            <a:ext cx="869148" cy="461665"/>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终端</a:t>
            </a:r>
            <a:r>
              <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1.1.1.1/24</a:t>
            </a:r>
          </a:p>
        </p:txBody>
      </p:sp>
      <p:sp>
        <p:nvSpPr>
          <p:cNvPr id="46" name="文本框 45"/>
          <p:cNvSpPr txBox="1"/>
          <p:nvPr/>
        </p:nvSpPr>
        <p:spPr bwMode="gray">
          <a:xfrm>
            <a:off x="2195504" y="4758687"/>
            <a:ext cx="869148" cy="461665"/>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终端</a:t>
            </a:r>
            <a:r>
              <a:rPr kumimoji="0" lang="en-US" altLang="zh-CN"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2</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1.1.1.2/24</a:t>
            </a:r>
          </a:p>
        </p:txBody>
      </p:sp>
      <p:sp>
        <p:nvSpPr>
          <p:cNvPr id="47" name="文本框 46"/>
          <p:cNvSpPr txBox="1"/>
          <p:nvPr/>
        </p:nvSpPr>
        <p:spPr bwMode="gray">
          <a:xfrm>
            <a:off x="3532583" y="4758687"/>
            <a:ext cx="869148" cy="461665"/>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终端</a:t>
            </a:r>
            <a:r>
              <a:rPr kumimoji="0" lang="en-US" altLang="zh-CN"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3</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1.1.1.3/24</a:t>
            </a:r>
          </a:p>
        </p:txBody>
      </p:sp>
      <p:sp>
        <p:nvSpPr>
          <p:cNvPr id="48" name="文本框 47"/>
          <p:cNvSpPr txBox="1"/>
          <p:nvPr/>
        </p:nvSpPr>
        <p:spPr bwMode="gray">
          <a:xfrm>
            <a:off x="5090357" y="4758687"/>
            <a:ext cx="869148" cy="461665"/>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终端</a:t>
            </a:r>
            <a:r>
              <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4</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2.2.2.1/24</a:t>
            </a:r>
          </a:p>
        </p:txBody>
      </p:sp>
      <p:sp>
        <p:nvSpPr>
          <p:cNvPr id="49" name="文本框 48"/>
          <p:cNvSpPr txBox="1"/>
          <p:nvPr/>
        </p:nvSpPr>
        <p:spPr bwMode="gray">
          <a:xfrm>
            <a:off x="2734134" y="5227573"/>
            <a:ext cx="1564852"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30B5C5"/>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VLAN10</a:t>
            </a:r>
            <a:r>
              <a:rPr kumimoji="0" lang="zh-CN" altLang="en-US" sz="1400" b="0" i="0" u="none" strike="noStrike" kern="0" cap="none" spc="0" normalizeH="0" baseline="0" noProof="0" dirty="0">
                <a:ln>
                  <a:noFill/>
                </a:ln>
                <a:solidFill>
                  <a:srgbClr val="30B5C5"/>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（办公）</a:t>
            </a:r>
          </a:p>
        </p:txBody>
      </p:sp>
      <p:sp>
        <p:nvSpPr>
          <p:cNvPr id="50" name="文本框 49"/>
          <p:cNvSpPr txBox="1"/>
          <p:nvPr/>
        </p:nvSpPr>
        <p:spPr bwMode="gray">
          <a:xfrm>
            <a:off x="4667857" y="5230793"/>
            <a:ext cx="1564852"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ED6D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VLAN20</a:t>
            </a:r>
            <a:r>
              <a:rPr kumimoji="0" lang="zh-CN" altLang="en-US" sz="1400" b="0" i="0" u="none" strike="noStrike" kern="0" cap="none" spc="0" normalizeH="0" baseline="0" noProof="0" dirty="0">
                <a:ln>
                  <a:noFill/>
                </a:ln>
                <a:solidFill>
                  <a:srgbClr val="ED6D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（监控）</a:t>
            </a:r>
          </a:p>
        </p:txBody>
      </p:sp>
      <p:sp>
        <p:nvSpPr>
          <p:cNvPr id="51" name="五边形 50"/>
          <p:cNvSpPr/>
          <p:nvPr/>
        </p:nvSpPr>
        <p:spPr bwMode="auto">
          <a:xfrm>
            <a:off x="6179960" y="98481"/>
            <a:ext cx="94884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以太网交换</a:t>
            </a:r>
          </a:p>
        </p:txBody>
      </p:sp>
      <p:sp>
        <p:nvSpPr>
          <p:cNvPr id="52" name="燕尾形 51"/>
          <p:cNvSpPr/>
          <p:nvPr/>
        </p:nvSpPr>
        <p:spPr bwMode="auto">
          <a:xfrm>
            <a:off x="7049907" y="98481"/>
            <a:ext cx="678521"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燕尾形 52"/>
          <p:cNvSpPr/>
          <p:nvPr/>
        </p:nvSpPr>
        <p:spPr bwMode="auto">
          <a:xfrm>
            <a:off x="7649535" y="98481"/>
            <a:ext cx="87595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无线接入</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燕尾形 53"/>
          <p:cNvSpPr/>
          <p:nvPr/>
        </p:nvSpPr>
        <p:spPr bwMode="auto">
          <a:xfrm>
            <a:off x="8446601"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可靠性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燕尾形 54"/>
          <p:cNvSpPr/>
          <p:nvPr/>
        </p:nvSpPr>
        <p:spPr bwMode="auto">
          <a:xfrm>
            <a:off x="9148908" y="98481"/>
            <a:ext cx="87048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网络安全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燕尾形 55"/>
          <p:cNvSpPr/>
          <p:nvPr/>
        </p:nvSpPr>
        <p:spPr bwMode="auto">
          <a:xfrm>
            <a:off x="9940504" y="98481"/>
            <a:ext cx="130400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网络服务与管理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燕尾形 56"/>
          <p:cNvSpPr/>
          <p:nvPr/>
        </p:nvSpPr>
        <p:spPr bwMode="auto">
          <a:xfrm>
            <a:off x="11165613" y="98481"/>
            <a:ext cx="583475"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出口</a:t>
            </a:r>
          </a:p>
        </p:txBody>
      </p:sp>
    </p:spTree>
    <p:extLst>
      <p:ext uri="{BB962C8B-B14F-4D97-AF65-F5344CB8AC3E}">
        <p14:creationId xmlns:p14="http://schemas.microsoft.com/office/powerpoint/2010/main" val="7735605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Huawei Sans" panose="020C0503030203020204" pitchFamily="34" charset="0"/>
              </a:rPr>
              <a:t>Voice VLAN</a:t>
            </a:r>
            <a:endParaRPr lang="zh-CN" altLang="en-US" dirty="0">
              <a:sym typeface="Huawei Sans" panose="020C0503030203020204" pitchFamily="34" charset="0"/>
            </a:endParaRPr>
          </a:p>
        </p:txBody>
      </p:sp>
      <p:sp>
        <p:nvSpPr>
          <p:cNvPr id="23" name="文本占位符 22"/>
          <p:cNvSpPr>
            <a:spLocks noGrp="1"/>
          </p:cNvSpPr>
          <p:nvPr>
            <p:ph type="body" sz="quarter" idx="10"/>
          </p:nvPr>
        </p:nvSpPr>
        <p:spPr>
          <a:xfrm>
            <a:off x="455612" y="1047751"/>
            <a:ext cx="11293475" cy="2217582"/>
          </a:xfrm>
        </p:spPr>
        <p:txBody>
          <a:bodyPr/>
          <a:lstStyle/>
          <a:p>
            <a:r>
              <a:rPr lang="zh-CN" altLang="en-US" sz="1800" dirty="0">
                <a:sym typeface="Huawei Sans" panose="020C0503030203020204" pitchFamily="34" charset="0"/>
              </a:rPr>
              <a:t>网络中经常有多种流量同时传输。因为丢包和时延对通话质量的影响很大，用户对语音的质量比数据或者视频的质量更为敏感，因此在带宽有限的情况下就需要优先保证通话质量。</a:t>
            </a:r>
          </a:p>
          <a:p>
            <a:r>
              <a:rPr lang="en-US" altLang="zh-CN" sz="1800" dirty="0">
                <a:sym typeface="Huawei Sans" panose="020C0503030203020204" pitchFamily="34" charset="0"/>
              </a:rPr>
              <a:t>Voice VLAN</a:t>
            </a:r>
            <a:r>
              <a:rPr lang="zh-CN" altLang="en-US" sz="1800" dirty="0">
                <a:sym typeface="Huawei Sans" panose="020C0503030203020204" pitchFamily="34" charset="0"/>
              </a:rPr>
              <a:t>是为用户的语音流专门划分的</a:t>
            </a:r>
            <a:r>
              <a:rPr lang="en-US" altLang="zh-CN" sz="1800" dirty="0">
                <a:sym typeface="Huawei Sans" panose="020C0503030203020204" pitchFamily="34" charset="0"/>
              </a:rPr>
              <a:t>VLAN</a:t>
            </a:r>
            <a:r>
              <a:rPr lang="zh-CN" altLang="en-US" sz="1800" dirty="0">
                <a:sym typeface="Huawei Sans" panose="020C0503030203020204" pitchFamily="34" charset="0"/>
              </a:rPr>
              <a:t>。</a:t>
            </a:r>
          </a:p>
          <a:p>
            <a:r>
              <a:rPr lang="zh-CN" altLang="en-US" sz="1800" dirty="0">
                <a:sym typeface="Huawei Sans" panose="020C0503030203020204" pitchFamily="34" charset="0"/>
              </a:rPr>
              <a:t>通过配置</a:t>
            </a:r>
            <a:r>
              <a:rPr lang="en-US" altLang="zh-CN" sz="1800" dirty="0">
                <a:sym typeface="Huawei Sans" panose="020C0503030203020204" pitchFamily="34" charset="0"/>
              </a:rPr>
              <a:t>Voice VLAN</a:t>
            </a:r>
            <a:r>
              <a:rPr lang="zh-CN" altLang="en-US" sz="1800" dirty="0">
                <a:sym typeface="Huawei Sans" panose="020C0503030203020204" pitchFamily="34" charset="0"/>
              </a:rPr>
              <a:t>，交换机可识别语音流，将语音流加入到</a:t>
            </a:r>
            <a:r>
              <a:rPr lang="en-US" altLang="zh-CN" sz="1800" dirty="0">
                <a:sym typeface="Huawei Sans" panose="020C0503030203020204" pitchFamily="34" charset="0"/>
              </a:rPr>
              <a:t>Voice VLAN</a:t>
            </a:r>
            <a:r>
              <a:rPr lang="zh-CN" altLang="en-US" sz="1800" dirty="0">
                <a:sym typeface="Huawei Sans" panose="020C0503030203020204" pitchFamily="34" charset="0"/>
              </a:rPr>
              <a:t>中传输，并对其进行有针对性的</a:t>
            </a:r>
            <a:r>
              <a:rPr lang="en-US" altLang="zh-CN" sz="1800" dirty="0" err="1">
                <a:sym typeface="Huawei Sans" panose="020C0503030203020204" pitchFamily="34" charset="0"/>
              </a:rPr>
              <a:t>QoS</a:t>
            </a:r>
            <a:r>
              <a:rPr lang="zh-CN" altLang="en-US" sz="1800" dirty="0">
                <a:sym typeface="Huawei Sans" panose="020C0503030203020204" pitchFamily="34" charset="0"/>
              </a:rPr>
              <a:t>保障。</a:t>
            </a:r>
          </a:p>
        </p:txBody>
      </p:sp>
      <p:cxnSp>
        <p:nvCxnSpPr>
          <p:cNvPr id="4" name="直接连接符 3"/>
          <p:cNvCxnSpPr/>
          <p:nvPr/>
        </p:nvCxnSpPr>
        <p:spPr bwMode="gray">
          <a:xfrm flipH="1">
            <a:off x="2700445" y="4499153"/>
            <a:ext cx="219771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bwMode="gray">
          <a:xfrm flipH="1">
            <a:off x="1203408" y="4499153"/>
            <a:ext cx="106721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bwMode="gray">
          <a:xfrm flipV="1">
            <a:off x="6096000" y="3797801"/>
            <a:ext cx="0" cy="2275840"/>
          </a:xfrm>
          <a:prstGeom prst="line">
            <a:avLst/>
          </a:prstGeom>
          <a:ln w="190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7" name="任意多边形 6"/>
          <p:cNvSpPr/>
          <p:nvPr/>
        </p:nvSpPr>
        <p:spPr bwMode="gray">
          <a:xfrm>
            <a:off x="4806885" y="4063261"/>
            <a:ext cx="1121495" cy="749864"/>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600" b="1">
                <a:latin typeface="Huawei Sans" panose="020C0503030203020204" pitchFamily="34" charset="0"/>
                <a:ea typeface="方正兰亭黑简体" panose="02000000000000000000" pitchFamily="2" charset="-122"/>
                <a:sym typeface="Huawei Sans" panose="020C0503030203020204" pitchFamily="34" charset="0"/>
              </a:rPr>
              <a:t>Network</a:t>
            </a:r>
            <a:endParaRPr lang="zh-CN" altLang="en-US" sz="16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文本框 7"/>
          <p:cNvSpPr txBox="1"/>
          <p:nvPr/>
        </p:nvSpPr>
        <p:spPr bwMode="gray">
          <a:xfrm>
            <a:off x="778291" y="4750686"/>
            <a:ext cx="404278" cy="307777"/>
          </a:xfrm>
          <a:prstGeom prst="rect">
            <a:avLst/>
          </a:prstGeom>
          <a:noFill/>
        </p:spPr>
        <p:txBody>
          <a:bodyPr wrap="none" rtlCol="0">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PC</a:t>
            </a:r>
          </a:p>
        </p:txBody>
      </p:sp>
      <p:sp>
        <p:nvSpPr>
          <p:cNvPr id="9" name="文本框 8"/>
          <p:cNvSpPr txBox="1"/>
          <p:nvPr/>
        </p:nvSpPr>
        <p:spPr bwMode="gray">
          <a:xfrm>
            <a:off x="1997759" y="4750686"/>
            <a:ext cx="947632" cy="307777"/>
          </a:xfrm>
          <a:prstGeom prst="rect">
            <a:avLst/>
          </a:prstGeom>
          <a:noFill/>
        </p:spPr>
        <p:txBody>
          <a:bodyPr wrap="none" rtlCol="0">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IP Phone</a:t>
            </a:r>
          </a:p>
        </p:txBody>
      </p:sp>
      <p:sp>
        <p:nvSpPr>
          <p:cNvPr id="10" name="文本框 9"/>
          <p:cNvSpPr txBox="1"/>
          <p:nvPr/>
        </p:nvSpPr>
        <p:spPr bwMode="gray">
          <a:xfrm>
            <a:off x="3666932" y="4750686"/>
            <a:ext cx="761747" cy="307777"/>
          </a:xfrm>
          <a:prstGeom prst="rect">
            <a:avLst/>
          </a:prstGeom>
          <a:noFill/>
        </p:spPr>
        <p:txBody>
          <a:bodyPr wrap="none" rtlCol="0">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Switch</a:t>
            </a:r>
          </a:p>
        </p:txBody>
      </p:sp>
      <p:sp>
        <p:nvSpPr>
          <p:cNvPr id="11" name="矩形 10"/>
          <p:cNvSpPr/>
          <p:nvPr/>
        </p:nvSpPr>
        <p:spPr bwMode="gray">
          <a:xfrm>
            <a:off x="618640" y="5291851"/>
            <a:ext cx="5309740" cy="707886"/>
          </a:xfrm>
          <a:prstGeom prst="rect">
            <a:avLst/>
          </a:prstGeom>
        </p:spPr>
        <p:txBody>
          <a:bodyPr wrap="square">
            <a:spAutoFit/>
          </a:bodyPr>
          <a:lstStyle/>
          <a:p>
            <a:pPr algn="just">
              <a:lnSpc>
                <a:spcPts val="2400"/>
              </a:lnSpc>
              <a:spcAft>
                <a:spcPts val="600"/>
              </a:spcAft>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只要用交换机的一个接口，就可以满足语音和数据业务的同时接入。</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2" name="直接连接符 11"/>
          <p:cNvCxnSpPr/>
          <p:nvPr/>
        </p:nvCxnSpPr>
        <p:spPr bwMode="gray">
          <a:xfrm flipH="1">
            <a:off x="6998491" y="4499153"/>
            <a:ext cx="327387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任意多边形 12"/>
          <p:cNvSpPr/>
          <p:nvPr/>
        </p:nvSpPr>
        <p:spPr bwMode="gray">
          <a:xfrm>
            <a:off x="10176754" y="4063261"/>
            <a:ext cx="1121495" cy="749864"/>
          </a:xfrm>
          <a:custGeom>
            <a:avLst/>
            <a:gdLst>
              <a:gd name="connsiteX0" fmla="*/ 556667 w 1304010"/>
              <a:gd name="connsiteY0" fmla="*/ 0 h 871899"/>
              <a:gd name="connsiteX1" fmla="*/ 725733 w 1304010"/>
              <a:gd name="connsiteY1" fmla="*/ 51642 h 871899"/>
              <a:gd name="connsiteX2" fmla="*/ 766358 w 1304010"/>
              <a:gd name="connsiteY2" fmla="*/ 85161 h 871899"/>
              <a:gd name="connsiteX3" fmla="*/ 782904 w 1304010"/>
              <a:gd name="connsiteY3" fmla="*/ 80025 h 871899"/>
              <a:gd name="connsiteX4" fmla="*/ 829585 w 1304010"/>
              <a:gd name="connsiteY4" fmla="*/ 75319 h 871899"/>
              <a:gd name="connsiteX5" fmla="*/ 1043011 w 1304010"/>
              <a:gd name="connsiteY5" fmla="*/ 216788 h 871899"/>
              <a:gd name="connsiteX6" fmla="*/ 1048069 w 1304010"/>
              <a:gd name="connsiteY6" fmla="*/ 241838 h 871899"/>
              <a:gd name="connsiteX7" fmla="*/ 1049965 w 1304010"/>
              <a:gd name="connsiteY7" fmla="*/ 242029 h 871899"/>
              <a:gd name="connsiteX8" fmla="*/ 1304010 w 1304010"/>
              <a:gd name="connsiteY8" fmla="*/ 553732 h 871899"/>
              <a:gd name="connsiteX9" fmla="*/ 1049965 w 1304010"/>
              <a:gd name="connsiteY9" fmla="*/ 865435 h 871899"/>
              <a:gd name="connsiteX10" fmla="*/ 994859 w 1304010"/>
              <a:gd name="connsiteY10" fmla="*/ 870990 h 871899"/>
              <a:gd name="connsiteX11" fmla="*/ 994859 w 1304010"/>
              <a:gd name="connsiteY11" fmla="*/ 871898 h 871899"/>
              <a:gd name="connsiteX12" fmla="*/ 985853 w 1304010"/>
              <a:gd name="connsiteY12" fmla="*/ 871898 h 871899"/>
              <a:gd name="connsiteX13" fmla="*/ 985843 w 1304010"/>
              <a:gd name="connsiteY13" fmla="*/ 871899 h 871899"/>
              <a:gd name="connsiteX14" fmla="*/ 985833 w 1304010"/>
              <a:gd name="connsiteY14" fmla="*/ 871898 h 871899"/>
              <a:gd name="connsiteX15" fmla="*/ 351518 w 1304010"/>
              <a:gd name="connsiteY15" fmla="*/ 871898 h 871899"/>
              <a:gd name="connsiteX16" fmla="*/ 347099 w 1304010"/>
              <a:gd name="connsiteY16" fmla="*/ 871898 h 871899"/>
              <a:gd name="connsiteX17" fmla="*/ 347099 w 1304010"/>
              <a:gd name="connsiteY17" fmla="*/ 871463 h 871899"/>
              <a:gd name="connsiteX18" fmla="*/ 280675 w 1304010"/>
              <a:gd name="connsiteY18" fmla="*/ 864925 h 871899"/>
              <a:gd name="connsiteX19" fmla="*/ 0 w 1304010"/>
              <a:gd name="connsiteY19" fmla="*/ 528693 h 871899"/>
              <a:gd name="connsiteX20" fmla="*/ 214691 w 1304010"/>
              <a:gd name="connsiteY20" fmla="*/ 212459 h 871899"/>
              <a:gd name="connsiteX21" fmla="*/ 275108 w 1304010"/>
              <a:gd name="connsiteY21" fmla="*/ 194148 h 871899"/>
              <a:gd name="connsiteX22" fmla="*/ 278046 w 1304010"/>
              <a:gd name="connsiteY22" fmla="*/ 184683 h 871899"/>
              <a:gd name="connsiteX23" fmla="*/ 556667 w 1304010"/>
              <a:gd name="connsiteY23" fmla="*/ 0 h 87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04010" h="871899">
                <a:moveTo>
                  <a:pt x="556667" y="0"/>
                </a:moveTo>
                <a:cubicBezTo>
                  <a:pt x="619293" y="0"/>
                  <a:pt x="677472" y="19038"/>
                  <a:pt x="725733" y="51642"/>
                </a:cubicBezTo>
                <a:lnTo>
                  <a:pt x="766358" y="85161"/>
                </a:lnTo>
                <a:lnTo>
                  <a:pt x="782904" y="80025"/>
                </a:lnTo>
                <a:cubicBezTo>
                  <a:pt x="797982" y="76940"/>
                  <a:pt x="813594" y="75319"/>
                  <a:pt x="829585" y="75319"/>
                </a:cubicBezTo>
                <a:cubicBezTo>
                  <a:pt x="925529" y="75319"/>
                  <a:pt x="1007848" y="133653"/>
                  <a:pt x="1043011" y="216788"/>
                </a:cubicBezTo>
                <a:lnTo>
                  <a:pt x="1048069" y="241838"/>
                </a:lnTo>
                <a:lnTo>
                  <a:pt x="1049965" y="242029"/>
                </a:lnTo>
                <a:cubicBezTo>
                  <a:pt x="1194948" y="271697"/>
                  <a:pt x="1304010" y="399978"/>
                  <a:pt x="1304010" y="553732"/>
                </a:cubicBezTo>
                <a:cubicBezTo>
                  <a:pt x="1304010" y="707486"/>
                  <a:pt x="1194948" y="835767"/>
                  <a:pt x="1049965" y="865435"/>
                </a:cubicBezTo>
                <a:lnTo>
                  <a:pt x="994859" y="870990"/>
                </a:lnTo>
                <a:lnTo>
                  <a:pt x="994859" y="871898"/>
                </a:lnTo>
                <a:lnTo>
                  <a:pt x="985853" y="871898"/>
                </a:lnTo>
                <a:lnTo>
                  <a:pt x="985843" y="871899"/>
                </a:lnTo>
                <a:lnTo>
                  <a:pt x="985833" y="871898"/>
                </a:lnTo>
                <a:lnTo>
                  <a:pt x="351518" y="871898"/>
                </a:lnTo>
                <a:lnTo>
                  <a:pt x="347099" y="871898"/>
                </a:lnTo>
                <a:lnTo>
                  <a:pt x="347099" y="871463"/>
                </a:lnTo>
                <a:lnTo>
                  <a:pt x="280675" y="864925"/>
                </a:lnTo>
                <a:cubicBezTo>
                  <a:pt x="120494" y="832923"/>
                  <a:pt x="0" y="694547"/>
                  <a:pt x="0" y="528693"/>
                </a:cubicBezTo>
                <a:cubicBezTo>
                  <a:pt x="0" y="386533"/>
                  <a:pt x="88526" y="264560"/>
                  <a:pt x="214691" y="212459"/>
                </a:cubicBezTo>
                <a:lnTo>
                  <a:pt x="275108" y="194148"/>
                </a:lnTo>
                <a:lnTo>
                  <a:pt x="278046" y="184683"/>
                </a:lnTo>
                <a:cubicBezTo>
                  <a:pt x="323950" y="76153"/>
                  <a:pt x="431416" y="0"/>
                  <a:pt x="556667"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altLang="zh-CN" sz="1600" b="1">
                <a:latin typeface="Huawei Sans" panose="020C0503030203020204" pitchFamily="34" charset="0"/>
                <a:ea typeface="方正兰亭黑简体" panose="02000000000000000000" pitchFamily="2" charset="-122"/>
                <a:sym typeface="Huawei Sans" panose="020C0503030203020204" pitchFamily="34" charset="0"/>
              </a:rPr>
              <a:t>Network</a:t>
            </a:r>
            <a:endParaRPr lang="zh-CN" altLang="en-US" sz="16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3"/>
          <p:cNvSpPr txBox="1"/>
          <p:nvPr/>
        </p:nvSpPr>
        <p:spPr bwMode="gray">
          <a:xfrm>
            <a:off x="6296433" y="4750686"/>
            <a:ext cx="947632" cy="307777"/>
          </a:xfrm>
          <a:prstGeom prst="rect">
            <a:avLst/>
          </a:prstGeom>
          <a:noFill/>
        </p:spPr>
        <p:txBody>
          <a:bodyPr wrap="none" rtlCol="0">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IP Phone</a:t>
            </a:r>
          </a:p>
        </p:txBody>
      </p:sp>
      <p:sp>
        <p:nvSpPr>
          <p:cNvPr id="15" name="文本框 14"/>
          <p:cNvSpPr txBox="1"/>
          <p:nvPr/>
        </p:nvSpPr>
        <p:spPr bwMode="gray">
          <a:xfrm>
            <a:off x="8574556" y="4750686"/>
            <a:ext cx="761747" cy="307777"/>
          </a:xfrm>
          <a:prstGeom prst="rect">
            <a:avLst/>
          </a:prstGeom>
          <a:noFill/>
        </p:spPr>
        <p:txBody>
          <a:bodyPr wrap="none" rtlCol="0">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Switch</a:t>
            </a:r>
          </a:p>
        </p:txBody>
      </p:sp>
      <p:sp>
        <p:nvSpPr>
          <p:cNvPr id="16" name="矩形 15"/>
          <p:cNvSpPr/>
          <p:nvPr/>
        </p:nvSpPr>
        <p:spPr bwMode="gray">
          <a:xfrm>
            <a:off x="6296433" y="5291851"/>
            <a:ext cx="5001816" cy="707886"/>
          </a:xfrm>
          <a:prstGeom prst="rect">
            <a:avLst/>
          </a:prstGeom>
        </p:spPr>
        <p:txBody>
          <a:bodyPr wrap="square">
            <a:spAutoFit/>
          </a:bodyPr>
          <a:lstStyle/>
          <a:p>
            <a:pPr algn="just">
              <a:lnSpc>
                <a:spcPts val="2400"/>
              </a:lnSpc>
              <a:spcAft>
                <a:spcPts val="600"/>
              </a:spcAft>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电话单独接入交换机，这种方式从</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电话机的角度看其实是另一种场景的子集。</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7" name="图片 11" descr="开放网络-蓝.png"/>
          <p:cNvPicPr>
            <a:picLocks noChangeAspect="1"/>
          </p:cNvPicPr>
          <p:nvPr/>
        </p:nvPicPr>
        <p:blipFill>
          <a:blip r:embed="rId3" cstate="print"/>
          <a:stretch>
            <a:fillRect/>
          </a:stretch>
        </p:blipFill>
        <p:spPr bwMode="gray">
          <a:xfrm>
            <a:off x="735154" y="4310344"/>
            <a:ext cx="490552" cy="377619"/>
          </a:xfrm>
          <a:prstGeom prst="rect">
            <a:avLst/>
          </a:prstGeom>
        </p:spPr>
      </p:pic>
      <p:pic>
        <p:nvPicPr>
          <p:cNvPr id="18" name="图片 42" descr="IP电话.png"/>
          <p:cNvPicPr>
            <a:picLocks noChangeAspect="1"/>
          </p:cNvPicPr>
          <p:nvPr/>
        </p:nvPicPr>
        <p:blipFill>
          <a:blip r:embed="rId4" cstate="print"/>
          <a:stretch>
            <a:fillRect/>
          </a:stretch>
        </p:blipFill>
        <p:spPr bwMode="gray">
          <a:xfrm>
            <a:off x="2270619" y="4268425"/>
            <a:ext cx="490861" cy="461456"/>
          </a:xfrm>
          <a:prstGeom prst="rect">
            <a:avLst/>
          </a:prstGeom>
        </p:spPr>
      </p:pic>
      <p:pic>
        <p:nvPicPr>
          <p:cNvPr id="19" name="图片 76" descr="接入交换机.png"/>
          <p:cNvPicPr>
            <a:picLocks noChangeAspect="1"/>
          </p:cNvPicPr>
          <p:nvPr/>
        </p:nvPicPr>
        <p:blipFill>
          <a:blip r:embed="rId5" cstate="print"/>
          <a:stretch>
            <a:fillRect/>
          </a:stretch>
        </p:blipFill>
        <p:spPr bwMode="gray">
          <a:xfrm>
            <a:off x="3813535" y="4298327"/>
            <a:ext cx="490909" cy="401653"/>
          </a:xfrm>
          <a:prstGeom prst="rect">
            <a:avLst/>
          </a:prstGeom>
        </p:spPr>
      </p:pic>
      <p:pic>
        <p:nvPicPr>
          <p:cNvPr id="20" name="图片 76" descr="接入交换机.png"/>
          <p:cNvPicPr>
            <a:picLocks noChangeAspect="1"/>
          </p:cNvPicPr>
          <p:nvPr/>
        </p:nvPicPr>
        <p:blipFill>
          <a:blip r:embed="rId5" cstate="print"/>
          <a:stretch>
            <a:fillRect/>
          </a:stretch>
        </p:blipFill>
        <p:spPr bwMode="gray">
          <a:xfrm>
            <a:off x="8718657" y="4298327"/>
            <a:ext cx="490909" cy="401653"/>
          </a:xfrm>
          <a:prstGeom prst="rect">
            <a:avLst/>
          </a:prstGeom>
        </p:spPr>
      </p:pic>
      <p:pic>
        <p:nvPicPr>
          <p:cNvPr id="21" name="图片 42" descr="IP电话.png"/>
          <p:cNvPicPr>
            <a:picLocks noChangeAspect="1"/>
          </p:cNvPicPr>
          <p:nvPr/>
        </p:nvPicPr>
        <p:blipFill>
          <a:blip r:embed="rId4" cstate="print"/>
          <a:stretch>
            <a:fillRect/>
          </a:stretch>
        </p:blipFill>
        <p:spPr bwMode="gray">
          <a:xfrm>
            <a:off x="6507630" y="4268425"/>
            <a:ext cx="490861" cy="461456"/>
          </a:xfrm>
          <a:prstGeom prst="rect">
            <a:avLst/>
          </a:prstGeom>
        </p:spPr>
      </p:pic>
      <p:sp>
        <p:nvSpPr>
          <p:cNvPr id="22" name="圆角矩形 21"/>
          <p:cNvSpPr/>
          <p:nvPr/>
        </p:nvSpPr>
        <p:spPr bwMode="gray">
          <a:xfrm>
            <a:off x="632514" y="3265332"/>
            <a:ext cx="10805700" cy="338555"/>
          </a:xfrm>
          <a:prstGeom prst="roundRect">
            <a:avLst/>
          </a:prstGeom>
          <a:solidFill>
            <a:srgbClr val="56C4D2"/>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Autofit/>
          </a:bodyPr>
          <a:lstStyle/>
          <a:p>
            <a:pPr algn="ctr"/>
            <a:r>
              <a:rPr lang="en-US" altLang="zh-CN" sz="16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Voice VLAN</a:t>
            </a:r>
            <a:r>
              <a:rPr lang="zh-CN" altLang="en-US" sz="16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典型组网方案</a:t>
            </a:r>
          </a:p>
        </p:txBody>
      </p:sp>
      <p:sp>
        <p:nvSpPr>
          <p:cNvPr id="24" name="五边形 23"/>
          <p:cNvSpPr/>
          <p:nvPr/>
        </p:nvSpPr>
        <p:spPr bwMode="auto">
          <a:xfrm>
            <a:off x="6179960" y="98481"/>
            <a:ext cx="94884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以太网交换</a:t>
            </a:r>
          </a:p>
        </p:txBody>
      </p:sp>
      <p:sp>
        <p:nvSpPr>
          <p:cNvPr id="25" name="燕尾形 24"/>
          <p:cNvSpPr/>
          <p:nvPr/>
        </p:nvSpPr>
        <p:spPr bwMode="auto">
          <a:xfrm>
            <a:off x="7049907" y="98481"/>
            <a:ext cx="678521"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燕尾形 25"/>
          <p:cNvSpPr/>
          <p:nvPr/>
        </p:nvSpPr>
        <p:spPr bwMode="auto">
          <a:xfrm>
            <a:off x="7649535" y="98481"/>
            <a:ext cx="87595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无线接入</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燕尾形 26"/>
          <p:cNvSpPr/>
          <p:nvPr/>
        </p:nvSpPr>
        <p:spPr bwMode="auto">
          <a:xfrm>
            <a:off x="8446601"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可靠性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燕尾形 27"/>
          <p:cNvSpPr/>
          <p:nvPr/>
        </p:nvSpPr>
        <p:spPr bwMode="auto">
          <a:xfrm>
            <a:off x="9148908" y="98481"/>
            <a:ext cx="87048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网络安全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燕尾形 28"/>
          <p:cNvSpPr/>
          <p:nvPr/>
        </p:nvSpPr>
        <p:spPr bwMode="auto">
          <a:xfrm>
            <a:off x="9940504" y="98481"/>
            <a:ext cx="130400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网络服务与管理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燕尾形 29"/>
          <p:cNvSpPr/>
          <p:nvPr/>
        </p:nvSpPr>
        <p:spPr bwMode="auto">
          <a:xfrm>
            <a:off x="11165613" y="98481"/>
            <a:ext cx="583475"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出口</a:t>
            </a:r>
          </a:p>
        </p:txBody>
      </p:sp>
    </p:spTree>
    <p:extLst>
      <p:ext uri="{BB962C8B-B14F-4D97-AF65-F5344CB8AC3E}">
        <p14:creationId xmlns:p14="http://schemas.microsoft.com/office/powerpoint/2010/main" val="40815368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sym typeface="Huawei Sans" panose="020C0503030203020204" pitchFamily="34" charset="0"/>
              </a:rPr>
              <a:t>生成树</a:t>
            </a:r>
          </a:p>
        </p:txBody>
      </p:sp>
      <p:grpSp>
        <p:nvGrpSpPr>
          <p:cNvPr id="38" name="组合 37"/>
          <p:cNvGrpSpPr/>
          <p:nvPr/>
        </p:nvGrpSpPr>
        <p:grpSpPr bwMode="gray">
          <a:xfrm>
            <a:off x="567240" y="4696417"/>
            <a:ext cx="975575" cy="307777"/>
            <a:chOff x="503728" y="4697363"/>
            <a:chExt cx="975575" cy="307777"/>
          </a:xfrm>
        </p:grpSpPr>
        <p:sp>
          <p:nvSpPr>
            <p:cNvPr id="6" name="椭圆 5"/>
            <p:cNvSpPr>
              <a:spLocks noChangeAspect="1"/>
            </p:cNvSpPr>
            <p:nvPr/>
          </p:nvSpPr>
          <p:spPr bwMode="gray">
            <a:xfrm>
              <a:off x="503728" y="4735011"/>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文本框 6"/>
            <p:cNvSpPr txBox="1"/>
            <p:nvPr/>
          </p:nvSpPr>
          <p:spPr bwMode="gray">
            <a:xfrm>
              <a:off x="686647" y="4697363"/>
              <a:ext cx="792656" cy="307777"/>
            </a:xfrm>
            <a:prstGeom prst="rect">
              <a:avLst/>
            </a:prstGeom>
            <a:noFill/>
          </p:spPr>
          <p:txBody>
            <a:bodyPr wrap="square" rtlCol="0">
              <a:spAutoFit/>
            </a:bodyPr>
            <a:lstStyle/>
            <a:p>
              <a:pPr fontAlgn="auto">
                <a:spcBef>
                  <a:spcPts val="0"/>
                </a:spcBef>
                <a:spcAft>
                  <a:spcPts val="0"/>
                </a:spcAft>
              </a:pPr>
              <a:r>
                <a:rPr lang="zh-CN" altLang="en-US"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根端口</a:t>
              </a:r>
              <a:endPar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36" name="组合 35"/>
          <p:cNvGrpSpPr/>
          <p:nvPr/>
        </p:nvGrpSpPr>
        <p:grpSpPr bwMode="gray">
          <a:xfrm>
            <a:off x="1806760" y="4696417"/>
            <a:ext cx="1096375" cy="307777"/>
            <a:chOff x="1931211" y="4697363"/>
            <a:chExt cx="1096375" cy="307777"/>
          </a:xfrm>
        </p:grpSpPr>
        <p:sp>
          <p:nvSpPr>
            <p:cNvPr id="8" name="椭圆 7"/>
            <p:cNvSpPr>
              <a:spLocks noChangeAspect="1"/>
            </p:cNvSpPr>
            <p:nvPr/>
          </p:nvSpPr>
          <p:spPr bwMode="gray">
            <a:xfrm>
              <a:off x="1931211" y="4735011"/>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文本框 8"/>
            <p:cNvSpPr txBox="1"/>
            <p:nvPr/>
          </p:nvSpPr>
          <p:spPr bwMode="gray">
            <a:xfrm>
              <a:off x="2114130" y="4697363"/>
              <a:ext cx="913456" cy="307777"/>
            </a:xfrm>
            <a:prstGeom prst="rect">
              <a:avLst/>
            </a:prstGeom>
            <a:noFill/>
          </p:spPr>
          <p:txBody>
            <a:bodyPr wrap="square" rtlCol="0">
              <a:spAutoFit/>
            </a:bodyPr>
            <a:lstStyle/>
            <a:p>
              <a:pPr fontAlgn="auto">
                <a:spcBef>
                  <a:spcPts val="0"/>
                </a:spcBef>
                <a:spcAft>
                  <a:spcPts val="0"/>
                </a:spcAft>
              </a:pPr>
              <a:r>
                <a:rPr lang="zh-CN" altLang="en-US"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指定端口</a:t>
              </a:r>
              <a:endPar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35" name="组合 34"/>
          <p:cNvGrpSpPr/>
          <p:nvPr/>
        </p:nvGrpSpPr>
        <p:grpSpPr bwMode="gray">
          <a:xfrm>
            <a:off x="3167080" y="4696417"/>
            <a:ext cx="1257813" cy="307777"/>
            <a:chOff x="3240799" y="4697363"/>
            <a:chExt cx="1257813" cy="307777"/>
          </a:xfrm>
        </p:grpSpPr>
        <p:grpSp>
          <p:nvGrpSpPr>
            <p:cNvPr id="3" name="组合 28"/>
            <p:cNvGrpSpPr>
              <a:grpSpLocks noChangeAspect="1"/>
            </p:cNvGrpSpPr>
            <p:nvPr/>
          </p:nvGrpSpPr>
          <p:grpSpPr bwMode="gray">
            <a:xfrm>
              <a:off x="3240799" y="4733491"/>
              <a:ext cx="234000" cy="234000"/>
              <a:chOff x="5076056" y="3356992"/>
              <a:chExt cx="436268" cy="436268"/>
            </a:xfrm>
          </p:grpSpPr>
          <p:sp>
            <p:nvSpPr>
              <p:cNvPr id="4" name="椭圆 27"/>
              <p:cNvSpPr/>
              <p:nvPr/>
            </p:nvSpPr>
            <p:spPr bwMode="gray">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禁止符 23"/>
              <p:cNvSpPr/>
              <p:nvPr/>
            </p:nvSpPr>
            <p:spPr bwMode="gray">
              <a:xfrm>
                <a:off x="5076056" y="3356992"/>
                <a:ext cx="436268" cy="436268"/>
              </a:xfrm>
              <a:prstGeom prst="noSmoking">
                <a:avLst>
                  <a:gd name="adj" fmla="val 15475"/>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0" name="文本框 9"/>
            <p:cNvSpPr txBox="1"/>
            <p:nvPr/>
          </p:nvSpPr>
          <p:spPr bwMode="gray">
            <a:xfrm>
              <a:off x="3423717" y="4697363"/>
              <a:ext cx="1074895" cy="307777"/>
            </a:xfrm>
            <a:prstGeom prst="rect">
              <a:avLst/>
            </a:prstGeom>
            <a:noFill/>
          </p:spPr>
          <p:txBody>
            <a:bodyPr wrap="square" rtlCol="0">
              <a:spAutoFit/>
            </a:bodyPr>
            <a:lstStyle/>
            <a:p>
              <a:pPr fontAlgn="auto">
                <a:spcBef>
                  <a:spcPts val="0"/>
                </a:spcBef>
                <a:spcAft>
                  <a:spcPts val="0"/>
                </a:spcAft>
              </a:pPr>
              <a:r>
                <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非指定端口</a:t>
              </a:r>
            </a:p>
          </p:txBody>
        </p:sp>
      </p:grpSp>
      <p:grpSp>
        <p:nvGrpSpPr>
          <p:cNvPr id="12" name="组合 11"/>
          <p:cNvGrpSpPr/>
          <p:nvPr/>
        </p:nvGrpSpPr>
        <p:grpSpPr bwMode="gray">
          <a:xfrm>
            <a:off x="705450" y="1520068"/>
            <a:ext cx="4924655" cy="2685150"/>
            <a:chOff x="6164554" y="1306179"/>
            <a:chExt cx="4924655" cy="2685150"/>
          </a:xfrm>
        </p:grpSpPr>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293600" y="1790950"/>
              <a:ext cx="720000" cy="590400"/>
            </a:xfrm>
            <a:prstGeom prst="rect">
              <a:avLst/>
            </a:prstGeom>
          </p:spPr>
        </p:pic>
        <p:pic>
          <p:nvPicPr>
            <p:cNvPr id="22" name="图片 2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825849" y="3400929"/>
              <a:ext cx="720000" cy="590400"/>
            </a:xfrm>
            <a:prstGeom prst="rect">
              <a:avLst/>
            </a:prstGeom>
          </p:spPr>
        </p:pic>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9761350" y="3400929"/>
              <a:ext cx="720000" cy="590400"/>
            </a:xfrm>
            <a:prstGeom prst="rect">
              <a:avLst/>
            </a:prstGeom>
          </p:spPr>
        </p:pic>
        <p:cxnSp>
          <p:nvCxnSpPr>
            <p:cNvPr id="24" name="直接连接符 23"/>
            <p:cNvCxnSpPr>
              <a:stCxn id="22" idx="3"/>
              <a:endCxn id="23" idx="1"/>
            </p:cNvCxnSpPr>
            <p:nvPr/>
          </p:nvCxnSpPr>
          <p:spPr bwMode="gray">
            <a:xfrm>
              <a:off x="7545849" y="3696129"/>
              <a:ext cx="2215501" cy="0"/>
            </a:xfrm>
            <a:prstGeom prst="line">
              <a:avLst/>
            </a:prstGeom>
            <a:noFill/>
            <a:ln w="19050" cap="flat" cmpd="sng" algn="ctr">
              <a:solidFill>
                <a:srgbClr val="1D1D1A"/>
              </a:solidFill>
              <a:prstDash val="solid"/>
              <a:miter lim="800000"/>
              <a:headEnd type="none" w="med" len="med"/>
              <a:tailEnd type="none" w="med" len="med"/>
            </a:ln>
            <a:effectLst/>
          </p:spPr>
        </p:cxnSp>
        <p:cxnSp>
          <p:nvCxnSpPr>
            <p:cNvPr id="25" name="直接连接符 24"/>
            <p:cNvCxnSpPr>
              <a:stCxn id="23" idx="0"/>
              <a:endCxn id="21" idx="3"/>
            </p:cNvCxnSpPr>
            <p:nvPr/>
          </p:nvCxnSpPr>
          <p:spPr bwMode="gray">
            <a:xfrm flipH="1" flipV="1">
              <a:off x="9013600" y="2086150"/>
              <a:ext cx="1107750" cy="1314779"/>
            </a:xfrm>
            <a:prstGeom prst="line">
              <a:avLst/>
            </a:prstGeom>
            <a:noFill/>
            <a:ln w="19050" cap="flat" cmpd="sng" algn="ctr">
              <a:solidFill>
                <a:srgbClr val="151515"/>
              </a:solidFill>
              <a:prstDash val="solid"/>
              <a:miter lim="800000"/>
            </a:ln>
            <a:effectLst/>
          </p:spPr>
        </p:cxnSp>
        <p:sp>
          <p:nvSpPr>
            <p:cNvPr id="26" name="文本框 25"/>
            <p:cNvSpPr txBox="1"/>
            <p:nvPr/>
          </p:nvSpPr>
          <p:spPr bwMode="gray">
            <a:xfrm>
              <a:off x="6164554" y="3451620"/>
              <a:ext cx="607859" cy="469937"/>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SW2</a:t>
              </a:r>
              <a:endParaRPr kumimoji="0" lang="zh-CN" altLang="en-US"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文本框 26"/>
            <p:cNvSpPr txBox="1"/>
            <p:nvPr/>
          </p:nvSpPr>
          <p:spPr bwMode="gray">
            <a:xfrm>
              <a:off x="10481350" y="3451620"/>
              <a:ext cx="607859" cy="469937"/>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SW3</a:t>
              </a:r>
              <a:endParaRPr kumimoji="0" lang="zh-CN" altLang="en-US"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文本框 27"/>
            <p:cNvSpPr txBox="1"/>
            <p:nvPr/>
          </p:nvSpPr>
          <p:spPr bwMode="gray">
            <a:xfrm>
              <a:off x="8059525" y="1306179"/>
              <a:ext cx="1188146" cy="528350"/>
            </a:xfrm>
            <a:prstGeom prst="rect">
              <a:avLst/>
            </a:prstGeom>
            <a:noFill/>
          </p:spPr>
          <p:txBody>
            <a:bodyPr wrap="none" rtlCol="0">
              <a:spAutoFit/>
            </a:bodyPr>
            <a:lstStyle/>
            <a:p>
              <a:pPr marL="0" marR="0" lvl="0" indent="0" algn="ctr" defTabSz="914478" eaLnBrk="1" fontAlgn="auto" latinLnBrk="0" hangingPunct="1">
                <a:lnSpc>
                  <a:spcPts val="344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SW1(</a:t>
              </a:r>
              <a:r>
                <a:rPr kumimoji="0" lang="zh-CN" altLang="en-US"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根桥</a:t>
              </a:r>
              <a:r>
                <a:rPr kumimoji="0" lang="en-US" altLang="zh-CN"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endParaRPr kumimoji="0" lang="zh-CN" altLang="en-US"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9" name="直接箭头连接符 28"/>
            <p:cNvCxnSpPr>
              <a:stCxn id="22" idx="0"/>
              <a:endCxn id="21" idx="1"/>
            </p:cNvCxnSpPr>
            <p:nvPr/>
          </p:nvCxnSpPr>
          <p:spPr bwMode="gray">
            <a:xfrm flipV="1">
              <a:off x="7185849" y="2086150"/>
              <a:ext cx="1107751" cy="1314779"/>
            </a:xfrm>
            <a:prstGeom prst="straightConnector1">
              <a:avLst/>
            </a:prstGeom>
            <a:noFill/>
            <a:ln w="19050" cap="flat" cmpd="sng" algn="ctr">
              <a:solidFill>
                <a:srgbClr val="1D1D1A"/>
              </a:solidFill>
              <a:prstDash val="solid"/>
              <a:miter lim="800000"/>
              <a:headEnd type="none" w="med" len="med"/>
              <a:tailEnd type="none" w="med" len="med"/>
            </a:ln>
            <a:effectLst/>
          </p:spPr>
        </p:cxnSp>
      </p:grpSp>
      <p:sp>
        <p:nvSpPr>
          <p:cNvPr id="13" name="椭圆 12"/>
          <p:cNvSpPr>
            <a:spLocks noChangeAspect="1"/>
          </p:cNvSpPr>
          <p:nvPr/>
        </p:nvSpPr>
        <p:spPr bwMode="gray">
          <a:xfrm>
            <a:off x="2727041" y="2226999"/>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椭圆 13"/>
          <p:cNvSpPr>
            <a:spLocks noChangeAspect="1"/>
          </p:cNvSpPr>
          <p:nvPr/>
        </p:nvSpPr>
        <p:spPr bwMode="gray">
          <a:xfrm>
            <a:off x="3456165" y="2236510"/>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椭圆 14"/>
          <p:cNvSpPr>
            <a:spLocks noChangeAspect="1"/>
          </p:cNvSpPr>
          <p:nvPr/>
        </p:nvSpPr>
        <p:spPr bwMode="gray">
          <a:xfrm>
            <a:off x="1660856" y="3498586"/>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椭圆 15"/>
          <p:cNvSpPr>
            <a:spLocks noChangeAspect="1"/>
          </p:cNvSpPr>
          <p:nvPr/>
        </p:nvSpPr>
        <p:spPr bwMode="gray">
          <a:xfrm>
            <a:off x="1973346" y="3799807"/>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椭圆 16"/>
          <p:cNvSpPr>
            <a:spLocks noChangeAspect="1"/>
          </p:cNvSpPr>
          <p:nvPr/>
        </p:nvSpPr>
        <p:spPr bwMode="gray">
          <a:xfrm>
            <a:off x="4546006" y="3498586"/>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8" name="组合 28"/>
          <p:cNvGrpSpPr>
            <a:grpSpLocks noChangeAspect="1"/>
          </p:cNvGrpSpPr>
          <p:nvPr/>
        </p:nvGrpSpPr>
        <p:grpSpPr bwMode="gray">
          <a:xfrm>
            <a:off x="4161997" y="3798287"/>
            <a:ext cx="234000" cy="234000"/>
            <a:chOff x="5076056" y="3356992"/>
            <a:chExt cx="436268" cy="436268"/>
          </a:xfrm>
        </p:grpSpPr>
        <p:sp>
          <p:nvSpPr>
            <p:cNvPr id="19" name="椭圆 27"/>
            <p:cNvSpPr/>
            <p:nvPr/>
          </p:nvSpPr>
          <p:spPr bwMode="gray">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禁止符 23"/>
            <p:cNvSpPr/>
            <p:nvPr/>
          </p:nvSpPr>
          <p:spPr bwMode="gray">
            <a:xfrm>
              <a:off x="5076056" y="3356992"/>
              <a:ext cx="436268" cy="436268"/>
            </a:xfrm>
            <a:prstGeom prst="noSmoking">
              <a:avLst>
                <a:gd name="adj" fmla="val 15475"/>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0" name="矩形 29"/>
          <p:cNvSpPr/>
          <p:nvPr/>
        </p:nvSpPr>
        <p:spPr bwMode="gray">
          <a:xfrm>
            <a:off x="6096000" y="1770186"/>
            <a:ext cx="5653087" cy="3400931"/>
          </a:xfrm>
          <a:prstGeom prst="rect">
            <a:avLst/>
          </a:prstGeom>
        </p:spPr>
        <p:txBody>
          <a:bodyPr wrap="square">
            <a:spAutoFit/>
          </a:bodyPr>
          <a:lstStyle/>
          <a:p>
            <a:pPr marL="285750" indent="-285750">
              <a:lnSpc>
                <a:spcPts val="2400"/>
              </a:lnSpc>
              <a:spcAft>
                <a:spcPts val="600"/>
              </a:spcAft>
              <a:buSzPct val="50000"/>
              <a:buFont typeface="Wingdings" panose="05000000000000000000" pitchFamily="2" charset="2"/>
              <a:buChar char="l"/>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在一个具有物理环路的交换网络中，交换机通过运行生成树协议（</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Spanning Tree Protocol</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），自动生成一个没有环路的工作拓扑，也被称为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树。树节点为某些特定的交换机，树枝为某些特定的链路。</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ts val="2400"/>
              </a:lnSpc>
              <a:spcAft>
                <a:spcPts val="600"/>
              </a:spcAft>
              <a:buSzPct val="50000"/>
              <a:buFont typeface="Wingdings" panose="05000000000000000000" pitchFamily="2" charset="2"/>
              <a:buChar char="l"/>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通过在交换机之间传递配置</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来选举根交换机（或根桥），以及确定每个交换机端口的角色和状态。</a:t>
            </a:r>
          </a:p>
          <a:p>
            <a:pPr marL="285750" indent="-285750">
              <a:lnSpc>
                <a:spcPts val="2400"/>
              </a:lnSpc>
              <a:spcAft>
                <a:spcPts val="600"/>
              </a:spcAft>
              <a:buSzPct val="50000"/>
              <a:buFont typeface="Wingdings" panose="05000000000000000000" pitchFamily="2" charset="2"/>
              <a:buChar char="l"/>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在初始化过程中，每个交换机都主动发送配置</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。在网络拓扑稳定以后，只有根桥周期性发送配置</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，其他交换机在收到上游传来的配置</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后，才会发送自己的配置</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p>
          <a:p>
            <a:pPr marL="176213" indent="-176213">
              <a:lnSpc>
                <a:spcPts val="2400"/>
              </a:lnSpc>
              <a:spcAft>
                <a:spcPts val="600"/>
              </a:spcAft>
              <a:buFont typeface="Arial" panose="020B0604020202020204" pitchFamily="34" charset="0"/>
              <a:buChar char="•"/>
            </a:pP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31" name="表格 30"/>
          <p:cNvGraphicFramePr>
            <a:graphicFrameLocks noGrp="1"/>
          </p:cNvGraphicFramePr>
          <p:nvPr>
            <p:extLst>
              <p:ext uri="{D42A27DB-BD31-4B8C-83A1-F6EECF244321}">
                <p14:modId xmlns:p14="http://schemas.microsoft.com/office/powerpoint/2010/main" val="1028241197"/>
              </p:ext>
            </p:extLst>
          </p:nvPr>
        </p:nvGraphicFramePr>
        <p:xfrm>
          <a:off x="1660856" y="5325806"/>
          <a:ext cx="8867591" cy="518124"/>
        </p:xfrm>
        <a:graphic>
          <a:graphicData uri="http://schemas.openxmlformats.org/drawingml/2006/table">
            <a:tbl>
              <a:tblPr firstRow="1" bandRow="1">
                <a:tableStyleId>{2D5ABB26-0587-4C30-8999-92F81FD0307C}</a:tableStyleId>
              </a:tblPr>
              <a:tblGrid>
                <a:gridCol w="617763">
                  <a:extLst>
                    <a:ext uri="{9D8B030D-6E8A-4147-A177-3AD203B41FA5}">
                      <a16:colId xmlns:a16="http://schemas.microsoft.com/office/drawing/2014/main" val="20000"/>
                    </a:ext>
                  </a:extLst>
                </a:gridCol>
                <a:gridCol w="617763">
                  <a:extLst>
                    <a:ext uri="{9D8B030D-6E8A-4147-A177-3AD203B41FA5}">
                      <a16:colId xmlns:a16="http://schemas.microsoft.com/office/drawing/2014/main" val="20001"/>
                    </a:ext>
                  </a:extLst>
                </a:gridCol>
                <a:gridCol w="754883">
                  <a:extLst>
                    <a:ext uri="{9D8B030D-6E8A-4147-A177-3AD203B41FA5}">
                      <a16:colId xmlns:a16="http://schemas.microsoft.com/office/drawing/2014/main" val="20002"/>
                    </a:ext>
                  </a:extLst>
                </a:gridCol>
                <a:gridCol w="656422">
                  <a:extLst>
                    <a:ext uri="{9D8B030D-6E8A-4147-A177-3AD203B41FA5}">
                      <a16:colId xmlns:a16="http://schemas.microsoft.com/office/drawing/2014/main" val="20003"/>
                    </a:ext>
                  </a:extLst>
                </a:gridCol>
                <a:gridCol w="754883">
                  <a:extLst>
                    <a:ext uri="{9D8B030D-6E8A-4147-A177-3AD203B41FA5}">
                      <a16:colId xmlns:a16="http://schemas.microsoft.com/office/drawing/2014/main" val="20004"/>
                    </a:ext>
                  </a:extLst>
                </a:gridCol>
                <a:gridCol w="617036">
                  <a:extLst>
                    <a:ext uri="{9D8B030D-6E8A-4147-A177-3AD203B41FA5}">
                      <a16:colId xmlns:a16="http://schemas.microsoft.com/office/drawing/2014/main" val="20005"/>
                    </a:ext>
                  </a:extLst>
                </a:gridCol>
                <a:gridCol w="754883">
                  <a:extLst>
                    <a:ext uri="{9D8B030D-6E8A-4147-A177-3AD203B41FA5}">
                      <a16:colId xmlns:a16="http://schemas.microsoft.com/office/drawing/2014/main" val="20006"/>
                    </a:ext>
                  </a:extLst>
                </a:gridCol>
                <a:gridCol w="617036">
                  <a:extLst>
                    <a:ext uri="{9D8B030D-6E8A-4147-A177-3AD203B41FA5}">
                      <a16:colId xmlns:a16="http://schemas.microsoft.com/office/drawing/2014/main" val="20007"/>
                    </a:ext>
                  </a:extLst>
                </a:gridCol>
                <a:gridCol w="951810">
                  <a:extLst>
                    <a:ext uri="{9D8B030D-6E8A-4147-A177-3AD203B41FA5}">
                      <a16:colId xmlns:a16="http://schemas.microsoft.com/office/drawing/2014/main" val="20008"/>
                    </a:ext>
                  </a:extLst>
                </a:gridCol>
                <a:gridCol w="754883">
                  <a:extLst>
                    <a:ext uri="{9D8B030D-6E8A-4147-A177-3AD203B41FA5}">
                      <a16:colId xmlns:a16="http://schemas.microsoft.com/office/drawing/2014/main" val="20009"/>
                    </a:ext>
                  </a:extLst>
                </a:gridCol>
                <a:gridCol w="754883">
                  <a:extLst>
                    <a:ext uri="{9D8B030D-6E8A-4147-A177-3AD203B41FA5}">
                      <a16:colId xmlns:a16="http://schemas.microsoft.com/office/drawing/2014/main" val="20010"/>
                    </a:ext>
                  </a:extLst>
                </a:gridCol>
                <a:gridCol w="1015346">
                  <a:extLst>
                    <a:ext uri="{9D8B030D-6E8A-4147-A177-3AD203B41FA5}">
                      <a16:colId xmlns:a16="http://schemas.microsoft.com/office/drawing/2014/main" val="20011"/>
                    </a:ext>
                  </a:extLst>
                </a:gridCol>
              </a:tblGrid>
              <a:tr h="427558">
                <a:tc>
                  <a:txBody>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PID</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91404" marR="91404" marT="45702" marB="45702"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chemeClr val="bg1"/>
                    </a:solidFill>
                  </a:tcPr>
                </a:tc>
                <a:tc>
                  <a:txBody>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PVI</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91404" marR="91404" marT="45702" marB="45702"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chemeClr val="bg1"/>
                    </a:solidFill>
                  </a:tcPr>
                </a:tc>
                <a:tc>
                  <a:txBody>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BPDU</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Type</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91404" marR="91404" marT="45702" marB="45702"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chemeClr val="bg1"/>
                    </a:solidFill>
                  </a:tcPr>
                </a:tc>
                <a:tc>
                  <a:txBody>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Flag</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91404" marR="91404" marT="45702" marB="45702"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chemeClr val="bg1"/>
                    </a:solidFill>
                  </a:tcPr>
                </a:tc>
                <a:tc>
                  <a:txBody>
                    <a:bodyPr/>
                    <a:lstStyle/>
                    <a:p>
                      <a:pPr algn="ct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Root</a:t>
                      </a:r>
                    </a:p>
                    <a:p>
                      <a:pPr algn="ct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ID</a:t>
                      </a:r>
                      <a:endPar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91404" marR="91404" marT="45702" marB="45702"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chemeClr val="bg1"/>
                    </a:solidFill>
                  </a:tcPr>
                </a:tc>
                <a:tc>
                  <a:txBody>
                    <a:bodyPr/>
                    <a:lstStyle/>
                    <a:p>
                      <a:pPr algn="ct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RPC</a:t>
                      </a:r>
                      <a:endPar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91404" marR="91404" marT="45702" marB="45702"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chemeClr val="bg1"/>
                    </a:solidFill>
                  </a:tcPr>
                </a:tc>
                <a:tc>
                  <a:txBody>
                    <a:bodyPr/>
                    <a:lstStyle/>
                    <a:p>
                      <a:pPr algn="ct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Bridge</a:t>
                      </a:r>
                    </a:p>
                    <a:p>
                      <a:pPr algn="ct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ID</a:t>
                      </a:r>
                      <a:endPar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91404" marR="91404" marT="45702" marB="45702"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chemeClr val="bg1"/>
                    </a:solidFill>
                  </a:tcPr>
                </a:tc>
                <a:tc>
                  <a:txBody>
                    <a:bodyPr/>
                    <a:lstStyle/>
                    <a:p>
                      <a:pPr algn="ct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Port</a:t>
                      </a:r>
                    </a:p>
                    <a:p>
                      <a:pPr algn="ct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ID</a:t>
                      </a:r>
                      <a:endPar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91404" marR="91404" marT="45702" marB="45702"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chemeClr val="bg1"/>
                    </a:solidFill>
                  </a:tcPr>
                </a:tc>
                <a:tc>
                  <a:txBody>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Message</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Age</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91404" marR="91404" marT="45702" marB="45702"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chemeClr val="bg1"/>
                    </a:solidFill>
                  </a:tcPr>
                </a:tc>
                <a:tc>
                  <a:txBody>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Max</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Age</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91404" marR="91404" marT="45702" marB="45702"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chemeClr val="bg1"/>
                    </a:solidFill>
                  </a:tcPr>
                </a:tc>
                <a:tc>
                  <a:txBody>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Hello</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Time</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91404" marR="91404" marT="45702" marB="45702"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chemeClr val="bg1"/>
                    </a:solidFill>
                  </a:tcPr>
                </a:tc>
                <a:tc>
                  <a:txBody>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Forward</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Delay</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91404" marR="91404" marT="45702" marB="45702"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grpSp>
        <p:nvGrpSpPr>
          <p:cNvPr id="41" name="组合 40"/>
          <p:cNvGrpSpPr/>
          <p:nvPr/>
        </p:nvGrpSpPr>
        <p:grpSpPr bwMode="gray">
          <a:xfrm>
            <a:off x="4688838" y="4696417"/>
            <a:ext cx="1274673" cy="307777"/>
            <a:chOff x="4625326" y="4695470"/>
            <a:chExt cx="1274673" cy="307777"/>
          </a:xfrm>
        </p:grpSpPr>
        <p:sp>
          <p:nvSpPr>
            <p:cNvPr id="39" name="椭圆 38"/>
            <p:cNvSpPr>
              <a:spLocks noChangeAspect="1"/>
            </p:cNvSpPr>
            <p:nvPr/>
          </p:nvSpPr>
          <p:spPr bwMode="gray">
            <a:xfrm>
              <a:off x="4625326" y="4733491"/>
              <a:ext cx="211345" cy="211345"/>
            </a:xfrm>
            <a:prstGeom prst="ellipse">
              <a:avLst/>
            </a:prstGeom>
            <a:solidFill>
              <a:schemeClr val="bg1"/>
            </a:solidFill>
            <a:ln w="38100">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文本框 39"/>
            <p:cNvSpPr txBox="1"/>
            <p:nvPr/>
          </p:nvSpPr>
          <p:spPr bwMode="gray">
            <a:xfrm>
              <a:off x="4825104" y="4695470"/>
              <a:ext cx="1074895" cy="307777"/>
            </a:xfrm>
            <a:prstGeom prst="rect">
              <a:avLst/>
            </a:prstGeom>
            <a:noFill/>
          </p:spPr>
          <p:txBody>
            <a:bodyPr wrap="square" rtlCol="0">
              <a:spAutoFit/>
            </a:bodyPr>
            <a:lstStyle/>
            <a:p>
              <a:pPr fontAlgn="auto">
                <a:spcBef>
                  <a:spcPts val="0"/>
                </a:spcBef>
                <a:spcAft>
                  <a:spcPts val="0"/>
                </a:spcAft>
              </a:pPr>
              <a:r>
                <a:rPr lang="zh-CN" altLang="en-US" sz="1400" b="1"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400" b="1"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BPDU</a:t>
              </a:r>
              <a:endParaRPr lang="zh-CN" altLang="en-US" sz="1400" b="1"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59" name="组合 58"/>
          <p:cNvGrpSpPr/>
          <p:nvPr/>
        </p:nvGrpSpPr>
        <p:grpSpPr bwMode="gray">
          <a:xfrm>
            <a:off x="2372120" y="3968137"/>
            <a:ext cx="593447" cy="211345"/>
            <a:chOff x="2619653" y="4367362"/>
            <a:chExt cx="593447" cy="211345"/>
          </a:xfrm>
        </p:grpSpPr>
        <p:cxnSp>
          <p:nvCxnSpPr>
            <p:cNvPr id="52" name="直接箭头连接符 51"/>
            <p:cNvCxnSpPr>
              <a:stCxn id="53" idx="5"/>
            </p:cNvCxnSpPr>
            <p:nvPr/>
          </p:nvCxnSpPr>
          <p:spPr bwMode="gray">
            <a:xfrm>
              <a:off x="2830593" y="4463798"/>
              <a:ext cx="382507" cy="0"/>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3" name="椭圆 52"/>
            <p:cNvSpPr>
              <a:spLocks noChangeAspect="1"/>
            </p:cNvSpPr>
            <p:nvPr/>
          </p:nvSpPr>
          <p:spPr bwMode="gray">
            <a:xfrm rot="18599130">
              <a:off x="2619653" y="4367362"/>
              <a:ext cx="211345" cy="211345"/>
            </a:xfrm>
            <a:prstGeom prst="ellipse">
              <a:avLst/>
            </a:prstGeom>
            <a:solidFill>
              <a:schemeClr val="bg1"/>
            </a:solidFill>
            <a:ln w="381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60" name="组合 59"/>
          <p:cNvGrpSpPr/>
          <p:nvPr/>
        </p:nvGrpSpPr>
        <p:grpSpPr bwMode="gray">
          <a:xfrm flipH="1">
            <a:off x="3309775" y="3968137"/>
            <a:ext cx="593447" cy="211345"/>
            <a:chOff x="2619653" y="4367362"/>
            <a:chExt cx="593447" cy="211345"/>
          </a:xfrm>
        </p:grpSpPr>
        <p:cxnSp>
          <p:nvCxnSpPr>
            <p:cNvPr id="61" name="直接箭头连接符 60"/>
            <p:cNvCxnSpPr>
              <a:stCxn id="62" idx="5"/>
            </p:cNvCxnSpPr>
            <p:nvPr/>
          </p:nvCxnSpPr>
          <p:spPr bwMode="gray">
            <a:xfrm>
              <a:off x="2830593" y="4463798"/>
              <a:ext cx="382507" cy="0"/>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2" name="椭圆 61"/>
            <p:cNvSpPr>
              <a:spLocks noChangeAspect="1"/>
            </p:cNvSpPr>
            <p:nvPr/>
          </p:nvSpPr>
          <p:spPr bwMode="gray">
            <a:xfrm rot="18599130">
              <a:off x="2619653" y="4367362"/>
              <a:ext cx="211345" cy="211345"/>
            </a:xfrm>
            <a:prstGeom prst="ellipse">
              <a:avLst/>
            </a:prstGeom>
            <a:solidFill>
              <a:schemeClr val="bg1"/>
            </a:solidFill>
            <a:ln w="381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65" name="组合 64"/>
          <p:cNvGrpSpPr/>
          <p:nvPr/>
        </p:nvGrpSpPr>
        <p:grpSpPr bwMode="gray">
          <a:xfrm rot="2991214">
            <a:off x="3768133" y="2404338"/>
            <a:ext cx="593447" cy="211345"/>
            <a:chOff x="2619653" y="4367362"/>
            <a:chExt cx="593447" cy="211345"/>
          </a:xfrm>
        </p:grpSpPr>
        <p:cxnSp>
          <p:nvCxnSpPr>
            <p:cNvPr id="69" name="直接箭头连接符 68"/>
            <p:cNvCxnSpPr>
              <a:stCxn id="70" idx="5"/>
            </p:cNvCxnSpPr>
            <p:nvPr/>
          </p:nvCxnSpPr>
          <p:spPr bwMode="gray">
            <a:xfrm>
              <a:off x="2830593" y="4463798"/>
              <a:ext cx="382507" cy="0"/>
            </a:xfrm>
            <a:prstGeom prst="straightConnector1">
              <a:avLst/>
            </a:prstGeom>
            <a:ln w="38100">
              <a:solidFill>
                <a:srgbClr val="94DAE2"/>
              </a:solidFill>
              <a:tailEnd type="triangle"/>
            </a:ln>
          </p:spPr>
          <p:style>
            <a:lnRef idx="1">
              <a:schemeClr val="accent1"/>
            </a:lnRef>
            <a:fillRef idx="0">
              <a:schemeClr val="accent1"/>
            </a:fillRef>
            <a:effectRef idx="0">
              <a:schemeClr val="accent1"/>
            </a:effectRef>
            <a:fontRef idx="minor">
              <a:schemeClr val="tx1"/>
            </a:fontRef>
          </p:style>
        </p:cxnSp>
        <p:sp>
          <p:nvSpPr>
            <p:cNvPr id="70" name="椭圆 69"/>
            <p:cNvSpPr>
              <a:spLocks noChangeAspect="1"/>
            </p:cNvSpPr>
            <p:nvPr/>
          </p:nvSpPr>
          <p:spPr bwMode="gray">
            <a:xfrm rot="18599130">
              <a:off x="2619653" y="4367362"/>
              <a:ext cx="211345" cy="211345"/>
            </a:xfrm>
            <a:prstGeom prst="ellipse">
              <a:avLst/>
            </a:prstGeom>
            <a:solidFill>
              <a:schemeClr val="bg1"/>
            </a:solidFill>
            <a:ln w="38100">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66" name="组合 65"/>
          <p:cNvGrpSpPr/>
          <p:nvPr/>
        </p:nvGrpSpPr>
        <p:grpSpPr bwMode="gray">
          <a:xfrm rot="2991214" flipH="1">
            <a:off x="4372680" y="3121080"/>
            <a:ext cx="593447" cy="211345"/>
            <a:chOff x="2619653" y="4367362"/>
            <a:chExt cx="593447" cy="211345"/>
          </a:xfrm>
        </p:grpSpPr>
        <p:cxnSp>
          <p:nvCxnSpPr>
            <p:cNvPr id="67" name="直接箭头连接符 66"/>
            <p:cNvCxnSpPr>
              <a:stCxn id="68" idx="5"/>
            </p:cNvCxnSpPr>
            <p:nvPr/>
          </p:nvCxnSpPr>
          <p:spPr bwMode="gray">
            <a:xfrm>
              <a:off x="2830593" y="4463798"/>
              <a:ext cx="382507" cy="0"/>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8" name="椭圆 67"/>
            <p:cNvSpPr>
              <a:spLocks noChangeAspect="1"/>
            </p:cNvSpPr>
            <p:nvPr/>
          </p:nvSpPr>
          <p:spPr bwMode="gray">
            <a:xfrm rot="18599130">
              <a:off x="2619653" y="4367362"/>
              <a:ext cx="211345" cy="211345"/>
            </a:xfrm>
            <a:prstGeom prst="ellipse">
              <a:avLst/>
            </a:prstGeom>
            <a:solidFill>
              <a:schemeClr val="bg1"/>
            </a:solidFill>
            <a:ln w="381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72" name="组合 71"/>
          <p:cNvGrpSpPr/>
          <p:nvPr/>
        </p:nvGrpSpPr>
        <p:grpSpPr bwMode="gray">
          <a:xfrm rot="18565651">
            <a:off x="1505732" y="3082430"/>
            <a:ext cx="593447" cy="211345"/>
            <a:chOff x="2619653" y="4367362"/>
            <a:chExt cx="593447" cy="211345"/>
          </a:xfrm>
        </p:grpSpPr>
        <p:cxnSp>
          <p:nvCxnSpPr>
            <p:cNvPr id="76" name="直接箭头连接符 75"/>
            <p:cNvCxnSpPr>
              <a:stCxn id="77" idx="5"/>
            </p:cNvCxnSpPr>
            <p:nvPr/>
          </p:nvCxnSpPr>
          <p:spPr bwMode="gray">
            <a:xfrm>
              <a:off x="2830593" y="4463798"/>
              <a:ext cx="382507" cy="0"/>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7" name="椭圆 76"/>
            <p:cNvSpPr>
              <a:spLocks noChangeAspect="1"/>
            </p:cNvSpPr>
            <p:nvPr/>
          </p:nvSpPr>
          <p:spPr bwMode="gray">
            <a:xfrm rot="18599130">
              <a:off x="2619653" y="4367362"/>
              <a:ext cx="211345" cy="211345"/>
            </a:xfrm>
            <a:prstGeom prst="ellipse">
              <a:avLst/>
            </a:prstGeom>
            <a:solidFill>
              <a:schemeClr val="bg1"/>
            </a:solidFill>
            <a:ln w="381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73" name="组合 72"/>
          <p:cNvGrpSpPr/>
          <p:nvPr/>
        </p:nvGrpSpPr>
        <p:grpSpPr bwMode="gray">
          <a:xfrm rot="18565651" flipH="1">
            <a:off x="2101239" y="2358158"/>
            <a:ext cx="593447" cy="211345"/>
            <a:chOff x="2619653" y="4367362"/>
            <a:chExt cx="593447" cy="211345"/>
          </a:xfrm>
        </p:grpSpPr>
        <p:cxnSp>
          <p:nvCxnSpPr>
            <p:cNvPr id="74" name="直接箭头连接符 73"/>
            <p:cNvCxnSpPr>
              <a:stCxn id="75" idx="5"/>
            </p:cNvCxnSpPr>
            <p:nvPr/>
          </p:nvCxnSpPr>
          <p:spPr bwMode="gray">
            <a:xfrm>
              <a:off x="2830593" y="4463798"/>
              <a:ext cx="382507" cy="0"/>
            </a:xfrm>
            <a:prstGeom prst="straightConnector1">
              <a:avLst/>
            </a:prstGeom>
            <a:ln w="38100">
              <a:solidFill>
                <a:srgbClr val="94DAE2"/>
              </a:solidFill>
              <a:tailEnd type="triangle"/>
            </a:ln>
          </p:spPr>
          <p:style>
            <a:lnRef idx="1">
              <a:schemeClr val="accent1"/>
            </a:lnRef>
            <a:fillRef idx="0">
              <a:schemeClr val="accent1"/>
            </a:fillRef>
            <a:effectRef idx="0">
              <a:schemeClr val="accent1"/>
            </a:effectRef>
            <a:fontRef idx="minor">
              <a:schemeClr val="tx1"/>
            </a:fontRef>
          </p:style>
        </p:cxnSp>
        <p:sp>
          <p:nvSpPr>
            <p:cNvPr id="75" name="椭圆 74"/>
            <p:cNvSpPr>
              <a:spLocks noChangeAspect="1"/>
            </p:cNvSpPr>
            <p:nvPr/>
          </p:nvSpPr>
          <p:spPr bwMode="gray">
            <a:xfrm rot="18599130">
              <a:off x="2619653" y="4367362"/>
              <a:ext cx="211345" cy="211345"/>
            </a:xfrm>
            <a:prstGeom prst="ellipse">
              <a:avLst/>
            </a:prstGeom>
            <a:solidFill>
              <a:schemeClr val="bg1"/>
            </a:solidFill>
            <a:ln w="38100">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81" name="矩形 80"/>
          <p:cNvSpPr/>
          <p:nvPr/>
        </p:nvSpPr>
        <p:spPr bwMode="gray">
          <a:xfrm rot="18598793">
            <a:off x="1441553" y="3002128"/>
            <a:ext cx="683265" cy="306571"/>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矩形 81"/>
          <p:cNvSpPr/>
          <p:nvPr/>
        </p:nvSpPr>
        <p:spPr bwMode="gray">
          <a:xfrm>
            <a:off x="2301069" y="3936951"/>
            <a:ext cx="1675592" cy="306571"/>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矩形 82"/>
          <p:cNvSpPr/>
          <p:nvPr/>
        </p:nvSpPr>
        <p:spPr bwMode="gray">
          <a:xfrm rot="2390976">
            <a:off x="4328730" y="3076863"/>
            <a:ext cx="683265" cy="306571"/>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文本框 83"/>
          <p:cNvSpPr txBox="1"/>
          <p:nvPr/>
        </p:nvSpPr>
        <p:spPr bwMode="gray">
          <a:xfrm>
            <a:off x="5120116" y="5842000"/>
            <a:ext cx="2146193" cy="396968"/>
          </a:xfrm>
          <a:prstGeom prst="rect">
            <a:avLst/>
          </a:prstGeom>
          <a:noFill/>
        </p:spPr>
        <p:txBody>
          <a:bodyPr wrap="square" rtlCol="0">
            <a:spAutoFit/>
          </a:bodyPr>
          <a:lstStyle/>
          <a:p>
            <a:pPr algn="just" fontAlgn="auto">
              <a:lnSpc>
                <a:spcPts val="2600"/>
              </a:lnSpc>
              <a:spcBef>
                <a:spcPts val="0"/>
              </a:spcBef>
              <a:spcAft>
                <a:spcPts val="600"/>
              </a:spcAft>
            </a:pPr>
            <a:r>
              <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报文格式</a:t>
            </a:r>
            <a:endPar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五边形 62"/>
          <p:cNvSpPr/>
          <p:nvPr/>
        </p:nvSpPr>
        <p:spPr bwMode="auto">
          <a:xfrm>
            <a:off x="6179960" y="98481"/>
            <a:ext cx="94884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以太网交换</a:t>
            </a:r>
          </a:p>
        </p:txBody>
      </p:sp>
      <p:sp>
        <p:nvSpPr>
          <p:cNvPr id="64" name="燕尾形 63"/>
          <p:cNvSpPr/>
          <p:nvPr/>
        </p:nvSpPr>
        <p:spPr bwMode="auto">
          <a:xfrm>
            <a:off x="7049907" y="98481"/>
            <a:ext cx="678521"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燕尾形 70"/>
          <p:cNvSpPr/>
          <p:nvPr/>
        </p:nvSpPr>
        <p:spPr bwMode="auto">
          <a:xfrm>
            <a:off x="7649535" y="98481"/>
            <a:ext cx="87595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无线接入</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燕尾形 77"/>
          <p:cNvSpPr/>
          <p:nvPr/>
        </p:nvSpPr>
        <p:spPr bwMode="auto">
          <a:xfrm>
            <a:off x="8446601"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可靠性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燕尾形 78"/>
          <p:cNvSpPr/>
          <p:nvPr/>
        </p:nvSpPr>
        <p:spPr bwMode="auto">
          <a:xfrm>
            <a:off x="9148908" y="98481"/>
            <a:ext cx="87048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网络安全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燕尾形 79"/>
          <p:cNvSpPr/>
          <p:nvPr/>
        </p:nvSpPr>
        <p:spPr bwMode="auto">
          <a:xfrm>
            <a:off x="9940504" y="98481"/>
            <a:ext cx="130400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网络服务与管理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燕尾形 84"/>
          <p:cNvSpPr/>
          <p:nvPr/>
        </p:nvSpPr>
        <p:spPr bwMode="auto">
          <a:xfrm>
            <a:off x="11165613" y="98481"/>
            <a:ext cx="583475"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出口</a:t>
            </a:r>
          </a:p>
        </p:txBody>
      </p:sp>
    </p:spTree>
    <p:extLst>
      <p:ext uri="{BB962C8B-B14F-4D97-AF65-F5344CB8AC3E}">
        <p14:creationId xmlns:p14="http://schemas.microsoft.com/office/powerpoint/2010/main" val="1169487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3"/>
                                        </p:tgtEl>
                                        <p:attrNameLst>
                                          <p:attrName>style.visibility</p:attrName>
                                        </p:attrNameLst>
                                      </p:cBhvr>
                                      <p:to>
                                        <p:strVal val="visible"/>
                                      </p:to>
                                    </p:set>
                                    <p:animEffect transition="in" filter="barn(inVertical)">
                                      <p:cBhvr>
                                        <p:cTn id="7" dur="500"/>
                                        <p:tgtEl>
                                          <p:spTgt spid="83"/>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81"/>
                                        </p:tgtEl>
                                        <p:attrNameLst>
                                          <p:attrName>style.visibility</p:attrName>
                                        </p:attrNameLst>
                                      </p:cBhvr>
                                      <p:to>
                                        <p:strVal val="visible"/>
                                      </p:to>
                                    </p:set>
                                    <p:animEffect transition="in" filter="barn(inVertical)">
                                      <p:cBhvr>
                                        <p:cTn id="10" dur="500"/>
                                        <p:tgtEl>
                                          <p:spTgt spid="81"/>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82"/>
                                        </p:tgtEl>
                                        <p:attrNameLst>
                                          <p:attrName>style.visibility</p:attrName>
                                        </p:attrNameLst>
                                      </p:cBhvr>
                                      <p:to>
                                        <p:strVal val="visible"/>
                                      </p:to>
                                    </p:set>
                                    <p:animEffect transition="in" filter="barn(inVertical)">
                                      <p:cBhvr>
                                        <p:cTn id="13" dur="500"/>
                                        <p:tgtEl>
                                          <p:spTgt spid="82"/>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barn(inVertical)">
                                      <p:cBhvr>
                                        <p:cTn id="16" dur="500"/>
                                        <p:tgtEl>
                                          <p:spTgt spid="16"/>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barn(inVertical)">
                                      <p:cBhvr>
                                        <p:cTn id="19" dur="500"/>
                                        <p:tgtEl>
                                          <p:spTgt spid="15"/>
                                        </p:tgtEl>
                                      </p:cBhvr>
                                    </p:animEffect>
                                  </p:childTnLst>
                                </p:cTn>
                              </p:par>
                              <p:par>
                                <p:cTn id="20" presetID="16" presetClass="entr" presetSubtype="21" fill="hold"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barn(inVertical)">
                                      <p:cBhvr>
                                        <p:cTn id="22" dur="500"/>
                                        <p:tgtEl>
                                          <p:spTgt spid="18"/>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barn(inVertical)">
                                      <p:cBhvr>
                                        <p:cTn id="25" dur="500"/>
                                        <p:tgtEl>
                                          <p:spTgt spid="17"/>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barn(inVertical)">
                                      <p:cBhvr>
                                        <p:cTn id="28" dur="500"/>
                                        <p:tgtEl>
                                          <p:spTgt spid="14"/>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barn(inVertical)">
                                      <p:cBhvr>
                                        <p:cTn id="3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81" grpId="0" animBg="1"/>
      <p:bldP spid="82" grpId="0" animBg="1"/>
      <p:bldP spid="8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6" name="直接连接符 65"/>
          <p:cNvCxnSpPr>
            <a:endCxn id="59" idx="0"/>
          </p:cNvCxnSpPr>
          <p:nvPr/>
        </p:nvCxnSpPr>
        <p:spPr bwMode="gray">
          <a:xfrm>
            <a:off x="4456353" y="3310002"/>
            <a:ext cx="540000" cy="4876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bwMode="gray"/>
        <p:txBody>
          <a:bodyPr/>
          <a:lstStyle/>
          <a:p>
            <a:r>
              <a:rPr lang="zh-CN" altLang="en-US" dirty="0">
                <a:sym typeface="Huawei Sans" panose="020C0503030203020204" pitchFamily="34" charset="0"/>
              </a:rPr>
              <a:t>快速生成树</a:t>
            </a:r>
          </a:p>
        </p:txBody>
      </p:sp>
      <p:sp>
        <p:nvSpPr>
          <p:cNvPr id="42" name="矩形 41"/>
          <p:cNvSpPr/>
          <p:nvPr/>
        </p:nvSpPr>
        <p:spPr bwMode="gray">
          <a:xfrm>
            <a:off x="6096000" y="1392282"/>
            <a:ext cx="5653087" cy="4632037"/>
          </a:xfrm>
          <a:prstGeom prst="rect">
            <a:avLst/>
          </a:prstGeom>
        </p:spPr>
        <p:txBody>
          <a:bodyPr wrap="square">
            <a:spAutoFit/>
          </a:bodyPr>
          <a:lstStyle/>
          <a:p>
            <a:pPr marL="285750" indent="-285750">
              <a:lnSpc>
                <a:spcPts val="2400"/>
              </a:lnSpc>
              <a:spcAft>
                <a:spcPts val="600"/>
              </a:spcAft>
              <a:buSzPct val="50000"/>
              <a:buFont typeface="Wingdings" panose="05000000000000000000" pitchFamily="2" charset="2"/>
              <a:buChar char="l"/>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随着局域网规模的不断增长，</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拓扑收敛速度慢的问题逐渐凸显，因此，</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IEEE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2001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年发布了</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802.1w</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标准，定义了快速生成树协议（</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Rapid Spanning Tree Protocol</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的基础上进行了改进，可实现交换网络的快速收敛。</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ts val="2400"/>
              </a:lnSpc>
              <a:spcAft>
                <a:spcPts val="600"/>
              </a:spcAft>
              <a:buSzPct val="50000"/>
              <a:buFont typeface="Wingdings" panose="05000000000000000000" pitchFamily="2" charset="2"/>
              <a:buChar char="l"/>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主要从以下几点对</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进行了改进：</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742990" lvl="1" indent="-285750">
              <a:lnSpc>
                <a:spcPts val="2400"/>
              </a:lnSpc>
              <a:spcAft>
                <a:spcPts val="600"/>
              </a:spcAft>
              <a:buSzPct val="50000"/>
              <a:buFont typeface="Wingdings" panose="05000000000000000000" pitchFamily="2" charset="2"/>
              <a:buChar char="p"/>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通过端口角色的增补，简化了生成树协议的理解与部署；</a:t>
            </a:r>
          </a:p>
          <a:p>
            <a:pPr marL="742990" lvl="1" indent="-285750">
              <a:lnSpc>
                <a:spcPts val="2400"/>
              </a:lnSpc>
              <a:spcAft>
                <a:spcPts val="600"/>
              </a:spcAft>
              <a:buSzPct val="50000"/>
              <a:buFont typeface="Wingdings" panose="05000000000000000000" pitchFamily="2" charset="2"/>
              <a:buChar char="p"/>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取消了</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Listening</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状态，端口状态从</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5</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种简化到</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3</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种；</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742990" lvl="1" indent="-285750">
              <a:lnSpc>
                <a:spcPts val="2400"/>
              </a:lnSpc>
              <a:spcAft>
                <a:spcPts val="600"/>
              </a:spcAft>
              <a:buSzPct val="50000"/>
              <a:buFont typeface="Wingdings" panose="05000000000000000000" pitchFamily="2" charset="2"/>
              <a:buChar char="p"/>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的配置</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充分利用了</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报文中的</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Flag</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字段，明确了端口角色；</a:t>
            </a:r>
          </a:p>
          <a:p>
            <a:pPr marL="742990" lvl="1" indent="-285750">
              <a:lnSpc>
                <a:spcPts val="2400"/>
              </a:lnSpc>
              <a:spcAft>
                <a:spcPts val="600"/>
              </a:spcAft>
              <a:buSzPct val="50000"/>
              <a:buFont typeface="Wingdings" panose="05000000000000000000" pitchFamily="2" charset="2"/>
              <a:buChar char="p"/>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修改了配置</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的处理方式，如非根桥主动生成并发送配置</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，缩短</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超时时间为</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3</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个</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Hello Time</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等；</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742990" lvl="1" indent="-285750">
              <a:lnSpc>
                <a:spcPts val="2400"/>
              </a:lnSpc>
              <a:spcAft>
                <a:spcPts val="600"/>
              </a:spcAft>
              <a:buSzPct val="50000"/>
              <a:buFont typeface="Wingdings" panose="05000000000000000000" pitchFamily="2" charset="2"/>
              <a:buChar char="p"/>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增加快速收敛机制，如</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PA</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Proposal/Agreement</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）机制和边缘端口机制等；</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742990" lvl="1" indent="-285750">
              <a:lnSpc>
                <a:spcPts val="2400"/>
              </a:lnSpc>
              <a:spcAft>
                <a:spcPts val="600"/>
              </a:spcAft>
              <a:buSzPct val="50000"/>
              <a:buFont typeface="Wingdings" panose="05000000000000000000" pitchFamily="2" charset="2"/>
              <a:buChar char="p"/>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增加保护机制，保证交换网络的稳定。</a:t>
            </a:r>
          </a:p>
        </p:txBody>
      </p:sp>
      <p:grpSp>
        <p:nvGrpSpPr>
          <p:cNvPr id="17" name="Group 165"/>
          <p:cNvGrpSpPr/>
          <p:nvPr/>
        </p:nvGrpSpPr>
        <p:grpSpPr bwMode="gray">
          <a:xfrm rot="10800000">
            <a:off x="1744772" y="2026153"/>
            <a:ext cx="2736306" cy="1062941"/>
            <a:chOff x="-1221190" y="1029588"/>
            <a:chExt cx="1550129" cy="613067"/>
          </a:xfrm>
        </p:grpSpPr>
        <p:cxnSp>
          <p:nvCxnSpPr>
            <p:cNvPr id="31" name="Straight Connector 166"/>
            <p:cNvCxnSpPr>
              <a:stCxn id="19" idx="3"/>
              <a:endCxn id="21" idx="0"/>
            </p:cNvCxnSpPr>
            <p:nvPr/>
          </p:nvCxnSpPr>
          <p:spPr bwMode="gray">
            <a:xfrm rot="10800000">
              <a:off x="-1221190" y="1029589"/>
              <a:ext cx="622108" cy="6130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167"/>
            <p:cNvCxnSpPr>
              <a:stCxn id="19" idx="1"/>
              <a:endCxn id="20" idx="0"/>
            </p:cNvCxnSpPr>
            <p:nvPr/>
          </p:nvCxnSpPr>
          <p:spPr bwMode="gray">
            <a:xfrm rot="10800000" flipH="1">
              <a:off x="-293169" y="1029588"/>
              <a:ext cx="622108" cy="61306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cxnSp>
        <p:nvCxnSpPr>
          <p:cNvPr id="18" name="直接连接符 17"/>
          <p:cNvCxnSpPr>
            <a:stCxn id="21" idx="1"/>
            <a:endCxn id="20" idx="3"/>
          </p:cNvCxnSpPr>
          <p:nvPr/>
        </p:nvCxnSpPr>
        <p:spPr bwMode="gray">
          <a:xfrm flipH="1">
            <a:off x="2014773" y="3310002"/>
            <a:ext cx="219630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9" name="图片 76" descr="接入交换机.png"/>
          <p:cNvPicPr>
            <a:picLocks noChangeAspect="1"/>
          </p:cNvPicPr>
          <p:nvPr/>
        </p:nvPicPr>
        <p:blipFill>
          <a:blip r:embed="rId3" cstate="print"/>
          <a:stretch>
            <a:fillRect/>
          </a:stretch>
        </p:blipFill>
        <p:spPr bwMode="gray">
          <a:xfrm>
            <a:off x="2842925" y="1805245"/>
            <a:ext cx="540000" cy="441818"/>
          </a:xfrm>
          <a:prstGeom prst="rect">
            <a:avLst/>
          </a:prstGeom>
        </p:spPr>
      </p:pic>
      <p:pic>
        <p:nvPicPr>
          <p:cNvPr id="20" name="图片 76" descr="接入交换机.png"/>
          <p:cNvPicPr>
            <a:picLocks noChangeAspect="1"/>
          </p:cNvPicPr>
          <p:nvPr/>
        </p:nvPicPr>
        <p:blipFill>
          <a:blip r:embed="rId3" cstate="print"/>
          <a:stretch>
            <a:fillRect/>
          </a:stretch>
        </p:blipFill>
        <p:spPr bwMode="gray">
          <a:xfrm>
            <a:off x="1474773" y="3089093"/>
            <a:ext cx="540000" cy="441818"/>
          </a:xfrm>
          <a:prstGeom prst="rect">
            <a:avLst/>
          </a:prstGeom>
        </p:spPr>
      </p:pic>
      <p:sp>
        <p:nvSpPr>
          <p:cNvPr id="22" name="文本框 21"/>
          <p:cNvSpPr txBox="1"/>
          <p:nvPr/>
        </p:nvSpPr>
        <p:spPr bwMode="gray">
          <a:xfrm>
            <a:off x="2595621" y="1497468"/>
            <a:ext cx="1063112"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根桥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文本框 22"/>
          <p:cNvSpPr txBox="1"/>
          <p:nvPr/>
        </p:nvSpPr>
        <p:spPr bwMode="gray">
          <a:xfrm>
            <a:off x="916619" y="3152187"/>
            <a:ext cx="562975"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文本框 23"/>
          <p:cNvSpPr txBox="1"/>
          <p:nvPr/>
        </p:nvSpPr>
        <p:spPr bwMode="gray">
          <a:xfrm>
            <a:off x="4747387" y="3156261"/>
            <a:ext cx="564578"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椭圆 24"/>
          <p:cNvSpPr>
            <a:spLocks noChangeAspect="1"/>
          </p:cNvSpPr>
          <p:nvPr/>
        </p:nvSpPr>
        <p:spPr bwMode="gray">
          <a:xfrm>
            <a:off x="2726552" y="1956414"/>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椭圆 25"/>
          <p:cNvSpPr>
            <a:spLocks noChangeAspect="1"/>
          </p:cNvSpPr>
          <p:nvPr/>
        </p:nvSpPr>
        <p:spPr bwMode="gray">
          <a:xfrm>
            <a:off x="3282416" y="1956414"/>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椭圆 26"/>
          <p:cNvSpPr>
            <a:spLocks noChangeAspect="1"/>
          </p:cNvSpPr>
          <p:nvPr/>
        </p:nvSpPr>
        <p:spPr bwMode="gray">
          <a:xfrm>
            <a:off x="1648750" y="2980758"/>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椭圆 29"/>
          <p:cNvSpPr>
            <a:spLocks noChangeAspect="1"/>
          </p:cNvSpPr>
          <p:nvPr/>
        </p:nvSpPr>
        <p:spPr bwMode="gray">
          <a:xfrm>
            <a:off x="1919224" y="3207108"/>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5" name="直接连接符 34"/>
          <p:cNvCxnSpPr/>
          <p:nvPr/>
        </p:nvCxnSpPr>
        <p:spPr bwMode="gray">
          <a:xfrm>
            <a:off x="1581347" y="3575185"/>
            <a:ext cx="0" cy="3274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bwMode="gray">
          <a:xfrm flipH="1">
            <a:off x="1310015" y="3898224"/>
            <a:ext cx="90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椭圆 36"/>
          <p:cNvSpPr>
            <a:spLocks noChangeAspect="1"/>
          </p:cNvSpPr>
          <p:nvPr/>
        </p:nvSpPr>
        <p:spPr bwMode="gray">
          <a:xfrm>
            <a:off x="1486697" y="3451039"/>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8" name="直接连接符 37"/>
          <p:cNvCxnSpPr/>
          <p:nvPr/>
        </p:nvCxnSpPr>
        <p:spPr bwMode="gray">
          <a:xfrm>
            <a:off x="1888990" y="3575185"/>
            <a:ext cx="0" cy="3274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椭圆 38"/>
          <p:cNvSpPr>
            <a:spLocks noChangeAspect="1"/>
          </p:cNvSpPr>
          <p:nvPr/>
        </p:nvSpPr>
        <p:spPr bwMode="gray">
          <a:xfrm>
            <a:off x="1779292" y="3448638"/>
            <a:ext cx="232480" cy="232480"/>
          </a:xfrm>
          <a:prstGeom prst="ellipse">
            <a:avLst/>
          </a:prstGeom>
          <a:solidFill>
            <a:srgbClr val="FF99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0" name="组合 49"/>
          <p:cNvGrpSpPr/>
          <p:nvPr/>
        </p:nvGrpSpPr>
        <p:grpSpPr bwMode="gray">
          <a:xfrm>
            <a:off x="545224" y="4867976"/>
            <a:ext cx="915569" cy="276999"/>
            <a:chOff x="723646" y="4249887"/>
            <a:chExt cx="915569" cy="276999"/>
          </a:xfrm>
        </p:grpSpPr>
        <p:sp>
          <p:nvSpPr>
            <p:cNvPr id="43" name="椭圆 42"/>
            <p:cNvSpPr>
              <a:spLocks noChangeAspect="1"/>
            </p:cNvSpPr>
            <p:nvPr/>
          </p:nvSpPr>
          <p:spPr bwMode="gray">
            <a:xfrm>
              <a:off x="723646" y="4302283"/>
              <a:ext cx="180000" cy="18000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文本框 43"/>
            <p:cNvSpPr txBox="1"/>
            <p:nvPr/>
          </p:nvSpPr>
          <p:spPr bwMode="gray">
            <a:xfrm>
              <a:off x="846559" y="4249887"/>
              <a:ext cx="792656" cy="276999"/>
            </a:xfrm>
            <a:prstGeom prst="rect">
              <a:avLst/>
            </a:prstGeom>
            <a:noFill/>
          </p:spPr>
          <p:txBody>
            <a:bodyPr wrap="square" rtlCol="0">
              <a:spAutoFit/>
            </a:bodyPr>
            <a:lstStyle/>
            <a:p>
              <a:pPr fontAlgn="auto">
                <a:spcBef>
                  <a:spcPts val="0"/>
                </a:spcBef>
                <a:spcAft>
                  <a:spcPts val="0"/>
                </a:spcAft>
              </a:pP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根端口</a:t>
              </a:r>
              <a:endPar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40" name="组合 39"/>
          <p:cNvGrpSpPr/>
          <p:nvPr/>
        </p:nvGrpSpPr>
        <p:grpSpPr bwMode="gray">
          <a:xfrm>
            <a:off x="1487879" y="4867976"/>
            <a:ext cx="1036369" cy="276999"/>
            <a:chOff x="723646" y="4543270"/>
            <a:chExt cx="1036369" cy="276999"/>
          </a:xfrm>
        </p:grpSpPr>
        <p:sp>
          <p:nvSpPr>
            <p:cNvPr id="45" name="椭圆 44"/>
            <p:cNvSpPr>
              <a:spLocks noChangeAspect="1"/>
            </p:cNvSpPr>
            <p:nvPr/>
          </p:nvSpPr>
          <p:spPr bwMode="gray">
            <a:xfrm>
              <a:off x="723646" y="4595666"/>
              <a:ext cx="180000" cy="18000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文本框 45"/>
            <p:cNvSpPr txBox="1"/>
            <p:nvPr/>
          </p:nvSpPr>
          <p:spPr bwMode="gray">
            <a:xfrm>
              <a:off x="846559" y="4543270"/>
              <a:ext cx="913456" cy="276999"/>
            </a:xfrm>
            <a:prstGeom prst="rect">
              <a:avLst/>
            </a:prstGeom>
            <a:noFill/>
          </p:spPr>
          <p:txBody>
            <a:bodyPr wrap="square" rtlCol="0">
              <a:spAutoFit/>
            </a:bodyPr>
            <a:lstStyle/>
            <a:p>
              <a:pPr fontAlgn="auto">
                <a:spcBef>
                  <a:spcPts val="0"/>
                </a:spcBef>
                <a:spcAft>
                  <a:spcPts val="0"/>
                </a:spcAft>
              </a:pP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指定端口</a:t>
              </a:r>
              <a:endPar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49" name="组合 48"/>
          <p:cNvGrpSpPr/>
          <p:nvPr/>
        </p:nvGrpSpPr>
        <p:grpSpPr bwMode="gray">
          <a:xfrm>
            <a:off x="2551334" y="4867976"/>
            <a:ext cx="1036369" cy="276999"/>
            <a:chOff x="723646" y="4836654"/>
            <a:chExt cx="1036369" cy="276999"/>
          </a:xfrm>
        </p:grpSpPr>
        <p:sp>
          <p:nvSpPr>
            <p:cNvPr id="47" name="椭圆 46"/>
            <p:cNvSpPr>
              <a:spLocks noChangeAspect="1"/>
            </p:cNvSpPr>
            <p:nvPr/>
          </p:nvSpPr>
          <p:spPr bwMode="gray">
            <a:xfrm>
              <a:off x="723646" y="4889050"/>
              <a:ext cx="180000" cy="180000"/>
            </a:xfrm>
            <a:prstGeom prst="ellipse">
              <a:avLst/>
            </a:prstGeom>
            <a:solidFill>
              <a:srgbClr val="C7000B"/>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文本框 47"/>
            <p:cNvSpPr txBox="1"/>
            <p:nvPr/>
          </p:nvSpPr>
          <p:spPr bwMode="gray">
            <a:xfrm>
              <a:off x="846559" y="4836654"/>
              <a:ext cx="913456" cy="276999"/>
            </a:xfrm>
            <a:prstGeom prst="rect">
              <a:avLst/>
            </a:prstGeom>
            <a:noFill/>
          </p:spPr>
          <p:txBody>
            <a:bodyPr wrap="square" rtlCol="0">
              <a:spAutoFit/>
            </a:bodyPr>
            <a:lstStyle/>
            <a:p>
              <a:pPr fontAlgn="auto">
                <a:spcBef>
                  <a:spcPts val="0"/>
                </a:spcBef>
                <a:spcAft>
                  <a:spcPts val="0"/>
                </a:spcAft>
              </a:pPr>
              <a:r>
                <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替代端口</a:t>
              </a:r>
            </a:p>
          </p:txBody>
        </p:sp>
      </p:grpSp>
      <p:grpSp>
        <p:nvGrpSpPr>
          <p:cNvPr id="58" name="组合 57"/>
          <p:cNvGrpSpPr/>
          <p:nvPr/>
        </p:nvGrpSpPr>
        <p:grpSpPr bwMode="gray">
          <a:xfrm>
            <a:off x="3614789" y="4867976"/>
            <a:ext cx="1051117" cy="276999"/>
            <a:chOff x="3002769" y="5268536"/>
            <a:chExt cx="1051117" cy="276999"/>
          </a:xfrm>
        </p:grpSpPr>
        <p:sp>
          <p:nvSpPr>
            <p:cNvPr id="56" name="椭圆 55"/>
            <p:cNvSpPr>
              <a:spLocks noChangeAspect="1"/>
            </p:cNvSpPr>
            <p:nvPr/>
          </p:nvSpPr>
          <p:spPr bwMode="gray">
            <a:xfrm>
              <a:off x="3002769" y="5317035"/>
              <a:ext cx="180000" cy="180000"/>
            </a:xfrm>
            <a:prstGeom prst="ellipse">
              <a:avLst/>
            </a:prstGeom>
            <a:solidFill>
              <a:srgbClr val="FF99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文本框 56"/>
            <p:cNvSpPr txBox="1"/>
            <p:nvPr/>
          </p:nvSpPr>
          <p:spPr bwMode="gray">
            <a:xfrm>
              <a:off x="3140430" y="5268536"/>
              <a:ext cx="913456" cy="276999"/>
            </a:xfrm>
            <a:prstGeom prst="rect">
              <a:avLst/>
            </a:prstGeom>
            <a:noFill/>
          </p:spPr>
          <p:txBody>
            <a:bodyPr wrap="square" rtlCol="0">
              <a:spAutoFit/>
            </a:bodyPr>
            <a:lstStyle>
              <a:defPPr>
                <a:defRPr lang="en-US"/>
              </a:defPPr>
              <a:lvl1pPr fontAlgn="auto">
                <a:spcBef>
                  <a:spcPts val="0"/>
                </a:spcBef>
                <a:spcAft>
                  <a:spcPts val="0"/>
                </a:spcAft>
                <a:defRPr sz="1200" b="1">
                  <a:solidFill>
                    <a:srgbClr val="FF9900"/>
                  </a:solidFill>
                </a:defRPr>
              </a:lvl1p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备份端口</a:t>
              </a:r>
            </a:p>
          </p:txBody>
        </p:sp>
      </p:grpSp>
      <p:pic>
        <p:nvPicPr>
          <p:cNvPr id="59" name="图片 11" descr="开放网络-蓝.png"/>
          <p:cNvPicPr>
            <a:picLocks noChangeAspect="1"/>
          </p:cNvPicPr>
          <p:nvPr/>
        </p:nvPicPr>
        <p:blipFill>
          <a:blip r:embed="rId4" cstate="print"/>
          <a:stretch>
            <a:fillRect/>
          </a:stretch>
        </p:blipFill>
        <p:spPr bwMode="gray">
          <a:xfrm>
            <a:off x="4751077" y="3797660"/>
            <a:ext cx="490552" cy="377619"/>
          </a:xfrm>
          <a:prstGeom prst="rect">
            <a:avLst/>
          </a:prstGeom>
        </p:spPr>
      </p:pic>
      <p:cxnSp>
        <p:nvCxnSpPr>
          <p:cNvPr id="61" name="直接连接符 60"/>
          <p:cNvCxnSpPr>
            <a:endCxn id="60" idx="0"/>
          </p:cNvCxnSpPr>
          <p:nvPr/>
        </p:nvCxnSpPr>
        <p:spPr bwMode="gray">
          <a:xfrm flipH="1">
            <a:off x="3917176" y="3265687"/>
            <a:ext cx="515077" cy="52589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1" name="图片 76" descr="接入交换机.png"/>
          <p:cNvPicPr>
            <a:picLocks noChangeAspect="1"/>
          </p:cNvPicPr>
          <p:nvPr/>
        </p:nvPicPr>
        <p:blipFill>
          <a:blip r:embed="rId3" cstate="print"/>
          <a:stretch>
            <a:fillRect/>
          </a:stretch>
        </p:blipFill>
        <p:spPr bwMode="gray">
          <a:xfrm>
            <a:off x="4211077" y="3089093"/>
            <a:ext cx="540000" cy="441818"/>
          </a:xfrm>
          <a:prstGeom prst="rect">
            <a:avLst/>
          </a:prstGeom>
        </p:spPr>
      </p:pic>
      <p:sp>
        <p:nvSpPr>
          <p:cNvPr id="28" name="椭圆 27"/>
          <p:cNvSpPr>
            <a:spLocks noChangeAspect="1"/>
          </p:cNvSpPr>
          <p:nvPr/>
        </p:nvSpPr>
        <p:spPr bwMode="gray">
          <a:xfrm>
            <a:off x="4347358" y="2979888"/>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椭圆 28"/>
          <p:cNvSpPr>
            <a:spLocks noChangeAspect="1"/>
          </p:cNvSpPr>
          <p:nvPr/>
        </p:nvSpPr>
        <p:spPr bwMode="gray">
          <a:xfrm>
            <a:off x="4031104" y="3179877"/>
            <a:ext cx="232480" cy="232480"/>
          </a:xfrm>
          <a:prstGeom prst="ellipse">
            <a:avLst/>
          </a:prstGeom>
          <a:solidFill>
            <a:srgbClr val="C7000B"/>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0" name="图片 11" descr="开放网络-蓝.png"/>
          <p:cNvPicPr>
            <a:picLocks noChangeAspect="1"/>
          </p:cNvPicPr>
          <p:nvPr/>
        </p:nvPicPr>
        <p:blipFill>
          <a:blip r:embed="rId4" cstate="print"/>
          <a:stretch>
            <a:fillRect/>
          </a:stretch>
        </p:blipFill>
        <p:spPr bwMode="gray">
          <a:xfrm>
            <a:off x="3671900" y="3791586"/>
            <a:ext cx="490552" cy="377619"/>
          </a:xfrm>
          <a:prstGeom prst="rect">
            <a:avLst/>
          </a:prstGeom>
        </p:spPr>
      </p:pic>
      <p:grpSp>
        <p:nvGrpSpPr>
          <p:cNvPr id="69" name="组合 68"/>
          <p:cNvGrpSpPr/>
          <p:nvPr/>
        </p:nvGrpSpPr>
        <p:grpSpPr bwMode="gray">
          <a:xfrm>
            <a:off x="4692991" y="4868310"/>
            <a:ext cx="1051117" cy="276999"/>
            <a:chOff x="3002769" y="5268536"/>
            <a:chExt cx="1051117" cy="276999"/>
          </a:xfrm>
        </p:grpSpPr>
        <p:sp>
          <p:nvSpPr>
            <p:cNvPr id="70" name="椭圆 69"/>
            <p:cNvSpPr>
              <a:spLocks noChangeAspect="1"/>
            </p:cNvSpPr>
            <p:nvPr/>
          </p:nvSpPr>
          <p:spPr bwMode="gray">
            <a:xfrm>
              <a:off x="3002769" y="5317035"/>
              <a:ext cx="180000" cy="180000"/>
            </a:xfrm>
            <a:prstGeom prst="ellipse">
              <a:avLst/>
            </a:prstGeom>
            <a:solidFill>
              <a:srgbClr val="62B23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E</a:t>
              </a:r>
              <a:endParaRPr lang="zh-CN" altLang="en-US"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文本框 70"/>
            <p:cNvSpPr txBox="1"/>
            <p:nvPr/>
          </p:nvSpPr>
          <p:spPr bwMode="gray">
            <a:xfrm>
              <a:off x="3140430" y="5268536"/>
              <a:ext cx="913456" cy="276999"/>
            </a:xfrm>
            <a:prstGeom prst="rect">
              <a:avLst/>
            </a:prstGeom>
            <a:noFill/>
          </p:spPr>
          <p:txBody>
            <a:bodyPr wrap="square" rtlCol="0">
              <a:spAutoFit/>
            </a:bodyPr>
            <a:lstStyle>
              <a:defPPr>
                <a:defRPr lang="en-US"/>
              </a:defPPr>
              <a:lvl1pPr fontAlgn="auto">
                <a:spcBef>
                  <a:spcPts val="0"/>
                </a:spcBef>
                <a:spcAft>
                  <a:spcPts val="0"/>
                </a:spcAft>
                <a:defRPr sz="1200" b="1">
                  <a:solidFill>
                    <a:srgbClr val="FF9900"/>
                  </a:solidFill>
                </a:defRPr>
              </a:lvl1pPr>
            </a:lstStyle>
            <a:p>
              <a:r>
                <a:rPr lang="zh-CN" altLang="en-US" dirty="0">
                  <a:solidFill>
                    <a:srgbClr val="62B230"/>
                  </a:solidFill>
                  <a:latin typeface="Huawei Sans" panose="020C0503030203020204" pitchFamily="34" charset="0"/>
                  <a:ea typeface="方正兰亭黑简体" panose="02000000000000000000" pitchFamily="2" charset="-122"/>
                  <a:sym typeface="Huawei Sans" panose="020C0503030203020204" pitchFamily="34" charset="0"/>
                </a:rPr>
                <a:t>边缘端口</a:t>
              </a:r>
            </a:p>
          </p:txBody>
        </p:sp>
      </p:grpSp>
      <p:sp>
        <p:nvSpPr>
          <p:cNvPr id="73" name="椭圆 72"/>
          <p:cNvSpPr>
            <a:spLocks noChangeAspect="1"/>
          </p:cNvSpPr>
          <p:nvPr/>
        </p:nvSpPr>
        <p:spPr bwMode="gray">
          <a:xfrm>
            <a:off x="4144518" y="3416362"/>
            <a:ext cx="232480" cy="232480"/>
          </a:xfrm>
          <a:prstGeom prst="ellipse">
            <a:avLst/>
          </a:prstGeom>
          <a:solidFill>
            <a:srgbClr val="62B23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E</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椭圆 73"/>
          <p:cNvSpPr>
            <a:spLocks noChangeAspect="1"/>
          </p:cNvSpPr>
          <p:nvPr/>
        </p:nvSpPr>
        <p:spPr bwMode="gray">
          <a:xfrm>
            <a:off x="4546927" y="3416362"/>
            <a:ext cx="232480" cy="232480"/>
          </a:xfrm>
          <a:prstGeom prst="ellipse">
            <a:avLst/>
          </a:prstGeom>
          <a:solidFill>
            <a:srgbClr val="62B23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E</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五边形 50"/>
          <p:cNvSpPr/>
          <p:nvPr/>
        </p:nvSpPr>
        <p:spPr bwMode="auto">
          <a:xfrm>
            <a:off x="6179960" y="98481"/>
            <a:ext cx="94884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以太网交换</a:t>
            </a:r>
          </a:p>
        </p:txBody>
      </p:sp>
      <p:sp>
        <p:nvSpPr>
          <p:cNvPr id="52" name="燕尾形 51"/>
          <p:cNvSpPr/>
          <p:nvPr/>
        </p:nvSpPr>
        <p:spPr bwMode="auto">
          <a:xfrm>
            <a:off x="7049907" y="98481"/>
            <a:ext cx="678521"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燕尾形 52"/>
          <p:cNvSpPr/>
          <p:nvPr/>
        </p:nvSpPr>
        <p:spPr bwMode="auto">
          <a:xfrm>
            <a:off x="7649535" y="98481"/>
            <a:ext cx="87595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无线接入</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燕尾形 53"/>
          <p:cNvSpPr/>
          <p:nvPr/>
        </p:nvSpPr>
        <p:spPr bwMode="auto">
          <a:xfrm>
            <a:off x="8446601"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可靠性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燕尾形 54"/>
          <p:cNvSpPr/>
          <p:nvPr/>
        </p:nvSpPr>
        <p:spPr bwMode="auto">
          <a:xfrm>
            <a:off x="9148908" y="98481"/>
            <a:ext cx="87048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网络安全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燕尾形 61"/>
          <p:cNvSpPr/>
          <p:nvPr/>
        </p:nvSpPr>
        <p:spPr bwMode="auto">
          <a:xfrm>
            <a:off x="9940504" y="98481"/>
            <a:ext cx="130400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网络服务与管理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燕尾形 62"/>
          <p:cNvSpPr/>
          <p:nvPr/>
        </p:nvSpPr>
        <p:spPr bwMode="auto">
          <a:xfrm>
            <a:off x="11165613" y="98481"/>
            <a:ext cx="583475"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出口</a:t>
            </a:r>
          </a:p>
        </p:txBody>
      </p:sp>
    </p:spTree>
    <p:extLst>
      <p:ext uri="{BB962C8B-B14F-4D97-AF65-F5344CB8AC3E}">
        <p14:creationId xmlns:p14="http://schemas.microsoft.com/office/powerpoint/2010/main" val="1596720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sym typeface="Huawei Sans" panose="020C0503030203020204" pitchFamily="34" charset="0"/>
              </a:rPr>
              <a:t>多生成树</a:t>
            </a:r>
          </a:p>
        </p:txBody>
      </p:sp>
      <p:sp>
        <p:nvSpPr>
          <p:cNvPr id="94" name="矩形 93"/>
          <p:cNvSpPr/>
          <p:nvPr/>
        </p:nvSpPr>
        <p:spPr bwMode="gray">
          <a:xfrm>
            <a:off x="6096000" y="1491510"/>
            <a:ext cx="5543935" cy="4542782"/>
          </a:xfrm>
          <a:prstGeom prst="rect">
            <a:avLst/>
          </a:prstGeom>
        </p:spPr>
        <p:txBody>
          <a:bodyPr wrap="square">
            <a:spAutoFit/>
          </a:bodyPr>
          <a:lstStyle/>
          <a:p>
            <a:pPr marL="302279" lvl="0" indent="-302279" algn="just" defTabSz="914034">
              <a:lnSpc>
                <a:spcPct val="140000"/>
              </a:lnSpc>
              <a:spcBef>
                <a:spcPts val="792"/>
              </a:spcBef>
              <a:buSzPct val="50000"/>
              <a:buFont typeface="Wingdings" panose="05000000000000000000" pitchFamily="2" charset="2"/>
              <a:buChar char="l"/>
            </a:pP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多生成树协议（</a:t>
            </a:r>
            <a:r>
              <a:rPr lang="en-US" altLang="zh-CN" sz="1400" dirty="0">
                <a:sym typeface="Huawei Sans" panose="020C0503030203020204" pitchFamily="34" charset="0"/>
              </a:rPr>
              <a:t>Multiple Spanning Tree Protocol</a:t>
            </a:r>
            <a:r>
              <a:rPr lang="zh-CN" altLang="en-US" sz="1400" dirty="0">
                <a:sym typeface="Huawei Sans" panose="020C0503030203020204" pitchFamily="34" charset="0"/>
              </a:rPr>
              <a:t>，</a:t>
            </a:r>
            <a:r>
              <a:rPr lang="en-US" altLang="zh-CN" sz="1400" dirty="0">
                <a:sym typeface="Huawei Sans" panose="020C0503030203020204" pitchFamily="34" charset="0"/>
              </a:rPr>
              <a:t>MSTP</a:t>
            </a: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）是</a:t>
            </a:r>
            <a:r>
              <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IEEE 802.1s</a:t>
            </a: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中定义的生成树协议，</a:t>
            </a:r>
            <a:r>
              <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MSTP</a:t>
            </a: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兼容</a:t>
            </a:r>
            <a:r>
              <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STP</a:t>
            </a: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和</a:t>
            </a:r>
            <a:r>
              <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RSTP</a:t>
            </a: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，既可以快速收敛，又提供了数据转发的多个冗余路径，在数据转发过程中实现</a:t>
            </a:r>
            <a:r>
              <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VLAN</a:t>
            </a: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数据的负载均衡。</a:t>
            </a:r>
          </a:p>
          <a:p>
            <a:pPr marL="302279" lvl="0" indent="-302279" algn="just" defTabSz="914034">
              <a:lnSpc>
                <a:spcPct val="140000"/>
              </a:lnSpc>
              <a:spcBef>
                <a:spcPts val="792"/>
              </a:spcBef>
              <a:buSzPct val="50000"/>
              <a:buFont typeface="Wingdings" panose="05000000000000000000" pitchFamily="2" charset="2"/>
              <a:buChar char="l"/>
            </a:pPr>
            <a:r>
              <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MSTP</a:t>
            </a: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网络中包含</a:t>
            </a:r>
            <a:r>
              <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a:t>
            </a: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个或多个</a:t>
            </a:r>
            <a:r>
              <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MST</a:t>
            </a: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域（</a:t>
            </a:r>
            <a:r>
              <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MST Region</a:t>
            </a: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），每个</a:t>
            </a:r>
            <a:r>
              <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MST Region</a:t>
            </a: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中包含一个或多个</a:t>
            </a:r>
            <a:r>
              <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MSTI</a:t>
            </a: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。组成</a:t>
            </a:r>
            <a:r>
              <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MSTI</a:t>
            </a: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的是运行</a:t>
            </a:r>
            <a:r>
              <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STP/RSTP/MSTP</a:t>
            </a: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的交换设备，</a:t>
            </a:r>
            <a:r>
              <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MSTI</a:t>
            </a: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是所有运行</a:t>
            </a:r>
            <a:r>
              <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STP/RSTP/MSTP</a:t>
            </a: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的交换设备经</a:t>
            </a:r>
            <a:r>
              <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MSTP</a:t>
            </a: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协议计算后形成的树状网络。</a:t>
            </a:r>
            <a:endPar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302279" lvl="0" indent="-302279" algn="just" defTabSz="914034">
              <a:lnSpc>
                <a:spcPct val="140000"/>
              </a:lnSpc>
              <a:spcBef>
                <a:spcPts val="792"/>
              </a:spcBef>
              <a:buSzPct val="50000"/>
              <a:buFont typeface="Wingdings" panose="05000000000000000000" pitchFamily="2" charset="2"/>
              <a:buChar char="l"/>
            </a:pP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同一个</a:t>
            </a:r>
            <a:r>
              <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MST</a:t>
            </a: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域的设备具有下列特点：</a:t>
            </a:r>
          </a:p>
          <a:p>
            <a:pPr marL="759519" lvl="1" indent="-302279" algn="just" defTabSz="914034">
              <a:lnSpc>
                <a:spcPct val="140000"/>
              </a:lnSpc>
              <a:spcBef>
                <a:spcPts val="792"/>
              </a:spcBef>
              <a:buSzPct val="50000"/>
              <a:buFont typeface="Wingdings" panose="05000000000000000000" pitchFamily="2" charset="2"/>
              <a:buChar char="p"/>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都启动了</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MSTP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759519" lvl="1" indent="-302279" algn="just" defTabSz="914034">
              <a:lnSpc>
                <a:spcPct val="140000"/>
              </a:lnSpc>
              <a:spcBef>
                <a:spcPts val="792"/>
              </a:spcBef>
              <a:buSzPct val="50000"/>
              <a:buFont typeface="Wingdings" panose="05000000000000000000" pitchFamily="2" charset="2"/>
              <a:buChar char="p"/>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具有相同的域名。</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759519" lvl="1" indent="-302279" algn="just" defTabSz="914034">
              <a:lnSpc>
                <a:spcPct val="140000"/>
              </a:lnSpc>
              <a:spcBef>
                <a:spcPts val="792"/>
              </a:spcBef>
              <a:buSzPct val="50000"/>
              <a:buFont typeface="Wingdings" panose="05000000000000000000" pitchFamily="2" charset="2"/>
              <a:buChar char="p"/>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具有相同的</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到生成树实例映射配置。</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759519" lvl="1" indent="-302279" algn="just" defTabSz="914034">
              <a:lnSpc>
                <a:spcPct val="140000"/>
              </a:lnSpc>
              <a:spcBef>
                <a:spcPts val="792"/>
              </a:spcBef>
              <a:buSzPct val="50000"/>
              <a:buFont typeface="Wingdings" panose="05000000000000000000" pitchFamily="2" charset="2"/>
              <a:buChar char="p"/>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具有相同的</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MSTP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修订级别配置。</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95" name="图片 9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322490" y="2124510"/>
            <a:ext cx="540000" cy="442800"/>
          </a:xfrm>
          <a:prstGeom prst="rect">
            <a:avLst/>
          </a:prstGeom>
        </p:spPr>
      </p:pic>
      <p:pic>
        <p:nvPicPr>
          <p:cNvPr id="96" name="图片 95"/>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342200" y="2124510"/>
            <a:ext cx="540000" cy="442800"/>
          </a:xfrm>
          <a:prstGeom prst="rect">
            <a:avLst/>
          </a:prstGeom>
        </p:spPr>
      </p:pic>
      <p:cxnSp>
        <p:nvCxnSpPr>
          <p:cNvPr id="97" name="直接连接符 96"/>
          <p:cNvCxnSpPr>
            <a:endCxn id="104" idx="1"/>
          </p:cNvCxnSpPr>
          <p:nvPr/>
        </p:nvCxnSpPr>
        <p:spPr bwMode="gray">
          <a:xfrm>
            <a:off x="1597846" y="2573209"/>
            <a:ext cx="1238331" cy="1362041"/>
          </a:xfrm>
          <a:prstGeom prst="line">
            <a:avLst/>
          </a:prstGeom>
          <a:noFill/>
          <a:ln w="19050" cap="flat" cmpd="sng" algn="ctr">
            <a:solidFill>
              <a:srgbClr val="151515"/>
            </a:solidFill>
            <a:prstDash val="solid"/>
            <a:miter lim="800000"/>
          </a:ln>
          <a:effectLst/>
        </p:spPr>
      </p:cxnSp>
      <p:cxnSp>
        <p:nvCxnSpPr>
          <p:cNvPr id="98" name="直接连接符 97"/>
          <p:cNvCxnSpPr>
            <a:stCxn id="104" idx="3"/>
          </p:cNvCxnSpPr>
          <p:nvPr/>
        </p:nvCxnSpPr>
        <p:spPr bwMode="gray">
          <a:xfrm flipV="1">
            <a:off x="3376177" y="2573209"/>
            <a:ext cx="1241894" cy="1362041"/>
          </a:xfrm>
          <a:prstGeom prst="line">
            <a:avLst/>
          </a:prstGeom>
          <a:noFill/>
          <a:ln w="19050" cap="flat" cmpd="sng" algn="ctr">
            <a:solidFill>
              <a:srgbClr val="151515"/>
            </a:solidFill>
            <a:prstDash val="solid"/>
            <a:miter lim="800000"/>
          </a:ln>
          <a:effectLst/>
        </p:spPr>
      </p:cxnSp>
      <p:sp>
        <p:nvSpPr>
          <p:cNvPr id="99" name="文本框 98"/>
          <p:cNvSpPr txBox="1"/>
          <p:nvPr/>
        </p:nvSpPr>
        <p:spPr bwMode="gray">
          <a:xfrm>
            <a:off x="4847630" y="2196152"/>
            <a:ext cx="562975" cy="307777"/>
          </a:xfrm>
          <a:prstGeom prst="rect">
            <a:avLst/>
          </a:prstGeom>
          <a:noFill/>
        </p:spPr>
        <p:txBody>
          <a:bodyPr wrap="none" rtlCol="0">
            <a:spAutoFit/>
          </a:bodyPr>
          <a:lstStyle>
            <a:defPPr>
              <a:defRPr lang="en-US"/>
            </a:defPPr>
            <a:lvl1pPr marR="0" lvl="0" indent="0" algn="ctr" fontAlgn="auto">
              <a:spcBef>
                <a:spcPts val="0"/>
              </a:spcBef>
              <a:spcAft>
                <a:spcPts val="0"/>
              </a:spcAft>
              <a:buClrTx/>
              <a:buSzTx/>
              <a:buFontTx/>
              <a:buNone/>
              <a:tabLst/>
              <a:defRPr kumimoji="0" sz="1400" b="0" i="0" u="none" strike="noStrike" kern="0" cap="none" spc="0" normalizeH="0" baseline="0">
                <a:ln>
                  <a:noFill/>
                </a:ln>
                <a:solidFill>
                  <a:srgbClr val="1D1D1A"/>
                </a:solidFill>
                <a:effectLst/>
                <a:uLnTx/>
                <a:uFillTx/>
              </a:defRPr>
            </a:lvl1p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文本框 99"/>
          <p:cNvSpPr txBox="1"/>
          <p:nvPr/>
        </p:nvSpPr>
        <p:spPr bwMode="gray">
          <a:xfrm>
            <a:off x="2832092" y="3245981"/>
            <a:ext cx="556563" cy="463653"/>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SW3</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1" name="文本框 100"/>
          <p:cNvSpPr txBox="1"/>
          <p:nvPr/>
        </p:nvSpPr>
        <p:spPr bwMode="gray">
          <a:xfrm>
            <a:off x="795744" y="2196152"/>
            <a:ext cx="572593" cy="307777"/>
          </a:xfrm>
          <a:prstGeom prst="rect">
            <a:avLst/>
          </a:prstGeom>
          <a:noFill/>
        </p:spPr>
        <p:txBody>
          <a:bodyPr wrap="none" rtlCol="0">
            <a:spAutoFit/>
          </a:bodyPr>
          <a:lstStyle/>
          <a:p>
            <a:pPr marL="0" marR="0" lvl="0" indent="0" algn="ctr" defTabSz="914478" eaLnBrk="1" fontAlgn="auto" latinLnBrk="0" hangingPunct="1">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SW1</a:t>
            </a:r>
          </a:p>
        </p:txBody>
      </p:sp>
      <p:cxnSp>
        <p:nvCxnSpPr>
          <p:cNvPr id="102" name="直接箭头连接符 101"/>
          <p:cNvCxnSpPr/>
          <p:nvPr/>
        </p:nvCxnSpPr>
        <p:spPr bwMode="gray">
          <a:xfrm>
            <a:off x="1867846" y="2351809"/>
            <a:ext cx="2480225" cy="0"/>
          </a:xfrm>
          <a:prstGeom prst="straightConnector1">
            <a:avLst/>
          </a:prstGeom>
          <a:noFill/>
          <a:ln w="19050" cap="flat" cmpd="sng" algn="ctr">
            <a:solidFill>
              <a:srgbClr val="1D1D1A"/>
            </a:solidFill>
            <a:prstDash val="solid"/>
            <a:miter lim="800000"/>
            <a:headEnd type="none" w="med" len="med"/>
            <a:tailEnd type="none" w="med" len="med"/>
          </a:ln>
          <a:effectLst/>
        </p:spPr>
      </p:cxnSp>
      <p:cxnSp>
        <p:nvCxnSpPr>
          <p:cNvPr id="103" name="直接连接符 102"/>
          <p:cNvCxnSpPr>
            <a:stCxn id="114" idx="0"/>
            <a:endCxn id="104" idx="2"/>
          </p:cNvCxnSpPr>
          <p:nvPr/>
        </p:nvCxnSpPr>
        <p:spPr bwMode="gray">
          <a:xfrm flipV="1">
            <a:off x="2448953" y="4156650"/>
            <a:ext cx="657224" cy="563008"/>
          </a:xfrm>
          <a:prstGeom prst="line">
            <a:avLst/>
          </a:prstGeom>
          <a:noFill/>
          <a:ln w="19050" cap="flat" cmpd="sng" algn="ctr">
            <a:solidFill>
              <a:srgbClr val="151515"/>
            </a:solidFill>
            <a:prstDash val="solid"/>
            <a:miter lim="800000"/>
          </a:ln>
          <a:effectLst/>
        </p:spPr>
      </p:cxnSp>
      <p:pic>
        <p:nvPicPr>
          <p:cNvPr id="104" name="图片 10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2836177" y="3713850"/>
            <a:ext cx="540000" cy="442800"/>
          </a:xfrm>
          <a:prstGeom prst="rect">
            <a:avLst/>
          </a:prstGeom>
        </p:spPr>
      </p:pic>
      <p:pic>
        <p:nvPicPr>
          <p:cNvPr id="114" name="图片 113" descr="PC.png"/>
          <p:cNvPicPr>
            <a:picLocks noChangeAspect="1"/>
          </p:cNvPicPr>
          <p:nvPr/>
        </p:nvPicPr>
        <p:blipFill>
          <a:blip r:embed="rId5" cstate="print"/>
          <a:stretch>
            <a:fillRect/>
          </a:stretch>
        </p:blipFill>
        <p:spPr bwMode="gray">
          <a:xfrm>
            <a:off x="2179421" y="4719658"/>
            <a:ext cx="539063" cy="414000"/>
          </a:xfrm>
          <a:prstGeom prst="rect">
            <a:avLst/>
          </a:prstGeom>
        </p:spPr>
      </p:pic>
      <p:sp>
        <p:nvSpPr>
          <p:cNvPr id="116" name="任意多边形 115"/>
          <p:cNvSpPr/>
          <p:nvPr/>
        </p:nvSpPr>
        <p:spPr bwMode="auto">
          <a:xfrm>
            <a:off x="1996115" y="1798912"/>
            <a:ext cx="888642" cy="2768957"/>
          </a:xfrm>
          <a:custGeom>
            <a:avLst/>
            <a:gdLst>
              <a:gd name="connsiteX0" fmla="*/ 0 w 888642"/>
              <a:gd name="connsiteY0" fmla="*/ 0 h 2768957"/>
              <a:gd name="connsiteX1" fmla="*/ 0 w 888642"/>
              <a:gd name="connsiteY1" fmla="*/ 785611 h 2768957"/>
              <a:gd name="connsiteX2" fmla="*/ 888642 w 888642"/>
              <a:gd name="connsiteY2" fmla="*/ 1674253 h 2768957"/>
              <a:gd name="connsiteX3" fmla="*/ 862884 w 888642"/>
              <a:gd name="connsiteY3" fmla="*/ 2768957 h 2768957"/>
            </a:gdLst>
            <a:ahLst/>
            <a:cxnLst>
              <a:cxn ang="0">
                <a:pos x="connsiteX0" y="connsiteY0"/>
              </a:cxn>
              <a:cxn ang="0">
                <a:pos x="connsiteX1" y="connsiteY1"/>
              </a:cxn>
              <a:cxn ang="0">
                <a:pos x="connsiteX2" y="connsiteY2"/>
              </a:cxn>
              <a:cxn ang="0">
                <a:pos x="connsiteX3" y="connsiteY3"/>
              </a:cxn>
            </a:cxnLst>
            <a:rect l="l" t="t" r="r" b="b"/>
            <a:pathLst>
              <a:path w="888642" h="2768957">
                <a:moveTo>
                  <a:pt x="0" y="0"/>
                </a:moveTo>
                <a:lnTo>
                  <a:pt x="0" y="785611"/>
                </a:lnTo>
                <a:lnTo>
                  <a:pt x="888642" y="1674253"/>
                </a:lnTo>
                <a:lnTo>
                  <a:pt x="862884" y="2768957"/>
                </a:lnTo>
              </a:path>
            </a:pathLst>
          </a:custGeom>
          <a:noFill/>
          <a:ln w="57150">
            <a:solidFill>
              <a:srgbClr val="FFD17D"/>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7" name="圆角矩形 116"/>
          <p:cNvSpPr/>
          <p:nvPr/>
        </p:nvSpPr>
        <p:spPr bwMode="gray">
          <a:xfrm>
            <a:off x="2347389" y="2641337"/>
            <a:ext cx="952358" cy="381287"/>
          </a:xfrm>
          <a:prstGeom prst="roundRect">
            <a:avLst/>
          </a:prstGeom>
          <a:no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数据流量</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8" name="任意多边形 117"/>
          <p:cNvSpPr/>
          <p:nvPr/>
        </p:nvSpPr>
        <p:spPr bwMode="auto">
          <a:xfrm flipH="1">
            <a:off x="3355901" y="1787339"/>
            <a:ext cx="888642" cy="2768957"/>
          </a:xfrm>
          <a:custGeom>
            <a:avLst/>
            <a:gdLst>
              <a:gd name="connsiteX0" fmla="*/ 0 w 888642"/>
              <a:gd name="connsiteY0" fmla="*/ 0 h 2768957"/>
              <a:gd name="connsiteX1" fmla="*/ 0 w 888642"/>
              <a:gd name="connsiteY1" fmla="*/ 785611 h 2768957"/>
              <a:gd name="connsiteX2" fmla="*/ 888642 w 888642"/>
              <a:gd name="connsiteY2" fmla="*/ 1674253 h 2768957"/>
              <a:gd name="connsiteX3" fmla="*/ 862884 w 888642"/>
              <a:gd name="connsiteY3" fmla="*/ 2768957 h 2768957"/>
            </a:gdLst>
            <a:ahLst/>
            <a:cxnLst>
              <a:cxn ang="0">
                <a:pos x="connsiteX0" y="connsiteY0"/>
              </a:cxn>
              <a:cxn ang="0">
                <a:pos x="connsiteX1" y="connsiteY1"/>
              </a:cxn>
              <a:cxn ang="0">
                <a:pos x="connsiteX2" y="connsiteY2"/>
              </a:cxn>
              <a:cxn ang="0">
                <a:pos x="connsiteX3" y="connsiteY3"/>
              </a:cxn>
            </a:cxnLst>
            <a:rect l="l" t="t" r="r" b="b"/>
            <a:pathLst>
              <a:path w="888642" h="2768957">
                <a:moveTo>
                  <a:pt x="0" y="0"/>
                </a:moveTo>
                <a:lnTo>
                  <a:pt x="0" y="785611"/>
                </a:lnTo>
                <a:lnTo>
                  <a:pt x="888642" y="1674253"/>
                </a:lnTo>
                <a:lnTo>
                  <a:pt x="862884" y="2768957"/>
                </a:lnTo>
              </a:path>
            </a:pathLst>
          </a:custGeom>
          <a:noFill/>
          <a:ln w="57150">
            <a:solidFill>
              <a:srgbClr val="99DFF9"/>
            </a:solidFill>
            <a:prstDash val="sysDot"/>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20" name="直接连接符 119"/>
          <p:cNvCxnSpPr>
            <a:stCxn id="122" idx="0"/>
            <a:endCxn id="104" idx="2"/>
          </p:cNvCxnSpPr>
          <p:nvPr/>
        </p:nvCxnSpPr>
        <p:spPr bwMode="gray">
          <a:xfrm flipH="1" flipV="1">
            <a:off x="3106177" y="4156650"/>
            <a:ext cx="567639" cy="572533"/>
          </a:xfrm>
          <a:prstGeom prst="line">
            <a:avLst/>
          </a:prstGeom>
          <a:noFill/>
          <a:ln w="19050" cap="flat" cmpd="sng" algn="ctr">
            <a:solidFill>
              <a:srgbClr val="151515"/>
            </a:solidFill>
            <a:prstDash val="solid"/>
            <a:miter lim="800000"/>
          </a:ln>
          <a:effectLst/>
        </p:spPr>
      </p:cxnSp>
      <p:pic>
        <p:nvPicPr>
          <p:cNvPr id="122" name="图片 121" descr="PC.png"/>
          <p:cNvPicPr>
            <a:picLocks noChangeAspect="1"/>
          </p:cNvPicPr>
          <p:nvPr/>
        </p:nvPicPr>
        <p:blipFill>
          <a:blip r:embed="rId5" cstate="print"/>
          <a:stretch>
            <a:fillRect/>
          </a:stretch>
        </p:blipFill>
        <p:spPr bwMode="gray">
          <a:xfrm>
            <a:off x="3404284" y="4729183"/>
            <a:ext cx="539063" cy="414000"/>
          </a:xfrm>
          <a:prstGeom prst="rect">
            <a:avLst/>
          </a:prstGeom>
        </p:spPr>
      </p:pic>
      <p:sp>
        <p:nvSpPr>
          <p:cNvPr id="22" name="五边形 21"/>
          <p:cNvSpPr/>
          <p:nvPr/>
        </p:nvSpPr>
        <p:spPr bwMode="auto">
          <a:xfrm>
            <a:off x="6179960" y="98481"/>
            <a:ext cx="94884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以太网交换</a:t>
            </a:r>
          </a:p>
        </p:txBody>
      </p:sp>
      <p:sp>
        <p:nvSpPr>
          <p:cNvPr id="23" name="燕尾形 22"/>
          <p:cNvSpPr/>
          <p:nvPr/>
        </p:nvSpPr>
        <p:spPr bwMode="auto">
          <a:xfrm>
            <a:off x="7049907" y="98481"/>
            <a:ext cx="678521"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燕尾形 23"/>
          <p:cNvSpPr/>
          <p:nvPr/>
        </p:nvSpPr>
        <p:spPr bwMode="auto">
          <a:xfrm>
            <a:off x="7649535" y="98481"/>
            <a:ext cx="87595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无线接入</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燕尾形 24"/>
          <p:cNvSpPr/>
          <p:nvPr/>
        </p:nvSpPr>
        <p:spPr bwMode="auto">
          <a:xfrm>
            <a:off x="8446601"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可靠性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燕尾形 25"/>
          <p:cNvSpPr/>
          <p:nvPr/>
        </p:nvSpPr>
        <p:spPr bwMode="auto">
          <a:xfrm>
            <a:off x="9148908" y="98481"/>
            <a:ext cx="87048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网络安全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燕尾形 26"/>
          <p:cNvSpPr/>
          <p:nvPr/>
        </p:nvSpPr>
        <p:spPr bwMode="auto">
          <a:xfrm>
            <a:off x="9940504" y="98481"/>
            <a:ext cx="130400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网络服务与管理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燕尾形 27"/>
          <p:cNvSpPr/>
          <p:nvPr/>
        </p:nvSpPr>
        <p:spPr bwMode="auto">
          <a:xfrm>
            <a:off x="11165613" y="98481"/>
            <a:ext cx="583475"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出口</a:t>
            </a:r>
          </a:p>
        </p:txBody>
      </p:sp>
      <p:sp>
        <p:nvSpPr>
          <p:cNvPr id="29" name="圆角矩形 28"/>
          <p:cNvSpPr/>
          <p:nvPr/>
        </p:nvSpPr>
        <p:spPr bwMode="gray">
          <a:xfrm>
            <a:off x="142824" y="4611606"/>
            <a:ext cx="2074187" cy="623215"/>
          </a:xfrm>
          <a:prstGeom prst="roundRect">
            <a:avLst/>
          </a:prstGeom>
          <a:no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Instance1</a:t>
            </a:r>
          </a:p>
          <a:p>
            <a:pPr algn="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VLAN1</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3</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…10</a:t>
            </a:r>
          </a:p>
        </p:txBody>
      </p:sp>
      <p:sp>
        <p:nvSpPr>
          <p:cNvPr id="30" name="圆角矩形 29"/>
          <p:cNvSpPr/>
          <p:nvPr/>
        </p:nvSpPr>
        <p:spPr bwMode="gray">
          <a:xfrm>
            <a:off x="3930225" y="4611606"/>
            <a:ext cx="2284724" cy="623215"/>
          </a:xfrm>
          <a:prstGeom prst="roundRect">
            <a:avLst/>
          </a:prstGeom>
          <a:no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Instance2</a:t>
            </a:r>
          </a:p>
          <a:p>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VLAN11</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12</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13</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…20</a:t>
            </a:r>
          </a:p>
        </p:txBody>
      </p:sp>
    </p:spTree>
    <p:extLst>
      <p:ext uri="{BB962C8B-B14F-4D97-AF65-F5344CB8AC3E}">
        <p14:creationId xmlns:p14="http://schemas.microsoft.com/office/powerpoint/2010/main" val="30207058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圆角矩形 107"/>
          <p:cNvSpPr>
            <a:spLocks/>
          </p:cNvSpPr>
          <p:nvPr/>
        </p:nvSpPr>
        <p:spPr bwMode="gray">
          <a:xfrm>
            <a:off x="3350232" y="3556157"/>
            <a:ext cx="1562093" cy="1257899"/>
          </a:xfrm>
          <a:prstGeom prst="roundRect">
            <a:avLst>
              <a:gd name="adj" fmla="val 8101"/>
            </a:avLst>
          </a:prstGeom>
          <a:solidFill>
            <a:srgbClr val="EAF8FA"/>
          </a:solidFill>
          <a:ln w="19050" cap="flat" cmpd="sng" algn="ctr">
            <a:solidFill>
              <a:srgbClr val="94DAE2">
                <a:alpha val="80000"/>
              </a:srgbClr>
            </a:solidFill>
            <a:prstDash val="sys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784225" eaLnBrk="0" fontAlgn="base" hangingPunct="0">
              <a:spcBef>
                <a:spcPct val="0"/>
              </a:spcBef>
              <a:spcAft>
                <a:spcPct val="0"/>
              </a:spcAft>
            </a:pPr>
            <a:endParaRPr lang="zh-CN" altLang="en-US" sz="21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7" name="圆角矩形 106"/>
          <p:cNvSpPr>
            <a:spLocks/>
          </p:cNvSpPr>
          <p:nvPr/>
        </p:nvSpPr>
        <p:spPr bwMode="gray">
          <a:xfrm>
            <a:off x="1349076" y="3556156"/>
            <a:ext cx="1562093" cy="1257899"/>
          </a:xfrm>
          <a:prstGeom prst="roundRect">
            <a:avLst>
              <a:gd name="adj" fmla="val 8101"/>
            </a:avLst>
          </a:prstGeom>
          <a:solidFill>
            <a:srgbClr val="EAF8FA"/>
          </a:solidFill>
          <a:ln w="19050" cap="flat" cmpd="sng" algn="ctr">
            <a:solidFill>
              <a:srgbClr val="94DAE2">
                <a:alpha val="80000"/>
              </a:srgbClr>
            </a:solidFill>
            <a:prstDash val="sys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784225" eaLnBrk="0" fontAlgn="base" hangingPunct="0">
              <a:spcBef>
                <a:spcPct val="0"/>
              </a:spcBef>
              <a:spcAft>
                <a:spcPct val="0"/>
              </a:spcAft>
            </a:pPr>
            <a:endParaRPr lang="zh-CN" altLang="en-US" sz="21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6" name="圆角矩形 105"/>
          <p:cNvSpPr/>
          <p:nvPr/>
        </p:nvSpPr>
        <p:spPr bwMode="gray">
          <a:xfrm>
            <a:off x="1349077" y="1484313"/>
            <a:ext cx="3563248" cy="2017452"/>
          </a:xfrm>
          <a:prstGeom prst="roundRect">
            <a:avLst>
              <a:gd name="adj" fmla="val 8529"/>
            </a:avLst>
          </a:prstGeom>
          <a:solidFill>
            <a:srgbClr val="FEF5DA"/>
          </a:solidFill>
          <a:ln w="19050" cap="flat" cmpd="sng" algn="ctr">
            <a:solidFill>
              <a:schemeClr val="accent4">
                <a:lumMod val="75000"/>
                <a:alpha val="80000"/>
              </a:schemeClr>
            </a:solidFill>
            <a:prstDash val="sys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784225" eaLnBrk="0" fontAlgn="base" hangingPunct="0">
              <a:spcBef>
                <a:spcPct val="0"/>
              </a:spcBef>
              <a:spcAft>
                <a:spcPct val="0"/>
              </a:spcAft>
            </a:pPr>
            <a:endParaRPr lang="zh-CN" altLang="en-US" sz="21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en-US" altLang="zh-CN" dirty="0">
                <a:sym typeface="Huawei Sans" panose="020C0503030203020204" pitchFamily="34" charset="0"/>
              </a:rPr>
              <a:t>OSPFv2</a:t>
            </a:r>
            <a:endParaRPr lang="zh-CN" altLang="en-US" dirty="0">
              <a:sym typeface="Huawei Sans" panose="020C0503030203020204" pitchFamily="34" charset="0"/>
            </a:endParaRPr>
          </a:p>
        </p:txBody>
      </p:sp>
      <p:cxnSp>
        <p:nvCxnSpPr>
          <p:cNvPr id="10" name="Straight Connector 74"/>
          <p:cNvCxnSpPr/>
          <p:nvPr/>
        </p:nvCxnSpPr>
        <p:spPr bwMode="gray">
          <a:xfrm flipV="1">
            <a:off x="4571569" y="4620059"/>
            <a:ext cx="927" cy="2320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图片 86" descr="核心交换机.png"/>
          <p:cNvPicPr>
            <a:picLocks noChangeAspect="1"/>
          </p:cNvPicPr>
          <p:nvPr/>
        </p:nvPicPr>
        <p:blipFill>
          <a:blip r:embed="rId3" cstate="print"/>
          <a:stretch>
            <a:fillRect/>
          </a:stretch>
        </p:blipFill>
        <p:spPr bwMode="gray">
          <a:xfrm>
            <a:off x="2578625" y="2522803"/>
            <a:ext cx="335297" cy="274335"/>
          </a:xfrm>
          <a:prstGeom prst="rect">
            <a:avLst/>
          </a:prstGeom>
        </p:spPr>
      </p:pic>
      <p:pic>
        <p:nvPicPr>
          <p:cNvPr id="14" name="图片 86" descr="核心交换机.png"/>
          <p:cNvPicPr>
            <a:picLocks noChangeAspect="1"/>
          </p:cNvPicPr>
          <p:nvPr/>
        </p:nvPicPr>
        <p:blipFill>
          <a:blip r:embed="rId3" cstate="print"/>
          <a:stretch>
            <a:fillRect/>
          </a:stretch>
        </p:blipFill>
        <p:spPr bwMode="gray">
          <a:xfrm>
            <a:off x="3406634" y="2522803"/>
            <a:ext cx="335297" cy="274335"/>
          </a:xfrm>
          <a:prstGeom prst="rect">
            <a:avLst/>
          </a:prstGeom>
        </p:spPr>
      </p:pic>
      <p:cxnSp>
        <p:nvCxnSpPr>
          <p:cNvPr id="15" name="Straight Connector 13"/>
          <p:cNvCxnSpPr/>
          <p:nvPr/>
        </p:nvCxnSpPr>
        <p:spPr bwMode="gray">
          <a:xfrm>
            <a:off x="2911169" y="2659971"/>
            <a:ext cx="486425"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pic>
        <p:nvPicPr>
          <p:cNvPr id="16" name="图片 87" descr="汇聚交换机.png"/>
          <p:cNvPicPr>
            <a:picLocks noChangeAspect="1"/>
          </p:cNvPicPr>
          <p:nvPr/>
        </p:nvPicPr>
        <p:blipFill>
          <a:blip r:embed="rId4" cstate="print"/>
          <a:stretch>
            <a:fillRect/>
          </a:stretch>
        </p:blipFill>
        <p:spPr bwMode="gray">
          <a:xfrm>
            <a:off x="1570592" y="3463664"/>
            <a:ext cx="335297" cy="274335"/>
          </a:xfrm>
          <a:prstGeom prst="rect">
            <a:avLst/>
          </a:prstGeom>
        </p:spPr>
      </p:pic>
      <p:pic>
        <p:nvPicPr>
          <p:cNvPr id="17" name="图片 87" descr="汇聚交换机.png"/>
          <p:cNvPicPr>
            <a:picLocks noChangeAspect="1"/>
          </p:cNvPicPr>
          <p:nvPr/>
        </p:nvPicPr>
        <p:blipFill>
          <a:blip r:embed="rId4" cstate="print"/>
          <a:stretch>
            <a:fillRect/>
          </a:stretch>
        </p:blipFill>
        <p:spPr bwMode="gray">
          <a:xfrm>
            <a:off x="2390341" y="3463664"/>
            <a:ext cx="335297" cy="274335"/>
          </a:xfrm>
          <a:prstGeom prst="rect">
            <a:avLst/>
          </a:prstGeom>
        </p:spPr>
      </p:pic>
      <p:cxnSp>
        <p:nvCxnSpPr>
          <p:cNvPr id="18" name="Straight Connector 16"/>
          <p:cNvCxnSpPr/>
          <p:nvPr/>
        </p:nvCxnSpPr>
        <p:spPr bwMode="gray">
          <a:xfrm>
            <a:off x="1905889" y="3600832"/>
            <a:ext cx="484452"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pic>
        <p:nvPicPr>
          <p:cNvPr id="19" name="图片 87" descr="汇聚交换机.png"/>
          <p:cNvPicPr>
            <a:picLocks noChangeAspect="1"/>
          </p:cNvPicPr>
          <p:nvPr/>
        </p:nvPicPr>
        <p:blipFill>
          <a:blip r:embed="rId4" cstate="print"/>
          <a:stretch>
            <a:fillRect/>
          </a:stretch>
        </p:blipFill>
        <p:spPr bwMode="gray">
          <a:xfrm>
            <a:off x="3584111" y="3463664"/>
            <a:ext cx="335297" cy="274335"/>
          </a:xfrm>
          <a:prstGeom prst="rect">
            <a:avLst/>
          </a:prstGeom>
        </p:spPr>
      </p:pic>
      <p:pic>
        <p:nvPicPr>
          <p:cNvPr id="20" name="图片 87" descr="汇聚交换机.png"/>
          <p:cNvPicPr>
            <a:picLocks noChangeAspect="1"/>
          </p:cNvPicPr>
          <p:nvPr/>
        </p:nvPicPr>
        <p:blipFill>
          <a:blip r:embed="rId4" cstate="print"/>
          <a:stretch>
            <a:fillRect/>
          </a:stretch>
        </p:blipFill>
        <p:spPr bwMode="gray">
          <a:xfrm>
            <a:off x="4404847" y="3463664"/>
            <a:ext cx="335297" cy="274335"/>
          </a:xfrm>
          <a:prstGeom prst="rect">
            <a:avLst/>
          </a:prstGeom>
        </p:spPr>
      </p:pic>
      <p:cxnSp>
        <p:nvCxnSpPr>
          <p:cNvPr id="21" name="Straight Connector 29"/>
          <p:cNvCxnSpPr/>
          <p:nvPr/>
        </p:nvCxnSpPr>
        <p:spPr bwMode="gray">
          <a:xfrm>
            <a:off x="3919408" y="3600832"/>
            <a:ext cx="485439"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2" name="Straight Connector 30"/>
          <p:cNvCxnSpPr>
            <a:stCxn id="16" idx="0"/>
          </p:cNvCxnSpPr>
          <p:nvPr/>
        </p:nvCxnSpPr>
        <p:spPr bwMode="gray">
          <a:xfrm flipV="1">
            <a:off x="1738241" y="2797138"/>
            <a:ext cx="1005280" cy="66652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33"/>
          <p:cNvCxnSpPr>
            <a:stCxn id="17" idx="0"/>
          </p:cNvCxnSpPr>
          <p:nvPr/>
        </p:nvCxnSpPr>
        <p:spPr bwMode="gray">
          <a:xfrm flipV="1">
            <a:off x="2557990" y="2797138"/>
            <a:ext cx="1007253" cy="66652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36"/>
          <p:cNvCxnSpPr>
            <a:stCxn id="19" idx="0"/>
          </p:cNvCxnSpPr>
          <p:nvPr/>
        </p:nvCxnSpPr>
        <p:spPr bwMode="gray">
          <a:xfrm flipH="1" flipV="1">
            <a:off x="2743522" y="2797138"/>
            <a:ext cx="1008238" cy="66652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39"/>
          <p:cNvCxnSpPr>
            <a:stCxn id="20" idx="0"/>
          </p:cNvCxnSpPr>
          <p:nvPr/>
        </p:nvCxnSpPr>
        <p:spPr bwMode="gray">
          <a:xfrm flipH="1" flipV="1">
            <a:off x="3565244" y="2797138"/>
            <a:ext cx="1007252" cy="66652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Oval 42"/>
          <p:cNvSpPr/>
          <p:nvPr/>
        </p:nvSpPr>
        <p:spPr bwMode="gray">
          <a:xfrm rot="3077028">
            <a:off x="2351549" y="3075877"/>
            <a:ext cx="580554" cy="91395"/>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7" name="图片 26" descr="堆叠交换机蓝.png"/>
          <p:cNvPicPr>
            <a:picLocks noChangeAspect="1"/>
          </p:cNvPicPr>
          <p:nvPr/>
        </p:nvPicPr>
        <p:blipFill>
          <a:blip r:embed="rId5" cstate="print"/>
          <a:stretch>
            <a:fillRect/>
          </a:stretch>
        </p:blipFill>
        <p:spPr bwMode="gray">
          <a:xfrm>
            <a:off x="1569695" y="4344257"/>
            <a:ext cx="337091" cy="275802"/>
          </a:xfrm>
          <a:prstGeom prst="rect">
            <a:avLst/>
          </a:prstGeom>
        </p:spPr>
      </p:pic>
      <p:pic>
        <p:nvPicPr>
          <p:cNvPr id="28" name="图片 106" descr="堆叠交换机蓝.png"/>
          <p:cNvPicPr>
            <a:picLocks noChangeAspect="1"/>
          </p:cNvPicPr>
          <p:nvPr/>
        </p:nvPicPr>
        <p:blipFill>
          <a:blip r:embed="rId5" cstate="print"/>
          <a:stretch>
            <a:fillRect/>
          </a:stretch>
        </p:blipFill>
        <p:spPr bwMode="gray">
          <a:xfrm>
            <a:off x="2389444" y="4344257"/>
            <a:ext cx="337091" cy="275802"/>
          </a:xfrm>
          <a:prstGeom prst="rect">
            <a:avLst/>
          </a:prstGeom>
        </p:spPr>
      </p:pic>
      <p:cxnSp>
        <p:nvCxnSpPr>
          <p:cNvPr id="29" name="Straight Connector 34"/>
          <p:cNvCxnSpPr/>
          <p:nvPr/>
        </p:nvCxnSpPr>
        <p:spPr bwMode="gray">
          <a:xfrm flipV="1">
            <a:off x="1738241" y="3737999"/>
            <a:ext cx="0" cy="6062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35"/>
          <p:cNvCxnSpPr/>
          <p:nvPr/>
        </p:nvCxnSpPr>
        <p:spPr bwMode="gray">
          <a:xfrm flipV="1">
            <a:off x="1738241" y="3737999"/>
            <a:ext cx="819749" cy="6062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7"/>
          <p:cNvCxnSpPr/>
          <p:nvPr/>
        </p:nvCxnSpPr>
        <p:spPr bwMode="gray">
          <a:xfrm flipH="1" flipV="1">
            <a:off x="1738241" y="3737999"/>
            <a:ext cx="819749" cy="6062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8"/>
          <p:cNvCxnSpPr/>
          <p:nvPr/>
        </p:nvCxnSpPr>
        <p:spPr bwMode="gray">
          <a:xfrm flipV="1">
            <a:off x="2557990" y="3737999"/>
            <a:ext cx="0" cy="6062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3" name="Group 40"/>
          <p:cNvGrpSpPr/>
          <p:nvPr/>
        </p:nvGrpSpPr>
        <p:grpSpPr bwMode="gray">
          <a:xfrm>
            <a:off x="2017132" y="4450360"/>
            <a:ext cx="261965" cy="61979"/>
            <a:chOff x="559282" y="6488261"/>
            <a:chExt cx="261965" cy="61979"/>
          </a:xfrm>
          <a:solidFill>
            <a:schemeClr val="bg1">
              <a:lumMod val="50000"/>
            </a:schemeClr>
          </a:solidFill>
        </p:grpSpPr>
        <p:sp>
          <p:nvSpPr>
            <p:cNvPr id="34" name="Oval 4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Oval 4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Oval 4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37" name="图片 106" descr="堆叠交换机蓝.png"/>
          <p:cNvPicPr>
            <a:picLocks noChangeAspect="1"/>
          </p:cNvPicPr>
          <p:nvPr/>
        </p:nvPicPr>
        <p:blipFill>
          <a:blip r:embed="rId5" cstate="print"/>
          <a:stretch>
            <a:fillRect/>
          </a:stretch>
        </p:blipFill>
        <p:spPr bwMode="gray">
          <a:xfrm>
            <a:off x="3583214" y="4344257"/>
            <a:ext cx="337091" cy="275802"/>
          </a:xfrm>
          <a:prstGeom prst="rect">
            <a:avLst/>
          </a:prstGeom>
        </p:spPr>
      </p:pic>
      <p:pic>
        <p:nvPicPr>
          <p:cNvPr id="38" name="图片 106" descr="堆叠交换机蓝.png"/>
          <p:cNvPicPr>
            <a:picLocks noChangeAspect="1"/>
          </p:cNvPicPr>
          <p:nvPr/>
        </p:nvPicPr>
        <p:blipFill>
          <a:blip r:embed="rId5" cstate="print"/>
          <a:stretch>
            <a:fillRect/>
          </a:stretch>
        </p:blipFill>
        <p:spPr bwMode="gray">
          <a:xfrm>
            <a:off x="4403950" y="4344257"/>
            <a:ext cx="337091" cy="275802"/>
          </a:xfrm>
          <a:prstGeom prst="rect">
            <a:avLst/>
          </a:prstGeom>
        </p:spPr>
      </p:pic>
      <p:grpSp>
        <p:nvGrpSpPr>
          <p:cNvPr id="39" name="Group 54"/>
          <p:cNvGrpSpPr/>
          <p:nvPr/>
        </p:nvGrpSpPr>
        <p:grpSpPr bwMode="gray">
          <a:xfrm>
            <a:off x="4031638" y="4450360"/>
            <a:ext cx="261965" cy="61979"/>
            <a:chOff x="559282" y="6488261"/>
            <a:chExt cx="261965" cy="61979"/>
          </a:xfrm>
          <a:solidFill>
            <a:schemeClr val="bg1">
              <a:lumMod val="50000"/>
            </a:schemeClr>
          </a:solidFill>
        </p:grpSpPr>
        <p:sp>
          <p:nvSpPr>
            <p:cNvPr id="40" name="Oval 55"/>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Oval 56"/>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Oval 57"/>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43" name="Straight Connector 58"/>
          <p:cNvCxnSpPr/>
          <p:nvPr/>
        </p:nvCxnSpPr>
        <p:spPr bwMode="gray">
          <a:xfrm flipV="1">
            <a:off x="3751760" y="3737999"/>
            <a:ext cx="0" cy="6062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61"/>
          <p:cNvCxnSpPr/>
          <p:nvPr/>
        </p:nvCxnSpPr>
        <p:spPr bwMode="gray">
          <a:xfrm flipV="1">
            <a:off x="4572496" y="3737999"/>
            <a:ext cx="0" cy="6062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64"/>
          <p:cNvCxnSpPr/>
          <p:nvPr/>
        </p:nvCxnSpPr>
        <p:spPr bwMode="gray">
          <a:xfrm flipV="1">
            <a:off x="3751760" y="3737999"/>
            <a:ext cx="820736" cy="6062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67"/>
          <p:cNvCxnSpPr/>
          <p:nvPr/>
        </p:nvCxnSpPr>
        <p:spPr bwMode="gray">
          <a:xfrm flipH="1" flipV="1">
            <a:off x="3751760" y="3737999"/>
            <a:ext cx="820736" cy="6062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70"/>
          <p:cNvCxnSpPr/>
          <p:nvPr/>
        </p:nvCxnSpPr>
        <p:spPr bwMode="gray">
          <a:xfrm flipV="1">
            <a:off x="2557003" y="4620059"/>
            <a:ext cx="987" cy="2320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Oval 59"/>
          <p:cNvSpPr/>
          <p:nvPr/>
        </p:nvSpPr>
        <p:spPr bwMode="gray">
          <a:xfrm rot="1782887">
            <a:off x="1661057" y="4139716"/>
            <a:ext cx="311619" cy="90813"/>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Oval 62"/>
          <p:cNvSpPr/>
          <p:nvPr/>
        </p:nvSpPr>
        <p:spPr bwMode="gray">
          <a:xfrm rot="19401600">
            <a:off x="2318958" y="4152467"/>
            <a:ext cx="311619" cy="90813"/>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Oval 63"/>
          <p:cNvSpPr/>
          <p:nvPr/>
        </p:nvSpPr>
        <p:spPr bwMode="gray">
          <a:xfrm rot="1782887">
            <a:off x="3662471" y="4171595"/>
            <a:ext cx="311619" cy="90813"/>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Oval 65"/>
          <p:cNvSpPr/>
          <p:nvPr/>
        </p:nvSpPr>
        <p:spPr bwMode="gray">
          <a:xfrm rot="19401600">
            <a:off x="4357295" y="4146783"/>
            <a:ext cx="311619" cy="90813"/>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3" name="图片 14" descr="日志告警服务器-蓝.png"/>
          <p:cNvPicPr>
            <a:picLocks noChangeAspect="1"/>
          </p:cNvPicPr>
          <p:nvPr/>
        </p:nvPicPr>
        <p:blipFill>
          <a:blip r:embed="rId6" cstate="print"/>
          <a:stretch>
            <a:fillRect/>
          </a:stretch>
        </p:blipFill>
        <p:spPr bwMode="gray">
          <a:xfrm>
            <a:off x="1474284" y="5284936"/>
            <a:ext cx="304595" cy="190195"/>
          </a:xfrm>
          <a:prstGeom prst="rect">
            <a:avLst/>
          </a:prstGeom>
        </p:spPr>
      </p:pic>
      <p:pic>
        <p:nvPicPr>
          <p:cNvPr id="54" name="图片 42" descr="IP电话.png"/>
          <p:cNvPicPr>
            <a:picLocks noChangeAspect="1"/>
          </p:cNvPicPr>
          <p:nvPr/>
        </p:nvPicPr>
        <p:blipFill>
          <a:blip r:embed="rId7" cstate="print"/>
          <a:stretch>
            <a:fillRect/>
          </a:stretch>
        </p:blipFill>
        <p:spPr bwMode="gray">
          <a:xfrm>
            <a:off x="2329928" y="5222443"/>
            <a:ext cx="335265" cy="315180"/>
          </a:xfrm>
          <a:prstGeom prst="rect">
            <a:avLst/>
          </a:prstGeom>
        </p:spPr>
      </p:pic>
      <p:pic>
        <p:nvPicPr>
          <p:cNvPr id="55" name="图片 11" descr="开放网络-蓝.png"/>
          <p:cNvPicPr>
            <a:picLocks noChangeAspect="1"/>
          </p:cNvPicPr>
          <p:nvPr/>
        </p:nvPicPr>
        <p:blipFill>
          <a:blip r:embed="rId8" cstate="print"/>
          <a:stretch>
            <a:fillRect/>
          </a:stretch>
        </p:blipFill>
        <p:spPr bwMode="gray">
          <a:xfrm>
            <a:off x="3518494" y="5262797"/>
            <a:ext cx="304595" cy="234472"/>
          </a:xfrm>
          <a:prstGeom prst="rect">
            <a:avLst/>
          </a:prstGeom>
        </p:spPr>
      </p:pic>
      <p:pic>
        <p:nvPicPr>
          <p:cNvPr id="56" name="图片 158" descr="SAN网络-蓝.png"/>
          <p:cNvPicPr>
            <a:picLocks noChangeAspect="1"/>
          </p:cNvPicPr>
          <p:nvPr/>
        </p:nvPicPr>
        <p:blipFill>
          <a:blip r:embed="rId9" cstate="print"/>
          <a:stretch>
            <a:fillRect/>
          </a:stretch>
        </p:blipFill>
        <p:spPr bwMode="gray">
          <a:xfrm>
            <a:off x="1971343" y="5243955"/>
            <a:ext cx="166121" cy="272157"/>
          </a:xfrm>
          <a:prstGeom prst="rect">
            <a:avLst/>
          </a:prstGeom>
        </p:spPr>
      </p:pic>
      <p:pic>
        <p:nvPicPr>
          <p:cNvPr id="57" name="图片 47" descr="打印机.png"/>
          <p:cNvPicPr>
            <a:picLocks noChangeAspect="1"/>
          </p:cNvPicPr>
          <p:nvPr/>
        </p:nvPicPr>
        <p:blipFill>
          <a:blip r:embed="rId10" cstate="print"/>
          <a:stretch>
            <a:fillRect/>
          </a:stretch>
        </p:blipFill>
        <p:spPr bwMode="gray">
          <a:xfrm>
            <a:off x="4394395" y="5247031"/>
            <a:ext cx="334175" cy="266004"/>
          </a:xfrm>
          <a:prstGeom prst="rect">
            <a:avLst/>
          </a:prstGeom>
        </p:spPr>
      </p:pic>
      <p:pic>
        <p:nvPicPr>
          <p:cNvPr id="58" name="图片 157" descr="故障链路.png"/>
          <p:cNvPicPr>
            <a:picLocks noChangeAspect="1"/>
          </p:cNvPicPr>
          <p:nvPr/>
        </p:nvPicPr>
        <p:blipFill>
          <a:blip r:embed="rId11" cstate="print"/>
          <a:stretch>
            <a:fillRect/>
          </a:stretch>
        </p:blipFill>
        <p:spPr bwMode="gray">
          <a:xfrm>
            <a:off x="3941094" y="5255021"/>
            <a:ext cx="335297" cy="250025"/>
          </a:xfrm>
          <a:prstGeom prst="rect">
            <a:avLst/>
          </a:prstGeom>
        </p:spPr>
      </p:pic>
      <p:sp>
        <p:nvSpPr>
          <p:cNvPr id="59" name="Oval 92"/>
          <p:cNvSpPr/>
          <p:nvPr/>
        </p:nvSpPr>
        <p:spPr bwMode="gray">
          <a:xfrm rot="18651691">
            <a:off x="3395857" y="3093365"/>
            <a:ext cx="580554" cy="91395"/>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0" name="图片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bwMode="gray">
          <a:xfrm>
            <a:off x="2577728" y="1856264"/>
            <a:ext cx="337091" cy="275801"/>
          </a:xfrm>
          <a:prstGeom prst="rect">
            <a:avLst/>
          </a:prstGeom>
        </p:spPr>
      </p:pic>
      <p:pic>
        <p:nvPicPr>
          <p:cNvPr id="61" name="图片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bwMode="gray">
          <a:xfrm>
            <a:off x="3405737" y="1856264"/>
            <a:ext cx="337091" cy="275801"/>
          </a:xfrm>
          <a:prstGeom prst="rect">
            <a:avLst/>
          </a:prstGeom>
        </p:spPr>
      </p:pic>
      <p:cxnSp>
        <p:nvCxnSpPr>
          <p:cNvPr id="62" name="Straight Connector 127"/>
          <p:cNvCxnSpPr/>
          <p:nvPr/>
        </p:nvCxnSpPr>
        <p:spPr bwMode="gray">
          <a:xfrm>
            <a:off x="2916675" y="1994165"/>
            <a:ext cx="497204"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00" name="Straight Connector 34"/>
          <p:cNvCxnSpPr>
            <a:stCxn id="13" idx="0"/>
            <a:endCxn id="60" idx="2"/>
          </p:cNvCxnSpPr>
          <p:nvPr/>
        </p:nvCxnSpPr>
        <p:spPr bwMode="gray">
          <a:xfrm flipV="1">
            <a:off x="2746274" y="2132065"/>
            <a:ext cx="0" cy="3907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Straight Connector 34"/>
          <p:cNvCxnSpPr>
            <a:stCxn id="14" idx="0"/>
            <a:endCxn id="61" idx="2"/>
          </p:cNvCxnSpPr>
          <p:nvPr/>
        </p:nvCxnSpPr>
        <p:spPr bwMode="gray">
          <a:xfrm flipV="1">
            <a:off x="3574283" y="2132065"/>
            <a:ext cx="0" cy="3907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3" name="矩形 112"/>
          <p:cNvSpPr/>
          <p:nvPr/>
        </p:nvSpPr>
        <p:spPr bwMode="gray">
          <a:xfrm>
            <a:off x="6096000" y="1605424"/>
            <a:ext cx="5653087" cy="3080715"/>
          </a:xfrm>
          <a:prstGeom prst="rect">
            <a:avLst/>
          </a:prstGeom>
        </p:spPr>
        <p:txBody>
          <a:bodyPr wrap="square">
            <a:spAutoFit/>
          </a:bodyPr>
          <a:lstStyle/>
          <a:p>
            <a:pPr marL="302279" indent="-302279" algn="just" defTabSz="914034">
              <a:lnSpc>
                <a:spcPct val="140000"/>
              </a:lnSpc>
              <a:spcBef>
                <a:spcPts val="792"/>
              </a:spcBef>
              <a:buSzPct val="50000"/>
              <a:buFont typeface="Wingdings" panose="05000000000000000000" pitchFamily="2" charset="2"/>
              <a:buChar char="l"/>
            </a:pP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当企业网规模较大时，汇聚层开始可能就是三层设备（路由器、交换机），此时使用静态路由就显得不够灵活：配置复杂、无法快速响应拓扑变化。</a:t>
            </a:r>
            <a:endPar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302279" indent="-302279" algn="just" defTabSz="914034">
              <a:lnSpc>
                <a:spcPct val="140000"/>
              </a:lnSpc>
              <a:spcBef>
                <a:spcPts val="792"/>
              </a:spcBef>
              <a:buSzPct val="50000"/>
              <a:buFont typeface="Wingdings" panose="05000000000000000000" pitchFamily="2" charset="2"/>
              <a:buChar char="l"/>
            </a:pP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为此企业网内部可以部署动态路由协议，一般为</a:t>
            </a:r>
            <a:r>
              <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IGP</a:t>
            </a: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中的</a:t>
            </a:r>
            <a:r>
              <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OSPF</a:t>
            </a: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endPar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759519" lvl="1" indent="-302279" algn="just" defTabSz="914034">
              <a:lnSpc>
                <a:spcPct val="140000"/>
              </a:lnSpc>
              <a:spcBef>
                <a:spcPts val="792"/>
              </a:spcBef>
              <a:buSzPct val="50000"/>
              <a:buFont typeface="Wingdings" panose="05000000000000000000" pitchFamily="2" charset="2"/>
              <a:buChar char="p"/>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根据网络结构将汇聚层划分到不同的</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OSPF Area</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（非骨干区域）。</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759519" lvl="1" indent="-302279" algn="just" defTabSz="914034">
              <a:lnSpc>
                <a:spcPct val="140000"/>
              </a:lnSpc>
              <a:spcBef>
                <a:spcPts val="792"/>
              </a:spcBef>
              <a:buSzPct val="50000"/>
              <a:buFont typeface="Wingdings" panose="05000000000000000000" pitchFamily="2" charset="2"/>
              <a:buChar char="p"/>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核心层设备、网络出口设备以及汇聚的上行接口划分到</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Area 0</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中；汇聚的下行接口以及接入层划分到</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Area X</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759519" lvl="1" indent="-302279" algn="just" defTabSz="914034">
              <a:lnSpc>
                <a:spcPct val="140000"/>
              </a:lnSpc>
              <a:spcBef>
                <a:spcPts val="792"/>
              </a:spcBef>
              <a:buSzPct val="50000"/>
              <a:buFont typeface="Wingdings" panose="05000000000000000000" pitchFamily="2" charset="2"/>
              <a:buChar char="p"/>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通过冗余链路以及</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的触发更新机制实现内网路径的冗余备份。</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759519" lvl="1" indent="-302279" algn="just" defTabSz="914034">
              <a:lnSpc>
                <a:spcPct val="140000"/>
              </a:lnSpc>
              <a:spcBef>
                <a:spcPts val="792"/>
              </a:spcBef>
              <a:buSzPct val="50000"/>
              <a:buFont typeface="Wingdings" panose="05000000000000000000" pitchFamily="2" charset="2"/>
              <a:buChar char="p"/>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汇聚设备作为</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ABR</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执行各种路由过滤策略。</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4" name="文本框 113"/>
          <p:cNvSpPr txBox="1"/>
          <p:nvPr/>
        </p:nvSpPr>
        <p:spPr bwMode="gray">
          <a:xfrm>
            <a:off x="1331791" y="1520536"/>
            <a:ext cx="747320"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Area 0</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5" name="文本框 114"/>
          <p:cNvSpPr txBox="1"/>
          <p:nvPr/>
        </p:nvSpPr>
        <p:spPr bwMode="gray">
          <a:xfrm>
            <a:off x="1743465" y="4564452"/>
            <a:ext cx="747320"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Area 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9" name="图片 105" descr="AP.png"/>
          <p:cNvPicPr>
            <a:picLocks noChangeAspect="1"/>
          </p:cNvPicPr>
          <p:nvPr/>
        </p:nvPicPr>
        <p:blipFill>
          <a:blip r:embed="rId13" cstate="print"/>
          <a:stretch>
            <a:fillRect/>
          </a:stretch>
        </p:blipFill>
        <p:spPr bwMode="gray">
          <a:xfrm>
            <a:off x="4403920" y="4814056"/>
            <a:ext cx="335297" cy="274335"/>
          </a:xfrm>
          <a:prstGeom prst="rect">
            <a:avLst/>
          </a:prstGeom>
        </p:spPr>
      </p:pic>
      <p:sp>
        <p:nvSpPr>
          <p:cNvPr id="116" name="文本框 115"/>
          <p:cNvSpPr txBox="1"/>
          <p:nvPr/>
        </p:nvSpPr>
        <p:spPr bwMode="gray">
          <a:xfrm>
            <a:off x="3757971" y="4556789"/>
            <a:ext cx="747320" cy="307777"/>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Area 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1" name="图片 105" descr="AP.png"/>
          <p:cNvPicPr>
            <a:picLocks noChangeAspect="1"/>
          </p:cNvPicPr>
          <p:nvPr/>
        </p:nvPicPr>
        <p:blipFill>
          <a:blip r:embed="rId13" cstate="print"/>
          <a:stretch>
            <a:fillRect/>
          </a:stretch>
        </p:blipFill>
        <p:spPr bwMode="gray">
          <a:xfrm>
            <a:off x="2389354" y="4814056"/>
            <a:ext cx="335297" cy="274335"/>
          </a:xfrm>
          <a:prstGeom prst="rect">
            <a:avLst/>
          </a:prstGeom>
        </p:spPr>
      </p:pic>
      <p:sp>
        <p:nvSpPr>
          <p:cNvPr id="64" name="五边形 63"/>
          <p:cNvSpPr/>
          <p:nvPr/>
        </p:nvSpPr>
        <p:spPr bwMode="auto">
          <a:xfrm>
            <a:off x="6179960" y="98481"/>
            <a:ext cx="94884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以太网交换</a:t>
            </a:r>
          </a:p>
        </p:txBody>
      </p:sp>
      <p:sp>
        <p:nvSpPr>
          <p:cNvPr id="65" name="燕尾形 64"/>
          <p:cNvSpPr/>
          <p:nvPr/>
        </p:nvSpPr>
        <p:spPr bwMode="auto">
          <a:xfrm>
            <a:off x="7049907" y="98481"/>
            <a:ext cx="678521"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燕尾形 65"/>
          <p:cNvSpPr/>
          <p:nvPr/>
        </p:nvSpPr>
        <p:spPr bwMode="auto">
          <a:xfrm>
            <a:off x="7649535" y="98481"/>
            <a:ext cx="87595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无线接入</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燕尾形 66"/>
          <p:cNvSpPr/>
          <p:nvPr/>
        </p:nvSpPr>
        <p:spPr bwMode="auto">
          <a:xfrm>
            <a:off x="8446601"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可靠性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燕尾形 67"/>
          <p:cNvSpPr/>
          <p:nvPr/>
        </p:nvSpPr>
        <p:spPr bwMode="auto">
          <a:xfrm>
            <a:off x="9148908" y="98481"/>
            <a:ext cx="87048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网络安全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燕尾形 68"/>
          <p:cNvSpPr/>
          <p:nvPr/>
        </p:nvSpPr>
        <p:spPr bwMode="auto">
          <a:xfrm>
            <a:off x="9940504" y="98481"/>
            <a:ext cx="130400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网络服务与管理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燕尾形 69"/>
          <p:cNvSpPr/>
          <p:nvPr/>
        </p:nvSpPr>
        <p:spPr bwMode="auto">
          <a:xfrm>
            <a:off x="11165613" y="98481"/>
            <a:ext cx="583475"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出口</a:t>
            </a:r>
          </a:p>
        </p:txBody>
      </p:sp>
    </p:spTree>
    <p:extLst>
      <p:ext uri="{BB962C8B-B14F-4D97-AF65-F5344CB8AC3E}">
        <p14:creationId xmlns:p14="http://schemas.microsoft.com/office/powerpoint/2010/main" val="17049114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Freeform 159">
            <a:extLst>
              <a:ext uri="{FF2B5EF4-FFF2-40B4-BE49-F238E27FC236}">
                <a16:creationId xmlns:a16="http://schemas.microsoft.com/office/drawing/2014/main" id="{0BF43FC9-56BB-4AC9-BB3D-A0B506C43A22}"/>
              </a:ext>
            </a:extLst>
          </p:cNvPr>
          <p:cNvSpPr/>
          <p:nvPr/>
        </p:nvSpPr>
        <p:spPr bwMode="gray">
          <a:xfrm flipH="1">
            <a:off x="2017456" y="1123707"/>
            <a:ext cx="1188645" cy="62133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6" name="直接连接符 25"/>
          <p:cNvCxnSpPr/>
          <p:nvPr/>
        </p:nvCxnSpPr>
        <p:spPr bwMode="gray">
          <a:xfrm>
            <a:off x="927397" y="2564593"/>
            <a:ext cx="168242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bwMode="gray">
          <a:xfrm>
            <a:off x="887618" y="2732233"/>
            <a:ext cx="168242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圆角矩形 15"/>
          <p:cNvSpPr>
            <a:spLocks/>
          </p:cNvSpPr>
          <p:nvPr/>
        </p:nvSpPr>
        <p:spPr bwMode="gray">
          <a:xfrm>
            <a:off x="1391885" y="4025387"/>
            <a:ext cx="2439787" cy="1017006"/>
          </a:xfrm>
          <a:prstGeom prst="roundRect">
            <a:avLst>
              <a:gd name="adj" fmla="val 8101"/>
            </a:avLst>
          </a:prstGeom>
          <a:solidFill>
            <a:srgbClr val="EAF8FA"/>
          </a:solidFill>
          <a:ln w="19050" cap="flat" cmpd="sng" algn="ctr">
            <a:solidFill>
              <a:srgbClr val="94DAE2">
                <a:alpha val="80000"/>
              </a:srgbClr>
            </a:solidFill>
            <a:prstDash val="sys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784225" eaLnBrk="0" fontAlgn="base" hangingPunct="0">
              <a:spcBef>
                <a:spcPct val="0"/>
              </a:spcBef>
              <a:spcAft>
                <a:spcPct val="0"/>
              </a:spcAft>
            </a:pPr>
            <a:endParaRPr lang="zh-CN" altLang="en-US" sz="21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zh-CN" altLang="en-US" dirty="0">
                <a:sym typeface="Huawei Sans" panose="020C0503030203020204" pitchFamily="34" charset="0"/>
              </a:rPr>
              <a:t>策略路由</a:t>
            </a:r>
          </a:p>
        </p:txBody>
      </p:sp>
      <p:sp>
        <p:nvSpPr>
          <p:cNvPr id="4" name="矩形 3"/>
          <p:cNvSpPr/>
          <p:nvPr/>
        </p:nvSpPr>
        <p:spPr bwMode="gray">
          <a:xfrm>
            <a:off x="3881057" y="1071533"/>
            <a:ext cx="7720394" cy="701154"/>
          </a:xfrm>
          <a:prstGeom prst="rect">
            <a:avLst/>
          </a:prstGeom>
        </p:spPr>
        <p:txBody>
          <a:bodyPr wrap="square">
            <a:spAutoFit/>
          </a:bodyPr>
          <a:lstStyle/>
          <a:p>
            <a:pPr defTabSz="914400">
              <a:lnSpc>
                <a:spcPts val="2533"/>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传统的路由转发原理是首先根据报文的目的地址查找路由表，然后进行报文转发。但是目前越来越多的用户希望能够在传统路由转发的基础上根据自己定义的策略进行报文转发和选路。</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圆角矩形 4"/>
          <p:cNvSpPr/>
          <p:nvPr/>
        </p:nvSpPr>
        <p:spPr bwMode="gray">
          <a:xfrm>
            <a:off x="3881056" y="1788993"/>
            <a:ext cx="3973200" cy="1666371"/>
          </a:xfrm>
          <a:prstGeom prst="roundRect">
            <a:avLst/>
          </a:prstGeom>
          <a:solidFill>
            <a:srgbClr val="FEF5DA"/>
          </a:solidFill>
          <a:ln w="12700" cap="flat" cmpd="sng" algn="ctr">
            <a:solidFill>
              <a:srgbClr val="FFC000"/>
            </a:solidFill>
            <a:prstDash val="solid"/>
            <a:miter lim="800000"/>
          </a:ln>
          <a:effectLst/>
        </p:spPr>
        <p:txBody>
          <a:bodyPr rtlCol="0" anchor="t" anchorCtr="0"/>
          <a:lstStyle/>
          <a:p>
            <a:pPr marL="0" marR="0" lvl="0" indent="0" algn="ctr" defTabSz="914400" eaLnBrk="1" fontAlgn="auto" latinLnBrk="0" hangingPunct="1">
              <a:lnSpc>
                <a:spcPts val="2400"/>
              </a:lnSpc>
              <a:spcBef>
                <a:spcPts val="0"/>
              </a:spcBef>
              <a:spcAft>
                <a:spcPts val="0"/>
              </a:spcAft>
              <a:buClrTx/>
              <a:buSzTx/>
              <a:buFontTx/>
              <a:buNone/>
              <a:tabLst/>
              <a:defRPr/>
            </a:pPr>
            <a:r>
              <a:rPr kumimoji="0" lang="zh-CN" altLang="en-US" sz="1333"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流分类</a:t>
            </a:r>
            <a:endParaRPr kumimoji="0" lang="en-US" altLang="zh-CN" sz="1333"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0" marR="0" lvl="0" indent="0" algn="ctr" defTabSz="914400" eaLnBrk="1" fontAlgn="auto" latinLnBrk="0" hangingPunct="1">
              <a:lnSpc>
                <a:spcPts val="2400"/>
              </a:lnSpc>
              <a:spcBef>
                <a:spcPts val="0"/>
              </a:spcBef>
              <a:spcAft>
                <a:spcPts val="0"/>
              </a:spcAft>
              <a:buClrTx/>
              <a:buSzTx/>
              <a:buFontTx/>
              <a:buNone/>
              <a:tabLst/>
              <a:defRPr/>
            </a:pPr>
            <a:r>
              <a:rPr kumimoji="0" lang="zh-CN" altLang="en-US" sz="1333"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配置流分类，用于匹配感兴趣数据流。</a:t>
            </a:r>
            <a:endParaRPr kumimoji="0" lang="en-US" altLang="zh-CN" sz="1333"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0" marR="0" lvl="0" indent="0" defTabSz="914400" eaLnBrk="1" fontAlgn="auto" latinLnBrk="0" hangingPunct="1">
              <a:lnSpc>
                <a:spcPts val="2400"/>
              </a:lnSpc>
              <a:spcBef>
                <a:spcPts val="0"/>
              </a:spcBef>
              <a:spcAft>
                <a:spcPts val="0"/>
              </a:spcAft>
              <a:buClrTx/>
              <a:buSzTx/>
              <a:buFontTx/>
              <a:buNone/>
              <a:tabLst/>
              <a:defRPr/>
            </a:pPr>
            <a:r>
              <a:rPr kumimoji="0" lang="zh-CN" altLang="en-US" sz="1333"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可以匹配</a:t>
            </a:r>
            <a:r>
              <a:rPr kumimoji="0" lang="en-US" altLang="zh-CN" sz="1333"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VLAN ID</a:t>
            </a:r>
            <a:r>
              <a:rPr kumimoji="0" lang="zh-CN" altLang="en-US" sz="1333"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、源或目的</a:t>
            </a:r>
            <a:r>
              <a:rPr kumimoji="0" lang="en-US" altLang="zh-CN" sz="1333"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MAC</a:t>
            </a:r>
            <a:r>
              <a:rPr kumimoji="0" lang="zh-CN" altLang="en-US" sz="1333"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地址、以太网协议类型、</a:t>
            </a:r>
            <a:r>
              <a:rPr kumimoji="0" lang="en-US" altLang="zh-CN" sz="1333"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DSCP</a:t>
            </a:r>
            <a:r>
              <a:rPr kumimoji="0" lang="zh-CN" altLang="en-US" sz="1333"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r>
              <a:rPr kumimoji="0" lang="en-US" altLang="zh-CN" sz="1333"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IP</a:t>
            </a:r>
            <a:r>
              <a:rPr kumimoji="0" lang="zh-CN" altLang="en-US" sz="1333"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优先级、出或入接口、</a:t>
            </a:r>
            <a:r>
              <a:rPr kumimoji="0" lang="en-US" altLang="zh-CN" sz="1333"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ACL</a:t>
            </a:r>
            <a:r>
              <a:rPr kumimoji="0" lang="zh-CN" altLang="en-US" sz="1333"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规则等。</a:t>
            </a:r>
            <a:endParaRPr kumimoji="0" lang="en-US" sz="1333"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圆角矩形 5"/>
          <p:cNvSpPr/>
          <p:nvPr/>
        </p:nvSpPr>
        <p:spPr bwMode="gray">
          <a:xfrm>
            <a:off x="7948535" y="1805067"/>
            <a:ext cx="3800553" cy="1650297"/>
          </a:xfrm>
          <a:prstGeom prst="roundRect">
            <a:avLst/>
          </a:prstGeom>
          <a:solidFill>
            <a:srgbClr val="FEF5DA"/>
          </a:solidFill>
          <a:ln w="12700" cap="flat" cmpd="sng" algn="ctr">
            <a:solidFill>
              <a:srgbClr val="FFC000"/>
            </a:solidFill>
            <a:prstDash val="solid"/>
            <a:miter lim="800000"/>
          </a:ln>
          <a:effectLst/>
        </p:spPr>
        <p:txBody>
          <a:bodyPr rtlCol="0" anchor="t" anchorCtr="0"/>
          <a:lstStyle/>
          <a:p>
            <a:pPr marL="0" marR="0" lvl="0" indent="0" algn="ctr" defTabSz="914400" eaLnBrk="1" fontAlgn="auto" latinLnBrk="0" hangingPunct="1">
              <a:lnSpc>
                <a:spcPts val="2400"/>
              </a:lnSpc>
              <a:spcBef>
                <a:spcPts val="0"/>
              </a:spcBef>
              <a:spcAft>
                <a:spcPts val="0"/>
              </a:spcAft>
              <a:buClrTx/>
              <a:buSzTx/>
              <a:buFontTx/>
              <a:buNone/>
              <a:tabLst/>
              <a:defRPr/>
            </a:pPr>
            <a:r>
              <a:rPr kumimoji="0" lang="zh-CN" altLang="en-US" sz="1333"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流行为</a:t>
            </a:r>
            <a:endParaRPr kumimoji="0" lang="en-US" altLang="zh-CN" sz="1333"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0" marR="0" lvl="0" indent="0" algn="ctr" defTabSz="914400" eaLnBrk="1" fontAlgn="auto" latinLnBrk="0" hangingPunct="1">
              <a:lnSpc>
                <a:spcPts val="2400"/>
              </a:lnSpc>
              <a:spcBef>
                <a:spcPts val="0"/>
              </a:spcBef>
              <a:spcAft>
                <a:spcPts val="0"/>
              </a:spcAft>
              <a:buClrTx/>
              <a:buSzTx/>
              <a:buFontTx/>
              <a:buNone/>
              <a:tabLst/>
              <a:defRPr/>
            </a:pPr>
            <a:r>
              <a:rPr kumimoji="0" lang="zh-CN" altLang="en-US" sz="1333"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将感兴趣报文进行重定向。</a:t>
            </a:r>
            <a:endParaRPr kumimoji="0" lang="en-US" altLang="zh-CN" sz="1333"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0" marR="0" lvl="0" indent="0" algn="ctr" defTabSz="914400" eaLnBrk="1" fontAlgn="auto" latinLnBrk="0" hangingPunct="1">
              <a:lnSpc>
                <a:spcPts val="2400"/>
              </a:lnSpc>
              <a:spcBef>
                <a:spcPts val="0"/>
              </a:spcBef>
              <a:spcAft>
                <a:spcPts val="0"/>
              </a:spcAft>
              <a:buClrTx/>
              <a:buSzTx/>
              <a:buFontTx/>
              <a:buNone/>
              <a:tabLst/>
              <a:defRPr/>
            </a:pPr>
            <a:r>
              <a:rPr kumimoji="0" lang="zh-CN" altLang="en-US" sz="1333"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可以设置重定向的下一跳</a:t>
            </a:r>
            <a:r>
              <a:rPr kumimoji="0" lang="en-US" altLang="zh-CN" sz="1333"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IP</a:t>
            </a:r>
            <a:r>
              <a:rPr kumimoji="0" lang="zh-CN" altLang="en-US" sz="1333"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地址或出接口。</a:t>
            </a:r>
            <a:endParaRPr kumimoji="0" lang="en-US" altLang="zh-CN" sz="1333"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圆角矩形 6"/>
          <p:cNvSpPr/>
          <p:nvPr/>
        </p:nvSpPr>
        <p:spPr bwMode="gray">
          <a:xfrm>
            <a:off x="5914795" y="3674996"/>
            <a:ext cx="3973200" cy="557289"/>
          </a:xfrm>
          <a:prstGeom prst="roundRect">
            <a:avLst/>
          </a:prstGeom>
          <a:solidFill>
            <a:srgbClr val="FEF5DA"/>
          </a:solidFill>
          <a:ln w="12700" cap="flat" cmpd="sng" algn="ctr">
            <a:solidFill>
              <a:srgbClr val="FFC000"/>
            </a:solidFill>
            <a:prstDash val="solid"/>
            <a:miter lim="800000"/>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333"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流策略</a:t>
            </a:r>
            <a:endParaRPr kumimoji="0" lang="en-US" altLang="zh-CN" sz="1333"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333"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流分类</a:t>
            </a:r>
            <a:r>
              <a:rPr kumimoji="0" lang="en-US" altLang="zh-CN" sz="1333"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 -&gt; </a:t>
            </a:r>
            <a:r>
              <a:rPr kumimoji="0" lang="zh-CN" altLang="en-US" sz="1333"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流行为</a:t>
            </a:r>
            <a:endParaRPr kumimoji="0" lang="en-US" sz="1333"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圆角矩形 7"/>
          <p:cNvSpPr/>
          <p:nvPr/>
        </p:nvSpPr>
        <p:spPr bwMode="gray">
          <a:xfrm>
            <a:off x="5231915" y="4389892"/>
            <a:ext cx="5338960" cy="1423681"/>
          </a:xfrm>
          <a:prstGeom prst="roundRect">
            <a:avLst/>
          </a:prstGeom>
          <a:solidFill>
            <a:sysClr val="window" lastClr="FFFFFF">
              <a:lumMod val="95000"/>
            </a:sysClr>
          </a:solidFill>
          <a:ln w="12700" cap="flat" cmpd="sng" algn="ctr">
            <a:solidFill>
              <a:sysClr val="window" lastClr="FFFFFF">
                <a:lumMod val="75000"/>
              </a:sysClr>
            </a:solidFill>
            <a:prstDash val="solid"/>
            <a:miter lim="800000"/>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333"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应用流策略</a:t>
            </a:r>
            <a:endParaRPr kumimoji="0" lang="en-US" altLang="zh-CN" sz="1333"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228594" marR="0" lvl="0" indent="-228594"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333"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在接口入方向上应用流策略。</a:t>
            </a:r>
            <a:endParaRPr kumimoji="0" lang="en-US" altLang="zh-CN" sz="1333"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228594" marR="0" lvl="0" indent="-228594"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333"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对属于该</a:t>
            </a:r>
            <a:r>
              <a:rPr kumimoji="0" lang="en-US" altLang="zh-CN" sz="1333"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VLAN</a:t>
            </a:r>
            <a:r>
              <a:rPr kumimoji="0" lang="zh-CN" altLang="en-US" sz="1333"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并匹配流分类中规则的入方向报文实施策略控制。</a:t>
            </a:r>
            <a:endParaRPr kumimoji="0" lang="en-US" altLang="zh-CN" sz="1333"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228594" marR="0" lvl="0" indent="-228594" defTabSz="91440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333"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在全局或单板上应用流策略。</a:t>
            </a:r>
            <a:endParaRPr kumimoji="0" lang="en-US" sz="1333"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Freeform 67"/>
          <p:cNvSpPr/>
          <p:nvPr/>
        </p:nvSpPr>
        <p:spPr bwMode="gray">
          <a:xfrm rot="6300000" flipV="1">
            <a:off x="6450324" y="2958730"/>
            <a:ext cx="636994" cy="961384"/>
          </a:xfrm>
          <a:custGeom>
            <a:avLst/>
            <a:gdLst>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084915"/>
              <a:gd name="connsiteX1" fmla="*/ 2264144 w 2370470"/>
              <a:gd name="connsiteY1" fmla="*/ 776571 h 1084915"/>
              <a:gd name="connsiteX2" fmla="*/ 2370470 w 2370470"/>
              <a:gd name="connsiteY2" fmla="*/ 617082 h 1084915"/>
              <a:gd name="connsiteX3" fmla="*/ 2359837 w 2370470"/>
              <a:gd name="connsiteY3" fmla="*/ 1084915 h 1084915"/>
              <a:gd name="connsiteX4" fmla="*/ 1915928 w 2370470"/>
              <a:gd name="connsiteY4" fmla="*/ 1066110 h 1084915"/>
              <a:gd name="connsiteX5" fmla="*/ 2168451 w 2370470"/>
              <a:gd name="connsiteY5" fmla="*/ 914794 h 1084915"/>
              <a:gd name="connsiteX6" fmla="*/ 116860 w 2370470"/>
              <a:gd name="connsiteY6" fmla="*/ 695448 h 1084915"/>
              <a:gd name="connsiteX0" fmla="*/ 0 w 2370470"/>
              <a:gd name="connsiteY0" fmla="*/ 0 h 1144182"/>
              <a:gd name="connsiteX1" fmla="*/ 2264144 w 2370470"/>
              <a:gd name="connsiteY1" fmla="*/ 776571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70470"/>
              <a:gd name="connsiteY0" fmla="*/ 0 h 1144182"/>
              <a:gd name="connsiteX1" fmla="*/ 2238744 w 2370470"/>
              <a:gd name="connsiteY1" fmla="*/ 835838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1915928 w 2332370"/>
              <a:gd name="connsiteY4" fmla="*/ 1066110 h 1144182"/>
              <a:gd name="connsiteX5" fmla="*/ 2168451 w 2332370"/>
              <a:gd name="connsiteY5" fmla="*/ 914794 h 1144182"/>
              <a:gd name="connsiteX6" fmla="*/ 116860 w 23323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2025995 w 2332370"/>
              <a:gd name="connsiteY4" fmla="*/ 1040710 h 1144182"/>
              <a:gd name="connsiteX5" fmla="*/ 2168451 w 2332370"/>
              <a:gd name="connsiteY5" fmla="*/ 914794 h 1144182"/>
              <a:gd name="connsiteX6" fmla="*/ 116860 w 2332370"/>
              <a:gd name="connsiteY6" fmla="*/ 695448 h 1144182"/>
              <a:gd name="connsiteX0" fmla="*/ 0 w 2357770"/>
              <a:gd name="connsiteY0" fmla="*/ 0 h 1144182"/>
              <a:gd name="connsiteX1" fmla="*/ 2238744 w 2357770"/>
              <a:gd name="connsiteY1" fmla="*/ 8358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45070"/>
              <a:gd name="connsiteY0" fmla="*/ 0 h 1144182"/>
              <a:gd name="connsiteX1" fmla="*/ 2238744 w 2345070"/>
              <a:gd name="connsiteY1" fmla="*/ 899338 h 1144182"/>
              <a:gd name="connsiteX2" fmla="*/ 2345070 w 2345070"/>
              <a:gd name="connsiteY2" fmla="*/ 744082 h 1144182"/>
              <a:gd name="connsiteX3" fmla="*/ 2317504 w 2345070"/>
              <a:gd name="connsiteY3" fmla="*/ 1144182 h 1144182"/>
              <a:gd name="connsiteX4" fmla="*/ 2025995 w 2345070"/>
              <a:gd name="connsiteY4" fmla="*/ 1040710 h 1144182"/>
              <a:gd name="connsiteX5" fmla="*/ 2172685 w 2345070"/>
              <a:gd name="connsiteY5" fmla="*/ 935960 h 1144182"/>
              <a:gd name="connsiteX6" fmla="*/ 116860 w 2345070"/>
              <a:gd name="connsiteY6" fmla="*/ 695448 h 1144182"/>
              <a:gd name="connsiteX0" fmla="*/ 0 w 2357770"/>
              <a:gd name="connsiteY0" fmla="*/ 0 h 1144182"/>
              <a:gd name="connsiteX1" fmla="*/ 2238744 w 2357770"/>
              <a:gd name="connsiteY1" fmla="*/ 899338 h 1144182"/>
              <a:gd name="connsiteX2" fmla="*/ 2357770 w 2357770"/>
              <a:gd name="connsiteY2" fmla="*/ 7567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57770"/>
              <a:gd name="connsiteY0" fmla="*/ 0 h 1118782"/>
              <a:gd name="connsiteX1" fmla="*/ 2238744 w 2357770"/>
              <a:gd name="connsiteY1" fmla="*/ 899338 h 1118782"/>
              <a:gd name="connsiteX2" fmla="*/ 2357770 w 2357770"/>
              <a:gd name="connsiteY2" fmla="*/ 756782 h 1118782"/>
              <a:gd name="connsiteX3" fmla="*/ 2355604 w 2357770"/>
              <a:gd name="connsiteY3" fmla="*/ 1118782 h 1118782"/>
              <a:gd name="connsiteX4" fmla="*/ 2025995 w 2357770"/>
              <a:gd name="connsiteY4" fmla="*/ 1040710 h 1118782"/>
              <a:gd name="connsiteX5" fmla="*/ 2172685 w 2357770"/>
              <a:gd name="connsiteY5" fmla="*/ 935960 h 1118782"/>
              <a:gd name="connsiteX6" fmla="*/ 116860 w 2357770"/>
              <a:gd name="connsiteY6" fmla="*/ 695448 h 1118782"/>
              <a:gd name="connsiteX0" fmla="*/ 0 w 2357770"/>
              <a:gd name="connsiteY0" fmla="*/ 0 h 1135715"/>
              <a:gd name="connsiteX1" fmla="*/ 2238744 w 2357770"/>
              <a:gd name="connsiteY1" fmla="*/ 899338 h 1135715"/>
              <a:gd name="connsiteX2" fmla="*/ 2357770 w 2357770"/>
              <a:gd name="connsiteY2" fmla="*/ 756782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773715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814990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094440"/>
              <a:gd name="connsiteX1" fmla="*/ 2238744 w 2357770"/>
              <a:gd name="connsiteY1" fmla="*/ 899338 h 1094440"/>
              <a:gd name="connsiteX2" fmla="*/ 2357770 w 2357770"/>
              <a:gd name="connsiteY2" fmla="*/ 814990 h 1094440"/>
              <a:gd name="connsiteX3" fmla="*/ 2339171 w 2357770"/>
              <a:gd name="connsiteY3" fmla="*/ 1094440 h 1094440"/>
              <a:gd name="connsiteX4" fmla="*/ 2025995 w 2357770"/>
              <a:gd name="connsiteY4" fmla="*/ 1040710 h 1094440"/>
              <a:gd name="connsiteX5" fmla="*/ 2172685 w 2357770"/>
              <a:gd name="connsiteY5" fmla="*/ 935960 h 1094440"/>
              <a:gd name="connsiteX6" fmla="*/ 116860 w 2357770"/>
              <a:gd name="connsiteY6" fmla="*/ 695448 h 10944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25995 w 2430790"/>
              <a:gd name="connsiteY4" fmla="*/ 1040710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17936 w 2430790"/>
              <a:gd name="connsiteY2" fmla="*/ 79594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18840"/>
              <a:gd name="connsiteY0" fmla="*/ 0 h 1119840"/>
              <a:gd name="connsiteX1" fmla="*/ 2238744 w 2418840"/>
              <a:gd name="connsiteY1" fmla="*/ 899338 h 1119840"/>
              <a:gd name="connsiteX2" fmla="*/ 2317936 w 2418840"/>
              <a:gd name="connsiteY2" fmla="*/ 795940 h 1119840"/>
              <a:gd name="connsiteX3" fmla="*/ 2418840 w 2418840"/>
              <a:gd name="connsiteY3" fmla="*/ 1119840 h 1119840"/>
              <a:gd name="connsiteX4" fmla="*/ 2014045 w 2418840"/>
              <a:gd name="connsiteY4" fmla="*/ 1012135 h 1119840"/>
              <a:gd name="connsiteX5" fmla="*/ 2172685 w 2418840"/>
              <a:gd name="connsiteY5" fmla="*/ 935960 h 1119840"/>
              <a:gd name="connsiteX6" fmla="*/ 116860 w 2418840"/>
              <a:gd name="connsiteY6" fmla="*/ 695448 h 1119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18840" h="1119840">
                <a:moveTo>
                  <a:pt x="0" y="0"/>
                </a:moveTo>
                <a:cubicBezTo>
                  <a:pt x="1542115" y="93757"/>
                  <a:pt x="2025896" y="712448"/>
                  <a:pt x="2238744" y="899338"/>
                </a:cubicBezTo>
                <a:lnTo>
                  <a:pt x="2317936" y="795940"/>
                </a:lnTo>
                <a:lnTo>
                  <a:pt x="2418840" y="1119840"/>
                </a:lnTo>
                <a:lnTo>
                  <a:pt x="2014045" y="1012135"/>
                </a:lnTo>
                <a:lnTo>
                  <a:pt x="2172685" y="935960"/>
                </a:lnTo>
                <a:cubicBezTo>
                  <a:pt x="1329367" y="531234"/>
                  <a:pt x="409846" y="668374"/>
                  <a:pt x="116860" y="695448"/>
                </a:cubicBezTo>
              </a:path>
            </a:pathLst>
          </a:custGeom>
          <a:gradFill flip="none" rotWithShape="1">
            <a:gsLst>
              <a:gs pos="23000">
                <a:srgbClr val="5B9BD5">
                  <a:lumMod val="5000"/>
                  <a:lumOff val="95000"/>
                  <a:alpha val="0"/>
                </a:srgbClr>
              </a:gs>
              <a:gs pos="100000">
                <a:srgbClr val="FFCC66"/>
              </a:gs>
            </a:gsLst>
            <a:lin ang="2700000" scaled="1"/>
            <a:tileRect/>
          </a:gradFill>
          <a:ln w="12700" cap="flat" cmpd="sng" algn="ctr">
            <a:gradFill flip="none" rotWithShape="1">
              <a:gsLst>
                <a:gs pos="26000">
                  <a:srgbClr val="5B9BD5">
                    <a:lumMod val="0"/>
                    <a:lumOff val="100000"/>
                    <a:alpha val="0"/>
                  </a:srgbClr>
                </a:gs>
                <a:gs pos="71000">
                  <a:srgbClr val="FF9933"/>
                </a:gs>
              </a:gsLst>
              <a:lin ang="270000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Freeform 67"/>
          <p:cNvSpPr/>
          <p:nvPr/>
        </p:nvSpPr>
        <p:spPr bwMode="gray">
          <a:xfrm rot="4814260">
            <a:off x="8635810" y="2962301"/>
            <a:ext cx="651392" cy="957445"/>
          </a:xfrm>
          <a:custGeom>
            <a:avLst/>
            <a:gdLst>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084915"/>
              <a:gd name="connsiteX1" fmla="*/ 2264144 w 2370470"/>
              <a:gd name="connsiteY1" fmla="*/ 776571 h 1084915"/>
              <a:gd name="connsiteX2" fmla="*/ 2370470 w 2370470"/>
              <a:gd name="connsiteY2" fmla="*/ 617082 h 1084915"/>
              <a:gd name="connsiteX3" fmla="*/ 2359837 w 2370470"/>
              <a:gd name="connsiteY3" fmla="*/ 1084915 h 1084915"/>
              <a:gd name="connsiteX4" fmla="*/ 1915928 w 2370470"/>
              <a:gd name="connsiteY4" fmla="*/ 1066110 h 1084915"/>
              <a:gd name="connsiteX5" fmla="*/ 2168451 w 2370470"/>
              <a:gd name="connsiteY5" fmla="*/ 914794 h 1084915"/>
              <a:gd name="connsiteX6" fmla="*/ 116860 w 2370470"/>
              <a:gd name="connsiteY6" fmla="*/ 695448 h 1084915"/>
              <a:gd name="connsiteX0" fmla="*/ 0 w 2370470"/>
              <a:gd name="connsiteY0" fmla="*/ 0 h 1144182"/>
              <a:gd name="connsiteX1" fmla="*/ 2264144 w 2370470"/>
              <a:gd name="connsiteY1" fmla="*/ 776571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70470"/>
              <a:gd name="connsiteY0" fmla="*/ 0 h 1144182"/>
              <a:gd name="connsiteX1" fmla="*/ 2238744 w 2370470"/>
              <a:gd name="connsiteY1" fmla="*/ 835838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1915928 w 2332370"/>
              <a:gd name="connsiteY4" fmla="*/ 1066110 h 1144182"/>
              <a:gd name="connsiteX5" fmla="*/ 2168451 w 2332370"/>
              <a:gd name="connsiteY5" fmla="*/ 914794 h 1144182"/>
              <a:gd name="connsiteX6" fmla="*/ 116860 w 23323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2025995 w 2332370"/>
              <a:gd name="connsiteY4" fmla="*/ 1040710 h 1144182"/>
              <a:gd name="connsiteX5" fmla="*/ 2168451 w 2332370"/>
              <a:gd name="connsiteY5" fmla="*/ 914794 h 1144182"/>
              <a:gd name="connsiteX6" fmla="*/ 116860 w 2332370"/>
              <a:gd name="connsiteY6" fmla="*/ 695448 h 1144182"/>
              <a:gd name="connsiteX0" fmla="*/ 0 w 2357770"/>
              <a:gd name="connsiteY0" fmla="*/ 0 h 1144182"/>
              <a:gd name="connsiteX1" fmla="*/ 2238744 w 2357770"/>
              <a:gd name="connsiteY1" fmla="*/ 8358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45070"/>
              <a:gd name="connsiteY0" fmla="*/ 0 h 1144182"/>
              <a:gd name="connsiteX1" fmla="*/ 2238744 w 2345070"/>
              <a:gd name="connsiteY1" fmla="*/ 899338 h 1144182"/>
              <a:gd name="connsiteX2" fmla="*/ 2345070 w 2345070"/>
              <a:gd name="connsiteY2" fmla="*/ 744082 h 1144182"/>
              <a:gd name="connsiteX3" fmla="*/ 2317504 w 2345070"/>
              <a:gd name="connsiteY3" fmla="*/ 1144182 h 1144182"/>
              <a:gd name="connsiteX4" fmla="*/ 2025995 w 2345070"/>
              <a:gd name="connsiteY4" fmla="*/ 1040710 h 1144182"/>
              <a:gd name="connsiteX5" fmla="*/ 2172685 w 2345070"/>
              <a:gd name="connsiteY5" fmla="*/ 935960 h 1144182"/>
              <a:gd name="connsiteX6" fmla="*/ 116860 w 2345070"/>
              <a:gd name="connsiteY6" fmla="*/ 695448 h 1144182"/>
              <a:gd name="connsiteX0" fmla="*/ 0 w 2357770"/>
              <a:gd name="connsiteY0" fmla="*/ 0 h 1144182"/>
              <a:gd name="connsiteX1" fmla="*/ 2238744 w 2357770"/>
              <a:gd name="connsiteY1" fmla="*/ 899338 h 1144182"/>
              <a:gd name="connsiteX2" fmla="*/ 2357770 w 2357770"/>
              <a:gd name="connsiteY2" fmla="*/ 7567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57770"/>
              <a:gd name="connsiteY0" fmla="*/ 0 h 1118782"/>
              <a:gd name="connsiteX1" fmla="*/ 2238744 w 2357770"/>
              <a:gd name="connsiteY1" fmla="*/ 899338 h 1118782"/>
              <a:gd name="connsiteX2" fmla="*/ 2357770 w 2357770"/>
              <a:gd name="connsiteY2" fmla="*/ 756782 h 1118782"/>
              <a:gd name="connsiteX3" fmla="*/ 2355604 w 2357770"/>
              <a:gd name="connsiteY3" fmla="*/ 1118782 h 1118782"/>
              <a:gd name="connsiteX4" fmla="*/ 2025995 w 2357770"/>
              <a:gd name="connsiteY4" fmla="*/ 1040710 h 1118782"/>
              <a:gd name="connsiteX5" fmla="*/ 2172685 w 2357770"/>
              <a:gd name="connsiteY5" fmla="*/ 935960 h 1118782"/>
              <a:gd name="connsiteX6" fmla="*/ 116860 w 2357770"/>
              <a:gd name="connsiteY6" fmla="*/ 695448 h 1118782"/>
              <a:gd name="connsiteX0" fmla="*/ 0 w 2357770"/>
              <a:gd name="connsiteY0" fmla="*/ 0 h 1135715"/>
              <a:gd name="connsiteX1" fmla="*/ 2238744 w 2357770"/>
              <a:gd name="connsiteY1" fmla="*/ 899338 h 1135715"/>
              <a:gd name="connsiteX2" fmla="*/ 2357770 w 2357770"/>
              <a:gd name="connsiteY2" fmla="*/ 756782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773715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814990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094440"/>
              <a:gd name="connsiteX1" fmla="*/ 2238744 w 2357770"/>
              <a:gd name="connsiteY1" fmla="*/ 899338 h 1094440"/>
              <a:gd name="connsiteX2" fmla="*/ 2357770 w 2357770"/>
              <a:gd name="connsiteY2" fmla="*/ 814990 h 1094440"/>
              <a:gd name="connsiteX3" fmla="*/ 2339171 w 2357770"/>
              <a:gd name="connsiteY3" fmla="*/ 1094440 h 1094440"/>
              <a:gd name="connsiteX4" fmla="*/ 2025995 w 2357770"/>
              <a:gd name="connsiteY4" fmla="*/ 1040710 h 1094440"/>
              <a:gd name="connsiteX5" fmla="*/ 2172685 w 2357770"/>
              <a:gd name="connsiteY5" fmla="*/ 935960 h 1094440"/>
              <a:gd name="connsiteX6" fmla="*/ 116860 w 2357770"/>
              <a:gd name="connsiteY6" fmla="*/ 695448 h 10944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25995 w 2430790"/>
              <a:gd name="connsiteY4" fmla="*/ 1040710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17936 w 2430790"/>
              <a:gd name="connsiteY2" fmla="*/ 79594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18840"/>
              <a:gd name="connsiteY0" fmla="*/ 0 h 1119840"/>
              <a:gd name="connsiteX1" fmla="*/ 2238744 w 2418840"/>
              <a:gd name="connsiteY1" fmla="*/ 899338 h 1119840"/>
              <a:gd name="connsiteX2" fmla="*/ 2317936 w 2418840"/>
              <a:gd name="connsiteY2" fmla="*/ 795940 h 1119840"/>
              <a:gd name="connsiteX3" fmla="*/ 2418840 w 2418840"/>
              <a:gd name="connsiteY3" fmla="*/ 1119840 h 1119840"/>
              <a:gd name="connsiteX4" fmla="*/ 2014045 w 2418840"/>
              <a:gd name="connsiteY4" fmla="*/ 1012135 h 1119840"/>
              <a:gd name="connsiteX5" fmla="*/ 2172685 w 2418840"/>
              <a:gd name="connsiteY5" fmla="*/ 935960 h 1119840"/>
              <a:gd name="connsiteX6" fmla="*/ 116860 w 2418840"/>
              <a:gd name="connsiteY6" fmla="*/ 695448 h 1119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18840" h="1119840">
                <a:moveTo>
                  <a:pt x="0" y="0"/>
                </a:moveTo>
                <a:cubicBezTo>
                  <a:pt x="1542115" y="93757"/>
                  <a:pt x="2025896" y="712448"/>
                  <a:pt x="2238744" y="899338"/>
                </a:cubicBezTo>
                <a:lnTo>
                  <a:pt x="2317936" y="795940"/>
                </a:lnTo>
                <a:lnTo>
                  <a:pt x="2418840" y="1119840"/>
                </a:lnTo>
                <a:lnTo>
                  <a:pt x="2014045" y="1012135"/>
                </a:lnTo>
                <a:lnTo>
                  <a:pt x="2172685" y="935960"/>
                </a:lnTo>
                <a:cubicBezTo>
                  <a:pt x="1329367" y="531234"/>
                  <a:pt x="409846" y="668374"/>
                  <a:pt x="116860" y="695448"/>
                </a:cubicBezTo>
              </a:path>
            </a:pathLst>
          </a:custGeom>
          <a:gradFill flip="none" rotWithShape="1">
            <a:gsLst>
              <a:gs pos="23000">
                <a:srgbClr val="5B9BD5">
                  <a:lumMod val="5000"/>
                  <a:lumOff val="95000"/>
                  <a:alpha val="0"/>
                </a:srgbClr>
              </a:gs>
              <a:gs pos="100000">
                <a:srgbClr val="FFCC66"/>
              </a:gs>
            </a:gsLst>
            <a:lin ang="2700000" scaled="1"/>
            <a:tileRect/>
          </a:gradFill>
          <a:ln w="12700" cap="flat" cmpd="sng" algn="ctr">
            <a:gradFill flip="none" rotWithShape="1">
              <a:gsLst>
                <a:gs pos="26000">
                  <a:srgbClr val="5B9BD5">
                    <a:lumMod val="0"/>
                    <a:lumOff val="100000"/>
                    <a:alpha val="0"/>
                  </a:srgbClr>
                </a:gs>
                <a:gs pos="71000">
                  <a:srgbClr val="FF9933"/>
                </a:gs>
              </a:gsLst>
              <a:lin ang="270000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矩形 10"/>
          <p:cNvSpPr/>
          <p:nvPr/>
        </p:nvSpPr>
        <p:spPr bwMode="gray">
          <a:xfrm>
            <a:off x="557446" y="5138754"/>
            <a:ext cx="4416890" cy="733534"/>
          </a:xfrm>
          <a:prstGeom prst="rect">
            <a:avLst/>
          </a:prstGeom>
        </p:spPr>
        <p:txBody>
          <a:bodyPr wrap="square">
            <a:spAutoFit/>
          </a:bodyPr>
          <a:lstStyle/>
          <a:p>
            <a:pPr defTabSz="914400">
              <a:lnSpc>
                <a:spcPts val="2533"/>
              </a:lnSpc>
            </a:pPr>
            <a:r>
              <a:rPr lang="zh-CN" altLang="en-US" sz="1333" dirty="0">
                <a:solidFill>
                  <a:srgbClr val="333333"/>
                </a:solidFill>
                <a:latin typeface="Huawei Sans" panose="020C0503030203020204" pitchFamily="34" charset="0"/>
                <a:ea typeface="方正兰亭黑简体" panose="02000000000000000000" pitchFamily="2" charset="-122"/>
                <a:sym typeface="Huawei Sans" panose="020C0503030203020204" pitchFamily="34" charset="0"/>
              </a:rPr>
              <a:t>策略路由（</a:t>
            </a:r>
            <a:r>
              <a:rPr lang="en-US" altLang="zh-CN" sz="1333" dirty="0">
                <a:solidFill>
                  <a:srgbClr val="333333"/>
                </a:solidFill>
                <a:latin typeface="Huawei Sans" panose="020C0503030203020204" pitchFamily="34" charset="0"/>
                <a:ea typeface="方正兰亭黑简体" panose="02000000000000000000" pitchFamily="2" charset="-122"/>
                <a:sym typeface="Huawei Sans" panose="020C0503030203020204" pitchFamily="34" charset="0"/>
              </a:rPr>
              <a:t>Policy-Based Routing</a:t>
            </a:r>
            <a:r>
              <a:rPr lang="zh-CN" altLang="en-US" sz="1333" dirty="0">
                <a:solidFill>
                  <a:srgbClr val="333333"/>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333" dirty="0">
                <a:solidFill>
                  <a:srgbClr val="333333"/>
                </a:solidFill>
                <a:latin typeface="Huawei Sans" panose="020C0503030203020204" pitchFamily="34" charset="0"/>
                <a:ea typeface="方正兰亭黑简体" panose="02000000000000000000" pitchFamily="2" charset="-122"/>
                <a:sym typeface="Huawei Sans" panose="020C0503030203020204" pitchFamily="34" charset="0"/>
              </a:rPr>
              <a:t>PBR</a:t>
            </a:r>
            <a:r>
              <a:rPr lang="zh-CN" altLang="en-US" sz="1333" dirty="0">
                <a:solidFill>
                  <a:srgbClr val="333333"/>
                </a:solidFill>
                <a:latin typeface="Huawei Sans" panose="020C0503030203020204" pitchFamily="34" charset="0"/>
                <a:ea typeface="方正兰亭黑简体" panose="02000000000000000000" pitchFamily="2" charset="-122"/>
                <a:sym typeface="Huawei Sans" panose="020C0503030203020204" pitchFamily="34" charset="0"/>
              </a:rPr>
              <a:t>）可以通过</a:t>
            </a:r>
            <a:r>
              <a:rPr lang="en-US" altLang="zh-CN" sz="1333" dirty="0">
                <a:solidFill>
                  <a:srgbClr val="333333"/>
                </a:solidFill>
                <a:latin typeface="Huawei Sans" panose="020C0503030203020204" pitchFamily="34" charset="0"/>
                <a:ea typeface="方正兰亭黑简体" panose="02000000000000000000" pitchFamily="2" charset="-122"/>
                <a:sym typeface="Huawei Sans" panose="020C0503030203020204" pitchFamily="34" charset="0"/>
              </a:rPr>
              <a:t>MQC</a:t>
            </a:r>
            <a:r>
              <a:rPr lang="zh-CN" altLang="en-US" sz="1333" dirty="0">
                <a:solidFill>
                  <a:srgbClr val="333333"/>
                </a:solidFill>
                <a:latin typeface="Huawei Sans" panose="020C0503030203020204" pitchFamily="34" charset="0"/>
                <a:ea typeface="方正兰亭黑简体" panose="02000000000000000000" pitchFamily="2" charset="-122"/>
                <a:sym typeface="Huawei Sans" panose="020C0503030203020204" pitchFamily="34" charset="0"/>
              </a:rPr>
              <a:t>的方式部署，也可以通过基于</a:t>
            </a:r>
            <a:r>
              <a:rPr lang="en-US" altLang="zh-CN" sz="1333" dirty="0">
                <a:solidFill>
                  <a:srgbClr val="333333"/>
                </a:solidFill>
                <a:latin typeface="Huawei Sans" panose="020C0503030203020204" pitchFamily="34" charset="0"/>
                <a:ea typeface="方正兰亭黑简体" panose="02000000000000000000" pitchFamily="2" charset="-122"/>
                <a:sym typeface="Huawei Sans" panose="020C0503030203020204" pitchFamily="34" charset="0"/>
              </a:rPr>
              <a:t>ACL</a:t>
            </a:r>
            <a:r>
              <a:rPr lang="zh-CN" altLang="en-US" sz="1333" dirty="0">
                <a:solidFill>
                  <a:srgbClr val="333333"/>
                </a:solidFill>
                <a:latin typeface="Huawei Sans" panose="020C0503030203020204" pitchFamily="34" charset="0"/>
                <a:ea typeface="方正兰亭黑简体" panose="02000000000000000000" pitchFamily="2" charset="-122"/>
                <a:sym typeface="Huawei Sans" panose="020C0503030203020204" pitchFamily="34" charset="0"/>
              </a:rPr>
              <a:t>的简化流策略配置。</a:t>
            </a:r>
            <a:endParaRPr lang="en-US" sz="1333"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2" name="图片 76" descr="接入交换机.png"/>
          <p:cNvPicPr>
            <a:picLocks/>
          </p:cNvPicPr>
          <p:nvPr/>
        </p:nvPicPr>
        <p:blipFill>
          <a:blip r:embed="rId3" cstate="print"/>
          <a:stretch>
            <a:fillRect/>
          </a:stretch>
        </p:blipFill>
        <p:spPr bwMode="gray">
          <a:xfrm>
            <a:off x="2364363" y="2444734"/>
            <a:ext cx="490909" cy="401653"/>
          </a:xfrm>
          <a:prstGeom prst="rect">
            <a:avLst/>
          </a:prstGeom>
        </p:spPr>
      </p:pic>
      <p:pic>
        <p:nvPicPr>
          <p:cNvPr id="13" name="图片 76" descr="接入交换机.png"/>
          <p:cNvPicPr>
            <a:picLocks noChangeAspect="1"/>
          </p:cNvPicPr>
          <p:nvPr/>
        </p:nvPicPr>
        <p:blipFill>
          <a:blip r:embed="rId3" cstate="print"/>
          <a:stretch>
            <a:fillRect/>
          </a:stretch>
        </p:blipFill>
        <p:spPr bwMode="gray">
          <a:xfrm>
            <a:off x="2366324" y="3308112"/>
            <a:ext cx="490909" cy="401653"/>
          </a:xfrm>
          <a:prstGeom prst="rect">
            <a:avLst/>
          </a:prstGeom>
        </p:spPr>
      </p:pic>
      <p:pic>
        <p:nvPicPr>
          <p:cNvPr id="14" name="图片 11" descr="开放网络-蓝.png"/>
          <p:cNvPicPr>
            <a:picLocks noChangeAspect="1"/>
          </p:cNvPicPr>
          <p:nvPr/>
        </p:nvPicPr>
        <p:blipFill>
          <a:blip r:embed="rId4" cstate="print"/>
          <a:stretch>
            <a:fillRect/>
          </a:stretch>
        </p:blipFill>
        <p:spPr bwMode="gray">
          <a:xfrm>
            <a:off x="1693715" y="4248543"/>
            <a:ext cx="525922" cy="404846"/>
          </a:xfrm>
          <a:prstGeom prst="rect">
            <a:avLst/>
          </a:prstGeom>
        </p:spPr>
      </p:pic>
      <p:pic>
        <p:nvPicPr>
          <p:cNvPr id="15" name="图片 11" descr="开放网络-蓝.png"/>
          <p:cNvPicPr>
            <a:picLocks noChangeAspect="1"/>
          </p:cNvPicPr>
          <p:nvPr/>
        </p:nvPicPr>
        <p:blipFill>
          <a:blip r:embed="rId4" cstate="print"/>
          <a:stretch>
            <a:fillRect/>
          </a:stretch>
        </p:blipFill>
        <p:spPr bwMode="gray">
          <a:xfrm>
            <a:off x="3023405" y="4248543"/>
            <a:ext cx="525922" cy="404846"/>
          </a:xfrm>
          <a:prstGeom prst="rect">
            <a:avLst/>
          </a:prstGeom>
        </p:spPr>
      </p:pic>
      <p:sp>
        <p:nvSpPr>
          <p:cNvPr id="17" name="文本框 16"/>
          <p:cNvSpPr txBox="1"/>
          <p:nvPr/>
        </p:nvSpPr>
        <p:spPr bwMode="gray">
          <a:xfrm>
            <a:off x="2120594" y="4722656"/>
            <a:ext cx="902811"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企业内网</a:t>
            </a:r>
          </a:p>
        </p:txBody>
      </p:sp>
      <p:cxnSp>
        <p:nvCxnSpPr>
          <p:cNvPr id="19" name="直接连接符 18"/>
          <p:cNvCxnSpPr>
            <a:stCxn id="14" idx="0"/>
            <a:endCxn id="13" idx="2"/>
          </p:cNvCxnSpPr>
          <p:nvPr/>
        </p:nvCxnSpPr>
        <p:spPr bwMode="gray">
          <a:xfrm flipV="1">
            <a:off x="1956676" y="3709765"/>
            <a:ext cx="655103" cy="53877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15" idx="0"/>
            <a:endCxn id="13" idx="2"/>
          </p:cNvCxnSpPr>
          <p:nvPr/>
        </p:nvCxnSpPr>
        <p:spPr bwMode="gray">
          <a:xfrm flipH="1" flipV="1">
            <a:off x="2611779" y="3709765"/>
            <a:ext cx="674587" cy="53877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13" idx="0"/>
            <a:endCxn id="12" idx="2"/>
          </p:cNvCxnSpPr>
          <p:nvPr/>
        </p:nvCxnSpPr>
        <p:spPr bwMode="gray">
          <a:xfrm flipH="1" flipV="1">
            <a:off x="2609818" y="2846387"/>
            <a:ext cx="1961" cy="4617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4" name="图片 9"/>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681943" y="2444734"/>
            <a:ext cx="490909" cy="401653"/>
          </a:xfrm>
          <a:prstGeom prst="rect">
            <a:avLst/>
          </a:prstGeom>
        </p:spPr>
      </p:pic>
      <p:pic>
        <p:nvPicPr>
          <p:cNvPr id="28" name="Picture 2" descr="G:\做的项目\公共\扁平图标切换\更新2015_01_21\oss扁平图标库2015_01_21更新-04.png"/>
          <p:cNvPicPr>
            <a:picLocks noChangeArrowheads="1"/>
          </p:cNvPicPr>
          <p:nvPr/>
        </p:nvPicPr>
        <p:blipFill>
          <a:blip r:embed="rId6" cstate="print"/>
          <a:stretch>
            <a:fillRect/>
          </a:stretch>
        </p:blipFill>
        <p:spPr bwMode="gray">
          <a:xfrm>
            <a:off x="2366324" y="1530425"/>
            <a:ext cx="490909" cy="401653"/>
          </a:xfrm>
          <a:prstGeom prst="rect">
            <a:avLst/>
          </a:prstGeom>
          <a:noFill/>
        </p:spPr>
      </p:pic>
      <p:cxnSp>
        <p:nvCxnSpPr>
          <p:cNvPr id="30" name="直接连接符 29"/>
          <p:cNvCxnSpPr>
            <a:stCxn id="12" idx="0"/>
            <a:endCxn id="28" idx="2"/>
          </p:cNvCxnSpPr>
          <p:nvPr/>
        </p:nvCxnSpPr>
        <p:spPr bwMode="gray">
          <a:xfrm flipV="1">
            <a:off x="2609818" y="1932078"/>
            <a:ext cx="1961" cy="5126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p:nvPr/>
        </p:nvCxnSpPr>
        <p:spPr bwMode="gray">
          <a:xfrm flipH="1">
            <a:off x="1391885" y="2444734"/>
            <a:ext cx="892342" cy="0"/>
          </a:xfrm>
          <a:prstGeom prst="straightConnector1">
            <a:avLst/>
          </a:prstGeom>
          <a:ln w="19050">
            <a:solidFill>
              <a:srgbClr val="C7000B"/>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bwMode="gray">
          <a:xfrm flipH="1">
            <a:off x="1391885" y="2846387"/>
            <a:ext cx="892342" cy="0"/>
          </a:xfrm>
          <a:prstGeom prst="straightConnector1">
            <a:avLst/>
          </a:prstGeom>
          <a:ln w="19050">
            <a:solidFill>
              <a:srgbClr val="62B23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7" name="文本框 36"/>
          <p:cNvSpPr txBox="1"/>
          <p:nvPr/>
        </p:nvSpPr>
        <p:spPr bwMode="gray">
          <a:xfrm>
            <a:off x="2195639" y="1252418"/>
            <a:ext cx="832279" cy="307777"/>
          </a:xfrm>
          <a:prstGeom prst="rect">
            <a:avLst/>
          </a:prstGeom>
          <a:noFill/>
        </p:spPr>
        <p:txBody>
          <a:bodyPr wrap="non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8" name="直接箭头连接符 37"/>
          <p:cNvCxnSpPr/>
          <p:nvPr/>
        </p:nvCxnSpPr>
        <p:spPr bwMode="gray">
          <a:xfrm>
            <a:off x="2706059" y="1970085"/>
            <a:ext cx="8361" cy="413300"/>
          </a:xfrm>
          <a:prstGeom prst="straightConnector1">
            <a:avLst/>
          </a:prstGeom>
          <a:ln w="19050">
            <a:solidFill>
              <a:srgbClr val="62B23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bwMode="gray">
          <a:xfrm flipH="1" flipV="1">
            <a:off x="2706057" y="2892794"/>
            <a:ext cx="1" cy="360000"/>
          </a:xfrm>
          <a:prstGeom prst="straightConnector1">
            <a:avLst/>
          </a:prstGeom>
          <a:ln w="19050">
            <a:solidFill>
              <a:srgbClr val="C7000B"/>
            </a:solidFill>
            <a:tailEnd type="triangle"/>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bwMode="gray">
          <a:xfrm>
            <a:off x="2706056" y="2923361"/>
            <a:ext cx="364202" cy="307777"/>
          </a:xfrm>
          <a:prstGeom prst="rect">
            <a:avLst/>
          </a:prstGeom>
          <a:noFill/>
        </p:spPr>
        <p:txBody>
          <a:bodyPr wrap="none" rtlCol="0">
            <a:spAutoFit/>
          </a:bodyPr>
          <a:lstStyle/>
          <a:p>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①</a:t>
            </a:r>
          </a:p>
        </p:txBody>
      </p:sp>
      <p:sp>
        <p:nvSpPr>
          <p:cNvPr id="54" name="文本框 53"/>
          <p:cNvSpPr txBox="1"/>
          <p:nvPr/>
        </p:nvSpPr>
        <p:spPr bwMode="gray">
          <a:xfrm>
            <a:off x="1710528" y="2135417"/>
            <a:ext cx="364202" cy="307777"/>
          </a:xfrm>
          <a:prstGeom prst="rect">
            <a:avLst/>
          </a:prstGeom>
          <a:noFill/>
        </p:spPr>
        <p:txBody>
          <a:bodyPr wrap="none" rtlCol="0">
            <a:spAutoFit/>
          </a:bodyPr>
          <a:lstStyle/>
          <a:p>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②</a:t>
            </a:r>
          </a:p>
        </p:txBody>
      </p:sp>
      <p:sp>
        <p:nvSpPr>
          <p:cNvPr id="55" name="文本框 54"/>
          <p:cNvSpPr txBox="1"/>
          <p:nvPr/>
        </p:nvSpPr>
        <p:spPr bwMode="gray">
          <a:xfrm>
            <a:off x="1710528" y="2837758"/>
            <a:ext cx="364202" cy="307777"/>
          </a:xfrm>
          <a:prstGeom prst="rect">
            <a:avLst/>
          </a:prstGeom>
          <a:noFill/>
        </p:spPr>
        <p:txBody>
          <a:bodyPr wrap="none" rtlCol="0">
            <a:spAutoFit/>
          </a:bodyPr>
          <a:lstStyle/>
          <a:p>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③</a:t>
            </a:r>
          </a:p>
        </p:txBody>
      </p:sp>
      <p:sp>
        <p:nvSpPr>
          <p:cNvPr id="56" name="文本框 55"/>
          <p:cNvSpPr txBox="1"/>
          <p:nvPr/>
        </p:nvSpPr>
        <p:spPr bwMode="gray">
          <a:xfrm>
            <a:off x="2663716" y="2064007"/>
            <a:ext cx="364202" cy="307777"/>
          </a:xfrm>
          <a:prstGeom prst="rect">
            <a:avLst/>
          </a:prstGeom>
          <a:noFill/>
        </p:spPr>
        <p:txBody>
          <a:bodyPr wrap="none" rtlCol="0">
            <a:spAutoFit/>
          </a:bodyPr>
          <a:lstStyle/>
          <a:p>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④</a:t>
            </a:r>
          </a:p>
        </p:txBody>
      </p:sp>
      <p:sp>
        <p:nvSpPr>
          <p:cNvPr id="39" name="五边形 38"/>
          <p:cNvSpPr/>
          <p:nvPr/>
        </p:nvSpPr>
        <p:spPr bwMode="auto">
          <a:xfrm>
            <a:off x="6179960" y="98481"/>
            <a:ext cx="94884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以太网交换</a:t>
            </a:r>
          </a:p>
        </p:txBody>
      </p:sp>
      <p:sp>
        <p:nvSpPr>
          <p:cNvPr id="40" name="燕尾形 39"/>
          <p:cNvSpPr/>
          <p:nvPr/>
        </p:nvSpPr>
        <p:spPr bwMode="auto">
          <a:xfrm>
            <a:off x="7049907" y="98481"/>
            <a:ext cx="678521"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燕尾形 41"/>
          <p:cNvSpPr/>
          <p:nvPr/>
        </p:nvSpPr>
        <p:spPr bwMode="auto">
          <a:xfrm>
            <a:off x="7649535" y="98481"/>
            <a:ext cx="87595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无线接入</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燕尾形 42"/>
          <p:cNvSpPr/>
          <p:nvPr/>
        </p:nvSpPr>
        <p:spPr bwMode="auto">
          <a:xfrm>
            <a:off x="8446601"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可靠性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燕尾形 43"/>
          <p:cNvSpPr/>
          <p:nvPr/>
        </p:nvSpPr>
        <p:spPr bwMode="auto">
          <a:xfrm>
            <a:off x="9148908" y="98481"/>
            <a:ext cx="87048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网络安全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燕尾形 44"/>
          <p:cNvSpPr/>
          <p:nvPr/>
        </p:nvSpPr>
        <p:spPr bwMode="auto">
          <a:xfrm>
            <a:off x="9940504" y="98481"/>
            <a:ext cx="130400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网络服务与管理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燕尾形 45"/>
          <p:cNvSpPr/>
          <p:nvPr/>
        </p:nvSpPr>
        <p:spPr bwMode="auto">
          <a:xfrm>
            <a:off x="11165613" y="98481"/>
            <a:ext cx="583475"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出口</a:t>
            </a:r>
          </a:p>
        </p:txBody>
      </p:sp>
    </p:spTree>
    <p:extLst>
      <p:ext uri="{BB962C8B-B14F-4D97-AF65-F5344CB8AC3E}">
        <p14:creationId xmlns:p14="http://schemas.microsoft.com/office/powerpoint/2010/main" val="11267179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Huawei Sans" panose="020C0503030203020204" pitchFamily="34" charset="0"/>
              </a:rPr>
              <a:t>WLAN</a:t>
            </a:r>
            <a:r>
              <a:rPr lang="zh-CN" altLang="en-US" dirty="0">
                <a:sym typeface="Huawei Sans" panose="020C0503030203020204" pitchFamily="34" charset="0"/>
              </a:rPr>
              <a:t>组网架构综述 </a:t>
            </a:r>
            <a:r>
              <a:rPr lang="en-US" altLang="zh-CN" dirty="0">
                <a:sym typeface="Huawei Sans" panose="020C0503030203020204" pitchFamily="34" charset="0"/>
              </a:rPr>
              <a:t>(1)</a:t>
            </a:r>
            <a:endParaRPr lang="zh-CN" altLang="en-US" dirty="0">
              <a:sym typeface="Huawei Sans" panose="020C0503030203020204" pitchFamily="34" charset="0"/>
            </a:endParaRPr>
          </a:p>
        </p:txBody>
      </p:sp>
      <p:cxnSp>
        <p:nvCxnSpPr>
          <p:cNvPr id="3" name="直接连接符 2"/>
          <p:cNvCxnSpPr/>
          <p:nvPr/>
        </p:nvCxnSpPr>
        <p:spPr bwMode="gray">
          <a:xfrm>
            <a:off x="8250091" y="2356061"/>
            <a:ext cx="0" cy="74651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Group 165"/>
          <p:cNvGrpSpPr/>
          <p:nvPr/>
        </p:nvGrpSpPr>
        <p:grpSpPr bwMode="gray">
          <a:xfrm rot="10800000">
            <a:off x="7934611" y="3100338"/>
            <a:ext cx="636528" cy="746548"/>
            <a:chOff x="-1233037" y="914446"/>
            <a:chExt cx="1573823" cy="778776"/>
          </a:xfrm>
        </p:grpSpPr>
        <p:cxnSp>
          <p:nvCxnSpPr>
            <p:cNvPr id="5" name="Straight Connector 166"/>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167"/>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7" name="Group 165"/>
          <p:cNvGrpSpPr/>
          <p:nvPr/>
        </p:nvGrpSpPr>
        <p:grpSpPr bwMode="gray">
          <a:xfrm rot="10800000">
            <a:off x="7316544" y="3108469"/>
            <a:ext cx="1872662" cy="746548"/>
            <a:chOff x="-1233037" y="914446"/>
            <a:chExt cx="1573823" cy="778776"/>
          </a:xfrm>
        </p:grpSpPr>
        <p:cxnSp>
          <p:nvCxnSpPr>
            <p:cNvPr id="8" name="Straight Connector 166"/>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167"/>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sp>
        <p:nvSpPr>
          <p:cNvPr id="10" name="圆角矩形 75"/>
          <p:cNvSpPr/>
          <p:nvPr/>
        </p:nvSpPr>
        <p:spPr bwMode="gray">
          <a:xfrm>
            <a:off x="539399" y="1117254"/>
            <a:ext cx="4673375" cy="395245"/>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FAT AP</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圆角矩形 75"/>
          <p:cNvSpPr/>
          <p:nvPr/>
        </p:nvSpPr>
        <p:spPr bwMode="gray">
          <a:xfrm>
            <a:off x="539399" y="1571769"/>
            <a:ext cx="4673375" cy="4524232"/>
          </a:xfrm>
          <a:prstGeom prst="roundRect">
            <a:avLst>
              <a:gd name="adj" fmla="val 874"/>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en-US" altLang="zh-CN" sz="1400" dirty="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pic>
        <p:nvPicPr>
          <p:cNvPr id="12" name="图片 102" descr="AC-蓝.png"/>
          <p:cNvPicPr>
            <a:picLocks noChangeAspect="1"/>
          </p:cNvPicPr>
          <p:nvPr/>
        </p:nvPicPr>
        <p:blipFill>
          <a:blip r:embed="rId3" cstate="print"/>
          <a:stretch>
            <a:fillRect/>
          </a:stretch>
        </p:blipFill>
        <p:spPr bwMode="gray">
          <a:xfrm>
            <a:off x="9110710" y="2105512"/>
            <a:ext cx="446281" cy="365139"/>
          </a:xfrm>
          <a:prstGeom prst="rect">
            <a:avLst/>
          </a:prstGeom>
        </p:spPr>
      </p:pic>
      <p:pic>
        <p:nvPicPr>
          <p:cNvPr id="13" name="图片 158" descr="SAN网络-蓝.png"/>
          <p:cNvPicPr>
            <a:picLocks noChangeAspect="1"/>
          </p:cNvPicPr>
          <p:nvPr/>
        </p:nvPicPr>
        <p:blipFill>
          <a:blip r:embed="rId4" cstate="print"/>
          <a:stretch>
            <a:fillRect/>
          </a:stretch>
        </p:blipFill>
        <p:spPr bwMode="gray">
          <a:xfrm>
            <a:off x="3550364" y="4513070"/>
            <a:ext cx="182733" cy="299373"/>
          </a:xfrm>
          <a:prstGeom prst="rect">
            <a:avLst/>
          </a:prstGeom>
        </p:spPr>
      </p:pic>
      <p:pic>
        <p:nvPicPr>
          <p:cNvPr id="14" name="图片 157" descr="故障链路.png"/>
          <p:cNvPicPr>
            <a:picLocks noChangeAspect="1"/>
          </p:cNvPicPr>
          <p:nvPr/>
        </p:nvPicPr>
        <p:blipFill>
          <a:blip r:embed="rId5" cstate="print"/>
          <a:stretch>
            <a:fillRect/>
          </a:stretch>
        </p:blipFill>
        <p:spPr bwMode="gray">
          <a:xfrm>
            <a:off x="2721406" y="4537744"/>
            <a:ext cx="335297" cy="250025"/>
          </a:xfrm>
          <a:prstGeom prst="rect">
            <a:avLst/>
          </a:prstGeom>
        </p:spPr>
      </p:pic>
      <p:grpSp>
        <p:nvGrpSpPr>
          <p:cNvPr id="15" name="Group 6"/>
          <p:cNvGrpSpPr/>
          <p:nvPr/>
        </p:nvGrpSpPr>
        <p:grpSpPr bwMode="gray">
          <a:xfrm>
            <a:off x="2314192" y="2069186"/>
            <a:ext cx="998434" cy="566030"/>
            <a:chOff x="7877711" y="3990014"/>
            <a:chExt cx="998434" cy="566030"/>
          </a:xfrm>
        </p:grpSpPr>
        <p:sp>
          <p:nvSpPr>
            <p:cNvPr id="16" name="Freeform 200"/>
            <p:cNvSpPr/>
            <p:nvPr/>
          </p:nvSpPr>
          <p:spPr bwMode="gray">
            <a:xfrm>
              <a:off x="7877711" y="3990014"/>
              <a:ext cx="998434" cy="566030"/>
            </a:xfrm>
            <a:custGeom>
              <a:avLst/>
              <a:gdLst>
                <a:gd name="connsiteX0" fmla="*/ 511396 w 823780"/>
                <a:gd name="connsiteY0" fmla="*/ 0 h 467015"/>
                <a:gd name="connsiteX1" fmla="*/ 732475 w 823780"/>
                <a:gd name="connsiteY1" fmla="*/ 223125 h 467015"/>
                <a:gd name="connsiteX2" fmla="*/ 727487 w 823780"/>
                <a:gd name="connsiteY2" fmla="*/ 248058 h 467015"/>
                <a:gd name="connsiteX3" fmla="*/ 756693 w 823780"/>
                <a:gd name="connsiteY3" fmla="*/ 254009 h 467015"/>
                <a:gd name="connsiteX4" fmla="*/ 823780 w 823780"/>
                <a:gd name="connsiteY4" fmla="*/ 356156 h 467015"/>
                <a:gd name="connsiteX5" fmla="*/ 756693 w 823780"/>
                <a:gd name="connsiteY5" fmla="*/ 458303 h 467015"/>
                <a:gd name="connsiteX6" fmla="*/ 732017 w 823780"/>
                <a:gd name="connsiteY6" fmla="*/ 463331 h 467015"/>
                <a:gd name="connsiteX7" fmla="*/ 732017 w 823780"/>
                <a:gd name="connsiteY7" fmla="*/ 467014 h 467015"/>
                <a:gd name="connsiteX8" fmla="*/ 713942 w 823780"/>
                <a:gd name="connsiteY8" fmla="*/ 467014 h 467015"/>
                <a:gd name="connsiteX9" fmla="*/ 713937 w 823780"/>
                <a:gd name="connsiteY9" fmla="*/ 467015 h 467015"/>
                <a:gd name="connsiteX10" fmla="*/ 713932 w 823780"/>
                <a:gd name="connsiteY10" fmla="*/ 467014 h 467015"/>
                <a:gd name="connsiteX11" fmla="*/ 120827 w 823780"/>
                <a:gd name="connsiteY11" fmla="*/ 467014 h 467015"/>
                <a:gd name="connsiteX12" fmla="*/ 100287 w 823780"/>
                <a:gd name="connsiteY12" fmla="*/ 467014 h 467015"/>
                <a:gd name="connsiteX13" fmla="*/ 100287 w 823780"/>
                <a:gd name="connsiteY13" fmla="*/ 462829 h 467015"/>
                <a:gd name="connsiteX14" fmla="*/ 73795 w 823780"/>
                <a:gd name="connsiteY14" fmla="*/ 457431 h 467015"/>
                <a:gd name="connsiteX15" fmla="*/ 0 w 823780"/>
                <a:gd name="connsiteY15" fmla="*/ 345069 h 467015"/>
                <a:gd name="connsiteX16" fmla="*/ 73795 w 823780"/>
                <a:gd name="connsiteY16" fmla="*/ 232707 h 467015"/>
                <a:gd name="connsiteX17" fmla="*/ 81613 w 823780"/>
                <a:gd name="connsiteY17" fmla="*/ 231114 h 467015"/>
                <a:gd name="connsiteX18" fmla="*/ 94608 w 823780"/>
                <a:gd name="connsiteY18" fmla="*/ 172061 h 467015"/>
                <a:gd name="connsiteX19" fmla="*/ 250025 w 823780"/>
                <a:gd name="connsiteY19" fmla="*/ 77543 h 467015"/>
                <a:gd name="connsiteX20" fmla="*/ 315680 w 823780"/>
                <a:gd name="connsiteY20" fmla="*/ 89704 h 467015"/>
                <a:gd name="connsiteX21" fmla="*/ 332040 w 823780"/>
                <a:gd name="connsiteY21" fmla="*/ 99825 h 467015"/>
                <a:gd name="connsiteX22" fmla="*/ 355070 w 823780"/>
                <a:gd name="connsiteY22" fmla="*/ 65352 h 467015"/>
                <a:gd name="connsiteX23" fmla="*/ 511396 w 823780"/>
                <a:gd name="connsiteY23" fmla="*/ 0 h 467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3780" h="467015">
                  <a:moveTo>
                    <a:pt x="511396" y="0"/>
                  </a:moveTo>
                  <a:cubicBezTo>
                    <a:pt x="633495" y="0"/>
                    <a:pt x="732475" y="99896"/>
                    <a:pt x="732475" y="223125"/>
                  </a:cubicBezTo>
                  <a:lnTo>
                    <a:pt x="727487" y="248058"/>
                  </a:lnTo>
                  <a:lnTo>
                    <a:pt x="756693" y="254009"/>
                  </a:lnTo>
                  <a:cubicBezTo>
                    <a:pt x="796117" y="270838"/>
                    <a:pt x="823780" y="310236"/>
                    <a:pt x="823780" y="356156"/>
                  </a:cubicBezTo>
                  <a:cubicBezTo>
                    <a:pt x="823780" y="402076"/>
                    <a:pt x="796117" y="441474"/>
                    <a:pt x="756693" y="458303"/>
                  </a:cubicBezTo>
                  <a:lnTo>
                    <a:pt x="732017" y="463331"/>
                  </a:lnTo>
                  <a:lnTo>
                    <a:pt x="732017" y="467014"/>
                  </a:lnTo>
                  <a:lnTo>
                    <a:pt x="713942" y="467014"/>
                  </a:lnTo>
                  <a:lnTo>
                    <a:pt x="713937" y="467015"/>
                  </a:lnTo>
                  <a:lnTo>
                    <a:pt x="713932" y="467014"/>
                  </a:lnTo>
                  <a:lnTo>
                    <a:pt x="120827" y="467014"/>
                  </a:lnTo>
                  <a:lnTo>
                    <a:pt x="100287" y="467014"/>
                  </a:lnTo>
                  <a:lnTo>
                    <a:pt x="100287" y="462829"/>
                  </a:lnTo>
                  <a:lnTo>
                    <a:pt x="73795" y="457431"/>
                  </a:lnTo>
                  <a:cubicBezTo>
                    <a:pt x="30429" y="438919"/>
                    <a:pt x="0" y="395580"/>
                    <a:pt x="0" y="345069"/>
                  </a:cubicBezTo>
                  <a:cubicBezTo>
                    <a:pt x="0" y="294558"/>
                    <a:pt x="30429" y="251219"/>
                    <a:pt x="73795" y="232707"/>
                  </a:cubicBezTo>
                  <a:lnTo>
                    <a:pt x="81613" y="231114"/>
                  </a:lnTo>
                  <a:lnTo>
                    <a:pt x="94608" y="172061"/>
                  </a:lnTo>
                  <a:cubicBezTo>
                    <a:pt x="120214" y="116517"/>
                    <a:pt x="180159" y="77543"/>
                    <a:pt x="250025" y="77543"/>
                  </a:cubicBezTo>
                  <a:cubicBezTo>
                    <a:pt x="273314" y="77543"/>
                    <a:pt x="295500" y="81873"/>
                    <a:pt x="315680" y="89704"/>
                  </a:cubicBezTo>
                  <a:lnTo>
                    <a:pt x="332040" y="99825"/>
                  </a:lnTo>
                  <a:lnTo>
                    <a:pt x="355070" y="65352"/>
                  </a:lnTo>
                  <a:cubicBezTo>
                    <a:pt x="395077" y="24974"/>
                    <a:pt x="450347" y="0"/>
                    <a:pt x="511396" y="0"/>
                  </a:cubicBezTo>
                  <a:close/>
                </a:path>
              </a:pathLst>
            </a:cu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TextBox 2"/>
            <p:cNvSpPr txBox="1"/>
            <p:nvPr/>
          </p:nvSpPr>
          <p:spPr bwMode="gray">
            <a:xfrm>
              <a:off x="7965050" y="4208668"/>
              <a:ext cx="832279"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18" name="直接连接符 17"/>
          <p:cNvCxnSpPr/>
          <p:nvPr/>
        </p:nvCxnSpPr>
        <p:spPr bwMode="gray">
          <a:xfrm>
            <a:off x="2813409" y="2635216"/>
            <a:ext cx="0" cy="9936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9" name="图片 105" descr="AP.png"/>
          <p:cNvPicPr>
            <a:picLocks noChangeAspect="1"/>
          </p:cNvPicPr>
          <p:nvPr/>
        </p:nvPicPr>
        <p:blipFill>
          <a:blip r:embed="rId6" cstate="print"/>
          <a:stretch>
            <a:fillRect/>
          </a:stretch>
        </p:blipFill>
        <p:spPr bwMode="gray">
          <a:xfrm>
            <a:off x="2567955" y="3343124"/>
            <a:ext cx="490909" cy="401653"/>
          </a:xfrm>
          <a:prstGeom prst="rect">
            <a:avLst/>
          </a:prstGeom>
        </p:spPr>
      </p:pic>
      <p:grpSp>
        <p:nvGrpSpPr>
          <p:cNvPr id="20" name="组合 758"/>
          <p:cNvGrpSpPr/>
          <p:nvPr/>
        </p:nvGrpSpPr>
        <p:grpSpPr bwMode="gray">
          <a:xfrm flipV="1">
            <a:off x="2657420" y="3866591"/>
            <a:ext cx="311978" cy="264190"/>
            <a:chOff x="7440613" y="4868863"/>
            <a:chExt cx="1019175" cy="828675"/>
          </a:xfrm>
          <a:solidFill>
            <a:schemeClr val="bg1">
              <a:lumMod val="65000"/>
            </a:schemeClr>
          </a:solidFill>
        </p:grpSpPr>
        <p:sp>
          <p:nvSpPr>
            <p:cNvPr id="21"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23" name="图片 14" descr="日志告警服务器-蓝.png"/>
          <p:cNvPicPr>
            <a:picLocks noChangeAspect="1"/>
          </p:cNvPicPr>
          <p:nvPr/>
        </p:nvPicPr>
        <p:blipFill>
          <a:blip r:embed="rId7" cstate="print"/>
          <a:stretch>
            <a:fillRect/>
          </a:stretch>
        </p:blipFill>
        <p:spPr bwMode="gray">
          <a:xfrm>
            <a:off x="1785477" y="4536181"/>
            <a:ext cx="405415" cy="253150"/>
          </a:xfrm>
          <a:prstGeom prst="rect">
            <a:avLst/>
          </a:prstGeom>
        </p:spPr>
      </p:pic>
      <p:sp>
        <p:nvSpPr>
          <p:cNvPr id="24" name="矩形 23"/>
          <p:cNvSpPr/>
          <p:nvPr/>
        </p:nvSpPr>
        <p:spPr bwMode="gray">
          <a:xfrm>
            <a:off x="539399" y="5025526"/>
            <a:ext cx="4673375" cy="1015663"/>
          </a:xfrm>
          <a:prstGeom prst="rect">
            <a:avLst/>
          </a:prstGeom>
        </p:spPr>
        <p:txBody>
          <a:bodyPr wrap="square">
            <a:spAutoFit/>
          </a:bodyPr>
          <a:lstStyle/>
          <a:p>
            <a:pPr marL="285750" indent="-285750">
              <a:lnSpc>
                <a:spcPts val="2200"/>
              </a:lnSpc>
              <a:spcAft>
                <a:spcPts val="600"/>
              </a:spcAft>
              <a:buSzPct val="50000"/>
              <a:buFont typeface="Wingdings" panose="05000000000000000000" pitchFamily="2" charset="2"/>
              <a:buChar char="l"/>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组网特点</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独立工作，需单独配置，功能较为单一，成本低。</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ts val="2200"/>
              </a:lnSpc>
              <a:spcAft>
                <a:spcPts val="600"/>
              </a:spcAft>
              <a:buSzPct val="50000"/>
              <a:buFont typeface="Wingdings" panose="05000000000000000000" pitchFamily="2" charset="2"/>
              <a:buChar char="l"/>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适用场景</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：家庭、微型门店等。</a:t>
            </a:r>
          </a:p>
        </p:txBody>
      </p:sp>
      <p:sp>
        <p:nvSpPr>
          <p:cNvPr id="25" name="圆角矩形 75"/>
          <p:cNvSpPr/>
          <p:nvPr/>
        </p:nvSpPr>
        <p:spPr bwMode="gray">
          <a:xfrm>
            <a:off x="5364535" y="1117254"/>
            <a:ext cx="6290856" cy="395245"/>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AC+FIT AP</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圆角矩形 75"/>
          <p:cNvSpPr/>
          <p:nvPr/>
        </p:nvSpPr>
        <p:spPr bwMode="gray">
          <a:xfrm>
            <a:off x="5364534" y="1571769"/>
            <a:ext cx="6290857" cy="4524232"/>
          </a:xfrm>
          <a:prstGeom prst="roundRect">
            <a:avLst>
              <a:gd name="adj" fmla="val 874"/>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en-US" altLang="zh-CN" sz="1400" dirty="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pic>
        <p:nvPicPr>
          <p:cNvPr id="27" name="图片 158" descr="SAN网络-蓝.png"/>
          <p:cNvPicPr>
            <a:picLocks noChangeAspect="1"/>
          </p:cNvPicPr>
          <p:nvPr/>
        </p:nvPicPr>
        <p:blipFill>
          <a:blip r:embed="rId4" cstate="print"/>
          <a:stretch>
            <a:fillRect/>
          </a:stretch>
        </p:blipFill>
        <p:spPr bwMode="gray">
          <a:xfrm>
            <a:off x="9055303" y="4563872"/>
            <a:ext cx="182733" cy="299373"/>
          </a:xfrm>
          <a:prstGeom prst="rect">
            <a:avLst/>
          </a:prstGeom>
        </p:spPr>
      </p:pic>
      <p:pic>
        <p:nvPicPr>
          <p:cNvPr id="28" name="图片 157" descr="故障链路.png"/>
          <p:cNvPicPr>
            <a:picLocks noChangeAspect="1"/>
          </p:cNvPicPr>
          <p:nvPr/>
        </p:nvPicPr>
        <p:blipFill>
          <a:blip r:embed="rId5" cstate="print"/>
          <a:stretch>
            <a:fillRect/>
          </a:stretch>
        </p:blipFill>
        <p:spPr bwMode="gray">
          <a:xfrm>
            <a:off x="8226345" y="4588546"/>
            <a:ext cx="335297" cy="250025"/>
          </a:xfrm>
          <a:prstGeom prst="rect">
            <a:avLst/>
          </a:prstGeom>
        </p:spPr>
      </p:pic>
      <p:grpSp>
        <p:nvGrpSpPr>
          <p:cNvPr id="29" name="组合 28"/>
          <p:cNvGrpSpPr/>
          <p:nvPr/>
        </p:nvGrpSpPr>
        <p:grpSpPr bwMode="gray">
          <a:xfrm>
            <a:off x="7180715" y="3743309"/>
            <a:ext cx="405710" cy="697037"/>
            <a:chOff x="5581232" y="3599905"/>
            <a:chExt cx="405710" cy="697037"/>
          </a:xfrm>
        </p:grpSpPr>
        <p:pic>
          <p:nvPicPr>
            <p:cNvPr id="30" name="图片 105" descr="AP.png"/>
            <p:cNvPicPr>
              <a:picLocks noChangeAspect="1"/>
            </p:cNvPicPr>
            <p:nvPr/>
          </p:nvPicPr>
          <p:blipFill>
            <a:blip r:embed="rId6" cstate="print"/>
            <a:stretch>
              <a:fillRect/>
            </a:stretch>
          </p:blipFill>
          <p:spPr bwMode="gray">
            <a:xfrm>
              <a:off x="5581232" y="3599905"/>
              <a:ext cx="405710" cy="331945"/>
            </a:xfrm>
            <a:prstGeom prst="rect">
              <a:avLst/>
            </a:prstGeom>
          </p:spPr>
        </p:pic>
        <p:grpSp>
          <p:nvGrpSpPr>
            <p:cNvPr id="31" name="组合 758"/>
            <p:cNvGrpSpPr/>
            <p:nvPr/>
          </p:nvGrpSpPr>
          <p:grpSpPr bwMode="gray">
            <a:xfrm flipV="1">
              <a:off x="5628098" y="4032752"/>
              <a:ext cx="311978" cy="264190"/>
              <a:chOff x="7440613" y="4868863"/>
              <a:chExt cx="1019175" cy="828675"/>
            </a:xfrm>
            <a:solidFill>
              <a:schemeClr val="bg1">
                <a:lumMod val="65000"/>
              </a:schemeClr>
            </a:solidFill>
          </p:grpSpPr>
          <p:sp>
            <p:nvSpPr>
              <p:cNvPr id="32"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pic>
        <p:nvPicPr>
          <p:cNvPr id="34" name="图片 14" descr="日志告警服务器-蓝.png"/>
          <p:cNvPicPr>
            <a:picLocks noChangeAspect="1"/>
          </p:cNvPicPr>
          <p:nvPr/>
        </p:nvPicPr>
        <p:blipFill>
          <a:blip r:embed="rId7" cstate="print"/>
          <a:stretch>
            <a:fillRect/>
          </a:stretch>
        </p:blipFill>
        <p:spPr bwMode="gray">
          <a:xfrm>
            <a:off x="7290416" y="4586983"/>
            <a:ext cx="405415" cy="253150"/>
          </a:xfrm>
          <a:prstGeom prst="rect">
            <a:avLst/>
          </a:prstGeom>
        </p:spPr>
      </p:pic>
      <p:sp>
        <p:nvSpPr>
          <p:cNvPr id="35" name="矩形 34"/>
          <p:cNvSpPr/>
          <p:nvPr/>
        </p:nvSpPr>
        <p:spPr bwMode="gray">
          <a:xfrm>
            <a:off x="5364535" y="5025526"/>
            <a:ext cx="6290856" cy="1015663"/>
          </a:xfrm>
          <a:prstGeom prst="rect">
            <a:avLst/>
          </a:prstGeom>
        </p:spPr>
        <p:txBody>
          <a:bodyPr wrap="square">
            <a:spAutoFit/>
          </a:bodyPr>
          <a:lstStyle/>
          <a:p>
            <a:pPr marL="285750" indent="-285750">
              <a:lnSpc>
                <a:spcPts val="2200"/>
              </a:lnSpc>
              <a:spcAft>
                <a:spcPts val="600"/>
              </a:spcAft>
              <a:buSzPct val="50000"/>
              <a:buFont typeface="Wingdings" panose="05000000000000000000" pitchFamily="2" charset="2"/>
              <a:buChar char="l"/>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组网特点</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需要配合</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使用，由</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统一管理和配置，功能丰富。对网络维护人员的技能要求高。</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ts val="2200"/>
              </a:lnSpc>
              <a:spcAft>
                <a:spcPts val="600"/>
              </a:spcAft>
              <a:buSzPct val="50000"/>
              <a:buFont typeface="Wingdings" panose="05000000000000000000" pitchFamily="2" charset="2"/>
              <a:buChar char="l"/>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适用场景</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：大中型企业。</a:t>
            </a:r>
          </a:p>
        </p:txBody>
      </p:sp>
      <p:pic>
        <p:nvPicPr>
          <p:cNvPr id="36" name="图片 76" descr="接入交换机.png"/>
          <p:cNvPicPr>
            <a:picLocks noChangeAspect="1"/>
          </p:cNvPicPr>
          <p:nvPr/>
        </p:nvPicPr>
        <p:blipFill>
          <a:blip r:embed="rId8" cstate="print"/>
          <a:stretch>
            <a:fillRect/>
          </a:stretch>
        </p:blipFill>
        <p:spPr bwMode="gray">
          <a:xfrm>
            <a:off x="8027178" y="2905747"/>
            <a:ext cx="446281" cy="365139"/>
          </a:xfrm>
          <a:prstGeom prst="rect">
            <a:avLst/>
          </a:prstGeom>
        </p:spPr>
      </p:pic>
      <p:grpSp>
        <p:nvGrpSpPr>
          <p:cNvPr id="37" name="组合 36"/>
          <p:cNvGrpSpPr/>
          <p:nvPr/>
        </p:nvGrpSpPr>
        <p:grpSpPr bwMode="gray">
          <a:xfrm>
            <a:off x="7756428" y="3743309"/>
            <a:ext cx="405710" cy="697037"/>
            <a:chOff x="5581232" y="3599905"/>
            <a:chExt cx="405710" cy="697037"/>
          </a:xfrm>
        </p:grpSpPr>
        <p:pic>
          <p:nvPicPr>
            <p:cNvPr id="38" name="图片 105" descr="AP.png"/>
            <p:cNvPicPr>
              <a:picLocks noChangeAspect="1"/>
            </p:cNvPicPr>
            <p:nvPr/>
          </p:nvPicPr>
          <p:blipFill>
            <a:blip r:embed="rId6" cstate="print"/>
            <a:stretch>
              <a:fillRect/>
            </a:stretch>
          </p:blipFill>
          <p:spPr bwMode="gray">
            <a:xfrm>
              <a:off x="5581232" y="3599905"/>
              <a:ext cx="405710" cy="331945"/>
            </a:xfrm>
            <a:prstGeom prst="rect">
              <a:avLst/>
            </a:prstGeom>
          </p:spPr>
        </p:pic>
        <p:grpSp>
          <p:nvGrpSpPr>
            <p:cNvPr id="39" name="组合 758"/>
            <p:cNvGrpSpPr/>
            <p:nvPr/>
          </p:nvGrpSpPr>
          <p:grpSpPr bwMode="gray">
            <a:xfrm flipV="1">
              <a:off x="5628098" y="4032752"/>
              <a:ext cx="311978" cy="264190"/>
              <a:chOff x="7440613" y="4868863"/>
              <a:chExt cx="1019175" cy="828675"/>
            </a:xfrm>
            <a:solidFill>
              <a:schemeClr val="bg1">
                <a:lumMod val="65000"/>
              </a:schemeClr>
            </a:solidFill>
          </p:grpSpPr>
          <p:sp>
            <p:nvSpPr>
              <p:cNvPr id="40"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42" name="组合 41"/>
          <p:cNvGrpSpPr/>
          <p:nvPr/>
        </p:nvGrpSpPr>
        <p:grpSpPr bwMode="gray">
          <a:xfrm>
            <a:off x="8332141" y="3743309"/>
            <a:ext cx="405710" cy="697037"/>
            <a:chOff x="5581232" y="3599905"/>
            <a:chExt cx="405710" cy="697037"/>
          </a:xfrm>
        </p:grpSpPr>
        <p:pic>
          <p:nvPicPr>
            <p:cNvPr id="43" name="图片 105" descr="AP.png"/>
            <p:cNvPicPr>
              <a:picLocks noChangeAspect="1"/>
            </p:cNvPicPr>
            <p:nvPr/>
          </p:nvPicPr>
          <p:blipFill>
            <a:blip r:embed="rId6" cstate="print"/>
            <a:stretch>
              <a:fillRect/>
            </a:stretch>
          </p:blipFill>
          <p:spPr bwMode="gray">
            <a:xfrm>
              <a:off x="5581232" y="3599905"/>
              <a:ext cx="405710" cy="331945"/>
            </a:xfrm>
            <a:prstGeom prst="rect">
              <a:avLst/>
            </a:prstGeom>
          </p:spPr>
        </p:pic>
        <p:grpSp>
          <p:nvGrpSpPr>
            <p:cNvPr id="44" name="组合 758"/>
            <p:cNvGrpSpPr/>
            <p:nvPr/>
          </p:nvGrpSpPr>
          <p:grpSpPr bwMode="gray">
            <a:xfrm flipV="1">
              <a:off x="5628098" y="4032752"/>
              <a:ext cx="311978" cy="264190"/>
              <a:chOff x="7440613" y="4868863"/>
              <a:chExt cx="1019175" cy="828675"/>
            </a:xfrm>
            <a:solidFill>
              <a:schemeClr val="bg1">
                <a:lumMod val="65000"/>
              </a:schemeClr>
            </a:solidFill>
          </p:grpSpPr>
          <p:sp>
            <p:nvSpPr>
              <p:cNvPr id="45"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47" name="组合 46"/>
          <p:cNvGrpSpPr/>
          <p:nvPr/>
        </p:nvGrpSpPr>
        <p:grpSpPr bwMode="gray">
          <a:xfrm>
            <a:off x="8907855" y="3743309"/>
            <a:ext cx="405710" cy="697037"/>
            <a:chOff x="5581232" y="3599905"/>
            <a:chExt cx="405710" cy="697037"/>
          </a:xfrm>
        </p:grpSpPr>
        <p:pic>
          <p:nvPicPr>
            <p:cNvPr id="48" name="图片 105" descr="AP.png"/>
            <p:cNvPicPr>
              <a:picLocks noChangeAspect="1"/>
            </p:cNvPicPr>
            <p:nvPr/>
          </p:nvPicPr>
          <p:blipFill>
            <a:blip r:embed="rId6" cstate="print"/>
            <a:stretch>
              <a:fillRect/>
            </a:stretch>
          </p:blipFill>
          <p:spPr bwMode="gray">
            <a:xfrm>
              <a:off x="5581232" y="3599905"/>
              <a:ext cx="405710" cy="331945"/>
            </a:xfrm>
            <a:prstGeom prst="rect">
              <a:avLst/>
            </a:prstGeom>
          </p:spPr>
        </p:pic>
        <p:grpSp>
          <p:nvGrpSpPr>
            <p:cNvPr id="49" name="组合 758"/>
            <p:cNvGrpSpPr/>
            <p:nvPr/>
          </p:nvGrpSpPr>
          <p:grpSpPr bwMode="gray">
            <a:xfrm flipV="1">
              <a:off x="5628098" y="4032752"/>
              <a:ext cx="311978" cy="264190"/>
              <a:chOff x="7440613" y="4868863"/>
              <a:chExt cx="1019175" cy="828675"/>
            </a:xfrm>
            <a:solidFill>
              <a:schemeClr val="bg1">
                <a:lumMod val="65000"/>
              </a:schemeClr>
            </a:solidFill>
          </p:grpSpPr>
          <p:sp>
            <p:nvSpPr>
              <p:cNvPr id="50"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pic>
        <p:nvPicPr>
          <p:cNvPr id="52" name="图片 86" descr="核心交换机.png"/>
          <p:cNvPicPr>
            <a:picLocks noChangeAspect="1"/>
          </p:cNvPicPr>
          <p:nvPr/>
        </p:nvPicPr>
        <p:blipFill>
          <a:blip r:embed="rId9" cstate="print"/>
          <a:stretch>
            <a:fillRect/>
          </a:stretch>
        </p:blipFill>
        <p:spPr bwMode="gray">
          <a:xfrm>
            <a:off x="8036084" y="2105512"/>
            <a:ext cx="446281" cy="365139"/>
          </a:xfrm>
          <a:prstGeom prst="rect">
            <a:avLst/>
          </a:prstGeom>
        </p:spPr>
      </p:pic>
      <p:cxnSp>
        <p:nvCxnSpPr>
          <p:cNvPr id="53" name="直接连接符 52"/>
          <p:cNvCxnSpPr>
            <a:stCxn id="12" idx="1"/>
            <a:endCxn id="52" idx="3"/>
          </p:cNvCxnSpPr>
          <p:nvPr/>
        </p:nvCxnSpPr>
        <p:spPr bwMode="gray">
          <a:xfrm flipH="1">
            <a:off x="8482365" y="2288082"/>
            <a:ext cx="62834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bwMode="gray">
          <a:xfrm>
            <a:off x="3044655" y="3405450"/>
            <a:ext cx="713657" cy="276999"/>
          </a:xfrm>
          <a:prstGeom prst="rect">
            <a:avLst/>
          </a:prstGeom>
          <a:noFill/>
        </p:spPr>
        <p:txBody>
          <a:bodyPr wrap="none" rtlCol="0">
            <a:spAutoFit/>
          </a:bodyPr>
          <a:lstStyle/>
          <a:p>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FAT AP</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文本框 54"/>
          <p:cNvSpPr txBox="1"/>
          <p:nvPr/>
        </p:nvSpPr>
        <p:spPr bwMode="gray">
          <a:xfrm>
            <a:off x="9332721" y="3770434"/>
            <a:ext cx="655949" cy="276999"/>
          </a:xfrm>
          <a:prstGeom prst="rect">
            <a:avLst/>
          </a:prstGeom>
          <a:noFill/>
        </p:spPr>
        <p:txBody>
          <a:bodyPr wrap="none" rtlCol="0">
            <a:spAutoFit/>
          </a:bodyPr>
          <a:lstStyle/>
          <a:p>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FIT AP</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文本框 55"/>
          <p:cNvSpPr txBox="1"/>
          <p:nvPr/>
        </p:nvSpPr>
        <p:spPr bwMode="gray">
          <a:xfrm>
            <a:off x="9139399" y="2485921"/>
            <a:ext cx="386644" cy="276999"/>
          </a:xfrm>
          <a:prstGeom prst="rect">
            <a:avLst/>
          </a:prstGeom>
          <a:noFill/>
        </p:spPr>
        <p:txBody>
          <a:bodyPr wrap="none" rtlCol="0">
            <a:spAutoFit/>
          </a:bodyPr>
          <a:lstStyle/>
          <a:p>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AC</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五边形 56"/>
          <p:cNvSpPr/>
          <p:nvPr/>
        </p:nvSpPr>
        <p:spPr bwMode="auto">
          <a:xfrm>
            <a:off x="6179960" y="98481"/>
            <a:ext cx="94884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以太网交换</a:t>
            </a:r>
          </a:p>
        </p:txBody>
      </p:sp>
      <p:sp>
        <p:nvSpPr>
          <p:cNvPr id="58" name="燕尾形 57"/>
          <p:cNvSpPr/>
          <p:nvPr/>
        </p:nvSpPr>
        <p:spPr bwMode="auto">
          <a:xfrm>
            <a:off x="7049907" y="98481"/>
            <a:ext cx="678521"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燕尾形 58"/>
          <p:cNvSpPr/>
          <p:nvPr/>
        </p:nvSpPr>
        <p:spPr bwMode="auto">
          <a:xfrm>
            <a:off x="7649535" y="98481"/>
            <a:ext cx="875959"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无线接入</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燕尾形 59"/>
          <p:cNvSpPr/>
          <p:nvPr/>
        </p:nvSpPr>
        <p:spPr bwMode="auto">
          <a:xfrm>
            <a:off x="8446601"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可靠性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燕尾形 60"/>
          <p:cNvSpPr/>
          <p:nvPr/>
        </p:nvSpPr>
        <p:spPr bwMode="auto">
          <a:xfrm>
            <a:off x="9148908" y="98481"/>
            <a:ext cx="87048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网络安全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燕尾形 61"/>
          <p:cNvSpPr/>
          <p:nvPr/>
        </p:nvSpPr>
        <p:spPr bwMode="auto">
          <a:xfrm>
            <a:off x="9940504" y="98481"/>
            <a:ext cx="130400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网络服务与管理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燕尾形 62"/>
          <p:cNvSpPr/>
          <p:nvPr/>
        </p:nvSpPr>
        <p:spPr bwMode="auto">
          <a:xfrm>
            <a:off x="11165613" y="98481"/>
            <a:ext cx="583475"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出口</a:t>
            </a:r>
          </a:p>
        </p:txBody>
      </p:sp>
    </p:spTree>
    <p:extLst>
      <p:ext uri="{BB962C8B-B14F-4D97-AF65-F5344CB8AC3E}">
        <p14:creationId xmlns:p14="http://schemas.microsoft.com/office/powerpoint/2010/main" val="10610887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Huawei Sans" panose="020C0503030203020204" pitchFamily="34" charset="0"/>
              </a:rPr>
              <a:t>WLAN</a:t>
            </a:r>
            <a:r>
              <a:rPr lang="zh-CN" altLang="en-US" dirty="0">
                <a:sym typeface="Huawei Sans" panose="020C0503030203020204" pitchFamily="34" charset="0"/>
              </a:rPr>
              <a:t>组网架构综述 </a:t>
            </a:r>
            <a:r>
              <a:rPr lang="en-US" altLang="zh-CN" dirty="0">
                <a:sym typeface="Huawei Sans" panose="020C0503030203020204" pitchFamily="34" charset="0"/>
              </a:rPr>
              <a:t>(2)</a:t>
            </a:r>
            <a:endParaRPr lang="zh-CN" altLang="en-US" dirty="0">
              <a:sym typeface="Huawei Sans" panose="020C0503030203020204" pitchFamily="34" charset="0"/>
            </a:endParaRPr>
          </a:p>
        </p:txBody>
      </p:sp>
      <p:sp>
        <p:nvSpPr>
          <p:cNvPr id="3" name="圆角矩形 75"/>
          <p:cNvSpPr/>
          <p:nvPr/>
        </p:nvSpPr>
        <p:spPr bwMode="gray">
          <a:xfrm>
            <a:off x="451093" y="1085792"/>
            <a:ext cx="4680000" cy="395245"/>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Leader AP</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圆角矩形 75"/>
          <p:cNvSpPr/>
          <p:nvPr/>
        </p:nvSpPr>
        <p:spPr bwMode="gray">
          <a:xfrm>
            <a:off x="451093" y="1540306"/>
            <a:ext cx="4680000" cy="4629007"/>
          </a:xfrm>
          <a:prstGeom prst="roundRect">
            <a:avLst>
              <a:gd name="adj" fmla="val 874"/>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en-US" altLang="zh-CN" sz="1400" dirty="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5" name="矩形 4"/>
          <p:cNvSpPr/>
          <p:nvPr/>
        </p:nvSpPr>
        <p:spPr bwMode="gray">
          <a:xfrm>
            <a:off x="451093" y="4852305"/>
            <a:ext cx="4680000" cy="1297791"/>
          </a:xfrm>
          <a:prstGeom prst="rect">
            <a:avLst/>
          </a:prstGeom>
        </p:spPr>
        <p:txBody>
          <a:bodyPr wrap="square">
            <a:spAutoFit/>
          </a:bodyPr>
          <a:lstStyle/>
          <a:p>
            <a:pPr marL="285750" indent="-285750">
              <a:lnSpc>
                <a:spcPts val="2200"/>
              </a:lnSpc>
              <a:spcAft>
                <a:spcPts val="600"/>
              </a:spcAft>
              <a:buSzPct val="50000"/>
              <a:buFont typeface="Wingdings" panose="05000000000000000000" pitchFamily="2" charset="2"/>
              <a:buChar char="l"/>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组网特点</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可独立工作，也能管理少量</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，从而实现基本的漫游功能。成本较低，对网络维护人员的技能要求低。</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ts val="2200"/>
              </a:lnSpc>
              <a:spcAft>
                <a:spcPts val="600"/>
              </a:spcAft>
              <a:buSzPct val="50000"/>
              <a:buFont typeface="Wingdings" panose="05000000000000000000" pitchFamily="2" charset="2"/>
              <a:buChar char="l"/>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适用场景</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：小微企业。</a:t>
            </a:r>
          </a:p>
        </p:txBody>
      </p:sp>
      <p:sp>
        <p:nvSpPr>
          <p:cNvPr id="6" name="圆角矩形 75"/>
          <p:cNvSpPr/>
          <p:nvPr/>
        </p:nvSpPr>
        <p:spPr bwMode="gray">
          <a:xfrm>
            <a:off x="5276229" y="1085792"/>
            <a:ext cx="6316331" cy="395245"/>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敏捷分布式</a:t>
            </a:r>
            <a:r>
              <a:rPr lang="en-US" altLang="zh-CN"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AP</a:t>
            </a:r>
            <a:endPar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圆角矩形 75"/>
          <p:cNvSpPr/>
          <p:nvPr/>
        </p:nvSpPr>
        <p:spPr bwMode="gray">
          <a:xfrm>
            <a:off x="5276229" y="1540306"/>
            <a:ext cx="6316332" cy="4629007"/>
          </a:xfrm>
          <a:prstGeom prst="roundRect">
            <a:avLst>
              <a:gd name="adj" fmla="val 874"/>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en-US" altLang="zh-CN" sz="1400" dirty="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8" name="矩形 7"/>
          <p:cNvSpPr/>
          <p:nvPr/>
        </p:nvSpPr>
        <p:spPr bwMode="gray">
          <a:xfrm>
            <a:off x="5276229" y="4852306"/>
            <a:ext cx="6316331" cy="1297791"/>
          </a:xfrm>
          <a:prstGeom prst="rect">
            <a:avLst/>
          </a:prstGeom>
        </p:spPr>
        <p:txBody>
          <a:bodyPr wrap="square">
            <a:spAutoFit/>
          </a:bodyPr>
          <a:lstStyle/>
          <a:p>
            <a:pPr marL="285750" indent="-285750">
              <a:lnSpc>
                <a:spcPts val="2200"/>
              </a:lnSpc>
              <a:spcAft>
                <a:spcPts val="600"/>
              </a:spcAft>
              <a:buSzPct val="50000"/>
              <a:buFont typeface="Wingdings" panose="05000000000000000000" pitchFamily="2" charset="2"/>
              <a:buChar char="l"/>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组网特点</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的一种特殊架构，将</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拆分为中心</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RU</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两部分，中心</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可管理多台</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RU</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，在适用的场景下，成本低，覆盖好。敏捷分布式</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可以用于</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FAT AP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AC+FIT AP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、云管理架构。</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ts val="2200"/>
              </a:lnSpc>
              <a:spcAft>
                <a:spcPts val="600"/>
              </a:spcAft>
              <a:buSzPct val="50000"/>
              <a:buFont typeface="Wingdings" panose="05000000000000000000" pitchFamily="2" charset="2"/>
              <a:buChar char="l"/>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适用场景</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zh-CN" sz="1400" dirty="0">
                <a:latin typeface="Huawei Sans" panose="020C0503030203020204" pitchFamily="34" charset="0"/>
                <a:ea typeface="方正兰亭黑简体" panose="02000000000000000000" pitchFamily="2" charset="-122"/>
                <a:sym typeface="Huawei Sans" panose="020C0503030203020204" pitchFamily="34" charset="0"/>
              </a:rPr>
              <a:t>房间分布密集的场景</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p>
        </p:txBody>
      </p:sp>
      <p:cxnSp>
        <p:nvCxnSpPr>
          <p:cNvPr id="9" name="直接连接符 8"/>
          <p:cNvCxnSpPr/>
          <p:nvPr/>
        </p:nvCxnSpPr>
        <p:spPr bwMode="gray">
          <a:xfrm>
            <a:off x="2823282" y="1962938"/>
            <a:ext cx="0" cy="133349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p:nvGrpSpPr>
        <p:grpSpPr bwMode="gray">
          <a:xfrm>
            <a:off x="1889735" y="3262605"/>
            <a:ext cx="1872662" cy="560950"/>
            <a:chOff x="8697104" y="3266499"/>
            <a:chExt cx="1872662" cy="754679"/>
          </a:xfrm>
        </p:grpSpPr>
        <p:grpSp>
          <p:nvGrpSpPr>
            <p:cNvPr id="11" name="Group 165"/>
            <p:cNvGrpSpPr/>
            <p:nvPr/>
          </p:nvGrpSpPr>
          <p:grpSpPr bwMode="gray">
            <a:xfrm rot="10800000">
              <a:off x="9315171" y="3266499"/>
              <a:ext cx="636528" cy="746548"/>
              <a:chOff x="-1233037" y="914446"/>
              <a:chExt cx="1573823" cy="778776"/>
            </a:xfrm>
          </p:grpSpPr>
          <p:cxnSp>
            <p:nvCxnSpPr>
              <p:cNvPr id="15" name="Straight Connector 166"/>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67"/>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12" name="Group 165"/>
            <p:cNvGrpSpPr/>
            <p:nvPr/>
          </p:nvGrpSpPr>
          <p:grpSpPr bwMode="gray">
            <a:xfrm rot="10800000">
              <a:off x="8697104" y="3274630"/>
              <a:ext cx="1872662" cy="746548"/>
              <a:chOff x="-1233037" y="914446"/>
              <a:chExt cx="1573823" cy="778776"/>
            </a:xfrm>
          </p:grpSpPr>
          <p:cxnSp>
            <p:nvCxnSpPr>
              <p:cNvPr id="13" name="Straight Connector 166"/>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67"/>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grpSp>
        <p:nvGrpSpPr>
          <p:cNvPr id="17" name="组合 758"/>
          <p:cNvGrpSpPr/>
          <p:nvPr/>
        </p:nvGrpSpPr>
        <p:grpSpPr bwMode="gray">
          <a:xfrm flipV="1">
            <a:off x="1800772" y="4144694"/>
            <a:ext cx="311978" cy="264190"/>
            <a:chOff x="7440613" y="4868863"/>
            <a:chExt cx="1019175" cy="828675"/>
          </a:xfrm>
          <a:solidFill>
            <a:schemeClr val="bg1">
              <a:lumMod val="65000"/>
            </a:schemeClr>
          </a:solidFill>
        </p:grpSpPr>
        <p:sp>
          <p:nvSpPr>
            <p:cNvPr id="18"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20" name="图片 76" descr="接入交换机.png"/>
          <p:cNvPicPr>
            <a:picLocks noChangeAspect="1"/>
          </p:cNvPicPr>
          <p:nvPr/>
        </p:nvPicPr>
        <p:blipFill>
          <a:blip r:embed="rId3" cstate="print"/>
          <a:stretch>
            <a:fillRect/>
          </a:stretch>
        </p:blipFill>
        <p:spPr bwMode="gray">
          <a:xfrm>
            <a:off x="2639096" y="3131291"/>
            <a:ext cx="368827" cy="301768"/>
          </a:xfrm>
          <a:prstGeom prst="rect">
            <a:avLst/>
          </a:prstGeom>
        </p:spPr>
      </p:pic>
      <p:grpSp>
        <p:nvGrpSpPr>
          <p:cNvPr id="21" name="组合 20"/>
          <p:cNvGrpSpPr/>
          <p:nvPr/>
        </p:nvGrpSpPr>
        <p:grpSpPr bwMode="gray">
          <a:xfrm>
            <a:off x="2329619" y="3711847"/>
            <a:ext cx="405710" cy="697037"/>
            <a:chOff x="5581232" y="3599905"/>
            <a:chExt cx="405710" cy="697037"/>
          </a:xfrm>
        </p:grpSpPr>
        <p:pic>
          <p:nvPicPr>
            <p:cNvPr id="22" name="图片 105" descr="AP.png"/>
            <p:cNvPicPr>
              <a:picLocks noChangeAspect="1"/>
            </p:cNvPicPr>
            <p:nvPr/>
          </p:nvPicPr>
          <p:blipFill>
            <a:blip r:embed="rId4" cstate="print"/>
            <a:stretch>
              <a:fillRect/>
            </a:stretch>
          </p:blipFill>
          <p:spPr bwMode="gray">
            <a:xfrm>
              <a:off x="5581232" y="3599905"/>
              <a:ext cx="405710" cy="331945"/>
            </a:xfrm>
            <a:prstGeom prst="rect">
              <a:avLst/>
            </a:prstGeom>
          </p:spPr>
        </p:pic>
        <p:grpSp>
          <p:nvGrpSpPr>
            <p:cNvPr id="23" name="组合 758"/>
            <p:cNvGrpSpPr/>
            <p:nvPr/>
          </p:nvGrpSpPr>
          <p:grpSpPr bwMode="gray">
            <a:xfrm flipV="1">
              <a:off x="5628098" y="4032752"/>
              <a:ext cx="311978" cy="264190"/>
              <a:chOff x="7440613" y="4868863"/>
              <a:chExt cx="1019175" cy="828675"/>
            </a:xfrm>
            <a:solidFill>
              <a:schemeClr val="bg1">
                <a:lumMod val="65000"/>
              </a:schemeClr>
            </a:solidFill>
          </p:grpSpPr>
          <p:sp>
            <p:nvSpPr>
              <p:cNvPr id="24"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26" name="组合 25"/>
          <p:cNvGrpSpPr/>
          <p:nvPr/>
        </p:nvGrpSpPr>
        <p:grpSpPr bwMode="gray">
          <a:xfrm>
            <a:off x="2905332" y="3711847"/>
            <a:ext cx="405710" cy="697037"/>
            <a:chOff x="5581232" y="3599905"/>
            <a:chExt cx="405710" cy="697037"/>
          </a:xfrm>
        </p:grpSpPr>
        <p:pic>
          <p:nvPicPr>
            <p:cNvPr id="27" name="图片 105" descr="AP.png"/>
            <p:cNvPicPr>
              <a:picLocks noChangeAspect="1"/>
            </p:cNvPicPr>
            <p:nvPr/>
          </p:nvPicPr>
          <p:blipFill>
            <a:blip r:embed="rId4" cstate="print"/>
            <a:stretch>
              <a:fillRect/>
            </a:stretch>
          </p:blipFill>
          <p:spPr bwMode="gray">
            <a:xfrm>
              <a:off x="5581232" y="3599905"/>
              <a:ext cx="405710" cy="331945"/>
            </a:xfrm>
            <a:prstGeom prst="rect">
              <a:avLst/>
            </a:prstGeom>
          </p:spPr>
        </p:pic>
        <p:grpSp>
          <p:nvGrpSpPr>
            <p:cNvPr id="28" name="组合 758"/>
            <p:cNvGrpSpPr/>
            <p:nvPr/>
          </p:nvGrpSpPr>
          <p:grpSpPr bwMode="gray">
            <a:xfrm flipV="1">
              <a:off x="5628098" y="4032752"/>
              <a:ext cx="311978" cy="264190"/>
              <a:chOff x="7440613" y="4868863"/>
              <a:chExt cx="1019175" cy="828675"/>
            </a:xfrm>
            <a:solidFill>
              <a:schemeClr val="bg1">
                <a:lumMod val="65000"/>
              </a:schemeClr>
            </a:solidFill>
          </p:grpSpPr>
          <p:sp>
            <p:nvSpPr>
              <p:cNvPr id="29"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31" name="组合 30"/>
          <p:cNvGrpSpPr/>
          <p:nvPr/>
        </p:nvGrpSpPr>
        <p:grpSpPr bwMode="gray">
          <a:xfrm>
            <a:off x="3481046" y="3711847"/>
            <a:ext cx="405710" cy="697037"/>
            <a:chOff x="5581232" y="3599905"/>
            <a:chExt cx="405710" cy="697037"/>
          </a:xfrm>
        </p:grpSpPr>
        <p:pic>
          <p:nvPicPr>
            <p:cNvPr id="32" name="图片 105" descr="AP.png"/>
            <p:cNvPicPr>
              <a:picLocks noChangeAspect="1"/>
            </p:cNvPicPr>
            <p:nvPr/>
          </p:nvPicPr>
          <p:blipFill>
            <a:blip r:embed="rId4" cstate="print"/>
            <a:stretch>
              <a:fillRect/>
            </a:stretch>
          </p:blipFill>
          <p:spPr bwMode="gray">
            <a:xfrm>
              <a:off x="5581232" y="3599905"/>
              <a:ext cx="405710" cy="331945"/>
            </a:xfrm>
            <a:prstGeom prst="rect">
              <a:avLst/>
            </a:prstGeom>
          </p:spPr>
        </p:pic>
        <p:grpSp>
          <p:nvGrpSpPr>
            <p:cNvPr id="33" name="组合 758"/>
            <p:cNvGrpSpPr/>
            <p:nvPr/>
          </p:nvGrpSpPr>
          <p:grpSpPr bwMode="gray">
            <a:xfrm flipV="1">
              <a:off x="5628098" y="4032752"/>
              <a:ext cx="311978" cy="264190"/>
              <a:chOff x="7440613" y="4868863"/>
              <a:chExt cx="1019175" cy="828675"/>
            </a:xfrm>
            <a:solidFill>
              <a:schemeClr val="bg1">
                <a:lumMod val="65000"/>
              </a:schemeClr>
            </a:solidFill>
          </p:grpSpPr>
          <p:sp>
            <p:nvSpPr>
              <p:cNvPr id="34"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pic>
        <p:nvPicPr>
          <p:cNvPr id="36" name="图片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2641652" y="2697027"/>
            <a:ext cx="368827" cy="301768"/>
          </a:xfrm>
          <a:prstGeom prst="rect">
            <a:avLst/>
          </a:prstGeom>
        </p:spPr>
      </p:pic>
      <p:grpSp>
        <p:nvGrpSpPr>
          <p:cNvPr id="37" name="Group 6"/>
          <p:cNvGrpSpPr/>
          <p:nvPr/>
        </p:nvGrpSpPr>
        <p:grpSpPr bwMode="gray">
          <a:xfrm>
            <a:off x="2474145" y="2138624"/>
            <a:ext cx="740908" cy="419221"/>
            <a:chOff x="8010736" y="4067414"/>
            <a:chExt cx="740908" cy="419221"/>
          </a:xfrm>
        </p:grpSpPr>
        <p:sp>
          <p:nvSpPr>
            <p:cNvPr id="38" name="Freeform 200"/>
            <p:cNvSpPr/>
            <p:nvPr/>
          </p:nvSpPr>
          <p:spPr bwMode="gray">
            <a:xfrm>
              <a:off x="8014239" y="4067414"/>
              <a:ext cx="725378" cy="411230"/>
            </a:xfrm>
            <a:custGeom>
              <a:avLst/>
              <a:gdLst>
                <a:gd name="connsiteX0" fmla="*/ 511396 w 823780"/>
                <a:gd name="connsiteY0" fmla="*/ 0 h 467015"/>
                <a:gd name="connsiteX1" fmla="*/ 732475 w 823780"/>
                <a:gd name="connsiteY1" fmla="*/ 223125 h 467015"/>
                <a:gd name="connsiteX2" fmla="*/ 727487 w 823780"/>
                <a:gd name="connsiteY2" fmla="*/ 248058 h 467015"/>
                <a:gd name="connsiteX3" fmla="*/ 756693 w 823780"/>
                <a:gd name="connsiteY3" fmla="*/ 254009 h 467015"/>
                <a:gd name="connsiteX4" fmla="*/ 823780 w 823780"/>
                <a:gd name="connsiteY4" fmla="*/ 356156 h 467015"/>
                <a:gd name="connsiteX5" fmla="*/ 756693 w 823780"/>
                <a:gd name="connsiteY5" fmla="*/ 458303 h 467015"/>
                <a:gd name="connsiteX6" fmla="*/ 732017 w 823780"/>
                <a:gd name="connsiteY6" fmla="*/ 463331 h 467015"/>
                <a:gd name="connsiteX7" fmla="*/ 732017 w 823780"/>
                <a:gd name="connsiteY7" fmla="*/ 467014 h 467015"/>
                <a:gd name="connsiteX8" fmla="*/ 713942 w 823780"/>
                <a:gd name="connsiteY8" fmla="*/ 467014 h 467015"/>
                <a:gd name="connsiteX9" fmla="*/ 713937 w 823780"/>
                <a:gd name="connsiteY9" fmla="*/ 467015 h 467015"/>
                <a:gd name="connsiteX10" fmla="*/ 713932 w 823780"/>
                <a:gd name="connsiteY10" fmla="*/ 467014 h 467015"/>
                <a:gd name="connsiteX11" fmla="*/ 120827 w 823780"/>
                <a:gd name="connsiteY11" fmla="*/ 467014 h 467015"/>
                <a:gd name="connsiteX12" fmla="*/ 100287 w 823780"/>
                <a:gd name="connsiteY12" fmla="*/ 467014 h 467015"/>
                <a:gd name="connsiteX13" fmla="*/ 100287 w 823780"/>
                <a:gd name="connsiteY13" fmla="*/ 462829 h 467015"/>
                <a:gd name="connsiteX14" fmla="*/ 73795 w 823780"/>
                <a:gd name="connsiteY14" fmla="*/ 457431 h 467015"/>
                <a:gd name="connsiteX15" fmla="*/ 0 w 823780"/>
                <a:gd name="connsiteY15" fmla="*/ 345069 h 467015"/>
                <a:gd name="connsiteX16" fmla="*/ 73795 w 823780"/>
                <a:gd name="connsiteY16" fmla="*/ 232707 h 467015"/>
                <a:gd name="connsiteX17" fmla="*/ 81613 w 823780"/>
                <a:gd name="connsiteY17" fmla="*/ 231114 h 467015"/>
                <a:gd name="connsiteX18" fmla="*/ 94608 w 823780"/>
                <a:gd name="connsiteY18" fmla="*/ 172061 h 467015"/>
                <a:gd name="connsiteX19" fmla="*/ 250025 w 823780"/>
                <a:gd name="connsiteY19" fmla="*/ 77543 h 467015"/>
                <a:gd name="connsiteX20" fmla="*/ 315680 w 823780"/>
                <a:gd name="connsiteY20" fmla="*/ 89704 h 467015"/>
                <a:gd name="connsiteX21" fmla="*/ 332040 w 823780"/>
                <a:gd name="connsiteY21" fmla="*/ 99825 h 467015"/>
                <a:gd name="connsiteX22" fmla="*/ 355070 w 823780"/>
                <a:gd name="connsiteY22" fmla="*/ 65352 h 467015"/>
                <a:gd name="connsiteX23" fmla="*/ 511396 w 823780"/>
                <a:gd name="connsiteY23" fmla="*/ 0 h 467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3780" h="467015">
                  <a:moveTo>
                    <a:pt x="511396" y="0"/>
                  </a:moveTo>
                  <a:cubicBezTo>
                    <a:pt x="633495" y="0"/>
                    <a:pt x="732475" y="99896"/>
                    <a:pt x="732475" y="223125"/>
                  </a:cubicBezTo>
                  <a:lnTo>
                    <a:pt x="727487" y="248058"/>
                  </a:lnTo>
                  <a:lnTo>
                    <a:pt x="756693" y="254009"/>
                  </a:lnTo>
                  <a:cubicBezTo>
                    <a:pt x="796117" y="270838"/>
                    <a:pt x="823780" y="310236"/>
                    <a:pt x="823780" y="356156"/>
                  </a:cubicBezTo>
                  <a:cubicBezTo>
                    <a:pt x="823780" y="402076"/>
                    <a:pt x="796117" y="441474"/>
                    <a:pt x="756693" y="458303"/>
                  </a:cubicBezTo>
                  <a:lnTo>
                    <a:pt x="732017" y="463331"/>
                  </a:lnTo>
                  <a:lnTo>
                    <a:pt x="732017" y="467014"/>
                  </a:lnTo>
                  <a:lnTo>
                    <a:pt x="713942" y="467014"/>
                  </a:lnTo>
                  <a:lnTo>
                    <a:pt x="713937" y="467015"/>
                  </a:lnTo>
                  <a:lnTo>
                    <a:pt x="713932" y="467014"/>
                  </a:lnTo>
                  <a:lnTo>
                    <a:pt x="120827" y="467014"/>
                  </a:lnTo>
                  <a:lnTo>
                    <a:pt x="100287" y="467014"/>
                  </a:lnTo>
                  <a:lnTo>
                    <a:pt x="100287" y="462829"/>
                  </a:lnTo>
                  <a:lnTo>
                    <a:pt x="73795" y="457431"/>
                  </a:lnTo>
                  <a:cubicBezTo>
                    <a:pt x="30429" y="438919"/>
                    <a:pt x="0" y="395580"/>
                    <a:pt x="0" y="345069"/>
                  </a:cubicBezTo>
                  <a:cubicBezTo>
                    <a:pt x="0" y="294558"/>
                    <a:pt x="30429" y="251219"/>
                    <a:pt x="73795" y="232707"/>
                  </a:cubicBezTo>
                  <a:lnTo>
                    <a:pt x="81613" y="231114"/>
                  </a:lnTo>
                  <a:lnTo>
                    <a:pt x="94608" y="172061"/>
                  </a:lnTo>
                  <a:cubicBezTo>
                    <a:pt x="120214" y="116517"/>
                    <a:pt x="180159" y="77543"/>
                    <a:pt x="250025" y="77543"/>
                  </a:cubicBezTo>
                  <a:cubicBezTo>
                    <a:pt x="273314" y="77543"/>
                    <a:pt x="295500" y="81873"/>
                    <a:pt x="315680" y="89704"/>
                  </a:cubicBezTo>
                  <a:lnTo>
                    <a:pt x="332040" y="99825"/>
                  </a:lnTo>
                  <a:lnTo>
                    <a:pt x="355070" y="65352"/>
                  </a:lnTo>
                  <a:cubicBezTo>
                    <a:pt x="395077" y="24974"/>
                    <a:pt x="450347" y="0"/>
                    <a:pt x="511396" y="0"/>
                  </a:cubicBezTo>
                  <a:close/>
                </a:path>
              </a:pathLst>
            </a:cu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TextBox 2"/>
            <p:cNvSpPr txBox="1"/>
            <p:nvPr/>
          </p:nvSpPr>
          <p:spPr bwMode="gray">
            <a:xfrm>
              <a:off x="8010736" y="4209636"/>
              <a:ext cx="740908" cy="276999"/>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40" name="图片 3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2249152" y="1707202"/>
            <a:ext cx="1113095" cy="205285"/>
          </a:xfrm>
          <a:prstGeom prst="rect">
            <a:avLst/>
          </a:prstGeom>
        </p:spPr>
      </p:pic>
      <p:pic>
        <p:nvPicPr>
          <p:cNvPr id="41" name="图片 158" descr="SAN网络-蓝.png"/>
          <p:cNvPicPr>
            <a:picLocks noChangeAspect="1"/>
          </p:cNvPicPr>
          <p:nvPr/>
        </p:nvPicPr>
        <p:blipFill>
          <a:blip r:embed="rId7" cstate="print"/>
          <a:stretch>
            <a:fillRect/>
          </a:stretch>
        </p:blipFill>
        <p:spPr bwMode="gray">
          <a:xfrm>
            <a:off x="3569160" y="4481608"/>
            <a:ext cx="182733" cy="299373"/>
          </a:xfrm>
          <a:prstGeom prst="rect">
            <a:avLst/>
          </a:prstGeom>
        </p:spPr>
      </p:pic>
      <p:pic>
        <p:nvPicPr>
          <p:cNvPr id="42" name="图片 157" descr="故障链路.png"/>
          <p:cNvPicPr>
            <a:picLocks noChangeAspect="1"/>
          </p:cNvPicPr>
          <p:nvPr/>
        </p:nvPicPr>
        <p:blipFill>
          <a:blip r:embed="rId8" cstate="print"/>
          <a:stretch>
            <a:fillRect/>
          </a:stretch>
        </p:blipFill>
        <p:spPr bwMode="gray">
          <a:xfrm>
            <a:off x="2740202" y="4506282"/>
            <a:ext cx="335297" cy="250025"/>
          </a:xfrm>
          <a:prstGeom prst="rect">
            <a:avLst/>
          </a:prstGeom>
        </p:spPr>
      </p:pic>
      <p:pic>
        <p:nvPicPr>
          <p:cNvPr id="43" name="图片 14" descr="日志告警服务器-蓝.png"/>
          <p:cNvPicPr>
            <a:picLocks noChangeAspect="1"/>
          </p:cNvPicPr>
          <p:nvPr/>
        </p:nvPicPr>
        <p:blipFill>
          <a:blip r:embed="rId9" cstate="print"/>
          <a:stretch>
            <a:fillRect/>
          </a:stretch>
        </p:blipFill>
        <p:spPr bwMode="gray">
          <a:xfrm>
            <a:off x="1804273" y="4504719"/>
            <a:ext cx="405415" cy="253150"/>
          </a:xfrm>
          <a:prstGeom prst="rect">
            <a:avLst/>
          </a:prstGeom>
        </p:spPr>
      </p:pic>
      <p:sp>
        <p:nvSpPr>
          <p:cNvPr id="44" name="文本框 43"/>
          <p:cNvSpPr txBox="1"/>
          <p:nvPr/>
        </p:nvSpPr>
        <p:spPr bwMode="gray">
          <a:xfrm>
            <a:off x="1350070" y="3364882"/>
            <a:ext cx="931665" cy="276999"/>
          </a:xfrm>
          <a:prstGeom prst="rect">
            <a:avLst/>
          </a:prstGeom>
          <a:noFill/>
        </p:spPr>
        <p:txBody>
          <a:bodyPr wrap="none" rtlCol="0">
            <a:spAutoFit/>
          </a:bodyPr>
          <a:lstStyle/>
          <a:p>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Leader AP</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5" name="图片 72" descr="AP.png"/>
          <p:cNvPicPr>
            <a:picLocks noChangeAspect="1"/>
          </p:cNvPicPr>
          <p:nvPr/>
        </p:nvPicPr>
        <p:blipFill>
          <a:blip r:embed="rId10" cstate="print"/>
          <a:stretch>
            <a:fillRect/>
          </a:stretch>
        </p:blipFill>
        <p:spPr bwMode="gray">
          <a:xfrm>
            <a:off x="1753365" y="3710182"/>
            <a:ext cx="405710" cy="331945"/>
          </a:xfrm>
          <a:prstGeom prst="rect">
            <a:avLst/>
          </a:prstGeom>
        </p:spPr>
      </p:pic>
      <p:grpSp>
        <p:nvGrpSpPr>
          <p:cNvPr id="46" name="Group 165"/>
          <p:cNvGrpSpPr/>
          <p:nvPr/>
        </p:nvGrpSpPr>
        <p:grpSpPr bwMode="gray">
          <a:xfrm rot="10800000">
            <a:off x="7002273" y="2187028"/>
            <a:ext cx="2776418" cy="746548"/>
            <a:chOff x="-1233037" y="914446"/>
            <a:chExt cx="1573823" cy="778776"/>
          </a:xfrm>
        </p:grpSpPr>
        <p:cxnSp>
          <p:nvCxnSpPr>
            <p:cNvPr id="47" name="Straight Connector 166"/>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167"/>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pic>
        <p:nvPicPr>
          <p:cNvPr id="49" name="图片 48" descr="AC-蓝.png"/>
          <p:cNvPicPr>
            <a:picLocks noChangeAspect="1"/>
          </p:cNvPicPr>
          <p:nvPr/>
        </p:nvPicPr>
        <p:blipFill>
          <a:blip r:embed="rId11" cstate="print"/>
          <a:stretch>
            <a:fillRect/>
          </a:stretch>
        </p:blipFill>
        <p:spPr bwMode="gray">
          <a:xfrm>
            <a:off x="9276136" y="1988975"/>
            <a:ext cx="405710" cy="331945"/>
          </a:xfrm>
          <a:prstGeom prst="rect">
            <a:avLst/>
          </a:prstGeom>
        </p:spPr>
      </p:pic>
      <p:pic>
        <p:nvPicPr>
          <p:cNvPr id="50" name="图片 86" descr="核心交换机.png"/>
          <p:cNvPicPr>
            <a:picLocks noChangeAspect="1"/>
          </p:cNvPicPr>
          <p:nvPr/>
        </p:nvPicPr>
        <p:blipFill>
          <a:blip r:embed="rId12" cstate="print"/>
          <a:stretch>
            <a:fillRect/>
          </a:stretch>
        </p:blipFill>
        <p:spPr bwMode="gray">
          <a:xfrm>
            <a:off x="8201510" y="1988975"/>
            <a:ext cx="405710" cy="331945"/>
          </a:xfrm>
          <a:prstGeom prst="rect">
            <a:avLst/>
          </a:prstGeom>
        </p:spPr>
      </p:pic>
      <p:cxnSp>
        <p:nvCxnSpPr>
          <p:cNvPr id="51" name="直接连接符 50"/>
          <p:cNvCxnSpPr/>
          <p:nvPr/>
        </p:nvCxnSpPr>
        <p:spPr bwMode="gray">
          <a:xfrm flipH="1">
            <a:off x="8607220" y="2154947"/>
            <a:ext cx="66891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2" name="Group 165"/>
          <p:cNvGrpSpPr/>
          <p:nvPr/>
        </p:nvGrpSpPr>
        <p:grpSpPr bwMode="gray">
          <a:xfrm rot="10800000">
            <a:off x="9360134" y="2865672"/>
            <a:ext cx="636528" cy="746548"/>
            <a:chOff x="-1233037" y="914446"/>
            <a:chExt cx="1573823" cy="778776"/>
          </a:xfrm>
        </p:grpSpPr>
        <p:cxnSp>
          <p:nvCxnSpPr>
            <p:cNvPr id="53" name="Straight Connector 166"/>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167"/>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55" name="Group 165"/>
          <p:cNvGrpSpPr/>
          <p:nvPr/>
        </p:nvGrpSpPr>
        <p:grpSpPr bwMode="gray">
          <a:xfrm rot="10800000">
            <a:off x="8742067" y="2873803"/>
            <a:ext cx="1872662" cy="746548"/>
            <a:chOff x="-1233037" y="914446"/>
            <a:chExt cx="1573823" cy="778776"/>
          </a:xfrm>
        </p:grpSpPr>
        <p:cxnSp>
          <p:nvCxnSpPr>
            <p:cNvPr id="56" name="Straight Connector 166"/>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167"/>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58" name="组合 758"/>
          <p:cNvGrpSpPr/>
          <p:nvPr/>
        </p:nvGrpSpPr>
        <p:grpSpPr bwMode="gray">
          <a:xfrm flipV="1">
            <a:off x="8653104" y="3941490"/>
            <a:ext cx="311978" cy="264190"/>
            <a:chOff x="7440613" y="4868863"/>
            <a:chExt cx="1019175" cy="828675"/>
          </a:xfrm>
          <a:solidFill>
            <a:schemeClr val="bg1">
              <a:lumMod val="65000"/>
            </a:schemeClr>
          </a:solidFill>
        </p:grpSpPr>
        <p:sp>
          <p:nvSpPr>
            <p:cNvPr id="59"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61" name="组合 758"/>
          <p:cNvGrpSpPr/>
          <p:nvPr/>
        </p:nvGrpSpPr>
        <p:grpSpPr bwMode="gray">
          <a:xfrm flipV="1">
            <a:off x="9228817" y="3941490"/>
            <a:ext cx="311978" cy="264190"/>
            <a:chOff x="7440613" y="4868863"/>
            <a:chExt cx="1019175" cy="828675"/>
          </a:xfrm>
          <a:solidFill>
            <a:schemeClr val="bg1">
              <a:lumMod val="65000"/>
            </a:schemeClr>
          </a:solidFill>
        </p:grpSpPr>
        <p:sp>
          <p:nvSpPr>
            <p:cNvPr id="62"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64" name="组合 758"/>
          <p:cNvGrpSpPr/>
          <p:nvPr/>
        </p:nvGrpSpPr>
        <p:grpSpPr bwMode="gray">
          <a:xfrm flipV="1">
            <a:off x="9804530" y="3941490"/>
            <a:ext cx="311978" cy="264190"/>
            <a:chOff x="7440613" y="4868863"/>
            <a:chExt cx="1019175" cy="828675"/>
          </a:xfrm>
          <a:solidFill>
            <a:schemeClr val="bg1">
              <a:lumMod val="65000"/>
            </a:schemeClr>
          </a:solidFill>
        </p:grpSpPr>
        <p:sp>
          <p:nvSpPr>
            <p:cNvPr id="65"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67" name="组合 758"/>
          <p:cNvGrpSpPr/>
          <p:nvPr/>
        </p:nvGrpSpPr>
        <p:grpSpPr bwMode="gray">
          <a:xfrm flipV="1">
            <a:off x="10380244" y="3941490"/>
            <a:ext cx="311978" cy="264190"/>
            <a:chOff x="7440613" y="4868863"/>
            <a:chExt cx="1019175" cy="828675"/>
          </a:xfrm>
          <a:solidFill>
            <a:schemeClr val="bg1">
              <a:lumMod val="65000"/>
            </a:schemeClr>
          </a:solidFill>
        </p:grpSpPr>
        <p:sp>
          <p:nvSpPr>
            <p:cNvPr id="68"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70" name="文本框 69"/>
          <p:cNvSpPr txBox="1"/>
          <p:nvPr/>
        </p:nvSpPr>
        <p:spPr bwMode="gray">
          <a:xfrm>
            <a:off x="8775746" y="2740190"/>
            <a:ext cx="691215" cy="276999"/>
          </a:xfrm>
          <a:prstGeom prst="rect">
            <a:avLst/>
          </a:prstGeom>
          <a:noFill/>
        </p:spPr>
        <p:txBody>
          <a:bodyPr wrap="none" rtlCol="0">
            <a:spAutoFit/>
          </a:bodyPr>
          <a:lstStyle/>
          <a:p>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中心</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AP</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1" name="图片 114" descr="中心AP.png"/>
          <p:cNvPicPr>
            <a:picLocks noChangeAspect="1"/>
          </p:cNvPicPr>
          <p:nvPr/>
        </p:nvPicPr>
        <p:blipFill>
          <a:blip r:embed="rId13"/>
          <a:stretch>
            <a:fillRect/>
          </a:stretch>
        </p:blipFill>
        <p:spPr bwMode="gray">
          <a:xfrm>
            <a:off x="9481410" y="2741089"/>
            <a:ext cx="400000" cy="327273"/>
          </a:xfrm>
          <a:prstGeom prst="rect">
            <a:avLst/>
          </a:prstGeom>
        </p:spPr>
      </p:pic>
      <p:sp>
        <p:nvSpPr>
          <p:cNvPr id="72" name="圆角矩形 75"/>
          <p:cNvSpPr/>
          <p:nvPr/>
        </p:nvSpPr>
        <p:spPr bwMode="gray">
          <a:xfrm>
            <a:off x="8518578" y="3316156"/>
            <a:ext cx="556024" cy="1261621"/>
          </a:xfrm>
          <a:prstGeom prst="roundRect">
            <a:avLst>
              <a:gd name="adj" fmla="val 874"/>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en-US" altLang="zh-CN" sz="1400" dirty="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73" name="圆角矩形 75"/>
          <p:cNvSpPr/>
          <p:nvPr/>
        </p:nvSpPr>
        <p:spPr bwMode="gray">
          <a:xfrm>
            <a:off x="9107055" y="3316156"/>
            <a:ext cx="556024" cy="1261621"/>
          </a:xfrm>
          <a:prstGeom prst="roundRect">
            <a:avLst>
              <a:gd name="adj" fmla="val 874"/>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en-US" altLang="zh-CN" sz="1400" dirty="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74" name="圆角矩形 75"/>
          <p:cNvSpPr/>
          <p:nvPr/>
        </p:nvSpPr>
        <p:spPr bwMode="gray">
          <a:xfrm>
            <a:off x="9695532" y="3316156"/>
            <a:ext cx="556024" cy="1261621"/>
          </a:xfrm>
          <a:prstGeom prst="roundRect">
            <a:avLst>
              <a:gd name="adj" fmla="val 874"/>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en-US" altLang="zh-CN" sz="1400" dirty="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75" name="圆角矩形 75"/>
          <p:cNvSpPr/>
          <p:nvPr/>
        </p:nvSpPr>
        <p:spPr bwMode="gray">
          <a:xfrm>
            <a:off x="10284010" y="3316156"/>
            <a:ext cx="556024" cy="1261621"/>
          </a:xfrm>
          <a:prstGeom prst="roundRect">
            <a:avLst>
              <a:gd name="adj" fmla="val 874"/>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en-US" altLang="zh-CN" sz="1400" dirty="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76" name="文本框 75"/>
          <p:cNvSpPr txBox="1"/>
          <p:nvPr/>
        </p:nvSpPr>
        <p:spPr bwMode="gray">
          <a:xfrm>
            <a:off x="8506286" y="4321301"/>
            <a:ext cx="580608" cy="276999"/>
          </a:xfrm>
          <a:prstGeom prst="rect">
            <a:avLst/>
          </a:prstGeom>
          <a:noFill/>
        </p:spPr>
        <p:txBody>
          <a:bodyPr wrap="none" rtlCol="0">
            <a:spAutoFit/>
          </a:bodyPr>
          <a:lstStyle/>
          <a:p>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房间</a:t>
            </a: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文本框 76"/>
          <p:cNvSpPr txBox="1"/>
          <p:nvPr/>
        </p:nvSpPr>
        <p:spPr bwMode="gray">
          <a:xfrm>
            <a:off x="9127075" y="4321301"/>
            <a:ext cx="579005" cy="276999"/>
          </a:xfrm>
          <a:prstGeom prst="rect">
            <a:avLst/>
          </a:prstGeom>
          <a:noFill/>
        </p:spPr>
        <p:txBody>
          <a:bodyPr wrap="none" rtlCol="0">
            <a:spAutoFit/>
          </a:bodyPr>
          <a:lstStyle/>
          <a:p>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房间</a:t>
            </a: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文本框 77"/>
          <p:cNvSpPr txBox="1"/>
          <p:nvPr/>
        </p:nvSpPr>
        <p:spPr bwMode="gray">
          <a:xfrm>
            <a:off x="9703260" y="4321301"/>
            <a:ext cx="579005" cy="276999"/>
          </a:xfrm>
          <a:prstGeom prst="rect">
            <a:avLst/>
          </a:prstGeom>
          <a:noFill/>
        </p:spPr>
        <p:txBody>
          <a:bodyPr wrap="none" rtlCol="0">
            <a:spAutoFit/>
          </a:bodyPr>
          <a:lstStyle/>
          <a:p>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房间</a:t>
            </a: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文本框 78"/>
          <p:cNvSpPr txBox="1"/>
          <p:nvPr/>
        </p:nvSpPr>
        <p:spPr bwMode="gray">
          <a:xfrm>
            <a:off x="10288595" y="4321301"/>
            <a:ext cx="609462" cy="276999"/>
          </a:xfrm>
          <a:prstGeom prst="rect">
            <a:avLst/>
          </a:prstGeom>
          <a:noFill/>
        </p:spPr>
        <p:txBody>
          <a:bodyPr wrap="none" rtlCol="0">
            <a:spAutoFit/>
          </a:bodyPr>
          <a:lstStyle/>
          <a:p>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房间</a:t>
            </a: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N</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0" name="Group 165"/>
          <p:cNvGrpSpPr/>
          <p:nvPr/>
        </p:nvGrpSpPr>
        <p:grpSpPr bwMode="gray">
          <a:xfrm rot="10800000">
            <a:off x="6817030" y="2865672"/>
            <a:ext cx="636528" cy="746548"/>
            <a:chOff x="-1233037" y="914446"/>
            <a:chExt cx="1573823" cy="778776"/>
          </a:xfrm>
        </p:grpSpPr>
        <p:cxnSp>
          <p:nvCxnSpPr>
            <p:cNvPr id="81" name="Straight Connector 166"/>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167"/>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83" name="Group 165"/>
          <p:cNvGrpSpPr/>
          <p:nvPr/>
        </p:nvGrpSpPr>
        <p:grpSpPr bwMode="gray">
          <a:xfrm rot="10800000">
            <a:off x="6198963" y="2873803"/>
            <a:ext cx="1872662" cy="746548"/>
            <a:chOff x="-1233037" y="914446"/>
            <a:chExt cx="1573823" cy="778776"/>
          </a:xfrm>
        </p:grpSpPr>
        <p:cxnSp>
          <p:nvCxnSpPr>
            <p:cNvPr id="84" name="Straight Connector 166"/>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Straight Connector 167"/>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86" name="组合 758"/>
          <p:cNvGrpSpPr/>
          <p:nvPr/>
        </p:nvGrpSpPr>
        <p:grpSpPr bwMode="gray">
          <a:xfrm flipV="1">
            <a:off x="6110000" y="3941490"/>
            <a:ext cx="311978" cy="264190"/>
            <a:chOff x="7440613" y="4868863"/>
            <a:chExt cx="1019175" cy="828675"/>
          </a:xfrm>
          <a:solidFill>
            <a:schemeClr val="bg1">
              <a:lumMod val="65000"/>
            </a:schemeClr>
          </a:solidFill>
        </p:grpSpPr>
        <p:sp>
          <p:nvSpPr>
            <p:cNvPr id="87"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89" name="组合 758"/>
          <p:cNvGrpSpPr/>
          <p:nvPr/>
        </p:nvGrpSpPr>
        <p:grpSpPr bwMode="gray">
          <a:xfrm flipV="1">
            <a:off x="6685713" y="3941490"/>
            <a:ext cx="311978" cy="264190"/>
            <a:chOff x="7440613" y="4868863"/>
            <a:chExt cx="1019175" cy="828675"/>
          </a:xfrm>
          <a:solidFill>
            <a:schemeClr val="bg1">
              <a:lumMod val="65000"/>
            </a:schemeClr>
          </a:solidFill>
        </p:grpSpPr>
        <p:sp>
          <p:nvSpPr>
            <p:cNvPr id="90"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92" name="组合 758"/>
          <p:cNvGrpSpPr/>
          <p:nvPr/>
        </p:nvGrpSpPr>
        <p:grpSpPr bwMode="gray">
          <a:xfrm flipV="1">
            <a:off x="7261426" y="3941490"/>
            <a:ext cx="311978" cy="264190"/>
            <a:chOff x="7440613" y="4868863"/>
            <a:chExt cx="1019175" cy="828675"/>
          </a:xfrm>
          <a:solidFill>
            <a:schemeClr val="bg1">
              <a:lumMod val="65000"/>
            </a:schemeClr>
          </a:solidFill>
        </p:grpSpPr>
        <p:sp>
          <p:nvSpPr>
            <p:cNvPr id="93"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95" name="组合 758"/>
          <p:cNvGrpSpPr/>
          <p:nvPr/>
        </p:nvGrpSpPr>
        <p:grpSpPr bwMode="gray">
          <a:xfrm flipV="1">
            <a:off x="7837140" y="3941490"/>
            <a:ext cx="311978" cy="264190"/>
            <a:chOff x="7440613" y="4868863"/>
            <a:chExt cx="1019175" cy="828675"/>
          </a:xfrm>
          <a:solidFill>
            <a:schemeClr val="bg1">
              <a:lumMod val="65000"/>
            </a:schemeClr>
          </a:solidFill>
        </p:grpSpPr>
        <p:sp>
          <p:nvSpPr>
            <p:cNvPr id="96"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7"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98" name="文本框 97"/>
          <p:cNvSpPr txBox="1"/>
          <p:nvPr/>
        </p:nvSpPr>
        <p:spPr bwMode="gray">
          <a:xfrm>
            <a:off x="6232642" y="2740190"/>
            <a:ext cx="691215" cy="276999"/>
          </a:xfrm>
          <a:prstGeom prst="rect">
            <a:avLst/>
          </a:prstGeom>
          <a:noFill/>
        </p:spPr>
        <p:txBody>
          <a:bodyPr wrap="none" rtlCol="0">
            <a:spAutoFit/>
          </a:bodyPr>
          <a:lstStyle/>
          <a:p>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中心</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AP</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99" name="图片 114" descr="中心AP.png"/>
          <p:cNvPicPr>
            <a:picLocks noChangeAspect="1"/>
          </p:cNvPicPr>
          <p:nvPr/>
        </p:nvPicPr>
        <p:blipFill>
          <a:blip r:embed="rId13"/>
          <a:stretch>
            <a:fillRect/>
          </a:stretch>
        </p:blipFill>
        <p:spPr bwMode="gray">
          <a:xfrm>
            <a:off x="6938306" y="2741089"/>
            <a:ext cx="400000" cy="327273"/>
          </a:xfrm>
          <a:prstGeom prst="rect">
            <a:avLst/>
          </a:prstGeom>
        </p:spPr>
      </p:pic>
      <p:sp>
        <p:nvSpPr>
          <p:cNvPr id="100" name="圆角矩形 75"/>
          <p:cNvSpPr/>
          <p:nvPr/>
        </p:nvSpPr>
        <p:spPr bwMode="gray">
          <a:xfrm>
            <a:off x="5975474" y="3316156"/>
            <a:ext cx="556024" cy="1261621"/>
          </a:xfrm>
          <a:prstGeom prst="roundRect">
            <a:avLst>
              <a:gd name="adj" fmla="val 874"/>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en-US" altLang="zh-CN" sz="1400" dirty="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01" name="圆角矩形 75"/>
          <p:cNvSpPr/>
          <p:nvPr/>
        </p:nvSpPr>
        <p:spPr bwMode="gray">
          <a:xfrm>
            <a:off x="6563951" y="3316156"/>
            <a:ext cx="556024" cy="1261621"/>
          </a:xfrm>
          <a:prstGeom prst="roundRect">
            <a:avLst>
              <a:gd name="adj" fmla="val 874"/>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en-US" altLang="zh-CN" sz="1400" dirty="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02" name="圆角矩形 75"/>
          <p:cNvSpPr/>
          <p:nvPr/>
        </p:nvSpPr>
        <p:spPr bwMode="gray">
          <a:xfrm>
            <a:off x="7152428" y="3316156"/>
            <a:ext cx="556024" cy="1261621"/>
          </a:xfrm>
          <a:prstGeom prst="roundRect">
            <a:avLst>
              <a:gd name="adj" fmla="val 874"/>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en-US" altLang="zh-CN" sz="1400" dirty="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03" name="圆角矩形 75"/>
          <p:cNvSpPr/>
          <p:nvPr/>
        </p:nvSpPr>
        <p:spPr bwMode="gray">
          <a:xfrm>
            <a:off x="7740906" y="3316156"/>
            <a:ext cx="556024" cy="1261621"/>
          </a:xfrm>
          <a:prstGeom prst="roundRect">
            <a:avLst>
              <a:gd name="adj" fmla="val 874"/>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en-US" altLang="zh-CN" sz="1400" dirty="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04" name="文本框 103"/>
          <p:cNvSpPr txBox="1"/>
          <p:nvPr/>
        </p:nvSpPr>
        <p:spPr bwMode="gray">
          <a:xfrm>
            <a:off x="5963182" y="4321301"/>
            <a:ext cx="580608"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房间</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文本框 104"/>
          <p:cNvSpPr txBox="1"/>
          <p:nvPr/>
        </p:nvSpPr>
        <p:spPr bwMode="gray">
          <a:xfrm>
            <a:off x="6583971" y="4321301"/>
            <a:ext cx="579005" cy="276999"/>
          </a:xfrm>
          <a:prstGeom prst="rect">
            <a:avLst/>
          </a:prstGeom>
          <a:noFill/>
        </p:spPr>
        <p:txBody>
          <a:bodyPr wrap="none" rtlCol="0">
            <a:spAutoFit/>
          </a:bodyPr>
          <a:lstStyle/>
          <a:p>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房间</a:t>
            </a: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6" name="文本框 105"/>
          <p:cNvSpPr txBox="1"/>
          <p:nvPr/>
        </p:nvSpPr>
        <p:spPr bwMode="gray">
          <a:xfrm>
            <a:off x="7160156" y="4321301"/>
            <a:ext cx="579005" cy="276999"/>
          </a:xfrm>
          <a:prstGeom prst="rect">
            <a:avLst/>
          </a:prstGeom>
          <a:noFill/>
        </p:spPr>
        <p:txBody>
          <a:bodyPr wrap="none" rtlCol="0">
            <a:spAutoFit/>
          </a:bodyPr>
          <a:lstStyle/>
          <a:p>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房间</a:t>
            </a: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7" name="文本框 106"/>
          <p:cNvSpPr txBox="1"/>
          <p:nvPr/>
        </p:nvSpPr>
        <p:spPr bwMode="gray">
          <a:xfrm>
            <a:off x="7745491" y="4321301"/>
            <a:ext cx="609462" cy="276999"/>
          </a:xfrm>
          <a:prstGeom prst="rect">
            <a:avLst/>
          </a:prstGeom>
          <a:noFill/>
        </p:spPr>
        <p:txBody>
          <a:bodyPr wrap="none" rtlCol="0">
            <a:spAutoFit/>
          </a:bodyPr>
          <a:lstStyle/>
          <a:p>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房间</a:t>
            </a: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N</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8" name="图片 20" descr="RRU蓝.png"/>
          <p:cNvPicPr>
            <a:picLocks noChangeAspect="1"/>
          </p:cNvPicPr>
          <p:nvPr/>
        </p:nvPicPr>
        <p:blipFill>
          <a:blip r:embed="rId14"/>
          <a:stretch>
            <a:fillRect/>
          </a:stretch>
        </p:blipFill>
        <p:spPr bwMode="gray">
          <a:xfrm>
            <a:off x="6106468" y="3544383"/>
            <a:ext cx="330578" cy="270474"/>
          </a:xfrm>
          <a:prstGeom prst="rect">
            <a:avLst/>
          </a:prstGeom>
        </p:spPr>
      </p:pic>
      <p:pic>
        <p:nvPicPr>
          <p:cNvPr id="109" name="图片 20" descr="RRU蓝.png"/>
          <p:cNvPicPr>
            <a:picLocks noChangeAspect="1"/>
          </p:cNvPicPr>
          <p:nvPr/>
        </p:nvPicPr>
        <p:blipFill>
          <a:blip r:embed="rId14"/>
          <a:stretch>
            <a:fillRect/>
          </a:stretch>
        </p:blipFill>
        <p:spPr bwMode="gray">
          <a:xfrm>
            <a:off x="7852419" y="3544383"/>
            <a:ext cx="330578" cy="270474"/>
          </a:xfrm>
          <a:prstGeom prst="rect">
            <a:avLst/>
          </a:prstGeom>
        </p:spPr>
      </p:pic>
      <p:pic>
        <p:nvPicPr>
          <p:cNvPr id="110" name="图片 20" descr="RRU蓝.png"/>
          <p:cNvPicPr>
            <a:picLocks noChangeAspect="1"/>
          </p:cNvPicPr>
          <p:nvPr/>
        </p:nvPicPr>
        <p:blipFill>
          <a:blip r:embed="rId14"/>
          <a:stretch>
            <a:fillRect/>
          </a:stretch>
        </p:blipFill>
        <p:spPr bwMode="gray">
          <a:xfrm>
            <a:off x="6680877" y="3544383"/>
            <a:ext cx="330578" cy="270474"/>
          </a:xfrm>
          <a:prstGeom prst="rect">
            <a:avLst/>
          </a:prstGeom>
        </p:spPr>
      </p:pic>
      <p:pic>
        <p:nvPicPr>
          <p:cNvPr id="111" name="图片 20" descr="RRU蓝.png"/>
          <p:cNvPicPr>
            <a:picLocks noChangeAspect="1"/>
          </p:cNvPicPr>
          <p:nvPr/>
        </p:nvPicPr>
        <p:blipFill>
          <a:blip r:embed="rId14"/>
          <a:stretch>
            <a:fillRect/>
          </a:stretch>
        </p:blipFill>
        <p:spPr bwMode="gray">
          <a:xfrm>
            <a:off x="7250427" y="3544383"/>
            <a:ext cx="330578" cy="270474"/>
          </a:xfrm>
          <a:prstGeom prst="rect">
            <a:avLst/>
          </a:prstGeom>
        </p:spPr>
      </p:pic>
      <p:pic>
        <p:nvPicPr>
          <p:cNvPr id="112" name="图片 20" descr="RRU蓝.png"/>
          <p:cNvPicPr>
            <a:picLocks noChangeAspect="1"/>
          </p:cNvPicPr>
          <p:nvPr/>
        </p:nvPicPr>
        <p:blipFill>
          <a:blip r:embed="rId14"/>
          <a:stretch>
            <a:fillRect/>
          </a:stretch>
        </p:blipFill>
        <p:spPr bwMode="gray">
          <a:xfrm>
            <a:off x="8634293" y="3544383"/>
            <a:ext cx="330578" cy="270474"/>
          </a:xfrm>
          <a:prstGeom prst="rect">
            <a:avLst/>
          </a:prstGeom>
        </p:spPr>
      </p:pic>
      <p:pic>
        <p:nvPicPr>
          <p:cNvPr id="113" name="图片 20" descr="RRU蓝.png"/>
          <p:cNvPicPr>
            <a:picLocks noChangeAspect="1"/>
          </p:cNvPicPr>
          <p:nvPr/>
        </p:nvPicPr>
        <p:blipFill>
          <a:blip r:embed="rId14"/>
          <a:stretch>
            <a:fillRect/>
          </a:stretch>
        </p:blipFill>
        <p:spPr bwMode="gray">
          <a:xfrm>
            <a:off x="10380244" y="3544383"/>
            <a:ext cx="330578" cy="270474"/>
          </a:xfrm>
          <a:prstGeom prst="rect">
            <a:avLst/>
          </a:prstGeom>
        </p:spPr>
      </p:pic>
      <p:pic>
        <p:nvPicPr>
          <p:cNvPr id="114" name="图片 20" descr="RRU蓝.png"/>
          <p:cNvPicPr>
            <a:picLocks noChangeAspect="1"/>
          </p:cNvPicPr>
          <p:nvPr/>
        </p:nvPicPr>
        <p:blipFill>
          <a:blip r:embed="rId14"/>
          <a:stretch>
            <a:fillRect/>
          </a:stretch>
        </p:blipFill>
        <p:spPr bwMode="gray">
          <a:xfrm>
            <a:off x="9208702" y="3544383"/>
            <a:ext cx="330578" cy="270474"/>
          </a:xfrm>
          <a:prstGeom prst="rect">
            <a:avLst/>
          </a:prstGeom>
        </p:spPr>
      </p:pic>
      <p:pic>
        <p:nvPicPr>
          <p:cNvPr id="115" name="图片 20" descr="RRU蓝.png"/>
          <p:cNvPicPr>
            <a:picLocks noChangeAspect="1"/>
          </p:cNvPicPr>
          <p:nvPr/>
        </p:nvPicPr>
        <p:blipFill>
          <a:blip r:embed="rId14"/>
          <a:stretch>
            <a:fillRect/>
          </a:stretch>
        </p:blipFill>
        <p:spPr bwMode="gray">
          <a:xfrm>
            <a:off x="9778252" y="3544383"/>
            <a:ext cx="330578" cy="270474"/>
          </a:xfrm>
          <a:prstGeom prst="rect">
            <a:avLst/>
          </a:prstGeom>
        </p:spPr>
      </p:pic>
      <p:sp>
        <p:nvSpPr>
          <p:cNvPr id="116" name="文本框 115"/>
          <p:cNvSpPr txBox="1"/>
          <p:nvPr/>
        </p:nvSpPr>
        <p:spPr bwMode="gray">
          <a:xfrm>
            <a:off x="9653363" y="2016447"/>
            <a:ext cx="386644" cy="276999"/>
          </a:xfrm>
          <a:prstGeom prst="rect">
            <a:avLst/>
          </a:prstGeom>
          <a:noFill/>
        </p:spPr>
        <p:txBody>
          <a:bodyPr wrap="none" rtlCol="0">
            <a:spAutoFit/>
          </a:bodyPr>
          <a:lstStyle/>
          <a:p>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AC</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7" name="文本框 116"/>
          <p:cNvSpPr txBox="1"/>
          <p:nvPr/>
        </p:nvSpPr>
        <p:spPr bwMode="gray">
          <a:xfrm>
            <a:off x="10818431" y="3428436"/>
            <a:ext cx="397866" cy="276999"/>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RU</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8" name="文本框 117"/>
          <p:cNvSpPr txBox="1"/>
          <p:nvPr/>
        </p:nvSpPr>
        <p:spPr bwMode="gray">
          <a:xfrm>
            <a:off x="5608309" y="3399766"/>
            <a:ext cx="397866" cy="276999"/>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RU</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9" name="五边形 118"/>
          <p:cNvSpPr/>
          <p:nvPr/>
        </p:nvSpPr>
        <p:spPr bwMode="auto">
          <a:xfrm>
            <a:off x="6179960" y="98481"/>
            <a:ext cx="94884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以太网交换</a:t>
            </a:r>
          </a:p>
        </p:txBody>
      </p:sp>
      <p:sp>
        <p:nvSpPr>
          <p:cNvPr id="120" name="燕尾形 119"/>
          <p:cNvSpPr/>
          <p:nvPr/>
        </p:nvSpPr>
        <p:spPr bwMode="auto">
          <a:xfrm>
            <a:off x="7049907" y="98481"/>
            <a:ext cx="678521"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1" name="燕尾形 120"/>
          <p:cNvSpPr/>
          <p:nvPr/>
        </p:nvSpPr>
        <p:spPr bwMode="auto">
          <a:xfrm>
            <a:off x="7649535" y="98481"/>
            <a:ext cx="875959"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无线接入</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2" name="燕尾形 121"/>
          <p:cNvSpPr/>
          <p:nvPr/>
        </p:nvSpPr>
        <p:spPr bwMode="auto">
          <a:xfrm>
            <a:off x="8446601"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可靠性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3" name="燕尾形 122"/>
          <p:cNvSpPr/>
          <p:nvPr/>
        </p:nvSpPr>
        <p:spPr bwMode="auto">
          <a:xfrm>
            <a:off x="9148908" y="98481"/>
            <a:ext cx="87048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网络安全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4" name="燕尾形 123"/>
          <p:cNvSpPr/>
          <p:nvPr/>
        </p:nvSpPr>
        <p:spPr bwMode="auto">
          <a:xfrm>
            <a:off x="9940504" y="98481"/>
            <a:ext cx="130400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网络服务与管理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5" name="燕尾形 124"/>
          <p:cNvSpPr/>
          <p:nvPr/>
        </p:nvSpPr>
        <p:spPr bwMode="auto">
          <a:xfrm>
            <a:off x="11165613" y="98481"/>
            <a:ext cx="583475"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出口</a:t>
            </a:r>
          </a:p>
        </p:txBody>
      </p:sp>
    </p:spTree>
    <p:extLst>
      <p:ext uri="{BB962C8B-B14F-4D97-AF65-F5344CB8AC3E}">
        <p14:creationId xmlns:p14="http://schemas.microsoft.com/office/powerpoint/2010/main" val="12634630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a:sym typeface="Huawei Sans" panose="020C0503030203020204" pitchFamily="34" charset="0"/>
              </a:rPr>
              <a:t>WLAN</a:t>
            </a:r>
            <a:r>
              <a:rPr lang="zh-CN" altLang="en-US" dirty="0">
                <a:sym typeface="Huawei Sans" panose="020C0503030203020204" pitchFamily="34" charset="0"/>
              </a:rPr>
              <a:t>组网架构综述 </a:t>
            </a:r>
            <a:r>
              <a:rPr lang="en-US" altLang="zh-CN" dirty="0">
                <a:sym typeface="Huawei Sans" panose="020C0503030203020204" pitchFamily="34" charset="0"/>
              </a:rPr>
              <a:t>(3)</a:t>
            </a:r>
            <a:endParaRPr lang="zh-CN" altLang="en-US" dirty="0">
              <a:sym typeface="Huawei Sans" panose="020C0503030203020204" pitchFamily="34" charset="0"/>
            </a:endParaRPr>
          </a:p>
        </p:txBody>
      </p:sp>
      <p:cxnSp>
        <p:nvCxnSpPr>
          <p:cNvPr id="173" name="直接连接符 172"/>
          <p:cNvCxnSpPr/>
          <p:nvPr/>
        </p:nvCxnSpPr>
        <p:spPr bwMode="gray">
          <a:xfrm>
            <a:off x="2683449" y="2855325"/>
            <a:ext cx="0" cy="1220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74" name="组合 173"/>
          <p:cNvGrpSpPr/>
          <p:nvPr/>
        </p:nvGrpSpPr>
        <p:grpSpPr bwMode="gray">
          <a:xfrm>
            <a:off x="1749902" y="4042087"/>
            <a:ext cx="1872662" cy="560950"/>
            <a:chOff x="8697104" y="3266499"/>
            <a:chExt cx="1872662" cy="754679"/>
          </a:xfrm>
        </p:grpSpPr>
        <p:grpSp>
          <p:nvGrpSpPr>
            <p:cNvPr id="175" name="Group 165"/>
            <p:cNvGrpSpPr/>
            <p:nvPr/>
          </p:nvGrpSpPr>
          <p:grpSpPr bwMode="gray">
            <a:xfrm rot="10800000">
              <a:off x="9315171" y="3266499"/>
              <a:ext cx="636528" cy="746548"/>
              <a:chOff x="-1233037" y="914446"/>
              <a:chExt cx="1573823" cy="778776"/>
            </a:xfrm>
          </p:grpSpPr>
          <p:cxnSp>
            <p:nvCxnSpPr>
              <p:cNvPr id="179" name="Straight Connector 166"/>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Straight Connector 167"/>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176" name="Group 165"/>
            <p:cNvGrpSpPr/>
            <p:nvPr/>
          </p:nvGrpSpPr>
          <p:grpSpPr bwMode="gray">
            <a:xfrm rot="10800000">
              <a:off x="8697104" y="3274630"/>
              <a:ext cx="1872662" cy="746548"/>
              <a:chOff x="-1233037" y="914446"/>
              <a:chExt cx="1573823" cy="778776"/>
            </a:xfrm>
          </p:grpSpPr>
          <p:cxnSp>
            <p:nvCxnSpPr>
              <p:cNvPr id="177" name="Straight Connector 166"/>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Straight Connector 167"/>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sp>
        <p:nvSpPr>
          <p:cNvPr id="181" name="圆角矩形 75"/>
          <p:cNvSpPr/>
          <p:nvPr/>
        </p:nvSpPr>
        <p:spPr bwMode="gray">
          <a:xfrm>
            <a:off x="520619" y="1616009"/>
            <a:ext cx="11150759" cy="4327591"/>
          </a:xfrm>
          <a:prstGeom prst="roundRect">
            <a:avLst>
              <a:gd name="adj" fmla="val 874"/>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en-US" altLang="zh-CN" sz="1400" dirty="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pic>
        <p:nvPicPr>
          <p:cNvPr id="182" name="图片 158" descr="SAN网络-蓝.png"/>
          <p:cNvPicPr>
            <a:picLocks noChangeAspect="1"/>
          </p:cNvPicPr>
          <p:nvPr/>
        </p:nvPicPr>
        <p:blipFill>
          <a:blip r:embed="rId3" cstate="print"/>
          <a:stretch>
            <a:fillRect/>
          </a:stretch>
        </p:blipFill>
        <p:spPr bwMode="gray">
          <a:xfrm>
            <a:off x="3482125" y="5311892"/>
            <a:ext cx="182733" cy="299373"/>
          </a:xfrm>
          <a:prstGeom prst="rect">
            <a:avLst/>
          </a:prstGeom>
        </p:spPr>
      </p:pic>
      <p:pic>
        <p:nvPicPr>
          <p:cNvPr id="183" name="图片 157" descr="故障链路.png"/>
          <p:cNvPicPr>
            <a:picLocks noChangeAspect="1"/>
          </p:cNvPicPr>
          <p:nvPr/>
        </p:nvPicPr>
        <p:blipFill>
          <a:blip r:embed="rId4" cstate="print"/>
          <a:stretch>
            <a:fillRect/>
          </a:stretch>
        </p:blipFill>
        <p:spPr bwMode="gray">
          <a:xfrm>
            <a:off x="2653167" y="5336566"/>
            <a:ext cx="335297" cy="250025"/>
          </a:xfrm>
          <a:prstGeom prst="rect">
            <a:avLst/>
          </a:prstGeom>
        </p:spPr>
      </p:pic>
      <p:grpSp>
        <p:nvGrpSpPr>
          <p:cNvPr id="184" name="组合 183"/>
          <p:cNvGrpSpPr/>
          <p:nvPr/>
        </p:nvGrpSpPr>
        <p:grpSpPr bwMode="gray">
          <a:xfrm>
            <a:off x="1614073" y="4491329"/>
            <a:ext cx="405710" cy="697037"/>
            <a:chOff x="5581232" y="3599905"/>
            <a:chExt cx="405710" cy="697037"/>
          </a:xfrm>
        </p:grpSpPr>
        <p:pic>
          <p:nvPicPr>
            <p:cNvPr id="185" name="图片 105" descr="AP.png"/>
            <p:cNvPicPr>
              <a:picLocks noChangeAspect="1"/>
            </p:cNvPicPr>
            <p:nvPr/>
          </p:nvPicPr>
          <p:blipFill>
            <a:blip r:embed="rId5" cstate="print"/>
            <a:stretch>
              <a:fillRect/>
            </a:stretch>
          </p:blipFill>
          <p:spPr bwMode="gray">
            <a:xfrm>
              <a:off x="5581232" y="3599905"/>
              <a:ext cx="405710" cy="331945"/>
            </a:xfrm>
            <a:prstGeom prst="rect">
              <a:avLst/>
            </a:prstGeom>
          </p:spPr>
        </p:pic>
        <p:grpSp>
          <p:nvGrpSpPr>
            <p:cNvPr id="186" name="组合 758"/>
            <p:cNvGrpSpPr/>
            <p:nvPr/>
          </p:nvGrpSpPr>
          <p:grpSpPr bwMode="gray">
            <a:xfrm flipV="1">
              <a:off x="5628098" y="4032752"/>
              <a:ext cx="311978" cy="264190"/>
              <a:chOff x="7440613" y="4868863"/>
              <a:chExt cx="1019175" cy="828675"/>
            </a:xfrm>
            <a:solidFill>
              <a:schemeClr val="bg1">
                <a:lumMod val="65000"/>
              </a:schemeClr>
            </a:solidFill>
          </p:grpSpPr>
          <p:sp>
            <p:nvSpPr>
              <p:cNvPr id="187"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8"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pic>
        <p:nvPicPr>
          <p:cNvPr id="189" name="图片 14" descr="日志告警服务器-蓝.png"/>
          <p:cNvPicPr>
            <a:picLocks noChangeAspect="1"/>
          </p:cNvPicPr>
          <p:nvPr/>
        </p:nvPicPr>
        <p:blipFill>
          <a:blip r:embed="rId6" cstate="print"/>
          <a:stretch>
            <a:fillRect/>
          </a:stretch>
        </p:blipFill>
        <p:spPr bwMode="gray">
          <a:xfrm>
            <a:off x="1717238" y="5335003"/>
            <a:ext cx="405415" cy="253150"/>
          </a:xfrm>
          <a:prstGeom prst="rect">
            <a:avLst/>
          </a:prstGeom>
        </p:spPr>
      </p:pic>
      <p:sp>
        <p:nvSpPr>
          <p:cNvPr id="190" name="矩形 189"/>
          <p:cNvSpPr/>
          <p:nvPr/>
        </p:nvSpPr>
        <p:spPr bwMode="gray">
          <a:xfrm>
            <a:off x="5071532" y="3336686"/>
            <a:ext cx="6036734" cy="1092607"/>
          </a:xfrm>
          <a:prstGeom prst="rect">
            <a:avLst/>
          </a:prstGeom>
        </p:spPr>
        <p:txBody>
          <a:bodyPr wrap="square">
            <a:spAutoFit/>
          </a:bodyPr>
          <a:lstStyle/>
          <a:p>
            <a:pPr marL="285750" indent="-285750">
              <a:lnSpc>
                <a:spcPts val="2400"/>
              </a:lnSpc>
              <a:spcAft>
                <a:spcPts val="600"/>
              </a:spcAft>
              <a:buSzPct val="50000"/>
              <a:buFont typeface="Wingdings" panose="05000000000000000000" pitchFamily="2" charset="2"/>
              <a:buChar char="l"/>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组网特点</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需要配合云管理平台使用，由云管理平台统一管理和配置，功能丰富，且支持即插即用。对网络维护人员的技能要求低。</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ts val="2400"/>
              </a:lnSpc>
              <a:spcAft>
                <a:spcPts val="600"/>
              </a:spcAft>
              <a:buSzPct val="50000"/>
              <a:buFont typeface="Wingdings" panose="05000000000000000000" pitchFamily="2" charset="2"/>
              <a:buChar char="l"/>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适用场景</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：中小型企业。</a:t>
            </a:r>
          </a:p>
        </p:txBody>
      </p:sp>
      <p:pic>
        <p:nvPicPr>
          <p:cNvPr id="191" name="图片 76" descr="接入交换机.png"/>
          <p:cNvPicPr>
            <a:picLocks noChangeAspect="1"/>
          </p:cNvPicPr>
          <p:nvPr/>
        </p:nvPicPr>
        <p:blipFill>
          <a:blip r:embed="rId7" cstate="print"/>
          <a:stretch>
            <a:fillRect/>
          </a:stretch>
        </p:blipFill>
        <p:spPr bwMode="gray">
          <a:xfrm>
            <a:off x="2499263" y="3910773"/>
            <a:ext cx="368827" cy="301768"/>
          </a:xfrm>
          <a:prstGeom prst="rect">
            <a:avLst/>
          </a:prstGeom>
        </p:spPr>
      </p:pic>
      <p:grpSp>
        <p:nvGrpSpPr>
          <p:cNvPr id="192" name="组合 191"/>
          <p:cNvGrpSpPr/>
          <p:nvPr/>
        </p:nvGrpSpPr>
        <p:grpSpPr bwMode="gray">
          <a:xfrm>
            <a:off x="2189786" y="4491329"/>
            <a:ext cx="405710" cy="697037"/>
            <a:chOff x="5581232" y="3599905"/>
            <a:chExt cx="405710" cy="697037"/>
          </a:xfrm>
        </p:grpSpPr>
        <p:pic>
          <p:nvPicPr>
            <p:cNvPr id="193" name="图片 105" descr="AP.png"/>
            <p:cNvPicPr>
              <a:picLocks noChangeAspect="1"/>
            </p:cNvPicPr>
            <p:nvPr/>
          </p:nvPicPr>
          <p:blipFill>
            <a:blip r:embed="rId5" cstate="print"/>
            <a:stretch>
              <a:fillRect/>
            </a:stretch>
          </p:blipFill>
          <p:spPr bwMode="gray">
            <a:xfrm>
              <a:off x="5581232" y="3599905"/>
              <a:ext cx="405710" cy="331945"/>
            </a:xfrm>
            <a:prstGeom prst="rect">
              <a:avLst/>
            </a:prstGeom>
          </p:spPr>
        </p:pic>
        <p:grpSp>
          <p:nvGrpSpPr>
            <p:cNvPr id="194" name="组合 758"/>
            <p:cNvGrpSpPr/>
            <p:nvPr/>
          </p:nvGrpSpPr>
          <p:grpSpPr bwMode="gray">
            <a:xfrm flipV="1">
              <a:off x="5628098" y="4032752"/>
              <a:ext cx="311978" cy="264190"/>
              <a:chOff x="7440613" y="4868863"/>
              <a:chExt cx="1019175" cy="828675"/>
            </a:xfrm>
            <a:solidFill>
              <a:schemeClr val="bg1">
                <a:lumMod val="65000"/>
              </a:schemeClr>
            </a:solidFill>
          </p:grpSpPr>
          <p:sp>
            <p:nvSpPr>
              <p:cNvPr id="195"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6"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197" name="组合 196"/>
          <p:cNvGrpSpPr/>
          <p:nvPr/>
        </p:nvGrpSpPr>
        <p:grpSpPr bwMode="gray">
          <a:xfrm>
            <a:off x="2765499" y="4491329"/>
            <a:ext cx="405710" cy="697037"/>
            <a:chOff x="5581232" y="3599905"/>
            <a:chExt cx="405710" cy="697037"/>
          </a:xfrm>
        </p:grpSpPr>
        <p:pic>
          <p:nvPicPr>
            <p:cNvPr id="198" name="图片 105" descr="AP.png"/>
            <p:cNvPicPr>
              <a:picLocks noChangeAspect="1"/>
            </p:cNvPicPr>
            <p:nvPr/>
          </p:nvPicPr>
          <p:blipFill>
            <a:blip r:embed="rId5" cstate="print"/>
            <a:stretch>
              <a:fillRect/>
            </a:stretch>
          </p:blipFill>
          <p:spPr bwMode="gray">
            <a:xfrm>
              <a:off x="5581232" y="3599905"/>
              <a:ext cx="405710" cy="331945"/>
            </a:xfrm>
            <a:prstGeom prst="rect">
              <a:avLst/>
            </a:prstGeom>
          </p:spPr>
        </p:pic>
        <p:grpSp>
          <p:nvGrpSpPr>
            <p:cNvPr id="199" name="组合 758"/>
            <p:cNvGrpSpPr/>
            <p:nvPr/>
          </p:nvGrpSpPr>
          <p:grpSpPr bwMode="gray">
            <a:xfrm flipV="1">
              <a:off x="5628098" y="4032752"/>
              <a:ext cx="311978" cy="264190"/>
              <a:chOff x="7440613" y="4868863"/>
              <a:chExt cx="1019175" cy="828675"/>
            </a:xfrm>
            <a:solidFill>
              <a:schemeClr val="bg1">
                <a:lumMod val="65000"/>
              </a:schemeClr>
            </a:solidFill>
          </p:grpSpPr>
          <p:sp>
            <p:nvSpPr>
              <p:cNvPr id="200"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1"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202" name="组合 201"/>
          <p:cNvGrpSpPr/>
          <p:nvPr/>
        </p:nvGrpSpPr>
        <p:grpSpPr bwMode="gray">
          <a:xfrm>
            <a:off x="3341213" y="4491329"/>
            <a:ext cx="405710" cy="697037"/>
            <a:chOff x="5581232" y="3599905"/>
            <a:chExt cx="405710" cy="697037"/>
          </a:xfrm>
        </p:grpSpPr>
        <p:pic>
          <p:nvPicPr>
            <p:cNvPr id="203" name="图片 105" descr="AP.png"/>
            <p:cNvPicPr>
              <a:picLocks noChangeAspect="1"/>
            </p:cNvPicPr>
            <p:nvPr/>
          </p:nvPicPr>
          <p:blipFill>
            <a:blip r:embed="rId5" cstate="print"/>
            <a:stretch>
              <a:fillRect/>
            </a:stretch>
          </p:blipFill>
          <p:spPr bwMode="gray">
            <a:xfrm>
              <a:off x="5581232" y="3599905"/>
              <a:ext cx="405710" cy="331945"/>
            </a:xfrm>
            <a:prstGeom prst="rect">
              <a:avLst/>
            </a:prstGeom>
          </p:spPr>
        </p:pic>
        <p:grpSp>
          <p:nvGrpSpPr>
            <p:cNvPr id="204" name="组合 758"/>
            <p:cNvGrpSpPr/>
            <p:nvPr/>
          </p:nvGrpSpPr>
          <p:grpSpPr bwMode="gray">
            <a:xfrm flipV="1">
              <a:off x="5628098" y="4032752"/>
              <a:ext cx="311978" cy="264190"/>
              <a:chOff x="7440613" y="4868863"/>
              <a:chExt cx="1019175" cy="828675"/>
            </a:xfrm>
            <a:solidFill>
              <a:schemeClr val="bg1">
                <a:lumMod val="65000"/>
              </a:schemeClr>
            </a:solidFill>
          </p:grpSpPr>
          <p:sp>
            <p:nvSpPr>
              <p:cNvPr id="205"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6"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pic>
        <p:nvPicPr>
          <p:cNvPr id="207" name="图片 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2501819" y="3314734"/>
            <a:ext cx="368827" cy="301768"/>
          </a:xfrm>
          <a:prstGeom prst="rect">
            <a:avLst/>
          </a:prstGeom>
        </p:spPr>
      </p:pic>
      <p:grpSp>
        <p:nvGrpSpPr>
          <p:cNvPr id="208" name="Group 6"/>
          <p:cNvGrpSpPr/>
          <p:nvPr/>
        </p:nvGrpSpPr>
        <p:grpSpPr bwMode="gray">
          <a:xfrm>
            <a:off x="2269813" y="2560707"/>
            <a:ext cx="861382" cy="488334"/>
            <a:chOff x="7946237" y="4028862"/>
            <a:chExt cx="861382" cy="488334"/>
          </a:xfrm>
        </p:grpSpPr>
        <p:sp>
          <p:nvSpPr>
            <p:cNvPr id="209" name="Freeform 200"/>
            <p:cNvSpPr/>
            <p:nvPr/>
          </p:nvSpPr>
          <p:spPr bwMode="gray">
            <a:xfrm>
              <a:off x="7946237" y="4028862"/>
              <a:ext cx="861382" cy="488334"/>
            </a:xfrm>
            <a:custGeom>
              <a:avLst/>
              <a:gdLst>
                <a:gd name="connsiteX0" fmla="*/ 511396 w 823780"/>
                <a:gd name="connsiteY0" fmla="*/ 0 h 467015"/>
                <a:gd name="connsiteX1" fmla="*/ 732475 w 823780"/>
                <a:gd name="connsiteY1" fmla="*/ 223125 h 467015"/>
                <a:gd name="connsiteX2" fmla="*/ 727487 w 823780"/>
                <a:gd name="connsiteY2" fmla="*/ 248058 h 467015"/>
                <a:gd name="connsiteX3" fmla="*/ 756693 w 823780"/>
                <a:gd name="connsiteY3" fmla="*/ 254009 h 467015"/>
                <a:gd name="connsiteX4" fmla="*/ 823780 w 823780"/>
                <a:gd name="connsiteY4" fmla="*/ 356156 h 467015"/>
                <a:gd name="connsiteX5" fmla="*/ 756693 w 823780"/>
                <a:gd name="connsiteY5" fmla="*/ 458303 h 467015"/>
                <a:gd name="connsiteX6" fmla="*/ 732017 w 823780"/>
                <a:gd name="connsiteY6" fmla="*/ 463331 h 467015"/>
                <a:gd name="connsiteX7" fmla="*/ 732017 w 823780"/>
                <a:gd name="connsiteY7" fmla="*/ 467014 h 467015"/>
                <a:gd name="connsiteX8" fmla="*/ 713942 w 823780"/>
                <a:gd name="connsiteY8" fmla="*/ 467014 h 467015"/>
                <a:gd name="connsiteX9" fmla="*/ 713937 w 823780"/>
                <a:gd name="connsiteY9" fmla="*/ 467015 h 467015"/>
                <a:gd name="connsiteX10" fmla="*/ 713932 w 823780"/>
                <a:gd name="connsiteY10" fmla="*/ 467014 h 467015"/>
                <a:gd name="connsiteX11" fmla="*/ 120827 w 823780"/>
                <a:gd name="connsiteY11" fmla="*/ 467014 h 467015"/>
                <a:gd name="connsiteX12" fmla="*/ 100287 w 823780"/>
                <a:gd name="connsiteY12" fmla="*/ 467014 h 467015"/>
                <a:gd name="connsiteX13" fmla="*/ 100287 w 823780"/>
                <a:gd name="connsiteY13" fmla="*/ 462829 h 467015"/>
                <a:gd name="connsiteX14" fmla="*/ 73795 w 823780"/>
                <a:gd name="connsiteY14" fmla="*/ 457431 h 467015"/>
                <a:gd name="connsiteX15" fmla="*/ 0 w 823780"/>
                <a:gd name="connsiteY15" fmla="*/ 345069 h 467015"/>
                <a:gd name="connsiteX16" fmla="*/ 73795 w 823780"/>
                <a:gd name="connsiteY16" fmla="*/ 232707 h 467015"/>
                <a:gd name="connsiteX17" fmla="*/ 81613 w 823780"/>
                <a:gd name="connsiteY17" fmla="*/ 231114 h 467015"/>
                <a:gd name="connsiteX18" fmla="*/ 94608 w 823780"/>
                <a:gd name="connsiteY18" fmla="*/ 172061 h 467015"/>
                <a:gd name="connsiteX19" fmla="*/ 250025 w 823780"/>
                <a:gd name="connsiteY19" fmla="*/ 77543 h 467015"/>
                <a:gd name="connsiteX20" fmla="*/ 315680 w 823780"/>
                <a:gd name="connsiteY20" fmla="*/ 89704 h 467015"/>
                <a:gd name="connsiteX21" fmla="*/ 332040 w 823780"/>
                <a:gd name="connsiteY21" fmla="*/ 99825 h 467015"/>
                <a:gd name="connsiteX22" fmla="*/ 355070 w 823780"/>
                <a:gd name="connsiteY22" fmla="*/ 65352 h 467015"/>
                <a:gd name="connsiteX23" fmla="*/ 511396 w 823780"/>
                <a:gd name="connsiteY23" fmla="*/ 0 h 467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3780" h="467015">
                  <a:moveTo>
                    <a:pt x="511396" y="0"/>
                  </a:moveTo>
                  <a:cubicBezTo>
                    <a:pt x="633495" y="0"/>
                    <a:pt x="732475" y="99896"/>
                    <a:pt x="732475" y="223125"/>
                  </a:cubicBezTo>
                  <a:lnTo>
                    <a:pt x="727487" y="248058"/>
                  </a:lnTo>
                  <a:lnTo>
                    <a:pt x="756693" y="254009"/>
                  </a:lnTo>
                  <a:cubicBezTo>
                    <a:pt x="796117" y="270838"/>
                    <a:pt x="823780" y="310236"/>
                    <a:pt x="823780" y="356156"/>
                  </a:cubicBezTo>
                  <a:cubicBezTo>
                    <a:pt x="823780" y="402076"/>
                    <a:pt x="796117" y="441474"/>
                    <a:pt x="756693" y="458303"/>
                  </a:cubicBezTo>
                  <a:lnTo>
                    <a:pt x="732017" y="463331"/>
                  </a:lnTo>
                  <a:lnTo>
                    <a:pt x="732017" y="467014"/>
                  </a:lnTo>
                  <a:lnTo>
                    <a:pt x="713942" y="467014"/>
                  </a:lnTo>
                  <a:lnTo>
                    <a:pt x="713937" y="467015"/>
                  </a:lnTo>
                  <a:lnTo>
                    <a:pt x="713932" y="467014"/>
                  </a:lnTo>
                  <a:lnTo>
                    <a:pt x="120827" y="467014"/>
                  </a:lnTo>
                  <a:lnTo>
                    <a:pt x="100287" y="467014"/>
                  </a:lnTo>
                  <a:lnTo>
                    <a:pt x="100287" y="462829"/>
                  </a:lnTo>
                  <a:lnTo>
                    <a:pt x="73795" y="457431"/>
                  </a:lnTo>
                  <a:cubicBezTo>
                    <a:pt x="30429" y="438919"/>
                    <a:pt x="0" y="395580"/>
                    <a:pt x="0" y="345069"/>
                  </a:cubicBezTo>
                  <a:cubicBezTo>
                    <a:pt x="0" y="294558"/>
                    <a:pt x="30429" y="251219"/>
                    <a:pt x="73795" y="232707"/>
                  </a:cubicBezTo>
                  <a:lnTo>
                    <a:pt x="81613" y="231114"/>
                  </a:lnTo>
                  <a:lnTo>
                    <a:pt x="94608" y="172061"/>
                  </a:lnTo>
                  <a:cubicBezTo>
                    <a:pt x="120214" y="116517"/>
                    <a:pt x="180159" y="77543"/>
                    <a:pt x="250025" y="77543"/>
                  </a:cubicBezTo>
                  <a:cubicBezTo>
                    <a:pt x="273314" y="77543"/>
                    <a:pt x="295500" y="81873"/>
                    <a:pt x="315680" y="89704"/>
                  </a:cubicBezTo>
                  <a:lnTo>
                    <a:pt x="332040" y="99825"/>
                  </a:lnTo>
                  <a:lnTo>
                    <a:pt x="355070" y="65352"/>
                  </a:lnTo>
                  <a:cubicBezTo>
                    <a:pt x="395077" y="24974"/>
                    <a:pt x="450347" y="0"/>
                    <a:pt x="511396" y="0"/>
                  </a:cubicBezTo>
                  <a:close/>
                </a:path>
              </a:pathLst>
            </a:cu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0" name="TextBox 2"/>
            <p:cNvSpPr txBox="1"/>
            <p:nvPr/>
          </p:nvSpPr>
          <p:spPr bwMode="gray">
            <a:xfrm>
              <a:off x="7965051" y="4174800"/>
              <a:ext cx="832279"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211" name="图片 21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bwMode="gray">
          <a:xfrm>
            <a:off x="2008438" y="2112958"/>
            <a:ext cx="1289458" cy="237812"/>
          </a:xfrm>
          <a:prstGeom prst="rect">
            <a:avLst/>
          </a:prstGeom>
        </p:spPr>
      </p:pic>
      <p:sp>
        <p:nvSpPr>
          <p:cNvPr id="212" name="文本框 211"/>
          <p:cNvSpPr txBox="1"/>
          <p:nvPr/>
        </p:nvSpPr>
        <p:spPr bwMode="gray">
          <a:xfrm>
            <a:off x="3740258" y="4518454"/>
            <a:ext cx="857927" cy="276999"/>
          </a:xfrm>
          <a:prstGeom prst="rect">
            <a:avLst/>
          </a:prstGeom>
          <a:noFill/>
        </p:spPr>
        <p:txBody>
          <a:bodyPr wrap="none" rtlCol="0">
            <a:spAutoFit/>
          </a:bodyPr>
          <a:lstStyle/>
          <a:p>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Cloud AP</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3" name="圆角矩形 75"/>
          <p:cNvSpPr/>
          <p:nvPr/>
        </p:nvSpPr>
        <p:spPr bwMode="gray">
          <a:xfrm>
            <a:off x="520620" y="1161495"/>
            <a:ext cx="11150759" cy="395245"/>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云管理模式</a:t>
            </a:r>
          </a:p>
        </p:txBody>
      </p:sp>
      <p:sp>
        <p:nvSpPr>
          <p:cNvPr id="44" name="五边形 43"/>
          <p:cNvSpPr/>
          <p:nvPr/>
        </p:nvSpPr>
        <p:spPr bwMode="auto">
          <a:xfrm>
            <a:off x="6179960" y="98481"/>
            <a:ext cx="94884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以太网交换</a:t>
            </a:r>
          </a:p>
        </p:txBody>
      </p:sp>
      <p:sp>
        <p:nvSpPr>
          <p:cNvPr id="45" name="燕尾形 44"/>
          <p:cNvSpPr/>
          <p:nvPr/>
        </p:nvSpPr>
        <p:spPr bwMode="auto">
          <a:xfrm>
            <a:off x="7049907" y="98481"/>
            <a:ext cx="678521"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燕尾形 45"/>
          <p:cNvSpPr/>
          <p:nvPr/>
        </p:nvSpPr>
        <p:spPr bwMode="auto">
          <a:xfrm>
            <a:off x="7649535" y="98481"/>
            <a:ext cx="875959"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无线接入</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燕尾形 46"/>
          <p:cNvSpPr/>
          <p:nvPr/>
        </p:nvSpPr>
        <p:spPr bwMode="auto">
          <a:xfrm>
            <a:off x="8446601"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可靠性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燕尾形 47"/>
          <p:cNvSpPr/>
          <p:nvPr/>
        </p:nvSpPr>
        <p:spPr bwMode="auto">
          <a:xfrm>
            <a:off x="9148908" y="98481"/>
            <a:ext cx="87048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网络安全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燕尾形 48"/>
          <p:cNvSpPr/>
          <p:nvPr/>
        </p:nvSpPr>
        <p:spPr bwMode="auto">
          <a:xfrm>
            <a:off x="9940504" y="98481"/>
            <a:ext cx="130400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网络服务与管理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燕尾形 49"/>
          <p:cNvSpPr/>
          <p:nvPr/>
        </p:nvSpPr>
        <p:spPr bwMode="auto">
          <a:xfrm>
            <a:off x="11165613" y="98481"/>
            <a:ext cx="583475"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出口</a:t>
            </a:r>
          </a:p>
        </p:txBody>
      </p:sp>
    </p:spTree>
    <p:extLst>
      <p:ext uri="{BB962C8B-B14F-4D97-AF65-F5344CB8AC3E}">
        <p14:creationId xmlns:p14="http://schemas.microsoft.com/office/powerpoint/2010/main" val="22222492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normAutofit/>
          </a:bodyPr>
          <a:lstStyle/>
          <a:p>
            <a:r>
              <a:rPr lang="en-US" altLang="zh-CN" dirty="0">
                <a:sym typeface="Huawei Sans" panose="020C0503030203020204" pitchFamily="34" charset="0"/>
              </a:rPr>
              <a:t>WLAN</a:t>
            </a:r>
            <a:r>
              <a:rPr lang="zh-CN" altLang="en-US" dirty="0">
                <a:sym typeface="Huawei Sans" panose="020C0503030203020204" pitchFamily="34" charset="0"/>
              </a:rPr>
              <a:t>组网架构综述 </a:t>
            </a:r>
            <a:r>
              <a:rPr lang="en-US" altLang="zh-CN" dirty="0">
                <a:sym typeface="Huawei Sans" panose="020C0503030203020204" pitchFamily="34" charset="0"/>
              </a:rPr>
              <a:t>(4)</a:t>
            </a:r>
            <a:endParaRPr lang="zh-CN" altLang="en-US" dirty="0">
              <a:sym typeface="Huawei Sans" panose="020C0503030203020204" pitchFamily="34" charset="0"/>
            </a:endParaRPr>
          </a:p>
        </p:txBody>
      </p:sp>
      <p:sp>
        <p:nvSpPr>
          <p:cNvPr id="3" name="圆角矩形 75"/>
          <p:cNvSpPr/>
          <p:nvPr/>
        </p:nvSpPr>
        <p:spPr bwMode="gray">
          <a:xfrm>
            <a:off x="520622" y="1106551"/>
            <a:ext cx="11150759" cy="395245"/>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随板</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AC</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Native AC</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4" name="圆角矩形 75"/>
          <p:cNvSpPr/>
          <p:nvPr/>
        </p:nvSpPr>
        <p:spPr bwMode="gray">
          <a:xfrm>
            <a:off x="520623" y="1561065"/>
            <a:ext cx="11150758" cy="4524775"/>
          </a:xfrm>
          <a:prstGeom prst="roundRect">
            <a:avLst>
              <a:gd name="adj" fmla="val 874"/>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en-US" altLang="zh-CN" sz="1400" dirty="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5" name="矩形 4"/>
          <p:cNvSpPr/>
          <p:nvPr/>
        </p:nvSpPr>
        <p:spPr bwMode="gray">
          <a:xfrm>
            <a:off x="6860574" y="3097032"/>
            <a:ext cx="4311306" cy="1400383"/>
          </a:xfrm>
          <a:prstGeom prst="rect">
            <a:avLst/>
          </a:prstGeom>
        </p:spPr>
        <p:txBody>
          <a:bodyPr wrap="square">
            <a:spAutoFit/>
          </a:bodyPr>
          <a:lstStyle/>
          <a:p>
            <a:pPr marL="285750" indent="-285750">
              <a:lnSpc>
                <a:spcPts val="2400"/>
              </a:lnSpc>
              <a:spcAft>
                <a:spcPts val="600"/>
              </a:spcAft>
              <a:buSzPct val="50000"/>
              <a:buFont typeface="Wingdings" panose="05000000000000000000" pitchFamily="2" charset="2"/>
              <a:buChar char="l"/>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组网特点</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：使用交换机的随板</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功能管理网络中的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，有线与无线网络融合，结合大数据和</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AI</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技术实现园区网络的极简、智慧和安全。</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ts val="2400"/>
              </a:lnSpc>
              <a:spcAft>
                <a:spcPts val="600"/>
              </a:spcAft>
              <a:buSzPct val="50000"/>
              <a:buFont typeface="Wingdings" panose="05000000000000000000" pitchFamily="2" charset="2"/>
              <a:buChar char="l"/>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适用场景</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：大中型企业。</a:t>
            </a:r>
          </a:p>
        </p:txBody>
      </p:sp>
      <p:cxnSp>
        <p:nvCxnSpPr>
          <p:cNvPr id="6" name="Straight Connector 79"/>
          <p:cNvCxnSpPr/>
          <p:nvPr/>
        </p:nvCxnSpPr>
        <p:spPr bwMode="gray">
          <a:xfrm flipH="1">
            <a:off x="4015857" y="3241231"/>
            <a:ext cx="309238" cy="33026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79"/>
          <p:cNvCxnSpPr/>
          <p:nvPr/>
        </p:nvCxnSpPr>
        <p:spPr bwMode="gray">
          <a:xfrm flipH="1">
            <a:off x="4319207" y="3243454"/>
            <a:ext cx="118552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9"/>
          <p:cNvCxnSpPr/>
          <p:nvPr/>
        </p:nvCxnSpPr>
        <p:spPr bwMode="gray">
          <a:xfrm flipH="1">
            <a:off x="3190272" y="3178758"/>
            <a:ext cx="309238" cy="33026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79"/>
          <p:cNvCxnSpPr/>
          <p:nvPr/>
        </p:nvCxnSpPr>
        <p:spPr bwMode="gray">
          <a:xfrm flipH="1" flipV="1">
            <a:off x="3578484" y="3123535"/>
            <a:ext cx="343673" cy="3631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79"/>
          <p:cNvCxnSpPr/>
          <p:nvPr/>
        </p:nvCxnSpPr>
        <p:spPr bwMode="gray">
          <a:xfrm flipH="1" flipV="1">
            <a:off x="2823045" y="3180981"/>
            <a:ext cx="343673" cy="3631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76"/>
          <p:cNvCxnSpPr/>
          <p:nvPr/>
        </p:nvCxnSpPr>
        <p:spPr bwMode="gray">
          <a:xfrm>
            <a:off x="773667" y="2946308"/>
            <a:ext cx="4611636" cy="0"/>
          </a:xfrm>
          <a:prstGeom prst="line">
            <a:avLst/>
          </a:prstGeom>
          <a:ln w="19050">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77"/>
          <p:cNvCxnSpPr/>
          <p:nvPr/>
        </p:nvCxnSpPr>
        <p:spPr bwMode="gray">
          <a:xfrm>
            <a:off x="773667" y="2051195"/>
            <a:ext cx="4611636" cy="0"/>
          </a:xfrm>
          <a:prstGeom prst="line">
            <a:avLst/>
          </a:prstGeom>
          <a:ln w="19050">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78"/>
          <p:cNvCxnSpPr/>
          <p:nvPr/>
        </p:nvCxnSpPr>
        <p:spPr bwMode="gray">
          <a:xfrm>
            <a:off x="773667" y="4109144"/>
            <a:ext cx="4611636" cy="0"/>
          </a:xfrm>
          <a:prstGeom prst="line">
            <a:avLst/>
          </a:prstGeom>
          <a:ln w="19050">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80"/>
          <p:cNvCxnSpPr/>
          <p:nvPr/>
        </p:nvCxnSpPr>
        <p:spPr bwMode="gray">
          <a:xfrm>
            <a:off x="773667" y="4798161"/>
            <a:ext cx="4611636" cy="0"/>
          </a:xfrm>
          <a:prstGeom prst="line">
            <a:avLst/>
          </a:prstGeom>
          <a:ln w="19050">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15" name="图片 105" descr="AP.png"/>
          <p:cNvPicPr>
            <a:picLocks noChangeAspect="1"/>
          </p:cNvPicPr>
          <p:nvPr/>
        </p:nvPicPr>
        <p:blipFill>
          <a:blip r:embed="rId3" cstate="print"/>
          <a:stretch>
            <a:fillRect/>
          </a:stretch>
        </p:blipFill>
        <p:spPr bwMode="gray">
          <a:xfrm>
            <a:off x="4829222" y="5698233"/>
            <a:ext cx="335297" cy="274335"/>
          </a:xfrm>
          <a:prstGeom prst="rect">
            <a:avLst/>
          </a:prstGeom>
        </p:spPr>
      </p:pic>
      <p:cxnSp>
        <p:nvCxnSpPr>
          <p:cNvPr id="16" name="Straight Connector 74"/>
          <p:cNvCxnSpPr>
            <a:stCxn id="15" idx="0"/>
            <a:endCxn id="43" idx="2"/>
          </p:cNvCxnSpPr>
          <p:nvPr/>
        </p:nvCxnSpPr>
        <p:spPr bwMode="gray">
          <a:xfrm flipV="1">
            <a:off x="4996871" y="5466136"/>
            <a:ext cx="927" cy="2320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7" name="图片 105" descr="AP.png"/>
          <p:cNvPicPr>
            <a:picLocks noChangeAspect="1"/>
          </p:cNvPicPr>
          <p:nvPr/>
        </p:nvPicPr>
        <p:blipFill>
          <a:blip r:embed="rId3" cstate="print"/>
          <a:stretch>
            <a:fillRect/>
          </a:stretch>
        </p:blipFill>
        <p:spPr bwMode="gray">
          <a:xfrm>
            <a:off x="2814656" y="5698233"/>
            <a:ext cx="335297" cy="274335"/>
          </a:xfrm>
          <a:prstGeom prst="rect">
            <a:avLst/>
          </a:prstGeom>
        </p:spPr>
      </p:pic>
      <p:pic>
        <p:nvPicPr>
          <p:cNvPr id="18" name="图片 86" descr="核心交换机.png"/>
          <p:cNvPicPr>
            <a:picLocks noChangeAspect="1"/>
          </p:cNvPicPr>
          <p:nvPr/>
        </p:nvPicPr>
        <p:blipFill>
          <a:blip r:embed="rId4" cstate="print"/>
          <a:stretch>
            <a:fillRect/>
          </a:stretch>
        </p:blipFill>
        <p:spPr bwMode="gray">
          <a:xfrm>
            <a:off x="3001174" y="3406980"/>
            <a:ext cx="335297" cy="274335"/>
          </a:xfrm>
          <a:prstGeom prst="rect">
            <a:avLst/>
          </a:prstGeom>
        </p:spPr>
      </p:pic>
      <p:pic>
        <p:nvPicPr>
          <p:cNvPr id="19" name="图片 86" descr="核心交换机.png"/>
          <p:cNvPicPr>
            <a:picLocks noChangeAspect="1"/>
          </p:cNvPicPr>
          <p:nvPr/>
        </p:nvPicPr>
        <p:blipFill>
          <a:blip r:embed="rId4" cstate="print"/>
          <a:stretch>
            <a:fillRect/>
          </a:stretch>
        </p:blipFill>
        <p:spPr bwMode="gray">
          <a:xfrm>
            <a:off x="3822896" y="3406980"/>
            <a:ext cx="335297" cy="274335"/>
          </a:xfrm>
          <a:prstGeom prst="rect">
            <a:avLst/>
          </a:prstGeom>
        </p:spPr>
      </p:pic>
      <p:cxnSp>
        <p:nvCxnSpPr>
          <p:cNvPr id="20" name="Straight Connector 13"/>
          <p:cNvCxnSpPr>
            <a:stCxn id="18" idx="3"/>
            <a:endCxn id="19" idx="1"/>
          </p:cNvCxnSpPr>
          <p:nvPr/>
        </p:nvCxnSpPr>
        <p:spPr bwMode="gray">
          <a:xfrm>
            <a:off x="3336471" y="3544148"/>
            <a:ext cx="486425"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pic>
        <p:nvPicPr>
          <p:cNvPr id="21" name="图片 87" descr="汇聚交换机.png"/>
          <p:cNvPicPr>
            <a:picLocks noChangeAspect="1"/>
          </p:cNvPicPr>
          <p:nvPr/>
        </p:nvPicPr>
        <p:blipFill>
          <a:blip r:embed="rId5" cstate="print"/>
          <a:stretch>
            <a:fillRect/>
          </a:stretch>
        </p:blipFill>
        <p:spPr bwMode="gray">
          <a:xfrm>
            <a:off x="1995894" y="4309741"/>
            <a:ext cx="335297" cy="274335"/>
          </a:xfrm>
          <a:prstGeom prst="rect">
            <a:avLst/>
          </a:prstGeom>
        </p:spPr>
      </p:pic>
      <p:pic>
        <p:nvPicPr>
          <p:cNvPr id="22" name="图片 87" descr="汇聚交换机.png"/>
          <p:cNvPicPr>
            <a:picLocks noChangeAspect="1"/>
          </p:cNvPicPr>
          <p:nvPr/>
        </p:nvPicPr>
        <p:blipFill>
          <a:blip r:embed="rId5" cstate="print"/>
          <a:stretch>
            <a:fillRect/>
          </a:stretch>
        </p:blipFill>
        <p:spPr bwMode="gray">
          <a:xfrm>
            <a:off x="2815643" y="4309741"/>
            <a:ext cx="335297" cy="274335"/>
          </a:xfrm>
          <a:prstGeom prst="rect">
            <a:avLst/>
          </a:prstGeom>
        </p:spPr>
      </p:pic>
      <p:cxnSp>
        <p:nvCxnSpPr>
          <p:cNvPr id="23" name="Straight Connector 16"/>
          <p:cNvCxnSpPr>
            <a:stCxn id="21" idx="3"/>
            <a:endCxn id="22" idx="1"/>
          </p:cNvCxnSpPr>
          <p:nvPr/>
        </p:nvCxnSpPr>
        <p:spPr bwMode="gray">
          <a:xfrm>
            <a:off x="2331191" y="4446909"/>
            <a:ext cx="484452"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pic>
        <p:nvPicPr>
          <p:cNvPr id="24" name="图片 87" descr="汇聚交换机.png"/>
          <p:cNvPicPr>
            <a:picLocks noChangeAspect="1"/>
          </p:cNvPicPr>
          <p:nvPr/>
        </p:nvPicPr>
        <p:blipFill>
          <a:blip r:embed="rId5" cstate="print"/>
          <a:stretch>
            <a:fillRect/>
          </a:stretch>
        </p:blipFill>
        <p:spPr bwMode="gray">
          <a:xfrm>
            <a:off x="4009413" y="4309741"/>
            <a:ext cx="335297" cy="274335"/>
          </a:xfrm>
          <a:prstGeom prst="rect">
            <a:avLst/>
          </a:prstGeom>
        </p:spPr>
      </p:pic>
      <p:pic>
        <p:nvPicPr>
          <p:cNvPr id="25" name="图片 87" descr="汇聚交换机.png"/>
          <p:cNvPicPr>
            <a:picLocks noChangeAspect="1"/>
          </p:cNvPicPr>
          <p:nvPr/>
        </p:nvPicPr>
        <p:blipFill>
          <a:blip r:embed="rId5" cstate="print"/>
          <a:stretch>
            <a:fillRect/>
          </a:stretch>
        </p:blipFill>
        <p:spPr bwMode="gray">
          <a:xfrm>
            <a:off x="4830149" y="4309741"/>
            <a:ext cx="335297" cy="274335"/>
          </a:xfrm>
          <a:prstGeom prst="rect">
            <a:avLst/>
          </a:prstGeom>
        </p:spPr>
      </p:pic>
      <p:cxnSp>
        <p:nvCxnSpPr>
          <p:cNvPr id="26" name="Straight Connector 29"/>
          <p:cNvCxnSpPr>
            <a:stCxn id="24" idx="3"/>
            <a:endCxn id="25" idx="1"/>
          </p:cNvCxnSpPr>
          <p:nvPr/>
        </p:nvCxnSpPr>
        <p:spPr bwMode="gray">
          <a:xfrm>
            <a:off x="4344710" y="4446909"/>
            <a:ext cx="485439"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7" name="Straight Connector 30"/>
          <p:cNvCxnSpPr>
            <a:stCxn id="21" idx="0"/>
            <a:endCxn id="18" idx="2"/>
          </p:cNvCxnSpPr>
          <p:nvPr/>
        </p:nvCxnSpPr>
        <p:spPr bwMode="gray">
          <a:xfrm flipV="1">
            <a:off x="2163543" y="3681315"/>
            <a:ext cx="1005280" cy="62842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33"/>
          <p:cNvCxnSpPr>
            <a:stCxn id="22" idx="0"/>
            <a:endCxn id="19" idx="2"/>
          </p:cNvCxnSpPr>
          <p:nvPr/>
        </p:nvCxnSpPr>
        <p:spPr bwMode="gray">
          <a:xfrm flipV="1">
            <a:off x="2983292" y="3681315"/>
            <a:ext cx="1007253" cy="62842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36"/>
          <p:cNvCxnSpPr>
            <a:stCxn id="24" idx="0"/>
            <a:endCxn id="18" idx="2"/>
          </p:cNvCxnSpPr>
          <p:nvPr/>
        </p:nvCxnSpPr>
        <p:spPr bwMode="gray">
          <a:xfrm flipH="1" flipV="1">
            <a:off x="3168823" y="3681315"/>
            <a:ext cx="1008239" cy="62842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39"/>
          <p:cNvCxnSpPr>
            <a:stCxn id="25" idx="0"/>
            <a:endCxn id="19" idx="2"/>
          </p:cNvCxnSpPr>
          <p:nvPr/>
        </p:nvCxnSpPr>
        <p:spPr bwMode="gray">
          <a:xfrm flipH="1" flipV="1">
            <a:off x="3990545" y="3681315"/>
            <a:ext cx="1007253" cy="62842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Oval 42"/>
          <p:cNvSpPr/>
          <p:nvPr/>
        </p:nvSpPr>
        <p:spPr bwMode="gray">
          <a:xfrm rot="3077028">
            <a:off x="2776851" y="3960054"/>
            <a:ext cx="580554" cy="91395"/>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2" name="图片 106" descr="堆叠交换机蓝.png"/>
          <p:cNvPicPr>
            <a:picLocks noChangeAspect="1"/>
          </p:cNvPicPr>
          <p:nvPr/>
        </p:nvPicPr>
        <p:blipFill>
          <a:blip r:embed="rId6" cstate="print"/>
          <a:stretch>
            <a:fillRect/>
          </a:stretch>
        </p:blipFill>
        <p:spPr bwMode="gray">
          <a:xfrm>
            <a:off x="1994997" y="5190334"/>
            <a:ext cx="337091" cy="275802"/>
          </a:xfrm>
          <a:prstGeom prst="rect">
            <a:avLst/>
          </a:prstGeom>
        </p:spPr>
      </p:pic>
      <p:pic>
        <p:nvPicPr>
          <p:cNvPr id="33" name="图片 106" descr="堆叠交换机蓝.png"/>
          <p:cNvPicPr>
            <a:picLocks noChangeAspect="1"/>
          </p:cNvPicPr>
          <p:nvPr/>
        </p:nvPicPr>
        <p:blipFill>
          <a:blip r:embed="rId6" cstate="print"/>
          <a:stretch>
            <a:fillRect/>
          </a:stretch>
        </p:blipFill>
        <p:spPr bwMode="gray">
          <a:xfrm>
            <a:off x="2814746" y="5190334"/>
            <a:ext cx="337091" cy="275802"/>
          </a:xfrm>
          <a:prstGeom prst="rect">
            <a:avLst/>
          </a:prstGeom>
        </p:spPr>
      </p:pic>
      <p:cxnSp>
        <p:nvCxnSpPr>
          <p:cNvPr id="34" name="Straight Connector 34"/>
          <p:cNvCxnSpPr>
            <a:stCxn id="32" idx="0"/>
            <a:endCxn id="21" idx="2"/>
          </p:cNvCxnSpPr>
          <p:nvPr/>
        </p:nvCxnSpPr>
        <p:spPr bwMode="gray">
          <a:xfrm flipV="1">
            <a:off x="2163543" y="4584076"/>
            <a:ext cx="0" cy="6062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5"/>
          <p:cNvCxnSpPr>
            <a:stCxn id="32" idx="0"/>
            <a:endCxn id="22" idx="2"/>
          </p:cNvCxnSpPr>
          <p:nvPr/>
        </p:nvCxnSpPr>
        <p:spPr bwMode="gray">
          <a:xfrm flipV="1">
            <a:off x="2163543" y="4584076"/>
            <a:ext cx="819749" cy="6062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7"/>
          <p:cNvCxnSpPr>
            <a:stCxn id="33" idx="0"/>
            <a:endCxn id="21" idx="2"/>
          </p:cNvCxnSpPr>
          <p:nvPr/>
        </p:nvCxnSpPr>
        <p:spPr bwMode="gray">
          <a:xfrm flipH="1" flipV="1">
            <a:off x="2163543" y="4584076"/>
            <a:ext cx="819749" cy="6062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8"/>
          <p:cNvCxnSpPr>
            <a:stCxn id="33" idx="0"/>
            <a:endCxn id="22" idx="2"/>
          </p:cNvCxnSpPr>
          <p:nvPr/>
        </p:nvCxnSpPr>
        <p:spPr bwMode="gray">
          <a:xfrm flipV="1">
            <a:off x="2983292" y="4584076"/>
            <a:ext cx="0" cy="6062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8" name="Group 40"/>
          <p:cNvGrpSpPr/>
          <p:nvPr/>
        </p:nvGrpSpPr>
        <p:grpSpPr bwMode="gray">
          <a:xfrm>
            <a:off x="2442434" y="5296437"/>
            <a:ext cx="261965" cy="61979"/>
            <a:chOff x="559282" y="6488261"/>
            <a:chExt cx="261965" cy="61979"/>
          </a:xfrm>
          <a:solidFill>
            <a:schemeClr val="bg1">
              <a:lumMod val="50000"/>
            </a:schemeClr>
          </a:solidFill>
        </p:grpSpPr>
        <p:sp>
          <p:nvSpPr>
            <p:cNvPr id="39" name="Oval 4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Oval 4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Oval 4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42" name="图片 106" descr="堆叠交换机蓝.png"/>
          <p:cNvPicPr>
            <a:picLocks noChangeAspect="1"/>
          </p:cNvPicPr>
          <p:nvPr/>
        </p:nvPicPr>
        <p:blipFill>
          <a:blip r:embed="rId6" cstate="print"/>
          <a:stretch>
            <a:fillRect/>
          </a:stretch>
        </p:blipFill>
        <p:spPr bwMode="gray">
          <a:xfrm>
            <a:off x="4008516" y="5190334"/>
            <a:ext cx="337091" cy="275802"/>
          </a:xfrm>
          <a:prstGeom prst="rect">
            <a:avLst/>
          </a:prstGeom>
        </p:spPr>
      </p:pic>
      <p:pic>
        <p:nvPicPr>
          <p:cNvPr id="43" name="图片 106" descr="堆叠交换机蓝.png"/>
          <p:cNvPicPr>
            <a:picLocks noChangeAspect="1"/>
          </p:cNvPicPr>
          <p:nvPr/>
        </p:nvPicPr>
        <p:blipFill>
          <a:blip r:embed="rId6" cstate="print"/>
          <a:stretch>
            <a:fillRect/>
          </a:stretch>
        </p:blipFill>
        <p:spPr bwMode="gray">
          <a:xfrm>
            <a:off x="4829252" y="5190334"/>
            <a:ext cx="337091" cy="275802"/>
          </a:xfrm>
          <a:prstGeom prst="rect">
            <a:avLst/>
          </a:prstGeom>
        </p:spPr>
      </p:pic>
      <p:grpSp>
        <p:nvGrpSpPr>
          <p:cNvPr id="44" name="Group 54"/>
          <p:cNvGrpSpPr/>
          <p:nvPr/>
        </p:nvGrpSpPr>
        <p:grpSpPr bwMode="gray">
          <a:xfrm>
            <a:off x="4456940" y="5296437"/>
            <a:ext cx="261965" cy="61979"/>
            <a:chOff x="559282" y="6488261"/>
            <a:chExt cx="261965" cy="61979"/>
          </a:xfrm>
          <a:solidFill>
            <a:schemeClr val="bg1">
              <a:lumMod val="50000"/>
            </a:schemeClr>
          </a:solidFill>
        </p:grpSpPr>
        <p:sp>
          <p:nvSpPr>
            <p:cNvPr id="45" name="Oval 55"/>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Oval 56"/>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Oval 57"/>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48" name="Straight Connector 58"/>
          <p:cNvCxnSpPr>
            <a:stCxn id="42" idx="0"/>
            <a:endCxn id="24" idx="2"/>
          </p:cNvCxnSpPr>
          <p:nvPr/>
        </p:nvCxnSpPr>
        <p:spPr bwMode="gray">
          <a:xfrm flipV="1">
            <a:off x="4177062" y="4584076"/>
            <a:ext cx="0" cy="6062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61"/>
          <p:cNvCxnSpPr>
            <a:stCxn id="43" idx="0"/>
            <a:endCxn id="25" idx="2"/>
          </p:cNvCxnSpPr>
          <p:nvPr/>
        </p:nvCxnSpPr>
        <p:spPr bwMode="gray">
          <a:xfrm flipV="1">
            <a:off x="4997798" y="4584076"/>
            <a:ext cx="0" cy="6062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64"/>
          <p:cNvCxnSpPr>
            <a:stCxn id="42" idx="0"/>
            <a:endCxn id="25" idx="2"/>
          </p:cNvCxnSpPr>
          <p:nvPr/>
        </p:nvCxnSpPr>
        <p:spPr bwMode="gray">
          <a:xfrm flipV="1">
            <a:off x="4177062" y="4584076"/>
            <a:ext cx="820736" cy="6062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67"/>
          <p:cNvCxnSpPr>
            <a:stCxn id="43" idx="0"/>
            <a:endCxn id="24" idx="2"/>
          </p:cNvCxnSpPr>
          <p:nvPr/>
        </p:nvCxnSpPr>
        <p:spPr bwMode="gray">
          <a:xfrm flipH="1" flipV="1">
            <a:off x="4177062" y="4584076"/>
            <a:ext cx="820736" cy="6062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70"/>
          <p:cNvCxnSpPr>
            <a:stCxn id="17" idx="0"/>
            <a:endCxn id="33" idx="2"/>
          </p:cNvCxnSpPr>
          <p:nvPr/>
        </p:nvCxnSpPr>
        <p:spPr bwMode="gray">
          <a:xfrm flipV="1">
            <a:off x="2982305" y="5466136"/>
            <a:ext cx="987" cy="2320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53" name="Picture 2" descr="G:\做的项目\公共\扁平图标切换\更新2015_01_21\oss扁平图标库2015_01_21更新-04.png"/>
          <p:cNvPicPr>
            <a:picLocks noChangeAspect="1" noChangeArrowheads="1"/>
          </p:cNvPicPr>
          <p:nvPr/>
        </p:nvPicPr>
        <p:blipFill>
          <a:blip r:embed="rId7" cstate="print"/>
          <a:stretch>
            <a:fillRect/>
          </a:stretch>
        </p:blipFill>
        <p:spPr bwMode="gray">
          <a:xfrm>
            <a:off x="2998173" y="2131743"/>
            <a:ext cx="337091" cy="275801"/>
          </a:xfrm>
          <a:prstGeom prst="rect">
            <a:avLst/>
          </a:prstGeom>
          <a:noFill/>
        </p:spPr>
      </p:pic>
      <p:pic>
        <p:nvPicPr>
          <p:cNvPr id="54" name="Picture 2" descr="G:\做的项目\公共\扁平图标切换\更新2015_01_21\oss扁平图标库2015_01_21更新-04.png"/>
          <p:cNvPicPr>
            <a:picLocks noChangeAspect="1" noChangeArrowheads="1"/>
          </p:cNvPicPr>
          <p:nvPr/>
        </p:nvPicPr>
        <p:blipFill>
          <a:blip r:embed="rId7" cstate="print"/>
          <a:stretch>
            <a:fillRect/>
          </a:stretch>
        </p:blipFill>
        <p:spPr bwMode="gray">
          <a:xfrm>
            <a:off x="3821999" y="2131743"/>
            <a:ext cx="337091" cy="275801"/>
          </a:xfrm>
          <a:prstGeom prst="rect">
            <a:avLst/>
          </a:prstGeom>
          <a:noFill/>
        </p:spPr>
      </p:pic>
      <p:cxnSp>
        <p:nvCxnSpPr>
          <p:cNvPr id="55" name="Straight Connector 98"/>
          <p:cNvCxnSpPr>
            <a:stCxn id="54" idx="2"/>
            <a:endCxn id="19" idx="0"/>
          </p:cNvCxnSpPr>
          <p:nvPr/>
        </p:nvCxnSpPr>
        <p:spPr bwMode="gray">
          <a:xfrm>
            <a:off x="3990545" y="2407544"/>
            <a:ext cx="0" cy="99943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101"/>
          <p:cNvCxnSpPr>
            <a:stCxn id="53" idx="2"/>
            <a:endCxn id="18" idx="0"/>
          </p:cNvCxnSpPr>
          <p:nvPr/>
        </p:nvCxnSpPr>
        <p:spPr bwMode="gray">
          <a:xfrm>
            <a:off x="3166719" y="2407544"/>
            <a:ext cx="2104" cy="99943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104"/>
          <p:cNvCxnSpPr>
            <a:stCxn id="53" idx="3"/>
            <a:endCxn id="54" idx="1"/>
          </p:cNvCxnSpPr>
          <p:nvPr/>
        </p:nvCxnSpPr>
        <p:spPr bwMode="gray">
          <a:xfrm>
            <a:off x="3335264" y="2269644"/>
            <a:ext cx="48673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Oval 59"/>
          <p:cNvSpPr/>
          <p:nvPr/>
        </p:nvSpPr>
        <p:spPr bwMode="gray">
          <a:xfrm rot="1782887">
            <a:off x="2086359" y="4985793"/>
            <a:ext cx="311619" cy="90813"/>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Oval 62"/>
          <p:cNvSpPr/>
          <p:nvPr/>
        </p:nvSpPr>
        <p:spPr bwMode="gray">
          <a:xfrm rot="19401600">
            <a:off x="2744260" y="4998544"/>
            <a:ext cx="311619" cy="90813"/>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Oval 63"/>
          <p:cNvSpPr/>
          <p:nvPr/>
        </p:nvSpPr>
        <p:spPr bwMode="gray">
          <a:xfrm rot="1782887">
            <a:off x="4087773" y="5017672"/>
            <a:ext cx="311619" cy="90813"/>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Oval 65"/>
          <p:cNvSpPr/>
          <p:nvPr/>
        </p:nvSpPr>
        <p:spPr bwMode="gray">
          <a:xfrm rot="19401600">
            <a:off x="4782597" y="4992860"/>
            <a:ext cx="311619" cy="90813"/>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TextBox 85"/>
          <p:cNvSpPr txBox="1"/>
          <p:nvPr/>
        </p:nvSpPr>
        <p:spPr bwMode="gray">
          <a:xfrm>
            <a:off x="685938" y="2652988"/>
            <a:ext cx="646331" cy="276999"/>
          </a:xfrm>
          <a:prstGeom prst="rect">
            <a:avLst/>
          </a:prstGeom>
          <a:noFill/>
        </p:spPr>
        <p:txBody>
          <a:bodyPr wrap="none" rtlCol="0">
            <a:spAutoFit/>
          </a:bodyPr>
          <a:lstStyle/>
          <a:p>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出口区</a:t>
            </a:r>
          </a:p>
        </p:txBody>
      </p:sp>
      <p:sp>
        <p:nvSpPr>
          <p:cNvPr id="63" name="TextBox 86"/>
          <p:cNvSpPr txBox="1"/>
          <p:nvPr/>
        </p:nvSpPr>
        <p:spPr bwMode="gray">
          <a:xfrm>
            <a:off x="685938" y="3852942"/>
            <a:ext cx="646331"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核心层</a:t>
            </a:r>
          </a:p>
        </p:txBody>
      </p:sp>
      <p:sp>
        <p:nvSpPr>
          <p:cNvPr id="64" name="TextBox 88"/>
          <p:cNvSpPr txBox="1"/>
          <p:nvPr/>
        </p:nvSpPr>
        <p:spPr bwMode="gray">
          <a:xfrm>
            <a:off x="685938" y="4492598"/>
            <a:ext cx="646331" cy="276999"/>
          </a:xfrm>
          <a:prstGeom prst="rect">
            <a:avLst/>
          </a:prstGeom>
          <a:noFill/>
        </p:spPr>
        <p:txBody>
          <a:bodyPr wrap="none" rtlCol="0">
            <a:spAutoFit/>
          </a:bodyPr>
          <a:lstStyle/>
          <a:p>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汇聚层</a:t>
            </a:r>
          </a:p>
        </p:txBody>
      </p:sp>
      <p:sp>
        <p:nvSpPr>
          <p:cNvPr id="65" name="TextBox 89"/>
          <p:cNvSpPr txBox="1"/>
          <p:nvPr/>
        </p:nvSpPr>
        <p:spPr bwMode="gray">
          <a:xfrm>
            <a:off x="685938" y="5148869"/>
            <a:ext cx="646331" cy="276999"/>
          </a:xfrm>
          <a:prstGeom prst="rect">
            <a:avLst/>
          </a:prstGeom>
          <a:noFill/>
        </p:spPr>
        <p:txBody>
          <a:bodyPr wrap="none" rtlCol="0">
            <a:spAutoFit/>
          </a:bodyPr>
          <a:lstStyle/>
          <a:p>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接入层</a:t>
            </a:r>
          </a:p>
        </p:txBody>
      </p:sp>
      <p:sp>
        <p:nvSpPr>
          <p:cNvPr id="66" name="Oval 92"/>
          <p:cNvSpPr/>
          <p:nvPr/>
        </p:nvSpPr>
        <p:spPr bwMode="gray">
          <a:xfrm rot="18651691">
            <a:off x="3821159" y="3977542"/>
            <a:ext cx="580554" cy="91395"/>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7" name="图片 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2987704" y="2555095"/>
            <a:ext cx="337091" cy="275801"/>
          </a:xfrm>
          <a:prstGeom prst="rect">
            <a:avLst/>
          </a:prstGeom>
        </p:spPr>
      </p:pic>
      <p:pic>
        <p:nvPicPr>
          <p:cNvPr id="68" name="图片 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3821999" y="2555095"/>
            <a:ext cx="337091" cy="275801"/>
          </a:xfrm>
          <a:prstGeom prst="rect">
            <a:avLst/>
          </a:prstGeom>
        </p:spPr>
      </p:pic>
      <p:cxnSp>
        <p:nvCxnSpPr>
          <p:cNvPr id="69" name="Straight Connector 127"/>
          <p:cNvCxnSpPr>
            <a:stCxn id="67" idx="3"/>
            <a:endCxn id="68" idx="1"/>
          </p:cNvCxnSpPr>
          <p:nvPr/>
        </p:nvCxnSpPr>
        <p:spPr bwMode="gray">
          <a:xfrm>
            <a:off x="3324795" y="2692996"/>
            <a:ext cx="497204"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0" name="Straight Connector 79"/>
          <p:cNvCxnSpPr/>
          <p:nvPr/>
        </p:nvCxnSpPr>
        <p:spPr bwMode="gray">
          <a:xfrm flipH="1">
            <a:off x="2399147" y="3121610"/>
            <a:ext cx="119014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9"/>
          <p:cNvCxnSpPr/>
          <p:nvPr/>
        </p:nvCxnSpPr>
        <p:spPr bwMode="gray">
          <a:xfrm flipH="1">
            <a:off x="2399147" y="3180981"/>
            <a:ext cx="43051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Freeform 159"/>
          <p:cNvSpPr/>
          <p:nvPr/>
        </p:nvSpPr>
        <p:spPr bwMode="gray">
          <a:xfrm flipH="1">
            <a:off x="1625963" y="2784980"/>
            <a:ext cx="1027329" cy="56384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lumMod val="95000"/>
            </a:schemeClr>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80000" rtlCol="0" anchor="ctr">
            <a:noAutofit/>
          </a:bodyPr>
          <a:lstStyle/>
          <a:p>
            <a:pPr algn="ct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数据中心</a:t>
            </a:r>
            <a:endParaRPr 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3" name="Straight Connector 79"/>
          <p:cNvCxnSpPr/>
          <p:nvPr/>
        </p:nvCxnSpPr>
        <p:spPr bwMode="gray">
          <a:xfrm flipH="1">
            <a:off x="3493623" y="3180981"/>
            <a:ext cx="150324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TextBox 86"/>
          <p:cNvSpPr txBox="1"/>
          <p:nvPr/>
        </p:nvSpPr>
        <p:spPr bwMode="gray">
          <a:xfrm>
            <a:off x="2276414" y="3489764"/>
            <a:ext cx="688009" cy="276999"/>
          </a:xfrm>
          <a:prstGeom prst="rect">
            <a:avLst/>
          </a:prstGeom>
          <a:noFill/>
        </p:spPr>
        <p:txBody>
          <a:bodyPr wrap="none" rtlCol="0">
            <a:spAutoFit/>
          </a:bodyPr>
          <a:lstStyle/>
          <a:p>
            <a:r>
              <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随板</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AC</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TextBox 86"/>
          <p:cNvSpPr txBox="1"/>
          <p:nvPr/>
        </p:nvSpPr>
        <p:spPr bwMode="gray">
          <a:xfrm>
            <a:off x="4173837" y="3489764"/>
            <a:ext cx="688009" cy="276999"/>
          </a:xfrm>
          <a:prstGeom prst="rect">
            <a:avLst/>
          </a:prstGeom>
          <a:noFill/>
        </p:spPr>
        <p:txBody>
          <a:bodyPr wrap="none" rtlCol="0">
            <a:spAutoFit/>
          </a:bodyPr>
          <a:lstStyle/>
          <a:p>
            <a:r>
              <a:rPr lang="zh-CN" altLang="en-US" sz="1200" b="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随板</a:t>
            </a:r>
            <a:r>
              <a:rPr lang="en-US" altLang="zh-CN" sz="1200" b="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AC</a:t>
            </a:r>
            <a:endParaRPr lang="zh-CN" altLang="en-US" sz="1200" b="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圆角矩形 75"/>
          <p:cNvSpPr/>
          <p:nvPr/>
        </p:nvSpPr>
        <p:spPr bwMode="gray">
          <a:xfrm>
            <a:off x="4923555" y="2740212"/>
            <a:ext cx="1738375" cy="1010467"/>
          </a:xfrm>
          <a:prstGeom prst="roundRect">
            <a:avLst>
              <a:gd name="adj" fmla="val 2563"/>
            </a:avLst>
          </a:prstGeom>
          <a:solidFill>
            <a:schemeClr val="bg1">
              <a:lumMod val="9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TextBox 20"/>
          <p:cNvSpPr txBox="1"/>
          <p:nvPr/>
        </p:nvSpPr>
        <p:spPr bwMode="gray">
          <a:xfrm>
            <a:off x="5738567" y="3448381"/>
            <a:ext cx="954107"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网管运维区</a:t>
            </a:r>
          </a:p>
        </p:txBody>
      </p:sp>
      <p:pic>
        <p:nvPicPr>
          <p:cNvPr id="78" name="图片 77"/>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bwMode="gray">
          <a:xfrm>
            <a:off x="5062429" y="3009430"/>
            <a:ext cx="1346845" cy="248394"/>
          </a:xfrm>
          <a:prstGeom prst="rect">
            <a:avLst/>
          </a:prstGeom>
        </p:spPr>
      </p:pic>
      <p:cxnSp>
        <p:nvCxnSpPr>
          <p:cNvPr id="79" name="Straight Connector 19"/>
          <p:cNvCxnSpPr/>
          <p:nvPr/>
        </p:nvCxnSpPr>
        <p:spPr bwMode="gray">
          <a:xfrm>
            <a:off x="5504728" y="5876945"/>
            <a:ext cx="268482"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80" name="TextBox 20"/>
          <p:cNvSpPr txBox="1"/>
          <p:nvPr/>
        </p:nvSpPr>
        <p:spPr bwMode="gray">
          <a:xfrm>
            <a:off x="5773210" y="5753835"/>
            <a:ext cx="1252266" cy="276999"/>
          </a:xfrm>
          <a:prstGeom prst="rect">
            <a:avLst/>
          </a:prstGeom>
          <a:noFill/>
        </p:spPr>
        <p:txBody>
          <a:bodyPr wrap="none" rtlCol="0">
            <a:spAutoFit/>
          </a:bodyPr>
          <a:lstStyle/>
          <a:p>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iStack</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/CSS Link</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1" name="Group 6"/>
          <p:cNvGrpSpPr/>
          <p:nvPr/>
        </p:nvGrpSpPr>
        <p:grpSpPr bwMode="gray">
          <a:xfrm>
            <a:off x="2777562" y="1618696"/>
            <a:ext cx="740908" cy="409888"/>
            <a:chOff x="8010737" y="4085456"/>
            <a:chExt cx="740908" cy="409888"/>
          </a:xfrm>
        </p:grpSpPr>
        <p:sp>
          <p:nvSpPr>
            <p:cNvPr id="82" name="Freeform 200"/>
            <p:cNvSpPr/>
            <p:nvPr/>
          </p:nvSpPr>
          <p:spPr bwMode="gray">
            <a:xfrm>
              <a:off x="8046065" y="4085456"/>
              <a:ext cx="661726" cy="375146"/>
            </a:xfrm>
            <a:custGeom>
              <a:avLst/>
              <a:gdLst>
                <a:gd name="connsiteX0" fmla="*/ 511396 w 823780"/>
                <a:gd name="connsiteY0" fmla="*/ 0 h 467015"/>
                <a:gd name="connsiteX1" fmla="*/ 732475 w 823780"/>
                <a:gd name="connsiteY1" fmla="*/ 223125 h 467015"/>
                <a:gd name="connsiteX2" fmla="*/ 727487 w 823780"/>
                <a:gd name="connsiteY2" fmla="*/ 248058 h 467015"/>
                <a:gd name="connsiteX3" fmla="*/ 756693 w 823780"/>
                <a:gd name="connsiteY3" fmla="*/ 254009 h 467015"/>
                <a:gd name="connsiteX4" fmla="*/ 823780 w 823780"/>
                <a:gd name="connsiteY4" fmla="*/ 356156 h 467015"/>
                <a:gd name="connsiteX5" fmla="*/ 756693 w 823780"/>
                <a:gd name="connsiteY5" fmla="*/ 458303 h 467015"/>
                <a:gd name="connsiteX6" fmla="*/ 732017 w 823780"/>
                <a:gd name="connsiteY6" fmla="*/ 463331 h 467015"/>
                <a:gd name="connsiteX7" fmla="*/ 732017 w 823780"/>
                <a:gd name="connsiteY7" fmla="*/ 467014 h 467015"/>
                <a:gd name="connsiteX8" fmla="*/ 713942 w 823780"/>
                <a:gd name="connsiteY8" fmla="*/ 467014 h 467015"/>
                <a:gd name="connsiteX9" fmla="*/ 713937 w 823780"/>
                <a:gd name="connsiteY9" fmla="*/ 467015 h 467015"/>
                <a:gd name="connsiteX10" fmla="*/ 713932 w 823780"/>
                <a:gd name="connsiteY10" fmla="*/ 467014 h 467015"/>
                <a:gd name="connsiteX11" fmla="*/ 120827 w 823780"/>
                <a:gd name="connsiteY11" fmla="*/ 467014 h 467015"/>
                <a:gd name="connsiteX12" fmla="*/ 100287 w 823780"/>
                <a:gd name="connsiteY12" fmla="*/ 467014 h 467015"/>
                <a:gd name="connsiteX13" fmla="*/ 100287 w 823780"/>
                <a:gd name="connsiteY13" fmla="*/ 462829 h 467015"/>
                <a:gd name="connsiteX14" fmla="*/ 73795 w 823780"/>
                <a:gd name="connsiteY14" fmla="*/ 457431 h 467015"/>
                <a:gd name="connsiteX15" fmla="*/ 0 w 823780"/>
                <a:gd name="connsiteY15" fmla="*/ 345069 h 467015"/>
                <a:gd name="connsiteX16" fmla="*/ 73795 w 823780"/>
                <a:gd name="connsiteY16" fmla="*/ 232707 h 467015"/>
                <a:gd name="connsiteX17" fmla="*/ 81613 w 823780"/>
                <a:gd name="connsiteY17" fmla="*/ 231114 h 467015"/>
                <a:gd name="connsiteX18" fmla="*/ 94608 w 823780"/>
                <a:gd name="connsiteY18" fmla="*/ 172061 h 467015"/>
                <a:gd name="connsiteX19" fmla="*/ 250025 w 823780"/>
                <a:gd name="connsiteY19" fmla="*/ 77543 h 467015"/>
                <a:gd name="connsiteX20" fmla="*/ 315680 w 823780"/>
                <a:gd name="connsiteY20" fmla="*/ 89704 h 467015"/>
                <a:gd name="connsiteX21" fmla="*/ 332040 w 823780"/>
                <a:gd name="connsiteY21" fmla="*/ 99825 h 467015"/>
                <a:gd name="connsiteX22" fmla="*/ 355070 w 823780"/>
                <a:gd name="connsiteY22" fmla="*/ 65352 h 467015"/>
                <a:gd name="connsiteX23" fmla="*/ 511396 w 823780"/>
                <a:gd name="connsiteY23" fmla="*/ 0 h 467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3780" h="467015">
                  <a:moveTo>
                    <a:pt x="511396" y="0"/>
                  </a:moveTo>
                  <a:cubicBezTo>
                    <a:pt x="633495" y="0"/>
                    <a:pt x="732475" y="99896"/>
                    <a:pt x="732475" y="223125"/>
                  </a:cubicBezTo>
                  <a:lnTo>
                    <a:pt x="727487" y="248058"/>
                  </a:lnTo>
                  <a:lnTo>
                    <a:pt x="756693" y="254009"/>
                  </a:lnTo>
                  <a:cubicBezTo>
                    <a:pt x="796117" y="270838"/>
                    <a:pt x="823780" y="310236"/>
                    <a:pt x="823780" y="356156"/>
                  </a:cubicBezTo>
                  <a:cubicBezTo>
                    <a:pt x="823780" y="402076"/>
                    <a:pt x="796117" y="441474"/>
                    <a:pt x="756693" y="458303"/>
                  </a:cubicBezTo>
                  <a:lnTo>
                    <a:pt x="732017" y="463331"/>
                  </a:lnTo>
                  <a:lnTo>
                    <a:pt x="732017" y="467014"/>
                  </a:lnTo>
                  <a:lnTo>
                    <a:pt x="713942" y="467014"/>
                  </a:lnTo>
                  <a:lnTo>
                    <a:pt x="713937" y="467015"/>
                  </a:lnTo>
                  <a:lnTo>
                    <a:pt x="713932" y="467014"/>
                  </a:lnTo>
                  <a:lnTo>
                    <a:pt x="120827" y="467014"/>
                  </a:lnTo>
                  <a:lnTo>
                    <a:pt x="100287" y="467014"/>
                  </a:lnTo>
                  <a:lnTo>
                    <a:pt x="100287" y="462829"/>
                  </a:lnTo>
                  <a:lnTo>
                    <a:pt x="73795" y="457431"/>
                  </a:lnTo>
                  <a:cubicBezTo>
                    <a:pt x="30429" y="438919"/>
                    <a:pt x="0" y="395580"/>
                    <a:pt x="0" y="345069"/>
                  </a:cubicBezTo>
                  <a:cubicBezTo>
                    <a:pt x="0" y="294558"/>
                    <a:pt x="30429" y="251219"/>
                    <a:pt x="73795" y="232707"/>
                  </a:cubicBezTo>
                  <a:lnTo>
                    <a:pt x="81613" y="231114"/>
                  </a:lnTo>
                  <a:lnTo>
                    <a:pt x="94608" y="172061"/>
                  </a:lnTo>
                  <a:cubicBezTo>
                    <a:pt x="120214" y="116517"/>
                    <a:pt x="180159" y="77543"/>
                    <a:pt x="250025" y="77543"/>
                  </a:cubicBezTo>
                  <a:cubicBezTo>
                    <a:pt x="273314" y="77543"/>
                    <a:pt x="295500" y="81873"/>
                    <a:pt x="315680" y="89704"/>
                  </a:cubicBezTo>
                  <a:lnTo>
                    <a:pt x="332040" y="99825"/>
                  </a:lnTo>
                  <a:lnTo>
                    <a:pt x="355070" y="65352"/>
                  </a:lnTo>
                  <a:cubicBezTo>
                    <a:pt x="395077" y="24974"/>
                    <a:pt x="450347" y="0"/>
                    <a:pt x="511396" y="0"/>
                  </a:cubicBezTo>
                  <a:close/>
                </a:path>
              </a:pathLst>
            </a:cu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TextBox 2"/>
            <p:cNvSpPr txBox="1"/>
            <p:nvPr/>
          </p:nvSpPr>
          <p:spPr bwMode="gray">
            <a:xfrm>
              <a:off x="8010737" y="4218345"/>
              <a:ext cx="740908" cy="276999"/>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84" name="Group 6"/>
          <p:cNvGrpSpPr/>
          <p:nvPr/>
        </p:nvGrpSpPr>
        <p:grpSpPr bwMode="gray">
          <a:xfrm>
            <a:off x="3644362" y="1618696"/>
            <a:ext cx="661726" cy="409888"/>
            <a:chOff x="8046065" y="4085456"/>
            <a:chExt cx="661726" cy="409888"/>
          </a:xfrm>
        </p:grpSpPr>
        <p:sp>
          <p:nvSpPr>
            <p:cNvPr id="85" name="Freeform 200"/>
            <p:cNvSpPr/>
            <p:nvPr/>
          </p:nvSpPr>
          <p:spPr bwMode="gray">
            <a:xfrm>
              <a:off x="8046065" y="4085456"/>
              <a:ext cx="661726" cy="375146"/>
            </a:xfrm>
            <a:custGeom>
              <a:avLst/>
              <a:gdLst>
                <a:gd name="connsiteX0" fmla="*/ 511396 w 823780"/>
                <a:gd name="connsiteY0" fmla="*/ 0 h 467015"/>
                <a:gd name="connsiteX1" fmla="*/ 732475 w 823780"/>
                <a:gd name="connsiteY1" fmla="*/ 223125 h 467015"/>
                <a:gd name="connsiteX2" fmla="*/ 727487 w 823780"/>
                <a:gd name="connsiteY2" fmla="*/ 248058 h 467015"/>
                <a:gd name="connsiteX3" fmla="*/ 756693 w 823780"/>
                <a:gd name="connsiteY3" fmla="*/ 254009 h 467015"/>
                <a:gd name="connsiteX4" fmla="*/ 823780 w 823780"/>
                <a:gd name="connsiteY4" fmla="*/ 356156 h 467015"/>
                <a:gd name="connsiteX5" fmla="*/ 756693 w 823780"/>
                <a:gd name="connsiteY5" fmla="*/ 458303 h 467015"/>
                <a:gd name="connsiteX6" fmla="*/ 732017 w 823780"/>
                <a:gd name="connsiteY6" fmla="*/ 463331 h 467015"/>
                <a:gd name="connsiteX7" fmla="*/ 732017 w 823780"/>
                <a:gd name="connsiteY7" fmla="*/ 467014 h 467015"/>
                <a:gd name="connsiteX8" fmla="*/ 713942 w 823780"/>
                <a:gd name="connsiteY8" fmla="*/ 467014 h 467015"/>
                <a:gd name="connsiteX9" fmla="*/ 713937 w 823780"/>
                <a:gd name="connsiteY9" fmla="*/ 467015 h 467015"/>
                <a:gd name="connsiteX10" fmla="*/ 713932 w 823780"/>
                <a:gd name="connsiteY10" fmla="*/ 467014 h 467015"/>
                <a:gd name="connsiteX11" fmla="*/ 120827 w 823780"/>
                <a:gd name="connsiteY11" fmla="*/ 467014 h 467015"/>
                <a:gd name="connsiteX12" fmla="*/ 100287 w 823780"/>
                <a:gd name="connsiteY12" fmla="*/ 467014 h 467015"/>
                <a:gd name="connsiteX13" fmla="*/ 100287 w 823780"/>
                <a:gd name="connsiteY13" fmla="*/ 462829 h 467015"/>
                <a:gd name="connsiteX14" fmla="*/ 73795 w 823780"/>
                <a:gd name="connsiteY14" fmla="*/ 457431 h 467015"/>
                <a:gd name="connsiteX15" fmla="*/ 0 w 823780"/>
                <a:gd name="connsiteY15" fmla="*/ 345069 h 467015"/>
                <a:gd name="connsiteX16" fmla="*/ 73795 w 823780"/>
                <a:gd name="connsiteY16" fmla="*/ 232707 h 467015"/>
                <a:gd name="connsiteX17" fmla="*/ 81613 w 823780"/>
                <a:gd name="connsiteY17" fmla="*/ 231114 h 467015"/>
                <a:gd name="connsiteX18" fmla="*/ 94608 w 823780"/>
                <a:gd name="connsiteY18" fmla="*/ 172061 h 467015"/>
                <a:gd name="connsiteX19" fmla="*/ 250025 w 823780"/>
                <a:gd name="connsiteY19" fmla="*/ 77543 h 467015"/>
                <a:gd name="connsiteX20" fmla="*/ 315680 w 823780"/>
                <a:gd name="connsiteY20" fmla="*/ 89704 h 467015"/>
                <a:gd name="connsiteX21" fmla="*/ 332040 w 823780"/>
                <a:gd name="connsiteY21" fmla="*/ 99825 h 467015"/>
                <a:gd name="connsiteX22" fmla="*/ 355070 w 823780"/>
                <a:gd name="connsiteY22" fmla="*/ 65352 h 467015"/>
                <a:gd name="connsiteX23" fmla="*/ 511396 w 823780"/>
                <a:gd name="connsiteY23" fmla="*/ 0 h 467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3780" h="467015">
                  <a:moveTo>
                    <a:pt x="511396" y="0"/>
                  </a:moveTo>
                  <a:cubicBezTo>
                    <a:pt x="633495" y="0"/>
                    <a:pt x="732475" y="99896"/>
                    <a:pt x="732475" y="223125"/>
                  </a:cubicBezTo>
                  <a:lnTo>
                    <a:pt x="727487" y="248058"/>
                  </a:lnTo>
                  <a:lnTo>
                    <a:pt x="756693" y="254009"/>
                  </a:lnTo>
                  <a:cubicBezTo>
                    <a:pt x="796117" y="270838"/>
                    <a:pt x="823780" y="310236"/>
                    <a:pt x="823780" y="356156"/>
                  </a:cubicBezTo>
                  <a:cubicBezTo>
                    <a:pt x="823780" y="402076"/>
                    <a:pt x="796117" y="441474"/>
                    <a:pt x="756693" y="458303"/>
                  </a:cubicBezTo>
                  <a:lnTo>
                    <a:pt x="732017" y="463331"/>
                  </a:lnTo>
                  <a:lnTo>
                    <a:pt x="732017" y="467014"/>
                  </a:lnTo>
                  <a:lnTo>
                    <a:pt x="713942" y="467014"/>
                  </a:lnTo>
                  <a:lnTo>
                    <a:pt x="713937" y="467015"/>
                  </a:lnTo>
                  <a:lnTo>
                    <a:pt x="713932" y="467014"/>
                  </a:lnTo>
                  <a:lnTo>
                    <a:pt x="120827" y="467014"/>
                  </a:lnTo>
                  <a:lnTo>
                    <a:pt x="100287" y="467014"/>
                  </a:lnTo>
                  <a:lnTo>
                    <a:pt x="100287" y="462829"/>
                  </a:lnTo>
                  <a:lnTo>
                    <a:pt x="73795" y="457431"/>
                  </a:lnTo>
                  <a:cubicBezTo>
                    <a:pt x="30429" y="438919"/>
                    <a:pt x="0" y="395580"/>
                    <a:pt x="0" y="345069"/>
                  </a:cubicBezTo>
                  <a:cubicBezTo>
                    <a:pt x="0" y="294558"/>
                    <a:pt x="30429" y="251219"/>
                    <a:pt x="73795" y="232707"/>
                  </a:cubicBezTo>
                  <a:lnTo>
                    <a:pt x="81613" y="231114"/>
                  </a:lnTo>
                  <a:lnTo>
                    <a:pt x="94608" y="172061"/>
                  </a:lnTo>
                  <a:cubicBezTo>
                    <a:pt x="120214" y="116517"/>
                    <a:pt x="180159" y="77543"/>
                    <a:pt x="250025" y="77543"/>
                  </a:cubicBezTo>
                  <a:cubicBezTo>
                    <a:pt x="273314" y="77543"/>
                    <a:pt x="295500" y="81873"/>
                    <a:pt x="315680" y="89704"/>
                  </a:cubicBezTo>
                  <a:lnTo>
                    <a:pt x="332040" y="99825"/>
                  </a:lnTo>
                  <a:lnTo>
                    <a:pt x="355070" y="65352"/>
                  </a:lnTo>
                  <a:cubicBezTo>
                    <a:pt x="395077" y="24974"/>
                    <a:pt x="450347" y="0"/>
                    <a:pt x="511396" y="0"/>
                  </a:cubicBezTo>
                  <a:close/>
                </a:path>
              </a:pathLst>
            </a:cu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TextBox 2"/>
            <p:cNvSpPr txBox="1"/>
            <p:nvPr/>
          </p:nvSpPr>
          <p:spPr bwMode="gray">
            <a:xfrm>
              <a:off x="8105314" y="4218345"/>
              <a:ext cx="551754" cy="276999"/>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WAN</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87" name="五边形 86"/>
          <p:cNvSpPr/>
          <p:nvPr/>
        </p:nvSpPr>
        <p:spPr bwMode="auto">
          <a:xfrm>
            <a:off x="6179960" y="98481"/>
            <a:ext cx="94884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以太网交换</a:t>
            </a:r>
          </a:p>
        </p:txBody>
      </p:sp>
      <p:sp>
        <p:nvSpPr>
          <p:cNvPr id="88" name="燕尾形 87"/>
          <p:cNvSpPr/>
          <p:nvPr/>
        </p:nvSpPr>
        <p:spPr bwMode="auto">
          <a:xfrm>
            <a:off x="7049907" y="98481"/>
            <a:ext cx="678521"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燕尾形 88"/>
          <p:cNvSpPr/>
          <p:nvPr/>
        </p:nvSpPr>
        <p:spPr bwMode="auto">
          <a:xfrm>
            <a:off x="7649535" y="98481"/>
            <a:ext cx="875959"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无线接入</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燕尾形 89"/>
          <p:cNvSpPr/>
          <p:nvPr/>
        </p:nvSpPr>
        <p:spPr bwMode="auto">
          <a:xfrm>
            <a:off x="8446601"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可靠性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燕尾形 90"/>
          <p:cNvSpPr/>
          <p:nvPr/>
        </p:nvSpPr>
        <p:spPr bwMode="auto">
          <a:xfrm>
            <a:off x="9148908" y="98481"/>
            <a:ext cx="87048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网络安全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燕尾形 91"/>
          <p:cNvSpPr/>
          <p:nvPr/>
        </p:nvSpPr>
        <p:spPr bwMode="auto">
          <a:xfrm>
            <a:off x="9940504" y="98481"/>
            <a:ext cx="130400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网络服务与管理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燕尾形 92"/>
          <p:cNvSpPr/>
          <p:nvPr/>
        </p:nvSpPr>
        <p:spPr bwMode="auto">
          <a:xfrm>
            <a:off x="11165613" y="98481"/>
            <a:ext cx="583475"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出口</a:t>
            </a:r>
          </a:p>
        </p:txBody>
      </p:sp>
    </p:spTree>
    <p:extLst>
      <p:ext uri="{BB962C8B-B14F-4D97-AF65-F5344CB8AC3E}">
        <p14:creationId xmlns:p14="http://schemas.microsoft.com/office/powerpoint/2010/main" val="41266373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Huawei Sans" panose="020C0503030203020204" pitchFamily="34" charset="0"/>
              </a:rPr>
              <a:t>VRRP</a:t>
            </a:r>
            <a:endParaRPr lang="zh-CN" altLang="en-US" dirty="0">
              <a:sym typeface="Huawei Sans" panose="020C0503030203020204" pitchFamily="34" charset="0"/>
            </a:endParaRPr>
          </a:p>
        </p:txBody>
      </p:sp>
      <p:cxnSp>
        <p:nvCxnSpPr>
          <p:cNvPr id="3" name="直接连接符 2"/>
          <p:cNvCxnSpPr/>
          <p:nvPr/>
        </p:nvCxnSpPr>
        <p:spPr bwMode="gray">
          <a:xfrm>
            <a:off x="7812373" y="3761673"/>
            <a:ext cx="161947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bwMode="gray">
          <a:xfrm flipV="1">
            <a:off x="8627908" y="4806046"/>
            <a:ext cx="0" cy="5420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bwMode="gray">
          <a:xfrm>
            <a:off x="7842073" y="3821590"/>
            <a:ext cx="156007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bwMode="gray">
          <a:xfrm flipV="1">
            <a:off x="3088339" y="4600666"/>
            <a:ext cx="0" cy="66507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圆角矩形 6"/>
          <p:cNvSpPr/>
          <p:nvPr/>
        </p:nvSpPr>
        <p:spPr bwMode="gray">
          <a:xfrm>
            <a:off x="598075" y="1540411"/>
            <a:ext cx="4964872" cy="4582120"/>
          </a:xfrm>
          <a:prstGeom prst="roundRect">
            <a:avLst>
              <a:gd name="adj" fmla="val 1950"/>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圆角矩形 7"/>
          <p:cNvSpPr/>
          <p:nvPr/>
        </p:nvSpPr>
        <p:spPr bwMode="gray">
          <a:xfrm>
            <a:off x="5690630" y="1540411"/>
            <a:ext cx="5684809" cy="4582120"/>
          </a:xfrm>
          <a:prstGeom prst="roundRect">
            <a:avLst>
              <a:gd name="adj" fmla="val 898"/>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文本框 8"/>
          <p:cNvSpPr txBox="1"/>
          <p:nvPr/>
        </p:nvSpPr>
        <p:spPr bwMode="gray">
          <a:xfrm>
            <a:off x="598075" y="1097812"/>
            <a:ext cx="4964871" cy="373577"/>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600">
                <a:solidFill>
                  <a:srgbClr val="30B5C5"/>
                </a:solidFill>
                <a:latin typeface="Huawei Sans" panose="020C0503030203020204" pitchFamily="34" charset="0"/>
                <a:ea typeface="方正兰亭黑简体" panose="02000000000000000000" pitchFamily="2" charset="-122"/>
              </a:defRPr>
            </a:lvl1pPr>
          </a:lstStyle>
          <a:p>
            <a:r>
              <a:rPr lang="en-US" altLang="zh-CN">
                <a:sym typeface="Huawei Sans" panose="020C0503030203020204" pitchFamily="34" charset="0"/>
              </a:rPr>
              <a:t>VRRP</a:t>
            </a:r>
            <a:r>
              <a:rPr lang="zh-CN" altLang="en-US">
                <a:sym typeface="Huawei Sans" panose="020C0503030203020204" pitchFamily="34" charset="0"/>
              </a:rPr>
              <a:t>的基本应用</a:t>
            </a:r>
            <a:endParaRPr lang="zh-CN" altLang="en-US" dirty="0">
              <a:sym typeface="Huawei Sans" panose="020C0503030203020204" pitchFamily="34" charset="0"/>
            </a:endParaRPr>
          </a:p>
        </p:txBody>
      </p:sp>
      <p:sp>
        <p:nvSpPr>
          <p:cNvPr id="10" name="文本框 9"/>
          <p:cNvSpPr txBox="1"/>
          <p:nvPr/>
        </p:nvSpPr>
        <p:spPr bwMode="gray">
          <a:xfrm>
            <a:off x="5690632" y="1097812"/>
            <a:ext cx="5684808" cy="373577"/>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600">
                <a:solidFill>
                  <a:srgbClr val="30B5C5"/>
                </a:solidFill>
                <a:latin typeface="Huawei Sans" panose="020C0503030203020204" pitchFamily="34" charset="0"/>
                <a:ea typeface="方正兰亭黑简体" panose="02000000000000000000" pitchFamily="2" charset="-122"/>
              </a:defRPr>
            </a:lvl1pPr>
          </a:lstStyle>
          <a:p>
            <a:r>
              <a:rPr lang="en-US" altLang="zh-CN" dirty="0">
                <a:sym typeface="Huawei Sans" panose="020C0503030203020204" pitchFamily="34" charset="0"/>
              </a:rPr>
              <a:t>VRRP+MSTP</a:t>
            </a:r>
            <a:r>
              <a:rPr lang="zh-CN" altLang="en-US" dirty="0">
                <a:sym typeface="Huawei Sans" panose="020C0503030203020204" pitchFamily="34" charset="0"/>
              </a:rPr>
              <a:t>典型应用</a:t>
            </a:r>
          </a:p>
        </p:txBody>
      </p:sp>
      <p:grpSp>
        <p:nvGrpSpPr>
          <p:cNvPr id="11" name="组合 10"/>
          <p:cNvGrpSpPr/>
          <p:nvPr/>
        </p:nvGrpSpPr>
        <p:grpSpPr bwMode="gray">
          <a:xfrm>
            <a:off x="1332310" y="2705012"/>
            <a:ext cx="3519520" cy="1756614"/>
            <a:chOff x="2479407" y="2891801"/>
            <a:chExt cx="1800201" cy="1756614"/>
          </a:xfrm>
        </p:grpSpPr>
        <p:cxnSp>
          <p:nvCxnSpPr>
            <p:cNvPr id="12" name="直接连接符 11"/>
            <p:cNvCxnSpPr/>
            <p:nvPr/>
          </p:nvCxnSpPr>
          <p:spPr bwMode="gray">
            <a:xfrm>
              <a:off x="2479407" y="2912918"/>
              <a:ext cx="900100" cy="16864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bwMode="gray">
            <a:xfrm flipH="1">
              <a:off x="3374179" y="2891801"/>
              <a:ext cx="905429" cy="175661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14" name="图片 87" descr="汇聚交换机.png"/>
          <p:cNvPicPr>
            <a:picLocks noChangeAspect="1"/>
          </p:cNvPicPr>
          <p:nvPr/>
        </p:nvPicPr>
        <p:blipFill>
          <a:blip r:embed="rId3" cstate="print"/>
          <a:stretch>
            <a:fillRect/>
          </a:stretch>
        </p:blipFill>
        <p:spPr bwMode="gray">
          <a:xfrm>
            <a:off x="1004130" y="2465385"/>
            <a:ext cx="490909" cy="401653"/>
          </a:xfrm>
          <a:prstGeom prst="rect">
            <a:avLst/>
          </a:prstGeom>
        </p:spPr>
      </p:pic>
      <p:pic>
        <p:nvPicPr>
          <p:cNvPr id="15" name="图片 87" descr="汇聚交换机.png"/>
          <p:cNvPicPr>
            <a:picLocks noChangeAspect="1"/>
          </p:cNvPicPr>
          <p:nvPr/>
        </p:nvPicPr>
        <p:blipFill>
          <a:blip r:embed="rId3" cstate="print"/>
          <a:stretch>
            <a:fillRect/>
          </a:stretch>
        </p:blipFill>
        <p:spPr bwMode="gray">
          <a:xfrm>
            <a:off x="4695829" y="2465385"/>
            <a:ext cx="490909" cy="401653"/>
          </a:xfrm>
          <a:prstGeom prst="rect">
            <a:avLst/>
          </a:prstGeom>
        </p:spPr>
      </p:pic>
      <p:pic>
        <p:nvPicPr>
          <p:cNvPr id="16" name="图片 76" descr="接入交换机.png"/>
          <p:cNvPicPr>
            <a:picLocks noChangeAspect="1"/>
          </p:cNvPicPr>
          <p:nvPr/>
        </p:nvPicPr>
        <p:blipFill>
          <a:blip r:embed="rId4" cstate="print"/>
          <a:stretch>
            <a:fillRect/>
          </a:stretch>
        </p:blipFill>
        <p:spPr bwMode="gray">
          <a:xfrm>
            <a:off x="2851553" y="4178931"/>
            <a:ext cx="490909" cy="401653"/>
          </a:xfrm>
          <a:prstGeom prst="rect">
            <a:avLst/>
          </a:prstGeom>
        </p:spPr>
      </p:pic>
      <p:sp>
        <p:nvSpPr>
          <p:cNvPr id="17" name="文本框 16"/>
          <p:cNvSpPr txBox="1"/>
          <p:nvPr/>
        </p:nvSpPr>
        <p:spPr bwMode="gray">
          <a:xfrm>
            <a:off x="665783" y="2074991"/>
            <a:ext cx="1181734" cy="307777"/>
          </a:xfrm>
          <a:prstGeom prst="rect">
            <a:avLst/>
          </a:prstGeom>
          <a:noFill/>
        </p:spPr>
        <p:txBody>
          <a:bodyPr wrap="none" rtlCol="0">
            <a:spAutoFit/>
          </a:bodyPr>
          <a:lstStyle/>
          <a:p>
            <a:pPr fontAlgn="auto">
              <a:spcBef>
                <a:spcPts val="0"/>
              </a:spcBef>
              <a:spcAft>
                <a:spcPts val="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汇聚交换机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文本框 17"/>
          <p:cNvSpPr txBox="1"/>
          <p:nvPr/>
        </p:nvSpPr>
        <p:spPr bwMode="gray">
          <a:xfrm>
            <a:off x="4344004" y="2074991"/>
            <a:ext cx="1194558" cy="307777"/>
          </a:xfrm>
          <a:prstGeom prst="rect">
            <a:avLst/>
          </a:prstGeom>
          <a:noFill/>
        </p:spPr>
        <p:txBody>
          <a:bodyPr wrap="none" rtlCol="0">
            <a:spAutoFit/>
          </a:bodyPr>
          <a:lstStyle/>
          <a:p>
            <a:pPr fontAlgn="auto">
              <a:spcBef>
                <a:spcPts val="0"/>
              </a:spcBef>
              <a:spcAft>
                <a:spcPts val="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汇聚交换机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文本框 18"/>
          <p:cNvSpPr txBox="1"/>
          <p:nvPr/>
        </p:nvSpPr>
        <p:spPr bwMode="gray">
          <a:xfrm>
            <a:off x="3351803" y="4223369"/>
            <a:ext cx="1082348" cy="307777"/>
          </a:xfrm>
          <a:prstGeom prst="rect">
            <a:avLst/>
          </a:prstGeom>
          <a:noFill/>
        </p:spPr>
        <p:txBody>
          <a:bodyPr wrap="none" rtlCol="0">
            <a:spAutoFit/>
          </a:bodyPr>
          <a:lstStyle/>
          <a:p>
            <a:pPr fontAlgn="auto">
              <a:spcBef>
                <a:spcPts val="0"/>
              </a:spcBef>
              <a:spcAft>
                <a:spcPts val="0"/>
              </a:spcAft>
            </a:pP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接入交换机</a:t>
            </a:r>
          </a:p>
        </p:txBody>
      </p:sp>
      <p:grpSp>
        <p:nvGrpSpPr>
          <p:cNvPr id="20" name="组合 19"/>
          <p:cNvGrpSpPr/>
          <p:nvPr/>
        </p:nvGrpSpPr>
        <p:grpSpPr bwMode="gray">
          <a:xfrm>
            <a:off x="7727808" y="3817407"/>
            <a:ext cx="1800201" cy="1040381"/>
            <a:chOff x="7948874" y="2891801"/>
            <a:chExt cx="1800201" cy="1756614"/>
          </a:xfrm>
        </p:grpSpPr>
        <p:cxnSp>
          <p:nvCxnSpPr>
            <p:cNvPr id="21" name="直接连接符 20"/>
            <p:cNvCxnSpPr/>
            <p:nvPr/>
          </p:nvCxnSpPr>
          <p:spPr bwMode="gray">
            <a:xfrm>
              <a:off x="7948874" y="2912918"/>
              <a:ext cx="900100" cy="16864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bwMode="gray">
            <a:xfrm flipH="1">
              <a:off x="8843646" y="2891801"/>
              <a:ext cx="905429" cy="175661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3" name="图片 87" descr="汇聚交换机.png"/>
          <p:cNvPicPr>
            <a:picLocks noChangeAspect="1"/>
          </p:cNvPicPr>
          <p:nvPr/>
        </p:nvPicPr>
        <p:blipFill>
          <a:blip r:embed="rId3" cstate="print"/>
          <a:stretch>
            <a:fillRect/>
          </a:stretch>
        </p:blipFill>
        <p:spPr bwMode="gray">
          <a:xfrm>
            <a:off x="7394261" y="3577780"/>
            <a:ext cx="490909" cy="401653"/>
          </a:xfrm>
          <a:prstGeom prst="rect">
            <a:avLst/>
          </a:prstGeom>
        </p:spPr>
      </p:pic>
      <p:pic>
        <p:nvPicPr>
          <p:cNvPr id="24" name="图片 87" descr="汇聚交换机.png"/>
          <p:cNvPicPr>
            <a:picLocks noChangeAspect="1"/>
          </p:cNvPicPr>
          <p:nvPr/>
        </p:nvPicPr>
        <p:blipFill>
          <a:blip r:embed="rId3" cstate="print"/>
          <a:stretch>
            <a:fillRect/>
          </a:stretch>
        </p:blipFill>
        <p:spPr bwMode="gray">
          <a:xfrm>
            <a:off x="9359047" y="3577780"/>
            <a:ext cx="490909" cy="401653"/>
          </a:xfrm>
          <a:prstGeom prst="rect">
            <a:avLst/>
          </a:prstGeom>
        </p:spPr>
      </p:pic>
      <p:pic>
        <p:nvPicPr>
          <p:cNvPr id="25" name="图片 76" descr="接入交换机.png"/>
          <p:cNvPicPr>
            <a:picLocks noChangeAspect="1"/>
          </p:cNvPicPr>
          <p:nvPr/>
        </p:nvPicPr>
        <p:blipFill>
          <a:blip r:embed="rId4" cstate="print"/>
          <a:stretch>
            <a:fillRect/>
          </a:stretch>
        </p:blipFill>
        <p:spPr bwMode="gray">
          <a:xfrm>
            <a:off x="8387392" y="4614960"/>
            <a:ext cx="490909" cy="401653"/>
          </a:xfrm>
          <a:prstGeom prst="rect">
            <a:avLst/>
          </a:prstGeom>
        </p:spPr>
      </p:pic>
      <p:sp>
        <p:nvSpPr>
          <p:cNvPr id="26" name="文本框 25"/>
          <p:cNvSpPr txBox="1"/>
          <p:nvPr/>
        </p:nvSpPr>
        <p:spPr bwMode="gray">
          <a:xfrm>
            <a:off x="6173545" y="3663518"/>
            <a:ext cx="1181734" cy="307777"/>
          </a:xfrm>
          <a:prstGeom prst="rect">
            <a:avLst/>
          </a:prstGeom>
          <a:noFill/>
        </p:spPr>
        <p:txBody>
          <a:bodyPr wrap="none" rtlCol="0">
            <a:spAutoFit/>
          </a:bodyPr>
          <a:lstStyle/>
          <a:p>
            <a:pPr fontAlgn="auto">
              <a:spcBef>
                <a:spcPts val="0"/>
              </a:spcBef>
              <a:spcAft>
                <a:spcPts val="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汇聚交换机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文本框 26"/>
          <p:cNvSpPr txBox="1"/>
          <p:nvPr/>
        </p:nvSpPr>
        <p:spPr bwMode="gray">
          <a:xfrm>
            <a:off x="9854775" y="3663518"/>
            <a:ext cx="1194558" cy="307777"/>
          </a:xfrm>
          <a:prstGeom prst="rect">
            <a:avLst/>
          </a:prstGeom>
          <a:noFill/>
        </p:spPr>
        <p:txBody>
          <a:bodyPr wrap="none" rtlCol="0">
            <a:spAutoFit/>
          </a:bodyPr>
          <a:lstStyle/>
          <a:p>
            <a:pPr fontAlgn="auto">
              <a:spcBef>
                <a:spcPts val="0"/>
              </a:spcBef>
              <a:spcAft>
                <a:spcPts val="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汇聚交换机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文本框 27"/>
          <p:cNvSpPr txBox="1"/>
          <p:nvPr/>
        </p:nvSpPr>
        <p:spPr bwMode="gray">
          <a:xfrm>
            <a:off x="9075294" y="4659398"/>
            <a:ext cx="1082348" cy="307777"/>
          </a:xfrm>
          <a:prstGeom prst="rect">
            <a:avLst/>
          </a:prstGeom>
          <a:noFill/>
        </p:spPr>
        <p:txBody>
          <a:bodyPr wrap="none" rtlCol="0">
            <a:spAutoFit/>
          </a:bodyPr>
          <a:lstStyle/>
          <a:p>
            <a:pPr fontAlgn="auto">
              <a:spcBef>
                <a:spcPts val="0"/>
              </a:spcBef>
              <a:spcAft>
                <a:spcPts val="0"/>
              </a:spcAft>
            </a:pP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接入交换机</a:t>
            </a:r>
          </a:p>
        </p:txBody>
      </p:sp>
      <p:pic>
        <p:nvPicPr>
          <p:cNvPr id="29" name="图片 100" descr="汇聚交换机.png"/>
          <p:cNvPicPr>
            <a:picLocks noChangeAspect="1"/>
          </p:cNvPicPr>
          <p:nvPr/>
        </p:nvPicPr>
        <p:blipFill>
          <a:blip r:embed="rId5" cstate="print"/>
          <a:stretch>
            <a:fillRect/>
          </a:stretch>
        </p:blipFill>
        <p:spPr bwMode="gray">
          <a:xfrm>
            <a:off x="2897942" y="2620055"/>
            <a:ext cx="405710" cy="331945"/>
          </a:xfrm>
          <a:prstGeom prst="rect">
            <a:avLst/>
          </a:prstGeom>
        </p:spPr>
      </p:pic>
      <p:sp>
        <p:nvSpPr>
          <p:cNvPr id="30" name="任意多边形 2"/>
          <p:cNvSpPr/>
          <p:nvPr/>
        </p:nvSpPr>
        <p:spPr bwMode="gray">
          <a:xfrm>
            <a:off x="1624801" y="2852581"/>
            <a:ext cx="2984877" cy="952877"/>
          </a:xfrm>
          <a:custGeom>
            <a:avLst/>
            <a:gdLst>
              <a:gd name="connsiteX0" fmla="*/ 0 w 1485900"/>
              <a:gd name="connsiteY0" fmla="*/ 0 h 355678"/>
              <a:gd name="connsiteX1" fmla="*/ 749300 w 1485900"/>
              <a:gd name="connsiteY1" fmla="*/ 355600 h 355678"/>
              <a:gd name="connsiteX2" fmla="*/ 1485900 w 1485900"/>
              <a:gd name="connsiteY2" fmla="*/ 25400 h 355678"/>
              <a:gd name="connsiteX0" fmla="*/ 0 w 1485900"/>
              <a:gd name="connsiteY0" fmla="*/ 0 h 25400"/>
              <a:gd name="connsiteX1" fmla="*/ 1485900 w 1485900"/>
              <a:gd name="connsiteY1" fmla="*/ 25400 h 25400"/>
              <a:gd name="connsiteX0" fmla="*/ 0 w 1502950"/>
              <a:gd name="connsiteY0" fmla="*/ 0 h 15752"/>
              <a:gd name="connsiteX1" fmla="*/ 1502950 w 1502950"/>
              <a:gd name="connsiteY1" fmla="*/ 15752 h 15752"/>
              <a:gd name="connsiteX0" fmla="*/ 0 w 1524262"/>
              <a:gd name="connsiteY0" fmla="*/ 3543 h 3543"/>
              <a:gd name="connsiteX1" fmla="*/ 1524262 w 1524262"/>
              <a:gd name="connsiteY1" fmla="*/ 0 h 3543"/>
              <a:gd name="connsiteX0" fmla="*/ 0 w 10000"/>
              <a:gd name="connsiteY0" fmla="*/ 10000 h 704562"/>
              <a:gd name="connsiteX1" fmla="*/ 10000 w 10000"/>
              <a:gd name="connsiteY1" fmla="*/ 0 h 704562"/>
              <a:gd name="connsiteX0" fmla="*/ 0 w 10000"/>
              <a:gd name="connsiteY0" fmla="*/ 10000 h 704562"/>
              <a:gd name="connsiteX1" fmla="*/ 10000 w 10000"/>
              <a:gd name="connsiteY1" fmla="*/ 0 h 704562"/>
              <a:gd name="connsiteX0" fmla="*/ 0 w 10000"/>
              <a:gd name="connsiteY0" fmla="*/ 10000 h 953836"/>
              <a:gd name="connsiteX1" fmla="*/ 10000 w 10000"/>
              <a:gd name="connsiteY1" fmla="*/ 0 h 953836"/>
              <a:gd name="connsiteX0" fmla="*/ 0 w 10000"/>
              <a:gd name="connsiteY0" fmla="*/ 10000 h 959694"/>
              <a:gd name="connsiteX1" fmla="*/ 10000 w 10000"/>
              <a:gd name="connsiteY1" fmla="*/ 0 h 959694"/>
              <a:gd name="connsiteX0" fmla="*/ 0 w 10000"/>
              <a:gd name="connsiteY0" fmla="*/ 10000 h 962636"/>
              <a:gd name="connsiteX1" fmla="*/ 10000 w 10000"/>
              <a:gd name="connsiteY1" fmla="*/ 0 h 962636"/>
              <a:gd name="connsiteX0" fmla="*/ 0 w 10000"/>
              <a:gd name="connsiteY0" fmla="*/ 10000 h 851292"/>
              <a:gd name="connsiteX1" fmla="*/ 10000 w 10000"/>
              <a:gd name="connsiteY1" fmla="*/ 0 h 851292"/>
              <a:gd name="connsiteX0" fmla="*/ 0 w 10000"/>
              <a:gd name="connsiteY0" fmla="*/ 19077 h 856390"/>
              <a:gd name="connsiteX1" fmla="*/ 10000 w 10000"/>
              <a:gd name="connsiteY1" fmla="*/ 0 h 856390"/>
              <a:gd name="connsiteX0" fmla="*/ 0 w 10000"/>
              <a:gd name="connsiteY0" fmla="*/ 19077 h 949527"/>
              <a:gd name="connsiteX1" fmla="*/ 10000 w 10000"/>
              <a:gd name="connsiteY1" fmla="*/ 0 h 949527"/>
              <a:gd name="connsiteX0" fmla="*/ 0 w 10000"/>
              <a:gd name="connsiteY0" fmla="*/ 19077 h 949527"/>
              <a:gd name="connsiteX1" fmla="*/ 10000 w 10000"/>
              <a:gd name="connsiteY1" fmla="*/ 0 h 949527"/>
              <a:gd name="connsiteX0" fmla="*/ 0 w 10000"/>
              <a:gd name="connsiteY0" fmla="*/ 19077 h 963509"/>
              <a:gd name="connsiteX1" fmla="*/ 10000 w 10000"/>
              <a:gd name="connsiteY1" fmla="*/ 0 h 963509"/>
              <a:gd name="connsiteX0" fmla="*/ 0 w 9944"/>
              <a:gd name="connsiteY0" fmla="*/ 28154 h 968271"/>
              <a:gd name="connsiteX1" fmla="*/ 9944 w 9944"/>
              <a:gd name="connsiteY1" fmla="*/ 0 h 968271"/>
              <a:gd name="connsiteX0" fmla="*/ 0 w 10000"/>
              <a:gd name="connsiteY0" fmla="*/ 291 h 10515"/>
              <a:gd name="connsiteX1" fmla="*/ 10000 w 10000"/>
              <a:gd name="connsiteY1" fmla="*/ 0 h 10515"/>
              <a:gd name="connsiteX0" fmla="*/ 0 w 10000"/>
              <a:gd name="connsiteY0" fmla="*/ 291 h 10550"/>
              <a:gd name="connsiteX1" fmla="*/ 10000 w 10000"/>
              <a:gd name="connsiteY1" fmla="*/ 0 h 10550"/>
            </a:gdLst>
            <a:ahLst/>
            <a:cxnLst>
              <a:cxn ang="0">
                <a:pos x="connsiteX0" y="connsiteY0"/>
              </a:cxn>
              <a:cxn ang="0">
                <a:pos x="connsiteX1" y="connsiteY1"/>
              </a:cxn>
            </a:cxnLst>
            <a:rect l="l" t="t" r="r" b="b"/>
            <a:pathLst>
              <a:path w="10000" h="10550">
                <a:moveTo>
                  <a:pt x="0" y="291"/>
                </a:moveTo>
                <a:cubicBezTo>
                  <a:pt x="4448" y="14036"/>
                  <a:pt x="5383" y="14002"/>
                  <a:pt x="10000" y="0"/>
                </a:cubicBezTo>
              </a:path>
            </a:pathLst>
          </a:custGeom>
          <a:ln w="19050">
            <a:solidFill>
              <a:srgbClr val="C7000B"/>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40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Rectangle 21"/>
          <p:cNvSpPr>
            <a:spLocks noChangeArrowheads="1"/>
          </p:cNvSpPr>
          <p:nvPr/>
        </p:nvSpPr>
        <p:spPr bwMode="gray">
          <a:xfrm>
            <a:off x="2762249" y="3628374"/>
            <a:ext cx="610277" cy="30353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72000" bIns="36000">
            <a:spAutoFit/>
          </a:bodyPr>
          <a:lstStyle/>
          <a:p>
            <a:pPr algn="ctr"/>
            <a:r>
              <a:rPr lang="en-US" altLang="zh-CN" sz="15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VRRP</a:t>
            </a:r>
            <a:endParaRPr lang="zh-CN" altLang="en-US" sz="15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Rectangle 21"/>
          <p:cNvSpPr>
            <a:spLocks noChangeArrowheads="1"/>
          </p:cNvSpPr>
          <p:nvPr/>
        </p:nvSpPr>
        <p:spPr bwMode="gray">
          <a:xfrm>
            <a:off x="2403318" y="3001938"/>
            <a:ext cx="132760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虚拟路由器</a:t>
            </a:r>
            <a:endPar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192.168.1.254</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3" name="图片 11" descr="开放网络-蓝.png"/>
          <p:cNvPicPr>
            <a:picLocks noChangeAspect="1"/>
          </p:cNvPicPr>
          <p:nvPr/>
        </p:nvPicPr>
        <p:blipFill>
          <a:blip r:embed="rId6" cstate="print"/>
          <a:stretch>
            <a:fillRect/>
          </a:stretch>
        </p:blipFill>
        <p:spPr bwMode="gray">
          <a:xfrm>
            <a:off x="2869091" y="5218653"/>
            <a:ext cx="445956" cy="343290"/>
          </a:xfrm>
          <a:prstGeom prst="rect">
            <a:avLst/>
          </a:prstGeom>
        </p:spPr>
      </p:pic>
      <p:sp>
        <p:nvSpPr>
          <p:cNvPr id="34" name="文本框 33"/>
          <p:cNvSpPr txBox="1"/>
          <p:nvPr/>
        </p:nvSpPr>
        <p:spPr bwMode="gray">
          <a:xfrm>
            <a:off x="3337053" y="5134748"/>
            <a:ext cx="2217274" cy="523220"/>
          </a:xfrm>
          <a:prstGeom prst="rect">
            <a:avLst/>
          </a:prstGeom>
          <a:noFill/>
        </p:spPr>
        <p:txBody>
          <a:bodyPr wrap="none" rtlCol="0">
            <a:spAutoFit/>
          </a:bodyPr>
          <a:lstStyle/>
          <a:p>
            <a:pPr fontAlgn="auto">
              <a:spcBef>
                <a:spcPts val="0"/>
              </a:spcBef>
              <a:spcAft>
                <a:spcPts val="0"/>
              </a:spcAft>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192.168.1.1/24</a:t>
            </a:r>
          </a:p>
          <a:p>
            <a:pPr fontAlgn="auto">
              <a:spcBef>
                <a:spcPts val="0"/>
              </a:spcBef>
              <a:spcAft>
                <a:spcPts val="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默认网关：</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192.168.1.254</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p:cNvSpPr txBox="1"/>
          <p:nvPr/>
        </p:nvSpPr>
        <p:spPr bwMode="gray">
          <a:xfrm>
            <a:off x="847385" y="4659357"/>
            <a:ext cx="1293944" cy="1169551"/>
          </a:xfrm>
          <a:prstGeom prst="rect">
            <a:avLst/>
          </a:prstGeom>
          <a:noFill/>
        </p:spPr>
        <p:txBody>
          <a:bodyPr wrap="none" rtlCol="0">
            <a:spAutoFit/>
          </a:bodyPr>
          <a:lstStyle/>
          <a:p>
            <a:pPr marL="285750" indent="-285750" fontAlgn="auto">
              <a:lnSpc>
                <a:spcPts val="2400"/>
              </a:lnSpc>
              <a:spcBef>
                <a:spcPts val="0"/>
              </a:spcBef>
              <a:spcAft>
                <a:spcPts val="600"/>
              </a:spcAft>
              <a:buSzPct val="50000"/>
              <a:buFont typeface="Wingdings" panose="05000000000000000000" pitchFamily="2" charset="2"/>
              <a:buChar char="l"/>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冗余备份</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fontAlgn="auto">
              <a:lnSpc>
                <a:spcPts val="2400"/>
              </a:lnSpc>
              <a:spcBef>
                <a:spcPts val="0"/>
              </a:spcBef>
              <a:spcAft>
                <a:spcPts val="600"/>
              </a:spcAft>
              <a:buSzPct val="50000"/>
              <a:buFont typeface="Wingdings" panose="05000000000000000000" pitchFamily="2" charset="2"/>
              <a:buChar char="l"/>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负载分担</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fontAlgn="auto">
              <a:lnSpc>
                <a:spcPts val="2400"/>
              </a:lnSpc>
              <a:spcBef>
                <a:spcPts val="0"/>
              </a:spcBef>
              <a:spcAft>
                <a:spcPts val="600"/>
              </a:spcAft>
              <a:buSzPct val="50000"/>
              <a:buFont typeface="Wingdings" panose="05000000000000000000" pitchFamily="2" charset="2"/>
              <a:buChar char="l"/>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联动</a:t>
            </a:r>
          </a:p>
        </p:txBody>
      </p:sp>
      <p:sp>
        <p:nvSpPr>
          <p:cNvPr id="36" name="椭圆 35"/>
          <p:cNvSpPr/>
          <p:nvPr/>
        </p:nvSpPr>
        <p:spPr bwMode="gray">
          <a:xfrm>
            <a:off x="8571177" y="3695053"/>
            <a:ext cx="98315" cy="196631"/>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文本框 36"/>
          <p:cNvSpPr txBox="1"/>
          <p:nvPr/>
        </p:nvSpPr>
        <p:spPr bwMode="invGray">
          <a:xfrm>
            <a:off x="6508441" y="5372107"/>
            <a:ext cx="1771639" cy="276999"/>
          </a:xfrm>
          <a:prstGeom prst="rect">
            <a:avLst/>
          </a:prstGeom>
          <a:noFill/>
        </p:spPr>
        <p:txBody>
          <a:bodyPr wrap="none" rtlCol="0">
            <a:spAutoFit/>
          </a:bodyPr>
          <a:lstStyle/>
          <a:p>
            <a:pPr fontAlgn="auto">
              <a:spcBef>
                <a:spcPts val="0"/>
              </a:spcBef>
              <a:spcAft>
                <a:spcPts val="0"/>
              </a:spcAft>
            </a:pPr>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VLAN11</a:t>
            </a:r>
            <a:r>
              <a:rPr lang="zh-CN" altLang="en-US"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12</a:t>
            </a:r>
            <a:r>
              <a:rPr lang="zh-CN" altLang="en-US"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20</a:t>
            </a:r>
          </a:p>
        </p:txBody>
      </p:sp>
      <p:sp>
        <p:nvSpPr>
          <p:cNvPr id="38" name="Rectangle 91"/>
          <p:cNvSpPr/>
          <p:nvPr/>
        </p:nvSpPr>
        <p:spPr bwMode="gray">
          <a:xfrm>
            <a:off x="5907540" y="1855905"/>
            <a:ext cx="2151930" cy="534185"/>
          </a:xfrm>
          <a:prstGeom prst="rect">
            <a:avLst/>
          </a:prstGeom>
          <a:solidFill>
            <a:schemeClr val="bg1">
              <a:lumMod val="95000"/>
            </a:schemeClr>
          </a:solidFill>
        </p:spPr>
        <p:txBody>
          <a:bodyPr wrap="none">
            <a:noAutofit/>
          </a:bodyPr>
          <a:lstStyle/>
          <a:p>
            <a:pPr algn="ctr">
              <a:lnSpc>
                <a:spcPts val="1800"/>
              </a:lnSpc>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VLANIF11-20  VRRP Master</a:t>
            </a:r>
          </a:p>
          <a:p>
            <a:pPr algn="ctr">
              <a:lnSpc>
                <a:spcPts val="1800"/>
              </a:lnSpc>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VLANIF21-30  VRRP Backup</a:t>
            </a:r>
          </a:p>
        </p:txBody>
      </p:sp>
      <p:sp>
        <p:nvSpPr>
          <p:cNvPr id="39" name="Rectangle 91"/>
          <p:cNvSpPr/>
          <p:nvPr/>
        </p:nvSpPr>
        <p:spPr bwMode="gray">
          <a:xfrm>
            <a:off x="5907540" y="2684430"/>
            <a:ext cx="2151930" cy="537198"/>
          </a:xfrm>
          <a:prstGeom prst="rect">
            <a:avLst/>
          </a:prstGeom>
          <a:solidFill>
            <a:schemeClr val="bg1">
              <a:lumMod val="95000"/>
            </a:schemeClr>
          </a:solidFill>
        </p:spPr>
        <p:txBody>
          <a:bodyPr wrap="none">
            <a:noAutofit/>
          </a:bodyPr>
          <a:lstStyle/>
          <a:p>
            <a:pPr algn="ctr">
              <a:lnSpc>
                <a:spcPts val="1800"/>
              </a:lnSpc>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MSTI10</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主根桥</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ctr">
              <a:lnSpc>
                <a:spcPts val="1800"/>
              </a:lnSpc>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MSTI20</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次根桥</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圆角矩形 39"/>
          <p:cNvSpPr/>
          <p:nvPr/>
        </p:nvSpPr>
        <p:spPr bwMode="gray">
          <a:xfrm>
            <a:off x="5907540" y="2464912"/>
            <a:ext cx="2151930" cy="227059"/>
          </a:xfrm>
          <a:prstGeom prst="roundRect">
            <a:avLst>
              <a:gd name="adj" fmla="val 6529"/>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en-US" altLang="zh-CN" sz="1200" b="1">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MSTP</a:t>
            </a:r>
          </a:p>
        </p:txBody>
      </p:sp>
      <p:sp>
        <p:nvSpPr>
          <p:cNvPr id="41" name="Rectangle 91"/>
          <p:cNvSpPr/>
          <p:nvPr/>
        </p:nvSpPr>
        <p:spPr bwMode="gray">
          <a:xfrm>
            <a:off x="8999465" y="1855905"/>
            <a:ext cx="2151930" cy="534185"/>
          </a:xfrm>
          <a:prstGeom prst="rect">
            <a:avLst/>
          </a:prstGeom>
          <a:solidFill>
            <a:schemeClr val="bg1">
              <a:lumMod val="95000"/>
            </a:schemeClr>
          </a:solidFill>
        </p:spPr>
        <p:txBody>
          <a:bodyPr wrap="none">
            <a:noAutofit/>
          </a:bodyPr>
          <a:lstStyle/>
          <a:p>
            <a:pPr>
              <a:lnSpc>
                <a:spcPts val="1800"/>
              </a:lnSpc>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VLANIF11-20 VRRP Backup</a:t>
            </a:r>
          </a:p>
          <a:p>
            <a:pPr>
              <a:lnSpc>
                <a:spcPts val="1800"/>
              </a:lnSpc>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VLANIF21-30 VRRP Master</a:t>
            </a:r>
          </a:p>
        </p:txBody>
      </p:sp>
      <p:sp>
        <p:nvSpPr>
          <p:cNvPr id="42" name="Rectangle 91"/>
          <p:cNvSpPr/>
          <p:nvPr/>
        </p:nvSpPr>
        <p:spPr bwMode="gray">
          <a:xfrm>
            <a:off x="8999465" y="2684430"/>
            <a:ext cx="2151930" cy="537198"/>
          </a:xfrm>
          <a:prstGeom prst="rect">
            <a:avLst/>
          </a:prstGeom>
          <a:solidFill>
            <a:schemeClr val="bg1">
              <a:lumMod val="95000"/>
            </a:schemeClr>
          </a:solidFill>
        </p:spPr>
        <p:txBody>
          <a:bodyPr wrap="none">
            <a:noAutofit/>
          </a:bodyPr>
          <a:lstStyle/>
          <a:p>
            <a:pPr algn="ctr">
              <a:lnSpc>
                <a:spcPts val="1800"/>
              </a:lnSpc>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MSTI10</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次根桥</a:t>
            </a:r>
          </a:p>
          <a:p>
            <a:pPr algn="ctr">
              <a:lnSpc>
                <a:spcPts val="1800"/>
              </a:lnSpc>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MSTI20</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主根桥</a:t>
            </a:r>
          </a:p>
        </p:txBody>
      </p:sp>
      <p:sp>
        <p:nvSpPr>
          <p:cNvPr id="43" name="圆角矩形 42"/>
          <p:cNvSpPr/>
          <p:nvPr/>
        </p:nvSpPr>
        <p:spPr bwMode="gray">
          <a:xfrm>
            <a:off x="8999465" y="2464912"/>
            <a:ext cx="2151930" cy="227059"/>
          </a:xfrm>
          <a:prstGeom prst="roundRect">
            <a:avLst>
              <a:gd name="adj" fmla="val 6529"/>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en-US" altLang="zh-CN" sz="1200" b="1">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MSTP</a:t>
            </a:r>
          </a:p>
        </p:txBody>
      </p:sp>
      <p:sp>
        <p:nvSpPr>
          <p:cNvPr id="44" name="圆角矩形 43"/>
          <p:cNvSpPr/>
          <p:nvPr/>
        </p:nvSpPr>
        <p:spPr bwMode="gray">
          <a:xfrm>
            <a:off x="5907540" y="1621772"/>
            <a:ext cx="2151930" cy="227059"/>
          </a:xfrm>
          <a:prstGeom prst="roundRect">
            <a:avLst>
              <a:gd name="adj" fmla="val 6529"/>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en-US" altLang="zh-CN" sz="1200" b="1"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VRRP</a:t>
            </a:r>
          </a:p>
        </p:txBody>
      </p:sp>
      <p:sp>
        <p:nvSpPr>
          <p:cNvPr id="45" name="圆角矩形 44"/>
          <p:cNvSpPr/>
          <p:nvPr/>
        </p:nvSpPr>
        <p:spPr bwMode="gray">
          <a:xfrm>
            <a:off x="8999465" y="1621772"/>
            <a:ext cx="2151930" cy="227059"/>
          </a:xfrm>
          <a:prstGeom prst="roundRect">
            <a:avLst>
              <a:gd name="adj" fmla="val 6529"/>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en-US" altLang="zh-CN" sz="1200" b="1">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VRRP</a:t>
            </a:r>
          </a:p>
        </p:txBody>
      </p:sp>
      <p:pic>
        <p:nvPicPr>
          <p:cNvPr id="46" name="图片 11" descr="开放网络-蓝.png"/>
          <p:cNvPicPr>
            <a:picLocks noChangeAspect="1"/>
          </p:cNvPicPr>
          <p:nvPr/>
        </p:nvPicPr>
        <p:blipFill>
          <a:blip r:embed="rId6" cstate="print"/>
          <a:stretch>
            <a:fillRect/>
          </a:stretch>
        </p:blipFill>
        <p:spPr bwMode="gray">
          <a:xfrm>
            <a:off x="8404930" y="5314678"/>
            <a:ext cx="445956" cy="343290"/>
          </a:xfrm>
          <a:prstGeom prst="rect">
            <a:avLst/>
          </a:prstGeom>
        </p:spPr>
      </p:pic>
      <p:sp>
        <p:nvSpPr>
          <p:cNvPr id="47" name="文本框 46"/>
          <p:cNvSpPr txBox="1"/>
          <p:nvPr/>
        </p:nvSpPr>
        <p:spPr bwMode="gray">
          <a:xfrm>
            <a:off x="8968955" y="5372107"/>
            <a:ext cx="1771639" cy="276999"/>
          </a:xfrm>
          <a:prstGeom prst="rect">
            <a:avLst/>
          </a:prstGeom>
          <a:noFill/>
        </p:spPr>
        <p:txBody>
          <a:bodyPr wrap="none" rtlCol="0">
            <a:spAutoFit/>
          </a:bodyPr>
          <a:lstStyle/>
          <a:p>
            <a:pPr fontAlgn="auto">
              <a:spcBef>
                <a:spcPts val="0"/>
              </a:spcBef>
              <a:spcAft>
                <a:spcPts val="0"/>
              </a:spcAft>
            </a:pPr>
            <a:r>
              <a:rPr lang="en-US" altLang="zh-CN" sz="1200" dirty="0">
                <a:solidFill>
                  <a:srgbClr val="62B230"/>
                </a:solidFill>
                <a:latin typeface="Huawei Sans" panose="020C0503030203020204" pitchFamily="34" charset="0"/>
                <a:ea typeface="方正兰亭黑简体" panose="02000000000000000000" pitchFamily="2" charset="-122"/>
                <a:sym typeface="Huawei Sans" panose="020C0503030203020204" pitchFamily="34" charset="0"/>
              </a:rPr>
              <a:t>VLAN21</a:t>
            </a:r>
            <a:r>
              <a:rPr lang="zh-CN" altLang="en-US" sz="1200" dirty="0">
                <a:solidFill>
                  <a:srgbClr val="62B230"/>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solidFill>
                  <a:srgbClr val="62B230"/>
                </a:solidFill>
                <a:latin typeface="Huawei Sans" panose="020C0503030203020204" pitchFamily="34" charset="0"/>
                <a:ea typeface="方正兰亭黑简体" panose="02000000000000000000" pitchFamily="2" charset="-122"/>
                <a:sym typeface="Huawei Sans" panose="020C0503030203020204" pitchFamily="34" charset="0"/>
              </a:rPr>
              <a:t>12</a:t>
            </a:r>
            <a:r>
              <a:rPr lang="zh-CN" altLang="en-US" sz="1200" dirty="0">
                <a:solidFill>
                  <a:srgbClr val="62B230"/>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solidFill>
                  <a:srgbClr val="62B230"/>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dirty="0">
                <a:solidFill>
                  <a:srgbClr val="62B230"/>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solidFill>
                  <a:srgbClr val="62B230"/>
                </a:solidFill>
                <a:latin typeface="Huawei Sans" panose="020C0503030203020204" pitchFamily="34" charset="0"/>
                <a:ea typeface="方正兰亭黑简体" panose="02000000000000000000" pitchFamily="2" charset="-122"/>
                <a:sym typeface="Huawei Sans" panose="020C0503030203020204" pitchFamily="34" charset="0"/>
              </a:rPr>
              <a:t>30</a:t>
            </a:r>
          </a:p>
        </p:txBody>
      </p:sp>
      <p:sp>
        <p:nvSpPr>
          <p:cNvPr id="48" name="任意多边形 47"/>
          <p:cNvSpPr/>
          <p:nvPr/>
        </p:nvSpPr>
        <p:spPr bwMode="invGray">
          <a:xfrm>
            <a:off x="7619282" y="3273482"/>
            <a:ext cx="628891" cy="2074589"/>
          </a:xfrm>
          <a:custGeom>
            <a:avLst/>
            <a:gdLst>
              <a:gd name="connsiteX0" fmla="*/ 0 w 1049867"/>
              <a:gd name="connsiteY0" fmla="*/ 3810000 h 3810000"/>
              <a:gd name="connsiteX1" fmla="*/ 1049867 w 1049867"/>
              <a:gd name="connsiteY1" fmla="*/ 0 h 3810000"/>
              <a:gd name="connsiteX0" fmla="*/ 0 w 1024467"/>
              <a:gd name="connsiteY0" fmla="*/ 3937000 h 3937000"/>
              <a:gd name="connsiteX1" fmla="*/ 1024467 w 1024467"/>
              <a:gd name="connsiteY1" fmla="*/ 0 h 3937000"/>
              <a:gd name="connsiteX0" fmla="*/ 117368 w 1141835"/>
              <a:gd name="connsiteY0" fmla="*/ 3937000 h 3937000"/>
              <a:gd name="connsiteX1" fmla="*/ 1141835 w 1141835"/>
              <a:gd name="connsiteY1" fmla="*/ 0 h 3937000"/>
              <a:gd name="connsiteX0" fmla="*/ 0 w 1024467"/>
              <a:gd name="connsiteY0" fmla="*/ 3937000 h 3937000"/>
              <a:gd name="connsiteX1" fmla="*/ 965200 w 1024467"/>
              <a:gd name="connsiteY1" fmla="*/ 1744134 h 3937000"/>
              <a:gd name="connsiteX2" fmla="*/ 1024467 w 1024467"/>
              <a:gd name="connsiteY2" fmla="*/ 0 h 3937000"/>
              <a:gd name="connsiteX0" fmla="*/ 0 w 1269860"/>
              <a:gd name="connsiteY0" fmla="*/ 3937000 h 3937000"/>
              <a:gd name="connsiteX1" fmla="*/ 965200 w 1269860"/>
              <a:gd name="connsiteY1" fmla="*/ 1744134 h 3937000"/>
              <a:gd name="connsiteX2" fmla="*/ 1024467 w 1269860"/>
              <a:gd name="connsiteY2" fmla="*/ 0 h 3937000"/>
              <a:gd name="connsiteX0" fmla="*/ 0 w 1024467"/>
              <a:gd name="connsiteY0" fmla="*/ 3937000 h 3937000"/>
              <a:gd name="connsiteX1" fmla="*/ 965200 w 1024467"/>
              <a:gd name="connsiteY1" fmla="*/ 1744134 h 3937000"/>
              <a:gd name="connsiteX2" fmla="*/ 1024467 w 1024467"/>
              <a:gd name="connsiteY2" fmla="*/ 0 h 3937000"/>
              <a:gd name="connsiteX0" fmla="*/ 0 w 1024467"/>
              <a:gd name="connsiteY0" fmla="*/ 3937000 h 3937000"/>
              <a:gd name="connsiteX1" fmla="*/ 753533 w 1024467"/>
              <a:gd name="connsiteY1" fmla="*/ 2717801 h 3937000"/>
              <a:gd name="connsiteX2" fmla="*/ 1024467 w 1024467"/>
              <a:gd name="connsiteY2" fmla="*/ 0 h 3937000"/>
              <a:gd name="connsiteX0" fmla="*/ 157561 w 1182028"/>
              <a:gd name="connsiteY0" fmla="*/ 3937000 h 3937000"/>
              <a:gd name="connsiteX1" fmla="*/ 911094 w 1182028"/>
              <a:gd name="connsiteY1" fmla="*/ 2717801 h 3937000"/>
              <a:gd name="connsiteX2" fmla="*/ 1182028 w 1182028"/>
              <a:gd name="connsiteY2" fmla="*/ 0 h 3937000"/>
              <a:gd name="connsiteX0" fmla="*/ 170306 w 1194773"/>
              <a:gd name="connsiteY0" fmla="*/ 3937000 h 3937000"/>
              <a:gd name="connsiteX1" fmla="*/ 923839 w 1194773"/>
              <a:gd name="connsiteY1" fmla="*/ 2717801 h 3937000"/>
              <a:gd name="connsiteX2" fmla="*/ 1194773 w 1194773"/>
              <a:gd name="connsiteY2" fmla="*/ 0 h 3937000"/>
              <a:gd name="connsiteX0" fmla="*/ 163990 w 1188457"/>
              <a:gd name="connsiteY0" fmla="*/ 3937000 h 3937000"/>
              <a:gd name="connsiteX1" fmla="*/ 985256 w 1188457"/>
              <a:gd name="connsiteY1" fmla="*/ 2472268 h 3937000"/>
              <a:gd name="connsiteX2" fmla="*/ 1188457 w 1188457"/>
              <a:gd name="connsiteY2" fmla="*/ 0 h 3937000"/>
              <a:gd name="connsiteX0" fmla="*/ 168682 w 1193149"/>
              <a:gd name="connsiteY0" fmla="*/ 3937000 h 3937000"/>
              <a:gd name="connsiteX1" fmla="*/ 939148 w 1193149"/>
              <a:gd name="connsiteY1" fmla="*/ 2379135 h 3937000"/>
              <a:gd name="connsiteX2" fmla="*/ 1193149 w 1193149"/>
              <a:gd name="connsiteY2" fmla="*/ 0 h 3937000"/>
              <a:gd name="connsiteX0" fmla="*/ 168682 w 1193149"/>
              <a:gd name="connsiteY0" fmla="*/ 3937000 h 3937000"/>
              <a:gd name="connsiteX1" fmla="*/ 939148 w 1193149"/>
              <a:gd name="connsiteY1" fmla="*/ 2379135 h 3937000"/>
              <a:gd name="connsiteX2" fmla="*/ 1193149 w 1193149"/>
              <a:gd name="connsiteY2" fmla="*/ 0 h 3937000"/>
              <a:gd name="connsiteX0" fmla="*/ 168682 w 1193149"/>
              <a:gd name="connsiteY0" fmla="*/ 3937000 h 3937000"/>
              <a:gd name="connsiteX1" fmla="*/ 939148 w 1193149"/>
              <a:gd name="connsiteY1" fmla="*/ 2379135 h 3937000"/>
              <a:gd name="connsiteX2" fmla="*/ 1193149 w 1193149"/>
              <a:gd name="connsiteY2" fmla="*/ 0 h 3937000"/>
              <a:gd name="connsiteX0" fmla="*/ 156026 w 1180493"/>
              <a:gd name="connsiteY0" fmla="*/ 3937000 h 3937000"/>
              <a:gd name="connsiteX1" fmla="*/ 1070426 w 1180493"/>
              <a:gd name="connsiteY1" fmla="*/ 2489201 h 3937000"/>
              <a:gd name="connsiteX2" fmla="*/ 1180493 w 1180493"/>
              <a:gd name="connsiteY2" fmla="*/ 0 h 3937000"/>
              <a:gd name="connsiteX0" fmla="*/ 163523 w 1154123"/>
              <a:gd name="connsiteY0" fmla="*/ 3810000 h 3810000"/>
              <a:gd name="connsiteX1" fmla="*/ 1077923 w 1154123"/>
              <a:gd name="connsiteY1" fmla="*/ 2362201 h 3810000"/>
              <a:gd name="connsiteX2" fmla="*/ 1154123 w 1154123"/>
              <a:gd name="connsiteY2" fmla="*/ 0 h 3810000"/>
              <a:gd name="connsiteX0" fmla="*/ 163593 w 1159273"/>
              <a:gd name="connsiteY0" fmla="*/ 3855720 h 3855720"/>
              <a:gd name="connsiteX1" fmla="*/ 1077993 w 1159273"/>
              <a:gd name="connsiteY1" fmla="*/ 2407921 h 3855720"/>
              <a:gd name="connsiteX2" fmla="*/ 1159273 w 1159273"/>
              <a:gd name="connsiteY2" fmla="*/ 0 h 3855720"/>
              <a:gd name="connsiteX0" fmla="*/ 163593 w 1165970"/>
              <a:gd name="connsiteY0" fmla="*/ 3855720 h 3855720"/>
              <a:gd name="connsiteX1" fmla="*/ 1077993 w 1165970"/>
              <a:gd name="connsiteY1" fmla="*/ 2407921 h 3855720"/>
              <a:gd name="connsiteX2" fmla="*/ 1159273 w 1165970"/>
              <a:gd name="connsiteY2" fmla="*/ 0 h 3855720"/>
              <a:gd name="connsiteX0" fmla="*/ 166352 w 1162032"/>
              <a:gd name="connsiteY0" fmla="*/ 3855720 h 3855720"/>
              <a:gd name="connsiteX1" fmla="*/ 1050272 w 1162032"/>
              <a:gd name="connsiteY1" fmla="*/ 2458721 h 3855720"/>
              <a:gd name="connsiteX2" fmla="*/ 1162032 w 1162032"/>
              <a:gd name="connsiteY2" fmla="*/ 0 h 3855720"/>
              <a:gd name="connsiteX0" fmla="*/ 168242 w 1163922"/>
              <a:gd name="connsiteY0" fmla="*/ 3855720 h 3855720"/>
              <a:gd name="connsiteX1" fmla="*/ 1031842 w 1163922"/>
              <a:gd name="connsiteY1" fmla="*/ 2448561 h 3855720"/>
              <a:gd name="connsiteX2" fmla="*/ 1163922 w 1163922"/>
              <a:gd name="connsiteY2" fmla="*/ 0 h 3855720"/>
              <a:gd name="connsiteX0" fmla="*/ 161821 w 1157501"/>
              <a:gd name="connsiteY0" fmla="*/ 3855720 h 3855720"/>
              <a:gd name="connsiteX1" fmla="*/ 1025421 w 1157501"/>
              <a:gd name="connsiteY1" fmla="*/ 2448561 h 3855720"/>
              <a:gd name="connsiteX2" fmla="*/ 1157501 w 1157501"/>
              <a:gd name="connsiteY2" fmla="*/ 0 h 3855720"/>
              <a:gd name="connsiteX0" fmla="*/ 156660 w 1152340"/>
              <a:gd name="connsiteY0" fmla="*/ 3855720 h 3855720"/>
              <a:gd name="connsiteX1" fmla="*/ 1081220 w 1152340"/>
              <a:gd name="connsiteY1" fmla="*/ 2453641 h 3855720"/>
              <a:gd name="connsiteX2" fmla="*/ 1152340 w 1152340"/>
              <a:gd name="connsiteY2" fmla="*/ 0 h 3855720"/>
              <a:gd name="connsiteX0" fmla="*/ 154738 w 1150418"/>
              <a:gd name="connsiteY0" fmla="*/ 3855720 h 3855720"/>
              <a:gd name="connsiteX1" fmla="*/ 1079298 w 1150418"/>
              <a:gd name="connsiteY1" fmla="*/ 2453641 h 3855720"/>
              <a:gd name="connsiteX2" fmla="*/ 1150418 w 1150418"/>
              <a:gd name="connsiteY2" fmla="*/ 0 h 3855720"/>
              <a:gd name="connsiteX0" fmla="*/ 151160 w 1147097"/>
              <a:gd name="connsiteY0" fmla="*/ 3855720 h 3855720"/>
              <a:gd name="connsiteX1" fmla="*/ 1121440 w 1147097"/>
              <a:gd name="connsiteY1" fmla="*/ 2428241 h 3855720"/>
              <a:gd name="connsiteX2" fmla="*/ 1146840 w 1147097"/>
              <a:gd name="connsiteY2" fmla="*/ 0 h 3855720"/>
              <a:gd name="connsiteX0" fmla="*/ 149718 w 1145398"/>
              <a:gd name="connsiteY0" fmla="*/ 3855720 h 3855720"/>
              <a:gd name="connsiteX1" fmla="*/ 1119998 w 1145398"/>
              <a:gd name="connsiteY1" fmla="*/ 2428241 h 3855720"/>
              <a:gd name="connsiteX2" fmla="*/ 1145398 w 1145398"/>
              <a:gd name="connsiteY2" fmla="*/ 0 h 3855720"/>
              <a:gd name="connsiteX0" fmla="*/ 149718 w 1152345"/>
              <a:gd name="connsiteY0" fmla="*/ 3855720 h 3855720"/>
              <a:gd name="connsiteX1" fmla="*/ 1119998 w 1152345"/>
              <a:gd name="connsiteY1" fmla="*/ 2428241 h 3855720"/>
              <a:gd name="connsiteX2" fmla="*/ 1145398 w 1152345"/>
              <a:gd name="connsiteY2" fmla="*/ 0 h 3855720"/>
              <a:gd name="connsiteX0" fmla="*/ 149718 w 1172319"/>
              <a:gd name="connsiteY0" fmla="*/ 3855720 h 3855720"/>
              <a:gd name="connsiteX1" fmla="*/ 1119998 w 1172319"/>
              <a:gd name="connsiteY1" fmla="*/ 2428241 h 3855720"/>
              <a:gd name="connsiteX2" fmla="*/ 1145398 w 1172319"/>
              <a:gd name="connsiteY2" fmla="*/ 0 h 3855720"/>
              <a:gd name="connsiteX0" fmla="*/ 149718 w 1156697"/>
              <a:gd name="connsiteY0" fmla="*/ 3855720 h 3855720"/>
              <a:gd name="connsiteX1" fmla="*/ 1119998 w 1156697"/>
              <a:gd name="connsiteY1" fmla="*/ 2428241 h 3855720"/>
              <a:gd name="connsiteX2" fmla="*/ 1145398 w 1156697"/>
              <a:gd name="connsiteY2" fmla="*/ 0 h 3855720"/>
              <a:gd name="connsiteX0" fmla="*/ 148301 w 1150763"/>
              <a:gd name="connsiteY0" fmla="*/ 3855720 h 3855720"/>
              <a:gd name="connsiteX1" fmla="*/ 1118581 w 1150763"/>
              <a:gd name="connsiteY1" fmla="*/ 2428241 h 3855720"/>
              <a:gd name="connsiteX2" fmla="*/ 1143981 w 1150763"/>
              <a:gd name="connsiteY2" fmla="*/ 0 h 3855720"/>
              <a:gd name="connsiteX0" fmla="*/ 146565 w 1146322"/>
              <a:gd name="connsiteY0" fmla="*/ 3855720 h 3855720"/>
              <a:gd name="connsiteX1" fmla="*/ 1116845 w 1146322"/>
              <a:gd name="connsiteY1" fmla="*/ 2428241 h 3855720"/>
              <a:gd name="connsiteX2" fmla="*/ 1142245 w 1146322"/>
              <a:gd name="connsiteY2" fmla="*/ 0 h 3855720"/>
              <a:gd name="connsiteX0" fmla="*/ 158367 w 1202774"/>
              <a:gd name="connsiteY0" fmla="*/ 3855720 h 3855720"/>
              <a:gd name="connsiteX1" fmla="*/ 1128647 w 1202774"/>
              <a:gd name="connsiteY1" fmla="*/ 2428241 h 3855720"/>
              <a:gd name="connsiteX2" fmla="*/ 1123567 w 1202774"/>
              <a:gd name="connsiteY2" fmla="*/ 0 h 3855720"/>
              <a:gd name="connsiteX0" fmla="*/ 147602 w 1127100"/>
              <a:gd name="connsiteY0" fmla="*/ 3855720 h 3855720"/>
              <a:gd name="connsiteX1" fmla="*/ 1117882 w 1127100"/>
              <a:gd name="connsiteY1" fmla="*/ 2428241 h 3855720"/>
              <a:gd name="connsiteX2" fmla="*/ 1112802 w 1127100"/>
              <a:gd name="connsiteY2" fmla="*/ 0 h 3855720"/>
              <a:gd name="connsiteX0" fmla="*/ 148300 w 1132075"/>
              <a:gd name="connsiteY0" fmla="*/ 3855720 h 3855720"/>
              <a:gd name="connsiteX1" fmla="*/ 1118580 w 1132075"/>
              <a:gd name="connsiteY1" fmla="*/ 2428241 h 3855720"/>
              <a:gd name="connsiteX2" fmla="*/ 1113500 w 1132075"/>
              <a:gd name="connsiteY2" fmla="*/ 0 h 3855720"/>
              <a:gd name="connsiteX0" fmla="*/ 124092 w 1107867"/>
              <a:gd name="connsiteY0" fmla="*/ 3855720 h 3855720"/>
              <a:gd name="connsiteX1" fmla="*/ 1094372 w 1107867"/>
              <a:gd name="connsiteY1" fmla="*/ 2428241 h 3855720"/>
              <a:gd name="connsiteX2" fmla="*/ 1089292 w 1107867"/>
              <a:gd name="connsiteY2" fmla="*/ 0 h 3855720"/>
              <a:gd name="connsiteX0" fmla="*/ 115681 w 1099456"/>
              <a:gd name="connsiteY0" fmla="*/ 3855720 h 3855720"/>
              <a:gd name="connsiteX1" fmla="*/ 1085961 w 1099456"/>
              <a:gd name="connsiteY1" fmla="*/ 2428241 h 3855720"/>
              <a:gd name="connsiteX2" fmla="*/ 1080881 w 1099456"/>
              <a:gd name="connsiteY2" fmla="*/ 0 h 3855720"/>
              <a:gd name="connsiteX0" fmla="*/ 468786 w 1452561"/>
              <a:gd name="connsiteY0" fmla="*/ 3855720 h 3855720"/>
              <a:gd name="connsiteX1" fmla="*/ 1439066 w 1452561"/>
              <a:gd name="connsiteY1" fmla="*/ 2428241 h 3855720"/>
              <a:gd name="connsiteX2" fmla="*/ 1433986 w 1452561"/>
              <a:gd name="connsiteY2" fmla="*/ 0 h 3855720"/>
              <a:gd name="connsiteX0" fmla="*/ 547411 w 1513076"/>
              <a:gd name="connsiteY0" fmla="*/ 3855720 h 3855720"/>
              <a:gd name="connsiteX1" fmla="*/ 1024931 w 1513076"/>
              <a:gd name="connsiteY1" fmla="*/ 2336801 h 3855720"/>
              <a:gd name="connsiteX2" fmla="*/ 1512611 w 1513076"/>
              <a:gd name="connsiteY2" fmla="*/ 0 h 3855720"/>
              <a:gd name="connsiteX0" fmla="*/ 539271 w 1504471"/>
              <a:gd name="connsiteY0" fmla="*/ 3855720 h 3855720"/>
              <a:gd name="connsiteX1" fmla="*/ 1016791 w 1504471"/>
              <a:gd name="connsiteY1" fmla="*/ 2336801 h 3855720"/>
              <a:gd name="connsiteX2" fmla="*/ 381855 w 1504471"/>
              <a:gd name="connsiteY2" fmla="*/ 1427480 h 3855720"/>
              <a:gd name="connsiteX3" fmla="*/ 1504471 w 1504471"/>
              <a:gd name="connsiteY3" fmla="*/ 0 h 3855720"/>
              <a:gd name="connsiteX0" fmla="*/ 539271 w 1504471"/>
              <a:gd name="connsiteY0" fmla="*/ 3855720 h 3855720"/>
              <a:gd name="connsiteX1" fmla="*/ 1016791 w 1504471"/>
              <a:gd name="connsiteY1" fmla="*/ 2336801 h 3855720"/>
              <a:gd name="connsiteX2" fmla="*/ 381855 w 1504471"/>
              <a:gd name="connsiteY2" fmla="*/ 1427480 h 3855720"/>
              <a:gd name="connsiteX3" fmla="*/ 1504471 w 1504471"/>
              <a:gd name="connsiteY3" fmla="*/ 0 h 3855720"/>
              <a:gd name="connsiteX0" fmla="*/ 380217 w 1345417"/>
              <a:gd name="connsiteY0" fmla="*/ 3855720 h 3855720"/>
              <a:gd name="connsiteX1" fmla="*/ 857737 w 1345417"/>
              <a:gd name="connsiteY1" fmla="*/ 2336801 h 3855720"/>
              <a:gd name="connsiteX2" fmla="*/ 222801 w 1345417"/>
              <a:gd name="connsiteY2" fmla="*/ 1427480 h 3855720"/>
              <a:gd name="connsiteX3" fmla="*/ 1345417 w 1345417"/>
              <a:gd name="connsiteY3" fmla="*/ 0 h 3855720"/>
              <a:gd name="connsiteX0" fmla="*/ 380217 w 1345417"/>
              <a:gd name="connsiteY0" fmla="*/ 3855720 h 3855720"/>
              <a:gd name="connsiteX1" fmla="*/ 857737 w 1345417"/>
              <a:gd name="connsiteY1" fmla="*/ 2336801 h 3855720"/>
              <a:gd name="connsiteX2" fmla="*/ 222801 w 1345417"/>
              <a:gd name="connsiteY2" fmla="*/ 1427480 h 3855720"/>
              <a:gd name="connsiteX3" fmla="*/ 1345417 w 1345417"/>
              <a:gd name="connsiteY3" fmla="*/ 0 h 3855720"/>
              <a:gd name="connsiteX0" fmla="*/ 382817 w 1348017"/>
              <a:gd name="connsiteY0" fmla="*/ 3855720 h 3855720"/>
              <a:gd name="connsiteX1" fmla="*/ 860337 w 1348017"/>
              <a:gd name="connsiteY1" fmla="*/ 2336801 h 3855720"/>
              <a:gd name="connsiteX2" fmla="*/ 332081 w 1348017"/>
              <a:gd name="connsiteY2" fmla="*/ 1391920 h 3855720"/>
              <a:gd name="connsiteX3" fmla="*/ 1348017 w 1348017"/>
              <a:gd name="connsiteY3" fmla="*/ 0 h 3855720"/>
              <a:gd name="connsiteX0" fmla="*/ 382817 w 1348218"/>
              <a:gd name="connsiteY0" fmla="*/ 3855720 h 3855720"/>
              <a:gd name="connsiteX1" fmla="*/ 860337 w 1348218"/>
              <a:gd name="connsiteY1" fmla="*/ 2336801 h 3855720"/>
              <a:gd name="connsiteX2" fmla="*/ 332081 w 1348218"/>
              <a:gd name="connsiteY2" fmla="*/ 1391920 h 3855720"/>
              <a:gd name="connsiteX3" fmla="*/ 1348017 w 1348218"/>
              <a:gd name="connsiteY3" fmla="*/ 0 h 3855720"/>
              <a:gd name="connsiteX0" fmla="*/ 388878 w 1354279"/>
              <a:gd name="connsiteY0" fmla="*/ 3855720 h 3855720"/>
              <a:gd name="connsiteX1" fmla="*/ 866398 w 1354279"/>
              <a:gd name="connsiteY1" fmla="*/ 2336801 h 3855720"/>
              <a:gd name="connsiteX2" fmla="*/ 338142 w 1354279"/>
              <a:gd name="connsiteY2" fmla="*/ 1391920 h 3855720"/>
              <a:gd name="connsiteX3" fmla="*/ 1354078 w 1354279"/>
              <a:gd name="connsiteY3" fmla="*/ 0 h 3855720"/>
              <a:gd name="connsiteX0" fmla="*/ 391192 w 1356593"/>
              <a:gd name="connsiteY0" fmla="*/ 3855720 h 3855720"/>
              <a:gd name="connsiteX1" fmla="*/ 868712 w 1356593"/>
              <a:gd name="connsiteY1" fmla="*/ 2336801 h 3855720"/>
              <a:gd name="connsiteX2" fmla="*/ 340456 w 1356593"/>
              <a:gd name="connsiteY2" fmla="*/ 1391920 h 3855720"/>
              <a:gd name="connsiteX3" fmla="*/ 1356392 w 1356593"/>
              <a:gd name="connsiteY3" fmla="*/ 0 h 3855720"/>
              <a:gd name="connsiteX0" fmla="*/ 391192 w 1356571"/>
              <a:gd name="connsiteY0" fmla="*/ 3855720 h 3855720"/>
              <a:gd name="connsiteX1" fmla="*/ 868712 w 1356571"/>
              <a:gd name="connsiteY1" fmla="*/ 2336801 h 3855720"/>
              <a:gd name="connsiteX2" fmla="*/ 340456 w 1356571"/>
              <a:gd name="connsiteY2" fmla="*/ 1391920 h 3855720"/>
              <a:gd name="connsiteX3" fmla="*/ 1356392 w 1356571"/>
              <a:gd name="connsiteY3" fmla="*/ 0 h 3855720"/>
              <a:gd name="connsiteX0" fmla="*/ 391192 w 1356562"/>
              <a:gd name="connsiteY0" fmla="*/ 3855720 h 3855720"/>
              <a:gd name="connsiteX1" fmla="*/ 868712 w 1356562"/>
              <a:gd name="connsiteY1" fmla="*/ 2336801 h 3855720"/>
              <a:gd name="connsiteX2" fmla="*/ 340456 w 1356562"/>
              <a:gd name="connsiteY2" fmla="*/ 1391920 h 3855720"/>
              <a:gd name="connsiteX3" fmla="*/ 1356392 w 1356562"/>
              <a:gd name="connsiteY3" fmla="*/ 0 h 3855720"/>
              <a:gd name="connsiteX0" fmla="*/ 391192 w 1356588"/>
              <a:gd name="connsiteY0" fmla="*/ 3855720 h 3855720"/>
              <a:gd name="connsiteX1" fmla="*/ 868712 w 1356588"/>
              <a:gd name="connsiteY1" fmla="*/ 2336801 h 3855720"/>
              <a:gd name="connsiteX2" fmla="*/ 340456 w 1356588"/>
              <a:gd name="connsiteY2" fmla="*/ 1391920 h 3855720"/>
              <a:gd name="connsiteX3" fmla="*/ 1356392 w 1356588"/>
              <a:gd name="connsiteY3" fmla="*/ 0 h 3855720"/>
              <a:gd name="connsiteX0" fmla="*/ 408622 w 1374018"/>
              <a:gd name="connsiteY0" fmla="*/ 3855720 h 3855720"/>
              <a:gd name="connsiteX1" fmla="*/ 886142 w 1374018"/>
              <a:gd name="connsiteY1" fmla="*/ 2336801 h 3855720"/>
              <a:gd name="connsiteX2" fmla="*/ 357886 w 1374018"/>
              <a:gd name="connsiteY2" fmla="*/ 1391920 h 3855720"/>
              <a:gd name="connsiteX3" fmla="*/ 1373822 w 1374018"/>
              <a:gd name="connsiteY3" fmla="*/ 0 h 3855720"/>
              <a:gd name="connsiteX0" fmla="*/ 408622 w 887574"/>
              <a:gd name="connsiteY0" fmla="*/ 2463800 h 2463800"/>
              <a:gd name="connsiteX1" fmla="*/ 886142 w 887574"/>
              <a:gd name="connsiteY1" fmla="*/ 944881 h 2463800"/>
              <a:gd name="connsiteX2" fmla="*/ 357886 w 887574"/>
              <a:gd name="connsiteY2" fmla="*/ 0 h 2463800"/>
              <a:gd name="connsiteX0" fmla="*/ 408622 w 891748"/>
              <a:gd name="connsiteY0" fmla="*/ 2463800 h 2463800"/>
              <a:gd name="connsiteX1" fmla="*/ 886142 w 891748"/>
              <a:gd name="connsiteY1" fmla="*/ 944881 h 2463800"/>
              <a:gd name="connsiteX2" fmla="*/ 357886 w 891748"/>
              <a:gd name="connsiteY2" fmla="*/ 0 h 2463800"/>
              <a:gd name="connsiteX0" fmla="*/ 395865 w 874014"/>
              <a:gd name="connsiteY0" fmla="*/ 2299970 h 2299970"/>
              <a:gd name="connsiteX1" fmla="*/ 873385 w 874014"/>
              <a:gd name="connsiteY1" fmla="*/ 781051 h 2299970"/>
              <a:gd name="connsiteX2" fmla="*/ 171774 w 874014"/>
              <a:gd name="connsiteY2" fmla="*/ 0 h 2299970"/>
              <a:gd name="connsiteX0" fmla="*/ 395865 w 874014"/>
              <a:gd name="connsiteY0" fmla="*/ 2299970 h 2299970"/>
              <a:gd name="connsiteX1" fmla="*/ 873385 w 874014"/>
              <a:gd name="connsiteY1" fmla="*/ 781051 h 2299970"/>
              <a:gd name="connsiteX2" fmla="*/ 171774 w 874014"/>
              <a:gd name="connsiteY2" fmla="*/ 0 h 2299970"/>
              <a:gd name="connsiteX0" fmla="*/ 406521 w 885956"/>
              <a:gd name="connsiteY0" fmla="*/ 2299970 h 2299970"/>
              <a:gd name="connsiteX1" fmla="*/ 884041 w 885956"/>
              <a:gd name="connsiteY1" fmla="*/ 781051 h 2299970"/>
              <a:gd name="connsiteX2" fmla="*/ 182430 w 885956"/>
              <a:gd name="connsiteY2" fmla="*/ 0 h 2299970"/>
              <a:gd name="connsiteX0" fmla="*/ 362011 w 841446"/>
              <a:gd name="connsiteY0" fmla="*/ 2299970 h 2299970"/>
              <a:gd name="connsiteX1" fmla="*/ 839531 w 841446"/>
              <a:gd name="connsiteY1" fmla="*/ 781051 h 2299970"/>
              <a:gd name="connsiteX2" fmla="*/ 137920 w 841446"/>
              <a:gd name="connsiteY2" fmla="*/ 0 h 2299970"/>
              <a:gd name="connsiteX0" fmla="*/ 366252 w 820402"/>
              <a:gd name="connsiteY0" fmla="*/ 2299970 h 2299970"/>
              <a:gd name="connsiteX1" fmla="*/ 818372 w 820402"/>
              <a:gd name="connsiteY1" fmla="*/ 806451 h 2299970"/>
              <a:gd name="connsiteX2" fmla="*/ 142161 w 820402"/>
              <a:gd name="connsiteY2" fmla="*/ 0 h 2299970"/>
              <a:gd name="connsiteX0" fmla="*/ 352903 w 806599"/>
              <a:gd name="connsiteY0" fmla="*/ 2383790 h 2383790"/>
              <a:gd name="connsiteX1" fmla="*/ 805023 w 806599"/>
              <a:gd name="connsiteY1" fmla="*/ 890271 h 2383790"/>
              <a:gd name="connsiteX2" fmla="*/ 8797 w 806599"/>
              <a:gd name="connsiteY2" fmla="*/ 0 h 2383790"/>
              <a:gd name="connsiteX0" fmla="*/ 366300 w 820031"/>
              <a:gd name="connsiteY0" fmla="*/ 2383790 h 2383790"/>
              <a:gd name="connsiteX1" fmla="*/ 818420 w 820031"/>
              <a:gd name="connsiteY1" fmla="*/ 890271 h 2383790"/>
              <a:gd name="connsiteX2" fmla="*/ 22194 w 820031"/>
              <a:gd name="connsiteY2" fmla="*/ 0 h 2383790"/>
              <a:gd name="connsiteX0" fmla="*/ 366013 w 819578"/>
              <a:gd name="connsiteY0" fmla="*/ 2383790 h 2383790"/>
              <a:gd name="connsiteX1" fmla="*/ 818133 w 819578"/>
              <a:gd name="connsiteY1" fmla="*/ 890271 h 2383790"/>
              <a:gd name="connsiteX2" fmla="*/ 21907 w 819578"/>
              <a:gd name="connsiteY2" fmla="*/ 0 h 2383790"/>
              <a:gd name="connsiteX0" fmla="*/ 796226 w 797671"/>
              <a:gd name="connsiteY0" fmla="*/ 890271 h 890271"/>
              <a:gd name="connsiteX1" fmla="*/ 0 w 797671"/>
              <a:gd name="connsiteY1" fmla="*/ 0 h 890271"/>
              <a:gd name="connsiteX0" fmla="*/ 0 w 1479565"/>
              <a:gd name="connsiteY0" fmla="*/ 157637 h 235841"/>
              <a:gd name="connsiteX1" fmla="*/ 1441006 w 1479565"/>
              <a:gd name="connsiteY1" fmla="*/ 200054 h 235841"/>
              <a:gd name="connsiteX0" fmla="*/ 0 w 1501674"/>
              <a:gd name="connsiteY0" fmla="*/ 5126 h 117156"/>
              <a:gd name="connsiteX1" fmla="*/ 1441006 w 1501674"/>
              <a:gd name="connsiteY1" fmla="*/ 47543 h 117156"/>
              <a:gd name="connsiteX0" fmla="*/ 0 w 1055450"/>
              <a:gd name="connsiteY0" fmla="*/ 1134111 h 1134111"/>
              <a:gd name="connsiteX1" fmla="*/ 959422 w 1055450"/>
              <a:gd name="connsiteY1" fmla="*/ 0 h 1134111"/>
              <a:gd name="connsiteX0" fmla="*/ 0 w 959422"/>
              <a:gd name="connsiteY0" fmla="*/ 1134111 h 1134111"/>
              <a:gd name="connsiteX1" fmla="*/ 959422 w 959422"/>
              <a:gd name="connsiteY1" fmla="*/ 0 h 1134111"/>
              <a:gd name="connsiteX0" fmla="*/ 0 w 966476"/>
              <a:gd name="connsiteY0" fmla="*/ 1134111 h 1134111"/>
              <a:gd name="connsiteX1" fmla="*/ 959422 w 966476"/>
              <a:gd name="connsiteY1" fmla="*/ 0 h 1134111"/>
              <a:gd name="connsiteX0" fmla="*/ 0 w 953065"/>
              <a:gd name="connsiteY0" fmla="*/ 1542543 h 1542543"/>
              <a:gd name="connsiteX1" fmla="*/ 941134 w 953065"/>
              <a:gd name="connsiteY1" fmla="*/ 0 h 1542543"/>
              <a:gd name="connsiteX0" fmla="*/ 0 w 985548"/>
              <a:gd name="connsiteY0" fmla="*/ 1542543 h 1542543"/>
              <a:gd name="connsiteX1" fmla="*/ 941134 w 985548"/>
              <a:gd name="connsiteY1" fmla="*/ 0 h 1542543"/>
              <a:gd name="connsiteX0" fmla="*/ 0 w 1017376"/>
              <a:gd name="connsiteY0" fmla="*/ 1524255 h 1524255"/>
              <a:gd name="connsiteX1" fmla="*/ 983806 w 1017376"/>
              <a:gd name="connsiteY1" fmla="*/ 0 h 1524255"/>
              <a:gd name="connsiteX0" fmla="*/ 0 w 997043"/>
              <a:gd name="connsiteY0" fmla="*/ 1524255 h 1524255"/>
              <a:gd name="connsiteX1" fmla="*/ 983806 w 997043"/>
              <a:gd name="connsiteY1" fmla="*/ 0 h 1524255"/>
              <a:gd name="connsiteX0" fmla="*/ 0 w 522400"/>
              <a:gd name="connsiteY0" fmla="*/ 1922189 h 1922189"/>
              <a:gd name="connsiteX1" fmla="*/ 27073 w 522400"/>
              <a:gd name="connsiteY1" fmla="*/ 0 h 1922189"/>
              <a:gd name="connsiteX0" fmla="*/ 66060 w 564572"/>
              <a:gd name="connsiteY0" fmla="*/ 2006856 h 2006856"/>
              <a:gd name="connsiteX1" fmla="*/ 0 w 564572"/>
              <a:gd name="connsiteY1" fmla="*/ 0 h 2006856"/>
              <a:gd name="connsiteX0" fmla="*/ 66060 w 575491"/>
              <a:gd name="connsiteY0" fmla="*/ 2006856 h 2006856"/>
              <a:gd name="connsiteX1" fmla="*/ 0 w 575491"/>
              <a:gd name="connsiteY1" fmla="*/ 0 h 2006856"/>
              <a:gd name="connsiteX0" fmla="*/ 226927 w 698417"/>
              <a:gd name="connsiteY0" fmla="*/ 2023789 h 2023789"/>
              <a:gd name="connsiteX1" fmla="*/ 0 w 698417"/>
              <a:gd name="connsiteY1" fmla="*/ 0 h 2023789"/>
              <a:gd name="connsiteX0" fmla="*/ 226927 w 821906"/>
              <a:gd name="connsiteY0" fmla="*/ 2023789 h 2023789"/>
              <a:gd name="connsiteX1" fmla="*/ 0 w 821906"/>
              <a:gd name="connsiteY1" fmla="*/ 0 h 2023789"/>
              <a:gd name="connsiteX0" fmla="*/ 125327 w 744143"/>
              <a:gd name="connsiteY0" fmla="*/ 2032256 h 2032256"/>
              <a:gd name="connsiteX1" fmla="*/ 0 w 744143"/>
              <a:gd name="connsiteY1" fmla="*/ 0 h 2032256"/>
              <a:gd name="connsiteX0" fmla="*/ 130379 w 715075"/>
              <a:gd name="connsiteY0" fmla="*/ 2032256 h 2032256"/>
              <a:gd name="connsiteX1" fmla="*/ 5052 w 715075"/>
              <a:gd name="connsiteY1" fmla="*/ 0 h 2032256"/>
              <a:gd name="connsiteX0" fmla="*/ 125327 w 735329"/>
              <a:gd name="connsiteY0" fmla="*/ 2032256 h 2032256"/>
              <a:gd name="connsiteX1" fmla="*/ 0 w 735329"/>
              <a:gd name="connsiteY1" fmla="*/ 0 h 2032256"/>
              <a:gd name="connsiteX0" fmla="*/ 125345 w 730150"/>
              <a:gd name="connsiteY0" fmla="*/ 2032256 h 2032256"/>
              <a:gd name="connsiteX1" fmla="*/ 18 w 730150"/>
              <a:gd name="connsiteY1" fmla="*/ 0 h 2032256"/>
              <a:gd name="connsiteX0" fmla="*/ 125345 w 730150"/>
              <a:gd name="connsiteY0" fmla="*/ 2032256 h 2032256"/>
              <a:gd name="connsiteX1" fmla="*/ 18 w 730150"/>
              <a:gd name="connsiteY1" fmla="*/ 0 h 2032256"/>
              <a:gd name="connsiteX0" fmla="*/ 125344 w 793974"/>
              <a:gd name="connsiteY0" fmla="*/ 2032256 h 2032256"/>
              <a:gd name="connsiteX1" fmla="*/ 17 w 793974"/>
              <a:gd name="connsiteY1" fmla="*/ 0 h 2032256"/>
              <a:gd name="connsiteX0" fmla="*/ 125347 w 647602"/>
              <a:gd name="connsiteY0" fmla="*/ 2032256 h 2032256"/>
              <a:gd name="connsiteX1" fmla="*/ 20 w 647602"/>
              <a:gd name="connsiteY1" fmla="*/ 0 h 2032256"/>
              <a:gd name="connsiteX0" fmla="*/ 125350 w 568879"/>
              <a:gd name="connsiteY0" fmla="*/ 2032256 h 2032256"/>
              <a:gd name="connsiteX1" fmla="*/ 23 w 568879"/>
              <a:gd name="connsiteY1" fmla="*/ 0 h 2032256"/>
              <a:gd name="connsiteX0" fmla="*/ 201549 w 628450"/>
              <a:gd name="connsiteY0" fmla="*/ 2032256 h 2032256"/>
              <a:gd name="connsiteX1" fmla="*/ 22 w 628450"/>
              <a:gd name="connsiteY1" fmla="*/ 0 h 2032256"/>
              <a:gd name="connsiteX0" fmla="*/ 208512 w 615873"/>
              <a:gd name="connsiteY0" fmla="*/ 2032256 h 2032256"/>
              <a:gd name="connsiteX1" fmla="*/ 6985 w 615873"/>
              <a:gd name="connsiteY1" fmla="*/ 0 h 2032256"/>
              <a:gd name="connsiteX0" fmla="*/ 207785 w 689147"/>
              <a:gd name="connsiteY0" fmla="*/ 2032256 h 2032256"/>
              <a:gd name="connsiteX1" fmla="*/ 6258 w 689147"/>
              <a:gd name="connsiteY1" fmla="*/ 0 h 2032256"/>
              <a:gd name="connsiteX0" fmla="*/ 207785 w 689147"/>
              <a:gd name="connsiteY0" fmla="*/ 2074589 h 2074589"/>
              <a:gd name="connsiteX1" fmla="*/ 6258 w 689147"/>
              <a:gd name="connsiteY1" fmla="*/ 0 h 2074589"/>
              <a:gd name="connsiteX0" fmla="*/ 201527 w 727958"/>
              <a:gd name="connsiteY0" fmla="*/ 2074589 h 2074589"/>
              <a:gd name="connsiteX1" fmla="*/ 0 w 727958"/>
              <a:gd name="connsiteY1" fmla="*/ 0 h 2074589"/>
              <a:gd name="connsiteX0" fmla="*/ 201527 w 717757"/>
              <a:gd name="connsiteY0" fmla="*/ 2074589 h 2074589"/>
              <a:gd name="connsiteX1" fmla="*/ 0 w 717757"/>
              <a:gd name="connsiteY1" fmla="*/ 0 h 2074589"/>
              <a:gd name="connsiteX0" fmla="*/ 202028 w 698758"/>
              <a:gd name="connsiteY0" fmla="*/ 2074589 h 2074589"/>
              <a:gd name="connsiteX1" fmla="*/ 501 w 698758"/>
              <a:gd name="connsiteY1" fmla="*/ 0 h 2074589"/>
              <a:gd name="connsiteX0" fmla="*/ 207784 w 689146"/>
              <a:gd name="connsiteY0" fmla="*/ 2074589 h 2074589"/>
              <a:gd name="connsiteX1" fmla="*/ 6257 w 689146"/>
              <a:gd name="connsiteY1" fmla="*/ 0 h 2074589"/>
              <a:gd name="connsiteX0" fmla="*/ 229063 w 686030"/>
              <a:gd name="connsiteY0" fmla="*/ 2074589 h 2074589"/>
              <a:gd name="connsiteX1" fmla="*/ 27536 w 686030"/>
              <a:gd name="connsiteY1" fmla="*/ 0 h 2074589"/>
              <a:gd name="connsiteX0" fmla="*/ 224445 w 685565"/>
              <a:gd name="connsiteY0" fmla="*/ 2074589 h 2074589"/>
              <a:gd name="connsiteX1" fmla="*/ 22918 w 685565"/>
              <a:gd name="connsiteY1" fmla="*/ 0 h 2074589"/>
              <a:gd name="connsiteX0" fmla="*/ 211635 w 687066"/>
              <a:gd name="connsiteY0" fmla="*/ 2074589 h 2074589"/>
              <a:gd name="connsiteX1" fmla="*/ 10108 w 687066"/>
              <a:gd name="connsiteY1" fmla="*/ 0 h 2074589"/>
              <a:gd name="connsiteX0" fmla="*/ 214269 w 538943"/>
              <a:gd name="connsiteY0" fmla="*/ 2074589 h 2074589"/>
              <a:gd name="connsiteX1" fmla="*/ 12742 w 538943"/>
              <a:gd name="connsiteY1" fmla="*/ 0 h 2074589"/>
              <a:gd name="connsiteX0" fmla="*/ 213161 w 592748"/>
              <a:gd name="connsiteY0" fmla="*/ 2074589 h 2074589"/>
              <a:gd name="connsiteX1" fmla="*/ 11634 w 592748"/>
              <a:gd name="connsiteY1" fmla="*/ 0 h 2074589"/>
              <a:gd name="connsiteX0" fmla="*/ 212523 w 628891"/>
              <a:gd name="connsiteY0" fmla="*/ 2074589 h 2074589"/>
              <a:gd name="connsiteX1" fmla="*/ 10996 w 628891"/>
              <a:gd name="connsiteY1" fmla="*/ 0 h 2074589"/>
            </a:gdLst>
            <a:ahLst/>
            <a:cxnLst>
              <a:cxn ang="0">
                <a:pos x="connsiteX0" y="connsiteY0"/>
              </a:cxn>
              <a:cxn ang="0">
                <a:pos x="connsiteX1" y="connsiteY1"/>
              </a:cxn>
            </a:cxnLst>
            <a:rect l="l" t="t" r="r" b="b"/>
            <a:pathLst>
              <a:path w="628891" h="2074589">
                <a:moveTo>
                  <a:pt x="212523" y="2074589"/>
                </a:moveTo>
                <a:cubicBezTo>
                  <a:pt x="1315571" y="1032216"/>
                  <a:pt x="-139075" y="1436329"/>
                  <a:pt x="10996" y="0"/>
                </a:cubicBezTo>
              </a:path>
            </a:pathLst>
          </a:custGeom>
          <a:noFill/>
          <a:ln w="76200">
            <a:solidFill>
              <a:srgbClr val="30B5C5"/>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任意多边形 48"/>
          <p:cNvSpPr/>
          <p:nvPr/>
        </p:nvSpPr>
        <p:spPr bwMode="gray">
          <a:xfrm flipH="1">
            <a:off x="8990187" y="3273482"/>
            <a:ext cx="628891" cy="2074589"/>
          </a:xfrm>
          <a:custGeom>
            <a:avLst/>
            <a:gdLst>
              <a:gd name="connsiteX0" fmla="*/ 0 w 1049867"/>
              <a:gd name="connsiteY0" fmla="*/ 3810000 h 3810000"/>
              <a:gd name="connsiteX1" fmla="*/ 1049867 w 1049867"/>
              <a:gd name="connsiteY1" fmla="*/ 0 h 3810000"/>
              <a:gd name="connsiteX0" fmla="*/ 0 w 1024467"/>
              <a:gd name="connsiteY0" fmla="*/ 3937000 h 3937000"/>
              <a:gd name="connsiteX1" fmla="*/ 1024467 w 1024467"/>
              <a:gd name="connsiteY1" fmla="*/ 0 h 3937000"/>
              <a:gd name="connsiteX0" fmla="*/ 117368 w 1141835"/>
              <a:gd name="connsiteY0" fmla="*/ 3937000 h 3937000"/>
              <a:gd name="connsiteX1" fmla="*/ 1141835 w 1141835"/>
              <a:gd name="connsiteY1" fmla="*/ 0 h 3937000"/>
              <a:gd name="connsiteX0" fmla="*/ 0 w 1024467"/>
              <a:gd name="connsiteY0" fmla="*/ 3937000 h 3937000"/>
              <a:gd name="connsiteX1" fmla="*/ 965200 w 1024467"/>
              <a:gd name="connsiteY1" fmla="*/ 1744134 h 3937000"/>
              <a:gd name="connsiteX2" fmla="*/ 1024467 w 1024467"/>
              <a:gd name="connsiteY2" fmla="*/ 0 h 3937000"/>
              <a:gd name="connsiteX0" fmla="*/ 0 w 1269860"/>
              <a:gd name="connsiteY0" fmla="*/ 3937000 h 3937000"/>
              <a:gd name="connsiteX1" fmla="*/ 965200 w 1269860"/>
              <a:gd name="connsiteY1" fmla="*/ 1744134 h 3937000"/>
              <a:gd name="connsiteX2" fmla="*/ 1024467 w 1269860"/>
              <a:gd name="connsiteY2" fmla="*/ 0 h 3937000"/>
              <a:gd name="connsiteX0" fmla="*/ 0 w 1024467"/>
              <a:gd name="connsiteY0" fmla="*/ 3937000 h 3937000"/>
              <a:gd name="connsiteX1" fmla="*/ 965200 w 1024467"/>
              <a:gd name="connsiteY1" fmla="*/ 1744134 h 3937000"/>
              <a:gd name="connsiteX2" fmla="*/ 1024467 w 1024467"/>
              <a:gd name="connsiteY2" fmla="*/ 0 h 3937000"/>
              <a:gd name="connsiteX0" fmla="*/ 0 w 1024467"/>
              <a:gd name="connsiteY0" fmla="*/ 3937000 h 3937000"/>
              <a:gd name="connsiteX1" fmla="*/ 753533 w 1024467"/>
              <a:gd name="connsiteY1" fmla="*/ 2717801 h 3937000"/>
              <a:gd name="connsiteX2" fmla="*/ 1024467 w 1024467"/>
              <a:gd name="connsiteY2" fmla="*/ 0 h 3937000"/>
              <a:gd name="connsiteX0" fmla="*/ 157561 w 1182028"/>
              <a:gd name="connsiteY0" fmla="*/ 3937000 h 3937000"/>
              <a:gd name="connsiteX1" fmla="*/ 911094 w 1182028"/>
              <a:gd name="connsiteY1" fmla="*/ 2717801 h 3937000"/>
              <a:gd name="connsiteX2" fmla="*/ 1182028 w 1182028"/>
              <a:gd name="connsiteY2" fmla="*/ 0 h 3937000"/>
              <a:gd name="connsiteX0" fmla="*/ 170306 w 1194773"/>
              <a:gd name="connsiteY0" fmla="*/ 3937000 h 3937000"/>
              <a:gd name="connsiteX1" fmla="*/ 923839 w 1194773"/>
              <a:gd name="connsiteY1" fmla="*/ 2717801 h 3937000"/>
              <a:gd name="connsiteX2" fmla="*/ 1194773 w 1194773"/>
              <a:gd name="connsiteY2" fmla="*/ 0 h 3937000"/>
              <a:gd name="connsiteX0" fmla="*/ 163990 w 1188457"/>
              <a:gd name="connsiteY0" fmla="*/ 3937000 h 3937000"/>
              <a:gd name="connsiteX1" fmla="*/ 985256 w 1188457"/>
              <a:gd name="connsiteY1" fmla="*/ 2472268 h 3937000"/>
              <a:gd name="connsiteX2" fmla="*/ 1188457 w 1188457"/>
              <a:gd name="connsiteY2" fmla="*/ 0 h 3937000"/>
              <a:gd name="connsiteX0" fmla="*/ 168682 w 1193149"/>
              <a:gd name="connsiteY0" fmla="*/ 3937000 h 3937000"/>
              <a:gd name="connsiteX1" fmla="*/ 939148 w 1193149"/>
              <a:gd name="connsiteY1" fmla="*/ 2379135 h 3937000"/>
              <a:gd name="connsiteX2" fmla="*/ 1193149 w 1193149"/>
              <a:gd name="connsiteY2" fmla="*/ 0 h 3937000"/>
              <a:gd name="connsiteX0" fmla="*/ 168682 w 1193149"/>
              <a:gd name="connsiteY0" fmla="*/ 3937000 h 3937000"/>
              <a:gd name="connsiteX1" fmla="*/ 939148 w 1193149"/>
              <a:gd name="connsiteY1" fmla="*/ 2379135 h 3937000"/>
              <a:gd name="connsiteX2" fmla="*/ 1193149 w 1193149"/>
              <a:gd name="connsiteY2" fmla="*/ 0 h 3937000"/>
              <a:gd name="connsiteX0" fmla="*/ 168682 w 1193149"/>
              <a:gd name="connsiteY0" fmla="*/ 3937000 h 3937000"/>
              <a:gd name="connsiteX1" fmla="*/ 939148 w 1193149"/>
              <a:gd name="connsiteY1" fmla="*/ 2379135 h 3937000"/>
              <a:gd name="connsiteX2" fmla="*/ 1193149 w 1193149"/>
              <a:gd name="connsiteY2" fmla="*/ 0 h 3937000"/>
              <a:gd name="connsiteX0" fmla="*/ 156026 w 1180493"/>
              <a:gd name="connsiteY0" fmla="*/ 3937000 h 3937000"/>
              <a:gd name="connsiteX1" fmla="*/ 1070426 w 1180493"/>
              <a:gd name="connsiteY1" fmla="*/ 2489201 h 3937000"/>
              <a:gd name="connsiteX2" fmla="*/ 1180493 w 1180493"/>
              <a:gd name="connsiteY2" fmla="*/ 0 h 3937000"/>
              <a:gd name="connsiteX0" fmla="*/ 163523 w 1154123"/>
              <a:gd name="connsiteY0" fmla="*/ 3810000 h 3810000"/>
              <a:gd name="connsiteX1" fmla="*/ 1077923 w 1154123"/>
              <a:gd name="connsiteY1" fmla="*/ 2362201 h 3810000"/>
              <a:gd name="connsiteX2" fmla="*/ 1154123 w 1154123"/>
              <a:gd name="connsiteY2" fmla="*/ 0 h 3810000"/>
              <a:gd name="connsiteX0" fmla="*/ 163593 w 1159273"/>
              <a:gd name="connsiteY0" fmla="*/ 3855720 h 3855720"/>
              <a:gd name="connsiteX1" fmla="*/ 1077993 w 1159273"/>
              <a:gd name="connsiteY1" fmla="*/ 2407921 h 3855720"/>
              <a:gd name="connsiteX2" fmla="*/ 1159273 w 1159273"/>
              <a:gd name="connsiteY2" fmla="*/ 0 h 3855720"/>
              <a:gd name="connsiteX0" fmla="*/ 163593 w 1165970"/>
              <a:gd name="connsiteY0" fmla="*/ 3855720 h 3855720"/>
              <a:gd name="connsiteX1" fmla="*/ 1077993 w 1165970"/>
              <a:gd name="connsiteY1" fmla="*/ 2407921 h 3855720"/>
              <a:gd name="connsiteX2" fmla="*/ 1159273 w 1165970"/>
              <a:gd name="connsiteY2" fmla="*/ 0 h 3855720"/>
              <a:gd name="connsiteX0" fmla="*/ 166352 w 1162032"/>
              <a:gd name="connsiteY0" fmla="*/ 3855720 h 3855720"/>
              <a:gd name="connsiteX1" fmla="*/ 1050272 w 1162032"/>
              <a:gd name="connsiteY1" fmla="*/ 2458721 h 3855720"/>
              <a:gd name="connsiteX2" fmla="*/ 1162032 w 1162032"/>
              <a:gd name="connsiteY2" fmla="*/ 0 h 3855720"/>
              <a:gd name="connsiteX0" fmla="*/ 168242 w 1163922"/>
              <a:gd name="connsiteY0" fmla="*/ 3855720 h 3855720"/>
              <a:gd name="connsiteX1" fmla="*/ 1031842 w 1163922"/>
              <a:gd name="connsiteY1" fmla="*/ 2448561 h 3855720"/>
              <a:gd name="connsiteX2" fmla="*/ 1163922 w 1163922"/>
              <a:gd name="connsiteY2" fmla="*/ 0 h 3855720"/>
              <a:gd name="connsiteX0" fmla="*/ 161821 w 1157501"/>
              <a:gd name="connsiteY0" fmla="*/ 3855720 h 3855720"/>
              <a:gd name="connsiteX1" fmla="*/ 1025421 w 1157501"/>
              <a:gd name="connsiteY1" fmla="*/ 2448561 h 3855720"/>
              <a:gd name="connsiteX2" fmla="*/ 1157501 w 1157501"/>
              <a:gd name="connsiteY2" fmla="*/ 0 h 3855720"/>
              <a:gd name="connsiteX0" fmla="*/ 156660 w 1152340"/>
              <a:gd name="connsiteY0" fmla="*/ 3855720 h 3855720"/>
              <a:gd name="connsiteX1" fmla="*/ 1081220 w 1152340"/>
              <a:gd name="connsiteY1" fmla="*/ 2453641 h 3855720"/>
              <a:gd name="connsiteX2" fmla="*/ 1152340 w 1152340"/>
              <a:gd name="connsiteY2" fmla="*/ 0 h 3855720"/>
              <a:gd name="connsiteX0" fmla="*/ 154738 w 1150418"/>
              <a:gd name="connsiteY0" fmla="*/ 3855720 h 3855720"/>
              <a:gd name="connsiteX1" fmla="*/ 1079298 w 1150418"/>
              <a:gd name="connsiteY1" fmla="*/ 2453641 h 3855720"/>
              <a:gd name="connsiteX2" fmla="*/ 1150418 w 1150418"/>
              <a:gd name="connsiteY2" fmla="*/ 0 h 3855720"/>
              <a:gd name="connsiteX0" fmla="*/ 151160 w 1147097"/>
              <a:gd name="connsiteY0" fmla="*/ 3855720 h 3855720"/>
              <a:gd name="connsiteX1" fmla="*/ 1121440 w 1147097"/>
              <a:gd name="connsiteY1" fmla="*/ 2428241 h 3855720"/>
              <a:gd name="connsiteX2" fmla="*/ 1146840 w 1147097"/>
              <a:gd name="connsiteY2" fmla="*/ 0 h 3855720"/>
              <a:gd name="connsiteX0" fmla="*/ 149718 w 1145398"/>
              <a:gd name="connsiteY0" fmla="*/ 3855720 h 3855720"/>
              <a:gd name="connsiteX1" fmla="*/ 1119998 w 1145398"/>
              <a:gd name="connsiteY1" fmla="*/ 2428241 h 3855720"/>
              <a:gd name="connsiteX2" fmla="*/ 1145398 w 1145398"/>
              <a:gd name="connsiteY2" fmla="*/ 0 h 3855720"/>
              <a:gd name="connsiteX0" fmla="*/ 149718 w 1152345"/>
              <a:gd name="connsiteY0" fmla="*/ 3855720 h 3855720"/>
              <a:gd name="connsiteX1" fmla="*/ 1119998 w 1152345"/>
              <a:gd name="connsiteY1" fmla="*/ 2428241 h 3855720"/>
              <a:gd name="connsiteX2" fmla="*/ 1145398 w 1152345"/>
              <a:gd name="connsiteY2" fmla="*/ 0 h 3855720"/>
              <a:gd name="connsiteX0" fmla="*/ 149718 w 1172319"/>
              <a:gd name="connsiteY0" fmla="*/ 3855720 h 3855720"/>
              <a:gd name="connsiteX1" fmla="*/ 1119998 w 1172319"/>
              <a:gd name="connsiteY1" fmla="*/ 2428241 h 3855720"/>
              <a:gd name="connsiteX2" fmla="*/ 1145398 w 1172319"/>
              <a:gd name="connsiteY2" fmla="*/ 0 h 3855720"/>
              <a:gd name="connsiteX0" fmla="*/ 149718 w 1156697"/>
              <a:gd name="connsiteY0" fmla="*/ 3855720 h 3855720"/>
              <a:gd name="connsiteX1" fmla="*/ 1119998 w 1156697"/>
              <a:gd name="connsiteY1" fmla="*/ 2428241 h 3855720"/>
              <a:gd name="connsiteX2" fmla="*/ 1145398 w 1156697"/>
              <a:gd name="connsiteY2" fmla="*/ 0 h 3855720"/>
              <a:gd name="connsiteX0" fmla="*/ 148301 w 1150763"/>
              <a:gd name="connsiteY0" fmla="*/ 3855720 h 3855720"/>
              <a:gd name="connsiteX1" fmla="*/ 1118581 w 1150763"/>
              <a:gd name="connsiteY1" fmla="*/ 2428241 h 3855720"/>
              <a:gd name="connsiteX2" fmla="*/ 1143981 w 1150763"/>
              <a:gd name="connsiteY2" fmla="*/ 0 h 3855720"/>
              <a:gd name="connsiteX0" fmla="*/ 146565 w 1146322"/>
              <a:gd name="connsiteY0" fmla="*/ 3855720 h 3855720"/>
              <a:gd name="connsiteX1" fmla="*/ 1116845 w 1146322"/>
              <a:gd name="connsiteY1" fmla="*/ 2428241 h 3855720"/>
              <a:gd name="connsiteX2" fmla="*/ 1142245 w 1146322"/>
              <a:gd name="connsiteY2" fmla="*/ 0 h 3855720"/>
              <a:gd name="connsiteX0" fmla="*/ 158367 w 1202774"/>
              <a:gd name="connsiteY0" fmla="*/ 3855720 h 3855720"/>
              <a:gd name="connsiteX1" fmla="*/ 1128647 w 1202774"/>
              <a:gd name="connsiteY1" fmla="*/ 2428241 h 3855720"/>
              <a:gd name="connsiteX2" fmla="*/ 1123567 w 1202774"/>
              <a:gd name="connsiteY2" fmla="*/ 0 h 3855720"/>
              <a:gd name="connsiteX0" fmla="*/ 147602 w 1127100"/>
              <a:gd name="connsiteY0" fmla="*/ 3855720 h 3855720"/>
              <a:gd name="connsiteX1" fmla="*/ 1117882 w 1127100"/>
              <a:gd name="connsiteY1" fmla="*/ 2428241 h 3855720"/>
              <a:gd name="connsiteX2" fmla="*/ 1112802 w 1127100"/>
              <a:gd name="connsiteY2" fmla="*/ 0 h 3855720"/>
              <a:gd name="connsiteX0" fmla="*/ 148300 w 1132075"/>
              <a:gd name="connsiteY0" fmla="*/ 3855720 h 3855720"/>
              <a:gd name="connsiteX1" fmla="*/ 1118580 w 1132075"/>
              <a:gd name="connsiteY1" fmla="*/ 2428241 h 3855720"/>
              <a:gd name="connsiteX2" fmla="*/ 1113500 w 1132075"/>
              <a:gd name="connsiteY2" fmla="*/ 0 h 3855720"/>
              <a:gd name="connsiteX0" fmla="*/ 124092 w 1107867"/>
              <a:gd name="connsiteY0" fmla="*/ 3855720 h 3855720"/>
              <a:gd name="connsiteX1" fmla="*/ 1094372 w 1107867"/>
              <a:gd name="connsiteY1" fmla="*/ 2428241 h 3855720"/>
              <a:gd name="connsiteX2" fmla="*/ 1089292 w 1107867"/>
              <a:gd name="connsiteY2" fmla="*/ 0 h 3855720"/>
              <a:gd name="connsiteX0" fmla="*/ 115681 w 1099456"/>
              <a:gd name="connsiteY0" fmla="*/ 3855720 h 3855720"/>
              <a:gd name="connsiteX1" fmla="*/ 1085961 w 1099456"/>
              <a:gd name="connsiteY1" fmla="*/ 2428241 h 3855720"/>
              <a:gd name="connsiteX2" fmla="*/ 1080881 w 1099456"/>
              <a:gd name="connsiteY2" fmla="*/ 0 h 3855720"/>
              <a:gd name="connsiteX0" fmla="*/ 468786 w 1452561"/>
              <a:gd name="connsiteY0" fmla="*/ 3855720 h 3855720"/>
              <a:gd name="connsiteX1" fmla="*/ 1439066 w 1452561"/>
              <a:gd name="connsiteY1" fmla="*/ 2428241 h 3855720"/>
              <a:gd name="connsiteX2" fmla="*/ 1433986 w 1452561"/>
              <a:gd name="connsiteY2" fmla="*/ 0 h 3855720"/>
              <a:gd name="connsiteX0" fmla="*/ 547411 w 1513076"/>
              <a:gd name="connsiteY0" fmla="*/ 3855720 h 3855720"/>
              <a:gd name="connsiteX1" fmla="*/ 1024931 w 1513076"/>
              <a:gd name="connsiteY1" fmla="*/ 2336801 h 3855720"/>
              <a:gd name="connsiteX2" fmla="*/ 1512611 w 1513076"/>
              <a:gd name="connsiteY2" fmla="*/ 0 h 3855720"/>
              <a:gd name="connsiteX0" fmla="*/ 539271 w 1504471"/>
              <a:gd name="connsiteY0" fmla="*/ 3855720 h 3855720"/>
              <a:gd name="connsiteX1" fmla="*/ 1016791 w 1504471"/>
              <a:gd name="connsiteY1" fmla="*/ 2336801 h 3855720"/>
              <a:gd name="connsiteX2" fmla="*/ 381855 w 1504471"/>
              <a:gd name="connsiteY2" fmla="*/ 1427480 h 3855720"/>
              <a:gd name="connsiteX3" fmla="*/ 1504471 w 1504471"/>
              <a:gd name="connsiteY3" fmla="*/ 0 h 3855720"/>
              <a:gd name="connsiteX0" fmla="*/ 539271 w 1504471"/>
              <a:gd name="connsiteY0" fmla="*/ 3855720 h 3855720"/>
              <a:gd name="connsiteX1" fmla="*/ 1016791 w 1504471"/>
              <a:gd name="connsiteY1" fmla="*/ 2336801 h 3855720"/>
              <a:gd name="connsiteX2" fmla="*/ 381855 w 1504471"/>
              <a:gd name="connsiteY2" fmla="*/ 1427480 h 3855720"/>
              <a:gd name="connsiteX3" fmla="*/ 1504471 w 1504471"/>
              <a:gd name="connsiteY3" fmla="*/ 0 h 3855720"/>
              <a:gd name="connsiteX0" fmla="*/ 380217 w 1345417"/>
              <a:gd name="connsiteY0" fmla="*/ 3855720 h 3855720"/>
              <a:gd name="connsiteX1" fmla="*/ 857737 w 1345417"/>
              <a:gd name="connsiteY1" fmla="*/ 2336801 h 3855720"/>
              <a:gd name="connsiteX2" fmla="*/ 222801 w 1345417"/>
              <a:gd name="connsiteY2" fmla="*/ 1427480 h 3855720"/>
              <a:gd name="connsiteX3" fmla="*/ 1345417 w 1345417"/>
              <a:gd name="connsiteY3" fmla="*/ 0 h 3855720"/>
              <a:gd name="connsiteX0" fmla="*/ 380217 w 1345417"/>
              <a:gd name="connsiteY0" fmla="*/ 3855720 h 3855720"/>
              <a:gd name="connsiteX1" fmla="*/ 857737 w 1345417"/>
              <a:gd name="connsiteY1" fmla="*/ 2336801 h 3855720"/>
              <a:gd name="connsiteX2" fmla="*/ 222801 w 1345417"/>
              <a:gd name="connsiteY2" fmla="*/ 1427480 h 3855720"/>
              <a:gd name="connsiteX3" fmla="*/ 1345417 w 1345417"/>
              <a:gd name="connsiteY3" fmla="*/ 0 h 3855720"/>
              <a:gd name="connsiteX0" fmla="*/ 382817 w 1348017"/>
              <a:gd name="connsiteY0" fmla="*/ 3855720 h 3855720"/>
              <a:gd name="connsiteX1" fmla="*/ 860337 w 1348017"/>
              <a:gd name="connsiteY1" fmla="*/ 2336801 h 3855720"/>
              <a:gd name="connsiteX2" fmla="*/ 332081 w 1348017"/>
              <a:gd name="connsiteY2" fmla="*/ 1391920 h 3855720"/>
              <a:gd name="connsiteX3" fmla="*/ 1348017 w 1348017"/>
              <a:gd name="connsiteY3" fmla="*/ 0 h 3855720"/>
              <a:gd name="connsiteX0" fmla="*/ 382817 w 1348218"/>
              <a:gd name="connsiteY0" fmla="*/ 3855720 h 3855720"/>
              <a:gd name="connsiteX1" fmla="*/ 860337 w 1348218"/>
              <a:gd name="connsiteY1" fmla="*/ 2336801 h 3855720"/>
              <a:gd name="connsiteX2" fmla="*/ 332081 w 1348218"/>
              <a:gd name="connsiteY2" fmla="*/ 1391920 h 3855720"/>
              <a:gd name="connsiteX3" fmla="*/ 1348017 w 1348218"/>
              <a:gd name="connsiteY3" fmla="*/ 0 h 3855720"/>
              <a:gd name="connsiteX0" fmla="*/ 388878 w 1354279"/>
              <a:gd name="connsiteY0" fmla="*/ 3855720 h 3855720"/>
              <a:gd name="connsiteX1" fmla="*/ 866398 w 1354279"/>
              <a:gd name="connsiteY1" fmla="*/ 2336801 h 3855720"/>
              <a:gd name="connsiteX2" fmla="*/ 338142 w 1354279"/>
              <a:gd name="connsiteY2" fmla="*/ 1391920 h 3855720"/>
              <a:gd name="connsiteX3" fmla="*/ 1354078 w 1354279"/>
              <a:gd name="connsiteY3" fmla="*/ 0 h 3855720"/>
              <a:gd name="connsiteX0" fmla="*/ 391192 w 1356593"/>
              <a:gd name="connsiteY0" fmla="*/ 3855720 h 3855720"/>
              <a:gd name="connsiteX1" fmla="*/ 868712 w 1356593"/>
              <a:gd name="connsiteY1" fmla="*/ 2336801 h 3855720"/>
              <a:gd name="connsiteX2" fmla="*/ 340456 w 1356593"/>
              <a:gd name="connsiteY2" fmla="*/ 1391920 h 3855720"/>
              <a:gd name="connsiteX3" fmla="*/ 1356392 w 1356593"/>
              <a:gd name="connsiteY3" fmla="*/ 0 h 3855720"/>
              <a:gd name="connsiteX0" fmla="*/ 391192 w 1356571"/>
              <a:gd name="connsiteY0" fmla="*/ 3855720 h 3855720"/>
              <a:gd name="connsiteX1" fmla="*/ 868712 w 1356571"/>
              <a:gd name="connsiteY1" fmla="*/ 2336801 h 3855720"/>
              <a:gd name="connsiteX2" fmla="*/ 340456 w 1356571"/>
              <a:gd name="connsiteY2" fmla="*/ 1391920 h 3855720"/>
              <a:gd name="connsiteX3" fmla="*/ 1356392 w 1356571"/>
              <a:gd name="connsiteY3" fmla="*/ 0 h 3855720"/>
              <a:gd name="connsiteX0" fmla="*/ 391192 w 1356562"/>
              <a:gd name="connsiteY0" fmla="*/ 3855720 h 3855720"/>
              <a:gd name="connsiteX1" fmla="*/ 868712 w 1356562"/>
              <a:gd name="connsiteY1" fmla="*/ 2336801 h 3855720"/>
              <a:gd name="connsiteX2" fmla="*/ 340456 w 1356562"/>
              <a:gd name="connsiteY2" fmla="*/ 1391920 h 3855720"/>
              <a:gd name="connsiteX3" fmla="*/ 1356392 w 1356562"/>
              <a:gd name="connsiteY3" fmla="*/ 0 h 3855720"/>
              <a:gd name="connsiteX0" fmla="*/ 391192 w 1356588"/>
              <a:gd name="connsiteY0" fmla="*/ 3855720 h 3855720"/>
              <a:gd name="connsiteX1" fmla="*/ 868712 w 1356588"/>
              <a:gd name="connsiteY1" fmla="*/ 2336801 h 3855720"/>
              <a:gd name="connsiteX2" fmla="*/ 340456 w 1356588"/>
              <a:gd name="connsiteY2" fmla="*/ 1391920 h 3855720"/>
              <a:gd name="connsiteX3" fmla="*/ 1356392 w 1356588"/>
              <a:gd name="connsiteY3" fmla="*/ 0 h 3855720"/>
              <a:gd name="connsiteX0" fmla="*/ 408622 w 1374018"/>
              <a:gd name="connsiteY0" fmla="*/ 3855720 h 3855720"/>
              <a:gd name="connsiteX1" fmla="*/ 886142 w 1374018"/>
              <a:gd name="connsiteY1" fmla="*/ 2336801 h 3855720"/>
              <a:gd name="connsiteX2" fmla="*/ 357886 w 1374018"/>
              <a:gd name="connsiteY2" fmla="*/ 1391920 h 3855720"/>
              <a:gd name="connsiteX3" fmla="*/ 1373822 w 1374018"/>
              <a:gd name="connsiteY3" fmla="*/ 0 h 3855720"/>
              <a:gd name="connsiteX0" fmla="*/ 408622 w 887574"/>
              <a:gd name="connsiteY0" fmla="*/ 2463800 h 2463800"/>
              <a:gd name="connsiteX1" fmla="*/ 886142 w 887574"/>
              <a:gd name="connsiteY1" fmla="*/ 944881 h 2463800"/>
              <a:gd name="connsiteX2" fmla="*/ 357886 w 887574"/>
              <a:gd name="connsiteY2" fmla="*/ 0 h 2463800"/>
              <a:gd name="connsiteX0" fmla="*/ 408622 w 891748"/>
              <a:gd name="connsiteY0" fmla="*/ 2463800 h 2463800"/>
              <a:gd name="connsiteX1" fmla="*/ 886142 w 891748"/>
              <a:gd name="connsiteY1" fmla="*/ 944881 h 2463800"/>
              <a:gd name="connsiteX2" fmla="*/ 357886 w 891748"/>
              <a:gd name="connsiteY2" fmla="*/ 0 h 2463800"/>
              <a:gd name="connsiteX0" fmla="*/ 395865 w 874014"/>
              <a:gd name="connsiteY0" fmla="*/ 2299970 h 2299970"/>
              <a:gd name="connsiteX1" fmla="*/ 873385 w 874014"/>
              <a:gd name="connsiteY1" fmla="*/ 781051 h 2299970"/>
              <a:gd name="connsiteX2" fmla="*/ 171774 w 874014"/>
              <a:gd name="connsiteY2" fmla="*/ 0 h 2299970"/>
              <a:gd name="connsiteX0" fmla="*/ 395865 w 874014"/>
              <a:gd name="connsiteY0" fmla="*/ 2299970 h 2299970"/>
              <a:gd name="connsiteX1" fmla="*/ 873385 w 874014"/>
              <a:gd name="connsiteY1" fmla="*/ 781051 h 2299970"/>
              <a:gd name="connsiteX2" fmla="*/ 171774 w 874014"/>
              <a:gd name="connsiteY2" fmla="*/ 0 h 2299970"/>
              <a:gd name="connsiteX0" fmla="*/ 406521 w 885956"/>
              <a:gd name="connsiteY0" fmla="*/ 2299970 h 2299970"/>
              <a:gd name="connsiteX1" fmla="*/ 884041 w 885956"/>
              <a:gd name="connsiteY1" fmla="*/ 781051 h 2299970"/>
              <a:gd name="connsiteX2" fmla="*/ 182430 w 885956"/>
              <a:gd name="connsiteY2" fmla="*/ 0 h 2299970"/>
              <a:gd name="connsiteX0" fmla="*/ 362011 w 841446"/>
              <a:gd name="connsiteY0" fmla="*/ 2299970 h 2299970"/>
              <a:gd name="connsiteX1" fmla="*/ 839531 w 841446"/>
              <a:gd name="connsiteY1" fmla="*/ 781051 h 2299970"/>
              <a:gd name="connsiteX2" fmla="*/ 137920 w 841446"/>
              <a:gd name="connsiteY2" fmla="*/ 0 h 2299970"/>
              <a:gd name="connsiteX0" fmla="*/ 366252 w 820402"/>
              <a:gd name="connsiteY0" fmla="*/ 2299970 h 2299970"/>
              <a:gd name="connsiteX1" fmla="*/ 818372 w 820402"/>
              <a:gd name="connsiteY1" fmla="*/ 806451 h 2299970"/>
              <a:gd name="connsiteX2" fmla="*/ 142161 w 820402"/>
              <a:gd name="connsiteY2" fmla="*/ 0 h 2299970"/>
              <a:gd name="connsiteX0" fmla="*/ 352903 w 806599"/>
              <a:gd name="connsiteY0" fmla="*/ 2383790 h 2383790"/>
              <a:gd name="connsiteX1" fmla="*/ 805023 w 806599"/>
              <a:gd name="connsiteY1" fmla="*/ 890271 h 2383790"/>
              <a:gd name="connsiteX2" fmla="*/ 8797 w 806599"/>
              <a:gd name="connsiteY2" fmla="*/ 0 h 2383790"/>
              <a:gd name="connsiteX0" fmla="*/ 366300 w 820031"/>
              <a:gd name="connsiteY0" fmla="*/ 2383790 h 2383790"/>
              <a:gd name="connsiteX1" fmla="*/ 818420 w 820031"/>
              <a:gd name="connsiteY1" fmla="*/ 890271 h 2383790"/>
              <a:gd name="connsiteX2" fmla="*/ 22194 w 820031"/>
              <a:gd name="connsiteY2" fmla="*/ 0 h 2383790"/>
              <a:gd name="connsiteX0" fmla="*/ 366013 w 819578"/>
              <a:gd name="connsiteY0" fmla="*/ 2383790 h 2383790"/>
              <a:gd name="connsiteX1" fmla="*/ 818133 w 819578"/>
              <a:gd name="connsiteY1" fmla="*/ 890271 h 2383790"/>
              <a:gd name="connsiteX2" fmla="*/ 21907 w 819578"/>
              <a:gd name="connsiteY2" fmla="*/ 0 h 2383790"/>
              <a:gd name="connsiteX0" fmla="*/ 796226 w 797671"/>
              <a:gd name="connsiteY0" fmla="*/ 890271 h 890271"/>
              <a:gd name="connsiteX1" fmla="*/ 0 w 797671"/>
              <a:gd name="connsiteY1" fmla="*/ 0 h 890271"/>
              <a:gd name="connsiteX0" fmla="*/ 0 w 1479565"/>
              <a:gd name="connsiteY0" fmla="*/ 157637 h 235841"/>
              <a:gd name="connsiteX1" fmla="*/ 1441006 w 1479565"/>
              <a:gd name="connsiteY1" fmla="*/ 200054 h 235841"/>
              <a:gd name="connsiteX0" fmla="*/ 0 w 1501674"/>
              <a:gd name="connsiteY0" fmla="*/ 5126 h 117156"/>
              <a:gd name="connsiteX1" fmla="*/ 1441006 w 1501674"/>
              <a:gd name="connsiteY1" fmla="*/ 47543 h 117156"/>
              <a:gd name="connsiteX0" fmla="*/ 0 w 1055450"/>
              <a:gd name="connsiteY0" fmla="*/ 1134111 h 1134111"/>
              <a:gd name="connsiteX1" fmla="*/ 959422 w 1055450"/>
              <a:gd name="connsiteY1" fmla="*/ 0 h 1134111"/>
              <a:gd name="connsiteX0" fmla="*/ 0 w 959422"/>
              <a:gd name="connsiteY0" fmla="*/ 1134111 h 1134111"/>
              <a:gd name="connsiteX1" fmla="*/ 959422 w 959422"/>
              <a:gd name="connsiteY1" fmla="*/ 0 h 1134111"/>
              <a:gd name="connsiteX0" fmla="*/ 0 w 966476"/>
              <a:gd name="connsiteY0" fmla="*/ 1134111 h 1134111"/>
              <a:gd name="connsiteX1" fmla="*/ 959422 w 966476"/>
              <a:gd name="connsiteY1" fmla="*/ 0 h 1134111"/>
              <a:gd name="connsiteX0" fmla="*/ 0 w 953065"/>
              <a:gd name="connsiteY0" fmla="*/ 1542543 h 1542543"/>
              <a:gd name="connsiteX1" fmla="*/ 941134 w 953065"/>
              <a:gd name="connsiteY1" fmla="*/ 0 h 1542543"/>
              <a:gd name="connsiteX0" fmla="*/ 0 w 985548"/>
              <a:gd name="connsiteY0" fmla="*/ 1542543 h 1542543"/>
              <a:gd name="connsiteX1" fmla="*/ 941134 w 985548"/>
              <a:gd name="connsiteY1" fmla="*/ 0 h 1542543"/>
              <a:gd name="connsiteX0" fmla="*/ 0 w 1017376"/>
              <a:gd name="connsiteY0" fmla="*/ 1524255 h 1524255"/>
              <a:gd name="connsiteX1" fmla="*/ 983806 w 1017376"/>
              <a:gd name="connsiteY1" fmla="*/ 0 h 1524255"/>
              <a:gd name="connsiteX0" fmla="*/ 0 w 997043"/>
              <a:gd name="connsiteY0" fmla="*/ 1524255 h 1524255"/>
              <a:gd name="connsiteX1" fmla="*/ 983806 w 997043"/>
              <a:gd name="connsiteY1" fmla="*/ 0 h 1524255"/>
              <a:gd name="connsiteX0" fmla="*/ 0 w 522400"/>
              <a:gd name="connsiteY0" fmla="*/ 1922189 h 1922189"/>
              <a:gd name="connsiteX1" fmla="*/ 27073 w 522400"/>
              <a:gd name="connsiteY1" fmla="*/ 0 h 1922189"/>
              <a:gd name="connsiteX0" fmla="*/ 66060 w 564572"/>
              <a:gd name="connsiteY0" fmla="*/ 2006856 h 2006856"/>
              <a:gd name="connsiteX1" fmla="*/ 0 w 564572"/>
              <a:gd name="connsiteY1" fmla="*/ 0 h 2006856"/>
              <a:gd name="connsiteX0" fmla="*/ 66060 w 575491"/>
              <a:gd name="connsiteY0" fmla="*/ 2006856 h 2006856"/>
              <a:gd name="connsiteX1" fmla="*/ 0 w 575491"/>
              <a:gd name="connsiteY1" fmla="*/ 0 h 2006856"/>
              <a:gd name="connsiteX0" fmla="*/ 226927 w 698417"/>
              <a:gd name="connsiteY0" fmla="*/ 2023789 h 2023789"/>
              <a:gd name="connsiteX1" fmla="*/ 0 w 698417"/>
              <a:gd name="connsiteY1" fmla="*/ 0 h 2023789"/>
              <a:gd name="connsiteX0" fmla="*/ 226927 w 821906"/>
              <a:gd name="connsiteY0" fmla="*/ 2023789 h 2023789"/>
              <a:gd name="connsiteX1" fmla="*/ 0 w 821906"/>
              <a:gd name="connsiteY1" fmla="*/ 0 h 2023789"/>
              <a:gd name="connsiteX0" fmla="*/ 125327 w 744143"/>
              <a:gd name="connsiteY0" fmla="*/ 2032256 h 2032256"/>
              <a:gd name="connsiteX1" fmla="*/ 0 w 744143"/>
              <a:gd name="connsiteY1" fmla="*/ 0 h 2032256"/>
              <a:gd name="connsiteX0" fmla="*/ 130379 w 715075"/>
              <a:gd name="connsiteY0" fmla="*/ 2032256 h 2032256"/>
              <a:gd name="connsiteX1" fmla="*/ 5052 w 715075"/>
              <a:gd name="connsiteY1" fmla="*/ 0 h 2032256"/>
              <a:gd name="connsiteX0" fmla="*/ 125327 w 735329"/>
              <a:gd name="connsiteY0" fmla="*/ 2032256 h 2032256"/>
              <a:gd name="connsiteX1" fmla="*/ 0 w 735329"/>
              <a:gd name="connsiteY1" fmla="*/ 0 h 2032256"/>
              <a:gd name="connsiteX0" fmla="*/ 125345 w 730150"/>
              <a:gd name="connsiteY0" fmla="*/ 2032256 h 2032256"/>
              <a:gd name="connsiteX1" fmla="*/ 18 w 730150"/>
              <a:gd name="connsiteY1" fmla="*/ 0 h 2032256"/>
              <a:gd name="connsiteX0" fmla="*/ 125345 w 730150"/>
              <a:gd name="connsiteY0" fmla="*/ 2032256 h 2032256"/>
              <a:gd name="connsiteX1" fmla="*/ 18 w 730150"/>
              <a:gd name="connsiteY1" fmla="*/ 0 h 2032256"/>
              <a:gd name="connsiteX0" fmla="*/ 125344 w 793974"/>
              <a:gd name="connsiteY0" fmla="*/ 2032256 h 2032256"/>
              <a:gd name="connsiteX1" fmla="*/ 17 w 793974"/>
              <a:gd name="connsiteY1" fmla="*/ 0 h 2032256"/>
              <a:gd name="connsiteX0" fmla="*/ 125347 w 647602"/>
              <a:gd name="connsiteY0" fmla="*/ 2032256 h 2032256"/>
              <a:gd name="connsiteX1" fmla="*/ 20 w 647602"/>
              <a:gd name="connsiteY1" fmla="*/ 0 h 2032256"/>
              <a:gd name="connsiteX0" fmla="*/ 125350 w 568879"/>
              <a:gd name="connsiteY0" fmla="*/ 2032256 h 2032256"/>
              <a:gd name="connsiteX1" fmla="*/ 23 w 568879"/>
              <a:gd name="connsiteY1" fmla="*/ 0 h 2032256"/>
              <a:gd name="connsiteX0" fmla="*/ 201549 w 628450"/>
              <a:gd name="connsiteY0" fmla="*/ 2032256 h 2032256"/>
              <a:gd name="connsiteX1" fmla="*/ 22 w 628450"/>
              <a:gd name="connsiteY1" fmla="*/ 0 h 2032256"/>
              <a:gd name="connsiteX0" fmla="*/ 208512 w 615873"/>
              <a:gd name="connsiteY0" fmla="*/ 2032256 h 2032256"/>
              <a:gd name="connsiteX1" fmla="*/ 6985 w 615873"/>
              <a:gd name="connsiteY1" fmla="*/ 0 h 2032256"/>
              <a:gd name="connsiteX0" fmla="*/ 207785 w 689147"/>
              <a:gd name="connsiteY0" fmla="*/ 2032256 h 2032256"/>
              <a:gd name="connsiteX1" fmla="*/ 6258 w 689147"/>
              <a:gd name="connsiteY1" fmla="*/ 0 h 2032256"/>
              <a:gd name="connsiteX0" fmla="*/ 207785 w 689147"/>
              <a:gd name="connsiteY0" fmla="*/ 2074589 h 2074589"/>
              <a:gd name="connsiteX1" fmla="*/ 6258 w 689147"/>
              <a:gd name="connsiteY1" fmla="*/ 0 h 2074589"/>
              <a:gd name="connsiteX0" fmla="*/ 201527 w 727958"/>
              <a:gd name="connsiteY0" fmla="*/ 2074589 h 2074589"/>
              <a:gd name="connsiteX1" fmla="*/ 0 w 727958"/>
              <a:gd name="connsiteY1" fmla="*/ 0 h 2074589"/>
              <a:gd name="connsiteX0" fmla="*/ 201527 w 717757"/>
              <a:gd name="connsiteY0" fmla="*/ 2074589 h 2074589"/>
              <a:gd name="connsiteX1" fmla="*/ 0 w 717757"/>
              <a:gd name="connsiteY1" fmla="*/ 0 h 2074589"/>
              <a:gd name="connsiteX0" fmla="*/ 202028 w 698758"/>
              <a:gd name="connsiteY0" fmla="*/ 2074589 h 2074589"/>
              <a:gd name="connsiteX1" fmla="*/ 501 w 698758"/>
              <a:gd name="connsiteY1" fmla="*/ 0 h 2074589"/>
              <a:gd name="connsiteX0" fmla="*/ 207784 w 689146"/>
              <a:gd name="connsiteY0" fmla="*/ 2074589 h 2074589"/>
              <a:gd name="connsiteX1" fmla="*/ 6257 w 689146"/>
              <a:gd name="connsiteY1" fmla="*/ 0 h 2074589"/>
              <a:gd name="connsiteX0" fmla="*/ 229063 w 686030"/>
              <a:gd name="connsiteY0" fmla="*/ 2074589 h 2074589"/>
              <a:gd name="connsiteX1" fmla="*/ 27536 w 686030"/>
              <a:gd name="connsiteY1" fmla="*/ 0 h 2074589"/>
              <a:gd name="connsiteX0" fmla="*/ 224445 w 685565"/>
              <a:gd name="connsiteY0" fmla="*/ 2074589 h 2074589"/>
              <a:gd name="connsiteX1" fmla="*/ 22918 w 685565"/>
              <a:gd name="connsiteY1" fmla="*/ 0 h 2074589"/>
              <a:gd name="connsiteX0" fmla="*/ 211635 w 687066"/>
              <a:gd name="connsiteY0" fmla="*/ 2074589 h 2074589"/>
              <a:gd name="connsiteX1" fmla="*/ 10108 w 687066"/>
              <a:gd name="connsiteY1" fmla="*/ 0 h 2074589"/>
              <a:gd name="connsiteX0" fmla="*/ 214269 w 538943"/>
              <a:gd name="connsiteY0" fmla="*/ 2074589 h 2074589"/>
              <a:gd name="connsiteX1" fmla="*/ 12742 w 538943"/>
              <a:gd name="connsiteY1" fmla="*/ 0 h 2074589"/>
              <a:gd name="connsiteX0" fmla="*/ 213161 w 592748"/>
              <a:gd name="connsiteY0" fmla="*/ 2074589 h 2074589"/>
              <a:gd name="connsiteX1" fmla="*/ 11634 w 592748"/>
              <a:gd name="connsiteY1" fmla="*/ 0 h 2074589"/>
              <a:gd name="connsiteX0" fmla="*/ 212523 w 628891"/>
              <a:gd name="connsiteY0" fmla="*/ 2074589 h 2074589"/>
              <a:gd name="connsiteX1" fmla="*/ 10996 w 628891"/>
              <a:gd name="connsiteY1" fmla="*/ 0 h 2074589"/>
            </a:gdLst>
            <a:ahLst/>
            <a:cxnLst>
              <a:cxn ang="0">
                <a:pos x="connsiteX0" y="connsiteY0"/>
              </a:cxn>
              <a:cxn ang="0">
                <a:pos x="connsiteX1" y="connsiteY1"/>
              </a:cxn>
            </a:cxnLst>
            <a:rect l="l" t="t" r="r" b="b"/>
            <a:pathLst>
              <a:path w="628891" h="2074589">
                <a:moveTo>
                  <a:pt x="212523" y="2074589"/>
                </a:moveTo>
                <a:cubicBezTo>
                  <a:pt x="1315571" y="1032216"/>
                  <a:pt x="-139075" y="1436329"/>
                  <a:pt x="10996" y="0"/>
                </a:cubicBezTo>
              </a:path>
            </a:pathLst>
          </a:custGeom>
          <a:noFill/>
          <a:ln w="76200">
            <a:solidFill>
              <a:srgbClr val="62B230"/>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文本框 49"/>
          <p:cNvSpPr txBox="1"/>
          <p:nvPr/>
        </p:nvSpPr>
        <p:spPr bwMode="gray">
          <a:xfrm>
            <a:off x="5662848" y="5806531"/>
            <a:ext cx="5729454" cy="276999"/>
          </a:xfrm>
          <a:prstGeom prst="rect">
            <a:avLst/>
          </a:prstGeom>
          <a:noFill/>
        </p:spPr>
        <p:txBody>
          <a:bodyPr wrap="none" rtlCol="0">
            <a:spAutoFit/>
          </a:bodyPr>
          <a:lstStyle/>
          <a:p>
            <a:pPr algn="ctr" fontAlgn="auto">
              <a:spcBef>
                <a:spcPts val="0"/>
              </a:spcBef>
              <a:spcAft>
                <a:spcPts val="0"/>
              </a:spcAft>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通过</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VRRP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及</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MSTP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组合规划实现：网关冗余、负载分担、二层环路避免及可靠性。</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五边形 50"/>
          <p:cNvSpPr/>
          <p:nvPr/>
        </p:nvSpPr>
        <p:spPr bwMode="auto">
          <a:xfrm>
            <a:off x="6179960" y="98481"/>
            <a:ext cx="94884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以太网交换</a:t>
            </a:r>
          </a:p>
        </p:txBody>
      </p:sp>
      <p:sp>
        <p:nvSpPr>
          <p:cNvPr id="52" name="燕尾形 51"/>
          <p:cNvSpPr/>
          <p:nvPr/>
        </p:nvSpPr>
        <p:spPr bwMode="auto">
          <a:xfrm>
            <a:off x="7049907" y="98481"/>
            <a:ext cx="678521"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燕尾形 52"/>
          <p:cNvSpPr/>
          <p:nvPr/>
        </p:nvSpPr>
        <p:spPr bwMode="auto">
          <a:xfrm>
            <a:off x="7649535" y="98481"/>
            <a:ext cx="87595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无线接入</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燕尾形 53"/>
          <p:cNvSpPr/>
          <p:nvPr/>
        </p:nvSpPr>
        <p:spPr bwMode="auto">
          <a:xfrm>
            <a:off x="8446601" y="98481"/>
            <a:ext cx="7812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可靠性</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燕尾形 54"/>
          <p:cNvSpPr/>
          <p:nvPr/>
        </p:nvSpPr>
        <p:spPr bwMode="auto">
          <a:xfrm>
            <a:off x="9148908" y="98481"/>
            <a:ext cx="87048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网络安全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燕尾形 55"/>
          <p:cNvSpPr/>
          <p:nvPr/>
        </p:nvSpPr>
        <p:spPr bwMode="auto">
          <a:xfrm>
            <a:off x="9940504" y="98481"/>
            <a:ext cx="130400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网络服务与管理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燕尾形 56"/>
          <p:cNvSpPr/>
          <p:nvPr/>
        </p:nvSpPr>
        <p:spPr bwMode="auto">
          <a:xfrm>
            <a:off x="11165613" y="98481"/>
            <a:ext cx="583475"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出口</a:t>
            </a:r>
          </a:p>
        </p:txBody>
      </p:sp>
    </p:spTree>
    <p:extLst>
      <p:ext uri="{BB962C8B-B14F-4D97-AF65-F5344CB8AC3E}">
        <p14:creationId xmlns:p14="http://schemas.microsoft.com/office/powerpoint/2010/main" val="24980059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Huawei Sans" panose="020C0503030203020204" pitchFamily="34" charset="0"/>
              </a:rPr>
              <a:t>链路聚合、堆叠</a:t>
            </a:r>
            <a:r>
              <a:rPr lang="en-US" altLang="zh-CN" dirty="0">
                <a:sym typeface="Huawei Sans" panose="020C0503030203020204" pitchFamily="34" charset="0"/>
              </a:rPr>
              <a:t>/</a:t>
            </a:r>
            <a:r>
              <a:rPr lang="zh-CN" altLang="en-US" dirty="0">
                <a:sym typeface="Huawei Sans" panose="020C0503030203020204" pitchFamily="34" charset="0"/>
              </a:rPr>
              <a:t>集群技术</a:t>
            </a:r>
          </a:p>
        </p:txBody>
      </p:sp>
      <p:sp>
        <p:nvSpPr>
          <p:cNvPr id="3" name="文本占位符 70"/>
          <p:cNvSpPr txBox="1">
            <a:spLocks/>
          </p:cNvSpPr>
          <p:nvPr/>
        </p:nvSpPr>
        <p:spPr bwMode="gray">
          <a:xfrm>
            <a:off x="6095999" y="1047750"/>
            <a:ext cx="5616575" cy="4879805"/>
          </a:xfrm>
          <a:prstGeom prst="rect">
            <a:avLst/>
          </a:prstGeom>
        </p:spPr>
        <p:txBody>
          <a:bodyPr/>
          <a:lst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600" dirty="0">
                <a:sym typeface="Huawei Sans" panose="020C0503030203020204" pitchFamily="34" charset="0"/>
              </a:rPr>
              <a:t>以太网链路聚合（</a:t>
            </a:r>
            <a:r>
              <a:rPr lang="en-US" altLang="zh-CN" sz="1600" dirty="0">
                <a:sym typeface="Huawei Sans" panose="020C0503030203020204" pitchFamily="34" charset="0"/>
              </a:rPr>
              <a:t>Eth-Trunk</a:t>
            </a:r>
            <a:r>
              <a:rPr lang="zh-CN" altLang="en-US" sz="1600" dirty="0">
                <a:sym typeface="Huawei Sans" panose="020C0503030203020204" pitchFamily="34" charset="0"/>
              </a:rPr>
              <a:t>），简称链路聚合，通过将多个物理接口捆绑成为一个逻辑接口，可以在不进行硬件升级的条件下，达到增加链路带宽的目的。</a:t>
            </a:r>
          </a:p>
          <a:p>
            <a:r>
              <a:rPr lang="en-US" altLang="zh-CN" sz="1600" dirty="0" err="1">
                <a:sym typeface="Huawei Sans" panose="020C0503030203020204" pitchFamily="34" charset="0"/>
              </a:rPr>
              <a:t>iStack</a:t>
            </a:r>
            <a:r>
              <a:rPr lang="zh-CN" altLang="en-US" sz="1600" dirty="0">
                <a:sym typeface="Huawei Sans" panose="020C0503030203020204" pitchFamily="34" charset="0"/>
              </a:rPr>
              <a:t>（</a:t>
            </a:r>
            <a:r>
              <a:rPr lang="en-US" altLang="zh-CN" sz="1600" dirty="0">
                <a:sym typeface="Huawei Sans" panose="020C0503030203020204" pitchFamily="34" charset="0"/>
              </a:rPr>
              <a:t>Intelligent Stack</a:t>
            </a:r>
            <a:r>
              <a:rPr lang="zh-CN" altLang="en-US" sz="1600" dirty="0">
                <a:sym typeface="Huawei Sans" panose="020C0503030203020204" pitchFamily="34" charset="0"/>
              </a:rPr>
              <a:t>，智能堆叠），简称堆叠，是指将多台支持堆叠特性的交换机设备组合在一起，从逻辑上组合成一台交换设备。</a:t>
            </a:r>
            <a:r>
              <a:rPr lang="en-US" altLang="zh-CN" sz="1600" dirty="0" err="1">
                <a:sym typeface="Huawei Sans" panose="020C0503030203020204" pitchFamily="34" charset="0"/>
              </a:rPr>
              <a:t>iStack</a:t>
            </a:r>
            <a:r>
              <a:rPr lang="zh-CN" altLang="en-US" sz="1600" dirty="0">
                <a:sym typeface="Huawei Sans" panose="020C0503030203020204" pitchFamily="34" charset="0"/>
              </a:rPr>
              <a:t>针对华为盒式交换机。</a:t>
            </a:r>
          </a:p>
          <a:p>
            <a:r>
              <a:rPr lang="en-US" altLang="zh-CN" sz="1600" dirty="0">
                <a:sym typeface="Huawei Sans" panose="020C0503030203020204" pitchFamily="34" charset="0"/>
              </a:rPr>
              <a:t>CSS</a:t>
            </a:r>
            <a:r>
              <a:rPr lang="zh-CN" altLang="en-US" sz="1600" dirty="0">
                <a:sym typeface="Huawei Sans" panose="020C0503030203020204" pitchFamily="34" charset="0"/>
              </a:rPr>
              <a:t>（</a:t>
            </a:r>
            <a:r>
              <a:rPr lang="en-US" altLang="zh-CN" sz="1600" dirty="0">
                <a:sym typeface="Huawei Sans" panose="020C0503030203020204" pitchFamily="34" charset="0"/>
              </a:rPr>
              <a:t>Cluster Switch System</a:t>
            </a:r>
            <a:r>
              <a:rPr lang="zh-CN" altLang="en-US" sz="1600" dirty="0">
                <a:sym typeface="Huawei Sans" panose="020C0503030203020204" pitchFamily="34" charset="0"/>
              </a:rPr>
              <a:t>，集群交换机系统），又称为集群，是指将两台支持集群特性的交换机设备组合在一起，从逻辑上组合成一台交换设备。</a:t>
            </a:r>
            <a:r>
              <a:rPr lang="en-US" altLang="zh-CN" sz="1600" dirty="0">
                <a:sym typeface="Huawei Sans" panose="020C0503030203020204" pitchFamily="34" charset="0"/>
              </a:rPr>
              <a:t>CSS</a:t>
            </a:r>
            <a:r>
              <a:rPr lang="zh-CN" altLang="en-US" sz="1600" dirty="0">
                <a:sym typeface="Huawei Sans" panose="020C0503030203020204" pitchFamily="34" charset="0"/>
              </a:rPr>
              <a:t>针对华为框式交换机。</a:t>
            </a:r>
          </a:p>
          <a:p>
            <a:r>
              <a:rPr lang="zh-CN" altLang="en-US" sz="1600" dirty="0">
                <a:sym typeface="Huawei Sans" panose="020C0503030203020204" pitchFamily="34" charset="0"/>
              </a:rPr>
              <a:t>通过链路聚合与堆叠</a:t>
            </a:r>
            <a:r>
              <a:rPr lang="en-US" altLang="zh-CN" sz="1600" dirty="0">
                <a:sym typeface="Huawei Sans" panose="020C0503030203020204" pitchFamily="34" charset="0"/>
              </a:rPr>
              <a:t>/</a:t>
            </a:r>
            <a:r>
              <a:rPr lang="zh-CN" altLang="en-US" sz="1600" dirty="0">
                <a:sym typeface="Huawei Sans" panose="020C0503030203020204" pitchFamily="34" charset="0"/>
              </a:rPr>
              <a:t>集群技术的结合，可以分别实现链路和设备级别的可靠性，同时还可以在一定程度上提升网络带宽。</a:t>
            </a:r>
          </a:p>
        </p:txBody>
      </p:sp>
      <p:sp>
        <p:nvSpPr>
          <p:cNvPr id="4" name="圆角矩形 3"/>
          <p:cNvSpPr/>
          <p:nvPr/>
        </p:nvSpPr>
        <p:spPr bwMode="gray">
          <a:xfrm>
            <a:off x="739087" y="4731740"/>
            <a:ext cx="2406981" cy="548787"/>
          </a:xfrm>
          <a:prstGeom prst="roundRect">
            <a:avLst>
              <a:gd name="adj" fmla="val 4236"/>
            </a:avLst>
          </a:prstGeom>
          <a:solidFill>
            <a:srgbClr val="F2FBFC"/>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400">
              <a:lnSpc>
                <a:spcPts val="2000"/>
              </a:lnSpc>
            </a:pPr>
            <a:endParaRPr lang="zh-CN" altLang="en-US" sz="14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任意多边形 4"/>
          <p:cNvSpPr/>
          <p:nvPr/>
        </p:nvSpPr>
        <p:spPr bwMode="gray">
          <a:xfrm>
            <a:off x="1097508" y="5111770"/>
            <a:ext cx="1710657" cy="116515"/>
          </a:xfrm>
          <a:custGeom>
            <a:avLst/>
            <a:gdLst>
              <a:gd name="connsiteX0" fmla="*/ 0 w 1898650"/>
              <a:gd name="connsiteY0" fmla="*/ 0 h 209550"/>
              <a:gd name="connsiteX1" fmla="*/ 0 w 1898650"/>
              <a:gd name="connsiteY1" fmla="*/ 209550 h 209550"/>
              <a:gd name="connsiteX2" fmla="*/ 1898650 w 1898650"/>
              <a:gd name="connsiteY2" fmla="*/ 209550 h 209550"/>
              <a:gd name="connsiteX3" fmla="*/ 1898650 w 1898650"/>
              <a:gd name="connsiteY3" fmla="*/ 0 h 209550"/>
            </a:gdLst>
            <a:ahLst/>
            <a:cxnLst>
              <a:cxn ang="0">
                <a:pos x="connsiteX0" y="connsiteY0"/>
              </a:cxn>
              <a:cxn ang="0">
                <a:pos x="connsiteX1" y="connsiteY1"/>
              </a:cxn>
              <a:cxn ang="0">
                <a:pos x="connsiteX2" y="connsiteY2"/>
              </a:cxn>
              <a:cxn ang="0">
                <a:pos x="connsiteX3" y="connsiteY3"/>
              </a:cxn>
            </a:cxnLst>
            <a:rect l="l" t="t" r="r" b="b"/>
            <a:pathLst>
              <a:path w="1898650" h="209550">
                <a:moveTo>
                  <a:pt x="0" y="0"/>
                </a:moveTo>
                <a:lnTo>
                  <a:pt x="0" y="209550"/>
                </a:lnTo>
                <a:lnTo>
                  <a:pt x="1898650" y="209550"/>
                </a:lnTo>
                <a:lnTo>
                  <a:pt x="1898650" y="0"/>
                </a:lnTo>
              </a:path>
            </a:pathLst>
          </a:custGeom>
          <a:noFill/>
          <a:ln w="28575">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 name="直接连接符 5"/>
          <p:cNvCxnSpPr>
            <a:endCxn id="7" idx="0"/>
          </p:cNvCxnSpPr>
          <p:nvPr/>
        </p:nvCxnSpPr>
        <p:spPr bwMode="gray">
          <a:xfrm>
            <a:off x="1007351" y="5111769"/>
            <a:ext cx="0" cy="471489"/>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pic>
        <p:nvPicPr>
          <p:cNvPr id="7" name="图片 6"/>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824177" y="5583258"/>
            <a:ext cx="366348" cy="279710"/>
          </a:xfrm>
          <a:prstGeom prst="rect">
            <a:avLst/>
          </a:prstGeom>
        </p:spPr>
      </p:pic>
      <p:pic>
        <p:nvPicPr>
          <p:cNvPr id="8" name="图片 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679051" y="5583258"/>
            <a:ext cx="366348" cy="279710"/>
          </a:xfrm>
          <a:prstGeom prst="rect">
            <a:avLst/>
          </a:prstGeom>
        </p:spPr>
      </p:pic>
      <p:cxnSp>
        <p:nvCxnSpPr>
          <p:cNvPr id="9" name="直接连接符 8"/>
          <p:cNvCxnSpPr>
            <a:endCxn id="8" idx="0"/>
          </p:cNvCxnSpPr>
          <p:nvPr/>
        </p:nvCxnSpPr>
        <p:spPr bwMode="gray">
          <a:xfrm>
            <a:off x="2862225" y="5111769"/>
            <a:ext cx="0" cy="471489"/>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sp>
        <p:nvSpPr>
          <p:cNvPr id="10" name="TextBox 77"/>
          <p:cNvSpPr txBox="1"/>
          <p:nvPr/>
        </p:nvSpPr>
        <p:spPr bwMode="gray">
          <a:xfrm>
            <a:off x="762810" y="4946420"/>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400" b="1" dirty="0" err="1">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iStack</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pic>
        <p:nvPicPr>
          <p:cNvPr id="11" name="图片 10"/>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733250" y="5590348"/>
            <a:ext cx="366348" cy="279710"/>
          </a:xfrm>
          <a:prstGeom prst="rect">
            <a:avLst/>
          </a:prstGeom>
        </p:spPr>
      </p:pic>
      <p:cxnSp>
        <p:nvCxnSpPr>
          <p:cNvPr id="12" name="直接连接符 11"/>
          <p:cNvCxnSpPr>
            <a:endCxn id="11" idx="0"/>
          </p:cNvCxnSpPr>
          <p:nvPr/>
        </p:nvCxnSpPr>
        <p:spPr bwMode="gray">
          <a:xfrm>
            <a:off x="1916424" y="5111769"/>
            <a:ext cx="0" cy="478579"/>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bwMode="gray">
          <a:xfrm>
            <a:off x="1192354" y="4960403"/>
            <a:ext cx="539067" cy="0"/>
          </a:xfrm>
          <a:prstGeom prst="line">
            <a:avLst/>
          </a:prstGeom>
          <a:solidFill>
            <a:schemeClr val="accent1"/>
          </a:solidFill>
          <a:ln w="28575" cap="flat" cmpd="sng" algn="ctr">
            <a:solidFill>
              <a:srgbClr val="30B5C5"/>
            </a:solidFill>
            <a:prstDash val="solid"/>
            <a:round/>
            <a:headEnd type="none" w="med" len="med"/>
            <a:tailEnd type="none" w="med" len="med"/>
          </a:ln>
          <a:effectLst/>
        </p:spPr>
      </p:cxnSp>
      <p:sp>
        <p:nvSpPr>
          <p:cNvPr id="14" name="圆角矩形 13"/>
          <p:cNvSpPr/>
          <p:nvPr/>
        </p:nvSpPr>
        <p:spPr bwMode="gray">
          <a:xfrm>
            <a:off x="2530303" y="2187493"/>
            <a:ext cx="1595397" cy="483351"/>
          </a:xfrm>
          <a:prstGeom prst="roundRect">
            <a:avLst>
              <a:gd name="adj" fmla="val 4236"/>
            </a:avLst>
          </a:prstGeom>
          <a:solidFill>
            <a:srgbClr val="F2FBFC"/>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400">
              <a:lnSpc>
                <a:spcPts val="2000"/>
              </a:lnSpc>
            </a:pPr>
            <a:endParaRPr lang="zh-CN" altLang="en-US" sz="14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5" name="直接连接符 14"/>
          <p:cNvCxnSpPr>
            <a:stCxn id="69" idx="3"/>
          </p:cNvCxnSpPr>
          <p:nvPr/>
        </p:nvCxnSpPr>
        <p:spPr bwMode="gray">
          <a:xfrm>
            <a:off x="3025825" y="2487539"/>
            <a:ext cx="607764" cy="0"/>
          </a:xfrm>
          <a:prstGeom prst="line">
            <a:avLst/>
          </a:prstGeom>
          <a:solidFill>
            <a:schemeClr val="accent1"/>
          </a:solidFill>
          <a:ln w="28575" cap="flat" cmpd="sng" algn="ctr">
            <a:solidFill>
              <a:srgbClr val="30B5C5"/>
            </a:solidFill>
            <a:prstDash val="solid"/>
            <a:round/>
            <a:headEnd type="none" w="med" len="med"/>
            <a:tailEnd type="none" w="med" len="med"/>
          </a:ln>
          <a:effectLst/>
        </p:spPr>
      </p:cxnSp>
      <p:sp>
        <p:nvSpPr>
          <p:cNvPr id="16" name="TextBox 77"/>
          <p:cNvSpPr txBox="1"/>
          <p:nvPr/>
        </p:nvSpPr>
        <p:spPr bwMode="gray">
          <a:xfrm>
            <a:off x="2619265" y="2181698"/>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CSS</a:t>
            </a:r>
          </a:p>
        </p:txBody>
      </p:sp>
      <p:sp>
        <p:nvSpPr>
          <p:cNvPr id="17" name="圆角矩形 16"/>
          <p:cNvSpPr/>
          <p:nvPr/>
        </p:nvSpPr>
        <p:spPr bwMode="gray">
          <a:xfrm>
            <a:off x="2633198" y="3370715"/>
            <a:ext cx="1407273" cy="420785"/>
          </a:xfrm>
          <a:prstGeom prst="roundRect">
            <a:avLst>
              <a:gd name="adj" fmla="val 4236"/>
            </a:avLst>
          </a:prstGeom>
          <a:solidFill>
            <a:srgbClr val="F2FBFC"/>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400">
              <a:lnSpc>
                <a:spcPts val="2000"/>
              </a:lnSpc>
            </a:pPr>
            <a:endParaRPr lang="zh-CN" altLang="en-US" sz="14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8" name="直接连接符 17"/>
          <p:cNvCxnSpPr>
            <a:stCxn id="68" idx="3"/>
            <a:endCxn id="67" idx="1"/>
          </p:cNvCxnSpPr>
          <p:nvPr/>
        </p:nvCxnSpPr>
        <p:spPr bwMode="gray">
          <a:xfrm>
            <a:off x="3146068" y="3608892"/>
            <a:ext cx="337141" cy="0"/>
          </a:xfrm>
          <a:prstGeom prst="line">
            <a:avLst/>
          </a:prstGeom>
          <a:solidFill>
            <a:schemeClr val="accent1"/>
          </a:solidFill>
          <a:ln w="28575" cap="flat" cmpd="sng" algn="ctr">
            <a:solidFill>
              <a:srgbClr val="30B5C5"/>
            </a:solidFill>
            <a:prstDash val="solid"/>
            <a:round/>
            <a:headEnd type="none" w="med" len="med"/>
            <a:tailEnd type="none" w="med" len="med"/>
          </a:ln>
          <a:effectLst/>
        </p:spPr>
      </p:cxnSp>
      <p:cxnSp>
        <p:nvCxnSpPr>
          <p:cNvPr id="19" name="直接连接符 18"/>
          <p:cNvCxnSpPr/>
          <p:nvPr/>
        </p:nvCxnSpPr>
        <p:spPr bwMode="gray">
          <a:xfrm>
            <a:off x="2101427" y="4960403"/>
            <a:ext cx="575795" cy="0"/>
          </a:xfrm>
          <a:prstGeom prst="line">
            <a:avLst/>
          </a:prstGeom>
          <a:solidFill>
            <a:schemeClr val="accent1"/>
          </a:solidFill>
          <a:ln w="28575" cap="flat" cmpd="sng" algn="ctr">
            <a:solidFill>
              <a:srgbClr val="30B5C5"/>
            </a:solidFill>
            <a:prstDash val="solid"/>
            <a:round/>
            <a:headEnd type="none" w="med" len="med"/>
            <a:tailEnd type="none" w="med" len="med"/>
          </a:ln>
          <a:effectLst/>
        </p:spPr>
      </p:cxnSp>
      <p:sp>
        <p:nvSpPr>
          <p:cNvPr id="20" name="圆角矩形 19"/>
          <p:cNvSpPr/>
          <p:nvPr/>
        </p:nvSpPr>
        <p:spPr bwMode="gray">
          <a:xfrm>
            <a:off x="3437658" y="4731740"/>
            <a:ext cx="2406981" cy="548787"/>
          </a:xfrm>
          <a:prstGeom prst="roundRect">
            <a:avLst>
              <a:gd name="adj" fmla="val 4236"/>
            </a:avLst>
          </a:prstGeom>
          <a:solidFill>
            <a:srgbClr val="F2FBFC"/>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400">
              <a:lnSpc>
                <a:spcPts val="2000"/>
              </a:lnSpc>
            </a:pPr>
            <a:endParaRPr lang="zh-CN" altLang="en-US" sz="14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任意多边形 20"/>
          <p:cNvSpPr/>
          <p:nvPr/>
        </p:nvSpPr>
        <p:spPr bwMode="gray">
          <a:xfrm>
            <a:off x="3796079" y="5111770"/>
            <a:ext cx="1710657" cy="116515"/>
          </a:xfrm>
          <a:custGeom>
            <a:avLst/>
            <a:gdLst>
              <a:gd name="connsiteX0" fmla="*/ 0 w 1898650"/>
              <a:gd name="connsiteY0" fmla="*/ 0 h 209550"/>
              <a:gd name="connsiteX1" fmla="*/ 0 w 1898650"/>
              <a:gd name="connsiteY1" fmla="*/ 209550 h 209550"/>
              <a:gd name="connsiteX2" fmla="*/ 1898650 w 1898650"/>
              <a:gd name="connsiteY2" fmla="*/ 209550 h 209550"/>
              <a:gd name="connsiteX3" fmla="*/ 1898650 w 1898650"/>
              <a:gd name="connsiteY3" fmla="*/ 0 h 209550"/>
            </a:gdLst>
            <a:ahLst/>
            <a:cxnLst>
              <a:cxn ang="0">
                <a:pos x="connsiteX0" y="connsiteY0"/>
              </a:cxn>
              <a:cxn ang="0">
                <a:pos x="connsiteX1" y="connsiteY1"/>
              </a:cxn>
              <a:cxn ang="0">
                <a:pos x="connsiteX2" y="connsiteY2"/>
              </a:cxn>
              <a:cxn ang="0">
                <a:pos x="connsiteX3" y="connsiteY3"/>
              </a:cxn>
            </a:cxnLst>
            <a:rect l="l" t="t" r="r" b="b"/>
            <a:pathLst>
              <a:path w="1898650" h="209550">
                <a:moveTo>
                  <a:pt x="0" y="0"/>
                </a:moveTo>
                <a:lnTo>
                  <a:pt x="0" y="209550"/>
                </a:lnTo>
                <a:lnTo>
                  <a:pt x="1898650" y="209550"/>
                </a:lnTo>
                <a:lnTo>
                  <a:pt x="1898650" y="0"/>
                </a:lnTo>
              </a:path>
            </a:pathLst>
          </a:custGeom>
          <a:noFill/>
          <a:ln w="28575">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2" name="直接连接符 21"/>
          <p:cNvCxnSpPr>
            <a:endCxn id="23" idx="0"/>
          </p:cNvCxnSpPr>
          <p:nvPr/>
        </p:nvCxnSpPr>
        <p:spPr bwMode="gray">
          <a:xfrm>
            <a:off x="3705922" y="5111769"/>
            <a:ext cx="0" cy="471489"/>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522748" y="5583258"/>
            <a:ext cx="366348" cy="279710"/>
          </a:xfrm>
          <a:prstGeom prst="rect">
            <a:avLst/>
          </a:prstGeom>
        </p:spPr>
      </p:pic>
      <p:pic>
        <p:nvPicPr>
          <p:cNvPr id="24" name="图片 2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5377622" y="5583258"/>
            <a:ext cx="366348" cy="279710"/>
          </a:xfrm>
          <a:prstGeom prst="rect">
            <a:avLst/>
          </a:prstGeom>
        </p:spPr>
      </p:pic>
      <p:cxnSp>
        <p:nvCxnSpPr>
          <p:cNvPr id="25" name="直接连接符 24"/>
          <p:cNvCxnSpPr>
            <a:endCxn id="24" idx="0"/>
          </p:cNvCxnSpPr>
          <p:nvPr/>
        </p:nvCxnSpPr>
        <p:spPr bwMode="gray">
          <a:xfrm>
            <a:off x="5560796" y="5111769"/>
            <a:ext cx="0" cy="471489"/>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435479" y="5590348"/>
            <a:ext cx="366348" cy="279710"/>
          </a:xfrm>
          <a:prstGeom prst="rect">
            <a:avLst/>
          </a:prstGeom>
        </p:spPr>
      </p:pic>
      <p:cxnSp>
        <p:nvCxnSpPr>
          <p:cNvPr id="27" name="直接连接符 26"/>
          <p:cNvCxnSpPr>
            <a:endCxn id="26" idx="0"/>
          </p:cNvCxnSpPr>
          <p:nvPr/>
        </p:nvCxnSpPr>
        <p:spPr bwMode="gray">
          <a:xfrm>
            <a:off x="4618653" y="5111769"/>
            <a:ext cx="0" cy="478579"/>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bwMode="gray">
          <a:xfrm>
            <a:off x="3890925" y="4960403"/>
            <a:ext cx="539066" cy="0"/>
          </a:xfrm>
          <a:prstGeom prst="line">
            <a:avLst/>
          </a:prstGeom>
          <a:solidFill>
            <a:schemeClr val="accent1"/>
          </a:solidFill>
          <a:ln w="28575" cap="flat" cmpd="sng" algn="ctr">
            <a:solidFill>
              <a:srgbClr val="30B5C5"/>
            </a:solidFill>
            <a:prstDash val="solid"/>
            <a:round/>
            <a:headEnd type="none" w="med" len="med"/>
            <a:tailEnd type="none" w="med" len="med"/>
          </a:ln>
          <a:effectLst/>
        </p:spPr>
      </p:cxnSp>
      <p:cxnSp>
        <p:nvCxnSpPr>
          <p:cNvPr id="29" name="直接连接符 28"/>
          <p:cNvCxnSpPr/>
          <p:nvPr/>
        </p:nvCxnSpPr>
        <p:spPr bwMode="gray">
          <a:xfrm>
            <a:off x="4799997" y="4960403"/>
            <a:ext cx="575795" cy="0"/>
          </a:xfrm>
          <a:prstGeom prst="line">
            <a:avLst/>
          </a:prstGeom>
          <a:solidFill>
            <a:schemeClr val="accent1"/>
          </a:solidFill>
          <a:ln w="28575" cap="flat" cmpd="sng" algn="ctr">
            <a:solidFill>
              <a:srgbClr val="30B5C5"/>
            </a:solidFill>
            <a:prstDash val="solid"/>
            <a:round/>
            <a:headEnd type="none" w="med" len="med"/>
            <a:tailEnd type="none" w="med" len="med"/>
          </a:ln>
          <a:effectLst/>
        </p:spPr>
      </p:cxnSp>
      <p:sp>
        <p:nvSpPr>
          <p:cNvPr id="30" name="TextBox 77"/>
          <p:cNvSpPr txBox="1"/>
          <p:nvPr/>
        </p:nvSpPr>
        <p:spPr bwMode="gray">
          <a:xfrm>
            <a:off x="1620901" y="3425975"/>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400" b="1" dirty="0" err="1">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iStack</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cxnSp>
        <p:nvCxnSpPr>
          <p:cNvPr id="31" name="直接连接符 30"/>
          <p:cNvCxnSpPr/>
          <p:nvPr/>
        </p:nvCxnSpPr>
        <p:spPr bwMode="gray">
          <a:xfrm flipH="1">
            <a:off x="1007352" y="3764229"/>
            <a:ext cx="1939934" cy="1044809"/>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bwMode="gray">
          <a:xfrm flipH="1">
            <a:off x="1916424" y="3764229"/>
            <a:ext cx="1030862" cy="1044808"/>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bwMode="gray">
          <a:xfrm flipH="1">
            <a:off x="2862226" y="3764229"/>
            <a:ext cx="85060" cy="1044808"/>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bwMode="gray">
          <a:xfrm>
            <a:off x="2947286" y="3764229"/>
            <a:ext cx="758636" cy="1044809"/>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bwMode="gray">
          <a:xfrm>
            <a:off x="2947286" y="3764229"/>
            <a:ext cx="1667709" cy="1044809"/>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bwMode="gray">
          <a:xfrm>
            <a:off x="2947286" y="3764229"/>
            <a:ext cx="2613510" cy="1044809"/>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bwMode="gray">
          <a:xfrm flipH="1">
            <a:off x="1007351" y="3764229"/>
            <a:ext cx="2665142" cy="1044809"/>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bwMode="gray">
          <a:xfrm>
            <a:off x="3672494" y="3764229"/>
            <a:ext cx="1888303" cy="1044809"/>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bwMode="gray">
          <a:xfrm>
            <a:off x="3672493" y="3764229"/>
            <a:ext cx="33429" cy="1044809"/>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bwMode="gray">
          <a:xfrm flipH="1">
            <a:off x="2862225" y="3764229"/>
            <a:ext cx="810268" cy="1044808"/>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bwMode="gray">
          <a:xfrm flipH="1">
            <a:off x="1916424" y="3764229"/>
            <a:ext cx="1756069" cy="1044808"/>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bwMode="gray">
          <a:xfrm>
            <a:off x="3672493" y="3764229"/>
            <a:ext cx="942502" cy="1044809"/>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sp>
        <p:nvSpPr>
          <p:cNvPr id="43" name="椭圆 42"/>
          <p:cNvSpPr/>
          <p:nvPr/>
        </p:nvSpPr>
        <p:spPr bwMode="gray">
          <a:xfrm rot="5400000">
            <a:off x="4193070" y="3656243"/>
            <a:ext cx="259960" cy="1770784"/>
          </a:xfrm>
          <a:prstGeom prst="ellipse">
            <a:avLst/>
          </a:prstGeom>
          <a:noFill/>
          <a:ln w="25400" cap="flat" cmpd="sng" algn="ctr">
            <a:solidFill>
              <a:srgbClr val="FFD17D"/>
            </a:solidFill>
            <a:prstDash val="solid"/>
          </a:ln>
          <a:effectLst/>
        </p:spPr>
        <p:txBody>
          <a:bodyPr rtlCol="0" anchor="ctr"/>
          <a:lstStyle/>
          <a:p>
            <a:pPr algn="ctr" defTabSz="914034"/>
            <a:endParaRPr lang="zh-CN" altLang="en-US" sz="1799"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4" name="直接连接符 43"/>
          <p:cNvCxnSpPr/>
          <p:nvPr/>
        </p:nvCxnSpPr>
        <p:spPr bwMode="gray">
          <a:xfrm>
            <a:off x="2831019" y="2641884"/>
            <a:ext cx="116267" cy="808896"/>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bwMode="gray">
          <a:xfrm flipH="1">
            <a:off x="2947286" y="2641884"/>
            <a:ext cx="878835" cy="808896"/>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bwMode="gray">
          <a:xfrm>
            <a:off x="2831019" y="2641884"/>
            <a:ext cx="841474" cy="808896"/>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bwMode="gray">
          <a:xfrm flipH="1">
            <a:off x="3672493" y="2641884"/>
            <a:ext cx="153628" cy="808896"/>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sp>
        <p:nvSpPr>
          <p:cNvPr id="48" name="椭圆 47"/>
          <p:cNvSpPr/>
          <p:nvPr/>
        </p:nvSpPr>
        <p:spPr bwMode="gray">
          <a:xfrm rot="5400000">
            <a:off x="3234572" y="2469372"/>
            <a:ext cx="120799" cy="1120180"/>
          </a:xfrm>
          <a:prstGeom prst="ellipse">
            <a:avLst/>
          </a:prstGeom>
          <a:noFill/>
          <a:ln w="25400" cap="flat" cmpd="sng" algn="ctr">
            <a:solidFill>
              <a:srgbClr val="FFD17D"/>
            </a:solidFill>
            <a:prstDash val="solid"/>
          </a:ln>
          <a:effectLst/>
        </p:spPr>
        <p:txBody>
          <a:bodyPr rtlCol="0" anchor="ctr"/>
          <a:lstStyle/>
          <a:p>
            <a:pPr algn="ctr" defTabSz="914034"/>
            <a:endParaRPr lang="zh-CN" altLang="en-US" sz="1799"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椭圆 48"/>
          <p:cNvSpPr/>
          <p:nvPr/>
        </p:nvSpPr>
        <p:spPr bwMode="gray">
          <a:xfrm rot="5400000">
            <a:off x="2177099" y="3630667"/>
            <a:ext cx="259960" cy="1770784"/>
          </a:xfrm>
          <a:prstGeom prst="ellipse">
            <a:avLst/>
          </a:prstGeom>
          <a:noFill/>
          <a:ln w="25400" cap="flat" cmpd="sng" algn="ctr">
            <a:solidFill>
              <a:srgbClr val="FFD17D"/>
            </a:solidFill>
            <a:prstDash val="solid"/>
          </a:ln>
          <a:effectLst/>
        </p:spPr>
        <p:txBody>
          <a:bodyPr rtlCol="0" anchor="ctr"/>
          <a:lstStyle/>
          <a:p>
            <a:pPr algn="ctr" defTabSz="914034"/>
            <a:endParaRPr lang="zh-CN" altLang="en-US" sz="1799"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Freeform 159"/>
          <p:cNvSpPr/>
          <p:nvPr/>
        </p:nvSpPr>
        <p:spPr bwMode="gray">
          <a:xfrm flipH="1">
            <a:off x="2970217" y="1064977"/>
            <a:ext cx="768320" cy="38927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1" name="图片 50"/>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163940" y="1415836"/>
            <a:ext cx="380872" cy="312315"/>
          </a:xfrm>
          <a:prstGeom prst="rect">
            <a:avLst/>
          </a:prstGeom>
        </p:spPr>
      </p:pic>
      <p:cxnSp>
        <p:nvCxnSpPr>
          <p:cNvPr id="52" name="直接连接符 51"/>
          <p:cNvCxnSpPr>
            <a:endCxn id="51" idx="2"/>
          </p:cNvCxnSpPr>
          <p:nvPr/>
        </p:nvCxnSpPr>
        <p:spPr bwMode="gray">
          <a:xfrm flipV="1">
            <a:off x="2831019" y="1728151"/>
            <a:ext cx="523357" cy="595520"/>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a:stCxn id="70" idx="0"/>
            <a:endCxn id="51" idx="2"/>
          </p:cNvCxnSpPr>
          <p:nvPr/>
        </p:nvCxnSpPr>
        <p:spPr bwMode="gray">
          <a:xfrm flipH="1" flipV="1">
            <a:off x="3354376" y="1728151"/>
            <a:ext cx="470765" cy="602663"/>
          </a:xfrm>
          <a:prstGeom prst="line">
            <a:avLst/>
          </a:prstGeom>
          <a:ln w="12700">
            <a:solidFill>
              <a:srgbClr val="BABABA"/>
            </a:solidFill>
          </a:ln>
        </p:spPr>
        <p:style>
          <a:lnRef idx="1">
            <a:schemeClr val="accent1"/>
          </a:lnRef>
          <a:fillRef idx="0">
            <a:schemeClr val="accent1"/>
          </a:fillRef>
          <a:effectRef idx="0">
            <a:schemeClr val="accent1"/>
          </a:effectRef>
          <a:fontRef idx="minor">
            <a:schemeClr val="tx1"/>
          </a:fontRef>
        </p:style>
      </p:cxnSp>
      <p:sp>
        <p:nvSpPr>
          <p:cNvPr id="54" name="TextBox 77"/>
          <p:cNvSpPr txBox="1"/>
          <p:nvPr/>
        </p:nvSpPr>
        <p:spPr bwMode="gray">
          <a:xfrm>
            <a:off x="3498212" y="4951323"/>
            <a:ext cx="1390745" cy="316351"/>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400" b="1" dirty="0" err="1">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iStack</a:t>
            </a:r>
            <a:endParaRPr lang="en-US" altLang="zh-CN" sz="1400" b="1"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55" name="椭圆 54"/>
          <p:cNvSpPr/>
          <p:nvPr/>
        </p:nvSpPr>
        <p:spPr bwMode="gray">
          <a:xfrm rot="5400000">
            <a:off x="3292659" y="1434981"/>
            <a:ext cx="120799" cy="1120180"/>
          </a:xfrm>
          <a:prstGeom prst="ellipse">
            <a:avLst/>
          </a:prstGeom>
          <a:noFill/>
          <a:ln w="25400" cap="flat" cmpd="sng" algn="ctr">
            <a:solidFill>
              <a:srgbClr val="FFD17D"/>
            </a:solidFill>
            <a:prstDash val="solid"/>
          </a:ln>
          <a:effectLst/>
        </p:spPr>
        <p:txBody>
          <a:bodyPr rtlCol="0" anchor="ctr"/>
          <a:lstStyle/>
          <a:p>
            <a:pPr algn="ctr" defTabSz="914034"/>
            <a:endParaRPr lang="zh-CN" altLang="en-US" sz="1799"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6" name="直接连接符 55"/>
          <p:cNvCxnSpPr/>
          <p:nvPr/>
        </p:nvCxnSpPr>
        <p:spPr bwMode="gray">
          <a:xfrm>
            <a:off x="631493" y="1599651"/>
            <a:ext cx="500188" cy="0"/>
          </a:xfrm>
          <a:prstGeom prst="line">
            <a:avLst/>
          </a:prstGeom>
          <a:solidFill>
            <a:schemeClr val="accent1"/>
          </a:solidFill>
          <a:ln w="28575" cap="flat" cmpd="sng" algn="ctr">
            <a:solidFill>
              <a:srgbClr val="30B5C5"/>
            </a:solidFill>
            <a:prstDash val="solid"/>
            <a:round/>
            <a:headEnd type="none" w="med" len="med"/>
            <a:tailEnd type="none" w="med" len="med"/>
          </a:ln>
          <a:effectLst/>
        </p:spPr>
      </p:cxnSp>
      <p:sp>
        <p:nvSpPr>
          <p:cNvPr id="57" name="TextBox 77"/>
          <p:cNvSpPr txBox="1"/>
          <p:nvPr/>
        </p:nvSpPr>
        <p:spPr bwMode="gray">
          <a:xfrm>
            <a:off x="1093821" y="1454253"/>
            <a:ext cx="1583400" cy="285574"/>
          </a:xfrm>
          <a:prstGeom prst="rect">
            <a:avLst/>
          </a:prstGeom>
          <a:noFill/>
          <a:ln w="9525">
            <a:noFill/>
            <a:miter lim="800000"/>
            <a:headEnd/>
            <a:tailEnd/>
          </a:ln>
        </p:spPr>
        <p:txBody>
          <a:bodyPr wrap="square" lIns="99941" tIns="49966" rIns="99941" bIns="49966" rtlCol="0">
            <a:spAutoFit/>
          </a:bodyPr>
          <a:lstStyle/>
          <a:p>
            <a:pPr defTabSz="1001248" eaLnBrk="0" hangingPunct="0"/>
            <a:r>
              <a:rPr lang="en-US" altLang="zh-CN" sz="1200" dirty="0" err="1">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iStack</a:t>
            </a:r>
            <a:r>
              <a:rPr lang="zh-CN" altLang="en-US"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a:t>
            </a:r>
            <a:r>
              <a:rPr lang="en-US" altLang="zh-CN"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CSS Link</a:t>
            </a:r>
          </a:p>
        </p:txBody>
      </p:sp>
      <p:sp>
        <p:nvSpPr>
          <p:cNvPr id="58" name="椭圆 57"/>
          <p:cNvSpPr/>
          <p:nvPr/>
        </p:nvSpPr>
        <p:spPr bwMode="gray">
          <a:xfrm rot="5400000">
            <a:off x="865969" y="1667740"/>
            <a:ext cx="129345" cy="598295"/>
          </a:xfrm>
          <a:prstGeom prst="ellipse">
            <a:avLst/>
          </a:prstGeom>
          <a:noFill/>
          <a:ln w="25400" cap="flat" cmpd="sng" algn="ctr">
            <a:solidFill>
              <a:srgbClr val="FFD17D"/>
            </a:solidFill>
            <a:prstDash val="solid"/>
          </a:ln>
          <a:effectLst/>
        </p:spPr>
        <p:txBody>
          <a:bodyPr rtlCol="0" anchor="ctr"/>
          <a:lstStyle/>
          <a:p>
            <a:pPr algn="ctr" defTabSz="914034"/>
            <a:endParaRPr lang="zh-CN" altLang="en-US" sz="1799"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TextBox 77"/>
          <p:cNvSpPr txBox="1"/>
          <p:nvPr/>
        </p:nvSpPr>
        <p:spPr bwMode="gray">
          <a:xfrm>
            <a:off x="1200912" y="1824136"/>
            <a:ext cx="1390745" cy="285574"/>
          </a:xfrm>
          <a:prstGeom prst="rect">
            <a:avLst/>
          </a:prstGeom>
          <a:noFill/>
          <a:ln w="9525">
            <a:noFill/>
            <a:miter lim="800000"/>
            <a:headEnd/>
            <a:tailEnd/>
          </a:ln>
        </p:spPr>
        <p:txBody>
          <a:bodyPr wrap="square" lIns="99941" tIns="49966" rIns="99941" bIns="49966" rtlCol="0">
            <a:spAutoFit/>
          </a:bodyPr>
          <a:lstStyle/>
          <a:p>
            <a:pP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Eth-Trunk</a:t>
            </a:r>
          </a:p>
        </p:txBody>
      </p:sp>
      <p:sp>
        <p:nvSpPr>
          <p:cNvPr id="60" name="矩形 59"/>
          <p:cNvSpPr/>
          <p:nvPr/>
        </p:nvSpPr>
        <p:spPr bwMode="gray">
          <a:xfrm>
            <a:off x="2970217" y="1163803"/>
            <a:ext cx="787396" cy="276999"/>
          </a:xfrm>
          <a:prstGeom prst="rect">
            <a:avLst/>
          </a:prstGeom>
        </p:spPr>
        <p:txBody>
          <a:bodyPr wrap="none">
            <a:spAutoFit/>
          </a:bodyPr>
          <a:lstStyle/>
          <a:p>
            <a:pPr lvl="0" algn="ct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Network</a:t>
            </a:r>
          </a:p>
        </p:txBody>
      </p:sp>
      <p:pic>
        <p:nvPicPr>
          <p:cNvPr id="61" name="图片 60"/>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820519" y="4809037"/>
            <a:ext cx="370006" cy="302732"/>
          </a:xfrm>
          <a:prstGeom prst="rect">
            <a:avLst/>
          </a:prstGeom>
        </p:spPr>
      </p:pic>
      <p:pic>
        <p:nvPicPr>
          <p:cNvPr id="62" name="图片 61"/>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1729592" y="4809037"/>
            <a:ext cx="370006" cy="302732"/>
          </a:xfrm>
          <a:prstGeom prst="rect">
            <a:avLst/>
          </a:prstGeom>
        </p:spPr>
      </p:pic>
      <p:pic>
        <p:nvPicPr>
          <p:cNvPr id="63" name="图片 62"/>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2675393" y="4809037"/>
            <a:ext cx="370006" cy="302732"/>
          </a:xfrm>
          <a:prstGeom prst="rect">
            <a:avLst/>
          </a:prstGeom>
        </p:spPr>
      </p:pic>
      <p:pic>
        <p:nvPicPr>
          <p:cNvPr id="64" name="图片 63"/>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3522748" y="4809037"/>
            <a:ext cx="370006" cy="302732"/>
          </a:xfrm>
          <a:prstGeom prst="rect">
            <a:avLst/>
          </a:prstGeom>
        </p:spPr>
      </p:pic>
      <p:pic>
        <p:nvPicPr>
          <p:cNvPr id="65" name="图片 64"/>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4431821" y="4809037"/>
            <a:ext cx="370006" cy="302732"/>
          </a:xfrm>
          <a:prstGeom prst="rect">
            <a:avLst/>
          </a:prstGeom>
        </p:spPr>
      </p:pic>
      <p:pic>
        <p:nvPicPr>
          <p:cNvPr id="66" name="图片 65"/>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5373964" y="4809037"/>
            <a:ext cx="370006" cy="302732"/>
          </a:xfrm>
          <a:prstGeom prst="rect">
            <a:avLst/>
          </a:prstGeom>
        </p:spPr>
      </p:pic>
      <p:pic>
        <p:nvPicPr>
          <p:cNvPr id="67" name="图片 66"/>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3483209" y="3452167"/>
            <a:ext cx="383103" cy="313449"/>
          </a:xfrm>
          <a:prstGeom prst="rect">
            <a:avLst/>
          </a:prstGeom>
        </p:spPr>
      </p:pic>
      <p:pic>
        <p:nvPicPr>
          <p:cNvPr id="68" name="图片 67"/>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2762965" y="3452167"/>
            <a:ext cx="383103" cy="313449"/>
          </a:xfrm>
          <a:prstGeom prst="rect">
            <a:avLst/>
          </a:prstGeom>
        </p:spPr>
      </p:pic>
      <p:pic>
        <p:nvPicPr>
          <p:cNvPr id="69" name="图片 68"/>
          <p:cNvPicPr>
            <a:picLocks/>
          </p:cNvPicPr>
          <p:nvPr/>
        </p:nvPicPr>
        <p:blipFill>
          <a:blip r:embed="rId7" cstate="print">
            <a:extLst>
              <a:ext uri="{28A0092B-C50C-407E-A947-70E740481C1C}">
                <a14:useLocalDpi xmlns:a14="http://schemas.microsoft.com/office/drawing/2010/main" val="0"/>
              </a:ext>
            </a:extLst>
          </a:blip>
          <a:stretch>
            <a:fillRect/>
          </a:stretch>
        </p:blipFill>
        <p:spPr bwMode="gray">
          <a:xfrm>
            <a:off x="2642722" y="2330814"/>
            <a:ext cx="383103" cy="313449"/>
          </a:xfrm>
          <a:prstGeom prst="rect">
            <a:avLst/>
          </a:prstGeom>
        </p:spPr>
      </p:pic>
      <p:pic>
        <p:nvPicPr>
          <p:cNvPr id="70" name="图片 69"/>
          <p:cNvPicPr>
            <a:picLocks/>
          </p:cNvPicPr>
          <p:nvPr/>
        </p:nvPicPr>
        <p:blipFill>
          <a:blip r:embed="rId7" cstate="print">
            <a:extLst>
              <a:ext uri="{28A0092B-C50C-407E-A947-70E740481C1C}">
                <a14:useLocalDpi xmlns:a14="http://schemas.microsoft.com/office/drawing/2010/main" val="0"/>
              </a:ext>
            </a:extLst>
          </a:blip>
          <a:stretch>
            <a:fillRect/>
          </a:stretch>
        </p:blipFill>
        <p:spPr bwMode="gray">
          <a:xfrm>
            <a:off x="3633589" y="2330814"/>
            <a:ext cx="383103" cy="313449"/>
          </a:xfrm>
          <a:prstGeom prst="rect">
            <a:avLst/>
          </a:prstGeom>
        </p:spPr>
      </p:pic>
      <p:sp>
        <p:nvSpPr>
          <p:cNvPr id="71" name="五边形 70"/>
          <p:cNvSpPr/>
          <p:nvPr/>
        </p:nvSpPr>
        <p:spPr bwMode="auto">
          <a:xfrm>
            <a:off x="6179960" y="98481"/>
            <a:ext cx="94884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以太网交换</a:t>
            </a:r>
          </a:p>
        </p:txBody>
      </p:sp>
      <p:sp>
        <p:nvSpPr>
          <p:cNvPr id="72" name="燕尾形 71"/>
          <p:cNvSpPr/>
          <p:nvPr/>
        </p:nvSpPr>
        <p:spPr bwMode="auto">
          <a:xfrm>
            <a:off x="7049907" y="98481"/>
            <a:ext cx="678521"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燕尾形 72"/>
          <p:cNvSpPr/>
          <p:nvPr/>
        </p:nvSpPr>
        <p:spPr bwMode="auto">
          <a:xfrm>
            <a:off x="7649535" y="98481"/>
            <a:ext cx="87595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无线接入</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燕尾形 73"/>
          <p:cNvSpPr/>
          <p:nvPr/>
        </p:nvSpPr>
        <p:spPr bwMode="auto">
          <a:xfrm>
            <a:off x="8446601" y="98481"/>
            <a:ext cx="7812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可靠性</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燕尾形 74"/>
          <p:cNvSpPr/>
          <p:nvPr/>
        </p:nvSpPr>
        <p:spPr bwMode="auto">
          <a:xfrm>
            <a:off x="9148908" y="98481"/>
            <a:ext cx="87048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网络安全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燕尾形 75"/>
          <p:cNvSpPr/>
          <p:nvPr/>
        </p:nvSpPr>
        <p:spPr bwMode="auto">
          <a:xfrm>
            <a:off x="9940504" y="98481"/>
            <a:ext cx="130400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网络服务与管理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燕尾形 76"/>
          <p:cNvSpPr/>
          <p:nvPr/>
        </p:nvSpPr>
        <p:spPr bwMode="auto">
          <a:xfrm>
            <a:off x="11165613" y="98481"/>
            <a:ext cx="583475"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出口</a:t>
            </a:r>
          </a:p>
        </p:txBody>
      </p:sp>
    </p:spTree>
    <p:extLst>
      <p:ext uri="{BB962C8B-B14F-4D97-AF65-F5344CB8AC3E}">
        <p14:creationId xmlns:p14="http://schemas.microsoft.com/office/powerpoint/2010/main" val="13492440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Huawei Sans" panose="020C0503030203020204" pitchFamily="34" charset="0"/>
              </a:rPr>
              <a:t>网络质量分析</a:t>
            </a:r>
          </a:p>
        </p:txBody>
      </p:sp>
      <p:sp>
        <p:nvSpPr>
          <p:cNvPr id="3" name="Text Placeholder 2">
            <a:extLst>
              <a:ext uri="{FF2B5EF4-FFF2-40B4-BE49-F238E27FC236}">
                <a16:creationId xmlns:a16="http://schemas.microsoft.com/office/drawing/2014/main" id="{41ED5D3C-7D88-4129-A713-93F3ECF6806F}"/>
              </a:ext>
            </a:extLst>
          </p:cNvPr>
          <p:cNvSpPr txBox="1">
            <a:spLocks/>
          </p:cNvSpPr>
          <p:nvPr/>
        </p:nvSpPr>
        <p:spPr bwMode="gray">
          <a:xfrm>
            <a:off x="6095999" y="1047750"/>
            <a:ext cx="5616575" cy="4879805"/>
          </a:xfrm>
          <a:prstGeom prst="rect">
            <a:avLst/>
          </a:prstGeom>
        </p:spPr>
        <p:txBody>
          <a:bodyPr/>
          <a:lst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fontAlgn="auto"/>
            <a:r>
              <a:rPr lang="zh-CN" altLang="en-US" sz="1600" dirty="0">
                <a:sym typeface="Huawei Sans" panose="020C0503030203020204" pitchFamily="34" charset="0"/>
              </a:rPr>
              <a:t>为了使网络服务质量可见，使用户能够自行检查网络服务质量是否达到要求，需要采取以下措施：</a:t>
            </a:r>
          </a:p>
          <a:p>
            <a:pPr lvl="1" fontAlgn="auto"/>
            <a:r>
              <a:rPr lang="zh-CN" altLang="en-US" sz="1400" dirty="0">
                <a:sym typeface="Huawei Sans" panose="020C0503030203020204" pitchFamily="34" charset="0"/>
              </a:rPr>
              <a:t>在设备上提供能够说明网络服务质量的数据。</a:t>
            </a:r>
          </a:p>
          <a:p>
            <a:pPr lvl="1" fontAlgn="auto"/>
            <a:r>
              <a:rPr lang="zh-CN" altLang="en-US" sz="1400" dirty="0">
                <a:sym typeface="Huawei Sans" panose="020C0503030203020204" pitchFamily="34" charset="0"/>
              </a:rPr>
              <a:t>在网络中部署探针设备能对网络服务质量进行监控。</a:t>
            </a:r>
          </a:p>
          <a:p>
            <a:pPr fontAlgn="auto"/>
            <a:r>
              <a:rPr lang="zh-CN" altLang="en-US" sz="1600" dirty="0">
                <a:sym typeface="Huawei Sans" panose="020C0503030203020204" pitchFamily="34" charset="0"/>
              </a:rPr>
              <a:t>部署上述措施时，需要在设备侧提供时延、抖动、丢包率等相关统计参数和使用专用的探针设备，增加了设备和资金的投入。</a:t>
            </a:r>
          </a:p>
          <a:p>
            <a:pPr fontAlgn="auto"/>
            <a:r>
              <a:rPr lang="zh-CN" altLang="en-US" sz="1600" dirty="0">
                <a:sym typeface="Huawei Sans" panose="020C0503030203020204" pitchFamily="34" charset="0"/>
              </a:rPr>
              <a:t>当设备部署网络质量分析（</a:t>
            </a:r>
            <a:r>
              <a:rPr lang="en-US" altLang="zh-CN" sz="1600" dirty="0">
                <a:sym typeface="Huawei Sans" panose="020C0503030203020204" pitchFamily="34" charset="0"/>
              </a:rPr>
              <a:t>Network Quality Analysis</a:t>
            </a:r>
            <a:r>
              <a:rPr lang="zh-CN" altLang="en-US" sz="1600" dirty="0">
                <a:sym typeface="Huawei Sans" panose="020C0503030203020204" pitchFamily="34" charset="0"/>
              </a:rPr>
              <a:t>，</a:t>
            </a:r>
            <a:r>
              <a:rPr lang="en-US" altLang="zh-CN" sz="1600" dirty="0">
                <a:sym typeface="Huawei Sans" panose="020C0503030203020204" pitchFamily="34" charset="0"/>
              </a:rPr>
              <a:t>NQA</a:t>
            </a:r>
            <a:r>
              <a:rPr lang="zh-CN" altLang="en-US" sz="1600" dirty="0">
                <a:sym typeface="Huawei Sans" panose="020C0503030203020204" pitchFamily="34" charset="0"/>
              </a:rPr>
              <a:t>）时，就不用部署专门的探针设备，可以有效地节约成本。</a:t>
            </a:r>
            <a:r>
              <a:rPr lang="en-US" altLang="zh-CN" sz="1600" dirty="0">
                <a:sym typeface="Huawei Sans" panose="020C0503030203020204" pitchFamily="34" charset="0"/>
              </a:rPr>
              <a:t>NQA</a:t>
            </a:r>
            <a:r>
              <a:rPr lang="zh-CN" altLang="en-US" sz="1600" dirty="0">
                <a:sym typeface="Huawei Sans" panose="020C0503030203020204" pitchFamily="34" charset="0"/>
              </a:rPr>
              <a:t>可以实现对网络运行状况的准确测试，输出统计信息。</a:t>
            </a:r>
            <a:endParaRPr lang="en-US" altLang="zh-CN" sz="1600" dirty="0">
              <a:sym typeface="Huawei Sans" panose="020C0503030203020204" pitchFamily="34" charset="0"/>
            </a:endParaRPr>
          </a:p>
          <a:p>
            <a:pPr fontAlgn="auto"/>
            <a:r>
              <a:rPr lang="en-US" sz="1600" dirty="0">
                <a:sym typeface="Huawei Sans" panose="020C0503030203020204" pitchFamily="34" charset="0"/>
              </a:rPr>
              <a:t>NQA</a:t>
            </a:r>
            <a:r>
              <a:rPr lang="zh-CN" altLang="en-US" sz="1600" dirty="0">
                <a:sym typeface="Huawei Sans" panose="020C0503030203020204" pitchFamily="34" charset="0"/>
              </a:rPr>
              <a:t>是一种实时的网络性能探测和统计技术，可以对响应时间、网络抖动、丢包率等网络信息进行统计。</a:t>
            </a:r>
            <a:endParaRPr lang="en-US" altLang="zh-CN" sz="1600" dirty="0">
              <a:sym typeface="Huawei Sans" panose="020C0503030203020204" pitchFamily="34" charset="0"/>
            </a:endParaRPr>
          </a:p>
        </p:txBody>
      </p:sp>
      <p:pic>
        <p:nvPicPr>
          <p:cNvPr id="17" name="Picture 12" descr="E:\2016.01\1.12 扁平化图标\蓝色\AR-蓝色最新-40.png">
            <a:extLst>
              <a:ext uri="{FF2B5EF4-FFF2-40B4-BE49-F238E27FC236}">
                <a16:creationId xmlns:a16="http://schemas.microsoft.com/office/drawing/2014/main" id="{AFEBAB38-3C14-44F2-93EA-7A117F2B73D0}"/>
              </a:ext>
            </a:extLst>
          </p:cNvPr>
          <p:cNvPicPr>
            <a:picLocks noChangeAspect="1" noChangeArrowheads="1"/>
          </p:cNvPicPr>
          <p:nvPr/>
        </p:nvPicPr>
        <p:blipFill>
          <a:blip r:embed="rId3" cstate="print"/>
          <a:srcRect/>
          <a:stretch>
            <a:fillRect/>
          </a:stretch>
        </p:blipFill>
        <p:spPr bwMode="gray">
          <a:xfrm>
            <a:off x="910011" y="3938861"/>
            <a:ext cx="440049" cy="360040"/>
          </a:xfrm>
          <a:prstGeom prst="rect">
            <a:avLst/>
          </a:prstGeom>
          <a:noFill/>
        </p:spPr>
      </p:pic>
      <p:pic>
        <p:nvPicPr>
          <p:cNvPr id="18" name="Picture 12" descr="E:\2016.01\1.12 扁平化图标\蓝色\AR-蓝色最新-40.png">
            <a:extLst>
              <a:ext uri="{FF2B5EF4-FFF2-40B4-BE49-F238E27FC236}">
                <a16:creationId xmlns:a16="http://schemas.microsoft.com/office/drawing/2014/main" id="{592835B9-C526-4DEE-959B-34A8E7847D71}"/>
              </a:ext>
            </a:extLst>
          </p:cNvPr>
          <p:cNvPicPr>
            <a:picLocks noChangeAspect="1" noChangeArrowheads="1"/>
          </p:cNvPicPr>
          <p:nvPr/>
        </p:nvPicPr>
        <p:blipFill>
          <a:blip r:embed="rId3" cstate="print"/>
          <a:srcRect/>
          <a:stretch>
            <a:fillRect/>
          </a:stretch>
        </p:blipFill>
        <p:spPr bwMode="gray">
          <a:xfrm>
            <a:off x="5223058" y="3938861"/>
            <a:ext cx="440049" cy="360040"/>
          </a:xfrm>
          <a:prstGeom prst="rect">
            <a:avLst/>
          </a:prstGeom>
          <a:noFill/>
        </p:spPr>
      </p:pic>
      <p:sp>
        <p:nvSpPr>
          <p:cNvPr id="19" name="Freeform 159">
            <a:extLst>
              <a:ext uri="{FF2B5EF4-FFF2-40B4-BE49-F238E27FC236}">
                <a16:creationId xmlns:a16="http://schemas.microsoft.com/office/drawing/2014/main" id="{DBA60D68-C68C-4D31-8BEC-6641CD6250EA}"/>
              </a:ext>
            </a:extLst>
          </p:cNvPr>
          <p:cNvSpPr/>
          <p:nvPr/>
        </p:nvSpPr>
        <p:spPr bwMode="gray">
          <a:xfrm flipH="1">
            <a:off x="2848975" y="3778576"/>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N</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etwork</a:t>
            </a:r>
            <a:endParaRPr 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0" name="Straight Connector 6">
            <a:extLst>
              <a:ext uri="{FF2B5EF4-FFF2-40B4-BE49-F238E27FC236}">
                <a16:creationId xmlns:a16="http://schemas.microsoft.com/office/drawing/2014/main" id="{416077FA-C3C0-4CF0-AF90-1058695EBF4E}"/>
              </a:ext>
            </a:extLst>
          </p:cNvPr>
          <p:cNvCxnSpPr>
            <a:cxnSpLocks/>
            <a:stCxn id="17" idx="3"/>
            <a:endCxn id="19" idx="21"/>
          </p:cNvCxnSpPr>
          <p:nvPr/>
        </p:nvCxnSpPr>
        <p:spPr bwMode="gray">
          <a:xfrm flipV="1">
            <a:off x="1350060" y="4111886"/>
            <a:ext cx="1498915" cy="6995"/>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7">
            <a:extLst>
              <a:ext uri="{FF2B5EF4-FFF2-40B4-BE49-F238E27FC236}">
                <a16:creationId xmlns:a16="http://schemas.microsoft.com/office/drawing/2014/main" id="{B8BB05DB-D6A8-44D7-A1B9-B6D564D7C6A5}"/>
              </a:ext>
            </a:extLst>
          </p:cNvPr>
          <p:cNvCxnSpPr>
            <a:cxnSpLocks/>
            <a:stCxn id="18" idx="1"/>
            <a:endCxn id="19" idx="8"/>
          </p:cNvCxnSpPr>
          <p:nvPr/>
        </p:nvCxnSpPr>
        <p:spPr bwMode="gray">
          <a:xfrm flipH="1" flipV="1">
            <a:off x="3758457" y="4103233"/>
            <a:ext cx="1464601" cy="1564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2" name="TextBox 10">
            <a:extLst>
              <a:ext uri="{FF2B5EF4-FFF2-40B4-BE49-F238E27FC236}">
                <a16:creationId xmlns:a16="http://schemas.microsoft.com/office/drawing/2014/main" id="{ED2EA4A4-62A2-486B-8DF2-B2AFDDF9E198}"/>
              </a:ext>
            </a:extLst>
          </p:cNvPr>
          <p:cNvSpPr txBox="1"/>
          <p:nvPr/>
        </p:nvSpPr>
        <p:spPr bwMode="gray">
          <a:xfrm>
            <a:off x="1682840" y="2499201"/>
            <a:ext cx="864000" cy="276999"/>
          </a:xfrm>
          <a:prstGeom prst="rect">
            <a:avLst/>
          </a:prstGeom>
          <a:solidFill>
            <a:srgbClr val="00B050"/>
          </a:solidFill>
          <a:ln>
            <a:noFill/>
          </a:ln>
        </p:spPr>
        <p:txBody>
          <a:bodyPr wrap="square" rtlCol="0">
            <a:spAutoFit/>
          </a:bodyPr>
          <a:lstStyle>
            <a:defPPr>
              <a:defRPr lang="en-US"/>
            </a:defPPr>
            <a:lvl1pPr>
              <a:defRPr sz="1200">
                <a:solidFill>
                  <a:schemeClr val="bg1"/>
                </a:solidFill>
                <a:latin typeface="Huawei Sans" panose="020C0503030203020204" pitchFamily="34" charset="0"/>
                <a:ea typeface="方正兰亭黑简体" panose="02000000000000000000" pitchFamily="2" charset="-122"/>
              </a:defRPr>
            </a:lvl1pPr>
          </a:lstStyle>
          <a:p>
            <a:pPr algn="ctr"/>
            <a:r>
              <a:rPr lang="en-US" dirty="0">
                <a:sym typeface="Huawei Sans" panose="020C0503030203020204" pitchFamily="34" charset="0"/>
              </a:rPr>
              <a:t>TCP</a:t>
            </a:r>
            <a:r>
              <a:rPr lang="zh-CN" altLang="en-US" dirty="0">
                <a:sym typeface="Huawei Sans" panose="020C0503030203020204" pitchFamily="34" charset="0"/>
              </a:rPr>
              <a:t>检测</a:t>
            </a:r>
            <a:endParaRPr lang="en-US" dirty="0">
              <a:sym typeface="Huawei Sans" panose="020C0503030203020204" pitchFamily="34" charset="0"/>
            </a:endParaRPr>
          </a:p>
        </p:txBody>
      </p:sp>
      <p:sp>
        <p:nvSpPr>
          <p:cNvPr id="23" name="TextBox 11">
            <a:extLst>
              <a:ext uri="{FF2B5EF4-FFF2-40B4-BE49-F238E27FC236}">
                <a16:creationId xmlns:a16="http://schemas.microsoft.com/office/drawing/2014/main" id="{09B9583D-DE55-4AB3-888C-E98C9DAD19DC}"/>
              </a:ext>
            </a:extLst>
          </p:cNvPr>
          <p:cNvSpPr txBox="1"/>
          <p:nvPr/>
        </p:nvSpPr>
        <p:spPr bwMode="gray">
          <a:xfrm>
            <a:off x="1682840" y="2886189"/>
            <a:ext cx="864000" cy="276999"/>
          </a:xfrm>
          <a:prstGeom prst="rect">
            <a:avLst/>
          </a:prstGeom>
          <a:solidFill>
            <a:srgbClr val="92D050"/>
          </a:solidFill>
          <a:ln>
            <a:noFill/>
          </a:ln>
        </p:spPr>
        <p:txBody>
          <a:bodyPr wrap="none" rtlCol="0">
            <a:spAutoFit/>
          </a:bodyPr>
          <a:lstStyle/>
          <a:p>
            <a:pPr algn="ctr"/>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DNS</a:t>
            </a:r>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检测</a:t>
            </a:r>
            <a:endPar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TextBox 12">
            <a:extLst>
              <a:ext uri="{FF2B5EF4-FFF2-40B4-BE49-F238E27FC236}">
                <a16:creationId xmlns:a16="http://schemas.microsoft.com/office/drawing/2014/main" id="{07D6A27B-C9A1-417B-B5D9-17D0C8A17868}"/>
              </a:ext>
            </a:extLst>
          </p:cNvPr>
          <p:cNvSpPr txBox="1"/>
          <p:nvPr/>
        </p:nvSpPr>
        <p:spPr bwMode="gray">
          <a:xfrm>
            <a:off x="1682840" y="3660165"/>
            <a:ext cx="864000" cy="276999"/>
          </a:xfrm>
          <a:prstGeom prst="rect">
            <a:avLst/>
          </a:prstGeom>
          <a:solidFill>
            <a:srgbClr val="56C4D2"/>
          </a:solidFill>
          <a:ln>
            <a:noFill/>
          </a:ln>
        </p:spPr>
        <p:txBody>
          <a:bodyPr wrap="none" rtlCol="0">
            <a:spAutoFit/>
          </a:bodyPr>
          <a:lstStyle/>
          <a:p>
            <a:pPr algn="ctr"/>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HTTP</a:t>
            </a:r>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检测</a:t>
            </a:r>
            <a:endPar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Arrow: Right 13">
            <a:extLst>
              <a:ext uri="{FF2B5EF4-FFF2-40B4-BE49-F238E27FC236}">
                <a16:creationId xmlns:a16="http://schemas.microsoft.com/office/drawing/2014/main" id="{235B9ACD-CC1B-470C-9597-CF475582EF0E}"/>
              </a:ext>
            </a:extLst>
          </p:cNvPr>
          <p:cNvSpPr/>
          <p:nvPr/>
        </p:nvSpPr>
        <p:spPr bwMode="gray">
          <a:xfrm>
            <a:off x="3348999" y="3191218"/>
            <a:ext cx="1036080" cy="404211"/>
          </a:xfrm>
          <a:prstGeom prst="rightArrow">
            <a:avLst>
              <a:gd name="adj1" fmla="val 68851"/>
              <a:gd name="adj2" fmla="val 50000"/>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NQA</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测试</a:t>
            </a:r>
            <a:endParaRPr 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Trapezoid 18">
            <a:extLst>
              <a:ext uri="{FF2B5EF4-FFF2-40B4-BE49-F238E27FC236}">
                <a16:creationId xmlns:a16="http://schemas.microsoft.com/office/drawing/2014/main" id="{38BC3546-84E6-471E-8953-B8883D64CB0F}"/>
              </a:ext>
            </a:extLst>
          </p:cNvPr>
          <p:cNvSpPr/>
          <p:nvPr/>
        </p:nvSpPr>
        <p:spPr bwMode="gray">
          <a:xfrm rot="5400000">
            <a:off x="2577978" y="3101410"/>
            <a:ext cx="958209" cy="583831"/>
          </a:xfrm>
          <a:prstGeom prst="trapezoid">
            <a:avLst>
              <a:gd name="adj" fmla="val 56255"/>
            </a:avLst>
          </a:prstGeom>
          <a:gradFill>
            <a:gsLst>
              <a:gs pos="0">
                <a:schemeClr val="accent1">
                  <a:lumMod val="5000"/>
                  <a:lumOff val="95000"/>
                </a:schemeClr>
              </a:gs>
              <a:gs pos="100000">
                <a:srgbClr val="56C4D2">
                  <a:alpha val="5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文本框 34">
            <a:extLst>
              <a:ext uri="{FF2B5EF4-FFF2-40B4-BE49-F238E27FC236}">
                <a16:creationId xmlns:a16="http://schemas.microsoft.com/office/drawing/2014/main" id="{2B950A9F-4929-4BC2-B749-7605FCFF8388}"/>
              </a:ext>
            </a:extLst>
          </p:cNvPr>
          <p:cNvSpPr txBox="1"/>
          <p:nvPr/>
        </p:nvSpPr>
        <p:spPr bwMode="gray">
          <a:xfrm>
            <a:off x="547572" y="4253988"/>
            <a:ext cx="1106393" cy="307777"/>
          </a:xfrm>
          <a:prstGeom prst="rect">
            <a:avLst/>
          </a:prstGeom>
          <a:noFill/>
        </p:spPr>
        <p:txBody>
          <a:bodyPr wrap="non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NQA Client</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文本框 34">
            <a:extLst>
              <a:ext uri="{FF2B5EF4-FFF2-40B4-BE49-F238E27FC236}">
                <a16:creationId xmlns:a16="http://schemas.microsoft.com/office/drawing/2014/main" id="{9E232339-5D44-4F04-8456-0B91F9C045BB}"/>
              </a:ext>
            </a:extLst>
          </p:cNvPr>
          <p:cNvSpPr txBox="1"/>
          <p:nvPr/>
        </p:nvSpPr>
        <p:spPr bwMode="gray">
          <a:xfrm>
            <a:off x="4870649" y="4235023"/>
            <a:ext cx="1144865" cy="307777"/>
          </a:xfrm>
          <a:prstGeom prst="rect">
            <a:avLst/>
          </a:prstGeom>
          <a:noFill/>
        </p:spPr>
        <p:txBody>
          <a:bodyPr wrap="non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NQA Server</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TextBox 10">
            <a:extLst>
              <a:ext uri="{FF2B5EF4-FFF2-40B4-BE49-F238E27FC236}">
                <a16:creationId xmlns:a16="http://schemas.microsoft.com/office/drawing/2014/main" id="{ED2EA4A4-62A2-486B-8DF2-B2AFDDF9E198}"/>
              </a:ext>
            </a:extLst>
          </p:cNvPr>
          <p:cNvSpPr txBox="1"/>
          <p:nvPr/>
        </p:nvSpPr>
        <p:spPr bwMode="gray">
          <a:xfrm>
            <a:off x="1682840" y="3273177"/>
            <a:ext cx="864000" cy="276999"/>
          </a:xfrm>
          <a:prstGeom prst="rect">
            <a:avLst/>
          </a:prstGeom>
          <a:solidFill>
            <a:srgbClr val="30B5C5"/>
          </a:solidFill>
          <a:ln>
            <a:noFill/>
          </a:ln>
        </p:spPr>
        <p:txBody>
          <a:bodyPr wrap="none" rtlCol="0">
            <a:spAutoFit/>
          </a:bodyPr>
          <a:lstStyle/>
          <a:p>
            <a:pPr algn="ctr"/>
            <a:r>
              <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ICMP</a:t>
            </a:r>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检测</a:t>
            </a:r>
            <a:endParaRPr 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五边形 29"/>
          <p:cNvSpPr/>
          <p:nvPr/>
        </p:nvSpPr>
        <p:spPr bwMode="auto">
          <a:xfrm>
            <a:off x="6179960" y="98481"/>
            <a:ext cx="94884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以太网交换</a:t>
            </a:r>
          </a:p>
        </p:txBody>
      </p:sp>
      <p:sp>
        <p:nvSpPr>
          <p:cNvPr id="31" name="燕尾形 30"/>
          <p:cNvSpPr/>
          <p:nvPr/>
        </p:nvSpPr>
        <p:spPr bwMode="auto">
          <a:xfrm>
            <a:off x="7049907" y="98481"/>
            <a:ext cx="678521"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燕尾形 31"/>
          <p:cNvSpPr/>
          <p:nvPr/>
        </p:nvSpPr>
        <p:spPr bwMode="auto">
          <a:xfrm>
            <a:off x="7649535" y="98481"/>
            <a:ext cx="87595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无线接入</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燕尾形 32"/>
          <p:cNvSpPr/>
          <p:nvPr/>
        </p:nvSpPr>
        <p:spPr bwMode="auto">
          <a:xfrm>
            <a:off x="8446601" y="98481"/>
            <a:ext cx="7812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可靠性</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燕尾形 33"/>
          <p:cNvSpPr/>
          <p:nvPr/>
        </p:nvSpPr>
        <p:spPr bwMode="auto">
          <a:xfrm>
            <a:off x="9148908" y="98481"/>
            <a:ext cx="87048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网络安全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燕尾形 34"/>
          <p:cNvSpPr/>
          <p:nvPr/>
        </p:nvSpPr>
        <p:spPr bwMode="auto">
          <a:xfrm>
            <a:off x="9940504" y="98481"/>
            <a:ext cx="130400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网络服务与管理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燕尾形 35"/>
          <p:cNvSpPr/>
          <p:nvPr/>
        </p:nvSpPr>
        <p:spPr bwMode="auto">
          <a:xfrm>
            <a:off x="11165613" y="98481"/>
            <a:ext cx="583475"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出口</a:t>
            </a:r>
          </a:p>
        </p:txBody>
      </p:sp>
    </p:spTree>
    <p:extLst>
      <p:ext uri="{BB962C8B-B14F-4D97-AF65-F5344CB8AC3E}">
        <p14:creationId xmlns:p14="http://schemas.microsoft.com/office/powerpoint/2010/main" val="20530565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Huawei Sans" panose="020C0503030203020204" pitchFamily="34" charset="0"/>
              </a:rPr>
              <a:t>端口隔离</a:t>
            </a:r>
          </a:p>
        </p:txBody>
      </p:sp>
      <p:sp>
        <p:nvSpPr>
          <p:cNvPr id="3" name="文本框 2"/>
          <p:cNvSpPr txBox="1"/>
          <p:nvPr/>
        </p:nvSpPr>
        <p:spPr bwMode="gray">
          <a:xfrm>
            <a:off x="1534895" y="5152107"/>
            <a:ext cx="1762021" cy="276999"/>
          </a:xfrm>
          <a:prstGeom prst="rect">
            <a:avLst/>
          </a:prstGeom>
          <a:noFill/>
        </p:spPr>
        <p:txBody>
          <a:bodyPr wrap="none" rtlCol="0">
            <a:spAutoFit/>
          </a:bodyPr>
          <a:lstStyle/>
          <a:p>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VLAN10</a:t>
            </a:r>
            <a:r>
              <a:rPr lang="zh-CN" alt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（办公</a:t>
            </a: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p>
        </p:txBody>
      </p:sp>
      <p:grpSp>
        <p:nvGrpSpPr>
          <p:cNvPr id="4" name="Group 165"/>
          <p:cNvGrpSpPr/>
          <p:nvPr/>
        </p:nvGrpSpPr>
        <p:grpSpPr bwMode="gray">
          <a:xfrm rot="10800000">
            <a:off x="1105023" y="2972354"/>
            <a:ext cx="2766308" cy="1332366"/>
            <a:chOff x="-1233037" y="914446"/>
            <a:chExt cx="1573823" cy="778776"/>
          </a:xfrm>
        </p:grpSpPr>
        <p:cxnSp>
          <p:nvCxnSpPr>
            <p:cNvPr id="5" name="Straight Connector 166"/>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167"/>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cxnSp>
        <p:nvCxnSpPr>
          <p:cNvPr id="7" name="Straight Connector 167"/>
          <p:cNvCxnSpPr/>
          <p:nvPr/>
        </p:nvCxnSpPr>
        <p:spPr bwMode="gray">
          <a:xfrm>
            <a:off x="2478941" y="1660837"/>
            <a:ext cx="0" cy="2628247"/>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pic>
        <p:nvPicPr>
          <p:cNvPr id="8" name="图片 87" descr="汇聚交换机.png"/>
          <p:cNvPicPr>
            <a:picLocks noChangeAspect="1"/>
          </p:cNvPicPr>
          <p:nvPr/>
        </p:nvPicPr>
        <p:blipFill>
          <a:blip r:embed="rId3" cstate="print"/>
          <a:stretch>
            <a:fillRect/>
          </a:stretch>
        </p:blipFill>
        <p:spPr bwMode="gray">
          <a:xfrm>
            <a:off x="2233487" y="1460013"/>
            <a:ext cx="490909" cy="401653"/>
          </a:xfrm>
          <a:prstGeom prst="rect">
            <a:avLst/>
          </a:prstGeom>
        </p:spPr>
      </p:pic>
      <p:pic>
        <p:nvPicPr>
          <p:cNvPr id="9" name="图片 76" descr="接入交换机.png"/>
          <p:cNvPicPr>
            <a:picLocks noChangeAspect="1"/>
          </p:cNvPicPr>
          <p:nvPr/>
        </p:nvPicPr>
        <p:blipFill>
          <a:blip r:embed="rId4" cstate="print"/>
          <a:stretch>
            <a:fillRect/>
          </a:stretch>
        </p:blipFill>
        <p:spPr bwMode="gray">
          <a:xfrm>
            <a:off x="2233487" y="2749518"/>
            <a:ext cx="490909" cy="401653"/>
          </a:xfrm>
          <a:prstGeom prst="rect">
            <a:avLst/>
          </a:prstGeom>
        </p:spPr>
      </p:pic>
      <p:pic>
        <p:nvPicPr>
          <p:cNvPr id="10" name="图片 9" descr="日志告警服务器-蓝.png"/>
          <p:cNvPicPr>
            <a:picLocks noChangeAspect="1"/>
          </p:cNvPicPr>
          <p:nvPr/>
        </p:nvPicPr>
        <p:blipFill>
          <a:blip r:embed="rId5" cstate="print"/>
          <a:stretch>
            <a:fillRect/>
          </a:stretch>
        </p:blipFill>
        <p:spPr bwMode="gray">
          <a:xfrm>
            <a:off x="736605" y="4289084"/>
            <a:ext cx="490552" cy="306312"/>
          </a:xfrm>
          <a:prstGeom prst="rect">
            <a:avLst/>
          </a:prstGeom>
        </p:spPr>
      </p:pic>
      <p:grpSp>
        <p:nvGrpSpPr>
          <p:cNvPr id="11" name="组合 10"/>
          <p:cNvGrpSpPr/>
          <p:nvPr/>
        </p:nvGrpSpPr>
        <p:grpSpPr bwMode="gray">
          <a:xfrm>
            <a:off x="2199851" y="4253431"/>
            <a:ext cx="445956" cy="377619"/>
            <a:chOff x="2557450" y="4936459"/>
            <a:chExt cx="445956" cy="343290"/>
          </a:xfrm>
        </p:grpSpPr>
        <p:pic>
          <p:nvPicPr>
            <p:cNvPr id="12" name="图片 11" descr="开放网络-蓝.png"/>
            <p:cNvPicPr>
              <a:picLocks noChangeAspect="1"/>
            </p:cNvPicPr>
            <p:nvPr/>
          </p:nvPicPr>
          <p:blipFill>
            <a:blip r:embed="rId6" cstate="print"/>
            <a:stretch>
              <a:fillRect/>
            </a:stretch>
          </p:blipFill>
          <p:spPr bwMode="gray">
            <a:xfrm>
              <a:off x="2557450" y="4936459"/>
              <a:ext cx="445956" cy="343290"/>
            </a:xfrm>
            <a:prstGeom prst="rect">
              <a:avLst/>
            </a:prstGeom>
          </p:spPr>
        </p:pic>
        <p:sp>
          <p:nvSpPr>
            <p:cNvPr id="13" name="矩形 12"/>
            <p:cNvSpPr/>
            <p:nvPr/>
          </p:nvSpPr>
          <p:spPr bwMode="gray">
            <a:xfrm>
              <a:off x="2591651" y="4996057"/>
              <a:ext cx="262770" cy="2026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4" name="文本框 13"/>
          <p:cNvSpPr txBox="1"/>
          <p:nvPr/>
        </p:nvSpPr>
        <p:spPr bwMode="gray">
          <a:xfrm>
            <a:off x="2698665" y="1513793"/>
            <a:ext cx="936475" cy="307777"/>
          </a:xfrm>
          <a:prstGeom prst="rect">
            <a:avLst/>
          </a:prstGeom>
          <a:noFill/>
        </p:spPr>
        <p:txBody>
          <a:bodyPr wrap="none" rtlCol="0">
            <a:spAutoFit/>
          </a:bodyPr>
          <a:lstStyle/>
          <a:p>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Core-SW</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文本框 14"/>
          <p:cNvSpPr txBox="1"/>
          <p:nvPr/>
        </p:nvSpPr>
        <p:spPr bwMode="gray">
          <a:xfrm>
            <a:off x="2698665" y="2717675"/>
            <a:ext cx="1204176" cy="307777"/>
          </a:xfrm>
          <a:prstGeom prst="rect">
            <a:avLst/>
          </a:prstGeom>
          <a:noFill/>
        </p:spPr>
        <p:txBody>
          <a:bodyPr wrap="none" rtlCol="0">
            <a:spAutoFit/>
          </a:bodyPr>
          <a:lstStyle/>
          <a:p>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Access-SW1</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文本框 15"/>
          <p:cNvSpPr txBox="1"/>
          <p:nvPr/>
        </p:nvSpPr>
        <p:spPr bwMode="gray">
          <a:xfrm>
            <a:off x="547307" y="4660746"/>
            <a:ext cx="869148" cy="461665"/>
          </a:xfrm>
          <a:prstGeom prst="rect">
            <a:avLst/>
          </a:prstGeom>
          <a:noFill/>
        </p:spPr>
        <p:txBody>
          <a:bodyPr wrap="none" rtlCol="0">
            <a:spAutoFit/>
          </a:bodyPr>
          <a:lstStyle/>
          <a:p>
            <a:pPr algn="ct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终端</a:t>
            </a: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1</a:t>
            </a:r>
          </a:p>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1.1.1.1/24</a:t>
            </a:r>
          </a:p>
        </p:txBody>
      </p:sp>
      <p:sp>
        <p:nvSpPr>
          <p:cNvPr id="17" name="文本框 16"/>
          <p:cNvSpPr txBox="1"/>
          <p:nvPr/>
        </p:nvSpPr>
        <p:spPr bwMode="gray">
          <a:xfrm>
            <a:off x="2029491" y="4660746"/>
            <a:ext cx="869148" cy="461665"/>
          </a:xfrm>
          <a:prstGeom prst="rect">
            <a:avLst/>
          </a:prstGeom>
          <a:noFill/>
        </p:spPr>
        <p:txBody>
          <a:bodyPr wrap="none" rtlCol="0">
            <a:spAutoFit/>
          </a:bodyPr>
          <a:lstStyle/>
          <a:p>
            <a:pPr algn="ct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终端</a:t>
            </a: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2</a:t>
            </a:r>
          </a:p>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1.1.1.2/24</a:t>
            </a:r>
          </a:p>
        </p:txBody>
      </p:sp>
      <p:sp>
        <p:nvSpPr>
          <p:cNvPr id="18" name="任意多边形 17"/>
          <p:cNvSpPr/>
          <p:nvPr/>
        </p:nvSpPr>
        <p:spPr bwMode="gray">
          <a:xfrm>
            <a:off x="1306758" y="3567638"/>
            <a:ext cx="1071896" cy="715259"/>
          </a:xfrm>
          <a:custGeom>
            <a:avLst/>
            <a:gdLst>
              <a:gd name="connsiteX0" fmla="*/ 0 w 1388533"/>
              <a:gd name="connsiteY0" fmla="*/ 0 h 33866"/>
              <a:gd name="connsiteX1" fmla="*/ 1388533 w 1388533"/>
              <a:gd name="connsiteY1" fmla="*/ 33866 h 33866"/>
              <a:gd name="connsiteX0" fmla="*/ 0 w 1319173"/>
              <a:gd name="connsiteY0" fmla="*/ 0 h 51234"/>
              <a:gd name="connsiteX1" fmla="*/ 1319173 w 1319173"/>
              <a:gd name="connsiteY1" fmla="*/ 51234 h 51234"/>
              <a:gd name="connsiteX0" fmla="*/ 0 w 944632"/>
              <a:gd name="connsiteY0" fmla="*/ 0 h 603"/>
              <a:gd name="connsiteX1" fmla="*/ 944632 w 944632"/>
              <a:gd name="connsiteY1" fmla="*/ 603 h 603"/>
              <a:gd name="connsiteX0" fmla="*/ 0 w 10000"/>
              <a:gd name="connsiteY0" fmla="*/ 185459 h 195459"/>
              <a:gd name="connsiteX1" fmla="*/ 10000 w 10000"/>
              <a:gd name="connsiteY1" fmla="*/ 195459 h 195459"/>
              <a:gd name="connsiteX0" fmla="*/ 0 w 10000"/>
              <a:gd name="connsiteY0" fmla="*/ 302781 h 312781"/>
              <a:gd name="connsiteX1" fmla="*/ 10000 w 10000"/>
              <a:gd name="connsiteY1" fmla="*/ 312781 h 312781"/>
              <a:gd name="connsiteX0" fmla="*/ 0 w 10225"/>
              <a:gd name="connsiteY0" fmla="*/ 319154 h 319154"/>
              <a:gd name="connsiteX1" fmla="*/ 10225 w 10225"/>
              <a:gd name="connsiteY1" fmla="*/ 296120 h 319154"/>
              <a:gd name="connsiteX0" fmla="*/ 0 w 10225"/>
              <a:gd name="connsiteY0" fmla="*/ 319154 h 319154"/>
              <a:gd name="connsiteX1" fmla="*/ 10225 w 10225"/>
              <a:gd name="connsiteY1" fmla="*/ 296120 h 319154"/>
              <a:gd name="connsiteX0" fmla="*/ 0 w 10705"/>
              <a:gd name="connsiteY0" fmla="*/ 308428 h 308428"/>
              <a:gd name="connsiteX1" fmla="*/ 10705 w 10705"/>
              <a:gd name="connsiteY1" fmla="*/ 306805 h 308428"/>
              <a:gd name="connsiteX0" fmla="*/ 0 w 10705"/>
              <a:gd name="connsiteY0" fmla="*/ 294445 h 294445"/>
              <a:gd name="connsiteX1" fmla="*/ 10705 w 10705"/>
              <a:gd name="connsiteY1" fmla="*/ 292822 h 294445"/>
              <a:gd name="connsiteX0" fmla="*/ 0 w 10705"/>
              <a:gd name="connsiteY0" fmla="*/ 287355 h 287355"/>
              <a:gd name="connsiteX1" fmla="*/ 10705 w 10705"/>
              <a:gd name="connsiteY1" fmla="*/ 285732 h 287355"/>
              <a:gd name="connsiteX0" fmla="*/ 0 w 11435"/>
              <a:gd name="connsiteY0" fmla="*/ 297107 h 297107"/>
              <a:gd name="connsiteX1" fmla="*/ 11435 w 11435"/>
              <a:gd name="connsiteY1" fmla="*/ 275602 h 297107"/>
              <a:gd name="connsiteX0" fmla="*/ 0 w 11435"/>
              <a:gd name="connsiteY0" fmla="*/ 312197 h 312197"/>
              <a:gd name="connsiteX1" fmla="*/ 11435 w 11435"/>
              <a:gd name="connsiteY1" fmla="*/ 290692 h 312197"/>
              <a:gd name="connsiteX0" fmla="*/ 0 w 8806"/>
              <a:gd name="connsiteY0" fmla="*/ 322724 h 322724"/>
              <a:gd name="connsiteX1" fmla="*/ 8806 w 8806"/>
              <a:gd name="connsiteY1" fmla="*/ 279808 h 322724"/>
              <a:gd name="connsiteX0" fmla="*/ 0 w 10000"/>
              <a:gd name="connsiteY0" fmla="*/ 10071 h 10071"/>
              <a:gd name="connsiteX1" fmla="*/ 10000 w 10000"/>
              <a:gd name="connsiteY1" fmla="*/ 8741 h 10071"/>
              <a:gd name="connsiteX0" fmla="*/ 0 w 10000"/>
              <a:gd name="connsiteY0" fmla="*/ 10030 h 10030"/>
              <a:gd name="connsiteX1" fmla="*/ 10000 w 10000"/>
              <a:gd name="connsiteY1" fmla="*/ 8700 h 10030"/>
              <a:gd name="connsiteX0" fmla="*/ 0 w 10004"/>
              <a:gd name="connsiteY0" fmla="*/ 9948 h 9948"/>
              <a:gd name="connsiteX1" fmla="*/ 10000 w 10004"/>
              <a:gd name="connsiteY1" fmla="*/ 8618 h 9948"/>
              <a:gd name="connsiteX0" fmla="*/ 0 w 9996"/>
              <a:gd name="connsiteY0" fmla="*/ 9275 h 9275"/>
              <a:gd name="connsiteX1" fmla="*/ 9996 w 9996"/>
              <a:gd name="connsiteY1" fmla="*/ 7938 h 9275"/>
              <a:gd name="connsiteX0" fmla="*/ 0 w 10000"/>
              <a:gd name="connsiteY0" fmla="*/ 10515 h 10515"/>
              <a:gd name="connsiteX1" fmla="*/ 10000 w 10000"/>
              <a:gd name="connsiteY1" fmla="*/ 9073 h 10515"/>
              <a:gd name="connsiteX0" fmla="*/ 0 w 10000"/>
              <a:gd name="connsiteY0" fmla="*/ 10472 h 10472"/>
              <a:gd name="connsiteX1" fmla="*/ 10000 w 10000"/>
              <a:gd name="connsiteY1" fmla="*/ 9030 h 10472"/>
              <a:gd name="connsiteX0" fmla="*/ 0 w 10000"/>
              <a:gd name="connsiteY0" fmla="*/ 10151 h 10151"/>
              <a:gd name="connsiteX1" fmla="*/ 10000 w 10000"/>
              <a:gd name="connsiteY1" fmla="*/ 8709 h 10151"/>
              <a:gd name="connsiteX0" fmla="*/ 0 w 10000"/>
              <a:gd name="connsiteY0" fmla="*/ 9670 h 9670"/>
              <a:gd name="connsiteX1" fmla="*/ 10000 w 10000"/>
              <a:gd name="connsiteY1" fmla="*/ 8228 h 9670"/>
              <a:gd name="connsiteX0" fmla="*/ 0 w 10000"/>
              <a:gd name="connsiteY0" fmla="*/ 10000 h 10000"/>
              <a:gd name="connsiteX1" fmla="*/ 10000 w 10000"/>
              <a:gd name="connsiteY1" fmla="*/ 8509 h 10000"/>
            </a:gdLst>
            <a:ahLst/>
            <a:cxnLst>
              <a:cxn ang="0">
                <a:pos x="connsiteX0" y="connsiteY0"/>
              </a:cxn>
              <a:cxn ang="0">
                <a:pos x="connsiteX1" y="connsiteY1"/>
              </a:cxn>
            </a:cxnLst>
            <a:rect l="l" t="t" r="r" b="b"/>
            <a:pathLst>
              <a:path w="10000" h="10000">
                <a:moveTo>
                  <a:pt x="0" y="10000"/>
                </a:moveTo>
                <a:cubicBezTo>
                  <a:pt x="7851" y="-2768"/>
                  <a:pt x="9551" y="-3356"/>
                  <a:pt x="10000" y="8509"/>
                </a:cubicBezTo>
              </a:path>
            </a:pathLst>
          </a:custGeom>
          <a:noFill/>
          <a:ln w="38100" algn="ctr">
            <a:solidFill>
              <a:srgbClr val="C7000B">
                <a:alpha val="64000"/>
              </a:srgbClr>
            </a:solidFill>
            <a:prstDash val="solid"/>
            <a:round/>
            <a:headEnd type="triangle" w="sm" len="med"/>
            <a:tailEnd type="triangle" w="sm" len="med"/>
          </a:ln>
        </p:spPr>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圆角矩形 18"/>
          <p:cNvSpPr/>
          <p:nvPr/>
        </p:nvSpPr>
        <p:spPr bwMode="gray">
          <a:xfrm>
            <a:off x="4728060" y="1545188"/>
            <a:ext cx="6753896" cy="1104007"/>
          </a:xfrm>
          <a:prstGeom prst="roundRect">
            <a:avLst>
              <a:gd name="adj" fmla="val 898"/>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nSpc>
                <a:spcPts val="2400"/>
              </a:lnSpc>
              <a:spcAft>
                <a:spcPts val="600"/>
              </a:spcAft>
              <a:buSzPct val="50000"/>
              <a:buFont typeface="Wingdings" panose="05000000000000000000" pitchFamily="2" charset="2"/>
              <a:buChar char="l"/>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实现同一个</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内不同用户之间的隔离，加强用户通信安全，避免无效的广播报文影响业务。</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ts val="2400"/>
              </a:lnSpc>
              <a:spcAft>
                <a:spcPts val="600"/>
              </a:spcAft>
              <a:buSzPct val="50000"/>
              <a:buFont typeface="Wingdings" panose="05000000000000000000" pitchFamily="2" charset="2"/>
              <a:buChar char="l"/>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实现同一个</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内不同用户之间交互的数据能够通过上层设备集中转发。</a:t>
            </a:r>
          </a:p>
        </p:txBody>
      </p:sp>
      <p:sp>
        <p:nvSpPr>
          <p:cNvPr id="20" name="文本框 19"/>
          <p:cNvSpPr txBox="1"/>
          <p:nvPr/>
        </p:nvSpPr>
        <p:spPr bwMode="gray">
          <a:xfrm>
            <a:off x="4728060" y="1122575"/>
            <a:ext cx="6753895" cy="373577"/>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600">
                <a:solidFill>
                  <a:srgbClr val="30B5C5"/>
                </a:solidFill>
                <a:latin typeface="Huawei Sans" panose="020C0503030203020204" pitchFamily="34" charset="0"/>
                <a:ea typeface="方正兰亭黑简体" panose="02000000000000000000" pitchFamily="2" charset="-122"/>
              </a:defRPr>
            </a:lvl1pPr>
          </a:lstStyle>
          <a:p>
            <a:r>
              <a:rPr lang="zh-CN" altLang="en-US">
                <a:sym typeface="Huawei Sans" panose="020C0503030203020204" pitchFamily="34" charset="0"/>
              </a:rPr>
              <a:t>需求</a:t>
            </a:r>
            <a:endParaRPr lang="zh-CN" altLang="en-US" dirty="0">
              <a:sym typeface="Huawei Sans" panose="020C0503030203020204" pitchFamily="34" charset="0"/>
            </a:endParaRPr>
          </a:p>
        </p:txBody>
      </p:sp>
      <p:sp>
        <p:nvSpPr>
          <p:cNvPr id="21" name="圆角矩形 20"/>
          <p:cNvSpPr/>
          <p:nvPr/>
        </p:nvSpPr>
        <p:spPr bwMode="gray">
          <a:xfrm>
            <a:off x="4728060" y="3240620"/>
            <a:ext cx="6753896" cy="2658601"/>
          </a:xfrm>
          <a:prstGeom prst="roundRect">
            <a:avLst>
              <a:gd name="adj" fmla="val 898"/>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fontAlgn="auto">
              <a:lnSpc>
                <a:spcPts val="2400"/>
              </a:lnSpc>
              <a:spcBef>
                <a:spcPts val="0"/>
              </a:spcBef>
              <a:spcAft>
                <a:spcPts val="600"/>
              </a:spcAft>
              <a:buSzPct val="50000"/>
              <a:buFont typeface="Wingdings" panose="05000000000000000000" pitchFamily="2" charset="2"/>
              <a:buChar char="l"/>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采用端口隔离功能，可以实现同一</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内端口之间的隔离。</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fontAlgn="auto">
              <a:lnSpc>
                <a:spcPts val="2400"/>
              </a:lnSpc>
              <a:spcBef>
                <a:spcPts val="0"/>
              </a:spcBef>
              <a:spcAft>
                <a:spcPts val="600"/>
              </a:spcAft>
              <a:buSzPct val="50000"/>
              <a:buFont typeface="Wingdings" panose="05000000000000000000" pitchFamily="2" charset="2"/>
              <a:buChar char="l"/>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只需将端口加入到隔离组中，就可以实现隔离组内端口之间二层数据的隔离。</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fontAlgn="auto">
              <a:lnSpc>
                <a:spcPts val="2400"/>
              </a:lnSpc>
              <a:spcBef>
                <a:spcPts val="0"/>
              </a:spcBef>
              <a:spcAft>
                <a:spcPts val="600"/>
              </a:spcAft>
              <a:buSzPct val="50000"/>
              <a:buFont typeface="Wingdings" panose="05000000000000000000" pitchFamily="2" charset="2"/>
              <a:buChar char="l"/>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端口隔离分为二层隔离三层互通和二层三层都隔离两种模式：</a:t>
            </a:r>
          </a:p>
          <a:p>
            <a:pPr marL="540000" lvl="1" indent="-176213" defTabSz="914400">
              <a:lnSpc>
                <a:spcPts val="2400"/>
              </a:lnSpc>
              <a:spcAft>
                <a:spcPts val="600"/>
              </a:spcAft>
              <a:buSzPct val="50000"/>
              <a:buFont typeface="Wingdings" panose="05000000000000000000" pitchFamily="2" charset="2"/>
              <a:buChar char="p"/>
              <a:defRPr/>
            </a:pPr>
            <a:r>
              <a:rPr lang="zh-CN" altLang="en-US" sz="14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如果用户希望隔离同一</a:t>
            </a:r>
            <a:r>
              <a:rPr lang="en-US" altLang="zh-CN" sz="14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4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内的广播报文，但是不同端口下的用户还可以进行三层通信，则可以将隔离模式设置为二层隔离三层互通。</a:t>
            </a:r>
          </a:p>
          <a:p>
            <a:pPr marL="540000" lvl="1" indent="-176213" defTabSz="914400">
              <a:lnSpc>
                <a:spcPts val="2400"/>
              </a:lnSpc>
              <a:spcAft>
                <a:spcPts val="600"/>
              </a:spcAft>
              <a:buSzPct val="50000"/>
              <a:buFont typeface="Wingdings" panose="05000000000000000000" pitchFamily="2" charset="2"/>
              <a:buChar char="p"/>
              <a:defRPr/>
            </a:pPr>
            <a:r>
              <a:rPr lang="zh-CN" altLang="en-US" sz="14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如果用户希望同一</a:t>
            </a:r>
            <a:r>
              <a:rPr lang="en-US" altLang="zh-CN" sz="14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4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不同端口下用户彻底无法通信，则可以将隔离模式配置为二层三层都隔离。</a:t>
            </a:r>
          </a:p>
        </p:txBody>
      </p:sp>
      <p:sp>
        <p:nvSpPr>
          <p:cNvPr id="22" name="文本框 21"/>
          <p:cNvSpPr txBox="1"/>
          <p:nvPr/>
        </p:nvSpPr>
        <p:spPr bwMode="gray">
          <a:xfrm>
            <a:off x="4728061" y="2818006"/>
            <a:ext cx="6753895" cy="373577"/>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600">
                <a:solidFill>
                  <a:srgbClr val="30B5C5"/>
                </a:solidFill>
                <a:latin typeface="Huawei Sans" panose="020C0503030203020204" pitchFamily="34" charset="0"/>
                <a:ea typeface="方正兰亭黑简体" panose="02000000000000000000" pitchFamily="2" charset="-122"/>
              </a:defRPr>
            </a:lvl1pPr>
          </a:lstStyle>
          <a:p>
            <a:r>
              <a:rPr lang="zh-CN" altLang="en-US">
                <a:sym typeface="Huawei Sans" panose="020C0503030203020204" pitchFamily="34" charset="0"/>
              </a:rPr>
              <a:t>方案</a:t>
            </a:r>
            <a:endParaRPr lang="zh-CN" altLang="en-US" dirty="0">
              <a:sym typeface="Huawei Sans" panose="020C0503030203020204" pitchFamily="34" charset="0"/>
            </a:endParaRPr>
          </a:p>
        </p:txBody>
      </p:sp>
      <p:pic>
        <p:nvPicPr>
          <p:cNvPr id="23" name="图片 22" descr="打印机.png"/>
          <p:cNvPicPr>
            <a:picLocks noChangeAspect="1"/>
          </p:cNvPicPr>
          <p:nvPr/>
        </p:nvPicPr>
        <p:blipFill>
          <a:blip r:embed="rId7" cstate="print"/>
          <a:stretch>
            <a:fillRect/>
          </a:stretch>
        </p:blipFill>
        <p:spPr bwMode="gray">
          <a:xfrm>
            <a:off x="3618501" y="4188772"/>
            <a:ext cx="489266" cy="389455"/>
          </a:xfrm>
          <a:prstGeom prst="rect">
            <a:avLst/>
          </a:prstGeom>
        </p:spPr>
      </p:pic>
      <p:sp>
        <p:nvSpPr>
          <p:cNvPr id="24" name="文本框 23"/>
          <p:cNvSpPr txBox="1"/>
          <p:nvPr/>
        </p:nvSpPr>
        <p:spPr bwMode="gray">
          <a:xfrm>
            <a:off x="3406316" y="4660746"/>
            <a:ext cx="869148" cy="461665"/>
          </a:xfrm>
          <a:prstGeom prst="rect">
            <a:avLst/>
          </a:prstGeom>
          <a:noFill/>
        </p:spPr>
        <p:txBody>
          <a:bodyPr wrap="none" rtlCol="0">
            <a:spAutoFit/>
          </a:bodyPr>
          <a:lstStyle/>
          <a:p>
            <a:pPr algn="ct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终端</a:t>
            </a: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3</a:t>
            </a:r>
          </a:p>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1.1.1.3/24</a:t>
            </a:r>
          </a:p>
        </p:txBody>
      </p:sp>
      <p:grpSp>
        <p:nvGrpSpPr>
          <p:cNvPr id="25" name="组合 28"/>
          <p:cNvGrpSpPr>
            <a:grpSpLocks noChangeAspect="1"/>
          </p:cNvGrpSpPr>
          <p:nvPr/>
        </p:nvGrpSpPr>
        <p:grpSpPr bwMode="gray">
          <a:xfrm rot="16200000">
            <a:off x="2092205" y="3483515"/>
            <a:ext cx="197369" cy="197369"/>
            <a:chOff x="5076056" y="3356992"/>
            <a:chExt cx="436268" cy="436268"/>
          </a:xfrm>
        </p:grpSpPr>
        <p:sp>
          <p:nvSpPr>
            <p:cNvPr id="26" name="椭圆 27"/>
            <p:cNvSpPr/>
            <p:nvPr/>
          </p:nvSpPr>
          <p:spPr bwMode="gray">
            <a:xfrm>
              <a:off x="5076056" y="3356992"/>
              <a:ext cx="432048" cy="432048"/>
            </a:xfrm>
            <a:prstGeom prst="ellipse">
              <a:avLst/>
            </a:prstGeom>
            <a:solidFill>
              <a:sysClr val="window" lastClr="FFFF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ct val="0"/>
                </a:spcBef>
                <a:spcAft>
                  <a:spcPct val="0"/>
                </a:spcAft>
                <a:buClrTx/>
                <a:buSzTx/>
                <a:buFontTx/>
                <a:buNone/>
                <a:tabLst/>
                <a:defRPr/>
              </a:pPr>
              <a:endParaRPr kumimoji="0" lang="zh-CN" altLang="en-US" sz="21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禁止符 23"/>
            <p:cNvSpPr/>
            <p:nvPr/>
          </p:nvSpPr>
          <p:spPr bwMode="gray">
            <a:xfrm>
              <a:off x="5076056" y="3356992"/>
              <a:ext cx="436268" cy="436268"/>
            </a:xfrm>
            <a:prstGeom prst="noSmoking">
              <a:avLst>
                <a:gd name="adj" fmla="val 15475"/>
              </a:avLst>
            </a:prstGeom>
            <a:solidFill>
              <a:srgbClr val="C7000B"/>
            </a:solidFill>
            <a:ln w="12700" cap="flat" cmpd="sng" algn="ctr">
              <a:no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EC7061"/>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8" name="任意多边形 27"/>
          <p:cNvSpPr/>
          <p:nvPr/>
        </p:nvSpPr>
        <p:spPr bwMode="gray">
          <a:xfrm flipH="1">
            <a:off x="1004528" y="3266115"/>
            <a:ext cx="2849370" cy="935957"/>
          </a:xfrm>
          <a:custGeom>
            <a:avLst/>
            <a:gdLst>
              <a:gd name="connsiteX0" fmla="*/ 0 w 1388533"/>
              <a:gd name="connsiteY0" fmla="*/ 0 h 33866"/>
              <a:gd name="connsiteX1" fmla="*/ 1388533 w 1388533"/>
              <a:gd name="connsiteY1" fmla="*/ 33866 h 33866"/>
              <a:gd name="connsiteX0" fmla="*/ 0 w 1319173"/>
              <a:gd name="connsiteY0" fmla="*/ 0 h 51234"/>
              <a:gd name="connsiteX1" fmla="*/ 1319173 w 1319173"/>
              <a:gd name="connsiteY1" fmla="*/ 51234 h 51234"/>
              <a:gd name="connsiteX0" fmla="*/ 0 w 944632"/>
              <a:gd name="connsiteY0" fmla="*/ 0 h 603"/>
              <a:gd name="connsiteX1" fmla="*/ 944632 w 944632"/>
              <a:gd name="connsiteY1" fmla="*/ 603 h 603"/>
              <a:gd name="connsiteX0" fmla="*/ 0 w 10000"/>
              <a:gd name="connsiteY0" fmla="*/ 185459 h 195459"/>
              <a:gd name="connsiteX1" fmla="*/ 10000 w 10000"/>
              <a:gd name="connsiteY1" fmla="*/ 195459 h 195459"/>
              <a:gd name="connsiteX0" fmla="*/ 0 w 10000"/>
              <a:gd name="connsiteY0" fmla="*/ 302781 h 312781"/>
              <a:gd name="connsiteX1" fmla="*/ 10000 w 10000"/>
              <a:gd name="connsiteY1" fmla="*/ 312781 h 312781"/>
              <a:gd name="connsiteX0" fmla="*/ 0 w 10225"/>
              <a:gd name="connsiteY0" fmla="*/ 319154 h 319154"/>
              <a:gd name="connsiteX1" fmla="*/ 10225 w 10225"/>
              <a:gd name="connsiteY1" fmla="*/ 296120 h 319154"/>
              <a:gd name="connsiteX0" fmla="*/ 0 w 10225"/>
              <a:gd name="connsiteY0" fmla="*/ 319154 h 319154"/>
              <a:gd name="connsiteX1" fmla="*/ 10225 w 10225"/>
              <a:gd name="connsiteY1" fmla="*/ 296120 h 319154"/>
              <a:gd name="connsiteX0" fmla="*/ 0 w 10705"/>
              <a:gd name="connsiteY0" fmla="*/ 308428 h 308428"/>
              <a:gd name="connsiteX1" fmla="*/ 10705 w 10705"/>
              <a:gd name="connsiteY1" fmla="*/ 306805 h 308428"/>
              <a:gd name="connsiteX0" fmla="*/ 0 w 10705"/>
              <a:gd name="connsiteY0" fmla="*/ 294445 h 294445"/>
              <a:gd name="connsiteX1" fmla="*/ 10705 w 10705"/>
              <a:gd name="connsiteY1" fmla="*/ 292822 h 294445"/>
              <a:gd name="connsiteX0" fmla="*/ 0 w 10705"/>
              <a:gd name="connsiteY0" fmla="*/ 287355 h 287355"/>
              <a:gd name="connsiteX1" fmla="*/ 10705 w 10705"/>
              <a:gd name="connsiteY1" fmla="*/ 285732 h 287355"/>
              <a:gd name="connsiteX0" fmla="*/ 0 w 11435"/>
              <a:gd name="connsiteY0" fmla="*/ 297107 h 297107"/>
              <a:gd name="connsiteX1" fmla="*/ 11435 w 11435"/>
              <a:gd name="connsiteY1" fmla="*/ 275602 h 297107"/>
              <a:gd name="connsiteX0" fmla="*/ 0 w 11435"/>
              <a:gd name="connsiteY0" fmla="*/ 312197 h 312197"/>
              <a:gd name="connsiteX1" fmla="*/ 11435 w 11435"/>
              <a:gd name="connsiteY1" fmla="*/ 290692 h 312197"/>
              <a:gd name="connsiteX0" fmla="*/ 0 w 8806"/>
              <a:gd name="connsiteY0" fmla="*/ 322724 h 322724"/>
              <a:gd name="connsiteX1" fmla="*/ 8806 w 8806"/>
              <a:gd name="connsiteY1" fmla="*/ 279808 h 322724"/>
              <a:gd name="connsiteX0" fmla="*/ 0 w 10000"/>
              <a:gd name="connsiteY0" fmla="*/ 10071 h 10071"/>
              <a:gd name="connsiteX1" fmla="*/ 10000 w 10000"/>
              <a:gd name="connsiteY1" fmla="*/ 8741 h 10071"/>
              <a:gd name="connsiteX0" fmla="*/ 0 w 10175"/>
              <a:gd name="connsiteY0" fmla="*/ 10245 h 10245"/>
              <a:gd name="connsiteX1" fmla="*/ 10175 w 10175"/>
              <a:gd name="connsiteY1" fmla="*/ 8574 h 10245"/>
              <a:gd name="connsiteX0" fmla="*/ 0 w 10175"/>
              <a:gd name="connsiteY0" fmla="*/ 13923 h 13923"/>
              <a:gd name="connsiteX1" fmla="*/ 10175 w 10175"/>
              <a:gd name="connsiteY1" fmla="*/ 12252 h 13923"/>
              <a:gd name="connsiteX0" fmla="*/ 0 w 10175"/>
              <a:gd name="connsiteY0" fmla="*/ 15081 h 15081"/>
              <a:gd name="connsiteX1" fmla="*/ 10175 w 10175"/>
              <a:gd name="connsiteY1" fmla="*/ 13410 h 15081"/>
              <a:gd name="connsiteX0" fmla="*/ 0 w 9453"/>
              <a:gd name="connsiteY0" fmla="*/ 13157 h 15125"/>
              <a:gd name="connsiteX1" fmla="*/ 9453 w 9453"/>
              <a:gd name="connsiteY1" fmla="*/ 15125 h 15125"/>
              <a:gd name="connsiteX0" fmla="*/ 0 w 10000"/>
              <a:gd name="connsiteY0" fmla="*/ 7362 h 8663"/>
              <a:gd name="connsiteX1" fmla="*/ 10000 w 10000"/>
              <a:gd name="connsiteY1" fmla="*/ 8663 h 8663"/>
              <a:gd name="connsiteX0" fmla="*/ 0 w 10000"/>
              <a:gd name="connsiteY0" fmla="*/ 8319 h 9821"/>
              <a:gd name="connsiteX1" fmla="*/ 10000 w 10000"/>
              <a:gd name="connsiteY1" fmla="*/ 9821 h 9821"/>
              <a:gd name="connsiteX0" fmla="*/ 0 w 10000"/>
              <a:gd name="connsiteY0" fmla="*/ 8937 h 10466"/>
              <a:gd name="connsiteX1" fmla="*/ 10000 w 10000"/>
              <a:gd name="connsiteY1" fmla="*/ 10466 h 10466"/>
              <a:gd name="connsiteX0" fmla="*/ 0 w 10208"/>
              <a:gd name="connsiteY0" fmla="*/ 9247 h 10246"/>
              <a:gd name="connsiteX1" fmla="*/ 10208 w 10208"/>
              <a:gd name="connsiteY1" fmla="*/ 10246 h 10246"/>
              <a:gd name="connsiteX0" fmla="*/ 0 w 10347"/>
              <a:gd name="connsiteY0" fmla="*/ 9247 h 10246"/>
              <a:gd name="connsiteX1" fmla="*/ 10347 w 10347"/>
              <a:gd name="connsiteY1" fmla="*/ 10246 h 10246"/>
              <a:gd name="connsiteX0" fmla="*/ 0 w 10381"/>
              <a:gd name="connsiteY0" fmla="*/ 7173 h 12033"/>
              <a:gd name="connsiteX1" fmla="*/ 10381 w 10381"/>
              <a:gd name="connsiteY1" fmla="*/ 12033 h 12033"/>
              <a:gd name="connsiteX0" fmla="*/ 0 w 10448"/>
              <a:gd name="connsiteY0" fmla="*/ 9324 h 10194"/>
              <a:gd name="connsiteX1" fmla="*/ 10448 w 10448"/>
              <a:gd name="connsiteY1" fmla="*/ 10194 h 10194"/>
              <a:gd name="connsiteX0" fmla="*/ 0 w 10819"/>
              <a:gd name="connsiteY0" fmla="*/ 9247 h 10246"/>
              <a:gd name="connsiteX1" fmla="*/ 10819 w 10819"/>
              <a:gd name="connsiteY1" fmla="*/ 10246 h 10246"/>
              <a:gd name="connsiteX0" fmla="*/ 0 w 10819"/>
              <a:gd name="connsiteY0" fmla="*/ 12571 h 13570"/>
              <a:gd name="connsiteX1" fmla="*/ 10819 w 10819"/>
              <a:gd name="connsiteY1" fmla="*/ 13570 h 13570"/>
            </a:gdLst>
            <a:ahLst/>
            <a:cxnLst>
              <a:cxn ang="0">
                <a:pos x="connsiteX0" y="connsiteY0"/>
              </a:cxn>
              <a:cxn ang="0">
                <a:pos x="connsiteX1" y="connsiteY1"/>
              </a:cxn>
            </a:cxnLst>
            <a:rect l="l" t="t" r="r" b="b"/>
            <a:pathLst>
              <a:path w="10819" h="13570">
                <a:moveTo>
                  <a:pt x="0" y="12571"/>
                </a:moveTo>
                <a:cubicBezTo>
                  <a:pt x="1752" y="4030"/>
                  <a:pt x="5784" y="-11332"/>
                  <a:pt x="10819" y="13570"/>
                </a:cubicBezTo>
              </a:path>
            </a:pathLst>
          </a:custGeom>
          <a:noFill/>
          <a:ln w="38100" algn="ctr">
            <a:solidFill>
              <a:srgbClr val="C7000B">
                <a:alpha val="64000"/>
              </a:srgbClr>
            </a:solidFill>
            <a:prstDash val="solid"/>
            <a:round/>
            <a:headEnd type="triangle" w="sm" len="med"/>
            <a:tailEnd type="triangle" w="sm" len="med"/>
          </a:ln>
        </p:spPr>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任意多边形 28"/>
          <p:cNvSpPr/>
          <p:nvPr/>
        </p:nvSpPr>
        <p:spPr bwMode="gray">
          <a:xfrm flipH="1">
            <a:off x="2566960" y="3567638"/>
            <a:ext cx="1071896" cy="715259"/>
          </a:xfrm>
          <a:custGeom>
            <a:avLst/>
            <a:gdLst>
              <a:gd name="connsiteX0" fmla="*/ 0 w 1388533"/>
              <a:gd name="connsiteY0" fmla="*/ 0 h 33866"/>
              <a:gd name="connsiteX1" fmla="*/ 1388533 w 1388533"/>
              <a:gd name="connsiteY1" fmla="*/ 33866 h 33866"/>
              <a:gd name="connsiteX0" fmla="*/ 0 w 1319173"/>
              <a:gd name="connsiteY0" fmla="*/ 0 h 51234"/>
              <a:gd name="connsiteX1" fmla="*/ 1319173 w 1319173"/>
              <a:gd name="connsiteY1" fmla="*/ 51234 h 51234"/>
              <a:gd name="connsiteX0" fmla="*/ 0 w 944632"/>
              <a:gd name="connsiteY0" fmla="*/ 0 h 603"/>
              <a:gd name="connsiteX1" fmla="*/ 944632 w 944632"/>
              <a:gd name="connsiteY1" fmla="*/ 603 h 603"/>
              <a:gd name="connsiteX0" fmla="*/ 0 w 10000"/>
              <a:gd name="connsiteY0" fmla="*/ 185459 h 195459"/>
              <a:gd name="connsiteX1" fmla="*/ 10000 w 10000"/>
              <a:gd name="connsiteY1" fmla="*/ 195459 h 195459"/>
              <a:gd name="connsiteX0" fmla="*/ 0 w 10000"/>
              <a:gd name="connsiteY0" fmla="*/ 302781 h 312781"/>
              <a:gd name="connsiteX1" fmla="*/ 10000 w 10000"/>
              <a:gd name="connsiteY1" fmla="*/ 312781 h 312781"/>
              <a:gd name="connsiteX0" fmla="*/ 0 w 10225"/>
              <a:gd name="connsiteY0" fmla="*/ 319154 h 319154"/>
              <a:gd name="connsiteX1" fmla="*/ 10225 w 10225"/>
              <a:gd name="connsiteY1" fmla="*/ 296120 h 319154"/>
              <a:gd name="connsiteX0" fmla="*/ 0 w 10225"/>
              <a:gd name="connsiteY0" fmla="*/ 319154 h 319154"/>
              <a:gd name="connsiteX1" fmla="*/ 10225 w 10225"/>
              <a:gd name="connsiteY1" fmla="*/ 296120 h 319154"/>
              <a:gd name="connsiteX0" fmla="*/ 0 w 10705"/>
              <a:gd name="connsiteY0" fmla="*/ 308428 h 308428"/>
              <a:gd name="connsiteX1" fmla="*/ 10705 w 10705"/>
              <a:gd name="connsiteY1" fmla="*/ 306805 h 308428"/>
              <a:gd name="connsiteX0" fmla="*/ 0 w 10705"/>
              <a:gd name="connsiteY0" fmla="*/ 294445 h 294445"/>
              <a:gd name="connsiteX1" fmla="*/ 10705 w 10705"/>
              <a:gd name="connsiteY1" fmla="*/ 292822 h 294445"/>
              <a:gd name="connsiteX0" fmla="*/ 0 w 10705"/>
              <a:gd name="connsiteY0" fmla="*/ 287355 h 287355"/>
              <a:gd name="connsiteX1" fmla="*/ 10705 w 10705"/>
              <a:gd name="connsiteY1" fmla="*/ 285732 h 287355"/>
              <a:gd name="connsiteX0" fmla="*/ 0 w 11435"/>
              <a:gd name="connsiteY0" fmla="*/ 297107 h 297107"/>
              <a:gd name="connsiteX1" fmla="*/ 11435 w 11435"/>
              <a:gd name="connsiteY1" fmla="*/ 275602 h 297107"/>
              <a:gd name="connsiteX0" fmla="*/ 0 w 11435"/>
              <a:gd name="connsiteY0" fmla="*/ 312197 h 312197"/>
              <a:gd name="connsiteX1" fmla="*/ 11435 w 11435"/>
              <a:gd name="connsiteY1" fmla="*/ 290692 h 312197"/>
              <a:gd name="connsiteX0" fmla="*/ 0 w 8806"/>
              <a:gd name="connsiteY0" fmla="*/ 322724 h 322724"/>
              <a:gd name="connsiteX1" fmla="*/ 8806 w 8806"/>
              <a:gd name="connsiteY1" fmla="*/ 279808 h 322724"/>
              <a:gd name="connsiteX0" fmla="*/ 0 w 10000"/>
              <a:gd name="connsiteY0" fmla="*/ 10071 h 10071"/>
              <a:gd name="connsiteX1" fmla="*/ 10000 w 10000"/>
              <a:gd name="connsiteY1" fmla="*/ 8741 h 10071"/>
              <a:gd name="connsiteX0" fmla="*/ 0 w 10000"/>
              <a:gd name="connsiteY0" fmla="*/ 10030 h 10030"/>
              <a:gd name="connsiteX1" fmla="*/ 10000 w 10000"/>
              <a:gd name="connsiteY1" fmla="*/ 8700 h 10030"/>
              <a:gd name="connsiteX0" fmla="*/ 0 w 10004"/>
              <a:gd name="connsiteY0" fmla="*/ 9948 h 9948"/>
              <a:gd name="connsiteX1" fmla="*/ 10000 w 10004"/>
              <a:gd name="connsiteY1" fmla="*/ 8618 h 9948"/>
              <a:gd name="connsiteX0" fmla="*/ 0 w 9996"/>
              <a:gd name="connsiteY0" fmla="*/ 9275 h 9275"/>
              <a:gd name="connsiteX1" fmla="*/ 9996 w 9996"/>
              <a:gd name="connsiteY1" fmla="*/ 7938 h 9275"/>
              <a:gd name="connsiteX0" fmla="*/ 0 w 10000"/>
              <a:gd name="connsiteY0" fmla="*/ 10515 h 10515"/>
              <a:gd name="connsiteX1" fmla="*/ 10000 w 10000"/>
              <a:gd name="connsiteY1" fmla="*/ 9073 h 10515"/>
              <a:gd name="connsiteX0" fmla="*/ 0 w 10000"/>
              <a:gd name="connsiteY0" fmla="*/ 10472 h 10472"/>
              <a:gd name="connsiteX1" fmla="*/ 10000 w 10000"/>
              <a:gd name="connsiteY1" fmla="*/ 9030 h 10472"/>
              <a:gd name="connsiteX0" fmla="*/ 0 w 10000"/>
              <a:gd name="connsiteY0" fmla="*/ 10151 h 10151"/>
              <a:gd name="connsiteX1" fmla="*/ 10000 w 10000"/>
              <a:gd name="connsiteY1" fmla="*/ 8709 h 10151"/>
              <a:gd name="connsiteX0" fmla="*/ 0 w 10000"/>
              <a:gd name="connsiteY0" fmla="*/ 9670 h 9670"/>
              <a:gd name="connsiteX1" fmla="*/ 10000 w 10000"/>
              <a:gd name="connsiteY1" fmla="*/ 8228 h 9670"/>
              <a:gd name="connsiteX0" fmla="*/ 0 w 10000"/>
              <a:gd name="connsiteY0" fmla="*/ 10000 h 10000"/>
              <a:gd name="connsiteX1" fmla="*/ 10000 w 10000"/>
              <a:gd name="connsiteY1" fmla="*/ 8509 h 10000"/>
            </a:gdLst>
            <a:ahLst/>
            <a:cxnLst>
              <a:cxn ang="0">
                <a:pos x="connsiteX0" y="connsiteY0"/>
              </a:cxn>
              <a:cxn ang="0">
                <a:pos x="connsiteX1" y="connsiteY1"/>
              </a:cxn>
            </a:cxnLst>
            <a:rect l="l" t="t" r="r" b="b"/>
            <a:pathLst>
              <a:path w="10000" h="10000">
                <a:moveTo>
                  <a:pt x="0" y="10000"/>
                </a:moveTo>
                <a:cubicBezTo>
                  <a:pt x="7851" y="-2768"/>
                  <a:pt x="9551" y="-3356"/>
                  <a:pt x="10000" y="8509"/>
                </a:cubicBezTo>
              </a:path>
            </a:pathLst>
          </a:custGeom>
          <a:noFill/>
          <a:ln w="38100" algn="ctr">
            <a:solidFill>
              <a:srgbClr val="C7000B">
                <a:alpha val="64000"/>
              </a:srgbClr>
            </a:solidFill>
            <a:prstDash val="solid"/>
            <a:round/>
            <a:headEnd type="triangle" w="sm" len="med"/>
            <a:tailEnd type="triangle" w="sm" len="med"/>
          </a:ln>
        </p:spPr>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椭圆 29"/>
          <p:cNvSpPr/>
          <p:nvPr/>
        </p:nvSpPr>
        <p:spPr bwMode="black">
          <a:xfrm>
            <a:off x="863903" y="5768262"/>
            <a:ext cx="161831" cy="161831"/>
          </a:xfrm>
          <a:prstGeom prst="ellipse">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文本框 30"/>
          <p:cNvSpPr txBox="1"/>
          <p:nvPr/>
        </p:nvSpPr>
        <p:spPr bwMode="gray">
          <a:xfrm>
            <a:off x="1011251" y="5719556"/>
            <a:ext cx="3108543"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激活端口隔离，且加入同一个端口隔离组。</a:t>
            </a:r>
          </a:p>
        </p:txBody>
      </p:sp>
      <p:sp>
        <p:nvSpPr>
          <p:cNvPr id="32" name="椭圆 31"/>
          <p:cNvSpPr/>
          <p:nvPr/>
        </p:nvSpPr>
        <p:spPr bwMode="black">
          <a:xfrm>
            <a:off x="2222832" y="3029752"/>
            <a:ext cx="161831" cy="161831"/>
          </a:xfrm>
          <a:prstGeom prst="ellipse">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椭圆 32"/>
          <p:cNvSpPr/>
          <p:nvPr/>
        </p:nvSpPr>
        <p:spPr bwMode="black">
          <a:xfrm>
            <a:off x="2415906" y="3029752"/>
            <a:ext cx="161831" cy="161831"/>
          </a:xfrm>
          <a:prstGeom prst="ellipse">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五边形 33"/>
          <p:cNvSpPr/>
          <p:nvPr/>
        </p:nvSpPr>
        <p:spPr bwMode="auto">
          <a:xfrm>
            <a:off x="6179960" y="98481"/>
            <a:ext cx="94884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以太网交换</a:t>
            </a:r>
          </a:p>
        </p:txBody>
      </p:sp>
      <p:sp>
        <p:nvSpPr>
          <p:cNvPr id="35" name="燕尾形 34"/>
          <p:cNvSpPr/>
          <p:nvPr/>
        </p:nvSpPr>
        <p:spPr bwMode="auto">
          <a:xfrm>
            <a:off x="7049907" y="98481"/>
            <a:ext cx="678521"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燕尾形 35"/>
          <p:cNvSpPr/>
          <p:nvPr/>
        </p:nvSpPr>
        <p:spPr bwMode="auto">
          <a:xfrm>
            <a:off x="7649535" y="98481"/>
            <a:ext cx="87595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无线接入</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燕尾形 36"/>
          <p:cNvSpPr/>
          <p:nvPr/>
        </p:nvSpPr>
        <p:spPr bwMode="auto">
          <a:xfrm>
            <a:off x="8446601"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可靠性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燕尾形 37"/>
          <p:cNvSpPr/>
          <p:nvPr/>
        </p:nvSpPr>
        <p:spPr bwMode="auto">
          <a:xfrm>
            <a:off x="9148908" y="98481"/>
            <a:ext cx="870489"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网络安全</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燕尾形 38"/>
          <p:cNvSpPr/>
          <p:nvPr/>
        </p:nvSpPr>
        <p:spPr bwMode="auto">
          <a:xfrm>
            <a:off x="9940504" y="98481"/>
            <a:ext cx="130400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网络服务与管理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燕尾形 39"/>
          <p:cNvSpPr/>
          <p:nvPr/>
        </p:nvSpPr>
        <p:spPr bwMode="auto">
          <a:xfrm>
            <a:off x="11165613" y="98481"/>
            <a:ext cx="583475"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出口</a:t>
            </a:r>
          </a:p>
        </p:txBody>
      </p:sp>
    </p:spTree>
    <p:extLst>
      <p:ext uri="{BB962C8B-B14F-4D97-AF65-F5344CB8AC3E}">
        <p14:creationId xmlns:p14="http://schemas.microsoft.com/office/powerpoint/2010/main" val="10073644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Huawei Sans" panose="020C0503030203020204" pitchFamily="34" charset="0"/>
              </a:rPr>
              <a:t>以太网端口安全</a:t>
            </a:r>
          </a:p>
        </p:txBody>
      </p:sp>
      <p:sp>
        <p:nvSpPr>
          <p:cNvPr id="3" name="椭圆 2"/>
          <p:cNvSpPr/>
          <p:nvPr/>
        </p:nvSpPr>
        <p:spPr bwMode="gray">
          <a:xfrm>
            <a:off x="1050940" y="5570391"/>
            <a:ext cx="161831" cy="161831"/>
          </a:xfrm>
          <a:prstGeom prst="ellipse">
            <a:avLst/>
          </a:prstGeom>
          <a:solidFill>
            <a:srgbClr val="81C15F"/>
          </a:solidFill>
          <a:ln>
            <a:solidFill>
              <a:srgbClr val="62B2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文本框 3"/>
          <p:cNvSpPr txBox="1"/>
          <p:nvPr/>
        </p:nvSpPr>
        <p:spPr bwMode="gray">
          <a:xfrm>
            <a:off x="1189410" y="5512807"/>
            <a:ext cx="1261884" cy="276999"/>
          </a:xfrm>
          <a:prstGeom prst="rect">
            <a:avLst/>
          </a:prstGeom>
          <a:noFill/>
        </p:spPr>
        <p:txBody>
          <a:bodyPr wrap="none" rtlCol="0">
            <a:spAutoFit/>
          </a:bodyPr>
          <a:lstStyle/>
          <a:p>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可部署端口安全</a:t>
            </a:r>
          </a:p>
        </p:txBody>
      </p:sp>
      <p:grpSp>
        <p:nvGrpSpPr>
          <p:cNvPr id="5" name="Group 165"/>
          <p:cNvGrpSpPr/>
          <p:nvPr/>
        </p:nvGrpSpPr>
        <p:grpSpPr bwMode="gray">
          <a:xfrm rot="10800000">
            <a:off x="1893855" y="2185405"/>
            <a:ext cx="2803836" cy="1205915"/>
            <a:chOff x="-1233037" y="914446"/>
            <a:chExt cx="1573823" cy="778776"/>
          </a:xfrm>
        </p:grpSpPr>
        <p:cxnSp>
          <p:nvCxnSpPr>
            <p:cNvPr id="6" name="Straight Connector 166"/>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167"/>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8" name="Group 165"/>
          <p:cNvGrpSpPr/>
          <p:nvPr/>
        </p:nvGrpSpPr>
        <p:grpSpPr bwMode="gray">
          <a:xfrm rot="10800000">
            <a:off x="1001528" y="3489862"/>
            <a:ext cx="1689846" cy="867073"/>
            <a:chOff x="-1233037" y="914446"/>
            <a:chExt cx="1573823" cy="778776"/>
          </a:xfrm>
        </p:grpSpPr>
        <p:cxnSp>
          <p:nvCxnSpPr>
            <p:cNvPr id="9" name="Straight Connector 166"/>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167"/>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11" name="Group 165"/>
          <p:cNvGrpSpPr/>
          <p:nvPr/>
        </p:nvGrpSpPr>
        <p:grpSpPr bwMode="gray">
          <a:xfrm rot="10800000">
            <a:off x="3876526" y="3489862"/>
            <a:ext cx="1689846" cy="867073"/>
            <a:chOff x="-1233037" y="914446"/>
            <a:chExt cx="1573823" cy="778776"/>
          </a:xfrm>
        </p:grpSpPr>
        <p:cxnSp>
          <p:nvCxnSpPr>
            <p:cNvPr id="12" name="Straight Connector 166"/>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67"/>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pic>
        <p:nvPicPr>
          <p:cNvPr id="14" name="图片 87" descr="汇聚交换机.png"/>
          <p:cNvPicPr>
            <a:picLocks noChangeAspect="1"/>
          </p:cNvPicPr>
          <p:nvPr/>
        </p:nvPicPr>
        <p:blipFill>
          <a:blip r:embed="rId3" cstate="print"/>
          <a:stretch>
            <a:fillRect/>
          </a:stretch>
        </p:blipFill>
        <p:spPr bwMode="gray">
          <a:xfrm>
            <a:off x="3063623" y="1984581"/>
            <a:ext cx="490909" cy="401653"/>
          </a:xfrm>
          <a:prstGeom prst="rect">
            <a:avLst/>
          </a:prstGeom>
        </p:spPr>
      </p:pic>
      <p:pic>
        <p:nvPicPr>
          <p:cNvPr id="15" name="图片 76" descr="接入交换机.png"/>
          <p:cNvPicPr>
            <a:picLocks noChangeAspect="1"/>
          </p:cNvPicPr>
          <p:nvPr/>
        </p:nvPicPr>
        <p:blipFill>
          <a:blip r:embed="rId4" cstate="print"/>
          <a:stretch>
            <a:fillRect/>
          </a:stretch>
        </p:blipFill>
        <p:spPr bwMode="gray">
          <a:xfrm>
            <a:off x="1600997" y="3245223"/>
            <a:ext cx="490909" cy="401653"/>
          </a:xfrm>
          <a:prstGeom prst="rect">
            <a:avLst/>
          </a:prstGeom>
        </p:spPr>
      </p:pic>
      <p:pic>
        <p:nvPicPr>
          <p:cNvPr id="16" name="图片 76" descr="接入交换机.png"/>
          <p:cNvPicPr>
            <a:picLocks noChangeAspect="1"/>
          </p:cNvPicPr>
          <p:nvPr/>
        </p:nvPicPr>
        <p:blipFill>
          <a:blip r:embed="rId4" cstate="print"/>
          <a:stretch>
            <a:fillRect/>
          </a:stretch>
        </p:blipFill>
        <p:spPr bwMode="gray">
          <a:xfrm>
            <a:off x="4499645" y="3245223"/>
            <a:ext cx="490909" cy="401653"/>
          </a:xfrm>
          <a:prstGeom prst="rect">
            <a:avLst/>
          </a:prstGeom>
        </p:spPr>
      </p:pic>
      <p:pic>
        <p:nvPicPr>
          <p:cNvPr id="17" name="图片 14" descr="日志告警服务器-蓝.png"/>
          <p:cNvPicPr>
            <a:picLocks noChangeAspect="1"/>
          </p:cNvPicPr>
          <p:nvPr/>
        </p:nvPicPr>
        <p:blipFill>
          <a:blip r:embed="rId5" cstate="print"/>
          <a:stretch>
            <a:fillRect/>
          </a:stretch>
        </p:blipFill>
        <p:spPr bwMode="gray">
          <a:xfrm>
            <a:off x="810253" y="4286334"/>
            <a:ext cx="490552" cy="306312"/>
          </a:xfrm>
          <a:prstGeom prst="rect">
            <a:avLst/>
          </a:prstGeom>
        </p:spPr>
      </p:pic>
      <p:pic>
        <p:nvPicPr>
          <p:cNvPr id="18" name="图片 47" descr="打印机.png"/>
          <p:cNvPicPr>
            <a:picLocks noChangeAspect="1"/>
          </p:cNvPicPr>
          <p:nvPr/>
        </p:nvPicPr>
        <p:blipFill>
          <a:blip r:embed="rId6" cstate="print"/>
          <a:stretch>
            <a:fillRect/>
          </a:stretch>
        </p:blipFill>
        <p:spPr bwMode="gray">
          <a:xfrm>
            <a:off x="3744764" y="4261928"/>
            <a:ext cx="444786" cy="365835"/>
          </a:xfrm>
          <a:prstGeom prst="rect">
            <a:avLst/>
          </a:prstGeom>
        </p:spPr>
      </p:pic>
      <p:grpSp>
        <p:nvGrpSpPr>
          <p:cNvPr id="19" name="组合 211"/>
          <p:cNvGrpSpPr/>
          <p:nvPr/>
        </p:nvGrpSpPr>
        <p:grpSpPr bwMode="gray">
          <a:xfrm>
            <a:off x="5270764" y="4357026"/>
            <a:ext cx="515863" cy="256225"/>
            <a:chOff x="5310188" y="1243013"/>
            <a:chExt cx="915988" cy="414338"/>
          </a:xfrm>
          <a:solidFill>
            <a:srgbClr val="7A7B7C"/>
          </a:solidFill>
        </p:grpSpPr>
        <p:sp>
          <p:nvSpPr>
            <p:cNvPr id="20" name="Freeform 106"/>
            <p:cNvSpPr>
              <a:spLocks/>
            </p:cNvSpPr>
            <p:nvPr/>
          </p:nvSpPr>
          <p:spPr bwMode="gray">
            <a:xfrm>
              <a:off x="5310188" y="1243013"/>
              <a:ext cx="915988" cy="414338"/>
            </a:xfrm>
            <a:custGeom>
              <a:avLst/>
              <a:gdLst/>
              <a:ahLst/>
              <a:cxnLst>
                <a:cxn ang="0">
                  <a:pos x="680" y="989"/>
                </a:cxn>
                <a:cxn ang="0">
                  <a:pos x="680" y="989"/>
                </a:cxn>
                <a:cxn ang="0">
                  <a:pos x="453" y="923"/>
                </a:cxn>
                <a:cxn ang="0">
                  <a:pos x="448" y="921"/>
                </a:cxn>
                <a:cxn ang="0">
                  <a:pos x="223" y="748"/>
                </a:cxn>
                <a:cxn ang="0">
                  <a:pos x="221" y="745"/>
                </a:cxn>
                <a:cxn ang="0">
                  <a:pos x="189" y="507"/>
                </a:cxn>
                <a:cxn ang="0">
                  <a:pos x="50" y="395"/>
                </a:cxn>
                <a:cxn ang="0">
                  <a:pos x="43" y="376"/>
                </a:cxn>
                <a:cxn ang="0">
                  <a:pos x="14" y="188"/>
                </a:cxn>
                <a:cxn ang="0">
                  <a:pos x="297" y="65"/>
                </a:cxn>
                <a:cxn ang="0">
                  <a:pos x="1609" y="5"/>
                </a:cxn>
                <a:cxn ang="0">
                  <a:pos x="1900" y="18"/>
                </a:cxn>
                <a:cxn ang="0">
                  <a:pos x="1953" y="25"/>
                </a:cxn>
                <a:cxn ang="0">
                  <a:pos x="2168" y="213"/>
                </a:cxn>
                <a:cxn ang="0">
                  <a:pos x="2135" y="394"/>
                </a:cxn>
                <a:cxn ang="0">
                  <a:pos x="2100" y="409"/>
                </a:cxn>
                <a:cxn ang="0">
                  <a:pos x="2100" y="472"/>
                </a:cxn>
                <a:cxn ang="0">
                  <a:pos x="1997" y="599"/>
                </a:cxn>
                <a:cxn ang="0">
                  <a:pos x="1814" y="656"/>
                </a:cxn>
                <a:cxn ang="0">
                  <a:pos x="1773" y="634"/>
                </a:cxn>
                <a:cxn ang="0">
                  <a:pos x="1795" y="592"/>
                </a:cxn>
                <a:cxn ang="0">
                  <a:pos x="1975" y="536"/>
                </a:cxn>
                <a:cxn ang="0">
                  <a:pos x="2033" y="472"/>
                </a:cxn>
                <a:cxn ang="0">
                  <a:pos x="2033" y="384"/>
                </a:cxn>
                <a:cxn ang="0">
                  <a:pos x="2060" y="351"/>
                </a:cxn>
                <a:cxn ang="0">
                  <a:pos x="2098" y="339"/>
                </a:cxn>
                <a:cxn ang="0">
                  <a:pos x="2102" y="224"/>
                </a:cxn>
                <a:cxn ang="0">
                  <a:pos x="1944" y="91"/>
                </a:cxn>
                <a:cxn ang="0">
                  <a:pos x="1892" y="84"/>
                </a:cxn>
                <a:cxn ang="0">
                  <a:pos x="1611" y="72"/>
                </a:cxn>
                <a:cxn ang="0">
                  <a:pos x="302" y="131"/>
                </a:cxn>
                <a:cxn ang="0">
                  <a:pos x="79" y="200"/>
                </a:cxn>
                <a:cxn ang="0">
                  <a:pos x="105" y="351"/>
                </a:cxn>
                <a:cxn ang="0">
                  <a:pos x="113" y="372"/>
                </a:cxn>
                <a:cxn ang="0">
                  <a:pos x="217" y="439"/>
                </a:cxn>
                <a:cxn ang="0">
                  <a:pos x="243" y="447"/>
                </a:cxn>
                <a:cxn ang="0">
                  <a:pos x="255" y="471"/>
                </a:cxn>
                <a:cxn ang="0">
                  <a:pos x="281" y="714"/>
                </a:cxn>
                <a:cxn ang="0">
                  <a:pos x="282" y="717"/>
                </a:cxn>
                <a:cxn ang="0">
                  <a:pos x="471" y="859"/>
                </a:cxn>
                <a:cxn ang="0">
                  <a:pos x="477" y="861"/>
                </a:cxn>
                <a:cxn ang="0">
                  <a:pos x="717" y="917"/>
                </a:cxn>
                <a:cxn ang="0">
                  <a:pos x="1620" y="645"/>
                </a:cxn>
                <a:cxn ang="0">
                  <a:pos x="1662" y="668"/>
                </a:cxn>
                <a:cxn ang="0">
                  <a:pos x="1639" y="709"/>
                </a:cxn>
                <a:cxn ang="0">
                  <a:pos x="733" y="982"/>
                </a:cxn>
                <a:cxn ang="0">
                  <a:pos x="680" y="989"/>
                </a:cxn>
              </a:cxnLst>
              <a:rect l="0" t="0" r="r" b="b"/>
              <a:pathLst>
                <a:path w="2184" h="989">
                  <a:moveTo>
                    <a:pt x="680" y="989"/>
                  </a:moveTo>
                  <a:lnTo>
                    <a:pt x="680" y="989"/>
                  </a:lnTo>
                  <a:cubicBezTo>
                    <a:pt x="627" y="989"/>
                    <a:pt x="571" y="968"/>
                    <a:pt x="453" y="923"/>
                  </a:cubicBezTo>
                  <a:lnTo>
                    <a:pt x="448" y="921"/>
                  </a:lnTo>
                  <a:cubicBezTo>
                    <a:pt x="280" y="858"/>
                    <a:pt x="251" y="802"/>
                    <a:pt x="223" y="748"/>
                  </a:cubicBezTo>
                  <a:lnTo>
                    <a:pt x="221" y="745"/>
                  </a:lnTo>
                  <a:cubicBezTo>
                    <a:pt x="198" y="699"/>
                    <a:pt x="191" y="573"/>
                    <a:pt x="189" y="507"/>
                  </a:cubicBezTo>
                  <a:cubicBezTo>
                    <a:pt x="93" y="506"/>
                    <a:pt x="70" y="448"/>
                    <a:pt x="50" y="395"/>
                  </a:cubicBezTo>
                  <a:cubicBezTo>
                    <a:pt x="48" y="389"/>
                    <a:pt x="45" y="382"/>
                    <a:pt x="43" y="376"/>
                  </a:cubicBezTo>
                  <a:cubicBezTo>
                    <a:pt x="23" y="324"/>
                    <a:pt x="0" y="266"/>
                    <a:pt x="14" y="188"/>
                  </a:cubicBezTo>
                  <a:cubicBezTo>
                    <a:pt x="32" y="84"/>
                    <a:pt x="126" y="77"/>
                    <a:pt x="297" y="65"/>
                  </a:cubicBezTo>
                  <a:cubicBezTo>
                    <a:pt x="469" y="52"/>
                    <a:pt x="1427" y="11"/>
                    <a:pt x="1609" y="5"/>
                  </a:cubicBezTo>
                  <a:cubicBezTo>
                    <a:pt x="1769" y="0"/>
                    <a:pt x="1824" y="8"/>
                    <a:pt x="1900" y="18"/>
                  </a:cubicBezTo>
                  <a:cubicBezTo>
                    <a:pt x="1916" y="20"/>
                    <a:pt x="1933" y="22"/>
                    <a:pt x="1953" y="25"/>
                  </a:cubicBezTo>
                  <a:cubicBezTo>
                    <a:pt x="2065" y="39"/>
                    <a:pt x="2145" y="76"/>
                    <a:pt x="2168" y="213"/>
                  </a:cubicBezTo>
                  <a:cubicBezTo>
                    <a:pt x="2184" y="310"/>
                    <a:pt x="2174" y="368"/>
                    <a:pt x="2135" y="394"/>
                  </a:cubicBezTo>
                  <a:cubicBezTo>
                    <a:pt x="2125" y="401"/>
                    <a:pt x="2112" y="406"/>
                    <a:pt x="2100" y="409"/>
                  </a:cubicBezTo>
                  <a:lnTo>
                    <a:pt x="2100" y="472"/>
                  </a:lnTo>
                  <a:cubicBezTo>
                    <a:pt x="2100" y="531"/>
                    <a:pt x="2063" y="576"/>
                    <a:pt x="1997" y="599"/>
                  </a:cubicBezTo>
                  <a:cubicBezTo>
                    <a:pt x="1985" y="603"/>
                    <a:pt x="1924" y="622"/>
                    <a:pt x="1814" y="656"/>
                  </a:cubicBezTo>
                  <a:cubicBezTo>
                    <a:pt x="1797" y="661"/>
                    <a:pt x="1778" y="651"/>
                    <a:pt x="1773" y="634"/>
                  </a:cubicBezTo>
                  <a:cubicBezTo>
                    <a:pt x="1767" y="616"/>
                    <a:pt x="1777" y="597"/>
                    <a:pt x="1795" y="592"/>
                  </a:cubicBezTo>
                  <a:cubicBezTo>
                    <a:pt x="1937" y="548"/>
                    <a:pt x="1969" y="538"/>
                    <a:pt x="1975" y="536"/>
                  </a:cubicBezTo>
                  <a:cubicBezTo>
                    <a:pt x="2033" y="516"/>
                    <a:pt x="2033" y="483"/>
                    <a:pt x="2033" y="472"/>
                  </a:cubicBezTo>
                  <a:lnTo>
                    <a:pt x="2033" y="384"/>
                  </a:lnTo>
                  <a:cubicBezTo>
                    <a:pt x="2033" y="368"/>
                    <a:pt x="2044" y="354"/>
                    <a:pt x="2060" y="351"/>
                  </a:cubicBezTo>
                  <a:cubicBezTo>
                    <a:pt x="2073" y="348"/>
                    <a:pt x="2092" y="342"/>
                    <a:pt x="2098" y="339"/>
                  </a:cubicBezTo>
                  <a:cubicBezTo>
                    <a:pt x="2106" y="333"/>
                    <a:pt x="2116" y="303"/>
                    <a:pt x="2102" y="224"/>
                  </a:cubicBezTo>
                  <a:cubicBezTo>
                    <a:pt x="2087" y="135"/>
                    <a:pt x="2051" y="104"/>
                    <a:pt x="1944" y="91"/>
                  </a:cubicBezTo>
                  <a:cubicBezTo>
                    <a:pt x="1925" y="89"/>
                    <a:pt x="1908" y="86"/>
                    <a:pt x="1892" y="84"/>
                  </a:cubicBezTo>
                  <a:cubicBezTo>
                    <a:pt x="1815" y="74"/>
                    <a:pt x="1765" y="67"/>
                    <a:pt x="1611" y="72"/>
                  </a:cubicBezTo>
                  <a:cubicBezTo>
                    <a:pt x="1429" y="77"/>
                    <a:pt x="473" y="119"/>
                    <a:pt x="302" y="131"/>
                  </a:cubicBezTo>
                  <a:cubicBezTo>
                    <a:pt x="129" y="144"/>
                    <a:pt x="88" y="152"/>
                    <a:pt x="79" y="200"/>
                  </a:cubicBezTo>
                  <a:cubicBezTo>
                    <a:pt x="69" y="259"/>
                    <a:pt x="86" y="304"/>
                    <a:pt x="105" y="351"/>
                  </a:cubicBezTo>
                  <a:cubicBezTo>
                    <a:pt x="108" y="358"/>
                    <a:pt x="110" y="365"/>
                    <a:pt x="113" y="372"/>
                  </a:cubicBezTo>
                  <a:cubicBezTo>
                    <a:pt x="133" y="425"/>
                    <a:pt x="142" y="448"/>
                    <a:pt x="217" y="439"/>
                  </a:cubicBezTo>
                  <a:cubicBezTo>
                    <a:pt x="227" y="438"/>
                    <a:pt x="236" y="441"/>
                    <a:pt x="243" y="447"/>
                  </a:cubicBezTo>
                  <a:cubicBezTo>
                    <a:pt x="250" y="453"/>
                    <a:pt x="254" y="462"/>
                    <a:pt x="255" y="471"/>
                  </a:cubicBezTo>
                  <a:cubicBezTo>
                    <a:pt x="256" y="553"/>
                    <a:pt x="264" y="683"/>
                    <a:pt x="281" y="714"/>
                  </a:cubicBezTo>
                  <a:lnTo>
                    <a:pt x="282" y="717"/>
                  </a:lnTo>
                  <a:cubicBezTo>
                    <a:pt x="306" y="764"/>
                    <a:pt x="328" y="805"/>
                    <a:pt x="471" y="859"/>
                  </a:cubicBezTo>
                  <a:lnTo>
                    <a:pt x="477" y="861"/>
                  </a:lnTo>
                  <a:cubicBezTo>
                    <a:pt x="632" y="920"/>
                    <a:pt x="663" y="930"/>
                    <a:pt x="717" y="917"/>
                  </a:cubicBezTo>
                  <a:cubicBezTo>
                    <a:pt x="757" y="908"/>
                    <a:pt x="1217" y="769"/>
                    <a:pt x="1620" y="645"/>
                  </a:cubicBezTo>
                  <a:cubicBezTo>
                    <a:pt x="1638" y="640"/>
                    <a:pt x="1656" y="650"/>
                    <a:pt x="1662" y="668"/>
                  </a:cubicBezTo>
                  <a:cubicBezTo>
                    <a:pt x="1667" y="685"/>
                    <a:pt x="1657" y="704"/>
                    <a:pt x="1639" y="709"/>
                  </a:cubicBezTo>
                  <a:cubicBezTo>
                    <a:pt x="1290" y="816"/>
                    <a:pt x="778" y="971"/>
                    <a:pt x="733" y="982"/>
                  </a:cubicBezTo>
                  <a:cubicBezTo>
                    <a:pt x="714" y="986"/>
                    <a:pt x="697" y="989"/>
                    <a:pt x="680" y="989"/>
                  </a:cubicBezTo>
                  <a:close/>
                </a:path>
              </a:pathLst>
            </a:custGeom>
            <a:grpFill/>
            <a:ln w="0">
              <a:noFill/>
              <a:prstDash val="solid"/>
              <a:round/>
              <a:headEnd/>
              <a:tailEnd/>
            </a:ln>
          </p:spPr>
          <p:txBody>
            <a:bodyPr/>
            <a:lstStyle/>
            <a:p>
              <a:pPr defTabSz="456512">
                <a:defRPr/>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Freeform 107"/>
            <p:cNvSpPr>
              <a:spLocks/>
            </p:cNvSpPr>
            <p:nvPr/>
          </p:nvSpPr>
          <p:spPr bwMode="gray">
            <a:xfrm>
              <a:off x="5322888" y="1287463"/>
              <a:ext cx="868363" cy="230188"/>
            </a:xfrm>
            <a:custGeom>
              <a:avLst/>
              <a:gdLst/>
              <a:ahLst/>
              <a:cxnLst>
                <a:cxn ang="0">
                  <a:pos x="753" y="549"/>
                </a:cxn>
                <a:cxn ang="0">
                  <a:pos x="753" y="549"/>
                </a:cxn>
                <a:cxn ang="0">
                  <a:pos x="643" y="465"/>
                </a:cxn>
                <a:cxn ang="0">
                  <a:pos x="636" y="449"/>
                </a:cxn>
                <a:cxn ang="0">
                  <a:pos x="507" y="208"/>
                </a:cxn>
                <a:cxn ang="0">
                  <a:pos x="223" y="79"/>
                </a:cxn>
                <a:cxn ang="0">
                  <a:pos x="47" y="74"/>
                </a:cxn>
                <a:cxn ang="0">
                  <a:pos x="12" y="72"/>
                </a:cxn>
                <a:cxn ang="0">
                  <a:pos x="11" y="34"/>
                </a:cxn>
                <a:cxn ang="0">
                  <a:pos x="231" y="26"/>
                </a:cxn>
                <a:cxn ang="0">
                  <a:pos x="548" y="174"/>
                </a:cxn>
                <a:cxn ang="0">
                  <a:pos x="685" y="428"/>
                </a:cxn>
                <a:cxn ang="0">
                  <a:pos x="692" y="444"/>
                </a:cxn>
                <a:cxn ang="0">
                  <a:pos x="829" y="486"/>
                </a:cxn>
                <a:cxn ang="0">
                  <a:pos x="1733" y="302"/>
                </a:cxn>
                <a:cxn ang="0">
                  <a:pos x="2033" y="241"/>
                </a:cxn>
                <a:cxn ang="0">
                  <a:pos x="2065" y="261"/>
                </a:cxn>
                <a:cxn ang="0">
                  <a:pos x="2044" y="293"/>
                </a:cxn>
                <a:cxn ang="0">
                  <a:pos x="1743" y="354"/>
                </a:cxn>
                <a:cxn ang="0">
                  <a:pos x="840" y="538"/>
                </a:cxn>
                <a:cxn ang="0">
                  <a:pos x="753" y="549"/>
                </a:cxn>
              </a:cxnLst>
              <a:rect l="0" t="0" r="r" b="b"/>
              <a:pathLst>
                <a:path w="2068" h="549">
                  <a:moveTo>
                    <a:pt x="753" y="549"/>
                  </a:moveTo>
                  <a:lnTo>
                    <a:pt x="753" y="549"/>
                  </a:lnTo>
                  <a:cubicBezTo>
                    <a:pt x="687" y="549"/>
                    <a:pt x="666" y="519"/>
                    <a:pt x="643" y="465"/>
                  </a:cubicBezTo>
                  <a:lnTo>
                    <a:pt x="636" y="449"/>
                  </a:lnTo>
                  <a:cubicBezTo>
                    <a:pt x="610" y="387"/>
                    <a:pt x="561" y="272"/>
                    <a:pt x="507" y="208"/>
                  </a:cubicBezTo>
                  <a:cubicBezTo>
                    <a:pt x="457" y="147"/>
                    <a:pt x="394" y="107"/>
                    <a:pt x="223" y="79"/>
                  </a:cubicBezTo>
                  <a:cubicBezTo>
                    <a:pt x="87" y="57"/>
                    <a:pt x="51" y="71"/>
                    <a:pt x="47" y="74"/>
                  </a:cubicBezTo>
                  <a:cubicBezTo>
                    <a:pt x="36" y="82"/>
                    <a:pt x="21" y="81"/>
                    <a:pt x="12" y="72"/>
                  </a:cubicBezTo>
                  <a:cubicBezTo>
                    <a:pt x="1" y="62"/>
                    <a:pt x="0" y="45"/>
                    <a:pt x="11" y="34"/>
                  </a:cubicBezTo>
                  <a:cubicBezTo>
                    <a:pt x="24" y="20"/>
                    <a:pt x="71" y="0"/>
                    <a:pt x="231" y="26"/>
                  </a:cubicBezTo>
                  <a:cubicBezTo>
                    <a:pt x="395" y="53"/>
                    <a:pt x="481" y="93"/>
                    <a:pt x="548" y="174"/>
                  </a:cubicBezTo>
                  <a:cubicBezTo>
                    <a:pt x="607" y="244"/>
                    <a:pt x="656" y="359"/>
                    <a:pt x="685" y="428"/>
                  </a:cubicBezTo>
                  <a:lnTo>
                    <a:pt x="692" y="444"/>
                  </a:lnTo>
                  <a:cubicBezTo>
                    <a:pt x="714" y="495"/>
                    <a:pt x="719" y="509"/>
                    <a:pt x="829" y="486"/>
                  </a:cubicBezTo>
                  <a:cubicBezTo>
                    <a:pt x="922" y="466"/>
                    <a:pt x="1410" y="367"/>
                    <a:pt x="1733" y="302"/>
                  </a:cubicBezTo>
                  <a:cubicBezTo>
                    <a:pt x="1893" y="269"/>
                    <a:pt x="2020" y="243"/>
                    <a:pt x="2033" y="241"/>
                  </a:cubicBezTo>
                  <a:cubicBezTo>
                    <a:pt x="2048" y="238"/>
                    <a:pt x="2062" y="247"/>
                    <a:pt x="2065" y="261"/>
                  </a:cubicBezTo>
                  <a:cubicBezTo>
                    <a:pt x="2068" y="276"/>
                    <a:pt x="2059" y="290"/>
                    <a:pt x="2044" y="293"/>
                  </a:cubicBezTo>
                  <a:cubicBezTo>
                    <a:pt x="2031" y="296"/>
                    <a:pt x="1910" y="320"/>
                    <a:pt x="1743" y="354"/>
                  </a:cubicBezTo>
                  <a:cubicBezTo>
                    <a:pt x="1421" y="419"/>
                    <a:pt x="933" y="518"/>
                    <a:pt x="840" y="538"/>
                  </a:cubicBezTo>
                  <a:cubicBezTo>
                    <a:pt x="804" y="545"/>
                    <a:pt x="776" y="549"/>
                    <a:pt x="753" y="549"/>
                  </a:cubicBezTo>
                  <a:close/>
                </a:path>
              </a:pathLst>
            </a:custGeom>
            <a:grpFill/>
            <a:ln w="0">
              <a:noFill/>
              <a:prstDash val="solid"/>
              <a:round/>
              <a:headEnd/>
              <a:tailEnd/>
            </a:ln>
          </p:spPr>
          <p:txBody>
            <a:bodyPr/>
            <a:lstStyle/>
            <a:p>
              <a:pPr defTabSz="456512">
                <a:defRPr/>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Freeform 108"/>
            <p:cNvSpPr>
              <a:spLocks/>
            </p:cNvSpPr>
            <p:nvPr/>
          </p:nvSpPr>
          <p:spPr bwMode="gray">
            <a:xfrm>
              <a:off x="5564188" y="1495425"/>
              <a:ext cx="87313" cy="157163"/>
            </a:xfrm>
            <a:custGeom>
              <a:avLst/>
              <a:gdLst/>
              <a:ahLst/>
              <a:cxnLst>
                <a:cxn ang="0">
                  <a:pos x="45" y="375"/>
                </a:cxn>
                <a:cxn ang="0">
                  <a:pos x="45" y="375"/>
                </a:cxn>
                <a:cxn ang="0">
                  <a:pos x="25" y="375"/>
                </a:cxn>
                <a:cxn ang="0">
                  <a:pos x="0" y="346"/>
                </a:cxn>
                <a:cxn ang="0">
                  <a:pos x="29" y="321"/>
                </a:cxn>
                <a:cxn ang="0">
                  <a:pos x="143" y="237"/>
                </a:cxn>
                <a:cxn ang="0">
                  <a:pos x="144" y="232"/>
                </a:cxn>
                <a:cxn ang="0">
                  <a:pos x="153" y="28"/>
                </a:cxn>
                <a:cxn ang="0">
                  <a:pos x="179" y="1"/>
                </a:cxn>
                <a:cxn ang="0">
                  <a:pos x="206" y="27"/>
                </a:cxn>
                <a:cxn ang="0">
                  <a:pos x="196" y="245"/>
                </a:cxn>
                <a:cxn ang="0">
                  <a:pos x="195" y="249"/>
                </a:cxn>
                <a:cxn ang="0">
                  <a:pos x="45" y="375"/>
                </a:cxn>
              </a:cxnLst>
              <a:rect l="0" t="0" r="r" b="b"/>
              <a:pathLst>
                <a:path w="210" h="375">
                  <a:moveTo>
                    <a:pt x="45" y="375"/>
                  </a:moveTo>
                  <a:lnTo>
                    <a:pt x="45" y="375"/>
                  </a:lnTo>
                  <a:cubicBezTo>
                    <a:pt x="39" y="375"/>
                    <a:pt x="32" y="375"/>
                    <a:pt x="25" y="375"/>
                  </a:cubicBezTo>
                  <a:cubicBezTo>
                    <a:pt x="11" y="374"/>
                    <a:pt x="0" y="361"/>
                    <a:pt x="0" y="346"/>
                  </a:cubicBezTo>
                  <a:cubicBezTo>
                    <a:pt x="1" y="332"/>
                    <a:pt x="14" y="320"/>
                    <a:pt x="29" y="321"/>
                  </a:cubicBezTo>
                  <a:cubicBezTo>
                    <a:pt x="121" y="327"/>
                    <a:pt x="130" y="291"/>
                    <a:pt x="143" y="237"/>
                  </a:cubicBezTo>
                  <a:lnTo>
                    <a:pt x="144" y="232"/>
                  </a:lnTo>
                  <a:cubicBezTo>
                    <a:pt x="155" y="189"/>
                    <a:pt x="154" y="70"/>
                    <a:pt x="153" y="28"/>
                  </a:cubicBezTo>
                  <a:cubicBezTo>
                    <a:pt x="153" y="13"/>
                    <a:pt x="164" y="1"/>
                    <a:pt x="179" y="1"/>
                  </a:cubicBezTo>
                  <a:cubicBezTo>
                    <a:pt x="194" y="0"/>
                    <a:pt x="206" y="12"/>
                    <a:pt x="206" y="27"/>
                  </a:cubicBezTo>
                  <a:cubicBezTo>
                    <a:pt x="206" y="33"/>
                    <a:pt x="210" y="186"/>
                    <a:pt x="196" y="245"/>
                  </a:cubicBezTo>
                  <a:lnTo>
                    <a:pt x="195" y="249"/>
                  </a:lnTo>
                  <a:cubicBezTo>
                    <a:pt x="182" y="303"/>
                    <a:pt x="164" y="375"/>
                    <a:pt x="45" y="375"/>
                  </a:cubicBezTo>
                  <a:close/>
                </a:path>
              </a:pathLst>
            </a:custGeom>
            <a:grpFill/>
            <a:ln w="0">
              <a:noFill/>
              <a:prstDash val="solid"/>
              <a:round/>
              <a:headEnd/>
              <a:tailEnd/>
            </a:ln>
          </p:spPr>
          <p:txBody>
            <a:bodyPr/>
            <a:lstStyle/>
            <a:p>
              <a:pPr defTabSz="456512">
                <a:defRPr/>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Freeform 109"/>
            <p:cNvSpPr>
              <a:spLocks/>
            </p:cNvSpPr>
            <p:nvPr/>
          </p:nvSpPr>
          <p:spPr bwMode="gray">
            <a:xfrm>
              <a:off x="5394325" y="1303338"/>
              <a:ext cx="87313" cy="147638"/>
            </a:xfrm>
            <a:custGeom>
              <a:avLst/>
              <a:gdLst/>
              <a:ahLst/>
              <a:cxnLst>
                <a:cxn ang="0">
                  <a:pos x="27" y="353"/>
                </a:cxn>
                <a:cxn ang="0">
                  <a:pos x="27" y="353"/>
                </a:cxn>
                <a:cxn ang="0">
                  <a:pos x="0" y="327"/>
                </a:cxn>
                <a:cxn ang="0">
                  <a:pos x="0" y="169"/>
                </a:cxn>
                <a:cxn ang="0">
                  <a:pos x="52" y="31"/>
                </a:cxn>
                <a:cxn ang="0">
                  <a:pos x="184" y="14"/>
                </a:cxn>
                <a:cxn ang="0">
                  <a:pos x="203" y="46"/>
                </a:cxn>
                <a:cxn ang="0">
                  <a:pos x="171" y="66"/>
                </a:cxn>
                <a:cxn ang="0">
                  <a:pos x="84" y="73"/>
                </a:cxn>
                <a:cxn ang="0">
                  <a:pos x="54" y="169"/>
                </a:cxn>
                <a:cxn ang="0">
                  <a:pos x="54" y="327"/>
                </a:cxn>
                <a:cxn ang="0">
                  <a:pos x="27" y="353"/>
                </a:cxn>
              </a:cxnLst>
              <a:rect l="0" t="0" r="r" b="b"/>
              <a:pathLst>
                <a:path w="207" h="353">
                  <a:moveTo>
                    <a:pt x="27" y="353"/>
                  </a:moveTo>
                  <a:lnTo>
                    <a:pt x="27" y="353"/>
                  </a:lnTo>
                  <a:cubicBezTo>
                    <a:pt x="12" y="353"/>
                    <a:pt x="0" y="342"/>
                    <a:pt x="0" y="327"/>
                  </a:cubicBezTo>
                  <a:lnTo>
                    <a:pt x="0" y="169"/>
                  </a:lnTo>
                  <a:cubicBezTo>
                    <a:pt x="0" y="104"/>
                    <a:pt x="17" y="57"/>
                    <a:pt x="52" y="31"/>
                  </a:cubicBezTo>
                  <a:cubicBezTo>
                    <a:pt x="84" y="6"/>
                    <a:pt x="128" y="0"/>
                    <a:pt x="184" y="14"/>
                  </a:cubicBezTo>
                  <a:cubicBezTo>
                    <a:pt x="198" y="17"/>
                    <a:pt x="207" y="32"/>
                    <a:pt x="203" y="46"/>
                  </a:cubicBezTo>
                  <a:cubicBezTo>
                    <a:pt x="200" y="61"/>
                    <a:pt x="185" y="69"/>
                    <a:pt x="171" y="66"/>
                  </a:cubicBezTo>
                  <a:cubicBezTo>
                    <a:pt x="132" y="56"/>
                    <a:pt x="103" y="58"/>
                    <a:pt x="84" y="73"/>
                  </a:cubicBezTo>
                  <a:cubicBezTo>
                    <a:pt x="64" y="89"/>
                    <a:pt x="54" y="121"/>
                    <a:pt x="54" y="169"/>
                  </a:cubicBezTo>
                  <a:lnTo>
                    <a:pt x="54" y="327"/>
                  </a:lnTo>
                  <a:cubicBezTo>
                    <a:pt x="54" y="342"/>
                    <a:pt x="42" y="353"/>
                    <a:pt x="27" y="353"/>
                  </a:cubicBezTo>
                  <a:close/>
                </a:path>
              </a:pathLst>
            </a:custGeom>
            <a:grpFill/>
            <a:ln w="0">
              <a:noFill/>
              <a:prstDash val="solid"/>
              <a:round/>
              <a:headEnd/>
              <a:tailEnd/>
            </a:ln>
          </p:spPr>
          <p:txBody>
            <a:bodyPr/>
            <a:lstStyle/>
            <a:p>
              <a:pPr defTabSz="456512">
                <a:defRPr/>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Freeform 110"/>
            <p:cNvSpPr>
              <a:spLocks/>
            </p:cNvSpPr>
            <p:nvPr/>
          </p:nvSpPr>
          <p:spPr bwMode="gray">
            <a:xfrm>
              <a:off x="5437188" y="1339850"/>
              <a:ext cx="165100" cy="247650"/>
            </a:xfrm>
            <a:custGeom>
              <a:avLst/>
              <a:gdLst/>
              <a:ahLst/>
              <a:cxnLst>
                <a:cxn ang="0">
                  <a:pos x="233" y="591"/>
                </a:cxn>
                <a:cxn ang="0">
                  <a:pos x="233" y="591"/>
                </a:cxn>
                <a:cxn ang="0">
                  <a:pos x="108" y="521"/>
                </a:cxn>
                <a:cxn ang="0">
                  <a:pos x="26" y="326"/>
                </a:cxn>
                <a:cxn ang="0">
                  <a:pos x="157" y="5"/>
                </a:cxn>
                <a:cxn ang="0">
                  <a:pos x="243" y="23"/>
                </a:cxn>
                <a:cxn ang="0">
                  <a:pos x="250" y="50"/>
                </a:cxn>
                <a:cxn ang="0">
                  <a:pos x="223" y="57"/>
                </a:cxn>
                <a:cxn ang="0">
                  <a:pos x="163" y="44"/>
                </a:cxn>
                <a:cxn ang="0">
                  <a:pos x="66" y="320"/>
                </a:cxn>
                <a:cxn ang="0">
                  <a:pos x="139" y="495"/>
                </a:cxn>
                <a:cxn ang="0">
                  <a:pos x="245" y="550"/>
                </a:cxn>
                <a:cxn ang="0">
                  <a:pos x="329" y="465"/>
                </a:cxn>
                <a:cxn ang="0">
                  <a:pos x="343" y="275"/>
                </a:cxn>
                <a:cxn ang="0">
                  <a:pos x="337" y="247"/>
                </a:cxn>
                <a:cxn ang="0">
                  <a:pos x="352" y="223"/>
                </a:cxn>
                <a:cxn ang="0">
                  <a:pos x="376" y="238"/>
                </a:cxn>
                <a:cxn ang="0">
                  <a:pos x="382" y="268"/>
                </a:cxn>
                <a:cxn ang="0">
                  <a:pos x="366" y="479"/>
                </a:cxn>
                <a:cxn ang="0">
                  <a:pos x="252" y="590"/>
                </a:cxn>
                <a:cxn ang="0">
                  <a:pos x="233" y="591"/>
                </a:cxn>
              </a:cxnLst>
              <a:rect l="0" t="0" r="r" b="b"/>
              <a:pathLst>
                <a:path w="395" h="591">
                  <a:moveTo>
                    <a:pt x="233" y="591"/>
                  </a:moveTo>
                  <a:lnTo>
                    <a:pt x="233" y="591"/>
                  </a:lnTo>
                  <a:cubicBezTo>
                    <a:pt x="190" y="591"/>
                    <a:pt x="146" y="567"/>
                    <a:pt x="108" y="521"/>
                  </a:cubicBezTo>
                  <a:cubicBezTo>
                    <a:pt x="68" y="471"/>
                    <a:pt x="39" y="402"/>
                    <a:pt x="26" y="326"/>
                  </a:cubicBezTo>
                  <a:cubicBezTo>
                    <a:pt x="0" y="162"/>
                    <a:pt x="57" y="21"/>
                    <a:pt x="157" y="5"/>
                  </a:cubicBezTo>
                  <a:cubicBezTo>
                    <a:pt x="185" y="0"/>
                    <a:pt x="215" y="6"/>
                    <a:pt x="243" y="23"/>
                  </a:cubicBezTo>
                  <a:cubicBezTo>
                    <a:pt x="253" y="28"/>
                    <a:pt x="256" y="41"/>
                    <a:pt x="250" y="50"/>
                  </a:cubicBezTo>
                  <a:cubicBezTo>
                    <a:pt x="245" y="60"/>
                    <a:pt x="232" y="63"/>
                    <a:pt x="223" y="57"/>
                  </a:cubicBezTo>
                  <a:cubicBezTo>
                    <a:pt x="202" y="45"/>
                    <a:pt x="182" y="41"/>
                    <a:pt x="163" y="44"/>
                  </a:cubicBezTo>
                  <a:cubicBezTo>
                    <a:pt x="88" y="56"/>
                    <a:pt x="43" y="182"/>
                    <a:pt x="66" y="320"/>
                  </a:cubicBezTo>
                  <a:cubicBezTo>
                    <a:pt x="77" y="389"/>
                    <a:pt x="103" y="452"/>
                    <a:pt x="139" y="495"/>
                  </a:cubicBezTo>
                  <a:cubicBezTo>
                    <a:pt x="173" y="536"/>
                    <a:pt x="210" y="556"/>
                    <a:pt x="245" y="550"/>
                  </a:cubicBezTo>
                  <a:cubicBezTo>
                    <a:pt x="280" y="544"/>
                    <a:pt x="310" y="514"/>
                    <a:pt x="329" y="465"/>
                  </a:cubicBezTo>
                  <a:cubicBezTo>
                    <a:pt x="349" y="412"/>
                    <a:pt x="354" y="344"/>
                    <a:pt x="343" y="275"/>
                  </a:cubicBezTo>
                  <a:cubicBezTo>
                    <a:pt x="341" y="265"/>
                    <a:pt x="339" y="256"/>
                    <a:pt x="337" y="247"/>
                  </a:cubicBezTo>
                  <a:cubicBezTo>
                    <a:pt x="335" y="236"/>
                    <a:pt x="342" y="225"/>
                    <a:pt x="352" y="223"/>
                  </a:cubicBezTo>
                  <a:cubicBezTo>
                    <a:pt x="363" y="221"/>
                    <a:pt x="374" y="227"/>
                    <a:pt x="376" y="238"/>
                  </a:cubicBezTo>
                  <a:cubicBezTo>
                    <a:pt x="379" y="248"/>
                    <a:pt x="380" y="258"/>
                    <a:pt x="382" y="268"/>
                  </a:cubicBezTo>
                  <a:cubicBezTo>
                    <a:pt x="395" y="344"/>
                    <a:pt x="389" y="419"/>
                    <a:pt x="366" y="479"/>
                  </a:cubicBezTo>
                  <a:cubicBezTo>
                    <a:pt x="342" y="542"/>
                    <a:pt x="301" y="582"/>
                    <a:pt x="252" y="590"/>
                  </a:cubicBezTo>
                  <a:cubicBezTo>
                    <a:pt x="246" y="591"/>
                    <a:pt x="239" y="591"/>
                    <a:pt x="233" y="591"/>
                  </a:cubicBezTo>
                  <a:close/>
                </a:path>
              </a:pathLst>
            </a:custGeom>
            <a:grpFill/>
            <a:ln w="0">
              <a:noFill/>
              <a:prstDash val="solid"/>
              <a:round/>
              <a:headEnd/>
              <a:tailEnd/>
            </a:ln>
          </p:spPr>
          <p:txBody>
            <a:bodyPr/>
            <a:lstStyle/>
            <a:p>
              <a:pPr defTabSz="456512">
                <a:defRPr/>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Freeform 111"/>
            <p:cNvSpPr>
              <a:spLocks noEditPoints="1"/>
            </p:cNvSpPr>
            <p:nvPr/>
          </p:nvSpPr>
          <p:spPr bwMode="gray">
            <a:xfrm>
              <a:off x="5478463" y="1400175"/>
              <a:ext cx="87313" cy="123825"/>
            </a:xfrm>
            <a:custGeom>
              <a:avLst/>
              <a:gdLst/>
              <a:ahLst/>
              <a:cxnLst>
                <a:cxn ang="0">
                  <a:pos x="91" y="47"/>
                </a:cxn>
                <a:cxn ang="0">
                  <a:pos x="91" y="47"/>
                </a:cxn>
                <a:cxn ang="0">
                  <a:pos x="87" y="48"/>
                </a:cxn>
                <a:cxn ang="0">
                  <a:pos x="53" y="159"/>
                </a:cxn>
                <a:cxn ang="0">
                  <a:pos x="117" y="255"/>
                </a:cxn>
                <a:cxn ang="0">
                  <a:pos x="121" y="255"/>
                </a:cxn>
                <a:cxn ang="0">
                  <a:pos x="156" y="143"/>
                </a:cxn>
                <a:cxn ang="0">
                  <a:pos x="91" y="47"/>
                </a:cxn>
                <a:cxn ang="0">
                  <a:pos x="117" y="295"/>
                </a:cxn>
                <a:cxn ang="0">
                  <a:pos x="117" y="295"/>
                </a:cxn>
                <a:cxn ang="0">
                  <a:pos x="13" y="166"/>
                </a:cxn>
                <a:cxn ang="0">
                  <a:pos x="81" y="8"/>
                </a:cxn>
                <a:cxn ang="0">
                  <a:pos x="195" y="136"/>
                </a:cxn>
                <a:cxn ang="0">
                  <a:pos x="127" y="294"/>
                </a:cxn>
                <a:cxn ang="0">
                  <a:pos x="117" y="295"/>
                </a:cxn>
              </a:cxnLst>
              <a:rect l="0" t="0" r="r" b="b"/>
              <a:pathLst>
                <a:path w="208" h="295">
                  <a:moveTo>
                    <a:pt x="91" y="47"/>
                  </a:moveTo>
                  <a:lnTo>
                    <a:pt x="91" y="47"/>
                  </a:lnTo>
                  <a:cubicBezTo>
                    <a:pt x="90" y="47"/>
                    <a:pt x="89" y="47"/>
                    <a:pt x="87" y="48"/>
                  </a:cubicBezTo>
                  <a:cubicBezTo>
                    <a:pt x="63" y="52"/>
                    <a:pt x="43" y="99"/>
                    <a:pt x="53" y="159"/>
                  </a:cubicBezTo>
                  <a:cubicBezTo>
                    <a:pt x="62" y="217"/>
                    <a:pt x="94" y="255"/>
                    <a:pt x="117" y="255"/>
                  </a:cubicBezTo>
                  <a:cubicBezTo>
                    <a:pt x="119" y="255"/>
                    <a:pt x="120" y="255"/>
                    <a:pt x="121" y="255"/>
                  </a:cubicBezTo>
                  <a:cubicBezTo>
                    <a:pt x="145" y="251"/>
                    <a:pt x="166" y="204"/>
                    <a:pt x="156" y="143"/>
                  </a:cubicBezTo>
                  <a:cubicBezTo>
                    <a:pt x="147" y="86"/>
                    <a:pt x="115" y="47"/>
                    <a:pt x="91" y="47"/>
                  </a:cubicBezTo>
                  <a:close/>
                  <a:moveTo>
                    <a:pt x="117" y="295"/>
                  </a:moveTo>
                  <a:lnTo>
                    <a:pt x="117" y="295"/>
                  </a:lnTo>
                  <a:cubicBezTo>
                    <a:pt x="69" y="295"/>
                    <a:pt x="25" y="241"/>
                    <a:pt x="13" y="166"/>
                  </a:cubicBezTo>
                  <a:cubicBezTo>
                    <a:pt x="0" y="86"/>
                    <a:pt x="30" y="17"/>
                    <a:pt x="81" y="8"/>
                  </a:cubicBezTo>
                  <a:cubicBezTo>
                    <a:pt x="133" y="0"/>
                    <a:pt x="182" y="56"/>
                    <a:pt x="195" y="136"/>
                  </a:cubicBezTo>
                  <a:cubicBezTo>
                    <a:pt x="208" y="216"/>
                    <a:pt x="179" y="286"/>
                    <a:pt x="127" y="294"/>
                  </a:cubicBezTo>
                  <a:cubicBezTo>
                    <a:pt x="124" y="295"/>
                    <a:pt x="121" y="295"/>
                    <a:pt x="117" y="295"/>
                  </a:cubicBezTo>
                  <a:close/>
                </a:path>
              </a:pathLst>
            </a:custGeom>
            <a:grpFill/>
            <a:ln w="0">
              <a:noFill/>
              <a:prstDash val="solid"/>
              <a:round/>
              <a:headEnd/>
              <a:tailEnd/>
            </a:ln>
          </p:spPr>
          <p:txBody>
            <a:bodyPr/>
            <a:lstStyle/>
            <a:p>
              <a:pPr defTabSz="456512">
                <a:defRPr/>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Freeform 112"/>
            <p:cNvSpPr>
              <a:spLocks/>
            </p:cNvSpPr>
            <p:nvPr/>
          </p:nvSpPr>
          <p:spPr bwMode="gray">
            <a:xfrm>
              <a:off x="5953125" y="1495425"/>
              <a:ext cx="65088" cy="65088"/>
            </a:xfrm>
            <a:custGeom>
              <a:avLst/>
              <a:gdLst/>
              <a:ahLst/>
              <a:cxnLst>
                <a:cxn ang="0">
                  <a:pos x="97" y="144"/>
                </a:cxn>
                <a:cxn ang="0">
                  <a:pos x="97" y="144"/>
                </a:cxn>
                <a:cxn ang="0">
                  <a:pos x="11" y="97"/>
                </a:cxn>
                <a:cxn ang="0">
                  <a:pos x="58" y="11"/>
                </a:cxn>
                <a:cxn ang="0">
                  <a:pos x="144" y="58"/>
                </a:cxn>
                <a:cxn ang="0">
                  <a:pos x="97" y="144"/>
                </a:cxn>
              </a:cxnLst>
              <a:rect l="0" t="0" r="r" b="b"/>
              <a:pathLst>
                <a:path w="155" h="155">
                  <a:moveTo>
                    <a:pt x="97" y="144"/>
                  </a:moveTo>
                  <a:lnTo>
                    <a:pt x="97" y="144"/>
                  </a:lnTo>
                  <a:cubicBezTo>
                    <a:pt x="60" y="155"/>
                    <a:pt x="22" y="134"/>
                    <a:pt x="11" y="97"/>
                  </a:cubicBezTo>
                  <a:cubicBezTo>
                    <a:pt x="0" y="60"/>
                    <a:pt x="21" y="22"/>
                    <a:pt x="58" y="11"/>
                  </a:cubicBezTo>
                  <a:cubicBezTo>
                    <a:pt x="95" y="0"/>
                    <a:pt x="133" y="21"/>
                    <a:pt x="144" y="58"/>
                  </a:cubicBezTo>
                  <a:cubicBezTo>
                    <a:pt x="155" y="95"/>
                    <a:pt x="134" y="133"/>
                    <a:pt x="97" y="144"/>
                  </a:cubicBezTo>
                  <a:close/>
                </a:path>
              </a:pathLst>
            </a:custGeom>
            <a:grpFill/>
            <a:ln w="0">
              <a:noFill/>
              <a:prstDash val="solid"/>
              <a:round/>
              <a:headEnd/>
              <a:tailEnd/>
            </a:ln>
          </p:spPr>
          <p:txBody>
            <a:bodyPr/>
            <a:lstStyle/>
            <a:p>
              <a:pPr defTabSz="456512">
                <a:defRPr/>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Freeform 113"/>
            <p:cNvSpPr>
              <a:spLocks/>
            </p:cNvSpPr>
            <p:nvPr/>
          </p:nvSpPr>
          <p:spPr bwMode="gray">
            <a:xfrm>
              <a:off x="6038850" y="1470025"/>
              <a:ext cx="65088" cy="65088"/>
            </a:xfrm>
            <a:custGeom>
              <a:avLst/>
              <a:gdLst/>
              <a:ahLst/>
              <a:cxnLst>
                <a:cxn ang="0">
                  <a:pos x="97" y="144"/>
                </a:cxn>
                <a:cxn ang="0">
                  <a:pos x="97" y="144"/>
                </a:cxn>
                <a:cxn ang="0">
                  <a:pos x="11" y="97"/>
                </a:cxn>
                <a:cxn ang="0">
                  <a:pos x="58" y="11"/>
                </a:cxn>
                <a:cxn ang="0">
                  <a:pos x="144" y="58"/>
                </a:cxn>
                <a:cxn ang="0">
                  <a:pos x="97" y="144"/>
                </a:cxn>
              </a:cxnLst>
              <a:rect l="0" t="0" r="r" b="b"/>
              <a:pathLst>
                <a:path w="155" h="155">
                  <a:moveTo>
                    <a:pt x="97" y="144"/>
                  </a:moveTo>
                  <a:lnTo>
                    <a:pt x="97" y="144"/>
                  </a:lnTo>
                  <a:cubicBezTo>
                    <a:pt x="60" y="155"/>
                    <a:pt x="22" y="134"/>
                    <a:pt x="11" y="97"/>
                  </a:cubicBezTo>
                  <a:cubicBezTo>
                    <a:pt x="0" y="60"/>
                    <a:pt x="21" y="22"/>
                    <a:pt x="58" y="11"/>
                  </a:cubicBezTo>
                  <a:cubicBezTo>
                    <a:pt x="95" y="0"/>
                    <a:pt x="134" y="21"/>
                    <a:pt x="144" y="58"/>
                  </a:cubicBezTo>
                  <a:cubicBezTo>
                    <a:pt x="155" y="95"/>
                    <a:pt x="134" y="134"/>
                    <a:pt x="97" y="144"/>
                  </a:cubicBezTo>
                  <a:close/>
                </a:path>
              </a:pathLst>
            </a:custGeom>
            <a:grpFill/>
            <a:ln w="0">
              <a:noFill/>
              <a:prstDash val="solid"/>
              <a:round/>
              <a:headEnd/>
              <a:tailEnd/>
            </a:ln>
          </p:spPr>
          <p:txBody>
            <a:bodyPr/>
            <a:lstStyle/>
            <a:p>
              <a:pPr defTabSz="456512">
                <a:defRPr/>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28" name="组合 27"/>
          <p:cNvGrpSpPr/>
          <p:nvPr/>
        </p:nvGrpSpPr>
        <p:grpSpPr bwMode="gray">
          <a:xfrm>
            <a:off x="2438414" y="4250681"/>
            <a:ext cx="445956" cy="377619"/>
            <a:chOff x="2557450" y="4936459"/>
            <a:chExt cx="445956" cy="343290"/>
          </a:xfrm>
        </p:grpSpPr>
        <p:pic>
          <p:nvPicPr>
            <p:cNvPr id="29" name="图片 11" descr="开放网络-蓝.png"/>
            <p:cNvPicPr>
              <a:picLocks noChangeAspect="1"/>
            </p:cNvPicPr>
            <p:nvPr/>
          </p:nvPicPr>
          <p:blipFill>
            <a:blip r:embed="rId7" cstate="print"/>
            <a:stretch>
              <a:fillRect/>
            </a:stretch>
          </p:blipFill>
          <p:spPr bwMode="gray">
            <a:xfrm>
              <a:off x="2557450" y="4936459"/>
              <a:ext cx="445956" cy="343290"/>
            </a:xfrm>
            <a:prstGeom prst="rect">
              <a:avLst/>
            </a:prstGeom>
          </p:spPr>
        </p:pic>
        <p:sp>
          <p:nvSpPr>
            <p:cNvPr id="30" name="矩形 29"/>
            <p:cNvSpPr/>
            <p:nvPr/>
          </p:nvSpPr>
          <p:spPr bwMode="gray">
            <a:xfrm>
              <a:off x="2591651" y="4996057"/>
              <a:ext cx="262770" cy="2026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1" name="文本框 30"/>
          <p:cNvSpPr txBox="1"/>
          <p:nvPr/>
        </p:nvSpPr>
        <p:spPr bwMode="gray">
          <a:xfrm>
            <a:off x="2908644" y="1707582"/>
            <a:ext cx="936475" cy="307777"/>
          </a:xfrm>
          <a:prstGeom prst="rect">
            <a:avLst/>
          </a:prstGeom>
          <a:noFill/>
        </p:spPr>
        <p:txBody>
          <a:bodyPr wrap="none" rtlCol="0">
            <a:spAutoFit/>
          </a:bodyPr>
          <a:lstStyle/>
          <a:p>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Core-SW</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文本框 31"/>
          <p:cNvSpPr txBox="1"/>
          <p:nvPr/>
        </p:nvSpPr>
        <p:spPr bwMode="gray">
          <a:xfrm>
            <a:off x="420572" y="3307549"/>
            <a:ext cx="1204176" cy="307777"/>
          </a:xfrm>
          <a:prstGeom prst="rect">
            <a:avLst/>
          </a:prstGeom>
          <a:noFill/>
        </p:spPr>
        <p:txBody>
          <a:bodyPr wrap="none" rtlCol="0">
            <a:spAutoFit/>
          </a:bodyPr>
          <a:lstStyle/>
          <a:p>
            <a:pPr algn="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Access-SW1</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文本框 32"/>
          <p:cNvSpPr txBox="1"/>
          <p:nvPr/>
        </p:nvSpPr>
        <p:spPr bwMode="gray">
          <a:xfrm>
            <a:off x="4974308" y="3307549"/>
            <a:ext cx="1204176" cy="307777"/>
          </a:xfrm>
          <a:prstGeom prst="rect">
            <a:avLst/>
          </a:prstGeom>
          <a:noFill/>
        </p:spPr>
        <p:txBody>
          <a:bodyPr wrap="none" rtlCol="0">
            <a:spAutoFit/>
          </a:bodyPr>
          <a:lstStyle/>
          <a:p>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Access-SW2</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文本框 33"/>
          <p:cNvSpPr txBox="1"/>
          <p:nvPr/>
        </p:nvSpPr>
        <p:spPr bwMode="gray">
          <a:xfrm>
            <a:off x="768629" y="4657996"/>
            <a:ext cx="579005" cy="276999"/>
          </a:xfrm>
          <a:prstGeom prst="rect">
            <a:avLst/>
          </a:prstGeom>
          <a:noFill/>
        </p:spPr>
        <p:txBody>
          <a:bodyPr wrap="none" rtlCol="0">
            <a:spAutoFit/>
          </a:bodyPr>
          <a:lstStyle/>
          <a:p>
            <a:pPr algn="ct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终端</a:t>
            </a: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1</a:t>
            </a:r>
          </a:p>
        </p:txBody>
      </p:sp>
      <p:sp>
        <p:nvSpPr>
          <p:cNvPr id="35" name="文本框 34"/>
          <p:cNvSpPr txBox="1"/>
          <p:nvPr/>
        </p:nvSpPr>
        <p:spPr bwMode="gray">
          <a:xfrm>
            <a:off x="2340575" y="4657996"/>
            <a:ext cx="579005" cy="276999"/>
          </a:xfrm>
          <a:prstGeom prst="rect">
            <a:avLst/>
          </a:prstGeom>
          <a:noFill/>
        </p:spPr>
        <p:txBody>
          <a:bodyPr wrap="non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终端</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p>
        </p:txBody>
      </p:sp>
      <p:sp>
        <p:nvSpPr>
          <p:cNvPr id="36" name="文本框 35"/>
          <p:cNvSpPr txBox="1"/>
          <p:nvPr/>
        </p:nvSpPr>
        <p:spPr bwMode="gray">
          <a:xfrm>
            <a:off x="3677654" y="4657996"/>
            <a:ext cx="579005" cy="276999"/>
          </a:xfrm>
          <a:prstGeom prst="rect">
            <a:avLst/>
          </a:prstGeom>
          <a:noFill/>
        </p:spPr>
        <p:txBody>
          <a:bodyPr wrap="none" rtlCol="0">
            <a:spAutoFit/>
          </a:bodyPr>
          <a:lstStyle/>
          <a:p>
            <a:pPr algn="ct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终端</a:t>
            </a: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3</a:t>
            </a:r>
          </a:p>
        </p:txBody>
      </p:sp>
      <p:sp>
        <p:nvSpPr>
          <p:cNvPr id="37" name="文本框 36"/>
          <p:cNvSpPr txBox="1"/>
          <p:nvPr/>
        </p:nvSpPr>
        <p:spPr bwMode="gray">
          <a:xfrm>
            <a:off x="5235428" y="4657996"/>
            <a:ext cx="579005" cy="276999"/>
          </a:xfrm>
          <a:prstGeom prst="rect">
            <a:avLst/>
          </a:prstGeom>
          <a:noFill/>
        </p:spPr>
        <p:txBody>
          <a:bodyPr wrap="none" rtlCol="0">
            <a:spAutoFit/>
          </a:bodyPr>
          <a:lstStyle/>
          <a:p>
            <a:pPr algn="ct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终端</a:t>
            </a: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4</a:t>
            </a:r>
          </a:p>
        </p:txBody>
      </p:sp>
      <p:sp>
        <p:nvSpPr>
          <p:cNvPr id="38" name="椭圆 37"/>
          <p:cNvSpPr/>
          <p:nvPr/>
        </p:nvSpPr>
        <p:spPr bwMode="gray">
          <a:xfrm>
            <a:off x="1572537" y="3582804"/>
            <a:ext cx="161831" cy="161831"/>
          </a:xfrm>
          <a:prstGeom prst="ellipse">
            <a:avLst/>
          </a:prstGeom>
          <a:solidFill>
            <a:srgbClr val="81C15F"/>
          </a:solidFill>
          <a:ln>
            <a:solidFill>
              <a:srgbClr val="62B2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椭圆 38"/>
          <p:cNvSpPr/>
          <p:nvPr/>
        </p:nvSpPr>
        <p:spPr bwMode="gray">
          <a:xfrm>
            <a:off x="1945657" y="3582804"/>
            <a:ext cx="161831" cy="161831"/>
          </a:xfrm>
          <a:prstGeom prst="ellipse">
            <a:avLst/>
          </a:prstGeom>
          <a:solidFill>
            <a:srgbClr val="81C15F"/>
          </a:solidFill>
          <a:ln>
            <a:solidFill>
              <a:srgbClr val="62B2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椭圆 39"/>
          <p:cNvSpPr/>
          <p:nvPr/>
        </p:nvSpPr>
        <p:spPr bwMode="gray">
          <a:xfrm>
            <a:off x="4456723" y="3582804"/>
            <a:ext cx="161831" cy="161831"/>
          </a:xfrm>
          <a:prstGeom prst="ellipse">
            <a:avLst/>
          </a:prstGeom>
          <a:solidFill>
            <a:srgbClr val="81C15F"/>
          </a:solidFill>
          <a:ln>
            <a:solidFill>
              <a:srgbClr val="62B2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椭圆 40"/>
          <p:cNvSpPr/>
          <p:nvPr/>
        </p:nvSpPr>
        <p:spPr bwMode="gray">
          <a:xfrm>
            <a:off x="4829843" y="3582804"/>
            <a:ext cx="161831" cy="161831"/>
          </a:xfrm>
          <a:prstGeom prst="ellipse">
            <a:avLst/>
          </a:prstGeom>
          <a:solidFill>
            <a:srgbClr val="81C15F"/>
          </a:solidFill>
          <a:ln>
            <a:solidFill>
              <a:srgbClr val="62B2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圆角矩形 41"/>
          <p:cNvSpPr/>
          <p:nvPr/>
        </p:nvSpPr>
        <p:spPr bwMode="gray">
          <a:xfrm>
            <a:off x="6230471" y="1691660"/>
            <a:ext cx="5515442" cy="2487825"/>
          </a:xfrm>
          <a:prstGeom prst="roundRect">
            <a:avLst>
              <a:gd name="adj" fmla="val 898"/>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fontAlgn="auto">
              <a:lnSpc>
                <a:spcPts val="2400"/>
              </a:lnSpc>
              <a:spcBef>
                <a:spcPts val="0"/>
              </a:spcBef>
              <a:spcAft>
                <a:spcPts val="600"/>
              </a:spcAft>
              <a:buSzPct val="50000"/>
              <a:buFont typeface="Wingdings" panose="05000000000000000000" pitchFamily="2" charset="2"/>
              <a:buChar char="l"/>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企业要求接入层交换机上每个连接终端设备的接口均只允许一台</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PC</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接入网络（限制</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地址接入数量）。</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fontAlgn="auto">
              <a:lnSpc>
                <a:spcPts val="2400"/>
              </a:lnSpc>
              <a:spcBef>
                <a:spcPts val="0"/>
              </a:spcBef>
              <a:spcAft>
                <a:spcPts val="600"/>
              </a:spcAft>
              <a:buSzPct val="50000"/>
              <a:buFont typeface="Wingdings" panose="05000000000000000000" pitchFamily="2" charset="2"/>
              <a:buChar char="l"/>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如果有员工试图在某个接口下级联一台小交换机或集线器从而扩展上网接口，那么这种行为应该被发现或被禁止。</a:t>
            </a:r>
          </a:p>
          <a:p>
            <a:pPr marL="285750" indent="-285750" fontAlgn="auto">
              <a:lnSpc>
                <a:spcPts val="2400"/>
              </a:lnSpc>
              <a:spcBef>
                <a:spcPts val="0"/>
              </a:spcBef>
              <a:spcAft>
                <a:spcPts val="600"/>
              </a:spcAft>
              <a:buSzPct val="50000"/>
              <a:buFont typeface="Wingdings" panose="05000000000000000000" pitchFamily="2" charset="2"/>
              <a:buChar char="l"/>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另一些企业还可能会要求只有</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地址为可信任的终端发送的数据帧才允许被交换机转发到上层网络，员工不能私自更换位置（变更终端接入交换机的端口）。</a:t>
            </a:r>
          </a:p>
        </p:txBody>
      </p:sp>
      <p:sp>
        <p:nvSpPr>
          <p:cNvPr id="43" name="文本框 42"/>
          <p:cNvSpPr txBox="1"/>
          <p:nvPr/>
        </p:nvSpPr>
        <p:spPr bwMode="gray">
          <a:xfrm>
            <a:off x="6230472" y="1269047"/>
            <a:ext cx="5515441" cy="373577"/>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600">
                <a:solidFill>
                  <a:srgbClr val="30B5C5"/>
                </a:solidFill>
                <a:latin typeface="Huawei Sans" panose="020C0503030203020204" pitchFamily="34" charset="0"/>
                <a:ea typeface="方正兰亭黑简体" panose="02000000000000000000" pitchFamily="2" charset="-122"/>
              </a:defRPr>
            </a:lvl1pPr>
          </a:lstStyle>
          <a:p>
            <a:r>
              <a:rPr lang="zh-CN" altLang="en-US">
                <a:sym typeface="Huawei Sans" panose="020C0503030203020204" pitchFamily="34" charset="0"/>
              </a:rPr>
              <a:t>需求</a:t>
            </a:r>
            <a:endParaRPr lang="zh-CN" altLang="en-US" dirty="0">
              <a:sym typeface="Huawei Sans" panose="020C0503030203020204" pitchFamily="34" charset="0"/>
            </a:endParaRPr>
          </a:p>
        </p:txBody>
      </p:sp>
      <p:sp>
        <p:nvSpPr>
          <p:cNvPr id="44" name="圆角矩形 43"/>
          <p:cNvSpPr/>
          <p:nvPr/>
        </p:nvSpPr>
        <p:spPr bwMode="gray">
          <a:xfrm>
            <a:off x="6230471" y="4702770"/>
            <a:ext cx="5515442" cy="1343176"/>
          </a:xfrm>
          <a:prstGeom prst="roundRect">
            <a:avLst>
              <a:gd name="adj" fmla="val 898"/>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lnSpc>
                <a:spcPts val="2400"/>
              </a:lnSpc>
              <a:spcBef>
                <a:spcPts val="0"/>
              </a:spcBef>
              <a:spcAft>
                <a:spcPts val="600"/>
              </a:spcAft>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端口安全（</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Port Security</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）通过将接口学习到的动态</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地址转换为安全</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地址（包括安全动态</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、安全静态</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Sticky MAC</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），阻止非法用户通过本接口和交换机通信，从而增强设备的安全性。</a:t>
            </a:r>
          </a:p>
        </p:txBody>
      </p:sp>
      <p:sp>
        <p:nvSpPr>
          <p:cNvPr id="45" name="文本框 44"/>
          <p:cNvSpPr txBox="1"/>
          <p:nvPr/>
        </p:nvSpPr>
        <p:spPr bwMode="gray">
          <a:xfrm>
            <a:off x="6230472" y="4280156"/>
            <a:ext cx="5515441" cy="373577"/>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600">
                <a:solidFill>
                  <a:srgbClr val="30B5C5"/>
                </a:solidFill>
                <a:latin typeface="Huawei Sans" panose="020C0503030203020204" pitchFamily="34" charset="0"/>
                <a:ea typeface="方正兰亭黑简体" panose="02000000000000000000" pitchFamily="2" charset="-122"/>
              </a:defRPr>
            </a:lvl1pPr>
          </a:lstStyle>
          <a:p>
            <a:r>
              <a:rPr lang="zh-CN" altLang="en-US" dirty="0">
                <a:sym typeface="Huawei Sans" panose="020C0503030203020204" pitchFamily="34" charset="0"/>
              </a:rPr>
              <a:t>方案</a:t>
            </a:r>
          </a:p>
        </p:txBody>
      </p:sp>
      <p:sp>
        <p:nvSpPr>
          <p:cNvPr id="53" name="五边形 52"/>
          <p:cNvSpPr/>
          <p:nvPr/>
        </p:nvSpPr>
        <p:spPr bwMode="auto">
          <a:xfrm>
            <a:off x="6179960" y="98481"/>
            <a:ext cx="94884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以太网交换</a:t>
            </a:r>
          </a:p>
        </p:txBody>
      </p:sp>
      <p:sp>
        <p:nvSpPr>
          <p:cNvPr id="54" name="燕尾形 53"/>
          <p:cNvSpPr/>
          <p:nvPr/>
        </p:nvSpPr>
        <p:spPr bwMode="auto">
          <a:xfrm>
            <a:off x="7049907" y="98481"/>
            <a:ext cx="678521"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燕尾形 54"/>
          <p:cNvSpPr/>
          <p:nvPr/>
        </p:nvSpPr>
        <p:spPr bwMode="auto">
          <a:xfrm>
            <a:off x="7649535" y="98481"/>
            <a:ext cx="87595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无线接入</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燕尾形 55"/>
          <p:cNvSpPr/>
          <p:nvPr/>
        </p:nvSpPr>
        <p:spPr bwMode="auto">
          <a:xfrm>
            <a:off x="8446601"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可靠性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燕尾形 56"/>
          <p:cNvSpPr/>
          <p:nvPr/>
        </p:nvSpPr>
        <p:spPr bwMode="auto">
          <a:xfrm>
            <a:off x="9148908" y="98481"/>
            <a:ext cx="870489"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网络安全</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燕尾形 57"/>
          <p:cNvSpPr/>
          <p:nvPr/>
        </p:nvSpPr>
        <p:spPr bwMode="auto">
          <a:xfrm>
            <a:off x="9940504" y="98481"/>
            <a:ext cx="130400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网络服务与管理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燕尾形 58"/>
          <p:cNvSpPr/>
          <p:nvPr/>
        </p:nvSpPr>
        <p:spPr bwMode="auto">
          <a:xfrm>
            <a:off x="11165613" y="98481"/>
            <a:ext cx="583475"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出口</a:t>
            </a:r>
          </a:p>
        </p:txBody>
      </p:sp>
    </p:spTree>
    <p:extLst>
      <p:ext uri="{BB962C8B-B14F-4D97-AF65-F5344CB8AC3E}">
        <p14:creationId xmlns:p14="http://schemas.microsoft.com/office/powerpoint/2010/main" val="30022569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sym typeface="Huawei Sans" panose="020C0503030203020204" pitchFamily="34" charset="0"/>
              </a:rPr>
              <a:t>MACsec</a:t>
            </a:r>
            <a:endParaRPr lang="zh-CN" altLang="en-US" dirty="0">
              <a:sym typeface="Huawei Sans" panose="020C0503030203020204" pitchFamily="34" charset="0"/>
            </a:endParaRPr>
          </a:p>
        </p:txBody>
      </p:sp>
      <p:cxnSp>
        <p:nvCxnSpPr>
          <p:cNvPr id="3" name="Straight Connector 166"/>
          <p:cNvCxnSpPr/>
          <p:nvPr/>
        </p:nvCxnSpPr>
        <p:spPr bwMode="gray">
          <a:xfrm>
            <a:off x="2724053" y="1565470"/>
            <a:ext cx="0" cy="6447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166"/>
          <p:cNvCxnSpPr/>
          <p:nvPr/>
        </p:nvCxnSpPr>
        <p:spPr bwMode="gray">
          <a:xfrm>
            <a:off x="2724052" y="3394539"/>
            <a:ext cx="1" cy="7380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166"/>
          <p:cNvCxnSpPr/>
          <p:nvPr/>
        </p:nvCxnSpPr>
        <p:spPr bwMode="gray">
          <a:xfrm flipH="1">
            <a:off x="1228852" y="5199971"/>
            <a:ext cx="1" cy="5552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166"/>
          <p:cNvCxnSpPr/>
          <p:nvPr/>
        </p:nvCxnSpPr>
        <p:spPr bwMode="gray">
          <a:xfrm flipH="1">
            <a:off x="4214188" y="5199971"/>
            <a:ext cx="1" cy="5552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 name="Group 165"/>
          <p:cNvGrpSpPr/>
          <p:nvPr/>
        </p:nvGrpSpPr>
        <p:grpSpPr bwMode="gray">
          <a:xfrm rot="10800000">
            <a:off x="1306340" y="4248434"/>
            <a:ext cx="2835430" cy="773558"/>
            <a:chOff x="-1233037" y="914446"/>
            <a:chExt cx="1573823" cy="778776"/>
          </a:xfrm>
        </p:grpSpPr>
        <p:cxnSp>
          <p:nvCxnSpPr>
            <p:cNvPr id="8" name="Straight Connector 166"/>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167"/>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500915" y="3278651"/>
            <a:ext cx="446281" cy="365139"/>
          </a:xfrm>
          <a:prstGeom prst="rect">
            <a:avLst/>
          </a:prstGeom>
        </p:spPr>
      </p:pic>
      <p:pic>
        <p:nvPicPr>
          <p:cNvPr id="11" name="图片 86" descr="核心交换机.png"/>
          <p:cNvPicPr>
            <a:picLocks noChangeAspect="1"/>
          </p:cNvPicPr>
          <p:nvPr/>
        </p:nvPicPr>
        <p:blipFill>
          <a:blip r:embed="rId4" cstate="print"/>
          <a:stretch>
            <a:fillRect/>
          </a:stretch>
        </p:blipFill>
        <p:spPr bwMode="gray">
          <a:xfrm>
            <a:off x="2500915" y="4039748"/>
            <a:ext cx="446281" cy="365139"/>
          </a:xfrm>
          <a:prstGeom prst="rect">
            <a:avLst/>
          </a:prstGeom>
        </p:spPr>
      </p:pic>
      <p:pic>
        <p:nvPicPr>
          <p:cNvPr id="12" name="图片 76" descr="接入交换机.png"/>
          <p:cNvPicPr>
            <a:picLocks noChangeAspect="1"/>
          </p:cNvPicPr>
          <p:nvPr/>
        </p:nvPicPr>
        <p:blipFill>
          <a:blip r:embed="rId5" cstate="print"/>
          <a:stretch>
            <a:fillRect/>
          </a:stretch>
        </p:blipFill>
        <p:spPr bwMode="gray">
          <a:xfrm>
            <a:off x="1010782" y="4896922"/>
            <a:ext cx="446281" cy="365139"/>
          </a:xfrm>
          <a:prstGeom prst="rect">
            <a:avLst/>
          </a:prstGeom>
        </p:spPr>
      </p:pic>
      <p:pic>
        <p:nvPicPr>
          <p:cNvPr id="13" name="图片 14" descr="日志告警服务器-蓝.png"/>
          <p:cNvPicPr>
            <a:picLocks noChangeAspect="1"/>
          </p:cNvPicPr>
          <p:nvPr/>
        </p:nvPicPr>
        <p:blipFill>
          <a:blip r:embed="rId6" cstate="print"/>
          <a:stretch>
            <a:fillRect/>
          </a:stretch>
        </p:blipFill>
        <p:spPr bwMode="gray">
          <a:xfrm>
            <a:off x="988646" y="5693153"/>
            <a:ext cx="490552" cy="306312"/>
          </a:xfrm>
          <a:prstGeom prst="rect">
            <a:avLst/>
          </a:prstGeom>
        </p:spPr>
      </p:pic>
      <p:pic>
        <p:nvPicPr>
          <p:cNvPr id="14" name="图片 76" descr="接入交换机.png"/>
          <p:cNvPicPr>
            <a:picLocks noChangeAspect="1"/>
          </p:cNvPicPr>
          <p:nvPr/>
        </p:nvPicPr>
        <p:blipFill>
          <a:blip r:embed="rId5" cstate="print"/>
          <a:stretch>
            <a:fillRect/>
          </a:stretch>
        </p:blipFill>
        <p:spPr bwMode="gray">
          <a:xfrm>
            <a:off x="3991048" y="4896922"/>
            <a:ext cx="446281" cy="365139"/>
          </a:xfrm>
          <a:prstGeom prst="rect">
            <a:avLst/>
          </a:prstGeom>
        </p:spPr>
      </p:pic>
      <p:pic>
        <p:nvPicPr>
          <p:cNvPr id="15" name="图片 14" descr="日志告警服务器-蓝.png"/>
          <p:cNvPicPr>
            <a:picLocks noChangeAspect="1"/>
          </p:cNvPicPr>
          <p:nvPr/>
        </p:nvPicPr>
        <p:blipFill>
          <a:blip r:embed="rId6" cstate="print"/>
          <a:stretch>
            <a:fillRect/>
          </a:stretch>
        </p:blipFill>
        <p:spPr bwMode="gray">
          <a:xfrm>
            <a:off x="3968912" y="5693153"/>
            <a:ext cx="490552" cy="306312"/>
          </a:xfrm>
          <a:prstGeom prst="rect">
            <a:avLst/>
          </a:prstGeom>
        </p:spPr>
      </p:pic>
      <p:pic>
        <p:nvPicPr>
          <p:cNvPr id="16" name="图片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500915" y="2089323"/>
            <a:ext cx="446281" cy="365139"/>
          </a:xfrm>
          <a:prstGeom prst="rect">
            <a:avLst/>
          </a:prstGeom>
        </p:spPr>
      </p:pic>
      <p:pic>
        <p:nvPicPr>
          <p:cNvPr id="17" name="图片 14" descr="日志告警服务器-蓝.png"/>
          <p:cNvPicPr>
            <a:picLocks noChangeAspect="1"/>
          </p:cNvPicPr>
          <p:nvPr/>
        </p:nvPicPr>
        <p:blipFill>
          <a:blip r:embed="rId6" cstate="print"/>
          <a:stretch>
            <a:fillRect/>
          </a:stretch>
        </p:blipFill>
        <p:spPr bwMode="gray">
          <a:xfrm>
            <a:off x="2478777" y="1263585"/>
            <a:ext cx="490552" cy="306312"/>
          </a:xfrm>
          <a:prstGeom prst="rect">
            <a:avLst/>
          </a:prstGeom>
        </p:spPr>
      </p:pic>
      <p:sp>
        <p:nvSpPr>
          <p:cNvPr id="18" name="圆角矩形 17"/>
          <p:cNvSpPr/>
          <p:nvPr/>
        </p:nvSpPr>
        <p:spPr bwMode="gray">
          <a:xfrm>
            <a:off x="547674" y="3193196"/>
            <a:ext cx="4352762" cy="2935817"/>
          </a:xfrm>
          <a:prstGeom prst="roundRect">
            <a:avLst>
              <a:gd name="adj" fmla="val 1400"/>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圆角矩形 18"/>
          <p:cNvSpPr/>
          <p:nvPr/>
        </p:nvSpPr>
        <p:spPr bwMode="gray">
          <a:xfrm>
            <a:off x="547674" y="1101513"/>
            <a:ext cx="4352762" cy="1474578"/>
          </a:xfrm>
          <a:prstGeom prst="roundRect">
            <a:avLst>
              <a:gd name="adj" fmla="val 1400"/>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文本框 19"/>
          <p:cNvSpPr txBox="1"/>
          <p:nvPr/>
        </p:nvSpPr>
        <p:spPr bwMode="gray">
          <a:xfrm>
            <a:off x="547674" y="2232535"/>
            <a:ext cx="644728" cy="307777"/>
          </a:xfrm>
          <a:prstGeom prst="rect">
            <a:avLst/>
          </a:prstGeom>
          <a:noFill/>
        </p:spPr>
        <p:txBody>
          <a:bodyPr wrap="none" rtlCol="0">
            <a:spAutoFit/>
          </a:bodyPr>
          <a:lstStyle/>
          <a:p>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文本框 20"/>
          <p:cNvSpPr txBox="1"/>
          <p:nvPr/>
        </p:nvSpPr>
        <p:spPr bwMode="gray">
          <a:xfrm>
            <a:off x="547674" y="3211473"/>
            <a:ext cx="644728" cy="307777"/>
          </a:xfrm>
          <a:prstGeom prst="rect">
            <a:avLst/>
          </a:prstGeom>
          <a:noFill/>
        </p:spPr>
        <p:txBody>
          <a:bodyPr wrap="none" rtlCol="0">
            <a:spAutoFit/>
          </a:bodyPr>
          <a:lstStyle/>
          <a:p>
            <a:r>
              <a:rPr lang="zh-CN" altLang="en-US"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2" name="Group 6"/>
          <p:cNvGrpSpPr/>
          <p:nvPr/>
        </p:nvGrpSpPr>
        <p:grpSpPr bwMode="gray">
          <a:xfrm>
            <a:off x="2359535" y="2629151"/>
            <a:ext cx="729034" cy="436655"/>
            <a:chOff x="7877711" y="3990014"/>
            <a:chExt cx="998434" cy="598013"/>
          </a:xfrm>
        </p:grpSpPr>
        <p:sp>
          <p:nvSpPr>
            <p:cNvPr id="23" name="Freeform 200"/>
            <p:cNvSpPr/>
            <p:nvPr/>
          </p:nvSpPr>
          <p:spPr bwMode="gray">
            <a:xfrm>
              <a:off x="7877711" y="3990014"/>
              <a:ext cx="998434" cy="566030"/>
            </a:xfrm>
            <a:custGeom>
              <a:avLst/>
              <a:gdLst>
                <a:gd name="connsiteX0" fmla="*/ 511396 w 823780"/>
                <a:gd name="connsiteY0" fmla="*/ 0 h 467015"/>
                <a:gd name="connsiteX1" fmla="*/ 732475 w 823780"/>
                <a:gd name="connsiteY1" fmla="*/ 223125 h 467015"/>
                <a:gd name="connsiteX2" fmla="*/ 727487 w 823780"/>
                <a:gd name="connsiteY2" fmla="*/ 248058 h 467015"/>
                <a:gd name="connsiteX3" fmla="*/ 756693 w 823780"/>
                <a:gd name="connsiteY3" fmla="*/ 254009 h 467015"/>
                <a:gd name="connsiteX4" fmla="*/ 823780 w 823780"/>
                <a:gd name="connsiteY4" fmla="*/ 356156 h 467015"/>
                <a:gd name="connsiteX5" fmla="*/ 756693 w 823780"/>
                <a:gd name="connsiteY5" fmla="*/ 458303 h 467015"/>
                <a:gd name="connsiteX6" fmla="*/ 732017 w 823780"/>
                <a:gd name="connsiteY6" fmla="*/ 463331 h 467015"/>
                <a:gd name="connsiteX7" fmla="*/ 732017 w 823780"/>
                <a:gd name="connsiteY7" fmla="*/ 467014 h 467015"/>
                <a:gd name="connsiteX8" fmla="*/ 713942 w 823780"/>
                <a:gd name="connsiteY8" fmla="*/ 467014 h 467015"/>
                <a:gd name="connsiteX9" fmla="*/ 713937 w 823780"/>
                <a:gd name="connsiteY9" fmla="*/ 467015 h 467015"/>
                <a:gd name="connsiteX10" fmla="*/ 713932 w 823780"/>
                <a:gd name="connsiteY10" fmla="*/ 467014 h 467015"/>
                <a:gd name="connsiteX11" fmla="*/ 120827 w 823780"/>
                <a:gd name="connsiteY11" fmla="*/ 467014 h 467015"/>
                <a:gd name="connsiteX12" fmla="*/ 100287 w 823780"/>
                <a:gd name="connsiteY12" fmla="*/ 467014 h 467015"/>
                <a:gd name="connsiteX13" fmla="*/ 100287 w 823780"/>
                <a:gd name="connsiteY13" fmla="*/ 462829 h 467015"/>
                <a:gd name="connsiteX14" fmla="*/ 73795 w 823780"/>
                <a:gd name="connsiteY14" fmla="*/ 457431 h 467015"/>
                <a:gd name="connsiteX15" fmla="*/ 0 w 823780"/>
                <a:gd name="connsiteY15" fmla="*/ 345069 h 467015"/>
                <a:gd name="connsiteX16" fmla="*/ 73795 w 823780"/>
                <a:gd name="connsiteY16" fmla="*/ 232707 h 467015"/>
                <a:gd name="connsiteX17" fmla="*/ 81613 w 823780"/>
                <a:gd name="connsiteY17" fmla="*/ 231114 h 467015"/>
                <a:gd name="connsiteX18" fmla="*/ 94608 w 823780"/>
                <a:gd name="connsiteY18" fmla="*/ 172061 h 467015"/>
                <a:gd name="connsiteX19" fmla="*/ 250025 w 823780"/>
                <a:gd name="connsiteY19" fmla="*/ 77543 h 467015"/>
                <a:gd name="connsiteX20" fmla="*/ 315680 w 823780"/>
                <a:gd name="connsiteY20" fmla="*/ 89704 h 467015"/>
                <a:gd name="connsiteX21" fmla="*/ 332040 w 823780"/>
                <a:gd name="connsiteY21" fmla="*/ 99825 h 467015"/>
                <a:gd name="connsiteX22" fmla="*/ 355070 w 823780"/>
                <a:gd name="connsiteY22" fmla="*/ 65352 h 467015"/>
                <a:gd name="connsiteX23" fmla="*/ 511396 w 823780"/>
                <a:gd name="connsiteY23" fmla="*/ 0 h 467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3780" h="467015">
                  <a:moveTo>
                    <a:pt x="511396" y="0"/>
                  </a:moveTo>
                  <a:cubicBezTo>
                    <a:pt x="633495" y="0"/>
                    <a:pt x="732475" y="99896"/>
                    <a:pt x="732475" y="223125"/>
                  </a:cubicBezTo>
                  <a:lnTo>
                    <a:pt x="727487" y="248058"/>
                  </a:lnTo>
                  <a:lnTo>
                    <a:pt x="756693" y="254009"/>
                  </a:lnTo>
                  <a:cubicBezTo>
                    <a:pt x="796117" y="270838"/>
                    <a:pt x="823780" y="310236"/>
                    <a:pt x="823780" y="356156"/>
                  </a:cubicBezTo>
                  <a:cubicBezTo>
                    <a:pt x="823780" y="402076"/>
                    <a:pt x="796117" y="441474"/>
                    <a:pt x="756693" y="458303"/>
                  </a:cubicBezTo>
                  <a:lnTo>
                    <a:pt x="732017" y="463331"/>
                  </a:lnTo>
                  <a:lnTo>
                    <a:pt x="732017" y="467014"/>
                  </a:lnTo>
                  <a:lnTo>
                    <a:pt x="713942" y="467014"/>
                  </a:lnTo>
                  <a:lnTo>
                    <a:pt x="713937" y="467015"/>
                  </a:lnTo>
                  <a:lnTo>
                    <a:pt x="713932" y="467014"/>
                  </a:lnTo>
                  <a:lnTo>
                    <a:pt x="120827" y="467014"/>
                  </a:lnTo>
                  <a:lnTo>
                    <a:pt x="100287" y="467014"/>
                  </a:lnTo>
                  <a:lnTo>
                    <a:pt x="100287" y="462829"/>
                  </a:lnTo>
                  <a:lnTo>
                    <a:pt x="73795" y="457431"/>
                  </a:lnTo>
                  <a:cubicBezTo>
                    <a:pt x="30429" y="438919"/>
                    <a:pt x="0" y="395580"/>
                    <a:pt x="0" y="345069"/>
                  </a:cubicBezTo>
                  <a:cubicBezTo>
                    <a:pt x="0" y="294558"/>
                    <a:pt x="30429" y="251219"/>
                    <a:pt x="73795" y="232707"/>
                  </a:cubicBezTo>
                  <a:lnTo>
                    <a:pt x="81613" y="231114"/>
                  </a:lnTo>
                  <a:lnTo>
                    <a:pt x="94608" y="172061"/>
                  </a:lnTo>
                  <a:cubicBezTo>
                    <a:pt x="120214" y="116517"/>
                    <a:pt x="180159" y="77543"/>
                    <a:pt x="250025" y="77543"/>
                  </a:cubicBezTo>
                  <a:cubicBezTo>
                    <a:pt x="273314" y="77543"/>
                    <a:pt x="295500" y="81873"/>
                    <a:pt x="315680" y="89704"/>
                  </a:cubicBezTo>
                  <a:lnTo>
                    <a:pt x="332040" y="99825"/>
                  </a:lnTo>
                  <a:lnTo>
                    <a:pt x="355070" y="65352"/>
                  </a:lnTo>
                  <a:cubicBezTo>
                    <a:pt x="395077" y="24974"/>
                    <a:pt x="450347" y="0"/>
                    <a:pt x="511396"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TextBox 2"/>
            <p:cNvSpPr txBox="1"/>
            <p:nvPr/>
          </p:nvSpPr>
          <p:spPr bwMode="gray">
            <a:xfrm>
              <a:off x="8254692" y="4208668"/>
              <a:ext cx="252995" cy="379359"/>
            </a:xfrm>
            <a:prstGeom prst="rect">
              <a:avLst/>
            </a:prstGeom>
            <a:noFill/>
          </p:spPr>
          <p:txBody>
            <a:bodyPr wrap="none" rtlCol="0">
              <a:spAutoFit/>
            </a:bodyPr>
            <a:lstStyle/>
            <a:p>
              <a:pPr algn="ctr"/>
              <a:endParaRPr lang="zh-CN" altLang="en-US" sz="12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5" name="Can 9"/>
          <p:cNvSpPr/>
          <p:nvPr/>
        </p:nvSpPr>
        <p:spPr bwMode="gray">
          <a:xfrm>
            <a:off x="2609316" y="2360966"/>
            <a:ext cx="229472" cy="980398"/>
          </a:xfrm>
          <a:prstGeom prst="can">
            <a:avLst>
              <a:gd name="adj" fmla="val 40000"/>
            </a:avLst>
          </a:prstGeom>
          <a:solidFill>
            <a:srgbClr val="FEEEC1"/>
          </a:solidFill>
          <a:ln w="12700" cap="flat" cmpd="sng" algn="ctr">
            <a:solidFill>
              <a:srgbClr val="FFD17D"/>
            </a:solid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Can 9"/>
          <p:cNvSpPr/>
          <p:nvPr/>
        </p:nvSpPr>
        <p:spPr bwMode="gray">
          <a:xfrm rot="3683218">
            <a:off x="1879120" y="3903887"/>
            <a:ext cx="172405" cy="1485219"/>
          </a:xfrm>
          <a:prstGeom prst="can">
            <a:avLst>
              <a:gd name="adj" fmla="val 40000"/>
            </a:avLst>
          </a:prstGeom>
          <a:solidFill>
            <a:srgbClr val="DEF4F6"/>
          </a:solidFill>
          <a:ln w="12700" cap="flat" cmpd="sng" algn="ctr">
            <a:solidFill>
              <a:srgbClr val="94DAE2"/>
            </a:solidFill>
            <a:prstDash val="solid"/>
            <a:miter lim="800000"/>
          </a:ln>
          <a:effectLst/>
        </p:spPr>
        <p:txBody>
          <a:bodyPr rtlCol="0" anchor="ctr"/>
          <a:lstStyle/>
          <a:p>
            <a:pPr algn="ctr"/>
            <a:endParaRPr lang="zh-CN" alt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文本框 26"/>
          <p:cNvSpPr txBox="1"/>
          <p:nvPr/>
        </p:nvSpPr>
        <p:spPr bwMode="gray">
          <a:xfrm>
            <a:off x="1568278" y="2721188"/>
            <a:ext cx="832279" cy="307777"/>
          </a:xfrm>
          <a:prstGeom prst="rect">
            <a:avLst/>
          </a:prstGeom>
          <a:noFill/>
        </p:spPr>
        <p:txBody>
          <a:bodyPr wrap="none" rtlCol="0">
            <a:spAutoFit/>
          </a:bodyPr>
          <a:lstStyle/>
          <a:p>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Can 9"/>
          <p:cNvSpPr/>
          <p:nvPr/>
        </p:nvSpPr>
        <p:spPr bwMode="gray">
          <a:xfrm rot="17905139">
            <a:off x="3420263" y="3900280"/>
            <a:ext cx="172405" cy="1485219"/>
          </a:xfrm>
          <a:prstGeom prst="can">
            <a:avLst>
              <a:gd name="adj" fmla="val 40000"/>
            </a:avLst>
          </a:prstGeom>
          <a:solidFill>
            <a:srgbClr val="DEF4F6"/>
          </a:solidFill>
          <a:ln w="12700" cap="flat" cmpd="sng" algn="ctr">
            <a:solidFill>
              <a:srgbClr val="94DAE2"/>
            </a:solidFill>
            <a:prstDash val="solid"/>
            <a:miter lim="800000"/>
          </a:ln>
          <a:effectLst/>
        </p:spPr>
        <p:txBody>
          <a:bodyPr rtlCol="0" anchor="ctr"/>
          <a:lstStyle/>
          <a:p>
            <a:pPr algn="ctr"/>
            <a:endParaRPr lang="zh-CN" alt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文本框 28"/>
          <p:cNvSpPr txBox="1"/>
          <p:nvPr/>
        </p:nvSpPr>
        <p:spPr bwMode="gray">
          <a:xfrm rot="19880899">
            <a:off x="1413009" y="4298424"/>
            <a:ext cx="829073" cy="307777"/>
          </a:xfrm>
          <a:prstGeom prst="rect">
            <a:avLst/>
          </a:prstGeom>
          <a:noFill/>
        </p:spPr>
        <p:txBody>
          <a:bodyPr wrap="none" rtlCol="0">
            <a:spAutoFit/>
          </a:bodyPr>
          <a:lstStyle/>
          <a:p>
            <a:r>
              <a:rPr lang="en-US" altLang="zh-CN" sz="14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MACsec</a:t>
            </a:r>
            <a:endParaRPr lang="zh-CN" altLang="en-US" sz="14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文本框 29"/>
          <p:cNvSpPr txBox="1"/>
          <p:nvPr/>
        </p:nvSpPr>
        <p:spPr bwMode="gray">
          <a:xfrm rot="1500659">
            <a:off x="3208848" y="4298424"/>
            <a:ext cx="829073" cy="307777"/>
          </a:xfrm>
          <a:prstGeom prst="rect">
            <a:avLst/>
          </a:prstGeom>
          <a:noFill/>
        </p:spPr>
        <p:txBody>
          <a:bodyPr wrap="none" rtlCol="0">
            <a:spAutoFit/>
          </a:bodyPr>
          <a:lstStyle/>
          <a:p>
            <a:r>
              <a:rPr lang="en-US" altLang="zh-CN" sz="14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MACsec</a:t>
            </a:r>
            <a:endParaRPr lang="zh-CN" altLang="en-US" sz="14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文本框 30"/>
          <p:cNvSpPr txBox="1"/>
          <p:nvPr/>
        </p:nvSpPr>
        <p:spPr bwMode="gray">
          <a:xfrm rot="5400000">
            <a:off x="2418521" y="2712643"/>
            <a:ext cx="611065" cy="307777"/>
          </a:xfrm>
          <a:prstGeom prst="rect">
            <a:avLst/>
          </a:prstGeom>
          <a:noFill/>
        </p:spPr>
        <p:txBody>
          <a:bodyPr wrap="none" rtlCol="0">
            <a:spAutoFit/>
          </a:bodyPr>
          <a:lstStyle/>
          <a:p>
            <a:r>
              <a:rPr lang="en-US" altLang="zh-CN" sz="14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IPsec</a:t>
            </a:r>
            <a:endParaRPr lang="zh-CN" altLang="en-US" sz="14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圆角矩形 75"/>
          <p:cNvSpPr/>
          <p:nvPr/>
        </p:nvSpPr>
        <p:spPr bwMode="gray">
          <a:xfrm>
            <a:off x="5161777" y="1050713"/>
            <a:ext cx="6258064"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背景</a:t>
            </a:r>
          </a:p>
        </p:txBody>
      </p:sp>
      <p:sp>
        <p:nvSpPr>
          <p:cNvPr id="33" name="圆角矩形 75"/>
          <p:cNvSpPr/>
          <p:nvPr/>
        </p:nvSpPr>
        <p:spPr bwMode="gray">
          <a:xfrm>
            <a:off x="5161777" y="1454672"/>
            <a:ext cx="6258064" cy="755552"/>
          </a:xfrm>
          <a:prstGeom prst="roundRect">
            <a:avLst>
              <a:gd name="adj" fmla="val 3921"/>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a:lnSpc>
                <a:spcPts val="2400"/>
              </a:lnSpc>
            </a:pP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绝大部分数据在局域网链路中都是以明文形式传输的，在某些安全性要求较高的场景下存在安全隐患。</a:t>
            </a:r>
          </a:p>
          <a:p>
            <a:pPr marL="182563" indent="-182563">
              <a:lnSpc>
                <a:spcPts val="2400"/>
              </a:lnSpc>
              <a:buFont typeface="+mj-lt"/>
              <a:buAutoNum type="arabicPeriod"/>
            </a:pPr>
            <a:endPar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4" name="圆角矩形 75"/>
          <p:cNvSpPr/>
          <p:nvPr/>
        </p:nvSpPr>
        <p:spPr bwMode="gray">
          <a:xfrm>
            <a:off x="5161777" y="2288382"/>
            <a:ext cx="6258064"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MACsec</a:t>
            </a: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概述</a:t>
            </a:r>
          </a:p>
        </p:txBody>
      </p:sp>
      <p:sp>
        <p:nvSpPr>
          <p:cNvPr id="35" name="圆角矩形 75"/>
          <p:cNvSpPr/>
          <p:nvPr/>
        </p:nvSpPr>
        <p:spPr bwMode="gray">
          <a:xfrm>
            <a:off x="5161777" y="2692340"/>
            <a:ext cx="6258064" cy="1712547"/>
          </a:xfrm>
          <a:prstGeom prst="roundRect">
            <a:avLst>
              <a:gd name="adj" fmla="val 3921"/>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a:lnSpc>
                <a:spcPts val="2400"/>
              </a:lnSpc>
            </a:pPr>
            <a:r>
              <a:rPr lang="en-US" altLang="zh-CN" sz="1400" dirty="0" err="1">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MACsec</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Media Access Control Security</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，媒体接入控制安全）定义了基于以太网的数据安全通信的方法，通过逐跳设备之间数据加密，保证数据传输安全性，对应的标准为</a:t>
            </a: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802.1AE</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p>
        </p:txBody>
      </p:sp>
      <p:sp>
        <p:nvSpPr>
          <p:cNvPr id="36" name="圆角矩形 35"/>
          <p:cNvSpPr/>
          <p:nvPr/>
        </p:nvSpPr>
        <p:spPr bwMode="gray">
          <a:xfrm>
            <a:off x="5315905" y="3857964"/>
            <a:ext cx="1347330" cy="355691"/>
          </a:xfrm>
          <a:prstGeom prst="roundRect">
            <a:avLst>
              <a:gd name="adj" fmla="val 15000"/>
            </a:avLst>
          </a:prstGeom>
          <a:solidFill>
            <a:srgbClr val="30B5C5"/>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数据帧完整性检查</a:t>
            </a:r>
          </a:p>
        </p:txBody>
      </p:sp>
      <p:sp>
        <p:nvSpPr>
          <p:cNvPr id="37" name="圆角矩形 36"/>
          <p:cNvSpPr/>
          <p:nvPr/>
        </p:nvSpPr>
        <p:spPr bwMode="gray">
          <a:xfrm>
            <a:off x="6851818" y="3857964"/>
            <a:ext cx="1347330" cy="355691"/>
          </a:xfrm>
          <a:prstGeom prst="roundRect">
            <a:avLst>
              <a:gd name="adj" fmla="val 15000"/>
            </a:avLst>
          </a:prstGeom>
          <a:solidFill>
            <a:srgbClr val="30B5C5"/>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2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用户数据加密</a:t>
            </a:r>
          </a:p>
        </p:txBody>
      </p:sp>
      <p:sp>
        <p:nvSpPr>
          <p:cNvPr id="38" name="圆角矩形 37"/>
          <p:cNvSpPr/>
          <p:nvPr/>
        </p:nvSpPr>
        <p:spPr bwMode="gray">
          <a:xfrm>
            <a:off x="8387731" y="3857964"/>
            <a:ext cx="1347330" cy="355691"/>
          </a:xfrm>
          <a:prstGeom prst="roundRect">
            <a:avLst>
              <a:gd name="adj" fmla="val 15000"/>
            </a:avLst>
          </a:prstGeom>
          <a:solidFill>
            <a:srgbClr val="30B5C5"/>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数据源真实性校验</a:t>
            </a:r>
          </a:p>
        </p:txBody>
      </p:sp>
      <p:sp>
        <p:nvSpPr>
          <p:cNvPr id="39" name="圆角矩形 38"/>
          <p:cNvSpPr/>
          <p:nvPr/>
        </p:nvSpPr>
        <p:spPr bwMode="gray">
          <a:xfrm>
            <a:off x="9923645" y="3857964"/>
            <a:ext cx="1347330" cy="355691"/>
          </a:xfrm>
          <a:prstGeom prst="roundRect">
            <a:avLst>
              <a:gd name="adj" fmla="val 15000"/>
            </a:avLst>
          </a:prstGeom>
          <a:solidFill>
            <a:srgbClr val="30B5C5"/>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重放保护</a:t>
            </a:r>
          </a:p>
        </p:txBody>
      </p:sp>
      <p:sp>
        <p:nvSpPr>
          <p:cNvPr id="40" name="圆角矩形 75"/>
          <p:cNvSpPr/>
          <p:nvPr/>
        </p:nvSpPr>
        <p:spPr bwMode="gray">
          <a:xfrm>
            <a:off x="5161777" y="4495012"/>
            <a:ext cx="6258064" cy="36000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典型应用场景</a:t>
            </a:r>
          </a:p>
        </p:txBody>
      </p:sp>
      <p:sp>
        <p:nvSpPr>
          <p:cNvPr id="41" name="圆角矩形 75"/>
          <p:cNvSpPr/>
          <p:nvPr/>
        </p:nvSpPr>
        <p:spPr bwMode="gray">
          <a:xfrm>
            <a:off x="5161777" y="4898970"/>
            <a:ext cx="6258064" cy="1230043"/>
          </a:xfrm>
          <a:prstGeom prst="roundRect">
            <a:avLst>
              <a:gd name="adj" fmla="val 3921"/>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285750" indent="-285750">
              <a:lnSpc>
                <a:spcPts val="2400"/>
              </a:lnSpc>
              <a:buSzPct val="50000"/>
              <a:buFont typeface="Wingdings" panose="05000000000000000000" pitchFamily="2" charset="2"/>
              <a:buChar char="l"/>
            </a:pP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在交换机之间部署</a:t>
            </a:r>
            <a:r>
              <a:rPr lang="en-US" altLang="zh-CN" sz="1400" dirty="0" err="1">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MACsec</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保护数据安全，例如在接入交换机与上联的汇聚或核心交换机之间部署。</a:t>
            </a:r>
            <a:endPar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285750" indent="-285750">
              <a:lnSpc>
                <a:spcPts val="2400"/>
              </a:lnSpc>
              <a:buSzPct val="50000"/>
              <a:buFont typeface="Wingdings" panose="05000000000000000000" pitchFamily="2" charset="2"/>
              <a:buChar char="l"/>
            </a:pP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当交换机之间存在传输设备时可部署</a:t>
            </a:r>
            <a:r>
              <a:rPr lang="en-US" altLang="zh-CN" sz="1400" dirty="0" err="1">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MACsec</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保护数据安全。</a:t>
            </a:r>
          </a:p>
        </p:txBody>
      </p:sp>
      <p:sp>
        <p:nvSpPr>
          <p:cNvPr id="42" name="五边形 41"/>
          <p:cNvSpPr/>
          <p:nvPr/>
        </p:nvSpPr>
        <p:spPr bwMode="auto">
          <a:xfrm>
            <a:off x="6179960" y="98481"/>
            <a:ext cx="94884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以太网交换</a:t>
            </a:r>
          </a:p>
        </p:txBody>
      </p:sp>
      <p:sp>
        <p:nvSpPr>
          <p:cNvPr id="43" name="燕尾形 42"/>
          <p:cNvSpPr/>
          <p:nvPr/>
        </p:nvSpPr>
        <p:spPr bwMode="auto">
          <a:xfrm>
            <a:off x="7049907" y="98481"/>
            <a:ext cx="678521"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燕尾形 43"/>
          <p:cNvSpPr/>
          <p:nvPr/>
        </p:nvSpPr>
        <p:spPr bwMode="auto">
          <a:xfrm>
            <a:off x="7649535" y="98481"/>
            <a:ext cx="87595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无线接入</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燕尾形 44"/>
          <p:cNvSpPr/>
          <p:nvPr/>
        </p:nvSpPr>
        <p:spPr bwMode="auto">
          <a:xfrm>
            <a:off x="8446601"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可靠性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燕尾形 45"/>
          <p:cNvSpPr/>
          <p:nvPr/>
        </p:nvSpPr>
        <p:spPr bwMode="auto">
          <a:xfrm>
            <a:off x="9148908" y="98481"/>
            <a:ext cx="870489"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网络安全</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燕尾形 46"/>
          <p:cNvSpPr/>
          <p:nvPr/>
        </p:nvSpPr>
        <p:spPr bwMode="auto">
          <a:xfrm>
            <a:off x="9940504" y="98481"/>
            <a:ext cx="130400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网络服务与管理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燕尾形 47"/>
          <p:cNvSpPr/>
          <p:nvPr/>
        </p:nvSpPr>
        <p:spPr bwMode="auto">
          <a:xfrm>
            <a:off x="11165613" y="98481"/>
            <a:ext cx="583475"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出口</a:t>
            </a:r>
          </a:p>
        </p:txBody>
      </p:sp>
    </p:spTree>
    <p:extLst>
      <p:ext uri="{BB962C8B-B14F-4D97-AF65-F5344CB8AC3E}">
        <p14:creationId xmlns:p14="http://schemas.microsoft.com/office/powerpoint/2010/main" val="20897159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Huawei Sans" panose="020C0503030203020204" pitchFamily="34" charset="0"/>
              </a:rPr>
              <a:t>DHCP Snooping</a:t>
            </a:r>
            <a:endParaRPr lang="zh-CN" altLang="en-US" dirty="0">
              <a:sym typeface="Huawei Sans" panose="020C0503030203020204" pitchFamily="34" charset="0"/>
            </a:endParaRPr>
          </a:p>
        </p:txBody>
      </p:sp>
      <p:sp>
        <p:nvSpPr>
          <p:cNvPr id="3" name="内容占位符 3"/>
          <p:cNvSpPr txBox="1">
            <a:spLocks/>
          </p:cNvSpPr>
          <p:nvPr/>
        </p:nvSpPr>
        <p:spPr bwMode="gray">
          <a:xfrm>
            <a:off x="5727132" y="2485864"/>
            <a:ext cx="5643154" cy="1997612"/>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R="0" lvl="0" algn="l" defTabSz="914034" rtl="0" eaLnBrk="1" fontAlgn="auto" latinLnBrk="0" hangingPunct="1">
              <a:lnSpc>
                <a:spcPts val="2400"/>
              </a:lnSpc>
              <a:spcBef>
                <a:spcPts val="0"/>
              </a:spcBef>
              <a:spcAft>
                <a:spcPts val="600"/>
              </a:spcAft>
              <a:buClrTx/>
              <a:buSzPct val="50000"/>
              <a:buFont typeface="Wingdings" panose="05000000000000000000" pitchFamily="2" charset="2"/>
              <a:buChar char="l"/>
              <a:tabLst/>
              <a:defRPr/>
            </a:pP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目前</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DHCP</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协议在应用的过程中遇到很多安全方面的问题，网络中存在一些针对</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DHCP</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的攻击，如</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DHCP Server</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仿冒者攻击、</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DHCP Server</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的拒绝服务攻击、仿冒</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DHCP</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报文攻击等。</a:t>
            </a:r>
          </a:p>
          <a:p>
            <a:pPr marR="0" lvl="0" algn="l" defTabSz="914034" rtl="0" eaLnBrk="1" fontAlgn="auto" latinLnBrk="0" hangingPunct="1">
              <a:lnSpc>
                <a:spcPts val="2400"/>
              </a:lnSpc>
              <a:spcBef>
                <a:spcPts val="0"/>
              </a:spcBef>
              <a:spcAft>
                <a:spcPts val="600"/>
              </a:spcAft>
              <a:buClrTx/>
              <a:buSzPct val="50000"/>
              <a:buFont typeface="Wingdings" panose="05000000000000000000" pitchFamily="2" charset="2"/>
              <a:buChar char="l"/>
              <a:tabLst/>
              <a:defRPr/>
            </a:pP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DHCP Snooping</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是</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DHCP</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的一种安全特性，用于保证</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DHCP</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客户端从合法的</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DHCP</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服务器获取</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IP</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地址，并记录</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DHCP</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客户端</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IP</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地址与</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MAC</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地址等参数的对应关系，防止网络上针对</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DHCP</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的攻击。</a:t>
            </a:r>
            <a:endPar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 name="直接连接符 3"/>
          <p:cNvCxnSpPr/>
          <p:nvPr/>
        </p:nvCxnSpPr>
        <p:spPr bwMode="gray">
          <a:xfrm>
            <a:off x="2717916" y="2546420"/>
            <a:ext cx="0" cy="1350648"/>
          </a:xfrm>
          <a:prstGeom prst="line">
            <a:avLst/>
          </a:prstGeom>
          <a:noFill/>
          <a:ln w="19050" cap="flat" cmpd="sng" algn="ctr">
            <a:solidFill>
              <a:sysClr val="windowText" lastClr="000000"/>
            </a:solidFill>
            <a:prstDash val="solid"/>
            <a:miter lim="800000"/>
          </a:ln>
          <a:effectLst/>
        </p:spPr>
      </p:cxnSp>
      <p:cxnSp>
        <p:nvCxnSpPr>
          <p:cNvPr id="5" name="直接连接符 4"/>
          <p:cNvCxnSpPr/>
          <p:nvPr/>
        </p:nvCxnSpPr>
        <p:spPr bwMode="gray">
          <a:xfrm>
            <a:off x="2891668" y="3897735"/>
            <a:ext cx="1480167" cy="0"/>
          </a:xfrm>
          <a:prstGeom prst="line">
            <a:avLst/>
          </a:prstGeom>
          <a:noFill/>
          <a:ln w="19050" cap="flat" cmpd="sng" algn="ctr">
            <a:solidFill>
              <a:sysClr val="windowText" lastClr="000000"/>
            </a:solidFill>
            <a:prstDash val="solid"/>
            <a:miter lim="800000"/>
          </a:ln>
          <a:effectLst/>
        </p:spPr>
      </p:cxnSp>
      <p:grpSp>
        <p:nvGrpSpPr>
          <p:cNvPr id="6" name="Group 165"/>
          <p:cNvGrpSpPr/>
          <p:nvPr/>
        </p:nvGrpSpPr>
        <p:grpSpPr bwMode="gray">
          <a:xfrm rot="10800000">
            <a:off x="1834465" y="3827624"/>
            <a:ext cx="1766904" cy="1072123"/>
            <a:chOff x="-1233037" y="914446"/>
            <a:chExt cx="1573823" cy="778776"/>
          </a:xfrm>
        </p:grpSpPr>
        <p:cxnSp>
          <p:nvCxnSpPr>
            <p:cNvPr id="7" name="Straight Connector 166"/>
            <p:cNvCxnSpPr/>
            <p:nvPr/>
          </p:nvCxnSpPr>
          <p:spPr bwMode="gray">
            <a:xfrm flipH="1" flipV="1">
              <a:off x="-1233037" y="914446"/>
              <a:ext cx="786912" cy="778776"/>
            </a:xfrm>
            <a:prstGeom prst="line">
              <a:avLst/>
            </a:prstGeom>
            <a:noFill/>
            <a:ln w="19050" cap="flat" cmpd="sng" algn="ctr">
              <a:solidFill>
                <a:sysClr val="windowText" lastClr="000000"/>
              </a:solidFill>
              <a:prstDash val="solid"/>
              <a:miter lim="800000"/>
            </a:ln>
            <a:effectLst/>
          </p:spPr>
        </p:cxnSp>
        <p:cxnSp>
          <p:nvCxnSpPr>
            <p:cNvPr id="8" name="Straight Connector 167"/>
            <p:cNvCxnSpPr/>
            <p:nvPr/>
          </p:nvCxnSpPr>
          <p:spPr bwMode="gray">
            <a:xfrm flipV="1">
              <a:off x="-446125" y="914446"/>
              <a:ext cx="786911" cy="778776"/>
            </a:xfrm>
            <a:prstGeom prst="line">
              <a:avLst/>
            </a:prstGeom>
            <a:noFill/>
            <a:ln w="19050" cap="flat" cmpd="sng" algn="ctr">
              <a:solidFill>
                <a:sysClr val="windowText" lastClr="000000"/>
              </a:solidFill>
              <a:prstDash val="solid"/>
              <a:miter lim="800000"/>
            </a:ln>
            <a:effectLst/>
          </p:spPr>
        </p:cxnSp>
      </p:grpSp>
      <p:sp>
        <p:nvSpPr>
          <p:cNvPr id="9" name="文本框 8"/>
          <p:cNvSpPr txBox="1"/>
          <p:nvPr/>
        </p:nvSpPr>
        <p:spPr bwMode="gray">
          <a:xfrm>
            <a:off x="1112769" y="5233621"/>
            <a:ext cx="1050737"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DHCP Client</a:t>
            </a:r>
            <a:endPar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文本框 9"/>
          <p:cNvSpPr txBox="1"/>
          <p:nvPr/>
        </p:nvSpPr>
        <p:spPr bwMode="gray">
          <a:xfrm>
            <a:off x="3284607" y="5233621"/>
            <a:ext cx="1050737"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DHCP Client</a:t>
            </a:r>
            <a:endPar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文本框 10"/>
          <p:cNvSpPr txBox="1"/>
          <p:nvPr/>
        </p:nvSpPr>
        <p:spPr bwMode="gray">
          <a:xfrm>
            <a:off x="2999428" y="2208865"/>
            <a:ext cx="1419428"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合法</a:t>
            </a:r>
            <a:r>
              <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DHCP Server</a:t>
            </a:r>
            <a:endPar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文本框 11"/>
          <p:cNvSpPr txBox="1"/>
          <p:nvPr/>
        </p:nvSpPr>
        <p:spPr bwMode="gray">
          <a:xfrm>
            <a:off x="3913312" y="4122717"/>
            <a:ext cx="1419428"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非法</a:t>
            </a:r>
            <a:r>
              <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DHCP Server</a:t>
            </a:r>
            <a:endPar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3" name="直接箭头连接符 12"/>
          <p:cNvCxnSpPr/>
          <p:nvPr/>
        </p:nvCxnSpPr>
        <p:spPr bwMode="gray">
          <a:xfrm>
            <a:off x="2519194" y="2702618"/>
            <a:ext cx="0" cy="588992"/>
          </a:xfrm>
          <a:prstGeom prst="straightConnector1">
            <a:avLst/>
          </a:prstGeom>
          <a:noFill/>
          <a:ln w="38100" cap="flat" cmpd="sng" algn="ctr">
            <a:solidFill>
              <a:srgbClr val="8BC9A0"/>
            </a:solidFill>
            <a:prstDash val="solid"/>
            <a:miter lim="800000"/>
            <a:tailEnd type="triangle"/>
          </a:ln>
          <a:effectLst/>
        </p:spPr>
      </p:cxnSp>
      <p:cxnSp>
        <p:nvCxnSpPr>
          <p:cNvPr id="14" name="直接箭头连接符 13"/>
          <p:cNvCxnSpPr/>
          <p:nvPr/>
        </p:nvCxnSpPr>
        <p:spPr bwMode="gray">
          <a:xfrm flipH="1">
            <a:off x="3084902" y="3715348"/>
            <a:ext cx="1043916" cy="0"/>
          </a:xfrm>
          <a:prstGeom prst="straightConnector1">
            <a:avLst/>
          </a:prstGeom>
          <a:noFill/>
          <a:ln w="38100" cap="flat" cmpd="sng" algn="ctr">
            <a:solidFill>
              <a:srgbClr val="30B5C5"/>
            </a:solidFill>
            <a:prstDash val="solid"/>
            <a:miter lim="800000"/>
            <a:tailEnd type="triangle"/>
          </a:ln>
          <a:effectLst/>
        </p:spPr>
      </p:cxnSp>
      <p:sp>
        <p:nvSpPr>
          <p:cNvPr id="15" name="文本框 14"/>
          <p:cNvSpPr txBox="1"/>
          <p:nvPr/>
        </p:nvSpPr>
        <p:spPr bwMode="gray">
          <a:xfrm>
            <a:off x="3015895" y="3181270"/>
            <a:ext cx="1903680" cy="4616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30B5C5"/>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非法</a:t>
            </a:r>
            <a:r>
              <a:rPr kumimoji="0" lang="en-US" altLang="zh-CN" sz="1200" b="0" i="0" u="none" strike="noStrike" kern="0" cap="none" spc="0" normalizeH="0" baseline="0" noProof="0" dirty="0">
                <a:ln>
                  <a:noFill/>
                </a:ln>
                <a:solidFill>
                  <a:srgbClr val="30B5C5"/>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DHCP ACK</a:t>
            </a:r>
            <a:r>
              <a:rPr kumimoji="0" lang="zh-CN" altLang="en-US" sz="1200" b="0" i="0" u="none" strike="noStrike" kern="0" cap="none" spc="0" normalizeH="0" baseline="0" noProof="0" dirty="0">
                <a:ln>
                  <a:noFill/>
                </a:ln>
                <a:solidFill>
                  <a:srgbClr val="30B5C5"/>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r>
              <a:rPr kumimoji="0" lang="en-US" altLang="zh-CN" sz="1200" b="0" i="0" u="none" strike="noStrike" kern="0" cap="none" spc="0" normalizeH="0" baseline="0" noProof="0" dirty="0">
                <a:ln>
                  <a:noFill/>
                </a:ln>
                <a:solidFill>
                  <a:srgbClr val="30B5C5"/>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DHCP NAK</a:t>
            </a:r>
            <a:r>
              <a:rPr kumimoji="0" lang="zh-CN" altLang="en-US" sz="1200" b="0" i="0" u="none" strike="noStrike" kern="0" cap="none" spc="0" normalizeH="0" baseline="0" noProof="0" dirty="0">
                <a:ln>
                  <a:noFill/>
                </a:ln>
                <a:solidFill>
                  <a:srgbClr val="30B5C5"/>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和</a:t>
            </a:r>
            <a:r>
              <a:rPr kumimoji="0" lang="en-US" altLang="zh-CN" sz="1200" b="0" i="0" u="none" strike="noStrike" kern="0" cap="none" spc="0" normalizeH="0" baseline="0" noProof="0" dirty="0">
                <a:ln>
                  <a:noFill/>
                </a:ln>
                <a:solidFill>
                  <a:srgbClr val="30B5C5"/>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DHCP Offer</a:t>
            </a:r>
            <a:r>
              <a:rPr kumimoji="0" lang="zh-CN" altLang="en-US" sz="1200" b="0" i="0" u="none" strike="noStrike" kern="0" cap="none" spc="0" normalizeH="0" baseline="0" noProof="0" dirty="0">
                <a:ln>
                  <a:noFill/>
                </a:ln>
                <a:solidFill>
                  <a:srgbClr val="30B5C5"/>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报文</a:t>
            </a:r>
          </a:p>
        </p:txBody>
      </p:sp>
      <p:sp>
        <p:nvSpPr>
          <p:cNvPr id="16" name="Oval 4"/>
          <p:cNvSpPr>
            <a:spLocks noChangeAspect="1"/>
          </p:cNvSpPr>
          <p:nvPr/>
        </p:nvSpPr>
        <p:spPr bwMode="gray">
          <a:xfrm>
            <a:off x="4010213" y="3612594"/>
            <a:ext cx="211977" cy="211977"/>
          </a:xfrm>
          <a:prstGeom prst="ellipse">
            <a:avLst/>
          </a:prstGeom>
          <a:solidFill>
            <a:srgbClr val="30B5C5"/>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2</a:t>
            </a:r>
            <a:endParaRPr kumimoji="0" lang="zh-CN" altLang="en-US"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Oval 4"/>
          <p:cNvSpPr>
            <a:spLocks noChangeAspect="1"/>
          </p:cNvSpPr>
          <p:nvPr/>
        </p:nvSpPr>
        <p:spPr bwMode="gray">
          <a:xfrm>
            <a:off x="2092670" y="4907644"/>
            <a:ext cx="211977" cy="211977"/>
          </a:xfrm>
          <a:prstGeom prst="ellipse">
            <a:avLst/>
          </a:prstGeom>
          <a:solidFill>
            <a:srgbClr val="30B5C5"/>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3</a:t>
            </a:r>
            <a:endParaRPr kumimoji="0" lang="zh-CN" altLang="en-US"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文本框 17"/>
          <p:cNvSpPr txBox="1"/>
          <p:nvPr/>
        </p:nvSpPr>
        <p:spPr bwMode="gray">
          <a:xfrm>
            <a:off x="2256529" y="4819851"/>
            <a:ext cx="955350" cy="46166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a:ln>
                  <a:noFill/>
                </a:ln>
                <a:solidFill>
                  <a:srgbClr val="30B5C5"/>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获取到错误的</a:t>
            </a:r>
            <a:r>
              <a:rPr kumimoji="0" lang="en-US" altLang="zh-CN" sz="1200" b="0" i="0" u="none" strike="noStrike" kern="0" cap="none" spc="0" normalizeH="0" baseline="0" noProof="0">
                <a:ln>
                  <a:noFill/>
                </a:ln>
                <a:solidFill>
                  <a:srgbClr val="30B5C5"/>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IP</a:t>
            </a:r>
            <a:r>
              <a:rPr kumimoji="0" lang="zh-CN" altLang="en-US" sz="1200" b="0" i="0" u="none" strike="noStrike" kern="0" cap="none" spc="0" normalizeH="0" baseline="0" noProof="0">
                <a:ln>
                  <a:noFill/>
                </a:ln>
                <a:solidFill>
                  <a:srgbClr val="30B5C5"/>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地址</a:t>
            </a:r>
          </a:p>
        </p:txBody>
      </p:sp>
      <p:pic>
        <p:nvPicPr>
          <p:cNvPr id="19" name="图片 11" descr="开放网络-蓝.png"/>
          <p:cNvPicPr>
            <a:picLocks noChangeAspect="1"/>
          </p:cNvPicPr>
          <p:nvPr/>
        </p:nvPicPr>
        <p:blipFill>
          <a:blip r:embed="rId3" cstate="print"/>
          <a:stretch>
            <a:fillRect/>
          </a:stretch>
        </p:blipFill>
        <p:spPr bwMode="gray">
          <a:xfrm>
            <a:off x="1368334" y="4821745"/>
            <a:ext cx="539607" cy="415381"/>
          </a:xfrm>
          <a:prstGeom prst="rect">
            <a:avLst/>
          </a:prstGeom>
        </p:spPr>
      </p:pic>
      <p:pic>
        <p:nvPicPr>
          <p:cNvPr id="20" name="图片 72" descr="交换机.png"/>
          <p:cNvPicPr>
            <a:picLocks noChangeAspect="1"/>
          </p:cNvPicPr>
          <p:nvPr/>
        </p:nvPicPr>
        <p:blipFill>
          <a:blip r:embed="rId4" cstate="print"/>
          <a:stretch>
            <a:fillRect/>
          </a:stretch>
        </p:blipFill>
        <p:spPr bwMode="gray">
          <a:xfrm>
            <a:off x="2461214" y="2133909"/>
            <a:ext cx="538214" cy="441816"/>
          </a:xfrm>
          <a:prstGeom prst="rect">
            <a:avLst/>
          </a:prstGeom>
        </p:spPr>
      </p:pic>
      <p:pic>
        <p:nvPicPr>
          <p:cNvPr id="21" name="图片 76" descr="接入交换机.png"/>
          <p:cNvPicPr>
            <a:picLocks noChangeAspect="1"/>
          </p:cNvPicPr>
          <p:nvPr/>
        </p:nvPicPr>
        <p:blipFill>
          <a:blip r:embed="rId5" cstate="print"/>
          <a:stretch>
            <a:fillRect/>
          </a:stretch>
        </p:blipFill>
        <p:spPr bwMode="gray">
          <a:xfrm>
            <a:off x="2460321" y="3656604"/>
            <a:ext cx="540000" cy="441818"/>
          </a:xfrm>
          <a:prstGeom prst="rect">
            <a:avLst/>
          </a:prstGeom>
        </p:spPr>
      </p:pic>
      <p:pic>
        <p:nvPicPr>
          <p:cNvPr id="22" name="图片 11" descr="开放网络-蓝.png"/>
          <p:cNvPicPr>
            <a:picLocks noChangeAspect="1"/>
          </p:cNvPicPr>
          <p:nvPr/>
        </p:nvPicPr>
        <p:blipFill>
          <a:blip r:embed="rId3" cstate="print"/>
          <a:stretch>
            <a:fillRect/>
          </a:stretch>
        </p:blipFill>
        <p:spPr bwMode="gray">
          <a:xfrm>
            <a:off x="3543543" y="4821745"/>
            <a:ext cx="539607" cy="415381"/>
          </a:xfrm>
          <a:prstGeom prst="rect">
            <a:avLst/>
          </a:prstGeom>
        </p:spPr>
      </p:pic>
      <p:cxnSp>
        <p:nvCxnSpPr>
          <p:cNvPr id="23" name="直接箭头连接符 22"/>
          <p:cNvCxnSpPr/>
          <p:nvPr/>
        </p:nvCxnSpPr>
        <p:spPr bwMode="gray">
          <a:xfrm flipV="1">
            <a:off x="1797853" y="4058020"/>
            <a:ext cx="525672" cy="603968"/>
          </a:xfrm>
          <a:prstGeom prst="straightConnector1">
            <a:avLst/>
          </a:prstGeom>
          <a:noFill/>
          <a:ln w="38100" cap="flat" cmpd="sng" algn="ctr">
            <a:solidFill>
              <a:srgbClr val="8BC9A0"/>
            </a:solidFill>
            <a:prstDash val="solid"/>
            <a:miter lim="800000"/>
            <a:tailEnd type="triangle"/>
          </a:ln>
          <a:effectLst/>
        </p:spPr>
      </p:cxnSp>
      <p:sp>
        <p:nvSpPr>
          <p:cNvPr id="24" name="Oval 4"/>
          <p:cNvSpPr>
            <a:spLocks noChangeAspect="1"/>
          </p:cNvSpPr>
          <p:nvPr/>
        </p:nvSpPr>
        <p:spPr bwMode="gray">
          <a:xfrm>
            <a:off x="1676610" y="4550449"/>
            <a:ext cx="211977" cy="211977"/>
          </a:xfrm>
          <a:prstGeom prst="ellipse">
            <a:avLst/>
          </a:prstGeom>
          <a:solidFill>
            <a:srgbClr val="8BC9A0"/>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a:t>
            </a:r>
            <a:endParaRPr kumimoji="0" lang="zh-CN" altLang="en-US"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Oval 4"/>
          <p:cNvSpPr>
            <a:spLocks noChangeAspect="1"/>
          </p:cNvSpPr>
          <p:nvPr/>
        </p:nvSpPr>
        <p:spPr bwMode="gray">
          <a:xfrm>
            <a:off x="2419097" y="2628588"/>
            <a:ext cx="211977" cy="211977"/>
          </a:xfrm>
          <a:prstGeom prst="ellipse">
            <a:avLst/>
          </a:prstGeom>
          <a:solidFill>
            <a:srgbClr val="8BC9A0"/>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2</a:t>
            </a:r>
            <a:endParaRPr kumimoji="0" lang="zh-CN" altLang="en-US"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6" name="组合 168"/>
          <p:cNvGrpSpPr>
            <a:grpSpLocks noChangeAspect="1"/>
          </p:cNvGrpSpPr>
          <p:nvPr/>
        </p:nvGrpSpPr>
        <p:grpSpPr bwMode="gray">
          <a:xfrm>
            <a:off x="4379575" y="3612594"/>
            <a:ext cx="540000" cy="540000"/>
            <a:chOff x="5336418" y="696349"/>
            <a:chExt cx="842890" cy="844091"/>
          </a:xfrm>
        </p:grpSpPr>
        <p:sp>
          <p:nvSpPr>
            <p:cNvPr id="27" name="Freeform 38"/>
            <p:cNvSpPr>
              <a:spLocks/>
            </p:cNvSpPr>
            <p:nvPr/>
          </p:nvSpPr>
          <p:spPr bwMode="gray">
            <a:xfrm>
              <a:off x="5336418" y="696349"/>
              <a:ext cx="842890" cy="844091"/>
            </a:xfrm>
            <a:custGeom>
              <a:avLst/>
              <a:gdLst>
                <a:gd name="T0" fmla="*/ 2147483647 w 2659"/>
                <a:gd name="T1" fmla="*/ 2147483647 h 2659"/>
                <a:gd name="T2" fmla="*/ 2147483647 w 2659"/>
                <a:gd name="T3" fmla="*/ 2147483647 h 2659"/>
                <a:gd name="T4" fmla="*/ 2147483647 w 2659"/>
                <a:gd name="T5" fmla="*/ 2147483647 h 2659"/>
                <a:gd name="T6" fmla="*/ 0 w 2659"/>
                <a:gd name="T7" fmla="*/ 2147483647 h 2659"/>
                <a:gd name="T8" fmla="*/ 2147483647 w 2659"/>
                <a:gd name="T9" fmla="*/ 0 h 2659"/>
                <a:gd name="T10" fmla="*/ 2147483647 w 2659"/>
                <a:gd name="T11" fmla="*/ 2147483647 h 2659"/>
                <a:gd name="T12" fmla="*/ 0 60000 65536"/>
                <a:gd name="T13" fmla="*/ 0 60000 65536"/>
                <a:gd name="T14" fmla="*/ 0 60000 65536"/>
                <a:gd name="T15" fmla="*/ 0 60000 65536"/>
                <a:gd name="T16" fmla="*/ 0 60000 65536"/>
                <a:gd name="T17" fmla="*/ 0 60000 65536"/>
                <a:gd name="T18" fmla="*/ 0 w 2659"/>
                <a:gd name="T19" fmla="*/ 0 h 2659"/>
                <a:gd name="T20" fmla="*/ 2659 w 2659"/>
                <a:gd name="T21" fmla="*/ 2659 h 2659"/>
              </a:gdLst>
              <a:ahLst/>
              <a:cxnLst>
                <a:cxn ang="T12">
                  <a:pos x="T0" y="T1"/>
                </a:cxn>
                <a:cxn ang="T13">
                  <a:pos x="T2" y="T3"/>
                </a:cxn>
                <a:cxn ang="T14">
                  <a:pos x="T4" y="T5"/>
                </a:cxn>
                <a:cxn ang="T15">
                  <a:pos x="T6" y="T7"/>
                </a:cxn>
                <a:cxn ang="T16">
                  <a:pos x="T8" y="T9"/>
                </a:cxn>
                <a:cxn ang="T17">
                  <a:pos x="T10" y="T11"/>
                </a:cxn>
              </a:cxnLst>
              <a:rect l="T18" t="T19" r="T20" b="T21"/>
              <a:pathLst>
                <a:path w="2659" h="2659">
                  <a:moveTo>
                    <a:pt x="2659" y="1330"/>
                  </a:moveTo>
                  <a:lnTo>
                    <a:pt x="2659" y="1330"/>
                  </a:lnTo>
                  <a:cubicBezTo>
                    <a:pt x="2659" y="2064"/>
                    <a:pt x="2064" y="2659"/>
                    <a:pt x="1330" y="2659"/>
                  </a:cubicBezTo>
                  <a:cubicBezTo>
                    <a:pt x="595" y="2659"/>
                    <a:pt x="0" y="2064"/>
                    <a:pt x="0" y="1330"/>
                  </a:cubicBezTo>
                  <a:cubicBezTo>
                    <a:pt x="0" y="595"/>
                    <a:pt x="595" y="0"/>
                    <a:pt x="1330" y="0"/>
                  </a:cubicBezTo>
                  <a:cubicBezTo>
                    <a:pt x="2064" y="0"/>
                    <a:pt x="2659" y="595"/>
                    <a:pt x="2659" y="1330"/>
                  </a:cubicBezTo>
                  <a:close/>
                </a:path>
              </a:pathLst>
            </a:custGeom>
            <a:solidFill>
              <a:schemeClr val="bg1">
                <a:lumMod val="50000"/>
              </a:schemeClr>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8" name="组合 148"/>
            <p:cNvGrpSpPr>
              <a:grpSpLocks/>
            </p:cNvGrpSpPr>
            <p:nvPr/>
          </p:nvGrpSpPr>
          <p:grpSpPr bwMode="gray">
            <a:xfrm>
              <a:off x="5491163" y="787400"/>
              <a:ext cx="533400" cy="661988"/>
              <a:chOff x="5491163" y="787400"/>
              <a:chExt cx="533400" cy="661988"/>
            </a:xfrm>
          </p:grpSpPr>
          <p:sp>
            <p:nvSpPr>
              <p:cNvPr id="29" name="Freeform 39"/>
              <p:cNvSpPr>
                <a:spLocks/>
              </p:cNvSpPr>
              <p:nvPr/>
            </p:nvSpPr>
            <p:spPr bwMode="gray">
              <a:xfrm>
                <a:off x="5664200" y="1022350"/>
                <a:ext cx="93663" cy="49213"/>
              </a:xfrm>
              <a:custGeom>
                <a:avLst/>
                <a:gdLst>
                  <a:gd name="T0" fmla="*/ 2147483647 w 223"/>
                  <a:gd name="T1" fmla="*/ 2147483647 h 120"/>
                  <a:gd name="T2" fmla="*/ 2147483647 w 223"/>
                  <a:gd name="T3" fmla="*/ 2147483647 h 120"/>
                  <a:gd name="T4" fmla="*/ 2147483647 w 223"/>
                  <a:gd name="T5" fmla="*/ 2147483647 h 120"/>
                  <a:gd name="T6" fmla="*/ 0 w 223"/>
                  <a:gd name="T7" fmla="*/ 0 h 120"/>
                  <a:gd name="T8" fmla="*/ 2147483647 w 223"/>
                  <a:gd name="T9" fmla="*/ 2147483647 h 120"/>
                  <a:gd name="T10" fmla="*/ 0 60000 65536"/>
                  <a:gd name="T11" fmla="*/ 0 60000 65536"/>
                  <a:gd name="T12" fmla="*/ 0 60000 65536"/>
                  <a:gd name="T13" fmla="*/ 0 60000 65536"/>
                  <a:gd name="T14" fmla="*/ 0 60000 65536"/>
                  <a:gd name="T15" fmla="*/ 0 w 223"/>
                  <a:gd name="T16" fmla="*/ 0 h 120"/>
                  <a:gd name="T17" fmla="*/ 223 w 223"/>
                  <a:gd name="T18" fmla="*/ 120 h 120"/>
                </a:gdLst>
                <a:ahLst/>
                <a:cxnLst>
                  <a:cxn ang="T10">
                    <a:pos x="T0" y="T1"/>
                  </a:cxn>
                  <a:cxn ang="T11">
                    <a:pos x="T2" y="T3"/>
                  </a:cxn>
                  <a:cxn ang="T12">
                    <a:pos x="T4" y="T5"/>
                  </a:cxn>
                  <a:cxn ang="T13">
                    <a:pos x="T6" y="T7"/>
                  </a:cxn>
                  <a:cxn ang="T14">
                    <a:pos x="T8" y="T9"/>
                  </a:cxn>
                </a:cxnLst>
                <a:rect l="T15" t="T16" r="T17" b="T18"/>
                <a:pathLst>
                  <a:path w="223" h="120">
                    <a:moveTo>
                      <a:pt x="91" y="106"/>
                    </a:moveTo>
                    <a:lnTo>
                      <a:pt x="91" y="106"/>
                    </a:lnTo>
                    <a:cubicBezTo>
                      <a:pt x="142" y="120"/>
                      <a:pt x="193" y="100"/>
                      <a:pt x="223" y="60"/>
                    </a:cubicBezTo>
                    <a:lnTo>
                      <a:pt x="0" y="0"/>
                    </a:lnTo>
                    <a:cubicBezTo>
                      <a:pt x="5" y="49"/>
                      <a:pt x="40" y="93"/>
                      <a:pt x="91" y="106"/>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Freeform 40"/>
              <p:cNvSpPr>
                <a:spLocks/>
              </p:cNvSpPr>
              <p:nvPr/>
            </p:nvSpPr>
            <p:spPr bwMode="gray">
              <a:xfrm>
                <a:off x="5757863" y="1022350"/>
                <a:ext cx="93663" cy="49213"/>
              </a:xfrm>
              <a:custGeom>
                <a:avLst/>
                <a:gdLst>
                  <a:gd name="T0" fmla="*/ 0 w 223"/>
                  <a:gd name="T1" fmla="*/ 2147483647 h 120"/>
                  <a:gd name="T2" fmla="*/ 0 w 223"/>
                  <a:gd name="T3" fmla="*/ 2147483647 h 120"/>
                  <a:gd name="T4" fmla="*/ 2147483647 w 223"/>
                  <a:gd name="T5" fmla="*/ 2147483647 h 120"/>
                  <a:gd name="T6" fmla="*/ 2147483647 w 223"/>
                  <a:gd name="T7" fmla="*/ 0 h 120"/>
                  <a:gd name="T8" fmla="*/ 0 w 223"/>
                  <a:gd name="T9" fmla="*/ 2147483647 h 120"/>
                  <a:gd name="T10" fmla="*/ 0 60000 65536"/>
                  <a:gd name="T11" fmla="*/ 0 60000 65536"/>
                  <a:gd name="T12" fmla="*/ 0 60000 65536"/>
                  <a:gd name="T13" fmla="*/ 0 60000 65536"/>
                  <a:gd name="T14" fmla="*/ 0 60000 65536"/>
                  <a:gd name="T15" fmla="*/ 0 w 223"/>
                  <a:gd name="T16" fmla="*/ 0 h 120"/>
                  <a:gd name="T17" fmla="*/ 223 w 223"/>
                  <a:gd name="T18" fmla="*/ 120 h 120"/>
                </a:gdLst>
                <a:ahLst/>
                <a:cxnLst>
                  <a:cxn ang="T10">
                    <a:pos x="T0" y="T1"/>
                  </a:cxn>
                  <a:cxn ang="T11">
                    <a:pos x="T2" y="T3"/>
                  </a:cxn>
                  <a:cxn ang="T12">
                    <a:pos x="T4" y="T5"/>
                  </a:cxn>
                  <a:cxn ang="T13">
                    <a:pos x="T6" y="T7"/>
                  </a:cxn>
                  <a:cxn ang="T14">
                    <a:pos x="T8" y="T9"/>
                  </a:cxn>
                </a:cxnLst>
                <a:rect l="T15" t="T16" r="T17" b="T18"/>
                <a:pathLst>
                  <a:path w="223" h="120">
                    <a:moveTo>
                      <a:pt x="0" y="60"/>
                    </a:moveTo>
                    <a:lnTo>
                      <a:pt x="0" y="60"/>
                    </a:lnTo>
                    <a:cubicBezTo>
                      <a:pt x="29" y="100"/>
                      <a:pt x="81" y="120"/>
                      <a:pt x="132" y="106"/>
                    </a:cubicBezTo>
                    <a:cubicBezTo>
                      <a:pt x="182" y="93"/>
                      <a:pt x="217" y="49"/>
                      <a:pt x="223" y="0"/>
                    </a:cubicBezTo>
                    <a:lnTo>
                      <a:pt x="0" y="6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Freeform 41"/>
              <p:cNvSpPr>
                <a:spLocks noEditPoints="1"/>
              </p:cNvSpPr>
              <p:nvPr/>
            </p:nvSpPr>
            <p:spPr bwMode="gray">
              <a:xfrm>
                <a:off x="5491163" y="787400"/>
                <a:ext cx="533400" cy="661988"/>
              </a:xfrm>
              <a:custGeom>
                <a:avLst/>
                <a:gdLst>
                  <a:gd name="T0" fmla="*/ 2147483647 w 1270"/>
                  <a:gd name="T1" fmla="*/ 2147483647 h 1576"/>
                  <a:gd name="T2" fmla="*/ 2147483647 w 1270"/>
                  <a:gd name="T3" fmla="*/ 2147483647 h 1576"/>
                  <a:gd name="T4" fmla="*/ 2147483647 w 1270"/>
                  <a:gd name="T5" fmla="*/ 2147483647 h 1576"/>
                  <a:gd name="T6" fmla="*/ 2147483647 w 1270"/>
                  <a:gd name="T7" fmla="*/ 2147483647 h 1576"/>
                  <a:gd name="T8" fmla="*/ 2147483647 w 1270"/>
                  <a:gd name="T9" fmla="*/ 2147483647 h 1576"/>
                  <a:gd name="T10" fmla="*/ 2147483647 w 1270"/>
                  <a:gd name="T11" fmla="*/ 2147483647 h 1576"/>
                  <a:gd name="T12" fmla="*/ 2147483647 w 1270"/>
                  <a:gd name="T13" fmla="*/ 2147483647 h 1576"/>
                  <a:gd name="T14" fmla="*/ 2147483647 w 1270"/>
                  <a:gd name="T15" fmla="*/ 2147483647 h 1576"/>
                  <a:gd name="T16" fmla="*/ 2147483647 w 1270"/>
                  <a:gd name="T17" fmla="*/ 2147483647 h 1576"/>
                  <a:gd name="T18" fmla="*/ 2147483647 w 1270"/>
                  <a:gd name="T19" fmla="*/ 2147483647 h 1576"/>
                  <a:gd name="T20" fmla="*/ 2147483647 w 1270"/>
                  <a:gd name="T21" fmla="*/ 2147483647 h 1576"/>
                  <a:gd name="T22" fmla="*/ 2147483647 w 1270"/>
                  <a:gd name="T23" fmla="*/ 2147483647 h 1576"/>
                  <a:gd name="T24" fmla="*/ 2147483647 w 1270"/>
                  <a:gd name="T25" fmla="*/ 2147483647 h 1576"/>
                  <a:gd name="T26" fmla="*/ 2147483647 w 1270"/>
                  <a:gd name="T27" fmla="*/ 2147483647 h 1576"/>
                  <a:gd name="T28" fmla="*/ 2147483647 w 1270"/>
                  <a:gd name="T29" fmla="*/ 2147483647 h 1576"/>
                  <a:gd name="T30" fmla="*/ 2147483647 w 1270"/>
                  <a:gd name="T31" fmla="*/ 2147483647 h 1576"/>
                  <a:gd name="T32" fmla="*/ 2147483647 w 1270"/>
                  <a:gd name="T33" fmla="*/ 2147483647 h 1576"/>
                  <a:gd name="T34" fmla="*/ 2147483647 w 1270"/>
                  <a:gd name="T35" fmla="*/ 2147483647 h 1576"/>
                  <a:gd name="T36" fmla="*/ 2147483647 w 1270"/>
                  <a:gd name="T37" fmla="*/ 2147483647 h 1576"/>
                  <a:gd name="T38" fmla="*/ 2147483647 w 1270"/>
                  <a:gd name="T39" fmla="*/ 2147483647 h 1576"/>
                  <a:gd name="T40" fmla="*/ 2147483647 w 1270"/>
                  <a:gd name="T41" fmla="*/ 2147483647 h 1576"/>
                  <a:gd name="T42" fmla="*/ 2147483647 w 1270"/>
                  <a:gd name="T43" fmla="*/ 2147483647 h 1576"/>
                  <a:gd name="T44" fmla="*/ 2147483647 w 1270"/>
                  <a:gd name="T45" fmla="*/ 2147483647 h 1576"/>
                  <a:gd name="T46" fmla="*/ 2147483647 w 1270"/>
                  <a:gd name="T47" fmla="*/ 2147483647 h 1576"/>
                  <a:gd name="T48" fmla="*/ 2147483647 w 1270"/>
                  <a:gd name="T49" fmla="*/ 2147483647 h 1576"/>
                  <a:gd name="T50" fmla="*/ 2147483647 w 1270"/>
                  <a:gd name="T51" fmla="*/ 2147483647 h 1576"/>
                  <a:gd name="T52" fmla="*/ 0 w 1270"/>
                  <a:gd name="T53" fmla="*/ 2147483647 h 1576"/>
                  <a:gd name="T54" fmla="*/ 2147483647 w 1270"/>
                  <a:gd name="T55" fmla="*/ 2147483647 h 1576"/>
                  <a:gd name="T56" fmla="*/ 2147483647 w 1270"/>
                  <a:gd name="T57" fmla="*/ 2147483647 h 1576"/>
                  <a:gd name="T58" fmla="*/ 2147483647 w 1270"/>
                  <a:gd name="T59" fmla="*/ 2147483647 h 1576"/>
                  <a:gd name="T60" fmla="*/ 2147483647 w 1270"/>
                  <a:gd name="T61" fmla="*/ 2147483647 h 1576"/>
                  <a:gd name="T62" fmla="*/ 2147483647 w 1270"/>
                  <a:gd name="T63" fmla="*/ 2147483647 h 1576"/>
                  <a:gd name="T64" fmla="*/ 2147483647 w 1270"/>
                  <a:gd name="T65" fmla="*/ 2147483647 h 1576"/>
                  <a:gd name="T66" fmla="*/ 2147483647 w 1270"/>
                  <a:gd name="T67" fmla="*/ 2147483647 h 1576"/>
                  <a:gd name="T68" fmla="*/ 2147483647 w 1270"/>
                  <a:gd name="T69" fmla="*/ 2147483647 h 157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270"/>
                  <a:gd name="T106" fmla="*/ 0 h 1576"/>
                  <a:gd name="T107" fmla="*/ 1270 w 1270"/>
                  <a:gd name="T108" fmla="*/ 1576 h 157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270" h="1576">
                    <a:moveTo>
                      <a:pt x="122" y="1257"/>
                    </a:moveTo>
                    <a:lnTo>
                      <a:pt x="122" y="1257"/>
                    </a:lnTo>
                    <a:cubicBezTo>
                      <a:pt x="149" y="1200"/>
                      <a:pt x="186" y="1149"/>
                      <a:pt x="229" y="1105"/>
                    </a:cubicBezTo>
                    <a:lnTo>
                      <a:pt x="1040" y="1105"/>
                    </a:lnTo>
                    <a:cubicBezTo>
                      <a:pt x="1084" y="1149"/>
                      <a:pt x="1120" y="1200"/>
                      <a:pt x="1147" y="1257"/>
                    </a:cubicBezTo>
                    <a:lnTo>
                      <a:pt x="122" y="1257"/>
                    </a:lnTo>
                    <a:close/>
                    <a:moveTo>
                      <a:pt x="962" y="1038"/>
                    </a:moveTo>
                    <a:lnTo>
                      <a:pt x="962" y="1038"/>
                    </a:lnTo>
                    <a:lnTo>
                      <a:pt x="307" y="1038"/>
                    </a:lnTo>
                    <a:cubicBezTo>
                      <a:pt x="400" y="972"/>
                      <a:pt x="513" y="934"/>
                      <a:pt x="635" y="934"/>
                    </a:cubicBezTo>
                    <a:cubicBezTo>
                      <a:pt x="757" y="934"/>
                      <a:pt x="870" y="972"/>
                      <a:pt x="962" y="1038"/>
                    </a:cubicBezTo>
                    <a:close/>
                    <a:moveTo>
                      <a:pt x="335" y="567"/>
                    </a:moveTo>
                    <a:lnTo>
                      <a:pt x="335" y="567"/>
                    </a:lnTo>
                    <a:cubicBezTo>
                      <a:pt x="335" y="556"/>
                      <a:pt x="335" y="545"/>
                      <a:pt x="337" y="533"/>
                    </a:cubicBezTo>
                    <a:cubicBezTo>
                      <a:pt x="423" y="543"/>
                      <a:pt x="526" y="548"/>
                      <a:pt x="635" y="548"/>
                    </a:cubicBezTo>
                    <a:cubicBezTo>
                      <a:pt x="743" y="548"/>
                      <a:pt x="847" y="543"/>
                      <a:pt x="933" y="533"/>
                    </a:cubicBezTo>
                    <a:cubicBezTo>
                      <a:pt x="934" y="545"/>
                      <a:pt x="935" y="556"/>
                      <a:pt x="935" y="567"/>
                    </a:cubicBezTo>
                    <a:cubicBezTo>
                      <a:pt x="935" y="733"/>
                      <a:pt x="800" y="867"/>
                      <a:pt x="635" y="867"/>
                    </a:cubicBezTo>
                    <a:cubicBezTo>
                      <a:pt x="469" y="867"/>
                      <a:pt x="335" y="733"/>
                      <a:pt x="335" y="567"/>
                    </a:cubicBezTo>
                    <a:close/>
                    <a:moveTo>
                      <a:pt x="316" y="418"/>
                    </a:moveTo>
                    <a:lnTo>
                      <a:pt x="316" y="418"/>
                    </a:lnTo>
                    <a:lnTo>
                      <a:pt x="315" y="417"/>
                    </a:lnTo>
                    <a:cubicBezTo>
                      <a:pt x="328" y="416"/>
                      <a:pt x="339" y="407"/>
                      <a:pt x="343" y="394"/>
                    </a:cubicBezTo>
                    <a:lnTo>
                      <a:pt x="441" y="79"/>
                    </a:lnTo>
                    <a:lnTo>
                      <a:pt x="622" y="154"/>
                    </a:lnTo>
                    <a:cubicBezTo>
                      <a:pt x="630" y="158"/>
                      <a:pt x="639" y="158"/>
                      <a:pt x="647" y="154"/>
                    </a:cubicBezTo>
                    <a:lnTo>
                      <a:pt x="828" y="79"/>
                    </a:lnTo>
                    <a:lnTo>
                      <a:pt x="926" y="394"/>
                    </a:lnTo>
                    <a:cubicBezTo>
                      <a:pt x="930" y="407"/>
                      <a:pt x="941" y="416"/>
                      <a:pt x="954" y="417"/>
                    </a:cubicBezTo>
                    <a:lnTo>
                      <a:pt x="954" y="418"/>
                    </a:lnTo>
                    <a:cubicBezTo>
                      <a:pt x="1016" y="426"/>
                      <a:pt x="1053" y="434"/>
                      <a:pt x="1075" y="441"/>
                    </a:cubicBezTo>
                    <a:cubicBezTo>
                      <a:pt x="1014" y="459"/>
                      <a:pt x="867" y="481"/>
                      <a:pt x="635" y="481"/>
                    </a:cubicBezTo>
                    <a:cubicBezTo>
                      <a:pt x="403" y="481"/>
                      <a:pt x="255" y="459"/>
                      <a:pt x="195" y="441"/>
                    </a:cubicBezTo>
                    <a:cubicBezTo>
                      <a:pt x="216" y="434"/>
                      <a:pt x="254" y="426"/>
                      <a:pt x="316" y="418"/>
                    </a:cubicBezTo>
                    <a:close/>
                    <a:moveTo>
                      <a:pt x="1270" y="1502"/>
                    </a:moveTo>
                    <a:lnTo>
                      <a:pt x="1270" y="1502"/>
                    </a:lnTo>
                    <a:cubicBezTo>
                      <a:pt x="1270" y="1212"/>
                      <a:pt x="1073" y="966"/>
                      <a:pt x="807" y="891"/>
                    </a:cubicBezTo>
                    <a:cubicBezTo>
                      <a:pt x="922" y="829"/>
                      <a:pt x="1001" y="707"/>
                      <a:pt x="1001" y="567"/>
                    </a:cubicBezTo>
                    <a:cubicBezTo>
                      <a:pt x="1001" y="553"/>
                      <a:pt x="1001" y="539"/>
                      <a:pt x="999" y="525"/>
                    </a:cubicBezTo>
                    <a:cubicBezTo>
                      <a:pt x="1119" y="506"/>
                      <a:pt x="1166" y="483"/>
                      <a:pt x="1166" y="441"/>
                    </a:cubicBezTo>
                    <a:cubicBezTo>
                      <a:pt x="1166" y="404"/>
                      <a:pt x="1134" y="376"/>
                      <a:pt x="984" y="354"/>
                    </a:cubicBezTo>
                    <a:lnTo>
                      <a:pt x="881" y="24"/>
                    </a:lnTo>
                    <a:cubicBezTo>
                      <a:pt x="878" y="16"/>
                      <a:pt x="872" y="8"/>
                      <a:pt x="863" y="4"/>
                    </a:cubicBezTo>
                    <a:cubicBezTo>
                      <a:pt x="855" y="0"/>
                      <a:pt x="845" y="0"/>
                      <a:pt x="836" y="4"/>
                    </a:cubicBezTo>
                    <a:lnTo>
                      <a:pt x="635" y="88"/>
                    </a:lnTo>
                    <a:lnTo>
                      <a:pt x="433" y="4"/>
                    </a:lnTo>
                    <a:cubicBezTo>
                      <a:pt x="424" y="0"/>
                      <a:pt x="415" y="0"/>
                      <a:pt x="406" y="4"/>
                    </a:cubicBezTo>
                    <a:cubicBezTo>
                      <a:pt x="398" y="8"/>
                      <a:pt x="391" y="16"/>
                      <a:pt x="388" y="24"/>
                    </a:cubicBezTo>
                    <a:lnTo>
                      <a:pt x="286" y="354"/>
                    </a:lnTo>
                    <a:cubicBezTo>
                      <a:pt x="135" y="376"/>
                      <a:pt x="103" y="404"/>
                      <a:pt x="103" y="441"/>
                    </a:cubicBezTo>
                    <a:cubicBezTo>
                      <a:pt x="103" y="483"/>
                      <a:pt x="150" y="506"/>
                      <a:pt x="271" y="525"/>
                    </a:cubicBezTo>
                    <a:cubicBezTo>
                      <a:pt x="269" y="539"/>
                      <a:pt x="268" y="553"/>
                      <a:pt x="268" y="567"/>
                    </a:cubicBezTo>
                    <a:cubicBezTo>
                      <a:pt x="268" y="707"/>
                      <a:pt x="347" y="829"/>
                      <a:pt x="463" y="891"/>
                    </a:cubicBezTo>
                    <a:cubicBezTo>
                      <a:pt x="196" y="966"/>
                      <a:pt x="0" y="1212"/>
                      <a:pt x="0" y="1502"/>
                    </a:cubicBezTo>
                    <a:lnTo>
                      <a:pt x="0" y="1536"/>
                    </a:lnTo>
                    <a:lnTo>
                      <a:pt x="686" y="1536"/>
                    </a:lnTo>
                    <a:cubicBezTo>
                      <a:pt x="696" y="1559"/>
                      <a:pt x="720" y="1576"/>
                      <a:pt x="749" y="1576"/>
                    </a:cubicBezTo>
                    <a:cubicBezTo>
                      <a:pt x="787" y="1576"/>
                      <a:pt x="818" y="1545"/>
                      <a:pt x="818" y="1507"/>
                    </a:cubicBezTo>
                    <a:cubicBezTo>
                      <a:pt x="818" y="1468"/>
                      <a:pt x="787" y="1437"/>
                      <a:pt x="749" y="1437"/>
                    </a:cubicBezTo>
                    <a:cubicBezTo>
                      <a:pt x="724" y="1437"/>
                      <a:pt x="703" y="1450"/>
                      <a:pt x="690" y="1469"/>
                    </a:cubicBezTo>
                    <a:lnTo>
                      <a:pt x="67" y="1469"/>
                    </a:lnTo>
                    <a:cubicBezTo>
                      <a:pt x="70" y="1418"/>
                      <a:pt x="80" y="1370"/>
                      <a:pt x="95" y="1324"/>
                    </a:cubicBezTo>
                    <a:lnTo>
                      <a:pt x="1174" y="1324"/>
                    </a:lnTo>
                    <a:cubicBezTo>
                      <a:pt x="1189" y="1370"/>
                      <a:pt x="1199" y="1418"/>
                      <a:pt x="1202" y="1469"/>
                    </a:cubicBezTo>
                    <a:lnTo>
                      <a:pt x="1020" y="1469"/>
                    </a:lnTo>
                    <a:cubicBezTo>
                      <a:pt x="1007" y="1450"/>
                      <a:pt x="986" y="1437"/>
                      <a:pt x="962" y="1437"/>
                    </a:cubicBezTo>
                    <a:cubicBezTo>
                      <a:pt x="923" y="1437"/>
                      <a:pt x="892" y="1468"/>
                      <a:pt x="892" y="1507"/>
                    </a:cubicBezTo>
                    <a:cubicBezTo>
                      <a:pt x="892" y="1545"/>
                      <a:pt x="923" y="1576"/>
                      <a:pt x="962" y="1576"/>
                    </a:cubicBezTo>
                    <a:cubicBezTo>
                      <a:pt x="989" y="1576"/>
                      <a:pt x="1013" y="1559"/>
                      <a:pt x="1024" y="1536"/>
                    </a:cubicBezTo>
                    <a:lnTo>
                      <a:pt x="1270" y="1536"/>
                    </a:lnTo>
                    <a:lnTo>
                      <a:pt x="1270" y="1502"/>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32" name="五边形 31"/>
          <p:cNvSpPr/>
          <p:nvPr/>
        </p:nvSpPr>
        <p:spPr bwMode="auto">
          <a:xfrm>
            <a:off x="6179960" y="98481"/>
            <a:ext cx="94884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以太网交换</a:t>
            </a:r>
          </a:p>
        </p:txBody>
      </p:sp>
      <p:sp>
        <p:nvSpPr>
          <p:cNvPr id="33" name="燕尾形 32"/>
          <p:cNvSpPr/>
          <p:nvPr/>
        </p:nvSpPr>
        <p:spPr bwMode="auto">
          <a:xfrm>
            <a:off x="7049907" y="98481"/>
            <a:ext cx="678521"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燕尾形 33"/>
          <p:cNvSpPr/>
          <p:nvPr/>
        </p:nvSpPr>
        <p:spPr bwMode="auto">
          <a:xfrm>
            <a:off x="7649535" y="98481"/>
            <a:ext cx="87595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无线接入</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燕尾形 34"/>
          <p:cNvSpPr/>
          <p:nvPr/>
        </p:nvSpPr>
        <p:spPr bwMode="auto">
          <a:xfrm>
            <a:off x="8446601"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可靠性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燕尾形 35"/>
          <p:cNvSpPr/>
          <p:nvPr/>
        </p:nvSpPr>
        <p:spPr bwMode="auto">
          <a:xfrm>
            <a:off x="9148908" y="98481"/>
            <a:ext cx="870489"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网络安全</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燕尾形 36"/>
          <p:cNvSpPr/>
          <p:nvPr/>
        </p:nvSpPr>
        <p:spPr bwMode="auto">
          <a:xfrm>
            <a:off x="9940504" y="98481"/>
            <a:ext cx="130400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网络服务与管理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燕尾形 37"/>
          <p:cNvSpPr/>
          <p:nvPr/>
        </p:nvSpPr>
        <p:spPr bwMode="auto">
          <a:xfrm>
            <a:off x="11165613" y="98481"/>
            <a:ext cx="583475"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出口</a:t>
            </a:r>
          </a:p>
        </p:txBody>
      </p:sp>
    </p:spTree>
    <p:extLst>
      <p:ext uri="{BB962C8B-B14F-4D97-AF65-F5344CB8AC3E}">
        <p14:creationId xmlns:p14="http://schemas.microsoft.com/office/powerpoint/2010/main" val="36675387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Huawei Sans" panose="020C0503030203020204" pitchFamily="34" charset="0"/>
              </a:rPr>
              <a:t>动态</a:t>
            </a:r>
            <a:r>
              <a:rPr lang="en-US" altLang="zh-CN" dirty="0">
                <a:sym typeface="Huawei Sans" panose="020C0503030203020204" pitchFamily="34" charset="0"/>
              </a:rPr>
              <a:t>ARP</a:t>
            </a:r>
            <a:r>
              <a:rPr lang="zh-CN" altLang="en-US" dirty="0">
                <a:sym typeface="Huawei Sans" panose="020C0503030203020204" pitchFamily="34" charset="0"/>
              </a:rPr>
              <a:t>检测</a:t>
            </a:r>
          </a:p>
        </p:txBody>
      </p:sp>
      <p:sp>
        <p:nvSpPr>
          <p:cNvPr id="3" name="矩形 2"/>
          <p:cNvSpPr/>
          <p:nvPr/>
        </p:nvSpPr>
        <p:spPr bwMode="gray">
          <a:xfrm>
            <a:off x="6095999" y="1821561"/>
            <a:ext cx="5616575" cy="3400931"/>
          </a:xfrm>
          <a:prstGeom prst="rect">
            <a:avLst/>
          </a:prstGeom>
        </p:spPr>
        <p:txBody>
          <a:bodyPr wrap="square">
            <a:spAutoFit/>
          </a:bodyPr>
          <a:lstStyle/>
          <a:p>
            <a:pPr marL="285750" indent="-285750">
              <a:lnSpc>
                <a:spcPts val="2400"/>
              </a:lnSpc>
              <a:spcAft>
                <a:spcPts val="600"/>
              </a:spcAft>
              <a:buSzPct val="50000"/>
              <a:buFont typeface="Wingdings" panose="05000000000000000000" pitchFamily="2" charset="2"/>
              <a:buChar char="l"/>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网络中针对</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的攻击层出不穷，中间人攻击是常见的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欺骗攻击方式之一。</a:t>
            </a:r>
          </a:p>
          <a:p>
            <a:pPr marL="285750" indent="-285750">
              <a:lnSpc>
                <a:spcPts val="2400"/>
              </a:lnSpc>
              <a:spcAft>
                <a:spcPts val="600"/>
              </a:spcAft>
              <a:buSzPct val="50000"/>
              <a:buFont typeface="Wingdings" panose="05000000000000000000" pitchFamily="2" charset="2"/>
              <a:buChar char="l"/>
            </a:pPr>
            <a:r>
              <a:rPr lang="en-US" sz="1400" dirty="0">
                <a:latin typeface="Huawei Sans" panose="020C0503030203020204" pitchFamily="34" charset="0"/>
                <a:ea typeface="方正兰亭黑简体" panose="02000000000000000000" pitchFamily="2" charset="-122"/>
                <a:sym typeface="Huawei Sans" panose="020C0503030203020204" pitchFamily="34" charset="0"/>
              </a:rPr>
              <a:t>为了防御中间人攻击，可以在</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交换机</a:t>
            </a:r>
            <a:r>
              <a:rPr lang="en-US" sz="1400" dirty="0" err="1">
                <a:latin typeface="Huawei Sans" panose="020C0503030203020204" pitchFamily="34" charset="0"/>
                <a:ea typeface="方正兰亭黑简体" panose="02000000000000000000" pitchFamily="2" charset="-122"/>
                <a:sym typeface="Huawei Sans" panose="020C0503030203020204" pitchFamily="34" charset="0"/>
              </a:rPr>
              <a:t>上部署动态ARP检测</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Dynamic ARP Inspection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DAI</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sz="1400" dirty="0" err="1">
                <a:latin typeface="Huawei Sans" panose="020C0503030203020204" pitchFamily="34" charset="0"/>
                <a:ea typeface="方正兰亭黑简体" panose="02000000000000000000" pitchFamily="2" charset="-122"/>
                <a:sym typeface="Huawei Sans" panose="020C0503030203020204" pitchFamily="34" charset="0"/>
              </a:rPr>
              <a:t>功能</a:t>
            </a:r>
            <a:r>
              <a:rPr lang="en-US" sz="1400" dirty="0">
                <a:latin typeface="Huawei Sans" panose="020C0503030203020204" pitchFamily="34" charset="0"/>
                <a:ea typeface="方正兰亭黑简体" panose="02000000000000000000" pitchFamily="2" charset="-122"/>
                <a:sym typeface="Huawei Sans" panose="020C0503030203020204" pitchFamily="34" charset="0"/>
              </a:rPr>
              <a:t>。</a:t>
            </a:r>
          </a:p>
          <a:p>
            <a:pPr marL="285750" indent="-285750">
              <a:lnSpc>
                <a:spcPts val="2400"/>
              </a:lnSpc>
              <a:spcAft>
                <a:spcPts val="600"/>
              </a:spcAft>
              <a:buSzPct val="50000"/>
              <a:buFont typeface="Wingdings" panose="05000000000000000000" pitchFamily="2" charset="2"/>
              <a:buChar char="l"/>
            </a:pPr>
            <a:r>
              <a:rPr lang="en-US" sz="1400" dirty="0">
                <a:latin typeface="Huawei Sans" panose="020C0503030203020204" pitchFamily="34" charset="0"/>
                <a:ea typeface="方正兰亭黑简体" panose="02000000000000000000" pitchFamily="2" charset="-122"/>
                <a:sym typeface="Huawei Sans" panose="020C0503030203020204" pitchFamily="34" charset="0"/>
              </a:rPr>
              <a:t>DAI是利用绑定表来防御中间人攻击的。当设备收到ARP报文时，将此ARP报文对应的源IP、源MAC、VLAN以及接口信息和绑定表的信息进行比较</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644400" lvl="1" indent="-285750" algn="just">
              <a:lnSpc>
                <a:spcPts val="2200"/>
              </a:lnSpc>
              <a:spcAft>
                <a:spcPts val="600"/>
              </a:spcAft>
              <a:buSzPct val="50000"/>
              <a:buFont typeface="Wingdings" panose="05000000000000000000" pitchFamily="2" charset="2"/>
              <a:buChar char="p"/>
            </a:pPr>
            <a:r>
              <a:rPr lang="en-US" sz="1400" dirty="0">
                <a:latin typeface="Huawei Sans" panose="020C0503030203020204" pitchFamily="34" charset="0"/>
                <a:ea typeface="方正兰亭黑简体" panose="02000000000000000000" pitchFamily="2" charset="-122"/>
                <a:sym typeface="Huawei Sans" panose="020C0503030203020204" pitchFamily="34" charset="0"/>
              </a:rPr>
              <a:t>如果信息匹配，说明发送该ARP报文的用户是合法用户，允许此用户的ARP报文通过</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644400" lvl="1" indent="-285750" algn="just">
              <a:lnSpc>
                <a:spcPts val="2200"/>
              </a:lnSpc>
              <a:spcAft>
                <a:spcPts val="600"/>
              </a:spcAft>
              <a:buSzPct val="50000"/>
              <a:buFont typeface="Wingdings" panose="05000000000000000000" pitchFamily="2" charset="2"/>
              <a:buChar char="p"/>
            </a:pPr>
            <a:r>
              <a:rPr lang="en-US" sz="1400" dirty="0">
                <a:latin typeface="Huawei Sans" panose="020C0503030203020204" pitchFamily="34" charset="0"/>
                <a:ea typeface="方正兰亭黑简体" panose="02000000000000000000" pitchFamily="2" charset="-122"/>
                <a:sym typeface="Huawei Sans" panose="020C0503030203020204" pitchFamily="34" charset="0"/>
              </a:rPr>
              <a:t>否则就认为是攻击，丢弃该ARP报文。</a:t>
            </a:r>
          </a:p>
        </p:txBody>
      </p:sp>
      <p:cxnSp>
        <p:nvCxnSpPr>
          <p:cNvPr id="4" name="直接连接符 3"/>
          <p:cNvCxnSpPr/>
          <p:nvPr/>
        </p:nvCxnSpPr>
        <p:spPr bwMode="gray">
          <a:xfrm>
            <a:off x="3042174" y="2824830"/>
            <a:ext cx="635462" cy="683990"/>
          </a:xfrm>
          <a:prstGeom prst="line">
            <a:avLst/>
          </a:prstGeom>
          <a:ln w="28575">
            <a:solidFill>
              <a:srgbClr val="C7000B"/>
            </a:solidFill>
            <a:headEnd type="triangle"/>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bwMode="gray">
          <a:xfrm>
            <a:off x="3447771" y="2639682"/>
            <a:ext cx="2299027" cy="646331"/>
          </a:xfrm>
          <a:prstGeom prst="rect">
            <a:avLst/>
          </a:prstGeom>
          <a:noFill/>
        </p:spPr>
        <p:txBody>
          <a:bodyPr wrap="none" rtlCol="0">
            <a:spAutoFit/>
          </a:bodyPr>
          <a:lstStyle/>
          <a:p>
            <a:r>
              <a:rPr 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报文：</a:t>
            </a:r>
            <a:endParaRPr 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发送者</a:t>
            </a: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r>
              <a:rPr 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1.1.1.1</a:t>
            </a:r>
          </a:p>
          <a:p>
            <a:r>
              <a:rPr lang="zh-CN" alt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发送者</a:t>
            </a: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0000-0000-2222</a:t>
            </a:r>
            <a:endParaRPr 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文本框 5"/>
          <p:cNvSpPr txBox="1"/>
          <p:nvPr/>
        </p:nvSpPr>
        <p:spPr bwMode="gray">
          <a:xfrm>
            <a:off x="1563814" y="5714233"/>
            <a:ext cx="2021708"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DHCP Snooping</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绑定表</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 name="直接连接符 6"/>
          <p:cNvCxnSpPr/>
          <p:nvPr/>
        </p:nvCxnSpPr>
        <p:spPr bwMode="gray">
          <a:xfrm>
            <a:off x="2574668" y="1559401"/>
            <a:ext cx="0" cy="109368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 name="Group 165"/>
          <p:cNvGrpSpPr/>
          <p:nvPr/>
        </p:nvGrpSpPr>
        <p:grpSpPr bwMode="gray">
          <a:xfrm rot="10800000">
            <a:off x="1681125" y="2583641"/>
            <a:ext cx="1766904" cy="1002907"/>
            <a:chOff x="-1233037" y="914446"/>
            <a:chExt cx="1573823" cy="778776"/>
          </a:xfrm>
        </p:grpSpPr>
        <p:cxnSp>
          <p:nvCxnSpPr>
            <p:cNvPr id="9" name="Straight Connector 166"/>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167"/>
            <p:cNvCxnSpPr/>
            <p:nvPr/>
          </p:nvCxnSpPr>
          <p:spPr bwMode="gray">
            <a:xfrm flipV="1">
              <a:off x="-446125" y="914446"/>
              <a:ext cx="786911"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文本框 10"/>
          <p:cNvSpPr txBox="1"/>
          <p:nvPr/>
        </p:nvSpPr>
        <p:spPr bwMode="gray">
          <a:xfrm>
            <a:off x="763628" y="4007496"/>
            <a:ext cx="1345241" cy="646331"/>
          </a:xfrm>
          <a:prstGeom prst="rect">
            <a:avLst/>
          </a:prstGeom>
          <a:noFill/>
        </p:spPr>
        <p:txBody>
          <a:bodyPr wrap="none" rtlCol="0">
            <a:spAutoFit/>
          </a:bodyPr>
          <a:lstStyle/>
          <a:p>
            <a:pPr algn="ctr"/>
            <a:r>
              <a:rPr lang="en-US" altLang="zh-CN" sz="1200" b="1">
                <a:latin typeface="Huawei Sans" panose="020C0503030203020204" pitchFamily="34" charset="0"/>
                <a:ea typeface="方正兰亭黑简体" panose="02000000000000000000" pitchFamily="2" charset="-122"/>
                <a:sym typeface="Huawei Sans" panose="020C0503030203020204" pitchFamily="34" charset="0"/>
              </a:rPr>
              <a:t>PC1</a:t>
            </a:r>
          </a:p>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0000-0000-1111</a:t>
            </a:r>
          </a:p>
          <a:p>
            <a:pPr algn="ct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获取到</a:t>
            </a: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1.1.1.1/24</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文本框 11"/>
          <p:cNvSpPr txBox="1"/>
          <p:nvPr/>
        </p:nvSpPr>
        <p:spPr bwMode="gray">
          <a:xfrm>
            <a:off x="3039554" y="4007496"/>
            <a:ext cx="1345241" cy="646331"/>
          </a:xfrm>
          <a:prstGeom prst="rect">
            <a:avLst/>
          </a:prstGeom>
          <a:noFill/>
        </p:spPr>
        <p:txBody>
          <a:bodyPr wrap="none" rtlCol="0">
            <a:spAutoFit/>
          </a:bodyPr>
          <a:lstStyle/>
          <a:p>
            <a:pPr algn="ctr"/>
            <a:r>
              <a:rPr lang="en-US" altLang="zh-CN" sz="1200" b="1">
                <a:latin typeface="Huawei Sans" panose="020C0503030203020204" pitchFamily="34" charset="0"/>
                <a:ea typeface="方正兰亭黑简体" panose="02000000000000000000" pitchFamily="2" charset="-122"/>
                <a:sym typeface="Huawei Sans" panose="020C0503030203020204" pitchFamily="34" charset="0"/>
              </a:rPr>
              <a:t>PC2</a:t>
            </a:r>
          </a:p>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0000-0000-2222</a:t>
            </a:r>
          </a:p>
          <a:p>
            <a:pPr algn="ct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获取到</a:t>
            </a: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1.1.1.2/24</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文本框 12"/>
          <p:cNvSpPr txBox="1"/>
          <p:nvPr/>
        </p:nvSpPr>
        <p:spPr bwMode="gray">
          <a:xfrm>
            <a:off x="2762576" y="1351142"/>
            <a:ext cx="1419428"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合法</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DHCP Server</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3"/>
          <p:cNvSpPr txBox="1"/>
          <p:nvPr/>
        </p:nvSpPr>
        <p:spPr bwMode="gray">
          <a:xfrm rot="18719605">
            <a:off x="1858987" y="2996371"/>
            <a:ext cx="756938" cy="276999"/>
          </a:xfrm>
          <a:prstGeom prst="rect">
            <a:avLst/>
          </a:prstGeom>
          <a:noFill/>
        </p:spPr>
        <p:txBody>
          <a:bodyPr wrap="none" rtlCol="0">
            <a:spAutoFit/>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文本框 14"/>
          <p:cNvSpPr txBox="1"/>
          <p:nvPr/>
        </p:nvSpPr>
        <p:spPr bwMode="gray">
          <a:xfrm rot="2959886">
            <a:off x="2475398" y="2998412"/>
            <a:ext cx="756938" cy="276999"/>
          </a:xfrm>
          <a:prstGeom prst="rect">
            <a:avLst/>
          </a:prstGeom>
          <a:noFill/>
        </p:spPr>
        <p:txBody>
          <a:bodyPr wrap="none" rtlCol="0">
            <a:spAutoFit/>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6" name="图片 76" descr="接入交换机.png"/>
          <p:cNvPicPr>
            <a:picLocks noChangeAspect="1"/>
          </p:cNvPicPr>
          <p:nvPr/>
        </p:nvPicPr>
        <p:blipFill>
          <a:blip r:embed="rId3" cstate="print"/>
          <a:stretch>
            <a:fillRect/>
          </a:stretch>
        </p:blipFill>
        <p:spPr bwMode="gray">
          <a:xfrm>
            <a:off x="2304668" y="2392531"/>
            <a:ext cx="540000" cy="441818"/>
          </a:xfrm>
          <a:prstGeom prst="rect">
            <a:avLst/>
          </a:prstGeom>
        </p:spPr>
      </p:pic>
      <p:pic>
        <p:nvPicPr>
          <p:cNvPr id="17" name="图片 72" descr="交换机.png"/>
          <p:cNvPicPr>
            <a:picLocks noChangeAspect="1"/>
          </p:cNvPicPr>
          <p:nvPr/>
        </p:nvPicPr>
        <p:blipFill>
          <a:blip r:embed="rId4" cstate="print"/>
          <a:stretch>
            <a:fillRect/>
          </a:stretch>
        </p:blipFill>
        <p:spPr bwMode="gray">
          <a:xfrm>
            <a:off x="2305561" y="1198515"/>
            <a:ext cx="538214" cy="441816"/>
          </a:xfrm>
          <a:prstGeom prst="rect">
            <a:avLst/>
          </a:prstGeom>
        </p:spPr>
      </p:pic>
      <p:pic>
        <p:nvPicPr>
          <p:cNvPr id="18" name="图片 11" descr="开放网络-蓝.png"/>
          <p:cNvPicPr>
            <a:picLocks noChangeAspect="1"/>
          </p:cNvPicPr>
          <p:nvPr/>
        </p:nvPicPr>
        <p:blipFill>
          <a:blip r:embed="rId5" cstate="print"/>
          <a:stretch>
            <a:fillRect/>
          </a:stretch>
        </p:blipFill>
        <p:spPr bwMode="gray">
          <a:xfrm>
            <a:off x="1184088" y="3544758"/>
            <a:ext cx="539607" cy="415381"/>
          </a:xfrm>
          <a:prstGeom prst="rect">
            <a:avLst/>
          </a:prstGeom>
        </p:spPr>
      </p:pic>
      <p:pic>
        <p:nvPicPr>
          <p:cNvPr id="19" name="图片 11" descr="开放网络-蓝.png"/>
          <p:cNvPicPr>
            <a:picLocks noChangeAspect="1"/>
          </p:cNvPicPr>
          <p:nvPr/>
        </p:nvPicPr>
        <p:blipFill>
          <a:blip r:embed="rId5" cstate="print"/>
          <a:stretch>
            <a:fillRect/>
          </a:stretch>
        </p:blipFill>
        <p:spPr bwMode="gray">
          <a:xfrm>
            <a:off x="3417229" y="3544758"/>
            <a:ext cx="539607" cy="415381"/>
          </a:xfrm>
          <a:prstGeom prst="rect">
            <a:avLst/>
          </a:prstGeom>
        </p:spPr>
      </p:pic>
      <p:sp>
        <p:nvSpPr>
          <p:cNvPr id="20" name="Right Arrow 158"/>
          <p:cNvSpPr/>
          <p:nvPr/>
        </p:nvSpPr>
        <p:spPr bwMode="gray">
          <a:xfrm rot="5400000">
            <a:off x="1867219" y="3850729"/>
            <a:ext cx="1414898" cy="306924"/>
          </a:xfrm>
          <a:prstGeom prst="rightArrow">
            <a:avLst>
              <a:gd name="adj1" fmla="val 32989"/>
              <a:gd name="adj2" fmla="val 50000"/>
            </a:avLst>
          </a:prstGeom>
          <a:gradFill flip="none" rotWithShape="1">
            <a:gsLst>
              <a:gs pos="15000">
                <a:srgbClr val="1AABE2">
                  <a:lumMod val="5000"/>
                  <a:lumOff val="95000"/>
                  <a:alpha val="0"/>
                </a:srgbClr>
              </a:gs>
              <a:gs pos="81000">
                <a:srgbClr val="94DAE2"/>
              </a:gs>
            </a:gsLst>
            <a:lin ang="0" scaled="1"/>
            <a:tileRect/>
          </a:gradFill>
          <a:ln w="9525" cap="flat" cmpd="sng" algn="ctr">
            <a:gradFill flip="none" rotWithShape="1">
              <a:gsLst>
                <a:gs pos="0">
                  <a:srgbClr val="1AABE2">
                    <a:lumMod val="5000"/>
                    <a:lumOff val="95000"/>
                  </a:srgbClr>
                </a:gs>
                <a:gs pos="100000">
                  <a:srgbClr val="30B5C5"/>
                </a:gs>
              </a:gsLst>
              <a:lin ang="0" scaled="1"/>
              <a:tileRect/>
            </a:gradFill>
            <a:prstDash val="solid"/>
            <a:miter lim="800000"/>
          </a:ln>
          <a:effectLst/>
        </p:spPr>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1" name="组合 28"/>
          <p:cNvGrpSpPr>
            <a:grpSpLocks noChangeAspect="1"/>
          </p:cNvGrpSpPr>
          <p:nvPr/>
        </p:nvGrpSpPr>
        <p:grpSpPr bwMode="gray">
          <a:xfrm rot="6373161">
            <a:off x="3085230" y="2904309"/>
            <a:ext cx="216403" cy="216403"/>
            <a:chOff x="5076056" y="3356992"/>
            <a:chExt cx="436268" cy="436268"/>
          </a:xfrm>
        </p:grpSpPr>
        <p:sp>
          <p:nvSpPr>
            <p:cNvPr id="22" name="椭圆 27"/>
            <p:cNvSpPr/>
            <p:nvPr/>
          </p:nvSpPr>
          <p:spPr bwMode="gray">
            <a:xfrm>
              <a:off x="5076056" y="3356992"/>
              <a:ext cx="432048" cy="432048"/>
            </a:xfrm>
            <a:prstGeom prst="ellipse">
              <a:avLst/>
            </a:prstGeom>
            <a:solidFill>
              <a:sysClr val="window" lastClr="FFFF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ct val="0"/>
                </a:spcBef>
                <a:spcAft>
                  <a:spcPct val="0"/>
                </a:spcAft>
                <a:buClrTx/>
                <a:buSzTx/>
                <a:buFontTx/>
                <a:buNone/>
                <a:tabLst/>
                <a:defRPr/>
              </a:pPr>
              <a:endParaRPr kumimoji="0" lang="zh-CN" altLang="en-US" sz="21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禁止符 22"/>
            <p:cNvSpPr/>
            <p:nvPr/>
          </p:nvSpPr>
          <p:spPr bwMode="gray">
            <a:xfrm>
              <a:off x="5076056" y="3356992"/>
              <a:ext cx="436268" cy="436268"/>
            </a:xfrm>
            <a:prstGeom prst="noSmoking">
              <a:avLst>
                <a:gd name="adj" fmla="val 15475"/>
              </a:avLst>
            </a:prstGeom>
            <a:solidFill>
              <a:srgbClr val="C7000B"/>
            </a:solidFill>
            <a:ln w="12700" cap="flat" cmpd="sng" algn="ctr">
              <a:no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EC7061"/>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aphicFrame>
        <p:nvGraphicFramePr>
          <p:cNvPr id="24" name="表格 23"/>
          <p:cNvGraphicFramePr>
            <a:graphicFrameLocks noGrp="1"/>
          </p:cNvGraphicFramePr>
          <p:nvPr>
            <p:extLst>
              <p:ext uri="{D42A27DB-BD31-4B8C-83A1-F6EECF244321}">
                <p14:modId xmlns:p14="http://schemas.microsoft.com/office/powerpoint/2010/main" val="1903758845"/>
              </p:ext>
            </p:extLst>
          </p:nvPr>
        </p:nvGraphicFramePr>
        <p:xfrm>
          <a:off x="946130" y="4841800"/>
          <a:ext cx="3564000" cy="822960"/>
        </p:xfrm>
        <a:graphic>
          <a:graphicData uri="http://schemas.openxmlformats.org/drawingml/2006/table">
            <a:tbl>
              <a:tblPr firstRow="1" bandRow="1">
                <a:tableStyleId>{5940675A-B579-460E-94D1-54222C63F5DA}</a:tableStyleId>
              </a:tblPr>
              <a:tblGrid>
                <a:gridCol w="792000">
                  <a:extLst>
                    <a:ext uri="{9D8B030D-6E8A-4147-A177-3AD203B41FA5}">
                      <a16:colId xmlns:a16="http://schemas.microsoft.com/office/drawing/2014/main" val="20000"/>
                    </a:ext>
                  </a:extLst>
                </a:gridCol>
                <a:gridCol w="1368000">
                  <a:extLst>
                    <a:ext uri="{9D8B030D-6E8A-4147-A177-3AD203B41FA5}">
                      <a16:colId xmlns:a16="http://schemas.microsoft.com/office/drawing/2014/main" val="20001"/>
                    </a:ext>
                  </a:extLst>
                </a:gridCol>
                <a:gridCol w="612000">
                  <a:extLst>
                    <a:ext uri="{9D8B030D-6E8A-4147-A177-3AD203B41FA5}">
                      <a16:colId xmlns:a16="http://schemas.microsoft.com/office/drawing/2014/main" val="20002"/>
                    </a:ext>
                  </a:extLst>
                </a:gridCol>
                <a:gridCol w="792000">
                  <a:extLst>
                    <a:ext uri="{9D8B030D-6E8A-4147-A177-3AD203B41FA5}">
                      <a16:colId xmlns:a16="http://schemas.microsoft.com/office/drawing/2014/main" val="20003"/>
                    </a:ext>
                  </a:extLst>
                </a:gridCol>
              </a:tblGrid>
              <a:tr h="0">
                <a:tc>
                  <a:txBody>
                    <a:bodyPr/>
                    <a:lstStyle/>
                    <a:p>
                      <a:pPr algn="ctr"/>
                      <a:r>
                        <a:rPr lang="en-US" altLang="zh-CN"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地址</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地址</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VLAN</a:t>
                      </a:r>
                      <a:endPar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接口</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0">
                <a:tc>
                  <a:txBody>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1.1.1.1</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0000-0000-1111</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10</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1.1.1.2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0000-0000-2222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10</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25" name="五边形 24"/>
          <p:cNvSpPr/>
          <p:nvPr/>
        </p:nvSpPr>
        <p:spPr bwMode="auto">
          <a:xfrm>
            <a:off x="6179960" y="98481"/>
            <a:ext cx="94884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以太网交换</a:t>
            </a:r>
          </a:p>
        </p:txBody>
      </p:sp>
      <p:sp>
        <p:nvSpPr>
          <p:cNvPr id="26" name="燕尾形 25"/>
          <p:cNvSpPr/>
          <p:nvPr/>
        </p:nvSpPr>
        <p:spPr bwMode="auto">
          <a:xfrm>
            <a:off x="7049907" y="98481"/>
            <a:ext cx="678521"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燕尾形 26"/>
          <p:cNvSpPr/>
          <p:nvPr/>
        </p:nvSpPr>
        <p:spPr bwMode="auto">
          <a:xfrm>
            <a:off x="7649535" y="98481"/>
            <a:ext cx="87595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无线接入</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燕尾形 27"/>
          <p:cNvSpPr/>
          <p:nvPr/>
        </p:nvSpPr>
        <p:spPr bwMode="auto">
          <a:xfrm>
            <a:off x="8446601"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可靠性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燕尾形 28"/>
          <p:cNvSpPr/>
          <p:nvPr/>
        </p:nvSpPr>
        <p:spPr bwMode="auto">
          <a:xfrm>
            <a:off x="9148908" y="98481"/>
            <a:ext cx="870489"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网络安全</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燕尾形 29"/>
          <p:cNvSpPr/>
          <p:nvPr/>
        </p:nvSpPr>
        <p:spPr bwMode="auto">
          <a:xfrm>
            <a:off x="9940504" y="98481"/>
            <a:ext cx="130400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网络服务与管理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燕尾形 30"/>
          <p:cNvSpPr/>
          <p:nvPr/>
        </p:nvSpPr>
        <p:spPr bwMode="auto">
          <a:xfrm>
            <a:off x="11165613" y="98481"/>
            <a:ext cx="583475"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出口</a:t>
            </a:r>
          </a:p>
        </p:txBody>
      </p:sp>
    </p:spTree>
    <p:extLst>
      <p:ext uri="{BB962C8B-B14F-4D97-AF65-F5344CB8AC3E}">
        <p14:creationId xmlns:p14="http://schemas.microsoft.com/office/powerpoint/2010/main" val="42005505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Huawei Sans" panose="020C0503030203020204" pitchFamily="34" charset="0"/>
              </a:rPr>
              <a:t>IP</a:t>
            </a:r>
            <a:r>
              <a:rPr lang="zh-CN" altLang="en-US" dirty="0">
                <a:sym typeface="Huawei Sans" panose="020C0503030203020204" pitchFamily="34" charset="0"/>
              </a:rPr>
              <a:t>源防攻击</a:t>
            </a:r>
          </a:p>
        </p:txBody>
      </p:sp>
      <p:sp>
        <p:nvSpPr>
          <p:cNvPr id="3" name="矩形 2"/>
          <p:cNvSpPr/>
          <p:nvPr/>
        </p:nvSpPr>
        <p:spPr bwMode="gray">
          <a:xfrm>
            <a:off x="6349487" y="2468572"/>
            <a:ext cx="5334513" cy="2349361"/>
          </a:xfrm>
          <a:prstGeom prst="rect">
            <a:avLst/>
          </a:prstGeom>
        </p:spPr>
        <p:txBody>
          <a:bodyPr wrap="square">
            <a:spAutoFit/>
          </a:bodyPr>
          <a:lstStyle/>
          <a:p>
            <a:pPr marL="285750" indent="-285750">
              <a:lnSpc>
                <a:spcPts val="2400"/>
              </a:lnSpc>
              <a:spcAft>
                <a:spcPts val="800"/>
              </a:spcAft>
              <a:buSzPct val="50000"/>
              <a:buFont typeface="Wingdings" panose="05000000000000000000" pitchFamily="2" charset="2"/>
              <a:buChar char="l"/>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源防攻击（</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 Source Guard</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IPSG</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）是一种基于二层接口的源</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地址过滤技术，它能够防止恶意主机伪造合法主机的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地址来仿冒合法主机，还能确保非授权主机不能通过自己指定</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地址的方式来访问网络或攻击网络。</a:t>
            </a:r>
          </a:p>
          <a:p>
            <a:pPr marL="285750" indent="-285750">
              <a:lnSpc>
                <a:spcPts val="2400"/>
              </a:lnSpc>
              <a:spcAft>
                <a:spcPts val="800"/>
              </a:spcAft>
              <a:buSzPct val="50000"/>
              <a:buFont typeface="Wingdings" panose="05000000000000000000" pitchFamily="2" charset="2"/>
              <a:buChar char="l"/>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IPSG</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利用绑定表（源</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地址、源</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地址、所属</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、入接口的绑定关系）去匹配检查二层接口上收到的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报文，只有匹配绑定表的报文才允许通过，其他报文将被丢弃。</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 name="Straight Connector 167"/>
          <p:cNvCxnSpPr>
            <a:stCxn id="8" idx="2"/>
            <a:endCxn id="9" idx="0"/>
          </p:cNvCxnSpPr>
          <p:nvPr/>
        </p:nvCxnSpPr>
        <p:spPr bwMode="gray">
          <a:xfrm>
            <a:off x="1846452" y="1984581"/>
            <a:ext cx="0" cy="858989"/>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nvGrpSpPr>
          <p:cNvPr id="5" name="Group 165"/>
          <p:cNvGrpSpPr/>
          <p:nvPr/>
        </p:nvGrpSpPr>
        <p:grpSpPr bwMode="gray">
          <a:xfrm rot="10800000">
            <a:off x="1001528" y="2994643"/>
            <a:ext cx="1689846" cy="867073"/>
            <a:chOff x="-1233037" y="914446"/>
            <a:chExt cx="1573823" cy="778776"/>
          </a:xfrm>
        </p:grpSpPr>
        <p:cxnSp>
          <p:nvCxnSpPr>
            <p:cNvPr id="6" name="Straight Connector 166"/>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167"/>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pic>
        <p:nvPicPr>
          <p:cNvPr id="8" name="图片 87" descr="汇聚交换机.png"/>
          <p:cNvPicPr>
            <a:picLocks noChangeAspect="1"/>
          </p:cNvPicPr>
          <p:nvPr/>
        </p:nvPicPr>
        <p:blipFill>
          <a:blip r:embed="rId3" cstate="print"/>
          <a:stretch>
            <a:fillRect/>
          </a:stretch>
        </p:blipFill>
        <p:spPr bwMode="gray">
          <a:xfrm>
            <a:off x="1600997" y="1582928"/>
            <a:ext cx="490909" cy="401653"/>
          </a:xfrm>
          <a:prstGeom prst="rect">
            <a:avLst/>
          </a:prstGeom>
        </p:spPr>
      </p:pic>
      <p:pic>
        <p:nvPicPr>
          <p:cNvPr id="9" name="图片 76" descr="接入交换机.png"/>
          <p:cNvPicPr>
            <a:picLocks noChangeAspect="1"/>
          </p:cNvPicPr>
          <p:nvPr/>
        </p:nvPicPr>
        <p:blipFill>
          <a:blip r:embed="rId4" cstate="print"/>
          <a:stretch>
            <a:fillRect/>
          </a:stretch>
        </p:blipFill>
        <p:spPr bwMode="gray">
          <a:xfrm>
            <a:off x="1600997" y="2843570"/>
            <a:ext cx="490909" cy="401653"/>
          </a:xfrm>
          <a:prstGeom prst="rect">
            <a:avLst/>
          </a:prstGeom>
        </p:spPr>
      </p:pic>
      <p:pic>
        <p:nvPicPr>
          <p:cNvPr id="10" name="图片 14" descr="日志告警服务器-蓝.png"/>
          <p:cNvPicPr>
            <a:picLocks noChangeAspect="1"/>
          </p:cNvPicPr>
          <p:nvPr/>
        </p:nvPicPr>
        <p:blipFill>
          <a:blip r:embed="rId5" cstate="print"/>
          <a:stretch>
            <a:fillRect/>
          </a:stretch>
        </p:blipFill>
        <p:spPr bwMode="gray">
          <a:xfrm>
            <a:off x="810253" y="3849169"/>
            <a:ext cx="490552" cy="306312"/>
          </a:xfrm>
          <a:prstGeom prst="rect">
            <a:avLst/>
          </a:prstGeom>
        </p:spPr>
      </p:pic>
      <p:grpSp>
        <p:nvGrpSpPr>
          <p:cNvPr id="11" name="组合 10"/>
          <p:cNvGrpSpPr/>
          <p:nvPr/>
        </p:nvGrpSpPr>
        <p:grpSpPr bwMode="gray">
          <a:xfrm>
            <a:off x="2455421" y="5098938"/>
            <a:ext cx="445956" cy="377619"/>
            <a:chOff x="2557450" y="4936459"/>
            <a:chExt cx="445956" cy="343290"/>
          </a:xfrm>
        </p:grpSpPr>
        <p:pic>
          <p:nvPicPr>
            <p:cNvPr id="12" name="图片 11" descr="开放网络-蓝.png"/>
            <p:cNvPicPr>
              <a:picLocks noChangeAspect="1"/>
            </p:cNvPicPr>
            <p:nvPr/>
          </p:nvPicPr>
          <p:blipFill>
            <a:blip r:embed="rId6" cstate="print"/>
            <a:stretch>
              <a:fillRect/>
            </a:stretch>
          </p:blipFill>
          <p:spPr bwMode="gray">
            <a:xfrm>
              <a:off x="2557450" y="4936459"/>
              <a:ext cx="445956" cy="343290"/>
            </a:xfrm>
            <a:prstGeom prst="rect">
              <a:avLst/>
            </a:prstGeom>
          </p:spPr>
        </p:pic>
        <p:sp>
          <p:nvSpPr>
            <p:cNvPr id="13" name="矩形 12"/>
            <p:cNvSpPr/>
            <p:nvPr/>
          </p:nvSpPr>
          <p:spPr bwMode="gray">
            <a:xfrm>
              <a:off x="2591651" y="4996057"/>
              <a:ext cx="262770" cy="2026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4" name="文本框 13"/>
          <p:cNvSpPr txBox="1"/>
          <p:nvPr/>
        </p:nvSpPr>
        <p:spPr bwMode="gray">
          <a:xfrm>
            <a:off x="2005779" y="5485990"/>
            <a:ext cx="1345240" cy="646331"/>
          </a:xfrm>
          <a:prstGeom prst="rect">
            <a:avLst/>
          </a:prstGeom>
          <a:noFill/>
        </p:spPr>
        <p:txBody>
          <a:bodyPr wrap="none" rtlCol="0">
            <a:spAutoFit/>
          </a:bodyPr>
          <a:lstStyle/>
          <a:p>
            <a:pPr algn="ct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合法终端</a:t>
            </a: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1</a:t>
            </a:r>
          </a:p>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1.1.1.2/24</a:t>
            </a:r>
          </a:p>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0000-0000-2222</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文本框 14"/>
          <p:cNvSpPr txBox="1"/>
          <p:nvPr/>
        </p:nvSpPr>
        <p:spPr bwMode="gray">
          <a:xfrm>
            <a:off x="2015397" y="4174357"/>
            <a:ext cx="1326004" cy="646331"/>
          </a:xfrm>
          <a:prstGeom prst="rect">
            <a:avLst/>
          </a:prstGeom>
          <a:noFill/>
        </p:spPr>
        <p:txBody>
          <a:bodyPr wrap="none" rtlCol="0">
            <a:spAutoFit/>
          </a:bodyPr>
          <a:lstStyle/>
          <a:p>
            <a:pPr algn="ct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非法终端</a:t>
            </a:r>
            <a:endParaRPr lang="en-US" altLang="zh-CN" sz="120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1.1.1.2/24</a:t>
            </a:r>
          </a:p>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0000-0000-FFFF</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椭圆 15"/>
          <p:cNvSpPr>
            <a:spLocks noChangeAspect="1"/>
          </p:cNvSpPr>
          <p:nvPr/>
        </p:nvSpPr>
        <p:spPr bwMode="gray">
          <a:xfrm>
            <a:off x="3368366" y="5382827"/>
            <a:ext cx="252000" cy="252000"/>
          </a:xfrm>
          <a:prstGeom prst="ellipse">
            <a:avLst/>
          </a:prstGeom>
          <a:solidFill>
            <a:srgbClr val="C7000B"/>
          </a:solidFill>
          <a:ln w="1905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a:t>
            </a:r>
            <a:endPar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文本框 16"/>
          <p:cNvSpPr txBox="1"/>
          <p:nvPr/>
        </p:nvSpPr>
        <p:spPr bwMode="gray">
          <a:xfrm>
            <a:off x="3613287" y="5366604"/>
            <a:ext cx="1261884" cy="276999"/>
          </a:xfrm>
          <a:prstGeom prst="rect">
            <a:avLst/>
          </a:prstGeom>
          <a:noFill/>
        </p:spPr>
        <p:txBody>
          <a:bodyPr wrap="none" rtlCol="0">
            <a:spAutoFit/>
          </a:bodyPr>
          <a:lstStyle/>
          <a:p>
            <a:r>
              <a:rPr lang="zh-CN" alt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合法终端关机。</a:t>
            </a:r>
            <a:endPar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椭圆 17"/>
          <p:cNvSpPr>
            <a:spLocks noChangeAspect="1"/>
          </p:cNvSpPr>
          <p:nvPr/>
        </p:nvSpPr>
        <p:spPr bwMode="gray">
          <a:xfrm>
            <a:off x="3368366" y="4106631"/>
            <a:ext cx="252000" cy="252000"/>
          </a:xfrm>
          <a:prstGeom prst="ellipse">
            <a:avLst/>
          </a:prstGeom>
          <a:solidFill>
            <a:srgbClr val="C7000B"/>
          </a:solidFill>
          <a:ln w="1905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2</a:t>
            </a:r>
            <a:endPar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文本框 18"/>
          <p:cNvSpPr txBox="1"/>
          <p:nvPr/>
        </p:nvSpPr>
        <p:spPr bwMode="gray">
          <a:xfrm>
            <a:off x="3613287" y="4001798"/>
            <a:ext cx="1981418" cy="461665"/>
          </a:xfrm>
          <a:prstGeom prst="rect">
            <a:avLst/>
          </a:prstGeom>
          <a:noFill/>
        </p:spPr>
        <p:txBody>
          <a:bodyPr wrap="square" rtlCol="0">
            <a:spAutoFit/>
          </a:bodyPr>
          <a:lstStyle/>
          <a:p>
            <a:pPr algn="just"/>
            <a:r>
              <a:rPr lang="zh-CN" alt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非法终端接入，仿冒合法终端</a:t>
            </a: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，使用其</a:t>
            </a: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地址上网。</a:t>
            </a:r>
            <a:endPar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文本框 19"/>
          <p:cNvSpPr txBox="1"/>
          <p:nvPr/>
        </p:nvSpPr>
        <p:spPr bwMode="gray">
          <a:xfrm>
            <a:off x="2597052" y="1718195"/>
            <a:ext cx="723275" cy="307777"/>
          </a:xfrm>
          <a:prstGeom prst="rect">
            <a:avLst/>
          </a:prstGeom>
          <a:noFill/>
        </p:spPr>
        <p:txBody>
          <a:bodyPr wrap="none" rtlCol="0">
            <a:spAutoFit/>
          </a:bodyPr>
          <a:lstStyle/>
          <a:p>
            <a:pPr algn="just"/>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绑定表</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文本框 20"/>
          <p:cNvSpPr txBox="1"/>
          <p:nvPr/>
        </p:nvSpPr>
        <p:spPr bwMode="gray">
          <a:xfrm>
            <a:off x="896515" y="3067139"/>
            <a:ext cx="756938" cy="276999"/>
          </a:xfrm>
          <a:prstGeom prst="rect">
            <a:avLst/>
          </a:prstGeom>
          <a:noFill/>
        </p:spPr>
        <p:txBody>
          <a:bodyPr wrap="none" rtlCol="0">
            <a:spAutoFit/>
          </a:bodyPr>
          <a:lstStyle/>
          <a:p>
            <a:pPr algn="just"/>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GE0/0/1</a:t>
            </a:r>
          </a:p>
        </p:txBody>
      </p:sp>
      <p:sp>
        <p:nvSpPr>
          <p:cNvPr id="22" name="文本框 21"/>
          <p:cNvSpPr txBox="1"/>
          <p:nvPr/>
        </p:nvSpPr>
        <p:spPr bwMode="gray">
          <a:xfrm>
            <a:off x="2059945" y="3067139"/>
            <a:ext cx="756938" cy="276999"/>
          </a:xfrm>
          <a:prstGeom prst="rect">
            <a:avLst/>
          </a:prstGeom>
          <a:noFill/>
        </p:spPr>
        <p:txBody>
          <a:bodyPr wrap="none" rtlCol="0">
            <a:spAutoFit/>
          </a:bodyPr>
          <a:lstStyle/>
          <a:p>
            <a:pPr algn="just"/>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GE0/0/2</a:t>
            </a:r>
          </a:p>
        </p:txBody>
      </p:sp>
      <p:cxnSp>
        <p:nvCxnSpPr>
          <p:cNvPr id="23" name="直接连接符 22"/>
          <p:cNvCxnSpPr/>
          <p:nvPr/>
        </p:nvCxnSpPr>
        <p:spPr bwMode="gray">
          <a:xfrm>
            <a:off x="2436398" y="3239265"/>
            <a:ext cx="362203" cy="374820"/>
          </a:xfrm>
          <a:prstGeom prst="line">
            <a:avLst/>
          </a:prstGeom>
          <a:ln w="28575">
            <a:solidFill>
              <a:srgbClr val="EC7061"/>
            </a:solidFill>
            <a:headEnd type="triangle"/>
          </a:ln>
        </p:spPr>
        <p:style>
          <a:lnRef idx="1">
            <a:schemeClr val="accent1"/>
          </a:lnRef>
          <a:fillRef idx="0">
            <a:schemeClr val="accent1"/>
          </a:fillRef>
          <a:effectRef idx="0">
            <a:schemeClr val="accent1"/>
          </a:effectRef>
          <a:fontRef idx="minor">
            <a:schemeClr val="tx1"/>
          </a:fontRef>
        </p:style>
      </p:cxnSp>
      <p:sp>
        <p:nvSpPr>
          <p:cNvPr id="24" name="椭圆 23"/>
          <p:cNvSpPr>
            <a:spLocks noChangeAspect="1"/>
          </p:cNvSpPr>
          <p:nvPr/>
        </p:nvSpPr>
        <p:spPr bwMode="gray">
          <a:xfrm>
            <a:off x="2604326" y="3415406"/>
            <a:ext cx="252000" cy="252000"/>
          </a:xfrm>
          <a:prstGeom prst="ellipse">
            <a:avLst/>
          </a:prstGeom>
          <a:solidFill>
            <a:srgbClr val="C7000B"/>
          </a:solidFill>
          <a:ln w="1905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3</a:t>
            </a:r>
            <a:endPar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文本框 24"/>
          <p:cNvSpPr txBox="1"/>
          <p:nvPr/>
        </p:nvSpPr>
        <p:spPr bwMode="gray">
          <a:xfrm>
            <a:off x="2841446" y="3391737"/>
            <a:ext cx="1402783" cy="276999"/>
          </a:xfrm>
          <a:prstGeom prst="rect">
            <a:avLst/>
          </a:prstGeom>
          <a:noFill/>
        </p:spPr>
        <p:txBody>
          <a:bodyPr wrap="square" rtlCol="0">
            <a:spAutoFit/>
          </a:bodyPr>
          <a:lstStyle/>
          <a:p>
            <a:r>
              <a:rPr lang="zh-CN" alt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非法终端发送数据。</a:t>
            </a:r>
            <a:endPar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椭圆 25"/>
          <p:cNvSpPr>
            <a:spLocks noChangeAspect="1"/>
          </p:cNvSpPr>
          <p:nvPr/>
        </p:nvSpPr>
        <p:spPr bwMode="gray">
          <a:xfrm>
            <a:off x="2643866" y="1437312"/>
            <a:ext cx="252000" cy="252000"/>
          </a:xfrm>
          <a:prstGeom prst="ellipse">
            <a:avLst/>
          </a:prstGeom>
          <a:solidFill>
            <a:srgbClr val="C7000B"/>
          </a:solidFill>
          <a:ln w="1905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4</a:t>
            </a:r>
            <a:endPar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文本框 26"/>
          <p:cNvSpPr txBox="1"/>
          <p:nvPr/>
        </p:nvSpPr>
        <p:spPr bwMode="gray">
          <a:xfrm>
            <a:off x="2927376" y="1418193"/>
            <a:ext cx="3032892" cy="276999"/>
          </a:xfrm>
          <a:prstGeom prst="rect">
            <a:avLst/>
          </a:prstGeom>
          <a:noFill/>
        </p:spPr>
        <p:txBody>
          <a:bodyPr wrap="square" rtlCol="0">
            <a:spAutoFit/>
          </a:bodyPr>
          <a:lstStyle/>
          <a:p>
            <a:pPr algn="just"/>
            <a:r>
              <a:rPr lang="zh-CN" alt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交换机匹配绑定表，识别并丢弃非法流量。</a:t>
            </a:r>
            <a:endPar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28" name="表格 27"/>
          <p:cNvGraphicFramePr>
            <a:graphicFrameLocks noGrp="1"/>
          </p:cNvGraphicFramePr>
          <p:nvPr>
            <p:extLst>
              <p:ext uri="{D42A27DB-BD31-4B8C-83A1-F6EECF244321}">
                <p14:modId xmlns:p14="http://schemas.microsoft.com/office/powerpoint/2010/main" val="604530390"/>
              </p:ext>
            </p:extLst>
          </p:nvPr>
        </p:nvGraphicFramePr>
        <p:xfrm>
          <a:off x="2617499" y="2039105"/>
          <a:ext cx="3564000" cy="822960"/>
        </p:xfrm>
        <a:graphic>
          <a:graphicData uri="http://schemas.openxmlformats.org/drawingml/2006/table">
            <a:tbl>
              <a:tblPr firstRow="1" bandRow="1">
                <a:tableStyleId>{5940675A-B579-460E-94D1-54222C63F5DA}</a:tableStyleId>
              </a:tblPr>
              <a:tblGrid>
                <a:gridCol w="792000">
                  <a:extLst>
                    <a:ext uri="{9D8B030D-6E8A-4147-A177-3AD203B41FA5}">
                      <a16:colId xmlns:a16="http://schemas.microsoft.com/office/drawing/2014/main" val="20000"/>
                    </a:ext>
                  </a:extLst>
                </a:gridCol>
                <a:gridCol w="1368000">
                  <a:extLst>
                    <a:ext uri="{9D8B030D-6E8A-4147-A177-3AD203B41FA5}">
                      <a16:colId xmlns:a16="http://schemas.microsoft.com/office/drawing/2014/main" val="20001"/>
                    </a:ext>
                  </a:extLst>
                </a:gridCol>
                <a:gridCol w="612000">
                  <a:extLst>
                    <a:ext uri="{9D8B030D-6E8A-4147-A177-3AD203B41FA5}">
                      <a16:colId xmlns:a16="http://schemas.microsoft.com/office/drawing/2014/main" val="20002"/>
                    </a:ext>
                  </a:extLst>
                </a:gridCol>
                <a:gridCol w="792000">
                  <a:extLst>
                    <a:ext uri="{9D8B030D-6E8A-4147-A177-3AD203B41FA5}">
                      <a16:colId xmlns:a16="http://schemas.microsoft.com/office/drawing/2014/main" val="20003"/>
                    </a:ext>
                  </a:extLst>
                </a:gridCol>
              </a:tblGrid>
              <a:tr h="0">
                <a:tc>
                  <a:txBody>
                    <a:bodyPr/>
                    <a:lstStyle/>
                    <a:p>
                      <a:pPr algn="ctr"/>
                      <a:r>
                        <a:rPr lang="en-US" altLang="zh-CN"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地址</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地址</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VLAN</a:t>
                      </a:r>
                      <a:endPar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2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接口</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0">
                <a:tc>
                  <a:txBody>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1.1.1.1</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0000-0000-1111</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10</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1.1.1.2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0000-0000-2222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10</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pSp>
        <p:nvGrpSpPr>
          <p:cNvPr id="29" name="组合 168"/>
          <p:cNvGrpSpPr>
            <a:grpSpLocks noChangeAspect="1"/>
          </p:cNvGrpSpPr>
          <p:nvPr/>
        </p:nvGrpSpPr>
        <p:grpSpPr bwMode="gray">
          <a:xfrm>
            <a:off x="2433871" y="3676693"/>
            <a:ext cx="540000" cy="540000"/>
            <a:chOff x="5336418" y="696349"/>
            <a:chExt cx="842890" cy="844091"/>
          </a:xfrm>
        </p:grpSpPr>
        <p:sp>
          <p:nvSpPr>
            <p:cNvPr id="30" name="Freeform 38"/>
            <p:cNvSpPr>
              <a:spLocks/>
            </p:cNvSpPr>
            <p:nvPr/>
          </p:nvSpPr>
          <p:spPr bwMode="gray">
            <a:xfrm>
              <a:off x="5336418" y="696349"/>
              <a:ext cx="842890" cy="844091"/>
            </a:xfrm>
            <a:custGeom>
              <a:avLst/>
              <a:gdLst>
                <a:gd name="T0" fmla="*/ 2147483647 w 2659"/>
                <a:gd name="T1" fmla="*/ 2147483647 h 2659"/>
                <a:gd name="T2" fmla="*/ 2147483647 w 2659"/>
                <a:gd name="T3" fmla="*/ 2147483647 h 2659"/>
                <a:gd name="T4" fmla="*/ 2147483647 w 2659"/>
                <a:gd name="T5" fmla="*/ 2147483647 h 2659"/>
                <a:gd name="T6" fmla="*/ 0 w 2659"/>
                <a:gd name="T7" fmla="*/ 2147483647 h 2659"/>
                <a:gd name="T8" fmla="*/ 2147483647 w 2659"/>
                <a:gd name="T9" fmla="*/ 0 h 2659"/>
                <a:gd name="T10" fmla="*/ 2147483647 w 2659"/>
                <a:gd name="T11" fmla="*/ 2147483647 h 2659"/>
                <a:gd name="T12" fmla="*/ 0 60000 65536"/>
                <a:gd name="T13" fmla="*/ 0 60000 65536"/>
                <a:gd name="T14" fmla="*/ 0 60000 65536"/>
                <a:gd name="T15" fmla="*/ 0 60000 65536"/>
                <a:gd name="T16" fmla="*/ 0 60000 65536"/>
                <a:gd name="T17" fmla="*/ 0 60000 65536"/>
                <a:gd name="T18" fmla="*/ 0 w 2659"/>
                <a:gd name="T19" fmla="*/ 0 h 2659"/>
                <a:gd name="T20" fmla="*/ 2659 w 2659"/>
                <a:gd name="T21" fmla="*/ 2659 h 2659"/>
              </a:gdLst>
              <a:ahLst/>
              <a:cxnLst>
                <a:cxn ang="T12">
                  <a:pos x="T0" y="T1"/>
                </a:cxn>
                <a:cxn ang="T13">
                  <a:pos x="T2" y="T3"/>
                </a:cxn>
                <a:cxn ang="T14">
                  <a:pos x="T4" y="T5"/>
                </a:cxn>
                <a:cxn ang="T15">
                  <a:pos x="T6" y="T7"/>
                </a:cxn>
                <a:cxn ang="T16">
                  <a:pos x="T8" y="T9"/>
                </a:cxn>
                <a:cxn ang="T17">
                  <a:pos x="T10" y="T11"/>
                </a:cxn>
              </a:cxnLst>
              <a:rect l="T18" t="T19" r="T20" b="T21"/>
              <a:pathLst>
                <a:path w="2659" h="2659">
                  <a:moveTo>
                    <a:pt x="2659" y="1330"/>
                  </a:moveTo>
                  <a:lnTo>
                    <a:pt x="2659" y="1330"/>
                  </a:lnTo>
                  <a:cubicBezTo>
                    <a:pt x="2659" y="2064"/>
                    <a:pt x="2064" y="2659"/>
                    <a:pt x="1330" y="2659"/>
                  </a:cubicBezTo>
                  <a:cubicBezTo>
                    <a:pt x="595" y="2659"/>
                    <a:pt x="0" y="2064"/>
                    <a:pt x="0" y="1330"/>
                  </a:cubicBezTo>
                  <a:cubicBezTo>
                    <a:pt x="0" y="595"/>
                    <a:pt x="595" y="0"/>
                    <a:pt x="1330" y="0"/>
                  </a:cubicBezTo>
                  <a:cubicBezTo>
                    <a:pt x="2064" y="0"/>
                    <a:pt x="2659" y="595"/>
                    <a:pt x="2659" y="1330"/>
                  </a:cubicBezTo>
                  <a:close/>
                </a:path>
              </a:pathLst>
            </a:custGeom>
            <a:solidFill>
              <a:schemeClr val="bg1">
                <a:lumMod val="50000"/>
              </a:schemeClr>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1" name="组合 148"/>
            <p:cNvGrpSpPr>
              <a:grpSpLocks/>
            </p:cNvGrpSpPr>
            <p:nvPr/>
          </p:nvGrpSpPr>
          <p:grpSpPr bwMode="gray">
            <a:xfrm>
              <a:off x="5491163" y="787400"/>
              <a:ext cx="533400" cy="661988"/>
              <a:chOff x="5491163" y="787400"/>
              <a:chExt cx="533400" cy="661988"/>
            </a:xfrm>
          </p:grpSpPr>
          <p:sp>
            <p:nvSpPr>
              <p:cNvPr id="32" name="Freeform 39"/>
              <p:cNvSpPr>
                <a:spLocks/>
              </p:cNvSpPr>
              <p:nvPr/>
            </p:nvSpPr>
            <p:spPr bwMode="gray">
              <a:xfrm>
                <a:off x="5664200" y="1022350"/>
                <a:ext cx="93663" cy="49213"/>
              </a:xfrm>
              <a:custGeom>
                <a:avLst/>
                <a:gdLst>
                  <a:gd name="T0" fmla="*/ 2147483647 w 223"/>
                  <a:gd name="T1" fmla="*/ 2147483647 h 120"/>
                  <a:gd name="T2" fmla="*/ 2147483647 w 223"/>
                  <a:gd name="T3" fmla="*/ 2147483647 h 120"/>
                  <a:gd name="T4" fmla="*/ 2147483647 w 223"/>
                  <a:gd name="T5" fmla="*/ 2147483647 h 120"/>
                  <a:gd name="T6" fmla="*/ 0 w 223"/>
                  <a:gd name="T7" fmla="*/ 0 h 120"/>
                  <a:gd name="T8" fmla="*/ 2147483647 w 223"/>
                  <a:gd name="T9" fmla="*/ 2147483647 h 120"/>
                  <a:gd name="T10" fmla="*/ 0 60000 65536"/>
                  <a:gd name="T11" fmla="*/ 0 60000 65536"/>
                  <a:gd name="T12" fmla="*/ 0 60000 65536"/>
                  <a:gd name="T13" fmla="*/ 0 60000 65536"/>
                  <a:gd name="T14" fmla="*/ 0 60000 65536"/>
                  <a:gd name="T15" fmla="*/ 0 w 223"/>
                  <a:gd name="T16" fmla="*/ 0 h 120"/>
                  <a:gd name="T17" fmla="*/ 223 w 223"/>
                  <a:gd name="T18" fmla="*/ 120 h 120"/>
                </a:gdLst>
                <a:ahLst/>
                <a:cxnLst>
                  <a:cxn ang="T10">
                    <a:pos x="T0" y="T1"/>
                  </a:cxn>
                  <a:cxn ang="T11">
                    <a:pos x="T2" y="T3"/>
                  </a:cxn>
                  <a:cxn ang="T12">
                    <a:pos x="T4" y="T5"/>
                  </a:cxn>
                  <a:cxn ang="T13">
                    <a:pos x="T6" y="T7"/>
                  </a:cxn>
                  <a:cxn ang="T14">
                    <a:pos x="T8" y="T9"/>
                  </a:cxn>
                </a:cxnLst>
                <a:rect l="T15" t="T16" r="T17" b="T18"/>
                <a:pathLst>
                  <a:path w="223" h="120">
                    <a:moveTo>
                      <a:pt x="91" y="106"/>
                    </a:moveTo>
                    <a:lnTo>
                      <a:pt x="91" y="106"/>
                    </a:lnTo>
                    <a:cubicBezTo>
                      <a:pt x="142" y="120"/>
                      <a:pt x="193" y="100"/>
                      <a:pt x="223" y="60"/>
                    </a:cubicBezTo>
                    <a:lnTo>
                      <a:pt x="0" y="0"/>
                    </a:lnTo>
                    <a:cubicBezTo>
                      <a:pt x="5" y="49"/>
                      <a:pt x="40" y="93"/>
                      <a:pt x="91" y="106"/>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Freeform 40"/>
              <p:cNvSpPr>
                <a:spLocks/>
              </p:cNvSpPr>
              <p:nvPr/>
            </p:nvSpPr>
            <p:spPr bwMode="gray">
              <a:xfrm>
                <a:off x="5757863" y="1022350"/>
                <a:ext cx="93663" cy="49213"/>
              </a:xfrm>
              <a:custGeom>
                <a:avLst/>
                <a:gdLst>
                  <a:gd name="T0" fmla="*/ 0 w 223"/>
                  <a:gd name="T1" fmla="*/ 2147483647 h 120"/>
                  <a:gd name="T2" fmla="*/ 0 w 223"/>
                  <a:gd name="T3" fmla="*/ 2147483647 h 120"/>
                  <a:gd name="T4" fmla="*/ 2147483647 w 223"/>
                  <a:gd name="T5" fmla="*/ 2147483647 h 120"/>
                  <a:gd name="T6" fmla="*/ 2147483647 w 223"/>
                  <a:gd name="T7" fmla="*/ 0 h 120"/>
                  <a:gd name="T8" fmla="*/ 0 w 223"/>
                  <a:gd name="T9" fmla="*/ 2147483647 h 120"/>
                  <a:gd name="T10" fmla="*/ 0 60000 65536"/>
                  <a:gd name="T11" fmla="*/ 0 60000 65536"/>
                  <a:gd name="T12" fmla="*/ 0 60000 65536"/>
                  <a:gd name="T13" fmla="*/ 0 60000 65536"/>
                  <a:gd name="T14" fmla="*/ 0 60000 65536"/>
                  <a:gd name="T15" fmla="*/ 0 w 223"/>
                  <a:gd name="T16" fmla="*/ 0 h 120"/>
                  <a:gd name="T17" fmla="*/ 223 w 223"/>
                  <a:gd name="T18" fmla="*/ 120 h 120"/>
                </a:gdLst>
                <a:ahLst/>
                <a:cxnLst>
                  <a:cxn ang="T10">
                    <a:pos x="T0" y="T1"/>
                  </a:cxn>
                  <a:cxn ang="T11">
                    <a:pos x="T2" y="T3"/>
                  </a:cxn>
                  <a:cxn ang="T12">
                    <a:pos x="T4" y="T5"/>
                  </a:cxn>
                  <a:cxn ang="T13">
                    <a:pos x="T6" y="T7"/>
                  </a:cxn>
                  <a:cxn ang="T14">
                    <a:pos x="T8" y="T9"/>
                  </a:cxn>
                </a:cxnLst>
                <a:rect l="T15" t="T16" r="T17" b="T18"/>
                <a:pathLst>
                  <a:path w="223" h="120">
                    <a:moveTo>
                      <a:pt x="0" y="60"/>
                    </a:moveTo>
                    <a:lnTo>
                      <a:pt x="0" y="60"/>
                    </a:lnTo>
                    <a:cubicBezTo>
                      <a:pt x="29" y="100"/>
                      <a:pt x="81" y="120"/>
                      <a:pt x="132" y="106"/>
                    </a:cubicBezTo>
                    <a:cubicBezTo>
                      <a:pt x="182" y="93"/>
                      <a:pt x="217" y="49"/>
                      <a:pt x="223" y="0"/>
                    </a:cubicBezTo>
                    <a:lnTo>
                      <a:pt x="0" y="6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Freeform 41"/>
              <p:cNvSpPr>
                <a:spLocks noEditPoints="1"/>
              </p:cNvSpPr>
              <p:nvPr/>
            </p:nvSpPr>
            <p:spPr bwMode="gray">
              <a:xfrm>
                <a:off x="5491163" y="787400"/>
                <a:ext cx="533400" cy="661988"/>
              </a:xfrm>
              <a:custGeom>
                <a:avLst/>
                <a:gdLst>
                  <a:gd name="T0" fmla="*/ 2147483647 w 1270"/>
                  <a:gd name="T1" fmla="*/ 2147483647 h 1576"/>
                  <a:gd name="T2" fmla="*/ 2147483647 w 1270"/>
                  <a:gd name="T3" fmla="*/ 2147483647 h 1576"/>
                  <a:gd name="T4" fmla="*/ 2147483647 w 1270"/>
                  <a:gd name="T5" fmla="*/ 2147483647 h 1576"/>
                  <a:gd name="T6" fmla="*/ 2147483647 w 1270"/>
                  <a:gd name="T7" fmla="*/ 2147483647 h 1576"/>
                  <a:gd name="T8" fmla="*/ 2147483647 w 1270"/>
                  <a:gd name="T9" fmla="*/ 2147483647 h 1576"/>
                  <a:gd name="T10" fmla="*/ 2147483647 w 1270"/>
                  <a:gd name="T11" fmla="*/ 2147483647 h 1576"/>
                  <a:gd name="T12" fmla="*/ 2147483647 w 1270"/>
                  <a:gd name="T13" fmla="*/ 2147483647 h 1576"/>
                  <a:gd name="T14" fmla="*/ 2147483647 w 1270"/>
                  <a:gd name="T15" fmla="*/ 2147483647 h 1576"/>
                  <a:gd name="T16" fmla="*/ 2147483647 w 1270"/>
                  <a:gd name="T17" fmla="*/ 2147483647 h 1576"/>
                  <a:gd name="T18" fmla="*/ 2147483647 w 1270"/>
                  <a:gd name="T19" fmla="*/ 2147483647 h 1576"/>
                  <a:gd name="T20" fmla="*/ 2147483647 w 1270"/>
                  <a:gd name="T21" fmla="*/ 2147483647 h 1576"/>
                  <a:gd name="T22" fmla="*/ 2147483647 w 1270"/>
                  <a:gd name="T23" fmla="*/ 2147483647 h 1576"/>
                  <a:gd name="T24" fmla="*/ 2147483647 w 1270"/>
                  <a:gd name="T25" fmla="*/ 2147483647 h 1576"/>
                  <a:gd name="T26" fmla="*/ 2147483647 w 1270"/>
                  <a:gd name="T27" fmla="*/ 2147483647 h 1576"/>
                  <a:gd name="T28" fmla="*/ 2147483647 w 1270"/>
                  <a:gd name="T29" fmla="*/ 2147483647 h 1576"/>
                  <a:gd name="T30" fmla="*/ 2147483647 w 1270"/>
                  <a:gd name="T31" fmla="*/ 2147483647 h 1576"/>
                  <a:gd name="T32" fmla="*/ 2147483647 w 1270"/>
                  <a:gd name="T33" fmla="*/ 2147483647 h 1576"/>
                  <a:gd name="T34" fmla="*/ 2147483647 w 1270"/>
                  <a:gd name="T35" fmla="*/ 2147483647 h 1576"/>
                  <a:gd name="T36" fmla="*/ 2147483647 w 1270"/>
                  <a:gd name="T37" fmla="*/ 2147483647 h 1576"/>
                  <a:gd name="T38" fmla="*/ 2147483647 w 1270"/>
                  <a:gd name="T39" fmla="*/ 2147483647 h 1576"/>
                  <a:gd name="T40" fmla="*/ 2147483647 w 1270"/>
                  <a:gd name="T41" fmla="*/ 2147483647 h 1576"/>
                  <a:gd name="T42" fmla="*/ 2147483647 w 1270"/>
                  <a:gd name="T43" fmla="*/ 2147483647 h 1576"/>
                  <a:gd name="T44" fmla="*/ 2147483647 w 1270"/>
                  <a:gd name="T45" fmla="*/ 2147483647 h 1576"/>
                  <a:gd name="T46" fmla="*/ 2147483647 w 1270"/>
                  <a:gd name="T47" fmla="*/ 2147483647 h 1576"/>
                  <a:gd name="T48" fmla="*/ 2147483647 w 1270"/>
                  <a:gd name="T49" fmla="*/ 2147483647 h 1576"/>
                  <a:gd name="T50" fmla="*/ 2147483647 w 1270"/>
                  <a:gd name="T51" fmla="*/ 2147483647 h 1576"/>
                  <a:gd name="T52" fmla="*/ 0 w 1270"/>
                  <a:gd name="T53" fmla="*/ 2147483647 h 1576"/>
                  <a:gd name="T54" fmla="*/ 2147483647 w 1270"/>
                  <a:gd name="T55" fmla="*/ 2147483647 h 1576"/>
                  <a:gd name="T56" fmla="*/ 2147483647 w 1270"/>
                  <a:gd name="T57" fmla="*/ 2147483647 h 1576"/>
                  <a:gd name="T58" fmla="*/ 2147483647 w 1270"/>
                  <a:gd name="T59" fmla="*/ 2147483647 h 1576"/>
                  <a:gd name="T60" fmla="*/ 2147483647 w 1270"/>
                  <a:gd name="T61" fmla="*/ 2147483647 h 1576"/>
                  <a:gd name="T62" fmla="*/ 2147483647 w 1270"/>
                  <a:gd name="T63" fmla="*/ 2147483647 h 1576"/>
                  <a:gd name="T64" fmla="*/ 2147483647 w 1270"/>
                  <a:gd name="T65" fmla="*/ 2147483647 h 1576"/>
                  <a:gd name="T66" fmla="*/ 2147483647 w 1270"/>
                  <a:gd name="T67" fmla="*/ 2147483647 h 1576"/>
                  <a:gd name="T68" fmla="*/ 2147483647 w 1270"/>
                  <a:gd name="T69" fmla="*/ 2147483647 h 157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270"/>
                  <a:gd name="T106" fmla="*/ 0 h 1576"/>
                  <a:gd name="T107" fmla="*/ 1270 w 1270"/>
                  <a:gd name="T108" fmla="*/ 1576 h 157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270" h="1576">
                    <a:moveTo>
                      <a:pt x="122" y="1257"/>
                    </a:moveTo>
                    <a:lnTo>
                      <a:pt x="122" y="1257"/>
                    </a:lnTo>
                    <a:cubicBezTo>
                      <a:pt x="149" y="1200"/>
                      <a:pt x="186" y="1149"/>
                      <a:pt x="229" y="1105"/>
                    </a:cubicBezTo>
                    <a:lnTo>
                      <a:pt x="1040" y="1105"/>
                    </a:lnTo>
                    <a:cubicBezTo>
                      <a:pt x="1084" y="1149"/>
                      <a:pt x="1120" y="1200"/>
                      <a:pt x="1147" y="1257"/>
                    </a:cubicBezTo>
                    <a:lnTo>
                      <a:pt x="122" y="1257"/>
                    </a:lnTo>
                    <a:close/>
                    <a:moveTo>
                      <a:pt x="962" y="1038"/>
                    </a:moveTo>
                    <a:lnTo>
                      <a:pt x="962" y="1038"/>
                    </a:lnTo>
                    <a:lnTo>
                      <a:pt x="307" y="1038"/>
                    </a:lnTo>
                    <a:cubicBezTo>
                      <a:pt x="400" y="972"/>
                      <a:pt x="513" y="934"/>
                      <a:pt x="635" y="934"/>
                    </a:cubicBezTo>
                    <a:cubicBezTo>
                      <a:pt x="757" y="934"/>
                      <a:pt x="870" y="972"/>
                      <a:pt x="962" y="1038"/>
                    </a:cubicBezTo>
                    <a:close/>
                    <a:moveTo>
                      <a:pt x="335" y="567"/>
                    </a:moveTo>
                    <a:lnTo>
                      <a:pt x="335" y="567"/>
                    </a:lnTo>
                    <a:cubicBezTo>
                      <a:pt x="335" y="556"/>
                      <a:pt x="335" y="545"/>
                      <a:pt x="337" y="533"/>
                    </a:cubicBezTo>
                    <a:cubicBezTo>
                      <a:pt x="423" y="543"/>
                      <a:pt x="526" y="548"/>
                      <a:pt x="635" y="548"/>
                    </a:cubicBezTo>
                    <a:cubicBezTo>
                      <a:pt x="743" y="548"/>
                      <a:pt x="847" y="543"/>
                      <a:pt x="933" y="533"/>
                    </a:cubicBezTo>
                    <a:cubicBezTo>
                      <a:pt x="934" y="545"/>
                      <a:pt x="935" y="556"/>
                      <a:pt x="935" y="567"/>
                    </a:cubicBezTo>
                    <a:cubicBezTo>
                      <a:pt x="935" y="733"/>
                      <a:pt x="800" y="867"/>
                      <a:pt x="635" y="867"/>
                    </a:cubicBezTo>
                    <a:cubicBezTo>
                      <a:pt x="469" y="867"/>
                      <a:pt x="335" y="733"/>
                      <a:pt x="335" y="567"/>
                    </a:cubicBezTo>
                    <a:close/>
                    <a:moveTo>
                      <a:pt x="316" y="418"/>
                    </a:moveTo>
                    <a:lnTo>
                      <a:pt x="316" y="418"/>
                    </a:lnTo>
                    <a:lnTo>
                      <a:pt x="315" y="417"/>
                    </a:lnTo>
                    <a:cubicBezTo>
                      <a:pt x="328" y="416"/>
                      <a:pt x="339" y="407"/>
                      <a:pt x="343" y="394"/>
                    </a:cubicBezTo>
                    <a:lnTo>
                      <a:pt x="441" y="79"/>
                    </a:lnTo>
                    <a:lnTo>
                      <a:pt x="622" y="154"/>
                    </a:lnTo>
                    <a:cubicBezTo>
                      <a:pt x="630" y="158"/>
                      <a:pt x="639" y="158"/>
                      <a:pt x="647" y="154"/>
                    </a:cubicBezTo>
                    <a:lnTo>
                      <a:pt x="828" y="79"/>
                    </a:lnTo>
                    <a:lnTo>
                      <a:pt x="926" y="394"/>
                    </a:lnTo>
                    <a:cubicBezTo>
                      <a:pt x="930" y="407"/>
                      <a:pt x="941" y="416"/>
                      <a:pt x="954" y="417"/>
                    </a:cubicBezTo>
                    <a:lnTo>
                      <a:pt x="954" y="418"/>
                    </a:lnTo>
                    <a:cubicBezTo>
                      <a:pt x="1016" y="426"/>
                      <a:pt x="1053" y="434"/>
                      <a:pt x="1075" y="441"/>
                    </a:cubicBezTo>
                    <a:cubicBezTo>
                      <a:pt x="1014" y="459"/>
                      <a:pt x="867" y="481"/>
                      <a:pt x="635" y="481"/>
                    </a:cubicBezTo>
                    <a:cubicBezTo>
                      <a:pt x="403" y="481"/>
                      <a:pt x="255" y="459"/>
                      <a:pt x="195" y="441"/>
                    </a:cubicBezTo>
                    <a:cubicBezTo>
                      <a:pt x="216" y="434"/>
                      <a:pt x="254" y="426"/>
                      <a:pt x="316" y="418"/>
                    </a:cubicBezTo>
                    <a:close/>
                    <a:moveTo>
                      <a:pt x="1270" y="1502"/>
                    </a:moveTo>
                    <a:lnTo>
                      <a:pt x="1270" y="1502"/>
                    </a:lnTo>
                    <a:cubicBezTo>
                      <a:pt x="1270" y="1212"/>
                      <a:pt x="1073" y="966"/>
                      <a:pt x="807" y="891"/>
                    </a:cubicBezTo>
                    <a:cubicBezTo>
                      <a:pt x="922" y="829"/>
                      <a:pt x="1001" y="707"/>
                      <a:pt x="1001" y="567"/>
                    </a:cubicBezTo>
                    <a:cubicBezTo>
                      <a:pt x="1001" y="553"/>
                      <a:pt x="1001" y="539"/>
                      <a:pt x="999" y="525"/>
                    </a:cubicBezTo>
                    <a:cubicBezTo>
                      <a:pt x="1119" y="506"/>
                      <a:pt x="1166" y="483"/>
                      <a:pt x="1166" y="441"/>
                    </a:cubicBezTo>
                    <a:cubicBezTo>
                      <a:pt x="1166" y="404"/>
                      <a:pt x="1134" y="376"/>
                      <a:pt x="984" y="354"/>
                    </a:cubicBezTo>
                    <a:lnTo>
                      <a:pt x="881" y="24"/>
                    </a:lnTo>
                    <a:cubicBezTo>
                      <a:pt x="878" y="16"/>
                      <a:pt x="872" y="8"/>
                      <a:pt x="863" y="4"/>
                    </a:cubicBezTo>
                    <a:cubicBezTo>
                      <a:pt x="855" y="0"/>
                      <a:pt x="845" y="0"/>
                      <a:pt x="836" y="4"/>
                    </a:cubicBezTo>
                    <a:lnTo>
                      <a:pt x="635" y="88"/>
                    </a:lnTo>
                    <a:lnTo>
                      <a:pt x="433" y="4"/>
                    </a:lnTo>
                    <a:cubicBezTo>
                      <a:pt x="424" y="0"/>
                      <a:pt x="415" y="0"/>
                      <a:pt x="406" y="4"/>
                    </a:cubicBezTo>
                    <a:cubicBezTo>
                      <a:pt x="398" y="8"/>
                      <a:pt x="391" y="16"/>
                      <a:pt x="388" y="24"/>
                    </a:cubicBezTo>
                    <a:lnTo>
                      <a:pt x="286" y="354"/>
                    </a:lnTo>
                    <a:cubicBezTo>
                      <a:pt x="135" y="376"/>
                      <a:pt x="103" y="404"/>
                      <a:pt x="103" y="441"/>
                    </a:cubicBezTo>
                    <a:cubicBezTo>
                      <a:pt x="103" y="483"/>
                      <a:pt x="150" y="506"/>
                      <a:pt x="271" y="525"/>
                    </a:cubicBezTo>
                    <a:cubicBezTo>
                      <a:pt x="269" y="539"/>
                      <a:pt x="268" y="553"/>
                      <a:pt x="268" y="567"/>
                    </a:cubicBezTo>
                    <a:cubicBezTo>
                      <a:pt x="268" y="707"/>
                      <a:pt x="347" y="829"/>
                      <a:pt x="463" y="891"/>
                    </a:cubicBezTo>
                    <a:cubicBezTo>
                      <a:pt x="196" y="966"/>
                      <a:pt x="0" y="1212"/>
                      <a:pt x="0" y="1502"/>
                    </a:cubicBezTo>
                    <a:lnTo>
                      <a:pt x="0" y="1536"/>
                    </a:lnTo>
                    <a:lnTo>
                      <a:pt x="686" y="1536"/>
                    </a:lnTo>
                    <a:cubicBezTo>
                      <a:pt x="696" y="1559"/>
                      <a:pt x="720" y="1576"/>
                      <a:pt x="749" y="1576"/>
                    </a:cubicBezTo>
                    <a:cubicBezTo>
                      <a:pt x="787" y="1576"/>
                      <a:pt x="818" y="1545"/>
                      <a:pt x="818" y="1507"/>
                    </a:cubicBezTo>
                    <a:cubicBezTo>
                      <a:pt x="818" y="1468"/>
                      <a:pt x="787" y="1437"/>
                      <a:pt x="749" y="1437"/>
                    </a:cubicBezTo>
                    <a:cubicBezTo>
                      <a:pt x="724" y="1437"/>
                      <a:pt x="703" y="1450"/>
                      <a:pt x="690" y="1469"/>
                    </a:cubicBezTo>
                    <a:lnTo>
                      <a:pt x="67" y="1469"/>
                    </a:lnTo>
                    <a:cubicBezTo>
                      <a:pt x="70" y="1418"/>
                      <a:pt x="80" y="1370"/>
                      <a:pt x="95" y="1324"/>
                    </a:cubicBezTo>
                    <a:lnTo>
                      <a:pt x="1174" y="1324"/>
                    </a:lnTo>
                    <a:cubicBezTo>
                      <a:pt x="1189" y="1370"/>
                      <a:pt x="1199" y="1418"/>
                      <a:pt x="1202" y="1469"/>
                    </a:cubicBezTo>
                    <a:lnTo>
                      <a:pt x="1020" y="1469"/>
                    </a:lnTo>
                    <a:cubicBezTo>
                      <a:pt x="1007" y="1450"/>
                      <a:pt x="986" y="1437"/>
                      <a:pt x="962" y="1437"/>
                    </a:cubicBezTo>
                    <a:cubicBezTo>
                      <a:pt x="923" y="1437"/>
                      <a:pt x="892" y="1468"/>
                      <a:pt x="892" y="1507"/>
                    </a:cubicBezTo>
                    <a:cubicBezTo>
                      <a:pt x="892" y="1545"/>
                      <a:pt x="923" y="1576"/>
                      <a:pt x="962" y="1576"/>
                    </a:cubicBezTo>
                    <a:cubicBezTo>
                      <a:pt x="989" y="1576"/>
                      <a:pt x="1013" y="1559"/>
                      <a:pt x="1024" y="1536"/>
                    </a:cubicBezTo>
                    <a:lnTo>
                      <a:pt x="1270" y="1536"/>
                    </a:lnTo>
                    <a:lnTo>
                      <a:pt x="1270" y="1502"/>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36" name="五边形 35"/>
          <p:cNvSpPr/>
          <p:nvPr/>
        </p:nvSpPr>
        <p:spPr bwMode="auto">
          <a:xfrm>
            <a:off x="6179960" y="98481"/>
            <a:ext cx="94884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以太网交换</a:t>
            </a:r>
          </a:p>
        </p:txBody>
      </p:sp>
      <p:sp>
        <p:nvSpPr>
          <p:cNvPr id="37" name="燕尾形 36"/>
          <p:cNvSpPr/>
          <p:nvPr/>
        </p:nvSpPr>
        <p:spPr bwMode="auto">
          <a:xfrm>
            <a:off x="7049907" y="98481"/>
            <a:ext cx="678521"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燕尾形 37"/>
          <p:cNvSpPr/>
          <p:nvPr/>
        </p:nvSpPr>
        <p:spPr bwMode="auto">
          <a:xfrm>
            <a:off x="7649535" y="98481"/>
            <a:ext cx="87595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无线接入</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燕尾形 38"/>
          <p:cNvSpPr/>
          <p:nvPr/>
        </p:nvSpPr>
        <p:spPr bwMode="auto">
          <a:xfrm>
            <a:off x="8446601"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可靠性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燕尾形 39"/>
          <p:cNvSpPr/>
          <p:nvPr/>
        </p:nvSpPr>
        <p:spPr bwMode="auto">
          <a:xfrm>
            <a:off x="9148908" y="98481"/>
            <a:ext cx="870489"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网络安全</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燕尾形 40"/>
          <p:cNvSpPr/>
          <p:nvPr/>
        </p:nvSpPr>
        <p:spPr bwMode="auto">
          <a:xfrm>
            <a:off x="9940504" y="98481"/>
            <a:ext cx="130400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网络服务与管理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燕尾形 41"/>
          <p:cNvSpPr/>
          <p:nvPr/>
        </p:nvSpPr>
        <p:spPr bwMode="auto">
          <a:xfrm>
            <a:off x="11165613" y="98481"/>
            <a:ext cx="583475"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出口</a:t>
            </a:r>
          </a:p>
        </p:txBody>
      </p:sp>
    </p:spTree>
    <p:extLst>
      <p:ext uri="{BB962C8B-B14F-4D97-AF65-F5344CB8AC3E}">
        <p14:creationId xmlns:p14="http://schemas.microsoft.com/office/powerpoint/2010/main" val="1352097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sym typeface="Huawei Sans" panose="020C0503030203020204" pitchFamily="34" charset="0"/>
              </a:rPr>
              <a:t>使用</a:t>
            </a:r>
            <a:r>
              <a:rPr lang="en-US" altLang="zh-CN" dirty="0">
                <a:sym typeface="Huawei Sans" panose="020C0503030203020204" pitchFamily="34" charset="0"/>
              </a:rPr>
              <a:t>VRF</a:t>
            </a:r>
            <a:r>
              <a:rPr lang="zh-CN" altLang="en-US" dirty="0">
                <a:sym typeface="Huawei Sans" panose="020C0503030203020204" pitchFamily="34" charset="0"/>
              </a:rPr>
              <a:t>实现虚拟网络隔离</a:t>
            </a:r>
          </a:p>
        </p:txBody>
      </p:sp>
      <p:sp>
        <p:nvSpPr>
          <p:cNvPr id="3" name="圆角矩形 2"/>
          <p:cNvSpPr/>
          <p:nvPr/>
        </p:nvSpPr>
        <p:spPr bwMode="gray">
          <a:xfrm>
            <a:off x="3423493" y="4170649"/>
            <a:ext cx="1368000" cy="1175792"/>
          </a:xfrm>
          <a:prstGeom prst="roundRect">
            <a:avLst>
              <a:gd name="adj" fmla="val 7445"/>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圆角矩形 3"/>
          <p:cNvSpPr/>
          <p:nvPr/>
        </p:nvSpPr>
        <p:spPr bwMode="gray">
          <a:xfrm>
            <a:off x="1932726" y="4170649"/>
            <a:ext cx="1368000" cy="1175792"/>
          </a:xfrm>
          <a:prstGeom prst="roundRect">
            <a:avLst>
              <a:gd name="adj" fmla="val 7445"/>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 name="组合 211"/>
          <p:cNvGrpSpPr/>
          <p:nvPr/>
        </p:nvGrpSpPr>
        <p:grpSpPr bwMode="gray">
          <a:xfrm>
            <a:off x="2358795" y="4429724"/>
            <a:ext cx="515863" cy="256225"/>
            <a:chOff x="5310188" y="1243013"/>
            <a:chExt cx="915988" cy="414338"/>
          </a:xfrm>
          <a:solidFill>
            <a:srgbClr val="7A7B7C"/>
          </a:solidFill>
        </p:grpSpPr>
        <p:sp>
          <p:nvSpPr>
            <p:cNvPr id="6" name="Freeform 106"/>
            <p:cNvSpPr>
              <a:spLocks/>
            </p:cNvSpPr>
            <p:nvPr/>
          </p:nvSpPr>
          <p:spPr bwMode="gray">
            <a:xfrm>
              <a:off x="5310188" y="1243013"/>
              <a:ext cx="915988" cy="414338"/>
            </a:xfrm>
            <a:custGeom>
              <a:avLst/>
              <a:gdLst/>
              <a:ahLst/>
              <a:cxnLst>
                <a:cxn ang="0">
                  <a:pos x="680" y="989"/>
                </a:cxn>
                <a:cxn ang="0">
                  <a:pos x="680" y="989"/>
                </a:cxn>
                <a:cxn ang="0">
                  <a:pos x="453" y="923"/>
                </a:cxn>
                <a:cxn ang="0">
                  <a:pos x="448" y="921"/>
                </a:cxn>
                <a:cxn ang="0">
                  <a:pos x="223" y="748"/>
                </a:cxn>
                <a:cxn ang="0">
                  <a:pos x="221" y="745"/>
                </a:cxn>
                <a:cxn ang="0">
                  <a:pos x="189" y="507"/>
                </a:cxn>
                <a:cxn ang="0">
                  <a:pos x="50" y="395"/>
                </a:cxn>
                <a:cxn ang="0">
                  <a:pos x="43" y="376"/>
                </a:cxn>
                <a:cxn ang="0">
                  <a:pos x="14" y="188"/>
                </a:cxn>
                <a:cxn ang="0">
                  <a:pos x="297" y="65"/>
                </a:cxn>
                <a:cxn ang="0">
                  <a:pos x="1609" y="5"/>
                </a:cxn>
                <a:cxn ang="0">
                  <a:pos x="1900" y="18"/>
                </a:cxn>
                <a:cxn ang="0">
                  <a:pos x="1953" y="25"/>
                </a:cxn>
                <a:cxn ang="0">
                  <a:pos x="2168" y="213"/>
                </a:cxn>
                <a:cxn ang="0">
                  <a:pos x="2135" y="394"/>
                </a:cxn>
                <a:cxn ang="0">
                  <a:pos x="2100" y="409"/>
                </a:cxn>
                <a:cxn ang="0">
                  <a:pos x="2100" y="472"/>
                </a:cxn>
                <a:cxn ang="0">
                  <a:pos x="1997" y="599"/>
                </a:cxn>
                <a:cxn ang="0">
                  <a:pos x="1814" y="656"/>
                </a:cxn>
                <a:cxn ang="0">
                  <a:pos x="1773" y="634"/>
                </a:cxn>
                <a:cxn ang="0">
                  <a:pos x="1795" y="592"/>
                </a:cxn>
                <a:cxn ang="0">
                  <a:pos x="1975" y="536"/>
                </a:cxn>
                <a:cxn ang="0">
                  <a:pos x="2033" y="472"/>
                </a:cxn>
                <a:cxn ang="0">
                  <a:pos x="2033" y="384"/>
                </a:cxn>
                <a:cxn ang="0">
                  <a:pos x="2060" y="351"/>
                </a:cxn>
                <a:cxn ang="0">
                  <a:pos x="2098" y="339"/>
                </a:cxn>
                <a:cxn ang="0">
                  <a:pos x="2102" y="224"/>
                </a:cxn>
                <a:cxn ang="0">
                  <a:pos x="1944" y="91"/>
                </a:cxn>
                <a:cxn ang="0">
                  <a:pos x="1892" y="84"/>
                </a:cxn>
                <a:cxn ang="0">
                  <a:pos x="1611" y="72"/>
                </a:cxn>
                <a:cxn ang="0">
                  <a:pos x="302" y="131"/>
                </a:cxn>
                <a:cxn ang="0">
                  <a:pos x="79" y="200"/>
                </a:cxn>
                <a:cxn ang="0">
                  <a:pos x="105" y="351"/>
                </a:cxn>
                <a:cxn ang="0">
                  <a:pos x="113" y="372"/>
                </a:cxn>
                <a:cxn ang="0">
                  <a:pos x="217" y="439"/>
                </a:cxn>
                <a:cxn ang="0">
                  <a:pos x="243" y="447"/>
                </a:cxn>
                <a:cxn ang="0">
                  <a:pos x="255" y="471"/>
                </a:cxn>
                <a:cxn ang="0">
                  <a:pos x="281" y="714"/>
                </a:cxn>
                <a:cxn ang="0">
                  <a:pos x="282" y="717"/>
                </a:cxn>
                <a:cxn ang="0">
                  <a:pos x="471" y="859"/>
                </a:cxn>
                <a:cxn ang="0">
                  <a:pos x="477" y="861"/>
                </a:cxn>
                <a:cxn ang="0">
                  <a:pos x="717" y="917"/>
                </a:cxn>
                <a:cxn ang="0">
                  <a:pos x="1620" y="645"/>
                </a:cxn>
                <a:cxn ang="0">
                  <a:pos x="1662" y="668"/>
                </a:cxn>
                <a:cxn ang="0">
                  <a:pos x="1639" y="709"/>
                </a:cxn>
                <a:cxn ang="0">
                  <a:pos x="733" y="982"/>
                </a:cxn>
                <a:cxn ang="0">
                  <a:pos x="680" y="989"/>
                </a:cxn>
              </a:cxnLst>
              <a:rect l="0" t="0" r="r" b="b"/>
              <a:pathLst>
                <a:path w="2184" h="989">
                  <a:moveTo>
                    <a:pt x="680" y="989"/>
                  </a:moveTo>
                  <a:lnTo>
                    <a:pt x="680" y="989"/>
                  </a:lnTo>
                  <a:cubicBezTo>
                    <a:pt x="627" y="989"/>
                    <a:pt x="571" y="968"/>
                    <a:pt x="453" y="923"/>
                  </a:cubicBezTo>
                  <a:lnTo>
                    <a:pt x="448" y="921"/>
                  </a:lnTo>
                  <a:cubicBezTo>
                    <a:pt x="280" y="858"/>
                    <a:pt x="251" y="802"/>
                    <a:pt x="223" y="748"/>
                  </a:cubicBezTo>
                  <a:lnTo>
                    <a:pt x="221" y="745"/>
                  </a:lnTo>
                  <a:cubicBezTo>
                    <a:pt x="198" y="699"/>
                    <a:pt x="191" y="573"/>
                    <a:pt x="189" y="507"/>
                  </a:cubicBezTo>
                  <a:cubicBezTo>
                    <a:pt x="93" y="506"/>
                    <a:pt x="70" y="448"/>
                    <a:pt x="50" y="395"/>
                  </a:cubicBezTo>
                  <a:cubicBezTo>
                    <a:pt x="48" y="389"/>
                    <a:pt x="45" y="382"/>
                    <a:pt x="43" y="376"/>
                  </a:cubicBezTo>
                  <a:cubicBezTo>
                    <a:pt x="23" y="324"/>
                    <a:pt x="0" y="266"/>
                    <a:pt x="14" y="188"/>
                  </a:cubicBezTo>
                  <a:cubicBezTo>
                    <a:pt x="32" y="84"/>
                    <a:pt x="126" y="77"/>
                    <a:pt x="297" y="65"/>
                  </a:cubicBezTo>
                  <a:cubicBezTo>
                    <a:pt x="469" y="52"/>
                    <a:pt x="1427" y="11"/>
                    <a:pt x="1609" y="5"/>
                  </a:cubicBezTo>
                  <a:cubicBezTo>
                    <a:pt x="1769" y="0"/>
                    <a:pt x="1824" y="8"/>
                    <a:pt x="1900" y="18"/>
                  </a:cubicBezTo>
                  <a:cubicBezTo>
                    <a:pt x="1916" y="20"/>
                    <a:pt x="1933" y="22"/>
                    <a:pt x="1953" y="25"/>
                  </a:cubicBezTo>
                  <a:cubicBezTo>
                    <a:pt x="2065" y="39"/>
                    <a:pt x="2145" y="76"/>
                    <a:pt x="2168" y="213"/>
                  </a:cubicBezTo>
                  <a:cubicBezTo>
                    <a:pt x="2184" y="310"/>
                    <a:pt x="2174" y="368"/>
                    <a:pt x="2135" y="394"/>
                  </a:cubicBezTo>
                  <a:cubicBezTo>
                    <a:pt x="2125" y="401"/>
                    <a:pt x="2112" y="406"/>
                    <a:pt x="2100" y="409"/>
                  </a:cubicBezTo>
                  <a:lnTo>
                    <a:pt x="2100" y="472"/>
                  </a:lnTo>
                  <a:cubicBezTo>
                    <a:pt x="2100" y="531"/>
                    <a:pt x="2063" y="576"/>
                    <a:pt x="1997" y="599"/>
                  </a:cubicBezTo>
                  <a:cubicBezTo>
                    <a:pt x="1985" y="603"/>
                    <a:pt x="1924" y="622"/>
                    <a:pt x="1814" y="656"/>
                  </a:cubicBezTo>
                  <a:cubicBezTo>
                    <a:pt x="1797" y="661"/>
                    <a:pt x="1778" y="651"/>
                    <a:pt x="1773" y="634"/>
                  </a:cubicBezTo>
                  <a:cubicBezTo>
                    <a:pt x="1767" y="616"/>
                    <a:pt x="1777" y="597"/>
                    <a:pt x="1795" y="592"/>
                  </a:cubicBezTo>
                  <a:cubicBezTo>
                    <a:pt x="1937" y="548"/>
                    <a:pt x="1969" y="538"/>
                    <a:pt x="1975" y="536"/>
                  </a:cubicBezTo>
                  <a:cubicBezTo>
                    <a:pt x="2033" y="516"/>
                    <a:pt x="2033" y="483"/>
                    <a:pt x="2033" y="472"/>
                  </a:cubicBezTo>
                  <a:lnTo>
                    <a:pt x="2033" y="384"/>
                  </a:lnTo>
                  <a:cubicBezTo>
                    <a:pt x="2033" y="368"/>
                    <a:pt x="2044" y="354"/>
                    <a:pt x="2060" y="351"/>
                  </a:cubicBezTo>
                  <a:cubicBezTo>
                    <a:pt x="2073" y="348"/>
                    <a:pt x="2092" y="342"/>
                    <a:pt x="2098" y="339"/>
                  </a:cubicBezTo>
                  <a:cubicBezTo>
                    <a:pt x="2106" y="333"/>
                    <a:pt x="2116" y="303"/>
                    <a:pt x="2102" y="224"/>
                  </a:cubicBezTo>
                  <a:cubicBezTo>
                    <a:pt x="2087" y="135"/>
                    <a:pt x="2051" y="104"/>
                    <a:pt x="1944" y="91"/>
                  </a:cubicBezTo>
                  <a:cubicBezTo>
                    <a:pt x="1925" y="89"/>
                    <a:pt x="1908" y="86"/>
                    <a:pt x="1892" y="84"/>
                  </a:cubicBezTo>
                  <a:cubicBezTo>
                    <a:pt x="1815" y="74"/>
                    <a:pt x="1765" y="67"/>
                    <a:pt x="1611" y="72"/>
                  </a:cubicBezTo>
                  <a:cubicBezTo>
                    <a:pt x="1429" y="77"/>
                    <a:pt x="473" y="119"/>
                    <a:pt x="302" y="131"/>
                  </a:cubicBezTo>
                  <a:cubicBezTo>
                    <a:pt x="129" y="144"/>
                    <a:pt x="88" y="152"/>
                    <a:pt x="79" y="200"/>
                  </a:cubicBezTo>
                  <a:cubicBezTo>
                    <a:pt x="69" y="259"/>
                    <a:pt x="86" y="304"/>
                    <a:pt x="105" y="351"/>
                  </a:cubicBezTo>
                  <a:cubicBezTo>
                    <a:pt x="108" y="358"/>
                    <a:pt x="110" y="365"/>
                    <a:pt x="113" y="372"/>
                  </a:cubicBezTo>
                  <a:cubicBezTo>
                    <a:pt x="133" y="425"/>
                    <a:pt x="142" y="448"/>
                    <a:pt x="217" y="439"/>
                  </a:cubicBezTo>
                  <a:cubicBezTo>
                    <a:pt x="227" y="438"/>
                    <a:pt x="236" y="441"/>
                    <a:pt x="243" y="447"/>
                  </a:cubicBezTo>
                  <a:cubicBezTo>
                    <a:pt x="250" y="453"/>
                    <a:pt x="254" y="462"/>
                    <a:pt x="255" y="471"/>
                  </a:cubicBezTo>
                  <a:cubicBezTo>
                    <a:pt x="256" y="553"/>
                    <a:pt x="264" y="683"/>
                    <a:pt x="281" y="714"/>
                  </a:cubicBezTo>
                  <a:lnTo>
                    <a:pt x="282" y="717"/>
                  </a:lnTo>
                  <a:cubicBezTo>
                    <a:pt x="306" y="764"/>
                    <a:pt x="328" y="805"/>
                    <a:pt x="471" y="859"/>
                  </a:cubicBezTo>
                  <a:lnTo>
                    <a:pt x="477" y="861"/>
                  </a:lnTo>
                  <a:cubicBezTo>
                    <a:pt x="632" y="920"/>
                    <a:pt x="663" y="930"/>
                    <a:pt x="717" y="917"/>
                  </a:cubicBezTo>
                  <a:cubicBezTo>
                    <a:pt x="757" y="908"/>
                    <a:pt x="1217" y="769"/>
                    <a:pt x="1620" y="645"/>
                  </a:cubicBezTo>
                  <a:cubicBezTo>
                    <a:pt x="1638" y="640"/>
                    <a:pt x="1656" y="650"/>
                    <a:pt x="1662" y="668"/>
                  </a:cubicBezTo>
                  <a:cubicBezTo>
                    <a:pt x="1667" y="685"/>
                    <a:pt x="1657" y="704"/>
                    <a:pt x="1639" y="709"/>
                  </a:cubicBezTo>
                  <a:cubicBezTo>
                    <a:pt x="1290" y="816"/>
                    <a:pt x="778" y="971"/>
                    <a:pt x="733" y="982"/>
                  </a:cubicBezTo>
                  <a:cubicBezTo>
                    <a:pt x="714" y="986"/>
                    <a:pt x="697" y="989"/>
                    <a:pt x="680" y="989"/>
                  </a:cubicBezTo>
                  <a:close/>
                </a:path>
              </a:pathLst>
            </a:custGeom>
            <a:grpFill/>
            <a:ln w="0">
              <a:noFill/>
              <a:prstDash val="solid"/>
              <a:round/>
              <a:headEnd/>
              <a:tailEnd/>
            </a:ln>
          </p:spPr>
          <p:txBody>
            <a:bodyPr/>
            <a:lstStyle/>
            <a:p>
              <a:pPr defTabSz="456512">
                <a:defRPr/>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Freeform 107"/>
            <p:cNvSpPr>
              <a:spLocks/>
            </p:cNvSpPr>
            <p:nvPr/>
          </p:nvSpPr>
          <p:spPr bwMode="gray">
            <a:xfrm>
              <a:off x="5322888" y="1287463"/>
              <a:ext cx="868363" cy="230188"/>
            </a:xfrm>
            <a:custGeom>
              <a:avLst/>
              <a:gdLst/>
              <a:ahLst/>
              <a:cxnLst>
                <a:cxn ang="0">
                  <a:pos x="753" y="549"/>
                </a:cxn>
                <a:cxn ang="0">
                  <a:pos x="753" y="549"/>
                </a:cxn>
                <a:cxn ang="0">
                  <a:pos x="643" y="465"/>
                </a:cxn>
                <a:cxn ang="0">
                  <a:pos x="636" y="449"/>
                </a:cxn>
                <a:cxn ang="0">
                  <a:pos x="507" y="208"/>
                </a:cxn>
                <a:cxn ang="0">
                  <a:pos x="223" y="79"/>
                </a:cxn>
                <a:cxn ang="0">
                  <a:pos x="47" y="74"/>
                </a:cxn>
                <a:cxn ang="0">
                  <a:pos x="12" y="72"/>
                </a:cxn>
                <a:cxn ang="0">
                  <a:pos x="11" y="34"/>
                </a:cxn>
                <a:cxn ang="0">
                  <a:pos x="231" y="26"/>
                </a:cxn>
                <a:cxn ang="0">
                  <a:pos x="548" y="174"/>
                </a:cxn>
                <a:cxn ang="0">
                  <a:pos x="685" y="428"/>
                </a:cxn>
                <a:cxn ang="0">
                  <a:pos x="692" y="444"/>
                </a:cxn>
                <a:cxn ang="0">
                  <a:pos x="829" y="486"/>
                </a:cxn>
                <a:cxn ang="0">
                  <a:pos x="1733" y="302"/>
                </a:cxn>
                <a:cxn ang="0">
                  <a:pos x="2033" y="241"/>
                </a:cxn>
                <a:cxn ang="0">
                  <a:pos x="2065" y="261"/>
                </a:cxn>
                <a:cxn ang="0">
                  <a:pos x="2044" y="293"/>
                </a:cxn>
                <a:cxn ang="0">
                  <a:pos x="1743" y="354"/>
                </a:cxn>
                <a:cxn ang="0">
                  <a:pos x="840" y="538"/>
                </a:cxn>
                <a:cxn ang="0">
                  <a:pos x="753" y="549"/>
                </a:cxn>
              </a:cxnLst>
              <a:rect l="0" t="0" r="r" b="b"/>
              <a:pathLst>
                <a:path w="2068" h="549">
                  <a:moveTo>
                    <a:pt x="753" y="549"/>
                  </a:moveTo>
                  <a:lnTo>
                    <a:pt x="753" y="549"/>
                  </a:lnTo>
                  <a:cubicBezTo>
                    <a:pt x="687" y="549"/>
                    <a:pt x="666" y="519"/>
                    <a:pt x="643" y="465"/>
                  </a:cubicBezTo>
                  <a:lnTo>
                    <a:pt x="636" y="449"/>
                  </a:lnTo>
                  <a:cubicBezTo>
                    <a:pt x="610" y="387"/>
                    <a:pt x="561" y="272"/>
                    <a:pt x="507" y="208"/>
                  </a:cubicBezTo>
                  <a:cubicBezTo>
                    <a:pt x="457" y="147"/>
                    <a:pt x="394" y="107"/>
                    <a:pt x="223" y="79"/>
                  </a:cubicBezTo>
                  <a:cubicBezTo>
                    <a:pt x="87" y="57"/>
                    <a:pt x="51" y="71"/>
                    <a:pt x="47" y="74"/>
                  </a:cubicBezTo>
                  <a:cubicBezTo>
                    <a:pt x="36" y="82"/>
                    <a:pt x="21" y="81"/>
                    <a:pt x="12" y="72"/>
                  </a:cubicBezTo>
                  <a:cubicBezTo>
                    <a:pt x="1" y="62"/>
                    <a:pt x="0" y="45"/>
                    <a:pt x="11" y="34"/>
                  </a:cubicBezTo>
                  <a:cubicBezTo>
                    <a:pt x="24" y="20"/>
                    <a:pt x="71" y="0"/>
                    <a:pt x="231" y="26"/>
                  </a:cubicBezTo>
                  <a:cubicBezTo>
                    <a:pt x="395" y="53"/>
                    <a:pt x="481" y="93"/>
                    <a:pt x="548" y="174"/>
                  </a:cubicBezTo>
                  <a:cubicBezTo>
                    <a:pt x="607" y="244"/>
                    <a:pt x="656" y="359"/>
                    <a:pt x="685" y="428"/>
                  </a:cubicBezTo>
                  <a:lnTo>
                    <a:pt x="692" y="444"/>
                  </a:lnTo>
                  <a:cubicBezTo>
                    <a:pt x="714" y="495"/>
                    <a:pt x="719" y="509"/>
                    <a:pt x="829" y="486"/>
                  </a:cubicBezTo>
                  <a:cubicBezTo>
                    <a:pt x="922" y="466"/>
                    <a:pt x="1410" y="367"/>
                    <a:pt x="1733" y="302"/>
                  </a:cubicBezTo>
                  <a:cubicBezTo>
                    <a:pt x="1893" y="269"/>
                    <a:pt x="2020" y="243"/>
                    <a:pt x="2033" y="241"/>
                  </a:cubicBezTo>
                  <a:cubicBezTo>
                    <a:pt x="2048" y="238"/>
                    <a:pt x="2062" y="247"/>
                    <a:pt x="2065" y="261"/>
                  </a:cubicBezTo>
                  <a:cubicBezTo>
                    <a:pt x="2068" y="276"/>
                    <a:pt x="2059" y="290"/>
                    <a:pt x="2044" y="293"/>
                  </a:cubicBezTo>
                  <a:cubicBezTo>
                    <a:pt x="2031" y="296"/>
                    <a:pt x="1910" y="320"/>
                    <a:pt x="1743" y="354"/>
                  </a:cubicBezTo>
                  <a:cubicBezTo>
                    <a:pt x="1421" y="419"/>
                    <a:pt x="933" y="518"/>
                    <a:pt x="840" y="538"/>
                  </a:cubicBezTo>
                  <a:cubicBezTo>
                    <a:pt x="804" y="545"/>
                    <a:pt x="776" y="549"/>
                    <a:pt x="753" y="549"/>
                  </a:cubicBezTo>
                  <a:close/>
                </a:path>
              </a:pathLst>
            </a:custGeom>
            <a:grpFill/>
            <a:ln w="0">
              <a:noFill/>
              <a:prstDash val="solid"/>
              <a:round/>
              <a:headEnd/>
              <a:tailEnd/>
            </a:ln>
          </p:spPr>
          <p:txBody>
            <a:bodyPr/>
            <a:lstStyle/>
            <a:p>
              <a:pPr defTabSz="456512">
                <a:defRPr/>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Freeform 108"/>
            <p:cNvSpPr>
              <a:spLocks/>
            </p:cNvSpPr>
            <p:nvPr/>
          </p:nvSpPr>
          <p:spPr bwMode="gray">
            <a:xfrm>
              <a:off x="5564188" y="1495425"/>
              <a:ext cx="87313" cy="157163"/>
            </a:xfrm>
            <a:custGeom>
              <a:avLst/>
              <a:gdLst/>
              <a:ahLst/>
              <a:cxnLst>
                <a:cxn ang="0">
                  <a:pos x="45" y="375"/>
                </a:cxn>
                <a:cxn ang="0">
                  <a:pos x="45" y="375"/>
                </a:cxn>
                <a:cxn ang="0">
                  <a:pos x="25" y="375"/>
                </a:cxn>
                <a:cxn ang="0">
                  <a:pos x="0" y="346"/>
                </a:cxn>
                <a:cxn ang="0">
                  <a:pos x="29" y="321"/>
                </a:cxn>
                <a:cxn ang="0">
                  <a:pos x="143" y="237"/>
                </a:cxn>
                <a:cxn ang="0">
                  <a:pos x="144" y="232"/>
                </a:cxn>
                <a:cxn ang="0">
                  <a:pos x="153" y="28"/>
                </a:cxn>
                <a:cxn ang="0">
                  <a:pos x="179" y="1"/>
                </a:cxn>
                <a:cxn ang="0">
                  <a:pos x="206" y="27"/>
                </a:cxn>
                <a:cxn ang="0">
                  <a:pos x="196" y="245"/>
                </a:cxn>
                <a:cxn ang="0">
                  <a:pos x="195" y="249"/>
                </a:cxn>
                <a:cxn ang="0">
                  <a:pos x="45" y="375"/>
                </a:cxn>
              </a:cxnLst>
              <a:rect l="0" t="0" r="r" b="b"/>
              <a:pathLst>
                <a:path w="210" h="375">
                  <a:moveTo>
                    <a:pt x="45" y="375"/>
                  </a:moveTo>
                  <a:lnTo>
                    <a:pt x="45" y="375"/>
                  </a:lnTo>
                  <a:cubicBezTo>
                    <a:pt x="39" y="375"/>
                    <a:pt x="32" y="375"/>
                    <a:pt x="25" y="375"/>
                  </a:cubicBezTo>
                  <a:cubicBezTo>
                    <a:pt x="11" y="374"/>
                    <a:pt x="0" y="361"/>
                    <a:pt x="0" y="346"/>
                  </a:cubicBezTo>
                  <a:cubicBezTo>
                    <a:pt x="1" y="332"/>
                    <a:pt x="14" y="320"/>
                    <a:pt x="29" y="321"/>
                  </a:cubicBezTo>
                  <a:cubicBezTo>
                    <a:pt x="121" y="327"/>
                    <a:pt x="130" y="291"/>
                    <a:pt x="143" y="237"/>
                  </a:cubicBezTo>
                  <a:lnTo>
                    <a:pt x="144" y="232"/>
                  </a:lnTo>
                  <a:cubicBezTo>
                    <a:pt x="155" y="189"/>
                    <a:pt x="154" y="70"/>
                    <a:pt x="153" y="28"/>
                  </a:cubicBezTo>
                  <a:cubicBezTo>
                    <a:pt x="153" y="13"/>
                    <a:pt x="164" y="1"/>
                    <a:pt x="179" y="1"/>
                  </a:cubicBezTo>
                  <a:cubicBezTo>
                    <a:pt x="194" y="0"/>
                    <a:pt x="206" y="12"/>
                    <a:pt x="206" y="27"/>
                  </a:cubicBezTo>
                  <a:cubicBezTo>
                    <a:pt x="206" y="33"/>
                    <a:pt x="210" y="186"/>
                    <a:pt x="196" y="245"/>
                  </a:cubicBezTo>
                  <a:lnTo>
                    <a:pt x="195" y="249"/>
                  </a:lnTo>
                  <a:cubicBezTo>
                    <a:pt x="182" y="303"/>
                    <a:pt x="164" y="375"/>
                    <a:pt x="45" y="375"/>
                  </a:cubicBezTo>
                  <a:close/>
                </a:path>
              </a:pathLst>
            </a:custGeom>
            <a:grpFill/>
            <a:ln w="0">
              <a:noFill/>
              <a:prstDash val="solid"/>
              <a:round/>
              <a:headEnd/>
              <a:tailEnd/>
            </a:ln>
          </p:spPr>
          <p:txBody>
            <a:bodyPr/>
            <a:lstStyle/>
            <a:p>
              <a:pPr defTabSz="456512">
                <a:defRPr/>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Freeform 109"/>
            <p:cNvSpPr>
              <a:spLocks/>
            </p:cNvSpPr>
            <p:nvPr/>
          </p:nvSpPr>
          <p:spPr bwMode="gray">
            <a:xfrm>
              <a:off x="5394325" y="1303338"/>
              <a:ext cx="87313" cy="147638"/>
            </a:xfrm>
            <a:custGeom>
              <a:avLst/>
              <a:gdLst/>
              <a:ahLst/>
              <a:cxnLst>
                <a:cxn ang="0">
                  <a:pos x="27" y="353"/>
                </a:cxn>
                <a:cxn ang="0">
                  <a:pos x="27" y="353"/>
                </a:cxn>
                <a:cxn ang="0">
                  <a:pos x="0" y="327"/>
                </a:cxn>
                <a:cxn ang="0">
                  <a:pos x="0" y="169"/>
                </a:cxn>
                <a:cxn ang="0">
                  <a:pos x="52" y="31"/>
                </a:cxn>
                <a:cxn ang="0">
                  <a:pos x="184" y="14"/>
                </a:cxn>
                <a:cxn ang="0">
                  <a:pos x="203" y="46"/>
                </a:cxn>
                <a:cxn ang="0">
                  <a:pos x="171" y="66"/>
                </a:cxn>
                <a:cxn ang="0">
                  <a:pos x="84" y="73"/>
                </a:cxn>
                <a:cxn ang="0">
                  <a:pos x="54" y="169"/>
                </a:cxn>
                <a:cxn ang="0">
                  <a:pos x="54" y="327"/>
                </a:cxn>
                <a:cxn ang="0">
                  <a:pos x="27" y="353"/>
                </a:cxn>
              </a:cxnLst>
              <a:rect l="0" t="0" r="r" b="b"/>
              <a:pathLst>
                <a:path w="207" h="353">
                  <a:moveTo>
                    <a:pt x="27" y="353"/>
                  </a:moveTo>
                  <a:lnTo>
                    <a:pt x="27" y="353"/>
                  </a:lnTo>
                  <a:cubicBezTo>
                    <a:pt x="12" y="353"/>
                    <a:pt x="0" y="342"/>
                    <a:pt x="0" y="327"/>
                  </a:cubicBezTo>
                  <a:lnTo>
                    <a:pt x="0" y="169"/>
                  </a:lnTo>
                  <a:cubicBezTo>
                    <a:pt x="0" y="104"/>
                    <a:pt x="17" y="57"/>
                    <a:pt x="52" y="31"/>
                  </a:cubicBezTo>
                  <a:cubicBezTo>
                    <a:pt x="84" y="6"/>
                    <a:pt x="128" y="0"/>
                    <a:pt x="184" y="14"/>
                  </a:cubicBezTo>
                  <a:cubicBezTo>
                    <a:pt x="198" y="17"/>
                    <a:pt x="207" y="32"/>
                    <a:pt x="203" y="46"/>
                  </a:cubicBezTo>
                  <a:cubicBezTo>
                    <a:pt x="200" y="61"/>
                    <a:pt x="185" y="69"/>
                    <a:pt x="171" y="66"/>
                  </a:cubicBezTo>
                  <a:cubicBezTo>
                    <a:pt x="132" y="56"/>
                    <a:pt x="103" y="58"/>
                    <a:pt x="84" y="73"/>
                  </a:cubicBezTo>
                  <a:cubicBezTo>
                    <a:pt x="64" y="89"/>
                    <a:pt x="54" y="121"/>
                    <a:pt x="54" y="169"/>
                  </a:cubicBezTo>
                  <a:lnTo>
                    <a:pt x="54" y="327"/>
                  </a:lnTo>
                  <a:cubicBezTo>
                    <a:pt x="54" y="342"/>
                    <a:pt x="42" y="353"/>
                    <a:pt x="27" y="353"/>
                  </a:cubicBezTo>
                  <a:close/>
                </a:path>
              </a:pathLst>
            </a:custGeom>
            <a:grpFill/>
            <a:ln w="0">
              <a:noFill/>
              <a:prstDash val="solid"/>
              <a:round/>
              <a:headEnd/>
              <a:tailEnd/>
            </a:ln>
          </p:spPr>
          <p:txBody>
            <a:bodyPr/>
            <a:lstStyle/>
            <a:p>
              <a:pPr defTabSz="456512">
                <a:defRPr/>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Freeform 110"/>
            <p:cNvSpPr>
              <a:spLocks/>
            </p:cNvSpPr>
            <p:nvPr/>
          </p:nvSpPr>
          <p:spPr bwMode="gray">
            <a:xfrm>
              <a:off x="5437188" y="1339850"/>
              <a:ext cx="165100" cy="247650"/>
            </a:xfrm>
            <a:custGeom>
              <a:avLst/>
              <a:gdLst/>
              <a:ahLst/>
              <a:cxnLst>
                <a:cxn ang="0">
                  <a:pos x="233" y="591"/>
                </a:cxn>
                <a:cxn ang="0">
                  <a:pos x="233" y="591"/>
                </a:cxn>
                <a:cxn ang="0">
                  <a:pos x="108" y="521"/>
                </a:cxn>
                <a:cxn ang="0">
                  <a:pos x="26" y="326"/>
                </a:cxn>
                <a:cxn ang="0">
                  <a:pos x="157" y="5"/>
                </a:cxn>
                <a:cxn ang="0">
                  <a:pos x="243" y="23"/>
                </a:cxn>
                <a:cxn ang="0">
                  <a:pos x="250" y="50"/>
                </a:cxn>
                <a:cxn ang="0">
                  <a:pos x="223" y="57"/>
                </a:cxn>
                <a:cxn ang="0">
                  <a:pos x="163" y="44"/>
                </a:cxn>
                <a:cxn ang="0">
                  <a:pos x="66" y="320"/>
                </a:cxn>
                <a:cxn ang="0">
                  <a:pos x="139" y="495"/>
                </a:cxn>
                <a:cxn ang="0">
                  <a:pos x="245" y="550"/>
                </a:cxn>
                <a:cxn ang="0">
                  <a:pos x="329" y="465"/>
                </a:cxn>
                <a:cxn ang="0">
                  <a:pos x="343" y="275"/>
                </a:cxn>
                <a:cxn ang="0">
                  <a:pos x="337" y="247"/>
                </a:cxn>
                <a:cxn ang="0">
                  <a:pos x="352" y="223"/>
                </a:cxn>
                <a:cxn ang="0">
                  <a:pos x="376" y="238"/>
                </a:cxn>
                <a:cxn ang="0">
                  <a:pos x="382" y="268"/>
                </a:cxn>
                <a:cxn ang="0">
                  <a:pos x="366" y="479"/>
                </a:cxn>
                <a:cxn ang="0">
                  <a:pos x="252" y="590"/>
                </a:cxn>
                <a:cxn ang="0">
                  <a:pos x="233" y="591"/>
                </a:cxn>
              </a:cxnLst>
              <a:rect l="0" t="0" r="r" b="b"/>
              <a:pathLst>
                <a:path w="395" h="591">
                  <a:moveTo>
                    <a:pt x="233" y="591"/>
                  </a:moveTo>
                  <a:lnTo>
                    <a:pt x="233" y="591"/>
                  </a:lnTo>
                  <a:cubicBezTo>
                    <a:pt x="190" y="591"/>
                    <a:pt x="146" y="567"/>
                    <a:pt x="108" y="521"/>
                  </a:cubicBezTo>
                  <a:cubicBezTo>
                    <a:pt x="68" y="471"/>
                    <a:pt x="39" y="402"/>
                    <a:pt x="26" y="326"/>
                  </a:cubicBezTo>
                  <a:cubicBezTo>
                    <a:pt x="0" y="162"/>
                    <a:pt x="57" y="21"/>
                    <a:pt x="157" y="5"/>
                  </a:cubicBezTo>
                  <a:cubicBezTo>
                    <a:pt x="185" y="0"/>
                    <a:pt x="215" y="6"/>
                    <a:pt x="243" y="23"/>
                  </a:cubicBezTo>
                  <a:cubicBezTo>
                    <a:pt x="253" y="28"/>
                    <a:pt x="256" y="41"/>
                    <a:pt x="250" y="50"/>
                  </a:cubicBezTo>
                  <a:cubicBezTo>
                    <a:pt x="245" y="60"/>
                    <a:pt x="232" y="63"/>
                    <a:pt x="223" y="57"/>
                  </a:cubicBezTo>
                  <a:cubicBezTo>
                    <a:pt x="202" y="45"/>
                    <a:pt x="182" y="41"/>
                    <a:pt x="163" y="44"/>
                  </a:cubicBezTo>
                  <a:cubicBezTo>
                    <a:pt x="88" y="56"/>
                    <a:pt x="43" y="182"/>
                    <a:pt x="66" y="320"/>
                  </a:cubicBezTo>
                  <a:cubicBezTo>
                    <a:pt x="77" y="389"/>
                    <a:pt x="103" y="452"/>
                    <a:pt x="139" y="495"/>
                  </a:cubicBezTo>
                  <a:cubicBezTo>
                    <a:pt x="173" y="536"/>
                    <a:pt x="210" y="556"/>
                    <a:pt x="245" y="550"/>
                  </a:cubicBezTo>
                  <a:cubicBezTo>
                    <a:pt x="280" y="544"/>
                    <a:pt x="310" y="514"/>
                    <a:pt x="329" y="465"/>
                  </a:cubicBezTo>
                  <a:cubicBezTo>
                    <a:pt x="349" y="412"/>
                    <a:pt x="354" y="344"/>
                    <a:pt x="343" y="275"/>
                  </a:cubicBezTo>
                  <a:cubicBezTo>
                    <a:pt x="341" y="265"/>
                    <a:pt x="339" y="256"/>
                    <a:pt x="337" y="247"/>
                  </a:cubicBezTo>
                  <a:cubicBezTo>
                    <a:pt x="335" y="236"/>
                    <a:pt x="342" y="225"/>
                    <a:pt x="352" y="223"/>
                  </a:cubicBezTo>
                  <a:cubicBezTo>
                    <a:pt x="363" y="221"/>
                    <a:pt x="374" y="227"/>
                    <a:pt x="376" y="238"/>
                  </a:cubicBezTo>
                  <a:cubicBezTo>
                    <a:pt x="379" y="248"/>
                    <a:pt x="380" y="258"/>
                    <a:pt x="382" y="268"/>
                  </a:cubicBezTo>
                  <a:cubicBezTo>
                    <a:pt x="395" y="344"/>
                    <a:pt x="389" y="419"/>
                    <a:pt x="366" y="479"/>
                  </a:cubicBezTo>
                  <a:cubicBezTo>
                    <a:pt x="342" y="542"/>
                    <a:pt x="301" y="582"/>
                    <a:pt x="252" y="590"/>
                  </a:cubicBezTo>
                  <a:cubicBezTo>
                    <a:pt x="246" y="591"/>
                    <a:pt x="239" y="591"/>
                    <a:pt x="233" y="591"/>
                  </a:cubicBezTo>
                  <a:close/>
                </a:path>
              </a:pathLst>
            </a:custGeom>
            <a:grpFill/>
            <a:ln w="0">
              <a:noFill/>
              <a:prstDash val="solid"/>
              <a:round/>
              <a:headEnd/>
              <a:tailEnd/>
            </a:ln>
          </p:spPr>
          <p:txBody>
            <a:bodyPr/>
            <a:lstStyle/>
            <a:p>
              <a:pPr defTabSz="456512">
                <a:defRPr/>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Freeform 111"/>
            <p:cNvSpPr>
              <a:spLocks noEditPoints="1"/>
            </p:cNvSpPr>
            <p:nvPr/>
          </p:nvSpPr>
          <p:spPr bwMode="gray">
            <a:xfrm>
              <a:off x="5478463" y="1400175"/>
              <a:ext cx="87313" cy="123825"/>
            </a:xfrm>
            <a:custGeom>
              <a:avLst/>
              <a:gdLst/>
              <a:ahLst/>
              <a:cxnLst>
                <a:cxn ang="0">
                  <a:pos x="91" y="47"/>
                </a:cxn>
                <a:cxn ang="0">
                  <a:pos x="91" y="47"/>
                </a:cxn>
                <a:cxn ang="0">
                  <a:pos x="87" y="48"/>
                </a:cxn>
                <a:cxn ang="0">
                  <a:pos x="53" y="159"/>
                </a:cxn>
                <a:cxn ang="0">
                  <a:pos x="117" y="255"/>
                </a:cxn>
                <a:cxn ang="0">
                  <a:pos x="121" y="255"/>
                </a:cxn>
                <a:cxn ang="0">
                  <a:pos x="156" y="143"/>
                </a:cxn>
                <a:cxn ang="0">
                  <a:pos x="91" y="47"/>
                </a:cxn>
                <a:cxn ang="0">
                  <a:pos x="117" y="295"/>
                </a:cxn>
                <a:cxn ang="0">
                  <a:pos x="117" y="295"/>
                </a:cxn>
                <a:cxn ang="0">
                  <a:pos x="13" y="166"/>
                </a:cxn>
                <a:cxn ang="0">
                  <a:pos x="81" y="8"/>
                </a:cxn>
                <a:cxn ang="0">
                  <a:pos x="195" y="136"/>
                </a:cxn>
                <a:cxn ang="0">
                  <a:pos x="127" y="294"/>
                </a:cxn>
                <a:cxn ang="0">
                  <a:pos x="117" y="295"/>
                </a:cxn>
              </a:cxnLst>
              <a:rect l="0" t="0" r="r" b="b"/>
              <a:pathLst>
                <a:path w="208" h="295">
                  <a:moveTo>
                    <a:pt x="91" y="47"/>
                  </a:moveTo>
                  <a:lnTo>
                    <a:pt x="91" y="47"/>
                  </a:lnTo>
                  <a:cubicBezTo>
                    <a:pt x="90" y="47"/>
                    <a:pt x="89" y="47"/>
                    <a:pt x="87" y="48"/>
                  </a:cubicBezTo>
                  <a:cubicBezTo>
                    <a:pt x="63" y="52"/>
                    <a:pt x="43" y="99"/>
                    <a:pt x="53" y="159"/>
                  </a:cubicBezTo>
                  <a:cubicBezTo>
                    <a:pt x="62" y="217"/>
                    <a:pt x="94" y="255"/>
                    <a:pt x="117" y="255"/>
                  </a:cubicBezTo>
                  <a:cubicBezTo>
                    <a:pt x="119" y="255"/>
                    <a:pt x="120" y="255"/>
                    <a:pt x="121" y="255"/>
                  </a:cubicBezTo>
                  <a:cubicBezTo>
                    <a:pt x="145" y="251"/>
                    <a:pt x="166" y="204"/>
                    <a:pt x="156" y="143"/>
                  </a:cubicBezTo>
                  <a:cubicBezTo>
                    <a:pt x="147" y="86"/>
                    <a:pt x="115" y="47"/>
                    <a:pt x="91" y="47"/>
                  </a:cubicBezTo>
                  <a:close/>
                  <a:moveTo>
                    <a:pt x="117" y="295"/>
                  </a:moveTo>
                  <a:lnTo>
                    <a:pt x="117" y="295"/>
                  </a:lnTo>
                  <a:cubicBezTo>
                    <a:pt x="69" y="295"/>
                    <a:pt x="25" y="241"/>
                    <a:pt x="13" y="166"/>
                  </a:cubicBezTo>
                  <a:cubicBezTo>
                    <a:pt x="0" y="86"/>
                    <a:pt x="30" y="17"/>
                    <a:pt x="81" y="8"/>
                  </a:cubicBezTo>
                  <a:cubicBezTo>
                    <a:pt x="133" y="0"/>
                    <a:pt x="182" y="56"/>
                    <a:pt x="195" y="136"/>
                  </a:cubicBezTo>
                  <a:cubicBezTo>
                    <a:pt x="208" y="216"/>
                    <a:pt x="179" y="286"/>
                    <a:pt x="127" y="294"/>
                  </a:cubicBezTo>
                  <a:cubicBezTo>
                    <a:pt x="124" y="295"/>
                    <a:pt x="121" y="295"/>
                    <a:pt x="117" y="295"/>
                  </a:cubicBezTo>
                  <a:close/>
                </a:path>
              </a:pathLst>
            </a:custGeom>
            <a:grpFill/>
            <a:ln w="0">
              <a:noFill/>
              <a:prstDash val="solid"/>
              <a:round/>
              <a:headEnd/>
              <a:tailEnd/>
            </a:ln>
          </p:spPr>
          <p:txBody>
            <a:bodyPr/>
            <a:lstStyle/>
            <a:p>
              <a:pPr defTabSz="456512">
                <a:defRPr/>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Freeform 112"/>
            <p:cNvSpPr>
              <a:spLocks/>
            </p:cNvSpPr>
            <p:nvPr/>
          </p:nvSpPr>
          <p:spPr bwMode="gray">
            <a:xfrm>
              <a:off x="5953125" y="1495425"/>
              <a:ext cx="65088" cy="65088"/>
            </a:xfrm>
            <a:custGeom>
              <a:avLst/>
              <a:gdLst/>
              <a:ahLst/>
              <a:cxnLst>
                <a:cxn ang="0">
                  <a:pos x="97" y="144"/>
                </a:cxn>
                <a:cxn ang="0">
                  <a:pos x="97" y="144"/>
                </a:cxn>
                <a:cxn ang="0">
                  <a:pos x="11" y="97"/>
                </a:cxn>
                <a:cxn ang="0">
                  <a:pos x="58" y="11"/>
                </a:cxn>
                <a:cxn ang="0">
                  <a:pos x="144" y="58"/>
                </a:cxn>
                <a:cxn ang="0">
                  <a:pos x="97" y="144"/>
                </a:cxn>
              </a:cxnLst>
              <a:rect l="0" t="0" r="r" b="b"/>
              <a:pathLst>
                <a:path w="155" h="155">
                  <a:moveTo>
                    <a:pt x="97" y="144"/>
                  </a:moveTo>
                  <a:lnTo>
                    <a:pt x="97" y="144"/>
                  </a:lnTo>
                  <a:cubicBezTo>
                    <a:pt x="60" y="155"/>
                    <a:pt x="22" y="134"/>
                    <a:pt x="11" y="97"/>
                  </a:cubicBezTo>
                  <a:cubicBezTo>
                    <a:pt x="0" y="60"/>
                    <a:pt x="21" y="22"/>
                    <a:pt x="58" y="11"/>
                  </a:cubicBezTo>
                  <a:cubicBezTo>
                    <a:pt x="95" y="0"/>
                    <a:pt x="133" y="21"/>
                    <a:pt x="144" y="58"/>
                  </a:cubicBezTo>
                  <a:cubicBezTo>
                    <a:pt x="155" y="95"/>
                    <a:pt x="134" y="133"/>
                    <a:pt x="97" y="144"/>
                  </a:cubicBezTo>
                  <a:close/>
                </a:path>
              </a:pathLst>
            </a:custGeom>
            <a:grpFill/>
            <a:ln w="0">
              <a:noFill/>
              <a:prstDash val="solid"/>
              <a:round/>
              <a:headEnd/>
              <a:tailEnd/>
            </a:ln>
          </p:spPr>
          <p:txBody>
            <a:bodyPr/>
            <a:lstStyle/>
            <a:p>
              <a:pPr defTabSz="456512">
                <a:defRPr/>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Freeform 113"/>
            <p:cNvSpPr>
              <a:spLocks/>
            </p:cNvSpPr>
            <p:nvPr/>
          </p:nvSpPr>
          <p:spPr bwMode="gray">
            <a:xfrm>
              <a:off x="6038850" y="1470025"/>
              <a:ext cx="65088" cy="65088"/>
            </a:xfrm>
            <a:custGeom>
              <a:avLst/>
              <a:gdLst/>
              <a:ahLst/>
              <a:cxnLst>
                <a:cxn ang="0">
                  <a:pos x="97" y="144"/>
                </a:cxn>
                <a:cxn ang="0">
                  <a:pos x="97" y="144"/>
                </a:cxn>
                <a:cxn ang="0">
                  <a:pos x="11" y="97"/>
                </a:cxn>
                <a:cxn ang="0">
                  <a:pos x="58" y="11"/>
                </a:cxn>
                <a:cxn ang="0">
                  <a:pos x="144" y="58"/>
                </a:cxn>
                <a:cxn ang="0">
                  <a:pos x="97" y="144"/>
                </a:cxn>
              </a:cxnLst>
              <a:rect l="0" t="0" r="r" b="b"/>
              <a:pathLst>
                <a:path w="155" h="155">
                  <a:moveTo>
                    <a:pt x="97" y="144"/>
                  </a:moveTo>
                  <a:lnTo>
                    <a:pt x="97" y="144"/>
                  </a:lnTo>
                  <a:cubicBezTo>
                    <a:pt x="60" y="155"/>
                    <a:pt x="22" y="134"/>
                    <a:pt x="11" y="97"/>
                  </a:cubicBezTo>
                  <a:cubicBezTo>
                    <a:pt x="0" y="60"/>
                    <a:pt x="21" y="22"/>
                    <a:pt x="58" y="11"/>
                  </a:cubicBezTo>
                  <a:cubicBezTo>
                    <a:pt x="95" y="0"/>
                    <a:pt x="134" y="21"/>
                    <a:pt x="144" y="58"/>
                  </a:cubicBezTo>
                  <a:cubicBezTo>
                    <a:pt x="155" y="95"/>
                    <a:pt x="134" y="134"/>
                    <a:pt x="97" y="144"/>
                  </a:cubicBezTo>
                  <a:close/>
                </a:path>
              </a:pathLst>
            </a:custGeom>
            <a:grpFill/>
            <a:ln w="0">
              <a:noFill/>
              <a:prstDash val="solid"/>
              <a:round/>
              <a:headEnd/>
              <a:tailEnd/>
            </a:ln>
          </p:spPr>
          <p:txBody>
            <a:bodyPr/>
            <a:lstStyle/>
            <a:p>
              <a:pPr defTabSz="456512">
                <a:defRPr/>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4" name="文本框 13"/>
          <p:cNvSpPr txBox="1"/>
          <p:nvPr/>
        </p:nvSpPr>
        <p:spPr bwMode="gray">
          <a:xfrm>
            <a:off x="2182152" y="4730694"/>
            <a:ext cx="869148" cy="461665"/>
          </a:xfrm>
          <a:prstGeom prst="rect">
            <a:avLst/>
          </a:prstGeom>
          <a:noFill/>
        </p:spPr>
        <p:txBody>
          <a:bodyPr wrap="none" rtlCol="0">
            <a:spAutoFit/>
          </a:bodyPr>
          <a:lstStyle/>
          <a:p>
            <a:pPr algn="ct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终端</a:t>
            </a: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4</a:t>
            </a:r>
          </a:p>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2.2.2.1/24</a:t>
            </a:r>
          </a:p>
        </p:txBody>
      </p:sp>
      <p:sp>
        <p:nvSpPr>
          <p:cNvPr id="15" name="圆角矩形 14"/>
          <p:cNvSpPr/>
          <p:nvPr/>
        </p:nvSpPr>
        <p:spPr bwMode="gray">
          <a:xfrm>
            <a:off x="2488862" y="5794825"/>
            <a:ext cx="1420046" cy="321726"/>
          </a:xfrm>
          <a:prstGeom prst="roundRect">
            <a:avLst>
              <a:gd name="adj" fmla="val 7445"/>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圆角矩形 15"/>
          <p:cNvSpPr/>
          <p:nvPr/>
        </p:nvSpPr>
        <p:spPr bwMode="gray">
          <a:xfrm>
            <a:off x="496536" y="5794825"/>
            <a:ext cx="1422000" cy="321726"/>
          </a:xfrm>
          <a:prstGeom prst="roundRect">
            <a:avLst>
              <a:gd name="adj" fmla="val 7445"/>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圆角矩形 16"/>
          <p:cNvSpPr/>
          <p:nvPr/>
        </p:nvSpPr>
        <p:spPr bwMode="gray">
          <a:xfrm>
            <a:off x="4882296" y="4170649"/>
            <a:ext cx="1368000" cy="1175792"/>
          </a:xfrm>
          <a:prstGeom prst="roundRect">
            <a:avLst>
              <a:gd name="adj" fmla="val 7445"/>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圆角矩形 17"/>
          <p:cNvSpPr/>
          <p:nvPr/>
        </p:nvSpPr>
        <p:spPr bwMode="gray">
          <a:xfrm>
            <a:off x="492744" y="4170649"/>
            <a:ext cx="1368000" cy="1175792"/>
          </a:xfrm>
          <a:prstGeom prst="roundRect">
            <a:avLst>
              <a:gd name="adj" fmla="val 7445"/>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1" name="图片 14" descr="日志告警服务器-蓝.png"/>
          <p:cNvPicPr>
            <a:picLocks noChangeAspect="1"/>
          </p:cNvPicPr>
          <p:nvPr/>
        </p:nvPicPr>
        <p:blipFill>
          <a:blip r:embed="rId3" cstate="print"/>
          <a:stretch>
            <a:fillRect/>
          </a:stretch>
        </p:blipFill>
        <p:spPr bwMode="gray">
          <a:xfrm>
            <a:off x="931468" y="4359032"/>
            <a:ext cx="490552" cy="306312"/>
          </a:xfrm>
          <a:prstGeom prst="rect">
            <a:avLst/>
          </a:prstGeom>
        </p:spPr>
      </p:pic>
      <p:pic>
        <p:nvPicPr>
          <p:cNvPr id="32" name="图片 47" descr="打印机.png"/>
          <p:cNvPicPr>
            <a:picLocks noChangeAspect="1"/>
          </p:cNvPicPr>
          <p:nvPr/>
        </p:nvPicPr>
        <p:blipFill>
          <a:blip r:embed="rId4" cstate="print"/>
          <a:stretch>
            <a:fillRect/>
          </a:stretch>
        </p:blipFill>
        <p:spPr bwMode="gray">
          <a:xfrm>
            <a:off x="3885100" y="4334626"/>
            <a:ext cx="444786" cy="365835"/>
          </a:xfrm>
          <a:prstGeom prst="rect">
            <a:avLst/>
          </a:prstGeom>
        </p:spPr>
      </p:pic>
      <p:grpSp>
        <p:nvGrpSpPr>
          <p:cNvPr id="33" name="组合 211"/>
          <p:cNvGrpSpPr/>
          <p:nvPr/>
        </p:nvGrpSpPr>
        <p:grpSpPr bwMode="gray">
          <a:xfrm>
            <a:off x="5308365" y="4429724"/>
            <a:ext cx="515863" cy="256225"/>
            <a:chOff x="5310188" y="1243013"/>
            <a:chExt cx="915988" cy="414338"/>
          </a:xfrm>
          <a:solidFill>
            <a:srgbClr val="7A7B7C"/>
          </a:solidFill>
        </p:grpSpPr>
        <p:sp>
          <p:nvSpPr>
            <p:cNvPr id="34" name="Freeform 106"/>
            <p:cNvSpPr>
              <a:spLocks/>
            </p:cNvSpPr>
            <p:nvPr/>
          </p:nvSpPr>
          <p:spPr bwMode="gray">
            <a:xfrm>
              <a:off x="5310188" y="1243013"/>
              <a:ext cx="915988" cy="414338"/>
            </a:xfrm>
            <a:custGeom>
              <a:avLst/>
              <a:gdLst/>
              <a:ahLst/>
              <a:cxnLst>
                <a:cxn ang="0">
                  <a:pos x="680" y="989"/>
                </a:cxn>
                <a:cxn ang="0">
                  <a:pos x="680" y="989"/>
                </a:cxn>
                <a:cxn ang="0">
                  <a:pos x="453" y="923"/>
                </a:cxn>
                <a:cxn ang="0">
                  <a:pos x="448" y="921"/>
                </a:cxn>
                <a:cxn ang="0">
                  <a:pos x="223" y="748"/>
                </a:cxn>
                <a:cxn ang="0">
                  <a:pos x="221" y="745"/>
                </a:cxn>
                <a:cxn ang="0">
                  <a:pos x="189" y="507"/>
                </a:cxn>
                <a:cxn ang="0">
                  <a:pos x="50" y="395"/>
                </a:cxn>
                <a:cxn ang="0">
                  <a:pos x="43" y="376"/>
                </a:cxn>
                <a:cxn ang="0">
                  <a:pos x="14" y="188"/>
                </a:cxn>
                <a:cxn ang="0">
                  <a:pos x="297" y="65"/>
                </a:cxn>
                <a:cxn ang="0">
                  <a:pos x="1609" y="5"/>
                </a:cxn>
                <a:cxn ang="0">
                  <a:pos x="1900" y="18"/>
                </a:cxn>
                <a:cxn ang="0">
                  <a:pos x="1953" y="25"/>
                </a:cxn>
                <a:cxn ang="0">
                  <a:pos x="2168" y="213"/>
                </a:cxn>
                <a:cxn ang="0">
                  <a:pos x="2135" y="394"/>
                </a:cxn>
                <a:cxn ang="0">
                  <a:pos x="2100" y="409"/>
                </a:cxn>
                <a:cxn ang="0">
                  <a:pos x="2100" y="472"/>
                </a:cxn>
                <a:cxn ang="0">
                  <a:pos x="1997" y="599"/>
                </a:cxn>
                <a:cxn ang="0">
                  <a:pos x="1814" y="656"/>
                </a:cxn>
                <a:cxn ang="0">
                  <a:pos x="1773" y="634"/>
                </a:cxn>
                <a:cxn ang="0">
                  <a:pos x="1795" y="592"/>
                </a:cxn>
                <a:cxn ang="0">
                  <a:pos x="1975" y="536"/>
                </a:cxn>
                <a:cxn ang="0">
                  <a:pos x="2033" y="472"/>
                </a:cxn>
                <a:cxn ang="0">
                  <a:pos x="2033" y="384"/>
                </a:cxn>
                <a:cxn ang="0">
                  <a:pos x="2060" y="351"/>
                </a:cxn>
                <a:cxn ang="0">
                  <a:pos x="2098" y="339"/>
                </a:cxn>
                <a:cxn ang="0">
                  <a:pos x="2102" y="224"/>
                </a:cxn>
                <a:cxn ang="0">
                  <a:pos x="1944" y="91"/>
                </a:cxn>
                <a:cxn ang="0">
                  <a:pos x="1892" y="84"/>
                </a:cxn>
                <a:cxn ang="0">
                  <a:pos x="1611" y="72"/>
                </a:cxn>
                <a:cxn ang="0">
                  <a:pos x="302" y="131"/>
                </a:cxn>
                <a:cxn ang="0">
                  <a:pos x="79" y="200"/>
                </a:cxn>
                <a:cxn ang="0">
                  <a:pos x="105" y="351"/>
                </a:cxn>
                <a:cxn ang="0">
                  <a:pos x="113" y="372"/>
                </a:cxn>
                <a:cxn ang="0">
                  <a:pos x="217" y="439"/>
                </a:cxn>
                <a:cxn ang="0">
                  <a:pos x="243" y="447"/>
                </a:cxn>
                <a:cxn ang="0">
                  <a:pos x="255" y="471"/>
                </a:cxn>
                <a:cxn ang="0">
                  <a:pos x="281" y="714"/>
                </a:cxn>
                <a:cxn ang="0">
                  <a:pos x="282" y="717"/>
                </a:cxn>
                <a:cxn ang="0">
                  <a:pos x="471" y="859"/>
                </a:cxn>
                <a:cxn ang="0">
                  <a:pos x="477" y="861"/>
                </a:cxn>
                <a:cxn ang="0">
                  <a:pos x="717" y="917"/>
                </a:cxn>
                <a:cxn ang="0">
                  <a:pos x="1620" y="645"/>
                </a:cxn>
                <a:cxn ang="0">
                  <a:pos x="1662" y="668"/>
                </a:cxn>
                <a:cxn ang="0">
                  <a:pos x="1639" y="709"/>
                </a:cxn>
                <a:cxn ang="0">
                  <a:pos x="733" y="982"/>
                </a:cxn>
                <a:cxn ang="0">
                  <a:pos x="680" y="989"/>
                </a:cxn>
              </a:cxnLst>
              <a:rect l="0" t="0" r="r" b="b"/>
              <a:pathLst>
                <a:path w="2184" h="989">
                  <a:moveTo>
                    <a:pt x="680" y="989"/>
                  </a:moveTo>
                  <a:lnTo>
                    <a:pt x="680" y="989"/>
                  </a:lnTo>
                  <a:cubicBezTo>
                    <a:pt x="627" y="989"/>
                    <a:pt x="571" y="968"/>
                    <a:pt x="453" y="923"/>
                  </a:cubicBezTo>
                  <a:lnTo>
                    <a:pt x="448" y="921"/>
                  </a:lnTo>
                  <a:cubicBezTo>
                    <a:pt x="280" y="858"/>
                    <a:pt x="251" y="802"/>
                    <a:pt x="223" y="748"/>
                  </a:cubicBezTo>
                  <a:lnTo>
                    <a:pt x="221" y="745"/>
                  </a:lnTo>
                  <a:cubicBezTo>
                    <a:pt x="198" y="699"/>
                    <a:pt x="191" y="573"/>
                    <a:pt x="189" y="507"/>
                  </a:cubicBezTo>
                  <a:cubicBezTo>
                    <a:pt x="93" y="506"/>
                    <a:pt x="70" y="448"/>
                    <a:pt x="50" y="395"/>
                  </a:cubicBezTo>
                  <a:cubicBezTo>
                    <a:pt x="48" y="389"/>
                    <a:pt x="45" y="382"/>
                    <a:pt x="43" y="376"/>
                  </a:cubicBezTo>
                  <a:cubicBezTo>
                    <a:pt x="23" y="324"/>
                    <a:pt x="0" y="266"/>
                    <a:pt x="14" y="188"/>
                  </a:cubicBezTo>
                  <a:cubicBezTo>
                    <a:pt x="32" y="84"/>
                    <a:pt x="126" y="77"/>
                    <a:pt x="297" y="65"/>
                  </a:cubicBezTo>
                  <a:cubicBezTo>
                    <a:pt x="469" y="52"/>
                    <a:pt x="1427" y="11"/>
                    <a:pt x="1609" y="5"/>
                  </a:cubicBezTo>
                  <a:cubicBezTo>
                    <a:pt x="1769" y="0"/>
                    <a:pt x="1824" y="8"/>
                    <a:pt x="1900" y="18"/>
                  </a:cubicBezTo>
                  <a:cubicBezTo>
                    <a:pt x="1916" y="20"/>
                    <a:pt x="1933" y="22"/>
                    <a:pt x="1953" y="25"/>
                  </a:cubicBezTo>
                  <a:cubicBezTo>
                    <a:pt x="2065" y="39"/>
                    <a:pt x="2145" y="76"/>
                    <a:pt x="2168" y="213"/>
                  </a:cubicBezTo>
                  <a:cubicBezTo>
                    <a:pt x="2184" y="310"/>
                    <a:pt x="2174" y="368"/>
                    <a:pt x="2135" y="394"/>
                  </a:cubicBezTo>
                  <a:cubicBezTo>
                    <a:pt x="2125" y="401"/>
                    <a:pt x="2112" y="406"/>
                    <a:pt x="2100" y="409"/>
                  </a:cubicBezTo>
                  <a:lnTo>
                    <a:pt x="2100" y="472"/>
                  </a:lnTo>
                  <a:cubicBezTo>
                    <a:pt x="2100" y="531"/>
                    <a:pt x="2063" y="576"/>
                    <a:pt x="1997" y="599"/>
                  </a:cubicBezTo>
                  <a:cubicBezTo>
                    <a:pt x="1985" y="603"/>
                    <a:pt x="1924" y="622"/>
                    <a:pt x="1814" y="656"/>
                  </a:cubicBezTo>
                  <a:cubicBezTo>
                    <a:pt x="1797" y="661"/>
                    <a:pt x="1778" y="651"/>
                    <a:pt x="1773" y="634"/>
                  </a:cubicBezTo>
                  <a:cubicBezTo>
                    <a:pt x="1767" y="616"/>
                    <a:pt x="1777" y="597"/>
                    <a:pt x="1795" y="592"/>
                  </a:cubicBezTo>
                  <a:cubicBezTo>
                    <a:pt x="1937" y="548"/>
                    <a:pt x="1969" y="538"/>
                    <a:pt x="1975" y="536"/>
                  </a:cubicBezTo>
                  <a:cubicBezTo>
                    <a:pt x="2033" y="516"/>
                    <a:pt x="2033" y="483"/>
                    <a:pt x="2033" y="472"/>
                  </a:cubicBezTo>
                  <a:lnTo>
                    <a:pt x="2033" y="384"/>
                  </a:lnTo>
                  <a:cubicBezTo>
                    <a:pt x="2033" y="368"/>
                    <a:pt x="2044" y="354"/>
                    <a:pt x="2060" y="351"/>
                  </a:cubicBezTo>
                  <a:cubicBezTo>
                    <a:pt x="2073" y="348"/>
                    <a:pt x="2092" y="342"/>
                    <a:pt x="2098" y="339"/>
                  </a:cubicBezTo>
                  <a:cubicBezTo>
                    <a:pt x="2106" y="333"/>
                    <a:pt x="2116" y="303"/>
                    <a:pt x="2102" y="224"/>
                  </a:cubicBezTo>
                  <a:cubicBezTo>
                    <a:pt x="2087" y="135"/>
                    <a:pt x="2051" y="104"/>
                    <a:pt x="1944" y="91"/>
                  </a:cubicBezTo>
                  <a:cubicBezTo>
                    <a:pt x="1925" y="89"/>
                    <a:pt x="1908" y="86"/>
                    <a:pt x="1892" y="84"/>
                  </a:cubicBezTo>
                  <a:cubicBezTo>
                    <a:pt x="1815" y="74"/>
                    <a:pt x="1765" y="67"/>
                    <a:pt x="1611" y="72"/>
                  </a:cubicBezTo>
                  <a:cubicBezTo>
                    <a:pt x="1429" y="77"/>
                    <a:pt x="473" y="119"/>
                    <a:pt x="302" y="131"/>
                  </a:cubicBezTo>
                  <a:cubicBezTo>
                    <a:pt x="129" y="144"/>
                    <a:pt x="88" y="152"/>
                    <a:pt x="79" y="200"/>
                  </a:cubicBezTo>
                  <a:cubicBezTo>
                    <a:pt x="69" y="259"/>
                    <a:pt x="86" y="304"/>
                    <a:pt x="105" y="351"/>
                  </a:cubicBezTo>
                  <a:cubicBezTo>
                    <a:pt x="108" y="358"/>
                    <a:pt x="110" y="365"/>
                    <a:pt x="113" y="372"/>
                  </a:cubicBezTo>
                  <a:cubicBezTo>
                    <a:pt x="133" y="425"/>
                    <a:pt x="142" y="448"/>
                    <a:pt x="217" y="439"/>
                  </a:cubicBezTo>
                  <a:cubicBezTo>
                    <a:pt x="227" y="438"/>
                    <a:pt x="236" y="441"/>
                    <a:pt x="243" y="447"/>
                  </a:cubicBezTo>
                  <a:cubicBezTo>
                    <a:pt x="250" y="453"/>
                    <a:pt x="254" y="462"/>
                    <a:pt x="255" y="471"/>
                  </a:cubicBezTo>
                  <a:cubicBezTo>
                    <a:pt x="256" y="553"/>
                    <a:pt x="264" y="683"/>
                    <a:pt x="281" y="714"/>
                  </a:cubicBezTo>
                  <a:lnTo>
                    <a:pt x="282" y="717"/>
                  </a:lnTo>
                  <a:cubicBezTo>
                    <a:pt x="306" y="764"/>
                    <a:pt x="328" y="805"/>
                    <a:pt x="471" y="859"/>
                  </a:cubicBezTo>
                  <a:lnTo>
                    <a:pt x="477" y="861"/>
                  </a:lnTo>
                  <a:cubicBezTo>
                    <a:pt x="632" y="920"/>
                    <a:pt x="663" y="930"/>
                    <a:pt x="717" y="917"/>
                  </a:cubicBezTo>
                  <a:cubicBezTo>
                    <a:pt x="757" y="908"/>
                    <a:pt x="1217" y="769"/>
                    <a:pt x="1620" y="645"/>
                  </a:cubicBezTo>
                  <a:cubicBezTo>
                    <a:pt x="1638" y="640"/>
                    <a:pt x="1656" y="650"/>
                    <a:pt x="1662" y="668"/>
                  </a:cubicBezTo>
                  <a:cubicBezTo>
                    <a:pt x="1667" y="685"/>
                    <a:pt x="1657" y="704"/>
                    <a:pt x="1639" y="709"/>
                  </a:cubicBezTo>
                  <a:cubicBezTo>
                    <a:pt x="1290" y="816"/>
                    <a:pt x="778" y="971"/>
                    <a:pt x="733" y="982"/>
                  </a:cubicBezTo>
                  <a:cubicBezTo>
                    <a:pt x="714" y="986"/>
                    <a:pt x="697" y="989"/>
                    <a:pt x="680" y="989"/>
                  </a:cubicBezTo>
                  <a:close/>
                </a:path>
              </a:pathLst>
            </a:custGeom>
            <a:grpFill/>
            <a:ln w="0">
              <a:noFill/>
              <a:prstDash val="solid"/>
              <a:round/>
              <a:headEnd/>
              <a:tailEnd/>
            </a:ln>
          </p:spPr>
          <p:txBody>
            <a:bodyPr/>
            <a:lstStyle/>
            <a:p>
              <a:pPr defTabSz="456512">
                <a:defRPr/>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Freeform 107"/>
            <p:cNvSpPr>
              <a:spLocks/>
            </p:cNvSpPr>
            <p:nvPr/>
          </p:nvSpPr>
          <p:spPr bwMode="gray">
            <a:xfrm>
              <a:off x="5322888" y="1287463"/>
              <a:ext cx="868363" cy="230188"/>
            </a:xfrm>
            <a:custGeom>
              <a:avLst/>
              <a:gdLst/>
              <a:ahLst/>
              <a:cxnLst>
                <a:cxn ang="0">
                  <a:pos x="753" y="549"/>
                </a:cxn>
                <a:cxn ang="0">
                  <a:pos x="753" y="549"/>
                </a:cxn>
                <a:cxn ang="0">
                  <a:pos x="643" y="465"/>
                </a:cxn>
                <a:cxn ang="0">
                  <a:pos x="636" y="449"/>
                </a:cxn>
                <a:cxn ang="0">
                  <a:pos x="507" y="208"/>
                </a:cxn>
                <a:cxn ang="0">
                  <a:pos x="223" y="79"/>
                </a:cxn>
                <a:cxn ang="0">
                  <a:pos x="47" y="74"/>
                </a:cxn>
                <a:cxn ang="0">
                  <a:pos x="12" y="72"/>
                </a:cxn>
                <a:cxn ang="0">
                  <a:pos x="11" y="34"/>
                </a:cxn>
                <a:cxn ang="0">
                  <a:pos x="231" y="26"/>
                </a:cxn>
                <a:cxn ang="0">
                  <a:pos x="548" y="174"/>
                </a:cxn>
                <a:cxn ang="0">
                  <a:pos x="685" y="428"/>
                </a:cxn>
                <a:cxn ang="0">
                  <a:pos x="692" y="444"/>
                </a:cxn>
                <a:cxn ang="0">
                  <a:pos x="829" y="486"/>
                </a:cxn>
                <a:cxn ang="0">
                  <a:pos x="1733" y="302"/>
                </a:cxn>
                <a:cxn ang="0">
                  <a:pos x="2033" y="241"/>
                </a:cxn>
                <a:cxn ang="0">
                  <a:pos x="2065" y="261"/>
                </a:cxn>
                <a:cxn ang="0">
                  <a:pos x="2044" y="293"/>
                </a:cxn>
                <a:cxn ang="0">
                  <a:pos x="1743" y="354"/>
                </a:cxn>
                <a:cxn ang="0">
                  <a:pos x="840" y="538"/>
                </a:cxn>
                <a:cxn ang="0">
                  <a:pos x="753" y="549"/>
                </a:cxn>
              </a:cxnLst>
              <a:rect l="0" t="0" r="r" b="b"/>
              <a:pathLst>
                <a:path w="2068" h="549">
                  <a:moveTo>
                    <a:pt x="753" y="549"/>
                  </a:moveTo>
                  <a:lnTo>
                    <a:pt x="753" y="549"/>
                  </a:lnTo>
                  <a:cubicBezTo>
                    <a:pt x="687" y="549"/>
                    <a:pt x="666" y="519"/>
                    <a:pt x="643" y="465"/>
                  </a:cubicBezTo>
                  <a:lnTo>
                    <a:pt x="636" y="449"/>
                  </a:lnTo>
                  <a:cubicBezTo>
                    <a:pt x="610" y="387"/>
                    <a:pt x="561" y="272"/>
                    <a:pt x="507" y="208"/>
                  </a:cubicBezTo>
                  <a:cubicBezTo>
                    <a:pt x="457" y="147"/>
                    <a:pt x="394" y="107"/>
                    <a:pt x="223" y="79"/>
                  </a:cubicBezTo>
                  <a:cubicBezTo>
                    <a:pt x="87" y="57"/>
                    <a:pt x="51" y="71"/>
                    <a:pt x="47" y="74"/>
                  </a:cubicBezTo>
                  <a:cubicBezTo>
                    <a:pt x="36" y="82"/>
                    <a:pt x="21" y="81"/>
                    <a:pt x="12" y="72"/>
                  </a:cubicBezTo>
                  <a:cubicBezTo>
                    <a:pt x="1" y="62"/>
                    <a:pt x="0" y="45"/>
                    <a:pt x="11" y="34"/>
                  </a:cubicBezTo>
                  <a:cubicBezTo>
                    <a:pt x="24" y="20"/>
                    <a:pt x="71" y="0"/>
                    <a:pt x="231" y="26"/>
                  </a:cubicBezTo>
                  <a:cubicBezTo>
                    <a:pt x="395" y="53"/>
                    <a:pt x="481" y="93"/>
                    <a:pt x="548" y="174"/>
                  </a:cubicBezTo>
                  <a:cubicBezTo>
                    <a:pt x="607" y="244"/>
                    <a:pt x="656" y="359"/>
                    <a:pt x="685" y="428"/>
                  </a:cubicBezTo>
                  <a:lnTo>
                    <a:pt x="692" y="444"/>
                  </a:lnTo>
                  <a:cubicBezTo>
                    <a:pt x="714" y="495"/>
                    <a:pt x="719" y="509"/>
                    <a:pt x="829" y="486"/>
                  </a:cubicBezTo>
                  <a:cubicBezTo>
                    <a:pt x="922" y="466"/>
                    <a:pt x="1410" y="367"/>
                    <a:pt x="1733" y="302"/>
                  </a:cubicBezTo>
                  <a:cubicBezTo>
                    <a:pt x="1893" y="269"/>
                    <a:pt x="2020" y="243"/>
                    <a:pt x="2033" y="241"/>
                  </a:cubicBezTo>
                  <a:cubicBezTo>
                    <a:pt x="2048" y="238"/>
                    <a:pt x="2062" y="247"/>
                    <a:pt x="2065" y="261"/>
                  </a:cubicBezTo>
                  <a:cubicBezTo>
                    <a:pt x="2068" y="276"/>
                    <a:pt x="2059" y="290"/>
                    <a:pt x="2044" y="293"/>
                  </a:cubicBezTo>
                  <a:cubicBezTo>
                    <a:pt x="2031" y="296"/>
                    <a:pt x="1910" y="320"/>
                    <a:pt x="1743" y="354"/>
                  </a:cubicBezTo>
                  <a:cubicBezTo>
                    <a:pt x="1421" y="419"/>
                    <a:pt x="933" y="518"/>
                    <a:pt x="840" y="538"/>
                  </a:cubicBezTo>
                  <a:cubicBezTo>
                    <a:pt x="804" y="545"/>
                    <a:pt x="776" y="549"/>
                    <a:pt x="753" y="549"/>
                  </a:cubicBezTo>
                  <a:close/>
                </a:path>
              </a:pathLst>
            </a:custGeom>
            <a:grpFill/>
            <a:ln w="0">
              <a:noFill/>
              <a:prstDash val="solid"/>
              <a:round/>
              <a:headEnd/>
              <a:tailEnd/>
            </a:ln>
          </p:spPr>
          <p:txBody>
            <a:bodyPr/>
            <a:lstStyle/>
            <a:p>
              <a:pPr defTabSz="456512">
                <a:defRPr/>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Freeform 108"/>
            <p:cNvSpPr>
              <a:spLocks/>
            </p:cNvSpPr>
            <p:nvPr/>
          </p:nvSpPr>
          <p:spPr bwMode="gray">
            <a:xfrm>
              <a:off x="5564188" y="1495425"/>
              <a:ext cx="87313" cy="157163"/>
            </a:xfrm>
            <a:custGeom>
              <a:avLst/>
              <a:gdLst/>
              <a:ahLst/>
              <a:cxnLst>
                <a:cxn ang="0">
                  <a:pos x="45" y="375"/>
                </a:cxn>
                <a:cxn ang="0">
                  <a:pos x="45" y="375"/>
                </a:cxn>
                <a:cxn ang="0">
                  <a:pos x="25" y="375"/>
                </a:cxn>
                <a:cxn ang="0">
                  <a:pos x="0" y="346"/>
                </a:cxn>
                <a:cxn ang="0">
                  <a:pos x="29" y="321"/>
                </a:cxn>
                <a:cxn ang="0">
                  <a:pos x="143" y="237"/>
                </a:cxn>
                <a:cxn ang="0">
                  <a:pos x="144" y="232"/>
                </a:cxn>
                <a:cxn ang="0">
                  <a:pos x="153" y="28"/>
                </a:cxn>
                <a:cxn ang="0">
                  <a:pos x="179" y="1"/>
                </a:cxn>
                <a:cxn ang="0">
                  <a:pos x="206" y="27"/>
                </a:cxn>
                <a:cxn ang="0">
                  <a:pos x="196" y="245"/>
                </a:cxn>
                <a:cxn ang="0">
                  <a:pos x="195" y="249"/>
                </a:cxn>
                <a:cxn ang="0">
                  <a:pos x="45" y="375"/>
                </a:cxn>
              </a:cxnLst>
              <a:rect l="0" t="0" r="r" b="b"/>
              <a:pathLst>
                <a:path w="210" h="375">
                  <a:moveTo>
                    <a:pt x="45" y="375"/>
                  </a:moveTo>
                  <a:lnTo>
                    <a:pt x="45" y="375"/>
                  </a:lnTo>
                  <a:cubicBezTo>
                    <a:pt x="39" y="375"/>
                    <a:pt x="32" y="375"/>
                    <a:pt x="25" y="375"/>
                  </a:cubicBezTo>
                  <a:cubicBezTo>
                    <a:pt x="11" y="374"/>
                    <a:pt x="0" y="361"/>
                    <a:pt x="0" y="346"/>
                  </a:cubicBezTo>
                  <a:cubicBezTo>
                    <a:pt x="1" y="332"/>
                    <a:pt x="14" y="320"/>
                    <a:pt x="29" y="321"/>
                  </a:cubicBezTo>
                  <a:cubicBezTo>
                    <a:pt x="121" y="327"/>
                    <a:pt x="130" y="291"/>
                    <a:pt x="143" y="237"/>
                  </a:cubicBezTo>
                  <a:lnTo>
                    <a:pt x="144" y="232"/>
                  </a:lnTo>
                  <a:cubicBezTo>
                    <a:pt x="155" y="189"/>
                    <a:pt x="154" y="70"/>
                    <a:pt x="153" y="28"/>
                  </a:cubicBezTo>
                  <a:cubicBezTo>
                    <a:pt x="153" y="13"/>
                    <a:pt x="164" y="1"/>
                    <a:pt x="179" y="1"/>
                  </a:cubicBezTo>
                  <a:cubicBezTo>
                    <a:pt x="194" y="0"/>
                    <a:pt x="206" y="12"/>
                    <a:pt x="206" y="27"/>
                  </a:cubicBezTo>
                  <a:cubicBezTo>
                    <a:pt x="206" y="33"/>
                    <a:pt x="210" y="186"/>
                    <a:pt x="196" y="245"/>
                  </a:cubicBezTo>
                  <a:lnTo>
                    <a:pt x="195" y="249"/>
                  </a:lnTo>
                  <a:cubicBezTo>
                    <a:pt x="182" y="303"/>
                    <a:pt x="164" y="375"/>
                    <a:pt x="45" y="375"/>
                  </a:cubicBezTo>
                  <a:close/>
                </a:path>
              </a:pathLst>
            </a:custGeom>
            <a:grpFill/>
            <a:ln w="0">
              <a:noFill/>
              <a:prstDash val="solid"/>
              <a:round/>
              <a:headEnd/>
              <a:tailEnd/>
            </a:ln>
          </p:spPr>
          <p:txBody>
            <a:bodyPr/>
            <a:lstStyle/>
            <a:p>
              <a:pPr defTabSz="456512">
                <a:defRPr/>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Freeform 109"/>
            <p:cNvSpPr>
              <a:spLocks/>
            </p:cNvSpPr>
            <p:nvPr/>
          </p:nvSpPr>
          <p:spPr bwMode="gray">
            <a:xfrm>
              <a:off x="5394325" y="1303338"/>
              <a:ext cx="87313" cy="147638"/>
            </a:xfrm>
            <a:custGeom>
              <a:avLst/>
              <a:gdLst/>
              <a:ahLst/>
              <a:cxnLst>
                <a:cxn ang="0">
                  <a:pos x="27" y="353"/>
                </a:cxn>
                <a:cxn ang="0">
                  <a:pos x="27" y="353"/>
                </a:cxn>
                <a:cxn ang="0">
                  <a:pos x="0" y="327"/>
                </a:cxn>
                <a:cxn ang="0">
                  <a:pos x="0" y="169"/>
                </a:cxn>
                <a:cxn ang="0">
                  <a:pos x="52" y="31"/>
                </a:cxn>
                <a:cxn ang="0">
                  <a:pos x="184" y="14"/>
                </a:cxn>
                <a:cxn ang="0">
                  <a:pos x="203" y="46"/>
                </a:cxn>
                <a:cxn ang="0">
                  <a:pos x="171" y="66"/>
                </a:cxn>
                <a:cxn ang="0">
                  <a:pos x="84" y="73"/>
                </a:cxn>
                <a:cxn ang="0">
                  <a:pos x="54" y="169"/>
                </a:cxn>
                <a:cxn ang="0">
                  <a:pos x="54" y="327"/>
                </a:cxn>
                <a:cxn ang="0">
                  <a:pos x="27" y="353"/>
                </a:cxn>
              </a:cxnLst>
              <a:rect l="0" t="0" r="r" b="b"/>
              <a:pathLst>
                <a:path w="207" h="353">
                  <a:moveTo>
                    <a:pt x="27" y="353"/>
                  </a:moveTo>
                  <a:lnTo>
                    <a:pt x="27" y="353"/>
                  </a:lnTo>
                  <a:cubicBezTo>
                    <a:pt x="12" y="353"/>
                    <a:pt x="0" y="342"/>
                    <a:pt x="0" y="327"/>
                  </a:cubicBezTo>
                  <a:lnTo>
                    <a:pt x="0" y="169"/>
                  </a:lnTo>
                  <a:cubicBezTo>
                    <a:pt x="0" y="104"/>
                    <a:pt x="17" y="57"/>
                    <a:pt x="52" y="31"/>
                  </a:cubicBezTo>
                  <a:cubicBezTo>
                    <a:pt x="84" y="6"/>
                    <a:pt x="128" y="0"/>
                    <a:pt x="184" y="14"/>
                  </a:cubicBezTo>
                  <a:cubicBezTo>
                    <a:pt x="198" y="17"/>
                    <a:pt x="207" y="32"/>
                    <a:pt x="203" y="46"/>
                  </a:cubicBezTo>
                  <a:cubicBezTo>
                    <a:pt x="200" y="61"/>
                    <a:pt x="185" y="69"/>
                    <a:pt x="171" y="66"/>
                  </a:cubicBezTo>
                  <a:cubicBezTo>
                    <a:pt x="132" y="56"/>
                    <a:pt x="103" y="58"/>
                    <a:pt x="84" y="73"/>
                  </a:cubicBezTo>
                  <a:cubicBezTo>
                    <a:pt x="64" y="89"/>
                    <a:pt x="54" y="121"/>
                    <a:pt x="54" y="169"/>
                  </a:cubicBezTo>
                  <a:lnTo>
                    <a:pt x="54" y="327"/>
                  </a:lnTo>
                  <a:cubicBezTo>
                    <a:pt x="54" y="342"/>
                    <a:pt x="42" y="353"/>
                    <a:pt x="27" y="353"/>
                  </a:cubicBezTo>
                  <a:close/>
                </a:path>
              </a:pathLst>
            </a:custGeom>
            <a:grpFill/>
            <a:ln w="0">
              <a:noFill/>
              <a:prstDash val="solid"/>
              <a:round/>
              <a:headEnd/>
              <a:tailEnd/>
            </a:ln>
          </p:spPr>
          <p:txBody>
            <a:bodyPr/>
            <a:lstStyle/>
            <a:p>
              <a:pPr defTabSz="456512">
                <a:defRPr/>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Freeform 110"/>
            <p:cNvSpPr>
              <a:spLocks/>
            </p:cNvSpPr>
            <p:nvPr/>
          </p:nvSpPr>
          <p:spPr bwMode="gray">
            <a:xfrm>
              <a:off x="5437188" y="1339850"/>
              <a:ext cx="165100" cy="247650"/>
            </a:xfrm>
            <a:custGeom>
              <a:avLst/>
              <a:gdLst/>
              <a:ahLst/>
              <a:cxnLst>
                <a:cxn ang="0">
                  <a:pos x="233" y="591"/>
                </a:cxn>
                <a:cxn ang="0">
                  <a:pos x="233" y="591"/>
                </a:cxn>
                <a:cxn ang="0">
                  <a:pos x="108" y="521"/>
                </a:cxn>
                <a:cxn ang="0">
                  <a:pos x="26" y="326"/>
                </a:cxn>
                <a:cxn ang="0">
                  <a:pos x="157" y="5"/>
                </a:cxn>
                <a:cxn ang="0">
                  <a:pos x="243" y="23"/>
                </a:cxn>
                <a:cxn ang="0">
                  <a:pos x="250" y="50"/>
                </a:cxn>
                <a:cxn ang="0">
                  <a:pos x="223" y="57"/>
                </a:cxn>
                <a:cxn ang="0">
                  <a:pos x="163" y="44"/>
                </a:cxn>
                <a:cxn ang="0">
                  <a:pos x="66" y="320"/>
                </a:cxn>
                <a:cxn ang="0">
                  <a:pos x="139" y="495"/>
                </a:cxn>
                <a:cxn ang="0">
                  <a:pos x="245" y="550"/>
                </a:cxn>
                <a:cxn ang="0">
                  <a:pos x="329" y="465"/>
                </a:cxn>
                <a:cxn ang="0">
                  <a:pos x="343" y="275"/>
                </a:cxn>
                <a:cxn ang="0">
                  <a:pos x="337" y="247"/>
                </a:cxn>
                <a:cxn ang="0">
                  <a:pos x="352" y="223"/>
                </a:cxn>
                <a:cxn ang="0">
                  <a:pos x="376" y="238"/>
                </a:cxn>
                <a:cxn ang="0">
                  <a:pos x="382" y="268"/>
                </a:cxn>
                <a:cxn ang="0">
                  <a:pos x="366" y="479"/>
                </a:cxn>
                <a:cxn ang="0">
                  <a:pos x="252" y="590"/>
                </a:cxn>
                <a:cxn ang="0">
                  <a:pos x="233" y="591"/>
                </a:cxn>
              </a:cxnLst>
              <a:rect l="0" t="0" r="r" b="b"/>
              <a:pathLst>
                <a:path w="395" h="591">
                  <a:moveTo>
                    <a:pt x="233" y="591"/>
                  </a:moveTo>
                  <a:lnTo>
                    <a:pt x="233" y="591"/>
                  </a:lnTo>
                  <a:cubicBezTo>
                    <a:pt x="190" y="591"/>
                    <a:pt x="146" y="567"/>
                    <a:pt x="108" y="521"/>
                  </a:cubicBezTo>
                  <a:cubicBezTo>
                    <a:pt x="68" y="471"/>
                    <a:pt x="39" y="402"/>
                    <a:pt x="26" y="326"/>
                  </a:cubicBezTo>
                  <a:cubicBezTo>
                    <a:pt x="0" y="162"/>
                    <a:pt x="57" y="21"/>
                    <a:pt x="157" y="5"/>
                  </a:cubicBezTo>
                  <a:cubicBezTo>
                    <a:pt x="185" y="0"/>
                    <a:pt x="215" y="6"/>
                    <a:pt x="243" y="23"/>
                  </a:cubicBezTo>
                  <a:cubicBezTo>
                    <a:pt x="253" y="28"/>
                    <a:pt x="256" y="41"/>
                    <a:pt x="250" y="50"/>
                  </a:cubicBezTo>
                  <a:cubicBezTo>
                    <a:pt x="245" y="60"/>
                    <a:pt x="232" y="63"/>
                    <a:pt x="223" y="57"/>
                  </a:cubicBezTo>
                  <a:cubicBezTo>
                    <a:pt x="202" y="45"/>
                    <a:pt x="182" y="41"/>
                    <a:pt x="163" y="44"/>
                  </a:cubicBezTo>
                  <a:cubicBezTo>
                    <a:pt x="88" y="56"/>
                    <a:pt x="43" y="182"/>
                    <a:pt x="66" y="320"/>
                  </a:cubicBezTo>
                  <a:cubicBezTo>
                    <a:pt x="77" y="389"/>
                    <a:pt x="103" y="452"/>
                    <a:pt x="139" y="495"/>
                  </a:cubicBezTo>
                  <a:cubicBezTo>
                    <a:pt x="173" y="536"/>
                    <a:pt x="210" y="556"/>
                    <a:pt x="245" y="550"/>
                  </a:cubicBezTo>
                  <a:cubicBezTo>
                    <a:pt x="280" y="544"/>
                    <a:pt x="310" y="514"/>
                    <a:pt x="329" y="465"/>
                  </a:cubicBezTo>
                  <a:cubicBezTo>
                    <a:pt x="349" y="412"/>
                    <a:pt x="354" y="344"/>
                    <a:pt x="343" y="275"/>
                  </a:cubicBezTo>
                  <a:cubicBezTo>
                    <a:pt x="341" y="265"/>
                    <a:pt x="339" y="256"/>
                    <a:pt x="337" y="247"/>
                  </a:cubicBezTo>
                  <a:cubicBezTo>
                    <a:pt x="335" y="236"/>
                    <a:pt x="342" y="225"/>
                    <a:pt x="352" y="223"/>
                  </a:cubicBezTo>
                  <a:cubicBezTo>
                    <a:pt x="363" y="221"/>
                    <a:pt x="374" y="227"/>
                    <a:pt x="376" y="238"/>
                  </a:cubicBezTo>
                  <a:cubicBezTo>
                    <a:pt x="379" y="248"/>
                    <a:pt x="380" y="258"/>
                    <a:pt x="382" y="268"/>
                  </a:cubicBezTo>
                  <a:cubicBezTo>
                    <a:pt x="395" y="344"/>
                    <a:pt x="389" y="419"/>
                    <a:pt x="366" y="479"/>
                  </a:cubicBezTo>
                  <a:cubicBezTo>
                    <a:pt x="342" y="542"/>
                    <a:pt x="301" y="582"/>
                    <a:pt x="252" y="590"/>
                  </a:cubicBezTo>
                  <a:cubicBezTo>
                    <a:pt x="246" y="591"/>
                    <a:pt x="239" y="591"/>
                    <a:pt x="233" y="591"/>
                  </a:cubicBezTo>
                  <a:close/>
                </a:path>
              </a:pathLst>
            </a:custGeom>
            <a:grpFill/>
            <a:ln w="0">
              <a:noFill/>
              <a:prstDash val="solid"/>
              <a:round/>
              <a:headEnd/>
              <a:tailEnd/>
            </a:ln>
          </p:spPr>
          <p:txBody>
            <a:bodyPr/>
            <a:lstStyle/>
            <a:p>
              <a:pPr defTabSz="456512">
                <a:defRPr/>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Freeform 111"/>
            <p:cNvSpPr>
              <a:spLocks noEditPoints="1"/>
            </p:cNvSpPr>
            <p:nvPr/>
          </p:nvSpPr>
          <p:spPr bwMode="gray">
            <a:xfrm>
              <a:off x="5478463" y="1400175"/>
              <a:ext cx="87313" cy="123825"/>
            </a:xfrm>
            <a:custGeom>
              <a:avLst/>
              <a:gdLst/>
              <a:ahLst/>
              <a:cxnLst>
                <a:cxn ang="0">
                  <a:pos x="91" y="47"/>
                </a:cxn>
                <a:cxn ang="0">
                  <a:pos x="91" y="47"/>
                </a:cxn>
                <a:cxn ang="0">
                  <a:pos x="87" y="48"/>
                </a:cxn>
                <a:cxn ang="0">
                  <a:pos x="53" y="159"/>
                </a:cxn>
                <a:cxn ang="0">
                  <a:pos x="117" y="255"/>
                </a:cxn>
                <a:cxn ang="0">
                  <a:pos x="121" y="255"/>
                </a:cxn>
                <a:cxn ang="0">
                  <a:pos x="156" y="143"/>
                </a:cxn>
                <a:cxn ang="0">
                  <a:pos x="91" y="47"/>
                </a:cxn>
                <a:cxn ang="0">
                  <a:pos x="117" y="295"/>
                </a:cxn>
                <a:cxn ang="0">
                  <a:pos x="117" y="295"/>
                </a:cxn>
                <a:cxn ang="0">
                  <a:pos x="13" y="166"/>
                </a:cxn>
                <a:cxn ang="0">
                  <a:pos x="81" y="8"/>
                </a:cxn>
                <a:cxn ang="0">
                  <a:pos x="195" y="136"/>
                </a:cxn>
                <a:cxn ang="0">
                  <a:pos x="127" y="294"/>
                </a:cxn>
                <a:cxn ang="0">
                  <a:pos x="117" y="295"/>
                </a:cxn>
              </a:cxnLst>
              <a:rect l="0" t="0" r="r" b="b"/>
              <a:pathLst>
                <a:path w="208" h="295">
                  <a:moveTo>
                    <a:pt x="91" y="47"/>
                  </a:moveTo>
                  <a:lnTo>
                    <a:pt x="91" y="47"/>
                  </a:lnTo>
                  <a:cubicBezTo>
                    <a:pt x="90" y="47"/>
                    <a:pt x="89" y="47"/>
                    <a:pt x="87" y="48"/>
                  </a:cubicBezTo>
                  <a:cubicBezTo>
                    <a:pt x="63" y="52"/>
                    <a:pt x="43" y="99"/>
                    <a:pt x="53" y="159"/>
                  </a:cubicBezTo>
                  <a:cubicBezTo>
                    <a:pt x="62" y="217"/>
                    <a:pt x="94" y="255"/>
                    <a:pt x="117" y="255"/>
                  </a:cubicBezTo>
                  <a:cubicBezTo>
                    <a:pt x="119" y="255"/>
                    <a:pt x="120" y="255"/>
                    <a:pt x="121" y="255"/>
                  </a:cubicBezTo>
                  <a:cubicBezTo>
                    <a:pt x="145" y="251"/>
                    <a:pt x="166" y="204"/>
                    <a:pt x="156" y="143"/>
                  </a:cubicBezTo>
                  <a:cubicBezTo>
                    <a:pt x="147" y="86"/>
                    <a:pt x="115" y="47"/>
                    <a:pt x="91" y="47"/>
                  </a:cubicBezTo>
                  <a:close/>
                  <a:moveTo>
                    <a:pt x="117" y="295"/>
                  </a:moveTo>
                  <a:lnTo>
                    <a:pt x="117" y="295"/>
                  </a:lnTo>
                  <a:cubicBezTo>
                    <a:pt x="69" y="295"/>
                    <a:pt x="25" y="241"/>
                    <a:pt x="13" y="166"/>
                  </a:cubicBezTo>
                  <a:cubicBezTo>
                    <a:pt x="0" y="86"/>
                    <a:pt x="30" y="17"/>
                    <a:pt x="81" y="8"/>
                  </a:cubicBezTo>
                  <a:cubicBezTo>
                    <a:pt x="133" y="0"/>
                    <a:pt x="182" y="56"/>
                    <a:pt x="195" y="136"/>
                  </a:cubicBezTo>
                  <a:cubicBezTo>
                    <a:pt x="208" y="216"/>
                    <a:pt x="179" y="286"/>
                    <a:pt x="127" y="294"/>
                  </a:cubicBezTo>
                  <a:cubicBezTo>
                    <a:pt x="124" y="295"/>
                    <a:pt x="121" y="295"/>
                    <a:pt x="117" y="295"/>
                  </a:cubicBezTo>
                  <a:close/>
                </a:path>
              </a:pathLst>
            </a:custGeom>
            <a:grpFill/>
            <a:ln w="0">
              <a:noFill/>
              <a:prstDash val="solid"/>
              <a:round/>
              <a:headEnd/>
              <a:tailEnd/>
            </a:ln>
          </p:spPr>
          <p:txBody>
            <a:bodyPr/>
            <a:lstStyle/>
            <a:p>
              <a:pPr defTabSz="456512">
                <a:defRPr/>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Freeform 112"/>
            <p:cNvSpPr>
              <a:spLocks/>
            </p:cNvSpPr>
            <p:nvPr/>
          </p:nvSpPr>
          <p:spPr bwMode="gray">
            <a:xfrm>
              <a:off x="5953125" y="1495425"/>
              <a:ext cx="65088" cy="65088"/>
            </a:xfrm>
            <a:custGeom>
              <a:avLst/>
              <a:gdLst/>
              <a:ahLst/>
              <a:cxnLst>
                <a:cxn ang="0">
                  <a:pos x="97" y="144"/>
                </a:cxn>
                <a:cxn ang="0">
                  <a:pos x="97" y="144"/>
                </a:cxn>
                <a:cxn ang="0">
                  <a:pos x="11" y="97"/>
                </a:cxn>
                <a:cxn ang="0">
                  <a:pos x="58" y="11"/>
                </a:cxn>
                <a:cxn ang="0">
                  <a:pos x="144" y="58"/>
                </a:cxn>
                <a:cxn ang="0">
                  <a:pos x="97" y="144"/>
                </a:cxn>
              </a:cxnLst>
              <a:rect l="0" t="0" r="r" b="b"/>
              <a:pathLst>
                <a:path w="155" h="155">
                  <a:moveTo>
                    <a:pt x="97" y="144"/>
                  </a:moveTo>
                  <a:lnTo>
                    <a:pt x="97" y="144"/>
                  </a:lnTo>
                  <a:cubicBezTo>
                    <a:pt x="60" y="155"/>
                    <a:pt x="22" y="134"/>
                    <a:pt x="11" y="97"/>
                  </a:cubicBezTo>
                  <a:cubicBezTo>
                    <a:pt x="0" y="60"/>
                    <a:pt x="21" y="22"/>
                    <a:pt x="58" y="11"/>
                  </a:cubicBezTo>
                  <a:cubicBezTo>
                    <a:pt x="95" y="0"/>
                    <a:pt x="133" y="21"/>
                    <a:pt x="144" y="58"/>
                  </a:cubicBezTo>
                  <a:cubicBezTo>
                    <a:pt x="155" y="95"/>
                    <a:pt x="134" y="133"/>
                    <a:pt x="97" y="144"/>
                  </a:cubicBezTo>
                  <a:close/>
                </a:path>
              </a:pathLst>
            </a:custGeom>
            <a:grpFill/>
            <a:ln w="0">
              <a:noFill/>
              <a:prstDash val="solid"/>
              <a:round/>
              <a:headEnd/>
              <a:tailEnd/>
            </a:ln>
          </p:spPr>
          <p:txBody>
            <a:bodyPr/>
            <a:lstStyle/>
            <a:p>
              <a:pPr defTabSz="456512">
                <a:defRPr/>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Freeform 113"/>
            <p:cNvSpPr>
              <a:spLocks/>
            </p:cNvSpPr>
            <p:nvPr/>
          </p:nvSpPr>
          <p:spPr bwMode="gray">
            <a:xfrm>
              <a:off x="6038850" y="1470025"/>
              <a:ext cx="65088" cy="65088"/>
            </a:xfrm>
            <a:custGeom>
              <a:avLst/>
              <a:gdLst/>
              <a:ahLst/>
              <a:cxnLst>
                <a:cxn ang="0">
                  <a:pos x="97" y="144"/>
                </a:cxn>
                <a:cxn ang="0">
                  <a:pos x="97" y="144"/>
                </a:cxn>
                <a:cxn ang="0">
                  <a:pos x="11" y="97"/>
                </a:cxn>
                <a:cxn ang="0">
                  <a:pos x="58" y="11"/>
                </a:cxn>
                <a:cxn ang="0">
                  <a:pos x="144" y="58"/>
                </a:cxn>
                <a:cxn ang="0">
                  <a:pos x="97" y="144"/>
                </a:cxn>
              </a:cxnLst>
              <a:rect l="0" t="0" r="r" b="b"/>
              <a:pathLst>
                <a:path w="155" h="155">
                  <a:moveTo>
                    <a:pt x="97" y="144"/>
                  </a:moveTo>
                  <a:lnTo>
                    <a:pt x="97" y="144"/>
                  </a:lnTo>
                  <a:cubicBezTo>
                    <a:pt x="60" y="155"/>
                    <a:pt x="22" y="134"/>
                    <a:pt x="11" y="97"/>
                  </a:cubicBezTo>
                  <a:cubicBezTo>
                    <a:pt x="0" y="60"/>
                    <a:pt x="21" y="22"/>
                    <a:pt x="58" y="11"/>
                  </a:cubicBezTo>
                  <a:cubicBezTo>
                    <a:pt x="95" y="0"/>
                    <a:pt x="134" y="21"/>
                    <a:pt x="144" y="58"/>
                  </a:cubicBezTo>
                  <a:cubicBezTo>
                    <a:pt x="155" y="95"/>
                    <a:pt x="134" y="134"/>
                    <a:pt x="97" y="144"/>
                  </a:cubicBezTo>
                  <a:close/>
                </a:path>
              </a:pathLst>
            </a:custGeom>
            <a:grpFill/>
            <a:ln w="0">
              <a:noFill/>
              <a:prstDash val="solid"/>
              <a:round/>
              <a:headEnd/>
              <a:tailEnd/>
            </a:ln>
          </p:spPr>
          <p:txBody>
            <a:bodyPr/>
            <a:lstStyle/>
            <a:p>
              <a:pPr defTabSz="456512">
                <a:defRPr/>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5" name="文本框 44"/>
          <p:cNvSpPr txBox="1"/>
          <p:nvPr/>
        </p:nvSpPr>
        <p:spPr bwMode="gray">
          <a:xfrm>
            <a:off x="742170" y="4730694"/>
            <a:ext cx="869148" cy="461665"/>
          </a:xfrm>
          <a:prstGeom prst="rect">
            <a:avLst/>
          </a:prstGeom>
          <a:noFill/>
        </p:spPr>
        <p:txBody>
          <a:bodyPr wrap="none" rtlCol="0">
            <a:spAutoFit/>
          </a:bodyPr>
          <a:lstStyle/>
          <a:p>
            <a:pPr algn="ct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终端</a:t>
            </a: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1</a:t>
            </a:r>
          </a:p>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1.1.1.1/24</a:t>
            </a:r>
          </a:p>
        </p:txBody>
      </p:sp>
      <p:sp>
        <p:nvSpPr>
          <p:cNvPr id="46" name="文本框 45"/>
          <p:cNvSpPr txBox="1"/>
          <p:nvPr/>
        </p:nvSpPr>
        <p:spPr bwMode="gray">
          <a:xfrm>
            <a:off x="3672919" y="4730694"/>
            <a:ext cx="869149" cy="461665"/>
          </a:xfrm>
          <a:prstGeom prst="rect">
            <a:avLst/>
          </a:prstGeom>
          <a:noFill/>
        </p:spPr>
        <p:txBody>
          <a:bodyPr wrap="non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终端</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3</a:t>
            </a: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1.1.1.2/24</a:t>
            </a:r>
          </a:p>
        </p:txBody>
      </p:sp>
      <p:sp>
        <p:nvSpPr>
          <p:cNvPr id="47" name="文本框 46"/>
          <p:cNvSpPr txBox="1"/>
          <p:nvPr/>
        </p:nvSpPr>
        <p:spPr bwMode="gray">
          <a:xfrm>
            <a:off x="5131722" y="4730694"/>
            <a:ext cx="869148" cy="461665"/>
          </a:xfrm>
          <a:prstGeom prst="rect">
            <a:avLst/>
          </a:prstGeom>
          <a:noFill/>
        </p:spPr>
        <p:txBody>
          <a:bodyPr wrap="none" rtlCol="0">
            <a:spAutoFit/>
          </a:bodyPr>
          <a:lstStyle/>
          <a:p>
            <a:pPr algn="ct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终端</a:t>
            </a: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4</a:t>
            </a:r>
          </a:p>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2.2.2.2/24</a:t>
            </a:r>
          </a:p>
        </p:txBody>
      </p:sp>
      <p:sp>
        <p:nvSpPr>
          <p:cNvPr id="48" name="文本框 47"/>
          <p:cNvSpPr txBox="1"/>
          <p:nvPr/>
        </p:nvSpPr>
        <p:spPr bwMode="gray">
          <a:xfrm>
            <a:off x="656744" y="5817189"/>
            <a:ext cx="1101584" cy="276999"/>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VN1</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（办公）</a:t>
            </a:r>
          </a:p>
        </p:txBody>
      </p:sp>
      <p:sp>
        <p:nvSpPr>
          <p:cNvPr id="49" name="文本框 48"/>
          <p:cNvSpPr txBox="1"/>
          <p:nvPr/>
        </p:nvSpPr>
        <p:spPr bwMode="gray">
          <a:xfrm>
            <a:off x="2648093" y="5817189"/>
            <a:ext cx="1101584"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VN2</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（监控）</a:t>
            </a:r>
          </a:p>
        </p:txBody>
      </p:sp>
      <p:sp>
        <p:nvSpPr>
          <p:cNvPr id="50" name="Freeform 155"/>
          <p:cNvSpPr/>
          <p:nvPr/>
        </p:nvSpPr>
        <p:spPr bwMode="gray">
          <a:xfrm flipV="1">
            <a:off x="1344273" y="5203992"/>
            <a:ext cx="1055073" cy="171129"/>
          </a:xfrm>
          <a:custGeom>
            <a:avLst/>
            <a:gdLst>
              <a:gd name="connsiteX0" fmla="*/ 0 w 977030"/>
              <a:gd name="connsiteY0" fmla="*/ 201022 h 201022"/>
              <a:gd name="connsiteX1" fmla="*/ 475989 w 977030"/>
              <a:gd name="connsiteY1" fmla="*/ 606 h 201022"/>
              <a:gd name="connsiteX2" fmla="*/ 977030 w 977030"/>
              <a:gd name="connsiteY2" fmla="*/ 150918 h 201022"/>
              <a:gd name="connsiteX0" fmla="*/ 0 w 974649"/>
              <a:gd name="connsiteY0" fmla="*/ 200418 h 202701"/>
              <a:gd name="connsiteX1" fmla="*/ 475989 w 974649"/>
              <a:gd name="connsiteY1" fmla="*/ 2 h 202701"/>
              <a:gd name="connsiteX2" fmla="*/ 974649 w 974649"/>
              <a:gd name="connsiteY2" fmla="*/ 202701 h 202701"/>
              <a:gd name="connsiteX0" fmla="*/ 0 w 974649"/>
              <a:gd name="connsiteY0" fmla="*/ 200418 h 202701"/>
              <a:gd name="connsiteX1" fmla="*/ 475989 w 974649"/>
              <a:gd name="connsiteY1" fmla="*/ 2 h 202701"/>
              <a:gd name="connsiteX2" fmla="*/ 974649 w 974649"/>
              <a:gd name="connsiteY2" fmla="*/ 202701 h 202701"/>
              <a:gd name="connsiteX0" fmla="*/ 0 w 977031"/>
              <a:gd name="connsiteY0" fmla="*/ 200442 h 212250"/>
              <a:gd name="connsiteX1" fmla="*/ 475989 w 977031"/>
              <a:gd name="connsiteY1" fmla="*/ 26 h 212250"/>
              <a:gd name="connsiteX2" fmla="*/ 977031 w 977031"/>
              <a:gd name="connsiteY2" fmla="*/ 212250 h 212250"/>
              <a:gd name="connsiteX0" fmla="*/ 0 w 977031"/>
              <a:gd name="connsiteY0" fmla="*/ 195683 h 207491"/>
              <a:gd name="connsiteX1" fmla="*/ 480751 w 977031"/>
              <a:gd name="connsiteY1" fmla="*/ 29 h 207491"/>
              <a:gd name="connsiteX2" fmla="*/ 977031 w 977031"/>
              <a:gd name="connsiteY2" fmla="*/ 207491 h 207491"/>
              <a:gd name="connsiteX0" fmla="*/ 0 w 977031"/>
              <a:gd name="connsiteY0" fmla="*/ 0 h 11808"/>
              <a:gd name="connsiteX1" fmla="*/ 977031 w 977031"/>
              <a:gd name="connsiteY1" fmla="*/ 11808 h 11808"/>
              <a:gd name="connsiteX0" fmla="*/ 0 w 977031"/>
              <a:gd name="connsiteY0" fmla="*/ 85139 h 85139"/>
              <a:gd name="connsiteX1" fmla="*/ 977031 w 977031"/>
              <a:gd name="connsiteY1" fmla="*/ 0 h 85139"/>
              <a:gd name="connsiteX0" fmla="*/ 0 w 704616"/>
              <a:gd name="connsiteY0" fmla="*/ 3499 h 3499"/>
              <a:gd name="connsiteX1" fmla="*/ 704616 w 704616"/>
              <a:gd name="connsiteY1" fmla="*/ 0 h 3499"/>
              <a:gd name="connsiteX0" fmla="*/ 0 w 10000"/>
              <a:gd name="connsiteY0" fmla="*/ 0 h 48324"/>
              <a:gd name="connsiteX1" fmla="*/ 10000 w 10000"/>
              <a:gd name="connsiteY1" fmla="*/ 48324 h 48324"/>
              <a:gd name="connsiteX0" fmla="*/ 0 w 10000"/>
              <a:gd name="connsiteY0" fmla="*/ 405325 h 453649"/>
              <a:gd name="connsiteX1" fmla="*/ 10000 w 10000"/>
              <a:gd name="connsiteY1" fmla="*/ 453649 h 453649"/>
              <a:gd name="connsiteX0" fmla="*/ 0 w 10000"/>
              <a:gd name="connsiteY0" fmla="*/ 606593 h 654917"/>
              <a:gd name="connsiteX1" fmla="*/ 10000 w 10000"/>
              <a:gd name="connsiteY1" fmla="*/ 654917 h 654917"/>
            </a:gdLst>
            <a:ahLst/>
            <a:cxnLst>
              <a:cxn ang="0">
                <a:pos x="connsiteX0" y="connsiteY0"/>
              </a:cxn>
              <a:cxn ang="0">
                <a:pos x="connsiteX1" y="connsiteY1"/>
              </a:cxn>
            </a:cxnLst>
            <a:rect l="l" t="t" r="r" b="b"/>
            <a:pathLst>
              <a:path w="10000" h="654917">
                <a:moveTo>
                  <a:pt x="0" y="606593"/>
                </a:moveTo>
                <a:cubicBezTo>
                  <a:pt x="3252" y="-325065"/>
                  <a:pt x="7397" y="-82951"/>
                  <a:pt x="10000" y="654917"/>
                </a:cubicBezTo>
              </a:path>
            </a:pathLst>
          </a:custGeom>
          <a:noFill/>
          <a:ln w="19050">
            <a:solidFill>
              <a:srgbClr val="C7000B"/>
            </a:solidFill>
            <a:prstDash val="solid"/>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文本框 50"/>
          <p:cNvSpPr txBox="1"/>
          <p:nvPr/>
        </p:nvSpPr>
        <p:spPr bwMode="gray">
          <a:xfrm>
            <a:off x="1619878" y="5394286"/>
            <a:ext cx="492443" cy="276999"/>
          </a:xfrm>
          <a:prstGeom prst="rect">
            <a:avLst/>
          </a:prstGeom>
          <a:noFill/>
        </p:spPr>
        <p:txBody>
          <a:bodyPr wrap="none" rtlCol="0">
            <a:spAutoFit/>
          </a:bodyPr>
          <a:lstStyle/>
          <a:p>
            <a:pPr algn="ctr"/>
            <a:r>
              <a:rPr lang="zh-CN" alt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隔离</a:t>
            </a:r>
          </a:p>
        </p:txBody>
      </p:sp>
      <p:sp>
        <p:nvSpPr>
          <p:cNvPr id="52" name="十字形 51"/>
          <p:cNvSpPr/>
          <p:nvPr/>
        </p:nvSpPr>
        <p:spPr bwMode="gray">
          <a:xfrm rot="2785165">
            <a:off x="1788326" y="5300255"/>
            <a:ext cx="149732" cy="149730"/>
          </a:xfrm>
          <a:prstGeom prst="plus">
            <a:avLst>
              <a:gd name="adj" fmla="val 39697"/>
            </a:avLst>
          </a:prstGeom>
          <a:solidFill>
            <a:srgbClr val="C7000B"/>
          </a:solidFill>
          <a:ln w="12700" cap="flat" cmpd="sng" algn="ctr">
            <a:no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Freeform 155"/>
          <p:cNvSpPr/>
          <p:nvPr/>
        </p:nvSpPr>
        <p:spPr bwMode="gray">
          <a:xfrm flipV="1">
            <a:off x="2854989" y="5203992"/>
            <a:ext cx="1055073" cy="171129"/>
          </a:xfrm>
          <a:custGeom>
            <a:avLst/>
            <a:gdLst>
              <a:gd name="connsiteX0" fmla="*/ 0 w 977030"/>
              <a:gd name="connsiteY0" fmla="*/ 201022 h 201022"/>
              <a:gd name="connsiteX1" fmla="*/ 475989 w 977030"/>
              <a:gd name="connsiteY1" fmla="*/ 606 h 201022"/>
              <a:gd name="connsiteX2" fmla="*/ 977030 w 977030"/>
              <a:gd name="connsiteY2" fmla="*/ 150918 h 201022"/>
              <a:gd name="connsiteX0" fmla="*/ 0 w 974649"/>
              <a:gd name="connsiteY0" fmla="*/ 200418 h 202701"/>
              <a:gd name="connsiteX1" fmla="*/ 475989 w 974649"/>
              <a:gd name="connsiteY1" fmla="*/ 2 h 202701"/>
              <a:gd name="connsiteX2" fmla="*/ 974649 w 974649"/>
              <a:gd name="connsiteY2" fmla="*/ 202701 h 202701"/>
              <a:gd name="connsiteX0" fmla="*/ 0 w 974649"/>
              <a:gd name="connsiteY0" fmla="*/ 200418 h 202701"/>
              <a:gd name="connsiteX1" fmla="*/ 475989 w 974649"/>
              <a:gd name="connsiteY1" fmla="*/ 2 h 202701"/>
              <a:gd name="connsiteX2" fmla="*/ 974649 w 974649"/>
              <a:gd name="connsiteY2" fmla="*/ 202701 h 202701"/>
              <a:gd name="connsiteX0" fmla="*/ 0 w 977031"/>
              <a:gd name="connsiteY0" fmla="*/ 200442 h 212250"/>
              <a:gd name="connsiteX1" fmla="*/ 475989 w 977031"/>
              <a:gd name="connsiteY1" fmla="*/ 26 h 212250"/>
              <a:gd name="connsiteX2" fmla="*/ 977031 w 977031"/>
              <a:gd name="connsiteY2" fmla="*/ 212250 h 212250"/>
              <a:gd name="connsiteX0" fmla="*/ 0 w 977031"/>
              <a:gd name="connsiteY0" fmla="*/ 195683 h 207491"/>
              <a:gd name="connsiteX1" fmla="*/ 480751 w 977031"/>
              <a:gd name="connsiteY1" fmla="*/ 29 h 207491"/>
              <a:gd name="connsiteX2" fmla="*/ 977031 w 977031"/>
              <a:gd name="connsiteY2" fmla="*/ 207491 h 207491"/>
              <a:gd name="connsiteX0" fmla="*/ 0 w 977031"/>
              <a:gd name="connsiteY0" fmla="*/ 0 h 11808"/>
              <a:gd name="connsiteX1" fmla="*/ 977031 w 977031"/>
              <a:gd name="connsiteY1" fmla="*/ 11808 h 11808"/>
              <a:gd name="connsiteX0" fmla="*/ 0 w 977031"/>
              <a:gd name="connsiteY0" fmla="*/ 85139 h 85139"/>
              <a:gd name="connsiteX1" fmla="*/ 977031 w 977031"/>
              <a:gd name="connsiteY1" fmla="*/ 0 h 85139"/>
              <a:gd name="connsiteX0" fmla="*/ 0 w 704616"/>
              <a:gd name="connsiteY0" fmla="*/ 3499 h 3499"/>
              <a:gd name="connsiteX1" fmla="*/ 704616 w 704616"/>
              <a:gd name="connsiteY1" fmla="*/ 0 h 3499"/>
              <a:gd name="connsiteX0" fmla="*/ 0 w 10000"/>
              <a:gd name="connsiteY0" fmla="*/ 0 h 48324"/>
              <a:gd name="connsiteX1" fmla="*/ 10000 w 10000"/>
              <a:gd name="connsiteY1" fmla="*/ 48324 h 48324"/>
              <a:gd name="connsiteX0" fmla="*/ 0 w 10000"/>
              <a:gd name="connsiteY0" fmla="*/ 405325 h 453649"/>
              <a:gd name="connsiteX1" fmla="*/ 10000 w 10000"/>
              <a:gd name="connsiteY1" fmla="*/ 453649 h 453649"/>
              <a:gd name="connsiteX0" fmla="*/ 0 w 10000"/>
              <a:gd name="connsiteY0" fmla="*/ 606593 h 654917"/>
              <a:gd name="connsiteX1" fmla="*/ 10000 w 10000"/>
              <a:gd name="connsiteY1" fmla="*/ 654917 h 654917"/>
            </a:gdLst>
            <a:ahLst/>
            <a:cxnLst>
              <a:cxn ang="0">
                <a:pos x="connsiteX0" y="connsiteY0"/>
              </a:cxn>
              <a:cxn ang="0">
                <a:pos x="connsiteX1" y="connsiteY1"/>
              </a:cxn>
            </a:cxnLst>
            <a:rect l="l" t="t" r="r" b="b"/>
            <a:pathLst>
              <a:path w="10000" h="654917">
                <a:moveTo>
                  <a:pt x="0" y="606593"/>
                </a:moveTo>
                <a:cubicBezTo>
                  <a:pt x="3252" y="-325065"/>
                  <a:pt x="7397" y="-82951"/>
                  <a:pt x="10000" y="654917"/>
                </a:cubicBezTo>
              </a:path>
            </a:pathLst>
          </a:custGeom>
          <a:noFill/>
          <a:ln w="19050">
            <a:solidFill>
              <a:srgbClr val="C7000B"/>
            </a:solidFill>
            <a:prstDash val="solid"/>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文本框 53"/>
          <p:cNvSpPr txBox="1"/>
          <p:nvPr/>
        </p:nvSpPr>
        <p:spPr bwMode="gray">
          <a:xfrm>
            <a:off x="3130594" y="5394286"/>
            <a:ext cx="492443" cy="276999"/>
          </a:xfrm>
          <a:prstGeom prst="rect">
            <a:avLst/>
          </a:prstGeom>
          <a:noFill/>
        </p:spPr>
        <p:txBody>
          <a:bodyPr wrap="none" rtlCol="0">
            <a:spAutoFit/>
          </a:bodyPr>
          <a:lstStyle/>
          <a:p>
            <a:pPr algn="ctr"/>
            <a:r>
              <a:rPr lang="zh-CN" altLang="en-US" sz="120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隔离</a:t>
            </a:r>
          </a:p>
        </p:txBody>
      </p:sp>
      <p:sp>
        <p:nvSpPr>
          <p:cNvPr id="55" name="十字形 54"/>
          <p:cNvSpPr/>
          <p:nvPr/>
        </p:nvSpPr>
        <p:spPr bwMode="gray">
          <a:xfrm rot="2785165">
            <a:off x="3299042" y="5300255"/>
            <a:ext cx="149732" cy="149730"/>
          </a:xfrm>
          <a:prstGeom prst="plus">
            <a:avLst>
              <a:gd name="adj" fmla="val 39697"/>
            </a:avLst>
          </a:prstGeom>
          <a:solidFill>
            <a:srgbClr val="C7000B"/>
          </a:solidFill>
          <a:ln w="12700" cap="flat" cmpd="sng" algn="ctr">
            <a:no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Freeform 155"/>
          <p:cNvSpPr/>
          <p:nvPr/>
        </p:nvSpPr>
        <p:spPr bwMode="gray">
          <a:xfrm flipV="1">
            <a:off x="4299186" y="5203992"/>
            <a:ext cx="1055073" cy="171129"/>
          </a:xfrm>
          <a:custGeom>
            <a:avLst/>
            <a:gdLst>
              <a:gd name="connsiteX0" fmla="*/ 0 w 977030"/>
              <a:gd name="connsiteY0" fmla="*/ 201022 h 201022"/>
              <a:gd name="connsiteX1" fmla="*/ 475989 w 977030"/>
              <a:gd name="connsiteY1" fmla="*/ 606 h 201022"/>
              <a:gd name="connsiteX2" fmla="*/ 977030 w 977030"/>
              <a:gd name="connsiteY2" fmla="*/ 150918 h 201022"/>
              <a:gd name="connsiteX0" fmla="*/ 0 w 974649"/>
              <a:gd name="connsiteY0" fmla="*/ 200418 h 202701"/>
              <a:gd name="connsiteX1" fmla="*/ 475989 w 974649"/>
              <a:gd name="connsiteY1" fmla="*/ 2 h 202701"/>
              <a:gd name="connsiteX2" fmla="*/ 974649 w 974649"/>
              <a:gd name="connsiteY2" fmla="*/ 202701 h 202701"/>
              <a:gd name="connsiteX0" fmla="*/ 0 w 974649"/>
              <a:gd name="connsiteY0" fmla="*/ 200418 h 202701"/>
              <a:gd name="connsiteX1" fmla="*/ 475989 w 974649"/>
              <a:gd name="connsiteY1" fmla="*/ 2 h 202701"/>
              <a:gd name="connsiteX2" fmla="*/ 974649 w 974649"/>
              <a:gd name="connsiteY2" fmla="*/ 202701 h 202701"/>
              <a:gd name="connsiteX0" fmla="*/ 0 w 977031"/>
              <a:gd name="connsiteY0" fmla="*/ 200442 h 212250"/>
              <a:gd name="connsiteX1" fmla="*/ 475989 w 977031"/>
              <a:gd name="connsiteY1" fmla="*/ 26 h 212250"/>
              <a:gd name="connsiteX2" fmla="*/ 977031 w 977031"/>
              <a:gd name="connsiteY2" fmla="*/ 212250 h 212250"/>
              <a:gd name="connsiteX0" fmla="*/ 0 w 977031"/>
              <a:gd name="connsiteY0" fmla="*/ 195683 h 207491"/>
              <a:gd name="connsiteX1" fmla="*/ 480751 w 977031"/>
              <a:gd name="connsiteY1" fmla="*/ 29 h 207491"/>
              <a:gd name="connsiteX2" fmla="*/ 977031 w 977031"/>
              <a:gd name="connsiteY2" fmla="*/ 207491 h 207491"/>
              <a:gd name="connsiteX0" fmla="*/ 0 w 977031"/>
              <a:gd name="connsiteY0" fmla="*/ 0 h 11808"/>
              <a:gd name="connsiteX1" fmla="*/ 977031 w 977031"/>
              <a:gd name="connsiteY1" fmla="*/ 11808 h 11808"/>
              <a:gd name="connsiteX0" fmla="*/ 0 w 977031"/>
              <a:gd name="connsiteY0" fmla="*/ 85139 h 85139"/>
              <a:gd name="connsiteX1" fmla="*/ 977031 w 977031"/>
              <a:gd name="connsiteY1" fmla="*/ 0 h 85139"/>
              <a:gd name="connsiteX0" fmla="*/ 0 w 704616"/>
              <a:gd name="connsiteY0" fmla="*/ 3499 h 3499"/>
              <a:gd name="connsiteX1" fmla="*/ 704616 w 704616"/>
              <a:gd name="connsiteY1" fmla="*/ 0 h 3499"/>
              <a:gd name="connsiteX0" fmla="*/ 0 w 10000"/>
              <a:gd name="connsiteY0" fmla="*/ 0 h 48324"/>
              <a:gd name="connsiteX1" fmla="*/ 10000 w 10000"/>
              <a:gd name="connsiteY1" fmla="*/ 48324 h 48324"/>
              <a:gd name="connsiteX0" fmla="*/ 0 w 10000"/>
              <a:gd name="connsiteY0" fmla="*/ 405325 h 453649"/>
              <a:gd name="connsiteX1" fmla="*/ 10000 w 10000"/>
              <a:gd name="connsiteY1" fmla="*/ 453649 h 453649"/>
              <a:gd name="connsiteX0" fmla="*/ 0 w 10000"/>
              <a:gd name="connsiteY0" fmla="*/ 606593 h 654917"/>
              <a:gd name="connsiteX1" fmla="*/ 10000 w 10000"/>
              <a:gd name="connsiteY1" fmla="*/ 654917 h 654917"/>
            </a:gdLst>
            <a:ahLst/>
            <a:cxnLst>
              <a:cxn ang="0">
                <a:pos x="connsiteX0" y="connsiteY0"/>
              </a:cxn>
              <a:cxn ang="0">
                <a:pos x="connsiteX1" y="connsiteY1"/>
              </a:cxn>
            </a:cxnLst>
            <a:rect l="l" t="t" r="r" b="b"/>
            <a:pathLst>
              <a:path w="10000" h="654917">
                <a:moveTo>
                  <a:pt x="0" y="606593"/>
                </a:moveTo>
                <a:cubicBezTo>
                  <a:pt x="3252" y="-325065"/>
                  <a:pt x="7397" y="-82951"/>
                  <a:pt x="10000" y="654917"/>
                </a:cubicBezTo>
              </a:path>
            </a:pathLst>
          </a:custGeom>
          <a:noFill/>
          <a:ln w="19050">
            <a:solidFill>
              <a:srgbClr val="C7000B"/>
            </a:solidFill>
            <a:prstDash val="solid"/>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文本框 56"/>
          <p:cNvSpPr txBox="1"/>
          <p:nvPr/>
        </p:nvSpPr>
        <p:spPr bwMode="gray">
          <a:xfrm>
            <a:off x="4574791" y="5394286"/>
            <a:ext cx="492443" cy="276999"/>
          </a:xfrm>
          <a:prstGeom prst="rect">
            <a:avLst/>
          </a:prstGeom>
          <a:noFill/>
        </p:spPr>
        <p:txBody>
          <a:bodyPr wrap="none" rtlCol="0">
            <a:spAutoFit/>
          </a:bodyPr>
          <a:lstStyle/>
          <a:p>
            <a:pPr algn="ctr"/>
            <a:r>
              <a:rPr lang="zh-CN" altLang="en-US" sz="120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隔离</a:t>
            </a:r>
          </a:p>
        </p:txBody>
      </p:sp>
      <p:sp>
        <p:nvSpPr>
          <p:cNvPr id="58" name="十字形 57"/>
          <p:cNvSpPr/>
          <p:nvPr/>
        </p:nvSpPr>
        <p:spPr bwMode="gray">
          <a:xfrm rot="2785165">
            <a:off x="4743239" y="5300255"/>
            <a:ext cx="149732" cy="149730"/>
          </a:xfrm>
          <a:prstGeom prst="plus">
            <a:avLst>
              <a:gd name="adj" fmla="val 39697"/>
            </a:avLst>
          </a:prstGeom>
          <a:solidFill>
            <a:srgbClr val="C7000B"/>
          </a:solidFill>
          <a:ln w="12700" cap="flat" cmpd="sng" algn="ctr">
            <a:no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圆角矩形 59"/>
          <p:cNvSpPr/>
          <p:nvPr/>
        </p:nvSpPr>
        <p:spPr bwMode="gray">
          <a:xfrm>
            <a:off x="6341099" y="1498424"/>
            <a:ext cx="5260788" cy="1188871"/>
          </a:xfrm>
          <a:prstGeom prst="roundRect">
            <a:avLst>
              <a:gd name="adj" fmla="val 898"/>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fontAlgn="auto">
              <a:lnSpc>
                <a:spcPts val="2400"/>
              </a:lnSpc>
              <a:spcBef>
                <a:spcPts val="0"/>
              </a:spcBef>
              <a:spcAft>
                <a:spcPts val="600"/>
              </a:spcAft>
              <a:buSzPct val="50000"/>
              <a:buFont typeface="Wingdings" panose="05000000000000000000" pitchFamily="2" charset="2"/>
              <a:buChar char="l"/>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在一个简单的园区物理网络中构建多个逻辑网络，例如办公网络、监控网络。</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fontAlgn="auto">
              <a:lnSpc>
                <a:spcPts val="2400"/>
              </a:lnSpc>
              <a:spcBef>
                <a:spcPts val="0"/>
              </a:spcBef>
              <a:spcAft>
                <a:spcPts val="600"/>
              </a:spcAft>
              <a:buSzPct val="50000"/>
              <a:buFont typeface="Wingdings" panose="05000000000000000000" pitchFamily="2" charset="2"/>
              <a:buChar char="l"/>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办公与监控网络之间彻底隔离。</a:t>
            </a:r>
          </a:p>
        </p:txBody>
      </p:sp>
      <p:sp>
        <p:nvSpPr>
          <p:cNvPr id="61" name="文本框 60"/>
          <p:cNvSpPr txBox="1"/>
          <p:nvPr/>
        </p:nvSpPr>
        <p:spPr bwMode="gray">
          <a:xfrm>
            <a:off x="6341100" y="1075811"/>
            <a:ext cx="5260787" cy="373577"/>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600">
                <a:solidFill>
                  <a:srgbClr val="30B5C5"/>
                </a:solidFill>
                <a:latin typeface="Huawei Sans" panose="020C0503030203020204" pitchFamily="34" charset="0"/>
                <a:ea typeface="方正兰亭黑简体" panose="02000000000000000000" pitchFamily="2" charset="-122"/>
              </a:defRPr>
            </a:lvl1pPr>
          </a:lstStyle>
          <a:p>
            <a:r>
              <a:rPr lang="zh-CN" altLang="en-US">
                <a:sym typeface="Huawei Sans" panose="020C0503030203020204" pitchFamily="34" charset="0"/>
              </a:rPr>
              <a:t>需求</a:t>
            </a:r>
            <a:endParaRPr lang="zh-CN" altLang="en-US" dirty="0">
              <a:sym typeface="Huawei Sans" panose="020C0503030203020204" pitchFamily="34" charset="0"/>
            </a:endParaRPr>
          </a:p>
        </p:txBody>
      </p:sp>
      <p:sp>
        <p:nvSpPr>
          <p:cNvPr id="62" name="圆角矩形 61"/>
          <p:cNvSpPr/>
          <p:nvPr/>
        </p:nvSpPr>
        <p:spPr bwMode="gray">
          <a:xfrm>
            <a:off x="6341099" y="3235731"/>
            <a:ext cx="5260788" cy="2687583"/>
          </a:xfrm>
          <a:prstGeom prst="roundRect">
            <a:avLst>
              <a:gd name="adj" fmla="val 898"/>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fontAlgn="auto">
              <a:lnSpc>
                <a:spcPts val="2400"/>
              </a:lnSpc>
              <a:spcBef>
                <a:spcPts val="0"/>
              </a:spcBef>
              <a:spcAft>
                <a:spcPts val="600"/>
              </a:spcAft>
              <a:buSzPct val="50000"/>
              <a:buFont typeface="Wingdings" panose="05000000000000000000" pitchFamily="2" charset="2"/>
              <a:buChar char="l"/>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部署</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ACL</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：通过</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ACL</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可实现</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之间的流量隔离，但是配置较为繁琐且局限性较大。</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fontAlgn="auto">
              <a:lnSpc>
                <a:spcPts val="2400"/>
              </a:lnSpc>
              <a:spcBef>
                <a:spcPts val="0"/>
              </a:spcBef>
              <a:spcAft>
                <a:spcPts val="600"/>
              </a:spcAft>
              <a:buSzPct val="50000"/>
              <a:buFont typeface="Wingdings" panose="05000000000000000000" pitchFamily="2" charset="2"/>
              <a:buChar char="l"/>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建设独立的物理网络：办公及监控网络使用不同的物理网络，可实现业务隔离，但增加了建网成本。</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fontAlgn="auto">
              <a:lnSpc>
                <a:spcPts val="2400"/>
              </a:lnSpc>
              <a:spcBef>
                <a:spcPts val="0"/>
              </a:spcBef>
              <a:spcAft>
                <a:spcPts val="600"/>
              </a:spcAft>
              <a:buSzPct val="50000"/>
              <a:buFont typeface="Wingdings" panose="05000000000000000000" pitchFamily="2" charset="2"/>
              <a:buChar char="l"/>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VRF</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Virtual Routing and Forwarding</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，虚拟路由转发）：也称为</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实例，是一个类似虚拟设备的概念。</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实例使用独立于根设备的路由表，在不增加硬件成本的前提下，实现了与根设备的彻底隔离。</a:t>
            </a:r>
          </a:p>
        </p:txBody>
      </p:sp>
      <p:sp>
        <p:nvSpPr>
          <p:cNvPr id="63" name="文本框 62"/>
          <p:cNvSpPr txBox="1"/>
          <p:nvPr/>
        </p:nvSpPr>
        <p:spPr bwMode="gray">
          <a:xfrm>
            <a:off x="6341100" y="2813119"/>
            <a:ext cx="5260787" cy="373577"/>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600">
                <a:solidFill>
                  <a:srgbClr val="30B5C5"/>
                </a:solidFill>
                <a:latin typeface="Huawei Sans" panose="020C0503030203020204" pitchFamily="34" charset="0"/>
                <a:ea typeface="方正兰亭黑简体" panose="02000000000000000000" pitchFamily="2" charset="-122"/>
              </a:defRPr>
            </a:lvl1pPr>
          </a:lstStyle>
          <a:p>
            <a:r>
              <a:rPr lang="zh-CN" altLang="en-US">
                <a:sym typeface="Huawei Sans" panose="020C0503030203020204" pitchFamily="34" charset="0"/>
              </a:rPr>
              <a:t>方案</a:t>
            </a:r>
            <a:endParaRPr lang="zh-CN" altLang="en-US" dirty="0">
              <a:sym typeface="Huawei Sans" panose="020C0503030203020204" pitchFamily="34" charset="0"/>
            </a:endParaRPr>
          </a:p>
        </p:txBody>
      </p:sp>
      <p:sp>
        <p:nvSpPr>
          <p:cNvPr id="64" name="Freeform 159"/>
          <p:cNvSpPr/>
          <p:nvPr/>
        </p:nvSpPr>
        <p:spPr bwMode="gray">
          <a:xfrm flipH="1">
            <a:off x="1316305" y="1698836"/>
            <a:ext cx="3663712" cy="191512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lumMod val="85000"/>
              <a:alpha val="48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endParaRPr lang="en-US" sz="1200" b="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6" name="Straight Connector 166"/>
          <p:cNvCxnSpPr>
            <a:endCxn id="17" idx="0"/>
          </p:cNvCxnSpPr>
          <p:nvPr/>
        </p:nvCxnSpPr>
        <p:spPr bwMode="gray">
          <a:xfrm>
            <a:off x="4230647" y="3646431"/>
            <a:ext cx="1335649" cy="52421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167"/>
          <p:cNvCxnSpPr>
            <a:endCxn id="3" idx="0"/>
          </p:cNvCxnSpPr>
          <p:nvPr/>
        </p:nvCxnSpPr>
        <p:spPr bwMode="gray">
          <a:xfrm flipH="1">
            <a:off x="4107493" y="3646431"/>
            <a:ext cx="123154" cy="52421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68" name="图片 67" descr="汇聚交换机.png"/>
          <p:cNvPicPr>
            <a:picLocks noChangeAspect="1"/>
          </p:cNvPicPr>
          <p:nvPr/>
        </p:nvPicPr>
        <p:blipFill>
          <a:blip r:embed="rId5" cstate="print"/>
          <a:stretch>
            <a:fillRect/>
          </a:stretch>
        </p:blipFill>
        <p:spPr bwMode="gray">
          <a:xfrm>
            <a:off x="1657748" y="2532555"/>
            <a:ext cx="403334" cy="330001"/>
          </a:xfrm>
          <a:prstGeom prst="rect">
            <a:avLst/>
          </a:prstGeom>
        </p:spPr>
      </p:pic>
      <p:pic>
        <p:nvPicPr>
          <p:cNvPr id="69" name="图片 87" descr="汇聚交换机.png"/>
          <p:cNvPicPr>
            <a:picLocks noChangeAspect="1"/>
          </p:cNvPicPr>
          <p:nvPr/>
        </p:nvPicPr>
        <p:blipFill>
          <a:blip r:embed="rId5" cstate="print"/>
          <a:stretch>
            <a:fillRect/>
          </a:stretch>
        </p:blipFill>
        <p:spPr bwMode="gray">
          <a:xfrm>
            <a:off x="4033365" y="2532555"/>
            <a:ext cx="403334" cy="330001"/>
          </a:xfrm>
          <a:prstGeom prst="rect">
            <a:avLst/>
          </a:prstGeom>
        </p:spPr>
      </p:pic>
      <p:pic>
        <p:nvPicPr>
          <p:cNvPr id="70" name="图片 86" descr="核心交换机.png"/>
          <p:cNvPicPr>
            <a:picLocks noChangeAspect="1"/>
          </p:cNvPicPr>
          <p:nvPr/>
        </p:nvPicPr>
        <p:blipFill>
          <a:blip r:embed="rId6" cstate="print"/>
          <a:stretch>
            <a:fillRect/>
          </a:stretch>
        </p:blipFill>
        <p:spPr bwMode="gray">
          <a:xfrm>
            <a:off x="2757538" y="1648497"/>
            <a:ext cx="443667" cy="363001"/>
          </a:xfrm>
          <a:prstGeom prst="rect">
            <a:avLst/>
          </a:prstGeom>
        </p:spPr>
      </p:pic>
      <p:grpSp>
        <p:nvGrpSpPr>
          <p:cNvPr id="71" name="组合 758"/>
          <p:cNvGrpSpPr/>
          <p:nvPr/>
        </p:nvGrpSpPr>
        <p:grpSpPr bwMode="gray">
          <a:xfrm flipV="1">
            <a:off x="2908775" y="3818521"/>
            <a:ext cx="225699" cy="191129"/>
            <a:chOff x="7440613" y="4868863"/>
            <a:chExt cx="1019175" cy="828675"/>
          </a:xfrm>
          <a:solidFill>
            <a:schemeClr val="bg1">
              <a:lumMod val="50000"/>
            </a:schemeClr>
          </a:solidFill>
        </p:grpSpPr>
        <p:sp>
          <p:nvSpPr>
            <p:cNvPr id="72"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74" name="直接连接符 73"/>
          <p:cNvCxnSpPr/>
          <p:nvPr/>
        </p:nvCxnSpPr>
        <p:spPr bwMode="gray">
          <a:xfrm flipH="1">
            <a:off x="1800345" y="3614067"/>
            <a:ext cx="10769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75" name="图片 105" descr="AP.png"/>
          <p:cNvPicPr>
            <a:picLocks noChangeAspect="1"/>
          </p:cNvPicPr>
          <p:nvPr/>
        </p:nvPicPr>
        <p:blipFill>
          <a:blip r:embed="rId7" cstate="print"/>
          <a:stretch>
            <a:fillRect/>
          </a:stretch>
        </p:blipFill>
        <p:spPr bwMode="gray">
          <a:xfrm>
            <a:off x="2819957" y="3449067"/>
            <a:ext cx="403334" cy="330001"/>
          </a:xfrm>
          <a:prstGeom prst="rect">
            <a:avLst/>
          </a:prstGeom>
        </p:spPr>
      </p:pic>
      <p:grpSp>
        <p:nvGrpSpPr>
          <p:cNvPr id="76" name="Group 165"/>
          <p:cNvGrpSpPr/>
          <p:nvPr/>
        </p:nvGrpSpPr>
        <p:grpSpPr bwMode="gray">
          <a:xfrm rot="10800000">
            <a:off x="1447025" y="3646431"/>
            <a:ext cx="823660" cy="502927"/>
            <a:chOff x="-1233037" y="914446"/>
            <a:chExt cx="1573823" cy="778776"/>
          </a:xfrm>
        </p:grpSpPr>
        <p:cxnSp>
          <p:nvCxnSpPr>
            <p:cNvPr id="77" name="Straight Connector 166"/>
            <p:cNvCxnSpPr/>
            <p:nvPr/>
          </p:nvCxnSpPr>
          <p:spPr bwMode="gray">
            <a:xfrm flipH="1" flipV="1">
              <a:off x="-1233037" y="914446"/>
              <a:ext cx="786912"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167"/>
            <p:cNvCxnSpPr/>
            <p:nvPr/>
          </p:nvCxnSpPr>
          <p:spPr bwMode="gray">
            <a:xfrm flipV="1">
              <a:off x="-446125" y="914446"/>
              <a:ext cx="786911"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9" name="组合 758"/>
          <p:cNvGrpSpPr/>
          <p:nvPr/>
        </p:nvGrpSpPr>
        <p:grpSpPr bwMode="gray">
          <a:xfrm flipV="1">
            <a:off x="5332299" y="3818521"/>
            <a:ext cx="225699" cy="191129"/>
            <a:chOff x="7440613" y="4868863"/>
            <a:chExt cx="1019175" cy="828675"/>
          </a:xfrm>
          <a:solidFill>
            <a:schemeClr val="bg1">
              <a:lumMod val="50000"/>
            </a:schemeClr>
          </a:solidFill>
        </p:grpSpPr>
        <p:sp>
          <p:nvSpPr>
            <p:cNvPr id="80"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82" name="直接连接符 81"/>
          <p:cNvCxnSpPr/>
          <p:nvPr/>
        </p:nvCxnSpPr>
        <p:spPr bwMode="gray">
          <a:xfrm flipH="1">
            <a:off x="4230647" y="3614067"/>
            <a:ext cx="107014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83" name="图片 105" descr="AP.png"/>
          <p:cNvPicPr>
            <a:picLocks noChangeAspect="1"/>
          </p:cNvPicPr>
          <p:nvPr/>
        </p:nvPicPr>
        <p:blipFill>
          <a:blip r:embed="rId7" cstate="print"/>
          <a:stretch>
            <a:fillRect/>
          </a:stretch>
        </p:blipFill>
        <p:spPr bwMode="gray">
          <a:xfrm>
            <a:off x="5243481" y="3449067"/>
            <a:ext cx="403334" cy="330001"/>
          </a:xfrm>
          <a:prstGeom prst="rect">
            <a:avLst/>
          </a:prstGeom>
        </p:spPr>
      </p:pic>
      <p:pic>
        <p:nvPicPr>
          <p:cNvPr id="84" name="图片 76" descr="接入交换机.png"/>
          <p:cNvPicPr>
            <a:picLocks noChangeAspect="1"/>
          </p:cNvPicPr>
          <p:nvPr/>
        </p:nvPicPr>
        <p:blipFill>
          <a:blip r:embed="rId8" cstate="print"/>
          <a:stretch>
            <a:fillRect/>
          </a:stretch>
        </p:blipFill>
        <p:spPr bwMode="gray">
          <a:xfrm>
            <a:off x="4028979" y="3449067"/>
            <a:ext cx="403334" cy="330001"/>
          </a:xfrm>
          <a:prstGeom prst="rect">
            <a:avLst/>
          </a:prstGeom>
        </p:spPr>
      </p:pic>
      <p:pic>
        <p:nvPicPr>
          <p:cNvPr id="85" name="图片 76" descr="接入交换机.png"/>
          <p:cNvPicPr>
            <a:picLocks noChangeAspect="1"/>
          </p:cNvPicPr>
          <p:nvPr/>
        </p:nvPicPr>
        <p:blipFill>
          <a:blip r:embed="rId8" cstate="print"/>
          <a:stretch>
            <a:fillRect/>
          </a:stretch>
        </p:blipFill>
        <p:spPr bwMode="gray">
          <a:xfrm>
            <a:off x="1653567" y="3449067"/>
            <a:ext cx="403334" cy="330001"/>
          </a:xfrm>
          <a:prstGeom prst="rect">
            <a:avLst/>
          </a:prstGeom>
        </p:spPr>
      </p:pic>
      <p:pic>
        <p:nvPicPr>
          <p:cNvPr id="86" name="图片 85"/>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bwMode="gray">
          <a:xfrm>
            <a:off x="3677439" y="1514482"/>
            <a:ext cx="1346845" cy="248394"/>
          </a:xfrm>
          <a:prstGeom prst="rect">
            <a:avLst/>
          </a:prstGeom>
        </p:spPr>
      </p:pic>
      <p:sp>
        <p:nvSpPr>
          <p:cNvPr id="87" name="文本框 86"/>
          <p:cNvSpPr txBox="1"/>
          <p:nvPr/>
        </p:nvSpPr>
        <p:spPr bwMode="gray">
          <a:xfrm>
            <a:off x="2684884" y="2580282"/>
            <a:ext cx="907621" cy="369332"/>
          </a:xfrm>
          <a:prstGeom prst="rect">
            <a:avLst/>
          </a:prstGeom>
          <a:noFill/>
        </p:spPr>
        <p:txBody>
          <a:bodyPr wrap="none" rtlCol="0">
            <a:spAutoFit/>
          </a:bodyPr>
          <a:lstStyle/>
          <a:p>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VXLAN</a:t>
            </a:r>
            <a:endPar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五边形 87"/>
          <p:cNvSpPr/>
          <p:nvPr/>
        </p:nvSpPr>
        <p:spPr bwMode="auto">
          <a:xfrm>
            <a:off x="6179960" y="98481"/>
            <a:ext cx="94884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以太网交换</a:t>
            </a:r>
          </a:p>
        </p:txBody>
      </p:sp>
      <p:sp>
        <p:nvSpPr>
          <p:cNvPr id="89" name="燕尾形 88"/>
          <p:cNvSpPr/>
          <p:nvPr/>
        </p:nvSpPr>
        <p:spPr bwMode="auto">
          <a:xfrm>
            <a:off x="7049907" y="98481"/>
            <a:ext cx="678521"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燕尾形 89"/>
          <p:cNvSpPr/>
          <p:nvPr/>
        </p:nvSpPr>
        <p:spPr bwMode="auto">
          <a:xfrm>
            <a:off x="7649535" y="98481"/>
            <a:ext cx="87595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无线接入</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燕尾形 90"/>
          <p:cNvSpPr/>
          <p:nvPr/>
        </p:nvSpPr>
        <p:spPr bwMode="auto">
          <a:xfrm>
            <a:off x="8446601"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可靠性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燕尾形 91"/>
          <p:cNvSpPr/>
          <p:nvPr/>
        </p:nvSpPr>
        <p:spPr bwMode="auto">
          <a:xfrm>
            <a:off x="9148908" y="98481"/>
            <a:ext cx="870489"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网络安全</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燕尾形 92"/>
          <p:cNvSpPr/>
          <p:nvPr/>
        </p:nvSpPr>
        <p:spPr bwMode="auto">
          <a:xfrm>
            <a:off x="9940504" y="98481"/>
            <a:ext cx="130400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网络服务与管理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燕尾形 93"/>
          <p:cNvSpPr/>
          <p:nvPr/>
        </p:nvSpPr>
        <p:spPr bwMode="auto">
          <a:xfrm>
            <a:off x="11165613" y="98481"/>
            <a:ext cx="583475"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出口</a:t>
            </a:r>
          </a:p>
        </p:txBody>
      </p:sp>
    </p:spTree>
    <p:extLst>
      <p:ext uri="{BB962C8B-B14F-4D97-AF65-F5344CB8AC3E}">
        <p14:creationId xmlns:p14="http://schemas.microsoft.com/office/powerpoint/2010/main" val="789276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Huawei Sans" panose="020C0503030203020204" pitchFamily="34" charset="0"/>
              </a:rPr>
              <a:t>网络准入控制</a:t>
            </a:r>
          </a:p>
        </p:txBody>
      </p:sp>
      <p:sp>
        <p:nvSpPr>
          <p:cNvPr id="6" name="Rounded Rectangle 23"/>
          <p:cNvSpPr/>
          <p:nvPr/>
        </p:nvSpPr>
        <p:spPr bwMode="gray">
          <a:xfrm>
            <a:off x="559837" y="5507451"/>
            <a:ext cx="4818243" cy="575598"/>
          </a:xfrm>
          <a:prstGeom prst="roundRect">
            <a:avLst>
              <a:gd name="adj" fmla="val 7521"/>
            </a:avLst>
          </a:prstGeom>
          <a:gradFill flip="none" rotWithShape="1">
            <a:gsLst>
              <a:gs pos="100000">
                <a:schemeClr val="bg1"/>
              </a:gs>
              <a:gs pos="0">
                <a:srgbClr val="BEE9EE"/>
              </a:gs>
            </a:gsLst>
            <a:lin ang="0" scaled="1"/>
            <a:tileRect/>
          </a:gradFill>
          <a:ln w="9525">
            <a:gradFill flip="none" rotWithShape="1">
              <a:gsLst>
                <a:gs pos="32000">
                  <a:srgbClr val="56C4D2"/>
                </a:gs>
                <a:gs pos="100000">
                  <a:schemeClr val="bg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lIns="287916" tIns="45705" rIns="91413" bIns="45705" rtlCol="0" anchor="ctr"/>
          <a:lstStyle/>
          <a:p>
            <a:endParaRPr lang="zh-CN" altLang="en-US" sz="2000" dirty="0">
              <a:solidFill>
                <a:srgbClr val="007FAC"/>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 name="Straight Connector 79"/>
          <p:cNvCxnSpPr/>
          <p:nvPr/>
        </p:nvCxnSpPr>
        <p:spPr bwMode="gray">
          <a:xfrm flipH="1">
            <a:off x="3594853" y="2720220"/>
            <a:ext cx="309238" cy="33026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9"/>
          <p:cNvCxnSpPr/>
          <p:nvPr/>
        </p:nvCxnSpPr>
        <p:spPr bwMode="gray">
          <a:xfrm flipH="1">
            <a:off x="3898203" y="2722443"/>
            <a:ext cx="118552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79"/>
          <p:cNvCxnSpPr/>
          <p:nvPr/>
        </p:nvCxnSpPr>
        <p:spPr bwMode="gray">
          <a:xfrm flipH="1">
            <a:off x="2769268" y="2657747"/>
            <a:ext cx="309238" cy="33026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79"/>
          <p:cNvCxnSpPr/>
          <p:nvPr/>
        </p:nvCxnSpPr>
        <p:spPr bwMode="gray">
          <a:xfrm flipH="1" flipV="1">
            <a:off x="3157480" y="2602524"/>
            <a:ext cx="343673" cy="3631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79"/>
          <p:cNvCxnSpPr/>
          <p:nvPr/>
        </p:nvCxnSpPr>
        <p:spPr bwMode="gray">
          <a:xfrm flipH="1" flipV="1">
            <a:off x="2402041" y="2659970"/>
            <a:ext cx="343673" cy="3631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79"/>
          <p:cNvCxnSpPr/>
          <p:nvPr/>
        </p:nvCxnSpPr>
        <p:spPr bwMode="gray">
          <a:xfrm flipH="1">
            <a:off x="3683640" y="3023136"/>
            <a:ext cx="887838"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图片 105" descr="AP.png"/>
          <p:cNvPicPr>
            <a:picLocks noChangeAspect="1"/>
          </p:cNvPicPr>
          <p:nvPr/>
        </p:nvPicPr>
        <p:blipFill>
          <a:blip r:embed="rId3" cstate="print"/>
          <a:stretch>
            <a:fillRect/>
          </a:stretch>
        </p:blipFill>
        <p:spPr bwMode="gray">
          <a:xfrm>
            <a:off x="4408218" y="5177222"/>
            <a:ext cx="335297" cy="274335"/>
          </a:xfrm>
          <a:prstGeom prst="rect">
            <a:avLst/>
          </a:prstGeom>
        </p:spPr>
      </p:pic>
      <p:cxnSp>
        <p:nvCxnSpPr>
          <p:cNvPr id="14" name="Straight Connector 74"/>
          <p:cNvCxnSpPr>
            <a:stCxn id="13" idx="0"/>
            <a:endCxn id="42" idx="2"/>
          </p:cNvCxnSpPr>
          <p:nvPr/>
        </p:nvCxnSpPr>
        <p:spPr bwMode="gray">
          <a:xfrm flipV="1">
            <a:off x="4575867" y="4945125"/>
            <a:ext cx="927" cy="2320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5" name="图片 105" descr="AP.png"/>
          <p:cNvPicPr>
            <a:picLocks noChangeAspect="1"/>
          </p:cNvPicPr>
          <p:nvPr/>
        </p:nvPicPr>
        <p:blipFill>
          <a:blip r:embed="rId3" cstate="print"/>
          <a:stretch>
            <a:fillRect/>
          </a:stretch>
        </p:blipFill>
        <p:spPr bwMode="gray">
          <a:xfrm>
            <a:off x="2393652" y="5177222"/>
            <a:ext cx="335297" cy="274335"/>
          </a:xfrm>
          <a:prstGeom prst="rect">
            <a:avLst/>
          </a:prstGeom>
        </p:spPr>
      </p:pic>
      <p:pic>
        <p:nvPicPr>
          <p:cNvPr id="16" name="图片 102" descr="AC-蓝.png"/>
          <p:cNvPicPr>
            <a:picLocks noChangeAspect="1"/>
          </p:cNvPicPr>
          <p:nvPr/>
        </p:nvPicPr>
        <p:blipFill>
          <a:blip r:embed="rId4" cstate="print"/>
          <a:stretch>
            <a:fillRect/>
          </a:stretch>
        </p:blipFill>
        <p:spPr bwMode="gray">
          <a:xfrm>
            <a:off x="1641051" y="2885235"/>
            <a:ext cx="337091" cy="275802"/>
          </a:xfrm>
          <a:prstGeom prst="rect">
            <a:avLst/>
          </a:prstGeom>
        </p:spPr>
      </p:pic>
      <p:pic>
        <p:nvPicPr>
          <p:cNvPr id="17" name="图片 86" descr="核心交换机.png"/>
          <p:cNvPicPr>
            <a:picLocks noChangeAspect="1"/>
          </p:cNvPicPr>
          <p:nvPr/>
        </p:nvPicPr>
        <p:blipFill>
          <a:blip r:embed="rId5" cstate="print"/>
          <a:stretch>
            <a:fillRect/>
          </a:stretch>
        </p:blipFill>
        <p:spPr bwMode="gray">
          <a:xfrm>
            <a:off x="2580170" y="2885969"/>
            <a:ext cx="335297" cy="274335"/>
          </a:xfrm>
          <a:prstGeom prst="rect">
            <a:avLst/>
          </a:prstGeom>
        </p:spPr>
      </p:pic>
      <p:pic>
        <p:nvPicPr>
          <p:cNvPr id="18" name="图片 86" descr="核心交换机.png"/>
          <p:cNvPicPr>
            <a:picLocks noChangeAspect="1"/>
          </p:cNvPicPr>
          <p:nvPr/>
        </p:nvPicPr>
        <p:blipFill>
          <a:blip r:embed="rId5" cstate="print"/>
          <a:stretch>
            <a:fillRect/>
          </a:stretch>
        </p:blipFill>
        <p:spPr bwMode="gray">
          <a:xfrm>
            <a:off x="3401892" y="2885969"/>
            <a:ext cx="335297" cy="274335"/>
          </a:xfrm>
          <a:prstGeom prst="rect">
            <a:avLst/>
          </a:prstGeom>
        </p:spPr>
      </p:pic>
      <p:cxnSp>
        <p:nvCxnSpPr>
          <p:cNvPr id="19" name="Straight Connector 13"/>
          <p:cNvCxnSpPr>
            <a:stCxn id="17" idx="3"/>
            <a:endCxn id="18" idx="1"/>
          </p:cNvCxnSpPr>
          <p:nvPr/>
        </p:nvCxnSpPr>
        <p:spPr bwMode="gray">
          <a:xfrm>
            <a:off x="2915467" y="3023137"/>
            <a:ext cx="486425"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pic>
        <p:nvPicPr>
          <p:cNvPr id="20" name="图片 87" descr="汇聚交换机.png"/>
          <p:cNvPicPr>
            <a:picLocks noChangeAspect="1"/>
          </p:cNvPicPr>
          <p:nvPr/>
        </p:nvPicPr>
        <p:blipFill>
          <a:blip r:embed="rId6" cstate="print"/>
          <a:stretch>
            <a:fillRect/>
          </a:stretch>
        </p:blipFill>
        <p:spPr bwMode="gray">
          <a:xfrm>
            <a:off x="1574890" y="3788730"/>
            <a:ext cx="335297" cy="274335"/>
          </a:xfrm>
          <a:prstGeom prst="rect">
            <a:avLst/>
          </a:prstGeom>
        </p:spPr>
      </p:pic>
      <p:pic>
        <p:nvPicPr>
          <p:cNvPr id="21" name="图片 87" descr="汇聚交换机.png"/>
          <p:cNvPicPr>
            <a:picLocks noChangeAspect="1"/>
          </p:cNvPicPr>
          <p:nvPr/>
        </p:nvPicPr>
        <p:blipFill>
          <a:blip r:embed="rId6" cstate="print"/>
          <a:stretch>
            <a:fillRect/>
          </a:stretch>
        </p:blipFill>
        <p:spPr bwMode="gray">
          <a:xfrm>
            <a:off x="2394639" y="3788730"/>
            <a:ext cx="335297" cy="274335"/>
          </a:xfrm>
          <a:prstGeom prst="rect">
            <a:avLst/>
          </a:prstGeom>
        </p:spPr>
      </p:pic>
      <p:cxnSp>
        <p:nvCxnSpPr>
          <p:cNvPr id="22" name="Straight Connector 16"/>
          <p:cNvCxnSpPr>
            <a:stCxn id="20" idx="3"/>
            <a:endCxn id="21" idx="1"/>
          </p:cNvCxnSpPr>
          <p:nvPr/>
        </p:nvCxnSpPr>
        <p:spPr bwMode="gray">
          <a:xfrm>
            <a:off x="1910187" y="3925898"/>
            <a:ext cx="484452"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pic>
        <p:nvPicPr>
          <p:cNvPr id="23" name="图片 87" descr="汇聚交换机.png"/>
          <p:cNvPicPr>
            <a:picLocks noChangeAspect="1"/>
          </p:cNvPicPr>
          <p:nvPr/>
        </p:nvPicPr>
        <p:blipFill>
          <a:blip r:embed="rId6" cstate="print"/>
          <a:stretch>
            <a:fillRect/>
          </a:stretch>
        </p:blipFill>
        <p:spPr bwMode="gray">
          <a:xfrm>
            <a:off x="3588409" y="3788730"/>
            <a:ext cx="335297" cy="274335"/>
          </a:xfrm>
          <a:prstGeom prst="rect">
            <a:avLst/>
          </a:prstGeom>
        </p:spPr>
      </p:pic>
      <p:pic>
        <p:nvPicPr>
          <p:cNvPr id="24" name="图片 87" descr="汇聚交换机.png"/>
          <p:cNvPicPr>
            <a:picLocks noChangeAspect="1"/>
          </p:cNvPicPr>
          <p:nvPr/>
        </p:nvPicPr>
        <p:blipFill>
          <a:blip r:embed="rId6" cstate="print"/>
          <a:stretch>
            <a:fillRect/>
          </a:stretch>
        </p:blipFill>
        <p:spPr bwMode="gray">
          <a:xfrm>
            <a:off x="4409145" y="3788730"/>
            <a:ext cx="335297" cy="274335"/>
          </a:xfrm>
          <a:prstGeom prst="rect">
            <a:avLst/>
          </a:prstGeom>
        </p:spPr>
      </p:pic>
      <p:cxnSp>
        <p:nvCxnSpPr>
          <p:cNvPr id="25" name="Straight Connector 29"/>
          <p:cNvCxnSpPr>
            <a:stCxn id="23" idx="3"/>
            <a:endCxn id="24" idx="1"/>
          </p:cNvCxnSpPr>
          <p:nvPr/>
        </p:nvCxnSpPr>
        <p:spPr bwMode="gray">
          <a:xfrm>
            <a:off x="3923706" y="3925898"/>
            <a:ext cx="485439"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6" name="Straight Connector 30"/>
          <p:cNvCxnSpPr>
            <a:stCxn id="20" idx="0"/>
            <a:endCxn id="17" idx="2"/>
          </p:cNvCxnSpPr>
          <p:nvPr/>
        </p:nvCxnSpPr>
        <p:spPr bwMode="gray">
          <a:xfrm flipV="1">
            <a:off x="1742539" y="3160304"/>
            <a:ext cx="1005280" cy="62842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33"/>
          <p:cNvCxnSpPr>
            <a:stCxn id="21" idx="0"/>
            <a:endCxn id="18" idx="2"/>
          </p:cNvCxnSpPr>
          <p:nvPr/>
        </p:nvCxnSpPr>
        <p:spPr bwMode="gray">
          <a:xfrm flipV="1">
            <a:off x="2562288" y="3160304"/>
            <a:ext cx="1007253" cy="62842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36"/>
          <p:cNvCxnSpPr>
            <a:stCxn id="23" idx="0"/>
            <a:endCxn id="17" idx="2"/>
          </p:cNvCxnSpPr>
          <p:nvPr/>
        </p:nvCxnSpPr>
        <p:spPr bwMode="gray">
          <a:xfrm flipH="1" flipV="1">
            <a:off x="2747819" y="3160304"/>
            <a:ext cx="1008239" cy="62842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39"/>
          <p:cNvCxnSpPr>
            <a:stCxn id="24" idx="0"/>
            <a:endCxn id="18" idx="2"/>
          </p:cNvCxnSpPr>
          <p:nvPr/>
        </p:nvCxnSpPr>
        <p:spPr bwMode="gray">
          <a:xfrm flipH="1" flipV="1">
            <a:off x="3569541" y="3160304"/>
            <a:ext cx="1007253" cy="62842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Oval 42"/>
          <p:cNvSpPr/>
          <p:nvPr/>
        </p:nvSpPr>
        <p:spPr bwMode="gray">
          <a:xfrm rot="3077028">
            <a:off x="2355847" y="3439043"/>
            <a:ext cx="580554" cy="91395"/>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1" name="图片 30" descr="堆叠交换机蓝.png"/>
          <p:cNvPicPr>
            <a:picLocks noChangeAspect="1"/>
          </p:cNvPicPr>
          <p:nvPr/>
        </p:nvPicPr>
        <p:blipFill>
          <a:blip r:embed="rId7" cstate="print"/>
          <a:stretch>
            <a:fillRect/>
          </a:stretch>
        </p:blipFill>
        <p:spPr bwMode="gray">
          <a:xfrm>
            <a:off x="1573993" y="4669323"/>
            <a:ext cx="337091" cy="275802"/>
          </a:xfrm>
          <a:prstGeom prst="rect">
            <a:avLst/>
          </a:prstGeom>
        </p:spPr>
      </p:pic>
      <p:pic>
        <p:nvPicPr>
          <p:cNvPr id="32" name="图片 106" descr="堆叠交换机蓝.png"/>
          <p:cNvPicPr>
            <a:picLocks noChangeAspect="1"/>
          </p:cNvPicPr>
          <p:nvPr/>
        </p:nvPicPr>
        <p:blipFill>
          <a:blip r:embed="rId7" cstate="print"/>
          <a:stretch>
            <a:fillRect/>
          </a:stretch>
        </p:blipFill>
        <p:spPr bwMode="gray">
          <a:xfrm>
            <a:off x="2393742" y="4669323"/>
            <a:ext cx="337091" cy="275802"/>
          </a:xfrm>
          <a:prstGeom prst="rect">
            <a:avLst/>
          </a:prstGeom>
        </p:spPr>
      </p:pic>
      <p:cxnSp>
        <p:nvCxnSpPr>
          <p:cNvPr id="33" name="Straight Connector 34"/>
          <p:cNvCxnSpPr>
            <a:stCxn id="31" idx="0"/>
            <a:endCxn id="20" idx="2"/>
          </p:cNvCxnSpPr>
          <p:nvPr/>
        </p:nvCxnSpPr>
        <p:spPr bwMode="gray">
          <a:xfrm flipV="1">
            <a:off x="1742539" y="4063065"/>
            <a:ext cx="0" cy="6062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5"/>
          <p:cNvCxnSpPr>
            <a:stCxn id="31" idx="0"/>
            <a:endCxn id="21" idx="2"/>
          </p:cNvCxnSpPr>
          <p:nvPr/>
        </p:nvCxnSpPr>
        <p:spPr bwMode="gray">
          <a:xfrm flipV="1">
            <a:off x="1742539" y="4063065"/>
            <a:ext cx="819749" cy="6062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7"/>
          <p:cNvCxnSpPr>
            <a:stCxn id="32" idx="0"/>
            <a:endCxn id="20" idx="2"/>
          </p:cNvCxnSpPr>
          <p:nvPr/>
        </p:nvCxnSpPr>
        <p:spPr bwMode="gray">
          <a:xfrm flipH="1" flipV="1">
            <a:off x="1742539" y="4063065"/>
            <a:ext cx="819749" cy="6062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8"/>
          <p:cNvCxnSpPr>
            <a:stCxn id="32" idx="0"/>
            <a:endCxn id="21" idx="2"/>
          </p:cNvCxnSpPr>
          <p:nvPr/>
        </p:nvCxnSpPr>
        <p:spPr bwMode="gray">
          <a:xfrm flipV="1">
            <a:off x="2562288" y="4063065"/>
            <a:ext cx="0" cy="6062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7" name="Group 40"/>
          <p:cNvGrpSpPr/>
          <p:nvPr/>
        </p:nvGrpSpPr>
        <p:grpSpPr bwMode="gray">
          <a:xfrm>
            <a:off x="2021430" y="4775426"/>
            <a:ext cx="261965" cy="61979"/>
            <a:chOff x="559282" y="6488261"/>
            <a:chExt cx="261965" cy="61979"/>
          </a:xfrm>
          <a:solidFill>
            <a:schemeClr val="bg1">
              <a:lumMod val="50000"/>
            </a:schemeClr>
          </a:solidFill>
        </p:grpSpPr>
        <p:sp>
          <p:nvSpPr>
            <p:cNvPr id="38" name="Oval 4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Oval 4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Oval 4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41" name="图片 106" descr="堆叠交换机蓝.png"/>
          <p:cNvPicPr>
            <a:picLocks noChangeAspect="1"/>
          </p:cNvPicPr>
          <p:nvPr/>
        </p:nvPicPr>
        <p:blipFill>
          <a:blip r:embed="rId7" cstate="print"/>
          <a:stretch>
            <a:fillRect/>
          </a:stretch>
        </p:blipFill>
        <p:spPr bwMode="gray">
          <a:xfrm>
            <a:off x="3587512" y="4669323"/>
            <a:ext cx="337091" cy="275802"/>
          </a:xfrm>
          <a:prstGeom prst="rect">
            <a:avLst/>
          </a:prstGeom>
        </p:spPr>
      </p:pic>
      <p:pic>
        <p:nvPicPr>
          <p:cNvPr id="42" name="图片 106" descr="堆叠交换机蓝.png"/>
          <p:cNvPicPr>
            <a:picLocks noChangeAspect="1"/>
          </p:cNvPicPr>
          <p:nvPr/>
        </p:nvPicPr>
        <p:blipFill>
          <a:blip r:embed="rId7" cstate="print"/>
          <a:stretch>
            <a:fillRect/>
          </a:stretch>
        </p:blipFill>
        <p:spPr bwMode="gray">
          <a:xfrm>
            <a:off x="4408248" y="4669323"/>
            <a:ext cx="337091" cy="275802"/>
          </a:xfrm>
          <a:prstGeom prst="rect">
            <a:avLst/>
          </a:prstGeom>
        </p:spPr>
      </p:pic>
      <p:grpSp>
        <p:nvGrpSpPr>
          <p:cNvPr id="43" name="Group 54"/>
          <p:cNvGrpSpPr/>
          <p:nvPr/>
        </p:nvGrpSpPr>
        <p:grpSpPr bwMode="gray">
          <a:xfrm>
            <a:off x="4035936" y="4775426"/>
            <a:ext cx="261965" cy="61979"/>
            <a:chOff x="559282" y="6488261"/>
            <a:chExt cx="261965" cy="61979"/>
          </a:xfrm>
          <a:solidFill>
            <a:schemeClr val="bg1">
              <a:lumMod val="50000"/>
            </a:schemeClr>
          </a:solidFill>
        </p:grpSpPr>
        <p:sp>
          <p:nvSpPr>
            <p:cNvPr id="44" name="Oval 55"/>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Oval 56"/>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Oval 57"/>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47" name="Straight Connector 58"/>
          <p:cNvCxnSpPr>
            <a:stCxn id="41" idx="0"/>
            <a:endCxn id="23" idx="2"/>
          </p:cNvCxnSpPr>
          <p:nvPr/>
        </p:nvCxnSpPr>
        <p:spPr bwMode="gray">
          <a:xfrm flipV="1">
            <a:off x="3756058" y="4063065"/>
            <a:ext cx="0" cy="6062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61"/>
          <p:cNvCxnSpPr>
            <a:stCxn id="42" idx="0"/>
            <a:endCxn id="24" idx="2"/>
          </p:cNvCxnSpPr>
          <p:nvPr/>
        </p:nvCxnSpPr>
        <p:spPr bwMode="gray">
          <a:xfrm flipV="1">
            <a:off x="4576794" y="4063065"/>
            <a:ext cx="0" cy="6062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64"/>
          <p:cNvCxnSpPr>
            <a:stCxn id="41" idx="0"/>
            <a:endCxn id="24" idx="2"/>
          </p:cNvCxnSpPr>
          <p:nvPr/>
        </p:nvCxnSpPr>
        <p:spPr bwMode="gray">
          <a:xfrm flipV="1">
            <a:off x="3756058" y="4063065"/>
            <a:ext cx="820736" cy="6062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67"/>
          <p:cNvCxnSpPr>
            <a:stCxn id="42" idx="0"/>
            <a:endCxn id="23" idx="2"/>
          </p:cNvCxnSpPr>
          <p:nvPr/>
        </p:nvCxnSpPr>
        <p:spPr bwMode="gray">
          <a:xfrm flipH="1" flipV="1">
            <a:off x="3756058" y="4063065"/>
            <a:ext cx="820736" cy="6062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70"/>
          <p:cNvCxnSpPr>
            <a:stCxn id="15" idx="0"/>
            <a:endCxn id="32" idx="2"/>
          </p:cNvCxnSpPr>
          <p:nvPr/>
        </p:nvCxnSpPr>
        <p:spPr bwMode="gray">
          <a:xfrm flipV="1">
            <a:off x="2561301" y="4945125"/>
            <a:ext cx="987" cy="2320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79"/>
          <p:cNvCxnSpPr>
            <a:stCxn id="17" idx="1"/>
            <a:endCxn id="16" idx="3"/>
          </p:cNvCxnSpPr>
          <p:nvPr/>
        </p:nvCxnSpPr>
        <p:spPr bwMode="gray">
          <a:xfrm flipH="1" flipV="1">
            <a:off x="1978142" y="3023136"/>
            <a:ext cx="602028"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53" name="Picture 2" descr="G:\做的项目\公共\扁平图标切换\更新2015_01_21\oss扁平图标库2015_01_21更新-04.png"/>
          <p:cNvPicPr>
            <a:picLocks noChangeAspect="1" noChangeArrowheads="1"/>
          </p:cNvPicPr>
          <p:nvPr/>
        </p:nvPicPr>
        <p:blipFill>
          <a:blip r:embed="rId8" cstate="print"/>
          <a:stretch>
            <a:fillRect/>
          </a:stretch>
        </p:blipFill>
        <p:spPr bwMode="gray">
          <a:xfrm>
            <a:off x="2577169" y="1610732"/>
            <a:ext cx="337091" cy="275801"/>
          </a:xfrm>
          <a:prstGeom prst="rect">
            <a:avLst/>
          </a:prstGeom>
          <a:noFill/>
        </p:spPr>
      </p:pic>
      <p:pic>
        <p:nvPicPr>
          <p:cNvPr id="54" name="Picture 2" descr="G:\做的项目\公共\扁平图标切换\更新2015_01_21\oss扁平图标库2015_01_21更新-04.png"/>
          <p:cNvPicPr>
            <a:picLocks noChangeAspect="1" noChangeArrowheads="1"/>
          </p:cNvPicPr>
          <p:nvPr/>
        </p:nvPicPr>
        <p:blipFill>
          <a:blip r:embed="rId8" cstate="print"/>
          <a:stretch>
            <a:fillRect/>
          </a:stretch>
        </p:blipFill>
        <p:spPr bwMode="gray">
          <a:xfrm>
            <a:off x="3400995" y="1610732"/>
            <a:ext cx="337091" cy="275801"/>
          </a:xfrm>
          <a:prstGeom prst="rect">
            <a:avLst/>
          </a:prstGeom>
          <a:noFill/>
        </p:spPr>
      </p:pic>
      <p:cxnSp>
        <p:nvCxnSpPr>
          <p:cNvPr id="55" name="Straight Connector 98"/>
          <p:cNvCxnSpPr>
            <a:stCxn id="54" idx="2"/>
            <a:endCxn id="18" idx="0"/>
          </p:cNvCxnSpPr>
          <p:nvPr/>
        </p:nvCxnSpPr>
        <p:spPr bwMode="gray">
          <a:xfrm>
            <a:off x="3569541" y="1886533"/>
            <a:ext cx="0" cy="99943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101"/>
          <p:cNvCxnSpPr>
            <a:stCxn id="53" idx="2"/>
            <a:endCxn id="17" idx="0"/>
          </p:cNvCxnSpPr>
          <p:nvPr/>
        </p:nvCxnSpPr>
        <p:spPr bwMode="gray">
          <a:xfrm>
            <a:off x="2745715" y="1886533"/>
            <a:ext cx="2104" cy="99943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104"/>
          <p:cNvCxnSpPr>
            <a:stCxn id="53" idx="3"/>
            <a:endCxn id="54" idx="1"/>
          </p:cNvCxnSpPr>
          <p:nvPr/>
        </p:nvCxnSpPr>
        <p:spPr bwMode="gray">
          <a:xfrm>
            <a:off x="2914260" y="1748633"/>
            <a:ext cx="48673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Oval 59"/>
          <p:cNvSpPr/>
          <p:nvPr/>
        </p:nvSpPr>
        <p:spPr bwMode="gray">
          <a:xfrm rot="1782887">
            <a:off x="1665355" y="4464782"/>
            <a:ext cx="311619" cy="90813"/>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Oval 62"/>
          <p:cNvSpPr/>
          <p:nvPr/>
        </p:nvSpPr>
        <p:spPr bwMode="gray">
          <a:xfrm rot="19401600">
            <a:off x="2323256" y="4477533"/>
            <a:ext cx="311619" cy="90813"/>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Oval 63"/>
          <p:cNvSpPr/>
          <p:nvPr/>
        </p:nvSpPr>
        <p:spPr bwMode="gray">
          <a:xfrm rot="1782887">
            <a:off x="3666769" y="4496661"/>
            <a:ext cx="311619" cy="90813"/>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Oval 65"/>
          <p:cNvSpPr/>
          <p:nvPr/>
        </p:nvSpPr>
        <p:spPr bwMode="gray">
          <a:xfrm rot="19401600">
            <a:off x="4361593" y="4471849"/>
            <a:ext cx="311619" cy="90813"/>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2" name="图片 14" descr="日志告警服务器-蓝.png"/>
          <p:cNvPicPr>
            <a:picLocks noChangeAspect="1"/>
          </p:cNvPicPr>
          <p:nvPr/>
        </p:nvPicPr>
        <p:blipFill>
          <a:blip r:embed="rId9" cstate="print"/>
          <a:stretch>
            <a:fillRect/>
          </a:stretch>
        </p:blipFill>
        <p:spPr bwMode="gray">
          <a:xfrm>
            <a:off x="1478582" y="5648102"/>
            <a:ext cx="304595" cy="190195"/>
          </a:xfrm>
          <a:prstGeom prst="rect">
            <a:avLst/>
          </a:prstGeom>
        </p:spPr>
      </p:pic>
      <p:pic>
        <p:nvPicPr>
          <p:cNvPr id="63" name="图片 42" descr="IP电话.png"/>
          <p:cNvPicPr>
            <a:picLocks noChangeAspect="1"/>
          </p:cNvPicPr>
          <p:nvPr/>
        </p:nvPicPr>
        <p:blipFill>
          <a:blip r:embed="rId10" cstate="print"/>
          <a:stretch>
            <a:fillRect/>
          </a:stretch>
        </p:blipFill>
        <p:spPr bwMode="gray">
          <a:xfrm>
            <a:off x="2334226" y="5585609"/>
            <a:ext cx="335265" cy="315180"/>
          </a:xfrm>
          <a:prstGeom prst="rect">
            <a:avLst/>
          </a:prstGeom>
        </p:spPr>
      </p:pic>
      <p:pic>
        <p:nvPicPr>
          <p:cNvPr id="64" name="图片 11" descr="开放网络-蓝.png"/>
          <p:cNvPicPr>
            <a:picLocks noChangeAspect="1"/>
          </p:cNvPicPr>
          <p:nvPr/>
        </p:nvPicPr>
        <p:blipFill>
          <a:blip r:embed="rId11" cstate="print"/>
          <a:stretch>
            <a:fillRect/>
          </a:stretch>
        </p:blipFill>
        <p:spPr bwMode="gray">
          <a:xfrm>
            <a:off x="3522792" y="5625963"/>
            <a:ext cx="304595" cy="234472"/>
          </a:xfrm>
          <a:prstGeom prst="rect">
            <a:avLst/>
          </a:prstGeom>
        </p:spPr>
      </p:pic>
      <p:pic>
        <p:nvPicPr>
          <p:cNvPr id="65" name="图片 158" descr="SAN网络-蓝.png"/>
          <p:cNvPicPr>
            <a:picLocks noChangeAspect="1"/>
          </p:cNvPicPr>
          <p:nvPr/>
        </p:nvPicPr>
        <p:blipFill>
          <a:blip r:embed="rId12" cstate="print"/>
          <a:stretch>
            <a:fillRect/>
          </a:stretch>
        </p:blipFill>
        <p:spPr bwMode="gray">
          <a:xfrm>
            <a:off x="1975641" y="5607121"/>
            <a:ext cx="166121" cy="272157"/>
          </a:xfrm>
          <a:prstGeom prst="rect">
            <a:avLst/>
          </a:prstGeom>
        </p:spPr>
      </p:pic>
      <p:pic>
        <p:nvPicPr>
          <p:cNvPr id="66" name="图片 47" descr="打印机.png"/>
          <p:cNvPicPr>
            <a:picLocks noChangeAspect="1"/>
          </p:cNvPicPr>
          <p:nvPr/>
        </p:nvPicPr>
        <p:blipFill>
          <a:blip r:embed="rId13" cstate="print"/>
          <a:stretch>
            <a:fillRect/>
          </a:stretch>
        </p:blipFill>
        <p:spPr bwMode="gray">
          <a:xfrm>
            <a:off x="4398693" y="5610197"/>
            <a:ext cx="334175" cy="266004"/>
          </a:xfrm>
          <a:prstGeom prst="rect">
            <a:avLst/>
          </a:prstGeom>
        </p:spPr>
      </p:pic>
      <p:pic>
        <p:nvPicPr>
          <p:cNvPr id="67" name="图片 157" descr="故障链路.png"/>
          <p:cNvPicPr>
            <a:picLocks noChangeAspect="1"/>
          </p:cNvPicPr>
          <p:nvPr/>
        </p:nvPicPr>
        <p:blipFill>
          <a:blip r:embed="rId14" cstate="print"/>
          <a:stretch>
            <a:fillRect/>
          </a:stretch>
        </p:blipFill>
        <p:spPr bwMode="gray">
          <a:xfrm>
            <a:off x="3945392" y="5618187"/>
            <a:ext cx="335297" cy="250025"/>
          </a:xfrm>
          <a:prstGeom prst="rect">
            <a:avLst/>
          </a:prstGeom>
        </p:spPr>
      </p:pic>
      <p:sp>
        <p:nvSpPr>
          <p:cNvPr id="68" name="Oval 92"/>
          <p:cNvSpPr/>
          <p:nvPr/>
        </p:nvSpPr>
        <p:spPr bwMode="gray">
          <a:xfrm rot="18651691">
            <a:off x="3400155" y="3456531"/>
            <a:ext cx="580554" cy="91395"/>
          </a:xfrm>
          <a:prstGeom prst="ellips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9" name="组合 35"/>
          <p:cNvGrpSpPr/>
          <p:nvPr/>
        </p:nvGrpSpPr>
        <p:grpSpPr bwMode="gray">
          <a:xfrm>
            <a:off x="2439548" y="1156689"/>
            <a:ext cx="633070" cy="358898"/>
            <a:chOff x="3269076" y="1744970"/>
            <a:chExt cx="1860118" cy="1054529"/>
          </a:xfrm>
          <a:solidFill>
            <a:schemeClr val="bg1">
              <a:lumMod val="85000"/>
            </a:schemeClr>
          </a:solidFill>
        </p:grpSpPr>
        <p:sp>
          <p:nvSpPr>
            <p:cNvPr id="70" name="矩形 36"/>
            <p:cNvSpPr/>
            <p:nvPr/>
          </p:nvSpPr>
          <p:spPr bwMode="gray">
            <a:xfrm>
              <a:off x="3495526" y="2457907"/>
              <a:ext cx="1426464" cy="34159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Oval 62"/>
            <p:cNvSpPr/>
            <p:nvPr/>
          </p:nvSpPr>
          <p:spPr bwMode="gray">
            <a:xfrm>
              <a:off x="3452774" y="1920065"/>
              <a:ext cx="761732" cy="698886"/>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Oval 63"/>
            <p:cNvSpPr/>
            <p:nvPr/>
          </p:nvSpPr>
          <p:spPr bwMode="gray">
            <a:xfrm>
              <a:off x="3269076" y="2248790"/>
              <a:ext cx="545661" cy="550709"/>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Oval 64"/>
            <p:cNvSpPr/>
            <p:nvPr/>
          </p:nvSpPr>
          <p:spPr bwMode="gray">
            <a:xfrm>
              <a:off x="4633138" y="2298856"/>
              <a:ext cx="496056" cy="500643"/>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Oval 65"/>
            <p:cNvSpPr/>
            <p:nvPr/>
          </p:nvSpPr>
          <p:spPr bwMode="gray">
            <a:xfrm>
              <a:off x="3759782" y="2292552"/>
              <a:ext cx="496056" cy="3761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Oval 64"/>
            <p:cNvSpPr/>
            <p:nvPr/>
          </p:nvSpPr>
          <p:spPr bwMode="gray">
            <a:xfrm>
              <a:off x="3924619" y="1744970"/>
              <a:ext cx="998406" cy="10076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76" name="TextBox 114"/>
          <p:cNvSpPr txBox="1"/>
          <p:nvPr/>
        </p:nvSpPr>
        <p:spPr bwMode="gray">
          <a:xfrm>
            <a:off x="2361584" y="1272315"/>
            <a:ext cx="788999" cy="276999"/>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7" name="组合 35"/>
          <p:cNvGrpSpPr/>
          <p:nvPr/>
        </p:nvGrpSpPr>
        <p:grpSpPr bwMode="gray">
          <a:xfrm>
            <a:off x="3253005" y="1156689"/>
            <a:ext cx="633070" cy="358898"/>
            <a:chOff x="3269076" y="1744970"/>
            <a:chExt cx="1860118" cy="1054529"/>
          </a:xfrm>
          <a:solidFill>
            <a:schemeClr val="bg1">
              <a:lumMod val="85000"/>
            </a:schemeClr>
          </a:solidFill>
        </p:grpSpPr>
        <p:sp>
          <p:nvSpPr>
            <p:cNvPr id="78" name="矩形 36"/>
            <p:cNvSpPr/>
            <p:nvPr/>
          </p:nvSpPr>
          <p:spPr bwMode="gray">
            <a:xfrm>
              <a:off x="3495526" y="2457907"/>
              <a:ext cx="1426464" cy="34159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Oval 62"/>
            <p:cNvSpPr/>
            <p:nvPr/>
          </p:nvSpPr>
          <p:spPr bwMode="gray">
            <a:xfrm>
              <a:off x="3452774" y="1920065"/>
              <a:ext cx="761732" cy="698886"/>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Oval 63"/>
            <p:cNvSpPr/>
            <p:nvPr/>
          </p:nvSpPr>
          <p:spPr bwMode="gray">
            <a:xfrm>
              <a:off x="3269076" y="2248790"/>
              <a:ext cx="545661" cy="550709"/>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Oval 64"/>
            <p:cNvSpPr/>
            <p:nvPr/>
          </p:nvSpPr>
          <p:spPr bwMode="gray">
            <a:xfrm>
              <a:off x="4633138" y="2298856"/>
              <a:ext cx="496056" cy="500643"/>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Oval 65"/>
            <p:cNvSpPr/>
            <p:nvPr/>
          </p:nvSpPr>
          <p:spPr bwMode="gray">
            <a:xfrm>
              <a:off x="3759782" y="2292552"/>
              <a:ext cx="496056" cy="3761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Oval 64"/>
            <p:cNvSpPr/>
            <p:nvPr/>
          </p:nvSpPr>
          <p:spPr bwMode="gray">
            <a:xfrm>
              <a:off x="3924619" y="1744970"/>
              <a:ext cx="998406" cy="10076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84" name="TextBox 117"/>
          <p:cNvSpPr txBox="1"/>
          <p:nvPr/>
        </p:nvSpPr>
        <p:spPr bwMode="gray">
          <a:xfrm>
            <a:off x="3283247" y="1272315"/>
            <a:ext cx="572593" cy="276999"/>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WAN</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5" name="图片 9"/>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bwMode="gray">
          <a:xfrm>
            <a:off x="2566700" y="2034084"/>
            <a:ext cx="337091" cy="275801"/>
          </a:xfrm>
          <a:prstGeom prst="rect">
            <a:avLst/>
          </a:prstGeom>
        </p:spPr>
      </p:pic>
      <p:pic>
        <p:nvPicPr>
          <p:cNvPr id="86" name="图片 9"/>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bwMode="gray">
          <a:xfrm>
            <a:off x="3400995" y="2034084"/>
            <a:ext cx="337091" cy="275801"/>
          </a:xfrm>
          <a:prstGeom prst="rect">
            <a:avLst/>
          </a:prstGeom>
        </p:spPr>
      </p:pic>
      <p:cxnSp>
        <p:nvCxnSpPr>
          <p:cNvPr id="87" name="Straight Connector 127"/>
          <p:cNvCxnSpPr>
            <a:stCxn id="85" idx="3"/>
            <a:endCxn id="86" idx="1"/>
          </p:cNvCxnSpPr>
          <p:nvPr/>
        </p:nvCxnSpPr>
        <p:spPr bwMode="gray">
          <a:xfrm>
            <a:off x="2903791" y="2171985"/>
            <a:ext cx="497204" cy="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88" name="TextBox 20"/>
          <p:cNvSpPr txBox="1"/>
          <p:nvPr/>
        </p:nvSpPr>
        <p:spPr bwMode="gray">
          <a:xfrm>
            <a:off x="1641198" y="3134251"/>
            <a:ext cx="380232"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AC</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9" name="图片 102" descr="AC-蓝.png"/>
          <p:cNvPicPr>
            <a:picLocks noChangeAspect="1"/>
          </p:cNvPicPr>
          <p:nvPr/>
        </p:nvPicPr>
        <p:blipFill>
          <a:blip r:embed="rId4" cstate="print"/>
          <a:stretch>
            <a:fillRect/>
          </a:stretch>
        </p:blipFill>
        <p:spPr bwMode="gray">
          <a:xfrm>
            <a:off x="4369580" y="2885235"/>
            <a:ext cx="337091" cy="275802"/>
          </a:xfrm>
          <a:prstGeom prst="rect">
            <a:avLst/>
          </a:prstGeom>
        </p:spPr>
      </p:pic>
      <p:sp>
        <p:nvSpPr>
          <p:cNvPr id="90" name="TextBox 20"/>
          <p:cNvSpPr txBox="1"/>
          <p:nvPr/>
        </p:nvSpPr>
        <p:spPr bwMode="gray">
          <a:xfrm>
            <a:off x="4349082" y="3125283"/>
            <a:ext cx="380232"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AC</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1" name="Straight Connector 79"/>
          <p:cNvCxnSpPr/>
          <p:nvPr/>
        </p:nvCxnSpPr>
        <p:spPr bwMode="gray">
          <a:xfrm flipH="1">
            <a:off x="1978143" y="2600599"/>
            <a:ext cx="119014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79"/>
          <p:cNvCxnSpPr/>
          <p:nvPr/>
        </p:nvCxnSpPr>
        <p:spPr bwMode="gray">
          <a:xfrm flipH="1">
            <a:off x="1978143" y="2659970"/>
            <a:ext cx="43051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Freeform 159"/>
          <p:cNvSpPr/>
          <p:nvPr/>
        </p:nvSpPr>
        <p:spPr bwMode="gray">
          <a:xfrm flipH="1">
            <a:off x="1331525" y="2307636"/>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lumMod val="95000"/>
            </a:schemeClr>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tIns="180000" rtlCol="0" anchor="ctr">
            <a:noAutofit/>
          </a:bodyPr>
          <a:lstStyle/>
          <a:p>
            <a:pPr algn="ct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数据中心</a:t>
            </a:r>
            <a:endParaRPr 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4" name="Straight Connector 79"/>
          <p:cNvCxnSpPr/>
          <p:nvPr/>
        </p:nvCxnSpPr>
        <p:spPr bwMode="gray">
          <a:xfrm flipH="1">
            <a:off x="3072618" y="2659970"/>
            <a:ext cx="118552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5" name="圆角矩形 94"/>
          <p:cNvSpPr/>
          <p:nvPr/>
        </p:nvSpPr>
        <p:spPr bwMode="gray">
          <a:xfrm>
            <a:off x="4127559" y="2388834"/>
            <a:ext cx="1250521" cy="405048"/>
          </a:xfrm>
          <a:prstGeom prst="roundRect">
            <a:avLst>
              <a:gd name="adj" fmla="val 2563"/>
            </a:avLst>
          </a:prstGeom>
          <a:solidFill>
            <a:schemeClr val="bg1">
              <a:lumMod val="95000"/>
            </a:schemeClr>
          </a:solidFill>
          <a:ln>
            <a:solidFill>
              <a:schemeClr val="bg1">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TextBox 20"/>
          <p:cNvSpPr txBox="1"/>
          <p:nvPr/>
        </p:nvSpPr>
        <p:spPr bwMode="gray">
          <a:xfrm>
            <a:off x="4278893" y="2454217"/>
            <a:ext cx="954107"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网管运维区</a:t>
            </a:r>
          </a:p>
        </p:txBody>
      </p:sp>
      <p:sp>
        <p:nvSpPr>
          <p:cNvPr id="97" name="下箭头 63"/>
          <p:cNvSpPr/>
          <p:nvPr/>
        </p:nvSpPr>
        <p:spPr bwMode="gray">
          <a:xfrm rot="2499411" flipV="1">
            <a:off x="6079007" y="4411891"/>
            <a:ext cx="2569778" cy="1298562"/>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1AABE2">
                  <a:lumMod val="5000"/>
                  <a:lumOff val="95000"/>
                  <a:alpha val="0"/>
                </a:srgbClr>
              </a:gs>
              <a:gs pos="81000">
                <a:srgbClr val="99DFF9"/>
              </a:gs>
            </a:gsLst>
            <a:lin ang="5400000" scaled="1"/>
            <a:tileRect/>
          </a:gradFill>
          <a:ln w="9525" cap="flat" cmpd="sng" algn="ctr">
            <a:gradFill flip="none" rotWithShape="1">
              <a:gsLst>
                <a:gs pos="0">
                  <a:srgbClr val="1AABE2">
                    <a:lumMod val="5000"/>
                    <a:lumOff val="95000"/>
                  </a:srgbClr>
                </a:gs>
                <a:gs pos="100000">
                  <a:srgbClr val="94DAE2"/>
                </a:gs>
              </a:gsLst>
              <a:lin ang="5400000" scaled="1"/>
              <a:tileRect/>
            </a:gradFill>
            <a:prstDash val="solid"/>
            <a:miter lim="800000"/>
          </a:ln>
          <a:effectLst/>
        </p:spPr>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TextBox 20"/>
          <p:cNvSpPr txBox="1"/>
          <p:nvPr/>
        </p:nvSpPr>
        <p:spPr bwMode="gray">
          <a:xfrm>
            <a:off x="5269913" y="5179988"/>
            <a:ext cx="3589444" cy="707886"/>
          </a:xfrm>
          <a:prstGeom prst="rect">
            <a:avLst/>
          </a:prstGeom>
          <a:noFill/>
        </p:spPr>
        <p:txBody>
          <a:bodyPr wrap="none" rtlCol="0">
            <a:spAutoFit/>
          </a:bodyPr>
          <a:lstStyle/>
          <a:p>
            <a:pPr marL="171450" indent="-171450">
              <a:lnSpc>
                <a:spcPts val="2400"/>
              </a:lnSpc>
              <a:buFont typeface="Arial" panose="020B0604020202020204" pitchFamily="34" charset="0"/>
              <a:buChar char="•"/>
            </a:pPr>
            <a:r>
              <a:rPr lang="zh-CN" altLang="en-US" sz="14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如何确认终端身份合法并保证终端安全？</a:t>
            </a:r>
            <a:endParaRPr lang="en-US" altLang="zh-CN" sz="14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a:p>
            <a:pPr marL="171450" indent="-171450">
              <a:lnSpc>
                <a:spcPts val="2400"/>
              </a:lnSpc>
              <a:buFont typeface="Arial" panose="020B0604020202020204" pitchFamily="34" charset="0"/>
              <a:buChar char="•"/>
            </a:pPr>
            <a:r>
              <a:rPr lang="zh-CN" altLang="en-US" sz="14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如何确保合法终端获得正确的授权？</a:t>
            </a:r>
          </a:p>
        </p:txBody>
      </p:sp>
      <p:grpSp>
        <p:nvGrpSpPr>
          <p:cNvPr id="113" name="组合 112"/>
          <p:cNvGrpSpPr>
            <a:grpSpLocks noChangeAspect="1"/>
          </p:cNvGrpSpPr>
          <p:nvPr/>
        </p:nvGrpSpPr>
        <p:grpSpPr>
          <a:xfrm>
            <a:off x="5927812" y="1041065"/>
            <a:ext cx="5655219" cy="3408106"/>
            <a:chOff x="5927812" y="1041065"/>
            <a:chExt cx="5511715" cy="3321623"/>
          </a:xfrm>
        </p:grpSpPr>
        <p:sp>
          <p:nvSpPr>
            <p:cNvPr id="3" name="Rounded Rectangle 23"/>
            <p:cNvSpPr/>
            <p:nvPr/>
          </p:nvSpPr>
          <p:spPr bwMode="gray">
            <a:xfrm>
              <a:off x="6036905" y="2292777"/>
              <a:ext cx="5292354" cy="470425"/>
            </a:xfrm>
            <a:prstGeom prst="roundRect">
              <a:avLst>
                <a:gd name="adj" fmla="val 7521"/>
              </a:avLst>
            </a:prstGeom>
            <a:solidFill>
              <a:srgbClr val="BEE9EE"/>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80000" tIns="45705" rIns="91413" bIns="45705" rtlCol="0" anchor="ctr"/>
            <a:lstStyle/>
            <a:p>
              <a:r>
                <a:rPr lang="zh-CN" altLang="en-US" sz="1400">
                  <a:solidFill>
                    <a:schemeClr val="tx2">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用户终端</a:t>
              </a:r>
            </a:p>
          </p:txBody>
        </p:sp>
        <p:sp>
          <p:nvSpPr>
            <p:cNvPr id="4" name="Rounded Rectangle 23"/>
            <p:cNvSpPr/>
            <p:nvPr/>
          </p:nvSpPr>
          <p:spPr bwMode="gray">
            <a:xfrm>
              <a:off x="6036905" y="1754999"/>
              <a:ext cx="5292354" cy="470425"/>
            </a:xfrm>
            <a:prstGeom prst="roundRect">
              <a:avLst>
                <a:gd name="adj" fmla="val 7521"/>
              </a:avLst>
            </a:prstGeom>
            <a:solidFill>
              <a:srgbClr val="BEE9EE"/>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80000" tIns="45705" rIns="91413" bIns="45705" rtlCol="0" anchor="ctr"/>
            <a:lstStyle/>
            <a:p>
              <a:r>
                <a:rPr lang="zh-CN" altLang="en-US" sz="1400">
                  <a:solidFill>
                    <a:schemeClr val="tx2">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认证设备</a:t>
              </a:r>
              <a:endParaRPr lang="zh-CN" altLang="en-US" sz="1400" dirty="0">
                <a:solidFill>
                  <a:schemeClr val="tx2">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Rounded Rectangle 23"/>
            <p:cNvSpPr/>
            <p:nvPr/>
          </p:nvSpPr>
          <p:spPr bwMode="gray">
            <a:xfrm>
              <a:off x="6036905" y="1212535"/>
              <a:ext cx="5292354" cy="470425"/>
            </a:xfrm>
            <a:prstGeom prst="roundRect">
              <a:avLst>
                <a:gd name="adj" fmla="val 7521"/>
              </a:avLst>
            </a:prstGeom>
            <a:solidFill>
              <a:srgbClr val="BEE9EE"/>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80000" tIns="45705" rIns="91413" bIns="45705" rtlCol="0" anchor="ctr"/>
            <a:lstStyle/>
            <a:p>
              <a:r>
                <a:rPr lang="zh-CN" altLang="en-US" sz="1400" dirty="0">
                  <a:solidFill>
                    <a:schemeClr val="tx2">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认证服务端</a:t>
              </a:r>
            </a:p>
          </p:txBody>
        </p:sp>
        <p:sp>
          <p:nvSpPr>
            <p:cNvPr id="99" name="圆角矩形 75"/>
            <p:cNvSpPr/>
            <p:nvPr/>
          </p:nvSpPr>
          <p:spPr bwMode="gray">
            <a:xfrm>
              <a:off x="5927812" y="1041065"/>
              <a:ext cx="5511713" cy="3321623"/>
            </a:xfrm>
            <a:prstGeom prst="roundRect">
              <a:avLst>
                <a:gd name="adj" fmla="val 1534"/>
              </a:avLst>
            </a:prstGeom>
            <a:no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76213" indent="-176213">
                <a:lnSpc>
                  <a:spcPts val="2200"/>
                </a:lnSpc>
                <a:spcAft>
                  <a:spcPts val="300"/>
                </a:spcAft>
                <a:buFont typeface="Arial" panose="020B0604020202020204" pitchFamily="34" charset="0"/>
                <a:buChar char="•"/>
              </a:pPr>
              <a:endParaRPr lang="zh-CN" altLang="en-US" sz="140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00" name="矩形 99"/>
            <p:cNvSpPr/>
            <p:nvPr/>
          </p:nvSpPr>
          <p:spPr bwMode="gray">
            <a:xfrm>
              <a:off x="5929019" y="2841553"/>
              <a:ext cx="5510508" cy="1364848"/>
            </a:xfrm>
            <a:prstGeom prst="rect">
              <a:avLst/>
            </a:prstGeom>
          </p:spPr>
          <p:txBody>
            <a:bodyPr wrap="square">
              <a:spAutoFit/>
            </a:bodyPr>
            <a:lstStyle/>
            <a:p>
              <a:pPr marL="285750" indent="-285750">
                <a:lnSpc>
                  <a:spcPts val="2400"/>
                </a:lnSpc>
                <a:spcAft>
                  <a:spcPts val="600"/>
                </a:spcAft>
                <a:buSzPct val="50000"/>
                <a:buFont typeface="Wingdings" panose="05000000000000000000" pitchFamily="2" charset="2"/>
                <a:buChar char="l"/>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网络准入控制（</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Network Admission Control</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NAC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）通过对接入网络的客户端和用户进行认证来保证网络的安全，它是一种“端到端”的安全技术。</a:t>
              </a:r>
            </a:p>
            <a:p>
              <a:pPr marL="285750" indent="-285750">
                <a:lnSpc>
                  <a:spcPts val="2400"/>
                </a:lnSpc>
                <a:spcAft>
                  <a:spcPts val="600"/>
                </a:spcAft>
                <a:buSzPct val="50000"/>
                <a:buFont typeface="Wingdings" panose="05000000000000000000" pitchFamily="2" charset="2"/>
                <a:buChar char="l"/>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NAC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包括三种认证方式：</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802.1X</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认证、</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地址认证和</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Portal</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认证。</a:t>
              </a:r>
            </a:p>
          </p:txBody>
        </p:sp>
        <p:pic>
          <p:nvPicPr>
            <p:cNvPr id="101" name="图片 14" descr="日志告警服务器-蓝.png"/>
            <p:cNvPicPr>
              <a:picLocks noChangeAspect="1"/>
            </p:cNvPicPr>
            <p:nvPr/>
          </p:nvPicPr>
          <p:blipFill>
            <a:blip r:embed="rId9" cstate="print"/>
            <a:stretch>
              <a:fillRect/>
            </a:stretch>
          </p:blipFill>
          <p:spPr bwMode="gray">
            <a:xfrm>
              <a:off x="9338236" y="2419480"/>
              <a:ext cx="335054" cy="209215"/>
            </a:xfrm>
            <a:prstGeom prst="rect">
              <a:avLst/>
            </a:prstGeom>
          </p:spPr>
        </p:pic>
        <p:pic>
          <p:nvPicPr>
            <p:cNvPr id="102" name="图片 11" descr="开放网络-蓝.png"/>
            <p:cNvPicPr>
              <a:picLocks noChangeAspect="1"/>
            </p:cNvPicPr>
            <p:nvPr/>
          </p:nvPicPr>
          <p:blipFill>
            <a:blip r:embed="rId11" cstate="print"/>
            <a:stretch>
              <a:fillRect/>
            </a:stretch>
          </p:blipFill>
          <p:spPr bwMode="gray">
            <a:xfrm>
              <a:off x="10802896" y="2395128"/>
              <a:ext cx="335054" cy="257919"/>
            </a:xfrm>
            <a:prstGeom prst="rect">
              <a:avLst/>
            </a:prstGeom>
          </p:spPr>
        </p:pic>
        <p:pic>
          <p:nvPicPr>
            <p:cNvPr id="103" name="图片 42" descr="IP电话.png"/>
            <p:cNvPicPr>
              <a:picLocks noChangeAspect="1"/>
            </p:cNvPicPr>
            <p:nvPr/>
          </p:nvPicPr>
          <p:blipFill>
            <a:blip r:embed="rId10" cstate="print"/>
            <a:stretch>
              <a:fillRect/>
            </a:stretch>
          </p:blipFill>
          <p:spPr bwMode="gray">
            <a:xfrm>
              <a:off x="7304410" y="2393848"/>
              <a:ext cx="277078" cy="260479"/>
            </a:xfrm>
            <a:prstGeom prst="rect">
              <a:avLst/>
            </a:prstGeom>
          </p:spPr>
        </p:pic>
        <p:pic>
          <p:nvPicPr>
            <p:cNvPr id="104" name="图片 158" descr="SAN网络-蓝.png"/>
            <p:cNvPicPr>
              <a:picLocks noChangeAspect="1"/>
            </p:cNvPicPr>
            <p:nvPr/>
          </p:nvPicPr>
          <p:blipFill>
            <a:blip r:embed="rId12" cstate="print"/>
            <a:stretch>
              <a:fillRect/>
            </a:stretch>
          </p:blipFill>
          <p:spPr bwMode="gray">
            <a:xfrm>
              <a:off x="8742597" y="2374401"/>
              <a:ext cx="182733" cy="299373"/>
            </a:xfrm>
            <a:prstGeom prst="rect">
              <a:avLst/>
            </a:prstGeom>
          </p:spPr>
        </p:pic>
        <p:pic>
          <p:nvPicPr>
            <p:cNvPr id="105" name="图片 157" descr="故障链路.png"/>
            <p:cNvPicPr>
              <a:picLocks noChangeAspect="1"/>
            </p:cNvPicPr>
            <p:nvPr/>
          </p:nvPicPr>
          <p:blipFill>
            <a:blip r:embed="rId14" cstate="print"/>
            <a:stretch>
              <a:fillRect/>
            </a:stretch>
          </p:blipFill>
          <p:spPr bwMode="gray">
            <a:xfrm>
              <a:off x="7994394" y="2399075"/>
              <a:ext cx="335297" cy="250025"/>
            </a:xfrm>
            <a:prstGeom prst="rect">
              <a:avLst/>
            </a:prstGeom>
          </p:spPr>
        </p:pic>
        <p:pic>
          <p:nvPicPr>
            <p:cNvPr id="106" name="图片 47" descr="打印机.png"/>
            <p:cNvPicPr>
              <a:picLocks noChangeAspect="1"/>
            </p:cNvPicPr>
            <p:nvPr/>
          </p:nvPicPr>
          <p:blipFill>
            <a:blip r:embed="rId13" cstate="print"/>
            <a:stretch>
              <a:fillRect/>
            </a:stretch>
          </p:blipFill>
          <p:spPr bwMode="gray">
            <a:xfrm>
              <a:off x="10086196" y="2403176"/>
              <a:ext cx="303795" cy="241822"/>
            </a:xfrm>
            <a:prstGeom prst="rect">
              <a:avLst/>
            </a:prstGeom>
          </p:spPr>
        </p:pic>
        <p:pic>
          <p:nvPicPr>
            <p:cNvPr id="107" name="图片 9"/>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bwMode="gray">
            <a:xfrm>
              <a:off x="10793419" y="1816845"/>
              <a:ext cx="368827" cy="301768"/>
            </a:xfrm>
            <a:prstGeom prst="rect">
              <a:avLst/>
            </a:prstGeom>
          </p:spPr>
        </p:pic>
        <p:pic>
          <p:nvPicPr>
            <p:cNvPr id="108" name="Picture 2" descr="G:\做的项目\公共\扁平图标切换\更新2015_01_21\oss扁平图标库2015_01_21更新-04.png"/>
            <p:cNvPicPr>
              <a:picLocks noChangeAspect="1" noChangeArrowheads="1"/>
            </p:cNvPicPr>
            <p:nvPr/>
          </p:nvPicPr>
          <p:blipFill>
            <a:blip r:embed="rId8" cstate="print"/>
            <a:stretch>
              <a:fillRect/>
            </a:stretch>
          </p:blipFill>
          <p:spPr bwMode="gray">
            <a:xfrm>
              <a:off x="8136335" y="1816846"/>
              <a:ext cx="368827" cy="301767"/>
            </a:xfrm>
            <a:prstGeom prst="rect">
              <a:avLst/>
            </a:prstGeom>
            <a:noFill/>
          </p:spPr>
        </p:pic>
        <p:pic>
          <p:nvPicPr>
            <p:cNvPr id="109" name="图片 76" descr="接入交换机.png"/>
            <p:cNvPicPr>
              <a:picLocks noChangeAspect="1"/>
            </p:cNvPicPr>
            <p:nvPr/>
          </p:nvPicPr>
          <p:blipFill>
            <a:blip r:embed="rId16" cstate="print"/>
            <a:stretch>
              <a:fillRect/>
            </a:stretch>
          </p:blipFill>
          <p:spPr bwMode="gray">
            <a:xfrm>
              <a:off x="7250641" y="1816845"/>
              <a:ext cx="368827" cy="301768"/>
            </a:xfrm>
            <a:prstGeom prst="rect">
              <a:avLst/>
            </a:prstGeom>
          </p:spPr>
        </p:pic>
        <p:pic>
          <p:nvPicPr>
            <p:cNvPr id="110" name="图片 105" descr="AP.png"/>
            <p:cNvPicPr>
              <a:picLocks noChangeAspect="1"/>
            </p:cNvPicPr>
            <p:nvPr/>
          </p:nvPicPr>
          <p:blipFill>
            <a:blip r:embed="rId3" cstate="print"/>
            <a:stretch>
              <a:fillRect/>
            </a:stretch>
          </p:blipFill>
          <p:spPr bwMode="gray">
            <a:xfrm>
              <a:off x="9022030" y="1816845"/>
              <a:ext cx="368827" cy="301768"/>
            </a:xfrm>
            <a:prstGeom prst="rect">
              <a:avLst/>
            </a:prstGeom>
          </p:spPr>
        </p:pic>
        <p:pic>
          <p:nvPicPr>
            <p:cNvPr id="111" name="图片 102" descr="AC-蓝.png"/>
            <p:cNvPicPr>
              <a:picLocks noChangeAspect="1"/>
            </p:cNvPicPr>
            <p:nvPr/>
          </p:nvPicPr>
          <p:blipFill>
            <a:blip r:embed="rId4" cstate="print"/>
            <a:stretch>
              <a:fillRect/>
            </a:stretch>
          </p:blipFill>
          <p:spPr bwMode="gray">
            <a:xfrm>
              <a:off x="9907725" y="1816845"/>
              <a:ext cx="368827" cy="301768"/>
            </a:xfrm>
            <a:prstGeom prst="rect">
              <a:avLst/>
            </a:prstGeom>
          </p:spPr>
        </p:pic>
        <p:pic>
          <p:nvPicPr>
            <p:cNvPr id="112" name="图片 111"/>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bwMode="gray">
            <a:xfrm>
              <a:off x="8061001" y="1323550"/>
              <a:ext cx="1346845" cy="248394"/>
            </a:xfrm>
            <a:prstGeom prst="rect">
              <a:avLst/>
            </a:prstGeom>
          </p:spPr>
        </p:pic>
      </p:grpSp>
      <p:sp>
        <p:nvSpPr>
          <p:cNvPr id="114" name="五边形 113"/>
          <p:cNvSpPr/>
          <p:nvPr/>
        </p:nvSpPr>
        <p:spPr bwMode="auto">
          <a:xfrm>
            <a:off x="6179960" y="98481"/>
            <a:ext cx="94884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以太网交换</a:t>
            </a:r>
          </a:p>
        </p:txBody>
      </p:sp>
      <p:sp>
        <p:nvSpPr>
          <p:cNvPr id="115" name="燕尾形 114"/>
          <p:cNvSpPr/>
          <p:nvPr/>
        </p:nvSpPr>
        <p:spPr bwMode="auto">
          <a:xfrm>
            <a:off x="7049907" y="98481"/>
            <a:ext cx="678521"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6" name="燕尾形 115"/>
          <p:cNvSpPr/>
          <p:nvPr/>
        </p:nvSpPr>
        <p:spPr bwMode="auto">
          <a:xfrm>
            <a:off x="7649535" y="98481"/>
            <a:ext cx="87595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无线接入</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7" name="燕尾形 116"/>
          <p:cNvSpPr/>
          <p:nvPr/>
        </p:nvSpPr>
        <p:spPr bwMode="auto">
          <a:xfrm>
            <a:off x="8446601"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可靠性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8" name="燕尾形 117"/>
          <p:cNvSpPr/>
          <p:nvPr/>
        </p:nvSpPr>
        <p:spPr bwMode="auto">
          <a:xfrm>
            <a:off x="9148908" y="98481"/>
            <a:ext cx="870489"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网络安全</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9" name="燕尾形 118"/>
          <p:cNvSpPr/>
          <p:nvPr/>
        </p:nvSpPr>
        <p:spPr bwMode="auto">
          <a:xfrm>
            <a:off x="9940504" y="98481"/>
            <a:ext cx="130400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网络服务与管理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0" name="燕尾形 119"/>
          <p:cNvSpPr/>
          <p:nvPr/>
        </p:nvSpPr>
        <p:spPr bwMode="auto">
          <a:xfrm>
            <a:off x="11165613" y="98481"/>
            <a:ext cx="583475"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出口</a:t>
            </a:r>
          </a:p>
        </p:txBody>
      </p:sp>
    </p:spTree>
    <p:extLst>
      <p:ext uri="{BB962C8B-B14F-4D97-AF65-F5344CB8AC3E}">
        <p14:creationId xmlns:p14="http://schemas.microsoft.com/office/powerpoint/2010/main" val="32201088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Huawei Sans" panose="020C0503030203020204" pitchFamily="34" charset="0"/>
              </a:rPr>
              <a:t>DHCP</a:t>
            </a:r>
            <a:endParaRPr lang="zh-CN" altLang="en-US" dirty="0">
              <a:sym typeface="Huawei Sans" panose="020C0503030203020204" pitchFamily="34" charset="0"/>
            </a:endParaRPr>
          </a:p>
        </p:txBody>
      </p:sp>
      <p:cxnSp>
        <p:nvCxnSpPr>
          <p:cNvPr id="3" name="直接连接符 2"/>
          <p:cNvCxnSpPr>
            <a:stCxn id="49" idx="0"/>
            <a:endCxn id="41" idx="2"/>
          </p:cNvCxnSpPr>
          <p:nvPr/>
        </p:nvCxnSpPr>
        <p:spPr bwMode="gray">
          <a:xfrm flipV="1">
            <a:off x="7068944" y="3126668"/>
            <a:ext cx="0" cy="173660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166"/>
          <p:cNvCxnSpPr/>
          <p:nvPr/>
        </p:nvCxnSpPr>
        <p:spPr bwMode="gray">
          <a:xfrm>
            <a:off x="6892216" y="2131130"/>
            <a:ext cx="1133943"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5" name="Group 165"/>
          <p:cNvGrpSpPr/>
          <p:nvPr/>
        </p:nvGrpSpPr>
        <p:grpSpPr bwMode="gray">
          <a:xfrm rot="10800000">
            <a:off x="7033384" y="2078153"/>
            <a:ext cx="2180459" cy="860828"/>
            <a:chOff x="-1233037" y="914446"/>
            <a:chExt cx="1573823" cy="778776"/>
          </a:xfrm>
        </p:grpSpPr>
        <p:cxnSp>
          <p:nvCxnSpPr>
            <p:cNvPr id="6" name="Straight Connector 166"/>
            <p:cNvCxnSpPr/>
            <p:nvPr/>
          </p:nvCxnSpPr>
          <p:spPr bwMode="gray">
            <a:xfrm flipH="1" flipV="1">
              <a:off x="-1233037" y="914446"/>
              <a:ext cx="786912" cy="77877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167"/>
            <p:cNvCxnSpPr/>
            <p:nvPr/>
          </p:nvCxnSpPr>
          <p:spPr bwMode="gray">
            <a:xfrm flipV="1">
              <a:off x="-446125" y="914446"/>
              <a:ext cx="786911" cy="77877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cxnSp>
        <p:nvCxnSpPr>
          <p:cNvPr id="8" name="直接连接符 7"/>
          <p:cNvCxnSpPr/>
          <p:nvPr/>
        </p:nvCxnSpPr>
        <p:spPr bwMode="gray">
          <a:xfrm flipH="1">
            <a:off x="1386485" y="2136689"/>
            <a:ext cx="2957894"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 name="圆角矩形 8"/>
          <p:cNvSpPr/>
          <p:nvPr/>
        </p:nvSpPr>
        <p:spPr bwMode="gray">
          <a:xfrm>
            <a:off x="4895434" y="1648601"/>
            <a:ext cx="6589247" cy="4473930"/>
          </a:xfrm>
          <a:prstGeom prst="roundRect">
            <a:avLst>
              <a:gd name="adj" fmla="val 898"/>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文本框 9"/>
          <p:cNvSpPr txBox="1"/>
          <p:nvPr/>
        </p:nvSpPr>
        <p:spPr bwMode="gray">
          <a:xfrm>
            <a:off x="541539" y="1225987"/>
            <a:ext cx="4248680" cy="373577"/>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600">
                <a:solidFill>
                  <a:srgbClr val="30B5C5"/>
                </a:solidFill>
                <a:latin typeface="Huawei Sans" panose="020C0503030203020204" pitchFamily="34" charset="0"/>
                <a:ea typeface="方正兰亭黑简体" panose="02000000000000000000" pitchFamily="2" charset="-122"/>
              </a:defRPr>
            </a:lvl1pPr>
          </a:lstStyle>
          <a:p>
            <a:r>
              <a:rPr lang="zh-CN" altLang="en-US">
                <a:sym typeface="Huawei Sans" panose="020C0503030203020204" pitchFamily="34" charset="0"/>
              </a:rPr>
              <a:t>使用</a:t>
            </a:r>
            <a:r>
              <a:rPr lang="en-US" altLang="zh-CN">
                <a:sym typeface="Huawei Sans" panose="020C0503030203020204" pitchFamily="34" charset="0"/>
              </a:rPr>
              <a:t>DHCP</a:t>
            </a:r>
            <a:r>
              <a:rPr lang="zh-CN" altLang="en-US">
                <a:sym typeface="Huawei Sans" panose="020C0503030203020204" pitchFamily="34" charset="0"/>
              </a:rPr>
              <a:t>进行</a:t>
            </a:r>
            <a:r>
              <a:rPr lang="en-US" altLang="zh-CN">
                <a:sym typeface="Huawei Sans" panose="020C0503030203020204" pitchFamily="34" charset="0"/>
              </a:rPr>
              <a:t>IP</a:t>
            </a:r>
            <a:r>
              <a:rPr lang="zh-CN" altLang="en-US">
                <a:sym typeface="Huawei Sans" panose="020C0503030203020204" pitchFamily="34" charset="0"/>
              </a:rPr>
              <a:t>地址自动配置</a:t>
            </a:r>
            <a:endParaRPr lang="zh-CN" altLang="en-US" dirty="0">
              <a:sym typeface="Huawei Sans" panose="020C0503030203020204" pitchFamily="34" charset="0"/>
            </a:endParaRPr>
          </a:p>
        </p:txBody>
      </p:sp>
      <p:sp>
        <p:nvSpPr>
          <p:cNvPr id="11" name="文本框 10"/>
          <p:cNvSpPr txBox="1"/>
          <p:nvPr/>
        </p:nvSpPr>
        <p:spPr bwMode="gray">
          <a:xfrm>
            <a:off x="4895436" y="1225987"/>
            <a:ext cx="6589246" cy="373577"/>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600">
                <a:solidFill>
                  <a:srgbClr val="30B5C5"/>
                </a:solidFill>
                <a:latin typeface="Huawei Sans" panose="020C0503030203020204" pitchFamily="34" charset="0"/>
                <a:ea typeface="方正兰亭黑简体" panose="02000000000000000000" pitchFamily="2" charset="-122"/>
              </a:defRPr>
            </a:lvl1pPr>
          </a:lstStyle>
          <a:p>
            <a:r>
              <a:rPr lang="en-US" altLang="zh-CN">
                <a:sym typeface="Huawei Sans" panose="020C0503030203020204" pitchFamily="34" charset="0"/>
              </a:rPr>
              <a:t>DHCP</a:t>
            </a:r>
            <a:r>
              <a:rPr lang="zh-CN" altLang="en-US">
                <a:sym typeface="Huawei Sans" panose="020C0503030203020204" pitchFamily="34" charset="0"/>
              </a:rPr>
              <a:t>在大型园区网络中的典型应用</a:t>
            </a:r>
            <a:endParaRPr lang="zh-CN" altLang="en-US" dirty="0">
              <a:sym typeface="Huawei Sans" panose="020C0503030203020204" pitchFamily="34" charset="0"/>
            </a:endParaRPr>
          </a:p>
        </p:txBody>
      </p:sp>
      <p:pic>
        <p:nvPicPr>
          <p:cNvPr id="12" name="图片 14" descr="日志告警服务器-蓝.png"/>
          <p:cNvPicPr>
            <a:picLocks noChangeAspect="1"/>
          </p:cNvPicPr>
          <p:nvPr/>
        </p:nvPicPr>
        <p:blipFill>
          <a:blip r:embed="rId3" cstate="print"/>
          <a:stretch>
            <a:fillRect/>
          </a:stretch>
        </p:blipFill>
        <p:spPr bwMode="gray">
          <a:xfrm>
            <a:off x="890335" y="2008390"/>
            <a:ext cx="490552" cy="306312"/>
          </a:xfrm>
          <a:prstGeom prst="rect">
            <a:avLst/>
          </a:prstGeom>
        </p:spPr>
      </p:pic>
      <p:sp>
        <p:nvSpPr>
          <p:cNvPr id="13" name="文本框 12"/>
          <p:cNvSpPr txBox="1"/>
          <p:nvPr/>
        </p:nvSpPr>
        <p:spPr bwMode="gray">
          <a:xfrm>
            <a:off x="541539" y="2363739"/>
            <a:ext cx="1188147"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DHCP Client</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4" name="图片 72" descr="交换机.png"/>
          <p:cNvPicPr>
            <a:picLocks noChangeAspect="1"/>
          </p:cNvPicPr>
          <p:nvPr/>
        </p:nvPicPr>
        <p:blipFill>
          <a:blip r:embed="rId4" cstate="print"/>
          <a:stretch>
            <a:fillRect/>
          </a:stretch>
        </p:blipFill>
        <p:spPr bwMode="gray">
          <a:xfrm>
            <a:off x="3969515" y="1978978"/>
            <a:ext cx="444805" cy="365137"/>
          </a:xfrm>
          <a:prstGeom prst="rect">
            <a:avLst/>
          </a:prstGeom>
        </p:spPr>
      </p:pic>
      <p:pic>
        <p:nvPicPr>
          <p:cNvPr id="15" name="图片 76" descr="接入交换机.png"/>
          <p:cNvPicPr>
            <a:picLocks noChangeAspect="1"/>
          </p:cNvPicPr>
          <p:nvPr/>
        </p:nvPicPr>
        <p:blipFill>
          <a:blip r:embed="rId5" cstate="print"/>
          <a:stretch>
            <a:fillRect/>
          </a:stretch>
        </p:blipFill>
        <p:spPr bwMode="gray">
          <a:xfrm>
            <a:off x="2453205" y="1978977"/>
            <a:ext cx="446281" cy="365139"/>
          </a:xfrm>
          <a:prstGeom prst="rect">
            <a:avLst/>
          </a:prstGeom>
        </p:spPr>
      </p:pic>
      <p:sp>
        <p:nvSpPr>
          <p:cNvPr id="16" name="文本框 15"/>
          <p:cNvSpPr txBox="1"/>
          <p:nvPr/>
        </p:nvSpPr>
        <p:spPr bwMode="gray">
          <a:xfrm>
            <a:off x="2324325" y="2363739"/>
            <a:ext cx="704040"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L2 SW</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文本框 16"/>
          <p:cNvSpPr txBox="1"/>
          <p:nvPr/>
        </p:nvSpPr>
        <p:spPr bwMode="gray">
          <a:xfrm>
            <a:off x="3579421" y="2363739"/>
            <a:ext cx="1226619"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DHCP Server</a:t>
            </a:r>
          </a:p>
        </p:txBody>
      </p:sp>
      <p:grpSp>
        <p:nvGrpSpPr>
          <p:cNvPr id="18" name="组合 17"/>
          <p:cNvGrpSpPr/>
          <p:nvPr/>
        </p:nvGrpSpPr>
        <p:grpSpPr bwMode="gray">
          <a:xfrm>
            <a:off x="1137910" y="2672773"/>
            <a:ext cx="3033135" cy="3328174"/>
            <a:chOff x="1137910" y="3137492"/>
            <a:chExt cx="3033135" cy="2721770"/>
          </a:xfrm>
        </p:grpSpPr>
        <p:cxnSp>
          <p:nvCxnSpPr>
            <p:cNvPr id="19" name="直接连接符 18"/>
            <p:cNvCxnSpPr/>
            <p:nvPr/>
          </p:nvCxnSpPr>
          <p:spPr bwMode="gray">
            <a:xfrm flipV="1">
              <a:off x="1137910" y="3137492"/>
              <a:ext cx="0" cy="2721770"/>
            </a:xfrm>
            <a:prstGeom prst="line">
              <a:avLst/>
            </a:prstGeom>
            <a:ln w="190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bwMode="gray">
            <a:xfrm flipV="1">
              <a:off x="4171045" y="3137492"/>
              <a:ext cx="0" cy="2721770"/>
            </a:xfrm>
            <a:prstGeom prst="line">
              <a:avLst/>
            </a:prstGeom>
            <a:ln w="190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cxnSp>
        <p:nvCxnSpPr>
          <p:cNvPr id="21" name="直接连接符 20"/>
          <p:cNvCxnSpPr/>
          <p:nvPr/>
        </p:nvCxnSpPr>
        <p:spPr bwMode="gray">
          <a:xfrm>
            <a:off x="1137910" y="3093022"/>
            <a:ext cx="2441511" cy="0"/>
          </a:xfrm>
          <a:prstGeom prst="line">
            <a:avLst/>
          </a:prstGeom>
          <a:noFill/>
          <a:ln w="19050" algn="ctr">
            <a:solidFill>
              <a:srgbClr val="EC7061"/>
            </a:solidFill>
            <a:prstDash val="solid"/>
            <a:round/>
            <a:headEnd type="none" w="med" len="med"/>
            <a:tailEnd type="triangle" w="med" len="med"/>
          </a:ln>
        </p:spPr>
      </p:cxnSp>
      <p:cxnSp>
        <p:nvCxnSpPr>
          <p:cNvPr id="22" name="直接连接符 21"/>
          <p:cNvCxnSpPr/>
          <p:nvPr/>
        </p:nvCxnSpPr>
        <p:spPr bwMode="gray">
          <a:xfrm flipH="1">
            <a:off x="1594177" y="3971751"/>
            <a:ext cx="2576868" cy="0"/>
          </a:xfrm>
          <a:prstGeom prst="line">
            <a:avLst/>
          </a:prstGeom>
          <a:noFill/>
          <a:ln w="19050" algn="ctr">
            <a:solidFill>
              <a:srgbClr val="EC7061"/>
            </a:solidFill>
            <a:prstDash val="solid"/>
            <a:round/>
            <a:headEnd type="none" w="med" len="med"/>
            <a:tailEnd type="triangle" w="med" len="med"/>
          </a:ln>
        </p:spPr>
      </p:cxnSp>
      <p:cxnSp>
        <p:nvCxnSpPr>
          <p:cNvPr id="23" name="直接连接符 22"/>
          <p:cNvCxnSpPr/>
          <p:nvPr/>
        </p:nvCxnSpPr>
        <p:spPr bwMode="gray">
          <a:xfrm>
            <a:off x="1137910" y="4844377"/>
            <a:ext cx="2441511" cy="0"/>
          </a:xfrm>
          <a:prstGeom prst="line">
            <a:avLst/>
          </a:prstGeom>
          <a:noFill/>
          <a:ln w="19050" algn="ctr">
            <a:solidFill>
              <a:srgbClr val="EC7061"/>
            </a:solidFill>
            <a:prstDash val="solid"/>
            <a:round/>
            <a:headEnd type="none" w="med" len="med"/>
            <a:tailEnd type="triangle" w="med" len="med"/>
          </a:ln>
        </p:spPr>
      </p:cxnSp>
      <p:cxnSp>
        <p:nvCxnSpPr>
          <p:cNvPr id="24" name="直接连接符 23"/>
          <p:cNvCxnSpPr/>
          <p:nvPr/>
        </p:nvCxnSpPr>
        <p:spPr bwMode="gray">
          <a:xfrm flipH="1">
            <a:off x="1594177" y="5743861"/>
            <a:ext cx="2576868" cy="0"/>
          </a:xfrm>
          <a:prstGeom prst="line">
            <a:avLst/>
          </a:prstGeom>
          <a:noFill/>
          <a:ln w="19050" algn="ctr">
            <a:solidFill>
              <a:srgbClr val="EC7061"/>
            </a:solidFill>
            <a:prstDash val="solid"/>
            <a:round/>
            <a:headEnd type="none" w="med" len="med"/>
            <a:tailEnd type="triangle" w="med" len="med"/>
          </a:ln>
        </p:spPr>
      </p:cxnSp>
      <p:sp>
        <p:nvSpPr>
          <p:cNvPr id="25" name="圆角矩形 24"/>
          <p:cNvSpPr/>
          <p:nvPr/>
        </p:nvSpPr>
        <p:spPr bwMode="gray">
          <a:xfrm>
            <a:off x="541540" y="1648601"/>
            <a:ext cx="4248680" cy="4473930"/>
          </a:xfrm>
          <a:prstGeom prst="roundRect">
            <a:avLst>
              <a:gd name="adj" fmla="val 898"/>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文本框 25"/>
          <p:cNvSpPr txBox="1"/>
          <p:nvPr/>
        </p:nvSpPr>
        <p:spPr bwMode="gray">
          <a:xfrm>
            <a:off x="1224673" y="2813921"/>
            <a:ext cx="2201244" cy="276999"/>
          </a:xfrm>
          <a:prstGeom prst="rect">
            <a:avLst/>
          </a:prstGeom>
          <a:noFill/>
        </p:spPr>
        <p:txBody>
          <a:bodyPr wrap="none" rtlCol="0">
            <a:spAutoFit/>
          </a:bodyPr>
          <a:lstStyle/>
          <a:p>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广播发送</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DHCP Discover</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报文</a:t>
            </a:r>
            <a:endPar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椭圆 26"/>
          <p:cNvSpPr>
            <a:spLocks noChangeAspect="1"/>
          </p:cNvSpPr>
          <p:nvPr/>
        </p:nvSpPr>
        <p:spPr bwMode="gray">
          <a:xfrm>
            <a:off x="1031478" y="2988890"/>
            <a:ext cx="208265" cy="208265"/>
          </a:xfrm>
          <a:prstGeom prst="ellipse">
            <a:avLst/>
          </a:prstGeom>
          <a:solidFill>
            <a:srgbClr val="EC7061">
              <a:lumMod val="100000"/>
            </a:srgbClr>
          </a:solidFill>
          <a:ln w="1905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a:t>
            </a:r>
            <a:endParaRPr kumimoji="0" lang="zh-CN" altLang="en-US"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椭圆 27"/>
          <p:cNvSpPr>
            <a:spLocks noChangeAspect="1"/>
          </p:cNvSpPr>
          <p:nvPr/>
        </p:nvSpPr>
        <p:spPr bwMode="gray">
          <a:xfrm>
            <a:off x="4084516" y="3867618"/>
            <a:ext cx="208265" cy="208265"/>
          </a:xfrm>
          <a:prstGeom prst="ellipse">
            <a:avLst/>
          </a:prstGeom>
          <a:solidFill>
            <a:srgbClr val="EC7061">
              <a:lumMod val="100000"/>
            </a:srgbClr>
          </a:solidFill>
          <a:ln w="1905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2</a:t>
            </a:r>
            <a:endParaRPr kumimoji="0" lang="zh-CN" altLang="en-US"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文本框 28"/>
          <p:cNvSpPr txBox="1"/>
          <p:nvPr/>
        </p:nvSpPr>
        <p:spPr bwMode="gray">
          <a:xfrm>
            <a:off x="2032528" y="3703377"/>
            <a:ext cx="2122697" cy="276999"/>
          </a:xfrm>
          <a:prstGeom prst="rect">
            <a:avLst/>
          </a:prstGeom>
          <a:noFill/>
        </p:spPr>
        <p:txBody>
          <a:bodyPr wrap="none" rtlCol="0">
            <a:spAutoFit/>
          </a:bodyPr>
          <a:lstStyle/>
          <a:p>
            <a:pPr algn="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服务器回应</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DHCP Offer</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报文</a:t>
            </a:r>
            <a:endPar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文本框 29"/>
          <p:cNvSpPr txBox="1"/>
          <p:nvPr/>
        </p:nvSpPr>
        <p:spPr bwMode="gray">
          <a:xfrm>
            <a:off x="1224673" y="4567378"/>
            <a:ext cx="2172390" cy="276999"/>
          </a:xfrm>
          <a:prstGeom prst="rect">
            <a:avLst/>
          </a:prstGeom>
          <a:noFill/>
        </p:spPr>
        <p:txBody>
          <a:bodyPr wrap="none" rtlCol="0">
            <a:spAutoFit/>
          </a:bodyPr>
          <a:lstStyle/>
          <a:p>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广播发送</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DHCP Request</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报文</a:t>
            </a:r>
            <a:endPar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椭圆 30"/>
          <p:cNvSpPr>
            <a:spLocks noChangeAspect="1"/>
          </p:cNvSpPr>
          <p:nvPr/>
        </p:nvSpPr>
        <p:spPr bwMode="gray">
          <a:xfrm>
            <a:off x="1031478" y="4742347"/>
            <a:ext cx="208265" cy="208265"/>
          </a:xfrm>
          <a:prstGeom prst="ellipse">
            <a:avLst/>
          </a:prstGeom>
          <a:solidFill>
            <a:srgbClr val="EC7061">
              <a:lumMod val="100000"/>
            </a:srgbClr>
          </a:solidFill>
          <a:ln w="1905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3</a:t>
            </a:r>
            <a:endParaRPr kumimoji="0" lang="zh-CN" altLang="en-US"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椭圆 31"/>
          <p:cNvSpPr>
            <a:spLocks noChangeAspect="1"/>
          </p:cNvSpPr>
          <p:nvPr/>
        </p:nvSpPr>
        <p:spPr bwMode="gray">
          <a:xfrm>
            <a:off x="4084516" y="5639728"/>
            <a:ext cx="208265" cy="208265"/>
          </a:xfrm>
          <a:prstGeom prst="ellipse">
            <a:avLst/>
          </a:prstGeom>
          <a:solidFill>
            <a:srgbClr val="EC7061">
              <a:lumMod val="100000"/>
            </a:srgbClr>
          </a:solidFill>
          <a:ln w="1905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lang="en-US" altLang="zh-CN" sz="1200" b="1"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4</a:t>
            </a:r>
            <a:endParaRPr kumimoji="0" lang="zh-CN" altLang="en-US"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文本框 32"/>
          <p:cNvSpPr txBox="1"/>
          <p:nvPr/>
        </p:nvSpPr>
        <p:spPr bwMode="gray">
          <a:xfrm>
            <a:off x="2120694" y="5458142"/>
            <a:ext cx="2034531" cy="276999"/>
          </a:xfrm>
          <a:prstGeom prst="rect">
            <a:avLst/>
          </a:prstGeom>
          <a:noFill/>
        </p:spPr>
        <p:txBody>
          <a:bodyPr wrap="none" rtlCol="0">
            <a:spAutoFit/>
          </a:bodyPr>
          <a:lstStyle/>
          <a:p>
            <a:pPr algn="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服务器回应</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DHCP ACK</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报文</a:t>
            </a:r>
            <a:endPar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文本框 33"/>
          <p:cNvSpPr txBox="1"/>
          <p:nvPr/>
        </p:nvSpPr>
        <p:spPr bwMode="gray">
          <a:xfrm>
            <a:off x="1215048" y="3098119"/>
            <a:ext cx="2004075" cy="276999"/>
          </a:xfrm>
          <a:prstGeom prst="rect">
            <a:avLst/>
          </a:prstGeom>
          <a:noFill/>
        </p:spPr>
        <p:txBody>
          <a:bodyPr wrap="none" rtlCol="0">
            <a:spAutoFit/>
          </a:bodyPr>
          <a:lstStyle/>
          <a:p>
            <a:r>
              <a:rPr lang="zh-CN" alt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寻找网络中的</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DHCP Server</a:t>
            </a:r>
          </a:p>
        </p:txBody>
      </p:sp>
      <p:sp>
        <p:nvSpPr>
          <p:cNvPr id="35" name="文本框 34"/>
          <p:cNvSpPr txBox="1"/>
          <p:nvPr/>
        </p:nvSpPr>
        <p:spPr bwMode="gray">
          <a:xfrm>
            <a:off x="2761897" y="3978273"/>
            <a:ext cx="1393330" cy="276999"/>
          </a:xfrm>
          <a:prstGeom prst="rect">
            <a:avLst/>
          </a:prstGeom>
          <a:noFill/>
        </p:spPr>
        <p:txBody>
          <a:bodyPr wrap="none" rtlCol="0">
            <a:spAutoFit/>
          </a:bodyPr>
          <a:lstStyle/>
          <a:p>
            <a:pPr algn="r"/>
            <a:r>
              <a:rPr lang="zh-CN" alt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提供</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地址等信息</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文本框 35"/>
          <p:cNvSpPr txBox="1"/>
          <p:nvPr/>
        </p:nvSpPr>
        <p:spPr bwMode="gray">
          <a:xfrm>
            <a:off x="1176548" y="4861149"/>
            <a:ext cx="3081293" cy="276999"/>
          </a:xfrm>
          <a:prstGeom prst="rect">
            <a:avLst/>
          </a:prstGeom>
          <a:noFill/>
        </p:spPr>
        <p:txBody>
          <a:bodyPr wrap="none" rtlCol="0">
            <a:spAutoFit/>
          </a:bodyPr>
          <a:lstStyle/>
          <a:p>
            <a:r>
              <a:rPr lang="zh-CN" alt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明确使用具体某台</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DHCP Server</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提供的地址</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文本框 36"/>
          <p:cNvSpPr txBox="1"/>
          <p:nvPr/>
        </p:nvSpPr>
        <p:spPr bwMode="gray">
          <a:xfrm>
            <a:off x="2608008" y="5743861"/>
            <a:ext cx="1547219" cy="276999"/>
          </a:xfrm>
          <a:prstGeom prst="rect">
            <a:avLst/>
          </a:prstGeom>
          <a:noFill/>
        </p:spPr>
        <p:txBody>
          <a:bodyPr wrap="none" rtlCol="0">
            <a:spAutoFit/>
          </a:bodyPr>
          <a:lstStyle/>
          <a:p>
            <a:pPr algn="r"/>
            <a:r>
              <a:rPr lang="zh-CN" alt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确认</a:t>
            </a:r>
            <a:r>
              <a:rPr lang="en-US" altLang="zh-CN"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地址分配使用</a:t>
            </a:r>
            <a:endParaRPr lang="en-US" altLang="zh-CN"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8" name="图片 86" descr="核心交换机.png"/>
          <p:cNvPicPr>
            <a:picLocks noChangeAspect="1"/>
          </p:cNvPicPr>
          <p:nvPr/>
        </p:nvPicPr>
        <p:blipFill>
          <a:blip r:embed="rId6" cstate="print"/>
          <a:stretch>
            <a:fillRect/>
          </a:stretch>
        </p:blipFill>
        <p:spPr bwMode="gray">
          <a:xfrm>
            <a:off x="7908193" y="1948559"/>
            <a:ext cx="446281" cy="365140"/>
          </a:xfrm>
          <a:prstGeom prst="rect">
            <a:avLst/>
          </a:prstGeom>
        </p:spPr>
      </p:pic>
      <p:pic>
        <p:nvPicPr>
          <p:cNvPr id="39" name="图片 72" descr="交换机.png"/>
          <p:cNvPicPr>
            <a:picLocks noChangeAspect="1"/>
          </p:cNvPicPr>
          <p:nvPr/>
        </p:nvPicPr>
        <p:blipFill>
          <a:blip r:embed="rId4" cstate="print"/>
          <a:stretch>
            <a:fillRect/>
          </a:stretch>
        </p:blipFill>
        <p:spPr bwMode="gray">
          <a:xfrm>
            <a:off x="9393645" y="1965158"/>
            <a:ext cx="404368" cy="331943"/>
          </a:xfrm>
          <a:prstGeom prst="rect">
            <a:avLst/>
          </a:prstGeom>
        </p:spPr>
      </p:pic>
      <p:pic>
        <p:nvPicPr>
          <p:cNvPr id="40" name="图片 102" descr="AC-蓝.png"/>
          <p:cNvPicPr>
            <a:picLocks noChangeAspect="1"/>
          </p:cNvPicPr>
          <p:nvPr/>
        </p:nvPicPr>
        <p:blipFill>
          <a:blip r:embed="rId7" cstate="print"/>
          <a:stretch>
            <a:fillRect/>
          </a:stretch>
        </p:blipFill>
        <p:spPr bwMode="gray">
          <a:xfrm>
            <a:off x="6524315" y="1994423"/>
            <a:ext cx="405710" cy="331945"/>
          </a:xfrm>
          <a:prstGeom prst="rect">
            <a:avLst/>
          </a:prstGeom>
        </p:spPr>
      </p:pic>
      <p:pic>
        <p:nvPicPr>
          <p:cNvPr id="41" name="图片 87" descr="汇聚交换机.png"/>
          <p:cNvPicPr>
            <a:picLocks noChangeAspect="1"/>
          </p:cNvPicPr>
          <p:nvPr/>
        </p:nvPicPr>
        <p:blipFill>
          <a:blip r:embed="rId8" cstate="print"/>
          <a:stretch>
            <a:fillRect/>
          </a:stretch>
        </p:blipFill>
        <p:spPr bwMode="gray">
          <a:xfrm>
            <a:off x="6866089" y="2794723"/>
            <a:ext cx="405710" cy="331945"/>
          </a:xfrm>
          <a:prstGeom prst="rect">
            <a:avLst/>
          </a:prstGeom>
        </p:spPr>
      </p:pic>
      <p:pic>
        <p:nvPicPr>
          <p:cNvPr id="42" name="图片 76" descr="接入交换机.png"/>
          <p:cNvPicPr>
            <a:picLocks noChangeAspect="1"/>
          </p:cNvPicPr>
          <p:nvPr/>
        </p:nvPicPr>
        <p:blipFill>
          <a:blip r:embed="rId5" cstate="print"/>
          <a:stretch>
            <a:fillRect/>
          </a:stretch>
        </p:blipFill>
        <p:spPr bwMode="gray">
          <a:xfrm>
            <a:off x="6866089" y="3852925"/>
            <a:ext cx="405710" cy="331945"/>
          </a:xfrm>
          <a:prstGeom prst="rect">
            <a:avLst/>
          </a:prstGeom>
        </p:spPr>
      </p:pic>
      <p:pic>
        <p:nvPicPr>
          <p:cNvPr id="43" name="图片 87" descr="汇聚交换机.png"/>
          <p:cNvPicPr>
            <a:picLocks noChangeAspect="1"/>
          </p:cNvPicPr>
          <p:nvPr/>
        </p:nvPicPr>
        <p:blipFill>
          <a:blip r:embed="rId8" cstate="print"/>
          <a:stretch>
            <a:fillRect/>
          </a:stretch>
        </p:blipFill>
        <p:spPr bwMode="gray">
          <a:xfrm>
            <a:off x="9010992" y="2794723"/>
            <a:ext cx="405710" cy="331945"/>
          </a:xfrm>
          <a:prstGeom prst="rect">
            <a:avLst/>
          </a:prstGeom>
        </p:spPr>
      </p:pic>
      <p:pic>
        <p:nvPicPr>
          <p:cNvPr id="44" name="图片 76" descr="接入交换机.png"/>
          <p:cNvPicPr>
            <a:picLocks noChangeAspect="1"/>
          </p:cNvPicPr>
          <p:nvPr/>
        </p:nvPicPr>
        <p:blipFill>
          <a:blip r:embed="rId5" cstate="print"/>
          <a:stretch>
            <a:fillRect/>
          </a:stretch>
        </p:blipFill>
        <p:spPr bwMode="gray">
          <a:xfrm>
            <a:off x="9010992" y="3414648"/>
            <a:ext cx="405710" cy="331945"/>
          </a:xfrm>
          <a:prstGeom prst="rect">
            <a:avLst/>
          </a:prstGeom>
        </p:spPr>
      </p:pic>
      <p:pic>
        <p:nvPicPr>
          <p:cNvPr id="45" name="图片 105" descr="AP.png"/>
          <p:cNvPicPr>
            <a:picLocks noChangeAspect="1"/>
          </p:cNvPicPr>
          <p:nvPr/>
        </p:nvPicPr>
        <p:blipFill>
          <a:blip r:embed="rId9" cstate="print"/>
          <a:stretch>
            <a:fillRect/>
          </a:stretch>
        </p:blipFill>
        <p:spPr bwMode="gray">
          <a:xfrm>
            <a:off x="9010992" y="4166273"/>
            <a:ext cx="405710" cy="331945"/>
          </a:xfrm>
          <a:prstGeom prst="rect">
            <a:avLst/>
          </a:prstGeom>
        </p:spPr>
      </p:pic>
      <p:cxnSp>
        <p:nvCxnSpPr>
          <p:cNvPr id="46" name="直接连接符 45"/>
          <p:cNvCxnSpPr>
            <a:stCxn id="44" idx="0"/>
            <a:endCxn id="43" idx="2"/>
          </p:cNvCxnSpPr>
          <p:nvPr/>
        </p:nvCxnSpPr>
        <p:spPr bwMode="gray">
          <a:xfrm flipV="1">
            <a:off x="9213847" y="3126668"/>
            <a:ext cx="0" cy="28798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a:stCxn id="45" idx="0"/>
            <a:endCxn id="44" idx="2"/>
          </p:cNvCxnSpPr>
          <p:nvPr/>
        </p:nvCxnSpPr>
        <p:spPr bwMode="gray">
          <a:xfrm flipV="1">
            <a:off x="9213847" y="3746593"/>
            <a:ext cx="0" cy="41968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166"/>
          <p:cNvCxnSpPr>
            <a:stCxn id="38" idx="3"/>
          </p:cNvCxnSpPr>
          <p:nvPr/>
        </p:nvCxnSpPr>
        <p:spPr bwMode="gray">
          <a:xfrm>
            <a:off x="8354474" y="2131129"/>
            <a:ext cx="109023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49" name="图片 11" descr="开放网络-蓝.png"/>
          <p:cNvPicPr>
            <a:picLocks noChangeAspect="1"/>
          </p:cNvPicPr>
          <p:nvPr/>
        </p:nvPicPr>
        <p:blipFill>
          <a:blip r:embed="rId10" cstate="print"/>
          <a:stretch>
            <a:fillRect/>
          </a:stretch>
        </p:blipFill>
        <p:spPr bwMode="gray">
          <a:xfrm>
            <a:off x="6845966" y="4863275"/>
            <a:ext cx="445956" cy="343290"/>
          </a:xfrm>
          <a:prstGeom prst="rect">
            <a:avLst/>
          </a:prstGeom>
        </p:spPr>
      </p:pic>
      <p:pic>
        <p:nvPicPr>
          <p:cNvPr id="50" name="图片 158" descr="SAN网络-蓝.png"/>
          <p:cNvPicPr>
            <a:picLocks noChangeAspect="1"/>
          </p:cNvPicPr>
          <p:nvPr/>
        </p:nvPicPr>
        <p:blipFill>
          <a:blip r:embed="rId11" cstate="print"/>
          <a:stretch>
            <a:fillRect/>
          </a:stretch>
        </p:blipFill>
        <p:spPr bwMode="gray">
          <a:xfrm>
            <a:off x="9137448" y="4855050"/>
            <a:ext cx="201006" cy="329310"/>
          </a:xfrm>
          <a:prstGeom prst="rect">
            <a:avLst/>
          </a:prstGeom>
        </p:spPr>
      </p:pic>
      <p:grpSp>
        <p:nvGrpSpPr>
          <p:cNvPr id="51" name="组合 758"/>
          <p:cNvGrpSpPr/>
          <p:nvPr/>
        </p:nvGrpSpPr>
        <p:grpSpPr bwMode="gray">
          <a:xfrm flipV="1">
            <a:off x="9092617" y="4593966"/>
            <a:ext cx="236214" cy="200032"/>
            <a:chOff x="7440613" y="4868863"/>
            <a:chExt cx="1019175" cy="828675"/>
          </a:xfrm>
          <a:solidFill>
            <a:schemeClr val="bg1">
              <a:lumMod val="50000"/>
            </a:schemeClr>
          </a:solidFill>
        </p:grpSpPr>
        <p:sp>
          <p:nvSpPr>
            <p:cNvPr id="52"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54" name="文本框 53"/>
          <p:cNvSpPr txBox="1"/>
          <p:nvPr/>
        </p:nvSpPr>
        <p:spPr bwMode="gray">
          <a:xfrm>
            <a:off x="9816572" y="1972149"/>
            <a:ext cx="1226619"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DHCP Server</a:t>
            </a:r>
          </a:p>
        </p:txBody>
      </p:sp>
      <p:sp>
        <p:nvSpPr>
          <p:cNvPr id="55" name="文本框 54"/>
          <p:cNvSpPr txBox="1"/>
          <p:nvPr/>
        </p:nvSpPr>
        <p:spPr bwMode="gray">
          <a:xfrm>
            <a:off x="5615244" y="4898788"/>
            <a:ext cx="1188147" cy="307777"/>
          </a:xfrm>
          <a:prstGeom prst="rect">
            <a:avLst/>
          </a:prstGeom>
          <a:noFill/>
        </p:spPr>
        <p:txBody>
          <a:bodyPr wrap="none" rtlCol="0">
            <a:spAutoFit/>
          </a:bodyPr>
          <a:lstStyle/>
          <a:p>
            <a:pPr algn="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DHCP Client</a:t>
            </a:r>
          </a:p>
        </p:txBody>
      </p:sp>
      <p:sp>
        <p:nvSpPr>
          <p:cNvPr id="56" name="文本框 55"/>
          <p:cNvSpPr txBox="1"/>
          <p:nvPr/>
        </p:nvSpPr>
        <p:spPr bwMode="gray">
          <a:xfrm>
            <a:off x="9284069" y="4898788"/>
            <a:ext cx="1188147" cy="307777"/>
          </a:xfrm>
          <a:prstGeom prst="rect">
            <a:avLst/>
          </a:prstGeom>
          <a:noFill/>
        </p:spPr>
        <p:txBody>
          <a:bodyPr wrap="non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DHCP Client</a:t>
            </a:r>
          </a:p>
        </p:txBody>
      </p:sp>
      <p:sp>
        <p:nvSpPr>
          <p:cNvPr id="57" name="文本框 56"/>
          <p:cNvSpPr txBox="1"/>
          <p:nvPr/>
        </p:nvSpPr>
        <p:spPr bwMode="gray">
          <a:xfrm>
            <a:off x="5606416" y="2732979"/>
            <a:ext cx="1221809" cy="461665"/>
          </a:xfrm>
          <a:prstGeom prst="rect">
            <a:avLst/>
          </a:prstGeom>
          <a:noFill/>
        </p:spPr>
        <p:txBody>
          <a:bodyPr wrap="none" rtlCol="0">
            <a:spAutoFit/>
          </a:bodyPr>
          <a:lstStyle/>
          <a:p>
            <a:pPr algn="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网关</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r"/>
            <a:r>
              <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部署</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中继</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矩形 57"/>
          <p:cNvSpPr/>
          <p:nvPr/>
        </p:nvSpPr>
        <p:spPr bwMode="gray">
          <a:xfrm>
            <a:off x="5037909" y="5296506"/>
            <a:ext cx="6384029" cy="823302"/>
          </a:xfrm>
          <a:prstGeom prst="rect">
            <a:avLst/>
          </a:prstGeom>
        </p:spPr>
        <p:txBody>
          <a:bodyPr wrap="square">
            <a:spAutoFit/>
          </a:bodyPr>
          <a:lstStyle/>
          <a:p>
            <a:pPr marL="177800" indent="-177800">
              <a:lnSpc>
                <a:spcPts val="1800"/>
              </a:lnSpc>
              <a:spcAft>
                <a:spcPts val="300"/>
              </a:spcAft>
              <a:buSzPct val="50000"/>
              <a:buFont typeface="Wingdings" panose="05000000000000000000" pitchFamily="2" charset="2"/>
              <a:buChar char="l"/>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广泛应用于各种园区网络，实现有线或无线终端的</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地址自动配置。</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nSpc>
                <a:spcPts val="1800"/>
              </a:lnSpc>
              <a:spcAft>
                <a:spcPts val="300"/>
              </a:spcAft>
              <a:buSzPct val="50000"/>
              <a:buFont typeface="Wingdings" panose="05000000000000000000" pitchFamily="2" charset="2"/>
              <a:buChar char="l"/>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中继负责转发</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Server</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DHCP Client</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之间的</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报文，协助</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Server</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向</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DHCP Client</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动态分配网络参数的设备。</a:t>
            </a:r>
          </a:p>
        </p:txBody>
      </p:sp>
      <p:sp>
        <p:nvSpPr>
          <p:cNvPr id="59" name="文本框 58"/>
          <p:cNvSpPr txBox="1"/>
          <p:nvPr/>
        </p:nvSpPr>
        <p:spPr bwMode="gray">
          <a:xfrm>
            <a:off x="9444704" y="2732979"/>
            <a:ext cx="1221809" cy="461665"/>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网关</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200" b="1"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rPr>
              <a:t>部署</a:t>
            </a:r>
            <a:r>
              <a:rPr lang="en-US" altLang="zh-CN" sz="1200" b="1"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200" b="1"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rPr>
              <a:t>中继</a:t>
            </a:r>
            <a:endParaRPr lang="en-US" altLang="zh-CN" sz="1200" b="1"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五边形 59"/>
          <p:cNvSpPr/>
          <p:nvPr/>
        </p:nvSpPr>
        <p:spPr bwMode="auto">
          <a:xfrm>
            <a:off x="6179960" y="98481"/>
            <a:ext cx="94884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以太网交换</a:t>
            </a:r>
          </a:p>
        </p:txBody>
      </p:sp>
      <p:sp>
        <p:nvSpPr>
          <p:cNvPr id="61" name="燕尾形 60"/>
          <p:cNvSpPr/>
          <p:nvPr/>
        </p:nvSpPr>
        <p:spPr bwMode="auto">
          <a:xfrm>
            <a:off x="7049907" y="98481"/>
            <a:ext cx="678521"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燕尾形 61"/>
          <p:cNvSpPr/>
          <p:nvPr/>
        </p:nvSpPr>
        <p:spPr bwMode="auto">
          <a:xfrm>
            <a:off x="7649535" y="98481"/>
            <a:ext cx="87595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无线接入</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燕尾形 62"/>
          <p:cNvSpPr/>
          <p:nvPr/>
        </p:nvSpPr>
        <p:spPr bwMode="auto">
          <a:xfrm>
            <a:off x="8446601"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可靠性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燕尾形 63"/>
          <p:cNvSpPr/>
          <p:nvPr/>
        </p:nvSpPr>
        <p:spPr bwMode="auto">
          <a:xfrm>
            <a:off x="9148908" y="98481"/>
            <a:ext cx="87048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网络安全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燕尾形 64"/>
          <p:cNvSpPr/>
          <p:nvPr/>
        </p:nvSpPr>
        <p:spPr bwMode="auto">
          <a:xfrm>
            <a:off x="9940504" y="98481"/>
            <a:ext cx="1304004"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网络服务与管理</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燕尾形 65"/>
          <p:cNvSpPr/>
          <p:nvPr/>
        </p:nvSpPr>
        <p:spPr bwMode="auto">
          <a:xfrm>
            <a:off x="11165613" y="98481"/>
            <a:ext cx="583475"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出口</a:t>
            </a:r>
          </a:p>
        </p:txBody>
      </p:sp>
    </p:spTree>
    <p:extLst>
      <p:ext uri="{BB962C8B-B14F-4D97-AF65-F5344CB8AC3E}">
        <p14:creationId xmlns:p14="http://schemas.microsoft.com/office/powerpoint/2010/main" val="147705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Huawei Sans" panose="020C0503030203020204" pitchFamily="34" charset="0"/>
              </a:rPr>
              <a:t>DHCP</a:t>
            </a:r>
            <a:r>
              <a:rPr lang="zh-CN" altLang="en-US" dirty="0">
                <a:sym typeface="Huawei Sans" panose="020C0503030203020204" pitchFamily="34" charset="0"/>
              </a:rPr>
              <a:t> </a:t>
            </a:r>
            <a:r>
              <a:rPr lang="en-US" altLang="zh-CN" dirty="0">
                <a:sym typeface="Huawei Sans" panose="020C0503030203020204" pitchFamily="34" charset="0"/>
              </a:rPr>
              <a:t>Options</a:t>
            </a:r>
            <a:endParaRPr lang="zh-CN" altLang="en-US" dirty="0">
              <a:sym typeface="Huawei Sans" panose="020C0503030203020204" pitchFamily="34" charset="0"/>
            </a:endParaRPr>
          </a:p>
        </p:txBody>
      </p:sp>
      <p:pic>
        <p:nvPicPr>
          <p:cNvPr id="3" name="图片 72" descr="交换机.png"/>
          <p:cNvPicPr>
            <a:picLocks noChangeAspect="1"/>
          </p:cNvPicPr>
          <p:nvPr/>
        </p:nvPicPr>
        <p:blipFill>
          <a:blip r:embed="rId3" cstate="print"/>
          <a:stretch>
            <a:fillRect/>
          </a:stretch>
        </p:blipFill>
        <p:spPr bwMode="gray">
          <a:xfrm>
            <a:off x="1408697" y="1618573"/>
            <a:ext cx="444805" cy="365137"/>
          </a:xfrm>
          <a:prstGeom prst="rect">
            <a:avLst/>
          </a:prstGeom>
        </p:spPr>
      </p:pic>
      <p:sp>
        <p:nvSpPr>
          <p:cNvPr id="4" name="文本框 3"/>
          <p:cNvSpPr txBox="1"/>
          <p:nvPr/>
        </p:nvSpPr>
        <p:spPr bwMode="gray">
          <a:xfrm>
            <a:off x="1037026" y="5599553"/>
            <a:ext cx="1188147"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DHCP Client</a:t>
            </a:r>
          </a:p>
        </p:txBody>
      </p:sp>
      <p:pic>
        <p:nvPicPr>
          <p:cNvPr id="5" name="图片 72" descr="交换机.png"/>
          <p:cNvPicPr>
            <a:picLocks noChangeAspect="1"/>
          </p:cNvPicPr>
          <p:nvPr/>
        </p:nvPicPr>
        <p:blipFill>
          <a:blip r:embed="rId3" cstate="print"/>
          <a:stretch>
            <a:fillRect/>
          </a:stretch>
        </p:blipFill>
        <p:spPr bwMode="gray">
          <a:xfrm>
            <a:off x="1408697" y="5224472"/>
            <a:ext cx="444805" cy="365137"/>
          </a:xfrm>
          <a:prstGeom prst="rect">
            <a:avLst/>
          </a:prstGeom>
        </p:spPr>
      </p:pic>
      <p:sp>
        <p:nvSpPr>
          <p:cNvPr id="6" name="文本框 5"/>
          <p:cNvSpPr txBox="1"/>
          <p:nvPr/>
        </p:nvSpPr>
        <p:spPr bwMode="gray">
          <a:xfrm>
            <a:off x="1017790" y="2009089"/>
            <a:ext cx="1226619"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DHCP Server</a:t>
            </a:r>
          </a:p>
        </p:txBody>
      </p:sp>
      <p:cxnSp>
        <p:nvCxnSpPr>
          <p:cNvPr id="7" name="直接箭头连接符 6"/>
          <p:cNvCxnSpPr/>
          <p:nvPr/>
        </p:nvCxnSpPr>
        <p:spPr bwMode="gray">
          <a:xfrm>
            <a:off x="1631099" y="2246050"/>
            <a:ext cx="0" cy="2902999"/>
          </a:xfrm>
          <a:prstGeom prst="straightConnector1">
            <a:avLst/>
          </a:prstGeom>
          <a:noFill/>
          <a:ln w="31750" algn="ctr">
            <a:solidFill>
              <a:srgbClr val="30B5C5"/>
            </a:solidFill>
            <a:prstDash val="solid"/>
            <a:round/>
            <a:headEnd type="none" w="med" len="med"/>
            <a:tailEnd type="triangle" w="med" len="med"/>
          </a:ln>
        </p:spPr>
      </p:cxnSp>
      <p:sp>
        <p:nvSpPr>
          <p:cNvPr id="8" name="圆角矩形 7"/>
          <p:cNvSpPr/>
          <p:nvPr/>
        </p:nvSpPr>
        <p:spPr bwMode="gray">
          <a:xfrm>
            <a:off x="1853502" y="2791312"/>
            <a:ext cx="3130622" cy="1791705"/>
          </a:xfrm>
          <a:prstGeom prst="roundRect">
            <a:avLst>
              <a:gd name="adj" fmla="val 2303"/>
            </a:avLst>
          </a:prstGeom>
          <a:solidFill>
            <a:srgbClr val="BEE9EE"/>
          </a:solidFill>
          <a:ln w="12700" cap="flat" cmpd="sng" algn="ctr">
            <a:solidFill>
              <a:schemeClr val="bg1"/>
            </a:solidFill>
            <a:prstDash val="solid"/>
            <a:miter lim="800000"/>
          </a:ln>
          <a:effectLst/>
        </p:spPr>
        <p:txBody>
          <a:bodyPr rtlCol="0" anchor="t" anchorCtr="0"/>
          <a:lstStyle/>
          <a:p>
            <a:pPr marL="0" marR="0" lvl="0" indent="0" algn="ctr" defTabSz="914478" eaLnBrk="1" fontAlgn="auto" latinLnBrk="0" hangingPunct="1">
              <a:spcBef>
                <a:spcPts val="0"/>
              </a:spcBef>
              <a:spcAft>
                <a:spcPts val="0"/>
              </a:spcAft>
              <a:buClrTx/>
              <a:buSzTx/>
              <a:buFontTx/>
              <a:buNone/>
              <a:tabLst/>
              <a:defRPr/>
            </a:pPr>
            <a:r>
              <a:rPr kumimoji="0" lang="en-US" altLang="zh-CN" sz="1400" b="1"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sym typeface="Huawei Sans" panose="020C0503030203020204" pitchFamily="34" charset="0"/>
              </a:rPr>
              <a:t>DHCP Offer</a:t>
            </a:r>
            <a:endParaRPr kumimoji="0" lang="zh-CN" altLang="en-US" sz="1400" b="1"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圆角矩形 8"/>
          <p:cNvSpPr/>
          <p:nvPr/>
        </p:nvSpPr>
        <p:spPr bwMode="gray">
          <a:xfrm>
            <a:off x="1990236" y="3156460"/>
            <a:ext cx="2833777" cy="774642"/>
          </a:xfrm>
          <a:prstGeom prst="roundRect">
            <a:avLst>
              <a:gd name="adj" fmla="val 2303"/>
            </a:avLst>
          </a:prstGeom>
          <a:solidFill>
            <a:schemeClr val="bg1">
              <a:lumMod val="95000"/>
            </a:schemeClr>
          </a:solidFill>
          <a:ln w="12700" cap="flat" cmpd="sng" algn="ctr">
            <a:solidFill>
              <a:schemeClr val="bg1"/>
            </a:solidFill>
            <a:prstDash val="solid"/>
            <a:miter lim="800000"/>
          </a:ln>
          <a:effectLst/>
        </p:spPr>
        <p:txBody>
          <a:bodyPr rtlCol="0" anchor="ctr"/>
          <a:lstStyle/>
          <a:p>
            <a:pPr marL="0" marR="0" lvl="0" indent="0" algn="ctr" defTabSz="914478" eaLnBrk="1" fontAlgn="auto" latinLnBrk="0" hangingPunct="1">
              <a:lnSpc>
                <a:spcPct val="130000"/>
              </a:lnSpc>
              <a:spcBef>
                <a:spcPts val="0"/>
              </a:spcBef>
              <a:spcAft>
                <a:spcPts val="0"/>
              </a:spcAft>
              <a:buClrTx/>
              <a:buSzTx/>
              <a:buFontTx/>
              <a:buNone/>
              <a:tabLst/>
              <a:defRPr/>
            </a:pPr>
            <a:r>
              <a:rPr kumimoji="0" lang="zh-CN" altLang="en-US" sz="1400" b="0" u="none" strike="noStrike" kern="0" cap="none" spc="0" normalizeH="0" baseline="0" noProof="0" dirty="0">
                <a:ln>
                  <a:noFill/>
                </a:ln>
                <a:solidFill>
                  <a:schemeClr val="bg1">
                    <a:lumMod val="50000"/>
                  </a:scheme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分配给</a:t>
            </a:r>
            <a:r>
              <a:rPr kumimoji="0" lang="en-US" altLang="zh-CN" sz="1400" b="0" u="none" strike="noStrike" kern="0" cap="none" spc="0" normalizeH="0" baseline="0" noProof="0" dirty="0">
                <a:ln>
                  <a:noFill/>
                </a:ln>
                <a:solidFill>
                  <a:schemeClr val="bg1">
                    <a:lumMod val="50000"/>
                  </a:scheme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Client</a:t>
            </a:r>
            <a:r>
              <a:rPr kumimoji="0" lang="zh-CN" altLang="en-US" sz="1400" b="0" u="none" strike="noStrike" kern="0" cap="none" spc="0" normalizeH="0" baseline="0" noProof="0" dirty="0">
                <a:ln>
                  <a:noFill/>
                </a:ln>
                <a:solidFill>
                  <a:schemeClr val="bg1">
                    <a:lumMod val="50000"/>
                  </a:scheme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的</a:t>
            </a:r>
            <a:r>
              <a:rPr kumimoji="0" lang="en-US" altLang="zh-CN" sz="1400" b="0" u="none" strike="noStrike" kern="0" cap="none" spc="0" normalizeH="0" baseline="0" noProof="0" dirty="0">
                <a:ln>
                  <a:noFill/>
                </a:ln>
                <a:solidFill>
                  <a:schemeClr val="bg1">
                    <a:lumMod val="50000"/>
                  </a:scheme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IP</a:t>
            </a:r>
            <a:r>
              <a:rPr kumimoji="0" lang="zh-CN" altLang="en-US" sz="1400" b="0" u="none" strike="noStrike" kern="0" cap="none" spc="0" normalizeH="0" baseline="0" noProof="0" dirty="0">
                <a:ln>
                  <a:noFill/>
                </a:ln>
                <a:solidFill>
                  <a:schemeClr val="bg1">
                    <a:lumMod val="50000"/>
                  </a:scheme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地址</a:t>
            </a:r>
            <a:endParaRPr kumimoji="0" lang="en-US" altLang="zh-CN" sz="1400" b="0" u="none" strike="noStrike" kern="0" cap="none" spc="0" normalizeH="0" baseline="0" noProof="0" dirty="0">
              <a:ln>
                <a:noFill/>
              </a:ln>
              <a:solidFill>
                <a:schemeClr val="bg1">
                  <a:lumMod val="50000"/>
                </a:scheme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0" marR="0" lvl="0" indent="0" algn="ctr" defTabSz="914478" eaLnBrk="1" fontAlgn="auto" latinLnBrk="0" hangingPunct="1">
              <a:lnSpc>
                <a:spcPct val="130000"/>
              </a:lnSpc>
              <a:spcBef>
                <a:spcPts val="0"/>
              </a:spcBef>
              <a:spcAft>
                <a:spcPts val="0"/>
              </a:spcAft>
              <a:buClrTx/>
              <a:buSzTx/>
              <a:buFontTx/>
              <a:buNone/>
              <a:tabLst/>
              <a:defRPr/>
            </a:pPr>
            <a:r>
              <a:rPr lang="en-US" altLang="zh-CN" sz="1400" kern="0" noProof="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t>
            </a:r>
            <a:endParaRPr kumimoji="0" lang="zh-CN" altLang="en-US" sz="1400" b="0" u="none" strike="noStrike" kern="0" cap="none" spc="0" normalizeH="0" baseline="0" noProof="0" dirty="0">
              <a:ln>
                <a:noFill/>
              </a:ln>
              <a:solidFill>
                <a:schemeClr val="bg1">
                  <a:lumMod val="50000"/>
                </a:scheme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圆角矩形 9"/>
          <p:cNvSpPr/>
          <p:nvPr/>
        </p:nvSpPr>
        <p:spPr bwMode="gray">
          <a:xfrm>
            <a:off x="1990235" y="4054649"/>
            <a:ext cx="2833777" cy="332130"/>
          </a:xfrm>
          <a:prstGeom prst="roundRect">
            <a:avLst>
              <a:gd name="adj" fmla="val 2303"/>
            </a:avLst>
          </a:prstGeom>
          <a:solidFill>
            <a:schemeClr val="accent2">
              <a:lumMod val="20000"/>
              <a:lumOff val="80000"/>
            </a:schemeClr>
          </a:solidFill>
          <a:ln w="12700" cap="flat" cmpd="sng" algn="ctr">
            <a:solidFill>
              <a:schemeClr val="bg1"/>
            </a:solidFill>
            <a:prstDash val="solid"/>
            <a:miter lim="800000"/>
          </a:ln>
          <a:effectLst/>
        </p:spPr>
        <p:txBody>
          <a:bodyPr rtlCol="0" anchor="ctr"/>
          <a:lstStyle/>
          <a:p>
            <a:pPr marL="0" marR="0" lvl="0" indent="0" algn="ctr" defTabSz="914478" eaLnBrk="1" fontAlgn="auto" latinLnBrk="0" hangingPunct="1">
              <a:spcBef>
                <a:spcPts val="0"/>
              </a:spcBef>
              <a:spcAft>
                <a:spcPts val="0"/>
              </a:spcAft>
              <a:buClrTx/>
              <a:buSzTx/>
              <a:buFontTx/>
              <a:buNone/>
              <a:tabLst/>
              <a:defRPr/>
            </a:pPr>
            <a:r>
              <a:rPr lang="en-US" altLang="zh-CN" sz="1400" b="1" kern="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Options</a:t>
            </a:r>
            <a:endParaRPr kumimoji="0" lang="en-US" altLang="zh-CN" sz="1400" b="1" u="none" strike="noStrike" kern="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圆角矩形 10"/>
          <p:cNvSpPr/>
          <p:nvPr/>
        </p:nvSpPr>
        <p:spPr bwMode="gray">
          <a:xfrm>
            <a:off x="5464783" y="1797336"/>
            <a:ext cx="5735814" cy="1607064"/>
          </a:xfrm>
          <a:prstGeom prst="roundRect">
            <a:avLst>
              <a:gd name="adj" fmla="val 898"/>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fontAlgn="auto">
              <a:lnSpc>
                <a:spcPts val="2400"/>
              </a:lnSpc>
              <a:spcBef>
                <a:spcPts val="0"/>
              </a:spcBef>
              <a:spcAft>
                <a:spcPts val="600"/>
              </a:spcAft>
              <a:buSzPct val="50000"/>
              <a:buFont typeface="Wingdings" panose="05000000000000000000" pitchFamily="2" charset="2"/>
              <a:buChar char="l"/>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Options</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字段用来存放分配给</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客户端的控制信息和参数。</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fontAlgn="auto">
              <a:lnSpc>
                <a:spcPts val="2400"/>
              </a:lnSpc>
              <a:spcBef>
                <a:spcPts val="0"/>
              </a:spcBef>
              <a:spcAft>
                <a:spcPts val="600"/>
              </a:spcAft>
              <a:buSzPct val="50000"/>
              <a:buFont typeface="Wingdings" panose="05000000000000000000" pitchFamily="2" charset="2"/>
              <a:buChar char="l"/>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一个</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报文可携带多个</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Option</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fontAlgn="auto">
              <a:lnSpc>
                <a:spcPts val="2400"/>
              </a:lnSpc>
              <a:spcBef>
                <a:spcPts val="0"/>
              </a:spcBef>
              <a:spcAft>
                <a:spcPts val="600"/>
              </a:spcAft>
              <a:buSzPct val="50000"/>
              <a:buFont typeface="Wingdings" panose="05000000000000000000" pitchFamily="2" charset="2"/>
              <a:buChar char="l"/>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预定义了大量</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Option</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用于实现各种用途，例如用于设置网关地址、设置</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DNS</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服务器地址等。</a:t>
            </a:r>
          </a:p>
        </p:txBody>
      </p:sp>
      <p:sp>
        <p:nvSpPr>
          <p:cNvPr id="12" name="文本框 11"/>
          <p:cNvSpPr txBox="1"/>
          <p:nvPr/>
        </p:nvSpPr>
        <p:spPr bwMode="gray">
          <a:xfrm>
            <a:off x="5464784" y="1374723"/>
            <a:ext cx="5735813" cy="373577"/>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600">
                <a:solidFill>
                  <a:srgbClr val="30B5C5"/>
                </a:solidFill>
                <a:latin typeface="Huawei Sans" panose="020C0503030203020204" pitchFamily="34" charset="0"/>
                <a:ea typeface="方正兰亭黑简体" panose="02000000000000000000" pitchFamily="2" charset="-122"/>
              </a:defRPr>
            </a:lvl1pPr>
          </a:lstStyle>
          <a:p>
            <a:r>
              <a:rPr lang="en-US" altLang="zh-CN">
                <a:sym typeface="Huawei Sans" panose="020C0503030203020204" pitchFamily="34" charset="0"/>
              </a:rPr>
              <a:t>DHCP</a:t>
            </a:r>
            <a:r>
              <a:rPr lang="zh-CN" altLang="en-US">
                <a:sym typeface="Huawei Sans" panose="020C0503030203020204" pitchFamily="34" charset="0"/>
              </a:rPr>
              <a:t>报文中的</a:t>
            </a:r>
            <a:r>
              <a:rPr lang="en-US" altLang="zh-CN">
                <a:sym typeface="Huawei Sans" panose="020C0503030203020204" pitchFamily="34" charset="0"/>
              </a:rPr>
              <a:t>Options</a:t>
            </a:r>
            <a:r>
              <a:rPr lang="zh-CN" altLang="en-US">
                <a:sym typeface="Huawei Sans" panose="020C0503030203020204" pitchFamily="34" charset="0"/>
              </a:rPr>
              <a:t>字段</a:t>
            </a:r>
            <a:endParaRPr lang="zh-CN" altLang="en-US" dirty="0">
              <a:sym typeface="Huawei Sans" panose="020C0503030203020204" pitchFamily="34" charset="0"/>
            </a:endParaRPr>
          </a:p>
        </p:txBody>
      </p:sp>
      <p:sp>
        <p:nvSpPr>
          <p:cNvPr id="13" name="圆角矩形 12"/>
          <p:cNvSpPr/>
          <p:nvPr/>
        </p:nvSpPr>
        <p:spPr bwMode="gray">
          <a:xfrm>
            <a:off x="5464783" y="3988848"/>
            <a:ext cx="5735814" cy="2038732"/>
          </a:xfrm>
          <a:prstGeom prst="roundRect">
            <a:avLst>
              <a:gd name="adj" fmla="val 898"/>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fontAlgn="auto">
              <a:lnSpc>
                <a:spcPts val="2400"/>
              </a:lnSpc>
              <a:spcBef>
                <a:spcPts val="0"/>
              </a:spcBef>
              <a:spcAft>
                <a:spcPts val="600"/>
              </a:spcAft>
              <a:buSzPct val="50000"/>
              <a:buFont typeface="Wingdings" panose="05000000000000000000" pitchFamily="2" charset="2"/>
              <a:buChar char="l"/>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使用</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Options</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设置</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NTP</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服务器地址。</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fontAlgn="auto">
              <a:lnSpc>
                <a:spcPts val="2400"/>
              </a:lnSpc>
              <a:spcBef>
                <a:spcPts val="0"/>
              </a:spcBef>
              <a:spcAft>
                <a:spcPts val="600"/>
              </a:spcAft>
              <a:buSzPct val="50000"/>
              <a:buFont typeface="Wingdings" panose="05000000000000000000" pitchFamily="2" charset="2"/>
              <a:buChar char="l"/>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厂商自定义。例如华为云园区网络解决方案使用</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Option148</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来实现网络设备即插即用，此时该信息用于告知客户端设备控制器的信息，以便设备获知控制器的地址及端口号。</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fontAlgn="auto">
              <a:lnSpc>
                <a:spcPts val="2400"/>
              </a:lnSpc>
              <a:spcBef>
                <a:spcPts val="0"/>
              </a:spcBef>
              <a:spcAft>
                <a:spcPts val="600"/>
              </a:spcAft>
              <a:buSzPct val="50000"/>
              <a:buFont typeface="Wingdings" panose="05000000000000000000" pitchFamily="2" charset="2"/>
              <a:buChar char="l"/>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通过</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Option43</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实现</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WLAN</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场景下</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的跨网段注册。</a:t>
            </a:r>
          </a:p>
        </p:txBody>
      </p:sp>
      <p:sp>
        <p:nvSpPr>
          <p:cNvPr id="14" name="文本框 13"/>
          <p:cNvSpPr txBox="1"/>
          <p:nvPr/>
        </p:nvSpPr>
        <p:spPr bwMode="gray">
          <a:xfrm>
            <a:off x="5464784" y="3566235"/>
            <a:ext cx="5735813" cy="373577"/>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600">
                <a:solidFill>
                  <a:srgbClr val="30B5C5"/>
                </a:solidFill>
                <a:latin typeface="Huawei Sans" panose="020C0503030203020204" pitchFamily="34" charset="0"/>
                <a:ea typeface="方正兰亭黑简体" panose="02000000000000000000" pitchFamily="2" charset="-122"/>
              </a:defRPr>
            </a:lvl1pPr>
          </a:lstStyle>
          <a:p>
            <a:r>
              <a:rPr lang="zh-CN" altLang="en-US">
                <a:sym typeface="Huawei Sans" panose="020C0503030203020204" pitchFamily="34" charset="0"/>
              </a:rPr>
              <a:t>典型应用场景</a:t>
            </a:r>
            <a:endParaRPr lang="zh-CN" altLang="en-US" dirty="0">
              <a:sym typeface="Huawei Sans" panose="020C0503030203020204" pitchFamily="34" charset="0"/>
            </a:endParaRPr>
          </a:p>
        </p:txBody>
      </p:sp>
      <p:sp>
        <p:nvSpPr>
          <p:cNvPr id="15" name="五边形 14"/>
          <p:cNvSpPr/>
          <p:nvPr/>
        </p:nvSpPr>
        <p:spPr bwMode="auto">
          <a:xfrm>
            <a:off x="6179960" y="98481"/>
            <a:ext cx="94884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以太网交换</a:t>
            </a:r>
          </a:p>
        </p:txBody>
      </p:sp>
      <p:sp>
        <p:nvSpPr>
          <p:cNvPr id="16" name="燕尾形 15"/>
          <p:cNvSpPr/>
          <p:nvPr/>
        </p:nvSpPr>
        <p:spPr bwMode="auto">
          <a:xfrm>
            <a:off x="7049907" y="98481"/>
            <a:ext cx="678521"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燕尾形 16"/>
          <p:cNvSpPr/>
          <p:nvPr/>
        </p:nvSpPr>
        <p:spPr bwMode="auto">
          <a:xfrm>
            <a:off x="7649535" y="98481"/>
            <a:ext cx="87595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无线接入</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燕尾形 17"/>
          <p:cNvSpPr/>
          <p:nvPr/>
        </p:nvSpPr>
        <p:spPr bwMode="auto">
          <a:xfrm>
            <a:off x="8446601"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可靠性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燕尾形 18"/>
          <p:cNvSpPr/>
          <p:nvPr/>
        </p:nvSpPr>
        <p:spPr bwMode="auto">
          <a:xfrm>
            <a:off x="9148908" y="98481"/>
            <a:ext cx="87048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网络安全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燕尾形 19"/>
          <p:cNvSpPr/>
          <p:nvPr/>
        </p:nvSpPr>
        <p:spPr bwMode="auto">
          <a:xfrm>
            <a:off x="9940504" y="98481"/>
            <a:ext cx="1304004"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网络服务与管理</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燕尾形 20"/>
          <p:cNvSpPr/>
          <p:nvPr/>
        </p:nvSpPr>
        <p:spPr bwMode="auto">
          <a:xfrm>
            <a:off x="11165613" y="98481"/>
            <a:ext cx="583475"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出口</a:t>
            </a:r>
          </a:p>
        </p:txBody>
      </p:sp>
    </p:spTree>
    <p:extLst>
      <p:ext uri="{BB962C8B-B14F-4D97-AF65-F5344CB8AC3E}">
        <p14:creationId xmlns:p14="http://schemas.microsoft.com/office/powerpoint/2010/main" val="35881754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 name="组合 68"/>
          <p:cNvGrpSpPr/>
          <p:nvPr/>
        </p:nvGrpSpPr>
        <p:grpSpPr>
          <a:xfrm>
            <a:off x="3541902" y="3885179"/>
            <a:ext cx="1597083" cy="899990"/>
            <a:chOff x="1162603" y="3894267"/>
            <a:chExt cx="1597083" cy="899990"/>
          </a:xfrm>
        </p:grpSpPr>
        <p:grpSp>
          <p:nvGrpSpPr>
            <p:cNvPr id="70" name="组合 69"/>
            <p:cNvGrpSpPr/>
            <p:nvPr/>
          </p:nvGrpSpPr>
          <p:grpSpPr>
            <a:xfrm flipV="1">
              <a:off x="1162603" y="4344262"/>
              <a:ext cx="776620" cy="449995"/>
              <a:chOff x="1604900" y="3894267"/>
              <a:chExt cx="776620" cy="449995"/>
            </a:xfrm>
          </p:grpSpPr>
          <p:cxnSp>
            <p:nvCxnSpPr>
              <p:cNvPr id="77" name="Straight Connector 167"/>
              <p:cNvCxnSpPr/>
              <p:nvPr/>
            </p:nvCxnSpPr>
            <p:spPr bwMode="gray">
              <a:xfrm>
                <a:off x="1993210" y="3894267"/>
                <a:ext cx="0" cy="449995"/>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8" name="Straight Connector 167"/>
              <p:cNvCxnSpPr/>
              <p:nvPr/>
            </p:nvCxnSpPr>
            <p:spPr bwMode="gray">
              <a:xfrm flipH="1">
                <a:off x="1604900" y="4344262"/>
                <a:ext cx="776620" cy="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71" name="组合 70"/>
            <p:cNvGrpSpPr/>
            <p:nvPr/>
          </p:nvGrpSpPr>
          <p:grpSpPr>
            <a:xfrm flipV="1">
              <a:off x="1983066" y="4344262"/>
              <a:ext cx="776620" cy="449995"/>
              <a:chOff x="1604900" y="3894267"/>
              <a:chExt cx="776620" cy="449995"/>
            </a:xfrm>
          </p:grpSpPr>
          <p:cxnSp>
            <p:nvCxnSpPr>
              <p:cNvPr id="75" name="Straight Connector 167"/>
              <p:cNvCxnSpPr/>
              <p:nvPr/>
            </p:nvCxnSpPr>
            <p:spPr bwMode="gray">
              <a:xfrm>
                <a:off x="1993210" y="3894267"/>
                <a:ext cx="0" cy="449995"/>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6" name="Straight Connector 167"/>
              <p:cNvCxnSpPr/>
              <p:nvPr/>
            </p:nvCxnSpPr>
            <p:spPr bwMode="gray">
              <a:xfrm flipH="1">
                <a:off x="1604900" y="4344262"/>
                <a:ext cx="776620" cy="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72" name="组合 71"/>
            <p:cNvGrpSpPr/>
            <p:nvPr/>
          </p:nvGrpSpPr>
          <p:grpSpPr>
            <a:xfrm>
              <a:off x="1604900" y="3894267"/>
              <a:ext cx="776620" cy="449995"/>
              <a:chOff x="1604900" y="3894267"/>
              <a:chExt cx="776620" cy="449995"/>
            </a:xfrm>
          </p:grpSpPr>
          <p:cxnSp>
            <p:nvCxnSpPr>
              <p:cNvPr id="73" name="Straight Connector 167"/>
              <p:cNvCxnSpPr/>
              <p:nvPr/>
            </p:nvCxnSpPr>
            <p:spPr bwMode="gray">
              <a:xfrm>
                <a:off x="1993210" y="3894267"/>
                <a:ext cx="0" cy="449995"/>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4" name="Straight Connector 167"/>
              <p:cNvCxnSpPr/>
              <p:nvPr/>
            </p:nvCxnSpPr>
            <p:spPr bwMode="gray">
              <a:xfrm flipH="1">
                <a:off x="1604900" y="4344262"/>
                <a:ext cx="776620" cy="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grpSp>
        <p:nvGrpSpPr>
          <p:cNvPr id="68" name="组合 67"/>
          <p:cNvGrpSpPr/>
          <p:nvPr/>
        </p:nvGrpSpPr>
        <p:grpSpPr>
          <a:xfrm>
            <a:off x="1162603" y="3894267"/>
            <a:ext cx="1597083" cy="899990"/>
            <a:chOff x="1162603" y="3894267"/>
            <a:chExt cx="1597083" cy="899990"/>
          </a:xfrm>
        </p:grpSpPr>
        <p:grpSp>
          <p:nvGrpSpPr>
            <p:cNvPr id="62" name="组合 61"/>
            <p:cNvGrpSpPr/>
            <p:nvPr/>
          </p:nvGrpSpPr>
          <p:grpSpPr>
            <a:xfrm flipV="1">
              <a:off x="1162603" y="4344262"/>
              <a:ext cx="776620" cy="449995"/>
              <a:chOff x="1604900" y="3894267"/>
              <a:chExt cx="776620" cy="449995"/>
            </a:xfrm>
          </p:grpSpPr>
          <p:cxnSp>
            <p:nvCxnSpPr>
              <p:cNvPr id="63" name="Straight Connector 167"/>
              <p:cNvCxnSpPr/>
              <p:nvPr/>
            </p:nvCxnSpPr>
            <p:spPr bwMode="gray">
              <a:xfrm>
                <a:off x="1993210" y="3894267"/>
                <a:ext cx="0" cy="449995"/>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4" name="Straight Connector 167"/>
              <p:cNvCxnSpPr/>
              <p:nvPr/>
            </p:nvCxnSpPr>
            <p:spPr bwMode="gray">
              <a:xfrm flipH="1">
                <a:off x="1604900" y="4344262"/>
                <a:ext cx="776620" cy="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65" name="组合 64"/>
            <p:cNvGrpSpPr/>
            <p:nvPr/>
          </p:nvGrpSpPr>
          <p:grpSpPr>
            <a:xfrm flipV="1">
              <a:off x="1983066" y="4344262"/>
              <a:ext cx="776620" cy="449995"/>
              <a:chOff x="1604900" y="3894267"/>
              <a:chExt cx="776620" cy="449995"/>
            </a:xfrm>
          </p:grpSpPr>
          <p:cxnSp>
            <p:nvCxnSpPr>
              <p:cNvPr id="66" name="Straight Connector 167"/>
              <p:cNvCxnSpPr/>
              <p:nvPr/>
            </p:nvCxnSpPr>
            <p:spPr bwMode="gray">
              <a:xfrm>
                <a:off x="1993210" y="3894267"/>
                <a:ext cx="0" cy="449995"/>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7" name="Straight Connector 167"/>
              <p:cNvCxnSpPr/>
              <p:nvPr/>
            </p:nvCxnSpPr>
            <p:spPr bwMode="gray">
              <a:xfrm flipH="1">
                <a:off x="1604900" y="4344262"/>
                <a:ext cx="776620" cy="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nvGrpSpPr>
            <p:cNvPr id="58" name="组合 57"/>
            <p:cNvGrpSpPr/>
            <p:nvPr/>
          </p:nvGrpSpPr>
          <p:grpSpPr>
            <a:xfrm>
              <a:off x="1604900" y="3894267"/>
              <a:ext cx="776620" cy="449995"/>
              <a:chOff x="1604900" y="3894267"/>
              <a:chExt cx="776620" cy="449995"/>
            </a:xfrm>
          </p:grpSpPr>
          <p:cxnSp>
            <p:nvCxnSpPr>
              <p:cNvPr id="48" name="Straight Connector 167"/>
              <p:cNvCxnSpPr/>
              <p:nvPr/>
            </p:nvCxnSpPr>
            <p:spPr bwMode="gray">
              <a:xfrm>
                <a:off x="1993210" y="3894267"/>
                <a:ext cx="0" cy="449995"/>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0" name="Straight Connector 167"/>
              <p:cNvCxnSpPr/>
              <p:nvPr/>
            </p:nvCxnSpPr>
            <p:spPr bwMode="gray">
              <a:xfrm flipH="1">
                <a:off x="1604900" y="4344262"/>
                <a:ext cx="776620" cy="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title"/>
          </p:nvPr>
        </p:nvSpPr>
        <p:spPr/>
        <p:txBody>
          <a:bodyPr/>
          <a:lstStyle/>
          <a:p>
            <a:r>
              <a:rPr lang="en-US" altLang="zh-CN" dirty="0">
                <a:sym typeface="Huawei Sans" panose="020C0503030203020204" pitchFamily="34" charset="0"/>
              </a:rPr>
              <a:t>NTP</a:t>
            </a:r>
            <a:endParaRPr lang="zh-CN" altLang="en-US" dirty="0">
              <a:sym typeface="Huawei Sans" panose="020C0503030203020204" pitchFamily="34" charset="0"/>
            </a:endParaRPr>
          </a:p>
        </p:txBody>
      </p:sp>
      <p:sp>
        <p:nvSpPr>
          <p:cNvPr id="3" name="矩形 2"/>
          <p:cNvSpPr/>
          <p:nvPr/>
        </p:nvSpPr>
        <p:spPr>
          <a:xfrm>
            <a:off x="6003407" y="1338111"/>
            <a:ext cx="5607568" cy="4674998"/>
          </a:xfrm>
          <a:prstGeom prst="rect">
            <a:avLst/>
          </a:prstGeom>
        </p:spPr>
        <p:txBody>
          <a:bodyPr wrap="square">
            <a:spAutoFit/>
          </a:bodyPr>
          <a:lstStyle/>
          <a:p>
            <a:pPr marL="302279" lvl="0" indent="-302279" algn="just" defTabSz="914034">
              <a:lnSpc>
                <a:spcPct val="140000"/>
              </a:lnSpc>
              <a:spcBef>
                <a:spcPts val="792"/>
              </a:spcBef>
              <a:buSzPct val="50000"/>
              <a:buFont typeface="Wingdings" panose="05000000000000000000" pitchFamily="2" charset="2"/>
              <a:buChar char="l"/>
            </a:pP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网络时间协议（</a:t>
            </a:r>
            <a:r>
              <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Network Time Protocol</a:t>
            </a: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r>
              <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NTP</a:t>
            </a: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）是</a:t>
            </a:r>
            <a:r>
              <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TCP/IP</a:t>
            </a: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协议族里面的一个应用层协议。</a:t>
            </a:r>
            <a:r>
              <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NTP</a:t>
            </a: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用于在一系列分布式时间服务器与客户端之间同步时钟。</a:t>
            </a:r>
            <a:r>
              <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NTP</a:t>
            </a: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的实现基于</a:t>
            </a:r>
            <a:r>
              <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a:t>
            </a: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和</a:t>
            </a:r>
            <a:r>
              <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UDP</a:t>
            </a: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r>
              <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NTP</a:t>
            </a: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报文通过</a:t>
            </a:r>
            <a:r>
              <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UDP</a:t>
            </a: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传输，端口号是</a:t>
            </a:r>
            <a:r>
              <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123</a:t>
            </a: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p>
          <a:p>
            <a:pPr marL="302279" lvl="0" indent="-302279" algn="just" defTabSz="914034">
              <a:lnSpc>
                <a:spcPct val="140000"/>
              </a:lnSpc>
              <a:spcBef>
                <a:spcPts val="792"/>
              </a:spcBef>
              <a:buSzPct val="50000"/>
              <a:buFont typeface="Wingdings" panose="05000000000000000000" pitchFamily="2" charset="2"/>
              <a:buChar char="l"/>
            </a:pP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在</a:t>
            </a:r>
            <a:r>
              <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NTP</a:t>
            </a:r>
            <a:r>
              <a:rPr lang="zh-CN" altLang="en-US"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的网络结构中，主要存在如下概念：</a:t>
            </a:r>
            <a:endParaRPr lang="en-US" altLang="zh-CN" sz="14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759519" lvl="1" indent="-302279" algn="just" defTabSz="914034">
              <a:lnSpc>
                <a:spcPct val="140000"/>
              </a:lnSpc>
              <a:spcBef>
                <a:spcPts val="792"/>
              </a:spcBef>
              <a:buSzPct val="50000"/>
              <a:buFont typeface="Wingdings" panose="05000000000000000000" pitchFamily="2" charset="2"/>
              <a:buChar char="p"/>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同步子网：由主时间服务器、二级时间服务器、</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PC</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客户端和它们之间互连的传输路径组成同步子网。</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759519" lvl="1" indent="-302279" algn="just" defTabSz="914034">
              <a:lnSpc>
                <a:spcPct val="140000"/>
              </a:lnSpc>
              <a:spcBef>
                <a:spcPts val="792"/>
              </a:spcBef>
              <a:buSzPct val="50000"/>
              <a:buFont typeface="Wingdings" panose="05000000000000000000" pitchFamily="2" charset="2"/>
              <a:buChar char="p"/>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主时间服务器：通过线缆或无线电直接同步到标准参考时钟，标准参考时钟通常是</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Radio Clock</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或卫星定位系统等。</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759519" lvl="1" indent="-302279" algn="just" defTabSz="914034">
              <a:lnSpc>
                <a:spcPct val="140000"/>
              </a:lnSpc>
              <a:spcBef>
                <a:spcPts val="792"/>
              </a:spcBef>
              <a:buSzPct val="50000"/>
              <a:buFont typeface="Wingdings" panose="05000000000000000000" pitchFamily="2" charset="2"/>
              <a:buChar char="p"/>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二级时间服务器：通过网络中的主时间服务器或者其他二级服务器取得同步。二级时间服务器通过</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NTP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将时间信息传送到局域网内部的其它主机。</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marL="759519" lvl="1" indent="-302279" algn="just" defTabSz="914034">
              <a:lnSpc>
                <a:spcPct val="140000"/>
              </a:lnSpc>
              <a:spcBef>
                <a:spcPts val="792"/>
              </a:spcBef>
              <a:buSzPct val="50000"/>
              <a:buFont typeface="Wingdings" panose="05000000000000000000" pitchFamily="2" charset="2"/>
              <a:buChar char="p"/>
            </a:pP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层数（</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stratum</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）：层数是对时钟同步情况的一个分级标准，代表了一个时钟的精确度，取值范围</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16</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，数值越小，精确度越高。</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表示时钟精确度最高，</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16</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表示未同步。</a:t>
            </a:r>
            <a:endParaRPr lang="en-US" altLang="zh-CN" sz="1200" dirty="0">
              <a:solidFill>
                <a:prstClr val="black"/>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pic>
        <p:nvPicPr>
          <p:cNvPr id="4" name="图片 86" descr="核心交换机.png"/>
          <p:cNvPicPr>
            <a:picLocks/>
          </p:cNvPicPr>
          <p:nvPr/>
        </p:nvPicPr>
        <p:blipFill>
          <a:blip r:embed="rId3" cstate="print"/>
          <a:stretch>
            <a:fillRect/>
          </a:stretch>
        </p:blipFill>
        <p:spPr>
          <a:xfrm>
            <a:off x="2979336" y="2052897"/>
            <a:ext cx="459637" cy="416337"/>
          </a:xfrm>
          <a:prstGeom prst="rect">
            <a:avLst/>
          </a:prstGeom>
        </p:spPr>
      </p:pic>
      <p:pic>
        <p:nvPicPr>
          <p:cNvPr id="5" name="图片 4" descr="汇聚交换机.png"/>
          <p:cNvPicPr>
            <a:picLocks/>
          </p:cNvPicPr>
          <p:nvPr/>
        </p:nvPicPr>
        <p:blipFill>
          <a:blip r:embed="rId4" cstate="print"/>
          <a:stretch>
            <a:fillRect/>
          </a:stretch>
        </p:blipFill>
        <p:spPr>
          <a:xfrm>
            <a:off x="1767920" y="2694988"/>
            <a:ext cx="459637" cy="416337"/>
          </a:xfrm>
          <a:prstGeom prst="rect">
            <a:avLst/>
          </a:prstGeom>
        </p:spPr>
      </p:pic>
      <p:pic>
        <p:nvPicPr>
          <p:cNvPr id="6" name="图片 76" descr="接入交换机.png"/>
          <p:cNvPicPr>
            <a:picLocks/>
          </p:cNvPicPr>
          <p:nvPr/>
        </p:nvPicPr>
        <p:blipFill>
          <a:blip r:embed="rId5" cstate="print"/>
          <a:stretch>
            <a:fillRect/>
          </a:stretch>
        </p:blipFill>
        <p:spPr>
          <a:xfrm>
            <a:off x="1767920" y="3470877"/>
            <a:ext cx="459637" cy="416337"/>
          </a:xfrm>
          <a:prstGeom prst="rect">
            <a:avLst/>
          </a:prstGeom>
        </p:spPr>
      </p:pic>
      <p:pic>
        <p:nvPicPr>
          <p:cNvPr id="7" name="图片 6" descr="汇聚交换机.png"/>
          <p:cNvPicPr>
            <a:picLocks/>
          </p:cNvPicPr>
          <p:nvPr/>
        </p:nvPicPr>
        <p:blipFill>
          <a:blip r:embed="rId4" cstate="print"/>
          <a:stretch>
            <a:fillRect/>
          </a:stretch>
        </p:blipFill>
        <p:spPr>
          <a:xfrm>
            <a:off x="4128044" y="2694988"/>
            <a:ext cx="459637" cy="416337"/>
          </a:xfrm>
          <a:prstGeom prst="rect">
            <a:avLst/>
          </a:prstGeom>
        </p:spPr>
      </p:pic>
      <p:pic>
        <p:nvPicPr>
          <p:cNvPr id="8" name="图片 76" descr="接入交换机.png"/>
          <p:cNvPicPr>
            <a:picLocks/>
          </p:cNvPicPr>
          <p:nvPr/>
        </p:nvPicPr>
        <p:blipFill>
          <a:blip r:embed="rId5" cstate="print"/>
          <a:stretch>
            <a:fillRect/>
          </a:stretch>
        </p:blipFill>
        <p:spPr>
          <a:xfrm>
            <a:off x="4128044" y="3470877"/>
            <a:ext cx="459637" cy="416337"/>
          </a:xfrm>
          <a:prstGeom prst="rect">
            <a:avLst/>
          </a:prstGeom>
        </p:spPr>
      </p:pic>
      <p:pic>
        <p:nvPicPr>
          <p:cNvPr id="11" name="图片 10" descr="PC.png"/>
          <p:cNvPicPr>
            <a:picLocks noChangeAspect="1"/>
          </p:cNvPicPr>
          <p:nvPr/>
        </p:nvPicPr>
        <p:blipFill>
          <a:blip r:embed="rId6" cstate="print"/>
          <a:stretch>
            <a:fillRect/>
          </a:stretch>
        </p:blipFill>
        <p:spPr>
          <a:xfrm>
            <a:off x="3734269" y="4669691"/>
            <a:ext cx="468379" cy="375354"/>
          </a:xfrm>
          <a:prstGeom prst="rect">
            <a:avLst/>
          </a:prstGeom>
        </p:spPr>
      </p:pic>
      <p:pic>
        <p:nvPicPr>
          <p:cNvPr id="12" name="图片 11" descr="PC.png"/>
          <p:cNvPicPr>
            <a:picLocks noChangeAspect="1"/>
          </p:cNvPicPr>
          <p:nvPr/>
        </p:nvPicPr>
        <p:blipFill>
          <a:blip r:embed="rId6" cstate="print"/>
          <a:stretch>
            <a:fillRect/>
          </a:stretch>
        </p:blipFill>
        <p:spPr>
          <a:xfrm>
            <a:off x="4561740" y="4669691"/>
            <a:ext cx="468379" cy="375354"/>
          </a:xfrm>
          <a:prstGeom prst="rect">
            <a:avLst/>
          </a:prstGeom>
        </p:spPr>
      </p:pic>
      <p:pic>
        <p:nvPicPr>
          <p:cNvPr id="13" name="图片 12" descr="PC.png"/>
          <p:cNvPicPr>
            <a:picLocks noChangeAspect="1"/>
          </p:cNvPicPr>
          <p:nvPr/>
        </p:nvPicPr>
        <p:blipFill>
          <a:blip r:embed="rId6" cstate="print"/>
          <a:stretch>
            <a:fillRect/>
          </a:stretch>
        </p:blipFill>
        <p:spPr>
          <a:xfrm>
            <a:off x="1316724" y="4669849"/>
            <a:ext cx="468379" cy="375354"/>
          </a:xfrm>
          <a:prstGeom prst="rect">
            <a:avLst/>
          </a:prstGeom>
        </p:spPr>
      </p:pic>
      <p:pic>
        <p:nvPicPr>
          <p:cNvPr id="14" name="图片 13" descr="PC.png"/>
          <p:cNvPicPr>
            <a:picLocks noChangeAspect="1"/>
          </p:cNvPicPr>
          <p:nvPr/>
        </p:nvPicPr>
        <p:blipFill>
          <a:blip r:embed="rId6" cstate="print"/>
          <a:stretch>
            <a:fillRect/>
          </a:stretch>
        </p:blipFill>
        <p:spPr>
          <a:xfrm>
            <a:off x="2144195" y="4669849"/>
            <a:ext cx="468379" cy="375354"/>
          </a:xfrm>
          <a:prstGeom prst="rect">
            <a:avLst/>
          </a:prstGeom>
        </p:spPr>
      </p:pic>
      <p:sp>
        <p:nvSpPr>
          <p:cNvPr id="15" name="文本框 14"/>
          <p:cNvSpPr txBox="1"/>
          <p:nvPr/>
        </p:nvSpPr>
        <p:spPr>
          <a:xfrm>
            <a:off x="2054325" y="5044570"/>
            <a:ext cx="598242" cy="276999"/>
          </a:xfrm>
          <a:prstGeom prst="rect">
            <a:avLst/>
          </a:prstGeom>
          <a:noFill/>
        </p:spPr>
        <p:txBody>
          <a:bodyPr wrap="none" rtlCol="0">
            <a:spAutoFit/>
          </a:bodyPr>
          <a:lstStyle/>
          <a:p>
            <a:pPr algn="ctr"/>
            <a:r>
              <a:rPr lang="en-US" sz="1200" dirty="0">
                <a:latin typeface="Huawei Sans" panose="020C0503030203020204" pitchFamily="34" charset="0"/>
                <a:ea typeface="方正兰亭黑简体" panose="02000000000000000000" pitchFamily="2" charset="-122"/>
                <a:sym typeface="Huawei Sans" panose="020C0503030203020204" pitchFamily="34" charset="0"/>
              </a:rPr>
              <a:t>Host2</a:t>
            </a:r>
          </a:p>
        </p:txBody>
      </p:sp>
      <p:sp>
        <p:nvSpPr>
          <p:cNvPr id="16" name="文本框 15"/>
          <p:cNvSpPr txBox="1"/>
          <p:nvPr/>
        </p:nvSpPr>
        <p:spPr>
          <a:xfrm>
            <a:off x="3645147" y="5044570"/>
            <a:ext cx="598242" cy="276999"/>
          </a:xfrm>
          <a:prstGeom prst="rect">
            <a:avLst/>
          </a:prstGeom>
          <a:noFill/>
        </p:spPr>
        <p:txBody>
          <a:bodyPr wrap="none" rtlCol="0">
            <a:spAutoFit/>
          </a:bodyPr>
          <a:lstStyle/>
          <a:p>
            <a:pPr algn="ctr"/>
            <a:r>
              <a:rPr lang="en-US" sz="1200" dirty="0">
                <a:latin typeface="Huawei Sans" panose="020C0503030203020204" pitchFamily="34" charset="0"/>
                <a:ea typeface="方正兰亭黑简体" panose="02000000000000000000" pitchFamily="2" charset="-122"/>
                <a:sym typeface="Huawei Sans" panose="020C0503030203020204" pitchFamily="34" charset="0"/>
              </a:rPr>
              <a:t>Host3</a:t>
            </a:r>
          </a:p>
        </p:txBody>
      </p:sp>
      <p:sp>
        <p:nvSpPr>
          <p:cNvPr id="17" name="文本框 16"/>
          <p:cNvSpPr txBox="1"/>
          <p:nvPr/>
        </p:nvSpPr>
        <p:spPr>
          <a:xfrm>
            <a:off x="1212264" y="5044570"/>
            <a:ext cx="598242" cy="276999"/>
          </a:xfrm>
          <a:prstGeom prst="rect">
            <a:avLst/>
          </a:prstGeom>
          <a:noFill/>
        </p:spPr>
        <p:txBody>
          <a:bodyPr wrap="none" rtlCol="0">
            <a:spAutoFit/>
          </a:bodyPr>
          <a:lstStyle/>
          <a:p>
            <a:pPr algn="ctr"/>
            <a:r>
              <a:rPr lang="en-US" sz="1200" dirty="0">
                <a:latin typeface="Huawei Sans" panose="020C0503030203020204" pitchFamily="34" charset="0"/>
                <a:ea typeface="方正兰亭黑简体" panose="02000000000000000000" pitchFamily="2" charset="-122"/>
                <a:sym typeface="Huawei Sans" panose="020C0503030203020204" pitchFamily="34" charset="0"/>
              </a:rPr>
              <a:t>Host1</a:t>
            </a:r>
          </a:p>
        </p:txBody>
      </p:sp>
      <p:sp>
        <p:nvSpPr>
          <p:cNvPr id="18" name="文本框 17"/>
          <p:cNvSpPr txBox="1"/>
          <p:nvPr/>
        </p:nvSpPr>
        <p:spPr>
          <a:xfrm>
            <a:off x="4474830" y="5049125"/>
            <a:ext cx="598242" cy="276999"/>
          </a:xfrm>
          <a:prstGeom prst="rect">
            <a:avLst/>
          </a:prstGeom>
          <a:noFill/>
        </p:spPr>
        <p:txBody>
          <a:bodyPr wrap="none" rtlCol="0">
            <a:spAutoFit/>
          </a:bodyPr>
          <a:lstStyle/>
          <a:p>
            <a:pPr algn="ctr"/>
            <a:r>
              <a:rPr lang="en-US" sz="1200" dirty="0">
                <a:latin typeface="Huawei Sans" panose="020C0503030203020204" pitchFamily="34" charset="0"/>
                <a:ea typeface="方正兰亭黑简体" panose="02000000000000000000" pitchFamily="2" charset="-122"/>
                <a:sym typeface="Huawei Sans" panose="020C0503030203020204" pitchFamily="34" charset="0"/>
              </a:rPr>
              <a:t>Host4</a:t>
            </a:r>
          </a:p>
        </p:txBody>
      </p:sp>
      <p:sp>
        <p:nvSpPr>
          <p:cNvPr id="33" name="文本框 32"/>
          <p:cNvSpPr txBox="1"/>
          <p:nvPr/>
        </p:nvSpPr>
        <p:spPr>
          <a:xfrm>
            <a:off x="2306800" y="2007551"/>
            <a:ext cx="739305" cy="276999"/>
          </a:xfrm>
          <a:prstGeom prst="rect">
            <a:avLst/>
          </a:prstGeom>
          <a:noFill/>
        </p:spPr>
        <p:txBody>
          <a:bodyPr wrap="none" rtlCol="0">
            <a:spAutoFit/>
          </a:bodyPr>
          <a:lstStyle/>
          <a:p>
            <a:pPr defTabSz="914400"/>
            <a:r>
              <a:rPr lang="en-US" sz="1200" dirty="0" err="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SwitchA</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文本框 33"/>
          <p:cNvSpPr txBox="1"/>
          <p:nvPr/>
        </p:nvSpPr>
        <p:spPr>
          <a:xfrm>
            <a:off x="1608447" y="2442467"/>
            <a:ext cx="739305" cy="276999"/>
          </a:xfrm>
          <a:prstGeom prst="rect">
            <a:avLst/>
          </a:prstGeom>
          <a:noFill/>
        </p:spPr>
        <p:txBody>
          <a:bodyPr wrap="none" rtlCol="0">
            <a:spAutoFit/>
          </a:bodyPr>
          <a:lstStyle/>
          <a:p>
            <a:pPr defTabSz="914400"/>
            <a:r>
              <a:rPr lang="en-US" sz="1200" dirty="0" err="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SwitchB</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p:cNvSpPr txBox="1"/>
          <p:nvPr/>
        </p:nvSpPr>
        <p:spPr>
          <a:xfrm>
            <a:off x="4013158" y="2442467"/>
            <a:ext cx="747320" cy="276999"/>
          </a:xfrm>
          <a:prstGeom prst="rect">
            <a:avLst/>
          </a:prstGeom>
          <a:noFill/>
        </p:spPr>
        <p:txBody>
          <a:bodyPr wrap="none" rtlCol="0">
            <a:spAutoFit/>
          </a:bodyPr>
          <a:lstStyle/>
          <a:p>
            <a:pPr defTabSz="914400"/>
            <a:r>
              <a:rPr lang="en-US" sz="1200" dirty="0" err="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Switch</a:t>
            </a:r>
            <a:r>
              <a:rPr lang="en-US" altLang="zh-CN" sz="1200" dirty="0" err="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D</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文本框 35"/>
          <p:cNvSpPr txBox="1"/>
          <p:nvPr/>
        </p:nvSpPr>
        <p:spPr>
          <a:xfrm>
            <a:off x="495990" y="2739221"/>
            <a:ext cx="1261884" cy="461665"/>
          </a:xfrm>
          <a:prstGeom prst="rect">
            <a:avLst/>
          </a:prstGeom>
          <a:noFill/>
        </p:spPr>
        <p:txBody>
          <a:bodyPr wrap="none" rtlCol="0">
            <a:spAutoFit/>
          </a:bodyPr>
          <a:lstStyle/>
          <a:p>
            <a:pPr algn="ctr" defTabSz="914400"/>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二级时间服务器</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defTabSz="914400"/>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层数</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文本框 36"/>
          <p:cNvSpPr txBox="1"/>
          <p:nvPr/>
        </p:nvSpPr>
        <p:spPr>
          <a:xfrm>
            <a:off x="4633808" y="2694988"/>
            <a:ext cx="1261884" cy="461665"/>
          </a:xfrm>
          <a:prstGeom prst="rect">
            <a:avLst/>
          </a:prstGeom>
          <a:noFill/>
        </p:spPr>
        <p:txBody>
          <a:bodyPr wrap="none" rtlCol="0">
            <a:spAutoFit/>
          </a:bodyPr>
          <a:lstStyle/>
          <a:p>
            <a:pPr algn="ctr" defTabSz="914400"/>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二级时间服务器</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defTabSz="914400"/>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层数</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p:cNvSpPr txBox="1"/>
          <p:nvPr/>
        </p:nvSpPr>
        <p:spPr>
          <a:xfrm>
            <a:off x="4633808" y="3504633"/>
            <a:ext cx="1261884" cy="461665"/>
          </a:xfrm>
          <a:prstGeom prst="rect">
            <a:avLst/>
          </a:prstGeom>
          <a:noFill/>
        </p:spPr>
        <p:txBody>
          <a:bodyPr wrap="none" rtlCol="0">
            <a:spAutoFit/>
          </a:bodyPr>
          <a:lstStyle/>
          <a:p>
            <a:pPr algn="ctr" defTabSz="914400"/>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二级时间服务器</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defTabSz="914400"/>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层数</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3</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p:cNvSpPr txBox="1"/>
          <p:nvPr/>
        </p:nvSpPr>
        <p:spPr>
          <a:xfrm>
            <a:off x="486740" y="3550393"/>
            <a:ext cx="1261884" cy="461665"/>
          </a:xfrm>
          <a:prstGeom prst="rect">
            <a:avLst/>
          </a:prstGeom>
          <a:noFill/>
        </p:spPr>
        <p:txBody>
          <a:bodyPr wrap="none" rtlCol="0">
            <a:spAutoFit/>
          </a:bodyPr>
          <a:lstStyle/>
          <a:p>
            <a:pPr algn="ctr" defTabSz="914400"/>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二级时间服务器</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defTabSz="914400"/>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层数</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3</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文本框 39"/>
          <p:cNvSpPr txBox="1"/>
          <p:nvPr/>
        </p:nvSpPr>
        <p:spPr>
          <a:xfrm>
            <a:off x="2677082" y="1644174"/>
            <a:ext cx="1107996" cy="461665"/>
          </a:xfrm>
          <a:prstGeom prst="rect">
            <a:avLst/>
          </a:prstGeom>
          <a:noFill/>
        </p:spPr>
        <p:txBody>
          <a:bodyPr wrap="none" rtlCol="0">
            <a:spAutoFit/>
          </a:bodyPr>
          <a:lstStyle/>
          <a:p>
            <a:pPr algn="ctr" defTabSz="914400"/>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主时间服务器</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defTabSz="914400"/>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层数</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文本框 40"/>
          <p:cNvSpPr txBox="1"/>
          <p:nvPr/>
        </p:nvSpPr>
        <p:spPr>
          <a:xfrm>
            <a:off x="2173671" y="3541604"/>
            <a:ext cx="747320" cy="276999"/>
          </a:xfrm>
          <a:prstGeom prst="rect">
            <a:avLst/>
          </a:prstGeom>
          <a:noFill/>
        </p:spPr>
        <p:txBody>
          <a:bodyPr wrap="none" rtlCol="0">
            <a:spAutoFit/>
          </a:bodyPr>
          <a:lstStyle/>
          <a:p>
            <a:pPr defTabSz="914400"/>
            <a:r>
              <a:rPr lang="en-US" sz="1200" dirty="0" err="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Switch</a:t>
            </a:r>
            <a:r>
              <a:rPr lang="en-US" altLang="zh-CN" sz="1200" dirty="0" err="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C</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文本框 41"/>
          <p:cNvSpPr txBox="1"/>
          <p:nvPr/>
        </p:nvSpPr>
        <p:spPr>
          <a:xfrm>
            <a:off x="3400323" y="3541604"/>
            <a:ext cx="747320" cy="276999"/>
          </a:xfrm>
          <a:prstGeom prst="rect">
            <a:avLst/>
          </a:prstGeom>
          <a:noFill/>
        </p:spPr>
        <p:txBody>
          <a:bodyPr wrap="none" rtlCol="0">
            <a:spAutoFit/>
          </a:bodyPr>
          <a:lstStyle/>
          <a:p>
            <a:pPr defTabSz="914400"/>
            <a:r>
              <a:rPr lang="en-US" sz="1200" dirty="0" err="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Switch</a:t>
            </a:r>
            <a:r>
              <a:rPr lang="en-US" altLang="zh-CN" sz="1200" dirty="0" err="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E</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3" name="图片 42"/>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4204495" y="1642646"/>
            <a:ext cx="459637" cy="416337"/>
          </a:xfrm>
          <a:prstGeom prst="rect">
            <a:avLst/>
          </a:prstGeom>
        </p:spPr>
      </p:pic>
      <p:sp>
        <p:nvSpPr>
          <p:cNvPr id="44" name="文本框 43"/>
          <p:cNvSpPr txBox="1"/>
          <p:nvPr/>
        </p:nvSpPr>
        <p:spPr>
          <a:xfrm>
            <a:off x="4099335" y="2032638"/>
            <a:ext cx="646331" cy="276999"/>
          </a:xfrm>
          <a:prstGeom prst="rect">
            <a:avLst/>
          </a:prstGeom>
          <a:noFill/>
        </p:spPr>
        <p:txBody>
          <a:bodyPr wrap="none" rtlCol="0">
            <a:spAutoFit/>
          </a:bodyPr>
          <a:lstStyle/>
          <a:p>
            <a:pPr defTabSz="914400"/>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时钟源</a:t>
            </a:r>
            <a:endParaRPr 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9" name="Straight Connector 167"/>
          <p:cNvCxnSpPr>
            <a:stCxn id="5" idx="2"/>
            <a:endCxn id="6" idx="0"/>
          </p:cNvCxnSpPr>
          <p:nvPr/>
        </p:nvCxnSpPr>
        <p:spPr bwMode="gray">
          <a:xfrm>
            <a:off x="1997739" y="3111325"/>
            <a:ext cx="0" cy="359552"/>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2" name="Straight Connector 167"/>
          <p:cNvCxnSpPr>
            <a:stCxn id="7" idx="2"/>
            <a:endCxn id="8" idx="0"/>
          </p:cNvCxnSpPr>
          <p:nvPr/>
        </p:nvCxnSpPr>
        <p:spPr bwMode="gray">
          <a:xfrm>
            <a:off x="4357863" y="3111325"/>
            <a:ext cx="0" cy="359552"/>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5" name="Straight Connector 167"/>
          <p:cNvCxnSpPr>
            <a:stCxn id="4" idx="2"/>
            <a:endCxn id="5" idx="3"/>
          </p:cNvCxnSpPr>
          <p:nvPr/>
        </p:nvCxnSpPr>
        <p:spPr bwMode="gray">
          <a:xfrm flipH="1">
            <a:off x="2227557" y="2469234"/>
            <a:ext cx="981598" cy="433923"/>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8" name="Straight Connector 167"/>
          <p:cNvCxnSpPr>
            <a:stCxn id="4" idx="2"/>
            <a:endCxn id="7" idx="1"/>
          </p:cNvCxnSpPr>
          <p:nvPr/>
        </p:nvCxnSpPr>
        <p:spPr bwMode="gray">
          <a:xfrm>
            <a:off x="3209155" y="2469234"/>
            <a:ext cx="918889" cy="433923"/>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91" name="Straight Connector 167"/>
          <p:cNvCxnSpPr>
            <a:stCxn id="43" idx="1"/>
            <a:endCxn id="4" idx="3"/>
          </p:cNvCxnSpPr>
          <p:nvPr/>
        </p:nvCxnSpPr>
        <p:spPr bwMode="gray">
          <a:xfrm flipH="1">
            <a:off x="3438973" y="1850815"/>
            <a:ext cx="765522" cy="410251"/>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54" name="五边形 53"/>
          <p:cNvSpPr/>
          <p:nvPr/>
        </p:nvSpPr>
        <p:spPr bwMode="auto">
          <a:xfrm>
            <a:off x="6179960" y="98481"/>
            <a:ext cx="94884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以太网交换</a:t>
            </a:r>
          </a:p>
        </p:txBody>
      </p:sp>
      <p:sp>
        <p:nvSpPr>
          <p:cNvPr id="55" name="燕尾形 54"/>
          <p:cNvSpPr/>
          <p:nvPr/>
        </p:nvSpPr>
        <p:spPr bwMode="auto">
          <a:xfrm>
            <a:off x="7049907" y="98481"/>
            <a:ext cx="678521"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燕尾形 55"/>
          <p:cNvSpPr/>
          <p:nvPr/>
        </p:nvSpPr>
        <p:spPr bwMode="auto">
          <a:xfrm>
            <a:off x="7649535" y="98481"/>
            <a:ext cx="87595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无线接入</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燕尾形 56"/>
          <p:cNvSpPr/>
          <p:nvPr/>
        </p:nvSpPr>
        <p:spPr bwMode="auto">
          <a:xfrm>
            <a:off x="8446601"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可靠性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燕尾形 58"/>
          <p:cNvSpPr/>
          <p:nvPr/>
        </p:nvSpPr>
        <p:spPr bwMode="auto">
          <a:xfrm>
            <a:off x="9148908" y="98481"/>
            <a:ext cx="87048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网络安全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燕尾形 59"/>
          <p:cNvSpPr/>
          <p:nvPr/>
        </p:nvSpPr>
        <p:spPr bwMode="auto">
          <a:xfrm>
            <a:off x="9940504" y="98481"/>
            <a:ext cx="1304004"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网络服务与管理</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燕尾形 60"/>
          <p:cNvSpPr/>
          <p:nvPr/>
        </p:nvSpPr>
        <p:spPr bwMode="auto">
          <a:xfrm>
            <a:off x="11165613" y="98481"/>
            <a:ext cx="583475"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出口</a:t>
            </a:r>
          </a:p>
        </p:txBody>
      </p:sp>
    </p:spTree>
    <p:extLst>
      <p:ext uri="{BB962C8B-B14F-4D97-AF65-F5344CB8AC3E}">
        <p14:creationId xmlns:p14="http://schemas.microsoft.com/office/powerpoint/2010/main" val="29747341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Huawei Sans" panose="020C0503030203020204" pitchFamily="34" charset="0"/>
              </a:rPr>
              <a:t>SNMP</a:t>
            </a:r>
            <a:endParaRPr lang="zh-CN" altLang="en-US" dirty="0">
              <a:sym typeface="Huawei Sans" panose="020C0503030203020204" pitchFamily="34" charset="0"/>
            </a:endParaRPr>
          </a:p>
        </p:txBody>
      </p:sp>
      <p:sp>
        <p:nvSpPr>
          <p:cNvPr id="3" name="任意多边形 2"/>
          <p:cNvSpPr/>
          <p:nvPr/>
        </p:nvSpPr>
        <p:spPr bwMode="gray">
          <a:xfrm>
            <a:off x="3311183" y="3677687"/>
            <a:ext cx="1136129" cy="1953003"/>
          </a:xfrm>
          <a:custGeom>
            <a:avLst/>
            <a:gdLst>
              <a:gd name="connsiteX0" fmla="*/ 406400 w 1219200"/>
              <a:gd name="connsiteY0" fmla="*/ 42333 h 618066"/>
              <a:gd name="connsiteX1" fmla="*/ 0 w 1219200"/>
              <a:gd name="connsiteY1" fmla="*/ 618066 h 618066"/>
              <a:gd name="connsiteX2" fmla="*/ 1219200 w 1219200"/>
              <a:gd name="connsiteY2" fmla="*/ 618066 h 618066"/>
              <a:gd name="connsiteX3" fmla="*/ 812800 w 1219200"/>
              <a:gd name="connsiteY3" fmla="*/ 0 h 618066"/>
              <a:gd name="connsiteX0" fmla="*/ 425450 w 1219200"/>
              <a:gd name="connsiteY0" fmla="*/ 15663 h 618066"/>
              <a:gd name="connsiteX1" fmla="*/ 0 w 1219200"/>
              <a:gd name="connsiteY1" fmla="*/ 618066 h 618066"/>
              <a:gd name="connsiteX2" fmla="*/ 1219200 w 1219200"/>
              <a:gd name="connsiteY2" fmla="*/ 618066 h 618066"/>
              <a:gd name="connsiteX3" fmla="*/ 812800 w 1219200"/>
              <a:gd name="connsiteY3" fmla="*/ 0 h 618066"/>
              <a:gd name="connsiteX0" fmla="*/ 433070 w 1219200"/>
              <a:gd name="connsiteY0" fmla="*/ 423 h 618066"/>
              <a:gd name="connsiteX1" fmla="*/ 0 w 1219200"/>
              <a:gd name="connsiteY1" fmla="*/ 618066 h 618066"/>
              <a:gd name="connsiteX2" fmla="*/ 1219200 w 1219200"/>
              <a:gd name="connsiteY2" fmla="*/ 618066 h 618066"/>
              <a:gd name="connsiteX3" fmla="*/ 812800 w 1219200"/>
              <a:gd name="connsiteY3" fmla="*/ 0 h 618066"/>
              <a:gd name="connsiteX0" fmla="*/ 1985125 w 2771255"/>
              <a:gd name="connsiteY0" fmla="*/ 423 h 629991"/>
              <a:gd name="connsiteX1" fmla="*/ 0 w 2771255"/>
              <a:gd name="connsiteY1" fmla="*/ 629991 h 629991"/>
              <a:gd name="connsiteX2" fmla="*/ 2771255 w 2771255"/>
              <a:gd name="connsiteY2" fmla="*/ 618066 h 629991"/>
              <a:gd name="connsiteX3" fmla="*/ 2364855 w 2771255"/>
              <a:gd name="connsiteY3" fmla="*/ 0 h 629991"/>
              <a:gd name="connsiteX0" fmla="*/ 1985125 w 2432547"/>
              <a:gd name="connsiteY0" fmla="*/ 423 h 693588"/>
              <a:gd name="connsiteX1" fmla="*/ 0 w 2432547"/>
              <a:gd name="connsiteY1" fmla="*/ 629991 h 693588"/>
              <a:gd name="connsiteX2" fmla="*/ 2432547 w 2432547"/>
              <a:gd name="connsiteY2" fmla="*/ 693588 h 693588"/>
              <a:gd name="connsiteX3" fmla="*/ 2364855 w 2432547"/>
              <a:gd name="connsiteY3" fmla="*/ 0 h 693588"/>
              <a:gd name="connsiteX0" fmla="*/ 441645 w 2432547"/>
              <a:gd name="connsiteY0" fmla="*/ 100913 h 693588"/>
              <a:gd name="connsiteX1" fmla="*/ 0 w 2432547"/>
              <a:gd name="connsiteY1" fmla="*/ 629991 h 693588"/>
              <a:gd name="connsiteX2" fmla="*/ 2432547 w 2432547"/>
              <a:gd name="connsiteY2" fmla="*/ 693588 h 693588"/>
              <a:gd name="connsiteX3" fmla="*/ 2364855 w 2432547"/>
              <a:gd name="connsiteY3" fmla="*/ 0 h 693588"/>
              <a:gd name="connsiteX0" fmla="*/ 441645 w 2432547"/>
              <a:gd name="connsiteY0" fmla="*/ 18695 h 611370"/>
              <a:gd name="connsiteX1" fmla="*/ 0 w 2432547"/>
              <a:gd name="connsiteY1" fmla="*/ 547773 h 611370"/>
              <a:gd name="connsiteX2" fmla="*/ 2432547 w 2432547"/>
              <a:gd name="connsiteY2" fmla="*/ 611370 h 611370"/>
              <a:gd name="connsiteX3" fmla="*/ 849957 w 2432547"/>
              <a:gd name="connsiteY3" fmla="*/ 0 h 611370"/>
              <a:gd name="connsiteX0" fmla="*/ 441645 w 2346798"/>
              <a:gd name="connsiteY0" fmla="*/ 18695 h 547773"/>
              <a:gd name="connsiteX1" fmla="*/ 0 w 2346798"/>
              <a:gd name="connsiteY1" fmla="*/ 547773 h 547773"/>
              <a:gd name="connsiteX2" fmla="*/ 2346798 w 2346798"/>
              <a:gd name="connsiteY2" fmla="*/ 483475 h 547773"/>
              <a:gd name="connsiteX3" fmla="*/ 849957 w 2346798"/>
              <a:gd name="connsiteY3" fmla="*/ 0 h 547773"/>
              <a:gd name="connsiteX0" fmla="*/ 489283 w 2394436"/>
              <a:gd name="connsiteY0" fmla="*/ 18695 h 492961"/>
              <a:gd name="connsiteX1" fmla="*/ 0 w 2394436"/>
              <a:gd name="connsiteY1" fmla="*/ 492961 h 492961"/>
              <a:gd name="connsiteX2" fmla="*/ 2394436 w 2394436"/>
              <a:gd name="connsiteY2" fmla="*/ 483475 h 492961"/>
              <a:gd name="connsiteX3" fmla="*/ 897595 w 2394436"/>
              <a:gd name="connsiteY3" fmla="*/ 0 h 492961"/>
              <a:gd name="connsiteX0" fmla="*/ 0 w 3243834"/>
              <a:gd name="connsiteY0" fmla="*/ 535952 h 535952"/>
              <a:gd name="connsiteX1" fmla="*/ 849398 w 3243834"/>
              <a:gd name="connsiteY1" fmla="*/ 492961 h 535952"/>
              <a:gd name="connsiteX2" fmla="*/ 3243834 w 3243834"/>
              <a:gd name="connsiteY2" fmla="*/ 483475 h 535952"/>
              <a:gd name="connsiteX3" fmla="*/ 1746993 w 3243834"/>
              <a:gd name="connsiteY3" fmla="*/ 0 h 535952"/>
              <a:gd name="connsiteX0" fmla="*/ 0 w 3243834"/>
              <a:gd name="connsiteY0" fmla="*/ 363533 h 363533"/>
              <a:gd name="connsiteX1" fmla="*/ 849398 w 3243834"/>
              <a:gd name="connsiteY1" fmla="*/ 320542 h 363533"/>
              <a:gd name="connsiteX2" fmla="*/ 3243834 w 3243834"/>
              <a:gd name="connsiteY2" fmla="*/ 311056 h 363533"/>
              <a:gd name="connsiteX3" fmla="*/ 68645 w 3243834"/>
              <a:gd name="connsiteY3" fmla="*/ 0 h 363533"/>
              <a:gd name="connsiteX0" fmla="*/ 0 w 956087"/>
              <a:gd name="connsiteY0" fmla="*/ 1086991 h 1086991"/>
              <a:gd name="connsiteX1" fmla="*/ 849398 w 956087"/>
              <a:gd name="connsiteY1" fmla="*/ 1044000 h 1086991"/>
              <a:gd name="connsiteX2" fmla="*/ 956087 w 956087"/>
              <a:gd name="connsiteY2" fmla="*/ 0 h 1086991"/>
              <a:gd name="connsiteX3" fmla="*/ 68645 w 956087"/>
              <a:gd name="connsiteY3" fmla="*/ 723458 h 1086991"/>
              <a:gd name="connsiteX0" fmla="*/ 0 w 1428828"/>
              <a:gd name="connsiteY0" fmla="*/ 1086991 h 1158946"/>
              <a:gd name="connsiteX1" fmla="*/ 1428828 w 1428828"/>
              <a:gd name="connsiteY1" fmla="*/ 1158946 h 1158946"/>
              <a:gd name="connsiteX2" fmla="*/ 956087 w 1428828"/>
              <a:gd name="connsiteY2" fmla="*/ 0 h 1158946"/>
              <a:gd name="connsiteX3" fmla="*/ 68645 w 1428828"/>
              <a:gd name="connsiteY3" fmla="*/ 723458 h 1158946"/>
              <a:gd name="connsiteX0" fmla="*/ 0 w 1226590"/>
              <a:gd name="connsiteY0" fmla="*/ 1086991 h 1254735"/>
              <a:gd name="connsiteX1" fmla="*/ 1226590 w 1226590"/>
              <a:gd name="connsiteY1" fmla="*/ 1254735 h 1254735"/>
              <a:gd name="connsiteX2" fmla="*/ 956087 w 1226590"/>
              <a:gd name="connsiteY2" fmla="*/ 0 h 1254735"/>
              <a:gd name="connsiteX3" fmla="*/ 68645 w 1226590"/>
              <a:gd name="connsiteY3" fmla="*/ 723458 h 1254735"/>
              <a:gd name="connsiteX0" fmla="*/ 0 w 1226590"/>
              <a:gd name="connsiteY0" fmla="*/ 1240253 h 1407997"/>
              <a:gd name="connsiteX1" fmla="*/ 1226590 w 1226590"/>
              <a:gd name="connsiteY1" fmla="*/ 1407997 h 1407997"/>
              <a:gd name="connsiteX2" fmla="*/ 1171809 w 1226590"/>
              <a:gd name="connsiteY2" fmla="*/ 0 h 1407997"/>
              <a:gd name="connsiteX3" fmla="*/ 68645 w 1226590"/>
              <a:gd name="connsiteY3" fmla="*/ 876720 h 1407997"/>
              <a:gd name="connsiteX0" fmla="*/ 0 w 1725445"/>
              <a:gd name="connsiteY0" fmla="*/ 1240253 h 2107252"/>
              <a:gd name="connsiteX1" fmla="*/ 1725445 w 1725445"/>
              <a:gd name="connsiteY1" fmla="*/ 2107252 h 2107252"/>
              <a:gd name="connsiteX2" fmla="*/ 1171809 w 1725445"/>
              <a:gd name="connsiteY2" fmla="*/ 0 h 2107252"/>
              <a:gd name="connsiteX3" fmla="*/ 68645 w 1725445"/>
              <a:gd name="connsiteY3" fmla="*/ 876720 h 2107252"/>
              <a:gd name="connsiteX0" fmla="*/ 0 w 1725445"/>
              <a:gd name="connsiteY0" fmla="*/ 1240253 h 2107252"/>
              <a:gd name="connsiteX1" fmla="*/ 1725445 w 1725445"/>
              <a:gd name="connsiteY1" fmla="*/ 2107252 h 2107252"/>
              <a:gd name="connsiteX2" fmla="*/ 1643699 w 1725445"/>
              <a:gd name="connsiteY2" fmla="*/ 0 h 2107252"/>
              <a:gd name="connsiteX3" fmla="*/ 68645 w 1725445"/>
              <a:gd name="connsiteY3" fmla="*/ 876720 h 2107252"/>
            </a:gdLst>
            <a:ahLst/>
            <a:cxnLst>
              <a:cxn ang="0">
                <a:pos x="connsiteX0" y="connsiteY0"/>
              </a:cxn>
              <a:cxn ang="0">
                <a:pos x="connsiteX1" y="connsiteY1"/>
              </a:cxn>
              <a:cxn ang="0">
                <a:pos x="connsiteX2" y="connsiteY2"/>
              </a:cxn>
              <a:cxn ang="0">
                <a:pos x="connsiteX3" y="connsiteY3"/>
              </a:cxn>
            </a:cxnLst>
            <a:rect l="l" t="t" r="r" b="b"/>
            <a:pathLst>
              <a:path w="1725445" h="2107252">
                <a:moveTo>
                  <a:pt x="0" y="1240253"/>
                </a:moveTo>
                <a:lnTo>
                  <a:pt x="1725445" y="2107252"/>
                </a:lnTo>
                <a:lnTo>
                  <a:pt x="1643699" y="0"/>
                </a:lnTo>
                <a:lnTo>
                  <a:pt x="68645" y="876720"/>
                </a:lnTo>
              </a:path>
            </a:pathLst>
          </a:custGeom>
          <a:gradFill flip="none" rotWithShape="1">
            <a:gsLst>
              <a:gs pos="15000">
                <a:schemeClr val="accent1">
                  <a:lumMod val="5000"/>
                  <a:lumOff val="95000"/>
                  <a:alpha val="0"/>
                </a:schemeClr>
              </a:gs>
              <a:gs pos="81000">
                <a:schemeClr val="accent2">
                  <a:lumMod val="40000"/>
                  <a:lumOff val="6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 name="Group 165"/>
          <p:cNvGrpSpPr/>
          <p:nvPr/>
        </p:nvGrpSpPr>
        <p:grpSpPr bwMode="gray">
          <a:xfrm rot="10800000">
            <a:off x="822882" y="1867905"/>
            <a:ext cx="2475266" cy="1369396"/>
            <a:chOff x="-1233037" y="914446"/>
            <a:chExt cx="1573823" cy="778776"/>
          </a:xfrm>
        </p:grpSpPr>
        <p:cxnSp>
          <p:nvCxnSpPr>
            <p:cNvPr id="5" name="Straight Connector 166"/>
            <p:cNvCxnSpPr/>
            <p:nvPr/>
          </p:nvCxnSpPr>
          <p:spPr bwMode="gray">
            <a:xfrm flipH="1" flipV="1">
              <a:off x="-1233037" y="914446"/>
              <a:ext cx="786912" cy="77877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167"/>
            <p:cNvCxnSpPr/>
            <p:nvPr/>
          </p:nvCxnSpPr>
          <p:spPr bwMode="gray">
            <a:xfrm flipV="1">
              <a:off x="-446125" y="914446"/>
              <a:ext cx="786911" cy="77877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7" name="图片 86" descr="核心交换机.png"/>
          <p:cNvPicPr>
            <a:picLocks noChangeAspect="1"/>
          </p:cNvPicPr>
          <p:nvPr/>
        </p:nvPicPr>
        <p:blipFill>
          <a:blip r:embed="rId3" cstate="print">
            <a:duotone>
              <a:schemeClr val="accent5">
                <a:shade val="45000"/>
                <a:satMod val="135000"/>
              </a:schemeClr>
              <a:prstClr val="white"/>
            </a:duotone>
          </a:blip>
          <a:stretch>
            <a:fillRect/>
          </a:stretch>
        </p:blipFill>
        <p:spPr bwMode="gray">
          <a:xfrm>
            <a:off x="1822782" y="1703145"/>
            <a:ext cx="490909" cy="401654"/>
          </a:xfrm>
          <a:prstGeom prst="rect">
            <a:avLst/>
          </a:prstGeom>
        </p:spPr>
      </p:pic>
      <p:pic>
        <p:nvPicPr>
          <p:cNvPr id="8" name="图片 87" descr="汇聚交换机.png"/>
          <p:cNvPicPr>
            <a:picLocks noChangeAspect="1"/>
          </p:cNvPicPr>
          <p:nvPr/>
        </p:nvPicPr>
        <p:blipFill>
          <a:blip r:embed="rId4" cstate="print">
            <a:duotone>
              <a:schemeClr val="accent5">
                <a:shade val="45000"/>
                <a:satMod val="135000"/>
              </a:schemeClr>
              <a:prstClr val="white"/>
            </a:duotone>
          </a:blip>
          <a:stretch>
            <a:fillRect/>
          </a:stretch>
        </p:blipFill>
        <p:spPr bwMode="gray">
          <a:xfrm>
            <a:off x="740270" y="3058188"/>
            <a:ext cx="490909" cy="401654"/>
          </a:xfrm>
          <a:prstGeom prst="rect">
            <a:avLst/>
          </a:prstGeom>
        </p:spPr>
      </p:pic>
      <p:pic>
        <p:nvPicPr>
          <p:cNvPr id="9" name="图片 76" descr="接入交换机.png"/>
          <p:cNvPicPr>
            <a:picLocks noChangeAspect="1"/>
          </p:cNvPicPr>
          <p:nvPr/>
        </p:nvPicPr>
        <p:blipFill>
          <a:blip r:embed="rId5" cstate="print">
            <a:duotone>
              <a:schemeClr val="accent5">
                <a:shade val="45000"/>
                <a:satMod val="135000"/>
              </a:schemeClr>
              <a:prstClr val="white"/>
            </a:duotone>
          </a:blip>
          <a:stretch>
            <a:fillRect/>
          </a:stretch>
        </p:blipFill>
        <p:spPr bwMode="gray">
          <a:xfrm>
            <a:off x="740270" y="4449298"/>
            <a:ext cx="490909" cy="401654"/>
          </a:xfrm>
          <a:prstGeom prst="rect">
            <a:avLst/>
          </a:prstGeom>
        </p:spPr>
      </p:pic>
      <p:pic>
        <p:nvPicPr>
          <p:cNvPr id="10" name="图片 87" descr="汇聚交换机.png"/>
          <p:cNvPicPr>
            <a:picLocks noChangeAspect="1"/>
          </p:cNvPicPr>
          <p:nvPr/>
        </p:nvPicPr>
        <p:blipFill>
          <a:blip r:embed="rId4" cstate="print">
            <a:duotone>
              <a:schemeClr val="accent5">
                <a:shade val="45000"/>
                <a:satMod val="135000"/>
              </a:schemeClr>
              <a:prstClr val="white"/>
            </a:duotone>
          </a:blip>
          <a:stretch>
            <a:fillRect/>
          </a:stretch>
        </p:blipFill>
        <p:spPr bwMode="gray">
          <a:xfrm>
            <a:off x="2905296" y="3058188"/>
            <a:ext cx="490909" cy="401654"/>
          </a:xfrm>
          <a:prstGeom prst="rect">
            <a:avLst/>
          </a:prstGeom>
        </p:spPr>
      </p:pic>
      <p:pic>
        <p:nvPicPr>
          <p:cNvPr id="11" name="图片 76" descr="接入交换机.png"/>
          <p:cNvPicPr>
            <a:picLocks noChangeAspect="1"/>
          </p:cNvPicPr>
          <p:nvPr/>
        </p:nvPicPr>
        <p:blipFill>
          <a:blip r:embed="rId5" cstate="print"/>
          <a:stretch>
            <a:fillRect/>
          </a:stretch>
        </p:blipFill>
        <p:spPr bwMode="gray">
          <a:xfrm>
            <a:off x="2905296" y="4449298"/>
            <a:ext cx="490909" cy="401654"/>
          </a:xfrm>
          <a:prstGeom prst="rect">
            <a:avLst/>
          </a:prstGeom>
        </p:spPr>
      </p:pic>
      <p:cxnSp>
        <p:nvCxnSpPr>
          <p:cNvPr id="12" name="直接连接符 11"/>
          <p:cNvCxnSpPr>
            <a:stCxn id="11" idx="0"/>
            <a:endCxn id="10" idx="2"/>
          </p:cNvCxnSpPr>
          <p:nvPr/>
        </p:nvCxnSpPr>
        <p:spPr bwMode="gray">
          <a:xfrm flipV="1">
            <a:off x="3150751" y="3459842"/>
            <a:ext cx="0" cy="98945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66"/>
          <p:cNvCxnSpPr>
            <a:stCxn id="7" idx="3"/>
          </p:cNvCxnSpPr>
          <p:nvPr/>
        </p:nvCxnSpPr>
        <p:spPr bwMode="gray">
          <a:xfrm>
            <a:off x="2313691" y="1903972"/>
            <a:ext cx="2182955"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9" idx="0"/>
            <a:endCxn id="8" idx="2"/>
          </p:cNvCxnSpPr>
          <p:nvPr/>
        </p:nvCxnSpPr>
        <p:spPr bwMode="gray">
          <a:xfrm flipV="1">
            <a:off x="985725" y="3459842"/>
            <a:ext cx="0" cy="98945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圆角矩形 14"/>
          <p:cNvSpPr/>
          <p:nvPr/>
        </p:nvSpPr>
        <p:spPr bwMode="gray">
          <a:xfrm>
            <a:off x="7018897" y="2064913"/>
            <a:ext cx="4465783" cy="3128256"/>
          </a:xfrm>
          <a:prstGeom prst="roundRect">
            <a:avLst>
              <a:gd name="adj" fmla="val 898"/>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fontAlgn="auto">
              <a:lnSpc>
                <a:spcPts val="2400"/>
              </a:lnSpc>
              <a:spcBef>
                <a:spcPts val="0"/>
              </a:spcBef>
              <a:spcAft>
                <a:spcPts val="600"/>
              </a:spcAft>
              <a:buSzPct val="50000"/>
              <a:buFont typeface="Wingdings" panose="05000000000000000000" pitchFamily="2" charset="2"/>
              <a:buChar char="l"/>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SNMP</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Simple Network Management Protocol</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，简单网络管理协议）是广泛应用于</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TCP/IP</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网络的网络管理标准协议。</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fontAlgn="auto">
              <a:lnSpc>
                <a:spcPts val="2400"/>
              </a:lnSpc>
              <a:spcBef>
                <a:spcPts val="0"/>
              </a:spcBef>
              <a:spcAft>
                <a:spcPts val="600"/>
              </a:spcAft>
              <a:buSzPct val="50000"/>
              <a:buFont typeface="Wingdings" panose="05000000000000000000" pitchFamily="2" charset="2"/>
              <a:buChar char="l"/>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SNMP</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提供了一种通过运行网络管理软件的中心计算机（即网络管理工作站</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NMS</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）来管理设备的方法。</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fontAlgn="auto">
              <a:lnSpc>
                <a:spcPts val="2400"/>
              </a:lnSpc>
              <a:spcBef>
                <a:spcPts val="0"/>
              </a:spcBef>
              <a:spcAft>
                <a:spcPts val="600"/>
              </a:spcAft>
              <a:buSzPct val="50000"/>
              <a:buFont typeface="Wingdings" panose="05000000000000000000" pitchFamily="2" charset="2"/>
              <a:buChar char="l"/>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通过“利用网络管理网络”的方式，</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SNMP</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实现了对网络设备的高效和批量的管理；同时，</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SNMP</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也屏蔽了不同产品之间的差异，实现了对不同种类和厂商的网络设备的统一管理。</a:t>
            </a:r>
          </a:p>
        </p:txBody>
      </p:sp>
      <p:sp>
        <p:nvSpPr>
          <p:cNvPr id="16" name="文本框 15"/>
          <p:cNvSpPr txBox="1"/>
          <p:nvPr/>
        </p:nvSpPr>
        <p:spPr bwMode="gray">
          <a:xfrm>
            <a:off x="7018899" y="1642300"/>
            <a:ext cx="4465782" cy="373577"/>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600">
                <a:solidFill>
                  <a:srgbClr val="30B5C5"/>
                </a:solidFill>
                <a:latin typeface="Huawei Sans" panose="020C0503030203020204" pitchFamily="34" charset="0"/>
                <a:ea typeface="方正兰亭黑简体" panose="02000000000000000000" pitchFamily="2" charset="-122"/>
              </a:defRPr>
            </a:lvl1pPr>
          </a:lstStyle>
          <a:p>
            <a:r>
              <a:rPr lang="en-US" altLang="zh-CN">
                <a:sym typeface="Huawei Sans" panose="020C0503030203020204" pitchFamily="34" charset="0"/>
              </a:rPr>
              <a:t>SNMP</a:t>
            </a:r>
            <a:r>
              <a:rPr lang="zh-CN" altLang="en-US">
                <a:sym typeface="Huawei Sans" panose="020C0503030203020204" pitchFamily="34" charset="0"/>
              </a:rPr>
              <a:t>简介</a:t>
            </a:r>
          </a:p>
        </p:txBody>
      </p:sp>
      <p:pic>
        <p:nvPicPr>
          <p:cNvPr id="17" name="图片 72" descr="交换机.png"/>
          <p:cNvPicPr>
            <a:picLocks noChangeAspect="1"/>
          </p:cNvPicPr>
          <p:nvPr/>
        </p:nvPicPr>
        <p:blipFill>
          <a:blip r:embed="rId6" cstate="print"/>
          <a:stretch>
            <a:fillRect/>
          </a:stretch>
        </p:blipFill>
        <p:spPr bwMode="gray">
          <a:xfrm>
            <a:off x="4252003" y="1703147"/>
            <a:ext cx="489286" cy="401651"/>
          </a:xfrm>
          <a:prstGeom prst="rect">
            <a:avLst/>
          </a:prstGeom>
        </p:spPr>
      </p:pic>
      <p:cxnSp>
        <p:nvCxnSpPr>
          <p:cNvPr id="18" name="直接连接符 17"/>
          <p:cNvCxnSpPr>
            <a:stCxn id="17" idx="2"/>
          </p:cNvCxnSpPr>
          <p:nvPr/>
        </p:nvCxnSpPr>
        <p:spPr bwMode="gray">
          <a:xfrm flipH="1">
            <a:off x="3263211" y="2104798"/>
            <a:ext cx="1233435" cy="2344500"/>
          </a:xfrm>
          <a:prstGeom prst="line">
            <a:avLst/>
          </a:prstGeom>
          <a:noFill/>
          <a:ln w="19050" algn="ctr">
            <a:solidFill>
              <a:srgbClr val="C7000B"/>
            </a:solidFill>
            <a:prstDash val="solid"/>
            <a:round/>
            <a:headEnd type="triangle" w="med" len="med"/>
            <a:tailEnd type="triangle" w="med" len="med"/>
          </a:ln>
        </p:spPr>
      </p:cxnSp>
      <p:sp>
        <p:nvSpPr>
          <p:cNvPr id="19" name="文本框 18"/>
          <p:cNvSpPr txBox="1"/>
          <p:nvPr/>
        </p:nvSpPr>
        <p:spPr bwMode="gray">
          <a:xfrm rot="17898219">
            <a:off x="3479192" y="3269702"/>
            <a:ext cx="1047082" cy="307777"/>
          </a:xfrm>
          <a:prstGeom prst="rect">
            <a:avLst/>
          </a:prstGeom>
          <a:noFill/>
        </p:spPr>
        <p:txBody>
          <a:bodyPr wrap="none" rtlCol="0">
            <a:spAutoFit/>
          </a:bodyPr>
          <a:lstStyle/>
          <a:p>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SNMP</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协议</a:t>
            </a:r>
          </a:p>
        </p:txBody>
      </p:sp>
      <p:sp>
        <p:nvSpPr>
          <p:cNvPr id="20" name="文本框 19"/>
          <p:cNvSpPr txBox="1"/>
          <p:nvPr/>
        </p:nvSpPr>
        <p:spPr bwMode="gray">
          <a:xfrm>
            <a:off x="4727746" y="1621547"/>
            <a:ext cx="2016899" cy="492443"/>
          </a:xfrm>
          <a:prstGeom prst="rect">
            <a:avLst/>
          </a:prstGeom>
          <a:noFill/>
        </p:spPr>
        <p:txBody>
          <a:bodyPr wrap="none" rtlCol="0">
            <a:spAutoFit/>
          </a:bodyPr>
          <a:lstStyle/>
          <a:p>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NMS</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SNMP</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服务端）</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例如</a:t>
            </a:r>
            <a:r>
              <a:rPr lang="en-US" altLang="zh-CN" sz="1200" dirty="0" err="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 NCE</a:t>
            </a:r>
            <a:endParaRPr lang="zh-CN" alt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矩形 20"/>
          <p:cNvSpPr/>
          <p:nvPr/>
        </p:nvSpPr>
        <p:spPr bwMode="gray">
          <a:xfrm>
            <a:off x="4386458" y="3691507"/>
            <a:ext cx="2277722" cy="2330680"/>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文本框 21"/>
          <p:cNvSpPr txBox="1"/>
          <p:nvPr/>
        </p:nvSpPr>
        <p:spPr bwMode="gray">
          <a:xfrm>
            <a:off x="1594088" y="4813965"/>
            <a:ext cx="2501006" cy="523220"/>
          </a:xfrm>
          <a:prstGeom prst="rect">
            <a:avLst/>
          </a:prstGeom>
          <a:noFill/>
        </p:spPr>
        <p:txBody>
          <a:bodyPr wrap="none" rtlCol="0">
            <a:spAutoFit/>
          </a:bodyPr>
          <a:lstStyle/>
          <a:p>
            <a:pPr algn="ct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被网管设备（</a:t>
            </a: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SNMP</a:t>
            </a: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客户端）</a:t>
            </a:r>
            <a:endParaRPr lang="en-US" altLang="zh-CN" sz="1400" b="1">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例如路由器、交换机等</a:t>
            </a:r>
          </a:p>
        </p:txBody>
      </p:sp>
      <p:sp>
        <p:nvSpPr>
          <p:cNvPr id="23" name="TextBox 179"/>
          <p:cNvSpPr txBox="1"/>
          <p:nvPr/>
        </p:nvSpPr>
        <p:spPr bwMode="gray">
          <a:xfrm>
            <a:off x="4877641" y="4052615"/>
            <a:ext cx="1295356" cy="267630"/>
          </a:xfrm>
          <a:prstGeom prst="roundRect">
            <a:avLst>
              <a:gd name="adj" fmla="val 29642"/>
            </a:avLst>
          </a:prstGeom>
          <a:solidFill>
            <a:srgbClr val="EC7061"/>
          </a:solidFill>
          <a:ln>
            <a:noFill/>
          </a:ln>
        </p:spPr>
        <p:txBody>
          <a:bodyPr wrap="none" lIns="0" tIns="0" rIns="0" bIns="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代理进程</a:t>
            </a:r>
          </a:p>
        </p:txBody>
      </p:sp>
      <p:cxnSp>
        <p:nvCxnSpPr>
          <p:cNvPr id="24" name="直接连接符 23"/>
          <p:cNvCxnSpPr/>
          <p:nvPr/>
        </p:nvCxnSpPr>
        <p:spPr bwMode="gray">
          <a:xfrm flipH="1">
            <a:off x="5525319" y="2201846"/>
            <a:ext cx="0" cy="1712684"/>
          </a:xfrm>
          <a:prstGeom prst="line">
            <a:avLst/>
          </a:prstGeom>
          <a:noFill/>
          <a:ln w="19050" algn="ctr">
            <a:solidFill>
              <a:srgbClr val="EC7061"/>
            </a:solidFill>
            <a:prstDash val="solid"/>
            <a:round/>
            <a:headEnd type="triangle" w="med" len="med"/>
            <a:tailEnd type="triangle" w="med" len="med"/>
          </a:ln>
        </p:spPr>
      </p:cxnSp>
      <p:cxnSp>
        <p:nvCxnSpPr>
          <p:cNvPr id="25" name="直接连接符 24"/>
          <p:cNvCxnSpPr/>
          <p:nvPr/>
        </p:nvCxnSpPr>
        <p:spPr bwMode="gray">
          <a:xfrm>
            <a:off x="5525319" y="4342416"/>
            <a:ext cx="0" cy="288200"/>
          </a:xfrm>
          <a:prstGeom prst="line">
            <a:avLst/>
          </a:prstGeom>
          <a:noFill/>
          <a:ln w="19050" algn="ctr">
            <a:solidFill>
              <a:srgbClr val="EC7061"/>
            </a:solidFill>
            <a:prstDash val="solid"/>
            <a:round/>
            <a:headEnd type="triangle" w="med" len="med"/>
            <a:tailEnd type="triangle" w="med" len="med"/>
          </a:ln>
        </p:spPr>
      </p:cxnSp>
      <p:sp>
        <p:nvSpPr>
          <p:cNvPr id="26" name="Rounded Rectangle 30"/>
          <p:cNvSpPr/>
          <p:nvPr/>
        </p:nvSpPr>
        <p:spPr bwMode="gray">
          <a:xfrm>
            <a:off x="4572335" y="4654249"/>
            <a:ext cx="1905968" cy="1212735"/>
          </a:xfrm>
          <a:prstGeom prst="roundRect">
            <a:avLst>
              <a:gd name="adj" fmla="val 7261"/>
            </a:avLst>
          </a:prstGeom>
          <a:solidFill>
            <a:srgbClr val="FFFFCC"/>
          </a:solidFill>
          <a:ln w="19050" cap="flat" cmpd="sng" algn="ctr">
            <a:solidFill>
              <a:srgbClr val="FFC000"/>
            </a:solidFill>
            <a:prstDash val="sys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Oval 33"/>
          <p:cNvSpPr/>
          <p:nvPr/>
        </p:nvSpPr>
        <p:spPr bwMode="gray">
          <a:xfrm>
            <a:off x="5427021" y="4881895"/>
            <a:ext cx="144016" cy="144016"/>
          </a:xfrm>
          <a:prstGeom prst="ellipse">
            <a:avLst/>
          </a:prstGeom>
          <a:solidFill>
            <a:srgbClr val="FFC000"/>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Oval 67"/>
          <p:cNvSpPr/>
          <p:nvPr/>
        </p:nvSpPr>
        <p:spPr bwMode="gray">
          <a:xfrm>
            <a:off x="5118363" y="5193169"/>
            <a:ext cx="144016" cy="144016"/>
          </a:xfrm>
          <a:prstGeom prst="ellipse">
            <a:avLst/>
          </a:prstGeom>
          <a:solidFill>
            <a:srgbClr val="FFC000"/>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Oval 68"/>
          <p:cNvSpPr/>
          <p:nvPr/>
        </p:nvSpPr>
        <p:spPr bwMode="gray">
          <a:xfrm>
            <a:off x="5751056" y="5193169"/>
            <a:ext cx="144016" cy="144016"/>
          </a:xfrm>
          <a:prstGeom prst="ellipse">
            <a:avLst/>
          </a:prstGeom>
          <a:solidFill>
            <a:srgbClr val="FFC000"/>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Oval 70"/>
          <p:cNvSpPr/>
          <p:nvPr/>
        </p:nvSpPr>
        <p:spPr bwMode="gray">
          <a:xfrm>
            <a:off x="5499029" y="5529967"/>
            <a:ext cx="144016" cy="144016"/>
          </a:xfrm>
          <a:prstGeom prst="ellipse">
            <a:avLst/>
          </a:prstGeom>
          <a:solidFill>
            <a:srgbClr val="FFC000"/>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Oval 71"/>
          <p:cNvSpPr/>
          <p:nvPr/>
        </p:nvSpPr>
        <p:spPr bwMode="gray">
          <a:xfrm>
            <a:off x="6022428" y="5529967"/>
            <a:ext cx="144016" cy="144016"/>
          </a:xfrm>
          <a:prstGeom prst="ellipse">
            <a:avLst/>
          </a:prstGeom>
          <a:solidFill>
            <a:srgbClr val="FFC000"/>
          </a:solidFill>
          <a:ln w="2857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2" name="Straight Connector 35"/>
          <p:cNvCxnSpPr>
            <a:stCxn id="27" idx="3"/>
            <a:endCxn id="28" idx="7"/>
          </p:cNvCxnSpPr>
          <p:nvPr/>
        </p:nvCxnSpPr>
        <p:spPr bwMode="gray">
          <a:xfrm flipH="1">
            <a:off x="5241288" y="5004820"/>
            <a:ext cx="206824" cy="20944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33" name="Straight Connector 72"/>
          <p:cNvCxnSpPr>
            <a:stCxn id="27" idx="5"/>
            <a:endCxn id="29" idx="1"/>
          </p:cNvCxnSpPr>
          <p:nvPr/>
        </p:nvCxnSpPr>
        <p:spPr bwMode="gray">
          <a:xfrm>
            <a:off x="5549946" y="5004820"/>
            <a:ext cx="222201" cy="209440"/>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34" name="Straight Connector 79"/>
          <p:cNvCxnSpPr>
            <a:stCxn id="29" idx="3"/>
            <a:endCxn id="30" idx="7"/>
          </p:cNvCxnSpPr>
          <p:nvPr/>
        </p:nvCxnSpPr>
        <p:spPr bwMode="gray">
          <a:xfrm flipH="1">
            <a:off x="5621954" y="5316094"/>
            <a:ext cx="150193" cy="234964"/>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35" name="Straight Connector 80"/>
          <p:cNvCxnSpPr>
            <a:stCxn id="29" idx="5"/>
            <a:endCxn id="31" idx="0"/>
          </p:cNvCxnSpPr>
          <p:nvPr/>
        </p:nvCxnSpPr>
        <p:spPr bwMode="gray">
          <a:xfrm>
            <a:off x="5873981" y="5316094"/>
            <a:ext cx="220455" cy="213873"/>
          </a:xfrm>
          <a:prstGeom prst="line">
            <a:avLst/>
          </a:prstGeom>
          <a:solidFill>
            <a:schemeClr val="accent1"/>
          </a:solidFill>
          <a:ln w="28575" cap="flat" cmpd="sng" algn="ctr">
            <a:solidFill>
              <a:schemeClr val="tx1"/>
            </a:solidFill>
            <a:prstDash val="solid"/>
            <a:round/>
            <a:headEnd type="none" w="med" len="med"/>
            <a:tailEnd type="none" w="med" len="med"/>
          </a:ln>
          <a:effectLst/>
        </p:spPr>
      </p:cxnSp>
      <p:sp>
        <p:nvSpPr>
          <p:cNvPr id="36" name="Rectangle 52"/>
          <p:cNvSpPr/>
          <p:nvPr/>
        </p:nvSpPr>
        <p:spPr bwMode="gray">
          <a:xfrm>
            <a:off x="5850784" y="4709451"/>
            <a:ext cx="550151" cy="323165"/>
          </a:xfrm>
          <a:prstGeom prst="rect">
            <a:avLst/>
          </a:prstGeom>
        </p:spPr>
        <p:txBody>
          <a:bodyPr wrap="none">
            <a:spAutoFit/>
          </a:bodyPr>
          <a:lstStyle/>
          <a:p>
            <a:r>
              <a:rPr lang="en-US" altLang="zh-CN" sz="1500" b="1">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MIB</a:t>
            </a:r>
            <a:endParaRPr lang="zh-CN" altLang="en-US" b="1">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7" name="Group 3"/>
          <p:cNvGrpSpPr/>
          <p:nvPr/>
        </p:nvGrpSpPr>
        <p:grpSpPr bwMode="gray">
          <a:xfrm>
            <a:off x="4737099" y="5259992"/>
            <a:ext cx="261965" cy="61979"/>
            <a:chOff x="559282" y="6488261"/>
            <a:chExt cx="261965" cy="61979"/>
          </a:xfrm>
          <a:solidFill>
            <a:schemeClr val="bg1">
              <a:lumMod val="50000"/>
            </a:schemeClr>
          </a:solidFill>
        </p:grpSpPr>
        <p:sp>
          <p:nvSpPr>
            <p:cNvPr id="38"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41" name="Group 3"/>
          <p:cNvGrpSpPr/>
          <p:nvPr/>
        </p:nvGrpSpPr>
        <p:grpSpPr bwMode="gray">
          <a:xfrm>
            <a:off x="5162798" y="5587678"/>
            <a:ext cx="261965" cy="61979"/>
            <a:chOff x="559282" y="6488261"/>
            <a:chExt cx="261965" cy="61979"/>
          </a:xfrm>
          <a:solidFill>
            <a:schemeClr val="bg1">
              <a:lumMod val="50000"/>
            </a:schemeClr>
          </a:solidFill>
        </p:grpSpPr>
        <p:sp>
          <p:nvSpPr>
            <p:cNvPr id="42"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5" name="五边形 44"/>
          <p:cNvSpPr/>
          <p:nvPr/>
        </p:nvSpPr>
        <p:spPr bwMode="auto">
          <a:xfrm>
            <a:off x="6179960" y="98481"/>
            <a:ext cx="94884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以太网交换</a:t>
            </a:r>
          </a:p>
        </p:txBody>
      </p:sp>
      <p:sp>
        <p:nvSpPr>
          <p:cNvPr id="46" name="燕尾形 45"/>
          <p:cNvSpPr/>
          <p:nvPr/>
        </p:nvSpPr>
        <p:spPr bwMode="auto">
          <a:xfrm>
            <a:off x="7049907" y="98481"/>
            <a:ext cx="678521"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燕尾形 46"/>
          <p:cNvSpPr/>
          <p:nvPr/>
        </p:nvSpPr>
        <p:spPr bwMode="auto">
          <a:xfrm>
            <a:off x="7649535" y="98481"/>
            <a:ext cx="87595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无线接入</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燕尾形 47"/>
          <p:cNvSpPr/>
          <p:nvPr/>
        </p:nvSpPr>
        <p:spPr bwMode="auto">
          <a:xfrm>
            <a:off x="8446601"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可靠性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燕尾形 48"/>
          <p:cNvSpPr/>
          <p:nvPr/>
        </p:nvSpPr>
        <p:spPr bwMode="auto">
          <a:xfrm>
            <a:off x="9148908" y="98481"/>
            <a:ext cx="87048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网络安全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燕尾形 49"/>
          <p:cNvSpPr/>
          <p:nvPr/>
        </p:nvSpPr>
        <p:spPr bwMode="auto">
          <a:xfrm>
            <a:off x="9940504" y="98481"/>
            <a:ext cx="1304004"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网络服务与管理</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燕尾形 50"/>
          <p:cNvSpPr/>
          <p:nvPr/>
        </p:nvSpPr>
        <p:spPr bwMode="auto">
          <a:xfrm>
            <a:off x="11165613" y="98481"/>
            <a:ext cx="583475"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出口</a:t>
            </a:r>
          </a:p>
        </p:txBody>
      </p:sp>
    </p:spTree>
    <p:extLst>
      <p:ext uri="{BB962C8B-B14F-4D97-AF65-F5344CB8AC3E}">
        <p14:creationId xmlns:p14="http://schemas.microsoft.com/office/powerpoint/2010/main" val="7784179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a:sym typeface="Huawei Sans" panose="020C0503030203020204" pitchFamily="34" charset="0"/>
              </a:rPr>
              <a:t>NETCONF</a:t>
            </a:r>
            <a:endParaRPr lang="zh-CN" altLang="en-US" dirty="0">
              <a:sym typeface="Huawei Sans" panose="020C0503030203020204" pitchFamily="34" charset="0"/>
            </a:endParaRPr>
          </a:p>
        </p:txBody>
      </p:sp>
      <p:sp>
        <p:nvSpPr>
          <p:cNvPr id="35" name="文本占位符 34"/>
          <p:cNvSpPr>
            <a:spLocks noGrp="1"/>
          </p:cNvSpPr>
          <p:nvPr>
            <p:ph type="body" sz="quarter" idx="10"/>
          </p:nvPr>
        </p:nvSpPr>
        <p:spPr bwMode="gray">
          <a:xfrm>
            <a:off x="455612" y="1047750"/>
            <a:ext cx="11293475" cy="2884005"/>
          </a:xfrm>
        </p:spPr>
        <p:txBody>
          <a:bodyPr/>
          <a:lstStyle/>
          <a:p>
            <a:r>
              <a:rPr lang="en-US" altLang="zh-CN" sz="2000" dirty="0">
                <a:sym typeface="Huawei Sans" panose="020C0503030203020204" pitchFamily="34" charset="0"/>
              </a:rPr>
              <a:t>NETCONF</a:t>
            </a:r>
            <a:r>
              <a:rPr lang="zh-CN" altLang="en-US" sz="2000" dirty="0">
                <a:sym typeface="Huawei Sans" panose="020C0503030203020204" pitchFamily="34" charset="0"/>
              </a:rPr>
              <a:t>（</a:t>
            </a:r>
            <a:r>
              <a:rPr lang="en-US" altLang="zh-CN" sz="2000" dirty="0">
                <a:sym typeface="Huawei Sans" panose="020C0503030203020204" pitchFamily="34" charset="0"/>
              </a:rPr>
              <a:t>Network Configuration Protocol</a:t>
            </a:r>
            <a:r>
              <a:rPr lang="zh-CN" altLang="en-US" sz="2000" dirty="0">
                <a:sym typeface="Huawei Sans" panose="020C0503030203020204" pitchFamily="34" charset="0"/>
              </a:rPr>
              <a:t>，网络配置协议）提供一套管理网络设备的机制。用户可以使用这套机制增加、修改、删除网络设备的配置，获取网络设备的配置和状态信息。</a:t>
            </a:r>
            <a:endParaRPr lang="en-US" altLang="zh-CN" sz="2000" dirty="0">
              <a:sym typeface="Huawei Sans" panose="020C0503030203020204" pitchFamily="34" charset="0"/>
            </a:endParaRPr>
          </a:p>
          <a:p>
            <a:r>
              <a:rPr lang="en-US" altLang="zh-CN" sz="2000" dirty="0">
                <a:sym typeface="Huawei Sans" panose="020C0503030203020204" pitchFamily="34" charset="0"/>
              </a:rPr>
              <a:t>NETCONF</a:t>
            </a:r>
            <a:r>
              <a:rPr lang="zh-CN" altLang="en-US" sz="2000" dirty="0">
                <a:sym typeface="Huawei Sans" panose="020C0503030203020204" pitchFamily="34" charset="0"/>
              </a:rPr>
              <a:t>有三个对象：</a:t>
            </a:r>
            <a:endParaRPr lang="en-US" altLang="zh-CN" sz="2000" dirty="0">
              <a:sym typeface="Huawei Sans" panose="020C0503030203020204" pitchFamily="34" charset="0"/>
            </a:endParaRPr>
          </a:p>
          <a:p>
            <a:pPr lvl="1"/>
            <a:r>
              <a:rPr lang="en-US" altLang="zh-CN" sz="1800" dirty="0">
                <a:sym typeface="Huawei Sans" panose="020C0503030203020204" pitchFamily="34" charset="0"/>
              </a:rPr>
              <a:t>NETCONF</a:t>
            </a:r>
            <a:r>
              <a:rPr lang="zh-CN" altLang="en-US" sz="1800" dirty="0">
                <a:sym typeface="Huawei Sans" panose="020C0503030203020204" pitchFamily="34" charset="0"/>
              </a:rPr>
              <a:t>客户端</a:t>
            </a:r>
          </a:p>
          <a:p>
            <a:pPr lvl="1"/>
            <a:r>
              <a:rPr lang="en-US" altLang="zh-CN" sz="1800" dirty="0">
                <a:sym typeface="Huawei Sans" panose="020C0503030203020204" pitchFamily="34" charset="0"/>
              </a:rPr>
              <a:t>NETCONF</a:t>
            </a:r>
            <a:r>
              <a:rPr lang="zh-CN" altLang="en-US" sz="1800" dirty="0">
                <a:sym typeface="Huawei Sans" panose="020C0503030203020204" pitchFamily="34" charset="0"/>
              </a:rPr>
              <a:t>服务器</a:t>
            </a:r>
          </a:p>
          <a:p>
            <a:pPr lvl="1"/>
            <a:r>
              <a:rPr lang="en-US" altLang="zh-CN" sz="1800" dirty="0">
                <a:sym typeface="Huawei Sans" panose="020C0503030203020204" pitchFamily="34" charset="0"/>
              </a:rPr>
              <a:t>NETCONF</a:t>
            </a:r>
            <a:r>
              <a:rPr lang="zh-CN" altLang="en-US" sz="1800" dirty="0">
                <a:sym typeface="Huawei Sans" panose="020C0503030203020204" pitchFamily="34" charset="0"/>
              </a:rPr>
              <a:t>消息</a:t>
            </a:r>
          </a:p>
        </p:txBody>
      </p:sp>
      <p:sp>
        <p:nvSpPr>
          <p:cNvPr id="3" name="Rounded Rectangle 2"/>
          <p:cNvSpPr/>
          <p:nvPr/>
        </p:nvSpPr>
        <p:spPr bwMode="gray">
          <a:xfrm>
            <a:off x="4116576" y="4686297"/>
            <a:ext cx="5892800" cy="1371331"/>
          </a:xfrm>
          <a:prstGeom prst="roundRect">
            <a:avLst>
              <a:gd name="adj" fmla="val 10000"/>
            </a:avLst>
          </a:prstGeom>
          <a:solidFill>
            <a:srgbClr val="EAF8FA"/>
          </a:solidFill>
          <a:ln w="19050" cap="flat" cmpd="sng" algn="ctr">
            <a:solidFill>
              <a:srgbClr val="94DAE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Rounded Rectangle 2"/>
          <p:cNvSpPr/>
          <p:nvPr/>
        </p:nvSpPr>
        <p:spPr bwMode="gray">
          <a:xfrm>
            <a:off x="5385898" y="2156929"/>
            <a:ext cx="3264083" cy="1020147"/>
          </a:xfrm>
          <a:prstGeom prst="roundRect">
            <a:avLst>
              <a:gd name="adj" fmla="val 10000"/>
            </a:avLst>
          </a:prstGeom>
          <a:solidFill>
            <a:srgbClr val="EAF8FA"/>
          </a:solidFill>
          <a:ln w="19050" cap="flat" cmpd="sng" algn="ctr">
            <a:solidFill>
              <a:srgbClr val="94DAE2"/>
            </a:solidFill>
            <a:prstDash val="solid"/>
            <a:miter lim="800000"/>
          </a:ln>
          <a:effectLst/>
        </p:spPr>
        <p:txBody>
          <a:bodyPr rtlCol="0" anchor="ctr"/>
          <a:lstStyle/>
          <a:p>
            <a:pPr algn="ctr" defTabSz="914400"/>
            <a:endParaRPr lang="zh-CN" altLang="en-US"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矩形 28">
            <a:extLst>
              <a:ext uri="{FF2B5EF4-FFF2-40B4-BE49-F238E27FC236}">
                <a16:creationId xmlns:a16="http://schemas.microsoft.com/office/drawing/2014/main" id="{5CFCCD8D-0A25-46FF-8CB9-75564116A8B9}"/>
              </a:ext>
            </a:extLst>
          </p:cNvPr>
          <p:cNvSpPr/>
          <p:nvPr/>
        </p:nvSpPr>
        <p:spPr bwMode="gray">
          <a:xfrm>
            <a:off x="4359785" y="4960194"/>
            <a:ext cx="2052228" cy="756084"/>
          </a:xfrm>
          <a:prstGeom prst="rect">
            <a:avLst/>
          </a:prstGeom>
          <a:solidFill>
            <a:srgbClr val="D0E8C4"/>
          </a:solidFill>
          <a:ln w="9525" cap="flat" cmpd="sng" algn="ctr">
            <a:solidFill>
              <a:srgbClr val="AFD89C"/>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矩形: 圆角 5">
            <a:extLst>
              <a:ext uri="{FF2B5EF4-FFF2-40B4-BE49-F238E27FC236}">
                <a16:creationId xmlns:a16="http://schemas.microsoft.com/office/drawing/2014/main" id="{02EC7DDE-6ADD-4428-AF36-BF0A47D6C648}"/>
              </a:ext>
            </a:extLst>
          </p:cNvPr>
          <p:cNvSpPr/>
          <p:nvPr/>
        </p:nvSpPr>
        <p:spPr bwMode="gray">
          <a:xfrm>
            <a:off x="4524734" y="5032202"/>
            <a:ext cx="1779267" cy="360040"/>
          </a:xfrm>
          <a:prstGeom prst="roundRect">
            <a:avLst/>
          </a:prstGeom>
          <a:solidFill>
            <a:srgbClr val="FEEEC1"/>
          </a:solidFill>
          <a:ln w="9525" cap="flat" cmpd="sng" algn="ctr">
            <a:solidFill>
              <a:srgbClr val="CBCBC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NETCONF Server</a:t>
            </a:r>
            <a:endParaRPr kumimoji="0" lang="zh-CN" altLang="en-US" sz="14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文本框 30">
            <a:extLst>
              <a:ext uri="{FF2B5EF4-FFF2-40B4-BE49-F238E27FC236}">
                <a16:creationId xmlns:a16="http://schemas.microsoft.com/office/drawing/2014/main" id="{CCED106C-FE7B-4A89-854E-5D585CE70B46}"/>
              </a:ext>
            </a:extLst>
          </p:cNvPr>
          <p:cNvSpPr txBox="1"/>
          <p:nvPr/>
        </p:nvSpPr>
        <p:spPr bwMode="gray">
          <a:xfrm>
            <a:off x="5079865" y="5404942"/>
            <a:ext cx="712722"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Device</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 name="图片 6" descr="接入交换机.png">
            <a:extLst>
              <a:ext uri="{FF2B5EF4-FFF2-40B4-BE49-F238E27FC236}">
                <a16:creationId xmlns:a16="http://schemas.microsoft.com/office/drawing/2014/main" id="{49235A04-8CF7-4862-861C-7B174330C2FE}"/>
              </a:ext>
            </a:extLst>
          </p:cNvPr>
          <p:cNvPicPr>
            <a:picLocks noChangeAspect="1"/>
          </p:cNvPicPr>
          <p:nvPr/>
        </p:nvPicPr>
        <p:blipFill>
          <a:blip r:embed="rId3" cstate="print"/>
          <a:stretch>
            <a:fillRect/>
          </a:stretch>
        </p:blipFill>
        <p:spPr bwMode="gray">
          <a:xfrm>
            <a:off x="6772113" y="5022432"/>
            <a:ext cx="540000" cy="441818"/>
          </a:xfrm>
          <a:prstGeom prst="rect">
            <a:avLst/>
          </a:prstGeom>
        </p:spPr>
      </p:pic>
      <p:pic>
        <p:nvPicPr>
          <p:cNvPr id="8" name="图片 7" descr="接入交换机.png">
            <a:extLst>
              <a:ext uri="{FF2B5EF4-FFF2-40B4-BE49-F238E27FC236}">
                <a16:creationId xmlns:a16="http://schemas.microsoft.com/office/drawing/2014/main" id="{C9C5E838-5106-403A-9152-29A5A4A710A5}"/>
              </a:ext>
            </a:extLst>
          </p:cNvPr>
          <p:cNvPicPr>
            <a:picLocks noChangeAspect="1"/>
          </p:cNvPicPr>
          <p:nvPr/>
        </p:nvPicPr>
        <p:blipFill>
          <a:blip r:embed="rId3" cstate="print"/>
          <a:stretch>
            <a:fillRect/>
          </a:stretch>
        </p:blipFill>
        <p:spPr bwMode="gray">
          <a:xfrm>
            <a:off x="7888237" y="5015194"/>
            <a:ext cx="540000" cy="441818"/>
          </a:xfrm>
          <a:prstGeom prst="rect">
            <a:avLst/>
          </a:prstGeom>
        </p:spPr>
      </p:pic>
      <p:pic>
        <p:nvPicPr>
          <p:cNvPr id="9" name="图片 8" descr="接入交换机.png">
            <a:extLst>
              <a:ext uri="{FF2B5EF4-FFF2-40B4-BE49-F238E27FC236}">
                <a16:creationId xmlns:a16="http://schemas.microsoft.com/office/drawing/2014/main" id="{62DB3881-6C29-4A45-8239-3602399C2116}"/>
              </a:ext>
            </a:extLst>
          </p:cNvPr>
          <p:cNvPicPr>
            <a:picLocks noChangeAspect="1"/>
          </p:cNvPicPr>
          <p:nvPr/>
        </p:nvPicPr>
        <p:blipFill>
          <a:blip r:embed="rId3" cstate="print"/>
          <a:stretch>
            <a:fillRect/>
          </a:stretch>
        </p:blipFill>
        <p:spPr bwMode="gray">
          <a:xfrm>
            <a:off x="9076369" y="5015194"/>
            <a:ext cx="540000" cy="441818"/>
          </a:xfrm>
          <a:prstGeom prst="rect">
            <a:avLst/>
          </a:prstGeom>
        </p:spPr>
      </p:pic>
      <p:sp>
        <p:nvSpPr>
          <p:cNvPr id="10" name="文本框 9">
            <a:extLst>
              <a:ext uri="{FF2B5EF4-FFF2-40B4-BE49-F238E27FC236}">
                <a16:creationId xmlns:a16="http://schemas.microsoft.com/office/drawing/2014/main" id="{33072236-6362-4429-A63C-F8823418A506}"/>
              </a:ext>
            </a:extLst>
          </p:cNvPr>
          <p:cNvSpPr txBox="1"/>
          <p:nvPr/>
        </p:nvSpPr>
        <p:spPr bwMode="gray">
          <a:xfrm>
            <a:off x="6664041" y="5520869"/>
            <a:ext cx="869816"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Device 1</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文本框 10">
            <a:extLst>
              <a:ext uri="{FF2B5EF4-FFF2-40B4-BE49-F238E27FC236}">
                <a16:creationId xmlns:a16="http://schemas.microsoft.com/office/drawing/2014/main" id="{364F4306-29C7-4466-AE1A-AD2D8FE5DB27}"/>
              </a:ext>
            </a:extLst>
          </p:cNvPr>
          <p:cNvSpPr txBox="1"/>
          <p:nvPr/>
        </p:nvSpPr>
        <p:spPr bwMode="gray">
          <a:xfrm>
            <a:off x="7780165" y="5520869"/>
            <a:ext cx="869816"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Device 2</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文本框 11">
            <a:extLst>
              <a:ext uri="{FF2B5EF4-FFF2-40B4-BE49-F238E27FC236}">
                <a16:creationId xmlns:a16="http://schemas.microsoft.com/office/drawing/2014/main" id="{5A24D448-5F25-4996-A9B7-4B6FD70E7C6D}"/>
              </a:ext>
            </a:extLst>
          </p:cNvPr>
          <p:cNvSpPr txBox="1"/>
          <p:nvPr/>
        </p:nvSpPr>
        <p:spPr bwMode="gray">
          <a:xfrm>
            <a:off x="8968297" y="5520869"/>
            <a:ext cx="869816"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Device 3</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3" name="直接连接符 12">
            <a:extLst>
              <a:ext uri="{FF2B5EF4-FFF2-40B4-BE49-F238E27FC236}">
                <a16:creationId xmlns:a16="http://schemas.microsoft.com/office/drawing/2014/main" id="{B9D86CC9-E88F-4AC2-99D2-1BFC2E3B5826}"/>
              </a:ext>
            </a:extLst>
          </p:cNvPr>
          <p:cNvCxnSpPr>
            <a:cxnSpLocks/>
            <a:stCxn id="27" idx="2"/>
            <a:endCxn id="7" idx="0"/>
          </p:cNvCxnSpPr>
          <p:nvPr/>
        </p:nvCxnSpPr>
        <p:spPr bwMode="gray">
          <a:xfrm>
            <a:off x="6901982" y="4541492"/>
            <a:ext cx="140131" cy="48094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4" name="直接连接符 13">
            <a:extLst>
              <a:ext uri="{FF2B5EF4-FFF2-40B4-BE49-F238E27FC236}">
                <a16:creationId xmlns:a16="http://schemas.microsoft.com/office/drawing/2014/main" id="{5657056B-1D07-43DE-B1CA-DA391074DA61}"/>
              </a:ext>
            </a:extLst>
          </p:cNvPr>
          <p:cNvCxnSpPr>
            <a:cxnSpLocks/>
            <a:endCxn id="8" idx="0"/>
          </p:cNvCxnSpPr>
          <p:nvPr/>
        </p:nvCxnSpPr>
        <p:spPr bwMode="gray">
          <a:xfrm>
            <a:off x="6880065" y="4240114"/>
            <a:ext cx="1278172" cy="77508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5" name="直接连接符 14">
            <a:extLst>
              <a:ext uri="{FF2B5EF4-FFF2-40B4-BE49-F238E27FC236}">
                <a16:creationId xmlns:a16="http://schemas.microsoft.com/office/drawing/2014/main" id="{32F0759B-77D1-4B98-A685-1F4ECC482DCC}"/>
              </a:ext>
            </a:extLst>
          </p:cNvPr>
          <p:cNvCxnSpPr>
            <a:cxnSpLocks/>
            <a:endCxn id="9" idx="0"/>
          </p:cNvCxnSpPr>
          <p:nvPr/>
        </p:nvCxnSpPr>
        <p:spPr bwMode="gray">
          <a:xfrm>
            <a:off x="7365219" y="4340742"/>
            <a:ext cx="1981150" cy="674452"/>
          </a:xfrm>
          <a:prstGeom prst="line">
            <a:avLst/>
          </a:prstGeom>
          <a:solidFill>
            <a:schemeClr val="accent1"/>
          </a:solidFill>
          <a:ln w="9525" cap="flat" cmpd="sng" algn="ctr">
            <a:solidFill>
              <a:schemeClr val="tx1"/>
            </a:solidFill>
            <a:prstDash val="solid"/>
            <a:round/>
            <a:headEnd type="none" w="med" len="med"/>
            <a:tailEnd type="none" w="med" len="med"/>
          </a:ln>
          <a:effectLst/>
        </p:spPr>
      </p:cxnSp>
      <p:pic>
        <p:nvPicPr>
          <p:cNvPr id="17" name="图片 16" descr="大型网管-蓝.png">
            <a:extLst>
              <a:ext uri="{FF2B5EF4-FFF2-40B4-BE49-F238E27FC236}">
                <a16:creationId xmlns:a16="http://schemas.microsoft.com/office/drawing/2014/main" id="{3D01FC9A-DC5A-4B6D-AA47-1538B972AB53}"/>
              </a:ext>
            </a:extLst>
          </p:cNvPr>
          <p:cNvPicPr>
            <a:picLocks noChangeAspect="1"/>
          </p:cNvPicPr>
          <p:nvPr/>
        </p:nvPicPr>
        <p:blipFill>
          <a:blip r:embed="rId4" cstate="print"/>
          <a:stretch>
            <a:fillRect/>
          </a:stretch>
        </p:blipFill>
        <p:spPr bwMode="gray">
          <a:xfrm>
            <a:off x="6123981" y="2308035"/>
            <a:ext cx="540000" cy="441818"/>
          </a:xfrm>
          <a:prstGeom prst="rect">
            <a:avLst/>
          </a:prstGeom>
        </p:spPr>
      </p:pic>
      <p:sp>
        <p:nvSpPr>
          <p:cNvPr id="19" name="文本框 18">
            <a:extLst>
              <a:ext uri="{FF2B5EF4-FFF2-40B4-BE49-F238E27FC236}">
                <a16:creationId xmlns:a16="http://schemas.microsoft.com/office/drawing/2014/main" id="{17838E36-8EF2-4CD4-B6DF-5F0FE2A8114D}"/>
              </a:ext>
            </a:extLst>
          </p:cNvPr>
          <p:cNvSpPr txBox="1"/>
          <p:nvPr/>
        </p:nvSpPr>
        <p:spPr bwMode="gray">
          <a:xfrm>
            <a:off x="6015185" y="2772694"/>
            <a:ext cx="895464"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管理平台</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文本框 19">
            <a:extLst>
              <a:ext uri="{FF2B5EF4-FFF2-40B4-BE49-F238E27FC236}">
                <a16:creationId xmlns:a16="http://schemas.microsoft.com/office/drawing/2014/main" id="{662545B8-2A5B-4B55-9425-045C4FA43D4C}"/>
              </a:ext>
            </a:extLst>
          </p:cNvPr>
          <p:cNvSpPr txBox="1"/>
          <p:nvPr/>
        </p:nvSpPr>
        <p:spPr bwMode="gray">
          <a:xfrm>
            <a:off x="7060085" y="2772694"/>
            <a:ext cx="1079810"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SDN</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控制器</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1" name="组合 20">
            <a:extLst>
              <a:ext uri="{FF2B5EF4-FFF2-40B4-BE49-F238E27FC236}">
                <a16:creationId xmlns:a16="http://schemas.microsoft.com/office/drawing/2014/main" id="{6BAAC384-9D73-4F6C-BAEC-93C55F9E93E2}"/>
              </a:ext>
            </a:extLst>
          </p:cNvPr>
          <p:cNvGrpSpPr/>
          <p:nvPr/>
        </p:nvGrpSpPr>
        <p:grpSpPr bwMode="gray">
          <a:xfrm>
            <a:off x="6574031" y="3608772"/>
            <a:ext cx="612068" cy="301651"/>
            <a:chOff x="5762452" y="3789834"/>
            <a:chExt cx="612068" cy="396044"/>
          </a:xfrm>
        </p:grpSpPr>
        <p:sp>
          <p:nvSpPr>
            <p:cNvPr id="25" name="箭头: 下 24">
              <a:extLst>
                <a:ext uri="{FF2B5EF4-FFF2-40B4-BE49-F238E27FC236}">
                  <a16:creationId xmlns:a16="http://schemas.microsoft.com/office/drawing/2014/main" id="{E1D76A44-4712-4A52-B845-9A5CC97311F6}"/>
                </a:ext>
              </a:extLst>
            </p:cNvPr>
            <p:cNvSpPr/>
            <p:nvPr/>
          </p:nvSpPr>
          <p:spPr bwMode="gray">
            <a:xfrm>
              <a:off x="5762452" y="3825838"/>
              <a:ext cx="216024" cy="360040"/>
            </a:xfrm>
            <a:prstGeom prst="downArrow">
              <a:avLst/>
            </a:prstGeom>
            <a:solidFill>
              <a:srgbClr val="00B0F0"/>
            </a:solidFill>
            <a:ln w="9525" cap="flat" cmpd="sng" algn="ctr">
              <a:solidFill>
                <a:srgbClr val="00B0F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箭头: 上 25">
              <a:extLst>
                <a:ext uri="{FF2B5EF4-FFF2-40B4-BE49-F238E27FC236}">
                  <a16:creationId xmlns:a16="http://schemas.microsoft.com/office/drawing/2014/main" id="{F26C38D1-D34C-4C14-992B-3C1BCF94EE49}"/>
                </a:ext>
              </a:extLst>
            </p:cNvPr>
            <p:cNvSpPr/>
            <p:nvPr/>
          </p:nvSpPr>
          <p:spPr bwMode="gray">
            <a:xfrm>
              <a:off x="6158496" y="3789834"/>
              <a:ext cx="216024" cy="360040"/>
            </a:xfrm>
            <a:prstGeom prst="upArrow">
              <a:avLst/>
            </a:prstGeom>
            <a:solidFill>
              <a:srgbClr val="FFC000"/>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4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22" name="直接连接符 21">
            <a:extLst>
              <a:ext uri="{FF2B5EF4-FFF2-40B4-BE49-F238E27FC236}">
                <a16:creationId xmlns:a16="http://schemas.microsoft.com/office/drawing/2014/main" id="{5C06ADFC-C405-4E72-BC0D-A53734D39A9E}"/>
              </a:ext>
            </a:extLst>
          </p:cNvPr>
          <p:cNvCxnSpPr>
            <a:cxnSpLocks/>
            <a:stCxn id="28" idx="1"/>
            <a:endCxn id="29" idx="0"/>
          </p:cNvCxnSpPr>
          <p:nvPr/>
        </p:nvCxnSpPr>
        <p:spPr bwMode="gray">
          <a:xfrm flipH="1">
            <a:off x="5385899" y="4236624"/>
            <a:ext cx="1096680" cy="72357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3" name="矩形: 圆角 27">
            <a:extLst>
              <a:ext uri="{FF2B5EF4-FFF2-40B4-BE49-F238E27FC236}">
                <a16:creationId xmlns:a16="http://schemas.microsoft.com/office/drawing/2014/main" id="{2ED1B6ED-B5C0-48B4-8B67-35A3D99FB448}"/>
              </a:ext>
            </a:extLst>
          </p:cNvPr>
          <p:cNvSpPr/>
          <p:nvPr/>
        </p:nvSpPr>
        <p:spPr bwMode="gray">
          <a:xfrm>
            <a:off x="6249844" y="3227661"/>
            <a:ext cx="1392177" cy="331897"/>
          </a:xfrm>
          <a:prstGeom prst="roundRect">
            <a:avLst/>
          </a:prstGeom>
          <a:solidFill>
            <a:srgbClr val="FEEEC1"/>
          </a:solidFill>
          <a:ln w="9525" cap="flat" cmpd="sng" algn="ctr">
            <a:solidFill>
              <a:srgbClr val="CBCBCB"/>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NETCONF Client</a:t>
            </a:r>
            <a:endParaRPr kumimoji="0" lang="zh-CN" altLang="en-US" sz="12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文本框 23">
            <a:extLst>
              <a:ext uri="{FF2B5EF4-FFF2-40B4-BE49-F238E27FC236}">
                <a16:creationId xmlns:a16="http://schemas.microsoft.com/office/drawing/2014/main" id="{DEA6771D-E4B2-45D2-A576-238A3B4842A4}"/>
              </a:ext>
            </a:extLst>
          </p:cNvPr>
          <p:cNvSpPr txBox="1"/>
          <p:nvPr/>
        </p:nvSpPr>
        <p:spPr bwMode="gray">
          <a:xfrm>
            <a:off x="5326536" y="4008732"/>
            <a:ext cx="1156043" cy="30410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NETCONF</a:t>
            </a:r>
            <a:endPar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2" name="图片 3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6845728" y="2447663"/>
            <a:ext cx="1346845" cy="248394"/>
          </a:xfrm>
          <a:prstGeom prst="rect">
            <a:avLst/>
          </a:prstGeom>
        </p:spPr>
      </p:pic>
      <p:sp>
        <p:nvSpPr>
          <p:cNvPr id="34" name="五边形 33"/>
          <p:cNvSpPr/>
          <p:nvPr/>
        </p:nvSpPr>
        <p:spPr bwMode="auto">
          <a:xfrm>
            <a:off x="6179960" y="98481"/>
            <a:ext cx="94884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以太网交换</a:t>
            </a:r>
          </a:p>
        </p:txBody>
      </p:sp>
      <p:sp>
        <p:nvSpPr>
          <p:cNvPr id="36" name="燕尾形 35"/>
          <p:cNvSpPr/>
          <p:nvPr/>
        </p:nvSpPr>
        <p:spPr bwMode="auto">
          <a:xfrm>
            <a:off x="7049907" y="98481"/>
            <a:ext cx="678521"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燕尾形 36"/>
          <p:cNvSpPr/>
          <p:nvPr/>
        </p:nvSpPr>
        <p:spPr bwMode="auto">
          <a:xfrm>
            <a:off x="7649535" y="98481"/>
            <a:ext cx="87595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无线接入</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燕尾形 37"/>
          <p:cNvSpPr/>
          <p:nvPr/>
        </p:nvSpPr>
        <p:spPr bwMode="auto">
          <a:xfrm>
            <a:off x="8446601"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可靠性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燕尾形 38"/>
          <p:cNvSpPr/>
          <p:nvPr/>
        </p:nvSpPr>
        <p:spPr bwMode="auto">
          <a:xfrm>
            <a:off x="9148908" y="98481"/>
            <a:ext cx="87048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网络安全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燕尾形 39"/>
          <p:cNvSpPr/>
          <p:nvPr/>
        </p:nvSpPr>
        <p:spPr bwMode="auto">
          <a:xfrm>
            <a:off x="9940504" y="98481"/>
            <a:ext cx="1304004"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网络服务与管理</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燕尾形 40"/>
          <p:cNvSpPr/>
          <p:nvPr/>
        </p:nvSpPr>
        <p:spPr bwMode="auto">
          <a:xfrm>
            <a:off x="11165613" y="98481"/>
            <a:ext cx="583475"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出口</a:t>
            </a:r>
          </a:p>
        </p:txBody>
      </p:sp>
      <p:grpSp>
        <p:nvGrpSpPr>
          <p:cNvPr id="16" name="组合 15">
            <a:extLst>
              <a:ext uri="{FF2B5EF4-FFF2-40B4-BE49-F238E27FC236}">
                <a16:creationId xmlns:a16="http://schemas.microsoft.com/office/drawing/2014/main" id="{393A3EE3-84A3-4902-8A4D-8EC4891B6551}"/>
              </a:ext>
            </a:extLst>
          </p:cNvPr>
          <p:cNvGrpSpPr/>
          <p:nvPr/>
        </p:nvGrpSpPr>
        <p:grpSpPr bwMode="gray">
          <a:xfrm>
            <a:off x="6397926" y="3908491"/>
            <a:ext cx="1008112" cy="633001"/>
            <a:chOff x="8508268" y="3933056"/>
            <a:chExt cx="1008112" cy="633001"/>
          </a:xfrm>
        </p:grpSpPr>
        <p:pic>
          <p:nvPicPr>
            <p:cNvPr id="27" name="图片 26">
              <a:extLst>
                <a:ext uri="{FF2B5EF4-FFF2-40B4-BE49-F238E27FC236}">
                  <a16:creationId xmlns:a16="http://schemas.microsoft.com/office/drawing/2014/main" id="{67C950FE-ADFC-4D2F-8A8A-5175539FB53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8508268" y="3933056"/>
              <a:ext cx="1008112" cy="633001"/>
            </a:xfrm>
            <a:prstGeom prst="rect">
              <a:avLst/>
            </a:prstGeom>
            <a:noFill/>
            <a:ln>
              <a:noFill/>
            </a:ln>
          </p:spPr>
        </p:pic>
        <p:sp>
          <p:nvSpPr>
            <p:cNvPr id="28" name="文本框 27">
              <a:extLst>
                <a:ext uri="{FF2B5EF4-FFF2-40B4-BE49-F238E27FC236}">
                  <a16:creationId xmlns:a16="http://schemas.microsoft.com/office/drawing/2014/main" id="{44B50A1F-28B7-4040-9B0B-5D18D62F76FE}"/>
                </a:ext>
              </a:extLst>
            </p:cNvPr>
            <p:cNvSpPr txBox="1"/>
            <p:nvPr/>
          </p:nvSpPr>
          <p:spPr bwMode="gray">
            <a:xfrm>
              <a:off x="8592921" y="4109137"/>
              <a:ext cx="882640"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Network</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11350051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Huawei Sans" panose="020C0503030203020204" pitchFamily="34" charset="0"/>
              </a:rPr>
              <a:t>NETCONF</a:t>
            </a:r>
            <a:r>
              <a:rPr lang="zh-CN" altLang="en-US">
                <a:sym typeface="Huawei Sans" panose="020C0503030203020204" pitchFamily="34" charset="0"/>
              </a:rPr>
              <a:t>基本操作</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a:xfrm>
            <a:off x="455612" y="1047751"/>
            <a:ext cx="11293475" cy="501650"/>
          </a:xfrm>
        </p:spPr>
        <p:txBody>
          <a:bodyPr/>
          <a:lstStyle/>
          <a:p>
            <a:r>
              <a:rPr lang="en-US" altLang="zh-CN" sz="2000" dirty="0">
                <a:sym typeface="Huawei Sans" panose="020C0503030203020204" pitchFamily="34" charset="0"/>
              </a:rPr>
              <a:t>NETCONF</a:t>
            </a:r>
            <a:r>
              <a:rPr lang="zh-CN" altLang="en-US" sz="2000" dirty="0">
                <a:sym typeface="Huawei Sans" panose="020C0503030203020204" pitchFamily="34" charset="0"/>
              </a:rPr>
              <a:t>定义了一系列操作：</a:t>
            </a:r>
          </a:p>
        </p:txBody>
      </p:sp>
      <p:graphicFrame>
        <p:nvGraphicFramePr>
          <p:cNvPr id="5" name="表格 4"/>
          <p:cNvGraphicFramePr>
            <a:graphicFrameLocks noGrp="1"/>
          </p:cNvGraphicFramePr>
          <p:nvPr>
            <p:extLst>
              <p:ext uri="{D42A27DB-BD31-4B8C-83A1-F6EECF244321}">
                <p14:modId xmlns:p14="http://schemas.microsoft.com/office/powerpoint/2010/main" val="2940245990"/>
              </p:ext>
            </p:extLst>
          </p:nvPr>
        </p:nvGraphicFramePr>
        <p:xfrm>
          <a:off x="1271587" y="1617522"/>
          <a:ext cx="9648826" cy="4476601"/>
        </p:xfrm>
        <a:graphic>
          <a:graphicData uri="http://schemas.openxmlformats.org/drawingml/2006/table">
            <a:tbl>
              <a:tblPr firstRow="1" bandRow="1">
                <a:tableStyleId>{72833802-FEF1-4C79-8D5D-14CF1EAF98D9}</a:tableStyleId>
              </a:tblPr>
              <a:tblGrid>
                <a:gridCol w="1847851">
                  <a:extLst>
                    <a:ext uri="{9D8B030D-6E8A-4147-A177-3AD203B41FA5}">
                      <a16:colId xmlns:a16="http://schemas.microsoft.com/office/drawing/2014/main" val="20000"/>
                    </a:ext>
                  </a:extLst>
                </a:gridCol>
                <a:gridCol w="2000250">
                  <a:extLst>
                    <a:ext uri="{9D8B030D-6E8A-4147-A177-3AD203B41FA5}">
                      <a16:colId xmlns:a16="http://schemas.microsoft.com/office/drawing/2014/main" val="20001"/>
                    </a:ext>
                  </a:extLst>
                </a:gridCol>
                <a:gridCol w="5800725">
                  <a:extLst>
                    <a:ext uri="{9D8B030D-6E8A-4147-A177-3AD203B41FA5}">
                      <a16:colId xmlns:a16="http://schemas.microsoft.com/office/drawing/2014/main" val="20002"/>
                    </a:ext>
                  </a:extLst>
                </a:gridCol>
              </a:tblGrid>
              <a:tr h="290980">
                <a:tc>
                  <a:txBody>
                    <a:bodyPr/>
                    <a:lstStyle/>
                    <a:p>
                      <a:pPr algn="ctr"/>
                      <a:r>
                        <a:rPr lang="zh-CN" altLang="en-US" sz="16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场景分类</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6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操作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6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功能描述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17302">
                <a:tc rowSpan="2">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查询数据</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&lt;get-</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config</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&gt;</a:t>
                      </a:r>
                      <a:endParaRPr lang="zh-CN" altLang="en-US" sz="1400" b="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查询配置数据。</a:t>
                      </a:r>
                      <a:endParaRPr lang="zh-CN" altLang="en-US" sz="1400" b="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17302">
                <a:tc vMerge="1">
                  <a:txBody>
                    <a:bodyPr/>
                    <a:lstStyle/>
                    <a:p>
                      <a:endParaRPr lang="zh-CN" altLang="en-US" dirty="0"/>
                    </a:p>
                  </a:txBody>
                  <a:tcPr marL="45720" marR="4572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&lt;get&gt;</a:t>
                      </a:r>
                      <a:endParaRPr lang="zh-CN" altLang="en-US" sz="1400" b="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查询设备当前运行的配置和状态数据。</a:t>
                      </a:r>
                      <a:endParaRPr lang="zh-CN" altLang="en-US" sz="1400" b="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17302">
                <a:tc>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编辑数据</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&lt;edit-config&gt; </a:t>
                      </a:r>
                      <a:endParaRPr lang="zh-CN" altLang="en-US" sz="1400" b="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修改，创建，删除配置数据。</a:t>
                      </a:r>
                      <a:endParaRPr lang="zh-CN" altLang="en-US" sz="1400" b="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17302">
                <a:tc rowSpan="2">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备份</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恢复</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&lt;copy-</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config</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&gt; </a:t>
                      </a:r>
                      <a:endParaRPr lang="zh-CN" altLang="en-US" sz="1400" b="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导出配置，或用一套配置数据整体替换另一套配置数据。</a:t>
                      </a:r>
                      <a:endParaRPr lang="zh-CN" altLang="en-US" sz="1400" b="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17302">
                <a:tc vMerge="1">
                  <a:txBody>
                    <a:bodyPr/>
                    <a:lstStyle/>
                    <a:p>
                      <a:endParaRPr lang="zh-CN" altLang="en-US" dirty="0"/>
                    </a:p>
                  </a:txBody>
                  <a:tcPr marL="45720" marR="4572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&lt;delete-</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config</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&gt;</a:t>
                      </a:r>
                      <a:endParaRPr lang="zh-CN" altLang="en-US" sz="1400" b="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删除配置数据集，清空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startup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b="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17302">
                <a:tc rowSpan="2">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锁定</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解锁</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&lt;lock&gt; </a:t>
                      </a:r>
                      <a:endParaRPr lang="zh-CN" altLang="en-US" sz="1400" b="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加锁，独占配置数据集的修改权。</a:t>
                      </a:r>
                      <a:endParaRPr lang="zh-CN" altLang="en-US" sz="1400" b="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17302">
                <a:tc vMerge="1">
                  <a:txBody>
                    <a:bodyPr/>
                    <a:lstStyle/>
                    <a:p>
                      <a:endParaRPr lang="zh-CN" altLang="en-US" dirty="0"/>
                    </a:p>
                  </a:txBody>
                  <a:tcPr marL="45720" marR="4572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&lt;unlock&gt; </a:t>
                      </a:r>
                      <a:endParaRPr lang="zh-CN" altLang="en-US" sz="1400" b="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解锁，放弃对配置数据集修改权的独占。</a:t>
                      </a:r>
                      <a:endParaRPr lang="zh-CN" altLang="en-US" sz="1400" b="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33697">
                <a:tc rowSpan="4">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事务操作</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&lt;commit&gt;</a:t>
                      </a:r>
                      <a:endParaRPr lang="zh-CN" altLang="en-US" sz="1400" b="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400" b="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提交</a:t>
                      </a:r>
                      <a:r>
                        <a:rPr lang="en-US" altLang="zh-CN" sz="1400" b="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&lt;candidate&gt;</a:t>
                      </a:r>
                      <a:r>
                        <a:rPr lang="zh-CN" altLang="en-US" sz="1400" b="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数据集中的配置数据成为当前运行的配置数据。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317302">
                <a:tc vMerge="1">
                  <a:txBody>
                    <a:bodyPr/>
                    <a:lstStyle/>
                    <a:p>
                      <a:endParaRPr lang="zh-CN" altLang="en-US" dirty="0"/>
                    </a:p>
                  </a:txBody>
                  <a:tcPr marL="45720" marR="4572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b="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&lt;cancel-commit&gt;</a:t>
                      </a:r>
                      <a:endParaRPr lang="zh-CN" altLang="en-US" sz="1400" b="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400" b="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放弃配置提交试运行。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317302">
                <a:tc vMerge="1">
                  <a:txBody>
                    <a:bodyPr/>
                    <a:lstStyle/>
                    <a:p>
                      <a:endParaRPr lang="zh-CN" altLang="en-US" dirty="0"/>
                    </a:p>
                  </a:txBody>
                  <a:tcPr marL="45720" marR="4572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b="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&lt;discard-changes&gt;</a:t>
                      </a:r>
                      <a:endParaRPr lang="zh-CN" altLang="en-US" sz="1400" b="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400" b="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放弃</a:t>
                      </a:r>
                      <a:r>
                        <a:rPr lang="en-US" altLang="zh-CN" sz="1400" b="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&lt;candidate&gt;</a:t>
                      </a:r>
                      <a:r>
                        <a:rPr lang="zh-CN" altLang="en-US" sz="1400" b="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中还未提交的配置数据。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317302">
                <a:tc vMerge="1">
                  <a:txBody>
                    <a:bodyPr/>
                    <a:lstStyle/>
                    <a:p>
                      <a:endParaRPr lang="zh-CN" altLang="en-US" dirty="0"/>
                    </a:p>
                  </a:txBody>
                  <a:tcPr marL="45720" marR="4572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b="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&lt;validate&gt;</a:t>
                      </a:r>
                      <a:endParaRPr lang="zh-CN" altLang="en-US" sz="1400" b="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400" b="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检查指定配置数据的语法语义是否正确。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317302">
                <a:tc rowSpan="2">
                  <a:txBody>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会话操作</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&lt;close-session&gt; </a:t>
                      </a:r>
                      <a:endParaRPr lang="zh-CN" altLang="en-US" sz="1400" b="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400" kern="1200" dirty="0">
                          <a:solidFill>
                            <a:schemeClr val="dk1"/>
                          </a:solidFill>
                          <a:latin typeface="Huawei Sans" panose="020C0503030203020204" pitchFamily="34" charset="0"/>
                          <a:ea typeface="方正兰亭黑简体" panose="02000000000000000000" pitchFamily="2" charset="-122"/>
                          <a:cs typeface="+mn-cs"/>
                          <a:sym typeface="Huawei Sans" panose="020C0503030203020204" pitchFamily="34" charset="0"/>
                        </a:rPr>
                        <a:t>正常的结束本</a:t>
                      </a:r>
                      <a:r>
                        <a:rPr lang="en-US" altLang="zh-CN" sz="1400" kern="1200" dirty="0">
                          <a:solidFill>
                            <a:schemeClr val="dk1"/>
                          </a:solidFill>
                          <a:latin typeface="Huawei Sans" panose="020C0503030203020204" pitchFamily="34" charset="0"/>
                          <a:ea typeface="方正兰亭黑简体" panose="02000000000000000000" pitchFamily="2" charset="-122"/>
                          <a:cs typeface="+mn-cs"/>
                          <a:sym typeface="Huawei Sans" panose="020C0503030203020204" pitchFamily="34" charset="0"/>
                        </a:rPr>
                        <a:t>NETCONF</a:t>
                      </a:r>
                      <a:r>
                        <a:rPr lang="zh-CN" altLang="en-US" sz="1400" kern="1200" dirty="0">
                          <a:solidFill>
                            <a:schemeClr val="dk1"/>
                          </a:solidFill>
                          <a:latin typeface="Huawei Sans" panose="020C0503030203020204" pitchFamily="34" charset="0"/>
                          <a:ea typeface="方正兰亭黑简体" panose="02000000000000000000" pitchFamily="2" charset="-122"/>
                          <a:cs typeface="+mn-cs"/>
                          <a:sym typeface="Huawei Sans" panose="020C0503030203020204" pitchFamily="34" charset="0"/>
                        </a:rPr>
                        <a:t>会话。</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317302">
                <a:tc vMerge="1">
                  <a:txBody>
                    <a:bodyPr/>
                    <a:lstStyle/>
                    <a:p>
                      <a:endParaRPr lang="zh-CN" altLang="en-US" dirty="0"/>
                    </a:p>
                  </a:txBody>
                  <a:tcPr marL="45720" marR="4572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&lt;kill-session&gt; </a:t>
                      </a:r>
                      <a:endParaRPr lang="zh-CN" altLang="en-US" sz="1400" b="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400" kern="1200" dirty="0">
                          <a:solidFill>
                            <a:schemeClr val="dk1"/>
                          </a:solidFill>
                          <a:latin typeface="Huawei Sans" panose="020C0503030203020204" pitchFamily="34" charset="0"/>
                          <a:ea typeface="方正兰亭黑简体" panose="02000000000000000000" pitchFamily="2" charset="-122"/>
                          <a:cs typeface="+mn-cs"/>
                          <a:sym typeface="Huawei Sans" panose="020C0503030203020204" pitchFamily="34" charset="0"/>
                        </a:rPr>
                        <a:t>强制结束其他的</a:t>
                      </a:r>
                      <a:r>
                        <a:rPr lang="en-US" altLang="zh-CN" sz="1400" kern="1200" dirty="0">
                          <a:solidFill>
                            <a:schemeClr val="dk1"/>
                          </a:solidFill>
                          <a:latin typeface="Huawei Sans" panose="020C0503030203020204" pitchFamily="34" charset="0"/>
                          <a:ea typeface="方正兰亭黑简体" panose="02000000000000000000" pitchFamily="2" charset="-122"/>
                          <a:cs typeface="+mn-cs"/>
                          <a:sym typeface="Huawei Sans" panose="020C0503030203020204" pitchFamily="34" charset="0"/>
                        </a:rPr>
                        <a:t>NETCONF</a:t>
                      </a:r>
                      <a:r>
                        <a:rPr lang="zh-CN" altLang="en-US" sz="1400" kern="1200" dirty="0">
                          <a:solidFill>
                            <a:schemeClr val="dk1"/>
                          </a:solidFill>
                          <a:latin typeface="Huawei Sans" panose="020C0503030203020204" pitchFamily="34" charset="0"/>
                          <a:ea typeface="方正兰亭黑简体" panose="02000000000000000000" pitchFamily="2" charset="-122"/>
                          <a:cs typeface="+mn-cs"/>
                          <a:sym typeface="Huawei Sans" panose="020C0503030203020204" pitchFamily="34" charset="0"/>
                        </a:rPr>
                        <a:t>会话，需管理员权限。</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
        <p:nvSpPr>
          <p:cNvPr id="6" name="五边形 5"/>
          <p:cNvSpPr/>
          <p:nvPr/>
        </p:nvSpPr>
        <p:spPr bwMode="auto">
          <a:xfrm>
            <a:off x="6179960" y="98481"/>
            <a:ext cx="94884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以太网交换</a:t>
            </a:r>
          </a:p>
        </p:txBody>
      </p:sp>
      <p:sp>
        <p:nvSpPr>
          <p:cNvPr id="7" name="燕尾形 6"/>
          <p:cNvSpPr/>
          <p:nvPr/>
        </p:nvSpPr>
        <p:spPr bwMode="auto">
          <a:xfrm>
            <a:off x="7049907" y="98481"/>
            <a:ext cx="678521"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燕尾形 7"/>
          <p:cNvSpPr/>
          <p:nvPr/>
        </p:nvSpPr>
        <p:spPr bwMode="auto">
          <a:xfrm>
            <a:off x="7649535" y="98481"/>
            <a:ext cx="87595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无线接入</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燕尾形 8"/>
          <p:cNvSpPr/>
          <p:nvPr/>
        </p:nvSpPr>
        <p:spPr bwMode="auto">
          <a:xfrm>
            <a:off x="8446601"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可靠性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燕尾形 9"/>
          <p:cNvSpPr/>
          <p:nvPr/>
        </p:nvSpPr>
        <p:spPr bwMode="auto">
          <a:xfrm>
            <a:off x="9148908" y="98481"/>
            <a:ext cx="87048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网络安全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燕尾形 10"/>
          <p:cNvSpPr/>
          <p:nvPr/>
        </p:nvSpPr>
        <p:spPr bwMode="auto">
          <a:xfrm>
            <a:off x="9940504" y="98481"/>
            <a:ext cx="1304004"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网络服务与管理</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燕尾形 11"/>
          <p:cNvSpPr/>
          <p:nvPr/>
        </p:nvSpPr>
        <p:spPr bwMode="auto">
          <a:xfrm>
            <a:off x="11165613" y="98481"/>
            <a:ext cx="583475"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出口</a:t>
            </a:r>
          </a:p>
        </p:txBody>
      </p:sp>
    </p:spTree>
    <p:extLst>
      <p:ext uri="{BB962C8B-B14F-4D97-AF65-F5344CB8AC3E}">
        <p14:creationId xmlns:p14="http://schemas.microsoft.com/office/powerpoint/2010/main" val="5068705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Huawei Sans" panose="020C0503030203020204" pitchFamily="34" charset="0"/>
              </a:rPr>
              <a:t>LLDP</a:t>
            </a:r>
            <a:endParaRPr lang="zh-CN" altLang="en-US" dirty="0">
              <a:sym typeface="Huawei Sans" panose="020C0503030203020204" pitchFamily="34" charset="0"/>
            </a:endParaRPr>
          </a:p>
        </p:txBody>
      </p:sp>
      <p:sp>
        <p:nvSpPr>
          <p:cNvPr id="3" name="Freeform 3"/>
          <p:cNvSpPr>
            <a:spLocks/>
          </p:cNvSpPr>
          <p:nvPr/>
        </p:nvSpPr>
        <p:spPr bwMode="gray">
          <a:xfrm>
            <a:off x="5894257" y="2305187"/>
            <a:ext cx="2698494" cy="1905767"/>
          </a:xfrm>
          <a:custGeom>
            <a:avLst/>
            <a:gdLst>
              <a:gd name="T0" fmla="*/ 0 w 5016"/>
              <a:gd name="T1" fmla="*/ 2147483647 h 2256"/>
              <a:gd name="T2" fmla="*/ 2147483647 w 5016"/>
              <a:gd name="T3" fmla="*/ 2147483647 h 2256"/>
              <a:gd name="T4" fmla="*/ 2147483647 w 5016"/>
              <a:gd name="T5" fmla="*/ 2147483647 h 2256"/>
              <a:gd name="T6" fmla="*/ 2147483647 w 5016"/>
              <a:gd name="T7" fmla="*/ 2147483647 h 2256"/>
              <a:gd name="T8" fmla="*/ 2147483647 w 5016"/>
              <a:gd name="T9" fmla="*/ 2147483647 h 2256"/>
              <a:gd name="T10" fmla="*/ 2147483647 w 5016"/>
              <a:gd name="T11" fmla="*/ 2147483647 h 2256"/>
              <a:gd name="T12" fmla="*/ 2147483647 w 5016"/>
              <a:gd name="T13" fmla="*/ 2147483647 h 2256"/>
              <a:gd name="T14" fmla="*/ 2147483647 w 5016"/>
              <a:gd name="T15" fmla="*/ 2147483647 h 2256"/>
              <a:gd name="T16" fmla="*/ 2147483647 w 5016"/>
              <a:gd name="T17" fmla="*/ 2147483647 h 2256"/>
              <a:gd name="T18" fmla="*/ 2147483647 w 5016"/>
              <a:gd name="T19" fmla="*/ 0 h 2256"/>
              <a:gd name="T20" fmla="*/ 2147483647 w 5016"/>
              <a:gd name="T21" fmla="*/ 2147483647 h 2256"/>
              <a:gd name="T22" fmla="*/ 2147483647 w 5016"/>
              <a:gd name="T23" fmla="*/ 2147483647 h 2256"/>
              <a:gd name="T24" fmla="*/ 2147483647 w 5016"/>
              <a:gd name="T25" fmla="*/ 2147483647 h 2256"/>
              <a:gd name="T26" fmla="*/ 2147483647 w 5016"/>
              <a:gd name="T27" fmla="*/ 2147483647 h 2256"/>
              <a:gd name="T28" fmla="*/ 2147483647 w 5016"/>
              <a:gd name="T29" fmla="*/ 2147483647 h 2256"/>
              <a:gd name="T30" fmla="*/ 2147483647 w 5016"/>
              <a:gd name="T31" fmla="*/ 2147483647 h 2256"/>
              <a:gd name="T32" fmla="*/ 2147483647 w 5016"/>
              <a:gd name="T33" fmla="*/ 2147483647 h 2256"/>
              <a:gd name="T34" fmla="*/ 2147483647 w 5016"/>
              <a:gd name="T35" fmla="*/ 2147483647 h 2256"/>
              <a:gd name="T36" fmla="*/ 2147483647 w 5016"/>
              <a:gd name="T37" fmla="*/ 2147483647 h 2256"/>
              <a:gd name="T38" fmla="*/ 0 w 5016"/>
              <a:gd name="T39" fmla="*/ 2147483647 h 225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016"/>
              <a:gd name="T61" fmla="*/ 0 h 2256"/>
              <a:gd name="T62" fmla="*/ 5016 w 5016"/>
              <a:gd name="T63" fmla="*/ 2256 h 2256"/>
              <a:gd name="connsiteX0" fmla="*/ 0 w 10000"/>
              <a:gd name="connsiteY0" fmla="*/ 9929 h 9953"/>
              <a:gd name="connsiteX1" fmla="*/ 2237 w 10000"/>
              <a:gd name="connsiteY1" fmla="*/ 3112 h 9953"/>
              <a:gd name="connsiteX2" fmla="*/ 1938 w 10000"/>
              <a:gd name="connsiteY2" fmla="*/ 3298 h 9953"/>
              <a:gd name="connsiteX3" fmla="*/ 2273 w 10000"/>
              <a:gd name="connsiteY3" fmla="*/ 1941 h 9953"/>
              <a:gd name="connsiteX4" fmla="*/ 2835 w 10000"/>
              <a:gd name="connsiteY4" fmla="*/ 2846 h 9953"/>
              <a:gd name="connsiteX5" fmla="*/ 2536 w 10000"/>
              <a:gd name="connsiteY5" fmla="*/ 2979 h 9953"/>
              <a:gd name="connsiteX6" fmla="*/ 3923 w 10000"/>
              <a:gd name="connsiteY6" fmla="*/ 4891 h 9953"/>
              <a:gd name="connsiteX7" fmla="*/ 4916 w 10000"/>
              <a:gd name="connsiteY7" fmla="*/ 1410 h 9953"/>
              <a:gd name="connsiteX8" fmla="*/ 4545 w 10000"/>
              <a:gd name="connsiteY8" fmla="*/ 1410 h 9953"/>
              <a:gd name="connsiteX9" fmla="*/ 5179 w 10000"/>
              <a:gd name="connsiteY9" fmla="*/ 0 h 9953"/>
              <a:gd name="connsiteX10" fmla="*/ 5778 w 10000"/>
              <a:gd name="connsiteY10" fmla="*/ 1463 h 9953"/>
              <a:gd name="connsiteX11" fmla="*/ 5431 w 10000"/>
              <a:gd name="connsiteY11" fmla="*/ 1436 h 9953"/>
              <a:gd name="connsiteX12" fmla="*/ 6400 w 10000"/>
              <a:gd name="connsiteY12" fmla="*/ 5771 h 9953"/>
              <a:gd name="connsiteX13" fmla="*/ 7715 w 10000"/>
              <a:gd name="connsiteY13" fmla="*/ 2899 h 9953"/>
              <a:gd name="connsiteX14" fmla="*/ 7380 w 10000"/>
              <a:gd name="connsiteY14" fmla="*/ 2846 h 9953"/>
              <a:gd name="connsiteX15" fmla="*/ 7943 w 10000"/>
              <a:gd name="connsiteY15" fmla="*/ 1862 h 9953"/>
              <a:gd name="connsiteX16" fmla="*/ 8337 w 10000"/>
              <a:gd name="connsiteY16" fmla="*/ 3005 h 9953"/>
              <a:gd name="connsiteX17" fmla="*/ 8026 w 10000"/>
              <a:gd name="connsiteY17" fmla="*/ 2979 h 9953"/>
              <a:gd name="connsiteX18" fmla="*/ 10000 w 10000"/>
              <a:gd name="connsiteY18" fmla="*/ 9863 h 9953"/>
              <a:gd name="connsiteX19" fmla="*/ 0 w 10000"/>
              <a:gd name="connsiteY19" fmla="*/ 9929 h 9953"/>
              <a:gd name="connsiteX0" fmla="*/ 0 w 10000"/>
              <a:gd name="connsiteY0" fmla="*/ 9976 h 10000"/>
              <a:gd name="connsiteX1" fmla="*/ 2237 w 10000"/>
              <a:gd name="connsiteY1" fmla="*/ 3127 h 10000"/>
              <a:gd name="connsiteX2" fmla="*/ 1938 w 10000"/>
              <a:gd name="connsiteY2" fmla="*/ 3314 h 10000"/>
              <a:gd name="connsiteX3" fmla="*/ 2273 w 10000"/>
              <a:gd name="connsiteY3" fmla="*/ 1950 h 10000"/>
              <a:gd name="connsiteX4" fmla="*/ 2835 w 10000"/>
              <a:gd name="connsiteY4" fmla="*/ 2859 h 10000"/>
              <a:gd name="connsiteX5" fmla="*/ 2536 w 10000"/>
              <a:gd name="connsiteY5" fmla="*/ 2993 h 10000"/>
              <a:gd name="connsiteX6" fmla="*/ 3923 w 10000"/>
              <a:gd name="connsiteY6" fmla="*/ 4914 h 10000"/>
              <a:gd name="connsiteX7" fmla="*/ 4916 w 10000"/>
              <a:gd name="connsiteY7" fmla="*/ 1417 h 10000"/>
              <a:gd name="connsiteX8" fmla="*/ 4545 w 10000"/>
              <a:gd name="connsiteY8" fmla="*/ 1417 h 10000"/>
              <a:gd name="connsiteX9" fmla="*/ 5179 w 10000"/>
              <a:gd name="connsiteY9" fmla="*/ 0 h 10000"/>
              <a:gd name="connsiteX10" fmla="*/ 5778 w 10000"/>
              <a:gd name="connsiteY10" fmla="*/ 1470 h 10000"/>
              <a:gd name="connsiteX11" fmla="*/ 5431 w 10000"/>
              <a:gd name="connsiteY11" fmla="*/ 1443 h 10000"/>
              <a:gd name="connsiteX12" fmla="*/ 6462 w 10000"/>
              <a:gd name="connsiteY12" fmla="*/ 5051 h 10000"/>
              <a:gd name="connsiteX13" fmla="*/ 7715 w 10000"/>
              <a:gd name="connsiteY13" fmla="*/ 2913 h 10000"/>
              <a:gd name="connsiteX14" fmla="*/ 7380 w 10000"/>
              <a:gd name="connsiteY14" fmla="*/ 2859 h 10000"/>
              <a:gd name="connsiteX15" fmla="*/ 7943 w 10000"/>
              <a:gd name="connsiteY15" fmla="*/ 1871 h 10000"/>
              <a:gd name="connsiteX16" fmla="*/ 8337 w 10000"/>
              <a:gd name="connsiteY16" fmla="*/ 3019 h 10000"/>
              <a:gd name="connsiteX17" fmla="*/ 8026 w 10000"/>
              <a:gd name="connsiteY17" fmla="*/ 2993 h 10000"/>
              <a:gd name="connsiteX18" fmla="*/ 10000 w 10000"/>
              <a:gd name="connsiteY18" fmla="*/ 9910 h 10000"/>
              <a:gd name="connsiteX19" fmla="*/ 0 w 10000"/>
              <a:gd name="connsiteY19" fmla="*/ 9976 h 10000"/>
              <a:gd name="connsiteX0" fmla="*/ 0 w 10000"/>
              <a:gd name="connsiteY0" fmla="*/ 9976 h 10000"/>
              <a:gd name="connsiteX1" fmla="*/ 2237 w 10000"/>
              <a:gd name="connsiteY1" fmla="*/ 3127 h 10000"/>
              <a:gd name="connsiteX2" fmla="*/ 1938 w 10000"/>
              <a:gd name="connsiteY2" fmla="*/ 3314 h 10000"/>
              <a:gd name="connsiteX3" fmla="*/ 2273 w 10000"/>
              <a:gd name="connsiteY3" fmla="*/ 1950 h 10000"/>
              <a:gd name="connsiteX4" fmla="*/ 2835 w 10000"/>
              <a:gd name="connsiteY4" fmla="*/ 2859 h 10000"/>
              <a:gd name="connsiteX5" fmla="*/ 2536 w 10000"/>
              <a:gd name="connsiteY5" fmla="*/ 2993 h 10000"/>
              <a:gd name="connsiteX6" fmla="*/ 3923 w 10000"/>
              <a:gd name="connsiteY6" fmla="*/ 4914 h 10000"/>
              <a:gd name="connsiteX7" fmla="*/ 4916 w 10000"/>
              <a:gd name="connsiteY7" fmla="*/ 1417 h 10000"/>
              <a:gd name="connsiteX8" fmla="*/ 4545 w 10000"/>
              <a:gd name="connsiteY8" fmla="*/ 1417 h 10000"/>
              <a:gd name="connsiteX9" fmla="*/ 5179 w 10000"/>
              <a:gd name="connsiteY9" fmla="*/ 0 h 10000"/>
              <a:gd name="connsiteX10" fmla="*/ 5778 w 10000"/>
              <a:gd name="connsiteY10" fmla="*/ 1470 h 10000"/>
              <a:gd name="connsiteX11" fmla="*/ 5431 w 10000"/>
              <a:gd name="connsiteY11" fmla="*/ 1443 h 10000"/>
              <a:gd name="connsiteX12" fmla="*/ 6308 w 10000"/>
              <a:gd name="connsiteY12" fmla="*/ 4994 h 10000"/>
              <a:gd name="connsiteX13" fmla="*/ 7715 w 10000"/>
              <a:gd name="connsiteY13" fmla="*/ 2913 h 10000"/>
              <a:gd name="connsiteX14" fmla="*/ 7380 w 10000"/>
              <a:gd name="connsiteY14" fmla="*/ 2859 h 10000"/>
              <a:gd name="connsiteX15" fmla="*/ 7943 w 10000"/>
              <a:gd name="connsiteY15" fmla="*/ 1871 h 10000"/>
              <a:gd name="connsiteX16" fmla="*/ 8337 w 10000"/>
              <a:gd name="connsiteY16" fmla="*/ 3019 h 10000"/>
              <a:gd name="connsiteX17" fmla="*/ 8026 w 10000"/>
              <a:gd name="connsiteY17" fmla="*/ 2993 h 10000"/>
              <a:gd name="connsiteX18" fmla="*/ 10000 w 10000"/>
              <a:gd name="connsiteY18" fmla="*/ 9910 h 10000"/>
              <a:gd name="connsiteX19" fmla="*/ 0 w 10000"/>
              <a:gd name="connsiteY19" fmla="*/ 9976 h 10000"/>
              <a:gd name="connsiteX0" fmla="*/ 0 w 10000"/>
              <a:gd name="connsiteY0" fmla="*/ 9976 h 10000"/>
              <a:gd name="connsiteX1" fmla="*/ 2237 w 10000"/>
              <a:gd name="connsiteY1" fmla="*/ 3127 h 10000"/>
              <a:gd name="connsiteX2" fmla="*/ 1938 w 10000"/>
              <a:gd name="connsiteY2" fmla="*/ 3314 h 10000"/>
              <a:gd name="connsiteX3" fmla="*/ 2273 w 10000"/>
              <a:gd name="connsiteY3" fmla="*/ 1950 h 10000"/>
              <a:gd name="connsiteX4" fmla="*/ 2835 w 10000"/>
              <a:gd name="connsiteY4" fmla="*/ 2859 h 10000"/>
              <a:gd name="connsiteX5" fmla="*/ 2536 w 10000"/>
              <a:gd name="connsiteY5" fmla="*/ 2993 h 10000"/>
              <a:gd name="connsiteX6" fmla="*/ 3923 w 10000"/>
              <a:gd name="connsiteY6" fmla="*/ 4914 h 10000"/>
              <a:gd name="connsiteX7" fmla="*/ 4916 w 10000"/>
              <a:gd name="connsiteY7" fmla="*/ 1417 h 10000"/>
              <a:gd name="connsiteX8" fmla="*/ 4545 w 10000"/>
              <a:gd name="connsiteY8" fmla="*/ 1417 h 10000"/>
              <a:gd name="connsiteX9" fmla="*/ 5179 w 10000"/>
              <a:gd name="connsiteY9" fmla="*/ 0 h 10000"/>
              <a:gd name="connsiteX10" fmla="*/ 5778 w 10000"/>
              <a:gd name="connsiteY10" fmla="*/ 1470 h 10000"/>
              <a:gd name="connsiteX11" fmla="*/ 5431 w 10000"/>
              <a:gd name="connsiteY11" fmla="*/ 1443 h 10000"/>
              <a:gd name="connsiteX12" fmla="*/ 6308 w 10000"/>
              <a:gd name="connsiteY12" fmla="*/ 4994 h 10000"/>
              <a:gd name="connsiteX13" fmla="*/ 7715 w 10000"/>
              <a:gd name="connsiteY13" fmla="*/ 2913 h 10000"/>
              <a:gd name="connsiteX14" fmla="*/ 7380 w 10000"/>
              <a:gd name="connsiteY14" fmla="*/ 2859 h 10000"/>
              <a:gd name="connsiteX15" fmla="*/ 7943 w 10000"/>
              <a:gd name="connsiteY15" fmla="*/ 1871 h 10000"/>
              <a:gd name="connsiteX16" fmla="*/ 8337 w 10000"/>
              <a:gd name="connsiteY16" fmla="*/ 3019 h 10000"/>
              <a:gd name="connsiteX17" fmla="*/ 8026 w 10000"/>
              <a:gd name="connsiteY17" fmla="*/ 2993 h 10000"/>
              <a:gd name="connsiteX18" fmla="*/ 10000 w 10000"/>
              <a:gd name="connsiteY18" fmla="*/ 9910 h 10000"/>
              <a:gd name="connsiteX19" fmla="*/ 0 w 10000"/>
              <a:gd name="connsiteY19" fmla="*/ 9976 h 10000"/>
              <a:gd name="connsiteX0" fmla="*/ 0 w 10000"/>
              <a:gd name="connsiteY0" fmla="*/ 9976 h 10000"/>
              <a:gd name="connsiteX1" fmla="*/ 2237 w 10000"/>
              <a:gd name="connsiteY1" fmla="*/ 3127 h 10000"/>
              <a:gd name="connsiteX2" fmla="*/ 1938 w 10000"/>
              <a:gd name="connsiteY2" fmla="*/ 3314 h 10000"/>
              <a:gd name="connsiteX3" fmla="*/ 2273 w 10000"/>
              <a:gd name="connsiteY3" fmla="*/ 1950 h 10000"/>
              <a:gd name="connsiteX4" fmla="*/ 2835 w 10000"/>
              <a:gd name="connsiteY4" fmla="*/ 2859 h 10000"/>
              <a:gd name="connsiteX5" fmla="*/ 2536 w 10000"/>
              <a:gd name="connsiteY5" fmla="*/ 2993 h 10000"/>
              <a:gd name="connsiteX6" fmla="*/ 3923 w 10000"/>
              <a:gd name="connsiteY6" fmla="*/ 4914 h 10000"/>
              <a:gd name="connsiteX7" fmla="*/ 4916 w 10000"/>
              <a:gd name="connsiteY7" fmla="*/ 1417 h 10000"/>
              <a:gd name="connsiteX8" fmla="*/ 4545 w 10000"/>
              <a:gd name="connsiteY8" fmla="*/ 1417 h 10000"/>
              <a:gd name="connsiteX9" fmla="*/ 5179 w 10000"/>
              <a:gd name="connsiteY9" fmla="*/ 0 h 10000"/>
              <a:gd name="connsiteX10" fmla="*/ 5778 w 10000"/>
              <a:gd name="connsiteY10" fmla="*/ 1470 h 10000"/>
              <a:gd name="connsiteX11" fmla="*/ 5431 w 10000"/>
              <a:gd name="connsiteY11" fmla="*/ 1443 h 10000"/>
              <a:gd name="connsiteX12" fmla="*/ 6215 w 10000"/>
              <a:gd name="connsiteY12" fmla="*/ 4707 h 10000"/>
              <a:gd name="connsiteX13" fmla="*/ 7715 w 10000"/>
              <a:gd name="connsiteY13" fmla="*/ 2913 h 10000"/>
              <a:gd name="connsiteX14" fmla="*/ 7380 w 10000"/>
              <a:gd name="connsiteY14" fmla="*/ 2859 h 10000"/>
              <a:gd name="connsiteX15" fmla="*/ 7943 w 10000"/>
              <a:gd name="connsiteY15" fmla="*/ 1871 h 10000"/>
              <a:gd name="connsiteX16" fmla="*/ 8337 w 10000"/>
              <a:gd name="connsiteY16" fmla="*/ 3019 h 10000"/>
              <a:gd name="connsiteX17" fmla="*/ 8026 w 10000"/>
              <a:gd name="connsiteY17" fmla="*/ 2993 h 10000"/>
              <a:gd name="connsiteX18" fmla="*/ 10000 w 10000"/>
              <a:gd name="connsiteY18" fmla="*/ 9910 h 10000"/>
              <a:gd name="connsiteX19" fmla="*/ 0 w 10000"/>
              <a:gd name="connsiteY19" fmla="*/ 9976 h 10000"/>
              <a:gd name="connsiteX0" fmla="*/ 0 w 10000"/>
              <a:gd name="connsiteY0" fmla="*/ 9976 h 10000"/>
              <a:gd name="connsiteX1" fmla="*/ 2237 w 10000"/>
              <a:gd name="connsiteY1" fmla="*/ 3127 h 10000"/>
              <a:gd name="connsiteX2" fmla="*/ 1938 w 10000"/>
              <a:gd name="connsiteY2" fmla="*/ 3314 h 10000"/>
              <a:gd name="connsiteX3" fmla="*/ 2273 w 10000"/>
              <a:gd name="connsiteY3" fmla="*/ 1950 h 10000"/>
              <a:gd name="connsiteX4" fmla="*/ 2835 w 10000"/>
              <a:gd name="connsiteY4" fmla="*/ 2859 h 10000"/>
              <a:gd name="connsiteX5" fmla="*/ 2536 w 10000"/>
              <a:gd name="connsiteY5" fmla="*/ 2993 h 10000"/>
              <a:gd name="connsiteX6" fmla="*/ 3923 w 10000"/>
              <a:gd name="connsiteY6" fmla="*/ 4914 h 10000"/>
              <a:gd name="connsiteX7" fmla="*/ 4916 w 10000"/>
              <a:gd name="connsiteY7" fmla="*/ 1417 h 10000"/>
              <a:gd name="connsiteX8" fmla="*/ 4545 w 10000"/>
              <a:gd name="connsiteY8" fmla="*/ 1417 h 10000"/>
              <a:gd name="connsiteX9" fmla="*/ 5179 w 10000"/>
              <a:gd name="connsiteY9" fmla="*/ 0 h 10000"/>
              <a:gd name="connsiteX10" fmla="*/ 5778 w 10000"/>
              <a:gd name="connsiteY10" fmla="*/ 1470 h 10000"/>
              <a:gd name="connsiteX11" fmla="*/ 5431 w 10000"/>
              <a:gd name="connsiteY11" fmla="*/ 1443 h 10000"/>
              <a:gd name="connsiteX12" fmla="*/ 6215 w 10000"/>
              <a:gd name="connsiteY12" fmla="*/ 4707 h 10000"/>
              <a:gd name="connsiteX13" fmla="*/ 7715 w 10000"/>
              <a:gd name="connsiteY13" fmla="*/ 2913 h 10000"/>
              <a:gd name="connsiteX14" fmla="*/ 7380 w 10000"/>
              <a:gd name="connsiteY14" fmla="*/ 2859 h 10000"/>
              <a:gd name="connsiteX15" fmla="*/ 7943 w 10000"/>
              <a:gd name="connsiteY15" fmla="*/ 1871 h 10000"/>
              <a:gd name="connsiteX16" fmla="*/ 8337 w 10000"/>
              <a:gd name="connsiteY16" fmla="*/ 3019 h 10000"/>
              <a:gd name="connsiteX17" fmla="*/ 8026 w 10000"/>
              <a:gd name="connsiteY17" fmla="*/ 2993 h 10000"/>
              <a:gd name="connsiteX18" fmla="*/ 10000 w 10000"/>
              <a:gd name="connsiteY18" fmla="*/ 9910 h 10000"/>
              <a:gd name="connsiteX19" fmla="*/ 0 w 10000"/>
              <a:gd name="connsiteY19" fmla="*/ 9976 h 10000"/>
              <a:gd name="connsiteX0" fmla="*/ 0 w 10000"/>
              <a:gd name="connsiteY0" fmla="*/ 9976 h 10000"/>
              <a:gd name="connsiteX1" fmla="*/ 2237 w 10000"/>
              <a:gd name="connsiteY1" fmla="*/ 3127 h 10000"/>
              <a:gd name="connsiteX2" fmla="*/ 1938 w 10000"/>
              <a:gd name="connsiteY2" fmla="*/ 3314 h 10000"/>
              <a:gd name="connsiteX3" fmla="*/ 2273 w 10000"/>
              <a:gd name="connsiteY3" fmla="*/ 1950 h 10000"/>
              <a:gd name="connsiteX4" fmla="*/ 2835 w 10000"/>
              <a:gd name="connsiteY4" fmla="*/ 2859 h 10000"/>
              <a:gd name="connsiteX5" fmla="*/ 2536 w 10000"/>
              <a:gd name="connsiteY5" fmla="*/ 2993 h 10000"/>
              <a:gd name="connsiteX6" fmla="*/ 3923 w 10000"/>
              <a:gd name="connsiteY6" fmla="*/ 4627 h 10000"/>
              <a:gd name="connsiteX7" fmla="*/ 4916 w 10000"/>
              <a:gd name="connsiteY7" fmla="*/ 1417 h 10000"/>
              <a:gd name="connsiteX8" fmla="*/ 4545 w 10000"/>
              <a:gd name="connsiteY8" fmla="*/ 1417 h 10000"/>
              <a:gd name="connsiteX9" fmla="*/ 5179 w 10000"/>
              <a:gd name="connsiteY9" fmla="*/ 0 h 10000"/>
              <a:gd name="connsiteX10" fmla="*/ 5778 w 10000"/>
              <a:gd name="connsiteY10" fmla="*/ 1470 h 10000"/>
              <a:gd name="connsiteX11" fmla="*/ 5431 w 10000"/>
              <a:gd name="connsiteY11" fmla="*/ 1443 h 10000"/>
              <a:gd name="connsiteX12" fmla="*/ 6215 w 10000"/>
              <a:gd name="connsiteY12" fmla="*/ 4707 h 10000"/>
              <a:gd name="connsiteX13" fmla="*/ 7715 w 10000"/>
              <a:gd name="connsiteY13" fmla="*/ 2913 h 10000"/>
              <a:gd name="connsiteX14" fmla="*/ 7380 w 10000"/>
              <a:gd name="connsiteY14" fmla="*/ 2859 h 10000"/>
              <a:gd name="connsiteX15" fmla="*/ 7943 w 10000"/>
              <a:gd name="connsiteY15" fmla="*/ 1871 h 10000"/>
              <a:gd name="connsiteX16" fmla="*/ 8337 w 10000"/>
              <a:gd name="connsiteY16" fmla="*/ 3019 h 10000"/>
              <a:gd name="connsiteX17" fmla="*/ 8026 w 10000"/>
              <a:gd name="connsiteY17" fmla="*/ 2993 h 10000"/>
              <a:gd name="connsiteX18" fmla="*/ 10000 w 10000"/>
              <a:gd name="connsiteY18" fmla="*/ 9910 h 10000"/>
              <a:gd name="connsiteX19" fmla="*/ 0 w 10000"/>
              <a:gd name="connsiteY19" fmla="*/ 9976 h 10000"/>
              <a:gd name="connsiteX0" fmla="*/ 0 w 10000"/>
              <a:gd name="connsiteY0" fmla="*/ 9976 h 10000"/>
              <a:gd name="connsiteX1" fmla="*/ 2237 w 10000"/>
              <a:gd name="connsiteY1" fmla="*/ 3127 h 10000"/>
              <a:gd name="connsiteX2" fmla="*/ 1938 w 10000"/>
              <a:gd name="connsiteY2" fmla="*/ 3314 h 10000"/>
              <a:gd name="connsiteX3" fmla="*/ 2273 w 10000"/>
              <a:gd name="connsiteY3" fmla="*/ 1950 h 10000"/>
              <a:gd name="connsiteX4" fmla="*/ 2835 w 10000"/>
              <a:gd name="connsiteY4" fmla="*/ 2859 h 10000"/>
              <a:gd name="connsiteX5" fmla="*/ 2536 w 10000"/>
              <a:gd name="connsiteY5" fmla="*/ 2993 h 10000"/>
              <a:gd name="connsiteX6" fmla="*/ 3923 w 10000"/>
              <a:gd name="connsiteY6" fmla="*/ 4627 h 10000"/>
              <a:gd name="connsiteX7" fmla="*/ 4916 w 10000"/>
              <a:gd name="connsiteY7" fmla="*/ 1417 h 10000"/>
              <a:gd name="connsiteX8" fmla="*/ 4545 w 10000"/>
              <a:gd name="connsiteY8" fmla="*/ 1417 h 10000"/>
              <a:gd name="connsiteX9" fmla="*/ 5179 w 10000"/>
              <a:gd name="connsiteY9" fmla="*/ 0 h 10000"/>
              <a:gd name="connsiteX10" fmla="*/ 5778 w 10000"/>
              <a:gd name="connsiteY10" fmla="*/ 1470 h 10000"/>
              <a:gd name="connsiteX11" fmla="*/ 5431 w 10000"/>
              <a:gd name="connsiteY11" fmla="*/ 1443 h 10000"/>
              <a:gd name="connsiteX12" fmla="*/ 6215 w 10000"/>
              <a:gd name="connsiteY12" fmla="*/ 4707 h 10000"/>
              <a:gd name="connsiteX13" fmla="*/ 7715 w 10000"/>
              <a:gd name="connsiteY13" fmla="*/ 2913 h 10000"/>
              <a:gd name="connsiteX14" fmla="*/ 7380 w 10000"/>
              <a:gd name="connsiteY14" fmla="*/ 2859 h 10000"/>
              <a:gd name="connsiteX15" fmla="*/ 7943 w 10000"/>
              <a:gd name="connsiteY15" fmla="*/ 1871 h 10000"/>
              <a:gd name="connsiteX16" fmla="*/ 8337 w 10000"/>
              <a:gd name="connsiteY16" fmla="*/ 3019 h 10000"/>
              <a:gd name="connsiteX17" fmla="*/ 8026 w 10000"/>
              <a:gd name="connsiteY17" fmla="*/ 2993 h 10000"/>
              <a:gd name="connsiteX18" fmla="*/ 10000 w 10000"/>
              <a:gd name="connsiteY18" fmla="*/ 9910 h 10000"/>
              <a:gd name="connsiteX19" fmla="*/ 0 w 10000"/>
              <a:gd name="connsiteY19" fmla="*/ 9976 h 10000"/>
              <a:gd name="connsiteX0" fmla="*/ 0 w 9691"/>
              <a:gd name="connsiteY0" fmla="*/ 9976 h 10772"/>
              <a:gd name="connsiteX1" fmla="*/ 2237 w 9691"/>
              <a:gd name="connsiteY1" fmla="*/ 3127 h 10772"/>
              <a:gd name="connsiteX2" fmla="*/ 1938 w 9691"/>
              <a:gd name="connsiteY2" fmla="*/ 3314 h 10772"/>
              <a:gd name="connsiteX3" fmla="*/ 2273 w 9691"/>
              <a:gd name="connsiteY3" fmla="*/ 1950 h 10772"/>
              <a:gd name="connsiteX4" fmla="*/ 2835 w 9691"/>
              <a:gd name="connsiteY4" fmla="*/ 2859 h 10772"/>
              <a:gd name="connsiteX5" fmla="*/ 2536 w 9691"/>
              <a:gd name="connsiteY5" fmla="*/ 2993 h 10772"/>
              <a:gd name="connsiteX6" fmla="*/ 3923 w 9691"/>
              <a:gd name="connsiteY6" fmla="*/ 4627 h 10772"/>
              <a:gd name="connsiteX7" fmla="*/ 4916 w 9691"/>
              <a:gd name="connsiteY7" fmla="*/ 1417 h 10772"/>
              <a:gd name="connsiteX8" fmla="*/ 4545 w 9691"/>
              <a:gd name="connsiteY8" fmla="*/ 1417 h 10772"/>
              <a:gd name="connsiteX9" fmla="*/ 5179 w 9691"/>
              <a:gd name="connsiteY9" fmla="*/ 0 h 10772"/>
              <a:gd name="connsiteX10" fmla="*/ 5778 w 9691"/>
              <a:gd name="connsiteY10" fmla="*/ 1470 h 10772"/>
              <a:gd name="connsiteX11" fmla="*/ 5431 w 9691"/>
              <a:gd name="connsiteY11" fmla="*/ 1443 h 10772"/>
              <a:gd name="connsiteX12" fmla="*/ 6215 w 9691"/>
              <a:gd name="connsiteY12" fmla="*/ 4707 h 10772"/>
              <a:gd name="connsiteX13" fmla="*/ 7715 w 9691"/>
              <a:gd name="connsiteY13" fmla="*/ 2913 h 10772"/>
              <a:gd name="connsiteX14" fmla="*/ 7380 w 9691"/>
              <a:gd name="connsiteY14" fmla="*/ 2859 h 10772"/>
              <a:gd name="connsiteX15" fmla="*/ 7943 w 9691"/>
              <a:gd name="connsiteY15" fmla="*/ 1871 h 10772"/>
              <a:gd name="connsiteX16" fmla="*/ 8337 w 9691"/>
              <a:gd name="connsiteY16" fmla="*/ 3019 h 10772"/>
              <a:gd name="connsiteX17" fmla="*/ 8026 w 9691"/>
              <a:gd name="connsiteY17" fmla="*/ 2993 h 10772"/>
              <a:gd name="connsiteX18" fmla="*/ 9691 w 9691"/>
              <a:gd name="connsiteY18" fmla="*/ 10772 h 10772"/>
              <a:gd name="connsiteX19" fmla="*/ 0 w 9691"/>
              <a:gd name="connsiteY19" fmla="*/ 9976 h 10772"/>
              <a:gd name="connsiteX0" fmla="*/ 0 w 10000"/>
              <a:gd name="connsiteY0" fmla="*/ 9261 h 10000"/>
              <a:gd name="connsiteX1" fmla="*/ 2308 w 10000"/>
              <a:gd name="connsiteY1" fmla="*/ 2903 h 10000"/>
              <a:gd name="connsiteX2" fmla="*/ 2000 w 10000"/>
              <a:gd name="connsiteY2" fmla="*/ 3076 h 10000"/>
              <a:gd name="connsiteX3" fmla="*/ 2345 w 10000"/>
              <a:gd name="connsiteY3" fmla="*/ 1810 h 10000"/>
              <a:gd name="connsiteX4" fmla="*/ 2925 w 10000"/>
              <a:gd name="connsiteY4" fmla="*/ 2654 h 10000"/>
              <a:gd name="connsiteX5" fmla="*/ 2617 w 10000"/>
              <a:gd name="connsiteY5" fmla="*/ 2778 h 10000"/>
              <a:gd name="connsiteX6" fmla="*/ 4048 w 10000"/>
              <a:gd name="connsiteY6" fmla="*/ 4295 h 10000"/>
              <a:gd name="connsiteX7" fmla="*/ 5073 w 10000"/>
              <a:gd name="connsiteY7" fmla="*/ 1315 h 10000"/>
              <a:gd name="connsiteX8" fmla="*/ 4690 w 10000"/>
              <a:gd name="connsiteY8" fmla="*/ 1315 h 10000"/>
              <a:gd name="connsiteX9" fmla="*/ 5344 w 10000"/>
              <a:gd name="connsiteY9" fmla="*/ 0 h 10000"/>
              <a:gd name="connsiteX10" fmla="*/ 5962 w 10000"/>
              <a:gd name="connsiteY10" fmla="*/ 1365 h 10000"/>
              <a:gd name="connsiteX11" fmla="*/ 5604 w 10000"/>
              <a:gd name="connsiteY11" fmla="*/ 1340 h 10000"/>
              <a:gd name="connsiteX12" fmla="*/ 6413 w 10000"/>
              <a:gd name="connsiteY12" fmla="*/ 4370 h 10000"/>
              <a:gd name="connsiteX13" fmla="*/ 7961 w 10000"/>
              <a:gd name="connsiteY13" fmla="*/ 2704 h 10000"/>
              <a:gd name="connsiteX14" fmla="*/ 7615 w 10000"/>
              <a:gd name="connsiteY14" fmla="*/ 2654 h 10000"/>
              <a:gd name="connsiteX15" fmla="*/ 8196 w 10000"/>
              <a:gd name="connsiteY15" fmla="*/ 1737 h 10000"/>
              <a:gd name="connsiteX16" fmla="*/ 8603 w 10000"/>
              <a:gd name="connsiteY16" fmla="*/ 2803 h 10000"/>
              <a:gd name="connsiteX17" fmla="*/ 8282 w 10000"/>
              <a:gd name="connsiteY17" fmla="*/ 2778 h 10000"/>
              <a:gd name="connsiteX18" fmla="*/ 10000 w 10000"/>
              <a:gd name="connsiteY18" fmla="*/ 10000 h 10000"/>
              <a:gd name="connsiteX19" fmla="*/ 0 w 10000"/>
              <a:gd name="connsiteY19" fmla="*/ 9261 h 10000"/>
              <a:gd name="connsiteX0" fmla="*/ 0 w 9490"/>
              <a:gd name="connsiteY0" fmla="*/ 10754 h 10757"/>
              <a:gd name="connsiteX1" fmla="*/ 1798 w 9490"/>
              <a:gd name="connsiteY1" fmla="*/ 2903 h 10757"/>
              <a:gd name="connsiteX2" fmla="*/ 1490 w 9490"/>
              <a:gd name="connsiteY2" fmla="*/ 3076 h 10757"/>
              <a:gd name="connsiteX3" fmla="*/ 1835 w 9490"/>
              <a:gd name="connsiteY3" fmla="*/ 1810 h 10757"/>
              <a:gd name="connsiteX4" fmla="*/ 2415 w 9490"/>
              <a:gd name="connsiteY4" fmla="*/ 2654 h 10757"/>
              <a:gd name="connsiteX5" fmla="*/ 2107 w 9490"/>
              <a:gd name="connsiteY5" fmla="*/ 2778 h 10757"/>
              <a:gd name="connsiteX6" fmla="*/ 3538 w 9490"/>
              <a:gd name="connsiteY6" fmla="*/ 4295 h 10757"/>
              <a:gd name="connsiteX7" fmla="*/ 4563 w 9490"/>
              <a:gd name="connsiteY7" fmla="*/ 1315 h 10757"/>
              <a:gd name="connsiteX8" fmla="*/ 4180 w 9490"/>
              <a:gd name="connsiteY8" fmla="*/ 1315 h 10757"/>
              <a:gd name="connsiteX9" fmla="*/ 4834 w 9490"/>
              <a:gd name="connsiteY9" fmla="*/ 0 h 10757"/>
              <a:gd name="connsiteX10" fmla="*/ 5452 w 9490"/>
              <a:gd name="connsiteY10" fmla="*/ 1365 h 10757"/>
              <a:gd name="connsiteX11" fmla="*/ 5094 w 9490"/>
              <a:gd name="connsiteY11" fmla="*/ 1340 h 10757"/>
              <a:gd name="connsiteX12" fmla="*/ 5903 w 9490"/>
              <a:gd name="connsiteY12" fmla="*/ 4370 h 10757"/>
              <a:gd name="connsiteX13" fmla="*/ 7451 w 9490"/>
              <a:gd name="connsiteY13" fmla="*/ 2704 h 10757"/>
              <a:gd name="connsiteX14" fmla="*/ 7105 w 9490"/>
              <a:gd name="connsiteY14" fmla="*/ 2654 h 10757"/>
              <a:gd name="connsiteX15" fmla="*/ 7686 w 9490"/>
              <a:gd name="connsiteY15" fmla="*/ 1737 h 10757"/>
              <a:gd name="connsiteX16" fmla="*/ 8093 w 9490"/>
              <a:gd name="connsiteY16" fmla="*/ 2803 h 10757"/>
              <a:gd name="connsiteX17" fmla="*/ 7772 w 9490"/>
              <a:gd name="connsiteY17" fmla="*/ 2778 h 10757"/>
              <a:gd name="connsiteX18" fmla="*/ 9490 w 9490"/>
              <a:gd name="connsiteY18" fmla="*/ 10000 h 10757"/>
              <a:gd name="connsiteX19" fmla="*/ 0 w 9490"/>
              <a:gd name="connsiteY19" fmla="*/ 10754 h 10757"/>
              <a:gd name="connsiteX0" fmla="*/ 0 w 10000"/>
              <a:gd name="connsiteY0" fmla="*/ 9997 h 10000"/>
              <a:gd name="connsiteX1" fmla="*/ 1895 w 10000"/>
              <a:gd name="connsiteY1" fmla="*/ 2699 h 10000"/>
              <a:gd name="connsiteX2" fmla="*/ 1570 w 10000"/>
              <a:gd name="connsiteY2" fmla="*/ 2860 h 10000"/>
              <a:gd name="connsiteX3" fmla="*/ 1934 w 10000"/>
              <a:gd name="connsiteY3" fmla="*/ 1683 h 10000"/>
              <a:gd name="connsiteX4" fmla="*/ 2545 w 10000"/>
              <a:gd name="connsiteY4" fmla="*/ 2467 h 10000"/>
              <a:gd name="connsiteX5" fmla="*/ 2220 w 10000"/>
              <a:gd name="connsiteY5" fmla="*/ 2583 h 10000"/>
              <a:gd name="connsiteX6" fmla="*/ 3728 w 10000"/>
              <a:gd name="connsiteY6" fmla="*/ 3993 h 10000"/>
              <a:gd name="connsiteX7" fmla="*/ 4808 w 10000"/>
              <a:gd name="connsiteY7" fmla="*/ 1222 h 10000"/>
              <a:gd name="connsiteX8" fmla="*/ 4405 w 10000"/>
              <a:gd name="connsiteY8" fmla="*/ 1222 h 10000"/>
              <a:gd name="connsiteX9" fmla="*/ 5094 w 10000"/>
              <a:gd name="connsiteY9" fmla="*/ 0 h 10000"/>
              <a:gd name="connsiteX10" fmla="*/ 5745 w 10000"/>
              <a:gd name="connsiteY10" fmla="*/ 1269 h 10000"/>
              <a:gd name="connsiteX11" fmla="*/ 5368 w 10000"/>
              <a:gd name="connsiteY11" fmla="*/ 1246 h 10000"/>
              <a:gd name="connsiteX12" fmla="*/ 6220 w 10000"/>
              <a:gd name="connsiteY12" fmla="*/ 4062 h 10000"/>
              <a:gd name="connsiteX13" fmla="*/ 7851 w 10000"/>
              <a:gd name="connsiteY13" fmla="*/ 2514 h 10000"/>
              <a:gd name="connsiteX14" fmla="*/ 7487 w 10000"/>
              <a:gd name="connsiteY14" fmla="*/ 2467 h 10000"/>
              <a:gd name="connsiteX15" fmla="*/ 8099 w 10000"/>
              <a:gd name="connsiteY15" fmla="*/ 1615 h 10000"/>
              <a:gd name="connsiteX16" fmla="*/ 8528 w 10000"/>
              <a:gd name="connsiteY16" fmla="*/ 2606 h 10000"/>
              <a:gd name="connsiteX17" fmla="*/ 8190 w 10000"/>
              <a:gd name="connsiteY17" fmla="*/ 2583 h 10000"/>
              <a:gd name="connsiteX18" fmla="*/ 10000 w 10000"/>
              <a:gd name="connsiteY18" fmla="*/ 9296 h 10000"/>
              <a:gd name="connsiteX19" fmla="*/ 0 w 10000"/>
              <a:gd name="connsiteY19" fmla="*/ 9997 h 10000"/>
              <a:gd name="connsiteX0" fmla="*/ 0 w 10000"/>
              <a:gd name="connsiteY0" fmla="*/ 9997 h 9997"/>
              <a:gd name="connsiteX1" fmla="*/ 1895 w 10000"/>
              <a:gd name="connsiteY1" fmla="*/ 2699 h 9997"/>
              <a:gd name="connsiteX2" fmla="*/ 1570 w 10000"/>
              <a:gd name="connsiteY2" fmla="*/ 2860 h 9997"/>
              <a:gd name="connsiteX3" fmla="*/ 1934 w 10000"/>
              <a:gd name="connsiteY3" fmla="*/ 1683 h 9997"/>
              <a:gd name="connsiteX4" fmla="*/ 2545 w 10000"/>
              <a:gd name="connsiteY4" fmla="*/ 2467 h 9997"/>
              <a:gd name="connsiteX5" fmla="*/ 2220 w 10000"/>
              <a:gd name="connsiteY5" fmla="*/ 2583 h 9997"/>
              <a:gd name="connsiteX6" fmla="*/ 3728 w 10000"/>
              <a:gd name="connsiteY6" fmla="*/ 3993 h 9997"/>
              <a:gd name="connsiteX7" fmla="*/ 4808 w 10000"/>
              <a:gd name="connsiteY7" fmla="*/ 1222 h 9997"/>
              <a:gd name="connsiteX8" fmla="*/ 4405 w 10000"/>
              <a:gd name="connsiteY8" fmla="*/ 1222 h 9997"/>
              <a:gd name="connsiteX9" fmla="*/ 5094 w 10000"/>
              <a:gd name="connsiteY9" fmla="*/ 0 h 9997"/>
              <a:gd name="connsiteX10" fmla="*/ 5745 w 10000"/>
              <a:gd name="connsiteY10" fmla="*/ 1269 h 9997"/>
              <a:gd name="connsiteX11" fmla="*/ 5368 w 10000"/>
              <a:gd name="connsiteY11" fmla="*/ 1246 h 9997"/>
              <a:gd name="connsiteX12" fmla="*/ 6220 w 10000"/>
              <a:gd name="connsiteY12" fmla="*/ 4062 h 9997"/>
              <a:gd name="connsiteX13" fmla="*/ 7851 w 10000"/>
              <a:gd name="connsiteY13" fmla="*/ 2514 h 9997"/>
              <a:gd name="connsiteX14" fmla="*/ 7487 w 10000"/>
              <a:gd name="connsiteY14" fmla="*/ 2467 h 9997"/>
              <a:gd name="connsiteX15" fmla="*/ 8099 w 10000"/>
              <a:gd name="connsiteY15" fmla="*/ 1615 h 9997"/>
              <a:gd name="connsiteX16" fmla="*/ 8528 w 10000"/>
              <a:gd name="connsiteY16" fmla="*/ 2606 h 9997"/>
              <a:gd name="connsiteX17" fmla="*/ 8190 w 10000"/>
              <a:gd name="connsiteY17" fmla="*/ 2583 h 9997"/>
              <a:gd name="connsiteX18" fmla="*/ 10000 w 10000"/>
              <a:gd name="connsiteY18" fmla="*/ 9296 h 9997"/>
              <a:gd name="connsiteX19" fmla="*/ 0 w 10000"/>
              <a:gd name="connsiteY19" fmla="*/ 9997 h 9997"/>
              <a:gd name="connsiteX0" fmla="*/ 0 w 10201"/>
              <a:gd name="connsiteY0" fmla="*/ 10645 h 10645"/>
              <a:gd name="connsiteX1" fmla="*/ 2096 w 10201"/>
              <a:gd name="connsiteY1" fmla="*/ 2700 h 10645"/>
              <a:gd name="connsiteX2" fmla="*/ 1771 w 10201"/>
              <a:gd name="connsiteY2" fmla="*/ 2861 h 10645"/>
              <a:gd name="connsiteX3" fmla="*/ 2135 w 10201"/>
              <a:gd name="connsiteY3" fmla="*/ 1684 h 10645"/>
              <a:gd name="connsiteX4" fmla="*/ 2746 w 10201"/>
              <a:gd name="connsiteY4" fmla="*/ 2468 h 10645"/>
              <a:gd name="connsiteX5" fmla="*/ 2421 w 10201"/>
              <a:gd name="connsiteY5" fmla="*/ 2584 h 10645"/>
              <a:gd name="connsiteX6" fmla="*/ 3929 w 10201"/>
              <a:gd name="connsiteY6" fmla="*/ 3994 h 10645"/>
              <a:gd name="connsiteX7" fmla="*/ 5009 w 10201"/>
              <a:gd name="connsiteY7" fmla="*/ 1222 h 10645"/>
              <a:gd name="connsiteX8" fmla="*/ 4606 w 10201"/>
              <a:gd name="connsiteY8" fmla="*/ 1222 h 10645"/>
              <a:gd name="connsiteX9" fmla="*/ 5295 w 10201"/>
              <a:gd name="connsiteY9" fmla="*/ 0 h 10645"/>
              <a:gd name="connsiteX10" fmla="*/ 5946 w 10201"/>
              <a:gd name="connsiteY10" fmla="*/ 1269 h 10645"/>
              <a:gd name="connsiteX11" fmla="*/ 5569 w 10201"/>
              <a:gd name="connsiteY11" fmla="*/ 1246 h 10645"/>
              <a:gd name="connsiteX12" fmla="*/ 6421 w 10201"/>
              <a:gd name="connsiteY12" fmla="*/ 4063 h 10645"/>
              <a:gd name="connsiteX13" fmla="*/ 8052 w 10201"/>
              <a:gd name="connsiteY13" fmla="*/ 2515 h 10645"/>
              <a:gd name="connsiteX14" fmla="*/ 7688 w 10201"/>
              <a:gd name="connsiteY14" fmla="*/ 2468 h 10645"/>
              <a:gd name="connsiteX15" fmla="*/ 8300 w 10201"/>
              <a:gd name="connsiteY15" fmla="*/ 1615 h 10645"/>
              <a:gd name="connsiteX16" fmla="*/ 8729 w 10201"/>
              <a:gd name="connsiteY16" fmla="*/ 2607 h 10645"/>
              <a:gd name="connsiteX17" fmla="*/ 8391 w 10201"/>
              <a:gd name="connsiteY17" fmla="*/ 2584 h 10645"/>
              <a:gd name="connsiteX18" fmla="*/ 10201 w 10201"/>
              <a:gd name="connsiteY18" fmla="*/ 9299 h 10645"/>
              <a:gd name="connsiteX19" fmla="*/ 0 w 10201"/>
              <a:gd name="connsiteY19" fmla="*/ 10645 h 10645"/>
              <a:gd name="connsiteX0" fmla="*/ 0 w 10201"/>
              <a:gd name="connsiteY0" fmla="*/ 10645 h 10645"/>
              <a:gd name="connsiteX1" fmla="*/ 2096 w 10201"/>
              <a:gd name="connsiteY1" fmla="*/ 2700 h 10645"/>
              <a:gd name="connsiteX2" fmla="*/ 1771 w 10201"/>
              <a:gd name="connsiteY2" fmla="*/ 2861 h 10645"/>
              <a:gd name="connsiteX3" fmla="*/ 2135 w 10201"/>
              <a:gd name="connsiteY3" fmla="*/ 1684 h 10645"/>
              <a:gd name="connsiteX4" fmla="*/ 2746 w 10201"/>
              <a:gd name="connsiteY4" fmla="*/ 2468 h 10645"/>
              <a:gd name="connsiteX5" fmla="*/ 2421 w 10201"/>
              <a:gd name="connsiteY5" fmla="*/ 2584 h 10645"/>
              <a:gd name="connsiteX6" fmla="*/ 3929 w 10201"/>
              <a:gd name="connsiteY6" fmla="*/ 3994 h 10645"/>
              <a:gd name="connsiteX7" fmla="*/ 5009 w 10201"/>
              <a:gd name="connsiteY7" fmla="*/ 1222 h 10645"/>
              <a:gd name="connsiteX8" fmla="*/ 4606 w 10201"/>
              <a:gd name="connsiteY8" fmla="*/ 1222 h 10645"/>
              <a:gd name="connsiteX9" fmla="*/ 5295 w 10201"/>
              <a:gd name="connsiteY9" fmla="*/ 0 h 10645"/>
              <a:gd name="connsiteX10" fmla="*/ 5946 w 10201"/>
              <a:gd name="connsiteY10" fmla="*/ 1269 h 10645"/>
              <a:gd name="connsiteX11" fmla="*/ 5569 w 10201"/>
              <a:gd name="connsiteY11" fmla="*/ 1246 h 10645"/>
              <a:gd name="connsiteX12" fmla="*/ 6421 w 10201"/>
              <a:gd name="connsiteY12" fmla="*/ 4063 h 10645"/>
              <a:gd name="connsiteX13" fmla="*/ 8052 w 10201"/>
              <a:gd name="connsiteY13" fmla="*/ 2515 h 10645"/>
              <a:gd name="connsiteX14" fmla="*/ 7688 w 10201"/>
              <a:gd name="connsiteY14" fmla="*/ 2468 h 10645"/>
              <a:gd name="connsiteX15" fmla="*/ 8300 w 10201"/>
              <a:gd name="connsiteY15" fmla="*/ 1615 h 10645"/>
              <a:gd name="connsiteX16" fmla="*/ 8729 w 10201"/>
              <a:gd name="connsiteY16" fmla="*/ 2607 h 10645"/>
              <a:gd name="connsiteX17" fmla="*/ 8391 w 10201"/>
              <a:gd name="connsiteY17" fmla="*/ 2584 h 10645"/>
              <a:gd name="connsiteX18" fmla="*/ 10201 w 10201"/>
              <a:gd name="connsiteY18" fmla="*/ 9299 h 10645"/>
              <a:gd name="connsiteX19" fmla="*/ 0 w 10201"/>
              <a:gd name="connsiteY19" fmla="*/ 10645 h 10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201" h="10645">
                <a:moveTo>
                  <a:pt x="0" y="10645"/>
                </a:moveTo>
                <a:cubicBezTo>
                  <a:pt x="1237" y="8950"/>
                  <a:pt x="2225" y="5668"/>
                  <a:pt x="2096" y="2700"/>
                </a:cubicBezTo>
                <a:lnTo>
                  <a:pt x="1771" y="2861"/>
                </a:lnTo>
                <a:cubicBezTo>
                  <a:pt x="1806" y="2700"/>
                  <a:pt x="2135" y="1677"/>
                  <a:pt x="2135" y="1684"/>
                </a:cubicBezTo>
                <a:lnTo>
                  <a:pt x="2746" y="2468"/>
                </a:lnTo>
                <a:cubicBezTo>
                  <a:pt x="2746" y="2468"/>
                  <a:pt x="2395" y="2584"/>
                  <a:pt x="2421" y="2584"/>
                </a:cubicBezTo>
                <a:cubicBezTo>
                  <a:pt x="2759" y="3875"/>
                  <a:pt x="3308" y="4247"/>
                  <a:pt x="3929" y="3994"/>
                </a:cubicBezTo>
                <a:cubicBezTo>
                  <a:pt x="4550" y="3741"/>
                  <a:pt x="4996" y="2214"/>
                  <a:pt x="5009" y="1222"/>
                </a:cubicBezTo>
                <a:lnTo>
                  <a:pt x="4606" y="1222"/>
                </a:lnTo>
                <a:lnTo>
                  <a:pt x="5295" y="0"/>
                </a:lnTo>
                <a:lnTo>
                  <a:pt x="5946" y="1269"/>
                </a:lnTo>
                <a:lnTo>
                  <a:pt x="5569" y="1246"/>
                </a:lnTo>
                <a:cubicBezTo>
                  <a:pt x="5569" y="1249"/>
                  <a:pt x="5379" y="3845"/>
                  <a:pt x="6421" y="4063"/>
                </a:cubicBezTo>
                <a:cubicBezTo>
                  <a:pt x="7464" y="4282"/>
                  <a:pt x="7937" y="3507"/>
                  <a:pt x="8052" y="2515"/>
                </a:cubicBezTo>
                <a:lnTo>
                  <a:pt x="7688" y="2468"/>
                </a:lnTo>
                <a:lnTo>
                  <a:pt x="8300" y="1615"/>
                </a:lnTo>
                <a:lnTo>
                  <a:pt x="8729" y="2607"/>
                </a:lnTo>
                <a:lnTo>
                  <a:pt x="8391" y="2584"/>
                </a:lnTo>
                <a:cubicBezTo>
                  <a:pt x="8403" y="2607"/>
                  <a:pt x="8247" y="7159"/>
                  <a:pt x="10201" y="9299"/>
                </a:cubicBezTo>
                <a:cubicBezTo>
                  <a:pt x="6781" y="9326"/>
                  <a:pt x="2635" y="8575"/>
                  <a:pt x="0" y="10645"/>
                </a:cubicBezTo>
                <a:close/>
              </a:path>
            </a:pathLst>
          </a:custGeom>
          <a:gradFill flip="none" rotWithShape="1">
            <a:gsLst>
              <a:gs pos="15000">
                <a:srgbClr val="1AABE2">
                  <a:lumMod val="5000"/>
                  <a:lumOff val="95000"/>
                  <a:alpha val="0"/>
                </a:srgbClr>
              </a:gs>
              <a:gs pos="81000">
                <a:srgbClr val="94DAE2"/>
              </a:gs>
            </a:gsLst>
            <a:lin ang="16200000" scaled="0"/>
            <a:tileRect/>
          </a:gradFill>
          <a:ln w="15875" cap="flat" cmpd="sng" algn="ctr">
            <a:gradFill flip="none" rotWithShape="1">
              <a:gsLst>
                <a:gs pos="0">
                  <a:sysClr val="window" lastClr="FFFFFF"/>
                </a:gs>
                <a:gs pos="100000">
                  <a:srgbClr val="56C4D2"/>
                </a:gs>
              </a:gsLst>
              <a:lin ang="16200000" scaled="0"/>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799"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梯形 26"/>
          <p:cNvSpPr/>
          <p:nvPr/>
        </p:nvSpPr>
        <p:spPr bwMode="gray">
          <a:xfrm>
            <a:off x="736639" y="4871514"/>
            <a:ext cx="4270652" cy="384984"/>
          </a:xfrm>
          <a:custGeom>
            <a:avLst/>
            <a:gdLst>
              <a:gd name="connsiteX0" fmla="*/ 0 w 985162"/>
              <a:gd name="connsiteY0" fmla="*/ 246413 h 246413"/>
              <a:gd name="connsiteX1" fmla="*/ 102877 w 985162"/>
              <a:gd name="connsiteY1" fmla="*/ 0 h 246413"/>
              <a:gd name="connsiteX2" fmla="*/ 882285 w 985162"/>
              <a:gd name="connsiteY2" fmla="*/ 0 h 246413"/>
              <a:gd name="connsiteX3" fmla="*/ 985162 w 985162"/>
              <a:gd name="connsiteY3" fmla="*/ 246413 h 246413"/>
              <a:gd name="connsiteX4" fmla="*/ 0 w 985162"/>
              <a:gd name="connsiteY4" fmla="*/ 246413 h 246413"/>
              <a:gd name="connsiteX0" fmla="*/ 0 w 1112162"/>
              <a:gd name="connsiteY0" fmla="*/ 215933 h 246413"/>
              <a:gd name="connsiteX1" fmla="*/ 229877 w 1112162"/>
              <a:gd name="connsiteY1" fmla="*/ 0 h 246413"/>
              <a:gd name="connsiteX2" fmla="*/ 1009285 w 1112162"/>
              <a:gd name="connsiteY2" fmla="*/ 0 h 246413"/>
              <a:gd name="connsiteX3" fmla="*/ 1112162 w 1112162"/>
              <a:gd name="connsiteY3" fmla="*/ 246413 h 246413"/>
              <a:gd name="connsiteX4" fmla="*/ 0 w 1112162"/>
              <a:gd name="connsiteY4" fmla="*/ 215933 h 246413"/>
              <a:gd name="connsiteX0" fmla="*/ 0 w 4270652"/>
              <a:gd name="connsiteY0" fmla="*/ 215933 h 215933"/>
              <a:gd name="connsiteX1" fmla="*/ 229877 w 4270652"/>
              <a:gd name="connsiteY1" fmla="*/ 0 h 215933"/>
              <a:gd name="connsiteX2" fmla="*/ 1009285 w 4270652"/>
              <a:gd name="connsiteY2" fmla="*/ 0 h 215933"/>
              <a:gd name="connsiteX3" fmla="*/ 4270652 w 4270652"/>
              <a:gd name="connsiteY3" fmla="*/ 208313 h 215933"/>
              <a:gd name="connsiteX4" fmla="*/ 0 w 4270652"/>
              <a:gd name="connsiteY4" fmla="*/ 215933 h 215933"/>
              <a:gd name="connsiteX0" fmla="*/ 0 w 4270652"/>
              <a:gd name="connsiteY0" fmla="*/ 238793 h 238793"/>
              <a:gd name="connsiteX1" fmla="*/ 557537 w 4270652"/>
              <a:gd name="connsiteY1" fmla="*/ 0 h 238793"/>
              <a:gd name="connsiteX2" fmla="*/ 1009285 w 4270652"/>
              <a:gd name="connsiteY2" fmla="*/ 22860 h 238793"/>
              <a:gd name="connsiteX3" fmla="*/ 4270652 w 4270652"/>
              <a:gd name="connsiteY3" fmla="*/ 231173 h 238793"/>
              <a:gd name="connsiteX4" fmla="*/ 0 w 4270652"/>
              <a:gd name="connsiteY4" fmla="*/ 238793 h 238793"/>
              <a:gd name="connsiteX0" fmla="*/ 0 w 4270652"/>
              <a:gd name="connsiteY0" fmla="*/ 246413 h 246413"/>
              <a:gd name="connsiteX1" fmla="*/ 557537 w 4270652"/>
              <a:gd name="connsiteY1" fmla="*/ 7620 h 246413"/>
              <a:gd name="connsiteX2" fmla="*/ 929275 w 4270652"/>
              <a:gd name="connsiteY2" fmla="*/ 0 h 246413"/>
              <a:gd name="connsiteX3" fmla="*/ 4270652 w 4270652"/>
              <a:gd name="connsiteY3" fmla="*/ 238793 h 246413"/>
              <a:gd name="connsiteX4" fmla="*/ 0 w 4270652"/>
              <a:gd name="connsiteY4" fmla="*/ 246413 h 246413"/>
              <a:gd name="connsiteX0" fmla="*/ 0 w 4270652"/>
              <a:gd name="connsiteY0" fmla="*/ 302153 h 302153"/>
              <a:gd name="connsiteX1" fmla="*/ 557537 w 4270652"/>
              <a:gd name="connsiteY1" fmla="*/ 63360 h 302153"/>
              <a:gd name="connsiteX2" fmla="*/ 1151216 w 4270652"/>
              <a:gd name="connsiteY2" fmla="*/ 0 h 302153"/>
              <a:gd name="connsiteX3" fmla="*/ 4270652 w 4270652"/>
              <a:gd name="connsiteY3" fmla="*/ 294533 h 302153"/>
              <a:gd name="connsiteX4" fmla="*/ 0 w 4270652"/>
              <a:gd name="connsiteY4" fmla="*/ 302153 h 302153"/>
              <a:gd name="connsiteX0" fmla="*/ 0 w 4270652"/>
              <a:gd name="connsiteY0" fmla="*/ 302153 h 302153"/>
              <a:gd name="connsiteX1" fmla="*/ 735091 w 4270652"/>
              <a:gd name="connsiteY1" fmla="*/ 7619 h 302153"/>
              <a:gd name="connsiteX2" fmla="*/ 1151216 w 4270652"/>
              <a:gd name="connsiteY2" fmla="*/ 0 h 302153"/>
              <a:gd name="connsiteX3" fmla="*/ 4270652 w 4270652"/>
              <a:gd name="connsiteY3" fmla="*/ 294533 h 302153"/>
              <a:gd name="connsiteX4" fmla="*/ 0 w 4270652"/>
              <a:gd name="connsiteY4" fmla="*/ 302153 h 302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70652" h="302153">
                <a:moveTo>
                  <a:pt x="0" y="302153"/>
                </a:moveTo>
                <a:lnTo>
                  <a:pt x="735091" y="7619"/>
                </a:lnTo>
                <a:lnTo>
                  <a:pt x="1151216" y="0"/>
                </a:lnTo>
                <a:lnTo>
                  <a:pt x="4270652" y="294533"/>
                </a:lnTo>
                <a:lnTo>
                  <a:pt x="0" y="302153"/>
                </a:lnTo>
                <a:close/>
              </a:path>
            </a:pathLst>
          </a:custGeom>
          <a:gradFill>
            <a:gsLst>
              <a:gs pos="100000">
                <a:schemeClr val="bg1"/>
              </a:gs>
              <a:gs pos="0">
                <a:schemeClr val="bg1">
                  <a:lumMod val="85000"/>
                </a:schemeClr>
              </a:gs>
            </a:gsLst>
            <a:lin ang="16200000" scaled="1"/>
          </a:gradFill>
        </p:spPr>
        <p:txBody>
          <a:bodyPr wrap="none">
            <a:noAutofit/>
          </a:bodyPr>
          <a:lstStyle/>
          <a:p>
            <a:pPr marL="0" marR="0" lvl="0" indent="0" algn="ctr" defTabSz="914400" eaLnBrk="1" fontAlgn="auto" latinLnBrk="0" hangingPunct="1">
              <a:lnSpc>
                <a:spcPts val="1800"/>
              </a:lnSpc>
              <a:spcBef>
                <a:spcPts val="0"/>
              </a:spcBef>
              <a:spcAft>
                <a:spcPts val="0"/>
              </a:spcAft>
              <a:buClrTx/>
              <a:buSzTx/>
              <a:buFontTx/>
              <a:buNone/>
              <a:tabLst/>
              <a:defRPr/>
            </a:pPr>
            <a:endParaRPr kumimoji="0" lang="zh-CN" altLang="en-US" sz="1200" b="1"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 name="直接连接符 4"/>
          <p:cNvCxnSpPr>
            <a:stCxn id="12" idx="0"/>
            <a:endCxn id="10" idx="2"/>
          </p:cNvCxnSpPr>
          <p:nvPr/>
        </p:nvCxnSpPr>
        <p:spPr bwMode="gray">
          <a:xfrm flipH="1" flipV="1">
            <a:off x="1657870" y="2179995"/>
            <a:ext cx="1" cy="2437122"/>
          </a:xfrm>
          <a:prstGeom prst="line">
            <a:avLst/>
          </a:prstGeom>
          <a:noFill/>
          <a:ln w="6350" cap="flat" cmpd="sng" algn="ctr">
            <a:solidFill>
              <a:sysClr val="window" lastClr="FFFFFF">
                <a:lumMod val="50000"/>
              </a:sysClr>
            </a:solidFill>
            <a:prstDash val="solid"/>
            <a:miter lim="800000"/>
          </a:ln>
          <a:effectLst/>
        </p:spPr>
      </p:cxnSp>
      <p:sp>
        <p:nvSpPr>
          <p:cNvPr id="6" name="圆角矩形 5"/>
          <p:cNvSpPr/>
          <p:nvPr/>
        </p:nvSpPr>
        <p:spPr bwMode="gray">
          <a:xfrm>
            <a:off x="6144936" y="1503044"/>
            <a:ext cx="5403477" cy="4473930"/>
          </a:xfrm>
          <a:prstGeom prst="roundRect">
            <a:avLst>
              <a:gd name="adj" fmla="val 898"/>
            </a:avLst>
          </a:prstGeom>
          <a:noFill/>
          <a:ln w="12700" cap="flat" cmpd="sng" algn="ctr">
            <a:solidFill>
              <a:sysClr val="window" lastClr="FFFFFF">
                <a:lumMod val="8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文本框 6"/>
          <p:cNvSpPr txBox="1"/>
          <p:nvPr/>
        </p:nvSpPr>
        <p:spPr bwMode="gray">
          <a:xfrm>
            <a:off x="605270" y="1080430"/>
            <a:ext cx="5444647" cy="373577"/>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600">
                <a:solidFill>
                  <a:srgbClr val="30B5C5"/>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sym typeface="Huawei Sans" panose="020C0503030203020204" pitchFamily="34" charset="0"/>
              </a:rPr>
              <a:t>网络管理需求及</a:t>
            </a:r>
            <a:r>
              <a:rPr lang="en-US" altLang="zh-CN" dirty="0">
                <a:sym typeface="Huawei Sans" panose="020C0503030203020204" pitchFamily="34" charset="0"/>
              </a:rPr>
              <a:t>LLDP</a:t>
            </a:r>
            <a:r>
              <a:rPr lang="zh-CN" altLang="en-US" dirty="0">
                <a:sym typeface="Huawei Sans" panose="020C0503030203020204" pitchFamily="34" charset="0"/>
              </a:rPr>
              <a:t>概述</a:t>
            </a:r>
          </a:p>
        </p:txBody>
      </p:sp>
      <p:sp>
        <p:nvSpPr>
          <p:cNvPr id="8" name="文本框 7"/>
          <p:cNvSpPr txBox="1"/>
          <p:nvPr/>
        </p:nvSpPr>
        <p:spPr bwMode="gray">
          <a:xfrm>
            <a:off x="6144936" y="1080430"/>
            <a:ext cx="5403478" cy="373577"/>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600">
                <a:solidFill>
                  <a:srgbClr val="30B5C5"/>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sym typeface="Huawei Sans" panose="020C0503030203020204" pitchFamily="34" charset="0"/>
              </a:rPr>
              <a:t>LLDP</a:t>
            </a:r>
            <a:r>
              <a:rPr lang="zh-CN" altLang="en-US" dirty="0">
                <a:sym typeface="Huawei Sans" panose="020C0503030203020204" pitchFamily="34" charset="0"/>
              </a:rPr>
              <a:t>在华为云园区网络解决方案中的应用</a:t>
            </a:r>
          </a:p>
        </p:txBody>
      </p:sp>
      <p:sp>
        <p:nvSpPr>
          <p:cNvPr id="9" name="圆角矩形 8"/>
          <p:cNvSpPr/>
          <p:nvPr/>
        </p:nvSpPr>
        <p:spPr bwMode="gray">
          <a:xfrm>
            <a:off x="605272" y="1503044"/>
            <a:ext cx="5444646" cy="4473930"/>
          </a:xfrm>
          <a:prstGeom prst="roundRect">
            <a:avLst>
              <a:gd name="adj" fmla="val 898"/>
            </a:avLst>
          </a:prstGeom>
          <a:noFill/>
          <a:ln w="12700" cap="flat" cmpd="sng" algn="ctr">
            <a:solidFill>
              <a:sysClr val="window" lastClr="FFFFFF">
                <a:lumMod val="8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 name="图片 86" descr="核心交换机.png"/>
          <p:cNvPicPr>
            <a:picLocks noChangeAspect="1"/>
          </p:cNvPicPr>
          <p:nvPr/>
        </p:nvPicPr>
        <p:blipFill>
          <a:blip r:embed="rId3" cstate="print"/>
          <a:stretch>
            <a:fillRect/>
          </a:stretch>
        </p:blipFill>
        <p:spPr bwMode="gray">
          <a:xfrm>
            <a:off x="1412415" y="1778341"/>
            <a:ext cx="490909" cy="401654"/>
          </a:xfrm>
          <a:prstGeom prst="rect">
            <a:avLst/>
          </a:prstGeom>
        </p:spPr>
      </p:pic>
      <p:pic>
        <p:nvPicPr>
          <p:cNvPr id="11" name="图片 87" descr="汇聚交换机.png"/>
          <p:cNvPicPr>
            <a:picLocks noChangeAspect="1"/>
          </p:cNvPicPr>
          <p:nvPr/>
        </p:nvPicPr>
        <p:blipFill>
          <a:blip r:embed="rId4" cstate="print"/>
          <a:stretch>
            <a:fillRect/>
          </a:stretch>
        </p:blipFill>
        <p:spPr bwMode="gray">
          <a:xfrm>
            <a:off x="1412416" y="2880611"/>
            <a:ext cx="490909" cy="401654"/>
          </a:xfrm>
          <a:prstGeom prst="rect">
            <a:avLst/>
          </a:prstGeom>
        </p:spPr>
      </p:pic>
      <p:pic>
        <p:nvPicPr>
          <p:cNvPr id="12" name="图片 76" descr="接入交换机.png"/>
          <p:cNvPicPr>
            <a:picLocks noChangeAspect="1"/>
          </p:cNvPicPr>
          <p:nvPr/>
        </p:nvPicPr>
        <p:blipFill>
          <a:blip r:embed="rId5" cstate="print"/>
          <a:stretch>
            <a:fillRect/>
          </a:stretch>
        </p:blipFill>
        <p:spPr bwMode="gray">
          <a:xfrm>
            <a:off x="1412416" y="4617117"/>
            <a:ext cx="490909" cy="401654"/>
          </a:xfrm>
          <a:prstGeom prst="rect">
            <a:avLst/>
          </a:prstGeom>
        </p:spPr>
      </p:pic>
      <p:sp>
        <p:nvSpPr>
          <p:cNvPr id="13" name="矩形 12"/>
          <p:cNvSpPr/>
          <p:nvPr/>
        </p:nvSpPr>
        <p:spPr bwMode="gray">
          <a:xfrm>
            <a:off x="2072489" y="1713483"/>
            <a:ext cx="3977427" cy="3041858"/>
          </a:xfrm>
          <a:prstGeom prst="rect">
            <a:avLst/>
          </a:prstGeom>
        </p:spPr>
        <p:txBody>
          <a:bodyPr wrap="square">
            <a:spAutoFit/>
          </a:bodyPr>
          <a:lstStyle/>
          <a:p>
            <a:pPr marL="176213" marR="0" lvl="0" indent="-176213" defTabSz="914400" eaLnBrk="1" fontAlgn="auto" latinLnBrk="0" hangingPunct="1">
              <a:lnSpc>
                <a:spcPts val="2000"/>
              </a:lnSpc>
              <a:spcBef>
                <a:spcPts val="0"/>
              </a:spcBef>
              <a:spcAft>
                <a:spcPts val="600"/>
              </a:spcAft>
              <a:buClrTx/>
              <a:buSzTx/>
              <a:buFont typeface="Arial" panose="020B0604020202020204" pitchFamily="34" charset="0"/>
              <a:buChar char="•"/>
              <a:tabLst/>
              <a:defRPr/>
            </a:pPr>
            <a:r>
              <a:rPr kumimoji="0" lang="zh-CN" altLang="en-US"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传统网络管理系统多数只能分析到三层网络拓扑结构，无法确定详细拓扑信息、是否存在配置冲突等。</a:t>
            </a:r>
            <a:endPar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176213" marR="0" lvl="0" indent="-176213" defTabSz="914400" eaLnBrk="1" fontAlgn="auto" latinLnBrk="0" hangingPunct="1">
              <a:lnSpc>
                <a:spcPts val="2000"/>
              </a:lnSpc>
              <a:spcBef>
                <a:spcPts val="0"/>
              </a:spcBef>
              <a:spcAft>
                <a:spcPts val="600"/>
              </a:spcAft>
              <a:buClrTx/>
              <a:buSzTx/>
              <a:buFont typeface="Arial" panose="020B0604020202020204" pitchFamily="34" charset="0"/>
              <a:buChar char="•"/>
              <a:tabLst/>
              <a:defRPr/>
            </a:pP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LLDP</a:t>
            </a:r>
            <a:r>
              <a:rPr kumimoji="0" lang="zh-CN" altLang="en-US"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提供了一种标准的链路层发现方式。</a:t>
            </a:r>
            <a:endPar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540000" marR="0" lvl="1" indent="-176213" defTabSz="914400" eaLnBrk="1" fontAlgn="auto" latinLnBrk="0" hangingPunct="1">
              <a:lnSpc>
                <a:spcPts val="2000"/>
              </a:lnSpc>
              <a:spcBef>
                <a:spcPts val="0"/>
              </a:spcBef>
              <a:spcAft>
                <a:spcPts val="600"/>
              </a:spcAft>
              <a:buClrTx/>
              <a:buSzPct val="50000"/>
              <a:buFont typeface="Wingdings" panose="05000000000000000000" pitchFamily="2" charset="2"/>
              <a:buChar char="p"/>
              <a:tabLst/>
              <a:defRPr/>
            </a:pPr>
            <a:r>
              <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获取相连设备的拓扑状态；</a:t>
            </a:r>
            <a:endPar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540000" marR="0" lvl="1" indent="-176213" defTabSz="914400" eaLnBrk="1" fontAlgn="auto" latinLnBrk="0" hangingPunct="1">
              <a:lnSpc>
                <a:spcPts val="2000"/>
              </a:lnSpc>
              <a:spcBef>
                <a:spcPts val="0"/>
              </a:spcBef>
              <a:spcAft>
                <a:spcPts val="600"/>
              </a:spcAft>
              <a:buClrTx/>
              <a:buSzPct val="50000"/>
              <a:buFont typeface="Wingdings" panose="05000000000000000000" pitchFamily="2" charset="2"/>
              <a:buChar char="p"/>
              <a:tabLst/>
              <a:defRPr/>
            </a:pPr>
            <a:r>
              <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显示设备之间的路径；</a:t>
            </a:r>
            <a:endPar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540000" marR="0" lvl="1" indent="-176213" defTabSz="914400" eaLnBrk="1" fontAlgn="auto" latinLnBrk="0" hangingPunct="1">
              <a:lnSpc>
                <a:spcPts val="2000"/>
              </a:lnSpc>
              <a:spcBef>
                <a:spcPts val="0"/>
              </a:spcBef>
              <a:spcAft>
                <a:spcPts val="600"/>
              </a:spcAft>
              <a:buClrTx/>
              <a:buSzPct val="50000"/>
              <a:buFont typeface="Wingdings" panose="05000000000000000000" pitchFamily="2" charset="2"/>
              <a:buChar char="p"/>
              <a:tabLst/>
              <a:defRPr/>
            </a:pPr>
            <a:r>
              <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检测设备间的配置冲突、查询网络失败的原因。</a:t>
            </a:r>
            <a:endPar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176213" marR="0" lvl="0" indent="-176213" defTabSz="914400" eaLnBrk="1" fontAlgn="auto" latinLnBrk="0" hangingPunct="1">
              <a:lnSpc>
                <a:spcPts val="2000"/>
              </a:lnSpc>
              <a:spcBef>
                <a:spcPts val="0"/>
              </a:spcBef>
              <a:spcAft>
                <a:spcPts val="600"/>
              </a:spcAft>
              <a:buClrTx/>
              <a:buSzTx/>
              <a:buFont typeface="Arial" panose="020B0604020202020204" pitchFamily="34" charset="0"/>
              <a:buChar char="•"/>
              <a:tabLst/>
              <a:defRPr/>
            </a:pPr>
            <a:r>
              <a:rPr kumimoji="0" lang="zh-CN" altLang="en-US"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可使用网管系统，对运行</a:t>
            </a: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LLDP</a:t>
            </a:r>
            <a:r>
              <a:rPr kumimoji="0" lang="zh-CN" altLang="en-US"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的设备进行链路状态监控，在网络发生故障的时候快速进行故障定位。</a:t>
            </a:r>
          </a:p>
        </p:txBody>
      </p:sp>
      <p:cxnSp>
        <p:nvCxnSpPr>
          <p:cNvPr id="14" name="直接连接符 13"/>
          <p:cNvCxnSpPr/>
          <p:nvPr/>
        </p:nvCxnSpPr>
        <p:spPr bwMode="gray">
          <a:xfrm flipH="1">
            <a:off x="1571911" y="2193520"/>
            <a:ext cx="1" cy="666787"/>
          </a:xfrm>
          <a:prstGeom prst="line">
            <a:avLst/>
          </a:prstGeom>
          <a:noFill/>
          <a:ln w="19050" algn="ctr">
            <a:solidFill>
              <a:srgbClr val="EC7061"/>
            </a:solidFill>
            <a:prstDash val="solid"/>
            <a:round/>
            <a:headEnd type="triangle" w="med" len="med"/>
            <a:tailEnd type="triangle" w="med" len="med"/>
          </a:ln>
        </p:spPr>
      </p:cxnSp>
      <p:cxnSp>
        <p:nvCxnSpPr>
          <p:cNvPr id="15" name="直接连接符 14"/>
          <p:cNvCxnSpPr/>
          <p:nvPr/>
        </p:nvCxnSpPr>
        <p:spPr bwMode="gray">
          <a:xfrm>
            <a:off x="1571912" y="3311446"/>
            <a:ext cx="0" cy="1260000"/>
          </a:xfrm>
          <a:prstGeom prst="line">
            <a:avLst/>
          </a:prstGeom>
          <a:noFill/>
          <a:ln w="19050" algn="ctr">
            <a:solidFill>
              <a:srgbClr val="EC7061"/>
            </a:solidFill>
            <a:prstDash val="solid"/>
            <a:round/>
            <a:headEnd type="triangle" w="med" len="med"/>
            <a:tailEnd type="triangle" w="med" len="med"/>
          </a:ln>
        </p:spPr>
      </p:cxnSp>
      <p:sp>
        <p:nvSpPr>
          <p:cNvPr id="16" name="文本框 15"/>
          <p:cNvSpPr txBox="1"/>
          <p:nvPr/>
        </p:nvSpPr>
        <p:spPr bwMode="gray">
          <a:xfrm>
            <a:off x="913331" y="1880741"/>
            <a:ext cx="518091"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SW1</a:t>
            </a:r>
            <a:endParaRPr kumimoji="0" lang="zh-CN" altLang="en-US" sz="1200" b="1"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文本框 16"/>
          <p:cNvSpPr txBox="1"/>
          <p:nvPr/>
        </p:nvSpPr>
        <p:spPr bwMode="gray">
          <a:xfrm>
            <a:off x="913331" y="2939621"/>
            <a:ext cx="518091"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SW2</a:t>
            </a:r>
            <a:endParaRPr kumimoji="0" lang="zh-CN" altLang="en-US" sz="1200" b="1"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文本框 17"/>
          <p:cNvSpPr txBox="1"/>
          <p:nvPr/>
        </p:nvSpPr>
        <p:spPr bwMode="gray">
          <a:xfrm>
            <a:off x="913331" y="4696640"/>
            <a:ext cx="518091"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SW3</a:t>
            </a:r>
            <a:endParaRPr kumimoji="0" lang="zh-CN" altLang="en-US" sz="1200" b="1"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文本框 18"/>
          <p:cNvSpPr txBox="1"/>
          <p:nvPr/>
        </p:nvSpPr>
        <p:spPr bwMode="gray">
          <a:xfrm rot="5400000">
            <a:off x="1404439" y="4170053"/>
            <a:ext cx="776175"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GE1/0/1</a:t>
            </a:r>
            <a:endPar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文本框 19"/>
          <p:cNvSpPr txBox="1"/>
          <p:nvPr/>
        </p:nvSpPr>
        <p:spPr bwMode="gray">
          <a:xfrm rot="5400000">
            <a:off x="1404439" y="3473659"/>
            <a:ext cx="776175"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GE1/0/1</a:t>
            </a:r>
            <a:endPar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矩形 20"/>
          <p:cNvSpPr/>
          <p:nvPr/>
        </p:nvSpPr>
        <p:spPr bwMode="gray">
          <a:xfrm>
            <a:off x="737640" y="5227095"/>
            <a:ext cx="4273721" cy="646331"/>
          </a:xfrm>
          <a:prstGeom prst="rect">
            <a:avLst/>
          </a:prstGeom>
          <a:solidFill>
            <a:schemeClr val="bg1">
              <a:lumMod val="85000"/>
            </a:schemeClr>
          </a:solidFill>
          <a:ln>
            <a:noFill/>
          </a:ln>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[SW3] display </a:t>
            </a:r>
            <a:r>
              <a:rPr kumimoji="0" lang="en-US" altLang="zh-CN" sz="1200" b="0" i="0" u="none" strike="noStrike" kern="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lldp</a:t>
            </a:r>
            <a:r>
              <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 neighbor brief</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Local </a:t>
            </a:r>
            <a:r>
              <a:rPr kumimoji="0" lang="en-US" altLang="zh-CN" sz="1200" b="0" i="0" u="none" strike="noStrike" kern="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Intf</a:t>
            </a:r>
            <a:r>
              <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  	Neighbor Dev   Neighbor </a:t>
            </a:r>
            <a:r>
              <a:rPr kumimoji="0" lang="en-US" altLang="zh-CN" sz="1200" b="0" i="0" u="none" strike="noStrike" kern="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Intf</a:t>
            </a:r>
            <a:r>
              <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      </a:t>
            </a:r>
            <a:r>
              <a:rPr kumimoji="0" lang="en-US" altLang="zh-CN" sz="1200" b="0" i="0" u="none" strike="noStrike" kern="0" cap="none" spc="0" normalizeH="0" baseline="0" noProof="0" dirty="0" err="1">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Exptime</a:t>
            </a:r>
            <a:r>
              <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         </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GE1/0/1    	SW2	    GE1/0/1             101 </a:t>
            </a:r>
            <a:endPar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2" name="图片 86" descr="核心交换机.png"/>
          <p:cNvPicPr>
            <a:picLocks noChangeAspect="1"/>
          </p:cNvPicPr>
          <p:nvPr/>
        </p:nvPicPr>
        <p:blipFill>
          <a:blip r:embed="rId3" cstate="print"/>
          <a:stretch>
            <a:fillRect/>
          </a:stretch>
        </p:blipFill>
        <p:spPr bwMode="gray">
          <a:xfrm>
            <a:off x="7060755" y="3711654"/>
            <a:ext cx="368827" cy="301768"/>
          </a:xfrm>
          <a:prstGeom prst="rect">
            <a:avLst/>
          </a:prstGeom>
        </p:spPr>
      </p:pic>
      <p:pic>
        <p:nvPicPr>
          <p:cNvPr id="23" name="图片 87" descr="汇聚交换机.png"/>
          <p:cNvPicPr>
            <a:picLocks noChangeAspect="1"/>
          </p:cNvPicPr>
          <p:nvPr/>
        </p:nvPicPr>
        <p:blipFill>
          <a:blip r:embed="rId4" cstate="print"/>
          <a:stretch>
            <a:fillRect/>
          </a:stretch>
        </p:blipFill>
        <p:spPr bwMode="gray">
          <a:xfrm>
            <a:off x="6415170" y="4492010"/>
            <a:ext cx="368827" cy="301768"/>
          </a:xfrm>
          <a:prstGeom prst="rect">
            <a:avLst/>
          </a:prstGeom>
        </p:spPr>
      </p:pic>
      <p:pic>
        <p:nvPicPr>
          <p:cNvPr id="24" name="图片 76" descr="接入交换机.png"/>
          <p:cNvPicPr>
            <a:picLocks noChangeAspect="1"/>
          </p:cNvPicPr>
          <p:nvPr/>
        </p:nvPicPr>
        <p:blipFill>
          <a:blip r:embed="rId5" cstate="print"/>
          <a:stretch>
            <a:fillRect/>
          </a:stretch>
        </p:blipFill>
        <p:spPr bwMode="gray">
          <a:xfrm>
            <a:off x="6419078" y="5208988"/>
            <a:ext cx="368827" cy="301768"/>
          </a:xfrm>
          <a:prstGeom prst="rect">
            <a:avLst/>
          </a:prstGeom>
        </p:spPr>
      </p:pic>
      <p:pic>
        <p:nvPicPr>
          <p:cNvPr id="25" name="图片 87" descr="汇聚交换机.png"/>
          <p:cNvPicPr>
            <a:picLocks noChangeAspect="1"/>
          </p:cNvPicPr>
          <p:nvPr/>
        </p:nvPicPr>
        <p:blipFill>
          <a:blip r:embed="rId4" cstate="print"/>
          <a:stretch>
            <a:fillRect/>
          </a:stretch>
        </p:blipFill>
        <p:spPr bwMode="gray">
          <a:xfrm>
            <a:off x="7702432" y="4492010"/>
            <a:ext cx="368827" cy="301768"/>
          </a:xfrm>
          <a:prstGeom prst="rect">
            <a:avLst/>
          </a:prstGeom>
        </p:spPr>
      </p:pic>
      <p:pic>
        <p:nvPicPr>
          <p:cNvPr id="26" name="图片 76" descr="接入交换机.png"/>
          <p:cNvPicPr>
            <a:picLocks noChangeAspect="1"/>
          </p:cNvPicPr>
          <p:nvPr/>
        </p:nvPicPr>
        <p:blipFill>
          <a:blip r:embed="rId5" cstate="print"/>
          <a:stretch>
            <a:fillRect/>
          </a:stretch>
        </p:blipFill>
        <p:spPr bwMode="gray">
          <a:xfrm>
            <a:off x="7706340" y="5208988"/>
            <a:ext cx="368827" cy="301768"/>
          </a:xfrm>
          <a:prstGeom prst="rect">
            <a:avLst/>
          </a:prstGeom>
        </p:spPr>
      </p:pic>
      <p:grpSp>
        <p:nvGrpSpPr>
          <p:cNvPr id="27" name="组合 26"/>
          <p:cNvGrpSpPr/>
          <p:nvPr/>
        </p:nvGrpSpPr>
        <p:grpSpPr bwMode="gray">
          <a:xfrm>
            <a:off x="6620419" y="4013422"/>
            <a:ext cx="1236737" cy="478588"/>
            <a:chOff x="6163707" y="4349571"/>
            <a:chExt cx="1490563" cy="478588"/>
          </a:xfrm>
        </p:grpSpPr>
        <p:cxnSp>
          <p:nvCxnSpPr>
            <p:cNvPr id="28" name="直接连接符 27"/>
            <p:cNvCxnSpPr/>
            <p:nvPr/>
          </p:nvCxnSpPr>
          <p:spPr bwMode="gray">
            <a:xfrm flipH="1">
              <a:off x="6163707" y="4349571"/>
              <a:ext cx="645584" cy="478588"/>
            </a:xfrm>
            <a:prstGeom prst="line">
              <a:avLst/>
            </a:prstGeom>
            <a:noFill/>
            <a:ln w="19050" algn="ctr">
              <a:solidFill>
                <a:srgbClr val="EC7061"/>
              </a:solidFill>
              <a:prstDash val="solid"/>
              <a:round/>
              <a:headEnd type="triangle" w="med" len="med"/>
              <a:tailEnd type="triangle" w="med" len="med"/>
            </a:ln>
          </p:spPr>
        </p:cxnSp>
        <p:cxnSp>
          <p:nvCxnSpPr>
            <p:cNvPr id="29" name="直接连接符 28"/>
            <p:cNvCxnSpPr/>
            <p:nvPr/>
          </p:nvCxnSpPr>
          <p:spPr bwMode="gray">
            <a:xfrm>
              <a:off x="7012594" y="4349571"/>
              <a:ext cx="641676" cy="478588"/>
            </a:xfrm>
            <a:prstGeom prst="line">
              <a:avLst/>
            </a:prstGeom>
            <a:noFill/>
            <a:ln w="19050" algn="ctr">
              <a:solidFill>
                <a:srgbClr val="EC7061"/>
              </a:solidFill>
              <a:prstDash val="solid"/>
              <a:round/>
              <a:headEnd type="triangle" w="med" len="med"/>
              <a:tailEnd type="triangle" w="med" len="med"/>
            </a:ln>
          </p:spPr>
        </p:cxnSp>
      </p:grpSp>
      <p:cxnSp>
        <p:nvCxnSpPr>
          <p:cNvPr id="30" name="直接连接符 29"/>
          <p:cNvCxnSpPr>
            <a:stCxn id="23" idx="2"/>
            <a:endCxn id="24" idx="0"/>
          </p:cNvCxnSpPr>
          <p:nvPr/>
        </p:nvCxnSpPr>
        <p:spPr bwMode="gray">
          <a:xfrm>
            <a:off x="6599584" y="4793778"/>
            <a:ext cx="3908" cy="415210"/>
          </a:xfrm>
          <a:prstGeom prst="line">
            <a:avLst/>
          </a:prstGeom>
          <a:noFill/>
          <a:ln w="19050" algn="ctr">
            <a:solidFill>
              <a:srgbClr val="EC7061"/>
            </a:solidFill>
            <a:prstDash val="solid"/>
            <a:round/>
            <a:headEnd type="triangle" w="med" len="med"/>
            <a:tailEnd type="triangle" w="med" len="med"/>
          </a:ln>
        </p:spPr>
      </p:cxnSp>
      <p:cxnSp>
        <p:nvCxnSpPr>
          <p:cNvPr id="31" name="直接连接符 30"/>
          <p:cNvCxnSpPr/>
          <p:nvPr/>
        </p:nvCxnSpPr>
        <p:spPr bwMode="gray">
          <a:xfrm>
            <a:off x="7886845" y="4793778"/>
            <a:ext cx="3908" cy="415210"/>
          </a:xfrm>
          <a:prstGeom prst="line">
            <a:avLst/>
          </a:prstGeom>
          <a:noFill/>
          <a:ln w="19050" algn="ctr">
            <a:solidFill>
              <a:srgbClr val="EC7061"/>
            </a:solidFill>
            <a:prstDash val="solid"/>
            <a:round/>
            <a:headEnd type="triangle" w="med" len="med"/>
            <a:tailEnd type="triangle" w="med" len="med"/>
          </a:ln>
        </p:spPr>
      </p:cxnSp>
      <p:pic>
        <p:nvPicPr>
          <p:cNvPr id="32" name="图片 3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6384216" y="1860258"/>
            <a:ext cx="1792651" cy="330612"/>
          </a:xfrm>
          <a:prstGeom prst="rect">
            <a:avLst/>
          </a:prstGeom>
        </p:spPr>
      </p:pic>
      <p:sp>
        <p:nvSpPr>
          <p:cNvPr id="33" name="文本框 32"/>
          <p:cNvSpPr txBox="1"/>
          <p:nvPr/>
        </p:nvSpPr>
        <p:spPr bwMode="gray">
          <a:xfrm>
            <a:off x="6714642" y="3033513"/>
            <a:ext cx="1365994" cy="617990"/>
          </a:xfrm>
          <a:prstGeom prst="rect">
            <a:avLst/>
          </a:prstGeom>
          <a:noFill/>
        </p:spPr>
        <p:txBody>
          <a:bodyPr wrap="square" rtlCol="0">
            <a:spAutoFit/>
          </a:bodyPr>
          <a:lstStyle/>
          <a:p>
            <a:pPr marL="0" marR="0" lvl="0" indent="0" defTabSz="914400" eaLnBrk="1" fontAlgn="auto" latinLnBrk="0" hangingPunct="1">
              <a:lnSpc>
                <a:spcPct val="15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设备将</a:t>
            </a:r>
            <a:r>
              <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LLDP</a:t>
            </a:r>
            <a:r>
              <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信息上报给控制器。</a:t>
            </a:r>
          </a:p>
        </p:txBody>
      </p:sp>
      <p:pic>
        <p:nvPicPr>
          <p:cNvPr id="34" name="图片 33"/>
          <p:cNvPicPr>
            <a:picLocks noChangeAspect="1"/>
          </p:cNvPicPr>
          <p:nvPr/>
        </p:nvPicPr>
        <p:blipFill>
          <a:blip r:embed="rId7"/>
          <a:stretch>
            <a:fillRect/>
          </a:stretch>
        </p:blipFill>
        <p:spPr bwMode="gray">
          <a:xfrm>
            <a:off x="8409561" y="2365458"/>
            <a:ext cx="3092815" cy="2978192"/>
          </a:xfrm>
          <a:prstGeom prst="rect">
            <a:avLst/>
          </a:prstGeom>
          <a:noFill/>
          <a:ln w="12700">
            <a:solidFill>
              <a:schemeClr val="bg1">
                <a:lumMod val="85000"/>
              </a:schemeClr>
            </a:solidFill>
          </a:ln>
        </p:spPr>
      </p:pic>
      <p:sp>
        <p:nvSpPr>
          <p:cNvPr id="35" name="椭圆 34"/>
          <p:cNvSpPr>
            <a:spLocks noChangeAspect="1"/>
          </p:cNvSpPr>
          <p:nvPr/>
        </p:nvSpPr>
        <p:spPr bwMode="gray">
          <a:xfrm>
            <a:off x="6932417" y="4612312"/>
            <a:ext cx="208265" cy="208265"/>
          </a:xfrm>
          <a:prstGeom prst="ellipse">
            <a:avLst/>
          </a:prstGeom>
          <a:solidFill>
            <a:srgbClr val="EC7061">
              <a:lumMod val="100000"/>
            </a:srgbClr>
          </a:solidFill>
          <a:ln w="19050" cap="flat" cmpd="sng" algn="ctr">
            <a:no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a:t>
            </a:r>
            <a:endPar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椭圆 35"/>
          <p:cNvSpPr>
            <a:spLocks noChangeAspect="1"/>
          </p:cNvSpPr>
          <p:nvPr/>
        </p:nvSpPr>
        <p:spPr bwMode="gray">
          <a:xfrm>
            <a:off x="6499360" y="3318312"/>
            <a:ext cx="208265" cy="208265"/>
          </a:xfrm>
          <a:prstGeom prst="ellipse">
            <a:avLst/>
          </a:prstGeom>
          <a:solidFill>
            <a:srgbClr val="EC7061">
              <a:lumMod val="100000"/>
            </a:srgbClr>
          </a:solidFill>
          <a:ln w="19050" cap="flat" cmpd="sng" algn="ctr">
            <a:no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2</a:t>
            </a:r>
            <a:endPar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椭圆 36"/>
          <p:cNvSpPr>
            <a:spLocks noChangeAspect="1"/>
          </p:cNvSpPr>
          <p:nvPr/>
        </p:nvSpPr>
        <p:spPr bwMode="gray">
          <a:xfrm>
            <a:off x="8405010" y="1909276"/>
            <a:ext cx="208265" cy="208265"/>
          </a:xfrm>
          <a:prstGeom prst="ellipse">
            <a:avLst/>
          </a:prstGeom>
          <a:solidFill>
            <a:srgbClr val="EC7061">
              <a:lumMod val="100000"/>
            </a:srgbClr>
          </a:solidFill>
          <a:ln w="19050" cap="flat" cmpd="sng" algn="ctr">
            <a:no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3</a:t>
            </a:r>
            <a:endPar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p:cNvSpPr txBox="1"/>
          <p:nvPr/>
        </p:nvSpPr>
        <p:spPr bwMode="gray">
          <a:xfrm>
            <a:off x="8635142" y="1704413"/>
            <a:ext cx="2867234" cy="646331"/>
          </a:xfrm>
          <a:prstGeom prst="rect">
            <a:avLst/>
          </a:prstGeom>
          <a:noFill/>
        </p:spPr>
        <p:txBody>
          <a:bodyPr wrap="square" rtlCol="0">
            <a:spAutoFit/>
          </a:bodyPr>
          <a:lstStyle/>
          <a:p>
            <a:pPr marL="0" marR="0" lvl="0" indent="0" defTabSz="914400" eaLnBrk="1" fontAlgn="auto" latinLnBrk="0" hangingPunct="1">
              <a:lnSpc>
                <a:spcPct val="15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控制器基于设备上报的</a:t>
            </a:r>
            <a:r>
              <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LLDP</a:t>
            </a:r>
            <a:r>
              <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信息还原</a:t>
            </a: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并呈现网络拓扑。</a:t>
            </a:r>
          </a:p>
        </p:txBody>
      </p:sp>
      <p:pic>
        <p:nvPicPr>
          <p:cNvPr id="39" name="图片 76" descr="接入交换机.png"/>
          <p:cNvPicPr>
            <a:picLocks noChangeAspect="1"/>
          </p:cNvPicPr>
          <p:nvPr/>
        </p:nvPicPr>
        <p:blipFill>
          <a:blip r:embed="rId5" cstate="print"/>
          <a:stretch>
            <a:fillRect/>
          </a:stretch>
        </p:blipFill>
        <p:spPr bwMode="gray">
          <a:xfrm>
            <a:off x="7058139" y="5208988"/>
            <a:ext cx="368827" cy="301768"/>
          </a:xfrm>
          <a:prstGeom prst="rect">
            <a:avLst/>
          </a:prstGeom>
        </p:spPr>
      </p:pic>
      <p:cxnSp>
        <p:nvCxnSpPr>
          <p:cNvPr id="40" name="直接连接符 39"/>
          <p:cNvCxnSpPr>
            <a:stCxn id="22" idx="2"/>
          </p:cNvCxnSpPr>
          <p:nvPr/>
        </p:nvCxnSpPr>
        <p:spPr bwMode="gray">
          <a:xfrm>
            <a:off x="7245169" y="4013422"/>
            <a:ext cx="3907" cy="1195566"/>
          </a:xfrm>
          <a:prstGeom prst="line">
            <a:avLst/>
          </a:prstGeom>
          <a:noFill/>
          <a:ln w="19050" algn="ctr">
            <a:solidFill>
              <a:srgbClr val="EC7061"/>
            </a:solidFill>
            <a:prstDash val="solid"/>
            <a:round/>
            <a:headEnd type="triangle" w="med" len="med"/>
            <a:tailEnd type="triangle" w="med" len="med"/>
          </a:ln>
        </p:spPr>
      </p:cxnSp>
      <p:sp>
        <p:nvSpPr>
          <p:cNvPr id="41" name="五边形 40"/>
          <p:cNvSpPr/>
          <p:nvPr/>
        </p:nvSpPr>
        <p:spPr bwMode="auto">
          <a:xfrm>
            <a:off x="6179960" y="98481"/>
            <a:ext cx="94884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以太网交换</a:t>
            </a:r>
          </a:p>
        </p:txBody>
      </p:sp>
      <p:sp>
        <p:nvSpPr>
          <p:cNvPr id="42" name="燕尾形 41"/>
          <p:cNvSpPr/>
          <p:nvPr/>
        </p:nvSpPr>
        <p:spPr bwMode="auto">
          <a:xfrm>
            <a:off x="7049907" y="98481"/>
            <a:ext cx="678521"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燕尾形 42"/>
          <p:cNvSpPr/>
          <p:nvPr/>
        </p:nvSpPr>
        <p:spPr bwMode="auto">
          <a:xfrm>
            <a:off x="7649535" y="98481"/>
            <a:ext cx="87595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无线接入</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燕尾形 43"/>
          <p:cNvSpPr/>
          <p:nvPr/>
        </p:nvSpPr>
        <p:spPr bwMode="auto">
          <a:xfrm>
            <a:off x="8446601"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可靠性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燕尾形 44"/>
          <p:cNvSpPr/>
          <p:nvPr/>
        </p:nvSpPr>
        <p:spPr bwMode="auto">
          <a:xfrm>
            <a:off x="9148908" y="98481"/>
            <a:ext cx="87048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网络安全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燕尾形 45"/>
          <p:cNvSpPr/>
          <p:nvPr/>
        </p:nvSpPr>
        <p:spPr bwMode="auto">
          <a:xfrm>
            <a:off x="9940504" y="98481"/>
            <a:ext cx="1304004"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网络服务与管理</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燕尾形 46"/>
          <p:cNvSpPr/>
          <p:nvPr/>
        </p:nvSpPr>
        <p:spPr bwMode="auto">
          <a:xfrm>
            <a:off x="11165613" y="98481"/>
            <a:ext cx="583475"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出口</a:t>
            </a:r>
          </a:p>
        </p:txBody>
      </p:sp>
    </p:spTree>
    <p:extLst>
      <p:ext uri="{BB962C8B-B14F-4D97-AF65-F5344CB8AC3E}">
        <p14:creationId xmlns:p14="http://schemas.microsoft.com/office/powerpoint/2010/main" val="1615298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sym typeface="Huawei Sans" panose="020C0503030203020204" pitchFamily="34" charset="0"/>
              </a:rPr>
              <a:t>Telemetry</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a:xfrm>
            <a:off x="455612" y="1047750"/>
            <a:ext cx="11293475" cy="1844805"/>
          </a:xfrm>
        </p:spPr>
        <p:txBody>
          <a:bodyPr/>
          <a:lstStyle/>
          <a:p>
            <a:r>
              <a:rPr lang="en-US" altLang="zh-CN" sz="2000" dirty="0">
                <a:sym typeface="Huawei Sans" panose="020C0503030203020204" pitchFamily="34" charset="0"/>
              </a:rPr>
              <a:t>Telemetry</a:t>
            </a:r>
            <a:r>
              <a:rPr lang="zh-CN" altLang="en-US" sz="2000" dirty="0">
                <a:sym typeface="Huawei Sans" panose="020C0503030203020204" pitchFamily="34" charset="0"/>
              </a:rPr>
              <a:t>也叫</a:t>
            </a:r>
            <a:r>
              <a:rPr lang="en-US" altLang="zh-CN" sz="2000" dirty="0">
                <a:sym typeface="Huawei Sans" panose="020C0503030203020204" pitchFamily="34" charset="0"/>
              </a:rPr>
              <a:t>Network Telemetry</a:t>
            </a:r>
            <a:r>
              <a:rPr lang="zh-CN" altLang="en-US" sz="2000" dirty="0">
                <a:sym typeface="Huawei Sans" panose="020C0503030203020204" pitchFamily="34" charset="0"/>
              </a:rPr>
              <a:t>（网络遥测技术），是一项远程的从物理设备或虚拟设备上</a:t>
            </a:r>
            <a:r>
              <a:rPr lang="zh-CN" altLang="en-US" sz="2000" b="1" dirty="0">
                <a:solidFill>
                  <a:srgbClr val="C7000B"/>
                </a:solidFill>
                <a:sym typeface="Huawei Sans" panose="020C0503030203020204" pitchFamily="34" charset="0"/>
              </a:rPr>
              <a:t>高速</a:t>
            </a:r>
            <a:r>
              <a:rPr lang="zh-CN" altLang="en-US" sz="2000" dirty="0">
                <a:sym typeface="Huawei Sans" panose="020C0503030203020204" pitchFamily="34" charset="0"/>
              </a:rPr>
              <a:t>采集数据的技术。设备通过推模式（</a:t>
            </a:r>
            <a:r>
              <a:rPr lang="en-US" altLang="zh-CN" sz="2000" dirty="0">
                <a:sym typeface="Huawei Sans" panose="020C0503030203020204" pitchFamily="34" charset="0"/>
              </a:rPr>
              <a:t>Push Mode</a:t>
            </a:r>
            <a:r>
              <a:rPr lang="zh-CN" altLang="en-US" sz="2000" dirty="0">
                <a:sym typeface="Huawei Sans" panose="020C0503030203020204" pitchFamily="34" charset="0"/>
              </a:rPr>
              <a:t>）周期性地主动向采集器上送设备的接口流量统计、</a:t>
            </a:r>
            <a:r>
              <a:rPr lang="en-US" altLang="zh-CN" sz="2000" dirty="0">
                <a:sym typeface="Huawei Sans" panose="020C0503030203020204" pitchFamily="34" charset="0"/>
              </a:rPr>
              <a:t>CPU</a:t>
            </a:r>
            <a:r>
              <a:rPr lang="zh-CN" altLang="en-US" sz="2000" dirty="0">
                <a:sym typeface="Huawei Sans" panose="020C0503030203020204" pitchFamily="34" charset="0"/>
              </a:rPr>
              <a:t>或内存数据等信息，相对传统拉模式（</a:t>
            </a:r>
            <a:r>
              <a:rPr lang="en-US" altLang="zh-CN" sz="2000" dirty="0">
                <a:sym typeface="Huawei Sans" panose="020C0503030203020204" pitchFamily="34" charset="0"/>
              </a:rPr>
              <a:t>Pull Mode</a:t>
            </a:r>
            <a:r>
              <a:rPr lang="zh-CN" altLang="en-US" sz="2000" dirty="0">
                <a:sym typeface="Huawei Sans" panose="020C0503030203020204" pitchFamily="34" charset="0"/>
              </a:rPr>
              <a:t>）的一问一答式交互，提供了更实时更高速的数据采集功能。</a:t>
            </a:r>
          </a:p>
        </p:txBody>
      </p:sp>
      <p:pic>
        <p:nvPicPr>
          <p:cNvPr id="5" name="图片 4">
            <a:extLst>
              <a:ext uri="{FF2B5EF4-FFF2-40B4-BE49-F238E27FC236}">
                <a16:creationId xmlns:a16="http://schemas.microsoft.com/office/drawing/2014/main" id="{B0D5661D-DEEA-43C9-A2FB-6249CBB1AC3D}"/>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6030772" y="2642200"/>
            <a:ext cx="427834" cy="350824"/>
          </a:xfrm>
          <a:prstGeom prst="rect">
            <a:avLst/>
          </a:prstGeom>
        </p:spPr>
      </p:pic>
      <p:grpSp>
        <p:nvGrpSpPr>
          <p:cNvPr id="6" name="组合 5">
            <a:extLst>
              <a:ext uri="{FF2B5EF4-FFF2-40B4-BE49-F238E27FC236}">
                <a16:creationId xmlns:a16="http://schemas.microsoft.com/office/drawing/2014/main" id="{BE33A96B-7EBE-4549-BA4C-938F96356FEE}"/>
              </a:ext>
            </a:extLst>
          </p:cNvPr>
          <p:cNvGrpSpPr/>
          <p:nvPr/>
        </p:nvGrpSpPr>
        <p:grpSpPr bwMode="gray">
          <a:xfrm>
            <a:off x="5972116" y="5270328"/>
            <a:ext cx="725589" cy="519269"/>
            <a:chOff x="2771248" y="5810426"/>
            <a:chExt cx="915819" cy="655407"/>
          </a:xfrm>
        </p:grpSpPr>
        <p:sp>
          <p:nvSpPr>
            <p:cNvPr id="20" name="Freeform 159">
              <a:extLst>
                <a:ext uri="{FF2B5EF4-FFF2-40B4-BE49-F238E27FC236}">
                  <a16:creationId xmlns:a16="http://schemas.microsoft.com/office/drawing/2014/main" id="{DA18C563-2443-497D-AAAF-63A59F403C30}"/>
                </a:ext>
              </a:extLst>
            </p:cNvPr>
            <p:cNvSpPr/>
            <p:nvPr/>
          </p:nvSpPr>
          <p:spPr bwMode="gray">
            <a:xfrm flipH="1">
              <a:off x="2935429" y="5810426"/>
              <a:ext cx="751638" cy="3929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0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1" name="图片 20">
              <a:extLst>
                <a:ext uri="{FF2B5EF4-FFF2-40B4-BE49-F238E27FC236}">
                  <a16:creationId xmlns:a16="http://schemas.microsoft.com/office/drawing/2014/main" id="{7A1063F3-A8CC-4050-8C29-03DB95B43B0C}"/>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771248" y="6023033"/>
              <a:ext cx="540000" cy="442800"/>
            </a:xfrm>
            <a:prstGeom prst="rect">
              <a:avLst/>
            </a:prstGeom>
          </p:spPr>
        </p:pic>
      </p:grpSp>
      <p:sp>
        <p:nvSpPr>
          <p:cNvPr id="7" name="文本框 6">
            <a:extLst>
              <a:ext uri="{FF2B5EF4-FFF2-40B4-BE49-F238E27FC236}">
                <a16:creationId xmlns:a16="http://schemas.microsoft.com/office/drawing/2014/main" id="{BDD4EFF4-4533-4FB5-97AB-07D3B0ED7CBB}"/>
              </a:ext>
            </a:extLst>
          </p:cNvPr>
          <p:cNvSpPr txBox="1"/>
          <p:nvPr/>
        </p:nvSpPr>
        <p:spPr bwMode="gray">
          <a:xfrm>
            <a:off x="5892833" y="3007980"/>
            <a:ext cx="719817" cy="292388"/>
          </a:xfrm>
          <a:prstGeom prst="rect">
            <a:avLst/>
          </a:prstGeom>
          <a:noFill/>
        </p:spPr>
        <p:txBody>
          <a:bodyPr wrap="square" rtlCol="0" anchor="ctr">
            <a:spAutoFit/>
          </a:bodyPr>
          <a:lstStyle/>
          <a:p>
            <a:pPr algn="ctr"/>
            <a:r>
              <a:rPr lang="zh-CN" altLang="en-US" sz="13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分析器</a:t>
            </a:r>
          </a:p>
        </p:txBody>
      </p:sp>
      <p:pic>
        <p:nvPicPr>
          <p:cNvPr id="8" name="图片 7"/>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5351002" y="3964040"/>
            <a:ext cx="427834" cy="350824"/>
          </a:xfrm>
          <a:prstGeom prst="rect">
            <a:avLst/>
          </a:prstGeom>
        </p:spPr>
      </p:pic>
      <p:pic>
        <p:nvPicPr>
          <p:cNvPr id="9" name="图片 8"/>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6664040" y="3943243"/>
            <a:ext cx="427834" cy="350824"/>
          </a:xfrm>
          <a:prstGeom prst="rect">
            <a:avLst/>
          </a:prstGeom>
        </p:spPr>
      </p:pic>
      <p:sp>
        <p:nvSpPr>
          <p:cNvPr id="10" name="文本框 9">
            <a:extLst>
              <a:ext uri="{FF2B5EF4-FFF2-40B4-BE49-F238E27FC236}">
                <a16:creationId xmlns:a16="http://schemas.microsoft.com/office/drawing/2014/main" id="{BDD4EFF4-4533-4FB5-97AB-07D3B0ED7CBB}"/>
              </a:ext>
            </a:extLst>
          </p:cNvPr>
          <p:cNvSpPr txBox="1"/>
          <p:nvPr/>
        </p:nvSpPr>
        <p:spPr bwMode="gray">
          <a:xfrm>
            <a:off x="5897604" y="5801281"/>
            <a:ext cx="561002" cy="292388"/>
          </a:xfrm>
          <a:prstGeom prst="rect">
            <a:avLst/>
          </a:prstGeom>
          <a:noFill/>
        </p:spPr>
        <p:txBody>
          <a:bodyPr wrap="square" rtlCol="0" anchor="ctr">
            <a:spAutoFit/>
          </a:bodyPr>
          <a:lstStyle/>
          <a:p>
            <a:pPr algn="ctr"/>
            <a:r>
              <a:rPr lang="zh-CN" altLang="en-US" sz="13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设备</a:t>
            </a:r>
            <a:endParaRPr lang="zh-CN" altLang="en-US" sz="13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Right Arrow 157"/>
          <p:cNvSpPr/>
          <p:nvPr/>
        </p:nvSpPr>
        <p:spPr bwMode="gray">
          <a:xfrm rot="7509341">
            <a:off x="6449099" y="4633133"/>
            <a:ext cx="626765" cy="282245"/>
          </a:xfrm>
          <a:prstGeom prst="rightArrow">
            <a:avLst>
              <a:gd name="adj1" fmla="val 40000"/>
              <a:gd name="adj2" fmla="val 50000"/>
            </a:avLst>
          </a:prstGeom>
          <a:gradFill flip="none" rotWithShape="1">
            <a:gsLst>
              <a:gs pos="15000">
                <a:schemeClr val="accent1">
                  <a:lumMod val="5000"/>
                  <a:lumOff val="95000"/>
                  <a:alpha val="0"/>
                </a:schemeClr>
              </a:gs>
              <a:gs pos="81000">
                <a:srgbClr val="56C4D2"/>
              </a:gs>
            </a:gsLst>
            <a:lin ang="0" scaled="1"/>
            <a:tileRect/>
          </a:gradFill>
          <a:ln w="15875">
            <a:gradFill flip="none" rotWithShape="1">
              <a:gsLst>
                <a:gs pos="0">
                  <a:schemeClr val="accent1">
                    <a:lumMod val="5000"/>
                    <a:lumOff val="95000"/>
                  </a:schemeClr>
                </a:gs>
                <a:gs pos="100000">
                  <a:srgbClr val="30B5C5"/>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Right Arrow 157"/>
          <p:cNvSpPr/>
          <p:nvPr/>
        </p:nvSpPr>
        <p:spPr bwMode="gray">
          <a:xfrm rot="3064701">
            <a:off x="6422133" y="3168560"/>
            <a:ext cx="626765" cy="282245"/>
          </a:xfrm>
          <a:prstGeom prst="rightArrow">
            <a:avLst>
              <a:gd name="adj1" fmla="val 40000"/>
              <a:gd name="adj2" fmla="val 50000"/>
            </a:avLst>
          </a:prstGeom>
          <a:gradFill flip="none" rotWithShape="1">
            <a:gsLst>
              <a:gs pos="15000">
                <a:schemeClr val="accent1">
                  <a:lumMod val="5000"/>
                  <a:lumOff val="95000"/>
                  <a:alpha val="0"/>
                </a:schemeClr>
              </a:gs>
              <a:gs pos="81000">
                <a:srgbClr val="56C4D2"/>
              </a:gs>
            </a:gsLst>
            <a:lin ang="0" scaled="1"/>
            <a:tileRect/>
          </a:gradFill>
          <a:ln w="15875">
            <a:gradFill flip="none" rotWithShape="1">
              <a:gsLst>
                <a:gs pos="0">
                  <a:schemeClr val="accent1">
                    <a:lumMod val="5000"/>
                    <a:lumOff val="95000"/>
                  </a:schemeClr>
                </a:gs>
                <a:gs pos="100000">
                  <a:srgbClr val="30B5C5"/>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Right Arrow 157"/>
          <p:cNvSpPr/>
          <p:nvPr/>
        </p:nvSpPr>
        <p:spPr bwMode="gray">
          <a:xfrm rot="14282487">
            <a:off x="5434196" y="4710269"/>
            <a:ext cx="689281" cy="291447"/>
          </a:xfrm>
          <a:prstGeom prst="rightArrow">
            <a:avLst>
              <a:gd name="adj1" fmla="val 40000"/>
              <a:gd name="adj2" fmla="val 50000"/>
            </a:avLst>
          </a:prstGeom>
          <a:gradFill flip="none" rotWithShape="1">
            <a:gsLst>
              <a:gs pos="15000">
                <a:schemeClr val="accent1">
                  <a:lumMod val="5000"/>
                  <a:lumOff val="95000"/>
                  <a:alpha val="0"/>
                </a:schemeClr>
              </a:gs>
              <a:gs pos="81000">
                <a:srgbClr val="FEEEC1"/>
              </a:gs>
            </a:gsLst>
            <a:lin ang="0" scaled="1"/>
            <a:tileRect/>
          </a:gradFill>
          <a:ln w="15875">
            <a:gradFill flip="none" rotWithShape="1">
              <a:gsLst>
                <a:gs pos="11000">
                  <a:schemeClr val="accent1">
                    <a:lumMod val="0"/>
                    <a:lumOff val="100000"/>
                    <a:alpha val="0"/>
                  </a:schemeClr>
                </a:gs>
                <a:gs pos="67000">
                  <a:srgbClr val="FDD351"/>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Right Arrow 157"/>
          <p:cNvSpPr/>
          <p:nvPr/>
        </p:nvSpPr>
        <p:spPr bwMode="gray">
          <a:xfrm rot="18418800">
            <a:off x="5307029" y="3267956"/>
            <a:ext cx="689281" cy="291447"/>
          </a:xfrm>
          <a:prstGeom prst="rightArrow">
            <a:avLst>
              <a:gd name="adj1" fmla="val 40000"/>
              <a:gd name="adj2" fmla="val 50000"/>
            </a:avLst>
          </a:prstGeom>
          <a:gradFill flip="none" rotWithShape="1">
            <a:gsLst>
              <a:gs pos="15000">
                <a:schemeClr val="accent1">
                  <a:lumMod val="5000"/>
                  <a:lumOff val="95000"/>
                  <a:alpha val="0"/>
                </a:schemeClr>
              </a:gs>
              <a:gs pos="81000">
                <a:srgbClr val="FEEEC1"/>
              </a:gs>
            </a:gsLst>
            <a:lin ang="0" scaled="1"/>
            <a:tileRect/>
          </a:gradFill>
          <a:ln w="15875">
            <a:gradFill flip="none" rotWithShape="1">
              <a:gsLst>
                <a:gs pos="11000">
                  <a:schemeClr val="accent1">
                    <a:lumMod val="0"/>
                    <a:lumOff val="100000"/>
                    <a:alpha val="0"/>
                  </a:schemeClr>
                </a:gs>
                <a:gs pos="67000">
                  <a:srgbClr val="FDD351"/>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矩形 14">
            <a:extLst>
              <a:ext uri="{FF2B5EF4-FFF2-40B4-BE49-F238E27FC236}">
                <a16:creationId xmlns:a16="http://schemas.microsoft.com/office/drawing/2014/main" id="{453348B2-735E-4889-A139-375AEB133887}"/>
              </a:ext>
            </a:extLst>
          </p:cNvPr>
          <p:cNvSpPr/>
          <p:nvPr/>
        </p:nvSpPr>
        <p:spPr bwMode="gray">
          <a:xfrm>
            <a:off x="5150106" y="5144756"/>
            <a:ext cx="2302189" cy="1027629"/>
          </a:xfrm>
          <a:prstGeom prst="rect">
            <a:avLst/>
          </a:prstGeom>
          <a:noFill/>
          <a:ln w="19050">
            <a:solidFill>
              <a:srgbClr val="30B5C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矩形 15">
            <a:extLst>
              <a:ext uri="{FF2B5EF4-FFF2-40B4-BE49-F238E27FC236}">
                <a16:creationId xmlns:a16="http://schemas.microsoft.com/office/drawing/2014/main" id="{453348B2-735E-4889-A139-375AEB133887}"/>
              </a:ext>
            </a:extLst>
          </p:cNvPr>
          <p:cNvSpPr/>
          <p:nvPr/>
        </p:nvSpPr>
        <p:spPr bwMode="gray">
          <a:xfrm>
            <a:off x="5140072" y="3785546"/>
            <a:ext cx="2302189" cy="1283872"/>
          </a:xfrm>
          <a:prstGeom prst="rect">
            <a:avLst/>
          </a:prstGeom>
          <a:noFill/>
          <a:ln w="19050">
            <a:solidFill>
              <a:srgbClr val="30B5C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文本框 16">
            <a:extLst>
              <a:ext uri="{FF2B5EF4-FFF2-40B4-BE49-F238E27FC236}">
                <a16:creationId xmlns:a16="http://schemas.microsoft.com/office/drawing/2014/main" id="{BDD4EFF4-4533-4FB5-97AB-07D3B0ED7CBB}"/>
              </a:ext>
            </a:extLst>
          </p:cNvPr>
          <p:cNvSpPr txBox="1"/>
          <p:nvPr/>
        </p:nvSpPr>
        <p:spPr bwMode="gray">
          <a:xfrm>
            <a:off x="5179200" y="4297399"/>
            <a:ext cx="775390" cy="292388"/>
          </a:xfrm>
          <a:prstGeom prst="rect">
            <a:avLst/>
          </a:prstGeom>
          <a:noFill/>
        </p:spPr>
        <p:txBody>
          <a:bodyPr wrap="square" rtlCol="0" anchor="ctr">
            <a:spAutoFit/>
          </a:bodyPr>
          <a:lstStyle/>
          <a:p>
            <a:pPr algn="ctr"/>
            <a:r>
              <a:rPr lang="zh-CN" altLang="en-US" sz="13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采集器</a:t>
            </a:r>
            <a:endParaRPr lang="zh-CN" altLang="en-US" sz="13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文本框 17">
            <a:extLst>
              <a:ext uri="{FF2B5EF4-FFF2-40B4-BE49-F238E27FC236}">
                <a16:creationId xmlns:a16="http://schemas.microsoft.com/office/drawing/2014/main" id="{BDD4EFF4-4533-4FB5-97AB-07D3B0ED7CBB}"/>
              </a:ext>
            </a:extLst>
          </p:cNvPr>
          <p:cNvSpPr txBox="1"/>
          <p:nvPr/>
        </p:nvSpPr>
        <p:spPr bwMode="gray">
          <a:xfrm>
            <a:off x="6516481" y="4306264"/>
            <a:ext cx="775390" cy="292388"/>
          </a:xfrm>
          <a:prstGeom prst="rect">
            <a:avLst/>
          </a:prstGeom>
          <a:noFill/>
        </p:spPr>
        <p:txBody>
          <a:bodyPr wrap="square" rtlCol="0" anchor="ctr">
            <a:spAutoFit/>
          </a:bodyPr>
          <a:lstStyle/>
          <a:p>
            <a:pPr algn="ctr"/>
            <a:r>
              <a:rPr lang="zh-CN" altLang="en-US" sz="13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控制器</a:t>
            </a:r>
            <a:endParaRPr lang="zh-CN" altLang="en-US" sz="13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矩形 18">
            <a:extLst>
              <a:ext uri="{FF2B5EF4-FFF2-40B4-BE49-F238E27FC236}">
                <a16:creationId xmlns:a16="http://schemas.microsoft.com/office/drawing/2014/main" id="{453348B2-735E-4889-A139-375AEB133887}"/>
              </a:ext>
            </a:extLst>
          </p:cNvPr>
          <p:cNvSpPr/>
          <p:nvPr/>
        </p:nvSpPr>
        <p:spPr bwMode="gray">
          <a:xfrm>
            <a:off x="5140072" y="2422826"/>
            <a:ext cx="2302189" cy="1283872"/>
          </a:xfrm>
          <a:prstGeom prst="rect">
            <a:avLst/>
          </a:prstGeom>
          <a:noFill/>
          <a:ln w="19050">
            <a:solidFill>
              <a:srgbClr val="30B5C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Freeform 9"/>
          <p:cNvSpPr>
            <a:spLocks/>
          </p:cNvSpPr>
          <p:nvPr/>
        </p:nvSpPr>
        <p:spPr bwMode="gray">
          <a:xfrm rot="14637775" flipV="1">
            <a:off x="3296159" y="3908902"/>
            <a:ext cx="3057721" cy="1314820"/>
          </a:xfrm>
          <a:custGeom>
            <a:avLst/>
            <a:gdLst>
              <a:gd name="T0" fmla="*/ 30278 w 32079"/>
              <a:gd name="T1" fmla="*/ 4424 h 15622"/>
              <a:gd name="T2" fmla="*/ 2783 w 32079"/>
              <a:gd name="T3" fmla="*/ 15622 h 15622"/>
              <a:gd name="T4" fmla="*/ 0 w 32079"/>
              <a:gd name="T5" fmla="*/ 15523 h 15622"/>
              <a:gd name="T6" fmla="*/ 26897 w 32079"/>
              <a:gd name="T7" fmla="*/ 2112 h 15622"/>
              <a:gd name="T8" fmla="*/ 25060 w 32079"/>
              <a:gd name="T9" fmla="*/ 856 h 15622"/>
              <a:gd name="T10" fmla="*/ 27928 w 32079"/>
              <a:gd name="T11" fmla="*/ 428 h 15622"/>
              <a:gd name="T12" fmla="*/ 30796 w 32079"/>
              <a:gd name="T13" fmla="*/ 0 h 15622"/>
              <a:gd name="T14" fmla="*/ 31438 w 32079"/>
              <a:gd name="T15" fmla="*/ 2828 h 15622"/>
              <a:gd name="T16" fmla="*/ 32079 w 32079"/>
              <a:gd name="T17" fmla="*/ 5656 h 15622"/>
              <a:gd name="T18" fmla="*/ 30278 w 32079"/>
              <a:gd name="T19" fmla="*/ 4424 h 15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079" h="15622">
                <a:moveTo>
                  <a:pt x="30278" y="4424"/>
                </a:moveTo>
                <a:cubicBezTo>
                  <a:pt x="23182" y="11352"/>
                  <a:pt x="13481" y="15622"/>
                  <a:pt x="2783" y="15622"/>
                </a:cubicBezTo>
                <a:cubicBezTo>
                  <a:pt x="1847" y="15622"/>
                  <a:pt x="920" y="15587"/>
                  <a:pt x="0" y="15523"/>
                </a:cubicBezTo>
                <a:cubicBezTo>
                  <a:pt x="10716" y="14774"/>
                  <a:pt x="20250" y="9734"/>
                  <a:pt x="26897" y="2112"/>
                </a:cubicBezTo>
                <a:lnTo>
                  <a:pt x="25060" y="856"/>
                </a:lnTo>
                <a:lnTo>
                  <a:pt x="27928" y="428"/>
                </a:lnTo>
                <a:lnTo>
                  <a:pt x="30796" y="0"/>
                </a:lnTo>
                <a:lnTo>
                  <a:pt x="31438" y="2828"/>
                </a:lnTo>
                <a:lnTo>
                  <a:pt x="32079" y="5656"/>
                </a:lnTo>
                <a:lnTo>
                  <a:pt x="30278" y="4424"/>
                </a:lnTo>
                <a:close/>
              </a:path>
            </a:pathLst>
          </a:custGeom>
          <a:gradFill flip="none" rotWithShape="1">
            <a:gsLst>
              <a:gs pos="15000">
                <a:schemeClr val="accent1">
                  <a:lumMod val="5000"/>
                  <a:lumOff val="95000"/>
                  <a:alpha val="0"/>
                </a:schemeClr>
              </a:gs>
              <a:gs pos="81000">
                <a:srgbClr val="FEEEC1"/>
              </a:gs>
            </a:gsLst>
            <a:lin ang="0" scaled="1"/>
            <a:tileRect/>
          </a:gradFill>
          <a:ln w="15875">
            <a:gradFill flip="none" rotWithShape="1">
              <a:gsLst>
                <a:gs pos="11000">
                  <a:schemeClr val="accent1">
                    <a:lumMod val="0"/>
                    <a:lumOff val="100000"/>
                    <a:alpha val="0"/>
                  </a:schemeClr>
                </a:gs>
                <a:gs pos="67000">
                  <a:srgbClr val="FDD351"/>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圆角矩形 22"/>
          <p:cNvSpPr/>
          <p:nvPr/>
        </p:nvSpPr>
        <p:spPr bwMode="gray">
          <a:xfrm>
            <a:off x="2636047" y="4069786"/>
            <a:ext cx="1553589" cy="357696"/>
          </a:xfrm>
          <a:prstGeom prst="roundRect">
            <a:avLst>
              <a:gd name="adj" fmla="val 15000"/>
            </a:avLst>
          </a:prstGeom>
          <a:solidFill>
            <a:srgbClr val="FEEEC1"/>
          </a:solidFill>
          <a:ln w="12700" cap="flat" cmpd="sng" algn="ctr">
            <a:solidFill>
              <a:srgbClr val="FDE397"/>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altLang="zh-CN"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Telemetry</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上送</a:t>
            </a:r>
          </a:p>
        </p:txBody>
      </p:sp>
      <p:sp>
        <p:nvSpPr>
          <p:cNvPr id="24" name="五边形 23"/>
          <p:cNvSpPr/>
          <p:nvPr/>
        </p:nvSpPr>
        <p:spPr bwMode="auto">
          <a:xfrm>
            <a:off x="6179960" y="98481"/>
            <a:ext cx="94884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以太网交换</a:t>
            </a:r>
          </a:p>
        </p:txBody>
      </p:sp>
      <p:sp>
        <p:nvSpPr>
          <p:cNvPr id="25" name="燕尾形 24"/>
          <p:cNvSpPr/>
          <p:nvPr/>
        </p:nvSpPr>
        <p:spPr bwMode="auto">
          <a:xfrm>
            <a:off x="7049907" y="98481"/>
            <a:ext cx="678521"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燕尾形 25"/>
          <p:cNvSpPr/>
          <p:nvPr/>
        </p:nvSpPr>
        <p:spPr bwMode="auto">
          <a:xfrm>
            <a:off x="7649535" y="98481"/>
            <a:ext cx="87595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无线接入</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燕尾形 26"/>
          <p:cNvSpPr/>
          <p:nvPr/>
        </p:nvSpPr>
        <p:spPr bwMode="auto">
          <a:xfrm>
            <a:off x="8446601"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可靠性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燕尾形 27"/>
          <p:cNvSpPr/>
          <p:nvPr/>
        </p:nvSpPr>
        <p:spPr bwMode="auto">
          <a:xfrm>
            <a:off x="9148908" y="98481"/>
            <a:ext cx="87048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网络安全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燕尾形 28"/>
          <p:cNvSpPr/>
          <p:nvPr/>
        </p:nvSpPr>
        <p:spPr bwMode="auto">
          <a:xfrm>
            <a:off x="9940504" y="98481"/>
            <a:ext cx="1304004"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网络服务与管理</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燕尾形 29"/>
          <p:cNvSpPr/>
          <p:nvPr/>
        </p:nvSpPr>
        <p:spPr bwMode="auto">
          <a:xfrm>
            <a:off x="11165613" y="98481"/>
            <a:ext cx="583475"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出口</a:t>
            </a:r>
          </a:p>
        </p:txBody>
      </p:sp>
    </p:spTree>
    <p:extLst>
      <p:ext uri="{BB962C8B-B14F-4D97-AF65-F5344CB8AC3E}">
        <p14:creationId xmlns:p14="http://schemas.microsoft.com/office/powerpoint/2010/main" val="8172330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Line 9"/>
          <p:cNvSpPr>
            <a:spLocks noChangeShapeType="1"/>
          </p:cNvSpPr>
          <p:nvPr/>
        </p:nvSpPr>
        <p:spPr bwMode="gray">
          <a:xfrm flipH="1">
            <a:off x="3285953" y="1396635"/>
            <a:ext cx="0" cy="1755556"/>
          </a:xfrm>
          <a:prstGeom prst="line">
            <a:avLst/>
          </a:prstGeom>
          <a:solidFill>
            <a:srgbClr val="1AABE2"/>
          </a:solidFill>
          <a:ln w="19050" cap="flat" cmpd="sng" algn="ctr">
            <a:solidFill>
              <a:schemeClr val="tx1"/>
            </a:solidFill>
            <a:prstDash val="solid"/>
            <a:round/>
            <a:headEnd type="none" w="med" len="med"/>
            <a:tailEnd type="none" w="med" len="me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4" name="圆角矩形 13"/>
          <p:cNvSpPr/>
          <p:nvPr/>
        </p:nvSpPr>
        <p:spPr bwMode="gray">
          <a:xfrm rot="16200000">
            <a:off x="1713126" y="2821918"/>
            <a:ext cx="3090788" cy="3592162"/>
          </a:xfrm>
          <a:prstGeom prst="roundRect">
            <a:avLst>
              <a:gd name="adj" fmla="val 7563"/>
            </a:avLst>
          </a:prstGeom>
          <a:solidFill>
            <a:srgbClr val="FFFFFF"/>
          </a:solidFill>
          <a:ln w="12700" cap="flat" cmpd="sng" algn="ctr">
            <a:solidFill>
              <a:srgbClr val="94DA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599"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矩形 17"/>
          <p:cNvSpPr/>
          <p:nvPr/>
        </p:nvSpPr>
        <p:spPr bwMode="gray">
          <a:xfrm>
            <a:off x="1514405" y="3136845"/>
            <a:ext cx="902811" cy="307648"/>
          </a:xfrm>
          <a:prstGeom prst="rect">
            <a:avLst/>
          </a:prstGeom>
        </p:spPr>
        <p:txBody>
          <a:bodyPr wrap="none">
            <a:spAutoFit/>
          </a:bodyPr>
          <a:lstStyle/>
          <a:p>
            <a:pPr algn="ctr" defTabSz="914034" fontAlgn="t">
              <a:spcBef>
                <a:spcPct val="0"/>
              </a:spcBef>
              <a:spcAft>
                <a:spcPct val="0"/>
              </a:spcAft>
            </a:pPr>
            <a:r>
              <a:rPr lang="zh-CN" altLang="en-US" sz="1399" b="1" dirty="0">
                <a:latin typeface="Huawei Sans" panose="020C0503030203020204" pitchFamily="34" charset="0"/>
                <a:ea typeface="方正兰亭黑简体" panose="02000000000000000000" pitchFamily="2" charset="-122"/>
                <a:cs typeface="+mn-ea"/>
                <a:sym typeface="Huawei Sans" panose="020C0503030203020204" pitchFamily="34" charset="0"/>
              </a:rPr>
              <a:t>私有网络</a:t>
            </a:r>
          </a:p>
        </p:txBody>
      </p:sp>
      <p:cxnSp>
        <p:nvCxnSpPr>
          <p:cNvPr id="20" name="直接箭头连接符 19"/>
          <p:cNvCxnSpPr/>
          <p:nvPr/>
        </p:nvCxnSpPr>
        <p:spPr bwMode="gray">
          <a:xfrm rot="16200000">
            <a:off x="2359661" y="4280841"/>
            <a:ext cx="1707926" cy="0"/>
          </a:xfrm>
          <a:prstGeom prst="straightConnector1">
            <a:avLst/>
          </a:prstGeom>
          <a:noFill/>
          <a:ln w="25400" cap="flat" cmpd="sng" algn="ctr">
            <a:solidFill>
              <a:srgbClr val="62B230"/>
            </a:solidFill>
            <a:prstDash val="sysDash"/>
            <a:headEnd type="none" w="med" len="med"/>
            <a:tailEnd type="arrow" w="med" len="med"/>
          </a:ln>
          <a:effectLst>
            <a:outerShdw blurRad="152400" dist="38100" dir="5400000" algn="t" rotWithShape="0">
              <a:prstClr val="black">
                <a:alpha val="12000"/>
              </a:prstClr>
            </a:outerShdw>
          </a:effectLst>
        </p:spPr>
      </p:cxnSp>
      <p:sp>
        <p:nvSpPr>
          <p:cNvPr id="21" name="文本框 32"/>
          <p:cNvSpPr txBox="1"/>
          <p:nvPr/>
        </p:nvSpPr>
        <p:spPr bwMode="gray">
          <a:xfrm>
            <a:off x="1956213" y="3845815"/>
            <a:ext cx="1109666" cy="988323"/>
          </a:xfrm>
          <a:prstGeom prst="rect">
            <a:avLst/>
          </a:prstGeom>
          <a:solidFill>
            <a:srgbClr val="EAF8FA"/>
          </a:solidFill>
          <a:ln w="12700" cap="flat" cmpd="sng" algn="ctr">
            <a:solidFill>
              <a:srgbClr val="94DAE2"/>
            </a:solidFill>
            <a:prstDash val="solid"/>
            <a:miter lim="800000"/>
          </a:ln>
          <a:effectLst/>
        </p:spPr>
        <p:txBody>
          <a:bodyPr rot="0" spcFirstLastPara="0" vertOverflow="overflow" horzOverflow="overflow" vert="horz" wrap="square" lIns="36000" tIns="0" rIns="0" bIns="0" numCol="1" spcCol="0" rtlCol="0" fromWordArt="0" anchor="ctr" anchorCtr="0" forceAA="0" compatLnSpc="1">
            <a:prstTxWarp prst="textNoShape">
              <a:avLst/>
            </a:prstTxWarp>
            <a:noAutofit/>
          </a:bodyPr>
          <a:lstStyle>
            <a:defPPr>
              <a:defRPr lang="en-US"/>
            </a:defPPr>
            <a:lvl1pPr>
              <a:defRPr sz="1400" kern="0">
                <a:solidFill>
                  <a:srgbClr val="1D1D1A"/>
                </a:solidFill>
                <a:latin typeface="Huawei Sans" panose="020C0503030203020204" pitchFamily="34" charset="0"/>
                <a:ea typeface="方正兰亭黑简体" panose="02000000000000000000" pitchFamily="2" charset="-122"/>
              </a:defRPr>
            </a:lvl1pPr>
          </a:lstStyle>
          <a:p>
            <a:r>
              <a:rPr lang="zh-CN" altLang="en-US" sz="1399" dirty="0">
                <a:sym typeface="Huawei Sans" panose="020C0503030203020204" pitchFamily="34" charset="0"/>
              </a:rPr>
              <a:t> 源</a:t>
            </a:r>
            <a:r>
              <a:rPr lang="en-US" altLang="zh-CN" sz="1399" dirty="0">
                <a:sym typeface="Huawei Sans" panose="020C0503030203020204" pitchFamily="34" charset="0"/>
              </a:rPr>
              <a:t>IP</a:t>
            </a:r>
            <a:r>
              <a:rPr lang="zh-CN" altLang="en-US" sz="1399" dirty="0">
                <a:sym typeface="Huawei Sans" panose="020C0503030203020204" pitchFamily="34" charset="0"/>
              </a:rPr>
              <a:t>：</a:t>
            </a:r>
            <a:endParaRPr lang="en-US" altLang="zh-CN" sz="1399" dirty="0">
              <a:sym typeface="Huawei Sans" panose="020C0503030203020204" pitchFamily="34" charset="0"/>
            </a:endParaRPr>
          </a:p>
          <a:p>
            <a:r>
              <a:rPr lang="en-US" altLang="zh-CN" sz="1399" dirty="0">
                <a:sym typeface="Huawei Sans" panose="020C0503030203020204" pitchFamily="34" charset="0"/>
              </a:rPr>
              <a:t>192.168.1.10</a:t>
            </a:r>
          </a:p>
          <a:p>
            <a:r>
              <a:rPr lang="zh-CN" altLang="en-US" sz="1399" dirty="0">
                <a:sym typeface="Huawei Sans" panose="020C0503030203020204" pitchFamily="34" charset="0"/>
              </a:rPr>
              <a:t> 目的</a:t>
            </a:r>
            <a:r>
              <a:rPr lang="en-US" altLang="zh-CN" sz="1399" dirty="0">
                <a:sym typeface="Huawei Sans" panose="020C0503030203020204" pitchFamily="34" charset="0"/>
              </a:rPr>
              <a:t>IP</a:t>
            </a:r>
            <a:r>
              <a:rPr lang="zh-CN" altLang="en-US" sz="1399" dirty="0">
                <a:sym typeface="Huawei Sans" panose="020C0503030203020204" pitchFamily="34" charset="0"/>
              </a:rPr>
              <a:t>：</a:t>
            </a:r>
            <a:endParaRPr lang="en-US" altLang="zh-CN" sz="1399" dirty="0">
              <a:sym typeface="Huawei Sans" panose="020C0503030203020204" pitchFamily="34" charset="0"/>
            </a:endParaRPr>
          </a:p>
          <a:p>
            <a:r>
              <a:rPr lang="en-US" altLang="zh-CN" sz="1399" dirty="0">
                <a:sym typeface="Huawei Sans" panose="020C0503030203020204" pitchFamily="34" charset="0"/>
              </a:rPr>
              <a:t>200.1.2.3</a:t>
            </a:r>
            <a:endParaRPr lang="zh-CN" altLang="en-US" sz="1399" dirty="0">
              <a:sym typeface="Huawei Sans" panose="020C0503030203020204" pitchFamily="34" charset="0"/>
            </a:endParaRPr>
          </a:p>
        </p:txBody>
      </p:sp>
      <p:cxnSp>
        <p:nvCxnSpPr>
          <p:cNvPr id="22" name="直接箭头连接符 21"/>
          <p:cNvCxnSpPr/>
          <p:nvPr/>
        </p:nvCxnSpPr>
        <p:spPr bwMode="auto">
          <a:xfrm rot="16200000">
            <a:off x="2527702" y="4280841"/>
            <a:ext cx="1707927" cy="0"/>
          </a:xfrm>
          <a:prstGeom prst="straightConnector1">
            <a:avLst/>
          </a:prstGeom>
          <a:noFill/>
          <a:ln w="25400" cap="flat" cmpd="sng" algn="ctr">
            <a:solidFill>
              <a:srgbClr val="ED6D00"/>
            </a:solidFill>
            <a:prstDash val="sysDash"/>
            <a:round/>
            <a:headEnd type="arrow" w="med" len="med"/>
            <a:tailEnd type="none" w="med" len="med"/>
          </a:ln>
          <a:effectLst/>
        </p:spPr>
      </p:cxnSp>
      <p:sp>
        <p:nvSpPr>
          <p:cNvPr id="23" name="文本框 41"/>
          <p:cNvSpPr txBox="1"/>
          <p:nvPr/>
        </p:nvSpPr>
        <p:spPr bwMode="gray">
          <a:xfrm>
            <a:off x="3525503" y="3881758"/>
            <a:ext cx="1213800" cy="988323"/>
          </a:xfrm>
          <a:prstGeom prst="rect">
            <a:avLst/>
          </a:prstGeom>
          <a:solidFill>
            <a:srgbClr val="EAF8FA"/>
          </a:solidFill>
          <a:ln w="12700" cap="flat" cmpd="sng" algn="ctr">
            <a:solidFill>
              <a:srgbClr val="94DAE2"/>
            </a:solidFill>
            <a:prstDash val="solid"/>
            <a:miter lim="800000"/>
          </a:ln>
          <a:effectLst/>
        </p:spPr>
        <p:txBody>
          <a:bodyPr rot="0" spcFirstLastPara="0" vertOverflow="overflow" horzOverflow="overflow" vert="horz" wrap="square" lIns="36000" tIns="0" rIns="0" bIns="0" numCol="1" spcCol="0" rtlCol="0" fromWordArt="0" anchor="ctr" anchorCtr="0" forceAA="0" compatLnSpc="1">
            <a:prstTxWarp prst="textNoShape">
              <a:avLst/>
            </a:prstTxWarp>
            <a:noAutofit/>
          </a:bodyPr>
          <a:lstStyle>
            <a:defPPr>
              <a:defRPr lang="en-US"/>
            </a:defPPr>
            <a:lvl1pPr>
              <a:defRPr sz="1400" kern="0">
                <a:solidFill>
                  <a:srgbClr val="1D1D1A"/>
                </a:solidFill>
                <a:latin typeface="Huawei Sans" panose="020C0503030203020204" pitchFamily="34" charset="0"/>
                <a:ea typeface="方正兰亭黑简体" panose="02000000000000000000" pitchFamily="2" charset="-122"/>
              </a:defRPr>
            </a:lvl1pPr>
          </a:lstStyle>
          <a:p>
            <a:r>
              <a:rPr lang="zh-CN" altLang="en-US" sz="1399" dirty="0">
                <a:sym typeface="Huawei Sans" panose="020C0503030203020204" pitchFamily="34" charset="0"/>
              </a:rPr>
              <a:t> 源</a:t>
            </a:r>
            <a:r>
              <a:rPr lang="en-US" altLang="zh-CN" sz="1399" dirty="0">
                <a:sym typeface="Huawei Sans" panose="020C0503030203020204" pitchFamily="34" charset="0"/>
              </a:rPr>
              <a:t>IP</a:t>
            </a:r>
            <a:r>
              <a:rPr lang="zh-CN" altLang="en-US" sz="1399" dirty="0">
                <a:sym typeface="Huawei Sans" panose="020C0503030203020204" pitchFamily="34" charset="0"/>
              </a:rPr>
              <a:t>：</a:t>
            </a:r>
            <a:endParaRPr lang="en-US" altLang="zh-CN" sz="1399" dirty="0">
              <a:sym typeface="Huawei Sans" panose="020C0503030203020204" pitchFamily="34" charset="0"/>
            </a:endParaRPr>
          </a:p>
          <a:p>
            <a:r>
              <a:rPr lang="en-US" altLang="zh-CN" sz="1399" dirty="0">
                <a:sym typeface="Huawei Sans" panose="020C0503030203020204" pitchFamily="34" charset="0"/>
              </a:rPr>
              <a:t>200.1.2.3</a:t>
            </a:r>
          </a:p>
          <a:p>
            <a:r>
              <a:rPr lang="zh-CN" altLang="en-US" sz="1399" dirty="0">
                <a:sym typeface="Huawei Sans" panose="020C0503030203020204" pitchFamily="34" charset="0"/>
              </a:rPr>
              <a:t> 目的</a:t>
            </a:r>
            <a:r>
              <a:rPr lang="en-US" altLang="zh-CN" sz="1399" dirty="0">
                <a:sym typeface="Huawei Sans" panose="020C0503030203020204" pitchFamily="34" charset="0"/>
              </a:rPr>
              <a:t>IP</a:t>
            </a:r>
            <a:r>
              <a:rPr lang="zh-CN" altLang="en-US" sz="1399" dirty="0">
                <a:sym typeface="Huawei Sans" panose="020C0503030203020204" pitchFamily="34" charset="0"/>
              </a:rPr>
              <a:t>：</a:t>
            </a:r>
            <a:endParaRPr lang="en-US" altLang="zh-CN" sz="1399" dirty="0">
              <a:sym typeface="Huawei Sans" panose="020C0503030203020204" pitchFamily="34" charset="0"/>
            </a:endParaRPr>
          </a:p>
          <a:p>
            <a:r>
              <a:rPr lang="en-US" altLang="zh-CN" sz="1399" dirty="0">
                <a:sym typeface="Huawei Sans" panose="020C0503030203020204" pitchFamily="34" charset="0"/>
              </a:rPr>
              <a:t>192.168.1.10</a:t>
            </a:r>
            <a:endParaRPr lang="zh-CN" altLang="en-US" sz="1399" dirty="0">
              <a:sym typeface="Huawei Sans" panose="020C0503030203020204" pitchFamily="34" charset="0"/>
            </a:endParaRPr>
          </a:p>
        </p:txBody>
      </p:sp>
      <p:sp>
        <p:nvSpPr>
          <p:cNvPr id="2" name="标题 1"/>
          <p:cNvSpPr>
            <a:spLocks noGrp="1"/>
          </p:cNvSpPr>
          <p:nvPr>
            <p:ph type="title"/>
          </p:nvPr>
        </p:nvSpPr>
        <p:spPr bwMode="gray"/>
        <p:txBody>
          <a:bodyPr/>
          <a:lstStyle/>
          <a:p>
            <a:r>
              <a:rPr lang="en-US" altLang="zh-CN" dirty="0">
                <a:sym typeface="Huawei Sans" panose="020C0503030203020204" pitchFamily="34" charset="0"/>
              </a:rPr>
              <a:t>NAT</a:t>
            </a:r>
            <a:endParaRPr lang="zh-CN" altLang="en-US" dirty="0">
              <a:sym typeface="Huawei Sans" panose="020C0503030203020204" pitchFamily="34" charset="0"/>
            </a:endParaRPr>
          </a:p>
        </p:txBody>
      </p:sp>
      <p:sp>
        <p:nvSpPr>
          <p:cNvPr id="5" name="TextBox 9"/>
          <p:cNvSpPr txBox="1"/>
          <p:nvPr/>
        </p:nvSpPr>
        <p:spPr bwMode="gray">
          <a:xfrm>
            <a:off x="3435735" y="3077577"/>
            <a:ext cx="1082348"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400" b="1"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出口路由器</a:t>
            </a:r>
            <a:endParaRPr kumimoji="0" lang="zh-CN" altLang="en-US" sz="14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3038439" y="2790623"/>
            <a:ext cx="490909" cy="401652"/>
          </a:xfrm>
          <a:prstGeom prst="rect">
            <a:avLst/>
          </a:prstGeom>
          <a:noFill/>
        </p:spPr>
      </p:pic>
      <p:pic>
        <p:nvPicPr>
          <p:cNvPr id="16" name="图片 15" descr="PC.png"/>
          <p:cNvPicPr>
            <a:picLocks noChangeAspect="1"/>
          </p:cNvPicPr>
          <p:nvPr/>
        </p:nvPicPr>
        <p:blipFill>
          <a:blip r:embed="rId4" cstate="print"/>
          <a:stretch>
            <a:fillRect/>
          </a:stretch>
        </p:blipFill>
        <p:spPr bwMode="gray">
          <a:xfrm>
            <a:off x="2994305" y="5170665"/>
            <a:ext cx="700414" cy="537918"/>
          </a:xfrm>
          <a:prstGeom prst="rect">
            <a:avLst/>
          </a:prstGeom>
        </p:spPr>
      </p:pic>
      <p:sp>
        <p:nvSpPr>
          <p:cNvPr id="17" name="TextBox 77"/>
          <p:cNvSpPr txBox="1"/>
          <p:nvPr/>
        </p:nvSpPr>
        <p:spPr bwMode="gray">
          <a:xfrm>
            <a:off x="2341374" y="5682565"/>
            <a:ext cx="1803578" cy="531627"/>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399"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PC</a:t>
            </a:r>
          </a:p>
          <a:p>
            <a:pPr algn="ctr" defTabSz="1001248" eaLnBrk="0" hangingPunct="0"/>
            <a:r>
              <a:rPr lang="en-US" altLang="zh-CN" sz="1399"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192.168.1.10/24</a:t>
            </a:r>
            <a:endParaRPr lang="zh-CN" altLang="en-US" sz="1399"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30" name="图片 29" descr="Web服务器-蓝.png"/>
          <p:cNvPicPr>
            <a:picLocks noChangeAspect="1"/>
          </p:cNvPicPr>
          <p:nvPr/>
        </p:nvPicPr>
        <p:blipFill>
          <a:blip r:embed="rId5" cstate="print"/>
          <a:stretch>
            <a:fillRect/>
          </a:stretch>
        </p:blipFill>
        <p:spPr bwMode="gray">
          <a:xfrm>
            <a:off x="5150664" y="1050976"/>
            <a:ext cx="701632" cy="574062"/>
          </a:xfrm>
          <a:prstGeom prst="rect">
            <a:avLst/>
          </a:prstGeom>
        </p:spPr>
      </p:pic>
      <p:sp>
        <p:nvSpPr>
          <p:cNvPr id="31" name="TextBox 77"/>
          <p:cNvSpPr txBox="1"/>
          <p:nvPr/>
        </p:nvSpPr>
        <p:spPr bwMode="gray">
          <a:xfrm>
            <a:off x="5661235" y="1060744"/>
            <a:ext cx="1413874" cy="531627"/>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399"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Web</a:t>
            </a:r>
            <a:r>
              <a:rPr lang="zh-CN" altLang="en-US" sz="1399"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服务器</a:t>
            </a:r>
            <a:endParaRPr lang="en-US" altLang="zh-CN" sz="1399"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ctr" defTabSz="1001248" eaLnBrk="0" hangingPunct="0"/>
            <a:r>
              <a:rPr lang="en-US" altLang="zh-CN" sz="1399"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200.1.2.3</a:t>
            </a:r>
            <a:endParaRPr lang="zh-CN" altLang="en-US" sz="1399"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33" name="直接箭头连接符 32"/>
          <p:cNvCxnSpPr/>
          <p:nvPr/>
        </p:nvCxnSpPr>
        <p:spPr bwMode="gray">
          <a:xfrm rot="18743443">
            <a:off x="3522917" y="2103145"/>
            <a:ext cx="1741245" cy="0"/>
          </a:xfrm>
          <a:prstGeom prst="straightConnector1">
            <a:avLst/>
          </a:prstGeom>
          <a:noFill/>
          <a:ln w="25400" cap="flat" cmpd="sng" algn="ctr">
            <a:solidFill>
              <a:srgbClr val="62B230"/>
            </a:solidFill>
            <a:prstDash val="sysDash"/>
            <a:headEnd type="none" w="med" len="med"/>
            <a:tailEnd type="arrow" w="med" len="med"/>
          </a:ln>
          <a:effectLst>
            <a:outerShdw blurRad="152400" dist="38100" dir="5400000" algn="t" rotWithShape="0">
              <a:prstClr val="black">
                <a:alpha val="12000"/>
              </a:prstClr>
            </a:outerShdw>
          </a:effectLst>
        </p:spPr>
      </p:cxnSp>
      <p:cxnSp>
        <p:nvCxnSpPr>
          <p:cNvPr id="35" name="直接箭头连接符 34"/>
          <p:cNvCxnSpPr/>
          <p:nvPr/>
        </p:nvCxnSpPr>
        <p:spPr bwMode="auto">
          <a:xfrm rot="18743443">
            <a:off x="3595195" y="2205695"/>
            <a:ext cx="1741245" cy="0"/>
          </a:xfrm>
          <a:prstGeom prst="straightConnector1">
            <a:avLst/>
          </a:prstGeom>
          <a:noFill/>
          <a:ln w="25400" cap="flat" cmpd="sng" algn="ctr">
            <a:solidFill>
              <a:srgbClr val="ED6D00"/>
            </a:solidFill>
            <a:prstDash val="sysDash"/>
            <a:round/>
            <a:headEnd type="arrow" w="med" len="med"/>
            <a:tailEnd type="none" w="med" len="med"/>
          </a:ln>
          <a:effectLst/>
        </p:spPr>
      </p:cxnSp>
      <p:sp>
        <p:nvSpPr>
          <p:cNvPr id="36" name="文本框 43"/>
          <p:cNvSpPr txBox="1"/>
          <p:nvPr/>
        </p:nvSpPr>
        <p:spPr bwMode="gray">
          <a:xfrm rot="18743443">
            <a:off x="4058579" y="2142511"/>
            <a:ext cx="1514920" cy="459312"/>
          </a:xfrm>
          <a:prstGeom prst="rect">
            <a:avLst/>
          </a:prstGeom>
          <a:solidFill>
            <a:srgbClr val="EAF8FA"/>
          </a:solidFill>
          <a:ln w="12700" cap="flat" cmpd="sng" algn="ctr">
            <a:solidFill>
              <a:srgbClr val="94DA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defRPr sz="1400" kern="0">
                <a:solidFill>
                  <a:srgbClr val="1D1D1A"/>
                </a:solidFill>
                <a:latin typeface="Huawei Sans" panose="020C0503030203020204" pitchFamily="34" charset="0"/>
                <a:ea typeface="方正兰亭黑简体" panose="02000000000000000000" pitchFamily="2" charset="-122"/>
              </a:defRPr>
            </a:lvl1pPr>
          </a:lstStyle>
          <a:p>
            <a:r>
              <a:rPr lang="zh-CN" altLang="en-US" sz="1399" dirty="0">
                <a:sym typeface="Huawei Sans" panose="020C0503030203020204" pitchFamily="34" charset="0"/>
              </a:rPr>
              <a:t> 源</a:t>
            </a:r>
            <a:r>
              <a:rPr lang="en-US" altLang="zh-CN" sz="1399" dirty="0">
                <a:sym typeface="Huawei Sans" panose="020C0503030203020204" pitchFamily="34" charset="0"/>
              </a:rPr>
              <a:t>IP</a:t>
            </a:r>
            <a:r>
              <a:rPr lang="zh-CN" altLang="en-US" sz="1399" dirty="0">
                <a:sym typeface="Huawei Sans" panose="020C0503030203020204" pitchFamily="34" charset="0"/>
              </a:rPr>
              <a:t>：</a:t>
            </a:r>
            <a:r>
              <a:rPr lang="en-US" altLang="zh-CN" sz="1399" dirty="0">
                <a:sym typeface="Huawei Sans" panose="020C0503030203020204" pitchFamily="34" charset="0"/>
              </a:rPr>
              <a:t>200.1.2.3</a:t>
            </a:r>
          </a:p>
          <a:p>
            <a:r>
              <a:rPr lang="zh-CN" altLang="en-US" sz="1399" dirty="0">
                <a:sym typeface="Huawei Sans" panose="020C0503030203020204" pitchFamily="34" charset="0"/>
              </a:rPr>
              <a:t> 目的</a:t>
            </a:r>
            <a:r>
              <a:rPr lang="en-US" altLang="zh-CN" sz="1399" dirty="0">
                <a:sym typeface="Huawei Sans" panose="020C0503030203020204" pitchFamily="34" charset="0"/>
              </a:rPr>
              <a:t>IP</a:t>
            </a:r>
            <a:r>
              <a:rPr lang="zh-CN" altLang="en-US" sz="1399" dirty="0">
                <a:sym typeface="Huawei Sans" panose="020C0503030203020204" pitchFamily="34" charset="0"/>
              </a:rPr>
              <a:t>：</a:t>
            </a:r>
            <a:r>
              <a:rPr lang="en-US" altLang="zh-CN" sz="1399" dirty="0">
                <a:sym typeface="Huawei Sans" panose="020C0503030203020204" pitchFamily="34" charset="0"/>
              </a:rPr>
              <a:t>122.1.2.1</a:t>
            </a:r>
            <a:endParaRPr lang="zh-CN" altLang="en-US" sz="1399" dirty="0">
              <a:sym typeface="Huawei Sans" panose="020C0503030203020204" pitchFamily="34" charset="0"/>
            </a:endParaRPr>
          </a:p>
        </p:txBody>
      </p:sp>
      <p:sp>
        <p:nvSpPr>
          <p:cNvPr id="37" name="椭圆 36"/>
          <p:cNvSpPr/>
          <p:nvPr/>
        </p:nvSpPr>
        <p:spPr bwMode="gray">
          <a:xfrm rot="18743443">
            <a:off x="3435131" y="2298758"/>
            <a:ext cx="185768" cy="206635"/>
          </a:xfrm>
          <a:prstGeom prst="ellipse">
            <a:avLst/>
          </a:prstGeom>
          <a:solidFill>
            <a:srgbClr val="30B5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399"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399"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椭圆 37"/>
          <p:cNvSpPr/>
          <p:nvPr/>
        </p:nvSpPr>
        <p:spPr bwMode="gray">
          <a:xfrm rot="18743443">
            <a:off x="4055254" y="2828859"/>
            <a:ext cx="185768" cy="206635"/>
          </a:xfrm>
          <a:prstGeom prst="ellipse">
            <a:avLst/>
          </a:prstGeom>
          <a:solidFill>
            <a:srgbClr val="30B5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399"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399"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Line 9"/>
          <p:cNvSpPr>
            <a:spLocks noChangeShapeType="1"/>
          </p:cNvSpPr>
          <p:nvPr/>
        </p:nvSpPr>
        <p:spPr bwMode="gray">
          <a:xfrm flipH="1">
            <a:off x="3381665" y="1310310"/>
            <a:ext cx="1768998" cy="0"/>
          </a:xfrm>
          <a:prstGeom prst="line">
            <a:avLst/>
          </a:prstGeom>
          <a:solidFill>
            <a:srgbClr val="1AABE2"/>
          </a:solidFill>
          <a:ln w="19050" cap="flat" cmpd="sng" algn="ctr">
            <a:solidFill>
              <a:schemeClr val="tx1"/>
            </a:solidFill>
            <a:prstDash val="solid"/>
            <a:round/>
            <a:headEnd type="none" w="med" len="med"/>
            <a:tailEnd type="none" w="med" len="me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nvGrpSpPr>
          <p:cNvPr id="45" name="组合 44"/>
          <p:cNvGrpSpPr/>
          <p:nvPr/>
        </p:nvGrpSpPr>
        <p:grpSpPr bwMode="gray">
          <a:xfrm>
            <a:off x="2576956" y="967290"/>
            <a:ext cx="1413874" cy="526642"/>
            <a:chOff x="2576956" y="1182035"/>
            <a:chExt cx="1413874" cy="526642"/>
          </a:xfrm>
        </p:grpSpPr>
        <p:sp>
          <p:nvSpPr>
            <p:cNvPr id="42" name="Freeform 159"/>
            <p:cNvSpPr/>
            <p:nvPr/>
          </p:nvSpPr>
          <p:spPr bwMode="gray">
            <a:xfrm flipH="1">
              <a:off x="2860937" y="1182035"/>
              <a:ext cx="845913" cy="52664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endParaRPr lang="en-US" sz="1799">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TextBox 77"/>
            <p:cNvSpPr txBox="1"/>
            <p:nvPr/>
          </p:nvSpPr>
          <p:spPr bwMode="gray">
            <a:xfrm>
              <a:off x="2576956" y="1361642"/>
              <a:ext cx="1413874" cy="347035"/>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599"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Internet</a:t>
              </a:r>
              <a:endParaRPr lang="zh-CN" altLang="en-US" sz="1599"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47" name="椭圆 46"/>
          <p:cNvSpPr/>
          <p:nvPr/>
        </p:nvSpPr>
        <p:spPr bwMode="gray">
          <a:xfrm>
            <a:off x="2877366" y="4882134"/>
            <a:ext cx="233878" cy="233878"/>
          </a:xfrm>
          <a:prstGeom prst="ellipse">
            <a:avLst/>
          </a:prstGeom>
          <a:solidFill>
            <a:srgbClr val="30B5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399"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399"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椭圆 47"/>
          <p:cNvSpPr/>
          <p:nvPr/>
        </p:nvSpPr>
        <p:spPr bwMode="gray">
          <a:xfrm>
            <a:off x="3484046" y="4890954"/>
            <a:ext cx="233878" cy="233878"/>
          </a:xfrm>
          <a:prstGeom prst="ellipse">
            <a:avLst/>
          </a:prstGeom>
          <a:solidFill>
            <a:srgbClr val="30B5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399"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399"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圆角矩形 48"/>
          <p:cNvSpPr/>
          <p:nvPr/>
        </p:nvSpPr>
        <p:spPr bwMode="gray">
          <a:xfrm>
            <a:off x="6008613" y="1981200"/>
            <a:ext cx="5703962" cy="3888376"/>
          </a:xfrm>
          <a:prstGeom prst="roundRect">
            <a:avLst>
              <a:gd name="adj" fmla="val 898"/>
            </a:avLst>
          </a:prstGeom>
          <a:noFill/>
          <a:ln w="9525" cap="flat" cmpd="sng" algn="ctr">
            <a:noFill/>
            <a:prstDash val="solid"/>
            <a:miter lim="800000"/>
          </a:ln>
          <a:effectLst/>
        </p:spPr>
        <p:txBody>
          <a:bodyPr rtlCol="0" anchor="t" anchorCtr="0"/>
          <a:lstStyle/>
          <a:p>
            <a:pPr marL="285750" lvl="0" indent="-285750" defTabSz="914400">
              <a:lnSpc>
                <a:spcPts val="2400"/>
              </a:lnSpc>
              <a:spcAft>
                <a:spcPts val="600"/>
              </a:spcAft>
              <a:buSzPct val="50000"/>
              <a:buFont typeface="Wingdings" panose="05000000000000000000" pitchFamily="2" charset="2"/>
              <a:buChar char="l"/>
              <a:defRPr/>
            </a:pPr>
            <a:r>
              <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Network Address Translation</a:t>
            </a: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，网络地址转换）技术可对</a:t>
            </a:r>
            <a:r>
              <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数据报文中的</a:t>
            </a:r>
            <a:r>
              <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地址进行转换，是一种在现网中被广泛部署的技术，一般部署在网络出口设备，例如路由器或防火墙上。</a:t>
            </a:r>
            <a:endPar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lvl="0" indent="-285750" defTabSz="914400">
              <a:lnSpc>
                <a:spcPts val="2400"/>
              </a:lnSpc>
              <a:spcAft>
                <a:spcPts val="600"/>
              </a:spcAft>
              <a:buSzPct val="50000"/>
              <a:buFont typeface="Wingdings" panose="05000000000000000000" pitchFamily="2" charset="2"/>
              <a:buChar char="l"/>
              <a:defRPr/>
            </a:pPr>
            <a:r>
              <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的典型应用场景：</a:t>
            </a:r>
            <a:endPar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742990" lvl="1" indent="-285750" defTabSz="914400">
              <a:lnSpc>
                <a:spcPts val="2400"/>
              </a:lnSpc>
              <a:spcAft>
                <a:spcPts val="600"/>
              </a:spcAft>
              <a:buSzPct val="50000"/>
              <a:buFont typeface="Wingdings" panose="05000000000000000000" pitchFamily="2" charset="2"/>
              <a:buChar char="p"/>
              <a:defRPr/>
            </a:pPr>
            <a:r>
              <a:rPr lang="zh-CN" altLang="en-US" sz="14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在私有网络内部（园区网络）使用私有地址，出口设备部署</a:t>
            </a:r>
            <a:r>
              <a:rPr lang="en-US" altLang="zh-CN" sz="14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4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，对于“从内到外”的流量，网络设备通过</a:t>
            </a:r>
            <a:r>
              <a:rPr lang="en-US" altLang="zh-CN" sz="14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4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将数据包的源地址进行转换（转换成特定的公有地址）。</a:t>
            </a:r>
            <a:endParaRPr lang="en-US" altLang="zh-CN" sz="14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742990" lvl="1" indent="-285750" defTabSz="914400">
              <a:lnSpc>
                <a:spcPts val="2400"/>
              </a:lnSpc>
              <a:spcAft>
                <a:spcPts val="600"/>
              </a:spcAft>
              <a:buSzPct val="50000"/>
              <a:buFont typeface="Wingdings" panose="05000000000000000000" pitchFamily="2" charset="2"/>
              <a:buChar char="p"/>
              <a:defRPr/>
            </a:pPr>
            <a:r>
              <a:rPr lang="zh-CN" altLang="en-US" sz="14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园区网络向互联网用户提供某些服务，当互联网用户通过公网地址访问这些服务时，则需要对来自互联网的数据包的目的地址进行转换。</a:t>
            </a:r>
          </a:p>
          <a:p>
            <a:pPr marL="174625" lvl="0" indent="-174625" defTabSz="914400">
              <a:lnSpc>
                <a:spcPts val="2400"/>
              </a:lnSpc>
              <a:spcAft>
                <a:spcPts val="600"/>
              </a:spcAft>
              <a:buFont typeface="Arial" panose="020B0604020202020204" pitchFamily="34" charset="0"/>
              <a:buChar char="•"/>
              <a:defRPr/>
            </a:pPr>
            <a:endPar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五边形 28"/>
          <p:cNvSpPr/>
          <p:nvPr/>
        </p:nvSpPr>
        <p:spPr bwMode="auto">
          <a:xfrm>
            <a:off x="6179960" y="98481"/>
            <a:ext cx="94884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以太网交换</a:t>
            </a:r>
          </a:p>
        </p:txBody>
      </p:sp>
      <p:sp>
        <p:nvSpPr>
          <p:cNvPr id="32" name="燕尾形 31"/>
          <p:cNvSpPr/>
          <p:nvPr/>
        </p:nvSpPr>
        <p:spPr bwMode="auto">
          <a:xfrm>
            <a:off x="7049907" y="98481"/>
            <a:ext cx="678521"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燕尾形 38"/>
          <p:cNvSpPr/>
          <p:nvPr/>
        </p:nvSpPr>
        <p:spPr bwMode="auto">
          <a:xfrm>
            <a:off x="7649535" y="98481"/>
            <a:ext cx="87595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无线接入</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燕尾形 39"/>
          <p:cNvSpPr/>
          <p:nvPr/>
        </p:nvSpPr>
        <p:spPr bwMode="auto">
          <a:xfrm>
            <a:off x="8446601"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可靠性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燕尾形 40"/>
          <p:cNvSpPr/>
          <p:nvPr/>
        </p:nvSpPr>
        <p:spPr bwMode="auto">
          <a:xfrm>
            <a:off x="9148908" y="98481"/>
            <a:ext cx="87048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网络安全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燕尾形 49"/>
          <p:cNvSpPr/>
          <p:nvPr/>
        </p:nvSpPr>
        <p:spPr bwMode="auto">
          <a:xfrm>
            <a:off x="9940504" y="98481"/>
            <a:ext cx="130400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网络服务与管理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燕尾形 50"/>
          <p:cNvSpPr/>
          <p:nvPr/>
        </p:nvSpPr>
        <p:spPr bwMode="auto">
          <a:xfrm>
            <a:off x="11165613" y="98481"/>
            <a:ext cx="583475"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出口</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文本框 34"/>
          <p:cNvSpPr txBox="1"/>
          <p:nvPr/>
        </p:nvSpPr>
        <p:spPr bwMode="gray">
          <a:xfrm rot="18743443">
            <a:off x="3437751" y="1611766"/>
            <a:ext cx="1514920" cy="459312"/>
          </a:xfrm>
          <a:prstGeom prst="rect">
            <a:avLst/>
          </a:prstGeom>
          <a:solidFill>
            <a:srgbClr val="EAF8FA"/>
          </a:solidFill>
          <a:ln w="12700" cap="flat" cmpd="sng" algn="ctr">
            <a:solidFill>
              <a:srgbClr val="94DA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a:defRPr sz="1600" kern="0">
                <a:solidFill>
                  <a:srgbClr val="1D1D1A"/>
                </a:solidFill>
                <a:latin typeface="Huawei Sans" panose="020C0503030203020204" pitchFamily="34" charset="0"/>
                <a:ea typeface="方正兰亭黑简体" panose="02000000000000000000" pitchFamily="2" charset="-122"/>
              </a:defRPr>
            </a:lvl1pPr>
          </a:lstStyle>
          <a:p>
            <a:pPr algn="l"/>
            <a:r>
              <a:rPr lang="zh-CN" altLang="en-US" sz="1399" dirty="0">
                <a:sym typeface="Huawei Sans" panose="020C0503030203020204" pitchFamily="34" charset="0"/>
              </a:rPr>
              <a:t> 源</a:t>
            </a:r>
            <a:r>
              <a:rPr lang="en-US" altLang="zh-CN" sz="1399" dirty="0">
                <a:sym typeface="Huawei Sans" panose="020C0503030203020204" pitchFamily="34" charset="0"/>
              </a:rPr>
              <a:t>IP</a:t>
            </a:r>
            <a:r>
              <a:rPr lang="zh-CN" altLang="en-US" sz="1399" dirty="0">
                <a:sym typeface="Huawei Sans" panose="020C0503030203020204" pitchFamily="34" charset="0"/>
              </a:rPr>
              <a:t>：</a:t>
            </a:r>
            <a:r>
              <a:rPr lang="en-US" altLang="zh-CN" sz="1399" dirty="0">
                <a:sym typeface="Huawei Sans" panose="020C0503030203020204" pitchFamily="34" charset="0"/>
              </a:rPr>
              <a:t>122.1.2.1</a:t>
            </a:r>
          </a:p>
          <a:p>
            <a:pPr algn="l"/>
            <a:r>
              <a:rPr lang="zh-CN" altLang="en-US" sz="1399" dirty="0">
                <a:sym typeface="Huawei Sans" panose="020C0503030203020204" pitchFamily="34" charset="0"/>
              </a:rPr>
              <a:t> 目的</a:t>
            </a:r>
            <a:r>
              <a:rPr lang="en-US" altLang="zh-CN" sz="1399" dirty="0">
                <a:sym typeface="Huawei Sans" panose="020C0503030203020204" pitchFamily="34" charset="0"/>
              </a:rPr>
              <a:t>IP</a:t>
            </a:r>
            <a:r>
              <a:rPr lang="zh-CN" altLang="en-US" sz="1399" dirty="0">
                <a:sym typeface="Huawei Sans" panose="020C0503030203020204" pitchFamily="34" charset="0"/>
              </a:rPr>
              <a:t>：</a:t>
            </a:r>
            <a:r>
              <a:rPr lang="en-US" altLang="zh-CN" sz="1399" dirty="0">
                <a:sym typeface="Huawei Sans" panose="020C0503030203020204" pitchFamily="34" charset="0"/>
              </a:rPr>
              <a:t>200.1.2.3</a:t>
            </a:r>
            <a:endParaRPr lang="zh-CN" altLang="en-US" sz="1399" dirty="0">
              <a:sym typeface="Huawei Sans" panose="020C0503030203020204" pitchFamily="34" charset="0"/>
            </a:endParaRPr>
          </a:p>
        </p:txBody>
      </p:sp>
    </p:spTree>
    <p:extLst>
      <p:ext uri="{BB962C8B-B14F-4D97-AF65-F5344CB8AC3E}">
        <p14:creationId xmlns:p14="http://schemas.microsoft.com/office/powerpoint/2010/main" val="564787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sym typeface="Huawei Sans" panose="020C0503030203020204" pitchFamily="34" charset="0"/>
              </a:rPr>
              <a:t>GRE</a:t>
            </a:r>
            <a:endParaRPr lang="zh-CN" altLang="en-US" dirty="0">
              <a:sym typeface="Huawei Sans" panose="020C0503030203020204" pitchFamily="34" charset="0"/>
            </a:endParaRPr>
          </a:p>
        </p:txBody>
      </p:sp>
      <p:cxnSp>
        <p:nvCxnSpPr>
          <p:cNvPr id="28" name="Straight Connector 167"/>
          <p:cNvCxnSpPr/>
          <p:nvPr/>
        </p:nvCxnSpPr>
        <p:spPr bwMode="gray">
          <a:xfrm flipV="1">
            <a:off x="1504303" y="3755593"/>
            <a:ext cx="0" cy="578901"/>
          </a:xfrm>
          <a:prstGeom prst="line">
            <a:avLst/>
          </a:prstGeom>
          <a:noFill/>
          <a:ln w="57150" cap="flat" cmpd="sng" algn="ctr">
            <a:solidFill>
              <a:sysClr val="window" lastClr="FFFFFF">
                <a:lumMod val="50000"/>
              </a:sysClr>
            </a:solidFill>
            <a:prstDash val="solid"/>
            <a:miter lim="800000"/>
            <a:tailEnd type="triangle"/>
          </a:ln>
          <a:effectLst/>
        </p:spPr>
      </p:cxnSp>
      <p:sp>
        <p:nvSpPr>
          <p:cNvPr id="29" name="Line 9"/>
          <p:cNvSpPr>
            <a:spLocks noChangeShapeType="1"/>
          </p:cNvSpPr>
          <p:nvPr/>
        </p:nvSpPr>
        <p:spPr bwMode="gray">
          <a:xfrm>
            <a:off x="1277602" y="3636466"/>
            <a:ext cx="0" cy="1694371"/>
          </a:xfrm>
          <a:prstGeom prst="line">
            <a:avLst/>
          </a:prstGeom>
          <a:solidFill>
            <a:srgbClr val="1AABE2"/>
          </a:solidFill>
          <a:ln w="19050" cap="flat" cmpd="sng" algn="ctr">
            <a:solidFill>
              <a:sysClr val="window" lastClr="FFFFFF">
                <a:lumMod val="75000"/>
              </a:sysClr>
            </a:solidFill>
            <a:prstDash val="solid"/>
            <a:round/>
            <a:headEnd type="none" w="med" len="med"/>
            <a:tailEnd type="none" w="med" len="me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30" name="TextBox 9"/>
          <p:cNvSpPr txBox="1"/>
          <p:nvPr/>
        </p:nvSpPr>
        <p:spPr bwMode="gray">
          <a:xfrm>
            <a:off x="1069884" y="2946874"/>
            <a:ext cx="415437" cy="31111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R1</a:t>
            </a:r>
            <a:endParaRPr kumimoji="0" lang="zh-CN" altLang="en-US" sz="1400" b="1"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TextBox 54"/>
          <p:cNvSpPr txBox="1"/>
          <p:nvPr/>
        </p:nvSpPr>
        <p:spPr bwMode="gray">
          <a:xfrm>
            <a:off x="381255" y="5680263"/>
            <a:ext cx="1810111" cy="523220"/>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PC1</a:t>
            </a:r>
          </a:p>
          <a:p>
            <a:pPr lvl="0" algn="ctr" defTabSz="914400"/>
            <a:r>
              <a:rPr lang="en-US" altLang="zh-CN" sz="14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2001:0DB8:0:0::1/64</a:t>
            </a:r>
          </a:p>
        </p:txBody>
      </p:sp>
      <p:pic>
        <p:nvPicPr>
          <p:cNvPr id="32" name="图片 11" descr="开放网络-蓝.png"/>
          <p:cNvPicPr>
            <a:picLocks noChangeAspect="1"/>
          </p:cNvPicPr>
          <p:nvPr/>
        </p:nvPicPr>
        <p:blipFill>
          <a:blip r:embed="rId3" cstate="print"/>
          <a:stretch>
            <a:fillRect/>
          </a:stretch>
        </p:blipFill>
        <p:spPr bwMode="gray">
          <a:xfrm>
            <a:off x="1032326" y="5287039"/>
            <a:ext cx="490552" cy="377619"/>
          </a:xfrm>
          <a:prstGeom prst="rect">
            <a:avLst/>
          </a:prstGeom>
        </p:spPr>
      </p:pic>
      <p:pic>
        <p:nvPicPr>
          <p:cNvPr id="33"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gray">
          <a:xfrm>
            <a:off x="1032148" y="3269234"/>
            <a:ext cx="490909" cy="401652"/>
          </a:xfrm>
          <a:prstGeom prst="rect">
            <a:avLst/>
          </a:prstGeom>
          <a:noFill/>
        </p:spPr>
      </p:pic>
      <p:sp>
        <p:nvSpPr>
          <p:cNvPr id="34" name="Freeform 159"/>
          <p:cNvSpPr/>
          <p:nvPr/>
        </p:nvSpPr>
        <p:spPr bwMode="gray">
          <a:xfrm flipH="1">
            <a:off x="1717127" y="2309583"/>
            <a:ext cx="3195802" cy="174377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ysClr val="window" lastClr="FFFFFF"/>
          </a:solidFill>
          <a:ln w="19050" cap="flat" cmpd="sng" algn="ctr">
            <a:solidFill>
              <a:sysClr val="window" lastClr="FFFFFF">
                <a:lumMod val="65000"/>
              </a:sysClr>
            </a:solidFill>
            <a:prstDash val="solid"/>
            <a:miter lim="800000"/>
          </a:ln>
          <a:effectLst/>
        </p:spPr>
        <p:txBody>
          <a:bodyPr wrap="square" tIns="10800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Line 9"/>
          <p:cNvSpPr>
            <a:spLocks noChangeShapeType="1"/>
          </p:cNvSpPr>
          <p:nvPr/>
        </p:nvSpPr>
        <p:spPr bwMode="gray">
          <a:xfrm>
            <a:off x="5352453" y="3636466"/>
            <a:ext cx="0" cy="1694371"/>
          </a:xfrm>
          <a:prstGeom prst="line">
            <a:avLst/>
          </a:prstGeom>
          <a:solidFill>
            <a:srgbClr val="1AABE2"/>
          </a:solidFill>
          <a:ln w="19050" cap="flat" cmpd="sng" algn="ctr">
            <a:solidFill>
              <a:sysClr val="window" lastClr="FFFFFF">
                <a:lumMod val="75000"/>
              </a:sysClr>
            </a:solidFill>
            <a:prstDash val="solid"/>
            <a:round/>
            <a:headEnd type="none" w="med" len="med"/>
            <a:tailEnd type="none" w="med" len="me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36" name="TextBox 9"/>
          <p:cNvSpPr txBox="1"/>
          <p:nvPr/>
        </p:nvSpPr>
        <p:spPr bwMode="gray">
          <a:xfrm>
            <a:off x="5154292" y="2946874"/>
            <a:ext cx="405880"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R2</a:t>
            </a:r>
            <a:endParaRPr kumimoji="0" lang="zh-CN" altLang="en-US" sz="1400" b="1"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TextBox 54"/>
          <p:cNvSpPr txBox="1"/>
          <p:nvPr/>
        </p:nvSpPr>
        <p:spPr bwMode="gray">
          <a:xfrm>
            <a:off x="4444170" y="5680263"/>
            <a:ext cx="1810111" cy="523220"/>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PC2</a:t>
            </a:r>
          </a:p>
          <a:p>
            <a:pPr lvl="0" algn="ctr" defTabSz="914400"/>
            <a:r>
              <a:rPr lang="en-US" altLang="zh-CN" sz="14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2001:0DB8:0:1::1/64</a:t>
            </a:r>
          </a:p>
        </p:txBody>
      </p:sp>
      <p:pic>
        <p:nvPicPr>
          <p:cNvPr id="38" name="图片 11" descr="开放网络-蓝.png"/>
          <p:cNvPicPr>
            <a:picLocks noChangeAspect="1"/>
          </p:cNvPicPr>
          <p:nvPr/>
        </p:nvPicPr>
        <p:blipFill>
          <a:blip r:embed="rId3" cstate="print"/>
          <a:stretch>
            <a:fillRect/>
          </a:stretch>
        </p:blipFill>
        <p:spPr bwMode="gray">
          <a:xfrm>
            <a:off x="5107177" y="5287039"/>
            <a:ext cx="490552" cy="377619"/>
          </a:xfrm>
          <a:prstGeom prst="rect">
            <a:avLst/>
          </a:prstGeom>
        </p:spPr>
      </p:pic>
      <p:pic>
        <p:nvPicPr>
          <p:cNvPr id="39"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gray">
          <a:xfrm>
            <a:off x="5106999" y="3269234"/>
            <a:ext cx="490909" cy="401652"/>
          </a:xfrm>
          <a:prstGeom prst="rect">
            <a:avLst/>
          </a:prstGeom>
          <a:noFill/>
        </p:spPr>
      </p:pic>
      <p:sp>
        <p:nvSpPr>
          <p:cNvPr id="40" name="Can 225"/>
          <p:cNvSpPr/>
          <p:nvPr/>
        </p:nvSpPr>
        <p:spPr bwMode="gray">
          <a:xfrm rot="5400000">
            <a:off x="3218531" y="1726917"/>
            <a:ext cx="266328" cy="3464616"/>
          </a:xfrm>
          <a:prstGeom prst="can">
            <a:avLst>
              <a:gd name="adj" fmla="val 75773"/>
            </a:avLst>
          </a:prstGeom>
          <a:solidFill>
            <a:srgbClr val="56C4D2"/>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TextBox 9"/>
          <p:cNvSpPr txBox="1"/>
          <p:nvPr/>
        </p:nvSpPr>
        <p:spPr bwMode="gray">
          <a:xfrm>
            <a:off x="1488555" y="2972698"/>
            <a:ext cx="713657"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1.1.1.1</a:t>
            </a:r>
            <a:endParaRPr kumimoji="0" lang="zh-CN" altLang="en-US" sz="1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TextBox 9"/>
          <p:cNvSpPr txBox="1"/>
          <p:nvPr/>
        </p:nvSpPr>
        <p:spPr bwMode="gray">
          <a:xfrm>
            <a:off x="4427844" y="2972698"/>
            <a:ext cx="713657"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2.2.2.2</a:t>
            </a:r>
            <a:endParaRPr kumimoji="0" lang="zh-CN" altLang="en-US" sz="1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TextBox 9"/>
          <p:cNvSpPr txBox="1"/>
          <p:nvPr/>
        </p:nvSpPr>
        <p:spPr bwMode="gray">
          <a:xfrm>
            <a:off x="2869232" y="3305336"/>
            <a:ext cx="891591"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GRE</a:t>
            </a:r>
            <a:r>
              <a:rPr kumimoji="0" lang="zh-CN" altLang="en-US"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隧道</a:t>
            </a:r>
          </a:p>
        </p:txBody>
      </p:sp>
      <p:graphicFrame>
        <p:nvGraphicFramePr>
          <p:cNvPr id="44" name="表格 43"/>
          <p:cNvGraphicFramePr>
            <a:graphicFrameLocks noGrp="1"/>
          </p:cNvGraphicFramePr>
          <p:nvPr>
            <p:extLst>
              <p:ext uri="{D42A27DB-BD31-4B8C-83A1-F6EECF244321}">
                <p14:modId xmlns:p14="http://schemas.microsoft.com/office/powerpoint/2010/main" val="1497583939"/>
              </p:ext>
            </p:extLst>
          </p:nvPr>
        </p:nvGraphicFramePr>
        <p:xfrm>
          <a:off x="1310554" y="4457664"/>
          <a:ext cx="1916658" cy="764640"/>
        </p:xfrm>
        <a:graphic>
          <a:graphicData uri="http://schemas.openxmlformats.org/drawingml/2006/table">
            <a:tbl>
              <a:tblPr firstRow="1" bandRow="1"/>
              <a:tblGrid>
                <a:gridCol w="676830">
                  <a:extLst>
                    <a:ext uri="{9D8B030D-6E8A-4147-A177-3AD203B41FA5}">
                      <a16:colId xmlns:a16="http://schemas.microsoft.com/office/drawing/2014/main" val="20000"/>
                    </a:ext>
                  </a:extLst>
                </a:gridCol>
                <a:gridCol w="1239828">
                  <a:extLst>
                    <a:ext uri="{9D8B030D-6E8A-4147-A177-3AD203B41FA5}">
                      <a16:colId xmlns:a16="http://schemas.microsoft.com/office/drawing/2014/main" val="20001"/>
                    </a:ext>
                  </a:extLst>
                </a:gridCol>
              </a:tblGrid>
              <a:tr h="0">
                <a:tc>
                  <a:txBody>
                    <a:bodyPr/>
                    <a:lstStyle>
                      <a:lvl1pPr marL="0" algn="l" defTabSz="914034" rtl="0" eaLnBrk="1" latinLnBrk="0" hangingPunct="1">
                        <a:defRPr sz="1799" b="1" kern="1200">
                          <a:solidFill>
                            <a:schemeClr val="bg1"/>
                          </a:solidFill>
                          <a:latin typeface="Huawei Sans"/>
                          <a:ea typeface="方正兰亭黑简体"/>
                        </a:defRPr>
                      </a:lvl1pPr>
                      <a:lvl2pPr marL="457017" algn="l" defTabSz="914034" rtl="0" eaLnBrk="1" latinLnBrk="0" hangingPunct="1">
                        <a:defRPr sz="1799" b="1" kern="1200">
                          <a:solidFill>
                            <a:schemeClr val="bg1"/>
                          </a:solidFill>
                          <a:latin typeface="Huawei Sans"/>
                          <a:ea typeface="方正兰亭黑简体"/>
                        </a:defRPr>
                      </a:lvl2pPr>
                      <a:lvl3pPr marL="914034" algn="l" defTabSz="914034" rtl="0" eaLnBrk="1" latinLnBrk="0" hangingPunct="1">
                        <a:defRPr sz="1799" b="1" kern="1200">
                          <a:solidFill>
                            <a:schemeClr val="bg1"/>
                          </a:solidFill>
                          <a:latin typeface="Huawei Sans"/>
                          <a:ea typeface="方正兰亭黑简体"/>
                        </a:defRPr>
                      </a:lvl3pPr>
                      <a:lvl4pPr marL="1371051" algn="l" defTabSz="914034" rtl="0" eaLnBrk="1" latinLnBrk="0" hangingPunct="1">
                        <a:defRPr sz="1799" b="1" kern="1200">
                          <a:solidFill>
                            <a:schemeClr val="bg1"/>
                          </a:solidFill>
                          <a:latin typeface="Huawei Sans"/>
                          <a:ea typeface="方正兰亭黑简体"/>
                        </a:defRPr>
                      </a:lvl4pPr>
                      <a:lvl5pPr marL="1828068" algn="l" defTabSz="914034" rtl="0" eaLnBrk="1" latinLnBrk="0" hangingPunct="1">
                        <a:defRPr sz="1799" b="1" kern="1200">
                          <a:solidFill>
                            <a:schemeClr val="bg1"/>
                          </a:solidFill>
                          <a:latin typeface="Huawei Sans"/>
                          <a:ea typeface="方正兰亭黑简体"/>
                        </a:defRPr>
                      </a:lvl5pPr>
                      <a:lvl6pPr marL="2285086" algn="l" defTabSz="914034" rtl="0" eaLnBrk="1" latinLnBrk="0" hangingPunct="1">
                        <a:defRPr sz="1799" b="1" kern="1200">
                          <a:solidFill>
                            <a:schemeClr val="bg1"/>
                          </a:solidFill>
                          <a:latin typeface="Huawei Sans"/>
                          <a:ea typeface="方正兰亭黑简体"/>
                        </a:defRPr>
                      </a:lvl6pPr>
                      <a:lvl7pPr marL="2742103" algn="l" defTabSz="914034" rtl="0" eaLnBrk="1" latinLnBrk="0" hangingPunct="1">
                        <a:defRPr sz="1799" b="1" kern="1200">
                          <a:solidFill>
                            <a:schemeClr val="bg1"/>
                          </a:solidFill>
                          <a:latin typeface="Huawei Sans"/>
                          <a:ea typeface="方正兰亭黑简体"/>
                        </a:defRPr>
                      </a:lvl7pPr>
                      <a:lvl8pPr marL="3199120" algn="l" defTabSz="914034" rtl="0" eaLnBrk="1" latinLnBrk="0" hangingPunct="1">
                        <a:defRPr sz="1799" b="1" kern="1200">
                          <a:solidFill>
                            <a:schemeClr val="bg1"/>
                          </a:solidFill>
                          <a:latin typeface="Huawei Sans"/>
                          <a:ea typeface="方正兰亭黑简体"/>
                        </a:defRPr>
                      </a:lvl8pPr>
                      <a:lvl9pPr marL="3656137" algn="l" defTabSz="914034" rtl="0" eaLnBrk="1" latinLnBrk="0" hangingPunct="1">
                        <a:defRPr sz="1799" b="1" kern="1200">
                          <a:solidFill>
                            <a:schemeClr val="bg1"/>
                          </a:solidFill>
                          <a:latin typeface="Huawei Sans"/>
                          <a:ea typeface="方正兰亭黑简体"/>
                        </a:defRPr>
                      </a:lvl9pPr>
                    </a:lstStyle>
                    <a:p>
                      <a:pPr algn="ct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源</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65000"/>
                      </a:sysClr>
                    </a:solid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marL="0" algn="ctr" defTabSz="914034" rtl="0" eaLnBrk="1" latinLnBrk="0" hangingPunct="1"/>
                      <a:r>
                        <a:rPr lang="en-US" altLang="zh-CN" sz="1200" b="0" kern="1200" dirty="0">
                          <a:solidFill>
                            <a:schemeClr val="bg1">
                              <a:lumMod val="50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rPr>
                        <a:t>2001:0DB8:0:0::1</a:t>
                      </a: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0"/>
                  </a:ext>
                </a:extLst>
              </a:tr>
              <a:tr h="0">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a:r>
                        <a:rPr lang="zh-CN" altLang="en-US" sz="1200" b="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目的</a:t>
                      </a:r>
                      <a:r>
                        <a:rPr lang="en-US" altLang="zh-CN" sz="1200" b="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a:t>
                      </a:r>
                      <a:endParaRPr lang="zh-CN" altLang="en-US" sz="1200" b="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65000"/>
                      </a:sysClr>
                    </a:solid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2001:0DB8:0:1::1</a:t>
                      </a: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1"/>
                  </a:ext>
                </a:extLst>
              </a:tr>
              <a:tr h="0">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a:r>
                        <a:rPr lang="zh-CN" altLang="en-US" sz="1200" b="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载荷</a:t>
                      </a: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65000"/>
                      </a:sysClr>
                    </a:solid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a:r>
                        <a:rPr lang="zh-CN" altLang="en-US"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数据</a:t>
                      </a: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2"/>
                  </a:ext>
                </a:extLst>
              </a:tr>
            </a:tbl>
          </a:graphicData>
        </a:graphic>
      </p:graphicFrame>
      <p:graphicFrame>
        <p:nvGraphicFramePr>
          <p:cNvPr id="45" name="表格 44"/>
          <p:cNvGraphicFramePr>
            <a:graphicFrameLocks noGrp="1"/>
          </p:cNvGraphicFramePr>
          <p:nvPr>
            <p:extLst>
              <p:ext uri="{D42A27DB-BD31-4B8C-83A1-F6EECF244321}">
                <p14:modId xmlns:p14="http://schemas.microsoft.com/office/powerpoint/2010/main" val="640706798"/>
              </p:ext>
            </p:extLst>
          </p:nvPr>
        </p:nvGraphicFramePr>
        <p:xfrm>
          <a:off x="1433281" y="1037275"/>
          <a:ext cx="2062904" cy="1529280"/>
        </p:xfrm>
        <a:graphic>
          <a:graphicData uri="http://schemas.openxmlformats.org/drawingml/2006/table">
            <a:tbl>
              <a:tblPr firstRow="1" bandRow="1"/>
              <a:tblGrid>
                <a:gridCol w="728474">
                  <a:extLst>
                    <a:ext uri="{9D8B030D-6E8A-4147-A177-3AD203B41FA5}">
                      <a16:colId xmlns:a16="http://schemas.microsoft.com/office/drawing/2014/main" val="20000"/>
                    </a:ext>
                  </a:extLst>
                </a:gridCol>
                <a:gridCol w="1334430">
                  <a:extLst>
                    <a:ext uri="{9D8B030D-6E8A-4147-A177-3AD203B41FA5}">
                      <a16:colId xmlns:a16="http://schemas.microsoft.com/office/drawing/2014/main" val="20001"/>
                    </a:ext>
                  </a:extLst>
                </a:gridCol>
              </a:tblGrid>
              <a:tr h="0">
                <a:tc>
                  <a:txBody>
                    <a:bodyPr/>
                    <a:lstStyle>
                      <a:lvl1pPr marL="0" algn="l" defTabSz="914034" rtl="0" eaLnBrk="1" latinLnBrk="0" hangingPunct="1">
                        <a:defRPr sz="1799" b="1" kern="1200">
                          <a:solidFill>
                            <a:schemeClr val="bg1"/>
                          </a:solidFill>
                          <a:latin typeface="Huawei Sans"/>
                          <a:ea typeface="方正兰亭黑简体"/>
                        </a:defRPr>
                      </a:lvl1pPr>
                      <a:lvl2pPr marL="457017" algn="l" defTabSz="914034" rtl="0" eaLnBrk="1" latinLnBrk="0" hangingPunct="1">
                        <a:defRPr sz="1799" b="1" kern="1200">
                          <a:solidFill>
                            <a:schemeClr val="bg1"/>
                          </a:solidFill>
                          <a:latin typeface="Huawei Sans"/>
                          <a:ea typeface="方正兰亭黑简体"/>
                        </a:defRPr>
                      </a:lvl2pPr>
                      <a:lvl3pPr marL="914034" algn="l" defTabSz="914034" rtl="0" eaLnBrk="1" latinLnBrk="0" hangingPunct="1">
                        <a:defRPr sz="1799" b="1" kern="1200">
                          <a:solidFill>
                            <a:schemeClr val="bg1"/>
                          </a:solidFill>
                          <a:latin typeface="Huawei Sans"/>
                          <a:ea typeface="方正兰亭黑简体"/>
                        </a:defRPr>
                      </a:lvl3pPr>
                      <a:lvl4pPr marL="1371051" algn="l" defTabSz="914034" rtl="0" eaLnBrk="1" latinLnBrk="0" hangingPunct="1">
                        <a:defRPr sz="1799" b="1" kern="1200">
                          <a:solidFill>
                            <a:schemeClr val="bg1"/>
                          </a:solidFill>
                          <a:latin typeface="Huawei Sans"/>
                          <a:ea typeface="方正兰亭黑简体"/>
                        </a:defRPr>
                      </a:lvl4pPr>
                      <a:lvl5pPr marL="1828068" algn="l" defTabSz="914034" rtl="0" eaLnBrk="1" latinLnBrk="0" hangingPunct="1">
                        <a:defRPr sz="1799" b="1" kern="1200">
                          <a:solidFill>
                            <a:schemeClr val="bg1"/>
                          </a:solidFill>
                          <a:latin typeface="Huawei Sans"/>
                          <a:ea typeface="方正兰亭黑简体"/>
                        </a:defRPr>
                      </a:lvl5pPr>
                      <a:lvl6pPr marL="2285086" algn="l" defTabSz="914034" rtl="0" eaLnBrk="1" latinLnBrk="0" hangingPunct="1">
                        <a:defRPr sz="1799" b="1" kern="1200">
                          <a:solidFill>
                            <a:schemeClr val="bg1"/>
                          </a:solidFill>
                          <a:latin typeface="Huawei Sans"/>
                          <a:ea typeface="方正兰亭黑简体"/>
                        </a:defRPr>
                      </a:lvl6pPr>
                      <a:lvl7pPr marL="2742103" algn="l" defTabSz="914034" rtl="0" eaLnBrk="1" latinLnBrk="0" hangingPunct="1">
                        <a:defRPr sz="1799" b="1" kern="1200">
                          <a:solidFill>
                            <a:schemeClr val="bg1"/>
                          </a:solidFill>
                          <a:latin typeface="Huawei Sans"/>
                          <a:ea typeface="方正兰亭黑简体"/>
                        </a:defRPr>
                      </a:lvl7pPr>
                      <a:lvl8pPr marL="3199120" algn="l" defTabSz="914034" rtl="0" eaLnBrk="1" latinLnBrk="0" hangingPunct="1">
                        <a:defRPr sz="1799" b="1" kern="1200">
                          <a:solidFill>
                            <a:schemeClr val="bg1"/>
                          </a:solidFill>
                          <a:latin typeface="Huawei Sans"/>
                          <a:ea typeface="方正兰亭黑简体"/>
                        </a:defRPr>
                      </a:lvl8pPr>
                      <a:lvl9pPr marL="3656137" algn="l" defTabSz="914034" rtl="0" eaLnBrk="1" latinLnBrk="0" hangingPunct="1">
                        <a:defRPr sz="1799" b="1" kern="1200">
                          <a:solidFill>
                            <a:schemeClr val="bg1"/>
                          </a:solidFill>
                          <a:latin typeface="Huawei Sans"/>
                          <a:ea typeface="方正兰亭黑简体"/>
                        </a:defRPr>
                      </a:lvl9pPr>
                    </a:lstStyle>
                    <a:p>
                      <a:pPr algn="ct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源</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c>
                  <a:txBody>
                    <a:bodyPr/>
                    <a:lstStyle>
                      <a:lvl1pPr marL="0" algn="l" defTabSz="914034" rtl="0" eaLnBrk="1" latinLnBrk="0" hangingPunct="1">
                        <a:defRPr sz="1799" b="1" kern="1200">
                          <a:solidFill>
                            <a:schemeClr val="bg1"/>
                          </a:solidFill>
                          <a:latin typeface="Huawei Sans"/>
                          <a:ea typeface="方正兰亭黑简体"/>
                        </a:defRPr>
                      </a:lvl1pPr>
                      <a:lvl2pPr marL="457017" algn="l" defTabSz="914034" rtl="0" eaLnBrk="1" latinLnBrk="0" hangingPunct="1">
                        <a:defRPr sz="1799" b="1" kern="1200">
                          <a:solidFill>
                            <a:schemeClr val="bg1"/>
                          </a:solidFill>
                          <a:latin typeface="Huawei Sans"/>
                          <a:ea typeface="方正兰亭黑简体"/>
                        </a:defRPr>
                      </a:lvl2pPr>
                      <a:lvl3pPr marL="914034" algn="l" defTabSz="914034" rtl="0" eaLnBrk="1" latinLnBrk="0" hangingPunct="1">
                        <a:defRPr sz="1799" b="1" kern="1200">
                          <a:solidFill>
                            <a:schemeClr val="bg1"/>
                          </a:solidFill>
                          <a:latin typeface="Huawei Sans"/>
                          <a:ea typeface="方正兰亭黑简体"/>
                        </a:defRPr>
                      </a:lvl3pPr>
                      <a:lvl4pPr marL="1371051" algn="l" defTabSz="914034" rtl="0" eaLnBrk="1" latinLnBrk="0" hangingPunct="1">
                        <a:defRPr sz="1799" b="1" kern="1200">
                          <a:solidFill>
                            <a:schemeClr val="bg1"/>
                          </a:solidFill>
                          <a:latin typeface="Huawei Sans"/>
                          <a:ea typeface="方正兰亭黑简体"/>
                        </a:defRPr>
                      </a:lvl4pPr>
                      <a:lvl5pPr marL="1828068" algn="l" defTabSz="914034" rtl="0" eaLnBrk="1" latinLnBrk="0" hangingPunct="1">
                        <a:defRPr sz="1799" b="1" kern="1200">
                          <a:solidFill>
                            <a:schemeClr val="bg1"/>
                          </a:solidFill>
                          <a:latin typeface="Huawei Sans"/>
                          <a:ea typeface="方正兰亭黑简体"/>
                        </a:defRPr>
                      </a:lvl5pPr>
                      <a:lvl6pPr marL="2285086" algn="l" defTabSz="914034" rtl="0" eaLnBrk="1" latinLnBrk="0" hangingPunct="1">
                        <a:defRPr sz="1799" b="1" kern="1200">
                          <a:solidFill>
                            <a:schemeClr val="bg1"/>
                          </a:solidFill>
                          <a:latin typeface="Huawei Sans"/>
                          <a:ea typeface="方正兰亭黑简体"/>
                        </a:defRPr>
                      </a:lvl6pPr>
                      <a:lvl7pPr marL="2742103" algn="l" defTabSz="914034" rtl="0" eaLnBrk="1" latinLnBrk="0" hangingPunct="1">
                        <a:defRPr sz="1799" b="1" kern="1200">
                          <a:solidFill>
                            <a:schemeClr val="bg1"/>
                          </a:solidFill>
                          <a:latin typeface="Huawei Sans"/>
                          <a:ea typeface="方正兰亭黑简体"/>
                        </a:defRPr>
                      </a:lvl7pPr>
                      <a:lvl8pPr marL="3199120" algn="l" defTabSz="914034" rtl="0" eaLnBrk="1" latinLnBrk="0" hangingPunct="1">
                        <a:defRPr sz="1799" b="1" kern="1200">
                          <a:solidFill>
                            <a:schemeClr val="bg1"/>
                          </a:solidFill>
                          <a:latin typeface="Huawei Sans"/>
                          <a:ea typeface="方正兰亭黑简体"/>
                        </a:defRPr>
                      </a:lvl8pPr>
                      <a:lvl9pPr marL="3656137" algn="l" defTabSz="914034" rtl="0" eaLnBrk="1" latinLnBrk="0" hangingPunct="1">
                        <a:defRPr sz="1799" b="1" kern="1200">
                          <a:solidFill>
                            <a:schemeClr val="bg1"/>
                          </a:solidFill>
                          <a:latin typeface="Huawei Sans"/>
                          <a:ea typeface="方正兰亭黑简体"/>
                        </a:defRPr>
                      </a:lvl9pPr>
                    </a:lstStyle>
                    <a:p>
                      <a:pPr marL="0" algn="ctr" defTabSz="914034" rtl="0" eaLnBrk="1" latinLnBrk="0" hangingPunct="1"/>
                      <a:r>
                        <a:rPr lang="en-US" altLang="zh-CN" sz="1200" b="1" kern="1200" dirty="0">
                          <a:solidFill>
                            <a:srgbClr val="30B5C5"/>
                          </a:solidFill>
                          <a:latin typeface="Huawei Sans" panose="020C0503030203020204" pitchFamily="34" charset="0"/>
                          <a:ea typeface="方正兰亭黑简体" panose="02000000000000000000" pitchFamily="2" charset="-122"/>
                          <a:cs typeface="+mn-cs"/>
                          <a:sym typeface="Huawei Sans" panose="020C0503030203020204" pitchFamily="34" charset="0"/>
                        </a:rPr>
                        <a:t>1.1.1.1</a:t>
                      </a:r>
                      <a:endParaRPr lang="zh-CN" altLang="en-US" sz="1200" b="1" kern="1200" dirty="0">
                        <a:solidFill>
                          <a:srgbClr val="30B5C5"/>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EF4F6"/>
                    </a:solidFill>
                  </a:tcPr>
                </a:tc>
                <a:extLst>
                  <a:ext uri="{0D108BD9-81ED-4DB2-BD59-A6C34878D82A}">
                    <a16:rowId xmlns:a16="http://schemas.microsoft.com/office/drawing/2014/main" val="10000"/>
                  </a:ext>
                </a:extLst>
              </a:tr>
              <a:tr h="0">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目的</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a:r>
                        <a:rPr lang="en-US" altLang="zh-CN" sz="12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2.2.2.2</a:t>
                      </a:r>
                      <a:endParaRPr lang="zh-CN" altLang="en-US" sz="12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EF4F6"/>
                    </a:solidFill>
                  </a:tcPr>
                </a:tc>
                <a:extLst>
                  <a:ext uri="{0D108BD9-81ED-4DB2-BD59-A6C34878D82A}">
                    <a16:rowId xmlns:a16="http://schemas.microsoft.com/office/drawing/2014/main" val="10001"/>
                  </a:ext>
                </a:extLst>
              </a:tr>
              <a:tr h="0">
                <a:tc gridSpan="2">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GRE</a:t>
                      </a: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头部</a:t>
                      </a: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c hMerge="1">
                  <a:txBody>
                    <a:bodyPr/>
                    <a:lstStyle/>
                    <a:p>
                      <a:pPr marL="0" algn="ctr" defTabSz="914034" rtl="0" eaLnBrk="1" latinLnBrk="0" hangingPunct="1"/>
                      <a:endParaRPr lang="zh-CN" altLang="en-US" sz="1200" b="0" kern="1200">
                        <a:solidFill>
                          <a:schemeClr val="bg1">
                            <a:lumMod val="50000"/>
                          </a:schemeClr>
                        </a:solidFill>
                        <a:latin typeface="+mn-lt"/>
                        <a:ea typeface="+mn-ea"/>
                        <a:cs typeface="+mn-cs"/>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10002"/>
                  </a:ext>
                </a:extLst>
              </a:tr>
              <a:tr h="0">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a:r>
                        <a:rPr lang="zh-CN" altLang="en-US" sz="1200" b="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源</a:t>
                      </a:r>
                      <a:r>
                        <a:rPr lang="en-US" altLang="zh-CN" sz="1200" b="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a:t>
                      </a:r>
                      <a:endParaRPr lang="zh-CN" altLang="en-US" sz="1200" b="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65000"/>
                      </a:sysClr>
                    </a:solid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marL="0" algn="ctr" defTabSz="914034" rtl="0" eaLnBrk="1" latinLnBrk="0" hangingPunct="1"/>
                      <a:r>
                        <a:rPr lang="en-US" altLang="zh-CN" sz="1200" b="0" kern="1200" dirty="0">
                          <a:solidFill>
                            <a:schemeClr val="bg1">
                              <a:lumMod val="50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rPr>
                        <a:t>2001:0DB8:0:0::1</a:t>
                      </a: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3"/>
                  </a:ext>
                </a:extLst>
              </a:tr>
              <a:tr h="0">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a:r>
                        <a:rPr lang="zh-CN" altLang="en-US" sz="1200" b="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目的</a:t>
                      </a:r>
                      <a:r>
                        <a:rPr lang="en-US" altLang="zh-CN" sz="1200" b="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a:t>
                      </a:r>
                      <a:endParaRPr lang="zh-CN" altLang="en-US" sz="1200" b="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65000"/>
                      </a:sysClr>
                    </a:solid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2001:0DB8:0:1::1</a:t>
                      </a: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4"/>
                  </a:ext>
                </a:extLst>
              </a:tr>
              <a:tr h="0">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a:r>
                        <a:rPr lang="zh-CN" altLang="en-US" sz="1200" b="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载荷</a:t>
                      </a: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65000"/>
                      </a:sysClr>
                    </a:solid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a:r>
                        <a:rPr lang="zh-CN" altLang="en-US"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数据</a:t>
                      </a: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5"/>
                  </a:ext>
                </a:extLst>
              </a:tr>
            </a:tbl>
          </a:graphicData>
        </a:graphic>
      </p:graphicFrame>
      <p:pic>
        <p:nvPicPr>
          <p:cNvPr id="46" name="Picture 2" descr="G:\做的项目\公共\扁平图标切换\更新2015_01_21\oss扁平图标库2015_01_21更新-04.png"/>
          <p:cNvPicPr>
            <a:picLocks noChangeAspect="1" noChangeArrowheads="1"/>
          </p:cNvPicPr>
          <p:nvPr/>
        </p:nvPicPr>
        <p:blipFill>
          <a:blip r:embed="rId4" cstate="print">
            <a:duotone>
              <a:srgbClr val="F3FBFE">
                <a:shade val="45000"/>
                <a:satMod val="135000"/>
              </a:srgbClr>
              <a:prstClr val="white"/>
            </a:duotone>
          </a:blip>
          <a:stretch>
            <a:fillRect/>
          </a:stretch>
        </p:blipFill>
        <p:spPr bwMode="gray">
          <a:xfrm>
            <a:off x="2651558" y="2832755"/>
            <a:ext cx="335297" cy="274334"/>
          </a:xfrm>
          <a:prstGeom prst="rect">
            <a:avLst/>
          </a:prstGeom>
          <a:noFill/>
        </p:spPr>
      </p:pic>
      <p:pic>
        <p:nvPicPr>
          <p:cNvPr id="47" name="Picture 2" descr="G:\做的项目\公共\扁平图标切换\更新2015_01_21\oss扁平图标库2015_01_21更新-04.png"/>
          <p:cNvPicPr>
            <a:picLocks noChangeAspect="1" noChangeArrowheads="1"/>
          </p:cNvPicPr>
          <p:nvPr/>
        </p:nvPicPr>
        <p:blipFill>
          <a:blip r:embed="rId4" cstate="print">
            <a:duotone>
              <a:srgbClr val="F3FBFE">
                <a:shade val="45000"/>
                <a:satMod val="135000"/>
              </a:srgbClr>
              <a:prstClr val="white"/>
            </a:duotone>
          </a:blip>
          <a:stretch>
            <a:fillRect/>
          </a:stretch>
        </p:blipFill>
        <p:spPr bwMode="gray">
          <a:xfrm>
            <a:off x="3260730" y="3674574"/>
            <a:ext cx="335297" cy="274334"/>
          </a:xfrm>
          <a:prstGeom prst="rect">
            <a:avLst/>
          </a:prstGeom>
          <a:noFill/>
        </p:spPr>
      </p:pic>
      <p:pic>
        <p:nvPicPr>
          <p:cNvPr id="48" name="Picture 2" descr="G:\做的项目\公共\扁平图标切换\更新2015_01_21\oss扁平图标库2015_01_21更新-04.png"/>
          <p:cNvPicPr>
            <a:picLocks noChangeAspect="1" noChangeArrowheads="1"/>
          </p:cNvPicPr>
          <p:nvPr/>
        </p:nvPicPr>
        <p:blipFill>
          <a:blip r:embed="rId4" cstate="print">
            <a:duotone>
              <a:srgbClr val="F3FBFE">
                <a:shade val="45000"/>
                <a:satMod val="135000"/>
              </a:srgbClr>
              <a:prstClr val="white"/>
            </a:duotone>
          </a:blip>
          <a:stretch>
            <a:fillRect/>
          </a:stretch>
        </p:blipFill>
        <p:spPr bwMode="gray">
          <a:xfrm>
            <a:off x="3643534" y="2948991"/>
            <a:ext cx="335297" cy="274334"/>
          </a:xfrm>
          <a:prstGeom prst="rect">
            <a:avLst/>
          </a:prstGeom>
          <a:noFill/>
        </p:spPr>
      </p:pic>
      <p:cxnSp>
        <p:nvCxnSpPr>
          <p:cNvPr id="49" name="Straight Connector 167"/>
          <p:cNvCxnSpPr/>
          <p:nvPr/>
        </p:nvCxnSpPr>
        <p:spPr bwMode="gray">
          <a:xfrm>
            <a:off x="1433281" y="2672156"/>
            <a:ext cx="3673896" cy="0"/>
          </a:xfrm>
          <a:prstGeom prst="line">
            <a:avLst/>
          </a:prstGeom>
          <a:noFill/>
          <a:ln w="57150" cap="flat" cmpd="sng" algn="ctr">
            <a:solidFill>
              <a:srgbClr val="30B5C5"/>
            </a:solidFill>
            <a:prstDash val="solid"/>
            <a:miter lim="800000"/>
            <a:tailEnd type="triangle"/>
          </a:ln>
          <a:effectLst/>
        </p:spPr>
      </p:cxnSp>
      <p:cxnSp>
        <p:nvCxnSpPr>
          <p:cNvPr id="50" name="Straight Connector 167"/>
          <p:cNvCxnSpPr/>
          <p:nvPr/>
        </p:nvCxnSpPr>
        <p:spPr bwMode="gray">
          <a:xfrm>
            <a:off x="5080943" y="4733444"/>
            <a:ext cx="0" cy="578901"/>
          </a:xfrm>
          <a:prstGeom prst="line">
            <a:avLst/>
          </a:prstGeom>
          <a:noFill/>
          <a:ln w="57150" cap="flat" cmpd="sng" algn="ctr">
            <a:solidFill>
              <a:sysClr val="window" lastClr="FFFFFF">
                <a:lumMod val="50000"/>
              </a:sysClr>
            </a:solidFill>
            <a:prstDash val="solid"/>
            <a:miter lim="800000"/>
            <a:tailEnd type="triangle"/>
          </a:ln>
          <a:effectLst/>
        </p:spPr>
      </p:cxnSp>
      <p:sp>
        <p:nvSpPr>
          <p:cNvPr id="52" name="圆角矩形 51"/>
          <p:cNvSpPr/>
          <p:nvPr/>
        </p:nvSpPr>
        <p:spPr bwMode="gray">
          <a:xfrm>
            <a:off x="6008612" y="1476271"/>
            <a:ext cx="5740475" cy="4393306"/>
          </a:xfrm>
          <a:prstGeom prst="roundRect">
            <a:avLst>
              <a:gd name="adj" fmla="val 898"/>
            </a:avLst>
          </a:prstGeom>
          <a:noFill/>
          <a:ln w="9525" cap="flat" cmpd="sng" algn="ctr">
            <a:noFill/>
            <a:prstDash val="solid"/>
            <a:miter lim="800000"/>
          </a:ln>
          <a:effectLst/>
        </p:spPr>
        <p:txBody>
          <a:bodyPr rtlCol="0" anchor="t" anchorCtr="0"/>
          <a:lstStyle/>
          <a:p>
            <a:pPr marL="285750" marR="0" lvl="0" indent="-285750" defTabSz="914400" eaLnBrk="1" fontAlgn="auto" latinLnBrk="0" hangingPunct="1">
              <a:lnSpc>
                <a:spcPts val="2400"/>
              </a:lnSpc>
              <a:spcBef>
                <a:spcPts val="0"/>
              </a:spcBef>
              <a:spcAft>
                <a:spcPts val="600"/>
              </a:spcAft>
              <a:buClrTx/>
              <a:buSzPct val="50000"/>
              <a:buFont typeface="Wingdings" panose="05000000000000000000" pitchFamily="2" charset="2"/>
              <a:buChar char="l"/>
              <a:tabLst/>
              <a:defRPr/>
            </a:pPr>
            <a:r>
              <a:rPr kumimoji="0" lang="en-US" altLang="zh-CN"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GRE</a:t>
            </a:r>
            <a:r>
              <a:rPr kumimoji="0" lang="zh-CN" altLang="en-US"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r>
              <a:rPr kumimoji="0" lang="en-US" altLang="zh-CN"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Generic Routing Encapsulation</a:t>
            </a:r>
            <a:r>
              <a:rPr kumimoji="0" lang="zh-CN" altLang="en-US"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，通用路由封装协议）可以对某些网络层协议（如</a:t>
            </a:r>
            <a:r>
              <a:rPr kumimoji="0" lang="en-US" altLang="zh-CN"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IPX</a:t>
            </a:r>
            <a:r>
              <a:rPr kumimoji="0" lang="zh-CN" altLang="en-US"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r>
              <a:rPr kumimoji="0" lang="en-US" altLang="zh-CN"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IPv6</a:t>
            </a:r>
            <a:r>
              <a:rPr kumimoji="0" lang="zh-CN" altLang="en-US"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r>
              <a:rPr kumimoji="0" lang="en-US" altLang="zh-CN"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IPv4</a:t>
            </a:r>
            <a:r>
              <a:rPr kumimoji="0" lang="zh-CN" altLang="en-US"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等）的数据报文进行封装，使这些被封装的数据报文能够在另一个网络层协议（如</a:t>
            </a:r>
            <a:r>
              <a:rPr kumimoji="0" lang="en-US" altLang="zh-CN"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IPv4</a:t>
            </a:r>
            <a:r>
              <a:rPr kumimoji="0" lang="zh-CN" altLang="en-US"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r>
              <a:rPr kumimoji="0" lang="en-US" altLang="zh-CN"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IPv6</a:t>
            </a:r>
            <a:r>
              <a:rPr kumimoji="0" lang="zh-CN" altLang="en-US"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等）中传输。</a:t>
            </a:r>
          </a:p>
          <a:p>
            <a:pPr marL="285750" lvl="0" indent="-285750" defTabSz="914400">
              <a:lnSpc>
                <a:spcPts val="2400"/>
              </a:lnSpc>
              <a:spcAft>
                <a:spcPts val="600"/>
              </a:spcAft>
              <a:buSzPct val="50000"/>
              <a:buFont typeface="Wingdings" panose="05000000000000000000" pitchFamily="2" charset="2"/>
              <a:buChar char="l"/>
              <a:defRPr/>
            </a:pPr>
            <a:r>
              <a:rPr kumimoji="0" lang="en-US" altLang="zh-CN"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GRE</a:t>
            </a:r>
            <a:r>
              <a:rPr kumimoji="0" lang="zh-CN" altLang="en-US"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是一种三层隧道封装技术，使报文可以通过</a:t>
            </a:r>
            <a:r>
              <a:rPr kumimoji="0" lang="en-US" altLang="zh-CN"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GRE</a:t>
            </a:r>
            <a:r>
              <a:rPr kumimoji="0" lang="zh-CN" altLang="en-US"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隧道透明地传输，解决异</a:t>
            </a: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种网络（使用不同网络层协议的网络）的</a:t>
            </a:r>
            <a:r>
              <a:rPr kumimoji="0" lang="zh-CN" altLang="en-US"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传输问题。</a:t>
            </a:r>
            <a:endParaRPr kumimoji="0" lang="en-US" altLang="zh-CN"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644400" lvl="1" indent="-285750" algn="just">
              <a:lnSpc>
                <a:spcPts val="2200"/>
              </a:lnSpc>
              <a:spcAft>
                <a:spcPts val="600"/>
              </a:spcAft>
              <a:buSzPct val="50000"/>
              <a:buFont typeface="Wingdings" panose="05000000000000000000" pitchFamily="2" charset="2"/>
              <a:buChar char="p"/>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GRE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实现机制简单，对隧道两端的设备负担小。</a:t>
            </a:r>
          </a:p>
          <a:p>
            <a:pPr marL="644400" lvl="1" indent="-285750" algn="just">
              <a:lnSpc>
                <a:spcPts val="2200"/>
              </a:lnSpc>
              <a:spcAft>
                <a:spcPts val="600"/>
              </a:spcAft>
              <a:buSzPct val="50000"/>
              <a:buFont typeface="Wingdings" panose="05000000000000000000" pitchFamily="2" charset="2"/>
              <a:buChar char="p"/>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GRE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隧道可以通过</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IPv4</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网络连通多种网络协议的本地网络，有效利用了原有的网络架构，降低成本。</a:t>
            </a:r>
          </a:p>
          <a:p>
            <a:pPr marL="644400" lvl="1" indent="-285750" algn="just">
              <a:lnSpc>
                <a:spcPts val="2200"/>
              </a:lnSpc>
              <a:spcAft>
                <a:spcPts val="600"/>
              </a:spcAft>
              <a:buSzPct val="50000"/>
              <a:buFont typeface="Wingdings" panose="05000000000000000000" pitchFamily="2" charset="2"/>
              <a:buChar char="p"/>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GRE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隧道将不连续的子网连接起来，用于组建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，实现企业总部和分支间的连接。</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644400" lvl="1" indent="-285750" algn="just">
              <a:lnSpc>
                <a:spcPts val="2200"/>
              </a:lnSpc>
              <a:spcAft>
                <a:spcPts val="600"/>
              </a:spcAft>
              <a:buSzPct val="50000"/>
              <a:buFont typeface="Wingdings" panose="05000000000000000000" pitchFamily="2" charset="2"/>
              <a:buChar char="p"/>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GRE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只有简单的密码验证，没有加密功能。</a:t>
            </a:r>
          </a:p>
        </p:txBody>
      </p:sp>
      <p:graphicFrame>
        <p:nvGraphicFramePr>
          <p:cNvPr id="53" name="表格 52"/>
          <p:cNvGraphicFramePr>
            <a:graphicFrameLocks noGrp="1"/>
          </p:cNvGraphicFramePr>
          <p:nvPr>
            <p:extLst>
              <p:ext uri="{D42A27DB-BD31-4B8C-83A1-F6EECF244321}">
                <p14:modId xmlns:p14="http://schemas.microsoft.com/office/powerpoint/2010/main" val="2463486060"/>
              </p:ext>
            </p:extLst>
          </p:nvPr>
        </p:nvGraphicFramePr>
        <p:xfrm>
          <a:off x="3382507" y="3916894"/>
          <a:ext cx="1916658" cy="764640"/>
        </p:xfrm>
        <a:graphic>
          <a:graphicData uri="http://schemas.openxmlformats.org/drawingml/2006/table">
            <a:tbl>
              <a:tblPr firstRow="1" bandRow="1"/>
              <a:tblGrid>
                <a:gridCol w="676830">
                  <a:extLst>
                    <a:ext uri="{9D8B030D-6E8A-4147-A177-3AD203B41FA5}">
                      <a16:colId xmlns:a16="http://schemas.microsoft.com/office/drawing/2014/main" val="20000"/>
                    </a:ext>
                  </a:extLst>
                </a:gridCol>
                <a:gridCol w="1239828">
                  <a:extLst>
                    <a:ext uri="{9D8B030D-6E8A-4147-A177-3AD203B41FA5}">
                      <a16:colId xmlns:a16="http://schemas.microsoft.com/office/drawing/2014/main" val="20001"/>
                    </a:ext>
                  </a:extLst>
                </a:gridCol>
              </a:tblGrid>
              <a:tr h="0">
                <a:tc>
                  <a:txBody>
                    <a:bodyPr/>
                    <a:lstStyle>
                      <a:lvl1pPr marL="0" algn="l" defTabSz="914034" rtl="0" eaLnBrk="1" latinLnBrk="0" hangingPunct="1">
                        <a:defRPr sz="1799" b="1" kern="1200">
                          <a:solidFill>
                            <a:schemeClr val="bg1"/>
                          </a:solidFill>
                          <a:latin typeface="Huawei Sans"/>
                          <a:ea typeface="方正兰亭黑简体"/>
                        </a:defRPr>
                      </a:lvl1pPr>
                      <a:lvl2pPr marL="457017" algn="l" defTabSz="914034" rtl="0" eaLnBrk="1" latinLnBrk="0" hangingPunct="1">
                        <a:defRPr sz="1799" b="1" kern="1200">
                          <a:solidFill>
                            <a:schemeClr val="bg1"/>
                          </a:solidFill>
                          <a:latin typeface="Huawei Sans"/>
                          <a:ea typeface="方正兰亭黑简体"/>
                        </a:defRPr>
                      </a:lvl2pPr>
                      <a:lvl3pPr marL="914034" algn="l" defTabSz="914034" rtl="0" eaLnBrk="1" latinLnBrk="0" hangingPunct="1">
                        <a:defRPr sz="1799" b="1" kern="1200">
                          <a:solidFill>
                            <a:schemeClr val="bg1"/>
                          </a:solidFill>
                          <a:latin typeface="Huawei Sans"/>
                          <a:ea typeface="方正兰亭黑简体"/>
                        </a:defRPr>
                      </a:lvl3pPr>
                      <a:lvl4pPr marL="1371051" algn="l" defTabSz="914034" rtl="0" eaLnBrk="1" latinLnBrk="0" hangingPunct="1">
                        <a:defRPr sz="1799" b="1" kern="1200">
                          <a:solidFill>
                            <a:schemeClr val="bg1"/>
                          </a:solidFill>
                          <a:latin typeface="Huawei Sans"/>
                          <a:ea typeface="方正兰亭黑简体"/>
                        </a:defRPr>
                      </a:lvl4pPr>
                      <a:lvl5pPr marL="1828068" algn="l" defTabSz="914034" rtl="0" eaLnBrk="1" latinLnBrk="0" hangingPunct="1">
                        <a:defRPr sz="1799" b="1" kern="1200">
                          <a:solidFill>
                            <a:schemeClr val="bg1"/>
                          </a:solidFill>
                          <a:latin typeface="Huawei Sans"/>
                          <a:ea typeface="方正兰亭黑简体"/>
                        </a:defRPr>
                      </a:lvl5pPr>
                      <a:lvl6pPr marL="2285086" algn="l" defTabSz="914034" rtl="0" eaLnBrk="1" latinLnBrk="0" hangingPunct="1">
                        <a:defRPr sz="1799" b="1" kern="1200">
                          <a:solidFill>
                            <a:schemeClr val="bg1"/>
                          </a:solidFill>
                          <a:latin typeface="Huawei Sans"/>
                          <a:ea typeface="方正兰亭黑简体"/>
                        </a:defRPr>
                      </a:lvl6pPr>
                      <a:lvl7pPr marL="2742103" algn="l" defTabSz="914034" rtl="0" eaLnBrk="1" latinLnBrk="0" hangingPunct="1">
                        <a:defRPr sz="1799" b="1" kern="1200">
                          <a:solidFill>
                            <a:schemeClr val="bg1"/>
                          </a:solidFill>
                          <a:latin typeface="Huawei Sans"/>
                          <a:ea typeface="方正兰亭黑简体"/>
                        </a:defRPr>
                      </a:lvl7pPr>
                      <a:lvl8pPr marL="3199120" algn="l" defTabSz="914034" rtl="0" eaLnBrk="1" latinLnBrk="0" hangingPunct="1">
                        <a:defRPr sz="1799" b="1" kern="1200">
                          <a:solidFill>
                            <a:schemeClr val="bg1"/>
                          </a:solidFill>
                          <a:latin typeface="Huawei Sans"/>
                          <a:ea typeface="方正兰亭黑简体"/>
                        </a:defRPr>
                      </a:lvl8pPr>
                      <a:lvl9pPr marL="3656137" algn="l" defTabSz="914034" rtl="0" eaLnBrk="1" latinLnBrk="0" hangingPunct="1">
                        <a:defRPr sz="1799" b="1" kern="1200">
                          <a:solidFill>
                            <a:schemeClr val="bg1"/>
                          </a:solidFill>
                          <a:latin typeface="Huawei Sans"/>
                          <a:ea typeface="方正兰亭黑简体"/>
                        </a:defRPr>
                      </a:lvl9pPr>
                    </a:lstStyle>
                    <a:p>
                      <a:pPr algn="ct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源</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65000"/>
                      </a:sysClr>
                    </a:solid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marL="0" algn="ctr" defTabSz="914034" rtl="0" eaLnBrk="1" latinLnBrk="0" hangingPunct="1"/>
                      <a:r>
                        <a:rPr lang="en-US" altLang="zh-CN" sz="1200" b="0" kern="1200" dirty="0">
                          <a:solidFill>
                            <a:schemeClr val="bg1">
                              <a:lumMod val="50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rPr>
                        <a:t>2001:0DB8:0:0::1</a:t>
                      </a: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0"/>
                  </a:ext>
                </a:extLst>
              </a:tr>
              <a:tr h="0">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a:r>
                        <a:rPr lang="zh-CN" altLang="en-US" sz="1200" b="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目的</a:t>
                      </a:r>
                      <a:r>
                        <a:rPr lang="en-US" altLang="zh-CN" sz="1200" b="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a:t>
                      </a:r>
                      <a:endParaRPr lang="zh-CN" altLang="en-US" sz="1200" b="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65000"/>
                      </a:sysClr>
                    </a:solid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2001:0DB8:0:1::1</a:t>
                      </a: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1"/>
                  </a:ext>
                </a:extLst>
              </a:tr>
              <a:tr h="0">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a:r>
                        <a:rPr lang="zh-CN" altLang="en-US" sz="1200" b="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载荷</a:t>
                      </a: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65000"/>
                      </a:sysClr>
                    </a:solid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a:r>
                        <a:rPr lang="zh-CN" altLang="en-US"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数据</a:t>
                      </a: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2"/>
                  </a:ext>
                </a:extLst>
              </a:tr>
            </a:tbl>
          </a:graphicData>
        </a:graphic>
      </p:graphicFrame>
      <p:sp>
        <p:nvSpPr>
          <p:cNvPr id="51" name="五边形 50"/>
          <p:cNvSpPr/>
          <p:nvPr/>
        </p:nvSpPr>
        <p:spPr bwMode="auto">
          <a:xfrm>
            <a:off x="6179960" y="98481"/>
            <a:ext cx="94884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以太网交换</a:t>
            </a:r>
          </a:p>
        </p:txBody>
      </p:sp>
      <p:sp>
        <p:nvSpPr>
          <p:cNvPr id="54" name="燕尾形 53"/>
          <p:cNvSpPr/>
          <p:nvPr/>
        </p:nvSpPr>
        <p:spPr bwMode="auto">
          <a:xfrm>
            <a:off x="7049907" y="98481"/>
            <a:ext cx="678521"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燕尾形 54"/>
          <p:cNvSpPr/>
          <p:nvPr/>
        </p:nvSpPr>
        <p:spPr bwMode="auto">
          <a:xfrm>
            <a:off x="7649535" y="98481"/>
            <a:ext cx="87595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无线接入</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燕尾形 55"/>
          <p:cNvSpPr/>
          <p:nvPr/>
        </p:nvSpPr>
        <p:spPr bwMode="auto">
          <a:xfrm>
            <a:off x="8446601"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可靠性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燕尾形 56"/>
          <p:cNvSpPr/>
          <p:nvPr/>
        </p:nvSpPr>
        <p:spPr bwMode="auto">
          <a:xfrm>
            <a:off x="9148908" y="98481"/>
            <a:ext cx="87048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网络安全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燕尾形 57"/>
          <p:cNvSpPr/>
          <p:nvPr/>
        </p:nvSpPr>
        <p:spPr bwMode="auto">
          <a:xfrm>
            <a:off x="9940504" y="98481"/>
            <a:ext cx="130400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网络服务与管理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燕尾形 58"/>
          <p:cNvSpPr/>
          <p:nvPr/>
        </p:nvSpPr>
        <p:spPr bwMode="auto">
          <a:xfrm>
            <a:off x="11165613" y="98481"/>
            <a:ext cx="583475"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出口</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0244793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sym typeface="Huawei Sans" panose="020C0503030203020204" pitchFamily="34" charset="0"/>
              </a:rPr>
              <a:t>IPsec VPN</a:t>
            </a:r>
            <a:endParaRPr lang="zh-CN" altLang="en-US" dirty="0">
              <a:sym typeface="Huawei Sans" panose="020C0503030203020204" pitchFamily="34" charset="0"/>
            </a:endParaRPr>
          </a:p>
        </p:txBody>
      </p:sp>
      <p:cxnSp>
        <p:nvCxnSpPr>
          <p:cNvPr id="53" name="Straight Connector 167"/>
          <p:cNvCxnSpPr/>
          <p:nvPr/>
        </p:nvCxnSpPr>
        <p:spPr bwMode="gray">
          <a:xfrm flipV="1">
            <a:off x="1491848" y="3759531"/>
            <a:ext cx="0" cy="741798"/>
          </a:xfrm>
          <a:prstGeom prst="line">
            <a:avLst/>
          </a:prstGeom>
          <a:noFill/>
          <a:ln w="57150" cap="flat" cmpd="sng" algn="ctr">
            <a:solidFill>
              <a:sysClr val="window" lastClr="FFFFFF">
                <a:lumMod val="50000"/>
              </a:sysClr>
            </a:solidFill>
            <a:prstDash val="solid"/>
            <a:miter lim="800000"/>
            <a:tailEnd type="triangle"/>
          </a:ln>
          <a:effectLst/>
        </p:spPr>
      </p:cxnSp>
      <p:sp>
        <p:nvSpPr>
          <p:cNvPr id="54" name="Line 9"/>
          <p:cNvSpPr>
            <a:spLocks noChangeShapeType="1"/>
          </p:cNvSpPr>
          <p:nvPr/>
        </p:nvSpPr>
        <p:spPr bwMode="gray">
          <a:xfrm>
            <a:off x="1265147" y="3640404"/>
            <a:ext cx="0" cy="1694371"/>
          </a:xfrm>
          <a:prstGeom prst="line">
            <a:avLst/>
          </a:prstGeom>
          <a:solidFill>
            <a:srgbClr val="1AABE2"/>
          </a:solidFill>
          <a:ln w="19050" cap="flat" cmpd="sng" algn="ctr">
            <a:solidFill>
              <a:sysClr val="window" lastClr="FFFFFF">
                <a:lumMod val="75000"/>
              </a:sysClr>
            </a:solidFill>
            <a:prstDash val="solid"/>
            <a:round/>
            <a:headEnd type="none" w="med" len="med"/>
            <a:tailEnd type="none" w="med" len="me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55" name="TextBox 9"/>
          <p:cNvSpPr txBox="1"/>
          <p:nvPr/>
        </p:nvSpPr>
        <p:spPr bwMode="gray">
          <a:xfrm>
            <a:off x="1057429" y="2950812"/>
            <a:ext cx="415437" cy="311114"/>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R1</a:t>
            </a:r>
            <a:endParaRPr kumimoji="0" lang="zh-CN" altLang="en-US" sz="1400" b="1"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TextBox 54"/>
          <p:cNvSpPr txBox="1"/>
          <p:nvPr/>
        </p:nvSpPr>
        <p:spPr bwMode="gray">
          <a:xfrm>
            <a:off x="544439" y="5702007"/>
            <a:ext cx="1441420" cy="523220"/>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PC1</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192.168.1.1/24</a:t>
            </a:r>
          </a:p>
        </p:txBody>
      </p:sp>
      <p:pic>
        <p:nvPicPr>
          <p:cNvPr id="57" name="图片 11" descr="开放网络-蓝.png"/>
          <p:cNvPicPr>
            <a:picLocks noChangeAspect="1"/>
          </p:cNvPicPr>
          <p:nvPr/>
        </p:nvPicPr>
        <p:blipFill>
          <a:blip r:embed="rId3" cstate="print"/>
          <a:stretch>
            <a:fillRect/>
          </a:stretch>
        </p:blipFill>
        <p:spPr bwMode="gray">
          <a:xfrm>
            <a:off x="1019871" y="5290977"/>
            <a:ext cx="490552" cy="377619"/>
          </a:xfrm>
          <a:prstGeom prst="rect">
            <a:avLst/>
          </a:prstGeom>
        </p:spPr>
      </p:pic>
      <p:pic>
        <p:nvPicPr>
          <p:cNvPr id="58"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gray">
          <a:xfrm>
            <a:off x="1019693" y="3273172"/>
            <a:ext cx="490909" cy="401652"/>
          </a:xfrm>
          <a:prstGeom prst="rect">
            <a:avLst/>
          </a:prstGeom>
          <a:noFill/>
        </p:spPr>
      </p:pic>
      <p:sp>
        <p:nvSpPr>
          <p:cNvPr id="59" name="Freeform 159"/>
          <p:cNvSpPr/>
          <p:nvPr/>
        </p:nvSpPr>
        <p:spPr bwMode="gray">
          <a:xfrm flipH="1">
            <a:off x="1704672" y="2313521"/>
            <a:ext cx="3195802" cy="174377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ysClr val="window" lastClr="FFFFFF"/>
          </a:solidFill>
          <a:ln w="19050" cap="flat" cmpd="sng" algn="ctr">
            <a:solidFill>
              <a:sysClr val="window" lastClr="FFFFFF">
                <a:lumMod val="65000"/>
              </a:sysClr>
            </a:solidFill>
            <a:prstDash val="solid"/>
            <a:miter lim="800000"/>
          </a:ln>
          <a:effectLst/>
        </p:spPr>
        <p:txBody>
          <a:bodyPr wrap="square" tIns="10800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Line 9"/>
          <p:cNvSpPr>
            <a:spLocks noChangeShapeType="1"/>
          </p:cNvSpPr>
          <p:nvPr/>
        </p:nvSpPr>
        <p:spPr bwMode="gray">
          <a:xfrm>
            <a:off x="5339998" y="3640404"/>
            <a:ext cx="0" cy="1694371"/>
          </a:xfrm>
          <a:prstGeom prst="line">
            <a:avLst/>
          </a:prstGeom>
          <a:solidFill>
            <a:srgbClr val="1AABE2"/>
          </a:solidFill>
          <a:ln w="19050" cap="flat" cmpd="sng" algn="ctr">
            <a:solidFill>
              <a:sysClr val="window" lastClr="FFFFFF">
                <a:lumMod val="75000"/>
              </a:sysClr>
            </a:solidFill>
            <a:prstDash val="solid"/>
            <a:round/>
            <a:headEnd type="none" w="med" len="med"/>
            <a:tailEnd type="none" w="med" len="me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61" name="TextBox 9"/>
          <p:cNvSpPr txBox="1"/>
          <p:nvPr/>
        </p:nvSpPr>
        <p:spPr bwMode="gray">
          <a:xfrm>
            <a:off x="5141837" y="2950812"/>
            <a:ext cx="405880"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R2</a:t>
            </a:r>
            <a:endParaRPr kumimoji="0" lang="zh-CN" altLang="en-US" sz="1400" b="1"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TextBox 54"/>
          <p:cNvSpPr txBox="1"/>
          <p:nvPr/>
        </p:nvSpPr>
        <p:spPr bwMode="gray">
          <a:xfrm>
            <a:off x="4671387" y="5702007"/>
            <a:ext cx="1337226" cy="523220"/>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PC2</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172.16.1.1/24</a:t>
            </a:r>
          </a:p>
        </p:txBody>
      </p:sp>
      <p:pic>
        <p:nvPicPr>
          <p:cNvPr id="63" name="图片 11" descr="开放网络-蓝.png"/>
          <p:cNvPicPr>
            <a:picLocks noChangeAspect="1"/>
          </p:cNvPicPr>
          <p:nvPr/>
        </p:nvPicPr>
        <p:blipFill>
          <a:blip r:embed="rId3" cstate="print"/>
          <a:stretch>
            <a:fillRect/>
          </a:stretch>
        </p:blipFill>
        <p:spPr bwMode="gray">
          <a:xfrm>
            <a:off x="5094722" y="5290977"/>
            <a:ext cx="490552" cy="377619"/>
          </a:xfrm>
          <a:prstGeom prst="rect">
            <a:avLst/>
          </a:prstGeom>
        </p:spPr>
      </p:pic>
      <p:pic>
        <p:nvPicPr>
          <p:cNvPr id="64"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gray">
          <a:xfrm>
            <a:off x="5094544" y="3273172"/>
            <a:ext cx="490909" cy="401652"/>
          </a:xfrm>
          <a:prstGeom prst="rect">
            <a:avLst/>
          </a:prstGeom>
          <a:noFill/>
        </p:spPr>
      </p:pic>
      <p:sp>
        <p:nvSpPr>
          <p:cNvPr id="65" name="Can 225"/>
          <p:cNvSpPr/>
          <p:nvPr/>
        </p:nvSpPr>
        <p:spPr bwMode="gray">
          <a:xfrm rot="5400000">
            <a:off x="3206076" y="1730855"/>
            <a:ext cx="266328" cy="3464616"/>
          </a:xfrm>
          <a:prstGeom prst="can">
            <a:avLst>
              <a:gd name="adj" fmla="val 75773"/>
            </a:avLst>
          </a:prstGeom>
          <a:solidFill>
            <a:srgbClr val="EC7061"/>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TextBox 9"/>
          <p:cNvSpPr txBox="1"/>
          <p:nvPr/>
        </p:nvSpPr>
        <p:spPr bwMode="gray">
          <a:xfrm>
            <a:off x="1476100" y="2976636"/>
            <a:ext cx="713657"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1.1.1.1</a:t>
            </a:r>
            <a:endParaRPr kumimoji="0" lang="zh-CN" altLang="en-US" sz="1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TextBox 9"/>
          <p:cNvSpPr txBox="1"/>
          <p:nvPr/>
        </p:nvSpPr>
        <p:spPr bwMode="gray">
          <a:xfrm>
            <a:off x="4415389" y="2976636"/>
            <a:ext cx="713657" cy="307777"/>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2.2.2.2</a:t>
            </a:r>
            <a:endParaRPr kumimoji="0" lang="zh-CN" altLang="en-US" sz="1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TextBox 9"/>
          <p:cNvSpPr txBox="1"/>
          <p:nvPr/>
        </p:nvSpPr>
        <p:spPr bwMode="gray">
          <a:xfrm>
            <a:off x="2591481" y="3309274"/>
            <a:ext cx="1422185" cy="307777"/>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IPsec VPN</a:t>
            </a:r>
            <a:r>
              <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隧道</a:t>
            </a:r>
          </a:p>
        </p:txBody>
      </p:sp>
      <p:graphicFrame>
        <p:nvGraphicFramePr>
          <p:cNvPr id="69" name="表格 68"/>
          <p:cNvGraphicFramePr>
            <a:graphicFrameLocks noGrp="1"/>
          </p:cNvGraphicFramePr>
          <p:nvPr>
            <p:extLst>
              <p:ext uri="{D42A27DB-BD31-4B8C-83A1-F6EECF244321}">
                <p14:modId xmlns:p14="http://schemas.microsoft.com/office/powerpoint/2010/main" val="652374759"/>
              </p:ext>
            </p:extLst>
          </p:nvPr>
        </p:nvGraphicFramePr>
        <p:xfrm>
          <a:off x="1420826" y="4355062"/>
          <a:ext cx="1441025" cy="764640"/>
        </p:xfrm>
        <a:graphic>
          <a:graphicData uri="http://schemas.openxmlformats.org/drawingml/2006/table">
            <a:tbl>
              <a:tblPr firstRow="1" bandRow="1"/>
              <a:tblGrid>
                <a:gridCol w="508870">
                  <a:extLst>
                    <a:ext uri="{9D8B030D-6E8A-4147-A177-3AD203B41FA5}">
                      <a16:colId xmlns:a16="http://schemas.microsoft.com/office/drawing/2014/main" val="20000"/>
                    </a:ext>
                  </a:extLst>
                </a:gridCol>
                <a:gridCol w="932155">
                  <a:extLst>
                    <a:ext uri="{9D8B030D-6E8A-4147-A177-3AD203B41FA5}">
                      <a16:colId xmlns:a16="http://schemas.microsoft.com/office/drawing/2014/main" val="20001"/>
                    </a:ext>
                  </a:extLst>
                </a:gridCol>
              </a:tblGrid>
              <a:tr h="0">
                <a:tc>
                  <a:txBody>
                    <a:bodyPr/>
                    <a:lstStyle>
                      <a:lvl1pPr marL="0" algn="l" defTabSz="914034" rtl="0" eaLnBrk="1" latinLnBrk="0" hangingPunct="1">
                        <a:defRPr sz="1799" b="1" kern="1200">
                          <a:solidFill>
                            <a:schemeClr val="bg1"/>
                          </a:solidFill>
                          <a:latin typeface="Huawei Sans"/>
                          <a:ea typeface="方正兰亭黑简体"/>
                        </a:defRPr>
                      </a:lvl1pPr>
                      <a:lvl2pPr marL="457017" algn="l" defTabSz="914034" rtl="0" eaLnBrk="1" latinLnBrk="0" hangingPunct="1">
                        <a:defRPr sz="1799" b="1" kern="1200">
                          <a:solidFill>
                            <a:schemeClr val="bg1"/>
                          </a:solidFill>
                          <a:latin typeface="Huawei Sans"/>
                          <a:ea typeface="方正兰亭黑简体"/>
                        </a:defRPr>
                      </a:lvl2pPr>
                      <a:lvl3pPr marL="914034" algn="l" defTabSz="914034" rtl="0" eaLnBrk="1" latinLnBrk="0" hangingPunct="1">
                        <a:defRPr sz="1799" b="1" kern="1200">
                          <a:solidFill>
                            <a:schemeClr val="bg1"/>
                          </a:solidFill>
                          <a:latin typeface="Huawei Sans"/>
                          <a:ea typeface="方正兰亭黑简体"/>
                        </a:defRPr>
                      </a:lvl3pPr>
                      <a:lvl4pPr marL="1371051" algn="l" defTabSz="914034" rtl="0" eaLnBrk="1" latinLnBrk="0" hangingPunct="1">
                        <a:defRPr sz="1799" b="1" kern="1200">
                          <a:solidFill>
                            <a:schemeClr val="bg1"/>
                          </a:solidFill>
                          <a:latin typeface="Huawei Sans"/>
                          <a:ea typeface="方正兰亭黑简体"/>
                        </a:defRPr>
                      </a:lvl4pPr>
                      <a:lvl5pPr marL="1828068" algn="l" defTabSz="914034" rtl="0" eaLnBrk="1" latinLnBrk="0" hangingPunct="1">
                        <a:defRPr sz="1799" b="1" kern="1200">
                          <a:solidFill>
                            <a:schemeClr val="bg1"/>
                          </a:solidFill>
                          <a:latin typeface="Huawei Sans"/>
                          <a:ea typeface="方正兰亭黑简体"/>
                        </a:defRPr>
                      </a:lvl5pPr>
                      <a:lvl6pPr marL="2285086" algn="l" defTabSz="914034" rtl="0" eaLnBrk="1" latinLnBrk="0" hangingPunct="1">
                        <a:defRPr sz="1799" b="1" kern="1200">
                          <a:solidFill>
                            <a:schemeClr val="bg1"/>
                          </a:solidFill>
                          <a:latin typeface="Huawei Sans"/>
                          <a:ea typeface="方正兰亭黑简体"/>
                        </a:defRPr>
                      </a:lvl6pPr>
                      <a:lvl7pPr marL="2742103" algn="l" defTabSz="914034" rtl="0" eaLnBrk="1" latinLnBrk="0" hangingPunct="1">
                        <a:defRPr sz="1799" b="1" kern="1200">
                          <a:solidFill>
                            <a:schemeClr val="bg1"/>
                          </a:solidFill>
                          <a:latin typeface="Huawei Sans"/>
                          <a:ea typeface="方正兰亭黑简体"/>
                        </a:defRPr>
                      </a:lvl7pPr>
                      <a:lvl8pPr marL="3199120" algn="l" defTabSz="914034" rtl="0" eaLnBrk="1" latinLnBrk="0" hangingPunct="1">
                        <a:defRPr sz="1799" b="1" kern="1200">
                          <a:solidFill>
                            <a:schemeClr val="bg1"/>
                          </a:solidFill>
                          <a:latin typeface="Huawei Sans"/>
                          <a:ea typeface="方正兰亭黑简体"/>
                        </a:defRPr>
                      </a:lvl8pPr>
                      <a:lvl9pPr marL="3656137" algn="l" defTabSz="914034" rtl="0" eaLnBrk="1" latinLnBrk="0" hangingPunct="1">
                        <a:defRPr sz="1799" b="1" kern="1200">
                          <a:solidFill>
                            <a:schemeClr val="bg1"/>
                          </a:solidFill>
                          <a:latin typeface="Huawei Sans"/>
                          <a:ea typeface="方正兰亭黑简体"/>
                        </a:defRPr>
                      </a:lvl9pPr>
                    </a:lstStyle>
                    <a:p>
                      <a:pPr algn="ct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源</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65000"/>
                      </a:sysClr>
                    </a:solidFill>
                  </a:tcPr>
                </a:tc>
                <a:tc>
                  <a:txBody>
                    <a:bodyPr/>
                    <a:lstStyle>
                      <a:lvl1pPr marL="0" algn="l" defTabSz="914034" rtl="0" eaLnBrk="1" latinLnBrk="0" hangingPunct="1">
                        <a:defRPr sz="1799" b="1" kern="1200">
                          <a:solidFill>
                            <a:schemeClr val="bg1"/>
                          </a:solidFill>
                          <a:latin typeface="Huawei Sans"/>
                          <a:ea typeface="方正兰亭黑简体"/>
                        </a:defRPr>
                      </a:lvl1pPr>
                      <a:lvl2pPr marL="457017" algn="l" defTabSz="914034" rtl="0" eaLnBrk="1" latinLnBrk="0" hangingPunct="1">
                        <a:defRPr sz="1799" b="1" kern="1200">
                          <a:solidFill>
                            <a:schemeClr val="bg1"/>
                          </a:solidFill>
                          <a:latin typeface="Huawei Sans"/>
                          <a:ea typeface="方正兰亭黑简体"/>
                        </a:defRPr>
                      </a:lvl2pPr>
                      <a:lvl3pPr marL="914034" algn="l" defTabSz="914034" rtl="0" eaLnBrk="1" latinLnBrk="0" hangingPunct="1">
                        <a:defRPr sz="1799" b="1" kern="1200">
                          <a:solidFill>
                            <a:schemeClr val="bg1"/>
                          </a:solidFill>
                          <a:latin typeface="Huawei Sans"/>
                          <a:ea typeface="方正兰亭黑简体"/>
                        </a:defRPr>
                      </a:lvl3pPr>
                      <a:lvl4pPr marL="1371051" algn="l" defTabSz="914034" rtl="0" eaLnBrk="1" latinLnBrk="0" hangingPunct="1">
                        <a:defRPr sz="1799" b="1" kern="1200">
                          <a:solidFill>
                            <a:schemeClr val="bg1"/>
                          </a:solidFill>
                          <a:latin typeface="Huawei Sans"/>
                          <a:ea typeface="方正兰亭黑简体"/>
                        </a:defRPr>
                      </a:lvl4pPr>
                      <a:lvl5pPr marL="1828068" algn="l" defTabSz="914034" rtl="0" eaLnBrk="1" latinLnBrk="0" hangingPunct="1">
                        <a:defRPr sz="1799" b="1" kern="1200">
                          <a:solidFill>
                            <a:schemeClr val="bg1"/>
                          </a:solidFill>
                          <a:latin typeface="Huawei Sans"/>
                          <a:ea typeface="方正兰亭黑简体"/>
                        </a:defRPr>
                      </a:lvl5pPr>
                      <a:lvl6pPr marL="2285086" algn="l" defTabSz="914034" rtl="0" eaLnBrk="1" latinLnBrk="0" hangingPunct="1">
                        <a:defRPr sz="1799" b="1" kern="1200">
                          <a:solidFill>
                            <a:schemeClr val="bg1"/>
                          </a:solidFill>
                          <a:latin typeface="Huawei Sans"/>
                          <a:ea typeface="方正兰亭黑简体"/>
                        </a:defRPr>
                      </a:lvl6pPr>
                      <a:lvl7pPr marL="2742103" algn="l" defTabSz="914034" rtl="0" eaLnBrk="1" latinLnBrk="0" hangingPunct="1">
                        <a:defRPr sz="1799" b="1" kern="1200">
                          <a:solidFill>
                            <a:schemeClr val="bg1"/>
                          </a:solidFill>
                          <a:latin typeface="Huawei Sans"/>
                          <a:ea typeface="方正兰亭黑简体"/>
                        </a:defRPr>
                      </a:lvl7pPr>
                      <a:lvl8pPr marL="3199120" algn="l" defTabSz="914034" rtl="0" eaLnBrk="1" latinLnBrk="0" hangingPunct="1">
                        <a:defRPr sz="1799" b="1" kern="1200">
                          <a:solidFill>
                            <a:schemeClr val="bg1"/>
                          </a:solidFill>
                          <a:latin typeface="Huawei Sans"/>
                          <a:ea typeface="方正兰亭黑简体"/>
                        </a:defRPr>
                      </a:lvl8pPr>
                      <a:lvl9pPr marL="3656137" algn="l" defTabSz="914034" rtl="0" eaLnBrk="1" latinLnBrk="0" hangingPunct="1">
                        <a:defRPr sz="1799" b="1" kern="1200">
                          <a:solidFill>
                            <a:schemeClr val="bg1"/>
                          </a:solidFill>
                          <a:latin typeface="Huawei Sans"/>
                          <a:ea typeface="方正兰亭黑简体"/>
                        </a:defRPr>
                      </a:lvl9pPr>
                    </a:lstStyle>
                    <a:p>
                      <a:pPr marL="0" algn="ctr" defTabSz="914034" rtl="0" eaLnBrk="1" latinLnBrk="0" hangingPunct="1"/>
                      <a:r>
                        <a:rPr lang="en-US" altLang="zh-CN" sz="1200" b="0" kern="1200" dirty="0">
                          <a:solidFill>
                            <a:schemeClr val="bg1">
                              <a:lumMod val="50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rPr>
                        <a:t>192.168.1.1</a:t>
                      </a:r>
                      <a:endParaRPr lang="zh-CN" altLang="en-US" sz="1200" b="0" kern="1200" dirty="0">
                        <a:solidFill>
                          <a:schemeClr val="bg1">
                            <a:lumMod val="50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0"/>
                  </a:ext>
                </a:extLst>
              </a:tr>
              <a:tr h="0">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a:r>
                        <a:rPr lang="zh-CN" altLang="en-US" sz="1200" b="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目的</a:t>
                      </a:r>
                      <a:r>
                        <a:rPr lang="en-US" altLang="zh-CN" sz="1200" b="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a:t>
                      </a:r>
                      <a:endParaRPr lang="zh-CN" altLang="en-US" sz="1200" b="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65000"/>
                      </a:sysClr>
                    </a:solid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172.16.1.1</a:t>
                      </a:r>
                      <a:endParaRPr lang="zh-CN" altLang="en-US"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1"/>
                  </a:ext>
                </a:extLst>
              </a:tr>
              <a:tr h="0">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载荷</a:t>
                      </a: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65000"/>
                      </a:sysClr>
                    </a:solid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a:r>
                        <a:rPr lang="zh-CN" altLang="en-US"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数据</a:t>
                      </a: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2"/>
                  </a:ext>
                </a:extLst>
              </a:tr>
            </a:tbl>
          </a:graphicData>
        </a:graphic>
      </p:graphicFrame>
      <p:graphicFrame>
        <p:nvGraphicFramePr>
          <p:cNvPr id="70" name="表格 69"/>
          <p:cNvGraphicFramePr>
            <a:graphicFrameLocks noGrp="1"/>
          </p:cNvGraphicFramePr>
          <p:nvPr>
            <p:extLst>
              <p:ext uri="{D42A27DB-BD31-4B8C-83A1-F6EECF244321}">
                <p14:modId xmlns:p14="http://schemas.microsoft.com/office/powerpoint/2010/main" val="1901800328"/>
              </p:ext>
            </p:extLst>
          </p:nvPr>
        </p:nvGraphicFramePr>
        <p:xfrm>
          <a:off x="1420826" y="1033911"/>
          <a:ext cx="1441025" cy="1529280"/>
        </p:xfrm>
        <a:graphic>
          <a:graphicData uri="http://schemas.openxmlformats.org/drawingml/2006/table">
            <a:tbl>
              <a:tblPr firstRow="1" bandRow="1"/>
              <a:tblGrid>
                <a:gridCol w="508870">
                  <a:extLst>
                    <a:ext uri="{9D8B030D-6E8A-4147-A177-3AD203B41FA5}">
                      <a16:colId xmlns:a16="http://schemas.microsoft.com/office/drawing/2014/main" val="20000"/>
                    </a:ext>
                  </a:extLst>
                </a:gridCol>
                <a:gridCol w="932155">
                  <a:extLst>
                    <a:ext uri="{9D8B030D-6E8A-4147-A177-3AD203B41FA5}">
                      <a16:colId xmlns:a16="http://schemas.microsoft.com/office/drawing/2014/main" val="20001"/>
                    </a:ext>
                  </a:extLst>
                </a:gridCol>
              </a:tblGrid>
              <a:tr h="0">
                <a:tc>
                  <a:txBody>
                    <a:bodyPr/>
                    <a:lstStyle>
                      <a:lvl1pPr marL="0" algn="l" defTabSz="914034" rtl="0" eaLnBrk="1" latinLnBrk="0" hangingPunct="1">
                        <a:defRPr sz="1799" b="1" kern="1200">
                          <a:solidFill>
                            <a:schemeClr val="bg1"/>
                          </a:solidFill>
                          <a:latin typeface="Huawei Sans"/>
                          <a:ea typeface="方正兰亭黑简体"/>
                        </a:defRPr>
                      </a:lvl1pPr>
                      <a:lvl2pPr marL="457017" algn="l" defTabSz="914034" rtl="0" eaLnBrk="1" latinLnBrk="0" hangingPunct="1">
                        <a:defRPr sz="1799" b="1" kern="1200">
                          <a:solidFill>
                            <a:schemeClr val="bg1"/>
                          </a:solidFill>
                          <a:latin typeface="Huawei Sans"/>
                          <a:ea typeface="方正兰亭黑简体"/>
                        </a:defRPr>
                      </a:lvl2pPr>
                      <a:lvl3pPr marL="914034" algn="l" defTabSz="914034" rtl="0" eaLnBrk="1" latinLnBrk="0" hangingPunct="1">
                        <a:defRPr sz="1799" b="1" kern="1200">
                          <a:solidFill>
                            <a:schemeClr val="bg1"/>
                          </a:solidFill>
                          <a:latin typeface="Huawei Sans"/>
                          <a:ea typeface="方正兰亭黑简体"/>
                        </a:defRPr>
                      </a:lvl3pPr>
                      <a:lvl4pPr marL="1371051" algn="l" defTabSz="914034" rtl="0" eaLnBrk="1" latinLnBrk="0" hangingPunct="1">
                        <a:defRPr sz="1799" b="1" kern="1200">
                          <a:solidFill>
                            <a:schemeClr val="bg1"/>
                          </a:solidFill>
                          <a:latin typeface="Huawei Sans"/>
                          <a:ea typeface="方正兰亭黑简体"/>
                        </a:defRPr>
                      </a:lvl4pPr>
                      <a:lvl5pPr marL="1828068" algn="l" defTabSz="914034" rtl="0" eaLnBrk="1" latinLnBrk="0" hangingPunct="1">
                        <a:defRPr sz="1799" b="1" kern="1200">
                          <a:solidFill>
                            <a:schemeClr val="bg1"/>
                          </a:solidFill>
                          <a:latin typeface="Huawei Sans"/>
                          <a:ea typeface="方正兰亭黑简体"/>
                        </a:defRPr>
                      </a:lvl5pPr>
                      <a:lvl6pPr marL="2285086" algn="l" defTabSz="914034" rtl="0" eaLnBrk="1" latinLnBrk="0" hangingPunct="1">
                        <a:defRPr sz="1799" b="1" kern="1200">
                          <a:solidFill>
                            <a:schemeClr val="bg1"/>
                          </a:solidFill>
                          <a:latin typeface="Huawei Sans"/>
                          <a:ea typeface="方正兰亭黑简体"/>
                        </a:defRPr>
                      </a:lvl6pPr>
                      <a:lvl7pPr marL="2742103" algn="l" defTabSz="914034" rtl="0" eaLnBrk="1" latinLnBrk="0" hangingPunct="1">
                        <a:defRPr sz="1799" b="1" kern="1200">
                          <a:solidFill>
                            <a:schemeClr val="bg1"/>
                          </a:solidFill>
                          <a:latin typeface="Huawei Sans"/>
                          <a:ea typeface="方正兰亭黑简体"/>
                        </a:defRPr>
                      </a:lvl7pPr>
                      <a:lvl8pPr marL="3199120" algn="l" defTabSz="914034" rtl="0" eaLnBrk="1" latinLnBrk="0" hangingPunct="1">
                        <a:defRPr sz="1799" b="1" kern="1200">
                          <a:solidFill>
                            <a:schemeClr val="bg1"/>
                          </a:solidFill>
                          <a:latin typeface="Huawei Sans"/>
                          <a:ea typeface="方正兰亭黑简体"/>
                        </a:defRPr>
                      </a:lvl8pPr>
                      <a:lvl9pPr marL="3656137" algn="l" defTabSz="914034" rtl="0" eaLnBrk="1" latinLnBrk="0" hangingPunct="1">
                        <a:defRPr sz="1799" b="1" kern="1200">
                          <a:solidFill>
                            <a:schemeClr val="bg1"/>
                          </a:solidFill>
                          <a:latin typeface="Huawei Sans"/>
                          <a:ea typeface="方正兰亭黑简体"/>
                        </a:defRPr>
                      </a:lvl9pPr>
                    </a:lstStyle>
                    <a:p>
                      <a:pPr algn="ct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源</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c>
                  <a:txBody>
                    <a:bodyPr/>
                    <a:lstStyle>
                      <a:lvl1pPr marL="0" algn="l" defTabSz="914034" rtl="0" eaLnBrk="1" latinLnBrk="0" hangingPunct="1">
                        <a:defRPr sz="1799" b="1" kern="1200">
                          <a:solidFill>
                            <a:schemeClr val="bg1"/>
                          </a:solidFill>
                          <a:latin typeface="Huawei Sans"/>
                          <a:ea typeface="方正兰亭黑简体"/>
                        </a:defRPr>
                      </a:lvl1pPr>
                      <a:lvl2pPr marL="457017" algn="l" defTabSz="914034" rtl="0" eaLnBrk="1" latinLnBrk="0" hangingPunct="1">
                        <a:defRPr sz="1799" b="1" kern="1200">
                          <a:solidFill>
                            <a:schemeClr val="bg1"/>
                          </a:solidFill>
                          <a:latin typeface="Huawei Sans"/>
                          <a:ea typeface="方正兰亭黑简体"/>
                        </a:defRPr>
                      </a:lvl2pPr>
                      <a:lvl3pPr marL="914034" algn="l" defTabSz="914034" rtl="0" eaLnBrk="1" latinLnBrk="0" hangingPunct="1">
                        <a:defRPr sz="1799" b="1" kern="1200">
                          <a:solidFill>
                            <a:schemeClr val="bg1"/>
                          </a:solidFill>
                          <a:latin typeface="Huawei Sans"/>
                          <a:ea typeface="方正兰亭黑简体"/>
                        </a:defRPr>
                      </a:lvl3pPr>
                      <a:lvl4pPr marL="1371051" algn="l" defTabSz="914034" rtl="0" eaLnBrk="1" latinLnBrk="0" hangingPunct="1">
                        <a:defRPr sz="1799" b="1" kern="1200">
                          <a:solidFill>
                            <a:schemeClr val="bg1"/>
                          </a:solidFill>
                          <a:latin typeface="Huawei Sans"/>
                          <a:ea typeface="方正兰亭黑简体"/>
                        </a:defRPr>
                      </a:lvl4pPr>
                      <a:lvl5pPr marL="1828068" algn="l" defTabSz="914034" rtl="0" eaLnBrk="1" latinLnBrk="0" hangingPunct="1">
                        <a:defRPr sz="1799" b="1" kern="1200">
                          <a:solidFill>
                            <a:schemeClr val="bg1"/>
                          </a:solidFill>
                          <a:latin typeface="Huawei Sans"/>
                          <a:ea typeface="方正兰亭黑简体"/>
                        </a:defRPr>
                      </a:lvl5pPr>
                      <a:lvl6pPr marL="2285086" algn="l" defTabSz="914034" rtl="0" eaLnBrk="1" latinLnBrk="0" hangingPunct="1">
                        <a:defRPr sz="1799" b="1" kern="1200">
                          <a:solidFill>
                            <a:schemeClr val="bg1"/>
                          </a:solidFill>
                          <a:latin typeface="Huawei Sans"/>
                          <a:ea typeface="方正兰亭黑简体"/>
                        </a:defRPr>
                      </a:lvl6pPr>
                      <a:lvl7pPr marL="2742103" algn="l" defTabSz="914034" rtl="0" eaLnBrk="1" latinLnBrk="0" hangingPunct="1">
                        <a:defRPr sz="1799" b="1" kern="1200">
                          <a:solidFill>
                            <a:schemeClr val="bg1"/>
                          </a:solidFill>
                          <a:latin typeface="Huawei Sans"/>
                          <a:ea typeface="方正兰亭黑简体"/>
                        </a:defRPr>
                      </a:lvl7pPr>
                      <a:lvl8pPr marL="3199120" algn="l" defTabSz="914034" rtl="0" eaLnBrk="1" latinLnBrk="0" hangingPunct="1">
                        <a:defRPr sz="1799" b="1" kern="1200">
                          <a:solidFill>
                            <a:schemeClr val="bg1"/>
                          </a:solidFill>
                          <a:latin typeface="Huawei Sans"/>
                          <a:ea typeface="方正兰亭黑简体"/>
                        </a:defRPr>
                      </a:lvl8pPr>
                      <a:lvl9pPr marL="3656137" algn="l" defTabSz="914034" rtl="0" eaLnBrk="1" latinLnBrk="0" hangingPunct="1">
                        <a:defRPr sz="1799" b="1" kern="1200">
                          <a:solidFill>
                            <a:schemeClr val="bg1"/>
                          </a:solidFill>
                          <a:latin typeface="Huawei Sans"/>
                          <a:ea typeface="方正兰亭黑简体"/>
                        </a:defRPr>
                      </a:lvl9pPr>
                    </a:lstStyle>
                    <a:p>
                      <a:pPr marL="0" algn="ctr" defTabSz="914034" rtl="0" eaLnBrk="1" latinLnBrk="0" hangingPunct="1"/>
                      <a:r>
                        <a:rPr lang="en-US" altLang="zh-CN" sz="1200" b="1" kern="1200" dirty="0">
                          <a:solidFill>
                            <a:srgbClr val="30B5C5"/>
                          </a:solidFill>
                          <a:latin typeface="Huawei Sans" panose="020C0503030203020204" pitchFamily="34" charset="0"/>
                          <a:ea typeface="方正兰亭黑简体" panose="02000000000000000000" pitchFamily="2" charset="-122"/>
                          <a:cs typeface="+mn-cs"/>
                          <a:sym typeface="Huawei Sans" panose="020C0503030203020204" pitchFamily="34" charset="0"/>
                        </a:rPr>
                        <a:t>1.1.1.1</a:t>
                      </a:r>
                      <a:endParaRPr lang="zh-CN" altLang="en-US" sz="1200" b="1" kern="1200" dirty="0">
                        <a:solidFill>
                          <a:srgbClr val="30B5C5"/>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EF4F6"/>
                    </a:solidFill>
                  </a:tcPr>
                </a:tc>
                <a:extLst>
                  <a:ext uri="{0D108BD9-81ED-4DB2-BD59-A6C34878D82A}">
                    <a16:rowId xmlns:a16="http://schemas.microsoft.com/office/drawing/2014/main" val="10000"/>
                  </a:ext>
                </a:extLst>
              </a:tr>
              <a:tr h="0">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a:r>
                        <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目的</a:t>
                      </a:r>
                      <a:r>
                        <a:rPr lang="en-US" altLang="zh-CN"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a:t>
                      </a:r>
                      <a:endParaRPr lang="zh-CN" altLang="en-US" sz="1200" b="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6C4D2"/>
                    </a:solid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a:r>
                        <a:rPr lang="en-US" altLang="zh-CN" sz="12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2.2.2.2</a:t>
                      </a:r>
                      <a:endParaRPr lang="zh-CN" altLang="en-US" sz="12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EF4F6"/>
                    </a:solidFill>
                  </a:tcPr>
                </a:tc>
                <a:extLst>
                  <a:ext uri="{0D108BD9-81ED-4DB2-BD59-A6C34878D82A}">
                    <a16:rowId xmlns:a16="http://schemas.microsoft.com/office/drawing/2014/main" val="10001"/>
                  </a:ext>
                </a:extLst>
              </a:tr>
              <a:tr h="0">
                <a:tc gridSpan="2">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安全协议头部</a:t>
                      </a: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D0E8C4"/>
                    </a:solidFill>
                  </a:tcPr>
                </a:tc>
                <a:tc hMerge="1">
                  <a:txBody>
                    <a:bodyPr/>
                    <a:lstStyle/>
                    <a:p>
                      <a:pPr marL="0" algn="ctr" defTabSz="914034" rtl="0" eaLnBrk="1" latinLnBrk="0" hangingPunct="1"/>
                      <a:endParaRPr lang="zh-CN" altLang="en-US" sz="1200" b="0" kern="1200">
                        <a:solidFill>
                          <a:schemeClr val="bg1">
                            <a:lumMod val="50000"/>
                          </a:schemeClr>
                        </a:solidFill>
                        <a:latin typeface="+mn-lt"/>
                        <a:ea typeface="+mn-ea"/>
                        <a:cs typeface="+mn-cs"/>
                      </a:endParaRP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marL="0" algn="ctr" defTabSz="914034" rtl="0" eaLnBrk="1" latinLnBrk="0" hangingPunct="1"/>
                      <a:r>
                        <a:rPr lang="zh-CN" altLang="en-US" sz="1200" b="0" kern="1200">
                          <a:solidFill>
                            <a:schemeClr val="bg1"/>
                          </a:solidFill>
                          <a:latin typeface="Huawei Sans" panose="020C0503030203020204" pitchFamily="34" charset="0"/>
                          <a:ea typeface="方正兰亭黑简体" panose="02000000000000000000" pitchFamily="2" charset="-122"/>
                          <a:cs typeface="+mn-cs"/>
                          <a:sym typeface="Huawei Sans" panose="020C0503030203020204" pitchFamily="34" charset="0"/>
                        </a:rPr>
                        <a:t>源</a:t>
                      </a:r>
                      <a:r>
                        <a:rPr lang="en-US" altLang="zh-CN" sz="1200" b="0" kern="1200">
                          <a:solidFill>
                            <a:schemeClr val="bg1"/>
                          </a:solidFill>
                          <a:latin typeface="Huawei Sans" panose="020C0503030203020204" pitchFamily="34" charset="0"/>
                          <a:ea typeface="方正兰亭黑简体" panose="02000000000000000000" pitchFamily="2" charset="-122"/>
                          <a:cs typeface="+mn-cs"/>
                          <a:sym typeface="Huawei Sans" panose="020C0503030203020204" pitchFamily="34" charset="0"/>
                        </a:rPr>
                        <a:t>IP</a:t>
                      </a:r>
                      <a:endParaRPr lang="zh-CN" altLang="en-US" sz="1200" b="0" kern="1200">
                        <a:solidFill>
                          <a:schemeClr val="bg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A6A6A6"/>
                    </a:solid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marL="0" algn="ctr" defTabSz="914034" rtl="0" eaLnBrk="1" latinLnBrk="0" hangingPunct="1"/>
                      <a:r>
                        <a:rPr lang="en-US" altLang="zh-CN" sz="1200" b="0" kern="1200" dirty="0">
                          <a:solidFill>
                            <a:schemeClr val="bg1">
                              <a:lumMod val="50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rPr>
                        <a:t>192.168.1.1</a:t>
                      </a:r>
                      <a:endParaRPr lang="zh-CN" altLang="en-US" sz="1200" b="0" kern="1200" dirty="0">
                        <a:solidFill>
                          <a:schemeClr val="bg1">
                            <a:lumMod val="50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003"/>
                  </a:ext>
                </a:extLst>
              </a:tr>
              <a:tr h="0">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marL="0" algn="ctr" defTabSz="914034" rtl="0" eaLnBrk="1" latinLnBrk="0" hangingPunct="1"/>
                      <a:r>
                        <a:rPr lang="zh-CN" altLang="en-US" sz="1200" b="0" kern="1200">
                          <a:solidFill>
                            <a:schemeClr val="bg1"/>
                          </a:solidFill>
                          <a:latin typeface="Huawei Sans" panose="020C0503030203020204" pitchFamily="34" charset="0"/>
                          <a:ea typeface="方正兰亭黑简体" panose="02000000000000000000" pitchFamily="2" charset="-122"/>
                          <a:cs typeface="+mn-cs"/>
                          <a:sym typeface="Huawei Sans" panose="020C0503030203020204" pitchFamily="34" charset="0"/>
                        </a:rPr>
                        <a:t>目的</a:t>
                      </a:r>
                      <a:r>
                        <a:rPr lang="en-US" altLang="zh-CN" sz="1200" b="0" kern="1200">
                          <a:solidFill>
                            <a:schemeClr val="bg1"/>
                          </a:solidFill>
                          <a:latin typeface="Huawei Sans" panose="020C0503030203020204" pitchFamily="34" charset="0"/>
                          <a:ea typeface="方正兰亭黑简体" panose="02000000000000000000" pitchFamily="2" charset="-122"/>
                          <a:cs typeface="+mn-cs"/>
                          <a:sym typeface="Huawei Sans" panose="020C0503030203020204" pitchFamily="34" charset="0"/>
                        </a:rPr>
                        <a:t>IP</a:t>
                      </a:r>
                      <a:endParaRPr lang="zh-CN" altLang="en-US" sz="1200" b="0" kern="1200">
                        <a:solidFill>
                          <a:schemeClr val="bg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A6A6A6"/>
                    </a:solid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marL="0" algn="ctr" defTabSz="914034" rtl="0" eaLnBrk="1" latinLnBrk="0" hangingPunct="1"/>
                      <a:r>
                        <a:rPr lang="en-US" altLang="zh-CN" sz="1200" b="0" kern="1200">
                          <a:solidFill>
                            <a:schemeClr val="bg1">
                              <a:lumMod val="50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rPr>
                        <a:t>172.16.1.1</a:t>
                      </a:r>
                      <a:endParaRPr lang="zh-CN" altLang="en-US" sz="1200" b="0" kern="1200">
                        <a:solidFill>
                          <a:schemeClr val="bg1">
                            <a:lumMod val="50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004"/>
                  </a:ext>
                </a:extLst>
              </a:tr>
              <a:tr h="0">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marL="0" algn="ctr" defTabSz="914034" rtl="0" eaLnBrk="1" latinLnBrk="0" hangingPunct="1"/>
                      <a:r>
                        <a:rPr lang="zh-CN" altLang="en-US" sz="1200" b="0" kern="1200" dirty="0">
                          <a:solidFill>
                            <a:schemeClr val="bg1"/>
                          </a:solidFill>
                          <a:latin typeface="Huawei Sans" panose="020C0503030203020204" pitchFamily="34" charset="0"/>
                          <a:ea typeface="方正兰亭黑简体" panose="02000000000000000000" pitchFamily="2" charset="-122"/>
                          <a:cs typeface="+mn-cs"/>
                          <a:sym typeface="Huawei Sans" panose="020C0503030203020204" pitchFamily="34" charset="0"/>
                        </a:rPr>
                        <a:t>载荷</a:t>
                      </a: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A6A6A6"/>
                    </a:solid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marL="0" algn="ctr" defTabSz="914034" rtl="0" eaLnBrk="1" latinLnBrk="0" hangingPunct="1"/>
                      <a:r>
                        <a:rPr lang="zh-CN" altLang="en-US" sz="1200" b="0" kern="1200" dirty="0">
                          <a:solidFill>
                            <a:schemeClr val="bg1">
                              <a:lumMod val="50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rPr>
                        <a:t>数据</a:t>
                      </a: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005"/>
                  </a:ext>
                </a:extLst>
              </a:tr>
            </a:tbl>
          </a:graphicData>
        </a:graphic>
      </p:graphicFrame>
      <p:pic>
        <p:nvPicPr>
          <p:cNvPr id="71" name="Picture 2" descr="G:\做的项目\公共\扁平图标切换\更新2015_01_21\oss扁平图标库2015_01_21更新-04.png"/>
          <p:cNvPicPr>
            <a:picLocks noChangeAspect="1" noChangeArrowheads="1"/>
          </p:cNvPicPr>
          <p:nvPr/>
        </p:nvPicPr>
        <p:blipFill>
          <a:blip r:embed="rId4" cstate="print">
            <a:duotone>
              <a:srgbClr val="F3FBFE">
                <a:shade val="45000"/>
                <a:satMod val="135000"/>
              </a:srgbClr>
              <a:prstClr val="white"/>
            </a:duotone>
          </a:blip>
          <a:stretch>
            <a:fillRect/>
          </a:stretch>
        </p:blipFill>
        <p:spPr bwMode="gray">
          <a:xfrm>
            <a:off x="2639103" y="2836693"/>
            <a:ext cx="335297" cy="274334"/>
          </a:xfrm>
          <a:prstGeom prst="rect">
            <a:avLst/>
          </a:prstGeom>
          <a:noFill/>
        </p:spPr>
      </p:pic>
      <p:pic>
        <p:nvPicPr>
          <p:cNvPr id="72" name="Picture 2" descr="G:\做的项目\公共\扁平图标切换\更新2015_01_21\oss扁平图标库2015_01_21更新-04.png"/>
          <p:cNvPicPr>
            <a:picLocks noChangeAspect="1" noChangeArrowheads="1"/>
          </p:cNvPicPr>
          <p:nvPr/>
        </p:nvPicPr>
        <p:blipFill>
          <a:blip r:embed="rId4" cstate="print">
            <a:duotone>
              <a:srgbClr val="F3FBFE">
                <a:shade val="45000"/>
                <a:satMod val="135000"/>
              </a:srgbClr>
              <a:prstClr val="white"/>
            </a:duotone>
          </a:blip>
          <a:stretch>
            <a:fillRect/>
          </a:stretch>
        </p:blipFill>
        <p:spPr bwMode="gray">
          <a:xfrm>
            <a:off x="3248275" y="3678512"/>
            <a:ext cx="335297" cy="274334"/>
          </a:xfrm>
          <a:prstGeom prst="rect">
            <a:avLst/>
          </a:prstGeom>
          <a:noFill/>
        </p:spPr>
      </p:pic>
      <p:pic>
        <p:nvPicPr>
          <p:cNvPr id="73" name="Picture 2" descr="G:\做的项目\公共\扁平图标切换\更新2015_01_21\oss扁平图标库2015_01_21更新-04.png"/>
          <p:cNvPicPr>
            <a:picLocks noChangeAspect="1" noChangeArrowheads="1"/>
          </p:cNvPicPr>
          <p:nvPr/>
        </p:nvPicPr>
        <p:blipFill>
          <a:blip r:embed="rId4" cstate="print">
            <a:duotone>
              <a:srgbClr val="F3FBFE">
                <a:shade val="45000"/>
                <a:satMod val="135000"/>
              </a:srgbClr>
              <a:prstClr val="white"/>
            </a:duotone>
          </a:blip>
          <a:stretch>
            <a:fillRect/>
          </a:stretch>
        </p:blipFill>
        <p:spPr bwMode="gray">
          <a:xfrm>
            <a:off x="3631079" y="2952929"/>
            <a:ext cx="335297" cy="274334"/>
          </a:xfrm>
          <a:prstGeom prst="rect">
            <a:avLst/>
          </a:prstGeom>
          <a:noFill/>
        </p:spPr>
      </p:pic>
      <p:cxnSp>
        <p:nvCxnSpPr>
          <p:cNvPr id="74" name="Straight Connector 167"/>
          <p:cNvCxnSpPr/>
          <p:nvPr/>
        </p:nvCxnSpPr>
        <p:spPr bwMode="gray">
          <a:xfrm>
            <a:off x="1420826" y="2676094"/>
            <a:ext cx="3673896" cy="0"/>
          </a:xfrm>
          <a:prstGeom prst="line">
            <a:avLst/>
          </a:prstGeom>
          <a:noFill/>
          <a:ln w="57150" cap="flat" cmpd="sng" algn="ctr">
            <a:solidFill>
              <a:srgbClr val="EC7061"/>
            </a:solidFill>
            <a:prstDash val="solid"/>
            <a:miter lim="800000"/>
            <a:tailEnd type="triangle"/>
          </a:ln>
          <a:effectLst/>
        </p:spPr>
      </p:cxnSp>
      <p:cxnSp>
        <p:nvCxnSpPr>
          <p:cNvPr id="75" name="Straight Connector 167"/>
          <p:cNvCxnSpPr/>
          <p:nvPr/>
        </p:nvCxnSpPr>
        <p:spPr bwMode="gray">
          <a:xfrm>
            <a:off x="5068488" y="4737382"/>
            <a:ext cx="0" cy="518831"/>
          </a:xfrm>
          <a:prstGeom prst="line">
            <a:avLst/>
          </a:prstGeom>
          <a:noFill/>
          <a:ln w="57150" cap="flat" cmpd="sng" algn="ctr">
            <a:solidFill>
              <a:sysClr val="window" lastClr="FFFFFF">
                <a:lumMod val="50000"/>
              </a:sysClr>
            </a:solidFill>
            <a:prstDash val="solid"/>
            <a:miter lim="800000"/>
            <a:tailEnd type="triangle"/>
          </a:ln>
          <a:effectLst/>
        </p:spPr>
      </p:cxnSp>
      <p:graphicFrame>
        <p:nvGraphicFramePr>
          <p:cNvPr id="76" name="表格 75"/>
          <p:cNvGraphicFramePr>
            <a:graphicFrameLocks noGrp="1"/>
          </p:cNvGraphicFramePr>
          <p:nvPr>
            <p:extLst>
              <p:ext uri="{D42A27DB-BD31-4B8C-83A1-F6EECF244321}">
                <p14:modId xmlns:p14="http://schemas.microsoft.com/office/powerpoint/2010/main" val="3952638917"/>
              </p:ext>
            </p:extLst>
          </p:nvPr>
        </p:nvGraphicFramePr>
        <p:xfrm>
          <a:off x="3748368" y="4148402"/>
          <a:ext cx="1441025" cy="764640"/>
        </p:xfrm>
        <a:graphic>
          <a:graphicData uri="http://schemas.openxmlformats.org/drawingml/2006/table">
            <a:tbl>
              <a:tblPr firstRow="1" bandRow="1"/>
              <a:tblGrid>
                <a:gridCol w="508870">
                  <a:extLst>
                    <a:ext uri="{9D8B030D-6E8A-4147-A177-3AD203B41FA5}">
                      <a16:colId xmlns:a16="http://schemas.microsoft.com/office/drawing/2014/main" val="20000"/>
                    </a:ext>
                  </a:extLst>
                </a:gridCol>
                <a:gridCol w="932155">
                  <a:extLst>
                    <a:ext uri="{9D8B030D-6E8A-4147-A177-3AD203B41FA5}">
                      <a16:colId xmlns:a16="http://schemas.microsoft.com/office/drawing/2014/main" val="20001"/>
                    </a:ext>
                  </a:extLst>
                </a:gridCol>
              </a:tblGrid>
              <a:tr h="0">
                <a:tc>
                  <a:txBody>
                    <a:bodyPr/>
                    <a:lstStyle>
                      <a:lvl1pPr marL="0" algn="l" defTabSz="914034" rtl="0" eaLnBrk="1" latinLnBrk="0" hangingPunct="1">
                        <a:defRPr sz="1799" b="1" kern="1200">
                          <a:solidFill>
                            <a:schemeClr val="bg1"/>
                          </a:solidFill>
                          <a:latin typeface="Huawei Sans"/>
                          <a:ea typeface="方正兰亭黑简体"/>
                        </a:defRPr>
                      </a:lvl1pPr>
                      <a:lvl2pPr marL="457017" algn="l" defTabSz="914034" rtl="0" eaLnBrk="1" latinLnBrk="0" hangingPunct="1">
                        <a:defRPr sz="1799" b="1" kern="1200">
                          <a:solidFill>
                            <a:schemeClr val="bg1"/>
                          </a:solidFill>
                          <a:latin typeface="Huawei Sans"/>
                          <a:ea typeface="方正兰亭黑简体"/>
                        </a:defRPr>
                      </a:lvl2pPr>
                      <a:lvl3pPr marL="914034" algn="l" defTabSz="914034" rtl="0" eaLnBrk="1" latinLnBrk="0" hangingPunct="1">
                        <a:defRPr sz="1799" b="1" kern="1200">
                          <a:solidFill>
                            <a:schemeClr val="bg1"/>
                          </a:solidFill>
                          <a:latin typeface="Huawei Sans"/>
                          <a:ea typeface="方正兰亭黑简体"/>
                        </a:defRPr>
                      </a:lvl3pPr>
                      <a:lvl4pPr marL="1371051" algn="l" defTabSz="914034" rtl="0" eaLnBrk="1" latinLnBrk="0" hangingPunct="1">
                        <a:defRPr sz="1799" b="1" kern="1200">
                          <a:solidFill>
                            <a:schemeClr val="bg1"/>
                          </a:solidFill>
                          <a:latin typeface="Huawei Sans"/>
                          <a:ea typeface="方正兰亭黑简体"/>
                        </a:defRPr>
                      </a:lvl4pPr>
                      <a:lvl5pPr marL="1828068" algn="l" defTabSz="914034" rtl="0" eaLnBrk="1" latinLnBrk="0" hangingPunct="1">
                        <a:defRPr sz="1799" b="1" kern="1200">
                          <a:solidFill>
                            <a:schemeClr val="bg1"/>
                          </a:solidFill>
                          <a:latin typeface="Huawei Sans"/>
                          <a:ea typeface="方正兰亭黑简体"/>
                        </a:defRPr>
                      </a:lvl5pPr>
                      <a:lvl6pPr marL="2285086" algn="l" defTabSz="914034" rtl="0" eaLnBrk="1" latinLnBrk="0" hangingPunct="1">
                        <a:defRPr sz="1799" b="1" kern="1200">
                          <a:solidFill>
                            <a:schemeClr val="bg1"/>
                          </a:solidFill>
                          <a:latin typeface="Huawei Sans"/>
                          <a:ea typeface="方正兰亭黑简体"/>
                        </a:defRPr>
                      </a:lvl6pPr>
                      <a:lvl7pPr marL="2742103" algn="l" defTabSz="914034" rtl="0" eaLnBrk="1" latinLnBrk="0" hangingPunct="1">
                        <a:defRPr sz="1799" b="1" kern="1200">
                          <a:solidFill>
                            <a:schemeClr val="bg1"/>
                          </a:solidFill>
                          <a:latin typeface="Huawei Sans"/>
                          <a:ea typeface="方正兰亭黑简体"/>
                        </a:defRPr>
                      </a:lvl7pPr>
                      <a:lvl8pPr marL="3199120" algn="l" defTabSz="914034" rtl="0" eaLnBrk="1" latinLnBrk="0" hangingPunct="1">
                        <a:defRPr sz="1799" b="1" kern="1200">
                          <a:solidFill>
                            <a:schemeClr val="bg1"/>
                          </a:solidFill>
                          <a:latin typeface="Huawei Sans"/>
                          <a:ea typeface="方正兰亭黑简体"/>
                        </a:defRPr>
                      </a:lvl8pPr>
                      <a:lvl9pPr marL="3656137" algn="l" defTabSz="914034" rtl="0" eaLnBrk="1" latinLnBrk="0" hangingPunct="1">
                        <a:defRPr sz="1799" b="1" kern="1200">
                          <a:solidFill>
                            <a:schemeClr val="bg1"/>
                          </a:solidFill>
                          <a:latin typeface="Huawei Sans"/>
                          <a:ea typeface="方正兰亭黑简体"/>
                        </a:defRPr>
                      </a:lvl9pPr>
                    </a:lstStyle>
                    <a:p>
                      <a:pPr algn="ctr"/>
                      <a:r>
                        <a:rPr lang="zh-CN" altLang="en-US" sz="1200" b="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源</a:t>
                      </a:r>
                      <a:r>
                        <a:rPr lang="en-US" altLang="zh-CN" sz="1200" b="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a:t>
                      </a:r>
                      <a:endParaRPr lang="zh-CN" altLang="en-US" sz="1200" b="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65000"/>
                      </a:sysClr>
                    </a:solidFill>
                  </a:tcPr>
                </a:tc>
                <a:tc>
                  <a:txBody>
                    <a:bodyPr/>
                    <a:lstStyle>
                      <a:lvl1pPr marL="0" algn="l" defTabSz="914034" rtl="0" eaLnBrk="1" latinLnBrk="0" hangingPunct="1">
                        <a:defRPr sz="1799" b="1" kern="1200">
                          <a:solidFill>
                            <a:schemeClr val="bg1"/>
                          </a:solidFill>
                          <a:latin typeface="Huawei Sans"/>
                          <a:ea typeface="方正兰亭黑简体"/>
                        </a:defRPr>
                      </a:lvl1pPr>
                      <a:lvl2pPr marL="457017" algn="l" defTabSz="914034" rtl="0" eaLnBrk="1" latinLnBrk="0" hangingPunct="1">
                        <a:defRPr sz="1799" b="1" kern="1200">
                          <a:solidFill>
                            <a:schemeClr val="bg1"/>
                          </a:solidFill>
                          <a:latin typeface="Huawei Sans"/>
                          <a:ea typeface="方正兰亭黑简体"/>
                        </a:defRPr>
                      </a:lvl2pPr>
                      <a:lvl3pPr marL="914034" algn="l" defTabSz="914034" rtl="0" eaLnBrk="1" latinLnBrk="0" hangingPunct="1">
                        <a:defRPr sz="1799" b="1" kern="1200">
                          <a:solidFill>
                            <a:schemeClr val="bg1"/>
                          </a:solidFill>
                          <a:latin typeface="Huawei Sans"/>
                          <a:ea typeface="方正兰亭黑简体"/>
                        </a:defRPr>
                      </a:lvl3pPr>
                      <a:lvl4pPr marL="1371051" algn="l" defTabSz="914034" rtl="0" eaLnBrk="1" latinLnBrk="0" hangingPunct="1">
                        <a:defRPr sz="1799" b="1" kern="1200">
                          <a:solidFill>
                            <a:schemeClr val="bg1"/>
                          </a:solidFill>
                          <a:latin typeface="Huawei Sans"/>
                          <a:ea typeface="方正兰亭黑简体"/>
                        </a:defRPr>
                      </a:lvl4pPr>
                      <a:lvl5pPr marL="1828068" algn="l" defTabSz="914034" rtl="0" eaLnBrk="1" latinLnBrk="0" hangingPunct="1">
                        <a:defRPr sz="1799" b="1" kern="1200">
                          <a:solidFill>
                            <a:schemeClr val="bg1"/>
                          </a:solidFill>
                          <a:latin typeface="Huawei Sans"/>
                          <a:ea typeface="方正兰亭黑简体"/>
                        </a:defRPr>
                      </a:lvl5pPr>
                      <a:lvl6pPr marL="2285086" algn="l" defTabSz="914034" rtl="0" eaLnBrk="1" latinLnBrk="0" hangingPunct="1">
                        <a:defRPr sz="1799" b="1" kern="1200">
                          <a:solidFill>
                            <a:schemeClr val="bg1"/>
                          </a:solidFill>
                          <a:latin typeface="Huawei Sans"/>
                          <a:ea typeface="方正兰亭黑简体"/>
                        </a:defRPr>
                      </a:lvl6pPr>
                      <a:lvl7pPr marL="2742103" algn="l" defTabSz="914034" rtl="0" eaLnBrk="1" latinLnBrk="0" hangingPunct="1">
                        <a:defRPr sz="1799" b="1" kern="1200">
                          <a:solidFill>
                            <a:schemeClr val="bg1"/>
                          </a:solidFill>
                          <a:latin typeface="Huawei Sans"/>
                          <a:ea typeface="方正兰亭黑简体"/>
                        </a:defRPr>
                      </a:lvl7pPr>
                      <a:lvl8pPr marL="3199120" algn="l" defTabSz="914034" rtl="0" eaLnBrk="1" latinLnBrk="0" hangingPunct="1">
                        <a:defRPr sz="1799" b="1" kern="1200">
                          <a:solidFill>
                            <a:schemeClr val="bg1"/>
                          </a:solidFill>
                          <a:latin typeface="Huawei Sans"/>
                          <a:ea typeface="方正兰亭黑简体"/>
                        </a:defRPr>
                      </a:lvl8pPr>
                      <a:lvl9pPr marL="3656137" algn="l" defTabSz="914034" rtl="0" eaLnBrk="1" latinLnBrk="0" hangingPunct="1">
                        <a:defRPr sz="1799" b="1" kern="1200">
                          <a:solidFill>
                            <a:schemeClr val="bg1"/>
                          </a:solidFill>
                          <a:latin typeface="Huawei Sans"/>
                          <a:ea typeface="方正兰亭黑简体"/>
                        </a:defRPr>
                      </a:lvl9pPr>
                    </a:lstStyle>
                    <a:p>
                      <a:pPr marL="0" algn="ctr" defTabSz="914034" rtl="0" eaLnBrk="1" latinLnBrk="0" hangingPunct="1"/>
                      <a:r>
                        <a:rPr lang="en-US" altLang="zh-CN" sz="1200" b="0" kern="1200">
                          <a:solidFill>
                            <a:schemeClr val="bg1">
                              <a:lumMod val="50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rPr>
                        <a:t>192.168.1.1</a:t>
                      </a:r>
                      <a:endParaRPr lang="zh-CN" altLang="en-US" sz="1200" b="0" kern="1200">
                        <a:solidFill>
                          <a:schemeClr val="bg1">
                            <a:lumMod val="50000"/>
                          </a:schemeClr>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0"/>
                  </a:ext>
                </a:extLst>
              </a:tr>
              <a:tr h="0">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a:r>
                        <a:rPr lang="zh-CN" altLang="en-US" sz="1200" b="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目的</a:t>
                      </a:r>
                      <a:r>
                        <a:rPr lang="en-US" altLang="zh-CN" sz="1200" b="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a:t>
                      </a:r>
                      <a:endParaRPr lang="zh-CN" altLang="en-US" sz="1200" b="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65000"/>
                      </a:sysClr>
                    </a:solid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a:r>
                        <a:rPr lang="en-US" altLang="zh-CN" sz="1200" b="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172.16.1.1</a:t>
                      </a:r>
                      <a:endParaRPr lang="zh-CN" altLang="en-US" sz="1200" b="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1"/>
                  </a:ext>
                </a:extLst>
              </a:tr>
              <a:tr h="0">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a:r>
                        <a:rPr lang="zh-CN" altLang="en-US" sz="1200" b="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载荷</a:t>
                      </a: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65000"/>
                      </a:sysClr>
                    </a:solidFill>
                  </a:tcPr>
                </a:tc>
                <a:tc>
                  <a:txBody>
                    <a:bodyPr/>
                    <a:lstStyle>
                      <a:lvl1pPr marL="0" algn="l" defTabSz="914034" rtl="0" eaLnBrk="1" latinLnBrk="0" hangingPunct="1">
                        <a:defRPr sz="1799" kern="1200">
                          <a:solidFill>
                            <a:schemeClr val="tx1"/>
                          </a:solidFill>
                          <a:latin typeface="Huawei Sans"/>
                          <a:ea typeface="方正兰亭黑简体"/>
                        </a:defRPr>
                      </a:lvl1pPr>
                      <a:lvl2pPr marL="457017" algn="l" defTabSz="914034" rtl="0" eaLnBrk="1" latinLnBrk="0" hangingPunct="1">
                        <a:defRPr sz="1799" kern="1200">
                          <a:solidFill>
                            <a:schemeClr val="tx1"/>
                          </a:solidFill>
                          <a:latin typeface="Huawei Sans"/>
                          <a:ea typeface="方正兰亭黑简体"/>
                        </a:defRPr>
                      </a:lvl2pPr>
                      <a:lvl3pPr marL="914034" algn="l" defTabSz="914034" rtl="0" eaLnBrk="1" latinLnBrk="0" hangingPunct="1">
                        <a:defRPr sz="1799" kern="1200">
                          <a:solidFill>
                            <a:schemeClr val="tx1"/>
                          </a:solidFill>
                          <a:latin typeface="Huawei Sans"/>
                          <a:ea typeface="方正兰亭黑简体"/>
                        </a:defRPr>
                      </a:lvl3pPr>
                      <a:lvl4pPr marL="1371051" algn="l" defTabSz="914034" rtl="0" eaLnBrk="1" latinLnBrk="0" hangingPunct="1">
                        <a:defRPr sz="1799" kern="1200">
                          <a:solidFill>
                            <a:schemeClr val="tx1"/>
                          </a:solidFill>
                          <a:latin typeface="Huawei Sans"/>
                          <a:ea typeface="方正兰亭黑简体"/>
                        </a:defRPr>
                      </a:lvl4pPr>
                      <a:lvl5pPr marL="1828068" algn="l" defTabSz="914034" rtl="0" eaLnBrk="1" latinLnBrk="0" hangingPunct="1">
                        <a:defRPr sz="1799" kern="1200">
                          <a:solidFill>
                            <a:schemeClr val="tx1"/>
                          </a:solidFill>
                          <a:latin typeface="Huawei Sans"/>
                          <a:ea typeface="方正兰亭黑简体"/>
                        </a:defRPr>
                      </a:lvl5pPr>
                      <a:lvl6pPr marL="2285086" algn="l" defTabSz="914034" rtl="0" eaLnBrk="1" latinLnBrk="0" hangingPunct="1">
                        <a:defRPr sz="1799" kern="1200">
                          <a:solidFill>
                            <a:schemeClr val="tx1"/>
                          </a:solidFill>
                          <a:latin typeface="Huawei Sans"/>
                          <a:ea typeface="方正兰亭黑简体"/>
                        </a:defRPr>
                      </a:lvl6pPr>
                      <a:lvl7pPr marL="2742103" algn="l" defTabSz="914034" rtl="0" eaLnBrk="1" latinLnBrk="0" hangingPunct="1">
                        <a:defRPr sz="1799" kern="1200">
                          <a:solidFill>
                            <a:schemeClr val="tx1"/>
                          </a:solidFill>
                          <a:latin typeface="Huawei Sans"/>
                          <a:ea typeface="方正兰亭黑简体"/>
                        </a:defRPr>
                      </a:lvl7pPr>
                      <a:lvl8pPr marL="3199120" algn="l" defTabSz="914034" rtl="0" eaLnBrk="1" latinLnBrk="0" hangingPunct="1">
                        <a:defRPr sz="1799" kern="1200">
                          <a:solidFill>
                            <a:schemeClr val="tx1"/>
                          </a:solidFill>
                          <a:latin typeface="Huawei Sans"/>
                          <a:ea typeface="方正兰亭黑简体"/>
                        </a:defRPr>
                      </a:lvl8pPr>
                      <a:lvl9pPr marL="3656137" algn="l" defTabSz="914034" rtl="0" eaLnBrk="1" latinLnBrk="0" hangingPunct="1">
                        <a:defRPr sz="1799" kern="1200">
                          <a:solidFill>
                            <a:schemeClr val="tx1"/>
                          </a:solidFill>
                          <a:latin typeface="Huawei Sans"/>
                          <a:ea typeface="方正兰亭黑简体"/>
                        </a:defRPr>
                      </a:lvl9pPr>
                    </a:lstStyle>
                    <a:p>
                      <a:pPr algn="ctr"/>
                      <a:r>
                        <a:rPr lang="zh-CN" altLang="en-US" sz="1200" b="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数据</a:t>
                      </a:r>
                    </a:p>
                  </a:txBody>
                  <a:tcPr marL="36000" marR="36000" marT="36000" marB="3600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2"/>
                  </a:ext>
                </a:extLst>
              </a:tr>
            </a:tbl>
          </a:graphicData>
        </a:graphic>
      </p:graphicFrame>
      <p:sp>
        <p:nvSpPr>
          <p:cNvPr id="77" name="圆角矩形 76"/>
          <p:cNvSpPr/>
          <p:nvPr/>
        </p:nvSpPr>
        <p:spPr bwMode="gray">
          <a:xfrm>
            <a:off x="6096000" y="1601787"/>
            <a:ext cx="5616575" cy="3654426"/>
          </a:xfrm>
          <a:prstGeom prst="roundRect">
            <a:avLst>
              <a:gd name="adj" fmla="val 898"/>
            </a:avLst>
          </a:prstGeom>
          <a:noFill/>
          <a:ln w="9525" cap="flat" cmpd="sng" algn="ctr">
            <a:noFill/>
            <a:prstDash val="solid"/>
            <a:miter lim="800000"/>
          </a:ln>
          <a:effectLst/>
        </p:spPr>
        <p:txBody>
          <a:bodyPr rtlCol="0" anchor="t" anchorCtr="0"/>
          <a:lstStyle/>
          <a:p>
            <a:pPr marL="285750" lvl="0" indent="-285750" defTabSz="914400">
              <a:lnSpc>
                <a:spcPts val="2400"/>
              </a:lnSpc>
              <a:spcAft>
                <a:spcPts val="600"/>
              </a:spcAft>
              <a:buSzPct val="50000"/>
              <a:buFont typeface="Wingdings" panose="05000000000000000000" pitchFamily="2" charset="2"/>
              <a:buChar char="l"/>
              <a:defRPr/>
            </a:pPr>
            <a:r>
              <a:rPr kumimoji="0" lang="zh-CN" altLang="en-US"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网络中部署</a:t>
            </a:r>
            <a:r>
              <a:rPr kumimoji="0" lang="en-US" altLang="zh-CN"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IPsec</a:t>
            </a:r>
            <a:r>
              <a:rPr kumimoji="0" lang="zh-CN" altLang="en-US"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r>
              <a:rPr kumimoji="0" lang="en-US" altLang="zh-CN"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Internet Protocol Security</a:t>
            </a: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，因特网协议安全协议）</a:t>
            </a:r>
            <a:r>
              <a:rPr kumimoji="0" lang="zh-CN" altLang="en-US"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后，可对传输的数据进行保护处理，降低信息泄露的风险。</a:t>
            </a:r>
          </a:p>
          <a:p>
            <a:pPr marL="285750" marR="0" lvl="0" indent="-285750" defTabSz="914400" eaLnBrk="1" fontAlgn="auto" latinLnBrk="0" hangingPunct="1">
              <a:lnSpc>
                <a:spcPts val="2400"/>
              </a:lnSpc>
              <a:spcBef>
                <a:spcPts val="0"/>
              </a:spcBef>
              <a:spcAft>
                <a:spcPts val="600"/>
              </a:spcAft>
              <a:buClrTx/>
              <a:buSzPct val="50000"/>
              <a:buFont typeface="Wingdings" panose="05000000000000000000" pitchFamily="2" charset="2"/>
              <a:buChar char="l"/>
              <a:tabLst/>
              <a:defRPr/>
            </a:pPr>
            <a:r>
              <a:rPr kumimoji="0" lang="en-US" altLang="zh-CN"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IPsec</a:t>
            </a:r>
            <a:r>
              <a:rPr kumimoji="0" lang="zh-CN" altLang="en-US"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是</a:t>
            </a:r>
            <a:r>
              <a:rPr kumimoji="0" lang="en-US" altLang="zh-CN"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IETF</a:t>
            </a:r>
            <a:r>
              <a:rPr kumimoji="0" lang="zh-CN" altLang="en-US"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制定的一组开放的网络安全协议。</a:t>
            </a:r>
            <a:endParaRPr kumimoji="0" lang="en-US" altLang="zh-CN"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285750" marR="0" lvl="0" indent="-285750" defTabSz="914400" eaLnBrk="1" fontAlgn="auto" latinLnBrk="0" hangingPunct="1">
              <a:lnSpc>
                <a:spcPts val="2400"/>
              </a:lnSpc>
              <a:spcBef>
                <a:spcPts val="0"/>
              </a:spcBef>
              <a:spcAft>
                <a:spcPts val="600"/>
              </a:spcAft>
              <a:buClrTx/>
              <a:buSzPct val="50000"/>
              <a:buFont typeface="Wingdings" panose="05000000000000000000" pitchFamily="2" charset="2"/>
              <a:buChar char="l"/>
              <a:tabLst/>
              <a:defRPr/>
            </a:pPr>
            <a:r>
              <a:rPr kumimoji="0" lang="en-US" altLang="zh-CN"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IPsec</a:t>
            </a:r>
            <a:r>
              <a:rPr kumimoji="0" lang="zh-CN" altLang="en-US"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通过加密与验证等方式，从以下几个方面保障了用户业务数据在</a:t>
            </a:r>
            <a:r>
              <a:rPr kumimoji="0" lang="en-US" altLang="zh-CN"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Internet</a:t>
            </a:r>
            <a:r>
              <a:rPr kumimoji="0" lang="zh-CN" altLang="en-US"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中的安全传输：</a:t>
            </a:r>
          </a:p>
          <a:p>
            <a:pPr marL="644400" marR="0" lvl="1" indent="-285750" algn="just" fontAlgn="auto">
              <a:lnSpc>
                <a:spcPts val="2200"/>
              </a:lnSpc>
              <a:spcBef>
                <a:spcPts val="0"/>
              </a:spcBef>
              <a:spcAft>
                <a:spcPts val="600"/>
              </a:spcAft>
              <a:buClrTx/>
              <a:buSzPct val="50000"/>
              <a:buFont typeface="Wingdings" panose="05000000000000000000" pitchFamily="2" charset="2"/>
              <a:buChar char="p"/>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数据来源验证（身份验证）</a:t>
            </a:r>
          </a:p>
          <a:p>
            <a:pPr marL="644400" marR="0" lvl="1" indent="-285750" algn="just" fontAlgn="auto">
              <a:lnSpc>
                <a:spcPts val="2200"/>
              </a:lnSpc>
              <a:spcBef>
                <a:spcPts val="0"/>
              </a:spcBef>
              <a:spcAft>
                <a:spcPts val="600"/>
              </a:spcAft>
              <a:buClrTx/>
              <a:buSzPct val="50000"/>
              <a:buFont typeface="Wingdings" panose="05000000000000000000" pitchFamily="2" charset="2"/>
              <a:buChar char="p"/>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数据加密</a:t>
            </a:r>
          </a:p>
          <a:p>
            <a:pPr marL="644400" marR="0" lvl="1" indent="-285750" algn="just" fontAlgn="auto">
              <a:lnSpc>
                <a:spcPts val="2200"/>
              </a:lnSpc>
              <a:spcBef>
                <a:spcPts val="0"/>
              </a:spcBef>
              <a:spcAft>
                <a:spcPts val="600"/>
              </a:spcAft>
              <a:buClrTx/>
              <a:buSzPct val="50000"/>
              <a:buFont typeface="Wingdings" panose="05000000000000000000" pitchFamily="2" charset="2"/>
              <a:buChar char="p"/>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数据完整性校验</a:t>
            </a:r>
          </a:p>
          <a:p>
            <a:pPr marL="644400" marR="0" lvl="1" indent="-285750" algn="just" fontAlgn="auto">
              <a:lnSpc>
                <a:spcPts val="2200"/>
              </a:lnSpc>
              <a:spcBef>
                <a:spcPts val="0"/>
              </a:spcBef>
              <a:spcAft>
                <a:spcPts val="600"/>
              </a:spcAft>
              <a:buClrTx/>
              <a:buSzPct val="50000"/>
              <a:buFont typeface="Wingdings" panose="05000000000000000000" pitchFamily="2" charset="2"/>
              <a:buChar char="p"/>
              <a:tabLst/>
              <a:defRP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抗重放攻击</a:t>
            </a:r>
          </a:p>
        </p:txBody>
      </p:sp>
      <p:sp>
        <p:nvSpPr>
          <p:cNvPr id="28" name="五边形 27"/>
          <p:cNvSpPr/>
          <p:nvPr/>
        </p:nvSpPr>
        <p:spPr bwMode="auto">
          <a:xfrm>
            <a:off x="6179960" y="98481"/>
            <a:ext cx="94884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以太网交换</a:t>
            </a:r>
          </a:p>
        </p:txBody>
      </p:sp>
      <p:sp>
        <p:nvSpPr>
          <p:cNvPr id="29" name="燕尾形 28"/>
          <p:cNvSpPr/>
          <p:nvPr/>
        </p:nvSpPr>
        <p:spPr bwMode="auto">
          <a:xfrm>
            <a:off x="7049907" y="98481"/>
            <a:ext cx="678521"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燕尾形 29"/>
          <p:cNvSpPr/>
          <p:nvPr/>
        </p:nvSpPr>
        <p:spPr bwMode="auto">
          <a:xfrm>
            <a:off x="7649535" y="98481"/>
            <a:ext cx="87595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无线接入</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燕尾形 30"/>
          <p:cNvSpPr/>
          <p:nvPr/>
        </p:nvSpPr>
        <p:spPr bwMode="auto">
          <a:xfrm>
            <a:off x="8446601"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可靠性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燕尾形 31"/>
          <p:cNvSpPr/>
          <p:nvPr/>
        </p:nvSpPr>
        <p:spPr bwMode="auto">
          <a:xfrm>
            <a:off x="9148908" y="98481"/>
            <a:ext cx="87048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网络安全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燕尾形 32"/>
          <p:cNvSpPr/>
          <p:nvPr/>
        </p:nvSpPr>
        <p:spPr bwMode="auto">
          <a:xfrm>
            <a:off x="9940504" y="98481"/>
            <a:ext cx="130400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网络服务与管理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燕尾形 33"/>
          <p:cNvSpPr/>
          <p:nvPr/>
        </p:nvSpPr>
        <p:spPr bwMode="auto">
          <a:xfrm>
            <a:off x="11165613" y="98481"/>
            <a:ext cx="583475"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出口</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186166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sym typeface="Huawei Sans" panose="020C0503030203020204" pitchFamily="34" charset="0"/>
              </a:rPr>
              <a:t>L2TP VPN</a:t>
            </a:r>
            <a:endParaRPr lang="zh-CN" altLang="en-US" dirty="0">
              <a:sym typeface="Huawei Sans" panose="020C0503030203020204" pitchFamily="34" charset="0"/>
            </a:endParaRPr>
          </a:p>
        </p:txBody>
      </p:sp>
      <p:sp>
        <p:nvSpPr>
          <p:cNvPr id="7" name="Freeform 159"/>
          <p:cNvSpPr/>
          <p:nvPr/>
        </p:nvSpPr>
        <p:spPr bwMode="gray">
          <a:xfrm flipH="1">
            <a:off x="2117517" y="4862696"/>
            <a:ext cx="2526908" cy="126345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9" name="图片 42" descr="大型网管-蓝.png"/>
          <p:cNvPicPr>
            <a:picLocks noChangeAspect="1"/>
          </p:cNvPicPr>
          <p:nvPr/>
        </p:nvPicPr>
        <p:blipFill>
          <a:blip r:embed="rId3" cstate="print"/>
          <a:stretch>
            <a:fillRect/>
          </a:stretch>
        </p:blipFill>
        <p:spPr bwMode="gray">
          <a:xfrm>
            <a:off x="3351971" y="5566459"/>
            <a:ext cx="539607" cy="441817"/>
          </a:xfrm>
          <a:prstGeom prst="rect">
            <a:avLst/>
          </a:prstGeom>
        </p:spPr>
      </p:pic>
      <p:sp>
        <p:nvSpPr>
          <p:cNvPr id="53" name="Freeform 159"/>
          <p:cNvSpPr/>
          <p:nvPr/>
        </p:nvSpPr>
        <p:spPr bwMode="gray">
          <a:xfrm flipH="1">
            <a:off x="1678517" y="1753986"/>
            <a:ext cx="3854792" cy="2062867"/>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ysClr val="window" lastClr="FFFFFF"/>
          </a:solidFill>
          <a:ln w="28575" cap="flat" cmpd="sng" algn="ctr">
            <a:solidFill>
              <a:sysClr val="window" lastClr="FFFFFF">
                <a:lumMod val="50000"/>
              </a:sysClr>
            </a:solidFill>
            <a:prstDash val="solid"/>
            <a:miter lim="800000"/>
          </a:ln>
          <a:effectLst/>
        </p:spPr>
        <p:txBody>
          <a:bodyPr wrap="square" tIns="10800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4" name="组合 362"/>
          <p:cNvGrpSpPr>
            <a:grpSpLocks/>
          </p:cNvGrpSpPr>
          <p:nvPr/>
        </p:nvGrpSpPr>
        <p:grpSpPr bwMode="gray">
          <a:xfrm>
            <a:off x="3408787" y="2171084"/>
            <a:ext cx="510160" cy="510160"/>
            <a:chOff x="373063" y="2114551"/>
            <a:chExt cx="1114425" cy="1116013"/>
          </a:xfrm>
        </p:grpSpPr>
        <p:sp>
          <p:nvSpPr>
            <p:cNvPr id="55" name="Freeform 84"/>
            <p:cNvSpPr>
              <a:spLocks/>
            </p:cNvSpPr>
            <p:nvPr/>
          </p:nvSpPr>
          <p:spPr bwMode="gray">
            <a:xfrm>
              <a:off x="373063" y="2114551"/>
              <a:ext cx="1114425" cy="1116013"/>
            </a:xfrm>
            <a:custGeom>
              <a:avLst/>
              <a:gdLst>
                <a:gd name="T0" fmla="*/ 2147483647 w 2659"/>
                <a:gd name="T1" fmla="*/ 2147483647 h 2658"/>
                <a:gd name="T2" fmla="*/ 2147483647 w 2659"/>
                <a:gd name="T3" fmla="*/ 2147483647 h 2658"/>
                <a:gd name="T4" fmla="*/ 2147483647 w 2659"/>
                <a:gd name="T5" fmla="*/ 2147483647 h 2658"/>
                <a:gd name="T6" fmla="*/ 0 w 2659"/>
                <a:gd name="T7" fmla="*/ 2147483647 h 2658"/>
                <a:gd name="T8" fmla="*/ 2147483647 w 2659"/>
                <a:gd name="T9" fmla="*/ 0 h 2658"/>
                <a:gd name="T10" fmla="*/ 2147483647 w 2659"/>
                <a:gd name="T11" fmla="*/ 2147483647 h 2658"/>
                <a:gd name="T12" fmla="*/ 0 60000 65536"/>
                <a:gd name="T13" fmla="*/ 0 60000 65536"/>
                <a:gd name="T14" fmla="*/ 0 60000 65536"/>
                <a:gd name="T15" fmla="*/ 0 60000 65536"/>
                <a:gd name="T16" fmla="*/ 0 60000 65536"/>
                <a:gd name="T17" fmla="*/ 0 60000 65536"/>
                <a:gd name="T18" fmla="*/ 0 w 2659"/>
                <a:gd name="T19" fmla="*/ 0 h 2658"/>
                <a:gd name="T20" fmla="*/ 2659 w 2659"/>
                <a:gd name="T21" fmla="*/ 2658 h 2658"/>
              </a:gdLst>
              <a:ahLst/>
              <a:cxnLst>
                <a:cxn ang="T12">
                  <a:pos x="T0" y="T1"/>
                </a:cxn>
                <a:cxn ang="T13">
                  <a:pos x="T2" y="T3"/>
                </a:cxn>
                <a:cxn ang="T14">
                  <a:pos x="T4" y="T5"/>
                </a:cxn>
                <a:cxn ang="T15">
                  <a:pos x="T6" y="T7"/>
                </a:cxn>
                <a:cxn ang="T16">
                  <a:pos x="T8" y="T9"/>
                </a:cxn>
                <a:cxn ang="T17">
                  <a:pos x="T10" y="T11"/>
                </a:cxn>
              </a:cxnLst>
              <a:rect l="T18" t="T19" r="T20" b="T21"/>
              <a:pathLst>
                <a:path w="2659" h="2658">
                  <a:moveTo>
                    <a:pt x="2659" y="1329"/>
                  </a:moveTo>
                  <a:lnTo>
                    <a:pt x="2659" y="1329"/>
                  </a:lnTo>
                  <a:cubicBezTo>
                    <a:pt x="2659" y="2063"/>
                    <a:pt x="2064" y="2658"/>
                    <a:pt x="1329" y="2658"/>
                  </a:cubicBezTo>
                  <a:cubicBezTo>
                    <a:pt x="595" y="2658"/>
                    <a:pt x="0" y="2063"/>
                    <a:pt x="0" y="1329"/>
                  </a:cubicBezTo>
                  <a:cubicBezTo>
                    <a:pt x="0" y="595"/>
                    <a:pt x="595" y="0"/>
                    <a:pt x="1329" y="0"/>
                  </a:cubicBezTo>
                  <a:cubicBezTo>
                    <a:pt x="2064" y="0"/>
                    <a:pt x="2659" y="595"/>
                    <a:pt x="2659" y="1329"/>
                  </a:cubicBezTo>
                  <a:close/>
                </a:path>
              </a:pathLst>
            </a:custGeom>
            <a:solidFill>
              <a:sysClr val="window" lastClr="FFFFFF">
                <a:lumMod val="50000"/>
              </a:sysClr>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6" name="组合 341"/>
            <p:cNvGrpSpPr>
              <a:grpSpLocks/>
            </p:cNvGrpSpPr>
            <p:nvPr/>
          </p:nvGrpSpPr>
          <p:grpSpPr bwMode="gray">
            <a:xfrm>
              <a:off x="649288" y="2289176"/>
              <a:ext cx="561975" cy="769938"/>
              <a:chOff x="649288" y="2289176"/>
              <a:chExt cx="561975" cy="769938"/>
            </a:xfrm>
          </p:grpSpPr>
          <p:sp>
            <p:nvSpPr>
              <p:cNvPr id="57" name="Freeform 85"/>
              <p:cNvSpPr>
                <a:spLocks noEditPoints="1"/>
              </p:cNvSpPr>
              <p:nvPr/>
            </p:nvSpPr>
            <p:spPr bwMode="gray">
              <a:xfrm>
                <a:off x="768350" y="2289176"/>
                <a:ext cx="323850" cy="327025"/>
              </a:xfrm>
              <a:custGeom>
                <a:avLst/>
                <a:gdLst>
                  <a:gd name="T0" fmla="*/ 2147483647 w 775"/>
                  <a:gd name="T1" fmla="*/ 2147483647 h 776"/>
                  <a:gd name="T2" fmla="*/ 2147483647 w 775"/>
                  <a:gd name="T3" fmla="*/ 2147483647 h 776"/>
                  <a:gd name="T4" fmla="*/ 2147483647 w 775"/>
                  <a:gd name="T5" fmla="*/ 2147483647 h 776"/>
                  <a:gd name="T6" fmla="*/ 2147483647 w 775"/>
                  <a:gd name="T7" fmla="*/ 2147483647 h 776"/>
                  <a:gd name="T8" fmla="*/ 2147483647 w 775"/>
                  <a:gd name="T9" fmla="*/ 2147483647 h 776"/>
                  <a:gd name="T10" fmla="*/ 2147483647 w 775"/>
                  <a:gd name="T11" fmla="*/ 2147483647 h 776"/>
                  <a:gd name="T12" fmla="*/ 2147483647 w 775"/>
                  <a:gd name="T13" fmla="*/ 2147483647 h 776"/>
                  <a:gd name="T14" fmla="*/ 2147483647 w 775"/>
                  <a:gd name="T15" fmla="*/ 2147483647 h 776"/>
                  <a:gd name="T16" fmla="*/ 0 w 775"/>
                  <a:gd name="T17" fmla="*/ 2147483647 h 776"/>
                  <a:gd name="T18" fmla="*/ 2147483647 w 775"/>
                  <a:gd name="T19" fmla="*/ 0 h 776"/>
                  <a:gd name="T20" fmla="*/ 2147483647 w 775"/>
                  <a:gd name="T21" fmla="*/ 2147483647 h 776"/>
                  <a:gd name="T22" fmla="*/ 2147483647 w 775"/>
                  <a:gd name="T23" fmla="*/ 2147483647 h 77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75"/>
                  <a:gd name="T37" fmla="*/ 0 h 776"/>
                  <a:gd name="T38" fmla="*/ 775 w 775"/>
                  <a:gd name="T39" fmla="*/ 776 h 77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75" h="776">
                    <a:moveTo>
                      <a:pt x="387" y="67"/>
                    </a:moveTo>
                    <a:lnTo>
                      <a:pt x="387" y="67"/>
                    </a:lnTo>
                    <a:cubicBezTo>
                      <a:pt x="210" y="67"/>
                      <a:pt x="66" y="211"/>
                      <a:pt x="66" y="388"/>
                    </a:cubicBezTo>
                    <a:cubicBezTo>
                      <a:pt x="66" y="565"/>
                      <a:pt x="210" y="709"/>
                      <a:pt x="387" y="709"/>
                    </a:cubicBezTo>
                    <a:cubicBezTo>
                      <a:pt x="565" y="709"/>
                      <a:pt x="709" y="565"/>
                      <a:pt x="709" y="388"/>
                    </a:cubicBezTo>
                    <a:cubicBezTo>
                      <a:pt x="709" y="211"/>
                      <a:pt x="565" y="67"/>
                      <a:pt x="387" y="67"/>
                    </a:cubicBezTo>
                    <a:close/>
                    <a:moveTo>
                      <a:pt x="387" y="776"/>
                    </a:moveTo>
                    <a:lnTo>
                      <a:pt x="387" y="776"/>
                    </a:lnTo>
                    <a:cubicBezTo>
                      <a:pt x="174" y="776"/>
                      <a:pt x="0" y="602"/>
                      <a:pt x="0" y="388"/>
                    </a:cubicBezTo>
                    <a:cubicBezTo>
                      <a:pt x="0" y="174"/>
                      <a:pt x="174" y="0"/>
                      <a:pt x="387" y="0"/>
                    </a:cubicBezTo>
                    <a:cubicBezTo>
                      <a:pt x="601" y="0"/>
                      <a:pt x="775" y="174"/>
                      <a:pt x="775" y="388"/>
                    </a:cubicBezTo>
                    <a:cubicBezTo>
                      <a:pt x="775" y="602"/>
                      <a:pt x="601" y="776"/>
                      <a:pt x="387" y="776"/>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Freeform 86"/>
              <p:cNvSpPr>
                <a:spLocks/>
              </p:cNvSpPr>
              <p:nvPr/>
            </p:nvSpPr>
            <p:spPr bwMode="gray">
              <a:xfrm>
                <a:off x="649288" y="2652713"/>
                <a:ext cx="561975" cy="390525"/>
              </a:xfrm>
              <a:custGeom>
                <a:avLst/>
                <a:gdLst>
                  <a:gd name="T0" fmla="*/ 2147483647 w 1337"/>
                  <a:gd name="T1" fmla="*/ 2147483647 h 932"/>
                  <a:gd name="T2" fmla="*/ 2147483647 w 1337"/>
                  <a:gd name="T3" fmla="*/ 2147483647 h 932"/>
                  <a:gd name="T4" fmla="*/ 2147483647 w 1337"/>
                  <a:gd name="T5" fmla="*/ 2147483647 h 932"/>
                  <a:gd name="T6" fmla="*/ 2147483647 w 1337"/>
                  <a:gd name="T7" fmla="*/ 2147483647 h 932"/>
                  <a:gd name="T8" fmla="*/ 2147483647 w 1337"/>
                  <a:gd name="T9" fmla="*/ 2147483647 h 932"/>
                  <a:gd name="T10" fmla="*/ 2147483647 w 1337"/>
                  <a:gd name="T11" fmla="*/ 2147483647 h 932"/>
                  <a:gd name="T12" fmla="*/ 2147483647 w 1337"/>
                  <a:gd name="T13" fmla="*/ 2147483647 h 932"/>
                  <a:gd name="T14" fmla="*/ 2147483647 w 1337"/>
                  <a:gd name="T15" fmla="*/ 2147483647 h 932"/>
                  <a:gd name="T16" fmla="*/ 2147483647 w 1337"/>
                  <a:gd name="T17" fmla="*/ 2147483647 h 932"/>
                  <a:gd name="T18" fmla="*/ 2147483647 w 1337"/>
                  <a:gd name="T19" fmla="*/ 2147483647 h 932"/>
                  <a:gd name="T20" fmla="*/ 2147483647 w 1337"/>
                  <a:gd name="T21" fmla="*/ 2147483647 h 932"/>
                  <a:gd name="T22" fmla="*/ 2147483647 w 1337"/>
                  <a:gd name="T23" fmla="*/ 2147483647 h 932"/>
                  <a:gd name="T24" fmla="*/ 2147483647 w 1337"/>
                  <a:gd name="T25" fmla="*/ 2147483647 h 932"/>
                  <a:gd name="T26" fmla="*/ 2147483647 w 1337"/>
                  <a:gd name="T27" fmla="*/ 2147483647 h 932"/>
                  <a:gd name="T28" fmla="*/ 2147483647 w 1337"/>
                  <a:gd name="T29" fmla="*/ 2147483647 h 932"/>
                  <a:gd name="T30" fmla="*/ 0 w 1337"/>
                  <a:gd name="T31" fmla="*/ 2147483647 h 932"/>
                  <a:gd name="T32" fmla="*/ 0 w 1337"/>
                  <a:gd name="T33" fmla="*/ 2147483647 h 932"/>
                  <a:gd name="T34" fmla="*/ 2147483647 w 1337"/>
                  <a:gd name="T35" fmla="*/ 2147483647 h 932"/>
                  <a:gd name="T36" fmla="*/ 2147483647 w 1337"/>
                  <a:gd name="T37" fmla="*/ 2147483647 h 932"/>
                  <a:gd name="T38" fmla="*/ 2147483647 w 1337"/>
                  <a:gd name="T39" fmla="*/ 2147483647 h 932"/>
                  <a:gd name="T40" fmla="*/ 2147483647 w 1337"/>
                  <a:gd name="T41" fmla="*/ 2147483647 h 932"/>
                  <a:gd name="T42" fmla="*/ 2147483647 w 1337"/>
                  <a:gd name="T43" fmla="*/ 2147483647 h 932"/>
                  <a:gd name="T44" fmla="*/ 2147483647 w 1337"/>
                  <a:gd name="T45" fmla="*/ 2147483647 h 932"/>
                  <a:gd name="T46" fmla="*/ 2147483647 w 1337"/>
                  <a:gd name="T47" fmla="*/ 2147483647 h 932"/>
                  <a:gd name="T48" fmla="*/ 2147483647 w 1337"/>
                  <a:gd name="T49" fmla="*/ 2147483647 h 93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337"/>
                  <a:gd name="T76" fmla="*/ 0 h 932"/>
                  <a:gd name="T77" fmla="*/ 1337 w 1337"/>
                  <a:gd name="T78" fmla="*/ 932 h 93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337" h="932">
                    <a:moveTo>
                      <a:pt x="1304" y="932"/>
                    </a:moveTo>
                    <a:lnTo>
                      <a:pt x="1304" y="932"/>
                    </a:lnTo>
                    <a:lnTo>
                      <a:pt x="1080" y="932"/>
                    </a:lnTo>
                    <a:lnTo>
                      <a:pt x="1080" y="866"/>
                    </a:lnTo>
                    <a:lnTo>
                      <a:pt x="1270" y="866"/>
                    </a:lnTo>
                    <a:lnTo>
                      <a:pt x="1270" y="429"/>
                    </a:lnTo>
                    <a:cubicBezTo>
                      <a:pt x="1270" y="255"/>
                      <a:pt x="1151" y="108"/>
                      <a:pt x="983" y="71"/>
                    </a:cubicBezTo>
                    <a:lnTo>
                      <a:pt x="694" y="412"/>
                    </a:lnTo>
                    <a:cubicBezTo>
                      <a:pt x="681" y="427"/>
                      <a:pt x="656" y="427"/>
                      <a:pt x="643" y="412"/>
                    </a:cubicBezTo>
                    <a:lnTo>
                      <a:pt x="353" y="71"/>
                    </a:lnTo>
                    <a:cubicBezTo>
                      <a:pt x="186" y="108"/>
                      <a:pt x="67" y="255"/>
                      <a:pt x="67" y="429"/>
                    </a:cubicBezTo>
                    <a:lnTo>
                      <a:pt x="67" y="866"/>
                    </a:lnTo>
                    <a:lnTo>
                      <a:pt x="896" y="866"/>
                    </a:lnTo>
                    <a:lnTo>
                      <a:pt x="896" y="932"/>
                    </a:lnTo>
                    <a:lnTo>
                      <a:pt x="33" y="932"/>
                    </a:lnTo>
                    <a:cubicBezTo>
                      <a:pt x="15" y="932"/>
                      <a:pt x="0" y="917"/>
                      <a:pt x="0" y="899"/>
                    </a:cubicBezTo>
                    <a:lnTo>
                      <a:pt x="0" y="429"/>
                    </a:lnTo>
                    <a:cubicBezTo>
                      <a:pt x="0" y="217"/>
                      <a:pt x="152" y="37"/>
                      <a:pt x="361" y="2"/>
                    </a:cubicBezTo>
                    <a:cubicBezTo>
                      <a:pt x="372" y="0"/>
                      <a:pt x="384" y="4"/>
                      <a:pt x="392" y="13"/>
                    </a:cubicBezTo>
                    <a:lnTo>
                      <a:pt x="668" y="339"/>
                    </a:lnTo>
                    <a:lnTo>
                      <a:pt x="945" y="13"/>
                    </a:lnTo>
                    <a:cubicBezTo>
                      <a:pt x="953" y="4"/>
                      <a:pt x="965" y="0"/>
                      <a:pt x="976" y="2"/>
                    </a:cubicBezTo>
                    <a:cubicBezTo>
                      <a:pt x="1185" y="37"/>
                      <a:pt x="1337" y="216"/>
                      <a:pt x="1337" y="429"/>
                    </a:cubicBezTo>
                    <a:lnTo>
                      <a:pt x="1337" y="899"/>
                    </a:lnTo>
                    <a:cubicBezTo>
                      <a:pt x="1337" y="917"/>
                      <a:pt x="1322" y="932"/>
                      <a:pt x="1304" y="932"/>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Freeform 87"/>
              <p:cNvSpPr>
                <a:spLocks/>
              </p:cNvSpPr>
              <p:nvPr/>
            </p:nvSpPr>
            <p:spPr bwMode="gray">
              <a:xfrm>
                <a:off x="879475" y="2667001"/>
                <a:ext cx="101600" cy="149225"/>
              </a:xfrm>
              <a:custGeom>
                <a:avLst/>
                <a:gdLst>
                  <a:gd name="T0" fmla="*/ 2147483647 w 239"/>
                  <a:gd name="T1" fmla="*/ 2147483647 h 357"/>
                  <a:gd name="T2" fmla="*/ 2147483647 w 239"/>
                  <a:gd name="T3" fmla="*/ 2147483647 h 357"/>
                  <a:gd name="T4" fmla="*/ 2147483647 w 239"/>
                  <a:gd name="T5" fmla="*/ 2147483647 h 357"/>
                  <a:gd name="T6" fmla="*/ 2147483647 w 239"/>
                  <a:gd name="T7" fmla="*/ 0 h 357"/>
                  <a:gd name="T8" fmla="*/ 0 w 239"/>
                  <a:gd name="T9" fmla="*/ 0 h 357"/>
                  <a:gd name="T10" fmla="*/ 2147483647 w 239"/>
                  <a:gd name="T11" fmla="*/ 2147483647 h 357"/>
                  <a:gd name="T12" fmla="*/ 2147483647 w 239"/>
                  <a:gd name="T13" fmla="*/ 2147483647 h 357"/>
                  <a:gd name="T14" fmla="*/ 2147483647 w 239"/>
                  <a:gd name="T15" fmla="*/ 2147483647 h 357"/>
                  <a:gd name="T16" fmla="*/ 2147483647 w 239"/>
                  <a:gd name="T17" fmla="*/ 2147483647 h 3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9"/>
                  <a:gd name="T28" fmla="*/ 0 h 357"/>
                  <a:gd name="T29" fmla="*/ 239 w 239"/>
                  <a:gd name="T30" fmla="*/ 357 h 3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9" h="357">
                    <a:moveTo>
                      <a:pt x="210" y="260"/>
                    </a:moveTo>
                    <a:lnTo>
                      <a:pt x="210" y="260"/>
                    </a:lnTo>
                    <a:lnTo>
                      <a:pt x="135" y="112"/>
                    </a:lnTo>
                    <a:lnTo>
                      <a:pt x="239" y="0"/>
                    </a:lnTo>
                    <a:lnTo>
                      <a:pt x="0" y="0"/>
                    </a:lnTo>
                    <a:lnTo>
                      <a:pt x="104" y="112"/>
                    </a:lnTo>
                    <a:lnTo>
                      <a:pt x="29" y="260"/>
                    </a:lnTo>
                    <a:lnTo>
                      <a:pt x="119" y="357"/>
                    </a:lnTo>
                    <a:lnTo>
                      <a:pt x="210" y="26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Freeform 88"/>
              <p:cNvSpPr>
                <a:spLocks/>
              </p:cNvSpPr>
              <p:nvPr/>
            </p:nvSpPr>
            <p:spPr bwMode="gray">
              <a:xfrm>
                <a:off x="803275" y="2652713"/>
                <a:ext cx="254000" cy="28575"/>
              </a:xfrm>
              <a:custGeom>
                <a:avLst/>
                <a:gdLst>
                  <a:gd name="T0" fmla="*/ 2147483647 w 605"/>
                  <a:gd name="T1" fmla="*/ 2147483647 h 67"/>
                  <a:gd name="T2" fmla="*/ 2147483647 w 605"/>
                  <a:gd name="T3" fmla="*/ 2147483647 h 67"/>
                  <a:gd name="T4" fmla="*/ 0 w 605"/>
                  <a:gd name="T5" fmla="*/ 2147483647 h 67"/>
                  <a:gd name="T6" fmla="*/ 0 w 605"/>
                  <a:gd name="T7" fmla="*/ 0 h 67"/>
                  <a:gd name="T8" fmla="*/ 2147483647 w 605"/>
                  <a:gd name="T9" fmla="*/ 0 h 67"/>
                  <a:gd name="T10" fmla="*/ 2147483647 w 605"/>
                  <a:gd name="T11" fmla="*/ 2147483647 h 67"/>
                  <a:gd name="T12" fmla="*/ 0 60000 65536"/>
                  <a:gd name="T13" fmla="*/ 0 60000 65536"/>
                  <a:gd name="T14" fmla="*/ 0 60000 65536"/>
                  <a:gd name="T15" fmla="*/ 0 60000 65536"/>
                  <a:gd name="T16" fmla="*/ 0 60000 65536"/>
                  <a:gd name="T17" fmla="*/ 0 60000 65536"/>
                  <a:gd name="T18" fmla="*/ 0 w 605"/>
                  <a:gd name="T19" fmla="*/ 0 h 67"/>
                  <a:gd name="T20" fmla="*/ 605 w 605"/>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605" h="67">
                    <a:moveTo>
                      <a:pt x="605" y="67"/>
                    </a:moveTo>
                    <a:lnTo>
                      <a:pt x="605" y="67"/>
                    </a:lnTo>
                    <a:lnTo>
                      <a:pt x="0" y="67"/>
                    </a:lnTo>
                    <a:lnTo>
                      <a:pt x="0" y="0"/>
                    </a:lnTo>
                    <a:lnTo>
                      <a:pt x="605" y="0"/>
                    </a:lnTo>
                    <a:lnTo>
                      <a:pt x="605" y="67"/>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Freeform 89"/>
              <p:cNvSpPr>
                <a:spLocks/>
              </p:cNvSpPr>
              <p:nvPr/>
            </p:nvSpPr>
            <p:spPr bwMode="gray">
              <a:xfrm>
                <a:off x="990600" y="3000376"/>
                <a:ext cx="58738"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Freeform 90"/>
              <p:cNvSpPr>
                <a:spLocks/>
              </p:cNvSpPr>
              <p:nvPr/>
            </p:nvSpPr>
            <p:spPr bwMode="gray">
              <a:xfrm>
                <a:off x="1081088" y="3000376"/>
                <a:ext cx="57150"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63" name="文本框 62"/>
          <p:cNvSpPr txBox="1"/>
          <p:nvPr/>
        </p:nvSpPr>
        <p:spPr bwMode="gray">
          <a:xfrm>
            <a:off x="3857278" y="2299020"/>
            <a:ext cx="1523078" cy="553998"/>
          </a:xfrm>
          <a:prstGeom prst="rect">
            <a:avLst/>
          </a:prstGeom>
          <a:noFill/>
        </p:spPr>
        <p:txBody>
          <a:bodyPr wrap="square" rtlCol="0">
            <a:spAutoFit/>
          </a:bodyPr>
          <a:lstStyle/>
          <a:p>
            <a:pPr defTabSz="914400">
              <a:defRP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LAC</a:t>
            </a:r>
            <a:endParaRPr kumimoji="0" lang="en-US" altLang="zh-CN" sz="1400" b="0" i="0" u="none" strike="noStrike" kern="0" cap="none" spc="0" normalizeH="0" baseline="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远程办公用户</a:t>
            </a:r>
          </a:p>
        </p:txBody>
      </p:sp>
      <p:grpSp>
        <p:nvGrpSpPr>
          <p:cNvPr id="70" name="组合 69"/>
          <p:cNvGrpSpPr/>
          <p:nvPr/>
        </p:nvGrpSpPr>
        <p:grpSpPr bwMode="gray">
          <a:xfrm>
            <a:off x="3513872" y="2660691"/>
            <a:ext cx="276999" cy="2038013"/>
            <a:chOff x="3487745" y="2759605"/>
            <a:chExt cx="276999" cy="1985215"/>
          </a:xfrm>
        </p:grpSpPr>
        <p:sp>
          <p:nvSpPr>
            <p:cNvPr id="64" name="Can 225"/>
            <p:cNvSpPr/>
            <p:nvPr/>
          </p:nvSpPr>
          <p:spPr bwMode="gray">
            <a:xfrm>
              <a:off x="3525254" y="2759605"/>
              <a:ext cx="201983" cy="1985215"/>
            </a:xfrm>
            <a:prstGeom prst="can">
              <a:avLst>
                <a:gd name="adj" fmla="val 75773"/>
              </a:avLst>
            </a:prstGeom>
            <a:solidFill>
              <a:srgbClr val="EC7061"/>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文本框 64"/>
            <p:cNvSpPr txBox="1"/>
            <p:nvPr/>
          </p:nvSpPr>
          <p:spPr bwMode="gray">
            <a:xfrm rot="5400000">
              <a:off x="2993700" y="3613713"/>
              <a:ext cx="1265090" cy="276999"/>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200" b="1"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L2TP</a:t>
              </a:r>
              <a:r>
                <a:rPr kumimoji="0" lang="en-US" altLang="zh-CN"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 VPN </a:t>
              </a:r>
              <a:r>
                <a:rPr kumimoji="0" lang="zh-CN" altLang="en-US"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隧道</a:t>
              </a:r>
            </a:p>
          </p:txBody>
        </p:sp>
      </p:grpSp>
      <p:sp>
        <p:nvSpPr>
          <p:cNvPr id="67" name="文本框 66"/>
          <p:cNvSpPr txBox="1"/>
          <p:nvPr/>
        </p:nvSpPr>
        <p:spPr bwMode="gray">
          <a:xfrm>
            <a:off x="2232042" y="5672119"/>
            <a:ext cx="1005404" cy="338554"/>
          </a:xfrm>
          <a:prstGeom prst="rect">
            <a:avLst/>
          </a:prstGeom>
          <a:noFill/>
        </p:spPr>
        <p:txBody>
          <a:bodyPr wrap="non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lang="zh-CN" altLang="en-US" sz="1600" kern="0" dirty="0">
                <a:latin typeface="Huawei Sans" panose="020C0503030203020204" pitchFamily="34" charset="0"/>
                <a:ea typeface="方正兰亭黑简体" panose="02000000000000000000" pitchFamily="2" charset="-122"/>
                <a:sym typeface="Huawei Sans" panose="020C0503030203020204" pitchFamily="34" charset="0"/>
              </a:rPr>
              <a:t>总部园区</a:t>
            </a:r>
            <a:endParaRPr kumimoji="0" lang="zh-CN" altLang="en-US" sz="1600" b="0"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文本框 67"/>
          <p:cNvSpPr txBox="1"/>
          <p:nvPr/>
        </p:nvSpPr>
        <p:spPr bwMode="gray">
          <a:xfrm>
            <a:off x="4187146" y="3449131"/>
            <a:ext cx="1015293" cy="33855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外部网络</a:t>
            </a:r>
          </a:p>
        </p:txBody>
      </p:sp>
      <p:sp>
        <p:nvSpPr>
          <p:cNvPr id="5" name="Freeform 159"/>
          <p:cNvSpPr/>
          <p:nvPr/>
        </p:nvSpPr>
        <p:spPr bwMode="gray">
          <a:xfrm flipH="1">
            <a:off x="465757" y="1680409"/>
            <a:ext cx="1579129" cy="1012141"/>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TextBox 9"/>
          <p:cNvSpPr txBox="1"/>
          <p:nvPr/>
        </p:nvSpPr>
        <p:spPr bwMode="gray">
          <a:xfrm>
            <a:off x="2028036" y="1941540"/>
            <a:ext cx="494713"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fontAlgn="auto"/>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LAC</a:t>
            </a:r>
          </a:p>
        </p:txBody>
      </p:sp>
      <p:pic>
        <p:nvPicPr>
          <p:cNvPr id="12" name="图片 51" descr="交换机.png"/>
          <p:cNvPicPr>
            <a:picLocks noChangeAspect="1"/>
          </p:cNvPicPr>
          <p:nvPr/>
        </p:nvPicPr>
        <p:blipFill>
          <a:blip r:embed="rId4" cstate="print"/>
          <a:stretch>
            <a:fillRect/>
          </a:stretch>
        </p:blipFill>
        <p:spPr bwMode="gray">
          <a:xfrm>
            <a:off x="1256352" y="2210784"/>
            <a:ext cx="540000" cy="441817"/>
          </a:xfrm>
          <a:prstGeom prst="rect">
            <a:avLst/>
          </a:prstGeom>
        </p:spPr>
      </p:pic>
      <p:sp>
        <p:nvSpPr>
          <p:cNvPr id="13" name="TextBox 13"/>
          <p:cNvSpPr txBox="1"/>
          <p:nvPr/>
        </p:nvSpPr>
        <p:spPr bwMode="gray">
          <a:xfrm>
            <a:off x="792147" y="1879439"/>
            <a:ext cx="998056" cy="338554"/>
          </a:xfrm>
          <a:prstGeom prst="rect">
            <a:avLst/>
          </a:prstGeom>
          <a:noFill/>
        </p:spPr>
        <p:txBody>
          <a:bodyPr wrap="square" rtlCol="0">
            <a:spAutoFit/>
          </a:bodyPr>
          <a:lstStyle>
            <a:defPPr>
              <a:defRPr lang="en-US"/>
            </a:defPPr>
            <a:lvl1pPr marR="0" lvl="0" indent="0" defTabSz="914400" fontAlgn="auto">
              <a:lnSpc>
                <a:spcPct val="100000"/>
              </a:lnSpc>
              <a:spcBef>
                <a:spcPts val="0"/>
              </a:spcBef>
              <a:spcAft>
                <a:spcPts val="0"/>
              </a:spcAft>
              <a:buClrTx/>
              <a:buSzTx/>
              <a:buFontTx/>
              <a:buNone/>
              <a:tabLst/>
              <a:defRPr kumimoji="0" sz="1600" b="0" i="0" u="none" strike="noStrike" kern="0" cap="none" spc="0" normalizeH="0" baseline="0">
                <a:ln>
                  <a:noFill/>
                </a:ln>
                <a:solidFill>
                  <a:prstClr val="white">
                    <a:lumMod val="50000"/>
                  </a:prstClr>
                </a:solidFill>
                <a:effectLst/>
                <a:uLnTx/>
                <a:uFillTx/>
              </a:defRPr>
            </a:lvl1p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分支园区</a:t>
            </a:r>
          </a:p>
        </p:txBody>
      </p:sp>
      <p:grpSp>
        <p:nvGrpSpPr>
          <p:cNvPr id="76" name="组合 75"/>
          <p:cNvGrpSpPr/>
          <p:nvPr/>
        </p:nvGrpSpPr>
        <p:grpSpPr bwMode="gray">
          <a:xfrm rot="19880318">
            <a:off x="2837669" y="2522460"/>
            <a:ext cx="276999" cy="2308946"/>
            <a:chOff x="3487745" y="2759605"/>
            <a:chExt cx="276999" cy="1985215"/>
          </a:xfrm>
        </p:grpSpPr>
        <p:sp>
          <p:nvSpPr>
            <p:cNvPr id="77" name="Can 225"/>
            <p:cNvSpPr/>
            <p:nvPr/>
          </p:nvSpPr>
          <p:spPr bwMode="gray">
            <a:xfrm>
              <a:off x="3525254" y="2759605"/>
              <a:ext cx="201983" cy="1985215"/>
            </a:xfrm>
            <a:prstGeom prst="can">
              <a:avLst>
                <a:gd name="adj" fmla="val 75773"/>
              </a:avLst>
            </a:prstGeom>
            <a:solidFill>
              <a:srgbClr val="EC7061"/>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文本框 77"/>
            <p:cNvSpPr txBox="1"/>
            <p:nvPr/>
          </p:nvSpPr>
          <p:spPr bwMode="gray">
            <a:xfrm rot="5400000">
              <a:off x="3082387" y="3613712"/>
              <a:ext cx="1087715" cy="276999"/>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200" b="1"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L2TP</a:t>
              </a:r>
              <a:r>
                <a:rPr kumimoji="0" lang="en-US" altLang="zh-CN"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 VPN </a:t>
              </a:r>
              <a:r>
                <a:rPr kumimoji="0" lang="zh-CN" altLang="en-US"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隧道</a:t>
              </a:r>
            </a:p>
          </p:txBody>
        </p:sp>
      </p:grpSp>
      <p:pic>
        <p:nvPicPr>
          <p:cNvPr id="69" name="图片 3"/>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3367453" y="4698704"/>
            <a:ext cx="540000" cy="442800"/>
          </a:xfrm>
          <a:prstGeom prst="rect">
            <a:avLst/>
          </a:prstGeom>
        </p:spPr>
      </p:pic>
      <p:pic>
        <p:nvPicPr>
          <p:cNvPr id="6" name="图片 3"/>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1992846" y="2217891"/>
            <a:ext cx="540000" cy="442800"/>
          </a:xfrm>
          <a:prstGeom prst="rect">
            <a:avLst/>
          </a:prstGeom>
        </p:spPr>
      </p:pic>
      <p:sp>
        <p:nvSpPr>
          <p:cNvPr id="79" name="圆角矩形 78"/>
          <p:cNvSpPr/>
          <p:nvPr/>
        </p:nvSpPr>
        <p:spPr bwMode="gray">
          <a:xfrm>
            <a:off x="6096000" y="1506225"/>
            <a:ext cx="5616574" cy="4341414"/>
          </a:xfrm>
          <a:prstGeom prst="roundRect">
            <a:avLst>
              <a:gd name="adj" fmla="val 898"/>
            </a:avLst>
          </a:prstGeom>
          <a:noFill/>
          <a:ln w="9525" cap="flat" cmpd="sng" algn="ctr">
            <a:noFill/>
            <a:prstDash val="solid"/>
            <a:miter lim="800000"/>
          </a:ln>
          <a:effectLst/>
        </p:spPr>
        <p:txBody>
          <a:bodyPr rtlCol="0" anchor="t" anchorCtr="0"/>
          <a:lstStyle/>
          <a:p>
            <a:pPr marL="285750" lvl="0" indent="-285750" defTabSz="914400">
              <a:lnSpc>
                <a:spcPts val="2400"/>
              </a:lnSpc>
              <a:spcAft>
                <a:spcPts val="600"/>
              </a:spcAft>
              <a:buSzPct val="50000"/>
              <a:buFont typeface="Wingdings" panose="05000000000000000000" pitchFamily="2" charset="2"/>
              <a:buChar char="l"/>
              <a:defRPr/>
            </a:pPr>
            <a:r>
              <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L2TP</a:t>
            </a: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Layer 2 Tunneling Protocol</a:t>
            </a: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，二层隧道协议）扩展了点到点协议</a:t>
            </a:r>
            <a:r>
              <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PPP</a:t>
            </a: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的应用，是一种在远程办公场景中为出差员工或企业分支远程访问企业内网资源提供接入服务的</a:t>
            </a:r>
            <a:r>
              <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defTabSz="914400">
              <a:lnSpc>
                <a:spcPts val="2400"/>
              </a:lnSpc>
              <a:spcAft>
                <a:spcPts val="600"/>
              </a:spcAft>
              <a:buSzPct val="50000"/>
              <a:buFont typeface="Wingdings" panose="05000000000000000000" pitchFamily="2" charset="2"/>
              <a:buChar char="l"/>
              <a:defRPr/>
            </a:pPr>
            <a:r>
              <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L2TP</a:t>
            </a: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组网架构中包括</a:t>
            </a:r>
            <a:r>
              <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LAC</a:t>
            </a: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L2TP Access Concentrator</a:t>
            </a: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L2TP</a:t>
            </a: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访问集中器）和</a:t>
            </a:r>
            <a:r>
              <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LNS</a:t>
            </a: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L2TP Network Server</a:t>
            </a: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L2TP</a:t>
            </a:r>
            <a:r>
              <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网络服务器）：</a:t>
            </a:r>
            <a:endParaRPr lang="en-US" altLang="zh-CN"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644400" lvl="1" indent="-285750" algn="just">
              <a:lnSpc>
                <a:spcPts val="2200"/>
              </a:lnSpc>
              <a:spcAft>
                <a:spcPts val="600"/>
              </a:spcAft>
              <a:buSzPct val="50000"/>
              <a:buFont typeface="Wingdings" panose="05000000000000000000" pitchFamily="2" charset="2"/>
              <a:buChar char="p"/>
              <a:defRP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是网络上具有</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PPP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L2TP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协议处理能力的设备。</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负责和</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LNS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建立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L2TP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隧道连接。在不同的组网环境中，</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可以是不同的设备，可以是一台网关设备，也可以是一台终端设备。</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可以发起建立多条</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L2TP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隧道使数据流之间相互隔离。</a:t>
            </a:r>
          </a:p>
          <a:p>
            <a:pPr marL="644400" lvl="1" indent="-285750" algn="just">
              <a:lnSpc>
                <a:spcPts val="2200"/>
              </a:lnSpc>
              <a:spcAft>
                <a:spcPts val="600"/>
              </a:spcAft>
              <a:buSzPct val="50000"/>
              <a:buFont typeface="Wingdings" panose="05000000000000000000" pitchFamily="2" charset="2"/>
              <a:buChar char="p"/>
              <a:defRP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LNS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是</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的对端设备，即</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LNS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建立了</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L2TP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隧道；</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LNS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位于企业总部私网与公网边界，通常是企业总部的网关设备。</a:t>
            </a:r>
          </a:p>
          <a:p>
            <a:pPr marL="742990" lvl="1" indent="-285750" defTabSz="914400">
              <a:lnSpc>
                <a:spcPts val="2400"/>
              </a:lnSpc>
              <a:spcAft>
                <a:spcPts val="600"/>
              </a:spcAft>
              <a:buFont typeface="Huawei Sans" panose="020C0503030203020204" pitchFamily="34" charset="0"/>
              <a:buChar char="▫"/>
              <a:defRPr/>
            </a:pPr>
            <a:endParaRPr lang="zh-CN" altLang="en-US" sz="14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631865" lvl="1" indent="-174625" defTabSz="914400">
              <a:lnSpc>
                <a:spcPts val="2400"/>
              </a:lnSpc>
              <a:spcAft>
                <a:spcPts val="600"/>
              </a:spcAft>
              <a:buFont typeface="Arial" panose="020B0604020202020204" pitchFamily="34" charset="0"/>
              <a:buChar char="•"/>
              <a:defRPr/>
            </a:pPr>
            <a:endParaRPr lang="zh-CN" altLang="en-US" sz="16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五边形 30"/>
          <p:cNvSpPr/>
          <p:nvPr/>
        </p:nvSpPr>
        <p:spPr bwMode="auto">
          <a:xfrm>
            <a:off x="6179960" y="98481"/>
            <a:ext cx="94884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以太网交换</a:t>
            </a:r>
          </a:p>
        </p:txBody>
      </p:sp>
      <p:sp>
        <p:nvSpPr>
          <p:cNvPr id="32" name="燕尾形 31"/>
          <p:cNvSpPr/>
          <p:nvPr/>
        </p:nvSpPr>
        <p:spPr bwMode="auto">
          <a:xfrm>
            <a:off x="7049907" y="98481"/>
            <a:ext cx="678521"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燕尾形 32"/>
          <p:cNvSpPr/>
          <p:nvPr/>
        </p:nvSpPr>
        <p:spPr bwMode="auto">
          <a:xfrm>
            <a:off x="7649535" y="98481"/>
            <a:ext cx="87595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无线接入</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燕尾形 33"/>
          <p:cNvSpPr/>
          <p:nvPr/>
        </p:nvSpPr>
        <p:spPr bwMode="auto">
          <a:xfrm>
            <a:off x="8446601"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可靠性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燕尾形 34"/>
          <p:cNvSpPr/>
          <p:nvPr/>
        </p:nvSpPr>
        <p:spPr bwMode="auto">
          <a:xfrm>
            <a:off x="9148908" y="98481"/>
            <a:ext cx="87048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网络安全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燕尾形 35"/>
          <p:cNvSpPr/>
          <p:nvPr/>
        </p:nvSpPr>
        <p:spPr bwMode="auto">
          <a:xfrm>
            <a:off x="9940504" y="98481"/>
            <a:ext cx="130400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网络服务与管理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燕尾形 36"/>
          <p:cNvSpPr/>
          <p:nvPr/>
        </p:nvSpPr>
        <p:spPr bwMode="auto">
          <a:xfrm>
            <a:off x="11165613" y="98481"/>
            <a:ext cx="583475"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出口</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TextBox 9"/>
          <p:cNvSpPr txBox="1"/>
          <p:nvPr/>
        </p:nvSpPr>
        <p:spPr bwMode="gray">
          <a:xfrm>
            <a:off x="3887163" y="4746624"/>
            <a:ext cx="502729"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fontAlgn="auto"/>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LNS</a:t>
            </a:r>
          </a:p>
        </p:txBody>
      </p:sp>
    </p:spTree>
    <p:extLst>
      <p:ext uri="{BB962C8B-B14F-4D97-AF65-F5344CB8AC3E}">
        <p14:creationId xmlns:p14="http://schemas.microsoft.com/office/powerpoint/2010/main" val="145861100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sym typeface="Huawei Sans" panose="020C0503030203020204" pitchFamily="34" charset="0"/>
              </a:rPr>
              <a:t>SSL VPN</a:t>
            </a:r>
            <a:endParaRPr lang="zh-CN" altLang="en-US" dirty="0">
              <a:sym typeface="Huawei Sans" panose="020C0503030203020204" pitchFamily="34" charset="0"/>
            </a:endParaRPr>
          </a:p>
        </p:txBody>
      </p:sp>
      <p:cxnSp>
        <p:nvCxnSpPr>
          <p:cNvPr id="27" name="Straight Connector 167"/>
          <p:cNvCxnSpPr/>
          <p:nvPr/>
        </p:nvCxnSpPr>
        <p:spPr bwMode="gray">
          <a:xfrm>
            <a:off x="3568033" y="4699189"/>
            <a:ext cx="0" cy="874477"/>
          </a:xfrm>
          <a:prstGeom prst="line">
            <a:avLst/>
          </a:prstGeom>
          <a:noFill/>
          <a:ln w="19050" cap="flat" cmpd="sng" algn="ctr">
            <a:solidFill>
              <a:sysClr val="window" lastClr="FFFFFF">
                <a:lumMod val="50000"/>
              </a:sysClr>
            </a:solidFill>
            <a:prstDash val="solid"/>
            <a:miter lim="800000"/>
          </a:ln>
          <a:effectLst/>
        </p:spPr>
      </p:cxnSp>
      <p:sp>
        <p:nvSpPr>
          <p:cNvPr id="28" name="任意多边形 27"/>
          <p:cNvSpPr/>
          <p:nvPr/>
        </p:nvSpPr>
        <p:spPr bwMode="gray">
          <a:xfrm rot="5400000">
            <a:off x="1336018" y="3249256"/>
            <a:ext cx="1232202" cy="2899866"/>
          </a:xfrm>
          <a:custGeom>
            <a:avLst/>
            <a:gdLst>
              <a:gd name="connsiteX0" fmla="*/ 0 w 1374250"/>
              <a:gd name="connsiteY0" fmla="*/ 2669047 h 2669047"/>
              <a:gd name="connsiteX1" fmla="*/ 0 w 1374250"/>
              <a:gd name="connsiteY1" fmla="*/ 930840 h 2669047"/>
              <a:gd name="connsiteX2" fmla="*/ 186664 w 1374250"/>
              <a:gd name="connsiteY2" fmla="*/ 748651 h 2669047"/>
              <a:gd name="connsiteX3" fmla="*/ 463043 w 1374250"/>
              <a:gd name="connsiteY3" fmla="*/ 748651 h 2669047"/>
              <a:gd name="connsiteX4" fmla="*/ 463043 w 1374250"/>
              <a:gd name="connsiteY4" fmla="*/ 38645 h 2669047"/>
              <a:gd name="connsiteX5" fmla="*/ 502637 w 1374250"/>
              <a:gd name="connsiteY5" fmla="*/ 0 h 2669047"/>
              <a:gd name="connsiteX6" fmla="*/ 886752 w 1374250"/>
              <a:gd name="connsiteY6" fmla="*/ 0 h 2669047"/>
              <a:gd name="connsiteX7" fmla="*/ 926346 w 1374250"/>
              <a:gd name="connsiteY7" fmla="*/ 38645 h 2669047"/>
              <a:gd name="connsiteX8" fmla="*/ 926346 w 1374250"/>
              <a:gd name="connsiteY8" fmla="*/ 748651 h 2669047"/>
              <a:gd name="connsiteX9" fmla="*/ 1187586 w 1374250"/>
              <a:gd name="connsiteY9" fmla="*/ 748651 h 2669047"/>
              <a:gd name="connsiteX10" fmla="*/ 1374250 w 1374250"/>
              <a:gd name="connsiteY10" fmla="*/ 930840 h 2669047"/>
              <a:gd name="connsiteX11" fmla="*/ 1374250 w 1374250"/>
              <a:gd name="connsiteY11" fmla="*/ 2669047 h 2669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74250" h="2669047">
                <a:moveTo>
                  <a:pt x="0" y="2669047"/>
                </a:moveTo>
                <a:lnTo>
                  <a:pt x="0" y="930840"/>
                </a:lnTo>
                <a:cubicBezTo>
                  <a:pt x="0" y="830219"/>
                  <a:pt x="83572" y="748651"/>
                  <a:pt x="186664" y="748651"/>
                </a:cubicBezTo>
                <a:lnTo>
                  <a:pt x="463043" y="748651"/>
                </a:lnTo>
                <a:lnTo>
                  <a:pt x="463043" y="38645"/>
                </a:lnTo>
                <a:cubicBezTo>
                  <a:pt x="463043" y="17301"/>
                  <a:pt x="480770" y="0"/>
                  <a:pt x="502637" y="0"/>
                </a:cubicBezTo>
                <a:lnTo>
                  <a:pt x="886752" y="0"/>
                </a:lnTo>
                <a:cubicBezTo>
                  <a:pt x="908620" y="0"/>
                  <a:pt x="926346" y="17301"/>
                  <a:pt x="926346" y="38645"/>
                </a:cubicBezTo>
                <a:lnTo>
                  <a:pt x="926346" y="748651"/>
                </a:lnTo>
                <a:lnTo>
                  <a:pt x="1187586" y="748651"/>
                </a:lnTo>
                <a:cubicBezTo>
                  <a:pt x="1290678" y="748651"/>
                  <a:pt x="1374250" y="830219"/>
                  <a:pt x="1374250" y="930840"/>
                </a:cubicBezTo>
                <a:lnTo>
                  <a:pt x="1374250" y="2669047"/>
                </a:lnTo>
                <a:close/>
              </a:path>
            </a:pathLst>
          </a:custGeom>
          <a:gradFill>
            <a:gsLst>
              <a:gs pos="0">
                <a:sysClr val="window" lastClr="FFFFFF"/>
              </a:gs>
              <a:gs pos="100000">
                <a:srgbClr val="FEEEC1"/>
              </a:gs>
            </a:gsLst>
            <a:lin ang="16200000" scaled="1"/>
          </a:gradFill>
          <a:ln w="12700" cap="flat" cmpd="sng" algn="ctr">
            <a:gradFill flip="none" rotWithShape="1">
              <a:gsLst>
                <a:gs pos="0">
                  <a:srgbClr val="1AABE2">
                    <a:lumMod val="5000"/>
                    <a:lumOff val="95000"/>
                    <a:alpha val="0"/>
                  </a:srgbClr>
                </a:gs>
                <a:gs pos="62000">
                  <a:srgbClr val="FFD17D"/>
                </a:gs>
              </a:gsLst>
              <a:lin ang="16200000" scaled="1"/>
              <a:tileRect/>
            </a:gradFill>
            <a:prstDash val="solid"/>
            <a:miter lim="800000"/>
          </a:ln>
          <a:effectLst/>
        </p:spPr>
        <p:txBody>
          <a:bodyPr wrap="square" lIns="46785" tIns="143958" rIns="46785" bIns="45705" rtlCol="0" anchor="t" anchorCtr="0">
            <a:noAutofit/>
          </a:bodyPr>
          <a:lstStyle/>
          <a:p>
            <a:pPr marL="0" marR="0" lvl="0" indent="0" algn="ctr" defTabSz="914400" eaLnBrk="1" fontAlgn="auto" latinLnBrk="0" hangingPunct="1">
              <a:lnSpc>
                <a:spcPct val="150000"/>
              </a:lnSpc>
              <a:spcBef>
                <a:spcPts val="0"/>
              </a:spcBef>
              <a:spcAft>
                <a:spcPts val="1200"/>
              </a:spcAft>
              <a:buClrTx/>
              <a:buSzTx/>
              <a:buFontTx/>
              <a:buNone/>
              <a:tabLst/>
              <a:defRPr/>
            </a:pPr>
            <a:endParaRPr kumimoji="0" lang="zh-CN" altLang="en-US" sz="15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9" name="Straight Connector 167"/>
          <p:cNvCxnSpPr/>
          <p:nvPr/>
        </p:nvCxnSpPr>
        <p:spPr bwMode="gray">
          <a:xfrm flipH="1">
            <a:off x="1697712" y="4702230"/>
            <a:ext cx="1609090" cy="0"/>
          </a:xfrm>
          <a:prstGeom prst="line">
            <a:avLst/>
          </a:prstGeom>
          <a:noFill/>
          <a:ln w="19050" cap="flat" cmpd="sng" algn="ctr">
            <a:solidFill>
              <a:sysClr val="window" lastClr="FFFFFF">
                <a:lumMod val="50000"/>
              </a:sysClr>
            </a:solidFill>
            <a:prstDash val="solid"/>
            <a:miter lim="800000"/>
          </a:ln>
          <a:effectLst/>
        </p:spPr>
      </p:cxnSp>
      <p:pic>
        <p:nvPicPr>
          <p:cNvPr id="30" name="图片 87" descr="汇聚交换机.png"/>
          <p:cNvPicPr>
            <a:picLocks noChangeAspect="1"/>
          </p:cNvPicPr>
          <p:nvPr/>
        </p:nvPicPr>
        <p:blipFill>
          <a:blip r:embed="rId3" cstate="print"/>
          <a:stretch>
            <a:fillRect/>
          </a:stretch>
        </p:blipFill>
        <p:spPr bwMode="gray">
          <a:xfrm>
            <a:off x="3322579" y="5573666"/>
            <a:ext cx="490909" cy="401653"/>
          </a:xfrm>
          <a:prstGeom prst="rect">
            <a:avLst/>
          </a:prstGeom>
        </p:spPr>
      </p:pic>
      <p:pic>
        <p:nvPicPr>
          <p:cNvPr id="31" name="图片 30" descr="交换机.png"/>
          <p:cNvPicPr>
            <a:picLocks noChangeAspect="1"/>
          </p:cNvPicPr>
          <p:nvPr/>
        </p:nvPicPr>
        <p:blipFill>
          <a:blip r:embed="rId4" cstate="print"/>
          <a:stretch>
            <a:fillRect/>
          </a:stretch>
        </p:blipFill>
        <p:spPr bwMode="gray">
          <a:xfrm>
            <a:off x="1229062" y="4505569"/>
            <a:ext cx="490909" cy="401652"/>
          </a:xfrm>
          <a:prstGeom prst="rect">
            <a:avLst/>
          </a:prstGeom>
        </p:spPr>
      </p:pic>
      <p:pic>
        <p:nvPicPr>
          <p:cNvPr id="32" name="图片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3241333" y="4443807"/>
            <a:ext cx="653400" cy="534600"/>
          </a:xfrm>
          <a:prstGeom prst="rect">
            <a:avLst/>
          </a:prstGeom>
        </p:spPr>
      </p:pic>
      <p:sp>
        <p:nvSpPr>
          <p:cNvPr id="33" name="文本框 32"/>
          <p:cNvSpPr txBox="1"/>
          <p:nvPr/>
        </p:nvSpPr>
        <p:spPr bwMode="gray">
          <a:xfrm>
            <a:off x="1474516" y="4105253"/>
            <a:ext cx="1053494"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F28944"/>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DMZ</a:t>
            </a:r>
            <a:r>
              <a:rPr kumimoji="0" lang="zh-CN" altLang="en-US" sz="1600" b="0" i="0" u="none" strike="noStrike" kern="0" cap="none" spc="0" normalizeH="0" baseline="0" noProof="0" dirty="0">
                <a:ln>
                  <a:noFill/>
                </a:ln>
                <a:solidFill>
                  <a:srgbClr val="F28944"/>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区域</a:t>
            </a:r>
          </a:p>
        </p:txBody>
      </p:sp>
      <p:sp>
        <p:nvSpPr>
          <p:cNvPr id="34" name="Freeform 159"/>
          <p:cNvSpPr/>
          <p:nvPr/>
        </p:nvSpPr>
        <p:spPr bwMode="gray">
          <a:xfrm flipH="1">
            <a:off x="1594177" y="1632191"/>
            <a:ext cx="3750614" cy="196055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ysClr val="window" lastClr="FFFFFF"/>
          </a:solidFill>
          <a:ln w="28575" cap="flat" cmpd="sng" algn="ctr">
            <a:solidFill>
              <a:sysClr val="window" lastClr="FFFFFF">
                <a:lumMod val="50000"/>
              </a:sysClr>
            </a:solidFill>
            <a:prstDash val="solid"/>
            <a:miter lim="800000"/>
          </a:ln>
          <a:effectLst/>
        </p:spPr>
        <p:txBody>
          <a:bodyPr wrap="square" tIns="10800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5" name="组合 362"/>
          <p:cNvGrpSpPr>
            <a:grpSpLocks/>
          </p:cNvGrpSpPr>
          <p:nvPr/>
        </p:nvGrpSpPr>
        <p:grpSpPr bwMode="gray">
          <a:xfrm>
            <a:off x="3312953" y="2151760"/>
            <a:ext cx="510160" cy="510160"/>
            <a:chOff x="373063" y="2114551"/>
            <a:chExt cx="1114425" cy="1116013"/>
          </a:xfrm>
        </p:grpSpPr>
        <p:sp>
          <p:nvSpPr>
            <p:cNvPr id="36" name="Freeform 84"/>
            <p:cNvSpPr>
              <a:spLocks/>
            </p:cNvSpPr>
            <p:nvPr/>
          </p:nvSpPr>
          <p:spPr bwMode="gray">
            <a:xfrm>
              <a:off x="373063" y="2114551"/>
              <a:ext cx="1114425" cy="1116013"/>
            </a:xfrm>
            <a:custGeom>
              <a:avLst/>
              <a:gdLst>
                <a:gd name="T0" fmla="*/ 2147483647 w 2659"/>
                <a:gd name="T1" fmla="*/ 2147483647 h 2658"/>
                <a:gd name="T2" fmla="*/ 2147483647 w 2659"/>
                <a:gd name="T3" fmla="*/ 2147483647 h 2658"/>
                <a:gd name="T4" fmla="*/ 2147483647 w 2659"/>
                <a:gd name="T5" fmla="*/ 2147483647 h 2658"/>
                <a:gd name="T6" fmla="*/ 0 w 2659"/>
                <a:gd name="T7" fmla="*/ 2147483647 h 2658"/>
                <a:gd name="T8" fmla="*/ 2147483647 w 2659"/>
                <a:gd name="T9" fmla="*/ 0 h 2658"/>
                <a:gd name="T10" fmla="*/ 2147483647 w 2659"/>
                <a:gd name="T11" fmla="*/ 2147483647 h 2658"/>
                <a:gd name="T12" fmla="*/ 0 60000 65536"/>
                <a:gd name="T13" fmla="*/ 0 60000 65536"/>
                <a:gd name="T14" fmla="*/ 0 60000 65536"/>
                <a:gd name="T15" fmla="*/ 0 60000 65536"/>
                <a:gd name="T16" fmla="*/ 0 60000 65536"/>
                <a:gd name="T17" fmla="*/ 0 60000 65536"/>
                <a:gd name="T18" fmla="*/ 0 w 2659"/>
                <a:gd name="T19" fmla="*/ 0 h 2658"/>
                <a:gd name="T20" fmla="*/ 2659 w 2659"/>
                <a:gd name="T21" fmla="*/ 2658 h 2658"/>
              </a:gdLst>
              <a:ahLst/>
              <a:cxnLst>
                <a:cxn ang="T12">
                  <a:pos x="T0" y="T1"/>
                </a:cxn>
                <a:cxn ang="T13">
                  <a:pos x="T2" y="T3"/>
                </a:cxn>
                <a:cxn ang="T14">
                  <a:pos x="T4" y="T5"/>
                </a:cxn>
                <a:cxn ang="T15">
                  <a:pos x="T6" y="T7"/>
                </a:cxn>
                <a:cxn ang="T16">
                  <a:pos x="T8" y="T9"/>
                </a:cxn>
                <a:cxn ang="T17">
                  <a:pos x="T10" y="T11"/>
                </a:cxn>
              </a:cxnLst>
              <a:rect l="T18" t="T19" r="T20" b="T21"/>
              <a:pathLst>
                <a:path w="2659" h="2658">
                  <a:moveTo>
                    <a:pt x="2659" y="1329"/>
                  </a:moveTo>
                  <a:lnTo>
                    <a:pt x="2659" y="1329"/>
                  </a:lnTo>
                  <a:cubicBezTo>
                    <a:pt x="2659" y="2063"/>
                    <a:pt x="2064" y="2658"/>
                    <a:pt x="1329" y="2658"/>
                  </a:cubicBezTo>
                  <a:cubicBezTo>
                    <a:pt x="595" y="2658"/>
                    <a:pt x="0" y="2063"/>
                    <a:pt x="0" y="1329"/>
                  </a:cubicBezTo>
                  <a:cubicBezTo>
                    <a:pt x="0" y="595"/>
                    <a:pt x="595" y="0"/>
                    <a:pt x="1329" y="0"/>
                  </a:cubicBezTo>
                  <a:cubicBezTo>
                    <a:pt x="2064" y="0"/>
                    <a:pt x="2659" y="595"/>
                    <a:pt x="2659" y="1329"/>
                  </a:cubicBezTo>
                  <a:close/>
                </a:path>
              </a:pathLst>
            </a:custGeom>
            <a:solidFill>
              <a:sysClr val="window" lastClr="FFFFFF">
                <a:lumMod val="50000"/>
              </a:sysClr>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7" name="组合 341"/>
            <p:cNvGrpSpPr>
              <a:grpSpLocks/>
            </p:cNvGrpSpPr>
            <p:nvPr/>
          </p:nvGrpSpPr>
          <p:grpSpPr bwMode="gray">
            <a:xfrm>
              <a:off x="649288" y="2289176"/>
              <a:ext cx="561975" cy="769938"/>
              <a:chOff x="649288" y="2289176"/>
              <a:chExt cx="561975" cy="769938"/>
            </a:xfrm>
          </p:grpSpPr>
          <p:sp>
            <p:nvSpPr>
              <p:cNvPr id="38" name="Freeform 85"/>
              <p:cNvSpPr>
                <a:spLocks noEditPoints="1"/>
              </p:cNvSpPr>
              <p:nvPr/>
            </p:nvSpPr>
            <p:spPr bwMode="gray">
              <a:xfrm>
                <a:off x="768350" y="2289176"/>
                <a:ext cx="323850" cy="327025"/>
              </a:xfrm>
              <a:custGeom>
                <a:avLst/>
                <a:gdLst>
                  <a:gd name="T0" fmla="*/ 2147483647 w 775"/>
                  <a:gd name="T1" fmla="*/ 2147483647 h 776"/>
                  <a:gd name="T2" fmla="*/ 2147483647 w 775"/>
                  <a:gd name="T3" fmla="*/ 2147483647 h 776"/>
                  <a:gd name="T4" fmla="*/ 2147483647 w 775"/>
                  <a:gd name="T5" fmla="*/ 2147483647 h 776"/>
                  <a:gd name="T6" fmla="*/ 2147483647 w 775"/>
                  <a:gd name="T7" fmla="*/ 2147483647 h 776"/>
                  <a:gd name="T8" fmla="*/ 2147483647 w 775"/>
                  <a:gd name="T9" fmla="*/ 2147483647 h 776"/>
                  <a:gd name="T10" fmla="*/ 2147483647 w 775"/>
                  <a:gd name="T11" fmla="*/ 2147483647 h 776"/>
                  <a:gd name="T12" fmla="*/ 2147483647 w 775"/>
                  <a:gd name="T13" fmla="*/ 2147483647 h 776"/>
                  <a:gd name="T14" fmla="*/ 2147483647 w 775"/>
                  <a:gd name="T15" fmla="*/ 2147483647 h 776"/>
                  <a:gd name="T16" fmla="*/ 0 w 775"/>
                  <a:gd name="T17" fmla="*/ 2147483647 h 776"/>
                  <a:gd name="T18" fmla="*/ 2147483647 w 775"/>
                  <a:gd name="T19" fmla="*/ 0 h 776"/>
                  <a:gd name="T20" fmla="*/ 2147483647 w 775"/>
                  <a:gd name="T21" fmla="*/ 2147483647 h 776"/>
                  <a:gd name="T22" fmla="*/ 2147483647 w 775"/>
                  <a:gd name="T23" fmla="*/ 2147483647 h 77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75"/>
                  <a:gd name="T37" fmla="*/ 0 h 776"/>
                  <a:gd name="T38" fmla="*/ 775 w 775"/>
                  <a:gd name="T39" fmla="*/ 776 h 77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75" h="776">
                    <a:moveTo>
                      <a:pt x="387" y="67"/>
                    </a:moveTo>
                    <a:lnTo>
                      <a:pt x="387" y="67"/>
                    </a:lnTo>
                    <a:cubicBezTo>
                      <a:pt x="210" y="67"/>
                      <a:pt x="66" y="211"/>
                      <a:pt x="66" y="388"/>
                    </a:cubicBezTo>
                    <a:cubicBezTo>
                      <a:pt x="66" y="565"/>
                      <a:pt x="210" y="709"/>
                      <a:pt x="387" y="709"/>
                    </a:cubicBezTo>
                    <a:cubicBezTo>
                      <a:pt x="565" y="709"/>
                      <a:pt x="709" y="565"/>
                      <a:pt x="709" y="388"/>
                    </a:cubicBezTo>
                    <a:cubicBezTo>
                      <a:pt x="709" y="211"/>
                      <a:pt x="565" y="67"/>
                      <a:pt x="387" y="67"/>
                    </a:cubicBezTo>
                    <a:close/>
                    <a:moveTo>
                      <a:pt x="387" y="776"/>
                    </a:moveTo>
                    <a:lnTo>
                      <a:pt x="387" y="776"/>
                    </a:lnTo>
                    <a:cubicBezTo>
                      <a:pt x="174" y="776"/>
                      <a:pt x="0" y="602"/>
                      <a:pt x="0" y="388"/>
                    </a:cubicBezTo>
                    <a:cubicBezTo>
                      <a:pt x="0" y="174"/>
                      <a:pt x="174" y="0"/>
                      <a:pt x="387" y="0"/>
                    </a:cubicBezTo>
                    <a:cubicBezTo>
                      <a:pt x="601" y="0"/>
                      <a:pt x="775" y="174"/>
                      <a:pt x="775" y="388"/>
                    </a:cubicBezTo>
                    <a:cubicBezTo>
                      <a:pt x="775" y="602"/>
                      <a:pt x="601" y="776"/>
                      <a:pt x="387" y="776"/>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Freeform 86"/>
              <p:cNvSpPr>
                <a:spLocks/>
              </p:cNvSpPr>
              <p:nvPr/>
            </p:nvSpPr>
            <p:spPr bwMode="gray">
              <a:xfrm>
                <a:off x="649288" y="2652713"/>
                <a:ext cx="561975" cy="390525"/>
              </a:xfrm>
              <a:custGeom>
                <a:avLst/>
                <a:gdLst>
                  <a:gd name="T0" fmla="*/ 2147483647 w 1337"/>
                  <a:gd name="T1" fmla="*/ 2147483647 h 932"/>
                  <a:gd name="T2" fmla="*/ 2147483647 w 1337"/>
                  <a:gd name="T3" fmla="*/ 2147483647 h 932"/>
                  <a:gd name="T4" fmla="*/ 2147483647 w 1337"/>
                  <a:gd name="T5" fmla="*/ 2147483647 h 932"/>
                  <a:gd name="T6" fmla="*/ 2147483647 w 1337"/>
                  <a:gd name="T7" fmla="*/ 2147483647 h 932"/>
                  <a:gd name="T8" fmla="*/ 2147483647 w 1337"/>
                  <a:gd name="T9" fmla="*/ 2147483647 h 932"/>
                  <a:gd name="T10" fmla="*/ 2147483647 w 1337"/>
                  <a:gd name="T11" fmla="*/ 2147483647 h 932"/>
                  <a:gd name="T12" fmla="*/ 2147483647 w 1337"/>
                  <a:gd name="T13" fmla="*/ 2147483647 h 932"/>
                  <a:gd name="T14" fmla="*/ 2147483647 w 1337"/>
                  <a:gd name="T15" fmla="*/ 2147483647 h 932"/>
                  <a:gd name="T16" fmla="*/ 2147483647 w 1337"/>
                  <a:gd name="T17" fmla="*/ 2147483647 h 932"/>
                  <a:gd name="T18" fmla="*/ 2147483647 w 1337"/>
                  <a:gd name="T19" fmla="*/ 2147483647 h 932"/>
                  <a:gd name="T20" fmla="*/ 2147483647 w 1337"/>
                  <a:gd name="T21" fmla="*/ 2147483647 h 932"/>
                  <a:gd name="T22" fmla="*/ 2147483647 w 1337"/>
                  <a:gd name="T23" fmla="*/ 2147483647 h 932"/>
                  <a:gd name="T24" fmla="*/ 2147483647 w 1337"/>
                  <a:gd name="T25" fmla="*/ 2147483647 h 932"/>
                  <a:gd name="T26" fmla="*/ 2147483647 w 1337"/>
                  <a:gd name="T27" fmla="*/ 2147483647 h 932"/>
                  <a:gd name="T28" fmla="*/ 2147483647 w 1337"/>
                  <a:gd name="T29" fmla="*/ 2147483647 h 932"/>
                  <a:gd name="T30" fmla="*/ 0 w 1337"/>
                  <a:gd name="T31" fmla="*/ 2147483647 h 932"/>
                  <a:gd name="T32" fmla="*/ 0 w 1337"/>
                  <a:gd name="T33" fmla="*/ 2147483647 h 932"/>
                  <a:gd name="T34" fmla="*/ 2147483647 w 1337"/>
                  <a:gd name="T35" fmla="*/ 2147483647 h 932"/>
                  <a:gd name="T36" fmla="*/ 2147483647 w 1337"/>
                  <a:gd name="T37" fmla="*/ 2147483647 h 932"/>
                  <a:gd name="T38" fmla="*/ 2147483647 w 1337"/>
                  <a:gd name="T39" fmla="*/ 2147483647 h 932"/>
                  <a:gd name="T40" fmla="*/ 2147483647 w 1337"/>
                  <a:gd name="T41" fmla="*/ 2147483647 h 932"/>
                  <a:gd name="T42" fmla="*/ 2147483647 w 1337"/>
                  <a:gd name="T43" fmla="*/ 2147483647 h 932"/>
                  <a:gd name="T44" fmla="*/ 2147483647 w 1337"/>
                  <a:gd name="T45" fmla="*/ 2147483647 h 932"/>
                  <a:gd name="T46" fmla="*/ 2147483647 w 1337"/>
                  <a:gd name="T47" fmla="*/ 2147483647 h 932"/>
                  <a:gd name="T48" fmla="*/ 2147483647 w 1337"/>
                  <a:gd name="T49" fmla="*/ 2147483647 h 93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337"/>
                  <a:gd name="T76" fmla="*/ 0 h 932"/>
                  <a:gd name="T77" fmla="*/ 1337 w 1337"/>
                  <a:gd name="T78" fmla="*/ 932 h 93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337" h="932">
                    <a:moveTo>
                      <a:pt x="1304" y="932"/>
                    </a:moveTo>
                    <a:lnTo>
                      <a:pt x="1304" y="932"/>
                    </a:lnTo>
                    <a:lnTo>
                      <a:pt x="1080" y="932"/>
                    </a:lnTo>
                    <a:lnTo>
                      <a:pt x="1080" y="866"/>
                    </a:lnTo>
                    <a:lnTo>
                      <a:pt x="1270" y="866"/>
                    </a:lnTo>
                    <a:lnTo>
                      <a:pt x="1270" y="429"/>
                    </a:lnTo>
                    <a:cubicBezTo>
                      <a:pt x="1270" y="255"/>
                      <a:pt x="1151" y="108"/>
                      <a:pt x="983" y="71"/>
                    </a:cubicBezTo>
                    <a:lnTo>
                      <a:pt x="694" y="412"/>
                    </a:lnTo>
                    <a:cubicBezTo>
                      <a:pt x="681" y="427"/>
                      <a:pt x="656" y="427"/>
                      <a:pt x="643" y="412"/>
                    </a:cubicBezTo>
                    <a:lnTo>
                      <a:pt x="353" y="71"/>
                    </a:lnTo>
                    <a:cubicBezTo>
                      <a:pt x="186" y="108"/>
                      <a:pt x="67" y="255"/>
                      <a:pt x="67" y="429"/>
                    </a:cubicBezTo>
                    <a:lnTo>
                      <a:pt x="67" y="866"/>
                    </a:lnTo>
                    <a:lnTo>
                      <a:pt x="896" y="866"/>
                    </a:lnTo>
                    <a:lnTo>
                      <a:pt x="896" y="932"/>
                    </a:lnTo>
                    <a:lnTo>
                      <a:pt x="33" y="932"/>
                    </a:lnTo>
                    <a:cubicBezTo>
                      <a:pt x="15" y="932"/>
                      <a:pt x="0" y="917"/>
                      <a:pt x="0" y="899"/>
                    </a:cubicBezTo>
                    <a:lnTo>
                      <a:pt x="0" y="429"/>
                    </a:lnTo>
                    <a:cubicBezTo>
                      <a:pt x="0" y="217"/>
                      <a:pt x="152" y="37"/>
                      <a:pt x="361" y="2"/>
                    </a:cubicBezTo>
                    <a:cubicBezTo>
                      <a:pt x="372" y="0"/>
                      <a:pt x="384" y="4"/>
                      <a:pt x="392" y="13"/>
                    </a:cubicBezTo>
                    <a:lnTo>
                      <a:pt x="668" y="339"/>
                    </a:lnTo>
                    <a:lnTo>
                      <a:pt x="945" y="13"/>
                    </a:lnTo>
                    <a:cubicBezTo>
                      <a:pt x="953" y="4"/>
                      <a:pt x="965" y="0"/>
                      <a:pt x="976" y="2"/>
                    </a:cubicBezTo>
                    <a:cubicBezTo>
                      <a:pt x="1185" y="37"/>
                      <a:pt x="1337" y="216"/>
                      <a:pt x="1337" y="429"/>
                    </a:cubicBezTo>
                    <a:lnTo>
                      <a:pt x="1337" y="899"/>
                    </a:lnTo>
                    <a:cubicBezTo>
                      <a:pt x="1337" y="917"/>
                      <a:pt x="1322" y="932"/>
                      <a:pt x="1304" y="932"/>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Freeform 87"/>
              <p:cNvSpPr>
                <a:spLocks/>
              </p:cNvSpPr>
              <p:nvPr/>
            </p:nvSpPr>
            <p:spPr bwMode="gray">
              <a:xfrm>
                <a:off x="879475" y="2667001"/>
                <a:ext cx="101600" cy="149225"/>
              </a:xfrm>
              <a:custGeom>
                <a:avLst/>
                <a:gdLst>
                  <a:gd name="T0" fmla="*/ 2147483647 w 239"/>
                  <a:gd name="T1" fmla="*/ 2147483647 h 357"/>
                  <a:gd name="T2" fmla="*/ 2147483647 w 239"/>
                  <a:gd name="T3" fmla="*/ 2147483647 h 357"/>
                  <a:gd name="T4" fmla="*/ 2147483647 w 239"/>
                  <a:gd name="T5" fmla="*/ 2147483647 h 357"/>
                  <a:gd name="T6" fmla="*/ 2147483647 w 239"/>
                  <a:gd name="T7" fmla="*/ 0 h 357"/>
                  <a:gd name="T8" fmla="*/ 0 w 239"/>
                  <a:gd name="T9" fmla="*/ 0 h 357"/>
                  <a:gd name="T10" fmla="*/ 2147483647 w 239"/>
                  <a:gd name="T11" fmla="*/ 2147483647 h 357"/>
                  <a:gd name="T12" fmla="*/ 2147483647 w 239"/>
                  <a:gd name="T13" fmla="*/ 2147483647 h 357"/>
                  <a:gd name="T14" fmla="*/ 2147483647 w 239"/>
                  <a:gd name="T15" fmla="*/ 2147483647 h 357"/>
                  <a:gd name="T16" fmla="*/ 2147483647 w 239"/>
                  <a:gd name="T17" fmla="*/ 2147483647 h 3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9"/>
                  <a:gd name="T28" fmla="*/ 0 h 357"/>
                  <a:gd name="T29" fmla="*/ 239 w 239"/>
                  <a:gd name="T30" fmla="*/ 357 h 3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9" h="357">
                    <a:moveTo>
                      <a:pt x="210" y="260"/>
                    </a:moveTo>
                    <a:lnTo>
                      <a:pt x="210" y="260"/>
                    </a:lnTo>
                    <a:lnTo>
                      <a:pt x="135" y="112"/>
                    </a:lnTo>
                    <a:lnTo>
                      <a:pt x="239" y="0"/>
                    </a:lnTo>
                    <a:lnTo>
                      <a:pt x="0" y="0"/>
                    </a:lnTo>
                    <a:lnTo>
                      <a:pt x="104" y="112"/>
                    </a:lnTo>
                    <a:lnTo>
                      <a:pt x="29" y="260"/>
                    </a:lnTo>
                    <a:lnTo>
                      <a:pt x="119" y="357"/>
                    </a:lnTo>
                    <a:lnTo>
                      <a:pt x="210" y="26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Freeform 88"/>
              <p:cNvSpPr>
                <a:spLocks/>
              </p:cNvSpPr>
              <p:nvPr/>
            </p:nvSpPr>
            <p:spPr bwMode="gray">
              <a:xfrm>
                <a:off x="803275" y="2652713"/>
                <a:ext cx="254000" cy="28575"/>
              </a:xfrm>
              <a:custGeom>
                <a:avLst/>
                <a:gdLst>
                  <a:gd name="T0" fmla="*/ 2147483647 w 605"/>
                  <a:gd name="T1" fmla="*/ 2147483647 h 67"/>
                  <a:gd name="T2" fmla="*/ 2147483647 w 605"/>
                  <a:gd name="T3" fmla="*/ 2147483647 h 67"/>
                  <a:gd name="T4" fmla="*/ 0 w 605"/>
                  <a:gd name="T5" fmla="*/ 2147483647 h 67"/>
                  <a:gd name="T6" fmla="*/ 0 w 605"/>
                  <a:gd name="T7" fmla="*/ 0 h 67"/>
                  <a:gd name="T8" fmla="*/ 2147483647 w 605"/>
                  <a:gd name="T9" fmla="*/ 0 h 67"/>
                  <a:gd name="T10" fmla="*/ 2147483647 w 605"/>
                  <a:gd name="T11" fmla="*/ 2147483647 h 67"/>
                  <a:gd name="T12" fmla="*/ 0 60000 65536"/>
                  <a:gd name="T13" fmla="*/ 0 60000 65536"/>
                  <a:gd name="T14" fmla="*/ 0 60000 65536"/>
                  <a:gd name="T15" fmla="*/ 0 60000 65536"/>
                  <a:gd name="T16" fmla="*/ 0 60000 65536"/>
                  <a:gd name="T17" fmla="*/ 0 60000 65536"/>
                  <a:gd name="T18" fmla="*/ 0 w 605"/>
                  <a:gd name="T19" fmla="*/ 0 h 67"/>
                  <a:gd name="T20" fmla="*/ 605 w 605"/>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605" h="67">
                    <a:moveTo>
                      <a:pt x="605" y="67"/>
                    </a:moveTo>
                    <a:lnTo>
                      <a:pt x="605" y="67"/>
                    </a:lnTo>
                    <a:lnTo>
                      <a:pt x="0" y="67"/>
                    </a:lnTo>
                    <a:lnTo>
                      <a:pt x="0" y="0"/>
                    </a:lnTo>
                    <a:lnTo>
                      <a:pt x="605" y="0"/>
                    </a:lnTo>
                    <a:lnTo>
                      <a:pt x="605" y="67"/>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Freeform 89"/>
              <p:cNvSpPr>
                <a:spLocks/>
              </p:cNvSpPr>
              <p:nvPr/>
            </p:nvSpPr>
            <p:spPr bwMode="gray">
              <a:xfrm>
                <a:off x="990600" y="3000376"/>
                <a:ext cx="58738"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Freeform 90"/>
              <p:cNvSpPr>
                <a:spLocks/>
              </p:cNvSpPr>
              <p:nvPr/>
            </p:nvSpPr>
            <p:spPr bwMode="gray">
              <a:xfrm>
                <a:off x="1081088" y="3000376"/>
                <a:ext cx="57150"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44" name="文本框 43"/>
          <p:cNvSpPr txBox="1"/>
          <p:nvPr/>
        </p:nvSpPr>
        <p:spPr bwMode="gray">
          <a:xfrm>
            <a:off x="3908121" y="2119774"/>
            <a:ext cx="877054" cy="58477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远程办公用户</a:t>
            </a:r>
          </a:p>
        </p:txBody>
      </p:sp>
      <p:sp>
        <p:nvSpPr>
          <p:cNvPr id="45" name="Can 225"/>
          <p:cNvSpPr/>
          <p:nvPr/>
        </p:nvSpPr>
        <p:spPr bwMode="gray">
          <a:xfrm>
            <a:off x="3467042" y="2793992"/>
            <a:ext cx="201983" cy="1778008"/>
          </a:xfrm>
          <a:prstGeom prst="can">
            <a:avLst>
              <a:gd name="adj" fmla="val 75773"/>
            </a:avLst>
          </a:prstGeom>
          <a:solidFill>
            <a:srgbClr val="EC7061"/>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文本框 45"/>
          <p:cNvSpPr txBox="1"/>
          <p:nvPr/>
        </p:nvSpPr>
        <p:spPr bwMode="gray">
          <a:xfrm rot="5400000">
            <a:off x="2987585" y="3689845"/>
            <a:ext cx="1160895"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SSL VPN </a:t>
            </a:r>
            <a:r>
              <a:rPr kumimoji="0" lang="zh-CN" altLang="en-US"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隧道</a:t>
            </a:r>
          </a:p>
        </p:txBody>
      </p:sp>
      <p:sp>
        <p:nvSpPr>
          <p:cNvPr id="47" name="文本框 46"/>
          <p:cNvSpPr txBox="1"/>
          <p:nvPr/>
        </p:nvSpPr>
        <p:spPr bwMode="gray">
          <a:xfrm>
            <a:off x="869222" y="4941978"/>
            <a:ext cx="1210588" cy="338554"/>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a:ln>
                  <a:noFill/>
                </a:ln>
                <a:effectLst/>
                <a:uLnTx/>
                <a:uFillTx/>
                <a:latin typeface="Huawei Sans" panose="020C0503030203020204" pitchFamily="34" charset="0"/>
                <a:ea typeface="方正兰亭黑简体" panose="02000000000000000000" pitchFamily="2" charset="-122"/>
                <a:sym typeface="Huawei Sans" panose="020C0503030203020204" pitchFamily="34" charset="0"/>
              </a:rPr>
              <a:t>服务器资源</a:t>
            </a:r>
          </a:p>
        </p:txBody>
      </p:sp>
      <p:sp>
        <p:nvSpPr>
          <p:cNvPr id="48" name="文本框 47"/>
          <p:cNvSpPr txBox="1"/>
          <p:nvPr/>
        </p:nvSpPr>
        <p:spPr bwMode="gray">
          <a:xfrm>
            <a:off x="1701622" y="5605215"/>
            <a:ext cx="1620957" cy="338554"/>
          </a:xfrm>
          <a:prstGeom prst="rect">
            <a:avLst/>
          </a:prstGeom>
          <a:noFill/>
        </p:spPr>
        <p:txBody>
          <a:bodyPr wrap="non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sym typeface="Huawei Sans" panose="020C0503030203020204" pitchFamily="34" charset="0"/>
              </a:rPr>
              <a:t>企业园区网内网</a:t>
            </a:r>
          </a:p>
        </p:txBody>
      </p:sp>
      <p:sp>
        <p:nvSpPr>
          <p:cNvPr id="49" name="圆角矩形 48"/>
          <p:cNvSpPr/>
          <p:nvPr/>
        </p:nvSpPr>
        <p:spPr bwMode="gray">
          <a:xfrm>
            <a:off x="5686354" y="1384300"/>
            <a:ext cx="5846856" cy="4341414"/>
          </a:xfrm>
          <a:prstGeom prst="roundRect">
            <a:avLst>
              <a:gd name="adj" fmla="val 898"/>
            </a:avLst>
          </a:prstGeom>
          <a:noFill/>
          <a:ln w="9525" cap="flat" cmpd="sng" algn="ctr">
            <a:noFill/>
            <a:prstDash val="solid"/>
            <a:miter lim="800000"/>
          </a:ln>
          <a:effectLst/>
        </p:spPr>
        <p:txBody>
          <a:bodyPr rtlCol="0" anchor="t" anchorCtr="0"/>
          <a:lstStyle/>
          <a:p>
            <a:pPr marL="285750" marR="0" lvl="0" indent="-285750" defTabSz="914400" eaLnBrk="1" fontAlgn="auto" latinLnBrk="0" hangingPunct="1">
              <a:lnSpc>
                <a:spcPts val="2400"/>
              </a:lnSpc>
              <a:spcBef>
                <a:spcPts val="0"/>
              </a:spcBef>
              <a:spcAft>
                <a:spcPts val="600"/>
              </a:spcAft>
              <a:buClrTx/>
              <a:buSzPct val="50000"/>
              <a:buFont typeface="Wingdings" panose="05000000000000000000" pitchFamily="2" charset="2"/>
              <a:buChar char="l"/>
              <a:tabLst/>
              <a:defRPr/>
            </a:pPr>
            <a:r>
              <a:rPr kumimoji="0" lang="en-US" altLang="zh-CN"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SSL VPN</a:t>
            </a:r>
            <a:r>
              <a:rPr kumimoji="0" lang="zh-CN" altLang="en-US"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是以</a:t>
            </a:r>
            <a:r>
              <a:rPr kumimoji="0" lang="en-US" altLang="zh-CN"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SSL</a:t>
            </a:r>
            <a:r>
              <a:rPr kumimoji="0" lang="zh-CN" altLang="en-US"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协议为安全基础的</a:t>
            </a:r>
            <a:r>
              <a:rPr kumimoji="0" lang="en-US" altLang="zh-CN"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VPN</a:t>
            </a:r>
            <a:r>
              <a:rPr kumimoji="0" lang="zh-CN" altLang="en-US"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远程接入技术，移动办公人员（在</a:t>
            </a:r>
            <a:r>
              <a:rPr kumimoji="0" lang="en-US" altLang="zh-CN"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SSL VPN</a:t>
            </a:r>
            <a:r>
              <a:rPr kumimoji="0" lang="zh-CN" altLang="en-US"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中被称为远程用户）使用</a:t>
            </a:r>
            <a:r>
              <a:rPr kumimoji="0" lang="en-US" altLang="zh-CN"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SSL VPN</a:t>
            </a:r>
            <a:r>
              <a:rPr kumimoji="0" lang="zh-CN" altLang="en-US"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可以安全、方便地接入企业内网，访问企业内网资源，提高工作效率。</a:t>
            </a:r>
            <a:endParaRPr kumimoji="0" lang="en-US" altLang="zh-CN"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285750" marR="0" lvl="0" indent="-285750" defTabSz="914400" eaLnBrk="1" fontAlgn="auto" latinLnBrk="0" hangingPunct="1">
              <a:lnSpc>
                <a:spcPts val="2400"/>
              </a:lnSpc>
              <a:spcBef>
                <a:spcPts val="0"/>
              </a:spcBef>
              <a:spcAft>
                <a:spcPts val="600"/>
              </a:spcAft>
              <a:buClrTx/>
              <a:buSzPct val="50000"/>
              <a:buFont typeface="Wingdings" panose="05000000000000000000" pitchFamily="2" charset="2"/>
              <a:buChar char="l"/>
              <a:tabLst/>
              <a:defRPr/>
            </a:pPr>
            <a:r>
              <a:rPr kumimoji="0" lang="en-US" altLang="zh-CN"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SSL VPN</a:t>
            </a:r>
            <a:r>
              <a:rPr kumimoji="0" lang="zh-CN" altLang="en-US"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采用</a:t>
            </a:r>
            <a:r>
              <a:rPr kumimoji="0" lang="en-US" altLang="zh-CN"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B/S</a:t>
            </a:r>
            <a:r>
              <a:rPr kumimoji="0" lang="zh-CN" altLang="en-US"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架构设计，远程用户终端上无需安装额外的客户端软件，直接使用</a:t>
            </a:r>
            <a:r>
              <a:rPr kumimoji="0" lang="en-US" altLang="zh-CN"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Web</a:t>
            </a:r>
            <a:r>
              <a:rPr kumimoji="0" lang="zh-CN" altLang="en-US" sz="16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浏览器就可以安全、快捷地访问企业内网资源。</a:t>
            </a:r>
          </a:p>
          <a:p>
            <a:pPr marL="644400" lvl="1" indent="-285750" algn="just">
              <a:lnSpc>
                <a:spcPts val="2200"/>
              </a:lnSpc>
              <a:spcAft>
                <a:spcPts val="600"/>
              </a:spcAft>
              <a:buSzPct val="50000"/>
              <a:buFont typeface="Wingdings" panose="05000000000000000000" pitchFamily="2" charset="2"/>
              <a:buChar char="p"/>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可以根据远程用户访问内网资源类型的不同，对其访问权限进行高细粒度控制。</a:t>
            </a:r>
          </a:p>
          <a:p>
            <a:pPr marL="644400" lvl="1" indent="-285750" algn="just">
              <a:lnSpc>
                <a:spcPts val="2200"/>
              </a:lnSpc>
              <a:spcAft>
                <a:spcPts val="600"/>
              </a:spcAft>
              <a:buSzPct val="50000"/>
              <a:buFont typeface="Wingdings" panose="05000000000000000000" pitchFamily="2" charset="2"/>
              <a:buChar char="p"/>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支持灵活的身份验证机制。</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644400" lvl="1" indent="-285750" algn="just">
              <a:lnSpc>
                <a:spcPts val="2200"/>
              </a:lnSpc>
              <a:spcAft>
                <a:spcPts val="600"/>
              </a:spcAft>
              <a:buSzPct val="50000"/>
              <a:buFont typeface="Wingdings" panose="05000000000000000000" pitchFamily="2" charset="2"/>
              <a:buChar char="p"/>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主机检查策略可以检查远程用户终端的操作系统、端口、进程以及杀毒软件等是否符合安全要求，并且还具备防跳转、防截屏的能力，消除了潜藏在远程用户终端上的安全隐患。</a:t>
            </a:r>
          </a:p>
        </p:txBody>
      </p:sp>
      <p:sp>
        <p:nvSpPr>
          <p:cNvPr id="50" name="文本框 49"/>
          <p:cNvSpPr txBox="1"/>
          <p:nvPr/>
        </p:nvSpPr>
        <p:spPr bwMode="gray">
          <a:xfrm>
            <a:off x="1913222" y="3115793"/>
            <a:ext cx="1015293" cy="33855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外部网络</a:t>
            </a:r>
          </a:p>
        </p:txBody>
      </p:sp>
      <p:sp>
        <p:nvSpPr>
          <p:cNvPr id="51" name="五边形 50"/>
          <p:cNvSpPr/>
          <p:nvPr/>
        </p:nvSpPr>
        <p:spPr bwMode="gray">
          <a:xfrm>
            <a:off x="6179960" y="98481"/>
            <a:ext cx="94884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以太网交换</a:t>
            </a:r>
          </a:p>
        </p:txBody>
      </p:sp>
      <p:sp>
        <p:nvSpPr>
          <p:cNvPr id="52" name="燕尾形 51"/>
          <p:cNvSpPr/>
          <p:nvPr/>
        </p:nvSpPr>
        <p:spPr bwMode="gray">
          <a:xfrm>
            <a:off x="7049907" y="98481"/>
            <a:ext cx="678521"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燕尾形 52"/>
          <p:cNvSpPr/>
          <p:nvPr/>
        </p:nvSpPr>
        <p:spPr bwMode="gray">
          <a:xfrm>
            <a:off x="7649535" y="98481"/>
            <a:ext cx="87595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无线接入</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燕尾形 53"/>
          <p:cNvSpPr/>
          <p:nvPr/>
        </p:nvSpPr>
        <p:spPr bwMode="gray">
          <a:xfrm>
            <a:off x="8446601" y="98481"/>
            <a:ext cx="78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可靠性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燕尾形 54"/>
          <p:cNvSpPr/>
          <p:nvPr/>
        </p:nvSpPr>
        <p:spPr bwMode="gray">
          <a:xfrm>
            <a:off x="9148908" y="98481"/>
            <a:ext cx="87048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网络安全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燕尾形 55"/>
          <p:cNvSpPr/>
          <p:nvPr/>
        </p:nvSpPr>
        <p:spPr bwMode="gray">
          <a:xfrm>
            <a:off x="9940504" y="98481"/>
            <a:ext cx="1304004"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网络服务与管理</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燕尾形 56"/>
          <p:cNvSpPr/>
          <p:nvPr/>
        </p:nvSpPr>
        <p:spPr bwMode="gray">
          <a:xfrm>
            <a:off x="11165613" y="98481"/>
            <a:ext cx="583475"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出口</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2624027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bwMode="gray"/>
        <p:txBody>
          <a:bodyPr/>
          <a:lstStyle/>
          <a:p>
            <a:r>
              <a:rPr lang="zh-CN" altLang="en-US" dirty="0">
                <a:solidFill>
                  <a:schemeClr val="bg1">
                    <a:lumMod val="50000"/>
                  </a:schemeClr>
                </a:solidFill>
                <a:sym typeface="Huawei Sans" panose="020C0503030203020204" pitchFamily="34" charset="0"/>
              </a:rPr>
              <a:t>园区网络概述</a:t>
            </a:r>
          </a:p>
          <a:p>
            <a:r>
              <a:rPr lang="zh-CN" altLang="en-US" dirty="0">
                <a:solidFill>
                  <a:schemeClr val="bg1">
                    <a:lumMod val="50000"/>
                  </a:schemeClr>
                </a:solidFill>
                <a:sym typeface="Huawei Sans" panose="020C0503030203020204" pitchFamily="34" charset="0"/>
              </a:rPr>
              <a:t>园区网络的挑战与华为云园区网络解决方案</a:t>
            </a:r>
            <a:endParaRPr lang="en-US" altLang="zh-CN" dirty="0">
              <a:solidFill>
                <a:schemeClr val="bg1">
                  <a:lumMod val="50000"/>
                </a:schemeClr>
              </a:solidFill>
              <a:sym typeface="Huawei Sans" panose="020C0503030203020204" pitchFamily="34" charset="0"/>
            </a:endParaRPr>
          </a:p>
          <a:p>
            <a:r>
              <a:rPr lang="zh-CN" altLang="en-US" dirty="0">
                <a:solidFill>
                  <a:schemeClr val="bg1">
                    <a:lumMod val="50000"/>
                  </a:schemeClr>
                </a:solidFill>
                <a:sym typeface="Huawei Sans" panose="020C0503030203020204" pitchFamily="34" charset="0"/>
              </a:rPr>
              <a:t>典型园区网络技术</a:t>
            </a:r>
            <a:endParaRPr lang="en-US" altLang="zh-CN" dirty="0">
              <a:solidFill>
                <a:schemeClr val="bg1">
                  <a:lumMod val="50000"/>
                </a:schemeClr>
              </a:solidFill>
              <a:sym typeface="Huawei Sans" panose="020C0503030203020204" pitchFamily="34" charset="0"/>
            </a:endParaRPr>
          </a:p>
          <a:p>
            <a:r>
              <a:rPr lang="zh-CN" altLang="en-US" b="1" dirty="0">
                <a:sym typeface="Huawei Sans" panose="020C0503030203020204" pitchFamily="34" charset="0"/>
              </a:rPr>
              <a:t>典型园区网络案例</a:t>
            </a:r>
            <a:endParaRPr lang="en-US" altLang="zh-CN" b="1" dirty="0">
              <a:sym typeface="Huawei Sans" panose="020C0503030203020204" pitchFamily="34" charset="0"/>
            </a:endParaRPr>
          </a:p>
        </p:txBody>
      </p:sp>
    </p:spTree>
    <p:extLst>
      <p:ext uri="{BB962C8B-B14F-4D97-AF65-F5344CB8AC3E}">
        <p14:creationId xmlns:p14="http://schemas.microsoft.com/office/powerpoint/2010/main" val="15284562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bwMode="gray"/>
        <p:txBody>
          <a:bodyPr>
            <a:normAutofit/>
          </a:bodyPr>
          <a:lstStyle/>
          <a:p>
            <a:r>
              <a:rPr lang="zh-CN" altLang="en-US" dirty="0">
                <a:sym typeface="Huawei Sans" panose="020C0503030203020204" pitchFamily="34" charset="0"/>
              </a:rPr>
              <a:t>案例</a:t>
            </a:r>
            <a:r>
              <a:rPr lang="en-US" altLang="zh-CN" dirty="0">
                <a:sym typeface="Huawei Sans" panose="020C0503030203020204" pitchFamily="34" charset="0"/>
              </a:rPr>
              <a:t>1 - </a:t>
            </a:r>
            <a:r>
              <a:rPr lang="zh-CN" altLang="en-US" dirty="0">
                <a:sym typeface="Huawei Sans" panose="020C0503030203020204" pitchFamily="34" charset="0"/>
              </a:rPr>
              <a:t>传统业务园区网络</a:t>
            </a:r>
          </a:p>
        </p:txBody>
      </p:sp>
      <p:cxnSp>
        <p:nvCxnSpPr>
          <p:cNvPr id="109" name="Straight Connector 79"/>
          <p:cNvCxnSpPr/>
          <p:nvPr/>
        </p:nvCxnSpPr>
        <p:spPr bwMode="gray">
          <a:xfrm flipH="1">
            <a:off x="4087301" y="2702295"/>
            <a:ext cx="309238" cy="330261"/>
          </a:xfrm>
          <a:prstGeom prst="line">
            <a:avLst/>
          </a:prstGeom>
          <a:noFill/>
          <a:ln w="19050" cap="flat" cmpd="sng" algn="ctr">
            <a:solidFill>
              <a:sysClr val="windowText" lastClr="000000"/>
            </a:solidFill>
            <a:prstDash val="solid"/>
            <a:miter lim="800000"/>
          </a:ln>
          <a:effectLst/>
        </p:spPr>
      </p:cxnSp>
      <p:cxnSp>
        <p:nvCxnSpPr>
          <p:cNvPr id="110" name="Straight Connector 79"/>
          <p:cNvCxnSpPr/>
          <p:nvPr/>
        </p:nvCxnSpPr>
        <p:spPr bwMode="gray">
          <a:xfrm flipH="1">
            <a:off x="4390651" y="2704518"/>
            <a:ext cx="1185521" cy="0"/>
          </a:xfrm>
          <a:prstGeom prst="line">
            <a:avLst/>
          </a:prstGeom>
          <a:noFill/>
          <a:ln w="19050" cap="flat" cmpd="sng" algn="ctr">
            <a:solidFill>
              <a:sysClr val="windowText" lastClr="000000"/>
            </a:solidFill>
            <a:prstDash val="solid"/>
            <a:miter lim="800000"/>
          </a:ln>
          <a:effectLst/>
        </p:spPr>
      </p:cxnSp>
      <p:cxnSp>
        <p:nvCxnSpPr>
          <p:cNvPr id="111" name="Straight Connector 79"/>
          <p:cNvCxnSpPr/>
          <p:nvPr/>
        </p:nvCxnSpPr>
        <p:spPr bwMode="gray">
          <a:xfrm flipH="1">
            <a:off x="3261716" y="2639822"/>
            <a:ext cx="309238" cy="330261"/>
          </a:xfrm>
          <a:prstGeom prst="line">
            <a:avLst/>
          </a:prstGeom>
          <a:noFill/>
          <a:ln w="19050" cap="flat" cmpd="sng" algn="ctr">
            <a:solidFill>
              <a:sysClr val="windowText" lastClr="000000"/>
            </a:solidFill>
            <a:prstDash val="solid"/>
            <a:miter lim="800000"/>
          </a:ln>
          <a:effectLst/>
        </p:spPr>
      </p:cxnSp>
      <p:cxnSp>
        <p:nvCxnSpPr>
          <p:cNvPr id="112" name="Straight Connector 79"/>
          <p:cNvCxnSpPr/>
          <p:nvPr/>
        </p:nvCxnSpPr>
        <p:spPr bwMode="gray">
          <a:xfrm flipH="1" flipV="1">
            <a:off x="3649928" y="2584599"/>
            <a:ext cx="343673" cy="363166"/>
          </a:xfrm>
          <a:prstGeom prst="line">
            <a:avLst/>
          </a:prstGeom>
          <a:noFill/>
          <a:ln w="19050" cap="flat" cmpd="sng" algn="ctr">
            <a:solidFill>
              <a:sysClr val="windowText" lastClr="000000"/>
            </a:solidFill>
            <a:prstDash val="solid"/>
            <a:miter lim="800000"/>
          </a:ln>
          <a:effectLst/>
        </p:spPr>
      </p:cxnSp>
      <p:cxnSp>
        <p:nvCxnSpPr>
          <p:cNvPr id="113" name="Straight Connector 79"/>
          <p:cNvCxnSpPr/>
          <p:nvPr/>
        </p:nvCxnSpPr>
        <p:spPr bwMode="gray">
          <a:xfrm flipH="1" flipV="1">
            <a:off x="2894489" y="2642045"/>
            <a:ext cx="343673" cy="363166"/>
          </a:xfrm>
          <a:prstGeom prst="line">
            <a:avLst/>
          </a:prstGeom>
          <a:noFill/>
          <a:ln w="19050" cap="flat" cmpd="sng" algn="ctr">
            <a:solidFill>
              <a:sysClr val="windowText" lastClr="000000"/>
            </a:solidFill>
            <a:prstDash val="solid"/>
            <a:miter lim="800000"/>
          </a:ln>
          <a:effectLst/>
        </p:spPr>
      </p:cxnSp>
      <p:cxnSp>
        <p:nvCxnSpPr>
          <p:cNvPr id="114" name="Straight Connector 79"/>
          <p:cNvCxnSpPr/>
          <p:nvPr/>
        </p:nvCxnSpPr>
        <p:spPr bwMode="gray">
          <a:xfrm flipH="1">
            <a:off x="4176088" y="3005211"/>
            <a:ext cx="887838" cy="1"/>
          </a:xfrm>
          <a:prstGeom prst="line">
            <a:avLst/>
          </a:prstGeom>
          <a:noFill/>
          <a:ln w="19050" cap="flat" cmpd="sng" algn="ctr">
            <a:solidFill>
              <a:sysClr val="windowText" lastClr="000000"/>
            </a:solidFill>
            <a:prstDash val="solid"/>
            <a:miter lim="800000"/>
          </a:ln>
          <a:effectLst/>
        </p:spPr>
      </p:cxnSp>
      <p:cxnSp>
        <p:nvCxnSpPr>
          <p:cNvPr id="115" name="Straight Connector 76"/>
          <p:cNvCxnSpPr/>
          <p:nvPr/>
        </p:nvCxnSpPr>
        <p:spPr bwMode="gray">
          <a:xfrm>
            <a:off x="845111" y="2407372"/>
            <a:ext cx="4611636" cy="0"/>
          </a:xfrm>
          <a:prstGeom prst="line">
            <a:avLst/>
          </a:prstGeom>
          <a:noFill/>
          <a:ln w="19050" cap="flat" cmpd="sng" algn="ctr">
            <a:solidFill>
              <a:sysClr val="window" lastClr="FFFFFF">
                <a:lumMod val="85000"/>
              </a:sysClr>
            </a:solidFill>
            <a:prstDash val="sysDot"/>
            <a:miter lim="800000"/>
          </a:ln>
          <a:effectLst/>
        </p:spPr>
      </p:cxnSp>
      <p:cxnSp>
        <p:nvCxnSpPr>
          <p:cNvPr id="116" name="Straight Connector 77"/>
          <p:cNvCxnSpPr/>
          <p:nvPr/>
        </p:nvCxnSpPr>
        <p:spPr bwMode="gray">
          <a:xfrm>
            <a:off x="845111" y="1478391"/>
            <a:ext cx="4611636" cy="0"/>
          </a:xfrm>
          <a:prstGeom prst="line">
            <a:avLst/>
          </a:prstGeom>
          <a:noFill/>
          <a:ln w="19050" cap="flat" cmpd="sng" algn="ctr">
            <a:solidFill>
              <a:sysClr val="window" lastClr="FFFFFF">
                <a:lumMod val="85000"/>
              </a:sysClr>
            </a:solidFill>
            <a:prstDash val="sysDot"/>
            <a:miter lim="800000"/>
          </a:ln>
          <a:effectLst/>
        </p:spPr>
      </p:cxnSp>
      <p:cxnSp>
        <p:nvCxnSpPr>
          <p:cNvPr id="117" name="Straight Connector 78"/>
          <p:cNvCxnSpPr/>
          <p:nvPr/>
        </p:nvCxnSpPr>
        <p:spPr bwMode="gray">
          <a:xfrm>
            <a:off x="845111" y="3570208"/>
            <a:ext cx="4611636" cy="0"/>
          </a:xfrm>
          <a:prstGeom prst="line">
            <a:avLst/>
          </a:prstGeom>
          <a:noFill/>
          <a:ln w="19050" cap="flat" cmpd="sng" algn="ctr">
            <a:solidFill>
              <a:sysClr val="window" lastClr="FFFFFF">
                <a:lumMod val="85000"/>
              </a:sysClr>
            </a:solidFill>
            <a:prstDash val="sysDot"/>
            <a:miter lim="800000"/>
          </a:ln>
          <a:effectLst/>
        </p:spPr>
      </p:cxnSp>
      <p:cxnSp>
        <p:nvCxnSpPr>
          <p:cNvPr id="118" name="Straight Connector 80"/>
          <p:cNvCxnSpPr/>
          <p:nvPr/>
        </p:nvCxnSpPr>
        <p:spPr bwMode="gray">
          <a:xfrm>
            <a:off x="845111" y="4259225"/>
            <a:ext cx="4611636" cy="0"/>
          </a:xfrm>
          <a:prstGeom prst="line">
            <a:avLst/>
          </a:prstGeom>
          <a:noFill/>
          <a:ln w="19050" cap="flat" cmpd="sng" algn="ctr">
            <a:solidFill>
              <a:sysClr val="window" lastClr="FFFFFF">
                <a:lumMod val="85000"/>
              </a:sysClr>
            </a:solidFill>
            <a:prstDash val="sysDot"/>
            <a:miter lim="800000"/>
          </a:ln>
          <a:effectLst/>
        </p:spPr>
      </p:cxnSp>
      <p:cxnSp>
        <p:nvCxnSpPr>
          <p:cNvPr id="119" name="Straight Connector 81"/>
          <p:cNvCxnSpPr/>
          <p:nvPr/>
        </p:nvCxnSpPr>
        <p:spPr bwMode="gray">
          <a:xfrm>
            <a:off x="845111" y="5459180"/>
            <a:ext cx="4611636" cy="0"/>
          </a:xfrm>
          <a:prstGeom prst="line">
            <a:avLst/>
          </a:prstGeom>
          <a:noFill/>
          <a:ln w="19050" cap="flat" cmpd="sng" algn="ctr">
            <a:solidFill>
              <a:sysClr val="window" lastClr="FFFFFF">
                <a:lumMod val="85000"/>
              </a:sysClr>
            </a:solidFill>
            <a:prstDash val="sysDot"/>
            <a:miter lim="800000"/>
          </a:ln>
          <a:effectLst/>
        </p:spPr>
      </p:cxnSp>
      <p:cxnSp>
        <p:nvCxnSpPr>
          <p:cNvPr id="120" name="Straight Connector 82"/>
          <p:cNvCxnSpPr/>
          <p:nvPr/>
        </p:nvCxnSpPr>
        <p:spPr bwMode="gray">
          <a:xfrm>
            <a:off x="845111" y="5959743"/>
            <a:ext cx="4611636" cy="0"/>
          </a:xfrm>
          <a:prstGeom prst="line">
            <a:avLst/>
          </a:prstGeom>
          <a:noFill/>
          <a:ln w="19050" cap="flat" cmpd="sng" algn="ctr">
            <a:solidFill>
              <a:sysClr val="window" lastClr="FFFFFF">
                <a:lumMod val="85000"/>
              </a:sysClr>
            </a:solidFill>
            <a:prstDash val="sysDot"/>
            <a:miter lim="800000"/>
          </a:ln>
          <a:effectLst/>
        </p:spPr>
      </p:cxnSp>
      <p:pic>
        <p:nvPicPr>
          <p:cNvPr id="121" name="图片 105" descr="AP.png"/>
          <p:cNvPicPr>
            <a:picLocks noChangeAspect="1"/>
          </p:cNvPicPr>
          <p:nvPr/>
        </p:nvPicPr>
        <p:blipFill>
          <a:blip r:embed="rId3" cstate="print"/>
          <a:stretch>
            <a:fillRect/>
          </a:stretch>
        </p:blipFill>
        <p:spPr bwMode="gray">
          <a:xfrm>
            <a:off x="4900666" y="5159297"/>
            <a:ext cx="335297" cy="274335"/>
          </a:xfrm>
          <a:prstGeom prst="rect">
            <a:avLst/>
          </a:prstGeom>
        </p:spPr>
      </p:pic>
      <p:cxnSp>
        <p:nvCxnSpPr>
          <p:cNvPr id="122" name="Straight Connector 74"/>
          <p:cNvCxnSpPr>
            <a:stCxn id="121" idx="0"/>
            <a:endCxn id="152" idx="2"/>
          </p:cNvCxnSpPr>
          <p:nvPr/>
        </p:nvCxnSpPr>
        <p:spPr bwMode="gray">
          <a:xfrm flipV="1">
            <a:off x="5068315" y="4927200"/>
            <a:ext cx="927" cy="232097"/>
          </a:xfrm>
          <a:prstGeom prst="line">
            <a:avLst/>
          </a:prstGeom>
          <a:noFill/>
          <a:ln w="19050" cap="flat" cmpd="sng" algn="ctr">
            <a:solidFill>
              <a:sysClr val="windowText" lastClr="000000"/>
            </a:solidFill>
            <a:prstDash val="solid"/>
            <a:miter lim="800000"/>
          </a:ln>
          <a:effectLst/>
        </p:spPr>
      </p:cxnSp>
      <p:pic>
        <p:nvPicPr>
          <p:cNvPr id="123" name="图片 105" descr="AP.png"/>
          <p:cNvPicPr>
            <a:picLocks noChangeAspect="1"/>
          </p:cNvPicPr>
          <p:nvPr/>
        </p:nvPicPr>
        <p:blipFill>
          <a:blip r:embed="rId3" cstate="print"/>
          <a:stretch>
            <a:fillRect/>
          </a:stretch>
        </p:blipFill>
        <p:spPr bwMode="gray">
          <a:xfrm>
            <a:off x="2886100" y="5159297"/>
            <a:ext cx="335297" cy="274335"/>
          </a:xfrm>
          <a:prstGeom prst="rect">
            <a:avLst/>
          </a:prstGeom>
        </p:spPr>
      </p:pic>
      <p:pic>
        <p:nvPicPr>
          <p:cNvPr id="124" name="图片 102" descr="AC-蓝.png"/>
          <p:cNvPicPr>
            <a:picLocks noChangeAspect="1"/>
          </p:cNvPicPr>
          <p:nvPr/>
        </p:nvPicPr>
        <p:blipFill>
          <a:blip r:embed="rId4" cstate="print"/>
          <a:stretch>
            <a:fillRect/>
          </a:stretch>
        </p:blipFill>
        <p:spPr bwMode="gray">
          <a:xfrm>
            <a:off x="2133499" y="2867310"/>
            <a:ext cx="337091" cy="275802"/>
          </a:xfrm>
          <a:prstGeom prst="rect">
            <a:avLst/>
          </a:prstGeom>
        </p:spPr>
      </p:pic>
      <p:pic>
        <p:nvPicPr>
          <p:cNvPr id="125" name="图片 86" descr="核心交换机.png"/>
          <p:cNvPicPr>
            <a:picLocks noChangeAspect="1"/>
          </p:cNvPicPr>
          <p:nvPr/>
        </p:nvPicPr>
        <p:blipFill>
          <a:blip r:embed="rId5" cstate="print"/>
          <a:stretch>
            <a:fillRect/>
          </a:stretch>
        </p:blipFill>
        <p:spPr bwMode="gray">
          <a:xfrm>
            <a:off x="3072618" y="2868044"/>
            <a:ext cx="335297" cy="274335"/>
          </a:xfrm>
          <a:prstGeom prst="rect">
            <a:avLst/>
          </a:prstGeom>
        </p:spPr>
      </p:pic>
      <p:pic>
        <p:nvPicPr>
          <p:cNvPr id="126" name="图片 86" descr="核心交换机.png"/>
          <p:cNvPicPr>
            <a:picLocks noChangeAspect="1"/>
          </p:cNvPicPr>
          <p:nvPr/>
        </p:nvPicPr>
        <p:blipFill>
          <a:blip r:embed="rId5" cstate="print"/>
          <a:stretch>
            <a:fillRect/>
          </a:stretch>
        </p:blipFill>
        <p:spPr bwMode="gray">
          <a:xfrm>
            <a:off x="3894340" y="2868044"/>
            <a:ext cx="335297" cy="274335"/>
          </a:xfrm>
          <a:prstGeom prst="rect">
            <a:avLst/>
          </a:prstGeom>
        </p:spPr>
      </p:pic>
      <p:cxnSp>
        <p:nvCxnSpPr>
          <p:cNvPr id="127" name="Straight Connector 13"/>
          <p:cNvCxnSpPr>
            <a:stCxn id="125" idx="3"/>
            <a:endCxn id="126" idx="1"/>
          </p:cNvCxnSpPr>
          <p:nvPr/>
        </p:nvCxnSpPr>
        <p:spPr bwMode="gray">
          <a:xfrm>
            <a:off x="3407915" y="3005212"/>
            <a:ext cx="486425" cy="0"/>
          </a:xfrm>
          <a:prstGeom prst="line">
            <a:avLst/>
          </a:prstGeom>
          <a:noFill/>
          <a:ln w="19050" cap="flat" cmpd="sng" algn="ctr">
            <a:solidFill>
              <a:srgbClr val="0070C0"/>
            </a:solidFill>
            <a:prstDash val="solid"/>
            <a:miter lim="800000"/>
          </a:ln>
          <a:effectLst/>
        </p:spPr>
      </p:cxnSp>
      <p:pic>
        <p:nvPicPr>
          <p:cNvPr id="128" name="图片 87" descr="汇聚交换机.png"/>
          <p:cNvPicPr>
            <a:picLocks noChangeAspect="1"/>
          </p:cNvPicPr>
          <p:nvPr/>
        </p:nvPicPr>
        <p:blipFill>
          <a:blip r:embed="rId6" cstate="print"/>
          <a:stretch>
            <a:fillRect/>
          </a:stretch>
        </p:blipFill>
        <p:spPr bwMode="gray">
          <a:xfrm>
            <a:off x="2067338" y="3770805"/>
            <a:ext cx="335297" cy="274335"/>
          </a:xfrm>
          <a:prstGeom prst="rect">
            <a:avLst/>
          </a:prstGeom>
        </p:spPr>
      </p:pic>
      <p:pic>
        <p:nvPicPr>
          <p:cNvPr id="129" name="图片 87" descr="汇聚交换机.png"/>
          <p:cNvPicPr>
            <a:picLocks noChangeAspect="1"/>
          </p:cNvPicPr>
          <p:nvPr/>
        </p:nvPicPr>
        <p:blipFill>
          <a:blip r:embed="rId6" cstate="print"/>
          <a:stretch>
            <a:fillRect/>
          </a:stretch>
        </p:blipFill>
        <p:spPr bwMode="gray">
          <a:xfrm>
            <a:off x="2887087" y="3770805"/>
            <a:ext cx="335297" cy="274335"/>
          </a:xfrm>
          <a:prstGeom prst="rect">
            <a:avLst/>
          </a:prstGeom>
        </p:spPr>
      </p:pic>
      <p:cxnSp>
        <p:nvCxnSpPr>
          <p:cNvPr id="130" name="Straight Connector 16"/>
          <p:cNvCxnSpPr>
            <a:stCxn id="128" idx="3"/>
            <a:endCxn id="129" idx="1"/>
          </p:cNvCxnSpPr>
          <p:nvPr/>
        </p:nvCxnSpPr>
        <p:spPr bwMode="gray">
          <a:xfrm>
            <a:off x="2402635" y="3907973"/>
            <a:ext cx="484452" cy="0"/>
          </a:xfrm>
          <a:prstGeom prst="line">
            <a:avLst/>
          </a:prstGeom>
          <a:noFill/>
          <a:ln w="19050" cap="flat" cmpd="sng" algn="ctr">
            <a:solidFill>
              <a:srgbClr val="0070C0"/>
            </a:solidFill>
            <a:prstDash val="solid"/>
            <a:miter lim="800000"/>
          </a:ln>
          <a:effectLst/>
        </p:spPr>
      </p:cxnSp>
      <p:cxnSp>
        <p:nvCxnSpPr>
          <p:cNvPr id="131" name="Straight Connector 19"/>
          <p:cNvCxnSpPr/>
          <p:nvPr/>
        </p:nvCxnSpPr>
        <p:spPr bwMode="gray">
          <a:xfrm>
            <a:off x="3980024" y="6082853"/>
            <a:ext cx="268482" cy="0"/>
          </a:xfrm>
          <a:prstGeom prst="line">
            <a:avLst/>
          </a:prstGeom>
          <a:noFill/>
          <a:ln w="19050" cap="flat" cmpd="sng" algn="ctr">
            <a:solidFill>
              <a:srgbClr val="0070C0"/>
            </a:solidFill>
            <a:prstDash val="solid"/>
            <a:miter lim="800000"/>
          </a:ln>
          <a:effectLst/>
        </p:spPr>
      </p:cxnSp>
      <p:sp>
        <p:nvSpPr>
          <p:cNvPr id="132" name="TextBox 20"/>
          <p:cNvSpPr txBox="1"/>
          <p:nvPr/>
        </p:nvSpPr>
        <p:spPr bwMode="gray">
          <a:xfrm>
            <a:off x="4248506" y="5951013"/>
            <a:ext cx="1223412" cy="276999"/>
          </a:xfrm>
          <a:prstGeom prst="rect">
            <a:avLst/>
          </a:prstGeom>
          <a:noFill/>
        </p:spPr>
        <p:txBody>
          <a:bodyPr wrap="none" rtlCol="0">
            <a:spAutoFit/>
          </a:bodyPr>
          <a:lstStyle/>
          <a:p>
            <a:pPr fontAlgn="auto">
              <a:spcBef>
                <a:spcPts val="0"/>
              </a:spcBef>
              <a:spcAft>
                <a:spcPts val="0"/>
              </a:spcAft>
            </a:pPr>
            <a:r>
              <a:rPr lang="en-US" altLang="zh-CN" sz="1200" dirty="0" err="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iStack</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/CSS</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链路</a:t>
            </a:r>
          </a:p>
        </p:txBody>
      </p:sp>
      <p:pic>
        <p:nvPicPr>
          <p:cNvPr id="133" name="图片 87" descr="汇聚交换机.png"/>
          <p:cNvPicPr>
            <a:picLocks noChangeAspect="1"/>
          </p:cNvPicPr>
          <p:nvPr/>
        </p:nvPicPr>
        <p:blipFill>
          <a:blip r:embed="rId6" cstate="print"/>
          <a:stretch>
            <a:fillRect/>
          </a:stretch>
        </p:blipFill>
        <p:spPr bwMode="gray">
          <a:xfrm>
            <a:off x="4080857" y="3770805"/>
            <a:ext cx="335297" cy="274335"/>
          </a:xfrm>
          <a:prstGeom prst="rect">
            <a:avLst/>
          </a:prstGeom>
        </p:spPr>
      </p:pic>
      <p:pic>
        <p:nvPicPr>
          <p:cNvPr id="134" name="图片 87" descr="汇聚交换机.png"/>
          <p:cNvPicPr>
            <a:picLocks noChangeAspect="1"/>
          </p:cNvPicPr>
          <p:nvPr/>
        </p:nvPicPr>
        <p:blipFill>
          <a:blip r:embed="rId6" cstate="print"/>
          <a:stretch>
            <a:fillRect/>
          </a:stretch>
        </p:blipFill>
        <p:spPr bwMode="gray">
          <a:xfrm>
            <a:off x="4901593" y="3770805"/>
            <a:ext cx="335297" cy="274335"/>
          </a:xfrm>
          <a:prstGeom prst="rect">
            <a:avLst/>
          </a:prstGeom>
        </p:spPr>
      </p:pic>
      <p:cxnSp>
        <p:nvCxnSpPr>
          <p:cNvPr id="135" name="Straight Connector 29"/>
          <p:cNvCxnSpPr>
            <a:stCxn id="133" idx="3"/>
            <a:endCxn id="134" idx="1"/>
          </p:cNvCxnSpPr>
          <p:nvPr/>
        </p:nvCxnSpPr>
        <p:spPr bwMode="gray">
          <a:xfrm>
            <a:off x="4416154" y="3907973"/>
            <a:ext cx="485439" cy="0"/>
          </a:xfrm>
          <a:prstGeom prst="line">
            <a:avLst/>
          </a:prstGeom>
          <a:noFill/>
          <a:ln w="19050" cap="flat" cmpd="sng" algn="ctr">
            <a:solidFill>
              <a:srgbClr val="0070C0"/>
            </a:solidFill>
            <a:prstDash val="solid"/>
            <a:miter lim="800000"/>
          </a:ln>
          <a:effectLst/>
        </p:spPr>
      </p:cxnSp>
      <p:cxnSp>
        <p:nvCxnSpPr>
          <p:cNvPr id="136" name="Straight Connector 30"/>
          <p:cNvCxnSpPr>
            <a:stCxn id="128" idx="0"/>
            <a:endCxn id="125" idx="2"/>
          </p:cNvCxnSpPr>
          <p:nvPr/>
        </p:nvCxnSpPr>
        <p:spPr bwMode="gray">
          <a:xfrm flipV="1">
            <a:off x="2234987" y="3142379"/>
            <a:ext cx="1005280" cy="628426"/>
          </a:xfrm>
          <a:prstGeom prst="line">
            <a:avLst/>
          </a:prstGeom>
          <a:noFill/>
          <a:ln w="19050" cap="flat" cmpd="sng" algn="ctr">
            <a:solidFill>
              <a:sysClr val="windowText" lastClr="000000"/>
            </a:solidFill>
            <a:prstDash val="solid"/>
            <a:miter lim="800000"/>
          </a:ln>
          <a:effectLst/>
        </p:spPr>
      </p:cxnSp>
      <p:cxnSp>
        <p:nvCxnSpPr>
          <p:cNvPr id="137" name="Straight Connector 33"/>
          <p:cNvCxnSpPr>
            <a:stCxn id="129" idx="0"/>
            <a:endCxn id="126" idx="2"/>
          </p:cNvCxnSpPr>
          <p:nvPr/>
        </p:nvCxnSpPr>
        <p:spPr bwMode="gray">
          <a:xfrm flipV="1">
            <a:off x="3054736" y="3142379"/>
            <a:ext cx="1007253" cy="628426"/>
          </a:xfrm>
          <a:prstGeom prst="line">
            <a:avLst/>
          </a:prstGeom>
          <a:noFill/>
          <a:ln w="19050" cap="flat" cmpd="sng" algn="ctr">
            <a:solidFill>
              <a:sysClr val="windowText" lastClr="000000"/>
            </a:solidFill>
            <a:prstDash val="solid"/>
            <a:miter lim="800000"/>
          </a:ln>
          <a:effectLst/>
        </p:spPr>
      </p:cxnSp>
      <p:cxnSp>
        <p:nvCxnSpPr>
          <p:cNvPr id="138" name="Straight Connector 36"/>
          <p:cNvCxnSpPr>
            <a:stCxn id="133" idx="0"/>
            <a:endCxn id="125" idx="2"/>
          </p:cNvCxnSpPr>
          <p:nvPr/>
        </p:nvCxnSpPr>
        <p:spPr bwMode="gray">
          <a:xfrm flipH="1" flipV="1">
            <a:off x="3240267" y="3142379"/>
            <a:ext cx="1008239" cy="628426"/>
          </a:xfrm>
          <a:prstGeom prst="line">
            <a:avLst/>
          </a:prstGeom>
          <a:noFill/>
          <a:ln w="19050" cap="flat" cmpd="sng" algn="ctr">
            <a:solidFill>
              <a:sysClr val="windowText" lastClr="000000"/>
            </a:solidFill>
            <a:prstDash val="solid"/>
            <a:miter lim="800000"/>
          </a:ln>
          <a:effectLst/>
        </p:spPr>
      </p:cxnSp>
      <p:cxnSp>
        <p:nvCxnSpPr>
          <p:cNvPr id="139" name="Straight Connector 39"/>
          <p:cNvCxnSpPr>
            <a:stCxn id="134" idx="0"/>
            <a:endCxn id="126" idx="2"/>
          </p:cNvCxnSpPr>
          <p:nvPr/>
        </p:nvCxnSpPr>
        <p:spPr bwMode="gray">
          <a:xfrm flipH="1" flipV="1">
            <a:off x="4061989" y="3142379"/>
            <a:ext cx="1007253" cy="628426"/>
          </a:xfrm>
          <a:prstGeom prst="line">
            <a:avLst/>
          </a:prstGeom>
          <a:noFill/>
          <a:ln w="19050" cap="flat" cmpd="sng" algn="ctr">
            <a:solidFill>
              <a:sysClr val="windowText" lastClr="000000"/>
            </a:solidFill>
            <a:prstDash val="solid"/>
            <a:miter lim="800000"/>
          </a:ln>
          <a:effectLst/>
        </p:spPr>
      </p:cxnSp>
      <p:sp>
        <p:nvSpPr>
          <p:cNvPr id="140" name="Oval 42"/>
          <p:cNvSpPr/>
          <p:nvPr/>
        </p:nvSpPr>
        <p:spPr bwMode="gray">
          <a:xfrm rot="3077028">
            <a:off x="2848295" y="3421118"/>
            <a:ext cx="580554" cy="91395"/>
          </a:xfrm>
          <a:prstGeom prst="ellipse">
            <a:avLst/>
          </a:prstGeom>
          <a:noFill/>
          <a:ln w="190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41" name="图片 106" descr="堆叠交换机蓝.png"/>
          <p:cNvPicPr>
            <a:picLocks noChangeAspect="1"/>
          </p:cNvPicPr>
          <p:nvPr/>
        </p:nvPicPr>
        <p:blipFill>
          <a:blip r:embed="rId7" cstate="print"/>
          <a:stretch>
            <a:fillRect/>
          </a:stretch>
        </p:blipFill>
        <p:spPr bwMode="gray">
          <a:xfrm>
            <a:off x="2066441" y="4651398"/>
            <a:ext cx="337091" cy="275802"/>
          </a:xfrm>
          <a:prstGeom prst="rect">
            <a:avLst/>
          </a:prstGeom>
        </p:spPr>
      </p:pic>
      <p:pic>
        <p:nvPicPr>
          <p:cNvPr id="142" name="图片 106" descr="堆叠交换机蓝.png"/>
          <p:cNvPicPr>
            <a:picLocks noChangeAspect="1"/>
          </p:cNvPicPr>
          <p:nvPr/>
        </p:nvPicPr>
        <p:blipFill>
          <a:blip r:embed="rId7" cstate="print"/>
          <a:stretch>
            <a:fillRect/>
          </a:stretch>
        </p:blipFill>
        <p:spPr bwMode="gray">
          <a:xfrm>
            <a:off x="2886190" y="4651398"/>
            <a:ext cx="337091" cy="275802"/>
          </a:xfrm>
          <a:prstGeom prst="rect">
            <a:avLst/>
          </a:prstGeom>
        </p:spPr>
      </p:pic>
      <p:cxnSp>
        <p:nvCxnSpPr>
          <p:cNvPr id="143" name="Straight Connector 34"/>
          <p:cNvCxnSpPr>
            <a:stCxn id="141" idx="0"/>
            <a:endCxn id="128" idx="2"/>
          </p:cNvCxnSpPr>
          <p:nvPr/>
        </p:nvCxnSpPr>
        <p:spPr bwMode="gray">
          <a:xfrm flipV="1">
            <a:off x="2234987" y="4045140"/>
            <a:ext cx="0" cy="606258"/>
          </a:xfrm>
          <a:prstGeom prst="line">
            <a:avLst/>
          </a:prstGeom>
          <a:noFill/>
          <a:ln w="19050" cap="flat" cmpd="sng" algn="ctr">
            <a:solidFill>
              <a:sysClr val="windowText" lastClr="000000"/>
            </a:solidFill>
            <a:prstDash val="solid"/>
            <a:miter lim="800000"/>
          </a:ln>
          <a:effectLst/>
        </p:spPr>
      </p:cxnSp>
      <p:cxnSp>
        <p:nvCxnSpPr>
          <p:cNvPr id="144" name="Straight Connector 35"/>
          <p:cNvCxnSpPr>
            <a:stCxn id="141" idx="0"/>
            <a:endCxn id="129" idx="2"/>
          </p:cNvCxnSpPr>
          <p:nvPr/>
        </p:nvCxnSpPr>
        <p:spPr bwMode="gray">
          <a:xfrm flipV="1">
            <a:off x="2234987" y="4045140"/>
            <a:ext cx="819749" cy="606258"/>
          </a:xfrm>
          <a:prstGeom prst="line">
            <a:avLst/>
          </a:prstGeom>
          <a:noFill/>
          <a:ln w="19050" cap="flat" cmpd="sng" algn="ctr">
            <a:solidFill>
              <a:sysClr val="windowText" lastClr="000000"/>
            </a:solidFill>
            <a:prstDash val="solid"/>
            <a:miter lim="800000"/>
          </a:ln>
          <a:effectLst/>
        </p:spPr>
      </p:cxnSp>
      <p:cxnSp>
        <p:nvCxnSpPr>
          <p:cNvPr id="145" name="Straight Connector 37"/>
          <p:cNvCxnSpPr>
            <a:stCxn id="142" idx="0"/>
            <a:endCxn id="128" idx="2"/>
          </p:cNvCxnSpPr>
          <p:nvPr/>
        </p:nvCxnSpPr>
        <p:spPr bwMode="gray">
          <a:xfrm flipH="1" flipV="1">
            <a:off x="2234987" y="4045140"/>
            <a:ext cx="819749" cy="606258"/>
          </a:xfrm>
          <a:prstGeom prst="line">
            <a:avLst/>
          </a:prstGeom>
          <a:noFill/>
          <a:ln w="19050" cap="flat" cmpd="sng" algn="ctr">
            <a:solidFill>
              <a:sysClr val="windowText" lastClr="000000"/>
            </a:solidFill>
            <a:prstDash val="solid"/>
            <a:miter lim="800000"/>
          </a:ln>
          <a:effectLst/>
        </p:spPr>
      </p:cxnSp>
      <p:cxnSp>
        <p:nvCxnSpPr>
          <p:cNvPr id="146" name="Straight Connector 38"/>
          <p:cNvCxnSpPr>
            <a:stCxn id="142" idx="0"/>
            <a:endCxn id="129" idx="2"/>
          </p:cNvCxnSpPr>
          <p:nvPr/>
        </p:nvCxnSpPr>
        <p:spPr bwMode="gray">
          <a:xfrm flipV="1">
            <a:off x="3054736" y="4045140"/>
            <a:ext cx="0" cy="606258"/>
          </a:xfrm>
          <a:prstGeom prst="line">
            <a:avLst/>
          </a:prstGeom>
          <a:noFill/>
          <a:ln w="19050" cap="flat" cmpd="sng" algn="ctr">
            <a:solidFill>
              <a:sysClr val="windowText" lastClr="000000"/>
            </a:solidFill>
            <a:prstDash val="solid"/>
            <a:miter lim="800000"/>
          </a:ln>
          <a:effectLst/>
        </p:spPr>
      </p:cxnSp>
      <p:grpSp>
        <p:nvGrpSpPr>
          <p:cNvPr id="147" name="Group 40"/>
          <p:cNvGrpSpPr/>
          <p:nvPr/>
        </p:nvGrpSpPr>
        <p:grpSpPr bwMode="gray">
          <a:xfrm>
            <a:off x="2513878" y="4757501"/>
            <a:ext cx="261965" cy="61979"/>
            <a:chOff x="559282" y="6488261"/>
            <a:chExt cx="261965" cy="61979"/>
          </a:xfrm>
          <a:solidFill>
            <a:sysClr val="window" lastClr="FFFFFF">
              <a:lumMod val="50000"/>
            </a:sysClr>
          </a:solidFill>
        </p:grpSpPr>
        <p:sp>
          <p:nvSpPr>
            <p:cNvPr id="148" name="Oval 41"/>
            <p:cNvSpPr>
              <a:spLocks noChangeAspect="1"/>
            </p:cNvSpPr>
            <p:nvPr/>
          </p:nvSpPr>
          <p:spPr bwMode="gray">
            <a:xfrm>
              <a:off x="759268" y="6488261"/>
              <a:ext cx="61979" cy="61979"/>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9" name="Oval 44"/>
            <p:cNvSpPr>
              <a:spLocks noChangeAspect="1"/>
            </p:cNvSpPr>
            <p:nvPr/>
          </p:nvSpPr>
          <p:spPr bwMode="gray">
            <a:xfrm>
              <a:off x="559282" y="6488261"/>
              <a:ext cx="61979" cy="61979"/>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0" name="Oval 45"/>
            <p:cNvSpPr>
              <a:spLocks noChangeAspect="1"/>
            </p:cNvSpPr>
            <p:nvPr/>
          </p:nvSpPr>
          <p:spPr bwMode="gray">
            <a:xfrm>
              <a:off x="659275" y="6488261"/>
              <a:ext cx="61979" cy="61979"/>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151" name="图片 106" descr="堆叠交换机蓝.png"/>
          <p:cNvPicPr>
            <a:picLocks noChangeAspect="1"/>
          </p:cNvPicPr>
          <p:nvPr/>
        </p:nvPicPr>
        <p:blipFill>
          <a:blip r:embed="rId7" cstate="print"/>
          <a:stretch>
            <a:fillRect/>
          </a:stretch>
        </p:blipFill>
        <p:spPr bwMode="gray">
          <a:xfrm>
            <a:off x="4079960" y="4651398"/>
            <a:ext cx="337091" cy="275802"/>
          </a:xfrm>
          <a:prstGeom prst="rect">
            <a:avLst/>
          </a:prstGeom>
        </p:spPr>
      </p:pic>
      <p:pic>
        <p:nvPicPr>
          <p:cNvPr id="152" name="图片 106" descr="堆叠交换机蓝.png"/>
          <p:cNvPicPr>
            <a:picLocks noChangeAspect="1"/>
          </p:cNvPicPr>
          <p:nvPr/>
        </p:nvPicPr>
        <p:blipFill>
          <a:blip r:embed="rId7" cstate="print"/>
          <a:stretch>
            <a:fillRect/>
          </a:stretch>
        </p:blipFill>
        <p:spPr bwMode="gray">
          <a:xfrm>
            <a:off x="4900696" y="4651398"/>
            <a:ext cx="337091" cy="275802"/>
          </a:xfrm>
          <a:prstGeom prst="rect">
            <a:avLst/>
          </a:prstGeom>
        </p:spPr>
      </p:pic>
      <p:grpSp>
        <p:nvGrpSpPr>
          <p:cNvPr id="153" name="Group 54"/>
          <p:cNvGrpSpPr/>
          <p:nvPr/>
        </p:nvGrpSpPr>
        <p:grpSpPr bwMode="gray">
          <a:xfrm>
            <a:off x="4528384" y="4757501"/>
            <a:ext cx="261965" cy="61979"/>
            <a:chOff x="559282" y="6488261"/>
            <a:chExt cx="261965" cy="61979"/>
          </a:xfrm>
          <a:solidFill>
            <a:sysClr val="window" lastClr="FFFFFF">
              <a:lumMod val="50000"/>
            </a:sysClr>
          </a:solidFill>
        </p:grpSpPr>
        <p:sp>
          <p:nvSpPr>
            <p:cNvPr id="154" name="Oval 55"/>
            <p:cNvSpPr>
              <a:spLocks noChangeAspect="1"/>
            </p:cNvSpPr>
            <p:nvPr/>
          </p:nvSpPr>
          <p:spPr bwMode="gray">
            <a:xfrm>
              <a:off x="759268" y="6488261"/>
              <a:ext cx="61979" cy="61979"/>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5" name="Oval 56"/>
            <p:cNvSpPr>
              <a:spLocks noChangeAspect="1"/>
            </p:cNvSpPr>
            <p:nvPr/>
          </p:nvSpPr>
          <p:spPr bwMode="gray">
            <a:xfrm>
              <a:off x="559282" y="6488261"/>
              <a:ext cx="61979" cy="61979"/>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6" name="Oval 57"/>
            <p:cNvSpPr>
              <a:spLocks noChangeAspect="1"/>
            </p:cNvSpPr>
            <p:nvPr/>
          </p:nvSpPr>
          <p:spPr bwMode="gray">
            <a:xfrm>
              <a:off x="659275" y="6488261"/>
              <a:ext cx="61979" cy="61979"/>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157" name="Straight Connector 58"/>
          <p:cNvCxnSpPr>
            <a:stCxn id="151" idx="0"/>
            <a:endCxn id="133" idx="2"/>
          </p:cNvCxnSpPr>
          <p:nvPr/>
        </p:nvCxnSpPr>
        <p:spPr bwMode="gray">
          <a:xfrm flipV="1">
            <a:off x="4248506" y="4045140"/>
            <a:ext cx="0" cy="606258"/>
          </a:xfrm>
          <a:prstGeom prst="line">
            <a:avLst/>
          </a:prstGeom>
          <a:noFill/>
          <a:ln w="19050" cap="flat" cmpd="sng" algn="ctr">
            <a:solidFill>
              <a:sysClr val="windowText" lastClr="000000"/>
            </a:solidFill>
            <a:prstDash val="solid"/>
            <a:miter lim="800000"/>
          </a:ln>
          <a:effectLst/>
        </p:spPr>
      </p:cxnSp>
      <p:cxnSp>
        <p:nvCxnSpPr>
          <p:cNvPr id="158" name="Straight Connector 61"/>
          <p:cNvCxnSpPr>
            <a:stCxn id="152" idx="0"/>
            <a:endCxn id="134" idx="2"/>
          </p:cNvCxnSpPr>
          <p:nvPr/>
        </p:nvCxnSpPr>
        <p:spPr bwMode="gray">
          <a:xfrm flipV="1">
            <a:off x="5069242" y="4045140"/>
            <a:ext cx="0" cy="606258"/>
          </a:xfrm>
          <a:prstGeom prst="line">
            <a:avLst/>
          </a:prstGeom>
          <a:noFill/>
          <a:ln w="19050" cap="flat" cmpd="sng" algn="ctr">
            <a:solidFill>
              <a:sysClr val="windowText" lastClr="000000"/>
            </a:solidFill>
            <a:prstDash val="solid"/>
            <a:miter lim="800000"/>
          </a:ln>
          <a:effectLst/>
        </p:spPr>
      </p:cxnSp>
      <p:cxnSp>
        <p:nvCxnSpPr>
          <p:cNvPr id="159" name="Straight Connector 64"/>
          <p:cNvCxnSpPr>
            <a:stCxn id="151" idx="0"/>
            <a:endCxn id="134" idx="2"/>
          </p:cNvCxnSpPr>
          <p:nvPr/>
        </p:nvCxnSpPr>
        <p:spPr bwMode="gray">
          <a:xfrm flipV="1">
            <a:off x="4248506" y="4045140"/>
            <a:ext cx="820736" cy="606258"/>
          </a:xfrm>
          <a:prstGeom prst="line">
            <a:avLst/>
          </a:prstGeom>
          <a:noFill/>
          <a:ln w="19050" cap="flat" cmpd="sng" algn="ctr">
            <a:solidFill>
              <a:sysClr val="windowText" lastClr="000000"/>
            </a:solidFill>
            <a:prstDash val="solid"/>
            <a:miter lim="800000"/>
          </a:ln>
          <a:effectLst/>
        </p:spPr>
      </p:cxnSp>
      <p:cxnSp>
        <p:nvCxnSpPr>
          <p:cNvPr id="160" name="Straight Connector 67"/>
          <p:cNvCxnSpPr>
            <a:stCxn id="152" idx="0"/>
            <a:endCxn id="133" idx="2"/>
          </p:cNvCxnSpPr>
          <p:nvPr/>
        </p:nvCxnSpPr>
        <p:spPr bwMode="gray">
          <a:xfrm flipH="1" flipV="1">
            <a:off x="4248506" y="4045140"/>
            <a:ext cx="820736" cy="606258"/>
          </a:xfrm>
          <a:prstGeom prst="line">
            <a:avLst/>
          </a:prstGeom>
          <a:noFill/>
          <a:ln w="19050" cap="flat" cmpd="sng" algn="ctr">
            <a:solidFill>
              <a:sysClr val="windowText" lastClr="000000"/>
            </a:solidFill>
            <a:prstDash val="solid"/>
            <a:miter lim="800000"/>
          </a:ln>
          <a:effectLst/>
        </p:spPr>
      </p:cxnSp>
      <p:cxnSp>
        <p:nvCxnSpPr>
          <p:cNvPr id="161" name="Straight Connector 70"/>
          <p:cNvCxnSpPr>
            <a:stCxn id="123" idx="0"/>
            <a:endCxn id="142" idx="2"/>
          </p:cNvCxnSpPr>
          <p:nvPr/>
        </p:nvCxnSpPr>
        <p:spPr bwMode="gray">
          <a:xfrm flipV="1">
            <a:off x="3053749" y="4927200"/>
            <a:ext cx="987" cy="232097"/>
          </a:xfrm>
          <a:prstGeom prst="line">
            <a:avLst/>
          </a:prstGeom>
          <a:noFill/>
          <a:ln w="19050" cap="flat" cmpd="sng" algn="ctr">
            <a:solidFill>
              <a:sysClr val="windowText" lastClr="000000"/>
            </a:solidFill>
            <a:prstDash val="solid"/>
            <a:miter lim="800000"/>
          </a:ln>
          <a:effectLst/>
        </p:spPr>
      </p:cxnSp>
      <p:cxnSp>
        <p:nvCxnSpPr>
          <p:cNvPr id="162" name="Straight Connector 79"/>
          <p:cNvCxnSpPr>
            <a:stCxn id="125" idx="1"/>
            <a:endCxn id="124" idx="3"/>
          </p:cNvCxnSpPr>
          <p:nvPr/>
        </p:nvCxnSpPr>
        <p:spPr bwMode="gray">
          <a:xfrm flipH="1" flipV="1">
            <a:off x="2470590" y="3005211"/>
            <a:ext cx="602028" cy="1"/>
          </a:xfrm>
          <a:prstGeom prst="line">
            <a:avLst/>
          </a:prstGeom>
          <a:noFill/>
          <a:ln w="19050" cap="flat" cmpd="sng" algn="ctr">
            <a:solidFill>
              <a:sysClr val="windowText" lastClr="000000"/>
            </a:solidFill>
            <a:prstDash val="solid"/>
            <a:miter lim="800000"/>
          </a:ln>
          <a:effectLst/>
        </p:spPr>
      </p:cxnSp>
      <p:pic>
        <p:nvPicPr>
          <p:cNvPr id="163" name="Picture 2" descr="G:\做的项目\公共\扁平图标切换\更新2015_01_21\oss扁平图标库2015_01_21更新-04.png"/>
          <p:cNvPicPr>
            <a:picLocks noChangeAspect="1" noChangeArrowheads="1"/>
          </p:cNvPicPr>
          <p:nvPr/>
        </p:nvPicPr>
        <p:blipFill>
          <a:blip r:embed="rId8" cstate="print"/>
          <a:stretch>
            <a:fillRect/>
          </a:stretch>
        </p:blipFill>
        <p:spPr bwMode="gray">
          <a:xfrm>
            <a:off x="3069617" y="1592807"/>
            <a:ext cx="337091" cy="275801"/>
          </a:xfrm>
          <a:prstGeom prst="rect">
            <a:avLst/>
          </a:prstGeom>
          <a:noFill/>
        </p:spPr>
      </p:pic>
      <p:pic>
        <p:nvPicPr>
          <p:cNvPr id="164" name="Picture 2" descr="G:\做的项目\公共\扁平图标切换\更新2015_01_21\oss扁平图标库2015_01_21更新-04.png"/>
          <p:cNvPicPr>
            <a:picLocks noChangeAspect="1" noChangeArrowheads="1"/>
          </p:cNvPicPr>
          <p:nvPr/>
        </p:nvPicPr>
        <p:blipFill>
          <a:blip r:embed="rId8" cstate="print"/>
          <a:stretch>
            <a:fillRect/>
          </a:stretch>
        </p:blipFill>
        <p:spPr bwMode="gray">
          <a:xfrm>
            <a:off x="3893443" y="1592807"/>
            <a:ext cx="337091" cy="275801"/>
          </a:xfrm>
          <a:prstGeom prst="rect">
            <a:avLst/>
          </a:prstGeom>
          <a:noFill/>
        </p:spPr>
      </p:pic>
      <p:cxnSp>
        <p:nvCxnSpPr>
          <p:cNvPr id="165" name="Straight Connector 98"/>
          <p:cNvCxnSpPr>
            <a:stCxn id="164" idx="2"/>
            <a:endCxn id="126" idx="0"/>
          </p:cNvCxnSpPr>
          <p:nvPr/>
        </p:nvCxnSpPr>
        <p:spPr bwMode="gray">
          <a:xfrm>
            <a:off x="4061989" y="1868608"/>
            <a:ext cx="0" cy="999436"/>
          </a:xfrm>
          <a:prstGeom prst="line">
            <a:avLst/>
          </a:prstGeom>
          <a:noFill/>
          <a:ln w="19050" cap="flat" cmpd="sng" algn="ctr">
            <a:solidFill>
              <a:sysClr val="windowText" lastClr="000000"/>
            </a:solidFill>
            <a:prstDash val="solid"/>
            <a:miter lim="800000"/>
          </a:ln>
          <a:effectLst/>
        </p:spPr>
      </p:cxnSp>
      <p:cxnSp>
        <p:nvCxnSpPr>
          <p:cNvPr id="166" name="Straight Connector 101"/>
          <p:cNvCxnSpPr>
            <a:stCxn id="163" idx="2"/>
            <a:endCxn id="125" idx="0"/>
          </p:cNvCxnSpPr>
          <p:nvPr/>
        </p:nvCxnSpPr>
        <p:spPr bwMode="gray">
          <a:xfrm>
            <a:off x="3238163" y="1868608"/>
            <a:ext cx="2104" cy="999436"/>
          </a:xfrm>
          <a:prstGeom prst="line">
            <a:avLst/>
          </a:prstGeom>
          <a:noFill/>
          <a:ln w="19050" cap="flat" cmpd="sng" algn="ctr">
            <a:solidFill>
              <a:sysClr val="windowText" lastClr="000000"/>
            </a:solidFill>
            <a:prstDash val="solid"/>
            <a:miter lim="800000"/>
          </a:ln>
          <a:effectLst/>
        </p:spPr>
      </p:cxnSp>
      <p:cxnSp>
        <p:nvCxnSpPr>
          <p:cNvPr id="167" name="Straight Connector 104"/>
          <p:cNvCxnSpPr>
            <a:stCxn id="163" idx="3"/>
            <a:endCxn id="164" idx="1"/>
          </p:cNvCxnSpPr>
          <p:nvPr/>
        </p:nvCxnSpPr>
        <p:spPr bwMode="gray">
          <a:xfrm>
            <a:off x="3406708" y="1730708"/>
            <a:ext cx="486735" cy="0"/>
          </a:xfrm>
          <a:prstGeom prst="line">
            <a:avLst/>
          </a:prstGeom>
          <a:noFill/>
          <a:ln w="19050" cap="flat" cmpd="sng" algn="ctr">
            <a:solidFill>
              <a:sysClr val="windowText" lastClr="000000"/>
            </a:solidFill>
            <a:prstDash val="solid"/>
            <a:miter lim="800000"/>
          </a:ln>
          <a:effectLst/>
        </p:spPr>
      </p:cxnSp>
      <p:sp>
        <p:nvSpPr>
          <p:cNvPr id="168" name="Oval 59"/>
          <p:cNvSpPr/>
          <p:nvPr/>
        </p:nvSpPr>
        <p:spPr bwMode="gray">
          <a:xfrm rot="1782887">
            <a:off x="2157803" y="4446857"/>
            <a:ext cx="311619" cy="90813"/>
          </a:xfrm>
          <a:prstGeom prst="ellipse">
            <a:avLst/>
          </a:prstGeom>
          <a:noFill/>
          <a:ln w="190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9" name="Oval 62"/>
          <p:cNvSpPr/>
          <p:nvPr/>
        </p:nvSpPr>
        <p:spPr bwMode="gray">
          <a:xfrm rot="19401600">
            <a:off x="2815704" y="4459608"/>
            <a:ext cx="311619" cy="90813"/>
          </a:xfrm>
          <a:prstGeom prst="ellipse">
            <a:avLst/>
          </a:prstGeom>
          <a:noFill/>
          <a:ln w="190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0" name="Oval 63"/>
          <p:cNvSpPr/>
          <p:nvPr/>
        </p:nvSpPr>
        <p:spPr bwMode="gray">
          <a:xfrm rot="1782887">
            <a:off x="4159217" y="4478736"/>
            <a:ext cx="311619" cy="90813"/>
          </a:xfrm>
          <a:prstGeom prst="ellipse">
            <a:avLst/>
          </a:prstGeom>
          <a:noFill/>
          <a:ln w="190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1" name="Oval 65"/>
          <p:cNvSpPr/>
          <p:nvPr/>
        </p:nvSpPr>
        <p:spPr bwMode="gray">
          <a:xfrm rot="19401600">
            <a:off x="4854041" y="4453924"/>
            <a:ext cx="311619" cy="90813"/>
          </a:xfrm>
          <a:prstGeom prst="ellipse">
            <a:avLst/>
          </a:prstGeom>
          <a:noFill/>
          <a:ln w="190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72" name="图片 14" descr="日志告警服务器-蓝.png"/>
          <p:cNvPicPr>
            <a:picLocks noChangeAspect="1"/>
          </p:cNvPicPr>
          <p:nvPr/>
        </p:nvPicPr>
        <p:blipFill>
          <a:blip r:embed="rId9" cstate="print"/>
          <a:stretch>
            <a:fillRect/>
          </a:stretch>
        </p:blipFill>
        <p:spPr bwMode="gray">
          <a:xfrm>
            <a:off x="1971030" y="5630177"/>
            <a:ext cx="304595" cy="190195"/>
          </a:xfrm>
          <a:prstGeom prst="rect">
            <a:avLst/>
          </a:prstGeom>
        </p:spPr>
      </p:pic>
      <p:pic>
        <p:nvPicPr>
          <p:cNvPr id="173" name="图片 42" descr="IP电话.png"/>
          <p:cNvPicPr>
            <a:picLocks noChangeAspect="1"/>
          </p:cNvPicPr>
          <p:nvPr/>
        </p:nvPicPr>
        <p:blipFill>
          <a:blip r:embed="rId10" cstate="print"/>
          <a:stretch>
            <a:fillRect/>
          </a:stretch>
        </p:blipFill>
        <p:spPr bwMode="gray">
          <a:xfrm>
            <a:off x="2826674" y="5567684"/>
            <a:ext cx="335265" cy="315180"/>
          </a:xfrm>
          <a:prstGeom prst="rect">
            <a:avLst/>
          </a:prstGeom>
        </p:spPr>
      </p:pic>
      <p:pic>
        <p:nvPicPr>
          <p:cNvPr id="174" name="图片 11" descr="开放网络-蓝.png"/>
          <p:cNvPicPr>
            <a:picLocks noChangeAspect="1"/>
          </p:cNvPicPr>
          <p:nvPr/>
        </p:nvPicPr>
        <p:blipFill>
          <a:blip r:embed="rId11" cstate="print"/>
          <a:stretch>
            <a:fillRect/>
          </a:stretch>
        </p:blipFill>
        <p:spPr bwMode="gray">
          <a:xfrm>
            <a:off x="4015240" y="5608038"/>
            <a:ext cx="304595" cy="234472"/>
          </a:xfrm>
          <a:prstGeom prst="rect">
            <a:avLst/>
          </a:prstGeom>
        </p:spPr>
      </p:pic>
      <p:pic>
        <p:nvPicPr>
          <p:cNvPr id="175" name="图片 158" descr="SAN网络-蓝.png"/>
          <p:cNvPicPr>
            <a:picLocks noChangeAspect="1"/>
          </p:cNvPicPr>
          <p:nvPr/>
        </p:nvPicPr>
        <p:blipFill>
          <a:blip r:embed="rId12" cstate="print"/>
          <a:stretch>
            <a:fillRect/>
          </a:stretch>
        </p:blipFill>
        <p:spPr bwMode="gray">
          <a:xfrm>
            <a:off x="2468089" y="5589196"/>
            <a:ext cx="166121" cy="272157"/>
          </a:xfrm>
          <a:prstGeom prst="rect">
            <a:avLst/>
          </a:prstGeom>
        </p:spPr>
      </p:pic>
      <p:pic>
        <p:nvPicPr>
          <p:cNvPr id="176" name="图片 47" descr="打印机.png"/>
          <p:cNvPicPr>
            <a:picLocks noChangeAspect="1"/>
          </p:cNvPicPr>
          <p:nvPr/>
        </p:nvPicPr>
        <p:blipFill>
          <a:blip r:embed="rId13" cstate="print"/>
          <a:stretch>
            <a:fillRect/>
          </a:stretch>
        </p:blipFill>
        <p:spPr bwMode="gray">
          <a:xfrm>
            <a:off x="4891141" y="5592272"/>
            <a:ext cx="334175" cy="266004"/>
          </a:xfrm>
          <a:prstGeom prst="rect">
            <a:avLst/>
          </a:prstGeom>
        </p:spPr>
      </p:pic>
      <p:pic>
        <p:nvPicPr>
          <p:cNvPr id="177" name="图片 157" descr="故障链路.png"/>
          <p:cNvPicPr>
            <a:picLocks noChangeAspect="1"/>
          </p:cNvPicPr>
          <p:nvPr/>
        </p:nvPicPr>
        <p:blipFill>
          <a:blip r:embed="rId14" cstate="print"/>
          <a:stretch>
            <a:fillRect/>
          </a:stretch>
        </p:blipFill>
        <p:spPr bwMode="gray">
          <a:xfrm>
            <a:off x="4437840" y="5600262"/>
            <a:ext cx="335297" cy="250025"/>
          </a:xfrm>
          <a:prstGeom prst="rect">
            <a:avLst/>
          </a:prstGeom>
        </p:spPr>
      </p:pic>
      <p:sp>
        <p:nvSpPr>
          <p:cNvPr id="178" name="TextBox 85"/>
          <p:cNvSpPr txBox="1"/>
          <p:nvPr/>
        </p:nvSpPr>
        <p:spPr bwMode="gray">
          <a:xfrm>
            <a:off x="757382" y="2114052"/>
            <a:ext cx="646331" cy="276999"/>
          </a:xfrm>
          <a:prstGeom prst="rect">
            <a:avLst/>
          </a:prstGeom>
          <a:noFill/>
        </p:spPr>
        <p:txBody>
          <a:bodyPr wrap="none" rtlCol="0">
            <a:spAutoFit/>
          </a:bodyPr>
          <a:lstStyle/>
          <a:p>
            <a:pPr fontAlgn="auto">
              <a:spcBef>
                <a:spcPts val="0"/>
              </a:spcBef>
              <a:spcAft>
                <a:spcPts val="0"/>
              </a:spcAft>
            </a:pP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出口区</a:t>
            </a:r>
          </a:p>
        </p:txBody>
      </p:sp>
      <p:sp>
        <p:nvSpPr>
          <p:cNvPr id="179" name="TextBox 86"/>
          <p:cNvSpPr txBox="1"/>
          <p:nvPr/>
        </p:nvSpPr>
        <p:spPr bwMode="gray">
          <a:xfrm>
            <a:off x="757382" y="3314006"/>
            <a:ext cx="646331" cy="276999"/>
          </a:xfrm>
          <a:prstGeom prst="rect">
            <a:avLst/>
          </a:prstGeom>
          <a:noFill/>
        </p:spPr>
        <p:txBody>
          <a:bodyPr wrap="none" rtlCol="0">
            <a:spAutoFit/>
          </a:bodyPr>
          <a:lstStyle/>
          <a:p>
            <a:pPr fontAlgn="auto">
              <a:spcBef>
                <a:spcPts val="0"/>
              </a:spcBef>
              <a:spcAft>
                <a:spcPts val="0"/>
              </a:spcAft>
            </a:pPr>
            <a:r>
              <a:rPr lang="zh-CN" altLang="en-US"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核心层</a:t>
            </a:r>
          </a:p>
        </p:txBody>
      </p:sp>
      <p:sp>
        <p:nvSpPr>
          <p:cNvPr id="180" name="TextBox 88"/>
          <p:cNvSpPr txBox="1"/>
          <p:nvPr/>
        </p:nvSpPr>
        <p:spPr bwMode="gray">
          <a:xfrm>
            <a:off x="757382" y="3953662"/>
            <a:ext cx="646331" cy="276999"/>
          </a:xfrm>
          <a:prstGeom prst="rect">
            <a:avLst/>
          </a:prstGeom>
          <a:noFill/>
        </p:spPr>
        <p:txBody>
          <a:bodyPr wrap="none" rtlCol="0">
            <a:spAutoFit/>
          </a:bodyPr>
          <a:lstStyle/>
          <a:p>
            <a:pPr fontAlgn="auto">
              <a:spcBef>
                <a:spcPts val="0"/>
              </a:spcBef>
              <a:spcAft>
                <a:spcPts val="0"/>
              </a:spcAft>
            </a:pPr>
            <a:r>
              <a:rPr lang="zh-CN" altLang="en-US"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汇聚层</a:t>
            </a:r>
          </a:p>
        </p:txBody>
      </p:sp>
      <p:sp>
        <p:nvSpPr>
          <p:cNvPr id="181" name="TextBox 89"/>
          <p:cNvSpPr txBox="1"/>
          <p:nvPr/>
        </p:nvSpPr>
        <p:spPr bwMode="gray">
          <a:xfrm>
            <a:off x="757382" y="5171709"/>
            <a:ext cx="646331" cy="276999"/>
          </a:xfrm>
          <a:prstGeom prst="rect">
            <a:avLst/>
          </a:prstGeom>
          <a:noFill/>
        </p:spPr>
        <p:txBody>
          <a:bodyPr wrap="none" rtlCol="0">
            <a:spAutoFit/>
          </a:bodyPr>
          <a:lstStyle/>
          <a:p>
            <a:pPr fontAlgn="auto">
              <a:spcBef>
                <a:spcPts val="0"/>
              </a:spcBef>
              <a:spcAft>
                <a:spcPts val="0"/>
              </a:spcAft>
            </a:pP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接入层</a:t>
            </a:r>
          </a:p>
        </p:txBody>
      </p:sp>
      <p:sp>
        <p:nvSpPr>
          <p:cNvPr id="182" name="TextBox 91"/>
          <p:cNvSpPr txBox="1"/>
          <p:nvPr/>
        </p:nvSpPr>
        <p:spPr bwMode="gray">
          <a:xfrm>
            <a:off x="757382" y="5672271"/>
            <a:ext cx="646331" cy="276999"/>
          </a:xfrm>
          <a:prstGeom prst="rect">
            <a:avLst/>
          </a:prstGeom>
          <a:noFill/>
        </p:spPr>
        <p:txBody>
          <a:bodyPr wrap="none" rtlCol="0">
            <a:spAutoFit/>
          </a:bodyPr>
          <a:lstStyle/>
          <a:p>
            <a:pPr fontAlgn="auto">
              <a:spcBef>
                <a:spcPts val="0"/>
              </a:spcBef>
              <a:spcAft>
                <a:spcPts val="0"/>
              </a:spcAft>
            </a:pP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终端层</a:t>
            </a:r>
          </a:p>
        </p:txBody>
      </p:sp>
      <p:sp>
        <p:nvSpPr>
          <p:cNvPr id="183" name="Oval 92"/>
          <p:cNvSpPr/>
          <p:nvPr/>
        </p:nvSpPr>
        <p:spPr bwMode="gray">
          <a:xfrm rot="18651691">
            <a:off x="3892603" y="3438606"/>
            <a:ext cx="580554" cy="91395"/>
          </a:xfrm>
          <a:prstGeom prst="ellipse">
            <a:avLst/>
          </a:prstGeom>
          <a:noFill/>
          <a:ln w="190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85" name="组合 35"/>
          <p:cNvGrpSpPr/>
          <p:nvPr/>
        </p:nvGrpSpPr>
        <p:grpSpPr bwMode="gray">
          <a:xfrm>
            <a:off x="2931996" y="1023140"/>
            <a:ext cx="633070" cy="358898"/>
            <a:chOff x="3269076" y="1744970"/>
            <a:chExt cx="1860118" cy="1054529"/>
          </a:xfrm>
          <a:solidFill>
            <a:schemeClr val="bg1">
              <a:lumMod val="85000"/>
            </a:schemeClr>
          </a:solidFill>
        </p:grpSpPr>
        <p:sp>
          <p:nvSpPr>
            <p:cNvPr id="187" name="矩形 36"/>
            <p:cNvSpPr/>
            <p:nvPr/>
          </p:nvSpPr>
          <p:spPr bwMode="gray">
            <a:xfrm>
              <a:off x="3495526" y="2457907"/>
              <a:ext cx="1426464" cy="341592"/>
            </a:xfrm>
            <a:prstGeom prst="rect">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8" name="Oval 62"/>
            <p:cNvSpPr/>
            <p:nvPr/>
          </p:nvSpPr>
          <p:spPr bwMode="gray">
            <a:xfrm>
              <a:off x="3452774" y="1920065"/>
              <a:ext cx="761732" cy="698886"/>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9" name="Oval 63"/>
            <p:cNvSpPr/>
            <p:nvPr/>
          </p:nvSpPr>
          <p:spPr bwMode="gray">
            <a:xfrm>
              <a:off x="3269076" y="2248790"/>
              <a:ext cx="545661" cy="550709"/>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0" name="Oval 64"/>
            <p:cNvSpPr/>
            <p:nvPr/>
          </p:nvSpPr>
          <p:spPr bwMode="gray">
            <a:xfrm>
              <a:off x="4633138" y="2298856"/>
              <a:ext cx="496056" cy="500643"/>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1" name="Oval 65"/>
            <p:cNvSpPr/>
            <p:nvPr/>
          </p:nvSpPr>
          <p:spPr bwMode="gray">
            <a:xfrm>
              <a:off x="3759782" y="2292552"/>
              <a:ext cx="496056" cy="3761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2" name="Oval 64"/>
            <p:cNvSpPr/>
            <p:nvPr/>
          </p:nvSpPr>
          <p:spPr bwMode="gray">
            <a:xfrm>
              <a:off x="3924619" y="1744970"/>
              <a:ext cx="998406" cy="10076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86" name="TextBox 114"/>
          <p:cNvSpPr txBox="1"/>
          <p:nvPr/>
        </p:nvSpPr>
        <p:spPr bwMode="gray">
          <a:xfrm>
            <a:off x="2854032" y="1121348"/>
            <a:ext cx="788999" cy="276999"/>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Internet</a:t>
            </a:r>
            <a:endParaRPr kumimoji="0" lang="zh-CN" altLang="en-US" sz="12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94" name="组合 35"/>
          <p:cNvGrpSpPr/>
          <p:nvPr/>
        </p:nvGrpSpPr>
        <p:grpSpPr bwMode="gray">
          <a:xfrm>
            <a:off x="3745453" y="1023140"/>
            <a:ext cx="633070" cy="358898"/>
            <a:chOff x="3269076" y="1744970"/>
            <a:chExt cx="1860118" cy="1054529"/>
          </a:xfrm>
          <a:solidFill>
            <a:schemeClr val="bg1">
              <a:lumMod val="85000"/>
            </a:schemeClr>
          </a:solidFill>
        </p:grpSpPr>
        <p:sp>
          <p:nvSpPr>
            <p:cNvPr id="196" name="矩形 36"/>
            <p:cNvSpPr/>
            <p:nvPr/>
          </p:nvSpPr>
          <p:spPr bwMode="gray">
            <a:xfrm>
              <a:off x="3495526" y="2457907"/>
              <a:ext cx="1426464" cy="341592"/>
            </a:xfrm>
            <a:prstGeom prst="rect">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7" name="Oval 62"/>
            <p:cNvSpPr/>
            <p:nvPr/>
          </p:nvSpPr>
          <p:spPr bwMode="gray">
            <a:xfrm>
              <a:off x="3452774" y="1920065"/>
              <a:ext cx="761732" cy="698886"/>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8" name="Oval 63"/>
            <p:cNvSpPr/>
            <p:nvPr/>
          </p:nvSpPr>
          <p:spPr bwMode="gray">
            <a:xfrm>
              <a:off x="3269076" y="2248790"/>
              <a:ext cx="545661" cy="550709"/>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9" name="Oval 64"/>
            <p:cNvSpPr/>
            <p:nvPr/>
          </p:nvSpPr>
          <p:spPr bwMode="gray">
            <a:xfrm>
              <a:off x="4633138" y="2298856"/>
              <a:ext cx="496056" cy="500643"/>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0" name="Oval 65"/>
            <p:cNvSpPr/>
            <p:nvPr/>
          </p:nvSpPr>
          <p:spPr bwMode="gray">
            <a:xfrm>
              <a:off x="3759782" y="2292552"/>
              <a:ext cx="496056" cy="3761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1" name="Oval 64"/>
            <p:cNvSpPr/>
            <p:nvPr/>
          </p:nvSpPr>
          <p:spPr bwMode="gray">
            <a:xfrm>
              <a:off x="3924619" y="1744970"/>
              <a:ext cx="998406" cy="10076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95" name="TextBox 117"/>
          <p:cNvSpPr txBox="1"/>
          <p:nvPr/>
        </p:nvSpPr>
        <p:spPr bwMode="gray">
          <a:xfrm>
            <a:off x="3775693" y="1121348"/>
            <a:ext cx="572593" cy="276999"/>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WAN</a:t>
            </a:r>
            <a:endParaRPr kumimoji="0" lang="zh-CN" altLang="en-US" sz="12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02" name="图片 9"/>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bwMode="gray">
          <a:xfrm>
            <a:off x="3059148" y="2016159"/>
            <a:ext cx="337091" cy="275801"/>
          </a:xfrm>
          <a:prstGeom prst="rect">
            <a:avLst/>
          </a:prstGeom>
        </p:spPr>
      </p:pic>
      <p:pic>
        <p:nvPicPr>
          <p:cNvPr id="203" name="图片 9"/>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bwMode="gray">
          <a:xfrm>
            <a:off x="3893443" y="2016159"/>
            <a:ext cx="337091" cy="275801"/>
          </a:xfrm>
          <a:prstGeom prst="rect">
            <a:avLst/>
          </a:prstGeom>
        </p:spPr>
      </p:pic>
      <p:cxnSp>
        <p:nvCxnSpPr>
          <p:cNvPr id="204" name="Straight Connector 127"/>
          <p:cNvCxnSpPr>
            <a:stCxn id="202" idx="3"/>
            <a:endCxn id="203" idx="1"/>
          </p:cNvCxnSpPr>
          <p:nvPr/>
        </p:nvCxnSpPr>
        <p:spPr bwMode="gray">
          <a:xfrm>
            <a:off x="3396239" y="2154060"/>
            <a:ext cx="497204" cy="0"/>
          </a:xfrm>
          <a:prstGeom prst="line">
            <a:avLst/>
          </a:prstGeom>
          <a:noFill/>
          <a:ln w="19050" cap="flat" cmpd="sng" algn="ctr">
            <a:solidFill>
              <a:sysClr val="windowText" lastClr="000000"/>
            </a:solidFill>
            <a:prstDash val="sysDash"/>
            <a:miter lim="800000"/>
          </a:ln>
          <a:effectLst/>
        </p:spPr>
      </p:cxnSp>
      <p:pic>
        <p:nvPicPr>
          <p:cNvPr id="205" name="图片 102" descr="AC-蓝.png"/>
          <p:cNvPicPr>
            <a:picLocks noChangeAspect="1"/>
          </p:cNvPicPr>
          <p:nvPr/>
        </p:nvPicPr>
        <p:blipFill>
          <a:blip r:embed="rId4" cstate="print"/>
          <a:stretch>
            <a:fillRect/>
          </a:stretch>
        </p:blipFill>
        <p:spPr bwMode="gray">
          <a:xfrm>
            <a:off x="4862028" y="2867310"/>
            <a:ext cx="337091" cy="275802"/>
          </a:xfrm>
          <a:prstGeom prst="rect">
            <a:avLst/>
          </a:prstGeom>
        </p:spPr>
      </p:pic>
      <p:sp>
        <p:nvSpPr>
          <p:cNvPr id="206" name="圆角矩形 205"/>
          <p:cNvSpPr/>
          <p:nvPr/>
        </p:nvSpPr>
        <p:spPr bwMode="gray">
          <a:xfrm>
            <a:off x="4750585" y="2513475"/>
            <a:ext cx="1002778" cy="278033"/>
          </a:xfrm>
          <a:prstGeom prst="roundRect">
            <a:avLst>
              <a:gd name="adj" fmla="val 2563"/>
            </a:avLst>
          </a:prstGeom>
          <a:solidFill>
            <a:sysClr val="window" lastClr="FFFFFF">
              <a:lumMod val="95000"/>
            </a:sysClr>
          </a:solidFill>
          <a:ln w="12700" cap="flat" cmpd="sng" algn="ctr">
            <a:solidFill>
              <a:sysClr val="window" lastClr="FFFFFF">
                <a:lumMod val="75000"/>
              </a:sysClr>
            </a:solidFill>
            <a:prstDash val="sysDot"/>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7" name="TextBox 20"/>
          <p:cNvSpPr txBox="1"/>
          <p:nvPr/>
        </p:nvSpPr>
        <p:spPr bwMode="gray">
          <a:xfrm>
            <a:off x="4799256" y="2521686"/>
            <a:ext cx="954107" cy="276999"/>
          </a:xfrm>
          <a:prstGeom prst="rect">
            <a:avLst/>
          </a:prstGeom>
          <a:noFill/>
        </p:spPr>
        <p:txBody>
          <a:bodyPr wrap="none" rtlCol="0">
            <a:spAutoFit/>
          </a:bodyPr>
          <a:lstStyle/>
          <a:p>
            <a:pPr fontAlgn="auto">
              <a:spcBef>
                <a:spcPts val="0"/>
              </a:spcBef>
              <a:spcAft>
                <a:spcPts val="0"/>
              </a:spcAft>
            </a:pP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网管运维区</a:t>
            </a:r>
          </a:p>
        </p:txBody>
      </p:sp>
      <p:cxnSp>
        <p:nvCxnSpPr>
          <p:cNvPr id="208" name="Straight Connector 79"/>
          <p:cNvCxnSpPr/>
          <p:nvPr/>
        </p:nvCxnSpPr>
        <p:spPr bwMode="gray">
          <a:xfrm flipH="1">
            <a:off x="2470591" y="2582674"/>
            <a:ext cx="1190149" cy="0"/>
          </a:xfrm>
          <a:prstGeom prst="line">
            <a:avLst/>
          </a:prstGeom>
          <a:noFill/>
          <a:ln w="19050" cap="flat" cmpd="sng" algn="ctr">
            <a:solidFill>
              <a:sysClr val="windowText" lastClr="000000"/>
            </a:solidFill>
            <a:prstDash val="solid"/>
            <a:miter lim="800000"/>
          </a:ln>
          <a:effectLst/>
        </p:spPr>
      </p:cxnSp>
      <p:cxnSp>
        <p:nvCxnSpPr>
          <p:cNvPr id="209" name="Straight Connector 79"/>
          <p:cNvCxnSpPr/>
          <p:nvPr/>
        </p:nvCxnSpPr>
        <p:spPr bwMode="gray">
          <a:xfrm flipH="1">
            <a:off x="2470591" y="2642045"/>
            <a:ext cx="430513" cy="0"/>
          </a:xfrm>
          <a:prstGeom prst="line">
            <a:avLst/>
          </a:prstGeom>
          <a:noFill/>
          <a:ln w="19050" cap="flat" cmpd="sng" algn="ctr">
            <a:solidFill>
              <a:sysClr val="windowText" lastClr="000000"/>
            </a:solidFill>
            <a:prstDash val="solid"/>
            <a:miter lim="800000"/>
          </a:ln>
          <a:effectLst/>
        </p:spPr>
      </p:cxnSp>
      <p:sp>
        <p:nvSpPr>
          <p:cNvPr id="210" name="Freeform 159"/>
          <p:cNvSpPr/>
          <p:nvPr/>
        </p:nvSpPr>
        <p:spPr bwMode="gray">
          <a:xfrm flipH="1">
            <a:off x="1772681" y="2289711"/>
            <a:ext cx="1012066"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ysClr val="window" lastClr="FFFFFF">
              <a:lumMod val="95000"/>
            </a:sysClr>
          </a:solidFill>
          <a:ln w="28575" cap="flat" cmpd="sng" algn="ctr">
            <a:solidFill>
              <a:sysClr val="window" lastClr="FFFFFF">
                <a:lumMod val="65000"/>
              </a:sysClr>
            </a:solidFill>
            <a:prstDash val="solid"/>
            <a:miter lim="800000"/>
          </a:ln>
          <a:effectLst/>
        </p:spPr>
        <p:txBody>
          <a:bodyPr wrap="square" tIns="18000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200" b="1" kern="0" dirty="0">
                <a:solidFill>
                  <a:prstClr val="white">
                    <a:lumMod val="50000"/>
                  </a:prstClr>
                </a:solidFill>
                <a:latin typeface="Huawei Sans" panose="020C0503030203020204" pitchFamily="34" charset="0"/>
                <a:ea typeface="方正兰亭黑简体" panose="02000000000000000000" pitchFamily="2" charset="-122"/>
                <a:sym typeface="Huawei Sans" panose="020C0503030203020204" pitchFamily="34" charset="0"/>
              </a:rPr>
              <a:t>数据中心</a:t>
            </a:r>
            <a:endParaRPr kumimoji="0" lang="en-US" sz="1200" b="1" i="0" u="none" strike="noStrike" kern="0" cap="none" spc="0" normalizeH="0" baseline="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11" name="Straight Connector 79"/>
          <p:cNvCxnSpPr/>
          <p:nvPr/>
        </p:nvCxnSpPr>
        <p:spPr bwMode="gray">
          <a:xfrm flipH="1">
            <a:off x="3565066" y="2642045"/>
            <a:ext cx="1185521" cy="0"/>
          </a:xfrm>
          <a:prstGeom prst="line">
            <a:avLst/>
          </a:prstGeom>
          <a:noFill/>
          <a:ln w="19050" cap="flat" cmpd="sng" algn="ctr">
            <a:solidFill>
              <a:sysClr val="windowText" lastClr="000000"/>
            </a:solidFill>
            <a:prstDash val="solid"/>
            <a:miter lim="800000"/>
          </a:ln>
          <a:effectLst/>
        </p:spPr>
      </p:cxnSp>
      <p:sp>
        <p:nvSpPr>
          <p:cNvPr id="106" name="圆角矩形 105"/>
          <p:cNvSpPr/>
          <p:nvPr/>
        </p:nvSpPr>
        <p:spPr bwMode="gray">
          <a:xfrm>
            <a:off x="5920982" y="1423118"/>
            <a:ext cx="5620914" cy="1534132"/>
          </a:xfrm>
          <a:prstGeom prst="roundRect">
            <a:avLst>
              <a:gd name="adj" fmla="val 898"/>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74625" indent="-174625" fontAlgn="auto">
              <a:lnSpc>
                <a:spcPct val="130000"/>
              </a:lnSpc>
              <a:spcBef>
                <a:spcPts val="0"/>
              </a:spcBef>
              <a:spcAft>
                <a:spcPts val="600"/>
              </a:spcAft>
              <a:buSzPct val="50000"/>
              <a:buFont typeface="Wingdings" panose="05000000000000000000" pitchFamily="2" charset="2"/>
              <a:buChar char="l"/>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存在无线与有线终端总计约</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3000</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左右，需要提供无线和有线接入；</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74625" indent="-174625" fontAlgn="auto">
              <a:lnSpc>
                <a:spcPct val="130000"/>
              </a:lnSpc>
              <a:spcBef>
                <a:spcPts val="0"/>
              </a:spcBef>
              <a:spcAft>
                <a:spcPts val="600"/>
              </a:spcAft>
              <a:buSzPct val="50000"/>
              <a:buFont typeface="Wingdings" panose="05000000000000000000" pitchFamily="2" charset="2"/>
              <a:buChar char="l"/>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根据部门、业务划分网段，网关设置在汇聚交换机，终端地址自动分配；</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74625" indent="-174625" fontAlgn="auto">
              <a:lnSpc>
                <a:spcPct val="130000"/>
              </a:lnSpc>
              <a:spcBef>
                <a:spcPts val="0"/>
              </a:spcBef>
              <a:spcAft>
                <a:spcPts val="600"/>
              </a:spcAft>
              <a:buSzPct val="50000"/>
              <a:buFont typeface="Wingdings" panose="05000000000000000000" pitchFamily="2" charset="2"/>
              <a:buChar char="l"/>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网络设备集中管理和监控；</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74625" indent="-174625" fontAlgn="auto">
              <a:lnSpc>
                <a:spcPct val="130000"/>
              </a:lnSpc>
              <a:spcBef>
                <a:spcPts val="0"/>
              </a:spcBef>
              <a:spcAft>
                <a:spcPts val="600"/>
              </a:spcAft>
              <a:buSzPct val="50000"/>
              <a:buFont typeface="Wingdings" panose="05000000000000000000" pitchFamily="2" charset="2"/>
              <a:buChar char="l"/>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需要对接入用户进行统一策略管控，同时保护内网不受外网攻击；</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74625" indent="-174625" fontAlgn="auto">
              <a:lnSpc>
                <a:spcPct val="130000"/>
              </a:lnSpc>
              <a:spcBef>
                <a:spcPts val="0"/>
              </a:spcBef>
              <a:spcAft>
                <a:spcPts val="600"/>
              </a:spcAft>
              <a:buSzPct val="50000"/>
              <a:buFont typeface="Wingdings" panose="05000000000000000000" pitchFamily="2" charset="2"/>
              <a:buChar char="l"/>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对网络可靠性有一定的要求。</a:t>
            </a:r>
          </a:p>
        </p:txBody>
      </p:sp>
      <p:sp>
        <p:nvSpPr>
          <p:cNvPr id="107" name="文本框 106"/>
          <p:cNvSpPr txBox="1"/>
          <p:nvPr/>
        </p:nvSpPr>
        <p:spPr bwMode="gray">
          <a:xfrm>
            <a:off x="5920983" y="1000505"/>
            <a:ext cx="5620913" cy="373577"/>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600">
                <a:solidFill>
                  <a:srgbClr val="30B5C5"/>
                </a:solidFill>
                <a:latin typeface="Huawei Sans" panose="020C0503030203020204" pitchFamily="34" charset="0"/>
                <a:ea typeface="方正兰亭黑简体" panose="02000000000000000000" pitchFamily="2" charset="-122"/>
              </a:defRPr>
            </a:lvl1pPr>
          </a:lstStyle>
          <a:p>
            <a:r>
              <a:rPr lang="zh-CN" altLang="en-US" dirty="0">
                <a:sym typeface="Huawei Sans" panose="020C0503030203020204" pitchFamily="34" charset="0"/>
              </a:rPr>
              <a:t>网络需求</a:t>
            </a:r>
          </a:p>
        </p:txBody>
      </p:sp>
      <p:sp>
        <p:nvSpPr>
          <p:cNvPr id="108" name="圆角矩形 107"/>
          <p:cNvSpPr/>
          <p:nvPr/>
        </p:nvSpPr>
        <p:spPr bwMode="gray">
          <a:xfrm>
            <a:off x="5920982" y="3494901"/>
            <a:ext cx="5620914" cy="2587952"/>
          </a:xfrm>
          <a:prstGeom prst="roundRect">
            <a:avLst>
              <a:gd name="adj" fmla="val 898"/>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74625" indent="-174625" fontAlgn="auto">
              <a:lnSpc>
                <a:spcPts val="2400"/>
              </a:lnSpc>
              <a:spcBef>
                <a:spcPts val="0"/>
              </a:spcBef>
              <a:spcAft>
                <a:spcPts val="600"/>
              </a:spcAft>
              <a:buSzPct val="50000"/>
              <a:buFont typeface="Wingdings" panose="05000000000000000000" pitchFamily="2" charset="2"/>
              <a:buChar char="l"/>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接入、汇聚、核心均部署堆叠</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/CSS</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，同时上行链路部署</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Eth-Trunk</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保证可靠性；</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74625" indent="-174625" fontAlgn="auto">
              <a:lnSpc>
                <a:spcPts val="2400"/>
              </a:lnSpc>
              <a:spcBef>
                <a:spcPts val="0"/>
              </a:spcBef>
              <a:spcAft>
                <a:spcPts val="600"/>
              </a:spcAft>
              <a:buSzPct val="50000"/>
              <a:buFont typeface="Wingdings" panose="05000000000000000000" pitchFamily="2" charset="2"/>
              <a:buChar char="l"/>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采用</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AC+FIT AP</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的无线组网方式，同时</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AC</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间配置热备份，保证无线网络可靠性；接入交换机通过</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来区分不同业务网段的用户，由对应的汇聚交换机使用</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方式统一下发</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地址；汇聚层及以上设备部署单区域</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74625" indent="-174625" fontAlgn="auto">
              <a:lnSpc>
                <a:spcPts val="2400"/>
              </a:lnSpc>
              <a:spcBef>
                <a:spcPts val="0"/>
              </a:spcBef>
              <a:spcAft>
                <a:spcPts val="600"/>
              </a:spcAft>
              <a:buSzPct val="50000"/>
              <a:buFont typeface="Wingdings" panose="05000000000000000000" pitchFamily="2" charset="2"/>
              <a:buChar char="l"/>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对全网用户部署准入认证，并通过</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ACL</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配置相应的策略；</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74625" indent="-174625" fontAlgn="auto">
              <a:lnSpc>
                <a:spcPts val="2400"/>
              </a:lnSpc>
              <a:spcBef>
                <a:spcPts val="0"/>
              </a:spcBef>
              <a:spcAft>
                <a:spcPts val="600"/>
              </a:spcAft>
              <a:buSzPct val="50000"/>
              <a:buFont typeface="Wingdings" panose="05000000000000000000" pitchFamily="2" charset="2"/>
              <a:buChar char="l"/>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出口区部署防火墙设备，通过划分安全域的方式对经过的流量进行监管；</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74625" indent="-174625" fontAlgn="auto">
              <a:lnSpc>
                <a:spcPts val="2400"/>
              </a:lnSpc>
              <a:spcBef>
                <a:spcPts val="0"/>
              </a:spcBef>
              <a:spcAft>
                <a:spcPts val="600"/>
              </a:spcAft>
              <a:buSzPct val="50000"/>
              <a:buFont typeface="Wingdings" panose="05000000000000000000" pitchFamily="2" charset="2"/>
              <a:buChar char="l"/>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全网设备开启</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SNMP</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，通过网管软件对网络设备进行统一管理与维护。</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4" name="文本框 183"/>
          <p:cNvSpPr txBox="1"/>
          <p:nvPr/>
        </p:nvSpPr>
        <p:spPr bwMode="gray">
          <a:xfrm>
            <a:off x="5920983" y="3067806"/>
            <a:ext cx="5620913" cy="373577"/>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600">
                <a:solidFill>
                  <a:srgbClr val="30B5C5"/>
                </a:solidFill>
                <a:latin typeface="Huawei Sans" panose="020C0503030203020204" pitchFamily="34" charset="0"/>
                <a:ea typeface="方正兰亭黑简体" panose="02000000000000000000" pitchFamily="2" charset="-122"/>
              </a:defRPr>
            </a:lvl1pPr>
          </a:lstStyle>
          <a:p>
            <a:r>
              <a:rPr lang="zh-CN" altLang="en-US">
                <a:sym typeface="Huawei Sans" panose="020C0503030203020204" pitchFamily="34" charset="0"/>
              </a:rPr>
              <a:t>方案</a:t>
            </a:r>
            <a:endParaRPr lang="zh-CN" altLang="en-US" dirty="0">
              <a:sym typeface="Huawei Sans" panose="020C0503030203020204" pitchFamily="34" charset="0"/>
            </a:endParaRPr>
          </a:p>
        </p:txBody>
      </p:sp>
    </p:spTree>
    <p:extLst>
      <p:ext uri="{BB962C8B-B14F-4D97-AF65-F5344CB8AC3E}">
        <p14:creationId xmlns:p14="http://schemas.microsoft.com/office/powerpoint/2010/main" val="5196701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bwMode="gray"/>
        <p:txBody>
          <a:bodyPr>
            <a:normAutofit/>
          </a:bodyPr>
          <a:lstStyle/>
          <a:p>
            <a:r>
              <a:rPr lang="zh-CN" altLang="en-US" dirty="0">
                <a:sym typeface="Huawei Sans" panose="020C0503030203020204" pitchFamily="34" charset="0"/>
              </a:rPr>
              <a:t>案例</a:t>
            </a:r>
            <a:r>
              <a:rPr lang="en-US" altLang="zh-CN" dirty="0">
                <a:sym typeface="Huawei Sans" panose="020C0503030203020204" pitchFamily="34" charset="0"/>
              </a:rPr>
              <a:t>2 - </a:t>
            </a:r>
            <a:r>
              <a:rPr lang="zh-CN" altLang="en-US" dirty="0">
                <a:sym typeface="Huawei Sans" panose="020C0503030203020204" pitchFamily="34" charset="0"/>
              </a:rPr>
              <a:t>虚拟化园区网络</a:t>
            </a:r>
          </a:p>
        </p:txBody>
      </p:sp>
      <p:cxnSp>
        <p:nvCxnSpPr>
          <p:cNvPr id="109" name="Straight Connector 79"/>
          <p:cNvCxnSpPr/>
          <p:nvPr/>
        </p:nvCxnSpPr>
        <p:spPr bwMode="gray">
          <a:xfrm flipH="1">
            <a:off x="4087301" y="2702295"/>
            <a:ext cx="309238" cy="330261"/>
          </a:xfrm>
          <a:prstGeom prst="line">
            <a:avLst/>
          </a:prstGeom>
          <a:noFill/>
          <a:ln w="19050" cap="flat" cmpd="sng" algn="ctr">
            <a:solidFill>
              <a:sysClr val="windowText" lastClr="000000"/>
            </a:solidFill>
            <a:prstDash val="solid"/>
            <a:miter lim="800000"/>
          </a:ln>
          <a:effectLst/>
        </p:spPr>
      </p:cxnSp>
      <p:cxnSp>
        <p:nvCxnSpPr>
          <p:cNvPr id="110" name="Straight Connector 79"/>
          <p:cNvCxnSpPr/>
          <p:nvPr/>
        </p:nvCxnSpPr>
        <p:spPr bwMode="gray">
          <a:xfrm flipH="1">
            <a:off x="4390651" y="2704518"/>
            <a:ext cx="1185521" cy="0"/>
          </a:xfrm>
          <a:prstGeom prst="line">
            <a:avLst/>
          </a:prstGeom>
          <a:noFill/>
          <a:ln w="19050" cap="flat" cmpd="sng" algn="ctr">
            <a:solidFill>
              <a:sysClr val="windowText" lastClr="000000"/>
            </a:solidFill>
            <a:prstDash val="solid"/>
            <a:miter lim="800000"/>
          </a:ln>
          <a:effectLst/>
        </p:spPr>
      </p:cxnSp>
      <p:cxnSp>
        <p:nvCxnSpPr>
          <p:cNvPr id="111" name="Straight Connector 79"/>
          <p:cNvCxnSpPr/>
          <p:nvPr/>
        </p:nvCxnSpPr>
        <p:spPr bwMode="gray">
          <a:xfrm flipH="1">
            <a:off x="3261716" y="2639822"/>
            <a:ext cx="309238" cy="330261"/>
          </a:xfrm>
          <a:prstGeom prst="line">
            <a:avLst/>
          </a:prstGeom>
          <a:noFill/>
          <a:ln w="19050" cap="flat" cmpd="sng" algn="ctr">
            <a:solidFill>
              <a:sysClr val="windowText" lastClr="000000"/>
            </a:solidFill>
            <a:prstDash val="solid"/>
            <a:miter lim="800000"/>
          </a:ln>
          <a:effectLst/>
        </p:spPr>
      </p:cxnSp>
      <p:cxnSp>
        <p:nvCxnSpPr>
          <p:cNvPr id="112" name="Straight Connector 79"/>
          <p:cNvCxnSpPr/>
          <p:nvPr/>
        </p:nvCxnSpPr>
        <p:spPr bwMode="gray">
          <a:xfrm flipH="1" flipV="1">
            <a:off x="3649928" y="2584599"/>
            <a:ext cx="343673" cy="363166"/>
          </a:xfrm>
          <a:prstGeom prst="line">
            <a:avLst/>
          </a:prstGeom>
          <a:noFill/>
          <a:ln w="19050" cap="flat" cmpd="sng" algn="ctr">
            <a:solidFill>
              <a:sysClr val="windowText" lastClr="000000"/>
            </a:solidFill>
            <a:prstDash val="solid"/>
            <a:miter lim="800000"/>
          </a:ln>
          <a:effectLst/>
        </p:spPr>
      </p:cxnSp>
      <p:cxnSp>
        <p:nvCxnSpPr>
          <p:cNvPr id="113" name="Straight Connector 79"/>
          <p:cNvCxnSpPr/>
          <p:nvPr/>
        </p:nvCxnSpPr>
        <p:spPr bwMode="gray">
          <a:xfrm flipH="1" flipV="1">
            <a:off x="2894489" y="2642045"/>
            <a:ext cx="343673" cy="363166"/>
          </a:xfrm>
          <a:prstGeom prst="line">
            <a:avLst/>
          </a:prstGeom>
          <a:noFill/>
          <a:ln w="19050" cap="flat" cmpd="sng" algn="ctr">
            <a:solidFill>
              <a:sysClr val="windowText" lastClr="000000"/>
            </a:solidFill>
            <a:prstDash val="solid"/>
            <a:miter lim="800000"/>
          </a:ln>
          <a:effectLst/>
        </p:spPr>
      </p:cxnSp>
      <p:cxnSp>
        <p:nvCxnSpPr>
          <p:cNvPr id="114" name="Straight Connector 79"/>
          <p:cNvCxnSpPr/>
          <p:nvPr/>
        </p:nvCxnSpPr>
        <p:spPr bwMode="gray">
          <a:xfrm flipH="1">
            <a:off x="4176088" y="3005211"/>
            <a:ext cx="887838" cy="1"/>
          </a:xfrm>
          <a:prstGeom prst="line">
            <a:avLst/>
          </a:prstGeom>
          <a:noFill/>
          <a:ln w="19050" cap="flat" cmpd="sng" algn="ctr">
            <a:solidFill>
              <a:sysClr val="windowText" lastClr="000000"/>
            </a:solidFill>
            <a:prstDash val="solid"/>
            <a:miter lim="800000"/>
          </a:ln>
          <a:effectLst/>
        </p:spPr>
      </p:cxnSp>
      <p:cxnSp>
        <p:nvCxnSpPr>
          <p:cNvPr id="115" name="Straight Connector 76"/>
          <p:cNvCxnSpPr/>
          <p:nvPr/>
        </p:nvCxnSpPr>
        <p:spPr bwMode="gray">
          <a:xfrm>
            <a:off x="845111" y="2407372"/>
            <a:ext cx="4611636" cy="0"/>
          </a:xfrm>
          <a:prstGeom prst="line">
            <a:avLst/>
          </a:prstGeom>
          <a:noFill/>
          <a:ln w="19050" cap="flat" cmpd="sng" algn="ctr">
            <a:solidFill>
              <a:sysClr val="window" lastClr="FFFFFF">
                <a:lumMod val="85000"/>
              </a:sysClr>
            </a:solidFill>
            <a:prstDash val="sysDot"/>
            <a:miter lim="800000"/>
          </a:ln>
          <a:effectLst/>
        </p:spPr>
      </p:cxnSp>
      <p:cxnSp>
        <p:nvCxnSpPr>
          <p:cNvPr id="116" name="Straight Connector 77"/>
          <p:cNvCxnSpPr/>
          <p:nvPr/>
        </p:nvCxnSpPr>
        <p:spPr bwMode="gray">
          <a:xfrm>
            <a:off x="845111" y="1478391"/>
            <a:ext cx="4611636" cy="0"/>
          </a:xfrm>
          <a:prstGeom prst="line">
            <a:avLst/>
          </a:prstGeom>
          <a:noFill/>
          <a:ln w="19050" cap="flat" cmpd="sng" algn="ctr">
            <a:solidFill>
              <a:sysClr val="window" lastClr="FFFFFF">
                <a:lumMod val="85000"/>
              </a:sysClr>
            </a:solidFill>
            <a:prstDash val="sysDot"/>
            <a:miter lim="800000"/>
          </a:ln>
          <a:effectLst/>
        </p:spPr>
      </p:cxnSp>
      <p:cxnSp>
        <p:nvCxnSpPr>
          <p:cNvPr id="117" name="Straight Connector 78"/>
          <p:cNvCxnSpPr/>
          <p:nvPr/>
        </p:nvCxnSpPr>
        <p:spPr bwMode="gray">
          <a:xfrm>
            <a:off x="845111" y="3570208"/>
            <a:ext cx="4611636" cy="0"/>
          </a:xfrm>
          <a:prstGeom prst="line">
            <a:avLst/>
          </a:prstGeom>
          <a:noFill/>
          <a:ln w="19050" cap="flat" cmpd="sng" algn="ctr">
            <a:solidFill>
              <a:sysClr val="window" lastClr="FFFFFF">
                <a:lumMod val="85000"/>
              </a:sysClr>
            </a:solidFill>
            <a:prstDash val="sysDot"/>
            <a:miter lim="800000"/>
          </a:ln>
          <a:effectLst/>
        </p:spPr>
      </p:cxnSp>
      <p:cxnSp>
        <p:nvCxnSpPr>
          <p:cNvPr id="118" name="Straight Connector 80"/>
          <p:cNvCxnSpPr/>
          <p:nvPr/>
        </p:nvCxnSpPr>
        <p:spPr bwMode="gray">
          <a:xfrm>
            <a:off x="845111" y="4259225"/>
            <a:ext cx="4611636" cy="0"/>
          </a:xfrm>
          <a:prstGeom prst="line">
            <a:avLst/>
          </a:prstGeom>
          <a:noFill/>
          <a:ln w="19050" cap="flat" cmpd="sng" algn="ctr">
            <a:solidFill>
              <a:sysClr val="window" lastClr="FFFFFF">
                <a:lumMod val="85000"/>
              </a:sysClr>
            </a:solidFill>
            <a:prstDash val="sysDot"/>
            <a:miter lim="800000"/>
          </a:ln>
          <a:effectLst/>
        </p:spPr>
      </p:cxnSp>
      <p:cxnSp>
        <p:nvCxnSpPr>
          <p:cNvPr id="119" name="Straight Connector 81"/>
          <p:cNvCxnSpPr/>
          <p:nvPr/>
        </p:nvCxnSpPr>
        <p:spPr bwMode="gray">
          <a:xfrm>
            <a:off x="845111" y="5459180"/>
            <a:ext cx="4611636" cy="0"/>
          </a:xfrm>
          <a:prstGeom prst="line">
            <a:avLst/>
          </a:prstGeom>
          <a:noFill/>
          <a:ln w="19050" cap="flat" cmpd="sng" algn="ctr">
            <a:solidFill>
              <a:sysClr val="window" lastClr="FFFFFF">
                <a:lumMod val="85000"/>
              </a:sysClr>
            </a:solidFill>
            <a:prstDash val="sysDot"/>
            <a:miter lim="800000"/>
          </a:ln>
          <a:effectLst/>
        </p:spPr>
      </p:cxnSp>
      <p:cxnSp>
        <p:nvCxnSpPr>
          <p:cNvPr id="120" name="Straight Connector 82"/>
          <p:cNvCxnSpPr/>
          <p:nvPr/>
        </p:nvCxnSpPr>
        <p:spPr bwMode="gray">
          <a:xfrm>
            <a:off x="845111" y="5959743"/>
            <a:ext cx="4611636" cy="0"/>
          </a:xfrm>
          <a:prstGeom prst="line">
            <a:avLst/>
          </a:prstGeom>
          <a:noFill/>
          <a:ln w="19050" cap="flat" cmpd="sng" algn="ctr">
            <a:solidFill>
              <a:sysClr val="window" lastClr="FFFFFF">
                <a:lumMod val="85000"/>
              </a:sysClr>
            </a:solidFill>
            <a:prstDash val="sysDot"/>
            <a:miter lim="800000"/>
          </a:ln>
          <a:effectLst/>
        </p:spPr>
      </p:cxnSp>
      <p:pic>
        <p:nvPicPr>
          <p:cNvPr id="121" name="图片 105" descr="AP.png"/>
          <p:cNvPicPr>
            <a:picLocks noChangeAspect="1"/>
          </p:cNvPicPr>
          <p:nvPr/>
        </p:nvPicPr>
        <p:blipFill>
          <a:blip r:embed="rId3" cstate="print"/>
          <a:stretch>
            <a:fillRect/>
          </a:stretch>
        </p:blipFill>
        <p:spPr bwMode="gray">
          <a:xfrm>
            <a:off x="4900666" y="5159297"/>
            <a:ext cx="335297" cy="274335"/>
          </a:xfrm>
          <a:prstGeom prst="rect">
            <a:avLst/>
          </a:prstGeom>
        </p:spPr>
      </p:pic>
      <p:cxnSp>
        <p:nvCxnSpPr>
          <p:cNvPr id="122" name="Straight Connector 74"/>
          <p:cNvCxnSpPr>
            <a:stCxn id="121" idx="0"/>
            <a:endCxn id="152" idx="2"/>
          </p:cNvCxnSpPr>
          <p:nvPr/>
        </p:nvCxnSpPr>
        <p:spPr bwMode="gray">
          <a:xfrm flipV="1">
            <a:off x="5068315" y="4927200"/>
            <a:ext cx="927" cy="232097"/>
          </a:xfrm>
          <a:prstGeom prst="line">
            <a:avLst/>
          </a:prstGeom>
          <a:noFill/>
          <a:ln w="19050" cap="flat" cmpd="sng" algn="ctr">
            <a:solidFill>
              <a:sysClr val="windowText" lastClr="000000"/>
            </a:solidFill>
            <a:prstDash val="solid"/>
            <a:miter lim="800000"/>
          </a:ln>
          <a:effectLst/>
        </p:spPr>
      </p:cxnSp>
      <p:pic>
        <p:nvPicPr>
          <p:cNvPr id="123" name="图片 105" descr="AP.png"/>
          <p:cNvPicPr>
            <a:picLocks noChangeAspect="1"/>
          </p:cNvPicPr>
          <p:nvPr/>
        </p:nvPicPr>
        <p:blipFill>
          <a:blip r:embed="rId3" cstate="print"/>
          <a:stretch>
            <a:fillRect/>
          </a:stretch>
        </p:blipFill>
        <p:spPr bwMode="gray">
          <a:xfrm>
            <a:off x="2886100" y="5159297"/>
            <a:ext cx="335297" cy="274335"/>
          </a:xfrm>
          <a:prstGeom prst="rect">
            <a:avLst/>
          </a:prstGeom>
        </p:spPr>
      </p:pic>
      <p:pic>
        <p:nvPicPr>
          <p:cNvPr id="124" name="图片 102" descr="AC-蓝.png"/>
          <p:cNvPicPr>
            <a:picLocks noChangeAspect="1"/>
          </p:cNvPicPr>
          <p:nvPr/>
        </p:nvPicPr>
        <p:blipFill>
          <a:blip r:embed="rId4" cstate="print"/>
          <a:stretch>
            <a:fillRect/>
          </a:stretch>
        </p:blipFill>
        <p:spPr bwMode="gray">
          <a:xfrm>
            <a:off x="2133499" y="2867310"/>
            <a:ext cx="337091" cy="275802"/>
          </a:xfrm>
          <a:prstGeom prst="rect">
            <a:avLst/>
          </a:prstGeom>
        </p:spPr>
      </p:pic>
      <p:pic>
        <p:nvPicPr>
          <p:cNvPr id="125" name="图片 86" descr="核心交换机.png"/>
          <p:cNvPicPr>
            <a:picLocks noChangeAspect="1"/>
          </p:cNvPicPr>
          <p:nvPr/>
        </p:nvPicPr>
        <p:blipFill>
          <a:blip r:embed="rId5" cstate="print"/>
          <a:stretch>
            <a:fillRect/>
          </a:stretch>
        </p:blipFill>
        <p:spPr bwMode="gray">
          <a:xfrm>
            <a:off x="3072618" y="2868044"/>
            <a:ext cx="335297" cy="274335"/>
          </a:xfrm>
          <a:prstGeom prst="rect">
            <a:avLst/>
          </a:prstGeom>
        </p:spPr>
      </p:pic>
      <p:pic>
        <p:nvPicPr>
          <p:cNvPr id="126" name="图片 86" descr="核心交换机.png"/>
          <p:cNvPicPr>
            <a:picLocks noChangeAspect="1"/>
          </p:cNvPicPr>
          <p:nvPr/>
        </p:nvPicPr>
        <p:blipFill>
          <a:blip r:embed="rId5" cstate="print"/>
          <a:stretch>
            <a:fillRect/>
          </a:stretch>
        </p:blipFill>
        <p:spPr bwMode="gray">
          <a:xfrm>
            <a:off x="3894340" y="2868044"/>
            <a:ext cx="335297" cy="274335"/>
          </a:xfrm>
          <a:prstGeom prst="rect">
            <a:avLst/>
          </a:prstGeom>
        </p:spPr>
      </p:pic>
      <p:cxnSp>
        <p:nvCxnSpPr>
          <p:cNvPr id="127" name="Straight Connector 13"/>
          <p:cNvCxnSpPr>
            <a:stCxn id="125" idx="3"/>
            <a:endCxn id="126" idx="1"/>
          </p:cNvCxnSpPr>
          <p:nvPr/>
        </p:nvCxnSpPr>
        <p:spPr bwMode="gray">
          <a:xfrm>
            <a:off x="3407915" y="3005212"/>
            <a:ext cx="486425" cy="0"/>
          </a:xfrm>
          <a:prstGeom prst="line">
            <a:avLst/>
          </a:prstGeom>
          <a:noFill/>
          <a:ln w="19050" cap="flat" cmpd="sng" algn="ctr">
            <a:solidFill>
              <a:srgbClr val="0070C0"/>
            </a:solidFill>
            <a:prstDash val="solid"/>
            <a:miter lim="800000"/>
          </a:ln>
          <a:effectLst/>
        </p:spPr>
      </p:cxnSp>
      <p:pic>
        <p:nvPicPr>
          <p:cNvPr id="128" name="图片 87" descr="汇聚交换机.png"/>
          <p:cNvPicPr>
            <a:picLocks noChangeAspect="1"/>
          </p:cNvPicPr>
          <p:nvPr/>
        </p:nvPicPr>
        <p:blipFill>
          <a:blip r:embed="rId6" cstate="print"/>
          <a:stretch>
            <a:fillRect/>
          </a:stretch>
        </p:blipFill>
        <p:spPr bwMode="gray">
          <a:xfrm>
            <a:off x="2067338" y="3770805"/>
            <a:ext cx="335297" cy="274335"/>
          </a:xfrm>
          <a:prstGeom prst="rect">
            <a:avLst/>
          </a:prstGeom>
        </p:spPr>
      </p:pic>
      <p:pic>
        <p:nvPicPr>
          <p:cNvPr id="129" name="图片 87" descr="汇聚交换机.png"/>
          <p:cNvPicPr>
            <a:picLocks noChangeAspect="1"/>
          </p:cNvPicPr>
          <p:nvPr/>
        </p:nvPicPr>
        <p:blipFill>
          <a:blip r:embed="rId6" cstate="print"/>
          <a:stretch>
            <a:fillRect/>
          </a:stretch>
        </p:blipFill>
        <p:spPr bwMode="gray">
          <a:xfrm>
            <a:off x="2887087" y="3770805"/>
            <a:ext cx="335297" cy="274335"/>
          </a:xfrm>
          <a:prstGeom prst="rect">
            <a:avLst/>
          </a:prstGeom>
        </p:spPr>
      </p:pic>
      <p:cxnSp>
        <p:nvCxnSpPr>
          <p:cNvPr id="130" name="Straight Connector 16"/>
          <p:cNvCxnSpPr>
            <a:stCxn id="128" idx="3"/>
            <a:endCxn id="129" idx="1"/>
          </p:cNvCxnSpPr>
          <p:nvPr/>
        </p:nvCxnSpPr>
        <p:spPr bwMode="gray">
          <a:xfrm>
            <a:off x="2402635" y="3907973"/>
            <a:ext cx="484452" cy="0"/>
          </a:xfrm>
          <a:prstGeom prst="line">
            <a:avLst/>
          </a:prstGeom>
          <a:noFill/>
          <a:ln w="19050" cap="flat" cmpd="sng" algn="ctr">
            <a:solidFill>
              <a:srgbClr val="0070C0"/>
            </a:solidFill>
            <a:prstDash val="solid"/>
            <a:miter lim="800000"/>
          </a:ln>
          <a:effectLst/>
        </p:spPr>
      </p:cxnSp>
      <p:cxnSp>
        <p:nvCxnSpPr>
          <p:cNvPr id="131" name="Straight Connector 19"/>
          <p:cNvCxnSpPr/>
          <p:nvPr/>
        </p:nvCxnSpPr>
        <p:spPr bwMode="gray">
          <a:xfrm>
            <a:off x="3980024" y="6082853"/>
            <a:ext cx="268482" cy="0"/>
          </a:xfrm>
          <a:prstGeom prst="line">
            <a:avLst/>
          </a:prstGeom>
          <a:noFill/>
          <a:ln w="19050" cap="flat" cmpd="sng" algn="ctr">
            <a:solidFill>
              <a:srgbClr val="0070C0"/>
            </a:solidFill>
            <a:prstDash val="solid"/>
            <a:miter lim="800000"/>
          </a:ln>
          <a:effectLst/>
        </p:spPr>
      </p:cxnSp>
      <p:sp>
        <p:nvSpPr>
          <p:cNvPr id="132" name="TextBox 20"/>
          <p:cNvSpPr txBox="1"/>
          <p:nvPr/>
        </p:nvSpPr>
        <p:spPr bwMode="gray">
          <a:xfrm>
            <a:off x="4248506" y="5951013"/>
            <a:ext cx="1223412" cy="276999"/>
          </a:xfrm>
          <a:prstGeom prst="rect">
            <a:avLst/>
          </a:prstGeom>
          <a:noFill/>
        </p:spPr>
        <p:txBody>
          <a:bodyPr wrap="none" rtlCol="0">
            <a:spAutoFit/>
          </a:bodyPr>
          <a:lstStyle/>
          <a:p>
            <a:pPr fontAlgn="auto">
              <a:spcBef>
                <a:spcPts val="0"/>
              </a:spcBef>
              <a:spcAft>
                <a:spcPts val="0"/>
              </a:spcAft>
            </a:pPr>
            <a:r>
              <a:rPr lang="en-US" altLang="zh-CN" sz="1200" dirty="0" err="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iStack</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/CSS</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链路</a:t>
            </a:r>
          </a:p>
        </p:txBody>
      </p:sp>
      <p:pic>
        <p:nvPicPr>
          <p:cNvPr id="133" name="图片 87" descr="汇聚交换机.png"/>
          <p:cNvPicPr>
            <a:picLocks noChangeAspect="1"/>
          </p:cNvPicPr>
          <p:nvPr/>
        </p:nvPicPr>
        <p:blipFill>
          <a:blip r:embed="rId6" cstate="print"/>
          <a:stretch>
            <a:fillRect/>
          </a:stretch>
        </p:blipFill>
        <p:spPr bwMode="gray">
          <a:xfrm>
            <a:off x="4080857" y="3770805"/>
            <a:ext cx="335297" cy="274335"/>
          </a:xfrm>
          <a:prstGeom prst="rect">
            <a:avLst/>
          </a:prstGeom>
        </p:spPr>
      </p:pic>
      <p:pic>
        <p:nvPicPr>
          <p:cNvPr id="134" name="图片 87" descr="汇聚交换机.png"/>
          <p:cNvPicPr>
            <a:picLocks noChangeAspect="1"/>
          </p:cNvPicPr>
          <p:nvPr/>
        </p:nvPicPr>
        <p:blipFill>
          <a:blip r:embed="rId6" cstate="print"/>
          <a:stretch>
            <a:fillRect/>
          </a:stretch>
        </p:blipFill>
        <p:spPr bwMode="gray">
          <a:xfrm>
            <a:off x="4901593" y="3770805"/>
            <a:ext cx="335297" cy="274335"/>
          </a:xfrm>
          <a:prstGeom prst="rect">
            <a:avLst/>
          </a:prstGeom>
        </p:spPr>
      </p:pic>
      <p:cxnSp>
        <p:nvCxnSpPr>
          <p:cNvPr id="135" name="Straight Connector 29"/>
          <p:cNvCxnSpPr>
            <a:stCxn id="133" idx="3"/>
            <a:endCxn id="134" idx="1"/>
          </p:cNvCxnSpPr>
          <p:nvPr/>
        </p:nvCxnSpPr>
        <p:spPr bwMode="gray">
          <a:xfrm>
            <a:off x="4416154" y="3907973"/>
            <a:ext cx="485439" cy="0"/>
          </a:xfrm>
          <a:prstGeom prst="line">
            <a:avLst/>
          </a:prstGeom>
          <a:noFill/>
          <a:ln w="19050" cap="flat" cmpd="sng" algn="ctr">
            <a:solidFill>
              <a:srgbClr val="0070C0"/>
            </a:solidFill>
            <a:prstDash val="solid"/>
            <a:miter lim="800000"/>
          </a:ln>
          <a:effectLst/>
        </p:spPr>
      </p:cxnSp>
      <p:cxnSp>
        <p:nvCxnSpPr>
          <p:cNvPr id="136" name="Straight Connector 30"/>
          <p:cNvCxnSpPr>
            <a:stCxn id="128" idx="0"/>
            <a:endCxn id="125" idx="2"/>
          </p:cNvCxnSpPr>
          <p:nvPr/>
        </p:nvCxnSpPr>
        <p:spPr bwMode="gray">
          <a:xfrm flipV="1">
            <a:off x="2234987" y="3142379"/>
            <a:ext cx="1005280" cy="628426"/>
          </a:xfrm>
          <a:prstGeom prst="line">
            <a:avLst/>
          </a:prstGeom>
          <a:noFill/>
          <a:ln w="19050" cap="flat" cmpd="sng" algn="ctr">
            <a:solidFill>
              <a:sysClr val="windowText" lastClr="000000"/>
            </a:solidFill>
            <a:prstDash val="solid"/>
            <a:miter lim="800000"/>
          </a:ln>
          <a:effectLst/>
        </p:spPr>
      </p:cxnSp>
      <p:cxnSp>
        <p:nvCxnSpPr>
          <p:cNvPr id="137" name="Straight Connector 33"/>
          <p:cNvCxnSpPr>
            <a:stCxn id="129" idx="0"/>
            <a:endCxn id="126" idx="2"/>
          </p:cNvCxnSpPr>
          <p:nvPr/>
        </p:nvCxnSpPr>
        <p:spPr bwMode="gray">
          <a:xfrm flipV="1">
            <a:off x="3054736" y="3142379"/>
            <a:ext cx="1007253" cy="628426"/>
          </a:xfrm>
          <a:prstGeom prst="line">
            <a:avLst/>
          </a:prstGeom>
          <a:noFill/>
          <a:ln w="19050" cap="flat" cmpd="sng" algn="ctr">
            <a:solidFill>
              <a:sysClr val="windowText" lastClr="000000"/>
            </a:solidFill>
            <a:prstDash val="solid"/>
            <a:miter lim="800000"/>
          </a:ln>
          <a:effectLst/>
        </p:spPr>
      </p:cxnSp>
      <p:cxnSp>
        <p:nvCxnSpPr>
          <p:cNvPr id="138" name="Straight Connector 36"/>
          <p:cNvCxnSpPr>
            <a:stCxn id="133" idx="0"/>
            <a:endCxn id="125" idx="2"/>
          </p:cNvCxnSpPr>
          <p:nvPr/>
        </p:nvCxnSpPr>
        <p:spPr bwMode="gray">
          <a:xfrm flipH="1" flipV="1">
            <a:off x="3240267" y="3142379"/>
            <a:ext cx="1008239" cy="628426"/>
          </a:xfrm>
          <a:prstGeom prst="line">
            <a:avLst/>
          </a:prstGeom>
          <a:noFill/>
          <a:ln w="19050" cap="flat" cmpd="sng" algn="ctr">
            <a:solidFill>
              <a:sysClr val="windowText" lastClr="000000"/>
            </a:solidFill>
            <a:prstDash val="solid"/>
            <a:miter lim="800000"/>
          </a:ln>
          <a:effectLst/>
        </p:spPr>
      </p:cxnSp>
      <p:cxnSp>
        <p:nvCxnSpPr>
          <p:cNvPr id="139" name="Straight Connector 39"/>
          <p:cNvCxnSpPr>
            <a:stCxn id="134" idx="0"/>
            <a:endCxn id="126" idx="2"/>
          </p:cNvCxnSpPr>
          <p:nvPr/>
        </p:nvCxnSpPr>
        <p:spPr bwMode="gray">
          <a:xfrm flipH="1" flipV="1">
            <a:off x="4061989" y="3142379"/>
            <a:ext cx="1007253" cy="628426"/>
          </a:xfrm>
          <a:prstGeom prst="line">
            <a:avLst/>
          </a:prstGeom>
          <a:noFill/>
          <a:ln w="19050" cap="flat" cmpd="sng" algn="ctr">
            <a:solidFill>
              <a:sysClr val="windowText" lastClr="000000"/>
            </a:solidFill>
            <a:prstDash val="solid"/>
            <a:miter lim="800000"/>
          </a:ln>
          <a:effectLst/>
        </p:spPr>
      </p:cxnSp>
      <p:sp>
        <p:nvSpPr>
          <p:cNvPr id="140" name="Oval 42"/>
          <p:cNvSpPr/>
          <p:nvPr/>
        </p:nvSpPr>
        <p:spPr bwMode="gray">
          <a:xfrm rot="3077028">
            <a:off x="2848295" y="3421118"/>
            <a:ext cx="580554" cy="91395"/>
          </a:xfrm>
          <a:prstGeom prst="ellipse">
            <a:avLst/>
          </a:prstGeom>
          <a:noFill/>
          <a:ln w="190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41" name="图片 106" descr="堆叠交换机蓝.png"/>
          <p:cNvPicPr>
            <a:picLocks noChangeAspect="1"/>
          </p:cNvPicPr>
          <p:nvPr/>
        </p:nvPicPr>
        <p:blipFill>
          <a:blip r:embed="rId7" cstate="print"/>
          <a:stretch>
            <a:fillRect/>
          </a:stretch>
        </p:blipFill>
        <p:spPr bwMode="gray">
          <a:xfrm>
            <a:off x="2066441" y="4651398"/>
            <a:ext cx="337091" cy="275802"/>
          </a:xfrm>
          <a:prstGeom prst="rect">
            <a:avLst/>
          </a:prstGeom>
        </p:spPr>
      </p:pic>
      <p:pic>
        <p:nvPicPr>
          <p:cNvPr id="142" name="图片 106" descr="堆叠交换机蓝.png"/>
          <p:cNvPicPr>
            <a:picLocks noChangeAspect="1"/>
          </p:cNvPicPr>
          <p:nvPr/>
        </p:nvPicPr>
        <p:blipFill>
          <a:blip r:embed="rId7" cstate="print"/>
          <a:stretch>
            <a:fillRect/>
          </a:stretch>
        </p:blipFill>
        <p:spPr bwMode="gray">
          <a:xfrm>
            <a:off x="2886190" y="4651398"/>
            <a:ext cx="337091" cy="275802"/>
          </a:xfrm>
          <a:prstGeom prst="rect">
            <a:avLst/>
          </a:prstGeom>
        </p:spPr>
      </p:pic>
      <p:cxnSp>
        <p:nvCxnSpPr>
          <p:cNvPr id="143" name="Straight Connector 34"/>
          <p:cNvCxnSpPr>
            <a:stCxn id="141" idx="0"/>
            <a:endCxn id="128" idx="2"/>
          </p:cNvCxnSpPr>
          <p:nvPr/>
        </p:nvCxnSpPr>
        <p:spPr bwMode="gray">
          <a:xfrm flipV="1">
            <a:off x="2234987" y="4045140"/>
            <a:ext cx="0" cy="606258"/>
          </a:xfrm>
          <a:prstGeom prst="line">
            <a:avLst/>
          </a:prstGeom>
          <a:noFill/>
          <a:ln w="19050" cap="flat" cmpd="sng" algn="ctr">
            <a:solidFill>
              <a:sysClr val="windowText" lastClr="000000"/>
            </a:solidFill>
            <a:prstDash val="solid"/>
            <a:miter lim="800000"/>
          </a:ln>
          <a:effectLst/>
        </p:spPr>
      </p:cxnSp>
      <p:cxnSp>
        <p:nvCxnSpPr>
          <p:cNvPr id="144" name="Straight Connector 35"/>
          <p:cNvCxnSpPr>
            <a:stCxn id="141" idx="0"/>
            <a:endCxn id="129" idx="2"/>
          </p:cNvCxnSpPr>
          <p:nvPr/>
        </p:nvCxnSpPr>
        <p:spPr bwMode="gray">
          <a:xfrm flipV="1">
            <a:off x="2234987" y="4045140"/>
            <a:ext cx="819749" cy="606258"/>
          </a:xfrm>
          <a:prstGeom prst="line">
            <a:avLst/>
          </a:prstGeom>
          <a:noFill/>
          <a:ln w="19050" cap="flat" cmpd="sng" algn="ctr">
            <a:solidFill>
              <a:sysClr val="windowText" lastClr="000000"/>
            </a:solidFill>
            <a:prstDash val="solid"/>
            <a:miter lim="800000"/>
          </a:ln>
          <a:effectLst/>
        </p:spPr>
      </p:cxnSp>
      <p:cxnSp>
        <p:nvCxnSpPr>
          <p:cNvPr id="145" name="Straight Connector 37"/>
          <p:cNvCxnSpPr>
            <a:stCxn id="142" idx="0"/>
            <a:endCxn id="128" idx="2"/>
          </p:cNvCxnSpPr>
          <p:nvPr/>
        </p:nvCxnSpPr>
        <p:spPr bwMode="gray">
          <a:xfrm flipH="1" flipV="1">
            <a:off x="2234987" y="4045140"/>
            <a:ext cx="819749" cy="606258"/>
          </a:xfrm>
          <a:prstGeom prst="line">
            <a:avLst/>
          </a:prstGeom>
          <a:noFill/>
          <a:ln w="19050" cap="flat" cmpd="sng" algn="ctr">
            <a:solidFill>
              <a:sysClr val="windowText" lastClr="000000"/>
            </a:solidFill>
            <a:prstDash val="solid"/>
            <a:miter lim="800000"/>
          </a:ln>
          <a:effectLst/>
        </p:spPr>
      </p:cxnSp>
      <p:cxnSp>
        <p:nvCxnSpPr>
          <p:cNvPr id="146" name="Straight Connector 38"/>
          <p:cNvCxnSpPr>
            <a:stCxn id="142" idx="0"/>
            <a:endCxn id="129" idx="2"/>
          </p:cNvCxnSpPr>
          <p:nvPr/>
        </p:nvCxnSpPr>
        <p:spPr bwMode="gray">
          <a:xfrm flipV="1">
            <a:off x="3054736" y="4045140"/>
            <a:ext cx="0" cy="606258"/>
          </a:xfrm>
          <a:prstGeom prst="line">
            <a:avLst/>
          </a:prstGeom>
          <a:noFill/>
          <a:ln w="19050" cap="flat" cmpd="sng" algn="ctr">
            <a:solidFill>
              <a:sysClr val="windowText" lastClr="000000"/>
            </a:solidFill>
            <a:prstDash val="solid"/>
            <a:miter lim="800000"/>
          </a:ln>
          <a:effectLst/>
        </p:spPr>
      </p:cxnSp>
      <p:grpSp>
        <p:nvGrpSpPr>
          <p:cNvPr id="147" name="Group 40"/>
          <p:cNvGrpSpPr/>
          <p:nvPr/>
        </p:nvGrpSpPr>
        <p:grpSpPr bwMode="gray">
          <a:xfrm>
            <a:off x="2513878" y="4757501"/>
            <a:ext cx="261965" cy="61979"/>
            <a:chOff x="559282" y="6488261"/>
            <a:chExt cx="261965" cy="61979"/>
          </a:xfrm>
          <a:solidFill>
            <a:sysClr val="window" lastClr="FFFFFF">
              <a:lumMod val="50000"/>
            </a:sysClr>
          </a:solidFill>
        </p:grpSpPr>
        <p:sp>
          <p:nvSpPr>
            <p:cNvPr id="148" name="Oval 41"/>
            <p:cNvSpPr>
              <a:spLocks noChangeAspect="1"/>
            </p:cNvSpPr>
            <p:nvPr/>
          </p:nvSpPr>
          <p:spPr bwMode="gray">
            <a:xfrm>
              <a:off x="759268" y="6488261"/>
              <a:ext cx="61979" cy="61979"/>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9" name="Oval 44"/>
            <p:cNvSpPr>
              <a:spLocks noChangeAspect="1"/>
            </p:cNvSpPr>
            <p:nvPr/>
          </p:nvSpPr>
          <p:spPr bwMode="gray">
            <a:xfrm>
              <a:off x="559282" y="6488261"/>
              <a:ext cx="61979" cy="61979"/>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0" name="Oval 45"/>
            <p:cNvSpPr>
              <a:spLocks noChangeAspect="1"/>
            </p:cNvSpPr>
            <p:nvPr/>
          </p:nvSpPr>
          <p:spPr bwMode="gray">
            <a:xfrm>
              <a:off x="659275" y="6488261"/>
              <a:ext cx="61979" cy="61979"/>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151" name="图片 106" descr="堆叠交换机蓝.png"/>
          <p:cNvPicPr>
            <a:picLocks noChangeAspect="1"/>
          </p:cNvPicPr>
          <p:nvPr/>
        </p:nvPicPr>
        <p:blipFill>
          <a:blip r:embed="rId7" cstate="print"/>
          <a:stretch>
            <a:fillRect/>
          </a:stretch>
        </p:blipFill>
        <p:spPr bwMode="gray">
          <a:xfrm>
            <a:off x="4079960" y="4651398"/>
            <a:ext cx="337091" cy="275802"/>
          </a:xfrm>
          <a:prstGeom prst="rect">
            <a:avLst/>
          </a:prstGeom>
        </p:spPr>
      </p:pic>
      <p:pic>
        <p:nvPicPr>
          <p:cNvPr id="152" name="图片 106" descr="堆叠交换机蓝.png"/>
          <p:cNvPicPr>
            <a:picLocks noChangeAspect="1"/>
          </p:cNvPicPr>
          <p:nvPr/>
        </p:nvPicPr>
        <p:blipFill>
          <a:blip r:embed="rId7" cstate="print"/>
          <a:stretch>
            <a:fillRect/>
          </a:stretch>
        </p:blipFill>
        <p:spPr bwMode="gray">
          <a:xfrm>
            <a:off x="4900696" y="4651398"/>
            <a:ext cx="337091" cy="275802"/>
          </a:xfrm>
          <a:prstGeom prst="rect">
            <a:avLst/>
          </a:prstGeom>
        </p:spPr>
      </p:pic>
      <p:grpSp>
        <p:nvGrpSpPr>
          <p:cNvPr id="153" name="Group 54"/>
          <p:cNvGrpSpPr/>
          <p:nvPr/>
        </p:nvGrpSpPr>
        <p:grpSpPr bwMode="gray">
          <a:xfrm>
            <a:off x="4528384" y="4757501"/>
            <a:ext cx="261965" cy="61979"/>
            <a:chOff x="559282" y="6488261"/>
            <a:chExt cx="261965" cy="61979"/>
          </a:xfrm>
          <a:solidFill>
            <a:sysClr val="window" lastClr="FFFFFF">
              <a:lumMod val="50000"/>
            </a:sysClr>
          </a:solidFill>
        </p:grpSpPr>
        <p:sp>
          <p:nvSpPr>
            <p:cNvPr id="154" name="Oval 55"/>
            <p:cNvSpPr>
              <a:spLocks noChangeAspect="1"/>
            </p:cNvSpPr>
            <p:nvPr/>
          </p:nvSpPr>
          <p:spPr bwMode="gray">
            <a:xfrm>
              <a:off x="759268" y="6488261"/>
              <a:ext cx="61979" cy="61979"/>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5" name="Oval 56"/>
            <p:cNvSpPr>
              <a:spLocks noChangeAspect="1"/>
            </p:cNvSpPr>
            <p:nvPr/>
          </p:nvSpPr>
          <p:spPr bwMode="gray">
            <a:xfrm>
              <a:off x="559282" y="6488261"/>
              <a:ext cx="61979" cy="61979"/>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6" name="Oval 57"/>
            <p:cNvSpPr>
              <a:spLocks noChangeAspect="1"/>
            </p:cNvSpPr>
            <p:nvPr/>
          </p:nvSpPr>
          <p:spPr bwMode="gray">
            <a:xfrm>
              <a:off x="659275" y="6488261"/>
              <a:ext cx="61979" cy="61979"/>
            </a:xfrm>
            <a:prstGeom prst="ellipse">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157" name="Straight Connector 58"/>
          <p:cNvCxnSpPr>
            <a:stCxn id="151" idx="0"/>
            <a:endCxn id="133" idx="2"/>
          </p:cNvCxnSpPr>
          <p:nvPr/>
        </p:nvCxnSpPr>
        <p:spPr bwMode="gray">
          <a:xfrm flipV="1">
            <a:off x="4248506" y="4045140"/>
            <a:ext cx="0" cy="606258"/>
          </a:xfrm>
          <a:prstGeom prst="line">
            <a:avLst/>
          </a:prstGeom>
          <a:noFill/>
          <a:ln w="19050" cap="flat" cmpd="sng" algn="ctr">
            <a:solidFill>
              <a:sysClr val="windowText" lastClr="000000"/>
            </a:solidFill>
            <a:prstDash val="solid"/>
            <a:miter lim="800000"/>
          </a:ln>
          <a:effectLst/>
        </p:spPr>
      </p:cxnSp>
      <p:cxnSp>
        <p:nvCxnSpPr>
          <p:cNvPr id="158" name="Straight Connector 61"/>
          <p:cNvCxnSpPr>
            <a:stCxn id="152" idx="0"/>
            <a:endCxn id="134" idx="2"/>
          </p:cNvCxnSpPr>
          <p:nvPr/>
        </p:nvCxnSpPr>
        <p:spPr bwMode="gray">
          <a:xfrm flipV="1">
            <a:off x="5069242" y="4045140"/>
            <a:ext cx="0" cy="606258"/>
          </a:xfrm>
          <a:prstGeom prst="line">
            <a:avLst/>
          </a:prstGeom>
          <a:noFill/>
          <a:ln w="19050" cap="flat" cmpd="sng" algn="ctr">
            <a:solidFill>
              <a:sysClr val="windowText" lastClr="000000"/>
            </a:solidFill>
            <a:prstDash val="solid"/>
            <a:miter lim="800000"/>
          </a:ln>
          <a:effectLst/>
        </p:spPr>
      </p:cxnSp>
      <p:cxnSp>
        <p:nvCxnSpPr>
          <p:cNvPr id="159" name="Straight Connector 64"/>
          <p:cNvCxnSpPr>
            <a:stCxn id="151" idx="0"/>
            <a:endCxn id="134" idx="2"/>
          </p:cNvCxnSpPr>
          <p:nvPr/>
        </p:nvCxnSpPr>
        <p:spPr bwMode="gray">
          <a:xfrm flipV="1">
            <a:off x="4248506" y="4045140"/>
            <a:ext cx="820736" cy="606258"/>
          </a:xfrm>
          <a:prstGeom prst="line">
            <a:avLst/>
          </a:prstGeom>
          <a:noFill/>
          <a:ln w="19050" cap="flat" cmpd="sng" algn="ctr">
            <a:solidFill>
              <a:sysClr val="windowText" lastClr="000000"/>
            </a:solidFill>
            <a:prstDash val="solid"/>
            <a:miter lim="800000"/>
          </a:ln>
          <a:effectLst/>
        </p:spPr>
      </p:cxnSp>
      <p:cxnSp>
        <p:nvCxnSpPr>
          <p:cNvPr id="160" name="Straight Connector 67"/>
          <p:cNvCxnSpPr>
            <a:stCxn id="152" idx="0"/>
            <a:endCxn id="133" idx="2"/>
          </p:cNvCxnSpPr>
          <p:nvPr/>
        </p:nvCxnSpPr>
        <p:spPr bwMode="gray">
          <a:xfrm flipH="1" flipV="1">
            <a:off x="4248506" y="4045140"/>
            <a:ext cx="820736" cy="606258"/>
          </a:xfrm>
          <a:prstGeom prst="line">
            <a:avLst/>
          </a:prstGeom>
          <a:noFill/>
          <a:ln w="19050" cap="flat" cmpd="sng" algn="ctr">
            <a:solidFill>
              <a:sysClr val="windowText" lastClr="000000"/>
            </a:solidFill>
            <a:prstDash val="solid"/>
            <a:miter lim="800000"/>
          </a:ln>
          <a:effectLst/>
        </p:spPr>
      </p:cxnSp>
      <p:cxnSp>
        <p:nvCxnSpPr>
          <p:cNvPr id="161" name="Straight Connector 70"/>
          <p:cNvCxnSpPr>
            <a:stCxn id="123" idx="0"/>
            <a:endCxn id="142" idx="2"/>
          </p:cNvCxnSpPr>
          <p:nvPr/>
        </p:nvCxnSpPr>
        <p:spPr bwMode="gray">
          <a:xfrm flipV="1">
            <a:off x="3053749" y="4927200"/>
            <a:ext cx="987" cy="232097"/>
          </a:xfrm>
          <a:prstGeom prst="line">
            <a:avLst/>
          </a:prstGeom>
          <a:noFill/>
          <a:ln w="19050" cap="flat" cmpd="sng" algn="ctr">
            <a:solidFill>
              <a:sysClr val="windowText" lastClr="000000"/>
            </a:solidFill>
            <a:prstDash val="solid"/>
            <a:miter lim="800000"/>
          </a:ln>
          <a:effectLst/>
        </p:spPr>
      </p:cxnSp>
      <p:cxnSp>
        <p:nvCxnSpPr>
          <p:cNvPr id="162" name="Straight Connector 79"/>
          <p:cNvCxnSpPr>
            <a:stCxn id="125" idx="1"/>
            <a:endCxn id="124" idx="3"/>
          </p:cNvCxnSpPr>
          <p:nvPr/>
        </p:nvCxnSpPr>
        <p:spPr bwMode="gray">
          <a:xfrm flipH="1" flipV="1">
            <a:off x="2470590" y="3005211"/>
            <a:ext cx="602028" cy="1"/>
          </a:xfrm>
          <a:prstGeom prst="line">
            <a:avLst/>
          </a:prstGeom>
          <a:noFill/>
          <a:ln w="19050" cap="flat" cmpd="sng" algn="ctr">
            <a:solidFill>
              <a:sysClr val="windowText" lastClr="000000"/>
            </a:solidFill>
            <a:prstDash val="solid"/>
            <a:miter lim="800000"/>
          </a:ln>
          <a:effectLst/>
        </p:spPr>
      </p:cxnSp>
      <p:pic>
        <p:nvPicPr>
          <p:cNvPr id="163" name="Picture 2" descr="G:\做的项目\公共\扁平图标切换\更新2015_01_21\oss扁平图标库2015_01_21更新-04.png"/>
          <p:cNvPicPr>
            <a:picLocks noChangeAspect="1" noChangeArrowheads="1"/>
          </p:cNvPicPr>
          <p:nvPr/>
        </p:nvPicPr>
        <p:blipFill>
          <a:blip r:embed="rId8" cstate="print"/>
          <a:stretch>
            <a:fillRect/>
          </a:stretch>
        </p:blipFill>
        <p:spPr bwMode="gray">
          <a:xfrm>
            <a:off x="3069617" y="1592807"/>
            <a:ext cx="337091" cy="275801"/>
          </a:xfrm>
          <a:prstGeom prst="rect">
            <a:avLst/>
          </a:prstGeom>
          <a:noFill/>
        </p:spPr>
      </p:pic>
      <p:pic>
        <p:nvPicPr>
          <p:cNvPr id="164" name="Picture 2" descr="G:\做的项目\公共\扁平图标切换\更新2015_01_21\oss扁平图标库2015_01_21更新-04.png"/>
          <p:cNvPicPr>
            <a:picLocks noChangeAspect="1" noChangeArrowheads="1"/>
          </p:cNvPicPr>
          <p:nvPr/>
        </p:nvPicPr>
        <p:blipFill>
          <a:blip r:embed="rId8" cstate="print"/>
          <a:stretch>
            <a:fillRect/>
          </a:stretch>
        </p:blipFill>
        <p:spPr bwMode="gray">
          <a:xfrm>
            <a:off x="3893443" y="1592807"/>
            <a:ext cx="337091" cy="275801"/>
          </a:xfrm>
          <a:prstGeom prst="rect">
            <a:avLst/>
          </a:prstGeom>
          <a:noFill/>
        </p:spPr>
      </p:pic>
      <p:cxnSp>
        <p:nvCxnSpPr>
          <p:cNvPr id="165" name="Straight Connector 98"/>
          <p:cNvCxnSpPr>
            <a:stCxn id="164" idx="2"/>
            <a:endCxn id="126" idx="0"/>
          </p:cNvCxnSpPr>
          <p:nvPr/>
        </p:nvCxnSpPr>
        <p:spPr bwMode="gray">
          <a:xfrm>
            <a:off x="4061989" y="1868608"/>
            <a:ext cx="0" cy="999436"/>
          </a:xfrm>
          <a:prstGeom prst="line">
            <a:avLst/>
          </a:prstGeom>
          <a:noFill/>
          <a:ln w="19050" cap="flat" cmpd="sng" algn="ctr">
            <a:solidFill>
              <a:sysClr val="windowText" lastClr="000000"/>
            </a:solidFill>
            <a:prstDash val="solid"/>
            <a:miter lim="800000"/>
          </a:ln>
          <a:effectLst/>
        </p:spPr>
      </p:cxnSp>
      <p:cxnSp>
        <p:nvCxnSpPr>
          <p:cNvPr id="166" name="Straight Connector 101"/>
          <p:cNvCxnSpPr>
            <a:stCxn id="163" idx="2"/>
            <a:endCxn id="125" idx="0"/>
          </p:cNvCxnSpPr>
          <p:nvPr/>
        </p:nvCxnSpPr>
        <p:spPr bwMode="gray">
          <a:xfrm>
            <a:off x="3238163" y="1868608"/>
            <a:ext cx="2104" cy="999436"/>
          </a:xfrm>
          <a:prstGeom prst="line">
            <a:avLst/>
          </a:prstGeom>
          <a:noFill/>
          <a:ln w="19050" cap="flat" cmpd="sng" algn="ctr">
            <a:solidFill>
              <a:sysClr val="windowText" lastClr="000000"/>
            </a:solidFill>
            <a:prstDash val="solid"/>
            <a:miter lim="800000"/>
          </a:ln>
          <a:effectLst/>
        </p:spPr>
      </p:cxnSp>
      <p:cxnSp>
        <p:nvCxnSpPr>
          <p:cNvPr id="167" name="Straight Connector 104"/>
          <p:cNvCxnSpPr>
            <a:stCxn id="163" idx="3"/>
            <a:endCxn id="164" idx="1"/>
          </p:cNvCxnSpPr>
          <p:nvPr/>
        </p:nvCxnSpPr>
        <p:spPr bwMode="gray">
          <a:xfrm>
            <a:off x="3406708" y="1730708"/>
            <a:ext cx="486735" cy="0"/>
          </a:xfrm>
          <a:prstGeom prst="line">
            <a:avLst/>
          </a:prstGeom>
          <a:noFill/>
          <a:ln w="19050" cap="flat" cmpd="sng" algn="ctr">
            <a:solidFill>
              <a:sysClr val="windowText" lastClr="000000"/>
            </a:solidFill>
            <a:prstDash val="solid"/>
            <a:miter lim="800000"/>
          </a:ln>
          <a:effectLst/>
        </p:spPr>
      </p:cxnSp>
      <p:sp>
        <p:nvSpPr>
          <p:cNvPr id="168" name="Oval 59"/>
          <p:cNvSpPr/>
          <p:nvPr/>
        </p:nvSpPr>
        <p:spPr bwMode="gray">
          <a:xfrm rot="1782887">
            <a:off x="2157803" y="4446857"/>
            <a:ext cx="311619" cy="90813"/>
          </a:xfrm>
          <a:prstGeom prst="ellipse">
            <a:avLst/>
          </a:prstGeom>
          <a:noFill/>
          <a:ln w="190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9" name="Oval 62"/>
          <p:cNvSpPr/>
          <p:nvPr/>
        </p:nvSpPr>
        <p:spPr bwMode="gray">
          <a:xfrm rot="19401600">
            <a:off x="2815704" y="4459608"/>
            <a:ext cx="311619" cy="90813"/>
          </a:xfrm>
          <a:prstGeom prst="ellipse">
            <a:avLst/>
          </a:prstGeom>
          <a:noFill/>
          <a:ln w="190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0" name="Oval 63"/>
          <p:cNvSpPr/>
          <p:nvPr/>
        </p:nvSpPr>
        <p:spPr bwMode="gray">
          <a:xfrm rot="1782887">
            <a:off x="4159217" y="4478736"/>
            <a:ext cx="311619" cy="90813"/>
          </a:xfrm>
          <a:prstGeom prst="ellipse">
            <a:avLst/>
          </a:prstGeom>
          <a:noFill/>
          <a:ln w="190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1" name="Oval 65"/>
          <p:cNvSpPr/>
          <p:nvPr/>
        </p:nvSpPr>
        <p:spPr bwMode="gray">
          <a:xfrm rot="19401600">
            <a:off x="4854041" y="4453924"/>
            <a:ext cx="311619" cy="90813"/>
          </a:xfrm>
          <a:prstGeom prst="ellipse">
            <a:avLst/>
          </a:prstGeom>
          <a:noFill/>
          <a:ln w="190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72" name="图片 14" descr="日志告警服务器-蓝.png"/>
          <p:cNvPicPr>
            <a:picLocks noChangeAspect="1"/>
          </p:cNvPicPr>
          <p:nvPr/>
        </p:nvPicPr>
        <p:blipFill>
          <a:blip r:embed="rId9" cstate="print"/>
          <a:stretch>
            <a:fillRect/>
          </a:stretch>
        </p:blipFill>
        <p:spPr bwMode="gray">
          <a:xfrm>
            <a:off x="1971030" y="5630177"/>
            <a:ext cx="304595" cy="190195"/>
          </a:xfrm>
          <a:prstGeom prst="rect">
            <a:avLst/>
          </a:prstGeom>
        </p:spPr>
      </p:pic>
      <p:pic>
        <p:nvPicPr>
          <p:cNvPr id="173" name="图片 42" descr="IP电话.png"/>
          <p:cNvPicPr>
            <a:picLocks noChangeAspect="1"/>
          </p:cNvPicPr>
          <p:nvPr/>
        </p:nvPicPr>
        <p:blipFill>
          <a:blip r:embed="rId10" cstate="print"/>
          <a:stretch>
            <a:fillRect/>
          </a:stretch>
        </p:blipFill>
        <p:spPr bwMode="gray">
          <a:xfrm>
            <a:off x="2826674" y="5567684"/>
            <a:ext cx="335265" cy="315180"/>
          </a:xfrm>
          <a:prstGeom prst="rect">
            <a:avLst/>
          </a:prstGeom>
        </p:spPr>
      </p:pic>
      <p:pic>
        <p:nvPicPr>
          <p:cNvPr id="174" name="图片 11" descr="开放网络-蓝.png"/>
          <p:cNvPicPr>
            <a:picLocks noChangeAspect="1"/>
          </p:cNvPicPr>
          <p:nvPr/>
        </p:nvPicPr>
        <p:blipFill>
          <a:blip r:embed="rId11" cstate="print"/>
          <a:stretch>
            <a:fillRect/>
          </a:stretch>
        </p:blipFill>
        <p:spPr bwMode="gray">
          <a:xfrm>
            <a:off x="4015240" y="5608038"/>
            <a:ext cx="304595" cy="234472"/>
          </a:xfrm>
          <a:prstGeom prst="rect">
            <a:avLst/>
          </a:prstGeom>
        </p:spPr>
      </p:pic>
      <p:pic>
        <p:nvPicPr>
          <p:cNvPr id="175" name="图片 158" descr="SAN网络-蓝.png"/>
          <p:cNvPicPr>
            <a:picLocks noChangeAspect="1"/>
          </p:cNvPicPr>
          <p:nvPr/>
        </p:nvPicPr>
        <p:blipFill>
          <a:blip r:embed="rId12" cstate="print"/>
          <a:stretch>
            <a:fillRect/>
          </a:stretch>
        </p:blipFill>
        <p:spPr bwMode="gray">
          <a:xfrm>
            <a:off x="2468089" y="5589196"/>
            <a:ext cx="166121" cy="272157"/>
          </a:xfrm>
          <a:prstGeom prst="rect">
            <a:avLst/>
          </a:prstGeom>
        </p:spPr>
      </p:pic>
      <p:pic>
        <p:nvPicPr>
          <p:cNvPr id="176" name="图片 47" descr="打印机.png"/>
          <p:cNvPicPr>
            <a:picLocks noChangeAspect="1"/>
          </p:cNvPicPr>
          <p:nvPr/>
        </p:nvPicPr>
        <p:blipFill>
          <a:blip r:embed="rId13" cstate="print"/>
          <a:stretch>
            <a:fillRect/>
          </a:stretch>
        </p:blipFill>
        <p:spPr bwMode="gray">
          <a:xfrm>
            <a:off x="4891141" y="5592272"/>
            <a:ext cx="334175" cy="266004"/>
          </a:xfrm>
          <a:prstGeom prst="rect">
            <a:avLst/>
          </a:prstGeom>
        </p:spPr>
      </p:pic>
      <p:pic>
        <p:nvPicPr>
          <p:cNvPr id="177" name="图片 157" descr="故障链路.png"/>
          <p:cNvPicPr>
            <a:picLocks noChangeAspect="1"/>
          </p:cNvPicPr>
          <p:nvPr/>
        </p:nvPicPr>
        <p:blipFill>
          <a:blip r:embed="rId14" cstate="print"/>
          <a:stretch>
            <a:fillRect/>
          </a:stretch>
        </p:blipFill>
        <p:spPr bwMode="gray">
          <a:xfrm>
            <a:off x="4437840" y="5600262"/>
            <a:ext cx="335297" cy="250025"/>
          </a:xfrm>
          <a:prstGeom prst="rect">
            <a:avLst/>
          </a:prstGeom>
        </p:spPr>
      </p:pic>
      <p:sp>
        <p:nvSpPr>
          <p:cNvPr id="178" name="TextBox 85"/>
          <p:cNvSpPr txBox="1"/>
          <p:nvPr/>
        </p:nvSpPr>
        <p:spPr bwMode="gray">
          <a:xfrm>
            <a:off x="757382" y="2114052"/>
            <a:ext cx="646331" cy="276999"/>
          </a:xfrm>
          <a:prstGeom prst="rect">
            <a:avLst/>
          </a:prstGeom>
          <a:noFill/>
        </p:spPr>
        <p:txBody>
          <a:bodyPr wrap="none" rtlCol="0">
            <a:spAutoFit/>
          </a:bodyPr>
          <a:lstStyle/>
          <a:p>
            <a:pPr fontAlgn="auto">
              <a:spcBef>
                <a:spcPts val="0"/>
              </a:spcBef>
              <a:spcAft>
                <a:spcPts val="0"/>
              </a:spcAft>
            </a:pP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出口区</a:t>
            </a:r>
          </a:p>
        </p:txBody>
      </p:sp>
      <p:sp>
        <p:nvSpPr>
          <p:cNvPr id="179" name="TextBox 86"/>
          <p:cNvSpPr txBox="1"/>
          <p:nvPr/>
        </p:nvSpPr>
        <p:spPr bwMode="gray">
          <a:xfrm>
            <a:off x="757382" y="3314006"/>
            <a:ext cx="646331" cy="276999"/>
          </a:xfrm>
          <a:prstGeom prst="rect">
            <a:avLst/>
          </a:prstGeom>
          <a:noFill/>
        </p:spPr>
        <p:txBody>
          <a:bodyPr wrap="none" rtlCol="0">
            <a:spAutoFit/>
          </a:bodyPr>
          <a:lstStyle/>
          <a:p>
            <a:pPr fontAlgn="auto">
              <a:spcBef>
                <a:spcPts val="0"/>
              </a:spcBef>
              <a:spcAft>
                <a:spcPts val="0"/>
              </a:spcAft>
            </a:pPr>
            <a:r>
              <a:rPr lang="zh-CN" altLang="en-US"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核心层</a:t>
            </a:r>
          </a:p>
        </p:txBody>
      </p:sp>
      <p:sp>
        <p:nvSpPr>
          <p:cNvPr id="180" name="TextBox 88"/>
          <p:cNvSpPr txBox="1"/>
          <p:nvPr/>
        </p:nvSpPr>
        <p:spPr bwMode="gray">
          <a:xfrm>
            <a:off x="757382" y="3953662"/>
            <a:ext cx="646331" cy="276999"/>
          </a:xfrm>
          <a:prstGeom prst="rect">
            <a:avLst/>
          </a:prstGeom>
          <a:noFill/>
        </p:spPr>
        <p:txBody>
          <a:bodyPr wrap="none" rtlCol="0">
            <a:spAutoFit/>
          </a:bodyPr>
          <a:lstStyle/>
          <a:p>
            <a:pPr fontAlgn="auto">
              <a:spcBef>
                <a:spcPts val="0"/>
              </a:spcBef>
              <a:spcAft>
                <a:spcPts val="0"/>
              </a:spcAft>
            </a:pPr>
            <a:r>
              <a:rPr lang="zh-CN" altLang="en-US"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汇聚层</a:t>
            </a:r>
          </a:p>
        </p:txBody>
      </p:sp>
      <p:sp>
        <p:nvSpPr>
          <p:cNvPr id="181" name="TextBox 89"/>
          <p:cNvSpPr txBox="1"/>
          <p:nvPr/>
        </p:nvSpPr>
        <p:spPr bwMode="gray">
          <a:xfrm>
            <a:off x="757382" y="5171709"/>
            <a:ext cx="646331" cy="276999"/>
          </a:xfrm>
          <a:prstGeom prst="rect">
            <a:avLst/>
          </a:prstGeom>
          <a:noFill/>
        </p:spPr>
        <p:txBody>
          <a:bodyPr wrap="none" rtlCol="0">
            <a:spAutoFit/>
          </a:bodyPr>
          <a:lstStyle/>
          <a:p>
            <a:pPr fontAlgn="auto">
              <a:spcBef>
                <a:spcPts val="0"/>
              </a:spcBef>
              <a:spcAft>
                <a:spcPts val="0"/>
              </a:spcAft>
            </a:pP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接入层</a:t>
            </a:r>
          </a:p>
        </p:txBody>
      </p:sp>
      <p:sp>
        <p:nvSpPr>
          <p:cNvPr id="182" name="TextBox 91"/>
          <p:cNvSpPr txBox="1"/>
          <p:nvPr/>
        </p:nvSpPr>
        <p:spPr bwMode="gray">
          <a:xfrm>
            <a:off x="757382" y="5672271"/>
            <a:ext cx="646331" cy="276999"/>
          </a:xfrm>
          <a:prstGeom prst="rect">
            <a:avLst/>
          </a:prstGeom>
          <a:noFill/>
        </p:spPr>
        <p:txBody>
          <a:bodyPr wrap="none" rtlCol="0">
            <a:spAutoFit/>
          </a:bodyPr>
          <a:lstStyle/>
          <a:p>
            <a:pPr fontAlgn="auto">
              <a:spcBef>
                <a:spcPts val="0"/>
              </a:spcBef>
              <a:spcAft>
                <a:spcPts val="0"/>
              </a:spcAft>
            </a:pPr>
            <a:r>
              <a:rPr lang="zh-CN" altLang="en-US" sz="12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终端层</a:t>
            </a:r>
          </a:p>
        </p:txBody>
      </p:sp>
      <p:sp>
        <p:nvSpPr>
          <p:cNvPr id="183" name="Oval 92"/>
          <p:cNvSpPr/>
          <p:nvPr/>
        </p:nvSpPr>
        <p:spPr bwMode="gray">
          <a:xfrm rot="18651691">
            <a:off x="3892603" y="3438606"/>
            <a:ext cx="580554" cy="91395"/>
          </a:xfrm>
          <a:prstGeom prst="ellipse">
            <a:avLst/>
          </a:prstGeom>
          <a:noFill/>
          <a:ln w="1905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85" name="组合 35"/>
          <p:cNvGrpSpPr/>
          <p:nvPr/>
        </p:nvGrpSpPr>
        <p:grpSpPr bwMode="gray">
          <a:xfrm>
            <a:off x="2931996" y="1023140"/>
            <a:ext cx="633070" cy="358898"/>
            <a:chOff x="3269076" y="1744970"/>
            <a:chExt cx="1860118" cy="1054529"/>
          </a:xfrm>
          <a:solidFill>
            <a:schemeClr val="bg1">
              <a:lumMod val="85000"/>
            </a:schemeClr>
          </a:solidFill>
        </p:grpSpPr>
        <p:sp>
          <p:nvSpPr>
            <p:cNvPr id="187" name="矩形 36"/>
            <p:cNvSpPr/>
            <p:nvPr/>
          </p:nvSpPr>
          <p:spPr bwMode="gray">
            <a:xfrm>
              <a:off x="3495526" y="2457907"/>
              <a:ext cx="1426464" cy="341592"/>
            </a:xfrm>
            <a:prstGeom prst="rect">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8" name="Oval 62"/>
            <p:cNvSpPr/>
            <p:nvPr/>
          </p:nvSpPr>
          <p:spPr bwMode="gray">
            <a:xfrm>
              <a:off x="3452774" y="1920065"/>
              <a:ext cx="761732" cy="698886"/>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9" name="Oval 63"/>
            <p:cNvSpPr/>
            <p:nvPr/>
          </p:nvSpPr>
          <p:spPr bwMode="gray">
            <a:xfrm>
              <a:off x="3269076" y="2248790"/>
              <a:ext cx="545661" cy="550709"/>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0" name="Oval 64"/>
            <p:cNvSpPr/>
            <p:nvPr/>
          </p:nvSpPr>
          <p:spPr bwMode="gray">
            <a:xfrm>
              <a:off x="4633138" y="2298856"/>
              <a:ext cx="496056" cy="500643"/>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1" name="Oval 65"/>
            <p:cNvSpPr/>
            <p:nvPr/>
          </p:nvSpPr>
          <p:spPr bwMode="gray">
            <a:xfrm>
              <a:off x="3759782" y="2292552"/>
              <a:ext cx="496056" cy="3761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2" name="Oval 64"/>
            <p:cNvSpPr/>
            <p:nvPr/>
          </p:nvSpPr>
          <p:spPr bwMode="gray">
            <a:xfrm>
              <a:off x="3924619" y="1744970"/>
              <a:ext cx="998406" cy="10076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86" name="TextBox 114"/>
          <p:cNvSpPr txBox="1"/>
          <p:nvPr/>
        </p:nvSpPr>
        <p:spPr bwMode="gray">
          <a:xfrm>
            <a:off x="2854032" y="1121348"/>
            <a:ext cx="788999" cy="276999"/>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Internet</a:t>
            </a:r>
            <a:endParaRPr kumimoji="0" lang="zh-CN" altLang="en-US" sz="1200" b="1"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94" name="组合 35"/>
          <p:cNvGrpSpPr/>
          <p:nvPr/>
        </p:nvGrpSpPr>
        <p:grpSpPr bwMode="gray">
          <a:xfrm>
            <a:off x="3745453" y="1023140"/>
            <a:ext cx="633070" cy="358898"/>
            <a:chOff x="3269076" y="1744970"/>
            <a:chExt cx="1860118" cy="1054529"/>
          </a:xfrm>
          <a:solidFill>
            <a:schemeClr val="bg1">
              <a:lumMod val="85000"/>
            </a:schemeClr>
          </a:solidFill>
        </p:grpSpPr>
        <p:sp>
          <p:nvSpPr>
            <p:cNvPr id="196" name="矩形 36"/>
            <p:cNvSpPr/>
            <p:nvPr/>
          </p:nvSpPr>
          <p:spPr bwMode="gray">
            <a:xfrm>
              <a:off x="3495526" y="2457907"/>
              <a:ext cx="1426464" cy="341592"/>
            </a:xfrm>
            <a:prstGeom prst="rect">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7" name="Oval 62"/>
            <p:cNvSpPr/>
            <p:nvPr/>
          </p:nvSpPr>
          <p:spPr bwMode="gray">
            <a:xfrm>
              <a:off x="3452774" y="1920065"/>
              <a:ext cx="761732" cy="698886"/>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8" name="Oval 63"/>
            <p:cNvSpPr/>
            <p:nvPr/>
          </p:nvSpPr>
          <p:spPr bwMode="gray">
            <a:xfrm>
              <a:off x="3269076" y="2248790"/>
              <a:ext cx="545661" cy="550709"/>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9" name="Oval 64"/>
            <p:cNvSpPr/>
            <p:nvPr/>
          </p:nvSpPr>
          <p:spPr bwMode="gray">
            <a:xfrm>
              <a:off x="4633138" y="2298856"/>
              <a:ext cx="496056" cy="500643"/>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0" name="Oval 65"/>
            <p:cNvSpPr/>
            <p:nvPr/>
          </p:nvSpPr>
          <p:spPr bwMode="gray">
            <a:xfrm>
              <a:off x="3759782" y="2292552"/>
              <a:ext cx="496056" cy="3761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1" name="Oval 64"/>
            <p:cNvSpPr/>
            <p:nvPr/>
          </p:nvSpPr>
          <p:spPr bwMode="gray">
            <a:xfrm>
              <a:off x="3924619" y="1744970"/>
              <a:ext cx="998406" cy="10076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95" name="TextBox 117"/>
          <p:cNvSpPr txBox="1"/>
          <p:nvPr/>
        </p:nvSpPr>
        <p:spPr bwMode="gray">
          <a:xfrm>
            <a:off x="3775693" y="1121348"/>
            <a:ext cx="572593" cy="276999"/>
          </a:xfrm>
          <a:prstGeom prst="rect">
            <a:avLst/>
          </a:prstGeom>
          <a:noFill/>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WAN</a:t>
            </a:r>
            <a:endParaRPr kumimoji="0" lang="zh-CN" altLang="en-US" sz="1200" b="1"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02" name="图片 9"/>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bwMode="gray">
          <a:xfrm>
            <a:off x="3059148" y="2016159"/>
            <a:ext cx="337091" cy="275801"/>
          </a:xfrm>
          <a:prstGeom prst="rect">
            <a:avLst/>
          </a:prstGeom>
        </p:spPr>
      </p:pic>
      <p:pic>
        <p:nvPicPr>
          <p:cNvPr id="203" name="图片 9"/>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bwMode="gray">
          <a:xfrm>
            <a:off x="3893443" y="2016159"/>
            <a:ext cx="337091" cy="275801"/>
          </a:xfrm>
          <a:prstGeom prst="rect">
            <a:avLst/>
          </a:prstGeom>
        </p:spPr>
      </p:pic>
      <p:cxnSp>
        <p:nvCxnSpPr>
          <p:cNvPr id="204" name="Straight Connector 127"/>
          <p:cNvCxnSpPr>
            <a:stCxn id="202" idx="3"/>
            <a:endCxn id="203" idx="1"/>
          </p:cNvCxnSpPr>
          <p:nvPr/>
        </p:nvCxnSpPr>
        <p:spPr bwMode="gray">
          <a:xfrm>
            <a:off x="3396239" y="2154060"/>
            <a:ext cx="497204" cy="0"/>
          </a:xfrm>
          <a:prstGeom prst="line">
            <a:avLst/>
          </a:prstGeom>
          <a:noFill/>
          <a:ln w="19050" cap="flat" cmpd="sng" algn="ctr">
            <a:solidFill>
              <a:sysClr val="windowText" lastClr="000000"/>
            </a:solidFill>
            <a:prstDash val="sysDash"/>
            <a:miter lim="800000"/>
          </a:ln>
          <a:effectLst/>
        </p:spPr>
      </p:cxnSp>
      <p:pic>
        <p:nvPicPr>
          <p:cNvPr id="205" name="图片 102" descr="AC-蓝.png"/>
          <p:cNvPicPr>
            <a:picLocks noChangeAspect="1"/>
          </p:cNvPicPr>
          <p:nvPr/>
        </p:nvPicPr>
        <p:blipFill>
          <a:blip r:embed="rId4" cstate="print"/>
          <a:stretch>
            <a:fillRect/>
          </a:stretch>
        </p:blipFill>
        <p:spPr bwMode="gray">
          <a:xfrm>
            <a:off x="4862028" y="2867310"/>
            <a:ext cx="337091" cy="275802"/>
          </a:xfrm>
          <a:prstGeom prst="rect">
            <a:avLst/>
          </a:prstGeom>
        </p:spPr>
      </p:pic>
      <p:sp>
        <p:nvSpPr>
          <p:cNvPr id="206" name="圆角矩形 205"/>
          <p:cNvSpPr/>
          <p:nvPr/>
        </p:nvSpPr>
        <p:spPr bwMode="gray">
          <a:xfrm>
            <a:off x="4750585" y="2513475"/>
            <a:ext cx="1002778" cy="278033"/>
          </a:xfrm>
          <a:prstGeom prst="roundRect">
            <a:avLst>
              <a:gd name="adj" fmla="val 2563"/>
            </a:avLst>
          </a:prstGeom>
          <a:solidFill>
            <a:sysClr val="window" lastClr="FFFFFF">
              <a:lumMod val="95000"/>
            </a:sysClr>
          </a:solidFill>
          <a:ln w="12700" cap="flat" cmpd="sng" algn="ctr">
            <a:solidFill>
              <a:sysClr val="window" lastClr="FFFFFF">
                <a:lumMod val="75000"/>
              </a:sysClr>
            </a:solidFill>
            <a:prstDash val="sysDot"/>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7" name="TextBox 20"/>
          <p:cNvSpPr txBox="1"/>
          <p:nvPr/>
        </p:nvSpPr>
        <p:spPr bwMode="gray">
          <a:xfrm>
            <a:off x="4799256" y="2521686"/>
            <a:ext cx="954107" cy="276999"/>
          </a:xfrm>
          <a:prstGeom prst="rect">
            <a:avLst/>
          </a:prstGeom>
          <a:noFill/>
        </p:spPr>
        <p:txBody>
          <a:bodyPr wrap="none" rtlCol="0">
            <a:spAutoFit/>
          </a:bodyPr>
          <a:lstStyle/>
          <a:p>
            <a:pPr fontAlgn="auto">
              <a:spcBef>
                <a:spcPts val="0"/>
              </a:spcBef>
              <a:spcAft>
                <a:spcPts val="0"/>
              </a:spcAft>
            </a:pP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网管运维区</a:t>
            </a:r>
          </a:p>
        </p:txBody>
      </p:sp>
      <p:cxnSp>
        <p:nvCxnSpPr>
          <p:cNvPr id="208" name="Straight Connector 79"/>
          <p:cNvCxnSpPr/>
          <p:nvPr/>
        </p:nvCxnSpPr>
        <p:spPr bwMode="gray">
          <a:xfrm flipH="1">
            <a:off x="2470591" y="2582674"/>
            <a:ext cx="1190149" cy="0"/>
          </a:xfrm>
          <a:prstGeom prst="line">
            <a:avLst/>
          </a:prstGeom>
          <a:noFill/>
          <a:ln w="19050" cap="flat" cmpd="sng" algn="ctr">
            <a:solidFill>
              <a:sysClr val="windowText" lastClr="000000"/>
            </a:solidFill>
            <a:prstDash val="solid"/>
            <a:miter lim="800000"/>
          </a:ln>
          <a:effectLst/>
        </p:spPr>
      </p:cxnSp>
      <p:cxnSp>
        <p:nvCxnSpPr>
          <p:cNvPr id="209" name="Straight Connector 79"/>
          <p:cNvCxnSpPr/>
          <p:nvPr/>
        </p:nvCxnSpPr>
        <p:spPr bwMode="gray">
          <a:xfrm flipH="1">
            <a:off x="2470591" y="2642045"/>
            <a:ext cx="430513" cy="0"/>
          </a:xfrm>
          <a:prstGeom prst="line">
            <a:avLst/>
          </a:prstGeom>
          <a:noFill/>
          <a:ln w="19050" cap="flat" cmpd="sng" algn="ctr">
            <a:solidFill>
              <a:sysClr val="windowText" lastClr="000000"/>
            </a:solidFill>
            <a:prstDash val="solid"/>
            <a:miter lim="800000"/>
          </a:ln>
          <a:effectLst/>
        </p:spPr>
      </p:cxnSp>
      <p:sp>
        <p:nvSpPr>
          <p:cNvPr id="210" name="Freeform 159"/>
          <p:cNvSpPr/>
          <p:nvPr/>
        </p:nvSpPr>
        <p:spPr bwMode="gray">
          <a:xfrm flipH="1">
            <a:off x="1772681" y="2289711"/>
            <a:ext cx="1012066"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ysClr val="window" lastClr="FFFFFF">
              <a:lumMod val="95000"/>
            </a:sysClr>
          </a:solidFill>
          <a:ln w="28575" cap="flat" cmpd="sng" algn="ctr">
            <a:solidFill>
              <a:sysClr val="window" lastClr="FFFFFF">
                <a:lumMod val="65000"/>
              </a:sysClr>
            </a:solidFill>
            <a:prstDash val="solid"/>
            <a:miter lim="800000"/>
          </a:ln>
          <a:effectLst/>
        </p:spPr>
        <p:txBody>
          <a:bodyPr wrap="square" tIns="18000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200" b="1" kern="0" dirty="0">
                <a:solidFill>
                  <a:prstClr val="white">
                    <a:lumMod val="50000"/>
                  </a:prstClr>
                </a:solidFill>
                <a:latin typeface="Huawei Sans" panose="020C0503030203020204" pitchFamily="34" charset="0"/>
                <a:ea typeface="方正兰亭黑简体" panose="02000000000000000000" pitchFamily="2" charset="-122"/>
                <a:sym typeface="Huawei Sans" panose="020C0503030203020204" pitchFamily="34" charset="0"/>
              </a:rPr>
              <a:t>数据中心</a:t>
            </a:r>
            <a:endParaRPr kumimoji="0" lang="en-US" sz="1200" b="1" i="0" u="none" strike="noStrike" kern="0" cap="none" spc="0" normalizeH="0" baseline="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11" name="Straight Connector 79"/>
          <p:cNvCxnSpPr/>
          <p:nvPr/>
        </p:nvCxnSpPr>
        <p:spPr bwMode="gray">
          <a:xfrm flipH="1">
            <a:off x="3565066" y="2642045"/>
            <a:ext cx="1185521" cy="0"/>
          </a:xfrm>
          <a:prstGeom prst="line">
            <a:avLst/>
          </a:prstGeom>
          <a:noFill/>
          <a:ln w="19050" cap="flat" cmpd="sng" algn="ctr">
            <a:solidFill>
              <a:sysClr val="windowText" lastClr="000000"/>
            </a:solidFill>
            <a:prstDash val="solid"/>
            <a:miter lim="800000"/>
          </a:ln>
          <a:effectLst/>
        </p:spPr>
      </p:cxnSp>
      <p:sp>
        <p:nvSpPr>
          <p:cNvPr id="217" name="梯形 216"/>
          <p:cNvSpPr/>
          <p:nvPr/>
        </p:nvSpPr>
        <p:spPr bwMode="gray">
          <a:xfrm>
            <a:off x="2036949" y="3197048"/>
            <a:ext cx="3247582" cy="686814"/>
          </a:xfrm>
          <a:prstGeom prst="trapezoid">
            <a:avLst>
              <a:gd name="adj" fmla="val 22961"/>
            </a:avLst>
          </a:prstGeom>
          <a:gradFill flip="none" rotWithShape="1">
            <a:gsLst>
              <a:gs pos="0">
                <a:schemeClr val="bg1">
                  <a:alpha val="4000"/>
                </a:schemeClr>
              </a:gs>
              <a:gs pos="100000">
                <a:srgbClr val="EEB3B8"/>
              </a:gs>
            </a:gsLst>
            <a:lin ang="5400000" scaled="1"/>
            <a:tileRect/>
          </a:gradFill>
          <a:ln>
            <a:gradFill flip="none" rotWithShape="1">
              <a:gsLst>
                <a:gs pos="0">
                  <a:schemeClr val="accent1">
                    <a:lumMod val="5000"/>
                    <a:lumOff val="95000"/>
                    <a:alpha val="0"/>
                  </a:schemeClr>
                </a:gs>
                <a:gs pos="82000">
                  <a:srgbClr val="E28189"/>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8" name="圆角矩形 217"/>
          <p:cNvSpPr/>
          <p:nvPr/>
        </p:nvSpPr>
        <p:spPr bwMode="gray">
          <a:xfrm>
            <a:off x="2920978" y="3605324"/>
            <a:ext cx="1514905" cy="259214"/>
          </a:xfrm>
          <a:prstGeom prst="roundRect">
            <a:avLst/>
          </a:prstGeom>
          <a:noFill/>
        </p:spPr>
        <p:txBody>
          <a:bodyPr wrap="none" anchor="ctr" anchorCtr="0">
            <a:noAutofit/>
          </a:bodyPr>
          <a:lstStyle/>
          <a:p>
            <a:pPr algn="ctr"/>
            <a:r>
              <a:rPr lang="zh-CN" altLang="en-US" sz="120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虚拟网</a:t>
            </a:r>
            <a:r>
              <a:rPr lang="en-US" altLang="zh-CN" sz="120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1</a:t>
            </a:r>
            <a:endParaRPr lang="zh-CN" altLang="en-US" sz="1100" dirty="0">
              <a:solidFill>
                <a:srgbClr val="C7000B"/>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16" name="梯形 215"/>
          <p:cNvSpPr/>
          <p:nvPr/>
        </p:nvSpPr>
        <p:spPr bwMode="gray">
          <a:xfrm>
            <a:off x="2036949" y="3687563"/>
            <a:ext cx="3247582" cy="684829"/>
          </a:xfrm>
          <a:prstGeom prst="trapezoid">
            <a:avLst>
              <a:gd name="adj" fmla="val 22961"/>
            </a:avLst>
          </a:prstGeom>
          <a:gradFill flip="none" rotWithShape="1">
            <a:gsLst>
              <a:gs pos="0">
                <a:schemeClr val="bg1">
                  <a:alpha val="4000"/>
                </a:schemeClr>
              </a:gs>
              <a:gs pos="100000">
                <a:srgbClr val="E3F6F8"/>
              </a:gs>
            </a:gsLst>
            <a:lin ang="5400000" scaled="1"/>
            <a:tileRect/>
          </a:gradFill>
          <a:ln>
            <a:gradFill flip="none" rotWithShape="1">
              <a:gsLst>
                <a:gs pos="0">
                  <a:schemeClr val="accent1">
                    <a:lumMod val="5000"/>
                    <a:lumOff val="95000"/>
                    <a:alpha val="0"/>
                  </a:schemeClr>
                </a:gs>
                <a:gs pos="82000">
                  <a:srgbClr val="94DAE2"/>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9" name="圆角矩形 218"/>
          <p:cNvSpPr/>
          <p:nvPr/>
        </p:nvSpPr>
        <p:spPr bwMode="gray">
          <a:xfrm>
            <a:off x="2920978" y="4058726"/>
            <a:ext cx="1514905" cy="259214"/>
          </a:xfrm>
          <a:prstGeom prst="roundRect">
            <a:avLst/>
          </a:prstGeom>
          <a:noFill/>
        </p:spPr>
        <p:txBody>
          <a:bodyPr wrap="none" anchor="ctr" anchorCtr="0">
            <a:noAutofit/>
          </a:bodyPr>
          <a:lstStyle/>
          <a:p>
            <a:pPr algn="ctr"/>
            <a:r>
              <a:rPr lang="zh-CN" altLang="en-US" sz="1200" dirty="0">
                <a:solidFill>
                  <a:srgbClr val="30B5C5"/>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虚拟网</a:t>
            </a:r>
            <a:r>
              <a:rPr lang="en-US" altLang="zh-CN" sz="1200" dirty="0">
                <a:solidFill>
                  <a:srgbClr val="30B5C5"/>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2</a:t>
            </a:r>
            <a:endParaRPr lang="zh-CN" altLang="en-US" sz="1100" dirty="0">
              <a:solidFill>
                <a:srgbClr val="30B5C5"/>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21" name="梯形 220"/>
          <p:cNvSpPr/>
          <p:nvPr/>
        </p:nvSpPr>
        <p:spPr bwMode="gray">
          <a:xfrm>
            <a:off x="2036949" y="4171381"/>
            <a:ext cx="3247582" cy="684829"/>
          </a:xfrm>
          <a:prstGeom prst="trapezoid">
            <a:avLst>
              <a:gd name="adj" fmla="val 22961"/>
            </a:avLst>
          </a:prstGeom>
          <a:gradFill flip="none" rotWithShape="1">
            <a:gsLst>
              <a:gs pos="0">
                <a:schemeClr val="bg1">
                  <a:alpha val="4000"/>
                </a:schemeClr>
              </a:gs>
              <a:gs pos="100000">
                <a:srgbClr val="D0E8C4"/>
              </a:gs>
            </a:gsLst>
            <a:lin ang="5400000" scaled="1"/>
            <a:tileRect/>
          </a:gradFill>
          <a:ln>
            <a:gradFill flip="none" rotWithShape="1">
              <a:gsLst>
                <a:gs pos="0">
                  <a:schemeClr val="accent1">
                    <a:lumMod val="5000"/>
                    <a:lumOff val="95000"/>
                    <a:alpha val="0"/>
                  </a:schemeClr>
                </a:gs>
                <a:gs pos="82000">
                  <a:srgbClr val="94DAE2"/>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4" name="圆角矩形 183"/>
          <p:cNvSpPr/>
          <p:nvPr/>
        </p:nvSpPr>
        <p:spPr bwMode="gray">
          <a:xfrm>
            <a:off x="5920982" y="1423118"/>
            <a:ext cx="5620914" cy="1534132"/>
          </a:xfrm>
          <a:prstGeom prst="roundRect">
            <a:avLst>
              <a:gd name="adj" fmla="val 898"/>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74625" indent="-174625" fontAlgn="auto">
              <a:lnSpc>
                <a:spcPct val="130000"/>
              </a:lnSpc>
              <a:spcBef>
                <a:spcPts val="0"/>
              </a:spcBef>
              <a:spcAft>
                <a:spcPts val="600"/>
              </a:spcAft>
              <a:buSzPct val="50000"/>
              <a:buFont typeface="Wingdings" panose="05000000000000000000" pitchFamily="2" charset="2"/>
              <a:buChar char="l"/>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与传统园区网络有类似的可靠性、安全性等需求；</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74625" indent="-174625">
              <a:lnSpc>
                <a:spcPct val="130000"/>
              </a:lnSpc>
              <a:spcAft>
                <a:spcPts val="600"/>
              </a:spcAft>
              <a:buSzPct val="50000"/>
              <a:buFont typeface="Wingdings" panose="05000000000000000000" pitchFamily="2" charset="2"/>
              <a:buChar char="l"/>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网络设备即插即用、集中管理，业务配置及策略灵活发放；</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74625" indent="-174625" fontAlgn="auto">
              <a:lnSpc>
                <a:spcPct val="130000"/>
              </a:lnSpc>
              <a:spcBef>
                <a:spcPts val="0"/>
              </a:spcBef>
              <a:spcAft>
                <a:spcPts val="600"/>
              </a:spcAft>
              <a:buSzPct val="50000"/>
              <a:buFont typeface="Wingdings" panose="05000000000000000000" pitchFamily="2" charset="2"/>
              <a:buChar char="l"/>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园区网络中存在多种不同的业务，业务之间需相互隔离；</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74625" indent="-174625" fontAlgn="auto">
              <a:lnSpc>
                <a:spcPct val="130000"/>
              </a:lnSpc>
              <a:spcBef>
                <a:spcPts val="0"/>
              </a:spcBef>
              <a:spcAft>
                <a:spcPts val="600"/>
              </a:spcAft>
              <a:buSzPct val="50000"/>
              <a:buFont typeface="Wingdings" panose="05000000000000000000" pitchFamily="2" charset="2"/>
              <a:buChar char="l"/>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对终端执行准入控制，且用户在园区网络内移动时，只要身份不变，则其网络访问权限及体验将随之而动。</a:t>
            </a:r>
          </a:p>
        </p:txBody>
      </p:sp>
      <p:sp>
        <p:nvSpPr>
          <p:cNvPr id="193" name="文本框 192"/>
          <p:cNvSpPr txBox="1"/>
          <p:nvPr/>
        </p:nvSpPr>
        <p:spPr bwMode="gray">
          <a:xfrm>
            <a:off x="5920983" y="1000505"/>
            <a:ext cx="5620913" cy="373577"/>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600">
                <a:solidFill>
                  <a:srgbClr val="30B5C5"/>
                </a:solidFill>
                <a:latin typeface="Huawei Sans" panose="020C0503030203020204" pitchFamily="34" charset="0"/>
                <a:ea typeface="方正兰亭黑简体" panose="02000000000000000000" pitchFamily="2" charset="-122"/>
              </a:defRPr>
            </a:lvl1pPr>
          </a:lstStyle>
          <a:p>
            <a:r>
              <a:rPr lang="zh-CN" altLang="en-US" dirty="0">
                <a:sym typeface="Huawei Sans" panose="020C0503030203020204" pitchFamily="34" charset="0"/>
              </a:rPr>
              <a:t>网络需求</a:t>
            </a:r>
          </a:p>
        </p:txBody>
      </p:sp>
      <p:sp>
        <p:nvSpPr>
          <p:cNvPr id="212" name="圆角矩形 211"/>
          <p:cNvSpPr/>
          <p:nvPr/>
        </p:nvSpPr>
        <p:spPr bwMode="gray">
          <a:xfrm>
            <a:off x="5920982" y="3494901"/>
            <a:ext cx="5620914" cy="2135276"/>
          </a:xfrm>
          <a:prstGeom prst="roundRect">
            <a:avLst>
              <a:gd name="adj" fmla="val 898"/>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74625" indent="-174625" fontAlgn="auto">
              <a:lnSpc>
                <a:spcPts val="2400"/>
              </a:lnSpc>
              <a:spcBef>
                <a:spcPts val="0"/>
              </a:spcBef>
              <a:spcAft>
                <a:spcPts val="600"/>
              </a:spcAft>
              <a:buSzPct val="50000"/>
              <a:buFont typeface="Wingdings" panose="05000000000000000000" pitchFamily="2" charset="2"/>
              <a:buChar char="l"/>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采用</a:t>
            </a:r>
            <a:r>
              <a:rPr lang="en-US" altLang="zh-CN" sz="1200" dirty="0" err="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 NCE-Campus</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控制器对全网设备进行纳管，通过</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NETCONF</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Telemetry</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等协议实现网络设备的统一管理与维护以及设备快速上线等；</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74625" indent="-174625" fontAlgn="auto">
              <a:lnSpc>
                <a:spcPts val="2400"/>
              </a:lnSpc>
              <a:spcBef>
                <a:spcPts val="0"/>
              </a:spcBef>
              <a:spcAft>
                <a:spcPts val="600"/>
              </a:spcAft>
              <a:buSzPct val="50000"/>
              <a:buFont typeface="Wingdings" panose="05000000000000000000" pitchFamily="2" charset="2"/>
              <a:buChar char="l"/>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运用</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BGP EVPN</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以及</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VRF</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等技术，根据业务需求划分</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VN</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，通过控制器实现</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Underlay</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Overlay</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的极简部署，并实现</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VN</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间相互隔离；</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74625" indent="-174625" fontAlgn="auto">
              <a:lnSpc>
                <a:spcPts val="2400"/>
              </a:lnSpc>
              <a:spcBef>
                <a:spcPts val="0"/>
              </a:spcBef>
              <a:spcAft>
                <a:spcPts val="600"/>
              </a:spcAft>
              <a:buSzPct val="50000"/>
              <a:buFont typeface="Wingdings" panose="05000000000000000000" pitchFamily="2" charset="2"/>
              <a:buChar char="l"/>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通过</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iMaster NCE-Campus</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控制器实现全网用户认证，且通过部署业务随行将网络中的不同用户群体或资源定义为不同的安全组，基于安全组实现策略管控。</a:t>
            </a:r>
          </a:p>
        </p:txBody>
      </p:sp>
      <p:sp>
        <p:nvSpPr>
          <p:cNvPr id="213" name="文本框 212"/>
          <p:cNvSpPr txBox="1"/>
          <p:nvPr/>
        </p:nvSpPr>
        <p:spPr bwMode="gray">
          <a:xfrm>
            <a:off x="5920983" y="3067806"/>
            <a:ext cx="5620913" cy="373577"/>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600">
                <a:solidFill>
                  <a:srgbClr val="30B5C5"/>
                </a:solidFill>
                <a:latin typeface="Huawei Sans" panose="020C0503030203020204" pitchFamily="34" charset="0"/>
                <a:ea typeface="方正兰亭黑简体" panose="02000000000000000000" pitchFamily="2" charset="-122"/>
              </a:defRPr>
            </a:lvl1pPr>
          </a:lstStyle>
          <a:p>
            <a:r>
              <a:rPr lang="zh-CN" altLang="en-US">
                <a:sym typeface="Huawei Sans" panose="020C0503030203020204" pitchFamily="34" charset="0"/>
              </a:rPr>
              <a:t>方案</a:t>
            </a:r>
            <a:endParaRPr lang="zh-CN" altLang="en-US" dirty="0">
              <a:sym typeface="Huawei Sans" panose="020C0503030203020204" pitchFamily="34" charset="0"/>
            </a:endParaRPr>
          </a:p>
        </p:txBody>
      </p:sp>
      <p:pic>
        <p:nvPicPr>
          <p:cNvPr id="224" name="图片 223"/>
          <p:cNvPicPr>
            <a:picLocks noChangeAspect="1"/>
          </p:cNvPicPr>
          <p:nvPr/>
        </p:nvPicPr>
        <p:blipFill rotWithShape="1">
          <a:blip r:embed="rId16" cstate="print">
            <a:extLst>
              <a:ext uri="{28A0092B-C50C-407E-A947-70E740481C1C}">
                <a14:useLocalDpi xmlns:a14="http://schemas.microsoft.com/office/drawing/2010/main" val="0"/>
              </a:ext>
            </a:extLst>
          </a:blip>
          <a:srcRect b="80571"/>
          <a:stretch/>
        </p:blipFill>
        <p:spPr bwMode="gray">
          <a:xfrm>
            <a:off x="4590636" y="2254367"/>
            <a:ext cx="1288446" cy="285796"/>
          </a:xfrm>
          <a:prstGeom prst="rect">
            <a:avLst/>
          </a:prstGeom>
        </p:spPr>
      </p:pic>
      <p:sp>
        <p:nvSpPr>
          <p:cNvPr id="222" name="圆角矩形 221"/>
          <p:cNvSpPr/>
          <p:nvPr/>
        </p:nvSpPr>
        <p:spPr bwMode="gray">
          <a:xfrm>
            <a:off x="2920978" y="4542544"/>
            <a:ext cx="1514905" cy="259214"/>
          </a:xfrm>
          <a:prstGeom prst="roundRect">
            <a:avLst/>
          </a:prstGeom>
          <a:noFill/>
        </p:spPr>
        <p:txBody>
          <a:bodyPr wrap="none" anchor="ctr" anchorCtr="0">
            <a:noAutofit/>
          </a:bodyPr>
          <a:lstStyle/>
          <a:p>
            <a:pPr algn="ctr"/>
            <a:r>
              <a:rPr lang="zh-CN" altLang="en-US" sz="1200" dirty="0">
                <a:solidFill>
                  <a:srgbClr val="62B23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虚拟网</a:t>
            </a:r>
            <a:r>
              <a:rPr lang="en-US" altLang="zh-CN" sz="1200" dirty="0">
                <a:solidFill>
                  <a:srgbClr val="62B23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3</a:t>
            </a:r>
            <a:endParaRPr lang="zh-CN" altLang="en-US" sz="1100" dirty="0">
              <a:solidFill>
                <a:srgbClr val="62B230"/>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Tree>
    <p:extLst>
      <p:ext uri="{BB962C8B-B14F-4D97-AF65-F5344CB8AC3E}">
        <p14:creationId xmlns:p14="http://schemas.microsoft.com/office/powerpoint/2010/main" val="292301935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sym typeface="Huawei Sans" panose="020C0503030203020204" pitchFamily="34" charset="0"/>
              </a:rPr>
              <a:t>案例</a:t>
            </a:r>
            <a:r>
              <a:rPr lang="en-US" altLang="zh-CN" dirty="0">
                <a:sym typeface="Huawei Sans" panose="020C0503030203020204" pitchFamily="34" charset="0"/>
              </a:rPr>
              <a:t>3 - </a:t>
            </a:r>
            <a:r>
              <a:rPr lang="zh-CN" altLang="en-US" dirty="0">
                <a:sym typeface="Huawei Sans" panose="020C0503030203020204" pitchFamily="34" charset="0"/>
              </a:rPr>
              <a:t>中小型云管理园区网络</a:t>
            </a:r>
          </a:p>
        </p:txBody>
      </p:sp>
      <p:grpSp>
        <p:nvGrpSpPr>
          <p:cNvPr id="3" name="Group 6"/>
          <p:cNvGrpSpPr/>
          <p:nvPr/>
        </p:nvGrpSpPr>
        <p:grpSpPr bwMode="gray">
          <a:xfrm>
            <a:off x="2313133" y="2853670"/>
            <a:ext cx="1299944" cy="736962"/>
            <a:chOff x="7726956" y="3904548"/>
            <a:chExt cx="1299944" cy="736962"/>
          </a:xfrm>
        </p:grpSpPr>
        <p:sp>
          <p:nvSpPr>
            <p:cNvPr id="4" name="Freeform 200"/>
            <p:cNvSpPr/>
            <p:nvPr/>
          </p:nvSpPr>
          <p:spPr bwMode="gray">
            <a:xfrm>
              <a:off x="7726956" y="3904548"/>
              <a:ext cx="1299944" cy="736962"/>
            </a:xfrm>
            <a:custGeom>
              <a:avLst/>
              <a:gdLst>
                <a:gd name="connsiteX0" fmla="*/ 511396 w 823780"/>
                <a:gd name="connsiteY0" fmla="*/ 0 h 467015"/>
                <a:gd name="connsiteX1" fmla="*/ 732475 w 823780"/>
                <a:gd name="connsiteY1" fmla="*/ 223125 h 467015"/>
                <a:gd name="connsiteX2" fmla="*/ 727487 w 823780"/>
                <a:gd name="connsiteY2" fmla="*/ 248058 h 467015"/>
                <a:gd name="connsiteX3" fmla="*/ 756693 w 823780"/>
                <a:gd name="connsiteY3" fmla="*/ 254009 h 467015"/>
                <a:gd name="connsiteX4" fmla="*/ 823780 w 823780"/>
                <a:gd name="connsiteY4" fmla="*/ 356156 h 467015"/>
                <a:gd name="connsiteX5" fmla="*/ 756693 w 823780"/>
                <a:gd name="connsiteY5" fmla="*/ 458303 h 467015"/>
                <a:gd name="connsiteX6" fmla="*/ 732017 w 823780"/>
                <a:gd name="connsiteY6" fmla="*/ 463331 h 467015"/>
                <a:gd name="connsiteX7" fmla="*/ 732017 w 823780"/>
                <a:gd name="connsiteY7" fmla="*/ 467014 h 467015"/>
                <a:gd name="connsiteX8" fmla="*/ 713942 w 823780"/>
                <a:gd name="connsiteY8" fmla="*/ 467014 h 467015"/>
                <a:gd name="connsiteX9" fmla="*/ 713937 w 823780"/>
                <a:gd name="connsiteY9" fmla="*/ 467015 h 467015"/>
                <a:gd name="connsiteX10" fmla="*/ 713932 w 823780"/>
                <a:gd name="connsiteY10" fmla="*/ 467014 h 467015"/>
                <a:gd name="connsiteX11" fmla="*/ 120827 w 823780"/>
                <a:gd name="connsiteY11" fmla="*/ 467014 h 467015"/>
                <a:gd name="connsiteX12" fmla="*/ 100287 w 823780"/>
                <a:gd name="connsiteY12" fmla="*/ 467014 h 467015"/>
                <a:gd name="connsiteX13" fmla="*/ 100287 w 823780"/>
                <a:gd name="connsiteY13" fmla="*/ 462829 h 467015"/>
                <a:gd name="connsiteX14" fmla="*/ 73795 w 823780"/>
                <a:gd name="connsiteY14" fmla="*/ 457431 h 467015"/>
                <a:gd name="connsiteX15" fmla="*/ 0 w 823780"/>
                <a:gd name="connsiteY15" fmla="*/ 345069 h 467015"/>
                <a:gd name="connsiteX16" fmla="*/ 73795 w 823780"/>
                <a:gd name="connsiteY16" fmla="*/ 232707 h 467015"/>
                <a:gd name="connsiteX17" fmla="*/ 81613 w 823780"/>
                <a:gd name="connsiteY17" fmla="*/ 231114 h 467015"/>
                <a:gd name="connsiteX18" fmla="*/ 94608 w 823780"/>
                <a:gd name="connsiteY18" fmla="*/ 172061 h 467015"/>
                <a:gd name="connsiteX19" fmla="*/ 250025 w 823780"/>
                <a:gd name="connsiteY19" fmla="*/ 77543 h 467015"/>
                <a:gd name="connsiteX20" fmla="*/ 315680 w 823780"/>
                <a:gd name="connsiteY20" fmla="*/ 89704 h 467015"/>
                <a:gd name="connsiteX21" fmla="*/ 332040 w 823780"/>
                <a:gd name="connsiteY21" fmla="*/ 99825 h 467015"/>
                <a:gd name="connsiteX22" fmla="*/ 355070 w 823780"/>
                <a:gd name="connsiteY22" fmla="*/ 65352 h 467015"/>
                <a:gd name="connsiteX23" fmla="*/ 511396 w 823780"/>
                <a:gd name="connsiteY23" fmla="*/ 0 h 467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3780" h="467015">
                  <a:moveTo>
                    <a:pt x="511396" y="0"/>
                  </a:moveTo>
                  <a:cubicBezTo>
                    <a:pt x="633495" y="0"/>
                    <a:pt x="732475" y="99896"/>
                    <a:pt x="732475" y="223125"/>
                  </a:cubicBezTo>
                  <a:lnTo>
                    <a:pt x="727487" y="248058"/>
                  </a:lnTo>
                  <a:lnTo>
                    <a:pt x="756693" y="254009"/>
                  </a:lnTo>
                  <a:cubicBezTo>
                    <a:pt x="796117" y="270838"/>
                    <a:pt x="823780" y="310236"/>
                    <a:pt x="823780" y="356156"/>
                  </a:cubicBezTo>
                  <a:cubicBezTo>
                    <a:pt x="823780" y="402076"/>
                    <a:pt x="796117" y="441474"/>
                    <a:pt x="756693" y="458303"/>
                  </a:cubicBezTo>
                  <a:lnTo>
                    <a:pt x="732017" y="463331"/>
                  </a:lnTo>
                  <a:lnTo>
                    <a:pt x="732017" y="467014"/>
                  </a:lnTo>
                  <a:lnTo>
                    <a:pt x="713942" y="467014"/>
                  </a:lnTo>
                  <a:lnTo>
                    <a:pt x="713937" y="467015"/>
                  </a:lnTo>
                  <a:lnTo>
                    <a:pt x="713932" y="467014"/>
                  </a:lnTo>
                  <a:lnTo>
                    <a:pt x="120827" y="467014"/>
                  </a:lnTo>
                  <a:lnTo>
                    <a:pt x="100287" y="467014"/>
                  </a:lnTo>
                  <a:lnTo>
                    <a:pt x="100287" y="462829"/>
                  </a:lnTo>
                  <a:lnTo>
                    <a:pt x="73795" y="457431"/>
                  </a:lnTo>
                  <a:cubicBezTo>
                    <a:pt x="30429" y="438919"/>
                    <a:pt x="0" y="395580"/>
                    <a:pt x="0" y="345069"/>
                  </a:cubicBezTo>
                  <a:cubicBezTo>
                    <a:pt x="0" y="294558"/>
                    <a:pt x="30429" y="251219"/>
                    <a:pt x="73795" y="232707"/>
                  </a:cubicBezTo>
                  <a:lnTo>
                    <a:pt x="81613" y="231114"/>
                  </a:lnTo>
                  <a:lnTo>
                    <a:pt x="94608" y="172061"/>
                  </a:lnTo>
                  <a:cubicBezTo>
                    <a:pt x="120214" y="116517"/>
                    <a:pt x="180159" y="77543"/>
                    <a:pt x="250025" y="77543"/>
                  </a:cubicBezTo>
                  <a:cubicBezTo>
                    <a:pt x="273314" y="77543"/>
                    <a:pt x="295500" y="81873"/>
                    <a:pt x="315680" y="89704"/>
                  </a:cubicBezTo>
                  <a:lnTo>
                    <a:pt x="332040" y="99825"/>
                  </a:lnTo>
                  <a:lnTo>
                    <a:pt x="355070" y="65352"/>
                  </a:lnTo>
                  <a:cubicBezTo>
                    <a:pt x="395077" y="24974"/>
                    <a:pt x="450347" y="0"/>
                    <a:pt x="511396"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TextBox 2"/>
            <p:cNvSpPr txBox="1"/>
            <p:nvPr/>
          </p:nvSpPr>
          <p:spPr bwMode="gray">
            <a:xfrm>
              <a:off x="7936997" y="4208668"/>
              <a:ext cx="888385" cy="307777"/>
            </a:xfrm>
            <a:prstGeom prst="rect">
              <a:avLst/>
            </a:prstGeom>
            <a:noFill/>
          </p:spPr>
          <p:txBody>
            <a:bodyPr wrap="none" rtlCol="0">
              <a:spAutoFit/>
            </a:bodyPr>
            <a:lstStyle/>
            <a:p>
              <a:pPr algn="ctr"/>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6" name="圆角矩形 5"/>
          <p:cNvSpPr/>
          <p:nvPr/>
        </p:nvSpPr>
        <p:spPr bwMode="gray">
          <a:xfrm>
            <a:off x="644855" y="3751080"/>
            <a:ext cx="1515194" cy="2432017"/>
          </a:xfrm>
          <a:prstGeom prst="roundRect">
            <a:avLst>
              <a:gd name="adj" fmla="val 2222"/>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schemeClr val="bg1">
                  <a:lumMod val="6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 name="组合 6"/>
          <p:cNvGrpSpPr/>
          <p:nvPr/>
        </p:nvGrpSpPr>
        <p:grpSpPr bwMode="gray">
          <a:xfrm>
            <a:off x="937614" y="4196272"/>
            <a:ext cx="959286" cy="681290"/>
            <a:chOff x="6600056" y="4353447"/>
            <a:chExt cx="1296144" cy="833967"/>
          </a:xfrm>
        </p:grpSpPr>
        <p:cxnSp>
          <p:nvCxnSpPr>
            <p:cNvPr id="8" name="直接连接符 7"/>
            <p:cNvCxnSpPr/>
            <p:nvPr/>
          </p:nvCxnSpPr>
          <p:spPr bwMode="gray">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bwMode="gray">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237644" y="4038748"/>
            <a:ext cx="368827" cy="302438"/>
          </a:xfrm>
          <a:prstGeom prst="rect">
            <a:avLst/>
          </a:prstGeom>
        </p:spPr>
      </p:pic>
      <p:pic>
        <p:nvPicPr>
          <p:cNvPr id="11" name="图片 10" descr="云AP蓝.png"/>
          <p:cNvPicPr>
            <a:picLocks noChangeAspect="1"/>
          </p:cNvPicPr>
          <p:nvPr/>
        </p:nvPicPr>
        <p:blipFill>
          <a:blip r:embed="rId4" cstate="print"/>
          <a:stretch>
            <a:fillRect/>
          </a:stretch>
        </p:blipFill>
        <p:spPr bwMode="gray">
          <a:xfrm>
            <a:off x="1677592" y="4795041"/>
            <a:ext cx="335963" cy="274878"/>
          </a:xfrm>
          <a:prstGeom prst="rect">
            <a:avLst/>
          </a:prstGeom>
        </p:spPr>
      </p:pic>
      <p:pic>
        <p:nvPicPr>
          <p:cNvPr id="12" name="图片 11" descr="云AP蓝.png"/>
          <p:cNvPicPr>
            <a:picLocks noChangeAspect="1"/>
          </p:cNvPicPr>
          <p:nvPr/>
        </p:nvPicPr>
        <p:blipFill>
          <a:blip r:embed="rId4" cstate="print"/>
          <a:stretch>
            <a:fillRect/>
          </a:stretch>
        </p:blipFill>
        <p:spPr bwMode="gray">
          <a:xfrm>
            <a:off x="820959" y="4795041"/>
            <a:ext cx="335963" cy="274878"/>
          </a:xfrm>
          <a:prstGeom prst="rect">
            <a:avLst/>
          </a:prstGeom>
        </p:spPr>
      </p:pic>
      <p:grpSp>
        <p:nvGrpSpPr>
          <p:cNvPr id="13" name="Group 3"/>
          <p:cNvGrpSpPr/>
          <p:nvPr/>
        </p:nvGrpSpPr>
        <p:grpSpPr bwMode="gray">
          <a:xfrm>
            <a:off x="1286274" y="4900472"/>
            <a:ext cx="261965" cy="61979"/>
            <a:chOff x="559282" y="6488261"/>
            <a:chExt cx="261965" cy="61979"/>
          </a:xfrm>
          <a:solidFill>
            <a:schemeClr val="bg1">
              <a:lumMod val="50000"/>
            </a:schemeClr>
          </a:solidFill>
        </p:grpSpPr>
        <p:sp>
          <p:nvSpPr>
            <p:cNvPr id="14"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8" name="圆角矩形 17"/>
          <p:cNvSpPr/>
          <p:nvPr/>
        </p:nvSpPr>
        <p:spPr bwMode="gray">
          <a:xfrm>
            <a:off x="3823790" y="3755718"/>
            <a:ext cx="1515194" cy="2432017"/>
          </a:xfrm>
          <a:prstGeom prst="roundRect">
            <a:avLst>
              <a:gd name="adj" fmla="val 2222"/>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schemeClr val="bg1">
                  <a:lumMod val="6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9" name="组合 18"/>
          <p:cNvGrpSpPr/>
          <p:nvPr/>
        </p:nvGrpSpPr>
        <p:grpSpPr bwMode="gray">
          <a:xfrm>
            <a:off x="4116549" y="4200910"/>
            <a:ext cx="959286" cy="681290"/>
            <a:chOff x="6600056" y="4353447"/>
            <a:chExt cx="1296144" cy="833967"/>
          </a:xfrm>
        </p:grpSpPr>
        <p:cxnSp>
          <p:nvCxnSpPr>
            <p:cNvPr id="20" name="直接连接符 19"/>
            <p:cNvCxnSpPr/>
            <p:nvPr/>
          </p:nvCxnSpPr>
          <p:spPr bwMode="gray">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bwMode="gray">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2" name="图片 2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416579" y="4043386"/>
            <a:ext cx="368827" cy="302438"/>
          </a:xfrm>
          <a:prstGeom prst="rect">
            <a:avLst/>
          </a:prstGeom>
        </p:spPr>
      </p:pic>
      <p:pic>
        <p:nvPicPr>
          <p:cNvPr id="23" name="图片 22" descr="云AP蓝.png"/>
          <p:cNvPicPr>
            <a:picLocks noChangeAspect="1"/>
          </p:cNvPicPr>
          <p:nvPr/>
        </p:nvPicPr>
        <p:blipFill>
          <a:blip r:embed="rId4" cstate="print"/>
          <a:stretch>
            <a:fillRect/>
          </a:stretch>
        </p:blipFill>
        <p:spPr bwMode="gray">
          <a:xfrm>
            <a:off x="4856527" y="4799679"/>
            <a:ext cx="335963" cy="274878"/>
          </a:xfrm>
          <a:prstGeom prst="rect">
            <a:avLst/>
          </a:prstGeom>
        </p:spPr>
      </p:pic>
      <p:pic>
        <p:nvPicPr>
          <p:cNvPr id="24" name="图片 23" descr="云AP蓝.png"/>
          <p:cNvPicPr>
            <a:picLocks noChangeAspect="1"/>
          </p:cNvPicPr>
          <p:nvPr/>
        </p:nvPicPr>
        <p:blipFill>
          <a:blip r:embed="rId4" cstate="print"/>
          <a:stretch>
            <a:fillRect/>
          </a:stretch>
        </p:blipFill>
        <p:spPr bwMode="gray">
          <a:xfrm>
            <a:off x="3999894" y="4799679"/>
            <a:ext cx="335963" cy="274878"/>
          </a:xfrm>
          <a:prstGeom prst="rect">
            <a:avLst/>
          </a:prstGeom>
        </p:spPr>
      </p:pic>
      <p:grpSp>
        <p:nvGrpSpPr>
          <p:cNvPr id="25" name="Group 3"/>
          <p:cNvGrpSpPr/>
          <p:nvPr/>
        </p:nvGrpSpPr>
        <p:grpSpPr bwMode="gray">
          <a:xfrm>
            <a:off x="4465209" y="4905110"/>
            <a:ext cx="261965" cy="61979"/>
            <a:chOff x="559282" y="6488261"/>
            <a:chExt cx="261965" cy="61979"/>
          </a:xfrm>
          <a:solidFill>
            <a:schemeClr val="bg1">
              <a:lumMod val="50000"/>
            </a:schemeClr>
          </a:solidFill>
        </p:grpSpPr>
        <p:sp>
          <p:nvSpPr>
            <p:cNvPr id="26"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3" name="文本框 32"/>
          <p:cNvSpPr txBox="1"/>
          <p:nvPr/>
        </p:nvSpPr>
        <p:spPr bwMode="gray">
          <a:xfrm>
            <a:off x="644007" y="5903332"/>
            <a:ext cx="579005" cy="276999"/>
          </a:xfrm>
          <a:prstGeom prst="rect">
            <a:avLst/>
          </a:prstGeom>
          <a:noFill/>
        </p:spPr>
        <p:txBody>
          <a:bodyPr wrap="none" rtlCol="0">
            <a:spAutoFit/>
          </a:bodyPr>
          <a:lstStyle/>
          <a:p>
            <a:r>
              <a:rPr lang="zh-CN" alt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门店</a:t>
            </a:r>
            <a:r>
              <a:rPr lang="en-US" altLang="zh-CN"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文本框 33"/>
          <p:cNvSpPr txBox="1"/>
          <p:nvPr/>
        </p:nvSpPr>
        <p:spPr bwMode="gray">
          <a:xfrm>
            <a:off x="4784892" y="5907970"/>
            <a:ext cx="609462" cy="276999"/>
          </a:xfrm>
          <a:prstGeom prst="rect">
            <a:avLst/>
          </a:prstGeom>
          <a:noFill/>
        </p:spPr>
        <p:txBody>
          <a:bodyPr wrap="none" rtlCol="0">
            <a:spAutoFit/>
          </a:bodyPr>
          <a:lstStyle/>
          <a:p>
            <a:r>
              <a:rPr lang="zh-CN" alt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门店</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N</a:t>
            </a:r>
            <a:endParaRPr lang="zh-CN" alt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文本框 40"/>
          <p:cNvSpPr txBox="1"/>
          <p:nvPr/>
        </p:nvSpPr>
        <p:spPr bwMode="gray">
          <a:xfrm>
            <a:off x="1067989" y="1506564"/>
            <a:ext cx="1373370" cy="331054"/>
          </a:xfrm>
          <a:prstGeom prst="roundRect">
            <a:avLst>
              <a:gd name="adj" fmla="val 20793"/>
            </a:avLst>
          </a:prstGeom>
          <a:solidFill>
            <a:schemeClr val="bg1">
              <a:lumMod val="50000"/>
            </a:schemeClr>
          </a:solidFill>
        </p:spPr>
        <p:txBody>
          <a:bodyPr wrap="none" lIns="0" tIns="0" rIns="0" bIns="0" rtlCol="0" anchor="ctr" anchorCtr="0">
            <a:noAutofit/>
          </a:bodyPr>
          <a:lstStyle/>
          <a:p>
            <a:pPr algn="ctr"/>
            <a:r>
              <a:rPr lang="zh-CN" altLang="en-US" sz="12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广告推送</a:t>
            </a:r>
          </a:p>
        </p:txBody>
      </p:sp>
      <p:sp>
        <p:nvSpPr>
          <p:cNvPr id="42" name="文本框 41"/>
          <p:cNvSpPr txBox="1"/>
          <p:nvPr/>
        </p:nvSpPr>
        <p:spPr bwMode="gray">
          <a:xfrm>
            <a:off x="3412036" y="1506564"/>
            <a:ext cx="1373370" cy="331054"/>
          </a:xfrm>
          <a:prstGeom prst="roundRect">
            <a:avLst>
              <a:gd name="adj" fmla="val 20793"/>
            </a:avLst>
          </a:prstGeom>
          <a:solidFill>
            <a:schemeClr val="bg1">
              <a:lumMod val="50000"/>
            </a:schemeClr>
          </a:solidFill>
        </p:spPr>
        <p:txBody>
          <a:bodyPr wrap="none" lIns="0" tIns="0" rIns="0" bIns="0" rtlCol="0" anchor="ctr" anchorCtr="0">
            <a:noAutofit/>
          </a:bodyPr>
          <a:lstStyle/>
          <a:p>
            <a:pPr algn="ctr"/>
            <a:r>
              <a:rPr lang="zh-CN" altLang="en-US" sz="12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电子价签</a:t>
            </a:r>
          </a:p>
        </p:txBody>
      </p:sp>
      <p:pic>
        <p:nvPicPr>
          <p:cNvPr id="45" name="图片 4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2131289" y="2273390"/>
            <a:ext cx="1629683" cy="300556"/>
          </a:xfrm>
          <a:prstGeom prst="rect">
            <a:avLst/>
          </a:prstGeom>
        </p:spPr>
      </p:pic>
      <p:sp>
        <p:nvSpPr>
          <p:cNvPr id="47" name="圆角矩形 46"/>
          <p:cNvSpPr/>
          <p:nvPr/>
        </p:nvSpPr>
        <p:spPr bwMode="gray">
          <a:xfrm>
            <a:off x="492863" y="2117388"/>
            <a:ext cx="4906534" cy="612560"/>
          </a:xfrm>
          <a:prstGeom prst="round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等腰三角形 47"/>
          <p:cNvSpPr/>
          <p:nvPr/>
        </p:nvSpPr>
        <p:spPr bwMode="gray">
          <a:xfrm>
            <a:off x="1684767" y="1944579"/>
            <a:ext cx="139813" cy="88059"/>
          </a:xfrm>
          <a:prstGeom prst="triangle">
            <a:avLst/>
          </a:prstGeom>
          <a:solidFill>
            <a:schemeClr val="bg1">
              <a:lumMod val="75000"/>
            </a:schemeClr>
          </a:solidFill>
        </p:spPr>
        <p:txBody>
          <a:bodyPr wrap="none" lIns="0" tIns="0" rIns="0" bIns="0" rtlCol="0" anchor="ctr" anchorCtr="0">
            <a:noAutofit/>
          </a:bodyPr>
          <a:lstStyle/>
          <a:p>
            <a:pPr algn="ctr"/>
            <a:endParaRPr lang="zh-CN" altLang="en-US" sz="12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等腰三角形 48"/>
          <p:cNvSpPr/>
          <p:nvPr/>
        </p:nvSpPr>
        <p:spPr bwMode="gray">
          <a:xfrm>
            <a:off x="4028814" y="1944579"/>
            <a:ext cx="139813" cy="88059"/>
          </a:xfrm>
          <a:prstGeom prst="triangle">
            <a:avLst/>
          </a:prstGeom>
          <a:solidFill>
            <a:schemeClr val="bg1">
              <a:lumMod val="75000"/>
            </a:schemeClr>
          </a:solidFill>
        </p:spPr>
        <p:txBody>
          <a:bodyPr wrap="none" lIns="0" tIns="0" rIns="0" bIns="0" rtlCol="0" anchor="ctr" anchorCtr="0">
            <a:noAutofit/>
          </a:bodyPr>
          <a:lstStyle/>
          <a:p>
            <a:pPr algn="ctr"/>
            <a:endParaRPr lang="zh-CN" altLang="en-US" sz="12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圆角矩形 49"/>
          <p:cNvSpPr/>
          <p:nvPr/>
        </p:nvSpPr>
        <p:spPr bwMode="gray">
          <a:xfrm>
            <a:off x="2230965" y="3755718"/>
            <a:ext cx="1515194" cy="2432017"/>
          </a:xfrm>
          <a:prstGeom prst="roundRect">
            <a:avLst>
              <a:gd name="adj" fmla="val 2222"/>
            </a:avLst>
          </a:prstGeom>
          <a:solidFill>
            <a:schemeClr val="bg1">
              <a:lumMod val="95000"/>
            </a:schemeClr>
          </a:solidFill>
          <a:ln w="38100">
            <a:noFill/>
            <a:prstDash val="solid"/>
          </a:ln>
        </p:spPr>
        <p:style>
          <a:lnRef idx="2">
            <a:schemeClr val="accent1">
              <a:shade val="50000"/>
            </a:schemeClr>
          </a:lnRef>
          <a:fillRef idx="1">
            <a:schemeClr val="accent1"/>
          </a:fillRef>
          <a:effectRef idx="0">
            <a:schemeClr val="accent1"/>
          </a:effectRef>
          <a:fontRef idx="minor">
            <a:schemeClr val="lt1"/>
          </a:fontRef>
        </p:style>
        <p:txBody>
          <a:bodyPr vert="eaVert" lIns="144000" tIns="36000" rIns="36000" bIns="36000" rtlCol="0" anchor="b" anchorCtr="1"/>
          <a:lstStyle/>
          <a:p>
            <a:pPr marL="85725">
              <a:lnSpc>
                <a:spcPts val="3000"/>
              </a:lnSpc>
              <a:spcAft>
                <a:spcPts val="600"/>
              </a:spcAft>
            </a:pPr>
            <a:endParaRPr lang="zh-CN" altLang="en-US" b="1" spc="500">
              <a:solidFill>
                <a:schemeClr val="bg1">
                  <a:lumMod val="6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1" name="组合 50"/>
          <p:cNvGrpSpPr/>
          <p:nvPr/>
        </p:nvGrpSpPr>
        <p:grpSpPr bwMode="gray">
          <a:xfrm>
            <a:off x="2523724" y="4200910"/>
            <a:ext cx="959286" cy="681290"/>
            <a:chOff x="6600056" y="4353447"/>
            <a:chExt cx="1296144" cy="833967"/>
          </a:xfrm>
        </p:grpSpPr>
        <p:cxnSp>
          <p:nvCxnSpPr>
            <p:cNvPr id="52" name="直接连接符 51"/>
            <p:cNvCxnSpPr/>
            <p:nvPr/>
          </p:nvCxnSpPr>
          <p:spPr bwMode="gray">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bwMode="gray">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54" name="图片 5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823754" y="4043386"/>
            <a:ext cx="368827" cy="302438"/>
          </a:xfrm>
          <a:prstGeom prst="rect">
            <a:avLst/>
          </a:prstGeom>
        </p:spPr>
      </p:pic>
      <p:pic>
        <p:nvPicPr>
          <p:cNvPr id="55" name="图片 54" descr="云AP蓝.png"/>
          <p:cNvPicPr>
            <a:picLocks noChangeAspect="1"/>
          </p:cNvPicPr>
          <p:nvPr/>
        </p:nvPicPr>
        <p:blipFill>
          <a:blip r:embed="rId4" cstate="print"/>
          <a:stretch>
            <a:fillRect/>
          </a:stretch>
        </p:blipFill>
        <p:spPr bwMode="gray">
          <a:xfrm>
            <a:off x="3263702" y="4799679"/>
            <a:ext cx="335963" cy="274878"/>
          </a:xfrm>
          <a:prstGeom prst="rect">
            <a:avLst/>
          </a:prstGeom>
        </p:spPr>
      </p:pic>
      <p:pic>
        <p:nvPicPr>
          <p:cNvPr id="56" name="图片 55" descr="云AP蓝.png"/>
          <p:cNvPicPr>
            <a:picLocks noChangeAspect="1"/>
          </p:cNvPicPr>
          <p:nvPr/>
        </p:nvPicPr>
        <p:blipFill>
          <a:blip r:embed="rId4" cstate="print"/>
          <a:stretch>
            <a:fillRect/>
          </a:stretch>
        </p:blipFill>
        <p:spPr bwMode="gray">
          <a:xfrm>
            <a:off x="2407069" y="4799679"/>
            <a:ext cx="335963" cy="274878"/>
          </a:xfrm>
          <a:prstGeom prst="rect">
            <a:avLst/>
          </a:prstGeom>
        </p:spPr>
      </p:pic>
      <p:grpSp>
        <p:nvGrpSpPr>
          <p:cNvPr id="57" name="Group 3"/>
          <p:cNvGrpSpPr/>
          <p:nvPr/>
        </p:nvGrpSpPr>
        <p:grpSpPr bwMode="gray">
          <a:xfrm>
            <a:off x="2872384" y="4905110"/>
            <a:ext cx="261965" cy="61979"/>
            <a:chOff x="559282" y="6488261"/>
            <a:chExt cx="261965" cy="61979"/>
          </a:xfrm>
          <a:solidFill>
            <a:schemeClr val="bg1">
              <a:lumMod val="50000"/>
            </a:schemeClr>
          </a:solidFill>
        </p:grpSpPr>
        <p:sp>
          <p:nvSpPr>
            <p:cNvPr id="58"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61" name="文本框 60"/>
          <p:cNvSpPr txBox="1"/>
          <p:nvPr/>
        </p:nvSpPr>
        <p:spPr bwMode="gray">
          <a:xfrm>
            <a:off x="2221576" y="5920997"/>
            <a:ext cx="579005" cy="276999"/>
          </a:xfrm>
          <a:prstGeom prst="rect">
            <a:avLst/>
          </a:prstGeom>
          <a:noFill/>
        </p:spPr>
        <p:txBody>
          <a:bodyPr wrap="none" rtlCol="0">
            <a:spAutoFit/>
          </a:bodyPr>
          <a:lstStyle/>
          <a:p>
            <a:r>
              <a:rPr lang="zh-CN" alt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门店</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9" name="Group 3"/>
          <p:cNvGrpSpPr/>
          <p:nvPr/>
        </p:nvGrpSpPr>
        <p:grpSpPr bwMode="gray">
          <a:xfrm>
            <a:off x="3653992" y="6059496"/>
            <a:ext cx="261965" cy="61979"/>
            <a:chOff x="559282" y="6488261"/>
            <a:chExt cx="261965" cy="61979"/>
          </a:xfrm>
          <a:solidFill>
            <a:schemeClr val="bg1">
              <a:lumMod val="50000"/>
            </a:schemeClr>
          </a:solidFill>
        </p:grpSpPr>
        <p:sp>
          <p:nvSpPr>
            <p:cNvPr id="30"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63" name="圆角矩形 62"/>
          <p:cNvSpPr/>
          <p:nvPr/>
        </p:nvSpPr>
        <p:spPr bwMode="gray">
          <a:xfrm>
            <a:off x="5920982" y="1423118"/>
            <a:ext cx="5620914" cy="1306830"/>
          </a:xfrm>
          <a:prstGeom prst="roundRect">
            <a:avLst>
              <a:gd name="adj" fmla="val 898"/>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74625" indent="-174625" fontAlgn="auto">
              <a:lnSpc>
                <a:spcPct val="130000"/>
              </a:lnSpc>
              <a:spcBef>
                <a:spcPts val="0"/>
              </a:spcBef>
              <a:spcAft>
                <a:spcPts val="600"/>
              </a:spcAft>
              <a:buSzPct val="50000"/>
              <a:buFont typeface="Wingdings" panose="05000000000000000000" pitchFamily="2" charset="2"/>
              <a:buChar char="l"/>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门店数量较多，各门店以无线网络为主，且网络拓扑较为简单，现场工作人员无网络运维技能；</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74625" indent="-174625" fontAlgn="auto">
              <a:lnSpc>
                <a:spcPct val="130000"/>
              </a:lnSpc>
              <a:spcBef>
                <a:spcPts val="0"/>
              </a:spcBef>
              <a:spcAft>
                <a:spcPts val="600"/>
              </a:spcAft>
              <a:buSzPct val="50000"/>
              <a:buFont typeface="Wingdings" panose="05000000000000000000" pitchFamily="2" charset="2"/>
              <a:buChar char="l"/>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无线终端类型较多，除普通无线终端外，还有电子价签等物联网终端；</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74625" indent="-174625" fontAlgn="auto">
              <a:lnSpc>
                <a:spcPct val="130000"/>
              </a:lnSpc>
              <a:spcBef>
                <a:spcPts val="0"/>
              </a:spcBef>
              <a:spcAft>
                <a:spcPts val="600"/>
              </a:spcAft>
              <a:buSzPct val="50000"/>
              <a:buFont typeface="Wingdings" panose="05000000000000000000" pitchFamily="2" charset="2"/>
              <a:buChar char="l"/>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顾客连接无线网络时，商家希望能够推送商品优惠及门店活动广告。</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文本框 63"/>
          <p:cNvSpPr txBox="1"/>
          <p:nvPr/>
        </p:nvSpPr>
        <p:spPr bwMode="gray">
          <a:xfrm>
            <a:off x="5920983" y="1000505"/>
            <a:ext cx="5620913" cy="373577"/>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600">
                <a:solidFill>
                  <a:srgbClr val="30B5C5"/>
                </a:solidFill>
                <a:latin typeface="Huawei Sans" panose="020C0503030203020204" pitchFamily="34" charset="0"/>
                <a:ea typeface="方正兰亭黑简体" panose="02000000000000000000" pitchFamily="2" charset="-122"/>
              </a:defRPr>
            </a:lvl1pPr>
          </a:lstStyle>
          <a:p>
            <a:r>
              <a:rPr lang="zh-CN" altLang="en-US" dirty="0">
                <a:sym typeface="Huawei Sans" panose="020C0503030203020204" pitchFamily="34" charset="0"/>
              </a:rPr>
              <a:t>网络需求</a:t>
            </a:r>
          </a:p>
        </p:txBody>
      </p:sp>
      <p:sp>
        <p:nvSpPr>
          <p:cNvPr id="65" name="圆角矩形 64"/>
          <p:cNvSpPr/>
          <p:nvPr/>
        </p:nvSpPr>
        <p:spPr bwMode="gray">
          <a:xfrm>
            <a:off x="5920982" y="3494901"/>
            <a:ext cx="5620914" cy="2255904"/>
          </a:xfrm>
          <a:prstGeom prst="roundRect">
            <a:avLst>
              <a:gd name="adj" fmla="val 898"/>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74625" indent="-174625" fontAlgn="auto">
              <a:lnSpc>
                <a:spcPts val="2400"/>
              </a:lnSpc>
              <a:spcBef>
                <a:spcPts val="0"/>
              </a:spcBef>
              <a:spcAft>
                <a:spcPts val="600"/>
              </a:spcAft>
              <a:buSzPct val="50000"/>
              <a:buFont typeface="Wingdings" panose="05000000000000000000" pitchFamily="2" charset="2"/>
              <a:buChar char="l"/>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扫码开局实现分钟级的</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快速上线及无线网络业务快速发放，通过云管理平台对所有门店网络进行“规建维优”全生命周期一站式管理；</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74625" indent="-174625" fontAlgn="auto">
              <a:lnSpc>
                <a:spcPts val="2400"/>
              </a:lnSpc>
              <a:spcBef>
                <a:spcPts val="0"/>
              </a:spcBef>
              <a:spcAft>
                <a:spcPts val="600"/>
              </a:spcAft>
              <a:buSzPct val="50000"/>
              <a:buFont typeface="Wingdings" panose="05000000000000000000" pitchFamily="2" charset="2"/>
              <a:buChar char="l"/>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部署物联网</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并通过物联网</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内置的物联网插槽实现</a:t>
            </a:r>
            <a:r>
              <a:rPr lang="en-US" altLang="zh-CN" sz="1200" dirty="0" err="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IoT</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Wi-Fi</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的融合部署，统一规划，共站址回传，电子价签对接超市管理和</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ERP</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系统，动态显示并实现实时变价，缺货预警等交互功能；</a:t>
            </a:r>
          </a:p>
          <a:p>
            <a:pPr marL="174625" indent="-174625" fontAlgn="auto">
              <a:lnSpc>
                <a:spcPts val="2400"/>
              </a:lnSpc>
              <a:spcBef>
                <a:spcPts val="0"/>
              </a:spcBef>
              <a:spcAft>
                <a:spcPts val="600"/>
              </a:spcAft>
              <a:buSzPct val="50000"/>
              <a:buFont typeface="Wingdings" panose="05000000000000000000" pitchFamily="2" charset="2"/>
              <a:buChar char="l"/>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顾客通过</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Portal</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认证接入网络，并通过认证页面获得定制化的广告推送。</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文本框 65"/>
          <p:cNvSpPr txBox="1"/>
          <p:nvPr/>
        </p:nvSpPr>
        <p:spPr bwMode="gray">
          <a:xfrm>
            <a:off x="5920983" y="3067806"/>
            <a:ext cx="5620913" cy="373577"/>
          </a:xfrm>
          <a:prstGeom prst="roundRect">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algn="ctr">
              <a:defRPr sz="1600">
                <a:solidFill>
                  <a:srgbClr val="30B5C5"/>
                </a:solidFill>
                <a:latin typeface="Huawei Sans" panose="020C0503030203020204" pitchFamily="34" charset="0"/>
                <a:ea typeface="方正兰亭黑简体" panose="02000000000000000000" pitchFamily="2" charset="-122"/>
              </a:defRPr>
            </a:lvl1pPr>
          </a:lstStyle>
          <a:p>
            <a:r>
              <a:rPr lang="zh-CN" altLang="en-US">
                <a:sym typeface="Huawei Sans" panose="020C0503030203020204" pitchFamily="34" charset="0"/>
              </a:rPr>
              <a:t>方案</a:t>
            </a:r>
            <a:endParaRPr lang="zh-CN" altLang="en-US" dirty="0">
              <a:sym typeface="Huawei Sans" panose="020C0503030203020204" pitchFamily="34" charset="0"/>
            </a:endParaRPr>
          </a:p>
        </p:txBody>
      </p:sp>
    </p:spTree>
    <p:extLst>
      <p:ext uri="{BB962C8B-B14F-4D97-AF65-F5344CB8AC3E}">
        <p14:creationId xmlns:p14="http://schemas.microsoft.com/office/powerpoint/2010/main" val="93218747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1019176" y="1844675"/>
            <a:ext cx="10153650" cy="4269798"/>
          </a:xfrm>
        </p:spPr>
        <p:txBody>
          <a:bodyPr/>
          <a:lstStyle/>
          <a:p>
            <a:r>
              <a:rPr lang="en-US" altLang="zh-CN" dirty="0">
                <a:sym typeface="Huawei Sans" panose="020C0503030203020204" pitchFamily="34" charset="0"/>
              </a:rPr>
              <a:t>(</a:t>
            </a:r>
            <a:r>
              <a:rPr lang="zh-CN" altLang="en-US" dirty="0">
                <a:sym typeface="Huawei Sans" panose="020C0503030203020204" pitchFamily="34" charset="0"/>
              </a:rPr>
              <a:t>多选题</a:t>
            </a:r>
            <a:r>
              <a:rPr lang="en-US" altLang="zh-CN" dirty="0">
                <a:sym typeface="Huawei Sans" panose="020C0503030203020204" pitchFamily="34" charset="0"/>
              </a:rPr>
              <a:t>)</a:t>
            </a:r>
            <a:r>
              <a:rPr lang="zh-CN" altLang="en-US" dirty="0">
                <a:sym typeface="Huawei Sans" panose="020C0503030203020204" pitchFamily="34" charset="0"/>
              </a:rPr>
              <a:t>以下哪些选项的技术可以提高网络的可靠性？</a:t>
            </a:r>
            <a:r>
              <a:rPr lang="en-US" altLang="zh-CN" dirty="0">
                <a:sym typeface="Huawei Sans" panose="020C0503030203020204" pitchFamily="34" charset="0"/>
              </a:rPr>
              <a:t>(     )</a:t>
            </a:r>
          </a:p>
          <a:p>
            <a:pPr lvl="1"/>
            <a:r>
              <a:rPr lang="en-US" altLang="zh-CN" dirty="0">
                <a:sym typeface="Huawei Sans" panose="020C0503030203020204" pitchFamily="34" charset="0"/>
              </a:rPr>
              <a:t>STP</a:t>
            </a:r>
          </a:p>
          <a:p>
            <a:pPr lvl="1"/>
            <a:r>
              <a:rPr lang="en-US" altLang="zh-CN" dirty="0">
                <a:sym typeface="Huawei Sans" panose="020C0503030203020204" pitchFamily="34" charset="0"/>
              </a:rPr>
              <a:t>Eth-Trunk</a:t>
            </a:r>
          </a:p>
          <a:p>
            <a:pPr lvl="1"/>
            <a:r>
              <a:rPr lang="en-US" altLang="zh-CN" dirty="0" err="1">
                <a:sym typeface="Huawei Sans" panose="020C0503030203020204" pitchFamily="34" charset="0"/>
              </a:rPr>
              <a:t>iStack</a:t>
            </a:r>
            <a:endParaRPr lang="en-US" altLang="zh-CN" dirty="0">
              <a:sym typeface="Huawei Sans" panose="020C0503030203020204" pitchFamily="34" charset="0"/>
            </a:endParaRPr>
          </a:p>
          <a:p>
            <a:pPr lvl="1"/>
            <a:r>
              <a:rPr lang="en-US" altLang="zh-CN" dirty="0">
                <a:sym typeface="Huawei Sans" panose="020C0503030203020204" pitchFamily="34" charset="0"/>
              </a:rPr>
              <a:t>CSS</a:t>
            </a:r>
          </a:p>
          <a:p>
            <a:r>
              <a:rPr lang="en-US" altLang="zh-CN" dirty="0">
                <a:sym typeface="Huawei Sans" panose="020C0503030203020204" pitchFamily="34" charset="0"/>
              </a:rPr>
              <a:t>(</a:t>
            </a:r>
            <a:r>
              <a:rPr lang="zh-CN" altLang="en-US" dirty="0">
                <a:sym typeface="Huawei Sans" panose="020C0503030203020204" pitchFamily="34" charset="0"/>
              </a:rPr>
              <a:t>判断题</a:t>
            </a:r>
            <a:r>
              <a:rPr lang="en-US" altLang="zh-CN" dirty="0">
                <a:sym typeface="Huawei Sans" panose="020C0503030203020204" pitchFamily="34" charset="0"/>
              </a:rPr>
              <a:t>)</a:t>
            </a:r>
            <a:r>
              <a:rPr lang="zh-CN" altLang="en-US" dirty="0">
                <a:sym typeface="Huawei Sans" panose="020C0503030203020204" pitchFamily="34" charset="0"/>
              </a:rPr>
              <a:t>在部署</a:t>
            </a:r>
            <a:r>
              <a:rPr lang="en-US" altLang="zh-CN" dirty="0">
                <a:sym typeface="Huawei Sans" panose="020C0503030203020204" pitchFamily="34" charset="0"/>
              </a:rPr>
              <a:t>MSTP</a:t>
            </a:r>
            <a:r>
              <a:rPr lang="zh-CN" altLang="en-US" dirty="0">
                <a:sym typeface="Huawei Sans" panose="020C0503030203020204" pitchFamily="34" charset="0"/>
              </a:rPr>
              <a:t>时，同一个</a:t>
            </a:r>
            <a:r>
              <a:rPr lang="en-US" altLang="zh-CN" dirty="0">
                <a:sym typeface="Huawei Sans" panose="020C0503030203020204" pitchFamily="34" charset="0"/>
              </a:rPr>
              <a:t>MST</a:t>
            </a:r>
            <a:r>
              <a:rPr lang="zh-CN" altLang="en-US" dirty="0">
                <a:sym typeface="Huawei Sans" panose="020C0503030203020204" pitchFamily="34" charset="0"/>
              </a:rPr>
              <a:t>域的设备必须具有相同的</a:t>
            </a:r>
            <a:r>
              <a:rPr lang="en-US" altLang="zh-CN" dirty="0">
                <a:sym typeface="Huawei Sans" panose="020C0503030203020204" pitchFamily="34" charset="0"/>
              </a:rPr>
              <a:t>VLAN</a:t>
            </a:r>
            <a:r>
              <a:rPr lang="zh-CN" altLang="en-US" dirty="0">
                <a:sym typeface="Huawei Sans" panose="020C0503030203020204" pitchFamily="34" charset="0"/>
              </a:rPr>
              <a:t>到生成树实例映射的配置。</a:t>
            </a:r>
            <a:r>
              <a:rPr lang="en-US" altLang="zh-CN" dirty="0">
                <a:sym typeface="Huawei Sans" panose="020C0503030203020204" pitchFamily="34" charset="0"/>
              </a:rPr>
              <a:t>(     )</a:t>
            </a:r>
          </a:p>
          <a:p>
            <a:pPr lvl="1"/>
            <a:r>
              <a:rPr lang="zh-CN" altLang="en-US" dirty="0">
                <a:sym typeface="Huawei Sans" panose="020C0503030203020204" pitchFamily="34" charset="0"/>
              </a:rPr>
              <a:t>正确</a:t>
            </a:r>
            <a:endParaRPr lang="en-US" altLang="zh-CN" dirty="0">
              <a:sym typeface="Huawei Sans" panose="020C0503030203020204" pitchFamily="34" charset="0"/>
            </a:endParaRPr>
          </a:p>
          <a:p>
            <a:pPr lvl="1"/>
            <a:r>
              <a:rPr lang="zh-CN" altLang="en-US" dirty="0">
                <a:sym typeface="Huawei Sans" panose="020C0503030203020204" pitchFamily="34" charset="0"/>
              </a:rPr>
              <a:t>错误</a:t>
            </a:r>
          </a:p>
        </p:txBody>
      </p:sp>
    </p:spTree>
    <p:extLst>
      <p:ext uri="{BB962C8B-B14F-4D97-AF65-F5344CB8AC3E}">
        <p14:creationId xmlns:p14="http://schemas.microsoft.com/office/powerpoint/2010/main" val="53009142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r>
              <a:rPr lang="zh-CN" altLang="en-US" dirty="0">
                <a:sym typeface="Huawei Sans" panose="020C0503030203020204" pitchFamily="34" charset="0"/>
              </a:rPr>
              <a:t>本章介绍了园区网络的定义，园区网络的需求、趋势和挑战，以及简单介绍了华为云园区网络解决方案，同时介绍了园区网络中一些常见的技术以及应用场景。</a:t>
            </a:r>
            <a:endParaRPr lang="en-US" altLang="zh-CN" dirty="0">
              <a:sym typeface="Huawei Sans" panose="020C0503030203020204" pitchFamily="34" charset="0"/>
            </a:endParaRPr>
          </a:p>
          <a:p>
            <a:r>
              <a:rPr lang="zh-CN" altLang="en-US" dirty="0">
                <a:sym typeface="Huawei Sans" panose="020C0503030203020204" pitchFamily="34" charset="0"/>
              </a:rPr>
              <a:t>在后续的课程中，我们将探讨如何根据需求设计网络，这需要读者对园区网络技术有较为全面且深刻的理解。受限于课程篇幅，本文无法将园区网络中所用的技术一一列举，希望读者可以查阅其他文档，扩大技术覆盖面，同时加深对关键技术的理解。</a:t>
            </a:r>
          </a:p>
          <a:p>
            <a:endParaRPr lang="zh-CN" altLang="en-US" dirty="0">
              <a:sym typeface="Huawei Sans" panose="020C0503030203020204" pitchFamily="34" charset="0"/>
            </a:endParaRPr>
          </a:p>
        </p:txBody>
      </p:sp>
    </p:spTree>
    <p:extLst>
      <p:ext uri="{BB962C8B-B14F-4D97-AF65-F5344CB8AC3E}">
        <p14:creationId xmlns:p14="http://schemas.microsoft.com/office/powerpoint/2010/main" val="392648606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761961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ICON" val="#405345;#402182;"/>
</p:tagLst>
</file>

<file path=ppt/tags/tag2.xml><?xml version="1.0" encoding="utf-8"?>
<p:tagLst xmlns:a="http://schemas.openxmlformats.org/drawingml/2006/main" xmlns:r="http://schemas.openxmlformats.org/officeDocument/2006/relationships" xmlns:p="http://schemas.openxmlformats.org/presentationml/2006/main">
  <p:tag name="ISLIDE.ICON" val="#145886;"/>
</p:tagLst>
</file>

<file path=ppt/theme/theme1.xml><?xml version="1.0" encoding="utf-8"?>
<a:theme xmlns:a="http://schemas.openxmlformats.org/drawingml/2006/main" name="2_标题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功能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感谢页模板">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raClrSchemeLst/>
  <a:extLst>
    <a:ext uri="{05A4C25C-085E-4340-85A3-A5531E510DB2}">
      <thm15:themeFamily xmlns:thm15="http://schemas.microsoft.com/office/thememl/2012/main" name="演示文稿1" id="{5D7106B4-FD24-471A-B326-8B58E27A973B}" vid="{1AA013AF-7C2E-4A39-9796-86760F640C1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2C5B4B712841F4C8A7AAEE2CD191271" ma:contentTypeVersion="1" ma:contentTypeDescription="Create a new document." ma:contentTypeScope="" ma:versionID="fd4f534fc22f1d982cc2e0e62ad2af45">
  <xsd:schema xmlns:xsd="http://www.w3.org/2001/XMLSchema" xmlns:xs="http://www.w3.org/2001/XMLSchema" xmlns:p="http://schemas.microsoft.com/office/2006/metadata/properties" xmlns:ns2="475f1e55-3009-46d8-9566-5d569a2b3a98" targetNamespace="http://schemas.microsoft.com/office/2006/metadata/properties" ma:root="true" ma:fieldsID="1d095aabec1d15598815726bd4b054a7" ns2:_="">
    <xsd:import namespace="475f1e55-3009-46d8-9566-5d569a2b3a98"/>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5f1e55-3009-46d8-9566-5d569a2b3a9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A5960F2-6186-408B-A0DC-5CA5E58B604F}">
  <ds:schemaRefs>
    <ds:schemaRef ds:uri="475f1e55-3009-46d8-9566-5d569a2b3a98"/>
    <ds:schemaRef ds:uri="http://purl.org/dc/terms/"/>
    <ds:schemaRef ds:uri="http://schemas.openxmlformats.org/package/2006/metadata/core-properties"/>
    <ds:schemaRef ds:uri="http://schemas.microsoft.com/office/2006/documentManagement/types"/>
    <ds:schemaRef ds:uri="http://purl.org/dc/dcmitype/"/>
    <ds:schemaRef ds:uri="http://purl.org/dc/elements/1.1/"/>
    <ds:schemaRef ds:uri="http://www.w3.org/XML/1998/namespace"/>
    <ds:schemaRef ds:uri="http://schemas.microsoft.com/office/infopath/2007/PartnerControls"/>
    <ds:schemaRef ds:uri="http://schemas.microsoft.com/office/2006/metadata/properties"/>
  </ds:schemaRefs>
</ds:datastoreItem>
</file>

<file path=customXml/itemProps2.xml><?xml version="1.0" encoding="utf-8"?>
<ds:datastoreItem xmlns:ds="http://schemas.openxmlformats.org/officeDocument/2006/customXml" ds:itemID="{FEDE263F-0510-4442-823E-69B63ECB61E1}">
  <ds:schemaRefs>
    <ds:schemaRef ds:uri="http://schemas.microsoft.com/sharepoint/v3/contenttype/forms"/>
  </ds:schemaRefs>
</ds:datastoreItem>
</file>

<file path=customXml/itemProps3.xml><?xml version="1.0" encoding="utf-8"?>
<ds:datastoreItem xmlns:ds="http://schemas.openxmlformats.org/officeDocument/2006/customXml" ds:itemID="{9DACC80F-25C4-4BAA-8B1C-E230BC8C3B7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75f1e55-3009-46d8-9566-5d569a2b3a9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8637</TotalTime>
  <Words>12011</Words>
  <Application>Microsoft Office PowerPoint</Application>
  <PresentationFormat>宽屏</PresentationFormat>
  <Paragraphs>1459</Paragraphs>
  <Slides>65</Slides>
  <Notes>65</Notes>
  <HiddenSlides>1</HiddenSlides>
  <MMClips>0</MMClips>
  <ScaleCrop>false</ScaleCrop>
  <HeadingPairs>
    <vt:vector size="6" baseType="variant">
      <vt:variant>
        <vt:lpstr>已用的字体</vt:lpstr>
      </vt:variant>
      <vt:variant>
        <vt:i4>6</vt:i4>
      </vt:variant>
      <vt:variant>
        <vt:lpstr>主题</vt:lpstr>
      </vt:variant>
      <vt:variant>
        <vt:i4>4</vt:i4>
      </vt:variant>
      <vt:variant>
        <vt:lpstr>幻灯片标题</vt:lpstr>
      </vt:variant>
      <vt:variant>
        <vt:i4>65</vt:i4>
      </vt:variant>
    </vt:vector>
  </HeadingPairs>
  <TitlesOfParts>
    <vt:vector size="75" baseType="lpstr">
      <vt:lpstr>Huawei Sans</vt:lpstr>
      <vt:lpstr>方正兰亭黑简体</vt:lpstr>
      <vt:lpstr>Microsoft YaHei</vt:lpstr>
      <vt:lpstr>Microsoft YaHei</vt:lpstr>
      <vt:lpstr>Arial</vt:lpstr>
      <vt:lpstr>Wingdings</vt:lpstr>
      <vt:lpstr>2_标题页模板</vt:lpstr>
      <vt:lpstr>3_功能页模板</vt:lpstr>
      <vt:lpstr>4_内容页模板</vt:lpstr>
      <vt:lpstr>5_感谢页模板</vt:lpstr>
      <vt:lpstr>PowerPoint 演示文稿</vt:lpstr>
      <vt:lpstr>企业园区网络综述</vt:lpstr>
      <vt:lpstr>PowerPoint 演示文稿</vt:lpstr>
      <vt:lpstr>PowerPoint 演示文稿</vt:lpstr>
      <vt:lpstr>PowerPoint 演示文稿</vt:lpstr>
      <vt:lpstr>园区无处不在</vt:lpstr>
      <vt:lpstr>什么是园区网络？</vt:lpstr>
      <vt:lpstr>园区网络的分类 (1)</vt:lpstr>
      <vt:lpstr>园区网络的分类 (2)</vt:lpstr>
      <vt:lpstr>园区网络的分类 (3)</vt:lpstr>
      <vt:lpstr>园区网络典型物理架构</vt:lpstr>
      <vt:lpstr>PowerPoint 演示文稿</vt:lpstr>
      <vt:lpstr>行业数字化转型，提升生产效率和客户满意度</vt:lpstr>
      <vt:lpstr>数字化时代，园区网络如何支撑行业数字化转型？</vt:lpstr>
      <vt:lpstr>园区网络发展</vt:lpstr>
      <vt:lpstr>大中型园区网络的业务需求与挑战</vt:lpstr>
      <vt:lpstr>中小型园区网络的业务需求与挑战</vt:lpstr>
      <vt:lpstr>多园区网络互联的业务需求与挑战</vt:lpstr>
      <vt:lpstr>华为云园区网络解决方案 (CloudCampus 3.0)</vt:lpstr>
      <vt:lpstr>全场景：单园区到多分支互联全覆盖</vt:lpstr>
      <vt:lpstr>全周期：规建维优</vt:lpstr>
      <vt:lpstr>全融合：一套控制器管理LAN侧、WAN侧</vt:lpstr>
      <vt:lpstr>PowerPoint 演示文稿</vt:lpstr>
      <vt:lpstr>VLAN</vt:lpstr>
      <vt:lpstr>Voice VLAN</vt:lpstr>
      <vt:lpstr>生成树</vt:lpstr>
      <vt:lpstr>快速生成树</vt:lpstr>
      <vt:lpstr>多生成树</vt:lpstr>
      <vt:lpstr>OSPFv2</vt:lpstr>
      <vt:lpstr>策略路由</vt:lpstr>
      <vt:lpstr>WLAN组网架构综述 (1)</vt:lpstr>
      <vt:lpstr>WLAN组网架构综述 (2)</vt:lpstr>
      <vt:lpstr>WLAN组网架构综述 (3)</vt:lpstr>
      <vt:lpstr>WLAN组网架构综述 (4)</vt:lpstr>
      <vt:lpstr>VRRP</vt:lpstr>
      <vt:lpstr>链路聚合、堆叠/集群技术</vt:lpstr>
      <vt:lpstr>网络质量分析</vt:lpstr>
      <vt:lpstr>端口隔离</vt:lpstr>
      <vt:lpstr>以太网端口安全</vt:lpstr>
      <vt:lpstr>MACsec</vt:lpstr>
      <vt:lpstr>DHCP Snooping</vt:lpstr>
      <vt:lpstr>动态ARP检测</vt:lpstr>
      <vt:lpstr>IP源防攻击</vt:lpstr>
      <vt:lpstr>使用VRF实现虚拟网络隔离</vt:lpstr>
      <vt:lpstr>网络准入控制</vt:lpstr>
      <vt:lpstr>DHCP</vt:lpstr>
      <vt:lpstr>DHCP Options</vt:lpstr>
      <vt:lpstr>NTP</vt:lpstr>
      <vt:lpstr>SNMP</vt:lpstr>
      <vt:lpstr>NETCONF</vt:lpstr>
      <vt:lpstr>NETCONF基本操作</vt:lpstr>
      <vt:lpstr>LLDP</vt:lpstr>
      <vt:lpstr>Telemetry</vt:lpstr>
      <vt:lpstr>NAT</vt:lpstr>
      <vt:lpstr>GRE</vt:lpstr>
      <vt:lpstr>IPsec VPN</vt:lpstr>
      <vt:lpstr>L2TP VPN</vt:lpstr>
      <vt:lpstr>SSL VPN</vt:lpstr>
      <vt:lpstr>PowerPoint 演示文稿</vt:lpstr>
      <vt:lpstr>案例1 - 传统业务园区网络</vt:lpstr>
      <vt:lpstr>案例2 - 虚拟化园区网络</vt:lpstr>
      <vt:lpstr>案例3 - 中小型云管理园区网络</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junpeng he</cp:lastModifiedBy>
  <cp:revision>461</cp:revision>
  <cp:lastPrinted>2020-07-31T09:33:18Z</cp:lastPrinted>
  <dcterms:created xsi:type="dcterms:W3CDTF">2018-11-29T10:16:29Z</dcterms:created>
  <dcterms:modified xsi:type="dcterms:W3CDTF">2023-11-06T06:08:24Z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(3)Ak+PC6pLahX5eMXCWJy2Z+45b2LgRk88q0HciXRj3/DstHnkzgI6NZEAk7vY2mpCTH27wnfw
taCq+Po11ww63q0gxgmSDkKiaFjaHaZ1rgRlBFEsn7KcCSiq5INPktHOslbtU3EV1B365+L6
dL8ZZGprx7TTjkQGm2fw/yjgzyeB7Loe3R+zHH2SmSSJoeLVTXvzrEcGeMKXicwzGMS3dQU6
YuBbwc6Pb3Zn0Dhd3i</vt:lpwstr>
  </property>
  <property fmtid="{D5CDD505-2E9C-101B-9397-08002B2CF9AE}" pid="3" name="_2015_ms_pID_7253431">
    <vt:lpwstr>1V5pkHoZ4pjnndp4+XKZcjO1dU65uyIDnEQl//Fu2rZ95XjaS2PKQi
sLaFKqIKZOO5T+q5BnhKY39WRszm6RcPrssiI1LKXGqWf9oG+1c9xs41ICGVVkpn5P9z6Zh0
OWHtQ1e+m4FtBgB5JAHgapP7UInrfEfDMc3+Wo1IYCekJZcCXn3c5bx49b9rI/NMvPlosQs4
J6ZraLmmtRoqRn6LKJ/J6PkH4qDTeWVMAE08</vt:lpwstr>
  </property>
  <property fmtid="{D5CDD505-2E9C-101B-9397-08002B2CF9AE}" pid="4" name="_2015_ms_pID_7253432">
    <vt:lpwstr>Kl5YnfbXycyWTbHroESGMHM=</vt:lpwstr>
  </property>
  <property fmtid="{D5CDD505-2E9C-101B-9397-08002B2CF9AE}" pid="5" name="ContentTypeId">
    <vt:lpwstr>0x01010002C5B4B712841F4C8A7AAEE2CD191271</vt:lpwstr>
  </property>
  <property fmtid="{D5CDD505-2E9C-101B-9397-08002B2CF9AE}" pid="6" name="_readonly">
    <vt:lpwstr/>
  </property>
  <property fmtid="{D5CDD505-2E9C-101B-9397-08002B2CF9AE}" pid="7" name="_change">
    <vt:lpwstr/>
  </property>
  <property fmtid="{D5CDD505-2E9C-101B-9397-08002B2CF9AE}" pid="8" name="_full-control">
    <vt:lpwstr/>
  </property>
  <property fmtid="{D5CDD505-2E9C-101B-9397-08002B2CF9AE}" pid="9" name="sflag">
    <vt:lpwstr>1634024950</vt:lpwstr>
  </property>
</Properties>
</file>