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63"/>
  </p:notesMasterIdLst>
  <p:handoutMasterIdLst>
    <p:handoutMasterId r:id="rId64"/>
  </p:handoutMasterIdLst>
  <p:sldIdLst>
    <p:sldId id="311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65" r:id="rId20"/>
    <p:sldId id="324" r:id="rId21"/>
    <p:sldId id="325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70" r:id="rId40"/>
    <p:sldId id="366" r:id="rId41"/>
    <p:sldId id="367" r:id="rId42"/>
    <p:sldId id="368" r:id="rId43"/>
    <p:sldId id="369" r:id="rId44"/>
    <p:sldId id="344" r:id="rId45"/>
    <p:sldId id="345" r:id="rId46"/>
    <p:sldId id="346" r:id="rId47"/>
    <p:sldId id="347" r:id="rId48"/>
    <p:sldId id="348" r:id="rId49"/>
    <p:sldId id="349" r:id="rId50"/>
    <p:sldId id="350" r:id="rId51"/>
    <p:sldId id="351" r:id="rId52"/>
    <p:sldId id="352" r:id="rId53"/>
    <p:sldId id="353" r:id="rId54"/>
    <p:sldId id="354" r:id="rId55"/>
    <p:sldId id="355" r:id="rId56"/>
    <p:sldId id="356" r:id="rId57"/>
    <p:sldId id="357" r:id="rId58"/>
    <p:sldId id="358" r:id="rId59"/>
    <p:sldId id="359" r:id="rId60"/>
    <p:sldId id="360" r:id="rId61"/>
    <p:sldId id="361" r:id="rId62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23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yueyuezjhw" initials="l" lastIdx="17" clrIdx="0">
    <p:extLst>
      <p:ext uri="{19B8F6BF-5375-455C-9EA6-DF929625EA0E}">
        <p15:presenceInfo xmlns:p15="http://schemas.microsoft.com/office/powerpoint/2012/main" userId="S-1-5-21-147214757-305610072-1517763936-4736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800"/>
    <a:srgbClr val="BEE9EE"/>
    <a:srgbClr val="94DAE2"/>
    <a:srgbClr val="30B5C5"/>
    <a:srgbClr val="62B230"/>
    <a:srgbClr val="D0E8C4"/>
    <a:srgbClr val="56C4D2"/>
    <a:srgbClr val="FDE397"/>
    <a:srgbClr val="AFD89C"/>
    <a:srgbClr val="FEE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30" autoAdjust="0"/>
  </p:normalViewPr>
  <p:slideViewPr>
    <p:cSldViewPr snapToGrid="0" snapToObjects="1">
      <p:cViewPr varScale="1">
        <p:scale>
          <a:sx n="104" d="100"/>
          <a:sy n="104" d="100"/>
        </p:scale>
        <p:origin x="2502" y="108"/>
      </p:cViewPr>
      <p:guideLst>
        <p:guide pos="3840"/>
        <p:guide orient="horz" pos="23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5328" y="90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10/21/2021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5316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458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注：若无特殊说明，本文中所指的</a:t>
            </a:r>
            <a:r>
              <a:rPr lang="en-US" altLang="zh-CN" dirty="0" smtClean="0"/>
              <a:t>MPLS VPN</a:t>
            </a:r>
            <a:r>
              <a:rPr lang="zh-CN" altLang="en-US" dirty="0" smtClean="0"/>
              <a:t>均表示</a:t>
            </a:r>
            <a:r>
              <a:rPr lang="en-US" altLang="zh-CN" dirty="0" smtClean="0"/>
              <a:t>BGP/MPLS IP VPN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74187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688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024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MPLS VPN</a:t>
            </a:r>
            <a:r>
              <a:rPr lang="zh-CN" altLang="en-US" dirty="0" smtClean="0"/>
              <a:t>的主要优点包括但不限于以下几项：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可以实现“一点接入，全网连通”，支持异种介质的互连。而不像传统专线那样在每一对用户设备间采用同样的介质连接，可方便地提供普遍服务。</a:t>
            </a:r>
          </a:p>
          <a:p>
            <a:pPr lvl="1"/>
            <a:r>
              <a:rPr lang="zh-CN" altLang="en-US" dirty="0" smtClean="0"/>
              <a:t>可以实现“弹性带宽”，采用流量监管技术，在保证用户基本带宽的同时，对突发流量尽力而为，同时基本带宽也可以“软扩容”，即根据用户的需求在一个范围内连续选择。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在资源隔离或隧道绑定的</a:t>
            </a:r>
            <a:r>
              <a:rPr lang="en-US" altLang="zh-CN" dirty="0" smtClean="0"/>
              <a:t>MPLS VPN</a:t>
            </a:r>
            <a:r>
              <a:rPr lang="zh-CN" altLang="zh-CN" dirty="0" smtClean="0"/>
              <a:t>技术保证下，充分保证每个</a:t>
            </a:r>
            <a:r>
              <a:rPr lang="en-US" altLang="zh-CN" dirty="0" smtClean="0"/>
              <a:t>VPN</a:t>
            </a:r>
            <a:r>
              <a:rPr lang="zh-CN" altLang="zh-CN" dirty="0" smtClean="0"/>
              <a:t>的专有带宽，满足各类业务有不同的用户，不同的流量模型，不同的</a:t>
            </a:r>
            <a:r>
              <a:rPr lang="en-US" altLang="zh-CN" dirty="0" err="1" smtClean="0"/>
              <a:t>QoS</a:t>
            </a:r>
            <a:r>
              <a:rPr lang="zh-CN" altLang="zh-CN" dirty="0" smtClean="0"/>
              <a:t>要求。</a:t>
            </a:r>
          </a:p>
          <a:p>
            <a:pPr lvl="1"/>
            <a:endParaRPr lang="zh-CN" altLang="en-US" dirty="0" smtClean="0"/>
          </a:p>
          <a:p>
            <a:pPr lvl="1"/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60338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238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659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702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378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599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RFC2547</a:t>
            </a:r>
            <a:r>
              <a:rPr lang="zh-CN" altLang="zh-CN" smtClean="0"/>
              <a:t>中提出了三种跨域</a:t>
            </a:r>
            <a:r>
              <a:rPr lang="en-US" altLang="zh-CN" smtClean="0"/>
              <a:t>VPN</a:t>
            </a:r>
            <a:r>
              <a:rPr lang="zh-CN" altLang="zh-CN" smtClean="0"/>
              <a:t>解决方案，分别是：</a:t>
            </a:r>
            <a:endParaRPr lang="en-US" altLang="zh-CN" smtClean="0"/>
          </a:p>
          <a:p>
            <a:pPr lvl="1"/>
            <a:r>
              <a:rPr lang="zh-CN" altLang="en-US" smtClean="0"/>
              <a:t>跨域</a:t>
            </a:r>
            <a:r>
              <a:rPr lang="en-US" altLang="zh-CN" smtClean="0"/>
              <a:t>VPN-OptionA</a:t>
            </a:r>
            <a:r>
              <a:rPr lang="zh-CN" altLang="en-US" smtClean="0"/>
              <a:t>（</a:t>
            </a:r>
            <a:r>
              <a:rPr lang="en-US" altLang="zh-CN" smtClean="0"/>
              <a:t>Inter-Provider Backbones Option A</a:t>
            </a:r>
            <a:r>
              <a:rPr lang="zh-CN" altLang="en-US" smtClean="0"/>
              <a:t>）方式：需要跨域的</a:t>
            </a:r>
            <a:r>
              <a:rPr lang="en-US" altLang="zh-CN" smtClean="0"/>
              <a:t>VPN</a:t>
            </a:r>
            <a:r>
              <a:rPr lang="zh-CN" altLang="en-US" smtClean="0"/>
              <a:t>在</a:t>
            </a:r>
            <a:r>
              <a:rPr lang="en-US" altLang="zh-CN" smtClean="0"/>
              <a:t>ASBR</a:t>
            </a:r>
            <a:r>
              <a:rPr lang="zh-CN" altLang="en-US" smtClean="0"/>
              <a:t>（</a:t>
            </a:r>
            <a:r>
              <a:rPr lang="en-US" altLang="zh-CN" smtClean="0"/>
              <a:t>AS Boundary Router</a:t>
            </a:r>
            <a:r>
              <a:rPr lang="zh-CN" altLang="en-US" smtClean="0"/>
              <a:t>）间通过专用的接口管理自己的</a:t>
            </a:r>
            <a:r>
              <a:rPr lang="en-US" altLang="zh-CN" smtClean="0"/>
              <a:t>VPN</a:t>
            </a:r>
            <a:r>
              <a:rPr lang="zh-CN" altLang="en-US" smtClean="0"/>
              <a:t>路由，也称为</a:t>
            </a:r>
            <a:r>
              <a:rPr lang="en-US" altLang="zh-CN" smtClean="0"/>
              <a:t>VRF-to-VRF</a:t>
            </a:r>
            <a:r>
              <a:rPr lang="zh-CN" altLang="en-US" smtClean="0"/>
              <a:t>；</a:t>
            </a:r>
          </a:p>
          <a:p>
            <a:pPr lvl="1"/>
            <a:r>
              <a:rPr lang="zh-CN" altLang="en-US" smtClean="0"/>
              <a:t>跨域</a:t>
            </a:r>
            <a:r>
              <a:rPr lang="en-US" altLang="zh-CN" smtClean="0"/>
              <a:t>VPN-OptionB</a:t>
            </a:r>
            <a:r>
              <a:rPr lang="zh-CN" altLang="en-US" smtClean="0"/>
              <a:t>（</a:t>
            </a:r>
            <a:r>
              <a:rPr lang="en-US" altLang="zh-CN" smtClean="0"/>
              <a:t>Inter-Provider Backbones Option B</a:t>
            </a:r>
            <a:r>
              <a:rPr lang="zh-CN" altLang="en-US" smtClean="0"/>
              <a:t>）方式：</a:t>
            </a:r>
            <a:r>
              <a:rPr lang="en-US" altLang="zh-CN" smtClean="0"/>
              <a:t>ASBR</a:t>
            </a:r>
            <a:r>
              <a:rPr lang="zh-CN" altLang="en-US" smtClean="0"/>
              <a:t>间通过</a:t>
            </a:r>
            <a:r>
              <a:rPr lang="en-US" altLang="zh-CN" smtClean="0"/>
              <a:t>MP-EBGP</a:t>
            </a:r>
            <a:r>
              <a:rPr lang="zh-CN" altLang="en-US" smtClean="0"/>
              <a:t>发布标签</a:t>
            </a:r>
            <a:r>
              <a:rPr lang="en-US" altLang="zh-CN" smtClean="0"/>
              <a:t>VPN-IPv4</a:t>
            </a:r>
            <a:r>
              <a:rPr lang="zh-CN" altLang="en-US" smtClean="0"/>
              <a:t>路由，也称为</a:t>
            </a:r>
            <a:r>
              <a:rPr lang="en-US" altLang="zh-CN" smtClean="0"/>
              <a:t>EBGP redistribution of labeled VPN-IPv4 routes</a:t>
            </a:r>
            <a:r>
              <a:rPr lang="zh-CN" altLang="en-US" smtClean="0"/>
              <a:t>；</a:t>
            </a:r>
          </a:p>
          <a:p>
            <a:pPr lvl="1"/>
            <a:r>
              <a:rPr lang="zh-CN" altLang="en-US" smtClean="0"/>
              <a:t>跨域</a:t>
            </a:r>
            <a:r>
              <a:rPr lang="en-US" altLang="zh-CN" smtClean="0"/>
              <a:t>VPN-OptionC</a:t>
            </a:r>
            <a:r>
              <a:rPr lang="zh-CN" altLang="en-US" smtClean="0"/>
              <a:t>（</a:t>
            </a:r>
            <a:r>
              <a:rPr lang="en-US" altLang="zh-CN" smtClean="0"/>
              <a:t>Inter-Provider Backbones Option C</a:t>
            </a:r>
            <a:r>
              <a:rPr lang="zh-CN" altLang="en-US" smtClean="0"/>
              <a:t>）方式：</a:t>
            </a:r>
            <a:r>
              <a:rPr lang="en-US" altLang="zh-CN" smtClean="0"/>
              <a:t>PE</a:t>
            </a:r>
            <a:r>
              <a:rPr lang="zh-CN" altLang="en-US" smtClean="0"/>
              <a:t>间通过</a:t>
            </a:r>
            <a:r>
              <a:rPr lang="en-US" altLang="zh-CN" smtClean="0"/>
              <a:t>Multi-hop MP-EBGP</a:t>
            </a:r>
            <a:r>
              <a:rPr lang="zh-CN" altLang="en-US" smtClean="0"/>
              <a:t>发布标签</a:t>
            </a:r>
            <a:r>
              <a:rPr lang="en-US" altLang="zh-CN" smtClean="0"/>
              <a:t>VPN-IPv4</a:t>
            </a:r>
            <a:r>
              <a:rPr lang="zh-CN" altLang="en-US" smtClean="0"/>
              <a:t>路由，也称为</a:t>
            </a:r>
            <a:r>
              <a:rPr lang="en-US" altLang="zh-CN" smtClean="0"/>
              <a:t>Multihop EBGP redistribution of labeled VPN-IPv4 routes</a:t>
            </a:r>
            <a:r>
              <a:rPr lang="zh-CN" altLang="en-US" smtClean="0"/>
              <a:t>。</a:t>
            </a:r>
            <a:endParaRPr lang="en-US" altLang="zh-CN" smtClean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840565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835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374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注：本课程仅讨论非跨域的</a:t>
            </a:r>
            <a:r>
              <a:rPr lang="en-US" altLang="zh-CN" dirty="0" smtClean="0"/>
              <a:t>MPLS VPN</a:t>
            </a:r>
            <a:r>
              <a:rPr lang="zh-CN" altLang="en-US" dirty="0" smtClean="0"/>
              <a:t>部署场景。本节仅做</a:t>
            </a:r>
            <a:r>
              <a:rPr lang="en-US" altLang="zh-CN" dirty="0" smtClean="0"/>
              <a:t>PE-CE</a:t>
            </a:r>
            <a:r>
              <a:rPr lang="zh-CN" altLang="en-US" dirty="0" smtClean="0"/>
              <a:t>之间采用不同方式对接的配置举例，</a:t>
            </a:r>
            <a:r>
              <a:rPr lang="en-US" altLang="zh-CN" dirty="0" smtClean="0"/>
              <a:t>PE</a:t>
            </a:r>
            <a:r>
              <a:rPr lang="zh-CN" altLang="en-US" dirty="0" smtClean="0"/>
              <a:t>之间的配置举例略。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568611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475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035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900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981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836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注：</a:t>
            </a:r>
            <a:r>
              <a:rPr lang="en-US" altLang="zh-CN" smtClean="0"/>
              <a:t>192.168.100.1</a:t>
            </a:r>
            <a:r>
              <a:rPr lang="zh-CN" altLang="en-US" smtClean="0"/>
              <a:t>和</a:t>
            </a:r>
            <a:r>
              <a:rPr lang="en-US" altLang="zh-CN" smtClean="0"/>
              <a:t>192.168.200.1</a:t>
            </a:r>
            <a:r>
              <a:rPr lang="zh-CN" altLang="en-US" smtClean="0"/>
              <a:t>分别是</a:t>
            </a:r>
            <a:r>
              <a:rPr lang="en-US" altLang="zh-CN" smtClean="0"/>
              <a:t>CE1</a:t>
            </a:r>
            <a:r>
              <a:rPr lang="zh-CN" altLang="en-US" smtClean="0"/>
              <a:t>和</a:t>
            </a:r>
            <a:r>
              <a:rPr lang="en-US" altLang="zh-CN" smtClean="0"/>
              <a:t>CE3</a:t>
            </a:r>
            <a:r>
              <a:rPr lang="zh-CN" altLang="en-US" smtClean="0"/>
              <a:t>上和</a:t>
            </a:r>
            <a:r>
              <a:rPr lang="en-US" altLang="zh-CN" smtClean="0"/>
              <a:t>PE1</a:t>
            </a:r>
            <a:r>
              <a:rPr lang="zh-CN" altLang="en-US" smtClean="0"/>
              <a:t>建立</a:t>
            </a:r>
            <a:r>
              <a:rPr lang="en-US" altLang="zh-CN" smtClean="0"/>
              <a:t>BGP</a:t>
            </a:r>
            <a:r>
              <a:rPr lang="zh-CN" altLang="en-US" smtClean="0"/>
              <a:t>对等体的接口地址。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605353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4164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8174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4724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06290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以路由从</a:t>
            </a:r>
            <a:r>
              <a:rPr lang="en-US" altLang="zh-CN" dirty="0" smtClean="0"/>
              <a:t>Spoke-CE1</a:t>
            </a:r>
            <a:r>
              <a:rPr lang="zh-CN" altLang="en-US" dirty="0" smtClean="0"/>
              <a:t>发布到</a:t>
            </a:r>
            <a:r>
              <a:rPr lang="en-US" altLang="zh-CN" dirty="0" smtClean="0"/>
              <a:t>Spoke-CE2</a:t>
            </a:r>
            <a:r>
              <a:rPr lang="zh-CN" altLang="en-US" dirty="0" smtClean="0"/>
              <a:t>为例，大体过程如下：</a:t>
            </a:r>
          </a:p>
          <a:p>
            <a:pPr lvl="1"/>
            <a:r>
              <a:rPr lang="en-US" altLang="zh-CN" dirty="0" smtClean="0"/>
              <a:t>Spoke-CE1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EBGP</a:t>
            </a:r>
            <a:r>
              <a:rPr lang="zh-CN" altLang="en-US" dirty="0" smtClean="0"/>
              <a:t>将路由发布给</a:t>
            </a:r>
            <a:r>
              <a:rPr lang="en-US" altLang="zh-CN" dirty="0" smtClean="0"/>
              <a:t>Spoke-PE1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Spoke-PE1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IBGP</a:t>
            </a:r>
            <a:r>
              <a:rPr lang="zh-CN" altLang="en-US" dirty="0" smtClean="0"/>
              <a:t>将该路由发布给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Hub-PE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VPN</a:t>
            </a:r>
            <a:r>
              <a:rPr lang="zh-CN" altLang="en-US" dirty="0" smtClean="0"/>
              <a:t>实例（</a:t>
            </a:r>
            <a:r>
              <a:rPr lang="en-US" altLang="zh-CN" dirty="0" err="1" smtClean="0"/>
              <a:t>VPN_in</a:t>
            </a:r>
            <a:r>
              <a:rPr lang="zh-CN" altLang="en-US" dirty="0" smtClean="0"/>
              <a:t>）的</a:t>
            </a:r>
            <a:r>
              <a:rPr lang="en-US" altLang="zh-CN" dirty="0" smtClean="0"/>
              <a:t>Import Target</a:t>
            </a:r>
            <a:r>
              <a:rPr lang="zh-CN" altLang="en-US" dirty="0" smtClean="0"/>
              <a:t>属性将该路由引入</a:t>
            </a:r>
            <a:r>
              <a:rPr lang="en-US" altLang="zh-CN" dirty="0" err="1" smtClean="0"/>
              <a:t>VPN_in</a:t>
            </a:r>
            <a:r>
              <a:rPr lang="zh-CN" altLang="en-US" dirty="0" smtClean="0"/>
              <a:t>路由表，并通过</a:t>
            </a:r>
            <a:r>
              <a:rPr lang="en-US" altLang="zh-CN" dirty="0" smtClean="0"/>
              <a:t>EBGP</a:t>
            </a:r>
            <a:r>
              <a:rPr lang="zh-CN" altLang="en-US" dirty="0" smtClean="0"/>
              <a:t>发布给</a:t>
            </a:r>
            <a:r>
              <a:rPr lang="en-US" altLang="zh-CN" dirty="0" smtClean="0"/>
              <a:t>Hub-CE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Hub-CE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EBGP</a:t>
            </a:r>
            <a:r>
              <a:rPr lang="zh-CN" altLang="en-US" dirty="0" smtClean="0"/>
              <a:t>连接学习到该路由，并通过另一个</a:t>
            </a:r>
            <a:r>
              <a:rPr lang="en-US" altLang="zh-CN" dirty="0" smtClean="0"/>
              <a:t>EBGP</a:t>
            </a:r>
            <a:r>
              <a:rPr lang="zh-CN" altLang="en-US" dirty="0" smtClean="0"/>
              <a:t>连接将该路由发布给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的</a:t>
            </a:r>
            <a:r>
              <a:rPr lang="en-US" altLang="zh-CN" dirty="0" smtClean="0"/>
              <a:t>VPN</a:t>
            </a:r>
            <a:r>
              <a:rPr lang="zh-CN" altLang="en-US" dirty="0" smtClean="0"/>
              <a:t>实例（</a:t>
            </a:r>
            <a:r>
              <a:rPr lang="en-US" altLang="zh-CN" dirty="0" err="1" smtClean="0"/>
              <a:t>VPN_out</a:t>
            </a:r>
            <a:r>
              <a:rPr lang="zh-CN" altLang="en-US" dirty="0" smtClean="0"/>
              <a:t>）。</a:t>
            </a:r>
          </a:p>
          <a:p>
            <a:pPr lvl="1"/>
            <a:r>
              <a:rPr lang="en-US" altLang="zh-CN" dirty="0" smtClean="0"/>
              <a:t>Hub-PE</a:t>
            </a:r>
            <a:r>
              <a:rPr lang="zh-CN" altLang="en-US" dirty="0" smtClean="0"/>
              <a:t>发布携带</a:t>
            </a:r>
            <a:r>
              <a:rPr lang="en-US" altLang="zh-CN" dirty="0" err="1" smtClean="0"/>
              <a:t>VPN_out</a:t>
            </a:r>
            <a:r>
              <a:rPr lang="zh-CN" altLang="en-US" dirty="0" smtClean="0"/>
              <a:t>的</a:t>
            </a:r>
            <a:r>
              <a:rPr lang="en-US" altLang="zh-CN" dirty="0" smtClean="0"/>
              <a:t>Export Target</a:t>
            </a:r>
            <a:r>
              <a:rPr lang="zh-CN" altLang="en-US" dirty="0" smtClean="0"/>
              <a:t>属性的路由给所有</a:t>
            </a:r>
            <a:r>
              <a:rPr lang="en-US" altLang="zh-CN" dirty="0" smtClean="0"/>
              <a:t>Spoke-PE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Spoke-PE2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EBGP</a:t>
            </a:r>
            <a:r>
              <a:rPr lang="zh-CN" altLang="en-US" dirty="0" smtClean="0"/>
              <a:t>将该路由发布给</a:t>
            </a:r>
            <a:r>
              <a:rPr lang="en-US" altLang="zh-CN" dirty="0" smtClean="0"/>
              <a:t>Spoke-CE2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9845933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2446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以路由从</a:t>
            </a:r>
            <a:r>
              <a:rPr lang="en-US" altLang="zh-CN" smtClean="0"/>
              <a:t>Spoke-CE1</a:t>
            </a:r>
            <a:r>
              <a:rPr lang="zh-CN" altLang="en-US" smtClean="0"/>
              <a:t>发布到</a:t>
            </a:r>
            <a:r>
              <a:rPr lang="en-US" altLang="zh-CN" smtClean="0"/>
              <a:t>Spoke-CE2</a:t>
            </a:r>
            <a:r>
              <a:rPr lang="zh-CN" altLang="en-US" smtClean="0"/>
              <a:t>为例，大体过程如下：</a:t>
            </a:r>
          </a:p>
          <a:p>
            <a:pPr lvl="1"/>
            <a:r>
              <a:rPr lang="en-US" altLang="zh-CN" smtClean="0"/>
              <a:t>Spoke-CE1</a:t>
            </a:r>
            <a:r>
              <a:rPr lang="zh-CN" altLang="en-US" smtClean="0"/>
              <a:t>通过</a:t>
            </a:r>
            <a:r>
              <a:rPr lang="en-US" altLang="zh-CN" smtClean="0"/>
              <a:t>OSPF100</a:t>
            </a:r>
            <a:r>
              <a:rPr lang="zh-CN" altLang="en-US" smtClean="0"/>
              <a:t>将路由发布给</a:t>
            </a:r>
            <a:r>
              <a:rPr lang="en-US" altLang="zh-CN" smtClean="0"/>
              <a:t>Spoke-PE1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Spoke-PE1</a:t>
            </a:r>
            <a:r>
              <a:rPr lang="zh-CN" altLang="en-US" smtClean="0"/>
              <a:t>通过</a:t>
            </a:r>
            <a:r>
              <a:rPr lang="en-US" altLang="zh-CN" smtClean="0"/>
              <a:t>IBGP</a:t>
            </a:r>
            <a:r>
              <a:rPr lang="zh-CN" altLang="en-US" smtClean="0"/>
              <a:t>将路由发布给</a:t>
            </a:r>
            <a:r>
              <a:rPr lang="en-US" altLang="zh-CN" smtClean="0"/>
              <a:t>Hub-PE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Hub-PE</a:t>
            </a:r>
            <a:r>
              <a:rPr lang="zh-CN" altLang="en-US" smtClean="0"/>
              <a:t>通过</a:t>
            </a:r>
            <a:r>
              <a:rPr lang="en-US" altLang="zh-CN" smtClean="0"/>
              <a:t>VPN</a:t>
            </a:r>
            <a:r>
              <a:rPr lang="zh-CN" altLang="en-US" smtClean="0"/>
              <a:t>实例（</a:t>
            </a:r>
            <a:r>
              <a:rPr lang="en-US" altLang="zh-CN" smtClean="0"/>
              <a:t>VPN_in</a:t>
            </a:r>
            <a:r>
              <a:rPr lang="zh-CN" altLang="en-US" smtClean="0"/>
              <a:t>）的</a:t>
            </a:r>
            <a:r>
              <a:rPr lang="en-US" altLang="zh-CN" smtClean="0"/>
              <a:t>Import Target</a:t>
            </a:r>
            <a:r>
              <a:rPr lang="zh-CN" altLang="en-US" smtClean="0"/>
              <a:t>属性将该路由引入</a:t>
            </a:r>
            <a:r>
              <a:rPr lang="en-US" altLang="zh-CN" smtClean="0"/>
              <a:t>VPN_in</a:t>
            </a:r>
            <a:r>
              <a:rPr lang="zh-CN" altLang="en-US" smtClean="0"/>
              <a:t>路由表；通过将</a:t>
            </a:r>
            <a:r>
              <a:rPr lang="en-US" altLang="zh-CN" smtClean="0"/>
              <a:t>BGP</a:t>
            </a:r>
            <a:r>
              <a:rPr lang="zh-CN" altLang="en-US" smtClean="0"/>
              <a:t>引入</a:t>
            </a:r>
            <a:r>
              <a:rPr lang="en-US" altLang="zh-CN" smtClean="0"/>
              <a:t>OSPF100</a:t>
            </a:r>
            <a:r>
              <a:rPr lang="zh-CN" altLang="en-US" smtClean="0"/>
              <a:t>的配置进而将从</a:t>
            </a:r>
            <a:r>
              <a:rPr lang="en-US" altLang="zh-CN" smtClean="0"/>
              <a:t>Spoke-PE1</a:t>
            </a:r>
            <a:r>
              <a:rPr lang="zh-CN" altLang="en-US" smtClean="0"/>
              <a:t>传递来的路由发布给</a:t>
            </a:r>
            <a:r>
              <a:rPr lang="en-US" altLang="zh-CN" smtClean="0"/>
              <a:t>Hub-CE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Hub-CE</a:t>
            </a:r>
            <a:r>
              <a:rPr lang="zh-CN" altLang="en-US" smtClean="0"/>
              <a:t>通过</a:t>
            </a:r>
            <a:r>
              <a:rPr lang="en-US" altLang="zh-CN" smtClean="0"/>
              <a:t>OSPF100</a:t>
            </a:r>
            <a:r>
              <a:rPr lang="zh-CN" altLang="en-US" smtClean="0"/>
              <a:t>接收该路由；并通过配置路由引入将路由发布到</a:t>
            </a:r>
            <a:r>
              <a:rPr lang="en-US" altLang="zh-CN" smtClean="0"/>
              <a:t>OSPF200</a:t>
            </a:r>
            <a:r>
              <a:rPr lang="zh-CN" altLang="en-US" smtClean="0"/>
              <a:t>，</a:t>
            </a:r>
            <a:r>
              <a:rPr lang="en-US" altLang="zh-CN" smtClean="0"/>
              <a:t>OSPF200</a:t>
            </a:r>
            <a:r>
              <a:rPr lang="zh-CN" altLang="en-US" smtClean="0"/>
              <a:t>再将路由发布给</a:t>
            </a:r>
            <a:r>
              <a:rPr lang="en-US" altLang="zh-CN" smtClean="0"/>
              <a:t>Hub-PE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Hub-PE</a:t>
            </a:r>
            <a:r>
              <a:rPr lang="zh-CN" altLang="en-US" smtClean="0"/>
              <a:t>的</a:t>
            </a:r>
            <a:r>
              <a:rPr lang="en-US" altLang="zh-CN" smtClean="0"/>
              <a:t>BGP-VPN</a:t>
            </a:r>
            <a:r>
              <a:rPr lang="zh-CN" altLang="en-US" smtClean="0"/>
              <a:t>实例（</a:t>
            </a:r>
            <a:r>
              <a:rPr lang="en-US" altLang="zh-CN" smtClean="0"/>
              <a:t>VPN_out</a:t>
            </a:r>
            <a:r>
              <a:rPr lang="zh-CN" altLang="en-US" smtClean="0"/>
              <a:t>）引入</a:t>
            </a:r>
            <a:r>
              <a:rPr lang="en-US" altLang="zh-CN" smtClean="0"/>
              <a:t>OSPF200</a:t>
            </a:r>
            <a:r>
              <a:rPr lang="zh-CN" altLang="en-US" smtClean="0"/>
              <a:t>多实例的路由，将携带</a:t>
            </a:r>
            <a:r>
              <a:rPr lang="en-US" altLang="zh-CN" smtClean="0"/>
              <a:t>Export Target</a:t>
            </a:r>
            <a:r>
              <a:rPr lang="zh-CN" altLang="en-US" smtClean="0"/>
              <a:t>属性的路由发布给所有</a:t>
            </a:r>
            <a:r>
              <a:rPr lang="en-US" altLang="zh-CN" smtClean="0"/>
              <a:t>Spoke-PE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Spoke-PE2</a:t>
            </a:r>
            <a:r>
              <a:rPr lang="zh-CN" altLang="en-US" smtClean="0"/>
              <a:t>通过</a:t>
            </a:r>
            <a:r>
              <a:rPr lang="en-US" altLang="zh-CN" smtClean="0"/>
              <a:t>OSPF100</a:t>
            </a:r>
            <a:r>
              <a:rPr lang="zh-CN" altLang="en-US" smtClean="0"/>
              <a:t>将该路由发布给</a:t>
            </a:r>
            <a:r>
              <a:rPr lang="en-US" altLang="zh-CN" smtClean="0"/>
              <a:t>Spoke-CE2</a:t>
            </a:r>
            <a:r>
              <a:rPr lang="zh-CN" altLang="en-US" smtClean="0"/>
              <a:t>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8517072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353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以路由从</a:t>
            </a:r>
            <a:r>
              <a:rPr lang="en-US" altLang="zh-CN" smtClean="0"/>
              <a:t>Spoke-CE1</a:t>
            </a:r>
            <a:r>
              <a:rPr lang="zh-CN" altLang="en-US" smtClean="0"/>
              <a:t>发布到</a:t>
            </a:r>
            <a:r>
              <a:rPr lang="en-US" altLang="zh-CN" smtClean="0"/>
              <a:t>Spoke-CE2</a:t>
            </a:r>
            <a:r>
              <a:rPr lang="zh-CN" altLang="en-US" smtClean="0"/>
              <a:t>为例，大体过程如下：</a:t>
            </a:r>
          </a:p>
          <a:p>
            <a:pPr lvl="1"/>
            <a:r>
              <a:rPr lang="en-US" altLang="zh-CN" smtClean="0"/>
              <a:t>Spoke-CE1</a:t>
            </a:r>
            <a:r>
              <a:rPr lang="zh-CN" altLang="en-US" smtClean="0"/>
              <a:t>通过</a:t>
            </a:r>
            <a:r>
              <a:rPr lang="en-US" altLang="zh-CN" smtClean="0"/>
              <a:t>OSPF100</a:t>
            </a:r>
            <a:r>
              <a:rPr lang="zh-CN" altLang="en-US" smtClean="0"/>
              <a:t>将路由发布给</a:t>
            </a:r>
            <a:r>
              <a:rPr lang="en-US" altLang="zh-CN" smtClean="0"/>
              <a:t>Spoke-PE1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Spoke-PE1</a:t>
            </a:r>
            <a:r>
              <a:rPr lang="zh-CN" altLang="en-US" smtClean="0"/>
              <a:t>通过</a:t>
            </a:r>
            <a:r>
              <a:rPr lang="en-US" altLang="zh-CN" smtClean="0"/>
              <a:t>IBGP</a:t>
            </a:r>
            <a:r>
              <a:rPr lang="zh-CN" altLang="en-US" smtClean="0"/>
              <a:t>将路由发布给</a:t>
            </a:r>
            <a:r>
              <a:rPr lang="en-US" altLang="zh-CN" smtClean="0"/>
              <a:t>Hub-PE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1"/>
            <a:r>
              <a:rPr lang="en-US" altLang="zh-CN" smtClean="0"/>
              <a:t>Hub-PE</a:t>
            </a:r>
            <a:r>
              <a:rPr lang="zh-CN" altLang="en-US" smtClean="0"/>
              <a:t>通过</a:t>
            </a:r>
            <a:r>
              <a:rPr lang="en-US" altLang="zh-CN" smtClean="0"/>
              <a:t>VPN</a:t>
            </a:r>
            <a:r>
              <a:rPr lang="zh-CN" altLang="en-US" smtClean="0"/>
              <a:t>实例（</a:t>
            </a:r>
            <a:r>
              <a:rPr lang="en-US" altLang="zh-CN" smtClean="0"/>
              <a:t>VPN_in</a:t>
            </a:r>
            <a:r>
              <a:rPr lang="zh-CN" altLang="en-US" smtClean="0"/>
              <a:t>）的</a:t>
            </a:r>
            <a:r>
              <a:rPr lang="en-US" altLang="zh-CN" smtClean="0"/>
              <a:t>Import Target</a:t>
            </a:r>
            <a:r>
              <a:rPr lang="zh-CN" altLang="en-US" smtClean="0"/>
              <a:t>属性将该路由引入</a:t>
            </a:r>
            <a:r>
              <a:rPr lang="en-US" altLang="zh-CN" smtClean="0"/>
              <a:t>VPN_in</a:t>
            </a:r>
            <a:r>
              <a:rPr lang="zh-CN" altLang="en-US" smtClean="0"/>
              <a:t>路由表，并通过</a:t>
            </a:r>
            <a:r>
              <a:rPr lang="en-US" altLang="zh-CN" smtClean="0"/>
              <a:t>EBGP</a:t>
            </a:r>
            <a:r>
              <a:rPr lang="zh-CN" altLang="en-US" smtClean="0"/>
              <a:t>发布给</a:t>
            </a:r>
            <a:r>
              <a:rPr lang="en-US" altLang="zh-CN" smtClean="0"/>
              <a:t>Hub-CE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Hub-CE</a:t>
            </a:r>
            <a:r>
              <a:rPr lang="zh-CN" altLang="en-US" smtClean="0"/>
              <a:t>通过</a:t>
            </a:r>
            <a:r>
              <a:rPr lang="en-US" altLang="zh-CN" smtClean="0"/>
              <a:t>EBGP</a:t>
            </a:r>
            <a:r>
              <a:rPr lang="zh-CN" altLang="en-US" smtClean="0"/>
              <a:t>连接学习到该路由，并通过另一个</a:t>
            </a:r>
            <a:r>
              <a:rPr lang="en-US" altLang="zh-CN" smtClean="0"/>
              <a:t>EBGP</a:t>
            </a:r>
            <a:r>
              <a:rPr lang="zh-CN" altLang="en-US" smtClean="0"/>
              <a:t>连接将该路由发布给</a:t>
            </a:r>
            <a:r>
              <a:rPr lang="en-US" altLang="zh-CN" smtClean="0"/>
              <a:t>Hub-PE</a:t>
            </a:r>
            <a:r>
              <a:rPr lang="zh-CN" altLang="en-US" smtClean="0"/>
              <a:t>的</a:t>
            </a:r>
            <a:r>
              <a:rPr lang="en-US" altLang="zh-CN" smtClean="0"/>
              <a:t>VPN</a:t>
            </a:r>
            <a:r>
              <a:rPr lang="zh-CN" altLang="en-US" smtClean="0"/>
              <a:t>实例（</a:t>
            </a:r>
            <a:r>
              <a:rPr lang="en-US" altLang="zh-CN" smtClean="0"/>
              <a:t>VPN_out</a:t>
            </a:r>
            <a:r>
              <a:rPr lang="zh-CN" altLang="en-US" smtClean="0"/>
              <a:t>）。</a:t>
            </a:r>
          </a:p>
          <a:p>
            <a:pPr lvl="1"/>
            <a:r>
              <a:rPr lang="en-US" altLang="zh-CN" smtClean="0"/>
              <a:t>Hub-PE</a:t>
            </a:r>
            <a:r>
              <a:rPr lang="zh-CN" altLang="en-US" smtClean="0"/>
              <a:t>发布携带</a:t>
            </a:r>
            <a:r>
              <a:rPr lang="en-US" altLang="zh-CN" smtClean="0"/>
              <a:t>VPN_out</a:t>
            </a:r>
            <a:r>
              <a:rPr lang="zh-CN" altLang="en-US" smtClean="0"/>
              <a:t>的</a:t>
            </a:r>
            <a:r>
              <a:rPr lang="en-US" altLang="zh-CN" smtClean="0"/>
              <a:t>Export Target</a:t>
            </a:r>
            <a:r>
              <a:rPr lang="zh-CN" altLang="en-US" smtClean="0"/>
              <a:t>属性的路由给</a:t>
            </a:r>
            <a:r>
              <a:rPr lang="en-US" altLang="zh-CN" smtClean="0"/>
              <a:t>Spoke-PE2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1"/>
            <a:r>
              <a:rPr lang="en-US" altLang="zh-CN" smtClean="0"/>
              <a:t>Spoke-PE2</a:t>
            </a:r>
            <a:r>
              <a:rPr lang="zh-CN" altLang="en-US" smtClean="0"/>
              <a:t>通过</a:t>
            </a:r>
            <a:r>
              <a:rPr lang="en-US" altLang="zh-CN" smtClean="0"/>
              <a:t>OSPF100</a:t>
            </a:r>
            <a:r>
              <a:rPr lang="zh-CN" altLang="en-US" smtClean="0"/>
              <a:t>将该路由发布给</a:t>
            </a:r>
            <a:r>
              <a:rPr lang="en-US" altLang="zh-CN" smtClean="0"/>
              <a:t>Spoke-CE2</a:t>
            </a:r>
            <a:r>
              <a:rPr lang="zh-CN" altLang="en-US" smtClean="0"/>
              <a:t>。</a:t>
            </a:r>
          </a:p>
          <a:p>
            <a:pPr lvl="1"/>
            <a:endParaRPr lang="zh-CN" altLang="en-US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1625066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以从</a:t>
            </a:r>
            <a:r>
              <a:rPr lang="en-US" altLang="zh-CN" smtClean="0"/>
              <a:t>Spoke-CE1</a:t>
            </a:r>
            <a:r>
              <a:rPr lang="zh-CN" altLang="en-US" smtClean="0"/>
              <a:t>向</a:t>
            </a:r>
            <a:r>
              <a:rPr lang="en-US" altLang="zh-CN" smtClean="0"/>
              <a:t>Spoke-CE2</a:t>
            </a:r>
            <a:r>
              <a:rPr lang="zh-CN" altLang="en-US" smtClean="0"/>
              <a:t>发布路由（目的地址为</a:t>
            </a:r>
            <a:r>
              <a:rPr lang="en-US" altLang="zh-CN" smtClean="0"/>
              <a:t>192.168.1.0/24</a:t>
            </a:r>
            <a:r>
              <a:rPr lang="zh-CN" altLang="en-US" smtClean="0"/>
              <a:t>）为例，大体过程如下：</a:t>
            </a:r>
          </a:p>
          <a:p>
            <a:pPr lvl="1"/>
            <a:r>
              <a:rPr lang="en-US" altLang="zh-CN" smtClean="0"/>
              <a:t>Spoke-CE1</a:t>
            </a:r>
            <a:r>
              <a:rPr lang="zh-CN" altLang="en-US" smtClean="0"/>
              <a:t>通过</a:t>
            </a:r>
            <a:r>
              <a:rPr lang="en-US" altLang="zh-CN" smtClean="0"/>
              <a:t>EBGP</a:t>
            </a:r>
            <a:r>
              <a:rPr lang="zh-CN" altLang="en-US" smtClean="0"/>
              <a:t>将路由发布给</a:t>
            </a:r>
            <a:r>
              <a:rPr lang="en-US" altLang="zh-CN" smtClean="0"/>
              <a:t>Spoke-PE1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Spoke-PE1</a:t>
            </a:r>
            <a:r>
              <a:rPr lang="zh-CN" altLang="en-US" smtClean="0"/>
              <a:t>通过</a:t>
            </a:r>
            <a:r>
              <a:rPr lang="en-US" altLang="zh-CN" smtClean="0"/>
              <a:t>IBGP</a:t>
            </a:r>
            <a:r>
              <a:rPr lang="zh-CN" altLang="en-US" smtClean="0"/>
              <a:t>将路由发布给</a:t>
            </a:r>
            <a:r>
              <a:rPr lang="en-US" altLang="zh-CN" smtClean="0"/>
              <a:t>Hub-PE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Hub-PE</a:t>
            </a:r>
            <a:r>
              <a:rPr lang="zh-CN" altLang="en-US" smtClean="0"/>
              <a:t>通过</a:t>
            </a:r>
            <a:r>
              <a:rPr lang="en-US" altLang="zh-CN" smtClean="0"/>
              <a:t>BGP-VPN</a:t>
            </a:r>
            <a:r>
              <a:rPr lang="zh-CN" altLang="en-US" smtClean="0"/>
              <a:t>实例（</a:t>
            </a:r>
            <a:r>
              <a:rPr lang="en-US" altLang="zh-CN" smtClean="0"/>
              <a:t>VPN_in</a:t>
            </a:r>
            <a:r>
              <a:rPr lang="zh-CN" altLang="en-US" smtClean="0"/>
              <a:t>）的</a:t>
            </a:r>
            <a:r>
              <a:rPr lang="en-US" altLang="zh-CN" smtClean="0"/>
              <a:t>Import Target</a:t>
            </a:r>
            <a:r>
              <a:rPr lang="zh-CN" altLang="en-US" smtClean="0"/>
              <a:t>属性将该路由引入</a:t>
            </a:r>
            <a:r>
              <a:rPr lang="en-US" altLang="zh-CN" smtClean="0"/>
              <a:t>VPN_in</a:t>
            </a:r>
            <a:r>
              <a:rPr lang="zh-CN" altLang="en-US" smtClean="0"/>
              <a:t>路由表；并通过</a:t>
            </a:r>
            <a:r>
              <a:rPr lang="en-US" altLang="zh-CN" smtClean="0"/>
              <a:t>OSPF100</a:t>
            </a:r>
            <a:r>
              <a:rPr lang="zh-CN" altLang="en-US" smtClean="0"/>
              <a:t>多实例发布给</a:t>
            </a:r>
            <a:r>
              <a:rPr lang="en-US" altLang="zh-CN" smtClean="0"/>
              <a:t>Hub-CE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Hub-CE</a:t>
            </a:r>
            <a:r>
              <a:rPr lang="zh-CN" altLang="en-US" smtClean="0"/>
              <a:t>通过</a:t>
            </a:r>
            <a:r>
              <a:rPr lang="en-US" altLang="zh-CN" smtClean="0"/>
              <a:t>OSPF100</a:t>
            </a:r>
            <a:r>
              <a:rPr lang="zh-CN" altLang="en-US" smtClean="0"/>
              <a:t>学习到该路由；并通过</a:t>
            </a:r>
            <a:r>
              <a:rPr lang="en-US" altLang="zh-CN" smtClean="0"/>
              <a:t>OSPF200</a:t>
            </a:r>
            <a:r>
              <a:rPr lang="zh-CN" altLang="en-US" smtClean="0"/>
              <a:t>将路由发布给</a:t>
            </a:r>
            <a:r>
              <a:rPr lang="en-US" altLang="zh-CN" smtClean="0"/>
              <a:t>Hub-PE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Hub-PE</a:t>
            </a:r>
            <a:r>
              <a:rPr lang="zh-CN" altLang="en-US" smtClean="0"/>
              <a:t>的</a:t>
            </a:r>
            <a:r>
              <a:rPr lang="en-US" altLang="zh-CN" smtClean="0"/>
              <a:t>BGP-VPN</a:t>
            </a:r>
            <a:r>
              <a:rPr lang="zh-CN" altLang="en-US" smtClean="0"/>
              <a:t>实例（</a:t>
            </a:r>
            <a:r>
              <a:rPr lang="en-US" altLang="zh-CN" smtClean="0"/>
              <a:t>VPN_out</a:t>
            </a:r>
            <a:r>
              <a:rPr lang="zh-CN" altLang="en-US" smtClean="0"/>
              <a:t>）引入</a:t>
            </a:r>
            <a:r>
              <a:rPr lang="en-US" altLang="zh-CN" smtClean="0"/>
              <a:t>OSPF200</a:t>
            </a:r>
            <a:r>
              <a:rPr lang="zh-CN" altLang="en-US" smtClean="0"/>
              <a:t>多实例路由，并将携带</a:t>
            </a:r>
            <a:r>
              <a:rPr lang="en-US" altLang="zh-CN" smtClean="0"/>
              <a:t>VPN_out</a:t>
            </a:r>
            <a:r>
              <a:rPr lang="zh-CN" altLang="en-US" smtClean="0"/>
              <a:t>的</a:t>
            </a:r>
            <a:r>
              <a:rPr lang="en-US" altLang="zh-CN" smtClean="0"/>
              <a:t>Export Target</a:t>
            </a:r>
            <a:r>
              <a:rPr lang="zh-CN" altLang="en-US" smtClean="0"/>
              <a:t>属性的路由发布给所有</a:t>
            </a:r>
            <a:r>
              <a:rPr lang="en-US" altLang="zh-CN" smtClean="0"/>
              <a:t>Spoke-PE</a:t>
            </a:r>
            <a:r>
              <a:rPr lang="zh-CN" altLang="en-US" smtClean="0"/>
              <a:t>。</a:t>
            </a:r>
          </a:p>
          <a:p>
            <a:pPr lvl="1"/>
            <a:r>
              <a:rPr lang="en-US" altLang="zh-CN" smtClean="0"/>
              <a:t>Spoke-PE2</a:t>
            </a:r>
            <a:r>
              <a:rPr lang="zh-CN" altLang="en-US" smtClean="0"/>
              <a:t>的</a:t>
            </a:r>
            <a:r>
              <a:rPr lang="en-US" altLang="zh-CN" smtClean="0"/>
              <a:t>VPN</a:t>
            </a:r>
            <a:r>
              <a:rPr lang="zh-CN" altLang="en-US" smtClean="0"/>
              <a:t>实例根据</a:t>
            </a:r>
            <a:r>
              <a:rPr lang="en-US" altLang="zh-CN" smtClean="0"/>
              <a:t>Import Target</a:t>
            </a:r>
            <a:r>
              <a:rPr lang="zh-CN" altLang="en-US" smtClean="0"/>
              <a:t>属性引入该路由；</a:t>
            </a:r>
            <a:r>
              <a:rPr lang="en-US" altLang="zh-CN" smtClean="0"/>
              <a:t>Spoke-PE2</a:t>
            </a:r>
            <a:r>
              <a:rPr lang="zh-CN" altLang="en-US" smtClean="0"/>
              <a:t>通过</a:t>
            </a:r>
            <a:r>
              <a:rPr lang="en-US" altLang="zh-CN" smtClean="0"/>
              <a:t>EBGP</a:t>
            </a:r>
            <a:r>
              <a:rPr lang="zh-CN" altLang="en-US" smtClean="0"/>
              <a:t>发布给本地</a:t>
            </a:r>
            <a:r>
              <a:rPr lang="en-US" altLang="zh-CN" smtClean="0"/>
              <a:t>Spoke-CE2</a:t>
            </a:r>
            <a:r>
              <a:rPr lang="zh-CN" altLang="en-US" smtClean="0"/>
              <a:t>。</a:t>
            </a:r>
            <a:endParaRPr lang="zh-CN" altLang="en-US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1859388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728663"/>
            <a:ext cx="5580062" cy="4784070"/>
          </a:xfrm>
        </p:spPr>
        <p:txBody>
          <a:bodyPr/>
          <a:lstStyle/>
          <a:p>
            <a:r>
              <a:rPr lang="en-US" altLang="zh-CN" dirty="0" smtClean="0"/>
              <a:t>Hub-PE</a:t>
            </a:r>
            <a:r>
              <a:rPr lang="zh-CN" altLang="en-US" dirty="0" smtClean="0"/>
              <a:t>的</a:t>
            </a:r>
            <a:r>
              <a:rPr lang="en-US" altLang="zh-CN" dirty="0" smtClean="0"/>
              <a:t>BGP-VPN</a:t>
            </a:r>
            <a:r>
              <a:rPr lang="zh-CN" altLang="en-US" dirty="0" smtClean="0"/>
              <a:t>实例（</a:t>
            </a:r>
            <a:r>
              <a:rPr lang="en-US" altLang="zh-CN" dirty="0" err="1" smtClean="0"/>
              <a:t>VPN_out</a:t>
            </a:r>
            <a:r>
              <a:rPr lang="zh-CN" altLang="en-US" dirty="0" smtClean="0"/>
              <a:t>）通过</a:t>
            </a:r>
            <a:r>
              <a:rPr lang="en-US" altLang="zh-CN" dirty="0" smtClean="0"/>
              <a:t>Export Target</a:t>
            </a:r>
            <a:r>
              <a:rPr lang="zh-CN" altLang="en-US" dirty="0" smtClean="0"/>
              <a:t>属性将路由发布给</a:t>
            </a:r>
            <a:r>
              <a:rPr lang="en-US" altLang="zh-CN" dirty="0" smtClean="0"/>
              <a:t>Spoke-PE2</a:t>
            </a:r>
            <a:r>
              <a:rPr lang="zh-CN" altLang="en-US" dirty="0" smtClean="0"/>
              <a:t>的同时，也会将该路由发布给</a:t>
            </a:r>
            <a:r>
              <a:rPr lang="en-US" altLang="zh-CN" dirty="0" smtClean="0"/>
              <a:t>Spoke-PE1</a:t>
            </a:r>
            <a:r>
              <a:rPr lang="zh-CN" altLang="en-US" dirty="0" smtClean="0"/>
              <a:t>。此时，这条路由是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IGP</a:t>
            </a:r>
            <a:r>
              <a:rPr lang="zh-CN" altLang="en-US" dirty="0" smtClean="0"/>
              <a:t>（</a:t>
            </a:r>
            <a:r>
              <a:rPr lang="en-US" altLang="zh-CN" dirty="0" smtClean="0"/>
              <a:t>OSPF200</a:t>
            </a:r>
            <a:r>
              <a:rPr lang="zh-CN" altLang="en-US" dirty="0" smtClean="0"/>
              <a:t>多实例）引入的，由于</a:t>
            </a:r>
            <a:r>
              <a:rPr lang="en-US" altLang="zh-CN" dirty="0" smtClean="0"/>
              <a:t>IGP</a:t>
            </a:r>
            <a:r>
              <a:rPr lang="zh-CN" altLang="en-US" dirty="0" smtClean="0"/>
              <a:t>路由不携带</a:t>
            </a:r>
            <a:r>
              <a:rPr lang="en-US" altLang="zh-CN" dirty="0" smtClean="0"/>
              <a:t>AS-PATH</a:t>
            </a:r>
            <a:r>
              <a:rPr lang="zh-CN" altLang="en-US" dirty="0" smtClean="0"/>
              <a:t>属性，</a:t>
            </a:r>
            <a:r>
              <a:rPr lang="en-US" altLang="zh-CN" dirty="0" err="1" smtClean="0"/>
              <a:t>AS_Path</a:t>
            </a:r>
            <a:r>
              <a:rPr lang="zh-CN" altLang="en-US" dirty="0" smtClean="0"/>
              <a:t>为空；而原来从</a:t>
            </a:r>
            <a:r>
              <a:rPr lang="en-US" altLang="zh-CN" dirty="0" smtClean="0"/>
              <a:t>Spoke-CE1</a:t>
            </a:r>
            <a:r>
              <a:rPr lang="zh-CN" altLang="en-US" dirty="0" smtClean="0"/>
              <a:t>来的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路由，其</a:t>
            </a:r>
            <a:r>
              <a:rPr lang="en-US" altLang="zh-CN" dirty="0" err="1" smtClean="0"/>
              <a:t>AS_Path</a:t>
            </a:r>
            <a:r>
              <a:rPr lang="zh-CN" altLang="en-US" dirty="0" smtClean="0"/>
              <a:t>不为空，所以从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返回的路由会优于从</a:t>
            </a:r>
            <a:r>
              <a:rPr lang="en-US" altLang="zh-CN" dirty="0" smtClean="0"/>
              <a:t>Spoke-CE1</a:t>
            </a:r>
            <a:r>
              <a:rPr lang="zh-CN" altLang="en-US" dirty="0" smtClean="0"/>
              <a:t>来的路由。这样会引起路由振荡，其过程如下：</a:t>
            </a:r>
          </a:p>
          <a:p>
            <a:pPr lvl="1"/>
            <a:r>
              <a:rPr lang="en-US" altLang="zh-CN" dirty="0" smtClean="0"/>
              <a:t>Spoke-CE1</a:t>
            </a:r>
            <a:r>
              <a:rPr lang="zh-CN" altLang="en-US" dirty="0" smtClean="0"/>
              <a:t>发来的路由因为</a:t>
            </a:r>
            <a:r>
              <a:rPr lang="en-US" altLang="zh-CN" dirty="0" err="1" smtClean="0"/>
              <a:t>AS_Path</a:t>
            </a:r>
            <a:r>
              <a:rPr lang="zh-CN" altLang="en-US" dirty="0" smtClean="0"/>
              <a:t>变成非最佳路由。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Spoke-PE1</a:t>
            </a:r>
            <a:r>
              <a:rPr lang="zh-CN" altLang="en-US" dirty="0" smtClean="0"/>
              <a:t>发布</a:t>
            </a:r>
            <a:r>
              <a:rPr lang="en-US" altLang="zh-CN" dirty="0" smtClean="0"/>
              <a:t>Update</a:t>
            </a:r>
            <a:r>
              <a:rPr lang="zh-CN" altLang="en-US" dirty="0" smtClean="0"/>
              <a:t>撤销路由的报文给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来撤销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路由。</a:t>
            </a:r>
          </a:p>
          <a:p>
            <a:pPr lvl="1"/>
            <a:r>
              <a:rPr lang="en-US" altLang="zh-CN" dirty="0" smtClean="0"/>
              <a:t>Hub-PE</a:t>
            </a:r>
            <a:r>
              <a:rPr lang="zh-CN" altLang="en-US" dirty="0" smtClean="0"/>
              <a:t>（通过撤销相应的</a:t>
            </a:r>
            <a:r>
              <a:rPr lang="en-US" altLang="zh-CN" dirty="0" smtClean="0"/>
              <a:t>OSPF LSA</a:t>
            </a:r>
            <a:r>
              <a:rPr lang="zh-CN" altLang="en-US" dirty="0" smtClean="0"/>
              <a:t>）撤销发给</a:t>
            </a:r>
            <a:r>
              <a:rPr lang="en-US" altLang="zh-CN" dirty="0" smtClean="0"/>
              <a:t>Hub-CE</a:t>
            </a:r>
            <a:r>
              <a:rPr lang="zh-CN" altLang="en-US" dirty="0" smtClean="0"/>
              <a:t>的路由。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Hub-CE</a:t>
            </a:r>
            <a:r>
              <a:rPr lang="zh-CN" altLang="en-US" dirty="0" smtClean="0"/>
              <a:t>（原理同上）撤销发给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的路由。</a:t>
            </a:r>
          </a:p>
          <a:p>
            <a:pPr lvl="1"/>
            <a:r>
              <a:rPr lang="en-US" altLang="zh-CN" dirty="0" smtClean="0"/>
              <a:t>Hub-PE</a:t>
            </a:r>
            <a:r>
              <a:rPr lang="zh-CN" altLang="en-US" dirty="0" smtClean="0"/>
              <a:t>发布</a:t>
            </a:r>
            <a:r>
              <a:rPr lang="en-US" altLang="zh-CN" dirty="0" smtClean="0"/>
              <a:t>Update</a:t>
            </a:r>
            <a:r>
              <a:rPr lang="zh-CN" altLang="en-US" dirty="0" smtClean="0"/>
              <a:t>撤销路由撤销发给</a:t>
            </a:r>
            <a:r>
              <a:rPr lang="en-US" altLang="zh-CN" dirty="0" smtClean="0"/>
              <a:t>Spoke-PE1</a:t>
            </a:r>
            <a:r>
              <a:rPr lang="zh-CN" altLang="en-US" dirty="0" smtClean="0"/>
              <a:t>的路由。</a:t>
            </a:r>
          </a:p>
          <a:p>
            <a:r>
              <a:rPr lang="zh-CN" altLang="en-US" dirty="0" smtClean="0"/>
              <a:t>于是在</a:t>
            </a:r>
            <a:r>
              <a:rPr lang="en-US" altLang="zh-CN" dirty="0" smtClean="0"/>
              <a:t>Spoke-PE1</a:t>
            </a:r>
            <a:r>
              <a:rPr lang="zh-CN" altLang="en-US" dirty="0" smtClean="0"/>
              <a:t>上从</a:t>
            </a:r>
            <a:r>
              <a:rPr lang="en-US" altLang="zh-CN" dirty="0" smtClean="0"/>
              <a:t>Spoke-CE1</a:t>
            </a:r>
            <a:r>
              <a:rPr lang="zh-CN" altLang="en-US" dirty="0" smtClean="0"/>
              <a:t>来的路由又变成最佳路由。</a:t>
            </a:r>
            <a:r>
              <a:rPr lang="en-US" altLang="zh-CN" dirty="0" smtClean="0"/>
              <a:t>Spoke-PE1</a:t>
            </a:r>
            <a:r>
              <a:rPr lang="zh-CN" altLang="en-US" dirty="0" smtClean="0"/>
              <a:t>又通过</a:t>
            </a:r>
            <a:r>
              <a:rPr lang="en-US" altLang="zh-CN" dirty="0" smtClean="0"/>
              <a:t>IBGP</a:t>
            </a:r>
            <a:r>
              <a:rPr lang="zh-CN" altLang="en-US" dirty="0" smtClean="0"/>
              <a:t>将路由发布给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。</a:t>
            </a:r>
            <a:r>
              <a:rPr lang="en-US" altLang="zh-CN" dirty="0" smtClean="0"/>
              <a:t>Hub-PE</a:t>
            </a:r>
            <a:r>
              <a:rPr lang="zh-CN" altLang="en-US" dirty="0" smtClean="0"/>
              <a:t>又会返回该路由，从</a:t>
            </a:r>
            <a:r>
              <a:rPr lang="en-US" altLang="zh-CN" dirty="0" smtClean="0"/>
              <a:t>Spoke-CE1</a:t>
            </a:r>
            <a:r>
              <a:rPr lang="zh-CN" altLang="en-US" dirty="0" smtClean="0"/>
              <a:t>来的路由又变成非最佳路由。如此反复。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59681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841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3111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891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3615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430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1656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在实际应用中，如果两个要互通的</a:t>
            </a:r>
            <a:r>
              <a:rPr lang="en-US" altLang="zh-CN" smtClean="0"/>
              <a:t>Site</a:t>
            </a:r>
            <a:r>
              <a:rPr lang="zh-CN" altLang="en-US" smtClean="0"/>
              <a:t>都在相同的</a:t>
            </a:r>
            <a:r>
              <a:rPr lang="en-US" altLang="zh-CN" smtClean="0"/>
              <a:t>AS</a:t>
            </a:r>
            <a:r>
              <a:rPr lang="zh-CN" altLang="en-US" smtClean="0"/>
              <a:t>内，那么每个</a:t>
            </a:r>
            <a:r>
              <a:rPr lang="en-US" altLang="zh-CN" smtClean="0"/>
              <a:t>Site</a:t>
            </a:r>
            <a:r>
              <a:rPr lang="zh-CN" altLang="en-US" smtClean="0"/>
              <a:t>都应该将另一个</a:t>
            </a:r>
            <a:r>
              <a:rPr lang="en-US" altLang="zh-CN" smtClean="0"/>
              <a:t>Site</a:t>
            </a:r>
            <a:r>
              <a:rPr lang="zh-CN" altLang="en-US" smtClean="0"/>
              <a:t>的路由看成区域间路由，而不是</a:t>
            </a:r>
            <a:r>
              <a:rPr lang="en-US" altLang="zh-CN" smtClean="0"/>
              <a:t>AS</a:t>
            </a:r>
            <a:r>
              <a:rPr lang="zh-CN" altLang="en-US" smtClean="0"/>
              <a:t>外部路由。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0435676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8815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Domain ID</a:t>
            </a:r>
            <a:r>
              <a:rPr lang="zh-CN" altLang="en-US" dirty="0" smtClean="0"/>
              <a:t>需要在绑定到</a:t>
            </a:r>
            <a:r>
              <a:rPr lang="en-US" altLang="zh-CN" dirty="0" smtClean="0"/>
              <a:t>VRF</a:t>
            </a:r>
            <a:r>
              <a:rPr lang="zh-CN" altLang="en-US" dirty="0" smtClean="0"/>
              <a:t>的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进程视图下使用命令</a:t>
            </a:r>
            <a:r>
              <a:rPr lang="en-US" altLang="zh-CN" dirty="0" smtClean="0"/>
              <a:t>domain-id</a:t>
            </a:r>
            <a:r>
              <a:rPr lang="zh-CN" altLang="en-US" dirty="0" smtClean="0"/>
              <a:t>配置。</a:t>
            </a:r>
          </a:p>
          <a:p>
            <a:pPr lvl="1"/>
            <a:r>
              <a:rPr lang="zh-CN" altLang="en-US" dirty="0" smtClean="0"/>
              <a:t>缺省情况下，</a:t>
            </a:r>
            <a:r>
              <a:rPr lang="en-US" altLang="zh-CN" dirty="0" smtClean="0"/>
              <a:t>Domain ID</a:t>
            </a:r>
            <a:r>
              <a:rPr lang="zh-CN" altLang="en-US" dirty="0" smtClean="0"/>
              <a:t>的值为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）。如果不同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域都使用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作为</a:t>
            </a:r>
            <a:r>
              <a:rPr lang="en-US" altLang="zh-CN" dirty="0" smtClean="0"/>
              <a:t>Domain ID</a:t>
            </a:r>
            <a:r>
              <a:rPr lang="zh-CN" altLang="en-US" dirty="0" smtClean="0"/>
              <a:t>，将无法区分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域，因此它们之间的路由将被当作区域内路由。</a:t>
            </a:r>
          </a:p>
          <a:p>
            <a:pPr lvl="1"/>
            <a:r>
              <a:rPr lang="zh-CN" altLang="en-US" dirty="0" smtClean="0"/>
              <a:t>如果一个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域配置了非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（即非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）的</a:t>
            </a:r>
            <a:r>
              <a:rPr lang="en-US" altLang="zh-CN" dirty="0" smtClean="0"/>
              <a:t>Domain ID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不再是该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域的</a:t>
            </a:r>
            <a:r>
              <a:rPr lang="en-US" altLang="zh-CN" dirty="0" smtClean="0"/>
              <a:t>Domain ID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建议与同一个</a:t>
            </a:r>
            <a:r>
              <a:rPr lang="en-US" altLang="zh-CN" dirty="0" smtClean="0"/>
              <a:t>VPN</a:t>
            </a:r>
            <a:r>
              <a:rPr lang="zh-CN" altLang="en-US" dirty="0" smtClean="0"/>
              <a:t>相关的所有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实例都使用相同的</a:t>
            </a:r>
            <a:r>
              <a:rPr lang="en-US" altLang="zh-CN" dirty="0" smtClean="0"/>
              <a:t>Domain ID</a:t>
            </a:r>
            <a:r>
              <a:rPr lang="zh-CN" altLang="en-US" dirty="0" smtClean="0"/>
              <a:t>，或者都使用缺省的</a:t>
            </a:r>
            <a:r>
              <a:rPr lang="en-US" altLang="zh-CN" dirty="0" smtClean="0"/>
              <a:t>Domain ID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739621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2271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9125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环路产生过程如下：</a:t>
            </a:r>
          </a:p>
          <a:p>
            <a:pPr lvl="1"/>
            <a:r>
              <a:rPr lang="en-US" altLang="zh-CN" dirty="0" smtClean="0"/>
              <a:t>Site1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CE1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Type3 LSA</a:t>
            </a:r>
            <a:r>
              <a:rPr lang="zh-CN" altLang="en-US" dirty="0" smtClean="0"/>
              <a:t>发布到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的路由给</a:t>
            </a:r>
            <a:r>
              <a:rPr lang="en-US" altLang="zh-CN" dirty="0" smtClean="0"/>
              <a:t>PE1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PE1</a:t>
            </a:r>
            <a:r>
              <a:rPr lang="zh-CN" altLang="en-US" dirty="0" smtClean="0"/>
              <a:t>向</a:t>
            </a:r>
            <a:r>
              <a:rPr lang="en-US" altLang="zh-CN" dirty="0" smtClean="0"/>
              <a:t>BGP</a:t>
            </a:r>
            <a:r>
              <a:rPr lang="zh-CN" altLang="en-US" dirty="0" smtClean="0"/>
              <a:t>引入</a:t>
            </a:r>
            <a:r>
              <a:rPr lang="en-US" altLang="zh-CN" dirty="0" smtClean="0"/>
              <a:t>OSPF VPN1</a:t>
            </a:r>
            <a:r>
              <a:rPr lang="zh-CN" altLang="en-US" dirty="0" smtClean="0"/>
              <a:t>进程，通过</a:t>
            </a:r>
            <a:r>
              <a:rPr lang="en-US" altLang="zh-CN" dirty="0" smtClean="0"/>
              <a:t>MP-IBGP</a:t>
            </a:r>
            <a:r>
              <a:rPr lang="zh-CN" altLang="en-US" dirty="0" smtClean="0"/>
              <a:t>将该路由发布给</a:t>
            </a:r>
            <a:r>
              <a:rPr lang="en-US" altLang="zh-CN" dirty="0" smtClean="0"/>
              <a:t>PE2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PE3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由于</a:t>
            </a:r>
            <a:r>
              <a:rPr lang="en-US" altLang="zh-CN" dirty="0" smtClean="0"/>
              <a:t>PE2</a:t>
            </a:r>
            <a:r>
              <a:rPr lang="zh-CN" altLang="en-US" dirty="0" smtClean="0"/>
              <a:t>上配置了</a:t>
            </a:r>
            <a:r>
              <a:rPr lang="en-US" altLang="zh-CN" dirty="0" smtClean="0"/>
              <a:t>BGP</a:t>
            </a:r>
            <a:r>
              <a:rPr lang="zh-CN" altLang="en-US" dirty="0" smtClean="0"/>
              <a:t>到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的路由引入，故</a:t>
            </a:r>
            <a:r>
              <a:rPr lang="en-US" altLang="zh-CN" dirty="0" smtClean="0"/>
              <a:t>PE2</a:t>
            </a:r>
            <a:r>
              <a:rPr lang="zh-CN" altLang="en-US" dirty="0" smtClean="0"/>
              <a:t>将产生</a:t>
            </a:r>
            <a:r>
              <a:rPr lang="en-US" altLang="zh-CN" dirty="0" smtClean="0"/>
              <a:t>Type3 LSA</a:t>
            </a:r>
            <a:r>
              <a:rPr lang="zh-CN" altLang="en-US" dirty="0" smtClean="0"/>
              <a:t>给</a:t>
            </a:r>
            <a:r>
              <a:rPr lang="en-US" altLang="zh-CN" dirty="0" smtClean="0"/>
              <a:t>CE2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CE2</a:t>
            </a:r>
            <a:r>
              <a:rPr lang="zh-CN" altLang="en-US" dirty="0" smtClean="0"/>
              <a:t>将来自</a:t>
            </a:r>
            <a:r>
              <a:rPr lang="en-US" altLang="zh-CN" dirty="0" smtClean="0"/>
              <a:t>PE2</a:t>
            </a:r>
            <a:r>
              <a:rPr lang="zh-CN" altLang="en-US" dirty="0" smtClean="0"/>
              <a:t>的</a:t>
            </a:r>
            <a:r>
              <a:rPr lang="en-US" altLang="zh-CN" dirty="0" smtClean="0"/>
              <a:t>Type3 LSA</a:t>
            </a:r>
            <a:r>
              <a:rPr lang="zh-CN" altLang="en-US" dirty="0" smtClean="0"/>
              <a:t>发布给</a:t>
            </a:r>
            <a:r>
              <a:rPr lang="en-US" altLang="zh-CN" dirty="0" smtClean="0"/>
              <a:t>PE3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此时</a:t>
            </a:r>
            <a:r>
              <a:rPr lang="en-US" altLang="zh-CN" dirty="0" smtClean="0"/>
              <a:t>PE3</a:t>
            </a:r>
            <a:r>
              <a:rPr lang="zh-CN" altLang="en-US" dirty="0" smtClean="0"/>
              <a:t>收到两条到达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的路由：一条是</a:t>
            </a:r>
            <a:r>
              <a:rPr lang="en-US" altLang="zh-CN" dirty="0" smtClean="0"/>
              <a:t>PE1</a:t>
            </a:r>
            <a:r>
              <a:rPr lang="zh-CN" altLang="en-US" dirty="0" smtClean="0"/>
              <a:t>发布的，另一条是</a:t>
            </a:r>
            <a:r>
              <a:rPr lang="en-US" altLang="zh-CN" dirty="0" smtClean="0"/>
              <a:t>PE2</a:t>
            </a:r>
            <a:r>
              <a:rPr lang="zh-CN" altLang="en-US" dirty="0" smtClean="0"/>
              <a:t>上路由引入产生的。由于缺省情况下，</a:t>
            </a:r>
            <a:r>
              <a:rPr lang="en-US" altLang="zh-CN" dirty="0" smtClean="0"/>
              <a:t>IGP</a:t>
            </a:r>
            <a:r>
              <a:rPr lang="zh-CN" altLang="en-US" dirty="0" smtClean="0"/>
              <a:t>（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）路由优先级高于</a:t>
            </a:r>
            <a:r>
              <a:rPr lang="en-US" altLang="zh-CN" dirty="0" smtClean="0"/>
              <a:t>IBGP</a:t>
            </a:r>
            <a:r>
              <a:rPr lang="zh-CN" altLang="en-US" dirty="0" smtClean="0"/>
              <a:t>路由，</a:t>
            </a:r>
            <a:r>
              <a:rPr lang="en-US" altLang="zh-CN" dirty="0" smtClean="0"/>
              <a:t>PE3</a:t>
            </a:r>
            <a:r>
              <a:rPr lang="zh-CN" altLang="en-US" dirty="0" smtClean="0"/>
              <a:t>将选择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路由。</a:t>
            </a:r>
          </a:p>
          <a:p>
            <a:pPr lvl="1"/>
            <a:r>
              <a:rPr lang="en-US" altLang="zh-CN" dirty="0" smtClean="0"/>
              <a:t>PE3</a:t>
            </a:r>
            <a:r>
              <a:rPr lang="zh-CN" altLang="en-US" dirty="0" smtClean="0"/>
              <a:t>将优选的学自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MP-IBGP</a:t>
            </a:r>
            <a:r>
              <a:rPr lang="zh-CN" altLang="en-US" dirty="0" smtClean="0"/>
              <a:t>发布给</a:t>
            </a:r>
            <a:r>
              <a:rPr lang="en-US" altLang="zh-CN" dirty="0" smtClean="0"/>
              <a:t>PE1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此时，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上存在两条到达目的地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网段的路由，一条通过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学习自</a:t>
            </a:r>
            <a:r>
              <a:rPr lang="en-US" altLang="zh-CN" dirty="0" smtClean="0"/>
              <a:t>CE1</a:t>
            </a:r>
            <a:r>
              <a:rPr lang="zh-CN" altLang="en-US" dirty="0" smtClean="0"/>
              <a:t>，另一条通过</a:t>
            </a:r>
            <a:r>
              <a:rPr lang="en-US" altLang="zh-CN" dirty="0" smtClean="0"/>
              <a:t>MP-IBGP</a:t>
            </a:r>
            <a:r>
              <a:rPr lang="zh-CN" altLang="en-US" dirty="0" smtClean="0"/>
              <a:t>学习自</a:t>
            </a:r>
            <a:r>
              <a:rPr lang="en-US" altLang="zh-CN" dirty="0" smtClean="0"/>
              <a:t>PE3</a:t>
            </a:r>
            <a:r>
              <a:rPr lang="zh-CN" altLang="en-US" dirty="0" smtClean="0"/>
              <a:t>。可能会导致以下问题：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PE1</a:t>
            </a:r>
            <a:r>
              <a:rPr lang="zh-CN" altLang="en-US" dirty="0" smtClean="0"/>
              <a:t>撤销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这条路由，但由于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与</a:t>
            </a:r>
            <a:r>
              <a:rPr lang="en-US" altLang="zh-CN" dirty="0" smtClean="0"/>
              <a:t>PE2</a:t>
            </a:r>
            <a:r>
              <a:rPr lang="zh-CN" altLang="en-US" dirty="0" smtClean="0"/>
              <a:t>之间的链路阻塞，</a:t>
            </a:r>
            <a:r>
              <a:rPr lang="en-US" altLang="zh-CN" dirty="0" smtClean="0"/>
              <a:t>BGP Update</a:t>
            </a:r>
            <a:r>
              <a:rPr lang="zh-CN" altLang="en-US" dirty="0" smtClean="0"/>
              <a:t>（撤销报文）无法及时发送给</a:t>
            </a:r>
            <a:r>
              <a:rPr lang="en-US" altLang="zh-CN" dirty="0" smtClean="0"/>
              <a:t>PE2</a:t>
            </a:r>
            <a:r>
              <a:rPr lang="zh-CN" altLang="en-US" dirty="0" smtClean="0"/>
              <a:t>，导致</a:t>
            </a:r>
            <a:r>
              <a:rPr lang="en-US" altLang="zh-CN" dirty="0" smtClean="0"/>
              <a:t>PE3</a:t>
            </a:r>
            <a:r>
              <a:rPr lang="zh-CN" altLang="en-US" dirty="0" smtClean="0"/>
              <a:t>发给</a:t>
            </a:r>
            <a:r>
              <a:rPr lang="en-US" altLang="zh-CN" dirty="0" smtClean="0"/>
              <a:t>PE1</a:t>
            </a:r>
            <a:r>
              <a:rPr lang="zh-CN" altLang="en-US" dirty="0" smtClean="0"/>
              <a:t>的路由依然存在（正常情况下会随着</a:t>
            </a:r>
            <a:r>
              <a:rPr lang="en-US" altLang="zh-CN" dirty="0" smtClean="0"/>
              <a:t>PE1</a:t>
            </a:r>
            <a:r>
              <a:rPr lang="zh-CN" altLang="en-US" dirty="0" smtClean="0"/>
              <a:t>发送给</a:t>
            </a:r>
            <a:r>
              <a:rPr lang="en-US" altLang="zh-CN" dirty="0" smtClean="0"/>
              <a:t>PE2</a:t>
            </a:r>
            <a:r>
              <a:rPr lang="zh-CN" altLang="en-US" dirty="0" smtClean="0"/>
              <a:t>的</a:t>
            </a:r>
            <a:r>
              <a:rPr lang="en-US" altLang="zh-CN" dirty="0" smtClean="0"/>
              <a:t>Update</a:t>
            </a:r>
            <a:r>
              <a:rPr lang="zh-CN" altLang="en-US" dirty="0" smtClean="0"/>
              <a:t>报文被撤销），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上到达目的地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的下一跳为</a:t>
            </a:r>
            <a:r>
              <a:rPr lang="en-US" altLang="zh-CN" dirty="0" smtClean="0"/>
              <a:t>PE3</a:t>
            </a:r>
            <a:r>
              <a:rPr lang="zh-CN" altLang="en-US" dirty="0" smtClean="0"/>
              <a:t>。此时路由环路产生。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上</a:t>
            </a:r>
            <a:r>
              <a:rPr lang="en-US" altLang="zh-CN" dirty="0" smtClean="0"/>
              <a:t>MP-IBGP</a:t>
            </a:r>
            <a:r>
              <a:rPr lang="zh-CN" altLang="en-US" dirty="0" smtClean="0"/>
              <a:t>的路由优先级高于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会优选</a:t>
            </a:r>
            <a:r>
              <a:rPr lang="en-US" altLang="zh-CN" dirty="0" smtClean="0"/>
              <a:t>PE3</a:t>
            </a:r>
            <a:r>
              <a:rPr lang="zh-CN" altLang="en-US" dirty="0" smtClean="0"/>
              <a:t>通告的</a:t>
            </a:r>
            <a:r>
              <a:rPr lang="en-US" altLang="zh-CN" dirty="0" smtClean="0"/>
              <a:t>BGP</a:t>
            </a:r>
            <a:r>
              <a:rPr lang="zh-CN" altLang="en-US" dirty="0" smtClean="0"/>
              <a:t>路由，此时</a:t>
            </a:r>
            <a:r>
              <a:rPr lang="en-US" altLang="zh-CN" dirty="0" smtClean="0"/>
              <a:t>PE1</a:t>
            </a:r>
            <a:r>
              <a:rPr lang="zh-CN" altLang="en-US" dirty="0" smtClean="0"/>
              <a:t>需要撤销发给</a:t>
            </a:r>
            <a:r>
              <a:rPr lang="en-US" altLang="zh-CN" dirty="0" smtClean="0"/>
              <a:t>PE2</a:t>
            </a:r>
            <a:r>
              <a:rPr lang="zh-CN" altLang="en-US" dirty="0" smtClean="0"/>
              <a:t>的</a:t>
            </a:r>
            <a:r>
              <a:rPr lang="en-US" altLang="zh-CN" dirty="0" smtClean="0"/>
              <a:t>BGP</a:t>
            </a:r>
            <a:r>
              <a:rPr lang="zh-CN" altLang="en-US" dirty="0" smtClean="0"/>
              <a:t>路由，导致</a:t>
            </a:r>
            <a:r>
              <a:rPr lang="en-US" altLang="zh-CN" dirty="0" smtClean="0"/>
              <a:t>PE3</a:t>
            </a:r>
            <a:r>
              <a:rPr lang="zh-CN" altLang="en-US" dirty="0" smtClean="0"/>
              <a:t>撤销发布给</a:t>
            </a:r>
            <a:r>
              <a:rPr lang="en-US" altLang="zh-CN" dirty="0" smtClean="0"/>
              <a:t>PE1</a:t>
            </a:r>
            <a:r>
              <a:rPr lang="zh-CN" altLang="en-US" dirty="0" smtClean="0"/>
              <a:t>的路由，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上的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再次被优选。如此反复，形成路由震荡。</a:t>
            </a:r>
            <a:endParaRPr lang="en-US" altLang="zh-CN" dirty="0" smtClean="0"/>
          </a:p>
          <a:p>
            <a:pPr lvl="0"/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4877729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缺省情况下，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产生的</a:t>
            </a:r>
            <a:r>
              <a:rPr lang="en-US" altLang="zh-CN" dirty="0" smtClean="0"/>
              <a:t>LSA</a:t>
            </a:r>
            <a:r>
              <a:rPr lang="zh-CN" altLang="en-US" dirty="0" smtClean="0"/>
              <a:t>的</a:t>
            </a:r>
            <a:r>
              <a:rPr lang="en-US" altLang="zh-CN" dirty="0" smtClean="0"/>
              <a:t>DN</a:t>
            </a:r>
            <a:r>
              <a:rPr lang="zh-CN" altLang="en-US" dirty="0" smtClean="0"/>
              <a:t>位设置为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。可通过命令</a:t>
            </a:r>
            <a:r>
              <a:rPr lang="en-US" altLang="zh-CN" b="1" dirty="0" err="1" smtClean="0"/>
              <a:t>dn</a:t>
            </a:r>
            <a:r>
              <a:rPr lang="en-US" altLang="zh-CN" b="1" dirty="0" smtClean="0"/>
              <a:t>-bit-set disable</a:t>
            </a:r>
            <a:r>
              <a:rPr lang="zh-CN" altLang="en-US" dirty="0" smtClean="0"/>
              <a:t>来禁止设置</a:t>
            </a:r>
            <a:r>
              <a:rPr lang="en-US" altLang="zh-CN" dirty="0" smtClean="0"/>
              <a:t>OSPF LSA</a:t>
            </a:r>
            <a:r>
              <a:rPr lang="zh-CN" altLang="en-US" dirty="0" smtClean="0"/>
              <a:t>的</a:t>
            </a:r>
            <a:r>
              <a:rPr lang="en-US" altLang="zh-CN" dirty="0" smtClean="0"/>
              <a:t>DN</a:t>
            </a:r>
            <a:r>
              <a:rPr lang="zh-CN" altLang="en-US" dirty="0" smtClean="0"/>
              <a:t>位。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0542037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环路产生过程如下：</a:t>
            </a:r>
          </a:p>
          <a:p>
            <a:pPr lvl="1"/>
            <a:r>
              <a:rPr lang="en-US" altLang="zh-CN" dirty="0" smtClean="0"/>
              <a:t>CE1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EBGP</a:t>
            </a:r>
            <a:r>
              <a:rPr lang="zh-CN" altLang="en-US" dirty="0" smtClean="0"/>
              <a:t>发布到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的路由给</a:t>
            </a:r>
            <a:r>
              <a:rPr lang="en-US" altLang="zh-CN" dirty="0" smtClean="0"/>
              <a:t>PE1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AS_Path</a:t>
            </a:r>
            <a:r>
              <a:rPr lang="zh-CN" altLang="en-US" dirty="0" smtClean="0"/>
              <a:t>为</a:t>
            </a:r>
            <a:r>
              <a:rPr lang="en-US" altLang="zh-CN" dirty="0" smtClean="0"/>
              <a:t>65001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PE1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MP-IBGP</a:t>
            </a:r>
            <a:r>
              <a:rPr lang="zh-CN" altLang="en-US" dirty="0" smtClean="0"/>
              <a:t>将该路由发布给</a:t>
            </a:r>
            <a:r>
              <a:rPr lang="en-US" altLang="zh-CN" dirty="0" smtClean="0"/>
              <a:t>PE2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PE3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PE2</a:t>
            </a:r>
            <a:r>
              <a:rPr lang="zh-CN" altLang="en-US" dirty="0" smtClean="0"/>
              <a:t>在</a:t>
            </a:r>
            <a:r>
              <a:rPr lang="en-US" altLang="zh-CN" dirty="0" smtClean="0"/>
              <a:t>OSPF VPN1</a:t>
            </a:r>
            <a:r>
              <a:rPr lang="zh-CN" altLang="en-US" dirty="0" smtClean="0"/>
              <a:t>实例进程中引入</a:t>
            </a:r>
            <a:r>
              <a:rPr lang="en-US" altLang="zh-CN" dirty="0" smtClean="0"/>
              <a:t>BGP</a:t>
            </a:r>
            <a:r>
              <a:rPr lang="zh-CN" altLang="en-US" dirty="0" smtClean="0"/>
              <a:t>路由，发布到</a:t>
            </a:r>
            <a:r>
              <a:rPr lang="en-US" altLang="zh-CN" dirty="0" smtClean="0"/>
              <a:t>192.168.1.0/24</a:t>
            </a:r>
            <a:r>
              <a:rPr lang="zh-CN" altLang="en-US" dirty="0" smtClean="0"/>
              <a:t>的</a:t>
            </a:r>
            <a:r>
              <a:rPr lang="en-US" altLang="zh-CN" dirty="0" smtClean="0"/>
              <a:t>Type5 LSA</a:t>
            </a:r>
            <a:r>
              <a:rPr lang="zh-CN" altLang="en-US" dirty="0" smtClean="0"/>
              <a:t>给</a:t>
            </a:r>
            <a:r>
              <a:rPr lang="en-US" altLang="zh-CN" dirty="0" smtClean="0"/>
              <a:t>CE2</a:t>
            </a:r>
            <a:r>
              <a:rPr lang="zh-CN" altLang="en-US" dirty="0" smtClean="0"/>
              <a:t>；</a:t>
            </a:r>
          </a:p>
          <a:p>
            <a:pPr lvl="1"/>
            <a:r>
              <a:rPr lang="en-US" altLang="zh-CN" dirty="0" smtClean="0"/>
              <a:t>CE2</a:t>
            </a:r>
            <a:r>
              <a:rPr lang="zh-CN" altLang="en-US" dirty="0" smtClean="0"/>
              <a:t>将该</a:t>
            </a:r>
            <a:r>
              <a:rPr lang="en-US" altLang="zh-CN" dirty="0" smtClean="0"/>
              <a:t>Type5 LSA</a:t>
            </a:r>
            <a:r>
              <a:rPr lang="zh-CN" altLang="en-US" dirty="0" smtClean="0"/>
              <a:t>发布给</a:t>
            </a:r>
            <a:r>
              <a:rPr lang="en-US" altLang="zh-CN" dirty="0" smtClean="0"/>
              <a:t>PE3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PE3</a:t>
            </a:r>
            <a:r>
              <a:rPr lang="zh-CN" altLang="en-US" dirty="0" smtClean="0"/>
              <a:t>将优选择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路由（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优先级高于</a:t>
            </a:r>
            <a:r>
              <a:rPr lang="en-US" altLang="zh-CN" dirty="0" smtClean="0"/>
              <a:t>IBGP</a:t>
            </a:r>
            <a:r>
              <a:rPr lang="zh-CN" altLang="en-US" dirty="0" smtClean="0"/>
              <a:t>），并通过</a:t>
            </a:r>
            <a:r>
              <a:rPr lang="en-US" altLang="zh-CN" dirty="0" smtClean="0"/>
              <a:t>MP-IBGP</a:t>
            </a:r>
            <a:r>
              <a:rPr lang="zh-CN" altLang="en-US" dirty="0" smtClean="0"/>
              <a:t>发布</a:t>
            </a:r>
            <a:r>
              <a:rPr lang="en-US" altLang="zh-CN" dirty="0" smtClean="0"/>
              <a:t>Update</a:t>
            </a:r>
            <a:r>
              <a:rPr lang="zh-CN" altLang="en-US" dirty="0" smtClean="0"/>
              <a:t>消息给</a:t>
            </a:r>
            <a:r>
              <a:rPr lang="en-US" altLang="zh-CN" dirty="0" smtClean="0"/>
              <a:t>PE1</a:t>
            </a:r>
            <a:r>
              <a:rPr lang="zh-CN" altLang="en-US" dirty="0" smtClean="0"/>
              <a:t>。</a:t>
            </a:r>
          </a:p>
          <a:p>
            <a:pPr lvl="1"/>
            <a:r>
              <a:rPr lang="en-US" altLang="zh-CN" dirty="0" smtClean="0"/>
              <a:t>PE1</a:t>
            </a:r>
            <a:r>
              <a:rPr lang="zh-CN" altLang="en-US" dirty="0" smtClean="0"/>
              <a:t>收到</a:t>
            </a:r>
            <a:r>
              <a:rPr lang="en-US" altLang="zh-CN" dirty="0" smtClean="0"/>
              <a:t>PE3</a:t>
            </a:r>
            <a:r>
              <a:rPr lang="zh-CN" altLang="en-US" dirty="0" smtClean="0"/>
              <a:t>发送的</a:t>
            </a:r>
            <a:r>
              <a:rPr lang="en-US" altLang="zh-CN" dirty="0" smtClean="0"/>
              <a:t>MP-IBGP Update</a:t>
            </a:r>
            <a:r>
              <a:rPr lang="zh-CN" altLang="en-US" dirty="0" smtClean="0"/>
              <a:t>消息。由于其中的路由是</a:t>
            </a:r>
            <a:r>
              <a:rPr lang="en-US" altLang="zh-CN" dirty="0" smtClean="0"/>
              <a:t>PE3</a:t>
            </a:r>
            <a:r>
              <a:rPr lang="zh-CN" altLang="en-US" dirty="0" smtClean="0"/>
              <a:t>的</a:t>
            </a:r>
            <a:r>
              <a:rPr lang="en-US" altLang="zh-CN" dirty="0" smtClean="0"/>
              <a:t>BGP</a:t>
            </a:r>
            <a:r>
              <a:rPr lang="zh-CN" altLang="en-US" dirty="0" smtClean="0"/>
              <a:t>引入的</a:t>
            </a:r>
            <a:r>
              <a:rPr lang="en-US" altLang="zh-CN" dirty="0" smtClean="0"/>
              <a:t>IGP</a:t>
            </a:r>
            <a:r>
              <a:rPr lang="zh-CN" altLang="en-US" dirty="0" smtClean="0"/>
              <a:t>（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）路由，其</a:t>
            </a:r>
            <a:r>
              <a:rPr lang="en-US" altLang="zh-CN" dirty="0" err="1" smtClean="0"/>
              <a:t>AS_Path</a:t>
            </a:r>
            <a:r>
              <a:rPr lang="zh-CN" altLang="en-US" dirty="0" smtClean="0"/>
              <a:t>为空，因此</a:t>
            </a:r>
            <a:r>
              <a:rPr lang="en-US" altLang="zh-CN" dirty="0" smtClean="0"/>
              <a:t>PE3</a:t>
            </a:r>
            <a:r>
              <a:rPr lang="zh-CN" altLang="en-US" dirty="0" smtClean="0"/>
              <a:t>发布的</a:t>
            </a:r>
            <a:r>
              <a:rPr lang="en-US" altLang="zh-CN" dirty="0" smtClean="0"/>
              <a:t>MP-IBGP</a:t>
            </a:r>
            <a:r>
              <a:rPr lang="zh-CN" altLang="en-US" dirty="0" smtClean="0"/>
              <a:t>路由优先级比从</a:t>
            </a:r>
            <a:r>
              <a:rPr lang="en-US" altLang="zh-CN" dirty="0" smtClean="0"/>
              <a:t>CE1</a:t>
            </a:r>
            <a:r>
              <a:rPr lang="zh-CN" altLang="en-US" dirty="0" smtClean="0"/>
              <a:t>发布的</a:t>
            </a:r>
            <a:r>
              <a:rPr lang="en-US" altLang="zh-CN" dirty="0" smtClean="0"/>
              <a:t>EBGP</a:t>
            </a:r>
            <a:r>
              <a:rPr lang="zh-CN" altLang="en-US" dirty="0" smtClean="0"/>
              <a:t>路由优先级高，</a:t>
            </a:r>
            <a:r>
              <a:rPr lang="en-US" altLang="zh-CN" dirty="0" smtClean="0"/>
              <a:t>PE1</a:t>
            </a:r>
            <a:r>
              <a:rPr lang="zh-CN" altLang="en-US" dirty="0" smtClean="0"/>
              <a:t>将优选用</a:t>
            </a:r>
            <a:r>
              <a:rPr lang="en-US" altLang="zh-CN" dirty="0" smtClean="0"/>
              <a:t>PE3</a:t>
            </a:r>
            <a:r>
              <a:rPr lang="zh-CN" altLang="en-US" dirty="0" smtClean="0"/>
              <a:t>发布的路由。</a:t>
            </a:r>
          </a:p>
          <a:p>
            <a:pPr lvl="1"/>
            <a:r>
              <a:rPr lang="zh-CN" altLang="en-US" dirty="0" smtClean="0"/>
              <a:t>此时形成一条路由环路：</a:t>
            </a:r>
            <a:r>
              <a:rPr lang="en-US" altLang="zh-CN" dirty="0" smtClean="0"/>
              <a:t>PE3—&gt;CE2—&gt;PE2—&gt;PE1—&gt;PE3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由于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不再优选</a:t>
            </a:r>
            <a:r>
              <a:rPr lang="en-US" altLang="zh-CN" dirty="0" smtClean="0"/>
              <a:t>CE1</a:t>
            </a:r>
            <a:r>
              <a:rPr lang="zh-CN" altLang="en-US" dirty="0" smtClean="0"/>
              <a:t>学来的路由，故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会撤销发给</a:t>
            </a:r>
            <a:r>
              <a:rPr lang="en-US" altLang="zh-CN" dirty="0" smtClean="0"/>
              <a:t>PE2</a:t>
            </a:r>
            <a:r>
              <a:rPr lang="zh-CN" altLang="en-US" dirty="0" smtClean="0"/>
              <a:t>的路由，</a:t>
            </a:r>
            <a:r>
              <a:rPr lang="en-US" altLang="zh-CN" dirty="0" smtClean="0"/>
              <a:t>PE2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OSPF VPN</a:t>
            </a:r>
            <a:r>
              <a:rPr lang="zh-CN" altLang="en-US" dirty="0" smtClean="0"/>
              <a:t>实例进程进程中也要对应撤销引入的</a:t>
            </a:r>
            <a:r>
              <a:rPr lang="en-US" altLang="zh-CN" dirty="0" smtClean="0"/>
              <a:t>BGP</a:t>
            </a:r>
            <a:r>
              <a:rPr lang="zh-CN" altLang="en-US" dirty="0" smtClean="0"/>
              <a:t>路由，继而</a:t>
            </a:r>
            <a:r>
              <a:rPr lang="en-US" altLang="zh-CN" dirty="0" smtClean="0"/>
              <a:t>CE2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PE3</a:t>
            </a:r>
            <a:r>
              <a:rPr lang="zh-CN" altLang="en-US" dirty="0" smtClean="0"/>
              <a:t>都相继撤销该</a:t>
            </a:r>
            <a:r>
              <a:rPr lang="en-US" altLang="zh-CN" dirty="0" smtClean="0"/>
              <a:t>OSPF</a:t>
            </a:r>
            <a:r>
              <a:rPr lang="zh-CN" altLang="en-US" dirty="0" smtClean="0"/>
              <a:t>路由。</a:t>
            </a:r>
            <a:r>
              <a:rPr lang="en-US" altLang="zh-CN" dirty="0" smtClean="0"/>
              <a:t>PE3</a:t>
            </a:r>
            <a:r>
              <a:rPr lang="zh-CN" altLang="en-US" dirty="0" smtClean="0"/>
              <a:t>向</a:t>
            </a:r>
            <a:r>
              <a:rPr lang="en-US" altLang="zh-CN" dirty="0" smtClean="0"/>
              <a:t>PE1</a:t>
            </a:r>
            <a:r>
              <a:rPr lang="zh-CN" altLang="en-US" dirty="0" smtClean="0"/>
              <a:t>发布的</a:t>
            </a:r>
            <a:r>
              <a:rPr lang="en-US" altLang="zh-CN" dirty="0" smtClean="0"/>
              <a:t>BGP</a:t>
            </a:r>
            <a:r>
              <a:rPr lang="zh-CN" altLang="en-US" dirty="0" smtClean="0"/>
              <a:t>路由也被撤销，在</a:t>
            </a:r>
            <a:r>
              <a:rPr lang="en-US" altLang="zh-CN" dirty="0" smtClean="0"/>
              <a:t>PE1</a:t>
            </a:r>
            <a:r>
              <a:rPr lang="zh-CN" altLang="en-US" dirty="0" smtClean="0"/>
              <a:t>上，从</a:t>
            </a:r>
            <a:r>
              <a:rPr lang="en-US" altLang="zh-CN" dirty="0" smtClean="0"/>
              <a:t>CE1</a:t>
            </a:r>
            <a:r>
              <a:rPr lang="zh-CN" altLang="en-US" dirty="0" smtClean="0"/>
              <a:t>学来的路由又变成最优路由。这样，形成了路由振荡。</a:t>
            </a:r>
            <a:endParaRPr lang="en-US" altLang="zh-CN" dirty="0" smtClean="0"/>
          </a:p>
          <a:p>
            <a:r>
              <a:rPr lang="en-US" altLang="zh-CN" dirty="0" smtClean="0"/>
              <a:t>Type7 LSA</a:t>
            </a:r>
            <a:r>
              <a:rPr lang="zh-CN" altLang="zh-CN" dirty="0" smtClean="0"/>
              <a:t>环路的产生和消除的过程与</a:t>
            </a:r>
            <a:r>
              <a:rPr lang="en-US" altLang="zh-CN" dirty="0" smtClean="0"/>
              <a:t>Type5</a:t>
            </a:r>
            <a:r>
              <a:rPr lang="zh-CN" altLang="zh-CN" dirty="0" smtClean="0"/>
              <a:t>类似，此处不再赘述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7404692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VPN</a:t>
            </a:r>
            <a:r>
              <a:rPr lang="zh-CN" altLang="en-US" dirty="0" smtClean="0"/>
              <a:t>路由标记不在</a:t>
            </a:r>
            <a:r>
              <a:rPr lang="en-US" altLang="zh-CN" dirty="0" smtClean="0"/>
              <a:t>BGP</a:t>
            </a:r>
            <a:r>
              <a:rPr lang="zh-CN" altLang="en-US" dirty="0" smtClean="0"/>
              <a:t>的扩展团体属性中传递，只是本地概念，只在收到</a:t>
            </a:r>
            <a:r>
              <a:rPr lang="en-US" altLang="zh-CN" dirty="0" smtClean="0"/>
              <a:t>BGP</a:t>
            </a:r>
            <a:r>
              <a:rPr lang="zh-CN" altLang="en-US" dirty="0" smtClean="0"/>
              <a:t>路由并且产生</a:t>
            </a:r>
            <a:r>
              <a:rPr lang="en-US" altLang="zh-CN" dirty="0" smtClean="0"/>
              <a:t>OSPF LSA</a:t>
            </a:r>
            <a:r>
              <a:rPr lang="zh-CN" altLang="en-US" dirty="0" smtClean="0"/>
              <a:t>的</a:t>
            </a:r>
            <a:r>
              <a:rPr lang="en-US" altLang="zh-CN" dirty="0" smtClean="0"/>
              <a:t>PE</a:t>
            </a:r>
            <a:r>
              <a:rPr lang="zh-CN" altLang="en-US" dirty="0" smtClean="0"/>
              <a:t>设备上有意义。</a:t>
            </a:r>
          </a:p>
          <a:p>
            <a:r>
              <a:rPr lang="zh-CN" altLang="en-US" dirty="0" smtClean="0"/>
              <a:t>缺省情况下，</a:t>
            </a:r>
            <a:r>
              <a:rPr lang="en-US" altLang="zh-CN" dirty="0" smtClean="0"/>
              <a:t>VPN</a:t>
            </a:r>
            <a:r>
              <a:rPr lang="zh-CN" altLang="en-US" dirty="0" smtClean="0"/>
              <a:t>的路由标记是根据</a:t>
            </a:r>
            <a:r>
              <a:rPr lang="en-US" altLang="zh-CN" dirty="0" smtClean="0"/>
              <a:t>BGP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AS</a:t>
            </a:r>
            <a:r>
              <a:rPr lang="zh-CN" altLang="en-US" dirty="0" smtClean="0"/>
              <a:t>号计算得到的。如果没有配置</a:t>
            </a:r>
            <a:r>
              <a:rPr lang="en-US" altLang="zh-CN" dirty="0" smtClean="0"/>
              <a:t>BGP</a:t>
            </a:r>
            <a:r>
              <a:rPr lang="zh-CN" altLang="en-US" dirty="0" smtClean="0"/>
              <a:t>，则默认值为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可以通过指令</a:t>
            </a:r>
            <a:r>
              <a:rPr lang="en-US" altLang="zh-CN" b="1" dirty="0" smtClean="0"/>
              <a:t>route-tag</a:t>
            </a:r>
            <a:r>
              <a:rPr lang="zh-CN" altLang="en-US" dirty="0" smtClean="0"/>
              <a:t>配置</a:t>
            </a:r>
            <a:r>
              <a:rPr lang="en-US" altLang="zh-CN" dirty="0" smtClean="0"/>
              <a:t>VPN</a:t>
            </a:r>
            <a:r>
              <a:rPr lang="zh-CN" altLang="en-US" dirty="0" smtClean="0"/>
              <a:t>的路由标记。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2608513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8829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9217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同一个</a:t>
            </a:r>
            <a:r>
              <a:rPr lang="en-US" altLang="zh-CN" smtClean="0"/>
              <a:t>OSPF</a:t>
            </a:r>
            <a:r>
              <a:rPr lang="zh-CN" altLang="en-US" smtClean="0"/>
              <a:t>进程的多条</a:t>
            </a:r>
            <a:r>
              <a:rPr lang="en-US" altLang="zh-CN" smtClean="0"/>
              <a:t>Sham link</a:t>
            </a:r>
            <a:r>
              <a:rPr lang="zh-CN" altLang="en-US" smtClean="0"/>
              <a:t>可以共用端点地址，但不同</a:t>
            </a:r>
            <a:r>
              <a:rPr lang="en-US" altLang="zh-CN" smtClean="0"/>
              <a:t>OSPF</a:t>
            </a:r>
            <a:r>
              <a:rPr lang="zh-CN" altLang="en-US" smtClean="0"/>
              <a:t>进程不能拥有两条端点地址完全相同的</a:t>
            </a:r>
            <a:r>
              <a:rPr lang="en-US" altLang="zh-CN" smtClean="0"/>
              <a:t>Sham link</a:t>
            </a:r>
            <a:r>
              <a:rPr lang="zh-CN" altLang="en-US" smtClean="0"/>
              <a:t>。</a:t>
            </a:r>
            <a:endParaRPr lang="zh-CN" altLang="en-US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463817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在配置</a:t>
            </a:r>
            <a:r>
              <a:rPr lang="en-US" altLang="zh-CN" smtClean="0"/>
              <a:t>Sham link</a:t>
            </a:r>
            <a:r>
              <a:rPr lang="zh-CN" altLang="en-US" smtClean="0"/>
              <a:t>时可以指定</a:t>
            </a:r>
            <a:r>
              <a:rPr lang="en-US" altLang="zh-CN" smtClean="0"/>
              <a:t>Sham link</a:t>
            </a:r>
            <a:r>
              <a:rPr lang="zh-CN" altLang="en-US" smtClean="0"/>
              <a:t>的路由开销。缺省值为</a:t>
            </a:r>
            <a:r>
              <a:rPr lang="en-US" altLang="zh-CN" smtClean="0"/>
              <a:t>1</a:t>
            </a:r>
            <a:r>
              <a:rPr lang="zh-CN" altLang="en-US" smtClean="0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929518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9670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r>
              <a:rPr lang="en-US" altLang="zh-CN" dirty="0" smtClean="0"/>
              <a:t>BCD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altLang="zh-CN" smtClean="0"/>
              <a:t>B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7753708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42152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73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/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/>
          </p:nvPr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base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 smtClean="0"/>
              <a:t>此</a:t>
            </a:r>
            <a:r>
              <a:rPr lang="zh-CN" altLang="en-US" dirty="0"/>
              <a:t>版式用于</a:t>
            </a:r>
            <a:r>
              <a:rPr lang="zh-CN" altLang="en-US" dirty="0" smtClean="0"/>
              <a:t>思考题具体格式</a:t>
            </a:r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base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base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base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4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Datacom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通用</a:t>
            </a:r>
            <a:endParaRPr lang="zh-CN" altLang="en-US" dirty="0"/>
          </a:p>
        </p:txBody>
      </p:sp>
      <p:sp>
        <p:nvSpPr>
          <p:cNvPr id="50" name="文本占位符 49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张凛睿</a:t>
            </a:r>
            <a:r>
              <a:rPr lang="en-US" altLang="zh-CN" dirty="0" smtClean="0">
                <a:sym typeface="Huawei Sans" panose="020C0503030203020204" pitchFamily="34" charset="0"/>
              </a:rPr>
              <a:t>/WX570554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2020.03.30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朱仕耿</a:t>
            </a:r>
            <a:r>
              <a:rPr lang="en-US" altLang="zh-CN" dirty="0" smtClean="0">
                <a:sym typeface="Huawei Sans" panose="020C0503030203020204" pitchFamily="34" charset="0"/>
              </a:rPr>
              <a:t>/00261992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新开发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 smtClean="0"/>
              <a:t>何军建</a:t>
            </a:r>
            <a:r>
              <a:rPr lang="en-US" altLang="zh-CN" dirty="0" smtClean="0"/>
              <a:t>/</a:t>
            </a:r>
            <a:r>
              <a:rPr lang="en-US" altLang="zh-CN" dirty="0" smtClean="0"/>
              <a:t>WX</a:t>
            </a:r>
            <a:r>
              <a:rPr lang="en-US" altLang="zh-CN" dirty="0" smtClean="0"/>
              <a:t>580230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 smtClean="0"/>
              <a:t>2021.07.31</a:t>
            </a:r>
            <a:endParaRPr lang="zh-CN" altLang="en-US" dirty="0"/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卢玥</a:t>
            </a:r>
            <a:r>
              <a:rPr lang="zh-CN" altLang="en-US" dirty="0" smtClean="0"/>
              <a:t>玥</a:t>
            </a:r>
            <a:r>
              <a:rPr lang="en-US" altLang="zh-CN" dirty="0" smtClean="0"/>
              <a:t>/</a:t>
            </a:r>
            <a:r>
              <a:rPr lang="en-US" altLang="zh-CN" dirty="0" smtClean="0"/>
              <a:t>WX</a:t>
            </a:r>
            <a:r>
              <a:rPr lang="en-US" altLang="zh-CN" dirty="0" smtClean="0"/>
              <a:t>445705</a:t>
            </a:r>
            <a:endParaRPr lang="zh-CN" altLang="en-US" dirty="0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 smtClean="0"/>
              <a:t>优化</a:t>
            </a:r>
            <a:endParaRPr lang="zh-CN" altLang="en-US" dirty="0"/>
          </a:p>
        </p:txBody>
      </p:sp>
      <p:sp>
        <p:nvSpPr>
          <p:cNvPr id="52" name="文本占位符 5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5" name="文本占位符 5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文本占位符 5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9" name="文本占位符 5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81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部署与应用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18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BGP/MPLS IP VPN</a:t>
            </a:r>
            <a:r>
              <a:rPr lang="zh-CN" altLang="en-US" dirty="0" smtClean="0">
                <a:sym typeface="Huawei Sans" panose="020C0503030203020204" pitchFamily="34" charset="0"/>
              </a:rPr>
              <a:t>因其支持地址空间重叠、组网方式灵活、可扩展性好，并能够方便地支持</a:t>
            </a:r>
            <a:r>
              <a:rPr lang="en-US" altLang="zh-CN" dirty="0" smtClean="0">
                <a:sym typeface="Huawei Sans" panose="020C0503030203020204" pitchFamily="34" charset="0"/>
              </a:rPr>
              <a:t>MPLS TE</a:t>
            </a:r>
            <a:r>
              <a:rPr lang="zh-CN" altLang="en-US" dirty="0" smtClean="0">
                <a:sym typeface="Huawei Sans" panose="020C0503030203020204" pitchFamily="34" charset="0"/>
              </a:rPr>
              <a:t>等一系列优点，已经在广域</a:t>
            </a:r>
            <a:r>
              <a:rPr lang="en-US" altLang="zh-CN" dirty="0" smtClean="0">
                <a:sym typeface="Huawei Sans" panose="020C0503030203020204" pitchFamily="34" charset="0"/>
              </a:rPr>
              <a:t>IP</a:t>
            </a:r>
            <a:r>
              <a:rPr lang="zh-CN" altLang="en-US" dirty="0" smtClean="0">
                <a:sym typeface="Huawei Sans" panose="020C0503030203020204" pitchFamily="34" charset="0"/>
              </a:rPr>
              <a:t>承载网络得到了广泛的应用。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r>
              <a:rPr lang="zh-CN" altLang="en-US" dirty="0" smtClean="0">
                <a:sym typeface="Huawei Sans" panose="020C0503030203020204" pitchFamily="34" charset="0"/>
              </a:rPr>
              <a:t>针对不同客户的业务需求以及组网情况，</a:t>
            </a:r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的部署方式不尽相同。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r>
              <a:rPr lang="zh-CN" altLang="en-US" dirty="0" smtClean="0">
                <a:sym typeface="Huawei Sans" panose="020C0503030203020204" pitchFamily="34" charset="0"/>
              </a:rPr>
              <a:t>本课程将介绍几种常见的</a:t>
            </a:r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应用场景与这些场景下</a:t>
            </a:r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的部署方法，此外还将介绍</a:t>
            </a:r>
            <a:r>
              <a:rPr lang="en-US" altLang="zh-CN" dirty="0" smtClean="0"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ym typeface="Huawei Sans" panose="020C0503030203020204" pitchFamily="34" charset="0"/>
              </a:rPr>
              <a:t>对</a:t>
            </a:r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的扩展特性与功能。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7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学完本课程后，您应该能：</a:t>
            </a: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描述</a:t>
            </a:r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的应用场景与组网类型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部署</a:t>
            </a:r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的</a:t>
            </a:r>
            <a:r>
              <a:rPr lang="en-US" altLang="zh-CN" smtClean="0">
                <a:sym typeface="Huawei Sans" panose="020C0503030203020204" pitchFamily="34" charset="0"/>
              </a:rPr>
              <a:t>Intranet</a:t>
            </a:r>
            <a:r>
              <a:rPr lang="zh-CN" altLang="en-US" smtClean="0">
                <a:sym typeface="Huawei Sans" panose="020C0503030203020204" pitchFamily="34" charset="0"/>
              </a:rPr>
              <a:t>方案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部署</a:t>
            </a:r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的</a:t>
            </a:r>
            <a:r>
              <a:rPr lang="en-US" altLang="zh-CN" smtClean="0">
                <a:sym typeface="Huawei Sans" panose="020C0503030203020204" pitchFamily="34" charset="0"/>
              </a:rPr>
              <a:t>Hub&amp;Spoke</a:t>
            </a:r>
            <a:r>
              <a:rPr lang="zh-CN" altLang="en-US" smtClean="0">
                <a:sym typeface="Huawei Sans" panose="020C0503030203020204" pitchFamily="34" charset="0"/>
              </a:rPr>
              <a:t>方案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描述</a:t>
            </a:r>
            <a:r>
              <a:rPr lang="en-US" altLang="zh-CN" smtClean="0">
                <a:sym typeface="Huawei Sans" panose="020C0503030203020204" pitchFamily="34" charset="0"/>
              </a:rPr>
              <a:t>OSPF</a:t>
            </a:r>
            <a:r>
              <a:rPr lang="zh-CN" altLang="en-US" smtClean="0">
                <a:sym typeface="Huawei Sans" panose="020C0503030203020204" pitchFamily="34" charset="0"/>
              </a:rPr>
              <a:t>对</a:t>
            </a:r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扩展功能与特性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6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dirty="0" smtClean="0">
                <a:sym typeface="Huawei Sans" panose="020C0503030203020204" pitchFamily="34" charset="0"/>
              </a:rPr>
              <a:t>MPLS VPN</a:t>
            </a:r>
            <a:r>
              <a:rPr lang="zh-CN" altLang="en-US" b="1" dirty="0" smtClean="0">
                <a:sym typeface="Huawei Sans" panose="020C0503030203020204" pitchFamily="34" charset="0"/>
              </a:rPr>
              <a:t>应用与组网概述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典型应用场景与部署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拓展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2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典型应用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目前，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的主要应用包括企业互连和虚拟业务网络。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企业互连应用：可通过</a:t>
            </a:r>
            <a:r>
              <a:rPr lang="en-US" altLang="zh-CN" sz="16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600" dirty="0" smtClean="0">
                <a:sym typeface="Huawei Sans" panose="020C0503030203020204" pitchFamily="34" charset="0"/>
              </a:rPr>
              <a:t>将分布在各地的分支机构和合作伙伴的</a:t>
            </a:r>
            <a:r>
              <a:rPr lang="en-US" altLang="zh-CN" sz="1600" dirty="0" smtClean="0"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sym typeface="Huawei Sans" panose="020C0503030203020204" pitchFamily="34" charset="0"/>
              </a:rPr>
              <a:t>网络连接在一起；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虚拟业务网络：可在同一物理网络上运行多种业务，如</a:t>
            </a:r>
            <a:r>
              <a:rPr lang="en-US" altLang="zh-CN" sz="1600" dirty="0" smtClean="0">
                <a:sym typeface="Huawei Sans" panose="020C0503030203020204" pitchFamily="34" charset="0"/>
              </a:rPr>
              <a:t>VoIP</a:t>
            </a:r>
            <a:r>
              <a:rPr lang="zh-CN" altLang="en-US" sz="1600" dirty="0" smtClean="0">
                <a:sym typeface="Huawei Sans" panose="020C0503030203020204" pitchFamily="34" charset="0"/>
              </a:rPr>
              <a:t>、</a:t>
            </a:r>
            <a:r>
              <a:rPr lang="en-US" altLang="zh-CN" sz="1600" dirty="0" smtClean="0">
                <a:sym typeface="Huawei Sans" panose="020C0503030203020204" pitchFamily="34" charset="0"/>
              </a:rPr>
              <a:t>IPTV</a:t>
            </a:r>
            <a:r>
              <a:rPr lang="zh-CN" altLang="en-US" sz="1600" dirty="0" smtClean="0">
                <a:sym typeface="Huawei Sans" panose="020C0503030203020204" pitchFamily="34" charset="0"/>
              </a:rPr>
              <a:t>等，为每个业务建立一个</a:t>
            </a:r>
            <a:r>
              <a:rPr lang="en-US" altLang="zh-CN" sz="1600" dirty="0" smtClean="0">
                <a:sym typeface="Huawei Sans" panose="020C0503030203020204" pitchFamily="34" charset="0"/>
              </a:rPr>
              <a:t>VPN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，实现业务隔离。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89" name="Freeform 159"/>
          <p:cNvSpPr/>
          <p:nvPr/>
        </p:nvSpPr>
        <p:spPr bwMode="gray">
          <a:xfrm flipH="1">
            <a:off x="4928740" y="5053785"/>
            <a:ext cx="1071360" cy="56003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Freeform 159"/>
          <p:cNvSpPr/>
          <p:nvPr/>
        </p:nvSpPr>
        <p:spPr bwMode="gray">
          <a:xfrm flipH="1">
            <a:off x="4928740" y="3961388"/>
            <a:ext cx="1071360" cy="56003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Freeform 159"/>
          <p:cNvSpPr/>
          <p:nvPr/>
        </p:nvSpPr>
        <p:spPr bwMode="gray">
          <a:xfrm flipH="1">
            <a:off x="487016" y="4491051"/>
            <a:ext cx="1071360" cy="56003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1656842" y="3999756"/>
            <a:ext cx="3329693" cy="1967802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" name="直接连接符 11"/>
          <p:cNvCxnSpPr>
            <a:stCxn id="7" idx="1"/>
            <a:endCxn id="5" idx="3"/>
          </p:cNvCxnSpPr>
          <p:nvPr/>
        </p:nvCxnSpPr>
        <p:spPr bwMode="gray">
          <a:xfrm flipH="1">
            <a:off x="2009160" y="4310705"/>
            <a:ext cx="478930" cy="5498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8" idx="1"/>
            <a:endCxn id="7" idx="3"/>
          </p:cNvCxnSpPr>
          <p:nvPr/>
        </p:nvCxnSpPr>
        <p:spPr bwMode="gray">
          <a:xfrm flipH="1">
            <a:off x="3028090" y="4310705"/>
            <a:ext cx="5276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7" idx="2"/>
            <a:endCxn id="10" idx="0"/>
          </p:cNvCxnSpPr>
          <p:nvPr/>
        </p:nvCxnSpPr>
        <p:spPr bwMode="gray">
          <a:xfrm>
            <a:off x="2758090" y="4531614"/>
            <a:ext cx="0" cy="657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0" idx="3"/>
            <a:endCxn id="11" idx="1"/>
          </p:cNvCxnSpPr>
          <p:nvPr/>
        </p:nvCxnSpPr>
        <p:spPr bwMode="gray">
          <a:xfrm>
            <a:off x="3028090" y="5410473"/>
            <a:ext cx="5276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1" idx="0"/>
            <a:endCxn id="8" idx="2"/>
          </p:cNvCxnSpPr>
          <p:nvPr/>
        </p:nvCxnSpPr>
        <p:spPr bwMode="gray">
          <a:xfrm flipV="1">
            <a:off x="3825750" y="4531614"/>
            <a:ext cx="0" cy="657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8" idx="3"/>
            <a:endCxn id="6" idx="1"/>
          </p:cNvCxnSpPr>
          <p:nvPr/>
        </p:nvCxnSpPr>
        <p:spPr bwMode="gray">
          <a:xfrm>
            <a:off x="4095750" y="4310705"/>
            <a:ext cx="5276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11" idx="3"/>
            <a:endCxn id="9" idx="1"/>
          </p:cNvCxnSpPr>
          <p:nvPr/>
        </p:nvCxnSpPr>
        <p:spPr bwMode="gray">
          <a:xfrm>
            <a:off x="4095750" y="5410473"/>
            <a:ext cx="5642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 bwMode="gray">
          <a:xfrm>
            <a:off x="2489002" y="5659781"/>
            <a:ext cx="159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VPN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 bwMode="gray">
          <a:xfrm>
            <a:off x="2748499" y="4310705"/>
            <a:ext cx="1077251" cy="10997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 bwMode="gray">
          <a:xfrm flipV="1">
            <a:off x="2777271" y="4277914"/>
            <a:ext cx="1058070" cy="1132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 bwMode="gray">
          <a:xfrm>
            <a:off x="3816159" y="4310704"/>
            <a:ext cx="1170377" cy="10997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469160" y="4639680"/>
            <a:ext cx="540000" cy="441818"/>
          </a:xfrm>
          <a:prstGeom prst="rect">
            <a:avLst/>
          </a:prstGeom>
          <a:noFill/>
        </p:spPr>
      </p:pic>
      <p:grpSp>
        <p:nvGrpSpPr>
          <p:cNvPr id="26" name="组合 25"/>
          <p:cNvGrpSpPr/>
          <p:nvPr/>
        </p:nvGrpSpPr>
        <p:grpSpPr bwMode="gray">
          <a:xfrm>
            <a:off x="4623410" y="4089796"/>
            <a:ext cx="576554" cy="1541586"/>
            <a:chOff x="4947767" y="3854902"/>
            <a:chExt cx="576554" cy="1541586"/>
          </a:xfrm>
        </p:grpSpPr>
        <p:pic>
          <p:nvPicPr>
            <p:cNvPr id="6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47767" y="3854902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84321" y="4954670"/>
              <a:ext cx="540000" cy="441818"/>
            </a:xfrm>
            <a:prstGeom prst="rect">
              <a:avLst/>
            </a:prstGeom>
            <a:noFill/>
          </p:spPr>
        </p:pic>
      </p:grpSp>
      <p:grpSp>
        <p:nvGrpSpPr>
          <p:cNvPr id="24" name="组合 23"/>
          <p:cNvGrpSpPr/>
          <p:nvPr/>
        </p:nvGrpSpPr>
        <p:grpSpPr bwMode="gray">
          <a:xfrm>
            <a:off x="2488090" y="4089796"/>
            <a:ext cx="540000" cy="1541586"/>
            <a:chOff x="2561628" y="3854902"/>
            <a:chExt cx="540000" cy="1541586"/>
          </a:xfrm>
        </p:grpSpPr>
        <p:pic>
          <p:nvPicPr>
            <p:cNvPr id="7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3854902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10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4954670"/>
              <a:ext cx="540000" cy="441818"/>
            </a:xfrm>
            <a:prstGeom prst="rect">
              <a:avLst/>
            </a:prstGeom>
            <a:noFill/>
          </p:spPr>
        </p:pic>
      </p:grpSp>
      <p:grpSp>
        <p:nvGrpSpPr>
          <p:cNvPr id="25" name="组合 24"/>
          <p:cNvGrpSpPr/>
          <p:nvPr/>
        </p:nvGrpSpPr>
        <p:grpSpPr bwMode="gray">
          <a:xfrm>
            <a:off x="3555750" y="4089796"/>
            <a:ext cx="540000" cy="1541586"/>
            <a:chOff x="3917984" y="3854902"/>
            <a:chExt cx="540000" cy="1541586"/>
          </a:xfrm>
        </p:grpSpPr>
        <p:pic>
          <p:nvPicPr>
            <p:cNvPr id="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17984" y="3854902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11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17984" y="4954670"/>
              <a:ext cx="540000" cy="441818"/>
            </a:xfrm>
            <a:prstGeom prst="rect">
              <a:avLst/>
            </a:prstGeom>
            <a:noFill/>
          </p:spPr>
        </p:pic>
      </p:grpSp>
      <p:sp>
        <p:nvSpPr>
          <p:cNvPr id="86" name="文本框 85"/>
          <p:cNvSpPr txBox="1"/>
          <p:nvPr/>
        </p:nvSpPr>
        <p:spPr bwMode="gray">
          <a:xfrm>
            <a:off x="616021" y="4659528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A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5102102" y="4116280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B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5102102" y="5208677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C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Can 9"/>
          <p:cNvSpPr>
            <a:spLocks/>
          </p:cNvSpPr>
          <p:nvPr/>
        </p:nvSpPr>
        <p:spPr bwMode="gray">
          <a:xfrm rot="5400000">
            <a:off x="3106793" y="1842021"/>
            <a:ext cx="273530" cy="3160823"/>
          </a:xfrm>
          <a:prstGeom prst="can">
            <a:avLst>
              <a:gd name="adj" fmla="val 40000"/>
            </a:avLst>
          </a:prstGeom>
          <a:solidFill>
            <a:srgbClr val="D0E8C4"/>
          </a:solidFill>
          <a:ln w="12700">
            <a:solidFill>
              <a:srgbClr val="AFD8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矩形 100"/>
          <p:cNvSpPr/>
          <p:nvPr/>
        </p:nvSpPr>
        <p:spPr bwMode="gray">
          <a:xfrm>
            <a:off x="2295222" y="3277957"/>
            <a:ext cx="18966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B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Can 9"/>
          <p:cNvSpPr>
            <a:spLocks/>
          </p:cNvSpPr>
          <p:nvPr/>
        </p:nvSpPr>
        <p:spPr bwMode="gray">
          <a:xfrm rot="5400000">
            <a:off x="3106793" y="2197532"/>
            <a:ext cx="273530" cy="3160823"/>
          </a:xfrm>
          <a:prstGeom prst="can">
            <a:avLst>
              <a:gd name="adj" fmla="val 40000"/>
            </a:avLst>
          </a:prstGeom>
          <a:solidFill>
            <a:srgbClr val="FEEEC1"/>
          </a:solidFill>
          <a:ln w="12700">
            <a:solidFill>
              <a:srgbClr val="FDE3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2294420" y="3636492"/>
            <a:ext cx="18982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C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Freeform 159"/>
          <p:cNvSpPr/>
          <p:nvPr/>
        </p:nvSpPr>
        <p:spPr bwMode="gray">
          <a:xfrm flipH="1">
            <a:off x="10570064" y="5053785"/>
            <a:ext cx="1071360" cy="56003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Freeform 159"/>
          <p:cNvSpPr/>
          <p:nvPr/>
        </p:nvSpPr>
        <p:spPr bwMode="gray">
          <a:xfrm flipH="1">
            <a:off x="10570064" y="3961388"/>
            <a:ext cx="1071360" cy="56003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Freeform 159"/>
          <p:cNvSpPr/>
          <p:nvPr/>
        </p:nvSpPr>
        <p:spPr bwMode="gray">
          <a:xfrm flipH="1">
            <a:off x="6128340" y="4491051"/>
            <a:ext cx="1071360" cy="56003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圆角矩形 106"/>
          <p:cNvSpPr/>
          <p:nvPr/>
        </p:nvSpPr>
        <p:spPr bwMode="gray">
          <a:xfrm>
            <a:off x="7298166" y="3999756"/>
            <a:ext cx="3329693" cy="1967802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8" name="直接连接符 107"/>
          <p:cNvCxnSpPr>
            <a:stCxn id="124" idx="1"/>
            <a:endCxn id="119" idx="3"/>
          </p:cNvCxnSpPr>
          <p:nvPr/>
        </p:nvCxnSpPr>
        <p:spPr bwMode="gray">
          <a:xfrm flipH="1">
            <a:off x="7650484" y="4310705"/>
            <a:ext cx="478930" cy="549884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127" idx="1"/>
            <a:endCxn id="124" idx="3"/>
          </p:cNvCxnSpPr>
          <p:nvPr/>
        </p:nvCxnSpPr>
        <p:spPr bwMode="gray">
          <a:xfrm flipH="1">
            <a:off x="8669414" y="4310705"/>
            <a:ext cx="527660" cy="0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stCxn id="124" idx="2"/>
            <a:endCxn id="125" idx="0"/>
          </p:cNvCxnSpPr>
          <p:nvPr/>
        </p:nvCxnSpPr>
        <p:spPr bwMode="gray">
          <a:xfrm>
            <a:off x="8399414" y="4531614"/>
            <a:ext cx="0" cy="657950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125" idx="3"/>
            <a:endCxn id="128" idx="1"/>
          </p:cNvCxnSpPr>
          <p:nvPr/>
        </p:nvCxnSpPr>
        <p:spPr bwMode="gray">
          <a:xfrm>
            <a:off x="8669414" y="5410473"/>
            <a:ext cx="527660" cy="0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>
            <a:stCxn id="128" idx="0"/>
            <a:endCxn id="127" idx="2"/>
          </p:cNvCxnSpPr>
          <p:nvPr/>
        </p:nvCxnSpPr>
        <p:spPr bwMode="gray">
          <a:xfrm flipV="1">
            <a:off x="9467074" y="4531614"/>
            <a:ext cx="0" cy="657950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127" idx="3"/>
            <a:endCxn id="121" idx="1"/>
          </p:cNvCxnSpPr>
          <p:nvPr/>
        </p:nvCxnSpPr>
        <p:spPr bwMode="gray">
          <a:xfrm>
            <a:off x="9737074" y="4310705"/>
            <a:ext cx="527660" cy="0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28" idx="3"/>
            <a:endCxn id="122" idx="1"/>
          </p:cNvCxnSpPr>
          <p:nvPr/>
        </p:nvCxnSpPr>
        <p:spPr bwMode="gray">
          <a:xfrm>
            <a:off x="9737074" y="5410473"/>
            <a:ext cx="564214" cy="0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 bwMode="gray">
          <a:xfrm>
            <a:off x="8130326" y="5659781"/>
            <a:ext cx="1590500" cy="307777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VPN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6" name="直接连接符 115"/>
          <p:cNvCxnSpPr/>
          <p:nvPr/>
        </p:nvCxnSpPr>
        <p:spPr bwMode="gray">
          <a:xfrm>
            <a:off x="8389823" y="4310705"/>
            <a:ext cx="1077251" cy="1099768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 bwMode="gray">
          <a:xfrm flipV="1">
            <a:off x="8418595" y="4277914"/>
            <a:ext cx="1058070" cy="1132560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 bwMode="gray">
          <a:xfrm>
            <a:off x="9457483" y="4310704"/>
            <a:ext cx="1170377" cy="1099769"/>
          </a:xfrm>
          <a:prstGeom prst="line">
            <a:avLst/>
          </a:prstGeom>
          <a:solidFill>
            <a:srgbClr val="BEE9EE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110484" y="4639680"/>
            <a:ext cx="540000" cy="441818"/>
          </a:xfrm>
          <a:prstGeom prst="rect">
            <a:avLst/>
          </a:prstGeom>
          <a:solidFill>
            <a:srgbClr val="BEE9EE"/>
          </a:solidFill>
          <a:ln>
            <a:noFill/>
          </a:ln>
        </p:spPr>
      </p:pic>
      <p:grpSp>
        <p:nvGrpSpPr>
          <p:cNvPr id="120" name="组合 119"/>
          <p:cNvGrpSpPr/>
          <p:nvPr/>
        </p:nvGrpSpPr>
        <p:grpSpPr bwMode="gray">
          <a:xfrm>
            <a:off x="10264734" y="4089796"/>
            <a:ext cx="576554" cy="1541586"/>
            <a:chOff x="4947767" y="3854902"/>
            <a:chExt cx="576554" cy="1541586"/>
          </a:xfrm>
          <a:solidFill>
            <a:srgbClr val="BEE9EE"/>
          </a:solidFill>
        </p:grpSpPr>
        <p:pic>
          <p:nvPicPr>
            <p:cNvPr id="121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47767" y="3854902"/>
              <a:ext cx="540000" cy="441818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22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84321" y="4954670"/>
              <a:ext cx="540000" cy="441818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23" name="组合 122"/>
          <p:cNvGrpSpPr/>
          <p:nvPr/>
        </p:nvGrpSpPr>
        <p:grpSpPr bwMode="gray">
          <a:xfrm>
            <a:off x="8129414" y="4089796"/>
            <a:ext cx="540000" cy="1541586"/>
            <a:chOff x="2561628" y="3854902"/>
            <a:chExt cx="540000" cy="1541586"/>
          </a:xfrm>
          <a:solidFill>
            <a:srgbClr val="BEE9EE"/>
          </a:solidFill>
        </p:grpSpPr>
        <p:pic>
          <p:nvPicPr>
            <p:cNvPr id="124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3854902"/>
              <a:ext cx="540000" cy="441818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25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4954670"/>
              <a:ext cx="540000" cy="441818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26" name="组合 125"/>
          <p:cNvGrpSpPr/>
          <p:nvPr/>
        </p:nvGrpSpPr>
        <p:grpSpPr bwMode="gray">
          <a:xfrm>
            <a:off x="9197074" y="4089796"/>
            <a:ext cx="540000" cy="1541586"/>
            <a:chOff x="3917984" y="3854902"/>
            <a:chExt cx="540000" cy="1541586"/>
          </a:xfrm>
          <a:solidFill>
            <a:srgbClr val="BEE9EE"/>
          </a:solidFill>
        </p:grpSpPr>
        <p:pic>
          <p:nvPicPr>
            <p:cNvPr id="127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17984" y="3854902"/>
              <a:ext cx="540000" cy="441818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2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17984" y="4954670"/>
              <a:ext cx="540000" cy="441818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29" name="文本框 128"/>
          <p:cNvSpPr txBox="1"/>
          <p:nvPr/>
        </p:nvSpPr>
        <p:spPr bwMode="gray">
          <a:xfrm>
            <a:off x="6257345" y="4659528"/>
            <a:ext cx="79541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A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文本框 129"/>
          <p:cNvSpPr txBox="1"/>
          <p:nvPr/>
        </p:nvSpPr>
        <p:spPr bwMode="gray">
          <a:xfrm>
            <a:off x="10743426" y="4116280"/>
            <a:ext cx="7841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B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文本框 130"/>
          <p:cNvSpPr txBox="1"/>
          <p:nvPr/>
        </p:nvSpPr>
        <p:spPr bwMode="gray">
          <a:xfrm>
            <a:off x="10743426" y="5208677"/>
            <a:ext cx="78579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C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2" name="Can 9"/>
          <p:cNvSpPr>
            <a:spLocks/>
          </p:cNvSpPr>
          <p:nvPr/>
        </p:nvSpPr>
        <p:spPr bwMode="gray">
          <a:xfrm rot="5400000">
            <a:off x="8748117" y="1842021"/>
            <a:ext cx="273530" cy="3160823"/>
          </a:xfrm>
          <a:prstGeom prst="can">
            <a:avLst>
              <a:gd name="adj" fmla="val 40000"/>
            </a:avLst>
          </a:prstGeom>
          <a:solidFill>
            <a:srgbClr val="D0E8C4"/>
          </a:solidFill>
          <a:ln w="12700">
            <a:solidFill>
              <a:srgbClr val="AFD8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矩形 132"/>
          <p:cNvSpPr/>
          <p:nvPr/>
        </p:nvSpPr>
        <p:spPr bwMode="gray">
          <a:xfrm>
            <a:off x="8138524" y="3277957"/>
            <a:ext cx="14927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语音业务的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Can 9"/>
          <p:cNvSpPr>
            <a:spLocks/>
          </p:cNvSpPr>
          <p:nvPr/>
        </p:nvSpPr>
        <p:spPr bwMode="gray">
          <a:xfrm rot="5400000">
            <a:off x="8748117" y="2197532"/>
            <a:ext cx="273530" cy="3160823"/>
          </a:xfrm>
          <a:prstGeom prst="can">
            <a:avLst>
              <a:gd name="adj" fmla="val 40000"/>
            </a:avLst>
          </a:prstGeom>
          <a:solidFill>
            <a:srgbClr val="FEEEC1"/>
          </a:solidFill>
          <a:ln w="12700">
            <a:solidFill>
              <a:srgbClr val="FDE3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矩形 134"/>
          <p:cNvSpPr/>
          <p:nvPr/>
        </p:nvSpPr>
        <p:spPr bwMode="gray">
          <a:xfrm>
            <a:off x="8138524" y="3636492"/>
            <a:ext cx="14927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视频会议的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9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基本组网：</a:t>
            </a:r>
            <a:r>
              <a:rPr lang="en-US" altLang="zh-CN" dirty="0" smtClean="0">
                <a:sym typeface="Huawei Sans" panose="020C0503030203020204" pitchFamily="34" charset="0"/>
              </a:rPr>
              <a:t>Intranet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69" name="文本占位符 16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当采用</a:t>
            </a:r>
            <a:r>
              <a:rPr lang="en-US" altLang="zh-CN" sz="1800" smtClean="0">
                <a:sym typeface="Huawei Sans" panose="020C0503030203020204" pitchFamily="34" charset="0"/>
              </a:rPr>
              <a:t>Intranet</a:t>
            </a:r>
            <a:r>
              <a:rPr lang="zh-CN" altLang="en-US" sz="1800" smtClean="0">
                <a:sym typeface="Huawei Sans" panose="020C0503030203020204" pitchFamily="34" charset="0"/>
              </a:rPr>
              <a:t>组网方案时，一个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中的所有用户形成闭合用户群，相互之间能够进行流量转发，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中的用户不能与任何本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以外的用户通信，其站点通常是属于同一个组织。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0" name="圆角矩形 59"/>
          <p:cNvSpPr/>
          <p:nvPr/>
        </p:nvSpPr>
        <p:spPr bwMode="gray">
          <a:xfrm>
            <a:off x="2869117" y="3226400"/>
            <a:ext cx="2152916" cy="1825378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直接连接符 62"/>
          <p:cNvCxnSpPr>
            <a:stCxn id="67" idx="3"/>
            <a:endCxn id="69" idx="1"/>
          </p:cNvCxnSpPr>
          <p:nvPr/>
        </p:nvCxnSpPr>
        <p:spPr bwMode="gray">
          <a:xfrm>
            <a:off x="3116797" y="3998035"/>
            <a:ext cx="1646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93938" y="3777126"/>
            <a:ext cx="540000" cy="441818"/>
          </a:xfrm>
          <a:prstGeom prst="rect">
            <a:avLst/>
          </a:prstGeom>
          <a:noFill/>
        </p:spPr>
      </p:pic>
      <p:sp>
        <p:nvSpPr>
          <p:cNvPr id="72" name="文本框 71"/>
          <p:cNvSpPr txBox="1"/>
          <p:nvPr/>
        </p:nvSpPr>
        <p:spPr bwMode="gray">
          <a:xfrm>
            <a:off x="3817904" y="419327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763324" y="3777126"/>
            <a:ext cx="540000" cy="441818"/>
          </a:xfrm>
          <a:prstGeom prst="rect">
            <a:avLst/>
          </a:prstGeom>
          <a:noFill/>
        </p:spPr>
      </p:pic>
      <p:sp>
        <p:nvSpPr>
          <p:cNvPr id="70" name="文本框 69"/>
          <p:cNvSpPr txBox="1"/>
          <p:nvPr/>
        </p:nvSpPr>
        <p:spPr bwMode="gray">
          <a:xfrm>
            <a:off x="4785492" y="4184153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576797" y="3777126"/>
            <a:ext cx="540000" cy="441818"/>
          </a:xfrm>
          <a:prstGeom prst="rect">
            <a:avLst/>
          </a:prstGeom>
          <a:noFill/>
        </p:spPr>
      </p:pic>
      <p:sp>
        <p:nvSpPr>
          <p:cNvPr id="68" name="文本框 67"/>
          <p:cNvSpPr txBox="1"/>
          <p:nvPr/>
        </p:nvSpPr>
        <p:spPr bwMode="gray">
          <a:xfrm>
            <a:off x="2654276" y="4193275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42950" y="3350714"/>
            <a:ext cx="540000" cy="441818"/>
          </a:xfrm>
          <a:prstGeom prst="rect">
            <a:avLst/>
          </a:prstGeom>
          <a:noFill/>
        </p:spPr>
      </p:pic>
      <p:sp>
        <p:nvSpPr>
          <p:cNvPr id="75" name="文本框 74"/>
          <p:cNvSpPr txBox="1"/>
          <p:nvPr/>
        </p:nvSpPr>
        <p:spPr bwMode="gray">
          <a:xfrm>
            <a:off x="1791576" y="3755512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圆角矩形 75"/>
          <p:cNvSpPr>
            <a:spLocks/>
          </p:cNvSpPr>
          <p:nvPr/>
        </p:nvSpPr>
        <p:spPr bwMode="gray">
          <a:xfrm>
            <a:off x="1070831" y="3271869"/>
            <a:ext cx="1338799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31126" y="4438585"/>
            <a:ext cx="540000" cy="441818"/>
          </a:xfrm>
          <a:prstGeom prst="rect">
            <a:avLst/>
          </a:prstGeom>
          <a:noFill/>
        </p:spPr>
      </p:pic>
      <p:sp>
        <p:nvSpPr>
          <p:cNvPr id="79" name="文本框 78"/>
          <p:cNvSpPr txBox="1"/>
          <p:nvPr/>
        </p:nvSpPr>
        <p:spPr bwMode="gray">
          <a:xfrm>
            <a:off x="1805014" y="4821625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圆角矩形 80"/>
          <p:cNvSpPr>
            <a:spLocks/>
          </p:cNvSpPr>
          <p:nvPr/>
        </p:nvSpPr>
        <p:spPr bwMode="gray">
          <a:xfrm>
            <a:off x="1085162" y="4376561"/>
            <a:ext cx="1338799" cy="730878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圆角矩形 82"/>
          <p:cNvSpPr>
            <a:spLocks/>
          </p:cNvSpPr>
          <p:nvPr/>
        </p:nvSpPr>
        <p:spPr bwMode="gray">
          <a:xfrm flipH="1">
            <a:off x="5481105" y="3271869"/>
            <a:ext cx="1358670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圆角矩形 87"/>
          <p:cNvSpPr>
            <a:spLocks/>
          </p:cNvSpPr>
          <p:nvPr/>
        </p:nvSpPr>
        <p:spPr bwMode="gray">
          <a:xfrm flipH="1">
            <a:off x="5500617" y="4376561"/>
            <a:ext cx="1339157" cy="730878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连接符 88"/>
          <p:cNvCxnSpPr>
            <a:stCxn id="74" idx="3"/>
            <a:endCxn id="67" idx="1"/>
          </p:cNvCxnSpPr>
          <p:nvPr/>
        </p:nvCxnSpPr>
        <p:spPr bwMode="gray">
          <a:xfrm>
            <a:off x="2282950" y="3571623"/>
            <a:ext cx="293847" cy="426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78" idx="3"/>
            <a:endCxn id="67" idx="1"/>
          </p:cNvCxnSpPr>
          <p:nvPr/>
        </p:nvCxnSpPr>
        <p:spPr bwMode="gray">
          <a:xfrm flipV="1">
            <a:off x="2271126" y="3998035"/>
            <a:ext cx="305671" cy="6614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>
            <a:stCxn id="69" idx="3"/>
            <a:endCxn id="100" idx="1"/>
          </p:cNvCxnSpPr>
          <p:nvPr/>
        </p:nvCxnSpPr>
        <p:spPr bwMode="gray">
          <a:xfrm flipV="1">
            <a:off x="5303324" y="3565947"/>
            <a:ext cx="323597" cy="4320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69" idx="3"/>
            <a:endCxn id="104" idx="1"/>
          </p:cNvCxnSpPr>
          <p:nvPr/>
        </p:nvCxnSpPr>
        <p:spPr bwMode="gray">
          <a:xfrm>
            <a:off x="5303324" y="3998035"/>
            <a:ext cx="336244" cy="6528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626921" y="3345038"/>
            <a:ext cx="540000" cy="441818"/>
          </a:xfrm>
          <a:prstGeom prst="rect">
            <a:avLst/>
          </a:prstGeom>
          <a:noFill/>
        </p:spPr>
      </p:pic>
      <p:sp>
        <p:nvSpPr>
          <p:cNvPr id="101" name="文本框 100"/>
          <p:cNvSpPr txBox="1"/>
          <p:nvPr/>
        </p:nvSpPr>
        <p:spPr bwMode="gray">
          <a:xfrm>
            <a:off x="5702853" y="3735058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639568" y="4429942"/>
            <a:ext cx="540000" cy="441818"/>
          </a:xfrm>
          <a:prstGeom prst="rect">
            <a:avLst/>
          </a:prstGeom>
          <a:noFill/>
        </p:spPr>
      </p:pic>
      <p:sp>
        <p:nvSpPr>
          <p:cNvPr id="106" name="文本框 105"/>
          <p:cNvSpPr txBox="1"/>
          <p:nvPr/>
        </p:nvSpPr>
        <p:spPr bwMode="gray">
          <a:xfrm>
            <a:off x="5714954" y="4871760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矩形 123"/>
          <p:cNvSpPr/>
          <p:nvPr/>
        </p:nvSpPr>
        <p:spPr bwMode="gray">
          <a:xfrm>
            <a:off x="1987303" y="2338714"/>
            <a:ext cx="1693092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1424182" y="2997173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文本框 124"/>
          <p:cNvSpPr txBox="1"/>
          <p:nvPr/>
        </p:nvSpPr>
        <p:spPr bwMode="gray">
          <a:xfrm>
            <a:off x="5830061" y="2997173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 bwMode="gray">
          <a:xfrm>
            <a:off x="1424182" y="5106237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文本框 126"/>
          <p:cNvSpPr txBox="1"/>
          <p:nvPr/>
        </p:nvSpPr>
        <p:spPr bwMode="gray">
          <a:xfrm>
            <a:off x="5830061" y="5106237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1132015" y="3470555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6135122" y="3470555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 bwMode="gray">
          <a:xfrm>
            <a:off x="1146244" y="453701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文本框 134"/>
          <p:cNvSpPr txBox="1"/>
          <p:nvPr/>
        </p:nvSpPr>
        <p:spPr bwMode="gray">
          <a:xfrm>
            <a:off x="6149351" y="453701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2000846" y="2342506"/>
            <a:ext cx="1693092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1:1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0" name="矩形 139"/>
          <p:cNvSpPr/>
          <p:nvPr/>
        </p:nvSpPr>
        <p:spPr bwMode="gray">
          <a:xfrm>
            <a:off x="4175487" y="2358661"/>
            <a:ext cx="1693092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文本框 141"/>
          <p:cNvSpPr txBox="1"/>
          <p:nvPr/>
        </p:nvSpPr>
        <p:spPr bwMode="gray">
          <a:xfrm>
            <a:off x="4175487" y="2362453"/>
            <a:ext cx="1693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1:2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3" name="矩形 142"/>
          <p:cNvSpPr/>
          <p:nvPr/>
        </p:nvSpPr>
        <p:spPr bwMode="gray">
          <a:xfrm>
            <a:off x="1804598" y="5370817"/>
            <a:ext cx="1693092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文本框 143"/>
          <p:cNvSpPr txBox="1"/>
          <p:nvPr/>
        </p:nvSpPr>
        <p:spPr bwMode="gray">
          <a:xfrm>
            <a:off x="1804598" y="5374609"/>
            <a:ext cx="1693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2:1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8" name="矩形 157"/>
          <p:cNvSpPr/>
          <p:nvPr/>
        </p:nvSpPr>
        <p:spPr bwMode="gray">
          <a:xfrm>
            <a:off x="4099037" y="5406133"/>
            <a:ext cx="1693092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3" name="文本框 162"/>
          <p:cNvSpPr txBox="1"/>
          <p:nvPr/>
        </p:nvSpPr>
        <p:spPr bwMode="gray">
          <a:xfrm>
            <a:off x="4099037" y="5409925"/>
            <a:ext cx="1693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2:2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圆角矩形 75"/>
          <p:cNvSpPr/>
          <p:nvPr/>
        </p:nvSpPr>
        <p:spPr bwMode="gray">
          <a:xfrm>
            <a:off x="7457738" y="3327570"/>
            <a:ext cx="3870662" cy="1454219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每个站点创建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实例，并配置全网唯一的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通过配置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来控制不同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的站点做到无法互访。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2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基本组网：</a:t>
            </a:r>
            <a:r>
              <a:rPr lang="en-US" altLang="zh-CN" dirty="0" smtClean="0">
                <a:sym typeface="Huawei Sans" panose="020C0503030203020204" pitchFamily="34" charset="0"/>
              </a:rPr>
              <a:t>Extranet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69" name="文本占位符 16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当采用</a:t>
            </a:r>
            <a:r>
              <a:rPr lang="en-US" altLang="zh-CN" sz="1800" smtClean="0">
                <a:sym typeface="Huawei Sans" panose="020C0503030203020204" pitchFamily="34" charset="0"/>
              </a:rPr>
              <a:t>Extranet</a:t>
            </a:r>
            <a:r>
              <a:rPr lang="zh-CN" altLang="en-US" sz="1800" smtClean="0">
                <a:sym typeface="Huawei Sans" panose="020C0503030203020204" pitchFamily="34" charset="0"/>
              </a:rPr>
              <a:t>组网方案时，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用户可将部分站点中的网络资源给其他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用户进行访问。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0" name="圆角矩形 59"/>
          <p:cNvSpPr/>
          <p:nvPr/>
        </p:nvSpPr>
        <p:spPr bwMode="gray">
          <a:xfrm>
            <a:off x="2869117" y="3226400"/>
            <a:ext cx="2152916" cy="1825378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直接连接符 62"/>
          <p:cNvCxnSpPr>
            <a:stCxn id="67" idx="3"/>
          </p:cNvCxnSpPr>
          <p:nvPr/>
        </p:nvCxnSpPr>
        <p:spPr bwMode="gray">
          <a:xfrm>
            <a:off x="3174135" y="3565457"/>
            <a:ext cx="496893" cy="4390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93938" y="3777126"/>
            <a:ext cx="540000" cy="441818"/>
          </a:xfrm>
          <a:prstGeom prst="rect">
            <a:avLst/>
          </a:prstGeom>
          <a:noFill/>
        </p:spPr>
      </p:pic>
      <p:sp>
        <p:nvSpPr>
          <p:cNvPr id="72" name="文本框 71"/>
          <p:cNvSpPr txBox="1"/>
          <p:nvPr/>
        </p:nvSpPr>
        <p:spPr bwMode="gray">
          <a:xfrm>
            <a:off x="3817904" y="419327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763324" y="3777126"/>
            <a:ext cx="540000" cy="441818"/>
          </a:xfrm>
          <a:prstGeom prst="rect">
            <a:avLst/>
          </a:prstGeom>
          <a:noFill/>
        </p:spPr>
      </p:pic>
      <p:sp>
        <p:nvSpPr>
          <p:cNvPr id="70" name="文本框 69"/>
          <p:cNvSpPr txBox="1"/>
          <p:nvPr/>
        </p:nvSpPr>
        <p:spPr bwMode="gray">
          <a:xfrm>
            <a:off x="4785492" y="4184153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34135" y="3344548"/>
            <a:ext cx="540000" cy="441818"/>
          </a:xfrm>
          <a:prstGeom prst="rect">
            <a:avLst/>
          </a:prstGeom>
          <a:noFill/>
        </p:spPr>
      </p:pic>
      <p:sp>
        <p:nvSpPr>
          <p:cNvPr id="68" name="文本框 67"/>
          <p:cNvSpPr txBox="1"/>
          <p:nvPr/>
        </p:nvSpPr>
        <p:spPr bwMode="gray">
          <a:xfrm>
            <a:off x="2661120" y="3773914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42950" y="3350714"/>
            <a:ext cx="540000" cy="441818"/>
          </a:xfrm>
          <a:prstGeom prst="rect">
            <a:avLst/>
          </a:prstGeom>
          <a:noFill/>
        </p:spPr>
      </p:pic>
      <p:sp>
        <p:nvSpPr>
          <p:cNvPr id="75" name="文本框 74"/>
          <p:cNvSpPr txBox="1"/>
          <p:nvPr/>
        </p:nvSpPr>
        <p:spPr bwMode="gray">
          <a:xfrm>
            <a:off x="1791576" y="3755512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圆角矩形 75"/>
          <p:cNvSpPr>
            <a:spLocks/>
          </p:cNvSpPr>
          <p:nvPr/>
        </p:nvSpPr>
        <p:spPr bwMode="gray">
          <a:xfrm>
            <a:off x="1070831" y="3271869"/>
            <a:ext cx="1338799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31126" y="4438585"/>
            <a:ext cx="540000" cy="441818"/>
          </a:xfrm>
          <a:prstGeom prst="rect">
            <a:avLst/>
          </a:prstGeom>
          <a:noFill/>
        </p:spPr>
      </p:pic>
      <p:sp>
        <p:nvSpPr>
          <p:cNvPr id="79" name="文本框 78"/>
          <p:cNvSpPr txBox="1"/>
          <p:nvPr/>
        </p:nvSpPr>
        <p:spPr bwMode="gray">
          <a:xfrm>
            <a:off x="1805014" y="4821625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圆角矩形 80"/>
          <p:cNvSpPr>
            <a:spLocks/>
          </p:cNvSpPr>
          <p:nvPr/>
        </p:nvSpPr>
        <p:spPr bwMode="gray">
          <a:xfrm>
            <a:off x="1085162" y="4376561"/>
            <a:ext cx="1338799" cy="730878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圆角矩形 82"/>
          <p:cNvSpPr>
            <a:spLocks/>
          </p:cNvSpPr>
          <p:nvPr/>
        </p:nvSpPr>
        <p:spPr bwMode="gray">
          <a:xfrm flipH="1">
            <a:off x="5575190" y="3698273"/>
            <a:ext cx="1358670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连接符 88"/>
          <p:cNvCxnSpPr>
            <a:stCxn id="74" idx="3"/>
            <a:endCxn id="67" idx="1"/>
          </p:cNvCxnSpPr>
          <p:nvPr/>
        </p:nvCxnSpPr>
        <p:spPr bwMode="gray">
          <a:xfrm flipV="1">
            <a:off x="2282950" y="3565457"/>
            <a:ext cx="351185" cy="61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78" idx="3"/>
            <a:endCxn id="55" idx="1"/>
          </p:cNvCxnSpPr>
          <p:nvPr/>
        </p:nvCxnSpPr>
        <p:spPr bwMode="gray">
          <a:xfrm>
            <a:off x="2271126" y="4659494"/>
            <a:ext cx="363009" cy="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>
            <a:stCxn id="69" idx="3"/>
            <a:endCxn id="100" idx="1"/>
          </p:cNvCxnSpPr>
          <p:nvPr/>
        </p:nvCxnSpPr>
        <p:spPr bwMode="gray">
          <a:xfrm flipV="1">
            <a:off x="5303324" y="3992351"/>
            <a:ext cx="417682" cy="56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721006" y="3771442"/>
            <a:ext cx="540000" cy="441818"/>
          </a:xfrm>
          <a:prstGeom prst="rect">
            <a:avLst/>
          </a:prstGeom>
          <a:noFill/>
        </p:spPr>
      </p:pic>
      <p:sp>
        <p:nvSpPr>
          <p:cNvPr id="101" name="文本框 100"/>
          <p:cNvSpPr txBox="1"/>
          <p:nvPr/>
        </p:nvSpPr>
        <p:spPr bwMode="gray">
          <a:xfrm>
            <a:off x="5796938" y="4161462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矩形 123"/>
          <p:cNvSpPr/>
          <p:nvPr/>
        </p:nvSpPr>
        <p:spPr bwMode="gray">
          <a:xfrm>
            <a:off x="2000846" y="2338714"/>
            <a:ext cx="1693092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1424182" y="2997173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文本框 124"/>
          <p:cNvSpPr txBox="1"/>
          <p:nvPr/>
        </p:nvSpPr>
        <p:spPr bwMode="gray">
          <a:xfrm>
            <a:off x="5924146" y="3423577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 bwMode="gray">
          <a:xfrm>
            <a:off x="1424182" y="5106237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1132015" y="3470555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6229207" y="389695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 bwMode="gray">
          <a:xfrm>
            <a:off x="1146244" y="453701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2000846" y="2342506"/>
            <a:ext cx="1693092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1:1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0" name="矩形 139"/>
          <p:cNvSpPr/>
          <p:nvPr/>
        </p:nvSpPr>
        <p:spPr bwMode="gray">
          <a:xfrm>
            <a:off x="4215747" y="2361682"/>
            <a:ext cx="2354377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文本框 141"/>
          <p:cNvSpPr txBox="1"/>
          <p:nvPr/>
        </p:nvSpPr>
        <p:spPr bwMode="gray">
          <a:xfrm>
            <a:off x="4076957" y="2409355"/>
            <a:ext cx="2565926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1:2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圆角矩形 75"/>
          <p:cNvSpPr/>
          <p:nvPr/>
        </p:nvSpPr>
        <p:spPr bwMode="gray">
          <a:xfrm>
            <a:off x="7184099" y="2690785"/>
            <a:ext cx="4047395" cy="2441729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如图，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作为能被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访问的共享站点，需要保证：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lvl="1" indent="-285750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能够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接收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路由；</a:t>
            </a:r>
          </a:p>
          <a:p>
            <a:pPr marL="360000" lvl="1" indent="-285750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路由能够被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接收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；</a:t>
            </a:r>
          </a:p>
          <a:p>
            <a:pPr marL="360000" lvl="1" indent="-285750">
              <a:lnSpc>
                <a:spcPts val="2600"/>
              </a:lnSpc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把从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接收的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路由发布给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也不把从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接收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路由发布给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1804598" y="5370817"/>
            <a:ext cx="1693092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1804598" y="5374609"/>
            <a:ext cx="1693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2:1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34135" y="4438666"/>
            <a:ext cx="540000" cy="441818"/>
          </a:xfrm>
          <a:prstGeom prst="rect">
            <a:avLst/>
          </a:prstGeom>
          <a:noFill/>
        </p:spPr>
      </p:pic>
      <p:sp>
        <p:nvSpPr>
          <p:cNvPr id="56" name="文本框 55"/>
          <p:cNvSpPr txBox="1"/>
          <p:nvPr/>
        </p:nvSpPr>
        <p:spPr bwMode="gray">
          <a:xfrm>
            <a:off x="2661120" y="4868032"/>
            <a:ext cx="486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9" name="直接连接符 58"/>
          <p:cNvCxnSpPr>
            <a:stCxn id="71" idx="1"/>
            <a:endCxn id="55" idx="3"/>
          </p:cNvCxnSpPr>
          <p:nvPr/>
        </p:nvCxnSpPr>
        <p:spPr bwMode="gray">
          <a:xfrm flipH="1">
            <a:off x="3174135" y="3998035"/>
            <a:ext cx="519803" cy="661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69" idx="1"/>
            <a:endCxn id="71" idx="3"/>
          </p:cNvCxnSpPr>
          <p:nvPr/>
        </p:nvCxnSpPr>
        <p:spPr bwMode="gray">
          <a:xfrm flipH="1">
            <a:off x="4233938" y="3998035"/>
            <a:ext cx="5293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26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基本组网：</a:t>
            </a:r>
            <a:r>
              <a:rPr lang="en-US" altLang="zh-CN" dirty="0" err="1" smtClean="0">
                <a:sym typeface="Huawei Sans" panose="020C0503030203020204" pitchFamily="34" charset="0"/>
              </a:rPr>
              <a:t>Hub&amp;Spoke</a:t>
            </a:r>
            <a:r>
              <a:rPr lang="en-US" altLang="zh-CN" dirty="0" smtClean="0">
                <a:sym typeface="Huawei Sans" panose="020C0503030203020204" pitchFamily="34" charset="0"/>
              </a:rPr>
              <a:t> 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69" name="文本占位符 16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当采用</a:t>
            </a:r>
            <a:r>
              <a:rPr lang="en-US" altLang="zh-CN" sz="1800" smtClean="0">
                <a:sym typeface="Huawei Sans" panose="020C0503030203020204" pitchFamily="34" charset="0"/>
              </a:rPr>
              <a:t>Hub&amp;Spoke</a:t>
            </a:r>
            <a:r>
              <a:rPr lang="zh-CN" altLang="en-US" sz="1800" smtClean="0">
                <a:sym typeface="Huawei Sans" panose="020C0503030203020204" pitchFamily="34" charset="0"/>
              </a:rPr>
              <a:t>方案时，可以将多个站点中的一个站点设置为</a:t>
            </a:r>
            <a:r>
              <a:rPr lang="en-US" altLang="zh-CN" sz="1800" smtClean="0">
                <a:sym typeface="Huawei Sans" panose="020C0503030203020204" pitchFamily="34" charset="0"/>
              </a:rPr>
              <a:t>Hub</a:t>
            </a:r>
            <a:r>
              <a:rPr lang="zh-CN" altLang="en-US" sz="1800" smtClean="0">
                <a:sym typeface="Huawei Sans" panose="020C0503030203020204" pitchFamily="34" charset="0"/>
              </a:rPr>
              <a:t>站点，其余站点为</a:t>
            </a:r>
            <a:r>
              <a:rPr lang="en-US" altLang="zh-CN" sz="1800" smtClean="0">
                <a:sym typeface="Huawei Sans" panose="020C0503030203020204" pitchFamily="34" charset="0"/>
              </a:rPr>
              <a:t>Spoke</a:t>
            </a:r>
            <a:r>
              <a:rPr lang="zh-CN" altLang="en-US" sz="1800" smtClean="0">
                <a:sym typeface="Huawei Sans" panose="020C0503030203020204" pitchFamily="34" charset="0"/>
              </a:rPr>
              <a:t>站点。站点间的互访必须通过</a:t>
            </a:r>
            <a:r>
              <a:rPr lang="en-US" altLang="zh-CN" sz="1800" smtClean="0">
                <a:sym typeface="Huawei Sans" panose="020C0503030203020204" pitchFamily="34" charset="0"/>
              </a:rPr>
              <a:t>Hub</a:t>
            </a:r>
            <a:r>
              <a:rPr lang="zh-CN" altLang="en-US" sz="1800" smtClean="0">
                <a:sym typeface="Huawei Sans" panose="020C0503030203020204" pitchFamily="34" charset="0"/>
              </a:rPr>
              <a:t>站点，通过</a:t>
            </a:r>
            <a:r>
              <a:rPr lang="en-US" altLang="zh-CN" sz="1800" smtClean="0">
                <a:sym typeface="Huawei Sans" panose="020C0503030203020204" pitchFamily="34" charset="0"/>
              </a:rPr>
              <a:t>Hub</a:t>
            </a:r>
            <a:r>
              <a:rPr lang="zh-CN" altLang="en-US" sz="1800" smtClean="0">
                <a:sym typeface="Huawei Sans" panose="020C0503030203020204" pitchFamily="34" charset="0"/>
              </a:rPr>
              <a:t>站点集中管控站点间的数据传输。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0" name="圆角矩形 59"/>
          <p:cNvSpPr/>
          <p:nvPr/>
        </p:nvSpPr>
        <p:spPr bwMode="gray">
          <a:xfrm>
            <a:off x="2869117" y="3226400"/>
            <a:ext cx="2152916" cy="1825378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直接连接符 62"/>
          <p:cNvCxnSpPr>
            <a:stCxn id="67" idx="3"/>
          </p:cNvCxnSpPr>
          <p:nvPr/>
        </p:nvCxnSpPr>
        <p:spPr bwMode="gray">
          <a:xfrm>
            <a:off x="3174135" y="3565457"/>
            <a:ext cx="496893" cy="43909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93938" y="3777126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2" name="文本框 71"/>
          <p:cNvSpPr txBox="1"/>
          <p:nvPr/>
        </p:nvSpPr>
        <p:spPr bwMode="gray">
          <a:xfrm>
            <a:off x="3817904" y="4193275"/>
            <a:ext cx="29206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763324" y="3777126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0" name="文本框 69"/>
          <p:cNvSpPr txBox="1"/>
          <p:nvPr/>
        </p:nvSpPr>
        <p:spPr bwMode="gray">
          <a:xfrm>
            <a:off x="4656227" y="4184153"/>
            <a:ext cx="80021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34135" y="3344548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68" name="文本框 67"/>
          <p:cNvSpPr txBox="1"/>
          <p:nvPr/>
        </p:nvSpPr>
        <p:spPr bwMode="gray">
          <a:xfrm>
            <a:off x="2379794" y="3764645"/>
            <a:ext cx="104868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42950" y="3350714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5" name="文本框 74"/>
          <p:cNvSpPr txBox="1"/>
          <p:nvPr/>
        </p:nvSpPr>
        <p:spPr bwMode="gray">
          <a:xfrm>
            <a:off x="1399257" y="3751945"/>
            <a:ext cx="1055097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圆角矩形 75"/>
          <p:cNvSpPr>
            <a:spLocks/>
          </p:cNvSpPr>
          <p:nvPr/>
        </p:nvSpPr>
        <p:spPr bwMode="gray">
          <a:xfrm>
            <a:off x="1070831" y="3271869"/>
            <a:ext cx="1338799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31126" y="4438585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9" name="文本框 78"/>
          <p:cNvSpPr txBox="1"/>
          <p:nvPr/>
        </p:nvSpPr>
        <p:spPr bwMode="gray">
          <a:xfrm>
            <a:off x="1447793" y="4832129"/>
            <a:ext cx="1055097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圆角矩形 80"/>
          <p:cNvSpPr>
            <a:spLocks/>
          </p:cNvSpPr>
          <p:nvPr/>
        </p:nvSpPr>
        <p:spPr bwMode="gray">
          <a:xfrm>
            <a:off x="1085162" y="4376561"/>
            <a:ext cx="1338799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圆角矩形 82"/>
          <p:cNvSpPr>
            <a:spLocks/>
          </p:cNvSpPr>
          <p:nvPr/>
        </p:nvSpPr>
        <p:spPr bwMode="gray">
          <a:xfrm flipH="1">
            <a:off x="5575190" y="3698273"/>
            <a:ext cx="1358670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连接符 88"/>
          <p:cNvCxnSpPr>
            <a:stCxn id="74" idx="3"/>
            <a:endCxn id="67" idx="1"/>
          </p:cNvCxnSpPr>
          <p:nvPr/>
        </p:nvCxnSpPr>
        <p:spPr bwMode="gray">
          <a:xfrm flipV="1">
            <a:off x="2282950" y="3565457"/>
            <a:ext cx="351185" cy="616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78" idx="3"/>
            <a:endCxn id="55" idx="1"/>
          </p:cNvCxnSpPr>
          <p:nvPr/>
        </p:nvCxnSpPr>
        <p:spPr bwMode="gray">
          <a:xfrm>
            <a:off x="2271126" y="4659494"/>
            <a:ext cx="363009" cy="8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 bwMode="gray">
          <a:xfrm flipV="1">
            <a:off x="5303324" y="3916151"/>
            <a:ext cx="417682" cy="0"/>
          </a:xfrm>
          <a:prstGeom prst="line">
            <a:avLst/>
          </a:prstGeom>
          <a:ln w="25400">
            <a:solidFill>
              <a:srgbClr val="FCC8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721006" y="3771442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101" name="文本框 100"/>
          <p:cNvSpPr txBox="1"/>
          <p:nvPr/>
        </p:nvSpPr>
        <p:spPr bwMode="gray">
          <a:xfrm>
            <a:off x="5582516" y="4174916"/>
            <a:ext cx="806631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矩形 123"/>
          <p:cNvSpPr/>
          <p:nvPr/>
        </p:nvSpPr>
        <p:spPr bwMode="gray">
          <a:xfrm>
            <a:off x="1995063" y="2110230"/>
            <a:ext cx="1811747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1424182" y="2997173"/>
            <a:ext cx="66075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文本框 124"/>
          <p:cNvSpPr txBox="1"/>
          <p:nvPr/>
        </p:nvSpPr>
        <p:spPr bwMode="gray">
          <a:xfrm>
            <a:off x="5924146" y="3423577"/>
            <a:ext cx="66075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 bwMode="gray">
          <a:xfrm>
            <a:off x="1424182" y="5106237"/>
            <a:ext cx="66075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1132015" y="3470555"/>
            <a:ext cx="64472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6229207" y="3896959"/>
            <a:ext cx="64472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 bwMode="gray">
          <a:xfrm>
            <a:off x="1146244" y="4537012"/>
            <a:ext cx="64472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1995063" y="2114022"/>
            <a:ext cx="1811747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圆角矩形 75"/>
          <p:cNvSpPr/>
          <p:nvPr/>
        </p:nvSpPr>
        <p:spPr bwMode="gray">
          <a:xfrm>
            <a:off x="7184099" y="2334667"/>
            <a:ext cx="4423701" cy="3621633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站点需要把路由发布给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站点，再通过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站点发布给其他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站点。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站点之间不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直接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交互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路由信息。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需要设置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Target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为“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Target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为“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”；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上需要使用两个接口或子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接口（创建两个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实例），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一个用于接收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发来的路由，其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Target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为“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”；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另一个用于向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发布路由，其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Target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为“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1804598" y="5370817"/>
            <a:ext cx="1866430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1804598" y="5374609"/>
            <a:ext cx="1866430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34135" y="4438666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56" name="文本框 55"/>
          <p:cNvSpPr txBox="1"/>
          <p:nvPr/>
        </p:nvSpPr>
        <p:spPr bwMode="gray">
          <a:xfrm>
            <a:off x="2379793" y="4844829"/>
            <a:ext cx="104868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Sopke-PE2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9" name="直接连接符 58"/>
          <p:cNvCxnSpPr>
            <a:stCxn id="71" idx="1"/>
            <a:endCxn id="55" idx="3"/>
          </p:cNvCxnSpPr>
          <p:nvPr/>
        </p:nvCxnSpPr>
        <p:spPr bwMode="gray">
          <a:xfrm flipH="1">
            <a:off x="3174135" y="3998035"/>
            <a:ext cx="519803" cy="66154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69" idx="1"/>
            <a:endCxn id="71" idx="3"/>
          </p:cNvCxnSpPr>
          <p:nvPr/>
        </p:nvCxnSpPr>
        <p:spPr bwMode="gray">
          <a:xfrm flipH="1">
            <a:off x="4233938" y="3998035"/>
            <a:ext cx="52938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 bwMode="gray">
          <a:xfrm flipV="1">
            <a:off x="5303324" y="4086289"/>
            <a:ext cx="417682" cy="0"/>
          </a:xfrm>
          <a:prstGeom prst="line">
            <a:avLst/>
          </a:prstGeom>
          <a:ln w="25400">
            <a:solidFill>
              <a:srgbClr val="FCC8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 bwMode="gray">
          <a:xfrm>
            <a:off x="4746533" y="2335145"/>
            <a:ext cx="1798984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文本框 141"/>
          <p:cNvSpPr txBox="1"/>
          <p:nvPr/>
        </p:nvSpPr>
        <p:spPr bwMode="gray">
          <a:xfrm>
            <a:off x="4632594" y="2335145"/>
            <a:ext cx="1960629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</a:p>
        </p:txBody>
      </p:sp>
      <p:sp>
        <p:nvSpPr>
          <p:cNvPr id="43" name="矩形 42"/>
          <p:cNvSpPr/>
          <p:nvPr/>
        </p:nvSpPr>
        <p:spPr bwMode="gray">
          <a:xfrm>
            <a:off x="4713416" y="4888214"/>
            <a:ext cx="1798984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4632594" y="4888214"/>
            <a:ext cx="1960629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</a:p>
        </p:txBody>
      </p:sp>
    </p:spTree>
    <p:extLst>
      <p:ext uri="{BB962C8B-B14F-4D97-AF65-F5344CB8AC3E}">
        <p14:creationId xmlns:p14="http://schemas.microsoft.com/office/powerpoint/2010/main" val="387803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 bwMode="gray">
          <a:xfrm>
            <a:off x="4746533" y="2335145"/>
            <a:ext cx="1798984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基本组网：</a:t>
            </a:r>
            <a:r>
              <a:rPr lang="en-US" altLang="zh-CN" dirty="0" err="1" smtClean="0">
                <a:sym typeface="Huawei Sans" panose="020C0503030203020204" pitchFamily="34" charset="0"/>
              </a:rPr>
              <a:t>Hub&amp;Spoke</a:t>
            </a:r>
            <a:r>
              <a:rPr lang="en-US" altLang="zh-CN" dirty="0" smtClean="0">
                <a:sym typeface="Huawei Sans" panose="020C0503030203020204" pitchFamily="34" charset="0"/>
              </a:rPr>
              <a:t> 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69" name="文本占位符 16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从</a:t>
            </a:r>
            <a:r>
              <a:rPr lang="en-US" altLang="zh-CN" sz="1800" smtClean="0">
                <a:sym typeface="Huawei Sans" panose="020C0503030203020204" pitchFamily="34" charset="0"/>
              </a:rPr>
              <a:t>Site1</a:t>
            </a:r>
            <a:r>
              <a:rPr lang="zh-CN" altLang="en-US" sz="1800" smtClean="0">
                <a:sym typeface="Huawei Sans" panose="020C0503030203020204" pitchFamily="34" charset="0"/>
              </a:rPr>
              <a:t>到</a:t>
            </a:r>
            <a:r>
              <a:rPr lang="en-US" altLang="zh-CN" sz="1800" smtClean="0">
                <a:sym typeface="Huawei Sans" panose="020C0503030203020204" pitchFamily="34" charset="0"/>
              </a:rPr>
              <a:t>Site2</a:t>
            </a:r>
            <a:r>
              <a:rPr lang="zh-CN" altLang="en-US" sz="1800" smtClean="0">
                <a:sym typeface="Huawei Sans" panose="020C0503030203020204" pitchFamily="34" charset="0"/>
              </a:rPr>
              <a:t>的路由发布过程如下：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0" name="圆角矩形 59"/>
          <p:cNvSpPr/>
          <p:nvPr/>
        </p:nvSpPr>
        <p:spPr bwMode="gray">
          <a:xfrm>
            <a:off x="2869117" y="3226400"/>
            <a:ext cx="2152916" cy="1825378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直接连接符 62"/>
          <p:cNvCxnSpPr>
            <a:stCxn id="67" idx="3"/>
          </p:cNvCxnSpPr>
          <p:nvPr/>
        </p:nvCxnSpPr>
        <p:spPr bwMode="gray">
          <a:xfrm>
            <a:off x="3174135" y="3565457"/>
            <a:ext cx="496893" cy="43909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93938" y="3777126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2" name="文本框 71"/>
          <p:cNvSpPr txBox="1"/>
          <p:nvPr/>
        </p:nvSpPr>
        <p:spPr bwMode="gray">
          <a:xfrm>
            <a:off x="3817904" y="4193275"/>
            <a:ext cx="29206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763324" y="3777126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0" name="文本框 69"/>
          <p:cNvSpPr txBox="1"/>
          <p:nvPr/>
        </p:nvSpPr>
        <p:spPr bwMode="gray">
          <a:xfrm>
            <a:off x="4656227" y="4184153"/>
            <a:ext cx="80021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34135" y="3344548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68" name="文本框 67"/>
          <p:cNvSpPr txBox="1"/>
          <p:nvPr/>
        </p:nvSpPr>
        <p:spPr bwMode="gray">
          <a:xfrm>
            <a:off x="2379794" y="3764645"/>
            <a:ext cx="104868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42950" y="3350714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5" name="文本框 74"/>
          <p:cNvSpPr txBox="1"/>
          <p:nvPr/>
        </p:nvSpPr>
        <p:spPr bwMode="gray">
          <a:xfrm>
            <a:off x="1399257" y="3751945"/>
            <a:ext cx="1055097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圆角矩形 75"/>
          <p:cNvSpPr>
            <a:spLocks/>
          </p:cNvSpPr>
          <p:nvPr/>
        </p:nvSpPr>
        <p:spPr bwMode="gray">
          <a:xfrm>
            <a:off x="1070831" y="3271869"/>
            <a:ext cx="1338799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31126" y="4438585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79" name="文本框 78"/>
          <p:cNvSpPr txBox="1"/>
          <p:nvPr/>
        </p:nvSpPr>
        <p:spPr bwMode="gray">
          <a:xfrm>
            <a:off x="1447793" y="4832129"/>
            <a:ext cx="1055097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圆角矩形 80"/>
          <p:cNvSpPr>
            <a:spLocks/>
          </p:cNvSpPr>
          <p:nvPr/>
        </p:nvSpPr>
        <p:spPr bwMode="gray">
          <a:xfrm>
            <a:off x="1085162" y="4376561"/>
            <a:ext cx="1338799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圆角矩形 82"/>
          <p:cNvSpPr>
            <a:spLocks/>
          </p:cNvSpPr>
          <p:nvPr/>
        </p:nvSpPr>
        <p:spPr bwMode="gray">
          <a:xfrm flipH="1">
            <a:off x="5575190" y="3698273"/>
            <a:ext cx="1358670" cy="730878"/>
          </a:xfrm>
          <a:prstGeom prst="roundRect">
            <a:avLst/>
          </a:prstGeom>
          <a:noFill/>
          <a:ln w="25400">
            <a:solidFill>
              <a:srgbClr val="8BC9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连接符 88"/>
          <p:cNvCxnSpPr>
            <a:stCxn id="74" idx="3"/>
            <a:endCxn id="67" idx="1"/>
          </p:cNvCxnSpPr>
          <p:nvPr/>
        </p:nvCxnSpPr>
        <p:spPr bwMode="gray">
          <a:xfrm flipV="1">
            <a:off x="2282950" y="3565457"/>
            <a:ext cx="351185" cy="616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78" idx="3"/>
            <a:endCxn id="55" idx="1"/>
          </p:cNvCxnSpPr>
          <p:nvPr/>
        </p:nvCxnSpPr>
        <p:spPr bwMode="gray">
          <a:xfrm>
            <a:off x="2271126" y="4659494"/>
            <a:ext cx="363009" cy="8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 bwMode="gray">
          <a:xfrm flipV="1">
            <a:off x="5303324" y="3916151"/>
            <a:ext cx="417682" cy="0"/>
          </a:xfrm>
          <a:prstGeom prst="line">
            <a:avLst/>
          </a:prstGeom>
          <a:ln w="25400">
            <a:solidFill>
              <a:srgbClr val="FCC8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721006" y="3771442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101" name="文本框 100"/>
          <p:cNvSpPr txBox="1"/>
          <p:nvPr/>
        </p:nvSpPr>
        <p:spPr bwMode="gray">
          <a:xfrm>
            <a:off x="5582516" y="4174916"/>
            <a:ext cx="806631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1424182" y="2997173"/>
            <a:ext cx="66075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文本框 124"/>
          <p:cNvSpPr txBox="1"/>
          <p:nvPr/>
        </p:nvSpPr>
        <p:spPr bwMode="gray">
          <a:xfrm>
            <a:off x="5924146" y="3423577"/>
            <a:ext cx="66075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 bwMode="gray">
          <a:xfrm>
            <a:off x="1424182" y="5106237"/>
            <a:ext cx="66075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1132015" y="3470555"/>
            <a:ext cx="64472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6229207" y="3896959"/>
            <a:ext cx="64472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 bwMode="gray">
          <a:xfrm>
            <a:off x="1146244" y="4537012"/>
            <a:ext cx="64472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圆角矩形 75"/>
          <p:cNvSpPr/>
          <p:nvPr/>
        </p:nvSpPr>
        <p:spPr bwMode="gray">
          <a:xfrm>
            <a:off x="7184099" y="1739899"/>
            <a:ext cx="4423701" cy="4216401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342900" indent="-3429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发布路由给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  <a:p>
            <a:pPr marL="342900" indent="-3429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IBGP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将该路由发布给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  <a:p>
            <a:pPr marL="342900" indent="-3429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实例（</a:t>
            </a:r>
            <a:r>
              <a:rPr lang="en-US" altLang="zh-CN" sz="16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Target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属性将该路由引入</a:t>
            </a:r>
            <a:r>
              <a:rPr lang="en-US" altLang="zh-CN" sz="16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表，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并发布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给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  <a:p>
            <a:pPr marL="342900" indent="-3429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学习到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该路由，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并将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该路由发布给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实例（</a:t>
            </a:r>
            <a:r>
              <a:rPr lang="en-US" altLang="zh-CN" sz="16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  <a:p>
            <a:pPr marL="342900" indent="-3429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该路由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给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Spoke-PE2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（携带</a:t>
            </a:r>
            <a:r>
              <a:rPr lang="en-US" altLang="zh-CN" sz="16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Target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属性）。</a:t>
            </a:r>
          </a:p>
          <a:p>
            <a:pPr marL="342900" indent="-3429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Spoke-PE2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路由发布给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49" name="矩形 48"/>
          <p:cNvSpPr/>
          <p:nvPr/>
        </p:nvSpPr>
        <p:spPr bwMode="gray">
          <a:xfrm>
            <a:off x="1804598" y="5370817"/>
            <a:ext cx="1866430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1804598" y="5374609"/>
            <a:ext cx="1866430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34135" y="4438666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56" name="文本框 55"/>
          <p:cNvSpPr txBox="1"/>
          <p:nvPr/>
        </p:nvSpPr>
        <p:spPr bwMode="gray">
          <a:xfrm>
            <a:off x="2379793" y="4844829"/>
            <a:ext cx="104868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Sopke-PE2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9" name="直接连接符 58"/>
          <p:cNvCxnSpPr>
            <a:stCxn id="71" idx="1"/>
            <a:endCxn id="55" idx="3"/>
          </p:cNvCxnSpPr>
          <p:nvPr/>
        </p:nvCxnSpPr>
        <p:spPr bwMode="gray">
          <a:xfrm flipH="1">
            <a:off x="3174135" y="3998035"/>
            <a:ext cx="519803" cy="66154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69" idx="1"/>
            <a:endCxn id="71" idx="3"/>
          </p:cNvCxnSpPr>
          <p:nvPr/>
        </p:nvCxnSpPr>
        <p:spPr bwMode="gray">
          <a:xfrm flipH="1">
            <a:off x="4233938" y="3998035"/>
            <a:ext cx="52938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 bwMode="gray">
          <a:xfrm flipV="1">
            <a:off x="5303324" y="4086289"/>
            <a:ext cx="417682" cy="0"/>
          </a:xfrm>
          <a:prstGeom prst="line">
            <a:avLst/>
          </a:prstGeom>
          <a:ln w="25400">
            <a:solidFill>
              <a:srgbClr val="FCC8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 bwMode="gray">
          <a:xfrm>
            <a:off x="4632594" y="2335145"/>
            <a:ext cx="1960629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</a:p>
        </p:txBody>
      </p:sp>
      <p:sp>
        <p:nvSpPr>
          <p:cNvPr id="53" name="矩形 52"/>
          <p:cNvSpPr/>
          <p:nvPr/>
        </p:nvSpPr>
        <p:spPr bwMode="gray">
          <a:xfrm>
            <a:off x="4713416" y="4888214"/>
            <a:ext cx="1798984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4632594" y="4888214"/>
            <a:ext cx="1960629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</a:p>
        </p:txBody>
      </p:sp>
      <p:sp>
        <p:nvSpPr>
          <p:cNvPr id="51" name="Oval 4"/>
          <p:cNvSpPr>
            <a:spLocks noChangeAspect="1"/>
          </p:cNvSpPr>
          <p:nvPr/>
        </p:nvSpPr>
        <p:spPr bwMode="gray">
          <a:xfrm>
            <a:off x="3961344" y="3331042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 bwMode="gray">
          <a:xfrm>
            <a:off x="3249306" y="3480836"/>
            <a:ext cx="1502755" cy="290606"/>
          </a:xfrm>
          <a:prstGeom prst="straightConnector1">
            <a:avLst/>
          </a:prstGeom>
          <a:solidFill>
            <a:srgbClr val="56C4D2"/>
          </a:solidFill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gray">
          <a:xfrm>
            <a:off x="5143295" y="3571378"/>
            <a:ext cx="664670" cy="0"/>
          </a:xfrm>
          <a:prstGeom prst="straightConnector1">
            <a:avLst/>
          </a:prstGeom>
          <a:solidFill>
            <a:srgbClr val="56C4D2"/>
          </a:solidFill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4"/>
          <p:cNvSpPr>
            <a:spLocks noChangeAspect="1"/>
          </p:cNvSpPr>
          <p:nvPr/>
        </p:nvSpPr>
        <p:spPr bwMode="gray">
          <a:xfrm>
            <a:off x="5349630" y="3267511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5" name="直接箭头连接符 64"/>
          <p:cNvCxnSpPr/>
          <p:nvPr/>
        </p:nvCxnSpPr>
        <p:spPr bwMode="gray">
          <a:xfrm>
            <a:off x="5143295" y="4828435"/>
            <a:ext cx="664670" cy="0"/>
          </a:xfrm>
          <a:prstGeom prst="straightConnector1">
            <a:avLst/>
          </a:prstGeom>
          <a:solidFill>
            <a:srgbClr val="56C4D2"/>
          </a:solidFill>
          <a:ln>
            <a:solidFill>
              <a:srgbClr val="30B5C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4"/>
          <p:cNvSpPr>
            <a:spLocks noChangeAspect="1"/>
          </p:cNvSpPr>
          <p:nvPr/>
        </p:nvSpPr>
        <p:spPr bwMode="gray">
          <a:xfrm>
            <a:off x="5349630" y="4524568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3" name="直接箭头连接符 72"/>
          <p:cNvCxnSpPr/>
          <p:nvPr/>
        </p:nvCxnSpPr>
        <p:spPr bwMode="gray">
          <a:xfrm flipH="1">
            <a:off x="3346706" y="4407228"/>
            <a:ext cx="1502755" cy="290606"/>
          </a:xfrm>
          <a:prstGeom prst="straightConnector1">
            <a:avLst/>
          </a:prstGeom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4"/>
          <p:cNvSpPr>
            <a:spLocks noChangeAspect="1"/>
          </p:cNvSpPr>
          <p:nvPr/>
        </p:nvSpPr>
        <p:spPr bwMode="gray">
          <a:xfrm>
            <a:off x="3961344" y="4627065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矩形 85"/>
          <p:cNvSpPr/>
          <p:nvPr/>
        </p:nvSpPr>
        <p:spPr bwMode="gray">
          <a:xfrm>
            <a:off x="1995063" y="2110230"/>
            <a:ext cx="1811747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1995063" y="2114022"/>
            <a:ext cx="1811747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8" name="组合 17"/>
          <p:cNvGrpSpPr/>
          <p:nvPr/>
        </p:nvGrpSpPr>
        <p:grpSpPr bwMode="gray">
          <a:xfrm>
            <a:off x="2254378" y="2933592"/>
            <a:ext cx="379757" cy="314810"/>
            <a:chOff x="2254378" y="2933592"/>
            <a:chExt cx="379757" cy="314810"/>
          </a:xfrm>
          <a:solidFill>
            <a:srgbClr val="56C4D2"/>
          </a:solidFill>
          <a:effectLst/>
        </p:grpSpPr>
        <p:sp>
          <p:nvSpPr>
            <p:cNvPr id="48" name="Oval 4"/>
            <p:cNvSpPr>
              <a:spLocks noChangeAspect="1"/>
            </p:cNvSpPr>
            <p:nvPr/>
          </p:nvSpPr>
          <p:spPr bwMode="gray">
            <a:xfrm>
              <a:off x="2326618" y="2933592"/>
              <a:ext cx="252000" cy="252000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 bwMode="gray">
            <a:xfrm>
              <a:off x="2254378" y="3248402"/>
              <a:ext cx="379757" cy="0"/>
            </a:xfrm>
            <a:prstGeom prst="straightConnector1">
              <a:avLst/>
            </a:prstGeom>
            <a:grpFill/>
            <a:ln>
              <a:solidFill>
                <a:srgbClr val="30B5C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 bwMode="gray">
          <a:xfrm>
            <a:off x="2216899" y="4089168"/>
            <a:ext cx="379757" cy="314810"/>
            <a:chOff x="2216899" y="4089168"/>
            <a:chExt cx="379757" cy="314810"/>
          </a:xfrm>
          <a:solidFill>
            <a:srgbClr val="56C4D2"/>
          </a:solidFill>
          <a:effectLst/>
        </p:grpSpPr>
        <p:sp>
          <p:nvSpPr>
            <p:cNvPr id="88" name="Oval 4"/>
            <p:cNvSpPr>
              <a:spLocks noChangeAspect="1"/>
            </p:cNvSpPr>
            <p:nvPr/>
          </p:nvSpPr>
          <p:spPr bwMode="gray">
            <a:xfrm>
              <a:off x="2289139" y="4089168"/>
              <a:ext cx="252000" cy="252000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6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92" name="直接箭头连接符 91"/>
            <p:cNvCxnSpPr/>
            <p:nvPr/>
          </p:nvCxnSpPr>
          <p:spPr bwMode="gray">
            <a:xfrm>
              <a:off x="2216899" y="4403978"/>
              <a:ext cx="379757" cy="0"/>
            </a:xfrm>
            <a:prstGeom prst="straightConnector1">
              <a:avLst/>
            </a:prstGeom>
            <a:grpFill/>
            <a:ln>
              <a:solidFill>
                <a:srgbClr val="30B5C5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380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 bwMode="gray">
          <a:xfrm flipV="1">
            <a:off x="3470462" y="4165863"/>
            <a:ext cx="772424" cy="0"/>
          </a:xfrm>
          <a:prstGeom prst="line">
            <a:avLst/>
          </a:prstGeom>
          <a:ln w="19050">
            <a:solidFill>
              <a:srgbClr val="EC706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 bwMode="gray">
          <a:xfrm flipV="1">
            <a:off x="3470462" y="4257832"/>
            <a:ext cx="772424" cy="0"/>
          </a:xfrm>
          <a:prstGeom prst="line">
            <a:avLst/>
          </a:prstGeom>
          <a:ln w="19050">
            <a:solidFill>
              <a:srgbClr val="8BC9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 bwMode="gray">
          <a:xfrm flipV="1">
            <a:off x="3470462" y="4349800"/>
            <a:ext cx="772424" cy="0"/>
          </a:xfrm>
          <a:prstGeom prst="line">
            <a:avLst/>
          </a:prstGeom>
          <a:ln w="19050">
            <a:solidFill>
              <a:srgbClr val="30B5C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MCE</a:t>
            </a:r>
            <a:r>
              <a:rPr lang="zh-CN" altLang="en-US" smtClean="0">
                <a:sym typeface="Huawei Sans" panose="020C0503030203020204" pitchFamily="34" charset="0"/>
              </a:rPr>
              <a:t>组网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当一个私网需要根据业务或者网络划分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时，不同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用户间的业务需要完全隔离。此时，为每个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单独配置一台</a:t>
            </a:r>
            <a:r>
              <a:rPr lang="en-US" altLang="zh-CN" sz="1800" smtClean="0">
                <a:sym typeface="Huawei Sans" panose="020C0503030203020204" pitchFamily="34" charset="0"/>
              </a:rPr>
              <a:t>CE</a:t>
            </a:r>
            <a:r>
              <a:rPr lang="zh-CN" altLang="en-US" sz="1800" smtClean="0">
                <a:sym typeface="Huawei Sans" panose="020C0503030203020204" pitchFamily="34" charset="0"/>
              </a:rPr>
              <a:t>将增加用户的设备开支和维护成本。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zh-CN" altLang="en-US" sz="1800" smtClean="0">
                <a:sym typeface="Huawei Sans" panose="020C0503030203020204" pitchFamily="34" charset="0"/>
              </a:rPr>
              <a:t>具有</a:t>
            </a:r>
            <a:r>
              <a:rPr lang="en-US" altLang="zh-CN" sz="1800" smtClean="0">
                <a:sym typeface="Huawei Sans" panose="020C0503030203020204" pitchFamily="34" charset="0"/>
              </a:rPr>
              <a:t>MCE</a:t>
            </a:r>
            <a:r>
              <a:rPr lang="zh-CN" altLang="en-US" sz="1800" smtClean="0">
                <a:sym typeface="Huawei Sans" panose="020C0503030203020204" pitchFamily="34" charset="0"/>
              </a:rPr>
              <a:t>（</a:t>
            </a:r>
            <a:r>
              <a:rPr lang="en-US" altLang="zh-CN" sz="1800" smtClean="0">
                <a:sym typeface="Huawei Sans" panose="020C0503030203020204" pitchFamily="34" charset="0"/>
              </a:rPr>
              <a:t>Multi-VPN-Instance</a:t>
            </a:r>
            <a:r>
              <a:rPr lang="zh-CN" altLang="en-US" sz="1800" smtClean="0">
                <a:sym typeface="Huawei Sans" panose="020C0503030203020204" pitchFamily="34" charset="0"/>
              </a:rPr>
              <a:t>，</a:t>
            </a:r>
            <a:r>
              <a:rPr lang="en-US" altLang="zh-CN" sz="1800" smtClean="0">
                <a:sym typeface="Huawei Sans" panose="020C0503030203020204" pitchFamily="34" charset="0"/>
              </a:rPr>
              <a:t>CE</a:t>
            </a:r>
            <a:r>
              <a:rPr lang="zh-CN" altLang="en-US" sz="1800" smtClean="0">
                <a:sym typeface="Huawei Sans" panose="020C0503030203020204" pitchFamily="34" charset="0"/>
              </a:rPr>
              <a:t>多实例</a:t>
            </a:r>
            <a:r>
              <a:rPr lang="en-US" altLang="zh-CN" sz="1800" smtClean="0">
                <a:sym typeface="Huawei Sans" panose="020C0503030203020204" pitchFamily="34" charset="0"/>
              </a:rPr>
              <a:t>CE</a:t>
            </a:r>
            <a:r>
              <a:rPr lang="zh-CN" altLang="en-US" sz="1800" smtClean="0">
                <a:sym typeface="Huawei Sans" panose="020C0503030203020204" pitchFamily="34" charset="0"/>
              </a:rPr>
              <a:t>）功能的</a:t>
            </a:r>
            <a:r>
              <a:rPr lang="en-US" altLang="zh-CN" sz="1800" smtClean="0">
                <a:sym typeface="Huawei Sans" panose="020C0503030203020204" pitchFamily="34" charset="0"/>
              </a:rPr>
              <a:t>CE</a:t>
            </a:r>
            <a:r>
              <a:rPr lang="zh-CN" altLang="en-US" sz="1800" smtClean="0">
                <a:sym typeface="Huawei Sans" panose="020C0503030203020204" pitchFamily="34" charset="0"/>
              </a:rPr>
              <a:t>设备可以在</a:t>
            </a:r>
            <a:r>
              <a:rPr lang="en-US" altLang="zh-CN" sz="1800" smtClean="0">
                <a:sym typeface="Huawei Sans" panose="020C0503030203020204" pitchFamily="34" charset="0"/>
              </a:rPr>
              <a:t>MPLS VPN</a:t>
            </a:r>
            <a:r>
              <a:rPr lang="zh-CN" altLang="en-US" sz="1800" smtClean="0">
                <a:sym typeface="Huawei Sans" panose="020C0503030203020204" pitchFamily="34" charset="0"/>
              </a:rPr>
              <a:t>组网应用中承担多个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实例的</a:t>
            </a:r>
            <a:r>
              <a:rPr lang="en-US" altLang="zh-CN" sz="1800" smtClean="0">
                <a:sym typeface="Huawei Sans" panose="020C0503030203020204" pitchFamily="34" charset="0"/>
              </a:rPr>
              <a:t>CE</a:t>
            </a:r>
            <a:r>
              <a:rPr lang="zh-CN" altLang="en-US" sz="1800" smtClean="0">
                <a:sym typeface="Huawei Sans" panose="020C0503030203020204" pitchFamily="34" charset="0"/>
              </a:rPr>
              <a:t>功能，减少用户网络设备的投入。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1169045" y="3479680"/>
            <a:ext cx="2152916" cy="1825378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10" idx="3"/>
          </p:cNvCxnSpPr>
          <p:nvPr/>
        </p:nvCxnSpPr>
        <p:spPr bwMode="gray">
          <a:xfrm>
            <a:off x="1474063" y="3818737"/>
            <a:ext cx="496893" cy="4390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993866" y="4030406"/>
            <a:ext cx="540000" cy="441818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 bwMode="gray">
          <a:xfrm>
            <a:off x="2117832" y="444655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063252" y="4030406"/>
            <a:ext cx="540000" cy="441818"/>
          </a:xfrm>
          <a:prstGeom prst="rect">
            <a:avLst/>
          </a:prstGeom>
          <a:noFill/>
        </p:spPr>
      </p:pic>
      <p:sp>
        <p:nvSpPr>
          <p:cNvPr id="9" name="文本框 8"/>
          <p:cNvSpPr txBox="1"/>
          <p:nvPr/>
        </p:nvSpPr>
        <p:spPr bwMode="gray">
          <a:xfrm>
            <a:off x="3085420" y="4437433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34063" y="3597828"/>
            <a:ext cx="540000" cy="441818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/>
        </p:nvSpPr>
        <p:spPr bwMode="gray">
          <a:xfrm>
            <a:off x="1011542" y="4027194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 bwMode="gray">
          <a:xfrm>
            <a:off x="4002323" y="4414742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MCE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34063" y="4691946"/>
            <a:ext cx="540000" cy="441818"/>
          </a:xfrm>
          <a:prstGeom prst="rect">
            <a:avLst/>
          </a:prstGeom>
          <a:noFill/>
        </p:spPr>
      </p:pic>
      <p:sp>
        <p:nvSpPr>
          <p:cNvPr id="19" name="文本框 18"/>
          <p:cNvSpPr txBox="1"/>
          <p:nvPr/>
        </p:nvSpPr>
        <p:spPr bwMode="gray">
          <a:xfrm>
            <a:off x="1011542" y="5121312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" name="直接连接符 19"/>
          <p:cNvCxnSpPr>
            <a:stCxn id="6" idx="1"/>
            <a:endCxn id="18" idx="3"/>
          </p:cNvCxnSpPr>
          <p:nvPr/>
        </p:nvCxnSpPr>
        <p:spPr bwMode="gray">
          <a:xfrm flipH="1">
            <a:off x="1474063" y="4251315"/>
            <a:ext cx="519803" cy="6615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8" idx="1"/>
            <a:endCxn id="6" idx="3"/>
          </p:cNvCxnSpPr>
          <p:nvPr/>
        </p:nvCxnSpPr>
        <p:spPr bwMode="gray">
          <a:xfrm flipH="1">
            <a:off x="2533866" y="4251315"/>
            <a:ext cx="5293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 bwMode="gray">
          <a:xfrm>
            <a:off x="1447078" y="5053697"/>
            <a:ext cx="159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VPN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5154920" y="5514579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zh-CN" altLang="en-US" sz="2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6" name="直接连接符 35"/>
          <p:cNvCxnSpPr>
            <a:endCxn id="23" idx="21"/>
          </p:cNvCxnSpPr>
          <p:nvPr/>
        </p:nvCxnSpPr>
        <p:spPr bwMode="gray">
          <a:xfrm flipV="1">
            <a:off x="4302225" y="3450424"/>
            <a:ext cx="533581" cy="807408"/>
          </a:xfrm>
          <a:prstGeom prst="line">
            <a:avLst/>
          </a:prstGeom>
          <a:ln w="19050">
            <a:solidFill>
              <a:srgbClr val="EC706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 bwMode="gray">
          <a:xfrm>
            <a:off x="4285030" y="4268488"/>
            <a:ext cx="1191465" cy="0"/>
          </a:xfrm>
          <a:prstGeom prst="line">
            <a:avLst/>
          </a:prstGeom>
          <a:ln w="19050">
            <a:solidFill>
              <a:srgbClr val="8BC9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 bwMode="gray">
          <a:xfrm>
            <a:off x="4332094" y="4268488"/>
            <a:ext cx="1037293" cy="865276"/>
          </a:xfrm>
          <a:prstGeom prst="line">
            <a:avLst/>
          </a:prstGeom>
          <a:ln w="19050">
            <a:solidFill>
              <a:srgbClr val="30B5C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020934" y="4024722"/>
            <a:ext cx="540000" cy="441818"/>
          </a:xfrm>
          <a:prstGeom prst="rect">
            <a:avLst/>
          </a:prstGeom>
          <a:noFill/>
        </p:spPr>
      </p:pic>
      <p:grpSp>
        <p:nvGrpSpPr>
          <p:cNvPr id="32" name="组合 31"/>
          <p:cNvGrpSpPr/>
          <p:nvPr/>
        </p:nvGrpSpPr>
        <p:grpSpPr bwMode="gray">
          <a:xfrm>
            <a:off x="4835806" y="3057788"/>
            <a:ext cx="1071360" cy="2310537"/>
            <a:chOff x="4780634" y="2651427"/>
            <a:chExt cx="1071360" cy="2310537"/>
          </a:xfrm>
        </p:grpSpPr>
        <p:grpSp>
          <p:nvGrpSpPr>
            <p:cNvPr id="25" name="组合 24"/>
            <p:cNvGrpSpPr/>
            <p:nvPr/>
          </p:nvGrpSpPr>
          <p:grpSpPr bwMode="gray">
            <a:xfrm>
              <a:off x="4780634" y="2651427"/>
              <a:ext cx="1071360" cy="560032"/>
              <a:chOff x="487016" y="4491051"/>
              <a:chExt cx="1071360" cy="560032"/>
            </a:xfrm>
          </p:grpSpPr>
          <p:sp>
            <p:nvSpPr>
              <p:cNvPr id="23" name="Freeform 159"/>
              <p:cNvSpPr/>
              <p:nvPr/>
            </p:nvSpPr>
            <p:spPr bwMode="gray">
              <a:xfrm flipH="1">
                <a:off x="487016" y="4491051"/>
                <a:ext cx="1071360" cy="560032"/>
              </a:xfrm>
              <a:custGeom>
                <a:avLst/>
                <a:gdLst>
                  <a:gd name="connsiteX0" fmla="*/ 2693983 w 4431601"/>
                  <a:gd name="connsiteY0" fmla="*/ 0 h 2316519"/>
                  <a:gd name="connsiteX1" fmla="*/ 1918242 w 4431601"/>
                  <a:gd name="connsiteY1" fmla="*/ 324162 h 2316519"/>
                  <a:gd name="connsiteX2" fmla="*/ 1859647 w 4431601"/>
                  <a:gd name="connsiteY2" fmla="*/ 395807 h 2316519"/>
                  <a:gd name="connsiteX3" fmla="*/ 1815580 w 4431601"/>
                  <a:gd name="connsiteY3" fmla="*/ 362462 h 2316519"/>
                  <a:gd name="connsiteX4" fmla="*/ 1347603 w 4431601"/>
                  <a:gd name="connsiteY4" fmla="*/ 231362 h 2316519"/>
                  <a:gd name="connsiteX5" fmla="*/ 527605 w 4431601"/>
                  <a:gd name="connsiteY5" fmla="*/ 844290 h 2316519"/>
                  <a:gd name="connsiteX6" fmla="*/ 523639 w 4431601"/>
                  <a:gd name="connsiteY6" fmla="*/ 880372 h 2316519"/>
                  <a:gd name="connsiteX7" fmla="*/ 444716 w 4431601"/>
                  <a:gd name="connsiteY7" fmla="*/ 905088 h 2316519"/>
                  <a:gd name="connsiteX8" fmla="*/ 0 w 4431601"/>
                  <a:gd name="connsiteY8" fmla="*/ 1581940 h 2316519"/>
                  <a:gd name="connsiteX9" fmla="*/ 653694 w 4431601"/>
                  <a:gd name="connsiteY9" fmla="*/ 2312727 h 2316519"/>
                  <a:gd name="connsiteX10" fmla="*/ 653931 w 4431601"/>
                  <a:gd name="connsiteY10" fmla="*/ 2312739 h 2316519"/>
                  <a:gd name="connsiteX11" fmla="*/ 653931 w 4431601"/>
                  <a:gd name="connsiteY11" fmla="*/ 2316518 h 2316519"/>
                  <a:gd name="connsiteX12" fmla="*/ 728123 w 4431601"/>
                  <a:gd name="connsiteY12" fmla="*/ 2316518 h 2316519"/>
                  <a:gd name="connsiteX13" fmla="*/ 728142 w 4431601"/>
                  <a:gd name="connsiteY13" fmla="*/ 2316519 h 2316519"/>
                  <a:gd name="connsiteX14" fmla="*/ 728162 w 4431601"/>
                  <a:gd name="connsiteY14" fmla="*/ 2316518 h 2316519"/>
                  <a:gd name="connsiteX15" fmla="*/ 3745239 w 4431601"/>
                  <a:gd name="connsiteY15" fmla="*/ 2316518 h 2316519"/>
                  <a:gd name="connsiteX16" fmla="*/ 3745249 w 4431601"/>
                  <a:gd name="connsiteY16" fmla="*/ 2316519 h 2316519"/>
                  <a:gd name="connsiteX17" fmla="*/ 3745259 w 4431601"/>
                  <a:gd name="connsiteY17" fmla="*/ 2316518 h 2316519"/>
                  <a:gd name="connsiteX18" fmla="*/ 3788771 w 4431601"/>
                  <a:gd name="connsiteY18" fmla="*/ 2316518 h 2316519"/>
                  <a:gd name="connsiteX19" fmla="*/ 3788771 w 4431601"/>
                  <a:gd name="connsiteY19" fmla="*/ 2312093 h 2316519"/>
                  <a:gd name="connsiteX20" fmla="*/ 3883573 w 4431601"/>
                  <a:gd name="connsiteY20" fmla="*/ 2302452 h 2316519"/>
                  <a:gd name="connsiteX21" fmla="*/ 4431601 w 4431601"/>
                  <a:gd name="connsiteY21" fmla="*/ 1624103 h 2316519"/>
                  <a:gd name="connsiteX22" fmla="*/ 3883573 w 4431601"/>
                  <a:gd name="connsiteY22" fmla="*/ 945754 h 2316519"/>
                  <a:gd name="connsiteX23" fmla="*/ 3773844 w 4431601"/>
                  <a:gd name="connsiteY23" fmla="*/ 934595 h 2316519"/>
                  <a:gd name="connsiteX24" fmla="*/ 3768759 w 4431601"/>
                  <a:gd name="connsiteY24" fmla="*/ 883707 h 2316519"/>
                  <a:gd name="connsiteX25" fmla="*/ 2693983 w 4431601"/>
                  <a:gd name="connsiteY25" fmla="*/ 0 h 231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431601" h="2316519">
                    <a:moveTo>
                      <a:pt x="2693983" y="0"/>
                    </a:moveTo>
                    <a:cubicBezTo>
                      <a:pt x="2391037" y="0"/>
                      <a:pt x="2116771" y="123878"/>
                      <a:pt x="1918242" y="324162"/>
                    </a:cubicBezTo>
                    <a:lnTo>
                      <a:pt x="1859647" y="395807"/>
                    </a:lnTo>
                    <a:lnTo>
                      <a:pt x="1815580" y="362462"/>
                    </a:lnTo>
                    <a:cubicBezTo>
                      <a:pt x="1681993" y="279692"/>
                      <a:pt x="1520952" y="231362"/>
                      <a:pt x="1347603" y="231362"/>
                    </a:cubicBezTo>
                    <a:cubicBezTo>
                      <a:pt x="943122" y="231362"/>
                      <a:pt x="605652" y="494493"/>
                      <a:pt x="527605" y="844290"/>
                    </a:cubicBezTo>
                    <a:lnTo>
                      <a:pt x="523639" y="880372"/>
                    </a:lnTo>
                    <a:lnTo>
                      <a:pt x="444716" y="905088"/>
                    </a:lnTo>
                    <a:cubicBezTo>
                      <a:pt x="183375" y="1016603"/>
                      <a:pt x="0" y="1277667"/>
                      <a:pt x="0" y="1581940"/>
                    </a:cubicBezTo>
                    <a:cubicBezTo>
                      <a:pt x="0" y="1962281"/>
                      <a:pt x="286523" y="2275109"/>
                      <a:pt x="653694" y="2312727"/>
                    </a:cubicBezTo>
                    <a:lnTo>
                      <a:pt x="653931" y="2312739"/>
                    </a:lnTo>
                    <a:lnTo>
                      <a:pt x="653931" y="2316518"/>
                    </a:lnTo>
                    <a:lnTo>
                      <a:pt x="728123" y="2316518"/>
                    </a:lnTo>
                    <a:lnTo>
                      <a:pt x="728142" y="2316519"/>
                    </a:lnTo>
                    <a:lnTo>
                      <a:pt x="728162" y="2316518"/>
                    </a:lnTo>
                    <a:lnTo>
                      <a:pt x="3745239" y="2316518"/>
                    </a:lnTo>
                    <a:lnTo>
                      <a:pt x="3745249" y="2316519"/>
                    </a:lnTo>
                    <a:lnTo>
                      <a:pt x="3745259" y="2316518"/>
                    </a:lnTo>
                    <a:lnTo>
                      <a:pt x="3788771" y="2316518"/>
                    </a:lnTo>
                    <a:lnTo>
                      <a:pt x="3788771" y="2312093"/>
                    </a:lnTo>
                    <a:lnTo>
                      <a:pt x="3883573" y="2302452"/>
                    </a:lnTo>
                    <a:cubicBezTo>
                      <a:pt x="4196332" y="2237887"/>
                      <a:pt x="4431601" y="1958713"/>
                      <a:pt x="4431601" y="1624103"/>
                    </a:cubicBezTo>
                    <a:cubicBezTo>
                      <a:pt x="4431601" y="1289493"/>
                      <a:pt x="4196332" y="1010319"/>
                      <a:pt x="3883573" y="945754"/>
                    </a:cubicBezTo>
                    <a:lnTo>
                      <a:pt x="3773844" y="934595"/>
                    </a:lnTo>
                    <a:lnTo>
                      <a:pt x="3768759" y="883707"/>
                    </a:lnTo>
                    <a:cubicBezTo>
                      <a:pt x="3666462" y="379376"/>
                      <a:pt x="3224139" y="0"/>
                      <a:pt x="269398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 bwMode="gray">
              <a:xfrm>
                <a:off x="616021" y="4659528"/>
                <a:ext cx="795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Site A</a:t>
                </a:r>
                <a:endParaRPr lang="zh-CN" altLang="en-US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 bwMode="gray">
            <a:xfrm>
              <a:off x="4780634" y="3526680"/>
              <a:ext cx="1071360" cy="560032"/>
              <a:chOff x="487016" y="4491051"/>
              <a:chExt cx="1071360" cy="560032"/>
            </a:xfrm>
          </p:grpSpPr>
          <p:sp>
            <p:nvSpPr>
              <p:cNvPr id="27" name="Freeform 159"/>
              <p:cNvSpPr/>
              <p:nvPr/>
            </p:nvSpPr>
            <p:spPr bwMode="gray">
              <a:xfrm flipH="1">
                <a:off x="487016" y="4491051"/>
                <a:ext cx="1071360" cy="560032"/>
              </a:xfrm>
              <a:custGeom>
                <a:avLst/>
                <a:gdLst>
                  <a:gd name="connsiteX0" fmla="*/ 2693983 w 4431601"/>
                  <a:gd name="connsiteY0" fmla="*/ 0 h 2316519"/>
                  <a:gd name="connsiteX1" fmla="*/ 1918242 w 4431601"/>
                  <a:gd name="connsiteY1" fmla="*/ 324162 h 2316519"/>
                  <a:gd name="connsiteX2" fmla="*/ 1859647 w 4431601"/>
                  <a:gd name="connsiteY2" fmla="*/ 395807 h 2316519"/>
                  <a:gd name="connsiteX3" fmla="*/ 1815580 w 4431601"/>
                  <a:gd name="connsiteY3" fmla="*/ 362462 h 2316519"/>
                  <a:gd name="connsiteX4" fmla="*/ 1347603 w 4431601"/>
                  <a:gd name="connsiteY4" fmla="*/ 231362 h 2316519"/>
                  <a:gd name="connsiteX5" fmla="*/ 527605 w 4431601"/>
                  <a:gd name="connsiteY5" fmla="*/ 844290 h 2316519"/>
                  <a:gd name="connsiteX6" fmla="*/ 523639 w 4431601"/>
                  <a:gd name="connsiteY6" fmla="*/ 880372 h 2316519"/>
                  <a:gd name="connsiteX7" fmla="*/ 444716 w 4431601"/>
                  <a:gd name="connsiteY7" fmla="*/ 905088 h 2316519"/>
                  <a:gd name="connsiteX8" fmla="*/ 0 w 4431601"/>
                  <a:gd name="connsiteY8" fmla="*/ 1581940 h 2316519"/>
                  <a:gd name="connsiteX9" fmla="*/ 653694 w 4431601"/>
                  <a:gd name="connsiteY9" fmla="*/ 2312727 h 2316519"/>
                  <a:gd name="connsiteX10" fmla="*/ 653931 w 4431601"/>
                  <a:gd name="connsiteY10" fmla="*/ 2312739 h 2316519"/>
                  <a:gd name="connsiteX11" fmla="*/ 653931 w 4431601"/>
                  <a:gd name="connsiteY11" fmla="*/ 2316518 h 2316519"/>
                  <a:gd name="connsiteX12" fmla="*/ 728123 w 4431601"/>
                  <a:gd name="connsiteY12" fmla="*/ 2316518 h 2316519"/>
                  <a:gd name="connsiteX13" fmla="*/ 728142 w 4431601"/>
                  <a:gd name="connsiteY13" fmla="*/ 2316519 h 2316519"/>
                  <a:gd name="connsiteX14" fmla="*/ 728162 w 4431601"/>
                  <a:gd name="connsiteY14" fmla="*/ 2316518 h 2316519"/>
                  <a:gd name="connsiteX15" fmla="*/ 3745239 w 4431601"/>
                  <a:gd name="connsiteY15" fmla="*/ 2316518 h 2316519"/>
                  <a:gd name="connsiteX16" fmla="*/ 3745249 w 4431601"/>
                  <a:gd name="connsiteY16" fmla="*/ 2316519 h 2316519"/>
                  <a:gd name="connsiteX17" fmla="*/ 3745259 w 4431601"/>
                  <a:gd name="connsiteY17" fmla="*/ 2316518 h 2316519"/>
                  <a:gd name="connsiteX18" fmla="*/ 3788771 w 4431601"/>
                  <a:gd name="connsiteY18" fmla="*/ 2316518 h 2316519"/>
                  <a:gd name="connsiteX19" fmla="*/ 3788771 w 4431601"/>
                  <a:gd name="connsiteY19" fmla="*/ 2312093 h 2316519"/>
                  <a:gd name="connsiteX20" fmla="*/ 3883573 w 4431601"/>
                  <a:gd name="connsiteY20" fmla="*/ 2302452 h 2316519"/>
                  <a:gd name="connsiteX21" fmla="*/ 4431601 w 4431601"/>
                  <a:gd name="connsiteY21" fmla="*/ 1624103 h 2316519"/>
                  <a:gd name="connsiteX22" fmla="*/ 3883573 w 4431601"/>
                  <a:gd name="connsiteY22" fmla="*/ 945754 h 2316519"/>
                  <a:gd name="connsiteX23" fmla="*/ 3773844 w 4431601"/>
                  <a:gd name="connsiteY23" fmla="*/ 934595 h 2316519"/>
                  <a:gd name="connsiteX24" fmla="*/ 3768759 w 4431601"/>
                  <a:gd name="connsiteY24" fmla="*/ 883707 h 2316519"/>
                  <a:gd name="connsiteX25" fmla="*/ 2693983 w 4431601"/>
                  <a:gd name="connsiteY25" fmla="*/ 0 h 231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431601" h="2316519">
                    <a:moveTo>
                      <a:pt x="2693983" y="0"/>
                    </a:moveTo>
                    <a:cubicBezTo>
                      <a:pt x="2391037" y="0"/>
                      <a:pt x="2116771" y="123878"/>
                      <a:pt x="1918242" y="324162"/>
                    </a:cubicBezTo>
                    <a:lnTo>
                      <a:pt x="1859647" y="395807"/>
                    </a:lnTo>
                    <a:lnTo>
                      <a:pt x="1815580" y="362462"/>
                    </a:lnTo>
                    <a:cubicBezTo>
                      <a:pt x="1681993" y="279692"/>
                      <a:pt x="1520952" y="231362"/>
                      <a:pt x="1347603" y="231362"/>
                    </a:cubicBezTo>
                    <a:cubicBezTo>
                      <a:pt x="943122" y="231362"/>
                      <a:pt x="605652" y="494493"/>
                      <a:pt x="527605" y="844290"/>
                    </a:cubicBezTo>
                    <a:lnTo>
                      <a:pt x="523639" y="880372"/>
                    </a:lnTo>
                    <a:lnTo>
                      <a:pt x="444716" y="905088"/>
                    </a:lnTo>
                    <a:cubicBezTo>
                      <a:pt x="183375" y="1016603"/>
                      <a:pt x="0" y="1277667"/>
                      <a:pt x="0" y="1581940"/>
                    </a:cubicBezTo>
                    <a:cubicBezTo>
                      <a:pt x="0" y="1962281"/>
                      <a:pt x="286523" y="2275109"/>
                      <a:pt x="653694" y="2312727"/>
                    </a:cubicBezTo>
                    <a:lnTo>
                      <a:pt x="653931" y="2312739"/>
                    </a:lnTo>
                    <a:lnTo>
                      <a:pt x="653931" y="2316518"/>
                    </a:lnTo>
                    <a:lnTo>
                      <a:pt x="728123" y="2316518"/>
                    </a:lnTo>
                    <a:lnTo>
                      <a:pt x="728142" y="2316519"/>
                    </a:lnTo>
                    <a:lnTo>
                      <a:pt x="728162" y="2316518"/>
                    </a:lnTo>
                    <a:lnTo>
                      <a:pt x="3745239" y="2316518"/>
                    </a:lnTo>
                    <a:lnTo>
                      <a:pt x="3745249" y="2316519"/>
                    </a:lnTo>
                    <a:lnTo>
                      <a:pt x="3745259" y="2316518"/>
                    </a:lnTo>
                    <a:lnTo>
                      <a:pt x="3788771" y="2316518"/>
                    </a:lnTo>
                    <a:lnTo>
                      <a:pt x="3788771" y="2312093"/>
                    </a:lnTo>
                    <a:lnTo>
                      <a:pt x="3883573" y="2302452"/>
                    </a:lnTo>
                    <a:cubicBezTo>
                      <a:pt x="4196332" y="2237887"/>
                      <a:pt x="4431601" y="1958713"/>
                      <a:pt x="4431601" y="1624103"/>
                    </a:cubicBezTo>
                    <a:cubicBezTo>
                      <a:pt x="4431601" y="1289493"/>
                      <a:pt x="4196332" y="1010319"/>
                      <a:pt x="3883573" y="945754"/>
                    </a:cubicBezTo>
                    <a:lnTo>
                      <a:pt x="3773844" y="934595"/>
                    </a:lnTo>
                    <a:lnTo>
                      <a:pt x="3768759" y="883707"/>
                    </a:lnTo>
                    <a:cubicBezTo>
                      <a:pt x="3666462" y="379376"/>
                      <a:pt x="3224139" y="0"/>
                      <a:pt x="269398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 bwMode="gray">
              <a:xfrm>
                <a:off x="616021" y="4659528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Site B</a:t>
                </a:r>
                <a:endParaRPr lang="zh-CN" altLang="en-US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 bwMode="gray">
            <a:xfrm>
              <a:off x="4780634" y="4401932"/>
              <a:ext cx="1071360" cy="560032"/>
              <a:chOff x="487016" y="4491051"/>
              <a:chExt cx="1071360" cy="560032"/>
            </a:xfrm>
          </p:grpSpPr>
          <p:sp>
            <p:nvSpPr>
              <p:cNvPr id="30" name="Freeform 159"/>
              <p:cNvSpPr/>
              <p:nvPr/>
            </p:nvSpPr>
            <p:spPr bwMode="gray">
              <a:xfrm flipH="1">
                <a:off x="487016" y="4491051"/>
                <a:ext cx="1071360" cy="560032"/>
              </a:xfrm>
              <a:custGeom>
                <a:avLst/>
                <a:gdLst>
                  <a:gd name="connsiteX0" fmla="*/ 2693983 w 4431601"/>
                  <a:gd name="connsiteY0" fmla="*/ 0 h 2316519"/>
                  <a:gd name="connsiteX1" fmla="*/ 1918242 w 4431601"/>
                  <a:gd name="connsiteY1" fmla="*/ 324162 h 2316519"/>
                  <a:gd name="connsiteX2" fmla="*/ 1859647 w 4431601"/>
                  <a:gd name="connsiteY2" fmla="*/ 395807 h 2316519"/>
                  <a:gd name="connsiteX3" fmla="*/ 1815580 w 4431601"/>
                  <a:gd name="connsiteY3" fmla="*/ 362462 h 2316519"/>
                  <a:gd name="connsiteX4" fmla="*/ 1347603 w 4431601"/>
                  <a:gd name="connsiteY4" fmla="*/ 231362 h 2316519"/>
                  <a:gd name="connsiteX5" fmla="*/ 527605 w 4431601"/>
                  <a:gd name="connsiteY5" fmla="*/ 844290 h 2316519"/>
                  <a:gd name="connsiteX6" fmla="*/ 523639 w 4431601"/>
                  <a:gd name="connsiteY6" fmla="*/ 880372 h 2316519"/>
                  <a:gd name="connsiteX7" fmla="*/ 444716 w 4431601"/>
                  <a:gd name="connsiteY7" fmla="*/ 905088 h 2316519"/>
                  <a:gd name="connsiteX8" fmla="*/ 0 w 4431601"/>
                  <a:gd name="connsiteY8" fmla="*/ 1581940 h 2316519"/>
                  <a:gd name="connsiteX9" fmla="*/ 653694 w 4431601"/>
                  <a:gd name="connsiteY9" fmla="*/ 2312727 h 2316519"/>
                  <a:gd name="connsiteX10" fmla="*/ 653931 w 4431601"/>
                  <a:gd name="connsiteY10" fmla="*/ 2312739 h 2316519"/>
                  <a:gd name="connsiteX11" fmla="*/ 653931 w 4431601"/>
                  <a:gd name="connsiteY11" fmla="*/ 2316518 h 2316519"/>
                  <a:gd name="connsiteX12" fmla="*/ 728123 w 4431601"/>
                  <a:gd name="connsiteY12" fmla="*/ 2316518 h 2316519"/>
                  <a:gd name="connsiteX13" fmla="*/ 728142 w 4431601"/>
                  <a:gd name="connsiteY13" fmla="*/ 2316519 h 2316519"/>
                  <a:gd name="connsiteX14" fmla="*/ 728162 w 4431601"/>
                  <a:gd name="connsiteY14" fmla="*/ 2316518 h 2316519"/>
                  <a:gd name="connsiteX15" fmla="*/ 3745239 w 4431601"/>
                  <a:gd name="connsiteY15" fmla="*/ 2316518 h 2316519"/>
                  <a:gd name="connsiteX16" fmla="*/ 3745249 w 4431601"/>
                  <a:gd name="connsiteY16" fmla="*/ 2316519 h 2316519"/>
                  <a:gd name="connsiteX17" fmla="*/ 3745259 w 4431601"/>
                  <a:gd name="connsiteY17" fmla="*/ 2316518 h 2316519"/>
                  <a:gd name="connsiteX18" fmla="*/ 3788771 w 4431601"/>
                  <a:gd name="connsiteY18" fmla="*/ 2316518 h 2316519"/>
                  <a:gd name="connsiteX19" fmla="*/ 3788771 w 4431601"/>
                  <a:gd name="connsiteY19" fmla="*/ 2312093 h 2316519"/>
                  <a:gd name="connsiteX20" fmla="*/ 3883573 w 4431601"/>
                  <a:gd name="connsiteY20" fmla="*/ 2302452 h 2316519"/>
                  <a:gd name="connsiteX21" fmla="*/ 4431601 w 4431601"/>
                  <a:gd name="connsiteY21" fmla="*/ 1624103 h 2316519"/>
                  <a:gd name="connsiteX22" fmla="*/ 3883573 w 4431601"/>
                  <a:gd name="connsiteY22" fmla="*/ 945754 h 2316519"/>
                  <a:gd name="connsiteX23" fmla="*/ 3773844 w 4431601"/>
                  <a:gd name="connsiteY23" fmla="*/ 934595 h 2316519"/>
                  <a:gd name="connsiteX24" fmla="*/ 3768759 w 4431601"/>
                  <a:gd name="connsiteY24" fmla="*/ 883707 h 2316519"/>
                  <a:gd name="connsiteX25" fmla="*/ 2693983 w 4431601"/>
                  <a:gd name="connsiteY25" fmla="*/ 0 h 231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431601" h="2316519">
                    <a:moveTo>
                      <a:pt x="2693983" y="0"/>
                    </a:moveTo>
                    <a:cubicBezTo>
                      <a:pt x="2391037" y="0"/>
                      <a:pt x="2116771" y="123878"/>
                      <a:pt x="1918242" y="324162"/>
                    </a:cubicBezTo>
                    <a:lnTo>
                      <a:pt x="1859647" y="395807"/>
                    </a:lnTo>
                    <a:lnTo>
                      <a:pt x="1815580" y="362462"/>
                    </a:lnTo>
                    <a:cubicBezTo>
                      <a:pt x="1681993" y="279692"/>
                      <a:pt x="1520952" y="231362"/>
                      <a:pt x="1347603" y="231362"/>
                    </a:cubicBezTo>
                    <a:cubicBezTo>
                      <a:pt x="943122" y="231362"/>
                      <a:pt x="605652" y="494493"/>
                      <a:pt x="527605" y="844290"/>
                    </a:cubicBezTo>
                    <a:lnTo>
                      <a:pt x="523639" y="880372"/>
                    </a:lnTo>
                    <a:lnTo>
                      <a:pt x="444716" y="905088"/>
                    </a:lnTo>
                    <a:cubicBezTo>
                      <a:pt x="183375" y="1016603"/>
                      <a:pt x="0" y="1277667"/>
                      <a:pt x="0" y="1581940"/>
                    </a:cubicBezTo>
                    <a:cubicBezTo>
                      <a:pt x="0" y="1962281"/>
                      <a:pt x="286523" y="2275109"/>
                      <a:pt x="653694" y="2312727"/>
                    </a:cubicBezTo>
                    <a:lnTo>
                      <a:pt x="653931" y="2312739"/>
                    </a:lnTo>
                    <a:lnTo>
                      <a:pt x="653931" y="2316518"/>
                    </a:lnTo>
                    <a:lnTo>
                      <a:pt x="728123" y="2316518"/>
                    </a:lnTo>
                    <a:lnTo>
                      <a:pt x="728142" y="2316519"/>
                    </a:lnTo>
                    <a:lnTo>
                      <a:pt x="728162" y="2316518"/>
                    </a:lnTo>
                    <a:lnTo>
                      <a:pt x="3745239" y="2316518"/>
                    </a:lnTo>
                    <a:lnTo>
                      <a:pt x="3745249" y="2316519"/>
                    </a:lnTo>
                    <a:lnTo>
                      <a:pt x="3745259" y="2316518"/>
                    </a:lnTo>
                    <a:lnTo>
                      <a:pt x="3788771" y="2316518"/>
                    </a:lnTo>
                    <a:lnTo>
                      <a:pt x="3788771" y="2312093"/>
                    </a:lnTo>
                    <a:lnTo>
                      <a:pt x="3883573" y="2302452"/>
                    </a:lnTo>
                    <a:cubicBezTo>
                      <a:pt x="4196332" y="2237887"/>
                      <a:pt x="4431601" y="1958713"/>
                      <a:pt x="4431601" y="1624103"/>
                    </a:cubicBezTo>
                    <a:cubicBezTo>
                      <a:pt x="4431601" y="1289493"/>
                      <a:pt x="4196332" y="1010319"/>
                      <a:pt x="3883573" y="945754"/>
                    </a:cubicBezTo>
                    <a:lnTo>
                      <a:pt x="3773844" y="934595"/>
                    </a:lnTo>
                    <a:lnTo>
                      <a:pt x="3768759" y="883707"/>
                    </a:lnTo>
                    <a:cubicBezTo>
                      <a:pt x="3666462" y="379376"/>
                      <a:pt x="3224139" y="0"/>
                      <a:pt x="269398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 bwMode="gray">
              <a:xfrm>
                <a:off x="616021" y="4659528"/>
                <a:ext cx="785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Site C</a:t>
                </a:r>
                <a:endParaRPr lang="zh-CN" altLang="en-US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44" name="圆角矩形 75"/>
          <p:cNvSpPr/>
          <p:nvPr/>
        </p:nvSpPr>
        <p:spPr bwMode="gray">
          <a:xfrm>
            <a:off x="6508057" y="3303052"/>
            <a:ext cx="4656316" cy="2126037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MCE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的部分功能扩展到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设备，通过将不同的接口与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绑定，并为每个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创建和维护独立的路由转发表（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Multi-VRF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en-US" altLang="zh-CN" sz="16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MCE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与对应的</a:t>
            </a:r>
            <a:r>
              <a:rPr lang="en-US" altLang="zh-CN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之间可以通过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物理接口、子接口或者逻辑接口进行互联，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上需要将这些接口绑定到对应的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实例。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76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跨域组网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随着</a:t>
            </a:r>
            <a:r>
              <a:rPr lang="en-US" altLang="zh-CN" sz="1800" smtClean="0">
                <a:sym typeface="Huawei Sans" panose="020C0503030203020204" pitchFamily="34" charset="0"/>
              </a:rPr>
              <a:t>MPLS VPN</a:t>
            </a:r>
            <a:r>
              <a:rPr lang="zh-CN" altLang="en-US" sz="1800" smtClean="0">
                <a:sym typeface="Huawei Sans" panose="020C0503030203020204" pitchFamily="34" charset="0"/>
              </a:rPr>
              <a:t>解决方案的广泛应用，服务的终端用户的规格和范围也在增长，在一个企业内部的站点数目越来越大，某个地理位置与另外一个服务提供商相连的需求变得非常的普遍，例如国内运营商的不同城域网之间，或相互协作的运营商的骨干网之间都存在着跨越不同自治系统（</a:t>
            </a:r>
            <a:r>
              <a:rPr lang="en-US" altLang="zh-CN" sz="1800" smtClean="0">
                <a:sym typeface="Huawei Sans" panose="020C0503030203020204" pitchFamily="34" charset="0"/>
              </a:rPr>
              <a:t>AS</a:t>
            </a:r>
            <a:r>
              <a:rPr lang="zh-CN" altLang="en-US" sz="1800" smtClean="0">
                <a:sym typeface="Huawei Sans" panose="020C0503030203020204" pitchFamily="34" charset="0"/>
              </a:rPr>
              <a:t>，</a:t>
            </a:r>
            <a:r>
              <a:rPr lang="en-US" altLang="zh-CN" sz="1800" smtClean="0">
                <a:sym typeface="Huawei Sans" panose="020C0503030203020204" pitchFamily="34" charset="0"/>
              </a:rPr>
              <a:t>Autonomous System</a:t>
            </a:r>
            <a:r>
              <a:rPr lang="zh-CN" altLang="en-US" sz="1800" smtClean="0">
                <a:sym typeface="Huawei Sans" panose="020C0503030203020204" pitchFamily="34" charset="0"/>
              </a:rPr>
              <a:t>）的情况。</a:t>
            </a:r>
          </a:p>
          <a:p>
            <a:r>
              <a:rPr lang="zh-CN" altLang="en-US" sz="1800" smtClean="0">
                <a:sym typeface="Huawei Sans" panose="020C0503030203020204" pitchFamily="34" charset="0"/>
              </a:rPr>
              <a:t>一般的</a:t>
            </a:r>
            <a:r>
              <a:rPr lang="en-US" altLang="zh-CN" sz="1800" smtClean="0">
                <a:sym typeface="Huawei Sans" panose="020C0503030203020204" pitchFamily="34" charset="0"/>
              </a:rPr>
              <a:t>MPLS VPN</a:t>
            </a:r>
            <a:r>
              <a:rPr lang="zh-CN" altLang="en-US" sz="1800" smtClean="0">
                <a:sym typeface="Huawei Sans" panose="020C0503030203020204" pitchFamily="34" charset="0"/>
              </a:rPr>
              <a:t>体系结构都是在一个</a:t>
            </a:r>
            <a:r>
              <a:rPr lang="en-US" altLang="zh-CN" sz="1800" smtClean="0">
                <a:sym typeface="Huawei Sans" panose="020C0503030203020204" pitchFamily="34" charset="0"/>
              </a:rPr>
              <a:t>AS</a:t>
            </a:r>
            <a:r>
              <a:rPr lang="zh-CN" altLang="en-US" sz="1800" smtClean="0">
                <a:sym typeface="Huawei Sans" panose="020C0503030203020204" pitchFamily="34" charset="0"/>
              </a:rPr>
              <a:t>内运行，任何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的路由信息都是只能在一个</a:t>
            </a:r>
            <a:r>
              <a:rPr lang="en-US" altLang="zh-CN" sz="1800" smtClean="0">
                <a:sym typeface="Huawei Sans" panose="020C0503030203020204" pitchFamily="34" charset="0"/>
              </a:rPr>
              <a:t>AS</a:t>
            </a:r>
            <a:r>
              <a:rPr lang="zh-CN" altLang="en-US" sz="1800" smtClean="0">
                <a:sym typeface="Huawei Sans" panose="020C0503030203020204" pitchFamily="34" charset="0"/>
              </a:rPr>
              <a:t>内按需扩散。</a:t>
            </a:r>
            <a:r>
              <a:rPr lang="en-US" altLang="zh-CN" sz="1800" smtClean="0">
                <a:sym typeface="Huawei Sans" panose="020C0503030203020204" pitchFamily="34" charset="0"/>
              </a:rPr>
              <a:t>AS</a:t>
            </a:r>
            <a:r>
              <a:rPr lang="zh-CN" altLang="en-US" sz="1800" smtClean="0">
                <a:sym typeface="Huawei Sans" panose="020C0503030203020204" pitchFamily="34" charset="0"/>
              </a:rPr>
              <a:t>之间的</a:t>
            </a:r>
            <a:r>
              <a:rPr lang="en-US" altLang="zh-CN" sz="1800" smtClean="0">
                <a:sym typeface="Huawei Sans" panose="020C0503030203020204" pitchFamily="34" charset="0"/>
              </a:rPr>
              <a:t>MPLS VPN</a:t>
            </a:r>
            <a:r>
              <a:rPr lang="zh-CN" altLang="en-US" sz="1800" smtClean="0">
                <a:sym typeface="Huawei Sans" panose="020C0503030203020204" pitchFamily="34" charset="0"/>
              </a:rPr>
              <a:t>部署需要通过跨域（</a:t>
            </a:r>
            <a:r>
              <a:rPr lang="en-US" altLang="zh-CN" sz="1800" smtClean="0">
                <a:sym typeface="Huawei Sans" panose="020C0503030203020204" pitchFamily="34" charset="0"/>
              </a:rPr>
              <a:t>Inter-AS</a:t>
            </a:r>
            <a:r>
              <a:rPr lang="zh-CN" altLang="en-US" sz="1800" smtClean="0">
                <a:sym typeface="Huawei Sans" panose="020C0503030203020204" pitchFamily="34" charset="0"/>
              </a:rPr>
              <a:t>） </a:t>
            </a:r>
            <a:r>
              <a:rPr lang="en-US" altLang="zh-CN" sz="1800" smtClean="0">
                <a:sym typeface="Huawei Sans" panose="020C0503030203020204" pitchFamily="34" charset="0"/>
              </a:rPr>
              <a:t>MPLS VPN</a:t>
            </a:r>
            <a:r>
              <a:rPr lang="zh-CN" altLang="en-US" sz="1800" smtClean="0">
                <a:sym typeface="Huawei Sans" panose="020C0503030203020204" pitchFamily="34" charset="0"/>
              </a:rPr>
              <a:t>解决方案来实现。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" name="Freeform 159"/>
          <p:cNvSpPr/>
          <p:nvPr/>
        </p:nvSpPr>
        <p:spPr bwMode="gray">
          <a:xfrm flipH="1">
            <a:off x="1151922" y="4491051"/>
            <a:ext cx="1071360" cy="56003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gray">
          <a:xfrm>
            <a:off x="2321748" y="3999756"/>
            <a:ext cx="3329693" cy="1967802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" name="直接连接符 7"/>
          <p:cNvCxnSpPr>
            <a:stCxn id="24" idx="1"/>
            <a:endCxn id="19" idx="3"/>
          </p:cNvCxnSpPr>
          <p:nvPr/>
        </p:nvCxnSpPr>
        <p:spPr bwMode="gray">
          <a:xfrm flipH="1">
            <a:off x="2674066" y="4310705"/>
            <a:ext cx="478930" cy="5498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27" idx="1"/>
            <a:endCxn id="24" idx="3"/>
          </p:cNvCxnSpPr>
          <p:nvPr/>
        </p:nvCxnSpPr>
        <p:spPr bwMode="gray">
          <a:xfrm flipH="1">
            <a:off x="3692996" y="4310705"/>
            <a:ext cx="5276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24" idx="2"/>
            <a:endCxn id="25" idx="0"/>
          </p:cNvCxnSpPr>
          <p:nvPr/>
        </p:nvCxnSpPr>
        <p:spPr bwMode="gray">
          <a:xfrm>
            <a:off x="3422996" y="4531614"/>
            <a:ext cx="0" cy="657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25" idx="3"/>
            <a:endCxn id="28" idx="1"/>
          </p:cNvCxnSpPr>
          <p:nvPr/>
        </p:nvCxnSpPr>
        <p:spPr bwMode="gray">
          <a:xfrm>
            <a:off x="3692996" y="5410473"/>
            <a:ext cx="5276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28" idx="0"/>
            <a:endCxn id="27" idx="2"/>
          </p:cNvCxnSpPr>
          <p:nvPr/>
        </p:nvCxnSpPr>
        <p:spPr bwMode="gray">
          <a:xfrm flipV="1">
            <a:off x="4490656" y="4531614"/>
            <a:ext cx="0" cy="657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27" idx="3"/>
            <a:endCxn id="21" idx="1"/>
          </p:cNvCxnSpPr>
          <p:nvPr/>
        </p:nvCxnSpPr>
        <p:spPr bwMode="gray">
          <a:xfrm>
            <a:off x="4760656" y="4310705"/>
            <a:ext cx="570839" cy="5578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 bwMode="gray">
          <a:xfrm>
            <a:off x="3588087" y="5615946"/>
            <a:ext cx="797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 bwMode="gray">
          <a:xfrm>
            <a:off x="3413405" y="4310705"/>
            <a:ext cx="1077251" cy="10997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 bwMode="gray">
          <a:xfrm flipV="1">
            <a:off x="3442177" y="4277914"/>
            <a:ext cx="1058070" cy="1132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134066" y="4639680"/>
            <a:ext cx="540000" cy="441818"/>
          </a:xfrm>
          <a:prstGeom prst="rect">
            <a:avLst/>
          </a:prstGeom>
          <a:noFill/>
        </p:spPr>
      </p:pic>
      <p:grpSp>
        <p:nvGrpSpPr>
          <p:cNvPr id="23" name="组合 22"/>
          <p:cNvGrpSpPr/>
          <p:nvPr/>
        </p:nvGrpSpPr>
        <p:grpSpPr bwMode="gray">
          <a:xfrm>
            <a:off x="3152996" y="4089796"/>
            <a:ext cx="540000" cy="1541586"/>
            <a:chOff x="2561628" y="3854902"/>
            <a:chExt cx="540000" cy="1541586"/>
          </a:xfrm>
        </p:grpSpPr>
        <p:pic>
          <p:nvPicPr>
            <p:cNvPr id="24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3854902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25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4954670"/>
              <a:ext cx="540000" cy="441818"/>
            </a:xfrm>
            <a:prstGeom prst="rect">
              <a:avLst/>
            </a:prstGeom>
            <a:noFill/>
          </p:spPr>
        </p:pic>
      </p:grpSp>
      <p:sp>
        <p:nvSpPr>
          <p:cNvPr id="29" name="文本框 28"/>
          <p:cNvSpPr txBox="1"/>
          <p:nvPr/>
        </p:nvSpPr>
        <p:spPr bwMode="gray">
          <a:xfrm>
            <a:off x="1280927" y="4659528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A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6" name="直接连接符 35"/>
          <p:cNvCxnSpPr>
            <a:endCxn id="21" idx="1"/>
          </p:cNvCxnSpPr>
          <p:nvPr/>
        </p:nvCxnSpPr>
        <p:spPr bwMode="gray">
          <a:xfrm flipV="1">
            <a:off x="4490656" y="4868527"/>
            <a:ext cx="840839" cy="5419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 bwMode="gray">
          <a:xfrm>
            <a:off x="4220656" y="4089796"/>
            <a:ext cx="540000" cy="1541586"/>
            <a:chOff x="3917984" y="3854902"/>
            <a:chExt cx="540000" cy="1541586"/>
          </a:xfrm>
        </p:grpSpPr>
        <p:pic>
          <p:nvPicPr>
            <p:cNvPr id="27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17984" y="3854902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2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17984" y="4954670"/>
              <a:ext cx="540000" cy="441818"/>
            </a:xfrm>
            <a:prstGeom prst="rect">
              <a:avLst/>
            </a:prstGeom>
            <a:noFill/>
          </p:spPr>
        </p:pic>
      </p:grpSp>
      <p:cxnSp>
        <p:nvCxnSpPr>
          <p:cNvPr id="65" name="直接连接符 64"/>
          <p:cNvCxnSpPr/>
          <p:nvPr/>
        </p:nvCxnSpPr>
        <p:spPr bwMode="gray">
          <a:xfrm flipV="1">
            <a:off x="5651441" y="4868527"/>
            <a:ext cx="6440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331495" y="4647618"/>
            <a:ext cx="540000" cy="441818"/>
          </a:xfrm>
          <a:prstGeom prst="rect">
            <a:avLst/>
          </a:prstGeom>
          <a:noFill/>
        </p:spPr>
      </p:pic>
      <p:sp>
        <p:nvSpPr>
          <p:cNvPr id="39" name="圆角矩形 38"/>
          <p:cNvSpPr/>
          <p:nvPr/>
        </p:nvSpPr>
        <p:spPr bwMode="gray">
          <a:xfrm>
            <a:off x="6355976" y="3999756"/>
            <a:ext cx="3329693" cy="1967802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0" name="直接连接符 39"/>
          <p:cNvCxnSpPr>
            <a:stCxn id="51" idx="1"/>
            <a:endCxn id="49" idx="3"/>
          </p:cNvCxnSpPr>
          <p:nvPr/>
        </p:nvCxnSpPr>
        <p:spPr bwMode="gray">
          <a:xfrm flipH="1">
            <a:off x="6675922" y="4310705"/>
            <a:ext cx="511302" cy="5516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56" idx="1"/>
            <a:endCxn id="51" idx="3"/>
          </p:cNvCxnSpPr>
          <p:nvPr/>
        </p:nvCxnSpPr>
        <p:spPr bwMode="gray">
          <a:xfrm flipH="1">
            <a:off x="7727224" y="4310705"/>
            <a:ext cx="5276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51" idx="2"/>
            <a:endCxn id="52" idx="0"/>
          </p:cNvCxnSpPr>
          <p:nvPr/>
        </p:nvCxnSpPr>
        <p:spPr bwMode="gray">
          <a:xfrm>
            <a:off x="7457224" y="4531614"/>
            <a:ext cx="0" cy="657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52" idx="3"/>
            <a:endCxn id="57" idx="1"/>
          </p:cNvCxnSpPr>
          <p:nvPr/>
        </p:nvCxnSpPr>
        <p:spPr bwMode="gray">
          <a:xfrm>
            <a:off x="7727224" y="5410473"/>
            <a:ext cx="5276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57" idx="0"/>
            <a:endCxn id="56" idx="2"/>
          </p:cNvCxnSpPr>
          <p:nvPr/>
        </p:nvCxnSpPr>
        <p:spPr bwMode="gray">
          <a:xfrm flipV="1">
            <a:off x="8524884" y="4531614"/>
            <a:ext cx="0" cy="6579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 bwMode="gray">
          <a:xfrm>
            <a:off x="7622315" y="5703616"/>
            <a:ext cx="797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 bwMode="gray">
          <a:xfrm>
            <a:off x="7447633" y="4310705"/>
            <a:ext cx="1077251" cy="10997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 bwMode="gray">
          <a:xfrm>
            <a:off x="7187224" y="4089796"/>
            <a:ext cx="540000" cy="1541586"/>
            <a:chOff x="2561628" y="3854902"/>
            <a:chExt cx="540000" cy="1541586"/>
          </a:xfrm>
        </p:grpSpPr>
        <p:pic>
          <p:nvPicPr>
            <p:cNvPr id="51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3854902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52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561628" y="4954670"/>
              <a:ext cx="540000" cy="441818"/>
            </a:xfrm>
            <a:prstGeom prst="rect">
              <a:avLst/>
            </a:prstGeom>
            <a:noFill/>
          </p:spPr>
        </p:pic>
      </p:grpSp>
      <p:cxnSp>
        <p:nvCxnSpPr>
          <p:cNvPr id="53" name="直接连接符 52"/>
          <p:cNvCxnSpPr/>
          <p:nvPr/>
        </p:nvCxnSpPr>
        <p:spPr bwMode="gray">
          <a:xfrm flipV="1">
            <a:off x="8524884" y="4830977"/>
            <a:ext cx="1196841" cy="5682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54884" y="5189564"/>
            <a:ext cx="540000" cy="441818"/>
          </a:xfrm>
          <a:prstGeom prst="rect">
            <a:avLst/>
          </a:prstGeom>
          <a:noFill/>
        </p:spPr>
      </p:pic>
      <p:pic>
        <p:nvPicPr>
          <p:cNvPr id="4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135922" y="4641455"/>
            <a:ext cx="540000" cy="441818"/>
          </a:xfrm>
          <a:prstGeom prst="rect">
            <a:avLst/>
          </a:prstGeom>
          <a:noFill/>
        </p:spPr>
      </p:pic>
      <p:cxnSp>
        <p:nvCxnSpPr>
          <p:cNvPr id="70" name="直接连接符 69"/>
          <p:cNvCxnSpPr/>
          <p:nvPr/>
        </p:nvCxnSpPr>
        <p:spPr bwMode="gray">
          <a:xfrm>
            <a:off x="8524884" y="4285095"/>
            <a:ext cx="1196841" cy="5458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54884" y="4089796"/>
            <a:ext cx="540000" cy="441818"/>
          </a:xfrm>
          <a:prstGeom prst="rect">
            <a:avLst/>
          </a:prstGeom>
          <a:noFill/>
        </p:spPr>
      </p:pic>
      <p:grpSp>
        <p:nvGrpSpPr>
          <p:cNvPr id="77" name="组合 76"/>
          <p:cNvGrpSpPr/>
          <p:nvPr/>
        </p:nvGrpSpPr>
        <p:grpSpPr bwMode="gray">
          <a:xfrm>
            <a:off x="9879021" y="4455272"/>
            <a:ext cx="1071360" cy="560032"/>
            <a:chOff x="9863493" y="4920959"/>
            <a:chExt cx="1071360" cy="560032"/>
          </a:xfrm>
        </p:grpSpPr>
        <p:sp>
          <p:nvSpPr>
            <p:cNvPr id="68" name="Freeform 159"/>
            <p:cNvSpPr/>
            <p:nvPr/>
          </p:nvSpPr>
          <p:spPr bwMode="gray">
            <a:xfrm flipH="1">
              <a:off x="9863493" y="4920959"/>
              <a:ext cx="1071360" cy="56003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 bwMode="gray">
            <a:xfrm>
              <a:off x="9992498" y="5089436"/>
              <a:ext cx="7841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Site B</a:t>
              </a:r>
              <a:endPara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5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451726" y="4598221"/>
            <a:ext cx="540000" cy="4418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058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圆角矩形 4"/>
          <p:cNvSpPr/>
          <p:nvPr/>
        </p:nvSpPr>
        <p:spPr bwMode="gray">
          <a:xfrm>
            <a:off x="3277404" y="3560265"/>
            <a:ext cx="1295008" cy="866524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圆角矩形 5"/>
          <p:cNvSpPr/>
          <p:nvPr/>
        </p:nvSpPr>
        <p:spPr bwMode="gray">
          <a:xfrm>
            <a:off x="6292109" y="3341624"/>
            <a:ext cx="961063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不同实例的路由相互</a:t>
            </a:r>
            <a:r>
              <a:rPr lang="zh-CN" altLang="en-US" dirty="0" smtClean="0"/>
              <a:t>引入组网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2052638"/>
          </a:xfrm>
        </p:spPr>
        <p:txBody>
          <a:bodyPr/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BGP/MPLS IP VPN</a:t>
            </a:r>
            <a:r>
              <a:rPr lang="zh-CN" altLang="en-US" sz="1600" dirty="0"/>
              <a:t>组网中，一个</a:t>
            </a:r>
            <a:r>
              <a:rPr lang="en-US" altLang="zh-CN" sz="1600" dirty="0"/>
              <a:t>VPN</a:t>
            </a:r>
            <a:r>
              <a:rPr lang="zh-CN" altLang="en-US" sz="1600" dirty="0"/>
              <a:t>实例仅能与其他</a:t>
            </a:r>
            <a:r>
              <a:rPr lang="en-US" altLang="zh-CN" sz="1600" dirty="0"/>
              <a:t>VPN-Target</a:t>
            </a:r>
            <a:r>
              <a:rPr lang="zh-CN" altLang="en-US" sz="1600" dirty="0"/>
              <a:t>相匹配的</a:t>
            </a:r>
            <a:r>
              <a:rPr lang="en-US" altLang="zh-CN" sz="1600" dirty="0"/>
              <a:t>VPN</a:t>
            </a:r>
            <a:r>
              <a:rPr lang="zh-CN" altLang="en-US" sz="1600" dirty="0"/>
              <a:t>实例相互通信，但是</a:t>
            </a:r>
            <a:r>
              <a:rPr lang="en-US" altLang="zh-CN" sz="1600" dirty="0"/>
              <a:t>VPN</a:t>
            </a:r>
            <a:r>
              <a:rPr lang="zh-CN" altLang="en-US" sz="1600" dirty="0"/>
              <a:t>实例无法与公网或其他</a:t>
            </a:r>
            <a:r>
              <a:rPr lang="en-US" altLang="zh-CN" sz="1600" dirty="0"/>
              <a:t>VPN-Target</a:t>
            </a:r>
            <a:r>
              <a:rPr lang="zh-CN" altLang="en-US" sz="1600" dirty="0"/>
              <a:t>不匹配的</a:t>
            </a:r>
            <a:r>
              <a:rPr lang="en-US" altLang="zh-CN" sz="1600" dirty="0"/>
              <a:t>VPN</a:t>
            </a:r>
            <a:r>
              <a:rPr lang="zh-CN" altLang="en-US" sz="1600" dirty="0"/>
              <a:t>实例中的用户相互通信</a:t>
            </a:r>
            <a:r>
              <a:rPr lang="zh-CN" altLang="en-US" sz="1600" dirty="0" smtClean="0"/>
              <a:t>。用户可以</a:t>
            </a:r>
            <a:r>
              <a:rPr lang="zh-CN" altLang="en-US" sz="1600" dirty="0"/>
              <a:t>配置不同实例的路由相互引入功能</a:t>
            </a:r>
            <a:r>
              <a:rPr lang="zh-CN" altLang="en-US" sz="1600" dirty="0" smtClean="0"/>
              <a:t>。配置</a:t>
            </a:r>
            <a:r>
              <a:rPr lang="zh-CN" altLang="en-US" sz="1600" dirty="0"/>
              <a:t>不同实例的路由相互引入功能可以分为两种类型：</a:t>
            </a:r>
          </a:p>
          <a:p>
            <a:pPr lvl="1"/>
            <a:r>
              <a:rPr lang="zh-CN" altLang="en-US" sz="1400" dirty="0" smtClean="0"/>
              <a:t>公</a:t>
            </a:r>
            <a:r>
              <a:rPr lang="zh-CN" altLang="en-US" sz="1400" dirty="0"/>
              <a:t>网与私网的路由相互引入功能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lvl="1"/>
            <a:r>
              <a:rPr lang="zh-CN" altLang="en-US" sz="1400" dirty="0" smtClean="0"/>
              <a:t>不同</a:t>
            </a:r>
            <a:r>
              <a:rPr lang="zh-CN" altLang="en-US" sz="1400" dirty="0"/>
              <a:t>私网间的路由相互引入功能</a:t>
            </a:r>
            <a:r>
              <a:rPr lang="zh-CN" altLang="en-US" sz="1400" dirty="0" smtClean="0"/>
              <a:t>。</a:t>
            </a:r>
            <a:endParaRPr lang="zh-CN" altLang="en-US" sz="1400" dirty="0"/>
          </a:p>
        </p:txBody>
      </p:sp>
      <p:grpSp>
        <p:nvGrpSpPr>
          <p:cNvPr id="51" name="Group 96"/>
          <p:cNvGrpSpPr/>
          <p:nvPr/>
        </p:nvGrpSpPr>
        <p:grpSpPr bwMode="gray">
          <a:xfrm rot="16200000">
            <a:off x="1481422" y="4650927"/>
            <a:ext cx="259305" cy="764187"/>
            <a:chOff x="3134093" y="3084639"/>
            <a:chExt cx="611430" cy="432284"/>
          </a:xfrm>
        </p:grpSpPr>
        <p:cxnSp>
          <p:nvCxnSpPr>
            <p:cNvPr id="52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圆角矩形 4"/>
          <p:cNvSpPr/>
          <p:nvPr/>
        </p:nvSpPr>
        <p:spPr bwMode="gray">
          <a:xfrm>
            <a:off x="3277404" y="4589787"/>
            <a:ext cx="1295008" cy="866524"/>
          </a:xfrm>
          <a:prstGeom prst="roundRect">
            <a:avLst>
              <a:gd name="adj" fmla="val 1265"/>
            </a:avLst>
          </a:prstGeom>
          <a:solidFill>
            <a:srgbClr val="D0E8C4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圆角矩形 5"/>
          <p:cNvSpPr/>
          <p:nvPr/>
        </p:nvSpPr>
        <p:spPr bwMode="gray">
          <a:xfrm>
            <a:off x="750369" y="4603644"/>
            <a:ext cx="1537177" cy="852667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Text Box 19"/>
          <p:cNvSpPr txBox="1">
            <a:spLocks noChangeArrowheads="1"/>
          </p:cNvSpPr>
          <p:nvPr/>
        </p:nvSpPr>
        <p:spPr bwMode="gray">
          <a:xfrm>
            <a:off x="801519" y="4660417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Text Box 19"/>
          <p:cNvSpPr txBox="1">
            <a:spLocks noChangeArrowheads="1"/>
          </p:cNvSpPr>
          <p:nvPr/>
        </p:nvSpPr>
        <p:spPr bwMode="gray">
          <a:xfrm>
            <a:off x="1445471" y="4583715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直接连接符 53"/>
          <p:cNvCxnSpPr>
            <a:stCxn id="73" idx="1"/>
            <a:endCxn id="72" idx="3"/>
          </p:cNvCxnSpPr>
          <p:nvPr/>
        </p:nvCxnSpPr>
        <p:spPr bwMode="gray">
          <a:xfrm flipH="1">
            <a:off x="1967841" y="5078943"/>
            <a:ext cx="174847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2" name="图片 7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27841" y="4857543"/>
            <a:ext cx="540000" cy="442800"/>
          </a:xfrm>
          <a:prstGeom prst="rect">
            <a:avLst/>
          </a:prstGeom>
        </p:spPr>
      </p:pic>
      <p:sp>
        <p:nvSpPr>
          <p:cNvPr id="64" name="Text Box 19"/>
          <p:cNvSpPr txBox="1">
            <a:spLocks noChangeArrowheads="1"/>
          </p:cNvSpPr>
          <p:nvPr/>
        </p:nvSpPr>
        <p:spPr bwMode="gray">
          <a:xfrm>
            <a:off x="3489059" y="4591866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3" name="图片 7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716311" y="4857543"/>
            <a:ext cx="540000" cy="442800"/>
          </a:xfrm>
          <a:prstGeom prst="rect">
            <a:avLst/>
          </a:prstGeom>
        </p:spPr>
      </p:pic>
      <p:pic>
        <p:nvPicPr>
          <p:cNvPr id="74" name="图片 7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716311" y="3827961"/>
            <a:ext cx="540000" cy="442800"/>
          </a:xfrm>
          <a:prstGeom prst="rect">
            <a:avLst/>
          </a:prstGeom>
        </p:spPr>
      </p:pic>
      <p:cxnSp>
        <p:nvCxnSpPr>
          <p:cNvPr id="87" name="直接连接符 53"/>
          <p:cNvCxnSpPr>
            <a:stCxn id="74" idx="2"/>
            <a:endCxn id="73" idx="0"/>
          </p:cNvCxnSpPr>
          <p:nvPr/>
        </p:nvCxnSpPr>
        <p:spPr bwMode="gray">
          <a:xfrm>
            <a:off x="3986311" y="4270761"/>
            <a:ext cx="0" cy="5867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矩形 92"/>
          <p:cNvSpPr/>
          <p:nvPr/>
        </p:nvSpPr>
        <p:spPr bwMode="gray">
          <a:xfrm>
            <a:off x="552450" y="3100388"/>
            <a:ext cx="5435600" cy="3100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圆角矩形 4"/>
          <p:cNvSpPr/>
          <p:nvPr/>
        </p:nvSpPr>
        <p:spPr bwMode="gray">
          <a:xfrm>
            <a:off x="7840250" y="4332803"/>
            <a:ext cx="2192121" cy="1201858"/>
          </a:xfrm>
          <a:prstGeom prst="roundRect">
            <a:avLst>
              <a:gd name="adj" fmla="val 1265"/>
            </a:avLst>
          </a:prstGeom>
          <a:solidFill>
            <a:srgbClr val="D0E8C4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圆角矩形 5"/>
          <p:cNvSpPr/>
          <p:nvPr/>
        </p:nvSpPr>
        <p:spPr bwMode="gray">
          <a:xfrm>
            <a:off x="6292109" y="4737738"/>
            <a:ext cx="995711" cy="1188000"/>
          </a:xfrm>
          <a:prstGeom prst="roundRect">
            <a:avLst>
              <a:gd name="adj" fmla="val 1265"/>
            </a:avLst>
          </a:prstGeom>
          <a:solidFill>
            <a:srgbClr val="FDE397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Text Box 19"/>
          <p:cNvSpPr txBox="1">
            <a:spLocks noChangeArrowheads="1"/>
          </p:cNvSpPr>
          <p:nvPr/>
        </p:nvSpPr>
        <p:spPr bwMode="gray">
          <a:xfrm>
            <a:off x="6228108" y="3362173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Text Box 19"/>
          <p:cNvSpPr txBox="1">
            <a:spLocks noChangeArrowheads="1"/>
          </p:cNvSpPr>
          <p:nvPr/>
        </p:nvSpPr>
        <p:spPr bwMode="gray">
          <a:xfrm>
            <a:off x="6240894" y="3728753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1" name="直接连接符 53"/>
          <p:cNvCxnSpPr>
            <a:stCxn id="104" idx="1"/>
            <a:endCxn id="103" idx="3"/>
          </p:cNvCxnSpPr>
          <p:nvPr/>
        </p:nvCxnSpPr>
        <p:spPr bwMode="gray">
          <a:xfrm flipH="1" flipV="1">
            <a:off x="7249826" y="3882641"/>
            <a:ext cx="894483" cy="9393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2" name="Text Box 19"/>
          <p:cNvSpPr txBox="1">
            <a:spLocks noChangeArrowheads="1"/>
          </p:cNvSpPr>
          <p:nvPr/>
        </p:nvSpPr>
        <p:spPr bwMode="gray">
          <a:xfrm>
            <a:off x="8170647" y="4332803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3" name="图片 10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09826" y="3661241"/>
            <a:ext cx="540000" cy="442800"/>
          </a:xfrm>
          <a:prstGeom prst="rect">
            <a:avLst/>
          </a:prstGeom>
        </p:spPr>
      </p:pic>
      <p:pic>
        <p:nvPicPr>
          <p:cNvPr id="104" name="图片 10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44309" y="4600559"/>
            <a:ext cx="540000" cy="442800"/>
          </a:xfrm>
          <a:prstGeom prst="rect">
            <a:avLst/>
          </a:prstGeom>
        </p:spPr>
      </p:pic>
      <p:pic>
        <p:nvPicPr>
          <p:cNvPr id="105" name="图片 10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195339" y="4600559"/>
            <a:ext cx="540000" cy="442800"/>
          </a:xfrm>
          <a:prstGeom prst="rect">
            <a:avLst/>
          </a:prstGeom>
        </p:spPr>
      </p:pic>
      <p:cxnSp>
        <p:nvCxnSpPr>
          <p:cNvPr id="106" name="直接连接符 53"/>
          <p:cNvCxnSpPr>
            <a:stCxn id="105" idx="1"/>
            <a:endCxn id="104" idx="3"/>
          </p:cNvCxnSpPr>
          <p:nvPr/>
        </p:nvCxnSpPr>
        <p:spPr bwMode="gray">
          <a:xfrm flipH="1">
            <a:off x="8684309" y="4821959"/>
            <a:ext cx="51103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7" name="Text Box 19"/>
          <p:cNvSpPr txBox="1">
            <a:spLocks noChangeArrowheads="1"/>
          </p:cNvSpPr>
          <p:nvPr/>
        </p:nvSpPr>
        <p:spPr bwMode="gray">
          <a:xfrm>
            <a:off x="9216713" y="4332803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矩形 109"/>
          <p:cNvSpPr/>
          <p:nvPr/>
        </p:nvSpPr>
        <p:spPr bwMode="gray">
          <a:xfrm>
            <a:off x="6215303" y="3100387"/>
            <a:ext cx="5405198" cy="3100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Text Box 19"/>
          <p:cNvSpPr txBox="1">
            <a:spLocks noChangeArrowheads="1"/>
          </p:cNvSpPr>
          <p:nvPr/>
        </p:nvSpPr>
        <p:spPr bwMode="gray">
          <a:xfrm>
            <a:off x="6238756" y="4749479"/>
            <a:ext cx="6687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VPNB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Text Box 19"/>
          <p:cNvSpPr txBox="1">
            <a:spLocks noChangeArrowheads="1"/>
          </p:cNvSpPr>
          <p:nvPr/>
        </p:nvSpPr>
        <p:spPr bwMode="gray">
          <a:xfrm>
            <a:off x="6240894" y="5258997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8" name="图片 11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709826" y="5202142"/>
            <a:ext cx="540000" cy="442800"/>
          </a:xfrm>
          <a:prstGeom prst="rect">
            <a:avLst/>
          </a:prstGeom>
        </p:spPr>
      </p:pic>
      <p:cxnSp>
        <p:nvCxnSpPr>
          <p:cNvPr id="119" name="直接连接符 53"/>
          <p:cNvCxnSpPr>
            <a:stCxn id="104" idx="1"/>
            <a:endCxn id="118" idx="3"/>
          </p:cNvCxnSpPr>
          <p:nvPr/>
        </p:nvCxnSpPr>
        <p:spPr bwMode="gray">
          <a:xfrm flipH="1">
            <a:off x="7249826" y="4821959"/>
            <a:ext cx="894483" cy="60158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4" name="圆角矩形 5"/>
          <p:cNvSpPr/>
          <p:nvPr/>
        </p:nvSpPr>
        <p:spPr bwMode="gray">
          <a:xfrm>
            <a:off x="10429174" y="3341624"/>
            <a:ext cx="961200" cy="1188000"/>
          </a:xfrm>
          <a:prstGeom prst="roundRect">
            <a:avLst>
              <a:gd name="adj" fmla="val 1265"/>
            </a:avLst>
          </a:prstGeom>
          <a:solidFill>
            <a:srgbClr val="FDE397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圆角矩形 5"/>
          <p:cNvSpPr/>
          <p:nvPr/>
        </p:nvSpPr>
        <p:spPr bwMode="gray">
          <a:xfrm>
            <a:off x="10429174" y="4737738"/>
            <a:ext cx="961200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Text Box 19"/>
          <p:cNvSpPr txBox="1">
            <a:spLocks noChangeArrowheads="1"/>
          </p:cNvSpPr>
          <p:nvPr/>
        </p:nvSpPr>
        <p:spPr bwMode="gray">
          <a:xfrm>
            <a:off x="10406755" y="3345678"/>
            <a:ext cx="6687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VPNB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Text Box 19"/>
          <p:cNvSpPr txBox="1">
            <a:spLocks noChangeArrowheads="1"/>
          </p:cNvSpPr>
          <p:nvPr/>
        </p:nvSpPr>
        <p:spPr bwMode="gray">
          <a:xfrm>
            <a:off x="10929687" y="3728753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28" name="图片 12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72481" y="3661241"/>
            <a:ext cx="540000" cy="442800"/>
          </a:xfrm>
          <a:prstGeom prst="rect">
            <a:avLst/>
          </a:prstGeom>
        </p:spPr>
      </p:pic>
      <p:sp>
        <p:nvSpPr>
          <p:cNvPr id="129" name="Text Box 19"/>
          <p:cNvSpPr txBox="1">
            <a:spLocks noChangeArrowheads="1"/>
          </p:cNvSpPr>
          <p:nvPr/>
        </p:nvSpPr>
        <p:spPr bwMode="gray">
          <a:xfrm>
            <a:off x="10367692" y="4748167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Text Box 19"/>
          <p:cNvSpPr txBox="1">
            <a:spLocks noChangeArrowheads="1"/>
          </p:cNvSpPr>
          <p:nvPr/>
        </p:nvSpPr>
        <p:spPr bwMode="gray">
          <a:xfrm>
            <a:off x="10929687" y="5223457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31" name="图片 13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72481" y="5145288"/>
            <a:ext cx="540000" cy="442800"/>
          </a:xfrm>
          <a:prstGeom prst="rect">
            <a:avLst/>
          </a:prstGeom>
        </p:spPr>
      </p:pic>
      <p:cxnSp>
        <p:nvCxnSpPr>
          <p:cNvPr id="132" name="直接连接符 53"/>
          <p:cNvCxnSpPr>
            <a:stCxn id="128" idx="1"/>
            <a:endCxn id="105" idx="3"/>
          </p:cNvCxnSpPr>
          <p:nvPr/>
        </p:nvCxnSpPr>
        <p:spPr bwMode="gray">
          <a:xfrm flipH="1">
            <a:off x="9735339" y="3882641"/>
            <a:ext cx="737142" cy="9393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5" name="直接连接符 53"/>
          <p:cNvCxnSpPr>
            <a:stCxn id="125" idx="1"/>
            <a:endCxn id="105" idx="3"/>
          </p:cNvCxnSpPr>
          <p:nvPr/>
        </p:nvCxnSpPr>
        <p:spPr bwMode="gray">
          <a:xfrm flipH="1" flipV="1">
            <a:off x="9735339" y="4821959"/>
            <a:ext cx="693835" cy="50977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2" name="Text Box 19"/>
          <p:cNvSpPr txBox="1">
            <a:spLocks noChangeArrowheads="1"/>
          </p:cNvSpPr>
          <p:nvPr/>
        </p:nvSpPr>
        <p:spPr bwMode="gray">
          <a:xfrm>
            <a:off x="3489059" y="3898746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3" name="Text Box 19"/>
          <p:cNvSpPr txBox="1">
            <a:spLocks noChangeArrowheads="1"/>
          </p:cNvSpPr>
          <p:nvPr/>
        </p:nvSpPr>
        <p:spPr bwMode="gray">
          <a:xfrm>
            <a:off x="3340112" y="355798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公网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4" name="左右箭头 153"/>
          <p:cNvSpPr/>
          <p:nvPr/>
        </p:nvSpPr>
        <p:spPr bwMode="gray">
          <a:xfrm rot="19769106">
            <a:off x="1944502" y="4206523"/>
            <a:ext cx="1399918" cy="323101"/>
          </a:xfrm>
          <a:prstGeom prst="leftRightArrow">
            <a:avLst/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左右箭头 154"/>
          <p:cNvSpPr/>
          <p:nvPr/>
        </p:nvSpPr>
        <p:spPr bwMode="gray">
          <a:xfrm rot="5400000">
            <a:off x="6510723" y="4467113"/>
            <a:ext cx="1068024" cy="323101"/>
          </a:xfrm>
          <a:prstGeom prst="leftRightArrow">
            <a:avLst/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左右箭头 155"/>
          <p:cNvSpPr/>
          <p:nvPr/>
        </p:nvSpPr>
        <p:spPr bwMode="gray">
          <a:xfrm>
            <a:off x="7287820" y="3715224"/>
            <a:ext cx="3125183" cy="334834"/>
          </a:xfrm>
          <a:prstGeom prst="leftRightArrow">
            <a:avLst/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81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应用与组网概述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MPLS VPN</a:t>
            </a:r>
            <a:r>
              <a:rPr lang="zh-CN" altLang="en-US" b="1" dirty="0" smtClean="0">
                <a:sym typeface="Huawei Sans" panose="020C0503030203020204" pitchFamily="34" charset="0"/>
              </a:rPr>
              <a:t>典型场景部署介绍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smtClean="0">
                <a:sym typeface="Huawei Sans" panose="020C0503030203020204" pitchFamily="34" charset="0"/>
              </a:rPr>
              <a:t>Intranet</a:t>
            </a:r>
            <a:r>
              <a:rPr lang="zh-CN" altLang="en-US" dirty="0" smtClean="0">
                <a:sym typeface="Huawei Sans" panose="020C0503030203020204" pitchFamily="34" charset="0"/>
              </a:rPr>
              <a:t>场景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Hub&amp;Spoke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场景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不同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路由引入场景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拓展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68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部署</a:t>
            </a:r>
            <a:r>
              <a:rPr lang="en-US" altLang="zh-CN" smtClean="0">
                <a:sym typeface="Huawei Sans" panose="020C0503030203020204" pitchFamily="34" charset="0"/>
              </a:rPr>
              <a:t>Intranet</a:t>
            </a:r>
            <a:r>
              <a:rPr lang="zh-CN" altLang="en-US" smtClean="0">
                <a:sym typeface="Huawei Sans" panose="020C0503030203020204" pitchFamily="34" charset="0"/>
              </a:rPr>
              <a:t>场景的</a:t>
            </a:r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如图所示，客户</a:t>
            </a:r>
            <a:r>
              <a:rPr lang="en-US" altLang="zh-CN" sz="1800" dirty="0" smtClean="0">
                <a:sym typeface="Huawei Sans" panose="020C0503030203020204" pitchFamily="34" charset="0"/>
              </a:rPr>
              <a:t>X</a:t>
            </a:r>
            <a:r>
              <a:rPr lang="zh-CN" altLang="en-US" sz="1800" dirty="0" smtClean="0">
                <a:sym typeface="Huawei Sans" panose="020C0503030203020204" pitchFamily="34" charset="0"/>
              </a:rPr>
              <a:t>及</a:t>
            </a:r>
            <a:r>
              <a:rPr lang="en-US" altLang="zh-CN" sz="1800" dirty="0" smtClean="0">
                <a:sym typeface="Huawei Sans" panose="020C0503030203020204" pitchFamily="34" charset="0"/>
              </a:rPr>
              <a:t>Y</a:t>
            </a:r>
            <a:r>
              <a:rPr lang="zh-CN" altLang="en-US" sz="1800" dirty="0" smtClean="0">
                <a:sym typeface="Huawei Sans" panose="020C0503030203020204" pitchFamily="34" charset="0"/>
              </a:rPr>
              <a:t>各自有</a:t>
            </a:r>
            <a:r>
              <a:rPr lang="en-US" altLang="zh-CN" sz="1800" dirty="0" smtClean="0">
                <a:sym typeface="Huawei Sans" panose="020C0503030203020204" pitchFamily="34" charset="0"/>
              </a:rPr>
              <a:t>2</a:t>
            </a:r>
            <a:r>
              <a:rPr lang="zh-CN" altLang="en-US" sz="1800" dirty="0" smtClean="0">
                <a:sym typeface="Huawei Sans" panose="020C0503030203020204" pitchFamily="34" charset="0"/>
              </a:rPr>
              <a:t>个站点，现需要通过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实现站点之间的互联，分别对应</a:t>
            </a:r>
            <a:r>
              <a:rPr lang="en-US" altLang="zh-CN" sz="1800" dirty="0" smtClean="0">
                <a:sym typeface="Huawei Sans" panose="020C0503030203020204" pitchFamily="34" charset="0"/>
              </a:rPr>
              <a:t>VPNX</a:t>
            </a:r>
            <a:r>
              <a:rPr lang="zh-CN" altLang="en-US" sz="1800" dirty="0" smtClean="0">
                <a:sym typeface="Huawei Sans" panose="020C0503030203020204" pitchFamily="34" charset="0"/>
              </a:rPr>
              <a:t>和</a:t>
            </a:r>
            <a:r>
              <a:rPr lang="en-US" altLang="zh-CN" sz="1800" dirty="0" smtClean="0">
                <a:sym typeface="Huawei Sans" panose="020C0503030203020204" pitchFamily="34" charset="0"/>
              </a:rPr>
              <a:t>VPNY</a:t>
            </a:r>
            <a:r>
              <a:rPr lang="zh-CN" altLang="en-US" sz="1800" dirty="0" smtClean="0">
                <a:sym typeface="Huawei Sans" panose="020C0503030203020204" pitchFamily="34" charset="0"/>
              </a:rPr>
              <a:t>；</a:t>
            </a: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互联接口、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AS</a:t>
            </a:r>
            <a:r>
              <a:rPr lang="zh-CN" altLang="en-US" sz="1800" dirty="0" smtClean="0">
                <a:sym typeface="Huawei Sans" panose="020C0503030203020204" pitchFamily="34" charset="0"/>
              </a:rPr>
              <a:t>号及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地址信息，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CE</a:t>
            </a:r>
            <a:r>
              <a:rPr lang="zh-CN" altLang="en-US" sz="1800" dirty="0" smtClean="0">
                <a:sym typeface="Huawei Sans" panose="020C0503030203020204" pitchFamily="34" charset="0"/>
              </a:rPr>
              <a:t>与</a:t>
            </a:r>
            <a:r>
              <a:rPr lang="en-US" altLang="zh-CN" sz="1800" dirty="0" smtClean="0">
                <a:sym typeface="Huawei Sans" panose="020C0503030203020204" pitchFamily="34" charset="0"/>
              </a:rPr>
              <a:t>PE</a:t>
            </a:r>
            <a:r>
              <a:rPr lang="zh-CN" altLang="en-US" sz="1800" dirty="0" smtClean="0">
                <a:sym typeface="Huawei Sans" panose="020C0503030203020204" pitchFamily="34" charset="0"/>
              </a:rPr>
              <a:t>通过如图的协议或方法交换路由信息；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4" name="Group 108"/>
          <p:cNvGrpSpPr/>
          <p:nvPr/>
        </p:nvGrpSpPr>
        <p:grpSpPr bwMode="gray">
          <a:xfrm rot="16200000" flipV="1">
            <a:off x="10124867" y="5117008"/>
            <a:ext cx="259305" cy="557470"/>
            <a:chOff x="3134093" y="3084639"/>
            <a:chExt cx="611430" cy="432284"/>
          </a:xfrm>
        </p:grpSpPr>
        <p:cxnSp>
          <p:nvCxnSpPr>
            <p:cNvPr id="5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11"/>
          <p:cNvGrpSpPr/>
          <p:nvPr/>
        </p:nvGrpSpPr>
        <p:grpSpPr bwMode="gray">
          <a:xfrm rot="16200000" flipV="1">
            <a:off x="10124867" y="3510930"/>
            <a:ext cx="259305" cy="557470"/>
            <a:chOff x="3134093" y="3084639"/>
            <a:chExt cx="611430" cy="432284"/>
          </a:xfrm>
        </p:grpSpPr>
        <p:cxnSp>
          <p:nvCxnSpPr>
            <p:cNvPr id="8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104"/>
          <p:cNvGrpSpPr/>
          <p:nvPr/>
        </p:nvGrpSpPr>
        <p:grpSpPr bwMode="gray">
          <a:xfrm rot="16200000">
            <a:off x="1845974" y="5013650"/>
            <a:ext cx="259305" cy="764187"/>
            <a:chOff x="3134093" y="3084639"/>
            <a:chExt cx="611430" cy="432284"/>
          </a:xfrm>
        </p:grpSpPr>
        <p:cxnSp>
          <p:nvCxnSpPr>
            <p:cNvPr id="11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96"/>
          <p:cNvGrpSpPr/>
          <p:nvPr/>
        </p:nvGrpSpPr>
        <p:grpSpPr bwMode="gray">
          <a:xfrm rot="16200000">
            <a:off x="1845974" y="3407572"/>
            <a:ext cx="259305" cy="764187"/>
            <a:chOff x="3134093" y="3084639"/>
            <a:chExt cx="611430" cy="432284"/>
          </a:xfrm>
        </p:grpSpPr>
        <p:cxnSp>
          <p:nvCxnSpPr>
            <p:cNvPr id="14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圆角矩形 5"/>
          <p:cNvSpPr/>
          <p:nvPr/>
        </p:nvSpPr>
        <p:spPr bwMode="gray">
          <a:xfrm>
            <a:off x="9539903" y="4655754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94DAE2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圆角矩形 5"/>
          <p:cNvSpPr/>
          <p:nvPr/>
        </p:nvSpPr>
        <p:spPr bwMode="gray">
          <a:xfrm>
            <a:off x="9539903" y="3360289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圆角矩形 4"/>
          <p:cNvSpPr/>
          <p:nvPr/>
        </p:nvSpPr>
        <p:spPr bwMode="gray">
          <a:xfrm>
            <a:off x="3817818" y="3345758"/>
            <a:ext cx="4557086" cy="249799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9" name="Group 51"/>
          <p:cNvGrpSpPr/>
          <p:nvPr/>
        </p:nvGrpSpPr>
        <p:grpSpPr bwMode="gray">
          <a:xfrm rot="16200000">
            <a:off x="8237466" y="3632016"/>
            <a:ext cx="1620000" cy="1907618"/>
            <a:chOff x="695792" y="4725144"/>
            <a:chExt cx="1098640" cy="936104"/>
          </a:xfrm>
        </p:grpSpPr>
        <p:cxnSp>
          <p:nvCxnSpPr>
            <p:cNvPr id="20" name="直接连接符 53"/>
            <p:cNvCxnSpPr/>
            <p:nvPr/>
          </p:nvCxnSpPr>
          <p:spPr bwMode="gray">
            <a:xfrm>
              <a:off x="1245112" y="4725144"/>
              <a:ext cx="549320" cy="936104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gray">
            <a:xfrm flipH="1">
              <a:off x="695792" y="4725144"/>
              <a:ext cx="549320" cy="936104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Box 19"/>
          <p:cNvSpPr txBox="1">
            <a:spLocks noChangeArrowheads="1"/>
          </p:cNvSpPr>
          <p:nvPr/>
        </p:nvSpPr>
        <p:spPr bwMode="gray">
          <a:xfrm rot="1256276">
            <a:off x="2818360" y="3841013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圆角矩形 5"/>
          <p:cNvSpPr/>
          <p:nvPr/>
        </p:nvSpPr>
        <p:spPr bwMode="gray">
          <a:xfrm>
            <a:off x="1114921" y="4655754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94DAE2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gray">
          <a:xfrm>
            <a:off x="2352385" y="5392099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圆角矩形 5"/>
          <p:cNvSpPr/>
          <p:nvPr/>
        </p:nvSpPr>
        <p:spPr bwMode="gray">
          <a:xfrm>
            <a:off x="1114921" y="3360289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Text Box 19"/>
          <p:cNvSpPr txBox="1">
            <a:spLocks noChangeArrowheads="1"/>
          </p:cNvSpPr>
          <p:nvPr/>
        </p:nvSpPr>
        <p:spPr bwMode="gray">
          <a:xfrm>
            <a:off x="2352385" y="3346431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gray">
          <a:xfrm>
            <a:off x="1226163" y="4199917"/>
            <a:ext cx="12362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</a:p>
        </p:txBody>
      </p:sp>
      <p:cxnSp>
        <p:nvCxnSpPr>
          <p:cNvPr id="29" name="直接连接符 53"/>
          <p:cNvCxnSpPr/>
          <p:nvPr/>
        </p:nvCxnSpPr>
        <p:spPr bwMode="gray">
          <a:xfrm>
            <a:off x="4404812" y="4599815"/>
            <a:ext cx="34542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19"/>
          <p:cNvSpPr txBox="1">
            <a:spLocks noChangeArrowheads="1"/>
          </p:cNvSpPr>
          <p:nvPr/>
        </p:nvSpPr>
        <p:spPr bwMode="gray">
          <a:xfrm>
            <a:off x="1810024" y="3340360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grpSp>
        <p:nvGrpSpPr>
          <p:cNvPr id="31" name="Group 15"/>
          <p:cNvGrpSpPr/>
          <p:nvPr/>
        </p:nvGrpSpPr>
        <p:grpSpPr bwMode="gray">
          <a:xfrm rot="5400000">
            <a:off x="2490290" y="3632016"/>
            <a:ext cx="1620000" cy="1907618"/>
            <a:chOff x="695792" y="4725144"/>
            <a:chExt cx="1098640" cy="936104"/>
          </a:xfrm>
        </p:grpSpPr>
        <p:cxnSp>
          <p:nvCxnSpPr>
            <p:cNvPr id="32" name="直接连接符 53"/>
            <p:cNvCxnSpPr/>
            <p:nvPr/>
          </p:nvCxnSpPr>
          <p:spPr bwMode="gray">
            <a:xfrm>
              <a:off x="1245112" y="4725144"/>
              <a:ext cx="54932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53"/>
            <p:cNvCxnSpPr/>
            <p:nvPr/>
          </p:nvCxnSpPr>
          <p:spPr bwMode="gray">
            <a:xfrm flipH="1">
              <a:off x="695792" y="4725144"/>
              <a:ext cx="54932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4" name="Text Box 19"/>
          <p:cNvSpPr txBox="1">
            <a:spLocks noChangeArrowheads="1"/>
          </p:cNvSpPr>
          <p:nvPr/>
        </p:nvSpPr>
        <p:spPr bwMode="gray">
          <a:xfrm>
            <a:off x="1779028" y="5557863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gray">
          <a:xfrm>
            <a:off x="1231775" y="4657117"/>
            <a:ext cx="12250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gray">
          <a:xfrm>
            <a:off x="4195448" y="4786031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37" name="Text Box 19"/>
          <p:cNvSpPr txBox="1">
            <a:spLocks noChangeArrowheads="1"/>
          </p:cNvSpPr>
          <p:nvPr/>
        </p:nvSpPr>
        <p:spPr bwMode="gray">
          <a:xfrm>
            <a:off x="4579278" y="4171750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gray">
          <a:xfrm>
            <a:off x="4886301" y="4583329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6316444" y="4583329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gray">
          <a:xfrm>
            <a:off x="6561561" y="4128374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10.0.23.3/24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Text Box 19"/>
          <p:cNvSpPr txBox="1">
            <a:spLocks noChangeArrowheads="1"/>
          </p:cNvSpPr>
          <p:nvPr/>
        </p:nvSpPr>
        <p:spPr bwMode="gray">
          <a:xfrm rot="20086244">
            <a:off x="2931907" y="4868253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gray">
          <a:xfrm rot="20124792">
            <a:off x="8023860" y="3934983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Text Box 19"/>
          <p:cNvSpPr txBox="1">
            <a:spLocks noChangeArrowheads="1"/>
          </p:cNvSpPr>
          <p:nvPr/>
        </p:nvSpPr>
        <p:spPr bwMode="gray">
          <a:xfrm rot="1418714">
            <a:off x="7985987" y="4816625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gray">
          <a:xfrm>
            <a:off x="9685897" y="4199917"/>
            <a:ext cx="12266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gray">
          <a:xfrm>
            <a:off x="9676281" y="4657117"/>
            <a:ext cx="124585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</a:t>
            </a:r>
          </a:p>
        </p:txBody>
      </p:sp>
      <p:sp>
        <p:nvSpPr>
          <p:cNvPr id="46" name="Text Box 19"/>
          <p:cNvSpPr txBox="1">
            <a:spLocks noChangeArrowheads="1"/>
          </p:cNvSpPr>
          <p:nvPr/>
        </p:nvSpPr>
        <p:spPr bwMode="gray">
          <a:xfrm>
            <a:off x="9793703" y="3314414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Text Box 19"/>
          <p:cNvSpPr txBox="1">
            <a:spLocks noChangeArrowheads="1"/>
          </p:cNvSpPr>
          <p:nvPr/>
        </p:nvSpPr>
        <p:spPr bwMode="gray">
          <a:xfrm>
            <a:off x="9824700" y="5557863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</a:t>
            </a:r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gray">
          <a:xfrm>
            <a:off x="8532095" y="3346431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Text Box 19"/>
          <p:cNvSpPr txBox="1">
            <a:spLocks noChangeArrowheads="1"/>
          </p:cNvSpPr>
          <p:nvPr/>
        </p:nvSpPr>
        <p:spPr bwMode="gray">
          <a:xfrm>
            <a:off x="8558367" y="5392099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7" name="Group 81"/>
          <p:cNvGrpSpPr/>
          <p:nvPr/>
        </p:nvGrpSpPr>
        <p:grpSpPr bwMode="gray">
          <a:xfrm>
            <a:off x="4155986" y="3587401"/>
            <a:ext cx="459376" cy="764187"/>
            <a:chOff x="3134093" y="3084639"/>
            <a:chExt cx="611430" cy="432284"/>
          </a:xfrm>
        </p:grpSpPr>
        <p:cxnSp>
          <p:nvCxnSpPr>
            <p:cNvPr id="58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 Box 19"/>
          <p:cNvSpPr txBox="1">
            <a:spLocks noChangeArrowheads="1"/>
          </p:cNvSpPr>
          <p:nvPr/>
        </p:nvSpPr>
        <p:spPr bwMode="gray">
          <a:xfrm>
            <a:off x="3934495" y="3121887"/>
            <a:ext cx="939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</a:p>
          <a:p>
            <a:pPr algn="ctr" eaLnBrk="1" hangingPunct="1"/>
            <a:r>
              <a:rPr lang="en-US" altLang="zh-CN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1.1.1.1/32</a:t>
            </a:r>
            <a:endParaRPr lang="en-US" altLang="zh-CN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5" name="Group 89"/>
          <p:cNvGrpSpPr/>
          <p:nvPr/>
        </p:nvGrpSpPr>
        <p:grpSpPr bwMode="gray">
          <a:xfrm>
            <a:off x="7588597" y="3587401"/>
            <a:ext cx="459376" cy="764187"/>
            <a:chOff x="3134093" y="3084639"/>
            <a:chExt cx="611430" cy="432284"/>
          </a:xfrm>
        </p:grpSpPr>
        <p:cxnSp>
          <p:nvCxnSpPr>
            <p:cNvPr id="66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 Box 19"/>
          <p:cNvSpPr txBox="1">
            <a:spLocks noChangeArrowheads="1"/>
          </p:cNvSpPr>
          <p:nvPr/>
        </p:nvSpPr>
        <p:spPr bwMode="gray">
          <a:xfrm>
            <a:off x="7367106" y="3121887"/>
            <a:ext cx="939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Text Box 19"/>
          <p:cNvSpPr txBox="1">
            <a:spLocks noChangeArrowheads="1"/>
          </p:cNvSpPr>
          <p:nvPr/>
        </p:nvSpPr>
        <p:spPr bwMode="gray">
          <a:xfrm>
            <a:off x="5730842" y="5546020"/>
            <a:ext cx="776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Text Box 19"/>
          <p:cNvSpPr txBox="1">
            <a:spLocks noChangeArrowheads="1"/>
          </p:cNvSpPr>
          <p:nvPr/>
        </p:nvSpPr>
        <p:spPr bwMode="gray">
          <a:xfrm>
            <a:off x="576843" y="3663035"/>
            <a:ext cx="12453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Text Box 19"/>
          <p:cNvSpPr txBox="1">
            <a:spLocks noChangeArrowheads="1"/>
          </p:cNvSpPr>
          <p:nvPr/>
        </p:nvSpPr>
        <p:spPr bwMode="gray">
          <a:xfrm>
            <a:off x="10339694" y="3637325"/>
            <a:ext cx="127069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Text Box 19"/>
          <p:cNvSpPr txBox="1">
            <a:spLocks noChangeArrowheads="1"/>
          </p:cNvSpPr>
          <p:nvPr/>
        </p:nvSpPr>
        <p:spPr bwMode="gray">
          <a:xfrm>
            <a:off x="10355199" y="5258901"/>
            <a:ext cx="12551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</a:p>
        </p:txBody>
      </p:sp>
      <p:sp>
        <p:nvSpPr>
          <p:cNvPr id="74" name="Text Box 19"/>
          <p:cNvSpPr txBox="1">
            <a:spLocks noChangeArrowheads="1"/>
          </p:cNvSpPr>
          <p:nvPr/>
        </p:nvSpPr>
        <p:spPr bwMode="gray">
          <a:xfrm>
            <a:off x="1114921" y="5556514"/>
            <a:ext cx="705845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5" name="图片 7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792393" y="3614188"/>
            <a:ext cx="540000" cy="442800"/>
          </a:xfrm>
          <a:prstGeom prst="rect">
            <a:avLst/>
          </a:prstGeom>
        </p:spPr>
      </p:pic>
      <p:pic>
        <p:nvPicPr>
          <p:cNvPr id="76" name="图片 7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787906" y="5154505"/>
            <a:ext cx="540000" cy="442800"/>
          </a:xfrm>
          <a:prstGeom prst="rect">
            <a:avLst/>
          </a:prstGeom>
        </p:spPr>
      </p:pic>
      <p:pic>
        <p:nvPicPr>
          <p:cNvPr id="77" name="图片 7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98125" y="4321762"/>
            <a:ext cx="540000" cy="442800"/>
          </a:xfrm>
          <a:prstGeom prst="rect">
            <a:avLst/>
          </a:prstGeom>
        </p:spPr>
      </p:pic>
      <p:pic>
        <p:nvPicPr>
          <p:cNvPr id="78" name="图片 7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23696" y="4321762"/>
            <a:ext cx="540000" cy="442800"/>
          </a:xfrm>
          <a:prstGeom prst="rect">
            <a:avLst/>
          </a:prstGeom>
        </p:spPr>
      </p:pic>
      <p:pic>
        <p:nvPicPr>
          <p:cNvPr id="79" name="图片 7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37891" y="4321762"/>
            <a:ext cx="540000" cy="442800"/>
          </a:xfrm>
          <a:prstGeom prst="rect">
            <a:avLst/>
          </a:prstGeom>
        </p:spPr>
      </p:pic>
      <p:pic>
        <p:nvPicPr>
          <p:cNvPr id="80" name="图片 7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00757" y="3560301"/>
            <a:ext cx="540000" cy="442800"/>
          </a:xfrm>
          <a:prstGeom prst="rect">
            <a:avLst/>
          </a:prstGeom>
        </p:spPr>
      </p:pic>
      <p:pic>
        <p:nvPicPr>
          <p:cNvPr id="81" name="图片 8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799534" y="5164794"/>
            <a:ext cx="540000" cy="442800"/>
          </a:xfrm>
          <a:prstGeom prst="rect">
            <a:avLst/>
          </a:prstGeom>
        </p:spPr>
      </p:pic>
      <p:sp>
        <p:nvSpPr>
          <p:cNvPr id="82" name="Text Box 19"/>
          <p:cNvSpPr txBox="1">
            <a:spLocks noChangeArrowheads="1"/>
          </p:cNvSpPr>
          <p:nvPr/>
        </p:nvSpPr>
        <p:spPr bwMode="gray">
          <a:xfrm>
            <a:off x="5969036" y="4752111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Text Box 19"/>
          <p:cNvSpPr txBox="1">
            <a:spLocks noChangeArrowheads="1"/>
          </p:cNvSpPr>
          <p:nvPr/>
        </p:nvSpPr>
        <p:spPr bwMode="gray">
          <a:xfrm>
            <a:off x="7554161" y="4701975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 rot="1613431">
            <a:off x="2678248" y="411788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 rot="20002439">
            <a:off x="2895462" y="4675962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 rot="20096477">
            <a:off x="8539337" y="4179267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静态路由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 rot="1446207">
            <a:off x="8727596" y="4673983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IS-IS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Text Box 19"/>
          <p:cNvSpPr txBox="1">
            <a:spLocks noChangeArrowheads="1"/>
          </p:cNvSpPr>
          <p:nvPr/>
        </p:nvSpPr>
        <p:spPr bwMode="gray">
          <a:xfrm>
            <a:off x="511801" y="5253599"/>
            <a:ext cx="12453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74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PE-CE</a:t>
            </a:r>
            <a:r>
              <a:rPr lang="zh-CN" altLang="en-US" smtClean="0">
                <a:sym typeface="Huawei Sans" panose="020C0503030203020204" pitchFamily="34" charset="0"/>
              </a:rPr>
              <a:t>之间部署</a:t>
            </a:r>
            <a:r>
              <a:rPr lang="en-US" altLang="zh-CN" smtClean="0">
                <a:sym typeface="Huawei Sans" panose="020C0503030203020204" pitchFamily="34" charset="0"/>
              </a:rPr>
              <a:t>OSPF 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2" name="Rectangle 55"/>
          <p:cNvSpPr/>
          <p:nvPr/>
        </p:nvSpPr>
        <p:spPr bwMode="gray">
          <a:xfrm>
            <a:off x="3488123" y="4377730"/>
            <a:ext cx="5181600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CE1-ospf-1]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area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[CE1-ospf-1-area-0.0.0.0]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192.168.100.0 0.0.0.255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[CE1-ospf-1-area-0.0.0.0]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192.168.1.0 0.0.0.255</a:t>
            </a:r>
          </a:p>
        </p:txBody>
      </p:sp>
      <p:sp>
        <p:nvSpPr>
          <p:cNvPr id="83" name="Text Box 19"/>
          <p:cNvSpPr txBox="1">
            <a:spLocks noChangeArrowheads="1"/>
          </p:cNvSpPr>
          <p:nvPr/>
        </p:nvSpPr>
        <p:spPr bwMode="gray">
          <a:xfrm>
            <a:off x="3489801" y="5456043"/>
            <a:ext cx="5179922" cy="350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配置还是传统的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无需支持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27" name="Group 111"/>
          <p:cNvGrpSpPr/>
          <p:nvPr/>
        </p:nvGrpSpPr>
        <p:grpSpPr bwMode="gray">
          <a:xfrm rot="16200000" flipV="1">
            <a:off x="10154127" y="1437873"/>
            <a:ext cx="259305" cy="557470"/>
            <a:chOff x="3134093" y="3084639"/>
            <a:chExt cx="611430" cy="432284"/>
          </a:xfrm>
        </p:grpSpPr>
        <p:cxnSp>
          <p:nvCxnSpPr>
            <p:cNvPr id="128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96"/>
          <p:cNvGrpSpPr/>
          <p:nvPr/>
        </p:nvGrpSpPr>
        <p:grpSpPr bwMode="gray">
          <a:xfrm rot="16200000">
            <a:off x="1875234" y="1334515"/>
            <a:ext cx="259305" cy="764187"/>
            <a:chOff x="3134093" y="3084639"/>
            <a:chExt cx="611430" cy="432284"/>
          </a:xfrm>
        </p:grpSpPr>
        <p:cxnSp>
          <p:nvCxnSpPr>
            <p:cNvPr id="131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圆角矩形 5"/>
          <p:cNvSpPr/>
          <p:nvPr/>
        </p:nvSpPr>
        <p:spPr bwMode="gray">
          <a:xfrm>
            <a:off x="9569163" y="1287232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圆角矩形 4"/>
          <p:cNvSpPr/>
          <p:nvPr/>
        </p:nvSpPr>
        <p:spPr bwMode="gray">
          <a:xfrm>
            <a:off x="3864499" y="1273374"/>
            <a:ext cx="4557086" cy="1840653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5" name="直接连接符 53"/>
          <p:cNvCxnSpPr/>
          <p:nvPr/>
        </p:nvCxnSpPr>
        <p:spPr bwMode="gray">
          <a:xfrm rot="16200000">
            <a:off x="8671726" y="1153959"/>
            <a:ext cx="810000" cy="190761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 Box 19"/>
          <p:cNvSpPr txBox="1">
            <a:spLocks noChangeArrowheads="1"/>
          </p:cNvSpPr>
          <p:nvPr/>
        </p:nvSpPr>
        <p:spPr bwMode="gray">
          <a:xfrm rot="1256276">
            <a:off x="2847620" y="1767956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7" name="圆角矩形 5"/>
          <p:cNvSpPr/>
          <p:nvPr/>
        </p:nvSpPr>
        <p:spPr bwMode="gray">
          <a:xfrm>
            <a:off x="1144181" y="1287232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Text Box 19"/>
          <p:cNvSpPr txBox="1">
            <a:spLocks noChangeArrowheads="1"/>
          </p:cNvSpPr>
          <p:nvPr/>
        </p:nvSpPr>
        <p:spPr bwMode="gray">
          <a:xfrm>
            <a:off x="2381645" y="1273374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Text Box 19"/>
          <p:cNvSpPr txBox="1">
            <a:spLocks noChangeArrowheads="1"/>
          </p:cNvSpPr>
          <p:nvPr/>
        </p:nvSpPr>
        <p:spPr bwMode="gray">
          <a:xfrm>
            <a:off x="1255423" y="2126860"/>
            <a:ext cx="12362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</a:p>
        </p:txBody>
      </p:sp>
      <p:cxnSp>
        <p:nvCxnSpPr>
          <p:cNvPr id="140" name="直接连接符 53"/>
          <p:cNvCxnSpPr/>
          <p:nvPr/>
        </p:nvCxnSpPr>
        <p:spPr bwMode="gray">
          <a:xfrm>
            <a:off x="4434072" y="2526758"/>
            <a:ext cx="34542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 Box 19"/>
          <p:cNvSpPr txBox="1">
            <a:spLocks noChangeArrowheads="1"/>
          </p:cNvSpPr>
          <p:nvPr/>
        </p:nvSpPr>
        <p:spPr bwMode="gray">
          <a:xfrm>
            <a:off x="1839284" y="1267303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cxnSp>
        <p:nvCxnSpPr>
          <p:cNvPr id="142" name="直接连接符 53"/>
          <p:cNvCxnSpPr/>
          <p:nvPr/>
        </p:nvCxnSpPr>
        <p:spPr bwMode="gray">
          <a:xfrm rot="5400000" flipH="1">
            <a:off x="2924550" y="1153959"/>
            <a:ext cx="810000" cy="19076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3" name="Text Box 19"/>
          <p:cNvSpPr txBox="1">
            <a:spLocks noChangeArrowheads="1"/>
          </p:cNvSpPr>
          <p:nvPr/>
        </p:nvSpPr>
        <p:spPr bwMode="gray">
          <a:xfrm>
            <a:off x="4224708" y="271297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44" name="Text Box 19"/>
          <p:cNvSpPr txBox="1">
            <a:spLocks noChangeArrowheads="1"/>
          </p:cNvSpPr>
          <p:nvPr/>
        </p:nvSpPr>
        <p:spPr bwMode="gray">
          <a:xfrm rot="20124792">
            <a:off x="8053120" y="1861926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Text Box 19"/>
          <p:cNvSpPr txBox="1">
            <a:spLocks noChangeArrowheads="1"/>
          </p:cNvSpPr>
          <p:nvPr/>
        </p:nvSpPr>
        <p:spPr bwMode="gray">
          <a:xfrm>
            <a:off x="9715157" y="2126860"/>
            <a:ext cx="12266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</a:p>
        </p:txBody>
      </p:sp>
      <p:sp>
        <p:nvSpPr>
          <p:cNvPr id="146" name="Text Box 19"/>
          <p:cNvSpPr txBox="1">
            <a:spLocks noChangeArrowheads="1"/>
          </p:cNvSpPr>
          <p:nvPr/>
        </p:nvSpPr>
        <p:spPr bwMode="gray">
          <a:xfrm>
            <a:off x="9822963" y="1241357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Text Box 19"/>
          <p:cNvSpPr txBox="1">
            <a:spLocks noChangeArrowheads="1"/>
          </p:cNvSpPr>
          <p:nvPr/>
        </p:nvSpPr>
        <p:spPr bwMode="gray">
          <a:xfrm>
            <a:off x="8561355" y="1273374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Text Box 19"/>
          <p:cNvSpPr txBox="1">
            <a:spLocks noChangeArrowheads="1"/>
          </p:cNvSpPr>
          <p:nvPr/>
        </p:nvSpPr>
        <p:spPr bwMode="gray">
          <a:xfrm>
            <a:off x="5694067" y="1267303"/>
            <a:ext cx="776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Text Box 19"/>
          <p:cNvSpPr txBox="1">
            <a:spLocks noChangeArrowheads="1"/>
          </p:cNvSpPr>
          <p:nvPr/>
        </p:nvSpPr>
        <p:spPr bwMode="gray">
          <a:xfrm>
            <a:off x="606103" y="1589978"/>
            <a:ext cx="12453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0" name="Text Box 19"/>
          <p:cNvSpPr txBox="1">
            <a:spLocks noChangeArrowheads="1"/>
          </p:cNvSpPr>
          <p:nvPr/>
        </p:nvSpPr>
        <p:spPr bwMode="gray">
          <a:xfrm>
            <a:off x="10368954" y="1564268"/>
            <a:ext cx="127069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51" name="图片 15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21653" y="1541131"/>
            <a:ext cx="540000" cy="442800"/>
          </a:xfrm>
          <a:prstGeom prst="rect">
            <a:avLst/>
          </a:prstGeom>
        </p:spPr>
      </p:pic>
      <p:pic>
        <p:nvPicPr>
          <p:cNvPr id="152" name="图片 15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85" y="2248705"/>
            <a:ext cx="540000" cy="442800"/>
          </a:xfrm>
          <a:prstGeom prst="rect">
            <a:avLst/>
          </a:prstGeom>
        </p:spPr>
      </p:pic>
      <p:pic>
        <p:nvPicPr>
          <p:cNvPr id="153" name="图片 15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56" y="2248705"/>
            <a:ext cx="540000" cy="442800"/>
          </a:xfrm>
          <a:prstGeom prst="rect">
            <a:avLst/>
          </a:prstGeom>
        </p:spPr>
      </p:pic>
      <p:pic>
        <p:nvPicPr>
          <p:cNvPr id="154" name="图片 15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51" y="2248705"/>
            <a:ext cx="540000" cy="442800"/>
          </a:xfrm>
          <a:prstGeom prst="rect">
            <a:avLst/>
          </a:prstGeom>
        </p:spPr>
      </p:pic>
      <p:pic>
        <p:nvPicPr>
          <p:cNvPr id="155" name="图片 15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30017" y="1487244"/>
            <a:ext cx="540000" cy="442800"/>
          </a:xfrm>
          <a:prstGeom prst="rect">
            <a:avLst/>
          </a:prstGeom>
        </p:spPr>
      </p:pic>
      <p:sp>
        <p:nvSpPr>
          <p:cNvPr id="156" name="Text Box 19"/>
          <p:cNvSpPr txBox="1">
            <a:spLocks noChangeArrowheads="1"/>
          </p:cNvSpPr>
          <p:nvPr/>
        </p:nvSpPr>
        <p:spPr bwMode="gray">
          <a:xfrm>
            <a:off x="5998296" y="2679054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7" name="Text Box 19"/>
          <p:cNvSpPr txBox="1">
            <a:spLocks noChangeArrowheads="1"/>
          </p:cNvSpPr>
          <p:nvPr/>
        </p:nvSpPr>
        <p:spPr bwMode="gray">
          <a:xfrm>
            <a:off x="7583421" y="2628918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8" name="文本框 157"/>
          <p:cNvSpPr txBox="1"/>
          <p:nvPr/>
        </p:nvSpPr>
        <p:spPr bwMode="gray">
          <a:xfrm rot="1613431">
            <a:off x="2707508" y="204482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9" name="文本框 158"/>
          <p:cNvSpPr txBox="1"/>
          <p:nvPr/>
        </p:nvSpPr>
        <p:spPr bwMode="gray">
          <a:xfrm rot="20096477">
            <a:off x="8568597" y="210621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静态路由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Oval 90"/>
          <p:cNvSpPr/>
          <p:nvPr/>
        </p:nvSpPr>
        <p:spPr bwMode="gray">
          <a:xfrm>
            <a:off x="3979569" y="2353128"/>
            <a:ext cx="183784" cy="18360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1" name="Oval 90"/>
          <p:cNvSpPr/>
          <p:nvPr/>
        </p:nvSpPr>
        <p:spPr bwMode="gray">
          <a:xfrm>
            <a:off x="8591157" y="3026353"/>
            <a:ext cx="183784" cy="18360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2" name="Text Box 19"/>
          <p:cNvSpPr txBox="1">
            <a:spLocks noChangeArrowheads="1"/>
          </p:cNvSpPr>
          <p:nvPr/>
        </p:nvSpPr>
        <p:spPr bwMode="gray">
          <a:xfrm>
            <a:off x="8774941" y="2968557"/>
            <a:ext cx="27184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该接口已经绑定到相应的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VRF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5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PE-CE</a:t>
            </a:r>
            <a:r>
              <a:rPr lang="zh-CN" altLang="en-US" smtClean="0">
                <a:sym typeface="Huawei Sans" panose="020C0503030203020204" pitchFamily="34" charset="0"/>
              </a:rPr>
              <a:t>之间部署</a:t>
            </a:r>
            <a:r>
              <a:rPr lang="en-US" altLang="zh-CN" smtClean="0">
                <a:sym typeface="Huawei Sans" panose="020C0503030203020204" pitchFamily="34" charset="0"/>
              </a:rPr>
              <a:t>OSPF 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0" name="Rectangle 60"/>
          <p:cNvSpPr/>
          <p:nvPr/>
        </p:nvSpPr>
        <p:spPr bwMode="gray">
          <a:xfrm>
            <a:off x="550702" y="3523941"/>
            <a:ext cx="5684259" cy="1169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VPNX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[PE1-ospf-1]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area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[PE1-ospf-1-area-0.0.0.0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192.168.100.0 0.0.0.255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[PE1-ospf-1-area-0.0.0.0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quit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[PE1-ospf-1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endParaRPr lang="en-US" altLang="zh-CN" sz="1400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Rectangle 86"/>
          <p:cNvSpPr/>
          <p:nvPr/>
        </p:nvSpPr>
        <p:spPr bwMode="gray">
          <a:xfrm>
            <a:off x="6473542" y="3529928"/>
            <a:ext cx="4752001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123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[PE1-bgp]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ipv4-family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VPNX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import-route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Text Box 19"/>
          <p:cNvSpPr txBox="1">
            <a:spLocks noChangeArrowheads="1"/>
          </p:cNvSpPr>
          <p:nvPr/>
        </p:nvSpPr>
        <p:spPr bwMode="gray">
          <a:xfrm>
            <a:off x="6473541" y="4779131"/>
            <a:ext cx="4752002" cy="93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VPNX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的路由表中通过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进程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学习到的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路由引入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，从而将到达站点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的客户路由转换成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路由，以便通告给远端的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Text Box 19"/>
          <p:cNvSpPr txBox="1">
            <a:spLocks noChangeArrowheads="1"/>
          </p:cNvSpPr>
          <p:nvPr/>
        </p:nvSpPr>
        <p:spPr bwMode="gray">
          <a:xfrm>
            <a:off x="550703" y="4814211"/>
            <a:ext cx="5684258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用于跟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对接的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进程必须与对应的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实例绑定。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VPNX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的路由表中的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路由（主要是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获知的、到达站点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的客户路由）引入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，以便将这些路由通过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6" name="Group 111"/>
          <p:cNvGrpSpPr/>
          <p:nvPr/>
        </p:nvGrpSpPr>
        <p:grpSpPr bwMode="gray">
          <a:xfrm rot="16200000" flipV="1">
            <a:off x="10154127" y="1437873"/>
            <a:ext cx="259305" cy="557470"/>
            <a:chOff x="3134093" y="3084639"/>
            <a:chExt cx="611430" cy="432284"/>
          </a:xfrm>
        </p:grpSpPr>
        <p:cxnSp>
          <p:nvCxnSpPr>
            <p:cNvPr id="37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96"/>
          <p:cNvGrpSpPr/>
          <p:nvPr/>
        </p:nvGrpSpPr>
        <p:grpSpPr bwMode="gray">
          <a:xfrm rot="16200000">
            <a:off x="1875234" y="1334515"/>
            <a:ext cx="259305" cy="764187"/>
            <a:chOff x="3134093" y="3084639"/>
            <a:chExt cx="611430" cy="432284"/>
          </a:xfrm>
        </p:grpSpPr>
        <p:cxnSp>
          <p:nvCxnSpPr>
            <p:cNvPr id="41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圆角矩形 5"/>
          <p:cNvSpPr/>
          <p:nvPr/>
        </p:nvSpPr>
        <p:spPr bwMode="gray">
          <a:xfrm>
            <a:off x="9569163" y="1287232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圆角矩形 4"/>
          <p:cNvSpPr/>
          <p:nvPr/>
        </p:nvSpPr>
        <p:spPr bwMode="gray">
          <a:xfrm>
            <a:off x="3864499" y="1273374"/>
            <a:ext cx="4557086" cy="1840653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5" name="直接连接符 53"/>
          <p:cNvCxnSpPr/>
          <p:nvPr/>
        </p:nvCxnSpPr>
        <p:spPr bwMode="gray">
          <a:xfrm rot="16200000">
            <a:off x="8671726" y="1153959"/>
            <a:ext cx="810000" cy="190761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19"/>
          <p:cNvSpPr txBox="1">
            <a:spLocks noChangeArrowheads="1"/>
          </p:cNvSpPr>
          <p:nvPr/>
        </p:nvSpPr>
        <p:spPr bwMode="gray">
          <a:xfrm rot="1256276">
            <a:off x="2847620" y="1767956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圆角矩形 5"/>
          <p:cNvSpPr/>
          <p:nvPr/>
        </p:nvSpPr>
        <p:spPr bwMode="gray">
          <a:xfrm>
            <a:off x="1144181" y="1287232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gray">
          <a:xfrm>
            <a:off x="2381645" y="1273374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Text Box 19"/>
          <p:cNvSpPr txBox="1">
            <a:spLocks noChangeArrowheads="1"/>
          </p:cNvSpPr>
          <p:nvPr/>
        </p:nvSpPr>
        <p:spPr bwMode="gray">
          <a:xfrm>
            <a:off x="1255423" y="2126860"/>
            <a:ext cx="12362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</a:p>
        </p:txBody>
      </p:sp>
      <p:cxnSp>
        <p:nvCxnSpPr>
          <p:cNvPr id="50" name="直接连接符 53"/>
          <p:cNvCxnSpPr/>
          <p:nvPr/>
        </p:nvCxnSpPr>
        <p:spPr bwMode="gray">
          <a:xfrm>
            <a:off x="4434072" y="2526758"/>
            <a:ext cx="34542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19"/>
          <p:cNvSpPr txBox="1">
            <a:spLocks noChangeArrowheads="1"/>
          </p:cNvSpPr>
          <p:nvPr/>
        </p:nvSpPr>
        <p:spPr bwMode="gray">
          <a:xfrm>
            <a:off x="1839284" y="1267303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cxnSp>
        <p:nvCxnSpPr>
          <p:cNvPr id="52" name="直接连接符 53"/>
          <p:cNvCxnSpPr/>
          <p:nvPr/>
        </p:nvCxnSpPr>
        <p:spPr bwMode="gray">
          <a:xfrm rot="5400000" flipH="1">
            <a:off x="2924550" y="1153959"/>
            <a:ext cx="810000" cy="19076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Text Box 19"/>
          <p:cNvSpPr txBox="1">
            <a:spLocks noChangeArrowheads="1"/>
          </p:cNvSpPr>
          <p:nvPr/>
        </p:nvSpPr>
        <p:spPr bwMode="gray">
          <a:xfrm>
            <a:off x="4224708" y="271297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54" name="Text Box 19"/>
          <p:cNvSpPr txBox="1">
            <a:spLocks noChangeArrowheads="1"/>
          </p:cNvSpPr>
          <p:nvPr/>
        </p:nvSpPr>
        <p:spPr bwMode="gray">
          <a:xfrm rot="20124792">
            <a:off x="8053120" y="1861926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gray">
          <a:xfrm>
            <a:off x="9715157" y="2126860"/>
            <a:ext cx="12266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gray">
          <a:xfrm>
            <a:off x="9822963" y="1241357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Text Box 19"/>
          <p:cNvSpPr txBox="1">
            <a:spLocks noChangeArrowheads="1"/>
          </p:cNvSpPr>
          <p:nvPr/>
        </p:nvSpPr>
        <p:spPr bwMode="gray">
          <a:xfrm>
            <a:off x="8561355" y="1273374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Text Box 19"/>
          <p:cNvSpPr txBox="1">
            <a:spLocks noChangeArrowheads="1"/>
          </p:cNvSpPr>
          <p:nvPr/>
        </p:nvSpPr>
        <p:spPr bwMode="gray">
          <a:xfrm>
            <a:off x="5694067" y="1267303"/>
            <a:ext cx="776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Text Box 19"/>
          <p:cNvSpPr txBox="1">
            <a:spLocks noChangeArrowheads="1"/>
          </p:cNvSpPr>
          <p:nvPr/>
        </p:nvSpPr>
        <p:spPr bwMode="gray">
          <a:xfrm>
            <a:off x="606103" y="1589978"/>
            <a:ext cx="12453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Text Box 19"/>
          <p:cNvSpPr txBox="1">
            <a:spLocks noChangeArrowheads="1"/>
          </p:cNvSpPr>
          <p:nvPr/>
        </p:nvSpPr>
        <p:spPr bwMode="gray">
          <a:xfrm>
            <a:off x="10368954" y="1564268"/>
            <a:ext cx="127069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3" name="图片 6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21653" y="1541131"/>
            <a:ext cx="540000" cy="442800"/>
          </a:xfrm>
          <a:prstGeom prst="rect">
            <a:avLst/>
          </a:prstGeom>
        </p:spPr>
      </p:pic>
      <p:pic>
        <p:nvPicPr>
          <p:cNvPr id="64" name="图片 6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85" y="2248705"/>
            <a:ext cx="540000" cy="442800"/>
          </a:xfrm>
          <a:prstGeom prst="rect">
            <a:avLst/>
          </a:prstGeom>
        </p:spPr>
      </p:pic>
      <p:pic>
        <p:nvPicPr>
          <p:cNvPr id="65" name="图片 6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56" y="2248705"/>
            <a:ext cx="540000" cy="442800"/>
          </a:xfrm>
          <a:prstGeom prst="rect">
            <a:avLst/>
          </a:prstGeom>
        </p:spPr>
      </p:pic>
      <p:pic>
        <p:nvPicPr>
          <p:cNvPr id="67" name="图片 6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51" y="2248705"/>
            <a:ext cx="540000" cy="442800"/>
          </a:xfrm>
          <a:prstGeom prst="rect">
            <a:avLst/>
          </a:prstGeom>
        </p:spPr>
      </p:pic>
      <p:pic>
        <p:nvPicPr>
          <p:cNvPr id="71" name="图片 7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30017" y="1487244"/>
            <a:ext cx="540000" cy="442800"/>
          </a:xfrm>
          <a:prstGeom prst="rect">
            <a:avLst/>
          </a:prstGeom>
        </p:spPr>
      </p:pic>
      <p:sp>
        <p:nvSpPr>
          <p:cNvPr id="72" name="Text Box 19"/>
          <p:cNvSpPr txBox="1">
            <a:spLocks noChangeArrowheads="1"/>
          </p:cNvSpPr>
          <p:nvPr/>
        </p:nvSpPr>
        <p:spPr bwMode="gray">
          <a:xfrm>
            <a:off x="5998296" y="2679054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Text Box 19"/>
          <p:cNvSpPr txBox="1">
            <a:spLocks noChangeArrowheads="1"/>
          </p:cNvSpPr>
          <p:nvPr/>
        </p:nvSpPr>
        <p:spPr bwMode="gray">
          <a:xfrm>
            <a:off x="7583421" y="2628918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 rot="1613431">
            <a:off x="2707508" y="204482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 rot="20096477">
            <a:off x="8568597" y="210621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静态路由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Oval 90"/>
          <p:cNvSpPr/>
          <p:nvPr/>
        </p:nvSpPr>
        <p:spPr bwMode="gray">
          <a:xfrm>
            <a:off x="3979569" y="2353128"/>
            <a:ext cx="183784" cy="18360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Oval 90"/>
          <p:cNvSpPr/>
          <p:nvPr/>
        </p:nvSpPr>
        <p:spPr bwMode="gray">
          <a:xfrm>
            <a:off x="8591157" y="3026353"/>
            <a:ext cx="183784" cy="18360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Text Box 19"/>
          <p:cNvSpPr txBox="1">
            <a:spLocks noChangeArrowheads="1"/>
          </p:cNvSpPr>
          <p:nvPr/>
        </p:nvSpPr>
        <p:spPr bwMode="gray">
          <a:xfrm>
            <a:off x="8774941" y="2968557"/>
            <a:ext cx="27184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该接口已经绑定到相应的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VRF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27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PE-CE</a:t>
            </a:r>
            <a:r>
              <a:rPr lang="zh-CN" altLang="en-US" smtClean="0">
                <a:sym typeface="Huawei Sans" panose="020C0503030203020204" pitchFamily="34" charset="0"/>
              </a:rPr>
              <a:t>之间部署静态路由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0" name="Oval 90"/>
          <p:cNvSpPr/>
          <p:nvPr/>
        </p:nvSpPr>
        <p:spPr bwMode="gray">
          <a:xfrm>
            <a:off x="8591157" y="3051084"/>
            <a:ext cx="183784" cy="18360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Text Box 19"/>
          <p:cNvSpPr txBox="1">
            <a:spLocks noChangeArrowheads="1"/>
          </p:cNvSpPr>
          <p:nvPr/>
        </p:nvSpPr>
        <p:spPr bwMode="gray">
          <a:xfrm>
            <a:off x="8774941" y="2993288"/>
            <a:ext cx="27184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该接口已经绑定到相应的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VRF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2" name="Group 111"/>
          <p:cNvGrpSpPr/>
          <p:nvPr/>
        </p:nvGrpSpPr>
        <p:grpSpPr bwMode="gray">
          <a:xfrm rot="16200000" flipV="1">
            <a:off x="10154127" y="1462604"/>
            <a:ext cx="259305" cy="557470"/>
            <a:chOff x="3134093" y="3084639"/>
            <a:chExt cx="611430" cy="432284"/>
          </a:xfrm>
        </p:grpSpPr>
        <p:cxnSp>
          <p:nvCxnSpPr>
            <p:cNvPr id="83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96"/>
          <p:cNvGrpSpPr/>
          <p:nvPr/>
        </p:nvGrpSpPr>
        <p:grpSpPr bwMode="gray">
          <a:xfrm rot="16200000">
            <a:off x="1875234" y="1359246"/>
            <a:ext cx="259305" cy="764187"/>
            <a:chOff x="3134093" y="3084639"/>
            <a:chExt cx="611430" cy="432284"/>
          </a:xfrm>
        </p:grpSpPr>
        <p:cxnSp>
          <p:nvCxnSpPr>
            <p:cNvPr id="86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圆角矩形 5"/>
          <p:cNvSpPr/>
          <p:nvPr/>
        </p:nvSpPr>
        <p:spPr bwMode="gray">
          <a:xfrm>
            <a:off x="9569163" y="1311963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圆角矩形 4"/>
          <p:cNvSpPr/>
          <p:nvPr/>
        </p:nvSpPr>
        <p:spPr bwMode="gray">
          <a:xfrm>
            <a:off x="3864499" y="1298105"/>
            <a:ext cx="4557086" cy="1840653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0" name="直接连接符 53"/>
          <p:cNvCxnSpPr/>
          <p:nvPr/>
        </p:nvCxnSpPr>
        <p:spPr bwMode="gray">
          <a:xfrm rot="16200000">
            <a:off x="8671726" y="1178690"/>
            <a:ext cx="810000" cy="190761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19"/>
          <p:cNvSpPr txBox="1">
            <a:spLocks noChangeArrowheads="1"/>
          </p:cNvSpPr>
          <p:nvPr/>
        </p:nvSpPr>
        <p:spPr bwMode="gray">
          <a:xfrm rot="1256276">
            <a:off x="2847620" y="1792687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圆角矩形 5"/>
          <p:cNvSpPr/>
          <p:nvPr/>
        </p:nvSpPr>
        <p:spPr bwMode="gray">
          <a:xfrm>
            <a:off x="1144181" y="1311963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Text Box 19"/>
          <p:cNvSpPr txBox="1">
            <a:spLocks noChangeArrowheads="1"/>
          </p:cNvSpPr>
          <p:nvPr/>
        </p:nvSpPr>
        <p:spPr bwMode="gray">
          <a:xfrm>
            <a:off x="2381645" y="1298105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Text Box 19"/>
          <p:cNvSpPr txBox="1">
            <a:spLocks noChangeArrowheads="1"/>
          </p:cNvSpPr>
          <p:nvPr/>
        </p:nvSpPr>
        <p:spPr bwMode="gray">
          <a:xfrm>
            <a:off x="1255423" y="2151591"/>
            <a:ext cx="12362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</a:p>
        </p:txBody>
      </p:sp>
      <p:cxnSp>
        <p:nvCxnSpPr>
          <p:cNvPr id="95" name="直接连接符 53"/>
          <p:cNvCxnSpPr/>
          <p:nvPr/>
        </p:nvCxnSpPr>
        <p:spPr bwMode="gray">
          <a:xfrm>
            <a:off x="4434072" y="2551489"/>
            <a:ext cx="34542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 Box 19"/>
          <p:cNvSpPr txBox="1">
            <a:spLocks noChangeArrowheads="1"/>
          </p:cNvSpPr>
          <p:nvPr/>
        </p:nvSpPr>
        <p:spPr bwMode="gray">
          <a:xfrm>
            <a:off x="1839284" y="1292034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cxnSp>
        <p:nvCxnSpPr>
          <p:cNvPr id="97" name="直接连接符 53"/>
          <p:cNvCxnSpPr/>
          <p:nvPr/>
        </p:nvCxnSpPr>
        <p:spPr bwMode="gray">
          <a:xfrm rot="5400000" flipH="1">
            <a:off x="2924550" y="1178690"/>
            <a:ext cx="810000" cy="19076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8" name="Text Box 19"/>
          <p:cNvSpPr txBox="1">
            <a:spLocks noChangeArrowheads="1"/>
          </p:cNvSpPr>
          <p:nvPr/>
        </p:nvSpPr>
        <p:spPr bwMode="gray">
          <a:xfrm>
            <a:off x="4224708" y="2737705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99" name="Text Box 19"/>
          <p:cNvSpPr txBox="1">
            <a:spLocks noChangeArrowheads="1"/>
          </p:cNvSpPr>
          <p:nvPr/>
        </p:nvSpPr>
        <p:spPr bwMode="gray">
          <a:xfrm rot="20124792">
            <a:off x="8053120" y="1886657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Text Box 19"/>
          <p:cNvSpPr txBox="1">
            <a:spLocks noChangeArrowheads="1"/>
          </p:cNvSpPr>
          <p:nvPr/>
        </p:nvSpPr>
        <p:spPr bwMode="gray">
          <a:xfrm>
            <a:off x="9715157" y="2151591"/>
            <a:ext cx="12266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  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</a:p>
        </p:txBody>
      </p:sp>
      <p:sp>
        <p:nvSpPr>
          <p:cNvPr id="101" name="Text Box 19"/>
          <p:cNvSpPr txBox="1">
            <a:spLocks noChangeArrowheads="1"/>
          </p:cNvSpPr>
          <p:nvPr/>
        </p:nvSpPr>
        <p:spPr bwMode="gray">
          <a:xfrm>
            <a:off x="9822963" y="1266088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Text Box 19"/>
          <p:cNvSpPr txBox="1">
            <a:spLocks noChangeArrowheads="1"/>
          </p:cNvSpPr>
          <p:nvPr/>
        </p:nvSpPr>
        <p:spPr bwMode="gray">
          <a:xfrm>
            <a:off x="8561355" y="1298105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Text Box 19"/>
          <p:cNvSpPr txBox="1">
            <a:spLocks noChangeArrowheads="1"/>
          </p:cNvSpPr>
          <p:nvPr/>
        </p:nvSpPr>
        <p:spPr bwMode="gray">
          <a:xfrm>
            <a:off x="5694067" y="1292034"/>
            <a:ext cx="776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Text Box 19"/>
          <p:cNvSpPr txBox="1">
            <a:spLocks noChangeArrowheads="1"/>
          </p:cNvSpPr>
          <p:nvPr/>
        </p:nvSpPr>
        <p:spPr bwMode="gray">
          <a:xfrm>
            <a:off x="606103" y="1614709"/>
            <a:ext cx="12453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Text Box 19"/>
          <p:cNvSpPr txBox="1">
            <a:spLocks noChangeArrowheads="1"/>
          </p:cNvSpPr>
          <p:nvPr/>
        </p:nvSpPr>
        <p:spPr bwMode="gray">
          <a:xfrm>
            <a:off x="10368954" y="1588999"/>
            <a:ext cx="127069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6" name="图片 10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21653" y="1565862"/>
            <a:ext cx="540000" cy="442800"/>
          </a:xfrm>
          <a:prstGeom prst="rect">
            <a:avLst/>
          </a:prstGeom>
        </p:spPr>
      </p:pic>
      <p:pic>
        <p:nvPicPr>
          <p:cNvPr id="107" name="图片 10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85" y="2273436"/>
            <a:ext cx="540000" cy="442800"/>
          </a:xfrm>
          <a:prstGeom prst="rect">
            <a:avLst/>
          </a:prstGeom>
        </p:spPr>
      </p:pic>
      <p:pic>
        <p:nvPicPr>
          <p:cNvPr id="108" name="图片 10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56" y="2273436"/>
            <a:ext cx="540000" cy="442800"/>
          </a:xfrm>
          <a:prstGeom prst="rect">
            <a:avLst/>
          </a:prstGeom>
        </p:spPr>
      </p:pic>
      <p:pic>
        <p:nvPicPr>
          <p:cNvPr id="109" name="图片 10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51" y="2273436"/>
            <a:ext cx="540000" cy="442800"/>
          </a:xfrm>
          <a:prstGeom prst="rect">
            <a:avLst/>
          </a:prstGeom>
        </p:spPr>
      </p:pic>
      <p:pic>
        <p:nvPicPr>
          <p:cNvPr id="110" name="图片 10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30017" y="1511975"/>
            <a:ext cx="540000" cy="442800"/>
          </a:xfrm>
          <a:prstGeom prst="rect">
            <a:avLst/>
          </a:prstGeom>
        </p:spPr>
      </p:pic>
      <p:sp>
        <p:nvSpPr>
          <p:cNvPr id="111" name="Text Box 19"/>
          <p:cNvSpPr txBox="1">
            <a:spLocks noChangeArrowheads="1"/>
          </p:cNvSpPr>
          <p:nvPr/>
        </p:nvSpPr>
        <p:spPr bwMode="gray">
          <a:xfrm>
            <a:off x="5998296" y="2703785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Text Box 19"/>
          <p:cNvSpPr txBox="1">
            <a:spLocks noChangeArrowheads="1"/>
          </p:cNvSpPr>
          <p:nvPr/>
        </p:nvSpPr>
        <p:spPr bwMode="gray">
          <a:xfrm>
            <a:off x="7583421" y="2653649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文本框 112"/>
          <p:cNvSpPr txBox="1"/>
          <p:nvPr/>
        </p:nvSpPr>
        <p:spPr bwMode="gray">
          <a:xfrm rot="1613431">
            <a:off x="2707508" y="2069555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文本框 113"/>
          <p:cNvSpPr txBox="1"/>
          <p:nvPr/>
        </p:nvSpPr>
        <p:spPr bwMode="gray">
          <a:xfrm rot="20096477">
            <a:off x="8568597" y="213094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静态路由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Oval 90"/>
          <p:cNvSpPr/>
          <p:nvPr/>
        </p:nvSpPr>
        <p:spPr bwMode="gray">
          <a:xfrm>
            <a:off x="7988781" y="2445699"/>
            <a:ext cx="183784" cy="18360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Rectangle 55"/>
          <p:cNvSpPr/>
          <p:nvPr/>
        </p:nvSpPr>
        <p:spPr bwMode="gray">
          <a:xfrm>
            <a:off x="606103" y="3741911"/>
            <a:ext cx="4813200" cy="6565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route-static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192.168.1.0 24 192.168.200.2 </a:t>
            </a:r>
          </a:p>
          <a:p>
            <a:pPr>
              <a:lnSpc>
                <a:spcPts val="22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route-static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192.168.100.0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24 192.168.200.2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Text Box 19"/>
          <p:cNvSpPr txBox="1">
            <a:spLocks noChangeArrowheads="1"/>
          </p:cNvSpPr>
          <p:nvPr/>
        </p:nvSpPr>
        <p:spPr bwMode="gray">
          <a:xfrm>
            <a:off x="606103" y="4400032"/>
            <a:ext cx="4813200" cy="35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需配置到达站点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内的各个网段的静态路由。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Rectangle 60"/>
          <p:cNvSpPr/>
          <p:nvPr/>
        </p:nvSpPr>
        <p:spPr bwMode="gray">
          <a:xfrm>
            <a:off x="5568005" y="3744239"/>
            <a:ext cx="6046304" cy="3482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route-static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VPNX 192.168.2.0 24 192.168.200.1</a:t>
            </a:r>
          </a:p>
        </p:txBody>
      </p:sp>
      <p:sp>
        <p:nvSpPr>
          <p:cNvPr id="125" name="Text Box 19"/>
          <p:cNvSpPr txBox="1">
            <a:spLocks noChangeArrowheads="1"/>
          </p:cNvSpPr>
          <p:nvPr/>
        </p:nvSpPr>
        <p:spPr bwMode="gray">
          <a:xfrm>
            <a:off x="5568005" y="4127827"/>
            <a:ext cx="6046304" cy="35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需配置到达站点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内各个网段的静态路由。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Rectangle 38"/>
          <p:cNvSpPr/>
          <p:nvPr/>
        </p:nvSpPr>
        <p:spPr bwMode="gray">
          <a:xfrm>
            <a:off x="5568005" y="4577630"/>
            <a:ext cx="6046304" cy="938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22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PE2-bgp]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ipv4-family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VPNX</a:t>
            </a:r>
          </a:p>
          <a:p>
            <a:pPr>
              <a:lnSpc>
                <a:spcPts val="22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PE2-bgp]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import-route static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Text Box 19"/>
          <p:cNvSpPr txBox="1">
            <a:spLocks noChangeArrowheads="1"/>
          </p:cNvSpPr>
          <p:nvPr/>
        </p:nvSpPr>
        <p:spPr bwMode="gray">
          <a:xfrm>
            <a:off x="5568005" y="5540423"/>
            <a:ext cx="6046304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VPNX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的路由表中的静态路由引入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，从而将客户路由转换成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路由，以便通告给远端的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08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PE-CE</a:t>
            </a:r>
            <a:r>
              <a:rPr lang="zh-CN" altLang="en-US" smtClean="0">
                <a:sym typeface="Huawei Sans" panose="020C0503030203020204" pitchFamily="34" charset="0"/>
              </a:rPr>
              <a:t>之间部署</a:t>
            </a:r>
            <a:r>
              <a:rPr lang="en-US" altLang="zh-CN" smtClean="0">
                <a:sym typeface="Huawei Sans" panose="020C0503030203020204" pitchFamily="34" charset="0"/>
              </a:rPr>
              <a:t>EBGP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4" name="Group 108"/>
          <p:cNvGrpSpPr/>
          <p:nvPr/>
        </p:nvGrpSpPr>
        <p:grpSpPr bwMode="gray">
          <a:xfrm rot="16200000" flipV="1">
            <a:off x="10260394" y="2251715"/>
            <a:ext cx="259305" cy="557470"/>
            <a:chOff x="3134093" y="3084639"/>
            <a:chExt cx="611430" cy="432284"/>
          </a:xfrm>
        </p:grpSpPr>
        <p:cxnSp>
          <p:nvCxnSpPr>
            <p:cNvPr id="5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104"/>
          <p:cNvGrpSpPr/>
          <p:nvPr/>
        </p:nvGrpSpPr>
        <p:grpSpPr bwMode="gray">
          <a:xfrm rot="16200000">
            <a:off x="1981501" y="2148357"/>
            <a:ext cx="259305" cy="764187"/>
            <a:chOff x="3134093" y="3084639"/>
            <a:chExt cx="611430" cy="432284"/>
          </a:xfrm>
        </p:grpSpPr>
        <p:cxnSp>
          <p:nvCxnSpPr>
            <p:cNvPr id="11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圆角矩形 5"/>
          <p:cNvSpPr/>
          <p:nvPr/>
        </p:nvSpPr>
        <p:spPr bwMode="gray">
          <a:xfrm>
            <a:off x="9675430" y="1790461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圆角矩形 4"/>
          <p:cNvSpPr/>
          <p:nvPr/>
        </p:nvSpPr>
        <p:spPr bwMode="gray">
          <a:xfrm>
            <a:off x="3953345" y="1263081"/>
            <a:ext cx="4557086" cy="1715380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 bwMode="gray">
          <a:xfrm rot="16200000" flipH="1">
            <a:off x="8777993" y="1171723"/>
            <a:ext cx="810000" cy="190761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5"/>
          <p:cNvSpPr/>
          <p:nvPr/>
        </p:nvSpPr>
        <p:spPr bwMode="gray">
          <a:xfrm>
            <a:off x="1250448" y="1790461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gray">
          <a:xfrm>
            <a:off x="2487912" y="2526806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连接符 53"/>
          <p:cNvCxnSpPr/>
          <p:nvPr/>
        </p:nvCxnSpPr>
        <p:spPr bwMode="gray">
          <a:xfrm>
            <a:off x="4540339" y="1734522"/>
            <a:ext cx="34542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53"/>
          <p:cNvCxnSpPr/>
          <p:nvPr/>
        </p:nvCxnSpPr>
        <p:spPr bwMode="gray">
          <a:xfrm rot="5400000">
            <a:off x="3030817" y="1171723"/>
            <a:ext cx="810000" cy="19076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Text Box 19"/>
          <p:cNvSpPr txBox="1">
            <a:spLocks noChangeArrowheads="1"/>
          </p:cNvSpPr>
          <p:nvPr/>
        </p:nvSpPr>
        <p:spPr bwMode="gray">
          <a:xfrm>
            <a:off x="1914554" y="2692570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Text Box 19"/>
          <p:cNvSpPr txBox="1">
            <a:spLocks noChangeArrowheads="1"/>
          </p:cNvSpPr>
          <p:nvPr/>
        </p:nvSpPr>
        <p:spPr bwMode="gray">
          <a:xfrm>
            <a:off x="1367302" y="1791824"/>
            <a:ext cx="12250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gray">
          <a:xfrm>
            <a:off x="4330975" y="1920738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gray">
          <a:xfrm>
            <a:off x="4714805" y="1306457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Text Box 19"/>
          <p:cNvSpPr txBox="1">
            <a:spLocks noChangeArrowheads="1"/>
          </p:cNvSpPr>
          <p:nvPr/>
        </p:nvSpPr>
        <p:spPr bwMode="gray">
          <a:xfrm>
            <a:off x="5021828" y="1718036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gray">
          <a:xfrm>
            <a:off x="6451971" y="1718036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6697088" y="1263081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10.0.23.3/24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gray">
          <a:xfrm rot="20086244">
            <a:off x="3031576" y="2038818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gray">
          <a:xfrm rot="1418714">
            <a:off x="8121514" y="1951332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gray">
          <a:xfrm>
            <a:off x="9811808" y="1791824"/>
            <a:ext cx="124585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</a:t>
            </a:r>
          </a:p>
        </p:txBody>
      </p:sp>
      <p:sp>
        <p:nvSpPr>
          <p:cNvPr id="46" name="Text Box 19"/>
          <p:cNvSpPr txBox="1">
            <a:spLocks noChangeArrowheads="1"/>
          </p:cNvSpPr>
          <p:nvPr/>
        </p:nvSpPr>
        <p:spPr bwMode="gray">
          <a:xfrm>
            <a:off x="9960227" y="2692570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</a:t>
            </a: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gray">
          <a:xfrm>
            <a:off x="8693894" y="2526806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Text Box 19"/>
          <p:cNvSpPr txBox="1">
            <a:spLocks noChangeArrowheads="1"/>
          </p:cNvSpPr>
          <p:nvPr/>
        </p:nvSpPr>
        <p:spPr bwMode="gray">
          <a:xfrm>
            <a:off x="5866369" y="2680727"/>
            <a:ext cx="776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Text Box 19"/>
          <p:cNvSpPr txBox="1">
            <a:spLocks noChangeArrowheads="1"/>
          </p:cNvSpPr>
          <p:nvPr/>
        </p:nvSpPr>
        <p:spPr bwMode="gray">
          <a:xfrm>
            <a:off x="10490726" y="2393608"/>
            <a:ext cx="12551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</a:p>
        </p:txBody>
      </p:sp>
      <p:sp>
        <p:nvSpPr>
          <p:cNvPr id="65" name="Text Box 19"/>
          <p:cNvSpPr txBox="1">
            <a:spLocks noChangeArrowheads="1"/>
          </p:cNvSpPr>
          <p:nvPr/>
        </p:nvSpPr>
        <p:spPr bwMode="gray">
          <a:xfrm>
            <a:off x="1250448" y="2691221"/>
            <a:ext cx="705845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7" name="图片 6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23433" y="2289212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33652" y="1456469"/>
            <a:ext cx="540000" cy="442800"/>
          </a:xfrm>
          <a:prstGeom prst="rect">
            <a:avLst/>
          </a:prstGeom>
        </p:spPr>
      </p:pic>
      <p:pic>
        <p:nvPicPr>
          <p:cNvPr id="69" name="图片 6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959223" y="1456469"/>
            <a:ext cx="540000" cy="442800"/>
          </a:xfrm>
          <a:prstGeom prst="rect">
            <a:avLst/>
          </a:prstGeom>
        </p:spPr>
      </p:pic>
      <p:pic>
        <p:nvPicPr>
          <p:cNvPr id="70" name="图片 6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73418" y="1456469"/>
            <a:ext cx="540000" cy="442800"/>
          </a:xfrm>
          <a:prstGeom prst="rect">
            <a:avLst/>
          </a:prstGeom>
        </p:spPr>
      </p:pic>
      <p:pic>
        <p:nvPicPr>
          <p:cNvPr id="72" name="图片 7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35061" y="2299501"/>
            <a:ext cx="540000" cy="442800"/>
          </a:xfrm>
          <a:prstGeom prst="rect">
            <a:avLst/>
          </a:prstGeom>
        </p:spPr>
      </p:pic>
      <p:sp>
        <p:nvSpPr>
          <p:cNvPr id="73" name="Text Box 19"/>
          <p:cNvSpPr txBox="1">
            <a:spLocks noChangeArrowheads="1"/>
          </p:cNvSpPr>
          <p:nvPr/>
        </p:nvSpPr>
        <p:spPr bwMode="gray">
          <a:xfrm>
            <a:off x="6104563" y="1886818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Text Box 19"/>
          <p:cNvSpPr txBox="1">
            <a:spLocks noChangeArrowheads="1"/>
          </p:cNvSpPr>
          <p:nvPr/>
        </p:nvSpPr>
        <p:spPr bwMode="gray">
          <a:xfrm>
            <a:off x="7689688" y="1836682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 rot="20002439">
            <a:off x="3030989" y="1810669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 rot="1446207">
            <a:off x="8863123" y="1808690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IS-IS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Rectangle 102"/>
          <p:cNvSpPr/>
          <p:nvPr/>
        </p:nvSpPr>
        <p:spPr bwMode="gray">
          <a:xfrm>
            <a:off x="922963" y="3672909"/>
            <a:ext cx="4679551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CE3-bgp]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192.168.100.2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as-number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123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CE3-bgp]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192.168.1.0 24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Text Box 19"/>
          <p:cNvSpPr txBox="1">
            <a:spLocks noChangeArrowheads="1"/>
          </p:cNvSpPr>
          <p:nvPr/>
        </p:nvSpPr>
        <p:spPr bwMode="gray">
          <a:xfrm>
            <a:off x="950049" y="4663577"/>
            <a:ext cx="4678036" cy="350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只需要执行普通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配置，且无需支持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Rectangle 102"/>
          <p:cNvSpPr/>
          <p:nvPr/>
        </p:nvSpPr>
        <p:spPr bwMode="gray">
          <a:xfrm>
            <a:off x="6315059" y="3694681"/>
            <a:ext cx="4997913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123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ipv4-family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VPNY 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PE1-bgp-VPNY]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192.168.100.1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as-number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Text Box 19"/>
          <p:cNvSpPr txBox="1">
            <a:spLocks noChangeArrowheads="1"/>
          </p:cNvSpPr>
          <p:nvPr/>
        </p:nvSpPr>
        <p:spPr bwMode="gray">
          <a:xfrm>
            <a:off x="6315129" y="4722687"/>
            <a:ext cx="4996294" cy="14927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之间使用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交互客户路由时，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无需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上手工执行路由重分发操作。在本例中，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学习到的客户路由后，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会自动将这些路由转换成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路由并通告给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；而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获知到达站点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的路由后，会自动将它们转换成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路由并通告给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Text Box 19"/>
          <p:cNvSpPr txBox="1">
            <a:spLocks noChangeArrowheads="1"/>
          </p:cNvSpPr>
          <p:nvPr/>
        </p:nvSpPr>
        <p:spPr bwMode="gray">
          <a:xfrm>
            <a:off x="716686" y="2396850"/>
            <a:ext cx="12453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Oval 90"/>
          <p:cNvSpPr/>
          <p:nvPr/>
        </p:nvSpPr>
        <p:spPr bwMode="gray">
          <a:xfrm>
            <a:off x="4140493" y="1673616"/>
            <a:ext cx="183784" cy="18360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7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特殊场景下的</a:t>
            </a:r>
            <a:r>
              <a:rPr lang="en-US" altLang="zh-CN" dirty="0" smtClean="0"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ym typeface="Huawei Sans" panose="020C0503030203020204" pitchFamily="34" charset="0"/>
              </a:rPr>
              <a:t>配置：</a:t>
            </a:r>
            <a:r>
              <a:rPr lang="en-US" altLang="zh-CN" dirty="0" smtClean="0">
                <a:sym typeface="Huawei Sans" panose="020C0503030203020204" pitchFamily="34" charset="0"/>
              </a:rPr>
              <a:t>AS</a:t>
            </a:r>
            <a:r>
              <a:rPr lang="zh-CN" altLang="en-US" dirty="0" smtClean="0">
                <a:sym typeface="Huawei Sans" panose="020C0503030203020204" pitchFamily="34" charset="0"/>
              </a:rPr>
              <a:t>号替换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在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场景中，若</a:t>
            </a:r>
            <a:r>
              <a:rPr lang="en-US" altLang="zh-CN" sz="1800" dirty="0" smtClean="0">
                <a:sym typeface="Huawei Sans" panose="020C0503030203020204" pitchFamily="34" charset="0"/>
              </a:rPr>
              <a:t>PE</a:t>
            </a:r>
            <a:r>
              <a:rPr lang="zh-CN" altLang="en-US" sz="1800" dirty="0" smtClean="0">
                <a:sym typeface="Huawei Sans" panose="020C0503030203020204" pitchFamily="34" charset="0"/>
              </a:rPr>
              <a:t>与</a:t>
            </a:r>
            <a:r>
              <a:rPr lang="en-US" altLang="zh-CN" sz="1800" dirty="0" smtClean="0">
                <a:sym typeface="Huawei Sans" panose="020C0503030203020204" pitchFamily="34" charset="0"/>
              </a:rPr>
              <a:t>CE</a:t>
            </a:r>
            <a:r>
              <a:rPr lang="zh-CN" altLang="en-US" sz="1800" dirty="0" smtClean="0">
                <a:sym typeface="Huawei Sans" panose="020C0503030203020204" pitchFamily="34" charset="0"/>
              </a:rPr>
              <a:t>之间运行</a:t>
            </a:r>
            <a:r>
              <a:rPr lang="en-US" altLang="zh-CN" sz="1800" dirty="0" smtClean="0">
                <a:sym typeface="Huawei Sans" panose="020C0503030203020204" pitchFamily="34" charset="0"/>
              </a:rPr>
              <a:t>EBGP</a:t>
            </a:r>
            <a:r>
              <a:rPr lang="zh-CN" altLang="en-US" sz="1800" dirty="0" smtClean="0">
                <a:sym typeface="Huawei Sans" panose="020C0503030203020204" pitchFamily="34" charset="0"/>
              </a:rPr>
              <a:t>交互路由信息，则可能会出现两个站点的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AS</a:t>
            </a:r>
            <a:r>
              <a:rPr lang="zh-CN" altLang="en-US" sz="1800" dirty="0" smtClean="0">
                <a:sym typeface="Huawei Sans" panose="020C0503030203020204" pitchFamily="34" charset="0"/>
              </a:rPr>
              <a:t>号相同的情况。</a:t>
            </a:r>
            <a:endParaRPr lang="en-US" altLang="zh-CN" sz="1800" dirty="0" smtClean="0">
              <a:sym typeface="Huawei Sans" panose="020C0503030203020204" pitchFamily="34" charset="0"/>
            </a:endParaRPr>
          </a:p>
        </p:txBody>
      </p:sp>
      <p:grpSp>
        <p:nvGrpSpPr>
          <p:cNvPr id="44" name="Group 104"/>
          <p:cNvGrpSpPr/>
          <p:nvPr/>
        </p:nvGrpSpPr>
        <p:grpSpPr bwMode="gray">
          <a:xfrm rot="16200000">
            <a:off x="2310750" y="2085968"/>
            <a:ext cx="259305" cy="764187"/>
            <a:chOff x="3134093" y="3084639"/>
            <a:chExt cx="611430" cy="432284"/>
          </a:xfrm>
        </p:grpSpPr>
        <p:cxnSp>
          <p:nvCxnSpPr>
            <p:cNvPr id="45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圆角矩形 5"/>
          <p:cNvSpPr/>
          <p:nvPr/>
        </p:nvSpPr>
        <p:spPr bwMode="gray">
          <a:xfrm>
            <a:off x="1579697" y="1947588"/>
            <a:ext cx="1537177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Text Box 19"/>
          <p:cNvSpPr txBox="1">
            <a:spLocks noChangeArrowheads="1"/>
          </p:cNvSpPr>
          <p:nvPr/>
        </p:nvSpPr>
        <p:spPr bwMode="gray">
          <a:xfrm>
            <a:off x="2267211" y="2578886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gray">
          <a:xfrm>
            <a:off x="1570818" y="1918668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Text Box 19"/>
          <p:cNvSpPr txBox="1">
            <a:spLocks noChangeArrowheads="1"/>
          </p:cNvSpPr>
          <p:nvPr/>
        </p:nvSpPr>
        <p:spPr bwMode="gray">
          <a:xfrm>
            <a:off x="1570366" y="2617617"/>
            <a:ext cx="705845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0" name="Group 104"/>
          <p:cNvGrpSpPr/>
          <p:nvPr/>
        </p:nvGrpSpPr>
        <p:grpSpPr bwMode="gray">
          <a:xfrm rot="5400000" flipH="1">
            <a:off x="9394417" y="2085968"/>
            <a:ext cx="259305" cy="764187"/>
            <a:chOff x="3134093" y="3084639"/>
            <a:chExt cx="611430" cy="432284"/>
          </a:xfrm>
        </p:grpSpPr>
        <p:cxnSp>
          <p:nvCxnSpPr>
            <p:cNvPr id="101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圆角矩形 5"/>
          <p:cNvSpPr/>
          <p:nvPr/>
        </p:nvSpPr>
        <p:spPr bwMode="gray">
          <a:xfrm flipH="1">
            <a:off x="8847598" y="1947588"/>
            <a:ext cx="1537177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Text Box 19"/>
          <p:cNvSpPr txBox="1">
            <a:spLocks noChangeArrowheads="1"/>
          </p:cNvSpPr>
          <p:nvPr/>
        </p:nvSpPr>
        <p:spPr bwMode="gray">
          <a:xfrm flipH="1">
            <a:off x="9195198" y="2578886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Text Box 19"/>
          <p:cNvSpPr txBox="1">
            <a:spLocks noChangeArrowheads="1"/>
          </p:cNvSpPr>
          <p:nvPr/>
        </p:nvSpPr>
        <p:spPr bwMode="gray">
          <a:xfrm flipH="1">
            <a:off x="9769861" y="1918667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Text Box 19"/>
          <p:cNvSpPr txBox="1">
            <a:spLocks noChangeArrowheads="1"/>
          </p:cNvSpPr>
          <p:nvPr/>
        </p:nvSpPr>
        <p:spPr bwMode="gray">
          <a:xfrm flipH="1">
            <a:off x="9697592" y="2609205"/>
            <a:ext cx="705845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</a:p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圆角矩形 4"/>
          <p:cNvSpPr/>
          <p:nvPr/>
        </p:nvSpPr>
        <p:spPr bwMode="gray">
          <a:xfrm>
            <a:off x="3703693" y="1953990"/>
            <a:ext cx="4557086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gray">
          <a:xfrm>
            <a:off x="4005374" y="2578886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Text Box 19"/>
          <p:cNvSpPr txBox="1">
            <a:spLocks noChangeArrowheads="1"/>
          </p:cNvSpPr>
          <p:nvPr/>
        </p:nvSpPr>
        <p:spPr bwMode="gray">
          <a:xfrm>
            <a:off x="5833538" y="2578886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Text Box 19"/>
          <p:cNvSpPr txBox="1">
            <a:spLocks noChangeArrowheads="1"/>
          </p:cNvSpPr>
          <p:nvPr/>
        </p:nvSpPr>
        <p:spPr bwMode="gray">
          <a:xfrm>
            <a:off x="7445140" y="2578886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1074057" y="3313274"/>
            <a:ext cx="9784920" cy="1732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若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发送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一条私网路由，并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经过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发送到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由于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号重复丢弃这条路由，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导致属于同一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无法连通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可以在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上执行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substitute-as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命令使能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号替换功能，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即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号替换收到的私网路由中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所在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号，这样对端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就不会因为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号重复而丢弃路由了。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8175984" y="2115220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3008531" y="2115220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直接连接符 53"/>
          <p:cNvCxnSpPr/>
          <p:nvPr/>
        </p:nvCxnSpPr>
        <p:spPr bwMode="gray">
          <a:xfrm>
            <a:off x="2607906" y="2425431"/>
            <a:ext cx="68338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48242" y="2187100"/>
            <a:ext cx="540000" cy="442800"/>
          </a:xfrm>
          <a:prstGeom prst="rect">
            <a:avLst/>
          </a:prstGeom>
        </p:spPr>
      </p:pic>
      <p:pic>
        <p:nvPicPr>
          <p:cNvPr id="107" name="图片 10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176229" y="2187100"/>
            <a:ext cx="540000" cy="442800"/>
          </a:xfrm>
          <a:prstGeom prst="rect">
            <a:avLst/>
          </a:prstGeom>
        </p:spPr>
      </p:pic>
      <p:pic>
        <p:nvPicPr>
          <p:cNvPr id="76" name="图片 7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84000" y="2187100"/>
            <a:ext cx="540000" cy="442800"/>
          </a:xfrm>
          <a:prstGeom prst="rect">
            <a:avLst/>
          </a:prstGeom>
        </p:spPr>
      </p:pic>
      <p:pic>
        <p:nvPicPr>
          <p:cNvPr id="77" name="图片 7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09571" y="2187100"/>
            <a:ext cx="540000" cy="442800"/>
          </a:xfrm>
          <a:prstGeom prst="rect">
            <a:avLst/>
          </a:prstGeom>
        </p:spPr>
      </p:pic>
      <p:pic>
        <p:nvPicPr>
          <p:cNvPr id="78" name="图片 7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23766" y="2187100"/>
            <a:ext cx="540000" cy="442800"/>
          </a:xfrm>
          <a:prstGeom prst="rect">
            <a:avLst/>
          </a:prstGeom>
        </p:spPr>
      </p:pic>
      <p:sp>
        <p:nvSpPr>
          <p:cNvPr id="125" name="Rectangle 102"/>
          <p:cNvSpPr/>
          <p:nvPr/>
        </p:nvSpPr>
        <p:spPr bwMode="gray">
          <a:xfrm>
            <a:off x="1609290" y="4880181"/>
            <a:ext cx="4293122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123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ipv4-family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PE1-bgp-vpn1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substitute-as</a:t>
            </a:r>
          </a:p>
        </p:txBody>
      </p:sp>
      <p:sp>
        <p:nvSpPr>
          <p:cNvPr id="128" name="Text Box 19"/>
          <p:cNvSpPr txBox="1">
            <a:spLocks noChangeArrowheads="1"/>
          </p:cNvSpPr>
          <p:nvPr/>
        </p:nvSpPr>
        <p:spPr bwMode="gray">
          <a:xfrm>
            <a:off x="2804212" y="2416952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622202" y="2796037"/>
            <a:ext cx="720069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AS123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sp>
        <p:nvSpPr>
          <p:cNvPr id="130" name="Text Box 19"/>
          <p:cNvSpPr txBox="1">
            <a:spLocks noChangeArrowheads="1"/>
          </p:cNvSpPr>
          <p:nvPr/>
        </p:nvSpPr>
        <p:spPr bwMode="gray">
          <a:xfrm>
            <a:off x="6051963" y="4743221"/>
            <a:ext cx="5082762" cy="12126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发送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路由时，若发现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AS_Path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中包含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，则会用本地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号，也就是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去替换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。所以，若有一条路由从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，再由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，当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再传递给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，此时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路由的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AS_Path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属性为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{123,123}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1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圆角矩形 5"/>
          <p:cNvSpPr/>
          <p:nvPr/>
        </p:nvSpPr>
        <p:spPr bwMode="gray">
          <a:xfrm>
            <a:off x="1723066" y="4193492"/>
            <a:ext cx="1537177" cy="1818479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特殊场景下的</a:t>
            </a:r>
            <a:r>
              <a:rPr lang="en-US" altLang="zh-CN" dirty="0" smtClean="0"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ym typeface="Huawei Sans" panose="020C0503030203020204" pitchFamily="34" charset="0"/>
              </a:rPr>
              <a:t>配置：</a:t>
            </a:r>
            <a:r>
              <a:rPr lang="en-US" altLang="zh-CN" dirty="0" err="1" smtClean="0">
                <a:sym typeface="Huawei Sans" panose="020C0503030203020204" pitchFamily="34" charset="0"/>
              </a:rPr>
              <a:t>SoO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 smtClean="0">
                <a:sym typeface="Huawei Sans" panose="020C0503030203020204" pitchFamily="34" charset="0"/>
              </a:rPr>
              <a:t>在</a:t>
            </a:r>
            <a:r>
              <a:rPr lang="en-US" altLang="zh-CN" sz="1600" dirty="0" smtClean="0">
                <a:sym typeface="Huawei Sans" panose="020C0503030203020204" pitchFamily="34" charset="0"/>
              </a:rPr>
              <a:t>CE</a:t>
            </a:r>
            <a:r>
              <a:rPr lang="zh-CN" altLang="en-US" sz="1600" dirty="0" smtClean="0">
                <a:sym typeface="Huawei Sans" panose="020C0503030203020204" pitchFamily="34" charset="0"/>
              </a:rPr>
              <a:t>多归属场景，若使能了</a:t>
            </a:r>
            <a:r>
              <a:rPr lang="en-US" altLang="zh-CN" sz="1600" dirty="0" smtClean="0">
                <a:sym typeface="Huawei Sans" panose="020C0503030203020204" pitchFamily="34" charset="0"/>
              </a:rPr>
              <a:t>BGP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</a:t>
            </a:r>
            <a:r>
              <a:rPr lang="en-US" altLang="zh-CN" sz="1600" dirty="0" smtClean="0">
                <a:sym typeface="Huawei Sans" panose="020C0503030203020204" pitchFamily="34" charset="0"/>
              </a:rPr>
              <a:t>AS</a:t>
            </a:r>
            <a:r>
              <a:rPr lang="zh-CN" altLang="en-US" sz="1600" dirty="0" smtClean="0">
                <a:sym typeface="Huawei Sans" panose="020C0503030203020204" pitchFamily="34" charset="0"/>
              </a:rPr>
              <a:t>号替换功能，可能会引起路由环路，需要</a:t>
            </a:r>
            <a:r>
              <a:rPr lang="en-US" altLang="zh-CN" sz="1600" dirty="0" err="1" smtClean="0">
                <a:sym typeface="Huawei Sans" panose="020C0503030203020204" pitchFamily="34" charset="0"/>
              </a:rPr>
              <a:t>SoO</a:t>
            </a:r>
            <a:r>
              <a:rPr lang="zh-CN" altLang="en-US" sz="1600" dirty="0" smtClean="0">
                <a:sym typeface="Huawei Sans" panose="020C0503030203020204" pitchFamily="34" charset="0"/>
              </a:rPr>
              <a:t>（</a:t>
            </a:r>
            <a:r>
              <a:rPr lang="en-US" altLang="zh-CN" sz="1600" dirty="0" smtClean="0">
                <a:sym typeface="Huawei Sans" panose="020C0503030203020204" pitchFamily="34" charset="0"/>
              </a:rPr>
              <a:t>Site of Origin</a:t>
            </a:r>
            <a:r>
              <a:rPr lang="zh-CN" altLang="en-US" sz="1600" dirty="0" smtClean="0">
                <a:sym typeface="Huawei Sans" panose="020C0503030203020204" pitchFamily="34" charset="0"/>
              </a:rPr>
              <a:t>）特性来避免环路。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smtClean="0"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sym typeface="Huawei Sans" panose="020C0503030203020204" pitchFamily="34" charset="0"/>
              </a:rPr>
              <a:t>CE3</a:t>
            </a:r>
            <a:r>
              <a:rPr lang="zh-CN" altLang="en-US" sz="1400" dirty="0" smtClean="0">
                <a:sym typeface="Huawei Sans" panose="020C0503030203020204" pitchFamily="34" charset="0"/>
              </a:rPr>
              <a:t>处于同一个</a:t>
            </a:r>
            <a:r>
              <a:rPr lang="en-US" altLang="zh-CN" sz="1400" dirty="0" smtClean="0">
                <a:sym typeface="Huawei Sans" panose="020C0503030203020204" pitchFamily="34" charset="0"/>
              </a:rPr>
              <a:t>VPN</a:t>
            </a:r>
            <a:r>
              <a:rPr lang="zh-CN" altLang="en-US" sz="1400" dirty="0" smtClean="0">
                <a:sym typeface="Huawei Sans" panose="020C0503030203020204" pitchFamily="34" charset="0"/>
              </a:rPr>
              <a:t>站点</a:t>
            </a:r>
            <a:r>
              <a:rPr lang="en-US" altLang="zh-CN" sz="1400" dirty="0" smtClean="0">
                <a:sym typeface="Huawei Sans" panose="020C0503030203020204" pitchFamily="34" charset="0"/>
              </a:rPr>
              <a:t>1</a:t>
            </a:r>
            <a:r>
              <a:rPr lang="zh-CN" altLang="en-US" sz="1400" dirty="0" smtClean="0"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sym typeface="Huawei Sans" panose="020C0503030203020204" pitchFamily="34" charset="0"/>
              </a:rPr>
              <a:t>CE2</a:t>
            </a:r>
            <a:r>
              <a:rPr lang="zh-CN" altLang="en-US" sz="1400" dirty="0" smtClean="0">
                <a:sym typeface="Huawei Sans" panose="020C0503030203020204" pitchFamily="34" charset="0"/>
              </a:rPr>
              <a:t>位于站点</a:t>
            </a:r>
            <a:r>
              <a:rPr lang="en-US" altLang="zh-CN" sz="1400" dirty="0" smtClean="0">
                <a:sym typeface="Huawei Sans" panose="020C0503030203020204" pitchFamily="34" charset="0"/>
              </a:rPr>
              <a:t>Site2</a:t>
            </a:r>
            <a:r>
              <a:rPr lang="zh-CN" altLang="en-US" sz="1400" dirty="0" smtClean="0"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sym typeface="Huawei Sans" panose="020C0503030203020204" pitchFamily="34" charset="0"/>
              </a:rPr>
              <a:t>Site1</a:t>
            </a:r>
            <a:r>
              <a:rPr lang="zh-CN" altLang="en-US" sz="1400" dirty="0" smtClean="0">
                <a:sym typeface="Huawei Sans" panose="020C0503030203020204" pitchFamily="34" charset="0"/>
              </a:rPr>
              <a:t>和</a:t>
            </a:r>
            <a:r>
              <a:rPr lang="en-US" altLang="zh-CN" sz="1400" dirty="0" smtClean="0">
                <a:sym typeface="Huawei Sans" panose="020C0503030203020204" pitchFamily="34" charset="0"/>
              </a:rPr>
              <a:t>Site2</a:t>
            </a:r>
            <a:r>
              <a:rPr lang="zh-CN" altLang="en-US" sz="1400" dirty="0" smtClean="0">
                <a:sym typeface="Huawei Sans" panose="020C0503030203020204" pitchFamily="34" charset="0"/>
              </a:rPr>
              <a:t>站点所在的</a:t>
            </a:r>
            <a:r>
              <a:rPr lang="en-US" altLang="zh-CN" sz="1400" dirty="0" smtClean="0">
                <a:sym typeface="Huawei Sans" panose="020C0503030203020204" pitchFamily="34" charset="0"/>
              </a:rPr>
              <a:t>AS</a:t>
            </a:r>
            <a:r>
              <a:rPr lang="zh-CN" altLang="en-US" sz="1400" dirty="0" smtClean="0">
                <a:sym typeface="Huawei Sans" panose="020C0503030203020204" pitchFamily="34" charset="0"/>
              </a:rPr>
              <a:t>号都为</a:t>
            </a:r>
            <a:r>
              <a:rPr lang="en-US" altLang="zh-CN" sz="1400" dirty="0" smtClean="0">
                <a:sym typeface="Huawei Sans" panose="020C0503030203020204" pitchFamily="34" charset="0"/>
              </a:rPr>
              <a:t>65001</a:t>
            </a:r>
            <a:r>
              <a:rPr lang="zh-CN" altLang="en-US" sz="1400" dirty="0" smtClean="0">
                <a:sym typeface="Huawei Sans" panose="020C0503030203020204" pitchFamily="34" charset="0"/>
              </a:rPr>
              <a:t>。</a:t>
            </a:r>
            <a:r>
              <a:rPr lang="en-US" altLang="zh-CN" sz="1400" dirty="0" smtClean="0">
                <a:sym typeface="Huawei Sans" panose="020C0503030203020204" pitchFamily="34" charset="0"/>
              </a:rPr>
              <a:t>PE</a:t>
            </a:r>
            <a:r>
              <a:rPr lang="zh-CN" altLang="en-US" sz="1400" dirty="0" smtClean="0"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sym typeface="Huawei Sans" panose="020C0503030203020204" pitchFamily="34" charset="0"/>
              </a:rPr>
              <a:t>CE</a:t>
            </a:r>
            <a:r>
              <a:rPr lang="zh-CN" altLang="en-US" sz="1400" dirty="0" smtClean="0">
                <a:sym typeface="Huawei Sans" panose="020C0503030203020204" pitchFamily="34" charset="0"/>
              </a:rPr>
              <a:t>之间运行的都是</a:t>
            </a:r>
            <a:r>
              <a:rPr lang="en-US" altLang="zh-CN" sz="1400" dirty="0" smtClean="0">
                <a:sym typeface="Huawei Sans" panose="020C0503030203020204" pitchFamily="34" charset="0"/>
              </a:rPr>
              <a:t>EBGP</a:t>
            </a:r>
            <a:r>
              <a:rPr lang="zh-CN" altLang="en-US" sz="1400" dirty="0" smtClean="0">
                <a:sym typeface="Huawei Sans" panose="020C0503030203020204" pitchFamily="34" charset="0"/>
              </a:rPr>
              <a:t>路由协议，为了</a:t>
            </a:r>
            <a:r>
              <a:rPr lang="en-US" altLang="zh-CN" sz="1400" dirty="0" smtClean="0">
                <a:sym typeface="Huawei Sans" panose="020C0503030203020204" pitchFamily="34" charset="0"/>
              </a:rPr>
              <a:t>Site 1</a:t>
            </a:r>
            <a:r>
              <a:rPr lang="zh-CN" altLang="en-US" sz="1400" dirty="0" smtClean="0">
                <a:sym typeface="Huawei Sans" panose="020C0503030203020204" pitchFamily="34" charset="0"/>
              </a:rPr>
              <a:t>和</a:t>
            </a:r>
            <a:r>
              <a:rPr lang="en-US" altLang="zh-CN" sz="1400" dirty="0" smtClean="0">
                <a:sym typeface="Huawei Sans" panose="020C0503030203020204" pitchFamily="34" charset="0"/>
              </a:rPr>
              <a:t>Site 2</a:t>
            </a:r>
            <a:r>
              <a:rPr lang="zh-CN" altLang="en-US" sz="1400" dirty="0" smtClean="0">
                <a:sym typeface="Huawei Sans" panose="020C0503030203020204" pitchFamily="34" charset="0"/>
              </a:rPr>
              <a:t>之间的路由可以正常学习，需要在</a:t>
            </a:r>
            <a:r>
              <a:rPr lang="en-US" altLang="zh-CN" sz="1400" dirty="0" smtClean="0"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sym typeface="Huawei Sans" panose="020C0503030203020204" pitchFamily="34" charset="0"/>
              </a:rPr>
              <a:t>和</a:t>
            </a:r>
            <a:r>
              <a:rPr lang="en-US" altLang="zh-CN" sz="1400" dirty="0" smtClean="0">
                <a:sym typeface="Huawei Sans" panose="020C0503030203020204" pitchFamily="34" charset="0"/>
              </a:rPr>
              <a:t>PE2</a:t>
            </a:r>
            <a:r>
              <a:rPr lang="zh-CN" altLang="en-US" sz="1400" dirty="0" smtClean="0">
                <a:sym typeface="Huawei Sans" panose="020C0503030203020204" pitchFamily="34" charset="0"/>
              </a:rPr>
              <a:t>上配置</a:t>
            </a:r>
            <a:r>
              <a:rPr lang="en-US" altLang="zh-CN" sz="1400" dirty="0" smtClean="0">
                <a:sym typeface="Huawei Sans" panose="020C0503030203020204" pitchFamily="34" charset="0"/>
              </a:rPr>
              <a:t>AS</a:t>
            </a:r>
            <a:r>
              <a:rPr lang="zh-CN" altLang="en-US" sz="1400" dirty="0" smtClean="0">
                <a:sym typeface="Huawei Sans" panose="020C0503030203020204" pitchFamily="34" charset="0"/>
              </a:rPr>
              <a:t>号替换功能。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smtClean="0">
                <a:sym typeface="Huawei Sans" panose="020C0503030203020204" pitchFamily="34" charset="0"/>
              </a:rPr>
              <a:t>CE1</a:t>
            </a:r>
            <a:r>
              <a:rPr lang="zh-CN" altLang="en-US" sz="1400" dirty="0" smtClean="0">
                <a:sym typeface="Huawei Sans" panose="020C0503030203020204" pitchFamily="34" charset="0"/>
              </a:rPr>
              <a:t>传递站点内的路由给</a:t>
            </a:r>
            <a:r>
              <a:rPr lang="en-US" altLang="zh-CN" sz="1400" dirty="0" smtClean="0"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sym typeface="Huawei Sans" panose="020C0503030203020204" pitchFamily="34" charset="0"/>
              </a:rPr>
              <a:t>PE1</a:t>
            </a:r>
            <a:r>
              <a:rPr lang="zh-CN" altLang="en-US" sz="1400" dirty="0" smtClean="0">
                <a:sym typeface="Huawei Sans" panose="020C0503030203020204" pitchFamily="34" charset="0"/>
              </a:rPr>
              <a:t>传递该路由给</a:t>
            </a:r>
            <a:r>
              <a:rPr lang="en-US" altLang="zh-CN" sz="1400" dirty="0" smtClean="0">
                <a:sym typeface="Huawei Sans" panose="020C0503030203020204" pitchFamily="34" charset="0"/>
              </a:rPr>
              <a:t>CE3</a:t>
            </a:r>
            <a:r>
              <a:rPr lang="zh-CN" altLang="en-US" sz="1400" dirty="0" smtClean="0">
                <a:sym typeface="Huawei Sans" panose="020C0503030203020204" pitchFamily="34" charset="0"/>
              </a:rPr>
              <a:t>，由于配置</a:t>
            </a:r>
            <a:r>
              <a:rPr lang="en-US" altLang="zh-CN" sz="1400" dirty="0" smtClean="0">
                <a:sym typeface="Huawei Sans" panose="020C0503030203020204" pitchFamily="34" charset="0"/>
              </a:rPr>
              <a:t>AS</a:t>
            </a:r>
            <a:r>
              <a:rPr lang="zh-CN" altLang="en-US" sz="1400" dirty="0" smtClean="0">
                <a:sym typeface="Huawei Sans" panose="020C0503030203020204" pitchFamily="34" charset="0"/>
              </a:rPr>
              <a:t>号替换，</a:t>
            </a:r>
            <a:r>
              <a:rPr lang="en-US" altLang="zh-CN" sz="1400" dirty="0" smtClean="0">
                <a:sym typeface="Huawei Sans" panose="020C0503030203020204" pitchFamily="34" charset="0"/>
              </a:rPr>
              <a:t>CE3</a:t>
            </a:r>
            <a:r>
              <a:rPr lang="zh-CN" altLang="en-US" sz="1400" dirty="0" smtClean="0">
                <a:sym typeface="Huawei Sans" panose="020C0503030203020204" pitchFamily="34" charset="0"/>
              </a:rPr>
              <a:t>会接收该路由，可能会导致产生路由环路。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137" name="Text Box 19"/>
          <p:cNvSpPr txBox="1">
            <a:spLocks noChangeArrowheads="1"/>
          </p:cNvSpPr>
          <p:nvPr/>
        </p:nvSpPr>
        <p:spPr bwMode="gray">
          <a:xfrm>
            <a:off x="1941836" y="5181280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Text Box 19"/>
          <p:cNvSpPr txBox="1">
            <a:spLocks noChangeArrowheads="1"/>
          </p:cNvSpPr>
          <p:nvPr/>
        </p:nvSpPr>
        <p:spPr bwMode="gray">
          <a:xfrm>
            <a:off x="1714187" y="4845336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Text Box 19"/>
          <p:cNvSpPr txBox="1">
            <a:spLocks noChangeArrowheads="1"/>
          </p:cNvSpPr>
          <p:nvPr/>
        </p:nvSpPr>
        <p:spPr bwMode="gray">
          <a:xfrm>
            <a:off x="1713735" y="5544285"/>
            <a:ext cx="705845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40" name="Group 104"/>
          <p:cNvGrpSpPr/>
          <p:nvPr/>
        </p:nvGrpSpPr>
        <p:grpSpPr bwMode="gray">
          <a:xfrm rot="5400000" flipH="1">
            <a:off x="9537786" y="5012636"/>
            <a:ext cx="259305" cy="764187"/>
            <a:chOff x="3134093" y="3084639"/>
            <a:chExt cx="611430" cy="432284"/>
          </a:xfrm>
        </p:grpSpPr>
        <p:cxnSp>
          <p:nvCxnSpPr>
            <p:cNvPr id="141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圆角矩形 5"/>
          <p:cNvSpPr/>
          <p:nvPr/>
        </p:nvSpPr>
        <p:spPr bwMode="gray">
          <a:xfrm flipH="1">
            <a:off x="8990967" y="4874256"/>
            <a:ext cx="1537177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Text Box 19"/>
          <p:cNvSpPr txBox="1">
            <a:spLocks noChangeArrowheads="1"/>
          </p:cNvSpPr>
          <p:nvPr/>
        </p:nvSpPr>
        <p:spPr bwMode="gray">
          <a:xfrm flipH="1">
            <a:off x="9338567" y="5505554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Text Box 19"/>
          <p:cNvSpPr txBox="1">
            <a:spLocks noChangeArrowheads="1"/>
          </p:cNvSpPr>
          <p:nvPr/>
        </p:nvSpPr>
        <p:spPr bwMode="gray">
          <a:xfrm flipH="1">
            <a:off x="9913230" y="4845335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6" name="Text Box 19"/>
          <p:cNvSpPr txBox="1">
            <a:spLocks noChangeArrowheads="1"/>
          </p:cNvSpPr>
          <p:nvPr/>
        </p:nvSpPr>
        <p:spPr bwMode="gray">
          <a:xfrm flipH="1">
            <a:off x="9840961" y="5535873"/>
            <a:ext cx="705845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</a:p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圆角矩形 4"/>
          <p:cNvSpPr/>
          <p:nvPr/>
        </p:nvSpPr>
        <p:spPr bwMode="gray">
          <a:xfrm>
            <a:off x="3847062" y="4880658"/>
            <a:ext cx="4557086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Text Box 19"/>
          <p:cNvSpPr txBox="1">
            <a:spLocks noChangeArrowheads="1"/>
          </p:cNvSpPr>
          <p:nvPr/>
        </p:nvSpPr>
        <p:spPr bwMode="gray">
          <a:xfrm>
            <a:off x="4148743" y="550555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Text Box 19"/>
          <p:cNvSpPr txBox="1">
            <a:spLocks noChangeArrowheads="1"/>
          </p:cNvSpPr>
          <p:nvPr/>
        </p:nvSpPr>
        <p:spPr bwMode="gray">
          <a:xfrm>
            <a:off x="5976907" y="5505554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0" name="Text Box 19"/>
          <p:cNvSpPr txBox="1">
            <a:spLocks noChangeArrowheads="1"/>
          </p:cNvSpPr>
          <p:nvPr/>
        </p:nvSpPr>
        <p:spPr bwMode="gray">
          <a:xfrm>
            <a:off x="7588509" y="550555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1" name="文本框 150"/>
          <p:cNvSpPr txBox="1"/>
          <p:nvPr/>
        </p:nvSpPr>
        <p:spPr bwMode="gray">
          <a:xfrm>
            <a:off x="8319353" y="5041888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3" name="直接连接符 53"/>
          <p:cNvCxnSpPr/>
          <p:nvPr/>
        </p:nvCxnSpPr>
        <p:spPr bwMode="gray">
          <a:xfrm>
            <a:off x="2751275" y="5352099"/>
            <a:ext cx="68338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7748" y="5113768"/>
            <a:ext cx="540000" cy="442800"/>
          </a:xfrm>
          <a:prstGeom prst="rect">
            <a:avLst/>
          </a:prstGeom>
        </p:spPr>
      </p:pic>
      <p:pic>
        <p:nvPicPr>
          <p:cNvPr id="155" name="图片 15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19598" y="5113768"/>
            <a:ext cx="540000" cy="442800"/>
          </a:xfrm>
          <a:prstGeom prst="rect">
            <a:avLst/>
          </a:prstGeom>
        </p:spPr>
      </p:pic>
      <p:pic>
        <p:nvPicPr>
          <p:cNvPr id="156" name="图片 15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69" y="5113768"/>
            <a:ext cx="540000" cy="442800"/>
          </a:xfrm>
          <a:prstGeom prst="rect">
            <a:avLst/>
          </a:prstGeom>
        </p:spPr>
      </p:pic>
      <p:pic>
        <p:nvPicPr>
          <p:cNvPr id="157" name="图片 15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40" y="5113768"/>
            <a:ext cx="540000" cy="442800"/>
          </a:xfrm>
          <a:prstGeom prst="rect">
            <a:avLst/>
          </a:prstGeom>
        </p:spPr>
      </p:pic>
      <p:pic>
        <p:nvPicPr>
          <p:cNvPr id="158" name="图片 15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35" y="5113768"/>
            <a:ext cx="540000" cy="442800"/>
          </a:xfrm>
          <a:prstGeom prst="rect">
            <a:avLst/>
          </a:prstGeom>
        </p:spPr>
      </p:pic>
      <p:sp>
        <p:nvSpPr>
          <p:cNvPr id="160" name="文本框 159"/>
          <p:cNvSpPr txBox="1"/>
          <p:nvPr/>
        </p:nvSpPr>
        <p:spPr bwMode="gray">
          <a:xfrm>
            <a:off x="5765571" y="5722705"/>
            <a:ext cx="720069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  <a:sym typeface="Huawei Sans" panose="020C0503030203020204" pitchFamily="34" charset="0"/>
              </a:rPr>
              <a:t>AS123</a:t>
            </a:r>
            <a:endParaRPr lang="zh-CN" altLang="en-US" dirty="0">
              <a:solidFill>
                <a:schemeClr val="tx1"/>
              </a:solidFill>
              <a:sym typeface="Huawei Sans" panose="020C0503030203020204" pitchFamily="34" charset="0"/>
            </a:endParaRPr>
          </a:p>
        </p:txBody>
      </p:sp>
      <p:sp>
        <p:nvSpPr>
          <p:cNvPr id="161" name="Text Box 19"/>
          <p:cNvSpPr txBox="1">
            <a:spLocks noChangeArrowheads="1"/>
          </p:cNvSpPr>
          <p:nvPr/>
        </p:nvSpPr>
        <p:spPr bwMode="gray">
          <a:xfrm>
            <a:off x="1941836" y="4431136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2" name="图片 16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7748" y="4363625"/>
            <a:ext cx="540000" cy="442800"/>
          </a:xfrm>
          <a:prstGeom prst="rect">
            <a:avLst/>
          </a:prstGeom>
        </p:spPr>
      </p:pic>
      <p:cxnSp>
        <p:nvCxnSpPr>
          <p:cNvPr id="163" name="直接连接符 53"/>
          <p:cNvCxnSpPr>
            <a:stCxn id="162" idx="3"/>
          </p:cNvCxnSpPr>
          <p:nvPr/>
        </p:nvCxnSpPr>
        <p:spPr bwMode="gray">
          <a:xfrm>
            <a:off x="2937748" y="4585025"/>
            <a:ext cx="1189621" cy="75859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63"/>
          <p:cNvSpPr txBox="1"/>
          <p:nvPr/>
        </p:nvSpPr>
        <p:spPr bwMode="gray">
          <a:xfrm>
            <a:off x="3150283" y="5354833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5" name="文本框 164"/>
          <p:cNvSpPr txBox="1"/>
          <p:nvPr/>
        </p:nvSpPr>
        <p:spPr bwMode="gray">
          <a:xfrm rot="1948013">
            <a:off x="3223213" y="4603293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6" name="直接连接符 53"/>
          <p:cNvCxnSpPr>
            <a:stCxn id="162" idx="2"/>
            <a:endCxn id="154" idx="0"/>
          </p:cNvCxnSpPr>
          <p:nvPr/>
        </p:nvCxnSpPr>
        <p:spPr bwMode="gray">
          <a:xfrm>
            <a:off x="2667748" y="4806425"/>
            <a:ext cx="0" cy="3073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02"/>
          <p:cNvSpPr/>
          <p:nvPr/>
        </p:nvSpPr>
        <p:spPr bwMode="gray">
          <a:xfrm>
            <a:off x="1360311" y="2858191"/>
            <a:ext cx="4973501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123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ipv4-family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PE1-bgp-vpn1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soo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200:1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[PE1-bgp-vpn1]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soo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200:1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Text Box 19"/>
          <p:cNvSpPr txBox="1">
            <a:spLocks noChangeArrowheads="1"/>
          </p:cNvSpPr>
          <p:nvPr/>
        </p:nvSpPr>
        <p:spPr bwMode="gray">
          <a:xfrm>
            <a:off x="6411025" y="2722256"/>
            <a:ext cx="5123749" cy="1532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配置了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邻居的</a:t>
            </a:r>
            <a:r>
              <a:rPr lang="en-US" altLang="zh-CN" sz="16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SoO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后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接收到该邻居的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路由时，会在路径属性中携带该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SoO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属性并通告给其他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向该邻居通告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路由时，会检查路由中的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SoO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属性是否与配置的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SoO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值相同，若相同则不通告，避免引起环路。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55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PE-CE</a:t>
            </a:r>
            <a:r>
              <a:rPr lang="zh-CN" altLang="en-US" smtClean="0">
                <a:sym typeface="Huawei Sans" panose="020C0503030203020204" pitchFamily="34" charset="0"/>
              </a:rPr>
              <a:t>之间部署</a:t>
            </a:r>
            <a:r>
              <a:rPr lang="en-US" altLang="zh-CN" smtClean="0">
                <a:sym typeface="Huawei Sans" panose="020C0503030203020204" pitchFamily="34" charset="0"/>
              </a:rPr>
              <a:t>IS-IS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4" name="Group 108"/>
          <p:cNvGrpSpPr/>
          <p:nvPr/>
        </p:nvGrpSpPr>
        <p:grpSpPr bwMode="gray">
          <a:xfrm rot="16200000" flipV="1">
            <a:off x="10219449" y="2232896"/>
            <a:ext cx="259305" cy="557470"/>
            <a:chOff x="3134093" y="3084639"/>
            <a:chExt cx="611430" cy="432284"/>
          </a:xfrm>
        </p:grpSpPr>
        <p:cxnSp>
          <p:nvCxnSpPr>
            <p:cNvPr id="5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04"/>
          <p:cNvGrpSpPr/>
          <p:nvPr/>
        </p:nvGrpSpPr>
        <p:grpSpPr bwMode="gray">
          <a:xfrm rot="16200000">
            <a:off x="1940556" y="2129538"/>
            <a:ext cx="259305" cy="764187"/>
            <a:chOff x="3134093" y="3084639"/>
            <a:chExt cx="611430" cy="432284"/>
          </a:xfrm>
        </p:grpSpPr>
        <p:cxnSp>
          <p:nvCxnSpPr>
            <p:cNvPr id="8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圆角矩形 5"/>
          <p:cNvSpPr/>
          <p:nvPr/>
        </p:nvSpPr>
        <p:spPr bwMode="gray">
          <a:xfrm>
            <a:off x="9634485" y="1771642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4"/>
          <p:cNvSpPr/>
          <p:nvPr/>
        </p:nvSpPr>
        <p:spPr bwMode="gray">
          <a:xfrm>
            <a:off x="3912400" y="1244262"/>
            <a:ext cx="4557086" cy="1715380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 bwMode="gray">
          <a:xfrm rot="16200000" flipH="1">
            <a:off x="8737048" y="1152904"/>
            <a:ext cx="810000" cy="190761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5"/>
          <p:cNvSpPr/>
          <p:nvPr/>
        </p:nvSpPr>
        <p:spPr bwMode="gray">
          <a:xfrm>
            <a:off x="1209503" y="1771642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gray">
          <a:xfrm>
            <a:off x="2446967" y="2507987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" name="直接连接符 53"/>
          <p:cNvCxnSpPr/>
          <p:nvPr/>
        </p:nvCxnSpPr>
        <p:spPr bwMode="gray">
          <a:xfrm>
            <a:off x="4499394" y="1715703"/>
            <a:ext cx="34542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3"/>
          <p:cNvCxnSpPr/>
          <p:nvPr/>
        </p:nvCxnSpPr>
        <p:spPr bwMode="gray">
          <a:xfrm rot="5400000">
            <a:off x="2989872" y="1152904"/>
            <a:ext cx="810000" cy="19076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 Box 19"/>
          <p:cNvSpPr txBox="1">
            <a:spLocks noChangeArrowheads="1"/>
          </p:cNvSpPr>
          <p:nvPr/>
        </p:nvSpPr>
        <p:spPr bwMode="gray">
          <a:xfrm>
            <a:off x="1873609" y="2673751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gray">
          <a:xfrm>
            <a:off x="1326357" y="1773005"/>
            <a:ext cx="12250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  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gray">
          <a:xfrm>
            <a:off x="4290030" y="1901919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gray">
          <a:xfrm>
            <a:off x="4673860" y="1287638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gray">
          <a:xfrm>
            <a:off x="4980883" y="1699217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gray">
          <a:xfrm>
            <a:off x="6411026" y="1699217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gray">
          <a:xfrm>
            <a:off x="6656143" y="1244262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10.0.23.3/24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gray">
          <a:xfrm rot="20086244">
            <a:off x="3026489" y="1984141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gray">
          <a:xfrm rot="1418714">
            <a:off x="8080569" y="1932513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GE0/0/2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Text Box 19"/>
          <p:cNvSpPr txBox="1">
            <a:spLocks noChangeArrowheads="1"/>
          </p:cNvSpPr>
          <p:nvPr/>
        </p:nvSpPr>
        <p:spPr bwMode="gray">
          <a:xfrm>
            <a:off x="9770863" y="1773005"/>
            <a:ext cx="124585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  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</a:t>
            </a: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gray">
          <a:xfrm>
            <a:off x="9919282" y="2673751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</a:t>
            </a: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gray">
          <a:xfrm>
            <a:off x="8652949" y="2507987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gray">
          <a:xfrm>
            <a:off x="5825424" y="2661908"/>
            <a:ext cx="776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gray">
          <a:xfrm>
            <a:off x="10449781" y="2374789"/>
            <a:ext cx="125518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gray">
          <a:xfrm>
            <a:off x="1209503" y="2672402"/>
            <a:ext cx="705845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100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2" name="图片 3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82488" y="2270393"/>
            <a:ext cx="540000" cy="442800"/>
          </a:xfrm>
          <a:prstGeom prst="rect">
            <a:avLst/>
          </a:prstGeom>
        </p:spPr>
      </p:pic>
      <p:pic>
        <p:nvPicPr>
          <p:cNvPr id="33" name="图片 3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92707" y="1437650"/>
            <a:ext cx="540000" cy="442800"/>
          </a:xfrm>
          <a:prstGeom prst="rect">
            <a:avLst/>
          </a:prstGeom>
        </p:spPr>
      </p:pic>
      <p:pic>
        <p:nvPicPr>
          <p:cNvPr id="34" name="图片 3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918278" y="1437650"/>
            <a:ext cx="540000" cy="442800"/>
          </a:xfrm>
          <a:prstGeom prst="rect">
            <a:avLst/>
          </a:prstGeom>
        </p:spPr>
      </p:pic>
      <p:pic>
        <p:nvPicPr>
          <p:cNvPr id="35" name="图片 3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632473" y="1437650"/>
            <a:ext cx="540000" cy="442800"/>
          </a:xfrm>
          <a:prstGeom prst="rect">
            <a:avLst/>
          </a:prstGeom>
        </p:spPr>
      </p:pic>
      <p:pic>
        <p:nvPicPr>
          <p:cNvPr id="36" name="图片 3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94116" y="2280682"/>
            <a:ext cx="540000" cy="442800"/>
          </a:xfrm>
          <a:prstGeom prst="rect">
            <a:avLst/>
          </a:prstGeom>
        </p:spPr>
      </p:pic>
      <p:sp>
        <p:nvSpPr>
          <p:cNvPr id="37" name="Text Box 19"/>
          <p:cNvSpPr txBox="1">
            <a:spLocks noChangeArrowheads="1"/>
          </p:cNvSpPr>
          <p:nvPr/>
        </p:nvSpPr>
        <p:spPr bwMode="gray">
          <a:xfrm>
            <a:off x="6063618" y="1867999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gray">
          <a:xfrm>
            <a:off x="7648743" y="1817863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 rot="20002439">
            <a:off x="2990044" y="1791850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 rot="1446207">
            <a:off x="8822178" y="178987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IS-IS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Text Box 19"/>
          <p:cNvSpPr txBox="1">
            <a:spLocks noChangeArrowheads="1"/>
          </p:cNvSpPr>
          <p:nvPr/>
        </p:nvSpPr>
        <p:spPr bwMode="gray">
          <a:xfrm>
            <a:off x="675741" y="2378031"/>
            <a:ext cx="124538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defTabSz="784225" eaLnBrk="0" fontAlgn="base" hangingPunct="0">
              <a:spcBef>
                <a:spcPct val="50000"/>
              </a:spcBef>
              <a:defRPr sz="1200" b="1">
                <a:latin typeface="FrutigerNext LT Regular" pitchFamily="34" charset="0"/>
                <a:ea typeface="华文细黑" panose="02010600040101010101" pitchFamily="2" charset="-122"/>
              </a:defRPr>
            </a:lvl1pPr>
            <a:lvl2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84225" fontAlgn="base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84225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Rectangle 55"/>
          <p:cNvSpPr/>
          <p:nvPr/>
        </p:nvSpPr>
        <p:spPr bwMode="gray">
          <a:xfrm>
            <a:off x="675741" y="3249101"/>
            <a:ext cx="5304115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[CE4]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CE4-isis-1]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network-entity 49.0001.0000.0000.1111.00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[CE4-isis-1]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is-level level-2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CE4-isis-1]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quit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[CE4]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0/0/0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CE4-GigabitEthernet0/0/0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enable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CE4-GigabitEthernet0/0/0]quit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0/0/1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CE4-GigabitEthernet0/0/1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enable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#GE0/0/1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接口是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192.168.2.0/24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网段所在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Rectangle 60"/>
          <p:cNvSpPr/>
          <p:nvPr/>
        </p:nvSpPr>
        <p:spPr bwMode="gray">
          <a:xfrm>
            <a:off x="6355685" y="3283961"/>
            <a:ext cx="5139495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[PE2]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VPNY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[PE2-isis-1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network-entity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49.0002.0000.0000.2222.00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[PE2-isis-1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is-level level-2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[PE2-isis-1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import-route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level-2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PE2-isis-1]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quit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[PE2]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0/0/2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[PE2-GigabitEthernet0/0/2]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enable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PE2-bgp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ipv4-family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VPNY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PE2-bgp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import-route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isis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应用与组网概述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MPLS VPN</a:t>
            </a:r>
            <a:r>
              <a:rPr lang="zh-CN" altLang="en-US" b="1" dirty="0" smtClean="0">
                <a:sym typeface="Huawei Sans" panose="020C0503030203020204" pitchFamily="34" charset="0"/>
              </a:rPr>
              <a:t>典型场景部署介绍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Intranet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场景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err="1" smtClean="0">
                <a:sym typeface="Huawei Sans" panose="020C0503030203020204" pitchFamily="34" charset="0"/>
              </a:rPr>
              <a:t>Hub&amp;Spoke</a:t>
            </a:r>
            <a:r>
              <a:rPr lang="zh-CN" altLang="en-US" dirty="0" smtClean="0">
                <a:sym typeface="Huawei Sans" panose="020C0503030203020204" pitchFamily="34" charset="0"/>
              </a:rPr>
              <a:t>场景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不同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路由引入场景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拓展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34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部署</a:t>
            </a:r>
            <a:r>
              <a:rPr lang="en-US" altLang="zh-CN" smtClean="0">
                <a:sym typeface="Huawei Sans" panose="020C0503030203020204" pitchFamily="34" charset="0"/>
              </a:rPr>
              <a:t>Hub&amp;Spoke</a:t>
            </a:r>
            <a:r>
              <a:rPr lang="zh-CN" altLang="en-US" smtClean="0">
                <a:sym typeface="Huawei Sans" panose="020C0503030203020204" pitchFamily="34" charset="0"/>
              </a:rPr>
              <a:t>场景的</a:t>
            </a:r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err="1" smtClean="0">
                <a:sym typeface="Huawei Sans" panose="020C0503030203020204" pitchFamily="34" charset="0"/>
              </a:rPr>
              <a:t>Hub&amp;Spoke</a:t>
            </a:r>
            <a:r>
              <a:rPr lang="zh-CN" altLang="en-US" sz="1800" dirty="0" smtClean="0">
                <a:sym typeface="Huawei Sans" panose="020C0503030203020204" pitchFamily="34" charset="0"/>
              </a:rPr>
              <a:t>有以下组网方案：</a:t>
            </a: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方式一：</a:t>
            </a:r>
            <a:r>
              <a:rPr lang="en-US" altLang="zh-CN" sz="1600" dirty="0" smtClean="0">
                <a:sym typeface="Huawei Sans" panose="020C0503030203020204" pitchFamily="34" charset="0"/>
              </a:rPr>
              <a:t>Hub-CE</a:t>
            </a:r>
            <a:r>
              <a:rPr lang="zh-CN" altLang="en-US" sz="1600" dirty="0" smtClean="0">
                <a:sym typeface="Huawei Sans" panose="020C0503030203020204" pitchFamily="34" charset="0"/>
              </a:rPr>
              <a:t>与</a:t>
            </a:r>
            <a:r>
              <a:rPr lang="en-US" altLang="zh-CN" sz="16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</a:t>
            </a:r>
            <a:r>
              <a:rPr lang="en-US" altLang="zh-CN" sz="1600" dirty="0" smtClean="0">
                <a:sym typeface="Huawei Sans" panose="020C0503030203020204" pitchFamily="34" charset="0"/>
              </a:rPr>
              <a:t>Spoke-PE</a:t>
            </a:r>
            <a:r>
              <a:rPr lang="zh-CN" altLang="en-US" sz="1600" dirty="0" smtClean="0">
                <a:sym typeface="Huawei Sans" panose="020C0503030203020204" pitchFamily="34" charset="0"/>
              </a:rPr>
              <a:t>与</a:t>
            </a:r>
            <a:r>
              <a:rPr lang="en-US" altLang="zh-CN" sz="1600" dirty="0" smtClean="0">
                <a:sym typeface="Huawei Sans" panose="020C0503030203020204" pitchFamily="34" charset="0"/>
              </a:rPr>
              <a:t>Spoke-CE</a:t>
            </a:r>
            <a:r>
              <a:rPr lang="zh-CN" altLang="en-US" sz="1600" dirty="0" smtClean="0">
                <a:sym typeface="Huawei Sans" panose="020C0503030203020204" pitchFamily="34" charset="0"/>
              </a:rPr>
              <a:t>使用</a:t>
            </a:r>
            <a:r>
              <a:rPr lang="en-US" altLang="zh-CN" sz="1600" dirty="0" smtClean="0">
                <a:sym typeface="Huawei Sans" panose="020C0503030203020204" pitchFamily="34" charset="0"/>
              </a:rPr>
              <a:t>EBGP</a:t>
            </a: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方式二：</a:t>
            </a:r>
            <a:r>
              <a:rPr lang="en-US" altLang="zh-CN" sz="1600" dirty="0" smtClean="0">
                <a:sym typeface="Huawei Sans" panose="020C0503030203020204" pitchFamily="34" charset="0"/>
              </a:rPr>
              <a:t>Hub-CE</a:t>
            </a:r>
            <a:r>
              <a:rPr lang="zh-CN" altLang="en-US" sz="1600" dirty="0" smtClean="0">
                <a:sym typeface="Huawei Sans" panose="020C0503030203020204" pitchFamily="34" charset="0"/>
              </a:rPr>
              <a:t>与</a:t>
            </a:r>
            <a:r>
              <a:rPr lang="en-US" altLang="zh-CN" sz="16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</a:t>
            </a:r>
            <a:r>
              <a:rPr lang="en-US" altLang="zh-CN" sz="1600" dirty="0" smtClean="0">
                <a:sym typeface="Huawei Sans" panose="020C0503030203020204" pitchFamily="34" charset="0"/>
              </a:rPr>
              <a:t>Spoke-PE</a:t>
            </a:r>
            <a:r>
              <a:rPr lang="zh-CN" altLang="en-US" sz="1600" dirty="0" smtClean="0">
                <a:sym typeface="Huawei Sans" panose="020C0503030203020204" pitchFamily="34" charset="0"/>
              </a:rPr>
              <a:t>与</a:t>
            </a:r>
            <a:r>
              <a:rPr lang="en-US" altLang="zh-CN" sz="1600" dirty="0" smtClean="0">
                <a:sym typeface="Huawei Sans" panose="020C0503030203020204" pitchFamily="34" charset="0"/>
              </a:rPr>
              <a:t>Spoke-CE</a:t>
            </a:r>
            <a:r>
              <a:rPr lang="zh-CN" altLang="en-US" sz="1600" dirty="0" smtClean="0">
                <a:sym typeface="Huawei Sans" panose="020C0503030203020204" pitchFamily="34" charset="0"/>
              </a:rPr>
              <a:t>使用</a:t>
            </a:r>
            <a:r>
              <a:rPr lang="en-US" altLang="zh-CN" sz="1600" dirty="0" smtClean="0">
                <a:sym typeface="Huawei Sans" panose="020C0503030203020204" pitchFamily="34" charset="0"/>
              </a:rPr>
              <a:t>IGP</a:t>
            </a: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方式三：</a:t>
            </a:r>
            <a:r>
              <a:rPr lang="en-US" altLang="zh-CN" sz="1600" dirty="0" smtClean="0">
                <a:sym typeface="Huawei Sans" panose="020C0503030203020204" pitchFamily="34" charset="0"/>
              </a:rPr>
              <a:t>Hub-CE</a:t>
            </a:r>
            <a:r>
              <a:rPr lang="zh-CN" altLang="en-US" sz="1600" dirty="0" smtClean="0">
                <a:sym typeface="Huawei Sans" panose="020C0503030203020204" pitchFamily="34" charset="0"/>
              </a:rPr>
              <a:t>与</a:t>
            </a:r>
            <a:r>
              <a:rPr lang="en-US" altLang="zh-CN" sz="16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600" dirty="0" smtClean="0">
                <a:sym typeface="Huawei Sans" panose="020C0503030203020204" pitchFamily="34" charset="0"/>
              </a:rPr>
              <a:t>使用</a:t>
            </a:r>
            <a:r>
              <a:rPr lang="en-US" altLang="zh-CN" sz="1600" dirty="0" smtClean="0">
                <a:sym typeface="Huawei Sans" panose="020C0503030203020204" pitchFamily="34" charset="0"/>
              </a:rPr>
              <a:t>EBGP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</a:t>
            </a:r>
            <a:r>
              <a:rPr lang="en-US" altLang="zh-CN" sz="1600" dirty="0" smtClean="0">
                <a:sym typeface="Huawei Sans" panose="020C0503030203020204" pitchFamily="34" charset="0"/>
              </a:rPr>
              <a:t>Spoke-PE</a:t>
            </a:r>
            <a:r>
              <a:rPr lang="zh-CN" altLang="en-US" sz="1600" dirty="0" smtClean="0">
                <a:sym typeface="Huawei Sans" panose="020C0503030203020204" pitchFamily="34" charset="0"/>
              </a:rPr>
              <a:t>与</a:t>
            </a:r>
            <a:r>
              <a:rPr lang="en-US" altLang="zh-CN" sz="1600" dirty="0" smtClean="0">
                <a:sym typeface="Huawei Sans" panose="020C0503030203020204" pitchFamily="34" charset="0"/>
              </a:rPr>
              <a:t>Spoke-CE</a:t>
            </a:r>
            <a:r>
              <a:rPr lang="zh-CN" altLang="en-US" sz="1600" dirty="0" smtClean="0">
                <a:sym typeface="Huawei Sans" panose="020C0503030203020204" pitchFamily="34" charset="0"/>
              </a:rPr>
              <a:t>使用</a:t>
            </a:r>
            <a:r>
              <a:rPr lang="en-US" altLang="zh-CN" sz="1600" dirty="0" smtClean="0">
                <a:sym typeface="Huawei Sans" panose="020C0503030203020204" pitchFamily="34" charset="0"/>
              </a:rPr>
              <a:t>IGP</a:t>
            </a: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无法通过</a:t>
            </a:r>
            <a:r>
              <a:rPr lang="en-US" altLang="zh-CN" sz="1800" dirty="0" smtClean="0">
                <a:sym typeface="Huawei Sans" panose="020C0503030203020204" pitchFamily="34" charset="0"/>
              </a:rPr>
              <a:t>Hub-CE</a:t>
            </a:r>
            <a:r>
              <a:rPr lang="zh-CN" altLang="en-US" sz="1800" dirty="0" smtClean="0">
                <a:sym typeface="Huawei Sans" panose="020C0503030203020204" pitchFamily="34" charset="0"/>
              </a:rPr>
              <a:t>与</a:t>
            </a:r>
            <a:r>
              <a:rPr lang="en-US" altLang="zh-CN" sz="18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使用</a:t>
            </a:r>
            <a:r>
              <a:rPr lang="en-US" altLang="zh-CN" sz="1800" dirty="0" smtClean="0">
                <a:sym typeface="Huawei Sans" panose="020C0503030203020204" pitchFamily="34" charset="0"/>
              </a:rPr>
              <a:t>IGP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与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Spoke-CE</a:t>
            </a:r>
            <a:r>
              <a:rPr lang="zh-CN" altLang="en-US" sz="1800" dirty="0" smtClean="0">
                <a:sym typeface="Huawei Sans" panose="020C0503030203020204" pitchFamily="34" charset="0"/>
              </a:rPr>
              <a:t>使用</a:t>
            </a:r>
            <a:r>
              <a:rPr lang="en-US" altLang="zh-CN" sz="1800" dirty="0" smtClean="0">
                <a:sym typeface="Huawei Sans" panose="020C0503030203020204" pitchFamily="34" charset="0"/>
              </a:rPr>
              <a:t>EBGP</a:t>
            </a:r>
            <a:r>
              <a:rPr lang="zh-CN" altLang="en-US" sz="1800" dirty="0" smtClean="0">
                <a:sym typeface="Huawei Sans" panose="020C0503030203020204" pitchFamily="34" charset="0"/>
              </a:rPr>
              <a:t>来部署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Hub&amp;Spoke</a:t>
            </a:r>
            <a:r>
              <a:rPr lang="zh-CN" altLang="en-US" sz="1800" dirty="0" smtClean="0">
                <a:sym typeface="Huawei Sans" panose="020C0503030203020204" pitchFamily="34" charset="0"/>
              </a:rPr>
              <a:t>组网的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" name="圆角矩形 4"/>
          <p:cNvSpPr/>
          <p:nvPr/>
        </p:nvSpPr>
        <p:spPr bwMode="gray">
          <a:xfrm>
            <a:off x="4434764" y="3853351"/>
            <a:ext cx="2810587" cy="2194539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" name="直接连接符 5"/>
          <p:cNvCxnSpPr>
            <a:stCxn id="11" idx="3"/>
            <a:endCxn id="7" idx="1"/>
          </p:cNvCxnSpPr>
          <p:nvPr/>
        </p:nvCxnSpPr>
        <p:spPr bwMode="gray">
          <a:xfrm>
            <a:off x="4739783" y="4201842"/>
            <a:ext cx="830274" cy="645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圆角矩形 5"/>
          <p:cNvSpPr/>
          <p:nvPr/>
        </p:nvSpPr>
        <p:spPr bwMode="gray">
          <a:xfrm>
            <a:off x="1334511" y="3704663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 bwMode="gray">
          <a:xfrm>
            <a:off x="3945442" y="4391597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" name="直接连接符 19"/>
          <p:cNvCxnSpPr>
            <a:stCxn id="13" idx="3"/>
            <a:endCxn id="11" idx="1"/>
          </p:cNvCxnSpPr>
          <p:nvPr/>
        </p:nvCxnSpPr>
        <p:spPr bwMode="gray">
          <a:xfrm>
            <a:off x="2614139" y="4201842"/>
            <a:ext cx="15856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74139" y="3980933"/>
            <a:ext cx="540000" cy="441818"/>
          </a:xfrm>
          <a:prstGeom prst="rect">
            <a:avLst/>
          </a:prstGeom>
          <a:noFill/>
        </p:spPr>
      </p:pic>
      <p:sp>
        <p:nvSpPr>
          <p:cNvPr id="14" name="文本框 13"/>
          <p:cNvSpPr txBox="1"/>
          <p:nvPr/>
        </p:nvSpPr>
        <p:spPr bwMode="gray">
          <a:xfrm>
            <a:off x="1120795" y="4056047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1334511" y="3723787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3" name="直接连接符 32"/>
          <p:cNvCxnSpPr>
            <a:stCxn id="7" idx="1"/>
            <a:endCxn id="31" idx="3"/>
          </p:cNvCxnSpPr>
          <p:nvPr/>
        </p:nvCxnSpPr>
        <p:spPr bwMode="gray">
          <a:xfrm flipH="1">
            <a:off x="4739782" y="4847189"/>
            <a:ext cx="830275" cy="6279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5"/>
          <p:cNvSpPr/>
          <p:nvPr/>
        </p:nvSpPr>
        <p:spPr bwMode="gray">
          <a:xfrm>
            <a:off x="1333655" y="4990841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73283" y="5254269"/>
            <a:ext cx="540000" cy="441818"/>
          </a:xfrm>
          <a:prstGeom prst="rect">
            <a:avLst/>
          </a:prstGeom>
          <a:noFill/>
        </p:spPr>
      </p:pic>
      <p:sp>
        <p:nvSpPr>
          <p:cNvPr id="53" name="文本框 52"/>
          <p:cNvSpPr txBox="1"/>
          <p:nvPr/>
        </p:nvSpPr>
        <p:spPr bwMode="gray">
          <a:xfrm>
            <a:off x="1058896" y="5321289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1316779" y="495062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5" name="直接连接符 54"/>
          <p:cNvCxnSpPr>
            <a:stCxn id="52" idx="3"/>
            <a:endCxn id="31" idx="1"/>
          </p:cNvCxnSpPr>
          <p:nvPr/>
        </p:nvCxnSpPr>
        <p:spPr bwMode="gray">
          <a:xfrm>
            <a:off x="2613283" y="5475178"/>
            <a:ext cx="15864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圆角矩形 5"/>
          <p:cNvSpPr/>
          <p:nvPr/>
        </p:nvSpPr>
        <p:spPr bwMode="gray">
          <a:xfrm>
            <a:off x="9917426" y="4323656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10092749" y="434607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9" name="组合 98"/>
          <p:cNvGrpSpPr/>
          <p:nvPr/>
        </p:nvGrpSpPr>
        <p:grpSpPr bwMode="gray">
          <a:xfrm>
            <a:off x="5570057" y="4626280"/>
            <a:ext cx="540000" cy="741265"/>
            <a:chOff x="5582631" y="4626280"/>
            <a:chExt cx="540000" cy="741265"/>
          </a:xfrm>
        </p:grpSpPr>
        <p:pic>
          <p:nvPicPr>
            <p:cNvPr id="7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582631" y="4626280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8" name="文本框 7"/>
            <p:cNvSpPr txBox="1"/>
            <p:nvPr/>
          </p:nvSpPr>
          <p:spPr bwMode="gray">
            <a:xfrm>
              <a:off x="5706597" y="5059768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 bwMode="gray">
          <a:xfrm>
            <a:off x="6851763" y="5049233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10660391" y="4695388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4" name="直接连接符 33"/>
          <p:cNvCxnSpPr>
            <a:stCxn id="9" idx="1"/>
            <a:endCxn id="7" idx="3"/>
          </p:cNvCxnSpPr>
          <p:nvPr/>
        </p:nvCxnSpPr>
        <p:spPr bwMode="gray">
          <a:xfrm flipH="1">
            <a:off x="6110057" y="4847189"/>
            <a:ext cx="8718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 bwMode="gray">
          <a:xfrm>
            <a:off x="7388106" y="4743217"/>
            <a:ext cx="2917944" cy="238209"/>
            <a:chOff x="7991712" y="4743218"/>
            <a:chExt cx="1131706" cy="223222"/>
          </a:xfrm>
        </p:grpSpPr>
        <p:cxnSp>
          <p:nvCxnSpPr>
            <p:cNvPr id="59" name="直接连接符 58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/>
          <p:cNvGrpSpPr/>
          <p:nvPr/>
        </p:nvGrpSpPr>
        <p:grpSpPr bwMode="gray">
          <a:xfrm>
            <a:off x="4313909" y="3901001"/>
            <a:ext cx="311330" cy="308935"/>
            <a:chOff x="4783749" y="3916821"/>
            <a:chExt cx="311330" cy="308935"/>
          </a:xfrm>
        </p:grpSpPr>
        <p:cxnSp>
          <p:nvCxnSpPr>
            <p:cNvPr id="71" name="直接连接符 53"/>
            <p:cNvCxnSpPr/>
            <p:nvPr/>
          </p:nvCxnSpPr>
          <p:spPr bwMode="gray">
            <a:xfrm>
              <a:off x="4783749" y="3916821"/>
              <a:ext cx="31133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53"/>
            <p:cNvCxnSpPr/>
            <p:nvPr/>
          </p:nvCxnSpPr>
          <p:spPr bwMode="gray">
            <a:xfrm>
              <a:off x="4939414" y="3916821"/>
              <a:ext cx="0" cy="308935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 Box 19"/>
          <p:cNvSpPr txBox="1">
            <a:spLocks noChangeArrowheads="1"/>
          </p:cNvSpPr>
          <p:nvPr/>
        </p:nvSpPr>
        <p:spPr bwMode="gray">
          <a:xfrm>
            <a:off x="3999734" y="3469685"/>
            <a:ext cx="939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Text Box 19"/>
          <p:cNvSpPr txBox="1">
            <a:spLocks noChangeArrowheads="1"/>
          </p:cNvSpPr>
          <p:nvPr/>
        </p:nvSpPr>
        <p:spPr bwMode="gray">
          <a:xfrm>
            <a:off x="3947885" y="4751046"/>
            <a:ext cx="939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Text Box 19"/>
          <p:cNvSpPr txBox="1">
            <a:spLocks noChangeArrowheads="1"/>
          </p:cNvSpPr>
          <p:nvPr/>
        </p:nvSpPr>
        <p:spPr bwMode="gray">
          <a:xfrm>
            <a:off x="6775511" y="4096809"/>
            <a:ext cx="939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3.3.3.3/32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199783" y="3980933"/>
            <a:ext cx="540000" cy="441818"/>
          </a:xfrm>
          <a:prstGeom prst="rect">
            <a:avLst/>
          </a:prstGeom>
          <a:noFill/>
        </p:spPr>
      </p:pic>
      <p:grpSp>
        <p:nvGrpSpPr>
          <p:cNvPr id="83" name="组合 82"/>
          <p:cNvGrpSpPr/>
          <p:nvPr/>
        </p:nvGrpSpPr>
        <p:grpSpPr bwMode="gray">
          <a:xfrm>
            <a:off x="4292009" y="5189900"/>
            <a:ext cx="311330" cy="308935"/>
            <a:chOff x="4783749" y="3916821"/>
            <a:chExt cx="311330" cy="308935"/>
          </a:xfrm>
        </p:grpSpPr>
        <p:cxnSp>
          <p:nvCxnSpPr>
            <p:cNvPr id="84" name="直接连接符 53"/>
            <p:cNvCxnSpPr/>
            <p:nvPr/>
          </p:nvCxnSpPr>
          <p:spPr bwMode="gray">
            <a:xfrm>
              <a:off x="4783749" y="3916821"/>
              <a:ext cx="31133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53"/>
            <p:cNvCxnSpPr/>
            <p:nvPr/>
          </p:nvCxnSpPr>
          <p:spPr bwMode="gray">
            <a:xfrm>
              <a:off x="4939414" y="3916821"/>
              <a:ext cx="0" cy="308935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 bwMode="gray">
          <a:xfrm>
            <a:off x="3945440" y="5254269"/>
            <a:ext cx="1048685" cy="713940"/>
            <a:chOff x="4657426" y="4932753"/>
            <a:chExt cx="1048685" cy="713940"/>
          </a:xfrm>
        </p:grpSpPr>
        <p:sp>
          <p:nvSpPr>
            <p:cNvPr id="32" name="文本框 31"/>
            <p:cNvSpPr txBox="1"/>
            <p:nvPr/>
          </p:nvSpPr>
          <p:spPr bwMode="gray">
            <a:xfrm>
              <a:off x="4657426" y="5338916"/>
              <a:ext cx="1048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Sopke-PE2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31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11768" y="4932753"/>
              <a:ext cx="540000" cy="441818"/>
            </a:xfrm>
            <a:prstGeom prst="rect">
              <a:avLst/>
            </a:prstGeom>
            <a:noFill/>
          </p:spPr>
        </p:pic>
      </p:grpSp>
      <p:grpSp>
        <p:nvGrpSpPr>
          <p:cNvPr id="86" name="组合 85"/>
          <p:cNvGrpSpPr/>
          <p:nvPr/>
        </p:nvGrpSpPr>
        <p:grpSpPr bwMode="gray">
          <a:xfrm>
            <a:off x="7089686" y="4524515"/>
            <a:ext cx="311330" cy="308935"/>
            <a:chOff x="4783749" y="3916821"/>
            <a:chExt cx="311330" cy="308935"/>
          </a:xfrm>
        </p:grpSpPr>
        <p:cxnSp>
          <p:nvCxnSpPr>
            <p:cNvPr id="87" name="直接连接符 53"/>
            <p:cNvCxnSpPr/>
            <p:nvPr/>
          </p:nvCxnSpPr>
          <p:spPr bwMode="gray">
            <a:xfrm>
              <a:off x="4783749" y="3916821"/>
              <a:ext cx="31133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53"/>
            <p:cNvCxnSpPr/>
            <p:nvPr/>
          </p:nvCxnSpPr>
          <p:spPr bwMode="gray">
            <a:xfrm>
              <a:off x="4939414" y="3916821"/>
              <a:ext cx="0" cy="308935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981872" y="4626280"/>
            <a:ext cx="540000" cy="441818"/>
          </a:xfrm>
          <a:prstGeom prst="rect">
            <a:avLst/>
          </a:prstGeom>
          <a:noFill/>
        </p:spPr>
      </p:pic>
      <p:sp>
        <p:nvSpPr>
          <p:cNvPr id="89" name="Text Box 19"/>
          <p:cNvSpPr txBox="1">
            <a:spLocks noChangeArrowheads="1"/>
          </p:cNvSpPr>
          <p:nvPr/>
        </p:nvSpPr>
        <p:spPr bwMode="gray">
          <a:xfrm>
            <a:off x="2882486" y="3816551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Text Box 19"/>
          <p:cNvSpPr txBox="1">
            <a:spLocks noChangeArrowheads="1"/>
          </p:cNvSpPr>
          <p:nvPr/>
        </p:nvSpPr>
        <p:spPr bwMode="gray">
          <a:xfrm>
            <a:off x="2607738" y="4191918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Text Box 19"/>
          <p:cNvSpPr txBox="1">
            <a:spLocks noChangeArrowheads="1"/>
          </p:cNvSpPr>
          <p:nvPr/>
        </p:nvSpPr>
        <p:spPr bwMode="gray">
          <a:xfrm>
            <a:off x="2900737" y="5092332"/>
            <a:ext cx="1388522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Text Box 19"/>
          <p:cNvSpPr txBox="1">
            <a:spLocks noChangeArrowheads="1"/>
          </p:cNvSpPr>
          <p:nvPr/>
        </p:nvSpPr>
        <p:spPr bwMode="gray">
          <a:xfrm>
            <a:off x="2606581" y="5429599"/>
            <a:ext cx="1203856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192.168.200.1/24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Text Box 19"/>
          <p:cNvSpPr txBox="1">
            <a:spLocks noChangeArrowheads="1"/>
          </p:cNvSpPr>
          <p:nvPr/>
        </p:nvSpPr>
        <p:spPr bwMode="gray">
          <a:xfrm>
            <a:off x="8933641" y="4347834"/>
            <a:ext cx="1301959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192.168.31.1/24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Text Box 19"/>
          <p:cNvSpPr txBox="1">
            <a:spLocks noChangeArrowheads="1"/>
          </p:cNvSpPr>
          <p:nvPr/>
        </p:nvSpPr>
        <p:spPr bwMode="gray">
          <a:xfrm>
            <a:off x="7612452" y="4361923"/>
            <a:ext cx="1117294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192.168.31.2/24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Text Box 19"/>
          <p:cNvSpPr txBox="1">
            <a:spLocks noChangeArrowheads="1"/>
          </p:cNvSpPr>
          <p:nvPr/>
        </p:nvSpPr>
        <p:spPr bwMode="gray">
          <a:xfrm>
            <a:off x="8933641" y="4933315"/>
            <a:ext cx="1301959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192.168.32.1/24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Text Box 19"/>
          <p:cNvSpPr txBox="1">
            <a:spLocks noChangeArrowheads="1"/>
          </p:cNvSpPr>
          <p:nvPr/>
        </p:nvSpPr>
        <p:spPr bwMode="gray">
          <a:xfrm>
            <a:off x="7612452" y="4933315"/>
            <a:ext cx="1117294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192.168.32.2/24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172639" y="4622294"/>
            <a:ext cx="540000" cy="441818"/>
          </a:xfrm>
          <a:prstGeom prst="rect">
            <a:avLst/>
          </a:prstGeom>
          <a:noFill/>
        </p:spPr>
      </p:pic>
      <p:sp>
        <p:nvSpPr>
          <p:cNvPr id="98" name="Text Box 19"/>
          <p:cNvSpPr txBox="1">
            <a:spLocks noChangeArrowheads="1"/>
          </p:cNvSpPr>
          <p:nvPr/>
        </p:nvSpPr>
        <p:spPr bwMode="gray">
          <a:xfrm>
            <a:off x="5451970" y="5802680"/>
            <a:ext cx="776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67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VRF</a:t>
            </a:r>
            <a:r>
              <a:rPr lang="zh-CN" altLang="en-US" smtClean="0">
                <a:sym typeface="Huawei Sans" panose="020C0503030203020204" pitchFamily="34" charset="0"/>
              </a:rPr>
              <a:t>配置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Spoke-PE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上创建一个</a:t>
            </a:r>
            <a:r>
              <a:rPr lang="en-US" altLang="zh-CN" sz="1800" dirty="0" smtClean="0">
                <a:sym typeface="Huawei Sans" panose="020C0503030203020204" pitchFamily="34" charset="0"/>
              </a:rPr>
              <a:t>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实例，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RT</a:t>
            </a:r>
            <a:r>
              <a:rPr lang="zh-CN" altLang="en-US" sz="1800" dirty="0" smtClean="0">
                <a:sym typeface="Huawei Sans" panose="020C0503030203020204" pitchFamily="34" charset="0"/>
              </a:rPr>
              <a:t>配置如图。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上创建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VPN_in</a:t>
            </a:r>
            <a:r>
              <a:rPr lang="zh-CN" altLang="en-US" sz="1800" dirty="0" smtClean="0">
                <a:sym typeface="Huawei Sans" panose="020C0503030203020204" pitchFamily="34" charset="0"/>
              </a:rPr>
              <a:t>和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VPN_out</a:t>
            </a:r>
            <a:r>
              <a:rPr lang="zh-CN" altLang="en-US" sz="1800" dirty="0" smtClean="0">
                <a:sym typeface="Huawei Sans" panose="020C0503030203020204" pitchFamily="34" charset="0"/>
              </a:rPr>
              <a:t>两个</a:t>
            </a:r>
            <a:r>
              <a:rPr lang="en-US" altLang="zh-CN" sz="1800" dirty="0" smtClean="0">
                <a:sym typeface="Huawei Sans" panose="020C0503030203020204" pitchFamily="34" charset="0"/>
              </a:rPr>
              <a:t>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实例，分别用于从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接收私网路由或向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发布私网路由，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RT</a:t>
            </a:r>
            <a:r>
              <a:rPr lang="zh-CN" altLang="en-US" sz="1800" dirty="0" smtClean="0">
                <a:sym typeface="Huawei Sans" panose="020C0503030203020204" pitchFamily="34" charset="0"/>
              </a:rPr>
              <a:t>配置如图。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3684470" y="2293669"/>
            <a:ext cx="1866430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3697939" y="2268006"/>
            <a:ext cx="18664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00:1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 bwMode="gray">
          <a:xfrm>
            <a:off x="3435102" y="5269754"/>
            <a:ext cx="1851490" cy="746249"/>
            <a:chOff x="1955320" y="2110230"/>
            <a:chExt cx="1851490" cy="746249"/>
          </a:xfrm>
          <a:effectLst/>
        </p:grpSpPr>
        <p:sp>
          <p:nvSpPr>
            <p:cNvPr id="10" name="矩形 9"/>
            <p:cNvSpPr/>
            <p:nvPr/>
          </p:nvSpPr>
          <p:spPr bwMode="gray">
            <a:xfrm>
              <a:off x="1995063" y="2110230"/>
              <a:ext cx="1811747" cy="7462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 bwMode="gray">
            <a:xfrm>
              <a:off x="1955320" y="2116650"/>
              <a:ext cx="181174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</a:t>
              </a:r>
            </a:p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Import RT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300:1</a:t>
              </a:r>
            </a:p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Export RT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200:1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7" name="圆角矩形 16"/>
          <p:cNvSpPr/>
          <p:nvPr/>
        </p:nvSpPr>
        <p:spPr bwMode="gray">
          <a:xfrm>
            <a:off x="4389680" y="3067613"/>
            <a:ext cx="2810587" cy="2194539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" name="直接连接符 17"/>
          <p:cNvCxnSpPr>
            <a:stCxn id="41" idx="3"/>
            <a:endCxn id="33" idx="1"/>
          </p:cNvCxnSpPr>
          <p:nvPr/>
        </p:nvCxnSpPr>
        <p:spPr bwMode="gray">
          <a:xfrm>
            <a:off x="4694699" y="3416104"/>
            <a:ext cx="842848" cy="64534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5"/>
          <p:cNvSpPr/>
          <p:nvPr/>
        </p:nvSpPr>
        <p:spPr bwMode="gray">
          <a:xfrm>
            <a:off x="1289427" y="2918925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3900358" y="3605859"/>
            <a:ext cx="104868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连接符 20"/>
          <p:cNvCxnSpPr>
            <a:stCxn id="22" idx="3"/>
            <a:endCxn id="41" idx="1"/>
          </p:cNvCxnSpPr>
          <p:nvPr/>
        </p:nvCxnSpPr>
        <p:spPr bwMode="gray">
          <a:xfrm>
            <a:off x="2569055" y="3416104"/>
            <a:ext cx="158564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29055" y="3195195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23" name="文本框 22"/>
          <p:cNvSpPr txBox="1"/>
          <p:nvPr/>
        </p:nvSpPr>
        <p:spPr bwMode="gray">
          <a:xfrm>
            <a:off x="1075711" y="3270309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1289427" y="293804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5" name="直接连接符 24"/>
          <p:cNvCxnSpPr>
            <a:stCxn id="33" idx="1"/>
            <a:endCxn id="44" idx="3"/>
          </p:cNvCxnSpPr>
          <p:nvPr/>
        </p:nvCxnSpPr>
        <p:spPr bwMode="gray">
          <a:xfrm flipH="1">
            <a:off x="4694698" y="4061451"/>
            <a:ext cx="842849" cy="627989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5"/>
          <p:cNvSpPr/>
          <p:nvPr/>
        </p:nvSpPr>
        <p:spPr bwMode="gray">
          <a:xfrm>
            <a:off x="1288571" y="4205103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28199" y="4468531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28" name="文本框 27"/>
          <p:cNvSpPr txBox="1"/>
          <p:nvPr/>
        </p:nvSpPr>
        <p:spPr bwMode="gray">
          <a:xfrm>
            <a:off x="1013812" y="4535551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1271695" y="416488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" name="直接连接符 29"/>
          <p:cNvCxnSpPr>
            <a:stCxn id="27" idx="3"/>
            <a:endCxn id="44" idx="1"/>
          </p:cNvCxnSpPr>
          <p:nvPr/>
        </p:nvCxnSpPr>
        <p:spPr bwMode="gray">
          <a:xfrm>
            <a:off x="2568199" y="4689440"/>
            <a:ext cx="1586499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 5"/>
          <p:cNvSpPr/>
          <p:nvPr/>
        </p:nvSpPr>
        <p:spPr bwMode="gray">
          <a:xfrm>
            <a:off x="9872342" y="3537918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10047665" y="356033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537547" y="3840542"/>
            <a:ext cx="540000" cy="441818"/>
          </a:xfrm>
          <a:prstGeom prst="rect">
            <a:avLst/>
          </a:prstGeom>
          <a:noFill/>
          <a:effectLst/>
        </p:spPr>
      </p:pic>
      <p:sp>
        <p:nvSpPr>
          <p:cNvPr id="34" name="文本框 33"/>
          <p:cNvSpPr txBox="1"/>
          <p:nvPr/>
        </p:nvSpPr>
        <p:spPr bwMode="gray">
          <a:xfrm>
            <a:off x="5661513" y="4274030"/>
            <a:ext cx="292068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6806679" y="4263495"/>
            <a:ext cx="80021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10615307" y="3909650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7" name="直接连接符 36"/>
          <p:cNvCxnSpPr>
            <a:stCxn id="45" idx="1"/>
            <a:endCxn id="33" idx="3"/>
          </p:cNvCxnSpPr>
          <p:nvPr/>
        </p:nvCxnSpPr>
        <p:spPr bwMode="gray">
          <a:xfrm flipH="1">
            <a:off x="6077547" y="4061451"/>
            <a:ext cx="859241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 bwMode="gray">
          <a:xfrm>
            <a:off x="7343022" y="3957479"/>
            <a:ext cx="2917944" cy="238209"/>
            <a:chOff x="7991712" y="4743218"/>
            <a:chExt cx="1131706" cy="223222"/>
          </a:xfrm>
        </p:grpSpPr>
        <p:cxnSp>
          <p:nvCxnSpPr>
            <p:cNvPr id="39" name="直接连接符 38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154699" y="3195195"/>
            <a:ext cx="540000" cy="441818"/>
          </a:xfrm>
          <a:prstGeom prst="rect">
            <a:avLst/>
          </a:prstGeom>
          <a:noFill/>
          <a:effectLst/>
        </p:spPr>
      </p:pic>
      <p:grpSp>
        <p:nvGrpSpPr>
          <p:cNvPr id="42" name="组合 41"/>
          <p:cNvGrpSpPr/>
          <p:nvPr/>
        </p:nvGrpSpPr>
        <p:grpSpPr bwMode="gray">
          <a:xfrm>
            <a:off x="3900356" y="4468531"/>
            <a:ext cx="1048685" cy="713940"/>
            <a:chOff x="4657426" y="4932753"/>
            <a:chExt cx="1048685" cy="713940"/>
          </a:xfrm>
          <a:effectLst/>
        </p:grpSpPr>
        <p:sp>
          <p:nvSpPr>
            <p:cNvPr id="43" name="文本框 42"/>
            <p:cNvSpPr txBox="1"/>
            <p:nvPr/>
          </p:nvSpPr>
          <p:spPr bwMode="gray">
            <a:xfrm>
              <a:off x="4657426" y="5338916"/>
              <a:ext cx="1048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Sopke-PE2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44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11768" y="4932753"/>
              <a:ext cx="540000" cy="441818"/>
            </a:xfrm>
            <a:prstGeom prst="rect">
              <a:avLst/>
            </a:prstGeom>
            <a:noFill/>
          </p:spPr>
        </p:pic>
      </p:grpSp>
      <p:pic>
        <p:nvPicPr>
          <p:cNvPr id="4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936788" y="3840542"/>
            <a:ext cx="540000" cy="441818"/>
          </a:xfrm>
          <a:prstGeom prst="rect">
            <a:avLst/>
          </a:prstGeom>
          <a:noFill/>
          <a:effectLst/>
        </p:spPr>
      </p:pic>
      <p:pic>
        <p:nvPicPr>
          <p:cNvPr id="4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127555" y="3836556"/>
            <a:ext cx="540000" cy="441818"/>
          </a:xfrm>
          <a:prstGeom prst="rect">
            <a:avLst/>
          </a:prstGeom>
          <a:noFill/>
        </p:spPr>
      </p:pic>
      <p:sp>
        <p:nvSpPr>
          <p:cNvPr id="47" name="文本框 46"/>
          <p:cNvSpPr txBox="1"/>
          <p:nvPr/>
        </p:nvSpPr>
        <p:spPr bwMode="gray">
          <a:xfrm>
            <a:off x="2987788" y="3091937"/>
            <a:ext cx="747320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3034168" y="4386606"/>
            <a:ext cx="747320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6483562" y="2297993"/>
            <a:ext cx="1798984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6507167" y="2328886"/>
            <a:ext cx="1960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300:1</a:t>
            </a:r>
          </a:p>
        </p:txBody>
      </p:sp>
      <p:sp>
        <p:nvSpPr>
          <p:cNvPr id="4" name="矩形 3"/>
          <p:cNvSpPr/>
          <p:nvPr/>
        </p:nvSpPr>
        <p:spPr bwMode="gray">
          <a:xfrm>
            <a:off x="6373466" y="4827953"/>
            <a:ext cx="1798984" cy="7462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6257774" y="4874694"/>
            <a:ext cx="1960629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 RT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100:1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200:1</a:t>
            </a:r>
          </a:p>
        </p:txBody>
      </p:sp>
    </p:spTree>
    <p:extLst>
      <p:ext uri="{BB962C8B-B14F-4D97-AF65-F5344CB8AC3E}">
        <p14:creationId xmlns:p14="http://schemas.microsoft.com/office/powerpoint/2010/main" val="318559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方式一：路由发布过程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>
                <a:sym typeface="Huawei Sans" panose="020C0503030203020204" pitchFamily="34" charset="0"/>
              </a:rPr>
              <a:t>Spoke-CE</a:t>
            </a:r>
            <a:r>
              <a:rPr lang="zh-CN" altLang="en-US" sz="1800" smtClean="0">
                <a:sym typeface="Huawei Sans" panose="020C0503030203020204" pitchFamily="34" charset="0"/>
              </a:rPr>
              <a:t>与</a:t>
            </a:r>
            <a:r>
              <a:rPr lang="en-US" altLang="zh-CN" sz="1800" smtClean="0">
                <a:sym typeface="Huawei Sans" panose="020C0503030203020204" pitchFamily="34" charset="0"/>
              </a:rPr>
              <a:t>Spoke-PE</a:t>
            </a:r>
            <a:r>
              <a:rPr lang="zh-CN" altLang="en-US" sz="1800" smtClean="0">
                <a:sym typeface="Huawei Sans" panose="020C0503030203020204" pitchFamily="34" charset="0"/>
              </a:rPr>
              <a:t>之间通过</a:t>
            </a:r>
            <a:r>
              <a:rPr lang="en-US" altLang="zh-CN" sz="1800" smtClean="0">
                <a:sym typeface="Huawei Sans" panose="020C0503030203020204" pitchFamily="34" charset="0"/>
              </a:rPr>
              <a:t>EBGP</a:t>
            </a:r>
            <a:r>
              <a:rPr lang="zh-CN" altLang="en-US" sz="1800" smtClean="0">
                <a:sym typeface="Huawei Sans" panose="020C0503030203020204" pitchFamily="34" charset="0"/>
              </a:rPr>
              <a:t>交互路由信息，建立</a:t>
            </a:r>
            <a:r>
              <a:rPr lang="en-US" altLang="zh-CN" sz="1800" smtClean="0">
                <a:sym typeface="Huawei Sans" panose="020C0503030203020204" pitchFamily="34" charset="0"/>
              </a:rPr>
              <a:t>EBGP</a:t>
            </a:r>
            <a:r>
              <a:rPr lang="zh-CN" altLang="en-US" sz="1800" smtClean="0">
                <a:sym typeface="Huawei Sans" panose="020C0503030203020204" pitchFamily="34" charset="0"/>
              </a:rPr>
              <a:t>连接后，把相关的路由发布到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即可。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en-US" altLang="zh-CN" sz="1800" smtClean="0">
                <a:sym typeface="Huawei Sans" panose="020C0503030203020204" pitchFamily="34" charset="0"/>
              </a:rPr>
              <a:t>Hub-PE</a:t>
            </a:r>
            <a:r>
              <a:rPr lang="zh-CN" altLang="en-US" sz="1800" smtClean="0">
                <a:sym typeface="Huawei Sans" panose="020C0503030203020204" pitchFamily="34" charset="0"/>
              </a:rPr>
              <a:t>与</a:t>
            </a:r>
            <a:r>
              <a:rPr lang="en-US" altLang="zh-CN" sz="1800" smtClean="0">
                <a:sym typeface="Huawei Sans" panose="020C0503030203020204" pitchFamily="34" charset="0"/>
              </a:rPr>
              <a:t>Hub-CE</a:t>
            </a:r>
            <a:r>
              <a:rPr lang="zh-CN" altLang="en-US" sz="1800" smtClean="0">
                <a:sym typeface="Huawei Sans" panose="020C0503030203020204" pitchFamily="34" charset="0"/>
              </a:rPr>
              <a:t>之间建立两条</a:t>
            </a:r>
            <a:r>
              <a:rPr lang="en-US" altLang="zh-CN" sz="1800" smtClean="0">
                <a:sym typeface="Huawei Sans" panose="020C0503030203020204" pitchFamily="34" charset="0"/>
              </a:rPr>
              <a:t>EBGP</a:t>
            </a:r>
            <a:r>
              <a:rPr lang="zh-CN" altLang="en-US" sz="1800" smtClean="0">
                <a:sym typeface="Huawei Sans" panose="020C0503030203020204" pitchFamily="34" charset="0"/>
              </a:rPr>
              <a:t>连接，分别用来发布和接收私网路由。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  <p:sp>
        <p:nvSpPr>
          <p:cNvPr id="76" name="圆角矩形 75"/>
          <p:cNvSpPr/>
          <p:nvPr/>
        </p:nvSpPr>
        <p:spPr bwMode="gray">
          <a:xfrm>
            <a:off x="4170822" y="3159704"/>
            <a:ext cx="2810587" cy="2194539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7" name="直接连接符 76"/>
          <p:cNvCxnSpPr>
            <a:stCxn id="106" idx="3"/>
            <a:endCxn id="92" idx="1"/>
          </p:cNvCxnSpPr>
          <p:nvPr/>
        </p:nvCxnSpPr>
        <p:spPr bwMode="gray">
          <a:xfrm>
            <a:off x="4475841" y="3508195"/>
            <a:ext cx="842848" cy="645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圆角矩形 5"/>
          <p:cNvSpPr/>
          <p:nvPr/>
        </p:nvSpPr>
        <p:spPr bwMode="gray">
          <a:xfrm>
            <a:off x="1070569" y="3011016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3681500" y="3697950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0" name="直接连接符 79"/>
          <p:cNvCxnSpPr>
            <a:stCxn id="81" idx="3"/>
            <a:endCxn id="106" idx="1"/>
          </p:cNvCxnSpPr>
          <p:nvPr/>
        </p:nvCxnSpPr>
        <p:spPr bwMode="gray">
          <a:xfrm>
            <a:off x="2350197" y="3508195"/>
            <a:ext cx="15856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10197" y="3287286"/>
            <a:ext cx="540000" cy="441818"/>
          </a:xfrm>
          <a:prstGeom prst="rect">
            <a:avLst/>
          </a:prstGeom>
          <a:noFill/>
        </p:spPr>
      </p:pic>
      <p:sp>
        <p:nvSpPr>
          <p:cNvPr id="82" name="文本框 81"/>
          <p:cNvSpPr txBox="1"/>
          <p:nvPr/>
        </p:nvSpPr>
        <p:spPr bwMode="gray">
          <a:xfrm>
            <a:off x="856853" y="3362400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1070569" y="303014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4" name="直接连接符 83"/>
          <p:cNvCxnSpPr>
            <a:stCxn id="92" idx="1"/>
            <a:endCxn id="112" idx="3"/>
          </p:cNvCxnSpPr>
          <p:nvPr/>
        </p:nvCxnSpPr>
        <p:spPr bwMode="gray">
          <a:xfrm flipH="1">
            <a:off x="4475840" y="4153542"/>
            <a:ext cx="842849" cy="6279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圆角矩形 5"/>
          <p:cNvSpPr/>
          <p:nvPr/>
        </p:nvSpPr>
        <p:spPr bwMode="gray">
          <a:xfrm>
            <a:off x="1069713" y="4297194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09341" y="4560622"/>
            <a:ext cx="540000" cy="441818"/>
          </a:xfrm>
          <a:prstGeom prst="rect">
            <a:avLst/>
          </a:prstGeom>
          <a:noFill/>
        </p:spPr>
      </p:pic>
      <p:sp>
        <p:nvSpPr>
          <p:cNvPr id="87" name="文本框 86"/>
          <p:cNvSpPr txBox="1"/>
          <p:nvPr/>
        </p:nvSpPr>
        <p:spPr bwMode="gray">
          <a:xfrm>
            <a:off x="794954" y="4627642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1052837" y="4256973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连接符 88"/>
          <p:cNvCxnSpPr>
            <a:stCxn id="86" idx="3"/>
            <a:endCxn id="112" idx="1"/>
          </p:cNvCxnSpPr>
          <p:nvPr/>
        </p:nvCxnSpPr>
        <p:spPr bwMode="gray">
          <a:xfrm>
            <a:off x="2349341" y="4781531"/>
            <a:ext cx="15864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圆角矩形 5"/>
          <p:cNvSpPr/>
          <p:nvPr/>
        </p:nvSpPr>
        <p:spPr bwMode="gray">
          <a:xfrm>
            <a:off x="9653484" y="3630009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>
            <a:off x="9828807" y="3652425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318689" y="3932633"/>
            <a:ext cx="540000" cy="441818"/>
          </a:xfrm>
          <a:prstGeom prst="rect">
            <a:avLst/>
          </a:prstGeom>
          <a:noFill/>
        </p:spPr>
      </p:pic>
      <p:sp>
        <p:nvSpPr>
          <p:cNvPr id="93" name="文本框 92"/>
          <p:cNvSpPr txBox="1"/>
          <p:nvPr/>
        </p:nvSpPr>
        <p:spPr bwMode="gray">
          <a:xfrm>
            <a:off x="5442655" y="4366121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6587821" y="4355586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10396449" y="4001741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6" name="直接连接符 95"/>
          <p:cNvCxnSpPr>
            <a:stCxn id="116" idx="1"/>
            <a:endCxn id="92" idx="3"/>
          </p:cNvCxnSpPr>
          <p:nvPr/>
        </p:nvCxnSpPr>
        <p:spPr bwMode="gray">
          <a:xfrm flipH="1">
            <a:off x="5858689" y="4153542"/>
            <a:ext cx="8592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/>
          <p:cNvGrpSpPr/>
          <p:nvPr/>
        </p:nvGrpSpPr>
        <p:grpSpPr bwMode="gray">
          <a:xfrm>
            <a:off x="7124164" y="4049570"/>
            <a:ext cx="2917944" cy="238209"/>
            <a:chOff x="7991712" y="4743218"/>
            <a:chExt cx="1131706" cy="223222"/>
          </a:xfrm>
        </p:grpSpPr>
        <p:cxnSp>
          <p:nvCxnSpPr>
            <p:cNvPr id="98" name="直接连接符 97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35841" y="3287286"/>
            <a:ext cx="540000" cy="441818"/>
          </a:xfrm>
          <a:prstGeom prst="rect">
            <a:avLst/>
          </a:prstGeom>
          <a:noFill/>
        </p:spPr>
      </p:pic>
      <p:grpSp>
        <p:nvGrpSpPr>
          <p:cNvPr id="110" name="组合 109"/>
          <p:cNvGrpSpPr/>
          <p:nvPr/>
        </p:nvGrpSpPr>
        <p:grpSpPr bwMode="gray">
          <a:xfrm>
            <a:off x="3681498" y="4560622"/>
            <a:ext cx="1048685" cy="713940"/>
            <a:chOff x="4657426" y="4932753"/>
            <a:chExt cx="1048685" cy="713940"/>
          </a:xfrm>
        </p:grpSpPr>
        <p:sp>
          <p:nvSpPr>
            <p:cNvPr id="111" name="文本框 110"/>
            <p:cNvSpPr txBox="1"/>
            <p:nvPr/>
          </p:nvSpPr>
          <p:spPr bwMode="gray">
            <a:xfrm>
              <a:off x="4657426" y="5338916"/>
              <a:ext cx="1048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Sopke-PE2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112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11768" y="4932753"/>
              <a:ext cx="540000" cy="441818"/>
            </a:xfrm>
            <a:prstGeom prst="rect">
              <a:avLst/>
            </a:prstGeom>
            <a:noFill/>
          </p:spPr>
        </p:pic>
      </p:grpSp>
      <p:pic>
        <p:nvPicPr>
          <p:cNvPr id="11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17930" y="3932633"/>
            <a:ext cx="540000" cy="441818"/>
          </a:xfrm>
          <a:prstGeom prst="rect">
            <a:avLst/>
          </a:prstGeom>
          <a:noFill/>
        </p:spPr>
      </p:pic>
      <p:pic>
        <p:nvPicPr>
          <p:cNvPr id="12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908697" y="3928647"/>
            <a:ext cx="540000" cy="441818"/>
          </a:xfrm>
          <a:prstGeom prst="rect">
            <a:avLst/>
          </a:prstGeom>
          <a:noFill/>
        </p:spPr>
      </p:pic>
      <p:sp>
        <p:nvSpPr>
          <p:cNvPr id="126" name="文本框 125"/>
          <p:cNvSpPr txBox="1"/>
          <p:nvPr/>
        </p:nvSpPr>
        <p:spPr bwMode="gray">
          <a:xfrm>
            <a:off x="2768930" y="3184028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文本框 126"/>
          <p:cNvSpPr txBox="1"/>
          <p:nvPr/>
        </p:nvSpPr>
        <p:spPr bwMode="gray">
          <a:xfrm>
            <a:off x="2815310" y="4478697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8035728" y="4282870"/>
            <a:ext cx="1095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8114097" y="3429475"/>
            <a:ext cx="938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07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方式一：</a:t>
            </a:r>
            <a:r>
              <a:rPr lang="en-US" altLang="zh-CN" dirty="0" smtClean="0">
                <a:sym typeface="Huawei Sans" panose="020C0503030203020204" pitchFamily="34" charset="0"/>
              </a:rPr>
              <a:t>Hub-PE</a:t>
            </a:r>
            <a:r>
              <a:rPr lang="zh-CN" altLang="en-US" dirty="0" smtClean="0">
                <a:sym typeface="Huawei Sans" panose="020C0503030203020204" pitchFamily="34" charset="0"/>
              </a:rPr>
              <a:t>与</a:t>
            </a:r>
            <a:r>
              <a:rPr lang="en-US" altLang="zh-CN" dirty="0" smtClean="0">
                <a:sym typeface="Huawei Sans" panose="020C0503030203020204" pitchFamily="34" charset="0"/>
              </a:rPr>
              <a:t>Hub-CE</a:t>
            </a:r>
            <a:r>
              <a:rPr lang="zh-CN" altLang="en-US" dirty="0" smtClean="0">
                <a:sym typeface="Huawei Sans" panose="020C0503030203020204" pitchFamily="34" charset="0"/>
              </a:rPr>
              <a:t>间配置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通过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VPN_in</a:t>
            </a:r>
            <a:r>
              <a:rPr lang="zh-CN" altLang="en-US" sz="1800" dirty="0" smtClean="0">
                <a:sym typeface="Huawei Sans" panose="020C0503030203020204" pitchFamily="34" charset="0"/>
              </a:rPr>
              <a:t>对应的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EBGP</a:t>
            </a:r>
            <a:r>
              <a:rPr lang="zh-CN" altLang="en-US" sz="1800" dirty="0" smtClean="0">
                <a:sym typeface="Huawei Sans" panose="020C0503030203020204" pitchFamily="34" charset="0"/>
              </a:rPr>
              <a:t>连接将从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</a:t>
            </a:r>
            <a:r>
              <a:rPr lang="zh-CN" altLang="en-US" sz="1800" dirty="0" smtClean="0">
                <a:sym typeface="Huawei Sans" panose="020C0503030203020204" pitchFamily="34" charset="0"/>
              </a:rPr>
              <a:t>站点学习的路由发布到</a:t>
            </a:r>
            <a:r>
              <a:rPr lang="en-US" altLang="zh-CN" sz="1800" dirty="0" smtClean="0">
                <a:sym typeface="Huawei Sans" panose="020C0503030203020204" pitchFamily="34" charset="0"/>
              </a:rPr>
              <a:t>Hub</a:t>
            </a:r>
            <a:r>
              <a:rPr lang="zh-CN" altLang="en-US" sz="1800" dirty="0" smtClean="0">
                <a:sym typeface="Huawei Sans" panose="020C0503030203020204" pitchFamily="34" charset="0"/>
              </a:rPr>
              <a:t>站点。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Hub-CE</a:t>
            </a:r>
            <a:r>
              <a:rPr lang="zh-CN" altLang="en-US" sz="1800" dirty="0" smtClean="0">
                <a:sym typeface="Huawei Sans" panose="020C0503030203020204" pitchFamily="34" charset="0"/>
              </a:rPr>
              <a:t>通过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VPN_out</a:t>
            </a:r>
            <a:r>
              <a:rPr lang="zh-CN" altLang="en-US" sz="1800" dirty="0" smtClean="0">
                <a:sym typeface="Huawei Sans" panose="020C0503030203020204" pitchFamily="34" charset="0"/>
              </a:rPr>
              <a:t>对应的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EBGP</a:t>
            </a:r>
            <a:r>
              <a:rPr lang="zh-CN" altLang="en-US" sz="1800" dirty="0" smtClean="0">
                <a:sym typeface="Huawei Sans" panose="020C0503030203020204" pitchFamily="34" charset="0"/>
              </a:rPr>
              <a:t>将这些路由发布到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</a:t>
            </a:r>
            <a:r>
              <a:rPr lang="zh-CN" altLang="en-US" sz="1800" dirty="0" smtClean="0">
                <a:sym typeface="Huawei Sans" panose="020C0503030203020204" pitchFamily="34" charset="0"/>
              </a:rPr>
              <a:t>站点。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>
            <a:spLocks/>
          </p:cNvSpPr>
          <p:nvPr/>
        </p:nvSpPr>
        <p:spPr bwMode="gray">
          <a:xfrm>
            <a:off x="3558893" y="2235659"/>
            <a:ext cx="1537177" cy="1188000"/>
          </a:xfrm>
          <a:prstGeom prst="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圆角矩形 5"/>
          <p:cNvSpPr>
            <a:spLocks/>
          </p:cNvSpPr>
          <p:nvPr/>
        </p:nvSpPr>
        <p:spPr bwMode="gray">
          <a:xfrm>
            <a:off x="7189089" y="2213243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>
            <a:off x="7364412" y="223565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3511931" y="2587517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7932054" y="2584975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7" name="组合 96"/>
          <p:cNvGrpSpPr/>
          <p:nvPr/>
        </p:nvGrpSpPr>
        <p:grpSpPr bwMode="gray">
          <a:xfrm>
            <a:off x="4659769" y="2632804"/>
            <a:ext cx="2917944" cy="238209"/>
            <a:chOff x="7991712" y="4743218"/>
            <a:chExt cx="1131706" cy="223222"/>
          </a:xfrm>
        </p:grpSpPr>
        <p:cxnSp>
          <p:nvCxnSpPr>
            <p:cNvPr id="98" name="直接连接符 97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253535" y="2515867"/>
            <a:ext cx="540000" cy="441818"/>
          </a:xfrm>
          <a:prstGeom prst="rect">
            <a:avLst/>
          </a:prstGeom>
          <a:noFill/>
        </p:spPr>
      </p:pic>
      <p:pic>
        <p:nvPicPr>
          <p:cNvPr id="12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44302" y="2511881"/>
            <a:ext cx="540000" cy="441818"/>
          </a:xfrm>
          <a:prstGeom prst="rect">
            <a:avLst/>
          </a:prstGeom>
          <a:noFill/>
        </p:spPr>
      </p:pic>
      <p:sp>
        <p:nvSpPr>
          <p:cNvPr id="128" name="文本框 127"/>
          <p:cNvSpPr txBox="1"/>
          <p:nvPr/>
        </p:nvSpPr>
        <p:spPr bwMode="gray">
          <a:xfrm>
            <a:off x="5596599" y="3117644"/>
            <a:ext cx="997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5673231" y="1938195"/>
            <a:ext cx="856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  <a:p>
            <a:pPr algn="ctr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gray">
          <a:xfrm>
            <a:off x="6169072" y="2250851"/>
            <a:ext cx="1301959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192.168.31.1/24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gray">
          <a:xfrm>
            <a:off x="4847883" y="2246278"/>
            <a:ext cx="1117294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192.168.31.2/24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gray">
          <a:xfrm>
            <a:off x="6169072" y="2817670"/>
            <a:ext cx="1301959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algn="r"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192.168.32.1/24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Text Box 19"/>
          <p:cNvSpPr txBox="1">
            <a:spLocks noChangeArrowheads="1"/>
          </p:cNvSpPr>
          <p:nvPr/>
        </p:nvSpPr>
        <p:spPr bwMode="gray">
          <a:xfrm>
            <a:off x="4847883" y="2817670"/>
            <a:ext cx="1117294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  <a:p>
            <a:pPr eaLnBrk="1" hangingPunct="1"/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192.168.32.2/24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gray">
          <a:xfrm>
            <a:off x="3576190" y="3103021"/>
            <a:ext cx="705845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Text Box 19"/>
          <p:cNvSpPr txBox="1">
            <a:spLocks noChangeArrowheads="1"/>
          </p:cNvSpPr>
          <p:nvPr/>
        </p:nvSpPr>
        <p:spPr bwMode="gray">
          <a:xfrm>
            <a:off x="8008698" y="2884900"/>
            <a:ext cx="705845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65001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Rectangle 55"/>
          <p:cNvSpPr/>
          <p:nvPr/>
        </p:nvSpPr>
        <p:spPr bwMode="gray">
          <a:xfrm>
            <a:off x="493450" y="3793729"/>
            <a:ext cx="5103736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# Hub-PE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建立两条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123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ipv4-family 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peer 192.168.31.1 as-number 65001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]quit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[Hub-PE-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ipv4-family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192.168.32.1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as-number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192.168.32.1 allow-as-loop</a:t>
            </a:r>
          </a:p>
        </p:txBody>
      </p:sp>
      <p:sp>
        <p:nvSpPr>
          <p:cNvPr id="47" name="Rectangle 55"/>
          <p:cNvSpPr/>
          <p:nvPr/>
        </p:nvSpPr>
        <p:spPr bwMode="gray">
          <a:xfrm>
            <a:off x="6318202" y="3793729"/>
            <a:ext cx="5103736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# Hub-CE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建立两条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[Hub-CE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peer 192.168.31.2 as-number 123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[Hub-CE-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 192.168.32.2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as-number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123</a:t>
            </a: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gray">
          <a:xfrm>
            <a:off x="6298189" y="5059650"/>
            <a:ext cx="5123749" cy="93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由于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对应的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连接发送给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的路由可能带有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，则这些路由将会被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丢弃，故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上必须手工配置允许本地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编号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重复。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66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方式二：路由发布过程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以选用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作为</a:t>
            </a:r>
            <a:r>
              <a:rPr lang="en-US" altLang="zh-CN" sz="1800" smtClean="0">
                <a:sym typeface="Huawei Sans" panose="020C0503030203020204" pitchFamily="34" charset="0"/>
              </a:rPr>
              <a:t>IGP</a:t>
            </a:r>
            <a:r>
              <a:rPr lang="zh-CN" altLang="en-US" sz="1800" smtClean="0">
                <a:sym typeface="Huawei Sans" panose="020C0503030203020204" pitchFamily="34" charset="0"/>
              </a:rPr>
              <a:t>协议为例：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smtClean="0">
                <a:sym typeface="Huawei Sans" panose="020C0503030203020204" pitchFamily="34" charset="0"/>
              </a:rPr>
              <a:t>Spoke-CE</a:t>
            </a:r>
            <a:r>
              <a:rPr lang="zh-CN" altLang="en-US" sz="1600" smtClean="0">
                <a:sym typeface="Huawei Sans" panose="020C0503030203020204" pitchFamily="34" charset="0"/>
              </a:rPr>
              <a:t>与</a:t>
            </a:r>
            <a:r>
              <a:rPr lang="en-US" altLang="zh-CN" sz="1600" smtClean="0">
                <a:sym typeface="Huawei Sans" panose="020C0503030203020204" pitchFamily="34" charset="0"/>
              </a:rPr>
              <a:t>Spoke-PE</a:t>
            </a:r>
            <a:r>
              <a:rPr lang="zh-CN" altLang="en-US" sz="1600" smtClean="0">
                <a:sym typeface="Huawei Sans" panose="020C0503030203020204" pitchFamily="34" charset="0"/>
              </a:rPr>
              <a:t>之间通过</a:t>
            </a:r>
            <a:r>
              <a:rPr lang="en-US" altLang="zh-CN" sz="1600" smtClean="0">
                <a:sym typeface="Huawei Sans" panose="020C0503030203020204" pitchFamily="34" charset="0"/>
              </a:rPr>
              <a:t>OSPF</a:t>
            </a:r>
            <a:r>
              <a:rPr lang="zh-CN" altLang="en-US" sz="1600" smtClean="0">
                <a:sym typeface="Huawei Sans" panose="020C0503030203020204" pitchFamily="34" charset="0"/>
              </a:rPr>
              <a:t>（进程</a:t>
            </a:r>
            <a:r>
              <a:rPr lang="en-US" altLang="zh-CN" sz="1600" smtClean="0">
                <a:sym typeface="Huawei Sans" panose="020C0503030203020204" pitchFamily="34" charset="0"/>
              </a:rPr>
              <a:t>100</a:t>
            </a:r>
            <a:r>
              <a:rPr lang="zh-CN" altLang="en-US" sz="1600" smtClean="0">
                <a:sym typeface="Huawei Sans" panose="020C0503030203020204" pitchFamily="34" charset="0"/>
              </a:rPr>
              <a:t>）邻居关系交互路由信息。</a:t>
            </a:r>
          </a:p>
          <a:p>
            <a:pPr lvl="1"/>
            <a:r>
              <a:rPr lang="en-US" altLang="zh-CN" sz="1600" smtClean="0">
                <a:sym typeface="Huawei Sans" panose="020C0503030203020204" pitchFamily="34" charset="0"/>
              </a:rPr>
              <a:t>Hub-PE</a:t>
            </a:r>
            <a:r>
              <a:rPr lang="zh-CN" altLang="en-US" sz="1600" smtClean="0">
                <a:sym typeface="Huawei Sans" panose="020C0503030203020204" pitchFamily="34" charset="0"/>
              </a:rPr>
              <a:t>通过两个</a:t>
            </a:r>
            <a:r>
              <a:rPr lang="en-US" altLang="zh-CN" sz="1600" smtClean="0">
                <a:sym typeface="Huawei Sans" panose="020C0503030203020204" pitchFamily="34" charset="0"/>
              </a:rPr>
              <a:t>OSPF</a:t>
            </a:r>
            <a:r>
              <a:rPr lang="zh-CN" altLang="en-US" sz="1600" smtClean="0">
                <a:sym typeface="Huawei Sans" panose="020C0503030203020204" pitchFamily="34" charset="0"/>
              </a:rPr>
              <a:t>进程与</a:t>
            </a:r>
            <a:r>
              <a:rPr lang="en-US" altLang="zh-CN" sz="1600" smtClean="0">
                <a:sym typeface="Huawei Sans" panose="020C0503030203020204" pitchFamily="34" charset="0"/>
              </a:rPr>
              <a:t>Hub-CE</a:t>
            </a:r>
            <a:r>
              <a:rPr lang="zh-CN" altLang="en-US" sz="1600" smtClean="0">
                <a:sym typeface="Huawei Sans" panose="020C0503030203020204" pitchFamily="34" charset="0"/>
              </a:rPr>
              <a:t>建立</a:t>
            </a:r>
            <a:r>
              <a:rPr lang="en-US" altLang="zh-CN" sz="1600" smtClean="0">
                <a:sym typeface="Huawei Sans" panose="020C0503030203020204" pitchFamily="34" charset="0"/>
              </a:rPr>
              <a:t>OSPF</a:t>
            </a:r>
            <a:r>
              <a:rPr lang="zh-CN" altLang="en-US" sz="1600" smtClean="0">
                <a:sym typeface="Huawei Sans" panose="020C0503030203020204" pitchFamily="34" charset="0"/>
              </a:rPr>
              <a:t>邻居，分别负责私网路由的发送和接收。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4170822" y="3147981"/>
            <a:ext cx="2810587" cy="2194539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28" idx="3"/>
            <a:endCxn id="20" idx="1"/>
          </p:cNvCxnSpPr>
          <p:nvPr/>
        </p:nvCxnSpPr>
        <p:spPr bwMode="gray">
          <a:xfrm>
            <a:off x="4475841" y="3496472"/>
            <a:ext cx="842848" cy="645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 bwMode="gray">
          <a:xfrm>
            <a:off x="1070569" y="2999293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3681500" y="3686227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" name="直接连接符 7"/>
          <p:cNvCxnSpPr>
            <a:stCxn id="9" idx="3"/>
            <a:endCxn id="28" idx="1"/>
          </p:cNvCxnSpPr>
          <p:nvPr/>
        </p:nvCxnSpPr>
        <p:spPr bwMode="gray">
          <a:xfrm>
            <a:off x="2350197" y="3496472"/>
            <a:ext cx="15856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10197" y="3275563"/>
            <a:ext cx="540000" cy="441818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 bwMode="gray">
          <a:xfrm>
            <a:off x="856853" y="3350677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 bwMode="gray">
          <a:xfrm>
            <a:off x="1070569" y="3018417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" name="直接连接符 11"/>
          <p:cNvCxnSpPr>
            <a:stCxn id="20" idx="1"/>
            <a:endCxn id="31" idx="3"/>
          </p:cNvCxnSpPr>
          <p:nvPr/>
        </p:nvCxnSpPr>
        <p:spPr bwMode="gray">
          <a:xfrm flipH="1">
            <a:off x="4475840" y="4141819"/>
            <a:ext cx="842849" cy="6279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5"/>
          <p:cNvSpPr/>
          <p:nvPr/>
        </p:nvSpPr>
        <p:spPr bwMode="gray">
          <a:xfrm>
            <a:off x="1069713" y="4285471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09341" y="4548899"/>
            <a:ext cx="540000" cy="441818"/>
          </a:xfrm>
          <a:prstGeom prst="rect">
            <a:avLst/>
          </a:prstGeom>
          <a:noFill/>
        </p:spPr>
      </p:pic>
      <p:sp>
        <p:nvSpPr>
          <p:cNvPr id="15" name="文本框 14"/>
          <p:cNvSpPr txBox="1"/>
          <p:nvPr/>
        </p:nvSpPr>
        <p:spPr bwMode="gray">
          <a:xfrm>
            <a:off x="794954" y="4615919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1052837" y="42452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" name="直接连接符 16"/>
          <p:cNvCxnSpPr>
            <a:stCxn id="14" idx="3"/>
            <a:endCxn id="31" idx="1"/>
          </p:cNvCxnSpPr>
          <p:nvPr/>
        </p:nvCxnSpPr>
        <p:spPr bwMode="gray">
          <a:xfrm>
            <a:off x="2349341" y="4769808"/>
            <a:ext cx="15864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5"/>
          <p:cNvSpPr/>
          <p:nvPr/>
        </p:nvSpPr>
        <p:spPr bwMode="gray">
          <a:xfrm>
            <a:off x="9653484" y="3618286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9828807" y="364070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318689" y="3920910"/>
            <a:ext cx="540000" cy="441818"/>
          </a:xfrm>
          <a:prstGeom prst="rect">
            <a:avLst/>
          </a:prstGeom>
          <a:noFill/>
        </p:spPr>
      </p:pic>
      <p:sp>
        <p:nvSpPr>
          <p:cNvPr id="21" name="文本框 20"/>
          <p:cNvSpPr txBox="1"/>
          <p:nvPr/>
        </p:nvSpPr>
        <p:spPr bwMode="gray">
          <a:xfrm>
            <a:off x="5442655" y="435439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6587821" y="4343863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gray">
          <a:xfrm>
            <a:off x="10396449" y="3990018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连接符 23"/>
          <p:cNvCxnSpPr>
            <a:stCxn id="32" idx="1"/>
            <a:endCxn id="20" idx="3"/>
          </p:cNvCxnSpPr>
          <p:nvPr/>
        </p:nvCxnSpPr>
        <p:spPr bwMode="gray">
          <a:xfrm flipH="1">
            <a:off x="5858689" y="4141819"/>
            <a:ext cx="8592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 bwMode="gray">
          <a:xfrm>
            <a:off x="7124164" y="4037847"/>
            <a:ext cx="2917944" cy="238209"/>
            <a:chOff x="7991712" y="4743218"/>
            <a:chExt cx="1131706" cy="223222"/>
          </a:xfrm>
        </p:grpSpPr>
        <p:cxnSp>
          <p:nvCxnSpPr>
            <p:cNvPr id="26" name="直接连接符 25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35841" y="3275563"/>
            <a:ext cx="540000" cy="441818"/>
          </a:xfrm>
          <a:prstGeom prst="rect">
            <a:avLst/>
          </a:prstGeom>
          <a:noFill/>
        </p:spPr>
      </p:pic>
      <p:grpSp>
        <p:nvGrpSpPr>
          <p:cNvPr id="29" name="组合 28"/>
          <p:cNvGrpSpPr/>
          <p:nvPr/>
        </p:nvGrpSpPr>
        <p:grpSpPr bwMode="gray">
          <a:xfrm>
            <a:off x="3681498" y="4548899"/>
            <a:ext cx="1048685" cy="713940"/>
            <a:chOff x="4657426" y="4932753"/>
            <a:chExt cx="1048685" cy="713940"/>
          </a:xfrm>
        </p:grpSpPr>
        <p:sp>
          <p:nvSpPr>
            <p:cNvPr id="30" name="文本框 29"/>
            <p:cNvSpPr txBox="1"/>
            <p:nvPr/>
          </p:nvSpPr>
          <p:spPr bwMode="gray">
            <a:xfrm>
              <a:off x="4657426" y="5338916"/>
              <a:ext cx="1048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Sopke-PE2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31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11768" y="4932753"/>
              <a:ext cx="540000" cy="441818"/>
            </a:xfrm>
            <a:prstGeom prst="rect">
              <a:avLst/>
            </a:prstGeom>
            <a:noFill/>
          </p:spPr>
        </p:pic>
      </p:grpSp>
      <p:pic>
        <p:nvPicPr>
          <p:cNvPr id="3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17930" y="3920910"/>
            <a:ext cx="540000" cy="441818"/>
          </a:xfrm>
          <a:prstGeom prst="rect">
            <a:avLst/>
          </a:prstGeom>
          <a:noFill/>
        </p:spPr>
      </p:pic>
      <p:pic>
        <p:nvPicPr>
          <p:cNvPr id="3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908697" y="3916924"/>
            <a:ext cx="540000" cy="441818"/>
          </a:xfrm>
          <a:prstGeom prst="rect">
            <a:avLst/>
          </a:prstGeom>
          <a:noFill/>
        </p:spPr>
      </p:pic>
      <p:sp>
        <p:nvSpPr>
          <p:cNvPr id="34" name="文本框 33"/>
          <p:cNvSpPr txBox="1"/>
          <p:nvPr/>
        </p:nvSpPr>
        <p:spPr bwMode="gray">
          <a:xfrm>
            <a:off x="2538097" y="3172305"/>
            <a:ext cx="12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2584477" y="4466974"/>
            <a:ext cx="12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7981226" y="4271147"/>
            <a:ext cx="120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200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7981047" y="3398064"/>
            <a:ext cx="120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</a:p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31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>
            <a:spLocks/>
          </p:cNvSpPr>
          <p:nvPr/>
        </p:nvSpPr>
        <p:spPr bwMode="gray">
          <a:xfrm>
            <a:off x="3449656" y="2414504"/>
            <a:ext cx="1669919" cy="1188000"/>
          </a:xfrm>
          <a:prstGeom prst="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方式二：</a:t>
            </a:r>
            <a:r>
              <a:rPr lang="en-US" altLang="zh-CN" dirty="0" smtClean="0">
                <a:sym typeface="Huawei Sans" panose="020C0503030203020204" pitchFamily="34" charset="0"/>
              </a:rPr>
              <a:t>Hub-PE</a:t>
            </a:r>
            <a:r>
              <a:rPr lang="zh-CN" altLang="en-US" dirty="0" smtClean="0">
                <a:sym typeface="Huawei Sans" panose="020C0503030203020204" pitchFamily="34" charset="0"/>
              </a:rPr>
              <a:t>与</a:t>
            </a:r>
            <a:r>
              <a:rPr lang="en-US" altLang="zh-CN" dirty="0" smtClean="0">
                <a:sym typeface="Huawei Sans" panose="020C0503030203020204" pitchFamily="34" charset="0"/>
              </a:rPr>
              <a:t>Hub-CE</a:t>
            </a:r>
            <a:r>
              <a:rPr lang="zh-CN" altLang="en-US" dirty="0" smtClean="0">
                <a:sym typeface="Huawei Sans" panose="020C0503030203020204" pitchFamily="34" charset="0"/>
              </a:rPr>
              <a:t>间配置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通过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VPN_in</a:t>
            </a:r>
            <a:r>
              <a:rPr lang="zh-CN" altLang="en-US" sz="1800" dirty="0" smtClean="0">
                <a:sym typeface="Huawei Sans" panose="020C0503030203020204" pitchFamily="34" charset="0"/>
              </a:rPr>
              <a:t>对应的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OSPF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（进程</a:t>
            </a:r>
            <a:r>
              <a:rPr lang="en-US" altLang="zh-CN" sz="1800" dirty="0" smtClean="0">
                <a:sym typeface="Huawei Sans" panose="020C0503030203020204" pitchFamily="34" charset="0"/>
              </a:rPr>
              <a:t>100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）将从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</a:t>
            </a:r>
            <a:r>
              <a:rPr lang="zh-CN" altLang="en-US" sz="1800" dirty="0" smtClean="0">
                <a:sym typeface="Huawei Sans" panose="020C0503030203020204" pitchFamily="34" charset="0"/>
              </a:rPr>
              <a:t>站点学习的路由发布到</a:t>
            </a:r>
            <a:r>
              <a:rPr lang="en-US" altLang="zh-CN" sz="1800" dirty="0" smtClean="0">
                <a:sym typeface="Huawei Sans" panose="020C0503030203020204" pitchFamily="34" charset="0"/>
              </a:rPr>
              <a:t>Hub</a:t>
            </a:r>
            <a:r>
              <a:rPr lang="zh-CN" altLang="en-US" sz="1800" dirty="0" smtClean="0">
                <a:sym typeface="Huawei Sans" panose="020C0503030203020204" pitchFamily="34" charset="0"/>
              </a:rPr>
              <a:t>站点。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Hub-CE</a:t>
            </a:r>
            <a:r>
              <a:rPr lang="zh-CN" altLang="en-US" sz="1800" dirty="0" smtClean="0">
                <a:sym typeface="Huawei Sans" panose="020C0503030203020204" pitchFamily="34" charset="0"/>
              </a:rPr>
              <a:t>通过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VPN_out</a:t>
            </a:r>
            <a:r>
              <a:rPr lang="zh-CN" altLang="en-US" sz="1800" dirty="0" smtClean="0">
                <a:sym typeface="Huawei Sans" panose="020C0503030203020204" pitchFamily="34" charset="0"/>
              </a:rPr>
              <a:t>对应的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OSPF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（进程</a:t>
            </a:r>
            <a:r>
              <a:rPr lang="en-US" altLang="zh-CN" sz="1800" dirty="0" smtClean="0">
                <a:sym typeface="Huawei Sans" panose="020C0503030203020204" pitchFamily="34" charset="0"/>
              </a:rPr>
              <a:t>200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）将这些路由发布到</a:t>
            </a:r>
            <a:r>
              <a:rPr lang="en-US" altLang="zh-CN" sz="1800" dirty="0" smtClean="0">
                <a:sym typeface="Huawei Sans" panose="020C0503030203020204" pitchFamily="34" charset="0"/>
              </a:rPr>
              <a:t>Hub-PE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，进而发布给所有</a:t>
            </a:r>
            <a:r>
              <a:rPr lang="en-US" altLang="zh-CN" sz="1800" dirty="0" smtClean="0">
                <a:sym typeface="Huawei Sans" panose="020C0503030203020204" pitchFamily="34" charset="0"/>
              </a:rPr>
              <a:t>Spoke</a:t>
            </a:r>
            <a:r>
              <a:rPr lang="zh-CN" altLang="en-US" sz="1800" dirty="0" smtClean="0">
                <a:sym typeface="Huawei Sans" panose="020C0503030203020204" pitchFamily="34" charset="0"/>
              </a:rPr>
              <a:t>站点。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2" name="圆角矩形 5"/>
          <p:cNvSpPr/>
          <p:nvPr/>
        </p:nvSpPr>
        <p:spPr bwMode="gray">
          <a:xfrm>
            <a:off x="7185429" y="2414504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7360752" y="243692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3449656" y="2834065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7928394" y="2786236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 bwMode="gray">
          <a:xfrm>
            <a:off x="4656109" y="2834065"/>
            <a:ext cx="2917944" cy="238209"/>
            <a:chOff x="7991712" y="4743218"/>
            <a:chExt cx="1131706" cy="223222"/>
          </a:xfrm>
        </p:grpSpPr>
        <p:cxnSp>
          <p:nvCxnSpPr>
            <p:cNvPr id="60" name="直接连接符 59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249875" y="2717128"/>
            <a:ext cx="540000" cy="441818"/>
          </a:xfrm>
          <a:prstGeom prst="rect">
            <a:avLst/>
          </a:prstGeom>
          <a:noFill/>
        </p:spPr>
      </p:pic>
      <p:pic>
        <p:nvPicPr>
          <p:cNvPr id="6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40642" y="2713142"/>
            <a:ext cx="540000" cy="441818"/>
          </a:xfrm>
          <a:prstGeom prst="rect">
            <a:avLst/>
          </a:prstGeom>
          <a:noFill/>
        </p:spPr>
      </p:pic>
      <p:sp>
        <p:nvSpPr>
          <p:cNvPr id="70" name="文本框 69"/>
          <p:cNvSpPr txBox="1"/>
          <p:nvPr/>
        </p:nvSpPr>
        <p:spPr bwMode="gray">
          <a:xfrm>
            <a:off x="5513171" y="3067365"/>
            <a:ext cx="120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200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5512992" y="2213970"/>
            <a:ext cx="120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Rectangle 55"/>
          <p:cNvSpPr/>
          <p:nvPr/>
        </p:nvSpPr>
        <p:spPr bwMode="gray">
          <a:xfrm>
            <a:off x="668214" y="3856212"/>
            <a:ext cx="4928971" cy="16004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# Hub-PE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上执行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的相互引入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Hub-PE]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 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VPN_in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[Hub-PE-ospf-100]import-route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Hub-PE-ospf-100]quit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[Hub-PE]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]ipv4-family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VPN_out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Hub-PE-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-VPN_out]import-route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200 </a:t>
            </a:r>
          </a:p>
        </p:txBody>
      </p:sp>
      <p:sp>
        <p:nvSpPr>
          <p:cNvPr id="74" name="Rectangle 55"/>
          <p:cNvSpPr/>
          <p:nvPr/>
        </p:nvSpPr>
        <p:spPr bwMode="gray">
          <a:xfrm>
            <a:off x="6318202" y="3856212"/>
            <a:ext cx="510373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# Hub-CE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200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的路由引入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[Hub-CE]OSPF 200 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Hub-CE-ospf-200]import-route OSPF 100 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Text Box 19"/>
          <p:cNvSpPr txBox="1">
            <a:spLocks noChangeArrowheads="1"/>
          </p:cNvSpPr>
          <p:nvPr/>
        </p:nvSpPr>
        <p:spPr bwMode="gray">
          <a:xfrm>
            <a:off x="3576190" y="3316381"/>
            <a:ext cx="705845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123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0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方式三：路由发布过程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以选用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作为</a:t>
            </a:r>
            <a:r>
              <a:rPr lang="en-US" altLang="zh-CN" sz="1800" smtClean="0">
                <a:sym typeface="Huawei Sans" panose="020C0503030203020204" pitchFamily="34" charset="0"/>
              </a:rPr>
              <a:t>IGP</a:t>
            </a:r>
            <a:r>
              <a:rPr lang="zh-CN" altLang="en-US" sz="1800" smtClean="0">
                <a:sym typeface="Huawei Sans" panose="020C0503030203020204" pitchFamily="34" charset="0"/>
              </a:rPr>
              <a:t>协议为例，</a:t>
            </a:r>
            <a:r>
              <a:rPr lang="en-US" altLang="zh-CN" sz="1800" smtClean="0">
                <a:sym typeface="Huawei Sans" panose="020C0503030203020204" pitchFamily="34" charset="0"/>
              </a:rPr>
              <a:t>Spoke-CE</a:t>
            </a:r>
            <a:r>
              <a:rPr lang="zh-CN" altLang="en-US" sz="1800" smtClean="0">
                <a:sym typeface="Huawei Sans" panose="020C0503030203020204" pitchFamily="34" charset="0"/>
              </a:rPr>
              <a:t>与</a:t>
            </a:r>
            <a:r>
              <a:rPr lang="en-US" altLang="zh-CN" sz="1800" smtClean="0">
                <a:sym typeface="Huawei Sans" panose="020C0503030203020204" pitchFamily="34" charset="0"/>
              </a:rPr>
              <a:t>Spoke-PE</a:t>
            </a:r>
            <a:r>
              <a:rPr lang="zh-CN" altLang="en-US" sz="1800" smtClean="0">
                <a:sym typeface="Huawei Sans" panose="020C0503030203020204" pitchFamily="34" charset="0"/>
              </a:rPr>
              <a:t>之间通过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（进程</a:t>
            </a:r>
            <a:r>
              <a:rPr lang="en-US" altLang="zh-CN" sz="1800" smtClean="0">
                <a:sym typeface="Huawei Sans" panose="020C0503030203020204" pitchFamily="34" charset="0"/>
              </a:rPr>
              <a:t>100</a:t>
            </a:r>
            <a:r>
              <a:rPr lang="zh-CN" altLang="en-US" sz="1800" smtClean="0">
                <a:sym typeface="Huawei Sans" panose="020C0503030203020204" pitchFamily="34" charset="0"/>
              </a:rPr>
              <a:t>）邻居关系交互路由信息。</a:t>
            </a:r>
          </a:p>
          <a:p>
            <a:r>
              <a:rPr lang="en-US" altLang="zh-CN" sz="1800" smtClean="0">
                <a:sym typeface="Huawei Sans" panose="020C0503030203020204" pitchFamily="34" charset="0"/>
              </a:rPr>
              <a:t>Hub-PE</a:t>
            </a:r>
            <a:r>
              <a:rPr lang="zh-CN" altLang="en-US" sz="1800" smtClean="0">
                <a:sym typeface="Huawei Sans" panose="020C0503030203020204" pitchFamily="34" charset="0"/>
              </a:rPr>
              <a:t>与</a:t>
            </a:r>
            <a:r>
              <a:rPr lang="en-US" altLang="zh-CN" sz="1800" smtClean="0">
                <a:sym typeface="Huawei Sans" panose="020C0503030203020204" pitchFamily="34" charset="0"/>
              </a:rPr>
              <a:t>Hub-CE</a:t>
            </a:r>
            <a:r>
              <a:rPr lang="zh-CN" altLang="en-US" sz="1800" smtClean="0">
                <a:sym typeface="Huawei Sans" panose="020C0503030203020204" pitchFamily="34" charset="0"/>
              </a:rPr>
              <a:t>之间建立两条</a:t>
            </a:r>
            <a:r>
              <a:rPr lang="en-US" altLang="zh-CN" sz="1800" smtClean="0">
                <a:sym typeface="Huawei Sans" panose="020C0503030203020204" pitchFamily="34" charset="0"/>
              </a:rPr>
              <a:t>EBGP</a:t>
            </a:r>
            <a:r>
              <a:rPr lang="zh-CN" altLang="en-US" sz="1800" smtClean="0">
                <a:sym typeface="Huawei Sans" panose="020C0503030203020204" pitchFamily="34" charset="0"/>
              </a:rPr>
              <a:t>连接，分别用来发布和接收私网路由，</a:t>
            </a:r>
            <a:r>
              <a:rPr lang="en-US" altLang="zh-CN" sz="1800" smtClean="0">
                <a:sym typeface="Huawei Sans" panose="020C0503030203020204" pitchFamily="34" charset="0"/>
              </a:rPr>
              <a:t>Hub-PE</a:t>
            </a:r>
            <a:r>
              <a:rPr lang="zh-CN" altLang="en-US" sz="1800" smtClean="0">
                <a:sym typeface="Huawei Sans" panose="020C0503030203020204" pitchFamily="34" charset="0"/>
              </a:rPr>
              <a:t>与</a:t>
            </a:r>
            <a:r>
              <a:rPr lang="en-US" altLang="zh-CN" sz="1800" smtClean="0">
                <a:sym typeface="Huawei Sans" panose="020C0503030203020204" pitchFamily="34" charset="0"/>
              </a:rPr>
              <a:t>Hub-CE</a:t>
            </a:r>
            <a:r>
              <a:rPr lang="zh-CN" altLang="en-US" sz="1800" smtClean="0">
                <a:sym typeface="Huawei Sans" panose="020C0503030203020204" pitchFamily="34" charset="0"/>
              </a:rPr>
              <a:t>的配置与方式一相同。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" name="圆角矩形 5"/>
          <p:cNvSpPr/>
          <p:nvPr/>
        </p:nvSpPr>
        <p:spPr bwMode="gray">
          <a:xfrm>
            <a:off x="4170822" y="3147981"/>
            <a:ext cx="2810587" cy="2194539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" name="直接连接符 6"/>
          <p:cNvCxnSpPr>
            <a:stCxn id="30" idx="3"/>
            <a:endCxn id="22" idx="1"/>
          </p:cNvCxnSpPr>
          <p:nvPr/>
        </p:nvCxnSpPr>
        <p:spPr bwMode="gray">
          <a:xfrm>
            <a:off x="4475841" y="3496472"/>
            <a:ext cx="842848" cy="645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 bwMode="gray">
          <a:xfrm>
            <a:off x="794955" y="2999293"/>
            <a:ext cx="1812792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3681500" y="3686227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11" idx="3"/>
            <a:endCxn id="30" idx="1"/>
          </p:cNvCxnSpPr>
          <p:nvPr/>
        </p:nvCxnSpPr>
        <p:spPr bwMode="gray">
          <a:xfrm>
            <a:off x="2350197" y="3496472"/>
            <a:ext cx="15856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10197" y="3275563"/>
            <a:ext cx="540000" cy="441818"/>
          </a:xfrm>
          <a:prstGeom prst="rect">
            <a:avLst/>
          </a:prstGeom>
          <a:noFill/>
        </p:spPr>
      </p:pic>
      <p:sp>
        <p:nvSpPr>
          <p:cNvPr id="12" name="文本框 11"/>
          <p:cNvSpPr txBox="1"/>
          <p:nvPr/>
        </p:nvSpPr>
        <p:spPr bwMode="gray">
          <a:xfrm>
            <a:off x="856853" y="3350677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1070569" y="3018417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4" name="直接连接符 13"/>
          <p:cNvCxnSpPr>
            <a:stCxn id="22" idx="1"/>
            <a:endCxn id="33" idx="3"/>
          </p:cNvCxnSpPr>
          <p:nvPr/>
        </p:nvCxnSpPr>
        <p:spPr bwMode="gray">
          <a:xfrm flipH="1">
            <a:off x="4475840" y="4141819"/>
            <a:ext cx="842849" cy="6279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5"/>
          <p:cNvSpPr/>
          <p:nvPr/>
        </p:nvSpPr>
        <p:spPr bwMode="gray">
          <a:xfrm>
            <a:off x="794955" y="4285471"/>
            <a:ext cx="1811936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09341" y="4548899"/>
            <a:ext cx="540000" cy="441818"/>
          </a:xfrm>
          <a:prstGeom prst="rect">
            <a:avLst/>
          </a:prstGeom>
          <a:noFill/>
        </p:spPr>
      </p:pic>
      <p:sp>
        <p:nvSpPr>
          <p:cNvPr id="17" name="文本框 16"/>
          <p:cNvSpPr txBox="1"/>
          <p:nvPr/>
        </p:nvSpPr>
        <p:spPr bwMode="gray">
          <a:xfrm>
            <a:off x="794954" y="4615919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1052837" y="42452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9" name="直接连接符 18"/>
          <p:cNvCxnSpPr>
            <a:stCxn id="16" idx="3"/>
            <a:endCxn id="33" idx="1"/>
          </p:cNvCxnSpPr>
          <p:nvPr/>
        </p:nvCxnSpPr>
        <p:spPr bwMode="gray">
          <a:xfrm>
            <a:off x="2349341" y="4769808"/>
            <a:ext cx="15864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5"/>
          <p:cNvSpPr/>
          <p:nvPr/>
        </p:nvSpPr>
        <p:spPr bwMode="gray">
          <a:xfrm>
            <a:off x="9653484" y="3618286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 bwMode="gray">
          <a:xfrm>
            <a:off x="9828807" y="364070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318689" y="3920910"/>
            <a:ext cx="540000" cy="441818"/>
          </a:xfrm>
          <a:prstGeom prst="rect">
            <a:avLst/>
          </a:prstGeom>
          <a:noFill/>
        </p:spPr>
      </p:pic>
      <p:sp>
        <p:nvSpPr>
          <p:cNvPr id="23" name="文本框 22"/>
          <p:cNvSpPr txBox="1"/>
          <p:nvPr/>
        </p:nvSpPr>
        <p:spPr bwMode="gray">
          <a:xfrm>
            <a:off x="5442655" y="435439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6587821" y="4343863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10396449" y="3990018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6" name="直接连接符 25"/>
          <p:cNvCxnSpPr>
            <a:stCxn id="34" idx="1"/>
            <a:endCxn id="22" idx="3"/>
          </p:cNvCxnSpPr>
          <p:nvPr/>
        </p:nvCxnSpPr>
        <p:spPr bwMode="gray">
          <a:xfrm flipH="1">
            <a:off x="5858689" y="4141819"/>
            <a:ext cx="8592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 bwMode="gray">
          <a:xfrm>
            <a:off x="7124164" y="4037847"/>
            <a:ext cx="2917944" cy="238209"/>
            <a:chOff x="7991712" y="4743218"/>
            <a:chExt cx="1131706" cy="223222"/>
          </a:xfrm>
        </p:grpSpPr>
        <p:cxnSp>
          <p:nvCxnSpPr>
            <p:cNvPr id="28" name="直接连接符 27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35841" y="3275563"/>
            <a:ext cx="540000" cy="441818"/>
          </a:xfrm>
          <a:prstGeom prst="rect">
            <a:avLst/>
          </a:prstGeom>
          <a:noFill/>
        </p:spPr>
      </p:pic>
      <p:grpSp>
        <p:nvGrpSpPr>
          <p:cNvPr id="31" name="组合 30"/>
          <p:cNvGrpSpPr/>
          <p:nvPr/>
        </p:nvGrpSpPr>
        <p:grpSpPr bwMode="gray">
          <a:xfrm>
            <a:off x="3681498" y="4548899"/>
            <a:ext cx="1048685" cy="713940"/>
            <a:chOff x="4657426" y="4932753"/>
            <a:chExt cx="1048685" cy="713940"/>
          </a:xfrm>
        </p:grpSpPr>
        <p:sp>
          <p:nvSpPr>
            <p:cNvPr id="32" name="文本框 31"/>
            <p:cNvSpPr txBox="1"/>
            <p:nvPr/>
          </p:nvSpPr>
          <p:spPr bwMode="gray">
            <a:xfrm>
              <a:off x="4657426" y="5338916"/>
              <a:ext cx="1048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Sopke-PE2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33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11768" y="4932753"/>
              <a:ext cx="540000" cy="441818"/>
            </a:xfrm>
            <a:prstGeom prst="rect">
              <a:avLst/>
            </a:prstGeom>
            <a:noFill/>
          </p:spPr>
        </p:pic>
      </p:grpSp>
      <p:pic>
        <p:nvPicPr>
          <p:cNvPr id="3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17930" y="3920910"/>
            <a:ext cx="540000" cy="441818"/>
          </a:xfrm>
          <a:prstGeom prst="rect">
            <a:avLst/>
          </a:prstGeom>
          <a:noFill/>
        </p:spPr>
      </p:pic>
      <p:pic>
        <p:nvPicPr>
          <p:cNvPr id="3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908697" y="3916924"/>
            <a:ext cx="540000" cy="441818"/>
          </a:xfrm>
          <a:prstGeom prst="rect">
            <a:avLst/>
          </a:prstGeom>
          <a:noFill/>
        </p:spPr>
      </p:pic>
      <p:sp>
        <p:nvSpPr>
          <p:cNvPr id="36" name="文本框 35"/>
          <p:cNvSpPr txBox="1"/>
          <p:nvPr/>
        </p:nvSpPr>
        <p:spPr bwMode="gray">
          <a:xfrm>
            <a:off x="2538098" y="3172305"/>
            <a:ext cx="12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2584477" y="4466974"/>
            <a:ext cx="12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8035728" y="4282870"/>
            <a:ext cx="1095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8114097" y="3429475"/>
            <a:ext cx="938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9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为什么没有方式四？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无法通过</a:t>
            </a:r>
            <a:r>
              <a:rPr lang="en-US" altLang="zh-CN" sz="1800" smtClean="0">
                <a:sym typeface="Huawei Sans" panose="020C0503030203020204" pitchFamily="34" charset="0"/>
              </a:rPr>
              <a:t>Hub-CE</a:t>
            </a:r>
            <a:r>
              <a:rPr lang="zh-CN" altLang="en-US" sz="1800" smtClean="0">
                <a:sym typeface="Huawei Sans" panose="020C0503030203020204" pitchFamily="34" charset="0"/>
              </a:rPr>
              <a:t>与</a:t>
            </a:r>
            <a:r>
              <a:rPr lang="en-US" altLang="zh-CN" sz="1800" smtClean="0">
                <a:sym typeface="Huawei Sans" panose="020C0503030203020204" pitchFamily="34" charset="0"/>
              </a:rPr>
              <a:t>Hub-PE</a:t>
            </a:r>
            <a:r>
              <a:rPr lang="zh-CN" altLang="en-US" sz="1800" smtClean="0">
                <a:sym typeface="Huawei Sans" panose="020C0503030203020204" pitchFamily="34" charset="0"/>
              </a:rPr>
              <a:t>使用</a:t>
            </a:r>
            <a:r>
              <a:rPr lang="en-US" altLang="zh-CN" sz="1800" smtClean="0">
                <a:sym typeface="Huawei Sans" panose="020C0503030203020204" pitchFamily="34" charset="0"/>
              </a:rPr>
              <a:t>IGP</a:t>
            </a:r>
            <a:r>
              <a:rPr lang="zh-CN" altLang="en-US" sz="1800" smtClean="0">
                <a:sym typeface="Huawei Sans" panose="020C0503030203020204" pitchFamily="34" charset="0"/>
              </a:rPr>
              <a:t>，</a:t>
            </a:r>
            <a:r>
              <a:rPr lang="en-US" altLang="zh-CN" sz="1800" smtClean="0">
                <a:sym typeface="Huawei Sans" panose="020C0503030203020204" pitchFamily="34" charset="0"/>
              </a:rPr>
              <a:t>Spoke-PE</a:t>
            </a:r>
            <a:r>
              <a:rPr lang="zh-CN" altLang="en-US" sz="1800" smtClean="0">
                <a:sym typeface="Huawei Sans" panose="020C0503030203020204" pitchFamily="34" charset="0"/>
              </a:rPr>
              <a:t>与</a:t>
            </a:r>
            <a:r>
              <a:rPr lang="en-US" altLang="zh-CN" sz="1800" smtClean="0">
                <a:sym typeface="Huawei Sans" panose="020C0503030203020204" pitchFamily="34" charset="0"/>
              </a:rPr>
              <a:t>Spoke-CE</a:t>
            </a:r>
            <a:r>
              <a:rPr lang="zh-CN" altLang="en-US" sz="1800" smtClean="0">
                <a:sym typeface="Huawei Sans" panose="020C0503030203020204" pitchFamily="34" charset="0"/>
              </a:rPr>
              <a:t>使用</a:t>
            </a:r>
            <a:r>
              <a:rPr lang="en-US" altLang="zh-CN" sz="1800" smtClean="0">
                <a:sym typeface="Huawei Sans" panose="020C0503030203020204" pitchFamily="34" charset="0"/>
              </a:rPr>
              <a:t>EBGP</a:t>
            </a:r>
            <a:r>
              <a:rPr lang="zh-CN" altLang="en-US" sz="1800" smtClean="0">
                <a:sym typeface="Huawei Sans" panose="020C0503030203020204" pitchFamily="34" charset="0"/>
              </a:rPr>
              <a:t>来部署</a:t>
            </a:r>
            <a:r>
              <a:rPr lang="en-US" altLang="zh-CN" sz="1800" smtClean="0">
                <a:sym typeface="Huawei Sans" panose="020C0503030203020204" pitchFamily="34" charset="0"/>
              </a:rPr>
              <a:t>Hub&amp;Spoke</a:t>
            </a:r>
            <a:r>
              <a:rPr lang="zh-CN" altLang="en-US" sz="1800" smtClean="0">
                <a:sym typeface="Huawei Sans" panose="020C0503030203020204" pitchFamily="34" charset="0"/>
              </a:rPr>
              <a:t>组网的</a:t>
            </a:r>
            <a:r>
              <a:rPr lang="en-US" altLang="zh-CN" sz="1800" smtClean="0">
                <a:sym typeface="Huawei Sans" panose="020C0503030203020204" pitchFamily="34" charset="0"/>
              </a:rPr>
              <a:t>MPLS VPN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4170822" y="3147981"/>
            <a:ext cx="2810587" cy="2194539"/>
          </a:xfrm>
          <a:prstGeom prst="roundRect">
            <a:avLst/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28" idx="3"/>
            <a:endCxn id="20" idx="1"/>
          </p:cNvCxnSpPr>
          <p:nvPr/>
        </p:nvCxnSpPr>
        <p:spPr bwMode="gray">
          <a:xfrm>
            <a:off x="4475841" y="3496472"/>
            <a:ext cx="842848" cy="645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 bwMode="gray">
          <a:xfrm>
            <a:off x="1070569" y="2999293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3681500" y="3686227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Spoke-PE1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" name="直接连接符 7"/>
          <p:cNvCxnSpPr>
            <a:stCxn id="9" idx="3"/>
            <a:endCxn id="28" idx="1"/>
          </p:cNvCxnSpPr>
          <p:nvPr/>
        </p:nvCxnSpPr>
        <p:spPr bwMode="gray">
          <a:xfrm>
            <a:off x="2350197" y="3496472"/>
            <a:ext cx="15856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 bwMode="gray">
          <a:xfrm>
            <a:off x="856853" y="3350677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 bwMode="gray">
          <a:xfrm>
            <a:off x="1070569" y="3018417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" name="直接连接符 11"/>
          <p:cNvCxnSpPr>
            <a:stCxn id="20" idx="1"/>
            <a:endCxn id="31" idx="3"/>
          </p:cNvCxnSpPr>
          <p:nvPr/>
        </p:nvCxnSpPr>
        <p:spPr bwMode="gray">
          <a:xfrm flipH="1">
            <a:off x="4475840" y="4141819"/>
            <a:ext cx="842849" cy="6279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5"/>
          <p:cNvSpPr/>
          <p:nvPr/>
        </p:nvSpPr>
        <p:spPr bwMode="gray">
          <a:xfrm>
            <a:off x="1069713" y="4285471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09341" y="4548899"/>
            <a:ext cx="540000" cy="441818"/>
          </a:xfrm>
          <a:prstGeom prst="rect">
            <a:avLst/>
          </a:prstGeom>
          <a:noFill/>
        </p:spPr>
      </p:pic>
      <p:sp>
        <p:nvSpPr>
          <p:cNvPr id="15" name="文本框 14"/>
          <p:cNvSpPr txBox="1"/>
          <p:nvPr/>
        </p:nvSpPr>
        <p:spPr bwMode="gray">
          <a:xfrm>
            <a:off x="794954" y="4615919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Spoke-CE2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1052837" y="42452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" name="直接连接符 16"/>
          <p:cNvCxnSpPr>
            <a:stCxn id="14" idx="3"/>
            <a:endCxn id="31" idx="1"/>
          </p:cNvCxnSpPr>
          <p:nvPr/>
        </p:nvCxnSpPr>
        <p:spPr bwMode="gray">
          <a:xfrm>
            <a:off x="2349341" y="4769808"/>
            <a:ext cx="15864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5"/>
          <p:cNvSpPr/>
          <p:nvPr/>
        </p:nvSpPr>
        <p:spPr bwMode="gray">
          <a:xfrm>
            <a:off x="9653484" y="3618286"/>
            <a:ext cx="1537177" cy="1188000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9828807" y="3640702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318689" y="3920910"/>
            <a:ext cx="540000" cy="441818"/>
          </a:xfrm>
          <a:prstGeom prst="rect">
            <a:avLst/>
          </a:prstGeom>
          <a:noFill/>
        </p:spPr>
      </p:pic>
      <p:sp>
        <p:nvSpPr>
          <p:cNvPr id="21" name="文本框 20"/>
          <p:cNvSpPr txBox="1"/>
          <p:nvPr/>
        </p:nvSpPr>
        <p:spPr bwMode="gray">
          <a:xfrm>
            <a:off x="5442655" y="435439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6587821" y="4343863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Hub-PE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gray">
          <a:xfrm>
            <a:off x="10396449" y="3990018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Hub-CE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连接符 23"/>
          <p:cNvCxnSpPr>
            <a:stCxn id="32" idx="1"/>
            <a:endCxn id="20" idx="3"/>
          </p:cNvCxnSpPr>
          <p:nvPr/>
        </p:nvCxnSpPr>
        <p:spPr bwMode="gray">
          <a:xfrm flipH="1">
            <a:off x="5858689" y="4141819"/>
            <a:ext cx="8592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 bwMode="gray">
          <a:xfrm>
            <a:off x="7124164" y="4037847"/>
            <a:ext cx="2917944" cy="238209"/>
            <a:chOff x="7991712" y="4743218"/>
            <a:chExt cx="1131706" cy="223222"/>
          </a:xfrm>
        </p:grpSpPr>
        <p:cxnSp>
          <p:nvCxnSpPr>
            <p:cNvPr id="26" name="直接连接符 25"/>
            <p:cNvCxnSpPr/>
            <p:nvPr/>
          </p:nvCxnSpPr>
          <p:spPr bwMode="gray">
            <a:xfrm flipH="1">
              <a:off x="7991712" y="4743218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 bwMode="gray">
            <a:xfrm flipH="1">
              <a:off x="7991712" y="4966440"/>
              <a:ext cx="1131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35841" y="3275563"/>
            <a:ext cx="540000" cy="441818"/>
          </a:xfrm>
          <a:prstGeom prst="rect">
            <a:avLst/>
          </a:prstGeom>
          <a:noFill/>
        </p:spPr>
      </p:pic>
      <p:grpSp>
        <p:nvGrpSpPr>
          <p:cNvPr id="29" name="组合 28"/>
          <p:cNvGrpSpPr/>
          <p:nvPr/>
        </p:nvGrpSpPr>
        <p:grpSpPr bwMode="gray">
          <a:xfrm>
            <a:off x="3681498" y="4548899"/>
            <a:ext cx="1048685" cy="713940"/>
            <a:chOff x="4657426" y="4932753"/>
            <a:chExt cx="1048685" cy="713940"/>
          </a:xfrm>
        </p:grpSpPr>
        <p:sp>
          <p:nvSpPr>
            <p:cNvPr id="30" name="文本框 29"/>
            <p:cNvSpPr txBox="1"/>
            <p:nvPr/>
          </p:nvSpPr>
          <p:spPr bwMode="gray">
            <a:xfrm>
              <a:off x="4657426" y="5338916"/>
              <a:ext cx="1048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Sopke-PE2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31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911768" y="4932753"/>
              <a:ext cx="540000" cy="441818"/>
            </a:xfrm>
            <a:prstGeom prst="rect">
              <a:avLst/>
            </a:prstGeom>
            <a:noFill/>
          </p:spPr>
        </p:pic>
      </p:grpSp>
      <p:pic>
        <p:nvPicPr>
          <p:cNvPr id="3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17930" y="3920910"/>
            <a:ext cx="540000" cy="441818"/>
          </a:xfrm>
          <a:prstGeom prst="rect">
            <a:avLst/>
          </a:prstGeom>
          <a:noFill/>
        </p:spPr>
      </p:pic>
      <p:pic>
        <p:nvPicPr>
          <p:cNvPr id="3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908697" y="3916924"/>
            <a:ext cx="540000" cy="441818"/>
          </a:xfrm>
          <a:prstGeom prst="rect">
            <a:avLst/>
          </a:prstGeom>
          <a:noFill/>
        </p:spPr>
      </p:pic>
      <p:sp>
        <p:nvSpPr>
          <p:cNvPr id="34" name="文本框 33"/>
          <p:cNvSpPr txBox="1"/>
          <p:nvPr/>
        </p:nvSpPr>
        <p:spPr bwMode="gray">
          <a:xfrm>
            <a:off x="2766527" y="317230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2812906" y="4466974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7981226" y="4282870"/>
            <a:ext cx="120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200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VPN_out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7981047" y="3429475"/>
            <a:ext cx="120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100</a:t>
            </a:r>
          </a:p>
          <a:p>
            <a:pPr algn="ctr"/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VPN_in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1" name="直接箭头连接符 40"/>
          <p:cNvCxnSpPr/>
          <p:nvPr/>
        </p:nvCxnSpPr>
        <p:spPr bwMode="gray">
          <a:xfrm>
            <a:off x="2558563" y="3055361"/>
            <a:ext cx="1122935" cy="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 bwMode="gray">
          <a:xfrm>
            <a:off x="2316947" y="2253504"/>
            <a:ext cx="2006105" cy="615554"/>
            <a:chOff x="4513150" y="3647369"/>
            <a:chExt cx="2006105" cy="615554"/>
          </a:xfrm>
        </p:grpSpPr>
        <p:sp>
          <p:nvSpPr>
            <p:cNvPr id="43" name="文本框 42"/>
            <p:cNvSpPr txBox="1"/>
            <p:nvPr/>
          </p:nvSpPr>
          <p:spPr bwMode="gray">
            <a:xfrm>
              <a:off x="4513150" y="3647369"/>
              <a:ext cx="2006105" cy="307777"/>
            </a:xfrm>
            <a:prstGeom prst="rect">
              <a:avLst/>
            </a:prstGeom>
            <a:noFill/>
            <a:ln w="19050">
              <a:solidFill>
                <a:srgbClr val="8BC9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</a:p>
          </p:txBody>
        </p:sp>
        <p:sp>
          <p:nvSpPr>
            <p:cNvPr id="44" name="文本框 43"/>
            <p:cNvSpPr txBox="1"/>
            <p:nvPr/>
          </p:nvSpPr>
          <p:spPr bwMode="gray">
            <a:xfrm>
              <a:off x="4513150" y="3955146"/>
              <a:ext cx="2006105" cy="307777"/>
            </a:xfrm>
            <a:prstGeom prst="rect">
              <a:avLst/>
            </a:prstGeom>
            <a:noFill/>
            <a:ln w="19050">
              <a:solidFill>
                <a:srgbClr val="8BC9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AS_Path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{65001}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5" name="Text Box 19"/>
          <p:cNvSpPr txBox="1">
            <a:spLocks noChangeArrowheads="1"/>
          </p:cNvSpPr>
          <p:nvPr/>
        </p:nvSpPr>
        <p:spPr bwMode="gray">
          <a:xfrm>
            <a:off x="1070569" y="3888936"/>
            <a:ext cx="1195167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65001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8" name="直接连接符 47"/>
          <p:cNvCxnSpPr>
            <a:stCxn id="39" idx="2"/>
          </p:cNvCxnSpPr>
          <p:nvPr/>
        </p:nvCxnSpPr>
        <p:spPr bwMode="gray">
          <a:xfrm>
            <a:off x="1594177" y="2931271"/>
            <a:ext cx="587213" cy="610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810197" y="3275563"/>
            <a:ext cx="540000" cy="441818"/>
          </a:xfrm>
          <a:prstGeom prst="rect">
            <a:avLst/>
          </a:prstGeom>
          <a:noFill/>
        </p:spPr>
      </p:pic>
      <p:grpSp>
        <p:nvGrpSpPr>
          <p:cNvPr id="46" name="组合 45"/>
          <p:cNvGrpSpPr/>
          <p:nvPr/>
        </p:nvGrpSpPr>
        <p:grpSpPr bwMode="gray">
          <a:xfrm>
            <a:off x="986478" y="2391319"/>
            <a:ext cx="1215397" cy="594742"/>
            <a:chOff x="1052837" y="3592551"/>
            <a:chExt cx="1215397" cy="594742"/>
          </a:xfrm>
        </p:grpSpPr>
        <p:sp>
          <p:nvSpPr>
            <p:cNvPr id="38" name="Freeform 159"/>
            <p:cNvSpPr/>
            <p:nvPr/>
          </p:nvSpPr>
          <p:spPr bwMode="gray">
            <a:xfrm flipH="1">
              <a:off x="1109987" y="3592551"/>
              <a:ext cx="1137762" cy="59474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1052837" y="3855504"/>
              <a:ext cx="12153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50" name="直接箭头连接符 49"/>
          <p:cNvCxnSpPr/>
          <p:nvPr/>
        </p:nvCxnSpPr>
        <p:spPr bwMode="gray">
          <a:xfrm flipH="1" flipV="1">
            <a:off x="4730182" y="3028221"/>
            <a:ext cx="2142107" cy="68916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 bwMode="gray">
          <a:xfrm>
            <a:off x="5318689" y="2499535"/>
            <a:ext cx="2006105" cy="615554"/>
            <a:chOff x="4513150" y="3647369"/>
            <a:chExt cx="2006105" cy="615554"/>
          </a:xfrm>
        </p:grpSpPr>
        <p:sp>
          <p:nvSpPr>
            <p:cNvPr id="52" name="文本框 51"/>
            <p:cNvSpPr txBox="1"/>
            <p:nvPr/>
          </p:nvSpPr>
          <p:spPr bwMode="gray">
            <a:xfrm>
              <a:off x="4513150" y="3647369"/>
              <a:ext cx="2006105" cy="307777"/>
            </a:xfrm>
            <a:prstGeom prst="rect">
              <a:avLst/>
            </a:prstGeom>
            <a:noFill/>
            <a:ln w="19050">
              <a:solidFill>
                <a:srgbClr val="8BC9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</a:p>
          </p:txBody>
        </p:sp>
        <p:sp>
          <p:nvSpPr>
            <p:cNvPr id="53" name="文本框 52"/>
            <p:cNvSpPr txBox="1"/>
            <p:nvPr/>
          </p:nvSpPr>
          <p:spPr bwMode="gray">
            <a:xfrm>
              <a:off x="4513150" y="3955146"/>
              <a:ext cx="2006105" cy="307777"/>
            </a:xfrm>
            <a:prstGeom prst="rect">
              <a:avLst/>
            </a:prstGeom>
            <a:noFill/>
            <a:ln w="19050">
              <a:solidFill>
                <a:srgbClr val="8BC9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AS_Path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{ }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01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98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应用与组网概述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MPLS VPN</a:t>
            </a:r>
            <a:r>
              <a:rPr lang="zh-CN" altLang="en-US" b="1" dirty="0" smtClean="0">
                <a:sym typeface="Huawei Sans" panose="020C0503030203020204" pitchFamily="34" charset="0"/>
              </a:rPr>
              <a:t>典型场景部署介绍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Intranet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场景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Hub&amp;Spoke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zh-CN" altLang="en-US" dirty="0">
                <a:sym typeface="Huawei Sans" panose="020C0503030203020204" pitchFamily="34" charset="0"/>
              </a:rPr>
              <a:t>不同</a:t>
            </a:r>
            <a:r>
              <a:rPr lang="en-US" altLang="zh-CN" dirty="0">
                <a:sym typeface="Huawei Sans" panose="020C0503030203020204" pitchFamily="34" charset="0"/>
              </a:rPr>
              <a:t>VPN</a:t>
            </a:r>
            <a:r>
              <a:rPr lang="zh-CN" altLang="en-US" dirty="0">
                <a:sym typeface="Huawei Sans" panose="020C0503030203020204" pitchFamily="34" charset="0"/>
              </a:rPr>
              <a:t>路由引入场景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拓展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79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 bwMode="gray">
          <a:xfrm>
            <a:off x="2824212" y="4240603"/>
            <a:ext cx="1302039" cy="866524"/>
            <a:chOff x="4121788" y="6061975"/>
            <a:chExt cx="1302039" cy="866524"/>
          </a:xfrm>
        </p:grpSpPr>
        <p:sp>
          <p:nvSpPr>
            <p:cNvPr id="69" name="圆角矩形 4"/>
            <p:cNvSpPr/>
            <p:nvPr/>
          </p:nvSpPr>
          <p:spPr bwMode="gray">
            <a:xfrm>
              <a:off x="4773265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BEE9EE"/>
            </a:solidFill>
            <a:ln w="28575" cap="flat" cmpd="sng" algn="ctr">
              <a:noFill/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0" name="圆角矩形 4"/>
            <p:cNvSpPr/>
            <p:nvPr/>
          </p:nvSpPr>
          <p:spPr bwMode="gray">
            <a:xfrm>
              <a:off x="4121788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FFF2CC"/>
            </a:solidFill>
            <a:ln w="28575" cap="flat" cmpd="sng" algn="ctr">
              <a:noFill/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78" name="文本框 77"/>
          <p:cNvSpPr txBox="1"/>
          <p:nvPr/>
        </p:nvSpPr>
        <p:spPr bwMode="gray">
          <a:xfrm>
            <a:off x="455612" y="2771018"/>
            <a:ext cx="55094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en-US" altLang="zh-CN" sz="1400" dirty="0" smtClean="0"/>
              <a:t>PE</a:t>
            </a:r>
            <a:r>
              <a:rPr lang="zh-CN" altLang="en-US" sz="1400" dirty="0" smtClean="0"/>
              <a:t>上将私网路由引入本地的公网路由表。</a:t>
            </a:r>
            <a:endParaRPr lang="en-US" altLang="zh-CN" sz="14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 smtClean="0"/>
              <a:t>将本地的公网路由表引入其他协议，使</a:t>
            </a:r>
            <a:r>
              <a:rPr lang="en-US" altLang="zh-CN" sz="1400" dirty="0" smtClean="0"/>
              <a:t>P</a:t>
            </a:r>
            <a:r>
              <a:rPr lang="zh-CN" altLang="en-US" sz="1400" dirty="0" smtClean="0"/>
              <a:t>设备获取到路由信息。</a:t>
            </a:r>
            <a:endParaRPr lang="zh-CN" altLang="en-US" sz="1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/>
              <a:t>部署公</a:t>
            </a:r>
            <a:r>
              <a:rPr lang="zh-CN" altLang="en-US" dirty="0"/>
              <a:t>网与私</a:t>
            </a:r>
            <a:r>
              <a:rPr lang="zh-CN" altLang="en-US" dirty="0" smtClean="0"/>
              <a:t>网</a:t>
            </a:r>
            <a:r>
              <a:rPr lang="zh-CN" altLang="en-US" dirty="0"/>
              <a:t>互通</a:t>
            </a: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>
          <a:xfrm>
            <a:off x="6096000" y="1276234"/>
            <a:ext cx="5653088" cy="648293"/>
          </a:xfrm>
        </p:spPr>
        <p:txBody>
          <a:bodyPr/>
          <a:lstStyle/>
          <a:p>
            <a:r>
              <a:rPr lang="zh-CN" altLang="en-US" sz="1400" dirty="0"/>
              <a:t>配置将私网中的静态路由或</a:t>
            </a:r>
            <a:r>
              <a:rPr lang="en-US" altLang="zh-CN" sz="1400" dirty="0"/>
              <a:t>IGP</a:t>
            </a:r>
            <a:r>
              <a:rPr lang="zh-CN" altLang="en-US" sz="1400" dirty="0"/>
              <a:t>路由引入至公网中对应路由类型的路由表</a:t>
            </a:r>
            <a:r>
              <a:rPr lang="zh-CN" altLang="en-US" sz="1400" dirty="0" smtClean="0"/>
              <a:t>中。</a:t>
            </a:r>
            <a:endParaRPr lang="zh-CN" altLang="en-US" sz="1400" dirty="0"/>
          </a:p>
        </p:txBody>
      </p:sp>
      <p:sp>
        <p:nvSpPr>
          <p:cNvPr id="5" name="圆角矩形 4"/>
          <p:cNvSpPr/>
          <p:nvPr/>
        </p:nvSpPr>
        <p:spPr bwMode="gray">
          <a:xfrm>
            <a:off x="4670072" y="1691593"/>
            <a:ext cx="1295008" cy="866524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" name="Group 96"/>
          <p:cNvGrpSpPr/>
          <p:nvPr/>
        </p:nvGrpSpPr>
        <p:grpSpPr bwMode="gray">
          <a:xfrm rot="16200000">
            <a:off x="1245332" y="1752733"/>
            <a:ext cx="259305" cy="764187"/>
            <a:chOff x="3134093" y="3084639"/>
            <a:chExt cx="611430" cy="432284"/>
          </a:xfrm>
        </p:grpSpPr>
        <p:cxnSp>
          <p:nvCxnSpPr>
            <p:cNvPr id="7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 bwMode="gray">
          <a:xfrm>
            <a:off x="2824212" y="1691593"/>
            <a:ext cx="1302039" cy="866524"/>
            <a:chOff x="4121788" y="6061975"/>
            <a:chExt cx="1302039" cy="866524"/>
          </a:xfrm>
        </p:grpSpPr>
        <p:sp>
          <p:nvSpPr>
            <p:cNvPr id="49" name="圆角矩形 4"/>
            <p:cNvSpPr/>
            <p:nvPr/>
          </p:nvSpPr>
          <p:spPr bwMode="gray">
            <a:xfrm>
              <a:off x="4773265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BEE9EE"/>
            </a:solidFill>
            <a:ln w="28575" cap="flat" cmpd="sng" algn="ctr">
              <a:noFill/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圆角矩形 4"/>
            <p:cNvSpPr/>
            <p:nvPr/>
          </p:nvSpPr>
          <p:spPr bwMode="gray">
            <a:xfrm>
              <a:off x="4121788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FFF2CC"/>
            </a:solidFill>
            <a:ln w="28575" cap="flat" cmpd="sng" algn="ctr">
              <a:noFill/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" name="圆角矩形 5"/>
          <p:cNvSpPr/>
          <p:nvPr/>
        </p:nvSpPr>
        <p:spPr bwMode="gray">
          <a:xfrm>
            <a:off x="514279" y="1705450"/>
            <a:ext cx="1537177" cy="852667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gray">
          <a:xfrm>
            <a:off x="565429" y="1622349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gray">
          <a:xfrm>
            <a:off x="1209381" y="1685521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" name="直接连接符 53"/>
          <p:cNvCxnSpPr>
            <a:stCxn id="16" idx="1"/>
            <a:endCxn id="14" idx="3"/>
          </p:cNvCxnSpPr>
          <p:nvPr/>
        </p:nvCxnSpPr>
        <p:spPr bwMode="gray">
          <a:xfrm flipH="1">
            <a:off x="1731751" y="2180749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图片 1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91751" y="1959349"/>
            <a:ext cx="540000" cy="442800"/>
          </a:xfrm>
          <a:prstGeom prst="rect">
            <a:avLst/>
          </a:prstGeom>
        </p:spPr>
      </p:pic>
      <p:sp>
        <p:nvSpPr>
          <p:cNvPr id="15" name="Text Box 19"/>
          <p:cNvSpPr txBox="1">
            <a:spLocks noChangeArrowheads="1"/>
          </p:cNvSpPr>
          <p:nvPr/>
        </p:nvSpPr>
        <p:spPr bwMode="gray">
          <a:xfrm>
            <a:off x="3195764" y="1685521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" name="图片 1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00371" y="1959349"/>
            <a:ext cx="540000" cy="442800"/>
          </a:xfrm>
          <a:prstGeom prst="rect">
            <a:avLst/>
          </a:prstGeom>
        </p:spPr>
      </p:pic>
      <p:pic>
        <p:nvPicPr>
          <p:cNvPr id="17" name="图片 1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08991" y="1959349"/>
            <a:ext cx="540000" cy="442800"/>
          </a:xfrm>
          <a:prstGeom prst="rect">
            <a:avLst/>
          </a:prstGeom>
        </p:spPr>
      </p:pic>
      <p:cxnSp>
        <p:nvCxnSpPr>
          <p:cNvPr id="18" name="直接连接符 53"/>
          <p:cNvCxnSpPr>
            <a:stCxn id="17" idx="1"/>
            <a:endCxn id="16" idx="3"/>
          </p:cNvCxnSpPr>
          <p:nvPr/>
        </p:nvCxnSpPr>
        <p:spPr bwMode="gray">
          <a:xfrm flipH="1">
            <a:off x="3740371" y="2180749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 Box 19"/>
          <p:cNvSpPr txBox="1">
            <a:spLocks noChangeArrowheads="1"/>
          </p:cNvSpPr>
          <p:nvPr/>
        </p:nvSpPr>
        <p:spPr bwMode="gray">
          <a:xfrm>
            <a:off x="5310476" y="1685521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gray">
          <a:xfrm>
            <a:off x="4769691" y="162234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公网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上弧形箭头 49"/>
          <p:cNvSpPr/>
          <p:nvPr/>
        </p:nvSpPr>
        <p:spPr bwMode="gray">
          <a:xfrm>
            <a:off x="2808588" y="1138796"/>
            <a:ext cx="1295008" cy="477776"/>
          </a:xfrm>
          <a:prstGeom prst="curvedDownArrow">
            <a:avLst/>
          </a:prstGeom>
          <a:solidFill>
            <a:srgbClr val="BEE9EE"/>
          </a:solidFill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圆角矩形 51"/>
          <p:cNvSpPr/>
          <p:nvPr/>
        </p:nvSpPr>
        <p:spPr bwMode="gray">
          <a:xfrm>
            <a:off x="4645185" y="4240603"/>
            <a:ext cx="1295008" cy="866524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3" name="Group 96"/>
          <p:cNvGrpSpPr/>
          <p:nvPr/>
        </p:nvGrpSpPr>
        <p:grpSpPr bwMode="gray">
          <a:xfrm rot="16200000">
            <a:off x="1220445" y="4287886"/>
            <a:ext cx="259305" cy="764187"/>
            <a:chOff x="3134093" y="3084639"/>
            <a:chExt cx="611430" cy="432284"/>
          </a:xfrm>
        </p:grpSpPr>
        <p:cxnSp>
          <p:nvCxnSpPr>
            <p:cNvPr id="54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圆角矩形 5"/>
          <p:cNvSpPr/>
          <p:nvPr/>
        </p:nvSpPr>
        <p:spPr bwMode="gray">
          <a:xfrm>
            <a:off x="489392" y="4254460"/>
            <a:ext cx="1537177" cy="852667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Text Box 19"/>
          <p:cNvSpPr txBox="1">
            <a:spLocks noChangeArrowheads="1"/>
          </p:cNvSpPr>
          <p:nvPr/>
        </p:nvSpPr>
        <p:spPr bwMode="gray">
          <a:xfrm>
            <a:off x="540542" y="4241055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Text Box 19"/>
          <p:cNvSpPr txBox="1">
            <a:spLocks noChangeArrowheads="1"/>
          </p:cNvSpPr>
          <p:nvPr/>
        </p:nvSpPr>
        <p:spPr bwMode="gray">
          <a:xfrm>
            <a:off x="1184494" y="4228825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0" name="直接连接符 53"/>
          <p:cNvCxnSpPr>
            <a:stCxn id="63" idx="1"/>
            <a:endCxn id="61" idx="3"/>
          </p:cNvCxnSpPr>
          <p:nvPr/>
        </p:nvCxnSpPr>
        <p:spPr bwMode="gray">
          <a:xfrm flipH="1">
            <a:off x="1706864" y="4715902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1" name="图片 6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66864" y="4494502"/>
            <a:ext cx="540000" cy="442800"/>
          </a:xfrm>
          <a:prstGeom prst="rect">
            <a:avLst/>
          </a:prstGeom>
        </p:spPr>
      </p:pic>
      <p:sp>
        <p:nvSpPr>
          <p:cNvPr id="62" name="Text Box 19"/>
          <p:cNvSpPr txBox="1">
            <a:spLocks noChangeArrowheads="1"/>
          </p:cNvSpPr>
          <p:nvPr/>
        </p:nvSpPr>
        <p:spPr bwMode="gray">
          <a:xfrm>
            <a:off x="3174741" y="4228825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3" name="图片 6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5484" y="4494502"/>
            <a:ext cx="540000" cy="442800"/>
          </a:xfrm>
          <a:prstGeom prst="rect">
            <a:avLst/>
          </a:prstGeom>
        </p:spPr>
      </p:pic>
      <p:pic>
        <p:nvPicPr>
          <p:cNvPr id="64" name="图片 6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84104" y="4494502"/>
            <a:ext cx="540000" cy="442800"/>
          </a:xfrm>
          <a:prstGeom prst="rect">
            <a:avLst/>
          </a:prstGeom>
        </p:spPr>
      </p:pic>
      <p:cxnSp>
        <p:nvCxnSpPr>
          <p:cNvPr id="65" name="直接连接符 53"/>
          <p:cNvCxnSpPr>
            <a:stCxn id="64" idx="1"/>
            <a:endCxn id="63" idx="3"/>
          </p:cNvCxnSpPr>
          <p:nvPr/>
        </p:nvCxnSpPr>
        <p:spPr bwMode="gray">
          <a:xfrm flipH="1">
            <a:off x="3715484" y="4715902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Text Box 19"/>
          <p:cNvSpPr txBox="1">
            <a:spLocks noChangeArrowheads="1"/>
          </p:cNvSpPr>
          <p:nvPr/>
        </p:nvSpPr>
        <p:spPr bwMode="gray">
          <a:xfrm>
            <a:off x="5300079" y="4228825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Text Box 19"/>
          <p:cNvSpPr txBox="1">
            <a:spLocks noChangeArrowheads="1"/>
          </p:cNvSpPr>
          <p:nvPr/>
        </p:nvSpPr>
        <p:spPr bwMode="gray">
          <a:xfrm>
            <a:off x="4707893" y="4241055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公网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上弧形箭头 69"/>
          <p:cNvSpPr/>
          <p:nvPr/>
        </p:nvSpPr>
        <p:spPr bwMode="gray">
          <a:xfrm flipH="1">
            <a:off x="2792707" y="3753312"/>
            <a:ext cx="1295008" cy="477776"/>
          </a:xfrm>
          <a:prstGeom prst="curvedDownArrow">
            <a:avLst/>
          </a:prstGeom>
          <a:solidFill>
            <a:srgbClr val="BEE9EE"/>
          </a:solidFill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占位符 25"/>
          <p:cNvSpPr txBox="1">
            <a:spLocks/>
          </p:cNvSpPr>
          <p:nvPr/>
        </p:nvSpPr>
        <p:spPr bwMode="gray">
          <a:xfrm>
            <a:off x="6095999" y="3601987"/>
            <a:ext cx="5653087" cy="359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配置将公网中的直连路由、</a:t>
            </a:r>
            <a:r>
              <a:rPr lang="en-US" altLang="zh-CN" sz="1400" dirty="0"/>
              <a:t>VLINK</a:t>
            </a:r>
            <a:r>
              <a:rPr lang="zh-CN" altLang="en-US" sz="1400" dirty="0"/>
              <a:t>直连路由、静态路由或</a:t>
            </a:r>
            <a:r>
              <a:rPr lang="en-US" altLang="zh-CN" sz="1400" dirty="0"/>
              <a:t>IGP</a:t>
            </a:r>
            <a:r>
              <a:rPr lang="zh-CN" altLang="en-US" sz="1400" dirty="0"/>
              <a:t>路由引入至私网中对应路由类型的路由表</a:t>
            </a:r>
            <a:r>
              <a:rPr lang="zh-CN" altLang="en-US" sz="1400" dirty="0" smtClean="0"/>
              <a:t>中。</a:t>
            </a:r>
            <a:endParaRPr lang="zh-CN" altLang="en-US" sz="1400" dirty="0"/>
          </a:p>
        </p:txBody>
      </p:sp>
      <p:sp>
        <p:nvSpPr>
          <p:cNvPr id="72" name="右箭头 71"/>
          <p:cNvSpPr/>
          <p:nvPr/>
        </p:nvSpPr>
        <p:spPr bwMode="gray">
          <a:xfrm rot="10800000">
            <a:off x="2121975" y="4323503"/>
            <a:ext cx="606752" cy="322241"/>
          </a:xfrm>
          <a:prstGeom prst="rightArrow">
            <a:avLst/>
          </a:prstGeom>
          <a:solidFill>
            <a:srgbClr val="BEE9EE"/>
          </a:solidFill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 bwMode="gray">
          <a:xfrm>
            <a:off x="3336297" y="1299264"/>
            <a:ext cx="268147" cy="268147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4" name="右箭头 73"/>
          <p:cNvSpPr/>
          <p:nvPr/>
        </p:nvSpPr>
        <p:spPr bwMode="gray">
          <a:xfrm>
            <a:off x="4144103" y="1724495"/>
            <a:ext cx="508117" cy="322241"/>
          </a:xfrm>
          <a:prstGeom prst="rightArrow">
            <a:avLst/>
          </a:prstGeom>
          <a:solidFill>
            <a:srgbClr val="BEE9EE"/>
          </a:solidFill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 bwMode="gray">
          <a:xfrm>
            <a:off x="4225803" y="1527978"/>
            <a:ext cx="268147" cy="268147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6" name="椭圆 75"/>
          <p:cNvSpPr/>
          <p:nvPr/>
        </p:nvSpPr>
        <p:spPr bwMode="gray">
          <a:xfrm>
            <a:off x="2349535" y="4106265"/>
            <a:ext cx="268147" cy="268147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7" name="椭圆 76"/>
          <p:cNvSpPr/>
          <p:nvPr/>
        </p:nvSpPr>
        <p:spPr bwMode="gray">
          <a:xfrm>
            <a:off x="3306137" y="3818645"/>
            <a:ext cx="268147" cy="268147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455612" y="5386722"/>
            <a:ext cx="55094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en-US" altLang="zh-CN" sz="1400" dirty="0" smtClean="0"/>
              <a:t>PE</a:t>
            </a:r>
            <a:r>
              <a:rPr lang="zh-CN" altLang="en-US" sz="1400" dirty="0" smtClean="0"/>
              <a:t>上将公网路由引入本地的私网路由表。</a:t>
            </a:r>
            <a:endParaRPr lang="en-US" altLang="zh-CN" sz="14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 smtClean="0"/>
              <a:t>将本地的私网路由表引入其他协议，使</a:t>
            </a:r>
            <a:r>
              <a:rPr lang="en-US" altLang="zh-CN" sz="1400" dirty="0" smtClean="0"/>
              <a:t>CE</a:t>
            </a:r>
            <a:r>
              <a:rPr lang="zh-CN" altLang="en-US" sz="1400" dirty="0" smtClean="0"/>
              <a:t>设备获取到路由信息。</a:t>
            </a:r>
            <a:endParaRPr lang="zh-CN" altLang="en-US" sz="1400" dirty="0"/>
          </a:p>
        </p:txBody>
      </p:sp>
      <p:sp>
        <p:nvSpPr>
          <p:cNvPr id="56" name="文本占位符 25"/>
          <p:cNvSpPr txBox="1">
            <a:spLocks/>
          </p:cNvSpPr>
          <p:nvPr/>
        </p:nvSpPr>
        <p:spPr bwMode="gray">
          <a:xfrm>
            <a:off x="6194863" y="1924527"/>
            <a:ext cx="5476771" cy="79761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380" indent="0">
              <a:lnSpc>
                <a:spcPct val="100000"/>
              </a:lnSpc>
              <a:buNone/>
            </a:pPr>
            <a:r>
              <a:rPr lang="en-US" altLang="zh-CN" sz="1200" dirty="0" smtClean="0"/>
              <a:t>[Huawei] </a:t>
            </a:r>
            <a:r>
              <a:rPr lang="en-US" altLang="zh-CN" sz="1200" b="1" dirty="0" err="1" smtClean="0"/>
              <a:t>ip</a:t>
            </a:r>
            <a:r>
              <a:rPr lang="en-US" altLang="zh-CN" sz="1200" b="1" dirty="0" smtClean="0"/>
              <a:t> import-rib </a:t>
            </a:r>
            <a:r>
              <a:rPr lang="en-US" altLang="zh-CN" sz="1200" b="1" dirty="0" err="1" smtClean="0"/>
              <a:t>vpn</a:t>
            </a:r>
            <a:r>
              <a:rPr lang="en-US" altLang="zh-CN" sz="1200" b="1" dirty="0" smtClean="0"/>
              <a:t>-instance </a:t>
            </a:r>
            <a:r>
              <a:rPr lang="en-US" altLang="zh-CN" sz="1200" i="1" dirty="0" err="1" smtClean="0"/>
              <a:t>vpn</a:t>
            </a:r>
            <a:r>
              <a:rPr lang="en-US" altLang="zh-CN" sz="1200" i="1" dirty="0" smtClean="0"/>
              <a:t>-instance-name</a:t>
            </a:r>
            <a:r>
              <a:rPr lang="en-US" altLang="zh-CN" sz="1200" dirty="0" smtClean="0"/>
              <a:t> </a:t>
            </a:r>
            <a:r>
              <a:rPr lang="en-US" altLang="zh-CN" sz="1200" b="1" dirty="0" smtClean="0"/>
              <a:t>protocol</a:t>
            </a:r>
            <a:r>
              <a:rPr lang="en-US" altLang="zh-CN" sz="1200" dirty="0" smtClean="0"/>
              <a:t> { </a:t>
            </a:r>
            <a:r>
              <a:rPr lang="en-US" altLang="zh-CN" sz="1200" b="1" dirty="0" smtClean="0"/>
              <a:t>static</a:t>
            </a:r>
            <a:r>
              <a:rPr lang="en-US" altLang="zh-CN" sz="1200" dirty="0" smtClean="0"/>
              <a:t> | </a:t>
            </a:r>
            <a:r>
              <a:rPr lang="en-US" altLang="zh-CN" sz="1200" b="1" dirty="0" err="1" smtClean="0"/>
              <a:t>isis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process-id</a:t>
            </a:r>
            <a:r>
              <a:rPr lang="en-US" altLang="zh-CN" sz="1200" dirty="0" smtClean="0"/>
              <a:t> | </a:t>
            </a:r>
            <a:r>
              <a:rPr lang="en-US" altLang="zh-CN" sz="1200" b="1" dirty="0" err="1" smtClean="0"/>
              <a:t>ospf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process-id</a:t>
            </a:r>
            <a:r>
              <a:rPr lang="en-US" altLang="zh-CN" sz="1200" dirty="0" smtClean="0"/>
              <a:t> } [ </a:t>
            </a:r>
            <a:r>
              <a:rPr lang="en-US" altLang="zh-CN" sz="1200" b="1" dirty="0" smtClean="0"/>
              <a:t>valid-route</a:t>
            </a:r>
            <a:r>
              <a:rPr lang="en-US" altLang="zh-CN" sz="1200" dirty="0" smtClean="0"/>
              <a:t> ] [ </a:t>
            </a:r>
            <a:r>
              <a:rPr lang="en-US" altLang="zh-CN" sz="1200" b="1" dirty="0" smtClean="0"/>
              <a:t>route-policy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route-policy-name</a:t>
            </a:r>
            <a:r>
              <a:rPr lang="en-US" altLang="zh-CN" sz="1200" dirty="0" smtClean="0"/>
              <a:t> | </a:t>
            </a:r>
            <a:r>
              <a:rPr lang="en-US" altLang="zh-CN" sz="1200" b="1" dirty="0" smtClean="0"/>
              <a:t>route-filter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route-filter-name</a:t>
            </a:r>
            <a:r>
              <a:rPr lang="en-US" altLang="zh-CN" sz="1200" dirty="0" smtClean="0"/>
              <a:t> ]</a:t>
            </a:r>
          </a:p>
        </p:txBody>
      </p:sp>
      <p:sp>
        <p:nvSpPr>
          <p:cNvPr id="84" name="文本占位符 25"/>
          <p:cNvSpPr txBox="1">
            <a:spLocks/>
          </p:cNvSpPr>
          <p:nvPr/>
        </p:nvSpPr>
        <p:spPr bwMode="gray">
          <a:xfrm>
            <a:off x="6221403" y="4293372"/>
            <a:ext cx="5476771" cy="80743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50380" indent="0" algn="just" defTabSz="914034" fontAlgn="base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None/>
              <a:defRPr sz="12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defTabSz="914034" fontAlgn="base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base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pPr>
              <a:lnSpc>
                <a:spcPct val="100000"/>
              </a:lnSpc>
            </a:pPr>
            <a:r>
              <a:rPr lang="en-US" altLang="zh-CN" dirty="0"/>
              <a:t>[Huawei-vpn-instance-VPNA-af-ipv4]</a:t>
            </a:r>
            <a:r>
              <a:rPr lang="zh-CN" altLang="en-US" dirty="0"/>
              <a:t> </a:t>
            </a:r>
            <a:r>
              <a:rPr lang="en-US" altLang="zh-CN" b="1" dirty="0"/>
              <a:t>import-rib</a:t>
            </a:r>
            <a:r>
              <a:rPr lang="en-US" altLang="zh-CN" dirty="0" smtClean="0"/>
              <a:t> </a:t>
            </a:r>
            <a:r>
              <a:rPr lang="en-US" altLang="zh-CN" b="1" dirty="0" smtClean="0"/>
              <a:t>public</a:t>
            </a:r>
            <a:r>
              <a:rPr lang="en-US" altLang="zh-CN" dirty="0" smtClean="0"/>
              <a:t> </a:t>
            </a:r>
            <a:r>
              <a:rPr lang="en-US" altLang="zh-CN" b="1" dirty="0"/>
              <a:t>protocol</a:t>
            </a:r>
            <a:r>
              <a:rPr lang="en-US" altLang="zh-CN" dirty="0"/>
              <a:t> { </a:t>
            </a:r>
            <a:r>
              <a:rPr lang="en-US" altLang="zh-CN" b="1" dirty="0"/>
              <a:t>direct</a:t>
            </a:r>
            <a:r>
              <a:rPr lang="en-US" altLang="zh-CN" dirty="0"/>
              <a:t> | </a:t>
            </a:r>
            <a:r>
              <a:rPr lang="en-US" altLang="zh-CN" b="1" dirty="0" err="1"/>
              <a:t>vlink</a:t>
            </a:r>
            <a:r>
              <a:rPr lang="en-US" altLang="zh-CN" b="1" dirty="0"/>
              <a:t>-direct-route</a:t>
            </a:r>
            <a:r>
              <a:rPr lang="en-US" altLang="zh-CN" dirty="0"/>
              <a:t> | { </a:t>
            </a:r>
            <a:r>
              <a:rPr lang="en-US" altLang="zh-CN" b="1" dirty="0"/>
              <a:t>static</a:t>
            </a:r>
            <a:r>
              <a:rPr lang="en-US" altLang="zh-CN" dirty="0"/>
              <a:t> | </a:t>
            </a:r>
            <a:r>
              <a:rPr lang="en-US" altLang="zh-CN" b="1" dirty="0" err="1"/>
              <a:t>isis</a:t>
            </a:r>
            <a:r>
              <a:rPr lang="en-US" altLang="zh-CN" dirty="0"/>
              <a:t> </a:t>
            </a:r>
            <a:r>
              <a:rPr lang="en-US" altLang="zh-CN" i="1" dirty="0"/>
              <a:t>process-id</a:t>
            </a:r>
            <a:r>
              <a:rPr lang="en-US" altLang="zh-CN" dirty="0"/>
              <a:t> | </a:t>
            </a:r>
            <a:r>
              <a:rPr lang="en-US" altLang="zh-CN" b="1" dirty="0" err="1"/>
              <a:t>ospf</a:t>
            </a:r>
            <a:r>
              <a:rPr lang="en-US" altLang="zh-CN" dirty="0"/>
              <a:t> </a:t>
            </a:r>
            <a:r>
              <a:rPr lang="en-US" altLang="zh-CN" i="1" dirty="0"/>
              <a:t>process-id</a:t>
            </a:r>
            <a:r>
              <a:rPr lang="en-US" altLang="zh-CN" dirty="0"/>
              <a:t> } [ </a:t>
            </a:r>
            <a:r>
              <a:rPr lang="en-US" altLang="zh-CN" b="1" dirty="0"/>
              <a:t>valid-route</a:t>
            </a:r>
            <a:r>
              <a:rPr lang="en-US" altLang="zh-CN" dirty="0"/>
              <a:t> ] } [ </a:t>
            </a:r>
            <a:r>
              <a:rPr lang="en-US" altLang="zh-CN" b="1" dirty="0"/>
              <a:t>route-policy</a:t>
            </a:r>
            <a:r>
              <a:rPr lang="en-US" altLang="zh-CN" dirty="0"/>
              <a:t> </a:t>
            </a:r>
            <a:r>
              <a:rPr lang="en-US" altLang="zh-CN" i="1" dirty="0"/>
              <a:t>route-policy-name</a:t>
            </a:r>
            <a:r>
              <a:rPr lang="en-US" altLang="zh-CN" dirty="0"/>
              <a:t> </a:t>
            </a:r>
            <a:r>
              <a:rPr lang="en-US" altLang="zh-CN" dirty="0" smtClean="0"/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52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 bwMode="gray">
          <a:xfrm>
            <a:off x="2808588" y="1673022"/>
            <a:ext cx="3156492" cy="1613108"/>
          </a:xfrm>
          <a:prstGeom prst="rect">
            <a:avLst/>
          </a:prstGeom>
          <a:noFill/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部署公网与私网</a:t>
            </a:r>
            <a:r>
              <a:rPr lang="zh-CN" altLang="en-US" dirty="0" smtClean="0"/>
              <a:t>互通配置举例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 bwMode="gray">
          <a:xfrm>
            <a:off x="4670072" y="2105935"/>
            <a:ext cx="1295008" cy="866524"/>
          </a:xfrm>
          <a:prstGeom prst="roundRect">
            <a:avLst>
              <a:gd name="adj" fmla="val 1265"/>
            </a:avLst>
          </a:prstGeom>
          <a:solidFill>
            <a:srgbClr val="94DAE2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" name="Group 96"/>
          <p:cNvGrpSpPr/>
          <p:nvPr/>
        </p:nvGrpSpPr>
        <p:grpSpPr bwMode="gray">
          <a:xfrm rot="16200000">
            <a:off x="1245332" y="2167075"/>
            <a:ext cx="259305" cy="764187"/>
            <a:chOff x="3134093" y="3084639"/>
            <a:chExt cx="611430" cy="432284"/>
          </a:xfrm>
        </p:grpSpPr>
        <p:cxnSp>
          <p:nvCxnSpPr>
            <p:cNvPr id="7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 bwMode="gray">
          <a:xfrm>
            <a:off x="2824212" y="2105935"/>
            <a:ext cx="1302039" cy="866524"/>
            <a:chOff x="4121788" y="6061975"/>
            <a:chExt cx="1302039" cy="866524"/>
          </a:xfrm>
        </p:grpSpPr>
        <p:sp>
          <p:nvSpPr>
            <p:cNvPr id="10" name="圆角矩形 4"/>
            <p:cNvSpPr/>
            <p:nvPr/>
          </p:nvSpPr>
          <p:spPr bwMode="gray">
            <a:xfrm>
              <a:off x="4773265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94DAE2"/>
            </a:solidFill>
            <a:ln w="28575" cap="flat" cmpd="sng" algn="ctr">
              <a:noFill/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圆角矩形 4"/>
            <p:cNvSpPr/>
            <p:nvPr/>
          </p:nvSpPr>
          <p:spPr bwMode="gray">
            <a:xfrm>
              <a:off x="4121788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FFF2CC"/>
            </a:solidFill>
            <a:ln w="28575" cap="flat" cmpd="sng" algn="ctr">
              <a:noFill/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2" name="圆角矩形 5"/>
          <p:cNvSpPr/>
          <p:nvPr/>
        </p:nvSpPr>
        <p:spPr bwMode="gray">
          <a:xfrm>
            <a:off x="514279" y="2119792"/>
            <a:ext cx="1537177" cy="852667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gray">
          <a:xfrm>
            <a:off x="565430" y="2036691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gray">
          <a:xfrm>
            <a:off x="1209381" y="2099863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" name="直接连接符 53"/>
          <p:cNvCxnSpPr>
            <a:stCxn id="18" idx="1"/>
            <a:endCxn id="16" idx="3"/>
          </p:cNvCxnSpPr>
          <p:nvPr/>
        </p:nvCxnSpPr>
        <p:spPr bwMode="gray">
          <a:xfrm flipH="1">
            <a:off x="1731751" y="2595091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" name="图片 1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91751" y="2373691"/>
            <a:ext cx="540000" cy="442800"/>
          </a:xfrm>
          <a:prstGeom prst="rect">
            <a:avLst/>
          </a:prstGeom>
        </p:spPr>
      </p:pic>
      <p:sp>
        <p:nvSpPr>
          <p:cNvPr id="17" name="Text Box 19"/>
          <p:cNvSpPr txBox="1">
            <a:spLocks noChangeArrowheads="1"/>
          </p:cNvSpPr>
          <p:nvPr/>
        </p:nvSpPr>
        <p:spPr bwMode="gray">
          <a:xfrm>
            <a:off x="3195764" y="2099863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00371" y="2373691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08991" y="2373691"/>
            <a:ext cx="540000" cy="442800"/>
          </a:xfrm>
          <a:prstGeom prst="rect">
            <a:avLst/>
          </a:prstGeom>
        </p:spPr>
      </p:pic>
      <p:cxnSp>
        <p:nvCxnSpPr>
          <p:cNvPr id="20" name="直接连接符 53"/>
          <p:cNvCxnSpPr>
            <a:stCxn id="19" idx="1"/>
            <a:endCxn id="18" idx="3"/>
          </p:cNvCxnSpPr>
          <p:nvPr/>
        </p:nvCxnSpPr>
        <p:spPr bwMode="gray">
          <a:xfrm flipH="1">
            <a:off x="3740371" y="2595091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 Box 19"/>
          <p:cNvSpPr txBox="1">
            <a:spLocks noChangeArrowheads="1"/>
          </p:cNvSpPr>
          <p:nvPr/>
        </p:nvSpPr>
        <p:spPr bwMode="gray">
          <a:xfrm>
            <a:off x="5310476" y="2099863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gray">
          <a:xfrm>
            <a:off x="4769691" y="208334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公网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gray">
          <a:xfrm>
            <a:off x="1954598" y="2373691"/>
            <a:ext cx="857607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gray">
          <a:xfrm>
            <a:off x="3941725" y="2373691"/>
            <a:ext cx="857607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gray">
          <a:xfrm>
            <a:off x="4081407" y="2936920"/>
            <a:ext cx="63350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933831" y="5115205"/>
            <a:ext cx="486864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[</a:t>
            </a:r>
            <a:r>
              <a:rPr lang="en-US" altLang="zh-CN" sz="1200" dirty="0"/>
              <a:t>PE1]</a:t>
            </a:r>
            <a:r>
              <a:rPr lang="en-US" altLang="zh-CN" sz="1200" dirty="0" err="1"/>
              <a:t>ip</a:t>
            </a:r>
            <a:r>
              <a:rPr lang="en-US" altLang="zh-CN" sz="1200" dirty="0"/>
              <a:t> </a:t>
            </a:r>
            <a:r>
              <a:rPr lang="en-US" altLang="zh-CN" sz="1200" dirty="0" err="1"/>
              <a:t>vpn</a:t>
            </a:r>
            <a:r>
              <a:rPr lang="en-US" altLang="zh-CN" sz="1200" dirty="0"/>
              <a:t>-instance </a:t>
            </a:r>
            <a:r>
              <a:rPr lang="en-US" altLang="zh-CN" sz="1200" dirty="0" smtClean="0"/>
              <a:t>VPNA</a:t>
            </a:r>
            <a:r>
              <a:rPr lang="zh-CN" altLang="en-US" sz="1200" dirty="0"/>
              <a:t>	</a:t>
            </a:r>
          </a:p>
          <a:p>
            <a:r>
              <a:rPr lang="en-US" altLang="zh-CN" sz="1200" dirty="0"/>
              <a:t>[</a:t>
            </a:r>
            <a:r>
              <a:rPr lang="en-US" altLang="zh-CN" sz="1200" dirty="0" smtClean="0"/>
              <a:t>PE1-vpn-instance-VPNA]ipv4-family</a:t>
            </a:r>
            <a:endParaRPr lang="zh-CN" altLang="en-US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smtClean="0"/>
              <a:t>PE1-vpn-instance-VPNA-af-ipv4</a:t>
            </a:r>
            <a:r>
              <a:rPr lang="en-US" altLang="zh-CN" sz="1200" dirty="0"/>
              <a:t>] import-rib public protocol </a:t>
            </a:r>
            <a:r>
              <a:rPr lang="en-US" altLang="zh-CN" sz="1200" dirty="0" err="1"/>
              <a:t>ospf</a:t>
            </a:r>
            <a:r>
              <a:rPr lang="en-US" altLang="zh-CN" sz="1200" dirty="0"/>
              <a:t> 1</a:t>
            </a:r>
            <a:endParaRPr lang="zh-CN" altLang="en-US" sz="1200" dirty="0"/>
          </a:p>
        </p:txBody>
      </p:sp>
      <p:sp>
        <p:nvSpPr>
          <p:cNvPr id="34" name="矩形 33"/>
          <p:cNvSpPr/>
          <p:nvPr/>
        </p:nvSpPr>
        <p:spPr bwMode="gray">
          <a:xfrm>
            <a:off x="6220224" y="3394178"/>
            <a:ext cx="4761240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200" dirty="0"/>
              <a:t>&lt;P&gt;ping 10.0.12.1</a:t>
            </a:r>
          </a:p>
          <a:p>
            <a:r>
              <a:rPr lang="en-US" altLang="zh-CN" sz="1200" dirty="0"/>
              <a:t>  PING 10.0.12.1: 56  data bytes, press CTRL_C to break</a:t>
            </a:r>
          </a:p>
          <a:p>
            <a:r>
              <a:rPr lang="en-US" altLang="zh-CN" sz="1200" dirty="0"/>
              <a:t>    Reply from 10.0.12.1: bytes=56 Sequence=1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time=5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Sequence=2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time=4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Sequence=3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time=3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Sequence=4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time=5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Sequence=5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time=4 </a:t>
            </a:r>
            <a:r>
              <a:rPr lang="en-US" altLang="zh-CN" sz="1200" dirty="0" err="1"/>
              <a:t>ms</a:t>
            </a:r>
            <a:endParaRPr lang="zh-CN" altLang="en-US" sz="1200" dirty="0"/>
          </a:p>
        </p:txBody>
      </p:sp>
      <p:sp>
        <p:nvSpPr>
          <p:cNvPr id="35" name="矩形 34"/>
          <p:cNvSpPr/>
          <p:nvPr/>
        </p:nvSpPr>
        <p:spPr bwMode="gray">
          <a:xfrm>
            <a:off x="933831" y="3700918"/>
            <a:ext cx="2326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/>
              <a:t>将私网路由引入公</a:t>
            </a:r>
            <a:r>
              <a:rPr lang="zh-CN" altLang="en-US" sz="1400" dirty="0" smtClean="0"/>
              <a:t>网。</a:t>
            </a:r>
            <a:endParaRPr lang="zh-CN" altLang="en-US" sz="1400" dirty="0"/>
          </a:p>
        </p:txBody>
      </p:sp>
      <p:sp>
        <p:nvSpPr>
          <p:cNvPr id="36" name="矩形 35"/>
          <p:cNvSpPr/>
          <p:nvPr/>
        </p:nvSpPr>
        <p:spPr bwMode="gray">
          <a:xfrm>
            <a:off x="933831" y="4756628"/>
            <a:ext cx="2326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sz="1400" dirty="0"/>
              <a:t>将公网路由引入私</a:t>
            </a:r>
            <a:r>
              <a:rPr lang="zh-CN" altLang="en-US" sz="1400" dirty="0" smtClean="0"/>
              <a:t>网。</a:t>
            </a:r>
            <a:endParaRPr lang="zh-CN" altLang="en-US" sz="1400" dirty="0"/>
          </a:p>
        </p:txBody>
      </p:sp>
      <p:sp>
        <p:nvSpPr>
          <p:cNvPr id="37" name="矩形 36"/>
          <p:cNvSpPr/>
          <p:nvPr/>
        </p:nvSpPr>
        <p:spPr bwMode="gray">
          <a:xfrm>
            <a:off x="933831" y="4059496"/>
            <a:ext cx="391645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[PE1]</a:t>
            </a:r>
            <a:r>
              <a:rPr lang="en-US" altLang="zh-CN" sz="1200" dirty="0" err="1" smtClean="0"/>
              <a:t>ip</a:t>
            </a:r>
            <a:r>
              <a:rPr lang="en-US" altLang="zh-CN" sz="1200" dirty="0" smtClean="0"/>
              <a:t> </a:t>
            </a:r>
            <a:r>
              <a:rPr lang="en-US" altLang="zh-CN" sz="1200" dirty="0"/>
              <a:t>import-rib </a:t>
            </a:r>
            <a:r>
              <a:rPr lang="en-US" altLang="zh-CN" sz="1200" dirty="0" err="1"/>
              <a:t>vpn</a:t>
            </a:r>
            <a:r>
              <a:rPr lang="en-US" altLang="zh-CN" sz="1200" dirty="0"/>
              <a:t>-instance </a:t>
            </a:r>
            <a:r>
              <a:rPr lang="en-US" altLang="zh-CN" sz="1200" dirty="0" smtClean="0"/>
              <a:t>VPNA </a:t>
            </a:r>
            <a:r>
              <a:rPr lang="en-US" altLang="zh-CN" sz="1200" dirty="0"/>
              <a:t>protocol </a:t>
            </a:r>
            <a:r>
              <a:rPr lang="en-US" altLang="zh-CN" sz="1200" dirty="0" smtClean="0"/>
              <a:t>direct</a:t>
            </a:r>
          </a:p>
          <a:p>
            <a:r>
              <a:rPr lang="en-US" altLang="zh-CN" sz="1200" dirty="0" smtClean="0"/>
              <a:t>[PE2]</a:t>
            </a:r>
            <a:r>
              <a:rPr lang="en-US" altLang="zh-CN" sz="1200" dirty="0" err="1" smtClean="0"/>
              <a:t>ospf</a:t>
            </a:r>
            <a:r>
              <a:rPr lang="en-US" altLang="zh-CN" sz="1200" dirty="0" smtClean="0"/>
              <a:t> 1</a:t>
            </a:r>
            <a:r>
              <a:rPr lang="zh-CN" altLang="en-US" sz="1200" dirty="0"/>
              <a:t>	</a:t>
            </a:r>
          </a:p>
          <a:p>
            <a:r>
              <a:rPr lang="en-US" altLang="zh-CN" sz="1200" dirty="0" smtClean="0"/>
              <a:t>[PE1-ospf-1]import-route </a:t>
            </a:r>
            <a:r>
              <a:rPr lang="en-US" altLang="zh-CN" sz="1200" dirty="0"/>
              <a:t>direct </a:t>
            </a:r>
            <a:endParaRPr lang="en-US" altLang="zh-CN" sz="1200" dirty="0" smtClean="0"/>
          </a:p>
        </p:txBody>
      </p:sp>
      <p:sp>
        <p:nvSpPr>
          <p:cNvPr id="39" name="矩形 38"/>
          <p:cNvSpPr/>
          <p:nvPr/>
        </p:nvSpPr>
        <p:spPr bwMode="gray">
          <a:xfrm>
            <a:off x="6220224" y="2961901"/>
            <a:ext cx="57855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sz="1400" dirty="0" smtClean="0"/>
              <a:t>配置结果验证：在</a:t>
            </a:r>
            <a:r>
              <a:rPr lang="en-US" altLang="zh-CN" sz="1400" dirty="0" smtClean="0"/>
              <a:t>P</a:t>
            </a:r>
            <a:r>
              <a:rPr lang="zh-CN" altLang="en-US" sz="1400" dirty="0" smtClean="0"/>
              <a:t>设备上可以直接</a:t>
            </a:r>
            <a:r>
              <a:rPr lang="en-US" altLang="zh-CN" sz="1400" dirty="0" smtClean="0"/>
              <a:t>ping</a:t>
            </a:r>
            <a:r>
              <a:rPr lang="zh-CN" altLang="en-US" sz="1400" dirty="0" smtClean="0"/>
              <a:t>通私网中</a:t>
            </a:r>
            <a:r>
              <a:rPr lang="en-US" altLang="zh-CN" sz="1400" dirty="0" smtClean="0"/>
              <a:t>CE1</a:t>
            </a:r>
            <a:r>
              <a:rPr lang="zh-CN" altLang="en-US" sz="1400" dirty="0" smtClean="0"/>
              <a:t>的接口地址。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2037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/>
              <a:t>部署私网</a:t>
            </a:r>
            <a:r>
              <a:rPr lang="zh-CN" altLang="en-US" dirty="0"/>
              <a:t>与私网互通</a:t>
            </a:r>
          </a:p>
        </p:txBody>
      </p:sp>
      <p:sp>
        <p:nvSpPr>
          <p:cNvPr id="5" name="圆角矩形 4"/>
          <p:cNvSpPr/>
          <p:nvPr/>
        </p:nvSpPr>
        <p:spPr bwMode="gray">
          <a:xfrm>
            <a:off x="6111502" y="1774536"/>
            <a:ext cx="650562" cy="866524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25"/>
          <p:cNvSpPr>
            <a:spLocks noGrp="1"/>
          </p:cNvSpPr>
          <p:nvPr>
            <p:ph type="body" sz="quarter" idx="10"/>
          </p:nvPr>
        </p:nvSpPr>
        <p:spPr bwMode="gray">
          <a:xfrm>
            <a:off x="442913" y="3835185"/>
            <a:ext cx="11306175" cy="1951262"/>
          </a:xfrm>
        </p:spPr>
        <p:txBody>
          <a:bodyPr/>
          <a:lstStyle/>
          <a:p>
            <a:r>
              <a:rPr lang="zh-CN" altLang="en-US" sz="1400" dirty="0" smtClean="0"/>
              <a:t>配置</a:t>
            </a:r>
            <a:r>
              <a:rPr lang="zh-CN" altLang="en-US" sz="1400" dirty="0"/>
              <a:t>将</a:t>
            </a:r>
            <a:r>
              <a:rPr lang="zh-CN" altLang="en-US" sz="1400" dirty="0" smtClean="0"/>
              <a:t>其他</a:t>
            </a:r>
            <a:r>
              <a:rPr lang="en-US" altLang="zh-CN" sz="1400" dirty="0"/>
              <a:t>VPN</a:t>
            </a:r>
            <a:r>
              <a:rPr lang="zh-CN" altLang="en-US" sz="1400" dirty="0"/>
              <a:t>实例中的直连路由、</a:t>
            </a:r>
            <a:r>
              <a:rPr lang="en-US" altLang="zh-CN" sz="1400" dirty="0"/>
              <a:t>IGP</a:t>
            </a:r>
            <a:r>
              <a:rPr lang="zh-CN" altLang="en-US" sz="1400" dirty="0"/>
              <a:t>路由或静态路由引入至指定</a:t>
            </a:r>
            <a:r>
              <a:rPr lang="en-US" altLang="zh-CN" sz="1400" dirty="0"/>
              <a:t>VPN</a:t>
            </a:r>
            <a:r>
              <a:rPr lang="zh-CN" altLang="en-US" sz="1400" dirty="0"/>
              <a:t>实例中对应路由类型的路由表</a:t>
            </a:r>
            <a:r>
              <a:rPr lang="zh-CN" altLang="en-US" sz="1400" dirty="0" smtClean="0"/>
              <a:t>中。</a:t>
            </a:r>
            <a:endParaRPr lang="zh-CN" altLang="en-US" sz="1400" dirty="0"/>
          </a:p>
        </p:txBody>
      </p:sp>
      <p:sp>
        <p:nvSpPr>
          <p:cNvPr id="8" name="圆角矩形 7"/>
          <p:cNvSpPr/>
          <p:nvPr/>
        </p:nvSpPr>
        <p:spPr bwMode="gray">
          <a:xfrm>
            <a:off x="7492809" y="1774536"/>
            <a:ext cx="1295008" cy="866524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" name="Group 96"/>
          <p:cNvGrpSpPr/>
          <p:nvPr/>
        </p:nvGrpSpPr>
        <p:grpSpPr bwMode="gray">
          <a:xfrm rot="16200000">
            <a:off x="4068069" y="1835676"/>
            <a:ext cx="259305" cy="764187"/>
            <a:chOff x="3134093" y="3084639"/>
            <a:chExt cx="611430" cy="432284"/>
          </a:xfrm>
        </p:grpSpPr>
        <p:cxnSp>
          <p:nvCxnSpPr>
            <p:cNvPr id="10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圆角矩形 4"/>
          <p:cNvSpPr/>
          <p:nvPr/>
        </p:nvSpPr>
        <p:spPr bwMode="gray">
          <a:xfrm>
            <a:off x="5463998" y="1774536"/>
            <a:ext cx="650562" cy="866524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圆角矩形 5"/>
          <p:cNvSpPr/>
          <p:nvPr/>
        </p:nvSpPr>
        <p:spPr bwMode="gray">
          <a:xfrm>
            <a:off x="3337016" y="1788393"/>
            <a:ext cx="1537177" cy="852667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gray">
          <a:xfrm>
            <a:off x="3388166" y="1717405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gray">
          <a:xfrm>
            <a:off x="4032118" y="1768464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" name="直接连接符 53"/>
          <p:cNvCxnSpPr>
            <a:stCxn id="19" idx="1"/>
            <a:endCxn id="17" idx="3"/>
          </p:cNvCxnSpPr>
          <p:nvPr/>
        </p:nvCxnSpPr>
        <p:spPr bwMode="gray">
          <a:xfrm flipH="1">
            <a:off x="4554488" y="2263692"/>
            <a:ext cx="134841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" name="图片 1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14488" y="2042292"/>
            <a:ext cx="540000" cy="442800"/>
          </a:xfrm>
          <a:prstGeom prst="rect">
            <a:avLst/>
          </a:prstGeom>
        </p:spPr>
      </p:pic>
      <p:sp>
        <p:nvSpPr>
          <p:cNvPr id="18" name="Text Box 19"/>
          <p:cNvSpPr txBox="1">
            <a:spLocks noChangeArrowheads="1"/>
          </p:cNvSpPr>
          <p:nvPr/>
        </p:nvSpPr>
        <p:spPr bwMode="gray">
          <a:xfrm>
            <a:off x="5889435" y="1766321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9" name="图片 1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902905" y="2042292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031728" y="2042292"/>
            <a:ext cx="540000" cy="442800"/>
          </a:xfrm>
          <a:prstGeom prst="rect">
            <a:avLst/>
          </a:prstGeom>
        </p:spPr>
      </p:pic>
      <p:cxnSp>
        <p:nvCxnSpPr>
          <p:cNvPr id="21" name="直接连接符 53"/>
          <p:cNvCxnSpPr>
            <a:stCxn id="20" idx="1"/>
            <a:endCxn id="19" idx="3"/>
          </p:cNvCxnSpPr>
          <p:nvPr/>
        </p:nvCxnSpPr>
        <p:spPr bwMode="gray">
          <a:xfrm flipH="1">
            <a:off x="6442905" y="2263692"/>
            <a:ext cx="158882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 Box 19"/>
          <p:cNvSpPr txBox="1">
            <a:spLocks noChangeArrowheads="1"/>
          </p:cNvSpPr>
          <p:nvPr/>
        </p:nvSpPr>
        <p:spPr bwMode="gray">
          <a:xfrm>
            <a:off x="8056777" y="1757843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gray">
          <a:xfrm>
            <a:off x="7493000" y="1717405"/>
            <a:ext cx="6687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VPNB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上弧形箭头 23"/>
          <p:cNvSpPr/>
          <p:nvPr/>
        </p:nvSpPr>
        <p:spPr bwMode="gray">
          <a:xfrm>
            <a:off x="5456494" y="1293132"/>
            <a:ext cx="1295008" cy="477776"/>
          </a:xfrm>
          <a:prstGeom prst="curvedDownArrow">
            <a:avLst/>
          </a:prstGeom>
          <a:solidFill>
            <a:srgbClr val="BEE9EE"/>
          </a:solidFill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椭圆 44"/>
          <p:cNvSpPr/>
          <p:nvPr/>
        </p:nvSpPr>
        <p:spPr bwMode="gray">
          <a:xfrm>
            <a:off x="5961926" y="1384574"/>
            <a:ext cx="268147" cy="268147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3416255" y="3082428"/>
            <a:ext cx="553342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en-US" altLang="zh-CN" sz="1400" dirty="0" smtClean="0"/>
              <a:t>PE</a:t>
            </a:r>
            <a:r>
              <a:rPr lang="zh-CN" altLang="en-US" sz="1400" dirty="0" smtClean="0"/>
              <a:t>上将</a:t>
            </a:r>
            <a:r>
              <a:rPr lang="en-US" altLang="zh-CN" sz="1400" dirty="0" smtClean="0"/>
              <a:t>VPNA</a:t>
            </a:r>
            <a:r>
              <a:rPr lang="zh-CN" altLang="en-US" sz="1400" dirty="0" smtClean="0"/>
              <a:t>的路由引入</a:t>
            </a:r>
            <a:r>
              <a:rPr lang="en-US" altLang="zh-CN" sz="1400" dirty="0" smtClean="0"/>
              <a:t>VPNB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en-US" altLang="zh-CN" sz="1400" dirty="0" smtClean="0"/>
              <a:t>PE</a:t>
            </a:r>
            <a:r>
              <a:rPr lang="zh-CN" altLang="en-US" sz="1400" dirty="0" smtClean="0"/>
              <a:t>上将</a:t>
            </a:r>
            <a:r>
              <a:rPr lang="en-US" altLang="zh-CN" sz="1400" dirty="0" smtClean="0"/>
              <a:t>VPNB</a:t>
            </a:r>
            <a:r>
              <a:rPr lang="zh-CN" altLang="en-US" sz="1400" dirty="0" smtClean="0"/>
              <a:t>的路由引入</a:t>
            </a:r>
            <a:r>
              <a:rPr lang="en-US" altLang="zh-CN" sz="1400" dirty="0" smtClean="0"/>
              <a:t>VPNA</a:t>
            </a:r>
            <a:r>
              <a:rPr lang="zh-CN" altLang="en-US" sz="1400" dirty="0" smtClean="0"/>
              <a:t>。</a:t>
            </a:r>
            <a:endParaRPr lang="zh-CN" altLang="en-US" sz="1400" dirty="0"/>
          </a:p>
        </p:txBody>
      </p:sp>
      <p:sp>
        <p:nvSpPr>
          <p:cNvPr id="28" name="上弧形箭头 27"/>
          <p:cNvSpPr/>
          <p:nvPr/>
        </p:nvSpPr>
        <p:spPr bwMode="gray">
          <a:xfrm rot="10800000">
            <a:off x="5456494" y="2606118"/>
            <a:ext cx="1295008" cy="477776"/>
          </a:xfrm>
          <a:prstGeom prst="curvedDownArrow">
            <a:avLst/>
          </a:prstGeom>
          <a:solidFill>
            <a:srgbClr val="BEE9EE"/>
          </a:solidFill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 bwMode="gray">
          <a:xfrm>
            <a:off x="5961926" y="2654696"/>
            <a:ext cx="268147" cy="268147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文本占位符 25"/>
          <p:cNvSpPr txBox="1">
            <a:spLocks/>
          </p:cNvSpPr>
          <p:nvPr/>
        </p:nvSpPr>
        <p:spPr bwMode="gray">
          <a:xfrm>
            <a:off x="698093" y="4227461"/>
            <a:ext cx="10969749" cy="5378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200" dirty="0"/>
              <a:t>[Huawei-vpn-instance-VPNA-af-ipv4] </a:t>
            </a:r>
            <a:r>
              <a:rPr lang="en-US" altLang="zh-CN" sz="1200" b="1" dirty="0" smtClean="0"/>
              <a:t>import-rib </a:t>
            </a:r>
            <a:r>
              <a:rPr lang="en-US" altLang="zh-CN" sz="1200" b="1" dirty="0" err="1" smtClean="0"/>
              <a:t>vpn</a:t>
            </a:r>
            <a:r>
              <a:rPr lang="en-US" altLang="zh-CN" sz="1200" b="1" dirty="0" smtClean="0"/>
              <a:t>-instance</a:t>
            </a:r>
            <a:r>
              <a:rPr lang="en-US" altLang="zh-CN" sz="1200" dirty="0" smtClean="0"/>
              <a:t> </a:t>
            </a:r>
            <a:r>
              <a:rPr lang="en-US" altLang="zh-CN" sz="1200" i="1" dirty="0" err="1" smtClean="0"/>
              <a:t>vpn</a:t>
            </a:r>
            <a:r>
              <a:rPr lang="en-US" altLang="zh-CN" sz="1200" i="1" dirty="0" smtClean="0"/>
              <a:t>-instance-name</a:t>
            </a:r>
            <a:r>
              <a:rPr lang="en-US" altLang="zh-CN" sz="1200" dirty="0" smtClean="0"/>
              <a:t> </a:t>
            </a:r>
            <a:r>
              <a:rPr lang="en-US" altLang="zh-CN" sz="1200" b="1" dirty="0" smtClean="0"/>
              <a:t>protocol</a:t>
            </a:r>
            <a:r>
              <a:rPr lang="en-US" altLang="zh-CN" sz="1200" dirty="0" smtClean="0"/>
              <a:t> { </a:t>
            </a:r>
            <a:r>
              <a:rPr lang="en-US" altLang="zh-CN" sz="1200" b="1" dirty="0" smtClean="0"/>
              <a:t>direct</a:t>
            </a:r>
            <a:r>
              <a:rPr lang="en-US" altLang="zh-CN" sz="1200" dirty="0" smtClean="0"/>
              <a:t>| { </a:t>
            </a:r>
            <a:r>
              <a:rPr lang="en-US" altLang="zh-CN" sz="1200" b="1" dirty="0" smtClean="0"/>
              <a:t>static</a:t>
            </a:r>
            <a:r>
              <a:rPr lang="en-US" altLang="zh-CN" sz="1200" dirty="0" smtClean="0"/>
              <a:t> | </a:t>
            </a:r>
            <a:r>
              <a:rPr lang="en-US" altLang="zh-CN" sz="1200" b="1" dirty="0" err="1" smtClean="0"/>
              <a:t>isis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process-id</a:t>
            </a:r>
            <a:r>
              <a:rPr lang="en-US" altLang="zh-CN" sz="1200" dirty="0" smtClean="0"/>
              <a:t> | </a:t>
            </a:r>
            <a:r>
              <a:rPr lang="en-US" altLang="zh-CN" sz="1200" b="1" dirty="0" err="1" smtClean="0"/>
              <a:t>ospf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process-id</a:t>
            </a:r>
            <a:r>
              <a:rPr lang="en-US" altLang="zh-CN" sz="1200" dirty="0" smtClean="0"/>
              <a:t> } [ </a:t>
            </a:r>
            <a:r>
              <a:rPr lang="en-US" altLang="zh-CN" sz="1200" b="1" dirty="0" smtClean="0"/>
              <a:t>valid-route</a:t>
            </a:r>
            <a:r>
              <a:rPr lang="en-US" altLang="zh-CN" sz="1200" dirty="0" smtClean="0"/>
              <a:t> ] } [ </a:t>
            </a:r>
            <a:r>
              <a:rPr lang="en-US" altLang="zh-CN" sz="1200" b="1" dirty="0" smtClean="0"/>
              <a:t>route-policy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route-policy-name</a:t>
            </a:r>
            <a:r>
              <a:rPr lang="en-US" altLang="zh-CN" sz="1200" dirty="0" smtClean="0"/>
              <a:t> | </a:t>
            </a:r>
            <a:r>
              <a:rPr lang="en-US" altLang="zh-CN" sz="1200" b="1" dirty="0" smtClean="0"/>
              <a:t>route-filter</a:t>
            </a:r>
            <a:r>
              <a:rPr lang="en-US" altLang="zh-CN" sz="1200" dirty="0" smtClean="0"/>
              <a:t> </a:t>
            </a:r>
            <a:r>
              <a:rPr lang="en-US" altLang="zh-CN" sz="1200" i="1" dirty="0" smtClean="0"/>
              <a:t>route-filter-name</a:t>
            </a:r>
            <a:r>
              <a:rPr lang="en-US" altLang="zh-CN" sz="1200" dirty="0" smtClean="0"/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252633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/>
              <a:t>部署私网</a:t>
            </a:r>
            <a:r>
              <a:rPr lang="zh-CN" altLang="en-US" dirty="0"/>
              <a:t>与私网</a:t>
            </a:r>
            <a:r>
              <a:rPr lang="zh-CN" altLang="en-US" dirty="0" smtClean="0"/>
              <a:t>互通配置举例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 bwMode="gray">
          <a:xfrm>
            <a:off x="4670072" y="2074688"/>
            <a:ext cx="1295008" cy="866524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" name="Group 96"/>
          <p:cNvGrpSpPr/>
          <p:nvPr/>
        </p:nvGrpSpPr>
        <p:grpSpPr bwMode="gray">
          <a:xfrm rot="16200000">
            <a:off x="1245332" y="2167075"/>
            <a:ext cx="259305" cy="764187"/>
            <a:chOff x="3134093" y="3084639"/>
            <a:chExt cx="611430" cy="432284"/>
          </a:xfrm>
        </p:grpSpPr>
        <p:cxnSp>
          <p:nvCxnSpPr>
            <p:cNvPr id="7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 bwMode="gray">
          <a:xfrm>
            <a:off x="2850999" y="2074688"/>
            <a:ext cx="1302039" cy="866524"/>
            <a:chOff x="4121788" y="6061975"/>
            <a:chExt cx="1302039" cy="866524"/>
          </a:xfrm>
        </p:grpSpPr>
        <p:sp>
          <p:nvSpPr>
            <p:cNvPr id="10" name="圆角矩形 4"/>
            <p:cNvSpPr/>
            <p:nvPr/>
          </p:nvSpPr>
          <p:spPr bwMode="gray">
            <a:xfrm>
              <a:off x="4773265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BEE9EE"/>
            </a:solidFill>
            <a:ln w="28575" cap="flat" cmpd="sng" algn="ctr">
              <a:noFill/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圆角矩形 4"/>
            <p:cNvSpPr/>
            <p:nvPr/>
          </p:nvSpPr>
          <p:spPr bwMode="gray">
            <a:xfrm>
              <a:off x="4121788" y="6061975"/>
              <a:ext cx="650562" cy="866524"/>
            </a:xfrm>
            <a:prstGeom prst="roundRect">
              <a:avLst>
                <a:gd name="adj" fmla="val 1265"/>
              </a:avLst>
            </a:prstGeom>
            <a:solidFill>
              <a:srgbClr val="FFF2CC"/>
            </a:solidFill>
            <a:ln w="28575" cap="flat" cmpd="sng" algn="ctr">
              <a:noFill/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2" name="圆角矩形 5"/>
          <p:cNvSpPr/>
          <p:nvPr/>
        </p:nvSpPr>
        <p:spPr bwMode="gray">
          <a:xfrm>
            <a:off x="514279" y="2088545"/>
            <a:ext cx="1537177" cy="852667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gray">
          <a:xfrm>
            <a:off x="565430" y="2036691"/>
            <a:ext cx="679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gray">
          <a:xfrm>
            <a:off x="1209381" y="2099863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" name="直接连接符 53"/>
          <p:cNvCxnSpPr>
            <a:stCxn id="18" idx="1"/>
            <a:endCxn id="16" idx="3"/>
          </p:cNvCxnSpPr>
          <p:nvPr/>
        </p:nvCxnSpPr>
        <p:spPr bwMode="gray">
          <a:xfrm flipH="1">
            <a:off x="1731751" y="2595091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" name="图片 1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91751" y="2373691"/>
            <a:ext cx="540000" cy="442800"/>
          </a:xfrm>
          <a:prstGeom prst="rect">
            <a:avLst/>
          </a:prstGeom>
        </p:spPr>
      </p:pic>
      <p:sp>
        <p:nvSpPr>
          <p:cNvPr id="17" name="Text Box 19"/>
          <p:cNvSpPr txBox="1">
            <a:spLocks noChangeArrowheads="1"/>
          </p:cNvSpPr>
          <p:nvPr/>
        </p:nvSpPr>
        <p:spPr bwMode="gray">
          <a:xfrm>
            <a:off x="3195764" y="2099863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00371" y="2373691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08991" y="2373691"/>
            <a:ext cx="540000" cy="442800"/>
          </a:xfrm>
          <a:prstGeom prst="rect">
            <a:avLst/>
          </a:prstGeom>
        </p:spPr>
      </p:pic>
      <p:cxnSp>
        <p:nvCxnSpPr>
          <p:cNvPr id="20" name="直接连接符 53"/>
          <p:cNvCxnSpPr>
            <a:stCxn id="19" idx="1"/>
            <a:endCxn id="18" idx="3"/>
          </p:cNvCxnSpPr>
          <p:nvPr/>
        </p:nvCxnSpPr>
        <p:spPr bwMode="gray">
          <a:xfrm flipH="1">
            <a:off x="3740371" y="2595091"/>
            <a:ext cx="14686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 Box 19"/>
          <p:cNvSpPr txBox="1">
            <a:spLocks noChangeArrowheads="1"/>
          </p:cNvSpPr>
          <p:nvPr/>
        </p:nvSpPr>
        <p:spPr bwMode="gray">
          <a:xfrm>
            <a:off x="5205479" y="2099863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gray">
          <a:xfrm>
            <a:off x="4707174" y="2036691"/>
            <a:ext cx="6687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VPNB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gray">
          <a:xfrm>
            <a:off x="1954598" y="2373691"/>
            <a:ext cx="857607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10.0.12.0/24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gray">
          <a:xfrm>
            <a:off x="3941725" y="2373691"/>
            <a:ext cx="857607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ctr" eaLnBrk="1" hangingPunct="1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10.0.23.0/24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452438" y="5115205"/>
            <a:ext cx="574869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[</a:t>
            </a:r>
            <a:r>
              <a:rPr lang="en-US" altLang="zh-CN" sz="1200" dirty="0"/>
              <a:t>PE1]</a:t>
            </a:r>
            <a:r>
              <a:rPr lang="en-US" altLang="zh-CN" sz="1200" dirty="0" err="1"/>
              <a:t>ip</a:t>
            </a:r>
            <a:r>
              <a:rPr lang="en-US" altLang="zh-CN" sz="1200" dirty="0"/>
              <a:t> </a:t>
            </a:r>
            <a:r>
              <a:rPr lang="en-US" altLang="zh-CN" sz="1200" dirty="0" err="1"/>
              <a:t>vpn</a:t>
            </a:r>
            <a:r>
              <a:rPr lang="en-US" altLang="zh-CN" sz="1200" dirty="0"/>
              <a:t>-instance </a:t>
            </a:r>
            <a:r>
              <a:rPr lang="en-US" altLang="zh-CN" sz="1200" dirty="0" smtClean="0"/>
              <a:t>VPNA</a:t>
            </a:r>
            <a:r>
              <a:rPr lang="zh-CN" altLang="en-US" sz="1200" dirty="0"/>
              <a:t>	</a:t>
            </a:r>
          </a:p>
          <a:p>
            <a:r>
              <a:rPr lang="en-US" altLang="zh-CN" sz="1200" dirty="0"/>
              <a:t>[</a:t>
            </a:r>
            <a:r>
              <a:rPr lang="en-US" altLang="zh-CN" sz="1200" dirty="0" smtClean="0"/>
              <a:t>PE1-vpn-instance-VPNA]ipv4-family</a:t>
            </a:r>
            <a:endParaRPr lang="zh-CN" altLang="en-US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smtClean="0"/>
              <a:t>PE1-vpn-instance-VPNA-af-ipv4</a:t>
            </a:r>
            <a:r>
              <a:rPr lang="en-US" altLang="zh-CN" sz="1200" dirty="0"/>
              <a:t>] import-rib </a:t>
            </a:r>
            <a:r>
              <a:rPr lang="en-US" altLang="zh-CN" sz="1200" dirty="0" err="1"/>
              <a:t>vpn</a:t>
            </a:r>
            <a:r>
              <a:rPr lang="en-US" altLang="zh-CN" sz="1200" dirty="0"/>
              <a:t>-instance VPNB protocol direct</a:t>
            </a:r>
            <a:endParaRPr lang="zh-CN" altLang="en-US" sz="1200" dirty="0"/>
          </a:p>
        </p:txBody>
      </p:sp>
      <p:sp>
        <p:nvSpPr>
          <p:cNvPr id="34" name="矩形 33"/>
          <p:cNvSpPr/>
          <p:nvPr/>
        </p:nvSpPr>
        <p:spPr bwMode="gray">
          <a:xfrm>
            <a:off x="6371227" y="2671823"/>
            <a:ext cx="4761240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&lt;CE2&gt;ping </a:t>
            </a:r>
            <a:r>
              <a:rPr lang="en-US" altLang="zh-CN" sz="1200" dirty="0"/>
              <a:t>10.0.12.1</a:t>
            </a:r>
          </a:p>
          <a:p>
            <a:r>
              <a:rPr lang="en-US" altLang="zh-CN" sz="1200" dirty="0"/>
              <a:t>  PING 10.0.12.1: 56  data bytes, press CTRL_C to break</a:t>
            </a:r>
          </a:p>
          <a:p>
            <a:r>
              <a:rPr lang="en-US" altLang="zh-CN" sz="1200" dirty="0"/>
              <a:t>    Reply from 10.0.12.1: bytes=56 Sequence=1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time=5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Sequence=2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time=4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Sequence=3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time=3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Sequence=4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time=5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10.0.12.1: bytes=56 Sequence=5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time=4 </a:t>
            </a:r>
            <a:r>
              <a:rPr lang="en-US" altLang="zh-CN" sz="1200" dirty="0" err="1"/>
              <a:t>ms</a:t>
            </a:r>
            <a:endParaRPr lang="zh-CN" altLang="en-US" sz="1200" dirty="0"/>
          </a:p>
        </p:txBody>
      </p:sp>
      <p:sp>
        <p:nvSpPr>
          <p:cNvPr id="35" name="矩形 34"/>
          <p:cNvSpPr/>
          <p:nvPr/>
        </p:nvSpPr>
        <p:spPr bwMode="gray">
          <a:xfrm>
            <a:off x="452438" y="3700918"/>
            <a:ext cx="30796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将</a:t>
            </a:r>
            <a:r>
              <a:rPr lang="en-US" altLang="zh-CN" sz="1400" dirty="0" smtClean="0"/>
              <a:t>VPNA</a:t>
            </a:r>
            <a:r>
              <a:rPr lang="zh-CN" altLang="en-US" sz="1400" dirty="0" smtClean="0"/>
              <a:t>的私网路由引入</a:t>
            </a:r>
            <a:r>
              <a:rPr lang="en-US" altLang="zh-CN" sz="1400" dirty="0" smtClean="0"/>
              <a:t>VPNB</a:t>
            </a:r>
            <a:r>
              <a:rPr lang="zh-CN" altLang="en-US" sz="1400" dirty="0" smtClean="0"/>
              <a:t>。</a:t>
            </a:r>
            <a:endParaRPr lang="zh-CN" altLang="en-US" sz="1400" dirty="0"/>
          </a:p>
        </p:txBody>
      </p:sp>
      <p:sp>
        <p:nvSpPr>
          <p:cNvPr id="36" name="矩形 35"/>
          <p:cNvSpPr/>
          <p:nvPr/>
        </p:nvSpPr>
        <p:spPr bwMode="gray">
          <a:xfrm>
            <a:off x="452438" y="4756628"/>
            <a:ext cx="30796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sz="1400" dirty="0"/>
              <a:t>将</a:t>
            </a:r>
            <a:r>
              <a:rPr lang="en-US" altLang="zh-CN" sz="1400" dirty="0" smtClean="0"/>
              <a:t>VPNB</a:t>
            </a:r>
            <a:r>
              <a:rPr lang="zh-CN" altLang="en-US" sz="1400" dirty="0" smtClean="0"/>
              <a:t>的</a:t>
            </a:r>
            <a:r>
              <a:rPr lang="zh-CN" altLang="en-US" sz="1400" dirty="0"/>
              <a:t>私网路由引入</a:t>
            </a:r>
            <a:r>
              <a:rPr lang="en-US" altLang="zh-CN" sz="1400" dirty="0" smtClean="0"/>
              <a:t>VPNA</a:t>
            </a:r>
            <a:r>
              <a:rPr lang="zh-CN" altLang="en-US" sz="1400" dirty="0" smtClean="0"/>
              <a:t>。</a:t>
            </a:r>
            <a:endParaRPr lang="zh-CN" altLang="en-US" sz="1400" dirty="0"/>
          </a:p>
        </p:txBody>
      </p:sp>
      <p:sp>
        <p:nvSpPr>
          <p:cNvPr id="39" name="矩形 38"/>
          <p:cNvSpPr/>
          <p:nvPr/>
        </p:nvSpPr>
        <p:spPr bwMode="gray">
          <a:xfrm>
            <a:off x="6113689" y="2287314"/>
            <a:ext cx="5635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sz="1400" dirty="0" smtClean="0"/>
              <a:t>配置结果验证：</a:t>
            </a:r>
            <a:r>
              <a:rPr lang="en-US" altLang="zh-CN" sz="1400" dirty="0" smtClean="0"/>
              <a:t>CE2</a:t>
            </a:r>
            <a:r>
              <a:rPr lang="zh-CN" altLang="en-US" sz="1400" dirty="0" smtClean="0"/>
              <a:t>设备可以直接</a:t>
            </a:r>
            <a:r>
              <a:rPr lang="en-US" altLang="zh-CN" sz="1400" dirty="0" smtClean="0"/>
              <a:t>ping</a:t>
            </a:r>
            <a:r>
              <a:rPr lang="zh-CN" altLang="en-US" sz="1400" dirty="0" smtClean="0"/>
              <a:t>通私网中</a:t>
            </a:r>
            <a:r>
              <a:rPr lang="en-US" altLang="zh-CN" sz="1400" dirty="0" smtClean="0"/>
              <a:t>CE1</a:t>
            </a:r>
            <a:r>
              <a:rPr lang="zh-CN" altLang="en-US" sz="1400" dirty="0" smtClean="0"/>
              <a:t>的接口地址。</a:t>
            </a:r>
            <a:endParaRPr lang="zh-CN" altLang="en-US" sz="1400" dirty="0"/>
          </a:p>
        </p:txBody>
      </p:sp>
      <p:sp>
        <p:nvSpPr>
          <p:cNvPr id="47" name="矩形 46"/>
          <p:cNvSpPr/>
          <p:nvPr/>
        </p:nvSpPr>
        <p:spPr bwMode="gray">
          <a:xfrm>
            <a:off x="452438" y="4002135"/>
            <a:ext cx="574869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[</a:t>
            </a:r>
            <a:r>
              <a:rPr lang="en-US" altLang="zh-CN" sz="1200" dirty="0"/>
              <a:t>PE1]</a:t>
            </a:r>
            <a:r>
              <a:rPr lang="en-US" altLang="zh-CN" sz="1200" dirty="0" err="1"/>
              <a:t>ip</a:t>
            </a:r>
            <a:r>
              <a:rPr lang="en-US" altLang="zh-CN" sz="1200" dirty="0"/>
              <a:t> </a:t>
            </a:r>
            <a:r>
              <a:rPr lang="en-US" altLang="zh-CN" sz="1200" dirty="0" err="1"/>
              <a:t>vpn</a:t>
            </a:r>
            <a:r>
              <a:rPr lang="en-US" altLang="zh-CN" sz="1200" dirty="0"/>
              <a:t>-instance </a:t>
            </a:r>
            <a:r>
              <a:rPr lang="en-US" altLang="zh-CN" sz="1200" dirty="0" smtClean="0"/>
              <a:t>VPNB</a:t>
            </a:r>
            <a:r>
              <a:rPr lang="zh-CN" altLang="en-US" sz="1200" dirty="0"/>
              <a:t>	</a:t>
            </a:r>
          </a:p>
          <a:p>
            <a:r>
              <a:rPr lang="en-US" altLang="zh-CN" sz="1200" dirty="0"/>
              <a:t>[</a:t>
            </a:r>
            <a:r>
              <a:rPr lang="en-US" altLang="zh-CN" sz="1200" dirty="0" smtClean="0"/>
              <a:t>PE1-vpn-instance-VPNB]ipv4-family</a:t>
            </a:r>
            <a:endParaRPr lang="zh-CN" altLang="en-US" sz="1200" dirty="0"/>
          </a:p>
          <a:p>
            <a:r>
              <a:rPr lang="en-US" altLang="zh-CN" sz="1200" dirty="0"/>
              <a:t>[</a:t>
            </a:r>
            <a:r>
              <a:rPr lang="en-US" altLang="zh-CN" sz="1200" dirty="0" smtClean="0"/>
              <a:t>PE1-vpn-instance-VPNB-af-ipv4</a:t>
            </a:r>
            <a:r>
              <a:rPr lang="en-US" altLang="zh-CN" sz="1200" dirty="0"/>
              <a:t>] import-rib </a:t>
            </a:r>
            <a:r>
              <a:rPr lang="en-US" altLang="zh-CN" sz="1200" dirty="0" err="1"/>
              <a:t>vpn</a:t>
            </a:r>
            <a:r>
              <a:rPr lang="en-US" altLang="zh-CN" sz="1200" dirty="0"/>
              <a:t>-instance </a:t>
            </a:r>
            <a:r>
              <a:rPr lang="en-US" altLang="zh-CN" sz="1200" dirty="0" smtClean="0"/>
              <a:t>VPNA </a:t>
            </a:r>
            <a:r>
              <a:rPr lang="en-US" altLang="zh-CN" sz="1200" dirty="0"/>
              <a:t>protocol direct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4064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应用与组网概述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典型场景部署介绍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OSPF VPN</a:t>
            </a:r>
            <a:r>
              <a:rPr lang="zh-CN" altLang="en-US" b="1" dirty="0" smtClean="0">
                <a:sym typeface="Huawei Sans" panose="020C0503030203020204" pitchFamily="34" charset="0"/>
              </a:rPr>
              <a:t>拓展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smtClean="0"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ym typeface="Huawei Sans" panose="020C0503030203020204" pitchFamily="34" charset="0"/>
              </a:rPr>
              <a:t>与</a:t>
            </a:r>
            <a:r>
              <a:rPr lang="en-US" altLang="zh-CN" dirty="0" smtClean="0"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ym typeface="Huawei Sans" panose="020C0503030203020204" pitchFamily="34" charset="0"/>
              </a:rPr>
              <a:t>互操作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防环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 sham link</a:t>
            </a: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79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5"/>
          <p:cNvSpPr>
            <a:spLocks/>
          </p:cNvSpPr>
          <p:nvPr/>
        </p:nvSpPr>
        <p:spPr bwMode="gray">
          <a:xfrm>
            <a:off x="1085850" y="4418921"/>
            <a:ext cx="2041653" cy="1137716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31906" name="Rectangle 2"/>
          <p:cNvSpPr>
            <a:spLocks noGrp="1" noChangeArrowheads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MPLS VPN</a:t>
            </a:r>
            <a:r>
              <a:rPr lang="zh-CN" altLang="en-US" smtClean="0">
                <a:sym typeface="Huawei Sans" panose="020C0503030203020204" pitchFamily="34" charset="0"/>
              </a:rPr>
              <a:t>中的</a:t>
            </a:r>
            <a:r>
              <a:rPr lang="en-US" altLang="zh-CN" smtClean="0">
                <a:sym typeface="Huawei Sans" panose="020C0503030203020204" pitchFamily="34" charset="0"/>
              </a:rPr>
              <a:t>OSPF/BGP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当</a:t>
            </a:r>
            <a:r>
              <a:rPr lang="en-US" altLang="zh-CN" sz="1800" smtClean="0">
                <a:sym typeface="Huawei Sans" panose="020C0503030203020204" pitchFamily="34" charset="0"/>
              </a:rPr>
              <a:t>PE-CE</a:t>
            </a:r>
            <a:r>
              <a:rPr lang="zh-CN" altLang="en-US" sz="1800" smtClean="0">
                <a:sym typeface="Huawei Sans" panose="020C0503030203020204" pitchFamily="34" charset="0"/>
              </a:rPr>
              <a:t>间部署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交互路由信息时，若在</a:t>
            </a:r>
            <a:r>
              <a:rPr lang="en-US" altLang="zh-CN" sz="1800" smtClean="0">
                <a:sym typeface="Huawei Sans" panose="020C0503030203020204" pitchFamily="34" charset="0"/>
              </a:rPr>
              <a:t>PE</a:t>
            </a:r>
            <a:r>
              <a:rPr lang="zh-CN" altLang="en-US" sz="1800" smtClean="0">
                <a:sym typeface="Huawei Sans" panose="020C0503030203020204" pitchFamily="34" charset="0"/>
              </a:rPr>
              <a:t>上使用标准</a:t>
            </a:r>
            <a:r>
              <a:rPr lang="en-US" altLang="zh-CN" sz="1800" smtClean="0">
                <a:sym typeface="Huawei Sans" panose="020C0503030203020204" pitchFamily="34" charset="0"/>
              </a:rPr>
              <a:t>BGP/OSPF</a:t>
            </a:r>
            <a:r>
              <a:rPr lang="zh-CN" altLang="en-US" sz="1800" smtClean="0">
                <a:sym typeface="Huawei Sans" panose="020C0503030203020204" pitchFamily="34" charset="0"/>
              </a:rPr>
              <a:t>过程（简称为</a:t>
            </a:r>
            <a:r>
              <a:rPr lang="en-US" altLang="zh-CN" sz="1800" smtClean="0">
                <a:sym typeface="Huawei Sans" panose="020C0503030203020204" pitchFamily="34" charset="0"/>
              </a:rPr>
              <a:t>BGP/OSPF</a:t>
            </a:r>
            <a:r>
              <a:rPr lang="zh-CN" altLang="en-US" sz="1800" smtClean="0">
                <a:sym typeface="Huawei Sans" panose="020C0503030203020204" pitchFamily="34" charset="0"/>
              </a:rPr>
              <a:t>互操作）互来传递路由信息，则远端</a:t>
            </a:r>
            <a:r>
              <a:rPr lang="en-US" altLang="zh-CN" sz="1800" smtClean="0">
                <a:sym typeface="Huawei Sans" panose="020C0503030203020204" pitchFamily="34" charset="0"/>
              </a:rPr>
              <a:t>PE</a:t>
            </a:r>
            <a:r>
              <a:rPr lang="zh-CN" altLang="en-US" sz="1800" smtClean="0">
                <a:sym typeface="Huawei Sans" panose="020C0503030203020204" pitchFamily="34" charset="0"/>
              </a:rPr>
              <a:t>在将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引入</a:t>
            </a:r>
            <a:r>
              <a:rPr lang="en-US" altLang="zh-CN" sz="1800" smtClean="0">
                <a:sym typeface="Huawei Sans" panose="020C0503030203020204" pitchFamily="34" charset="0"/>
              </a:rPr>
              <a:t>VPN</a:t>
            </a:r>
            <a:r>
              <a:rPr lang="zh-CN" altLang="en-US" sz="1800" smtClean="0">
                <a:sym typeface="Huawei Sans" panose="020C0503030203020204" pitchFamily="34" charset="0"/>
              </a:rPr>
              <a:t>实例的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进程时，会直接产生</a:t>
            </a:r>
            <a:r>
              <a:rPr lang="en-US" altLang="zh-CN" sz="1800" smtClean="0">
                <a:sym typeface="Huawei Sans" panose="020C0503030203020204" pitchFamily="34" charset="0"/>
              </a:rPr>
              <a:t>Type5 LSA</a:t>
            </a:r>
            <a:r>
              <a:rPr lang="zh-CN" altLang="en-US" sz="1800" smtClean="0">
                <a:sym typeface="Huawei Sans" panose="020C0503030203020204" pitchFamily="34" charset="0"/>
              </a:rPr>
              <a:t>，不同站点都会将其他站点的路由视为自治系统外部路由（</a:t>
            </a:r>
            <a:r>
              <a:rPr lang="en-US" altLang="zh-CN" sz="1800" smtClean="0">
                <a:sym typeface="Huawei Sans" panose="020C0503030203020204" pitchFamily="34" charset="0"/>
              </a:rPr>
              <a:t>AS_external</a:t>
            </a:r>
            <a:r>
              <a:rPr lang="zh-CN" altLang="en-US" sz="1800" smtClean="0">
                <a:sym typeface="Huawei Sans" panose="020C0503030203020204" pitchFamily="34" charset="0"/>
              </a:rPr>
              <a:t>）。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zh-CN" altLang="en-US" sz="1800" smtClean="0">
                <a:sym typeface="Huawei Sans" panose="020C0503030203020204" pitchFamily="34" charset="0"/>
              </a:rPr>
              <a:t>为了解决标准</a:t>
            </a:r>
            <a:r>
              <a:rPr lang="en-US" altLang="zh-CN" sz="1800" smtClean="0">
                <a:sym typeface="Huawei Sans" panose="020C0503030203020204" pitchFamily="34" charset="0"/>
              </a:rPr>
              <a:t>BGP/OSPF</a:t>
            </a:r>
            <a:r>
              <a:rPr lang="zh-CN" altLang="en-US" sz="1800" smtClean="0">
                <a:sym typeface="Huawei Sans" panose="020C0503030203020204" pitchFamily="34" charset="0"/>
              </a:rPr>
              <a:t>的互操作导致的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路由信息丢失的问题，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和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都做了相应的拓展。</a:t>
            </a:r>
            <a:endParaRPr lang="zh-CN" altLang="en-US" sz="1800" dirty="0" smtClean="0">
              <a:sym typeface="Huawei Sans" panose="020C0503030203020204" pitchFamily="34" charset="0"/>
            </a:endParaRPr>
          </a:p>
        </p:txBody>
      </p:sp>
      <p:sp>
        <p:nvSpPr>
          <p:cNvPr id="43" name="Text Box 19"/>
          <p:cNvSpPr txBox="1">
            <a:spLocks noChangeArrowheads="1"/>
          </p:cNvSpPr>
          <p:nvPr/>
        </p:nvSpPr>
        <p:spPr bwMode="gray">
          <a:xfrm>
            <a:off x="2277840" y="5050219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gray">
          <a:xfrm>
            <a:off x="1581447" y="4390001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gray">
          <a:xfrm>
            <a:off x="1085850" y="5088950"/>
            <a:ext cx="705845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6" name="Group 104"/>
          <p:cNvGrpSpPr/>
          <p:nvPr/>
        </p:nvGrpSpPr>
        <p:grpSpPr bwMode="gray">
          <a:xfrm rot="5400000" flipH="1">
            <a:off x="9711974" y="4557301"/>
            <a:ext cx="259305" cy="764187"/>
            <a:chOff x="3134093" y="3084639"/>
            <a:chExt cx="611430" cy="432284"/>
          </a:xfrm>
        </p:grpSpPr>
        <p:cxnSp>
          <p:nvCxnSpPr>
            <p:cNvPr id="47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圆角矩形 5"/>
          <p:cNvSpPr>
            <a:spLocks/>
          </p:cNvSpPr>
          <p:nvPr/>
        </p:nvSpPr>
        <p:spPr bwMode="gray">
          <a:xfrm flipH="1">
            <a:off x="9165155" y="4418921"/>
            <a:ext cx="2041653" cy="1137716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Text Box 19"/>
          <p:cNvSpPr txBox="1">
            <a:spLocks noChangeArrowheads="1"/>
          </p:cNvSpPr>
          <p:nvPr/>
        </p:nvSpPr>
        <p:spPr bwMode="gray">
          <a:xfrm flipH="1">
            <a:off x="9512755" y="5050219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Text Box 19"/>
          <p:cNvSpPr txBox="1">
            <a:spLocks noChangeArrowheads="1"/>
          </p:cNvSpPr>
          <p:nvPr/>
        </p:nvSpPr>
        <p:spPr bwMode="gray">
          <a:xfrm flipH="1">
            <a:off x="10087418" y="4390000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gray">
          <a:xfrm flipH="1">
            <a:off x="10500963" y="5080538"/>
            <a:ext cx="705845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</a:p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圆角矩形 4"/>
          <p:cNvSpPr/>
          <p:nvPr/>
        </p:nvSpPr>
        <p:spPr bwMode="gray">
          <a:xfrm>
            <a:off x="3847062" y="4425323"/>
            <a:ext cx="4557086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Text Box 19"/>
          <p:cNvSpPr txBox="1">
            <a:spLocks noChangeArrowheads="1"/>
          </p:cNvSpPr>
          <p:nvPr/>
        </p:nvSpPr>
        <p:spPr bwMode="gray">
          <a:xfrm>
            <a:off x="4148743" y="5050219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gray">
          <a:xfrm>
            <a:off x="5976907" y="5050219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gray">
          <a:xfrm>
            <a:off x="7588509" y="5050219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8404148" y="4587222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3104551" y="4586553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9" name="直接连接符 53"/>
          <p:cNvCxnSpPr/>
          <p:nvPr/>
        </p:nvCxnSpPr>
        <p:spPr bwMode="gray">
          <a:xfrm>
            <a:off x="2751275" y="4896764"/>
            <a:ext cx="68338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58871" y="4658433"/>
            <a:ext cx="540000" cy="442800"/>
          </a:xfrm>
          <a:prstGeom prst="rect">
            <a:avLst/>
          </a:prstGeom>
        </p:spPr>
      </p:pic>
      <p:pic>
        <p:nvPicPr>
          <p:cNvPr id="61" name="图片 6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93786" y="4658433"/>
            <a:ext cx="540000" cy="442800"/>
          </a:xfrm>
          <a:prstGeom prst="rect">
            <a:avLst/>
          </a:prstGeom>
        </p:spPr>
      </p:pic>
      <p:pic>
        <p:nvPicPr>
          <p:cNvPr id="62" name="图片 6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69" y="4658433"/>
            <a:ext cx="540000" cy="442800"/>
          </a:xfrm>
          <a:prstGeom prst="rect">
            <a:avLst/>
          </a:prstGeom>
        </p:spPr>
      </p:pic>
      <p:pic>
        <p:nvPicPr>
          <p:cNvPr id="63" name="图片 6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40" y="4658433"/>
            <a:ext cx="540000" cy="442800"/>
          </a:xfrm>
          <a:prstGeom prst="rect">
            <a:avLst/>
          </a:prstGeom>
        </p:spPr>
      </p:pic>
      <p:pic>
        <p:nvPicPr>
          <p:cNvPr id="64" name="图片 6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35" y="4658433"/>
            <a:ext cx="540000" cy="442800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 bwMode="gray">
          <a:xfrm>
            <a:off x="5765571" y="5267370"/>
            <a:ext cx="720069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  <a:sym typeface="Huawei Sans" panose="020C0503030203020204" pitchFamily="34" charset="0"/>
              </a:rPr>
              <a:t>AS123</a:t>
            </a:r>
            <a:endParaRPr lang="zh-CN" altLang="en-US" dirty="0">
              <a:solidFill>
                <a:schemeClr val="tx1"/>
              </a:solidFill>
              <a:sym typeface="Huawei Sans" panose="020C0503030203020204" pitchFamily="34" charset="0"/>
            </a:endParaRPr>
          </a:p>
        </p:txBody>
      </p:sp>
      <p:sp>
        <p:nvSpPr>
          <p:cNvPr id="3" name="任意多边形 2"/>
          <p:cNvSpPr/>
          <p:nvPr/>
        </p:nvSpPr>
        <p:spPr bwMode="gray">
          <a:xfrm>
            <a:off x="4367212" y="4198633"/>
            <a:ext cx="3457575" cy="459800"/>
          </a:xfrm>
          <a:custGeom>
            <a:avLst/>
            <a:gdLst>
              <a:gd name="connsiteX0" fmla="*/ 0 w 3457575"/>
              <a:gd name="connsiteY0" fmla="*/ 228600 h 228600"/>
              <a:gd name="connsiteX1" fmla="*/ 1714500 w 3457575"/>
              <a:gd name="connsiteY1" fmla="*/ 0 h 228600"/>
              <a:gd name="connsiteX2" fmla="*/ 3457575 w 3457575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7575" h="228600">
                <a:moveTo>
                  <a:pt x="0" y="228600"/>
                </a:moveTo>
                <a:cubicBezTo>
                  <a:pt x="569119" y="114300"/>
                  <a:pt x="1138238" y="0"/>
                  <a:pt x="1714500" y="0"/>
                </a:cubicBezTo>
                <a:cubicBezTo>
                  <a:pt x="2290762" y="0"/>
                  <a:pt x="2874168" y="114300"/>
                  <a:pt x="3457575" y="228600"/>
                </a:cubicBezTo>
              </a:path>
            </a:pathLst>
          </a:custGeom>
          <a:noFill/>
          <a:ln w="25400">
            <a:solidFill>
              <a:srgbClr val="EC7061"/>
            </a:solidFill>
            <a:prstDash val="dashDot"/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 bwMode="gray">
          <a:xfrm>
            <a:off x="5778445" y="4198633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1" name="直接箭头连接符 70"/>
          <p:cNvCxnSpPr>
            <a:stCxn id="62" idx="0"/>
            <a:endCxn id="72" idx="2"/>
          </p:cNvCxnSpPr>
          <p:nvPr/>
        </p:nvCxnSpPr>
        <p:spPr bwMode="gray">
          <a:xfrm flipV="1">
            <a:off x="4397369" y="4096934"/>
            <a:ext cx="83" cy="56149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圆角矩形 71"/>
          <p:cNvSpPr>
            <a:spLocks/>
          </p:cNvSpPr>
          <p:nvPr/>
        </p:nvSpPr>
        <p:spPr bwMode="gray">
          <a:xfrm>
            <a:off x="2906789" y="3169199"/>
            <a:ext cx="2981326" cy="927735"/>
          </a:xfrm>
          <a:prstGeom prst="roundRect">
            <a:avLst>
              <a:gd name="adj" fmla="val 2303"/>
            </a:avLst>
          </a:prstGeom>
          <a:solidFill>
            <a:srgbClr val="FFFFCC"/>
          </a:solidFill>
          <a:ln w="12700">
            <a:solidFill>
              <a:srgbClr val="FC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发布的</a:t>
            </a:r>
            <a:r>
              <a:rPr lang="en-US" altLang="zh-CN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路由引入</a:t>
            </a: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，发布给</a:t>
            </a: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5" name="直接箭头连接符 74"/>
          <p:cNvCxnSpPr>
            <a:stCxn id="64" idx="0"/>
            <a:endCxn id="76" idx="2"/>
          </p:cNvCxnSpPr>
          <p:nvPr/>
        </p:nvCxnSpPr>
        <p:spPr bwMode="gray">
          <a:xfrm flipH="1" flipV="1">
            <a:off x="7826451" y="4139460"/>
            <a:ext cx="10684" cy="51897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圆角矩形 75"/>
          <p:cNvSpPr>
            <a:spLocks/>
          </p:cNvSpPr>
          <p:nvPr/>
        </p:nvSpPr>
        <p:spPr bwMode="gray">
          <a:xfrm>
            <a:off x="6335788" y="3211725"/>
            <a:ext cx="2981326" cy="927735"/>
          </a:xfrm>
          <a:prstGeom prst="roundRect">
            <a:avLst>
              <a:gd name="adj" fmla="val 2303"/>
            </a:avLst>
          </a:prstGeom>
          <a:solidFill>
            <a:srgbClr val="FFFFCC"/>
          </a:solidFill>
          <a:ln w="12700">
            <a:solidFill>
              <a:srgbClr val="FC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发布的</a:t>
            </a: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路由引入</a:t>
            </a: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，发布给</a:t>
            </a:r>
            <a:r>
              <a:rPr lang="en-US" altLang="zh-CN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4798428" y="5582165"/>
            <a:ext cx="2941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发布路由过程图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11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BGP</a:t>
            </a:r>
            <a:r>
              <a:rPr lang="zh-CN" altLang="en-US" smtClean="0"/>
              <a:t>扩展团体属性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2000" dirty="0" smtClean="0"/>
              <a:t>为了保留</a:t>
            </a:r>
            <a:r>
              <a:rPr lang="en-US" altLang="zh-CN" sz="2000" dirty="0" smtClean="0"/>
              <a:t>OSPF</a:t>
            </a:r>
            <a:r>
              <a:rPr lang="zh-CN" altLang="en-US" sz="2000" dirty="0" smtClean="0"/>
              <a:t>的路由信息，</a:t>
            </a:r>
            <a:r>
              <a:rPr lang="en-US" altLang="zh-CN" sz="2000" dirty="0" smtClean="0"/>
              <a:t>BGP</a:t>
            </a:r>
            <a:r>
              <a:rPr lang="zh-CN" altLang="en-US" sz="2000" dirty="0" smtClean="0"/>
              <a:t>新增了部分可携带</a:t>
            </a:r>
            <a:r>
              <a:rPr lang="en-US" altLang="zh-CN" sz="2000" dirty="0" smtClean="0"/>
              <a:t>OSPF</a:t>
            </a:r>
            <a:r>
              <a:rPr lang="zh-CN" altLang="en-US" sz="2000" dirty="0" smtClean="0"/>
              <a:t>路由信息的团体属性：</a:t>
            </a:r>
            <a:endParaRPr lang="en-US" altLang="zh-CN" sz="2000" dirty="0" smtClean="0"/>
          </a:p>
          <a:p>
            <a:pPr lvl="1"/>
            <a:r>
              <a:rPr lang="en-US" altLang="zh-CN" sz="1800" dirty="0" smtClean="0"/>
              <a:t>Domain ID</a:t>
            </a:r>
            <a:r>
              <a:rPr lang="zh-CN" altLang="en-US" sz="1800" dirty="0" smtClean="0"/>
              <a:t>：域标识符用来标识和区分不同的域。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Route Type</a:t>
            </a:r>
            <a:r>
              <a:rPr lang="zh-CN" altLang="en-US" sz="1800" dirty="0" smtClean="0"/>
              <a:t>：包含被引入到</a:t>
            </a:r>
            <a:r>
              <a:rPr lang="en-US" altLang="zh-CN" sz="1800" dirty="0" smtClean="0"/>
              <a:t>BGP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OSPF</a:t>
            </a:r>
            <a:r>
              <a:rPr lang="zh-CN" altLang="en-US" sz="1800" dirty="0" smtClean="0"/>
              <a:t>路由的</a:t>
            </a:r>
            <a:r>
              <a:rPr lang="en-US" altLang="zh-CN" sz="1800" dirty="0" smtClean="0"/>
              <a:t>Area-ID</a:t>
            </a:r>
            <a:r>
              <a:rPr lang="zh-CN" altLang="en-US" sz="1800" dirty="0" smtClean="0"/>
              <a:t>以及</a:t>
            </a:r>
            <a:r>
              <a:rPr lang="en-US" altLang="zh-CN" sz="1800" dirty="0" smtClean="0"/>
              <a:t>Route Type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lvl="2"/>
            <a:r>
              <a:rPr lang="en-US" altLang="zh-CN" sz="1600" dirty="0" smtClean="0"/>
              <a:t>Area-ID</a:t>
            </a:r>
            <a:r>
              <a:rPr lang="zh-CN" altLang="en-US" sz="1600" dirty="0" smtClean="0"/>
              <a:t>：</a:t>
            </a:r>
            <a:r>
              <a:rPr lang="en-US" altLang="zh-CN" sz="1600" dirty="0" smtClean="0"/>
              <a:t>PE</a:t>
            </a:r>
            <a:r>
              <a:rPr lang="zh-CN" altLang="en-US" sz="1600" dirty="0" smtClean="0"/>
              <a:t>的</a:t>
            </a:r>
            <a:r>
              <a:rPr lang="en-US" altLang="zh-CN" sz="1600" dirty="0" smtClean="0"/>
              <a:t>VPN</a:t>
            </a:r>
            <a:r>
              <a:rPr lang="zh-CN" altLang="en-US" sz="1600" dirty="0" smtClean="0"/>
              <a:t>实例的</a:t>
            </a:r>
            <a:r>
              <a:rPr lang="en-US" altLang="zh-CN" sz="1600" dirty="0" smtClean="0"/>
              <a:t>OSPF</a:t>
            </a:r>
            <a:r>
              <a:rPr lang="zh-CN" altLang="en-US" sz="1600" dirty="0" smtClean="0"/>
              <a:t>进程与</a:t>
            </a:r>
            <a:r>
              <a:rPr lang="en-US" altLang="zh-CN" sz="1600" dirty="0" smtClean="0"/>
              <a:t>CE</a:t>
            </a:r>
            <a:r>
              <a:rPr lang="zh-CN" altLang="en-US" sz="1600" dirty="0" smtClean="0"/>
              <a:t>建立邻接关系的区域号。</a:t>
            </a:r>
            <a:endParaRPr lang="en-US" altLang="zh-CN" sz="1600" dirty="0" smtClean="0"/>
          </a:p>
          <a:p>
            <a:pPr lvl="2"/>
            <a:r>
              <a:rPr lang="en-US" altLang="zh-CN" sz="1600" dirty="0" smtClean="0"/>
              <a:t>Route Type</a:t>
            </a:r>
            <a:r>
              <a:rPr lang="zh-CN" altLang="en-US" sz="1600" dirty="0" smtClean="0"/>
              <a:t>：被引入的</a:t>
            </a:r>
            <a:r>
              <a:rPr lang="en-US" altLang="zh-CN" sz="1600" dirty="0" smtClean="0"/>
              <a:t>OSPF</a:t>
            </a:r>
            <a:r>
              <a:rPr lang="zh-CN" altLang="en-US" sz="1600" dirty="0" smtClean="0"/>
              <a:t>路由的类型。</a:t>
            </a:r>
            <a:endParaRPr lang="en-US" altLang="zh-CN" sz="1600" dirty="0" smtClean="0"/>
          </a:p>
          <a:p>
            <a:pPr lvl="3"/>
            <a:r>
              <a:rPr lang="en-US" altLang="zh-CN" sz="1400" dirty="0" smtClean="0"/>
              <a:t>1</a:t>
            </a:r>
            <a:r>
              <a:rPr lang="zh-CN" altLang="en-US" sz="1400" dirty="0" smtClean="0"/>
              <a:t>或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：表示路由的类型为区域内部路由</a:t>
            </a:r>
            <a:r>
              <a:rPr lang="zh-CN" altLang="en-US" sz="1400" dirty="0"/>
              <a:t>，</a:t>
            </a:r>
            <a:r>
              <a:rPr lang="zh-CN" altLang="en-US" sz="1400" dirty="0" smtClean="0"/>
              <a:t>也就是</a:t>
            </a:r>
            <a:r>
              <a:rPr lang="en-US" altLang="zh-CN" sz="1400" dirty="0" smtClean="0"/>
              <a:t>PE</a:t>
            </a:r>
            <a:r>
              <a:rPr lang="zh-CN" altLang="en-US" sz="1400" dirty="0" smtClean="0"/>
              <a:t>根据</a:t>
            </a:r>
            <a:r>
              <a:rPr lang="en-US" altLang="zh-CN" sz="1400" dirty="0" smtClean="0"/>
              <a:t>Type-1</a:t>
            </a:r>
            <a:r>
              <a:rPr lang="zh-CN" altLang="en-US" sz="1400" dirty="0" smtClean="0"/>
              <a:t>及</a:t>
            </a:r>
            <a:r>
              <a:rPr lang="en-US" altLang="zh-CN" sz="1400" dirty="0" smtClean="0"/>
              <a:t>Type-2 LSA</a:t>
            </a:r>
            <a:r>
              <a:rPr lang="zh-CN" altLang="en-US" sz="1400" dirty="0" smtClean="0"/>
              <a:t>所计算出来的路由。</a:t>
            </a:r>
          </a:p>
          <a:p>
            <a:pPr lvl="3"/>
            <a:r>
              <a:rPr lang="en-US" altLang="zh-CN" sz="1400" dirty="0" smtClean="0"/>
              <a:t>3</a:t>
            </a:r>
            <a:r>
              <a:rPr lang="zh-CN" altLang="en-US" sz="1400" dirty="0" smtClean="0"/>
              <a:t>：表示路由的类型为区域间路由。</a:t>
            </a:r>
          </a:p>
          <a:p>
            <a:pPr lvl="3"/>
            <a:r>
              <a:rPr lang="en-US" altLang="zh-CN" sz="1400" dirty="0" smtClean="0"/>
              <a:t>5</a:t>
            </a:r>
            <a:r>
              <a:rPr lang="zh-CN" altLang="en-US" sz="1400" dirty="0" smtClean="0"/>
              <a:t>：表示路由的类型为</a:t>
            </a:r>
            <a:r>
              <a:rPr lang="en-US" altLang="zh-CN" sz="1400" dirty="0" smtClean="0"/>
              <a:t>OSPF</a:t>
            </a:r>
            <a:r>
              <a:rPr lang="zh-CN" altLang="en-US" sz="1400" dirty="0" smtClean="0"/>
              <a:t>外部路由，也就是</a:t>
            </a:r>
            <a:r>
              <a:rPr lang="en-US" altLang="zh-CN" sz="1400" dirty="0" smtClean="0"/>
              <a:t>PE</a:t>
            </a:r>
            <a:r>
              <a:rPr lang="zh-CN" altLang="en-US" sz="1400" dirty="0" smtClean="0"/>
              <a:t>通过</a:t>
            </a:r>
            <a:r>
              <a:rPr lang="en-US" altLang="zh-CN" sz="1400" dirty="0" smtClean="0"/>
              <a:t>Type-5 LSA</a:t>
            </a:r>
            <a:r>
              <a:rPr lang="zh-CN" altLang="en-US" sz="1400" dirty="0" smtClean="0"/>
              <a:t>计算得出的路由。当</a:t>
            </a:r>
            <a:r>
              <a:rPr lang="en-US" altLang="zh-CN" sz="1400" dirty="0" smtClean="0"/>
              <a:t>Route-Type</a:t>
            </a:r>
            <a:r>
              <a:rPr lang="zh-CN" altLang="en-US" sz="1400" dirty="0" smtClean="0"/>
              <a:t>字段的值为</a:t>
            </a:r>
            <a:r>
              <a:rPr lang="en-US" altLang="zh-CN" sz="1400" dirty="0" smtClean="0"/>
              <a:t>5</a:t>
            </a:r>
            <a:r>
              <a:rPr lang="zh-CN" altLang="en-US" sz="1400" dirty="0" smtClean="0"/>
              <a:t>时，</a:t>
            </a:r>
            <a:r>
              <a:rPr lang="en-US" altLang="zh-CN" sz="1400" dirty="0" smtClean="0"/>
              <a:t>Area-ID </a:t>
            </a:r>
            <a:r>
              <a:rPr lang="zh-CN" altLang="en-US" sz="1400" dirty="0" smtClean="0"/>
              <a:t>字段的值需为</a:t>
            </a:r>
            <a:r>
              <a:rPr lang="en-US" altLang="zh-CN" sz="1400" dirty="0" smtClean="0"/>
              <a:t>0.0.0.0</a:t>
            </a:r>
            <a:r>
              <a:rPr lang="zh-CN" altLang="en-US" sz="1400" dirty="0" smtClean="0"/>
              <a:t>。</a:t>
            </a:r>
          </a:p>
          <a:p>
            <a:pPr lvl="3"/>
            <a:r>
              <a:rPr lang="en-US" altLang="zh-CN" sz="1400" dirty="0" smtClean="0"/>
              <a:t>7</a:t>
            </a:r>
            <a:r>
              <a:rPr lang="zh-CN" altLang="en-US" sz="1400" dirty="0" smtClean="0"/>
              <a:t>：表示路由的类型为</a:t>
            </a:r>
            <a:r>
              <a:rPr lang="en-US" altLang="zh-CN" sz="1400" dirty="0" smtClean="0"/>
              <a:t>NSSA</a:t>
            </a:r>
            <a:r>
              <a:rPr lang="zh-CN" altLang="en-US" sz="1400" dirty="0" smtClean="0"/>
              <a:t>路由，也就是</a:t>
            </a:r>
            <a:r>
              <a:rPr lang="en-US" altLang="zh-CN" sz="1400" dirty="0" smtClean="0"/>
              <a:t>PE</a:t>
            </a:r>
            <a:r>
              <a:rPr lang="zh-CN" altLang="en-US" sz="1400" dirty="0" smtClean="0"/>
              <a:t>通过</a:t>
            </a:r>
            <a:r>
              <a:rPr lang="en-US" altLang="zh-CN" sz="1400" dirty="0" smtClean="0"/>
              <a:t>Type-7 LSA</a:t>
            </a:r>
            <a:r>
              <a:rPr lang="zh-CN" altLang="en-US" sz="1400" dirty="0" smtClean="0"/>
              <a:t>计算得出的路由。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3363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Domain ID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在</a:t>
            </a:r>
            <a:r>
              <a:rPr lang="en-US" altLang="zh-CN" sz="1800" smtClean="0">
                <a:sym typeface="Huawei Sans" panose="020C0503030203020204" pitchFamily="34" charset="0"/>
              </a:rPr>
              <a:t>PE</a:t>
            </a:r>
            <a:r>
              <a:rPr lang="zh-CN" altLang="en-US" sz="1800" smtClean="0">
                <a:sym typeface="Huawei Sans" panose="020C0503030203020204" pitchFamily="34" charset="0"/>
              </a:rPr>
              <a:t>上将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引入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时，</a:t>
            </a:r>
            <a:r>
              <a:rPr lang="en-US" altLang="zh-CN" sz="1800" smtClean="0">
                <a:sym typeface="Huawei Sans" panose="020C0503030203020204" pitchFamily="34" charset="0"/>
              </a:rPr>
              <a:t>PE</a:t>
            </a:r>
            <a:r>
              <a:rPr lang="zh-CN" altLang="en-US" sz="1800" smtClean="0">
                <a:sym typeface="Huawei Sans" panose="020C0503030203020204" pitchFamily="34" charset="0"/>
              </a:rPr>
              <a:t>将根据本地的配置为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路由增加域</a:t>
            </a:r>
            <a:r>
              <a:rPr lang="en-US" altLang="zh-CN" sz="1800" smtClean="0">
                <a:sym typeface="Huawei Sans" panose="020C0503030203020204" pitchFamily="34" charset="0"/>
              </a:rPr>
              <a:t>ID</a:t>
            </a:r>
            <a:r>
              <a:rPr lang="zh-CN" altLang="en-US" sz="1800" smtClean="0">
                <a:sym typeface="Huawei Sans" panose="020C0503030203020204" pitchFamily="34" charset="0"/>
              </a:rPr>
              <a:t>属性，域</a:t>
            </a:r>
            <a:r>
              <a:rPr lang="en-US" altLang="zh-CN" sz="1800" smtClean="0">
                <a:sym typeface="Huawei Sans" panose="020C0503030203020204" pitchFamily="34" charset="0"/>
              </a:rPr>
              <a:t>ID</a:t>
            </a:r>
            <a:r>
              <a:rPr lang="zh-CN" altLang="en-US" sz="1800" smtClean="0">
                <a:sym typeface="Huawei Sans" panose="020C0503030203020204" pitchFamily="34" charset="0"/>
              </a:rPr>
              <a:t>作为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的扩展团体属性传播。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zh-CN" altLang="en-US" sz="1800" smtClean="0">
                <a:sym typeface="Huawei Sans" panose="020C0503030203020204" pitchFamily="34" charset="0"/>
              </a:rPr>
              <a:t>在</a:t>
            </a:r>
            <a:r>
              <a:rPr lang="en-US" altLang="zh-CN" sz="1800" smtClean="0">
                <a:sym typeface="Huawei Sans" panose="020C0503030203020204" pitchFamily="34" charset="0"/>
              </a:rPr>
              <a:t>PE</a:t>
            </a:r>
            <a:r>
              <a:rPr lang="zh-CN" altLang="en-US" sz="1800" smtClean="0">
                <a:sym typeface="Huawei Sans" panose="020C0503030203020204" pitchFamily="34" charset="0"/>
              </a:rPr>
              <a:t>将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路由引入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时，若</a:t>
            </a:r>
            <a:r>
              <a:rPr lang="en-US" altLang="zh-CN" sz="1800" smtClean="0">
                <a:sym typeface="Huawei Sans" panose="020C0503030203020204" pitchFamily="34" charset="0"/>
              </a:rPr>
              <a:t>BGP</a:t>
            </a:r>
            <a:r>
              <a:rPr lang="zh-CN" altLang="en-US" sz="1800" smtClean="0">
                <a:sym typeface="Huawei Sans" panose="020C0503030203020204" pitchFamily="34" charset="0"/>
              </a:rPr>
              <a:t>路由携带的</a:t>
            </a:r>
            <a:r>
              <a:rPr lang="en-US" altLang="zh-CN" sz="1800" smtClean="0">
                <a:sym typeface="Huawei Sans" panose="020C0503030203020204" pitchFamily="34" charset="0"/>
              </a:rPr>
              <a:t>Domain ID</a:t>
            </a:r>
            <a:r>
              <a:rPr lang="zh-CN" altLang="en-US" sz="1800" smtClean="0">
                <a:sym typeface="Huawei Sans" panose="020C0503030203020204" pitchFamily="34" charset="0"/>
              </a:rPr>
              <a:t>与本地相同，则认为两个站点属于同一个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路由域。若不相同，则认为不在同一个路由域。</a:t>
            </a:r>
            <a:endParaRPr lang="en-US" altLang="zh-CN" sz="1800" dirty="0" smtClean="0">
              <a:sym typeface="Huawei Sans" panose="020C0503030203020204" pitchFamily="34" charset="0"/>
            </a:endParaRPr>
          </a:p>
        </p:txBody>
      </p:sp>
      <p:sp>
        <p:nvSpPr>
          <p:cNvPr id="62" name="圆角矩形 5"/>
          <p:cNvSpPr>
            <a:spLocks/>
          </p:cNvSpPr>
          <p:nvPr/>
        </p:nvSpPr>
        <p:spPr bwMode="gray">
          <a:xfrm>
            <a:off x="1085850" y="4426339"/>
            <a:ext cx="2041653" cy="1137716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Text Box 19"/>
          <p:cNvSpPr txBox="1">
            <a:spLocks noChangeArrowheads="1"/>
          </p:cNvSpPr>
          <p:nvPr/>
        </p:nvSpPr>
        <p:spPr bwMode="gray">
          <a:xfrm>
            <a:off x="2277840" y="5021734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Text Box 19"/>
          <p:cNvSpPr txBox="1">
            <a:spLocks noChangeArrowheads="1"/>
          </p:cNvSpPr>
          <p:nvPr/>
        </p:nvSpPr>
        <p:spPr bwMode="gray">
          <a:xfrm>
            <a:off x="1581447" y="4361516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Text Box 19"/>
          <p:cNvSpPr txBox="1">
            <a:spLocks noChangeArrowheads="1"/>
          </p:cNvSpPr>
          <p:nvPr/>
        </p:nvSpPr>
        <p:spPr bwMode="gray">
          <a:xfrm>
            <a:off x="1085850" y="5060465"/>
            <a:ext cx="1173021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Domain ID 234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6" name="Group 104"/>
          <p:cNvGrpSpPr/>
          <p:nvPr/>
        </p:nvGrpSpPr>
        <p:grpSpPr bwMode="gray">
          <a:xfrm rot="5400000" flipH="1">
            <a:off x="9711974" y="4528816"/>
            <a:ext cx="259305" cy="764187"/>
            <a:chOff x="3134093" y="3084639"/>
            <a:chExt cx="611430" cy="432284"/>
          </a:xfrm>
        </p:grpSpPr>
        <p:cxnSp>
          <p:nvCxnSpPr>
            <p:cNvPr id="67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圆角矩形 5"/>
          <p:cNvSpPr>
            <a:spLocks/>
          </p:cNvSpPr>
          <p:nvPr/>
        </p:nvSpPr>
        <p:spPr bwMode="gray">
          <a:xfrm flipH="1">
            <a:off x="9165155" y="4402543"/>
            <a:ext cx="2041653" cy="1137716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Text Box 19"/>
          <p:cNvSpPr txBox="1">
            <a:spLocks noChangeArrowheads="1"/>
          </p:cNvSpPr>
          <p:nvPr/>
        </p:nvSpPr>
        <p:spPr bwMode="gray">
          <a:xfrm flipH="1">
            <a:off x="9512755" y="5021734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Text Box 19"/>
          <p:cNvSpPr txBox="1">
            <a:spLocks noChangeArrowheads="1"/>
          </p:cNvSpPr>
          <p:nvPr/>
        </p:nvSpPr>
        <p:spPr bwMode="gray">
          <a:xfrm flipH="1">
            <a:off x="10087418" y="4361515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Text Box 19"/>
          <p:cNvSpPr txBox="1">
            <a:spLocks noChangeArrowheads="1"/>
          </p:cNvSpPr>
          <p:nvPr/>
        </p:nvSpPr>
        <p:spPr bwMode="gray">
          <a:xfrm flipH="1">
            <a:off x="10033787" y="5036669"/>
            <a:ext cx="1173021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Domain ID</a:t>
            </a:r>
          </a:p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234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圆角矩形 4"/>
          <p:cNvSpPr/>
          <p:nvPr/>
        </p:nvSpPr>
        <p:spPr bwMode="gray">
          <a:xfrm>
            <a:off x="3847062" y="4396838"/>
            <a:ext cx="4557086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Text Box 19"/>
          <p:cNvSpPr txBox="1">
            <a:spLocks noChangeArrowheads="1"/>
          </p:cNvSpPr>
          <p:nvPr/>
        </p:nvSpPr>
        <p:spPr bwMode="gray">
          <a:xfrm>
            <a:off x="4148743" y="502173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Text Box 19"/>
          <p:cNvSpPr txBox="1">
            <a:spLocks noChangeArrowheads="1"/>
          </p:cNvSpPr>
          <p:nvPr/>
        </p:nvSpPr>
        <p:spPr bwMode="gray">
          <a:xfrm>
            <a:off x="5976907" y="5021734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Text Box 19"/>
          <p:cNvSpPr txBox="1">
            <a:spLocks noChangeArrowheads="1"/>
          </p:cNvSpPr>
          <p:nvPr/>
        </p:nvSpPr>
        <p:spPr bwMode="gray">
          <a:xfrm>
            <a:off x="7588509" y="502173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8404148" y="4558737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3104551" y="4558068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9" name="直接连接符 53"/>
          <p:cNvCxnSpPr/>
          <p:nvPr/>
        </p:nvCxnSpPr>
        <p:spPr bwMode="gray">
          <a:xfrm>
            <a:off x="2751275" y="4868279"/>
            <a:ext cx="68338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58871" y="4629948"/>
            <a:ext cx="540000" cy="442800"/>
          </a:xfrm>
          <a:prstGeom prst="rect">
            <a:avLst/>
          </a:prstGeom>
        </p:spPr>
      </p:pic>
      <p:pic>
        <p:nvPicPr>
          <p:cNvPr id="81" name="图片 8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93786" y="4629948"/>
            <a:ext cx="540000" cy="442800"/>
          </a:xfrm>
          <a:prstGeom prst="rect">
            <a:avLst/>
          </a:prstGeom>
        </p:spPr>
      </p:pic>
      <p:pic>
        <p:nvPicPr>
          <p:cNvPr id="82" name="图片 8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69" y="4629948"/>
            <a:ext cx="540000" cy="442800"/>
          </a:xfrm>
          <a:prstGeom prst="rect">
            <a:avLst/>
          </a:prstGeom>
        </p:spPr>
      </p:pic>
      <p:pic>
        <p:nvPicPr>
          <p:cNvPr id="83" name="图片 8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40" y="4629948"/>
            <a:ext cx="540000" cy="442800"/>
          </a:xfrm>
          <a:prstGeom prst="rect">
            <a:avLst/>
          </a:prstGeom>
        </p:spPr>
      </p:pic>
      <p:pic>
        <p:nvPicPr>
          <p:cNvPr id="84" name="图片 8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35" y="4629948"/>
            <a:ext cx="540000" cy="44280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 bwMode="gray">
          <a:xfrm>
            <a:off x="5765571" y="5238885"/>
            <a:ext cx="720069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  <a:sym typeface="Huawei Sans" panose="020C0503030203020204" pitchFamily="34" charset="0"/>
              </a:rPr>
              <a:t>AS123</a:t>
            </a:r>
            <a:endParaRPr lang="zh-CN" altLang="en-US" dirty="0">
              <a:solidFill>
                <a:schemeClr val="tx1"/>
              </a:solidFill>
              <a:sym typeface="Huawei Sans" panose="020C0503030203020204" pitchFamily="34" charset="0"/>
            </a:endParaRPr>
          </a:p>
        </p:txBody>
      </p:sp>
      <p:sp>
        <p:nvSpPr>
          <p:cNvPr id="86" name="任意多边形 85"/>
          <p:cNvSpPr/>
          <p:nvPr/>
        </p:nvSpPr>
        <p:spPr bwMode="gray">
          <a:xfrm>
            <a:off x="4367212" y="4396837"/>
            <a:ext cx="3457575" cy="223461"/>
          </a:xfrm>
          <a:custGeom>
            <a:avLst/>
            <a:gdLst>
              <a:gd name="connsiteX0" fmla="*/ 0 w 3457575"/>
              <a:gd name="connsiteY0" fmla="*/ 228600 h 228600"/>
              <a:gd name="connsiteX1" fmla="*/ 1714500 w 3457575"/>
              <a:gd name="connsiteY1" fmla="*/ 0 h 228600"/>
              <a:gd name="connsiteX2" fmla="*/ 3457575 w 3457575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7575" h="228600">
                <a:moveTo>
                  <a:pt x="0" y="228600"/>
                </a:moveTo>
                <a:cubicBezTo>
                  <a:pt x="569119" y="114300"/>
                  <a:pt x="1138238" y="0"/>
                  <a:pt x="1714500" y="0"/>
                </a:cubicBezTo>
                <a:cubicBezTo>
                  <a:pt x="2290762" y="0"/>
                  <a:pt x="2874168" y="114300"/>
                  <a:pt x="3457575" y="228600"/>
                </a:cubicBezTo>
              </a:path>
            </a:pathLst>
          </a:custGeom>
          <a:noFill/>
          <a:ln w="25400">
            <a:solidFill>
              <a:srgbClr val="EC7061"/>
            </a:solidFill>
            <a:prstDash val="solid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4798428" y="5553680"/>
            <a:ext cx="2941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发布路由过程图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02" name="表格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130902"/>
              </p:ext>
            </p:extLst>
          </p:nvPr>
        </p:nvGraphicFramePr>
        <p:xfrm>
          <a:off x="3867902" y="3441617"/>
          <a:ext cx="4536246" cy="4159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12082"/>
                <a:gridCol w="1512082"/>
                <a:gridCol w="1512082"/>
              </a:tblGrid>
              <a:tr h="4159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Type</a:t>
                      </a:r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Domain ID</a:t>
                      </a:r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0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Area-ID</a:t>
                      </a:r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3" name="文本框 102"/>
          <p:cNvSpPr txBox="1"/>
          <p:nvPr/>
        </p:nvSpPr>
        <p:spPr bwMode="gray">
          <a:xfrm>
            <a:off x="3825687" y="3869115"/>
            <a:ext cx="426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Update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携带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路由信息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27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Domain ID</a:t>
            </a:r>
            <a:r>
              <a:rPr lang="zh-CN" altLang="en-US" smtClean="0">
                <a:sym typeface="Huawei Sans" panose="020C0503030203020204" pitchFamily="34" charset="0"/>
              </a:rPr>
              <a:t>与</a:t>
            </a:r>
            <a:r>
              <a:rPr lang="en-US" altLang="zh-CN" smtClean="0">
                <a:sym typeface="Huawei Sans" panose="020C0503030203020204" pitchFamily="34" charset="0"/>
              </a:rPr>
              <a:t>Route Type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根据</a:t>
            </a:r>
            <a:r>
              <a:rPr lang="en-US" altLang="zh-CN" sz="1800" dirty="0" smtClean="0">
                <a:sym typeface="Huawei Sans" panose="020C0503030203020204" pitchFamily="34" charset="0"/>
              </a:rPr>
              <a:t>BGP</a:t>
            </a:r>
            <a:r>
              <a:rPr lang="zh-CN" altLang="en-US" sz="1800" dirty="0" smtClean="0">
                <a:sym typeface="Huawei Sans" panose="020C0503030203020204" pitchFamily="34" charset="0"/>
              </a:rPr>
              <a:t>路由中的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Domain ID</a:t>
            </a:r>
            <a:r>
              <a:rPr lang="zh-CN" altLang="en-US" sz="1800" dirty="0" smtClean="0">
                <a:sym typeface="Huawei Sans" panose="020C0503030203020204" pitchFamily="34" charset="0"/>
              </a:rPr>
              <a:t>与</a:t>
            </a:r>
            <a:r>
              <a:rPr lang="en-US" altLang="zh-CN" sz="1800" dirty="0" smtClean="0">
                <a:sym typeface="Huawei Sans" panose="020C0503030203020204" pitchFamily="34" charset="0"/>
              </a:rPr>
              <a:t>Route Type</a:t>
            </a:r>
            <a:r>
              <a:rPr lang="zh-CN" altLang="en-US" sz="1800" dirty="0" smtClean="0">
                <a:sym typeface="Huawei Sans" panose="020C0503030203020204" pitchFamily="34" charset="0"/>
              </a:rPr>
              <a:t>属性，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PE</a:t>
            </a:r>
            <a:r>
              <a:rPr lang="zh-CN" altLang="en-US" sz="1800" dirty="0" smtClean="0">
                <a:sym typeface="Huawei Sans" panose="020C0503030203020204" pitchFamily="34" charset="0"/>
              </a:rPr>
              <a:t>将产生不同类型的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OSPF LSA</a:t>
            </a:r>
            <a:r>
              <a:rPr lang="zh-CN" altLang="en-US" sz="1800" dirty="0" smtClean="0">
                <a:sym typeface="Huawei Sans" panose="020C0503030203020204" pitchFamily="34" charset="0"/>
              </a:rPr>
              <a:t>类型发布到</a:t>
            </a:r>
            <a:r>
              <a:rPr lang="en-US" altLang="zh-CN" sz="1800" dirty="0" smtClean="0">
                <a:sym typeface="Huawei Sans" panose="020C0503030203020204" pitchFamily="34" charset="0"/>
              </a:rPr>
              <a:t>VRF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OSPF</a:t>
            </a:r>
            <a:r>
              <a:rPr lang="zh-CN" altLang="en-US" sz="1800" dirty="0" smtClean="0">
                <a:sym typeface="Huawei Sans" panose="020C0503030203020204" pitchFamily="34" charset="0"/>
              </a:rPr>
              <a:t>进程中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793086"/>
              </p:ext>
            </p:extLst>
          </p:nvPr>
        </p:nvGraphicFramePr>
        <p:xfrm>
          <a:off x="1143000" y="2209386"/>
          <a:ext cx="9715502" cy="1407583"/>
        </p:xfrm>
        <a:graphic>
          <a:graphicData uri="http://schemas.openxmlformats.org/drawingml/2006/table">
            <a:tbl>
              <a:tblPr/>
              <a:tblGrid>
                <a:gridCol w="32004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76602"/>
                <a:gridCol w="3238499"/>
              </a:tblGrid>
              <a:tr h="3820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Domain ID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与本地是否相同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Route Type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生成的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 LSA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类型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0946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是</a:t>
                      </a:r>
                      <a:endParaRPr lang="zh-CN" alt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</a:t>
                      </a:r>
                      <a:endParaRPr lang="zh-CN" alt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5146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7</a:t>
                      </a:r>
                      <a:endParaRPr 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7</a:t>
                      </a:r>
                      <a:endParaRPr 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51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否</a:t>
                      </a:r>
                      <a:endParaRPr 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</a:t>
                      </a:r>
                      <a:r>
                        <a:rPr lang="zh-CN" altLang="en-US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、</a:t>
                      </a:r>
                      <a:r>
                        <a:rPr lang="en-US" altLang="zh-CN" sz="16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7</a:t>
                      </a:r>
                      <a:endParaRPr lang="en-US" sz="16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圆角矩形 5"/>
          <p:cNvSpPr>
            <a:spLocks/>
          </p:cNvSpPr>
          <p:nvPr/>
        </p:nvSpPr>
        <p:spPr bwMode="gray">
          <a:xfrm>
            <a:off x="1085850" y="4517779"/>
            <a:ext cx="2041653" cy="1137716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gray">
          <a:xfrm>
            <a:off x="2277840" y="5113174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gray">
          <a:xfrm>
            <a:off x="1581447" y="4452956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19"/>
          <p:cNvSpPr txBox="1">
            <a:spLocks noChangeArrowheads="1"/>
          </p:cNvSpPr>
          <p:nvPr/>
        </p:nvSpPr>
        <p:spPr bwMode="gray">
          <a:xfrm>
            <a:off x="1085850" y="5151905"/>
            <a:ext cx="1173021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Domain ID 234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" name="Group 104"/>
          <p:cNvGrpSpPr/>
          <p:nvPr/>
        </p:nvGrpSpPr>
        <p:grpSpPr bwMode="gray">
          <a:xfrm rot="5400000" flipH="1">
            <a:off x="9711974" y="4620256"/>
            <a:ext cx="259305" cy="764187"/>
            <a:chOff x="3134093" y="3084639"/>
            <a:chExt cx="611430" cy="432284"/>
          </a:xfrm>
        </p:grpSpPr>
        <p:cxnSp>
          <p:nvCxnSpPr>
            <p:cNvPr id="10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圆角矩形 5"/>
          <p:cNvSpPr>
            <a:spLocks/>
          </p:cNvSpPr>
          <p:nvPr/>
        </p:nvSpPr>
        <p:spPr bwMode="gray">
          <a:xfrm flipH="1">
            <a:off x="9165155" y="4493983"/>
            <a:ext cx="2041653" cy="1137716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gray">
          <a:xfrm flipH="1">
            <a:off x="9512755" y="5113174"/>
            <a:ext cx="5020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gray">
          <a:xfrm flipH="1">
            <a:off x="10087418" y="4452955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gray">
          <a:xfrm flipH="1">
            <a:off x="10033787" y="5128109"/>
            <a:ext cx="1173021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Domain ID</a:t>
            </a:r>
          </a:p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234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圆角矩形 4"/>
          <p:cNvSpPr/>
          <p:nvPr/>
        </p:nvSpPr>
        <p:spPr bwMode="gray">
          <a:xfrm>
            <a:off x="3847062" y="4488278"/>
            <a:ext cx="4557086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gray">
          <a:xfrm>
            <a:off x="4148743" y="511317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gray">
          <a:xfrm>
            <a:off x="5976907" y="5113174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gray">
          <a:xfrm>
            <a:off x="7588509" y="5113174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8404148" y="4650177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 bwMode="gray">
          <a:xfrm>
            <a:off x="3104551" y="4649508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2" name="直接连接符 53"/>
          <p:cNvCxnSpPr/>
          <p:nvPr/>
        </p:nvCxnSpPr>
        <p:spPr bwMode="gray">
          <a:xfrm>
            <a:off x="2751275" y="4959719"/>
            <a:ext cx="68338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58871" y="4721388"/>
            <a:ext cx="540000" cy="442800"/>
          </a:xfrm>
          <a:prstGeom prst="rect">
            <a:avLst/>
          </a:prstGeom>
        </p:spPr>
      </p:pic>
      <p:pic>
        <p:nvPicPr>
          <p:cNvPr id="24" name="图片 2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93786" y="4721388"/>
            <a:ext cx="540000" cy="442800"/>
          </a:xfrm>
          <a:prstGeom prst="rect">
            <a:avLst/>
          </a:prstGeom>
        </p:spPr>
      </p:pic>
      <p:pic>
        <p:nvPicPr>
          <p:cNvPr id="25" name="图片 2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69" y="4721388"/>
            <a:ext cx="540000" cy="442800"/>
          </a:xfrm>
          <a:prstGeom prst="rect">
            <a:avLst/>
          </a:prstGeom>
        </p:spPr>
      </p:pic>
      <p:pic>
        <p:nvPicPr>
          <p:cNvPr id="26" name="图片 2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40" y="4721388"/>
            <a:ext cx="540000" cy="442800"/>
          </a:xfrm>
          <a:prstGeom prst="rect">
            <a:avLst/>
          </a:prstGeom>
        </p:spPr>
      </p:pic>
      <p:pic>
        <p:nvPicPr>
          <p:cNvPr id="27" name="图片 2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35" y="4721388"/>
            <a:ext cx="540000" cy="4428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 bwMode="gray">
          <a:xfrm>
            <a:off x="5765571" y="5330325"/>
            <a:ext cx="720069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  <a:sym typeface="Huawei Sans" panose="020C0503030203020204" pitchFamily="34" charset="0"/>
              </a:rPr>
              <a:t>AS123</a:t>
            </a:r>
            <a:endParaRPr lang="zh-CN" altLang="en-US" dirty="0">
              <a:solidFill>
                <a:schemeClr val="tx1"/>
              </a:solidFill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4798428" y="5645120"/>
            <a:ext cx="2941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发布路由过程图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6" name="直接箭头连接符 35"/>
          <p:cNvCxnSpPr/>
          <p:nvPr/>
        </p:nvCxnSpPr>
        <p:spPr bwMode="gray">
          <a:xfrm>
            <a:off x="7865885" y="4452955"/>
            <a:ext cx="1719274" cy="0"/>
          </a:xfrm>
          <a:prstGeom prst="straightConnector1">
            <a:avLst/>
          </a:prstGeom>
          <a:ln w="25400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 bwMode="gray">
          <a:xfrm>
            <a:off x="7327539" y="3849684"/>
            <a:ext cx="2896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路由中的拓展属性，产生不同类型的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LSA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65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应用与组网概述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典型场景部署介绍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OSPF VPN</a:t>
            </a:r>
            <a:r>
              <a:rPr lang="zh-CN" altLang="en-US" b="1" dirty="0" smtClean="0">
                <a:sym typeface="Huawei Sans" panose="020C0503030203020204" pitchFamily="34" charset="0"/>
              </a:rPr>
              <a:t>拓展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与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互操作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smtClean="0"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ym typeface="Huawei Sans" panose="020C0503030203020204" pitchFamily="34" charset="0"/>
              </a:rPr>
              <a:t>防环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 sham link</a:t>
            </a: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25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Type3</a:t>
            </a:r>
            <a:r>
              <a:rPr lang="zh-CN" altLang="en-US" dirty="0" smtClean="0">
                <a:sym typeface="Huawei Sans" panose="020C0503030203020204" pitchFamily="34" charset="0"/>
              </a:rPr>
              <a:t>路由防环：案例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如图是</a:t>
            </a:r>
            <a:r>
              <a:rPr lang="en-US" altLang="zh-CN" sz="1800" smtClean="0">
                <a:sym typeface="Huawei Sans" panose="020C0503030203020204" pitchFamily="34" charset="0"/>
              </a:rPr>
              <a:t>Type3 LSA</a:t>
            </a:r>
            <a:r>
              <a:rPr lang="zh-CN" altLang="en-US" sz="1800" smtClean="0">
                <a:sym typeface="Huawei Sans" panose="020C0503030203020204" pitchFamily="34" charset="0"/>
              </a:rPr>
              <a:t>路由产生环路的一个例子：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其中站点</a:t>
            </a:r>
            <a:r>
              <a:rPr lang="en-US" altLang="zh-CN" sz="1600" smtClean="0">
                <a:sym typeface="Huawei Sans" panose="020C0503030203020204" pitchFamily="34" charset="0"/>
              </a:rPr>
              <a:t>1</a:t>
            </a:r>
            <a:r>
              <a:rPr lang="zh-CN" altLang="en-US" sz="1600" smtClean="0">
                <a:sym typeface="Huawei Sans" panose="020C0503030203020204" pitchFamily="34" charset="0"/>
              </a:rPr>
              <a:t>和站点</a:t>
            </a:r>
            <a:r>
              <a:rPr lang="en-US" altLang="zh-CN" sz="1600" smtClean="0">
                <a:sym typeface="Huawei Sans" panose="020C0503030203020204" pitchFamily="34" charset="0"/>
              </a:rPr>
              <a:t>2</a:t>
            </a:r>
            <a:r>
              <a:rPr lang="zh-CN" altLang="en-US" sz="1600" smtClean="0">
                <a:sym typeface="Huawei Sans" panose="020C0503030203020204" pitchFamily="34" charset="0"/>
              </a:rPr>
              <a:t>都属于</a:t>
            </a:r>
            <a:r>
              <a:rPr lang="en-US" altLang="zh-CN" sz="1600" smtClean="0">
                <a:sym typeface="Huawei Sans" panose="020C0503030203020204" pitchFamily="34" charset="0"/>
              </a:rPr>
              <a:t>VPN1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站点</a:t>
            </a:r>
            <a:r>
              <a:rPr lang="en-US" altLang="zh-CN" sz="1600" smtClean="0">
                <a:sym typeface="Huawei Sans" panose="020C0503030203020204" pitchFamily="34" charset="0"/>
              </a:rPr>
              <a:t>1</a:t>
            </a:r>
            <a:r>
              <a:rPr lang="zh-CN" altLang="en-US" sz="1600" smtClean="0">
                <a:sym typeface="Huawei Sans" panose="020C0503030203020204" pitchFamily="34" charset="0"/>
              </a:rPr>
              <a:t>通过</a:t>
            </a:r>
            <a:r>
              <a:rPr lang="en-US" altLang="zh-CN" sz="1600" smtClean="0">
                <a:sym typeface="Huawei Sans" panose="020C0503030203020204" pitchFamily="34" charset="0"/>
              </a:rPr>
              <a:t>OSPF Area0</a:t>
            </a:r>
            <a:r>
              <a:rPr lang="zh-CN" altLang="en-US" sz="1600" smtClean="0">
                <a:sym typeface="Huawei Sans" panose="020C0503030203020204" pitchFamily="34" charset="0"/>
              </a:rPr>
              <a:t>接入骨干网的</a:t>
            </a:r>
            <a:r>
              <a:rPr lang="en-US" altLang="zh-CN" sz="1600" smtClean="0">
                <a:sym typeface="Huawei Sans" panose="020C0503030203020204" pitchFamily="34" charset="0"/>
              </a:rPr>
              <a:t>PE1</a:t>
            </a:r>
            <a:r>
              <a:rPr lang="zh-CN" altLang="en-US" sz="1600" smtClean="0">
                <a:sym typeface="Huawei Sans" panose="020C0503030203020204" pitchFamily="34" charset="0"/>
              </a:rPr>
              <a:t>；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站点</a:t>
            </a:r>
            <a:r>
              <a:rPr lang="en-US" altLang="zh-CN" sz="1600" smtClean="0">
                <a:sym typeface="Huawei Sans" panose="020C0503030203020204" pitchFamily="34" charset="0"/>
              </a:rPr>
              <a:t>2</a:t>
            </a:r>
            <a:r>
              <a:rPr lang="zh-CN" altLang="en-US" sz="1600" smtClean="0">
                <a:sym typeface="Huawei Sans" panose="020C0503030203020204" pitchFamily="34" charset="0"/>
              </a:rPr>
              <a:t>通过</a:t>
            </a:r>
            <a:r>
              <a:rPr lang="en-US" altLang="zh-CN" sz="1600" smtClean="0">
                <a:sym typeface="Huawei Sans" panose="020C0503030203020204" pitchFamily="34" charset="0"/>
              </a:rPr>
              <a:t>OSPF Area0</a:t>
            </a:r>
            <a:r>
              <a:rPr lang="zh-CN" altLang="en-US" sz="1600" smtClean="0">
                <a:sym typeface="Huawei Sans" panose="020C0503030203020204" pitchFamily="34" charset="0"/>
              </a:rPr>
              <a:t>分别接入骨干网的</a:t>
            </a:r>
            <a:r>
              <a:rPr lang="en-US" altLang="zh-CN" sz="1600" smtClean="0">
                <a:sym typeface="Huawei Sans" panose="020C0503030203020204" pitchFamily="34" charset="0"/>
              </a:rPr>
              <a:t>PE2</a:t>
            </a:r>
            <a:r>
              <a:rPr lang="zh-CN" altLang="en-US" sz="1600" smtClean="0">
                <a:sym typeface="Huawei Sans" panose="020C0503030203020204" pitchFamily="34" charset="0"/>
              </a:rPr>
              <a:t>和</a:t>
            </a:r>
            <a:r>
              <a:rPr lang="en-US" altLang="zh-CN" sz="1600" smtClean="0">
                <a:sym typeface="Huawei Sans" panose="020C0503030203020204" pitchFamily="34" charset="0"/>
              </a:rPr>
              <a:t>PE3</a:t>
            </a:r>
            <a:r>
              <a:rPr lang="zh-CN" altLang="en-US" sz="1600" smtClean="0">
                <a:sym typeface="Huawei Sans" panose="020C0503030203020204" pitchFamily="34" charset="0"/>
              </a:rPr>
              <a:t>（双归属负载分担场景）。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4" name="Freeform 4"/>
          <p:cNvSpPr>
            <a:spLocks noChangeAspect="1"/>
          </p:cNvSpPr>
          <p:nvPr/>
        </p:nvSpPr>
        <p:spPr bwMode="gray">
          <a:xfrm>
            <a:off x="1594177" y="4279202"/>
            <a:ext cx="1786818" cy="1261219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Rounded Rectangle 36"/>
          <p:cNvSpPr/>
          <p:nvPr/>
        </p:nvSpPr>
        <p:spPr bwMode="gray">
          <a:xfrm>
            <a:off x="4368925" y="4099099"/>
            <a:ext cx="3365809" cy="1441322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Freeform 4"/>
          <p:cNvSpPr>
            <a:spLocks noChangeAspect="1"/>
          </p:cNvSpPr>
          <p:nvPr/>
        </p:nvSpPr>
        <p:spPr bwMode="gray">
          <a:xfrm>
            <a:off x="8741030" y="4279203"/>
            <a:ext cx="1423458" cy="126121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gray">
          <a:xfrm>
            <a:off x="7511394" y="5718314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gray">
          <a:xfrm>
            <a:off x="5910148" y="4976442"/>
            <a:ext cx="28725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gray">
          <a:xfrm>
            <a:off x="4105965" y="4976442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11" idx="3"/>
            <a:endCxn id="21" idx="1"/>
          </p:cNvCxnSpPr>
          <p:nvPr/>
        </p:nvCxnSpPr>
        <p:spPr bwMode="gray">
          <a:xfrm flipV="1">
            <a:off x="7974943" y="4719789"/>
            <a:ext cx="939713" cy="7836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>
            <a:stCxn id="12" idx="1"/>
            <a:endCxn id="20" idx="3"/>
          </p:cNvCxnSpPr>
          <p:nvPr/>
        </p:nvCxnSpPr>
        <p:spPr bwMode="gray">
          <a:xfrm flipH="1">
            <a:off x="3158200" y="4719789"/>
            <a:ext cx="96145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图片 1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91867" y="4505648"/>
            <a:ext cx="540000" cy="442800"/>
          </a:xfrm>
          <a:prstGeom prst="rect">
            <a:avLst/>
          </a:prstGeom>
        </p:spPr>
      </p:pic>
      <p:cxnSp>
        <p:nvCxnSpPr>
          <p:cNvPr id="15" name="直接连接符 14"/>
          <p:cNvCxnSpPr>
            <a:stCxn id="12" idx="3"/>
            <a:endCxn id="14" idx="1"/>
          </p:cNvCxnSpPr>
          <p:nvPr/>
        </p:nvCxnSpPr>
        <p:spPr bwMode="gray">
          <a:xfrm>
            <a:off x="4659651" y="4719789"/>
            <a:ext cx="11322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>
            <a:stCxn id="14" idx="3"/>
            <a:endCxn id="11" idx="1"/>
          </p:cNvCxnSpPr>
          <p:nvPr/>
        </p:nvCxnSpPr>
        <p:spPr bwMode="gray">
          <a:xfrm>
            <a:off x="6331867" y="4727048"/>
            <a:ext cx="1103076" cy="7763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 Box 18"/>
          <p:cNvSpPr txBox="1">
            <a:spLocks noChangeArrowheads="1"/>
          </p:cNvSpPr>
          <p:nvPr/>
        </p:nvSpPr>
        <p:spPr bwMode="gray">
          <a:xfrm>
            <a:off x="2614828" y="4937648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618200" y="5254512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9564292" y="5267310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gray">
          <a:xfrm>
            <a:off x="7459485" y="3627284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" name="直接连接符 29"/>
          <p:cNvCxnSpPr>
            <a:stCxn id="14" idx="3"/>
            <a:endCxn id="29" idx="1"/>
          </p:cNvCxnSpPr>
          <p:nvPr/>
        </p:nvCxnSpPr>
        <p:spPr bwMode="gray">
          <a:xfrm flipV="1">
            <a:off x="6331867" y="4088029"/>
            <a:ext cx="1103076" cy="639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/>
          <p:cNvCxnSpPr>
            <a:stCxn id="29" idx="3"/>
            <a:endCxn id="21" idx="1"/>
          </p:cNvCxnSpPr>
          <p:nvPr/>
        </p:nvCxnSpPr>
        <p:spPr bwMode="gray">
          <a:xfrm>
            <a:off x="7974943" y="4088029"/>
            <a:ext cx="939713" cy="63176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AutoShape 29"/>
          <p:cNvSpPr>
            <a:spLocks noChangeArrowheads="1"/>
          </p:cNvSpPr>
          <p:nvPr/>
        </p:nvSpPr>
        <p:spPr bwMode="gray">
          <a:xfrm>
            <a:off x="3001914" y="3913669"/>
            <a:ext cx="1428590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 LSA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弧形 33"/>
          <p:cNvSpPr/>
          <p:nvPr/>
        </p:nvSpPr>
        <p:spPr bwMode="gray">
          <a:xfrm rot="15614839">
            <a:off x="5430887" y="2907834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AutoShape 29"/>
          <p:cNvSpPr>
            <a:spLocks noChangeArrowheads="1"/>
          </p:cNvSpPr>
          <p:nvPr/>
        </p:nvSpPr>
        <p:spPr bwMode="gray">
          <a:xfrm rot="20441682">
            <a:off x="5193989" y="3494068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弧形 35"/>
          <p:cNvSpPr/>
          <p:nvPr/>
        </p:nvSpPr>
        <p:spPr bwMode="gray">
          <a:xfrm rot="18014889">
            <a:off x="8106744" y="3557051"/>
            <a:ext cx="635436" cy="1300949"/>
          </a:xfrm>
          <a:prstGeom prst="arc">
            <a:avLst>
              <a:gd name="adj1" fmla="val 16907101"/>
              <a:gd name="adj2" fmla="val 5001890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AutoShape 29"/>
          <p:cNvSpPr>
            <a:spLocks noChangeArrowheads="1"/>
          </p:cNvSpPr>
          <p:nvPr/>
        </p:nvSpPr>
        <p:spPr bwMode="gray">
          <a:xfrm rot="2043903">
            <a:off x="8183103" y="3636680"/>
            <a:ext cx="1115853" cy="270722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 LSA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弧形 37"/>
          <p:cNvSpPr/>
          <p:nvPr/>
        </p:nvSpPr>
        <p:spPr bwMode="gray">
          <a:xfrm rot="3491107">
            <a:off x="8085678" y="4532079"/>
            <a:ext cx="635436" cy="1300949"/>
          </a:xfrm>
          <a:prstGeom prst="arc">
            <a:avLst>
              <a:gd name="adj1" fmla="val 16907101"/>
              <a:gd name="adj2" fmla="val 4399471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AutoShape 29"/>
          <p:cNvSpPr>
            <a:spLocks noChangeArrowheads="1"/>
          </p:cNvSpPr>
          <p:nvPr/>
        </p:nvSpPr>
        <p:spPr bwMode="gray">
          <a:xfrm>
            <a:off x="4966473" y="5783797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 bwMode="gray">
          <a:xfrm rot="16200000">
            <a:off x="2397732" y="4606109"/>
            <a:ext cx="220468" cy="220468"/>
            <a:chOff x="468317" y="3414713"/>
            <a:chExt cx="446083" cy="446083"/>
          </a:xfrm>
        </p:grpSpPr>
        <p:cxnSp>
          <p:nvCxnSpPr>
            <p:cNvPr id="44" name="直接连接符 43"/>
            <p:cNvCxnSpPr/>
            <p:nvPr/>
          </p:nvCxnSpPr>
          <p:spPr bwMode="gray">
            <a:xfrm>
              <a:off x="468317" y="3414713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 bwMode="gray">
            <a:xfrm rot="16200000">
              <a:off x="468317" y="3637755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Freeform 159"/>
          <p:cNvSpPr/>
          <p:nvPr/>
        </p:nvSpPr>
        <p:spPr bwMode="gray">
          <a:xfrm flipH="1">
            <a:off x="1104000" y="4181098"/>
            <a:ext cx="1467964" cy="76735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1104000" y="4518800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192.168.1.0/24</a:t>
            </a:r>
            <a:endParaRPr lang="zh-CN" altLang="en-US" sz="1400" dirty="0"/>
          </a:p>
        </p:txBody>
      </p:sp>
      <p:sp>
        <p:nvSpPr>
          <p:cNvPr id="49" name="椭圆 48"/>
          <p:cNvSpPr/>
          <p:nvPr/>
        </p:nvSpPr>
        <p:spPr bwMode="gray">
          <a:xfrm>
            <a:off x="3001914" y="4330160"/>
            <a:ext cx="1365577" cy="793775"/>
          </a:xfrm>
          <a:prstGeom prst="ellipse">
            <a:avLst/>
          </a:prstGeom>
          <a:noFill/>
          <a:ln>
            <a:solidFill>
              <a:srgbClr val="30B5C5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 bwMode="gray">
          <a:xfrm>
            <a:off x="3262928" y="4769911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/>
              <a:t>OSPF</a:t>
            </a:r>
          </a:p>
          <a:p>
            <a:pPr algn="ctr"/>
            <a:r>
              <a:rPr lang="en-US" altLang="zh-CN" dirty="0" smtClean="0"/>
              <a:t>Area 0</a:t>
            </a:r>
            <a:endParaRPr lang="zh-CN" altLang="en-US" dirty="0"/>
          </a:p>
        </p:txBody>
      </p:sp>
      <p:cxnSp>
        <p:nvCxnSpPr>
          <p:cNvPr id="52" name="直接箭头连接符 51"/>
          <p:cNvCxnSpPr/>
          <p:nvPr/>
        </p:nvCxnSpPr>
        <p:spPr bwMode="gray">
          <a:xfrm>
            <a:off x="3380995" y="4260241"/>
            <a:ext cx="532500" cy="0"/>
          </a:xfrm>
          <a:prstGeom prst="straightConnector1">
            <a:avLst/>
          </a:prstGeom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弧形 52"/>
          <p:cNvSpPr/>
          <p:nvPr/>
        </p:nvSpPr>
        <p:spPr bwMode="gray">
          <a:xfrm rot="6358682">
            <a:off x="5341499" y="3492600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gray">
          <a:xfrm>
            <a:off x="9367843" y="4573159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椭圆 54"/>
          <p:cNvSpPr/>
          <p:nvPr/>
        </p:nvSpPr>
        <p:spPr bwMode="gray">
          <a:xfrm>
            <a:off x="7428114" y="3923262"/>
            <a:ext cx="1549814" cy="2028771"/>
          </a:xfrm>
          <a:prstGeom prst="ellipse">
            <a:avLst/>
          </a:prstGeom>
          <a:noFill/>
          <a:ln>
            <a:solidFill>
              <a:srgbClr val="30B5C5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 bwMode="gray">
          <a:xfrm>
            <a:off x="7819630" y="4477604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/>
              <a:t>OSPF</a:t>
            </a:r>
          </a:p>
          <a:p>
            <a:pPr algn="ctr"/>
            <a:r>
              <a:rPr lang="en-US" altLang="zh-CN" dirty="0" smtClean="0"/>
              <a:t>Area 0</a:t>
            </a:r>
            <a:endParaRPr lang="zh-CN" altLang="en-US" dirty="0"/>
          </a:p>
        </p:txBody>
      </p:sp>
      <p:sp>
        <p:nvSpPr>
          <p:cNvPr id="39" name="AutoShape 29"/>
          <p:cNvSpPr>
            <a:spLocks noChangeArrowheads="1"/>
          </p:cNvSpPr>
          <p:nvPr/>
        </p:nvSpPr>
        <p:spPr bwMode="gray">
          <a:xfrm rot="19631777">
            <a:off x="8244698" y="5456708"/>
            <a:ext cx="1135056" cy="290133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 LSA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" name="图片 1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34943" y="5282026"/>
            <a:ext cx="540000" cy="442800"/>
          </a:xfrm>
          <a:prstGeom prst="rect">
            <a:avLst/>
          </a:prstGeom>
        </p:spPr>
      </p:pic>
      <p:pic>
        <p:nvPicPr>
          <p:cNvPr id="21" name="图片 2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14656" y="4498389"/>
            <a:ext cx="540000" cy="442800"/>
          </a:xfrm>
          <a:prstGeom prst="rect">
            <a:avLst/>
          </a:prstGeom>
        </p:spPr>
      </p:pic>
      <p:pic>
        <p:nvPicPr>
          <p:cNvPr id="29" name="图片 2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34943" y="3866629"/>
            <a:ext cx="540000" cy="442800"/>
          </a:xfrm>
          <a:prstGeom prst="rect">
            <a:avLst/>
          </a:prstGeom>
        </p:spPr>
      </p:pic>
      <p:pic>
        <p:nvPicPr>
          <p:cNvPr id="12" name="图片 1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19651" y="4498389"/>
            <a:ext cx="540000" cy="442800"/>
          </a:xfrm>
          <a:prstGeom prst="rect">
            <a:avLst/>
          </a:prstGeom>
        </p:spPr>
      </p:pic>
      <p:pic>
        <p:nvPicPr>
          <p:cNvPr id="20" name="图片 1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18200" y="4498389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4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Type3</a:t>
            </a:r>
            <a:r>
              <a:rPr lang="zh-CN" altLang="en-US" dirty="0" smtClean="0">
                <a:sym typeface="Huawei Sans" panose="020C0503030203020204" pitchFamily="34" charset="0"/>
              </a:rPr>
              <a:t>路由防环：</a:t>
            </a:r>
            <a:r>
              <a:rPr lang="en-US" altLang="zh-CN" dirty="0" smtClean="0">
                <a:sym typeface="Huawei Sans" panose="020C0503030203020204" pitchFamily="34" charset="0"/>
              </a:rPr>
              <a:t>DN</a:t>
            </a:r>
            <a:r>
              <a:rPr lang="zh-CN" altLang="en-US" dirty="0" smtClean="0">
                <a:sym typeface="Huawei Sans" panose="020C0503030203020204" pitchFamily="34" charset="0"/>
              </a:rPr>
              <a:t>位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为了防止</a:t>
            </a:r>
            <a:r>
              <a:rPr lang="en-US" altLang="zh-CN" sz="1800" smtClean="0">
                <a:sym typeface="Huawei Sans" panose="020C0503030203020204" pitchFamily="34" charset="0"/>
              </a:rPr>
              <a:t>3</a:t>
            </a:r>
            <a:r>
              <a:rPr lang="zh-CN" altLang="en-US" sz="1800" smtClean="0">
                <a:sym typeface="Huawei Sans" panose="020C0503030203020204" pitchFamily="34" charset="0"/>
              </a:rPr>
              <a:t>类</a:t>
            </a:r>
            <a:r>
              <a:rPr lang="en-US" altLang="zh-CN" sz="1800" smtClean="0">
                <a:sym typeface="Huawei Sans" panose="020C0503030203020204" pitchFamily="34" charset="0"/>
              </a:rPr>
              <a:t>LSA</a:t>
            </a:r>
            <a:r>
              <a:rPr lang="zh-CN" altLang="en-US" sz="1800" smtClean="0">
                <a:sym typeface="Huawei Sans" panose="020C0503030203020204" pitchFamily="34" charset="0"/>
              </a:rPr>
              <a:t>环路，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多实例进程使用</a:t>
            </a:r>
            <a:r>
              <a:rPr lang="en-US" altLang="zh-CN" sz="1800" smtClean="0">
                <a:sym typeface="Huawei Sans" panose="020C0503030203020204" pitchFamily="34" charset="0"/>
              </a:rPr>
              <a:t>LSA Options</a:t>
            </a:r>
            <a:r>
              <a:rPr lang="zh-CN" altLang="en-US" sz="1800" smtClean="0">
                <a:sym typeface="Huawei Sans" panose="020C0503030203020204" pitchFamily="34" charset="0"/>
              </a:rPr>
              <a:t>域中一个原先未使用的比特作为标志位，称为</a:t>
            </a:r>
            <a:r>
              <a:rPr lang="en-US" altLang="zh-CN" sz="1800" smtClean="0">
                <a:sym typeface="Huawei Sans" panose="020C0503030203020204" pitchFamily="34" charset="0"/>
              </a:rPr>
              <a:t>DN</a:t>
            </a:r>
            <a:r>
              <a:rPr lang="zh-CN" altLang="en-US" sz="1800" smtClean="0">
                <a:sym typeface="Huawei Sans" panose="020C0503030203020204" pitchFamily="34" charset="0"/>
              </a:rPr>
              <a:t>位。使用</a:t>
            </a:r>
            <a:r>
              <a:rPr lang="en-US" altLang="zh-CN" sz="1800" smtClean="0">
                <a:sym typeface="Huawei Sans" panose="020C0503030203020204" pitchFamily="34" charset="0"/>
              </a:rPr>
              <a:t>DN</a:t>
            </a:r>
            <a:r>
              <a:rPr lang="zh-CN" altLang="en-US" sz="1800" smtClean="0">
                <a:sym typeface="Huawei Sans" panose="020C0503030203020204" pitchFamily="34" charset="0"/>
              </a:rPr>
              <a:t>位可以防止</a:t>
            </a:r>
            <a:r>
              <a:rPr lang="en-US" altLang="zh-CN" sz="1800" smtClean="0">
                <a:sym typeface="Huawei Sans" panose="020C0503030203020204" pitchFamily="34" charset="0"/>
              </a:rPr>
              <a:t>Type3 LSA</a:t>
            </a:r>
            <a:r>
              <a:rPr lang="zh-CN" altLang="en-US" sz="1800" smtClean="0">
                <a:sym typeface="Huawei Sans" panose="020C0503030203020204" pitchFamily="34" charset="0"/>
              </a:rPr>
              <a:t>环路。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en-US" altLang="zh-CN" sz="1800" smtClean="0">
                <a:sym typeface="Huawei Sans" panose="020C0503030203020204" pitchFamily="34" charset="0"/>
              </a:rPr>
              <a:t>PE</a:t>
            </a:r>
            <a:r>
              <a:rPr lang="zh-CN" altLang="en-US" sz="1800" smtClean="0">
                <a:sym typeface="Huawei Sans" panose="020C0503030203020204" pitchFamily="34" charset="0"/>
              </a:rPr>
              <a:t>路由器的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实例进程在进行</a:t>
            </a:r>
            <a:r>
              <a:rPr lang="en-US" altLang="zh-CN" sz="1800" smtClean="0">
                <a:sym typeface="Huawei Sans" panose="020C0503030203020204" pitchFamily="34" charset="0"/>
              </a:rPr>
              <a:t>SPF</a:t>
            </a:r>
            <a:r>
              <a:rPr lang="zh-CN" altLang="en-US" sz="1800" smtClean="0">
                <a:sym typeface="Huawei Sans" panose="020C0503030203020204" pitchFamily="34" charset="0"/>
              </a:rPr>
              <a:t>计算时，忽略</a:t>
            </a:r>
            <a:r>
              <a:rPr lang="en-US" altLang="zh-CN" sz="1800" smtClean="0">
                <a:sym typeface="Huawei Sans" panose="020C0503030203020204" pitchFamily="34" charset="0"/>
              </a:rPr>
              <a:t>DN</a:t>
            </a:r>
            <a:r>
              <a:rPr lang="zh-CN" altLang="en-US" sz="1800" smtClean="0">
                <a:sym typeface="Huawei Sans" panose="020C0503030203020204" pitchFamily="34" charset="0"/>
              </a:rPr>
              <a:t>置位的</a:t>
            </a:r>
            <a:r>
              <a:rPr lang="en-US" altLang="zh-CN" sz="1800" smtClean="0">
                <a:sym typeface="Huawei Sans" panose="020C0503030203020204" pitchFamily="34" charset="0"/>
              </a:rPr>
              <a:t>Type3 LSA</a:t>
            </a:r>
            <a:r>
              <a:rPr lang="zh-CN" altLang="en-US" sz="1800" smtClean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2" name="Freeform 4"/>
          <p:cNvSpPr>
            <a:spLocks noChangeAspect="1"/>
          </p:cNvSpPr>
          <p:nvPr/>
        </p:nvSpPr>
        <p:spPr bwMode="gray">
          <a:xfrm>
            <a:off x="1594177" y="3959162"/>
            <a:ext cx="1786818" cy="1261219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Rounded Rectangle 36"/>
          <p:cNvSpPr/>
          <p:nvPr/>
        </p:nvSpPr>
        <p:spPr bwMode="gray">
          <a:xfrm>
            <a:off x="4368925" y="3779059"/>
            <a:ext cx="3365809" cy="1441322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Freeform 4"/>
          <p:cNvSpPr>
            <a:spLocks noChangeAspect="1"/>
          </p:cNvSpPr>
          <p:nvPr/>
        </p:nvSpPr>
        <p:spPr bwMode="gray">
          <a:xfrm>
            <a:off x="8741030" y="3959163"/>
            <a:ext cx="1423458" cy="126121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gray">
          <a:xfrm>
            <a:off x="7511394" y="5398274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gray">
          <a:xfrm>
            <a:off x="5910148" y="4656402"/>
            <a:ext cx="28725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</a:p>
        </p:txBody>
      </p:sp>
      <p:sp>
        <p:nvSpPr>
          <p:cNvPr id="47" name="Text Box 18"/>
          <p:cNvSpPr txBox="1">
            <a:spLocks noChangeArrowheads="1"/>
          </p:cNvSpPr>
          <p:nvPr/>
        </p:nvSpPr>
        <p:spPr bwMode="gray">
          <a:xfrm>
            <a:off x="4105965" y="4656402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8" name="直接连接符 47"/>
          <p:cNvCxnSpPr>
            <a:stCxn id="49" idx="3"/>
            <a:endCxn id="58" idx="1"/>
          </p:cNvCxnSpPr>
          <p:nvPr/>
        </p:nvCxnSpPr>
        <p:spPr bwMode="gray">
          <a:xfrm flipV="1">
            <a:off x="7974943" y="4399749"/>
            <a:ext cx="939713" cy="7836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9" name="图片 4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34943" y="4961986"/>
            <a:ext cx="540000" cy="442800"/>
          </a:xfrm>
          <a:prstGeom prst="rect">
            <a:avLst/>
          </a:prstGeom>
        </p:spPr>
      </p:pic>
      <p:cxnSp>
        <p:nvCxnSpPr>
          <p:cNvPr id="51" name="直接连接符 50"/>
          <p:cNvCxnSpPr>
            <a:stCxn id="50" idx="1"/>
            <a:endCxn id="57" idx="3"/>
          </p:cNvCxnSpPr>
          <p:nvPr/>
        </p:nvCxnSpPr>
        <p:spPr bwMode="gray">
          <a:xfrm flipH="1">
            <a:off x="3158200" y="4399749"/>
            <a:ext cx="96145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2" name="图片 5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91867" y="4185608"/>
            <a:ext cx="540000" cy="442800"/>
          </a:xfrm>
          <a:prstGeom prst="rect">
            <a:avLst/>
          </a:prstGeom>
        </p:spPr>
      </p:pic>
      <p:cxnSp>
        <p:nvCxnSpPr>
          <p:cNvPr id="53" name="直接连接符 52"/>
          <p:cNvCxnSpPr>
            <a:stCxn id="50" idx="3"/>
            <a:endCxn id="52" idx="1"/>
          </p:cNvCxnSpPr>
          <p:nvPr/>
        </p:nvCxnSpPr>
        <p:spPr bwMode="gray">
          <a:xfrm>
            <a:off x="4659651" y="4399749"/>
            <a:ext cx="11322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直接连接符 53"/>
          <p:cNvCxnSpPr>
            <a:stCxn id="52" idx="3"/>
            <a:endCxn id="49" idx="1"/>
          </p:cNvCxnSpPr>
          <p:nvPr/>
        </p:nvCxnSpPr>
        <p:spPr bwMode="gray">
          <a:xfrm>
            <a:off x="6331867" y="4407008"/>
            <a:ext cx="1103076" cy="7763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 Box 18"/>
          <p:cNvSpPr txBox="1">
            <a:spLocks noChangeArrowheads="1"/>
          </p:cNvSpPr>
          <p:nvPr/>
        </p:nvSpPr>
        <p:spPr bwMode="gray">
          <a:xfrm>
            <a:off x="2614828" y="4617608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gray">
          <a:xfrm>
            <a:off x="9367843" y="4253119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8" name="图片 5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14656" y="4178349"/>
            <a:ext cx="540000" cy="442800"/>
          </a:xfrm>
          <a:prstGeom prst="rect">
            <a:avLst/>
          </a:prstGeom>
        </p:spPr>
      </p:pic>
      <p:sp>
        <p:nvSpPr>
          <p:cNvPr id="61" name="矩形 60"/>
          <p:cNvSpPr/>
          <p:nvPr/>
        </p:nvSpPr>
        <p:spPr bwMode="gray">
          <a:xfrm>
            <a:off x="2618200" y="4934472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9564292" y="4947270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Text Box 18"/>
          <p:cNvSpPr txBox="1">
            <a:spLocks noChangeArrowheads="1"/>
          </p:cNvSpPr>
          <p:nvPr/>
        </p:nvSpPr>
        <p:spPr bwMode="gray">
          <a:xfrm>
            <a:off x="7459485" y="3307244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4" name="图片 6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34943" y="3546589"/>
            <a:ext cx="540000" cy="442800"/>
          </a:xfrm>
          <a:prstGeom prst="rect">
            <a:avLst/>
          </a:prstGeom>
        </p:spPr>
      </p:pic>
      <p:cxnSp>
        <p:nvCxnSpPr>
          <p:cNvPr id="65" name="直接连接符 64"/>
          <p:cNvCxnSpPr>
            <a:stCxn id="52" idx="3"/>
            <a:endCxn id="64" idx="1"/>
          </p:cNvCxnSpPr>
          <p:nvPr/>
        </p:nvCxnSpPr>
        <p:spPr bwMode="gray">
          <a:xfrm flipV="1">
            <a:off x="6331867" y="3767989"/>
            <a:ext cx="1103076" cy="639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接连接符 65"/>
          <p:cNvCxnSpPr>
            <a:stCxn id="64" idx="3"/>
            <a:endCxn id="58" idx="1"/>
          </p:cNvCxnSpPr>
          <p:nvPr/>
        </p:nvCxnSpPr>
        <p:spPr bwMode="gray">
          <a:xfrm>
            <a:off x="7974943" y="3767989"/>
            <a:ext cx="939713" cy="63176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AutoShape 29"/>
          <p:cNvSpPr>
            <a:spLocks noChangeArrowheads="1"/>
          </p:cNvSpPr>
          <p:nvPr/>
        </p:nvSpPr>
        <p:spPr bwMode="gray">
          <a:xfrm>
            <a:off x="3001914" y="3593629"/>
            <a:ext cx="1428590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 LSA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弧形 67"/>
          <p:cNvSpPr/>
          <p:nvPr/>
        </p:nvSpPr>
        <p:spPr bwMode="gray">
          <a:xfrm rot="15614839">
            <a:off x="5430887" y="2587794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AutoShape 29"/>
          <p:cNvSpPr>
            <a:spLocks noChangeArrowheads="1"/>
          </p:cNvSpPr>
          <p:nvPr/>
        </p:nvSpPr>
        <p:spPr bwMode="gray">
          <a:xfrm rot="20441682">
            <a:off x="5193989" y="3174028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弧形 69"/>
          <p:cNvSpPr/>
          <p:nvPr/>
        </p:nvSpPr>
        <p:spPr bwMode="gray">
          <a:xfrm rot="18014889">
            <a:off x="8106744" y="3237011"/>
            <a:ext cx="635436" cy="1300949"/>
          </a:xfrm>
          <a:prstGeom prst="arc">
            <a:avLst>
              <a:gd name="adj1" fmla="val 16907101"/>
              <a:gd name="adj2" fmla="val 5001890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AutoShape 29"/>
          <p:cNvSpPr>
            <a:spLocks noChangeArrowheads="1"/>
          </p:cNvSpPr>
          <p:nvPr/>
        </p:nvSpPr>
        <p:spPr bwMode="gray">
          <a:xfrm rot="2043903">
            <a:off x="8227701" y="3242502"/>
            <a:ext cx="1277474" cy="479475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 LSA</a:t>
            </a:r>
          </a:p>
          <a:p>
            <a:pPr algn="ctr" defTabSz="91440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DN=1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弧形 71"/>
          <p:cNvSpPr/>
          <p:nvPr/>
        </p:nvSpPr>
        <p:spPr bwMode="gray">
          <a:xfrm rot="3491107">
            <a:off x="8085678" y="4212039"/>
            <a:ext cx="635436" cy="1300949"/>
          </a:xfrm>
          <a:prstGeom prst="arc">
            <a:avLst>
              <a:gd name="adj1" fmla="val 16907101"/>
              <a:gd name="adj2" fmla="val 4399471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AutoShape 29"/>
          <p:cNvSpPr>
            <a:spLocks noChangeArrowheads="1"/>
          </p:cNvSpPr>
          <p:nvPr/>
        </p:nvSpPr>
        <p:spPr bwMode="gray">
          <a:xfrm>
            <a:off x="4966473" y="5463757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5" name="组合 74"/>
          <p:cNvGrpSpPr/>
          <p:nvPr/>
        </p:nvGrpSpPr>
        <p:grpSpPr bwMode="gray">
          <a:xfrm rot="16200000">
            <a:off x="2397732" y="4286069"/>
            <a:ext cx="220468" cy="220468"/>
            <a:chOff x="468317" y="3414713"/>
            <a:chExt cx="446083" cy="446083"/>
          </a:xfrm>
        </p:grpSpPr>
        <p:cxnSp>
          <p:nvCxnSpPr>
            <p:cNvPr id="76" name="直接连接符 75"/>
            <p:cNvCxnSpPr/>
            <p:nvPr/>
          </p:nvCxnSpPr>
          <p:spPr bwMode="gray">
            <a:xfrm>
              <a:off x="468317" y="3414713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 bwMode="gray">
            <a:xfrm rot="16200000">
              <a:off x="468317" y="3637755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Freeform 159"/>
          <p:cNvSpPr/>
          <p:nvPr/>
        </p:nvSpPr>
        <p:spPr bwMode="gray">
          <a:xfrm flipH="1">
            <a:off x="1104000" y="3861058"/>
            <a:ext cx="1467964" cy="76735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1104000" y="4198760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192.168.1.0/24</a:t>
            </a:r>
            <a:endParaRPr lang="zh-CN" altLang="en-US" sz="1400" dirty="0"/>
          </a:p>
        </p:txBody>
      </p:sp>
      <p:sp>
        <p:nvSpPr>
          <p:cNvPr id="80" name="椭圆 79"/>
          <p:cNvSpPr/>
          <p:nvPr/>
        </p:nvSpPr>
        <p:spPr bwMode="gray">
          <a:xfrm>
            <a:off x="3001914" y="4010120"/>
            <a:ext cx="1365577" cy="793775"/>
          </a:xfrm>
          <a:prstGeom prst="ellipse">
            <a:avLst/>
          </a:prstGeom>
          <a:noFill/>
          <a:ln>
            <a:solidFill>
              <a:srgbClr val="30B5C5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 bwMode="gray">
          <a:xfrm>
            <a:off x="3262928" y="4449871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/>
              <a:t>OSPF</a:t>
            </a:r>
          </a:p>
          <a:p>
            <a:pPr algn="ctr"/>
            <a:r>
              <a:rPr lang="en-US" altLang="zh-CN" dirty="0" smtClean="0"/>
              <a:t>Area 0</a:t>
            </a:r>
            <a:endParaRPr lang="zh-CN" altLang="en-US" dirty="0"/>
          </a:p>
        </p:txBody>
      </p:sp>
      <p:cxnSp>
        <p:nvCxnSpPr>
          <p:cNvPr id="82" name="直接箭头连接符 81"/>
          <p:cNvCxnSpPr/>
          <p:nvPr/>
        </p:nvCxnSpPr>
        <p:spPr bwMode="gray">
          <a:xfrm>
            <a:off x="3380995" y="3940201"/>
            <a:ext cx="532500" cy="0"/>
          </a:xfrm>
          <a:prstGeom prst="straightConnector1">
            <a:avLst/>
          </a:prstGeom>
          <a:ln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弧形 82"/>
          <p:cNvSpPr/>
          <p:nvPr/>
        </p:nvSpPr>
        <p:spPr bwMode="gray">
          <a:xfrm rot="6358682">
            <a:off x="5341499" y="3172560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AutoShape 29"/>
          <p:cNvSpPr>
            <a:spLocks noChangeArrowheads="1"/>
          </p:cNvSpPr>
          <p:nvPr/>
        </p:nvSpPr>
        <p:spPr bwMode="gray">
          <a:xfrm rot="19218728">
            <a:off x="8280927" y="5022966"/>
            <a:ext cx="1277474" cy="479475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 LSA</a:t>
            </a:r>
          </a:p>
          <a:p>
            <a:pPr algn="ctr" defTabSz="91440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DN=1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 bwMode="gray">
          <a:xfrm>
            <a:off x="5960935" y="5290727"/>
            <a:ext cx="513908" cy="513908"/>
            <a:chOff x="856677" y="2615810"/>
            <a:chExt cx="288000" cy="288000"/>
          </a:xfrm>
        </p:grpSpPr>
        <p:sp>
          <p:nvSpPr>
            <p:cNvPr id="60" name="椭圆 59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73" name="组合 72"/>
            <p:cNvGrpSpPr/>
            <p:nvPr/>
          </p:nvGrpSpPr>
          <p:grpSpPr bwMode="gray">
            <a:xfrm>
              <a:off x="923444" y="2692169"/>
              <a:ext cx="144001" cy="144002"/>
              <a:chOff x="898853" y="2657982"/>
              <a:chExt cx="203649" cy="203652"/>
            </a:xfrm>
          </p:grpSpPr>
          <p:cxnSp>
            <p:nvCxnSpPr>
              <p:cNvPr id="90" name="直接连接符 89"/>
              <p:cNvCxnSpPr>
                <a:stCxn id="60" idx="3"/>
                <a:endCxn id="60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>
                <a:stCxn id="60" idx="1"/>
                <a:endCxn id="60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文本框 3"/>
          <p:cNvSpPr txBox="1"/>
          <p:nvPr/>
        </p:nvSpPr>
        <p:spPr bwMode="gray">
          <a:xfrm>
            <a:off x="7237821" y="4415272"/>
            <a:ext cx="96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/>
              <a:t>不进行</a:t>
            </a:r>
            <a:r>
              <a:rPr lang="en-US" altLang="zh-CN" sz="1600" b="1" dirty="0" smtClean="0"/>
              <a:t>LSA</a:t>
            </a:r>
            <a:r>
              <a:rPr lang="zh-CN" altLang="en-US" sz="1600" b="1" dirty="0" smtClean="0"/>
              <a:t>计算</a:t>
            </a:r>
            <a:endParaRPr lang="zh-CN" altLang="en-US" sz="1600" b="1" dirty="0"/>
          </a:p>
        </p:txBody>
      </p:sp>
      <p:pic>
        <p:nvPicPr>
          <p:cNvPr id="50" name="图片 4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19651" y="4178349"/>
            <a:ext cx="540000" cy="442800"/>
          </a:xfrm>
          <a:prstGeom prst="rect">
            <a:avLst/>
          </a:prstGeom>
        </p:spPr>
      </p:pic>
      <p:pic>
        <p:nvPicPr>
          <p:cNvPr id="57" name="图片 5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18200" y="4178349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1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/>
              <a:t>Type5/7</a:t>
            </a:r>
            <a:r>
              <a:rPr lang="zh-CN" altLang="en-US" dirty="0" smtClean="0"/>
              <a:t>路由防环：案例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如图是</a:t>
            </a:r>
            <a:r>
              <a:rPr lang="en-US" altLang="zh-CN" sz="1800" smtClean="0">
                <a:sym typeface="Huawei Sans" panose="020C0503030203020204" pitchFamily="34" charset="0"/>
              </a:rPr>
              <a:t>Type5 LSA</a:t>
            </a:r>
            <a:r>
              <a:rPr lang="zh-CN" altLang="en-US" sz="1800" smtClean="0">
                <a:sym typeface="Huawei Sans" panose="020C0503030203020204" pitchFamily="34" charset="0"/>
              </a:rPr>
              <a:t>路由产生环路的一个例子：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其中站点</a:t>
            </a:r>
            <a:r>
              <a:rPr lang="en-US" altLang="zh-CN" sz="1600" smtClean="0">
                <a:sym typeface="Huawei Sans" panose="020C0503030203020204" pitchFamily="34" charset="0"/>
              </a:rPr>
              <a:t>1</a:t>
            </a:r>
            <a:r>
              <a:rPr lang="zh-CN" altLang="en-US" sz="1600" smtClean="0">
                <a:sym typeface="Huawei Sans" panose="020C0503030203020204" pitchFamily="34" charset="0"/>
              </a:rPr>
              <a:t>和站点</a:t>
            </a:r>
            <a:r>
              <a:rPr lang="en-US" altLang="zh-CN" sz="1600" smtClean="0">
                <a:sym typeface="Huawei Sans" panose="020C0503030203020204" pitchFamily="34" charset="0"/>
              </a:rPr>
              <a:t>2</a:t>
            </a:r>
            <a:r>
              <a:rPr lang="zh-CN" altLang="en-US" sz="1600" smtClean="0">
                <a:sym typeface="Huawei Sans" panose="020C0503030203020204" pitchFamily="34" charset="0"/>
              </a:rPr>
              <a:t>都属于</a:t>
            </a:r>
            <a:r>
              <a:rPr lang="en-US" altLang="zh-CN" sz="1600" smtClean="0">
                <a:sym typeface="Huawei Sans" panose="020C0503030203020204" pitchFamily="34" charset="0"/>
              </a:rPr>
              <a:t>VPN1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站点</a:t>
            </a:r>
            <a:r>
              <a:rPr lang="en-US" altLang="zh-CN" sz="1600" smtClean="0">
                <a:sym typeface="Huawei Sans" panose="020C0503030203020204" pitchFamily="34" charset="0"/>
              </a:rPr>
              <a:t>1</a:t>
            </a:r>
            <a:r>
              <a:rPr lang="zh-CN" altLang="en-US" sz="1600" smtClean="0">
                <a:sym typeface="Huawei Sans" panose="020C0503030203020204" pitchFamily="34" charset="0"/>
              </a:rPr>
              <a:t>通过</a:t>
            </a:r>
            <a:r>
              <a:rPr lang="en-US" altLang="zh-CN" sz="1600" smtClean="0">
                <a:sym typeface="Huawei Sans" panose="020C0503030203020204" pitchFamily="34" charset="0"/>
              </a:rPr>
              <a:t>EBGP</a:t>
            </a:r>
            <a:r>
              <a:rPr lang="zh-CN" altLang="en-US" sz="1600" smtClean="0">
                <a:sym typeface="Huawei Sans" panose="020C0503030203020204" pitchFamily="34" charset="0"/>
              </a:rPr>
              <a:t>接入骨干网的</a:t>
            </a:r>
            <a:r>
              <a:rPr lang="en-US" altLang="zh-CN" sz="1600" smtClean="0">
                <a:sym typeface="Huawei Sans" panose="020C0503030203020204" pitchFamily="34" charset="0"/>
              </a:rPr>
              <a:t>PE1</a:t>
            </a:r>
            <a:r>
              <a:rPr lang="zh-CN" altLang="en-US" sz="1600" smtClean="0">
                <a:sym typeface="Huawei Sans" panose="020C0503030203020204" pitchFamily="34" charset="0"/>
              </a:rPr>
              <a:t>；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站点</a:t>
            </a:r>
            <a:r>
              <a:rPr lang="en-US" altLang="zh-CN" sz="1600" smtClean="0">
                <a:sym typeface="Huawei Sans" panose="020C0503030203020204" pitchFamily="34" charset="0"/>
              </a:rPr>
              <a:t>2</a:t>
            </a:r>
            <a:r>
              <a:rPr lang="zh-CN" altLang="en-US" sz="1600" smtClean="0">
                <a:sym typeface="Huawei Sans" panose="020C0503030203020204" pitchFamily="34" charset="0"/>
              </a:rPr>
              <a:t>通过</a:t>
            </a:r>
            <a:r>
              <a:rPr lang="en-US" altLang="zh-CN" sz="1600" smtClean="0">
                <a:sym typeface="Huawei Sans" panose="020C0503030203020204" pitchFamily="34" charset="0"/>
              </a:rPr>
              <a:t>OSPF</a:t>
            </a:r>
            <a:r>
              <a:rPr lang="zh-CN" altLang="en-US" sz="1600" smtClean="0">
                <a:sym typeface="Huawei Sans" panose="020C0503030203020204" pitchFamily="34" charset="0"/>
              </a:rPr>
              <a:t>分别接入骨干网的</a:t>
            </a:r>
            <a:r>
              <a:rPr lang="en-US" altLang="zh-CN" sz="1600" smtClean="0">
                <a:sym typeface="Huawei Sans" panose="020C0503030203020204" pitchFamily="34" charset="0"/>
              </a:rPr>
              <a:t>PE2</a:t>
            </a:r>
            <a:r>
              <a:rPr lang="zh-CN" altLang="en-US" sz="1600" smtClean="0">
                <a:sym typeface="Huawei Sans" panose="020C0503030203020204" pitchFamily="34" charset="0"/>
              </a:rPr>
              <a:t>和</a:t>
            </a:r>
            <a:r>
              <a:rPr lang="en-US" altLang="zh-CN" sz="1600" smtClean="0">
                <a:sym typeface="Huawei Sans" panose="020C0503030203020204" pitchFamily="34" charset="0"/>
              </a:rPr>
              <a:t>PE3</a:t>
            </a:r>
            <a:r>
              <a:rPr lang="zh-CN" altLang="en-US" sz="1600" smtClean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4" name="Freeform 4"/>
          <p:cNvSpPr>
            <a:spLocks noChangeAspect="1"/>
          </p:cNvSpPr>
          <p:nvPr/>
        </p:nvSpPr>
        <p:spPr bwMode="gray">
          <a:xfrm>
            <a:off x="1594178" y="4203108"/>
            <a:ext cx="1786818" cy="1261219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Rounded Rectangle 36"/>
          <p:cNvSpPr/>
          <p:nvPr/>
        </p:nvSpPr>
        <p:spPr bwMode="gray">
          <a:xfrm>
            <a:off x="4368926" y="4023005"/>
            <a:ext cx="3365809" cy="1441322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Freeform 4"/>
          <p:cNvSpPr>
            <a:spLocks noChangeAspect="1"/>
          </p:cNvSpPr>
          <p:nvPr/>
        </p:nvSpPr>
        <p:spPr bwMode="gray">
          <a:xfrm>
            <a:off x="8741031" y="4203109"/>
            <a:ext cx="1423458" cy="126121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gray">
          <a:xfrm>
            <a:off x="7511395" y="5642220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gray">
          <a:xfrm>
            <a:off x="5910149" y="4900348"/>
            <a:ext cx="28725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gray">
          <a:xfrm>
            <a:off x="4105966" y="4900348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11" idx="3"/>
            <a:endCxn id="19" idx="1"/>
          </p:cNvCxnSpPr>
          <p:nvPr/>
        </p:nvCxnSpPr>
        <p:spPr bwMode="gray">
          <a:xfrm flipV="1">
            <a:off x="7974944" y="4643695"/>
            <a:ext cx="939713" cy="7836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图片 1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34944" y="5205932"/>
            <a:ext cx="540000" cy="442800"/>
          </a:xfrm>
          <a:prstGeom prst="rect">
            <a:avLst/>
          </a:prstGeom>
        </p:spPr>
      </p:pic>
      <p:pic>
        <p:nvPicPr>
          <p:cNvPr id="12" name="图片 1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19652" y="4422295"/>
            <a:ext cx="540000" cy="442800"/>
          </a:xfrm>
          <a:prstGeom prst="rect">
            <a:avLst/>
          </a:prstGeom>
        </p:spPr>
      </p:pic>
      <p:cxnSp>
        <p:nvCxnSpPr>
          <p:cNvPr id="13" name="直接连接符 12"/>
          <p:cNvCxnSpPr>
            <a:stCxn id="12" idx="1"/>
            <a:endCxn id="18" idx="3"/>
          </p:cNvCxnSpPr>
          <p:nvPr/>
        </p:nvCxnSpPr>
        <p:spPr bwMode="gray">
          <a:xfrm flipH="1">
            <a:off x="3158201" y="4643695"/>
            <a:ext cx="96145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图片 1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91868" y="4429554"/>
            <a:ext cx="540000" cy="442800"/>
          </a:xfrm>
          <a:prstGeom prst="rect">
            <a:avLst/>
          </a:prstGeom>
        </p:spPr>
      </p:pic>
      <p:cxnSp>
        <p:nvCxnSpPr>
          <p:cNvPr id="15" name="直接连接符 14"/>
          <p:cNvCxnSpPr>
            <a:stCxn id="12" idx="3"/>
            <a:endCxn id="14" idx="1"/>
          </p:cNvCxnSpPr>
          <p:nvPr/>
        </p:nvCxnSpPr>
        <p:spPr bwMode="gray">
          <a:xfrm>
            <a:off x="4659652" y="4643695"/>
            <a:ext cx="11322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>
            <a:stCxn id="14" idx="3"/>
            <a:endCxn id="11" idx="1"/>
          </p:cNvCxnSpPr>
          <p:nvPr/>
        </p:nvCxnSpPr>
        <p:spPr bwMode="gray">
          <a:xfrm>
            <a:off x="6331868" y="4650954"/>
            <a:ext cx="1103076" cy="7763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 Box 18"/>
          <p:cNvSpPr txBox="1">
            <a:spLocks noChangeArrowheads="1"/>
          </p:cNvSpPr>
          <p:nvPr/>
        </p:nvSpPr>
        <p:spPr bwMode="gray">
          <a:xfrm>
            <a:off x="2614829" y="4861554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18201" y="4422295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14657" y="4422295"/>
            <a:ext cx="540000" cy="44280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 bwMode="gray">
          <a:xfrm>
            <a:off x="2618201" y="5178418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9564293" y="5191216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gray">
          <a:xfrm>
            <a:off x="7459486" y="3551190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3" name="图片 2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34944" y="3790535"/>
            <a:ext cx="540000" cy="442800"/>
          </a:xfrm>
          <a:prstGeom prst="rect">
            <a:avLst/>
          </a:prstGeom>
        </p:spPr>
      </p:pic>
      <p:cxnSp>
        <p:nvCxnSpPr>
          <p:cNvPr id="24" name="直接连接符 23"/>
          <p:cNvCxnSpPr>
            <a:stCxn id="14" idx="3"/>
            <a:endCxn id="23" idx="1"/>
          </p:cNvCxnSpPr>
          <p:nvPr/>
        </p:nvCxnSpPr>
        <p:spPr bwMode="gray">
          <a:xfrm flipV="1">
            <a:off x="6331868" y="4011935"/>
            <a:ext cx="1103076" cy="639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>
            <a:stCxn id="23" idx="3"/>
            <a:endCxn id="19" idx="1"/>
          </p:cNvCxnSpPr>
          <p:nvPr/>
        </p:nvCxnSpPr>
        <p:spPr bwMode="gray">
          <a:xfrm>
            <a:off x="7974944" y="4011935"/>
            <a:ext cx="939713" cy="63176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弧形 26"/>
          <p:cNvSpPr/>
          <p:nvPr/>
        </p:nvSpPr>
        <p:spPr bwMode="gray">
          <a:xfrm rot="15614839">
            <a:off x="5430888" y="2831740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AutoShape 29"/>
          <p:cNvSpPr>
            <a:spLocks noChangeArrowheads="1"/>
          </p:cNvSpPr>
          <p:nvPr/>
        </p:nvSpPr>
        <p:spPr bwMode="gray">
          <a:xfrm rot="20441682">
            <a:off x="5193990" y="3417974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弧形 28"/>
          <p:cNvSpPr/>
          <p:nvPr/>
        </p:nvSpPr>
        <p:spPr bwMode="gray">
          <a:xfrm rot="18014889">
            <a:off x="8106745" y="3480957"/>
            <a:ext cx="635436" cy="1300949"/>
          </a:xfrm>
          <a:prstGeom prst="arc">
            <a:avLst>
              <a:gd name="adj1" fmla="val 16907101"/>
              <a:gd name="adj2" fmla="val 5001890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AutoShape 29"/>
          <p:cNvSpPr>
            <a:spLocks noChangeArrowheads="1"/>
          </p:cNvSpPr>
          <p:nvPr/>
        </p:nvSpPr>
        <p:spPr bwMode="gray">
          <a:xfrm rot="2043903">
            <a:off x="8183104" y="3560586"/>
            <a:ext cx="1115853" cy="270722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5 LSA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弧形 30"/>
          <p:cNvSpPr/>
          <p:nvPr/>
        </p:nvSpPr>
        <p:spPr bwMode="gray">
          <a:xfrm rot="3491107">
            <a:off x="8085679" y="4455985"/>
            <a:ext cx="635436" cy="1300949"/>
          </a:xfrm>
          <a:prstGeom prst="arc">
            <a:avLst>
              <a:gd name="adj1" fmla="val 16907101"/>
              <a:gd name="adj2" fmla="val 4399471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AutoShape 29"/>
          <p:cNvSpPr>
            <a:spLocks noChangeArrowheads="1"/>
          </p:cNvSpPr>
          <p:nvPr/>
        </p:nvSpPr>
        <p:spPr bwMode="gray">
          <a:xfrm rot="19631777">
            <a:off x="8240972" y="5387364"/>
            <a:ext cx="1115853" cy="270722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5 LSA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4" name="组合 33"/>
          <p:cNvGrpSpPr/>
          <p:nvPr/>
        </p:nvGrpSpPr>
        <p:grpSpPr bwMode="gray">
          <a:xfrm rot="16200000">
            <a:off x="2397733" y="4530015"/>
            <a:ext cx="220468" cy="220468"/>
            <a:chOff x="468317" y="3414713"/>
            <a:chExt cx="446083" cy="446083"/>
          </a:xfrm>
        </p:grpSpPr>
        <p:cxnSp>
          <p:nvCxnSpPr>
            <p:cNvPr id="35" name="直接连接符 34"/>
            <p:cNvCxnSpPr/>
            <p:nvPr/>
          </p:nvCxnSpPr>
          <p:spPr bwMode="gray">
            <a:xfrm>
              <a:off x="468317" y="3414713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 bwMode="gray">
            <a:xfrm rot="16200000">
              <a:off x="468317" y="3637755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Freeform 159"/>
          <p:cNvSpPr/>
          <p:nvPr/>
        </p:nvSpPr>
        <p:spPr bwMode="gray">
          <a:xfrm flipH="1">
            <a:off x="1104001" y="4105004"/>
            <a:ext cx="1467964" cy="76735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1104001" y="4442706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192.168.1.0/24</a:t>
            </a:r>
            <a:endParaRPr lang="zh-CN" altLang="en-US" sz="1400" dirty="0"/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gray">
          <a:xfrm>
            <a:off x="9367844" y="4497065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3358646" y="430889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EBGP</a:t>
            </a:r>
            <a:endParaRPr lang="zh-CN" altLang="en-US" dirty="0"/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gray">
          <a:xfrm>
            <a:off x="1605896" y="4956330"/>
            <a:ext cx="771739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</a:t>
            </a:r>
          </a:p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AutoShape 29"/>
          <p:cNvSpPr>
            <a:spLocks noChangeArrowheads="1"/>
          </p:cNvSpPr>
          <p:nvPr/>
        </p:nvSpPr>
        <p:spPr bwMode="gray">
          <a:xfrm>
            <a:off x="4966474" y="5707703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弧形 47"/>
          <p:cNvSpPr/>
          <p:nvPr/>
        </p:nvSpPr>
        <p:spPr bwMode="gray">
          <a:xfrm rot="6358682">
            <a:off x="5341500" y="3416506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71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/>
              <a:t>Type5/7</a:t>
            </a:r>
            <a:r>
              <a:rPr lang="zh-CN" altLang="en-US" dirty="0" smtClean="0"/>
              <a:t>路由防环：</a:t>
            </a:r>
            <a:r>
              <a:rPr lang="en-US" altLang="zh-CN" dirty="0" smtClean="0"/>
              <a:t>VPN Route Tag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/>
              <a:t>可以使用</a:t>
            </a:r>
            <a:r>
              <a:rPr lang="en-US" altLang="zh-CN" sz="1800" smtClean="0"/>
              <a:t>VPN Route Tag</a:t>
            </a:r>
            <a:r>
              <a:rPr lang="zh-CN" altLang="en-US" sz="1800" smtClean="0"/>
              <a:t>（</a:t>
            </a:r>
            <a:r>
              <a:rPr lang="en-US" altLang="zh-CN" sz="1800" smtClean="0"/>
              <a:t>VPN</a:t>
            </a:r>
            <a:r>
              <a:rPr lang="zh-CN" altLang="en-US" sz="1800" smtClean="0"/>
              <a:t>路由标记）来防止此</a:t>
            </a:r>
            <a:r>
              <a:rPr lang="en-US" altLang="zh-CN" sz="1800" smtClean="0"/>
              <a:t>5</a:t>
            </a:r>
            <a:r>
              <a:rPr lang="zh-CN" altLang="en-US" sz="1800" smtClean="0"/>
              <a:t>类或</a:t>
            </a:r>
            <a:r>
              <a:rPr lang="en-US" altLang="zh-CN" sz="1800" smtClean="0"/>
              <a:t>7</a:t>
            </a:r>
            <a:r>
              <a:rPr lang="zh-CN" altLang="en-US" sz="1800" smtClean="0"/>
              <a:t>类路由环路。</a:t>
            </a:r>
            <a:endParaRPr lang="en-US" altLang="zh-CN" sz="1800" smtClean="0"/>
          </a:p>
          <a:p>
            <a:r>
              <a:rPr lang="en-US" altLang="zh-CN" sz="1800" smtClean="0"/>
              <a:t>PE</a:t>
            </a:r>
            <a:r>
              <a:rPr lang="zh-CN" altLang="en-US" sz="1800" smtClean="0"/>
              <a:t>在根据收到的</a:t>
            </a:r>
            <a:r>
              <a:rPr lang="en-US" altLang="zh-CN" sz="1800" smtClean="0"/>
              <a:t>BGP</a:t>
            </a:r>
            <a:r>
              <a:rPr lang="zh-CN" altLang="en-US" sz="1800" smtClean="0"/>
              <a:t>的私网路由生成</a:t>
            </a:r>
            <a:r>
              <a:rPr lang="en-US" altLang="zh-CN" sz="1800" smtClean="0"/>
              <a:t>5/7</a:t>
            </a:r>
            <a:r>
              <a:rPr lang="zh-CN" altLang="en-US" sz="1800" smtClean="0"/>
              <a:t>类</a:t>
            </a:r>
            <a:r>
              <a:rPr lang="en-US" altLang="zh-CN" sz="1800" smtClean="0"/>
              <a:t>LSA</a:t>
            </a:r>
            <a:r>
              <a:rPr lang="zh-CN" altLang="en-US" sz="1800" smtClean="0"/>
              <a:t>时，携带</a:t>
            </a:r>
            <a:r>
              <a:rPr lang="en-US" altLang="zh-CN" sz="1800" smtClean="0"/>
              <a:t>VPN</a:t>
            </a:r>
            <a:r>
              <a:rPr lang="zh-CN" altLang="en-US" sz="1800" smtClean="0"/>
              <a:t>路由标记。当</a:t>
            </a:r>
            <a:r>
              <a:rPr lang="en-US" altLang="zh-CN" sz="1800" smtClean="0"/>
              <a:t>PE</a:t>
            </a:r>
            <a:r>
              <a:rPr lang="zh-CN" altLang="en-US" sz="1800" smtClean="0"/>
              <a:t>发现</a:t>
            </a:r>
            <a:r>
              <a:rPr lang="en-US" altLang="zh-CN" sz="1800" smtClean="0"/>
              <a:t>LSA</a:t>
            </a:r>
            <a:r>
              <a:rPr lang="zh-CN" altLang="en-US" sz="1800" smtClean="0"/>
              <a:t>的</a:t>
            </a:r>
            <a:r>
              <a:rPr lang="en-US" altLang="zh-CN" sz="1800" smtClean="0"/>
              <a:t>VPN</a:t>
            </a:r>
            <a:r>
              <a:rPr lang="zh-CN" altLang="en-US" sz="1800" smtClean="0"/>
              <a:t>路由标记和本地配置的一样，就会忽略这条</a:t>
            </a:r>
            <a:r>
              <a:rPr lang="en-US" altLang="zh-CN" sz="1800" smtClean="0"/>
              <a:t>LSA</a:t>
            </a:r>
            <a:r>
              <a:rPr lang="zh-CN" altLang="en-US" sz="1800" smtClean="0"/>
              <a:t>，因此可以避免上述环路。</a:t>
            </a:r>
          </a:p>
          <a:p>
            <a:endParaRPr lang="zh-CN" altLang="en-US" sz="1800" dirty="0"/>
          </a:p>
        </p:txBody>
      </p:sp>
      <p:sp>
        <p:nvSpPr>
          <p:cNvPr id="4" name="Freeform 4"/>
          <p:cNvSpPr>
            <a:spLocks noChangeAspect="1"/>
          </p:cNvSpPr>
          <p:nvPr/>
        </p:nvSpPr>
        <p:spPr bwMode="gray">
          <a:xfrm>
            <a:off x="1561913" y="3920235"/>
            <a:ext cx="1786818" cy="1261219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Rounded Rectangle 36"/>
          <p:cNvSpPr/>
          <p:nvPr/>
        </p:nvSpPr>
        <p:spPr bwMode="gray">
          <a:xfrm>
            <a:off x="4336661" y="3740132"/>
            <a:ext cx="3365809" cy="1441322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Freeform 4"/>
          <p:cNvSpPr>
            <a:spLocks noChangeAspect="1"/>
          </p:cNvSpPr>
          <p:nvPr/>
        </p:nvSpPr>
        <p:spPr bwMode="gray">
          <a:xfrm>
            <a:off x="8708766" y="3920236"/>
            <a:ext cx="1423458" cy="1261218"/>
          </a:xfrm>
          <a:custGeom>
            <a:avLst/>
            <a:gdLst>
              <a:gd name="T0" fmla="*/ 2147483647 w 1769"/>
              <a:gd name="T1" fmla="*/ 2147483647 h 2094"/>
              <a:gd name="T2" fmla="*/ 2147483647 w 1769"/>
              <a:gd name="T3" fmla="*/ 2147483647 h 2094"/>
              <a:gd name="T4" fmla="*/ 2147483647 w 1769"/>
              <a:gd name="T5" fmla="*/ 2147483647 h 2094"/>
              <a:gd name="T6" fmla="*/ 2147483647 w 1769"/>
              <a:gd name="T7" fmla="*/ 2147483647 h 2094"/>
              <a:gd name="T8" fmla="*/ 2147483647 w 1769"/>
              <a:gd name="T9" fmla="*/ 2147483647 h 2094"/>
              <a:gd name="T10" fmla="*/ 2147483647 w 1769"/>
              <a:gd name="T11" fmla="*/ 2147483647 h 2094"/>
              <a:gd name="T12" fmla="*/ 2147483647 w 1769"/>
              <a:gd name="T13" fmla="*/ 2147483647 h 2094"/>
              <a:gd name="T14" fmla="*/ 2147483647 w 1769"/>
              <a:gd name="T15" fmla="*/ 2147483647 h 2094"/>
              <a:gd name="T16" fmla="*/ 2147483647 w 1769"/>
              <a:gd name="T17" fmla="*/ 2147483647 h 2094"/>
              <a:gd name="T18" fmla="*/ 2147483647 w 1769"/>
              <a:gd name="T19" fmla="*/ 2147483647 h 2094"/>
              <a:gd name="T20" fmla="*/ 2147483647 w 1769"/>
              <a:gd name="T21" fmla="*/ 2147483647 h 2094"/>
              <a:gd name="T22" fmla="*/ 2147483647 w 1769"/>
              <a:gd name="T23" fmla="*/ 2147483647 h 2094"/>
              <a:gd name="T24" fmla="*/ 2147483647 w 1769"/>
              <a:gd name="T25" fmla="*/ 2147483647 h 2094"/>
              <a:gd name="T26" fmla="*/ 2147483647 w 1769"/>
              <a:gd name="T27" fmla="*/ 2147483647 h 2094"/>
              <a:gd name="T28" fmla="*/ 2147483647 w 1769"/>
              <a:gd name="T29" fmla="*/ 2147483647 h 2094"/>
              <a:gd name="T30" fmla="*/ 2147483647 w 1769"/>
              <a:gd name="T31" fmla="*/ 2147483647 h 2094"/>
              <a:gd name="T32" fmla="*/ 2147483647 w 1769"/>
              <a:gd name="T33" fmla="*/ 0 h 2094"/>
              <a:gd name="T34" fmla="*/ 2147483647 w 1769"/>
              <a:gd name="T35" fmla="*/ 0 h 2094"/>
              <a:gd name="T36" fmla="*/ 2147483647 w 1769"/>
              <a:gd name="T37" fmla="*/ 2147483647 h 2094"/>
              <a:gd name="T38" fmla="*/ 2147483647 w 1769"/>
              <a:gd name="T39" fmla="*/ 2147483647 h 2094"/>
              <a:gd name="T40" fmla="*/ 2147483647 w 1769"/>
              <a:gd name="T41" fmla="*/ 2147483647 h 2094"/>
              <a:gd name="T42" fmla="*/ 2147483647 w 1769"/>
              <a:gd name="T43" fmla="*/ 2147483647 h 2094"/>
              <a:gd name="T44" fmla="*/ 2147483647 w 1769"/>
              <a:gd name="T45" fmla="*/ 2147483647 h 2094"/>
              <a:gd name="T46" fmla="*/ 2147483647 w 1769"/>
              <a:gd name="T47" fmla="*/ 2147483647 h 2094"/>
              <a:gd name="T48" fmla="*/ 0 w 1769"/>
              <a:gd name="T49" fmla="*/ 2147483647 h 2094"/>
              <a:gd name="T50" fmla="*/ 0 w 1769"/>
              <a:gd name="T51" fmla="*/ 2147483647 h 2094"/>
              <a:gd name="T52" fmla="*/ 2147483647 w 1769"/>
              <a:gd name="T53" fmla="*/ 2147483647 h 2094"/>
              <a:gd name="T54" fmla="*/ 2147483647 w 1769"/>
              <a:gd name="T55" fmla="*/ 2147483647 h 2094"/>
              <a:gd name="T56" fmla="*/ 2147483647 w 1769"/>
              <a:gd name="T57" fmla="*/ 2147483647 h 2094"/>
              <a:gd name="T58" fmla="*/ 2147483647 w 1769"/>
              <a:gd name="T59" fmla="*/ 2147483647 h 2094"/>
              <a:gd name="T60" fmla="*/ 2147483647 w 1769"/>
              <a:gd name="T61" fmla="*/ 2147483647 h 2094"/>
              <a:gd name="T62" fmla="*/ 2147483647 w 1769"/>
              <a:gd name="T63" fmla="*/ 2147483647 h 2094"/>
              <a:gd name="T64" fmla="*/ 2147483647 w 1769"/>
              <a:gd name="T65" fmla="*/ 2147483647 h 209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769"/>
              <a:gd name="T100" fmla="*/ 0 h 2094"/>
              <a:gd name="T101" fmla="*/ 1769 w 1769"/>
              <a:gd name="T102" fmla="*/ 2094 h 2094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769" h="2094">
                <a:moveTo>
                  <a:pt x="110" y="2094"/>
                </a:moveTo>
                <a:lnTo>
                  <a:pt x="1658" y="2094"/>
                </a:lnTo>
                <a:lnTo>
                  <a:pt x="1683" y="2091"/>
                </a:lnTo>
                <a:lnTo>
                  <a:pt x="1707" y="2083"/>
                </a:lnTo>
                <a:lnTo>
                  <a:pt x="1727" y="2070"/>
                </a:lnTo>
                <a:lnTo>
                  <a:pt x="1745" y="2053"/>
                </a:lnTo>
                <a:lnTo>
                  <a:pt x="1758" y="2032"/>
                </a:lnTo>
                <a:lnTo>
                  <a:pt x="1766" y="2008"/>
                </a:lnTo>
                <a:lnTo>
                  <a:pt x="1769" y="1983"/>
                </a:lnTo>
                <a:lnTo>
                  <a:pt x="1769" y="110"/>
                </a:lnTo>
                <a:lnTo>
                  <a:pt x="1766" y="87"/>
                </a:lnTo>
                <a:lnTo>
                  <a:pt x="1758" y="63"/>
                </a:lnTo>
                <a:lnTo>
                  <a:pt x="1745" y="42"/>
                </a:lnTo>
                <a:lnTo>
                  <a:pt x="1727" y="25"/>
                </a:lnTo>
                <a:lnTo>
                  <a:pt x="1707" y="12"/>
                </a:lnTo>
                <a:lnTo>
                  <a:pt x="1683" y="3"/>
                </a:lnTo>
                <a:lnTo>
                  <a:pt x="1658" y="0"/>
                </a:lnTo>
                <a:lnTo>
                  <a:pt x="110" y="0"/>
                </a:lnTo>
                <a:lnTo>
                  <a:pt x="87" y="3"/>
                </a:lnTo>
                <a:lnTo>
                  <a:pt x="63" y="12"/>
                </a:lnTo>
                <a:lnTo>
                  <a:pt x="43" y="25"/>
                </a:lnTo>
                <a:lnTo>
                  <a:pt x="25" y="42"/>
                </a:lnTo>
                <a:lnTo>
                  <a:pt x="12" y="63"/>
                </a:lnTo>
                <a:lnTo>
                  <a:pt x="3" y="87"/>
                </a:lnTo>
                <a:lnTo>
                  <a:pt x="0" y="110"/>
                </a:lnTo>
                <a:lnTo>
                  <a:pt x="0" y="1983"/>
                </a:lnTo>
                <a:lnTo>
                  <a:pt x="3" y="2008"/>
                </a:lnTo>
                <a:lnTo>
                  <a:pt x="12" y="2032"/>
                </a:lnTo>
                <a:lnTo>
                  <a:pt x="25" y="2053"/>
                </a:lnTo>
                <a:lnTo>
                  <a:pt x="43" y="2070"/>
                </a:lnTo>
                <a:lnTo>
                  <a:pt x="63" y="2083"/>
                </a:lnTo>
                <a:lnTo>
                  <a:pt x="87" y="2091"/>
                </a:lnTo>
                <a:lnTo>
                  <a:pt x="110" y="2094"/>
                </a:lnTo>
                <a:close/>
              </a:path>
            </a:pathLst>
          </a:cu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gray">
          <a:xfrm>
            <a:off x="7479130" y="5359347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gray">
          <a:xfrm>
            <a:off x="5877884" y="4617475"/>
            <a:ext cx="28725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gray">
          <a:xfrm>
            <a:off x="4073701" y="4617475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11" idx="3"/>
            <a:endCxn id="19" idx="1"/>
          </p:cNvCxnSpPr>
          <p:nvPr/>
        </p:nvCxnSpPr>
        <p:spPr bwMode="gray">
          <a:xfrm flipV="1">
            <a:off x="7942679" y="4360822"/>
            <a:ext cx="939713" cy="7836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图片 1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02679" y="4923059"/>
            <a:ext cx="540000" cy="442800"/>
          </a:xfrm>
          <a:prstGeom prst="rect">
            <a:avLst/>
          </a:prstGeom>
        </p:spPr>
      </p:pic>
      <p:pic>
        <p:nvPicPr>
          <p:cNvPr id="12" name="图片 1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87387" y="4139422"/>
            <a:ext cx="540000" cy="442800"/>
          </a:xfrm>
          <a:prstGeom prst="rect">
            <a:avLst/>
          </a:prstGeom>
        </p:spPr>
      </p:pic>
      <p:cxnSp>
        <p:nvCxnSpPr>
          <p:cNvPr id="13" name="直接连接符 12"/>
          <p:cNvCxnSpPr>
            <a:stCxn id="12" idx="1"/>
            <a:endCxn id="18" idx="3"/>
          </p:cNvCxnSpPr>
          <p:nvPr/>
        </p:nvCxnSpPr>
        <p:spPr bwMode="gray">
          <a:xfrm flipH="1">
            <a:off x="3125936" y="4360822"/>
            <a:ext cx="96145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图片 1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59603" y="4146681"/>
            <a:ext cx="540000" cy="442800"/>
          </a:xfrm>
          <a:prstGeom prst="rect">
            <a:avLst/>
          </a:prstGeom>
        </p:spPr>
      </p:pic>
      <p:cxnSp>
        <p:nvCxnSpPr>
          <p:cNvPr id="15" name="直接连接符 14"/>
          <p:cNvCxnSpPr>
            <a:stCxn id="12" idx="3"/>
            <a:endCxn id="14" idx="1"/>
          </p:cNvCxnSpPr>
          <p:nvPr/>
        </p:nvCxnSpPr>
        <p:spPr bwMode="gray">
          <a:xfrm>
            <a:off x="4627387" y="4360822"/>
            <a:ext cx="11322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>
            <a:stCxn id="14" idx="3"/>
            <a:endCxn id="11" idx="1"/>
          </p:cNvCxnSpPr>
          <p:nvPr/>
        </p:nvCxnSpPr>
        <p:spPr bwMode="gray">
          <a:xfrm>
            <a:off x="6299603" y="4368081"/>
            <a:ext cx="1103076" cy="7763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 Box 18"/>
          <p:cNvSpPr txBox="1">
            <a:spLocks noChangeArrowheads="1"/>
          </p:cNvSpPr>
          <p:nvPr/>
        </p:nvSpPr>
        <p:spPr bwMode="gray">
          <a:xfrm>
            <a:off x="2582564" y="4578681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" name="图片 1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85936" y="4139422"/>
            <a:ext cx="540000" cy="442800"/>
          </a:xfrm>
          <a:prstGeom prst="rect">
            <a:avLst/>
          </a:prstGeom>
        </p:spPr>
      </p:pic>
      <p:pic>
        <p:nvPicPr>
          <p:cNvPr id="19" name="图片 1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882392" y="4139422"/>
            <a:ext cx="540000" cy="44280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 bwMode="gray">
          <a:xfrm>
            <a:off x="2585936" y="4895545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9532028" y="4908343"/>
            <a:ext cx="6447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gray">
          <a:xfrm>
            <a:off x="7427221" y="3268317"/>
            <a:ext cx="4860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3" name="图片 2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02679" y="3507662"/>
            <a:ext cx="540000" cy="442800"/>
          </a:xfrm>
          <a:prstGeom prst="rect">
            <a:avLst/>
          </a:prstGeom>
        </p:spPr>
      </p:pic>
      <p:cxnSp>
        <p:nvCxnSpPr>
          <p:cNvPr id="24" name="直接连接符 23"/>
          <p:cNvCxnSpPr>
            <a:stCxn id="14" idx="3"/>
            <a:endCxn id="23" idx="1"/>
          </p:cNvCxnSpPr>
          <p:nvPr/>
        </p:nvCxnSpPr>
        <p:spPr bwMode="gray">
          <a:xfrm flipV="1">
            <a:off x="6299603" y="3729062"/>
            <a:ext cx="1103076" cy="6390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>
            <a:stCxn id="23" idx="3"/>
            <a:endCxn id="19" idx="1"/>
          </p:cNvCxnSpPr>
          <p:nvPr/>
        </p:nvCxnSpPr>
        <p:spPr bwMode="gray">
          <a:xfrm>
            <a:off x="7942679" y="3729062"/>
            <a:ext cx="939713" cy="63176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弧形 26"/>
          <p:cNvSpPr/>
          <p:nvPr/>
        </p:nvSpPr>
        <p:spPr bwMode="gray">
          <a:xfrm rot="15614839">
            <a:off x="5398623" y="2548867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AutoShape 29"/>
          <p:cNvSpPr>
            <a:spLocks noChangeArrowheads="1"/>
          </p:cNvSpPr>
          <p:nvPr/>
        </p:nvSpPr>
        <p:spPr bwMode="gray">
          <a:xfrm rot="20441682">
            <a:off x="5161725" y="3135101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弧形 28"/>
          <p:cNvSpPr/>
          <p:nvPr/>
        </p:nvSpPr>
        <p:spPr bwMode="gray">
          <a:xfrm rot="18014889">
            <a:off x="8074480" y="3198084"/>
            <a:ext cx="635436" cy="1300949"/>
          </a:xfrm>
          <a:prstGeom prst="arc">
            <a:avLst>
              <a:gd name="adj1" fmla="val 16907101"/>
              <a:gd name="adj2" fmla="val 5001890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AutoShape 29"/>
          <p:cNvSpPr>
            <a:spLocks noChangeArrowheads="1"/>
          </p:cNvSpPr>
          <p:nvPr/>
        </p:nvSpPr>
        <p:spPr bwMode="gray">
          <a:xfrm rot="2043903">
            <a:off x="8087438" y="3165530"/>
            <a:ext cx="1600321" cy="45312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5 LSA</a:t>
            </a:r>
          </a:p>
          <a:p>
            <a:pPr algn="ctr" defTabSz="91440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Tag=123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弧形 30"/>
          <p:cNvSpPr/>
          <p:nvPr/>
        </p:nvSpPr>
        <p:spPr bwMode="gray">
          <a:xfrm rot="3491107">
            <a:off x="8053414" y="4173112"/>
            <a:ext cx="635436" cy="1300949"/>
          </a:xfrm>
          <a:prstGeom prst="arc">
            <a:avLst>
              <a:gd name="adj1" fmla="val 16907101"/>
              <a:gd name="adj2" fmla="val 4399471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3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4" name="组合 33"/>
          <p:cNvGrpSpPr/>
          <p:nvPr/>
        </p:nvGrpSpPr>
        <p:grpSpPr bwMode="gray">
          <a:xfrm rot="16200000">
            <a:off x="2365468" y="4247142"/>
            <a:ext cx="220468" cy="220468"/>
            <a:chOff x="468317" y="3414713"/>
            <a:chExt cx="446083" cy="446083"/>
          </a:xfrm>
        </p:grpSpPr>
        <p:cxnSp>
          <p:nvCxnSpPr>
            <p:cNvPr id="35" name="直接连接符 34"/>
            <p:cNvCxnSpPr/>
            <p:nvPr/>
          </p:nvCxnSpPr>
          <p:spPr bwMode="gray">
            <a:xfrm>
              <a:off x="468317" y="3414713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 bwMode="gray">
            <a:xfrm rot="16200000">
              <a:off x="468317" y="3637755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Freeform 159"/>
          <p:cNvSpPr/>
          <p:nvPr/>
        </p:nvSpPr>
        <p:spPr bwMode="gray">
          <a:xfrm flipH="1">
            <a:off x="1071736" y="3822131"/>
            <a:ext cx="1467964" cy="76735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1071736" y="4159833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192.168.1.0/24</a:t>
            </a:r>
            <a:endParaRPr lang="zh-CN" altLang="en-US" sz="1400" dirty="0"/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gray">
          <a:xfrm>
            <a:off x="9335579" y="4214192"/>
            <a:ext cx="49244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3326381" y="402602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EBGP</a:t>
            </a:r>
            <a:endParaRPr lang="zh-CN" altLang="en-US" dirty="0"/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gray">
          <a:xfrm>
            <a:off x="1573631" y="4673457"/>
            <a:ext cx="771739" cy="5035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 lIns="36000" tIns="36000" rIns="36000" bIns="36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 </a:t>
            </a:r>
          </a:p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65001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AutoShape 29"/>
          <p:cNvSpPr>
            <a:spLocks noChangeArrowheads="1"/>
          </p:cNvSpPr>
          <p:nvPr/>
        </p:nvSpPr>
        <p:spPr bwMode="gray">
          <a:xfrm rot="19396391">
            <a:off x="8178679" y="4934601"/>
            <a:ext cx="1600321" cy="45312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5 LSA</a:t>
            </a:r>
          </a:p>
          <a:p>
            <a:pPr algn="ctr" defTabSz="91440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Tag=123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AutoShape 29"/>
          <p:cNvSpPr>
            <a:spLocks noChangeArrowheads="1"/>
          </p:cNvSpPr>
          <p:nvPr/>
        </p:nvSpPr>
        <p:spPr bwMode="gray">
          <a:xfrm>
            <a:off x="4934209" y="5424830"/>
            <a:ext cx="1010658" cy="252000"/>
          </a:xfrm>
          <a:prstGeom prst="flowChartAlternateProcess">
            <a:avLst/>
          </a:prstGeom>
          <a:solidFill>
            <a:srgbClr val="94DAE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弧形 52"/>
          <p:cNvSpPr/>
          <p:nvPr/>
        </p:nvSpPr>
        <p:spPr bwMode="gray">
          <a:xfrm rot="6358682">
            <a:off x="5309235" y="3133633"/>
            <a:ext cx="1438661" cy="3070408"/>
          </a:xfrm>
          <a:prstGeom prst="arc">
            <a:avLst>
              <a:gd name="adj1" fmla="val 16775469"/>
              <a:gd name="adj2" fmla="val 4449745"/>
            </a:avLst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205557" y="4376345"/>
            <a:ext cx="96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/>
              <a:t>不进行</a:t>
            </a:r>
            <a:r>
              <a:rPr lang="en-US" altLang="zh-CN" sz="1600" b="1" dirty="0" smtClean="0"/>
              <a:t>LSA</a:t>
            </a:r>
            <a:r>
              <a:rPr lang="zh-CN" altLang="en-US" sz="1600" b="1" dirty="0" smtClean="0"/>
              <a:t>计算</a:t>
            </a:r>
            <a:endParaRPr lang="zh-CN" altLang="en-US" sz="1600" b="1" dirty="0"/>
          </a:p>
        </p:txBody>
      </p:sp>
      <p:grpSp>
        <p:nvGrpSpPr>
          <p:cNvPr id="55" name="组合 54"/>
          <p:cNvGrpSpPr/>
          <p:nvPr/>
        </p:nvGrpSpPr>
        <p:grpSpPr bwMode="gray">
          <a:xfrm>
            <a:off x="5928671" y="5251800"/>
            <a:ext cx="513908" cy="513908"/>
            <a:chOff x="856677" y="2615810"/>
            <a:chExt cx="288000" cy="288000"/>
          </a:xfrm>
        </p:grpSpPr>
        <p:sp>
          <p:nvSpPr>
            <p:cNvPr id="56" name="椭圆 55"/>
            <p:cNvSpPr/>
            <p:nvPr/>
          </p:nvSpPr>
          <p:spPr bwMode="gray">
            <a:xfrm>
              <a:off x="856677" y="2615810"/>
              <a:ext cx="288000" cy="288000"/>
            </a:xfrm>
            <a:prstGeom prst="ellipse">
              <a:avLst/>
            </a:prstGeom>
            <a:solidFill>
              <a:srgbClr val="EC70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7" name="组合 56"/>
            <p:cNvGrpSpPr/>
            <p:nvPr/>
          </p:nvGrpSpPr>
          <p:grpSpPr bwMode="gray">
            <a:xfrm>
              <a:off x="923444" y="2692169"/>
              <a:ext cx="144001" cy="144002"/>
              <a:chOff x="898853" y="2657982"/>
              <a:chExt cx="203649" cy="203652"/>
            </a:xfrm>
          </p:grpSpPr>
          <p:cxnSp>
            <p:nvCxnSpPr>
              <p:cNvPr id="58" name="直接连接符 57"/>
              <p:cNvCxnSpPr>
                <a:stCxn id="56" idx="3"/>
                <a:endCxn id="56" idx="7"/>
              </p:cNvCxnSpPr>
              <p:nvPr/>
            </p:nvCxnSpPr>
            <p:spPr bwMode="gray">
              <a:xfrm flipV="1"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>
                <a:stCxn id="56" idx="1"/>
                <a:endCxn id="56" idx="5"/>
              </p:cNvCxnSpPr>
              <p:nvPr/>
            </p:nvCxnSpPr>
            <p:spPr bwMode="gray">
              <a:xfrm>
                <a:off x="898853" y="2657986"/>
                <a:ext cx="203648" cy="203648"/>
              </a:xfrm>
              <a:prstGeom prst="line">
                <a:avLst/>
              </a:prstGeom>
              <a:solidFill>
                <a:srgbClr val="EC7061"/>
              </a:solidFill>
              <a:ln w="38100" cap="rnd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4643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应用与组网概述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典型场景部署介绍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OSPF VPN</a:t>
            </a:r>
            <a:r>
              <a:rPr lang="zh-CN" altLang="en-US" b="1" dirty="0" smtClean="0">
                <a:sym typeface="Huawei Sans" panose="020C0503030203020204" pitchFamily="34" charset="0"/>
              </a:rPr>
              <a:t>拓展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与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互操作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OSPF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防环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OSPF sham link</a:t>
            </a: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73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Sham link</a:t>
            </a:r>
            <a:r>
              <a:rPr lang="zh-CN" altLang="en-US" smtClean="0">
                <a:sym typeface="Huawei Sans" panose="020C0503030203020204" pitchFamily="34" charset="0"/>
              </a:rPr>
              <a:t>的应用场景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zh-CN" sz="1800" smtClean="0"/>
              <a:t>通常情况下，</a:t>
            </a:r>
            <a:r>
              <a:rPr lang="en-US" altLang="zh-CN" sz="1800" smtClean="0"/>
              <a:t>BGP</a:t>
            </a:r>
            <a:r>
              <a:rPr lang="zh-CN" altLang="zh-CN" sz="1800" smtClean="0"/>
              <a:t>对等体之间通过</a:t>
            </a:r>
            <a:r>
              <a:rPr lang="en-US" altLang="zh-CN" sz="1800" smtClean="0"/>
              <a:t>BGP</a:t>
            </a:r>
            <a:r>
              <a:rPr lang="zh-CN" altLang="zh-CN" sz="1800" smtClean="0"/>
              <a:t>扩展团体属性在</a:t>
            </a:r>
            <a:r>
              <a:rPr lang="en-US" altLang="zh-CN" sz="1800" smtClean="0"/>
              <a:t>MPLS VPN</a:t>
            </a:r>
            <a:r>
              <a:rPr lang="zh-CN" altLang="zh-CN" sz="1800" smtClean="0"/>
              <a:t>骨干网上承载路由信息。另一端</a:t>
            </a:r>
            <a:r>
              <a:rPr lang="en-US" altLang="zh-CN" sz="1800" smtClean="0"/>
              <a:t>PE</a:t>
            </a:r>
            <a:r>
              <a:rPr lang="zh-CN" altLang="zh-CN" sz="1800" smtClean="0"/>
              <a:t>上运行的</a:t>
            </a:r>
            <a:r>
              <a:rPr lang="en-US" altLang="zh-CN" sz="1800" smtClean="0"/>
              <a:t>OSPF</a:t>
            </a:r>
            <a:r>
              <a:rPr lang="zh-CN" altLang="zh-CN" sz="1800" smtClean="0"/>
              <a:t>可利用这些信息来生成</a:t>
            </a:r>
            <a:r>
              <a:rPr lang="en-US" altLang="zh-CN" sz="1800" smtClean="0"/>
              <a:t>PE</a:t>
            </a:r>
            <a:r>
              <a:rPr lang="zh-CN" altLang="zh-CN" sz="1800" smtClean="0"/>
              <a:t>到</a:t>
            </a:r>
            <a:r>
              <a:rPr lang="en-US" altLang="zh-CN" sz="1800" smtClean="0"/>
              <a:t>CE</a:t>
            </a:r>
            <a:r>
              <a:rPr lang="zh-CN" altLang="zh-CN" sz="1800" smtClean="0"/>
              <a:t>的</a:t>
            </a:r>
            <a:r>
              <a:rPr lang="en-US" altLang="zh-CN" sz="1800" smtClean="0"/>
              <a:t>Type 3 LSA</a:t>
            </a:r>
            <a:r>
              <a:rPr lang="zh-CN" altLang="zh-CN" sz="1800" smtClean="0"/>
              <a:t>，这些路由是区域间路由</a:t>
            </a:r>
            <a:r>
              <a:rPr lang="zh-CN" altLang="en-US" sz="1800" smtClean="0"/>
              <a:t>（</a:t>
            </a:r>
            <a:r>
              <a:rPr lang="en-US" altLang="zh-CN" sz="1800" smtClean="0"/>
              <a:t>Inter_Area route</a:t>
            </a:r>
            <a:r>
              <a:rPr lang="zh-CN" altLang="en-US" sz="1800" smtClean="0"/>
              <a:t>）</a:t>
            </a:r>
            <a:r>
              <a:rPr lang="zh-CN" altLang="zh-CN" sz="1800" smtClean="0"/>
              <a:t>。</a:t>
            </a:r>
          </a:p>
          <a:p>
            <a:r>
              <a:rPr lang="zh-CN" altLang="en-US" sz="1800" smtClean="0">
                <a:sym typeface="Huawei Sans" panose="020C0503030203020204" pitchFamily="34" charset="0"/>
              </a:rPr>
              <a:t>若在</a:t>
            </a:r>
            <a:r>
              <a:rPr lang="en-US" altLang="zh-CN" sz="1800" smtClean="0">
                <a:sym typeface="Huawei Sans" panose="020C0503030203020204" pitchFamily="34" charset="0"/>
              </a:rPr>
              <a:t>CE1</a:t>
            </a:r>
            <a:r>
              <a:rPr lang="zh-CN" altLang="en-US" sz="1800" smtClean="0">
                <a:sym typeface="Huawei Sans" panose="020C0503030203020204" pitchFamily="34" charset="0"/>
              </a:rPr>
              <a:t>和</a:t>
            </a:r>
            <a:r>
              <a:rPr lang="en-US" altLang="zh-CN" sz="1800" smtClean="0">
                <a:sym typeface="Huawei Sans" panose="020C0503030203020204" pitchFamily="34" charset="0"/>
              </a:rPr>
              <a:t>CE2</a:t>
            </a:r>
            <a:r>
              <a:rPr lang="zh-CN" altLang="en-US" sz="1800" smtClean="0">
                <a:sym typeface="Huawei Sans" panose="020C0503030203020204" pitchFamily="34" charset="0"/>
              </a:rPr>
              <a:t>之间增加一条后门（</a:t>
            </a:r>
            <a:r>
              <a:rPr lang="en-US" altLang="zh-CN" sz="1800" smtClean="0">
                <a:sym typeface="Huawei Sans" panose="020C0503030203020204" pitchFamily="34" charset="0"/>
              </a:rPr>
              <a:t>Backdoor</a:t>
            </a:r>
            <a:r>
              <a:rPr lang="zh-CN" altLang="en-US" sz="1800" smtClean="0">
                <a:sym typeface="Huawei Sans" panose="020C0503030203020204" pitchFamily="34" charset="0"/>
              </a:rPr>
              <a:t>）链路，并且直接运行</a:t>
            </a:r>
            <a:r>
              <a:rPr lang="en-US" altLang="zh-CN" sz="1800" smtClean="0">
                <a:sym typeface="Huawei Sans" panose="020C0503030203020204" pitchFamily="34" charset="0"/>
              </a:rPr>
              <a:t>OSPF</a:t>
            </a:r>
            <a:r>
              <a:rPr lang="zh-CN" altLang="en-US" sz="1800" smtClean="0">
                <a:sym typeface="Huawei Sans" panose="020C0503030203020204" pitchFamily="34" charset="0"/>
              </a:rPr>
              <a:t>交互路由。通过后门链路学习到的路由类型为区域内路由（</a:t>
            </a:r>
            <a:r>
              <a:rPr lang="en-US" altLang="zh-CN" sz="1800" smtClean="0">
                <a:sym typeface="Huawei Sans" panose="020C0503030203020204" pitchFamily="34" charset="0"/>
              </a:rPr>
              <a:t>Intra_Area route</a:t>
            </a:r>
            <a:r>
              <a:rPr lang="zh-CN" altLang="en-US" sz="1800" smtClean="0">
                <a:sym typeface="Huawei Sans" panose="020C0503030203020204" pitchFamily="34" charset="0"/>
              </a:rPr>
              <a:t>）。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zh-CN" altLang="en-US" sz="1800" smtClean="0">
                <a:sym typeface="Huawei Sans" panose="020C0503030203020204" pitchFamily="34" charset="0"/>
              </a:rPr>
              <a:t>由于区域内路由优于区域间路由，故后门链路会被优选，若想实现后门链路作为备份链路，可采用</a:t>
            </a:r>
            <a:r>
              <a:rPr lang="en-US" altLang="zh-CN" sz="1800" smtClean="0">
                <a:sym typeface="Huawei Sans" panose="020C0503030203020204" pitchFamily="34" charset="0"/>
              </a:rPr>
              <a:t>sham link</a:t>
            </a:r>
            <a:r>
              <a:rPr lang="zh-CN" altLang="en-US" sz="1800" smtClean="0">
                <a:sym typeface="Huawei Sans" panose="020C0503030203020204" pitchFamily="34" charset="0"/>
              </a:rPr>
              <a:t>实现。</a:t>
            </a:r>
            <a:endParaRPr lang="en-US" altLang="zh-CN" sz="1800" dirty="0" smtClean="0">
              <a:sym typeface="Huawei Sans" panose="020C0503030203020204" pitchFamily="34" charset="0"/>
            </a:endParaRPr>
          </a:p>
        </p:txBody>
      </p:sp>
      <p:sp>
        <p:nvSpPr>
          <p:cNvPr id="42" name="圆角矩形 4"/>
          <p:cNvSpPr/>
          <p:nvPr/>
        </p:nvSpPr>
        <p:spPr bwMode="gray">
          <a:xfrm>
            <a:off x="3856879" y="3771800"/>
            <a:ext cx="4557086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Text Box 19"/>
          <p:cNvSpPr txBox="1">
            <a:spLocks noChangeArrowheads="1"/>
          </p:cNvSpPr>
          <p:nvPr/>
        </p:nvSpPr>
        <p:spPr bwMode="gray">
          <a:xfrm>
            <a:off x="4158560" y="4396696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gray">
          <a:xfrm>
            <a:off x="5986724" y="4396696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gray">
          <a:xfrm>
            <a:off x="7598326" y="4396696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5775388" y="4613847"/>
            <a:ext cx="720069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AS123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cxnSp>
        <p:nvCxnSpPr>
          <p:cNvPr id="48" name="直接连接符 53"/>
          <p:cNvCxnSpPr/>
          <p:nvPr/>
        </p:nvCxnSpPr>
        <p:spPr bwMode="gray">
          <a:xfrm>
            <a:off x="4381792" y="4258740"/>
            <a:ext cx="34575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104"/>
          <p:cNvGrpSpPr/>
          <p:nvPr/>
        </p:nvGrpSpPr>
        <p:grpSpPr bwMode="gray">
          <a:xfrm rot="5400000" flipH="1">
            <a:off x="9721791" y="4443135"/>
            <a:ext cx="259305" cy="764187"/>
            <a:chOff x="3134093" y="3084639"/>
            <a:chExt cx="611430" cy="432284"/>
          </a:xfrm>
        </p:grpSpPr>
        <p:cxnSp>
          <p:nvCxnSpPr>
            <p:cNvPr id="36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圆角矩形 5"/>
          <p:cNvSpPr>
            <a:spLocks/>
          </p:cNvSpPr>
          <p:nvPr/>
        </p:nvSpPr>
        <p:spPr bwMode="gray">
          <a:xfrm flipH="1">
            <a:off x="9174969" y="4316863"/>
            <a:ext cx="2284817" cy="1344859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gray">
          <a:xfrm flipH="1">
            <a:off x="10571895" y="4328535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1" name="图片 5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37186" y="4004910"/>
            <a:ext cx="540000" cy="442800"/>
          </a:xfrm>
          <a:prstGeom prst="rect">
            <a:avLst/>
          </a:prstGeom>
        </p:spPr>
      </p:pic>
      <p:pic>
        <p:nvPicPr>
          <p:cNvPr id="52" name="图片 5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62757" y="4004910"/>
            <a:ext cx="540000" cy="442800"/>
          </a:xfrm>
          <a:prstGeom prst="rect">
            <a:avLst/>
          </a:prstGeom>
        </p:spPr>
      </p:pic>
      <p:pic>
        <p:nvPicPr>
          <p:cNvPr id="53" name="图片 5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76952" y="4004910"/>
            <a:ext cx="540000" cy="442800"/>
          </a:xfrm>
          <a:prstGeom prst="rect">
            <a:avLst/>
          </a:prstGeom>
        </p:spPr>
      </p:pic>
      <p:sp>
        <p:nvSpPr>
          <p:cNvPr id="30" name="圆角矩形 5"/>
          <p:cNvSpPr>
            <a:spLocks/>
          </p:cNvSpPr>
          <p:nvPr/>
        </p:nvSpPr>
        <p:spPr bwMode="gray">
          <a:xfrm>
            <a:off x="1095667" y="4316863"/>
            <a:ext cx="2041653" cy="1344859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Text Box 19"/>
          <p:cNvSpPr txBox="1">
            <a:spLocks noChangeArrowheads="1"/>
          </p:cNvSpPr>
          <p:nvPr/>
        </p:nvSpPr>
        <p:spPr bwMode="gray">
          <a:xfrm>
            <a:off x="1105484" y="4347275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8" name="组合 57"/>
          <p:cNvGrpSpPr/>
          <p:nvPr/>
        </p:nvGrpSpPr>
        <p:grpSpPr bwMode="gray">
          <a:xfrm>
            <a:off x="2300656" y="4985953"/>
            <a:ext cx="540000" cy="699563"/>
            <a:chOff x="2258871" y="5102388"/>
            <a:chExt cx="540000" cy="699563"/>
          </a:xfrm>
        </p:grpSpPr>
        <p:sp>
          <p:nvSpPr>
            <p:cNvPr id="32" name="Text Box 19"/>
            <p:cNvSpPr txBox="1">
              <a:spLocks noChangeArrowheads="1"/>
            </p:cNvSpPr>
            <p:nvPr/>
          </p:nvSpPr>
          <p:spPr bwMode="gray">
            <a:xfrm>
              <a:off x="2277840" y="5494174"/>
              <a:ext cx="50206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CE1</a:t>
              </a:r>
              <a:endPara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49" name="图片 48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258871" y="5102388"/>
              <a:ext cx="540000" cy="442800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/>
        </p:nvSpPr>
        <p:spPr bwMode="gray">
          <a:xfrm>
            <a:off x="5668688" y="5245570"/>
            <a:ext cx="1220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Backdoor</a:t>
            </a:r>
          </a:p>
          <a:p>
            <a:pPr algn="ctr"/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1" name="直接连接符 53"/>
          <p:cNvCxnSpPr>
            <a:stCxn id="51" idx="1"/>
            <a:endCxn id="49" idx="0"/>
          </p:cNvCxnSpPr>
          <p:nvPr/>
        </p:nvCxnSpPr>
        <p:spPr bwMode="gray">
          <a:xfrm flipH="1">
            <a:off x="2570656" y="4226310"/>
            <a:ext cx="1566530" cy="7596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53"/>
          <p:cNvCxnSpPr>
            <a:endCxn id="50" idx="0"/>
          </p:cNvCxnSpPr>
          <p:nvPr/>
        </p:nvCxnSpPr>
        <p:spPr bwMode="gray">
          <a:xfrm>
            <a:off x="8116952" y="4226310"/>
            <a:ext cx="1622398" cy="7596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53"/>
          <p:cNvCxnSpPr>
            <a:stCxn id="50" idx="1"/>
            <a:endCxn id="49" idx="3"/>
          </p:cNvCxnSpPr>
          <p:nvPr/>
        </p:nvCxnSpPr>
        <p:spPr bwMode="gray">
          <a:xfrm flipH="1">
            <a:off x="2840656" y="5207353"/>
            <a:ext cx="662869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 bwMode="gray">
          <a:xfrm>
            <a:off x="2793112" y="4985953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GE0/0/0</a:t>
            </a:r>
            <a:endParaRPr lang="zh-CN" altLang="en-US" sz="1400" dirty="0"/>
          </a:p>
        </p:txBody>
      </p:sp>
      <p:sp>
        <p:nvSpPr>
          <p:cNvPr id="73" name="文本框 72"/>
          <p:cNvSpPr txBox="1"/>
          <p:nvPr/>
        </p:nvSpPr>
        <p:spPr bwMode="gray">
          <a:xfrm>
            <a:off x="8609332" y="4984464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GE0/0/0</a:t>
            </a:r>
            <a:endParaRPr lang="zh-CN" altLang="en-US" sz="1400" dirty="0"/>
          </a:p>
        </p:txBody>
      </p:sp>
      <p:sp>
        <p:nvSpPr>
          <p:cNvPr id="74" name="Freeform 159"/>
          <p:cNvSpPr/>
          <p:nvPr/>
        </p:nvSpPr>
        <p:spPr bwMode="gray">
          <a:xfrm flipH="1">
            <a:off x="9884349" y="4655052"/>
            <a:ext cx="1467964" cy="76735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9963791" y="5053464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192.168.1.0/24</a:t>
            </a:r>
            <a:endParaRPr lang="zh-CN" altLang="en-US" sz="1400" dirty="0"/>
          </a:p>
        </p:txBody>
      </p:sp>
      <p:grpSp>
        <p:nvGrpSpPr>
          <p:cNvPr id="65" name="组合 64"/>
          <p:cNvGrpSpPr/>
          <p:nvPr/>
        </p:nvGrpSpPr>
        <p:grpSpPr bwMode="gray">
          <a:xfrm>
            <a:off x="9469350" y="4985953"/>
            <a:ext cx="540000" cy="699563"/>
            <a:chOff x="9493786" y="5102388"/>
            <a:chExt cx="540000" cy="699563"/>
          </a:xfrm>
        </p:grpSpPr>
        <p:sp>
          <p:nvSpPr>
            <p:cNvPr id="39" name="Text Box 19"/>
            <p:cNvSpPr txBox="1">
              <a:spLocks noChangeArrowheads="1"/>
            </p:cNvSpPr>
            <p:nvPr/>
          </p:nvSpPr>
          <p:spPr bwMode="gray">
            <a:xfrm flipH="1">
              <a:off x="9512755" y="5494174"/>
              <a:ext cx="50206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0" name="图片 49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493786" y="5102388"/>
              <a:ext cx="540000" cy="442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389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Sham link</a:t>
            </a:r>
            <a:r>
              <a:rPr lang="zh-CN" altLang="en-US" smtClean="0">
                <a:sym typeface="Huawei Sans" panose="020C0503030203020204" pitchFamily="34" charset="0"/>
              </a:rPr>
              <a:t>的工作机制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/>
              <a:t>Sham link</a:t>
            </a:r>
            <a:r>
              <a:rPr lang="zh-CN" altLang="en-US" sz="1800" smtClean="0"/>
              <a:t>在两台</a:t>
            </a:r>
            <a:r>
              <a:rPr lang="en-US" altLang="zh-CN" sz="1800" smtClean="0"/>
              <a:t>PE</a:t>
            </a:r>
            <a:r>
              <a:rPr lang="zh-CN" altLang="en-US" sz="1800" smtClean="0"/>
              <a:t>之间创建了一条区域内链路。当</a:t>
            </a:r>
            <a:r>
              <a:rPr lang="en-US" altLang="zh-CN" sz="1800" smtClean="0"/>
              <a:t>LSA</a:t>
            </a:r>
            <a:r>
              <a:rPr lang="zh-CN" altLang="en-US" sz="1800" smtClean="0"/>
              <a:t>在伪装链路中泛洪，所有的</a:t>
            </a:r>
            <a:r>
              <a:rPr lang="en-US" altLang="zh-CN" sz="1800" smtClean="0"/>
              <a:t>OSPF</a:t>
            </a:r>
            <a:r>
              <a:rPr lang="zh-CN" altLang="en-US" sz="1800" smtClean="0"/>
              <a:t>路由类型都不会改变，不会转换成</a:t>
            </a:r>
            <a:r>
              <a:rPr lang="en-US" altLang="zh-CN" sz="1800" smtClean="0"/>
              <a:t>LSA3</a:t>
            </a:r>
            <a:r>
              <a:rPr lang="zh-CN" altLang="en-US" sz="1800" smtClean="0"/>
              <a:t>或者</a:t>
            </a:r>
            <a:r>
              <a:rPr lang="en-US" altLang="zh-CN" sz="1800" smtClean="0"/>
              <a:t>LSA5</a:t>
            </a:r>
            <a:r>
              <a:rPr lang="zh-CN" altLang="en-US" sz="1800" smtClean="0"/>
              <a:t>的类型。</a:t>
            </a:r>
          </a:p>
          <a:p>
            <a:r>
              <a:rPr lang="en-US" altLang="zh-CN" sz="1800" smtClean="0"/>
              <a:t>Sham link</a:t>
            </a:r>
            <a:r>
              <a:rPr lang="zh-CN" altLang="en-US" sz="1800" smtClean="0"/>
              <a:t>被看成是两个</a:t>
            </a:r>
            <a:r>
              <a:rPr lang="en-US" altLang="zh-CN" sz="1800" smtClean="0"/>
              <a:t>VPN</a:t>
            </a:r>
            <a:r>
              <a:rPr lang="zh-CN" altLang="en-US" sz="1800" smtClean="0"/>
              <a:t>实例之间的链路，链路的两端是</a:t>
            </a:r>
            <a:r>
              <a:rPr lang="en-US" altLang="zh-CN" sz="1800" smtClean="0"/>
              <a:t>PE</a:t>
            </a:r>
            <a:r>
              <a:rPr lang="zh-CN" altLang="en-US" sz="1800" smtClean="0"/>
              <a:t>上的端点地址，分别作为建立连接时的源和目的地址。伪连接的源地址和目的地址使用</a:t>
            </a:r>
            <a:r>
              <a:rPr lang="en-US" altLang="zh-CN" sz="1800" smtClean="0"/>
              <a:t>32</a:t>
            </a:r>
            <a:r>
              <a:rPr lang="zh-CN" altLang="en-US" sz="1800" smtClean="0"/>
              <a:t>位掩码的</a:t>
            </a:r>
            <a:r>
              <a:rPr lang="en-US" altLang="zh-CN" sz="1800" smtClean="0"/>
              <a:t>Loopback</a:t>
            </a:r>
            <a:r>
              <a:rPr lang="zh-CN" altLang="en-US" sz="1800" smtClean="0"/>
              <a:t>接口地址，该</a:t>
            </a:r>
            <a:r>
              <a:rPr lang="en-US" altLang="zh-CN" sz="1800" smtClean="0"/>
              <a:t>Loopback</a:t>
            </a:r>
            <a:r>
              <a:rPr lang="zh-CN" altLang="en-US" sz="1800" smtClean="0"/>
              <a:t>接口需要绑定到</a:t>
            </a:r>
            <a:r>
              <a:rPr lang="en-US" altLang="zh-CN" sz="1800" smtClean="0"/>
              <a:t>VPN</a:t>
            </a:r>
            <a:r>
              <a:rPr lang="zh-CN" altLang="en-US" sz="1800" smtClean="0"/>
              <a:t>实例中，并通过</a:t>
            </a:r>
            <a:r>
              <a:rPr lang="en-US" altLang="zh-CN" sz="1800" smtClean="0"/>
              <a:t>BGP</a:t>
            </a:r>
            <a:r>
              <a:rPr lang="zh-CN" altLang="en-US" sz="1800" smtClean="0"/>
              <a:t>发布。</a:t>
            </a:r>
            <a:endParaRPr lang="zh-CN" altLang="en-US" sz="1800" dirty="0"/>
          </a:p>
        </p:txBody>
      </p:sp>
      <p:sp>
        <p:nvSpPr>
          <p:cNvPr id="42" name="圆角矩形 4"/>
          <p:cNvSpPr/>
          <p:nvPr/>
        </p:nvSpPr>
        <p:spPr bwMode="gray">
          <a:xfrm>
            <a:off x="3847062" y="3916137"/>
            <a:ext cx="4557086" cy="1137716"/>
          </a:xfrm>
          <a:prstGeom prst="roundRect">
            <a:avLst>
              <a:gd name="adj" fmla="val 1265"/>
            </a:avLst>
          </a:prstGeom>
          <a:solidFill>
            <a:srgbClr val="BEE9EE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Text Box 19"/>
          <p:cNvSpPr txBox="1">
            <a:spLocks noChangeArrowheads="1"/>
          </p:cNvSpPr>
          <p:nvPr/>
        </p:nvSpPr>
        <p:spPr bwMode="gray">
          <a:xfrm>
            <a:off x="4148743" y="4541033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gray">
          <a:xfrm>
            <a:off x="5976907" y="4541033"/>
            <a:ext cx="2920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gray">
          <a:xfrm>
            <a:off x="7588509" y="4541033"/>
            <a:ext cx="4972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5765571" y="4758184"/>
            <a:ext cx="720069" cy="2881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AS123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cxnSp>
        <p:nvCxnSpPr>
          <p:cNvPr id="48" name="直接连接符 53"/>
          <p:cNvCxnSpPr/>
          <p:nvPr/>
        </p:nvCxnSpPr>
        <p:spPr bwMode="gray">
          <a:xfrm>
            <a:off x="4371975" y="4403077"/>
            <a:ext cx="34575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104"/>
          <p:cNvGrpSpPr/>
          <p:nvPr/>
        </p:nvGrpSpPr>
        <p:grpSpPr bwMode="gray">
          <a:xfrm rot="5400000" flipH="1">
            <a:off x="9711974" y="4587472"/>
            <a:ext cx="259305" cy="764187"/>
            <a:chOff x="3134093" y="3084639"/>
            <a:chExt cx="611430" cy="432284"/>
          </a:xfrm>
        </p:grpSpPr>
        <p:cxnSp>
          <p:nvCxnSpPr>
            <p:cNvPr id="36" name="直接连接符 53"/>
            <p:cNvCxnSpPr/>
            <p:nvPr/>
          </p:nvCxnSpPr>
          <p:spPr bwMode="gray">
            <a:xfrm>
              <a:off x="3134093" y="3084639"/>
              <a:ext cx="61143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53"/>
            <p:cNvCxnSpPr/>
            <p:nvPr/>
          </p:nvCxnSpPr>
          <p:spPr bwMode="gray">
            <a:xfrm>
              <a:off x="3439808" y="3084639"/>
              <a:ext cx="0" cy="43228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圆角矩形 5"/>
          <p:cNvSpPr>
            <a:spLocks/>
          </p:cNvSpPr>
          <p:nvPr/>
        </p:nvSpPr>
        <p:spPr bwMode="gray">
          <a:xfrm flipH="1">
            <a:off x="9165152" y="4461200"/>
            <a:ext cx="2284817" cy="1344859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gray">
          <a:xfrm flipH="1">
            <a:off x="10562078" y="4472872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2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2" name="图片 5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52940" y="4149247"/>
            <a:ext cx="540000" cy="442800"/>
          </a:xfrm>
          <a:prstGeom prst="rect">
            <a:avLst/>
          </a:prstGeom>
        </p:spPr>
      </p:pic>
      <p:sp>
        <p:nvSpPr>
          <p:cNvPr id="30" name="圆角矩形 5"/>
          <p:cNvSpPr>
            <a:spLocks/>
          </p:cNvSpPr>
          <p:nvPr/>
        </p:nvSpPr>
        <p:spPr bwMode="gray">
          <a:xfrm>
            <a:off x="1085850" y="4461200"/>
            <a:ext cx="2041653" cy="1344859"/>
          </a:xfrm>
          <a:prstGeom prst="roundRect">
            <a:avLst>
              <a:gd name="adj" fmla="val 1265"/>
            </a:avLst>
          </a:prstGeom>
          <a:solidFill>
            <a:srgbClr val="FFF2CC"/>
          </a:solidFill>
          <a:ln w="28575" cap="flat" cmpd="sng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Text Box 19"/>
          <p:cNvSpPr txBox="1">
            <a:spLocks noChangeArrowheads="1"/>
          </p:cNvSpPr>
          <p:nvPr/>
        </p:nvSpPr>
        <p:spPr bwMode="gray">
          <a:xfrm>
            <a:off x="1095667" y="4491612"/>
            <a:ext cx="64472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 1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8" name="组合 57"/>
          <p:cNvGrpSpPr/>
          <p:nvPr/>
        </p:nvGrpSpPr>
        <p:grpSpPr bwMode="gray">
          <a:xfrm>
            <a:off x="2290839" y="5130290"/>
            <a:ext cx="540000" cy="699563"/>
            <a:chOff x="2258871" y="5102388"/>
            <a:chExt cx="540000" cy="699563"/>
          </a:xfrm>
        </p:grpSpPr>
        <p:sp>
          <p:nvSpPr>
            <p:cNvPr id="32" name="Text Box 19"/>
            <p:cNvSpPr txBox="1">
              <a:spLocks noChangeArrowheads="1"/>
            </p:cNvSpPr>
            <p:nvPr/>
          </p:nvSpPr>
          <p:spPr bwMode="gray">
            <a:xfrm>
              <a:off x="2277840" y="5494174"/>
              <a:ext cx="50206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CE1</a:t>
              </a:r>
              <a:endPara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49" name="图片 48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258871" y="5102388"/>
              <a:ext cx="540000" cy="442800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/>
        </p:nvSpPr>
        <p:spPr bwMode="gray">
          <a:xfrm>
            <a:off x="5658871" y="5389907"/>
            <a:ext cx="1220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Backdoor</a:t>
            </a:r>
          </a:p>
          <a:p>
            <a:pPr algn="ctr"/>
            <a:r>
              <a:rPr lang="en-US" altLang="zh-CN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1" name="直接连接符 53"/>
          <p:cNvCxnSpPr>
            <a:stCxn id="51" idx="1"/>
            <a:endCxn id="49" idx="0"/>
          </p:cNvCxnSpPr>
          <p:nvPr/>
        </p:nvCxnSpPr>
        <p:spPr bwMode="gray">
          <a:xfrm flipH="1">
            <a:off x="2560839" y="4370647"/>
            <a:ext cx="1566530" cy="7596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53"/>
          <p:cNvCxnSpPr>
            <a:endCxn id="50" idx="0"/>
          </p:cNvCxnSpPr>
          <p:nvPr/>
        </p:nvCxnSpPr>
        <p:spPr bwMode="gray">
          <a:xfrm>
            <a:off x="8107135" y="4370647"/>
            <a:ext cx="1622398" cy="7596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53"/>
          <p:cNvCxnSpPr>
            <a:stCxn id="50" idx="1"/>
            <a:endCxn id="49" idx="3"/>
          </p:cNvCxnSpPr>
          <p:nvPr/>
        </p:nvCxnSpPr>
        <p:spPr bwMode="gray">
          <a:xfrm flipH="1">
            <a:off x="2830839" y="5351690"/>
            <a:ext cx="662869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 bwMode="gray">
          <a:xfrm>
            <a:off x="4287135" y="3987547"/>
            <a:ext cx="220468" cy="220468"/>
            <a:chOff x="468317" y="3414713"/>
            <a:chExt cx="446083" cy="446083"/>
          </a:xfrm>
        </p:grpSpPr>
        <p:cxnSp>
          <p:nvCxnSpPr>
            <p:cNvPr id="34" name="直接连接符 33"/>
            <p:cNvCxnSpPr/>
            <p:nvPr/>
          </p:nvCxnSpPr>
          <p:spPr bwMode="gray">
            <a:xfrm>
              <a:off x="468317" y="3414713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 bwMode="gray">
            <a:xfrm rot="16200000">
              <a:off x="468317" y="3637755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图片 5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369" y="4149247"/>
            <a:ext cx="540000" cy="44280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 bwMode="gray">
          <a:xfrm>
            <a:off x="7733604" y="3987547"/>
            <a:ext cx="220468" cy="220468"/>
            <a:chOff x="468317" y="3414713"/>
            <a:chExt cx="446083" cy="446083"/>
          </a:xfrm>
        </p:grpSpPr>
        <p:cxnSp>
          <p:nvCxnSpPr>
            <p:cNvPr id="55" name="直接连接符 54"/>
            <p:cNvCxnSpPr/>
            <p:nvPr/>
          </p:nvCxnSpPr>
          <p:spPr bwMode="gray">
            <a:xfrm>
              <a:off x="468317" y="3414713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gray">
            <a:xfrm rot="16200000">
              <a:off x="468317" y="3637755"/>
              <a:ext cx="44608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3" name="图片 5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567135" y="4149247"/>
            <a:ext cx="540000" cy="442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 bwMode="gray">
          <a:xfrm>
            <a:off x="3788067" y="3608360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L0:1.1.1.1/32</a:t>
            </a:r>
            <a:endParaRPr lang="zh-CN" altLang="en-US" sz="1400" dirty="0"/>
          </a:p>
        </p:txBody>
      </p:sp>
      <p:sp>
        <p:nvSpPr>
          <p:cNvPr id="57" name="文本框 56"/>
          <p:cNvSpPr txBox="1"/>
          <p:nvPr/>
        </p:nvSpPr>
        <p:spPr bwMode="gray">
          <a:xfrm>
            <a:off x="7234536" y="3599940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L0:2.2.2.2/32</a:t>
            </a:r>
            <a:endParaRPr lang="zh-CN" altLang="en-US" sz="1400" dirty="0"/>
          </a:p>
        </p:txBody>
      </p:sp>
      <p:sp>
        <p:nvSpPr>
          <p:cNvPr id="6" name="任意多边形 5"/>
          <p:cNvSpPr/>
          <p:nvPr/>
        </p:nvSpPr>
        <p:spPr bwMode="gray">
          <a:xfrm>
            <a:off x="4414838" y="3729451"/>
            <a:ext cx="3429000" cy="257315"/>
          </a:xfrm>
          <a:custGeom>
            <a:avLst/>
            <a:gdLst>
              <a:gd name="connsiteX0" fmla="*/ 0 w 3429000"/>
              <a:gd name="connsiteY0" fmla="*/ 228740 h 257315"/>
              <a:gd name="connsiteX1" fmla="*/ 1700212 w 3429000"/>
              <a:gd name="connsiteY1" fmla="*/ 140 h 257315"/>
              <a:gd name="connsiteX2" fmla="*/ 3429000 w 3429000"/>
              <a:gd name="connsiteY2" fmla="*/ 257315 h 25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257315">
                <a:moveTo>
                  <a:pt x="0" y="228740"/>
                </a:moveTo>
                <a:cubicBezTo>
                  <a:pt x="564356" y="112059"/>
                  <a:pt x="1128712" y="-4622"/>
                  <a:pt x="1700212" y="140"/>
                </a:cubicBezTo>
                <a:cubicBezTo>
                  <a:pt x="2271712" y="4902"/>
                  <a:pt x="2850356" y="131108"/>
                  <a:pt x="3429000" y="257315"/>
                </a:cubicBezTo>
              </a:path>
            </a:pathLst>
          </a:custGeom>
          <a:noFill/>
          <a:ln w="25400">
            <a:solidFill>
              <a:srgbClr val="EC706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 bwMode="gray">
          <a:xfrm>
            <a:off x="5459447" y="3360119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sham link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2783295" y="5130290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GE0/0/0</a:t>
            </a:r>
            <a:endParaRPr lang="zh-CN" altLang="en-US" sz="1400" dirty="0"/>
          </a:p>
        </p:txBody>
      </p:sp>
      <p:sp>
        <p:nvSpPr>
          <p:cNvPr id="60" name="文本框 59"/>
          <p:cNvSpPr txBox="1"/>
          <p:nvPr/>
        </p:nvSpPr>
        <p:spPr bwMode="gray">
          <a:xfrm>
            <a:off x="8599515" y="5128801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GE0/0/0</a:t>
            </a:r>
            <a:endParaRPr lang="zh-CN" altLang="en-US" sz="1400" dirty="0"/>
          </a:p>
        </p:txBody>
      </p:sp>
      <p:sp>
        <p:nvSpPr>
          <p:cNvPr id="62" name="Freeform 159"/>
          <p:cNvSpPr/>
          <p:nvPr/>
        </p:nvSpPr>
        <p:spPr bwMode="gray">
          <a:xfrm flipH="1">
            <a:off x="9874532" y="4799389"/>
            <a:ext cx="1467964" cy="76735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9953974" y="5197801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192.168.1.0/24</a:t>
            </a:r>
            <a:endParaRPr lang="zh-CN" altLang="en-US" sz="1400" dirty="0"/>
          </a:p>
        </p:txBody>
      </p:sp>
      <p:grpSp>
        <p:nvGrpSpPr>
          <p:cNvPr id="65" name="组合 64"/>
          <p:cNvGrpSpPr/>
          <p:nvPr/>
        </p:nvGrpSpPr>
        <p:grpSpPr bwMode="gray">
          <a:xfrm>
            <a:off x="9459533" y="5130290"/>
            <a:ext cx="540000" cy="699563"/>
            <a:chOff x="9493786" y="5102388"/>
            <a:chExt cx="540000" cy="699563"/>
          </a:xfrm>
        </p:grpSpPr>
        <p:sp>
          <p:nvSpPr>
            <p:cNvPr id="39" name="Text Box 19"/>
            <p:cNvSpPr txBox="1">
              <a:spLocks noChangeArrowheads="1"/>
            </p:cNvSpPr>
            <p:nvPr/>
          </p:nvSpPr>
          <p:spPr bwMode="gray">
            <a:xfrm flipH="1">
              <a:off x="9512755" y="5494174"/>
              <a:ext cx="50206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0" name="图片 49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493786" y="5102388"/>
              <a:ext cx="540000" cy="442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478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Sham link</a:t>
            </a:r>
            <a:r>
              <a:rPr lang="zh-CN" altLang="en-US" smtClean="0">
                <a:sym typeface="Huawei Sans" panose="020C0503030203020204" pitchFamily="34" charset="0"/>
              </a:rPr>
              <a:t>的配置示例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矩形 30"/>
          <p:cNvSpPr/>
          <p:nvPr/>
        </p:nvSpPr>
        <p:spPr bwMode="gray">
          <a:xfrm>
            <a:off x="767290" y="3970984"/>
            <a:ext cx="1066799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[PE1-ospf-1]area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[PE1-ospf-1-area-0.0.0.0]sham-link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1.1.1.1 2.2.2.2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389755" y="3456534"/>
            <a:ext cx="8193316" cy="42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节点上配置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ham Link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节点配置类似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30"/>
          <p:cNvSpPr/>
          <p:nvPr/>
        </p:nvSpPr>
        <p:spPr bwMode="gray">
          <a:xfrm>
            <a:off x="767290" y="5256637"/>
            <a:ext cx="10667998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CE1-GigabitEthernet0/0/0]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  1000</a:t>
            </a:r>
          </a:p>
        </p:txBody>
      </p:sp>
      <p:sp>
        <p:nvSpPr>
          <p:cNvPr id="10" name="矩形 9"/>
          <p:cNvSpPr/>
          <p:nvPr/>
        </p:nvSpPr>
        <p:spPr bwMode="gray">
          <a:xfrm>
            <a:off x="389755" y="1330374"/>
            <a:ext cx="8193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在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PE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上创建用于建立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sham Link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的接口（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PE2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配置类似）。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30"/>
          <p:cNvSpPr/>
          <p:nvPr/>
        </p:nvSpPr>
        <p:spPr bwMode="gray">
          <a:xfrm>
            <a:off x="697607" y="1909079"/>
            <a:ext cx="10667998" cy="1169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PE1]interface LoopBack0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PE1-LoopBack0]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binding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PE1-LoopBack0]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address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1.1.1.1 32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#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地址族中发布出去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PE1-bgp-VPNA]network 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32</a:t>
            </a:r>
          </a:p>
        </p:txBody>
      </p:sp>
      <p:sp>
        <p:nvSpPr>
          <p:cNvPr id="12" name="矩形 11"/>
          <p:cNvSpPr/>
          <p:nvPr/>
        </p:nvSpPr>
        <p:spPr bwMode="gray">
          <a:xfrm>
            <a:off x="389755" y="4662080"/>
            <a:ext cx="8193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调整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值，确保后门链路的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要大于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ham Link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上的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60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sham link</a:t>
            </a:r>
            <a:r>
              <a:rPr lang="zh-CN" altLang="en-US" smtClean="0">
                <a:sym typeface="Huawei Sans" panose="020C0503030203020204" pitchFamily="34" charset="0"/>
              </a:rPr>
              <a:t>的配置验证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46088" y="1251618"/>
            <a:ext cx="8193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OSPF VPN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常规配置请参照前述的配置示例（略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30"/>
          <p:cNvSpPr/>
          <p:nvPr/>
        </p:nvSpPr>
        <p:spPr bwMode="gray">
          <a:xfrm>
            <a:off x="823623" y="4394883"/>
            <a:ext cx="10667998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&lt;CE1&gt;display 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Routing for Network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       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	Cost  	Type       	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	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AdvRouter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	Area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nl-NL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1.1.1.1/32         </a:t>
            </a:r>
            <a:r>
              <a:rPr lang="nl-NL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	0     	Stub       	1.1.1.1         	10.1.12.1       	0.0.0.0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10.1.12.0/24      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	1     	Transit    	10.1.12.1       	10.1.12.1       	0.0.0.0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nl-NL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         	3     	Stub       	10.0.12.1       	2.2.2.2       	0.0.0.0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10.1.23.0/24      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	3     	Transit    	10.1.12.2       	10.1.23.2       	0.0.0.0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446088" y="3880433"/>
            <a:ext cx="8193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节点上查看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路由，可以看到对端路由是作为区域内路由学习到的。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30"/>
          <p:cNvSpPr/>
          <p:nvPr/>
        </p:nvSpPr>
        <p:spPr bwMode="gray">
          <a:xfrm>
            <a:off x="753940" y="1711878"/>
            <a:ext cx="10667998" cy="20928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PE1&gt;display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sham-link  area  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 Process 1 with Router ID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Sham-Link: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--&gt; 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Neighbor ID: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   State: Full ,    GR status: Normal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Area: 0.0.0.0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Cost: 1 , State: P-2-P , Type: Sham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Timers: Hello 10 , Dead 40 , Retransmit 5 , Transmit Delay 1</a:t>
            </a:r>
          </a:p>
        </p:txBody>
      </p:sp>
    </p:spTree>
    <p:extLst>
      <p:ext uri="{BB962C8B-B14F-4D97-AF65-F5344CB8AC3E}">
        <p14:creationId xmlns:p14="http://schemas.microsoft.com/office/powerpoint/2010/main" val="272140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多选题</a:t>
            </a:r>
            <a:r>
              <a:rPr lang="en-US" altLang="zh-CN" dirty="0" smtClean="0">
                <a:sym typeface="Huawei Sans" panose="020C0503030203020204" pitchFamily="34" charset="0"/>
              </a:rPr>
              <a:t>)</a:t>
            </a:r>
            <a:r>
              <a:rPr lang="zh-CN" altLang="en-US" dirty="0" smtClean="0">
                <a:sym typeface="Huawei Sans" panose="020C0503030203020204" pitchFamily="34" charset="0"/>
              </a:rPr>
              <a:t>在</a:t>
            </a:r>
            <a:r>
              <a:rPr lang="en-US" altLang="zh-CN" dirty="0" smtClean="0">
                <a:sym typeface="Huawei Sans" panose="020C0503030203020204" pitchFamily="34" charset="0"/>
              </a:rPr>
              <a:t>MPLS VPN</a:t>
            </a:r>
            <a:r>
              <a:rPr lang="zh-CN" altLang="en-US" dirty="0" smtClean="0">
                <a:sym typeface="Huawei Sans" panose="020C0503030203020204" pitchFamily="34" charset="0"/>
              </a:rPr>
              <a:t>组网中，当</a:t>
            </a:r>
            <a:r>
              <a:rPr lang="en-US" altLang="zh-CN" dirty="0" smtClean="0">
                <a:sym typeface="Huawei Sans" panose="020C0503030203020204" pitchFamily="34" charset="0"/>
              </a:rPr>
              <a:t>PE</a:t>
            </a:r>
            <a:r>
              <a:rPr lang="zh-CN" altLang="en-US" dirty="0" smtClean="0">
                <a:sym typeface="Huawei Sans" panose="020C0503030203020204" pitchFamily="34" charset="0"/>
              </a:rPr>
              <a:t>向</a:t>
            </a:r>
            <a:r>
              <a:rPr lang="en-US" altLang="zh-CN" dirty="0" smtClean="0">
                <a:sym typeface="Huawei Sans" panose="020C0503030203020204" pitchFamily="34" charset="0"/>
              </a:rPr>
              <a:t>OSPF</a:t>
            </a:r>
            <a:r>
              <a:rPr lang="zh-CN" altLang="en-US" dirty="0" smtClean="0">
                <a:sym typeface="Huawei Sans" panose="020C0503030203020204" pitchFamily="34" charset="0"/>
              </a:rPr>
              <a:t>引入从其他</a:t>
            </a:r>
            <a:r>
              <a:rPr lang="en-US" altLang="zh-CN" dirty="0" smtClean="0">
                <a:sym typeface="Huawei Sans" panose="020C0503030203020204" pitchFamily="34" charset="0"/>
              </a:rPr>
              <a:t>PE</a:t>
            </a:r>
            <a:r>
              <a:rPr lang="zh-CN" altLang="en-US" dirty="0" smtClean="0">
                <a:sym typeface="Huawei Sans" panose="020C0503030203020204" pitchFamily="34" charset="0"/>
              </a:rPr>
              <a:t>学习来的</a:t>
            </a:r>
            <a:r>
              <a:rPr lang="en-US" altLang="zh-CN" dirty="0" smtClean="0">
                <a:sym typeface="Huawei Sans" panose="020C0503030203020204" pitchFamily="34" charset="0"/>
              </a:rPr>
              <a:t>VPN</a:t>
            </a:r>
            <a:r>
              <a:rPr lang="zh-CN" altLang="en-US" dirty="0" smtClean="0">
                <a:sym typeface="Huawei Sans" panose="020C0503030203020204" pitchFamily="34" charset="0"/>
              </a:rPr>
              <a:t>路由时，可能会产生以下哪几类</a:t>
            </a:r>
            <a:r>
              <a:rPr lang="en-US" altLang="zh-CN" dirty="0" smtClean="0">
                <a:sym typeface="Huawei Sans" panose="020C0503030203020204" pitchFamily="34" charset="0"/>
              </a:rPr>
              <a:t>LSA</a:t>
            </a:r>
            <a:r>
              <a:rPr lang="zh-CN" altLang="en-US" dirty="0" smtClean="0">
                <a:sym typeface="Huawei Sans" panose="020C0503030203020204" pitchFamily="34" charset="0"/>
              </a:rPr>
              <a:t>？</a:t>
            </a:r>
            <a:r>
              <a:rPr lang="en-US" altLang="zh-CN" dirty="0" smtClean="0">
                <a:sym typeface="Huawei Sans" panose="020C0503030203020204" pitchFamily="34" charset="0"/>
              </a:rPr>
              <a:t>(     )</a:t>
            </a:r>
            <a:endParaRPr lang="zh-CN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Type 1 LSA</a:t>
            </a: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Type 3 LSA</a:t>
            </a: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Type 5 LSA</a:t>
            </a: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Type 7 LSA</a:t>
            </a:r>
          </a:p>
          <a:p>
            <a:r>
              <a:rPr lang="en-US" altLang="zh-CN" dirty="0" smtClean="0"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判断题</a:t>
            </a:r>
            <a:r>
              <a:rPr lang="en-US" altLang="zh-CN" dirty="0" smtClean="0">
                <a:sym typeface="Huawei Sans" panose="020C0503030203020204" pitchFamily="34" charset="0"/>
              </a:rPr>
              <a:t>)CE</a:t>
            </a:r>
            <a:r>
              <a:rPr lang="zh-CN" altLang="en-US" dirty="0" smtClean="0">
                <a:sym typeface="Huawei Sans" panose="020C0503030203020204" pitchFamily="34" charset="0"/>
              </a:rPr>
              <a:t>通过</a:t>
            </a:r>
            <a:r>
              <a:rPr lang="en-US" altLang="zh-CN" dirty="0" smtClean="0">
                <a:sym typeface="Huawei Sans" panose="020C0503030203020204" pitchFamily="34" charset="0"/>
              </a:rPr>
              <a:t>BGP</a:t>
            </a:r>
            <a:r>
              <a:rPr lang="zh-CN" altLang="en-US" dirty="0" smtClean="0">
                <a:sym typeface="Huawei Sans" panose="020C0503030203020204" pitchFamily="34" charset="0"/>
              </a:rPr>
              <a:t>传递路由给</a:t>
            </a:r>
            <a:r>
              <a:rPr lang="en-US" altLang="zh-CN" dirty="0" smtClean="0">
                <a:sym typeface="Huawei Sans" panose="020C0503030203020204" pitchFamily="34" charset="0"/>
              </a:rPr>
              <a:t>PE</a:t>
            </a:r>
            <a:r>
              <a:rPr lang="zh-CN" altLang="en-US" dirty="0" smtClean="0">
                <a:sym typeface="Huawei Sans" panose="020C0503030203020204" pitchFamily="34" charset="0"/>
              </a:rPr>
              <a:t>时，可能会携带</a:t>
            </a:r>
            <a:r>
              <a:rPr lang="en-US" altLang="zh-CN" dirty="0" err="1" smtClean="0">
                <a:sym typeface="Huawei Sans" panose="020C0503030203020204" pitchFamily="34" charset="0"/>
              </a:rPr>
              <a:t>SoO</a:t>
            </a:r>
            <a:r>
              <a:rPr lang="zh-CN" altLang="en-US" dirty="0" smtClean="0">
                <a:sym typeface="Huawei Sans" panose="020C0503030203020204" pitchFamily="34" charset="0"/>
              </a:rPr>
              <a:t>属性。</a:t>
            </a:r>
            <a:r>
              <a:rPr lang="en-US" altLang="zh-CN" dirty="0" smtClean="0">
                <a:sym typeface="Huawei Sans" panose="020C0503030203020204" pitchFamily="34" charset="0"/>
              </a:rPr>
              <a:t>(     )</a:t>
            </a:r>
          </a:p>
          <a:p>
            <a:pPr lvl="1"/>
            <a:r>
              <a:rPr lang="zh-CN" altLang="en-US" dirty="0" smtClean="0">
                <a:sym typeface="Huawei Sans" panose="020C0503030203020204" pitchFamily="34" charset="0"/>
              </a:rPr>
              <a:t>正确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错误</a:t>
            </a:r>
            <a:endParaRPr lang="en-US" altLang="zh-CN" dirty="0" smtClean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8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在针对不同类型的场景下有不同的组网方案，常见的有</a:t>
            </a:r>
            <a:r>
              <a:rPr lang="en-US" altLang="zh-CN" sz="1800" dirty="0" smtClean="0">
                <a:sym typeface="Huawei Sans" panose="020C0503030203020204" pitchFamily="34" charset="0"/>
              </a:rPr>
              <a:t>Intranet</a:t>
            </a:r>
            <a:r>
              <a:rPr lang="zh-CN" altLang="en-US" sz="1800" dirty="0" smtClean="0">
                <a:sym typeface="Huawei Sans" panose="020C0503030203020204" pitchFamily="34" charset="0"/>
              </a:rPr>
              <a:t>组网、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Extranet</a:t>
            </a:r>
            <a:r>
              <a:rPr lang="zh-CN" altLang="en-US" sz="1800" dirty="0" smtClean="0">
                <a:sym typeface="Huawei Sans" panose="020C0503030203020204" pitchFamily="34" charset="0"/>
              </a:rPr>
              <a:t>组网以及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Hub&amp;Spoke</a:t>
            </a:r>
            <a:r>
              <a:rPr lang="zh-CN" altLang="en-US" sz="1800" dirty="0" smtClean="0">
                <a:sym typeface="Huawei Sans" panose="020C0503030203020204" pitchFamily="34" charset="0"/>
              </a:rPr>
              <a:t>组网。此外，根据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骨干网是否跨域又可以分为跨域组网和单域组网。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PE-CE</a:t>
            </a:r>
            <a:r>
              <a:rPr lang="zh-CN" altLang="en-US" sz="1800" dirty="0" smtClean="0">
                <a:sym typeface="Huawei Sans" panose="020C0503030203020204" pitchFamily="34" charset="0"/>
              </a:rPr>
              <a:t>之间进行路由信息交互时，可以使用静态路由、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OSPF</a:t>
            </a:r>
            <a:r>
              <a:rPr lang="zh-CN" altLang="en-US" sz="1800" dirty="0" smtClean="0">
                <a:sym typeface="Huawei Sans" panose="020C0503030203020204" pitchFamily="34" charset="0"/>
              </a:rPr>
              <a:t>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IS-IS</a:t>
            </a:r>
            <a:r>
              <a:rPr lang="zh-CN" altLang="en-US" sz="1800" dirty="0" smtClean="0">
                <a:sym typeface="Huawei Sans" panose="020C0503030203020204" pitchFamily="34" charset="0"/>
              </a:rPr>
              <a:t>或</a:t>
            </a:r>
            <a:r>
              <a:rPr lang="en-US" altLang="zh-CN" sz="1800" dirty="0" smtClean="0">
                <a:sym typeface="Huawei Sans" panose="020C0503030203020204" pitchFamily="34" charset="0"/>
              </a:rPr>
              <a:t>BGP</a:t>
            </a:r>
            <a:r>
              <a:rPr lang="zh-CN" altLang="en-US" sz="1800" dirty="0" smtClean="0">
                <a:sym typeface="Huawei Sans" panose="020C0503030203020204" pitchFamily="34" charset="0"/>
              </a:rPr>
              <a:t>中的任何一种。其中</a:t>
            </a:r>
            <a:r>
              <a:rPr lang="en-US" altLang="zh-CN" sz="1800" dirty="0" smtClean="0">
                <a:sym typeface="Huawei Sans" panose="020C0503030203020204" pitchFamily="34" charset="0"/>
              </a:rPr>
              <a:t>OSPF</a:t>
            </a:r>
            <a:r>
              <a:rPr lang="zh-CN" altLang="en-US" sz="1800" dirty="0" smtClean="0">
                <a:sym typeface="Huawei Sans" panose="020C0503030203020204" pitchFamily="34" charset="0"/>
              </a:rPr>
              <a:t>为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 VPN</a:t>
            </a:r>
            <a:r>
              <a:rPr lang="zh-CN" altLang="en-US" sz="1800" dirty="0" smtClean="0">
                <a:sym typeface="Huawei Sans" panose="020C0503030203020204" pitchFamily="34" charset="0"/>
              </a:rPr>
              <a:t>做了许多扩展特性，如：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Domain ID</a:t>
            </a:r>
            <a:r>
              <a:rPr lang="zh-CN" altLang="en-US" sz="1600" dirty="0" smtClean="0">
                <a:sym typeface="Huawei Sans" panose="020C0503030203020204" pitchFamily="34" charset="0"/>
              </a:rPr>
              <a:t>：用来区分</a:t>
            </a:r>
            <a:r>
              <a:rPr lang="en-US" altLang="zh-CN" sz="1600" dirty="0" smtClean="0">
                <a:sym typeface="Huawei Sans" panose="020C0503030203020204" pitchFamily="34" charset="0"/>
              </a:rPr>
              <a:t>VPN</a:t>
            </a:r>
            <a:r>
              <a:rPr lang="zh-CN" altLang="en-US" sz="1600" dirty="0" smtClean="0">
                <a:sym typeface="Huawei Sans" panose="020C0503030203020204" pitchFamily="34" charset="0"/>
              </a:rPr>
              <a:t>实例中引入的路由是否来自同一个</a:t>
            </a:r>
            <a:r>
              <a:rPr lang="en-US" altLang="zh-CN" sz="1600" dirty="0" smtClean="0">
                <a:sym typeface="Huawei Sans" panose="020C0503030203020204" pitchFamily="34" charset="0"/>
              </a:rPr>
              <a:t>OSPF</a:t>
            </a:r>
            <a:r>
              <a:rPr lang="zh-CN" altLang="en-US" sz="1600" dirty="0" smtClean="0">
                <a:sym typeface="Huawei Sans" panose="020C0503030203020204" pitchFamily="34" charset="0"/>
              </a:rPr>
              <a:t>域。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DN</a:t>
            </a:r>
            <a:r>
              <a:rPr lang="zh-CN" altLang="en-US" sz="1600" dirty="0" smtClean="0">
                <a:sym typeface="Huawei Sans" panose="020C0503030203020204" pitchFamily="34" charset="0"/>
              </a:rPr>
              <a:t>位：用来防止因为</a:t>
            </a:r>
            <a:r>
              <a:rPr lang="en-US" altLang="zh-CN" sz="1600" dirty="0" smtClean="0">
                <a:sym typeface="Huawei Sans" panose="020C0503030203020204" pitchFamily="34" charset="0"/>
              </a:rPr>
              <a:t>3</a:t>
            </a:r>
            <a:r>
              <a:rPr lang="zh-CN" altLang="en-US" sz="1600" dirty="0" smtClean="0">
                <a:sym typeface="Huawei Sans" panose="020C0503030203020204" pitchFamily="34" charset="0"/>
              </a:rPr>
              <a:t>类</a:t>
            </a:r>
            <a:r>
              <a:rPr lang="en-US" altLang="zh-CN" sz="1600" dirty="0" smtClean="0">
                <a:sym typeface="Huawei Sans" panose="020C0503030203020204" pitchFamily="34" charset="0"/>
              </a:rPr>
              <a:t>LSA</a:t>
            </a:r>
            <a:r>
              <a:rPr lang="zh-CN" altLang="en-US" sz="1600" dirty="0" smtClean="0">
                <a:sym typeface="Huawei Sans" panose="020C0503030203020204" pitchFamily="34" charset="0"/>
              </a:rPr>
              <a:t>产生的路由环路。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VPN Route Tag</a:t>
            </a:r>
            <a:r>
              <a:rPr lang="zh-CN" altLang="en-US" sz="1600" dirty="0" smtClean="0">
                <a:sym typeface="Huawei Sans" panose="020C0503030203020204" pitchFamily="34" charset="0"/>
              </a:rPr>
              <a:t>：用来防止因为</a:t>
            </a:r>
            <a:r>
              <a:rPr lang="en-US" altLang="zh-CN" sz="1600" dirty="0" smtClean="0">
                <a:sym typeface="Huawei Sans" panose="020C0503030203020204" pitchFamily="34" charset="0"/>
              </a:rPr>
              <a:t>5</a:t>
            </a:r>
            <a:r>
              <a:rPr lang="zh-CN" altLang="en-US" sz="1600" dirty="0" smtClean="0">
                <a:sym typeface="Huawei Sans" panose="020C0503030203020204" pitchFamily="34" charset="0"/>
              </a:rPr>
              <a:t>类或</a:t>
            </a:r>
            <a:r>
              <a:rPr lang="en-US" altLang="zh-CN" sz="1600" dirty="0" smtClean="0">
                <a:sym typeface="Huawei Sans" panose="020C0503030203020204" pitchFamily="34" charset="0"/>
              </a:rPr>
              <a:t>7</a:t>
            </a:r>
            <a:r>
              <a:rPr lang="zh-CN" altLang="en-US" sz="1600" dirty="0" smtClean="0">
                <a:sym typeface="Huawei Sans" panose="020C0503030203020204" pitchFamily="34" charset="0"/>
              </a:rPr>
              <a:t>类</a:t>
            </a:r>
            <a:r>
              <a:rPr lang="en-US" altLang="zh-CN" sz="1600" dirty="0" smtClean="0">
                <a:sym typeface="Huawei Sans" panose="020C0503030203020204" pitchFamily="34" charset="0"/>
              </a:rPr>
              <a:t>LSA</a:t>
            </a:r>
            <a:r>
              <a:rPr lang="zh-CN" altLang="en-US" sz="1600" dirty="0" smtClean="0">
                <a:sym typeface="Huawei Sans" panose="020C0503030203020204" pitchFamily="34" charset="0"/>
              </a:rPr>
              <a:t>产生的路由环路。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sham link</a:t>
            </a:r>
            <a:r>
              <a:rPr lang="zh-CN" altLang="en-US" sz="1600" dirty="0" smtClean="0">
                <a:sym typeface="Huawei Sans" panose="020C0503030203020204" pitchFamily="34" charset="0"/>
              </a:rPr>
              <a:t>：用于特殊场景下的</a:t>
            </a:r>
            <a:r>
              <a:rPr lang="en-US" altLang="zh-CN" sz="1600" dirty="0" smtClean="0">
                <a:sym typeface="Huawei Sans" panose="020C0503030203020204" pitchFamily="34" charset="0"/>
              </a:rPr>
              <a:t>OSPF</a:t>
            </a:r>
            <a:r>
              <a:rPr lang="zh-CN" altLang="en-US" sz="1600" dirty="0" smtClean="0">
                <a:sym typeface="Huawei Sans" panose="020C0503030203020204" pitchFamily="34" charset="0"/>
              </a:rPr>
              <a:t>路由选路控制。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18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3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1B1D11-0B68-48F1-A2DF-D281BECE46E5}"/>
</file>

<file path=customXml/itemProps2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960F2-6186-408B-A0DC-5CA5E58B604F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475f1e55-3009-46d8-9566-5d569a2b3a98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3335</TotalTime>
  <Words>7762</Words>
  <Application>Microsoft Office PowerPoint</Application>
  <PresentationFormat>宽屏</PresentationFormat>
  <Paragraphs>1155</Paragraphs>
  <Slides>55</Slides>
  <Notes>55</Notes>
  <HiddenSlides>2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55</vt:i4>
      </vt:variant>
    </vt:vector>
  </HeadingPairs>
  <TitlesOfParts>
    <vt:vector size="66" baseType="lpstr">
      <vt:lpstr>方正兰亭黑简体</vt:lpstr>
      <vt:lpstr>Microsoft YaHei</vt:lpstr>
      <vt:lpstr>Microsoft YaHei</vt:lpstr>
      <vt:lpstr>Arial</vt:lpstr>
      <vt:lpstr>Courier New</vt:lpstr>
      <vt:lpstr>Huawei Sans</vt:lpstr>
      <vt:lpstr>Wingdings</vt:lpstr>
      <vt:lpstr>2_标题页模板</vt:lpstr>
      <vt:lpstr>3_功能页模板</vt:lpstr>
      <vt:lpstr>4_内容页模板</vt:lpstr>
      <vt:lpstr>5_感谢页模板</vt:lpstr>
      <vt:lpstr>PowerPoint 演示文稿</vt:lpstr>
      <vt:lpstr>MPLS VPN部署与应用</vt:lpstr>
      <vt:lpstr>PowerPoint 演示文稿</vt:lpstr>
      <vt:lpstr>PowerPoint 演示文稿</vt:lpstr>
      <vt:lpstr>PowerPoint 演示文稿</vt:lpstr>
      <vt:lpstr>MPLS VPN典型应用</vt:lpstr>
      <vt:lpstr>MPLS VPN基本组网：Intranet</vt:lpstr>
      <vt:lpstr>MPLS VPN基本组网：Extranet</vt:lpstr>
      <vt:lpstr>MPLS VPN基本组网：Hub&amp;Spoke (1)</vt:lpstr>
      <vt:lpstr>MPLS VPN基本组网：Hub&amp;Spoke (2)</vt:lpstr>
      <vt:lpstr>MCE组网</vt:lpstr>
      <vt:lpstr>MPLS VPN跨域组网</vt:lpstr>
      <vt:lpstr>不同实例的路由相互引入组网</vt:lpstr>
      <vt:lpstr>PowerPoint 演示文稿</vt:lpstr>
      <vt:lpstr>部署Intranet场景的MPLS VPN</vt:lpstr>
      <vt:lpstr>PE-CE之间部署OSPF (1)</vt:lpstr>
      <vt:lpstr>PE-CE之间部署OSPF (2)</vt:lpstr>
      <vt:lpstr>PE-CE之间部署静态路由</vt:lpstr>
      <vt:lpstr>PE-CE之间部署EBGP</vt:lpstr>
      <vt:lpstr>特殊场景下的BGP配置：AS号替换</vt:lpstr>
      <vt:lpstr>特殊场景下的BGP配置：SoO</vt:lpstr>
      <vt:lpstr>PE-CE之间部署IS-IS</vt:lpstr>
      <vt:lpstr>PowerPoint 演示文稿</vt:lpstr>
      <vt:lpstr>部署Hub&amp;Spoke场景的MPLS VPN</vt:lpstr>
      <vt:lpstr>VRF配置</vt:lpstr>
      <vt:lpstr>方式一：路由发布过程</vt:lpstr>
      <vt:lpstr>方式一：Hub-PE与Hub-CE间配置</vt:lpstr>
      <vt:lpstr>方式二：路由发布过程</vt:lpstr>
      <vt:lpstr>方式二：Hub-PE与Hub-CE间配置</vt:lpstr>
      <vt:lpstr>方式三：路由发布过程</vt:lpstr>
      <vt:lpstr>为什么没有方式四？</vt:lpstr>
      <vt:lpstr>PowerPoint 演示文稿</vt:lpstr>
      <vt:lpstr>PowerPoint 演示文稿</vt:lpstr>
      <vt:lpstr>部署公网与私网互通</vt:lpstr>
      <vt:lpstr>部署公网与私网互通配置举例</vt:lpstr>
      <vt:lpstr>部署私网与私网互通</vt:lpstr>
      <vt:lpstr>部署私网与私网互通配置举例</vt:lpstr>
      <vt:lpstr>PowerPoint 演示文稿</vt:lpstr>
      <vt:lpstr>MPLS VPN中的OSPF/BGP</vt:lpstr>
      <vt:lpstr>BGP扩展团体属性</vt:lpstr>
      <vt:lpstr>Domain ID</vt:lpstr>
      <vt:lpstr>Domain ID与Route Type</vt:lpstr>
      <vt:lpstr>PowerPoint 演示文稿</vt:lpstr>
      <vt:lpstr>Type3路由防环：案例</vt:lpstr>
      <vt:lpstr>Type3路由防环：DN位</vt:lpstr>
      <vt:lpstr>Type5/7路由防环：案例</vt:lpstr>
      <vt:lpstr>Type5/7路由防环：VPN Route Tag</vt:lpstr>
      <vt:lpstr>PowerPoint 演示文稿</vt:lpstr>
      <vt:lpstr>Sham link的应用场景</vt:lpstr>
      <vt:lpstr>Sham link的工作机制</vt:lpstr>
      <vt:lpstr>Sham link的配置示例</vt:lpstr>
      <vt:lpstr>sham link的配置验证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hejunjianzjhw</cp:lastModifiedBy>
  <cp:revision>291</cp:revision>
  <cp:lastPrinted>2020-07-31T09:33:18Z</cp:lastPrinted>
  <dcterms:created xsi:type="dcterms:W3CDTF">2018-11-29T10:16:29Z</dcterms:created>
  <dcterms:modified xsi:type="dcterms:W3CDTF">2021-10-21T01:58:01Z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(3)jhgOedl26dKSsbuaw9VfWULDlQAx+JK2v1QtOjaAIXZ5DLI3tme4cMqXhG7UxlXun3wnMksb
FzoU+9T0zi74wXerM/nqYzXSp7QKi0wuvszNuarnbTy28pXdkqLSkexsLv/Zn37PKDV1gC01
BbpmbmVnMpaL3wuhpddbDljspF62jLTqgDQFAPO8918fE4giVDTMIzdYAa9ZFFxV/XJJZ2n5
7GD4Coi+/q3i9z0YOz</vt:lpwstr>
  </property>
  <property fmtid="{D5CDD505-2E9C-101B-9397-08002B2CF9AE}" pid="3" name="_2015_ms_pID_7253431">
    <vt:lpwstr>tGi8gwHjdIJsYR6IuB2aclXywuH/Ft2V0ojo6GJInghbrGoV6R3Iu1
Os2dOrEI3FtRwaXrkZjU+Ob+fxlKFLB6cVNWpNzr4cY7tKiMPHFemOtitl/fL66U/fbT9bc9
hQ9GugRls6TmQ18AzczOz6taZ7NysZEGFqDtfIH9/E1oBzWULSQlSJlIRTY7HU4QhzPVtF6Z
hJnhl27ZF4KQ5Kw8LLvbGZYqLsxZ4xN4KHC9</vt:lpwstr>
  </property>
  <property fmtid="{D5CDD505-2E9C-101B-9397-08002B2CF9AE}" pid="4" name="_2015_ms_pID_7253432">
    <vt:lpwstr>Deb2fz9mO7xl1VOkRM3ruzw=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1634777000</vt:lpwstr>
  </property>
</Properties>
</file>